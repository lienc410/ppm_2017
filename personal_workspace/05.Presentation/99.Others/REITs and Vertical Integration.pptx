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17"/>
  </p:notesMasterIdLst>
  <p:handoutMasterIdLst>
    <p:handoutMasterId r:id="rId18"/>
  </p:handoutMasterIdLst>
  <p:sldIdLst>
    <p:sldId id="597" r:id="rId16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98A"/>
    <a:srgbClr val="AD275C"/>
    <a:srgbClr val="2E8A60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816" y="-23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2213610" y="2332544"/>
            <a:ext cx="6233160" cy="4312920"/>
          </a:xfrm>
          <a:prstGeom prst="rect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Stages of Real Estate Industry</a:t>
            </a:r>
          </a:p>
          <a:p>
            <a:pPr algn="ctr"/>
            <a:r>
              <a:rPr lang="en-US" dirty="0" smtClean="0"/>
              <a:t>Value Chain</a:t>
            </a:r>
            <a:endParaRPr lang="en-US" dirty="0"/>
          </a:p>
        </p:txBody>
      </p: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 Estate Investment Trust (REIT)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1080" y="1503700"/>
            <a:ext cx="848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Large REITs are actively-managed, vertically integrated firms providing commercial real estate goods and services for their “customers” (tenants &amp; users of space) </a:t>
            </a:r>
            <a:endParaRPr lang="en-US" sz="1400" dirty="0">
              <a:latin typeface="+mn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35280" y="2034540"/>
            <a:ext cx="925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rot="16200000">
            <a:off x="242235" y="1322693"/>
            <a:ext cx="721072" cy="5349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smtClean="0"/>
              <a:t>REITs</a:t>
            </a:r>
            <a:endParaRPr lang="en-US" sz="1600" b="1" dirty="0"/>
          </a:p>
        </p:txBody>
      </p:sp>
      <p:sp>
        <p:nvSpPr>
          <p:cNvPr id="13" name="Rectangle 12"/>
          <p:cNvSpPr/>
          <p:nvPr/>
        </p:nvSpPr>
        <p:spPr>
          <a:xfrm>
            <a:off x="2446020" y="2589595"/>
            <a:ext cx="574548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/>
              <a:t>Land Acquisition / Holding</a:t>
            </a:r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2446020" y="3232656"/>
            <a:ext cx="574548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/>
              <a:t>Development</a:t>
            </a:r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>
            <a:off x="2446020" y="6090985"/>
            <a:ext cx="574548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/>
              <a:t>Tenant Services</a:t>
            </a:r>
            <a:endParaRPr lang="en-US" sz="14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2446020" y="3875717"/>
            <a:ext cx="5745480" cy="807474"/>
            <a:chOff x="2209800" y="3794760"/>
            <a:chExt cx="5745480" cy="1112520"/>
          </a:xfrm>
        </p:grpSpPr>
        <p:sp>
          <p:nvSpPr>
            <p:cNvPr id="30" name="Rectangle 29"/>
            <p:cNvSpPr/>
            <p:nvPr/>
          </p:nvSpPr>
          <p:spPr>
            <a:xfrm>
              <a:off x="2209800" y="3794760"/>
              <a:ext cx="5745480" cy="4724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smtClean="0"/>
                <a:t>Ownership</a:t>
              </a:r>
              <a:endParaRPr lang="en-US" sz="14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09800" y="4267200"/>
              <a:ext cx="5745480" cy="640080"/>
            </a:xfrm>
            <a:prstGeom prst="rect">
              <a:avLst/>
            </a:prstGeom>
            <a:ln>
              <a:solidFill>
                <a:srgbClr val="2E398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solidFill>
                    <a:schemeClr val="tx1"/>
                  </a:solidFill>
                </a:rPr>
                <a:t>Financial Capital Provision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solidFill>
                    <a:schemeClr val="tx1"/>
                  </a:solidFill>
                </a:rPr>
                <a:t>Asset (Portfolio) Management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446020" y="4983351"/>
            <a:ext cx="5745480" cy="807474"/>
            <a:chOff x="2209800" y="5135880"/>
            <a:chExt cx="5745480" cy="1112520"/>
          </a:xfrm>
        </p:grpSpPr>
        <p:sp>
          <p:nvSpPr>
            <p:cNvPr id="31" name="Rectangle 30"/>
            <p:cNvSpPr/>
            <p:nvPr/>
          </p:nvSpPr>
          <p:spPr>
            <a:xfrm>
              <a:off x="2209800" y="5135880"/>
              <a:ext cx="5745480" cy="4724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smtClean="0"/>
                <a:t>Operation</a:t>
              </a:r>
              <a:endParaRPr lang="en-US" sz="14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209800" y="5608320"/>
              <a:ext cx="5745480" cy="640080"/>
            </a:xfrm>
            <a:prstGeom prst="rect">
              <a:avLst/>
            </a:prstGeom>
            <a:ln>
              <a:solidFill>
                <a:srgbClr val="2E398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solidFill>
                    <a:schemeClr val="tx1"/>
                  </a:solidFill>
                </a:rPr>
                <a:t>Asset Management (Franchise Value, Synergy)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solidFill>
                    <a:schemeClr val="tx1"/>
                  </a:solidFill>
                </a:rPr>
                <a:t>Property Management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 rot="16200000">
            <a:off x="-17432" y="2605250"/>
            <a:ext cx="1240403" cy="5349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smtClean="0"/>
              <a:t>Vertical Integration</a:t>
            </a:r>
            <a:endParaRPr lang="en-US" sz="1600" b="1" dirty="0"/>
          </a:p>
        </p:txBody>
      </p:sp>
      <p:sp>
        <p:nvSpPr>
          <p:cNvPr id="40" name="Curved Right Arrow 39"/>
          <p:cNvSpPr/>
          <p:nvPr/>
        </p:nvSpPr>
        <p:spPr>
          <a:xfrm>
            <a:off x="1969770" y="2761045"/>
            <a:ext cx="358140" cy="575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Curved Right Arrow 45"/>
          <p:cNvSpPr/>
          <p:nvPr/>
        </p:nvSpPr>
        <p:spPr>
          <a:xfrm>
            <a:off x="1969770" y="3471731"/>
            <a:ext cx="358140" cy="575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Curved Right Arrow 46"/>
          <p:cNvSpPr/>
          <p:nvPr/>
        </p:nvSpPr>
        <p:spPr>
          <a:xfrm>
            <a:off x="1969770" y="4579365"/>
            <a:ext cx="358140" cy="575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Curved Right Arrow 47"/>
          <p:cNvSpPr/>
          <p:nvPr/>
        </p:nvSpPr>
        <p:spPr>
          <a:xfrm>
            <a:off x="1969770" y="5686999"/>
            <a:ext cx="358140" cy="575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Curved Right Arrow 48"/>
          <p:cNvSpPr/>
          <p:nvPr/>
        </p:nvSpPr>
        <p:spPr>
          <a:xfrm rot="10800000">
            <a:off x="8328659" y="5686999"/>
            <a:ext cx="358140" cy="575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Curved Right Arrow 49"/>
          <p:cNvSpPr/>
          <p:nvPr/>
        </p:nvSpPr>
        <p:spPr>
          <a:xfrm rot="10800000">
            <a:off x="8328659" y="4579365"/>
            <a:ext cx="358140" cy="575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Curved Right Arrow 50"/>
          <p:cNvSpPr/>
          <p:nvPr/>
        </p:nvSpPr>
        <p:spPr>
          <a:xfrm rot="10800000">
            <a:off x="8328659" y="3471731"/>
            <a:ext cx="358140" cy="575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Curved Right Arrow 51"/>
          <p:cNvSpPr/>
          <p:nvPr/>
        </p:nvSpPr>
        <p:spPr>
          <a:xfrm rot="10800000">
            <a:off x="8328659" y="2761045"/>
            <a:ext cx="358140" cy="575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 rot="10800000">
            <a:off x="1462980" y="3291357"/>
            <a:ext cx="400110" cy="23190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Forward </a:t>
            </a:r>
            <a:r>
              <a:rPr lang="en-US" sz="1400" b="1" dirty="0">
                <a:latin typeface="+mn-lt"/>
              </a:rPr>
              <a:t>V</a:t>
            </a:r>
            <a:r>
              <a:rPr lang="en-US" sz="1400" b="1" dirty="0" smtClean="0">
                <a:latin typeface="+mn-lt"/>
              </a:rPr>
              <a:t>ertical </a:t>
            </a:r>
            <a:r>
              <a:rPr lang="en-US" sz="1400" b="1" dirty="0">
                <a:latin typeface="+mn-lt"/>
              </a:rPr>
              <a:t>I</a:t>
            </a:r>
            <a:r>
              <a:rPr lang="en-US" sz="1400" b="1" dirty="0" smtClean="0">
                <a:latin typeface="+mn-lt"/>
              </a:rPr>
              <a:t>ntegration</a:t>
            </a:r>
            <a:endParaRPr lang="en-US" sz="1400" dirty="0">
              <a:latin typeface="+mn-lt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854380" y="3291357"/>
            <a:ext cx="400110" cy="23190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Backward </a:t>
            </a:r>
            <a:r>
              <a:rPr lang="en-US" sz="1400" b="1" dirty="0">
                <a:latin typeface="+mn-lt"/>
              </a:rPr>
              <a:t>V</a:t>
            </a:r>
            <a:r>
              <a:rPr lang="en-US" sz="1400" b="1" dirty="0" smtClean="0">
                <a:latin typeface="+mn-lt"/>
              </a:rPr>
              <a:t>ertical </a:t>
            </a:r>
            <a:r>
              <a:rPr lang="en-US" sz="1400" b="1" dirty="0">
                <a:latin typeface="+mn-lt"/>
              </a:rPr>
              <a:t>I</a:t>
            </a:r>
            <a:r>
              <a:rPr lang="en-US" sz="1400" b="1" dirty="0" smtClean="0">
                <a:latin typeface="+mn-lt"/>
              </a:rPr>
              <a:t>ntegration</a:t>
            </a:r>
            <a:endParaRPr lang="en-US" sz="1400" dirty="0">
              <a:latin typeface="+mn-lt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082135" y="6792804"/>
            <a:ext cx="6658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 </a:t>
            </a:r>
            <a:r>
              <a:rPr lang="en-US" sz="1400" b="1" dirty="0" smtClean="0">
                <a:latin typeface="+mn-lt"/>
              </a:rPr>
              <a:t>balance vertical integration </a:t>
            </a:r>
            <a:r>
              <a:rPr lang="en-US" sz="1400" dirty="0" smtClean="0">
                <a:latin typeface="+mn-lt"/>
              </a:rPr>
              <a:t>includes both forward and backward vertical integration.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297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" grpId="0"/>
      <p:bldP spid="10" grpId="0" animBg="1"/>
      <p:bldP spid="13" grpId="0" animBg="1"/>
      <p:bldP spid="29" grpId="0" animBg="1"/>
      <p:bldP spid="32" grpId="0" animBg="1"/>
      <p:bldP spid="36" grpId="0" animBg="1"/>
      <p:bldP spid="40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45" grpId="0"/>
      <p:bldP spid="54" grpId="0"/>
      <p:bldP spid="55" grpId="0"/>
    </p:bld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69525</TotalTime>
  <Words>89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Real Estate Investment Trust (REIT)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1869</cp:revision>
  <cp:lastPrinted>2014-08-14T21:45:56Z</cp:lastPrinted>
  <dcterms:created xsi:type="dcterms:W3CDTF">2011-07-07T12:37:32Z</dcterms:created>
  <dcterms:modified xsi:type="dcterms:W3CDTF">2015-06-17T20:50:43Z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