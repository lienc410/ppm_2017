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7"/>
  </p:notesMasterIdLst>
  <p:handoutMasterIdLst>
    <p:handoutMasterId r:id="rId18"/>
  </p:handoutMasterIdLst>
  <p:sldIdLst>
    <p:sldId id="599" r:id="rId16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2E398A"/>
    <a:srgbClr val="AD275C"/>
    <a:srgbClr val="2E8A60"/>
    <a:srgbClr val="F6D6E3"/>
    <a:srgbClr val="C3EBD9"/>
    <a:srgbClr val="CDD1EF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7" d="100"/>
          <a:sy n="127" d="100"/>
        </p:scale>
        <p:origin x="-90" y="-50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0360" y="219674"/>
            <a:ext cx="6806130" cy="677966"/>
          </a:xfrm>
        </p:spPr>
        <p:txBody>
          <a:bodyPr/>
          <a:lstStyle/>
          <a:p>
            <a:r>
              <a:rPr lang="en-US" dirty="0" smtClean="0"/>
              <a:t>Cash Flow under 90% Payout Constraint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97559" y="1944097"/>
            <a:ext cx="2664000" cy="4163379"/>
            <a:chOff x="393698" y="1376361"/>
            <a:chExt cx="3997326" cy="4163379"/>
          </a:xfrm>
        </p:grpSpPr>
        <p:sp>
          <p:nvSpPr>
            <p:cNvPr id="5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93699" y="1376361"/>
              <a:ext cx="3997325" cy="249678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altLang="zh-CN" sz="1400" dirty="0">
                  <a:solidFill>
                    <a:srgbClr val="FFFFFF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Accounting statements</a:t>
              </a:r>
              <a:endParaRPr lang="en-US" sz="14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" name="Text Placeholder 5"/>
            <p:cNvSpPr txBox="1">
              <a:spLocks/>
            </p:cNvSpPr>
            <p:nvPr/>
          </p:nvSpPr>
          <p:spPr>
            <a:xfrm>
              <a:off x="393698" y="1626041"/>
              <a:ext cx="3997324" cy="3913699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9623" indent="-359623" defTabSz="957998">
                <a:lnSpc>
                  <a:spcPct val="106000"/>
                </a:lnSpc>
                <a:spcBef>
                  <a:spcPts val="1344"/>
                </a:spcBef>
                <a:defRPr/>
              </a:pPr>
              <a:endParaRPr lang="nl-NL" dirty="0">
                <a:solidFill>
                  <a:srgbClr val="002776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643066" y="1944097"/>
            <a:ext cx="2664000" cy="4163379"/>
            <a:chOff x="393698" y="1376361"/>
            <a:chExt cx="3997326" cy="4163379"/>
          </a:xfrm>
        </p:grpSpPr>
        <p:sp>
          <p:nvSpPr>
            <p:cNvPr id="8" name="Text Box 1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93699" y="1376361"/>
              <a:ext cx="3997325" cy="249678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altLang="zh-CN" sz="1400" dirty="0" smtClean="0">
                  <a:solidFill>
                    <a:srgbClr val="FFFFFF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Accounting Earning Scenario</a:t>
              </a:r>
              <a:endParaRPr lang="en-US" sz="14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9" name="Text Placeholder 5"/>
            <p:cNvSpPr txBox="1">
              <a:spLocks/>
            </p:cNvSpPr>
            <p:nvPr/>
          </p:nvSpPr>
          <p:spPr>
            <a:xfrm>
              <a:off x="393698" y="1626041"/>
              <a:ext cx="3997324" cy="3913699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9623" indent="-359623" defTabSz="957998">
                <a:lnSpc>
                  <a:spcPct val="106000"/>
                </a:lnSpc>
                <a:spcBef>
                  <a:spcPts val="1344"/>
                </a:spcBef>
                <a:defRPr/>
              </a:pPr>
              <a:endParaRPr lang="nl-NL" dirty="0">
                <a:solidFill>
                  <a:srgbClr val="002776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488573" y="1944097"/>
            <a:ext cx="2664000" cy="4163379"/>
            <a:chOff x="393698" y="1376361"/>
            <a:chExt cx="3997326" cy="4163379"/>
          </a:xfrm>
        </p:grpSpPr>
        <p:sp>
          <p:nvSpPr>
            <p:cNvPr id="11" name="Text Box 10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93699" y="1376361"/>
              <a:ext cx="3997325" cy="249678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altLang="zh-CN" sz="1400" dirty="0" smtClean="0">
                  <a:solidFill>
                    <a:srgbClr val="FFFFFF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Cash Flow Scenario</a:t>
              </a:r>
              <a:endParaRPr lang="en-US" sz="14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2" name="Text Placeholder 5"/>
            <p:cNvSpPr txBox="1">
              <a:spLocks/>
            </p:cNvSpPr>
            <p:nvPr/>
          </p:nvSpPr>
          <p:spPr>
            <a:xfrm>
              <a:off x="393698" y="1626041"/>
              <a:ext cx="3997324" cy="3913699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9623" indent="-359623" defTabSz="957998">
                <a:lnSpc>
                  <a:spcPct val="106000"/>
                </a:lnSpc>
                <a:spcBef>
                  <a:spcPts val="1344"/>
                </a:spcBef>
                <a:defRPr/>
              </a:pPr>
              <a:endParaRPr lang="nl-NL" dirty="0">
                <a:solidFill>
                  <a:srgbClr val="002776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54321"/>
              </p:ext>
            </p:extLst>
          </p:nvPr>
        </p:nvGraphicFramePr>
        <p:xfrm>
          <a:off x="951033" y="2404963"/>
          <a:ext cx="2301240" cy="1351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68780"/>
                <a:gridCol w="632460"/>
              </a:tblGrid>
              <a:tr h="337820"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EBIDTA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$100</a:t>
                      </a:r>
                    </a:p>
                  </a:txBody>
                  <a:tcPr/>
                </a:tc>
              </a:tr>
              <a:tr h="33782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- Interest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20</a:t>
                      </a:r>
                    </a:p>
                  </a:txBody>
                  <a:tcPr/>
                </a:tc>
              </a:tr>
              <a:tr h="33782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- Depreciation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30</a:t>
                      </a:r>
                    </a:p>
                  </a:txBody>
                  <a:tcPr/>
                </a:tc>
              </a:tr>
              <a:tr h="33782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= GAAP Net Income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 smtClean="0"/>
                        <a:t>$50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7515"/>
              </p:ext>
            </p:extLst>
          </p:nvPr>
        </p:nvGraphicFramePr>
        <p:xfrm>
          <a:off x="951033" y="3915359"/>
          <a:ext cx="2301240" cy="3378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84960"/>
                <a:gridCol w="716280"/>
              </a:tblGrid>
              <a:tr h="337820"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Dividends Paid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$54.25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786345" y="2339646"/>
            <a:ext cx="2377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Dividends / GAAP NI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$54.25 / $50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108.5% 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&gt; 90%</a:t>
            </a:r>
            <a:endParaRPr lang="en-US" sz="1400" b="1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91095" y="3882217"/>
            <a:ext cx="2567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REIT “passes” Distribution Test</a:t>
            </a:r>
            <a:endParaRPr lang="en-US" sz="14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91095" y="4427366"/>
            <a:ext cx="25679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How can the REIT pay more in dividends than it receives in income?</a:t>
            </a:r>
            <a:endParaRPr lang="en-US" sz="1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1095" y="5403403"/>
            <a:ext cx="2567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GAAP NI represents </a:t>
            </a:r>
            <a:r>
              <a:rPr lang="en-US" sz="1400" b="1" dirty="0" smtClean="0">
                <a:latin typeface="+mn-lt"/>
              </a:rPr>
              <a:t>Accounting </a:t>
            </a:r>
            <a:r>
              <a:rPr lang="en-US" sz="1400" b="1" dirty="0">
                <a:latin typeface="+mn-lt"/>
              </a:rPr>
              <a:t>E</a:t>
            </a:r>
            <a:r>
              <a:rPr lang="en-US" sz="1400" b="1" dirty="0" smtClean="0">
                <a:latin typeface="+mn-lt"/>
              </a:rPr>
              <a:t>arnings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u="sng" dirty="0" smtClean="0">
                <a:latin typeface="+mn-lt"/>
              </a:rPr>
              <a:t>not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C</a:t>
            </a:r>
            <a:r>
              <a:rPr lang="en-US" sz="1400" b="1" dirty="0" smtClean="0">
                <a:latin typeface="+mn-lt"/>
              </a:rPr>
              <a:t>ash </a:t>
            </a:r>
            <a:r>
              <a:rPr lang="en-US" sz="1400" b="1" dirty="0">
                <a:latin typeface="+mn-lt"/>
              </a:rPr>
              <a:t>F</a:t>
            </a:r>
            <a:r>
              <a:rPr lang="en-US" sz="1400" b="1" dirty="0" smtClean="0">
                <a:latin typeface="+mn-lt"/>
              </a:rPr>
              <a:t>low</a:t>
            </a:r>
            <a:endParaRPr lang="en-US" sz="1400" b="1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53200" y="2347167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Fund from Operation (FFO)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GAAP NI + Depreciation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$50 + $30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$80</a:t>
            </a:r>
            <a:endParaRPr lang="en-US" sz="1400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3200" y="4026781"/>
            <a:ext cx="2377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Dividends / FFO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$54.25 / $80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= 67.8% 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&lt;&lt; 90%</a:t>
            </a:r>
            <a:endParaRPr lang="en-US" sz="1400" b="1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0721" y="1190948"/>
            <a:ext cx="8672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Real Estate Investment Trusts are required by federal law to distribute 90% of taxable income as dividends to common shareholders.</a:t>
            </a:r>
            <a:endParaRPr lang="en-US" sz="1400" dirty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013460" y="3853486"/>
            <a:ext cx="2179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4403566" y="3717811"/>
            <a:ext cx="1143000" cy="914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4403566" y="4262960"/>
            <a:ext cx="1143000" cy="914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4403566" y="5238996"/>
            <a:ext cx="1143000" cy="914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170419" y="3715729"/>
            <a:ext cx="1143000" cy="914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97559" y="6326169"/>
            <a:ext cx="8355014" cy="52322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Depreciation is employed to change the GAPP NI, as well as to alter </a:t>
            </a:r>
            <a:r>
              <a:rPr lang="en-US" sz="1400" dirty="0">
                <a:latin typeface="+mn-lt"/>
              </a:rPr>
              <a:t>the dividend payment </a:t>
            </a:r>
            <a:r>
              <a:rPr lang="en-US" sz="1400" dirty="0" smtClean="0">
                <a:latin typeface="+mn-lt"/>
              </a:rPr>
              <a:t>requirements.</a:t>
            </a:r>
          </a:p>
          <a:p>
            <a:r>
              <a:rPr lang="en-US" sz="1400" dirty="0" smtClean="0">
                <a:latin typeface="+mn-lt"/>
              </a:rPr>
              <a:t>Cash flow sources still exists, while passing the 90% distribution test under Accounting Earning Scenario.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0799" y="3478696"/>
            <a:ext cx="748749" cy="711298"/>
          </a:xfrm>
          <a:prstGeom prst="rect">
            <a:avLst/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590798" y="3052233"/>
            <a:ext cx="748749" cy="711298"/>
          </a:xfrm>
          <a:prstGeom prst="rect">
            <a:avLst/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590799" y="3052506"/>
            <a:ext cx="748749" cy="1137487"/>
          </a:xfrm>
          <a:prstGeom prst="rect">
            <a:avLst/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250206" y="399556"/>
            <a:ext cx="1392712" cy="6737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to Update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8523844" y="6562614"/>
            <a:ext cx="1392712" cy="67378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to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01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69698</TotalTime>
  <Words>183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Cash Flow under 90% Payout Constraint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1883</cp:revision>
  <cp:lastPrinted>2014-08-14T21:45:56Z</cp:lastPrinted>
  <dcterms:created xsi:type="dcterms:W3CDTF">2011-07-07T12:37:32Z</dcterms:created>
  <dcterms:modified xsi:type="dcterms:W3CDTF">2015-06-18T20:42:20Z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