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4"/>
  </p:notesMasterIdLst>
  <p:handoutMasterIdLst>
    <p:handoutMasterId r:id="rId25"/>
  </p:handoutMasterIdLst>
  <p:sldIdLst>
    <p:sldId id="433" r:id="rId16"/>
    <p:sldId id="600" r:id="rId17"/>
    <p:sldId id="601" r:id="rId18"/>
    <p:sldId id="602" r:id="rId19"/>
    <p:sldId id="604" r:id="rId20"/>
    <p:sldId id="605" r:id="rId21"/>
    <p:sldId id="603" r:id="rId22"/>
    <p:sldId id="607" r:id="rId23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AD275C"/>
    <a:srgbClr val="2E398A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1200" y="-106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0.12641556223025099</c:v>
                </c:pt>
                <c:pt idx="1">
                  <c:v>0.128262122334732</c:v>
                </c:pt>
                <c:pt idx="2">
                  <c:v>0.12941465679693501</c:v>
                </c:pt>
                <c:pt idx="3">
                  <c:v>0.13055653734214101</c:v>
                </c:pt>
                <c:pt idx="4">
                  <c:v>0.131687911016481</c:v>
                </c:pt>
                <c:pt idx="5">
                  <c:v>0.13278366071134101</c:v>
                </c:pt>
                <c:pt idx="6">
                  <c:v>0.13386988598229299</c:v>
                </c:pt>
                <c:pt idx="7">
                  <c:v>0.13494671047359499</c:v>
                </c:pt>
                <c:pt idx="8">
                  <c:v>0.13538428840838401</c:v>
                </c:pt>
                <c:pt idx="9">
                  <c:v>0.135817148896551</c:v>
                </c:pt>
                <c:pt idx="10">
                  <c:v>0.13624536781518501</c:v>
                </c:pt>
                <c:pt idx="11">
                  <c:v>0.13769745789312099</c:v>
                </c:pt>
                <c:pt idx="12">
                  <c:v>0.13913541368458399</c:v>
                </c:pt>
                <c:pt idx="13">
                  <c:v>0.140559440559549</c:v>
                </c:pt>
                <c:pt idx="14">
                  <c:v>0.140942710615303</c:v>
                </c:pt>
                <c:pt idx="15">
                  <c:v>0.14132218689026599</c:v>
                </c:pt>
                <c:pt idx="16">
                  <c:v>0.14169792543749499</c:v>
                </c:pt>
                <c:pt idx="17">
                  <c:v>0.14170389926845101</c:v>
                </c:pt>
                <c:pt idx="18">
                  <c:v>0.14170981184471301</c:v>
                </c:pt>
                <c:pt idx="19">
                  <c:v>0.14171566410372299</c:v>
                </c:pt>
                <c:pt idx="20">
                  <c:v>0.14176436767221001</c:v>
                </c:pt>
                <c:pt idx="21">
                  <c:v>0.14181257461159</c:v>
                </c:pt>
                <c:pt idx="22">
                  <c:v>0.14186029247939999</c:v>
                </c:pt>
                <c:pt idx="23">
                  <c:v>0.141707875119196</c:v>
                </c:pt>
                <c:pt idx="24">
                  <c:v>0.141557202611726</c:v>
                </c:pt>
                <c:pt idx="25">
                  <c:v>0.14140824516599701</c:v>
                </c:pt>
                <c:pt idx="26">
                  <c:v>0.14193813635213001</c:v>
                </c:pt>
                <c:pt idx="27">
                  <c:v>0.14246206382450199</c:v>
                </c:pt>
                <c:pt idx="28">
                  <c:v>0.142980127699363</c:v>
                </c:pt>
                <c:pt idx="29">
                  <c:v>0.144168787611923</c:v>
                </c:pt>
                <c:pt idx="30">
                  <c:v>0.14534484798252501</c:v>
                </c:pt>
                <c:pt idx="31">
                  <c:v>0.14650850808444499</c:v>
                </c:pt>
                <c:pt idx="32">
                  <c:v>0.147483445258276</c:v>
                </c:pt>
                <c:pt idx="33">
                  <c:v>0.148447132720053</c:v>
                </c:pt>
                <c:pt idx="34">
                  <c:v>0.14939976406841901</c:v>
                </c:pt>
                <c:pt idx="35">
                  <c:v>0.149054044733718</c:v>
                </c:pt>
                <c:pt idx="36">
                  <c:v>0.14871255911679401</c:v>
                </c:pt>
                <c:pt idx="37">
                  <c:v>0.14837522992039501</c:v>
                </c:pt>
                <c:pt idx="38">
                  <c:v>0.14846855800519301</c:v>
                </c:pt>
                <c:pt idx="39">
                  <c:v>0.14856090053334101</c:v>
                </c:pt>
                <c:pt idx="40">
                  <c:v>0.14865227303282</c:v>
                </c:pt>
                <c:pt idx="41">
                  <c:v>0.150242362254324</c:v>
                </c:pt>
                <c:pt idx="42">
                  <c:v>0.15181613060242</c:v>
                </c:pt>
                <c:pt idx="43">
                  <c:v>0.15337382807341801</c:v>
                </c:pt>
                <c:pt idx="44">
                  <c:v>0.156106318693635</c:v>
                </c:pt>
                <c:pt idx="45">
                  <c:v>0.15881071662004601</c:v>
                </c:pt>
                <c:pt idx="46">
                  <c:v>0.16148745286774199</c:v>
                </c:pt>
                <c:pt idx="47">
                  <c:v>0.163596009223067</c:v>
                </c:pt>
                <c:pt idx="48">
                  <c:v>0.16568098054330499</c:v>
                </c:pt>
                <c:pt idx="49">
                  <c:v>0.16774276033944799</c:v>
                </c:pt>
                <c:pt idx="50">
                  <c:v>0.17027404803193</c:v>
                </c:pt>
                <c:pt idx="51">
                  <c:v>0.17277453848913699</c:v>
                </c:pt>
                <c:pt idx="52">
                  <c:v>0.17524479035976301</c:v>
                </c:pt>
                <c:pt idx="53">
                  <c:v>0.17791360026642</c:v>
                </c:pt>
                <c:pt idx="54">
                  <c:v>0.180548669641906</c:v>
                </c:pt>
                <c:pt idx="55">
                  <c:v>0.18315063431456999</c:v>
                </c:pt>
                <c:pt idx="56">
                  <c:v>0.18497145187629799</c:v>
                </c:pt>
                <c:pt idx="57">
                  <c:v>0.18676822104337901</c:v>
                </c:pt>
                <c:pt idx="58">
                  <c:v>0.18854141511783901</c:v>
                </c:pt>
                <c:pt idx="59">
                  <c:v>0.19129738921735601</c:v>
                </c:pt>
                <c:pt idx="60">
                  <c:v>0.194021241895416</c:v>
                </c:pt>
                <c:pt idx="61">
                  <c:v>0.19671353147072199</c:v>
                </c:pt>
                <c:pt idx="62">
                  <c:v>0.200688366604937</c:v>
                </c:pt>
                <c:pt idx="63">
                  <c:v>0.204620591169899</c:v>
                </c:pt>
                <c:pt idx="64">
                  <c:v>0.20851088669663101</c:v>
                </c:pt>
                <c:pt idx="65">
                  <c:v>0.21109199512872701</c:v>
                </c:pt>
                <c:pt idx="66">
                  <c:v>0.21363959361562801</c:v>
                </c:pt>
                <c:pt idx="67">
                  <c:v>0.21615433052779201</c:v>
                </c:pt>
                <c:pt idx="68">
                  <c:v>0.215684417846984</c:v>
                </c:pt>
                <c:pt idx="69">
                  <c:v>0.21522151839278</c:v>
                </c:pt>
                <c:pt idx="70">
                  <c:v>0.21476547632374299</c:v>
                </c:pt>
                <c:pt idx="71">
                  <c:v>0.21187429396867</c:v>
                </c:pt>
                <c:pt idx="72">
                  <c:v>0.209025735294638</c:v>
                </c:pt>
                <c:pt idx="73">
                  <c:v>0.20621886461991901</c:v>
                </c:pt>
                <c:pt idx="74">
                  <c:v>0.19915668319569901</c:v>
                </c:pt>
                <c:pt idx="75">
                  <c:v>0.19221035627719299</c:v>
                </c:pt>
                <c:pt idx="76">
                  <c:v>0.18537705618404099</c:v>
                </c:pt>
                <c:pt idx="77">
                  <c:v>0.17608542181403999</c:v>
                </c:pt>
                <c:pt idx="78">
                  <c:v>0.166952474277169</c:v>
                </c:pt>
                <c:pt idx="79">
                  <c:v>0.15797418280241499</c:v>
                </c:pt>
                <c:pt idx="80">
                  <c:v>0.150711569238035</c:v>
                </c:pt>
                <c:pt idx="81">
                  <c:v>0.143566722425372</c:v>
                </c:pt>
                <c:pt idx="82">
                  <c:v>0.136536800934626</c:v>
                </c:pt>
                <c:pt idx="83">
                  <c:v>0.129561522830938</c:v>
                </c:pt>
                <c:pt idx="84">
                  <c:v>0.122699182116897</c:v>
                </c:pt>
                <c:pt idx="85">
                  <c:v>0.115947057949296</c:v>
                </c:pt>
                <c:pt idx="86">
                  <c:v>0.10543989254553</c:v>
                </c:pt>
                <c:pt idx="87">
                  <c:v>9.5113593919858005E-2</c:v>
                </c:pt>
                <c:pt idx="88">
                  <c:v>8.4963531855286004E-2</c:v>
                </c:pt>
                <c:pt idx="89">
                  <c:v>7.1299739828595998E-2</c:v>
                </c:pt>
                <c:pt idx="90">
                  <c:v>5.7870333740007003E-2</c:v>
                </c:pt>
                <c:pt idx="91">
                  <c:v>4.4669333961423002E-2</c:v>
                </c:pt>
                <c:pt idx="92">
                  <c:v>3.1467605502477999E-2</c:v>
                </c:pt>
                <c:pt idx="93">
                  <c:v>1.8452924162195999E-2</c:v>
                </c:pt>
                <c:pt idx="94">
                  <c:v>5.6213426715199999E-3</c:v>
                </c:pt>
                <c:pt idx="95">
                  <c:v>-6.9987775062659999E-3</c:v>
                </c:pt>
                <c:pt idx="96">
                  <c:v>-1.9491873318336999E-2</c:v>
                </c:pt>
                <c:pt idx="97">
                  <c:v>-3.1859852954978E-2</c:v>
                </c:pt>
                <c:pt idx="98">
                  <c:v>-4.2965154007527998E-2</c:v>
                </c:pt>
                <c:pt idx="99">
                  <c:v>-5.4016620498195E-2</c:v>
                </c:pt>
                <c:pt idx="100">
                  <c:v>-6.5014642937177E-2</c:v>
                </c:pt>
                <c:pt idx="101">
                  <c:v>-7.3202575145532994E-2</c:v>
                </c:pt>
                <c:pt idx="102">
                  <c:v>-8.1377738457641E-2</c:v>
                </c:pt>
                <c:pt idx="103">
                  <c:v>-8.9540162718568003E-2</c:v>
                </c:pt>
                <c:pt idx="104">
                  <c:v>-0.100061313912156</c:v>
                </c:pt>
                <c:pt idx="105">
                  <c:v>-0.110542263086572</c:v>
                </c:pt>
                <c:pt idx="106">
                  <c:v>-0.120983240223463</c:v>
                </c:pt>
                <c:pt idx="107">
                  <c:v>-0.123695400077197</c:v>
                </c:pt>
                <c:pt idx="108">
                  <c:v>-0.12639653407337201</c:v>
                </c:pt>
                <c:pt idx="109">
                  <c:v>-0.12908670931058899</c:v>
                </c:pt>
                <c:pt idx="110">
                  <c:v>-0.132723824200742</c:v>
                </c:pt>
                <c:pt idx="111">
                  <c:v>-0.13636633252302499</c:v>
                </c:pt>
                <c:pt idx="112">
                  <c:v>-0.140014246283055</c:v>
                </c:pt>
                <c:pt idx="113">
                  <c:v>-0.13799576864660301</c:v>
                </c:pt>
                <c:pt idx="114">
                  <c:v>-0.13596110695604099</c:v>
                </c:pt>
                <c:pt idx="115">
                  <c:v>-0.133910065783545</c:v>
                </c:pt>
                <c:pt idx="116">
                  <c:v>-0.12903810429975901</c:v>
                </c:pt>
                <c:pt idx="117">
                  <c:v>-0.124111536358665</c:v>
                </c:pt>
                <c:pt idx="118">
                  <c:v>-0.11912943871706699</c:v>
                </c:pt>
                <c:pt idx="119">
                  <c:v>-0.11550891015977199</c:v>
                </c:pt>
                <c:pt idx="120">
                  <c:v>-0.111833025787412</c:v>
                </c:pt>
                <c:pt idx="121">
                  <c:v>-0.108100506281693</c:v>
                </c:pt>
                <c:pt idx="122">
                  <c:v>-0.101315125520563</c:v>
                </c:pt>
                <c:pt idx="123">
                  <c:v>-9.4404481507748994E-2</c:v>
                </c:pt>
                <c:pt idx="124">
                  <c:v>-8.7365073246434E-2</c:v>
                </c:pt>
                <c:pt idx="125">
                  <c:v>-8.5315500575151998E-2</c:v>
                </c:pt>
                <c:pt idx="126">
                  <c:v>-8.3232672782664996E-2</c:v>
                </c:pt>
                <c:pt idx="127">
                  <c:v>-8.1115773882991002E-2</c:v>
                </c:pt>
                <c:pt idx="128">
                  <c:v>-7.4994183920880003E-2</c:v>
                </c:pt>
                <c:pt idx="129">
                  <c:v>-6.8751992750269997E-2</c:v>
                </c:pt>
                <c:pt idx="130">
                  <c:v>-6.2385600976204998E-2</c:v>
                </c:pt>
                <c:pt idx="131">
                  <c:v>-6.8389264022439999E-2</c:v>
                </c:pt>
                <c:pt idx="132">
                  <c:v>-7.4405570652538E-2</c:v>
                </c:pt>
                <c:pt idx="133">
                  <c:v>-8.0434560849228995E-2</c:v>
                </c:pt>
                <c:pt idx="134">
                  <c:v>-7.8303063438834003E-2</c:v>
                </c:pt>
                <c:pt idx="135">
                  <c:v>-7.6150412087791997E-2</c:v>
                </c:pt>
                <c:pt idx="136">
                  <c:v>-7.3976290313750998E-2</c:v>
                </c:pt>
                <c:pt idx="137">
                  <c:v>-7.1021155973154004E-2</c:v>
                </c:pt>
                <c:pt idx="138">
                  <c:v>-6.8056300964167996E-2</c:v>
                </c:pt>
                <c:pt idx="139">
                  <c:v>-6.5081677244823E-2</c:v>
                </c:pt>
                <c:pt idx="140">
                  <c:v>-6.4280636043801007E-2</c:v>
                </c:pt>
                <c:pt idx="141">
                  <c:v>-6.3479678180398999E-2</c:v>
                </c:pt>
                <c:pt idx="142">
                  <c:v>-6.2678803641612005E-2</c:v>
                </c:pt>
                <c:pt idx="143">
                  <c:v>-5.7084696221225001E-2</c:v>
                </c:pt>
                <c:pt idx="144">
                  <c:v>-5.1451717093981997E-2</c:v>
                </c:pt>
                <c:pt idx="145">
                  <c:v>-4.5779459686242002E-2</c:v>
                </c:pt>
                <c:pt idx="146">
                  <c:v>-3.8567493112617E-2</c:v>
                </c:pt>
                <c:pt idx="147">
                  <c:v>-3.1333473920830003E-2</c:v>
                </c:pt>
                <c:pt idx="148">
                  <c:v>-2.4077300807340999E-2</c:v>
                </c:pt>
                <c:pt idx="149">
                  <c:v>-1.4940697468409E-2</c:v>
                </c:pt>
                <c:pt idx="150">
                  <c:v>-5.6977013332650001E-3</c:v>
                </c:pt>
                <c:pt idx="151">
                  <c:v>3.6535568450459998E-3</c:v>
                </c:pt>
                <c:pt idx="152">
                  <c:v>1.2772837510105E-2</c:v>
                </c:pt>
                <c:pt idx="153">
                  <c:v>2.1948318737160001E-2</c:v>
                </c:pt>
                <c:pt idx="154">
                  <c:v>3.1180521663683999E-2</c:v>
                </c:pt>
                <c:pt idx="155">
                  <c:v>4.6730163355081997E-2</c:v>
                </c:pt>
                <c:pt idx="156">
                  <c:v>6.2514908530660995E-2</c:v>
                </c:pt>
                <c:pt idx="157">
                  <c:v>7.8540129790935997E-2</c:v>
                </c:pt>
                <c:pt idx="158">
                  <c:v>8.9292996700083005E-2</c:v>
                </c:pt>
                <c:pt idx="159">
                  <c:v>0.100102220983049</c:v>
                </c:pt>
                <c:pt idx="160">
                  <c:v>0.11096824686885</c:v>
                </c:pt>
                <c:pt idx="161">
                  <c:v>0.11595065771098501</c:v>
                </c:pt>
                <c:pt idx="162">
                  <c:v>0.120917703882244</c:v>
                </c:pt>
                <c:pt idx="163">
                  <c:v>0.12586945634633501</c:v>
                </c:pt>
                <c:pt idx="164">
                  <c:v>0.12923909417703699</c:v>
                </c:pt>
                <c:pt idx="165">
                  <c:v>0.13260261798508899</c:v>
                </c:pt>
                <c:pt idx="166">
                  <c:v>0.13596004439519099</c:v>
                </c:pt>
                <c:pt idx="167">
                  <c:v>0.13798320878335801</c:v>
                </c:pt>
                <c:pt idx="168">
                  <c:v>0.139996318793009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4388352"/>
        <c:axId val="155093632"/>
      </c:lineChart>
      <c:dateAx>
        <c:axId val="1543883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5093632"/>
        <c:crosses val="autoZero"/>
        <c:auto val="1"/>
        <c:lblOffset val="100"/>
        <c:baseTimeUnit val="months"/>
        <c:majorUnit val="24"/>
        <c:majorTimeUnit val="months"/>
      </c:dateAx>
      <c:valAx>
        <c:axId val="15509363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4388352"/>
        <c:crosses val="autoZero"/>
        <c:crossBetween val="midCat"/>
        <c:majorUnit val="0.2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General</c:formatCode>
                <c:ptCount val="169"/>
                <c:pt idx="0">
                  <c:v>281.32499999999999</c:v>
                </c:pt>
                <c:pt idx="1">
                  <c:v>279.67500000000001</c:v>
                </c:pt>
                <c:pt idx="2">
                  <c:v>296.18</c:v>
                </c:pt>
                <c:pt idx="3">
                  <c:v>304.89999999999998</c:v>
                </c:pt>
                <c:pt idx="4">
                  <c:v>303.77499999999998</c:v>
                </c:pt>
                <c:pt idx="5">
                  <c:v>314.82</c:v>
                </c:pt>
                <c:pt idx="6">
                  <c:v>312.22500000000002</c:v>
                </c:pt>
                <c:pt idx="7">
                  <c:v>308.42500000000001</c:v>
                </c:pt>
                <c:pt idx="8">
                  <c:v>315.77999999999997</c:v>
                </c:pt>
                <c:pt idx="9">
                  <c:v>304.3</c:v>
                </c:pt>
                <c:pt idx="10">
                  <c:v>312.89999999999998</c:v>
                </c:pt>
                <c:pt idx="11">
                  <c:v>295.38</c:v>
                </c:pt>
                <c:pt idx="12">
                  <c:v>314.10000000000002</c:v>
                </c:pt>
                <c:pt idx="13">
                  <c:v>288.7</c:v>
                </c:pt>
                <c:pt idx="14">
                  <c:v>299.44</c:v>
                </c:pt>
                <c:pt idx="15">
                  <c:v>301.7</c:v>
                </c:pt>
                <c:pt idx="16">
                  <c:v>307.89999999999998</c:v>
                </c:pt>
                <c:pt idx="17">
                  <c:v>325.48</c:v>
                </c:pt>
                <c:pt idx="18">
                  <c:v>311.92500000000001</c:v>
                </c:pt>
                <c:pt idx="19">
                  <c:v>304.89999999999998</c:v>
                </c:pt>
                <c:pt idx="20">
                  <c:v>296.3</c:v>
                </c:pt>
                <c:pt idx="21">
                  <c:v>272.02499999999998</c:v>
                </c:pt>
                <c:pt idx="22">
                  <c:v>315</c:v>
                </c:pt>
                <c:pt idx="23">
                  <c:v>315</c:v>
                </c:pt>
                <c:pt idx="24">
                  <c:v>356.2</c:v>
                </c:pt>
                <c:pt idx="25">
                  <c:v>315.32499999999999</c:v>
                </c:pt>
                <c:pt idx="26">
                  <c:v>328.24</c:v>
                </c:pt>
                <c:pt idx="27">
                  <c:v>347.52499999999998</c:v>
                </c:pt>
                <c:pt idx="28">
                  <c:v>369.16</c:v>
                </c:pt>
                <c:pt idx="29">
                  <c:v>373.17500000000001</c:v>
                </c:pt>
                <c:pt idx="30">
                  <c:v>374.25</c:v>
                </c:pt>
                <c:pt idx="31">
                  <c:v>360.6</c:v>
                </c:pt>
                <c:pt idx="32">
                  <c:v>369.52499999999998</c:v>
                </c:pt>
                <c:pt idx="33">
                  <c:v>348.625</c:v>
                </c:pt>
                <c:pt idx="34">
                  <c:v>356.92</c:v>
                </c:pt>
                <c:pt idx="35">
                  <c:v>357.625</c:v>
                </c:pt>
                <c:pt idx="36">
                  <c:v>365.22</c:v>
                </c:pt>
                <c:pt idx="37">
                  <c:v>329.45</c:v>
                </c:pt>
                <c:pt idx="38">
                  <c:v>360.17500000000001</c:v>
                </c:pt>
                <c:pt idx="39">
                  <c:v>373.2</c:v>
                </c:pt>
                <c:pt idx="40">
                  <c:v>416.64</c:v>
                </c:pt>
                <c:pt idx="41">
                  <c:v>421.9</c:v>
                </c:pt>
                <c:pt idx="42">
                  <c:v>432.65</c:v>
                </c:pt>
                <c:pt idx="43">
                  <c:v>405.42</c:v>
                </c:pt>
                <c:pt idx="44">
                  <c:v>410.27499999999998</c:v>
                </c:pt>
                <c:pt idx="45">
                  <c:v>390.88</c:v>
                </c:pt>
                <c:pt idx="46">
                  <c:v>425.75</c:v>
                </c:pt>
                <c:pt idx="47">
                  <c:v>409.67500000000001</c:v>
                </c:pt>
                <c:pt idx="48">
                  <c:v>448.88</c:v>
                </c:pt>
                <c:pt idx="49">
                  <c:v>415.55</c:v>
                </c:pt>
                <c:pt idx="50">
                  <c:v>443.42500000000001</c:v>
                </c:pt>
                <c:pt idx="51">
                  <c:v>457.96</c:v>
                </c:pt>
                <c:pt idx="52">
                  <c:v>464.52499999999998</c:v>
                </c:pt>
                <c:pt idx="53">
                  <c:v>442.9</c:v>
                </c:pt>
                <c:pt idx="54">
                  <c:v>461.36</c:v>
                </c:pt>
                <c:pt idx="55">
                  <c:v>448.47500000000002</c:v>
                </c:pt>
                <c:pt idx="56">
                  <c:v>464.35</c:v>
                </c:pt>
                <c:pt idx="57">
                  <c:v>458.82</c:v>
                </c:pt>
                <c:pt idx="58">
                  <c:v>471.72500000000002</c:v>
                </c:pt>
                <c:pt idx="59">
                  <c:v>470.4</c:v>
                </c:pt>
                <c:pt idx="60">
                  <c:v>430.125</c:v>
                </c:pt>
                <c:pt idx="61">
                  <c:v>431.42500000000001</c:v>
                </c:pt>
                <c:pt idx="62">
                  <c:v>457.95</c:v>
                </c:pt>
                <c:pt idx="63">
                  <c:v>470.34</c:v>
                </c:pt>
                <c:pt idx="64">
                  <c:v>485.125</c:v>
                </c:pt>
                <c:pt idx="65">
                  <c:v>491.35</c:v>
                </c:pt>
                <c:pt idx="66">
                  <c:v>495.62</c:v>
                </c:pt>
                <c:pt idx="67">
                  <c:v>489.27499999999998</c:v>
                </c:pt>
                <c:pt idx="68">
                  <c:v>493.94</c:v>
                </c:pt>
                <c:pt idx="69">
                  <c:v>469.35</c:v>
                </c:pt>
                <c:pt idx="70">
                  <c:v>473.02499999999998</c:v>
                </c:pt>
                <c:pt idx="71">
                  <c:v>455.46</c:v>
                </c:pt>
                <c:pt idx="72">
                  <c:v>452.67500000000001</c:v>
                </c:pt>
                <c:pt idx="73">
                  <c:v>406.57499999999999</c:v>
                </c:pt>
                <c:pt idx="74">
                  <c:v>407.58</c:v>
                </c:pt>
                <c:pt idx="75">
                  <c:v>411.95</c:v>
                </c:pt>
                <c:pt idx="76">
                  <c:v>408.77499999999998</c:v>
                </c:pt>
                <c:pt idx="77">
                  <c:v>405.64</c:v>
                </c:pt>
                <c:pt idx="78">
                  <c:v>397.17500000000001</c:v>
                </c:pt>
                <c:pt idx="79">
                  <c:v>383.22500000000002</c:v>
                </c:pt>
                <c:pt idx="80">
                  <c:v>395.66</c:v>
                </c:pt>
                <c:pt idx="81">
                  <c:v>381.5</c:v>
                </c:pt>
                <c:pt idx="82">
                  <c:v>405.8</c:v>
                </c:pt>
                <c:pt idx="83">
                  <c:v>424.8</c:v>
                </c:pt>
                <c:pt idx="84">
                  <c:v>430.8</c:v>
                </c:pt>
                <c:pt idx="85">
                  <c:v>397.02499999999998</c:v>
                </c:pt>
                <c:pt idx="86">
                  <c:v>408.84</c:v>
                </c:pt>
                <c:pt idx="87">
                  <c:v>412.15</c:v>
                </c:pt>
                <c:pt idx="88">
                  <c:v>433.92500000000001</c:v>
                </c:pt>
                <c:pt idx="89">
                  <c:v>443.08</c:v>
                </c:pt>
                <c:pt idx="90">
                  <c:v>435.3</c:v>
                </c:pt>
                <c:pt idx="91">
                  <c:v>440.72</c:v>
                </c:pt>
                <c:pt idx="92">
                  <c:v>432.55</c:v>
                </c:pt>
                <c:pt idx="93">
                  <c:v>419.52499999999998</c:v>
                </c:pt>
                <c:pt idx="94">
                  <c:v>427.38</c:v>
                </c:pt>
                <c:pt idx="95">
                  <c:v>412.375</c:v>
                </c:pt>
                <c:pt idx="96">
                  <c:v>419.27499999999998</c:v>
                </c:pt>
                <c:pt idx="97">
                  <c:v>377.62</c:v>
                </c:pt>
                <c:pt idx="98">
                  <c:v>373.375</c:v>
                </c:pt>
                <c:pt idx="99">
                  <c:v>365.92500000000001</c:v>
                </c:pt>
                <c:pt idx="100">
                  <c:v>359.72</c:v>
                </c:pt>
                <c:pt idx="101">
                  <c:v>353.15</c:v>
                </c:pt>
                <c:pt idx="102">
                  <c:v>342.65</c:v>
                </c:pt>
                <c:pt idx="103">
                  <c:v>321.86</c:v>
                </c:pt>
                <c:pt idx="104">
                  <c:v>349.72500000000002</c:v>
                </c:pt>
                <c:pt idx="105">
                  <c:v>294.26</c:v>
                </c:pt>
                <c:pt idx="106">
                  <c:v>288.89999999999998</c:v>
                </c:pt>
                <c:pt idx="107">
                  <c:v>305.77499999999998</c:v>
                </c:pt>
                <c:pt idx="108">
                  <c:v>299.76</c:v>
                </c:pt>
                <c:pt idx="109">
                  <c:v>245.02500000000001</c:v>
                </c:pt>
                <c:pt idx="110">
                  <c:v>261.55</c:v>
                </c:pt>
                <c:pt idx="111">
                  <c:v>266.60000000000002</c:v>
                </c:pt>
                <c:pt idx="112">
                  <c:v>261.66000000000003</c:v>
                </c:pt>
                <c:pt idx="113">
                  <c:v>269.97500000000002</c:v>
                </c:pt>
                <c:pt idx="114">
                  <c:v>266.58</c:v>
                </c:pt>
                <c:pt idx="115">
                  <c:v>275.72500000000002</c:v>
                </c:pt>
                <c:pt idx="116">
                  <c:v>283.92500000000001</c:v>
                </c:pt>
                <c:pt idx="117">
                  <c:v>274.2</c:v>
                </c:pt>
                <c:pt idx="118">
                  <c:v>219.97499999999999</c:v>
                </c:pt>
                <c:pt idx="119">
                  <c:v>225.17500000000001</c:v>
                </c:pt>
                <c:pt idx="120">
                  <c:v>220.44</c:v>
                </c:pt>
                <c:pt idx="121">
                  <c:v>211.2</c:v>
                </c:pt>
                <c:pt idx="122">
                  <c:v>229.7</c:v>
                </c:pt>
                <c:pt idx="123">
                  <c:v>250.18</c:v>
                </c:pt>
                <c:pt idx="124">
                  <c:v>204.85</c:v>
                </c:pt>
                <c:pt idx="125">
                  <c:v>174.45</c:v>
                </c:pt>
                <c:pt idx="126">
                  <c:v>169.6</c:v>
                </c:pt>
                <c:pt idx="127">
                  <c:v>172.22499999999999</c:v>
                </c:pt>
                <c:pt idx="128">
                  <c:v>181.9</c:v>
                </c:pt>
                <c:pt idx="129">
                  <c:v>181.1</c:v>
                </c:pt>
                <c:pt idx="130">
                  <c:v>195.02500000000001</c:v>
                </c:pt>
                <c:pt idx="131">
                  <c:v>201.54</c:v>
                </c:pt>
                <c:pt idx="132">
                  <c:v>185.55</c:v>
                </c:pt>
                <c:pt idx="133">
                  <c:v>179.52500000000001</c:v>
                </c:pt>
                <c:pt idx="134">
                  <c:v>190.3</c:v>
                </c:pt>
                <c:pt idx="135">
                  <c:v>193.7</c:v>
                </c:pt>
                <c:pt idx="136">
                  <c:v>191.57499999999999</c:v>
                </c:pt>
                <c:pt idx="137">
                  <c:v>185.02500000000001</c:v>
                </c:pt>
                <c:pt idx="138">
                  <c:v>183.8</c:v>
                </c:pt>
                <c:pt idx="139">
                  <c:v>167.22499999999999</c:v>
                </c:pt>
                <c:pt idx="140">
                  <c:v>170.876</c:v>
                </c:pt>
                <c:pt idx="141">
                  <c:v>171.25</c:v>
                </c:pt>
                <c:pt idx="142">
                  <c:v>186.92750000000001</c:v>
                </c:pt>
                <c:pt idx="143">
                  <c:v>185.166</c:v>
                </c:pt>
                <c:pt idx="144">
                  <c:v>184.7475</c:v>
                </c:pt>
                <c:pt idx="145">
                  <c:v>171.35</c:v>
                </c:pt>
                <c:pt idx="146">
                  <c:v>188.96</c:v>
                </c:pt>
                <c:pt idx="147">
                  <c:v>189.97499999999999</c:v>
                </c:pt>
                <c:pt idx="148">
                  <c:v>190.45</c:v>
                </c:pt>
                <c:pt idx="149">
                  <c:v>189.56</c:v>
                </c:pt>
                <c:pt idx="150">
                  <c:v>188.3</c:v>
                </c:pt>
                <c:pt idx="151">
                  <c:v>178.22</c:v>
                </c:pt>
                <c:pt idx="152">
                  <c:v>189.97499999999999</c:v>
                </c:pt>
                <c:pt idx="153">
                  <c:v>192.375</c:v>
                </c:pt>
                <c:pt idx="154">
                  <c:v>197.2</c:v>
                </c:pt>
                <c:pt idx="155">
                  <c:v>191.22499999999999</c:v>
                </c:pt>
                <c:pt idx="156">
                  <c:v>205.32499999999999</c:v>
                </c:pt>
                <c:pt idx="157">
                  <c:v>196.375</c:v>
                </c:pt>
                <c:pt idx="158">
                  <c:v>206.44</c:v>
                </c:pt>
                <c:pt idx="159">
                  <c:v>215.375</c:v>
                </c:pt>
                <c:pt idx="160">
                  <c:v>211.08</c:v>
                </c:pt>
                <c:pt idx="161">
                  <c:v>212.6</c:v>
                </c:pt>
                <c:pt idx="162">
                  <c:v>198.65</c:v>
                </c:pt>
                <c:pt idx="163">
                  <c:v>187.74</c:v>
                </c:pt>
                <c:pt idx="164">
                  <c:v>190.42500000000001</c:v>
                </c:pt>
                <c:pt idx="165">
                  <c:v>182.97499999999999</c:v>
                </c:pt>
                <c:pt idx="166">
                  <c:v>187.02</c:v>
                </c:pt>
                <c:pt idx="167">
                  <c:v>175.52500000000001</c:v>
                </c:pt>
                <c:pt idx="168">
                  <c:v>183.3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058752"/>
        <c:axId val="161165312"/>
      </c:lineChart>
      <c:dateAx>
        <c:axId val="1580587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61165312"/>
        <c:crosses val="autoZero"/>
        <c:auto val="1"/>
        <c:lblOffset val="100"/>
        <c:baseTimeUnit val="months"/>
        <c:majorUnit val="24"/>
        <c:majorTimeUnit val="months"/>
      </c:dateAx>
      <c:valAx>
        <c:axId val="161165312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58058752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0.3306598778210626</c:v>
                </c:pt>
                <c:pt idx="1">
                  <c:v>0.37524831955846333</c:v>
                </c:pt>
                <c:pt idx="2">
                  <c:v>0.39178712933352794</c:v>
                </c:pt>
                <c:pt idx="3">
                  <c:v>0.54404210925190344</c:v>
                </c:pt>
                <c:pt idx="4">
                  <c:v>0.47195143298132008</c:v>
                </c:pt>
                <c:pt idx="5">
                  <c:v>0.43238590672902849</c:v>
                </c:pt>
                <c:pt idx="6">
                  <c:v>0.41532390434815802</c:v>
                </c:pt>
                <c:pt idx="7">
                  <c:v>0.3747814453816441</c:v>
                </c:pt>
                <c:pt idx="8">
                  <c:v>0.45496134605515443</c:v>
                </c:pt>
                <c:pt idx="9">
                  <c:v>0.4099477486398016</c:v>
                </c:pt>
                <c:pt idx="10">
                  <c:v>0.36949377378822668</c:v>
                </c:pt>
                <c:pt idx="11">
                  <c:v>0.42670610582596058</c:v>
                </c:pt>
                <c:pt idx="12">
                  <c:v>0.40868090381377076</c:v>
                </c:pt>
                <c:pt idx="13">
                  <c:v>0.37478364992951374</c:v>
                </c:pt>
                <c:pt idx="14">
                  <c:v>0.30109332631367386</c:v>
                </c:pt>
                <c:pt idx="15">
                  <c:v>0.31283020126957167</c:v>
                </c:pt>
                <c:pt idx="16">
                  <c:v>0.29417657989314699</c:v>
                </c:pt>
                <c:pt idx="17">
                  <c:v>0.34966869401311745</c:v>
                </c:pt>
                <c:pt idx="18">
                  <c:v>0.31916338812209638</c:v>
                </c:pt>
                <c:pt idx="19">
                  <c:v>0.32698426212913478</c:v>
                </c:pt>
                <c:pt idx="20">
                  <c:v>0.29646162215479721</c:v>
                </c:pt>
                <c:pt idx="21">
                  <c:v>0.28136891153711213</c:v>
                </c:pt>
                <c:pt idx="22">
                  <c:v>0.27176414998414844</c:v>
                </c:pt>
                <c:pt idx="23">
                  <c:v>0.28378781653737695</c:v>
                </c:pt>
                <c:pt idx="24">
                  <c:v>0.30994143756339987</c:v>
                </c:pt>
                <c:pt idx="25">
                  <c:v>0.31577287685099542</c:v>
                </c:pt>
                <c:pt idx="26">
                  <c:v>0.34119535746580831</c:v>
                </c:pt>
                <c:pt idx="27">
                  <c:v>0.29985485157867253</c:v>
                </c:pt>
                <c:pt idx="28">
                  <c:v>0.30980232730555379</c:v>
                </c:pt>
                <c:pt idx="29">
                  <c:v>0.31435528910599941</c:v>
                </c:pt>
                <c:pt idx="30">
                  <c:v>0.30522955195231422</c:v>
                </c:pt>
                <c:pt idx="31">
                  <c:v>0.30353753633601355</c:v>
                </c:pt>
                <c:pt idx="32">
                  <c:v>0.2737648850688788</c:v>
                </c:pt>
                <c:pt idx="33">
                  <c:v>0.24878926248617908</c:v>
                </c:pt>
                <c:pt idx="34">
                  <c:v>0.25177471962989217</c:v>
                </c:pt>
                <c:pt idx="35">
                  <c:v>0.24043297216217863</c:v>
                </c:pt>
                <c:pt idx="36">
                  <c:v>0.24167737431017952</c:v>
                </c:pt>
                <c:pt idx="37">
                  <c:v>0.24657344892893426</c:v>
                </c:pt>
                <c:pt idx="38">
                  <c:v>0.23920502293318649</c:v>
                </c:pt>
                <c:pt idx="39">
                  <c:v>0.22261021545938453</c:v>
                </c:pt>
                <c:pt idx="40">
                  <c:v>0.21713684300531411</c:v>
                </c:pt>
                <c:pt idx="41">
                  <c:v>0.22327400441347287</c:v>
                </c:pt>
                <c:pt idx="42">
                  <c:v>0.2092572659738898</c:v>
                </c:pt>
                <c:pt idx="43">
                  <c:v>0.20705016829757861</c:v>
                </c:pt>
                <c:pt idx="44">
                  <c:v>0.22533957891126988</c:v>
                </c:pt>
                <c:pt idx="45">
                  <c:v>0.2421363992080493</c:v>
                </c:pt>
                <c:pt idx="46">
                  <c:v>0.23022446379711387</c:v>
                </c:pt>
                <c:pt idx="47">
                  <c:v>0.23421359888258336</c:v>
                </c:pt>
                <c:pt idx="48">
                  <c:v>0.22836691646934223</c:v>
                </c:pt>
                <c:pt idx="49">
                  <c:v>0.21519166971064027</c:v>
                </c:pt>
                <c:pt idx="50">
                  <c:v>0.22119344876361768</c:v>
                </c:pt>
                <c:pt idx="51">
                  <c:v>0.21463994689099486</c:v>
                </c:pt>
                <c:pt idx="52">
                  <c:v>0.21457268103556326</c:v>
                </c:pt>
                <c:pt idx="53">
                  <c:v>0.22302141113545818</c:v>
                </c:pt>
                <c:pt idx="54">
                  <c:v>0.23882307823988913</c:v>
                </c:pt>
                <c:pt idx="55">
                  <c:v>0.24060697704773326</c:v>
                </c:pt>
                <c:pt idx="56">
                  <c:v>0.23310207520699211</c:v>
                </c:pt>
                <c:pt idx="57">
                  <c:v>0.23405546106141589</c:v>
                </c:pt>
                <c:pt idx="58">
                  <c:v>0.23173585680638628</c:v>
                </c:pt>
                <c:pt idx="59">
                  <c:v>0.2285599829094363</c:v>
                </c:pt>
                <c:pt idx="60">
                  <c:v>0.22926309275053364</c:v>
                </c:pt>
                <c:pt idx="61">
                  <c:v>0.22266038405054489</c:v>
                </c:pt>
                <c:pt idx="62">
                  <c:v>0.21018881320964605</c:v>
                </c:pt>
                <c:pt idx="63">
                  <c:v>0.21067835205556765</c:v>
                </c:pt>
                <c:pt idx="64">
                  <c:v>0.21773323814248313</c:v>
                </c:pt>
                <c:pt idx="65">
                  <c:v>0.21605323596596296</c:v>
                </c:pt>
                <c:pt idx="66">
                  <c:v>0.2026491678380157</c:v>
                </c:pt>
                <c:pt idx="67">
                  <c:v>0.19371664061811986</c:v>
                </c:pt>
                <c:pt idx="68">
                  <c:v>0.20528629310956009</c:v>
                </c:pt>
                <c:pt idx="69">
                  <c:v>0.19400439346310838</c:v>
                </c:pt>
                <c:pt idx="70">
                  <c:v>0.18675396026918237</c:v>
                </c:pt>
                <c:pt idx="71">
                  <c:v>0.1796042307691271</c:v>
                </c:pt>
                <c:pt idx="72">
                  <c:v>0.18404098675376998</c:v>
                </c:pt>
                <c:pt idx="73">
                  <c:v>0.18051926739814675</c:v>
                </c:pt>
                <c:pt idx="74">
                  <c:v>0.17889795436233688</c:v>
                </c:pt>
                <c:pt idx="75">
                  <c:v>0.17750953760444824</c:v>
                </c:pt>
                <c:pt idx="76">
                  <c:v>0.179327195230156</c:v>
                </c:pt>
                <c:pt idx="77">
                  <c:v>0.17416346555501258</c:v>
                </c:pt>
                <c:pt idx="78">
                  <c:v>0.17103806760312693</c:v>
                </c:pt>
                <c:pt idx="79">
                  <c:v>0.18045572832321155</c:v>
                </c:pt>
                <c:pt idx="80">
                  <c:v>0.18777026271776925</c:v>
                </c:pt>
                <c:pt idx="81">
                  <c:v>0.19081347344242888</c:v>
                </c:pt>
                <c:pt idx="82">
                  <c:v>0.19266569778855233</c:v>
                </c:pt>
                <c:pt idx="83">
                  <c:v>0.19216676965199866</c:v>
                </c:pt>
                <c:pt idx="84">
                  <c:v>0.19810114287274955</c:v>
                </c:pt>
                <c:pt idx="85">
                  <c:v>0.20257181736024465</c:v>
                </c:pt>
                <c:pt idx="86">
                  <c:v>0.20756731910752987</c:v>
                </c:pt>
                <c:pt idx="87">
                  <c:v>0.21793013711950152</c:v>
                </c:pt>
                <c:pt idx="88">
                  <c:v>0.22540002723619212</c:v>
                </c:pt>
                <c:pt idx="89">
                  <c:v>0.23508036706343577</c:v>
                </c:pt>
                <c:pt idx="90">
                  <c:v>0.23228608776235549</c:v>
                </c:pt>
                <c:pt idx="91">
                  <c:v>0.22826687958573538</c:v>
                </c:pt>
                <c:pt idx="92">
                  <c:v>0.23125137917086408</c:v>
                </c:pt>
                <c:pt idx="93">
                  <c:v>0.23390790522732174</c:v>
                </c:pt>
                <c:pt idx="94">
                  <c:v>0.22550867610893899</c:v>
                </c:pt>
                <c:pt idx="95">
                  <c:v>0.22180785473623638</c:v>
                </c:pt>
                <c:pt idx="96">
                  <c:v>0.20435871669149888</c:v>
                </c:pt>
                <c:pt idx="97">
                  <c:v>0.18254111636942136</c:v>
                </c:pt>
                <c:pt idx="98">
                  <c:v>0.15832514812687923</c:v>
                </c:pt>
                <c:pt idx="99">
                  <c:v>0.14111998066694059</c:v>
                </c:pt>
                <c:pt idx="100">
                  <c:v>0.11201334276297802</c:v>
                </c:pt>
                <c:pt idx="101">
                  <c:v>9.9442505563004657E-2</c:v>
                </c:pt>
                <c:pt idx="102">
                  <c:v>9.1695340421097435E-2</c:v>
                </c:pt>
                <c:pt idx="103">
                  <c:v>8.7503574101426493E-2</c:v>
                </c:pt>
                <c:pt idx="104">
                  <c:v>9.4281259452617172E-2</c:v>
                </c:pt>
                <c:pt idx="105">
                  <c:v>8.4811560183452581E-2</c:v>
                </c:pt>
                <c:pt idx="106">
                  <c:v>7.7683530297755238E-2</c:v>
                </c:pt>
                <c:pt idx="107">
                  <c:v>8.501022061534283E-2</c:v>
                </c:pt>
                <c:pt idx="108">
                  <c:v>6.7628934079581607E-2</c:v>
                </c:pt>
                <c:pt idx="109">
                  <c:v>5.9612308599679996E-2</c:v>
                </c:pt>
                <c:pt idx="110">
                  <c:v>5.0510455191186326E-2</c:v>
                </c:pt>
                <c:pt idx="111">
                  <c:v>4.2291487280550828E-2</c:v>
                </c:pt>
                <c:pt idx="112">
                  <c:v>3.7292507391480184E-2</c:v>
                </c:pt>
                <c:pt idx="113">
                  <c:v>3.368134701478416E-2</c:v>
                </c:pt>
                <c:pt idx="114">
                  <c:v>3.2945075243346306E-2</c:v>
                </c:pt>
                <c:pt idx="115">
                  <c:v>3.375490947089306E-2</c:v>
                </c:pt>
                <c:pt idx="116">
                  <c:v>3.6508948277548067E-2</c:v>
                </c:pt>
                <c:pt idx="117">
                  <c:v>3.8777451236623246E-2</c:v>
                </c:pt>
                <c:pt idx="118">
                  <c:v>3.8275484393000811E-2</c:v>
                </c:pt>
                <c:pt idx="119">
                  <c:v>3.8913989569870362E-2</c:v>
                </c:pt>
                <c:pt idx="120">
                  <c:v>4.1382602450064948E-2</c:v>
                </c:pt>
                <c:pt idx="121">
                  <c:v>3.897894284259474E-2</c:v>
                </c:pt>
                <c:pt idx="122">
                  <c:v>3.9842147659891303E-2</c:v>
                </c:pt>
                <c:pt idx="123">
                  <c:v>3.9988384716924445E-2</c:v>
                </c:pt>
                <c:pt idx="124">
                  <c:v>3.9787112740795834E-2</c:v>
                </c:pt>
                <c:pt idx="125">
                  <c:v>3.6247280703871294E-2</c:v>
                </c:pt>
                <c:pt idx="126">
                  <c:v>3.7303142965223295E-2</c:v>
                </c:pt>
                <c:pt idx="127">
                  <c:v>3.594535222829319E-2</c:v>
                </c:pt>
                <c:pt idx="128">
                  <c:v>3.5090285802819185E-2</c:v>
                </c:pt>
                <c:pt idx="129">
                  <c:v>3.3309271725206258E-2</c:v>
                </c:pt>
                <c:pt idx="130">
                  <c:v>3.1444058926653605E-2</c:v>
                </c:pt>
                <c:pt idx="131">
                  <c:v>3.251215451097509E-2</c:v>
                </c:pt>
                <c:pt idx="132">
                  <c:v>3.4576430562348846E-2</c:v>
                </c:pt>
                <c:pt idx="133">
                  <c:v>3.7099824884908511E-2</c:v>
                </c:pt>
                <c:pt idx="134">
                  <c:v>4.0740820302241659E-2</c:v>
                </c:pt>
                <c:pt idx="135">
                  <c:v>4.2054883239696646E-2</c:v>
                </c:pt>
                <c:pt idx="136">
                  <c:v>3.9869647646881202E-2</c:v>
                </c:pt>
                <c:pt idx="137">
                  <c:v>4.1836994151575997E-2</c:v>
                </c:pt>
                <c:pt idx="138">
                  <c:v>4.1346083202202066E-2</c:v>
                </c:pt>
                <c:pt idx="139">
                  <c:v>4.3649416960049647E-2</c:v>
                </c:pt>
                <c:pt idx="140">
                  <c:v>4.3126710256741113E-2</c:v>
                </c:pt>
                <c:pt idx="141">
                  <c:v>4.0879180266253069E-2</c:v>
                </c:pt>
                <c:pt idx="142">
                  <c:v>4.2799326703610314E-2</c:v>
                </c:pt>
                <c:pt idx="143">
                  <c:v>3.9998191229893697E-2</c:v>
                </c:pt>
                <c:pt idx="144">
                  <c:v>3.8677652838378887E-2</c:v>
                </c:pt>
                <c:pt idx="145">
                  <c:v>4.0957167406488887E-2</c:v>
                </c:pt>
                <c:pt idx="146">
                  <c:v>3.7462543108516336E-2</c:v>
                </c:pt>
                <c:pt idx="147">
                  <c:v>3.6834728222201879E-2</c:v>
                </c:pt>
                <c:pt idx="148">
                  <c:v>3.4922374121626798E-2</c:v>
                </c:pt>
                <c:pt idx="149">
                  <c:v>3.6286300985076493E-2</c:v>
                </c:pt>
                <c:pt idx="150">
                  <c:v>3.6293105965706188E-2</c:v>
                </c:pt>
                <c:pt idx="151">
                  <c:v>3.7336341670661931E-2</c:v>
                </c:pt>
                <c:pt idx="152">
                  <c:v>3.7939850589509959E-2</c:v>
                </c:pt>
                <c:pt idx="153">
                  <c:v>3.7852253302594202E-2</c:v>
                </c:pt>
                <c:pt idx="154">
                  <c:v>3.9825448654699017E-2</c:v>
                </c:pt>
                <c:pt idx="155">
                  <c:v>3.7897533224984695E-2</c:v>
                </c:pt>
                <c:pt idx="156">
                  <c:v>4.1189962209826389E-2</c:v>
                </c:pt>
                <c:pt idx="157">
                  <c:v>4.1764684153957982E-2</c:v>
                </c:pt>
                <c:pt idx="158">
                  <c:v>4.032676958300252E-2</c:v>
                </c:pt>
                <c:pt idx="159">
                  <c:v>4.0431229109577152E-2</c:v>
                </c:pt>
                <c:pt idx="160">
                  <c:v>4.0939078817998846E-2</c:v>
                </c:pt>
                <c:pt idx="161">
                  <c:v>4.0591805258631389E-2</c:v>
                </c:pt>
                <c:pt idx="162">
                  <c:v>4.091655216637468E-2</c:v>
                </c:pt>
                <c:pt idx="163">
                  <c:v>4.3143405051324656E-2</c:v>
                </c:pt>
                <c:pt idx="164">
                  <c:v>4.895961276869424E-2</c:v>
                </c:pt>
                <c:pt idx="165">
                  <c:v>5.2334021909931638E-2</c:v>
                </c:pt>
                <c:pt idx="166">
                  <c:v>5.7176566738559538E-2</c:v>
                </c:pt>
                <c:pt idx="167">
                  <c:v>5.7054344086197702E-2</c:v>
                </c:pt>
                <c:pt idx="168">
                  <c:v>6.0348587302878405E-2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969280"/>
        <c:axId val="165404672"/>
      </c:lineChart>
      <c:dateAx>
        <c:axId val="16396928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65404672"/>
        <c:crosses val="autoZero"/>
        <c:auto val="1"/>
        <c:lblOffset val="100"/>
        <c:baseTimeUnit val="months"/>
        <c:majorUnit val="24"/>
        <c:majorTimeUnit val="months"/>
      </c:dateAx>
      <c:valAx>
        <c:axId val="16540467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63969280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0.12641556223025099</c:v>
                </c:pt>
                <c:pt idx="1">
                  <c:v>0.128262122334732</c:v>
                </c:pt>
                <c:pt idx="2">
                  <c:v>0.12941465679693501</c:v>
                </c:pt>
                <c:pt idx="3">
                  <c:v>0.13055653734214101</c:v>
                </c:pt>
                <c:pt idx="4">
                  <c:v>0.131687911016481</c:v>
                </c:pt>
                <c:pt idx="5">
                  <c:v>0.13278366071134101</c:v>
                </c:pt>
                <c:pt idx="6">
                  <c:v>0.13386988598229299</c:v>
                </c:pt>
                <c:pt idx="7">
                  <c:v>0.13494671047359499</c:v>
                </c:pt>
                <c:pt idx="8">
                  <c:v>0.13538428840838401</c:v>
                </c:pt>
                <c:pt idx="9">
                  <c:v>0.135817148896551</c:v>
                </c:pt>
                <c:pt idx="10">
                  <c:v>0.13624536781518501</c:v>
                </c:pt>
                <c:pt idx="11">
                  <c:v>0.13769745789312099</c:v>
                </c:pt>
                <c:pt idx="12">
                  <c:v>0.13913541368458399</c:v>
                </c:pt>
                <c:pt idx="13">
                  <c:v>0.140559440559549</c:v>
                </c:pt>
                <c:pt idx="14">
                  <c:v>0.140942710615303</c:v>
                </c:pt>
                <c:pt idx="15">
                  <c:v>0.14132218689026599</c:v>
                </c:pt>
                <c:pt idx="16">
                  <c:v>0.14169792543749499</c:v>
                </c:pt>
                <c:pt idx="17">
                  <c:v>0.14170389926845101</c:v>
                </c:pt>
                <c:pt idx="18">
                  <c:v>0.14170981184471301</c:v>
                </c:pt>
                <c:pt idx="19">
                  <c:v>0.14171566410372299</c:v>
                </c:pt>
                <c:pt idx="20">
                  <c:v>0.14176436767221001</c:v>
                </c:pt>
                <c:pt idx="21">
                  <c:v>0.14181257461159</c:v>
                </c:pt>
                <c:pt idx="22">
                  <c:v>0.14186029247939999</c:v>
                </c:pt>
                <c:pt idx="23">
                  <c:v>0.141707875119196</c:v>
                </c:pt>
                <c:pt idx="24">
                  <c:v>0.141557202611726</c:v>
                </c:pt>
                <c:pt idx="25">
                  <c:v>0.14140824516599701</c:v>
                </c:pt>
                <c:pt idx="26">
                  <c:v>0.14193813635213001</c:v>
                </c:pt>
                <c:pt idx="27">
                  <c:v>0.14246206382450199</c:v>
                </c:pt>
                <c:pt idx="28">
                  <c:v>0.142980127699363</c:v>
                </c:pt>
                <c:pt idx="29">
                  <c:v>0.144168787611923</c:v>
                </c:pt>
                <c:pt idx="30">
                  <c:v>0.14534484798252501</c:v>
                </c:pt>
                <c:pt idx="31">
                  <c:v>0.14650850808444499</c:v>
                </c:pt>
                <c:pt idx="32">
                  <c:v>0.147483445258276</c:v>
                </c:pt>
                <c:pt idx="33">
                  <c:v>0.148447132720053</c:v>
                </c:pt>
                <c:pt idx="34">
                  <c:v>0.14939976406841901</c:v>
                </c:pt>
                <c:pt idx="35">
                  <c:v>0.149054044733718</c:v>
                </c:pt>
                <c:pt idx="36">
                  <c:v>0.14871255911679401</c:v>
                </c:pt>
                <c:pt idx="37">
                  <c:v>0.14837522992039501</c:v>
                </c:pt>
                <c:pt idx="38">
                  <c:v>0.14846855800519301</c:v>
                </c:pt>
                <c:pt idx="39">
                  <c:v>0.14856090053334101</c:v>
                </c:pt>
                <c:pt idx="40">
                  <c:v>0.14865227303282</c:v>
                </c:pt>
                <c:pt idx="41">
                  <c:v>0.150242362254324</c:v>
                </c:pt>
                <c:pt idx="42">
                  <c:v>0.15181613060242</c:v>
                </c:pt>
                <c:pt idx="43">
                  <c:v>0.15337382807341801</c:v>
                </c:pt>
                <c:pt idx="44">
                  <c:v>0.156106318693635</c:v>
                </c:pt>
                <c:pt idx="45">
                  <c:v>0.15881071662004601</c:v>
                </c:pt>
                <c:pt idx="46">
                  <c:v>0.16148745286774199</c:v>
                </c:pt>
                <c:pt idx="47">
                  <c:v>0.163596009223067</c:v>
                </c:pt>
                <c:pt idx="48">
                  <c:v>0.16568098054330499</c:v>
                </c:pt>
                <c:pt idx="49">
                  <c:v>0.16774276033944799</c:v>
                </c:pt>
                <c:pt idx="50">
                  <c:v>0.17027404803193</c:v>
                </c:pt>
                <c:pt idx="51">
                  <c:v>0.17277453848913699</c:v>
                </c:pt>
                <c:pt idx="52">
                  <c:v>0.17524479035976301</c:v>
                </c:pt>
                <c:pt idx="53">
                  <c:v>0.17791360026642</c:v>
                </c:pt>
                <c:pt idx="54">
                  <c:v>0.180548669641906</c:v>
                </c:pt>
                <c:pt idx="55">
                  <c:v>0.18315063431456999</c:v>
                </c:pt>
                <c:pt idx="56">
                  <c:v>0.18497145187629799</c:v>
                </c:pt>
                <c:pt idx="57">
                  <c:v>0.18676822104337901</c:v>
                </c:pt>
                <c:pt idx="58">
                  <c:v>0.18854141511783901</c:v>
                </c:pt>
                <c:pt idx="59">
                  <c:v>0.19129738921735601</c:v>
                </c:pt>
                <c:pt idx="60">
                  <c:v>0.194021241895416</c:v>
                </c:pt>
                <c:pt idx="61">
                  <c:v>0.19671353147072199</c:v>
                </c:pt>
                <c:pt idx="62">
                  <c:v>0.200688366604937</c:v>
                </c:pt>
                <c:pt idx="63">
                  <c:v>0.204620591169899</c:v>
                </c:pt>
                <c:pt idx="64">
                  <c:v>0.20851088669663101</c:v>
                </c:pt>
                <c:pt idx="65">
                  <c:v>0.21109199512872701</c:v>
                </c:pt>
                <c:pt idx="66">
                  <c:v>0.21363959361562801</c:v>
                </c:pt>
                <c:pt idx="67">
                  <c:v>0.21615433052779201</c:v>
                </c:pt>
                <c:pt idx="68">
                  <c:v>0.215684417846984</c:v>
                </c:pt>
                <c:pt idx="69">
                  <c:v>0.21522151839278</c:v>
                </c:pt>
                <c:pt idx="70">
                  <c:v>0.21476547632374299</c:v>
                </c:pt>
                <c:pt idx="71">
                  <c:v>0.21187429396867</c:v>
                </c:pt>
                <c:pt idx="72">
                  <c:v>0.209025735294638</c:v>
                </c:pt>
                <c:pt idx="73">
                  <c:v>0.20621886461991901</c:v>
                </c:pt>
                <c:pt idx="74">
                  <c:v>0.19915668319569901</c:v>
                </c:pt>
                <c:pt idx="75">
                  <c:v>0.19221035627719299</c:v>
                </c:pt>
                <c:pt idx="76">
                  <c:v>0.18537705618404099</c:v>
                </c:pt>
                <c:pt idx="77">
                  <c:v>0.17608542181403999</c:v>
                </c:pt>
                <c:pt idx="78">
                  <c:v>0.166952474277169</c:v>
                </c:pt>
                <c:pt idx="79">
                  <c:v>0.15797418280241499</c:v>
                </c:pt>
                <c:pt idx="80">
                  <c:v>0.150711569238035</c:v>
                </c:pt>
                <c:pt idx="81">
                  <c:v>0.143566722425372</c:v>
                </c:pt>
                <c:pt idx="82">
                  <c:v>0.136536800934626</c:v>
                </c:pt>
                <c:pt idx="83">
                  <c:v>0.129561522830938</c:v>
                </c:pt>
                <c:pt idx="84">
                  <c:v>0.122699182116897</c:v>
                </c:pt>
                <c:pt idx="85">
                  <c:v>0.115947057949296</c:v>
                </c:pt>
                <c:pt idx="86">
                  <c:v>0.10543989254553</c:v>
                </c:pt>
                <c:pt idx="87">
                  <c:v>9.5113593919858005E-2</c:v>
                </c:pt>
                <c:pt idx="88">
                  <c:v>8.4963531855286004E-2</c:v>
                </c:pt>
                <c:pt idx="89">
                  <c:v>7.1299739828595998E-2</c:v>
                </c:pt>
                <c:pt idx="90">
                  <c:v>5.7870333740007003E-2</c:v>
                </c:pt>
                <c:pt idx="91">
                  <c:v>4.4669333961423002E-2</c:v>
                </c:pt>
                <c:pt idx="92">
                  <c:v>3.1467605502477999E-2</c:v>
                </c:pt>
                <c:pt idx="93">
                  <c:v>1.8452924162195999E-2</c:v>
                </c:pt>
                <c:pt idx="94">
                  <c:v>5.6213426715199999E-3</c:v>
                </c:pt>
                <c:pt idx="95">
                  <c:v>-6.9987775062659999E-3</c:v>
                </c:pt>
                <c:pt idx="96">
                  <c:v>-1.9491873318336999E-2</c:v>
                </c:pt>
                <c:pt idx="97">
                  <c:v>-3.1859852954978E-2</c:v>
                </c:pt>
                <c:pt idx="98">
                  <c:v>-4.2965154007527998E-2</c:v>
                </c:pt>
                <c:pt idx="99">
                  <c:v>-5.4016620498195E-2</c:v>
                </c:pt>
                <c:pt idx="100">
                  <c:v>-6.5014642937177E-2</c:v>
                </c:pt>
                <c:pt idx="101">
                  <c:v>-7.3202575145532994E-2</c:v>
                </c:pt>
                <c:pt idx="102">
                  <c:v>-8.1377738457641E-2</c:v>
                </c:pt>
                <c:pt idx="103">
                  <c:v>-8.9540162718568003E-2</c:v>
                </c:pt>
                <c:pt idx="104">
                  <c:v>-0.100061313912156</c:v>
                </c:pt>
                <c:pt idx="105">
                  <c:v>-0.110542263086572</c:v>
                </c:pt>
                <c:pt idx="106">
                  <c:v>-0.120983240223463</c:v>
                </c:pt>
                <c:pt idx="107">
                  <c:v>-0.123695400077197</c:v>
                </c:pt>
                <c:pt idx="108">
                  <c:v>-0.12639653407337201</c:v>
                </c:pt>
                <c:pt idx="109">
                  <c:v>-0.12908670931058899</c:v>
                </c:pt>
                <c:pt idx="110">
                  <c:v>-0.132723824200742</c:v>
                </c:pt>
                <c:pt idx="111">
                  <c:v>-0.13636633252302499</c:v>
                </c:pt>
                <c:pt idx="112">
                  <c:v>-0.140014246283055</c:v>
                </c:pt>
                <c:pt idx="113">
                  <c:v>-0.13799576864660301</c:v>
                </c:pt>
                <c:pt idx="114">
                  <c:v>-0.13596110695604099</c:v>
                </c:pt>
                <c:pt idx="115">
                  <c:v>-0.133910065783545</c:v>
                </c:pt>
                <c:pt idx="116">
                  <c:v>-0.12903810429975901</c:v>
                </c:pt>
                <c:pt idx="117">
                  <c:v>-0.124111536358665</c:v>
                </c:pt>
                <c:pt idx="118">
                  <c:v>-0.11912943871706699</c:v>
                </c:pt>
                <c:pt idx="119">
                  <c:v>-0.11550891015977199</c:v>
                </c:pt>
                <c:pt idx="120">
                  <c:v>-0.111833025787412</c:v>
                </c:pt>
                <c:pt idx="121">
                  <c:v>-0.108100506281693</c:v>
                </c:pt>
                <c:pt idx="122">
                  <c:v>-0.101315125520563</c:v>
                </c:pt>
                <c:pt idx="123">
                  <c:v>-9.4404481507748994E-2</c:v>
                </c:pt>
                <c:pt idx="124">
                  <c:v>-8.7365073246434E-2</c:v>
                </c:pt>
                <c:pt idx="125">
                  <c:v>-8.5315500575151998E-2</c:v>
                </c:pt>
                <c:pt idx="126">
                  <c:v>-8.3232672782664996E-2</c:v>
                </c:pt>
                <c:pt idx="127">
                  <c:v>-8.1115773882991002E-2</c:v>
                </c:pt>
                <c:pt idx="128">
                  <c:v>-7.4994183920880003E-2</c:v>
                </c:pt>
                <c:pt idx="129">
                  <c:v>-6.8751992750269997E-2</c:v>
                </c:pt>
                <c:pt idx="130">
                  <c:v>-6.2385600976204998E-2</c:v>
                </c:pt>
                <c:pt idx="131">
                  <c:v>-6.8389264022439999E-2</c:v>
                </c:pt>
                <c:pt idx="132">
                  <c:v>-7.4405570652538E-2</c:v>
                </c:pt>
                <c:pt idx="133">
                  <c:v>-8.0434560849228995E-2</c:v>
                </c:pt>
                <c:pt idx="134">
                  <c:v>-7.8303063438834003E-2</c:v>
                </c:pt>
                <c:pt idx="135">
                  <c:v>-7.6150412087791997E-2</c:v>
                </c:pt>
                <c:pt idx="136">
                  <c:v>-7.3976290313750998E-2</c:v>
                </c:pt>
                <c:pt idx="137">
                  <c:v>-7.1021155973154004E-2</c:v>
                </c:pt>
                <c:pt idx="138">
                  <c:v>-6.8056300964167996E-2</c:v>
                </c:pt>
                <c:pt idx="139">
                  <c:v>-6.5081677244823E-2</c:v>
                </c:pt>
                <c:pt idx="140">
                  <c:v>-6.4280636043801007E-2</c:v>
                </c:pt>
                <c:pt idx="141">
                  <c:v>-6.3479678180398999E-2</c:v>
                </c:pt>
                <c:pt idx="142">
                  <c:v>-6.2678803641612005E-2</c:v>
                </c:pt>
                <c:pt idx="143">
                  <c:v>-5.7084696221225001E-2</c:v>
                </c:pt>
                <c:pt idx="144">
                  <c:v>-5.1451717093981997E-2</c:v>
                </c:pt>
                <c:pt idx="145">
                  <c:v>-4.5779459686242002E-2</c:v>
                </c:pt>
                <c:pt idx="146">
                  <c:v>-3.8567493112617E-2</c:v>
                </c:pt>
                <c:pt idx="147">
                  <c:v>-3.1333473920830003E-2</c:v>
                </c:pt>
                <c:pt idx="148">
                  <c:v>-2.4077300807340999E-2</c:v>
                </c:pt>
                <c:pt idx="149">
                  <c:v>-1.4940697468409E-2</c:v>
                </c:pt>
                <c:pt idx="150">
                  <c:v>-5.6977013332650001E-3</c:v>
                </c:pt>
                <c:pt idx="151">
                  <c:v>3.6535568450459998E-3</c:v>
                </c:pt>
                <c:pt idx="152">
                  <c:v>1.2772837510105E-2</c:v>
                </c:pt>
                <c:pt idx="153">
                  <c:v>2.1948318737160001E-2</c:v>
                </c:pt>
                <c:pt idx="154">
                  <c:v>3.1180521663683999E-2</c:v>
                </c:pt>
                <c:pt idx="155">
                  <c:v>4.6730163355081997E-2</c:v>
                </c:pt>
                <c:pt idx="156">
                  <c:v>6.2514908530660995E-2</c:v>
                </c:pt>
                <c:pt idx="157">
                  <c:v>7.8540129790935997E-2</c:v>
                </c:pt>
                <c:pt idx="158">
                  <c:v>8.9292996700083005E-2</c:v>
                </c:pt>
                <c:pt idx="159">
                  <c:v>0.100102220983049</c:v>
                </c:pt>
                <c:pt idx="160">
                  <c:v>0.11096824686885</c:v>
                </c:pt>
                <c:pt idx="161">
                  <c:v>0.11595065771098501</c:v>
                </c:pt>
                <c:pt idx="162">
                  <c:v>0.120917703882244</c:v>
                </c:pt>
                <c:pt idx="163">
                  <c:v>0.12586945634633501</c:v>
                </c:pt>
                <c:pt idx="164">
                  <c:v>0.12923909417703699</c:v>
                </c:pt>
                <c:pt idx="165">
                  <c:v>0.13260261798508899</c:v>
                </c:pt>
                <c:pt idx="166">
                  <c:v>0.13596004439519099</c:v>
                </c:pt>
                <c:pt idx="167">
                  <c:v>0.13798320878335801</c:v>
                </c:pt>
                <c:pt idx="168">
                  <c:v>0.139996318793009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860160"/>
        <c:axId val="179504256"/>
      </c:lineChart>
      <c:dateAx>
        <c:axId val="17686016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79504256"/>
        <c:crosses val="autoZero"/>
        <c:auto val="1"/>
        <c:lblOffset val="100"/>
        <c:baseTimeUnit val="months"/>
        <c:majorUnit val="48"/>
        <c:majorTimeUnit val="months"/>
      </c:dateAx>
      <c:valAx>
        <c:axId val="179504256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176860160"/>
        <c:crosses val="autoZero"/>
        <c:crossBetween val="midCat"/>
        <c:majorUnit val="0.2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General</c:formatCode>
                <c:ptCount val="169"/>
                <c:pt idx="0">
                  <c:v>281.32499999999999</c:v>
                </c:pt>
                <c:pt idx="1">
                  <c:v>279.67500000000001</c:v>
                </c:pt>
                <c:pt idx="2">
                  <c:v>296.18</c:v>
                </c:pt>
                <c:pt idx="3">
                  <c:v>304.89999999999998</c:v>
                </c:pt>
                <c:pt idx="4">
                  <c:v>303.77499999999998</c:v>
                </c:pt>
                <c:pt idx="5">
                  <c:v>314.82</c:v>
                </c:pt>
                <c:pt idx="6">
                  <c:v>312.22500000000002</c:v>
                </c:pt>
                <c:pt idx="7">
                  <c:v>308.42500000000001</c:v>
                </c:pt>
                <c:pt idx="8">
                  <c:v>315.77999999999997</c:v>
                </c:pt>
                <c:pt idx="9">
                  <c:v>304.3</c:v>
                </c:pt>
                <c:pt idx="10">
                  <c:v>312.89999999999998</c:v>
                </c:pt>
                <c:pt idx="11">
                  <c:v>295.38</c:v>
                </c:pt>
                <c:pt idx="12">
                  <c:v>314.10000000000002</c:v>
                </c:pt>
                <c:pt idx="13">
                  <c:v>288.7</c:v>
                </c:pt>
                <c:pt idx="14">
                  <c:v>299.44</c:v>
                </c:pt>
                <c:pt idx="15">
                  <c:v>301.7</c:v>
                </c:pt>
                <c:pt idx="16">
                  <c:v>307.89999999999998</c:v>
                </c:pt>
                <c:pt idx="17">
                  <c:v>325.48</c:v>
                </c:pt>
                <c:pt idx="18">
                  <c:v>311.92500000000001</c:v>
                </c:pt>
                <c:pt idx="19">
                  <c:v>304.89999999999998</c:v>
                </c:pt>
                <c:pt idx="20">
                  <c:v>296.3</c:v>
                </c:pt>
                <c:pt idx="21">
                  <c:v>272.02499999999998</c:v>
                </c:pt>
                <c:pt idx="22">
                  <c:v>315</c:v>
                </c:pt>
                <c:pt idx="23">
                  <c:v>315</c:v>
                </c:pt>
                <c:pt idx="24">
                  <c:v>356.2</c:v>
                </c:pt>
                <c:pt idx="25">
                  <c:v>315.32499999999999</c:v>
                </c:pt>
                <c:pt idx="26">
                  <c:v>328.24</c:v>
                </c:pt>
                <c:pt idx="27">
                  <c:v>347.52499999999998</c:v>
                </c:pt>
                <c:pt idx="28">
                  <c:v>369.16</c:v>
                </c:pt>
                <c:pt idx="29">
                  <c:v>373.17500000000001</c:v>
                </c:pt>
                <c:pt idx="30">
                  <c:v>374.25</c:v>
                </c:pt>
                <c:pt idx="31">
                  <c:v>360.6</c:v>
                </c:pt>
                <c:pt idx="32">
                  <c:v>369.52499999999998</c:v>
                </c:pt>
                <c:pt idx="33">
                  <c:v>348.625</c:v>
                </c:pt>
                <c:pt idx="34">
                  <c:v>356.92</c:v>
                </c:pt>
                <c:pt idx="35">
                  <c:v>357.625</c:v>
                </c:pt>
                <c:pt idx="36">
                  <c:v>365.22</c:v>
                </c:pt>
                <c:pt idx="37">
                  <c:v>329.45</c:v>
                </c:pt>
                <c:pt idx="38">
                  <c:v>360.17500000000001</c:v>
                </c:pt>
                <c:pt idx="39">
                  <c:v>373.2</c:v>
                </c:pt>
                <c:pt idx="40">
                  <c:v>416.64</c:v>
                </c:pt>
                <c:pt idx="41">
                  <c:v>421.9</c:v>
                </c:pt>
                <c:pt idx="42">
                  <c:v>432.65</c:v>
                </c:pt>
                <c:pt idx="43">
                  <c:v>405.42</c:v>
                </c:pt>
                <c:pt idx="44">
                  <c:v>410.27499999999998</c:v>
                </c:pt>
                <c:pt idx="45">
                  <c:v>390.88</c:v>
                </c:pt>
                <c:pt idx="46">
                  <c:v>425.75</c:v>
                </c:pt>
                <c:pt idx="47">
                  <c:v>409.67500000000001</c:v>
                </c:pt>
                <c:pt idx="48">
                  <c:v>448.88</c:v>
                </c:pt>
                <c:pt idx="49">
                  <c:v>415.55</c:v>
                </c:pt>
                <c:pt idx="50">
                  <c:v>443.42500000000001</c:v>
                </c:pt>
                <c:pt idx="51">
                  <c:v>457.96</c:v>
                </c:pt>
                <c:pt idx="52">
                  <c:v>464.52499999999998</c:v>
                </c:pt>
                <c:pt idx="53">
                  <c:v>442.9</c:v>
                </c:pt>
                <c:pt idx="54">
                  <c:v>461.36</c:v>
                </c:pt>
                <c:pt idx="55">
                  <c:v>448.47500000000002</c:v>
                </c:pt>
                <c:pt idx="56">
                  <c:v>464.35</c:v>
                </c:pt>
                <c:pt idx="57">
                  <c:v>458.82</c:v>
                </c:pt>
                <c:pt idx="58">
                  <c:v>471.72500000000002</c:v>
                </c:pt>
                <c:pt idx="59">
                  <c:v>470.4</c:v>
                </c:pt>
                <c:pt idx="60">
                  <c:v>430.125</c:v>
                </c:pt>
                <c:pt idx="61">
                  <c:v>431.42500000000001</c:v>
                </c:pt>
                <c:pt idx="62">
                  <c:v>457.95</c:v>
                </c:pt>
                <c:pt idx="63">
                  <c:v>470.34</c:v>
                </c:pt>
                <c:pt idx="64">
                  <c:v>485.125</c:v>
                </c:pt>
                <c:pt idx="65">
                  <c:v>491.35</c:v>
                </c:pt>
                <c:pt idx="66">
                  <c:v>495.62</c:v>
                </c:pt>
                <c:pt idx="67">
                  <c:v>489.27499999999998</c:v>
                </c:pt>
                <c:pt idx="68">
                  <c:v>493.94</c:v>
                </c:pt>
                <c:pt idx="69">
                  <c:v>469.35</c:v>
                </c:pt>
                <c:pt idx="70">
                  <c:v>473.02499999999998</c:v>
                </c:pt>
                <c:pt idx="71">
                  <c:v>455.46</c:v>
                </c:pt>
                <c:pt idx="72">
                  <c:v>452.67500000000001</c:v>
                </c:pt>
                <c:pt idx="73">
                  <c:v>406.57499999999999</c:v>
                </c:pt>
                <c:pt idx="74">
                  <c:v>407.58</c:v>
                </c:pt>
                <c:pt idx="75">
                  <c:v>411.95</c:v>
                </c:pt>
                <c:pt idx="76">
                  <c:v>408.77499999999998</c:v>
                </c:pt>
                <c:pt idx="77">
                  <c:v>405.64</c:v>
                </c:pt>
                <c:pt idx="78">
                  <c:v>397.17500000000001</c:v>
                </c:pt>
                <c:pt idx="79">
                  <c:v>383.22500000000002</c:v>
                </c:pt>
                <c:pt idx="80">
                  <c:v>395.66</c:v>
                </c:pt>
                <c:pt idx="81">
                  <c:v>381.5</c:v>
                </c:pt>
                <c:pt idx="82">
                  <c:v>405.8</c:v>
                </c:pt>
                <c:pt idx="83">
                  <c:v>424.8</c:v>
                </c:pt>
                <c:pt idx="84">
                  <c:v>430.8</c:v>
                </c:pt>
                <c:pt idx="85">
                  <c:v>397.02499999999998</c:v>
                </c:pt>
                <c:pt idx="86">
                  <c:v>408.84</c:v>
                </c:pt>
                <c:pt idx="87">
                  <c:v>412.15</c:v>
                </c:pt>
                <c:pt idx="88">
                  <c:v>433.92500000000001</c:v>
                </c:pt>
                <c:pt idx="89">
                  <c:v>443.08</c:v>
                </c:pt>
                <c:pt idx="90">
                  <c:v>435.3</c:v>
                </c:pt>
                <c:pt idx="91">
                  <c:v>440.72</c:v>
                </c:pt>
                <c:pt idx="92">
                  <c:v>432.55</c:v>
                </c:pt>
                <c:pt idx="93">
                  <c:v>419.52499999999998</c:v>
                </c:pt>
                <c:pt idx="94">
                  <c:v>427.38</c:v>
                </c:pt>
                <c:pt idx="95">
                  <c:v>412.375</c:v>
                </c:pt>
                <c:pt idx="96">
                  <c:v>419.27499999999998</c:v>
                </c:pt>
                <c:pt idx="97">
                  <c:v>377.62</c:v>
                </c:pt>
                <c:pt idx="98">
                  <c:v>373.375</c:v>
                </c:pt>
                <c:pt idx="99">
                  <c:v>365.92500000000001</c:v>
                </c:pt>
                <c:pt idx="100">
                  <c:v>359.72</c:v>
                </c:pt>
                <c:pt idx="101">
                  <c:v>353.15</c:v>
                </c:pt>
                <c:pt idx="102">
                  <c:v>342.65</c:v>
                </c:pt>
                <c:pt idx="103">
                  <c:v>321.86</c:v>
                </c:pt>
                <c:pt idx="104">
                  <c:v>349.72500000000002</c:v>
                </c:pt>
                <c:pt idx="105">
                  <c:v>294.26</c:v>
                </c:pt>
                <c:pt idx="106">
                  <c:v>288.89999999999998</c:v>
                </c:pt>
                <c:pt idx="107">
                  <c:v>305.77499999999998</c:v>
                </c:pt>
                <c:pt idx="108">
                  <c:v>299.76</c:v>
                </c:pt>
                <c:pt idx="109">
                  <c:v>245.02500000000001</c:v>
                </c:pt>
                <c:pt idx="110">
                  <c:v>261.55</c:v>
                </c:pt>
                <c:pt idx="111">
                  <c:v>266.60000000000002</c:v>
                </c:pt>
                <c:pt idx="112">
                  <c:v>261.66000000000003</c:v>
                </c:pt>
                <c:pt idx="113">
                  <c:v>269.97500000000002</c:v>
                </c:pt>
                <c:pt idx="114">
                  <c:v>266.58</c:v>
                </c:pt>
                <c:pt idx="115">
                  <c:v>275.72500000000002</c:v>
                </c:pt>
                <c:pt idx="116">
                  <c:v>283.92500000000001</c:v>
                </c:pt>
                <c:pt idx="117">
                  <c:v>274.2</c:v>
                </c:pt>
                <c:pt idx="118">
                  <c:v>219.97499999999999</c:v>
                </c:pt>
                <c:pt idx="119">
                  <c:v>225.17500000000001</c:v>
                </c:pt>
                <c:pt idx="120">
                  <c:v>220.44</c:v>
                </c:pt>
                <c:pt idx="121">
                  <c:v>211.2</c:v>
                </c:pt>
                <c:pt idx="122">
                  <c:v>229.7</c:v>
                </c:pt>
                <c:pt idx="123">
                  <c:v>250.18</c:v>
                </c:pt>
                <c:pt idx="124">
                  <c:v>204.85</c:v>
                </c:pt>
                <c:pt idx="125">
                  <c:v>174.45</c:v>
                </c:pt>
                <c:pt idx="126">
                  <c:v>169.6</c:v>
                </c:pt>
                <c:pt idx="127">
                  <c:v>172.22499999999999</c:v>
                </c:pt>
                <c:pt idx="128">
                  <c:v>181.9</c:v>
                </c:pt>
                <c:pt idx="129">
                  <c:v>181.1</c:v>
                </c:pt>
                <c:pt idx="130">
                  <c:v>195.02500000000001</c:v>
                </c:pt>
                <c:pt idx="131">
                  <c:v>201.54</c:v>
                </c:pt>
                <c:pt idx="132">
                  <c:v>185.55</c:v>
                </c:pt>
                <c:pt idx="133">
                  <c:v>179.52500000000001</c:v>
                </c:pt>
                <c:pt idx="134">
                  <c:v>190.3</c:v>
                </c:pt>
                <c:pt idx="135">
                  <c:v>193.7</c:v>
                </c:pt>
                <c:pt idx="136">
                  <c:v>191.57499999999999</c:v>
                </c:pt>
                <c:pt idx="137">
                  <c:v>185.02500000000001</c:v>
                </c:pt>
                <c:pt idx="138">
                  <c:v>183.8</c:v>
                </c:pt>
                <c:pt idx="139">
                  <c:v>167.22499999999999</c:v>
                </c:pt>
                <c:pt idx="140">
                  <c:v>170.876</c:v>
                </c:pt>
                <c:pt idx="141">
                  <c:v>171.25</c:v>
                </c:pt>
                <c:pt idx="142">
                  <c:v>186.92750000000001</c:v>
                </c:pt>
                <c:pt idx="143">
                  <c:v>185.166</c:v>
                </c:pt>
                <c:pt idx="144">
                  <c:v>184.7475</c:v>
                </c:pt>
                <c:pt idx="145">
                  <c:v>171.35</c:v>
                </c:pt>
                <c:pt idx="146">
                  <c:v>188.96</c:v>
                </c:pt>
                <c:pt idx="147">
                  <c:v>189.97499999999999</c:v>
                </c:pt>
                <c:pt idx="148">
                  <c:v>190.45</c:v>
                </c:pt>
                <c:pt idx="149">
                  <c:v>189.56</c:v>
                </c:pt>
                <c:pt idx="150">
                  <c:v>188.3</c:v>
                </c:pt>
                <c:pt idx="151">
                  <c:v>178.22</c:v>
                </c:pt>
                <c:pt idx="152">
                  <c:v>189.97499999999999</c:v>
                </c:pt>
                <c:pt idx="153">
                  <c:v>192.375</c:v>
                </c:pt>
                <c:pt idx="154">
                  <c:v>197.2</c:v>
                </c:pt>
                <c:pt idx="155">
                  <c:v>191.22499999999999</c:v>
                </c:pt>
                <c:pt idx="156">
                  <c:v>205.32499999999999</c:v>
                </c:pt>
                <c:pt idx="157">
                  <c:v>196.375</c:v>
                </c:pt>
                <c:pt idx="158">
                  <c:v>206.44</c:v>
                </c:pt>
                <c:pt idx="159">
                  <c:v>215.375</c:v>
                </c:pt>
                <c:pt idx="160">
                  <c:v>211.08</c:v>
                </c:pt>
                <c:pt idx="161">
                  <c:v>212.6</c:v>
                </c:pt>
                <c:pt idx="162">
                  <c:v>198.65</c:v>
                </c:pt>
                <c:pt idx="163">
                  <c:v>187.74</c:v>
                </c:pt>
                <c:pt idx="164">
                  <c:v>190.42500000000001</c:v>
                </c:pt>
                <c:pt idx="165">
                  <c:v>182.97499999999999</c:v>
                </c:pt>
                <c:pt idx="166">
                  <c:v>187.02</c:v>
                </c:pt>
                <c:pt idx="167">
                  <c:v>175.52500000000001</c:v>
                </c:pt>
                <c:pt idx="168">
                  <c:v>183.3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6448128"/>
        <c:axId val="234638336"/>
      </c:lineChart>
      <c:dateAx>
        <c:axId val="2264481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234638336"/>
        <c:crosses val="autoZero"/>
        <c:auto val="1"/>
        <c:lblOffset val="100"/>
        <c:baseTimeUnit val="months"/>
        <c:majorUnit val="48"/>
        <c:majorTimeUnit val="months"/>
      </c:dateAx>
      <c:valAx>
        <c:axId val="234638336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226448128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TwoYearSeasonAdjIndex</c:v>
                </c:pt>
              </c:strCache>
            </c:strRef>
          </c:tx>
          <c:marker>
            <c:symbol val="none"/>
          </c:marker>
          <c:cat>
            <c:numRef>
              <c:f>Sheet1!$A$2:$A$170</c:f>
              <c:numCache>
                <c:formatCode>m/d/yyyy</c:formatCode>
                <c:ptCount val="16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</c:numCache>
            </c:numRef>
          </c:cat>
          <c:val>
            <c:numRef>
              <c:f>Sheet1!$B$2:$B$170</c:f>
              <c:numCache>
                <c:formatCode>0.00%</c:formatCode>
                <c:ptCount val="169"/>
                <c:pt idx="0">
                  <c:v>0.3306598778210626</c:v>
                </c:pt>
                <c:pt idx="1">
                  <c:v>0.37524831955846333</c:v>
                </c:pt>
                <c:pt idx="2">
                  <c:v>0.39178712933352794</c:v>
                </c:pt>
                <c:pt idx="3">
                  <c:v>0.54404210925190344</c:v>
                </c:pt>
                <c:pt idx="4">
                  <c:v>0.47195143298132008</c:v>
                </c:pt>
                <c:pt idx="5">
                  <c:v>0.43238590672902849</c:v>
                </c:pt>
                <c:pt idx="6">
                  <c:v>0.41532390434815802</c:v>
                </c:pt>
                <c:pt idx="7">
                  <c:v>0.3747814453816441</c:v>
                </c:pt>
                <c:pt idx="8">
                  <c:v>0.45496134605515443</c:v>
                </c:pt>
                <c:pt idx="9">
                  <c:v>0.4099477486398016</c:v>
                </c:pt>
                <c:pt idx="10">
                  <c:v>0.36949377378822668</c:v>
                </c:pt>
                <c:pt idx="11">
                  <c:v>0.42670610582596058</c:v>
                </c:pt>
                <c:pt idx="12">
                  <c:v>0.40868090381377076</c:v>
                </c:pt>
                <c:pt idx="13">
                  <c:v>0.37478364992951374</c:v>
                </c:pt>
                <c:pt idx="14">
                  <c:v>0.30109332631367386</c:v>
                </c:pt>
                <c:pt idx="15">
                  <c:v>0.31283020126957167</c:v>
                </c:pt>
                <c:pt idx="16">
                  <c:v>0.29417657989314699</c:v>
                </c:pt>
                <c:pt idx="17">
                  <c:v>0.34966869401311745</c:v>
                </c:pt>
                <c:pt idx="18">
                  <c:v>0.31916338812209638</c:v>
                </c:pt>
                <c:pt idx="19">
                  <c:v>0.32698426212913478</c:v>
                </c:pt>
                <c:pt idx="20">
                  <c:v>0.29646162215479721</c:v>
                </c:pt>
                <c:pt idx="21">
                  <c:v>0.28136891153711213</c:v>
                </c:pt>
                <c:pt idx="22">
                  <c:v>0.27176414998414844</c:v>
                </c:pt>
                <c:pt idx="23">
                  <c:v>0.28378781653737695</c:v>
                </c:pt>
                <c:pt idx="24">
                  <c:v>0.30994143756339987</c:v>
                </c:pt>
                <c:pt idx="25">
                  <c:v>0.31577287685099542</c:v>
                </c:pt>
                <c:pt idx="26">
                  <c:v>0.34119535746580831</c:v>
                </c:pt>
                <c:pt idx="27">
                  <c:v>0.29985485157867253</c:v>
                </c:pt>
                <c:pt idx="28">
                  <c:v>0.30980232730555379</c:v>
                </c:pt>
                <c:pt idx="29">
                  <c:v>0.31435528910599941</c:v>
                </c:pt>
                <c:pt idx="30">
                  <c:v>0.30522955195231422</c:v>
                </c:pt>
                <c:pt idx="31">
                  <c:v>0.30353753633601355</c:v>
                </c:pt>
                <c:pt idx="32">
                  <c:v>0.2737648850688788</c:v>
                </c:pt>
                <c:pt idx="33">
                  <c:v>0.24878926248617908</c:v>
                </c:pt>
                <c:pt idx="34">
                  <c:v>0.25177471962989217</c:v>
                </c:pt>
                <c:pt idx="35">
                  <c:v>0.24043297216217863</c:v>
                </c:pt>
                <c:pt idx="36">
                  <c:v>0.24167737431017952</c:v>
                </c:pt>
                <c:pt idx="37">
                  <c:v>0.24657344892893426</c:v>
                </c:pt>
                <c:pt idx="38">
                  <c:v>0.23920502293318649</c:v>
                </c:pt>
                <c:pt idx="39">
                  <c:v>0.22261021545938453</c:v>
                </c:pt>
                <c:pt idx="40">
                  <c:v>0.21713684300531411</c:v>
                </c:pt>
                <c:pt idx="41">
                  <c:v>0.22327400441347287</c:v>
                </c:pt>
                <c:pt idx="42">
                  <c:v>0.2092572659738898</c:v>
                </c:pt>
                <c:pt idx="43">
                  <c:v>0.20705016829757861</c:v>
                </c:pt>
                <c:pt idx="44">
                  <c:v>0.22533957891126988</c:v>
                </c:pt>
                <c:pt idx="45">
                  <c:v>0.2421363992080493</c:v>
                </c:pt>
                <c:pt idx="46">
                  <c:v>0.23022446379711387</c:v>
                </c:pt>
                <c:pt idx="47">
                  <c:v>0.23421359888258336</c:v>
                </c:pt>
                <c:pt idx="48">
                  <c:v>0.22836691646934223</c:v>
                </c:pt>
                <c:pt idx="49">
                  <c:v>0.21519166971064027</c:v>
                </c:pt>
                <c:pt idx="50">
                  <c:v>0.22119344876361768</c:v>
                </c:pt>
                <c:pt idx="51">
                  <c:v>0.21463994689099486</c:v>
                </c:pt>
                <c:pt idx="52">
                  <c:v>0.21457268103556326</c:v>
                </c:pt>
                <c:pt idx="53">
                  <c:v>0.22302141113545818</c:v>
                </c:pt>
                <c:pt idx="54">
                  <c:v>0.23882307823988913</c:v>
                </c:pt>
                <c:pt idx="55">
                  <c:v>0.24060697704773326</c:v>
                </c:pt>
                <c:pt idx="56">
                  <c:v>0.23310207520699211</c:v>
                </c:pt>
                <c:pt idx="57">
                  <c:v>0.23405546106141589</c:v>
                </c:pt>
                <c:pt idx="58">
                  <c:v>0.23173585680638628</c:v>
                </c:pt>
                <c:pt idx="59">
                  <c:v>0.2285599829094363</c:v>
                </c:pt>
                <c:pt idx="60">
                  <c:v>0.22926309275053364</c:v>
                </c:pt>
                <c:pt idx="61">
                  <c:v>0.22266038405054489</c:v>
                </c:pt>
                <c:pt idx="62">
                  <c:v>0.21018881320964605</c:v>
                </c:pt>
                <c:pt idx="63">
                  <c:v>0.21067835205556765</c:v>
                </c:pt>
                <c:pt idx="64">
                  <c:v>0.21773323814248313</c:v>
                </c:pt>
                <c:pt idx="65">
                  <c:v>0.21605323596596296</c:v>
                </c:pt>
                <c:pt idx="66">
                  <c:v>0.2026491678380157</c:v>
                </c:pt>
                <c:pt idx="67">
                  <c:v>0.19371664061811986</c:v>
                </c:pt>
                <c:pt idx="68">
                  <c:v>0.20528629310956009</c:v>
                </c:pt>
                <c:pt idx="69">
                  <c:v>0.19400439346310838</c:v>
                </c:pt>
                <c:pt idx="70">
                  <c:v>0.18675396026918237</c:v>
                </c:pt>
                <c:pt idx="71">
                  <c:v>0.1796042307691271</c:v>
                </c:pt>
                <c:pt idx="72">
                  <c:v>0.18404098675376998</c:v>
                </c:pt>
                <c:pt idx="73">
                  <c:v>0.18051926739814675</c:v>
                </c:pt>
                <c:pt idx="74">
                  <c:v>0.17889795436233688</c:v>
                </c:pt>
                <c:pt idx="75">
                  <c:v>0.17750953760444824</c:v>
                </c:pt>
                <c:pt idx="76">
                  <c:v>0.179327195230156</c:v>
                </c:pt>
                <c:pt idx="77">
                  <c:v>0.17416346555501258</c:v>
                </c:pt>
                <c:pt idx="78">
                  <c:v>0.17103806760312693</c:v>
                </c:pt>
                <c:pt idx="79">
                  <c:v>0.18045572832321155</c:v>
                </c:pt>
                <c:pt idx="80">
                  <c:v>0.18777026271776925</c:v>
                </c:pt>
                <c:pt idx="81">
                  <c:v>0.19081347344242888</c:v>
                </c:pt>
                <c:pt idx="82">
                  <c:v>0.19266569778855233</c:v>
                </c:pt>
                <c:pt idx="83">
                  <c:v>0.19216676965199866</c:v>
                </c:pt>
                <c:pt idx="84">
                  <c:v>0.19810114287274955</c:v>
                </c:pt>
                <c:pt idx="85">
                  <c:v>0.20257181736024465</c:v>
                </c:pt>
                <c:pt idx="86">
                  <c:v>0.20756731910752987</c:v>
                </c:pt>
                <c:pt idx="87">
                  <c:v>0.21793013711950152</c:v>
                </c:pt>
                <c:pt idx="88">
                  <c:v>0.22540002723619212</c:v>
                </c:pt>
                <c:pt idx="89">
                  <c:v>0.23508036706343577</c:v>
                </c:pt>
                <c:pt idx="90">
                  <c:v>0.23228608776235549</c:v>
                </c:pt>
                <c:pt idx="91">
                  <c:v>0.22826687958573538</c:v>
                </c:pt>
                <c:pt idx="92">
                  <c:v>0.23125137917086408</c:v>
                </c:pt>
                <c:pt idx="93">
                  <c:v>0.23390790522732174</c:v>
                </c:pt>
                <c:pt idx="94">
                  <c:v>0.22550867610893899</c:v>
                </c:pt>
                <c:pt idx="95">
                  <c:v>0.22180785473623638</c:v>
                </c:pt>
                <c:pt idx="96">
                  <c:v>0.20435871669149888</c:v>
                </c:pt>
                <c:pt idx="97">
                  <c:v>0.18254111636942136</c:v>
                </c:pt>
                <c:pt idx="98">
                  <c:v>0.15832514812687923</c:v>
                </c:pt>
                <c:pt idx="99">
                  <c:v>0.14111998066694059</c:v>
                </c:pt>
                <c:pt idx="100">
                  <c:v>0.11201334276297802</c:v>
                </c:pt>
                <c:pt idx="101">
                  <c:v>9.9442505563004657E-2</c:v>
                </c:pt>
                <c:pt idx="102">
                  <c:v>9.1695340421097435E-2</c:v>
                </c:pt>
                <c:pt idx="103">
                  <c:v>8.7503574101426493E-2</c:v>
                </c:pt>
                <c:pt idx="104">
                  <c:v>9.4281259452617172E-2</c:v>
                </c:pt>
                <c:pt idx="105">
                  <c:v>8.4811560183452581E-2</c:v>
                </c:pt>
                <c:pt idx="106">
                  <c:v>7.7683530297755238E-2</c:v>
                </c:pt>
                <c:pt idx="107">
                  <c:v>8.501022061534283E-2</c:v>
                </c:pt>
                <c:pt idx="108">
                  <c:v>6.7628934079581607E-2</c:v>
                </c:pt>
                <c:pt idx="109">
                  <c:v>5.9612308599679996E-2</c:v>
                </c:pt>
                <c:pt idx="110">
                  <c:v>5.0510455191186326E-2</c:v>
                </c:pt>
                <c:pt idx="111">
                  <c:v>4.2291487280550828E-2</c:v>
                </c:pt>
                <c:pt idx="112">
                  <c:v>3.7292507391480184E-2</c:v>
                </c:pt>
                <c:pt idx="113">
                  <c:v>3.368134701478416E-2</c:v>
                </c:pt>
                <c:pt idx="114">
                  <c:v>3.2945075243346306E-2</c:v>
                </c:pt>
                <c:pt idx="115">
                  <c:v>3.375490947089306E-2</c:v>
                </c:pt>
                <c:pt idx="116">
                  <c:v>3.6508948277548067E-2</c:v>
                </c:pt>
                <c:pt idx="117">
                  <c:v>3.8777451236623246E-2</c:v>
                </c:pt>
                <c:pt idx="118">
                  <c:v>3.8275484393000811E-2</c:v>
                </c:pt>
                <c:pt idx="119">
                  <c:v>3.8913989569870362E-2</c:v>
                </c:pt>
                <c:pt idx="120">
                  <c:v>4.1382602450064948E-2</c:v>
                </c:pt>
                <c:pt idx="121">
                  <c:v>3.897894284259474E-2</c:v>
                </c:pt>
                <c:pt idx="122">
                  <c:v>3.9842147659891303E-2</c:v>
                </c:pt>
                <c:pt idx="123">
                  <c:v>3.9988384716924445E-2</c:v>
                </c:pt>
                <c:pt idx="124">
                  <c:v>3.9787112740795834E-2</c:v>
                </c:pt>
                <c:pt idx="125">
                  <c:v>3.6247280703871294E-2</c:v>
                </c:pt>
                <c:pt idx="126">
                  <c:v>3.7303142965223295E-2</c:v>
                </c:pt>
                <c:pt idx="127">
                  <c:v>3.594535222829319E-2</c:v>
                </c:pt>
                <c:pt idx="128">
                  <c:v>3.5090285802819185E-2</c:v>
                </c:pt>
                <c:pt idx="129">
                  <c:v>3.3309271725206258E-2</c:v>
                </c:pt>
                <c:pt idx="130">
                  <c:v>3.1444058926653605E-2</c:v>
                </c:pt>
                <c:pt idx="131">
                  <c:v>3.251215451097509E-2</c:v>
                </c:pt>
                <c:pt idx="132">
                  <c:v>3.4576430562348846E-2</c:v>
                </c:pt>
                <c:pt idx="133">
                  <c:v>3.7099824884908511E-2</c:v>
                </c:pt>
                <c:pt idx="134">
                  <c:v>4.0740820302241659E-2</c:v>
                </c:pt>
                <c:pt idx="135">
                  <c:v>4.2054883239696646E-2</c:v>
                </c:pt>
                <c:pt idx="136">
                  <c:v>3.9869647646881202E-2</c:v>
                </c:pt>
                <c:pt idx="137">
                  <c:v>4.1836994151575997E-2</c:v>
                </c:pt>
                <c:pt idx="138">
                  <c:v>4.1346083202202066E-2</c:v>
                </c:pt>
                <c:pt idx="139">
                  <c:v>4.3649416960049647E-2</c:v>
                </c:pt>
                <c:pt idx="140">
                  <c:v>4.3126710256741113E-2</c:v>
                </c:pt>
                <c:pt idx="141">
                  <c:v>4.0879180266253069E-2</c:v>
                </c:pt>
                <c:pt idx="142">
                  <c:v>4.2799326703610314E-2</c:v>
                </c:pt>
                <c:pt idx="143">
                  <c:v>3.9998191229893697E-2</c:v>
                </c:pt>
                <c:pt idx="144">
                  <c:v>3.8677652838378887E-2</c:v>
                </c:pt>
                <c:pt idx="145">
                  <c:v>4.0957167406488887E-2</c:v>
                </c:pt>
                <c:pt idx="146">
                  <c:v>3.7462543108516336E-2</c:v>
                </c:pt>
                <c:pt idx="147">
                  <c:v>3.6834728222201879E-2</c:v>
                </c:pt>
                <c:pt idx="148">
                  <c:v>3.4922374121626798E-2</c:v>
                </c:pt>
                <c:pt idx="149">
                  <c:v>3.6286300985076493E-2</c:v>
                </c:pt>
                <c:pt idx="150">
                  <c:v>3.6293105965706188E-2</c:v>
                </c:pt>
                <c:pt idx="151">
                  <c:v>3.7336341670661931E-2</c:v>
                </c:pt>
                <c:pt idx="152">
                  <c:v>3.7939850589509959E-2</c:v>
                </c:pt>
                <c:pt idx="153">
                  <c:v>3.7852253302594202E-2</c:v>
                </c:pt>
                <c:pt idx="154">
                  <c:v>3.9825448654699017E-2</c:v>
                </c:pt>
                <c:pt idx="155">
                  <c:v>3.7897533224984695E-2</c:v>
                </c:pt>
                <c:pt idx="156">
                  <c:v>4.1189962209826389E-2</c:v>
                </c:pt>
                <c:pt idx="157">
                  <c:v>4.1764684153957982E-2</c:v>
                </c:pt>
                <c:pt idx="158">
                  <c:v>4.032676958300252E-2</c:v>
                </c:pt>
                <c:pt idx="159">
                  <c:v>4.0431229109577152E-2</c:v>
                </c:pt>
                <c:pt idx="160">
                  <c:v>4.0939078817998846E-2</c:v>
                </c:pt>
                <c:pt idx="161">
                  <c:v>4.0591805258631389E-2</c:v>
                </c:pt>
                <c:pt idx="162">
                  <c:v>4.091655216637468E-2</c:v>
                </c:pt>
                <c:pt idx="163">
                  <c:v>4.3143405051324656E-2</c:v>
                </c:pt>
                <c:pt idx="164">
                  <c:v>4.895961276869424E-2</c:v>
                </c:pt>
                <c:pt idx="165">
                  <c:v>5.2334021909931638E-2</c:v>
                </c:pt>
                <c:pt idx="166">
                  <c:v>5.7176566738559538E-2</c:v>
                </c:pt>
                <c:pt idx="167">
                  <c:v>5.7054344086197702E-2</c:v>
                </c:pt>
                <c:pt idx="168">
                  <c:v>6.0348587302878405E-2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1268864"/>
        <c:axId val="271500032"/>
      </c:lineChart>
      <c:dateAx>
        <c:axId val="2712688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271500032"/>
        <c:crosses val="autoZero"/>
        <c:auto val="1"/>
        <c:lblOffset val="100"/>
        <c:baseTimeUnit val="months"/>
        <c:majorUnit val="48"/>
        <c:majorTimeUnit val="months"/>
      </c:dateAx>
      <c:valAx>
        <c:axId val="27150003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crossAx val="271268864"/>
        <c:crosses val="autoZero"/>
        <c:crossBetween val="midCat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10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948495335420849"/>
          <c:y val="3.9546124331371904E-2"/>
          <c:w val="0.75356607121832964"/>
          <c:h val="0.727741603193312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Stressed</c:v>
                </c:pt>
              </c:strCache>
            </c:strRef>
          </c:tx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1</c:v>
                </c:pt>
                <c:pt idx="1">
                  <c:v>0.98916666666666664</c:v>
                </c:pt>
                <c:pt idx="2">
                  <c:v>0.97833333333333328</c:v>
                </c:pt>
                <c:pt idx="3">
                  <c:v>0.96749999999999992</c:v>
                </c:pt>
                <c:pt idx="4">
                  <c:v>0.95666666666666655</c:v>
                </c:pt>
                <c:pt idx="5">
                  <c:v>0.94583333333333319</c:v>
                </c:pt>
                <c:pt idx="6">
                  <c:v>0.93499999999999983</c:v>
                </c:pt>
                <c:pt idx="7">
                  <c:v>0.92416666666666647</c:v>
                </c:pt>
                <c:pt idx="8">
                  <c:v>0.91333333333333311</c:v>
                </c:pt>
                <c:pt idx="9">
                  <c:v>0.90249999999999975</c:v>
                </c:pt>
                <c:pt idx="10">
                  <c:v>0.89166666666666639</c:v>
                </c:pt>
                <c:pt idx="11">
                  <c:v>0.88083333333333302</c:v>
                </c:pt>
                <c:pt idx="12">
                  <c:v>0.86999999999999966</c:v>
                </c:pt>
                <c:pt idx="13">
                  <c:v>0.8591666666666663</c:v>
                </c:pt>
                <c:pt idx="14">
                  <c:v>0.84833333333333294</c:v>
                </c:pt>
                <c:pt idx="15">
                  <c:v>0.83749999999999958</c:v>
                </c:pt>
                <c:pt idx="16">
                  <c:v>0.82666666666666622</c:v>
                </c:pt>
                <c:pt idx="17">
                  <c:v>0.81583333333333286</c:v>
                </c:pt>
                <c:pt idx="18">
                  <c:v>0.80499999999999949</c:v>
                </c:pt>
                <c:pt idx="19">
                  <c:v>0.79416666666666613</c:v>
                </c:pt>
                <c:pt idx="20">
                  <c:v>0.78333333333333277</c:v>
                </c:pt>
                <c:pt idx="21">
                  <c:v>0.77249999999999941</c:v>
                </c:pt>
                <c:pt idx="22">
                  <c:v>0.76166666666666605</c:v>
                </c:pt>
                <c:pt idx="23">
                  <c:v>0.75083333333333269</c:v>
                </c:pt>
                <c:pt idx="24">
                  <c:v>0.73999999999999932</c:v>
                </c:pt>
                <c:pt idx="25">
                  <c:v>0.73999999999999932</c:v>
                </c:pt>
                <c:pt idx="26">
                  <c:v>0.73999999999999932</c:v>
                </c:pt>
                <c:pt idx="27">
                  <c:v>0.73999999999999932</c:v>
                </c:pt>
                <c:pt idx="28">
                  <c:v>0.73999999999999932</c:v>
                </c:pt>
                <c:pt idx="29">
                  <c:v>0.73999999999999932</c:v>
                </c:pt>
                <c:pt idx="30">
                  <c:v>0.73999999999999932</c:v>
                </c:pt>
                <c:pt idx="31">
                  <c:v>0.73999999999999932</c:v>
                </c:pt>
                <c:pt idx="32">
                  <c:v>0.73999999999999932</c:v>
                </c:pt>
                <c:pt idx="33">
                  <c:v>0.73999999999999932</c:v>
                </c:pt>
                <c:pt idx="34">
                  <c:v>0.73999999999999932</c:v>
                </c:pt>
                <c:pt idx="35">
                  <c:v>0.73999999999999932</c:v>
                </c:pt>
                <c:pt idx="36">
                  <c:v>0.73999999999999932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1</c:v>
                </c:pt>
                <c:pt idx="1">
                  <c:v>1.0024999999999999</c:v>
                </c:pt>
                <c:pt idx="2">
                  <c:v>1.0049999999999999</c:v>
                </c:pt>
                <c:pt idx="3">
                  <c:v>1.0074999999999998</c:v>
                </c:pt>
                <c:pt idx="4">
                  <c:v>1.0099999999999998</c:v>
                </c:pt>
                <c:pt idx="5">
                  <c:v>1.0124999999999997</c:v>
                </c:pt>
                <c:pt idx="6">
                  <c:v>1.0149999999999997</c:v>
                </c:pt>
                <c:pt idx="7">
                  <c:v>1.0174999999999996</c:v>
                </c:pt>
                <c:pt idx="8">
                  <c:v>1.0199999999999996</c:v>
                </c:pt>
                <c:pt idx="9">
                  <c:v>1.0224999999999995</c:v>
                </c:pt>
                <c:pt idx="10">
                  <c:v>1.0249999999999995</c:v>
                </c:pt>
                <c:pt idx="11">
                  <c:v>1.0274999999999994</c:v>
                </c:pt>
                <c:pt idx="12">
                  <c:v>1.0299999999999994</c:v>
                </c:pt>
                <c:pt idx="13">
                  <c:v>1.0324999999999993</c:v>
                </c:pt>
                <c:pt idx="14">
                  <c:v>1.0349999999999993</c:v>
                </c:pt>
                <c:pt idx="15">
                  <c:v>1.0374999999999992</c:v>
                </c:pt>
                <c:pt idx="16">
                  <c:v>1.0399999999999991</c:v>
                </c:pt>
                <c:pt idx="17">
                  <c:v>1.0424999999999991</c:v>
                </c:pt>
                <c:pt idx="18">
                  <c:v>1.044999999999999</c:v>
                </c:pt>
                <c:pt idx="19">
                  <c:v>1.047499999999999</c:v>
                </c:pt>
                <c:pt idx="20">
                  <c:v>1.0499999999999989</c:v>
                </c:pt>
                <c:pt idx="21">
                  <c:v>1.0524999999999989</c:v>
                </c:pt>
                <c:pt idx="22">
                  <c:v>1.0549999999999988</c:v>
                </c:pt>
                <c:pt idx="23">
                  <c:v>1.0574999999999988</c:v>
                </c:pt>
                <c:pt idx="24">
                  <c:v>1.0599999999999987</c:v>
                </c:pt>
                <c:pt idx="25">
                  <c:v>1.0624999999999987</c:v>
                </c:pt>
                <c:pt idx="26">
                  <c:v>1.0649999999999986</c:v>
                </c:pt>
                <c:pt idx="27">
                  <c:v>1.0674999999999986</c:v>
                </c:pt>
                <c:pt idx="28">
                  <c:v>1.0699999999999985</c:v>
                </c:pt>
                <c:pt idx="29">
                  <c:v>1.0724999999999985</c:v>
                </c:pt>
                <c:pt idx="30">
                  <c:v>1.0749999999999984</c:v>
                </c:pt>
                <c:pt idx="31">
                  <c:v>1.0774999999999983</c:v>
                </c:pt>
                <c:pt idx="32">
                  <c:v>1.0799999999999983</c:v>
                </c:pt>
                <c:pt idx="33">
                  <c:v>1.0824999999999982</c:v>
                </c:pt>
                <c:pt idx="34">
                  <c:v>1.0849999999999982</c:v>
                </c:pt>
                <c:pt idx="35">
                  <c:v>1.0874999999999981</c:v>
                </c:pt>
                <c:pt idx="36">
                  <c:v>1.0899999999999981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144192"/>
        <c:axId val="161199232"/>
      </c:lineChart>
      <c:catAx>
        <c:axId val="161144192"/>
        <c:scaling>
          <c:orientation val="minMax"/>
        </c:scaling>
        <c:delete val="0"/>
        <c:axPos val="b"/>
        <c:numFmt formatCode="#,##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61199232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161199232"/>
        <c:scaling>
          <c:orientation val="minMax"/>
          <c:min val="0.70000000000000007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HPI</a:t>
                </a:r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61144192"/>
        <c:crosses val="autoZero"/>
        <c:crossBetween val="midCat"/>
        <c:majorUnit val="0.1"/>
      </c:valAx>
      <c:spPr>
        <a:ln>
          <a:solidFill>
            <a:schemeClr val="tx2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002776"/>
          </a:solidFill>
          <a:latin typeface="+mn-lt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948495335420849"/>
          <c:y val="3.9546124331371904E-2"/>
          <c:w val="0.75356607121832964"/>
          <c:h val="0.7277416031933123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Stressed</c:v>
                </c:pt>
              </c:strCache>
            </c:strRef>
          </c:tx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3.94</c:v>
                </c:pt>
                <c:pt idx="1">
                  <c:v>3.94</c:v>
                </c:pt>
                <c:pt idx="2">
                  <c:v>3.94</c:v>
                </c:pt>
                <c:pt idx="3">
                  <c:v>3.94</c:v>
                </c:pt>
                <c:pt idx="4">
                  <c:v>3.94</c:v>
                </c:pt>
                <c:pt idx="5">
                  <c:v>3.94</c:v>
                </c:pt>
                <c:pt idx="6">
                  <c:v>3.94</c:v>
                </c:pt>
                <c:pt idx="7">
                  <c:v>3.94</c:v>
                </c:pt>
                <c:pt idx="8">
                  <c:v>3.94</c:v>
                </c:pt>
                <c:pt idx="9">
                  <c:v>3.94</c:v>
                </c:pt>
                <c:pt idx="10">
                  <c:v>3.94</c:v>
                </c:pt>
                <c:pt idx="11">
                  <c:v>3.94</c:v>
                </c:pt>
                <c:pt idx="12">
                  <c:v>3.94</c:v>
                </c:pt>
                <c:pt idx="13">
                  <c:v>3.9191666666666665</c:v>
                </c:pt>
                <c:pt idx="14">
                  <c:v>3.898333333333333</c:v>
                </c:pt>
                <c:pt idx="15">
                  <c:v>3.8774999999999995</c:v>
                </c:pt>
                <c:pt idx="16">
                  <c:v>3.856666666666666</c:v>
                </c:pt>
                <c:pt idx="17">
                  <c:v>3.8358333333333325</c:v>
                </c:pt>
                <c:pt idx="18">
                  <c:v>3.8149999999999991</c:v>
                </c:pt>
                <c:pt idx="19">
                  <c:v>3.7941666666666656</c:v>
                </c:pt>
                <c:pt idx="20">
                  <c:v>3.7733333333333321</c:v>
                </c:pt>
                <c:pt idx="21">
                  <c:v>3.7524999999999986</c:v>
                </c:pt>
                <c:pt idx="22">
                  <c:v>3.7316666666666651</c:v>
                </c:pt>
                <c:pt idx="23">
                  <c:v>3.7108333333333317</c:v>
                </c:pt>
                <c:pt idx="24">
                  <c:v>3.6899999999999982</c:v>
                </c:pt>
                <c:pt idx="25">
                  <c:v>3.6691666666666647</c:v>
                </c:pt>
                <c:pt idx="26">
                  <c:v>3.6483333333333312</c:v>
                </c:pt>
                <c:pt idx="27">
                  <c:v>3.6274999999999977</c:v>
                </c:pt>
                <c:pt idx="28">
                  <c:v>3.6066666666666642</c:v>
                </c:pt>
                <c:pt idx="29">
                  <c:v>3.5858333333333308</c:v>
                </c:pt>
                <c:pt idx="30">
                  <c:v>3.5649999999999973</c:v>
                </c:pt>
                <c:pt idx="31">
                  <c:v>3.5441666666666638</c:v>
                </c:pt>
                <c:pt idx="32">
                  <c:v>3.5233333333333303</c:v>
                </c:pt>
                <c:pt idx="33">
                  <c:v>3.5024999999999968</c:v>
                </c:pt>
                <c:pt idx="34">
                  <c:v>3.4816666666666634</c:v>
                </c:pt>
                <c:pt idx="35">
                  <c:v>3.4608333333333299</c:v>
                </c:pt>
                <c:pt idx="36">
                  <c:v>3.4399999999999964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Sheet1!$A$2:$A$38</c:f>
              <c:numCache>
                <c:formatCode>0</c:formatCode>
                <c:ptCount val="3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</c:numCache>
            </c:num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3.94</c:v>
                </c:pt>
                <c:pt idx="1">
                  <c:v>3.94</c:v>
                </c:pt>
                <c:pt idx="2">
                  <c:v>3.94</c:v>
                </c:pt>
                <c:pt idx="3">
                  <c:v>3.94</c:v>
                </c:pt>
                <c:pt idx="4">
                  <c:v>3.94</c:v>
                </c:pt>
                <c:pt idx="5">
                  <c:v>3.94</c:v>
                </c:pt>
                <c:pt idx="6">
                  <c:v>3.94</c:v>
                </c:pt>
                <c:pt idx="7">
                  <c:v>3.94</c:v>
                </c:pt>
                <c:pt idx="8">
                  <c:v>3.94</c:v>
                </c:pt>
                <c:pt idx="9">
                  <c:v>3.94</c:v>
                </c:pt>
                <c:pt idx="10">
                  <c:v>3.94</c:v>
                </c:pt>
                <c:pt idx="11">
                  <c:v>3.94</c:v>
                </c:pt>
                <c:pt idx="12">
                  <c:v>3.94</c:v>
                </c:pt>
                <c:pt idx="13">
                  <c:v>3.94</c:v>
                </c:pt>
                <c:pt idx="14">
                  <c:v>3.94</c:v>
                </c:pt>
                <c:pt idx="15">
                  <c:v>3.94</c:v>
                </c:pt>
                <c:pt idx="16">
                  <c:v>3.94</c:v>
                </c:pt>
                <c:pt idx="17">
                  <c:v>3.94</c:v>
                </c:pt>
                <c:pt idx="18">
                  <c:v>3.94</c:v>
                </c:pt>
                <c:pt idx="19">
                  <c:v>3.94</c:v>
                </c:pt>
                <c:pt idx="20">
                  <c:v>3.94</c:v>
                </c:pt>
                <c:pt idx="21">
                  <c:v>3.94</c:v>
                </c:pt>
                <c:pt idx="22">
                  <c:v>3.94</c:v>
                </c:pt>
                <c:pt idx="23">
                  <c:v>3.94</c:v>
                </c:pt>
                <c:pt idx="24">
                  <c:v>3.94</c:v>
                </c:pt>
                <c:pt idx="25">
                  <c:v>3.94</c:v>
                </c:pt>
                <c:pt idx="26">
                  <c:v>3.94</c:v>
                </c:pt>
                <c:pt idx="27">
                  <c:v>3.94</c:v>
                </c:pt>
                <c:pt idx="28">
                  <c:v>3.94</c:v>
                </c:pt>
                <c:pt idx="29">
                  <c:v>3.94</c:v>
                </c:pt>
                <c:pt idx="30">
                  <c:v>3.94</c:v>
                </c:pt>
                <c:pt idx="31">
                  <c:v>3.94</c:v>
                </c:pt>
                <c:pt idx="32">
                  <c:v>3.94</c:v>
                </c:pt>
                <c:pt idx="33">
                  <c:v>3.94</c:v>
                </c:pt>
                <c:pt idx="34">
                  <c:v>3.94</c:v>
                </c:pt>
                <c:pt idx="35">
                  <c:v>3.94</c:v>
                </c:pt>
                <c:pt idx="36">
                  <c:v>3.94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318528"/>
        <c:axId val="173320064"/>
      </c:lineChart>
      <c:catAx>
        <c:axId val="173318528"/>
        <c:scaling>
          <c:orientation val="minMax"/>
        </c:scaling>
        <c:delete val="0"/>
        <c:axPos val="b"/>
        <c:numFmt formatCode="#,##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73320064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173320064"/>
        <c:scaling>
          <c:orientation val="minMax"/>
          <c:min val="3.4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Mortgage Rate</a:t>
                </a:r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73318528"/>
        <c:crosses val="autoZero"/>
        <c:crossBetween val="midCat"/>
        <c:majorUnit val="0.2"/>
      </c:valAx>
      <c:spPr>
        <a:ln>
          <a:solidFill>
            <a:schemeClr val="tx2"/>
          </a:solidFill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002776"/>
          </a:solidFill>
          <a:latin typeface="+mn-lt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德勤蓝色</c:v>
                </c:pt>
              </c:strCache>
            </c:strRef>
          </c:tx>
          <c:marker>
            <c:symbol val="none"/>
          </c:marker>
          <c:cat>
            <c:numRef>
              <c:f>Sheet1!$A$2:$A$110</c:f>
              <c:numCache>
                <c:formatCode>m/d/yyyy</c:formatCode>
                <c:ptCount val="109"/>
                <c:pt idx="0">
                  <c:v>38869</c:v>
                </c:pt>
                <c:pt idx="1">
                  <c:v>38899</c:v>
                </c:pt>
                <c:pt idx="2">
                  <c:v>38930</c:v>
                </c:pt>
                <c:pt idx="3">
                  <c:v>38961</c:v>
                </c:pt>
                <c:pt idx="4">
                  <c:v>38991</c:v>
                </c:pt>
                <c:pt idx="5">
                  <c:v>39022</c:v>
                </c:pt>
                <c:pt idx="6">
                  <c:v>39052</c:v>
                </c:pt>
                <c:pt idx="7">
                  <c:v>39083</c:v>
                </c:pt>
                <c:pt idx="8">
                  <c:v>39114</c:v>
                </c:pt>
                <c:pt idx="9">
                  <c:v>39142</c:v>
                </c:pt>
                <c:pt idx="10">
                  <c:v>39173</c:v>
                </c:pt>
                <c:pt idx="11">
                  <c:v>39203</c:v>
                </c:pt>
                <c:pt idx="12">
                  <c:v>39234</c:v>
                </c:pt>
                <c:pt idx="13">
                  <c:v>39264</c:v>
                </c:pt>
                <c:pt idx="14">
                  <c:v>39295</c:v>
                </c:pt>
                <c:pt idx="15">
                  <c:v>39326</c:v>
                </c:pt>
                <c:pt idx="16">
                  <c:v>39356</c:v>
                </c:pt>
                <c:pt idx="17">
                  <c:v>39387</c:v>
                </c:pt>
                <c:pt idx="18">
                  <c:v>39417</c:v>
                </c:pt>
                <c:pt idx="19">
                  <c:v>39448</c:v>
                </c:pt>
                <c:pt idx="20">
                  <c:v>39479</c:v>
                </c:pt>
                <c:pt idx="21">
                  <c:v>39508</c:v>
                </c:pt>
                <c:pt idx="22">
                  <c:v>39539</c:v>
                </c:pt>
                <c:pt idx="23">
                  <c:v>39569</c:v>
                </c:pt>
                <c:pt idx="24">
                  <c:v>39600</c:v>
                </c:pt>
                <c:pt idx="25">
                  <c:v>39630</c:v>
                </c:pt>
                <c:pt idx="26">
                  <c:v>39661</c:v>
                </c:pt>
                <c:pt idx="27">
                  <c:v>39692</c:v>
                </c:pt>
                <c:pt idx="28">
                  <c:v>39722</c:v>
                </c:pt>
                <c:pt idx="29">
                  <c:v>39753</c:v>
                </c:pt>
                <c:pt idx="30">
                  <c:v>39783</c:v>
                </c:pt>
                <c:pt idx="31">
                  <c:v>39814</c:v>
                </c:pt>
                <c:pt idx="32">
                  <c:v>39845</c:v>
                </c:pt>
                <c:pt idx="33">
                  <c:v>39873</c:v>
                </c:pt>
                <c:pt idx="34">
                  <c:v>39904</c:v>
                </c:pt>
                <c:pt idx="35">
                  <c:v>39934</c:v>
                </c:pt>
                <c:pt idx="36">
                  <c:v>39965</c:v>
                </c:pt>
                <c:pt idx="37">
                  <c:v>39995</c:v>
                </c:pt>
                <c:pt idx="38">
                  <c:v>40026</c:v>
                </c:pt>
                <c:pt idx="39">
                  <c:v>40057</c:v>
                </c:pt>
                <c:pt idx="40">
                  <c:v>40087</c:v>
                </c:pt>
                <c:pt idx="41">
                  <c:v>40118</c:v>
                </c:pt>
                <c:pt idx="42">
                  <c:v>40148</c:v>
                </c:pt>
                <c:pt idx="43">
                  <c:v>40179</c:v>
                </c:pt>
                <c:pt idx="44">
                  <c:v>40210</c:v>
                </c:pt>
                <c:pt idx="45">
                  <c:v>40238</c:v>
                </c:pt>
                <c:pt idx="46">
                  <c:v>40269</c:v>
                </c:pt>
                <c:pt idx="47">
                  <c:v>40299</c:v>
                </c:pt>
                <c:pt idx="48">
                  <c:v>40330</c:v>
                </c:pt>
                <c:pt idx="49">
                  <c:v>40360</c:v>
                </c:pt>
                <c:pt idx="50">
                  <c:v>40391</c:v>
                </c:pt>
                <c:pt idx="51">
                  <c:v>40422</c:v>
                </c:pt>
                <c:pt idx="52">
                  <c:v>40452</c:v>
                </c:pt>
                <c:pt idx="53">
                  <c:v>40483</c:v>
                </c:pt>
                <c:pt idx="54">
                  <c:v>40513</c:v>
                </c:pt>
                <c:pt idx="55">
                  <c:v>40544</c:v>
                </c:pt>
                <c:pt idx="56">
                  <c:v>40575</c:v>
                </c:pt>
                <c:pt idx="57">
                  <c:v>40603</c:v>
                </c:pt>
                <c:pt idx="58">
                  <c:v>40634</c:v>
                </c:pt>
                <c:pt idx="59">
                  <c:v>40664</c:v>
                </c:pt>
                <c:pt idx="60">
                  <c:v>40695</c:v>
                </c:pt>
                <c:pt idx="61">
                  <c:v>40725</c:v>
                </c:pt>
                <c:pt idx="62">
                  <c:v>40756</c:v>
                </c:pt>
                <c:pt idx="63">
                  <c:v>40787</c:v>
                </c:pt>
                <c:pt idx="64">
                  <c:v>40817</c:v>
                </c:pt>
                <c:pt idx="65">
                  <c:v>40848</c:v>
                </c:pt>
                <c:pt idx="66">
                  <c:v>40878</c:v>
                </c:pt>
                <c:pt idx="67">
                  <c:v>40909</c:v>
                </c:pt>
                <c:pt idx="68">
                  <c:v>40940</c:v>
                </c:pt>
                <c:pt idx="69">
                  <c:v>40969</c:v>
                </c:pt>
                <c:pt idx="70">
                  <c:v>41000</c:v>
                </c:pt>
                <c:pt idx="71">
                  <c:v>41030</c:v>
                </c:pt>
                <c:pt idx="72">
                  <c:v>41061</c:v>
                </c:pt>
                <c:pt idx="73">
                  <c:v>41091</c:v>
                </c:pt>
                <c:pt idx="74">
                  <c:v>41122</c:v>
                </c:pt>
                <c:pt idx="75">
                  <c:v>41153</c:v>
                </c:pt>
                <c:pt idx="76">
                  <c:v>41183</c:v>
                </c:pt>
                <c:pt idx="77">
                  <c:v>41214</c:v>
                </c:pt>
                <c:pt idx="78">
                  <c:v>41244</c:v>
                </c:pt>
                <c:pt idx="79">
                  <c:v>41275</c:v>
                </c:pt>
                <c:pt idx="80">
                  <c:v>41306</c:v>
                </c:pt>
                <c:pt idx="81">
                  <c:v>41334</c:v>
                </c:pt>
                <c:pt idx="82">
                  <c:v>41365</c:v>
                </c:pt>
                <c:pt idx="83">
                  <c:v>41395</c:v>
                </c:pt>
                <c:pt idx="84">
                  <c:v>41426</c:v>
                </c:pt>
                <c:pt idx="85">
                  <c:v>41456</c:v>
                </c:pt>
                <c:pt idx="86">
                  <c:v>41487</c:v>
                </c:pt>
                <c:pt idx="87">
                  <c:v>41518</c:v>
                </c:pt>
                <c:pt idx="88">
                  <c:v>41548</c:v>
                </c:pt>
                <c:pt idx="89">
                  <c:v>41579</c:v>
                </c:pt>
                <c:pt idx="90">
                  <c:v>41609</c:v>
                </c:pt>
                <c:pt idx="91">
                  <c:v>41640</c:v>
                </c:pt>
                <c:pt idx="92">
                  <c:v>41671</c:v>
                </c:pt>
                <c:pt idx="93">
                  <c:v>41699</c:v>
                </c:pt>
                <c:pt idx="94">
                  <c:v>41730</c:v>
                </c:pt>
                <c:pt idx="95">
                  <c:v>41760</c:v>
                </c:pt>
                <c:pt idx="96">
                  <c:v>41791</c:v>
                </c:pt>
                <c:pt idx="97">
                  <c:v>41821</c:v>
                </c:pt>
                <c:pt idx="98">
                  <c:v>41852</c:v>
                </c:pt>
                <c:pt idx="99">
                  <c:v>41883</c:v>
                </c:pt>
                <c:pt idx="100">
                  <c:v>41913</c:v>
                </c:pt>
                <c:pt idx="101">
                  <c:v>41944</c:v>
                </c:pt>
                <c:pt idx="102">
                  <c:v>41974</c:v>
                </c:pt>
                <c:pt idx="103">
                  <c:v>42005</c:v>
                </c:pt>
                <c:pt idx="104">
                  <c:v>42036</c:v>
                </c:pt>
                <c:pt idx="105">
                  <c:v>42064</c:v>
                </c:pt>
                <c:pt idx="106">
                  <c:v>42095</c:v>
                </c:pt>
                <c:pt idx="107">
                  <c:v>42125</c:v>
                </c:pt>
                <c:pt idx="108">
                  <c:v>42156</c:v>
                </c:pt>
              </c:numCache>
            </c:numRef>
          </c:cat>
          <c:val>
            <c:numRef>
              <c:f>Sheet1!$B$2:$B$110</c:f>
              <c:numCache>
                <c:formatCode>0.00%</c:formatCode>
                <c:ptCount val="109"/>
                <c:pt idx="0">
                  <c:v>3.3127755849603299E-2</c:v>
                </c:pt>
                <c:pt idx="1">
                  <c:v>3.3417307558191098E-2</c:v>
                </c:pt>
                <c:pt idx="2">
                  <c:v>3.3501778217236197E-2</c:v>
                </c:pt>
                <c:pt idx="3">
                  <c:v>3.5185062624801797E-2</c:v>
                </c:pt>
                <c:pt idx="4">
                  <c:v>3.8591473871720801E-2</c:v>
                </c:pt>
                <c:pt idx="5">
                  <c:v>3.7819235715645397E-2</c:v>
                </c:pt>
                <c:pt idx="6">
                  <c:v>3.6895728293840101E-2</c:v>
                </c:pt>
                <c:pt idx="7">
                  <c:v>3.7848700926755498E-2</c:v>
                </c:pt>
                <c:pt idx="8">
                  <c:v>3.8528525912949897E-2</c:v>
                </c:pt>
                <c:pt idx="9">
                  <c:v>3.8517566459490699E-2</c:v>
                </c:pt>
                <c:pt idx="10">
                  <c:v>4.10753715668494E-2</c:v>
                </c:pt>
                <c:pt idx="11">
                  <c:v>4.3372532159758899E-2</c:v>
                </c:pt>
                <c:pt idx="12">
                  <c:v>4.42877836789995E-2</c:v>
                </c:pt>
                <c:pt idx="13">
                  <c:v>4.8285906616941099E-2</c:v>
                </c:pt>
                <c:pt idx="14">
                  <c:v>4.6887114795604999E-2</c:v>
                </c:pt>
                <c:pt idx="15">
                  <c:v>5.0696459671642498E-2</c:v>
                </c:pt>
                <c:pt idx="16">
                  <c:v>5.4151949073581597E-2</c:v>
                </c:pt>
                <c:pt idx="17">
                  <c:v>5.7312633161524601E-2</c:v>
                </c:pt>
                <c:pt idx="18">
                  <c:v>5.5671249096044997E-2</c:v>
                </c:pt>
                <c:pt idx="19">
                  <c:v>5.679908019813E-2</c:v>
                </c:pt>
                <c:pt idx="20">
                  <c:v>5.1263843310995601E-2</c:v>
                </c:pt>
                <c:pt idx="21">
                  <c:v>5.2859580693007301E-2</c:v>
                </c:pt>
                <c:pt idx="22">
                  <c:v>4.2650271924767197E-2</c:v>
                </c:pt>
                <c:pt idx="23">
                  <c:v>4.1539089000266399E-2</c:v>
                </c:pt>
                <c:pt idx="24">
                  <c:v>3.4908705194145601E-2</c:v>
                </c:pt>
                <c:pt idx="25">
                  <c:v>3.1782406544881098E-2</c:v>
                </c:pt>
                <c:pt idx="26">
                  <c:v>2.93407487704688E-2</c:v>
                </c:pt>
                <c:pt idx="27">
                  <c:v>2.8998787269356799E-2</c:v>
                </c:pt>
                <c:pt idx="28">
                  <c:v>2.9767658721344702E-2</c:v>
                </c:pt>
                <c:pt idx="29">
                  <c:v>3.1568009806778201E-2</c:v>
                </c:pt>
                <c:pt idx="30">
                  <c:v>2.80548167348867E-2</c:v>
                </c:pt>
                <c:pt idx="31">
                  <c:v>3.1216895010575001E-2</c:v>
                </c:pt>
                <c:pt idx="32">
                  <c:v>3.1902853592977197E-2</c:v>
                </c:pt>
                <c:pt idx="33">
                  <c:v>2.7274869207881001E-2</c:v>
                </c:pt>
                <c:pt idx="34">
                  <c:v>2.4506961241809101E-2</c:v>
                </c:pt>
                <c:pt idx="35">
                  <c:v>2.5563058153430299E-2</c:v>
                </c:pt>
                <c:pt idx="36">
                  <c:v>2.59694250861849E-2</c:v>
                </c:pt>
                <c:pt idx="37">
                  <c:v>2.41189933009021E-2</c:v>
                </c:pt>
                <c:pt idx="38">
                  <c:v>2.1099128524423999E-2</c:v>
                </c:pt>
                <c:pt idx="39">
                  <c:v>2.4840745655176698E-2</c:v>
                </c:pt>
                <c:pt idx="40">
                  <c:v>2.60244500224984E-2</c:v>
                </c:pt>
                <c:pt idx="41">
                  <c:v>2.6799510557942399E-2</c:v>
                </c:pt>
                <c:pt idx="42">
                  <c:v>2.5487466198140699E-2</c:v>
                </c:pt>
                <c:pt idx="43">
                  <c:v>2.62690250508247E-2</c:v>
                </c:pt>
                <c:pt idx="44">
                  <c:v>2.3666066137317501E-2</c:v>
                </c:pt>
                <c:pt idx="45">
                  <c:v>2.3793348769445399E-2</c:v>
                </c:pt>
                <c:pt idx="46">
                  <c:v>2.4599511665111502E-2</c:v>
                </c:pt>
                <c:pt idx="47">
                  <c:v>2.5146345061329799E-2</c:v>
                </c:pt>
                <c:pt idx="48">
                  <c:v>2.4122585574780399E-2</c:v>
                </c:pt>
                <c:pt idx="49">
                  <c:v>2.6193113424827101E-2</c:v>
                </c:pt>
                <c:pt idx="50">
                  <c:v>2.6427895289831398E-2</c:v>
                </c:pt>
                <c:pt idx="51">
                  <c:v>2.6229754974803E-2</c:v>
                </c:pt>
                <c:pt idx="52">
                  <c:v>2.55929865402434E-2</c:v>
                </c:pt>
                <c:pt idx="53">
                  <c:v>2.51936917705428E-2</c:v>
                </c:pt>
                <c:pt idx="54">
                  <c:v>2.5982421760782502E-2</c:v>
                </c:pt>
                <c:pt idx="55">
                  <c:v>2.5048239818119999E-2</c:v>
                </c:pt>
                <c:pt idx="56">
                  <c:v>2.2728063506931601E-2</c:v>
                </c:pt>
                <c:pt idx="57">
                  <c:v>2.3779071735216099E-2</c:v>
                </c:pt>
                <c:pt idx="58">
                  <c:v>2.12870560149034E-2</c:v>
                </c:pt>
                <c:pt idx="59">
                  <c:v>2.4906169953878701E-2</c:v>
                </c:pt>
                <c:pt idx="60">
                  <c:v>2.5452876844840398E-2</c:v>
                </c:pt>
                <c:pt idx="61">
                  <c:v>2.8718106523054E-2</c:v>
                </c:pt>
                <c:pt idx="62">
                  <c:v>2.87587439331791E-2</c:v>
                </c:pt>
                <c:pt idx="63">
                  <c:v>2.82730741820281E-2</c:v>
                </c:pt>
                <c:pt idx="64">
                  <c:v>3.0746325737859001E-2</c:v>
                </c:pt>
                <c:pt idx="65">
                  <c:v>2.9414945313601001E-2</c:v>
                </c:pt>
                <c:pt idx="66">
                  <c:v>2.7694798901806199E-2</c:v>
                </c:pt>
                <c:pt idx="67">
                  <c:v>3.00507282705373E-2</c:v>
                </c:pt>
                <c:pt idx="68">
                  <c:v>2.9716476251343101E-2</c:v>
                </c:pt>
                <c:pt idx="69">
                  <c:v>2.9090420976406999E-2</c:v>
                </c:pt>
                <c:pt idx="70">
                  <c:v>2.9459324785316699E-2</c:v>
                </c:pt>
                <c:pt idx="71">
                  <c:v>2.8463699683766799E-2</c:v>
                </c:pt>
                <c:pt idx="72">
                  <c:v>3.0261543926028801E-2</c:v>
                </c:pt>
                <c:pt idx="73">
                  <c:v>2.8895930190080701E-2</c:v>
                </c:pt>
                <c:pt idx="74">
                  <c:v>3.3086535333698097E-2</c:v>
                </c:pt>
                <c:pt idx="75">
                  <c:v>3.43895838281962E-2</c:v>
                </c:pt>
                <c:pt idx="76">
                  <c:v>3.2095196043331303E-2</c:v>
                </c:pt>
                <c:pt idx="77">
                  <c:v>3.2081143980945401E-2</c:v>
                </c:pt>
                <c:pt idx="78">
                  <c:v>3.3693141805183603E-2</c:v>
                </c:pt>
                <c:pt idx="79">
                  <c:v>3.4524206855272903E-2</c:v>
                </c:pt>
                <c:pt idx="80">
                  <c:v>3.4784997729082903E-2</c:v>
                </c:pt>
                <c:pt idx="81">
                  <c:v>3.30936378767702E-2</c:v>
                </c:pt>
                <c:pt idx="82">
                  <c:v>3.1319222297197899E-2</c:v>
                </c:pt>
                <c:pt idx="83">
                  <c:v>3.3121379829488699E-2</c:v>
                </c:pt>
                <c:pt idx="84">
                  <c:v>3.5933037249623198E-2</c:v>
                </c:pt>
                <c:pt idx="85">
                  <c:v>3.2854633393480298E-2</c:v>
                </c:pt>
                <c:pt idx="86">
                  <c:v>2.80163384748452E-2</c:v>
                </c:pt>
                <c:pt idx="87">
                  <c:v>3.0304230064353E-2</c:v>
                </c:pt>
                <c:pt idx="88">
                  <c:v>3.2429485126967E-2</c:v>
                </c:pt>
                <c:pt idx="89">
                  <c:v>3.4686029317798198E-2</c:v>
                </c:pt>
                <c:pt idx="90">
                  <c:v>3.7238656880613202E-2</c:v>
                </c:pt>
                <c:pt idx="91">
                  <c:v>3.4941421460864902E-2</c:v>
                </c:pt>
                <c:pt idx="92">
                  <c:v>3.4133365429045499E-2</c:v>
                </c:pt>
                <c:pt idx="93">
                  <c:v>3.5740624526156103E-2</c:v>
                </c:pt>
                <c:pt idx="94">
                  <c:v>3.80723010710921E-2</c:v>
                </c:pt>
                <c:pt idx="95">
                  <c:v>3.7844135260322397E-2</c:v>
                </c:pt>
                <c:pt idx="96">
                  <c:v>3.88347389185709E-2</c:v>
                </c:pt>
                <c:pt idx="97">
                  <c:v>4.1332194949314498E-2</c:v>
                </c:pt>
                <c:pt idx="98">
                  <c:v>3.9874051543565998E-2</c:v>
                </c:pt>
                <c:pt idx="99">
                  <c:v>3.9530451328162401E-2</c:v>
                </c:pt>
                <c:pt idx="100">
                  <c:v>3.9829226532607703E-2</c:v>
                </c:pt>
                <c:pt idx="101">
                  <c:v>3.9881017526971603E-2</c:v>
                </c:pt>
                <c:pt idx="102">
                  <c:v>4.0980638136247603E-2</c:v>
                </c:pt>
                <c:pt idx="103">
                  <c:v>4.0304047876170299E-2</c:v>
                </c:pt>
                <c:pt idx="104">
                  <c:v>4.1517127292583701E-2</c:v>
                </c:pt>
                <c:pt idx="105">
                  <c:v>4.3211809867773399E-2</c:v>
                </c:pt>
                <c:pt idx="106">
                  <c:v>3.84948034988759E-2</c:v>
                </c:pt>
                <c:pt idx="107">
                  <c:v>3.8977346526537802E-2</c:v>
                </c:pt>
                <c:pt idx="108">
                  <c:v>4.1336016303522502E-2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811264"/>
        <c:axId val="160817152"/>
      </c:lineChart>
      <c:dateAx>
        <c:axId val="1608112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160817152"/>
        <c:crosses val="autoZero"/>
        <c:auto val="1"/>
        <c:lblOffset val="100"/>
        <c:baseTimeUnit val="months"/>
        <c:majorUnit val="12"/>
        <c:majorTimeUnit val="months"/>
      </c:dateAx>
      <c:valAx>
        <c:axId val="16081715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60811264"/>
        <c:crosses val="autoZero"/>
        <c:crossBetween val="midCat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12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8518218793653543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marker>
            <c:symbol val="none"/>
          </c:marker>
          <c:cat>
            <c:numRef>
              <c:f>Sheet1!$A$2:$A$110</c:f>
              <c:numCache>
                <c:formatCode>m/d/yyyy</c:formatCode>
                <c:ptCount val="109"/>
                <c:pt idx="0">
                  <c:v>38869</c:v>
                </c:pt>
                <c:pt idx="1">
                  <c:v>38899</c:v>
                </c:pt>
                <c:pt idx="2">
                  <c:v>38930</c:v>
                </c:pt>
                <c:pt idx="3">
                  <c:v>38961</c:v>
                </c:pt>
                <c:pt idx="4">
                  <c:v>38991</c:v>
                </c:pt>
                <c:pt idx="5">
                  <c:v>39022</c:v>
                </c:pt>
                <c:pt idx="6">
                  <c:v>39052</c:v>
                </c:pt>
                <c:pt idx="7">
                  <c:v>39083</c:v>
                </c:pt>
                <c:pt idx="8">
                  <c:v>39114</c:v>
                </c:pt>
                <c:pt idx="9">
                  <c:v>39142</c:v>
                </c:pt>
                <c:pt idx="10">
                  <c:v>39173</c:v>
                </c:pt>
                <c:pt idx="11">
                  <c:v>39203</c:v>
                </c:pt>
                <c:pt idx="12">
                  <c:v>39234</c:v>
                </c:pt>
                <c:pt idx="13">
                  <c:v>39264</c:v>
                </c:pt>
                <c:pt idx="14">
                  <c:v>39295</c:v>
                </c:pt>
                <c:pt idx="15">
                  <c:v>39326</c:v>
                </c:pt>
                <c:pt idx="16">
                  <c:v>39356</c:v>
                </c:pt>
                <c:pt idx="17">
                  <c:v>39387</c:v>
                </c:pt>
                <c:pt idx="18">
                  <c:v>39417</c:v>
                </c:pt>
                <c:pt idx="19">
                  <c:v>39448</c:v>
                </c:pt>
                <c:pt idx="20">
                  <c:v>39479</c:v>
                </c:pt>
                <c:pt idx="21">
                  <c:v>39508</c:v>
                </c:pt>
                <c:pt idx="22">
                  <c:v>39539</c:v>
                </c:pt>
                <c:pt idx="23">
                  <c:v>39569</c:v>
                </c:pt>
                <c:pt idx="24">
                  <c:v>39600</c:v>
                </c:pt>
                <c:pt idx="25">
                  <c:v>39630</c:v>
                </c:pt>
                <c:pt idx="26">
                  <c:v>39661</c:v>
                </c:pt>
                <c:pt idx="27">
                  <c:v>39692</c:v>
                </c:pt>
                <c:pt idx="28">
                  <c:v>39722</c:v>
                </c:pt>
                <c:pt idx="29">
                  <c:v>39753</c:v>
                </c:pt>
                <c:pt idx="30">
                  <c:v>39783</c:v>
                </c:pt>
                <c:pt idx="31">
                  <c:v>39814</c:v>
                </c:pt>
                <c:pt idx="32">
                  <c:v>39845</c:v>
                </c:pt>
                <c:pt idx="33">
                  <c:v>39873</c:v>
                </c:pt>
                <c:pt idx="34">
                  <c:v>39904</c:v>
                </c:pt>
                <c:pt idx="35">
                  <c:v>39934</c:v>
                </c:pt>
                <c:pt idx="36">
                  <c:v>39965</c:v>
                </c:pt>
                <c:pt idx="37">
                  <c:v>39995</c:v>
                </c:pt>
                <c:pt idx="38">
                  <c:v>40026</c:v>
                </c:pt>
                <c:pt idx="39">
                  <c:v>40057</c:v>
                </c:pt>
                <c:pt idx="40">
                  <c:v>40087</c:v>
                </c:pt>
                <c:pt idx="41">
                  <c:v>40118</c:v>
                </c:pt>
                <c:pt idx="42">
                  <c:v>40148</c:v>
                </c:pt>
                <c:pt idx="43">
                  <c:v>40179</c:v>
                </c:pt>
                <c:pt idx="44">
                  <c:v>40210</c:v>
                </c:pt>
                <c:pt idx="45">
                  <c:v>40238</c:v>
                </c:pt>
                <c:pt idx="46">
                  <c:v>40269</c:v>
                </c:pt>
                <c:pt idx="47">
                  <c:v>40299</c:v>
                </c:pt>
                <c:pt idx="48">
                  <c:v>40330</c:v>
                </c:pt>
                <c:pt idx="49">
                  <c:v>40360</c:v>
                </c:pt>
                <c:pt idx="50">
                  <c:v>40391</c:v>
                </c:pt>
                <c:pt idx="51">
                  <c:v>40422</c:v>
                </c:pt>
                <c:pt idx="52">
                  <c:v>40452</c:v>
                </c:pt>
                <c:pt idx="53">
                  <c:v>40483</c:v>
                </c:pt>
                <c:pt idx="54">
                  <c:v>40513</c:v>
                </c:pt>
                <c:pt idx="55">
                  <c:v>40544</c:v>
                </c:pt>
                <c:pt idx="56">
                  <c:v>40575</c:v>
                </c:pt>
                <c:pt idx="57">
                  <c:v>40603</c:v>
                </c:pt>
                <c:pt idx="58">
                  <c:v>40634</c:v>
                </c:pt>
                <c:pt idx="59">
                  <c:v>40664</c:v>
                </c:pt>
                <c:pt idx="60">
                  <c:v>40695</c:v>
                </c:pt>
                <c:pt idx="61">
                  <c:v>40725</c:v>
                </c:pt>
                <c:pt idx="62">
                  <c:v>40756</c:v>
                </c:pt>
                <c:pt idx="63">
                  <c:v>40787</c:v>
                </c:pt>
                <c:pt idx="64">
                  <c:v>40817</c:v>
                </c:pt>
                <c:pt idx="65">
                  <c:v>40848</c:v>
                </c:pt>
                <c:pt idx="66">
                  <c:v>40878</c:v>
                </c:pt>
                <c:pt idx="67">
                  <c:v>40909</c:v>
                </c:pt>
                <c:pt idx="68">
                  <c:v>40940</c:v>
                </c:pt>
                <c:pt idx="69">
                  <c:v>40969</c:v>
                </c:pt>
                <c:pt idx="70">
                  <c:v>41000</c:v>
                </c:pt>
                <c:pt idx="71">
                  <c:v>41030</c:v>
                </c:pt>
                <c:pt idx="72">
                  <c:v>41061</c:v>
                </c:pt>
                <c:pt idx="73">
                  <c:v>41091</c:v>
                </c:pt>
                <c:pt idx="74">
                  <c:v>41122</c:v>
                </c:pt>
                <c:pt idx="75">
                  <c:v>41153</c:v>
                </c:pt>
                <c:pt idx="76">
                  <c:v>41183</c:v>
                </c:pt>
                <c:pt idx="77">
                  <c:v>41214</c:v>
                </c:pt>
                <c:pt idx="78">
                  <c:v>41244</c:v>
                </c:pt>
                <c:pt idx="79">
                  <c:v>41275</c:v>
                </c:pt>
                <c:pt idx="80">
                  <c:v>41306</c:v>
                </c:pt>
                <c:pt idx="81">
                  <c:v>41334</c:v>
                </c:pt>
                <c:pt idx="82">
                  <c:v>41365</c:v>
                </c:pt>
                <c:pt idx="83">
                  <c:v>41395</c:v>
                </c:pt>
                <c:pt idx="84">
                  <c:v>41426</c:v>
                </c:pt>
                <c:pt idx="85">
                  <c:v>41456</c:v>
                </c:pt>
                <c:pt idx="86">
                  <c:v>41487</c:v>
                </c:pt>
                <c:pt idx="87">
                  <c:v>41518</c:v>
                </c:pt>
                <c:pt idx="88">
                  <c:v>41548</c:v>
                </c:pt>
                <c:pt idx="89">
                  <c:v>41579</c:v>
                </c:pt>
                <c:pt idx="90">
                  <c:v>41609</c:v>
                </c:pt>
                <c:pt idx="91">
                  <c:v>41640</c:v>
                </c:pt>
                <c:pt idx="92">
                  <c:v>41671</c:v>
                </c:pt>
                <c:pt idx="93">
                  <c:v>41699</c:v>
                </c:pt>
                <c:pt idx="94">
                  <c:v>41730</c:v>
                </c:pt>
                <c:pt idx="95">
                  <c:v>41760</c:v>
                </c:pt>
                <c:pt idx="96">
                  <c:v>41791</c:v>
                </c:pt>
                <c:pt idx="97">
                  <c:v>41821</c:v>
                </c:pt>
                <c:pt idx="98">
                  <c:v>41852</c:v>
                </c:pt>
                <c:pt idx="99">
                  <c:v>41883</c:v>
                </c:pt>
                <c:pt idx="100">
                  <c:v>41913</c:v>
                </c:pt>
                <c:pt idx="101">
                  <c:v>41944</c:v>
                </c:pt>
                <c:pt idx="102">
                  <c:v>41974</c:v>
                </c:pt>
                <c:pt idx="103">
                  <c:v>42005</c:v>
                </c:pt>
                <c:pt idx="104">
                  <c:v>42036</c:v>
                </c:pt>
                <c:pt idx="105">
                  <c:v>42064</c:v>
                </c:pt>
                <c:pt idx="106">
                  <c:v>42095</c:v>
                </c:pt>
                <c:pt idx="107">
                  <c:v>42125</c:v>
                </c:pt>
                <c:pt idx="108">
                  <c:v>42156</c:v>
                </c:pt>
              </c:numCache>
            </c:numRef>
          </c:cat>
          <c:val>
            <c:numRef>
              <c:f>Sheet1!$B$2:$B$110</c:f>
              <c:numCache>
                <c:formatCode>0.00</c:formatCode>
                <c:ptCount val="109"/>
                <c:pt idx="0">
                  <c:v>110.425852832011</c:v>
                </c:pt>
                <c:pt idx="1">
                  <c:v>111.39102519397032</c:v>
                </c:pt>
                <c:pt idx="2">
                  <c:v>111.67259405745401</c:v>
                </c:pt>
                <c:pt idx="3">
                  <c:v>117.28354208267267</c:v>
                </c:pt>
                <c:pt idx="4">
                  <c:v>128.63824623906933</c:v>
                </c:pt>
                <c:pt idx="5">
                  <c:v>126.06411905215134</c:v>
                </c:pt>
                <c:pt idx="6">
                  <c:v>122.985760979467</c:v>
                </c:pt>
                <c:pt idx="7">
                  <c:v>126.16233642251832</c:v>
                </c:pt>
                <c:pt idx="8">
                  <c:v>128.42841970983301</c:v>
                </c:pt>
                <c:pt idx="9">
                  <c:v>128.39188819830235</c:v>
                </c:pt>
                <c:pt idx="10">
                  <c:v>136.91790522283134</c:v>
                </c:pt>
                <c:pt idx="11">
                  <c:v>144.57510719919634</c:v>
                </c:pt>
                <c:pt idx="12">
                  <c:v>147.62594559666499</c:v>
                </c:pt>
                <c:pt idx="13">
                  <c:v>160.95302205647033</c:v>
                </c:pt>
                <c:pt idx="14">
                  <c:v>156.29038265201666</c:v>
                </c:pt>
                <c:pt idx="15">
                  <c:v>168.98819890547497</c:v>
                </c:pt>
                <c:pt idx="16">
                  <c:v>180.50649691193868</c:v>
                </c:pt>
                <c:pt idx="17">
                  <c:v>191.04211053841533</c:v>
                </c:pt>
                <c:pt idx="18">
                  <c:v>185.57083032014998</c:v>
                </c:pt>
                <c:pt idx="19">
                  <c:v>189.33026732710002</c:v>
                </c:pt>
                <c:pt idx="20">
                  <c:v>170.87947770331868</c:v>
                </c:pt>
                <c:pt idx="21">
                  <c:v>176.19860231002434</c:v>
                </c:pt>
                <c:pt idx="22">
                  <c:v>142.16757308255734</c:v>
                </c:pt>
                <c:pt idx="23">
                  <c:v>138.463630000888</c:v>
                </c:pt>
                <c:pt idx="24">
                  <c:v>116.36235064715201</c:v>
                </c:pt>
                <c:pt idx="25">
                  <c:v>105.94135514960365</c:v>
                </c:pt>
                <c:pt idx="26">
                  <c:v>97.802495901562665</c:v>
                </c:pt>
                <c:pt idx="27">
                  <c:v>96.662624231189326</c:v>
                </c:pt>
                <c:pt idx="28">
                  <c:v>99.225529071149012</c:v>
                </c:pt>
                <c:pt idx="29">
                  <c:v>105.22669935592734</c:v>
                </c:pt>
                <c:pt idx="30">
                  <c:v>93.516055782955661</c:v>
                </c:pt>
                <c:pt idx="31">
                  <c:v>104.05631670191666</c:v>
                </c:pt>
                <c:pt idx="32">
                  <c:v>106.342845309924</c:v>
                </c:pt>
                <c:pt idx="33">
                  <c:v>90.916230692936679</c:v>
                </c:pt>
                <c:pt idx="34">
                  <c:v>81.689870806030342</c:v>
                </c:pt>
                <c:pt idx="35">
                  <c:v>85.210193844767673</c:v>
                </c:pt>
                <c:pt idx="36">
                  <c:v>86.564750287283005</c:v>
                </c:pt>
                <c:pt idx="37">
                  <c:v>80.396644336340344</c:v>
                </c:pt>
                <c:pt idx="38">
                  <c:v>70.330428414746663</c:v>
                </c:pt>
                <c:pt idx="39">
                  <c:v>82.802485517255661</c:v>
                </c:pt>
                <c:pt idx="40">
                  <c:v>86.748166741661336</c:v>
                </c:pt>
                <c:pt idx="41">
                  <c:v>89.331701859807993</c:v>
                </c:pt>
                <c:pt idx="42">
                  <c:v>84.958220660468996</c:v>
                </c:pt>
                <c:pt idx="43">
                  <c:v>87.563416836082325</c:v>
                </c:pt>
                <c:pt idx="44">
                  <c:v>78.886887124391663</c:v>
                </c:pt>
                <c:pt idx="45">
                  <c:v>79.311162564818005</c:v>
                </c:pt>
                <c:pt idx="46">
                  <c:v>81.998372217038337</c:v>
                </c:pt>
                <c:pt idx="47">
                  <c:v>83.821150204432669</c:v>
                </c:pt>
                <c:pt idx="48">
                  <c:v>80.408618582601335</c:v>
                </c:pt>
                <c:pt idx="49">
                  <c:v>87.310378082757012</c:v>
                </c:pt>
                <c:pt idx="50">
                  <c:v>88.092984299437987</c:v>
                </c:pt>
                <c:pt idx="51">
                  <c:v>87.432516582676669</c:v>
                </c:pt>
                <c:pt idx="52">
                  <c:v>85.309955134144673</c:v>
                </c:pt>
                <c:pt idx="53">
                  <c:v>83.97897256847601</c:v>
                </c:pt>
                <c:pt idx="54">
                  <c:v>86.608072535941673</c:v>
                </c:pt>
                <c:pt idx="55">
                  <c:v>83.49413272706667</c:v>
                </c:pt>
                <c:pt idx="56">
                  <c:v>75.760211689772007</c:v>
                </c:pt>
                <c:pt idx="57">
                  <c:v>79.263572450720332</c:v>
                </c:pt>
                <c:pt idx="58">
                  <c:v>70.956853383011349</c:v>
                </c:pt>
                <c:pt idx="59">
                  <c:v>83.020566512929008</c:v>
                </c:pt>
                <c:pt idx="60">
                  <c:v>84.84292281613466</c:v>
                </c:pt>
                <c:pt idx="61">
                  <c:v>95.727021743513333</c:v>
                </c:pt>
                <c:pt idx="62">
                  <c:v>95.862479777263658</c:v>
                </c:pt>
                <c:pt idx="63">
                  <c:v>94.243580606760332</c:v>
                </c:pt>
                <c:pt idx="64">
                  <c:v>102.48775245953001</c:v>
                </c:pt>
                <c:pt idx="65">
                  <c:v>98.049817712003346</c:v>
                </c:pt>
                <c:pt idx="66">
                  <c:v>92.315996339354001</c:v>
                </c:pt>
                <c:pt idx="67">
                  <c:v>100.16909423512435</c:v>
                </c:pt>
                <c:pt idx="68">
                  <c:v>99.054920837810343</c:v>
                </c:pt>
                <c:pt idx="69">
                  <c:v>96.968069921356673</c:v>
                </c:pt>
                <c:pt idx="70">
                  <c:v>98.197749284389005</c:v>
                </c:pt>
                <c:pt idx="71">
                  <c:v>94.878998945889336</c:v>
                </c:pt>
                <c:pt idx="72">
                  <c:v>100.87181308676267</c:v>
                </c:pt>
                <c:pt idx="73">
                  <c:v>96.319767300269007</c:v>
                </c:pt>
                <c:pt idx="74">
                  <c:v>110.288451112327</c:v>
                </c:pt>
                <c:pt idx="75">
                  <c:v>114.63194609398735</c:v>
                </c:pt>
                <c:pt idx="76">
                  <c:v>106.98398681110434</c:v>
                </c:pt>
                <c:pt idx="77">
                  <c:v>106.93714660315135</c:v>
                </c:pt>
                <c:pt idx="78">
                  <c:v>112.31047268394533</c:v>
                </c:pt>
                <c:pt idx="79">
                  <c:v>115.08068951757635</c:v>
                </c:pt>
                <c:pt idx="80">
                  <c:v>115.94999243027635</c:v>
                </c:pt>
                <c:pt idx="81">
                  <c:v>110.31212625590068</c:v>
                </c:pt>
                <c:pt idx="82">
                  <c:v>104.39740765732633</c:v>
                </c:pt>
                <c:pt idx="83">
                  <c:v>110.40459943162899</c:v>
                </c:pt>
                <c:pt idx="84">
                  <c:v>119.77679083207732</c:v>
                </c:pt>
                <c:pt idx="85">
                  <c:v>109.51544464493432</c:v>
                </c:pt>
                <c:pt idx="86">
                  <c:v>93.387794916150668</c:v>
                </c:pt>
                <c:pt idx="87">
                  <c:v>101.01410021451001</c:v>
                </c:pt>
                <c:pt idx="88">
                  <c:v>108.09828375655668</c:v>
                </c:pt>
                <c:pt idx="89">
                  <c:v>115.620097725994</c:v>
                </c:pt>
                <c:pt idx="90">
                  <c:v>124.12885626871069</c:v>
                </c:pt>
                <c:pt idx="91">
                  <c:v>116.47140486954967</c:v>
                </c:pt>
                <c:pt idx="92">
                  <c:v>113.77788476348501</c:v>
                </c:pt>
                <c:pt idx="93">
                  <c:v>119.13541508718701</c:v>
                </c:pt>
                <c:pt idx="94">
                  <c:v>126.90767023697367</c:v>
                </c:pt>
                <c:pt idx="95">
                  <c:v>126.147117534408</c:v>
                </c:pt>
                <c:pt idx="96">
                  <c:v>129.44912972856969</c:v>
                </c:pt>
                <c:pt idx="97">
                  <c:v>137.77398316438166</c:v>
                </c:pt>
                <c:pt idx="98">
                  <c:v>132.91350514522</c:v>
                </c:pt>
                <c:pt idx="99">
                  <c:v>131.76817109387468</c:v>
                </c:pt>
                <c:pt idx="100">
                  <c:v>132.76408844202567</c:v>
                </c:pt>
                <c:pt idx="101">
                  <c:v>132.93672508990534</c:v>
                </c:pt>
                <c:pt idx="102">
                  <c:v>136.60212712082534</c:v>
                </c:pt>
                <c:pt idx="103">
                  <c:v>134.34682625390099</c:v>
                </c:pt>
                <c:pt idx="104">
                  <c:v>138.39042430861235</c:v>
                </c:pt>
                <c:pt idx="105">
                  <c:v>144.03936622591132</c:v>
                </c:pt>
                <c:pt idx="106">
                  <c:v>128.31601166291966</c:v>
                </c:pt>
                <c:pt idx="107">
                  <c:v>129.92448842179266</c:v>
                </c:pt>
                <c:pt idx="108">
                  <c:v>137.78672101174166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632064"/>
        <c:axId val="122925056"/>
      </c:lineChart>
      <c:dateAx>
        <c:axId val="12063206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chemeClr val="tx2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122925056"/>
        <c:crosses val="autoZero"/>
        <c:auto val="1"/>
        <c:lblOffset val="100"/>
        <c:baseTimeUnit val="months"/>
        <c:majorUnit val="12"/>
        <c:majorTimeUnit val="months"/>
      </c:dateAx>
      <c:valAx>
        <c:axId val="122925056"/>
        <c:scaling>
          <c:orientation val="minMax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20632064"/>
        <c:crosses val="autoZero"/>
        <c:crossBetween val="midCat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12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Credit Availability Projection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July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Commonly Cited Measures of Credit Availability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156999972"/>
              </p:ext>
            </p:extLst>
          </p:nvPr>
        </p:nvGraphicFramePr>
        <p:xfrm>
          <a:off x="2377821" y="1160947"/>
          <a:ext cx="711300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910525449"/>
              </p:ext>
            </p:extLst>
          </p:nvPr>
        </p:nvGraphicFramePr>
        <p:xfrm>
          <a:off x="2377821" y="3169287"/>
          <a:ext cx="711300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85549768"/>
              </p:ext>
            </p:extLst>
          </p:nvPr>
        </p:nvGraphicFramePr>
        <p:xfrm>
          <a:off x="2377821" y="5177627"/>
          <a:ext cx="711300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4060" y="1963310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r>
              <a:rPr lang="en-US" sz="1200" dirty="0" smtClean="0">
                <a:latin typeface="+mn-lt"/>
              </a:rPr>
              <a:t>Two Year Seasonal Adjustment Index</a:t>
            </a:r>
            <a:endParaRPr lang="en-US" sz="12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7438" y="1160947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7438" y="1895475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0" y="1285875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HPA Index</a:t>
            </a:r>
            <a:endParaRPr lang="en-US" sz="16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534" y="4036544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By the Mortgage Bankers Association (MBA)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12" y="3234181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7912" y="3968709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0" y="3359109"/>
            <a:ext cx="1470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Purchase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534" y="6065369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Borrower’s credit score distribution at origination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912" y="5263006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37912" y="5997534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5387934"/>
            <a:ext cx="169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FICO Distribution Measure</a:t>
            </a:r>
          </a:p>
        </p:txBody>
      </p:sp>
    </p:spTree>
    <p:extLst>
      <p:ext uri="{BB962C8B-B14F-4D97-AF65-F5344CB8AC3E}">
        <p14:creationId xmlns:p14="http://schemas.microsoft.com/office/powerpoint/2010/main" val="2669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Commonly Cited Measures of Credit Availability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837090249"/>
              </p:ext>
            </p:extLst>
          </p:nvPr>
        </p:nvGraphicFramePr>
        <p:xfrm>
          <a:off x="2377820" y="1160947"/>
          <a:ext cx="33371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539803581"/>
              </p:ext>
            </p:extLst>
          </p:nvPr>
        </p:nvGraphicFramePr>
        <p:xfrm>
          <a:off x="2377820" y="3169287"/>
          <a:ext cx="33371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2650889515"/>
              </p:ext>
            </p:extLst>
          </p:nvPr>
        </p:nvGraphicFramePr>
        <p:xfrm>
          <a:off x="2377820" y="5177627"/>
          <a:ext cx="33371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4060" y="1963310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r>
              <a:rPr lang="en-US" sz="1200" dirty="0" smtClean="0">
                <a:latin typeface="+mn-lt"/>
              </a:rPr>
              <a:t>Two Year Seasonal Adjustment Index</a:t>
            </a:r>
            <a:endParaRPr lang="en-US" sz="1200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7438" y="1160947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7438" y="1895475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0" y="1285875"/>
            <a:ext cx="128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HPA Index</a:t>
            </a:r>
            <a:endParaRPr lang="en-US" sz="16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534" y="4036544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By the Mortgage Bankers Association (MBA)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12" y="3234181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7912" y="3968709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0" y="3359109"/>
            <a:ext cx="1470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Purchase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534" y="6065369"/>
            <a:ext cx="1988207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dirty="0"/>
              <a:t>Borrower’s credit score distribution at origination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912" y="5263006"/>
            <a:ext cx="438362" cy="658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37912" y="5997534"/>
            <a:ext cx="19948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5387934"/>
            <a:ext cx="1692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  <a:cs typeface="Arial" panose="020B0604020202020204" pitchFamily="34" charset="0"/>
              </a:rPr>
              <a:t>FICO Distribution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7153" y="3425784"/>
            <a:ext cx="3722122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b="1" dirty="0" smtClean="0"/>
              <a:t>Pros:</a:t>
            </a:r>
            <a:r>
              <a:rPr lang="en-US" dirty="0" smtClean="0"/>
              <a:t> </a:t>
            </a:r>
            <a:r>
              <a:rPr lang="en-US" dirty="0"/>
              <a:t>Takes many factors into account (loan purpose, property type</a:t>
            </a:r>
            <a:r>
              <a:rPr lang="en-US" dirty="0" smtClean="0"/>
              <a:t>), large number of lenders.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15000" y="4036544"/>
            <a:ext cx="3724275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pPr algn="l"/>
            <a:r>
              <a:rPr lang="en-US" sz="1200" b="1" dirty="0" smtClean="0">
                <a:latin typeface="+mn-lt"/>
              </a:rPr>
              <a:t>Cons:</a:t>
            </a:r>
            <a:r>
              <a:rPr lang="en-US" sz="1200" dirty="0" smtClean="0">
                <a:latin typeface="+mn-lt"/>
              </a:rPr>
              <a:t> Lacks transparency. There is no way for us to know how numbers are assigned to these factors, and convert the factors into one single number.</a:t>
            </a:r>
            <a:endParaRPr lang="en-US" sz="1200" dirty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5724255" y="3968709"/>
            <a:ext cx="3800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7153" y="1548169"/>
            <a:ext cx="3112522" cy="2769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b="1" dirty="0" smtClean="0"/>
              <a:t>Pros:</a:t>
            </a:r>
            <a:r>
              <a:rPr lang="en-US" dirty="0" smtClean="0"/>
              <a:t> Capture the macroeconomic conditions.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15000" y="1968429"/>
            <a:ext cx="3724275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pPr algn="l"/>
            <a:r>
              <a:rPr lang="en-US" sz="1200" b="1" dirty="0" smtClean="0">
                <a:latin typeface="+mn-lt"/>
              </a:rPr>
              <a:t>Cons: </a:t>
            </a:r>
            <a:r>
              <a:rPr lang="en-US" sz="1200" dirty="0">
                <a:latin typeface="+mn-lt"/>
              </a:rPr>
              <a:t>Cannot </a:t>
            </a:r>
            <a:r>
              <a:rPr lang="en-US" sz="1200" dirty="0" smtClean="0">
                <a:latin typeface="+mn-lt"/>
              </a:rPr>
              <a:t>capture the changes in underwriting criteria. </a:t>
            </a:r>
            <a:endParaRPr lang="en-US" sz="1200" dirty="0">
              <a:latin typeface="+mn-lt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5724255" y="1900594"/>
            <a:ext cx="3800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31305" y="5463419"/>
            <a:ext cx="3722122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Arial" panose="020B0604020202020204" pitchFamily="34" charset="0"/>
              </a:defRPr>
            </a:lvl1pPr>
          </a:lstStyle>
          <a:p>
            <a:r>
              <a:rPr lang="en-US" b="1" dirty="0" smtClean="0"/>
              <a:t>Pros:</a:t>
            </a:r>
            <a:r>
              <a:rPr lang="en-US" dirty="0" smtClean="0"/>
              <a:t> Intuitively reflects the amount of risk the market is willing and expected to take.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729152" y="6074179"/>
            <a:ext cx="3724275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</a:defRPr>
            </a:lvl2pPr>
            <a:lvl3pPr>
              <a:defRPr>
                <a:solidFill>
                  <a:schemeClr val="dk1"/>
                </a:solidFill>
                <a:latin typeface="+mn-lt"/>
              </a:defRPr>
            </a:lvl3pPr>
            <a:lvl4pPr>
              <a:defRPr>
                <a:solidFill>
                  <a:schemeClr val="dk1"/>
                </a:solidFill>
                <a:latin typeface="+mn-lt"/>
              </a:defRPr>
            </a:lvl4pPr>
            <a:lvl5pPr>
              <a:defRPr>
                <a:solidFill>
                  <a:schemeClr val="dk1"/>
                </a:solidFill>
                <a:latin typeface="+mn-lt"/>
              </a:defRPr>
            </a:lvl5pPr>
            <a:lvl6pPr>
              <a:defRPr>
                <a:solidFill>
                  <a:schemeClr val="dk1"/>
                </a:solidFill>
                <a:latin typeface="+mn-lt"/>
              </a:defRPr>
            </a:lvl6pPr>
            <a:lvl7pPr>
              <a:defRPr>
                <a:solidFill>
                  <a:schemeClr val="dk1"/>
                </a:solidFill>
                <a:latin typeface="+mn-lt"/>
              </a:defRPr>
            </a:lvl7pPr>
            <a:lvl8pPr>
              <a:defRPr>
                <a:solidFill>
                  <a:schemeClr val="dk1"/>
                </a:solidFill>
                <a:latin typeface="+mn-lt"/>
              </a:defRPr>
            </a:lvl8pPr>
            <a:lvl9pPr>
              <a:defRPr>
                <a:solidFill>
                  <a:schemeClr val="dk1"/>
                </a:solidFill>
                <a:latin typeface="+mn-lt"/>
              </a:defRPr>
            </a:lvl9pPr>
          </a:lstStyle>
          <a:p>
            <a:pPr algn="l"/>
            <a:r>
              <a:rPr lang="en-US" sz="1200" b="1" dirty="0" smtClean="0">
                <a:latin typeface="+mn-lt"/>
              </a:rPr>
              <a:t>Cons: </a:t>
            </a:r>
            <a:r>
              <a:rPr lang="en-US" sz="1200" dirty="0" smtClean="0">
                <a:latin typeface="+mn-lt"/>
              </a:rPr>
              <a:t>Credit score alone is insufficient (LTV, DTI, etc. also matter). Tail or median cannot cover the distribution information.</a:t>
            </a:r>
            <a:endParaRPr lang="en-US" sz="1200" dirty="0">
              <a:latin typeface="+mn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5738407" y="6006344"/>
            <a:ext cx="38007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791200" y="2439619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  <p:sp>
        <p:nvSpPr>
          <p:cNvPr id="34" name="Rectangle 33"/>
          <p:cNvSpPr/>
          <p:nvPr/>
        </p:nvSpPr>
        <p:spPr>
          <a:xfrm>
            <a:off x="7667624" y="2440228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35" name="Rectangle 34"/>
          <p:cNvSpPr/>
          <p:nvPr/>
        </p:nvSpPr>
        <p:spPr>
          <a:xfrm>
            <a:off x="5791200" y="4682466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36" name="Rectangle 35"/>
          <p:cNvSpPr/>
          <p:nvPr/>
        </p:nvSpPr>
        <p:spPr>
          <a:xfrm>
            <a:off x="7667624" y="4683075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</a:t>
            </a:r>
            <a:r>
              <a:rPr lang="en-US" sz="1200" dirty="0" smtClean="0"/>
              <a:t>ransparency</a:t>
            </a:r>
            <a:endParaRPr lang="en-US" sz="1200" dirty="0"/>
          </a:p>
        </p:txBody>
      </p:sp>
      <p:sp>
        <p:nvSpPr>
          <p:cNvPr id="37" name="Rectangle 36"/>
          <p:cNvSpPr/>
          <p:nvPr/>
        </p:nvSpPr>
        <p:spPr>
          <a:xfrm>
            <a:off x="5791200" y="6728297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sp>
        <p:nvSpPr>
          <p:cNvPr id="38" name="Rectangle 37"/>
          <p:cNvSpPr/>
          <p:nvPr/>
        </p:nvSpPr>
        <p:spPr>
          <a:xfrm>
            <a:off x="7667623" y="6728906"/>
            <a:ext cx="1645920" cy="284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4086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5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673" y="227542"/>
            <a:ext cx="6806130" cy="677966"/>
          </a:xfrm>
        </p:spPr>
        <p:txBody>
          <a:bodyPr/>
          <a:lstStyle/>
          <a:p>
            <a:r>
              <a:rPr lang="en-US" dirty="0" smtClean="0"/>
              <a:t>Default Risk Measure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5775" y="1624951"/>
            <a:ext cx="1200149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1806702" y="1624951"/>
            <a:ext cx="1645920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573400" y="1624989"/>
            <a:ext cx="1200149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894327" y="1624989"/>
            <a:ext cx="1200149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</a:t>
            </a:r>
            <a:r>
              <a:rPr lang="en-US" sz="1200" dirty="0" smtClean="0"/>
              <a:t>ransparency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6215254" y="1624989"/>
            <a:ext cx="1645920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7981950" y="1624989"/>
            <a:ext cx="1645920" cy="2845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19125" y="1277838"/>
            <a:ext cx="89344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05225" y="1123950"/>
            <a:ext cx="272415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Do we </a:t>
            </a:r>
            <a:r>
              <a:rPr lang="en-US" sz="1400" dirty="0">
                <a:latin typeface="+mn-lt"/>
              </a:rPr>
              <a:t>h</a:t>
            </a:r>
            <a:r>
              <a:rPr lang="en-US" sz="1400" dirty="0" smtClean="0">
                <a:latin typeface="+mn-lt"/>
              </a:rPr>
              <a:t>ave </a:t>
            </a:r>
            <a:r>
              <a:rPr lang="en-US" sz="1400" dirty="0">
                <a:latin typeface="+mn-lt"/>
              </a:rPr>
              <a:t>a</a:t>
            </a:r>
            <a:r>
              <a:rPr lang="en-US" sz="1400" dirty="0" smtClean="0">
                <a:latin typeface="+mn-lt"/>
              </a:rPr>
              <a:t> better way?</a:t>
            </a:r>
            <a:endParaRPr lang="en-US" sz="1400" dirty="0">
              <a:latin typeface="+mn-lt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22364" y="2630388"/>
            <a:ext cx="893445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71926" y="2476500"/>
            <a:ext cx="19812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Default Risk Measure</a:t>
            </a:r>
            <a:endParaRPr lang="en-US" sz="1400" dirty="0">
              <a:latin typeface="+mn-lt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393698" y="3089076"/>
            <a:ext cx="2092327" cy="3978473"/>
            <a:chOff x="393698" y="1376361"/>
            <a:chExt cx="3997326" cy="4932364"/>
          </a:xfrm>
        </p:grpSpPr>
        <p:sp>
          <p:nvSpPr>
            <p:cNvPr id="16" name="Text Box 10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93700" y="1376361"/>
              <a:ext cx="3997324" cy="355743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accent1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altLang="zh-CN" sz="1400" dirty="0" smtClean="0">
                  <a:solidFill>
                    <a:srgbClr val="FFFFFF"/>
                  </a:solidFill>
                  <a:latin typeface="+mn-lt"/>
                  <a:cs typeface="Arial Unicode MS" pitchFamily="34" charset="-122"/>
                </a:rPr>
                <a:t>Default Risk Measure</a:t>
              </a:r>
              <a:endParaRPr lang="en-US" sz="1400" dirty="0">
                <a:solidFill>
                  <a:schemeClr val="bg1"/>
                </a:solidFill>
                <a:latin typeface="+mn-lt"/>
                <a:cs typeface="Arial Unicode MS" pitchFamily="34" charset="-122"/>
              </a:endParaRPr>
            </a:p>
          </p:txBody>
        </p:sp>
        <p:sp>
          <p:nvSpPr>
            <p:cNvPr id="17" name="Text Placeholder 5"/>
            <p:cNvSpPr txBox="1">
              <a:spLocks/>
            </p:cNvSpPr>
            <p:nvPr/>
          </p:nvSpPr>
          <p:spPr>
            <a:xfrm>
              <a:off x="393698" y="1732104"/>
              <a:ext cx="3997324" cy="4576621"/>
            </a:xfrm>
            <a:prstGeom prst="rect">
              <a:avLst/>
            </a:prstGeom>
            <a:ln w="12700">
              <a:solidFill>
                <a:schemeClr val="accent1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9623" indent="-359623" defTabSz="957998">
                <a:lnSpc>
                  <a:spcPct val="106000"/>
                </a:lnSpc>
                <a:spcBef>
                  <a:spcPts val="1344"/>
                </a:spcBef>
                <a:defRPr/>
              </a:pPr>
              <a:endParaRPr lang="nl-NL" dirty="0">
                <a:solidFill>
                  <a:srgbClr val="002776"/>
                </a:solidFill>
                <a:latin typeface="+mn-ea"/>
                <a:cs typeface="Arial Unicode MS" pitchFamily="34" charset="-122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93698" y="3343275"/>
            <a:ext cx="2092326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Measure the amount of default risk the market takes on at a given time based on a set of prescribed typical macroeconomic conditions.</a:t>
            </a:r>
            <a:endParaRPr lang="en-US" sz="14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90875" y="3050976"/>
            <a:ext cx="6232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1.Sample </a:t>
            </a:r>
            <a:r>
              <a:rPr lang="en-US" sz="1200" b="1" dirty="0">
                <a:latin typeface="+mn-lt"/>
              </a:rPr>
              <a:t>population</a:t>
            </a:r>
          </a:p>
          <a:p>
            <a:r>
              <a:rPr lang="en-US" sz="1200" dirty="0">
                <a:latin typeface="+mn-lt"/>
              </a:rPr>
              <a:t>All 30-year </a:t>
            </a:r>
            <a:r>
              <a:rPr lang="en-US" sz="1200" dirty="0" smtClean="0">
                <a:latin typeface="+mn-lt"/>
              </a:rPr>
              <a:t>FHLMC/ FNMA </a:t>
            </a:r>
            <a:r>
              <a:rPr lang="en-US" sz="1200" dirty="0">
                <a:latin typeface="+mn-lt"/>
              </a:rPr>
              <a:t>loans that are originated in a given </a:t>
            </a:r>
            <a:r>
              <a:rPr lang="en-US" sz="1200" dirty="0" smtClean="0">
                <a:latin typeface="+mn-lt"/>
              </a:rPr>
              <a:t>month</a:t>
            </a:r>
            <a:endParaRPr lang="en-US" sz="1200" dirty="0">
              <a:latin typeface="+mn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5775" y="1624951"/>
            <a:ext cx="1200149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1806702" y="1624951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3573400" y="1624989"/>
            <a:ext cx="1200149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23" name="Rectangle 22"/>
          <p:cNvSpPr/>
          <p:nvPr/>
        </p:nvSpPr>
        <p:spPr>
          <a:xfrm>
            <a:off x="4894327" y="1624989"/>
            <a:ext cx="1200149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</a:t>
            </a:r>
            <a:r>
              <a:rPr lang="en-US" sz="1200" dirty="0" smtClean="0"/>
              <a:t>ransparency</a:t>
            </a:r>
            <a:endParaRPr lang="en-US" sz="1200" dirty="0"/>
          </a:p>
        </p:txBody>
      </p:sp>
      <p:sp>
        <p:nvSpPr>
          <p:cNvPr id="24" name="Rectangle 23"/>
          <p:cNvSpPr/>
          <p:nvPr/>
        </p:nvSpPr>
        <p:spPr>
          <a:xfrm>
            <a:off x="6215254" y="1624989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7981950" y="1624989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3190874" y="3690917"/>
            <a:ext cx="6232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2.Credit </a:t>
            </a:r>
            <a:r>
              <a:rPr lang="en-US" sz="1200" b="1" dirty="0">
                <a:latin typeface="+mn-lt"/>
              </a:rPr>
              <a:t>Availability Metric</a:t>
            </a:r>
          </a:p>
          <a:p>
            <a:r>
              <a:rPr lang="en-US" sz="1200" dirty="0">
                <a:latin typeface="+mn-lt"/>
              </a:rPr>
              <a:t>Calculate the expected cumulative default rate for the sample population over 3 years using Accordion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90875" y="4515524"/>
            <a:ext cx="6427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3.Macroeconomic </a:t>
            </a:r>
            <a:r>
              <a:rPr lang="en-US" sz="1200" b="1" dirty="0">
                <a:latin typeface="+mn-lt"/>
              </a:rPr>
              <a:t>Scenario Assumptions</a:t>
            </a:r>
          </a:p>
          <a:p>
            <a:r>
              <a:rPr lang="en-US" sz="1200" dirty="0">
                <a:latin typeface="+mn-lt"/>
              </a:rPr>
              <a:t>There is a </a:t>
            </a:r>
            <a:r>
              <a:rPr lang="en-US" sz="1200" dirty="0" smtClean="0">
                <a:latin typeface="+mn-lt"/>
              </a:rPr>
              <a:t>normal </a:t>
            </a:r>
            <a:r>
              <a:rPr lang="en-US" sz="1200" dirty="0">
                <a:latin typeface="+mn-lt"/>
              </a:rPr>
              <a:t>environment with a probability weight of 90% and a stressed environment with a weight of 10</a:t>
            </a:r>
            <a:r>
              <a:rPr lang="en-US" sz="1200" dirty="0" smtClean="0">
                <a:latin typeface="+mn-lt"/>
              </a:rPr>
              <a:t>%.</a:t>
            </a:r>
            <a:endParaRPr lang="en-US" sz="1200" dirty="0"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90873" y="6448127"/>
            <a:ext cx="6232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4. </a:t>
            </a:r>
            <a:r>
              <a:rPr lang="en-US" sz="1200" b="1" dirty="0">
                <a:latin typeface="+mn-lt"/>
              </a:rPr>
              <a:t>Mortgage Credit Availability Index</a:t>
            </a:r>
          </a:p>
          <a:p>
            <a:r>
              <a:rPr lang="en-US" sz="1200" dirty="0">
                <a:latin typeface="+mn-lt"/>
              </a:rPr>
              <a:t>Create a time-series of expected cumulative default rates as per the specified assumptions for each month based on the collateral characteristics of the loans originated that month.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3190873" y="3531691"/>
            <a:ext cx="594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190873" y="4407991"/>
            <a:ext cx="594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190873" y="6332041"/>
            <a:ext cx="594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1150452" y="5087887"/>
            <a:ext cx="3332083" cy="22385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712508"/>
              </p:ext>
            </p:extLst>
          </p:nvPr>
        </p:nvGraphicFramePr>
        <p:xfrm>
          <a:off x="3286125" y="5175250"/>
          <a:ext cx="6038850" cy="9448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956135"/>
                <a:gridCol w="2638227"/>
                <a:gridCol w="2444488"/>
              </a:tblGrid>
              <a:tr h="231570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Mortgage Rates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HPI 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570"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  <a:latin typeface="+mn-lt"/>
                          <a:ea typeface="SimSun"/>
                          <a:cs typeface="Times New Roman"/>
                        </a:rPr>
                        <a:t>No changes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Increases of 3% per year for 3 years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41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Stressed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year:   Unchanged,</a:t>
                      </a:r>
                    </a:p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years: Declines of 25 bps per year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years: Declines of 13% per year </a:t>
                      </a:r>
                    </a:p>
                    <a:p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year:</a:t>
                      </a:r>
                      <a:r>
                        <a:rPr lang="en-US" sz="11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1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Flat house prices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55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198" y="236009"/>
            <a:ext cx="6806130" cy="677966"/>
          </a:xfrm>
        </p:spPr>
        <p:txBody>
          <a:bodyPr/>
          <a:lstStyle/>
          <a:p>
            <a:r>
              <a:rPr lang="en-US" dirty="0" smtClean="0"/>
              <a:t>Calculating Mortgage Credit Availability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807091" y="3285341"/>
            <a:ext cx="1333500" cy="1466850"/>
            <a:chOff x="2809875" y="1857375"/>
            <a:chExt cx="1333500" cy="1466850"/>
          </a:xfrm>
        </p:grpSpPr>
        <p:sp>
          <p:nvSpPr>
            <p:cNvPr id="4" name="Rectangle 3"/>
            <p:cNvSpPr/>
            <p:nvPr/>
          </p:nvSpPr>
          <p:spPr>
            <a:xfrm>
              <a:off x="2809875" y="1857375"/>
              <a:ext cx="876300" cy="10096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962275" y="2009775"/>
              <a:ext cx="876300" cy="10096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14675" y="2162175"/>
              <a:ext cx="876300" cy="100965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67075" y="2314575"/>
              <a:ext cx="876300" cy="10096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Monthly</a:t>
              </a:r>
            </a:p>
            <a:p>
              <a:pPr algn="ctr"/>
              <a:r>
                <a:rPr lang="en-US" sz="1200" dirty="0" smtClean="0"/>
                <a:t>Orig.</a:t>
              </a:r>
            </a:p>
            <a:p>
              <a:pPr algn="ctr"/>
              <a:r>
                <a:rPr lang="en-US" sz="1200" dirty="0" smtClean="0"/>
                <a:t>Data</a:t>
              </a:r>
              <a:endParaRPr lang="en-US" sz="1200" dirty="0"/>
            </a:p>
          </p:txBody>
        </p:sp>
      </p:grpSp>
      <p:sp>
        <p:nvSpPr>
          <p:cNvPr id="9" name="Cube 8"/>
          <p:cNvSpPr/>
          <p:nvPr/>
        </p:nvSpPr>
        <p:spPr>
          <a:xfrm>
            <a:off x="561975" y="3285341"/>
            <a:ext cx="1085850" cy="1238250"/>
          </a:xfrm>
          <a:prstGeom prst="cube">
            <a:avLst>
              <a:gd name="adj" fmla="val 197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Loan Level</a:t>
            </a:r>
          </a:p>
          <a:p>
            <a:pPr algn="ctr"/>
            <a:r>
              <a:rPr lang="en-US" sz="1200" dirty="0" smtClean="0"/>
              <a:t>DB</a:t>
            </a:r>
            <a:endParaRPr lang="en-US" sz="1200" dirty="0"/>
          </a:p>
        </p:txBody>
      </p:sp>
      <p:grpSp>
        <p:nvGrpSpPr>
          <p:cNvPr id="11" name="Group 2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5299857" y="3105150"/>
            <a:ext cx="1713327" cy="1647041"/>
            <a:chOff x="2244" y="1767"/>
            <a:chExt cx="2029" cy="2029"/>
          </a:xfrm>
          <a:solidFill>
            <a:schemeClr val="accent1"/>
          </a:solidFill>
        </p:grpSpPr>
        <p:sp>
          <p:nvSpPr>
            <p:cNvPr id="12" name="Freeform 3"/>
            <p:cNvSpPr>
              <a:spLocks/>
            </p:cNvSpPr>
            <p:nvPr/>
          </p:nvSpPr>
          <p:spPr bwMode="blackWhite">
            <a:xfrm>
              <a:off x="2366" y="1767"/>
              <a:ext cx="1057" cy="900"/>
            </a:xfrm>
            <a:custGeom>
              <a:avLst/>
              <a:gdLst>
                <a:gd name="T0" fmla="*/ 455 w 1057"/>
                <a:gd name="T1" fmla="*/ 879 h 900"/>
                <a:gd name="T2" fmla="*/ 471 w 1057"/>
                <a:gd name="T3" fmla="*/ 838 h 900"/>
                <a:gd name="T4" fmla="*/ 490 w 1057"/>
                <a:gd name="T5" fmla="*/ 799 h 900"/>
                <a:gd name="T6" fmla="*/ 514 w 1057"/>
                <a:gd name="T7" fmla="*/ 762 h 900"/>
                <a:gd name="T8" fmla="*/ 541 w 1057"/>
                <a:gd name="T9" fmla="*/ 728 h 900"/>
                <a:gd name="T10" fmla="*/ 570 w 1057"/>
                <a:gd name="T11" fmla="*/ 696 h 900"/>
                <a:gd name="T12" fmla="*/ 603 w 1057"/>
                <a:gd name="T13" fmla="*/ 667 h 900"/>
                <a:gd name="T14" fmla="*/ 639 w 1057"/>
                <a:gd name="T15" fmla="*/ 642 h 900"/>
                <a:gd name="T16" fmla="*/ 676 w 1057"/>
                <a:gd name="T17" fmla="*/ 621 h 900"/>
                <a:gd name="T18" fmla="*/ 713 w 1057"/>
                <a:gd name="T19" fmla="*/ 605 h 900"/>
                <a:gd name="T20" fmla="*/ 753 w 1057"/>
                <a:gd name="T21" fmla="*/ 591 h 900"/>
                <a:gd name="T22" fmla="*/ 793 w 1057"/>
                <a:gd name="T23" fmla="*/ 581 h 900"/>
                <a:gd name="T24" fmla="*/ 834 w 1057"/>
                <a:gd name="T25" fmla="*/ 575 h 900"/>
                <a:gd name="T26" fmla="*/ 833 w 1057"/>
                <a:gd name="T27" fmla="*/ 711 h 900"/>
                <a:gd name="T28" fmla="*/ 1056 w 1057"/>
                <a:gd name="T29" fmla="*/ 374 h 900"/>
                <a:gd name="T30" fmla="*/ 818 w 1057"/>
                <a:gd name="T31" fmla="*/ 0 h 900"/>
                <a:gd name="T32" fmla="*/ 819 w 1057"/>
                <a:gd name="T33" fmla="*/ 137 h 900"/>
                <a:gd name="T34" fmla="*/ 757 w 1057"/>
                <a:gd name="T35" fmla="*/ 143 h 900"/>
                <a:gd name="T36" fmla="*/ 694 w 1057"/>
                <a:gd name="T37" fmla="*/ 154 h 900"/>
                <a:gd name="T38" fmla="*/ 634 w 1057"/>
                <a:gd name="T39" fmla="*/ 168 h 900"/>
                <a:gd name="T40" fmla="*/ 574 w 1057"/>
                <a:gd name="T41" fmla="*/ 188 h 900"/>
                <a:gd name="T42" fmla="*/ 516 w 1057"/>
                <a:gd name="T43" fmla="*/ 211 h 900"/>
                <a:gd name="T44" fmla="*/ 460 w 1057"/>
                <a:gd name="T45" fmla="*/ 238 h 900"/>
                <a:gd name="T46" fmla="*/ 405 w 1057"/>
                <a:gd name="T47" fmla="*/ 270 h 900"/>
                <a:gd name="T48" fmla="*/ 352 w 1057"/>
                <a:gd name="T49" fmla="*/ 306 h 900"/>
                <a:gd name="T50" fmla="*/ 302 w 1057"/>
                <a:gd name="T51" fmla="*/ 346 h 900"/>
                <a:gd name="T52" fmla="*/ 255 w 1057"/>
                <a:gd name="T53" fmla="*/ 390 h 900"/>
                <a:gd name="T54" fmla="*/ 211 w 1057"/>
                <a:gd name="T55" fmla="*/ 437 h 900"/>
                <a:gd name="T56" fmla="*/ 170 w 1057"/>
                <a:gd name="T57" fmla="*/ 486 h 900"/>
                <a:gd name="T58" fmla="*/ 134 w 1057"/>
                <a:gd name="T59" fmla="*/ 539 h 900"/>
                <a:gd name="T60" fmla="*/ 101 w 1057"/>
                <a:gd name="T61" fmla="*/ 595 h 900"/>
                <a:gd name="T62" fmla="*/ 72 w 1057"/>
                <a:gd name="T63" fmla="*/ 653 h 900"/>
                <a:gd name="T64" fmla="*/ 47 w 1057"/>
                <a:gd name="T65" fmla="*/ 711 h 900"/>
                <a:gd name="T66" fmla="*/ 27 w 1057"/>
                <a:gd name="T67" fmla="*/ 773 h 900"/>
                <a:gd name="T68" fmla="*/ 11 w 1057"/>
                <a:gd name="T69" fmla="*/ 835 h 900"/>
                <a:gd name="T70" fmla="*/ 0 w 1057"/>
                <a:gd name="T71" fmla="*/ 899 h 900"/>
                <a:gd name="T72" fmla="*/ 238 w 1057"/>
                <a:gd name="T73" fmla="*/ 741 h 900"/>
                <a:gd name="T74" fmla="*/ 455 w 1057"/>
                <a:gd name="T75" fmla="*/ 879 h 9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57"/>
                <a:gd name="T115" fmla="*/ 0 h 900"/>
                <a:gd name="T116" fmla="*/ 1057 w 1057"/>
                <a:gd name="T117" fmla="*/ 900 h 90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57" h="900">
                  <a:moveTo>
                    <a:pt x="455" y="879"/>
                  </a:moveTo>
                  <a:lnTo>
                    <a:pt x="471" y="838"/>
                  </a:lnTo>
                  <a:lnTo>
                    <a:pt x="490" y="799"/>
                  </a:lnTo>
                  <a:lnTo>
                    <a:pt x="514" y="762"/>
                  </a:lnTo>
                  <a:lnTo>
                    <a:pt x="541" y="728"/>
                  </a:lnTo>
                  <a:lnTo>
                    <a:pt x="570" y="696"/>
                  </a:lnTo>
                  <a:lnTo>
                    <a:pt x="603" y="667"/>
                  </a:lnTo>
                  <a:lnTo>
                    <a:pt x="639" y="642"/>
                  </a:lnTo>
                  <a:lnTo>
                    <a:pt x="676" y="621"/>
                  </a:lnTo>
                  <a:lnTo>
                    <a:pt x="713" y="605"/>
                  </a:lnTo>
                  <a:lnTo>
                    <a:pt x="753" y="591"/>
                  </a:lnTo>
                  <a:lnTo>
                    <a:pt x="793" y="581"/>
                  </a:lnTo>
                  <a:lnTo>
                    <a:pt x="834" y="575"/>
                  </a:lnTo>
                  <a:lnTo>
                    <a:pt x="833" y="711"/>
                  </a:lnTo>
                  <a:lnTo>
                    <a:pt x="1056" y="374"/>
                  </a:lnTo>
                  <a:lnTo>
                    <a:pt x="818" y="0"/>
                  </a:lnTo>
                  <a:lnTo>
                    <a:pt x="819" y="137"/>
                  </a:lnTo>
                  <a:lnTo>
                    <a:pt x="757" y="143"/>
                  </a:lnTo>
                  <a:lnTo>
                    <a:pt x="694" y="154"/>
                  </a:lnTo>
                  <a:lnTo>
                    <a:pt x="634" y="168"/>
                  </a:lnTo>
                  <a:lnTo>
                    <a:pt x="574" y="188"/>
                  </a:lnTo>
                  <a:lnTo>
                    <a:pt x="516" y="211"/>
                  </a:lnTo>
                  <a:lnTo>
                    <a:pt x="460" y="238"/>
                  </a:lnTo>
                  <a:lnTo>
                    <a:pt x="405" y="270"/>
                  </a:lnTo>
                  <a:lnTo>
                    <a:pt x="352" y="306"/>
                  </a:lnTo>
                  <a:lnTo>
                    <a:pt x="302" y="346"/>
                  </a:lnTo>
                  <a:lnTo>
                    <a:pt x="255" y="390"/>
                  </a:lnTo>
                  <a:lnTo>
                    <a:pt x="211" y="437"/>
                  </a:lnTo>
                  <a:lnTo>
                    <a:pt x="170" y="486"/>
                  </a:lnTo>
                  <a:lnTo>
                    <a:pt x="134" y="539"/>
                  </a:lnTo>
                  <a:lnTo>
                    <a:pt x="101" y="595"/>
                  </a:lnTo>
                  <a:lnTo>
                    <a:pt x="72" y="653"/>
                  </a:lnTo>
                  <a:lnTo>
                    <a:pt x="47" y="711"/>
                  </a:lnTo>
                  <a:lnTo>
                    <a:pt x="27" y="773"/>
                  </a:lnTo>
                  <a:lnTo>
                    <a:pt x="11" y="835"/>
                  </a:lnTo>
                  <a:lnTo>
                    <a:pt x="0" y="899"/>
                  </a:lnTo>
                  <a:lnTo>
                    <a:pt x="238" y="741"/>
                  </a:lnTo>
                  <a:lnTo>
                    <a:pt x="455" y="879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3" name="Freeform 4"/>
            <p:cNvSpPr>
              <a:spLocks/>
            </p:cNvSpPr>
            <p:nvPr/>
          </p:nvSpPr>
          <p:spPr bwMode="blackWhite">
            <a:xfrm>
              <a:off x="3073" y="2892"/>
              <a:ext cx="1033" cy="904"/>
            </a:xfrm>
            <a:custGeom>
              <a:avLst/>
              <a:gdLst>
                <a:gd name="T0" fmla="*/ 585 w 1033"/>
                <a:gd name="T1" fmla="*/ 1 h 904"/>
                <a:gd name="T2" fmla="*/ 573 w 1033"/>
                <a:gd name="T3" fmla="*/ 41 h 904"/>
                <a:gd name="T4" fmla="*/ 556 w 1033"/>
                <a:gd name="T5" fmla="*/ 78 h 904"/>
                <a:gd name="T6" fmla="*/ 537 w 1033"/>
                <a:gd name="T7" fmla="*/ 116 h 904"/>
                <a:gd name="T8" fmla="*/ 514 w 1033"/>
                <a:gd name="T9" fmla="*/ 150 h 904"/>
                <a:gd name="T10" fmla="*/ 488 w 1033"/>
                <a:gd name="T11" fmla="*/ 182 h 904"/>
                <a:gd name="T12" fmla="*/ 459 w 1033"/>
                <a:gd name="T13" fmla="*/ 212 h 904"/>
                <a:gd name="T14" fmla="*/ 427 w 1033"/>
                <a:gd name="T15" fmla="*/ 239 h 904"/>
                <a:gd name="T16" fmla="*/ 393 w 1033"/>
                <a:gd name="T17" fmla="*/ 262 h 904"/>
                <a:gd name="T18" fmla="*/ 356 w 1033"/>
                <a:gd name="T19" fmla="*/ 283 h 904"/>
                <a:gd name="T20" fmla="*/ 317 w 1033"/>
                <a:gd name="T21" fmla="*/ 301 h 904"/>
                <a:gd name="T22" fmla="*/ 277 w 1033"/>
                <a:gd name="T23" fmla="*/ 314 h 904"/>
                <a:gd name="T24" fmla="*/ 236 w 1033"/>
                <a:gd name="T25" fmla="*/ 323 h 904"/>
                <a:gd name="T26" fmla="*/ 235 w 1033"/>
                <a:gd name="T27" fmla="*/ 187 h 904"/>
                <a:gd name="T28" fmla="*/ 159 w 1033"/>
                <a:gd name="T29" fmla="*/ 298 h 904"/>
                <a:gd name="T30" fmla="*/ 80 w 1033"/>
                <a:gd name="T31" fmla="*/ 409 h 904"/>
                <a:gd name="T32" fmla="*/ 0 w 1033"/>
                <a:gd name="T33" fmla="*/ 517 h 904"/>
                <a:gd name="T34" fmla="*/ 236 w 1033"/>
                <a:gd name="T35" fmla="*/ 903 h 904"/>
                <a:gd name="T36" fmla="*/ 236 w 1033"/>
                <a:gd name="T37" fmla="*/ 766 h 904"/>
                <a:gd name="T38" fmla="*/ 295 w 1033"/>
                <a:gd name="T39" fmla="*/ 759 h 904"/>
                <a:gd name="T40" fmla="*/ 353 w 1033"/>
                <a:gd name="T41" fmla="*/ 747 h 904"/>
                <a:gd name="T42" fmla="*/ 411 w 1033"/>
                <a:gd name="T43" fmla="*/ 733 h 904"/>
                <a:gd name="T44" fmla="*/ 467 w 1033"/>
                <a:gd name="T45" fmla="*/ 713 h 904"/>
                <a:gd name="T46" fmla="*/ 522 w 1033"/>
                <a:gd name="T47" fmla="*/ 691 h 904"/>
                <a:gd name="T48" fmla="*/ 575 w 1033"/>
                <a:gd name="T49" fmla="*/ 665 h 904"/>
                <a:gd name="T50" fmla="*/ 626 w 1033"/>
                <a:gd name="T51" fmla="*/ 635 h 904"/>
                <a:gd name="T52" fmla="*/ 676 w 1033"/>
                <a:gd name="T53" fmla="*/ 601 h 904"/>
                <a:gd name="T54" fmla="*/ 724 w 1033"/>
                <a:gd name="T55" fmla="*/ 564 h 904"/>
                <a:gd name="T56" fmla="*/ 768 w 1033"/>
                <a:gd name="T57" fmla="*/ 525 h 904"/>
                <a:gd name="T58" fmla="*/ 811 w 1033"/>
                <a:gd name="T59" fmla="*/ 481 h 904"/>
                <a:gd name="T60" fmla="*/ 849 w 1033"/>
                <a:gd name="T61" fmla="*/ 435 h 904"/>
                <a:gd name="T62" fmla="*/ 884 w 1033"/>
                <a:gd name="T63" fmla="*/ 387 h 904"/>
                <a:gd name="T64" fmla="*/ 916 w 1033"/>
                <a:gd name="T65" fmla="*/ 337 h 904"/>
                <a:gd name="T66" fmla="*/ 945 w 1033"/>
                <a:gd name="T67" fmla="*/ 284 h 904"/>
                <a:gd name="T68" fmla="*/ 970 w 1033"/>
                <a:gd name="T69" fmla="*/ 231 h 904"/>
                <a:gd name="T70" fmla="*/ 991 w 1033"/>
                <a:gd name="T71" fmla="*/ 174 h 904"/>
                <a:gd name="T72" fmla="*/ 1009 w 1033"/>
                <a:gd name="T73" fmla="*/ 117 h 904"/>
                <a:gd name="T74" fmla="*/ 1023 w 1033"/>
                <a:gd name="T75" fmla="*/ 58 h 904"/>
                <a:gd name="T76" fmla="*/ 1032 w 1033"/>
                <a:gd name="T77" fmla="*/ 0 h 904"/>
                <a:gd name="T78" fmla="*/ 812 w 1033"/>
                <a:gd name="T79" fmla="*/ 132 h 904"/>
                <a:gd name="T80" fmla="*/ 585 w 1033"/>
                <a:gd name="T81" fmla="*/ 1 h 90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033"/>
                <a:gd name="T124" fmla="*/ 0 h 904"/>
                <a:gd name="T125" fmla="*/ 1033 w 1033"/>
                <a:gd name="T126" fmla="*/ 904 h 904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033" h="904">
                  <a:moveTo>
                    <a:pt x="585" y="1"/>
                  </a:moveTo>
                  <a:lnTo>
                    <a:pt x="573" y="41"/>
                  </a:lnTo>
                  <a:lnTo>
                    <a:pt x="556" y="78"/>
                  </a:lnTo>
                  <a:lnTo>
                    <a:pt x="537" y="116"/>
                  </a:lnTo>
                  <a:lnTo>
                    <a:pt x="514" y="150"/>
                  </a:lnTo>
                  <a:lnTo>
                    <a:pt x="488" y="182"/>
                  </a:lnTo>
                  <a:lnTo>
                    <a:pt x="459" y="212"/>
                  </a:lnTo>
                  <a:lnTo>
                    <a:pt x="427" y="239"/>
                  </a:lnTo>
                  <a:lnTo>
                    <a:pt x="393" y="262"/>
                  </a:lnTo>
                  <a:lnTo>
                    <a:pt x="356" y="283"/>
                  </a:lnTo>
                  <a:lnTo>
                    <a:pt x="317" y="301"/>
                  </a:lnTo>
                  <a:lnTo>
                    <a:pt x="277" y="314"/>
                  </a:lnTo>
                  <a:lnTo>
                    <a:pt x="236" y="323"/>
                  </a:lnTo>
                  <a:lnTo>
                    <a:pt x="235" y="187"/>
                  </a:lnTo>
                  <a:lnTo>
                    <a:pt x="159" y="298"/>
                  </a:lnTo>
                  <a:lnTo>
                    <a:pt x="80" y="409"/>
                  </a:lnTo>
                  <a:lnTo>
                    <a:pt x="0" y="517"/>
                  </a:lnTo>
                  <a:lnTo>
                    <a:pt x="236" y="903"/>
                  </a:lnTo>
                  <a:lnTo>
                    <a:pt x="236" y="766"/>
                  </a:lnTo>
                  <a:lnTo>
                    <a:pt x="295" y="759"/>
                  </a:lnTo>
                  <a:lnTo>
                    <a:pt x="353" y="747"/>
                  </a:lnTo>
                  <a:lnTo>
                    <a:pt x="411" y="733"/>
                  </a:lnTo>
                  <a:lnTo>
                    <a:pt x="467" y="713"/>
                  </a:lnTo>
                  <a:lnTo>
                    <a:pt x="522" y="691"/>
                  </a:lnTo>
                  <a:lnTo>
                    <a:pt x="575" y="665"/>
                  </a:lnTo>
                  <a:lnTo>
                    <a:pt x="626" y="635"/>
                  </a:lnTo>
                  <a:lnTo>
                    <a:pt x="676" y="601"/>
                  </a:lnTo>
                  <a:lnTo>
                    <a:pt x="724" y="564"/>
                  </a:lnTo>
                  <a:lnTo>
                    <a:pt x="768" y="525"/>
                  </a:lnTo>
                  <a:lnTo>
                    <a:pt x="811" y="481"/>
                  </a:lnTo>
                  <a:lnTo>
                    <a:pt x="849" y="435"/>
                  </a:lnTo>
                  <a:lnTo>
                    <a:pt x="884" y="387"/>
                  </a:lnTo>
                  <a:lnTo>
                    <a:pt x="916" y="337"/>
                  </a:lnTo>
                  <a:lnTo>
                    <a:pt x="945" y="284"/>
                  </a:lnTo>
                  <a:lnTo>
                    <a:pt x="970" y="231"/>
                  </a:lnTo>
                  <a:lnTo>
                    <a:pt x="991" y="174"/>
                  </a:lnTo>
                  <a:lnTo>
                    <a:pt x="1009" y="117"/>
                  </a:lnTo>
                  <a:lnTo>
                    <a:pt x="1023" y="58"/>
                  </a:lnTo>
                  <a:lnTo>
                    <a:pt x="1032" y="0"/>
                  </a:lnTo>
                  <a:lnTo>
                    <a:pt x="812" y="132"/>
                  </a:lnTo>
                  <a:lnTo>
                    <a:pt x="585" y="1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blackWhite">
            <a:xfrm>
              <a:off x="2244" y="2563"/>
              <a:ext cx="930" cy="1075"/>
            </a:xfrm>
            <a:custGeom>
              <a:avLst/>
              <a:gdLst>
                <a:gd name="T0" fmla="*/ 929 w 930"/>
                <a:gd name="T1" fmla="*/ 645 h 1075"/>
                <a:gd name="T2" fmla="*/ 887 w 930"/>
                <a:gd name="T3" fmla="*/ 634 h 1075"/>
                <a:gd name="T4" fmla="*/ 847 w 930"/>
                <a:gd name="T5" fmla="*/ 620 h 1075"/>
                <a:gd name="T6" fmla="*/ 807 w 930"/>
                <a:gd name="T7" fmla="*/ 603 h 1075"/>
                <a:gd name="T8" fmla="*/ 771 w 930"/>
                <a:gd name="T9" fmla="*/ 582 h 1075"/>
                <a:gd name="T10" fmla="*/ 735 w 930"/>
                <a:gd name="T11" fmla="*/ 557 h 1075"/>
                <a:gd name="T12" fmla="*/ 703 w 930"/>
                <a:gd name="T13" fmla="*/ 529 h 1075"/>
                <a:gd name="T14" fmla="*/ 673 w 930"/>
                <a:gd name="T15" fmla="*/ 497 h 1075"/>
                <a:gd name="T16" fmla="*/ 648 w 930"/>
                <a:gd name="T17" fmla="*/ 465 h 1075"/>
                <a:gd name="T18" fmla="*/ 624 w 930"/>
                <a:gd name="T19" fmla="*/ 428 h 1075"/>
                <a:gd name="T20" fmla="*/ 607 w 930"/>
                <a:gd name="T21" fmla="*/ 398 h 1075"/>
                <a:gd name="T22" fmla="*/ 594 w 930"/>
                <a:gd name="T23" fmla="*/ 366 h 1075"/>
                <a:gd name="T24" fmla="*/ 583 w 930"/>
                <a:gd name="T25" fmla="*/ 332 h 1075"/>
                <a:gd name="T26" fmla="*/ 577 w 930"/>
                <a:gd name="T27" fmla="*/ 298 h 1075"/>
                <a:gd name="T28" fmla="*/ 575 w 930"/>
                <a:gd name="T29" fmla="*/ 264 h 1075"/>
                <a:gd name="T30" fmla="*/ 576 w 930"/>
                <a:gd name="T31" fmla="*/ 229 h 1075"/>
                <a:gd name="T32" fmla="*/ 748 w 930"/>
                <a:gd name="T33" fmla="*/ 229 h 1075"/>
                <a:gd name="T34" fmla="*/ 360 w 930"/>
                <a:gd name="T35" fmla="*/ 0 h 1075"/>
                <a:gd name="T36" fmla="*/ 0 w 930"/>
                <a:gd name="T37" fmla="*/ 236 h 1075"/>
                <a:gd name="T38" fmla="*/ 136 w 930"/>
                <a:gd name="T39" fmla="*/ 237 h 1075"/>
                <a:gd name="T40" fmla="*/ 141 w 930"/>
                <a:gd name="T41" fmla="*/ 299 h 1075"/>
                <a:gd name="T42" fmla="*/ 150 w 930"/>
                <a:gd name="T43" fmla="*/ 362 h 1075"/>
                <a:gd name="T44" fmla="*/ 165 w 930"/>
                <a:gd name="T45" fmla="*/ 422 h 1075"/>
                <a:gd name="T46" fmla="*/ 182 w 930"/>
                <a:gd name="T47" fmla="*/ 483 h 1075"/>
                <a:gd name="T48" fmla="*/ 204 w 930"/>
                <a:gd name="T49" fmla="*/ 541 h 1075"/>
                <a:gd name="T50" fmla="*/ 231 w 930"/>
                <a:gd name="T51" fmla="*/ 598 h 1075"/>
                <a:gd name="T52" fmla="*/ 262 w 930"/>
                <a:gd name="T53" fmla="*/ 653 h 1075"/>
                <a:gd name="T54" fmla="*/ 296 w 930"/>
                <a:gd name="T55" fmla="*/ 704 h 1075"/>
                <a:gd name="T56" fmla="*/ 333 w 930"/>
                <a:gd name="T57" fmla="*/ 752 h 1075"/>
                <a:gd name="T58" fmla="*/ 374 w 930"/>
                <a:gd name="T59" fmla="*/ 797 h 1075"/>
                <a:gd name="T60" fmla="*/ 419 w 930"/>
                <a:gd name="T61" fmla="*/ 841 h 1075"/>
                <a:gd name="T62" fmla="*/ 465 w 930"/>
                <a:gd name="T63" fmla="*/ 880 h 1075"/>
                <a:gd name="T64" fmla="*/ 514 w 930"/>
                <a:gd name="T65" fmla="*/ 917 h 1075"/>
                <a:gd name="T66" fmla="*/ 566 w 930"/>
                <a:gd name="T67" fmla="*/ 951 h 1075"/>
                <a:gd name="T68" fmla="*/ 620 w 930"/>
                <a:gd name="T69" fmla="*/ 980 h 1075"/>
                <a:gd name="T70" fmla="*/ 675 w 930"/>
                <a:gd name="T71" fmla="*/ 1007 h 1075"/>
                <a:gd name="T72" fmla="*/ 732 w 930"/>
                <a:gd name="T73" fmla="*/ 1029 h 1075"/>
                <a:gd name="T74" fmla="*/ 790 w 930"/>
                <a:gd name="T75" fmla="*/ 1048 h 1075"/>
                <a:gd name="T76" fmla="*/ 849 w 930"/>
                <a:gd name="T77" fmla="*/ 1062 h 1075"/>
                <a:gd name="T78" fmla="*/ 910 w 930"/>
                <a:gd name="T79" fmla="*/ 1074 h 1075"/>
                <a:gd name="T80" fmla="*/ 772 w 930"/>
                <a:gd name="T81" fmla="*/ 845 h 1075"/>
                <a:gd name="T82" fmla="*/ 929 w 930"/>
                <a:gd name="T83" fmla="*/ 645 h 107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930"/>
                <a:gd name="T127" fmla="*/ 0 h 1075"/>
                <a:gd name="T128" fmla="*/ 930 w 930"/>
                <a:gd name="T129" fmla="*/ 1075 h 107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930" h="1075">
                  <a:moveTo>
                    <a:pt x="929" y="645"/>
                  </a:moveTo>
                  <a:lnTo>
                    <a:pt x="887" y="634"/>
                  </a:lnTo>
                  <a:lnTo>
                    <a:pt x="847" y="620"/>
                  </a:lnTo>
                  <a:lnTo>
                    <a:pt x="807" y="603"/>
                  </a:lnTo>
                  <a:lnTo>
                    <a:pt x="771" y="582"/>
                  </a:lnTo>
                  <a:lnTo>
                    <a:pt x="735" y="557"/>
                  </a:lnTo>
                  <a:lnTo>
                    <a:pt x="703" y="529"/>
                  </a:lnTo>
                  <a:lnTo>
                    <a:pt x="673" y="497"/>
                  </a:lnTo>
                  <a:lnTo>
                    <a:pt x="648" y="465"/>
                  </a:lnTo>
                  <a:lnTo>
                    <a:pt x="624" y="428"/>
                  </a:lnTo>
                  <a:lnTo>
                    <a:pt x="607" y="398"/>
                  </a:lnTo>
                  <a:lnTo>
                    <a:pt x="594" y="366"/>
                  </a:lnTo>
                  <a:lnTo>
                    <a:pt x="583" y="332"/>
                  </a:lnTo>
                  <a:lnTo>
                    <a:pt x="577" y="298"/>
                  </a:lnTo>
                  <a:lnTo>
                    <a:pt x="575" y="264"/>
                  </a:lnTo>
                  <a:lnTo>
                    <a:pt x="576" y="229"/>
                  </a:lnTo>
                  <a:lnTo>
                    <a:pt x="748" y="229"/>
                  </a:lnTo>
                  <a:lnTo>
                    <a:pt x="360" y="0"/>
                  </a:lnTo>
                  <a:lnTo>
                    <a:pt x="0" y="236"/>
                  </a:lnTo>
                  <a:lnTo>
                    <a:pt x="136" y="237"/>
                  </a:lnTo>
                  <a:lnTo>
                    <a:pt x="141" y="299"/>
                  </a:lnTo>
                  <a:lnTo>
                    <a:pt x="150" y="362"/>
                  </a:lnTo>
                  <a:lnTo>
                    <a:pt x="165" y="422"/>
                  </a:lnTo>
                  <a:lnTo>
                    <a:pt x="182" y="483"/>
                  </a:lnTo>
                  <a:lnTo>
                    <a:pt x="204" y="541"/>
                  </a:lnTo>
                  <a:lnTo>
                    <a:pt x="231" y="598"/>
                  </a:lnTo>
                  <a:lnTo>
                    <a:pt x="262" y="653"/>
                  </a:lnTo>
                  <a:lnTo>
                    <a:pt x="296" y="704"/>
                  </a:lnTo>
                  <a:lnTo>
                    <a:pt x="333" y="752"/>
                  </a:lnTo>
                  <a:lnTo>
                    <a:pt x="374" y="797"/>
                  </a:lnTo>
                  <a:lnTo>
                    <a:pt x="419" y="841"/>
                  </a:lnTo>
                  <a:lnTo>
                    <a:pt x="465" y="880"/>
                  </a:lnTo>
                  <a:lnTo>
                    <a:pt x="514" y="917"/>
                  </a:lnTo>
                  <a:lnTo>
                    <a:pt x="566" y="951"/>
                  </a:lnTo>
                  <a:lnTo>
                    <a:pt x="620" y="980"/>
                  </a:lnTo>
                  <a:lnTo>
                    <a:pt x="675" y="1007"/>
                  </a:lnTo>
                  <a:lnTo>
                    <a:pt x="732" y="1029"/>
                  </a:lnTo>
                  <a:lnTo>
                    <a:pt x="790" y="1048"/>
                  </a:lnTo>
                  <a:lnTo>
                    <a:pt x="849" y="1062"/>
                  </a:lnTo>
                  <a:lnTo>
                    <a:pt x="910" y="1074"/>
                  </a:lnTo>
                  <a:lnTo>
                    <a:pt x="772" y="845"/>
                  </a:lnTo>
                  <a:lnTo>
                    <a:pt x="929" y="645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" name="Freeform 6"/>
            <p:cNvSpPr>
              <a:spLocks/>
            </p:cNvSpPr>
            <p:nvPr/>
          </p:nvSpPr>
          <p:spPr bwMode="blackWhite">
            <a:xfrm>
              <a:off x="3330" y="1909"/>
              <a:ext cx="943" cy="1065"/>
            </a:xfrm>
            <a:custGeom>
              <a:avLst/>
              <a:gdLst>
                <a:gd name="T0" fmla="*/ 554 w 943"/>
                <a:gd name="T1" fmla="*/ 1064 h 1065"/>
                <a:gd name="T2" fmla="*/ 942 w 943"/>
                <a:gd name="T3" fmla="*/ 840 h 1065"/>
                <a:gd name="T4" fmla="*/ 781 w 943"/>
                <a:gd name="T5" fmla="*/ 840 h 1065"/>
                <a:gd name="T6" fmla="*/ 776 w 943"/>
                <a:gd name="T7" fmla="*/ 778 h 1065"/>
                <a:gd name="T8" fmla="*/ 767 w 943"/>
                <a:gd name="T9" fmla="*/ 716 h 1065"/>
                <a:gd name="T10" fmla="*/ 754 w 943"/>
                <a:gd name="T11" fmla="*/ 655 h 1065"/>
                <a:gd name="T12" fmla="*/ 737 w 943"/>
                <a:gd name="T13" fmla="*/ 595 h 1065"/>
                <a:gd name="T14" fmla="*/ 714 w 943"/>
                <a:gd name="T15" fmla="*/ 536 h 1065"/>
                <a:gd name="T16" fmla="*/ 688 w 943"/>
                <a:gd name="T17" fmla="*/ 480 h 1065"/>
                <a:gd name="T18" fmla="*/ 658 w 943"/>
                <a:gd name="T19" fmla="*/ 425 h 1065"/>
                <a:gd name="T20" fmla="*/ 624 w 943"/>
                <a:gd name="T21" fmla="*/ 372 h 1065"/>
                <a:gd name="T22" fmla="*/ 586 w 943"/>
                <a:gd name="T23" fmla="*/ 323 h 1065"/>
                <a:gd name="T24" fmla="*/ 547 w 943"/>
                <a:gd name="T25" fmla="*/ 275 h 1065"/>
                <a:gd name="T26" fmla="*/ 502 w 943"/>
                <a:gd name="T27" fmla="*/ 232 h 1065"/>
                <a:gd name="T28" fmla="*/ 455 w 943"/>
                <a:gd name="T29" fmla="*/ 191 h 1065"/>
                <a:gd name="T30" fmla="*/ 405 w 943"/>
                <a:gd name="T31" fmla="*/ 153 h 1065"/>
                <a:gd name="T32" fmla="*/ 352 w 943"/>
                <a:gd name="T33" fmla="*/ 120 h 1065"/>
                <a:gd name="T34" fmla="*/ 298 w 943"/>
                <a:gd name="T35" fmla="*/ 89 h 1065"/>
                <a:gd name="T36" fmla="*/ 241 w 943"/>
                <a:gd name="T37" fmla="*/ 63 h 1065"/>
                <a:gd name="T38" fmla="*/ 182 w 943"/>
                <a:gd name="T39" fmla="*/ 41 h 1065"/>
                <a:gd name="T40" fmla="*/ 122 w 943"/>
                <a:gd name="T41" fmla="*/ 23 h 1065"/>
                <a:gd name="T42" fmla="*/ 61 w 943"/>
                <a:gd name="T43" fmla="*/ 9 h 1065"/>
                <a:gd name="T44" fmla="*/ 0 w 943"/>
                <a:gd name="T45" fmla="*/ 0 h 1065"/>
                <a:gd name="T46" fmla="*/ 137 w 943"/>
                <a:gd name="T47" fmla="*/ 226 h 1065"/>
                <a:gd name="T48" fmla="*/ 5 w 943"/>
                <a:gd name="T49" fmla="*/ 451 h 1065"/>
                <a:gd name="T50" fmla="*/ 48 w 943"/>
                <a:gd name="T51" fmla="*/ 465 h 1065"/>
                <a:gd name="T52" fmla="*/ 90 w 943"/>
                <a:gd name="T53" fmla="*/ 483 h 1065"/>
                <a:gd name="T54" fmla="*/ 130 w 943"/>
                <a:gd name="T55" fmla="*/ 505 h 1065"/>
                <a:gd name="T56" fmla="*/ 168 w 943"/>
                <a:gd name="T57" fmla="*/ 531 h 1065"/>
                <a:gd name="T58" fmla="*/ 202 w 943"/>
                <a:gd name="T59" fmla="*/ 561 h 1065"/>
                <a:gd name="T60" fmla="*/ 233 w 943"/>
                <a:gd name="T61" fmla="*/ 594 h 1065"/>
                <a:gd name="T62" fmla="*/ 262 w 943"/>
                <a:gd name="T63" fmla="*/ 629 h 1065"/>
                <a:gd name="T64" fmla="*/ 285 w 943"/>
                <a:gd name="T65" fmla="*/ 668 h 1065"/>
                <a:gd name="T66" fmla="*/ 305 w 943"/>
                <a:gd name="T67" fmla="*/ 709 h 1065"/>
                <a:gd name="T68" fmla="*/ 321 w 943"/>
                <a:gd name="T69" fmla="*/ 751 h 1065"/>
                <a:gd name="T70" fmla="*/ 333 w 943"/>
                <a:gd name="T71" fmla="*/ 795 h 1065"/>
                <a:gd name="T72" fmla="*/ 340 w 943"/>
                <a:gd name="T73" fmla="*/ 840 h 1065"/>
                <a:gd name="T74" fmla="*/ 188 w 943"/>
                <a:gd name="T75" fmla="*/ 841 h 1065"/>
                <a:gd name="T76" fmla="*/ 554 w 943"/>
                <a:gd name="T77" fmla="*/ 1064 h 10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943"/>
                <a:gd name="T118" fmla="*/ 0 h 1065"/>
                <a:gd name="T119" fmla="*/ 943 w 943"/>
                <a:gd name="T120" fmla="*/ 1065 h 10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943" h="1065">
                  <a:moveTo>
                    <a:pt x="554" y="1064"/>
                  </a:moveTo>
                  <a:lnTo>
                    <a:pt x="942" y="840"/>
                  </a:lnTo>
                  <a:lnTo>
                    <a:pt x="781" y="840"/>
                  </a:lnTo>
                  <a:lnTo>
                    <a:pt x="776" y="778"/>
                  </a:lnTo>
                  <a:lnTo>
                    <a:pt x="767" y="716"/>
                  </a:lnTo>
                  <a:lnTo>
                    <a:pt x="754" y="655"/>
                  </a:lnTo>
                  <a:lnTo>
                    <a:pt x="737" y="595"/>
                  </a:lnTo>
                  <a:lnTo>
                    <a:pt x="714" y="536"/>
                  </a:lnTo>
                  <a:lnTo>
                    <a:pt x="688" y="480"/>
                  </a:lnTo>
                  <a:lnTo>
                    <a:pt x="658" y="425"/>
                  </a:lnTo>
                  <a:lnTo>
                    <a:pt x="624" y="372"/>
                  </a:lnTo>
                  <a:lnTo>
                    <a:pt x="586" y="323"/>
                  </a:lnTo>
                  <a:lnTo>
                    <a:pt x="547" y="275"/>
                  </a:lnTo>
                  <a:lnTo>
                    <a:pt x="502" y="232"/>
                  </a:lnTo>
                  <a:lnTo>
                    <a:pt x="455" y="191"/>
                  </a:lnTo>
                  <a:lnTo>
                    <a:pt x="405" y="153"/>
                  </a:lnTo>
                  <a:lnTo>
                    <a:pt x="352" y="120"/>
                  </a:lnTo>
                  <a:lnTo>
                    <a:pt x="298" y="89"/>
                  </a:lnTo>
                  <a:lnTo>
                    <a:pt x="241" y="63"/>
                  </a:lnTo>
                  <a:lnTo>
                    <a:pt x="182" y="41"/>
                  </a:lnTo>
                  <a:lnTo>
                    <a:pt x="122" y="23"/>
                  </a:lnTo>
                  <a:lnTo>
                    <a:pt x="61" y="9"/>
                  </a:lnTo>
                  <a:lnTo>
                    <a:pt x="0" y="0"/>
                  </a:lnTo>
                  <a:lnTo>
                    <a:pt x="137" y="226"/>
                  </a:lnTo>
                  <a:lnTo>
                    <a:pt x="5" y="451"/>
                  </a:lnTo>
                  <a:lnTo>
                    <a:pt x="48" y="465"/>
                  </a:lnTo>
                  <a:lnTo>
                    <a:pt x="90" y="483"/>
                  </a:lnTo>
                  <a:lnTo>
                    <a:pt x="130" y="505"/>
                  </a:lnTo>
                  <a:lnTo>
                    <a:pt x="168" y="531"/>
                  </a:lnTo>
                  <a:lnTo>
                    <a:pt x="202" y="561"/>
                  </a:lnTo>
                  <a:lnTo>
                    <a:pt x="233" y="594"/>
                  </a:lnTo>
                  <a:lnTo>
                    <a:pt x="262" y="629"/>
                  </a:lnTo>
                  <a:lnTo>
                    <a:pt x="285" y="668"/>
                  </a:lnTo>
                  <a:lnTo>
                    <a:pt x="305" y="709"/>
                  </a:lnTo>
                  <a:lnTo>
                    <a:pt x="321" y="751"/>
                  </a:lnTo>
                  <a:lnTo>
                    <a:pt x="333" y="795"/>
                  </a:lnTo>
                  <a:lnTo>
                    <a:pt x="340" y="840"/>
                  </a:lnTo>
                  <a:lnTo>
                    <a:pt x="188" y="841"/>
                  </a:lnTo>
                  <a:lnTo>
                    <a:pt x="554" y="1064"/>
                  </a:lnTo>
                </a:path>
              </a:pathLst>
            </a:custGeom>
            <a:grpFill/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 lIns="36000" tIns="36000" rIns="36000" bIns="36000"/>
            <a:lstStyle/>
            <a:p>
              <a:pPr>
                <a:defRPr/>
              </a:pPr>
              <a:endParaRPr 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3" name="Rounded Rectangle 2"/>
          <p:cNvSpPr/>
          <p:nvPr/>
        </p:nvSpPr>
        <p:spPr>
          <a:xfrm>
            <a:off x="8172450" y="3652676"/>
            <a:ext cx="1409700" cy="732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Expected Cumulative Default Rate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5552477" y="475219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Accordion</a:t>
            </a:r>
            <a:endParaRPr lang="en-US" sz="1200" dirty="0">
              <a:latin typeface="+mn-lt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1933575" y="3798460"/>
            <a:ext cx="685800" cy="389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Monthly</a:t>
            </a:r>
            <a:endParaRPr lang="en-US" sz="900" dirty="0"/>
          </a:p>
        </p:txBody>
      </p:sp>
      <p:sp>
        <p:nvSpPr>
          <p:cNvPr id="30" name="Right Arrow 29"/>
          <p:cNvSpPr/>
          <p:nvPr/>
        </p:nvSpPr>
        <p:spPr>
          <a:xfrm>
            <a:off x="4486275" y="3798460"/>
            <a:ext cx="685800" cy="389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Inputs</a:t>
            </a:r>
            <a:endParaRPr lang="en-US" sz="1000" dirty="0"/>
          </a:p>
        </p:txBody>
      </p:sp>
      <p:sp>
        <p:nvSpPr>
          <p:cNvPr id="31" name="Right Arrow 30"/>
          <p:cNvSpPr/>
          <p:nvPr/>
        </p:nvSpPr>
        <p:spPr>
          <a:xfrm>
            <a:off x="7277100" y="3798460"/>
            <a:ext cx="685800" cy="3891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Outputs</a:t>
            </a:r>
            <a:endParaRPr lang="en-US" sz="900" dirty="0"/>
          </a:p>
        </p:txBody>
      </p:sp>
      <p:sp>
        <p:nvSpPr>
          <p:cNvPr id="32" name="Rectangle 31"/>
          <p:cNvSpPr/>
          <p:nvPr/>
        </p:nvSpPr>
        <p:spPr>
          <a:xfrm>
            <a:off x="476250" y="5004277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All FNMA &amp; FHLMC 30-year conventional loan level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6111" y="2117454"/>
            <a:ext cx="11309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Re-organize the loan data according to the origination month</a:t>
            </a:r>
            <a:endParaRPr lang="en-US" sz="1200" dirty="0"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07092" y="5013802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All loan data in a given origination month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3868606" y="1147958"/>
            <a:ext cx="2780810" cy="2123658"/>
            <a:chOff x="3868606" y="1005083"/>
            <a:chExt cx="2780810" cy="2123658"/>
          </a:xfrm>
        </p:grpSpPr>
        <p:sp>
          <p:nvSpPr>
            <p:cNvPr id="36" name="TextBox 35"/>
            <p:cNvSpPr txBox="1"/>
            <p:nvPr/>
          </p:nvSpPr>
          <p:spPr>
            <a:xfrm>
              <a:off x="3868606" y="1005083"/>
              <a:ext cx="1484444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r>
                <a:rPr lang="en-US" sz="1200" dirty="0" err="1">
                  <a:latin typeface="+mn-lt"/>
                </a:rPr>
                <a:t>loanID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firstPaymtDt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 smtClean="0">
                  <a:latin typeface="+mn-lt"/>
                </a:rPr>
                <a:t>origNoteRate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origLoanAmt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origTerm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origPayment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origLTV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origValue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origDTI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 smtClean="0">
                  <a:latin typeface="+mn-lt"/>
                </a:rPr>
                <a:t>origFICO</a:t>
              </a:r>
              <a:endParaRPr lang="en-US" sz="1200" dirty="0">
                <a:latin typeface="+mn-lt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02696" y="1005083"/>
              <a:ext cx="154672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pctMtgIns</a:t>
              </a:r>
              <a:endParaRPr lang="en-US" sz="1200" dirty="0"/>
            </a:p>
            <a:p>
              <a:r>
                <a:rPr lang="en-US" sz="1200" dirty="0" err="1" smtClean="0"/>
                <a:t>firstTimeBuyer</a:t>
              </a:r>
              <a:endParaRPr lang="en-US" sz="1200" dirty="0" smtClean="0">
                <a:latin typeface="+mn-lt"/>
              </a:endParaRPr>
            </a:p>
            <a:p>
              <a:r>
                <a:rPr lang="en-US" sz="1200" dirty="0" err="1" smtClean="0">
                  <a:latin typeface="+mn-lt"/>
                </a:rPr>
                <a:t>numBorrowers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numUnits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loanPurpose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propertyType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occupancyStatus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loanType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docType</a:t>
              </a:r>
              <a:endParaRPr lang="en-US" sz="1200" dirty="0">
                <a:latin typeface="+mn-lt"/>
              </a:endParaRPr>
            </a:p>
            <a:p>
              <a:r>
                <a:rPr lang="en-US" sz="1200" dirty="0" err="1">
                  <a:latin typeface="+mn-lt"/>
                </a:rPr>
                <a:t>origServicer</a:t>
              </a:r>
              <a:endParaRPr lang="en-US" sz="1200" dirty="0">
                <a:latin typeface="+mn-lt"/>
              </a:endParaRPr>
            </a:p>
            <a:p>
              <a:endParaRPr lang="en-US" sz="1200" dirty="0">
                <a:latin typeface="+mn-lt"/>
              </a:endParaRPr>
            </a:p>
          </p:txBody>
        </p:sp>
      </p:grpSp>
      <p:sp>
        <p:nvSpPr>
          <p:cNvPr id="40" name="Left Brace 39"/>
          <p:cNvSpPr/>
          <p:nvPr/>
        </p:nvSpPr>
        <p:spPr>
          <a:xfrm>
            <a:off x="3702441" y="1114425"/>
            <a:ext cx="133350" cy="19907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 rot="16200000">
            <a:off x="2968584" y="2056342"/>
            <a:ext cx="1201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Inputs</a:t>
            </a:r>
            <a:endParaRPr lang="en-US" sz="1400" dirty="0">
              <a:latin typeface="+mn-lt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95327" y="5029190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Expected</a:t>
            </a:r>
          </a:p>
          <a:p>
            <a:pPr algn="ctr"/>
            <a:r>
              <a:rPr lang="en-US" sz="1400" dirty="0" smtClean="0"/>
              <a:t>Default Rate Model</a:t>
            </a:r>
          </a:p>
          <a:p>
            <a:pPr algn="ctr"/>
            <a:r>
              <a:rPr lang="en-US" sz="1400" dirty="0" smtClean="0"/>
              <a:t>Calculation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10550" y="5029190"/>
            <a:ext cx="1333500" cy="15108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Result series for </a:t>
            </a:r>
            <a:r>
              <a:rPr lang="en-US" sz="1400" dirty="0"/>
              <a:t>the sample population over 3 </a:t>
            </a:r>
            <a:r>
              <a:rPr lang="en-US" sz="1400" dirty="0" smtClean="0"/>
              <a:t>years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0882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Underwriting Criteria</a:t>
            </a:r>
            <a:endParaRPr lang="en-US" sz="1200" dirty="0"/>
          </a:p>
        </p:txBody>
      </p:sp>
      <p:sp>
        <p:nvSpPr>
          <p:cNvPr id="46" name="Rectangle 45"/>
          <p:cNvSpPr/>
          <p:nvPr/>
        </p:nvSpPr>
        <p:spPr>
          <a:xfrm>
            <a:off x="320040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Cover the distribution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5339117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Many Factors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8054340" y="6650278"/>
            <a:ext cx="1645920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Amount of Risk</a:t>
            </a:r>
            <a:endParaRPr lang="en-US" sz="1200" dirty="0"/>
          </a:p>
        </p:txBody>
      </p:sp>
      <p:pic>
        <p:nvPicPr>
          <p:cNvPr id="5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2198866"/>
            <a:ext cx="2339340" cy="1058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49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/>
      <p:bldP spid="29" grpId="0" animBg="1"/>
      <p:bldP spid="30" grpId="0" animBg="1"/>
      <p:bldP spid="31" grpId="0" animBg="1"/>
      <p:bldP spid="33" grpId="0"/>
      <p:bldP spid="34" grpId="0" animBg="1"/>
      <p:bldP spid="40" grpId="0" animBg="1"/>
      <p:bldP spid="41" grpId="0"/>
      <p:bldP spid="43" grpId="0" animBg="1"/>
      <p:bldP spid="44" grpId="0" animBg="1"/>
      <p:bldP spid="45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198" y="236009"/>
            <a:ext cx="6806130" cy="677966"/>
          </a:xfrm>
        </p:spPr>
        <p:txBody>
          <a:bodyPr/>
          <a:lstStyle/>
          <a:p>
            <a:r>
              <a:rPr lang="en-US" dirty="0" smtClean="0"/>
              <a:t>Calculating Mortgage Credit Availability</a:t>
            </a:r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5375" y="1392138"/>
            <a:ext cx="7924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86125" y="1238250"/>
            <a:ext cx="40767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n-lt"/>
              </a:rPr>
              <a:t>Macroeconomic Scenario Assumptions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300" y="2276973"/>
            <a:ext cx="1409700" cy="732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Expected Cumulative Default Rate</a:t>
            </a:r>
            <a:endParaRPr lang="en-US" sz="1400" dirty="0"/>
          </a:p>
        </p:txBody>
      </p:sp>
      <p:sp>
        <p:nvSpPr>
          <p:cNvPr id="49" name="Right Arrow 48"/>
          <p:cNvSpPr/>
          <p:nvPr/>
        </p:nvSpPr>
        <p:spPr>
          <a:xfrm>
            <a:off x="2162174" y="2414426"/>
            <a:ext cx="771525" cy="457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Outputs</a:t>
            </a:r>
            <a:endParaRPr lang="en-US" sz="1000" dirty="0"/>
          </a:p>
        </p:txBody>
      </p:sp>
      <p:graphicFrame>
        <p:nvGraphicFramePr>
          <p:cNvPr id="51" name="Chart 50"/>
          <p:cNvGraphicFramePr/>
          <p:nvPr>
            <p:extLst>
              <p:ext uri="{D42A27DB-BD31-4B8C-83A1-F6EECF244321}">
                <p14:modId xmlns:p14="http://schemas.microsoft.com/office/powerpoint/2010/main" val="3198061995"/>
              </p:ext>
            </p:extLst>
          </p:nvPr>
        </p:nvGraphicFramePr>
        <p:xfrm>
          <a:off x="5761656" y="4400750"/>
          <a:ext cx="3278538" cy="252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71434"/>
              </p:ext>
            </p:extLst>
          </p:nvPr>
        </p:nvGraphicFramePr>
        <p:xfrm>
          <a:off x="2791794" y="3317875"/>
          <a:ext cx="6038850" cy="944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56135"/>
                <a:gridCol w="2638227"/>
                <a:gridCol w="2444488"/>
              </a:tblGrid>
              <a:tr h="231570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effectLst/>
                        </a:rPr>
                        <a:t>Environment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effectLst/>
                        </a:rPr>
                        <a:t>Mortgage Rates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 smtClean="0">
                          <a:effectLst/>
                        </a:rPr>
                        <a:t>HPI </a:t>
                      </a:r>
                      <a:endParaRPr lang="en-US" sz="1100" dirty="0"/>
                    </a:p>
                  </a:txBody>
                  <a:tcPr/>
                </a:tc>
              </a:tr>
              <a:tr h="231570"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effectLst/>
                        </a:rPr>
                        <a:t>Normal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effectLst/>
                        </a:rPr>
                        <a:t>No changes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effectLst/>
                        </a:rPr>
                        <a:t>Increases of 3% per year for 3 years</a:t>
                      </a:r>
                      <a:endParaRPr lang="en-US" sz="1100" dirty="0"/>
                    </a:p>
                  </a:txBody>
                  <a:tcPr/>
                </a:tc>
              </a:tr>
              <a:tr h="381410"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Stressed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baseline="0" dirty="0" smtClean="0">
                          <a:effectLst/>
                        </a:rPr>
                        <a:t>1 year:   Unchanged,</a:t>
                      </a:r>
                    </a:p>
                    <a:p>
                      <a:r>
                        <a:rPr lang="en-US" sz="1100" kern="1200" dirty="0" smtClean="0">
                          <a:effectLst/>
                        </a:rPr>
                        <a:t>2 years: Declines of 25 bps per year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kern="1200" dirty="0" smtClean="0">
                          <a:effectLst/>
                        </a:rPr>
                        <a:t>2 years: Declines of 13% per year </a:t>
                      </a:r>
                    </a:p>
                    <a:p>
                      <a:r>
                        <a:rPr lang="en-US" sz="1100" kern="1200" dirty="0" smtClean="0">
                          <a:effectLst/>
                        </a:rPr>
                        <a:t>1</a:t>
                      </a:r>
                      <a:r>
                        <a:rPr lang="en-US" sz="1100" kern="1200" baseline="0" dirty="0" smtClean="0">
                          <a:effectLst/>
                        </a:rPr>
                        <a:t> </a:t>
                      </a:r>
                      <a:r>
                        <a:rPr lang="en-US" sz="1100" kern="1200" dirty="0" smtClean="0">
                          <a:effectLst/>
                        </a:rPr>
                        <a:t>year:</a:t>
                      </a:r>
                      <a:r>
                        <a:rPr lang="en-US" sz="1100" kern="1200" baseline="0" dirty="0" smtClean="0">
                          <a:effectLst/>
                        </a:rPr>
                        <a:t> </a:t>
                      </a:r>
                      <a:r>
                        <a:rPr lang="en-US" sz="1100" kern="1200" dirty="0" smtClean="0">
                          <a:effectLst/>
                        </a:rPr>
                        <a:t> Flat house prices</a:t>
                      </a:r>
                      <a:endParaRPr lang="en-US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00400" y="2019573"/>
            <a:ext cx="3876675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Normal Environment</a:t>
            </a:r>
            <a:endParaRPr lang="en-US" sz="1400" dirty="0"/>
          </a:p>
        </p:txBody>
      </p:sp>
      <p:sp>
        <p:nvSpPr>
          <p:cNvPr id="53" name="Rectangle 52"/>
          <p:cNvSpPr/>
          <p:nvPr/>
        </p:nvSpPr>
        <p:spPr>
          <a:xfrm>
            <a:off x="3200399" y="2643275"/>
            <a:ext cx="3876675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Stressed Environment</a:t>
            </a:r>
            <a:endParaRPr lang="en-US" sz="1400" dirty="0"/>
          </a:p>
        </p:txBody>
      </p:sp>
      <p:sp>
        <p:nvSpPr>
          <p:cNvPr id="54" name="Right Arrow 53"/>
          <p:cNvSpPr/>
          <p:nvPr/>
        </p:nvSpPr>
        <p:spPr>
          <a:xfrm>
            <a:off x="7353299" y="2420121"/>
            <a:ext cx="771525" cy="457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Assign</a:t>
            </a:r>
            <a:endParaRPr lang="en-US" sz="1000" dirty="0"/>
          </a:p>
        </p:txBody>
      </p:sp>
      <p:sp>
        <p:nvSpPr>
          <p:cNvPr id="55" name="Rectangle 54"/>
          <p:cNvSpPr/>
          <p:nvPr/>
        </p:nvSpPr>
        <p:spPr>
          <a:xfrm>
            <a:off x="8248650" y="2019573"/>
            <a:ext cx="1409701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90%</a:t>
            </a:r>
            <a:endParaRPr lang="en-US" sz="1400" dirty="0"/>
          </a:p>
        </p:txBody>
      </p:sp>
      <p:sp>
        <p:nvSpPr>
          <p:cNvPr id="56" name="Rectangle 55"/>
          <p:cNvSpPr/>
          <p:nvPr/>
        </p:nvSpPr>
        <p:spPr>
          <a:xfrm>
            <a:off x="8248649" y="2643275"/>
            <a:ext cx="1409701" cy="400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10%</a:t>
            </a:r>
            <a:endParaRPr lang="en-US" sz="1400" dirty="0"/>
          </a:p>
        </p:txBody>
      </p:sp>
      <p:graphicFrame>
        <p:nvGraphicFramePr>
          <p:cNvPr id="57" name="Chart 56"/>
          <p:cNvGraphicFramePr/>
          <p:nvPr>
            <p:extLst>
              <p:ext uri="{D42A27DB-BD31-4B8C-83A1-F6EECF244321}">
                <p14:modId xmlns:p14="http://schemas.microsoft.com/office/powerpoint/2010/main" val="3318076433"/>
              </p:ext>
            </p:extLst>
          </p:nvPr>
        </p:nvGraphicFramePr>
        <p:xfrm>
          <a:off x="2381248" y="4400750"/>
          <a:ext cx="3278538" cy="252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8" name="Rectangle 57"/>
          <p:cNvSpPr/>
          <p:nvPr/>
        </p:nvSpPr>
        <p:spPr>
          <a:xfrm>
            <a:off x="2600325" y="6911426"/>
            <a:ext cx="6353174" cy="284531"/>
          </a:xfrm>
          <a:prstGeom prst="rect">
            <a:avLst/>
          </a:prstGeom>
          <a:solidFill>
            <a:srgbClr val="2E8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</a:t>
            </a:r>
            <a:r>
              <a:rPr lang="en-US" sz="1200" dirty="0" smtClean="0"/>
              <a:t>acroeconomic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9781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623" y="246592"/>
            <a:ext cx="6806130" cy="677966"/>
          </a:xfrm>
        </p:spPr>
        <p:txBody>
          <a:bodyPr/>
          <a:lstStyle/>
          <a:p>
            <a:r>
              <a:rPr lang="en-US" dirty="0"/>
              <a:t>Expected Cumulative Default Rate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749699812"/>
              </p:ext>
            </p:extLst>
          </p:nvPr>
        </p:nvGraphicFramePr>
        <p:xfrm>
          <a:off x="655287" y="1771750"/>
          <a:ext cx="8707788" cy="39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42975" y="5905500"/>
            <a:ext cx="826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After the calculation process, we get the weighted average value of </a:t>
            </a:r>
            <a:r>
              <a:rPr lang="en-US" sz="1400" dirty="0">
                <a:latin typeface="+mn-lt"/>
              </a:rPr>
              <a:t>Expected Cumulative Default </a:t>
            </a:r>
            <a:r>
              <a:rPr lang="en-US" sz="1400" dirty="0" smtClean="0">
                <a:latin typeface="+mn-lt"/>
              </a:rPr>
              <a:t>Rate, which is the mortgage credit availability under default risk measure.</a:t>
            </a:r>
            <a:endParaRPr lang="en-US" sz="1400" dirty="0">
              <a:latin typeface="+mn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095375" y="1392138"/>
            <a:ext cx="7924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86125" y="1238250"/>
            <a:ext cx="40767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Weighted Average Expected </a:t>
            </a:r>
            <a:r>
              <a:rPr lang="en-US" sz="1400" b="1" dirty="0">
                <a:latin typeface="+mn-lt"/>
              </a:rPr>
              <a:t>Cumulative Default </a:t>
            </a:r>
            <a:r>
              <a:rPr lang="en-US" sz="1400" b="1" dirty="0" smtClean="0">
                <a:latin typeface="+mn-lt"/>
              </a:rPr>
              <a:t>Rate</a:t>
            </a:r>
            <a:endParaRPr lang="en-US" sz="1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53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623" y="246592"/>
            <a:ext cx="6806130" cy="677966"/>
          </a:xfrm>
        </p:spPr>
        <p:txBody>
          <a:bodyPr/>
          <a:lstStyle/>
          <a:p>
            <a:r>
              <a:rPr lang="en-US" dirty="0" smtClean="0"/>
              <a:t>Mortgage Credit Availability Index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095375" y="1392138"/>
            <a:ext cx="79248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86125" y="1238250"/>
            <a:ext cx="40767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Mortgage Credit Availability Index</a:t>
            </a:r>
            <a:endParaRPr lang="en-US" sz="1400" b="1" dirty="0">
              <a:latin typeface="+mn-lt"/>
            </a:endParaRPr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628208364"/>
              </p:ext>
            </p:extLst>
          </p:nvPr>
        </p:nvGraphicFramePr>
        <p:xfrm>
          <a:off x="817212" y="3705225"/>
          <a:ext cx="8707788" cy="2962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23925" y="1676400"/>
            <a:ext cx="8267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In order to make the credit availability easier for users to understand, we change this expect cumulative default rate into a single index number. The index uses 3% default rate as benchmark, and measures the shift from benchmark value. 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057398" y="2779167"/>
                <a:ext cx="6781801" cy="5102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/>
                        <m:t>𝐼𝑛𝑑𝑒𝑥</m:t>
                      </m:r>
                      <m:r>
                        <a:rPr lang="en-US" sz="1400" i="1"/>
                        <m:t>=(</m:t>
                      </m:r>
                      <m:f>
                        <m:fPr>
                          <m:ctrlPr>
                            <a:rPr lang="en-US" sz="1400" i="1"/>
                          </m:ctrlPr>
                        </m:fPr>
                        <m:num>
                          <m:r>
                            <a:rPr lang="en-US" sz="1400" i="1"/>
                            <m:t>𝐸𝑥𝑝𝑒𝑐𝑡𝑒𝑑</m:t>
                          </m:r>
                          <m:r>
                            <a:rPr lang="en-US" sz="1400" i="1"/>
                            <m:t> </m:t>
                          </m:r>
                          <m:r>
                            <a:rPr lang="en-US" sz="1400" i="1"/>
                            <m:t>𝐶𝑢𝑚𝑢𝑙𝑎𝑡𝑖𝑣𝑒</m:t>
                          </m:r>
                          <m:r>
                            <a:rPr lang="en-US" sz="1400" i="1"/>
                            <m:t> </m:t>
                          </m:r>
                          <m:r>
                            <a:rPr lang="en-US" sz="1400" i="1"/>
                            <m:t>𝐷𝑒𝑓𝑎𝑢𝑙𝑡</m:t>
                          </m:r>
                          <m:r>
                            <a:rPr lang="en-US" sz="1400" i="1"/>
                            <m:t> </m:t>
                          </m:r>
                          <m:r>
                            <a:rPr lang="en-US" sz="1400" i="1"/>
                            <m:t>𝑅𝑎𝑡𝑒</m:t>
                          </m:r>
                          <m:r>
                            <a:rPr lang="en-US" sz="1400" i="1"/>
                            <m:t>−3%</m:t>
                          </m:r>
                        </m:num>
                        <m:den>
                          <m:r>
                            <a:rPr lang="en-US" sz="1400" i="1"/>
                            <m:t>3%</m:t>
                          </m:r>
                        </m:den>
                      </m:f>
                      <m:r>
                        <a:rPr lang="en-US" sz="1400" i="1"/>
                        <m:t>+1) ×100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398" y="2779167"/>
                <a:ext cx="6781801" cy="510268"/>
              </a:xfrm>
              <a:prstGeom prst="rect">
                <a:avLst/>
              </a:prstGeom>
              <a:blipFill rotWithShape="1">
                <a:blip r:embed="rId3"/>
                <a:stretch>
                  <a:fillRect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72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Ae8W4muTkmaA6FOkUfbYg"/>
</p:tagLst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70741</TotalTime>
  <Words>665</Words>
  <Application>Microsoft Office PowerPoint</Application>
  <PresentationFormat>Custom</PresentationFormat>
  <Paragraphs>144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Commonly Cited Measures of Credit Availability</vt:lpstr>
      <vt:lpstr>Commonly Cited Measures of Credit Availability</vt:lpstr>
      <vt:lpstr>Default Risk Measure</vt:lpstr>
      <vt:lpstr>Calculating Mortgage Credit Availability</vt:lpstr>
      <vt:lpstr>Calculating Mortgage Credit Availability</vt:lpstr>
      <vt:lpstr>Expected Cumulative Default Rate </vt:lpstr>
      <vt:lpstr>Mortgage Credit Availability Index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1894</cp:revision>
  <cp:lastPrinted>2014-08-14T21:45:56Z</cp:lastPrinted>
  <dcterms:created xsi:type="dcterms:W3CDTF">2011-07-07T12:37:32Z</dcterms:created>
  <dcterms:modified xsi:type="dcterms:W3CDTF">2015-07-14T19:33:59Z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