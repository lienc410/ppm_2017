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2"/>
  </p:notesMasterIdLst>
  <p:handoutMasterIdLst>
    <p:handoutMasterId r:id="rId33"/>
  </p:handoutMasterIdLst>
  <p:sldIdLst>
    <p:sldId id="433" r:id="rId16"/>
    <p:sldId id="554" r:id="rId17"/>
    <p:sldId id="584" r:id="rId18"/>
    <p:sldId id="585" r:id="rId19"/>
    <p:sldId id="586" r:id="rId20"/>
    <p:sldId id="587" r:id="rId21"/>
    <p:sldId id="588" r:id="rId22"/>
    <p:sldId id="589" r:id="rId23"/>
    <p:sldId id="590" r:id="rId24"/>
    <p:sldId id="591" r:id="rId25"/>
    <p:sldId id="592" r:id="rId26"/>
    <p:sldId id="593" r:id="rId27"/>
    <p:sldId id="594" r:id="rId28"/>
    <p:sldId id="595" r:id="rId29"/>
    <p:sldId id="596" r:id="rId30"/>
    <p:sldId id="539" r:id="rId31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75C"/>
    <a:srgbClr val="2E8A60"/>
    <a:srgbClr val="2E398A"/>
    <a:srgbClr val="F6D6E3"/>
    <a:srgbClr val="C3EBD9"/>
    <a:srgbClr val="CDD1EF"/>
    <a:srgbClr val="996633"/>
    <a:srgbClr val="8C2B18"/>
    <a:srgbClr val="968880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25" d="100"/>
          <a:sy n="125" d="100"/>
        </p:scale>
        <p:origin x="-720" y="-234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 b="1" i="0" baseline="0" dirty="0" smtClean="0">
                <a:effectLst/>
              </a:rPr>
              <a:t>Historical Conventional </a:t>
            </a:r>
            <a:r>
              <a:rPr lang="en-US" sz="1600" b="1" i="0" baseline="0" dirty="0" err="1" smtClean="0">
                <a:effectLst/>
              </a:rPr>
              <a:t>Refi</a:t>
            </a:r>
            <a:r>
              <a:rPr lang="en-US" sz="1600" b="1" i="0" baseline="0" dirty="0" smtClean="0">
                <a:effectLst/>
              </a:rPr>
              <a:t> Index vs. FGLMC </a:t>
            </a:r>
            <a:r>
              <a:rPr lang="en-US" sz="1600" b="1" i="0" baseline="0" dirty="0" err="1" smtClean="0">
                <a:effectLst/>
              </a:rPr>
              <a:t>Refinancible</a:t>
            </a:r>
            <a:r>
              <a:rPr lang="en-US" sz="1600" b="1" i="0" baseline="0" dirty="0" smtClean="0">
                <a:effectLst/>
              </a:rPr>
              <a:t> Universe (50 </a:t>
            </a:r>
            <a:r>
              <a:rPr lang="en-US" sz="1600" b="1" i="0" baseline="0" dirty="0" err="1" smtClean="0">
                <a:effectLst/>
              </a:rPr>
              <a:t>bp</a:t>
            </a:r>
            <a:r>
              <a:rPr lang="en-US" sz="1600" b="1" i="0" baseline="0" dirty="0" smtClean="0">
                <a:effectLst/>
              </a:rPr>
              <a:t> incentive) </a:t>
            </a:r>
            <a:endParaRPr lang="en-US" sz="1600" dirty="0">
              <a:effectLst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Refinancible Percentage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182528"/>
        <c:axId val="252184064"/>
      </c:lineChart>
      <c:lineChart>
        <c:grouping val="standard"/>
        <c:varyColors val="0"/>
        <c:ser>
          <c:idx val="2"/>
          <c:order val="1"/>
          <c:tx>
            <c:v>Conventional Refi Index</c:v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208640"/>
        <c:axId val="252185984"/>
      </c:lineChart>
      <c:dateAx>
        <c:axId val="25218252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2184064"/>
        <c:crosses val="autoZero"/>
        <c:auto val="1"/>
        <c:lblOffset val="100"/>
        <c:baseTimeUnit val="days"/>
      </c:dateAx>
      <c:valAx>
        <c:axId val="25218406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b="1" i="0" baseline="0" dirty="0" err="1" smtClean="0">
                    <a:effectLst/>
                  </a:rPr>
                  <a:t>Refinancible</a:t>
                </a:r>
                <a:r>
                  <a:rPr lang="en-US" sz="1200" b="1" i="0" baseline="0" dirty="0" smtClean="0">
                    <a:effectLst/>
                  </a:rPr>
                  <a:t> Universe</a:t>
                </a:r>
                <a:endParaRPr lang="en-US" sz="1200" dirty="0">
                  <a:effectLst/>
                </a:endParaRP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52182528"/>
        <c:crosses val="autoZero"/>
        <c:crossBetween val="between"/>
      </c:valAx>
      <c:valAx>
        <c:axId val="25218598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err="1" smtClean="0"/>
                  <a:t>Refi</a:t>
                </a:r>
                <a:r>
                  <a:rPr lang="en-US" sz="1200" dirty="0" smtClean="0"/>
                  <a:t> Index</a:t>
                </a:r>
                <a:endParaRPr lang="en-US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52208640"/>
        <c:crosses val="max"/>
        <c:crossBetween val="between"/>
      </c:valAx>
      <c:dateAx>
        <c:axId val="25220864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52185984"/>
        <c:crosses val="autoZero"/>
        <c:auto val="1"/>
        <c:lblOffset val="100"/>
        <c:baseTimeUnit val="days"/>
      </c:dateAx>
    </c:plotArea>
    <c:legend>
      <c:legendPos val="b"/>
      <c:layout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 b="1" i="0" baseline="0" dirty="0" smtClean="0">
                <a:effectLst/>
              </a:rPr>
              <a:t> </a:t>
            </a:r>
            <a:endParaRPr lang="en-US" sz="1600" dirty="0">
              <a:effectLst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8.2463565928132851E-2"/>
          <c:y val="4.103239004183673E-2"/>
          <c:w val="0.83784897758651045"/>
          <c:h val="0.7014754072457039"/>
        </c:manualLayout>
      </c:layout>
      <c:lineChart>
        <c:grouping val="standard"/>
        <c:varyColors val="0"/>
        <c:ser>
          <c:idx val="0"/>
          <c:order val="0"/>
          <c:tx>
            <c:v>Refinancible Percentage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728064"/>
        <c:axId val="252729600"/>
      </c:lineChart>
      <c:lineChart>
        <c:grouping val="standard"/>
        <c:varyColors val="0"/>
        <c:ser>
          <c:idx val="2"/>
          <c:order val="1"/>
          <c:tx>
            <c:v>Conventional Refi Index</c:v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737792"/>
        <c:axId val="252735872"/>
      </c:lineChart>
      <c:dateAx>
        <c:axId val="25272806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2729600"/>
        <c:crosses val="autoZero"/>
        <c:auto val="1"/>
        <c:lblOffset val="100"/>
        <c:baseTimeUnit val="days"/>
        <c:majorUnit val="6"/>
        <c:majorTimeUnit val="months"/>
        <c:minorUnit val="6"/>
        <c:minorTimeUnit val="months"/>
      </c:dateAx>
      <c:valAx>
        <c:axId val="25272960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b="1" i="0" baseline="0" dirty="0" err="1" smtClean="0">
                    <a:effectLst/>
                  </a:rPr>
                  <a:t>Refinancible</a:t>
                </a:r>
                <a:r>
                  <a:rPr lang="en-US" sz="1200" b="1" i="0" baseline="0" dirty="0" smtClean="0">
                    <a:effectLst/>
                  </a:rPr>
                  <a:t> Universe</a:t>
                </a:r>
                <a:endParaRPr lang="en-US" sz="1200" dirty="0">
                  <a:effectLst/>
                </a:endParaRP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52728064"/>
        <c:crosses val="autoZero"/>
        <c:crossBetween val="between"/>
      </c:valAx>
      <c:valAx>
        <c:axId val="25273587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err="1" smtClean="0"/>
                  <a:t>Refi</a:t>
                </a:r>
                <a:r>
                  <a:rPr lang="en-US" sz="1200" dirty="0" smtClean="0"/>
                  <a:t> Index</a:t>
                </a:r>
                <a:endParaRPr lang="en-US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52737792"/>
        <c:crosses val="max"/>
        <c:crossBetween val="between"/>
      </c:valAx>
      <c:dateAx>
        <c:axId val="25273779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52735872"/>
        <c:crosses val="autoZero"/>
        <c:auto val="1"/>
        <c:lblOffset val="100"/>
        <c:baseTimeUnit val="days"/>
      </c:dateAx>
    </c:plotArea>
    <c:legend>
      <c:legendPos val="b"/>
      <c:layout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Pool Level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1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606336"/>
        <c:axId val="252607872"/>
      </c:lineChart>
      <c:dateAx>
        <c:axId val="25260633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2607872"/>
        <c:crosses val="autoZero"/>
        <c:auto val="1"/>
        <c:lblOffset val="100"/>
        <c:baseTimeUnit val="days"/>
        <c:majorUnit val="6"/>
        <c:majorTimeUnit val="months"/>
      </c:dateAx>
      <c:valAx>
        <c:axId val="25260787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Refinancible</a:t>
                </a:r>
                <a:r>
                  <a:rPr lang="en-US" baseline="0"/>
                  <a:t> </a:t>
                </a:r>
                <a:r>
                  <a:rPr lang="en-US"/>
                  <a:t>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52606336"/>
        <c:crosses val="autoZero"/>
        <c:crossBetween val="between"/>
      </c:valAx>
      <c:spPr>
        <a:noFill/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Pool Level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1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1"/>
          <c:order val="2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442496"/>
        <c:axId val="252444032"/>
      </c:lineChart>
      <c:dateAx>
        <c:axId val="25244249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2444032"/>
        <c:crosses val="autoZero"/>
        <c:auto val="1"/>
        <c:lblOffset val="100"/>
        <c:baseTimeUnit val="days"/>
        <c:majorUnit val="6"/>
        <c:majorTimeUnit val="months"/>
      </c:dateAx>
      <c:valAx>
        <c:axId val="25244403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Refinancible</a:t>
                </a:r>
                <a:r>
                  <a:rPr lang="en-US" baseline="0"/>
                  <a:t> </a:t>
                </a:r>
                <a:r>
                  <a:rPr lang="en-US"/>
                  <a:t>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52442496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Pool Level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544128"/>
        <c:axId val="252545664"/>
      </c:lineChart>
      <c:dateAx>
        <c:axId val="25254412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2545664"/>
        <c:crosses val="autoZero"/>
        <c:auto val="1"/>
        <c:lblOffset val="100"/>
        <c:baseTimeUnit val="days"/>
        <c:majorUnit val="6"/>
        <c:majorTimeUnit val="months"/>
      </c:dateAx>
      <c:valAx>
        <c:axId val="25254566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Refinancible</a:t>
                </a:r>
                <a:r>
                  <a:rPr lang="en-US" baseline="0"/>
                  <a:t> </a:t>
                </a:r>
                <a:r>
                  <a:rPr lang="en-US"/>
                  <a:t>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52544128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5"/>
          <c:order val="1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214720"/>
        <c:axId val="253216256"/>
      </c:lineChart>
      <c:lineChart>
        <c:grouping val="standard"/>
        <c:varyColors val="0"/>
        <c:ser>
          <c:idx val="2"/>
          <c:order val="0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224448"/>
        <c:axId val="253218176"/>
      </c:lineChart>
      <c:dateAx>
        <c:axId val="2532147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3216256"/>
        <c:crosses val="autoZero"/>
        <c:auto val="1"/>
        <c:lblOffset val="100"/>
        <c:baseTimeUnit val="days"/>
        <c:majorUnit val="6"/>
        <c:majorTimeUnit val="months"/>
      </c:dateAx>
      <c:valAx>
        <c:axId val="25321625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crossAx val="253214720"/>
        <c:crosses val="autoZero"/>
        <c:crossBetween val="between"/>
        <c:majorUnit val="0.2"/>
      </c:valAx>
      <c:valAx>
        <c:axId val="253218176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53224448"/>
        <c:crosses val="max"/>
        <c:crossBetween val="between"/>
      </c:valAx>
      <c:dateAx>
        <c:axId val="25322444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53218176"/>
        <c:crosses val="autoZero"/>
        <c:auto val="1"/>
        <c:lblOffset val="100"/>
        <c:baseTimeUnit val="days"/>
      </c:date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849152"/>
        <c:axId val="25287142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879616"/>
        <c:axId val="252873344"/>
      </c:lineChart>
      <c:dateAx>
        <c:axId val="25284915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2871424"/>
        <c:crosses val="autoZero"/>
        <c:auto val="1"/>
        <c:lblOffset val="100"/>
        <c:baseTimeUnit val="days"/>
        <c:majorUnit val="6"/>
        <c:majorTimeUnit val="months"/>
      </c:dateAx>
      <c:valAx>
        <c:axId val="25287142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crossAx val="252849152"/>
        <c:crosses val="autoZero"/>
        <c:crossBetween val="between"/>
      </c:valAx>
      <c:valAx>
        <c:axId val="25287334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52879616"/>
        <c:crosses val="max"/>
        <c:crossBetween val="between"/>
      </c:valAx>
      <c:dateAx>
        <c:axId val="25287961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52873344"/>
        <c:crosses val="autoZero"/>
        <c:auto val="1"/>
        <c:lblOffset val="100"/>
        <c:baseTimeUnit val="days"/>
      </c:date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4"/>
          <c:order val="1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6"/>
          <c:order val="2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078912"/>
        <c:axId val="253506688"/>
      </c:lineChart>
      <c:dateAx>
        <c:axId val="2530789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3506688"/>
        <c:crosses val="autoZero"/>
        <c:auto val="1"/>
        <c:lblOffset val="100"/>
        <c:baseTimeUnit val="days"/>
        <c:majorUnit val="6"/>
        <c:majorTimeUnit val="months"/>
      </c:dateAx>
      <c:valAx>
        <c:axId val="25350668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baseline="0" dirty="0" smtClean="0"/>
                  <a:t> Percentage</a:t>
                </a:r>
                <a:endParaRPr lang="en-US" dirty="0"/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crossAx val="253078912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dirty="0" smtClean="0"/>
              <a:t>Loans Originated Before June</a:t>
            </a:r>
            <a:r>
              <a:rPr lang="en-US" sz="1200" baseline="0" dirty="0" smtClean="0"/>
              <a:t> 2009</a:t>
            </a:r>
            <a:endParaRPr lang="en-US" sz="1200" dirty="0"/>
          </a:p>
        </c:rich>
      </c:tx>
      <c:overlay val="0"/>
      <c:spPr>
        <a:solidFill>
          <a:schemeClr val="bg1"/>
        </a:solidFill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'HARPable Universe'!$C$2</c:f>
              <c:strCache>
                <c:ptCount val="1"/>
                <c:pt idx="0">
                  <c:v>Refi Plus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numRef>
              <c:f>'HARPable Universe'!$B$3:$B$227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'HARPable Universe'!$C$3:$C$227</c:f>
              <c:numCache>
                <c:formatCode>0%</c:formatCode>
                <c:ptCount val="225"/>
                <c:pt idx="0">
                  <c:v>0.68934342154794104</c:v>
                </c:pt>
                <c:pt idx="1">
                  <c:v>0.70307643177109502</c:v>
                </c:pt>
                <c:pt idx="2">
                  <c:v>0.68938813329756798</c:v>
                </c:pt>
                <c:pt idx="3">
                  <c:v>0.68933878258023296</c:v>
                </c:pt>
                <c:pt idx="4">
                  <c:v>0.67503887167036103</c:v>
                </c:pt>
                <c:pt idx="5">
                  <c:v>0.62601198303170802</c:v>
                </c:pt>
                <c:pt idx="6">
                  <c:v>0.64635810340061295</c:v>
                </c:pt>
                <c:pt idx="7">
                  <c:v>0.657316480570869</c:v>
                </c:pt>
                <c:pt idx="8">
                  <c:v>0.67062319372880397</c:v>
                </c:pt>
                <c:pt idx="9">
                  <c:v>0.67056643052686704</c:v>
                </c:pt>
                <c:pt idx="10">
                  <c:v>0.69499981858565096</c:v>
                </c:pt>
                <c:pt idx="11">
                  <c:v>0.68107814802781896</c:v>
                </c:pt>
                <c:pt idx="12">
                  <c:v>0.67063539524591398</c:v>
                </c:pt>
                <c:pt idx="13">
                  <c:v>0.667098340408248</c:v>
                </c:pt>
                <c:pt idx="14">
                  <c:v>0.66704040155500299</c:v>
                </c:pt>
                <c:pt idx="15">
                  <c:v>0.67762590916364096</c:v>
                </c:pt>
                <c:pt idx="16">
                  <c:v>0.67764813539017299</c:v>
                </c:pt>
                <c:pt idx="17">
                  <c:v>0.68894669316518398</c:v>
                </c:pt>
                <c:pt idx="18">
                  <c:v>0.71405065373301202</c:v>
                </c:pt>
                <c:pt idx="19">
                  <c:v>0.71407362852576595</c:v>
                </c:pt>
                <c:pt idx="20">
                  <c:v>0.71409882525790402</c:v>
                </c:pt>
                <c:pt idx="21">
                  <c:v>0.72824875176082904</c:v>
                </c:pt>
                <c:pt idx="22">
                  <c:v>0.74506714039606803</c:v>
                </c:pt>
                <c:pt idx="23">
                  <c:v>0.74505340929157504</c:v>
                </c:pt>
                <c:pt idx="24">
                  <c:v>0.72824875176082904</c:v>
                </c:pt>
                <c:pt idx="25">
                  <c:v>0.74479550295308605</c:v>
                </c:pt>
                <c:pt idx="26">
                  <c:v>0.70952144486954205</c:v>
                </c:pt>
                <c:pt idx="27">
                  <c:v>0.74275012081458902</c:v>
                </c:pt>
                <c:pt idx="28">
                  <c:v>0.72609841989856705</c:v>
                </c:pt>
                <c:pt idx="29">
                  <c:v>0.72572799430629997</c:v>
                </c:pt>
                <c:pt idx="30">
                  <c:v>0.77903375194828495</c:v>
                </c:pt>
                <c:pt idx="31">
                  <c:v>0.86382425683094299</c:v>
                </c:pt>
                <c:pt idx="32">
                  <c:v>0.93211944193435403</c:v>
                </c:pt>
                <c:pt idx="33">
                  <c:v>0.89991044673128795</c:v>
                </c:pt>
                <c:pt idx="34">
                  <c:v>0.89921029459495505</c:v>
                </c:pt>
                <c:pt idx="35">
                  <c:v>0.94885867876400498</c:v>
                </c:pt>
                <c:pt idx="36">
                  <c:v>0.948919698883541</c:v>
                </c:pt>
                <c:pt idx="37">
                  <c:v>0.948919698883541</c:v>
                </c:pt>
                <c:pt idx="38">
                  <c:v>0.974512005363524</c:v>
                </c:pt>
                <c:pt idx="39">
                  <c:v>0.97415183550259199</c:v>
                </c:pt>
                <c:pt idx="40">
                  <c:v>0.930833872341434</c:v>
                </c:pt>
                <c:pt idx="41">
                  <c:v>0.948221735508743</c:v>
                </c:pt>
                <c:pt idx="42">
                  <c:v>0.94825133674425999</c:v>
                </c:pt>
                <c:pt idx="43">
                  <c:v>0.97363330958432404</c:v>
                </c:pt>
                <c:pt idx="44">
                  <c:v>0.97363631849321397</c:v>
                </c:pt>
                <c:pt idx="45">
                  <c:v>0.97363330958432404</c:v>
                </c:pt>
                <c:pt idx="46">
                  <c:v>0.97364489082606698</c:v>
                </c:pt>
                <c:pt idx="47">
                  <c:v>0.97319978848678002</c:v>
                </c:pt>
                <c:pt idx="48">
                  <c:v>0.973202121427309</c:v>
                </c:pt>
                <c:pt idx="49">
                  <c:v>0.97322297014224102</c:v>
                </c:pt>
                <c:pt idx="50">
                  <c:v>0.98378393141539</c:v>
                </c:pt>
                <c:pt idx="51">
                  <c:v>0.98374645848449505</c:v>
                </c:pt>
                <c:pt idx="52">
                  <c:v>0.98350298040027295</c:v>
                </c:pt>
                <c:pt idx="53">
                  <c:v>0.983519920596025</c:v>
                </c:pt>
                <c:pt idx="54">
                  <c:v>0.98351461374668603</c:v>
                </c:pt>
                <c:pt idx="55">
                  <c:v>0.97286189980816695</c:v>
                </c:pt>
                <c:pt idx="56">
                  <c:v>0.98329981748947404</c:v>
                </c:pt>
                <c:pt idx="57">
                  <c:v>0.98329981748947404</c:v>
                </c:pt>
                <c:pt idx="58">
                  <c:v>0.98329981748947404</c:v>
                </c:pt>
                <c:pt idx="59">
                  <c:v>0.97253147097901604</c:v>
                </c:pt>
                <c:pt idx="60">
                  <c:v>0.98307098130391601</c:v>
                </c:pt>
                <c:pt idx="61">
                  <c:v>0.98308116533178702</c:v>
                </c:pt>
                <c:pt idx="62">
                  <c:v>0.98304412035651201</c:v>
                </c:pt>
                <c:pt idx="63">
                  <c:v>0.94621671624645198</c:v>
                </c:pt>
                <c:pt idx="64">
                  <c:v>0.97221317553099895</c:v>
                </c:pt>
                <c:pt idx="65">
                  <c:v>0.972659113561122</c:v>
                </c:pt>
                <c:pt idx="66">
                  <c:v>0.98910284855503505</c:v>
                </c:pt>
                <c:pt idx="67">
                  <c:v>0.98328533943875196</c:v>
                </c:pt>
                <c:pt idx="68">
                  <c:v>0.98910284855503505</c:v>
                </c:pt>
                <c:pt idx="69">
                  <c:v>0.98918794291197698</c:v>
                </c:pt>
                <c:pt idx="70">
                  <c:v>0.98919709187808802</c:v>
                </c:pt>
                <c:pt idx="71">
                  <c:v>0.99452879876186695</c:v>
                </c:pt>
                <c:pt idx="72">
                  <c:v>0.994528175384642</c:v>
                </c:pt>
                <c:pt idx="73">
                  <c:v>0.99453076174602095</c:v>
                </c:pt>
                <c:pt idx="74">
                  <c:v>0.99920990822137301</c:v>
                </c:pt>
                <c:pt idx="75">
                  <c:v>0.99750984999361303</c:v>
                </c:pt>
                <c:pt idx="76">
                  <c:v>0.99920990822137301</c:v>
                </c:pt>
                <c:pt idx="77">
                  <c:v>0.99920990822137301</c:v>
                </c:pt>
                <c:pt idx="78">
                  <c:v>0.99921052750741601</c:v>
                </c:pt>
                <c:pt idx="79">
                  <c:v>0.99993082487965101</c:v>
                </c:pt>
                <c:pt idx="80">
                  <c:v>0.99993082487965101</c:v>
                </c:pt>
                <c:pt idx="81">
                  <c:v>0.99994356235953297</c:v>
                </c:pt>
                <c:pt idx="82">
                  <c:v>0.99992850979514003</c:v>
                </c:pt>
                <c:pt idx="83">
                  <c:v>0.99992850979514003</c:v>
                </c:pt>
                <c:pt idx="84">
                  <c:v>0.99991808103115498</c:v>
                </c:pt>
                <c:pt idx="85">
                  <c:v>0.99920283129912302</c:v>
                </c:pt>
                <c:pt idx="86">
                  <c:v>0.99992850979514003</c:v>
                </c:pt>
                <c:pt idx="87">
                  <c:v>0.999925926572371</c:v>
                </c:pt>
                <c:pt idx="88">
                  <c:v>0.999925926572371</c:v>
                </c:pt>
                <c:pt idx="89">
                  <c:v>0.99993925458967703</c:v>
                </c:pt>
                <c:pt idx="90">
                  <c:v>0.999963330930556</c:v>
                </c:pt>
                <c:pt idx="91">
                  <c:v>0.99996184565451895</c:v>
                </c:pt>
                <c:pt idx="92">
                  <c:v>0.99994149110272401</c:v>
                </c:pt>
                <c:pt idx="93">
                  <c:v>0.99996184565451895</c:v>
                </c:pt>
                <c:pt idx="94">
                  <c:v>0.99994149110272401</c:v>
                </c:pt>
                <c:pt idx="95">
                  <c:v>0.99993955387432398</c:v>
                </c:pt>
                <c:pt idx="96">
                  <c:v>0.99993955387432398</c:v>
                </c:pt>
                <c:pt idx="97">
                  <c:v>0.999960116591327</c:v>
                </c:pt>
                <c:pt idx="98">
                  <c:v>0.99997526938915204</c:v>
                </c:pt>
                <c:pt idx="99">
                  <c:v>0.999960116591327</c:v>
                </c:pt>
                <c:pt idx="100">
                  <c:v>0.99995840571303796</c:v>
                </c:pt>
                <c:pt idx="101">
                  <c:v>0.99997421417518995</c:v>
                </c:pt>
                <c:pt idx="102">
                  <c:v>0.99995840571303796</c:v>
                </c:pt>
                <c:pt idx="103">
                  <c:v>0.99995840571303796</c:v>
                </c:pt>
                <c:pt idx="104">
                  <c:v>0.99995690344517796</c:v>
                </c:pt>
                <c:pt idx="105">
                  <c:v>0.99993449558008296</c:v>
                </c:pt>
                <c:pt idx="106">
                  <c:v>0.99995690344517796</c:v>
                </c:pt>
                <c:pt idx="107">
                  <c:v>0.99993449558008296</c:v>
                </c:pt>
                <c:pt idx="108">
                  <c:v>0.99991411771788796</c:v>
                </c:pt>
                <c:pt idx="109">
                  <c:v>0.99991089237320696</c:v>
                </c:pt>
                <c:pt idx="110">
                  <c:v>0.99991089237320696</c:v>
                </c:pt>
                <c:pt idx="111">
                  <c:v>0.99989953187824898</c:v>
                </c:pt>
                <c:pt idx="112">
                  <c:v>0.99991089237320696</c:v>
                </c:pt>
                <c:pt idx="113">
                  <c:v>0.99990931344518297</c:v>
                </c:pt>
                <c:pt idx="114">
                  <c:v>0.99915802709531398</c:v>
                </c:pt>
                <c:pt idx="115">
                  <c:v>0.99990931344518297</c:v>
                </c:pt>
                <c:pt idx="116">
                  <c:v>0.999897251404256</c:v>
                </c:pt>
                <c:pt idx="117">
                  <c:v>0.99990366179078405</c:v>
                </c:pt>
                <c:pt idx="118">
                  <c:v>0.99991982126825196</c:v>
                </c:pt>
                <c:pt idx="119">
                  <c:v>0.99992797902387898</c:v>
                </c:pt>
                <c:pt idx="120">
                  <c:v>0.99992797902387898</c:v>
                </c:pt>
                <c:pt idx="121">
                  <c:v>0.9999571303068</c:v>
                </c:pt>
                <c:pt idx="122">
                  <c:v>0.999926355664575</c:v>
                </c:pt>
                <c:pt idx="123">
                  <c:v>0.99991596688144602</c:v>
                </c:pt>
                <c:pt idx="124">
                  <c:v>0.999891003765222</c:v>
                </c:pt>
                <c:pt idx="125">
                  <c:v>0.98959937329126002</c:v>
                </c:pt>
                <c:pt idx="126">
                  <c:v>0.98319620204482405</c:v>
                </c:pt>
                <c:pt idx="127">
                  <c:v>0.97483509520421197</c:v>
                </c:pt>
                <c:pt idx="128">
                  <c:v>0.974845105001512</c:v>
                </c:pt>
                <c:pt idx="129">
                  <c:v>0.75861637191260001</c:v>
                </c:pt>
                <c:pt idx="130">
                  <c:v>0.87464281994842097</c:v>
                </c:pt>
                <c:pt idx="131">
                  <c:v>0.73939644380791003</c:v>
                </c:pt>
                <c:pt idx="132">
                  <c:v>0.83595927197837805</c:v>
                </c:pt>
                <c:pt idx="133">
                  <c:v>0.83620473842721499</c:v>
                </c:pt>
                <c:pt idx="134">
                  <c:v>0.79246254673167404</c:v>
                </c:pt>
                <c:pt idx="135">
                  <c:v>0.792438207756055</c:v>
                </c:pt>
                <c:pt idx="136">
                  <c:v>0.792438207756055</c:v>
                </c:pt>
                <c:pt idx="137">
                  <c:v>0.72293605511047399</c:v>
                </c:pt>
                <c:pt idx="138">
                  <c:v>0.75618136859207497</c:v>
                </c:pt>
                <c:pt idx="139">
                  <c:v>0.73241928482112195</c:v>
                </c:pt>
                <c:pt idx="140">
                  <c:v>0.71851650648965204</c:v>
                </c:pt>
                <c:pt idx="141">
                  <c:v>0.75283799652968897</c:v>
                </c:pt>
                <c:pt idx="142">
                  <c:v>0.87216740152542305</c:v>
                </c:pt>
                <c:pt idx="143">
                  <c:v>0.91006704896642798</c:v>
                </c:pt>
                <c:pt idx="144">
                  <c:v>0.91000379323017</c:v>
                </c:pt>
                <c:pt idx="145">
                  <c:v>0.87030379941598801</c:v>
                </c:pt>
                <c:pt idx="146">
                  <c:v>0.92948151561270798</c:v>
                </c:pt>
                <c:pt idx="147">
                  <c:v>0.946371224192602</c:v>
                </c:pt>
                <c:pt idx="148">
                  <c:v>0.92862600348226998</c:v>
                </c:pt>
                <c:pt idx="149">
                  <c:v>0.82764760393529802</c:v>
                </c:pt>
                <c:pt idx="150">
                  <c:v>0.90867076242729805</c:v>
                </c:pt>
                <c:pt idx="151">
                  <c:v>0.868879336155854</c:v>
                </c:pt>
                <c:pt idx="152">
                  <c:v>0.78150994044042599</c:v>
                </c:pt>
                <c:pt idx="153">
                  <c:v>0.78142626283674099</c:v>
                </c:pt>
                <c:pt idx="154">
                  <c:v>0.74080880570196705</c:v>
                </c:pt>
                <c:pt idx="155">
                  <c:v>0.74072304288786295</c:v>
                </c:pt>
                <c:pt idx="156">
                  <c:v>0.71573440369395702</c:v>
                </c:pt>
                <c:pt idx="157">
                  <c:v>0.737862180577046</c:v>
                </c:pt>
                <c:pt idx="158">
                  <c:v>0.77881660913151596</c:v>
                </c:pt>
                <c:pt idx="159">
                  <c:v>0.77893724315267199</c:v>
                </c:pt>
                <c:pt idx="160">
                  <c:v>0.86531452225895999</c:v>
                </c:pt>
                <c:pt idx="161">
                  <c:v>0.904840601248314</c:v>
                </c:pt>
                <c:pt idx="162">
                  <c:v>0.86420449138465305</c:v>
                </c:pt>
                <c:pt idx="163">
                  <c:v>0.82103225324176798</c:v>
                </c:pt>
                <c:pt idx="164">
                  <c:v>0.82077124571501203</c:v>
                </c:pt>
                <c:pt idx="165">
                  <c:v>0.86296973588403203</c:v>
                </c:pt>
                <c:pt idx="166">
                  <c:v>0.81906765211778298</c:v>
                </c:pt>
                <c:pt idx="167">
                  <c:v>0.86286183686691498</c:v>
                </c:pt>
                <c:pt idx="168">
                  <c:v>0.81889916283087805</c:v>
                </c:pt>
                <c:pt idx="169">
                  <c:v>0.77382163087992895</c:v>
                </c:pt>
                <c:pt idx="170">
                  <c:v>0.81929535733400805</c:v>
                </c:pt>
                <c:pt idx="171">
                  <c:v>0.86307390731589495</c:v>
                </c:pt>
                <c:pt idx="172">
                  <c:v>0.862883144079441</c:v>
                </c:pt>
                <c:pt idx="173">
                  <c:v>0.86338218182302096</c:v>
                </c:pt>
                <c:pt idx="174">
                  <c:v>0.92469964057410103</c:v>
                </c:pt>
                <c:pt idx="175">
                  <c:v>0.92471213874485103</c:v>
                </c:pt>
                <c:pt idx="176">
                  <c:v>0.942170788335981</c:v>
                </c:pt>
                <c:pt idx="177">
                  <c:v>0.94220364207853702</c:v>
                </c:pt>
                <c:pt idx="178">
                  <c:v>0.94191255638832705</c:v>
                </c:pt>
                <c:pt idx="179">
                  <c:v>0.924708662683428</c:v>
                </c:pt>
                <c:pt idx="180">
                  <c:v>0.92478797041361505</c:v>
                </c:pt>
                <c:pt idx="181">
                  <c:v>0.94191255638832705</c:v>
                </c:pt>
                <c:pt idx="182">
                  <c:v>0.95933486163638704</c:v>
                </c:pt>
                <c:pt idx="183">
                  <c:v>0.92435732512698199</c:v>
                </c:pt>
                <c:pt idx="184">
                  <c:v>0.94140193159732499</c:v>
                </c:pt>
                <c:pt idx="185">
                  <c:v>0.94140193159732499</c:v>
                </c:pt>
                <c:pt idx="186">
                  <c:v>0.94141649683931705</c:v>
                </c:pt>
                <c:pt idx="187">
                  <c:v>0.92406873351741203</c:v>
                </c:pt>
                <c:pt idx="188">
                  <c:v>0.94091871934431903</c:v>
                </c:pt>
                <c:pt idx="189">
                  <c:v>0.95930523734958395</c:v>
                </c:pt>
                <c:pt idx="190">
                  <c:v>0.95930523734958395</c:v>
                </c:pt>
                <c:pt idx="191">
                  <c:v>0.959184322523427</c:v>
                </c:pt>
                <c:pt idx="192">
                  <c:v>0.95904395158926303</c:v>
                </c:pt>
                <c:pt idx="193">
                  <c:v>0.92367592231458095</c:v>
                </c:pt>
                <c:pt idx="194">
                  <c:v>0.92375754000891097</c:v>
                </c:pt>
                <c:pt idx="195">
                  <c:v>0.939877910552257</c:v>
                </c:pt>
                <c:pt idx="196">
                  <c:v>0.95870597013426595</c:v>
                </c:pt>
                <c:pt idx="197">
                  <c:v>0.98146689029705902</c:v>
                </c:pt>
                <c:pt idx="198">
                  <c:v>0.98818151288594802</c:v>
                </c:pt>
                <c:pt idx="199">
                  <c:v>0.98146296312210002</c:v>
                </c:pt>
                <c:pt idx="200">
                  <c:v>0.97081970689119501</c:v>
                </c:pt>
                <c:pt idx="201">
                  <c:v>0.97082427955975303</c:v>
                </c:pt>
                <c:pt idx="202">
                  <c:v>0.98114317383489702</c:v>
                </c:pt>
                <c:pt idx="203">
                  <c:v>0.98115309471965295</c:v>
                </c:pt>
                <c:pt idx="204">
                  <c:v>0.98784281177175604</c:v>
                </c:pt>
                <c:pt idx="205">
                  <c:v>0.98783408332259803</c:v>
                </c:pt>
                <c:pt idx="206">
                  <c:v>0.99479182701672098</c:v>
                </c:pt>
                <c:pt idx="207">
                  <c:v>0.99479023677626099</c:v>
                </c:pt>
                <c:pt idx="208">
                  <c:v>0.98784159692108897</c:v>
                </c:pt>
                <c:pt idx="209">
                  <c:v>0.99863696366528298</c:v>
                </c:pt>
                <c:pt idx="210">
                  <c:v>0.99972875942488504</c:v>
                </c:pt>
                <c:pt idx="211">
                  <c:v>0.99972875942488504</c:v>
                </c:pt>
                <c:pt idx="212">
                  <c:v>0.99972875942488504</c:v>
                </c:pt>
                <c:pt idx="213">
                  <c:v>0.99972493862629996</c:v>
                </c:pt>
                <c:pt idx="214">
                  <c:v>0.99902094218210002</c:v>
                </c:pt>
                <c:pt idx="215">
                  <c:v>0.99863084569716998</c:v>
                </c:pt>
                <c:pt idx="216">
                  <c:v>0.99472881095047105</c:v>
                </c:pt>
                <c:pt idx="217">
                  <c:v>0.99843910380784895</c:v>
                </c:pt>
                <c:pt idx="218">
                  <c:v>0.98728276128744996</c:v>
                </c:pt>
                <c:pt idx="219">
                  <c:v>0.99843910380784895</c:v>
                </c:pt>
                <c:pt idx="220">
                  <c:v>0.99887607034173698</c:v>
                </c:pt>
                <c:pt idx="221">
                  <c:v>0.99885910901552399</c:v>
                </c:pt>
                <c:pt idx="222">
                  <c:v>0.99960994368004696</c:v>
                </c:pt>
                <c:pt idx="223">
                  <c:v>0.99885981007337399</c:v>
                </c:pt>
                <c:pt idx="224">
                  <c:v>0.99960994368004696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'HARPable Universe'!$D$2</c:f>
              <c:strCache>
                <c:ptCount val="1"/>
                <c:pt idx="0">
                  <c:v>Regular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'HARPable Universe'!$B$3:$B$227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'HARPable Universe'!$D$3:$D$227</c:f>
              <c:numCache>
                <c:formatCode>0%</c:formatCode>
                <c:ptCount val="225"/>
                <c:pt idx="0">
                  <c:v>0.32204130779229101</c:v>
                </c:pt>
                <c:pt idx="1">
                  <c:v>0.33944259689377898</c:v>
                </c:pt>
                <c:pt idx="2">
                  <c:v>0.32792342987711598</c:v>
                </c:pt>
                <c:pt idx="3">
                  <c:v>0.32039053977925802</c:v>
                </c:pt>
                <c:pt idx="4">
                  <c:v>0.295596785601205</c:v>
                </c:pt>
                <c:pt idx="5">
                  <c:v>0.234840435700295</c:v>
                </c:pt>
                <c:pt idx="6">
                  <c:v>0.25513974378513499</c:v>
                </c:pt>
                <c:pt idx="7">
                  <c:v>0.27027204570239999</c:v>
                </c:pt>
                <c:pt idx="8">
                  <c:v>0.27618659696598702</c:v>
                </c:pt>
                <c:pt idx="9">
                  <c:v>0.27593598906514399</c:v>
                </c:pt>
                <c:pt idx="10">
                  <c:v>0.30794837748269599</c:v>
                </c:pt>
                <c:pt idx="11">
                  <c:v>0.29055412632630701</c:v>
                </c:pt>
                <c:pt idx="12">
                  <c:v>0.276215339287747</c:v>
                </c:pt>
                <c:pt idx="13">
                  <c:v>0.28032672938051101</c:v>
                </c:pt>
                <c:pt idx="14">
                  <c:v>0.27639565795825799</c:v>
                </c:pt>
                <c:pt idx="15">
                  <c:v>0.29489367773778902</c:v>
                </c:pt>
                <c:pt idx="16">
                  <c:v>0.30100380523127301</c:v>
                </c:pt>
                <c:pt idx="17">
                  <c:v>0.32414763510163902</c:v>
                </c:pt>
                <c:pt idx="18">
                  <c:v>0.35120080584396202</c:v>
                </c:pt>
                <c:pt idx="19">
                  <c:v>0.35171549347634701</c:v>
                </c:pt>
                <c:pt idx="20">
                  <c:v>0.35587573298129699</c:v>
                </c:pt>
                <c:pt idx="21">
                  <c:v>0.384751810944437</c:v>
                </c:pt>
                <c:pt idx="22">
                  <c:v>0.40107831488719298</c:v>
                </c:pt>
                <c:pt idx="23">
                  <c:v>0.401048271232536</c:v>
                </c:pt>
                <c:pt idx="24">
                  <c:v>0.384751810944437</c:v>
                </c:pt>
                <c:pt idx="25">
                  <c:v>0.40017737051204799</c:v>
                </c:pt>
                <c:pt idx="26">
                  <c:v>0.36468183111139002</c:v>
                </c:pt>
                <c:pt idx="27">
                  <c:v>0.40333930019983799</c:v>
                </c:pt>
                <c:pt idx="28">
                  <c:v>0.38775372661303198</c:v>
                </c:pt>
                <c:pt idx="29">
                  <c:v>0.38003243735001302</c:v>
                </c:pt>
                <c:pt idx="30">
                  <c:v>0.44778093064805002</c:v>
                </c:pt>
                <c:pt idx="31">
                  <c:v>0.52006535712284097</c:v>
                </c:pt>
                <c:pt idx="32">
                  <c:v>0.58768687513124296</c:v>
                </c:pt>
                <c:pt idx="33">
                  <c:v>0.55816631773039305</c:v>
                </c:pt>
                <c:pt idx="34">
                  <c:v>0.56195750140436296</c:v>
                </c:pt>
                <c:pt idx="35">
                  <c:v>0.60700793412000198</c:v>
                </c:pt>
                <c:pt idx="36">
                  <c:v>0.61032822604557502</c:v>
                </c:pt>
                <c:pt idx="37">
                  <c:v>0.61032822604557502</c:v>
                </c:pt>
                <c:pt idx="38">
                  <c:v>0.64853433410786498</c:v>
                </c:pt>
                <c:pt idx="39">
                  <c:v>0.645956259094282</c:v>
                </c:pt>
                <c:pt idx="40">
                  <c:v>0.58447873508666104</c:v>
                </c:pt>
                <c:pt idx="41">
                  <c:v>0.59657753136731795</c:v>
                </c:pt>
                <c:pt idx="42">
                  <c:v>0.59967366222938401</c:v>
                </c:pt>
                <c:pt idx="43">
                  <c:v>0.63426200382067699</c:v>
                </c:pt>
                <c:pt idx="44">
                  <c:v>0.63427711234699902</c:v>
                </c:pt>
                <c:pt idx="45">
                  <c:v>0.63426200382067699</c:v>
                </c:pt>
                <c:pt idx="46">
                  <c:v>0.635648130355292</c:v>
                </c:pt>
                <c:pt idx="47">
                  <c:v>0.62458539335419805</c:v>
                </c:pt>
                <c:pt idx="48">
                  <c:v>0.62459894340621602</c:v>
                </c:pt>
                <c:pt idx="49">
                  <c:v>0.62737303113999399</c:v>
                </c:pt>
                <c:pt idx="50">
                  <c:v>0.64767108993784595</c:v>
                </c:pt>
                <c:pt idx="51">
                  <c:v>0.63728428479421295</c:v>
                </c:pt>
                <c:pt idx="52">
                  <c:v>0.63473367433484096</c:v>
                </c:pt>
                <c:pt idx="53">
                  <c:v>0.64586810672947803</c:v>
                </c:pt>
                <c:pt idx="54">
                  <c:v>0.64423993013390601</c:v>
                </c:pt>
                <c:pt idx="55">
                  <c:v>0.62201051152227504</c:v>
                </c:pt>
                <c:pt idx="56">
                  <c:v>0.64005936276544695</c:v>
                </c:pt>
                <c:pt idx="57">
                  <c:v>0.64005936276544695</c:v>
                </c:pt>
                <c:pt idx="58">
                  <c:v>0.64005936276544695</c:v>
                </c:pt>
                <c:pt idx="59">
                  <c:v>0.61808643863248902</c:v>
                </c:pt>
                <c:pt idx="60">
                  <c:v>0.62796244692019199</c:v>
                </c:pt>
                <c:pt idx="61">
                  <c:v>0.63624058874854394</c:v>
                </c:pt>
                <c:pt idx="62">
                  <c:v>0.62572384062849695</c:v>
                </c:pt>
                <c:pt idx="63">
                  <c:v>0.57002458854182303</c:v>
                </c:pt>
                <c:pt idx="64">
                  <c:v>0.613026013245069</c:v>
                </c:pt>
                <c:pt idx="65">
                  <c:v>0.64462607137328098</c:v>
                </c:pt>
                <c:pt idx="66">
                  <c:v>0.67706909583525099</c:v>
                </c:pt>
                <c:pt idx="67">
                  <c:v>0.65838549683501602</c:v>
                </c:pt>
                <c:pt idx="68">
                  <c:v>0.67706909583525099</c:v>
                </c:pt>
                <c:pt idx="69">
                  <c:v>0.70759479979039797</c:v>
                </c:pt>
                <c:pt idx="70">
                  <c:v>0.71147773162473305</c:v>
                </c:pt>
                <c:pt idx="71">
                  <c:v>0.72048705417655701</c:v>
                </c:pt>
                <c:pt idx="72">
                  <c:v>0.71747083126455002</c:v>
                </c:pt>
                <c:pt idx="73">
                  <c:v>0.72251040855348803</c:v>
                </c:pt>
                <c:pt idx="74">
                  <c:v>0.76469548566159196</c:v>
                </c:pt>
                <c:pt idx="75">
                  <c:v>0.75970865346687</c:v>
                </c:pt>
                <c:pt idx="76">
                  <c:v>0.76601871584032599</c:v>
                </c:pt>
                <c:pt idx="77">
                  <c:v>0.76601871584032599</c:v>
                </c:pt>
                <c:pt idx="78">
                  <c:v>0.77656524470940902</c:v>
                </c:pt>
                <c:pt idx="79">
                  <c:v>0.78357818362172504</c:v>
                </c:pt>
                <c:pt idx="80">
                  <c:v>0.78680943760229805</c:v>
                </c:pt>
                <c:pt idx="81">
                  <c:v>0.78926724871332199</c:v>
                </c:pt>
                <c:pt idx="82">
                  <c:v>0.79167204155684201</c:v>
                </c:pt>
                <c:pt idx="83">
                  <c:v>0.79119157211259705</c:v>
                </c:pt>
                <c:pt idx="84">
                  <c:v>0.78981685075272301</c:v>
                </c:pt>
                <c:pt idx="85">
                  <c:v>0.78342241627971398</c:v>
                </c:pt>
                <c:pt idx="86">
                  <c:v>0.79119157211259705</c:v>
                </c:pt>
                <c:pt idx="87">
                  <c:v>0.79869244722997501</c:v>
                </c:pt>
                <c:pt idx="88">
                  <c:v>0.80125181967528103</c:v>
                </c:pt>
                <c:pt idx="89">
                  <c:v>0.80486189051620305</c:v>
                </c:pt>
                <c:pt idx="90">
                  <c:v>0.80926691142062801</c:v>
                </c:pt>
                <c:pt idx="91">
                  <c:v>0.81286201159837101</c:v>
                </c:pt>
                <c:pt idx="92">
                  <c:v>0.81023413562504598</c:v>
                </c:pt>
                <c:pt idx="93">
                  <c:v>0.81175268314445304</c:v>
                </c:pt>
                <c:pt idx="94">
                  <c:v>0.809839941502147</c:v>
                </c:pt>
                <c:pt idx="95">
                  <c:v>0.81305878798935505</c:v>
                </c:pt>
                <c:pt idx="96">
                  <c:v>0.812945122249775</c:v>
                </c:pt>
                <c:pt idx="97">
                  <c:v>0.81568730147186896</c:v>
                </c:pt>
                <c:pt idx="98">
                  <c:v>0.81619201070139402</c:v>
                </c:pt>
                <c:pt idx="99">
                  <c:v>0.81567965422119304</c:v>
                </c:pt>
                <c:pt idx="100">
                  <c:v>0.81785115811029996</c:v>
                </c:pt>
                <c:pt idx="101">
                  <c:v>0.81814457584000999</c:v>
                </c:pt>
                <c:pt idx="102">
                  <c:v>0.81674451148550797</c:v>
                </c:pt>
                <c:pt idx="103">
                  <c:v>0.81764309369800603</c:v>
                </c:pt>
                <c:pt idx="104">
                  <c:v>0.82341532975696197</c:v>
                </c:pt>
                <c:pt idx="105">
                  <c:v>0.82080020350731497</c:v>
                </c:pt>
                <c:pt idx="106">
                  <c:v>0.82149229359926401</c:v>
                </c:pt>
                <c:pt idx="107">
                  <c:v>0.81986111028491404</c:v>
                </c:pt>
                <c:pt idx="108">
                  <c:v>0.81478312271985798</c:v>
                </c:pt>
                <c:pt idx="109">
                  <c:v>0.81882809099579801</c:v>
                </c:pt>
                <c:pt idx="110">
                  <c:v>0.81882809099579801</c:v>
                </c:pt>
                <c:pt idx="111">
                  <c:v>0.81745206005968196</c:v>
                </c:pt>
                <c:pt idx="112">
                  <c:v>0.82073842590296597</c:v>
                </c:pt>
                <c:pt idx="113">
                  <c:v>0.82850307416378899</c:v>
                </c:pt>
                <c:pt idx="114">
                  <c:v>0.82003372097846405</c:v>
                </c:pt>
                <c:pt idx="115">
                  <c:v>0.82553780316113101</c:v>
                </c:pt>
                <c:pt idx="116">
                  <c:v>0.82472458395839399</c:v>
                </c:pt>
                <c:pt idx="117">
                  <c:v>0.84328555765855695</c:v>
                </c:pt>
                <c:pt idx="118">
                  <c:v>0.84878046306266597</c:v>
                </c:pt>
                <c:pt idx="119">
                  <c:v>0.85066430465365805</c:v>
                </c:pt>
                <c:pt idx="120">
                  <c:v>0.84953189700775</c:v>
                </c:pt>
                <c:pt idx="121">
                  <c:v>0.86809283690983496</c:v>
                </c:pt>
                <c:pt idx="122">
                  <c:v>0.86549923979029997</c:v>
                </c:pt>
                <c:pt idx="123">
                  <c:v>0.86263586497337696</c:v>
                </c:pt>
                <c:pt idx="124">
                  <c:v>0.85860250393135296</c:v>
                </c:pt>
                <c:pt idx="125">
                  <c:v>0.83247184789062301</c:v>
                </c:pt>
                <c:pt idx="126">
                  <c:v>0.83759474015632596</c:v>
                </c:pt>
                <c:pt idx="127">
                  <c:v>0.823700334554193</c:v>
                </c:pt>
                <c:pt idx="128">
                  <c:v>0.82432391546961303</c:v>
                </c:pt>
                <c:pt idx="129">
                  <c:v>0.58169167101166497</c:v>
                </c:pt>
                <c:pt idx="130">
                  <c:v>0.71619679638174105</c:v>
                </c:pt>
                <c:pt idx="131">
                  <c:v>0.56754957680996199</c:v>
                </c:pt>
                <c:pt idx="132">
                  <c:v>0.674456067653048</c:v>
                </c:pt>
                <c:pt idx="133">
                  <c:v>0.67655434294099503</c:v>
                </c:pt>
                <c:pt idx="134">
                  <c:v>0.64055597334900805</c:v>
                </c:pt>
                <c:pt idx="135">
                  <c:v>0.64029309309363502</c:v>
                </c:pt>
                <c:pt idx="136">
                  <c:v>0.64029309309363502</c:v>
                </c:pt>
                <c:pt idx="137">
                  <c:v>0.55236674392539098</c:v>
                </c:pt>
                <c:pt idx="138">
                  <c:v>0.59640056248304896</c:v>
                </c:pt>
                <c:pt idx="139">
                  <c:v>0.57522237437054402</c:v>
                </c:pt>
                <c:pt idx="140">
                  <c:v>0.55927995080584203</c:v>
                </c:pt>
                <c:pt idx="141">
                  <c:v>0.60260582931028095</c:v>
                </c:pt>
                <c:pt idx="142">
                  <c:v>0.72850837742778696</c:v>
                </c:pt>
                <c:pt idx="143">
                  <c:v>0.769426288466591</c:v>
                </c:pt>
                <c:pt idx="144">
                  <c:v>0.76833211087653297</c:v>
                </c:pt>
                <c:pt idx="145">
                  <c:v>0.732195057450439</c:v>
                </c:pt>
                <c:pt idx="146">
                  <c:v>0.79336710567798696</c:v>
                </c:pt>
                <c:pt idx="147">
                  <c:v>0.81149174558591197</c:v>
                </c:pt>
                <c:pt idx="148">
                  <c:v>0.79173406072518504</c:v>
                </c:pt>
                <c:pt idx="149">
                  <c:v>0.68857017211934701</c:v>
                </c:pt>
                <c:pt idx="150">
                  <c:v>0.76948544283018205</c:v>
                </c:pt>
                <c:pt idx="151">
                  <c:v>0.73153515943713499</c:v>
                </c:pt>
                <c:pt idx="152">
                  <c:v>0.64271311842684598</c:v>
                </c:pt>
                <c:pt idx="153">
                  <c:v>0.64127080834763694</c:v>
                </c:pt>
                <c:pt idx="154">
                  <c:v>0.58358220441457098</c:v>
                </c:pt>
                <c:pt idx="155">
                  <c:v>0.57997892806395601</c:v>
                </c:pt>
                <c:pt idx="156">
                  <c:v>0.555096534677191</c:v>
                </c:pt>
                <c:pt idx="157">
                  <c:v>0.59351739235175405</c:v>
                </c:pt>
                <c:pt idx="158">
                  <c:v>0.640010525508934</c:v>
                </c:pt>
                <c:pt idx="159">
                  <c:v>0.641007859456873</c:v>
                </c:pt>
                <c:pt idx="160">
                  <c:v>0.72590930220267003</c:v>
                </c:pt>
                <c:pt idx="161">
                  <c:v>0.76715832931317196</c:v>
                </c:pt>
                <c:pt idx="162">
                  <c:v>0.73079513071076196</c:v>
                </c:pt>
                <c:pt idx="163">
                  <c:v>0.68632933440003197</c:v>
                </c:pt>
                <c:pt idx="164">
                  <c:v>0.684442361485053</c:v>
                </c:pt>
                <c:pt idx="165">
                  <c:v>0.73198493777118001</c:v>
                </c:pt>
                <c:pt idx="166">
                  <c:v>0.68652732115680604</c:v>
                </c:pt>
                <c:pt idx="167">
                  <c:v>0.73018796633644001</c:v>
                </c:pt>
                <c:pt idx="168">
                  <c:v>0.68450438143886005</c:v>
                </c:pt>
                <c:pt idx="169">
                  <c:v>0.65157328022433403</c:v>
                </c:pt>
                <c:pt idx="170">
                  <c:v>0.69782122652957301</c:v>
                </c:pt>
                <c:pt idx="171">
                  <c:v>0.74322583937257003</c:v>
                </c:pt>
                <c:pt idx="172">
                  <c:v>0.741465269880487</c:v>
                </c:pt>
                <c:pt idx="173">
                  <c:v>0.75311294857435296</c:v>
                </c:pt>
                <c:pt idx="174">
                  <c:v>0.81447465128368302</c:v>
                </c:pt>
                <c:pt idx="175">
                  <c:v>0.81448915279691303</c:v>
                </c:pt>
                <c:pt idx="176">
                  <c:v>0.83369685729657195</c:v>
                </c:pt>
                <c:pt idx="177">
                  <c:v>0.83441070814585505</c:v>
                </c:pt>
                <c:pt idx="178">
                  <c:v>0.84407077334338998</c:v>
                </c:pt>
                <c:pt idx="179">
                  <c:v>0.824454253938531</c:v>
                </c:pt>
                <c:pt idx="180">
                  <c:v>0.82589246523279602</c:v>
                </c:pt>
                <c:pt idx="181">
                  <c:v>0.84407077334338998</c:v>
                </c:pt>
                <c:pt idx="182">
                  <c:v>0.86674293264243896</c:v>
                </c:pt>
                <c:pt idx="183">
                  <c:v>0.82890227253426596</c:v>
                </c:pt>
                <c:pt idx="184">
                  <c:v>0.84648587198714098</c:v>
                </c:pt>
                <c:pt idx="185">
                  <c:v>0.84648587198714098</c:v>
                </c:pt>
                <c:pt idx="186">
                  <c:v>0.84693805880599304</c:v>
                </c:pt>
                <c:pt idx="187">
                  <c:v>0.83214930029007805</c:v>
                </c:pt>
                <c:pt idx="188">
                  <c:v>0.84983360370315197</c:v>
                </c:pt>
                <c:pt idx="189">
                  <c:v>0.87098339925649604</c:v>
                </c:pt>
                <c:pt idx="190">
                  <c:v>0.87098339925649604</c:v>
                </c:pt>
                <c:pt idx="191">
                  <c:v>0.87380583264278999</c:v>
                </c:pt>
                <c:pt idx="192">
                  <c:v>0.87282316645630098</c:v>
                </c:pt>
                <c:pt idx="193">
                  <c:v>0.83339683915826901</c:v>
                </c:pt>
                <c:pt idx="194">
                  <c:v>0.83469677777951401</c:v>
                </c:pt>
                <c:pt idx="195">
                  <c:v>0.85275490992422898</c:v>
                </c:pt>
                <c:pt idx="196">
                  <c:v>0.87407306805923601</c:v>
                </c:pt>
                <c:pt idx="197">
                  <c:v>0.90427695834799704</c:v>
                </c:pt>
                <c:pt idx="198">
                  <c:v>0.91415871688142003</c:v>
                </c:pt>
                <c:pt idx="199">
                  <c:v>0.90425801000292305</c:v>
                </c:pt>
                <c:pt idx="200">
                  <c:v>0.89330807391308997</c:v>
                </c:pt>
                <c:pt idx="201">
                  <c:v>0.89333391711787102</c:v>
                </c:pt>
                <c:pt idx="202">
                  <c:v>0.905011241503064</c:v>
                </c:pt>
                <c:pt idx="203">
                  <c:v>0.90562471296629599</c:v>
                </c:pt>
                <c:pt idx="204">
                  <c:v>0.91738283856560698</c:v>
                </c:pt>
                <c:pt idx="205">
                  <c:v>0.91630211530110295</c:v>
                </c:pt>
                <c:pt idx="206">
                  <c:v>0.92646419287507198</c:v>
                </c:pt>
                <c:pt idx="207">
                  <c:v>0.92571360320613905</c:v>
                </c:pt>
                <c:pt idx="208">
                  <c:v>0.91736458306846103</c:v>
                </c:pt>
                <c:pt idx="209">
                  <c:v>0.93802679486435903</c:v>
                </c:pt>
                <c:pt idx="210">
                  <c:v>0.94118254536371704</c:v>
                </c:pt>
                <c:pt idx="211">
                  <c:v>0.94123508910533804</c:v>
                </c:pt>
                <c:pt idx="212">
                  <c:v>0.94118254536371704</c:v>
                </c:pt>
                <c:pt idx="213">
                  <c:v>0.94276245790638102</c:v>
                </c:pt>
                <c:pt idx="214">
                  <c:v>0.94029174019523298</c:v>
                </c:pt>
                <c:pt idx="215">
                  <c:v>0.93829546422584498</c:v>
                </c:pt>
                <c:pt idx="216">
                  <c:v>0.93258058102369301</c:v>
                </c:pt>
                <c:pt idx="217">
                  <c:v>0.93870362974987798</c:v>
                </c:pt>
                <c:pt idx="218">
                  <c:v>0.92338991003179305</c:v>
                </c:pt>
                <c:pt idx="219">
                  <c:v>0.93778619299504695</c:v>
                </c:pt>
                <c:pt idx="220">
                  <c:v>0.94062134279207998</c:v>
                </c:pt>
                <c:pt idx="221">
                  <c:v>0.94047446142896596</c:v>
                </c:pt>
                <c:pt idx="222">
                  <c:v>0.94241786802401695</c:v>
                </c:pt>
                <c:pt idx="223">
                  <c:v>0.94078919694529395</c:v>
                </c:pt>
                <c:pt idx="224">
                  <c:v>0.94300276803956395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591936"/>
        <c:axId val="253593472"/>
      </c:lineChart>
      <c:dateAx>
        <c:axId val="25359193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3593472"/>
        <c:crosses val="autoZero"/>
        <c:auto val="1"/>
        <c:lblOffset val="100"/>
        <c:baseTimeUnit val="days"/>
        <c:majorUnit val="6"/>
        <c:majorTimeUnit val="months"/>
      </c:dateAx>
      <c:valAx>
        <c:axId val="25359347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crossAx val="253591936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dirty="0" err="1" smtClean="0"/>
              <a:t>HARPable</a:t>
            </a:r>
            <a:r>
              <a:rPr lang="en-US" sz="1200" dirty="0" smtClean="0"/>
              <a:t> Balance</a:t>
            </a:r>
            <a:endParaRPr lang="en-US" sz="1200" dirty="0"/>
          </a:p>
        </c:rich>
      </c:tx>
      <c:overlay val="0"/>
      <c:spPr>
        <a:solidFill>
          <a:schemeClr val="bg1"/>
        </a:solidFill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'HARPable Universe'!$K$2</c:f>
              <c:strCache>
                <c:ptCount val="1"/>
                <c:pt idx="0">
                  <c:v>HARPable Balance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'HARPable Universe'!$I$3:$I$228</c:f>
              <c:numCache>
                <c:formatCode>m/d/yyyy</c:formatCode>
                <c:ptCount val="226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  <c:pt idx="225">
                  <c:v>42124</c:v>
                </c:pt>
              </c:numCache>
            </c:numRef>
          </c:cat>
          <c:val>
            <c:numRef>
              <c:f>'HARPable Universe'!$K$3:$K$228</c:f>
              <c:numCache>
                <c:formatCode>_(* #,##0_);_(* \(#,##0\);_(* "-"??_);_(@_)</c:formatCode>
                <c:ptCount val="226"/>
                <c:pt idx="0">
                  <c:v>511152631253.10303</c:v>
                </c:pt>
                <c:pt idx="1">
                  <c:v>511152631253.10303</c:v>
                </c:pt>
                <c:pt idx="2">
                  <c:v>511152631253.10303</c:v>
                </c:pt>
                <c:pt idx="3">
                  <c:v>511152631253.10303</c:v>
                </c:pt>
                <c:pt idx="4">
                  <c:v>498355321367.67102</c:v>
                </c:pt>
                <c:pt idx="5">
                  <c:v>498355321367.67102</c:v>
                </c:pt>
                <c:pt idx="6">
                  <c:v>498355321367.67102</c:v>
                </c:pt>
                <c:pt idx="7">
                  <c:v>498355321367.67102</c:v>
                </c:pt>
                <c:pt idx="8">
                  <c:v>487217270284.03302</c:v>
                </c:pt>
                <c:pt idx="9">
                  <c:v>487217270284.03302</c:v>
                </c:pt>
                <c:pt idx="10">
                  <c:v>487217270284.03302</c:v>
                </c:pt>
                <c:pt idx="11">
                  <c:v>487217270284.03302</c:v>
                </c:pt>
                <c:pt idx="12">
                  <c:v>487217270284.03302</c:v>
                </c:pt>
                <c:pt idx="13">
                  <c:v>478049332159.64398</c:v>
                </c:pt>
                <c:pt idx="14">
                  <c:v>478049332159.64398</c:v>
                </c:pt>
                <c:pt idx="15">
                  <c:v>478049332159.64398</c:v>
                </c:pt>
                <c:pt idx="16">
                  <c:v>478049332159.64398</c:v>
                </c:pt>
                <c:pt idx="17">
                  <c:v>470003496681.77802</c:v>
                </c:pt>
                <c:pt idx="18">
                  <c:v>470003496681.77802</c:v>
                </c:pt>
                <c:pt idx="19">
                  <c:v>470003496681.77802</c:v>
                </c:pt>
                <c:pt idx="20">
                  <c:v>470003496681.77802</c:v>
                </c:pt>
                <c:pt idx="21">
                  <c:v>462480304706.05603</c:v>
                </c:pt>
                <c:pt idx="22">
                  <c:v>462480304706.05603</c:v>
                </c:pt>
                <c:pt idx="23">
                  <c:v>462480304706.05603</c:v>
                </c:pt>
                <c:pt idx="24">
                  <c:v>462480304706.05603</c:v>
                </c:pt>
                <c:pt idx="25">
                  <c:v>462480304706.05603</c:v>
                </c:pt>
                <c:pt idx="26">
                  <c:v>454274419000.159</c:v>
                </c:pt>
                <c:pt idx="27">
                  <c:v>454274419000.159</c:v>
                </c:pt>
                <c:pt idx="28">
                  <c:v>454274419000.159</c:v>
                </c:pt>
                <c:pt idx="29">
                  <c:v>454274419000.159</c:v>
                </c:pt>
                <c:pt idx="30">
                  <c:v>446036314532.50897</c:v>
                </c:pt>
                <c:pt idx="31">
                  <c:v>446036314532.50897</c:v>
                </c:pt>
                <c:pt idx="32">
                  <c:v>446036314532.50897</c:v>
                </c:pt>
                <c:pt idx="33">
                  <c:v>446036314532.50897</c:v>
                </c:pt>
                <c:pt idx="34">
                  <c:v>436967852620.36298</c:v>
                </c:pt>
                <c:pt idx="35">
                  <c:v>436967852620.36298</c:v>
                </c:pt>
                <c:pt idx="36">
                  <c:v>436967852620.36298</c:v>
                </c:pt>
                <c:pt idx="37">
                  <c:v>436967852620.36298</c:v>
                </c:pt>
                <c:pt idx="38">
                  <c:v>436967852620.36298</c:v>
                </c:pt>
                <c:pt idx="39">
                  <c:v>426018974879.43103</c:v>
                </c:pt>
                <c:pt idx="40">
                  <c:v>426018974879.43103</c:v>
                </c:pt>
                <c:pt idx="41">
                  <c:v>426018974879.43103</c:v>
                </c:pt>
                <c:pt idx="42">
                  <c:v>426018974879.43103</c:v>
                </c:pt>
                <c:pt idx="43">
                  <c:v>412851613521.01099</c:v>
                </c:pt>
                <c:pt idx="44">
                  <c:v>412851613521.01099</c:v>
                </c:pt>
                <c:pt idx="45">
                  <c:v>412851613521.01099</c:v>
                </c:pt>
                <c:pt idx="46">
                  <c:v>412851613521.01099</c:v>
                </c:pt>
                <c:pt idx="47">
                  <c:v>399942599684.46997</c:v>
                </c:pt>
                <c:pt idx="48">
                  <c:v>399942599684.46997</c:v>
                </c:pt>
                <c:pt idx="49">
                  <c:v>399942599684.46997</c:v>
                </c:pt>
                <c:pt idx="50">
                  <c:v>399942599684.46997</c:v>
                </c:pt>
                <c:pt idx="51">
                  <c:v>399942599684.46997</c:v>
                </c:pt>
                <c:pt idx="52">
                  <c:v>388008884102.70697</c:v>
                </c:pt>
                <c:pt idx="53">
                  <c:v>388008884102.70697</c:v>
                </c:pt>
                <c:pt idx="54">
                  <c:v>388008884102.70697</c:v>
                </c:pt>
                <c:pt idx="55">
                  <c:v>388008884102.70697</c:v>
                </c:pt>
                <c:pt idx="56">
                  <c:v>377010024939.07202</c:v>
                </c:pt>
                <c:pt idx="57">
                  <c:v>377010024939.07202</c:v>
                </c:pt>
                <c:pt idx="58">
                  <c:v>377010024939.07202</c:v>
                </c:pt>
                <c:pt idx="59">
                  <c:v>377010024939.07202</c:v>
                </c:pt>
                <c:pt idx="60">
                  <c:v>364462334224.22998</c:v>
                </c:pt>
                <c:pt idx="61">
                  <c:v>364462334224.22998</c:v>
                </c:pt>
                <c:pt idx="62">
                  <c:v>364462334224.22998</c:v>
                </c:pt>
                <c:pt idx="63">
                  <c:v>364462334224.22998</c:v>
                </c:pt>
                <c:pt idx="64">
                  <c:v>364462334224.22998</c:v>
                </c:pt>
                <c:pt idx="65">
                  <c:v>350890768985.05603</c:v>
                </c:pt>
                <c:pt idx="66">
                  <c:v>350890768985.05603</c:v>
                </c:pt>
                <c:pt idx="67">
                  <c:v>350890768985.05603</c:v>
                </c:pt>
                <c:pt idx="68">
                  <c:v>350890768985.05603</c:v>
                </c:pt>
                <c:pt idx="69">
                  <c:v>338046228672.72302</c:v>
                </c:pt>
                <c:pt idx="70">
                  <c:v>338046228672.72302</c:v>
                </c:pt>
                <c:pt idx="71">
                  <c:v>338046228672.72302</c:v>
                </c:pt>
                <c:pt idx="72">
                  <c:v>338046228672.72302</c:v>
                </c:pt>
                <c:pt idx="73">
                  <c:v>338046228672.72302</c:v>
                </c:pt>
                <c:pt idx="74">
                  <c:v>324611094201.94598</c:v>
                </c:pt>
                <c:pt idx="75">
                  <c:v>324611094201.94598</c:v>
                </c:pt>
                <c:pt idx="76">
                  <c:v>324611094201.94598</c:v>
                </c:pt>
                <c:pt idx="77">
                  <c:v>324611094201.94598</c:v>
                </c:pt>
                <c:pt idx="78">
                  <c:v>311798813958.06299</c:v>
                </c:pt>
                <c:pt idx="79">
                  <c:v>311798813958.06299</c:v>
                </c:pt>
                <c:pt idx="80">
                  <c:v>311798813958.06299</c:v>
                </c:pt>
                <c:pt idx="81">
                  <c:v>311798813958.06299</c:v>
                </c:pt>
                <c:pt idx="82">
                  <c:v>299045132715.31299</c:v>
                </c:pt>
                <c:pt idx="83">
                  <c:v>299045132715.31299</c:v>
                </c:pt>
                <c:pt idx="84">
                  <c:v>299045132715.31299</c:v>
                </c:pt>
                <c:pt idx="85">
                  <c:v>299045132715.31299</c:v>
                </c:pt>
                <c:pt idx="86">
                  <c:v>299045132715.31299</c:v>
                </c:pt>
                <c:pt idx="87">
                  <c:v>285566306127.30701</c:v>
                </c:pt>
                <c:pt idx="88">
                  <c:v>285566306127.30701</c:v>
                </c:pt>
                <c:pt idx="89">
                  <c:v>285566306127.30701</c:v>
                </c:pt>
                <c:pt idx="90">
                  <c:v>285566306127.30701</c:v>
                </c:pt>
                <c:pt idx="91">
                  <c:v>273811402301.38901</c:v>
                </c:pt>
                <c:pt idx="92">
                  <c:v>273811402301.38901</c:v>
                </c:pt>
                <c:pt idx="93">
                  <c:v>273811402301.38901</c:v>
                </c:pt>
                <c:pt idx="94">
                  <c:v>273811402301.38901</c:v>
                </c:pt>
                <c:pt idx="95">
                  <c:v>261291167855.54599</c:v>
                </c:pt>
                <c:pt idx="96">
                  <c:v>261291167855.54599</c:v>
                </c:pt>
                <c:pt idx="97">
                  <c:v>261291167855.54599</c:v>
                </c:pt>
                <c:pt idx="98">
                  <c:v>261291167855.54599</c:v>
                </c:pt>
                <c:pt idx="99">
                  <c:v>261291167855.54599</c:v>
                </c:pt>
                <c:pt idx="100">
                  <c:v>249957281866.888</c:v>
                </c:pt>
                <c:pt idx="101">
                  <c:v>249957281866.888</c:v>
                </c:pt>
                <c:pt idx="102">
                  <c:v>249957281866.888</c:v>
                </c:pt>
                <c:pt idx="103">
                  <c:v>249957281866.888</c:v>
                </c:pt>
                <c:pt idx="104">
                  <c:v>238607531217.349</c:v>
                </c:pt>
                <c:pt idx="105">
                  <c:v>238607531217.349</c:v>
                </c:pt>
                <c:pt idx="106">
                  <c:v>238607531217.349</c:v>
                </c:pt>
                <c:pt idx="107">
                  <c:v>238607531217.349</c:v>
                </c:pt>
                <c:pt idx="108">
                  <c:v>238607531217.349</c:v>
                </c:pt>
                <c:pt idx="109">
                  <c:v>227504189704.84799</c:v>
                </c:pt>
                <c:pt idx="110">
                  <c:v>227504189704.84799</c:v>
                </c:pt>
                <c:pt idx="111">
                  <c:v>227504189704.84799</c:v>
                </c:pt>
                <c:pt idx="112">
                  <c:v>227504189704.84799</c:v>
                </c:pt>
                <c:pt idx="113">
                  <c:v>216694156147.63699</c:v>
                </c:pt>
                <c:pt idx="114">
                  <c:v>216694156147.63699</c:v>
                </c:pt>
                <c:pt idx="115">
                  <c:v>216694156147.63699</c:v>
                </c:pt>
                <c:pt idx="116">
                  <c:v>216694156147.63699</c:v>
                </c:pt>
                <c:pt idx="117">
                  <c:v>205810683336.68799</c:v>
                </c:pt>
                <c:pt idx="118">
                  <c:v>205810683336.68799</c:v>
                </c:pt>
                <c:pt idx="119">
                  <c:v>205810683336.68799</c:v>
                </c:pt>
                <c:pt idx="120">
                  <c:v>205810683336.68799</c:v>
                </c:pt>
                <c:pt idx="121">
                  <c:v>195225890723.888</c:v>
                </c:pt>
                <c:pt idx="122">
                  <c:v>195225890723.888</c:v>
                </c:pt>
                <c:pt idx="123">
                  <c:v>195225890723.888</c:v>
                </c:pt>
                <c:pt idx="124">
                  <c:v>195225890723.888</c:v>
                </c:pt>
                <c:pt idx="125">
                  <c:v>195225890723.888</c:v>
                </c:pt>
                <c:pt idx="126">
                  <c:v>185053119902.13599</c:v>
                </c:pt>
                <c:pt idx="127">
                  <c:v>185053119902.13599</c:v>
                </c:pt>
                <c:pt idx="128">
                  <c:v>185053119902.13599</c:v>
                </c:pt>
                <c:pt idx="129">
                  <c:v>185053119902.13599</c:v>
                </c:pt>
                <c:pt idx="130">
                  <c:v>176083452320.259</c:v>
                </c:pt>
                <c:pt idx="131">
                  <c:v>176083452320.259</c:v>
                </c:pt>
                <c:pt idx="132">
                  <c:v>176083452320.259</c:v>
                </c:pt>
                <c:pt idx="133">
                  <c:v>176083452320.259</c:v>
                </c:pt>
                <c:pt idx="134">
                  <c:v>167577702279.88699</c:v>
                </c:pt>
                <c:pt idx="135">
                  <c:v>167577702279.88699</c:v>
                </c:pt>
                <c:pt idx="136">
                  <c:v>167577702279.88699</c:v>
                </c:pt>
                <c:pt idx="137">
                  <c:v>167577702279.88699</c:v>
                </c:pt>
                <c:pt idx="138">
                  <c:v>167577702279.88699</c:v>
                </c:pt>
                <c:pt idx="139">
                  <c:v>160787339683.77899</c:v>
                </c:pt>
                <c:pt idx="140">
                  <c:v>160787339683.77899</c:v>
                </c:pt>
                <c:pt idx="141">
                  <c:v>160787339683.77899</c:v>
                </c:pt>
                <c:pt idx="142">
                  <c:v>160787339683.77899</c:v>
                </c:pt>
                <c:pt idx="143">
                  <c:v>155649461575.04901</c:v>
                </c:pt>
                <c:pt idx="144">
                  <c:v>155649461575.04901</c:v>
                </c:pt>
                <c:pt idx="145">
                  <c:v>155649461575.04901</c:v>
                </c:pt>
                <c:pt idx="146">
                  <c:v>155649461575.04901</c:v>
                </c:pt>
                <c:pt idx="147">
                  <c:v>155649461575.04901</c:v>
                </c:pt>
                <c:pt idx="148">
                  <c:v>151540990492.15701</c:v>
                </c:pt>
                <c:pt idx="149">
                  <c:v>151540990492.15701</c:v>
                </c:pt>
                <c:pt idx="150">
                  <c:v>151540990492.15701</c:v>
                </c:pt>
                <c:pt idx="151">
                  <c:v>151540990492.15701</c:v>
                </c:pt>
                <c:pt idx="152">
                  <c:v>147596217220.30301</c:v>
                </c:pt>
                <c:pt idx="153">
                  <c:v>147596217220.30301</c:v>
                </c:pt>
                <c:pt idx="154">
                  <c:v>147596217220.30301</c:v>
                </c:pt>
                <c:pt idx="155">
                  <c:v>147596217220.30301</c:v>
                </c:pt>
                <c:pt idx="156">
                  <c:v>143491329926.00299</c:v>
                </c:pt>
                <c:pt idx="157">
                  <c:v>143491329926.00299</c:v>
                </c:pt>
                <c:pt idx="158">
                  <c:v>143491329926.00299</c:v>
                </c:pt>
                <c:pt idx="159">
                  <c:v>143491329926.00299</c:v>
                </c:pt>
                <c:pt idx="160">
                  <c:v>143491329926.00299</c:v>
                </c:pt>
                <c:pt idx="161">
                  <c:v>140177207664.35901</c:v>
                </c:pt>
                <c:pt idx="162">
                  <c:v>140177207664.35901</c:v>
                </c:pt>
                <c:pt idx="163">
                  <c:v>140177207664.35901</c:v>
                </c:pt>
                <c:pt idx="164">
                  <c:v>140177207664.35901</c:v>
                </c:pt>
                <c:pt idx="165">
                  <c:v>137302780283.616</c:v>
                </c:pt>
                <c:pt idx="166">
                  <c:v>137302780283.616</c:v>
                </c:pt>
                <c:pt idx="167">
                  <c:v>137302780283.616</c:v>
                </c:pt>
                <c:pt idx="168">
                  <c:v>137302780283.616</c:v>
                </c:pt>
                <c:pt idx="169">
                  <c:v>134084311974.908</c:v>
                </c:pt>
                <c:pt idx="170">
                  <c:v>134084311974.908</c:v>
                </c:pt>
                <c:pt idx="171">
                  <c:v>134084311974.908</c:v>
                </c:pt>
                <c:pt idx="172">
                  <c:v>134084311974.908</c:v>
                </c:pt>
                <c:pt idx="173">
                  <c:v>131022110576.76801</c:v>
                </c:pt>
                <c:pt idx="174">
                  <c:v>131022110576.76801</c:v>
                </c:pt>
                <c:pt idx="175">
                  <c:v>131022110576.76801</c:v>
                </c:pt>
                <c:pt idx="176">
                  <c:v>131022110576.76801</c:v>
                </c:pt>
                <c:pt idx="177">
                  <c:v>131022110576.76801</c:v>
                </c:pt>
                <c:pt idx="178">
                  <c:v>127996673162.017</c:v>
                </c:pt>
                <c:pt idx="179">
                  <c:v>127996673162.017</c:v>
                </c:pt>
                <c:pt idx="180">
                  <c:v>127996673162.017</c:v>
                </c:pt>
                <c:pt idx="181">
                  <c:v>127996673162.017</c:v>
                </c:pt>
                <c:pt idx="182">
                  <c:v>124999566160.547</c:v>
                </c:pt>
                <c:pt idx="183">
                  <c:v>124999566160.547</c:v>
                </c:pt>
                <c:pt idx="184">
                  <c:v>124999566160.547</c:v>
                </c:pt>
                <c:pt idx="185">
                  <c:v>124999566160.547</c:v>
                </c:pt>
                <c:pt idx="186">
                  <c:v>124999566160.547</c:v>
                </c:pt>
                <c:pt idx="187">
                  <c:v>122034558755.91701</c:v>
                </c:pt>
                <c:pt idx="188">
                  <c:v>122034558755.91701</c:v>
                </c:pt>
                <c:pt idx="189">
                  <c:v>122034558755.91701</c:v>
                </c:pt>
                <c:pt idx="190">
                  <c:v>122034558755.91701</c:v>
                </c:pt>
                <c:pt idx="191">
                  <c:v>119186886371.356</c:v>
                </c:pt>
                <c:pt idx="192">
                  <c:v>119186886371.356</c:v>
                </c:pt>
                <c:pt idx="193">
                  <c:v>119186886371.356</c:v>
                </c:pt>
                <c:pt idx="194">
                  <c:v>119186886371.356</c:v>
                </c:pt>
                <c:pt idx="195">
                  <c:v>116367013129.366</c:v>
                </c:pt>
                <c:pt idx="196">
                  <c:v>116367013129.366</c:v>
                </c:pt>
                <c:pt idx="197">
                  <c:v>116367013129.366</c:v>
                </c:pt>
                <c:pt idx="198">
                  <c:v>116367013129.366</c:v>
                </c:pt>
                <c:pt idx="199">
                  <c:v>116367013129.366</c:v>
                </c:pt>
                <c:pt idx="200">
                  <c:v>113578619016.686</c:v>
                </c:pt>
                <c:pt idx="201">
                  <c:v>113578619016.686</c:v>
                </c:pt>
                <c:pt idx="202">
                  <c:v>113578619016.686</c:v>
                </c:pt>
                <c:pt idx="203">
                  <c:v>113578619016.686</c:v>
                </c:pt>
                <c:pt idx="204">
                  <c:v>111141034606.26401</c:v>
                </c:pt>
                <c:pt idx="205">
                  <c:v>111141034606.26401</c:v>
                </c:pt>
                <c:pt idx="206">
                  <c:v>111141034606.26401</c:v>
                </c:pt>
                <c:pt idx="207">
                  <c:v>111141034606.26401</c:v>
                </c:pt>
                <c:pt idx="208">
                  <c:v>111141034606.26401</c:v>
                </c:pt>
                <c:pt idx="209">
                  <c:v>108459729439.83501</c:v>
                </c:pt>
                <c:pt idx="210">
                  <c:v>108459729439.83501</c:v>
                </c:pt>
                <c:pt idx="211">
                  <c:v>108459729439.83501</c:v>
                </c:pt>
                <c:pt idx="212">
                  <c:v>108459729439.83501</c:v>
                </c:pt>
                <c:pt idx="213">
                  <c:v>106176807405.543</c:v>
                </c:pt>
                <c:pt idx="214">
                  <c:v>106176807405.543</c:v>
                </c:pt>
                <c:pt idx="215">
                  <c:v>106176807405.543</c:v>
                </c:pt>
                <c:pt idx="216">
                  <c:v>106176807405.543</c:v>
                </c:pt>
                <c:pt idx="217">
                  <c:v>103782963597.884</c:v>
                </c:pt>
                <c:pt idx="218">
                  <c:v>103782963597.884</c:v>
                </c:pt>
                <c:pt idx="219">
                  <c:v>103782963597.884</c:v>
                </c:pt>
                <c:pt idx="220">
                  <c:v>103782963597.884</c:v>
                </c:pt>
                <c:pt idx="221">
                  <c:v>100652792127.048</c:v>
                </c:pt>
                <c:pt idx="222">
                  <c:v>100652792127.048</c:v>
                </c:pt>
                <c:pt idx="223">
                  <c:v>100652792127.048</c:v>
                </c:pt>
                <c:pt idx="224">
                  <c:v>100652792127.048</c:v>
                </c:pt>
                <c:pt idx="225">
                  <c:v>100652792127.048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'HARPable Universe'!$L$2</c:f>
              <c:strCache>
                <c:ptCount val="1"/>
                <c:pt idx="0">
                  <c:v>Total Balance</c:v>
                </c:pt>
              </c:strCache>
            </c:strRef>
          </c:tx>
          <c:marker>
            <c:symbol val="none"/>
          </c:marker>
          <c:cat>
            <c:numRef>
              <c:f>'HARPable Universe'!$I$3:$I$228</c:f>
              <c:numCache>
                <c:formatCode>m/d/yyyy</c:formatCode>
                <c:ptCount val="226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  <c:pt idx="225">
                  <c:v>42124</c:v>
                </c:pt>
              </c:numCache>
            </c:numRef>
          </c:cat>
          <c:val>
            <c:numRef>
              <c:f>'HARPable Universe'!$L$3:$L$228</c:f>
              <c:numCache>
                <c:formatCode>_(* #,##0_);_(* \(#,##0\);_(* "-"??_);_(@_)</c:formatCode>
                <c:ptCount val="226"/>
                <c:pt idx="0">
                  <c:v>895480193330.53601</c:v>
                </c:pt>
                <c:pt idx="1">
                  <c:v>895480193330.53601</c:v>
                </c:pt>
                <c:pt idx="2">
                  <c:v>895480193330.53601</c:v>
                </c:pt>
                <c:pt idx="3">
                  <c:v>895480193330.53601</c:v>
                </c:pt>
                <c:pt idx="4">
                  <c:v>900632902369.08301</c:v>
                </c:pt>
                <c:pt idx="5">
                  <c:v>900632902369.08301</c:v>
                </c:pt>
                <c:pt idx="6">
                  <c:v>900632902369.08301</c:v>
                </c:pt>
                <c:pt idx="7">
                  <c:v>900632902369.08301</c:v>
                </c:pt>
                <c:pt idx="8">
                  <c:v>898485534285.64099</c:v>
                </c:pt>
                <c:pt idx="9">
                  <c:v>898485534285.64099</c:v>
                </c:pt>
                <c:pt idx="10">
                  <c:v>898485534285.64099</c:v>
                </c:pt>
                <c:pt idx="11">
                  <c:v>898485534285.64099</c:v>
                </c:pt>
                <c:pt idx="12">
                  <c:v>898485534285.64099</c:v>
                </c:pt>
                <c:pt idx="13">
                  <c:v>898010001419.72205</c:v>
                </c:pt>
                <c:pt idx="14">
                  <c:v>898010001419.72205</c:v>
                </c:pt>
                <c:pt idx="15">
                  <c:v>898010001419.72205</c:v>
                </c:pt>
                <c:pt idx="16">
                  <c:v>898010001419.72205</c:v>
                </c:pt>
                <c:pt idx="17">
                  <c:v>897679401564.875</c:v>
                </c:pt>
                <c:pt idx="18">
                  <c:v>897679401564.875</c:v>
                </c:pt>
                <c:pt idx="19">
                  <c:v>897679401564.875</c:v>
                </c:pt>
                <c:pt idx="20">
                  <c:v>897679401564.875</c:v>
                </c:pt>
                <c:pt idx="21">
                  <c:v>898925930940.14294</c:v>
                </c:pt>
                <c:pt idx="22">
                  <c:v>898925930940.14294</c:v>
                </c:pt>
                <c:pt idx="23">
                  <c:v>898925930940.14294</c:v>
                </c:pt>
                <c:pt idx="24">
                  <c:v>898925930940.14294</c:v>
                </c:pt>
                <c:pt idx="25">
                  <c:v>898925930940.14294</c:v>
                </c:pt>
                <c:pt idx="26">
                  <c:v>896187746439.72998</c:v>
                </c:pt>
                <c:pt idx="27">
                  <c:v>896187746439.72998</c:v>
                </c:pt>
                <c:pt idx="28">
                  <c:v>896187746439.72998</c:v>
                </c:pt>
                <c:pt idx="29">
                  <c:v>896187746439.72998</c:v>
                </c:pt>
                <c:pt idx="30">
                  <c:v>896440206380.84204</c:v>
                </c:pt>
                <c:pt idx="31">
                  <c:v>896440206380.84204</c:v>
                </c:pt>
                <c:pt idx="32">
                  <c:v>896440206380.84204</c:v>
                </c:pt>
                <c:pt idx="33">
                  <c:v>896440206380.84204</c:v>
                </c:pt>
                <c:pt idx="34">
                  <c:v>895897744776.50806</c:v>
                </c:pt>
                <c:pt idx="35">
                  <c:v>895897744776.50806</c:v>
                </c:pt>
                <c:pt idx="36">
                  <c:v>895897744776.50806</c:v>
                </c:pt>
                <c:pt idx="37">
                  <c:v>895897744776.50806</c:v>
                </c:pt>
                <c:pt idx="38">
                  <c:v>895897744776.50806</c:v>
                </c:pt>
                <c:pt idx="39">
                  <c:v>890903153887.02795</c:v>
                </c:pt>
                <c:pt idx="40">
                  <c:v>890903153887.02795</c:v>
                </c:pt>
                <c:pt idx="41">
                  <c:v>890903153887.02795</c:v>
                </c:pt>
                <c:pt idx="42">
                  <c:v>890903153887.02795</c:v>
                </c:pt>
                <c:pt idx="43">
                  <c:v>880795609040.20496</c:v>
                </c:pt>
                <c:pt idx="44">
                  <c:v>880795609040.20496</c:v>
                </c:pt>
                <c:pt idx="45">
                  <c:v>880795609040.20496</c:v>
                </c:pt>
                <c:pt idx="46">
                  <c:v>880795609040.20496</c:v>
                </c:pt>
                <c:pt idx="47">
                  <c:v>867951071508.93604</c:v>
                </c:pt>
                <c:pt idx="48">
                  <c:v>867951071508.93604</c:v>
                </c:pt>
                <c:pt idx="49">
                  <c:v>867951071508.93604</c:v>
                </c:pt>
                <c:pt idx="50">
                  <c:v>867951071508.93604</c:v>
                </c:pt>
                <c:pt idx="51">
                  <c:v>867951071508.93604</c:v>
                </c:pt>
                <c:pt idx="52">
                  <c:v>862642562832.45898</c:v>
                </c:pt>
                <c:pt idx="53">
                  <c:v>862642562832.45898</c:v>
                </c:pt>
                <c:pt idx="54">
                  <c:v>862642562832.45898</c:v>
                </c:pt>
                <c:pt idx="55">
                  <c:v>862642562832.45898</c:v>
                </c:pt>
                <c:pt idx="56">
                  <c:v>865283651280.50305</c:v>
                </c:pt>
                <c:pt idx="57">
                  <c:v>865283651280.50305</c:v>
                </c:pt>
                <c:pt idx="58">
                  <c:v>865283651280.50305</c:v>
                </c:pt>
                <c:pt idx="59">
                  <c:v>865283651280.50305</c:v>
                </c:pt>
                <c:pt idx="60">
                  <c:v>861190703554.85706</c:v>
                </c:pt>
                <c:pt idx="61">
                  <c:v>861190703554.85706</c:v>
                </c:pt>
                <c:pt idx="62">
                  <c:v>861190703554.85706</c:v>
                </c:pt>
                <c:pt idx="63">
                  <c:v>861190703554.85706</c:v>
                </c:pt>
                <c:pt idx="64">
                  <c:v>861190703554.85706</c:v>
                </c:pt>
                <c:pt idx="65">
                  <c:v>852751932022.53503</c:v>
                </c:pt>
                <c:pt idx="66">
                  <c:v>852751932022.53503</c:v>
                </c:pt>
                <c:pt idx="67">
                  <c:v>852751932022.53503</c:v>
                </c:pt>
                <c:pt idx="68">
                  <c:v>852751932022.53503</c:v>
                </c:pt>
                <c:pt idx="69">
                  <c:v>843407158052.96497</c:v>
                </c:pt>
                <c:pt idx="70">
                  <c:v>843407158052.96497</c:v>
                </c:pt>
                <c:pt idx="71">
                  <c:v>843407158052.96497</c:v>
                </c:pt>
                <c:pt idx="72">
                  <c:v>843407158052.96497</c:v>
                </c:pt>
                <c:pt idx="73">
                  <c:v>843407158052.96497</c:v>
                </c:pt>
                <c:pt idx="74">
                  <c:v>842987221871.99902</c:v>
                </c:pt>
                <c:pt idx="75">
                  <c:v>842987221871.99902</c:v>
                </c:pt>
                <c:pt idx="76">
                  <c:v>842987221871.99902</c:v>
                </c:pt>
                <c:pt idx="77">
                  <c:v>842987221871.99902</c:v>
                </c:pt>
                <c:pt idx="78">
                  <c:v>836042456950.479</c:v>
                </c:pt>
                <c:pt idx="79">
                  <c:v>836042456950.479</c:v>
                </c:pt>
                <c:pt idx="80">
                  <c:v>836042456950.479</c:v>
                </c:pt>
                <c:pt idx="81">
                  <c:v>836042456950.479</c:v>
                </c:pt>
                <c:pt idx="82">
                  <c:v>833663605862.28699</c:v>
                </c:pt>
                <c:pt idx="83">
                  <c:v>833663605862.28699</c:v>
                </c:pt>
                <c:pt idx="84">
                  <c:v>833663605862.28699</c:v>
                </c:pt>
                <c:pt idx="85">
                  <c:v>833663605862.28699</c:v>
                </c:pt>
                <c:pt idx="86">
                  <c:v>833663605862.28699</c:v>
                </c:pt>
                <c:pt idx="87">
                  <c:v>824158873560.92102</c:v>
                </c:pt>
                <c:pt idx="88">
                  <c:v>824158873560.92102</c:v>
                </c:pt>
                <c:pt idx="89">
                  <c:v>824158873560.92102</c:v>
                </c:pt>
                <c:pt idx="90">
                  <c:v>824158873560.92102</c:v>
                </c:pt>
                <c:pt idx="91">
                  <c:v>825116182205.41797</c:v>
                </c:pt>
                <c:pt idx="92">
                  <c:v>825116182205.41797</c:v>
                </c:pt>
                <c:pt idx="93">
                  <c:v>825116182205.41797</c:v>
                </c:pt>
                <c:pt idx="94">
                  <c:v>825116182205.41797</c:v>
                </c:pt>
                <c:pt idx="95">
                  <c:v>830648730002.45105</c:v>
                </c:pt>
                <c:pt idx="96">
                  <c:v>830648730002.45105</c:v>
                </c:pt>
                <c:pt idx="97">
                  <c:v>830648730002.45105</c:v>
                </c:pt>
                <c:pt idx="98">
                  <c:v>830648730002.45105</c:v>
                </c:pt>
                <c:pt idx="99">
                  <c:v>830648730002.45105</c:v>
                </c:pt>
                <c:pt idx="100">
                  <c:v>820270598245.922</c:v>
                </c:pt>
                <c:pt idx="101">
                  <c:v>820270598245.922</c:v>
                </c:pt>
                <c:pt idx="102">
                  <c:v>820270598245.922</c:v>
                </c:pt>
                <c:pt idx="103">
                  <c:v>820270598245.922</c:v>
                </c:pt>
                <c:pt idx="104">
                  <c:v>819156247294.42395</c:v>
                </c:pt>
                <c:pt idx="105">
                  <c:v>819156247294.42395</c:v>
                </c:pt>
                <c:pt idx="106">
                  <c:v>819156247294.42395</c:v>
                </c:pt>
                <c:pt idx="107">
                  <c:v>819156247294.42395</c:v>
                </c:pt>
                <c:pt idx="108">
                  <c:v>819156247294.42395</c:v>
                </c:pt>
                <c:pt idx="109">
                  <c:v>818129385045.38</c:v>
                </c:pt>
                <c:pt idx="110">
                  <c:v>818129385045.38</c:v>
                </c:pt>
                <c:pt idx="111">
                  <c:v>818129385045.38</c:v>
                </c:pt>
                <c:pt idx="112">
                  <c:v>818129385045.38</c:v>
                </c:pt>
                <c:pt idx="113">
                  <c:v>824157902540.86401</c:v>
                </c:pt>
                <c:pt idx="114">
                  <c:v>824157902540.86401</c:v>
                </c:pt>
                <c:pt idx="115">
                  <c:v>824157902540.86401</c:v>
                </c:pt>
                <c:pt idx="116">
                  <c:v>824157902540.86401</c:v>
                </c:pt>
                <c:pt idx="117">
                  <c:v>828249997663.94495</c:v>
                </c:pt>
                <c:pt idx="118">
                  <c:v>828249997663.94495</c:v>
                </c:pt>
                <c:pt idx="119">
                  <c:v>828249997663.94495</c:v>
                </c:pt>
                <c:pt idx="120">
                  <c:v>828249997663.94495</c:v>
                </c:pt>
                <c:pt idx="121">
                  <c:v>828002980341.57397</c:v>
                </c:pt>
                <c:pt idx="122">
                  <c:v>828002980341.57397</c:v>
                </c:pt>
                <c:pt idx="123">
                  <c:v>828002980341.57397</c:v>
                </c:pt>
                <c:pt idx="124">
                  <c:v>828002980341.57397</c:v>
                </c:pt>
                <c:pt idx="125">
                  <c:v>828002980341.57397</c:v>
                </c:pt>
                <c:pt idx="126">
                  <c:v>832667072231.375</c:v>
                </c:pt>
                <c:pt idx="127">
                  <c:v>832667072231.375</c:v>
                </c:pt>
                <c:pt idx="128">
                  <c:v>832667072231.375</c:v>
                </c:pt>
                <c:pt idx="129">
                  <c:v>832667072231.375</c:v>
                </c:pt>
                <c:pt idx="130">
                  <c:v>835315019877.84595</c:v>
                </c:pt>
                <c:pt idx="131">
                  <c:v>835315019877.84595</c:v>
                </c:pt>
                <c:pt idx="132">
                  <c:v>835315019877.84595</c:v>
                </c:pt>
                <c:pt idx="133">
                  <c:v>835315019877.84595</c:v>
                </c:pt>
                <c:pt idx="134">
                  <c:v>839371166981.099</c:v>
                </c:pt>
                <c:pt idx="135">
                  <c:v>839371166981.099</c:v>
                </c:pt>
                <c:pt idx="136">
                  <c:v>839371166981.099</c:v>
                </c:pt>
                <c:pt idx="137">
                  <c:v>839371166981.099</c:v>
                </c:pt>
                <c:pt idx="138">
                  <c:v>839371166981.099</c:v>
                </c:pt>
                <c:pt idx="139">
                  <c:v>840680455152.82996</c:v>
                </c:pt>
                <c:pt idx="140">
                  <c:v>840680455152.82996</c:v>
                </c:pt>
                <c:pt idx="141">
                  <c:v>840680455152.82996</c:v>
                </c:pt>
                <c:pt idx="142">
                  <c:v>840680455152.82996</c:v>
                </c:pt>
                <c:pt idx="143">
                  <c:v>842920617157.08203</c:v>
                </c:pt>
                <c:pt idx="144">
                  <c:v>842920617157.08203</c:v>
                </c:pt>
                <c:pt idx="145">
                  <c:v>842920617157.08203</c:v>
                </c:pt>
                <c:pt idx="146">
                  <c:v>842920617157.08203</c:v>
                </c:pt>
                <c:pt idx="147">
                  <c:v>842920617157.08203</c:v>
                </c:pt>
                <c:pt idx="148">
                  <c:v>847381000644.36804</c:v>
                </c:pt>
                <c:pt idx="149">
                  <c:v>847381000644.36804</c:v>
                </c:pt>
                <c:pt idx="150">
                  <c:v>847381000644.36804</c:v>
                </c:pt>
                <c:pt idx="151">
                  <c:v>847381000644.36804</c:v>
                </c:pt>
                <c:pt idx="152">
                  <c:v>852925884546.91199</c:v>
                </c:pt>
                <c:pt idx="153">
                  <c:v>852925884546.91199</c:v>
                </c:pt>
                <c:pt idx="154">
                  <c:v>852925884546.91199</c:v>
                </c:pt>
                <c:pt idx="155">
                  <c:v>852925884546.91199</c:v>
                </c:pt>
                <c:pt idx="156">
                  <c:v>856169152140.41296</c:v>
                </c:pt>
                <c:pt idx="157">
                  <c:v>856169152140.41296</c:v>
                </c:pt>
                <c:pt idx="158">
                  <c:v>856169152140.41296</c:v>
                </c:pt>
                <c:pt idx="159">
                  <c:v>856169152140.41296</c:v>
                </c:pt>
                <c:pt idx="160">
                  <c:v>856169152140.41296</c:v>
                </c:pt>
                <c:pt idx="161">
                  <c:v>860549250444.104</c:v>
                </c:pt>
                <c:pt idx="162">
                  <c:v>860549250444.104</c:v>
                </c:pt>
                <c:pt idx="163">
                  <c:v>860549250444.104</c:v>
                </c:pt>
                <c:pt idx="164">
                  <c:v>860549250444.104</c:v>
                </c:pt>
                <c:pt idx="165">
                  <c:v>862646925748.92102</c:v>
                </c:pt>
                <c:pt idx="166">
                  <c:v>862646925748.92102</c:v>
                </c:pt>
                <c:pt idx="167">
                  <c:v>862646925748.92102</c:v>
                </c:pt>
                <c:pt idx="168">
                  <c:v>862646925748.92102</c:v>
                </c:pt>
                <c:pt idx="169">
                  <c:v>865912452541.08801</c:v>
                </c:pt>
                <c:pt idx="170">
                  <c:v>865912452541.08801</c:v>
                </c:pt>
                <c:pt idx="171">
                  <c:v>865912452541.08801</c:v>
                </c:pt>
                <c:pt idx="172">
                  <c:v>865912452541.08801</c:v>
                </c:pt>
                <c:pt idx="173">
                  <c:v>869491021687.79004</c:v>
                </c:pt>
                <c:pt idx="174">
                  <c:v>869491021687.79004</c:v>
                </c:pt>
                <c:pt idx="175">
                  <c:v>869491021687.79004</c:v>
                </c:pt>
                <c:pt idx="176">
                  <c:v>869491021687.79004</c:v>
                </c:pt>
                <c:pt idx="177">
                  <c:v>869491021687.79004</c:v>
                </c:pt>
                <c:pt idx="178">
                  <c:v>874676225982.203</c:v>
                </c:pt>
                <c:pt idx="179">
                  <c:v>874676225982.203</c:v>
                </c:pt>
                <c:pt idx="180">
                  <c:v>874676225982.203</c:v>
                </c:pt>
                <c:pt idx="181">
                  <c:v>874676225982.203</c:v>
                </c:pt>
                <c:pt idx="182">
                  <c:v>879218074297.77698</c:v>
                </c:pt>
                <c:pt idx="183">
                  <c:v>879218074297.77698</c:v>
                </c:pt>
                <c:pt idx="184">
                  <c:v>879218074297.77698</c:v>
                </c:pt>
                <c:pt idx="185">
                  <c:v>879218074297.77698</c:v>
                </c:pt>
                <c:pt idx="186">
                  <c:v>879218074297.77698</c:v>
                </c:pt>
                <c:pt idx="187">
                  <c:v>889016211164.04895</c:v>
                </c:pt>
                <c:pt idx="188">
                  <c:v>889016211164.04895</c:v>
                </c:pt>
                <c:pt idx="189">
                  <c:v>889016211164.04895</c:v>
                </c:pt>
                <c:pt idx="190">
                  <c:v>889016211164.04895</c:v>
                </c:pt>
                <c:pt idx="191">
                  <c:v>896796715582.33606</c:v>
                </c:pt>
                <c:pt idx="192">
                  <c:v>896796715582.33606</c:v>
                </c:pt>
                <c:pt idx="193">
                  <c:v>896796715582.33606</c:v>
                </c:pt>
                <c:pt idx="194">
                  <c:v>896796715582.33606</c:v>
                </c:pt>
                <c:pt idx="195">
                  <c:v>904868755203.72498</c:v>
                </c:pt>
                <c:pt idx="196">
                  <c:v>904868755203.72498</c:v>
                </c:pt>
                <c:pt idx="197">
                  <c:v>904868755203.72498</c:v>
                </c:pt>
                <c:pt idx="198">
                  <c:v>904868755203.72498</c:v>
                </c:pt>
                <c:pt idx="199">
                  <c:v>904868755203.72498</c:v>
                </c:pt>
                <c:pt idx="200">
                  <c:v>911144707396.39795</c:v>
                </c:pt>
                <c:pt idx="201">
                  <c:v>911144707396.39795</c:v>
                </c:pt>
                <c:pt idx="202">
                  <c:v>911144707396.39795</c:v>
                </c:pt>
                <c:pt idx="203">
                  <c:v>911144707396.39795</c:v>
                </c:pt>
                <c:pt idx="204">
                  <c:v>915537820187.26404</c:v>
                </c:pt>
                <c:pt idx="205">
                  <c:v>915537820187.26404</c:v>
                </c:pt>
                <c:pt idx="206">
                  <c:v>915537820187.26404</c:v>
                </c:pt>
                <c:pt idx="207">
                  <c:v>915537820187.26404</c:v>
                </c:pt>
                <c:pt idx="208">
                  <c:v>915537820187.26404</c:v>
                </c:pt>
                <c:pt idx="209">
                  <c:v>919051298499.69104</c:v>
                </c:pt>
                <c:pt idx="210">
                  <c:v>919051298499.69104</c:v>
                </c:pt>
                <c:pt idx="211">
                  <c:v>919051298499.69104</c:v>
                </c:pt>
                <c:pt idx="212">
                  <c:v>919051298499.69104</c:v>
                </c:pt>
                <c:pt idx="213">
                  <c:v>929906802060.74402</c:v>
                </c:pt>
                <c:pt idx="214">
                  <c:v>929906802060.74402</c:v>
                </c:pt>
                <c:pt idx="215">
                  <c:v>929906802060.74402</c:v>
                </c:pt>
                <c:pt idx="216">
                  <c:v>929906802060.74402</c:v>
                </c:pt>
                <c:pt idx="217">
                  <c:v>931776684212.27002</c:v>
                </c:pt>
                <c:pt idx="218">
                  <c:v>931776684212.27002</c:v>
                </c:pt>
                <c:pt idx="219">
                  <c:v>931776684212.27002</c:v>
                </c:pt>
                <c:pt idx="220">
                  <c:v>931776684212.27002</c:v>
                </c:pt>
                <c:pt idx="221">
                  <c:v>936106192313.56702</c:v>
                </c:pt>
                <c:pt idx="222">
                  <c:v>936106192313.56702</c:v>
                </c:pt>
                <c:pt idx="223">
                  <c:v>936106192313.56702</c:v>
                </c:pt>
                <c:pt idx="224">
                  <c:v>936106192313.56702</c:v>
                </c:pt>
                <c:pt idx="225">
                  <c:v>936106192313.56702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633664"/>
        <c:axId val="253635200"/>
      </c:lineChart>
      <c:lineChart>
        <c:grouping val="standard"/>
        <c:varyColors val="0"/>
        <c:ser>
          <c:idx val="2"/>
          <c:order val="2"/>
          <c:tx>
            <c:strRef>
              <c:f>'HARPable Universe'!$M$2</c:f>
              <c:strCache>
                <c:ptCount val="1"/>
                <c:pt idx="0">
                  <c:v>Percentage</c:v>
                </c:pt>
              </c:strCache>
            </c:strRef>
          </c:tx>
          <c:spPr>
            <a:ln>
              <a:noFill/>
              <a:prstDash val="dash"/>
            </a:ln>
          </c:spPr>
          <c:marker>
            <c:symbol val="none"/>
          </c:marker>
          <c:cat>
            <c:numRef>
              <c:f>'HARPable Universe'!$I$3:$I$228</c:f>
              <c:numCache>
                <c:formatCode>m/d/yyyy</c:formatCode>
                <c:ptCount val="226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  <c:pt idx="225">
                  <c:v>42124</c:v>
                </c:pt>
              </c:numCache>
            </c:numRef>
          </c:cat>
          <c:val>
            <c:numRef>
              <c:f>'HARPable Universe'!$M$3:$M$228</c:f>
              <c:numCache>
                <c:formatCode>0%</c:formatCode>
                <c:ptCount val="226"/>
                <c:pt idx="0">
                  <c:v>0.57081400019802386</c:v>
                </c:pt>
                <c:pt idx="1">
                  <c:v>0.57081400019802386</c:v>
                </c:pt>
                <c:pt idx="2">
                  <c:v>0.57081400019802386</c:v>
                </c:pt>
                <c:pt idx="3">
                  <c:v>0.57081400019802386</c:v>
                </c:pt>
                <c:pt idx="4">
                  <c:v>0.55333901310596689</c:v>
                </c:pt>
                <c:pt idx="5">
                  <c:v>0.55333901310596689</c:v>
                </c:pt>
                <c:pt idx="6">
                  <c:v>0.55333901310596689</c:v>
                </c:pt>
                <c:pt idx="7">
                  <c:v>0.55333901310596689</c:v>
                </c:pt>
                <c:pt idx="8">
                  <c:v>0.54226501339435018</c:v>
                </c:pt>
                <c:pt idx="9">
                  <c:v>0.54226501339435018</c:v>
                </c:pt>
                <c:pt idx="10">
                  <c:v>0.54226501339435018</c:v>
                </c:pt>
                <c:pt idx="11">
                  <c:v>0.54226501339435018</c:v>
                </c:pt>
                <c:pt idx="12">
                  <c:v>0.54226501339435018</c:v>
                </c:pt>
                <c:pt idx="13">
                  <c:v>0.53234299328945656</c:v>
                </c:pt>
                <c:pt idx="14">
                  <c:v>0.53234299328945656</c:v>
                </c:pt>
                <c:pt idx="15">
                  <c:v>0.53234299328945656</c:v>
                </c:pt>
                <c:pt idx="16">
                  <c:v>0.53234299328945656</c:v>
                </c:pt>
                <c:pt idx="17">
                  <c:v>0.52357611844768503</c:v>
                </c:pt>
                <c:pt idx="18">
                  <c:v>0.52357611844768503</c:v>
                </c:pt>
                <c:pt idx="19">
                  <c:v>0.52357611844768503</c:v>
                </c:pt>
                <c:pt idx="20">
                  <c:v>0.52357611844768503</c:v>
                </c:pt>
                <c:pt idx="21">
                  <c:v>0.51448099202385933</c:v>
                </c:pt>
                <c:pt idx="22">
                  <c:v>0.51448099202385933</c:v>
                </c:pt>
                <c:pt idx="23">
                  <c:v>0.51448099202385933</c:v>
                </c:pt>
                <c:pt idx="24">
                  <c:v>0.51448099202385933</c:v>
                </c:pt>
                <c:pt idx="25">
                  <c:v>0.51448099202385933</c:v>
                </c:pt>
                <c:pt idx="26">
                  <c:v>0.50689648547957433</c:v>
                </c:pt>
                <c:pt idx="27">
                  <c:v>0.50689648547957433</c:v>
                </c:pt>
                <c:pt idx="28">
                  <c:v>0.50689648547957433</c:v>
                </c:pt>
                <c:pt idx="29">
                  <c:v>0.50689648547957433</c:v>
                </c:pt>
                <c:pt idx="30">
                  <c:v>0.49756393271702015</c:v>
                </c:pt>
                <c:pt idx="31">
                  <c:v>0.49756393271702015</c:v>
                </c:pt>
                <c:pt idx="32">
                  <c:v>0.49756393271702015</c:v>
                </c:pt>
                <c:pt idx="33">
                  <c:v>0.49756393271702015</c:v>
                </c:pt>
                <c:pt idx="34">
                  <c:v>0.48774299876083471</c:v>
                </c:pt>
                <c:pt idx="35">
                  <c:v>0.48774299876083471</c:v>
                </c:pt>
                <c:pt idx="36">
                  <c:v>0.48774299876083471</c:v>
                </c:pt>
                <c:pt idx="37">
                  <c:v>0.48774299876083471</c:v>
                </c:pt>
                <c:pt idx="38">
                  <c:v>0.48774299876083471</c:v>
                </c:pt>
                <c:pt idx="39">
                  <c:v>0.47818775028542876</c:v>
                </c:pt>
                <c:pt idx="40">
                  <c:v>0.47818775028542876</c:v>
                </c:pt>
                <c:pt idx="41">
                  <c:v>0.47818775028542876</c:v>
                </c:pt>
                <c:pt idx="42">
                  <c:v>0.47818775028542876</c:v>
                </c:pt>
                <c:pt idx="43">
                  <c:v>0.46872578528279868</c:v>
                </c:pt>
                <c:pt idx="44">
                  <c:v>0.46872578528279868</c:v>
                </c:pt>
                <c:pt idx="45">
                  <c:v>0.46872578528279868</c:v>
                </c:pt>
                <c:pt idx="46">
                  <c:v>0.46872578528279868</c:v>
                </c:pt>
                <c:pt idx="47">
                  <c:v>0.46078933803165695</c:v>
                </c:pt>
                <c:pt idx="48">
                  <c:v>0.46078933803165695</c:v>
                </c:pt>
                <c:pt idx="49">
                  <c:v>0.46078933803165695</c:v>
                </c:pt>
                <c:pt idx="50">
                  <c:v>0.46078933803165695</c:v>
                </c:pt>
                <c:pt idx="51">
                  <c:v>0.46078933803165695</c:v>
                </c:pt>
                <c:pt idx="52">
                  <c:v>0.44979102680569383</c:v>
                </c:pt>
                <c:pt idx="53">
                  <c:v>0.44979102680569383</c:v>
                </c:pt>
                <c:pt idx="54">
                  <c:v>0.44979102680569383</c:v>
                </c:pt>
                <c:pt idx="55">
                  <c:v>0.44979102680569383</c:v>
                </c:pt>
                <c:pt idx="56">
                  <c:v>0.43570686257754676</c:v>
                </c:pt>
                <c:pt idx="57">
                  <c:v>0.43570686257754676</c:v>
                </c:pt>
                <c:pt idx="58">
                  <c:v>0.43570686257754676</c:v>
                </c:pt>
                <c:pt idx="59">
                  <c:v>0.43570686257754676</c:v>
                </c:pt>
                <c:pt idx="60">
                  <c:v>0.42320746464144116</c:v>
                </c:pt>
                <c:pt idx="61">
                  <c:v>0.42320746464144116</c:v>
                </c:pt>
                <c:pt idx="62">
                  <c:v>0.42320746464144116</c:v>
                </c:pt>
                <c:pt idx="63">
                  <c:v>0.42320746464144116</c:v>
                </c:pt>
                <c:pt idx="64">
                  <c:v>0.42320746464144116</c:v>
                </c:pt>
                <c:pt idx="65">
                  <c:v>0.41148047375609265</c:v>
                </c:pt>
                <c:pt idx="66">
                  <c:v>0.41148047375609265</c:v>
                </c:pt>
                <c:pt idx="67">
                  <c:v>0.41148047375609265</c:v>
                </c:pt>
                <c:pt idx="68">
                  <c:v>0.41148047375609265</c:v>
                </c:pt>
                <c:pt idx="69">
                  <c:v>0.40081024383657665</c:v>
                </c:pt>
                <c:pt idx="70">
                  <c:v>0.40081024383657665</c:v>
                </c:pt>
                <c:pt idx="71">
                  <c:v>0.40081024383657665</c:v>
                </c:pt>
                <c:pt idx="72">
                  <c:v>0.40081024383657665</c:v>
                </c:pt>
                <c:pt idx="73">
                  <c:v>0.40081024383657665</c:v>
                </c:pt>
                <c:pt idx="74">
                  <c:v>0.38507237806178235</c:v>
                </c:pt>
                <c:pt idx="75">
                  <c:v>0.38507237806178235</c:v>
                </c:pt>
                <c:pt idx="76">
                  <c:v>0.38507237806178235</c:v>
                </c:pt>
                <c:pt idx="77">
                  <c:v>0.38507237806178235</c:v>
                </c:pt>
                <c:pt idx="78">
                  <c:v>0.37294614808842375</c:v>
                </c:pt>
                <c:pt idx="79">
                  <c:v>0.37294614808842375</c:v>
                </c:pt>
                <c:pt idx="80">
                  <c:v>0.37294614808842375</c:v>
                </c:pt>
                <c:pt idx="81">
                  <c:v>0.37294614808842375</c:v>
                </c:pt>
                <c:pt idx="82">
                  <c:v>0.35871199199825965</c:v>
                </c:pt>
                <c:pt idx="83">
                  <c:v>0.35871199199825965</c:v>
                </c:pt>
                <c:pt idx="84">
                  <c:v>0.35871199199825965</c:v>
                </c:pt>
                <c:pt idx="85">
                  <c:v>0.35871199199825965</c:v>
                </c:pt>
                <c:pt idx="86">
                  <c:v>0.35871199199825965</c:v>
                </c:pt>
                <c:pt idx="87">
                  <c:v>0.34649424436027532</c:v>
                </c:pt>
                <c:pt idx="88">
                  <c:v>0.34649424436027532</c:v>
                </c:pt>
                <c:pt idx="89">
                  <c:v>0.34649424436027532</c:v>
                </c:pt>
                <c:pt idx="90">
                  <c:v>0.34649424436027532</c:v>
                </c:pt>
                <c:pt idx="91">
                  <c:v>0.33184587601897486</c:v>
                </c:pt>
                <c:pt idx="92">
                  <c:v>0.33184587601897486</c:v>
                </c:pt>
                <c:pt idx="93">
                  <c:v>0.33184587601897486</c:v>
                </c:pt>
                <c:pt idx="94">
                  <c:v>0.33184587601897486</c:v>
                </c:pt>
                <c:pt idx="95">
                  <c:v>0.31456277294828944</c:v>
                </c:pt>
                <c:pt idx="96">
                  <c:v>0.31456277294828944</c:v>
                </c:pt>
                <c:pt idx="97">
                  <c:v>0.31456277294828944</c:v>
                </c:pt>
                <c:pt idx="98">
                  <c:v>0.31456277294828944</c:v>
                </c:pt>
                <c:pt idx="99">
                  <c:v>0.31456277294828944</c:v>
                </c:pt>
                <c:pt idx="100">
                  <c:v>0.30472539476777555</c:v>
                </c:pt>
                <c:pt idx="101">
                  <c:v>0.30472539476777555</c:v>
                </c:pt>
                <c:pt idx="102">
                  <c:v>0.30472539476777555</c:v>
                </c:pt>
                <c:pt idx="103">
                  <c:v>0.30472539476777555</c:v>
                </c:pt>
                <c:pt idx="104">
                  <c:v>0.29128451623904644</c:v>
                </c:pt>
                <c:pt idx="105">
                  <c:v>0.29128451623904644</c:v>
                </c:pt>
                <c:pt idx="106">
                  <c:v>0.29128451623904644</c:v>
                </c:pt>
                <c:pt idx="107">
                  <c:v>0.29128451623904644</c:v>
                </c:pt>
                <c:pt idx="108">
                  <c:v>0.29128451623904644</c:v>
                </c:pt>
                <c:pt idx="109">
                  <c:v>0.27807849695097897</c:v>
                </c:pt>
                <c:pt idx="110">
                  <c:v>0.27807849695097897</c:v>
                </c:pt>
                <c:pt idx="111">
                  <c:v>0.27807849695097897</c:v>
                </c:pt>
                <c:pt idx="112">
                  <c:v>0.27807849695097897</c:v>
                </c:pt>
                <c:pt idx="113">
                  <c:v>0.26292796013915876</c:v>
                </c:pt>
                <c:pt idx="114">
                  <c:v>0.26292796013915876</c:v>
                </c:pt>
                <c:pt idx="115">
                  <c:v>0.26292796013915876</c:v>
                </c:pt>
                <c:pt idx="116">
                  <c:v>0.26292796013915876</c:v>
                </c:pt>
                <c:pt idx="117">
                  <c:v>0.24848860116772839</c:v>
                </c:pt>
                <c:pt idx="118">
                  <c:v>0.24848860116772839</c:v>
                </c:pt>
                <c:pt idx="119">
                  <c:v>0.24848860116772839</c:v>
                </c:pt>
                <c:pt idx="120">
                  <c:v>0.24848860116772839</c:v>
                </c:pt>
                <c:pt idx="121">
                  <c:v>0.23577921258610923</c:v>
                </c:pt>
                <c:pt idx="122">
                  <c:v>0.23577921258610923</c:v>
                </c:pt>
                <c:pt idx="123">
                  <c:v>0.23577921258610923</c:v>
                </c:pt>
                <c:pt idx="124">
                  <c:v>0.23577921258610923</c:v>
                </c:pt>
                <c:pt idx="125">
                  <c:v>0.23577921258610923</c:v>
                </c:pt>
                <c:pt idx="126">
                  <c:v>0.22224142886571943</c:v>
                </c:pt>
                <c:pt idx="127">
                  <c:v>0.22224142886571943</c:v>
                </c:pt>
                <c:pt idx="128">
                  <c:v>0.22224142886571943</c:v>
                </c:pt>
                <c:pt idx="129">
                  <c:v>0.22224142886571943</c:v>
                </c:pt>
                <c:pt idx="130">
                  <c:v>0.210798858071544</c:v>
                </c:pt>
                <c:pt idx="131">
                  <c:v>0.210798858071544</c:v>
                </c:pt>
                <c:pt idx="132">
                  <c:v>0.210798858071544</c:v>
                </c:pt>
                <c:pt idx="133">
                  <c:v>0.210798858071544</c:v>
                </c:pt>
                <c:pt idx="134">
                  <c:v>0.19964672229879027</c:v>
                </c:pt>
                <c:pt idx="135">
                  <c:v>0.19964672229879027</c:v>
                </c:pt>
                <c:pt idx="136">
                  <c:v>0.19964672229879027</c:v>
                </c:pt>
                <c:pt idx="137">
                  <c:v>0.19964672229879027</c:v>
                </c:pt>
                <c:pt idx="138">
                  <c:v>0.19964672229879027</c:v>
                </c:pt>
                <c:pt idx="139">
                  <c:v>0.19125856762608923</c:v>
                </c:pt>
                <c:pt idx="140">
                  <c:v>0.19125856762608923</c:v>
                </c:pt>
                <c:pt idx="141">
                  <c:v>0.19125856762608923</c:v>
                </c:pt>
                <c:pt idx="142">
                  <c:v>0.19125856762608923</c:v>
                </c:pt>
                <c:pt idx="143">
                  <c:v>0.18465494663068971</c:v>
                </c:pt>
                <c:pt idx="144">
                  <c:v>0.18465494663068971</c:v>
                </c:pt>
                <c:pt idx="145">
                  <c:v>0.18465494663068971</c:v>
                </c:pt>
                <c:pt idx="146">
                  <c:v>0.18465494663068971</c:v>
                </c:pt>
                <c:pt idx="147">
                  <c:v>0.18465494663068971</c:v>
                </c:pt>
                <c:pt idx="148">
                  <c:v>0.17883453886377174</c:v>
                </c:pt>
                <c:pt idx="149">
                  <c:v>0.17883453886377174</c:v>
                </c:pt>
                <c:pt idx="150">
                  <c:v>0.17883453886377174</c:v>
                </c:pt>
                <c:pt idx="151">
                  <c:v>0.17883453886377174</c:v>
                </c:pt>
                <c:pt idx="152">
                  <c:v>0.17304694334456563</c:v>
                </c:pt>
                <c:pt idx="153">
                  <c:v>0.17304694334456563</c:v>
                </c:pt>
                <c:pt idx="154">
                  <c:v>0.17304694334456563</c:v>
                </c:pt>
                <c:pt idx="155">
                  <c:v>0.17304694334456563</c:v>
                </c:pt>
                <c:pt idx="156">
                  <c:v>0.16759693988889501</c:v>
                </c:pt>
                <c:pt idx="157">
                  <c:v>0.16759693988889501</c:v>
                </c:pt>
                <c:pt idx="158">
                  <c:v>0.16759693988889501</c:v>
                </c:pt>
                <c:pt idx="159">
                  <c:v>0.16759693988889501</c:v>
                </c:pt>
                <c:pt idx="160">
                  <c:v>0.16759693988889501</c:v>
                </c:pt>
                <c:pt idx="161">
                  <c:v>0.16289271949515696</c:v>
                </c:pt>
                <c:pt idx="162">
                  <c:v>0.16289271949515696</c:v>
                </c:pt>
                <c:pt idx="163">
                  <c:v>0.16289271949515696</c:v>
                </c:pt>
                <c:pt idx="164">
                  <c:v>0.16289271949515696</c:v>
                </c:pt>
                <c:pt idx="165">
                  <c:v>0.15916451584686789</c:v>
                </c:pt>
                <c:pt idx="166">
                  <c:v>0.15916451584686789</c:v>
                </c:pt>
                <c:pt idx="167">
                  <c:v>0.15916451584686789</c:v>
                </c:pt>
                <c:pt idx="168">
                  <c:v>0.15916451584686789</c:v>
                </c:pt>
                <c:pt idx="169">
                  <c:v>0.15484742317936076</c:v>
                </c:pt>
                <c:pt idx="170">
                  <c:v>0.15484742317936076</c:v>
                </c:pt>
                <c:pt idx="171">
                  <c:v>0.15484742317936076</c:v>
                </c:pt>
                <c:pt idx="172">
                  <c:v>0.15484742317936076</c:v>
                </c:pt>
                <c:pt idx="173">
                  <c:v>0.15068828465006784</c:v>
                </c:pt>
                <c:pt idx="174">
                  <c:v>0.15068828465006784</c:v>
                </c:pt>
                <c:pt idx="175">
                  <c:v>0.15068828465006784</c:v>
                </c:pt>
                <c:pt idx="176">
                  <c:v>0.15068828465006784</c:v>
                </c:pt>
                <c:pt idx="177">
                  <c:v>0.15068828465006784</c:v>
                </c:pt>
                <c:pt idx="178">
                  <c:v>0.14633606054432916</c:v>
                </c:pt>
                <c:pt idx="179">
                  <c:v>0.14633606054432916</c:v>
                </c:pt>
                <c:pt idx="180">
                  <c:v>0.14633606054432916</c:v>
                </c:pt>
                <c:pt idx="181">
                  <c:v>0.14633606054432916</c:v>
                </c:pt>
                <c:pt idx="182">
                  <c:v>0.14217128811914262</c:v>
                </c:pt>
                <c:pt idx="183">
                  <c:v>0.14217128811914262</c:v>
                </c:pt>
                <c:pt idx="184">
                  <c:v>0.14217128811914262</c:v>
                </c:pt>
                <c:pt idx="185">
                  <c:v>0.14217128811914262</c:v>
                </c:pt>
                <c:pt idx="186">
                  <c:v>0.14217128811914262</c:v>
                </c:pt>
                <c:pt idx="187">
                  <c:v>0.13726921649283416</c:v>
                </c:pt>
                <c:pt idx="188">
                  <c:v>0.13726921649283416</c:v>
                </c:pt>
                <c:pt idx="189">
                  <c:v>0.13726921649283416</c:v>
                </c:pt>
                <c:pt idx="190">
                  <c:v>0.13726921649283416</c:v>
                </c:pt>
                <c:pt idx="191">
                  <c:v>0.13290290240855962</c:v>
                </c:pt>
                <c:pt idx="192">
                  <c:v>0.13290290240855962</c:v>
                </c:pt>
                <c:pt idx="193">
                  <c:v>0.13290290240855962</c:v>
                </c:pt>
                <c:pt idx="194">
                  <c:v>0.13290290240855962</c:v>
                </c:pt>
                <c:pt idx="195">
                  <c:v>0.12860098490544827</c:v>
                </c:pt>
                <c:pt idx="196">
                  <c:v>0.12860098490544827</c:v>
                </c:pt>
                <c:pt idx="197">
                  <c:v>0.12860098490544827</c:v>
                </c:pt>
                <c:pt idx="198">
                  <c:v>0.12860098490544827</c:v>
                </c:pt>
                <c:pt idx="199">
                  <c:v>0.12860098490544827</c:v>
                </c:pt>
                <c:pt idx="200">
                  <c:v>0.12465486337646373</c:v>
                </c:pt>
                <c:pt idx="201">
                  <c:v>0.12465486337646373</c:v>
                </c:pt>
                <c:pt idx="202">
                  <c:v>0.12465486337646373</c:v>
                </c:pt>
                <c:pt idx="203">
                  <c:v>0.12465486337646373</c:v>
                </c:pt>
                <c:pt idx="204">
                  <c:v>0.12139425827709796</c:v>
                </c:pt>
                <c:pt idx="205">
                  <c:v>0.12139425827709796</c:v>
                </c:pt>
                <c:pt idx="206">
                  <c:v>0.12139425827709796</c:v>
                </c:pt>
                <c:pt idx="207">
                  <c:v>0.12139425827709796</c:v>
                </c:pt>
                <c:pt idx="208">
                  <c:v>0.12139425827709796</c:v>
                </c:pt>
                <c:pt idx="209">
                  <c:v>0.11801270464106903</c:v>
                </c:pt>
                <c:pt idx="210">
                  <c:v>0.11801270464106903</c:v>
                </c:pt>
                <c:pt idx="211">
                  <c:v>0.11801270464106903</c:v>
                </c:pt>
                <c:pt idx="212">
                  <c:v>0.11801270464106903</c:v>
                </c:pt>
                <c:pt idx="213">
                  <c:v>0.11418005242057283</c:v>
                </c:pt>
                <c:pt idx="214">
                  <c:v>0.11418005242057283</c:v>
                </c:pt>
                <c:pt idx="215">
                  <c:v>0.11418005242057283</c:v>
                </c:pt>
                <c:pt idx="216">
                  <c:v>0.11418005242057283</c:v>
                </c:pt>
                <c:pt idx="217">
                  <c:v>0.11138179926193666</c:v>
                </c:pt>
                <c:pt idx="218">
                  <c:v>0.11138179926193666</c:v>
                </c:pt>
                <c:pt idx="219">
                  <c:v>0.11138179926193666</c:v>
                </c:pt>
                <c:pt idx="220">
                  <c:v>0.11138179926193666</c:v>
                </c:pt>
                <c:pt idx="221">
                  <c:v>0.10752283550041125</c:v>
                </c:pt>
                <c:pt idx="222">
                  <c:v>0.10752283550041125</c:v>
                </c:pt>
                <c:pt idx="223">
                  <c:v>0.10752283550041125</c:v>
                </c:pt>
                <c:pt idx="224">
                  <c:v>0.10752283550041125</c:v>
                </c:pt>
                <c:pt idx="225">
                  <c:v>0.10752283550041125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647104"/>
        <c:axId val="253645568"/>
      </c:lineChart>
      <c:dateAx>
        <c:axId val="25363366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3635200"/>
        <c:crosses val="autoZero"/>
        <c:auto val="1"/>
        <c:lblOffset val="100"/>
        <c:baseTimeUnit val="days"/>
        <c:majorUnit val="6"/>
        <c:majorTimeUnit val="months"/>
      </c:dateAx>
      <c:valAx>
        <c:axId val="253635200"/>
        <c:scaling>
          <c:orientation val="minMax"/>
        </c:scaling>
        <c:delete val="0"/>
        <c:axPos val="l"/>
        <c:majorGridlines/>
        <c:numFmt formatCode="_(* #,##0_);_(* \(#,##0\);_(* &quot;-&quot;??_);_(@_)" sourceLinked="1"/>
        <c:majorTickMark val="out"/>
        <c:minorTickMark val="none"/>
        <c:tickLblPos val="nextTo"/>
        <c:crossAx val="253633664"/>
        <c:crosses val="autoZero"/>
        <c:crossBetween val="between"/>
        <c:dispUnits>
          <c:builtInUnit val="billions"/>
          <c:dispUnitsLbl/>
        </c:dispUnits>
      </c:valAx>
      <c:valAx>
        <c:axId val="253645568"/>
        <c:scaling>
          <c:orientation val="minMax"/>
        </c:scaling>
        <c:delete val="1"/>
        <c:axPos val="r"/>
        <c:numFmt formatCode="0%" sourceLinked="1"/>
        <c:majorTickMark val="out"/>
        <c:minorTickMark val="none"/>
        <c:tickLblPos val="nextTo"/>
        <c:crossAx val="253647104"/>
        <c:crosses val="max"/>
        <c:crossBetween val="between"/>
      </c:valAx>
      <c:dateAx>
        <c:axId val="25364710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53645568"/>
        <c:crosses val="autoZero"/>
        <c:auto val="1"/>
        <c:lblOffset val="100"/>
        <c:baseTimeUnit val="days"/>
      </c:dateAx>
      <c:spPr>
        <a:ln>
          <a:solidFill>
            <a:schemeClr val="tx1"/>
          </a:solidFill>
        </a:ln>
      </c:spPr>
    </c:plotArea>
    <c:legend>
      <c:legendPos val="b"/>
      <c:legendEntry>
        <c:idx val="2"/>
        <c:delete val="1"/>
      </c:legendEntry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6"/>
          <c:order val="0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ser>
          <c:idx val="7"/>
          <c:order val="1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672064"/>
        <c:axId val="253698432"/>
      </c:lineChart>
      <c:dateAx>
        <c:axId val="25367206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3698432"/>
        <c:crosses val="autoZero"/>
        <c:auto val="1"/>
        <c:lblOffset val="100"/>
        <c:baseTimeUnit val="days"/>
        <c:majorUnit val="6"/>
        <c:majorTimeUnit val="months"/>
      </c:dateAx>
      <c:valAx>
        <c:axId val="25369843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3672064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chemeClr val="accent1">
                  <a:lumMod val="40000"/>
                  <a:lumOff val="60000"/>
                </a:schemeClr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7"/>
          <c:order val="2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729408"/>
        <c:axId val="253739392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742464"/>
        <c:axId val="253740928"/>
      </c:lineChart>
      <c:dateAx>
        <c:axId val="25372940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3739392"/>
        <c:crosses val="autoZero"/>
        <c:auto val="1"/>
        <c:lblOffset val="100"/>
        <c:baseTimeUnit val="days"/>
        <c:majorUnit val="6"/>
        <c:majorTimeUnit val="months"/>
      </c:dateAx>
      <c:valAx>
        <c:axId val="253739392"/>
        <c:scaling>
          <c:orientation val="minMax"/>
          <c:max val="1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3729408"/>
        <c:crosses val="autoZero"/>
        <c:crossBetween val="between"/>
      </c:valAx>
      <c:valAx>
        <c:axId val="25374092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crossAx val="253742464"/>
        <c:crosses val="max"/>
        <c:crossBetween val="between"/>
      </c:valAx>
      <c:dateAx>
        <c:axId val="25374246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53740928"/>
        <c:crosses val="autoZero"/>
        <c:auto val="1"/>
        <c:lblOffset val="100"/>
        <c:baseTimeUnit val="days"/>
      </c:date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 b="1" i="0" baseline="0" dirty="0" smtClean="0">
                <a:effectLst/>
              </a:rPr>
              <a:t> </a:t>
            </a:r>
            <a:endParaRPr lang="en-US" sz="1600" dirty="0">
              <a:effectLst/>
            </a:endParaRP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8.6273577440957497E-2"/>
          <c:y val="4.103239004183673E-2"/>
          <c:w val="0.82832390448197313"/>
          <c:h val="0.77048847154975197"/>
        </c:manualLayout>
      </c:layout>
      <c:lineChart>
        <c:grouping val="standard"/>
        <c:varyColors val="0"/>
        <c:ser>
          <c:idx val="0"/>
          <c:order val="0"/>
          <c:tx>
            <c:v>Refinancible Percentage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866368"/>
        <c:axId val="253867904"/>
      </c:lineChart>
      <c:lineChart>
        <c:grouping val="standard"/>
        <c:varyColors val="0"/>
        <c:ser>
          <c:idx val="2"/>
          <c:order val="1"/>
          <c:tx>
            <c:v>Conventional Refi Index</c:v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880192"/>
        <c:axId val="253878272"/>
      </c:lineChart>
      <c:dateAx>
        <c:axId val="2538663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3867904"/>
        <c:crosses val="autoZero"/>
        <c:auto val="1"/>
        <c:lblOffset val="100"/>
        <c:baseTimeUnit val="days"/>
        <c:majorUnit val="6"/>
        <c:majorTimeUnit val="months"/>
        <c:minorUnit val="6"/>
        <c:minorTimeUnit val="months"/>
      </c:dateAx>
      <c:valAx>
        <c:axId val="253867904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100"/>
                </a:pPr>
                <a:r>
                  <a:rPr lang="en-US" sz="1100" b="1" i="0" baseline="0" dirty="0" smtClean="0">
                    <a:effectLst/>
                  </a:rPr>
                  <a:t>Pool Level Model</a:t>
                </a:r>
                <a:endParaRPr lang="en-US" sz="1100" dirty="0">
                  <a:effectLst/>
                </a:endParaRPr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crossAx val="253866368"/>
        <c:crosses val="autoZero"/>
        <c:crossBetween val="between"/>
      </c:valAx>
      <c:valAx>
        <c:axId val="25387827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100"/>
                </a:pPr>
                <a:r>
                  <a:rPr lang="en-US" sz="1100" dirty="0" err="1" smtClean="0"/>
                  <a:t>Refi</a:t>
                </a:r>
                <a:r>
                  <a:rPr lang="en-US" sz="1100" dirty="0" smtClean="0"/>
                  <a:t> Index</a:t>
                </a:r>
                <a:endParaRPr lang="en-US" sz="1100" dirty="0"/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53880192"/>
        <c:crosses val="max"/>
        <c:crossBetween val="between"/>
      </c:valAx>
      <c:dateAx>
        <c:axId val="25388019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53878272"/>
        <c:crosses val="autoZero"/>
        <c:auto val="1"/>
        <c:lblOffset val="100"/>
        <c:baseTimeUnit val="days"/>
      </c:dateAx>
    </c:plotArea>
    <c:legend>
      <c:legendPos val="b"/>
      <c:layout>
        <c:manualLayout>
          <c:xMode val="edge"/>
          <c:yMode val="edge"/>
          <c:x val="0.21143387291413382"/>
          <c:y val="0.91154620165232969"/>
          <c:w val="0.57713225417173231"/>
          <c:h val="8.0654696581234336E-2"/>
        </c:manualLayout>
      </c:layout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014903309795535"/>
          <c:y val="5.1400554097404488E-2"/>
          <c:w val="0.79470010024988658"/>
          <c:h val="0.72112459900845727"/>
        </c:manualLayout>
      </c:layout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7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780736"/>
        <c:axId val="253782272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794560"/>
        <c:axId val="253792640"/>
      </c:lineChart>
      <c:dateAx>
        <c:axId val="25378073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3782272"/>
        <c:crosses val="autoZero"/>
        <c:auto val="1"/>
        <c:lblOffset val="100"/>
        <c:baseTimeUnit val="days"/>
        <c:majorUnit val="6"/>
        <c:majorTimeUnit val="months"/>
      </c:dateAx>
      <c:valAx>
        <c:axId val="253782272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crossAx val="253780736"/>
        <c:crosses val="autoZero"/>
        <c:crossBetween val="between"/>
        <c:majorUnit val="0.2"/>
      </c:valAx>
      <c:valAx>
        <c:axId val="253792640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</a:t>
                </a:r>
                <a:r>
                  <a:rPr lang="en-US" dirty="0" smtClean="0"/>
                  <a:t> Index</a:t>
                </a:r>
                <a:endParaRPr lang="en-US" dirty="0"/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53794560"/>
        <c:crosses val="max"/>
        <c:crossBetween val="between"/>
      </c:valAx>
      <c:dateAx>
        <c:axId val="25379456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53792640"/>
        <c:crosses val="autoZero"/>
        <c:auto val="1"/>
        <c:lblOffset val="100"/>
        <c:baseTimeUnit val="days"/>
      </c:date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C0000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965824"/>
        <c:axId val="253967360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987840"/>
        <c:axId val="253985920"/>
      </c:lineChart>
      <c:dateAx>
        <c:axId val="25396582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3967360"/>
        <c:crosses val="autoZero"/>
        <c:auto val="1"/>
        <c:lblOffset val="100"/>
        <c:baseTimeUnit val="days"/>
        <c:majorUnit val="6"/>
        <c:majorTimeUnit val="months"/>
      </c:dateAx>
      <c:valAx>
        <c:axId val="253967360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crossAx val="253965824"/>
        <c:crosses val="autoZero"/>
        <c:crossBetween val="between"/>
        <c:majorUnit val="0.2"/>
      </c:valAx>
      <c:valAx>
        <c:axId val="253985920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53987840"/>
        <c:crosses val="max"/>
        <c:crossBetween val="between"/>
      </c:valAx>
      <c:dateAx>
        <c:axId val="25398784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53985920"/>
        <c:crosses val="autoZero"/>
        <c:auto val="1"/>
        <c:lblOffset val="100"/>
        <c:baseTimeUnit val="days"/>
      </c:dateAx>
    </c:plotArea>
    <c:legend>
      <c:legendPos val="b"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5"/>
          <c:order val="4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020608"/>
        <c:axId val="25405926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063360"/>
        <c:axId val="254061184"/>
      </c:lineChart>
      <c:dateAx>
        <c:axId val="25402060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4059264"/>
        <c:crosses val="autoZero"/>
        <c:auto val="1"/>
        <c:lblOffset val="100"/>
        <c:baseTimeUnit val="days"/>
        <c:majorUnit val="6"/>
        <c:majorTimeUnit val="months"/>
      </c:dateAx>
      <c:valAx>
        <c:axId val="254059264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crossAx val="254020608"/>
        <c:crosses val="autoZero"/>
        <c:crossBetween val="between"/>
        <c:majorUnit val="0.2"/>
      </c:valAx>
      <c:valAx>
        <c:axId val="25406118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54063360"/>
        <c:crosses val="max"/>
        <c:crossBetween val="between"/>
      </c:valAx>
      <c:dateAx>
        <c:axId val="25406336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54061184"/>
        <c:crosses val="autoZero"/>
        <c:auto val="1"/>
        <c:lblOffset val="100"/>
        <c:baseTimeUnit val="days"/>
      </c:dateAx>
    </c:plotArea>
    <c:legend>
      <c:legendPos val="b"/>
      <c:legendEntry>
        <c:idx val="1"/>
        <c:delete val="1"/>
      </c:legendEntry>
      <c:legendEntry>
        <c:idx val="2"/>
        <c:delete val="1"/>
      </c:legendEntry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5"/>
          <c:order val="4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6"/>
          <c:order val="5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204160"/>
        <c:axId val="254222336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226432"/>
        <c:axId val="254224256"/>
      </c:lineChart>
      <c:dateAx>
        <c:axId val="25420416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4222336"/>
        <c:crosses val="autoZero"/>
        <c:auto val="1"/>
        <c:lblOffset val="100"/>
        <c:baseTimeUnit val="days"/>
        <c:majorUnit val="6"/>
        <c:majorTimeUnit val="months"/>
      </c:dateAx>
      <c:valAx>
        <c:axId val="254222336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crossAx val="254204160"/>
        <c:crosses val="autoZero"/>
        <c:crossBetween val="between"/>
        <c:majorUnit val="0.2"/>
      </c:valAx>
      <c:valAx>
        <c:axId val="254224256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54226432"/>
        <c:crosses val="max"/>
        <c:crossBetween val="between"/>
      </c:valAx>
      <c:dateAx>
        <c:axId val="25422643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54224256"/>
        <c:crosses val="autoZero"/>
        <c:auto val="1"/>
        <c:lblOffset val="100"/>
        <c:baseTimeUnit val="days"/>
      </c:dateAx>
    </c:plotArea>
    <c:legend>
      <c:legendPos val="b"/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5"/>
          <c:order val="4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6"/>
          <c:order val="5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ser>
          <c:idx val="7"/>
          <c:order val="6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265984"/>
        <c:axId val="25428006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296448"/>
        <c:axId val="254281984"/>
      </c:lineChart>
      <c:dateAx>
        <c:axId val="2542659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4280064"/>
        <c:crosses val="autoZero"/>
        <c:auto val="1"/>
        <c:lblOffset val="100"/>
        <c:baseTimeUnit val="days"/>
        <c:majorUnit val="6"/>
        <c:majorTimeUnit val="months"/>
      </c:dateAx>
      <c:valAx>
        <c:axId val="254280064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crossAx val="254265984"/>
        <c:crosses val="autoZero"/>
        <c:crossBetween val="between"/>
        <c:majorUnit val="0.2"/>
      </c:valAx>
      <c:valAx>
        <c:axId val="25428198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54296448"/>
        <c:crosses val="max"/>
        <c:crossBetween val="between"/>
      </c:valAx>
      <c:dateAx>
        <c:axId val="25429644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54281984"/>
        <c:crosses val="autoZero"/>
        <c:auto val="1"/>
        <c:lblOffset val="100"/>
        <c:baseTimeUnit val="days"/>
      </c:dateAx>
    </c:plotArea>
    <c:legend>
      <c:legendPos val="b"/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legendEntry>
        <c:idx val="4"/>
        <c:delete val="1"/>
      </c:legendEntry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7"/>
          <c:order val="2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285312"/>
        <c:axId val="252286848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318464"/>
        <c:axId val="254316544"/>
      </c:lineChart>
      <c:dateAx>
        <c:axId val="2522853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52286848"/>
        <c:crosses val="autoZero"/>
        <c:auto val="1"/>
        <c:lblOffset val="100"/>
        <c:baseTimeUnit val="days"/>
        <c:majorUnit val="6"/>
        <c:majorTimeUnit val="months"/>
      </c:dateAx>
      <c:valAx>
        <c:axId val="252286848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crossAx val="252285312"/>
        <c:crosses val="autoZero"/>
        <c:crossBetween val="between"/>
        <c:majorUnit val="0.2"/>
      </c:valAx>
      <c:valAx>
        <c:axId val="25431654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54318464"/>
        <c:crosses val="max"/>
        <c:crossBetween val="between"/>
      </c:valAx>
      <c:dateAx>
        <c:axId val="25431846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54316544"/>
        <c:crosses val="autoZero"/>
        <c:auto val="1"/>
        <c:lblOffset val="100"/>
        <c:baseTimeUnit val="days"/>
      </c:dateAx>
    </c:plotArea>
    <c:legend>
      <c:legendPos val="b"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chart" Target="../charts/chart14.xml"/><Relationship Id="rId7" Type="http://schemas.openxmlformats.org/officeDocument/2006/relationships/chart" Target="../charts/chart18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Approximating the Percentage of </a:t>
            </a:r>
            <a:r>
              <a:rPr lang="en-US" sz="2400" dirty="0" err="1" smtClean="0">
                <a:solidFill>
                  <a:srgbClr val="968880"/>
                </a:solidFill>
                <a:latin typeface="Calibri" pitchFamily="34" charset="0"/>
              </a:rPr>
              <a:t>Refinancible</a:t>
            </a:r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 MBS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May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>
                <a:latin typeface="+mn-lt"/>
              </a:rPr>
              <a:t>Prepayment </a:t>
            </a:r>
            <a:r>
              <a:rPr lang="en-US" dirty="0" smtClean="0">
                <a:latin typeface="+mn-lt"/>
              </a:rPr>
              <a:t>on </a:t>
            </a:r>
            <a:r>
              <a:rPr lang="en-US" dirty="0">
                <a:latin typeface="+mn-lt"/>
              </a:rPr>
              <a:t>Residential </a:t>
            </a:r>
            <a:r>
              <a:rPr lang="en-US" dirty="0" smtClean="0">
                <a:latin typeface="+mn-lt"/>
              </a:rPr>
              <a:t>Mortgages</a:t>
            </a:r>
            <a:endParaRPr lang="en-US" sz="1200" b="0" dirty="0"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9626" y="2453699"/>
            <a:ext cx="86010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  <a:cs typeface="Arial" panose="020B0604020202020204" pitchFamily="34" charset="0"/>
              </a:rPr>
              <a:t>I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nvestor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in a MBS has a short position in a call option due to the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homeowner’s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right to prepay, a put option due to the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homeowner’s option to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default, and also a long position in a non-callable bond.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Prepayments alter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the cash flow of the MBS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and thus its return. So,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the key to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estimating the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value of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an MBS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is to accurately estimate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the prepayment activity. </a:t>
            </a:r>
            <a:endParaRPr lang="en-US" sz="1400" dirty="0"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1113632" y="1244084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86114" y="1090196"/>
            <a:ext cx="3560539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cs typeface="Arial" panose="020B0604020202020204" pitchFamily="34" charset="0"/>
              </a:rPr>
              <a:t>Prepayment Importance 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7713" y="1639601"/>
            <a:ext cx="1927860" cy="3028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1751" tIns="50877" rIns="101751" bIns="50877" rtlCol="0">
            <a:spAutoFit/>
          </a:bodyPr>
          <a:lstStyle/>
          <a:p>
            <a:pPr algn="ctr" defTabSz="1017038" fontAlgn="auto">
              <a:spcBef>
                <a:spcPts val="0"/>
              </a:spcBef>
              <a:spcAft>
                <a:spcPts val="0"/>
              </a:spcAft>
            </a:pPr>
            <a:r>
              <a:rPr lang="en-US" sz="1300" dirty="0" smtClean="0">
                <a:solidFill>
                  <a:srgbClr val="FFFFFF"/>
                </a:solidFill>
              </a:rPr>
              <a:t>MBS Valuation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46233" y="1639601"/>
            <a:ext cx="1927860" cy="30280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1751" tIns="50877" rIns="101751" bIns="50877" rtlCol="0">
            <a:spAutoFit/>
          </a:bodyPr>
          <a:lstStyle/>
          <a:p>
            <a:pPr algn="ctr" defTabSz="1017038" fontAlgn="auto">
              <a:spcBef>
                <a:spcPts val="0"/>
              </a:spcBef>
              <a:spcAft>
                <a:spcPts val="0"/>
              </a:spcAft>
            </a:pPr>
            <a:r>
              <a:rPr lang="en-US" sz="1300" dirty="0" smtClean="0">
                <a:solidFill>
                  <a:schemeClr val="tx1"/>
                </a:solidFill>
              </a:rPr>
              <a:t>Cash Flow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41895" y="1640600"/>
            <a:ext cx="1927860" cy="2874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1751" tIns="50877" rIns="101751" bIns="50877" rtlCol="0">
            <a:spAutoFit/>
          </a:bodyPr>
          <a:lstStyle/>
          <a:p>
            <a:pPr algn="ctr" defTabSz="1017038" fontAlgn="auto"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cs typeface="Arial" panose="020B0604020202020204" pitchFamily="34" charset="0"/>
              </a:rPr>
              <a:t>Prepayment</a:t>
            </a:r>
            <a:endParaRPr lang="en-US" sz="1300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stCxn id="27" idx="1"/>
            <a:endCxn id="26" idx="3"/>
          </p:cNvCxnSpPr>
          <p:nvPr/>
        </p:nvCxnSpPr>
        <p:spPr>
          <a:xfrm flipH="1">
            <a:off x="2675573" y="1791002"/>
            <a:ext cx="1470660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1"/>
            <a:endCxn id="27" idx="3"/>
          </p:cNvCxnSpPr>
          <p:nvPr/>
        </p:nvCxnSpPr>
        <p:spPr>
          <a:xfrm flipH="1">
            <a:off x="6074093" y="1784307"/>
            <a:ext cx="1467802" cy="6695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28" idx="2"/>
            <a:endCxn id="26" idx="2"/>
          </p:cNvCxnSpPr>
          <p:nvPr/>
        </p:nvCxnSpPr>
        <p:spPr>
          <a:xfrm rot="5400000">
            <a:off x="5101540" y="-1461883"/>
            <a:ext cx="14389" cy="6794182"/>
          </a:xfrm>
          <a:prstGeom prst="curvedConnector3">
            <a:avLst>
              <a:gd name="adj1" fmla="val 2880249"/>
            </a:avLst>
          </a:prstGeom>
          <a:ln w="57150">
            <a:solidFill>
              <a:schemeClr val="accent1">
                <a:lumMod val="40000"/>
                <a:lumOff val="60000"/>
              </a:schemeClr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hart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2923603"/>
              </p:ext>
            </p:extLst>
          </p:nvPr>
        </p:nvGraphicFramePr>
        <p:xfrm>
          <a:off x="237220" y="3438525"/>
          <a:ext cx="9515475" cy="3290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09626" y="6406247"/>
            <a:ext cx="2979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Good slide but Investment committee already knows this. Let’s skip.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90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APPROXIMATING THE REFINANCIBLE UNIVERSE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40375" y="4995386"/>
                <a:ext cx="24213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𝑊𝐴𝐶</m:t>
                      </m:r>
                      <m:r>
                        <a:rPr lang="en-US" sz="1400" b="0" i="1" smtClean="0">
                          <a:latin typeface="Cambria Math"/>
                        </a:rPr>
                        <m:t> −</m:t>
                      </m:r>
                      <m:r>
                        <a:rPr lang="en-US" sz="1400" b="0" i="1" smtClean="0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  <a:p>
                <a:r>
                  <a:rPr lang="en-US" sz="1400" i="1" dirty="0">
                    <a:latin typeface="Cambria Math"/>
                  </a:rPr>
                  <a:t>Threshold = 50 bps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75" y="4995386"/>
                <a:ext cx="2421304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504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743976" y="5103106"/>
                <a:ext cx="20494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b="0" i="1" smtClean="0">
                          <a:latin typeface="Cambria Math"/>
                        </a:rPr>
                        <m:t>≥</m:t>
                      </m:r>
                      <m:r>
                        <a:rPr lang="en-US" sz="1400" b="0" i="1" smtClean="0">
                          <a:latin typeface="Cambria Math"/>
                        </a:rPr>
                        <m:t>𝑇h𝑟𝑒𝑠h𝑜𝑙𝑑</m:t>
                      </m:r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976" y="5103106"/>
                <a:ext cx="2049407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8218" y="6326743"/>
                <a:ext cx="4828181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𝑃𝑜𝑜𝑙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18" y="6326743"/>
                <a:ext cx="4828181" cy="546625"/>
              </a:xfrm>
              <a:prstGeom prst="rect">
                <a:avLst/>
              </a:prstGeom>
              <a:blipFill rotWithShape="1">
                <a:blip r:embed="rId4"/>
                <a:stretch>
                  <a:fillRect t="-58889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6900370"/>
              </p:ext>
            </p:extLst>
          </p:nvPr>
        </p:nvGraphicFramePr>
        <p:xfrm>
          <a:off x="237220" y="1209674"/>
          <a:ext cx="9515475" cy="3218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Isosceles Triangle 4"/>
          <p:cNvSpPr/>
          <p:nvPr/>
        </p:nvSpPr>
        <p:spPr>
          <a:xfrm rot="5400000">
            <a:off x="3069595" y="5157981"/>
            <a:ext cx="599003" cy="272206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2926719" y="5882688"/>
            <a:ext cx="2559680" cy="272206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>
            <a:off x="1194594" y="4709988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80090" y="4540711"/>
            <a:ext cx="4129286" cy="30777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How we approximate the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refinancible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universe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21968" y="6326743"/>
            <a:ext cx="2464431" cy="254261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457950" y="4941748"/>
            <a:ext cx="316139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Things may affect model accuracy: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n-lt"/>
              </a:rPr>
              <a:t>100% of Pool balance </a:t>
            </a:r>
            <a:r>
              <a:rPr lang="en-US" sz="1200" dirty="0">
                <a:latin typeface="+mn-lt"/>
              </a:rPr>
              <a:t>is </a:t>
            </a:r>
            <a:r>
              <a:rPr lang="en-US" sz="1200" dirty="0" smtClean="0">
                <a:latin typeface="+mn-lt"/>
              </a:rPr>
              <a:t>counted </a:t>
            </a:r>
            <a:r>
              <a:rPr lang="en-US" sz="1200" dirty="0">
                <a:latin typeface="+mn-lt"/>
              </a:rPr>
              <a:t>in </a:t>
            </a:r>
            <a:r>
              <a:rPr lang="en-US" sz="1200" dirty="0" smtClean="0">
                <a:latin typeface="+mn-lt"/>
              </a:rPr>
              <a:t>numerator.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n-lt"/>
              </a:rPr>
              <a:t>All borrowers in a pool have the same WAC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smtClean="0">
                <a:latin typeface="+mn-lt"/>
              </a:rPr>
              <a:t>and hence the same incentive.</a:t>
            </a:r>
          </a:p>
          <a:p>
            <a:endParaRPr lang="en-US" sz="1400" dirty="0">
              <a:latin typeface="+mn-lt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709830" y="5002735"/>
            <a:ext cx="519020" cy="254261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191250" y="5042207"/>
            <a:ext cx="0" cy="1739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0800000">
            <a:off x="6603369" y="6141608"/>
            <a:ext cx="2559680" cy="272206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435408" y="6533379"/>
            <a:ext cx="2946717" cy="2923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 need a loan level model</a:t>
            </a:r>
            <a:endParaRPr lang="en-US" dirty="0"/>
          </a:p>
        </p:txBody>
      </p:sp>
      <p:cxnSp>
        <p:nvCxnSpPr>
          <p:cNvPr id="42" name="Straight Connector 41"/>
          <p:cNvCxnSpPr/>
          <p:nvPr/>
        </p:nvCxnSpPr>
        <p:spPr>
          <a:xfrm>
            <a:off x="1194594" y="1088087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851027" y="956910"/>
            <a:ext cx="6057739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Historical Conventional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Index vs. FGLMC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Refinancible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Universe (50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bp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incentive)</a:t>
            </a:r>
          </a:p>
        </p:txBody>
      </p:sp>
    </p:spTree>
    <p:extLst>
      <p:ext uri="{BB962C8B-B14F-4D97-AF65-F5344CB8AC3E}">
        <p14:creationId xmlns:p14="http://schemas.microsoft.com/office/powerpoint/2010/main" val="389977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  <p:bldP spid="20" grpId="0"/>
      <p:bldP spid="5" grpId="0" animBg="1"/>
      <p:bldP spid="25" grpId="0" animBg="1"/>
      <p:bldP spid="38" grpId="0" animBg="1"/>
      <p:bldP spid="6" grpId="0" animBg="1"/>
      <p:bldP spid="7" grpId="0"/>
      <p:bldP spid="40" grpId="0" animBg="1"/>
      <p:bldP spid="41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APPROACH TO APPROXIMATING THE REFINANCIBLE UNIVERSE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30819" y="1501198"/>
                <a:ext cx="24213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1" i="1" smtClean="0">
                          <a:latin typeface="Cambria Math"/>
                        </a:rPr>
                        <m:t>𝑾𝑨𝑪</m:t>
                      </m:r>
                      <m:r>
                        <a:rPr lang="en-US" sz="1400" b="0" i="1" smtClean="0">
                          <a:latin typeface="Cambria Math"/>
                        </a:rPr>
                        <m:t> −</m:t>
                      </m:r>
                      <m:r>
                        <a:rPr lang="en-US" sz="1400" b="0" i="1" smtClean="0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  <a:p>
                <a:r>
                  <a:rPr lang="en-US" sz="1400" i="1" dirty="0">
                    <a:latin typeface="Cambria Math"/>
                  </a:rPr>
                  <a:t>Threshold = 50 bps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19" y="1501198"/>
                <a:ext cx="2421304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75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85165" y="2203905"/>
                <a:ext cx="4933915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1" i="1">
                                  <a:latin typeface="Cambria Math"/>
                                </a:rPr>
                                <m:t>𝑷𝒐𝒐𝒍</m:t>
                              </m:r>
                              <m:r>
                                <a:rPr lang="en-US" sz="1400" b="1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65" y="2203905"/>
                <a:ext cx="4933915" cy="546625"/>
              </a:xfrm>
              <a:prstGeom prst="rect">
                <a:avLst/>
              </a:prstGeom>
              <a:blipFill rotWithShape="1">
                <a:blip r:embed="rId3"/>
                <a:stretch>
                  <a:fillRect t="-59551" b="-46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>
            <a:off x="432869" y="122383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870163" y="105456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Pool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096869" y="1501198"/>
                <a:ext cx="31956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>
                          <a:latin typeface="Cambria Math"/>
                        </a:rPr>
                        <m:t>=</m:t>
                      </m:r>
                      <m:r>
                        <a:rPr lang="en-US" sz="1400" b="1" i="1">
                          <a:latin typeface="Cambria Math"/>
                        </a:rPr>
                        <m:t>𝑶𝒓𝒊𝒈𝑵𝒐𝒕𝒆𝑹𝒂𝒕𝒆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  <a:p>
                <a:r>
                  <a:rPr lang="en-US" sz="1400" i="1" dirty="0">
                    <a:latin typeface="Cambria Math"/>
                  </a:rPr>
                  <a:t>Threshold = 50 bps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69" y="1501198"/>
                <a:ext cx="3195618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382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096869" y="2203904"/>
                <a:ext cx="4896212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1" i="1" smtClean="0">
                                  <a:latin typeface="Cambria Math"/>
                                </a:rPr>
                                <m:t>𝑳𝒐𝒂𝒏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69" y="2203904"/>
                <a:ext cx="4896212" cy="546625"/>
              </a:xfrm>
              <a:prstGeom prst="rect">
                <a:avLst/>
              </a:prstGeom>
              <a:blipFill rotWithShape="1">
                <a:blip r:embed="rId5"/>
                <a:stretch>
                  <a:fillRect t="-59551" b="-46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>
            <a:off x="5009356" y="1154621"/>
            <a:ext cx="0" cy="15959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2738" y="29337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All </a:t>
            </a:r>
            <a:r>
              <a:rPr lang="en-US" sz="1400" dirty="0">
                <a:latin typeface="+mn-lt"/>
              </a:rPr>
              <a:t>borrowers in a pool </a:t>
            </a:r>
            <a:r>
              <a:rPr lang="en-US" sz="1400" dirty="0" smtClean="0">
                <a:latin typeface="+mn-lt"/>
              </a:rPr>
              <a:t>have the </a:t>
            </a:r>
            <a:r>
              <a:rPr lang="en-US" sz="1400" dirty="0">
                <a:latin typeface="+mn-lt"/>
              </a:rPr>
              <a:t>same </a:t>
            </a:r>
            <a:r>
              <a:rPr lang="en-US" sz="1400" dirty="0" smtClean="0">
                <a:latin typeface="+mn-lt"/>
              </a:rPr>
              <a:t>WAC </a:t>
            </a:r>
            <a:r>
              <a:rPr lang="en-US" sz="1400" dirty="0">
                <a:latin typeface="+mn-lt"/>
              </a:rPr>
              <a:t>and </a:t>
            </a:r>
            <a:r>
              <a:rPr lang="en-US" sz="1400" dirty="0" smtClean="0">
                <a:latin typeface="+mn-lt"/>
              </a:rPr>
              <a:t>hence the same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100% Pool balance is </a:t>
            </a:r>
            <a:r>
              <a:rPr lang="en-US" sz="1400" dirty="0" smtClean="0"/>
              <a:t>counted </a:t>
            </a:r>
            <a:r>
              <a:rPr lang="en-US" sz="1400" dirty="0"/>
              <a:t>in </a:t>
            </a:r>
            <a:r>
              <a:rPr lang="en-US" sz="1400" dirty="0" smtClean="0"/>
              <a:t>the numerator</a:t>
            </a:r>
            <a:endParaRPr 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5294996" y="29337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incentive for each </a:t>
            </a:r>
            <a:r>
              <a:rPr lang="en-US" sz="1400" dirty="0" smtClean="0"/>
              <a:t>borrower</a:t>
            </a:r>
            <a:endParaRPr lang="en-US" sz="1400" dirty="0" smtClean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Only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loans will be counted in the numerator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5166074" y="122383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03368" y="105456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8" name="Chart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9881467"/>
              </p:ext>
            </p:extLst>
          </p:nvPr>
        </p:nvGraphicFramePr>
        <p:xfrm>
          <a:off x="230819" y="4143374"/>
          <a:ext cx="7152666" cy="2943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29" name="Straight Connector 28"/>
          <p:cNvCxnSpPr/>
          <p:nvPr/>
        </p:nvCxnSpPr>
        <p:spPr>
          <a:xfrm>
            <a:off x="657225" y="4073752"/>
            <a:ext cx="62388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384318" y="3942575"/>
            <a:ext cx="3158328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Pool Level Model vs Loan Level Model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40412" y="4081074"/>
            <a:ext cx="24243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Question:</a:t>
            </a:r>
          </a:p>
          <a:p>
            <a:r>
              <a:rPr lang="en-US" sz="1400" dirty="0" smtClean="0">
                <a:latin typeface="+mn-lt"/>
              </a:rPr>
              <a:t>Does (</a:t>
            </a:r>
            <a:r>
              <a:rPr lang="en-US" sz="1400" dirty="0" err="1" smtClean="0">
                <a:latin typeface="+mn-lt"/>
              </a:rPr>
              <a:t>OrigNoteRate</a:t>
            </a:r>
            <a:r>
              <a:rPr lang="en-US" sz="1400" dirty="0" smtClean="0">
                <a:latin typeface="+mn-lt"/>
              </a:rPr>
              <a:t> – PMMS) truly measure the incentive?</a:t>
            </a:r>
          </a:p>
          <a:p>
            <a:endParaRPr lang="en-US" sz="1400" dirty="0">
              <a:latin typeface="+mn-l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40411" y="5049080"/>
            <a:ext cx="2424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Other costs should be taken into account.</a:t>
            </a:r>
            <a:endParaRPr lang="en-US" sz="1400" dirty="0">
              <a:latin typeface="+mn-lt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175658" y="1501198"/>
            <a:ext cx="2187292" cy="261610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7340409" y="5981701"/>
            <a:ext cx="2424349" cy="6000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 loan level model with LLPA</a:t>
            </a:r>
            <a:endParaRPr lang="en-US" dirty="0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7778248" y="4885179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/>
          <p:cNvSpPr/>
          <p:nvPr/>
        </p:nvSpPr>
        <p:spPr>
          <a:xfrm rot="10800000">
            <a:off x="7805957" y="5647179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8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9" grpId="0" animBg="1"/>
      <p:bldP spid="42" grpId="0" animBg="1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LLPA: LLPA MATRIX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24083" y="2183424"/>
            <a:ext cx="4324349" cy="954107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incentive </a:t>
            </a:r>
            <a:r>
              <a:rPr lang="en-US" sz="1400" dirty="0" smtClean="0"/>
              <a:t>only based on the origination note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In reality, the available rate depends on loan/borrower/property characteristics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89874" y="121771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27168" y="104844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1" i="1" smtClean="0">
                          <a:latin typeface="Cambria Math"/>
                        </a:rPr>
                        <m:t>/</m:t>
                      </m:r>
                      <m:r>
                        <a:rPr lang="en-US" sz="1400" b="1" i="1" smtClean="0">
                          <a:latin typeface="Cambria Math"/>
                        </a:rPr>
                        <m:t>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147970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Take the upfront  loan-level price adjustment into incentive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better proxy for the true incentive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3188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076238"/>
              </p:ext>
            </p:extLst>
          </p:nvPr>
        </p:nvGraphicFramePr>
        <p:xfrm>
          <a:off x="396175" y="3615986"/>
          <a:ext cx="9131303" cy="2667000"/>
        </p:xfrm>
        <a:graphic>
          <a:graphicData uri="http://schemas.openxmlformats.org/drawingml/2006/table">
            <a:tbl>
              <a:tblPr/>
              <a:tblGrid>
                <a:gridCol w="2330583"/>
                <a:gridCol w="850090"/>
                <a:gridCol w="850090"/>
                <a:gridCol w="850090"/>
                <a:gridCol w="850090"/>
                <a:gridCol w="850090"/>
                <a:gridCol w="850090"/>
                <a:gridCol w="850090"/>
                <a:gridCol w="85009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6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8DA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Feature (Cumulative)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Investment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8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Unit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Loan Size &gt; 417K (purchase &amp; rate-term)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48" name="Straight Connector 47"/>
          <p:cNvCxnSpPr/>
          <p:nvPr/>
        </p:nvCxnSpPr>
        <p:spPr>
          <a:xfrm>
            <a:off x="1643587" y="3425278"/>
            <a:ext cx="62388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793405" y="3256001"/>
            <a:ext cx="1948179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LLPA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174" y="6370675"/>
            <a:ext cx="9271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e.g. </a:t>
            </a:r>
            <a:r>
              <a:rPr lang="en-US" sz="1400" dirty="0" smtClean="0"/>
              <a:t>A borrower with LTV 76, FICO 710, investment property, regular loan size, paying mortgage rate of 4.5%: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30072" y="4382838"/>
            <a:ext cx="546823" cy="208212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5430072" y="5716338"/>
            <a:ext cx="546823" cy="208212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28695" y="6678452"/>
            <a:ext cx="4214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Without LLPA:  </a:t>
            </a:r>
          </a:p>
          <a:p>
            <a:r>
              <a:rPr lang="en-US" sz="1400" dirty="0"/>
              <a:t>I</a:t>
            </a:r>
            <a:r>
              <a:rPr lang="en-US" sz="1400" dirty="0" smtClean="0"/>
              <a:t>ncentive = 4.5% - PMMS 3.58% = 92 bps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02918" y="6678452"/>
            <a:ext cx="4610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With LLPA:  </a:t>
            </a:r>
          </a:p>
          <a:p>
            <a:r>
              <a:rPr lang="en-US" sz="1400" dirty="0"/>
              <a:t>I</a:t>
            </a:r>
            <a:r>
              <a:rPr lang="en-US" sz="1400" dirty="0" smtClean="0"/>
              <a:t>ncentive = 4.5% - PMMS 3.58% - (1.25+3)/4= -14.25 bps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3405" y="6678452"/>
            <a:ext cx="1136840" cy="298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Refinancible</a:t>
            </a:r>
            <a:endParaRPr lang="en-US" sz="1400" dirty="0"/>
          </a:p>
        </p:txBody>
      </p:sp>
      <p:sp>
        <p:nvSpPr>
          <p:cNvPr id="55" name="Rounded Rectangle 54"/>
          <p:cNvSpPr/>
          <p:nvPr/>
        </p:nvSpPr>
        <p:spPr>
          <a:xfrm>
            <a:off x="8390638" y="6631092"/>
            <a:ext cx="1136840" cy="298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Not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2891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0" grpId="0" animBg="1"/>
      <p:bldP spid="51" grpId="0" animBg="1"/>
      <p:bldP spid="52" grpId="0"/>
      <p:bldP spid="53" grpId="0"/>
      <p:bldP spid="54" grpId="0" animBg="1"/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LLPA: CALCULATION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8796" y="2286000"/>
            <a:ext cx="4324349" cy="1169551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incentive </a:t>
            </a:r>
            <a:r>
              <a:rPr lang="en-US" sz="1400" dirty="0" smtClean="0"/>
              <a:t>only based on the origination note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In </a:t>
            </a:r>
            <a:r>
              <a:rPr lang="en-US" sz="1400" dirty="0"/>
              <a:t>reality, the available rate depends on loan/borrower/property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latin typeface="+mn-lt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89874" y="121771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27168" y="104844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1" i="1" smtClean="0">
                          <a:latin typeface="Cambria Math"/>
                        </a:rPr>
                        <m:t>/</m:t>
                      </m:r>
                      <m:r>
                        <a:rPr lang="en-US" sz="1400" b="1" i="1" smtClean="0">
                          <a:latin typeface="Cambria Math"/>
                        </a:rPr>
                        <m:t>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147970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Take the upfront  loan-level price adjustment into incentive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better proxy for the true incentive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3188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636877" y="3852446"/>
            <a:ext cx="59353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634295" y="3683169"/>
            <a:ext cx="2104285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Char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1161448"/>
              </p:ext>
            </p:extLst>
          </p:nvPr>
        </p:nvGraphicFramePr>
        <p:xfrm>
          <a:off x="232175" y="4019550"/>
          <a:ext cx="6597250" cy="293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154060" y="3716090"/>
            <a:ext cx="24243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Problem:</a:t>
            </a:r>
          </a:p>
          <a:p>
            <a:r>
              <a:rPr lang="en-US" sz="1400" dirty="0" smtClean="0">
                <a:latin typeface="+mn-lt"/>
              </a:rPr>
              <a:t>The LLPA matrix is updated from time to time.</a:t>
            </a:r>
            <a:endParaRPr lang="en-US" sz="1400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54059" y="4684096"/>
            <a:ext cx="2424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U</a:t>
            </a:r>
            <a:r>
              <a:rPr lang="en-US" sz="1400" dirty="0" smtClean="0">
                <a:latin typeface="+mn-lt"/>
              </a:rPr>
              <a:t>sing a constant LLPA matrix affects calculation accuracy</a:t>
            </a:r>
            <a:endParaRPr lang="en-US" sz="1400" dirty="0">
              <a:latin typeface="+mn-lt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154056" y="5825067"/>
            <a:ext cx="2424349" cy="923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 loan level model with time-dependent LLPA</a:t>
            </a:r>
            <a:endParaRPr lang="en-US" dirty="0"/>
          </a:p>
        </p:txBody>
      </p:sp>
      <p:sp>
        <p:nvSpPr>
          <p:cNvPr id="34" name="Isosceles Triangle 33"/>
          <p:cNvSpPr/>
          <p:nvPr/>
        </p:nvSpPr>
        <p:spPr>
          <a:xfrm rot="10800000">
            <a:off x="7591896" y="4520195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619605" y="5539370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7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TIME-DEPENDENT LLPA: LLPA UPDATES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/>
                            </a:rPr>
                            <m:t>𝑳𝑳𝑷𝑨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252745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LLPA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Calculate incentive using corresponding LLPA table, based on time 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2045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23262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Time-dependent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441035" y="3602345"/>
            <a:ext cx="9020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458314" y="3427054"/>
            <a:ext cx="280035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omponent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pdates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46216" y="2292561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Doesn’t capture LLPA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Refinance incentive changes when the LLPA matrix changes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146207"/>
              </p:ext>
            </p:extLst>
          </p:nvPr>
        </p:nvGraphicFramePr>
        <p:xfrm>
          <a:off x="207514" y="4208638"/>
          <a:ext cx="4650975" cy="2073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195"/>
                <a:gridCol w="930195"/>
                <a:gridCol w="930195"/>
                <a:gridCol w="930195"/>
                <a:gridCol w="930195"/>
              </a:tblGrid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Component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Updates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LTV</a:t>
                      </a:r>
                      <a:r>
                        <a:rPr lang="en-US" sz="1200" baseline="0" dirty="0" smtClean="0"/>
                        <a:t> &amp; FICO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09/22/2011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12/16/2013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01/08/2014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01/07/2015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Occupancy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11/14/2013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Unit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11/14/2013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High</a:t>
                      </a:r>
                      <a:r>
                        <a:rPr lang="en-US" sz="1200" baseline="0" dirty="0" smtClean="0"/>
                        <a:t> LTV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09/22/2011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12/16/2013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AMDC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09/22/2011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12/16/2013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01/08/2014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66" name="Group 65"/>
          <p:cNvGrpSpPr/>
          <p:nvPr/>
        </p:nvGrpSpPr>
        <p:grpSpPr>
          <a:xfrm>
            <a:off x="5190481" y="3865491"/>
            <a:ext cx="4362759" cy="603746"/>
            <a:chOff x="1266825" y="1628775"/>
            <a:chExt cx="6580188" cy="431801"/>
          </a:xfrm>
        </p:grpSpPr>
        <p:sp>
          <p:nvSpPr>
            <p:cNvPr id="68" name="Text Box 4"/>
            <p:cNvSpPr txBox="1">
              <a:spLocks noChangeArrowheads="1"/>
            </p:cNvSpPr>
            <p:nvPr/>
          </p:nvSpPr>
          <p:spPr bwMode="auto">
            <a:xfrm>
              <a:off x="1865313" y="1628775"/>
              <a:ext cx="598487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Sep 2011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0" name="Text Box 6"/>
            <p:cNvSpPr txBox="1">
              <a:spLocks noChangeArrowheads="1"/>
            </p:cNvSpPr>
            <p:nvPr/>
          </p:nvSpPr>
          <p:spPr bwMode="auto">
            <a:xfrm>
              <a:off x="3060700" y="1628775"/>
              <a:ext cx="598488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Nov 2013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2" name="Text Box 8"/>
            <p:cNvSpPr txBox="1">
              <a:spLocks noChangeArrowheads="1"/>
            </p:cNvSpPr>
            <p:nvPr/>
          </p:nvSpPr>
          <p:spPr bwMode="auto">
            <a:xfrm>
              <a:off x="4257675" y="1628775"/>
              <a:ext cx="596900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Dec 2013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4" name="Text Box 10"/>
            <p:cNvSpPr txBox="1">
              <a:spLocks noChangeArrowheads="1"/>
            </p:cNvSpPr>
            <p:nvPr/>
          </p:nvSpPr>
          <p:spPr bwMode="auto">
            <a:xfrm>
              <a:off x="5453063" y="1628775"/>
              <a:ext cx="596900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Jan 2014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6" name="Text Box 12"/>
            <p:cNvSpPr txBox="1">
              <a:spLocks noChangeArrowheads="1"/>
            </p:cNvSpPr>
            <p:nvPr/>
          </p:nvSpPr>
          <p:spPr bwMode="auto">
            <a:xfrm>
              <a:off x="6650038" y="1628775"/>
              <a:ext cx="596900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Jan 2015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8" name="Freeform 14"/>
            <p:cNvSpPr>
              <a:spLocks/>
            </p:cNvSpPr>
            <p:nvPr/>
          </p:nvSpPr>
          <p:spPr bwMode="auto">
            <a:xfrm>
              <a:off x="1266825" y="1916114"/>
              <a:ext cx="6580188" cy="144462"/>
            </a:xfrm>
            <a:custGeom>
              <a:avLst/>
              <a:gdLst>
                <a:gd name="T0" fmla="*/ 0 w 4490"/>
                <a:gd name="T1" fmla="*/ 2147483647 h 91"/>
                <a:gd name="T2" fmla="*/ 0 w 4490"/>
                <a:gd name="T3" fmla="*/ 0 h 91"/>
                <a:gd name="T4" fmla="*/ 2147483647 w 4490"/>
                <a:gd name="T5" fmla="*/ 0 h 91"/>
                <a:gd name="T6" fmla="*/ 2147483647 w 4490"/>
                <a:gd name="T7" fmla="*/ 2147483647 h 9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90"/>
                <a:gd name="T13" fmla="*/ 0 h 91"/>
                <a:gd name="T14" fmla="*/ 4490 w 4490"/>
                <a:gd name="T15" fmla="*/ 91 h 9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90" h="91">
                  <a:moveTo>
                    <a:pt x="0" y="91"/>
                  </a:moveTo>
                  <a:lnTo>
                    <a:pt x="0" y="0"/>
                  </a:lnTo>
                  <a:lnTo>
                    <a:pt x="4490" y="0"/>
                  </a:lnTo>
                  <a:lnTo>
                    <a:pt x="4490" y="91"/>
                  </a:lnTo>
                </a:path>
              </a:pathLst>
            </a:custGeom>
            <a:noFill/>
            <a:ln w="19050">
              <a:solidFill>
                <a:schemeClr val="accent5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>
                <a:defRPr/>
              </a:pPr>
              <a:endParaRPr lang="en-US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0" name="AutoShape 16"/>
            <p:cNvSpPr>
              <a:spLocks noChangeArrowheads="1"/>
            </p:cNvSpPr>
            <p:nvPr/>
          </p:nvSpPr>
          <p:spPr bwMode="auto">
            <a:xfrm>
              <a:off x="2065338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2" name="AutoShape 18"/>
            <p:cNvSpPr>
              <a:spLocks noChangeArrowheads="1"/>
            </p:cNvSpPr>
            <p:nvPr/>
          </p:nvSpPr>
          <p:spPr bwMode="auto">
            <a:xfrm>
              <a:off x="3260725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4" name="AutoShape 20"/>
            <p:cNvSpPr>
              <a:spLocks noChangeArrowheads="1"/>
            </p:cNvSpPr>
            <p:nvPr/>
          </p:nvSpPr>
          <p:spPr bwMode="auto">
            <a:xfrm>
              <a:off x="4456113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6" name="AutoShape 22"/>
            <p:cNvSpPr>
              <a:spLocks noChangeArrowheads="1"/>
            </p:cNvSpPr>
            <p:nvPr/>
          </p:nvSpPr>
          <p:spPr bwMode="auto">
            <a:xfrm>
              <a:off x="5651500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8" name="AutoShape 24"/>
            <p:cNvSpPr>
              <a:spLocks noChangeArrowheads="1"/>
            </p:cNvSpPr>
            <p:nvPr/>
          </p:nvSpPr>
          <p:spPr bwMode="auto">
            <a:xfrm>
              <a:off x="6848475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718882"/>
              </p:ext>
            </p:extLst>
          </p:nvPr>
        </p:nvGraphicFramePr>
        <p:xfrm>
          <a:off x="5190479" y="4574460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7946"/>
                <a:gridCol w="78486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Base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419936"/>
              </p:ext>
            </p:extLst>
          </p:nvPr>
        </p:nvGraphicFramePr>
        <p:xfrm>
          <a:off x="5190479" y="4933553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18966"/>
                <a:gridCol w="24384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Occupancy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375935"/>
              </p:ext>
            </p:extLst>
          </p:nvPr>
        </p:nvGraphicFramePr>
        <p:xfrm>
          <a:off x="5190479" y="5292646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7946"/>
                <a:gridCol w="78486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185554"/>
              </p:ext>
            </p:extLst>
          </p:nvPr>
        </p:nvGraphicFramePr>
        <p:xfrm>
          <a:off x="5190479" y="5651739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54526"/>
                <a:gridCol w="20828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High</a:t>
                      </a: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</a:rPr>
                        <a:t> LTV</a:t>
                      </a:r>
                      <a:endParaRPr 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69275"/>
              </p:ext>
            </p:extLst>
          </p:nvPr>
        </p:nvGraphicFramePr>
        <p:xfrm>
          <a:off x="5190479" y="6010831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7946"/>
                <a:gridCol w="78486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AMDC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 flipV="1">
            <a:off x="7764780" y="4469237"/>
            <a:ext cx="0" cy="1939183"/>
          </a:xfrm>
          <a:prstGeom prst="line">
            <a:avLst/>
          </a:prstGeom>
          <a:ln w="38100">
            <a:solidFill>
              <a:srgbClr val="9966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24918" y="6408420"/>
            <a:ext cx="1343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e.g. </a:t>
            </a:r>
          </a:p>
          <a:p>
            <a:r>
              <a:rPr lang="en-US" sz="1200" dirty="0" smtClean="0"/>
              <a:t>as of 12/20/2013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2437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TIME-DEPENDENT LLPA: CALCULATION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/>
                            </a:rPr>
                            <m:t>𝑳𝑳𝑷𝑨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>
            <a:off x="52045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23262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Time-dependent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566043" y="3735944"/>
            <a:ext cx="236360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Time-dependent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252745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Captures LLPA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Calculate incentive using corresponding LLPA table, based on time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216" y="2292561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Doesn’t capture LLPA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Refinance incentive should change when LLPA changes</a:t>
            </a:r>
          </a:p>
        </p:txBody>
      </p:sp>
      <p:graphicFrame>
        <p:nvGraphicFramePr>
          <p:cNvPr id="27" name="Chart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5208850"/>
              </p:ext>
            </p:extLst>
          </p:nvPr>
        </p:nvGraphicFramePr>
        <p:xfrm>
          <a:off x="290730" y="4091940"/>
          <a:ext cx="644534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32139" y="4226896"/>
            <a:ext cx="24243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Models using constant LLPA and time-dependent LLPA show fairly similar results.</a:t>
            </a:r>
          </a:p>
          <a:p>
            <a:endParaRPr lang="en-US" sz="1400" dirty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However, new </a:t>
            </a:r>
            <a:r>
              <a:rPr lang="en-US" sz="1400" dirty="0">
                <a:latin typeface="+mn-lt"/>
              </a:rPr>
              <a:t>time-dependent LLPA </a:t>
            </a:r>
            <a:r>
              <a:rPr lang="en-US" sz="1400" dirty="0" smtClean="0">
                <a:latin typeface="+mn-lt"/>
              </a:rPr>
              <a:t>model makes it possible to capture major LLPA changes in the future.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496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REFI INDEX VS DIFFERENT LLPA INCENTIVE MODELS</a:t>
            </a:r>
            <a:endParaRPr lang="en-US" sz="1200" b="0" dirty="0"/>
          </a:p>
        </p:txBody>
      </p:sp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2240905"/>
              </p:ext>
            </p:extLst>
          </p:nvPr>
        </p:nvGraphicFramePr>
        <p:xfrm>
          <a:off x="1584103" y="4015740"/>
          <a:ext cx="7772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0439525"/>
              </p:ext>
            </p:extLst>
          </p:nvPr>
        </p:nvGraphicFramePr>
        <p:xfrm>
          <a:off x="1584103" y="1130340"/>
          <a:ext cx="7772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/>
          <p:cNvSpPr txBox="1"/>
          <p:nvPr/>
        </p:nvSpPr>
        <p:spPr>
          <a:xfrm rot="10800000">
            <a:off x="672822" y="1234440"/>
            <a:ext cx="923330" cy="21640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Pool Level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&amp;</a:t>
            </a:r>
          </a:p>
          <a:p>
            <a:pPr algn="ctr"/>
            <a:r>
              <a:rPr lang="en-US" sz="1600" dirty="0" err="1" smtClean="0">
                <a:solidFill>
                  <a:schemeClr val="bg1"/>
                </a:solidFill>
                <a:latin typeface="+mn-lt"/>
              </a:rPr>
              <a:t>Refi</a:t>
            </a: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 Index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 rot="10800000">
            <a:off x="672822" y="4114800"/>
            <a:ext cx="923330" cy="21640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Loan Level with 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Time-dependent LLPA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&amp; </a:t>
            </a:r>
            <a:r>
              <a:rPr lang="en-US" sz="1600" dirty="0" err="1" smtClean="0">
                <a:solidFill>
                  <a:schemeClr val="bg1"/>
                </a:solidFill>
                <a:latin typeface="+mn-lt"/>
              </a:rPr>
              <a:t>Refi</a:t>
            </a: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 Index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357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TIME-DEPENDENT LLPA AND PMI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</a:rPr>
                                <m:t>𝑳𝑳𝑷𝑨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blipFill rotWithShape="1"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788920" y="3735944"/>
            <a:ext cx="182118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928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PMI cost, which is a major factor for high LTV borrowers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2138" y="3910637"/>
            <a:ext cx="24243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PMI creates additional costs for high LTV borrowers.</a:t>
            </a:r>
            <a:endParaRPr lang="en-US" sz="1400" dirty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Thus, it lowers the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borrower percentage.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937734"/>
              </p:ext>
            </p:extLst>
          </p:nvPr>
        </p:nvGraphicFramePr>
        <p:xfrm>
          <a:off x="5798888" y="1106379"/>
          <a:ext cx="3657600" cy="1905000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&gt;=760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9E3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740-759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0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7E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720-739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0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7E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700-719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2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CD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680-699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2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CD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660-679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640-659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620-639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Coverage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0489542"/>
              </p:ext>
            </p:extLst>
          </p:nvPr>
        </p:nvGraphicFramePr>
        <p:xfrm>
          <a:off x="437929" y="4074498"/>
          <a:ext cx="630577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032139" y="5003988"/>
            <a:ext cx="24243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High LTV charges reduce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opportunities for those whose house value has declined. </a:t>
            </a:r>
          </a:p>
        </p:txBody>
      </p:sp>
      <p:sp>
        <p:nvSpPr>
          <p:cNvPr id="25" name="Isosceles Triangle 24"/>
          <p:cNvSpPr/>
          <p:nvPr/>
        </p:nvSpPr>
        <p:spPr>
          <a:xfrm rot="10800000">
            <a:off x="7363296" y="4853986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7363295" y="5815595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6925457" y="6020012"/>
            <a:ext cx="2424349" cy="923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 Affordable Refinance Program (HARP)</a:t>
            </a:r>
          </a:p>
        </p:txBody>
      </p:sp>
    </p:spTree>
    <p:extLst>
      <p:ext uri="{BB962C8B-B14F-4D97-AF65-F5344CB8AC3E}">
        <p14:creationId xmlns:p14="http://schemas.microsoft.com/office/powerpoint/2010/main" val="123701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2" grpId="0"/>
      <p:bldP spid="25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HARP EFFECT: MORTGAGE CHARGES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</a:rPr>
                                <m:t>𝑳𝑳𝑷𝑨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blipFill rotWithShape="1"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928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Did not capture the HARP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Underestimates the </a:t>
            </a:r>
            <a:r>
              <a:rPr lang="en-US" sz="1400" dirty="0" err="1" smtClean="0"/>
              <a:t>refinancible</a:t>
            </a:r>
            <a:r>
              <a:rPr lang="en-US" sz="1400" dirty="0" smtClean="0"/>
              <a:t> percentage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𝑅𝑒𝑔𝑢𝑙𝑎𝑟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𝐻𝐴𝑅𝑃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blipFill rotWithShape="1">
                <a:blip r:embed="rId5"/>
                <a:stretch>
                  <a:fillRect t="-132895" b="-20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𝑨𝒅𝒅𝒊𝒕𝒊𝒐𝒏𝒂𝒍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𝑪𝒐𝒔𝒕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blipFill rotWithShape="1"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>
                    <a:latin typeface="Cambria Math"/>
                  </a:rPr>
                  <a:t>Regular</a:t>
                </a:r>
                <a:r>
                  <a:rPr lang="en-US" sz="1400" b="0" dirty="0" smtClean="0"/>
                  <a:t> </a:t>
                </a:r>
                <a:r>
                  <a:rPr lang="en-US" sz="1400" i="1" dirty="0">
                    <a:latin typeface="Cambria Math"/>
                  </a:rPr>
                  <a:t>LLPA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+</m:t>
                    </m:r>
                    <m:r>
                      <a:rPr lang="en-US" sz="1400" i="1">
                        <a:latin typeface="Cambria Math"/>
                      </a:rPr>
                      <m:t>𝑃𝑀𝐼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1087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361065" y="2039511"/>
                <a:ext cx="26560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>
                    <a:latin typeface="Cambria Math"/>
                  </a:rPr>
                  <a:t>Refi Plus LLPA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𝑤𝑖𝑡h</m:t>
                    </m:r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𝑪𝒂𝒑</m:t>
                    </m:r>
                    <m:r>
                      <a:rPr lang="en-US" sz="1400" b="1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𝟎</m:t>
                    </m:r>
                    <m:r>
                      <a:rPr lang="en-US" sz="1400" b="1" i="1" smtClean="0">
                        <a:latin typeface="Cambria Math"/>
                      </a:rPr>
                      <m:t>.</m:t>
                    </m:r>
                    <m:r>
                      <a:rPr lang="en-US" sz="1400" b="1" i="1" smtClean="0">
                        <a:latin typeface="Cambria Math"/>
                      </a:rPr>
                      <m:t>𝟕𝟓</m:t>
                    </m:r>
                    <m:r>
                      <a:rPr lang="en-US" sz="1400" b="1" i="1" smtClean="0">
                        <a:latin typeface="Cambria Math"/>
                      </a:rPr>
                      <m:t>%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2039511"/>
                <a:ext cx="2656048" cy="307777"/>
              </a:xfrm>
              <a:prstGeom prst="rect">
                <a:avLst/>
              </a:prstGeom>
              <a:blipFill rotWithShape="1">
                <a:blip r:embed="rId8"/>
                <a:stretch>
                  <a:fillRect l="-690"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HARP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98890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Use </a:t>
            </a:r>
            <a:r>
              <a:rPr lang="en-US" sz="1400" dirty="0" err="1" smtClean="0"/>
              <a:t>Refi</a:t>
            </a:r>
            <a:r>
              <a:rPr lang="en-US" sz="1400" dirty="0" smtClean="0"/>
              <a:t>-Plus LLPA with a cap of 0.75%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HARP effect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525267"/>
              </p:ext>
            </p:extLst>
          </p:nvPr>
        </p:nvGraphicFramePr>
        <p:xfrm>
          <a:off x="1409477" y="3155734"/>
          <a:ext cx="6705600" cy="20288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55344"/>
              </p:ext>
            </p:extLst>
          </p:nvPr>
        </p:nvGraphicFramePr>
        <p:xfrm>
          <a:off x="1409477" y="5322094"/>
          <a:ext cx="6705600" cy="1838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0800000">
            <a:off x="681930" y="3223260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smtClean="0">
                <a:latin typeface="+mn-lt"/>
              </a:rPr>
              <a:t>Regular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LLPA</a:t>
            </a:r>
            <a:endParaRPr lang="en-US" sz="1400" dirty="0"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>
            <a:off x="681930" y="5322094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Plus LLPA</a:t>
            </a:r>
            <a:endParaRPr lang="en-US" sz="14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82962" y="3325742"/>
            <a:ext cx="1525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Blue color area has value &gt; 0.75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2963" y="5751374"/>
            <a:ext cx="15253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Extends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LTVs to &gt;97%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2962" y="3937099"/>
            <a:ext cx="15253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Notice the cap is not only for the base LLPA matrix;</a:t>
            </a:r>
          </a:p>
          <a:p>
            <a:r>
              <a:rPr lang="en-US" sz="1400" dirty="0" smtClean="0">
                <a:latin typeface="+mn-lt"/>
              </a:rPr>
              <a:t>Will affect property type/ loan size as well</a:t>
            </a:r>
          </a:p>
        </p:txBody>
      </p:sp>
    </p:spTree>
    <p:extLst>
      <p:ext uri="{BB962C8B-B14F-4D97-AF65-F5344CB8AC3E}">
        <p14:creationId xmlns:p14="http://schemas.microsoft.com/office/powerpoint/2010/main" val="195289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HARP Effect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</a:rPr>
                                <m:t>𝑳𝑳𝑷𝑨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blipFill rotWithShape="1"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928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Did not capture the HARP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Underestimate the </a:t>
            </a:r>
            <a:r>
              <a:rPr lang="en-US" sz="1400" dirty="0" err="1" smtClean="0"/>
              <a:t>refinancibles</a:t>
            </a:r>
            <a:r>
              <a:rPr lang="en-US" sz="1400" dirty="0" smtClean="0"/>
              <a:t> percentage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𝑅𝑒𝑔𝑢𝑙𝑎𝑟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𝐻𝐴𝑅𝑃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blipFill rotWithShape="1">
                <a:blip r:embed="rId5"/>
                <a:stretch>
                  <a:fillRect t="-132895" b="-20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𝑨𝒅𝒅𝒊𝒕𝒊𝒐𝒏𝒂𝒍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𝑪𝒐𝒔𝒕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blipFill rotWithShape="1"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>
                    <a:latin typeface="Cambria Math"/>
                  </a:rPr>
                  <a:t>Regular</a:t>
                </a:r>
                <a:r>
                  <a:rPr lang="en-US" sz="1400" b="0" dirty="0" smtClean="0"/>
                  <a:t> </a:t>
                </a:r>
                <a:r>
                  <a:rPr lang="en-US" sz="1400" i="1" dirty="0">
                    <a:latin typeface="Cambria Math"/>
                  </a:rPr>
                  <a:t>LLPA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+</m:t>
                    </m:r>
                    <m:r>
                      <a:rPr lang="en-US" sz="1400" i="1">
                        <a:latin typeface="Cambria Math"/>
                      </a:rPr>
                      <m:t>𝑃𝑀𝐼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1087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361065" y="2039511"/>
                <a:ext cx="24957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>
                    <a:latin typeface="Cambria Math"/>
                  </a:rPr>
                  <a:t>Refi Plus LLPA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𝑤𝑖𝑡h</m:t>
                    </m:r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𝑪𝒂𝒑</m:t>
                    </m:r>
                    <m:r>
                      <a:rPr lang="en-US" sz="1400" b="1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𝟎</m:t>
                    </m:r>
                    <m:r>
                      <a:rPr lang="en-US" sz="1400" b="1" i="1" smtClean="0">
                        <a:latin typeface="Cambria Math"/>
                      </a:rPr>
                      <m:t>.</m:t>
                    </m:r>
                    <m:r>
                      <a:rPr lang="en-US" sz="1400" b="1" i="1" smtClean="0">
                        <a:latin typeface="Cambria Math"/>
                      </a:rPr>
                      <m:t>𝟕𝟓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2039511"/>
                <a:ext cx="2495748" cy="307777"/>
              </a:xfrm>
              <a:prstGeom prst="rect">
                <a:avLst/>
              </a:prstGeom>
              <a:blipFill rotWithShape="1">
                <a:blip r:embed="rId8"/>
                <a:stretch>
                  <a:fillRect l="-733"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HARP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98890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Use </a:t>
            </a:r>
            <a:r>
              <a:rPr lang="en-US" sz="1400" dirty="0" err="1" smtClean="0"/>
              <a:t>Refi</a:t>
            </a:r>
            <a:r>
              <a:rPr lang="en-US" sz="1400" dirty="0" smtClean="0"/>
              <a:t>-Plus LLPA with cap 0.75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HARP effect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27108"/>
              </p:ext>
            </p:extLst>
          </p:nvPr>
        </p:nvGraphicFramePr>
        <p:xfrm>
          <a:off x="1409477" y="3155734"/>
          <a:ext cx="6705600" cy="20288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59510"/>
              </p:ext>
            </p:extLst>
          </p:nvPr>
        </p:nvGraphicFramePr>
        <p:xfrm>
          <a:off x="1409477" y="5322094"/>
          <a:ext cx="6705600" cy="1838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0800000">
            <a:off x="681930" y="3223260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smtClean="0">
                <a:latin typeface="+mn-lt"/>
              </a:rPr>
              <a:t>Regular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LLPA</a:t>
            </a:r>
            <a:endParaRPr lang="en-US" sz="1400" dirty="0"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>
            <a:off x="681930" y="5322094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Plus LLPA</a:t>
            </a:r>
            <a:endParaRPr lang="en-US" sz="1400" dirty="0">
              <a:latin typeface="+mn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82962" y="3533954"/>
            <a:ext cx="1525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All with Cap 0.75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2961" y="4021871"/>
            <a:ext cx="1525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Fairly close to each other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4378" y="4570033"/>
            <a:ext cx="152533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We use capped regular LLPA as a proxy.</a:t>
            </a:r>
          </a:p>
          <a:p>
            <a:r>
              <a:rPr lang="en-US" sz="1400" dirty="0" smtClean="0">
                <a:latin typeface="+mn-lt"/>
              </a:rPr>
              <a:t>Because we don’t have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Plus matrix in our database.</a:t>
            </a:r>
          </a:p>
        </p:txBody>
      </p:sp>
      <p:sp>
        <p:nvSpPr>
          <p:cNvPr id="29" name="TextBox 28"/>
          <p:cNvSpPr txBox="1"/>
          <p:nvPr/>
        </p:nvSpPr>
        <p:spPr>
          <a:xfrm rot="10800000">
            <a:off x="260312" y="3155733"/>
            <a:ext cx="430887" cy="400468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After Cap</a:t>
            </a:r>
          </a:p>
        </p:txBody>
      </p:sp>
    </p:spTree>
    <p:extLst>
      <p:ext uri="{BB962C8B-B14F-4D97-AF65-F5344CB8AC3E}">
        <p14:creationId xmlns:p14="http://schemas.microsoft.com/office/powerpoint/2010/main" val="116988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/>
          <p:cNvCxnSpPr/>
          <p:nvPr/>
        </p:nvCxnSpPr>
        <p:spPr>
          <a:xfrm>
            <a:off x="708660" y="4368798"/>
            <a:ext cx="610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08660" y="1358898"/>
            <a:ext cx="6149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Chart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2705393"/>
              </p:ext>
            </p:extLst>
          </p:nvPr>
        </p:nvGraphicFramePr>
        <p:xfrm>
          <a:off x="329565" y="1154795"/>
          <a:ext cx="670369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HOW HARP AFFECTS THE REFINANCIBLE UNIVERSE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46642" y="1590854"/>
            <a:ext cx="2506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HARP significantly increases the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percentage for the loans originated before June 2009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6642" y="2544961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Two curve converge:</a:t>
            </a:r>
          </a:p>
          <a:p>
            <a:r>
              <a:rPr lang="en-US" sz="1400" dirty="0" smtClean="0">
                <a:latin typeface="+mn-lt"/>
              </a:rPr>
              <a:t>High LTV borrower decrease through time.</a:t>
            </a:r>
          </a:p>
        </p:txBody>
      </p:sp>
      <p:graphicFrame>
        <p:nvGraphicFramePr>
          <p:cNvPr id="39" name="Chart 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3845758"/>
              </p:ext>
            </p:extLst>
          </p:nvPr>
        </p:nvGraphicFramePr>
        <p:xfrm>
          <a:off x="175260" y="4164695"/>
          <a:ext cx="685799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7246642" y="4532174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Most (80%) of the borrowers who are eligible for HARP have already refinanced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46642" y="5352932"/>
            <a:ext cx="2506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latin typeface="+mn-lt"/>
              </a:rPr>
              <a:t>HARPable</a:t>
            </a:r>
            <a:r>
              <a:rPr lang="en-US" sz="1400" dirty="0" smtClean="0">
                <a:latin typeface="+mn-lt"/>
              </a:rPr>
              <a:t> balance has decreased from 500B to 100B</a:t>
            </a:r>
          </a:p>
        </p:txBody>
      </p:sp>
    </p:spTree>
    <p:extLst>
      <p:ext uri="{BB962C8B-B14F-4D97-AF65-F5344CB8AC3E}">
        <p14:creationId xmlns:p14="http://schemas.microsoft.com/office/powerpoint/2010/main" val="92701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/>
          <p:cNvCxnSpPr/>
          <p:nvPr/>
        </p:nvCxnSpPr>
        <p:spPr>
          <a:xfrm>
            <a:off x="731520" y="4353558"/>
            <a:ext cx="610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08660" y="1358898"/>
            <a:ext cx="6149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LOAN-LEVEL INCENTIVES WITH HARP EFFECT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46642" y="2240161"/>
            <a:ext cx="2506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HARP increases the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percentage by 20% on 2011, then gradually converges to the “regular” </a:t>
            </a:r>
            <a:r>
              <a:rPr lang="en-US" sz="1400" dirty="0" err="1" smtClean="0">
                <a:latin typeface="+mn-lt"/>
              </a:rPr>
              <a:t>refinanceable</a:t>
            </a:r>
            <a:r>
              <a:rPr lang="en-US" sz="1400" dirty="0" smtClean="0">
                <a:latin typeface="+mn-lt"/>
              </a:rPr>
              <a:t> curve.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6642" y="3372096"/>
            <a:ext cx="250695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Two curves converge:</a:t>
            </a:r>
          </a:p>
          <a:p>
            <a:pPr marL="342900" indent="-342900">
              <a:buAutoNum type="arabicParenR"/>
            </a:pPr>
            <a:r>
              <a:rPr lang="en-US" sz="1400" dirty="0" smtClean="0">
                <a:latin typeface="+mn-lt"/>
              </a:rPr>
              <a:t>High LTV borrower balances decrease,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-percentage for regular LLPA is high enough;</a:t>
            </a:r>
          </a:p>
          <a:p>
            <a:pPr marL="342900" indent="-342900">
              <a:buAutoNum type="arabicParenR"/>
            </a:pPr>
            <a:r>
              <a:rPr lang="en-US" sz="1400" dirty="0" smtClean="0">
                <a:latin typeface="+mn-lt"/>
              </a:rPr>
              <a:t>Most </a:t>
            </a:r>
            <a:r>
              <a:rPr lang="en-US" sz="1400" dirty="0" err="1" smtClean="0">
                <a:latin typeface="+mn-lt"/>
              </a:rPr>
              <a:t>HARPable</a:t>
            </a:r>
            <a:r>
              <a:rPr lang="en-US" sz="1400" dirty="0" smtClean="0">
                <a:latin typeface="+mn-lt"/>
              </a:rPr>
              <a:t> borrowers already refinanced.</a:t>
            </a:r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0168474"/>
              </p:ext>
            </p:extLst>
          </p:nvPr>
        </p:nvGraphicFramePr>
        <p:xfrm>
          <a:off x="460534" y="1429115"/>
          <a:ext cx="664559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661253" y="1220398"/>
            <a:ext cx="219843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HARP Increase </a:t>
            </a:r>
            <a:r>
              <a:rPr lang="en-US" sz="1200" b="1" dirty="0" err="1" smtClean="0">
                <a:latin typeface="+mn-lt"/>
              </a:rPr>
              <a:t>Refinancible</a:t>
            </a:r>
            <a:endParaRPr lang="en-US" sz="1200" b="1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50765" y="4223810"/>
            <a:ext cx="261940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New Loan Level Model vs Pool Level</a:t>
            </a:r>
            <a:endParaRPr lang="en-US" sz="1200" b="1" dirty="0">
              <a:latin typeface="+mn-lt"/>
            </a:endParaRPr>
          </a:p>
        </p:txBody>
      </p:sp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3232563"/>
              </p:ext>
            </p:extLst>
          </p:nvPr>
        </p:nvGraphicFramePr>
        <p:xfrm>
          <a:off x="339112" y="4408029"/>
          <a:ext cx="692705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5935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Model with HARP Effect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8621" y="1704509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Pool Level</a:t>
            </a:r>
            <a:endParaRPr lang="en-US" sz="1400" dirty="0"/>
          </a:p>
        </p:txBody>
      </p:sp>
      <p:sp>
        <p:nvSpPr>
          <p:cNvPr id="16" name="Rectangle 15"/>
          <p:cNvSpPr/>
          <p:nvPr/>
        </p:nvSpPr>
        <p:spPr>
          <a:xfrm>
            <a:off x="308621" y="2381117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308621" y="3057725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LLPA</a:t>
            </a:r>
            <a:endParaRPr lang="en-US" sz="1400" dirty="0"/>
          </a:p>
        </p:txBody>
      </p:sp>
      <p:sp>
        <p:nvSpPr>
          <p:cNvPr id="18" name="Rectangle 17"/>
          <p:cNvSpPr/>
          <p:nvPr/>
        </p:nvSpPr>
        <p:spPr>
          <a:xfrm>
            <a:off x="308621" y="3734333"/>
            <a:ext cx="2270760" cy="6760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Time-Dependent LLPA</a:t>
            </a:r>
            <a:endParaRPr 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308621" y="4629292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LLPA + PMI</a:t>
            </a:r>
            <a:endParaRPr lang="en-US" sz="1400" dirty="0"/>
          </a:p>
        </p:txBody>
      </p:sp>
      <p:sp>
        <p:nvSpPr>
          <p:cNvPr id="20" name="Rectangle 19"/>
          <p:cNvSpPr/>
          <p:nvPr/>
        </p:nvSpPr>
        <p:spPr>
          <a:xfrm>
            <a:off x="308621" y="5305903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HARP</a:t>
            </a:r>
            <a:endParaRPr lang="en-US" sz="1400" dirty="0"/>
          </a:p>
        </p:txBody>
      </p:sp>
      <p:sp>
        <p:nvSpPr>
          <p:cNvPr id="4" name="Down Arrow 3"/>
          <p:cNvSpPr/>
          <p:nvPr/>
        </p:nvSpPr>
        <p:spPr>
          <a:xfrm>
            <a:off x="2697480" y="1704507"/>
            <a:ext cx="106680" cy="4301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8621" y="6006111"/>
            <a:ext cx="2270760" cy="453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Closer to Reality</a:t>
            </a:r>
            <a:endParaRPr lang="en-US" sz="1400" dirty="0"/>
          </a:p>
        </p:txBody>
      </p:sp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0950826"/>
              </p:ext>
            </p:extLst>
          </p:nvPr>
        </p:nvGraphicFramePr>
        <p:xfrm>
          <a:off x="3086100" y="1209676"/>
          <a:ext cx="6666595" cy="2645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2864982"/>
              </p:ext>
            </p:extLst>
          </p:nvPr>
        </p:nvGraphicFramePr>
        <p:xfrm>
          <a:off x="2903221" y="4087594"/>
          <a:ext cx="691048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4894338"/>
              </p:ext>
            </p:extLst>
          </p:nvPr>
        </p:nvGraphicFramePr>
        <p:xfrm>
          <a:off x="2956561" y="4075628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6957316"/>
              </p:ext>
            </p:extLst>
          </p:nvPr>
        </p:nvGraphicFramePr>
        <p:xfrm>
          <a:off x="2956561" y="4058606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6" name="Char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7385453"/>
              </p:ext>
            </p:extLst>
          </p:nvPr>
        </p:nvGraphicFramePr>
        <p:xfrm>
          <a:off x="2956561" y="4058606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7" name="Chart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5015431"/>
              </p:ext>
            </p:extLst>
          </p:nvPr>
        </p:nvGraphicFramePr>
        <p:xfrm>
          <a:off x="2956561" y="4078902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8" name="Chart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8544034"/>
              </p:ext>
            </p:extLst>
          </p:nvPr>
        </p:nvGraphicFramePr>
        <p:xfrm>
          <a:off x="2956561" y="4058606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26697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4" grpId="0" animBg="1"/>
      <p:bldP spid="6" grpId="0" animBg="1"/>
      <p:bldGraphic spid="22" grpId="0">
        <p:bldAsOne/>
      </p:bldGraphic>
      <p:bldGraphic spid="24" grpId="0">
        <p:bldAsOne/>
      </p:bldGraphic>
      <p:bldGraphic spid="25" grpId="0">
        <p:bldAsOne/>
      </p:bldGraphic>
      <p:bldGraphic spid="26" grpId="0">
        <p:bldAsOne/>
      </p:bldGraphic>
      <p:bldGraphic spid="27" grpId="0">
        <p:bldAsOne/>
      </p:bldGraphic>
      <p:bldGraphic spid="28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CONTACT INFORMATION</a:t>
            </a:r>
            <a:br>
              <a:rPr lang="en-US" dirty="0" smtClean="0"/>
            </a:br>
            <a:r>
              <a:rPr lang="en-US" sz="1200" b="0" dirty="0"/>
              <a:t>For further information, please contact:</a:t>
            </a:r>
          </a:p>
        </p:txBody>
      </p:sp>
      <p:sp>
        <p:nvSpPr>
          <p:cNvPr id="3" name="Rectangle 2"/>
          <p:cNvSpPr/>
          <p:nvPr/>
        </p:nvSpPr>
        <p:spPr>
          <a:xfrm>
            <a:off x="2533587" y="3356357"/>
            <a:ext cx="5029200" cy="461507"/>
          </a:xfrm>
          <a:prstGeom prst="rect">
            <a:avLst/>
          </a:prstGeom>
        </p:spPr>
        <p:txBody>
          <a:bodyPr lIns="91288" tIns="45642" rIns="91288" bIns="45642">
            <a:spAutoFit/>
          </a:bodyPr>
          <a:lstStyle/>
          <a:p>
            <a:pPr algn="ctr">
              <a:buClr>
                <a:schemeClr val="tx2"/>
              </a:buClr>
              <a:defRPr/>
            </a:pPr>
            <a:r>
              <a:rPr lang="en-US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188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68168</TotalTime>
  <Words>2130</Words>
  <Application>Microsoft Office PowerPoint</Application>
  <PresentationFormat>Custom</PresentationFormat>
  <Paragraphs>822</Paragraphs>
  <Slides>16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Prepayment on Residential Mortgages</vt:lpstr>
      <vt:lpstr>APPROXIMATING THE REFINANCIBLE UNIVERSE</vt:lpstr>
      <vt:lpstr>LOAN-LEVEL APPROACH TO APPROXIMATING THE REFINANCIBLE UNIVERSE</vt:lpstr>
      <vt:lpstr>LOAN-LEVEL WITH LLPA: LLPA MATRIX</vt:lpstr>
      <vt:lpstr>LOAN-LEVEL WITH LLPA: CALCULATION</vt:lpstr>
      <vt:lpstr>LOAN-LEVEL WITH TIME-DEPENDENT LLPA: LLPA UPDATES</vt:lpstr>
      <vt:lpstr>LOAN-LEVEL WITH TIME-DEPENDENT LLPA: CALCULATION</vt:lpstr>
      <vt:lpstr>REFI INDEX VS DIFFERENT LLPA INCENTIVE MODELS</vt:lpstr>
      <vt:lpstr>LOAN-LEVEL WITH TIME-DEPENDENT LLPA AND PMI</vt:lpstr>
      <vt:lpstr>HARP EFFECT: MORTGAGE CHARGES</vt:lpstr>
      <vt:lpstr>HARP Effect</vt:lpstr>
      <vt:lpstr>HOW HARP AFFECTS THE REFINANCIBLE UNIVERSE</vt:lpstr>
      <vt:lpstr>LOAN-LEVEL INCENTIVES WITH HARP EFFECT</vt:lpstr>
      <vt:lpstr>Loan Level Model with HARP Effect</vt:lpstr>
      <vt:lpstr>CONTACT INFORMATION For further information, please contact: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1881</cp:revision>
  <cp:lastPrinted>2014-08-14T21:45:56Z</cp:lastPrinted>
  <dcterms:created xsi:type="dcterms:W3CDTF">2011-07-07T12:37:32Z</dcterms:created>
  <dcterms:modified xsi:type="dcterms:W3CDTF">2015-05-14T19:51:20Z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