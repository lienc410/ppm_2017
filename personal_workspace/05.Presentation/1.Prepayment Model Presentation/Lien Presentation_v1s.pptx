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1"/>
  </p:notesMasterIdLst>
  <p:handoutMasterIdLst>
    <p:handoutMasterId r:id="rId42"/>
  </p:handoutMasterIdLst>
  <p:sldIdLst>
    <p:sldId id="433" r:id="rId16"/>
    <p:sldId id="578" r:id="rId17"/>
    <p:sldId id="579" r:id="rId18"/>
    <p:sldId id="554" r:id="rId19"/>
    <p:sldId id="555" r:id="rId20"/>
    <p:sldId id="580" r:id="rId21"/>
    <p:sldId id="556" r:id="rId22"/>
    <p:sldId id="557" r:id="rId23"/>
    <p:sldId id="558" r:id="rId24"/>
    <p:sldId id="559" r:id="rId25"/>
    <p:sldId id="560" r:id="rId26"/>
    <p:sldId id="561" r:id="rId27"/>
    <p:sldId id="563" r:id="rId28"/>
    <p:sldId id="562" r:id="rId29"/>
    <p:sldId id="566" r:id="rId30"/>
    <p:sldId id="581" r:id="rId31"/>
    <p:sldId id="564" r:id="rId32"/>
    <p:sldId id="568" r:id="rId33"/>
    <p:sldId id="569" r:id="rId34"/>
    <p:sldId id="570" r:id="rId35"/>
    <p:sldId id="573" r:id="rId36"/>
    <p:sldId id="574" r:id="rId37"/>
    <p:sldId id="575" r:id="rId38"/>
    <p:sldId id="577" r:id="rId39"/>
    <p:sldId id="539" r:id="rId40"/>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2B18"/>
    <a:srgbClr val="996633"/>
    <a:srgbClr val="968880"/>
    <a:srgbClr val="2E398A"/>
    <a:srgbClr val="533D2D"/>
    <a:srgbClr val="533D23"/>
    <a:srgbClr val="EFEBE4"/>
    <a:srgbClr val="090909"/>
    <a:srgbClr val="E519CD"/>
    <a:srgbClr val="E1D8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00" d="100"/>
          <a:sy n="100" d="100"/>
        </p:scale>
        <p:origin x="-1044" y="-1068"/>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2"/>
    </mc:Choice>
    <mc:Fallback>
      <c:style val="12"/>
    </mc:Fallback>
  </mc:AlternateContent>
  <c:chart>
    <c:autoTitleDeleted val="1"/>
    <c:plotArea>
      <c:layout>
        <c:manualLayout>
          <c:layoutTarget val="inner"/>
          <c:xMode val="edge"/>
          <c:yMode val="edge"/>
          <c:x val="8.0284331032632564E-2"/>
          <c:y val="4.6153842659460646E-2"/>
          <c:w val="0.88414094578388613"/>
          <c:h val="0.86692770541128861"/>
        </c:manualLayout>
      </c:layout>
      <c:pieChart>
        <c:varyColors val="1"/>
        <c:ser>
          <c:idx val="0"/>
          <c:order val="0"/>
          <c:tx>
            <c:strRef>
              <c:f>Sheet1!$B$1</c:f>
              <c:strCache>
                <c:ptCount val="1"/>
                <c:pt idx="0">
                  <c:v>Q1</c:v>
                </c:pt>
              </c:strCache>
            </c:strRef>
          </c:tx>
          <c:dPt>
            <c:idx val="0"/>
            <c:bubble3D val="0"/>
          </c:dPt>
          <c:dPt>
            <c:idx val="1"/>
            <c:bubble3D val="0"/>
          </c:dPt>
          <c:dPt>
            <c:idx val="2"/>
            <c:bubble3D val="0"/>
          </c:dPt>
          <c:dPt>
            <c:idx val="3"/>
            <c:bubble3D val="0"/>
          </c:dPt>
          <c:dPt>
            <c:idx val="4"/>
            <c:bubble3D val="0"/>
          </c:dPt>
          <c:dLbls>
            <c:delete val="1"/>
          </c:dLbls>
          <c:cat>
            <c:strRef>
              <c:f>Sheet1!$A$2:$A$5</c:f>
              <c:strCache>
                <c:ptCount val="4"/>
                <c:pt idx="0">
                  <c:v>Curtail</c:v>
                </c:pt>
                <c:pt idx="1">
                  <c:v>Defualt</c:v>
                </c:pt>
                <c:pt idx="2">
                  <c:v>Turnover</c:v>
                </c:pt>
                <c:pt idx="3">
                  <c:v>Refinancing</c:v>
                </c:pt>
              </c:strCache>
            </c:strRef>
          </c:cat>
          <c:val>
            <c:numRef>
              <c:f>Sheet1!$B$2:$B$5</c:f>
              <c:numCache>
                <c:formatCode>General</c:formatCode>
                <c:ptCount val="4"/>
                <c:pt idx="0">
                  <c:v>10</c:v>
                </c:pt>
                <c:pt idx="1">
                  <c:v>10</c:v>
                </c:pt>
                <c:pt idx="2">
                  <c:v>10</c:v>
                </c:pt>
                <c:pt idx="3">
                  <c:v>10</c:v>
                </c:pt>
              </c:numCache>
            </c:numRef>
          </c:val>
        </c:ser>
        <c:dLbls>
          <c:showLegendKey val="0"/>
          <c:showVal val="1"/>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10040493506277"/>
          <c:y val="3.9546124331371904E-2"/>
          <c:w val="0.7674778025024348"/>
          <c:h val="0.74829542212393607"/>
        </c:manualLayout>
      </c:layout>
      <c:lineChart>
        <c:grouping val="standard"/>
        <c:varyColors val="0"/>
        <c:ser>
          <c:idx val="0"/>
          <c:order val="0"/>
          <c:tx>
            <c:strRef>
              <c:f>Sheet1!$B$1</c:f>
              <c:strCache>
                <c:ptCount val="1"/>
                <c:pt idx="0">
                  <c:v>CPR</c:v>
                </c:pt>
              </c:strCache>
            </c:strRef>
          </c:tx>
          <c:marker>
            <c:symbol val="none"/>
          </c:marker>
          <c:cat>
            <c:numRef>
              <c:f>Sheet1!$A$2:$A$12</c:f>
              <c:numCache>
                <c:formatCode>0%</c:formatCode>
                <c:ptCount val="11"/>
                <c:pt idx="0">
                  <c:v>0</c:v>
                </c:pt>
                <c:pt idx="1">
                  <c:v>0.05</c:v>
                </c:pt>
                <c:pt idx="2">
                  <c:v>0.1</c:v>
                </c:pt>
                <c:pt idx="3">
                  <c:v>0.15</c:v>
                </c:pt>
                <c:pt idx="4">
                  <c:v>0.2</c:v>
                </c:pt>
                <c:pt idx="5">
                  <c:v>0.25</c:v>
                </c:pt>
                <c:pt idx="6">
                  <c:v>0.3</c:v>
                </c:pt>
                <c:pt idx="7">
                  <c:v>0.35</c:v>
                </c:pt>
                <c:pt idx="8">
                  <c:v>0.4</c:v>
                </c:pt>
                <c:pt idx="9">
                  <c:v>0.45</c:v>
                </c:pt>
                <c:pt idx="10">
                  <c:v>0.5</c:v>
                </c:pt>
              </c:numCache>
            </c:numRef>
          </c:cat>
          <c:val>
            <c:numRef>
              <c:f>Sheet1!$B$2:$B$12</c:f>
              <c:numCache>
                <c:formatCode>0%</c:formatCode>
                <c:ptCount val="11"/>
                <c:pt idx="0">
                  <c:v>0</c:v>
                </c:pt>
                <c:pt idx="1">
                  <c:v>0.45963991233736312</c:v>
                </c:pt>
                <c:pt idx="2">
                  <c:v>0.71757046351899989</c:v>
                </c:pt>
                <c:pt idx="3">
                  <c:v>0.85775824286382796</c:v>
                </c:pt>
                <c:pt idx="4">
                  <c:v>0.9312805232639999</c:v>
                </c:pt>
                <c:pt idx="5">
                  <c:v>0.96832364797592163</c:v>
                </c:pt>
                <c:pt idx="6">
                  <c:v>0.98615871279900003</c:v>
                </c:pt>
                <c:pt idx="7">
                  <c:v>0.99431199093689426</c:v>
                </c:pt>
                <c:pt idx="8">
                  <c:v>0.99782321766399995</c:v>
                </c:pt>
                <c:pt idx="9">
                  <c:v>0.99923378213458958</c:v>
                </c:pt>
                <c:pt idx="10">
                  <c:v>0.999755859375</c:v>
                </c:pt>
              </c:numCache>
            </c:numRef>
          </c:val>
          <c:smooth val="1"/>
        </c:ser>
        <c:dLbls>
          <c:showLegendKey val="0"/>
          <c:showVal val="0"/>
          <c:showCatName val="0"/>
          <c:showSerName val="0"/>
          <c:showPercent val="0"/>
          <c:showBubbleSize val="0"/>
        </c:dLbls>
        <c:marker val="1"/>
        <c:smooth val="0"/>
        <c:axId val="159560832"/>
        <c:axId val="159562368"/>
      </c:lineChart>
      <c:catAx>
        <c:axId val="159560832"/>
        <c:scaling>
          <c:orientation val="minMax"/>
        </c:scaling>
        <c:delete val="0"/>
        <c:axPos val="b"/>
        <c:title>
          <c:tx>
            <c:rich>
              <a:bodyPr/>
              <a:lstStyle/>
              <a:p>
                <a:pPr>
                  <a:defRPr/>
                </a:pPr>
                <a:r>
                  <a:rPr lang="en-US" dirty="0" smtClean="0"/>
                  <a:t>CPR</a:t>
                </a:r>
                <a:endParaRPr lang="en-US" dirty="0"/>
              </a:p>
            </c:rich>
          </c:tx>
          <c:layout/>
          <c:overlay val="0"/>
        </c:title>
        <c:numFmt formatCode="0%" sourceLinked="1"/>
        <c:majorTickMark val="out"/>
        <c:minorTickMark val="none"/>
        <c:tickLblPos val="nextTo"/>
        <c:spPr>
          <a:ln>
            <a:solidFill>
              <a:schemeClr val="tx2"/>
            </a:solidFill>
          </a:ln>
        </c:spPr>
        <c:crossAx val="159562368"/>
        <c:crosses val="autoZero"/>
        <c:auto val="1"/>
        <c:lblAlgn val="ctr"/>
        <c:lblOffset val="100"/>
        <c:noMultiLvlLbl val="0"/>
      </c:catAx>
      <c:valAx>
        <c:axId val="159562368"/>
        <c:scaling>
          <c:orientation val="minMax"/>
          <c:max val="1.1000000000000001"/>
          <c:min val="0"/>
        </c:scaling>
        <c:delete val="0"/>
        <c:axPos val="l"/>
        <c:title>
          <c:tx>
            <c:rich>
              <a:bodyPr rot="-5400000" vert="horz"/>
              <a:lstStyle/>
              <a:p>
                <a:pPr>
                  <a:defRPr/>
                </a:pPr>
                <a:r>
                  <a:rPr lang="en-US" dirty="0" smtClean="0"/>
                  <a:t>SMM</a:t>
                </a:r>
                <a:endParaRPr lang="en-US" dirty="0"/>
              </a:p>
            </c:rich>
          </c:tx>
          <c:layout/>
          <c:overlay val="0"/>
        </c:title>
        <c:numFmt formatCode="0%" sourceLinked="1"/>
        <c:majorTickMark val="out"/>
        <c:minorTickMark val="none"/>
        <c:tickLblPos val="nextTo"/>
        <c:spPr>
          <a:ln>
            <a:solidFill>
              <a:schemeClr val="tx2"/>
            </a:solidFill>
          </a:ln>
        </c:spPr>
        <c:crossAx val="159560832"/>
        <c:crosses val="autoZero"/>
        <c:crossBetween val="midCat"/>
      </c:valAx>
    </c:plotArea>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c:formatCode>
                <c:ptCount val="132"/>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numCache>
            </c:numRef>
          </c:val>
          <c:smooth val="1"/>
        </c:ser>
        <c:ser>
          <c:idx val="1"/>
          <c:order val="1"/>
          <c:tx>
            <c:strRef>
              <c:f>Sheet1!$C$1</c:f>
              <c:strCache>
                <c:ptCount val="1"/>
                <c:pt idx="0">
                  <c:v>model.smm</c:v>
                </c:pt>
              </c:strCache>
            </c:strRef>
          </c:tx>
          <c:spPr>
            <a:ln>
              <a:solidFill>
                <a:srgbClr val="C00000"/>
              </a:solidFill>
              <a:prstDash val="dash"/>
            </a:ln>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Sheet1!$C$2:$C$133</c:f>
              <c:numCache>
                <c:formatCode>0%</c:formatCode>
                <c:ptCount val="132"/>
                <c:pt idx="0">
                  <c:v>2.8608087925483201E-2</c:v>
                </c:pt>
                <c:pt idx="1">
                  <c:v>2.8813355577980902E-2</c:v>
                </c:pt>
                <c:pt idx="2">
                  <c:v>3.5405032508993899E-2</c:v>
                </c:pt>
                <c:pt idx="3">
                  <c:v>3.6732029972601499E-2</c:v>
                </c:pt>
                <c:pt idx="4">
                  <c:v>3.4042089749974802E-2</c:v>
                </c:pt>
                <c:pt idx="5">
                  <c:v>3.4850711321117098E-2</c:v>
                </c:pt>
                <c:pt idx="6">
                  <c:v>3.3528976555411698E-2</c:v>
                </c:pt>
                <c:pt idx="7">
                  <c:v>3.7357825573780701E-2</c:v>
                </c:pt>
                <c:pt idx="8">
                  <c:v>3.7353071319698901E-2</c:v>
                </c:pt>
                <c:pt idx="9">
                  <c:v>3.6023919053372003E-2</c:v>
                </c:pt>
                <c:pt idx="10">
                  <c:v>4.21690339984543E-2</c:v>
                </c:pt>
                <c:pt idx="11">
                  <c:v>4.1595783228346297E-2</c:v>
                </c:pt>
                <c:pt idx="12">
                  <c:v>3.52391792786199E-2</c:v>
                </c:pt>
                <c:pt idx="13">
                  <c:v>3.5467439910726498E-2</c:v>
                </c:pt>
                <c:pt idx="14">
                  <c:v>3.3456580202836803E-2</c:v>
                </c:pt>
                <c:pt idx="15">
                  <c:v>3.2447752005763497E-2</c:v>
                </c:pt>
                <c:pt idx="16">
                  <c:v>2.6202874554912398E-2</c:v>
                </c:pt>
                <c:pt idx="17">
                  <c:v>2.8608336902155598E-2</c:v>
                </c:pt>
                <c:pt idx="18">
                  <c:v>2.26074286758251E-2</c:v>
                </c:pt>
                <c:pt idx="19">
                  <c:v>1.47416694738876E-2</c:v>
                </c:pt>
                <c:pt idx="20">
                  <c:v>1.38589936050396E-2</c:v>
                </c:pt>
                <c:pt idx="21">
                  <c:v>9.9810844259889796E-3</c:v>
                </c:pt>
                <c:pt idx="22">
                  <c:v>1.06311034955093E-2</c:v>
                </c:pt>
                <c:pt idx="23">
                  <c:v>1.00055195703351E-2</c:v>
                </c:pt>
                <c:pt idx="24">
                  <c:v>1.11513695703628E-2</c:v>
                </c:pt>
                <c:pt idx="25">
                  <c:v>8.5552797956511308E-3</c:v>
                </c:pt>
                <c:pt idx="26">
                  <c:v>7.5615475550723397E-3</c:v>
                </c:pt>
                <c:pt idx="27">
                  <c:v>8.3437711135512793E-3</c:v>
                </c:pt>
                <c:pt idx="28">
                  <c:v>9.1032234430757104E-3</c:v>
                </c:pt>
                <c:pt idx="29">
                  <c:v>9.7651313692357494E-3</c:v>
                </c:pt>
                <c:pt idx="30">
                  <c:v>9.1539056349894798E-3</c:v>
                </c:pt>
                <c:pt idx="31">
                  <c:v>9.6263946558531894E-3</c:v>
                </c:pt>
                <c:pt idx="32">
                  <c:v>1.05014030475704E-2</c:v>
                </c:pt>
                <c:pt idx="33">
                  <c:v>1.0306394067370399E-2</c:v>
                </c:pt>
                <c:pt idx="34">
                  <c:v>1.08456406319518E-2</c:v>
                </c:pt>
                <c:pt idx="35">
                  <c:v>1.1852506182520201E-2</c:v>
                </c:pt>
                <c:pt idx="36">
                  <c:v>1.31202186501182E-2</c:v>
                </c:pt>
                <c:pt idx="37">
                  <c:v>1.80207827683358E-2</c:v>
                </c:pt>
                <c:pt idx="38">
                  <c:v>2.8365178871003299E-2</c:v>
                </c:pt>
                <c:pt idx="39">
                  <c:v>2.8947099236189301E-2</c:v>
                </c:pt>
                <c:pt idx="40">
                  <c:v>3.3432908309476699E-2</c:v>
                </c:pt>
                <c:pt idx="41">
                  <c:v>2.8958604660261102E-2</c:v>
                </c:pt>
                <c:pt idx="42">
                  <c:v>2.5725706395405602E-2</c:v>
                </c:pt>
                <c:pt idx="43">
                  <c:v>2.3954086831976501E-2</c:v>
                </c:pt>
                <c:pt idx="44">
                  <c:v>2.4770077803747601E-2</c:v>
                </c:pt>
                <c:pt idx="45">
                  <c:v>2.7860126216074501E-2</c:v>
                </c:pt>
                <c:pt idx="46">
                  <c:v>3.11640790657156E-2</c:v>
                </c:pt>
                <c:pt idx="47">
                  <c:v>3.7072564225829503E-2</c:v>
                </c:pt>
                <c:pt idx="48">
                  <c:v>3.5443109472055798E-2</c:v>
                </c:pt>
                <c:pt idx="49">
                  <c:v>1.9483213073197499E-2</c:v>
                </c:pt>
                <c:pt idx="50">
                  <c:v>2.06159922049487E-2</c:v>
                </c:pt>
                <c:pt idx="51">
                  <c:v>2.4845044105853701E-2</c:v>
                </c:pt>
                <c:pt idx="52">
                  <c:v>2.14566225795461E-2</c:v>
                </c:pt>
                <c:pt idx="53">
                  <c:v>2.19511598415017E-2</c:v>
                </c:pt>
                <c:pt idx="54">
                  <c:v>2.7074929689527499E-2</c:v>
                </c:pt>
                <c:pt idx="55">
                  <c:v>3.28222907591596E-2</c:v>
                </c:pt>
                <c:pt idx="56">
                  <c:v>3.9426569656477298E-2</c:v>
                </c:pt>
                <c:pt idx="57">
                  <c:v>4.6674184425826597E-2</c:v>
                </c:pt>
                <c:pt idx="58">
                  <c:v>5.4441491035915203E-2</c:v>
                </c:pt>
                <c:pt idx="59">
                  <c:v>5.1319754403779401E-2</c:v>
                </c:pt>
                <c:pt idx="60">
                  <c:v>5.0720037732449097E-2</c:v>
                </c:pt>
                <c:pt idx="61">
                  <c:v>4.72948018857903E-2</c:v>
                </c:pt>
                <c:pt idx="62">
                  <c:v>4.9417923027243002E-2</c:v>
                </c:pt>
                <c:pt idx="63">
                  <c:v>5.1066590007197599E-2</c:v>
                </c:pt>
                <c:pt idx="64">
                  <c:v>5.2149336135072603E-2</c:v>
                </c:pt>
                <c:pt idx="65">
                  <c:v>4.6335031451532699E-2</c:v>
                </c:pt>
                <c:pt idx="66">
                  <c:v>5.5486416909796603E-2</c:v>
                </c:pt>
                <c:pt idx="67">
                  <c:v>6.0147421717620303E-2</c:v>
                </c:pt>
                <c:pt idx="68">
                  <c:v>4.3657062728429397E-2</c:v>
                </c:pt>
                <c:pt idx="69">
                  <c:v>1.9652886931676002E-2</c:v>
                </c:pt>
                <c:pt idx="70">
                  <c:v>2.05921969689256E-2</c:v>
                </c:pt>
                <c:pt idx="71">
                  <c:v>2.3667150824341301E-2</c:v>
                </c:pt>
                <c:pt idx="72">
                  <c:v>2.3570839035858802E-2</c:v>
                </c:pt>
                <c:pt idx="73">
                  <c:v>2.20880173368861E-2</c:v>
                </c:pt>
                <c:pt idx="74">
                  <c:v>2.6665851264994302E-2</c:v>
                </c:pt>
                <c:pt idx="75">
                  <c:v>2.98972033652708E-2</c:v>
                </c:pt>
                <c:pt idx="76">
                  <c:v>3.6845265605803798E-2</c:v>
                </c:pt>
                <c:pt idx="77">
                  <c:v>2.4245733194859301E-2</c:v>
                </c:pt>
                <c:pt idx="78">
                  <c:v>1.50870039598894E-2</c:v>
                </c:pt>
                <c:pt idx="79">
                  <c:v>1.44944437875564E-2</c:v>
                </c:pt>
                <c:pt idx="80">
                  <c:v>1.8751457923732898E-2</c:v>
                </c:pt>
                <c:pt idx="81">
                  <c:v>2.0913333499974901E-2</c:v>
                </c:pt>
                <c:pt idx="82">
                  <c:v>2.3903134298962899E-2</c:v>
                </c:pt>
                <c:pt idx="83">
                  <c:v>2.3991540327449198E-2</c:v>
                </c:pt>
                <c:pt idx="84">
                  <c:v>2.4727968301493201E-2</c:v>
                </c:pt>
                <c:pt idx="85">
                  <c:v>2.1883530116375002E-2</c:v>
                </c:pt>
                <c:pt idx="86">
                  <c:v>2.2296246359119299E-2</c:v>
                </c:pt>
                <c:pt idx="87">
                  <c:v>2.6904959309413098E-2</c:v>
                </c:pt>
                <c:pt idx="88">
                  <c:v>1.8242249469258499E-2</c:v>
                </c:pt>
                <c:pt idx="89">
                  <c:v>2.0749445184060002E-2</c:v>
                </c:pt>
                <c:pt idx="90">
                  <c:v>2.40434040533338E-2</c:v>
                </c:pt>
                <c:pt idx="91">
                  <c:v>2.9447602685564501E-2</c:v>
                </c:pt>
                <c:pt idx="92">
                  <c:v>2.6453942649171801E-2</c:v>
                </c:pt>
                <c:pt idx="93">
                  <c:v>2.1026301893083799E-2</c:v>
                </c:pt>
                <c:pt idx="94">
                  <c:v>2.09675216155598E-2</c:v>
                </c:pt>
                <c:pt idx="95">
                  <c:v>1.41768801125232E-2</c:v>
                </c:pt>
                <c:pt idx="96">
                  <c:v>1.0215711993101201E-2</c:v>
                </c:pt>
                <c:pt idx="97">
                  <c:v>9.3939235534305898E-3</c:v>
                </c:pt>
                <c:pt idx="98">
                  <c:v>1.12254968413384E-2</c:v>
                </c:pt>
                <c:pt idx="99">
                  <c:v>1.11607642868267E-2</c:v>
                </c:pt>
                <c:pt idx="100">
                  <c:v>1.10569651227698E-2</c:v>
                </c:pt>
                <c:pt idx="101">
                  <c:v>9.6296377705894307E-3</c:v>
                </c:pt>
                <c:pt idx="102">
                  <c:v>9.6431594824207007E-3</c:v>
                </c:pt>
                <c:pt idx="103">
                  <c:v>8.8423771760119604E-3</c:v>
                </c:pt>
                <c:pt idx="104">
                  <c:v>8.7876884180711906E-3</c:v>
                </c:pt>
                <c:pt idx="105">
                  <c:v>9.5775214182368795E-3</c:v>
                </c:pt>
                <c:pt idx="106">
                  <c:v>1.0611697813011601E-2</c:v>
                </c:pt>
                <c:pt idx="107">
                  <c:v>1.1049327577428301E-2</c:v>
                </c:pt>
                <c:pt idx="108">
                  <c:v>1.29662283918104E-2</c:v>
                </c:pt>
                <c:pt idx="109">
                  <c:v>1.3750776013319E-2</c:v>
                </c:pt>
                <c:pt idx="110">
                  <c:v>1.26692347797997E-2</c:v>
                </c:pt>
                <c:pt idx="111">
                  <c:v>1.3207315441082E-2</c:v>
                </c:pt>
                <c:pt idx="112">
                  <c:v>1.6597651186780499E-2</c:v>
                </c:pt>
                <c:pt idx="113">
                  <c:v>1.6258834181228501E-2</c:v>
                </c:pt>
                <c:pt idx="114">
                  <c:v>1.5966095886964401E-2</c:v>
                </c:pt>
                <c:pt idx="115">
                  <c:v>9.9949588628559308E-3</c:v>
                </c:pt>
                <c:pt idx="116">
                  <c:v>9.7636581083835206E-3</c:v>
                </c:pt>
                <c:pt idx="117">
                  <c:v>9.8598470670159394E-3</c:v>
                </c:pt>
                <c:pt idx="118">
                  <c:v>1.18951992338934E-2</c:v>
                </c:pt>
                <c:pt idx="119">
                  <c:v>1.14276704572253E-2</c:v>
                </c:pt>
                <c:pt idx="120">
                  <c:v>1.5306492943830999E-2</c:v>
                </c:pt>
                <c:pt idx="121">
                  <c:v>1.568076813038E-2</c:v>
                </c:pt>
                <c:pt idx="122">
                  <c:v>2.6718275917501099E-2</c:v>
                </c:pt>
                <c:pt idx="123">
                  <c:v>2.25184995580998E-2</c:v>
                </c:pt>
                <c:pt idx="124">
                  <c:v>2.16654853163387E-2</c:v>
                </c:pt>
                <c:pt idx="125">
                  <c:v>2.44160676139361E-2</c:v>
                </c:pt>
                <c:pt idx="126">
                  <c:v>2.0744676931667198E-2</c:v>
                </c:pt>
                <c:pt idx="127">
                  <c:v>1.31957992768688E-2</c:v>
                </c:pt>
                <c:pt idx="128">
                  <c:v>1.22095601873541E-2</c:v>
                </c:pt>
                <c:pt idx="129">
                  <c:v>1.0088471322226501E-2</c:v>
                </c:pt>
                <c:pt idx="130">
                  <c:v>1.7885087913370401E-2</c:v>
                </c:pt>
                <c:pt idx="131">
                  <c:v>1.4374582942994801E-2</c:v>
                </c:pt>
              </c:numCache>
            </c:numRef>
          </c:val>
          <c:smooth val="1"/>
        </c:ser>
        <c:dLbls>
          <c:showLegendKey val="0"/>
          <c:showVal val="0"/>
          <c:showCatName val="0"/>
          <c:showSerName val="0"/>
          <c:showPercent val="0"/>
          <c:showBubbleSize val="0"/>
        </c:dLbls>
        <c:marker val="1"/>
        <c:smooth val="0"/>
        <c:axId val="267863936"/>
        <c:axId val="272106240"/>
      </c:lineChart>
      <c:dateAx>
        <c:axId val="267863936"/>
        <c:scaling>
          <c:orientation val="minMax"/>
        </c:scaling>
        <c:delete val="0"/>
        <c:axPos val="b"/>
        <c:numFmt formatCode="m/d/yyyy" sourceLinked="0"/>
        <c:majorTickMark val="out"/>
        <c:minorTickMark val="none"/>
        <c:tickLblPos val="nextTo"/>
        <c:spPr>
          <a:ln>
            <a:solidFill>
              <a:schemeClr val="tx2"/>
            </a:solidFill>
          </a:ln>
        </c:spPr>
        <c:crossAx val="272106240"/>
        <c:crosses val="autoZero"/>
        <c:auto val="1"/>
        <c:lblOffset val="100"/>
        <c:baseTimeUnit val="months"/>
        <c:majorUnit val="12"/>
        <c:majorTimeUnit val="months"/>
      </c:dateAx>
      <c:valAx>
        <c:axId val="272106240"/>
        <c:scaling>
          <c:orientation val="minMax"/>
        </c:scaling>
        <c:delete val="0"/>
        <c:axPos val="l"/>
        <c:title>
          <c:tx>
            <c:rich>
              <a:bodyPr rot="-5400000" vert="horz"/>
              <a:lstStyle/>
              <a:p>
                <a:pPr>
                  <a:defRPr/>
                </a:pPr>
                <a:r>
                  <a:rPr lang="en-US" dirty="0" smtClean="0"/>
                  <a:t>SMM</a:t>
                </a:r>
                <a:endParaRPr lang="en-US" dirty="0"/>
              </a:p>
            </c:rich>
          </c:tx>
          <c:layout/>
          <c:overlay val="0"/>
        </c:title>
        <c:numFmt formatCode="0%" sourceLinked="1"/>
        <c:majorTickMark val="out"/>
        <c:minorTickMark val="none"/>
        <c:tickLblPos val="nextTo"/>
        <c:spPr>
          <a:ln>
            <a:solidFill>
              <a:schemeClr val="tx2"/>
            </a:solidFill>
          </a:ln>
        </c:spPr>
        <c:crossAx val="267863936"/>
        <c:crosses val="autoZero"/>
        <c:crossBetween val="midCat"/>
      </c:valAx>
    </c:plotArea>
    <c:legend>
      <c:legendPos val="r"/>
      <c:layout>
        <c:manualLayout>
          <c:xMode val="edge"/>
          <c:yMode val="edge"/>
          <c:x val="0.84082248875217391"/>
          <c:y val="6.5761897028230015E-2"/>
          <c:w val="0.12767705926030987"/>
          <c:h val="0.17202364254674127"/>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curtail</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8.0445961572382597E-4</c:v>
                </c:pt>
                <c:pt idx="1">
                  <c:v>7.7848566457630695E-4</c:v>
                </c:pt>
                <c:pt idx="2">
                  <c:v>7.6132691928074798E-4</c:v>
                </c:pt>
                <c:pt idx="3">
                  <c:v>7.8650155904578395E-4</c:v>
                </c:pt>
                <c:pt idx="4">
                  <c:v>7.7910196643758201E-4</c:v>
                </c:pt>
                <c:pt idx="5">
                  <c:v>7.7876665853177996E-4</c:v>
                </c:pt>
                <c:pt idx="6">
                  <c:v>7.5016271707072199E-4</c:v>
                </c:pt>
                <c:pt idx="7">
                  <c:v>7.5299530627513298E-4</c:v>
                </c:pt>
                <c:pt idx="8">
                  <c:v>7.4373174957531899E-4</c:v>
                </c:pt>
                <c:pt idx="9">
                  <c:v>7.3134034554031004E-4</c:v>
                </c:pt>
                <c:pt idx="10">
                  <c:v>6.3232025372404895E-4</c:v>
                </c:pt>
                <c:pt idx="11">
                  <c:v>6.4155678696332398E-4</c:v>
                </c:pt>
                <c:pt idx="12">
                  <c:v>6.2834655673522498E-4</c:v>
                </c:pt>
                <c:pt idx="13">
                  <c:v>6.0174415974096295E-4</c:v>
                </c:pt>
                <c:pt idx="14">
                  <c:v>5.8195727347800199E-4</c:v>
                </c:pt>
                <c:pt idx="15">
                  <c:v>5.6807760038576796E-4</c:v>
                </c:pt>
                <c:pt idx="16">
                  <c:v>6.5064269200395099E-4</c:v>
                </c:pt>
                <c:pt idx="17">
                  <c:v>6.0790826781322797E-4</c:v>
                </c:pt>
                <c:pt idx="18">
                  <c:v>6.2081258301314697E-4</c:v>
                </c:pt>
                <c:pt idx="19">
                  <c:v>5.6339959313928304E-4</c:v>
                </c:pt>
                <c:pt idx="20">
                  <c:v>5.9183317252603095E-4</c:v>
                </c:pt>
                <c:pt idx="21">
                  <c:v>5.8687317544457295E-4</c:v>
                </c:pt>
                <c:pt idx="22">
                  <c:v>6.0474229609124301E-4</c:v>
                </c:pt>
                <c:pt idx="23">
                  <c:v>6.2110049250307399E-4</c:v>
                </c:pt>
                <c:pt idx="24">
                  <c:v>6.4486099373137695E-4</c:v>
                </c:pt>
                <c:pt idx="25">
                  <c:v>6.05924990147249E-4</c:v>
                </c:pt>
                <c:pt idx="26">
                  <c:v>6.1579745372976401E-4</c:v>
                </c:pt>
                <c:pt idx="27">
                  <c:v>6.2768339326229803E-4</c:v>
                </c:pt>
                <c:pt idx="28">
                  <c:v>6.28904891619528E-4</c:v>
                </c:pt>
                <c:pt idx="29">
                  <c:v>6.2843776638891503E-4</c:v>
                </c:pt>
                <c:pt idx="30">
                  <c:v>6.5794890378202697E-4</c:v>
                </c:pt>
                <c:pt idx="31">
                  <c:v>6.5716836936605897E-4</c:v>
                </c:pt>
                <c:pt idx="32">
                  <c:v>6.4094682829064504E-4</c:v>
                </c:pt>
                <c:pt idx="33">
                  <c:v>6.4258827672406601E-4</c:v>
                </c:pt>
                <c:pt idx="34">
                  <c:v>6.2530419437576497E-4</c:v>
                </c:pt>
                <c:pt idx="35">
                  <c:v>6.3926138991972901E-4</c:v>
                </c:pt>
                <c:pt idx="36">
                  <c:v>6.4584881340920596E-4</c:v>
                </c:pt>
                <c:pt idx="37">
                  <c:v>6.4796167189117005E-4</c:v>
                </c:pt>
                <c:pt idx="38">
                  <c:v>6.5297926277359903E-4</c:v>
                </c:pt>
                <c:pt idx="39">
                  <c:v>6.5412283277172596E-4</c:v>
                </c:pt>
                <c:pt idx="40">
                  <c:v>6.3548252024608995E-4</c:v>
                </c:pt>
                <c:pt idx="41">
                  <c:v>6.3201813613744499E-4</c:v>
                </c:pt>
                <c:pt idx="42">
                  <c:v>6.0789346568836502E-4</c:v>
                </c:pt>
                <c:pt idx="43">
                  <c:v>5.9282452089937695E-4</c:v>
                </c:pt>
                <c:pt idx="44">
                  <c:v>5.7588516054538899E-4</c:v>
                </c:pt>
                <c:pt idx="45">
                  <c:v>5.7230255934487501E-4</c:v>
                </c:pt>
                <c:pt idx="46">
                  <c:v>5.8091114769055698E-4</c:v>
                </c:pt>
                <c:pt idx="47">
                  <c:v>5.8243315861944498E-4</c:v>
                </c:pt>
                <c:pt idx="48">
                  <c:v>5.9011725090732901E-4</c:v>
                </c:pt>
                <c:pt idx="49">
                  <c:v>6.3222719256562205E-4</c:v>
                </c:pt>
                <c:pt idx="50">
                  <c:v>6.3658436655264505E-4</c:v>
                </c:pt>
                <c:pt idx="51">
                  <c:v>6.3231725704260798E-4</c:v>
                </c:pt>
                <c:pt idx="52">
                  <c:v>6.3248191738863604E-4</c:v>
                </c:pt>
                <c:pt idx="53">
                  <c:v>6.2741614092304504E-4</c:v>
                </c:pt>
                <c:pt idx="54">
                  <c:v>6.3528942633130103E-4</c:v>
                </c:pt>
                <c:pt idx="55">
                  <c:v>6.5185580236193602E-4</c:v>
                </c:pt>
                <c:pt idx="56">
                  <c:v>6.6375683368633204E-4</c:v>
                </c:pt>
                <c:pt idx="57">
                  <c:v>6.6635455577313603E-4</c:v>
                </c:pt>
                <c:pt idx="58">
                  <c:v>6.5356693466310002E-4</c:v>
                </c:pt>
                <c:pt idx="59">
                  <c:v>6.4206879833808995E-4</c:v>
                </c:pt>
                <c:pt idx="60">
                  <c:v>6.2118073174775499E-4</c:v>
                </c:pt>
                <c:pt idx="61">
                  <c:v>5.8018531937620505E-4</c:v>
                </c:pt>
                <c:pt idx="62">
                  <c:v>5.4691537838844799E-4</c:v>
                </c:pt>
                <c:pt idx="63">
                  <c:v>5.4335553887176397E-4</c:v>
                </c:pt>
                <c:pt idx="64">
                  <c:v>5.3533148748282895E-4</c:v>
                </c:pt>
                <c:pt idx="65">
                  <c:v>5.1144679598832499E-4</c:v>
                </c:pt>
                <c:pt idx="66">
                  <c:v>4.7903990116059298E-4</c:v>
                </c:pt>
                <c:pt idx="67">
                  <c:v>4.6433584224498601E-4</c:v>
                </c:pt>
                <c:pt idx="68">
                  <c:v>4.3851546222505402E-4</c:v>
                </c:pt>
                <c:pt idx="69">
                  <c:v>4.2636359181396098E-4</c:v>
                </c:pt>
                <c:pt idx="70">
                  <c:v>4.1172750812958298E-4</c:v>
                </c:pt>
                <c:pt idx="71">
                  <c:v>4.1064971929648502E-4</c:v>
                </c:pt>
                <c:pt idx="72">
                  <c:v>4.1306466026864302E-4</c:v>
                </c:pt>
                <c:pt idx="73">
                  <c:v>4.19522799541282E-4</c:v>
                </c:pt>
                <c:pt idx="74">
                  <c:v>4.2867991690900299E-4</c:v>
                </c:pt>
                <c:pt idx="75">
                  <c:v>4.38104413253743E-4</c:v>
                </c:pt>
                <c:pt idx="76">
                  <c:v>4.4725205799199102E-4</c:v>
                </c:pt>
                <c:pt idx="77">
                  <c:v>4.58833650338011E-4</c:v>
                </c:pt>
                <c:pt idx="78">
                  <c:v>4.7518174471897098E-4</c:v>
                </c:pt>
                <c:pt idx="79">
                  <c:v>4.8825610538140701E-4</c:v>
                </c:pt>
                <c:pt idx="80">
                  <c:v>5.0508685641283005E-4</c:v>
                </c:pt>
                <c:pt idx="81">
                  <c:v>5.17334357036389E-4</c:v>
                </c:pt>
                <c:pt idx="82">
                  <c:v>5.3147186988084796E-4</c:v>
                </c:pt>
                <c:pt idx="83">
                  <c:v>5.4771031808513503E-4</c:v>
                </c:pt>
                <c:pt idx="84">
                  <c:v>5.6362520922290701E-4</c:v>
                </c:pt>
                <c:pt idx="85">
                  <c:v>5.7786887779442801E-4</c:v>
                </c:pt>
                <c:pt idx="86">
                  <c:v>5.90150941952695E-4</c:v>
                </c:pt>
                <c:pt idx="87">
                  <c:v>5.9565453577387095E-4</c:v>
                </c:pt>
                <c:pt idx="88">
                  <c:v>6.1784232432050899E-4</c:v>
                </c:pt>
                <c:pt idx="89">
                  <c:v>6.1429900483341699E-4</c:v>
                </c:pt>
                <c:pt idx="90">
                  <c:v>6.2949914770632899E-4</c:v>
                </c:pt>
                <c:pt idx="91">
                  <c:v>6.2304939799890399E-4</c:v>
                </c:pt>
                <c:pt idx="92">
                  <c:v>6.20267886945222E-4</c:v>
                </c:pt>
                <c:pt idx="93">
                  <c:v>6.1141008560953796E-4</c:v>
                </c:pt>
                <c:pt idx="94">
                  <c:v>6.0413615542422299E-4</c:v>
                </c:pt>
                <c:pt idx="95">
                  <c:v>6.0037957712193103E-4</c:v>
                </c:pt>
                <c:pt idx="96">
                  <c:v>6.0202017306141002E-4</c:v>
                </c:pt>
                <c:pt idx="97">
                  <c:v>6.0327287252626301E-4</c:v>
                </c:pt>
                <c:pt idx="98">
                  <c:v>5.9762291917202399E-4</c:v>
                </c:pt>
                <c:pt idx="99">
                  <c:v>5.9649612662113205E-4</c:v>
                </c:pt>
                <c:pt idx="100">
                  <c:v>5.9754189155417699E-4</c:v>
                </c:pt>
                <c:pt idx="101">
                  <c:v>5.9764036817218803E-4</c:v>
                </c:pt>
                <c:pt idx="102">
                  <c:v>6.0466159845506105E-4</c:v>
                </c:pt>
                <c:pt idx="103">
                  <c:v>6.1489127307236496E-4</c:v>
                </c:pt>
                <c:pt idx="104">
                  <c:v>6.2359945283874205E-4</c:v>
                </c:pt>
                <c:pt idx="105">
                  <c:v>6.3528757769218196E-4</c:v>
                </c:pt>
                <c:pt idx="106">
                  <c:v>6.5301513526375198E-4</c:v>
                </c:pt>
                <c:pt idx="107">
                  <c:v>6.6470870312804295E-4</c:v>
                </c:pt>
                <c:pt idx="108">
                  <c:v>6.7989889809082704E-4</c:v>
                </c:pt>
                <c:pt idx="109">
                  <c:v>7.0204521851309097E-4</c:v>
                </c:pt>
                <c:pt idx="110">
                  <c:v>7.1100593792780401E-4</c:v>
                </c:pt>
                <c:pt idx="111">
                  <c:v>7.2675087522173099E-4</c:v>
                </c:pt>
                <c:pt idx="112">
                  <c:v>7.3413955490416502E-4</c:v>
                </c:pt>
                <c:pt idx="113">
                  <c:v>7.4069923141031695E-4</c:v>
                </c:pt>
                <c:pt idx="114">
                  <c:v>7.5646459139121203E-4</c:v>
                </c:pt>
                <c:pt idx="115">
                  <c:v>7.5842482735760902E-4</c:v>
                </c:pt>
                <c:pt idx="116">
                  <c:v>7.3426454063890505E-4</c:v>
                </c:pt>
                <c:pt idx="117">
                  <c:v>7.2847956834541801E-4</c:v>
                </c:pt>
                <c:pt idx="118">
                  <c:v>7.17471666766558E-4</c:v>
                </c:pt>
                <c:pt idx="119">
                  <c:v>6.9820091781603504E-4</c:v>
                </c:pt>
                <c:pt idx="120">
                  <c:v>6.7823985218173097E-4</c:v>
                </c:pt>
                <c:pt idx="121">
                  <c:v>6.5841287094100696E-4</c:v>
                </c:pt>
                <c:pt idx="122">
                  <c:v>6.3443872417636403E-4</c:v>
                </c:pt>
                <c:pt idx="123">
                  <c:v>6.23713158370966E-4</c:v>
                </c:pt>
                <c:pt idx="124">
                  <c:v>6.1598142675798196E-4</c:v>
                </c:pt>
                <c:pt idx="125">
                  <c:v>6.0167772579197796E-4</c:v>
                </c:pt>
                <c:pt idx="126">
                  <c:v>6.0144479790850795E-4</c:v>
                </c:pt>
                <c:pt idx="127">
                  <c:v>6.03839734259428E-4</c:v>
                </c:pt>
                <c:pt idx="128">
                  <c:v>6.05927235117636E-4</c:v>
                </c:pt>
                <c:pt idx="129">
                  <c:v>6.0746231578606702E-4</c:v>
                </c:pt>
                <c:pt idx="130">
                  <c:v>6.2333212826661097E-4</c:v>
                </c:pt>
                <c:pt idx="131">
                  <c:v>6.4087493810911604E-4</c:v>
                </c:pt>
              </c:numCache>
            </c:numRef>
          </c:val>
          <c:smooth val="1"/>
        </c:ser>
        <c:dLbls>
          <c:showLegendKey val="0"/>
          <c:showVal val="0"/>
          <c:showCatName val="0"/>
          <c:showSerName val="0"/>
          <c:showPercent val="0"/>
          <c:showBubbleSize val="0"/>
        </c:dLbls>
        <c:marker val="1"/>
        <c:smooth val="0"/>
        <c:axId val="141093888"/>
        <c:axId val="146950400"/>
      </c:lineChart>
      <c:dateAx>
        <c:axId val="141093888"/>
        <c:scaling>
          <c:orientation val="minMax"/>
        </c:scaling>
        <c:delete val="0"/>
        <c:axPos val="b"/>
        <c:numFmt formatCode="m/d/yyyy" sourceLinked="1"/>
        <c:majorTickMark val="out"/>
        <c:minorTickMark val="none"/>
        <c:tickLblPos val="nextTo"/>
        <c:spPr>
          <a:ln>
            <a:solidFill>
              <a:schemeClr val="tx2"/>
            </a:solidFill>
          </a:ln>
        </c:spPr>
        <c:crossAx val="146950400"/>
        <c:crosses val="autoZero"/>
        <c:auto val="1"/>
        <c:lblOffset val="100"/>
        <c:baseTimeUnit val="months"/>
        <c:majorUnit val="24"/>
        <c:majorTimeUnit val="months"/>
      </c:dateAx>
      <c:valAx>
        <c:axId val="146950400"/>
        <c:scaling>
          <c:orientation val="minMax"/>
        </c:scaling>
        <c:delete val="0"/>
        <c:axPos val="l"/>
        <c:title>
          <c:tx>
            <c:rich>
              <a:bodyPr rot="-5400000" vert="horz"/>
              <a:lstStyle/>
              <a:p>
                <a:pPr>
                  <a:defRPr/>
                </a:pPr>
                <a:r>
                  <a:rPr lang="en-US" sz="1000" dirty="0" smtClean="0"/>
                  <a:t>Curtail</a:t>
                </a:r>
                <a:endParaRPr lang="en-US" sz="1000" dirty="0"/>
              </a:p>
            </c:rich>
          </c:tx>
          <c:layout/>
          <c:overlay val="0"/>
        </c:title>
        <c:numFmt formatCode="0.0%" sourceLinked="1"/>
        <c:majorTickMark val="out"/>
        <c:minorTickMark val="none"/>
        <c:tickLblPos val="nextTo"/>
        <c:spPr>
          <a:ln>
            <a:solidFill>
              <a:schemeClr val="tx2"/>
            </a:solidFill>
          </a:ln>
        </c:spPr>
        <c:crossAx val="141093888"/>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default</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1.81242760731478E-3</c:v>
                </c:pt>
                <c:pt idx="1">
                  <c:v>1.8193341863994301E-3</c:v>
                </c:pt>
                <c:pt idx="2">
                  <c:v>1.8296770563896499E-3</c:v>
                </c:pt>
                <c:pt idx="3">
                  <c:v>1.8300229025405099E-3</c:v>
                </c:pt>
                <c:pt idx="4">
                  <c:v>1.8149039355190601E-3</c:v>
                </c:pt>
                <c:pt idx="5">
                  <c:v>1.7815196418898599E-3</c:v>
                </c:pt>
                <c:pt idx="6">
                  <c:v>1.7513683479690599E-3</c:v>
                </c:pt>
                <c:pt idx="7">
                  <c:v>1.7254675646176799E-3</c:v>
                </c:pt>
                <c:pt idx="8">
                  <c:v>1.6933241489338201E-3</c:v>
                </c:pt>
                <c:pt idx="9">
                  <c:v>1.6634744885068501E-3</c:v>
                </c:pt>
                <c:pt idx="10">
                  <c:v>1.65589864797648E-3</c:v>
                </c:pt>
                <c:pt idx="11">
                  <c:v>1.62982557513048E-3</c:v>
                </c:pt>
                <c:pt idx="12">
                  <c:v>1.5906106071888501E-3</c:v>
                </c:pt>
                <c:pt idx="13">
                  <c:v>1.5627667254870701E-3</c:v>
                </c:pt>
                <c:pt idx="14">
                  <c:v>1.51826068886952E-3</c:v>
                </c:pt>
                <c:pt idx="15">
                  <c:v>1.4763136662337599E-3</c:v>
                </c:pt>
                <c:pt idx="16">
                  <c:v>1.43670698689841E-3</c:v>
                </c:pt>
                <c:pt idx="17">
                  <c:v>1.43322994080386E-3</c:v>
                </c:pt>
                <c:pt idx="18">
                  <c:v>1.4100614741041999E-3</c:v>
                </c:pt>
                <c:pt idx="19">
                  <c:v>1.40645649562721E-3</c:v>
                </c:pt>
                <c:pt idx="20">
                  <c:v>1.39419724982546E-3</c:v>
                </c:pt>
                <c:pt idx="21">
                  <c:v>1.4034882344260799E-3</c:v>
                </c:pt>
                <c:pt idx="22">
                  <c:v>1.4015497508154001E-3</c:v>
                </c:pt>
                <c:pt idx="23">
                  <c:v>1.40936941119692E-3</c:v>
                </c:pt>
                <c:pt idx="24">
                  <c:v>1.4295200064119501E-3</c:v>
                </c:pt>
                <c:pt idx="25">
                  <c:v>1.4488087775217E-3</c:v>
                </c:pt>
                <c:pt idx="26">
                  <c:v>1.4652146291423199E-3</c:v>
                </c:pt>
                <c:pt idx="27">
                  <c:v>1.4913938865221E-3</c:v>
                </c:pt>
                <c:pt idx="28">
                  <c:v>1.5121358241756101E-3</c:v>
                </c:pt>
                <c:pt idx="29">
                  <c:v>1.52128400917667E-3</c:v>
                </c:pt>
                <c:pt idx="30">
                  <c:v>1.54974129852542E-3</c:v>
                </c:pt>
                <c:pt idx="31">
                  <c:v>1.5615920209457301E-3</c:v>
                </c:pt>
                <c:pt idx="32">
                  <c:v>1.57846372905129E-3</c:v>
                </c:pt>
                <c:pt idx="33">
                  <c:v>1.5838252717464199E-3</c:v>
                </c:pt>
                <c:pt idx="34">
                  <c:v>1.4781849571975699E-3</c:v>
                </c:pt>
                <c:pt idx="35">
                  <c:v>1.51468866434755E-3</c:v>
                </c:pt>
                <c:pt idx="36">
                  <c:v>1.52729190891235E-3</c:v>
                </c:pt>
                <c:pt idx="37">
                  <c:v>1.5350696896197799E-3</c:v>
                </c:pt>
                <c:pt idx="38">
                  <c:v>1.5536443677817799E-3</c:v>
                </c:pt>
                <c:pt idx="39">
                  <c:v>1.5643925324607E-3</c:v>
                </c:pt>
                <c:pt idx="40">
                  <c:v>1.57141021343062E-3</c:v>
                </c:pt>
                <c:pt idx="41">
                  <c:v>1.5583068758678201E-3</c:v>
                </c:pt>
                <c:pt idx="42">
                  <c:v>1.5441103769920201E-3</c:v>
                </c:pt>
                <c:pt idx="43">
                  <c:v>1.52656704480515E-3</c:v>
                </c:pt>
                <c:pt idx="44">
                  <c:v>1.5086080279408101E-3</c:v>
                </c:pt>
                <c:pt idx="45">
                  <c:v>1.5008933166885099E-3</c:v>
                </c:pt>
                <c:pt idx="46">
                  <c:v>1.49353360687632E-3</c:v>
                </c:pt>
                <c:pt idx="47">
                  <c:v>1.4869603239970901E-3</c:v>
                </c:pt>
                <c:pt idx="48">
                  <c:v>1.4658782978102399E-3</c:v>
                </c:pt>
                <c:pt idx="49">
                  <c:v>1.4333066688200101E-3</c:v>
                </c:pt>
                <c:pt idx="50">
                  <c:v>1.4052180097703501E-3</c:v>
                </c:pt>
                <c:pt idx="51">
                  <c:v>1.37559049281775E-3</c:v>
                </c:pt>
                <c:pt idx="52">
                  <c:v>1.36270225945771E-3</c:v>
                </c:pt>
                <c:pt idx="53">
                  <c:v>1.3490818561466701E-3</c:v>
                </c:pt>
                <c:pt idx="54">
                  <c:v>1.3360621846658001E-3</c:v>
                </c:pt>
                <c:pt idx="55">
                  <c:v>1.32379520167297E-3</c:v>
                </c:pt>
                <c:pt idx="56">
                  <c:v>1.329438781803E-3</c:v>
                </c:pt>
                <c:pt idx="57">
                  <c:v>1.32322189818405E-3</c:v>
                </c:pt>
                <c:pt idx="58">
                  <c:v>1.3052434383982799E-3</c:v>
                </c:pt>
                <c:pt idx="59">
                  <c:v>1.2582703883695001E-3</c:v>
                </c:pt>
                <c:pt idx="60">
                  <c:v>1.21892678860803E-3</c:v>
                </c:pt>
                <c:pt idx="61">
                  <c:v>1.17161066899604E-3</c:v>
                </c:pt>
                <c:pt idx="62">
                  <c:v>1.1284711356927999E-3</c:v>
                </c:pt>
                <c:pt idx="63">
                  <c:v>1.08672613346611E-3</c:v>
                </c:pt>
                <c:pt idx="64">
                  <c:v>1.04259163863218E-3</c:v>
                </c:pt>
                <c:pt idx="65">
                  <c:v>5.6359699490334697E-4</c:v>
                </c:pt>
                <c:pt idx="66">
                  <c:v>4.9994853145858E-4</c:v>
                </c:pt>
                <c:pt idx="67">
                  <c:v>4.4389975271988202E-4</c:v>
                </c:pt>
                <c:pt idx="68">
                  <c:v>4.1029422012634799E-4</c:v>
                </c:pt>
                <c:pt idx="69">
                  <c:v>3.8354358004706498E-4</c:v>
                </c:pt>
                <c:pt idx="70">
                  <c:v>3.4120835881363301E-4</c:v>
                </c:pt>
                <c:pt idx="71">
                  <c:v>3.2054578296418799E-4</c:v>
                </c:pt>
                <c:pt idx="72">
                  <c:v>3.1061189487718502E-4</c:v>
                </c:pt>
                <c:pt idx="73">
                  <c:v>2.9937218974847199E-4</c:v>
                </c:pt>
                <c:pt idx="74">
                  <c:v>2.8603287753429201E-4</c:v>
                </c:pt>
                <c:pt idx="75">
                  <c:v>2.8153863853137899E-4</c:v>
                </c:pt>
                <c:pt idx="76">
                  <c:v>2.7370425973770898E-4</c:v>
                </c:pt>
                <c:pt idx="77">
                  <c:v>2.6521279189939298E-4</c:v>
                </c:pt>
                <c:pt idx="78">
                  <c:v>1.8246391143668999E-4</c:v>
                </c:pt>
                <c:pt idx="79">
                  <c:v>1.7745094343524901E-4</c:v>
                </c:pt>
                <c:pt idx="80">
                  <c:v>1.7783247602370499E-4</c:v>
                </c:pt>
                <c:pt idx="81">
                  <c:v>1.7536331564805801E-4</c:v>
                </c:pt>
                <c:pt idx="82">
                  <c:v>1.7492362857974699E-4</c:v>
                </c:pt>
                <c:pt idx="83">
                  <c:v>1.75583514171955E-4</c:v>
                </c:pt>
                <c:pt idx="84">
                  <c:v>2.6190000929186998E-4</c:v>
                </c:pt>
                <c:pt idx="85">
                  <c:v>2.6436387209536201E-4</c:v>
                </c:pt>
                <c:pt idx="86">
                  <c:v>2.6599757134932199E-4</c:v>
                </c:pt>
                <c:pt idx="87">
                  <c:v>6.3731301857327196E-4</c:v>
                </c:pt>
                <c:pt idx="88">
                  <c:v>9.1304086199245197E-4</c:v>
                </c:pt>
                <c:pt idx="89">
                  <c:v>9.26868504146142E-4</c:v>
                </c:pt>
                <c:pt idx="90">
                  <c:v>2.2858628478841499E-4</c:v>
                </c:pt>
                <c:pt idx="91">
                  <c:v>1.7769934229149801E-4</c:v>
                </c:pt>
                <c:pt idx="92">
                  <c:v>1.77699150673844E-4</c:v>
                </c:pt>
                <c:pt idx="93">
                  <c:v>1.77953771680511E-4</c:v>
                </c:pt>
                <c:pt idx="94">
                  <c:v>1.75898761452472E-4</c:v>
                </c:pt>
                <c:pt idx="95">
                  <c:v>1.7607334272315799E-4</c:v>
                </c:pt>
                <c:pt idx="96">
                  <c:v>1.7428525658074199E-4</c:v>
                </c:pt>
                <c:pt idx="97">
                  <c:v>1.7615272510290001E-4</c:v>
                </c:pt>
                <c:pt idx="98">
                  <c:v>1.77713516681128E-4</c:v>
                </c:pt>
                <c:pt idx="99">
                  <c:v>1.7902192768156399E-4</c:v>
                </c:pt>
                <c:pt idx="100">
                  <c:v>1.80980707859533E-4</c:v>
                </c:pt>
                <c:pt idx="101">
                  <c:v>1.8164787688271599E-4</c:v>
                </c:pt>
                <c:pt idx="102">
                  <c:v>1.83563843838594E-4</c:v>
                </c:pt>
                <c:pt idx="103">
                  <c:v>1.8603886412237399E-4</c:v>
                </c:pt>
                <c:pt idx="104">
                  <c:v>1.8818001191178799E-4</c:v>
                </c:pt>
                <c:pt idx="105">
                  <c:v>1.90232797808025E-4</c:v>
                </c:pt>
                <c:pt idx="106">
                  <c:v>1.9058212626708399E-4</c:v>
                </c:pt>
                <c:pt idx="107">
                  <c:v>1.8919034847077E-4</c:v>
                </c:pt>
                <c:pt idx="108">
                  <c:v>1.90764628960828E-4</c:v>
                </c:pt>
                <c:pt idx="109">
                  <c:v>1.9356682406463101E-4</c:v>
                </c:pt>
                <c:pt idx="110">
                  <c:v>1.9512477240548999E-4</c:v>
                </c:pt>
                <c:pt idx="111">
                  <c:v>1.95901337619117E-4</c:v>
                </c:pt>
                <c:pt idx="112">
                  <c:v>1.9761906678321899E-4</c:v>
                </c:pt>
                <c:pt idx="113">
                  <c:v>1.9841708730163301E-4</c:v>
                </c:pt>
                <c:pt idx="114">
                  <c:v>2.0396781302669601E-4</c:v>
                </c:pt>
                <c:pt idx="115">
                  <c:v>2.0414522305286999E-4</c:v>
                </c:pt>
                <c:pt idx="116">
                  <c:v>2.0083080848357399E-4</c:v>
                </c:pt>
                <c:pt idx="117">
                  <c:v>2.03627666067578E-4</c:v>
                </c:pt>
                <c:pt idx="118">
                  <c:v>2.10518130751325E-4</c:v>
                </c:pt>
                <c:pt idx="119">
                  <c:v>2.1624499821603499E-4</c:v>
                </c:pt>
                <c:pt idx="120">
                  <c:v>2.2449811434999299E-4</c:v>
                </c:pt>
                <c:pt idx="121">
                  <c:v>2.3485787830036201E-4</c:v>
                </c:pt>
                <c:pt idx="122">
                  <c:v>2.4806625689905202E-4</c:v>
                </c:pt>
                <c:pt idx="123">
                  <c:v>2.6348478197101997E-4</c:v>
                </c:pt>
                <c:pt idx="124">
                  <c:v>2.3659847354534199E-4</c:v>
                </c:pt>
                <c:pt idx="125">
                  <c:v>2.6819163563339898E-4</c:v>
                </c:pt>
                <c:pt idx="126">
                  <c:v>2.8858070235344199E-4</c:v>
                </c:pt>
                <c:pt idx="127">
                  <c:v>3.1351626240073001E-4</c:v>
                </c:pt>
                <c:pt idx="128">
                  <c:v>3.4111446823240402E-4</c:v>
                </c:pt>
                <c:pt idx="129">
                  <c:v>3.7324154911926602E-4</c:v>
                </c:pt>
                <c:pt idx="130">
                  <c:v>4.1270101987807002E-4</c:v>
                </c:pt>
                <c:pt idx="131">
                  <c:v>4.6471551299054998E-4</c:v>
                </c:pt>
              </c:numCache>
            </c:numRef>
          </c:val>
          <c:smooth val="1"/>
        </c:ser>
        <c:dLbls>
          <c:showLegendKey val="0"/>
          <c:showVal val="0"/>
          <c:showCatName val="0"/>
          <c:showSerName val="0"/>
          <c:showPercent val="0"/>
          <c:showBubbleSize val="0"/>
        </c:dLbls>
        <c:marker val="1"/>
        <c:smooth val="0"/>
        <c:axId val="149640320"/>
        <c:axId val="149641856"/>
      </c:lineChart>
      <c:dateAx>
        <c:axId val="149640320"/>
        <c:scaling>
          <c:orientation val="minMax"/>
        </c:scaling>
        <c:delete val="0"/>
        <c:axPos val="b"/>
        <c:numFmt formatCode="m/d/yyyy" sourceLinked="1"/>
        <c:majorTickMark val="out"/>
        <c:minorTickMark val="none"/>
        <c:tickLblPos val="nextTo"/>
        <c:spPr>
          <a:ln>
            <a:solidFill>
              <a:schemeClr val="tx2"/>
            </a:solidFill>
          </a:ln>
        </c:spPr>
        <c:crossAx val="149641856"/>
        <c:crosses val="autoZero"/>
        <c:auto val="1"/>
        <c:lblOffset val="100"/>
        <c:baseTimeUnit val="months"/>
        <c:majorUnit val="24"/>
        <c:majorTimeUnit val="months"/>
      </c:dateAx>
      <c:valAx>
        <c:axId val="149641856"/>
        <c:scaling>
          <c:orientation val="minMax"/>
        </c:scaling>
        <c:delete val="0"/>
        <c:axPos val="l"/>
        <c:title>
          <c:tx>
            <c:rich>
              <a:bodyPr rot="-5400000" vert="horz"/>
              <a:lstStyle/>
              <a:p>
                <a:pPr>
                  <a:defRPr/>
                </a:pPr>
                <a:r>
                  <a:rPr lang="en-US" sz="1000" dirty="0" smtClean="0"/>
                  <a:t>Default</a:t>
                </a:r>
                <a:endParaRPr lang="en-US" sz="1000" dirty="0"/>
              </a:p>
            </c:rich>
          </c:tx>
          <c:layout/>
          <c:overlay val="0"/>
        </c:title>
        <c:numFmt formatCode="0.0%" sourceLinked="1"/>
        <c:majorTickMark val="out"/>
        <c:minorTickMark val="none"/>
        <c:tickLblPos val="nextTo"/>
        <c:spPr>
          <a:ln>
            <a:solidFill>
              <a:schemeClr val="tx2"/>
            </a:solidFill>
          </a:ln>
        </c:spPr>
        <c:crossAx val="149640320"/>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turnover</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6.3450363156771798E-3</c:v>
                </c:pt>
                <c:pt idx="1">
                  <c:v>4.5622483856507497E-3</c:v>
                </c:pt>
                <c:pt idx="2">
                  <c:v>4.8612938330869397E-3</c:v>
                </c:pt>
                <c:pt idx="3">
                  <c:v>6.52236595456979E-3</c:v>
                </c:pt>
                <c:pt idx="4">
                  <c:v>7.2205210411438398E-3</c:v>
                </c:pt>
                <c:pt idx="5">
                  <c:v>7.6349915070835902E-3</c:v>
                </c:pt>
                <c:pt idx="6">
                  <c:v>8.0427778598315992E-3</c:v>
                </c:pt>
                <c:pt idx="7">
                  <c:v>7.5444368026107104E-3</c:v>
                </c:pt>
                <c:pt idx="8">
                  <c:v>7.8290038860035598E-3</c:v>
                </c:pt>
                <c:pt idx="9">
                  <c:v>6.4458127106091102E-3</c:v>
                </c:pt>
                <c:pt idx="10">
                  <c:v>6.2115807486826102E-3</c:v>
                </c:pt>
                <c:pt idx="11">
                  <c:v>5.6073559745032997E-3</c:v>
                </c:pt>
                <c:pt idx="12">
                  <c:v>5.8035759535222196E-3</c:v>
                </c:pt>
                <c:pt idx="13">
                  <c:v>4.1022076313813501E-3</c:v>
                </c:pt>
                <c:pt idx="14">
                  <c:v>4.2942531215146703E-3</c:v>
                </c:pt>
                <c:pt idx="15">
                  <c:v>5.7524643873210898E-3</c:v>
                </c:pt>
                <c:pt idx="16">
                  <c:v>6.4102782831897296E-3</c:v>
                </c:pt>
                <c:pt idx="17">
                  <c:v>6.9262304730559497E-3</c:v>
                </c:pt>
                <c:pt idx="18">
                  <c:v>7.2618024126173504E-3</c:v>
                </c:pt>
                <c:pt idx="19">
                  <c:v>6.2126376133474501E-3</c:v>
                </c:pt>
                <c:pt idx="20">
                  <c:v>6.33604953142372E-3</c:v>
                </c:pt>
                <c:pt idx="21">
                  <c:v>4.6176173740490696E-3</c:v>
                </c:pt>
                <c:pt idx="22">
                  <c:v>4.7276446178577698E-3</c:v>
                </c:pt>
                <c:pt idx="23">
                  <c:v>4.2735786843245598E-3</c:v>
                </c:pt>
                <c:pt idx="24">
                  <c:v>4.7160219758446004E-3</c:v>
                </c:pt>
                <c:pt idx="25">
                  <c:v>3.15099632393911E-3</c:v>
                </c:pt>
                <c:pt idx="26">
                  <c:v>2.9199656475035001E-3</c:v>
                </c:pt>
                <c:pt idx="27">
                  <c:v>3.7541475730695699E-3</c:v>
                </c:pt>
                <c:pt idx="28">
                  <c:v>4.4391616138172501E-3</c:v>
                </c:pt>
                <c:pt idx="29">
                  <c:v>4.9881227291929302E-3</c:v>
                </c:pt>
                <c:pt idx="30">
                  <c:v>4.5082766065350603E-3</c:v>
                </c:pt>
                <c:pt idx="31">
                  <c:v>4.8523205989030004E-3</c:v>
                </c:pt>
                <c:pt idx="32">
                  <c:v>5.4132164576863196E-3</c:v>
                </c:pt>
                <c:pt idx="33">
                  <c:v>4.7077337692555E-3</c:v>
                </c:pt>
                <c:pt idx="34">
                  <c:v>4.7089723618983998E-3</c:v>
                </c:pt>
                <c:pt idx="35">
                  <c:v>4.5065166320303303E-3</c:v>
                </c:pt>
                <c:pt idx="36">
                  <c:v>4.8607692986299897E-3</c:v>
                </c:pt>
                <c:pt idx="37">
                  <c:v>4.0027557746204296E-3</c:v>
                </c:pt>
                <c:pt idx="38">
                  <c:v>4.6455342277708696E-3</c:v>
                </c:pt>
                <c:pt idx="39">
                  <c:v>6.2008413852727299E-3</c:v>
                </c:pt>
                <c:pt idx="40">
                  <c:v>7.04017629991019E-3</c:v>
                </c:pt>
                <c:pt idx="41">
                  <c:v>7.3076875831208999E-3</c:v>
                </c:pt>
                <c:pt idx="42">
                  <c:v>7.5278448841202897E-3</c:v>
                </c:pt>
                <c:pt idx="43">
                  <c:v>6.97364587691019E-3</c:v>
                </c:pt>
                <c:pt idx="44">
                  <c:v>7.3047785289046497E-3</c:v>
                </c:pt>
                <c:pt idx="45">
                  <c:v>6.1505060095023798E-3</c:v>
                </c:pt>
                <c:pt idx="46">
                  <c:v>5.9928876205217899E-3</c:v>
                </c:pt>
                <c:pt idx="47">
                  <c:v>5.4685861358444903E-3</c:v>
                </c:pt>
                <c:pt idx="48">
                  <c:v>5.6349226328064397E-3</c:v>
                </c:pt>
                <c:pt idx="49">
                  <c:v>3.8480099290123799E-3</c:v>
                </c:pt>
                <c:pt idx="50">
                  <c:v>4.0644748857229804E-3</c:v>
                </c:pt>
                <c:pt idx="51">
                  <c:v>5.5054703555522796E-3</c:v>
                </c:pt>
                <c:pt idx="52">
                  <c:v>6.0672436988836601E-3</c:v>
                </c:pt>
                <c:pt idx="53">
                  <c:v>6.5311054517249402E-3</c:v>
                </c:pt>
                <c:pt idx="54">
                  <c:v>7.1556131480713901E-3</c:v>
                </c:pt>
                <c:pt idx="55">
                  <c:v>6.83822491925133E-3</c:v>
                </c:pt>
                <c:pt idx="56">
                  <c:v>7.2401875719440498E-3</c:v>
                </c:pt>
                <c:pt idx="57">
                  <c:v>6.0095955984445799E-3</c:v>
                </c:pt>
                <c:pt idx="58">
                  <c:v>5.80748462029559E-3</c:v>
                </c:pt>
                <c:pt idx="59">
                  <c:v>5.21295421556191E-3</c:v>
                </c:pt>
                <c:pt idx="60">
                  <c:v>5.3593721699941197E-3</c:v>
                </c:pt>
                <c:pt idx="61">
                  <c:v>3.7739056822776499E-3</c:v>
                </c:pt>
                <c:pt idx="62">
                  <c:v>3.9068102406401503E-3</c:v>
                </c:pt>
                <c:pt idx="63">
                  <c:v>5.1899876018259104E-3</c:v>
                </c:pt>
                <c:pt idx="64">
                  <c:v>5.76673259579423E-3</c:v>
                </c:pt>
                <c:pt idx="65">
                  <c:v>6.0553628271017897E-3</c:v>
                </c:pt>
                <c:pt idx="66">
                  <c:v>6.7477153282963897E-3</c:v>
                </c:pt>
                <c:pt idx="67">
                  <c:v>6.6428852583123796E-3</c:v>
                </c:pt>
                <c:pt idx="68">
                  <c:v>6.88192698351019E-3</c:v>
                </c:pt>
                <c:pt idx="69">
                  <c:v>5.37940338064223E-3</c:v>
                </c:pt>
                <c:pt idx="70">
                  <c:v>5.1696506625410997E-3</c:v>
                </c:pt>
                <c:pt idx="71">
                  <c:v>4.89279859571266E-3</c:v>
                </c:pt>
                <c:pt idx="72">
                  <c:v>5.2481156850339196E-3</c:v>
                </c:pt>
                <c:pt idx="73">
                  <c:v>3.87208756038548E-3</c:v>
                </c:pt>
                <c:pt idx="74">
                  <c:v>4.3119616767735101E-3</c:v>
                </c:pt>
                <c:pt idx="75">
                  <c:v>6.0258126277801796E-3</c:v>
                </c:pt>
                <c:pt idx="76">
                  <c:v>7.0701965576570602E-3</c:v>
                </c:pt>
                <c:pt idx="77">
                  <c:v>7.5040640068975203E-3</c:v>
                </c:pt>
                <c:pt idx="78">
                  <c:v>7.3226282153653604E-3</c:v>
                </c:pt>
                <c:pt idx="79">
                  <c:v>7.0116867872090901E-3</c:v>
                </c:pt>
                <c:pt idx="80">
                  <c:v>8.0773442683943607E-3</c:v>
                </c:pt>
                <c:pt idx="81">
                  <c:v>7.1021341967614903E-3</c:v>
                </c:pt>
                <c:pt idx="82">
                  <c:v>7.1388907957099703E-3</c:v>
                </c:pt>
                <c:pt idx="83">
                  <c:v>6.6404064820678498E-3</c:v>
                </c:pt>
                <c:pt idx="84">
                  <c:v>7.0468581644211603E-3</c:v>
                </c:pt>
                <c:pt idx="85">
                  <c:v>5.0953938235967699E-3</c:v>
                </c:pt>
                <c:pt idx="86">
                  <c:v>5.4548091857093599E-3</c:v>
                </c:pt>
                <c:pt idx="87">
                  <c:v>7.5028376710949496E-3</c:v>
                </c:pt>
                <c:pt idx="88">
                  <c:v>6.4771210691531899E-3</c:v>
                </c:pt>
                <c:pt idx="89">
                  <c:v>7.1423094741841402E-3</c:v>
                </c:pt>
                <c:pt idx="90">
                  <c:v>7.8454143455067692E-3</c:v>
                </c:pt>
                <c:pt idx="91">
                  <c:v>9.3267315621769504E-3</c:v>
                </c:pt>
                <c:pt idx="92">
                  <c:v>9.6292198385516496E-3</c:v>
                </c:pt>
                <c:pt idx="93">
                  <c:v>7.7741568061437099E-3</c:v>
                </c:pt>
                <c:pt idx="94">
                  <c:v>7.5027815423721698E-3</c:v>
                </c:pt>
                <c:pt idx="95">
                  <c:v>6.3561191867695698E-3</c:v>
                </c:pt>
                <c:pt idx="96">
                  <c:v>5.8153496017034597E-3</c:v>
                </c:pt>
                <c:pt idx="97">
                  <c:v>4.3412229588955902E-3</c:v>
                </c:pt>
                <c:pt idx="98">
                  <c:v>4.8600787297747401E-3</c:v>
                </c:pt>
                <c:pt idx="99">
                  <c:v>6.1869222125094398E-3</c:v>
                </c:pt>
                <c:pt idx="100">
                  <c:v>6.7116084998251396E-3</c:v>
                </c:pt>
                <c:pt idx="101">
                  <c:v>6.4506603833492304E-3</c:v>
                </c:pt>
                <c:pt idx="102">
                  <c:v>6.65303897357935E-3</c:v>
                </c:pt>
                <c:pt idx="103">
                  <c:v>6.0117161050873297E-3</c:v>
                </c:pt>
                <c:pt idx="104">
                  <c:v>6.0542266290804303E-3</c:v>
                </c:pt>
                <c:pt idx="105">
                  <c:v>5.8452863489366902E-3</c:v>
                </c:pt>
                <c:pt idx="106">
                  <c:v>5.9880737772770101E-3</c:v>
                </c:pt>
                <c:pt idx="107">
                  <c:v>5.5830846473784203E-3</c:v>
                </c:pt>
                <c:pt idx="108">
                  <c:v>6.1198215303119802E-3</c:v>
                </c:pt>
                <c:pt idx="109">
                  <c:v>4.6091000935455798E-3</c:v>
                </c:pt>
                <c:pt idx="110">
                  <c:v>4.7344192360211602E-3</c:v>
                </c:pt>
                <c:pt idx="111">
                  <c:v>6.19866472654086E-3</c:v>
                </c:pt>
                <c:pt idx="112">
                  <c:v>7.3435453361380297E-3</c:v>
                </c:pt>
                <c:pt idx="113">
                  <c:v>7.7351731882660899E-3</c:v>
                </c:pt>
                <c:pt idx="114">
                  <c:v>8.2163373884486801E-3</c:v>
                </c:pt>
                <c:pt idx="115">
                  <c:v>6.3008680167850597E-3</c:v>
                </c:pt>
                <c:pt idx="116">
                  <c:v>6.3457524890915299E-3</c:v>
                </c:pt>
                <c:pt idx="117">
                  <c:v>5.6468309872984204E-3</c:v>
                </c:pt>
                <c:pt idx="118">
                  <c:v>5.9273498563832596E-3</c:v>
                </c:pt>
                <c:pt idx="119">
                  <c:v>5.3487923724732499E-3</c:v>
                </c:pt>
                <c:pt idx="120">
                  <c:v>6.0016115436499397E-3</c:v>
                </c:pt>
                <c:pt idx="121">
                  <c:v>4.3890265718234296E-3</c:v>
                </c:pt>
                <c:pt idx="122">
                  <c:v>4.9277056373018303E-3</c:v>
                </c:pt>
                <c:pt idx="123">
                  <c:v>6.4286468285797297E-3</c:v>
                </c:pt>
                <c:pt idx="124">
                  <c:v>7.1059768924403403E-3</c:v>
                </c:pt>
                <c:pt idx="125">
                  <c:v>7.6905742576112998E-3</c:v>
                </c:pt>
                <c:pt idx="126">
                  <c:v>7.9371038641073092E-3</c:v>
                </c:pt>
                <c:pt idx="127">
                  <c:v>6.6737660831459296E-3</c:v>
                </c:pt>
                <c:pt idx="128">
                  <c:v>6.73995539530871E-3</c:v>
                </c:pt>
                <c:pt idx="129">
                  <c:v>5.3771029558836196E-3</c:v>
                </c:pt>
                <c:pt idx="130">
                  <c:v>6.1584817683733896E-3</c:v>
                </c:pt>
                <c:pt idx="131">
                  <c:v>5.34131068427367E-3</c:v>
                </c:pt>
              </c:numCache>
            </c:numRef>
          </c:val>
          <c:smooth val="1"/>
        </c:ser>
        <c:dLbls>
          <c:showLegendKey val="0"/>
          <c:showVal val="0"/>
          <c:showCatName val="0"/>
          <c:showSerName val="0"/>
          <c:showPercent val="0"/>
          <c:showBubbleSize val="0"/>
        </c:dLbls>
        <c:marker val="1"/>
        <c:smooth val="0"/>
        <c:axId val="151433600"/>
        <c:axId val="156057600"/>
      </c:lineChart>
      <c:dateAx>
        <c:axId val="151433600"/>
        <c:scaling>
          <c:orientation val="minMax"/>
        </c:scaling>
        <c:delete val="0"/>
        <c:axPos val="b"/>
        <c:numFmt formatCode="m/d/yyyy" sourceLinked="1"/>
        <c:majorTickMark val="out"/>
        <c:minorTickMark val="none"/>
        <c:tickLblPos val="nextTo"/>
        <c:spPr>
          <a:ln>
            <a:solidFill>
              <a:schemeClr val="tx2"/>
            </a:solidFill>
          </a:ln>
        </c:spPr>
        <c:crossAx val="156057600"/>
        <c:crosses val="autoZero"/>
        <c:auto val="1"/>
        <c:lblOffset val="100"/>
        <c:baseTimeUnit val="months"/>
        <c:majorUnit val="24"/>
        <c:majorTimeUnit val="months"/>
      </c:dateAx>
      <c:valAx>
        <c:axId val="156057600"/>
        <c:scaling>
          <c:orientation val="minMax"/>
          <c:max val="1.0000000000000002E-2"/>
        </c:scaling>
        <c:delete val="0"/>
        <c:axPos val="l"/>
        <c:title>
          <c:tx>
            <c:rich>
              <a:bodyPr rot="-5400000" vert="horz"/>
              <a:lstStyle/>
              <a:p>
                <a:pPr>
                  <a:defRPr/>
                </a:pPr>
                <a:r>
                  <a:rPr lang="en-US" sz="1000" dirty="0" smtClean="0"/>
                  <a:t>Turnover</a:t>
                </a:r>
                <a:endParaRPr lang="en-US" sz="1000" dirty="0"/>
              </a:p>
            </c:rich>
          </c:tx>
          <c:layout/>
          <c:overlay val="0"/>
        </c:title>
        <c:numFmt formatCode="0.0%" sourceLinked="1"/>
        <c:majorTickMark val="out"/>
        <c:minorTickMark val="none"/>
        <c:tickLblPos val="nextTo"/>
        <c:spPr>
          <a:ln>
            <a:solidFill>
              <a:schemeClr val="tx2"/>
            </a:solidFill>
          </a:ln>
        </c:spPr>
        <c:crossAx val="151433600"/>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refinancing</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1.96461643867674E-2</c:v>
                </c:pt>
                <c:pt idx="1">
                  <c:v>2.16532873413544E-2</c:v>
                </c:pt>
                <c:pt idx="2">
                  <c:v>2.7952734700236601E-2</c:v>
                </c:pt>
                <c:pt idx="3">
                  <c:v>2.7593139556445399E-2</c:v>
                </c:pt>
                <c:pt idx="4">
                  <c:v>2.4227562806874301E-2</c:v>
                </c:pt>
                <c:pt idx="5">
                  <c:v>2.46554335136118E-2</c:v>
                </c:pt>
                <c:pt idx="6">
                  <c:v>2.2984667630540301E-2</c:v>
                </c:pt>
                <c:pt idx="7">
                  <c:v>2.73349259002772E-2</c:v>
                </c:pt>
                <c:pt idx="8">
                  <c:v>2.7087011535186101E-2</c:v>
                </c:pt>
                <c:pt idx="9">
                  <c:v>2.71832915087157E-2</c:v>
                </c:pt>
                <c:pt idx="10">
                  <c:v>3.3669234348071203E-2</c:v>
                </c:pt>
                <c:pt idx="11">
                  <c:v>3.3717044891749197E-2</c:v>
                </c:pt>
                <c:pt idx="12">
                  <c:v>2.7216646161173599E-2</c:v>
                </c:pt>
                <c:pt idx="13">
                  <c:v>2.92007213941172E-2</c:v>
                </c:pt>
                <c:pt idx="14">
                  <c:v>2.7062109118974598E-2</c:v>
                </c:pt>
                <c:pt idx="15">
                  <c:v>2.4650896351822899E-2</c:v>
                </c:pt>
                <c:pt idx="16">
                  <c:v>1.7705246592820301E-2</c:v>
                </c:pt>
                <c:pt idx="17">
                  <c:v>1.9640968220482599E-2</c:v>
                </c:pt>
                <c:pt idx="18">
                  <c:v>1.3314752206090401E-2</c:v>
                </c:pt>
                <c:pt idx="19">
                  <c:v>6.5591757717736801E-3</c:v>
                </c:pt>
                <c:pt idx="20">
                  <c:v>5.5369136512643602E-3</c:v>
                </c:pt>
                <c:pt idx="21">
                  <c:v>3.3731056420692501E-3</c:v>
                </c:pt>
                <c:pt idx="22">
                  <c:v>3.8971668307449E-3</c:v>
                </c:pt>
                <c:pt idx="23">
                  <c:v>3.7014709823105E-3</c:v>
                </c:pt>
                <c:pt idx="24">
                  <c:v>4.3609665943749104E-3</c:v>
                </c:pt>
                <c:pt idx="25">
                  <c:v>3.3495497040430902E-3</c:v>
                </c:pt>
                <c:pt idx="26">
                  <c:v>2.5605698246967601E-3</c:v>
                </c:pt>
                <c:pt idx="27">
                  <c:v>2.4705462606973102E-3</c:v>
                </c:pt>
                <c:pt idx="28">
                  <c:v>2.5230211134633302E-3</c:v>
                </c:pt>
                <c:pt idx="29">
                  <c:v>2.6272868644772402E-3</c:v>
                </c:pt>
                <c:pt idx="30">
                  <c:v>2.43793882614697E-3</c:v>
                </c:pt>
                <c:pt idx="31">
                  <c:v>2.5553136666383999E-3</c:v>
                </c:pt>
                <c:pt idx="32">
                  <c:v>2.86877603254212E-3</c:v>
                </c:pt>
                <c:pt idx="33">
                  <c:v>3.3722467496443802E-3</c:v>
                </c:pt>
                <c:pt idx="34">
                  <c:v>4.0331791184800604E-3</c:v>
                </c:pt>
                <c:pt idx="35">
                  <c:v>5.1920394962225898E-3</c:v>
                </c:pt>
                <c:pt idx="36">
                  <c:v>6.0863086291666896E-3</c:v>
                </c:pt>
                <c:pt idx="37">
                  <c:v>1.18349956322045E-2</c:v>
                </c:pt>
                <c:pt idx="38">
                  <c:v>2.1513021012677099E-2</c:v>
                </c:pt>
                <c:pt idx="39">
                  <c:v>2.0527742485684199E-2</c:v>
                </c:pt>
                <c:pt idx="40">
                  <c:v>2.4185839275889701E-2</c:v>
                </c:pt>
                <c:pt idx="41">
                  <c:v>1.94605920651349E-2</c:v>
                </c:pt>
                <c:pt idx="42">
                  <c:v>1.6045857668605001E-2</c:v>
                </c:pt>
                <c:pt idx="43">
                  <c:v>1.4861049389361799E-2</c:v>
                </c:pt>
                <c:pt idx="44">
                  <c:v>1.5380806086356801E-2</c:v>
                </c:pt>
                <c:pt idx="45">
                  <c:v>1.96364243305387E-2</c:v>
                </c:pt>
                <c:pt idx="46">
                  <c:v>2.3096746690626901E-2</c:v>
                </c:pt>
                <c:pt idx="47">
                  <c:v>2.9534584607368498E-2</c:v>
                </c:pt>
                <c:pt idx="48">
                  <c:v>2.7752191290531799E-2</c:v>
                </c:pt>
                <c:pt idx="49">
                  <c:v>1.35696692827995E-2</c:v>
                </c:pt>
                <c:pt idx="50">
                  <c:v>1.45097149429027E-2</c:v>
                </c:pt>
                <c:pt idx="51">
                  <c:v>1.7331666000441101E-2</c:v>
                </c:pt>
                <c:pt idx="52">
                  <c:v>1.3394194703816101E-2</c:v>
                </c:pt>
                <c:pt idx="53">
                  <c:v>1.3443556392706999E-2</c:v>
                </c:pt>
                <c:pt idx="54">
                  <c:v>1.7947964930458998E-2</c:v>
                </c:pt>
                <c:pt idx="55">
                  <c:v>2.4008414835873401E-2</c:v>
                </c:pt>
                <c:pt idx="56">
                  <c:v>3.0193186469043901E-2</c:v>
                </c:pt>
                <c:pt idx="57">
                  <c:v>3.86750123734248E-2</c:v>
                </c:pt>
                <c:pt idx="58">
                  <c:v>4.6675196042558202E-2</c:v>
                </c:pt>
                <c:pt idx="59">
                  <c:v>4.4206461001509899E-2</c:v>
                </c:pt>
                <c:pt idx="60">
                  <c:v>4.35205580420992E-2</c:v>
                </c:pt>
                <c:pt idx="61">
                  <c:v>4.1769100215140499E-2</c:v>
                </c:pt>
                <c:pt idx="62">
                  <c:v>4.3835726272521601E-2</c:v>
                </c:pt>
                <c:pt idx="63">
                  <c:v>4.4246520733033798E-2</c:v>
                </c:pt>
                <c:pt idx="64">
                  <c:v>4.4804680413163399E-2</c:v>
                </c:pt>
                <c:pt idx="65">
                  <c:v>3.92046248335393E-2</c:v>
                </c:pt>
                <c:pt idx="66">
                  <c:v>4.7759713148881E-2</c:v>
                </c:pt>
                <c:pt idx="67">
                  <c:v>5.2596300864343103E-2</c:v>
                </c:pt>
                <c:pt idx="68">
                  <c:v>3.5926326062567897E-2</c:v>
                </c:pt>
                <c:pt idx="69">
                  <c:v>1.34635763791727E-2</c:v>
                </c:pt>
                <c:pt idx="70">
                  <c:v>1.46696104394412E-2</c:v>
                </c:pt>
                <c:pt idx="71">
                  <c:v>1.8043156726367901E-2</c:v>
                </c:pt>
                <c:pt idx="72">
                  <c:v>1.7599046795678999E-2</c:v>
                </c:pt>
                <c:pt idx="73">
                  <c:v>1.7497034787210899E-2</c:v>
                </c:pt>
                <c:pt idx="74">
                  <c:v>2.1639176793777502E-2</c:v>
                </c:pt>
                <c:pt idx="75">
                  <c:v>2.31517476857055E-2</c:v>
                </c:pt>
                <c:pt idx="76">
                  <c:v>2.9054112730417098E-2</c:v>
                </c:pt>
                <c:pt idx="77">
                  <c:v>1.6017622745724401E-2</c:v>
                </c:pt>
                <c:pt idx="78">
                  <c:v>7.1067300883683997E-3</c:v>
                </c:pt>
                <c:pt idx="79">
                  <c:v>6.8170499515306402E-3</c:v>
                </c:pt>
                <c:pt idx="80">
                  <c:v>9.9911943229020195E-3</c:v>
                </c:pt>
                <c:pt idx="81">
                  <c:v>1.3118501630528899E-2</c:v>
                </c:pt>
                <c:pt idx="82">
                  <c:v>1.6057848004792302E-2</c:v>
                </c:pt>
                <c:pt idx="83">
                  <c:v>1.6627840013124201E-2</c:v>
                </c:pt>
                <c:pt idx="84">
                  <c:v>1.68555849185573E-2</c:v>
                </c:pt>
                <c:pt idx="85">
                  <c:v>1.5945903542888398E-2</c:v>
                </c:pt>
                <c:pt idx="86">
                  <c:v>1.5985288660108E-2</c:v>
                </c:pt>
                <c:pt idx="87">
                  <c:v>1.8169154083971E-2</c:v>
                </c:pt>
                <c:pt idx="88">
                  <c:v>1.02342452137924E-2</c:v>
                </c:pt>
                <c:pt idx="89">
                  <c:v>1.2065968200896299E-2</c:v>
                </c:pt>
                <c:pt idx="90">
                  <c:v>1.53399042753323E-2</c:v>
                </c:pt>
                <c:pt idx="91">
                  <c:v>1.9320122383097101E-2</c:v>
                </c:pt>
                <c:pt idx="92">
                  <c:v>1.6026755773001101E-2</c:v>
                </c:pt>
                <c:pt idx="93">
                  <c:v>1.24627812296501E-2</c:v>
                </c:pt>
                <c:pt idx="94">
                  <c:v>1.2684705156310899E-2</c:v>
                </c:pt>
                <c:pt idx="95">
                  <c:v>7.0443080059085497E-3</c:v>
                </c:pt>
                <c:pt idx="96">
                  <c:v>3.6240569617555902E-3</c:v>
                </c:pt>
                <c:pt idx="97">
                  <c:v>4.2732749969058301E-3</c:v>
                </c:pt>
                <c:pt idx="98">
                  <c:v>5.59008167571048E-3</c:v>
                </c:pt>
                <c:pt idx="99">
                  <c:v>4.1983240200145601E-3</c:v>
                </c:pt>
                <c:pt idx="100">
                  <c:v>3.5668340235309802E-3</c:v>
                </c:pt>
                <c:pt idx="101">
                  <c:v>2.39968914218529E-3</c:v>
                </c:pt>
                <c:pt idx="102">
                  <c:v>2.2018950665476898E-3</c:v>
                </c:pt>
                <c:pt idx="103">
                  <c:v>2.0297309337298898E-3</c:v>
                </c:pt>
                <c:pt idx="104">
                  <c:v>1.92168232424023E-3</c:v>
                </c:pt>
                <c:pt idx="105">
                  <c:v>2.9067146937999801E-3</c:v>
                </c:pt>
                <c:pt idx="106">
                  <c:v>3.7800267742037499E-3</c:v>
                </c:pt>
                <c:pt idx="107">
                  <c:v>4.6123438784510702E-3</c:v>
                </c:pt>
                <c:pt idx="108">
                  <c:v>5.9757433344467597E-3</c:v>
                </c:pt>
                <c:pt idx="109">
                  <c:v>8.2460638771957393E-3</c:v>
                </c:pt>
                <c:pt idx="110">
                  <c:v>7.0286848334452897E-3</c:v>
                </c:pt>
                <c:pt idx="111">
                  <c:v>6.0859985017003198E-3</c:v>
                </c:pt>
                <c:pt idx="112">
                  <c:v>8.3223472289550501E-3</c:v>
                </c:pt>
                <c:pt idx="113">
                  <c:v>7.58454467425047E-3</c:v>
                </c:pt>
                <c:pt idx="114">
                  <c:v>6.7893260940978398E-3</c:v>
                </c:pt>
                <c:pt idx="115">
                  <c:v>2.7315207956603998E-3</c:v>
                </c:pt>
                <c:pt idx="116">
                  <c:v>2.4828102701695098E-3</c:v>
                </c:pt>
                <c:pt idx="117">
                  <c:v>3.2809088453045298E-3</c:v>
                </c:pt>
                <c:pt idx="118">
                  <c:v>5.0398595799922199E-3</c:v>
                </c:pt>
                <c:pt idx="119">
                  <c:v>5.1644321687199903E-3</c:v>
                </c:pt>
                <c:pt idx="120">
                  <c:v>8.4021434336493794E-3</c:v>
                </c:pt>
                <c:pt idx="121">
                  <c:v>1.03984708093152E-2</c:v>
                </c:pt>
                <c:pt idx="122">
                  <c:v>2.0908065299123899E-2</c:v>
                </c:pt>
                <c:pt idx="123">
                  <c:v>1.5202654789178101E-2</c:v>
                </c:pt>
                <c:pt idx="124">
                  <c:v>1.3706928523595001E-2</c:v>
                </c:pt>
                <c:pt idx="125">
                  <c:v>1.5855623994899499E-2</c:v>
                </c:pt>
                <c:pt idx="126">
                  <c:v>1.19175475672979E-2</c:v>
                </c:pt>
                <c:pt idx="127">
                  <c:v>5.6046771970626698E-3</c:v>
                </c:pt>
                <c:pt idx="128">
                  <c:v>4.5225630886953604E-3</c:v>
                </c:pt>
                <c:pt idx="129">
                  <c:v>3.7306645014374999E-3</c:v>
                </c:pt>
                <c:pt idx="130">
                  <c:v>1.06905729968524E-2</c:v>
                </c:pt>
                <c:pt idx="131">
                  <c:v>7.92768180762146E-3</c:v>
                </c:pt>
              </c:numCache>
            </c:numRef>
          </c:val>
          <c:smooth val="1"/>
        </c:ser>
        <c:dLbls>
          <c:showLegendKey val="0"/>
          <c:showVal val="0"/>
          <c:showCatName val="0"/>
          <c:showSerName val="0"/>
          <c:showPercent val="0"/>
          <c:showBubbleSize val="0"/>
        </c:dLbls>
        <c:marker val="1"/>
        <c:smooth val="0"/>
        <c:axId val="206120832"/>
        <c:axId val="270756480"/>
      </c:lineChart>
      <c:dateAx>
        <c:axId val="206120832"/>
        <c:scaling>
          <c:orientation val="minMax"/>
        </c:scaling>
        <c:delete val="0"/>
        <c:axPos val="b"/>
        <c:numFmt formatCode="m/d/yyyy" sourceLinked="1"/>
        <c:majorTickMark val="out"/>
        <c:minorTickMark val="none"/>
        <c:tickLblPos val="nextTo"/>
        <c:spPr>
          <a:ln>
            <a:solidFill>
              <a:schemeClr val="tx2"/>
            </a:solidFill>
          </a:ln>
        </c:spPr>
        <c:crossAx val="270756480"/>
        <c:crosses val="autoZero"/>
        <c:auto val="1"/>
        <c:lblOffset val="100"/>
        <c:baseTimeUnit val="months"/>
        <c:majorUnit val="24"/>
        <c:majorTimeUnit val="months"/>
      </c:dateAx>
      <c:valAx>
        <c:axId val="270756480"/>
        <c:scaling>
          <c:orientation val="minMax"/>
          <c:max val="5.000000000000001E-2"/>
        </c:scaling>
        <c:delete val="0"/>
        <c:axPos val="l"/>
        <c:title>
          <c:tx>
            <c:rich>
              <a:bodyPr rot="-5400000" vert="horz"/>
              <a:lstStyle/>
              <a:p>
                <a:pPr>
                  <a:defRPr/>
                </a:pPr>
                <a:r>
                  <a:rPr lang="en-US" sz="1000" dirty="0" smtClean="0"/>
                  <a:t>Refinancing</a:t>
                </a:r>
                <a:endParaRPr lang="en-US" sz="1000" dirty="0"/>
              </a:p>
            </c:rich>
          </c:tx>
          <c:layout/>
          <c:overlay val="0"/>
        </c:title>
        <c:numFmt formatCode="0.0%" sourceLinked="1"/>
        <c:majorTickMark val="out"/>
        <c:minorTickMark val="none"/>
        <c:tickLblPos val="nextTo"/>
        <c:spPr>
          <a:ln>
            <a:solidFill>
              <a:schemeClr val="tx2"/>
            </a:solidFill>
          </a:ln>
        </c:spPr>
        <c:crossAx val="206120832"/>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71521884606148189"/>
        </c:manualLayout>
      </c:layout>
      <c:lineChart>
        <c:grouping val="standard"/>
        <c:varyColors val="0"/>
        <c:ser>
          <c:idx val="0"/>
          <c:order val="0"/>
          <c:tx>
            <c:strRef>
              <c:f>Sheet1!$B$1</c:f>
              <c:strCache>
                <c:ptCount val="1"/>
                <c:pt idx="0">
                  <c:v>onePointRate</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General</c:formatCode>
                <c:ptCount val="193"/>
                <c:pt idx="0">
                  <c:v>7.09</c:v>
                </c:pt>
                <c:pt idx="1">
                  <c:v>7.09</c:v>
                </c:pt>
                <c:pt idx="2">
                  <c:v>7.18</c:v>
                </c:pt>
                <c:pt idx="3">
                  <c:v>7.14</c:v>
                </c:pt>
                <c:pt idx="4">
                  <c:v>7.165</c:v>
                </c:pt>
                <c:pt idx="5">
                  <c:v>7</c:v>
                </c:pt>
                <c:pt idx="6">
                  <c:v>6.9749999999999996</c:v>
                </c:pt>
                <c:pt idx="7">
                  <c:v>6.9450000000000003</c:v>
                </c:pt>
                <c:pt idx="8">
                  <c:v>6.72</c:v>
                </c:pt>
                <c:pt idx="9">
                  <c:v>6.6849999999999996</c:v>
                </c:pt>
                <c:pt idx="10">
                  <c:v>6.8449999999999998</c:v>
                </c:pt>
                <c:pt idx="11">
                  <c:v>6.74</c:v>
                </c:pt>
                <c:pt idx="12">
                  <c:v>6.7649999999999997</c:v>
                </c:pt>
                <c:pt idx="13">
                  <c:v>6.81</c:v>
                </c:pt>
                <c:pt idx="14">
                  <c:v>7.0149999999999997</c:v>
                </c:pt>
                <c:pt idx="15">
                  <c:v>6.92</c:v>
                </c:pt>
                <c:pt idx="16">
                  <c:v>7.15</c:v>
                </c:pt>
                <c:pt idx="17">
                  <c:v>7.55</c:v>
                </c:pt>
                <c:pt idx="18">
                  <c:v>7.63</c:v>
                </c:pt>
                <c:pt idx="19">
                  <c:v>7.94</c:v>
                </c:pt>
                <c:pt idx="20">
                  <c:v>7.82</c:v>
                </c:pt>
                <c:pt idx="21">
                  <c:v>7.85</c:v>
                </c:pt>
                <c:pt idx="22">
                  <c:v>7.74</c:v>
                </c:pt>
                <c:pt idx="23">
                  <c:v>7.91</c:v>
                </c:pt>
                <c:pt idx="24">
                  <c:v>8.2100000000000009</c:v>
                </c:pt>
                <c:pt idx="25">
                  <c:v>8.33</c:v>
                </c:pt>
                <c:pt idx="26">
                  <c:v>8.24</c:v>
                </c:pt>
                <c:pt idx="27">
                  <c:v>8.15</c:v>
                </c:pt>
                <c:pt idx="28">
                  <c:v>8.52</c:v>
                </c:pt>
                <c:pt idx="29">
                  <c:v>8.2650000000000006</c:v>
                </c:pt>
                <c:pt idx="30">
                  <c:v>8.125</c:v>
                </c:pt>
                <c:pt idx="31">
                  <c:v>8.0299999999999994</c:v>
                </c:pt>
                <c:pt idx="32">
                  <c:v>7.91</c:v>
                </c:pt>
                <c:pt idx="33">
                  <c:v>7.8</c:v>
                </c:pt>
                <c:pt idx="34">
                  <c:v>7.7249999999999996</c:v>
                </c:pt>
                <c:pt idx="35">
                  <c:v>7.38</c:v>
                </c:pt>
                <c:pt idx="36">
                  <c:v>7.0049999999999999</c:v>
                </c:pt>
                <c:pt idx="37">
                  <c:v>7.05</c:v>
                </c:pt>
                <c:pt idx="38">
                  <c:v>6.9249999999999998</c:v>
                </c:pt>
                <c:pt idx="39">
                  <c:v>7.0549999999999997</c:v>
                </c:pt>
                <c:pt idx="40">
                  <c:v>7.15</c:v>
                </c:pt>
                <c:pt idx="41">
                  <c:v>7.16</c:v>
                </c:pt>
                <c:pt idx="42">
                  <c:v>7.1050000000000004</c:v>
                </c:pt>
                <c:pt idx="43">
                  <c:v>6.9249999999999998</c:v>
                </c:pt>
                <c:pt idx="44">
                  <c:v>6.7949999999999999</c:v>
                </c:pt>
                <c:pt idx="45">
                  <c:v>6.5949999999999998</c:v>
                </c:pt>
                <c:pt idx="46">
                  <c:v>6.61</c:v>
                </c:pt>
                <c:pt idx="47">
                  <c:v>7.02</c:v>
                </c:pt>
                <c:pt idx="48">
                  <c:v>6.95</c:v>
                </c:pt>
                <c:pt idx="49">
                  <c:v>6.8150000000000004</c:v>
                </c:pt>
                <c:pt idx="50">
                  <c:v>6.9349999999999996</c:v>
                </c:pt>
                <c:pt idx="51">
                  <c:v>6.915</c:v>
                </c:pt>
                <c:pt idx="52">
                  <c:v>6.7350000000000003</c:v>
                </c:pt>
                <c:pt idx="53">
                  <c:v>6.55</c:v>
                </c:pt>
                <c:pt idx="54">
                  <c:v>6.39</c:v>
                </c:pt>
                <c:pt idx="55">
                  <c:v>6.19</c:v>
                </c:pt>
                <c:pt idx="56">
                  <c:v>5.99</c:v>
                </c:pt>
                <c:pt idx="57">
                  <c:v>6.01</c:v>
                </c:pt>
                <c:pt idx="58">
                  <c:v>5.97</c:v>
                </c:pt>
                <c:pt idx="59">
                  <c:v>5.95</c:v>
                </c:pt>
                <c:pt idx="60">
                  <c:v>5.82</c:v>
                </c:pt>
                <c:pt idx="61">
                  <c:v>5.74</c:v>
                </c:pt>
                <c:pt idx="62">
                  <c:v>5.65</c:v>
                </c:pt>
                <c:pt idx="63">
                  <c:v>5.71</c:v>
                </c:pt>
                <c:pt idx="64">
                  <c:v>5.38</c:v>
                </c:pt>
                <c:pt idx="65">
                  <c:v>5.13</c:v>
                </c:pt>
                <c:pt idx="66">
                  <c:v>5.5049999999999999</c:v>
                </c:pt>
                <c:pt idx="67">
                  <c:v>6.1849999999999996</c:v>
                </c:pt>
                <c:pt idx="68">
                  <c:v>6.05</c:v>
                </c:pt>
                <c:pt idx="69">
                  <c:v>5.85</c:v>
                </c:pt>
                <c:pt idx="70">
                  <c:v>5.83</c:v>
                </c:pt>
                <c:pt idx="71">
                  <c:v>5.8049999999999997</c:v>
                </c:pt>
                <c:pt idx="72">
                  <c:v>5.6349999999999998</c:v>
                </c:pt>
                <c:pt idx="73">
                  <c:v>5.5650000000000004</c:v>
                </c:pt>
                <c:pt idx="74">
                  <c:v>5.375</c:v>
                </c:pt>
                <c:pt idx="75">
                  <c:v>5.7549999999999999</c:v>
                </c:pt>
                <c:pt idx="76">
                  <c:v>6.1950000000000003</c:v>
                </c:pt>
                <c:pt idx="77">
                  <c:v>6.19</c:v>
                </c:pt>
                <c:pt idx="78">
                  <c:v>5.96</c:v>
                </c:pt>
                <c:pt idx="79">
                  <c:v>5.7949999999999999</c:v>
                </c:pt>
                <c:pt idx="80">
                  <c:v>5.6749999999999998</c:v>
                </c:pt>
                <c:pt idx="81">
                  <c:v>5.6449999999999996</c:v>
                </c:pt>
                <c:pt idx="82">
                  <c:v>5.63</c:v>
                </c:pt>
                <c:pt idx="83">
                  <c:v>5.65</c:v>
                </c:pt>
                <c:pt idx="84">
                  <c:v>5.6349999999999998</c:v>
                </c:pt>
                <c:pt idx="85">
                  <c:v>5.5549999999999997</c:v>
                </c:pt>
                <c:pt idx="86">
                  <c:v>5.8550000000000004</c:v>
                </c:pt>
                <c:pt idx="87">
                  <c:v>5.76</c:v>
                </c:pt>
                <c:pt idx="88">
                  <c:v>5.62</c:v>
                </c:pt>
                <c:pt idx="89">
                  <c:v>5.48</c:v>
                </c:pt>
                <c:pt idx="90">
                  <c:v>5.5750000000000002</c:v>
                </c:pt>
                <c:pt idx="91">
                  <c:v>5.6950000000000003</c:v>
                </c:pt>
                <c:pt idx="92">
                  <c:v>5.67</c:v>
                </c:pt>
                <c:pt idx="93">
                  <c:v>5.9450000000000003</c:v>
                </c:pt>
                <c:pt idx="94">
                  <c:v>6.23</c:v>
                </c:pt>
                <c:pt idx="95">
                  <c:v>6.1449999999999996</c:v>
                </c:pt>
                <c:pt idx="96">
                  <c:v>6.0250000000000004</c:v>
                </c:pt>
                <c:pt idx="97">
                  <c:v>6.15</c:v>
                </c:pt>
                <c:pt idx="98">
                  <c:v>6.22</c:v>
                </c:pt>
                <c:pt idx="99">
                  <c:v>6.41</c:v>
                </c:pt>
                <c:pt idx="100">
                  <c:v>6.4749999999999996</c:v>
                </c:pt>
                <c:pt idx="101">
                  <c:v>6.5549999999999997</c:v>
                </c:pt>
                <c:pt idx="102">
                  <c:v>6.6349999999999998</c:v>
                </c:pt>
                <c:pt idx="103">
                  <c:v>6.37</c:v>
                </c:pt>
                <c:pt idx="104">
                  <c:v>6.2750000000000004</c:v>
                </c:pt>
                <c:pt idx="105">
                  <c:v>6.21</c:v>
                </c:pt>
                <c:pt idx="106">
                  <c:v>6.1150000000000002</c:v>
                </c:pt>
                <c:pt idx="107">
                  <c:v>5.99</c:v>
                </c:pt>
                <c:pt idx="108">
                  <c:v>6.07</c:v>
                </c:pt>
                <c:pt idx="109">
                  <c:v>6.14</c:v>
                </c:pt>
                <c:pt idx="110">
                  <c:v>6.01</c:v>
                </c:pt>
                <c:pt idx="111">
                  <c:v>6.0549999999999997</c:v>
                </c:pt>
                <c:pt idx="112">
                  <c:v>6.11</c:v>
                </c:pt>
                <c:pt idx="113">
                  <c:v>6.51</c:v>
                </c:pt>
                <c:pt idx="114">
                  <c:v>6.55</c:v>
                </c:pt>
                <c:pt idx="115">
                  <c:v>6.42</c:v>
                </c:pt>
                <c:pt idx="116">
                  <c:v>6.2549999999999999</c:v>
                </c:pt>
                <c:pt idx="117">
                  <c:v>6.2549999999999999</c:v>
                </c:pt>
                <c:pt idx="118">
                  <c:v>6.06</c:v>
                </c:pt>
                <c:pt idx="119">
                  <c:v>5.9749999999999996</c:v>
                </c:pt>
                <c:pt idx="120">
                  <c:v>5.61</c:v>
                </c:pt>
                <c:pt idx="121">
                  <c:v>5.7949999999999999</c:v>
                </c:pt>
                <c:pt idx="122">
                  <c:v>5.8449999999999998</c:v>
                </c:pt>
                <c:pt idx="123">
                  <c:v>5.77</c:v>
                </c:pt>
                <c:pt idx="124">
                  <c:v>5.915</c:v>
                </c:pt>
                <c:pt idx="125">
                  <c:v>6.2450000000000001</c:v>
                </c:pt>
                <c:pt idx="126">
                  <c:v>6.33</c:v>
                </c:pt>
                <c:pt idx="127">
                  <c:v>6.4050000000000002</c:v>
                </c:pt>
                <c:pt idx="128">
                  <c:v>5.9649999999999999</c:v>
                </c:pt>
                <c:pt idx="129">
                  <c:v>6.1</c:v>
                </c:pt>
                <c:pt idx="130">
                  <c:v>6.0149999999999997</c:v>
                </c:pt>
                <c:pt idx="131">
                  <c:v>5.2149999999999999</c:v>
                </c:pt>
                <c:pt idx="132">
                  <c:v>4.9749999999999996</c:v>
                </c:pt>
                <c:pt idx="133">
                  <c:v>5.0549999999999997</c:v>
                </c:pt>
                <c:pt idx="134">
                  <c:v>4.9249999999999998</c:v>
                </c:pt>
                <c:pt idx="135">
                  <c:v>4.7350000000000003</c:v>
                </c:pt>
                <c:pt idx="136">
                  <c:v>4.7850000000000001</c:v>
                </c:pt>
                <c:pt idx="137">
                  <c:v>5.3449999999999998</c:v>
                </c:pt>
                <c:pt idx="138">
                  <c:v>5.1449999999999996</c:v>
                </c:pt>
                <c:pt idx="139">
                  <c:v>5.1150000000000002</c:v>
                </c:pt>
                <c:pt idx="140">
                  <c:v>4.9850000000000003</c:v>
                </c:pt>
                <c:pt idx="141">
                  <c:v>4.875</c:v>
                </c:pt>
                <c:pt idx="142">
                  <c:v>4.8049999999999997</c:v>
                </c:pt>
                <c:pt idx="143">
                  <c:v>4.8550000000000004</c:v>
                </c:pt>
                <c:pt idx="144">
                  <c:v>4.9550000000000001</c:v>
                </c:pt>
                <c:pt idx="145">
                  <c:v>4.915</c:v>
                </c:pt>
                <c:pt idx="146">
                  <c:v>4.8949999999999996</c:v>
                </c:pt>
                <c:pt idx="147">
                  <c:v>5.0250000000000004</c:v>
                </c:pt>
                <c:pt idx="148">
                  <c:v>4.8150000000000004</c:v>
                </c:pt>
                <c:pt idx="149">
                  <c:v>4.665</c:v>
                </c:pt>
                <c:pt idx="150">
                  <c:v>4.4850000000000003</c:v>
                </c:pt>
                <c:pt idx="151">
                  <c:v>4.3550000000000004</c:v>
                </c:pt>
                <c:pt idx="152">
                  <c:v>4.2750000000000004</c:v>
                </c:pt>
                <c:pt idx="153">
                  <c:v>4.18</c:v>
                </c:pt>
                <c:pt idx="154">
                  <c:v>4.25</c:v>
                </c:pt>
                <c:pt idx="155">
                  <c:v>4.6349999999999998</c:v>
                </c:pt>
                <c:pt idx="156">
                  <c:v>4.71</c:v>
                </c:pt>
                <c:pt idx="157">
                  <c:v>4.875</c:v>
                </c:pt>
                <c:pt idx="158">
                  <c:v>4.7649999999999997</c:v>
                </c:pt>
                <c:pt idx="159">
                  <c:v>4.7649999999999997</c:v>
                </c:pt>
                <c:pt idx="160">
                  <c:v>4.5650000000000004</c:v>
                </c:pt>
                <c:pt idx="161">
                  <c:v>4.4349999999999996</c:v>
                </c:pt>
                <c:pt idx="162">
                  <c:v>4.4749999999999996</c:v>
                </c:pt>
                <c:pt idx="163">
                  <c:v>4.1950000000000003</c:v>
                </c:pt>
                <c:pt idx="164">
                  <c:v>4.0350000000000001</c:v>
                </c:pt>
                <c:pt idx="165">
                  <c:v>4.0199999999999996</c:v>
                </c:pt>
                <c:pt idx="166">
                  <c:v>3.915</c:v>
                </c:pt>
                <c:pt idx="167">
                  <c:v>3.8849999999999998</c:v>
                </c:pt>
                <c:pt idx="168">
                  <c:v>3.87</c:v>
                </c:pt>
                <c:pt idx="169">
                  <c:v>3.84</c:v>
                </c:pt>
                <c:pt idx="170">
                  <c:v>3.9</c:v>
                </c:pt>
                <c:pt idx="171">
                  <c:v>3.835</c:v>
                </c:pt>
                <c:pt idx="172">
                  <c:v>3.75</c:v>
                </c:pt>
                <c:pt idx="173">
                  <c:v>3.605</c:v>
                </c:pt>
                <c:pt idx="174">
                  <c:v>3.4750000000000001</c:v>
                </c:pt>
                <c:pt idx="175">
                  <c:v>3.5</c:v>
                </c:pt>
                <c:pt idx="176">
                  <c:v>3.4</c:v>
                </c:pt>
                <c:pt idx="177">
                  <c:v>3.3050000000000002</c:v>
                </c:pt>
                <c:pt idx="178">
                  <c:v>3.2749999999999999</c:v>
                </c:pt>
                <c:pt idx="179">
                  <c:v>3.2749999999999999</c:v>
                </c:pt>
                <c:pt idx="180">
                  <c:v>3.335</c:v>
                </c:pt>
                <c:pt idx="181">
                  <c:v>3.48</c:v>
                </c:pt>
                <c:pt idx="182">
                  <c:v>3.52</c:v>
                </c:pt>
                <c:pt idx="183">
                  <c:v>3.4</c:v>
                </c:pt>
                <c:pt idx="184">
                  <c:v>3.4649999999999999</c:v>
                </c:pt>
                <c:pt idx="185">
                  <c:v>4.0199999999999996</c:v>
                </c:pt>
                <c:pt idx="186">
                  <c:v>4.32</c:v>
                </c:pt>
                <c:pt idx="187">
                  <c:v>4.3849999999999998</c:v>
                </c:pt>
                <c:pt idx="188">
                  <c:v>4.415</c:v>
                </c:pt>
                <c:pt idx="189">
                  <c:v>4.1150000000000002</c:v>
                </c:pt>
                <c:pt idx="190">
                  <c:v>4.1849999999999996</c:v>
                </c:pt>
                <c:pt idx="191">
                  <c:v>4.3849999999999998</c:v>
                </c:pt>
                <c:pt idx="192">
                  <c:v>4.3550000000000004</c:v>
                </c:pt>
              </c:numCache>
            </c:numRef>
          </c:val>
          <c:smooth val="1"/>
        </c:ser>
        <c:ser>
          <c:idx val="1"/>
          <c:order val="1"/>
          <c:tx>
            <c:strRef>
              <c:f>Sheet1!$C$1</c:f>
              <c:strCache>
                <c:ptCount val="1"/>
                <c:pt idx="0">
                  <c:v>minRateVec</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General</c:formatCode>
                <c:ptCount val="193"/>
                <c:pt idx="0">
                  <c:v>7.23</c:v>
                </c:pt>
                <c:pt idx="1">
                  <c:v>7.09</c:v>
                </c:pt>
                <c:pt idx="2">
                  <c:v>7.09</c:v>
                </c:pt>
                <c:pt idx="3">
                  <c:v>7.09</c:v>
                </c:pt>
                <c:pt idx="4">
                  <c:v>7.09</c:v>
                </c:pt>
                <c:pt idx="5">
                  <c:v>7.09</c:v>
                </c:pt>
                <c:pt idx="6">
                  <c:v>7</c:v>
                </c:pt>
                <c:pt idx="7">
                  <c:v>6.9749999999999996</c:v>
                </c:pt>
                <c:pt idx="8">
                  <c:v>6.9450000000000003</c:v>
                </c:pt>
                <c:pt idx="9">
                  <c:v>6.72</c:v>
                </c:pt>
                <c:pt idx="10">
                  <c:v>6.6849999999999996</c:v>
                </c:pt>
                <c:pt idx="11">
                  <c:v>6.6849999999999996</c:v>
                </c:pt>
                <c:pt idx="12">
                  <c:v>6.6849999999999996</c:v>
                </c:pt>
                <c:pt idx="13">
                  <c:v>6.6849999999999996</c:v>
                </c:pt>
                <c:pt idx="14">
                  <c:v>6.6849999999999996</c:v>
                </c:pt>
                <c:pt idx="15">
                  <c:v>6.6849999999999996</c:v>
                </c:pt>
                <c:pt idx="16">
                  <c:v>6.6849999999999996</c:v>
                </c:pt>
                <c:pt idx="17">
                  <c:v>6.6849999999999996</c:v>
                </c:pt>
                <c:pt idx="18">
                  <c:v>6.6849999999999996</c:v>
                </c:pt>
                <c:pt idx="19">
                  <c:v>6.6849999999999996</c:v>
                </c:pt>
                <c:pt idx="20">
                  <c:v>6.6849999999999996</c:v>
                </c:pt>
                <c:pt idx="21">
                  <c:v>6.6849999999999996</c:v>
                </c:pt>
                <c:pt idx="22">
                  <c:v>6.6849999999999996</c:v>
                </c:pt>
                <c:pt idx="23">
                  <c:v>6.6849999999999996</c:v>
                </c:pt>
                <c:pt idx="24">
                  <c:v>6.6849999999999996</c:v>
                </c:pt>
                <c:pt idx="25">
                  <c:v>6.6849999999999996</c:v>
                </c:pt>
                <c:pt idx="26">
                  <c:v>6.6849999999999996</c:v>
                </c:pt>
                <c:pt idx="27">
                  <c:v>6.6849999999999996</c:v>
                </c:pt>
                <c:pt idx="28">
                  <c:v>6.6849999999999996</c:v>
                </c:pt>
                <c:pt idx="29">
                  <c:v>6.6849999999999996</c:v>
                </c:pt>
                <c:pt idx="30">
                  <c:v>6.6849999999999996</c:v>
                </c:pt>
                <c:pt idx="31">
                  <c:v>6.6849999999999996</c:v>
                </c:pt>
                <c:pt idx="32">
                  <c:v>6.6849999999999996</c:v>
                </c:pt>
                <c:pt idx="33">
                  <c:v>6.6849999999999996</c:v>
                </c:pt>
                <c:pt idx="34">
                  <c:v>6.6849999999999996</c:v>
                </c:pt>
                <c:pt idx="35">
                  <c:v>6.6849999999999996</c:v>
                </c:pt>
                <c:pt idx="36">
                  <c:v>6.6849999999999996</c:v>
                </c:pt>
                <c:pt idx="37">
                  <c:v>6.6849999999999996</c:v>
                </c:pt>
                <c:pt idx="38">
                  <c:v>6.6849999999999996</c:v>
                </c:pt>
                <c:pt idx="39">
                  <c:v>6.6849999999999996</c:v>
                </c:pt>
                <c:pt idx="40">
                  <c:v>6.6849999999999996</c:v>
                </c:pt>
                <c:pt idx="41">
                  <c:v>6.6849999999999996</c:v>
                </c:pt>
                <c:pt idx="42">
                  <c:v>6.6849999999999996</c:v>
                </c:pt>
                <c:pt idx="43">
                  <c:v>6.6849999999999996</c:v>
                </c:pt>
                <c:pt idx="44">
                  <c:v>6.6849999999999996</c:v>
                </c:pt>
                <c:pt idx="45">
                  <c:v>6.6849999999999996</c:v>
                </c:pt>
                <c:pt idx="46">
                  <c:v>6.5949999999999998</c:v>
                </c:pt>
                <c:pt idx="47">
                  <c:v>6.5949999999999998</c:v>
                </c:pt>
                <c:pt idx="48">
                  <c:v>6.5949999999999998</c:v>
                </c:pt>
                <c:pt idx="49">
                  <c:v>6.5949999999999998</c:v>
                </c:pt>
                <c:pt idx="50">
                  <c:v>6.5949999999999998</c:v>
                </c:pt>
                <c:pt idx="51">
                  <c:v>6.5949999999999998</c:v>
                </c:pt>
                <c:pt idx="52">
                  <c:v>6.5949999999999998</c:v>
                </c:pt>
                <c:pt idx="53">
                  <c:v>6.5949999999999998</c:v>
                </c:pt>
                <c:pt idx="54">
                  <c:v>6.55</c:v>
                </c:pt>
                <c:pt idx="55">
                  <c:v>6.39</c:v>
                </c:pt>
                <c:pt idx="56">
                  <c:v>6.19</c:v>
                </c:pt>
                <c:pt idx="57">
                  <c:v>5.99</c:v>
                </c:pt>
                <c:pt idx="58">
                  <c:v>5.99</c:v>
                </c:pt>
                <c:pt idx="59">
                  <c:v>5.97</c:v>
                </c:pt>
                <c:pt idx="60">
                  <c:v>5.95</c:v>
                </c:pt>
                <c:pt idx="61">
                  <c:v>5.82</c:v>
                </c:pt>
                <c:pt idx="62">
                  <c:v>5.74</c:v>
                </c:pt>
                <c:pt idx="63">
                  <c:v>5.65</c:v>
                </c:pt>
                <c:pt idx="64">
                  <c:v>5.65</c:v>
                </c:pt>
                <c:pt idx="65">
                  <c:v>5.38</c:v>
                </c:pt>
                <c:pt idx="66">
                  <c:v>5.13</c:v>
                </c:pt>
                <c:pt idx="67">
                  <c:v>5.13</c:v>
                </c:pt>
                <c:pt idx="68">
                  <c:v>5.13</c:v>
                </c:pt>
                <c:pt idx="69">
                  <c:v>5.13</c:v>
                </c:pt>
                <c:pt idx="70">
                  <c:v>5.13</c:v>
                </c:pt>
                <c:pt idx="71">
                  <c:v>5.13</c:v>
                </c:pt>
                <c:pt idx="72">
                  <c:v>5.13</c:v>
                </c:pt>
                <c:pt idx="73">
                  <c:v>5.13</c:v>
                </c:pt>
                <c:pt idx="74">
                  <c:v>5.13</c:v>
                </c:pt>
                <c:pt idx="75">
                  <c:v>5.13</c:v>
                </c:pt>
                <c:pt idx="76">
                  <c:v>5.13</c:v>
                </c:pt>
                <c:pt idx="77">
                  <c:v>5.13</c:v>
                </c:pt>
                <c:pt idx="78">
                  <c:v>5.13</c:v>
                </c:pt>
                <c:pt idx="79">
                  <c:v>5.13</c:v>
                </c:pt>
                <c:pt idx="80">
                  <c:v>5.13</c:v>
                </c:pt>
                <c:pt idx="81">
                  <c:v>5.13</c:v>
                </c:pt>
                <c:pt idx="82">
                  <c:v>5.13</c:v>
                </c:pt>
                <c:pt idx="83">
                  <c:v>5.13</c:v>
                </c:pt>
                <c:pt idx="84">
                  <c:v>5.13</c:v>
                </c:pt>
                <c:pt idx="85">
                  <c:v>5.13</c:v>
                </c:pt>
                <c:pt idx="86">
                  <c:v>5.13</c:v>
                </c:pt>
                <c:pt idx="87">
                  <c:v>5.13</c:v>
                </c:pt>
                <c:pt idx="88">
                  <c:v>5.13</c:v>
                </c:pt>
                <c:pt idx="89">
                  <c:v>5.13</c:v>
                </c:pt>
                <c:pt idx="90">
                  <c:v>5.13</c:v>
                </c:pt>
                <c:pt idx="91">
                  <c:v>5.13</c:v>
                </c:pt>
                <c:pt idx="92">
                  <c:v>5.13</c:v>
                </c:pt>
                <c:pt idx="93">
                  <c:v>5.13</c:v>
                </c:pt>
                <c:pt idx="94">
                  <c:v>5.13</c:v>
                </c:pt>
                <c:pt idx="95">
                  <c:v>5.13</c:v>
                </c:pt>
                <c:pt idx="96">
                  <c:v>5.13</c:v>
                </c:pt>
                <c:pt idx="97">
                  <c:v>5.13</c:v>
                </c:pt>
                <c:pt idx="98">
                  <c:v>5.13</c:v>
                </c:pt>
                <c:pt idx="99">
                  <c:v>5.13</c:v>
                </c:pt>
                <c:pt idx="100">
                  <c:v>5.13</c:v>
                </c:pt>
                <c:pt idx="101">
                  <c:v>5.13</c:v>
                </c:pt>
                <c:pt idx="102">
                  <c:v>5.13</c:v>
                </c:pt>
                <c:pt idx="103">
                  <c:v>5.375</c:v>
                </c:pt>
                <c:pt idx="104">
                  <c:v>5.375</c:v>
                </c:pt>
                <c:pt idx="105">
                  <c:v>5.375</c:v>
                </c:pt>
                <c:pt idx="106">
                  <c:v>5.375</c:v>
                </c:pt>
                <c:pt idx="107">
                  <c:v>5.375</c:v>
                </c:pt>
                <c:pt idx="108">
                  <c:v>5.375</c:v>
                </c:pt>
                <c:pt idx="109">
                  <c:v>5.375</c:v>
                </c:pt>
                <c:pt idx="110">
                  <c:v>5.375</c:v>
                </c:pt>
                <c:pt idx="111">
                  <c:v>5.375</c:v>
                </c:pt>
                <c:pt idx="112">
                  <c:v>5.48</c:v>
                </c:pt>
                <c:pt idx="113">
                  <c:v>5.48</c:v>
                </c:pt>
                <c:pt idx="114">
                  <c:v>5.48</c:v>
                </c:pt>
                <c:pt idx="115">
                  <c:v>5.48</c:v>
                </c:pt>
                <c:pt idx="116">
                  <c:v>5.48</c:v>
                </c:pt>
                <c:pt idx="117">
                  <c:v>5.48</c:v>
                </c:pt>
                <c:pt idx="118">
                  <c:v>5.48</c:v>
                </c:pt>
                <c:pt idx="119">
                  <c:v>5.48</c:v>
                </c:pt>
                <c:pt idx="120">
                  <c:v>5.48</c:v>
                </c:pt>
                <c:pt idx="121">
                  <c:v>5.48</c:v>
                </c:pt>
                <c:pt idx="122">
                  <c:v>5.48</c:v>
                </c:pt>
                <c:pt idx="123">
                  <c:v>5.48</c:v>
                </c:pt>
                <c:pt idx="124">
                  <c:v>5.48</c:v>
                </c:pt>
                <c:pt idx="125">
                  <c:v>5.48</c:v>
                </c:pt>
                <c:pt idx="126">
                  <c:v>5.48</c:v>
                </c:pt>
                <c:pt idx="127">
                  <c:v>5.5750000000000002</c:v>
                </c:pt>
                <c:pt idx="128">
                  <c:v>5.61</c:v>
                </c:pt>
                <c:pt idx="129">
                  <c:v>5.61</c:v>
                </c:pt>
                <c:pt idx="130">
                  <c:v>5.61</c:v>
                </c:pt>
                <c:pt idx="131">
                  <c:v>5.61</c:v>
                </c:pt>
                <c:pt idx="132">
                  <c:v>5.2149999999999999</c:v>
                </c:pt>
                <c:pt idx="133">
                  <c:v>4.9749999999999996</c:v>
                </c:pt>
                <c:pt idx="134">
                  <c:v>4.9749999999999996</c:v>
                </c:pt>
                <c:pt idx="135">
                  <c:v>4.9249999999999998</c:v>
                </c:pt>
                <c:pt idx="136">
                  <c:v>4.7350000000000003</c:v>
                </c:pt>
                <c:pt idx="137">
                  <c:v>4.7350000000000003</c:v>
                </c:pt>
                <c:pt idx="138">
                  <c:v>4.7350000000000003</c:v>
                </c:pt>
                <c:pt idx="139">
                  <c:v>4.7350000000000003</c:v>
                </c:pt>
                <c:pt idx="140">
                  <c:v>4.7350000000000003</c:v>
                </c:pt>
                <c:pt idx="141">
                  <c:v>4.7350000000000003</c:v>
                </c:pt>
                <c:pt idx="142">
                  <c:v>4.7350000000000003</c:v>
                </c:pt>
                <c:pt idx="143">
                  <c:v>4.7350000000000003</c:v>
                </c:pt>
                <c:pt idx="144">
                  <c:v>4.7350000000000003</c:v>
                </c:pt>
                <c:pt idx="145">
                  <c:v>4.7350000000000003</c:v>
                </c:pt>
                <c:pt idx="146">
                  <c:v>4.7350000000000003</c:v>
                </c:pt>
                <c:pt idx="147">
                  <c:v>4.7350000000000003</c:v>
                </c:pt>
                <c:pt idx="148">
                  <c:v>4.7350000000000003</c:v>
                </c:pt>
                <c:pt idx="149">
                  <c:v>4.7350000000000003</c:v>
                </c:pt>
                <c:pt idx="150">
                  <c:v>4.665</c:v>
                </c:pt>
                <c:pt idx="151">
                  <c:v>4.4850000000000003</c:v>
                </c:pt>
                <c:pt idx="152">
                  <c:v>4.3550000000000004</c:v>
                </c:pt>
                <c:pt idx="153">
                  <c:v>4.2750000000000004</c:v>
                </c:pt>
                <c:pt idx="154">
                  <c:v>4.18</c:v>
                </c:pt>
                <c:pt idx="155">
                  <c:v>4.18</c:v>
                </c:pt>
                <c:pt idx="156">
                  <c:v>4.18</c:v>
                </c:pt>
                <c:pt idx="157">
                  <c:v>4.18</c:v>
                </c:pt>
                <c:pt idx="158">
                  <c:v>4.18</c:v>
                </c:pt>
                <c:pt idx="159">
                  <c:v>4.18</c:v>
                </c:pt>
                <c:pt idx="160">
                  <c:v>4.18</c:v>
                </c:pt>
                <c:pt idx="161">
                  <c:v>4.18</c:v>
                </c:pt>
                <c:pt idx="162">
                  <c:v>4.18</c:v>
                </c:pt>
                <c:pt idx="163">
                  <c:v>4.18</c:v>
                </c:pt>
                <c:pt idx="164">
                  <c:v>4.18</c:v>
                </c:pt>
                <c:pt idx="165">
                  <c:v>4.0350000000000001</c:v>
                </c:pt>
                <c:pt idx="166">
                  <c:v>4.0199999999999996</c:v>
                </c:pt>
                <c:pt idx="167">
                  <c:v>3.915</c:v>
                </c:pt>
                <c:pt idx="168">
                  <c:v>3.8849999999999998</c:v>
                </c:pt>
                <c:pt idx="169">
                  <c:v>3.87</c:v>
                </c:pt>
                <c:pt idx="170">
                  <c:v>3.84</c:v>
                </c:pt>
                <c:pt idx="171">
                  <c:v>3.84</c:v>
                </c:pt>
                <c:pt idx="172">
                  <c:v>3.835</c:v>
                </c:pt>
                <c:pt idx="173">
                  <c:v>3.75</c:v>
                </c:pt>
                <c:pt idx="174">
                  <c:v>3.605</c:v>
                </c:pt>
                <c:pt idx="175">
                  <c:v>3.4750000000000001</c:v>
                </c:pt>
                <c:pt idx="176">
                  <c:v>3.4750000000000001</c:v>
                </c:pt>
                <c:pt idx="177">
                  <c:v>3.4</c:v>
                </c:pt>
                <c:pt idx="178">
                  <c:v>3.3050000000000002</c:v>
                </c:pt>
                <c:pt idx="179">
                  <c:v>3.2749999999999999</c:v>
                </c:pt>
                <c:pt idx="180">
                  <c:v>3.2749999999999999</c:v>
                </c:pt>
                <c:pt idx="181">
                  <c:v>3.2749999999999999</c:v>
                </c:pt>
                <c:pt idx="182">
                  <c:v>3.2749999999999999</c:v>
                </c:pt>
                <c:pt idx="183">
                  <c:v>3.2749999999999999</c:v>
                </c:pt>
                <c:pt idx="184">
                  <c:v>3.2749999999999999</c:v>
                </c:pt>
                <c:pt idx="185">
                  <c:v>3.2749999999999999</c:v>
                </c:pt>
                <c:pt idx="186">
                  <c:v>3.2749999999999999</c:v>
                </c:pt>
                <c:pt idx="187">
                  <c:v>3.2749999999999999</c:v>
                </c:pt>
                <c:pt idx="188">
                  <c:v>3.2749999999999999</c:v>
                </c:pt>
                <c:pt idx="189">
                  <c:v>3.2749999999999999</c:v>
                </c:pt>
                <c:pt idx="190">
                  <c:v>3.2749999999999999</c:v>
                </c:pt>
                <c:pt idx="191">
                  <c:v>3.2749999999999999</c:v>
                </c:pt>
                <c:pt idx="192">
                  <c:v>3.2749999999999999</c:v>
                </c:pt>
              </c:numCache>
            </c:numRef>
          </c:val>
          <c:smooth val="1"/>
        </c:ser>
        <c:dLbls>
          <c:showLegendKey val="0"/>
          <c:showVal val="0"/>
          <c:showCatName val="0"/>
          <c:showSerName val="0"/>
          <c:showPercent val="0"/>
          <c:showBubbleSize val="0"/>
        </c:dLbls>
        <c:marker val="1"/>
        <c:smooth val="0"/>
        <c:axId val="100963072"/>
        <c:axId val="100979840"/>
      </c:lineChart>
      <c:lineChart>
        <c:grouping val="standard"/>
        <c:varyColors val="0"/>
        <c:ser>
          <c:idx val="2"/>
          <c:order val="2"/>
          <c:tx>
            <c:strRef>
              <c:f>Sheet1!$D$1</c:f>
              <c:strCache>
                <c:ptCount val="1"/>
                <c:pt idx="0">
                  <c:v>Media Effect</c:v>
                </c:pt>
              </c:strCache>
            </c:strRef>
          </c:tx>
          <c:spPr>
            <a:ln>
              <a:solidFill>
                <a:srgbClr val="996633"/>
              </a:solidFill>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0.00</c:formatCode>
                <c:ptCount val="193"/>
                <c:pt idx="0">
                  <c:v>1</c:v>
                </c:pt>
                <c:pt idx="1">
                  <c:v>1</c:v>
                </c:pt>
                <c:pt idx="2">
                  <c:v>1</c:v>
                </c:pt>
                <c:pt idx="3">
                  <c:v>1</c:v>
                </c:pt>
                <c:pt idx="4">
                  <c:v>1</c:v>
                </c:pt>
                <c:pt idx="5">
                  <c:v>1</c:v>
                </c:pt>
                <c:pt idx="6">
                  <c:v>1.0625000000000018</c:v>
                </c:pt>
                <c:pt idx="7">
                  <c:v>1.1291666666666678</c:v>
                </c:pt>
                <c:pt idx="8">
                  <c:v>1.2625000000000006</c:v>
                </c:pt>
                <c:pt idx="9">
                  <c:v>1.166666666666667</c:v>
                </c:pt>
                <c:pt idx="10">
                  <c:v>1.1916666666666664</c:v>
                </c:pt>
                <c:pt idx="11">
                  <c:v>1.4541666666666666</c:v>
                </c:pt>
                <c:pt idx="12">
                  <c:v>1.5249999999999999</c:v>
                </c:pt>
                <c:pt idx="13">
                  <c:v>1.4541666666666666</c:v>
                </c:pt>
                <c:pt idx="14">
                  <c:v>1.333333333333333</c:v>
                </c:pt>
                <c:pt idx="15">
                  <c:v>1.2458333333333327</c:v>
                </c:pt>
                <c:pt idx="16">
                  <c:v>1.1166666666666665</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1.0541666666666656</c:v>
                </c:pt>
                <c:pt idx="59">
                  <c:v>1.4291666666666658</c:v>
                </c:pt>
                <c:pt idx="60">
                  <c:v>1.6208333333333327</c:v>
                </c:pt>
                <c:pt idx="61">
                  <c:v>1.7541666666666669</c:v>
                </c:pt>
                <c:pt idx="62">
                  <c:v>1.7333333333333334</c:v>
                </c:pt>
                <c:pt idx="63">
                  <c:v>1.708333333333333</c:v>
                </c:pt>
                <c:pt idx="64">
                  <c:v>1.6083333333333338</c:v>
                </c:pt>
                <c:pt idx="65">
                  <c:v>1.5166666666666671</c:v>
                </c:pt>
                <c:pt idx="66">
                  <c:v>1.4833333333333334</c:v>
                </c:pt>
                <c:pt idx="67">
                  <c:v>1.6916666666666669</c:v>
                </c:pt>
                <c:pt idx="68">
                  <c:v>1.8833333333333337</c:v>
                </c:pt>
                <c:pt idx="69">
                  <c:v>1.5666666666666673</c:v>
                </c:pt>
                <c:pt idx="70">
                  <c:v>1.2916666666666674</c:v>
                </c:pt>
                <c:pt idx="71">
                  <c:v>1.008333333333334</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1.0875000000000006</c:v>
                </c:pt>
                <c:pt idx="137">
                  <c:v>1.3375000000000004</c:v>
                </c:pt>
                <c:pt idx="138">
                  <c:v>1.7041666666666666</c:v>
                </c:pt>
                <c:pt idx="139">
                  <c:v>1.8708333333333336</c:v>
                </c:pt>
                <c:pt idx="140">
                  <c:v>1.333333333333333</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1.1583333333333339</c:v>
                </c:pt>
                <c:pt idx="155">
                  <c:v>1.3583333333333334</c:v>
                </c:pt>
                <c:pt idx="156">
                  <c:v>1.6458333333333339</c:v>
                </c:pt>
                <c:pt idx="157">
                  <c:v>1.6541666666666668</c:v>
                </c:pt>
                <c:pt idx="158">
                  <c:v>1.3875000000000002</c:v>
                </c:pt>
                <c:pt idx="159">
                  <c:v>1.029166666666667</c:v>
                </c:pt>
                <c:pt idx="160">
                  <c:v>1</c:v>
                </c:pt>
                <c:pt idx="161">
                  <c:v>1</c:v>
                </c:pt>
                <c:pt idx="162">
                  <c:v>1</c:v>
                </c:pt>
                <c:pt idx="163">
                  <c:v>1</c:v>
                </c:pt>
                <c:pt idx="164">
                  <c:v>1</c:v>
                </c:pt>
                <c:pt idx="165">
                  <c:v>1</c:v>
                </c:pt>
                <c:pt idx="166">
                  <c:v>1</c:v>
                </c:pt>
                <c:pt idx="167">
                  <c:v>1</c:v>
                </c:pt>
                <c:pt idx="168">
                  <c:v>1</c:v>
                </c:pt>
                <c:pt idx="169">
                  <c:v>1.0416666666666659</c:v>
                </c:pt>
                <c:pt idx="170">
                  <c:v>1.2749999999999995</c:v>
                </c:pt>
                <c:pt idx="171">
                  <c:v>1.4958333333333327</c:v>
                </c:pt>
                <c:pt idx="172">
                  <c:v>1.5333333333333332</c:v>
                </c:pt>
                <c:pt idx="173">
                  <c:v>1.3625</c:v>
                </c:pt>
                <c:pt idx="174">
                  <c:v>1.3541666666666663</c:v>
                </c:pt>
                <c:pt idx="175">
                  <c:v>1.3375000000000001</c:v>
                </c:pt>
                <c:pt idx="176">
                  <c:v>1.4333333333333331</c:v>
                </c:pt>
                <c:pt idx="177">
                  <c:v>1.5291666666666668</c:v>
                </c:pt>
                <c:pt idx="178">
                  <c:v>1.4833333333333332</c:v>
                </c:pt>
                <c:pt idx="179">
                  <c:v>1.5958333333333332</c:v>
                </c:pt>
                <c:pt idx="180">
                  <c:v>1.6708333333333334</c:v>
                </c:pt>
                <c:pt idx="181">
                  <c:v>1.625</c:v>
                </c:pt>
                <c:pt idx="182">
                  <c:v>1.5041666666666667</c:v>
                </c:pt>
                <c:pt idx="183">
                  <c:v>1.3458333333333337</c:v>
                </c:pt>
                <c:pt idx="184">
                  <c:v>1.1958333333333333</c:v>
                </c:pt>
                <c:pt idx="185">
                  <c:v>1</c:v>
                </c:pt>
                <c:pt idx="186">
                  <c:v>1</c:v>
                </c:pt>
                <c:pt idx="187">
                  <c:v>1</c:v>
                </c:pt>
                <c:pt idx="188">
                  <c:v>1</c:v>
                </c:pt>
                <c:pt idx="189">
                  <c:v>1</c:v>
                </c:pt>
                <c:pt idx="190">
                  <c:v>1</c:v>
                </c:pt>
                <c:pt idx="191">
                  <c:v>1</c:v>
                </c:pt>
                <c:pt idx="192">
                  <c:v>1</c:v>
                </c:pt>
              </c:numCache>
            </c:numRef>
          </c:val>
          <c:smooth val="0"/>
        </c:ser>
        <c:dLbls>
          <c:showLegendKey val="0"/>
          <c:showVal val="0"/>
          <c:showCatName val="0"/>
          <c:showSerName val="0"/>
          <c:showPercent val="0"/>
          <c:showBubbleSize val="0"/>
        </c:dLbls>
        <c:marker val="1"/>
        <c:smooth val="0"/>
        <c:axId val="101151872"/>
        <c:axId val="101104640"/>
      </c:lineChart>
      <c:dateAx>
        <c:axId val="100963072"/>
        <c:scaling>
          <c:orientation val="minMax"/>
        </c:scaling>
        <c:delete val="0"/>
        <c:axPos val="b"/>
        <c:numFmt formatCode="m/d/yyyy" sourceLinked="0"/>
        <c:majorTickMark val="out"/>
        <c:minorTickMark val="none"/>
        <c:tickLblPos val="nextTo"/>
        <c:spPr>
          <a:ln>
            <a:solidFill>
              <a:schemeClr val="tx2"/>
            </a:solidFill>
          </a:ln>
        </c:spPr>
        <c:crossAx val="100979840"/>
        <c:crosses val="autoZero"/>
        <c:auto val="1"/>
        <c:lblOffset val="100"/>
        <c:baseTimeUnit val="months"/>
        <c:majorUnit val="12"/>
        <c:majorTimeUnit val="months"/>
      </c:dateAx>
      <c:valAx>
        <c:axId val="100979840"/>
        <c:scaling>
          <c:orientation val="minMax"/>
        </c:scaling>
        <c:delete val="0"/>
        <c:axPos val="l"/>
        <c:numFmt formatCode="General" sourceLinked="1"/>
        <c:majorTickMark val="out"/>
        <c:minorTickMark val="none"/>
        <c:tickLblPos val="nextTo"/>
        <c:spPr>
          <a:ln>
            <a:solidFill>
              <a:schemeClr val="tx2"/>
            </a:solidFill>
          </a:ln>
        </c:spPr>
        <c:crossAx val="100963072"/>
        <c:crosses val="autoZero"/>
        <c:crossBetween val="midCat"/>
      </c:valAx>
      <c:valAx>
        <c:axId val="101104640"/>
        <c:scaling>
          <c:orientation val="minMax"/>
          <c:max val="3"/>
          <c:min val="0.5"/>
        </c:scaling>
        <c:delete val="0"/>
        <c:axPos val="r"/>
        <c:numFmt formatCode="0.00" sourceLinked="1"/>
        <c:majorTickMark val="out"/>
        <c:minorTickMark val="none"/>
        <c:tickLblPos val="nextTo"/>
        <c:crossAx val="101151872"/>
        <c:crosses val="max"/>
        <c:crossBetween val="between"/>
      </c:valAx>
      <c:dateAx>
        <c:axId val="101151872"/>
        <c:scaling>
          <c:orientation val="minMax"/>
        </c:scaling>
        <c:delete val="1"/>
        <c:axPos val="b"/>
        <c:numFmt formatCode="m/d/yyyy" sourceLinked="1"/>
        <c:majorTickMark val="out"/>
        <c:minorTickMark val="none"/>
        <c:tickLblPos val="nextTo"/>
        <c:crossAx val="101104640"/>
        <c:crosses val="autoZero"/>
        <c:auto val="1"/>
        <c:lblOffset val="100"/>
        <c:baseTimeUnit val="months"/>
      </c:dateAx>
    </c:plotArea>
    <c:legend>
      <c:legendPos val="r"/>
      <c:layout>
        <c:manualLayout>
          <c:xMode val="edge"/>
          <c:yMode val="edge"/>
          <c:x val="0.80502648913677244"/>
          <c:y val="2.3925106403014106E-2"/>
          <c:w val="0.14044906070252097"/>
          <c:h val="0.22448270175158688"/>
        </c:manualLayout>
      </c:layout>
      <c:overlay val="1"/>
    </c:legend>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defTabSz="913006">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algn="r" defTabSz="913006">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defTabSz="913006">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algn="r" defTabSz="913006">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defTabSz="913006">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algn="r" defTabSz="913006">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5"/>
            <a:ext cx="5546725" cy="4147189"/>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defTabSz="913006">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algn="r" defTabSz="913006">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429"/>
            <a:fld id="{1FE077EC-684A-4FD9-A6C3-9AE90D8B81D6}" type="slidenum">
              <a:rPr lang="en-US" smtClean="0"/>
              <a:pPr defTabSz="911429"/>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3.emf"/><Relationship Id="rId3" Type="http://schemas.openxmlformats.org/officeDocument/2006/relationships/tags" Target="../tags/tag6.xml"/><Relationship Id="rId7" Type="http://schemas.openxmlformats.org/officeDocument/2006/relationships/image" Target="../media/image7.emf"/><Relationship Id="rId12" Type="http://schemas.openxmlformats.org/officeDocument/2006/relationships/image" Target="../media/image12.emf"/><Relationship Id="rId2" Type="http://schemas.openxmlformats.org/officeDocument/2006/relationships/tags" Target="../tags/tag5.xml"/><Relationship Id="rId16" Type="http://schemas.openxmlformats.org/officeDocument/2006/relationships/image" Target="../media/image16.emf"/><Relationship Id="rId1" Type="http://schemas.openxmlformats.org/officeDocument/2006/relationships/tags" Target="../tags/tag4.xml"/><Relationship Id="rId6" Type="http://schemas.openxmlformats.org/officeDocument/2006/relationships/slideLayout" Target="../slideLayouts/slideLayout2.xml"/><Relationship Id="rId11" Type="http://schemas.openxmlformats.org/officeDocument/2006/relationships/image" Target="../media/image11.emf"/><Relationship Id="rId5" Type="http://schemas.openxmlformats.org/officeDocument/2006/relationships/tags" Target="../tags/tag8.xml"/><Relationship Id="rId15" Type="http://schemas.openxmlformats.org/officeDocument/2006/relationships/image" Target="../media/image15.emf"/><Relationship Id="rId10" Type="http://schemas.openxmlformats.org/officeDocument/2006/relationships/image" Target="../media/image10.emf"/><Relationship Id="rId4" Type="http://schemas.openxmlformats.org/officeDocument/2006/relationships/tags" Target="../tags/tag7.xml"/><Relationship Id="rId9" Type="http://schemas.openxmlformats.org/officeDocument/2006/relationships/image" Target="../media/image9.emf"/><Relationship Id="rId14" Type="http://schemas.openxmlformats.org/officeDocument/2006/relationships/image" Target="../media/image14.emf"/></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image" Target="../media/image14.emf"/><Relationship Id="rId3" Type="http://schemas.openxmlformats.org/officeDocument/2006/relationships/tags" Target="../tags/tag11.xml"/><Relationship Id="rId7" Type="http://schemas.openxmlformats.org/officeDocument/2006/relationships/image" Target="../media/image8.emf"/><Relationship Id="rId12" Type="http://schemas.openxmlformats.org/officeDocument/2006/relationships/image" Target="../media/image13.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7.emf"/><Relationship Id="rId11" Type="http://schemas.openxmlformats.org/officeDocument/2006/relationships/image" Target="../media/image12.emf"/><Relationship Id="rId5" Type="http://schemas.openxmlformats.org/officeDocument/2006/relationships/slideLayout" Target="../slideLayouts/slideLayout2.xml"/><Relationship Id="rId15" Type="http://schemas.openxmlformats.org/officeDocument/2006/relationships/image" Target="../media/image16.emf"/><Relationship Id="rId10" Type="http://schemas.openxmlformats.org/officeDocument/2006/relationships/image" Target="../media/image11.emf"/><Relationship Id="rId4" Type="http://schemas.openxmlformats.org/officeDocument/2006/relationships/tags" Target="../tags/tag12.xml"/><Relationship Id="rId9" Type="http://schemas.openxmlformats.org/officeDocument/2006/relationships/image" Target="../media/image10.emf"/><Relationship Id="rId14" Type="http://schemas.openxmlformats.org/officeDocument/2006/relationships/image" Target="../media/image15.emf"/></Relationships>
</file>

<file path=ppt/slides/_rels/slide11.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2.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9.xml"/><Relationship Id="rId7" Type="http://schemas.openxmlformats.org/officeDocument/2006/relationships/image" Target="../media/image18.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7.png"/><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4.png"/><Relationship Id="rId3" Type="http://schemas.openxmlformats.org/officeDocument/2006/relationships/image" Target="../media/image30.png"/><Relationship Id="rId21" Type="http://schemas.openxmlformats.org/officeDocument/2006/relationships/image" Target="../media/image47.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3.png"/><Relationship Id="rId2" Type="http://schemas.openxmlformats.org/officeDocument/2006/relationships/image" Target="../media/image29.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1.png"/><Relationship Id="rId23" Type="http://schemas.openxmlformats.org/officeDocument/2006/relationships/image" Target="../media/image49.png"/><Relationship Id="rId10" Type="http://schemas.openxmlformats.org/officeDocument/2006/relationships/image" Target="../media/image37.png"/><Relationship Id="rId19" Type="http://schemas.openxmlformats.org/officeDocument/2006/relationships/image" Target="../media/image45.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26.png"/><Relationship Id="rId22"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7" y="6084608"/>
            <a:ext cx="6147109"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Prepayment Model</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August</a:t>
            </a:r>
            <a:r>
              <a:rPr lang="en-US" dirty="0" smtClean="0">
                <a:solidFill>
                  <a:schemeClr val="tx2"/>
                </a:solidFill>
                <a:latin typeface="Calibri" pitchFamily="34" charset="0"/>
              </a:rPr>
              <a:t> </a:t>
            </a:r>
            <a:r>
              <a:rPr lang="en-US" dirty="0" smtClean="0">
                <a:solidFill>
                  <a:schemeClr val="tx2"/>
                </a:solidFill>
                <a:latin typeface="Calibri" pitchFamily="34" charset="0"/>
              </a:rPr>
              <a:t>2014</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46592"/>
            <a:ext cx="6806130" cy="677966"/>
          </a:xfrm>
        </p:spPr>
        <p:txBody>
          <a:bodyPr/>
          <a:lstStyle/>
          <a:p>
            <a:r>
              <a:rPr lang="en-US" dirty="0" smtClean="0"/>
              <a:t>Agenda</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1400" b="1" dirty="0" smtClean="0"/>
              <a:t>Overview</a:t>
            </a:r>
          </a:p>
          <a:p>
            <a:pPr lvl="1"/>
            <a:r>
              <a:rPr lang="en-US" sz="1400" dirty="0" smtClean="0"/>
              <a:t>What is prepayment model</a:t>
            </a:r>
          </a:p>
          <a:p>
            <a:pPr lvl="1"/>
            <a:r>
              <a:rPr lang="en-US" sz="1400" dirty="0" smtClean="0"/>
              <a:t>The importance of prepayment model</a:t>
            </a:r>
          </a:p>
          <a:p>
            <a:pPr>
              <a:buFont typeface="Wingdings" panose="05000000000000000000" pitchFamily="2" charset="2"/>
              <a:buChar char="v"/>
            </a:pPr>
            <a:r>
              <a:rPr lang="en-US" sz="1400" b="1" dirty="0" smtClean="0"/>
              <a:t>Model Fitting</a:t>
            </a:r>
          </a:p>
          <a:p>
            <a:pPr lvl="1"/>
            <a:r>
              <a:rPr lang="en-US" sz="1400" dirty="0" smtClean="0"/>
              <a:t>Spine calculation</a:t>
            </a:r>
          </a:p>
          <a:p>
            <a:pPr lvl="1"/>
            <a:r>
              <a:rPr lang="en-US" sz="1400" dirty="0" smtClean="0"/>
              <a:t>Media Effect</a:t>
            </a:r>
          </a:p>
          <a:p>
            <a:pPr lvl="1"/>
            <a:r>
              <a:rPr lang="en-US" sz="1400" dirty="0" smtClean="0"/>
              <a:t>Credit Availability</a:t>
            </a:r>
          </a:p>
          <a:p>
            <a:pPr>
              <a:buFont typeface="Wingdings" panose="05000000000000000000" pitchFamily="2" charset="2"/>
              <a:buChar char="v"/>
            </a:pPr>
            <a:r>
              <a:rPr lang="en-US" sz="1400" b="1" dirty="0" smtClean="0"/>
              <a:t>Improvement</a:t>
            </a:r>
          </a:p>
          <a:p>
            <a:pPr lvl="1"/>
            <a:r>
              <a:rPr lang="en-US" sz="1400" dirty="0" smtClean="0"/>
              <a:t>Monotonic Spline Function</a:t>
            </a:r>
          </a:p>
          <a:p>
            <a:pPr lvl="1"/>
            <a:r>
              <a:rPr lang="en-US" sz="1400" dirty="0" smtClean="0"/>
              <a:t>Media Effect “Jump Up” Problem</a:t>
            </a:r>
          </a:p>
          <a:p>
            <a:pPr lvl="1"/>
            <a:r>
              <a:rPr lang="en-US" sz="1400" dirty="0" smtClean="0"/>
              <a:t>Change Credit Availability</a:t>
            </a:r>
          </a:p>
          <a:p>
            <a:pPr lvl="1"/>
            <a:r>
              <a:rPr lang="en-US" sz="1400" dirty="0" smtClean="0"/>
              <a:t>Efficient R- Script</a:t>
            </a:r>
          </a:p>
          <a:p>
            <a:pPr>
              <a:buFont typeface="Wingdings" panose="05000000000000000000" pitchFamily="2" charset="2"/>
              <a:buChar char="v"/>
            </a:pPr>
            <a:r>
              <a:rPr lang="en-US" sz="1400" b="1" dirty="0" smtClean="0"/>
              <a:t>Model Version Review</a:t>
            </a:r>
            <a:endParaRPr lang="en-US" sz="1400" b="1" dirty="0"/>
          </a:p>
        </p:txBody>
      </p:sp>
    </p:spTree>
    <p:extLst>
      <p:ext uri="{BB962C8B-B14F-4D97-AF65-F5344CB8AC3E}">
        <p14:creationId xmlns:p14="http://schemas.microsoft.com/office/powerpoint/2010/main" val="8541375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a:solidFill>
                  <a:schemeClr val="tx1"/>
                </a:solidFill>
              </a:rPr>
              <a:t>What is prepayment model</a:t>
            </a:r>
            <a:br>
              <a:rPr lang="en-US" dirty="0">
                <a:solidFill>
                  <a:schemeClr val="tx1"/>
                </a:solidFill>
              </a:rPr>
            </a:br>
            <a:r>
              <a:rPr lang="en-US" dirty="0">
                <a:solidFill>
                  <a:schemeClr val="tx1"/>
                </a:solidFill>
              </a:rPr>
              <a:t>The importance of prepayment model</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r>
              <a:rPr lang="en-US" sz="2400" b="1" dirty="0"/>
              <a:t>Overview</a:t>
            </a:r>
          </a:p>
          <a:p>
            <a:endParaRPr lang="en-US" dirty="0"/>
          </a:p>
        </p:txBody>
      </p:sp>
    </p:spTree>
    <p:extLst>
      <p:ext uri="{BB962C8B-B14F-4D97-AF65-F5344CB8AC3E}">
        <p14:creationId xmlns:p14="http://schemas.microsoft.com/office/powerpoint/2010/main" val="33127297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t>Prepayment In Residential Mortgage</a:t>
            </a:r>
            <a:endParaRPr lang="en-US" sz="1200" b="0" dirty="0"/>
          </a:p>
        </p:txBody>
      </p:sp>
      <p:sp>
        <p:nvSpPr>
          <p:cNvPr id="2" name="TextBox 1"/>
          <p:cNvSpPr txBox="1"/>
          <p:nvPr/>
        </p:nvSpPr>
        <p:spPr>
          <a:xfrm>
            <a:off x="747713" y="5682674"/>
            <a:ext cx="8601074" cy="1169551"/>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a:t>
            </a:r>
            <a:r>
              <a:rPr lang="en-US" sz="1400" dirty="0" smtClean="0">
                <a:latin typeface="Arial" panose="020B0604020202020204" pitchFamily="34" charset="0"/>
                <a:cs typeface="Arial" panose="020B0604020202020204" pitchFamily="34" charset="0"/>
              </a:rPr>
              <a:t>nvestor </a:t>
            </a:r>
            <a:r>
              <a:rPr lang="en-US" sz="1400" dirty="0">
                <a:latin typeface="Arial" panose="020B0604020202020204" pitchFamily="34" charset="0"/>
                <a:cs typeface="Arial" panose="020B0604020202020204" pitchFamily="34" charset="0"/>
              </a:rPr>
              <a:t>in a MBS has a short position in a call option due to the homeowners’ right to prepay, a put option due to the homeowners may default, and also a long position in a non-callable bond. The prepayment behavior will change the cash flow of the MBS then vary its value. So the key to estimate the value of MBS is to accurately estimate its cash flow. And a decent prepayment model will definitely be the foundation of the cash flow estimation</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6" name="Straight Connector 5"/>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724076" y="1156568"/>
            <a:ext cx="2357636"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What is Prepayment</a:t>
            </a:r>
            <a:endParaRPr lang="en-US" sz="1600" dirty="0">
              <a:latin typeface="Arial" panose="020B0604020202020204" pitchFamily="34" charset="0"/>
              <a:cs typeface="Arial" panose="020B0604020202020204" pitchFamily="34" charset="0"/>
            </a:endParaRPr>
          </a:p>
        </p:txBody>
      </p:sp>
      <p:sp>
        <p:nvSpPr>
          <p:cNvPr id="4" name="TextBox 3"/>
          <p:cNvSpPr txBox="1"/>
          <p:nvPr/>
        </p:nvSpPr>
        <p:spPr>
          <a:xfrm>
            <a:off x="495300" y="1495122"/>
            <a:ext cx="891540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mortgage is a loan contract with a certain repayment schedule. </a:t>
            </a:r>
            <a:r>
              <a:rPr lang="en-US" sz="1400" dirty="0" smtClean="0">
                <a:latin typeface="Arial" panose="020B0604020202020204" pitchFamily="34" charset="0"/>
                <a:cs typeface="Arial" panose="020B0604020202020204" pitchFamily="34" charset="0"/>
              </a:rPr>
              <a:t>This </a:t>
            </a:r>
            <a:r>
              <a:rPr lang="en-US" sz="1400" dirty="0">
                <a:latin typeface="Arial" panose="020B0604020202020204" pitchFamily="34" charset="0"/>
                <a:cs typeface="Arial" panose="020B0604020202020204" pitchFamily="34" charset="0"/>
              </a:rPr>
              <a:t>schedule will establish a monthly cash flow to payoff the debt. </a:t>
            </a:r>
            <a:r>
              <a:rPr lang="en-US" sz="1400" dirty="0" smtClean="0">
                <a:latin typeface="Arial" panose="020B0604020202020204" pitchFamily="34" charset="0"/>
                <a:cs typeface="Arial" panose="020B0604020202020204" pitchFamily="34" charset="0"/>
              </a:rPr>
              <a:t>The </a:t>
            </a:r>
            <a:r>
              <a:rPr lang="en-US" sz="1400" dirty="0">
                <a:latin typeface="Arial" panose="020B0604020202020204" pitchFamily="34" charset="0"/>
                <a:cs typeface="Arial" panose="020B0604020202020204" pitchFamily="34" charset="0"/>
              </a:rPr>
              <a:t>activities that may accelerates the repayment schedule, resulting in extinguish the mortgage contract earlier, is called a prepayment</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 name="Rectangle 4"/>
          <p:cNvSpPr/>
          <p:nvPr/>
        </p:nvSpPr>
        <p:spPr>
          <a:xfrm>
            <a:off x="619125"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t>Mortgage Contract</a:t>
            </a:r>
            <a:endParaRPr lang="en-US" sz="1600" dirty="0"/>
          </a:p>
        </p:txBody>
      </p:sp>
      <p:sp>
        <p:nvSpPr>
          <p:cNvPr id="10" name="Rectangle 9"/>
          <p:cNvSpPr/>
          <p:nvPr/>
        </p:nvSpPr>
        <p:spPr>
          <a:xfrm>
            <a:off x="4110038"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Cash Flow</a:t>
            </a:r>
            <a:endParaRPr lang="en-US" dirty="0"/>
          </a:p>
        </p:txBody>
      </p:sp>
      <p:sp>
        <p:nvSpPr>
          <p:cNvPr id="11" name="Rectangle 10"/>
          <p:cNvSpPr/>
          <p:nvPr/>
        </p:nvSpPr>
        <p:spPr>
          <a:xfrm>
            <a:off x="7600950"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Prepayment</a:t>
            </a:r>
            <a:endParaRPr lang="en-US" dirty="0"/>
          </a:p>
        </p:txBody>
      </p:sp>
      <p:cxnSp>
        <p:nvCxnSpPr>
          <p:cNvPr id="15" name="Straight Arrow Connector 14"/>
          <p:cNvCxnSpPr>
            <a:stCxn id="5" idx="3"/>
            <a:endCxn id="10" idx="1"/>
          </p:cNvCxnSpPr>
          <p:nvPr/>
        </p:nvCxnSpPr>
        <p:spPr>
          <a:xfrm>
            <a:off x="2305050" y="2543175"/>
            <a:ext cx="18049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3"/>
            <a:endCxn id="11" idx="1"/>
          </p:cNvCxnSpPr>
          <p:nvPr/>
        </p:nvCxnSpPr>
        <p:spPr>
          <a:xfrm>
            <a:off x="5795963" y="2543175"/>
            <a:ext cx="1804987"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05051" y="2305050"/>
            <a:ext cx="1638300" cy="461665"/>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Establish </a:t>
            </a:r>
            <a:r>
              <a:rPr lang="en-US" sz="1200" dirty="0">
                <a:latin typeface="Arial" panose="020B0604020202020204" pitchFamily="34" charset="0"/>
                <a:cs typeface="Arial" panose="020B0604020202020204" pitchFamily="34" charset="0"/>
              </a:rPr>
              <a:t>repayment schedule</a:t>
            </a:r>
          </a:p>
        </p:txBody>
      </p:sp>
      <p:sp>
        <p:nvSpPr>
          <p:cNvPr id="21" name="TextBox 20"/>
          <p:cNvSpPr txBox="1"/>
          <p:nvPr/>
        </p:nvSpPr>
        <p:spPr>
          <a:xfrm>
            <a:off x="5865591" y="2305050"/>
            <a:ext cx="1638300"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accelerates the repayment schedule</a:t>
            </a:r>
          </a:p>
        </p:txBody>
      </p:sp>
      <p:sp>
        <p:nvSpPr>
          <p:cNvPr id="20" name="TextBox 19"/>
          <p:cNvSpPr txBox="1"/>
          <p:nvPr/>
        </p:nvSpPr>
        <p:spPr>
          <a:xfrm>
            <a:off x="685800" y="3076575"/>
            <a:ext cx="8724900" cy="1169551"/>
          </a:xfrm>
          <a:prstGeom prst="rect">
            <a:avLst/>
          </a:prstGeom>
          <a:noFill/>
        </p:spPr>
        <p:txBody>
          <a:bodyPr wrap="square" rtlCol="0">
            <a:spAutoFit/>
          </a:bodyPr>
          <a:lstStyle/>
          <a:p>
            <a:pPr lvl="0"/>
            <a:r>
              <a:rPr lang="en-US" sz="1400" b="1" dirty="0" smtClean="0">
                <a:latin typeface="Arial" panose="020B0604020202020204" pitchFamily="34" charset="0"/>
                <a:cs typeface="Arial" panose="020B0604020202020204" pitchFamily="34" charset="0"/>
              </a:rPr>
              <a:t>Four kinds of prepayment activities</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Curtailment </a:t>
            </a:r>
            <a:r>
              <a:rPr lang="en-US" sz="1400" b="1" dirty="0">
                <a:latin typeface="Arial" panose="020B0604020202020204" pitchFamily="34" charset="0"/>
                <a:cs typeface="Arial" panose="020B0604020202020204" pitchFamily="34" charset="0"/>
              </a:rPr>
              <a:t>/ Full payment: 	</a:t>
            </a:r>
            <a:r>
              <a:rPr lang="en-US" sz="1400" dirty="0" smtClean="0">
                <a:latin typeface="Arial" panose="020B0604020202020204" pitchFamily="34" charset="0"/>
                <a:cs typeface="Arial" panose="020B0604020202020204" pitchFamily="34" charset="0"/>
              </a:rPr>
              <a:t>Send </a:t>
            </a:r>
            <a:r>
              <a:rPr lang="en-US" sz="1400" dirty="0">
                <a:latin typeface="Arial" panose="020B0604020202020204" pitchFamily="34" charset="0"/>
                <a:cs typeface="Arial" panose="020B0604020202020204" pitchFamily="34" charset="0"/>
              </a:rPr>
              <a:t>more than the scheduled monthly payment </a:t>
            </a:r>
            <a:endParaRPr lang="en-US" sz="1400" dirty="0" smtClean="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Refinancing:</a:t>
            </a:r>
            <a:r>
              <a:rPr lang="en-US" sz="1400" dirty="0" smtClean="0">
                <a:latin typeface="Arial" panose="020B0604020202020204" pitchFamily="34" charset="0"/>
                <a:cs typeface="Arial" panose="020B0604020202020204" pitchFamily="34" charset="0"/>
              </a:rPr>
              <a:t> 		replaces the mortgage with a new one</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Turnover:</a:t>
            </a:r>
            <a:r>
              <a:rPr lang="zh-CN" altLang="en-US" sz="1400" dirty="0" smtClean="0">
                <a:latin typeface="Arial" panose="020B0604020202020204" pitchFamily="34" charset="0"/>
                <a:cs typeface="Arial" panose="020B0604020202020204" pitchFamily="34" charset="0"/>
              </a:rPr>
              <a:t> </a:t>
            </a:r>
            <a:r>
              <a:rPr lang="en-US" altLang="zh-CN" sz="1400" dirty="0" smtClean="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home sales prepayment</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Default</a:t>
            </a:r>
            <a:r>
              <a:rPr lang="en-US" sz="1400" b="1" dirty="0">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borrower </a:t>
            </a:r>
            <a:r>
              <a:rPr lang="en-US" sz="1400" dirty="0">
                <a:latin typeface="Arial" panose="020B0604020202020204" pitchFamily="34" charset="0"/>
                <a:cs typeface="Arial" panose="020B0604020202020204" pitchFamily="34" charset="0"/>
              </a:rPr>
              <a:t>fail to fulfill the scheduled term of the mortgage</a:t>
            </a:r>
          </a:p>
        </p:txBody>
      </p:sp>
      <p:cxnSp>
        <p:nvCxnSpPr>
          <p:cNvPr id="23" name="Straight Connector 22"/>
          <p:cNvCxnSpPr/>
          <p:nvPr/>
        </p:nvCxnSpPr>
        <p:spPr>
          <a:xfrm>
            <a:off x="1051719" y="4492109"/>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124201" y="4338221"/>
            <a:ext cx="3560539"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Why Prepayment Model is important </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685800" y="4887626"/>
            <a:ext cx="1927860" cy="302802"/>
          </a:xfrm>
          <a:prstGeom prst="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300" dirty="0" smtClean="0">
                <a:solidFill>
                  <a:srgbClr val="FFFFFF"/>
                </a:solidFill>
              </a:rPr>
              <a:t>MBS Valuation</a:t>
            </a:r>
            <a:endParaRPr lang="en-US" sz="1300" dirty="0">
              <a:solidFill>
                <a:srgbClr val="FFFFFF"/>
              </a:solidFill>
            </a:endParaRPr>
          </a:p>
        </p:txBody>
      </p:sp>
      <p:sp>
        <p:nvSpPr>
          <p:cNvPr id="27" name="TextBox 26"/>
          <p:cNvSpPr txBox="1"/>
          <p:nvPr/>
        </p:nvSpPr>
        <p:spPr>
          <a:xfrm>
            <a:off x="4084320" y="4887626"/>
            <a:ext cx="1927860" cy="302802"/>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Estimate </a:t>
            </a:r>
            <a:r>
              <a:rPr lang="en-US" sz="1300" dirty="0" smtClean="0">
                <a:solidFill>
                  <a:schemeClr val="tx1"/>
                </a:solidFill>
              </a:rPr>
              <a:t>Cash Flow</a:t>
            </a:r>
            <a:endParaRPr lang="en-US" sz="1300" dirty="0">
              <a:solidFill>
                <a:schemeClr val="tx1"/>
              </a:solidFill>
            </a:endParaRPr>
          </a:p>
        </p:txBody>
      </p:sp>
      <p:sp>
        <p:nvSpPr>
          <p:cNvPr id="28" name="TextBox 27"/>
          <p:cNvSpPr txBox="1"/>
          <p:nvPr/>
        </p:nvSpPr>
        <p:spPr>
          <a:xfrm>
            <a:off x="7479982" y="4888625"/>
            <a:ext cx="1927860" cy="287414"/>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Prepayment Model</a:t>
            </a:r>
            <a:endParaRPr lang="en-US" sz="1300" dirty="0">
              <a:solidFill>
                <a:schemeClr val="tx1"/>
              </a:solidFill>
            </a:endParaRPr>
          </a:p>
        </p:txBody>
      </p:sp>
      <p:cxnSp>
        <p:nvCxnSpPr>
          <p:cNvPr id="29" name="Straight Arrow Connector 28"/>
          <p:cNvCxnSpPr>
            <a:stCxn id="27" idx="1"/>
            <a:endCxn id="26" idx="3"/>
          </p:cNvCxnSpPr>
          <p:nvPr/>
        </p:nvCxnSpPr>
        <p:spPr>
          <a:xfrm flipH="1">
            <a:off x="2613660" y="5039027"/>
            <a:ext cx="1470660"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1"/>
            <a:endCxn id="27" idx="3"/>
          </p:cNvCxnSpPr>
          <p:nvPr/>
        </p:nvCxnSpPr>
        <p:spPr>
          <a:xfrm flipH="1">
            <a:off x="6012180" y="5032332"/>
            <a:ext cx="1467802" cy="6695"/>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1538" name="TextBox 321537"/>
          <p:cNvSpPr txBox="1"/>
          <p:nvPr/>
        </p:nvSpPr>
        <p:spPr>
          <a:xfrm>
            <a:off x="971550"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Our Goal</a:t>
            </a:r>
            <a:endParaRPr lang="en-US" sz="1400" dirty="0">
              <a:latin typeface="Arial" panose="020B0604020202020204" pitchFamily="34" charset="0"/>
              <a:cs typeface="Arial" panose="020B0604020202020204" pitchFamily="34" charset="0"/>
            </a:endParaRPr>
          </a:p>
        </p:txBody>
      </p:sp>
      <p:sp>
        <p:nvSpPr>
          <p:cNvPr id="35" name="TextBox 34"/>
          <p:cNvSpPr txBox="1"/>
          <p:nvPr/>
        </p:nvSpPr>
        <p:spPr>
          <a:xfrm>
            <a:off x="4333875"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Key</a:t>
            </a:r>
            <a:endParaRPr lang="en-US" sz="1400" dirty="0">
              <a:latin typeface="Arial" panose="020B0604020202020204" pitchFamily="34" charset="0"/>
              <a:cs typeface="Arial" panose="020B0604020202020204" pitchFamily="34" charset="0"/>
            </a:endParaRPr>
          </a:p>
        </p:txBody>
      </p:sp>
      <p:sp>
        <p:nvSpPr>
          <p:cNvPr id="36" name="TextBox 35"/>
          <p:cNvSpPr txBox="1"/>
          <p:nvPr/>
        </p:nvSpPr>
        <p:spPr>
          <a:xfrm>
            <a:off x="7729537"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Foundation</a:t>
            </a:r>
            <a:endParaRPr lang="en-US" sz="1400" dirty="0">
              <a:latin typeface="Arial" panose="020B0604020202020204" pitchFamily="34" charset="0"/>
              <a:cs typeface="Arial" panose="020B0604020202020204" pitchFamily="34" charset="0"/>
            </a:endParaRPr>
          </a:p>
        </p:txBody>
      </p:sp>
      <p:cxnSp>
        <p:nvCxnSpPr>
          <p:cNvPr id="37" name="Curved Connector 36"/>
          <p:cNvCxnSpPr>
            <a:stCxn id="28" idx="2"/>
            <a:endCxn id="26" idx="2"/>
          </p:cNvCxnSpPr>
          <p:nvPr/>
        </p:nvCxnSpPr>
        <p:spPr>
          <a:xfrm rot="5400000">
            <a:off x="5039627" y="1786142"/>
            <a:ext cx="14389" cy="6794182"/>
          </a:xfrm>
          <a:prstGeom prst="curvedConnector3">
            <a:avLst>
              <a:gd name="adj1" fmla="val 2880249"/>
            </a:avLst>
          </a:prstGeom>
          <a:ln w="57150">
            <a:solidFill>
              <a:schemeClr val="accent1">
                <a:lumMod val="40000"/>
                <a:lumOff val="60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latin typeface="Arial" panose="020B0604020202020204" pitchFamily="34" charset="0"/>
                <a:cs typeface="Arial" panose="020B0604020202020204" pitchFamily="34" charset="0"/>
              </a:rPr>
              <a:t>What is Prepayment Model</a:t>
            </a:r>
            <a:endParaRPr lang="en-US" sz="1200" b="0" dirty="0">
              <a:latin typeface="Arial" panose="020B0604020202020204" pitchFamily="34" charset="0"/>
              <a:cs typeface="Arial" panose="020B0604020202020204" pitchFamily="34" charset="0"/>
            </a:endParaRPr>
          </a:p>
        </p:txBody>
      </p:sp>
      <p:sp>
        <p:nvSpPr>
          <p:cNvPr id="2" name="TextBox 1"/>
          <p:cNvSpPr txBox="1"/>
          <p:nvPr/>
        </p:nvSpPr>
        <p:spPr>
          <a:xfrm>
            <a:off x="1019174" y="1554445"/>
            <a:ext cx="7953375"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prepayment model is a model to describe and predict the homeowners’ prepayment behavior. </a:t>
            </a:r>
            <a:endParaRPr lang="en-US" sz="1400" dirty="0" smtClean="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We analyze the four kinds of prepayment separately and then combine their influence together. </a:t>
            </a:r>
          </a:p>
        </p:txBody>
      </p:sp>
      <p:sp>
        <p:nvSpPr>
          <p:cNvPr id="3" name="Oval 2"/>
          <p:cNvSpPr/>
          <p:nvPr/>
        </p:nvSpPr>
        <p:spPr>
          <a:xfrm>
            <a:off x="1295400" y="2341244"/>
            <a:ext cx="1463040" cy="14630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Prepayment</a:t>
            </a:r>
          </a:p>
          <a:p>
            <a:pPr algn="ctr"/>
            <a:r>
              <a:rPr lang="en-US" sz="1200" dirty="0">
                <a:latin typeface="Arial" panose="020B0604020202020204" pitchFamily="34" charset="0"/>
                <a:cs typeface="Arial" panose="020B0604020202020204" pitchFamily="34" charset="0"/>
              </a:rPr>
              <a:t>A</a:t>
            </a:r>
            <a:r>
              <a:rPr lang="en-US" sz="1200" dirty="0" smtClean="0">
                <a:latin typeface="Arial" panose="020B0604020202020204" pitchFamily="34" charset="0"/>
                <a:cs typeface="Arial" panose="020B0604020202020204" pitchFamily="34" charset="0"/>
              </a:rPr>
              <a:t>ctivities</a:t>
            </a:r>
            <a:endParaRPr lang="en-US" sz="1200" dirty="0">
              <a:latin typeface="Arial" panose="020B0604020202020204" pitchFamily="34" charset="0"/>
              <a:cs typeface="Arial" panose="020B0604020202020204" pitchFamily="34" charset="0"/>
            </a:endParaRPr>
          </a:p>
        </p:txBody>
      </p:sp>
      <p:graphicFrame>
        <p:nvGraphicFramePr>
          <p:cNvPr id="5" name="Chart 4"/>
          <p:cNvGraphicFramePr/>
          <p:nvPr>
            <p:extLst>
              <p:ext uri="{D42A27DB-BD31-4B8C-83A1-F6EECF244321}">
                <p14:modId xmlns:p14="http://schemas.microsoft.com/office/powerpoint/2010/main" val="1768010685"/>
              </p:ext>
            </p:extLst>
          </p:nvPr>
        </p:nvGraphicFramePr>
        <p:xfrm>
          <a:off x="4103489" y="1816055"/>
          <a:ext cx="1897261" cy="2513419"/>
        </p:xfrm>
        <a:graphic>
          <a:graphicData uri="http://schemas.openxmlformats.org/drawingml/2006/chart">
            <c:chart xmlns:c="http://schemas.openxmlformats.org/drawingml/2006/chart" xmlns:r="http://schemas.openxmlformats.org/officeDocument/2006/relationships" r:id="rId5"/>
          </a:graphicData>
        </a:graphic>
      </p:graphicFrame>
      <p:sp>
        <p:nvSpPr>
          <p:cNvPr id="6" name="Oval 5"/>
          <p:cNvSpPr/>
          <p:nvPr/>
        </p:nvSpPr>
        <p:spPr>
          <a:xfrm>
            <a:off x="7115175" y="2341244"/>
            <a:ext cx="1463040" cy="1463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Quantitative Prepayment Speed</a:t>
            </a:r>
            <a:endParaRPr lang="en-US" sz="1200" dirty="0">
              <a:latin typeface="Arial" panose="020B0604020202020204" pitchFamily="34" charset="0"/>
              <a:cs typeface="Arial" panose="020B0604020202020204" pitchFamily="34" charset="0"/>
            </a:endParaRPr>
          </a:p>
        </p:txBody>
      </p:sp>
      <p:sp>
        <p:nvSpPr>
          <p:cNvPr id="7" name="AutoShape 12"/>
          <p:cNvSpPr>
            <a:spLocks noChangeArrowheads="1"/>
          </p:cNvSpPr>
          <p:nvPr>
            <p:custDataLst>
              <p:tags r:id="rId1"/>
            </p:custDataLst>
          </p:nvPr>
        </p:nvSpPr>
        <p:spPr bwMode="auto">
          <a:xfrm>
            <a:off x="32781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sp>
        <p:nvSpPr>
          <p:cNvPr id="8" name="AutoShape 12"/>
          <p:cNvSpPr>
            <a:spLocks noChangeArrowheads="1"/>
          </p:cNvSpPr>
          <p:nvPr>
            <p:custDataLst>
              <p:tags r:id="rId2"/>
            </p:custDataLst>
          </p:nvPr>
        </p:nvSpPr>
        <p:spPr bwMode="auto">
          <a:xfrm>
            <a:off x="64785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graphicFrame>
        <p:nvGraphicFramePr>
          <p:cNvPr id="9" name="Chart 8"/>
          <p:cNvGraphicFramePr/>
          <p:nvPr>
            <p:extLst>
              <p:ext uri="{D42A27DB-BD31-4B8C-83A1-F6EECF244321}">
                <p14:modId xmlns:p14="http://schemas.microsoft.com/office/powerpoint/2010/main" val="2428156114"/>
              </p:ext>
            </p:extLst>
          </p:nvPr>
        </p:nvGraphicFramePr>
        <p:xfrm>
          <a:off x="5581650" y="4548549"/>
          <a:ext cx="3976687" cy="2576151"/>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p:cNvSpPr txBox="1"/>
          <p:nvPr/>
        </p:nvSpPr>
        <p:spPr>
          <a:xfrm>
            <a:off x="923925" y="4695319"/>
            <a:ext cx="4181475" cy="1600438"/>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Use </a:t>
            </a:r>
            <a:r>
              <a:rPr lang="en-US" sz="1400" dirty="0">
                <a:latin typeface="Arial" panose="020B0604020202020204" pitchFamily="34" charset="0"/>
                <a:cs typeface="Arial" panose="020B0604020202020204" pitchFamily="34" charset="0"/>
              </a:rPr>
              <a:t>rates like SMM, CPR and PSA rate to describe the prepayment speed</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SMM </a:t>
            </a:r>
            <a:r>
              <a:rPr lang="en-US" sz="1400" dirty="0">
                <a:latin typeface="Arial" panose="020B0604020202020204" pitchFamily="34" charset="0"/>
                <a:cs typeface="Arial" panose="020B0604020202020204" pitchFamily="34" charset="0"/>
              </a:rPr>
              <a:t>converts the dollar amount into prepayment rate per dollar. </a:t>
            </a:r>
            <a:endParaRPr lang="en-US"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CPR </a:t>
            </a:r>
            <a:r>
              <a:rPr lang="en-US" sz="1400" dirty="0">
                <a:latin typeface="Arial" panose="020B0604020202020204" pitchFamily="34" charset="0"/>
                <a:cs typeface="Arial" panose="020B0604020202020204" pitchFamily="34" charset="0"/>
              </a:rPr>
              <a:t>is the corresponded annual value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PSA </a:t>
            </a:r>
            <a:r>
              <a:rPr lang="en-US" sz="1400" dirty="0">
                <a:latin typeface="Arial" panose="020B0604020202020204" pitchFamily="34" charset="0"/>
                <a:cs typeface="Arial" panose="020B0604020202020204" pitchFamily="34" charset="0"/>
              </a:rPr>
              <a:t>uses a benchmark prepayment curve</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11" name="Straight Connector 10"/>
          <p:cNvCxnSpPr/>
          <p:nvPr/>
        </p:nvCxnSpPr>
        <p:spPr>
          <a:xfrm>
            <a:off x="1181100" y="4192488"/>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278124" y="4038600"/>
            <a:ext cx="3329781"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Measuring Prepayment Rates</a:t>
            </a:r>
            <a:endParaRPr lang="en-US" sz="1600" dirty="0">
              <a:latin typeface="Arial" panose="020B0604020202020204" pitchFamily="34" charset="0"/>
              <a:cs typeface="Arial" panose="020B0604020202020204" pitchFamily="34" charset="0"/>
            </a:endParaRPr>
          </a:p>
        </p:txBody>
      </p:sp>
      <p:cxnSp>
        <p:nvCxnSpPr>
          <p:cNvPr id="14" name="Straight Connector 13"/>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09689" y="1156568"/>
            <a:ext cx="3913584"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Prepayment Model with Sub-components</a:t>
            </a:r>
            <a:endParaRPr lang="en-US" sz="1600" dirty="0">
              <a:latin typeface="Arial" panose="020B0604020202020204" pitchFamily="34" charset="0"/>
              <a:cs typeface="Arial" panose="020B0604020202020204" pitchFamily="34" charset="0"/>
            </a:endParaRPr>
          </a:p>
        </p:txBody>
      </p:sp>
      <p:sp>
        <p:nvSpPr>
          <p:cNvPr id="13" name="TextBox 12"/>
          <p:cNvSpPr txBox="1"/>
          <p:nvPr/>
        </p:nvSpPr>
        <p:spPr>
          <a:xfrm>
            <a:off x="5105400" y="2510038"/>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Curtail</a:t>
            </a:r>
            <a:endParaRPr lang="en-US" sz="1050" dirty="0">
              <a:solidFill>
                <a:schemeClr val="bg1"/>
              </a:solidFill>
              <a:latin typeface="Arial" panose="020B0604020202020204" pitchFamily="34" charset="0"/>
              <a:cs typeface="Arial" panose="020B0604020202020204" pitchFamily="34" charset="0"/>
            </a:endParaRPr>
          </a:p>
        </p:txBody>
      </p:sp>
      <p:sp>
        <p:nvSpPr>
          <p:cNvPr id="17" name="TextBox 16"/>
          <p:cNvSpPr txBox="1"/>
          <p:nvPr/>
        </p:nvSpPr>
        <p:spPr>
          <a:xfrm>
            <a:off x="5105400"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Default</a:t>
            </a:r>
            <a:endParaRPr lang="en-US" sz="1050" dirty="0">
              <a:solidFill>
                <a:schemeClr val="bg1"/>
              </a:solidFill>
              <a:latin typeface="Arial" panose="020B0604020202020204" pitchFamily="34" charset="0"/>
              <a:cs typeface="Arial" panose="020B0604020202020204" pitchFamily="34" charset="0"/>
            </a:endParaRPr>
          </a:p>
        </p:txBody>
      </p:sp>
      <p:sp>
        <p:nvSpPr>
          <p:cNvPr id="18" name="TextBox 17"/>
          <p:cNvSpPr txBox="1"/>
          <p:nvPr/>
        </p:nvSpPr>
        <p:spPr>
          <a:xfrm>
            <a:off x="4314824" y="2510038"/>
            <a:ext cx="981076"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Refinancing</a:t>
            </a:r>
            <a:endParaRPr lang="en-US" sz="1050" dirty="0">
              <a:solidFill>
                <a:schemeClr val="bg1"/>
              </a:solidFill>
              <a:latin typeface="Arial" panose="020B0604020202020204" pitchFamily="34" charset="0"/>
              <a:cs typeface="Arial" panose="020B0604020202020204" pitchFamily="34" charset="0"/>
            </a:endParaRPr>
          </a:p>
        </p:txBody>
      </p:sp>
      <p:sp>
        <p:nvSpPr>
          <p:cNvPr id="19" name="TextBox 18"/>
          <p:cNvSpPr txBox="1"/>
          <p:nvPr/>
        </p:nvSpPr>
        <p:spPr>
          <a:xfrm>
            <a:off x="4314824"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Turnover</a:t>
            </a:r>
            <a:endParaRPr lang="en-US" sz="1050" dirty="0">
              <a:solidFill>
                <a:schemeClr val="bg1"/>
              </a:solidFill>
              <a:latin typeface="Arial" panose="020B0604020202020204" pitchFamily="34" charset="0"/>
              <a:cs typeface="Arial" panose="020B0604020202020204" pitchFamily="34" charset="0"/>
            </a:endParaRPr>
          </a:p>
        </p:txBody>
      </p:sp>
      <p:sp>
        <p:nvSpPr>
          <p:cNvPr id="16" name="TextBox 15"/>
          <p:cNvSpPr txBox="1"/>
          <p:nvPr/>
        </p:nvSpPr>
        <p:spPr>
          <a:xfrm>
            <a:off x="1838325" y="3306863"/>
            <a:ext cx="428625" cy="400110"/>
          </a:xfrm>
          <a:prstGeom prst="rect">
            <a:avLst/>
          </a:prstGeom>
          <a:noFill/>
        </p:spPr>
        <p:txBody>
          <a:bodyPr wrap="square" rtlCol="0">
            <a:spAutoFit/>
          </a:bodyPr>
          <a:lstStyle/>
          <a:p>
            <a:pPr algn="ctr"/>
            <a:r>
              <a:rPr lang="en-US" sz="2000" b="1" dirty="0" smtClean="0">
                <a:solidFill>
                  <a:schemeClr val="bg1"/>
                </a:solidFill>
                <a:latin typeface="Arial" panose="020B0604020202020204" pitchFamily="34" charset="0"/>
                <a:cs typeface="Arial" panose="020B0604020202020204" pitchFamily="34" charset="0"/>
              </a:rPr>
              <a:t>?</a:t>
            </a:r>
            <a:endParaRPr lang="en-US" sz="2000" b="1" dirty="0">
              <a:solidFill>
                <a:schemeClr val="bg1"/>
              </a:solidFill>
              <a:latin typeface="Arial" panose="020B0604020202020204" pitchFamily="34" charset="0"/>
              <a:cs typeface="Arial" panose="020B0604020202020204" pitchFamily="34" charset="0"/>
            </a:endParaRPr>
          </a:p>
        </p:txBody>
      </p:sp>
      <p:sp>
        <p:nvSpPr>
          <p:cNvPr id="21" name="Text Box 4"/>
          <p:cNvSpPr txBox="1">
            <a:spLocks noChangeArrowheads="1"/>
          </p:cNvSpPr>
          <p:nvPr>
            <p:custDataLst>
              <p:tags r:id="rId3"/>
            </p:custDataLst>
          </p:nvPr>
        </p:nvSpPr>
        <p:spPr bwMode="auto">
          <a:xfrm flipH="1">
            <a:off x="7681357" y="3306863"/>
            <a:ext cx="330675" cy="492443"/>
          </a:xfrm>
          <a:prstGeom prst="rect">
            <a:avLst/>
          </a:prstGeom>
          <a:noFill/>
          <a:ln w="6350" algn="ctr">
            <a:noFill/>
            <a:miter lim="800000"/>
            <a:headEnd/>
            <a:tailEnd/>
          </a:ln>
        </p:spPr>
        <p:txBody>
          <a:bodyPr wrap="square" lIns="0" tIns="0" rIns="0" bIns="0">
            <a:spAutoFit/>
          </a:bodyPr>
          <a:lstStyle/>
          <a:p>
            <a:r>
              <a:rPr lang="en-US" altLang="ja-JP"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rPr>
              <a:t></a:t>
            </a:r>
            <a:endParaRPr lang="en-US"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endParaRPr>
          </a:p>
        </p:txBody>
      </p:sp>
    </p:spTree>
    <p:extLst>
      <p:ext uri="{BB962C8B-B14F-4D97-AF65-F5344CB8AC3E}">
        <p14:creationId xmlns:p14="http://schemas.microsoft.com/office/powerpoint/2010/main" val="996928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a:solidFill>
                  <a:schemeClr val="tx1"/>
                </a:solidFill>
              </a:rPr>
              <a:t>Spine calculation</a:t>
            </a:r>
            <a:br>
              <a:rPr lang="en-US" dirty="0">
                <a:solidFill>
                  <a:schemeClr val="tx1"/>
                </a:solidFill>
              </a:rPr>
            </a:br>
            <a:r>
              <a:rPr lang="en-US" dirty="0">
                <a:solidFill>
                  <a:schemeClr val="tx1"/>
                </a:solidFill>
              </a:rPr>
              <a:t>Media Effect</a:t>
            </a:r>
            <a:br>
              <a:rPr lang="en-US" dirty="0">
                <a:solidFill>
                  <a:schemeClr val="tx1"/>
                </a:solidFill>
              </a:rPr>
            </a:br>
            <a:r>
              <a:rPr lang="en-US" dirty="0">
                <a:solidFill>
                  <a:schemeClr val="tx1"/>
                </a:solidFill>
              </a:rPr>
              <a:t>Credit Availability</a:t>
            </a:r>
            <a:br>
              <a:rPr lang="en-US" dirty="0">
                <a:solidFill>
                  <a:schemeClr val="tx1"/>
                </a:solidFill>
              </a:rPr>
            </a:br>
            <a:r>
              <a:rPr lang="en-US" dirty="0">
                <a:solidFill>
                  <a:schemeClr val="tx1"/>
                </a:solidFill>
              </a:rPr>
              <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r>
              <a:rPr lang="en-US" sz="2400" b="1" dirty="0"/>
              <a:t>Model </a:t>
            </a:r>
            <a:r>
              <a:rPr lang="en-US" sz="2400" b="1" dirty="0" smtClean="0"/>
              <a:t>Fitting</a:t>
            </a:r>
            <a:endParaRPr lang="en-US" sz="2400" b="1" dirty="0"/>
          </a:p>
          <a:p>
            <a:endParaRPr lang="en-US" dirty="0"/>
          </a:p>
        </p:txBody>
      </p:sp>
    </p:spTree>
    <p:extLst>
      <p:ext uri="{BB962C8B-B14F-4D97-AF65-F5344CB8AC3E}">
        <p14:creationId xmlns:p14="http://schemas.microsoft.com/office/powerpoint/2010/main" val="539764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a:latin typeface="Arial" panose="020B0604020202020204" pitchFamily="34" charset="0"/>
                <a:cs typeface="Arial" panose="020B0604020202020204" pitchFamily="34" charset="0"/>
              </a:rPr>
              <a:t>Factors in prepayment model</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4" name="Rectangle 33"/>
          <p:cNvSpPr/>
          <p:nvPr/>
        </p:nvSpPr>
        <p:spPr>
          <a:xfrm>
            <a:off x="657225" y="17430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Borrower Characteristics </a:t>
            </a:r>
            <a:endParaRPr lang="en-US" sz="1100" b="1" dirty="0">
              <a:latin typeface="Arial" panose="020B0604020202020204" pitchFamily="34" charset="0"/>
              <a:cs typeface="Arial" panose="020B0604020202020204" pitchFamily="34" charset="0"/>
            </a:endParaRPr>
          </a:p>
        </p:txBody>
      </p:sp>
      <p:sp>
        <p:nvSpPr>
          <p:cNvPr id="35" name="Rectangle 34"/>
          <p:cNvSpPr/>
          <p:nvPr/>
        </p:nvSpPr>
        <p:spPr>
          <a:xfrm>
            <a:off x="657225" y="25431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Loan Characteristics </a:t>
            </a:r>
            <a:endParaRPr lang="en-US" sz="1100" b="1" dirty="0">
              <a:latin typeface="Arial" panose="020B0604020202020204" pitchFamily="34" charset="0"/>
              <a:cs typeface="Arial" panose="020B0604020202020204" pitchFamily="34" charset="0"/>
            </a:endParaRPr>
          </a:p>
        </p:txBody>
      </p:sp>
      <p:sp>
        <p:nvSpPr>
          <p:cNvPr id="36" name="Rectangle 35"/>
          <p:cNvSpPr/>
          <p:nvPr/>
        </p:nvSpPr>
        <p:spPr>
          <a:xfrm>
            <a:off x="657225" y="3752850"/>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100" b="1" dirty="0" smtClean="0">
                <a:latin typeface="Arial" panose="020B0604020202020204" pitchFamily="34" charset="0"/>
                <a:cs typeface="Arial" panose="020B0604020202020204" pitchFamily="34" charset="0"/>
              </a:rPr>
              <a:t>Macro Economic </a:t>
            </a:r>
            <a:r>
              <a:rPr lang="en-US" sz="1100" b="1" dirty="0">
                <a:latin typeface="Arial" panose="020B0604020202020204" pitchFamily="34" charset="0"/>
                <a:cs typeface="Arial" panose="020B0604020202020204" pitchFamily="34" charset="0"/>
              </a:rPr>
              <a:t>Variable</a:t>
            </a:r>
          </a:p>
        </p:txBody>
      </p:sp>
      <p:graphicFrame>
        <p:nvGraphicFramePr>
          <p:cNvPr id="38" name="Table 37"/>
          <p:cNvGraphicFramePr>
            <a:graphicFrameLocks noGrp="1"/>
          </p:cNvGraphicFramePr>
          <p:nvPr>
            <p:extLst>
              <p:ext uri="{D42A27DB-BD31-4B8C-83A1-F6EECF244321}">
                <p14:modId xmlns:p14="http://schemas.microsoft.com/office/powerpoint/2010/main" val="3051062394"/>
              </p:ext>
            </p:extLst>
          </p:nvPr>
        </p:nvGraphicFramePr>
        <p:xfrm>
          <a:off x="2271395" y="1743075"/>
          <a:ext cx="4272280" cy="187071"/>
        </p:xfrm>
        <a:graphic>
          <a:graphicData uri="http://schemas.openxmlformats.org/drawingml/2006/table">
            <a:tbl>
              <a:tblPr firstRow="1" firstCol="1" bandRow="1">
                <a:tableStyleId>{5940675A-B579-460E-94D1-54222C63F5DA}</a:tableStyleId>
              </a:tblPr>
              <a:tblGrid>
                <a:gridCol w="1039044"/>
                <a:gridCol w="3233236"/>
              </a:tblGrid>
              <a:tr h="0">
                <a:tc>
                  <a:txBody>
                    <a:bodyPr/>
                    <a:lstStyle/>
                    <a:p>
                      <a:pPr marL="0" marR="0">
                        <a:lnSpc>
                          <a:spcPct val="107000"/>
                        </a:lnSpc>
                        <a:spcBef>
                          <a:spcPts val="0"/>
                        </a:spcBef>
                        <a:spcAft>
                          <a:spcPts val="0"/>
                        </a:spcAft>
                      </a:pPr>
                      <a:r>
                        <a:rPr lang="en-US" sz="1200" dirty="0"/>
                        <a:t>FICO</a:t>
                      </a:r>
                      <a:endParaRPr lang="en-US" sz="1200" b="0" dirty="0"/>
                    </a:p>
                  </a:txBody>
                  <a:tcPr marL="68580" marR="68580" marT="0" marB="0">
                    <a:solidFill>
                      <a:schemeClr val="accent2">
                        <a:lumMod val="20000"/>
                        <a:lumOff val="80000"/>
                      </a:schemeClr>
                    </a:solidFill>
                  </a:tcPr>
                </a:tc>
                <a:tc>
                  <a:txBody>
                    <a:bodyPr/>
                    <a:lstStyle/>
                    <a:p>
                      <a:pPr marL="0" marR="0">
                        <a:lnSpc>
                          <a:spcPct val="107000"/>
                        </a:lnSpc>
                        <a:spcBef>
                          <a:spcPts val="0"/>
                        </a:spcBef>
                        <a:spcAft>
                          <a:spcPts val="0"/>
                        </a:spcAft>
                      </a:pPr>
                      <a:r>
                        <a:rPr lang="en-US" sz="1200" dirty="0"/>
                        <a:t>Credit Scoring</a:t>
                      </a:r>
                      <a:endParaRPr lang="en-US" sz="1200" b="0" dirty="0"/>
                    </a:p>
                  </a:txBody>
                  <a:tcPr marL="68580" marR="68580" marT="0" marB="0">
                    <a:solidFill>
                      <a:schemeClr val="accent2">
                        <a:lumMod val="20000"/>
                        <a:lumOff val="80000"/>
                      </a:schemeClr>
                    </a:solidFill>
                  </a:tcPr>
                </a:tc>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2603746723"/>
              </p:ext>
            </p:extLst>
          </p:nvPr>
        </p:nvGraphicFramePr>
        <p:xfrm>
          <a:off x="2271395" y="2543175"/>
          <a:ext cx="4272280" cy="935355"/>
        </p:xfrm>
        <a:graphic>
          <a:graphicData uri="http://schemas.openxmlformats.org/drawingml/2006/table">
            <a:tbl>
              <a:tblPr firstRow="1" firstCol="1" bandRow="1">
                <a:tableStyleId>{5940675A-B579-460E-94D1-54222C63F5DA}</a:tableStyleId>
              </a:tblPr>
              <a:tblGrid>
                <a:gridCol w="1053439"/>
                <a:gridCol w="3218841"/>
              </a:tblGrid>
              <a:tr h="0">
                <a:tc>
                  <a:txBody>
                    <a:bodyPr/>
                    <a:lstStyle/>
                    <a:p>
                      <a:pPr marL="0" marR="0" algn="l" defTabSz="1018472" rtl="0" eaLnBrk="1" latinLnBrk="0" hangingPunct="1">
                        <a:lnSpc>
                          <a:spcPct val="107000"/>
                        </a:lnSpc>
                        <a:spcBef>
                          <a:spcPts val="0"/>
                        </a:spcBef>
                        <a:spcAft>
                          <a:spcPts val="0"/>
                        </a:spcAft>
                      </a:pPr>
                      <a:r>
                        <a:rPr lang="en-US" sz="1200" kern="1200" dirty="0"/>
                        <a:t>ACLS</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Loan Size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a:t>WAC</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Weighted Average Coupon (Pool Loan Rate)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a:t>WALA</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Seasoning (Loan Age)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a:t>LTV</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Loan to Value Ratio (Loan Equity)</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a:t>Burnout</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Current to Original Balance Ratio (Pool Factor)</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14898033"/>
              </p:ext>
            </p:extLst>
          </p:nvPr>
        </p:nvGraphicFramePr>
        <p:xfrm>
          <a:off x="2271395" y="3772154"/>
          <a:ext cx="4272280" cy="587121"/>
        </p:xfrm>
        <a:graphic>
          <a:graphicData uri="http://schemas.openxmlformats.org/drawingml/2006/table">
            <a:tbl>
              <a:tblPr firstRow="1" firstCol="1" bandRow="1">
                <a:tableStyleId>{5940675A-B579-460E-94D1-54222C63F5DA}</a:tableStyleId>
              </a:tblPr>
              <a:tblGrid>
                <a:gridCol w="1053439"/>
                <a:gridCol w="3218841"/>
              </a:tblGrid>
              <a:tr h="0">
                <a:tc>
                  <a:txBody>
                    <a:bodyPr/>
                    <a:lstStyle/>
                    <a:p>
                      <a:pPr marL="0" marR="0" algn="l" defTabSz="1018472" rtl="0" eaLnBrk="1" latinLnBrk="0" hangingPunct="1">
                        <a:lnSpc>
                          <a:spcPct val="107000"/>
                        </a:lnSpc>
                        <a:spcBef>
                          <a:spcPts val="0"/>
                        </a:spcBef>
                        <a:spcAft>
                          <a:spcPts val="0"/>
                        </a:spcAft>
                      </a:pPr>
                      <a:r>
                        <a:rPr lang="en-US" sz="1200" kern="1200" dirty="0"/>
                        <a:t>HPA</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Housing </a:t>
                      </a:r>
                      <a:r>
                        <a:rPr lang="en-US" sz="1200" kern="1200" dirty="0" err="1"/>
                        <a:t>Mkt</a:t>
                      </a:r>
                      <a:r>
                        <a:rPr lang="en-US" sz="1200" kern="1200" dirty="0"/>
                        <a:t> Health</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a:t>PMM</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Mortgage Rate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a:t>MONTH</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Seasonal</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sp>
        <p:nvSpPr>
          <p:cNvPr id="42" name="Isosceles Triangle 41"/>
          <p:cNvSpPr/>
          <p:nvPr/>
        </p:nvSpPr>
        <p:spPr>
          <a:xfrm rot="5400000">
            <a:off x="6057900" y="2855119"/>
            <a:ext cx="2000250" cy="242887"/>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3" name="Rectangle 42"/>
          <p:cNvSpPr/>
          <p:nvPr/>
        </p:nvSpPr>
        <p:spPr>
          <a:xfrm>
            <a:off x="7772400" y="1800225"/>
            <a:ext cx="1476375" cy="249555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Input of</a:t>
            </a:r>
          </a:p>
          <a:p>
            <a:pPr algn="ctr"/>
            <a:r>
              <a:rPr lang="en-US" sz="1400" dirty="0" smtClean="0">
                <a:latin typeface="Arial" panose="020B0604020202020204" pitchFamily="34" charset="0"/>
                <a:cs typeface="Arial" panose="020B0604020202020204" pitchFamily="34" charset="0"/>
              </a:rPr>
              <a:t>Prepayment</a:t>
            </a:r>
          </a:p>
          <a:p>
            <a:pPr algn="ctr"/>
            <a:r>
              <a:rPr lang="en-US" sz="1400" dirty="0" smtClean="0">
                <a:latin typeface="Arial" panose="020B0604020202020204" pitchFamily="34" charset="0"/>
                <a:cs typeface="Arial" panose="020B0604020202020204" pitchFamily="34" charset="0"/>
              </a:rPr>
              <a:t>Model</a:t>
            </a:r>
            <a:endParaRPr lang="en-US" sz="1400" dirty="0">
              <a:latin typeface="Arial" panose="020B0604020202020204" pitchFamily="34" charset="0"/>
              <a:cs typeface="Arial" panose="020B0604020202020204" pitchFamily="34" charset="0"/>
            </a:endParaRPr>
          </a:p>
        </p:txBody>
      </p:sp>
      <p:cxnSp>
        <p:nvCxnSpPr>
          <p:cNvPr id="44" name="Straight Connector 43"/>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867026" y="1123950"/>
            <a:ext cx="4381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a:latin typeface="Arial" panose="020B0604020202020204" pitchFamily="34" charset="0"/>
                <a:cs typeface="Arial" panose="020B0604020202020204" pitchFamily="34" charset="0"/>
              </a:rPr>
              <a:t>What inputs does a prepayment model </a:t>
            </a:r>
            <a:r>
              <a:rPr lang="en-US" sz="1600" dirty="0" smtClean="0">
                <a:latin typeface="Arial" panose="020B0604020202020204" pitchFamily="34" charset="0"/>
                <a:cs typeface="Arial" panose="020B0604020202020204" pitchFamily="34" charset="0"/>
              </a:rPr>
              <a:t>need</a:t>
            </a:r>
            <a:endParaRPr lang="en-US" sz="1600" dirty="0">
              <a:latin typeface="Arial" panose="020B0604020202020204" pitchFamily="34" charset="0"/>
              <a:cs typeface="Arial" panose="020B0604020202020204" pitchFamily="34" charset="0"/>
            </a:endParaRPr>
          </a:p>
        </p:txBody>
      </p:sp>
      <p:graphicFrame>
        <p:nvGraphicFramePr>
          <p:cNvPr id="47" name="Table 46"/>
          <p:cNvGraphicFramePr>
            <a:graphicFrameLocks noGrp="1"/>
          </p:cNvGraphicFramePr>
          <p:nvPr>
            <p:extLst>
              <p:ext uri="{D42A27DB-BD31-4B8C-83A1-F6EECF244321}">
                <p14:modId xmlns:p14="http://schemas.microsoft.com/office/powerpoint/2010/main" val="2967467173"/>
              </p:ext>
            </p:extLst>
          </p:nvPr>
        </p:nvGraphicFramePr>
        <p:xfrm>
          <a:off x="1885950" y="5239541"/>
          <a:ext cx="5781675" cy="1714500"/>
        </p:xfrm>
        <a:graphic>
          <a:graphicData uri="http://schemas.openxmlformats.org/drawingml/2006/table">
            <a:tbl>
              <a:tblPr firstRow="1" firstCol="1" bandRow="1">
                <a:tableStyleId>{5C22544A-7EE6-4342-B048-85BDC9FD1C3A}</a:tableStyleId>
              </a:tblPr>
              <a:tblGrid>
                <a:gridCol w="1404620"/>
                <a:gridCol w="1404620"/>
                <a:gridCol w="741045"/>
                <a:gridCol w="748665"/>
                <a:gridCol w="748665"/>
                <a:gridCol w="734060"/>
              </a:tblGrid>
              <a:tr h="0">
                <a:tc gridSpan="2">
                  <a:txBody>
                    <a:bodyPr/>
                    <a:lstStyle/>
                    <a:p>
                      <a:pPr marL="0" marR="0">
                        <a:lnSpc>
                          <a:spcPct val="107000"/>
                        </a:lnSpc>
                        <a:spcBef>
                          <a:spcPts val="0"/>
                        </a:spcBef>
                        <a:spcAft>
                          <a:spcPts val="0"/>
                        </a:spcAft>
                      </a:pPr>
                      <a:r>
                        <a:rPr lang="en-US" sz="1100" dirty="0">
                          <a:effectLst/>
                        </a:rPr>
                        <a:t>Input Parameter</a:t>
                      </a:r>
                      <a:endParaRPr lang="en-US" sz="1100" dirty="0">
                        <a:effectLst/>
                        <a:latin typeface="Calibri"/>
                        <a:ea typeface="SimSun"/>
                        <a:cs typeface="Times New Roman"/>
                      </a:endParaRP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r>
                        <a:rPr lang="en-US" sz="1100">
                          <a:effectLst/>
                        </a:rPr>
                        <a:t>Curt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Dflt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Turn</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Refi</a:t>
                      </a:r>
                      <a:endParaRPr lang="en-US" sz="1100">
                        <a:effectLst/>
                        <a:latin typeface="Calibri"/>
                        <a:ea typeface="SimSun"/>
                        <a:cs typeface="Times New Roman"/>
                      </a:endParaRPr>
                    </a:p>
                  </a:txBody>
                  <a:tcPr marL="68580" marR="68580" marT="0" marB="0"/>
                </a:tc>
              </a:tr>
              <a:tr h="0">
                <a:tc>
                  <a:txBody>
                    <a:bodyPr/>
                    <a:lstStyle/>
                    <a:p>
                      <a:pPr marL="0" marR="0">
                        <a:lnSpc>
                          <a:spcPct val="107000"/>
                        </a:lnSpc>
                        <a:spcBef>
                          <a:spcPts val="0"/>
                        </a:spcBef>
                        <a:spcAft>
                          <a:spcPts val="0"/>
                        </a:spcAft>
                      </a:pPr>
                      <a:r>
                        <a:rPr lang="en-US" sz="1100">
                          <a:effectLst/>
                        </a:rPr>
                        <a:t>Borrower</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FICO</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rowSpan="5">
                  <a:txBody>
                    <a:bodyPr/>
                    <a:lstStyle/>
                    <a:p>
                      <a:pPr marL="0" marR="0">
                        <a:lnSpc>
                          <a:spcPct val="107000"/>
                        </a:lnSpc>
                        <a:spcBef>
                          <a:spcPts val="0"/>
                        </a:spcBef>
                        <a:spcAft>
                          <a:spcPts val="0"/>
                        </a:spcAft>
                      </a:pPr>
                      <a:r>
                        <a:rPr lang="en-US" sz="1100">
                          <a:effectLst/>
                        </a:rPr>
                        <a:t>Loan</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ACLS</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WAC</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WALA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LTV</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Burnout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indent="0" algn="ctr" defTabSz="1018472" rtl="0" eaLnBrk="1" fontAlgn="auto" latinLnBrk="0" hangingPunct="1">
                        <a:lnSpc>
                          <a:spcPct val="107000"/>
                        </a:lnSpc>
                        <a:spcBef>
                          <a:spcPts val="0"/>
                        </a:spcBef>
                        <a:spcAft>
                          <a:spcPts val="0"/>
                        </a:spcAft>
                        <a:buClrTx/>
                        <a:buSzTx/>
                        <a:buFontTx/>
                        <a:buNone/>
                        <a:tabLst/>
                        <a:defRPr/>
                      </a:pPr>
                      <a:endParaRPr lang="en-US" sz="1100" dirty="0" smtClean="0">
                        <a:effectLst/>
                        <a:latin typeface="+mn-lt"/>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smtClean="0">
                          <a:effectLst/>
                        </a:rPr>
                        <a:t>•</a:t>
                      </a:r>
                      <a:endParaRPr lang="en-US" sz="1100" dirty="0">
                        <a:effectLst/>
                        <a:latin typeface="Calibri"/>
                        <a:ea typeface="SimSun"/>
                        <a:cs typeface="Times New Roman"/>
                      </a:endParaRPr>
                    </a:p>
                  </a:txBody>
                  <a:tcPr marL="68580" marR="68580" marT="0" marB="0"/>
                </a:tc>
              </a:tr>
              <a:tr h="0">
                <a:tc rowSpan="3">
                  <a:txBody>
                    <a:bodyPr/>
                    <a:lstStyle/>
                    <a:p>
                      <a:pPr marL="0" marR="0">
                        <a:lnSpc>
                          <a:spcPct val="107000"/>
                        </a:lnSpc>
                        <a:spcBef>
                          <a:spcPts val="0"/>
                        </a:spcBef>
                        <a:spcAft>
                          <a:spcPts val="0"/>
                        </a:spcAft>
                      </a:pPr>
                      <a:r>
                        <a:rPr lang="en-US" sz="1100" dirty="0">
                          <a:effectLst/>
                        </a:rPr>
                        <a:t>Macro-Economic</a:t>
                      </a:r>
                      <a:endParaRPr lang="en-US" sz="1100" dirty="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HPA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PMM</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MONTH</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a:effectLst/>
                        </a:rPr>
                        <a:t>•</a:t>
                      </a:r>
                      <a:endParaRPr lang="en-US" sz="1100" dirty="0">
                        <a:effectLst/>
                        <a:latin typeface="Calibri"/>
                        <a:ea typeface="SimSun"/>
                        <a:cs typeface="Times New Roman"/>
                      </a:endParaRPr>
                    </a:p>
                  </a:txBody>
                  <a:tcPr marL="68580" marR="68580" marT="0" marB="0"/>
                </a:tc>
              </a:tr>
            </a:tbl>
          </a:graphicData>
        </a:graphic>
      </p:graphicFrame>
      <p:cxnSp>
        <p:nvCxnSpPr>
          <p:cNvPr id="49" name="Straight Connector 48"/>
          <p:cNvCxnSpPr/>
          <p:nvPr/>
        </p:nvCxnSpPr>
        <p:spPr>
          <a:xfrm>
            <a:off x="1132284" y="4879775"/>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827609" y="4725887"/>
            <a:ext cx="6478191" cy="307777"/>
          </a:xfrm>
          <a:prstGeom prst="rect">
            <a:avLst/>
          </a:prstGeom>
          <a:solidFill>
            <a:schemeClr val="bg1"/>
          </a:solidFill>
        </p:spPr>
        <p:txBody>
          <a:bodyPr wrap="square" rtlCol="0">
            <a:spAutoFit/>
          </a:bodyPr>
          <a:lstStyle/>
          <a:p>
            <a:r>
              <a:rPr lang="en-US" sz="1400" dirty="0">
                <a:latin typeface="Arial" panose="020B0604020202020204" pitchFamily="34" charset="0"/>
                <a:cs typeface="Arial" panose="020B0604020202020204" pitchFamily="34" charset="0"/>
              </a:rPr>
              <a:t>Total SMM = curtailment SMM + default SMM + turnover SMM + refinance SMM</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01221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7542"/>
            <a:ext cx="6806130" cy="677966"/>
          </a:xfrm>
        </p:spPr>
        <p:txBody>
          <a:bodyPr/>
          <a:lstStyle/>
          <a:p>
            <a:r>
              <a:rPr lang="en-US" dirty="0">
                <a:latin typeface="Arial" panose="020B0604020202020204" pitchFamily="34" charset="0"/>
                <a:cs typeface="Arial" panose="020B0604020202020204" pitchFamily="34" charset="0"/>
              </a:rPr>
              <a:t>Modeling Overview and Structure</a:t>
            </a:r>
          </a:p>
        </p:txBody>
      </p:sp>
      <p:sp>
        <p:nvSpPr>
          <p:cNvPr id="4" name="Rectangle 3"/>
          <p:cNvSpPr/>
          <p:nvPr/>
        </p:nvSpPr>
        <p:spPr>
          <a:xfrm>
            <a:off x="1304925" y="1409700"/>
            <a:ext cx="70485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Inputs</a:t>
            </a:r>
            <a:endParaRPr lang="en-US"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062756947"/>
              </p:ext>
            </p:extLst>
          </p:nvPr>
        </p:nvGraphicFramePr>
        <p:xfrm>
          <a:off x="376237" y="2918143"/>
          <a:ext cx="2194560" cy="990600"/>
        </p:xfrm>
        <a:graphic>
          <a:graphicData uri="http://schemas.openxmlformats.org/drawingml/2006/table">
            <a:tbl>
              <a:tblPr/>
              <a:tblGrid>
                <a:gridCol w="757238"/>
                <a:gridCol w="1437322"/>
              </a:tblGrid>
              <a:tr h="302126">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Factor</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Method</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70682">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Month</a:t>
                      </a:r>
                      <a:endParaRPr lang="en-US" sz="100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least square optimal</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6" name="Rectangle 1"/>
          <p:cNvSpPr>
            <a:spLocks noChangeArrowheads="1"/>
          </p:cNvSpPr>
          <p:nvPr/>
        </p:nvSpPr>
        <p:spPr bwMode="auto">
          <a:xfrm>
            <a:off x="4938949" y="291814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734135862"/>
              </p:ext>
            </p:extLst>
          </p:nvPr>
        </p:nvGraphicFramePr>
        <p:xfrm>
          <a:off x="2748102" y="2918143"/>
          <a:ext cx="2194560" cy="2053586"/>
        </p:xfrm>
        <a:graphic>
          <a:graphicData uri="http://schemas.openxmlformats.org/drawingml/2006/table">
            <a:tbl>
              <a:tblPr/>
              <a:tblGrid>
                <a:gridCol w="908094"/>
                <a:gridCol w="1286466"/>
              </a:tblGrid>
              <a:tr h="317275">
                <a:tc gridSpan="2">
                  <a:txBody>
                    <a:bodyPr/>
                    <a:lstStyle/>
                    <a:p>
                      <a:pPr rtl="0" fontAlgn="t">
                        <a:spcBef>
                          <a:spcPts val="0"/>
                        </a:spcBef>
                        <a:spcAft>
                          <a:spcPts val="0"/>
                        </a:spcAft>
                      </a:pPr>
                      <a:r>
                        <a:rPr lang="en-US" sz="1000" b="0" i="0" u="none" strike="noStrike" dirty="0" err="1">
                          <a:solidFill>
                            <a:srgbClr val="000000"/>
                          </a:solidFill>
                          <a:effectLst/>
                          <a:latin typeface="Arial"/>
                        </a:rPr>
                        <a:t>constSMM</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cltv</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wala</a:t>
                      </a:r>
                      <a:r>
                        <a:rPr lang="en-US" sz="1000" b="0" i="0" u="none" strike="noStrike" dirty="0">
                          <a:solidFill>
                            <a:srgbClr val="000000"/>
                          </a:solidFill>
                          <a:effectLst/>
                          <a:latin typeface="Arial"/>
                        </a:rPr>
                        <a:t> * 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547080">
                <a:tc>
                  <a:txBody>
                    <a:bodyPr/>
                    <a:lstStyle/>
                    <a:p>
                      <a:pPr rtl="0" fontAlgn="t">
                        <a:spcBef>
                          <a:spcPts val="0"/>
                        </a:spcBef>
                        <a:spcAft>
                          <a:spcPts val="0"/>
                        </a:spcAft>
                      </a:pPr>
                      <a:r>
                        <a:rPr lang="en-US" sz="1000" b="0" i="0" u="none" strike="noStrike">
                          <a:solidFill>
                            <a:srgbClr val="000000"/>
                          </a:solidFill>
                          <a:effectLst/>
                          <a:latin typeface="Arial"/>
                        </a:rPr>
                        <a:t>constSMM</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a:rPr>
                        <a:t>1. </a:t>
                      </a:r>
                      <a:r>
                        <a:rPr lang="en-US" sz="1000" b="0" i="0" u="none" strike="noStrike" dirty="0" err="1">
                          <a:solidFill>
                            <a:srgbClr val="000000"/>
                          </a:solidFill>
                          <a:effectLst/>
                          <a:latin typeface="Arial"/>
                        </a:rPr>
                        <a:t>sbustract</a:t>
                      </a:r>
                      <a:r>
                        <a:rPr lang="en-US" sz="1000" b="0" i="0" u="none" strike="noStrike" dirty="0">
                          <a:solidFill>
                            <a:srgbClr val="000000"/>
                          </a:solidFill>
                          <a:effectLst/>
                          <a:latin typeface="Arial"/>
                        </a:rPr>
                        <a:t> Curt </a:t>
                      </a:r>
                      <a:r>
                        <a:rPr lang="en-US" sz="1000" b="0" i="0" u="none" strike="noStrike" dirty="0" err="1">
                          <a:solidFill>
                            <a:srgbClr val="000000"/>
                          </a:solidFill>
                          <a:effectLst/>
                          <a:latin typeface="Arial"/>
                        </a:rPr>
                        <a:t>smm</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weighted mean</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dirty="0" err="1">
                          <a:solidFill>
                            <a:srgbClr val="000000"/>
                          </a:solidFill>
                          <a:effectLst/>
                          <a:latin typeface="Arial"/>
                        </a:rPr>
                        <a:t>cltv</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a:rPr>
                        <a:t>1. bucket WA</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spline</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3. least square </a:t>
                      </a:r>
                      <a:r>
                        <a:rPr lang="en-US" sz="1000" b="0" i="0" u="none" strike="noStrike" dirty="0" smtClean="0">
                          <a:solidFill>
                            <a:srgbClr val="000000"/>
                          </a:solidFill>
                          <a:effectLst/>
                          <a:latin typeface="Arial"/>
                        </a:rPr>
                        <a:t>optimal</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a:solidFill>
                            <a:srgbClr val="000000"/>
                          </a:solidFill>
                          <a:effectLst/>
                          <a:latin typeface="Arial"/>
                        </a:rPr>
                        <a:t>wala</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487039">
                <a:tc>
                  <a:txBody>
                    <a:bodyPr/>
                    <a:lstStyle/>
                    <a:p>
                      <a:pPr rtl="0" fontAlgn="t">
                        <a:spcBef>
                          <a:spcPts val="0"/>
                        </a:spcBef>
                        <a:spcAft>
                          <a:spcPts val="0"/>
                        </a:spcAft>
                      </a:pPr>
                      <a:r>
                        <a:rPr lang="en-US" sz="1000" b="0" i="0" u="none" strike="noStrike" dirty="0">
                          <a:solidFill>
                            <a:srgbClr val="000000"/>
                          </a:solidFill>
                          <a:effectLst/>
                          <a:latin typeface="Arial"/>
                        </a:rPr>
                        <a:t>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1" name="Rectangle 2"/>
          <p:cNvSpPr>
            <a:spLocks noChangeArrowheads="1"/>
          </p:cNvSpPr>
          <p:nvPr/>
        </p:nvSpPr>
        <p:spPr bwMode="auto">
          <a:xfrm>
            <a:off x="4205288" y="13091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1453894951"/>
              </p:ext>
            </p:extLst>
          </p:nvPr>
        </p:nvGraphicFramePr>
        <p:xfrm>
          <a:off x="5119967" y="2918143"/>
          <a:ext cx="2194560" cy="2308656"/>
        </p:xfrm>
        <a:graphic>
          <a:graphicData uri="http://schemas.openxmlformats.org/drawingml/2006/table">
            <a:tbl>
              <a:tblPr/>
              <a:tblGrid>
                <a:gridCol w="886265"/>
                <a:gridCol w="1308295"/>
              </a:tblGrid>
              <a:tr h="280563">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incentive *</a:t>
                      </a: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378869">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seasonality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a:t>
                      </a:r>
                      <a:r>
                        <a:rPr lang="en-US" sz="1000" b="0" i="0" u="none" strike="noStrike" dirty="0" err="1">
                          <a:solidFill>
                            <a:srgbClr val="000000"/>
                          </a:solidFill>
                          <a:effectLst/>
                          <a:latin typeface="Arial" panose="020B0604020202020204" pitchFamily="34" charset="0"/>
                          <a:cs typeface="Arial" panose="020B0604020202020204" pitchFamily="34" charset="0"/>
                        </a:rPr>
                        <a:t>sbustract</a:t>
                      </a:r>
                      <a:r>
                        <a:rPr lang="en-US" sz="1000" b="0" i="0" u="none" strike="noStrike" dirty="0">
                          <a:solidFill>
                            <a:srgbClr val="000000"/>
                          </a:solidFill>
                          <a:effectLst/>
                          <a:latin typeface="Arial" panose="020B0604020202020204" pitchFamily="34" charset="0"/>
                          <a:cs typeface="Arial" panose="020B0604020202020204" pitchFamily="34" charset="0"/>
                        </a:rPr>
                        <a:t> Curt and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a:t>
                      </a:r>
                      <a:r>
                        <a:rPr lang="en-US" sz="1000" b="0" i="0" u="none" strike="noStrike" dirty="0" err="1">
                          <a:solidFill>
                            <a:srgbClr val="000000"/>
                          </a:solidFill>
                          <a:effectLst/>
                          <a:latin typeface="Arial" panose="020B0604020202020204" pitchFamily="34" charset="0"/>
                          <a:cs typeface="Arial" panose="020B0604020202020204" pitchFamily="34" charset="0"/>
                        </a:rPr>
                        <a:t>deseasonility</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1.weighted mean</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bucket WA</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3. least square optimal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lock-in incentive</a:t>
                      </a:r>
                      <a:endParaRPr lang="en-US" sz="100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3" name="Rectangle 3"/>
          <p:cNvSpPr>
            <a:spLocks noChangeArrowheads="1"/>
          </p:cNvSpPr>
          <p:nvPr/>
        </p:nvSpPr>
        <p:spPr bwMode="auto">
          <a:xfrm>
            <a:off x="4216400" y="126523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2444793956"/>
              </p:ext>
            </p:extLst>
          </p:nvPr>
        </p:nvGraphicFramePr>
        <p:xfrm>
          <a:off x="7491833" y="2918143"/>
          <a:ext cx="2194560" cy="2817200"/>
        </p:xfrm>
        <a:graphic>
          <a:graphicData uri="http://schemas.openxmlformats.org/drawingml/2006/table">
            <a:tbl>
              <a:tblPr/>
              <a:tblGrid>
                <a:gridCol w="616344"/>
                <a:gridCol w="1578216"/>
              </a:tblGrid>
              <a:tr h="0">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incentive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burnout * loan size * media * HPA</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constSMM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sbustract Curt, Dflt and Turn 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incentive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1. bucket WA</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2. spline</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3. least square optimal</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wala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burnout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loan size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effect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 max(5 * DeltaPMMS30_MA, 1.0)</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78137">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HPA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HPA = 1 - 0.8/(1+exp((hpa-11%)/3%))</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5" name="Rectangle 4"/>
          <p:cNvSpPr>
            <a:spLocks noChangeArrowheads="1"/>
          </p:cNvSpPr>
          <p:nvPr/>
        </p:nvSpPr>
        <p:spPr bwMode="auto">
          <a:xfrm>
            <a:off x="4414838" y="125888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TextBox 15"/>
          <p:cNvSpPr txBox="1"/>
          <p:nvPr/>
        </p:nvSpPr>
        <p:spPr>
          <a:xfrm>
            <a:off x="1304926" y="6414787"/>
            <a:ext cx="7048499"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latin typeface="Arial" panose="020B0604020202020204" pitchFamily="34" charset="0"/>
                <a:cs typeface="Arial" panose="020B0604020202020204" pitchFamily="34" charset="0"/>
              </a:rPr>
              <a:t>Total SMM = curtailment SMM + default SMM + turnover SMM + refinance SMM</a:t>
            </a:r>
            <a:endParaRPr lang="en-US" sz="1400" dirty="0">
              <a:latin typeface="Arial" panose="020B0604020202020204" pitchFamily="34" charset="0"/>
              <a:cs typeface="Arial" panose="020B0604020202020204" pitchFamily="34" charset="0"/>
            </a:endParaRPr>
          </a:p>
        </p:txBody>
      </p:sp>
      <p:sp>
        <p:nvSpPr>
          <p:cNvPr id="17" name="Rectangle 16"/>
          <p:cNvSpPr/>
          <p:nvPr/>
        </p:nvSpPr>
        <p:spPr>
          <a:xfrm>
            <a:off x="37623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b="1" dirty="0" smtClean="0"/>
              <a:t>Curtail</a:t>
            </a:r>
            <a:endParaRPr lang="en-US" sz="1400" b="1" dirty="0"/>
          </a:p>
        </p:txBody>
      </p:sp>
      <p:sp>
        <p:nvSpPr>
          <p:cNvPr id="18" name="Rectangle 17"/>
          <p:cNvSpPr/>
          <p:nvPr/>
        </p:nvSpPr>
        <p:spPr>
          <a:xfrm>
            <a:off x="273857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Default</a:t>
            </a:r>
            <a:endParaRPr lang="en-US" dirty="0"/>
          </a:p>
        </p:txBody>
      </p:sp>
      <p:sp>
        <p:nvSpPr>
          <p:cNvPr id="19" name="Rectangle 18"/>
          <p:cNvSpPr/>
          <p:nvPr/>
        </p:nvSpPr>
        <p:spPr>
          <a:xfrm>
            <a:off x="5110442"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Turnover</a:t>
            </a:r>
            <a:endParaRPr lang="en-US" dirty="0"/>
          </a:p>
        </p:txBody>
      </p:sp>
      <p:sp>
        <p:nvSpPr>
          <p:cNvPr id="20" name="Rectangle 19"/>
          <p:cNvSpPr/>
          <p:nvPr/>
        </p:nvSpPr>
        <p:spPr>
          <a:xfrm>
            <a:off x="7482308"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Refinancing</a:t>
            </a:r>
            <a:endParaRPr lang="en-US" dirty="0"/>
          </a:p>
        </p:txBody>
      </p:sp>
      <p:sp>
        <p:nvSpPr>
          <p:cNvPr id="21" name="Isosceles Triangle 20"/>
          <p:cNvSpPr/>
          <p:nvPr/>
        </p:nvSpPr>
        <p:spPr>
          <a:xfrm rot="10800000">
            <a:off x="3248025" y="1924050"/>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2" name="Isosceles Triangle 21"/>
          <p:cNvSpPr/>
          <p:nvPr/>
        </p:nvSpPr>
        <p:spPr>
          <a:xfrm rot="10800000">
            <a:off x="3364439" y="5859168"/>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27980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45771" y="6393321"/>
            <a:ext cx="3838924"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7" cstate="print">
            <a:extLst>
              <a:ext uri="{28A0092B-C50C-407E-A947-70E740481C1C}">
                <a14:useLocalDpi xmlns:a14="http://schemas.microsoft.com/office/drawing/2010/main" val="0"/>
              </a:ext>
            </a:extLst>
          </a:blip>
          <a:stretch>
            <a:fillRect/>
          </a:stretch>
        </p:blipFill>
        <p:spPr>
          <a:xfrm>
            <a:off x="203586" y="6359550"/>
            <a:ext cx="916369" cy="914400"/>
          </a:xfrm>
        </p:spPr>
      </p:pic>
      <p:pic>
        <p:nvPicPr>
          <p:cNvPr id="5" name="Picture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068325" y="6363723"/>
            <a:ext cx="916370" cy="914400"/>
          </a:xfrm>
          <a:prstGeom prst="rect">
            <a:avLst/>
          </a:prstGeom>
        </p:spPr>
      </p:pic>
      <p:pic>
        <p:nvPicPr>
          <p:cNvPr id="8" name="Picture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1.Bucket </a:t>
            </a:r>
            <a:r>
              <a:rPr lang="en-US" sz="1600" dirty="0">
                <a:latin typeface="Arial" panose="020B0604020202020204" pitchFamily="34" charset="0"/>
                <a:cs typeface="Arial" panose="020B0604020202020204" pitchFamily="34" charset="0"/>
              </a:rPr>
              <a:t>and Weighted Mean</a:t>
            </a:r>
            <a:endParaRPr lang="en-US" sz="1600" dirty="0">
              <a:latin typeface="Arial" panose="020B0604020202020204" pitchFamily="34" charset="0"/>
              <a:cs typeface="Arial" panose="020B0604020202020204" pitchFamily="34" charset="0"/>
            </a:endParaRPr>
          </a:p>
        </p:txBody>
      </p:sp>
      <p:sp>
        <p:nvSpPr>
          <p:cNvPr id="19" name="TextBox 18"/>
          <p:cNvSpPr txBox="1"/>
          <p:nvPr/>
        </p:nvSpPr>
        <p:spPr>
          <a:xfrm>
            <a:off x="5730055" y="1619250"/>
            <a:ext cx="3554978"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We can see the data distributed around several small area. The first idea is to transfer the data area into data point. </a:t>
            </a:r>
            <a:endParaRPr lang="en-US" sz="1400" dirty="0">
              <a:latin typeface="Arial" panose="020B0604020202020204" pitchFamily="34" charset="0"/>
              <a:cs typeface="Arial" panose="020B0604020202020204" pitchFamily="34" charset="0"/>
            </a:endParaRPr>
          </a:p>
        </p:txBody>
      </p:sp>
      <p:pic>
        <p:nvPicPr>
          <p:cNvPr id="20" name="Content Placeholder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auto">
          <a:xfrm>
            <a:off x="502491" y="1321802"/>
            <a:ext cx="2565834" cy="2560320"/>
          </a:xfrm>
          <a:prstGeom prst="rect">
            <a:avLst/>
          </a:prstGeom>
          <a:noFill/>
          <a:ln w="9525">
            <a:noFill/>
            <a:miter lim="800000"/>
            <a:headEnd/>
            <a:tailEnd/>
          </a:ln>
        </p:spPr>
      </p:pic>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33777" y="3445104"/>
            <a:ext cx="2565835" cy="2560320"/>
          </a:xfrm>
          <a:prstGeom prst="rect">
            <a:avLst/>
          </a:prstGeom>
        </p:spPr>
      </p:pic>
      <p:pic>
        <p:nvPicPr>
          <p:cNvPr id="23" name="Picture 2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07249" y="3445104"/>
            <a:ext cx="2565835" cy="2560320"/>
          </a:xfrm>
          <a:prstGeom prst="rect">
            <a:avLst/>
          </a:prstGeom>
        </p:spPr>
      </p:pic>
      <p:sp>
        <p:nvSpPr>
          <p:cNvPr id="26" name="TextBox 25"/>
          <p:cNvSpPr txBox="1"/>
          <p:nvPr/>
        </p:nvSpPr>
        <p:spPr>
          <a:xfrm>
            <a:off x="845572" y="1395829"/>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Raw Data</a:t>
            </a:r>
            <a:endParaRPr lang="en-US" sz="1200" i="1" dirty="0">
              <a:latin typeface="Arial" panose="020B0604020202020204" pitchFamily="34" charset="0"/>
              <a:cs typeface="Arial" panose="020B0604020202020204" pitchFamily="34" charset="0"/>
            </a:endParaRPr>
          </a:p>
        </p:txBody>
      </p:sp>
      <p:sp>
        <p:nvSpPr>
          <p:cNvPr id="27" name="TextBox 26"/>
          <p:cNvSpPr txBox="1"/>
          <p:nvPr/>
        </p:nvSpPr>
        <p:spPr>
          <a:xfrm>
            <a:off x="872049" y="3530500"/>
            <a:ext cx="1973828" cy="276999"/>
          </a:xfrm>
          <a:prstGeom prst="rect">
            <a:avLst/>
          </a:prstGeom>
          <a:solidFill>
            <a:schemeClr val="bg1"/>
          </a:solid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Bucket</a:t>
            </a:r>
            <a:endParaRPr lang="en-US" sz="1200" i="1" dirty="0">
              <a:latin typeface="Arial" panose="020B0604020202020204" pitchFamily="34" charset="0"/>
              <a:cs typeface="Arial" panose="020B0604020202020204" pitchFamily="34" charset="0"/>
            </a:endParaRPr>
          </a:p>
        </p:txBody>
      </p:sp>
      <p:sp>
        <p:nvSpPr>
          <p:cNvPr id="28" name="TextBox 27"/>
          <p:cNvSpPr txBox="1"/>
          <p:nvPr/>
        </p:nvSpPr>
        <p:spPr>
          <a:xfrm>
            <a:off x="4112647" y="3520172"/>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Weighted </a:t>
            </a:r>
            <a:r>
              <a:rPr lang="en-US" altLang="zh-CN" sz="1200" i="1" dirty="0" smtClean="0">
                <a:latin typeface="Arial" panose="020B0604020202020204" pitchFamily="34" charset="0"/>
                <a:cs typeface="Arial" panose="020B0604020202020204" pitchFamily="34" charset="0"/>
              </a:rPr>
              <a:t>Mean</a:t>
            </a:r>
            <a:endParaRPr lang="en-US" sz="1200" i="1" dirty="0">
              <a:latin typeface="Arial" panose="020B0604020202020204" pitchFamily="34" charset="0"/>
              <a:cs typeface="Arial" panose="020B0604020202020204" pitchFamily="34" charset="0"/>
            </a:endParaRPr>
          </a:p>
        </p:txBody>
      </p:sp>
      <p:sp>
        <p:nvSpPr>
          <p:cNvPr id="29" name="TextBox 28"/>
          <p:cNvSpPr txBox="1"/>
          <p:nvPr/>
        </p:nvSpPr>
        <p:spPr>
          <a:xfrm>
            <a:off x="7301680" y="3512253"/>
            <a:ext cx="1973828" cy="276999"/>
          </a:xfrm>
          <a:prstGeom prst="rect">
            <a:avLst/>
          </a:prstGeom>
          <a:noFill/>
        </p:spPr>
        <p:txBody>
          <a:bodyPr wrap="square" rtlCol="0">
            <a:spAutoFit/>
          </a:bodyPr>
          <a:lstStyle/>
          <a:p>
            <a:pPr algn="ctr"/>
            <a:r>
              <a:rPr lang="en-US" altLang="zh-CN" sz="1200" i="1" dirty="0" smtClean="0">
                <a:latin typeface="Arial" panose="020B0604020202020204" pitchFamily="34" charset="0"/>
                <a:cs typeface="Arial" panose="020B0604020202020204" pitchFamily="34" charset="0"/>
              </a:rPr>
              <a:t>Change</a:t>
            </a:r>
            <a:r>
              <a:rPr lang="zh-CN" altLang="en-US" sz="1200" i="1" dirty="0" smtClean="0">
                <a:latin typeface="Arial" panose="020B0604020202020204" pitchFamily="34" charset="0"/>
                <a:cs typeface="Arial" panose="020B0604020202020204" pitchFamily="34" charset="0"/>
              </a:rPr>
              <a:t> </a:t>
            </a:r>
            <a:r>
              <a:rPr lang="en-US" altLang="zh-CN" sz="1200" i="1" dirty="0" smtClean="0">
                <a:latin typeface="Arial" panose="020B0604020202020204" pitchFamily="34" charset="0"/>
                <a:cs typeface="Arial" panose="020B0604020202020204" pitchFamily="34" charset="0"/>
              </a:rPr>
              <a:t>Y Scale</a:t>
            </a:r>
            <a:endParaRPr lang="en-US" sz="1200" i="1" dirty="0">
              <a:latin typeface="Arial" panose="020B0604020202020204" pitchFamily="34" charset="0"/>
              <a:cs typeface="Arial" panose="020B0604020202020204" pitchFamily="34" charset="0"/>
            </a:endParaRPr>
          </a:p>
        </p:txBody>
      </p:sp>
      <p:sp>
        <p:nvSpPr>
          <p:cNvPr id="30" name="Oval 29"/>
          <p:cNvSpPr/>
          <p:nvPr/>
        </p:nvSpPr>
        <p:spPr>
          <a:xfrm>
            <a:off x="1858963" y="3200400"/>
            <a:ext cx="177362" cy="238125"/>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utoShape 83"/>
          <p:cNvSpPr>
            <a:spLocks noChangeArrowheads="1"/>
          </p:cNvSpPr>
          <p:nvPr>
            <p:custDataLst>
              <p:tags r:id="rId1"/>
            </p:custDataLst>
          </p:nvPr>
        </p:nvSpPr>
        <p:spPr bwMode="gray">
          <a:xfrm>
            <a:off x="2676744" y="2751138"/>
            <a:ext cx="527050" cy="177800"/>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2" name="AutoShape 83"/>
          <p:cNvSpPr>
            <a:spLocks noChangeArrowheads="1"/>
          </p:cNvSpPr>
          <p:nvPr>
            <p:custDataLst>
              <p:tags r:id="rId2"/>
            </p:custDataLst>
          </p:nvPr>
        </p:nvSpPr>
        <p:spPr bwMode="gray">
          <a:xfrm rot="13328114">
            <a:off x="6649730" y="3760457"/>
            <a:ext cx="1036398" cy="157522"/>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3" name="Rounded Rectangle 32"/>
          <p:cNvSpPr/>
          <p:nvPr/>
        </p:nvSpPr>
        <p:spPr>
          <a:xfrm>
            <a:off x="3390901"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Area</a:t>
            </a:r>
            <a:endParaRPr lang="en-US" dirty="0"/>
          </a:p>
        </p:txBody>
      </p:sp>
      <p:sp>
        <p:nvSpPr>
          <p:cNvPr id="34" name="Rounded Rectangle 33"/>
          <p:cNvSpPr/>
          <p:nvPr/>
        </p:nvSpPr>
        <p:spPr>
          <a:xfrm>
            <a:off x="5730055"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Point</a:t>
            </a:r>
            <a:endParaRPr lang="en-US" dirty="0"/>
          </a:p>
        </p:txBody>
      </p:sp>
      <p:sp>
        <p:nvSpPr>
          <p:cNvPr id="35" name="AutoShape 13"/>
          <p:cNvSpPr>
            <a:spLocks noChangeArrowheads="1"/>
          </p:cNvSpPr>
          <p:nvPr>
            <p:custDataLst>
              <p:tags r:id="rId3"/>
            </p:custDataLst>
          </p:nvPr>
        </p:nvSpPr>
        <p:spPr bwMode="auto">
          <a:xfrm>
            <a:off x="4958880" y="242490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3338182" y="3095625"/>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Difficult to measure</a:t>
            </a:r>
            <a:endParaRPr lang="en-US" sz="1050" dirty="0">
              <a:latin typeface="Arial" panose="020B0604020202020204" pitchFamily="34" charset="0"/>
              <a:cs typeface="Arial" panose="020B0604020202020204" pitchFamily="34" charset="0"/>
            </a:endParaRPr>
          </a:p>
        </p:txBody>
      </p:sp>
      <p:sp>
        <p:nvSpPr>
          <p:cNvPr id="37" name="TextBox 36"/>
          <p:cNvSpPr txBox="1"/>
          <p:nvPr/>
        </p:nvSpPr>
        <p:spPr>
          <a:xfrm>
            <a:off x="5665074" y="3097254"/>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Easy to measure</a:t>
            </a:r>
            <a:endParaRPr lang="en-US" sz="1050" dirty="0">
              <a:latin typeface="Arial" panose="020B0604020202020204" pitchFamily="34" charset="0"/>
              <a:cs typeface="Arial" panose="020B0604020202020204" pitchFamily="34" charset="0"/>
            </a:endParaRPr>
          </a:p>
        </p:txBody>
      </p:sp>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6046" y="3445104"/>
            <a:ext cx="2565835" cy="2560320"/>
          </a:xfrm>
          <a:prstGeom prst="rect">
            <a:avLst/>
          </a:prstGeom>
        </p:spPr>
      </p:pic>
      <p:sp>
        <p:nvSpPr>
          <p:cNvPr id="38" name="TextBox 37"/>
          <p:cNvSpPr txBox="1"/>
          <p:nvPr/>
        </p:nvSpPr>
        <p:spPr>
          <a:xfrm>
            <a:off x="3766285" y="5854957"/>
            <a:ext cx="2682779"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weight mean along horizontal axis and vertical axis</a:t>
            </a:r>
            <a:endParaRPr lang="en-US" sz="1200" dirty="0">
              <a:latin typeface="Arial" panose="020B0604020202020204" pitchFamily="34" charset="0"/>
              <a:cs typeface="Arial" panose="020B0604020202020204" pitchFamily="34" charset="0"/>
            </a:endParaRPr>
          </a:p>
        </p:txBody>
      </p:sp>
      <p:sp>
        <p:nvSpPr>
          <p:cNvPr id="39" name="TextBox 38"/>
          <p:cNvSpPr txBox="1"/>
          <p:nvPr/>
        </p:nvSpPr>
        <p:spPr>
          <a:xfrm>
            <a:off x="790518" y="5854957"/>
            <a:ext cx="1518094"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set </a:t>
            </a:r>
            <a:r>
              <a:rPr lang="en-US" sz="1200" dirty="0" smtClean="0">
                <a:latin typeface="Arial" panose="020B0604020202020204" pitchFamily="34" charset="0"/>
                <a:cs typeface="Arial" panose="020B0604020202020204" pitchFamily="34" charset="0"/>
              </a:rPr>
              <a:t>up buckets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6965064" y="5854957"/>
            <a:ext cx="2682779"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Change Y scale. Get data point which easy to model.</a:t>
            </a:r>
            <a:endParaRPr lang="en-US" sz="1200" dirty="0">
              <a:latin typeface="Arial" panose="020B0604020202020204" pitchFamily="34" charset="0"/>
              <a:cs typeface="Arial" panose="020B0604020202020204" pitchFamily="34" charset="0"/>
            </a:endParaRPr>
          </a:p>
        </p:txBody>
      </p:sp>
      <p:sp>
        <p:nvSpPr>
          <p:cNvPr id="41" name="AutoShape 13"/>
          <p:cNvSpPr>
            <a:spLocks noChangeArrowheads="1"/>
          </p:cNvSpPr>
          <p:nvPr>
            <p:custDataLst>
              <p:tags r:id="rId4"/>
            </p:custDataLst>
          </p:nvPr>
        </p:nvSpPr>
        <p:spPr bwMode="auto">
          <a:xfrm>
            <a:off x="3338182" y="42405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2" name="AutoShape 13"/>
          <p:cNvSpPr>
            <a:spLocks noChangeArrowheads="1"/>
          </p:cNvSpPr>
          <p:nvPr>
            <p:custDataLst>
              <p:tags r:id="rId5"/>
            </p:custDataLst>
          </p:nvPr>
        </p:nvSpPr>
        <p:spPr bwMode="auto">
          <a:xfrm>
            <a:off x="6473637" y="42998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4812950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013603" y="6393321"/>
            <a:ext cx="1919462"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6"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56964" y="6363723"/>
            <a:ext cx="916370" cy="914400"/>
          </a:xfrm>
          <a:prstGeom prst="rect">
            <a:avLst/>
          </a:prstGeom>
        </p:spPr>
      </p:pic>
      <p:pic>
        <p:nvPicPr>
          <p:cNvPr id="9" name="Picture 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2. Spline </a:t>
            </a:r>
            <a:r>
              <a:rPr lang="en-US" sz="1600" dirty="0">
                <a:latin typeface="Arial" panose="020B0604020202020204" pitchFamily="34" charset="0"/>
                <a:cs typeface="Arial" panose="020B0604020202020204" pitchFamily="34" charset="0"/>
              </a:rPr>
              <a:t>and </a:t>
            </a:r>
            <a:r>
              <a:rPr lang="en-US" sz="1600" dirty="0" smtClean="0">
                <a:latin typeface="Arial" panose="020B0604020202020204" pitchFamily="34" charset="0"/>
                <a:cs typeface="Arial" panose="020B0604020202020204" pitchFamily="34" charset="0"/>
              </a:rPr>
              <a:t>Interpolation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779380" y="2754958"/>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Previous Step: </a:t>
            </a:r>
            <a:r>
              <a:rPr lang="en-US" sz="1200" i="1" dirty="0">
                <a:latin typeface="Arial" panose="020B0604020202020204" pitchFamily="34" charset="0"/>
                <a:cs typeface="Arial" panose="020B0604020202020204" pitchFamily="34" charset="0"/>
              </a:rPr>
              <a:t>W</a:t>
            </a:r>
            <a:r>
              <a:rPr lang="en-US" sz="1200" i="1" dirty="0" smtClean="0">
                <a:latin typeface="Arial" panose="020B0604020202020204" pitchFamily="34" charset="0"/>
                <a:cs typeface="Arial" panose="020B0604020202020204" pitchFamily="34" charset="0"/>
              </a:rPr>
              <a:t>eighted Average</a:t>
            </a:r>
            <a:endParaRPr lang="en-US" sz="1200" i="1" dirty="0">
              <a:latin typeface="Arial" panose="020B0604020202020204" pitchFamily="34" charset="0"/>
              <a:cs typeface="Arial" panose="020B0604020202020204" pitchFamily="34" charset="0"/>
            </a:endParaRPr>
          </a:p>
        </p:txBody>
      </p:sp>
      <p:pic>
        <p:nvPicPr>
          <p:cNvPr id="41" name="Picture 4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2705" y="2730729"/>
            <a:ext cx="2565835" cy="2560320"/>
          </a:xfrm>
          <a:prstGeom prst="rect">
            <a:avLst/>
          </a:prstGeom>
        </p:spPr>
      </p:pic>
      <p:pic>
        <p:nvPicPr>
          <p:cNvPr id="42" name="Picture 4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84517" y="2730729"/>
            <a:ext cx="2565836" cy="2560320"/>
          </a:xfrm>
          <a:prstGeom prst="rect">
            <a:avLst/>
          </a:prstGeom>
        </p:spPr>
      </p:pic>
      <p:pic>
        <p:nvPicPr>
          <p:cNvPr id="43" name="Picture 4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656330" y="2730729"/>
            <a:ext cx="2565836" cy="2560320"/>
          </a:xfrm>
          <a:prstGeom prst="rect">
            <a:avLst/>
          </a:prstGeom>
        </p:spPr>
      </p:pic>
      <p:sp>
        <p:nvSpPr>
          <p:cNvPr id="47" name="TextBox 46"/>
          <p:cNvSpPr txBox="1"/>
          <p:nvPr/>
        </p:nvSpPr>
        <p:spPr>
          <a:xfrm>
            <a:off x="4042510" y="2754958"/>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Spline</a:t>
            </a:r>
            <a:endParaRPr lang="en-US" sz="1200" i="1" dirty="0">
              <a:latin typeface="Arial" panose="020B0604020202020204" pitchFamily="34" charset="0"/>
              <a:cs typeface="Arial" panose="020B0604020202020204" pitchFamily="34" charset="0"/>
            </a:endParaRPr>
          </a:p>
        </p:txBody>
      </p:sp>
      <p:sp>
        <p:nvSpPr>
          <p:cNvPr id="48" name="TextBox 47"/>
          <p:cNvSpPr txBox="1"/>
          <p:nvPr/>
        </p:nvSpPr>
        <p:spPr>
          <a:xfrm>
            <a:off x="7022214" y="2754957"/>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Get Knots Value</a:t>
            </a:r>
            <a:endParaRPr lang="en-US" sz="1200" i="1" dirty="0">
              <a:latin typeface="Arial" panose="020B0604020202020204" pitchFamily="34" charset="0"/>
              <a:cs typeface="Arial" panose="020B0604020202020204" pitchFamily="34" charset="0"/>
            </a:endParaRPr>
          </a:p>
        </p:txBody>
      </p:sp>
      <p:sp>
        <p:nvSpPr>
          <p:cNvPr id="49" name="AutoShape 13"/>
          <p:cNvSpPr>
            <a:spLocks noChangeArrowheads="1"/>
          </p:cNvSpPr>
          <p:nvPr>
            <p:custDataLst>
              <p:tags r:id="rId1"/>
            </p:custDataLst>
          </p:nvPr>
        </p:nvSpPr>
        <p:spPr bwMode="auto">
          <a:xfrm>
            <a:off x="3275176" y="34975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0" name="AutoShape 13"/>
          <p:cNvSpPr>
            <a:spLocks noChangeArrowheads="1"/>
          </p:cNvSpPr>
          <p:nvPr>
            <p:custDataLst>
              <p:tags r:id="rId2"/>
            </p:custDataLst>
          </p:nvPr>
        </p:nvSpPr>
        <p:spPr bwMode="auto">
          <a:xfrm>
            <a:off x="6315381" y="35568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836047" y="1600200"/>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Now, we set up some key knots, which are the most important CLTV values that may be used as our model parameters. So naturally, we want to know the SMM value on each of the knots. Here we use cubic spline to predict those values, as the red points in figure </a:t>
            </a:r>
            <a:r>
              <a:rPr lang="en-US" sz="1400" dirty="0" smtClean="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p:txBody>
      </p:sp>
      <p:sp>
        <p:nvSpPr>
          <p:cNvPr id="51" name="Rounded Rectangle 50"/>
          <p:cNvSpPr/>
          <p:nvPr/>
        </p:nvSpPr>
        <p:spPr>
          <a:xfrm>
            <a:off x="1278838"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Points</a:t>
            </a:r>
          </a:p>
        </p:txBody>
      </p:sp>
      <p:sp>
        <p:nvSpPr>
          <p:cNvPr id="52" name="Rounded Rectangle 51"/>
          <p:cNvSpPr/>
          <p:nvPr/>
        </p:nvSpPr>
        <p:spPr>
          <a:xfrm>
            <a:off x="4271937"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Curve</a:t>
            </a:r>
          </a:p>
        </p:txBody>
      </p:sp>
      <p:sp>
        <p:nvSpPr>
          <p:cNvPr id="53" name="AutoShape 13"/>
          <p:cNvSpPr>
            <a:spLocks noChangeArrowheads="1"/>
          </p:cNvSpPr>
          <p:nvPr>
            <p:custDataLst>
              <p:tags r:id="rId3"/>
            </p:custDataLst>
          </p:nvPr>
        </p:nvSpPr>
        <p:spPr bwMode="auto">
          <a:xfrm>
            <a:off x="327854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4" name="TextBox 53"/>
          <p:cNvSpPr txBox="1"/>
          <p:nvPr/>
        </p:nvSpPr>
        <p:spPr>
          <a:xfrm>
            <a:off x="12788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endParaRPr lang="en-US" sz="1050" dirty="0">
              <a:latin typeface="Arial" panose="020B0604020202020204" pitchFamily="34" charset="0"/>
              <a:cs typeface="Arial" panose="020B0604020202020204" pitchFamily="34" charset="0"/>
            </a:endParaRPr>
          </a:p>
        </p:txBody>
      </p:sp>
      <p:sp>
        <p:nvSpPr>
          <p:cNvPr id="55" name="TextBox 54"/>
          <p:cNvSpPr txBox="1"/>
          <p:nvPr/>
        </p:nvSpPr>
        <p:spPr>
          <a:xfrm>
            <a:off x="4245434" y="5791112"/>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endParaRPr lang="en-US" sz="1050" dirty="0">
              <a:latin typeface="Arial" panose="020B0604020202020204" pitchFamily="34" charset="0"/>
              <a:cs typeface="Arial" panose="020B0604020202020204" pitchFamily="34" charset="0"/>
            </a:endParaRPr>
          </a:p>
        </p:txBody>
      </p:sp>
      <p:sp>
        <p:nvSpPr>
          <p:cNvPr id="56" name="Rounded Rectangle 55"/>
          <p:cNvSpPr/>
          <p:nvPr/>
        </p:nvSpPr>
        <p:spPr>
          <a:xfrm>
            <a:off x="7251641"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Curve</a:t>
            </a:r>
            <a:endParaRPr lang="en-US" dirty="0"/>
          </a:p>
        </p:txBody>
      </p:sp>
      <p:sp>
        <p:nvSpPr>
          <p:cNvPr id="57" name="AutoShape 13"/>
          <p:cNvSpPr>
            <a:spLocks noChangeArrowheads="1"/>
          </p:cNvSpPr>
          <p:nvPr>
            <p:custDataLst>
              <p:tags r:id="rId4"/>
            </p:custDataLst>
          </p:nvPr>
        </p:nvSpPr>
        <p:spPr bwMode="auto">
          <a:xfrm>
            <a:off x="631538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8" name="TextBox 57"/>
          <p:cNvSpPr txBox="1"/>
          <p:nvPr/>
        </p:nvSpPr>
        <p:spPr>
          <a:xfrm>
            <a:off x="72251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Equal </a:t>
            </a:r>
            <a:r>
              <a:rPr lang="en-US" sz="1050" dirty="0">
                <a:latin typeface="Arial" panose="020B0604020202020204" pitchFamily="34" charset="0"/>
                <a:cs typeface="Arial" panose="020B0604020202020204" pitchFamily="34" charset="0"/>
              </a:rPr>
              <a:t>Distance</a:t>
            </a:r>
            <a:endParaRPr lang="en-US"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37228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723"/>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10670" y="6367374"/>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3. Least Square Optimization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836047" y="3224689"/>
            <a:ext cx="2565835"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Spline using Knots Value</a:t>
            </a:r>
            <a:endParaRPr lang="en-US" sz="1100" i="1" dirty="0">
              <a:latin typeface="Arial" panose="020B0604020202020204" pitchFamily="34" charset="0"/>
              <a:cs typeface="Arial" panose="020B0604020202020204" pitchFamily="34" charset="0"/>
            </a:endParaRPr>
          </a:p>
        </p:txBody>
      </p:sp>
      <p:sp>
        <p:nvSpPr>
          <p:cNvPr id="47" name="TextBox 46"/>
          <p:cNvSpPr txBox="1"/>
          <p:nvPr/>
        </p:nvSpPr>
        <p:spPr>
          <a:xfrm>
            <a:off x="3865485" y="3218825"/>
            <a:ext cx="2608009"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Optimal </a:t>
            </a:r>
            <a:r>
              <a:rPr lang="en-US" altLang="zh-CN" sz="1100" i="1" dirty="0" smtClean="0">
                <a:latin typeface="Arial" panose="020B0604020202020204" pitchFamily="34" charset="0"/>
                <a:cs typeface="Arial" panose="020B0604020202020204" pitchFamily="34" charset="0"/>
              </a:rPr>
              <a:t>Knots</a:t>
            </a:r>
            <a:r>
              <a:rPr lang="zh-CN" altLang="en-US" sz="1100" i="1" dirty="0" smtClean="0">
                <a:latin typeface="Arial" panose="020B0604020202020204" pitchFamily="34" charset="0"/>
                <a:cs typeface="Arial" panose="020B0604020202020204" pitchFamily="34" charset="0"/>
              </a:rPr>
              <a:t> </a:t>
            </a:r>
            <a:r>
              <a:rPr lang="en-US" altLang="zh-CN" sz="1100" i="1" dirty="0" smtClean="0">
                <a:latin typeface="Arial" panose="020B0604020202020204" pitchFamily="34" charset="0"/>
                <a:cs typeface="Arial" panose="020B0604020202020204" pitchFamily="34" charset="0"/>
              </a:rPr>
              <a:t>Value and Spline Curve</a:t>
            </a:r>
            <a:endParaRPr lang="en-US" sz="1100" i="1" dirty="0">
              <a:latin typeface="Arial" panose="020B0604020202020204" pitchFamily="34" charset="0"/>
              <a:cs typeface="Arial" panose="020B0604020202020204" pitchFamily="34" charset="0"/>
            </a:endParaRPr>
          </a:p>
        </p:txBody>
      </p:sp>
      <p:sp>
        <p:nvSpPr>
          <p:cNvPr id="48" name="TextBox 47"/>
          <p:cNvSpPr txBox="1"/>
          <p:nvPr/>
        </p:nvSpPr>
        <p:spPr>
          <a:xfrm>
            <a:off x="7260819" y="3221057"/>
            <a:ext cx="1973828" cy="261610"/>
          </a:xfrm>
          <a:prstGeom prst="rect">
            <a:avLst/>
          </a:prstGeom>
          <a:noFill/>
        </p:spPr>
        <p:txBody>
          <a:bodyPr wrap="square" rtlCol="0">
            <a:spAutoFit/>
          </a:bodyPr>
          <a:lstStyle/>
          <a:p>
            <a:pPr algn="ctr"/>
            <a:r>
              <a:rPr lang="en-US" altLang="zh-CN" sz="1100" i="1" dirty="0" smtClean="0">
                <a:latin typeface="Arial" panose="020B0604020202020204" pitchFamily="34" charset="0"/>
                <a:cs typeface="Arial" panose="020B0604020202020204" pitchFamily="34" charset="0"/>
              </a:rPr>
              <a:t>Model Value</a:t>
            </a:r>
            <a:endParaRPr lang="en-US" sz="1100" i="1" dirty="0">
              <a:latin typeface="Arial" panose="020B0604020202020204" pitchFamily="34" charset="0"/>
              <a:cs typeface="Arial" panose="020B0604020202020204" pitchFamily="34" charset="0"/>
            </a:endParaRPr>
          </a:p>
        </p:txBody>
      </p:sp>
      <p:sp>
        <p:nvSpPr>
          <p:cNvPr id="50" name="AutoShape 13"/>
          <p:cNvSpPr>
            <a:spLocks noChangeArrowheads="1"/>
          </p:cNvSpPr>
          <p:nvPr>
            <p:custDataLst>
              <p:tags r:id="rId1"/>
            </p:custDataLst>
          </p:nvPr>
        </p:nvSpPr>
        <p:spPr bwMode="auto">
          <a:xfrm>
            <a:off x="3397922"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The model curve (red line) pass through the weight mean points (black points). However, there is estimated error, which we want to minimize. Here we use least square method to optimize the knots value. </a:t>
            </a:r>
          </a:p>
        </p:txBody>
      </p:sp>
      <p:pic>
        <p:nvPicPr>
          <p:cNvPr id="34" name="Picture 3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9382" y="3184357"/>
            <a:ext cx="2565833" cy="2560320"/>
          </a:xfrm>
          <a:prstGeom prst="rect">
            <a:avLst/>
          </a:prstGeom>
        </p:spPr>
      </p:pic>
      <p:pic>
        <p:nvPicPr>
          <p:cNvPr id="35" name="Picture 3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43316" y="3184357"/>
            <a:ext cx="2565833" cy="2560320"/>
          </a:xfrm>
          <a:prstGeom prst="rect">
            <a:avLst/>
          </a:prstGeom>
        </p:spPr>
      </p:pic>
      <p:pic>
        <p:nvPicPr>
          <p:cNvPr id="36" name="Picture 3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07249" y="3184357"/>
            <a:ext cx="2565833" cy="2560320"/>
          </a:xfrm>
          <a:prstGeom prst="rect">
            <a:avLst/>
          </a:prstGeom>
        </p:spPr>
      </p:pic>
      <p:sp>
        <p:nvSpPr>
          <p:cNvPr id="37" name="AutoShape 13"/>
          <p:cNvSpPr>
            <a:spLocks noChangeArrowheads="1"/>
          </p:cNvSpPr>
          <p:nvPr>
            <p:custDataLst>
              <p:tags r:id="rId2"/>
            </p:custDataLst>
          </p:nvPr>
        </p:nvSpPr>
        <p:spPr bwMode="auto">
          <a:xfrm>
            <a:off x="6494186"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5" name="TextBox 14"/>
          <p:cNvSpPr txBox="1"/>
          <p:nvPr/>
        </p:nvSpPr>
        <p:spPr>
          <a:xfrm>
            <a:off x="2036324" y="2268438"/>
            <a:ext cx="636110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Error Term = ∑ (predict value on spline – weighted average </a:t>
            </a:r>
            <a:r>
              <a:rPr lang="en-US" sz="1400" dirty="0" smtClean="0">
                <a:latin typeface="Arial" panose="020B0604020202020204" pitchFamily="34" charset="0"/>
                <a:cs typeface="Arial" panose="020B0604020202020204" pitchFamily="34" charset="0"/>
              </a:rPr>
              <a:t>value)</a:t>
            </a:r>
            <a:r>
              <a:rPr lang="en-US" sz="1400" baseline="30000" dirty="0" smtClean="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0143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3390901" y="2314575"/>
            <a:ext cx="3476624" cy="117624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390901" y="3599623"/>
            <a:ext cx="3476624" cy="1176249"/>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3390901" y="4884672"/>
            <a:ext cx="3476624" cy="117624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913431" y="6393321"/>
            <a:ext cx="916369" cy="798054"/>
          </a:xfrm>
          <a:prstGeom prst="rect">
            <a:avLst/>
          </a:prstGeom>
          <a:solidFill>
            <a:schemeClr val="accent2">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4042509" y="6397650"/>
            <a:ext cx="1933915"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8" name="Rectangle 27"/>
          <p:cNvSpPr/>
          <p:nvPr/>
        </p:nvSpPr>
        <p:spPr>
          <a:xfrm>
            <a:off x="162491" y="6397650"/>
            <a:ext cx="3880018"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879"/>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48694" y="6358446"/>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Model Method Overview</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 we get the spline function, as our model curve. When we get a new CLTV value, we use this spline function to predict our model SMM value corresponding to CLTV. Here we do the prediction for all the original data and show a comparison with the raw data.</a:t>
            </a:r>
          </a:p>
        </p:txBody>
      </p:sp>
      <p:pic>
        <p:nvPicPr>
          <p:cNvPr id="29"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502491" y="2912477"/>
            <a:ext cx="2565834" cy="2560320"/>
          </a:xfrm>
          <a:prstGeom prst="rect">
            <a:avLst/>
          </a:prstGeom>
          <a:noFill/>
          <a:ln w="9525">
            <a:noFill/>
            <a:miter lim="800000"/>
            <a:headEnd/>
            <a:tailEnd/>
          </a:ln>
        </p:spPr>
      </p:pic>
      <p:pic>
        <p:nvPicPr>
          <p:cNvPr id="30" name="Picture 2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52615" y="2912477"/>
            <a:ext cx="2565833" cy="2560320"/>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2023" y="2576424"/>
            <a:ext cx="916370" cy="914400"/>
          </a:xfrm>
          <a:prstGeom prst="rect">
            <a:avLst/>
          </a:prstGeom>
        </p:spPr>
      </p:pic>
      <p:pic>
        <p:nvPicPr>
          <p:cNvPr id="32" name="Picture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6208" y="2568600"/>
            <a:ext cx="916370" cy="914400"/>
          </a:xfrm>
          <a:prstGeom prst="rect">
            <a:avLst/>
          </a:prstGeom>
        </p:spPr>
      </p:pic>
      <p:pic>
        <p:nvPicPr>
          <p:cNvPr id="33" name="Picture 3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0393" y="2576424"/>
            <a:ext cx="916370" cy="914400"/>
          </a:xfrm>
          <a:prstGeom prst="rect">
            <a:avLst/>
          </a:prstGeom>
        </p:spPr>
      </p:pic>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36933" y="3839636"/>
            <a:ext cx="916370" cy="914400"/>
          </a:xfrm>
          <a:prstGeom prst="rect">
            <a:avLst/>
          </a:prstGeom>
        </p:spPr>
      </p:pic>
      <p:pic>
        <p:nvPicPr>
          <p:cNvPr id="39" name="Picture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82208" y="3839636"/>
            <a:ext cx="916370" cy="914400"/>
          </a:xfrm>
          <a:prstGeom prst="rect">
            <a:avLst/>
          </a:prstGeom>
        </p:spPr>
      </p:pic>
      <p:pic>
        <p:nvPicPr>
          <p:cNvPr id="40" name="Picture 3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36934" y="5110671"/>
            <a:ext cx="916369" cy="914400"/>
          </a:xfrm>
          <a:prstGeom prst="rect">
            <a:avLst/>
          </a:prstGeom>
        </p:spPr>
      </p:pic>
      <p:pic>
        <p:nvPicPr>
          <p:cNvPr id="41" name="Picture 4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182208" y="5111775"/>
            <a:ext cx="916369" cy="914400"/>
          </a:xfrm>
          <a:prstGeom prst="rect">
            <a:avLst/>
          </a:prstGeom>
        </p:spPr>
      </p:pic>
      <p:sp>
        <p:nvSpPr>
          <p:cNvPr id="19" name="TextBox 18"/>
          <p:cNvSpPr txBox="1"/>
          <p:nvPr/>
        </p:nvSpPr>
        <p:spPr>
          <a:xfrm>
            <a:off x="3692023" y="2314575"/>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1.Bucket and Weighted </a:t>
            </a:r>
            <a:r>
              <a:rPr lang="en-US" sz="1100" dirty="0" smtClean="0">
                <a:latin typeface="Arial" panose="020B0604020202020204" pitchFamily="34" charset="0"/>
                <a:cs typeface="Arial" panose="020B0604020202020204" pitchFamily="34" charset="0"/>
              </a:rPr>
              <a:t>Mean</a:t>
            </a:r>
            <a:endParaRPr lang="en-US" sz="1100" dirty="0">
              <a:latin typeface="Arial" panose="020B0604020202020204" pitchFamily="34" charset="0"/>
              <a:cs typeface="Arial" panose="020B0604020202020204" pitchFamily="34" charset="0"/>
            </a:endParaRPr>
          </a:p>
        </p:txBody>
      </p:sp>
      <p:sp>
        <p:nvSpPr>
          <p:cNvPr id="44" name="TextBox 43"/>
          <p:cNvSpPr txBox="1"/>
          <p:nvPr/>
        </p:nvSpPr>
        <p:spPr>
          <a:xfrm>
            <a:off x="3713519" y="3599623"/>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2. Spline and Interpolation</a:t>
            </a:r>
            <a:endParaRPr lang="en-US" sz="1100" dirty="0">
              <a:latin typeface="Arial" panose="020B0604020202020204" pitchFamily="34" charset="0"/>
              <a:cs typeface="Arial" panose="020B0604020202020204" pitchFamily="34" charset="0"/>
            </a:endParaRPr>
          </a:p>
        </p:txBody>
      </p:sp>
      <p:sp>
        <p:nvSpPr>
          <p:cNvPr id="45" name="TextBox 44"/>
          <p:cNvSpPr txBox="1"/>
          <p:nvPr/>
        </p:nvSpPr>
        <p:spPr>
          <a:xfrm>
            <a:off x="3713518" y="4884672"/>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3. Least Square Optimization</a:t>
            </a:r>
            <a:endParaRPr lang="en-US" sz="1100" dirty="0">
              <a:latin typeface="Arial" panose="020B0604020202020204" pitchFamily="34" charset="0"/>
              <a:cs typeface="Arial" panose="020B0604020202020204" pitchFamily="34" charset="0"/>
            </a:endParaRPr>
          </a:p>
        </p:txBody>
      </p:sp>
      <p:sp>
        <p:nvSpPr>
          <p:cNvPr id="46" name="AutoShape 13"/>
          <p:cNvSpPr>
            <a:spLocks noChangeArrowheads="1"/>
          </p:cNvSpPr>
          <p:nvPr>
            <p:custDataLst>
              <p:tags r:id="rId1"/>
            </p:custDataLst>
          </p:nvPr>
        </p:nvSpPr>
        <p:spPr bwMode="auto">
          <a:xfrm>
            <a:off x="3010510"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9" name="AutoShape 13"/>
          <p:cNvSpPr>
            <a:spLocks noChangeArrowheads="1"/>
          </p:cNvSpPr>
          <p:nvPr>
            <p:custDataLst>
              <p:tags r:id="rId2"/>
            </p:custDataLst>
          </p:nvPr>
        </p:nvSpPr>
        <p:spPr bwMode="auto">
          <a:xfrm>
            <a:off x="6965064"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170968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4145" y="236009"/>
            <a:ext cx="6806130" cy="677966"/>
          </a:xfrm>
        </p:spPr>
        <p:txBody>
          <a:bodyPr/>
          <a:lstStyle/>
          <a:p>
            <a:r>
              <a:rPr lang="en-US" dirty="0" smtClean="0"/>
              <a:t>Result After Spline I</a:t>
            </a:r>
            <a:r>
              <a:rPr lang="en-US" altLang="zh-CN" dirty="0" smtClean="0"/>
              <a:t>nterpolation</a:t>
            </a:r>
            <a:endParaRPr lang="en-US" dirty="0"/>
          </a:p>
        </p:txBody>
      </p:sp>
      <p:graphicFrame>
        <p:nvGraphicFramePr>
          <p:cNvPr id="4" name="Chart 3"/>
          <p:cNvGraphicFramePr/>
          <p:nvPr>
            <p:extLst>
              <p:ext uri="{D42A27DB-BD31-4B8C-83A1-F6EECF244321}">
                <p14:modId xmlns:p14="http://schemas.microsoft.com/office/powerpoint/2010/main" val="1138109959"/>
              </p:ext>
            </p:extLst>
          </p:nvPr>
        </p:nvGraphicFramePr>
        <p:xfrm>
          <a:off x="617186" y="1557338"/>
          <a:ext cx="8869714" cy="284470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1219705739"/>
              </p:ext>
            </p:extLst>
          </p:nvPr>
        </p:nvGraphicFramePr>
        <p:xfrm>
          <a:off x="207612" y="4857750"/>
          <a:ext cx="4812064" cy="11111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p:nvPr>
            <p:extLst>
              <p:ext uri="{D42A27DB-BD31-4B8C-83A1-F6EECF244321}">
                <p14:modId xmlns:p14="http://schemas.microsoft.com/office/powerpoint/2010/main" val="1393561197"/>
              </p:ext>
            </p:extLst>
          </p:nvPr>
        </p:nvGraphicFramePr>
        <p:xfrm>
          <a:off x="5151086" y="4905375"/>
          <a:ext cx="4812064" cy="11111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p:nvPr>
            <p:extLst>
              <p:ext uri="{D42A27DB-BD31-4B8C-83A1-F6EECF244321}">
                <p14:modId xmlns:p14="http://schemas.microsoft.com/office/powerpoint/2010/main" val="3073780056"/>
              </p:ext>
            </p:extLst>
          </p:nvPr>
        </p:nvGraphicFramePr>
        <p:xfrm>
          <a:off x="212374" y="6121302"/>
          <a:ext cx="4812064" cy="111115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p:cNvGraphicFramePr/>
          <p:nvPr>
            <p:extLst>
              <p:ext uri="{D42A27DB-BD31-4B8C-83A1-F6EECF244321}">
                <p14:modId xmlns:p14="http://schemas.microsoft.com/office/powerpoint/2010/main" val="840859284"/>
              </p:ext>
            </p:extLst>
          </p:nvPr>
        </p:nvGraphicFramePr>
        <p:xfrm>
          <a:off x="5151086" y="6140450"/>
          <a:ext cx="4812064" cy="1111152"/>
        </p:xfrm>
        <a:graphic>
          <a:graphicData uri="http://schemas.openxmlformats.org/drawingml/2006/chart">
            <c:chart xmlns:c="http://schemas.openxmlformats.org/drawingml/2006/chart" xmlns:r="http://schemas.openxmlformats.org/officeDocument/2006/relationships" r:id="rId6"/>
          </a:graphicData>
        </a:graphic>
      </p:graphicFrame>
      <p:sp>
        <p:nvSpPr>
          <p:cNvPr id="10" name="Oval 9"/>
          <p:cNvSpPr/>
          <p:nvPr/>
        </p:nvSpPr>
        <p:spPr>
          <a:xfrm>
            <a:off x="4352925"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1" name="Oval 10"/>
          <p:cNvSpPr/>
          <p:nvPr/>
        </p:nvSpPr>
        <p:spPr>
          <a:xfrm>
            <a:off x="435292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9134474"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913447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333876" y="5153025"/>
            <a:ext cx="438150" cy="276999"/>
          </a:xfrm>
          <a:prstGeom prst="rect">
            <a:avLst/>
          </a:prstGeom>
          <a:noFill/>
        </p:spPr>
        <p:txBody>
          <a:bodyPr wrap="square" rtlCol="0">
            <a:spAutoFit/>
          </a:bodyPr>
          <a:lstStyle/>
          <a:p>
            <a:r>
              <a:rPr lang="en-US" sz="1200" dirty="0" smtClean="0">
                <a:solidFill>
                  <a:schemeClr val="bg1"/>
                </a:solidFill>
              </a:rPr>
              <a:t>3%</a:t>
            </a:r>
            <a:endParaRPr lang="en-US" sz="1200" dirty="0">
              <a:solidFill>
                <a:schemeClr val="bg1"/>
              </a:solidFill>
            </a:endParaRPr>
          </a:p>
        </p:txBody>
      </p:sp>
      <p:sp>
        <p:nvSpPr>
          <p:cNvPr id="15" name="TextBox 14"/>
          <p:cNvSpPr txBox="1"/>
          <p:nvPr/>
        </p:nvSpPr>
        <p:spPr>
          <a:xfrm>
            <a:off x="9120186" y="5166925"/>
            <a:ext cx="438150" cy="276999"/>
          </a:xfrm>
          <a:prstGeom prst="rect">
            <a:avLst/>
          </a:prstGeom>
          <a:noFill/>
        </p:spPr>
        <p:txBody>
          <a:bodyPr wrap="square" rtlCol="0">
            <a:spAutoFit/>
          </a:bodyPr>
          <a:lstStyle/>
          <a:p>
            <a:r>
              <a:rPr lang="en-US" sz="1200" dirty="0">
                <a:solidFill>
                  <a:schemeClr val="bg1"/>
                </a:solidFill>
              </a:rPr>
              <a:t>4</a:t>
            </a:r>
            <a:r>
              <a:rPr lang="en-US" sz="1200" dirty="0" smtClean="0">
                <a:solidFill>
                  <a:schemeClr val="bg1"/>
                </a:solidFill>
              </a:rPr>
              <a:t>%</a:t>
            </a:r>
            <a:endParaRPr lang="en-US" sz="1200" dirty="0">
              <a:solidFill>
                <a:schemeClr val="bg1"/>
              </a:solidFill>
            </a:endParaRPr>
          </a:p>
        </p:txBody>
      </p:sp>
      <p:sp>
        <p:nvSpPr>
          <p:cNvPr id="16" name="TextBox 15"/>
          <p:cNvSpPr txBox="1"/>
          <p:nvPr/>
        </p:nvSpPr>
        <p:spPr>
          <a:xfrm>
            <a:off x="4295775" y="6405175"/>
            <a:ext cx="542925" cy="276999"/>
          </a:xfrm>
          <a:prstGeom prst="rect">
            <a:avLst/>
          </a:prstGeom>
          <a:noFill/>
        </p:spPr>
        <p:txBody>
          <a:bodyPr wrap="square" rtlCol="0">
            <a:spAutoFit/>
          </a:bodyPr>
          <a:lstStyle/>
          <a:p>
            <a:r>
              <a:rPr lang="en-US" sz="1200" dirty="0" smtClean="0">
                <a:solidFill>
                  <a:schemeClr val="bg1"/>
                </a:solidFill>
              </a:rPr>
              <a:t>26%</a:t>
            </a:r>
            <a:endParaRPr lang="en-US" sz="1200" dirty="0">
              <a:solidFill>
                <a:schemeClr val="bg1"/>
              </a:solidFill>
            </a:endParaRPr>
          </a:p>
        </p:txBody>
      </p:sp>
      <p:sp>
        <p:nvSpPr>
          <p:cNvPr id="17" name="TextBox 16"/>
          <p:cNvSpPr txBox="1"/>
          <p:nvPr/>
        </p:nvSpPr>
        <p:spPr>
          <a:xfrm>
            <a:off x="9082086" y="6405174"/>
            <a:ext cx="542925" cy="276999"/>
          </a:xfrm>
          <a:prstGeom prst="rect">
            <a:avLst/>
          </a:prstGeom>
          <a:noFill/>
        </p:spPr>
        <p:txBody>
          <a:bodyPr wrap="square" rtlCol="0">
            <a:spAutoFit/>
          </a:bodyPr>
          <a:lstStyle/>
          <a:p>
            <a:r>
              <a:rPr lang="en-US" sz="1200" dirty="0" smtClean="0">
                <a:solidFill>
                  <a:schemeClr val="bg1"/>
                </a:solidFill>
              </a:rPr>
              <a:t>68%</a:t>
            </a:r>
            <a:endParaRPr lang="en-US" sz="1200" dirty="0">
              <a:solidFill>
                <a:schemeClr val="bg1"/>
              </a:solidFill>
            </a:endParaRPr>
          </a:p>
        </p:txBody>
      </p:sp>
      <p:sp>
        <p:nvSpPr>
          <p:cNvPr id="18" name="TextBox 17"/>
          <p:cNvSpPr txBox="1"/>
          <p:nvPr/>
        </p:nvSpPr>
        <p:spPr>
          <a:xfrm>
            <a:off x="3409950" y="4772025"/>
            <a:ext cx="1533525" cy="261610"/>
          </a:xfrm>
          <a:prstGeom prst="rect">
            <a:avLst/>
          </a:prstGeom>
          <a:noFill/>
        </p:spPr>
        <p:txBody>
          <a:bodyPr wrap="square" rtlCol="0">
            <a:spAutoFit/>
          </a:bodyPr>
          <a:lstStyle/>
          <a:p>
            <a:pPr algn="r"/>
            <a:r>
              <a:rPr lang="en-US" sz="1100" dirty="0" smtClean="0"/>
              <a:t>Mean contribution</a:t>
            </a:r>
            <a:endParaRPr lang="en-US" sz="1100" dirty="0"/>
          </a:p>
        </p:txBody>
      </p:sp>
      <p:sp>
        <p:nvSpPr>
          <p:cNvPr id="19" name="Oval 18"/>
          <p:cNvSpPr/>
          <p:nvPr/>
        </p:nvSpPr>
        <p:spPr>
          <a:xfrm>
            <a:off x="1581150" y="2724150"/>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529137" y="1785937"/>
            <a:ext cx="1238250" cy="1114425"/>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962900" y="2952749"/>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005250" y="1023929"/>
            <a:ext cx="8286024"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Result shows model can capture the trend over time. However, model </a:t>
            </a:r>
            <a:r>
              <a:rPr lang="en-US" sz="1200" dirty="0" err="1" smtClean="0">
                <a:latin typeface="Arial" panose="020B0604020202020204" pitchFamily="34" charset="0"/>
                <a:cs typeface="Arial" panose="020B0604020202020204" pitchFamily="34" charset="0"/>
              </a:rPr>
              <a:t>smm</a:t>
            </a:r>
            <a:r>
              <a:rPr lang="en-US" sz="1200" dirty="0" smtClean="0">
                <a:latin typeface="Arial" panose="020B0604020202020204" pitchFamily="34" charset="0"/>
                <a:cs typeface="Arial" panose="020B0604020202020204" pitchFamily="34" charset="0"/>
              </a:rPr>
              <a:t> is too fast than actual (Golden) ; 2003-2004  part shows too slow (Purple). In order to improve, </a:t>
            </a:r>
            <a:r>
              <a:rPr lang="en-US" sz="1200" b="1" dirty="0" smtClean="0">
                <a:latin typeface="Arial" panose="020B0604020202020204" pitchFamily="34" charset="0"/>
                <a:cs typeface="Arial" panose="020B0604020202020204" pitchFamily="34" charset="0"/>
              </a:rPr>
              <a:t>media effect </a:t>
            </a:r>
            <a:r>
              <a:rPr lang="en-US" sz="1200" dirty="0" smtClean="0">
                <a:latin typeface="Arial" panose="020B0604020202020204" pitchFamily="34" charset="0"/>
                <a:cs typeface="Arial" panose="020B0604020202020204" pitchFamily="34" charset="0"/>
              </a:rPr>
              <a:t>and </a:t>
            </a:r>
            <a:r>
              <a:rPr lang="en-US" sz="1200" b="1" dirty="0" smtClean="0">
                <a:latin typeface="Arial" panose="020B0604020202020204" pitchFamily="34" charset="0"/>
                <a:cs typeface="Arial" panose="020B0604020202020204" pitchFamily="34" charset="0"/>
              </a:rPr>
              <a:t>credit availability </a:t>
            </a:r>
            <a:r>
              <a:rPr lang="en-US" sz="1200" dirty="0" smtClean="0">
                <a:latin typeface="Arial" panose="020B0604020202020204" pitchFamily="34" charset="0"/>
                <a:cs typeface="Arial" panose="020B0604020202020204" pitchFamily="34" charset="0"/>
              </a:rPr>
              <a:t>multipliers are introduced.</a:t>
            </a:r>
            <a:endParaRPr lang="en-US" sz="1200" dirty="0">
              <a:latin typeface="Arial" panose="020B0604020202020204" pitchFamily="34" charset="0"/>
              <a:cs typeface="Arial" panose="020B0604020202020204" pitchFamily="34" charset="0"/>
            </a:endParaRPr>
          </a:p>
        </p:txBody>
      </p:sp>
      <p:sp>
        <p:nvSpPr>
          <p:cNvPr id="23" name="TextBox 22"/>
          <p:cNvSpPr txBox="1"/>
          <p:nvPr/>
        </p:nvSpPr>
        <p:spPr>
          <a:xfrm>
            <a:off x="5672137" y="1904999"/>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Slower</a:t>
            </a:r>
            <a:endParaRPr lang="en-US" sz="1400" dirty="0">
              <a:latin typeface="Arial" panose="020B0604020202020204" pitchFamily="34" charset="0"/>
              <a:cs typeface="Arial" panose="020B0604020202020204" pitchFamily="34" charset="0"/>
            </a:endParaRPr>
          </a:p>
        </p:txBody>
      </p:sp>
      <p:sp>
        <p:nvSpPr>
          <p:cNvPr id="24" name="TextBox 23"/>
          <p:cNvSpPr txBox="1"/>
          <p:nvPr/>
        </p:nvSpPr>
        <p:spPr>
          <a:xfrm>
            <a:off x="2671762" y="27464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sp>
        <p:nvSpPr>
          <p:cNvPr id="25" name="TextBox 24"/>
          <p:cNvSpPr txBox="1"/>
          <p:nvPr/>
        </p:nvSpPr>
        <p:spPr>
          <a:xfrm>
            <a:off x="7493793" y="28988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77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Graphic spid="7" grpId="0">
        <p:bldAsOne/>
      </p:bldGraphic>
      <p:bldGraphic spid="8" grpId="0">
        <p:bldAsOne/>
      </p:bldGraphic>
      <p:bldGraphic spid="9" grpId="0">
        <p:bldAsOne/>
      </p:bldGraphic>
      <p:bldP spid="10" grpId="0" animBg="1"/>
      <p:bldP spid="11" grpId="0" animBg="1"/>
      <p:bldP spid="12" grpId="0" animBg="1"/>
      <p:bldP spid="13" grpId="0" animBg="1"/>
      <p:bldP spid="14" grpId="0"/>
      <p:bldP spid="15" grpId="0"/>
      <p:bldP spid="16" grpId="0"/>
      <p:bldP spid="17" grpId="0"/>
      <p:bldP spid="18" grpId="0"/>
      <p:bldP spid="19" grpId="0" animBg="1"/>
      <p:bldP spid="20" grpId="0" animBg="1"/>
      <p:bldP spid="21" grpId="0" animBg="1"/>
      <p:bldP spid="22" grpId="0"/>
      <p:bldP spid="23" grpId="0"/>
      <p:bldP spid="24"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sp>
        <p:nvSpPr>
          <p:cNvPr id="4" name="TextBox 3"/>
          <p:cNvSpPr txBox="1"/>
          <p:nvPr/>
        </p:nvSpPr>
        <p:spPr>
          <a:xfrm>
            <a:off x="638175" y="37338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rate buffer, 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cxnSp>
        <p:nvCxnSpPr>
          <p:cNvPr id="5" name="Straight Connector 4"/>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Media Effect – Meet the Refinance Wave</a:t>
            </a:r>
            <a:endParaRPr lang="en-US" sz="1600" dirty="0">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4725" y="1566864"/>
            <a:ext cx="3695816"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360059" y="1790463"/>
            <a:ext cx="3564866" cy="646331"/>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Mortgage borrowers tend to refinance more aggressively than usual when rates hit multi-year lows.</a:t>
            </a:r>
            <a:endParaRPr lang="en-US" sz="1200" dirty="0">
              <a:latin typeface="Arial" panose="020B0604020202020204" pitchFamily="34" charset="0"/>
              <a:cs typeface="Arial" panose="020B0604020202020204" pitchFamily="34" charset="0"/>
            </a:endParaRPr>
          </a:p>
        </p:txBody>
      </p:sp>
      <p:sp>
        <p:nvSpPr>
          <p:cNvPr id="21" name="AutoShape 3"/>
          <p:cNvSpPr>
            <a:spLocks noChangeArrowheads="1"/>
          </p:cNvSpPr>
          <p:nvPr>
            <p:custDataLst>
              <p:tags r:id="rId1"/>
            </p:custDataLst>
          </p:nvPr>
        </p:nvSpPr>
        <p:spPr bwMode="gray">
          <a:xfrm>
            <a:off x="836047" y="3006725"/>
            <a:ext cx="2206625" cy="584200"/>
          </a:xfrm>
          <a:prstGeom prst="chevron">
            <a:avLst>
              <a:gd name="adj" fmla="val 34952"/>
            </a:avLst>
          </a:prstGeom>
          <a:solidFill>
            <a:schemeClr val="accent1"/>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Model prepay speed is slower in 2003</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2" name="AutoShape 4"/>
          <p:cNvSpPr>
            <a:spLocks noChangeArrowheads="1"/>
          </p:cNvSpPr>
          <p:nvPr>
            <p:custDataLst>
              <p:tags r:id="rId2"/>
            </p:custDataLst>
          </p:nvPr>
        </p:nvSpPr>
        <p:spPr bwMode="gray">
          <a:xfrm>
            <a:off x="2890272"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Reason:</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Media effect</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3" name="AutoShape 5"/>
          <p:cNvSpPr>
            <a:spLocks noChangeArrowheads="1"/>
          </p:cNvSpPr>
          <p:nvPr>
            <p:custDataLst>
              <p:tags r:id="rId3"/>
            </p:custDataLst>
          </p:nvPr>
        </p:nvSpPr>
        <p:spPr bwMode="gray">
          <a:xfrm>
            <a:off x="4938147"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a:solidFill>
                  <a:schemeClr val="bg1"/>
                </a:solidFill>
                <a:latin typeface="Arial Unicode MS" pitchFamily="34" charset="-122"/>
                <a:ea typeface="Arial Unicode MS" pitchFamily="34" charset="-122"/>
                <a:cs typeface="Arial Unicode MS" pitchFamily="34" charset="-122"/>
              </a:rPr>
              <a:t>Solution:</a:t>
            </a:r>
          </a:p>
          <a:p>
            <a:pPr>
              <a:lnSpc>
                <a:spcPct val="106000"/>
              </a:lnSpc>
              <a:defRPr/>
            </a:pPr>
            <a:r>
              <a:rPr lang="en-US" sz="1400" b="1" dirty="0">
                <a:solidFill>
                  <a:schemeClr val="bg1"/>
                </a:solidFill>
                <a:latin typeface="Arial Unicode MS" pitchFamily="34" charset="-122"/>
                <a:ea typeface="Arial Unicode MS" pitchFamily="34" charset="-122"/>
                <a:cs typeface="Arial Unicode MS" pitchFamily="34" charset="-122"/>
              </a:rPr>
              <a:t>Media effect multiplier</a:t>
            </a:r>
            <a:endParaRPr lang="en-US" altLang="zh-CN" sz="1400" b="1" dirty="0">
              <a:solidFill>
                <a:schemeClr val="bg1"/>
              </a:solidFill>
              <a:latin typeface="Arial Unicode MS" pitchFamily="34" charset="-122"/>
              <a:ea typeface="Arial Unicode MS" pitchFamily="34" charset="-122"/>
              <a:cs typeface="Arial Unicode MS" pitchFamily="34" charset="-122"/>
            </a:endParaRPr>
          </a:p>
        </p:txBody>
      </p:sp>
      <p:sp>
        <p:nvSpPr>
          <p:cNvPr id="24" name="AutoShape 6"/>
          <p:cNvSpPr>
            <a:spLocks noChangeArrowheads="1"/>
          </p:cNvSpPr>
          <p:nvPr>
            <p:custDataLst>
              <p:tags r:id="rId4"/>
            </p:custDataLst>
          </p:nvPr>
        </p:nvSpPr>
        <p:spPr bwMode="gray">
          <a:xfrm>
            <a:off x="6984434"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Result:</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Meet </a:t>
            </a:r>
            <a:r>
              <a:rPr lang="en-US" sz="1400" b="1" dirty="0" err="1" smtClean="0">
                <a:solidFill>
                  <a:schemeClr val="bg1"/>
                </a:solidFill>
                <a:latin typeface="Arial Unicode MS" pitchFamily="34" charset="-122"/>
                <a:ea typeface="Arial Unicode MS" pitchFamily="34" charset="-122"/>
                <a:cs typeface="Arial Unicode MS" pitchFamily="34" charset="-122"/>
              </a:rPr>
              <a:t>Refi</a:t>
            </a:r>
            <a:r>
              <a:rPr lang="en-US" sz="1400" b="1" dirty="0" smtClean="0">
                <a:solidFill>
                  <a:schemeClr val="bg1"/>
                </a:solidFill>
                <a:latin typeface="Arial Unicode MS" pitchFamily="34" charset="-122"/>
                <a:ea typeface="Arial Unicode MS" pitchFamily="34" charset="-122"/>
                <a:cs typeface="Arial Unicode MS" pitchFamily="34" charset="-122"/>
              </a:rPr>
              <a:t> Wave 2013</a:t>
            </a:r>
            <a:endParaRPr lang="en-US" sz="1400" b="1" dirty="0">
              <a:solidFill>
                <a:schemeClr val="bg1"/>
              </a:solidFill>
              <a:latin typeface="Arial Unicode MS" pitchFamily="34" charset="-122"/>
              <a:ea typeface="Arial Unicode MS" pitchFamily="34" charset="-122"/>
              <a:cs typeface="Arial Unicode MS" pitchFamily="34" charset="-122"/>
            </a:endParaRPr>
          </a:p>
        </p:txBody>
      </p:sp>
      <p:pic>
        <p:nvPicPr>
          <p:cNvPr id="2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8454" y="5045996"/>
            <a:ext cx="4002087" cy="1826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96897" y="5045996"/>
            <a:ext cx="3950722" cy="1710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Box 29"/>
          <p:cNvSpPr txBox="1"/>
          <p:nvPr/>
        </p:nvSpPr>
        <p:spPr>
          <a:xfrm>
            <a:off x="1427749" y="4878921"/>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Rate Changes and Media Effect</a:t>
            </a:r>
            <a:endParaRPr lang="en-US" sz="1200" i="1" dirty="0">
              <a:latin typeface="Arial" panose="020B0604020202020204" pitchFamily="34" charset="0"/>
              <a:cs typeface="Arial" panose="020B0604020202020204" pitchFamily="34" charset="0"/>
            </a:endParaRPr>
          </a:p>
        </p:txBody>
      </p:sp>
      <p:sp>
        <p:nvSpPr>
          <p:cNvPr id="31" name="TextBox 30"/>
          <p:cNvSpPr txBox="1"/>
          <p:nvPr/>
        </p:nvSpPr>
        <p:spPr>
          <a:xfrm>
            <a:off x="5789340" y="4923830"/>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Fitting Result after Media Effect</a:t>
            </a:r>
            <a:endParaRPr lang="en-US" sz="12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632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2" grpId="0" animBg="1"/>
      <p:bldP spid="23" grpId="0" animBg="1"/>
      <p:bldP spid="24" grpId="0" animBg="1"/>
      <p:bldP spid="30"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cxnSp>
        <p:nvCxnSpPr>
          <p:cNvPr id="5" name="Straight Connector 4"/>
          <p:cNvCxnSpPr/>
          <p:nvPr/>
        </p:nvCxnSpPr>
        <p:spPr>
          <a:xfrm>
            <a:off x="836047" y="1293227"/>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86155" y="1123950"/>
            <a:ext cx="190979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Credit Availability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45571" y="2047280"/>
            <a:ext cx="2439141" cy="461665"/>
          </a:xfrm>
          <a:prstGeom prst="rect">
            <a:avLst/>
          </a:prstGeom>
          <a:noFill/>
        </p:spPr>
        <p:txBody>
          <a:bodyPr wrap="square" rtlCol="0">
            <a:spAutoFit/>
          </a:bodyPr>
          <a:lstStyle/>
          <a:p>
            <a:r>
              <a:rPr lang="en-US" sz="1200" dirty="0" smtClean="0"/>
              <a:t>Model SMM is too fast after 2008</a:t>
            </a:r>
          </a:p>
          <a:p>
            <a:r>
              <a:rPr lang="en-US" sz="1200" dirty="0"/>
              <a:t>U</a:t>
            </a:r>
            <a:r>
              <a:rPr lang="en-US" sz="1200" dirty="0" smtClean="0"/>
              <a:t>sing same Media Effect model  </a:t>
            </a:r>
            <a:endParaRPr lang="en-US" sz="1200" dirty="0"/>
          </a:p>
        </p:txBody>
      </p:sp>
      <p:pic>
        <p:nvPicPr>
          <p:cNvPr id="614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86156" y="1619250"/>
            <a:ext cx="5335916" cy="1637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AutoShape 12"/>
          <p:cNvSpPr>
            <a:spLocks noChangeArrowheads="1"/>
          </p:cNvSpPr>
          <p:nvPr>
            <p:custDataLst>
              <p:tags r:id="rId1"/>
            </p:custDataLst>
          </p:nvPr>
        </p:nvSpPr>
        <p:spPr bwMode="auto">
          <a:xfrm rot="5400000">
            <a:off x="2013743" y="2465318"/>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845572" y="3185815"/>
            <a:ext cx="2439141" cy="461665"/>
          </a:xfrm>
          <a:prstGeom prst="rect">
            <a:avLst/>
          </a:prstGeom>
          <a:noFill/>
        </p:spPr>
        <p:txBody>
          <a:bodyPr wrap="square" rtlCol="0">
            <a:spAutoFit/>
          </a:bodyPr>
          <a:lstStyle/>
          <a:p>
            <a:r>
              <a:rPr lang="en-US" sz="1200" dirty="0" smtClean="0"/>
              <a:t>Another factor need to be involved for the house market.</a:t>
            </a:r>
            <a:endParaRPr lang="en-US" sz="1200" dirty="0"/>
          </a:p>
        </p:txBody>
      </p:sp>
      <mc:AlternateContent xmlns:mc="http://schemas.openxmlformats.org/markup-compatibility/2006">
        <mc:Choice xmlns:a14="http://schemas.microsoft.com/office/drawing/2010/main" Requires="a14">
          <p:sp>
            <p:nvSpPr>
              <p:cNvPr id="8" name="TextBox 7"/>
              <p:cNvSpPr txBox="1"/>
              <p:nvPr/>
            </p:nvSpPr>
            <p:spPr>
              <a:xfrm>
                <a:off x="840291" y="3647480"/>
                <a:ext cx="2887072" cy="27699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0" i="1" smtClean="0">
                          <a:latin typeface="Cambria Math"/>
                          <a:ea typeface="Cambria Math"/>
                        </a:rPr>
                        <m:t>h𝑝𝑎</m:t>
                      </m:r>
                      <m:r>
                        <a:rPr lang="en-US" sz="1200" b="0" i="1" smtClean="0">
                          <a:latin typeface="Cambria Math"/>
                          <a:ea typeface="Cambria Math"/>
                        </a:rPr>
                        <m:t>2</m:t>
                      </m:r>
                      <m:r>
                        <a:rPr lang="en-US" sz="1200" b="0" i="1" smtClean="0">
                          <a:latin typeface="Cambria Math"/>
                          <a:ea typeface="Cambria Math"/>
                        </a:rPr>
                        <m:t>𝑦𝑟</m:t>
                      </m:r>
                      <m:r>
                        <a:rPr lang="en-US" sz="1200" b="0" i="1" smtClean="0">
                          <a:latin typeface="Cambria Math"/>
                          <a:ea typeface="Cambria Math"/>
                        </a:rPr>
                        <m:t> −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a:p>
            </p:txBody>
          </p:sp>
        </mc:Choice>
        <mc:Fallback>
          <p:sp>
            <p:nvSpPr>
              <p:cNvPr id="8" name="TextBox 7"/>
              <p:cNvSpPr txBox="1">
                <a:spLocks noRot="1" noChangeAspect="1" noMove="1" noResize="1" noEditPoints="1" noAdjustHandles="1" noChangeArrowheads="1" noChangeShapeType="1" noTextEdit="1"/>
              </p:cNvSpPr>
              <p:nvPr/>
            </p:nvSpPr>
            <p:spPr>
              <a:xfrm>
                <a:off x="840291" y="3647480"/>
                <a:ext cx="2887072" cy="276999"/>
              </a:xfrm>
              <a:prstGeom prst="rect">
                <a:avLst/>
              </a:prstGeom>
              <a:blipFill rotWithShape="1">
                <a:blip r:embed="rId5"/>
                <a:stretch>
                  <a:fillRect b="-8696"/>
                </a:stretch>
              </a:blipFill>
            </p:spPr>
            <p:txBody>
              <a:bodyPr/>
              <a:lstStyle/>
              <a:p>
                <a:r>
                  <a:rPr lang="en-US">
                    <a:noFill/>
                  </a:rPr>
                  <a:t> </a:t>
                </a:r>
              </a:p>
            </p:txBody>
          </p:sp>
        </mc:Fallback>
      </mc:AlternateContent>
      <p:pic>
        <p:nvPicPr>
          <p:cNvPr id="615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11704" y="3577929"/>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7363" y="5520925"/>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AutoShape 12"/>
          <p:cNvSpPr>
            <a:spLocks noChangeArrowheads="1"/>
          </p:cNvSpPr>
          <p:nvPr>
            <p:custDataLst>
              <p:tags r:id="rId2"/>
            </p:custDataLst>
          </p:nvPr>
        </p:nvSpPr>
        <p:spPr bwMode="auto">
          <a:xfrm rot="5400000">
            <a:off x="2013743" y="5621823"/>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3" name="TextBox 42"/>
          <p:cNvSpPr txBox="1"/>
          <p:nvPr/>
        </p:nvSpPr>
        <p:spPr>
          <a:xfrm>
            <a:off x="923553" y="6330377"/>
            <a:ext cx="2439141"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200" dirty="0" smtClean="0"/>
              <a:t>Good overall fitting result from 1998 to 2014</a:t>
            </a:r>
            <a:endParaRPr lang="en-US" sz="1200" dirty="0"/>
          </a:p>
        </p:txBody>
      </p:sp>
      <p:pic>
        <p:nvPicPr>
          <p:cNvPr id="6153"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00405" y="3890058"/>
            <a:ext cx="1685435" cy="18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4734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r>
              <a:rPr lang="en-US" dirty="0">
                <a:solidFill>
                  <a:schemeClr val="tx1"/>
                </a:solidFill>
              </a:rPr>
              <a:t>Monotonic Spline Function</a:t>
            </a:r>
            <a:br>
              <a:rPr lang="en-US" dirty="0">
                <a:solidFill>
                  <a:schemeClr val="tx1"/>
                </a:solidFill>
              </a:rPr>
            </a:br>
            <a:r>
              <a:rPr lang="en-US" dirty="0">
                <a:solidFill>
                  <a:schemeClr val="tx1"/>
                </a:solidFill>
              </a:rPr>
              <a:t>Media Effect “Jump Up” Problem</a:t>
            </a:r>
            <a:br>
              <a:rPr lang="en-US" dirty="0">
                <a:solidFill>
                  <a:schemeClr val="tx1"/>
                </a:solidFill>
              </a:rPr>
            </a:br>
            <a:r>
              <a:rPr lang="en-US" dirty="0">
                <a:solidFill>
                  <a:schemeClr val="tx1"/>
                </a:solidFill>
              </a:rPr>
              <a:t>Change Credit Availability</a:t>
            </a:r>
            <a:br>
              <a:rPr lang="en-US" dirty="0">
                <a:solidFill>
                  <a:schemeClr val="tx1"/>
                </a:solidFill>
              </a:rPr>
            </a:br>
            <a:r>
              <a:rPr lang="en-US" dirty="0">
                <a:solidFill>
                  <a:schemeClr val="tx1"/>
                </a:solidFill>
              </a:rPr>
              <a:t>Efficient R- Script</a:t>
            </a:r>
            <a:br>
              <a:rPr lang="en-US" dirty="0">
                <a:solidFill>
                  <a:schemeClr val="tx1"/>
                </a:solidFill>
              </a:rPr>
            </a:br>
            <a:r>
              <a:rPr lang="en-US" dirty="0">
                <a:solidFill>
                  <a:schemeClr val="tx1"/>
                </a:solidFill>
              </a:rPr>
              <a:t/>
            </a:r>
            <a:br>
              <a:rPr lang="en-US" dirty="0">
                <a:solidFill>
                  <a:schemeClr val="tx1"/>
                </a:solidFill>
              </a:rPr>
            </a:br>
            <a:r>
              <a:rPr lang="en-US" dirty="0">
                <a:solidFill>
                  <a:schemeClr val="tx1"/>
                </a:solidFill>
              </a:rPr>
              <a:t/>
            </a:r>
            <a:br>
              <a:rPr lang="en-US" dirty="0">
                <a:solidFill>
                  <a:schemeClr val="tx1"/>
                </a:solidFill>
              </a:rPr>
            </a:br>
            <a:endParaRPr lang="en-US" dirty="0">
              <a:solidFill>
                <a:schemeClr val="tx1"/>
              </a:solidFill>
            </a:endParaRPr>
          </a:p>
        </p:txBody>
      </p:sp>
      <p:sp>
        <p:nvSpPr>
          <p:cNvPr id="5" name="Text Placeholder 4"/>
          <p:cNvSpPr>
            <a:spLocks noGrp="1"/>
          </p:cNvSpPr>
          <p:nvPr>
            <p:ph type="body" idx="1"/>
          </p:nvPr>
        </p:nvSpPr>
        <p:spPr/>
        <p:txBody>
          <a:bodyPr/>
          <a:lstStyle/>
          <a:p>
            <a:pPr>
              <a:buFont typeface="Wingdings" panose="05000000000000000000" pitchFamily="2" charset="2"/>
              <a:buChar char="v"/>
            </a:pPr>
            <a:r>
              <a:rPr lang="en-US" sz="2400" b="1" dirty="0" smtClean="0"/>
              <a:t>Improvement</a:t>
            </a:r>
          </a:p>
          <a:p>
            <a:endParaRPr lang="en-US" dirty="0"/>
          </a:p>
        </p:txBody>
      </p:sp>
    </p:spTree>
    <p:extLst>
      <p:ext uri="{BB962C8B-B14F-4D97-AF65-F5344CB8AC3E}">
        <p14:creationId xmlns:p14="http://schemas.microsoft.com/office/powerpoint/2010/main" val="36779860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smtClean="0"/>
              <a:t>Change smooth spline to monotonic </a:t>
            </a:r>
            <a:r>
              <a:rPr lang="en-US" dirty="0" err="1" smtClean="0"/>
              <a:t>Hermite</a:t>
            </a:r>
            <a:r>
              <a:rPr lang="en-US" dirty="0" smtClean="0"/>
              <a:t> spline</a:t>
            </a:r>
            <a:endParaRPr lang="en-US" dirty="0"/>
          </a:p>
        </p:txBody>
      </p:sp>
      <p:sp>
        <p:nvSpPr>
          <p:cNvPr id="4" name="TextBox 3"/>
          <p:cNvSpPr txBox="1"/>
          <p:nvPr/>
        </p:nvSpPr>
        <p:spPr>
          <a:xfrm>
            <a:off x="295275" y="1246286"/>
            <a:ext cx="6591300" cy="1815882"/>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Cubic 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smooth.spline</a:t>
            </a:r>
          </a:p>
          <a:p>
            <a:r>
              <a:rPr lang="it-IT" sz="1400" dirty="0">
                <a:latin typeface="Arial" panose="020B0604020202020204" pitchFamily="34" charset="0"/>
                <a:cs typeface="Arial" panose="020B0604020202020204" pitchFamily="34" charset="0"/>
              </a:rPr>
              <a: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discontinuous when use few knots</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natural spline</a:t>
            </a:r>
          </a:p>
          <a:p>
            <a:pPr lvl="1" indent="0"/>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derivative continuous, poor local control, no monotonic feature </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Hermite </a:t>
            </a:r>
            <a:r>
              <a:rPr lang="it-IT" sz="1400" dirty="0" smtClean="0">
                <a:latin typeface="Arial" panose="020B0604020202020204" pitchFamily="34" charset="0"/>
                <a:cs typeface="Arial" panose="020B0604020202020204" pitchFamily="34" charset="0"/>
              </a:rPr>
              <a:t>spline</a:t>
            </a:r>
          </a:p>
          <a:p>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continuous, piecewise cubic strong local contral,</a:t>
            </a:r>
          </a:p>
          <a:p>
            <a:r>
              <a:rPr lang="it-IT" sz="12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monotonic feature</a:t>
            </a:r>
            <a:endParaRPr lang="it-IT" sz="1200" dirty="0">
              <a:latin typeface="Arial" panose="020B0604020202020204" pitchFamily="34" charset="0"/>
              <a:cs typeface="Arial" panose="020B0604020202020204" pitchFamily="34" charset="0"/>
            </a:endParaRP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2675" y="647701"/>
            <a:ext cx="36671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C:\Rwd\ppmRCode_1.5\Result\tracking\Default_clt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5125"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C:\Rwd\ppmRCode_1.4\Result\fitting\Defualt_cltv.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32593"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921" y="3638550"/>
            <a:ext cx="3166660" cy="347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905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Previous</a:t>
            </a:r>
            <a:endParaRPr lang="en-US" sz="1200" dirty="0"/>
          </a:p>
        </p:txBody>
      </p:sp>
      <p:sp>
        <p:nvSpPr>
          <p:cNvPr id="14" name="Rectangle 13"/>
          <p:cNvSpPr/>
          <p:nvPr/>
        </p:nvSpPr>
        <p:spPr>
          <a:xfrm>
            <a:off x="38290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dirty="0">
                <a:latin typeface="Arial" panose="020B0604020202020204" pitchFamily="34" charset="0"/>
                <a:cs typeface="Arial" panose="020B0604020202020204" pitchFamily="34" charset="0"/>
              </a:rPr>
              <a:t>First derivative continuous</a:t>
            </a:r>
            <a:endParaRPr lang="en-US" sz="1200" dirty="0"/>
          </a:p>
        </p:txBody>
      </p:sp>
      <p:sp>
        <p:nvSpPr>
          <p:cNvPr id="15" name="Rectangle 14"/>
          <p:cNvSpPr/>
          <p:nvPr/>
        </p:nvSpPr>
        <p:spPr>
          <a:xfrm>
            <a:off x="7018972" y="3705226"/>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Monotonic</a:t>
            </a:r>
            <a:endParaRPr lang="en-US" sz="1400" dirty="0"/>
          </a:p>
        </p:txBody>
      </p:sp>
      <p:sp>
        <p:nvSpPr>
          <p:cNvPr id="16" name="AutoShape 12"/>
          <p:cNvSpPr>
            <a:spLocks noChangeArrowheads="1"/>
          </p:cNvSpPr>
          <p:nvPr>
            <p:custDataLst>
              <p:tags r:id="rId1"/>
            </p:custDataLst>
          </p:nvPr>
        </p:nvSpPr>
        <p:spPr bwMode="auto">
          <a:xfrm>
            <a:off x="3403211"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7" name="AutoShape 12"/>
          <p:cNvSpPr>
            <a:spLocks noChangeArrowheads="1"/>
          </p:cNvSpPr>
          <p:nvPr>
            <p:custDataLst>
              <p:tags r:id="rId2"/>
            </p:custDataLst>
          </p:nvPr>
        </p:nvSpPr>
        <p:spPr bwMode="auto">
          <a:xfrm>
            <a:off x="6585743"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7" name="TextBox 6"/>
          <p:cNvSpPr txBox="1"/>
          <p:nvPr/>
        </p:nvSpPr>
        <p:spPr>
          <a:xfrm>
            <a:off x="590550" y="6875143"/>
            <a:ext cx="8877300" cy="276999"/>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Change </a:t>
            </a:r>
            <a:r>
              <a:rPr lang="en-US" sz="1200" dirty="0" err="1" smtClean="0">
                <a:latin typeface="Arial" panose="020B0604020202020204" pitchFamily="34" charset="0"/>
                <a:cs typeface="Arial" panose="020B0604020202020204" pitchFamily="34" charset="0"/>
              </a:rPr>
              <a:t>Hermite</a:t>
            </a:r>
            <a:r>
              <a:rPr lang="en-US" sz="1200" dirty="0" smtClean="0">
                <a:latin typeface="Arial" panose="020B0604020202020204" pitchFamily="34" charset="0"/>
                <a:cs typeface="Arial" panose="020B0604020202020204" pitchFamily="34" charset="0"/>
              </a:rPr>
              <a:t> spline, re-check the raw data, fulfill monotonic condition.</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21231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a:t>Change smooth spline to monotonic </a:t>
            </a:r>
            <a:r>
              <a:rPr lang="en-US" dirty="0" err="1"/>
              <a:t>Hermite</a:t>
            </a:r>
            <a:r>
              <a:rPr lang="en-US" dirty="0"/>
              <a:t> spline</a:t>
            </a:r>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5350" y="1107150"/>
            <a:ext cx="1371600" cy="1371600"/>
          </a:xfrm>
          <a:prstGeom prst="rect">
            <a:avLst/>
          </a:prstGeom>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6455" y="1107150"/>
            <a:ext cx="1371600" cy="1371600"/>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7560" y="1107150"/>
            <a:ext cx="1371600" cy="137160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8665" y="1107150"/>
            <a:ext cx="1371600" cy="1371600"/>
          </a:xfrm>
          <a:prstGeom prst="rect">
            <a:avLst/>
          </a:prstGeom>
        </p:spPr>
      </p:pic>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9770" y="1107150"/>
            <a:ext cx="1371600" cy="1371600"/>
          </a:xfrm>
          <a:prstGeom prst="rect">
            <a:avLst/>
          </a:prstGeom>
        </p:spPr>
      </p:pic>
      <p:pic>
        <p:nvPicPr>
          <p:cNvPr id="26" name="Picture 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50875" y="1107150"/>
            <a:ext cx="1371600" cy="1371600"/>
          </a:xfrm>
          <a:prstGeom prst="rect">
            <a:avLst/>
          </a:prstGeom>
        </p:spPr>
      </p:pic>
      <p:pic>
        <p:nvPicPr>
          <p:cNvPr id="27" name="Picture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94855" y="2669248"/>
            <a:ext cx="1371600" cy="1371600"/>
          </a:xfrm>
          <a:prstGeom prst="rect">
            <a:avLst/>
          </a:prstGeom>
        </p:spPr>
      </p:pic>
      <p:pic>
        <p:nvPicPr>
          <p:cNvPr id="28" name="Picture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65960" y="2669250"/>
            <a:ext cx="1371600" cy="1371600"/>
          </a:xfrm>
          <a:prstGeom prst="rect">
            <a:avLst/>
          </a:prstGeom>
        </p:spPr>
      </p:pic>
      <p:pic>
        <p:nvPicPr>
          <p:cNvPr id="29" name="Picture 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937065" y="2669250"/>
            <a:ext cx="1371600" cy="1371600"/>
          </a:xfrm>
          <a:prstGeom prst="rect">
            <a:avLst/>
          </a:prstGeom>
        </p:spPr>
      </p:pic>
      <p:pic>
        <p:nvPicPr>
          <p:cNvPr id="30" name="Picture 2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08170" y="2669250"/>
            <a:ext cx="1371600" cy="1371600"/>
          </a:xfrm>
          <a:prstGeom prst="rect">
            <a:avLst/>
          </a:prstGeom>
        </p:spPr>
      </p:pic>
      <p:pic>
        <p:nvPicPr>
          <p:cNvPr id="31" name="Picture 3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79275" y="2669247"/>
            <a:ext cx="1371600" cy="1371600"/>
          </a:xfrm>
          <a:prstGeom prst="rect">
            <a:avLst/>
          </a:prstGeom>
        </p:spPr>
      </p:pic>
      <p:sp>
        <p:nvSpPr>
          <p:cNvPr id="13312" name="TextBox 13311"/>
          <p:cNvSpPr txBox="1"/>
          <p:nvPr/>
        </p:nvSpPr>
        <p:spPr>
          <a:xfrm>
            <a:off x="130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37" name="TextBox 36"/>
          <p:cNvSpPr txBox="1"/>
          <p:nvPr/>
        </p:nvSpPr>
        <p:spPr>
          <a:xfrm>
            <a:off x="2677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38" name="TextBox 37"/>
          <p:cNvSpPr txBox="1"/>
          <p:nvPr/>
        </p:nvSpPr>
        <p:spPr>
          <a:xfrm>
            <a:off x="8167425" y="977050"/>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39" name="TextBox 38"/>
          <p:cNvSpPr txBox="1"/>
          <p:nvPr/>
        </p:nvSpPr>
        <p:spPr>
          <a:xfrm>
            <a:off x="679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4049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41" name="TextBox 40"/>
          <p:cNvSpPr txBox="1"/>
          <p:nvPr/>
        </p:nvSpPr>
        <p:spPr>
          <a:xfrm>
            <a:off x="5422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sp>
        <p:nvSpPr>
          <p:cNvPr id="42" name="TextBox 41"/>
          <p:cNvSpPr txBox="1"/>
          <p:nvPr/>
        </p:nvSpPr>
        <p:spPr>
          <a:xfrm>
            <a:off x="1271055" y="253074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43" name="TextBox 42"/>
          <p:cNvSpPr txBox="1"/>
          <p:nvPr/>
        </p:nvSpPr>
        <p:spPr>
          <a:xfrm>
            <a:off x="2699648"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44" name="TextBox 43"/>
          <p:cNvSpPr txBox="1"/>
          <p:nvPr/>
        </p:nvSpPr>
        <p:spPr>
          <a:xfrm>
            <a:off x="4061565" y="25307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45" name="TextBox 44"/>
          <p:cNvSpPr txBox="1"/>
          <p:nvPr/>
        </p:nvSpPr>
        <p:spPr>
          <a:xfrm>
            <a:off x="5223457" y="253299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46" name="TextBox 45"/>
          <p:cNvSpPr txBox="1"/>
          <p:nvPr/>
        </p:nvSpPr>
        <p:spPr>
          <a:xfrm>
            <a:off x="6794925"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13318" name="Rectangle 13317"/>
          <p:cNvSpPr/>
          <p:nvPr/>
        </p:nvSpPr>
        <p:spPr>
          <a:xfrm>
            <a:off x="457200" y="1115549"/>
            <a:ext cx="581025" cy="2799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Before</a:t>
            </a:r>
            <a:endParaRPr lang="en-US" dirty="0"/>
          </a:p>
        </p:txBody>
      </p:sp>
      <p:sp>
        <p:nvSpPr>
          <p:cNvPr id="49" name="Rectangle 48"/>
          <p:cNvSpPr/>
          <p:nvPr/>
        </p:nvSpPr>
        <p:spPr>
          <a:xfrm>
            <a:off x="457199" y="4345647"/>
            <a:ext cx="581025" cy="2768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After</a:t>
            </a:r>
            <a:endParaRPr lang="en-US" dirty="0"/>
          </a:p>
        </p:txBody>
      </p:sp>
      <p:pic>
        <p:nvPicPr>
          <p:cNvPr id="13319" name="Picture 1331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95350" y="4350222"/>
            <a:ext cx="1371600" cy="1371600"/>
          </a:xfrm>
          <a:prstGeom prst="rect">
            <a:avLst/>
          </a:prstGeom>
        </p:spPr>
      </p:pic>
      <p:pic>
        <p:nvPicPr>
          <p:cNvPr id="13320" name="Picture 1331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66455" y="4350222"/>
            <a:ext cx="1371600" cy="1371600"/>
          </a:xfrm>
          <a:prstGeom prst="rect">
            <a:avLst/>
          </a:prstGeom>
        </p:spPr>
      </p:pic>
      <p:pic>
        <p:nvPicPr>
          <p:cNvPr id="13321" name="Picture 133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937560" y="4350222"/>
            <a:ext cx="1371600" cy="1371600"/>
          </a:xfrm>
          <a:prstGeom prst="rect">
            <a:avLst/>
          </a:prstGeom>
        </p:spPr>
      </p:pic>
      <p:pic>
        <p:nvPicPr>
          <p:cNvPr id="13322" name="Picture 1332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308665" y="4350222"/>
            <a:ext cx="1371600" cy="1371600"/>
          </a:xfrm>
          <a:prstGeom prst="rect">
            <a:avLst/>
          </a:prstGeom>
        </p:spPr>
      </p:pic>
      <p:pic>
        <p:nvPicPr>
          <p:cNvPr id="13323" name="Picture 1332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679770" y="4350222"/>
            <a:ext cx="1371600" cy="1371600"/>
          </a:xfrm>
          <a:prstGeom prst="rect">
            <a:avLst/>
          </a:prstGeom>
        </p:spPr>
      </p:pic>
      <p:pic>
        <p:nvPicPr>
          <p:cNvPr id="13324" name="Picture 1332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50875" y="4358249"/>
            <a:ext cx="1371600" cy="1371600"/>
          </a:xfrm>
          <a:prstGeom prst="rect">
            <a:avLst/>
          </a:prstGeom>
        </p:spPr>
      </p:pic>
      <p:pic>
        <p:nvPicPr>
          <p:cNvPr id="13325" name="Picture 1332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19200" y="5856894"/>
            <a:ext cx="1371600" cy="1371600"/>
          </a:xfrm>
          <a:prstGeom prst="rect">
            <a:avLst/>
          </a:prstGeom>
        </p:spPr>
      </p:pic>
      <p:pic>
        <p:nvPicPr>
          <p:cNvPr id="13326" name="Picture 1332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580056" y="5856894"/>
            <a:ext cx="1371600" cy="1371600"/>
          </a:xfrm>
          <a:prstGeom prst="rect">
            <a:avLst/>
          </a:prstGeom>
        </p:spPr>
      </p:pic>
      <p:pic>
        <p:nvPicPr>
          <p:cNvPr id="13327" name="Picture 13326"/>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940912" y="5856894"/>
            <a:ext cx="1371600" cy="1371600"/>
          </a:xfrm>
          <a:prstGeom prst="rect">
            <a:avLst/>
          </a:prstGeom>
        </p:spPr>
      </p:pic>
      <p:pic>
        <p:nvPicPr>
          <p:cNvPr id="13328" name="Picture 13327"/>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301768" y="5856894"/>
            <a:ext cx="1371600" cy="1371600"/>
          </a:xfrm>
          <a:prstGeom prst="rect">
            <a:avLst/>
          </a:prstGeom>
        </p:spPr>
      </p:pic>
      <p:pic>
        <p:nvPicPr>
          <p:cNvPr id="13329" name="Picture 13328"/>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662625" y="5856894"/>
            <a:ext cx="1371600" cy="1371600"/>
          </a:xfrm>
          <a:prstGeom prst="rect">
            <a:avLst/>
          </a:prstGeom>
        </p:spPr>
      </p:pic>
      <p:sp>
        <p:nvSpPr>
          <p:cNvPr id="61" name="TextBox 60"/>
          <p:cNvSpPr txBox="1"/>
          <p:nvPr/>
        </p:nvSpPr>
        <p:spPr>
          <a:xfrm>
            <a:off x="1309312" y="572759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62" name="TextBox 61"/>
          <p:cNvSpPr txBox="1"/>
          <p:nvPr/>
        </p:nvSpPr>
        <p:spPr>
          <a:xfrm>
            <a:off x="2737905"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63" name="TextBox 62"/>
          <p:cNvSpPr txBox="1"/>
          <p:nvPr/>
        </p:nvSpPr>
        <p:spPr>
          <a:xfrm>
            <a:off x="4099822" y="57275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64" name="TextBox 63"/>
          <p:cNvSpPr txBox="1"/>
          <p:nvPr/>
        </p:nvSpPr>
        <p:spPr>
          <a:xfrm>
            <a:off x="5261714" y="572984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65" name="TextBox 64"/>
          <p:cNvSpPr txBox="1"/>
          <p:nvPr/>
        </p:nvSpPr>
        <p:spPr>
          <a:xfrm>
            <a:off x="6833182"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66" name="TextBox 65"/>
          <p:cNvSpPr txBox="1"/>
          <p:nvPr/>
        </p:nvSpPr>
        <p:spPr>
          <a:xfrm>
            <a:off x="130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67" name="TextBox 66"/>
          <p:cNvSpPr txBox="1"/>
          <p:nvPr/>
        </p:nvSpPr>
        <p:spPr>
          <a:xfrm>
            <a:off x="2677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68" name="TextBox 67"/>
          <p:cNvSpPr txBox="1"/>
          <p:nvPr/>
        </p:nvSpPr>
        <p:spPr>
          <a:xfrm>
            <a:off x="8167425" y="4197622"/>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69" name="TextBox 68"/>
          <p:cNvSpPr txBox="1"/>
          <p:nvPr/>
        </p:nvSpPr>
        <p:spPr>
          <a:xfrm>
            <a:off x="679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70" name="TextBox 69"/>
          <p:cNvSpPr txBox="1"/>
          <p:nvPr/>
        </p:nvSpPr>
        <p:spPr>
          <a:xfrm>
            <a:off x="4049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71" name="TextBox 70"/>
          <p:cNvSpPr txBox="1"/>
          <p:nvPr/>
        </p:nvSpPr>
        <p:spPr>
          <a:xfrm>
            <a:off x="5422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cxnSp>
        <p:nvCxnSpPr>
          <p:cNvPr id="13331" name="Straight Connector 13330"/>
          <p:cNvCxnSpPr/>
          <p:nvPr/>
        </p:nvCxnSpPr>
        <p:spPr>
          <a:xfrm>
            <a:off x="447674" y="4149997"/>
            <a:ext cx="906780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3977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smtClean="0"/>
              <a:t>Remove “jump up” problem in media effect</a:t>
            </a:r>
            <a:endParaRPr lang="en-US" dirty="0"/>
          </a:p>
        </p:txBody>
      </p:sp>
      <p:graphicFrame>
        <p:nvGraphicFramePr>
          <p:cNvPr id="50" name="Chart 49"/>
          <p:cNvGraphicFramePr/>
          <p:nvPr>
            <p:extLst>
              <p:ext uri="{D42A27DB-BD31-4B8C-83A1-F6EECF244321}">
                <p14:modId xmlns:p14="http://schemas.microsoft.com/office/powerpoint/2010/main" val="1486019336"/>
              </p:ext>
            </p:extLst>
          </p:nvPr>
        </p:nvGraphicFramePr>
        <p:xfrm>
          <a:off x="399080" y="2466381"/>
          <a:ext cx="8763970" cy="2419349"/>
        </p:xfrm>
        <a:graphic>
          <a:graphicData uri="http://schemas.openxmlformats.org/drawingml/2006/chart">
            <c:chart xmlns:c="http://schemas.openxmlformats.org/drawingml/2006/chart" xmlns:r="http://schemas.openxmlformats.org/officeDocument/2006/relationships" r:id="rId2"/>
          </a:graphicData>
        </a:graphic>
      </p:graphicFrame>
      <p:sp>
        <p:nvSpPr>
          <p:cNvPr id="51" name="TextBox 50"/>
          <p:cNvSpPr txBox="1"/>
          <p:nvPr/>
        </p:nvSpPr>
        <p:spPr>
          <a:xfrm>
            <a:off x="990600" y="15240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rate buffer, 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 name="Rectangle 2"/>
          <p:cNvSpPr/>
          <p:nvPr/>
        </p:nvSpPr>
        <p:spPr>
          <a:xfrm>
            <a:off x="990600" y="1076325"/>
            <a:ext cx="6238875"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Consider a situation when rate stay constant for 3 years</a:t>
            </a:r>
            <a:endParaRPr lang="en-US" dirty="0"/>
          </a:p>
        </p:txBody>
      </p:sp>
      <p:sp>
        <p:nvSpPr>
          <p:cNvPr id="4" name="Rectangle 3"/>
          <p:cNvSpPr/>
          <p:nvPr/>
        </p:nvSpPr>
        <p:spPr>
          <a:xfrm>
            <a:off x="2714625" y="1590675"/>
            <a:ext cx="4981575"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467600" y="1332666"/>
            <a:ext cx="704850" cy="276999"/>
          </a:xfrm>
          <a:prstGeom prst="rect">
            <a:avLst/>
          </a:prstGeom>
          <a:noFill/>
        </p:spPr>
        <p:txBody>
          <a:bodyPr wrap="square" rtlCol="0">
            <a:spAutoFit/>
          </a:bodyPr>
          <a:lstStyle/>
          <a:p>
            <a:r>
              <a:rPr lang="en-US" sz="1200" dirty="0" smtClean="0">
                <a:solidFill>
                  <a:srgbClr val="C00000"/>
                </a:solidFill>
              </a:rPr>
              <a:t>=0</a:t>
            </a:r>
            <a:endParaRPr lang="en-US" sz="1200" dirty="0">
              <a:solidFill>
                <a:srgbClr val="C00000"/>
              </a:solidFill>
            </a:endParaRPr>
          </a:p>
        </p:txBody>
      </p:sp>
      <p:sp>
        <p:nvSpPr>
          <p:cNvPr id="55" name="Rectangle 54"/>
          <p:cNvSpPr/>
          <p:nvPr/>
        </p:nvSpPr>
        <p:spPr>
          <a:xfrm>
            <a:off x="1200150" y="1571625"/>
            <a:ext cx="1062037"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971675" y="1313616"/>
            <a:ext cx="1181100" cy="276999"/>
          </a:xfrm>
          <a:prstGeom prst="rect">
            <a:avLst/>
          </a:prstGeom>
          <a:noFill/>
        </p:spPr>
        <p:txBody>
          <a:bodyPr wrap="square" rtlCol="0">
            <a:spAutoFit/>
          </a:bodyPr>
          <a:lstStyle/>
          <a:p>
            <a:r>
              <a:rPr lang="en-US" sz="1200" dirty="0" smtClean="0">
                <a:solidFill>
                  <a:srgbClr val="C00000"/>
                </a:solidFill>
              </a:rPr>
              <a:t>=rate buffer</a:t>
            </a:r>
            <a:endParaRPr lang="en-US" sz="1200" dirty="0">
              <a:solidFill>
                <a:srgbClr val="C00000"/>
              </a:solidFill>
            </a:endParaRPr>
          </a:p>
        </p:txBody>
      </p:sp>
      <p:sp>
        <p:nvSpPr>
          <p:cNvPr id="57" name="Rectangle 56"/>
          <p:cNvSpPr/>
          <p:nvPr/>
        </p:nvSpPr>
        <p:spPr>
          <a:xfrm>
            <a:off x="3176587" y="2115384"/>
            <a:ext cx="3062288"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4110037" y="2391015"/>
            <a:ext cx="1181100" cy="276999"/>
          </a:xfrm>
          <a:prstGeom prst="rect">
            <a:avLst/>
          </a:prstGeom>
          <a:noFill/>
        </p:spPr>
        <p:txBody>
          <a:bodyPr wrap="square" rtlCol="0">
            <a:spAutoFit/>
          </a:bodyPr>
          <a:lstStyle/>
          <a:p>
            <a:r>
              <a:rPr lang="en-US" sz="1200" dirty="0" smtClean="0">
                <a:solidFill>
                  <a:srgbClr val="C00000"/>
                </a:solidFill>
              </a:rPr>
              <a:t>=5 * rate buffer</a:t>
            </a:r>
            <a:endParaRPr lang="en-US" sz="1200" dirty="0">
              <a:solidFill>
                <a:srgbClr val="C00000"/>
              </a:solidFill>
            </a:endParaRPr>
          </a:p>
        </p:txBody>
      </p:sp>
      <p:sp>
        <p:nvSpPr>
          <p:cNvPr id="59" name="Rectangle 58"/>
          <p:cNvSpPr/>
          <p:nvPr/>
        </p:nvSpPr>
        <p:spPr>
          <a:xfrm>
            <a:off x="990599" y="4953000"/>
            <a:ext cx="8172451"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If (5 </a:t>
            </a:r>
            <a:r>
              <a:rPr lang="en-US" dirty="0">
                <a:solidFill>
                  <a:schemeClr val="bg1"/>
                </a:solidFill>
              </a:rPr>
              <a:t>* rate </a:t>
            </a:r>
            <a:r>
              <a:rPr lang="en-US" dirty="0" smtClean="0">
                <a:solidFill>
                  <a:schemeClr val="bg1"/>
                </a:solidFill>
              </a:rPr>
              <a:t>buffer) &gt; 1, </a:t>
            </a:r>
            <a:r>
              <a:rPr lang="en-US" dirty="0">
                <a:latin typeface="Arial" panose="020B0604020202020204" pitchFamily="34" charset="0"/>
                <a:cs typeface="Arial" panose="020B0604020202020204" pitchFamily="34" charset="0"/>
              </a:rPr>
              <a:t>Media effect multiplier </a:t>
            </a:r>
            <a:r>
              <a:rPr lang="en-US" dirty="0" smtClean="0">
                <a:latin typeface="Arial" panose="020B0604020202020204" pitchFamily="34" charset="0"/>
                <a:cs typeface="Arial" panose="020B0604020202020204" pitchFamily="34" charset="0"/>
              </a:rPr>
              <a:t> will unexpectedly jump up</a:t>
            </a:r>
            <a:endParaRPr lang="en-US" dirty="0">
              <a:solidFill>
                <a:schemeClr val="bg1"/>
              </a:solidFill>
            </a:endParaRPr>
          </a:p>
        </p:txBody>
      </p:sp>
      <p:sp>
        <p:nvSpPr>
          <p:cNvPr id="6" name="TextBox 5"/>
          <p:cNvSpPr txBox="1"/>
          <p:nvPr/>
        </p:nvSpPr>
        <p:spPr>
          <a:xfrm>
            <a:off x="990600" y="5429250"/>
            <a:ext cx="7772400"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Solution: set rate buffer boundary no larger than </a:t>
            </a:r>
            <a:r>
              <a:rPr lang="en-US" sz="1400" dirty="0" smtClean="0">
                <a:latin typeface="Arial" panose="020B0604020202020204" pitchFamily="34" charset="0"/>
                <a:cs typeface="Arial" panose="020B0604020202020204" pitchFamily="34" charset="0"/>
              </a:rPr>
              <a:t>0.2</a:t>
            </a:r>
          </a:p>
          <a:p>
            <a:r>
              <a:rPr lang="en-US" sz="1400" dirty="0" smtClean="0">
                <a:latin typeface="Arial" panose="020B0604020202020204" pitchFamily="34" charset="0"/>
                <a:cs typeface="Arial" panose="020B0604020202020204" pitchFamily="34" charset="0"/>
              </a:rPr>
              <a:t>Check fitting error: </a:t>
            </a:r>
            <a:endParaRPr lang="en-US" sz="1400" dirty="0">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611487557"/>
              </p:ext>
            </p:extLst>
          </p:nvPr>
        </p:nvGraphicFramePr>
        <p:xfrm>
          <a:off x="1938337" y="5993745"/>
          <a:ext cx="6705600" cy="1097280"/>
        </p:xfrm>
        <a:graphic>
          <a:graphicData uri="http://schemas.openxmlformats.org/drawingml/2006/table">
            <a:tbl>
              <a:tblPr firstRow="1" bandRow="1">
                <a:tableStyleId>{0E3FDE45-AF77-4B5C-9715-49D594BDF05E}</a:tableStyleId>
              </a:tblPr>
              <a:tblGrid>
                <a:gridCol w="2235200"/>
                <a:gridCol w="2235200"/>
                <a:gridCol w="2235200"/>
              </a:tblGrid>
              <a:tr h="206534">
                <a:tc>
                  <a:txBody>
                    <a:bodyPr/>
                    <a:lstStyle/>
                    <a:p>
                      <a:endParaRPr lang="en-US" sz="1200" dirty="0"/>
                    </a:p>
                  </a:txBody>
                  <a:tcPr/>
                </a:tc>
                <a:tc>
                  <a:txBody>
                    <a:bodyPr/>
                    <a:lstStyle/>
                    <a:p>
                      <a:pPr algn="ctr"/>
                      <a:r>
                        <a:rPr lang="en-US" sz="1200" dirty="0" smtClean="0"/>
                        <a:t>Rate Buffer</a:t>
                      </a:r>
                      <a:endParaRPr lang="en-US" sz="1200" dirty="0"/>
                    </a:p>
                  </a:txBody>
                  <a:tcPr/>
                </a:tc>
                <a:tc>
                  <a:txBody>
                    <a:bodyPr/>
                    <a:lstStyle/>
                    <a:p>
                      <a:pPr algn="ctr"/>
                      <a:r>
                        <a:rPr lang="en-US" sz="1200" dirty="0" smtClean="0"/>
                        <a:t>Fitting</a:t>
                      </a:r>
                      <a:r>
                        <a:rPr lang="en-US" sz="1200" baseline="0" dirty="0" smtClean="0"/>
                        <a:t> Error</a:t>
                      </a:r>
                      <a:endParaRPr lang="en-US" sz="1200" dirty="0"/>
                    </a:p>
                  </a:txBody>
                  <a:tcPr/>
                </a:tc>
              </a:tr>
              <a:tr h="206534">
                <a:tc>
                  <a:txBody>
                    <a:bodyPr/>
                    <a:lstStyle/>
                    <a:p>
                      <a:r>
                        <a:rPr lang="en-US" sz="1200" dirty="0" smtClean="0"/>
                        <a:t>Previous</a:t>
                      </a:r>
                      <a:r>
                        <a:rPr lang="en-US" sz="1200" baseline="0" dirty="0" smtClean="0"/>
                        <a:t> buffer</a:t>
                      </a:r>
                      <a:endParaRPr lang="en-US" sz="1200" dirty="0"/>
                    </a:p>
                  </a:txBody>
                  <a:tcPr/>
                </a:tc>
                <a:tc>
                  <a:txBody>
                    <a:bodyPr/>
                    <a:lstStyle/>
                    <a:p>
                      <a:pPr algn="ctr" fontAlgn="b"/>
                      <a:r>
                        <a:rPr lang="en-US" sz="1100" u="none" strike="noStrike" dirty="0">
                          <a:effectLst/>
                        </a:rPr>
                        <a:t>0.25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0.673184642</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New buffer</a:t>
                      </a:r>
                      <a:endParaRPr lang="en-US" sz="1200" dirty="0"/>
                    </a:p>
                  </a:txBody>
                  <a:tcPr/>
                </a:tc>
                <a:tc>
                  <a:txBody>
                    <a:bodyPr/>
                    <a:lstStyle/>
                    <a:p>
                      <a:pPr algn="ctr" fontAlgn="b"/>
                      <a:r>
                        <a:rPr lang="en-US" sz="1100" u="none" strike="noStrike" dirty="0">
                          <a:effectLst/>
                        </a:rPr>
                        <a:t>0.2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0.666360687</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Min</a:t>
                      </a:r>
                      <a:r>
                        <a:rPr lang="en-US" sz="1200" baseline="0" dirty="0" smtClean="0"/>
                        <a:t> error </a:t>
                      </a:r>
                      <a:endParaRPr lang="en-US" sz="1200" dirty="0"/>
                    </a:p>
                  </a:txBody>
                  <a:tcPr/>
                </a:tc>
                <a:tc>
                  <a:txBody>
                    <a:bodyPr/>
                    <a:lstStyle/>
                    <a:p>
                      <a:pPr algn="ctr" fontAlgn="b"/>
                      <a:r>
                        <a:rPr lang="en-US" sz="1100" u="none" strike="noStrike" dirty="0">
                          <a:effectLst/>
                        </a:rPr>
                        <a:t>0.2301195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0.651605852</a:t>
                      </a:r>
                      <a:endParaRPr lang="en-US" sz="11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167964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0" grpId="0">
        <p:bldAsOne/>
      </p:bldGraphic>
      <p:bldP spid="51" grpId="0"/>
      <p:bldP spid="3" grpId="0" animBg="1"/>
      <p:bldP spid="4" grpId="0" animBg="1"/>
      <p:bldP spid="5" grpId="0"/>
      <p:bldP spid="55" grpId="0" animBg="1"/>
      <p:bldP spid="56" grpId="0"/>
      <p:bldP spid="57" grpId="0" animBg="1"/>
      <p:bldP spid="58" grpId="0"/>
      <p:bldP spid="59"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092" y="1529950"/>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a:xfrm>
            <a:off x="4648200" y="2344462"/>
            <a:ext cx="1060053" cy="824038"/>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6149231" y="1460350"/>
            <a:ext cx="2783632" cy="1727200"/>
            <a:chOff x="6139706" y="1441300"/>
            <a:chExt cx="2783632" cy="172720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9706" y="1441300"/>
              <a:ext cx="2783632"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a:off x="8715375" y="2209800"/>
              <a:ext cx="0" cy="342900"/>
            </a:xfrm>
            <a:prstGeom prst="straightConnector1">
              <a:avLst/>
            </a:prstGeom>
            <a:ln>
              <a:solidFill>
                <a:srgbClr val="8C2B18"/>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8562976" y="1911980"/>
            <a:ext cx="1266827" cy="261610"/>
          </a:xfrm>
          <a:prstGeom prst="rect">
            <a:avLst/>
          </a:prstGeom>
          <a:noFill/>
        </p:spPr>
        <p:txBody>
          <a:bodyPr wrap="square" rtlCol="0">
            <a:spAutoFit/>
          </a:bodyPr>
          <a:lstStyle/>
          <a:p>
            <a:r>
              <a:rPr lang="en-US" sz="1100" dirty="0" smtClean="0"/>
              <a:t>0.9% fitting error</a:t>
            </a:r>
            <a:endParaRPr lang="en-US" sz="1100"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Fitting Quality Decrease After 2010</a:t>
            </a:r>
            <a:endParaRPr lang="en-US" sz="1600" dirty="0">
              <a:latin typeface="Arial" panose="020B0604020202020204" pitchFamily="34" charset="0"/>
              <a:cs typeface="Arial" panose="020B0604020202020204" pitchFamily="34" charset="0"/>
            </a:endParaRPr>
          </a:p>
        </p:txBody>
      </p:sp>
      <p:cxnSp>
        <p:nvCxnSpPr>
          <p:cNvPr id="15" name="Straight Connector 14"/>
          <p:cNvCxnSpPr/>
          <p:nvPr/>
        </p:nvCxnSpPr>
        <p:spPr>
          <a:xfrm>
            <a:off x="836047" y="4468713"/>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43325" y="4314825"/>
            <a:ext cx="20478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Review HPA Model</a:t>
            </a:r>
            <a:endParaRPr lang="en-US" sz="1600" dirty="0">
              <a:latin typeface="Arial" panose="020B0604020202020204" pitchFamily="34" charset="0"/>
              <a:cs typeface="Arial" panose="020B0604020202020204" pitchFamily="34" charset="0"/>
            </a:endParaRPr>
          </a:p>
        </p:txBody>
      </p:sp>
      <p:pic>
        <p:nvPicPr>
          <p:cNvPr id="1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433" y="4720054"/>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6191670" y="4751218"/>
            <a:ext cx="3056683" cy="516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HPA measure shows a higher prediction </a:t>
            </a:r>
            <a:r>
              <a:rPr lang="en-US" sz="1400" dirty="0" smtClean="0">
                <a:latin typeface="Arial" panose="020B0604020202020204" pitchFamily="34" charset="0"/>
                <a:cs typeface="Arial" panose="020B0604020202020204" pitchFamily="34" charset="0"/>
              </a:rPr>
              <a:t>SMM in </a:t>
            </a:r>
            <a:r>
              <a:rPr lang="en-US" sz="1400" dirty="0">
                <a:latin typeface="Arial" panose="020B0604020202020204" pitchFamily="34" charset="0"/>
                <a:cs typeface="Arial" panose="020B0604020202020204" pitchFamily="34" charset="0"/>
              </a:rPr>
              <a:t>recent 2 yrs. </a:t>
            </a:r>
          </a:p>
        </p:txBody>
      </p:sp>
      <p:sp>
        <p:nvSpPr>
          <p:cNvPr id="20" name="Rectangle 19"/>
          <p:cNvSpPr/>
          <p:nvPr/>
        </p:nvSpPr>
        <p:spPr>
          <a:xfrm>
            <a:off x="6191670" y="5788299"/>
            <a:ext cx="3056683"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More </a:t>
            </a:r>
            <a:r>
              <a:rPr lang="en-US" sz="1400" dirty="0">
                <a:latin typeface="Arial" panose="020B0604020202020204" pitchFamily="34" charset="0"/>
                <a:cs typeface="Arial" panose="020B0604020202020204" pitchFamily="34" charset="0"/>
              </a:rPr>
              <a:t>strict underwriting criteria</a:t>
            </a:r>
          </a:p>
        </p:txBody>
      </p:sp>
      <p:sp>
        <p:nvSpPr>
          <p:cNvPr id="21" name="Rectangle 20"/>
          <p:cNvSpPr/>
          <p:nvPr/>
        </p:nvSpPr>
        <p:spPr>
          <a:xfrm>
            <a:off x="763258" y="6663455"/>
            <a:ext cx="8485095"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Need </a:t>
            </a:r>
            <a:r>
              <a:rPr lang="en-US" sz="1400" dirty="0">
                <a:latin typeface="Arial" panose="020B0604020202020204" pitchFamily="34" charset="0"/>
                <a:cs typeface="Arial" panose="020B0604020202020204" pitchFamily="34" charset="0"/>
              </a:rPr>
              <a:t>to find a credit availability </a:t>
            </a:r>
            <a:r>
              <a:rPr lang="en-US" sz="1400" dirty="0" smtClean="0">
                <a:latin typeface="Arial" panose="020B0604020202020204" pitchFamily="34" charset="0"/>
                <a:cs typeface="Arial" panose="020B0604020202020204" pitchFamily="34" charset="0"/>
              </a:rPr>
              <a:t>measure with thin tail</a:t>
            </a:r>
            <a:endParaRPr lang="en-US" sz="1400" dirty="0">
              <a:latin typeface="Arial" panose="020B0604020202020204" pitchFamily="34" charset="0"/>
              <a:cs typeface="Arial" panose="020B0604020202020204" pitchFamily="34" charset="0"/>
            </a:endParaRPr>
          </a:p>
        </p:txBody>
      </p:sp>
      <p:sp>
        <p:nvSpPr>
          <p:cNvPr id="18" name="Down Arrow 17"/>
          <p:cNvSpPr/>
          <p:nvPr/>
        </p:nvSpPr>
        <p:spPr>
          <a:xfrm>
            <a:off x="7343775" y="5419725"/>
            <a:ext cx="619125" cy="238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7343775" y="6342241"/>
            <a:ext cx="619125" cy="2343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36047" y="3305175"/>
            <a:ext cx="7772400" cy="523220"/>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Overall fitting result is acceptable, but resent years results show a larger error. </a:t>
            </a:r>
          </a:p>
          <a:p>
            <a:r>
              <a:rPr lang="en-US" altLang="zh-CN" sz="1400" dirty="0" smtClean="0">
                <a:latin typeface="Arial" panose="020B0604020202020204" pitchFamily="34" charset="0"/>
                <a:cs typeface="Arial" panose="020B0604020202020204" pitchFamily="34" charset="0"/>
              </a:rPr>
              <a:t>Error in 2004 even increase to 0.9% SMM.</a:t>
            </a:r>
            <a:endParaRPr lang="en-US" sz="1400" dirty="0">
              <a:latin typeface="Arial" panose="020B0604020202020204" pitchFamily="34" charset="0"/>
              <a:cs typeface="Arial" panose="020B0604020202020204" pitchFamily="34" charset="0"/>
            </a:endParaRPr>
          </a:p>
        </p:txBody>
      </p:sp>
      <p:cxnSp>
        <p:nvCxnSpPr>
          <p:cNvPr id="26" name="Straight Connector 25"/>
          <p:cNvCxnSpPr/>
          <p:nvPr/>
        </p:nvCxnSpPr>
        <p:spPr>
          <a:xfrm flipV="1">
            <a:off x="5438775" y="1609725"/>
            <a:ext cx="600075" cy="7142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91200" y="2971800"/>
            <a:ext cx="247650" cy="95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8381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Purchase Index</a:t>
            </a:r>
            <a:endParaRPr lang="en-US" sz="1600" dirty="0">
              <a:latin typeface="Arial" panose="020B0604020202020204" pitchFamily="34" charset="0"/>
              <a:cs typeface="Arial" panose="020B0604020202020204" pitchFamily="34"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427" y="1557754"/>
            <a:ext cx="5848644" cy="1795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6355" y="1797992"/>
            <a:ext cx="2785469"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Changed credit </a:t>
            </a:r>
            <a:r>
              <a:rPr lang="en-US" sz="1400" dirty="0" smtClean="0">
                <a:latin typeface="Arial" panose="020B0604020202020204" pitchFamily="34" charset="0"/>
                <a:cs typeface="Arial" panose="020B0604020202020204" pitchFamily="34" charset="0"/>
              </a:rPr>
              <a:t>availability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a:t>
            </a:r>
            <a:r>
              <a:rPr lang="en-US" sz="1400" dirty="0" smtClean="0">
                <a:latin typeface="Arial" panose="020B0604020202020204" pitchFamily="34" charset="0"/>
                <a:cs typeface="Arial" panose="020B0604020202020204" pitchFamily="34" charset="0"/>
              </a:rPr>
              <a:t>sing </a:t>
            </a:r>
            <a:r>
              <a:rPr lang="en-US" sz="1400" b="1" dirty="0">
                <a:latin typeface="Arial" panose="020B0604020202020204" pitchFamily="34" charset="0"/>
                <a:cs typeface="Arial" panose="020B0604020202020204" pitchFamily="34" charset="0"/>
              </a:rPr>
              <a:t>MBAVPRCH</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Purchase </a:t>
            </a:r>
            <a:r>
              <a:rPr lang="en-US" sz="1400" dirty="0">
                <a:latin typeface="Arial" panose="020B0604020202020204" pitchFamily="34" charset="0"/>
                <a:cs typeface="Arial" panose="020B0604020202020204" pitchFamily="34" charset="0"/>
              </a:rPr>
              <a:t>Index instead of </a:t>
            </a:r>
            <a:r>
              <a:rPr lang="en-US" sz="1400" dirty="0" smtClean="0">
                <a:latin typeface="Arial" panose="020B0604020202020204" pitchFamily="34" charset="0"/>
                <a:cs typeface="Arial" panose="020B0604020202020204" pitchFamily="34" charset="0"/>
              </a:rPr>
              <a:t>HPA</a:t>
            </a:r>
          </a:p>
        </p:txBody>
      </p:sp>
      <mc:AlternateContent xmlns:mc="http://schemas.openxmlformats.org/markup-compatibility/2006">
        <mc:Choice xmlns:a14="http://schemas.microsoft.com/office/drawing/2010/main" Requires="a14">
          <p:sp>
            <p:nvSpPr>
              <p:cNvPr id="26" name="TextBox 25"/>
              <p:cNvSpPr txBox="1"/>
              <p:nvPr/>
            </p:nvSpPr>
            <p:spPr>
              <a:xfrm>
                <a:off x="386355" y="2675930"/>
                <a:ext cx="3093667" cy="27699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1" i="1" smtClean="0">
                          <a:latin typeface="Cambria Math"/>
                          <a:ea typeface="Cambria Math"/>
                        </a:rPr>
                        <m:t>𝒑𝒖𝒓𝒄𝒉𝒂𝒔𝒆</m:t>
                      </m:r>
                      <m:r>
                        <a:rPr lang="en-US" sz="1200" b="1" i="1" smtClean="0">
                          <a:latin typeface="Cambria Math"/>
                          <a:ea typeface="Cambria Math"/>
                        </a:rPr>
                        <m:t> </m:t>
                      </m:r>
                      <m:r>
                        <a:rPr lang="en-US" sz="1200" b="0" i="1" smtClean="0">
                          <a:latin typeface="Cambria Math"/>
                          <a:ea typeface="Cambria Math"/>
                        </a:rPr>
                        <m:t>−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smtClean="0"/>
              </a:p>
            </p:txBody>
          </p:sp>
        </mc:Choice>
        <mc:Fallback>
          <p:sp>
            <p:nvSpPr>
              <p:cNvPr id="26" name="TextBox 25"/>
              <p:cNvSpPr txBox="1">
                <a:spLocks noRot="1" noChangeAspect="1" noMove="1" noResize="1" noEditPoints="1" noAdjustHandles="1" noChangeArrowheads="1" noChangeShapeType="1" noTextEdit="1"/>
              </p:cNvSpPr>
              <p:nvPr/>
            </p:nvSpPr>
            <p:spPr>
              <a:xfrm>
                <a:off x="386355" y="2675930"/>
                <a:ext cx="3093667" cy="276999"/>
              </a:xfrm>
              <a:prstGeom prst="rect">
                <a:avLst/>
              </a:prstGeom>
              <a:blipFill rotWithShape="1">
                <a:blip r:embed="rId3"/>
                <a:stretch>
                  <a:fillRect b="-11111"/>
                </a:stretch>
              </a:blipFill>
            </p:spPr>
            <p:txBody>
              <a:bodyPr/>
              <a:lstStyle/>
              <a:p>
                <a:r>
                  <a:rPr lang="en-US">
                    <a:noFill/>
                  </a:rPr>
                  <a:t> </a:t>
                </a:r>
              </a:p>
            </p:txBody>
          </p:sp>
        </mc:Fallback>
      </mc:AlternateContent>
      <p:sp>
        <p:nvSpPr>
          <p:cNvPr id="6" name="Down Arrow 5"/>
          <p:cNvSpPr/>
          <p:nvPr/>
        </p:nvSpPr>
        <p:spPr>
          <a:xfrm>
            <a:off x="1460002" y="3209925"/>
            <a:ext cx="838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61973" y="4019550"/>
            <a:ext cx="8486775"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t>Get a right model </a:t>
            </a:r>
            <a:r>
              <a:rPr lang="en-US" sz="1400" dirty="0" smtClean="0"/>
              <a:t>shape:  thin tail in recent 2 years</a:t>
            </a:r>
            <a:endParaRPr lang="en-US" sz="1400" dirty="0"/>
          </a:p>
        </p:txBody>
      </p:sp>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3427" y="4987848"/>
            <a:ext cx="5848645" cy="172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86355" y="5014095"/>
            <a:ext cx="2985495" cy="1169551"/>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Problem:</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Purchase index </a:t>
            </a:r>
            <a:r>
              <a:rPr lang="en-US" sz="1400" dirty="0">
                <a:latin typeface="Arial" panose="020B0604020202020204" pitchFamily="34" charset="0"/>
                <a:cs typeface="Arial" panose="020B0604020202020204" pitchFamily="34" charset="0"/>
              </a:rPr>
              <a:t>is sensitive to mortgage rate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Multiplier decrease slow in 09’ to 10’.</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17624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FICO Distribution Measure</a:t>
            </a:r>
            <a:endParaRPr lang="en-US" sz="1600" dirty="0">
              <a:latin typeface="Arial" panose="020B0604020202020204" pitchFamily="34" charset="0"/>
              <a:cs typeface="Arial" panose="020B0604020202020204" pitchFamily="34" charset="0"/>
            </a:endParaRPr>
          </a:p>
        </p:txBody>
      </p:sp>
      <p:sp>
        <p:nvSpPr>
          <p:cNvPr id="3" name="Rectangle 2"/>
          <p:cNvSpPr/>
          <p:nvPr/>
        </p:nvSpPr>
        <p:spPr>
          <a:xfrm>
            <a:off x="836047" y="1555849"/>
            <a:ext cx="8557849" cy="1323439"/>
          </a:xfrm>
          <a:prstGeom prst="rect">
            <a:avLst/>
          </a:prstGeom>
        </p:spPr>
        <p:txBody>
          <a:bodyPr wrap="square">
            <a:spAutoFit/>
          </a:bodyPr>
          <a:lstStyle/>
          <a:p>
            <a:r>
              <a:rPr lang="en-US" sz="1400" dirty="0" smtClean="0">
                <a:latin typeface="Arial" panose="020B0604020202020204" pitchFamily="34" charset="0"/>
                <a:cs typeface="Arial" panose="020B0604020202020204" pitchFamily="34" charset="0"/>
              </a:rPr>
              <a:t>Borrowers in purchase activities is sensitive to mortgage rate, so using purchase index to directly measure credit </a:t>
            </a:r>
            <a:r>
              <a:rPr lang="en-US" sz="1400" dirty="0">
                <a:latin typeface="Arial" panose="020B0604020202020204" pitchFamily="34" charset="0"/>
                <a:cs typeface="Arial" panose="020B0604020202020204" pitchFamily="34" charset="0"/>
              </a:rPr>
              <a:t>availability may brings </a:t>
            </a:r>
            <a:r>
              <a:rPr lang="en-US" sz="1400" dirty="0" smtClean="0">
                <a:latin typeface="Arial" panose="020B0604020202020204" pitchFamily="34" charset="0"/>
                <a:cs typeface="Arial" panose="020B0604020202020204" pitchFamily="34" charset="0"/>
              </a:rPr>
              <a:t>bias.</a:t>
            </a:r>
          </a:p>
          <a:p>
            <a:endParaRPr lang="en-US" sz="1400" dirty="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Consider another measure: percentage distribution of FICO score</a:t>
            </a:r>
          </a:p>
          <a:p>
            <a:r>
              <a:rPr lang="en-US" sz="1200" i="1" dirty="0" smtClean="0">
                <a:latin typeface="Arial" panose="020B0604020202020204" pitchFamily="34" charset="0"/>
                <a:cs typeface="Arial" panose="020B0604020202020204" pitchFamily="34" charset="0"/>
              </a:rPr>
              <a:t>e.g.: Percentage for borrowers’ FICO below 680 is 22.55% in Nov. 2007; </a:t>
            </a:r>
          </a:p>
          <a:p>
            <a:r>
              <a:rPr lang="en-US" sz="1200" i="1" dirty="0" smtClean="0">
                <a:latin typeface="Arial" panose="020B0604020202020204" pitchFamily="34" charset="0"/>
                <a:cs typeface="Arial" panose="020B0604020202020204" pitchFamily="34" charset="0"/>
              </a:rPr>
              <a:t>        this number decrease to 3.29% in July 2009.</a:t>
            </a:r>
          </a:p>
        </p:txBody>
      </p:sp>
      <p:sp>
        <p:nvSpPr>
          <p:cNvPr id="4" name="TextBox 3"/>
          <p:cNvSpPr txBox="1"/>
          <p:nvPr/>
        </p:nvSpPr>
        <p:spPr>
          <a:xfrm>
            <a:off x="836047" y="4810125"/>
            <a:ext cx="8286024"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smtClean="0">
                <a:latin typeface="Arial" panose="020B0604020202020204" pitchFamily="34" charset="0"/>
                <a:cs typeface="Arial" panose="020B0604020202020204" pitchFamily="34" charset="0"/>
              </a:rPr>
              <a:t>Get </a:t>
            </a:r>
            <a:r>
              <a:rPr lang="en-US" sz="1400" dirty="0">
                <a:latin typeface="Arial" panose="020B0604020202020204" pitchFamily="34" charset="0"/>
                <a:cs typeface="Arial" panose="020B0604020202020204" pitchFamily="34" charset="0"/>
              </a:rPr>
              <a:t>a less rate-sensitive measure for credit </a:t>
            </a:r>
            <a:r>
              <a:rPr lang="en-US" sz="1400" dirty="0" smtClean="0">
                <a:latin typeface="Arial" panose="020B0604020202020204" pitchFamily="34" charset="0"/>
                <a:cs typeface="Arial" panose="020B0604020202020204" pitchFamily="34" charset="0"/>
              </a:rPr>
              <a:t>availability.</a:t>
            </a:r>
            <a:endParaRPr lang="en-US" sz="14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0112" y="2879288"/>
            <a:ext cx="6156325"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396" y="5184577"/>
            <a:ext cx="6167272"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083424" y="5750568"/>
            <a:ext cx="2486025" cy="738664"/>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High overall fitting quality;</a:t>
            </a:r>
          </a:p>
          <a:p>
            <a:r>
              <a:rPr lang="en-US" sz="1400" dirty="0" smtClean="0">
                <a:latin typeface="Arial" panose="020B0604020202020204" pitchFamily="34" charset="0"/>
                <a:cs typeface="Arial" panose="020B0604020202020204" pitchFamily="34" charset="0"/>
              </a:rPr>
              <a:t>Errors in recent years keep low.</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26509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p:cNvCxnSpPr/>
          <p:nvPr/>
        </p:nvCxnSpPr>
        <p:spPr>
          <a:xfrm>
            <a:off x="836047" y="472588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33800" y="457200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New Features</a:t>
            </a:r>
            <a:endParaRPr lang="en-US" sz="16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Efficient R-Script</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733800" y="112395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Code Efficiency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36047" y="1543050"/>
            <a:ext cx="8286024" cy="2769989"/>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Made every sub-component/functional calculation process a function:</a:t>
            </a:r>
          </a:p>
          <a:p>
            <a:r>
              <a:rPr lang="en-US" sz="1200" i="1" dirty="0">
                <a:latin typeface="Arial" panose="020B0604020202020204" pitchFamily="34" charset="0"/>
                <a:cs typeface="Arial" panose="020B0604020202020204" pitchFamily="34" charset="0"/>
              </a:rPr>
              <a:t>	R</a:t>
            </a:r>
            <a:r>
              <a:rPr lang="en-US" sz="1200" i="1" dirty="0" smtClean="0">
                <a:latin typeface="Arial" panose="020B0604020202020204" pitchFamily="34" charset="0"/>
                <a:cs typeface="Arial" panose="020B0604020202020204" pitchFamily="34" charset="0"/>
              </a:rPr>
              <a:t>efinancing model: reduce from 913 lines to 310 (reduce by </a:t>
            </a:r>
            <a:r>
              <a:rPr lang="en-US" sz="1200" b="1" i="1" dirty="0" smtClean="0">
                <a:latin typeface="Arial" panose="020B0604020202020204" pitchFamily="34" charset="0"/>
                <a:cs typeface="Arial" panose="020B0604020202020204" pitchFamily="34" charset="0"/>
              </a:rPr>
              <a:t>66%</a:t>
            </a:r>
            <a:r>
              <a:rPr lang="en-US" sz="1200" i="1" dirty="0" smtClean="0">
                <a:latin typeface="Arial" panose="020B0604020202020204" pitchFamily="34" charset="0"/>
                <a:cs typeface="Arial" panose="020B0604020202020204" pitchFamily="34" charset="0"/>
              </a:rPr>
              <a:t>) </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Turnover model: from 783 to 212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73%</a:t>
            </a:r>
            <a:r>
              <a:rPr lang="en-US" sz="1200" i="1" dirty="0" smtClean="0">
                <a:latin typeface="Arial" panose="020B0604020202020204" pitchFamily="34" charset="0"/>
                <a:cs typeface="Arial" panose="020B0604020202020204" pitchFamily="34" charset="0"/>
              </a:rPr>
              <a:t>)</a:t>
            </a:r>
          </a:p>
          <a:p>
            <a:r>
              <a:rPr lang="en-US" sz="1200" i="1" dirty="0" smtClean="0">
                <a:latin typeface="Arial" panose="020B0604020202020204" pitchFamily="34" charset="0"/>
                <a:cs typeface="Arial" panose="020B0604020202020204" pitchFamily="34" charset="0"/>
              </a:rPr>
              <a:t>	Default model: from 567 to 156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72%</a:t>
            </a:r>
            <a:r>
              <a:rPr lang="en-US" sz="1200" i="1" dirty="0" smtClean="0">
                <a:latin typeface="Arial" panose="020B0604020202020204" pitchFamily="34" charset="0"/>
                <a:cs typeface="Arial" panose="020B0604020202020204" pitchFamily="34" charset="0"/>
              </a:rPr>
              <a:t>)</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Curtailment model: </a:t>
            </a:r>
            <a:r>
              <a:rPr lang="en-US" sz="1200" i="1" dirty="0">
                <a:latin typeface="Arial" panose="020B0604020202020204" pitchFamily="34" charset="0"/>
                <a:cs typeface="Arial" panose="020B0604020202020204" pitchFamily="34" charset="0"/>
              </a:rPr>
              <a:t>from </a:t>
            </a:r>
            <a:r>
              <a:rPr lang="en-US" sz="1200" i="1" dirty="0" smtClean="0">
                <a:latin typeface="Arial" panose="020B0604020202020204" pitchFamily="34" charset="0"/>
                <a:cs typeface="Arial" panose="020B0604020202020204" pitchFamily="34" charset="0"/>
              </a:rPr>
              <a:t>98 </a:t>
            </a:r>
            <a:r>
              <a:rPr lang="en-US" sz="1200" i="1" dirty="0">
                <a:latin typeface="Arial" panose="020B0604020202020204" pitchFamily="34" charset="0"/>
                <a:cs typeface="Arial" panose="020B0604020202020204" pitchFamily="34" charset="0"/>
              </a:rPr>
              <a:t>to </a:t>
            </a:r>
            <a:r>
              <a:rPr lang="en-US" sz="1200" i="1" dirty="0" smtClean="0">
                <a:latin typeface="Arial" panose="020B0604020202020204" pitchFamily="34" charset="0"/>
                <a:cs typeface="Arial" panose="020B0604020202020204" pitchFamily="34" charset="0"/>
              </a:rPr>
              <a:t>65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34%</a:t>
            </a:r>
            <a:r>
              <a:rPr lang="en-US" sz="1200" i="1" dirty="0" smtClean="0">
                <a:latin typeface="Arial" panose="020B0604020202020204" pitchFamily="34" charset="0"/>
                <a:cs typeface="Arial" panose="020B0604020202020204" pitchFamily="34" charset="0"/>
              </a:rPr>
              <a:t>)</a:t>
            </a:r>
          </a:p>
          <a:p>
            <a:r>
              <a:rPr lang="en-US" sz="1400" dirty="0" smtClean="0">
                <a:latin typeface="Arial" panose="020B0604020202020204" pitchFamily="34" charset="0"/>
                <a:cs typeface="Arial" panose="020B0604020202020204" pitchFamily="34" charset="0"/>
              </a:rPr>
              <a:t>Total reduce: from 2361 to 743 (reduce by </a:t>
            </a:r>
            <a:r>
              <a:rPr lang="en-US" sz="1400" b="1" dirty="0" smtClean="0">
                <a:latin typeface="Arial" panose="020B0604020202020204" pitchFamily="34" charset="0"/>
                <a:cs typeface="Arial" panose="020B0604020202020204" pitchFamily="34" charset="0"/>
              </a:rPr>
              <a:t>68.5%</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manual execution: </a:t>
            </a:r>
            <a:r>
              <a:rPr lang="en-US" sz="1400" dirty="0" smtClean="0">
                <a:latin typeface="Arial" panose="020B0604020202020204" pitchFamily="34" charset="0"/>
                <a:cs typeface="Arial" panose="020B0604020202020204" pitchFamily="34" charset="0"/>
              </a:rPr>
              <a:t>	only need to call one function for each component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add/delete factors in sub-model</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change functional calculation method</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most loop calculation: 	</a:t>
            </a:r>
            <a:r>
              <a:rPr lang="en-US" sz="1400" dirty="0" smtClean="0">
                <a:latin typeface="Arial" panose="020B0604020202020204" pitchFamily="34" charset="0"/>
                <a:cs typeface="Arial" panose="020B0604020202020204" pitchFamily="34" charset="0"/>
              </a:rPr>
              <a:t>Loop in R is the </a:t>
            </a:r>
            <a:r>
              <a:rPr lang="en-US" sz="1400" dirty="0">
                <a:latin typeface="Arial" panose="020B0604020202020204" pitchFamily="34" charset="0"/>
                <a:cs typeface="Arial" panose="020B0604020202020204" pitchFamily="34" charset="0"/>
              </a:rPr>
              <a:t>most time </a:t>
            </a:r>
            <a:r>
              <a:rPr lang="en-US" sz="1400" dirty="0" smtClean="0">
                <a:latin typeface="Arial" panose="020B0604020202020204" pitchFamily="34" charset="0"/>
                <a:cs typeface="Arial" panose="020B0604020202020204" pitchFamily="34" charset="0"/>
              </a:rPr>
              <a:t>consuming part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change loops with matrix function</a:t>
            </a:r>
            <a:endParaRPr lang="en-US" sz="1400" dirty="0">
              <a:latin typeface="Arial" panose="020B0604020202020204" pitchFamily="34" charset="0"/>
              <a:cs typeface="Arial" panose="020B0604020202020204" pitchFamily="34" charset="0"/>
            </a:endParaRPr>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4114" y="1462504"/>
            <a:ext cx="1800861" cy="1465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descr="C:\Rwd\ppmRCode_1.5\Result\Overall\tracking98_1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3648" y="4986754"/>
            <a:ext cx="1670050" cy="211516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77047" y="4986754"/>
            <a:ext cx="1780427" cy="954107"/>
          </a:xfrm>
          <a:prstGeom prst="rect">
            <a:avLst/>
          </a:prstGeom>
          <a:noFill/>
        </p:spPr>
        <p:txBody>
          <a:bodyPr wrap="square" rtlCol="0">
            <a:spAutoFit/>
          </a:bodyPr>
          <a:lstStyle/>
          <a:p>
            <a:r>
              <a:rPr lang="en-US" sz="1400" dirty="0" smtClean="0"/>
              <a:t>Visualize the quality of sub-model fitting across various prepayment data.</a:t>
            </a:r>
            <a:endParaRPr lang="en-US" sz="1400" dirty="0"/>
          </a:p>
        </p:txBody>
      </p:sp>
      <p:pic>
        <p:nvPicPr>
          <p:cNvPr id="20484" name="Picture 4" descr="C:\Rwd\ppmRCode_1.5\Result\tracking\Refi_incentiv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2527" y="5974497"/>
            <a:ext cx="1205948" cy="120594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4979059" y="5076825"/>
            <a:ext cx="0" cy="202509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438775" y="5136397"/>
            <a:ext cx="3683296" cy="1815882"/>
          </a:xfrm>
          <a:prstGeom prst="rect">
            <a:avLst/>
          </a:prstGeom>
          <a:noFill/>
        </p:spPr>
        <p:txBody>
          <a:bodyPr wrap="square" rtlCol="0">
            <a:spAutoFit/>
          </a:bodyPr>
          <a:lstStyle/>
          <a:p>
            <a:r>
              <a:rPr lang="en-US" sz="1400" dirty="0" smtClean="0"/>
              <a:t>Building spline function:</a:t>
            </a:r>
          </a:p>
          <a:p>
            <a:r>
              <a:rPr lang="en-US" sz="1400" dirty="0" smtClean="0"/>
              <a:t>Includes 3 different spline function, easy to choose: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 spline</a:t>
            </a:r>
            <a:endParaRPr lang="it-IT"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N</a:t>
            </a:r>
            <a:r>
              <a:rPr lang="it-IT" sz="1400" dirty="0" smtClean="0">
                <a:latin typeface="Arial" panose="020B0604020202020204" pitchFamily="34" charset="0"/>
                <a:cs typeface="Arial" panose="020B0604020202020204" pitchFamily="34" charset="0"/>
              </a:rPr>
              <a:t>atural </a:t>
            </a:r>
            <a:r>
              <a:rPr lang="it-IT" sz="1400" dirty="0">
                <a:latin typeface="Arial" panose="020B0604020202020204" pitchFamily="34" charset="0"/>
                <a:cs typeface="Arial" panose="020B0604020202020204" pitchFamily="34" charset="0"/>
              </a:rPr>
              <a:t>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Hermite </a:t>
            </a:r>
            <a:r>
              <a:rPr lang="it-IT" sz="1400" dirty="0">
                <a:latin typeface="Arial" panose="020B0604020202020204" pitchFamily="34" charset="0"/>
                <a:cs typeface="Arial" panose="020B0604020202020204" pitchFamily="34" charset="0"/>
              </a:rPr>
              <a:t>spline</a:t>
            </a:r>
          </a:p>
          <a:p>
            <a:endParaRPr lang="en-US" sz="1400" dirty="0"/>
          </a:p>
          <a:p>
            <a:endParaRPr lang="en-US" sz="1400" dirty="0"/>
          </a:p>
        </p:txBody>
      </p:sp>
    </p:spTree>
    <p:extLst>
      <p:ext uri="{BB962C8B-B14F-4D97-AF65-F5344CB8AC3E}">
        <p14:creationId xmlns:p14="http://schemas.microsoft.com/office/powerpoint/2010/main" val="21920202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smtClean="0"/>
              <a:t>Version </a:t>
            </a:r>
            <a:r>
              <a:rPr lang="en-US" altLang="zh-CN" dirty="0"/>
              <a:t>R</a:t>
            </a:r>
            <a:r>
              <a:rPr lang="en-US" altLang="zh-CN" dirty="0" smtClean="0"/>
              <a:t>eview</a:t>
            </a:r>
            <a:r>
              <a:rPr lang="en-US" dirty="0"/>
              <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90509081"/>
              </p:ext>
            </p:extLst>
          </p:nvPr>
        </p:nvGraphicFramePr>
        <p:xfrm>
          <a:off x="695325" y="1044575"/>
          <a:ext cx="8848725" cy="6162440"/>
        </p:xfrm>
        <a:graphic>
          <a:graphicData uri="http://schemas.openxmlformats.org/drawingml/2006/table">
            <a:tbl>
              <a:tblPr>
                <a:tableStyleId>{5C22544A-7EE6-4342-B048-85BDC9FD1C3A}</a:tableStyleId>
              </a:tblPr>
              <a:tblGrid>
                <a:gridCol w="2432908"/>
                <a:gridCol w="4532273"/>
                <a:gridCol w="1883544"/>
              </a:tblGrid>
              <a:tr h="109084">
                <a:tc>
                  <a:txBody>
                    <a:bodyPr/>
                    <a:lstStyle/>
                    <a:p>
                      <a:pPr algn="ctr" fontAlgn="ctr"/>
                      <a:r>
                        <a:rPr lang="en-US" sz="800" u="none" strike="noStrike" dirty="0">
                          <a:effectLst/>
                        </a:rPr>
                        <a:t>R Script Folder</a:t>
                      </a:r>
                      <a:endParaRPr lang="en-US" sz="800" b="0" i="0" u="none" strike="noStrike" dirty="0">
                        <a:solidFill>
                          <a:srgbClr val="000000"/>
                        </a:solidFill>
                        <a:effectLst/>
                        <a:latin typeface="Calibri"/>
                      </a:endParaRPr>
                    </a:p>
                  </a:txBody>
                  <a:tcPr marL="5076" marR="5076" marT="5076" marB="0" anchor="ctr">
                    <a:solidFill>
                      <a:srgbClr val="00B0F0"/>
                    </a:solidFill>
                  </a:tcPr>
                </a:tc>
                <a:tc>
                  <a:txBody>
                    <a:bodyPr/>
                    <a:lstStyle/>
                    <a:p>
                      <a:pPr algn="ctr" fontAlgn="ctr"/>
                      <a:r>
                        <a:rPr lang="en-US" sz="800" u="none" strike="noStrike">
                          <a:effectLst/>
                        </a:rPr>
                        <a:t>Description</a:t>
                      </a:r>
                      <a:endParaRPr lang="en-US" sz="800" b="0" i="0" u="none" strike="noStrike">
                        <a:solidFill>
                          <a:srgbClr val="000000"/>
                        </a:solidFill>
                        <a:effectLst/>
                        <a:latin typeface="Calibri"/>
                      </a:endParaRPr>
                    </a:p>
                  </a:txBody>
                  <a:tcPr marL="5076" marR="5076" marT="5076" marB="0" anchor="ctr">
                    <a:solidFill>
                      <a:srgbClr val="00B0F0"/>
                    </a:solidFill>
                  </a:tcPr>
                </a:tc>
                <a:tc>
                  <a:txBody>
                    <a:bodyPr/>
                    <a:lstStyle/>
                    <a:p>
                      <a:pPr algn="ctr" fontAlgn="ctr"/>
                      <a:r>
                        <a:rPr lang="en-US" sz="800" u="none" strike="noStrike" dirty="0">
                          <a:effectLst/>
                        </a:rPr>
                        <a:t>Final Changed Date</a:t>
                      </a:r>
                      <a:endParaRPr lang="en-US" sz="800" b="0" i="0" u="none" strike="noStrike" dirty="0">
                        <a:solidFill>
                          <a:srgbClr val="000000"/>
                        </a:solidFill>
                        <a:effectLst/>
                        <a:latin typeface="Calibri"/>
                      </a:endParaRPr>
                    </a:p>
                  </a:txBody>
                  <a:tcPr marL="5076" marR="5076" marT="5076" marB="0" anchor="ctr">
                    <a:solidFill>
                      <a:srgbClr val="00B0F0"/>
                    </a:solidFill>
                  </a:tcPr>
                </a:tc>
              </a:tr>
              <a:tr h="109084">
                <a:tc>
                  <a:txBody>
                    <a:bodyPr/>
                    <a:lstStyle/>
                    <a:p>
                      <a:pPr algn="l" fontAlgn="ctr"/>
                      <a:r>
                        <a:rPr lang="en-US" sz="800" u="none" strike="noStrike">
                          <a:effectLst/>
                        </a:rPr>
                        <a:t>ppmRCode_1.2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Bin's latest version</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ppmRCode_1.2.1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ppmRCode_1.2;</a:t>
                      </a:r>
                      <a:br>
                        <a:rPr lang="en-US" sz="800" u="none" strike="noStrike">
                          <a:effectLst/>
                        </a:rPr>
                      </a:br>
                      <a:r>
                        <a:rPr lang="en-US" sz="800" u="none" strike="noStrike">
                          <a:effectLst/>
                        </a:rPr>
                        <a:t>Bug fixed: manual copy wrong parameters;</a:t>
                      </a:r>
                      <a:br>
                        <a:rPr lang="en-US" sz="800" u="none" strike="noStrike">
                          <a:effectLst/>
                        </a:rPr>
                      </a:br>
                      <a:r>
                        <a:rPr lang="en-US" sz="800" u="none" strike="noStrike">
                          <a:effectLst/>
                        </a:rPr>
                        <a:t>finished the 2nd time spline optimization using least square optimal results.</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7/9/2014</a:t>
                      </a:r>
                      <a:endParaRPr lang="en-US" sz="800" b="0" i="0" u="none" strike="noStrike">
                        <a:solidFill>
                          <a:srgbClr val="000000"/>
                        </a:solidFill>
                        <a:effectLst/>
                        <a:latin typeface="Calibri"/>
                      </a:endParaRPr>
                    </a:p>
                  </a:txBody>
                  <a:tcPr marL="5076" marR="5076" marT="5076" marB="0" anchor="ctr"/>
                </a:tc>
              </a:tr>
              <a:tr h="763588">
                <a:tc>
                  <a:txBody>
                    <a:bodyPr/>
                    <a:lstStyle/>
                    <a:p>
                      <a:pPr algn="l" fontAlgn="ctr"/>
                      <a:r>
                        <a:rPr lang="en-US" sz="800" u="none" strike="noStrike">
                          <a:effectLst/>
                        </a:rPr>
                        <a:t>ppmRCode_1.3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ppmRCode_1.2.1;</a:t>
                      </a:r>
                      <a:br>
                        <a:rPr lang="en-US" sz="800" u="none" strike="noStrike">
                          <a:effectLst/>
                        </a:rPr>
                      </a:br>
                      <a:r>
                        <a:rPr lang="en-US" sz="800" u="none" strike="noStrike">
                          <a:effectLst/>
                        </a:rPr>
                        <a:t>make every fitting and tracking components a function, easy to add or delete factors;</a:t>
                      </a:r>
                      <a:br>
                        <a:rPr lang="en-US" sz="800" u="none" strike="noStrike">
                          <a:effectLst/>
                        </a:rPr>
                      </a:br>
                      <a:r>
                        <a:rPr lang="en-US" sz="800" u="none" strike="noStrike">
                          <a:effectLst/>
                        </a:rPr>
                        <a:t>reduce loop calculations;</a:t>
                      </a:r>
                      <a:br>
                        <a:rPr lang="en-US" sz="800" u="none" strike="noStrike">
                          <a:effectLst/>
                        </a:rPr>
                      </a:br>
                      <a:r>
                        <a:rPr lang="en-US" sz="800" u="none" strike="noStrike">
                          <a:effectLst/>
                        </a:rPr>
                        <a:t>Provide same result as folder ppmRCode_1.2.1.</a:t>
                      </a:r>
                      <a:br>
                        <a:rPr lang="en-US" sz="800" u="none" strike="noStrike">
                          <a:effectLst/>
                        </a:rPr>
                      </a:br>
                      <a:r>
                        <a:rPr lang="en-US" sz="800" u="none" strike="noStrike">
                          <a:effectLst/>
                        </a:rPr>
                        <a:t>local storage raw data and calculation data, easy to track;</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7/17/2014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a:t>
                      </a:r>
                      <a:br>
                        <a:rPr lang="en-US" sz="800" u="none" strike="noStrike">
                          <a:effectLst/>
                        </a:rPr>
                      </a:br>
                      <a:r>
                        <a:rPr lang="en-US" sz="800" u="none" strike="noStrike">
                          <a:effectLst/>
                        </a:rPr>
                        <a:t>Change spline function(from smooth to hermite) for tracking function;</a:t>
                      </a:r>
                      <a:br>
                        <a:rPr lang="en-US" sz="800" u="none" strike="noStrike">
                          <a:effectLst/>
                        </a:rPr>
                      </a:br>
                      <a:r>
                        <a:rPr lang="en-US" sz="800" u="none" strike="noStrike">
                          <a:effectLst/>
                        </a:rPr>
                        <a:t>Research on media effect and credit availability.</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109084">
                <a:tc>
                  <a:txBody>
                    <a:bodyPr/>
                    <a:lstStyle/>
                    <a:p>
                      <a:pPr algn="l" fontAlgn="ctr"/>
                      <a:r>
                        <a:rPr lang="en-US" sz="800" u="none" strike="noStrike">
                          <a:effectLst/>
                        </a:rPr>
                        <a:t>ppmRCode_1.3.1/ME1</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Check the model without media effect and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ppmRCode_1.3.1/ME2</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Media Effect parameters, removed "jump up" problem after 3 yrs constant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ppmRCode_1.3.1/ME3</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by modify HPA parameters. HPA measure shows a higher prediction smm than actual in recent 2 yrs. Due to much more strict underwriting criteria, we might need to find a credit availability measure other than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ppmRCode_1.3.1/ME4</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right model shape by using Purchase Index instead of HPA, though MBAVPRCH index is sensitive to mortgage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less rate-sensitive measure for credit availability by constructing a distribution of FICO score in all purchases.</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ppmRCode_1.3.1;</a:t>
                      </a:r>
                      <a:br>
                        <a:rPr lang="en-US" sz="800" u="none" strike="noStrike">
                          <a:effectLst/>
                        </a:rPr>
                      </a:br>
                      <a:r>
                        <a:rPr lang="en-US" sz="800" u="none" strike="noStrike">
                          <a:effectLst/>
                        </a:rPr>
                        <a:t>Changed the Pool level model to add a feature to fit the single pool AE5463;</a:t>
                      </a:r>
                      <a:br>
                        <a:rPr lang="en-US" sz="800" u="none" strike="noStrike">
                          <a:effectLst/>
                        </a:rPr>
                      </a:br>
                      <a:r>
                        <a:rPr lang="en-US" sz="800" u="none" strike="noStrike">
                          <a:effectLst/>
                        </a:rPr>
                        <a:t>Tie out with C++ program result from CCMPrepayModel_v1.2.2.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ppmRCode_1.3.2;</a:t>
                      </a:r>
                      <a:br>
                        <a:rPr lang="en-US" sz="800" u="none" strike="noStrike">
                          <a:effectLst/>
                        </a:rPr>
                      </a:br>
                      <a:r>
                        <a:rPr lang="en-US" sz="800" u="none" strike="noStrike">
                          <a:effectLst/>
                        </a:rPr>
                        <a:t>Test version for pool: MA1291  (Fannie Mae)</a:t>
                      </a:r>
                      <a:br>
                        <a:rPr lang="en-US" sz="800" u="none" strike="noStrike">
                          <a:effectLst/>
                        </a:rPr>
                      </a:br>
                      <a:r>
                        <a:rPr lang="en-US" sz="800" u="none" strike="noStrike">
                          <a:effectLst/>
                        </a:rPr>
                        <a:t>CLTV&gt;100, turnover SMM shows negtive number in C++ v1.2.2 and v1.2; turn is higher in 1.2.1.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8/8/2014</a:t>
                      </a: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ppmRCode_1.4</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ppmRCode_1.3.1;</a:t>
                      </a:r>
                      <a:br>
                        <a:rPr lang="en-US" sz="800" u="none" strike="noStrike">
                          <a:effectLst/>
                        </a:rPr>
                      </a:br>
                      <a:r>
                        <a:rPr lang="en-US" sz="800" u="none" strike="noStrike">
                          <a:effectLst/>
                        </a:rPr>
                        <a:t>Changed the spline function from smooth spline to Hermite cubic spline in fitting;</a:t>
                      </a:r>
                      <a:br>
                        <a:rPr lang="en-US" sz="800" u="none" strike="noStrike">
                          <a:effectLst/>
                        </a:rPr>
                      </a:br>
                      <a:r>
                        <a:rPr lang="en-US" sz="800" u="none" strike="noStrike">
                          <a:effectLst/>
                        </a:rPr>
                        <a:t>plot all the tracking curves and fitting curves;</a:t>
                      </a:r>
                      <a:br>
                        <a:rPr lang="en-US" sz="800" u="none" strike="noStrike">
                          <a:effectLst/>
                        </a:rPr>
                      </a:br>
                      <a:r>
                        <a:rPr lang="en-US" sz="800" u="none" strike="noStrike">
                          <a:effectLst/>
                        </a:rPr>
                        <a:t>remove "*0.5" multiplier in default model fico factor .</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7/31/2014</a:t>
                      </a:r>
                      <a:endParaRPr lang="en-US" sz="800" b="0" i="0" u="none" strike="noStrike">
                        <a:solidFill>
                          <a:srgbClr val="000000"/>
                        </a:solidFill>
                        <a:effectLst/>
                        <a:latin typeface="Calibri"/>
                      </a:endParaRPr>
                    </a:p>
                  </a:txBody>
                  <a:tcPr marL="5076" marR="5076" marT="5076" marB="0" anchor="ctr"/>
                </a:tc>
              </a:tr>
              <a:tr h="327252">
                <a:tc>
                  <a:txBody>
                    <a:bodyPr/>
                    <a:lstStyle/>
                    <a:p>
                      <a:pPr algn="l" fontAlgn="ctr"/>
                      <a:r>
                        <a:rPr lang="en-US" sz="800" u="none" strike="noStrike">
                          <a:effectLst/>
                        </a:rPr>
                        <a:t>ppmRCode_1.5</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ppmRCode_1.4;</a:t>
                      </a:r>
                      <a:br>
                        <a:rPr lang="en-US" sz="800" u="none" strike="noStrike">
                          <a:effectLst/>
                        </a:rPr>
                      </a:br>
                      <a:r>
                        <a:rPr lang="en-US" sz="800" u="none" strike="noStrike">
                          <a:effectLst/>
                        </a:rPr>
                        <a:t>Modified knot values to fulfill the conditions for monotonic spline.</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8/4/2014</a:t>
                      </a: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ppmRCode_1.5/ME5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for new refi data generated from new spline function </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dirty="0">
                        <a:solidFill>
                          <a:srgbClr val="000000"/>
                        </a:solidFill>
                        <a:effectLst/>
                        <a:latin typeface="Calibri"/>
                      </a:endParaRPr>
                    </a:p>
                  </a:txBody>
                  <a:tcPr marL="5076" marR="5076" marT="5076" marB="0" anchor="ctr"/>
                </a:tc>
              </a:tr>
            </a:tbl>
          </a:graphicData>
        </a:graphic>
      </p:graphicFrame>
    </p:spTree>
    <p:extLst>
      <p:ext uri="{BB962C8B-B14F-4D97-AF65-F5344CB8AC3E}">
        <p14:creationId xmlns:p14="http://schemas.microsoft.com/office/powerpoint/2010/main" val="22428784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smtClean="0"/>
              <a:t>CONTACT INFORMATION</a:t>
            </a:r>
            <a:br>
              <a:rPr lang="en-US" dirty="0" smtClean="0"/>
            </a:br>
            <a:r>
              <a:rPr lang="en-US" sz="1200" b="0" dirty="0"/>
              <a:t>For further information, please contact:</a:t>
            </a:r>
          </a:p>
        </p:txBody>
      </p:sp>
      <p:sp>
        <p:nvSpPr>
          <p:cNvPr id="3" name="Rectangle 2"/>
          <p:cNvSpPr/>
          <p:nvPr/>
        </p:nvSpPr>
        <p:spPr>
          <a:xfrm>
            <a:off x="2500313" y="2822588"/>
            <a:ext cx="5029200" cy="307619"/>
          </a:xfrm>
          <a:prstGeom prst="rect">
            <a:avLst/>
          </a:prstGeom>
        </p:spPr>
        <p:txBody>
          <a:bodyPr lIns="91288" tIns="45642" rIns="91288" bIns="45642">
            <a:spAutoFit/>
          </a:bodyPr>
          <a:lstStyle/>
          <a:p>
            <a:pPr algn="ctr">
              <a:buClr>
                <a:schemeClr val="tx2"/>
              </a:buClr>
              <a:defRPr/>
            </a:pPr>
            <a:r>
              <a:rPr lang="en-US" sz="1400" kern="0" dirty="0" smtClean="0">
                <a:latin typeface="Calibri" pitchFamily="34" charset="0"/>
              </a:rPr>
              <a:t>Thank You</a:t>
            </a:r>
            <a:endParaRPr lang="en-US" sz="1400" kern="0" dirty="0">
              <a:latin typeface="Calibri" pitchFamily="34" charset="0"/>
            </a:endParaRPr>
          </a:p>
        </p:txBody>
      </p:sp>
    </p:spTree>
    <p:extLst>
      <p:ext uri="{BB962C8B-B14F-4D97-AF65-F5344CB8AC3E}">
        <p14:creationId xmlns:p14="http://schemas.microsoft.com/office/powerpoint/2010/main" val="9188581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oqVmyh_6Em0eLwtchsP9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eDs8D4wyUyzR70VR6nx5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SlqQSQ3D7kSLx3Blnvm2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yh1hehj6UWXOi_PfnH5F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qjQoIvI8ku.RJyh3vMC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62401</TotalTime>
  <Words>1768</Words>
  <Application>Microsoft Office PowerPoint</Application>
  <PresentationFormat>Custom</PresentationFormat>
  <Paragraphs>421</Paragraphs>
  <Slides>25</Slides>
  <Notes>1</Notes>
  <HiddenSlides>0</HiddenSlides>
  <MMClips>0</MMClips>
  <ScaleCrop>false</ScaleCrop>
  <HeadingPairs>
    <vt:vector size="4" baseType="variant">
      <vt:variant>
        <vt:lpstr>Theme</vt:lpstr>
      </vt:variant>
      <vt:variant>
        <vt:i4>15</vt:i4>
      </vt:variant>
      <vt:variant>
        <vt:lpstr>Slide Titles</vt:lpstr>
      </vt:variant>
      <vt:variant>
        <vt:i4>25</vt:i4>
      </vt:variant>
    </vt:vector>
  </HeadingPairs>
  <TitlesOfParts>
    <vt:vector size="40"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Agenda</vt:lpstr>
      <vt:lpstr>What is prepayment model The importance of prepayment model </vt:lpstr>
      <vt:lpstr>Prepayment In Residential Mortgage</vt:lpstr>
      <vt:lpstr>What is Prepayment Model</vt:lpstr>
      <vt:lpstr>Spine calculation Media Effect Credit Availability  </vt:lpstr>
      <vt:lpstr>Factors in prepayment model </vt:lpstr>
      <vt:lpstr>Modeling Overview and Structure</vt:lpstr>
      <vt:lpstr>Modeling Methods</vt:lpstr>
      <vt:lpstr>Modeling Methods</vt:lpstr>
      <vt:lpstr>Modeling Methods</vt:lpstr>
      <vt:lpstr>Modeling Methods</vt:lpstr>
      <vt:lpstr>Result After Spline Interpolation</vt:lpstr>
      <vt:lpstr>Media Effect and Credit Availability</vt:lpstr>
      <vt:lpstr>Media Effect and Credit Availability</vt:lpstr>
      <vt:lpstr>Monotonic Spline Function Media Effect “Jump Up” Problem Change Credit Availability Efficient R- Script   </vt:lpstr>
      <vt:lpstr>Model Improvements Change smooth spline to monotonic Hermite spline</vt:lpstr>
      <vt:lpstr>Model Improvements Change smooth spline to monotonic Hermite spline</vt:lpstr>
      <vt:lpstr>Model Improvements Remove “jump up” problem in media effect</vt:lpstr>
      <vt:lpstr>Model Improvements Change Credit Availability measure, Improve Recent Years Fitting</vt:lpstr>
      <vt:lpstr>Model Improvements Change Credit Availability measure, Improve Recent Years Fitting</vt:lpstr>
      <vt:lpstr>Model Improvements Change Credit Availability measure, Improve Recent Years Fitting</vt:lpstr>
      <vt:lpstr>Model Improvements Efficient R-Script</vt:lpstr>
      <vt:lpstr>Version Review </vt:lpstr>
      <vt:lpstr>CONTACT INFORMATION For further information, please contact:</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1766</cp:revision>
  <cp:lastPrinted>2014-07-09T18:50:28Z</cp:lastPrinted>
  <dcterms:created xsi:type="dcterms:W3CDTF">2011-07-07T12:37:32Z</dcterms:created>
  <dcterms:modified xsi:type="dcterms:W3CDTF">2014-08-11T21:20:14Z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