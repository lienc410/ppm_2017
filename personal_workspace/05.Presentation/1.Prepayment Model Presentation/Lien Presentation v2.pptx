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gif" ContentType="image/gif"/>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theme/theme3.xml" ContentType="application/vnd.openxmlformats-officedocument.theme+xml"/>
  <Override PartName="/ppt/slideLayouts/slideLayout10.xml" ContentType="application/vnd.openxmlformats-officedocument.presentationml.slideLayout+xml"/>
  <Override PartName="/ppt/theme/theme4.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slideLayouts/slideLayout13.xml" ContentType="application/vnd.openxmlformats-officedocument.presentationml.slideLayout+xml"/>
  <Override PartName="/ppt/theme/theme9.xml" ContentType="application/vnd.openxmlformats-officedocument.theme+xml"/>
  <Override PartName="/ppt/slideLayouts/slideLayout14.xml" ContentType="application/vnd.openxmlformats-officedocument.presentationml.slideLayout+xml"/>
  <Override PartName="/ppt/theme/theme10.xml" ContentType="application/vnd.openxmlformats-officedocument.theme+xml"/>
  <Override PartName="/ppt/slideLayouts/slideLayout15.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14.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charts/chart1.xml" ContentType="application/vnd.openxmlformats-officedocument.drawingml.chart+xml"/>
  <Override PartName="/ppt/charts/chart2.xml" ContentType="application/vnd.openxmlformats-officedocument.drawingml.chart+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charts/chart7.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654" r:id="rId2"/>
    <p:sldMasterId id="2147483656" r:id="rId3"/>
    <p:sldMasterId id="2147483653" r:id="rId4"/>
    <p:sldMasterId id="2147483659" r:id="rId5"/>
    <p:sldMasterId id="2147483657" r:id="rId6"/>
    <p:sldMasterId id="2147483658" r:id="rId7"/>
    <p:sldMasterId id="2147483655" r:id="rId8"/>
    <p:sldMasterId id="2147483749" r:id="rId9"/>
    <p:sldMasterId id="2147483761" r:id="rId10"/>
    <p:sldMasterId id="2147483773" r:id="rId11"/>
    <p:sldMasterId id="2147483834" r:id="rId12"/>
    <p:sldMasterId id="2147483846" r:id="rId13"/>
    <p:sldMasterId id="2147483847" r:id="rId14"/>
    <p:sldMasterId id="2147483853" r:id="rId15"/>
  </p:sldMasterIdLst>
  <p:notesMasterIdLst>
    <p:notesMasterId r:id="rId42"/>
  </p:notesMasterIdLst>
  <p:handoutMasterIdLst>
    <p:handoutMasterId r:id="rId43"/>
  </p:handoutMasterIdLst>
  <p:sldIdLst>
    <p:sldId id="433" r:id="rId16"/>
    <p:sldId id="578" r:id="rId17"/>
    <p:sldId id="579" r:id="rId18"/>
    <p:sldId id="554" r:id="rId19"/>
    <p:sldId id="555" r:id="rId20"/>
    <p:sldId id="580" r:id="rId21"/>
    <p:sldId id="582" r:id="rId22"/>
    <p:sldId id="557" r:id="rId23"/>
    <p:sldId id="558" r:id="rId24"/>
    <p:sldId id="559" r:id="rId25"/>
    <p:sldId id="560" r:id="rId26"/>
    <p:sldId id="561" r:id="rId27"/>
    <p:sldId id="583" r:id="rId28"/>
    <p:sldId id="563" r:id="rId29"/>
    <p:sldId id="562" r:id="rId30"/>
    <p:sldId id="566" r:id="rId31"/>
    <p:sldId id="581" r:id="rId32"/>
    <p:sldId id="564" r:id="rId33"/>
    <p:sldId id="568" r:id="rId34"/>
    <p:sldId id="569" r:id="rId35"/>
    <p:sldId id="570" r:id="rId36"/>
    <p:sldId id="573" r:id="rId37"/>
    <p:sldId id="574" r:id="rId38"/>
    <p:sldId id="575" r:id="rId39"/>
    <p:sldId id="577" r:id="rId40"/>
    <p:sldId id="539" r:id="rId41"/>
  </p:sldIdLst>
  <p:sldSz cx="10058400" cy="7772400"/>
  <p:notesSz cx="7010400" cy="9296400"/>
  <p:defaultTextStyle>
    <a:defPPr>
      <a:defRPr lang="en-US"/>
    </a:defPPr>
    <a:lvl1pPr algn="l" rtl="0" fontAlgn="base">
      <a:spcBef>
        <a:spcPct val="0"/>
      </a:spcBef>
      <a:spcAft>
        <a:spcPct val="0"/>
      </a:spcAft>
      <a:defRPr kern="1200">
        <a:solidFill>
          <a:schemeClr val="tx1"/>
        </a:solidFill>
        <a:latin typeface="Cambria" pitchFamily="18" charset="0"/>
        <a:ea typeface="+mn-ea"/>
        <a:cs typeface="+mn-cs"/>
      </a:defRPr>
    </a:lvl1pPr>
    <a:lvl2pPr marL="507526" indent="1769" algn="l" rtl="0" fontAlgn="base">
      <a:spcBef>
        <a:spcPct val="0"/>
      </a:spcBef>
      <a:spcAft>
        <a:spcPct val="0"/>
      </a:spcAft>
      <a:defRPr kern="1200">
        <a:solidFill>
          <a:schemeClr val="tx1"/>
        </a:solidFill>
        <a:latin typeface="Cambria" pitchFamily="18" charset="0"/>
        <a:ea typeface="+mn-ea"/>
        <a:cs typeface="+mn-cs"/>
      </a:defRPr>
    </a:lvl2pPr>
    <a:lvl3pPr marL="1016818" indent="1769" algn="l" rtl="0" fontAlgn="base">
      <a:spcBef>
        <a:spcPct val="0"/>
      </a:spcBef>
      <a:spcAft>
        <a:spcPct val="0"/>
      </a:spcAft>
      <a:defRPr kern="1200">
        <a:solidFill>
          <a:schemeClr val="tx1"/>
        </a:solidFill>
        <a:latin typeface="Cambria" pitchFamily="18" charset="0"/>
        <a:ea typeface="+mn-ea"/>
        <a:cs typeface="+mn-cs"/>
      </a:defRPr>
    </a:lvl3pPr>
    <a:lvl4pPr marL="1526111" indent="1769" algn="l" rtl="0" fontAlgn="base">
      <a:spcBef>
        <a:spcPct val="0"/>
      </a:spcBef>
      <a:spcAft>
        <a:spcPct val="0"/>
      </a:spcAft>
      <a:defRPr kern="1200">
        <a:solidFill>
          <a:schemeClr val="tx1"/>
        </a:solidFill>
        <a:latin typeface="Cambria" pitchFamily="18" charset="0"/>
        <a:ea typeface="+mn-ea"/>
        <a:cs typeface="+mn-cs"/>
      </a:defRPr>
    </a:lvl4pPr>
    <a:lvl5pPr marL="2035405" indent="1769" algn="l" rtl="0" fontAlgn="base">
      <a:spcBef>
        <a:spcPct val="0"/>
      </a:spcBef>
      <a:spcAft>
        <a:spcPct val="0"/>
      </a:spcAft>
      <a:defRPr kern="1200">
        <a:solidFill>
          <a:schemeClr val="tx1"/>
        </a:solidFill>
        <a:latin typeface="Cambria" pitchFamily="18" charset="0"/>
        <a:ea typeface="+mn-ea"/>
        <a:cs typeface="+mn-cs"/>
      </a:defRPr>
    </a:lvl5pPr>
    <a:lvl6pPr marL="2546466" algn="l" defTabSz="1018586" rtl="0" eaLnBrk="1" latinLnBrk="0" hangingPunct="1">
      <a:defRPr kern="1200">
        <a:solidFill>
          <a:schemeClr val="tx1"/>
        </a:solidFill>
        <a:latin typeface="Cambria" pitchFamily="18" charset="0"/>
        <a:ea typeface="+mn-ea"/>
        <a:cs typeface="+mn-cs"/>
      </a:defRPr>
    </a:lvl6pPr>
    <a:lvl7pPr marL="3055758" algn="l" defTabSz="1018586" rtl="0" eaLnBrk="1" latinLnBrk="0" hangingPunct="1">
      <a:defRPr kern="1200">
        <a:solidFill>
          <a:schemeClr val="tx1"/>
        </a:solidFill>
        <a:latin typeface="Cambria" pitchFamily="18" charset="0"/>
        <a:ea typeface="+mn-ea"/>
        <a:cs typeface="+mn-cs"/>
      </a:defRPr>
    </a:lvl7pPr>
    <a:lvl8pPr marL="3565052" algn="l" defTabSz="1018586" rtl="0" eaLnBrk="1" latinLnBrk="0" hangingPunct="1">
      <a:defRPr kern="1200">
        <a:solidFill>
          <a:schemeClr val="tx1"/>
        </a:solidFill>
        <a:latin typeface="Cambria" pitchFamily="18" charset="0"/>
        <a:ea typeface="+mn-ea"/>
        <a:cs typeface="+mn-cs"/>
      </a:defRPr>
    </a:lvl8pPr>
    <a:lvl9pPr marL="4074344" algn="l" defTabSz="1018586" rtl="0" eaLnBrk="1" latinLnBrk="0" hangingPunct="1">
      <a:defRPr kern="1200">
        <a:solidFill>
          <a:schemeClr val="tx1"/>
        </a:solidFill>
        <a:latin typeface="Cambria" pitchFamily="18"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C2B18"/>
    <a:srgbClr val="996633"/>
    <a:srgbClr val="968880"/>
    <a:srgbClr val="2E398A"/>
    <a:srgbClr val="533D2D"/>
    <a:srgbClr val="533D23"/>
    <a:srgbClr val="EFEBE4"/>
    <a:srgbClr val="090909"/>
    <a:srgbClr val="E519CD"/>
    <a:srgbClr val="E1D8B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horzBarState="maximized">
    <p:restoredLeft sz="11695" autoAdjust="0"/>
    <p:restoredTop sz="95014" autoAdjust="0"/>
  </p:normalViewPr>
  <p:slideViewPr>
    <p:cSldViewPr snapToGrid="0" snapToObjects="1">
      <p:cViewPr>
        <p:scale>
          <a:sx n="100" d="100"/>
          <a:sy n="100" d="100"/>
        </p:scale>
        <p:origin x="-1512" y="-846"/>
      </p:cViewPr>
      <p:guideLst>
        <p:guide orient="horz" pos="3872"/>
        <p:guide orient="horz" pos="1976"/>
        <p:guide orient="horz" pos="797"/>
        <p:guide orient="horz" pos="981"/>
        <p:guide orient="horz" pos="4327"/>
        <p:guide orient="horz" pos="145"/>
        <p:guide pos="5282"/>
        <p:guide pos="126"/>
        <p:guide pos="5046"/>
        <p:guide pos="1973"/>
        <p:guide pos="3396"/>
        <p:guide pos="3165"/>
        <p:guide pos="1575"/>
        <p:guide pos="1055"/>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66" d="100"/>
        <a:sy n="66" d="100"/>
      </p:scale>
      <p:origin x="0" y="252"/>
    </p:cViewPr>
  </p:sorterViewPr>
  <p:notesViewPr>
    <p:cSldViewPr snapToGrid="0" snapToObjects="1">
      <p:cViewPr varScale="1">
        <p:scale>
          <a:sx n="79" d="100"/>
          <a:sy n="79" d="100"/>
        </p:scale>
        <p:origin x="-1956" y="-90"/>
      </p:cViewPr>
      <p:guideLst>
        <p:guide orient="horz" pos="2929"/>
        <p:guide pos="2209"/>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Master" Target="slideMasters/slideMaster13.xml"/><Relationship Id="rId18" Type="http://schemas.openxmlformats.org/officeDocument/2006/relationships/slide" Target="slides/slide3.xml"/><Relationship Id="rId26" Type="http://schemas.openxmlformats.org/officeDocument/2006/relationships/slide" Target="slides/slide11.xml"/><Relationship Id="rId39" Type="http://schemas.openxmlformats.org/officeDocument/2006/relationships/slide" Target="slides/slide24.xml"/><Relationship Id="rId3" Type="http://schemas.openxmlformats.org/officeDocument/2006/relationships/slideMaster" Target="slideMasters/slideMaster3.xml"/><Relationship Id="rId21" Type="http://schemas.openxmlformats.org/officeDocument/2006/relationships/slide" Target="slides/slide6.xml"/><Relationship Id="rId34" Type="http://schemas.openxmlformats.org/officeDocument/2006/relationships/slide" Target="slides/slide19.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 Target="slides/slide2.xml"/><Relationship Id="rId25" Type="http://schemas.openxmlformats.org/officeDocument/2006/relationships/slide" Target="slides/slide10.xml"/><Relationship Id="rId33" Type="http://schemas.openxmlformats.org/officeDocument/2006/relationships/slide" Target="slides/slide18.xml"/><Relationship Id="rId38" Type="http://schemas.openxmlformats.org/officeDocument/2006/relationships/slide" Target="slides/slide23.xml"/><Relationship Id="rId46"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xml"/><Relationship Id="rId20" Type="http://schemas.openxmlformats.org/officeDocument/2006/relationships/slide" Target="slides/slide5.xml"/><Relationship Id="rId29" Type="http://schemas.openxmlformats.org/officeDocument/2006/relationships/slide" Target="slides/slide14.xml"/><Relationship Id="rId41"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9.xml"/><Relationship Id="rId32" Type="http://schemas.openxmlformats.org/officeDocument/2006/relationships/slide" Target="slides/slide17.xml"/><Relationship Id="rId37" Type="http://schemas.openxmlformats.org/officeDocument/2006/relationships/slide" Target="slides/slide22.xml"/><Relationship Id="rId40" Type="http://schemas.openxmlformats.org/officeDocument/2006/relationships/slide" Target="slides/slide25.xml"/><Relationship Id="rId45"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 Target="slides/slide8.xml"/><Relationship Id="rId28" Type="http://schemas.openxmlformats.org/officeDocument/2006/relationships/slide" Target="slides/slide13.xml"/><Relationship Id="rId36" Type="http://schemas.openxmlformats.org/officeDocument/2006/relationships/slide" Target="slides/slide21.xml"/><Relationship Id="rId10" Type="http://schemas.openxmlformats.org/officeDocument/2006/relationships/slideMaster" Target="slideMasters/slideMaster10.xml"/><Relationship Id="rId19" Type="http://schemas.openxmlformats.org/officeDocument/2006/relationships/slide" Target="slides/slide4.xml"/><Relationship Id="rId31" Type="http://schemas.openxmlformats.org/officeDocument/2006/relationships/slide" Target="slides/slide16.xml"/><Relationship Id="rId44"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7.xml"/><Relationship Id="rId27" Type="http://schemas.openxmlformats.org/officeDocument/2006/relationships/slide" Target="slides/slide12.xml"/><Relationship Id="rId30" Type="http://schemas.openxmlformats.org/officeDocument/2006/relationships/slide" Target="slides/slide15.xml"/><Relationship Id="rId35" Type="http://schemas.openxmlformats.org/officeDocument/2006/relationships/slide" Target="slides/slide20.xml"/><Relationship Id="rId43" Type="http://schemas.openxmlformats.org/officeDocument/2006/relationships/handoutMaster" Target="handoutMasters/handout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12"/>
    </mc:Choice>
    <mc:Fallback>
      <c:style val="12"/>
    </mc:Fallback>
  </mc:AlternateContent>
  <c:chart>
    <c:autoTitleDeleted val="1"/>
    <c:plotArea>
      <c:layout>
        <c:manualLayout>
          <c:layoutTarget val="inner"/>
          <c:xMode val="edge"/>
          <c:yMode val="edge"/>
          <c:x val="8.0284331032632564E-2"/>
          <c:y val="4.6153842659460646E-2"/>
          <c:w val="0.88414094578388613"/>
          <c:h val="0.86692770541128861"/>
        </c:manualLayout>
      </c:layout>
      <c:pieChart>
        <c:varyColors val="1"/>
        <c:ser>
          <c:idx val="0"/>
          <c:order val="0"/>
          <c:tx>
            <c:strRef>
              <c:f>Sheet1!$B$1</c:f>
              <c:strCache>
                <c:ptCount val="1"/>
                <c:pt idx="0">
                  <c:v>Q1</c:v>
                </c:pt>
              </c:strCache>
            </c:strRef>
          </c:tx>
          <c:dPt>
            <c:idx val="0"/>
            <c:bubble3D val="0"/>
          </c:dPt>
          <c:dPt>
            <c:idx val="1"/>
            <c:bubble3D val="0"/>
          </c:dPt>
          <c:dPt>
            <c:idx val="2"/>
            <c:bubble3D val="0"/>
          </c:dPt>
          <c:dPt>
            <c:idx val="3"/>
            <c:bubble3D val="0"/>
          </c:dPt>
          <c:dPt>
            <c:idx val="4"/>
            <c:bubble3D val="0"/>
          </c:dPt>
          <c:dLbls>
            <c:delete val="1"/>
          </c:dLbls>
          <c:cat>
            <c:strRef>
              <c:f>Sheet1!$A$2:$A$5</c:f>
              <c:strCache>
                <c:ptCount val="4"/>
                <c:pt idx="0">
                  <c:v>Curtail</c:v>
                </c:pt>
                <c:pt idx="1">
                  <c:v>Defualt</c:v>
                </c:pt>
                <c:pt idx="2">
                  <c:v>Turnover</c:v>
                </c:pt>
                <c:pt idx="3">
                  <c:v>Refinancing</c:v>
                </c:pt>
              </c:strCache>
            </c:strRef>
          </c:cat>
          <c:val>
            <c:numRef>
              <c:f>Sheet1!$B$2:$B$5</c:f>
              <c:numCache>
                <c:formatCode>General</c:formatCode>
                <c:ptCount val="4"/>
                <c:pt idx="0">
                  <c:v>10</c:v>
                </c:pt>
                <c:pt idx="1">
                  <c:v>10</c:v>
                </c:pt>
                <c:pt idx="2">
                  <c:v>10</c:v>
                </c:pt>
                <c:pt idx="3">
                  <c:v>10</c:v>
                </c:pt>
              </c:numCache>
            </c:numRef>
          </c:val>
        </c:ser>
        <c:dLbls>
          <c:showLegendKey val="0"/>
          <c:showVal val="1"/>
          <c:showCatName val="0"/>
          <c:showSerName val="0"/>
          <c:showPercent val="0"/>
          <c:showBubbleSize val="0"/>
          <c:showLeaderLines val="1"/>
        </c:dLbls>
        <c:firstSliceAng val="0"/>
      </c:pieChart>
    </c:plotArea>
    <c:plotVisOnly val="1"/>
    <c:dispBlanksAs val="zero"/>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8310040493506277"/>
          <c:y val="3.9546124331371904E-2"/>
          <c:w val="0.7674778025024348"/>
          <c:h val="0.74829542212393607"/>
        </c:manualLayout>
      </c:layout>
      <c:lineChart>
        <c:grouping val="standard"/>
        <c:varyColors val="0"/>
        <c:ser>
          <c:idx val="0"/>
          <c:order val="0"/>
          <c:tx>
            <c:strRef>
              <c:f>Sheet1!$B$1</c:f>
              <c:strCache>
                <c:ptCount val="1"/>
                <c:pt idx="0">
                  <c:v>CPR</c:v>
                </c:pt>
              </c:strCache>
            </c:strRef>
          </c:tx>
          <c:marker>
            <c:symbol val="none"/>
          </c:marker>
          <c:cat>
            <c:numRef>
              <c:f>Sheet1!$A$2:$A$12</c:f>
              <c:numCache>
                <c:formatCode>0%</c:formatCode>
                <c:ptCount val="11"/>
                <c:pt idx="0">
                  <c:v>0</c:v>
                </c:pt>
                <c:pt idx="1">
                  <c:v>0.05</c:v>
                </c:pt>
                <c:pt idx="2">
                  <c:v>0.1</c:v>
                </c:pt>
                <c:pt idx="3">
                  <c:v>0.15</c:v>
                </c:pt>
                <c:pt idx="4">
                  <c:v>0.2</c:v>
                </c:pt>
                <c:pt idx="5">
                  <c:v>0.25</c:v>
                </c:pt>
                <c:pt idx="6">
                  <c:v>0.3</c:v>
                </c:pt>
                <c:pt idx="7">
                  <c:v>0.35</c:v>
                </c:pt>
                <c:pt idx="8">
                  <c:v>0.4</c:v>
                </c:pt>
                <c:pt idx="9">
                  <c:v>0.45</c:v>
                </c:pt>
                <c:pt idx="10">
                  <c:v>0.5</c:v>
                </c:pt>
              </c:numCache>
            </c:numRef>
          </c:cat>
          <c:val>
            <c:numRef>
              <c:f>Sheet1!$B$2:$B$12</c:f>
              <c:numCache>
                <c:formatCode>0%</c:formatCode>
                <c:ptCount val="11"/>
                <c:pt idx="0">
                  <c:v>0</c:v>
                </c:pt>
                <c:pt idx="1">
                  <c:v>0.45963991233736312</c:v>
                </c:pt>
                <c:pt idx="2">
                  <c:v>0.71757046351899989</c:v>
                </c:pt>
                <c:pt idx="3">
                  <c:v>0.85775824286382796</c:v>
                </c:pt>
                <c:pt idx="4">
                  <c:v>0.9312805232639999</c:v>
                </c:pt>
                <c:pt idx="5">
                  <c:v>0.96832364797592163</c:v>
                </c:pt>
                <c:pt idx="6">
                  <c:v>0.98615871279900003</c:v>
                </c:pt>
                <c:pt idx="7">
                  <c:v>0.99431199093689426</c:v>
                </c:pt>
                <c:pt idx="8">
                  <c:v>0.99782321766399995</c:v>
                </c:pt>
                <c:pt idx="9">
                  <c:v>0.99923378213458958</c:v>
                </c:pt>
                <c:pt idx="10">
                  <c:v>0.999755859375</c:v>
                </c:pt>
              </c:numCache>
            </c:numRef>
          </c:val>
          <c:smooth val="1"/>
        </c:ser>
        <c:dLbls>
          <c:showLegendKey val="0"/>
          <c:showVal val="0"/>
          <c:showCatName val="0"/>
          <c:showSerName val="0"/>
          <c:showPercent val="0"/>
          <c:showBubbleSize val="0"/>
        </c:dLbls>
        <c:marker val="1"/>
        <c:smooth val="0"/>
        <c:axId val="164160640"/>
        <c:axId val="164162560"/>
      </c:lineChart>
      <c:catAx>
        <c:axId val="164160640"/>
        <c:scaling>
          <c:orientation val="minMax"/>
        </c:scaling>
        <c:delete val="0"/>
        <c:axPos val="b"/>
        <c:title>
          <c:tx>
            <c:rich>
              <a:bodyPr/>
              <a:lstStyle/>
              <a:p>
                <a:pPr>
                  <a:defRPr/>
                </a:pPr>
                <a:r>
                  <a:rPr lang="en-US" dirty="0" smtClean="0"/>
                  <a:t>CPR</a:t>
                </a:r>
                <a:endParaRPr lang="en-US" dirty="0"/>
              </a:p>
            </c:rich>
          </c:tx>
          <c:layout/>
          <c:overlay val="0"/>
        </c:title>
        <c:numFmt formatCode="0%" sourceLinked="1"/>
        <c:majorTickMark val="out"/>
        <c:minorTickMark val="none"/>
        <c:tickLblPos val="nextTo"/>
        <c:spPr>
          <a:ln>
            <a:solidFill>
              <a:schemeClr val="tx2"/>
            </a:solidFill>
          </a:ln>
        </c:spPr>
        <c:crossAx val="164162560"/>
        <c:crosses val="autoZero"/>
        <c:auto val="1"/>
        <c:lblAlgn val="ctr"/>
        <c:lblOffset val="100"/>
        <c:noMultiLvlLbl val="0"/>
      </c:catAx>
      <c:valAx>
        <c:axId val="164162560"/>
        <c:scaling>
          <c:orientation val="minMax"/>
          <c:max val="1.1000000000000001"/>
          <c:min val="0"/>
        </c:scaling>
        <c:delete val="0"/>
        <c:axPos val="l"/>
        <c:title>
          <c:tx>
            <c:rich>
              <a:bodyPr rot="-5400000" vert="horz"/>
              <a:lstStyle/>
              <a:p>
                <a:pPr>
                  <a:defRPr/>
                </a:pPr>
                <a:r>
                  <a:rPr lang="en-US" dirty="0" smtClean="0"/>
                  <a:t>SMM</a:t>
                </a:r>
                <a:endParaRPr lang="en-US" dirty="0"/>
              </a:p>
            </c:rich>
          </c:tx>
          <c:layout/>
          <c:overlay val="0"/>
        </c:title>
        <c:numFmt formatCode="0%" sourceLinked="1"/>
        <c:majorTickMark val="out"/>
        <c:minorTickMark val="none"/>
        <c:tickLblPos val="nextTo"/>
        <c:spPr>
          <a:ln>
            <a:solidFill>
              <a:schemeClr val="tx2"/>
            </a:solidFill>
          </a:ln>
        </c:spPr>
        <c:crossAx val="164160640"/>
        <c:crosses val="autoZero"/>
        <c:crossBetween val="midCat"/>
      </c:valAx>
    </c:plotArea>
    <c:plotVisOnly val="1"/>
    <c:dispBlanksAs val="gap"/>
    <c:showDLblsOverMax val="0"/>
  </c:chart>
  <c:txPr>
    <a:bodyPr/>
    <a:lstStyle/>
    <a:p>
      <a:pPr>
        <a:defRPr sz="1000">
          <a:solidFill>
            <a:schemeClr val="tx2"/>
          </a:solidFill>
          <a:latin typeface="Arial Unicode MS" pitchFamily="34" charset="-122"/>
          <a:ea typeface="Arial Unicode MS" pitchFamily="34" charset="-122"/>
          <a:cs typeface="Arial Unicode MS" pitchFamily="34" charset="-122"/>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507470208631824"/>
          <c:y val="3.9546124331371904E-2"/>
          <c:w val="0.81497041862279673"/>
          <c:h val="0.85182187936535436"/>
        </c:manualLayout>
      </c:layout>
      <c:lineChart>
        <c:grouping val="standard"/>
        <c:varyColors val="0"/>
        <c:ser>
          <c:idx val="0"/>
          <c:order val="0"/>
          <c:tx>
            <c:strRef>
              <c:f>Sheet1!$B$1</c:f>
              <c:strCache>
                <c:ptCount val="1"/>
                <c:pt idx="0">
                  <c:v>curtail</c:v>
                </c:pt>
              </c:strCache>
            </c:strRef>
          </c:tx>
          <c:spPr>
            <a:ln w="12700"/>
          </c:spPr>
          <c:marker>
            <c:symbol val="none"/>
          </c:marker>
          <c:cat>
            <c:numRef>
              <c:f>Sheet1!$A$2:$A$133</c:f>
              <c:numCache>
                <c:formatCode>m/d/yyyy</c:formatCode>
                <c:ptCount val="132"/>
                <c:pt idx="0">
                  <c:v>35796</c:v>
                </c:pt>
                <c:pt idx="1">
                  <c:v>35827</c:v>
                </c:pt>
                <c:pt idx="2">
                  <c:v>35855</c:v>
                </c:pt>
                <c:pt idx="3">
                  <c:v>35886</c:v>
                </c:pt>
                <c:pt idx="4">
                  <c:v>35916</c:v>
                </c:pt>
                <c:pt idx="5">
                  <c:v>35947</c:v>
                </c:pt>
                <c:pt idx="6">
                  <c:v>35977</c:v>
                </c:pt>
                <c:pt idx="7">
                  <c:v>36008</c:v>
                </c:pt>
                <c:pt idx="8">
                  <c:v>36039</c:v>
                </c:pt>
                <c:pt idx="9">
                  <c:v>36069</c:v>
                </c:pt>
                <c:pt idx="10">
                  <c:v>36100</c:v>
                </c:pt>
                <c:pt idx="11">
                  <c:v>36130</c:v>
                </c:pt>
                <c:pt idx="12">
                  <c:v>36161</c:v>
                </c:pt>
                <c:pt idx="13">
                  <c:v>36192</c:v>
                </c:pt>
                <c:pt idx="14">
                  <c:v>36220</c:v>
                </c:pt>
                <c:pt idx="15">
                  <c:v>36251</c:v>
                </c:pt>
                <c:pt idx="16">
                  <c:v>36281</c:v>
                </c:pt>
                <c:pt idx="17">
                  <c:v>36312</c:v>
                </c:pt>
                <c:pt idx="18">
                  <c:v>36342</c:v>
                </c:pt>
                <c:pt idx="19">
                  <c:v>36373</c:v>
                </c:pt>
                <c:pt idx="20">
                  <c:v>36404</c:v>
                </c:pt>
                <c:pt idx="21">
                  <c:v>36434</c:v>
                </c:pt>
                <c:pt idx="22">
                  <c:v>36465</c:v>
                </c:pt>
                <c:pt idx="23">
                  <c:v>36495</c:v>
                </c:pt>
                <c:pt idx="24">
                  <c:v>36526</c:v>
                </c:pt>
                <c:pt idx="25">
                  <c:v>36557</c:v>
                </c:pt>
                <c:pt idx="26">
                  <c:v>36586</c:v>
                </c:pt>
                <c:pt idx="27">
                  <c:v>36617</c:v>
                </c:pt>
                <c:pt idx="28">
                  <c:v>36647</c:v>
                </c:pt>
                <c:pt idx="29">
                  <c:v>36678</c:v>
                </c:pt>
                <c:pt idx="30">
                  <c:v>36708</c:v>
                </c:pt>
                <c:pt idx="31">
                  <c:v>36739</c:v>
                </c:pt>
                <c:pt idx="32">
                  <c:v>36770</c:v>
                </c:pt>
                <c:pt idx="33">
                  <c:v>36800</c:v>
                </c:pt>
                <c:pt idx="34">
                  <c:v>36831</c:v>
                </c:pt>
                <c:pt idx="35">
                  <c:v>36861</c:v>
                </c:pt>
                <c:pt idx="36">
                  <c:v>36892</c:v>
                </c:pt>
                <c:pt idx="37">
                  <c:v>36923</c:v>
                </c:pt>
                <c:pt idx="38">
                  <c:v>36951</c:v>
                </c:pt>
                <c:pt idx="39">
                  <c:v>36982</c:v>
                </c:pt>
                <c:pt idx="40">
                  <c:v>37012</c:v>
                </c:pt>
                <c:pt idx="41">
                  <c:v>37043</c:v>
                </c:pt>
                <c:pt idx="42">
                  <c:v>37073</c:v>
                </c:pt>
                <c:pt idx="43">
                  <c:v>37104</c:v>
                </c:pt>
                <c:pt idx="44">
                  <c:v>37135</c:v>
                </c:pt>
                <c:pt idx="45">
                  <c:v>37165</c:v>
                </c:pt>
                <c:pt idx="46">
                  <c:v>37196</c:v>
                </c:pt>
                <c:pt idx="47">
                  <c:v>37226</c:v>
                </c:pt>
                <c:pt idx="48">
                  <c:v>37257</c:v>
                </c:pt>
                <c:pt idx="49">
                  <c:v>37288</c:v>
                </c:pt>
                <c:pt idx="50">
                  <c:v>37316</c:v>
                </c:pt>
                <c:pt idx="51">
                  <c:v>37347</c:v>
                </c:pt>
                <c:pt idx="52">
                  <c:v>37377</c:v>
                </c:pt>
                <c:pt idx="53">
                  <c:v>37408</c:v>
                </c:pt>
                <c:pt idx="54">
                  <c:v>37438</c:v>
                </c:pt>
                <c:pt idx="55">
                  <c:v>37469</c:v>
                </c:pt>
                <c:pt idx="56">
                  <c:v>37500</c:v>
                </c:pt>
                <c:pt idx="57">
                  <c:v>37530</c:v>
                </c:pt>
                <c:pt idx="58">
                  <c:v>37561</c:v>
                </c:pt>
                <c:pt idx="59">
                  <c:v>37591</c:v>
                </c:pt>
                <c:pt idx="60">
                  <c:v>37622</c:v>
                </c:pt>
                <c:pt idx="61">
                  <c:v>37653</c:v>
                </c:pt>
                <c:pt idx="62">
                  <c:v>37681</c:v>
                </c:pt>
                <c:pt idx="63">
                  <c:v>37712</c:v>
                </c:pt>
                <c:pt idx="64">
                  <c:v>37742</c:v>
                </c:pt>
                <c:pt idx="65">
                  <c:v>37773</c:v>
                </c:pt>
                <c:pt idx="66">
                  <c:v>37803</c:v>
                </c:pt>
                <c:pt idx="67">
                  <c:v>37834</c:v>
                </c:pt>
                <c:pt idx="68">
                  <c:v>37865</c:v>
                </c:pt>
                <c:pt idx="69">
                  <c:v>37895</c:v>
                </c:pt>
                <c:pt idx="70">
                  <c:v>37926</c:v>
                </c:pt>
                <c:pt idx="71">
                  <c:v>37956</c:v>
                </c:pt>
                <c:pt idx="72">
                  <c:v>37987</c:v>
                </c:pt>
                <c:pt idx="73">
                  <c:v>38018</c:v>
                </c:pt>
                <c:pt idx="74">
                  <c:v>38047</c:v>
                </c:pt>
                <c:pt idx="75">
                  <c:v>38078</c:v>
                </c:pt>
                <c:pt idx="76">
                  <c:v>38108</c:v>
                </c:pt>
                <c:pt idx="77">
                  <c:v>38139</c:v>
                </c:pt>
                <c:pt idx="78">
                  <c:v>38169</c:v>
                </c:pt>
                <c:pt idx="79">
                  <c:v>38200</c:v>
                </c:pt>
                <c:pt idx="80">
                  <c:v>38231</c:v>
                </c:pt>
                <c:pt idx="81">
                  <c:v>38261</c:v>
                </c:pt>
                <c:pt idx="82">
                  <c:v>38292</c:v>
                </c:pt>
                <c:pt idx="83">
                  <c:v>38322</c:v>
                </c:pt>
                <c:pt idx="84">
                  <c:v>38353</c:v>
                </c:pt>
                <c:pt idx="85">
                  <c:v>38384</c:v>
                </c:pt>
                <c:pt idx="86">
                  <c:v>38412</c:v>
                </c:pt>
                <c:pt idx="87">
                  <c:v>38443</c:v>
                </c:pt>
                <c:pt idx="88">
                  <c:v>38473</c:v>
                </c:pt>
                <c:pt idx="89">
                  <c:v>38504</c:v>
                </c:pt>
                <c:pt idx="90">
                  <c:v>38534</c:v>
                </c:pt>
                <c:pt idx="91">
                  <c:v>38565</c:v>
                </c:pt>
                <c:pt idx="92">
                  <c:v>38596</c:v>
                </c:pt>
                <c:pt idx="93">
                  <c:v>38626</c:v>
                </c:pt>
                <c:pt idx="94">
                  <c:v>38657</c:v>
                </c:pt>
                <c:pt idx="95">
                  <c:v>38687</c:v>
                </c:pt>
                <c:pt idx="96">
                  <c:v>38718</c:v>
                </c:pt>
                <c:pt idx="97">
                  <c:v>38749</c:v>
                </c:pt>
                <c:pt idx="98">
                  <c:v>38777</c:v>
                </c:pt>
                <c:pt idx="99">
                  <c:v>38808</c:v>
                </c:pt>
                <c:pt idx="100">
                  <c:v>38838</c:v>
                </c:pt>
                <c:pt idx="101">
                  <c:v>38869</c:v>
                </c:pt>
                <c:pt idx="102">
                  <c:v>38899</c:v>
                </c:pt>
                <c:pt idx="103">
                  <c:v>38930</c:v>
                </c:pt>
                <c:pt idx="104">
                  <c:v>38961</c:v>
                </c:pt>
                <c:pt idx="105">
                  <c:v>38991</c:v>
                </c:pt>
                <c:pt idx="106">
                  <c:v>39022</c:v>
                </c:pt>
                <c:pt idx="107">
                  <c:v>39052</c:v>
                </c:pt>
                <c:pt idx="108">
                  <c:v>39083</c:v>
                </c:pt>
                <c:pt idx="109">
                  <c:v>39114</c:v>
                </c:pt>
                <c:pt idx="110">
                  <c:v>39142</c:v>
                </c:pt>
                <c:pt idx="111">
                  <c:v>39173</c:v>
                </c:pt>
                <c:pt idx="112">
                  <c:v>39203</c:v>
                </c:pt>
                <c:pt idx="113">
                  <c:v>39234</c:v>
                </c:pt>
                <c:pt idx="114">
                  <c:v>39264</c:v>
                </c:pt>
                <c:pt idx="115">
                  <c:v>39295</c:v>
                </c:pt>
                <c:pt idx="116">
                  <c:v>39326</c:v>
                </c:pt>
                <c:pt idx="117">
                  <c:v>39356</c:v>
                </c:pt>
                <c:pt idx="118">
                  <c:v>39387</c:v>
                </c:pt>
                <c:pt idx="119">
                  <c:v>39417</c:v>
                </c:pt>
                <c:pt idx="120">
                  <c:v>39448</c:v>
                </c:pt>
                <c:pt idx="121">
                  <c:v>39479</c:v>
                </c:pt>
                <c:pt idx="122">
                  <c:v>39508</c:v>
                </c:pt>
                <c:pt idx="123">
                  <c:v>39539</c:v>
                </c:pt>
                <c:pt idx="124">
                  <c:v>39569</c:v>
                </c:pt>
                <c:pt idx="125">
                  <c:v>39600</c:v>
                </c:pt>
                <c:pt idx="126">
                  <c:v>39630</c:v>
                </c:pt>
                <c:pt idx="127">
                  <c:v>39661</c:v>
                </c:pt>
                <c:pt idx="128">
                  <c:v>39692</c:v>
                </c:pt>
                <c:pt idx="129">
                  <c:v>39722</c:v>
                </c:pt>
                <c:pt idx="130">
                  <c:v>39753</c:v>
                </c:pt>
                <c:pt idx="131">
                  <c:v>39783</c:v>
                </c:pt>
              </c:numCache>
            </c:numRef>
          </c:cat>
          <c:val>
            <c:numRef>
              <c:f>Sheet1!$B$2:$B$133</c:f>
              <c:numCache>
                <c:formatCode>0.0%</c:formatCode>
                <c:ptCount val="132"/>
                <c:pt idx="0">
                  <c:v>8.0445961572382597E-4</c:v>
                </c:pt>
                <c:pt idx="1">
                  <c:v>7.7848566457630695E-4</c:v>
                </c:pt>
                <c:pt idx="2">
                  <c:v>7.6132691928074798E-4</c:v>
                </c:pt>
                <c:pt idx="3">
                  <c:v>7.8650155904578395E-4</c:v>
                </c:pt>
                <c:pt idx="4">
                  <c:v>7.7910196643758201E-4</c:v>
                </c:pt>
                <c:pt idx="5">
                  <c:v>7.7876665853177996E-4</c:v>
                </c:pt>
                <c:pt idx="6">
                  <c:v>7.5016271707072199E-4</c:v>
                </c:pt>
                <c:pt idx="7">
                  <c:v>7.5299530627513298E-4</c:v>
                </c:pt>
                <c:pt idx="8">
                  <c:v>7.4373174957531899E-4</c:v>
                </c:pt>
                <c:pt idx="9">
                  <c:v>7.3134034554031004E-4</c:v>
                </c:pt>
                <c:pt idx="10">
                  <c:v>6.3232025372404895E-4</c:v>
                </c:pt>
                <c:pt idx="11">
                  <c:v>6.4155678696332398E-4</c:v>
                </c:pt>
                <c:pt idx="12">
                  <c:v>6.2834655673522498E-4</c:v>
                </c:pt>
                <c:pt idx="13">
                  <c:v>6.0174415974096295E-4</c:v>
                </c:pt>
                <c:pt idx="14">
                  <c:v>5.8195727347800199E-4</c:v>
                </c:pt>
                <c:pt idx="15">
                  <c:v>5.6807760038576796E-4</c:v>
                </c:pt>
                <c:pt idx="16">
                  <c:v>6.5064269200395099E-4</c:v>
                </c:pt>
                <c:pt idx="17">
                  <c:v>6.0790826781322797E-4</c:v>
                </c:pt>
                <c:pt idx="18">
                  <c:v>6.2081258301314697E-4</c:v>
                </c:pt>
                <c:pt idx="19">
                  <c:v>5.6339959313928304E-4</c:v>
                </c:pt>
                <c:pt idx="20">
                  <c:v>5.9183317252603095E-4</c:v>
                </c:pt>
                <c:pt idx="21">
                  <c:v>5.8687317544457295E-4</c:v>
                </c:pt>
                <c:pt idx="22">
                  <c:v>6.0474229609124301E-4</c:v>
                </c:pt>
                <c:pt idx="23">
                  <c:v>6.2110049250307399E-4</c:v>
                </c:pt>
                <c:pt idx="24">
                  <c:v>6.4486099373137695E-4</c:v>
                </c:pt>
                <c:pt idx="25">
                  <c:v>6.05924990147249E-4</c:v>
                </c:pt>
                <c:pt idx="26">
                  <c:v>6.1579745372976401E-4</c:v>
                </c:pt>
                <c:pt idx="27">
                  <c:v>6.2768339326229803E-4</c:v>
                </c:pt>
                <c:pt idx="28">
                  <c:v>6.28904891619528E-4</c:v>
                </c:pt>
                <c:pt idx="29">
                  <c:v>6.2843776638891503E-4</c:v>
                </c:pt>
                <c:pt idx="30">
                  <c:v>6.5794890378202697E-4</c:v>
                </c:pt>
                <c:pt idx="31">
                  <c:v>6.5716836936605897E-4</c:v>
                </c:pt>
                <c:pt idx="32">
                  <c:v>6.4094682829064504E-4</c:v>
                </c:pt>
                <c:pt idx="33">
                  <c:v>6.4258827672406601E-4</c:v>
                </c:pt>
                <c:pt idx="34">
                  <c:v>6.2530419437576497E-4</c:v>
                </c:pt>
                <c:pt idx="35">
                  <c:v>6.3926138991972901E-4</c:v>
                </c:pt>
                <c:pt idx="36">
                  <c:v>6.4584881340920596E-4</c:v>
                </c:pt>
                <c:pt idx="37">
                  <c:v>6.4796167189117005E-4</c:v>
                </c:pt>
                <c:pt idx="38">
                  <c:v>6.5297926277359903E-4</c:v>
                </c:pt>
                <c:pt idx="39">
                  <c:v>6.5412283277172596E-4</c:v>
                </c:pt>
                <c:pt idx="40">
                  <c:v>6.3548252024608995E-4</c:v>
                </c:pt>
                <c:pt idx="41">
                  <c:v>6.3201813613744499E-4</c:v>
                </c:pt>
                <c:pt idx="42">
                  <c:v>6.0789346568836502E-4</c:v>
                </c:pt>
                <c:pt idx="43">
                  <c:v>5.9282452089937695E-4</c:v>
                </c:pt>
                <c:pt idx="44">
                  <c:v>5.7588516054538899E-4</c:v>
                </c:pt>
                <c:pt idx="45">
                  <c:v>5.7230255934487501E-4</c:v>
                </c:pt>
                <c:pt idx="46">
                  <c:v>5.8091114769055698E-4</c:v>
                </c:pt>
                <c:pt idx="47">
                  <c:v>5.8243315861944498E-4</c:v>
                </c:pt>
                <c:pt idx="48">
                  <c:v>5.9011725090732901E-4</c:v>
                </c:pt>
                <c:pt idx="49">
                  <c:v>6.3222719256562205E-4</c:v>
                </c:pt>
                <c:pt idx="50">
                  <c:v>6.3658436655264505E-4</c:v>
                </c:pt>
                <c:pt idx="51">
                  <c:v>6.3231725704260798E-4</c:v>
                </c:pt>
                <c:pt idx="52">
                  <c:v>6.3248191738863604E-4</c:v>
                </c:pt>
                <c:pt idx="53">
                  <c:v>6.2741614092304504E-4</c:v>
                </c:pt>
                <c:pt idx="54">
                  <c:v>6.3528942633130103E-4</c:v>
                </c:pt>
                <c:pt idx="55">
                  <c:v>6.5185580236193602E-4</c:v>
                </c:pt>
                <c:pt idx="56">
                  <c:v>6.6375683368633204E-4</c:v>
                </c:pt>
                <c:pt idx="57">
                  <c:v>6.6635455577313603E-4</c:v>
                </c:pt>
                <c:pt idx="58">
                  <c:v>6.5356693466310002E-4</c:v>
                </c:pt>
                <c:pt idx="59">
                  <c:v>6.4206879833808995E-4</c:v>
                </c:pt>
                <c:pt idx="60">
                  <c:v>6.2118073174775499E-4</c:v>
                </c:pt>
                <c:pt idx="61">
                  <c:v>5.8018531937620505E-4</c:v>
                </c:pt>
                <c:pt idx="62">
                  <c:v>5.4691537838844799E-4</c:v>
                </c:pt>
                <c:pt idx="63">
                  <c:v>5.4335553887176397E-4</c:v>
                </c:pt>
                <c:pt idx="64">
                  <c:v>5.3533148748282895E-4</c:v>
                </c:pt>
                <c:pt idx="65">
                  <c:v>5.1144679598832499E-4</c:v>
                </c:pt>
                <c:pt idx="66">
                  <c:v>4.7903990116059298E-4</c:v>
                </c:pt>
                <c:pt idx="67">
                  <c:v>4.6433584224498601E-4</c:v>
                </c:pt>
                <c:pt idx="68">
                  <c:v>4.3851546222505402E-4</c:v>
                </c:pt>
                <c:pt idx="69">
                  <c:v>4.2636359181396098E-4</c:v>
                </c:pt>
                <c:pt idx="70">
                  <c:v>4.1172750812958298E-4</c:v>
                </c:pt>
                <c:pt idx="71">
                  <c:v>4.1064971929648502E-4</c:v>
                </c:pt>
                <c:pt idx="72">
                  <c:v>4.1306466026864302E-4</c:v>
                </c:pt>
                <c:pt idx="73">
                  <c:v>4.19522799541282E-4</c:v>
                </c:pt>
                <c:pt idx="74">
                  <c:v>4.2867991690900299E-4</c:v>
                </c:pt>
                <c:pt idx="75">
                  <c:v>4.38104413253743E-4</c:v>
                </c:pt>
                <c:pt idx="76">
                  <c:v>4.4725205799199102E-4</c:v>
                </c:pt>
                <c:pt idx="77">
                  <c:v>4.58833650338011E-4</c:v>
                </c:pt>
                <c:pt idx="78">
                  <c:v>4.7518174471897098E-4</c:v>
                </c:pt>
                <c:pt idx="79">
                  <c:v>4.8825610538140701E-4</c:v>
                </c:pt>
                <c:pt idx="80">
                  <c:v>5.0508685641283005E-4</c:v>
                </c:pt>
                <c:pt idx="81">
                  <c:v>5.17334357036389E-4</c:v>
                </c:pt>
                <c:pt idx="82">
                  <c:v>5.3147186988084796E-4</c:v>
                </c:pt>
                <c:pt idx="83">
                  <c:v>5.4771031808513503E-4</c:v>
                </c:pt>
                <c:pt idx="84">
                  <c:v>5.6362520922290701E-4</c:v>
                </c:pt>
                <c:pt idx="85">
                  <c:v>5.7786887779442801E-4</c:v>
                </c:pt>
                <c:pt idx="86">
                  <c:v>5.90150941952695E-4</c:v>
                </c:pt>
                <c:pt idx="87">
                  <c:v>5.9565453577387095E-4</c:v>
                </c:pt>
                <c:pt idx="88">
                  <c:v>6.1784232432050899E-4</c:v>
                </c:pt>
                <c:pt idx="89">
                  <c:v>6.1429900483341699E-4</c:v>
                </c:pt>
                <c:pt idx="90">
                  <c:v>6.2949914770632899E-4</c:v>
                </c:pt>
                <c:pt idx="91">
                  <c:v>6.2304939799890399E-4</c:v>
                </c:pt>
                <c:pt idx="92">
                  <c:v>6.20267886945222E-4</c:v>
                </c:pt>
                <c:pt idx="93">
                  <c:v>6.1141008560953796E-4</c:v>
                </c:pt>
                <c:pt idx="94">
                  <c:v>6.0413615542422299E-4</c:v>
                </c:pt>
                <c:pt idx="95">
                  <c:v>6.0037957712193103E-4</c:v>
                </c:pt>
                <c:pt idx="96">
                  <c:v>6.0202017306141002E-4</c:v>
                </c:pt>
                <c:pt idx="97">
                  <c:v>6.0327287252626301E-4</c:v>
                </c:pt>
                <c:pt idx="98">
                  <c:v>5.9762291917202399E-4</c:v>
                </c:pt>
                <c:pt idx="99">
                  <c:v>5.9649612662113205E-4</c:v>
                </c:pt>
                <c:pt idx="100">
                  <c:v>5.9754189155417699E-4</c:v>
                </c:pt>
                <c:pt idx="101">
                  <c:v>5.9764036817218803E-4</c:v>
                </c:pt>
                <c:pt idx="102">
                  <c:v>6.0466159845506105E-4</c:v>
                </c:pt>
                <c:pt idx="103">
                  <c:v>6.1489127307236496E-4</c:v>
                </c:pt>
                <c:pt idx="104">
                  <c:v>6.2359945283874205E-4</c:v>
                </c:pt>
                <c:pt idx="105">
                  <c:v>6.3528757769218196E-4</c:v>
                </c:pt>
                <c:pt idx="106">
                  <c:v>6.5301513526375198E-4</c:v>
                </c:pt>
                <c:pt idx="107">
                  <c:v>6.6470870312804295E-4</c:v>
                </c:pt>
                <c:pt idx="108">
                  <c:v>6.7989889809082704E-4</c:v>
                </c:pt>
                <c:pt idx="109">
                  <c:v>7.0204521851309097E-4</c:v>
                </c:pt>
                <c:pt idx="110">
                  <c:v>7.1100593792780401E-4</c:v>
                </c:pt>
                <c:pt idx="111">
                  <c:v>7.2675087522173099E-4</c:v>
                </c:pt>
                <c:pt idx="112">
                  <c:v>7.3413955490416502E-4</c:v>
                </c:pt>
                <c:pt idx="113">
                  <c:v>7.4069923141031695E-4</c:v>
                </c:pt>
                <c:pt idx="114">
                  <c:v>7.5646459139121203E-4</c:v>
                </c:pt>
                <c:pt idx="115">
                  <c:v>7.5842482735760902E-4</c:v>
                </c:pt>
                <c:pt idx="116">
                  <c:v>7.3426454063890505E-4</c:v>
                </c:pt>
                <c:pt idx="117">
                  <c:v>7.2847956834541801E-4</c:v>
                </c:pt>
                <c:pt idx="118">
                  <c:v>7.17471666766558E-4</c:v>
                </c:pt>
                <c:pt idx="119">
                  <c:v>6.9820091781603504E-4</c:v>
                </c:pt>
                <c:pt idx="120">
                  <c:v>6.7823985218173097E-4</c:v>
                </c:pt>
                <c:pt idx="121">
                  <c:v>6.5841287094100696E-4</c:v>
                </c:pt>
                <c:pt idx="122">
                  <c:v>6.3443872417636403E-4</c:v>
                </c:pt>
                <c:pt idx="123">
                  <c:v>6.23713158370966E-4</c:v>
                </c:pt>
                <c:pt idx="124">
                  <c:v>6.1598142675798196E-4</c:v>
                </c:pt>
                <c:pt idx="125">
                  <c:v>6.0167772579197796E-4</c:v>
                </c:pt>
                <c:pt idx="126">
                  <c:v>6.0144479790850795E-4</c:v>
                </c:pt>
                <c:pt idx="127">
                  <c:v>6.03839734259428E-4</c:v>
                </c:pt>
                <c:pt idx="128">
                  <c:v>6.05927235117636E-4</c:v>
                </c:pt>
                <c:pt idx="129">
                  <c:v>6.0746231578606702E-4</c:v>
                </c:pt>
                <c:pt idx="130">
                  <c:v>6.2333212826661097E-4</c:v>
                </c:pt>
                <c:pt idx="131">
                  <c:v>6.4087493810911604E-4</c:v>
                </c:pt>
              </c:numCache>
            </c:numRef>
          </c:val>
          <c:smooth val="1"/>
        </c:ser>
        <c:dLbls>
          <c:showLegendKey val="0"/>
          <c:showVal val="0"/>
          <c:showCatName val="0"/>
          <c:showSerName val="0"/>
          <c:showPercent val="0"/>
          <c:showBubbleSize val="0"/>
        </c:dLbls>
        <c:marker val="1"/>
        <c:smooth val="0"/>
        <c:axId val="286200576"/>
        <c:axId val="286202112"/>
      </c:lineChart>
      <c:dateAx>
        <c:axId val="286200576"/>
        <c:scaling>
          <c:orientation val="minMax"/>
        </c:scaling>
        <c:delete val="0"/>
        <c:axPos val="b"/>
        <c:numFmt formatCode="m/d/yyyy" sourceLinked="1"/>
        <c:majorTickMark val="out"/>
        <c:minorTickMark val="none"/>
        <c:tickLblPos val="nextTo"/>
        <c:spPr>
          <a:ln>
            <a:solidFill>
              <a:schemeClr val="tx2"/>
            </a:solidFill>
          </a:ln>
        </c:spPr>
        <c:crossAx val="286202112"/>
        <c:crosses val="autoZero"/>
        <c:auto val="1"/>
        <c:lblOffset val="100"/>
        <c:baseTimeUnit val="months"/>
        <c:majorUnit val="24"/>
        <c:majorTimeUnit val="months"/>
      </c:dateAx>
      <c:valAx>
        <c:axId val="286202112"/>
        <c:scaling>
          <c:orientation val="minMax"/>
        </c:scaling>
        <c:delete val="0"/>
        <c:axPos val="l"/>
        <c:title>
          <c:tx>
            <c:rich>
              <a:bodyPr rot="-5400000" vert="horz"/>
              <a:lstStyle/>
              <a:p>
                <a:pPr>
                  <a:defRPr/>
                </a:pPr>
                <a:r>
                  <a:rPr lang="en-US" sz="1000" dirty="0" smtClean="0"/>
                  <a:t>Curtail</a:t>
                </a:r>
                <a:endParaRPr lang="en-US" sz="1000" dirty="0"/>
              </a:p>
            </c:rich>
          </c:tx>
          <c:layout/>
          <c:overlay val="0"/>
        </c:title>
        <c:numFmt formatCode="0.0%" sourceLinked="1"/>
        <c:majorTickMark val="out"/>
        <c:minorTickMark val="none"/>
        <c:tickLblPos val="nextTo"/>
        <c:spPr>
          <a:ln>
            <a:solidFill>
              <a:schemeClr val="tx2"/>
            </a:solidFill>
          </a:ln>
        </c:spPr>
        <c:crossAx val="286200576"/>
        <c:crosses val="autoZero"/>
        <c:crossBetween val="midCat"/>
      </c:valAx>
    </c:plotArea>
    <c:plotVisOnly val="1"/>
    <c:dispBlanksAs val="gap"/>
    <c:showDLblsOverMax val="0"/>
  </c:chart>
  <c:txPr>
    <a:bodyPr/>
    <a:lstStyle/>
    <a:p>
      <a:pPr>
        <a:defRPr sz="800">
          <a:solidFill>
            <a:schemeClr val="tx2"/>
          </a:solidFill>
          <a:latin typeface="Arial Unicode MS" pitchFamily="34" charset="-122"/>
          <a:ea typeface="Arial Unicode MS" pitchFamily="34" charset="-122"/>
          <a:cs typeface="Arial Unicode MS" pitchFamily="34" charset="-122"/>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507470208631824"/>
          <c:y val="3.9546124331371904E-2"/>
          <c:w val="0.81497041862279673"/>
          <c:h val="0.85182187936535436"/>
        </c:manualLayout>
      </c:layout>
      <c:lineChart>
        <c:grouping val="standard"/>
        <c:varyColors val="0"/>
        <c:ser>
          <c:idx val="0"/>
          <c:order val="0"/>
          <c:tx>
            <c:strRef>
              <c:f>Sheet1!$B$1</c:f>
              <c:strCache>
                <c:ptCount val="1"/>
                <c:pt idx="0">
                  <c:v>default</c:v>
                </c:pt>
              </c:strCache>
            </c:strRef>
          </c:tx>
          <c:spPr>
            <a:ln w="12700"/>
          </c:spPr>
          <c:marker>
            <c:symbol val="none"/>
          </c:marker>
          <c:cat>
            <c:numRef>
              <c:f>Sheet1!$A$2:$A$133</c:f>
              <c:numCache>
                <c:formatCode>m/d/yyyy</c:formatCode>
                <c:ptCount val="132"/>
                <c:pt idx="0">
                  <c:v>35796</c:v>
                </c:pt>
                <c:pt idx="1">
                  <c:v>35827</c:v>
                </c:pt>
                <c:pt idx="2">
                  <c:v>35855</c:v>
                </c:pt>
                <c:pt idx="3">
                  <c:v>35886</c:v>
                </c:pt>
                <c:pt idx="4">
                  <c:v>35916</c:v>
                </c:pt>
                <c:pt idx="5">
                  <c:v>35947</c:v>
                </c:pt>
                <c:pt idx="6">
                  <c:v>35977</c:v>
                </c:pt>
                <c:pt idx="7">
                  <c:v>36008</c:v>
                </c:pt>
                <c:pt idx="8">
                  <c:v>36039</c:v>
                </c:pt>
                <c:pt idx="9">
                  <c:v>36069</c:v>
                </c:pt>
                <c:pt idx="10">
                  <c:v>36100</c:v>
                </c:pt>
                <c:pt idx="11">
                  <c:v>36130</c:v>
                </c:pt>
                <c:pt idx="12">
                  <c:v>36161</c:v>
                </c:pt>
                <c:pt idx="13">
                  <c:v>36192</c:v>
                </c:pt>
                <c:pt idx="14">
                  <c:v>36220</c:v>
                </c:pt>
                <c:pt idx="15">
                  <c:v>36251</c:v>
                </c:pt>
                <c:pt idx="16">
                  <c:v>36281</c:v>
                </c:pt>
                <c:pt idx="17">
                  <c:v>36312</c:v>
                </c:pt>
                <c:pt idx="18">
                  <c:v>36342</c:v>
                </c:pt>
                <c:pt idx="19">
                  <c:v>36373</c:v>
                </c:pt>
                <c:pt idx="20">
                  <c:v>36404</c:v>
                </c:pt>
                <c:pt idx="21">
                  <c:v>36434</c:v>
                </c:pt>
                <c:pt idx="22">
                  <c:v>36465</c:v>
                </c:pt>
                <c:pt idx="23">
                  <c:v>36495</c:v>
                </c:pt>
                <c:pt idx="24">
                  <c:v>36526</c:v>
                </c:pt>
                <c:pt idx="25">
                  <c:v>36557</c:v>
                </c:pt>
                <c:pt idx="26">
                  <c:v>36586</c:v>
                </c:pt>
                <c:pt idx="27">
                  <c:v>36617</c:v>
                </c:pt>
                <c:pt idx="28">
                  <c:v>36647</c:v>
                </c:pt>
                <c:pt idx="29">
                  <c:v>36678</c:v>
                </c:pt>
                <c:pt idx="30">
                  <c:v>36708</c:v>
                </c:pt>
                <c:pt idx="31">
                  <c:v>36739</c:v>
                </c:pt>
                <c:pt idx="32">
                  <c:v>36770</c:v>
                </c:pt>
                <c:pt idx="33">
                  <c:v>36800</c:v>
                </c:pt>
                <c:pt idx="34">
                  <c:v>36831</c:v>
                </c:pt>
                <c:pt idx="35">
                  <c:v>36861</c:v>
                </c:pt>
                <c:pt idx="36">
                  <c:v>36892</c:v>
                </c:pt>
                <c:pt idx="37">
                  <c:v>36923</c:v>
                </c:pt>
                <c:pt idx="38">
                  <c:v>36951</c:v>
                </c:pt>
                <c:pt idx="39">
                  <c:v>36982</c:v>
                </c:pt>
                <c:pt idx="40">
                  <c:v>37012</c:v>
                </c:pt>
                <c:pt idx="41">
                  <c:v>37043</c:v>
                </c:pt>
                <c:pt idx="42">
                  <c:v>37073</c:v>
                </c:pt>
                <c:pt idx="43">
                  <c:v>37104</c:v>
                </c:pt>
                <c:pt idx="44">
                  <c:v>37135</c:v>
                </c:pt>
                <c:pt idx="45">
                  <c:v>37165</c:v>
                </c:pt>
                <c:pt idx="46">
                  <c:v>37196</c:v>
                </c:pt>
                <c:pt idx="47">
                  <c:v>37226</c:v>
                </c:pt>
                <c:pt idx="48">
                  <c:v>37257</c:v>
                </c:pt>
                <c:pt idx="49">
                  <c:v>37288</c:v>
                </c:pt>
                <c:pt idx="50">
                  <c:v>37316</c:v>
                </c:pt>
                <c:pt idx="51">
                  <c:v>37347</c:v>
                </c:pt>
                <c:pt idx="52">
                  <c:v>37377</c:v>
                </c:pt>
                <c:pt idx="53">
                  <c:v>37408</c:v>
                </c:pt>
                <c:pt idx="54">
                  <c:v>37438</c:v>
                </c:pt>
                <c:pt idx="55">
                  <c:v>37469</c:v>
                </c:pt>
                <c:pt idx="56">
                  <c:v>37500</c:v>
                </c:pt>
                <c:pt idx="57">
                  <c:v>37530</c:v>
                </c:pt>
                <c:pt idx="58">
                  <c:v>37561</c:v>
                </c:pt>
                <c:pt idx="59">
                  <c:v>37591</c:v>
                </c:pt>
                <c:pt idx="60">
                  <c:v>37622</c:v>
                </c:pt>
                <c:pt idx="61">
                  <c:v>37653</c:v>
                </c:pt>
                <c:pt idx="62">
                  <c:v>37681</c:v>
                </c:pt>
                <c:pt idx="63">
                  <c:v>37712</c:v>
                </c:pt>
                <c:pt idx="64">
                  <c:v>37742</c:v>
                </c:pt>
                <c:pt idx="65">
                  <c:v>37773</c:v>
                </c:pt>
                <c:pt idx="66">
                  <c:v>37803</c:v>
                </c:pt>
                <c:pt idx="67">
                  <c:v>37834</c:v>
                </c:pt>
                <c:pt idx="68">
                  <c:v>37865</c:v>
                </c:pt>
                <c:pt idx="69">
                  <c:v>37895</c:v>
                </c:pt>
                <c:pt idx="70">
                  <c:v>37926</c:v>
                </c:pt>
                <c:pt idx="71">
                  <c:v>37956</c:v>
                </c:pt>
                <c:pt idx="72">
                  <c:v>37987</c:v>
                </c:pt>
                <c:pt idx="73">
                  <c:v>38018</c:v>
                </c:pt>
                <c:pt idx="74">
                  <c:v>38047</c:v>
                </c:pt>
                <c:pt idx="75">
                  <c:v>38078</c:v>
                </c:pt>
                <c:pt idx="76">
                  <c:v>38108</c:v>
                </c:pt>
                <c:pt idx="77">
                  <c:v>38139</c:v>
                </c:pt>
                <c:pt idx="78">
                  <c:v>38169</c:v>
                </c:pt>
                <c:pt idx="79">
                  <c:v>38200</c:v>
                </c:pt>
                <c:pt idx="80">
                  <c:v>38231</c:v>
                </c:pt>
                <c:pt idx="81">
                  <c:v>38261</c:v>
                </c:pt>
                <c:pt idx="82">
                  <c:v>38292</c:v>
                </c:pt>
                <c:pt idx="83">
                  <c:v>38322</c:v>
                </c:pt>
                <c:pt idx="84">
                  <c:v>38353</c:v>
                </c:pt>
                <c:pt idx="85">
                  <c:v>38384</c:v>
                </c:pt>
                <c:pt idx="86">
                  <c:v>38412</c:v>
                </c:pt>
                <c:pt idx="87">
                  <c:v>38443</c:v>
                </c:pt>
                <c:pt idx="88">
                  <c:v>38473</c:v>
                </c:pt>
                <c:pt idx="89">
                  <c:v>38504</c:v>
                </c:pt>
                <c:pt idx="90">
                  <c:v>38534</c:v>
                </c:pt>
                <c:pt idx="91">
                  <c:v>38565</c:v>
                </c:pt>
                <c:pt idx="92">
                  <c:v>38596</c:v>
                </c:pt>
                <c:pt idx="93">
                  <c:v>38626</c:v>
                </c:pt>
                <c:pt idx="94">
                  <c:v>38657</c:v>
                </c:pt>
                <c:pt idx="95">
                  <c:v>38687</c:v>
                </c:pt>
                <c:pt idx="96">
                  <c:v>38718</c:v>
                </c:pt>
                <c:pt idx="97">
                  <c:v>38749</c:v>
                </c:pt>
                <c:pt idx="98">
                  <c:v>38777</c:v>
                </c:pt>
                <c:pt idx="99">
                  <c:v>38808</c:v>
                </c:pt>
                <c:pt idx="100">
                  <c:v>38838</c:v>
                </c:pt>
                <c:pt idx="101">
                  <c:v>38869</c:v>
                </c:pt>
                <c:pt idx="102">
                  <c:v>38899</c:v>
                </c:pt>
                <c:pt idx="103">
                  <c:v>38930</c:v>
                </c:pt>
                <c:pt idx="104">
                  <c:v>38961</c:v>
                </c:pt>
                <c:pt idx="105">
                  <c:v>38991</c:v>
                </c:pt>
                <c:pt idx="106">
                  <c:v>39022</c:v>
                </c:pt>
                <c:pt idx="107">
                  <c:v>39052</c:v>
                </c:pt>
                <c:pt idx="108">
                  <c:v>39083</c:v>
                </c:pt>
                <c:pt idx="109">
                  <c:v>39114</c:v>
                </c:pt>
                <c:pt idx="110">
                  <c:v>39142</c:v>
                </c:pt>
                <c:pt idx="111">
                  <c:v>39173</c:v>
                </c:pt>
                <c:pt idx="112">
                  <c:v>39203</c:v>
                </c:pt>
                <c:pt idx="113">
                  <c:v>39234</c:v>
                </c:pt>
                <c:pt idx="114">
                  <c:v>39264</c:v>
                </c:pt>
                <c:pt idx="115">
                  <c:v>39295</c:v>
                </c:pt>
                <c:pt idx="116">
                  <c:v>39326</c:v>
                </c:pt>
                <c:pt idx="117">
                  <c:v>39356</c:v>
                </c:pt>
                <c:pt idx="118">
                  <c:v>39387</c:v>
                </c:pt>
                <c:pt idx="119">
                  <c:v>39417</c:v>
                </c:pt>
                <c:pt idx="120">
                  <c:v>39448</c:v>
                </c:pt>
                <c:pt idx="121">
                  <c:v>39479</c:v>
                </c:pt>
                <c:pt idx="122">
                  <c:v>39508</c:v>
                </c:pt>
                <c:pt idx="123">
                  <c:v>39539</c:v>
                </c:pt>
                <c:pt idx="124">
                  <c:v>39569</c:v>
                </c:pt>
                <c:pt idx="125">
                  <c:v>39600</c:v>
                </c:pt>
                <c:pt idx="126">
                  <c:v>39630</c:v>
                </c:pt>
                <c:pt idx="127">
                  <c:v>39661</c:v>
                </c:pt>
                <c:pt idx="128">
                  <c:v>39692</c:v>
                </c:pt>
                <c:pt idx="129">
                  <c:v>39722</c:v>
                </c:pt>
                <c:pt idx="130">
                  <c:v>39753</c:v>
                </c:pt>
                <c:pt idx="131">
                  <c:v>39783</c:v>
                </c:pt>
              </c:numCache>
            </c:numRef>
          </c:cat>
          <c:val>
            <c:numRef>
              <c:f>Sheet1!$B$2:$B$133</c:f>
              <c:numCache>
                <c:formatCode>0.0%</c:formatCode>
                <c:ptCount val="132"/>
                <c:pt idx="0">
                  <c:v>1.81242760731478E-3</c:v>
                </c:pt>
                <c:pt idx="1">
                  <c:v>1.8193341863994301E-3</c:v>
                </c:pt>
                <c:pt idx="2">
                  <c:v>1.8296770563896499E-3</c:v>
                </c:pt>
                <c:pt idx="3">
                  <c:v>1.8300229025405099E-3</c:v>
                </c:pt>
                <c:pt idx="4">
                  <c:v>1.8149039355190601E-3</c:v>
                </c:pt>
                <c:pt idx="5">
                  <c:v>1.7815196418898599E-3</c:v>
                </c:pt>
                <c:pt idx="6">
                  <c:v>1.7513683479690599E-3</c:v>
                </c:pt>
                <c:pt idx="7">
                  <c:v>1.7254675646176799E-3</c:v>
                </c:pt>
                <c:pt idx="8">
                  <c:v>1.6933241489338201E-3</c:v>
                </c:pt>
                <c:pt idx="9">
                  <c:v>1.6634744885068501E-3</c:v>
                </c:pt>
                <c:pt idx="10">
                  <c:v>1.65589864797648E-3</c:v>
                </c:pt>
                <c:pt idx="11">
                  <c:v>1.62982557513048E-3</c:v>
                </c:pt>
                <c:pt idx="12">
                  <c:v>1.5906106071888501E-3</c:v>
                </c:pt>
                <c:pt idx="13">
                  <c:v>1.5627667254870701E-3</c:v>
                </c:pt>
                <c:pt idx="14">
                  <c:v>1.51826068886952E-3</c:v>
                </c:pt>
                <c:pt idx="15">
                  <c:v>1.4763136662337599E-3</c:v>
                </c:pt>
                <c:pt idx="16">
                  <c:v>1.43670698689841E-3</c:v>
                </c:pt>
                <c:pt idx="17">
                  <c:v>1.43322994080386E-3</c:v>
                </c:pt>
                <c:pt idx="18">
                  <c:v>1.4100614741041999E-3</c:v>
                </c:pt>
                <c:pt idx="19">
                  <c:v>1.40645649562721E-3</c:v>
                </c:pt>
                <c:pt idx="20">
                  <c:v>1.39419724982546E-3</c:v>
                </c:pt>
                <c:pt idx="21">
                  <c:v>1.4034882344260799E-3</c:v>
                </c:pt>
                <c:pt idx="22">
                  <c:v>1.4015497508154001E-3</c:v>
                </c:pt>
                <c:pt idx="23">
                  <c:v>1.40936941119692E-3</c:v>
                </c:pt>
                <c:pt idx="24">
                  <c:v>1.4295200064119501E-3</c:v>
                </c:pt>
                <c:pt idx="25">
                  <c:v>1.4488087775217E-3</c:v>
                </c:pt>
                <c:pt idx="26">
                  <c:v>1.4652146291423199E-3</c:v>
                </c:pt>
                <c:pt idx="27">
                  <c:v>1.4913938865221E-3</c:v>
                </c:pt>
                <c:pt idx="28">
                  <c:v>1.5121358241756101E-3</c:v>
                </c:pt>
                <c:pt idx="29">
                  <c:v>1.52128400917667E-3</c:v>
                </c:pt>
                <c:pt idx="30">
                  <c:v>1.54974129852542E-3</c:v>
                </c:pt>
                <c:pt idx="31">
                  <c:v>1.5615920209457301E-3</c:v>
                </c:pt>
                <c:pt idx="32">
                  <c:v>1.57846372905129E-3</c:v>
                </c:pt>
                <c:pt idx="33">
                  <c:v>1.5838252717464199E-3</c:v>
                </c:pt>
                <c:pt idx="34">
                  <c:v>1.4781849571975699E-3</c:v>
                </c:pt>
                <c:pt idx="35">
                  <c:v>1.51468866434755E-3</c:v>
                </c:pt>
                <c:pt idx="36">
                  <c:v>1.52729190891235E-3</c:v>
                </c:pt>
                <c:pt idx="37">
                  <c:v>1.5350696896197799E-3</c:v>
                </c:pt>
                <c:pt idx="38">
                  <c:v>1.5536443677817799E-3</c:v>
                </c:pt>
                <c:pt idx="39">
                  <c:v>1.5643925324607E-3</c:v>
                </c:pt>
                <c:pt idx="40">
                  <c:v>1.57141021343062E-3</c:v>
                </c:pt>
                <c:pt idx="41">
                  <c:v>1.5583068758678201E-3</c:v>
                </c:pt>
                <c:pt idx="42">
                  <c:v>1.5441103769920201E-3</c:v>
                </c:pt>
                <c:pt idx="43">
                  <c:v>1.52656704480515E-3</c:v>
                </c:pt>
                <c:pt idx="44">
                  <c:v>1.5086080279408101E-3</c:v>
                </c:pt>
                <c:pt idx="45">
                  <c:v>1.5008933166885099E-3</c:v>
                </c:pt>
                <c:pt idx="46">
                  <c:v>1.49353360687632E-3</c:v>
                </c:pt>
                <c:pt idx="47">
                  <c:v>1.4869603239970901E-3</c:v>
                </c:pt>
                <c:pt idx="48">
                  <c:v>1.4658782978102399E-3</c:v>
                </c:pt>
                <c:pt idx="49">
                  <c:v>1.4333066688200101E-3</c:v>
                </c:pt>
                <c:pt idx="50">
                  <c:v>1.4052180097703501E-3</c:v>
                </c:pt>
                <c:pt idx="51">
                  <c:v>1.37559049281775E-3</c:v>
                </c:pt>
                <c:pt idx="52">
                  <c:v>1.36270225945771E-3</c:v>
                </c:pt>
                <c:pt idx="53">
                  <c:v>1.3490818561466701E-3</c:v>
                </c:pt>
                <c:pt idx="54">
                  <c:v>1.3360621846658001E-3</c:v>
                </c:pt>
                <c:pt idx="55">
                  <c:v>1.32379520167297E-3</c:v>
                </c:pt>
                <c:pt idx="56">
                  <c:v>1.329438781803E-3</c:v>
                </c:pt>
                <c:pt idx="57">
                  <c:v>1.32322189818405E-3</c:v>
                </c:pt>
                <c:pt idx="58">
                  <c:v>1.3052434383982799E-3</c:v>
                </c:pt>
                <c:pt idx="59">
                  <c:v>1.2582703883695001E-3</c:v>
                </c:pt>
                <c:pt idx="60">
                  <c:v>1.21892678860803E-3</c:v>
                </c:pt>
                <c:pt idx="61">
                  <c:v>1.17161066899604E-3</c:v>
                </c:pt>
                <c:pt idx="62">
                  <c:v>1.1284711356927999E-3</c:v>
                </c:pt>
                <c:pt idx="63">
                  <c:v>1.08672613346611E-3</c:v>
                </c:pt>
                <c:pt idx="64">
                  <c:v>1.04259163863218E-3</c:v>
                </c:pt>
                <c:pt idx="65">
                  <c:v>5.6359699490334697E-4</c:v>
                </c:pt>
                <c:pt idx="66">
                  <c:v>4.9994853145858E-4</c:v>
                </c:pt>
                <c:pt idx="67">
                  <c:v>4.4389975271988202E-4</c:v>
                </c:pt>
                <c:pt idx="68">
                  <c:v>4.1029422012634799E-4</c:v>
                </c:pt>
                <c:pt idx="69">
                  <c:v>3.8354358004706498E-4</c:v>
                </c:pt>
                <c:pt idx="70">
                  <c:v>3.4120835881363301E-4</c:v>
                </c:pt>
                <c:pt idx="71">
                  <c:v>3.2054578296418799E-4</c:v>
                </c:pt>
                <c:pt idx="72">
                  <c:v>3.1061189487718502E-4</c:v>
                </c:pt>
                <c:pt idx="73">
                  <c:v>2.9937218974847199E-4</c:v>
                </c:pt>
                <c:pt idx="74">
                  <c:v>2.8603287753429201E-4</c:v>
                </c:pt>
                <c:pt idx="75">
                  <c:v>2.8153863853137899E-4</c:v>
                </c:pt>
                <c:pt idx="76">
                  <c:v>2.7370425973770898E-4</c:v>
                </c:pt>
                <c:pt idx="77">
                  <c:v>2.6521279189939298E-4</c:v>
                </c:pt>
                <c:pt idx="78">
                  <c:v>1.8246391143668999E-4</c:v>
                </c:pt>
                <c:pt idx="79">
                  <c:v>1.7745094343524901E-4</c:v>
                </c:pt>
                <c:pt idx="80">
                  <c:v>1.7783247602370499E-4</c:v>
                </c:pt>
                <c:pt idx="81">
                  <c:v>1.7536331564805801E-4</c:v>
                </c:pt>
                <c:pt idx="82">
                  <c:v>1.7492362857974699E-4</c:v>
                </c:pt>
                <c:pt idx="83">
                  <c:v>1.75583514171955E-4</c:v>
                </c:pt>
                <c:pt idx="84">
                  <c:v>2.6190000929186998E-4</c:v>
                </c:pt>
                <c:pt idx="85">
                  <c:v>2.6436387209536201E-4</c:v>
                </c:pt>
                <c:pt idx="86">
                  <c:v>2.6599757134932199E-4</c:v>
                </c:pt>
                <c:pt idx="87">
                  <c:v>6.3731301857327196E-4</c:v>
                </c:pt>
                <c:pt idx="88">
                  <c:v>9.1304086199245197E-4</c:v>
                </c:pt>
                <c:pt idx="89">
                  <c:v>9.26868504146142E-4</c:v>
                </c:pt>
                <c:pt idx="90">
                  <c:v>2.2858628478841499E-4</c:v>
                </c:pt>
                <c:pt idx="91">
                  <c:v>1.7769934229149801E-4</c:v>
                </c:pt>
                <c:pt idx="92">
                  <c:v>1.77699150673844E-4</c:v>
                </c:pt>
                <c:pt idx="93">
                  <c:v>1.77953771680511E-4</c:v>
                </c:pt>
                <c:pt idx="94">
                  <c:v>1.75898761452472E-4</c:v>
                </c:pt>
                <c:pt idx="95">
                  <c:v>1.7607334272315799E-4</c:v>
                </c:pt>
                <c:pt idx="96">
                  <c:v>1.7428525658074199E-4</c:v>
                </c:pt>
                <c:pt idx="97">
                  <c:v>1.7615272510290001E-4</c:v>
                </c:pt>
                <c:pt idx="98">
                  <c:v>1.77713516681128E-4</c:v>
                </c:pt>
                <c:pt idx="99">
                  <c:v>1.7902192768156399E-4</c:v>
                </c:pt>
                <c:pt idx="100">
                  <c:v>1.80980707859533E-4</c:v>
                </c:pt>
                <c:pt idx="101">
                  <c:v>1.8164787688271599E-4</c:v>
                </c:pt>
                <c:pt idx="102">
                  <c:v>1.83563843838594E-4</c:v>
                </c:pt>
                <c:pt idx="103">
                  <c:v>1.8603886412237399E-4</c:v>
                </c:pt>
                <c:pt idx="104">
                  <c:v>1.8818001191178799E-4</c:v>
                </c:pt>
                <c:pt idx="105">
                  <c:v>1.90232797808025E-4</c:v>
                </c:pt>
                <c:pt idx="106">
                  <c:v>1.9058212626708399E-4</c:v>
                </c:pt>
                <c:pt idx="107">
                  <c:v>1.8919034847077E-4</c:v>
                </c:pt>
                <c:pt idx="108">
                  <c:v>1.90764628960828E-4</c:v>
                </c:pt>
                <c:pt idx="109">
                  <c:v>1.9356682406463101E-4</c:v>
                </c:pt>
                <c:pt idx="110">
                  <c:v>1.9512477240548999E-4</c:v>
                </c:pt>
                <c:pt idx="111">
                  <c:v>1.95901337619117E-4</c:v>
                </c:pt>
                <c:pt idx="112">
                  <c:v>1.9761906678321899E-4</c:v>
                </c:pt>
                <c:pt idx="113">
                  <c:v>1.9841708730163301E-4</c:v>
                </c:pt>
                <c:pt idx="114">
                  <c:v>2.0396781302669601E-4</c:v>
                </c:pt>
                <c:pt idx="115">
                  <c:v>2.0414522305286999E-4</c:v>
                </c:pt>
                <c:pt idx="116">
                  <c:v>2.0083080848357399E-4</c:v>
                </c:pt>
                <c:pt idx="117">
                  <c:v>2.03627666067578E-4</c:v>
                </c:pt>
                <c:pt idx="118">
                  <c:v>2.10518130751325E-4</c:v>
                </c:pt>
                <c:pt idx="119">
                  <c:v>2.1624499821603499E-4</c:v>
                </c:pt>
                <c:pt idx="120">
                  <c:v>2.2449811434999299E-4</c:v>
                </c:pt>
                <c:pt idx="121">
                  <c:v>2.3485787830036201E-4</c:v>
                </c:pt>
                <c:pt idx="122">
                  <c:v>2.4806625689905202E-4</c:v>
                </c:pt>
                <c:pt idx="123">
                  <c:v>2.6348478197101997E-4</c:v>
                </c:pt>
                <c:pt idx="124">
                  <c:v>2.3659847354534199E-4</c:v>
                </c:pt>
                <c:pt idx="125">
                  <c:v>2.6819163563339898E-4</c:v>
                </c:pt>
                <c:pt idx="126">
                  <c:v>2.8858070235344199E-4</c:v>
                </c:pt>
                <c:pt idx="127">
                  <c:v>3.1351626240073001E-4</c:v>
                </c:pt>
                <c:pt idx="128">
                  <c:v>3.4111446823240402E-4</c:v>
                </c:pt>
                <c:pt idx="129">
                  <c:v>3.7324154911926602E-4</c:v>
                </c:pt>
                <c:pt idx="130">
                  <c:v>4.1270101987807002E-4</c:v>
                </c:pt>
                <c:pt idx="131">
                  <c:v>4.6471551299054998E-4</c:v>
                </c:pt>
              </c:numCache>
            </c:numRef>
          </c:val>
          <c:smooth val="1"/>
        </c:ser>
        <c:dLbls>
          <c:showLegendKey val="0"/>
          <c:showVal val="0"/>
          <c:showCatName val="0"/>
          <c:showSerName val="0"/>
          <c:showPercent val="0"/>
          <c:showBubbleSize val="0"/>
        </c:dLbls>
        <c:marker val="1"/>
        <c:smooth val="0"/>
        <c:axId val="302946176"/>
        <c:axId val="303095808"/>
      </c:lineChart>
      <c:dateAx>
        <c:axId val="302946176"/>
        <c:scaling>
          <c:orientation val="minMax"/>
        </c:scaling>
        <c:delete val="0"/>
        <c:axPos val="b"/>
        <c:numFmt formatCode="m/d/yyyy" sourceLinked="1"/>
        <c:majorTickMark val="out"/>
        <c:minorTickMark val="none"/>
        <c:tickLblPos val="nextTo"/>
        <c:spPr>
          <a:ln>
            <a:solidFill>
              <a:schemeClr val="tx2"/>
            </a:solidFill>
          </a:ln>
        </c:spPr>
        <c:crossAx val="303095808"/>
        <c:crosses val="autoZero"/>
        <c:auto val="1"/>
        <c:lblOffset val="100"/>
        <c:baseTimeUnit val="months"/>
        <c:majorUnit val="24"/>
        <c:majorTimeUnit val="months"/>
      </c:dateAx>
      <c:valAx>
        <c:axId val="303095808"/>
        <c:scaling>
          <c:orientation val="minMax"/>
        </c:scaling>
        <c:delete val="0"/>
        <c:axPos val="l"/>
        <c:title>
          <c:tx>
            <c:rich>
              <a:bodyPr rot="-5400000" vert="horz"/>
              <a:lstStyle/>
              <a:p>
                <a:pPr>
                  <a:defRPr/>
                </a:pPr>
                <a:r>
                  <a:rPr lang="en-US" sz="1000" dirty="0" smtClean="0"/>
                  <a:t>Default</a:t>
                </a:r>
                <a:endParaRPr lang="en-US" sz="1000" dirty="0"/>
              </a:p>
            </c:rich>
          </c:tx>
          <c:layout/>
          <c:overlay val="0"/>
        </c:title>
        <c:numFmt formatCode="0.0%" sourceLinked="1"/>
        <c:majorTickMark val="out"/>
        <c:minorTickMark val="none"/>
        <c:tickLblPos val="nextTo"/>
        <c:spPr>
          <a:ln>
            <a:solidFill>
              <a:schemeClr val="tx2"/>
            </a:solidFill>
          </a:ln>
        </c:spPr>
        <c:crossAx val="302946176"/>
        <c:crosses val="autoZero"/>
        <c:crossBetween val="midCat"/>
      </c:valAx>
    </c:plotArea>
    <c:plotVisOnly val="1"/>
    <c:dispBlanksAs val="gap"/>
    <c:showDLblsOverMax val="0"/>
  </c:chart>
  <c:txPr>
    <a:bodyPr/>
    <a:lstStyle/>
    <a:p>
      <a:pPr>
        <a:defRPr sz="800">
          <a:solidFill>
            <a:schemeClr val="tx2"/>
          </a:solidFill>
          <a:latin typeface="Arial Unicode MS" pitchFamily="34" charset="-122"/>
          <a:ea typeface="Arial Unicode MS" pitchFamily="34" charset="-122"/>
          <a:cs typeface="Arial Unicode MS" pitchFamily="34" charset="-122"/>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507470208631824"/>
          <c:y val="3.9546124331371904E-2"/>
          <c:w val="0.81497041862279673"/>
          <c:h val="0.85182187936535436"/>
        </c:manualLayout>
      </c:layout>
      <c:lineChart>
        <c:grouping val="standard"/>
        <c:varyColors val="0"/>
        <c:ser>
          <c:idx val="0"/>
          <c:order val="0"/>
          <c:tx>
            <c:strRef>
              <c:f>Sheet1!$B$1</c:f>
              <c:strCache>
                <c:ptCount val="1"/>
                <c:pt idx="0">
                  <c:v>turnover</c:v>
                </c:pt>
              </c:strCache>
            </c:strRef>
          </c:tx>
          <c:spPr>
            <a:ln w="12700"/>
          </c:spPr>
          <c:marker>
            <c:symbol val="none"/>
          </c:marker>
          <c:cat>
            <c:numRef>
              <c:f>Sheet1!$A$2:$A$133</c:f>
              <c:numCache>
                <c:formatCode>m/d/yyyy</c:formatCode>
                <c:ptCount val="132"/>
                <c:pt idx="0">
                  <c:v>35796</c:v>
                </c:pt>
                <c:pt idx="1">
                  <c:v>35827</c:v>
                </c:pt>
                <c:pt idx="2">
                  <c:v>35855</c:v>
                </c:pt>
                <c:pt idx="3">
                  <c:v>35886</c:v>
                </c:pt>
                <c:pt idx="4">
                  <c:v>35916</c:v>
                </c:pt>
                <c:pt idx="5">
                  <c:v>35947</c:v>
                </c:pt>
                <c:pt idx="6">
                  <c:v>35977</c:v>
                </c:pt>
                <c:pt idx="7">
                  <c:v>36008</c:v>
                </c:pt>
                <c:pt idx="8">
                  <c:v>36039</c:v>
                </c:pt>
                <c:pt idx="9">
                  <c:v>36069</c:v>
                </c:pt>
                <c:pt idx="10">
                  <c:v>36100</c:v>
                </c:pt>
                <c:pt idx="11">
                  <c:v>36130</c:v>
                </c:pt>
                <c:pt idx="12">
                  <c:v>36161</c:v>
                </c:pt>
                <c:pt idx="13">
                  <c:v>36192</c:v>
                </c:pt>
                <c:pt idx="14">
                  <c:v>36220</c:v>
                </c:pt>
                <c:pt idx="15">
                  <c:v>36251</c:v>
                </c:pt>
                <c:pt idx="16">
                  <c:v>36281</c:v>
                </c:pt>
                <c:pt idx="17">
                  <c:v>36312</c:v>
                </c:pt>
                <c:pt idx="18">
                  <c:v>36342</c:v>
                </c:pt>
                <c:pt idx="19">
                  <c:v>36373</c:v>
                </c:pt>
                <c:pt idx="20">
                  <c:v>36404</c:v>
                </c:pt>
                <c:pt idx="21">
                  <c:v>36434</c:v>
                </c:pt>
                <c:pt idx="22">
                  <c:v>36465</c:v>
                </c:pt>
                <c:pt idx="23">
                  <c:v>36495</c:v>
                </c:pt>
                <c:pt idx="24">
                  <c:v>36526</c:v>
                </c:pt>
                <c:pt idx="25">
                  <c:v>36557</c:v>
                </c:pt>
                <c:pt idx="26">
                  <c:v>36586</c:v>
                </c:pt>
                <c:pt idx="27">
                  <c:v>36617</c:v>
                </c:pt>
                <c:pt idx="28">
                  <c:v>36647</c:v>
                </c:pt>
                <c:pt idx="29">
                  <c:v>36678</c:v>
                </c:pt>
                <c:pt idx="30">
                  <c:v>36708</c:v>
                </c:pt>
                <c:pt idx="31">
                  <c:v>36739</c:v>
                </c:pt>
                <c:pt idx="32">
                  <c:v>36770</c:v>
                </c:pt>
                <c:pt idx="33">
                  <c:v>36800</c:v>
                </c:pt>
                <c:pt idx="34">
                  <c:v>36831</c:v>
                </c:pt>
                <c:pt idx="35">
                  <c:v>36861</c:v>
                </c:pt>
                <c:pt idx="36">
                  <c:v>36892</c:v>
                </c:pt>
                <c:pt idx="37">
                  <c:v>36923</c:v>
                </c:pt>
                <c:pt idx="38">
                  <c:v>36951</c:v>
                </c:pt>
                <c:pt idx="39">
                  <c:v>36982</c:v>
                </c:pt>
                <c:pt idx="40">
                  <c:v>37012</c:v>
                </c:pt>
                <c:pt idx="41">
                  <c:v>37043</c:v>
                </c:pt>
                <c:pt idx="42">
                  <c:v>37073</c:v>
                </c:pt>
                <c:pt idx="43">
                  <c:v>37104</c:v>
                </c:pt>
                <c:pt idx="44">
                  <c:v>37135</c:v>
                </c:pt>
                <c:pt idx="45">
                  <c:v>37165</c:v>
                </c:pt>
                <c:pt idx="46">
                  <c:v>37196</c:v>
                </c:pt>
                <c:pt idx="47">
                  <c:v>37226</c:v>
                </c:pt>
                <c:pt idx="48">
                  <c:v>37257</c:v>
                </c:pt>
                <c:pt idx="49">
                  <c:v>37288</c:v>
                </c:pt>
                <c:pt idx="50">
                  <c:v>37316</c:v>
                </c:pt>
                <c:pt idx="51">
                  <c:v>37347</c:v>
                </c:pt>
                <c:pt idx="52">
                  <c:v>37377</c:v>
                </c:pt>
                <c:pt idx="53">
                  <c:v>37408</c:v>
                </c:pt>
                <c:pt idx="54">
                  <c:v>37438</c:v>
                </c:pt>
                <c:pt idx="55">
                  <c:v>37469</c:v>
                </c:pt>
                <c:pt idx="56">
                  <c:v>37500</c:v>
                </c:pt>
                <c:pt idx="57">
                  <c:v>37530</c:v>
                </c:pt>
                <c:pt idx="58">
                  <c:v>37561</c:v>
                </c:pt>
                <c:pt idx="59">
                  <c:v>37591</c:v>
                </c:pt>
                <c:pt idx="60">
                  <c:v>37622</c:v>
                </c:pt>
                <c:pt idx="61">
                  <c:v>37653</c:v>
                </c:pt>
                <c:pt idx="62">
                  <c:v>37681</c:v>
                </c:pt>
                <c:pt idx="63">
                  <c:v>37712</c:v>
                </c:pt>
                <c:pt idx="64">
                  <c:v>37742</c:v>
                </c:pt>
                <c:pt idx="65">
                  <c:v>37773</c:v>
                </c:pt>
                <c:pt idx="66">
                  <c:v>37803</c:v>
                </c:pt>
                <c:pt idx="67">
                  <c:v>37834</c:v>
                </c:pt>
                <c:pt idx="68">
                  <c:v>37865</c:v>
                </c:pt>
                <c:pt idx="69">
                  <c:v>37895</c:v>
                </c:pt>
                <c:pt idx="70">
                  <c:v>37926</c:v>
                </c:pt>
                <c:pt idx="71">
                  <c:v>37956</c:v>
                </c:pt>
                <c:pt idx="72">
                  <c:v>37987</c:v>
                </c:pt>
                <c:pt idx="73">
                  <c:v>38018</c:v>
                </c:pt>
                <c:pt idx="74">
                  <c:v>38047</c:v>
                </c:pt>
                <c:pt idx="75">
                  <c:v>38078</c:v>
                </c:pt>
                <c:pt idx="76">
                  <c:v>38108</c:v>
                </c:pt>
                <c:pt idx="77">
                  <c:v>38139</c:v>
                </c:pt>
                <c:pt idx="78">
                  <c:v>38169</c:v>
                </c:pt>
                <c:pt idx="79">
                  <c:v>38200</c:v>
                </c:pt>
                <c:pt idx="80">
                  <c:v>38231</c:v>
                </c:pt>
                <c:pt idx="81">
                  <c:v>38261</c:v>
                </c:pt>
                <c:pt idx="82">
                  <c:v>38292</c:v>
                </c:pt>
                <c:pt idx="83">
                  <c:v>38322</c:v>
                </c:pt>
                <c:pt idx="84">
                  <c:v>38353</c:v>
                </c:pt>
                <c:pt idx="85">
                  <c:v>38384</c:v>
                </c:pt>
                <c:pt idx="86">
                  <c:v>38412</c:v>
                </c:pt>
                <c:pt idx="87">
                  <c:v>38443</c:v>
                </c:pt>
                <c:pt idx="88">
                  <c:v>38473</c:v>
                </c:pt>
                <c:pt idx="89">
                  <c:v>38504</c:v>
                </c:pt>
                <c:pt idx="90">
                  <c:v>38534</c:v>
                </c:pt>
                <c:pt idx="91">
                  <c:v>38565</c:v>
                </c:pt>
                <c:pt idx="92">
                  <c:v>38596</c:v>
                </c:pt>
                <c:pt idx="93">
                  <c:v>38626</c:v>
                </c:pt>
                <c:pt idx="94">
                  <c:v>38657</c:v>
                </c:pt>
                <c:pt idx="95">
                  <c:v>38687</c:v>
                </c:pt>
                <c:pt idx="96">
                  <c:v>38718</c:v>
                </c:pt>
                <c:pt idx="97">
                  <c:v>38749</c:v>
                </c:pt>
                <c:pt idx="98">
                  <c:v>38777</c:v>
                </c:pt>
                <c:pt idx="99">
                  <c:v>38808</c:v>
                </c:pt>
                <c:pt idx="100">
                  <c:v>38838</c:v>
                </c:pt>
                <c:pt idx="101">
                  <c:v>38869</c:v>
                </c:pt>
                <c:pt idx="102">
                  <c:v>38899</c:v>
                </c:pt>
                <c:pt idx="103">
                  <c:v>38930</c:v>
                </c:pt>
                <c:pt idx="104">
                  <c:v>38961</c:v>
                </c:pt>
                <c:pt idx="105">
                  <c:v>38991</c:v>
                </c:pt>
                <c:pt idx="106">
                  <c:v>39022</c:v>
                </c:pt>
                <c:pt idx="107">
                  <c:v>39052</c:v>
                </c:pt>
                <c:pt idx="108">
                  <c:v>39083</c:v>
                </c:pt>
                <c:pt idx="109">
                  <c:v>39114</c:v>
                </c:pt>
                <c:pt idx="110">
                  <c:v>39142</c:v>
                </c:pt>
                <c:pt idx="111">
                  <c:v>39173</c:v>
                </c:pt>
                <c:pt idx="112">
                  <c:v>39203</c:v>
                </c:pt>
                <c:pt idx="113">
                  <c:v>39234</c:v>
                </c:pt>
                <c:pt idx="114">
                  <c:v>39264</c:v>
                </c:pt>
                <c:pt idx="115">
                  <c:v>39295</c:v>
                </c:pt>
                <c:pt idx="116">
                  <c:v>39326</c:v>
                </c:pt>
                <c:pt idx="117">
                  <c:v>39356</c:v>
                </c:pt>
                <c:pt idx="118">
                  <c:v>39387</c:v>
                </c:pt>
                <c:pt idx="119">
                  <c:v>39417</c:v>
                </c:pt>
                <c:pt idx="120">
                  <c:v>39448</c:v>
                </c:pt>
                <c:pt idx="121">
                  <c:v>39479</c:v>
                </c:pt>
                <c:pt idx="122">
                  <c:v>39508</c:v>
                </c:pt>
                <c:pt idx="123">
                  <c:v>39539</c:v>
                </c:pt>
                <c:pt idx="124">
                  <c:v>39569</c:v>
                </c:pt>
                <c:pt idx="125">
                  <c:v>39600</c:v>
                </c:pt>
                <c:pt idx="126">
                  <c:v>39630</c:v>
                </c:pt>
                <c:pt idx="127">
                  <c:v>39661</c:v>
                </c:pt>
                <c:pt idx="128">
                  <c:v>39692</c:v>
                </c:pt>
                <c:pt idx="129">
                  <c:v>39722</c:v>
                </c:pt>
                <c:pt idx="130">
                  <c:v>39753</c:v>
                </c:pt>
                <c:pt idx="131">
                  <c:v>39783</c:v>
                </c:pt>
              </c:numCache>
            </c:numRef>
          </c:cat>
          <c:val>
            <c:numRef>
              <c:f>Sheet1!$B$2:$B$133</c:f>
              <c:numCache>
                <c:formatCode>0.0%</c:formatCode>
                <c:ptCount val="132"/>
                <c:pt idx="0">
                  <c:v>6.3450363156771798E-3</c:v>
                </c:pt>
                <c:pt idx="1">
                  <c:v>4.5622483856507497E-3</c:v>
                </c:pt>
                <c:pt idx="2">
                  <c:v>4.8612938330869397E-3</c:v>
                </c:pt>
                <c:pt idx="3">
                  <c:v>6.52236595456979E-3</c:v>
                </c:pt>
                <c:pt idx="4">
                  <c:v>7.2205210411438398E-3</c:v>
                </c:pt>
                <c:pt idx="5">
                  <c:v>7.6349915070835902E-3</c:v>
                </c:pt>
                <c:pt idx="6">
                  <c:v>8.0427778598315992E-3</c:v>
                </c:pt>
                <c:pt idx="7">
                  <c:v>7.5444368026107104E-3</c:v>
                </c:pt>
                <c:pt idx="8">
                  <c:v>7.8290038860035598E-3</c:v>
                </c:pt>
                <c:pt idx="9">
                  <c:v>6.4458127106091102E-3</c:v>
                </c:pt>
                <c:pt idx="10">
                  <c:v>6.2115807486826102E-3</c:v>
                </c:pt>
                <c:pt idx="11">
                  <c:v>5.6073559745032997E-3</c:v>
                </c:pt>
                <c:pt idx="12">
                  <c:v>5.8035759535222196E-3</c:v>
                </c:pt>
                <c:pt idx="13">
                  <c:v>4.1022076313813501E-3</c:v>
                </c:pt>
                <c:pt idx="14">
                  <c:v>4.2942531215146703E-3</c:v>
                </c:pt>
                <c:pt idx="15">
                  <c:v>5.7524643873210898E-3</c:v>
                </c:pt>
                <c:pt idx="16">
                  <c:v>6.4102782831897296E-3</c:v>
                </c:pt>
                <c:pt idx="17">
                  <c:v>6.9262304730559497E-3</c:v>
                </c:pt>
                <c:pt idx="18">
                  <c:v>7.2618024126173504E-3</c:v>
                </c:pt>
                <c:pt idx="19">
                  <c:v>6.2126376133474501E-3</c:v>
                </c:pt>
                <c:pt idx="20">
                  <c:v>6.33604953142372E-3</c:v>
                </c:pt>
                <c:pt idx="21">
                  <c:v>4.6176173740490696E-3</c:v>
                </c:pt>
                <c:pt idx="22">
                  <c:v>4.7276446178577698E-3</c:v>
                </c:pt>
                <c:pt idx="23">
                  <c:v>4.2735786843245598E-3</c:v>
                </c:pt>
                <c:pt idx="24">
                  <c:v>4.7160219758446004E-3</c:v>
                </c:pt>
                <c:pt idx="25">
                  <c:v>3.15099632393911E-3</c:v>
                </c:pt>
                <c:pt idx="26">
                  <c:v>2.9199656475035001E-3</c:v>
                </c:pt>
                <c:pt idx="27">
                  <c:v>3.7541475730695699E-3</c:v>
                </c:pt>
                <c:pt idx="28">
                  <c:v>4.4391616138172501E-3</c:v>
                </c:pt>
                <c:pt idx="29">
                  <c:v>4.9881227291929302E-3</c:v>
                </c:pt>
                <c:pt idx="30">
                  <c:v>4.5082766065350603E-3</c:v>
                </c:pt>
                <c:pt idx="31">
                  <c:v>4.8523205989030004E-3</c:v>
                </c:pt>
                <c:pt idx="32">
                  <c:v>5.4132164576863196E-3</c:v>
                </c:pt>
                <c:pt idx="33">
                  <c:v>4.7077337692555E-3</c:v>
                </c:pt>
                <c:pt idx="34">
                  <c:v>4.7089723618983998E-3</c:v>
                </c:pt>
                <c:pt idx="35">
                  <c:v>4.5065166320303303E-3</c:v>
                </c:pt>
                <c:pt idx="36">
                  <c:v>4.8607692986299897E-3</c:v>
                </c:pt>
                <c:pt idx="37">
                  <c:v>4.0027557746204296E-3</c:v>
                </c:pt>
                <c:pt idx="38">
                  <c:v>4.6455342277708696E-3</c:v>
                </c:pt>
                <c:pt idx="39">
                  <c:v>6.2008413852727299E-3</c:v>
                </c:pt>
                <c:pt idx="40">
                  <c:v>7.04017629991019E-3</c:v>
                </c:pt>
                <c:pt idx="41">
                  <c:v>7.3076875831208999E-3</c:v>
                </c:pt>
                <c:pt idx="42">
                  <c:v>7.5278448841202897E-3</c:v>
                </c:pt>
                <c:pt idx="43">
                  <c:v>6.97364587691019E-3</c:v>
                </c:pt>
                <c:pt idx="44">
                  <c:v>7.3047785289046497E-3</c:v>
                </c:pt>
                <c:pt idx="45">
                  <c:v>6.1505060095023798E-3</c:v>
                </c:pt>
                <c:pt idx="46">
                  <c:v>5.9928876205217899E-3</c:v>
                </c:pt>
                <c:pt idx="47">
                  <c:v>5.4685861358444903E-3</c:v>
                </c:pt>
                <c:pt idx="48">
                  <c:v>5.6349226328064397E-3</c:v>
                </c:pt>
                <c:pt idx="49">
                  <c:v>3.8480099290123799E-3</c:v>
                </c:pt>
                <c:pt idx="50">
                  <c:v>4.0644748857229804E-3</c:v>
                </c:pt>
                <c:pt idx="51">
                  <c:v>5.5054703555522796E-3</c:v>
                </c:pt>
                <c:pt idx="52">
                  <c:v>6.0672436988836601E-3</c:v>
                </c:pt>
                <c:pt idx="53">
                  <c:v>6.5311054517249402E-3</c:v>
                </c:pt>
                <c:pt idx="54">
                  <c:v>7.1556131480713901E-3</c:v>
                </c:pt>
                <c:pt idx="55">
                  <c:v>6.83822491925133E-3</c:v>
                </c:pt>
                <c:pt idx="56">
                  <c:v>7.2401875719440498E-3</c:v>
                </c:pt>
                <c:pt idx="57">
                  <c:v>6.0095955984445799E-3</c:v>
                </c:pt>
                <c:pt idx="58">
                  <c:v>5.80748462029559E-3</c:v>
                </c:pt>
                <c:pt idx="59">
                  <c:v>5.21295421556191E-3</c:v>
                </c:pt>
                <c:pt idx="60">
                  <c:v>5.3593721699941197E-3</c:v>
                </c:pt>
                <c:pt idx="61">
                  <c:v>3.7739056822776499E-3</c:v>
                </c:pt>
                <c:pt idx="62">
                  <c:v>3.9068102406401503E-3</c:v>
                </c:pt>
                <c:pt idx="63">
                  <c:v>5.1899876018259104E-3</c:v>
                </c:pt>
                <c:pt idx="64">
                  <c:v>5.76673259579423E-3</c:v>
                </c:pt>
                <c:pt idx="65">
                  <c:v>6.0553628271017897E-3</c:v>
                </c:pt>
                <c:pt idx="66">
                  <c:v>6.7477153282963897E-3</c:v>
                </c:pt>
                <c:pt idx="67">
                  <c:v>6.6428852583123796E-3</c:v>
                </c:pt>
                <c:pt idx="68">
                  <c:v>6.88192698351019E-3</c:v>
                </c:pt>
                <c:pt idx="69">
                  <c:v>5.37940338064223E-3</c:v>
                </c:pt>
                <c:pt idx="70">
                  <c:v>5.1696506625410997E-3</c:v>
                </c:pt>
                <c:pt idx="71">
                  <c:v>4.89279859571266E-3</c:v>
                </c:pt>
                <c:pt idx="72">
                  <c:v>5.2481156850339196E-3</c:v>
                </c:pt>
                <c:pt idx="73">
                  <c:v>3.87208756038548E-3</c:v>
                </c:pt>
                <c:pt idx="74">
                  <c:v>4.3119616767735101E-3</c:v>
                </c:pt>
                <c:pt idx="75">
                  <c:v>6.0258126277801796E-3</c:v>
                </c:pt>
                <c:pt idx="76">
                  <c:v>7.0701965576570602E-3</c:v>
                </c:pt>
                <c:pt idx="77">
                  <c:v>7.5040640068975203E-3</c:v>
                </c:pt>
                <c:pt idx="78">
                  <c:v>7.3226282153653604E-3</c:v>
                </c:pt>
                <c:pt idx="79">
                  <c:v>7.0116867872090901E-3</c:v>
                </c:pt>
                <c:pt idx="80">
                  <c:v>8.0773442683943607E-3</c:v>
                </c:pt>
                <c:pt idx="81">
                  <c:v>7.1021341967614903E-3</c:v>
                </c:pt>
                <c:pt idx="82">
                  <c:v>7.1388907957099703E-3</c:v>
                </c:pt>
                <c:pt idx="83">
                  <c:v>6.6404064820678498E-3</c:v>
                </c:pt>
                <c:pt idx="84">
                  <c:v>7.0468581644211603E-3</c:v>
                </c:pt>
                <c:pt idx="85">
                  <c:v>5.0953938235967699E-3</c:v>
                </c:pt>
                <c:pt idx="86">
                  <c:v>5.4548091857093599E-3</c:v>
                </c:pt>
                <c:pt idx="87">
                  <c:v>7.5028376710949496E-3</c:v>
                </c:pt>
                <c:pt idx="88">
                  <c:v>6.4771210691531899E-3</c:v>
                </c:pt>
                <c:pt idx="89">
                  <c:v>7.1423094741841402E-3</c:v>
                </c:pt>
                <c:pt idx="90">
                  <c:v>7.8454143455067692E-3</c:v>
                </c:pt>
                <c:pt idx="91">
                  <c:v>9.3267315621769504E-3</c:v>
                </c:pt>
                <c:pt idx="92">
                  <c:v>9.6292198385516496E-3</c:v>
                </c:pt>
                <c:pt idx="93">
                  <c:v>7.7741568061437099E-3</c:v>
                </c:pt>
                <c:pt idx="94">
                  <c:v>7.5027815423721698E-3</c:v>
                </c:pt>
                <c:pt idx="95">
                  <c:v>6.3561191867695698E-3</c:v>
                </c:pt>
                <c:pt idx="96">
                  <c:v>5.8153496017034597E-3</c:v>
                </c:pt>
                <c:pt idx="97">
                  <c:v>4.3412229588955902E-3</c:v>
                </c:pt>
                <c:pt idx="98">
                  <c:v>4.8600787297747401E-3</c:v>
                </c:pt>
                <c:pt idx="99">
                  <c:v>6.1869222125094398E-3</c:v>
                </c:pt>
                <c:pt idx="100">
                  <c:v>6.7116084998251396E-3</c:v>
                </c:pt>
                <c:pt idx="101">
                  <c:v>6.4506603833492304E-3</c:v>
                </c:pt>
                <c:pt idx="102">
                  <c:v>6.65303897357935E-3</c:v>
                </c:pt>
                <c:pt idx="103">
                  <c:v>6.0117161050873297E-3</c:v>
                </c:pt>
                <c:pt idx="104">
                  <c:v>6.0542266290804303E-3</c:v>
                </c:pt>
                <c:pt idx="105">
                  <c:v>5.8452863489366902E-3</c:v>
                </c:pt>
                <c:pt idx="106">
                  <c:v>5.9880737772770101E-3</c:v>
                </c:pt>
                <c:pt idx="107">
                  <c:v>5.5830846473784203E-3</c:v>
                </c:pt>
                <c:pt idx="108">
                  <c:v>6.1198215303119802E-3</c:v>
                </c:pt>
                <c:pt idx="109">
                  <c:v>4.6091000935455798E-3</c:v>
                </c:pt>
                <c:pt idx="110">
                  <c:v>4.7344192360211602E-3</c:v>
                </c:pt>
                <c:pt idx="111">
                  <c:v>6.19866472654086E-3</c:v>
                </c:pt>
                <c:pt idx="112">
                  <c:v>7.3435453361380297E-3</c:v>
                </c:pt>
                <c:pt idx="113">
                  <c:v>7.7351731882660899E-3</c:v>
                </c:pt>
                <c:pt idx="114">
                  <c:v>8.2163373884486801E-3</c:v>
                </c:pt>
                <c:pt idx="115">
                  <c:v>6.3008680167850597E-3</c:v>
                </c:pt>
                <c:pt idx="116">
                  <c:v>6.3457524890915299E-3</c:v>
                </c:pt>
                <c:pt idx="117">
                  <c:v>5.6468309872984204E-3</c:v>
                </c:pt>
                <c:pt idx="118">
                  <c:v>5.9273498563832596E-3</c:v>
                </c:pt>
                <c:pt idx="119">
                  <c:v>5.3487923724732499E-3</c:v>
                </c:pt>
                <c:pt idx="120">
                  <c:v>6.0016115436499397E-3</c:v>
                </c:pt>
                <c:pt idx="121">
                  <c:v>4.3890265718234296E-3</c:v>
                </c:pt>
                <c:pt idx="122">
                  <c:v>4.9277056373018303E-3</c:v>
                </c:pt>
                <c:pt idx="123">
                  <c:v>6.4286468285797297E-3</c:v>
                </c:pt>
                <c:pt idx="124">
                  <c:v>7.1059768924403403E-3</c:v>
                </c:pt>
                <c:pt idx="125">
                  <c:v>7.6905742576112998E-3</c:v>
                </c:pt>
                <c:pt idx="126">
                  <c:v>7.9371038641073092E-3</c:v>
                </c:pt>
                <c:pt idx="127">
                  <c:v>6.6737660831459296E-3</c:v>
                </c:pt>
                <c:pt idx="128">
                  <c:v>6.73995539530871E-3</c:v>
                </c:pt>
                <c:pt idx="129">
                  <c:v>5.3771029558836196E-3</c:v>
                </c:pt>
                <c:pt idx="130">
                  <c:v>6.1584817683733896E-3</c:v>
                </c:pt>
                <c:pt idx="131">
                  <c:v>5.34131068427367E-3</c:v>
                </c:pt>
              </c:numCache>
            </c:numRef>
          </c:val>
          <c:smooth val="1"/>
        </c:ser>
        <c:dLbls>
          <c:showLegendKey val="0"/>
          <c:showVal val="0"/>
          <c:showCatName val="0"/>
          <c:showSerName val="0"/>
          <c:showPercent val="0"/>
          <c:showBubbleSize val="0"/>
        </c:dLbls>
        <c:marker val="1"/>
        <c:smooth val="0"/>
        <c:axId val="303192704"/>
        <c:axId val="303387008"/>
      </c:lineChart>
      <c:dateAx>
        <c:axId val="303192704"/>
        <c:scaling>
          <c:orientation val="minMax"/>
        </c:scaling>
        <c:delete val="0"/>
        <c:axPos val="b"/>
        <c:numFmt formatCode="m/d/yyyy" sourceLinked="1"/>
        <c:majorTickMark val="out"/>
        <c:minorTickMark val="none"/>
        <c:tickLblPos val="nextTo"/>
        <c:spPr>
          <a:ln>
            <a:solidFill>
              <a:schemeClr val="tx2"/>
            </a:solidFill>
          </a:ln>
        </c:spPr>
        <c:crossAx val="303387008"/>
        <c:crosses val="autoZero"/>
        <c:auto val="1"/>
        <c:lblOffset val="100"/>
        <c:baseTimeUnit val="months"/>
        <c:majorUnit val="24"/>
        <c:majorTimeUnit val="months"/>
      </c:dateAx>
      <c:valAx>
        <c:axId val="303387008"/>
        <c:scaling>
          <c:orientation val="minMax"/>
          <c:max val="1.0000000000000002E-2"/>
        </c:scaling>
        <c:delete val="0"/>
        <c:axPos val="l"/>
        <c:title>
          <c:tx>
            <c:rich>
              <a:bodyPr rot="-5400000" vert="horz"/>
              <a:lstStyle/>
              <a:p>
                <a:pPr>
                  <a:defRPr/>
                </a:pPr>
                <a:r>
                  <a:rPr lang="en-US" sz="1000" dirty="0" smtClean="0"/>
                  <a:t>Turnover</a:t>
                </a:r>
                <a:endParaRPr lang="en-US" sz="1000" dirty="0"/>
              </a:p>
            </c:rich>
          </c:tx>
          <c:layout/>
          <c:overlay val="0"/>
        </c:title>
        <c:numFmt formatCode="0.0%" sourceLinked="1"/>
        <c:majorTickMark val="out"/>
        <c:minorTickMark val="none"/>
        <c:tickLblPos val="nextTo"/>
        <c:spPr>
          <a:ln>
            <a:solidFill>
              <a:schemeClr val="tx2"/>
            </a:solidFill>
          </a:ln>
        </c:spPr>
        <c:crossAx val="303192704"/>
        <c:crosses val="autoZero"/>
        <c:crossBetween val="midCat"/>
      </c:valAx>
    </c:plotArea>
    <c:plotVisOnly val="1"/>
    <c:dispBlanksAs val="gap"/>
    <c:showDLblsOverMax val="0"/>
  </c:chart>
  <c:txPr>
    <a:bodyPr/>
    <a:lstStyle/>
    <a:p>
      <a:pPr>
        <a:defRPr sz="800">
          <a:solidFill>
            <a:schemeClr val="tx2"/>
          </a:solidFill>
          <a:latin typeface="Arial Unicode MS" pitchFamily="34" charset="-122"/>
          <a:ea typeface="Arial Unicode MS" pitchFamily="34" charset="-122"/>
          <a:cs typeface="Arial Unicode MS" pitchFamily="34" charset="-122"/>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507470208631824"/>
          <c:y val="3.9546124331371904E-2"/>
          <c:w val="0.81497041862279673"/>
          <c:h val="0.85182187936535436"/>
        </c:manualLayout>
      </c:layout>
      <c:lineChart>
        <c:grouping val="standard"/>
        <c:varyColors val="0"/>
        <c:ser>
          <c:idx val="0"/>
          <c:order val="0"/>
          <c:tx>
            <c:strRef>
              <c:f>Sheet1!$B$1</c:f>
              <c:strCache>
                <c:ptCount val="1"/>
                <c:pt idx="0">
                  <c:v>refinancing</c:v>
                </c:pt>
              </c:strCache>
            </c:strRef>
          </c:tx>
          <c:spPr>
            <a:ln w="12700"/>
          </c:spPr>
          <c:marker>
            <c:symbol val="none"/>
          </c:marker>
          <c:cat>
            <c:numRef>
              <c:f>Sheet1!$A$2:$A$133</c:f>
              <c:numCache>
                <c:formatCode>m/d/yyyy</c:formatCode>
                <c:ptCount val="132"/>
                <c:pt idx="0">
                  <c:v>35796</c:v>
                </c:pt>
                <c:pt idx="1">
                  <c:v>35827</c:v>
                </c:pt>
                <c:pt idx="2">
                  <c:v>35855</c:v>
                </c:pt>
                <c:pt idx="3">
                  <c:v>35886</c:v>
                </c:pt>
                <c:pt idx="4">
                  <c:v>35916</c:v>
                </c:pt>
                <c:pt idx="5">
                  <c:v>35947</c:v>
                </c:pt>
                <c:pt idx="6">
                  <c:v>35977</c:v>
                </c:pt>
                <c:pt idx="7">
                  <c:v>36008</c:v>
                </c:pt>
                <c:pt idx="8">
                  <c:v>36039</c:v>
                </c:pt>
                <c:pt idx="9">
                  <c:v>36069</c:v>
                </c:pt>
                <c:pt idx="10">
                  <c:v>36100</c:v>
                </c:pt>
                <c:pt idx="11">
                  <c:v>36130</c:v>
                </c:pt>
                <c:pt idx="12">
                  <c:v>36161</c:v>
                </c:pt>
                <c:pt idx="13">
                  <c:v>36192</c:v>
                </c:pt>
                <c:pt idx="14">
                  <c:v>36220</c:v>
                </c:pt>
                <c:pt idx="15">
                  <c:v>36251</c:v>
                </c:pt>
                <c:pt idx="16">
                  <c:v>36281</c:v>
                </c:pt>
                <c:pt idx="17">
                  <c:v>36312</c:v>
                </c:pt>
                <c:pt idx="18">
                  <c:v>36342</c:v>
                </c:pt>
                <c:pt idx="19">
                  <c:v>36373</c:v>
                </c:pt>
                <c:pt idx="20">
                  <c:v>36404</c:v>
                </c:pt>
                <c:pt idx="21">
                  <c:v>36434</c:v>
                </c:pt>
                <c:pt idx="22">
                  <c:v>36465</c:v>
                </c:pt>
                <c:pt idx="23">
                  <c:v>36495</c:v>
                </c:pt>
                <c:pt idx="24">
                  <c:v>36526</c:v>
                </c:pt>
                <c:pt idx="25">
                  <c:v>36557</c:v>
                </c:pt>
                <c:pt idx="26">
                  <c:v>36586</c:v>
                </c:pt>
                <c:pt idx="27">
                  <c:v>36617</c:v>
                </c:pt>
                <c:pt idx="28">
                  <c:v>36647</c:v>
                </c:pt>
                <c:pt idx="29">
                  <c:v>36678</c:v>
                </c:pt>
                <c:pt idx="30">
                  <c:v>36708</c:v>
                </c:pt>
                <c:pt idx="31">
                  <c:v>36739</c:v>
                </c:pt>
                <c:pt idx="32">
                  <c:v>36770</c:v>
                </c:pt>
                <c:pt idx="33">
                  <c:v>36800</c:v>
                </c:pt>
                <c:pt idx="34">
                  <c:v>36831</c:v>
                </c:pt>
                <c:pt idx="35">
                  <c:v>36861</c:v>
                </c:pt>
                <c:pt idx="36">
                  <c:v>36892</c:v>
                </c:pt>
                <c:pt idx="37">
                  <c:v>36923</c:v>
                </c:pt>
                <c:pt idx="38">
                  <c:v>36951</c:v>
                </c:pt>
                <c:pt idx="39">
                  <c:v>36982</c:v>
                </c:pt>
                <c:pt idx="40">
                  <c:v>37012</c:v>
                </c:pt>
                <c:pt idx="41">
                  <c:v>37043</c:v>
                </c:pt>
                <c:pt idx="42">
                  <c:v>37073</c:v>
                </c:pt>
                <c:pt idx="43">
                  <c:v>37104</c:v>
                </c:pt>
                <c:pt idx="44">
                  <c:v>37135</c:v>
                </c:pt>
                <c:pt idx="45">
                  <c:v>37165</c:v>
                </c:pt>
                <c:pt idx="46">
                  <c:v>37196</c:v>
                </c:pt>
                <c:pt idx="47">
                  <c:v>37226</c:v>
                </c:pt>
                <c:pt idx="48">
                  <c:v>37257</c:v>
                </c:pt>
                <c:pt idx="49">
                  <c:v>37288</c:v>
                </c:pt>
                <c:pt idx="50">
                  <c:v>37316</c:v>
                </c:pt>
                <c:pt idx="51">
                  <c:v>37347</c:v>
                </c:pt>
                <c:pt idx="52">
                  <c:v>37377</c:v>
                </c:pt>
                <c:pt idx="53">
                  <c:v>37408</c:v>
                </c:pt>
                <c:pt idx="54">
                  <c:v>37438</c:v>
                </c:pt>
                <c:pt idx="55">
                  <c:v>37469</c:v>
                </c:pt>
                <c:pt idx="56">
                  <c:v>37500</c:v>
                </c:pt>
                <c:pt idx="57">
                  <c:v>37530</c:v>
                </c:pt>
                <c:pt idx="58">
                  <c:v>37561</c:v>
                </c:pt>
                <c:pt idx="59">
                  <c:v>37591</c:v>
                </c:pt>
                <c:pt idx="60">
                  <c:v>37622</c:v>
                </c:pt>
                <c:pt idx="61">
                  <c:v>37653</c:v>
                </c:pt>
                <c:pt idx="62">
                  <c:v>37681</c:v>
                </c:pt>
                <c:pt idx="63">
                  <c:v>37712</c:v>
                </c:pt>
                <c:pt idx="64">
                  <c:v>37742</c:v>
                </c:pt>
                <c:pt idx="65">
                  <c:v>37773</c:v>
                </c:pt>
                <c:pt idx="66">
                  <c:v>37803</c:v>
                </c:pt>
                <c:pt idx="67">
                  <c:v>37834</c:v>
                </c:pt>
                <c:pt idx="68">
                  <c:v>37865</c:v>
                </c:pt>
                <c:pt idx="69">
                  <c:v>37895</c:v>
                </c:pt>
                <c:pt idx="70">
                  <c:v>37926</c:v>
                </c:pt>
                <c:pt idx="71">
                  <c:v>37956</c:v>
                </c:pt>
                <c:pt idx="72">
                  <c:v>37987</c:v>
                </c:pt>
                <c:pt idx="73">
                  <c:v>38018</c:v>
                </c:pt>
                <c:pt idx="74">
                  <c:v>38047</c:v>
                </c:pt>
                <c:pt idx="75">
                  <c:v>38078</c:v>
                </c:pt>
                <c:pt idx="76">
                  <c:v>38108</c:v>
                </c:pt>
                <c:pt idx="77">
                  <c:v>38139</c:v>
                </c:pt>
                <c:pt idx="78">
                  <c:v>38169</c:v>
                </c:pt>
                <c:pt idx="79">
                  <c:v>38200</c:v>
                </c:pt>
                <c:pt idx="80">
                  <c:v>38231</c:v>
                </c:pt>
                <c:pt idx="81">
                  <c:v>38261</c:v>
                </c:pt>
                <c:pt idx="82">
                  <c:v>38292</c:v>
                </c:pt>
                <c:pt idx="83">
                  <c:v>38322</c:v>
                </c:pt>
                <c:pt idx="84">
                  <c:v>38353</c:v>
                </c:pt>
                <c:pt idx="85">
                  <c:v>38384</c:v>
                </c:pt>
                <c:pt idx="86">
                  <c:v>38412</c:v>
                </c:pt>
                <c:pt idx="87">
                  <c:v>38443</c:v>
                </c:pt>
                <c:pt idx="88">
                  <c:v>38473</c:v>
                </c:pt>
                <c:pt idx="89">
                  <c:v>38504</c:v>
                </c:pt>
                <c:pt idx="90">
                  <c:v>38534</c:v>
                </c:pt>
                <c:pt idx="91">
                  <c:v>38565</c:v>
                </c:pt>
                <c:pt idx="92">
                  <c:v>38596</c:v>
                </c:pt>
                <c:pt idx="93">
                  <c:v>38626</c:v>
                </c:pt>
                <c:pt idx="94">
                  <c:v>38657</c:v>
                </c:pt>
                <c:pt idx="95">
                  <c:v>38687</c:v>
                </c:pt>
                <c:pt idx="96">
                  <c:v>38718</c:v>
                </c:pt>
                <c:pt idx="97">
                  <c:v>38749</c:v>
                </c:pt>
                <c:pt idx="98">
                  <c:v>38777</c:v>
                </c:pt>
                <c:pt idx="99">
                  <c:v>38808</c:v>
                </c:pt>
                <c:pt idx="100">
                  <c:v>38838</c:v>
                </c:pt>
                <c:pt idx="101">
                  <c:v>38869</c:v>
                </c:pt>
                <c:pt idx="102">
                  <c:v>38899</c:v>
                </c:pt>
                <c:pt idx="103">
                  <c:v>38930</c:v>
                </c:pt>
                <c:pt idx="104">
                  <c:v>38961</c:v>
                </c:pt>
                <c:pt idx="105">
                  <c:v>38991</c:v>
                </c:pt>
                <c:pt idx="106">
                  <c:v>39022</c:v>
                </c:pt>
                <c:pt idx="107">
                  <c:v>39052</c:v>
                </c:pt>
                <c:pt idx="108">
                  <c:v>39083</c:v>
                </c:pt>
                <c:pt idx="109">
                  <c:v>39114</c:v>
                </c:pt>
                <c:pt idx="110">
                  <c:v>39142</c:v>
                </c:pt>
                <c:pt idx="111">
                  <c:v>39173</c:v>
                </c:pt>
                <c:pt idx="112">
                  <c:v>39203</c:v>
                </c:pt>
                <c:pt idx="113">
                  <c:v>39234</c:v>
                </c:pt>
                <c:pt idx="114">
                  <c:v>39264</c:v>
                </c:pt>
                <c:pt idx="115">
                  <c:v>39295</c:v>
                </c:pt>
                <c:pt idx="116">
                  <c:v>39326</c:v>
                </c:pt>
                <c:pt idx="117">
                  <c:v>39356</c:v>
                </c:pt>
                <c:pt idx="118">
                  <c:v>39387</c:v>
                </c:pt>
                <c:pt idx="119">
                  <c:v>39417</c:v>
                </c:pt>
                <c:pt idx="120">
                  <c:v>39448</c:v>
                </c:pt>
                <c:pt idx="121">
                  <c:v>39479</c:v>
                </c:pt>
                <c:pt idx="122">
                  <c:v>39508</c:v>
                </c:pt>
                <c:pt idx="123">
                  <c:v>39539</c:v>
                </c:pt>
                <c:pt idx="124">
                  <c:v>39569</c:v>
                </c:pt>
                <c:pt idx="125">
                  <c:v>39600</c:v>
                </c:pt>
                <c:pt idx="126">
                  <c:v>39630</c:v>
                </c:pt>
                <c:pt idx="127">
                  <c:v>39661</c:v>
                </c:pt>
                <c:pt idx="128">
                  <c:v>39692</c:v>
                </c:pt>
                <c:pt idx="129">
                  <c:v>39722</c:v>
                </c:pt>
                <c:pt idx="130">
                  <c:v>39753</c:v>
                </c:pt>
                <c:pt idx="131">
                  <c:v>39783</c:v>
                </c:pt>
              </c:numCache>
            </c:numRef>
          </c:cat>
          <c:val>
            <c:numRef>
              <c:f>Sheet1!$B$2:$B$133</c:f>
              <c:numCache>
                <c:formatCode>0.0%</c:formatCode>
                <c:ptCount val="132"/>
                <c:pt idx="0">
                  <c:v>1.96461643867674E-2</c:v>
                </c:pt>
                <c:pt idx="1">
                  <c:v>2.16532873413544E-2</c:v>
                </c:pt>
                <c:pt idx="2">
                  <c:v>2.7952734700236601E-2</c:v>
                </c:pt>
                <c:pt idx="3">
                  <c:v>2.7593139556445399E-2</c:v>
                </c:pt>
                <c:pt idx="4">
                  <c:v>2.4227562806874301E-2</c:v>
                </c:pt>
                <c:pt idx="5">
                  <c:v>2.46554335136118E-2</c:v>
                </c:pt>
                <c:pt idx="6">
                  <c:v>2.2984667630540301E-2</c:v>
                </c:pt>
                <c:pt idx="7">
                  <c:v>2.73349259002772E-2</c:v>
                </c:pt>
                <c:pt idx="8">
                  <c:v>2.7087011535186101E-2</c:v>
                </c:pt>
                <c:pt idx="9">
                  <c:v>2.71832915087157E-2</c:v>
                </c:pt>
                <c:pt idx="10">
                  <c:v>3.3669234348071203E-2</c:v>
                </c:pt>
                <c:pt idx="11">
                  <c:v>3.3717044891749197E-2</c:v>
                </c:pt>
                <c:pt idx="12">
                  <c:v>2.7216646161173599E-2</c:v>
                </c:pt>
                <c:pt idx="13">
                  <c:v>2.92007213941172E-2</c:v>
                </c:pt>
                <c:pt idx="14">
                  <c:v>2.7062109118974598E-2</c:v>
                </c:pt>
                <c:pt idx="15">
                  <c:v>2.4650896351822899E-2</c:v>
                </c:pt>
                <c:pt idx="16">
                  <c:v>1.7705246592820301E-2</c:v>
                </c:pt>
                <c:pt idx="17">
                  <c:v>1.9640968220482599E-2</c:v>
                </c:pt>
                <c:pt idx="18">
                  <c:v>1.3314752206090401E-2</c:v>
                </c:pt>
                <c:pt idx="19">
                  <c:v>6.5591757717736801E-3</c:v>
                </c:pt>
                <c:pt idx="20">
                  <c:v>5.5369136512643602E-3</c:v>
                </c:pt>
                <c:pt idx="21">
                  <c:v>3.3731056420692501E-3</c:v>
                </c:pt>
                <c:pt idx="22">
                  <c:v>3.8971668307449E-3</c:v>
                </c:pt>
                <c:pt idx="23">
                  <c:v>3.7014709823105E-3</c:v>
                </c:pt>
                <c:pt idx="24">
                  <c:v>4.3609665943749104E-3</c:v>
                </c:pt>
                <c:pt idx="25">
                  <c:v>3.3495497040430902E-3</c:v>
                </c:pt>
                <c:pt idx="26">
                  <c:v>2.5605698246967601E-3</c:v>
                </c:pt>
                <c:pt idx="27">
                  <c:v>2.4705462606973102E-3</c:v>
                </c:pt>
                <c:pt idx="28">
                  <c:v>2.5230211134633302E-3</c:v>
                </c:pt>
                <c:pt idx="29">
                  <c:v>2.6272868644772402E-3</c:v>
                </c:pt>
                <c:pt idx="30">
                  <c:v>2.43793882614697E-3</c:v>
                </c:pt>
                <c:pt idx="31">
                  <c:v>2.5553136666383999E-3</c:v>
                </c:pt>
                <c:pt idx="32">
                  <c:v>2.86877603254212E-3</c:v>
                </c:pt>
                <c:pt idx="33">
                  <c:v>3.3722467496443802E-3</c:v>
                </c:pt>
                <c:pt idx="34">
                  <c:v>4.0331791184800604E-3</c:v>
                </c:pt>
                <c:pt idx="35">
                  <c:v>5.1920394962225898E-3</c:v>
                </c:pt>
                <c:pt idx="36">
                  <c:v>6.0863086291666896E-3</c:v>
                </c:pt>
                <c:pt idx="37">
                  <c:v>1.18349956322045E-2</c:v>
                </c:pt>
                <c:pt idx="38">
                  <c:v>2.1513021012677099E-2</c:v>
                </c:pt>
                <c:pt idx="39">
                  <c:v>2.0527742485684199E-2</c:v>
                </c:pt>
                <c:pt idx="40">
                  <c:v>2.4185839275889701E-2</c:v>
                </c:pt>
                <c:pt idx="41">
                  <c:v>1.94605920651349E-2</c:v>
                </c:pt>
                <c:pt idx="42">
                  <c:v>1.6045857668605001E-2</c:v>
                </c:pt>
                <c:pt idx="43">
                  <c:v>1.4861049389361799E-2</c:v>
                </c:pt>
                <c:pt idx="44">
                  <c:v>1.5380806086356801E-2</c:v>
                </c:pt>
                <c:pt idx="45">
                  <c:v>1.96364243305387E-2</c:v>
                </c:pt>
                <c:pt idx="46">
                  <c:v>2.3096746690626901E-2</c:v>
                </c:pt>
                <c:pt idx="47">
                  <c:v>2.9534584607368498E-2</c:v>
                </c:pt>
                <c:pt idx="48">
                  <c:v>2.7752191290531799E-2</c:v>
                </c:pt>
                <c:pt idx="49">
                  <c:v>1.35696692827995E-2</c:v>
                </c:pt>
                <c:pt idx="50">
                  <c:v>1.45097149429027E-2</c:v>
                </c:pt>
                <c:pt idx="51">
                  <c:v>1.7331666000441101E-2</c:v>
                </c:pt>
                <c:pt idx="52">
                  <c:v>1.3394194703816101E-2</c:v>
                </c:pt>
                <c:pt idx="53">
                  <c:v>1.3443556392706999E-2</c:v>
                </c:pt>
                <c:pt idx="54">
                  <c:v>1.7947964930458998E-2</c:v>
                </c:pt>
                <c:pt idx="55">
                  <c:v>2.4008414835873401E-2</c:v>
                </c:pt>
                <c:pt idx="56">
                  <c:v>3.0193186469043901E-2</c:v>
                </c:pt>
                <c:pt idx="57">
                  <c:v>3.86750123734248E-2</c:v>
                </c:pt>
                <c:pt idx="58">
                  <c:v>4.6675196042558202E-2</c:v>
                </c:pt>
                <c:pt idx="59">
                  <c:v>4.4206461001509899E-2</c:v>
                </c:pt>
                <c:pt idx="60">
                  <c:v>4.35205580420992E-2</c:v>
                </c:pt>
                <c:pt idx="61">
                  <c:v>4.1769100215140499E-2</c:v>
                </c:pt>
                <c:pt idx="62">
                  <c:v>4.3835726272521601E-2</c:v>
                </c:pt>
                <c:pt idx="63">
                  <c:v>4.4246520733033798E-2</c:v>
                </c:pt>
                <c:pt idx="64">
                  <c:v>4.4804680413163399E-2</c:v>
                </c:pt>
                <c:pt idx="65">
                  <c:v>3.92046248335393E-2</c:v>
                </c:pt>
                <c:pt idx="66">
                  <c:v>4.7759713148881E-2</c:v>
                </c:pt>
                <c:pt idx="67">
                  <c:v>5.2596300864343103E-2</c:v>
                </c:pt>
                <c:pt idx="68">
                  <c:v>3.5926326062567897E-2</c:v>
                </c:pt>
                <c:pt idx="69">
                  <c:v>1.34635763791727E-2</c:v>
                </c:pt>
                <c:pt idx="70">
                  <c:v>1.46696104394412E-2</c:v>
                </c:pt>
                <c:pt idx="71">
                  <c:v>1.8043156726367901E-2</c:v>
                </c:pt>
                <c:pt idx="72">
                  <c:v>1.7599046795678999E-2</c:v>
                </c:pt>
                <c:pt idx="73">
                  <c:v>1.7497034787210899E-2</c:v>
                </c:pt>
                <c:pt idx="74">
                  <c:v>2.1639176793777502E-2</c:v>
                </c:pt>
                <c:pt idx="75">
                  <c:v>2.31517476857055E-2</c:v>
                </c:pt>
                <c:pt idx="76">
                  <c:v>2.9054112730417098E-2</c:v>
                </c:pt>
                <c:pt idx="77">
                  <c:v>1.6017622745724401E-2</c:v>
                </c:pt>
                <c:pt idx="78">
                  <c:v>7.1067300883683997E-3</c:v>
                </c:pt>
                <c:pt idx="79">
                  <c:v>6.8170499515306402E-3</c:v>
                </c:pt>
                <c:pt idx="80">
                  <c:v>9.9911943229020195E-3</c:v>
                </c:pt>
                <c:pt idx="81">
                  <c:v>1.3118501630528899E-2</c:v>
                </c:pt>
                <c:pt idx="82">
                  <c:v>1.6057848004792302E-2</c:v>
                </c:pt>
                <c:pt idx="83">
                  <c:v>1.6627840013124201E-2</c:v>
                </c:pt>
                <c:pt idx="84">
                  <c:v>1.68555849185573E-2</c:v>
                </c:pt>
                <c:pt idx="85">
                  <c:v>1.5945903542888398E-2</c:v>
                </c:pt>
                <c:pt idx="86">
                  <c:v>1.5985288660108E-2</c:v>
                </c:pt>
                <c:pt idx="87">
                  <c:v>1.8169154083971E-2</c:v>
                </c:pt>
                <c:pt idx="88">
                  <c:v>1.02342452137924E-2</c:v>
                </c:pt>
                <c:pt idx="89">
                  <c:v>1.2065968200896299E-2</c:v>
                </c:pt>
                <c:pt idx="90">
                  <c:v>1.53399042753323E-2</c:v>
                </c:pt>
                <c:pt idx="91">
                  <c:v>1.9320122383097101E-2</c:v>
                </c:pt>
                <c:pt idx="92">
                  <c:v>1.6026755773001101E-2</c:v>
                </c:pt>
                <c:pt idx="93">
                  <c:v>1.24627812296501E-2</c:v>
                </c:pt>
                <c:pt idx="94">
                  <c:v>1.2684705156310899E-2</c:v>
                </c:pt>
                <c:pt idx="95">
                  <c:v>7.0443080059085497E-3</c:v>
                </c:pt>
                <c:pt idx="96">
                  <c:v>3.6240569617555902E-3</c:v>
                </c:pt>
                <c:pt idx="97">
                  <c:v>4.2732749969058301E-3</c:v>
                </c:pt>
                <c:pt idx="98">
                  <c:v>5.59008167571048E-3</c:v>
                </c:pt>
                <c:pt idx="99">
                  <c:v>4.1983240200145601E-3</c:v>
                </c:pt>
                <c:pt idx="100">
                  <c:v>3.5668340235309802E-3</c:v>
                </c:pt>
                <c:pt idx="101">
                  <c:v>2.39968914218529E-3</c:v>
                </c:pt>
                <c:pt idx="102">
                  <c:v>2.2018950665476898E-3</c:v>
                </c:pt>
                <c:pt idx="103">
                  <c:v>2.0297309337298898E-3</c:v>
                </c:pt>
                <c:pt idx="104">
                  <c:v>1.92168232424023E-3</c:v>
                </c:pt>
                <c:pt idx="105">
                  <c:v>2.9067146937999801E-3</c:v>
                </c:pt>
                <c:pt idx="106">
                  <c:v>3.7800267742037499E-3</c:v>
                </c:pt>
                <c:pt idx="107">
                  <c:v>4.6123438784510702E-3</c:v>
                </c:pt>
                <c:pt idx="108">
                  <c:v>5.9757433344467597E-3</c:v>
                </c:pt>
                <c:pt idx="109">
                  <c:v>8.2460638771957393E-3</c:v>
                </c:pt>
                <c:pt idx="110">
                  <c:v>7.0286848334452897E-3</c:v>
                </c:pt>
                <c:pt idx="111">
                  <c:v>6.0859985017003198E-3</c:v>
                </c:pt>
                <c:pt idx="112">
                  <c:v>8.3223472289550501E-3</c:v>
                </c:pt>
                <c:pt idx="113">
                  <c:v>7.58454467425047E-3</c:v>
                </c:pt>
                <c:pt idx="114">
                  <c:v>6.7893260940978398E-3</c:v>
                </c:pt>
                <c:pt idx="115">
                  <c:v>2.7315207956603998E-3</c:v>
                </c:pt>
                <c:pt idx="116">
                  <c:v>2.4828102701695098E-3</c:v>
                </c:pt>
                <c:pt idx="117">
                  <c:v>3.2809088453045298E-3</c:v>
                </c:pt>
                <c:pt idx="118">
                  <c:v>5.0398595799922199E-3</c:v>
                </c:pt>
                <c:pt idx="119">
                  <c:v>5.1644321687199903E-3</c:v>
                </c:pt>
                <c:pt idx="120">
                  <c:v>8.4021434336493794E-3</c:v>
                </c:pt>
                <c:pt idx="121">
                  <c:v>1.03984708093152E-2</c:v>
                </c:pt>
                <c:pt idx="122">
                  <c:v>2.0908065299123899E-2</c:v>
                </c:pt>
                <c:pt idx="123">
                  <c:v>1.5202654789178101E-2</c:v>
                </c:pt>
                <c:pt idx="124">
                  <c:v>1.3706928523595001E-2</c:v>
                </c:pt>
                <c:pt idx="125">
                  <c:v>1.5855623994899499E-2</c:v>
                </c:pt>
                <c:pt idx="126">
                  <c:v>1.19175475672979E-2</c:v>
                </c:pt>
                <c:pt idx="127">
                  <c:v>5.6046771970626698E-3</c:v>
                </c:pt>
                <c:pt idx="128">
                  <c:v>4.5225630886953604E-3</c:v>
                </c:pt>
                <c:pt idx="129">
                  <c:v>3.7306645014374999E-3</c:v>
                </c:pt>
                <c:pt idx="130">
                  <c:v>1.06905729968524E-2</c:v>
                </c:pt>
                <c:pt idx="131">
                  <c:v>7.92768180762146E-3</c:v>
                </c:pt>
              </c:numCache>
            </c:numRef>
          </c:val>
          <c:smooth val="1"/>
        </c:ser>
        <c:dLbls>
          <c:showLegendKey val="0"/>
          <c:showVal val="0"/>
          <c:showCatName val="0"/>
          <c:showSerName val="0"/>
          <c:showPercent val="0"/>
          <c:showBubbleSize val="0"/>
        </c:dLbls>
        <c:marker val="1"/>
        <c:smooth val="0"/>
        <c:axId val="304364544"/>
        <c:axId val="304413696"/>
      </c:lineChart>
      <c:dateAx>
        <c:axId val="304364544"/>
        <c:scaling>
          <c:orientation val="minMax"/>
        </c:scaling>
        <c:delete val="0"/>
        <c:axPos val="b"/>
        <c:numFmt formatCode="m/d/yyyy" sourceLinked="1"/>
        <c:majorTickMark val="out"/>
        <c:minorTickMark val="none"/>
        <c:tickLblPos val="nextTo"/>
        <c:spPr>
          <a:ln>
            <a:solidFill>
              <a:schemeClr val="tx2"/>
            </a:solidFill>
          </a:ln>
        </c:spPr>
        <c:crossAx val="304413696"/>
        <c:crosses val="autoZero"/>
        <c:auto val="1"/>
        <c:lblOffset val="100"/>
        <c:baseTimeUnit val="months"/>
        <c:majorUnit val="24"/>
        <c:majorTimeUnit val="months"/>
      </c:dateAx>
      <c:valAx>
        <c:axId val="304413696"/>
        <c:scaling>
          <c:orientation val="minMax"/>
          <c:max val="5.000000000000001E-2"/>
        </c:scaling>
        <c:delete val="0"/>
        <c:axPos val="l"/>
        <c:title>
          <c:tx>
            <c:rich>
              <a:bodyPr rot="-5400000" vert="horz"/>
              <a:lstStyle/>
              <a:p>
                <a:pPr>
                  <a:defRPr/>
                </a:pPr>
                <a:r>
                  <a:rPr lang="en-US" sz="1000" dirty="0" smtClean="0"/>
                  <a:t>Refinancing</a:t>
                </a:r>
                <a:endParaRPr lang="en-US" sz="1000" dirty="0"/>
              </a:p>
            </c:rich>
          </c:tx>
          <c:layout/>
          <c:overlay val="0"/>
        </c:title>
        <c:numFmt formatCode="0.0%" sourceLinked="1"/>
        <c:majorTickMark val="out"/>
        <c:minorTickMark val="none"/>
        <c:tickLblPos val="nextTo"/>
        <c:spPr>
          <a:ln>
            <a:solidFill>
              <a:schemeClr val="tx2"/>
            </a:solidFill>
          </a:ln>
        </c:spPr>
        <c:crossAx val="304364544"/>
        <c:crosses val="autoZero"/>
        <c:crossBetween val="midCat"/>
      </c:valAx>
    </c:plotArea>
    <c:plotVisOnly val="1"/>
    <c:dispBlanksAs val="gap"/>
    <c:showDLblsOverMax val="0"/>
  </c:chart>
  <c:txPr>
    <a:bodyPr/>
    <a:lstStyle/>
    <a:p>
      <a:pPr>
        <a:defRPr sz="800">
          <a:solidFill>
            <a:schemeClr val="tx2"/>
          </a:solidFill>
          <a:latin typeface="Arial Unicode MS" pitchFamily="34" charset="-122"/>
          <a:ea typeface="Arial Unicode MS" pitchFamily="34" charset="-122"/>
          <a:cs typeface="Arial Unicode MS" pitchFamily="34" charset="-122"/>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0378733744966298"/>
          <c:y val="3.9546124331371904E-2"/>
          <c:w val="0.85975804856842053"/>
          <c:h val="0.71521884606148189"/>
        </c:manualLayout>
      </c:layout>
      <c:lineChart>
        <c:grouping val="standard"/>
        <c:varyColors val="0"/>
        <c:ser>
          <c:idx val="0"/>
          <c:order val="0"/>
          <c:tx>
            <c:strRef>
              <c:f>Sheet1!$B$1</c:f>
              <c:strCache>
                <c:ptCount val="1"/>
                <c:pt idx="0">
                  <c:v>onePointRate</c:v>
                </c:pt>
              </c:strCache>
            </c:strRef>
          </c:tx>
          <c:marker>
            <c:symbol val="none"/>
          </c:marker>
          <c:cat>
            <c:numRef>
              <c:f>Sheet1!$A$2:$A$194</c:f>
              <c:numCache>
                <c:formatCode>m/d/yyyy</c:formatCode>
                <c:ptCount val="193"/>
                <c:pt idx="0">
                  <c:v>35796</c:v>
                </c:pt>
                <c:pt idx="1">
                  <c:v>35827</c:v>
                </c:pt>
                <c:pt idx="2">
                  <c:v>35855</c:v>
                </c:pt>
                <c:pt idx="3">
                  <c:v>35886</c:v>
                </c:pt>
                <c:pt idx="4">
                  <c:v>35916</c:v>
                </c:pt>
                <c:pt idx="5">
                  <c:v>35947</c:v>
                </c:pt>
                <c:pt idx="6">
                  <c:v>35977</c:v>
                </c:pt>
                <c:pt idx="7">
                  <c:v>36008</c:v>
                </c:pt>
                <c:pt idx="8">
                  <c:v>36039</c:v>
                </c:pt>
                <c:pt idx="9">
                  <c:v>36069</c:v>
                </c:pt>
                <c:pt idx="10">
                  <c:v>36100</c:v>
                </c:pt>
                <c:pt idx="11">
                  <c:v>36130</c:v>
                </c:pt>
                <c:pt idx="12">
                  <c:v>36161</c:v>
                </c:pt>
                <c:pt idx="13">
                  <c:v>36192</c:v>
                </c:pt>
                <c:pt idx="14">
                  <c:v>36220</c:v>
                </c:pt>
                <c:pt idx="15">
                  <c:v>36251</c:v>
                </c:pt>
                <c:pt idx="16">
                  <c:v>36281</c:v>
                </c:pt>
                <c:pt idx="17">
                  <c:v>36312</c:v>
                </c:pt>
                <c:pt idx="18">
                  <c:v>36342</c:v>
                </c:pt>
                <c:pt idx="19">
                  <c:v>36373</c:v>
                </c:pt>
                <c:pt idx="20">
                  <c:v>36404</c:v>
                </c:pt>
                <c:pt idx="21">
                  <c:v>36434</c:v>
                </c:pt>
                <c:pt idx="22">
                  <c:v>36465</c:v>
                </c:pt>
                <c:pt idx="23">
                  <c:v>36495</c:v>
                </c:pt>
                <c:pt idx="24">
                  <c:v>36526</c:v>
                </c:pt>
                <c:pt idx="25">
                  <c:v>36557</c:v>
                </c:pt>
                <c:pt idx="26">
                  <c:v>36586</c:v>
                </c:pt>
                <c:pt idx="27">
                  <c:v>36617</c:v>
                </c:pt>
                <c:pt idx="28">
                  <c:v>36647</c:v>
                </c:pt>
                <c:pt idx="29">
                  <c:v>36678</c:v>
                </c:pt>
                <c:pt idx="30">
                  <c:v>36708</c:v>
                </c:pt>
                <c:pt idx="31">
                  <c:v>36739</c:v>
                </c:pt>
                <c:pt idx="32">
                  <c:v>36770</c:v>
                </c:pt>
                <c:pt idx="33">
                  <c:v>36800</c:v>
                </c:pt>
                <c:pt idx="34">
                  <c:v>36831</c:v>
                </c:pt>
                <c:pt idx="35">
                  <c:v>36861</c:v>
                </c:pt>
                <c:pt idx="36">
                  <c:v>36892</c:v>
                </c:pt>
                <c:pt idx="37">
                  <c:v>36923</c:v>
                </c:pt>
                <c:pt idx="38">
                  <c:v>36951</c:v>
                </c:pt>
                <c:pt idx="39">
                  <c:v>36982</c:v>
                </c:pt>
                <c:pt idx="40">
                  <c:v>37012</c:v>
                </c:pt>
                <c:pt idx="41">
                  <c:v>37043</c:v>
                </c:pt>
                <c:pt idx="42">
                  <c:v>37073</c:v>
                </c:pt>
                <c:pt idx="43">
                  <c:v>37104</c:v>
                </c:pt>
                <c:pt idx="44">
                  <c:v>37135</c:v>
                </c:pt>
                <c:pt idx="45">
                  <c:v>37165</c:v>
                </c:pt>
                <c:pt idx="46">
                  <c:v>37196</c:v>
                </c:pt>
                <c:pt idx="47">
                  <c:v>37226</c:v>
                </c:pt>
                <c:pt idx="48">
                  <c:v>37257</c:v>
                </c:pt>
                <c:pt idx="49">
                  <c:v>37288</c:v>
                </c:pt>
                <c:pt idx="50">
                  <c:v>37316</c:v>
                </c:pt>
                <c:pt idx="51">
                  <c:v>37347</c:v>
                </c:pt>
                <c:pt idx="52">
                  <c:v>37377</c:v>
                </c:pt>
                <c:pt idx="53">
                  <c:v>37408</c:v>
                </c:pt>
                <c:pt idx="54">
                  <c:v>37438</c:v>
                </c:pt>
                <c:pt idx="55">
                  <c:v>37469</c:v>
                </c:pt>
                <c:pt idx="56">
                  <c:v>37500</c:v>
                </c:pt>
                <c:pt idx="57">
                  <c:v>37530</c:v>
                </c:pt>
                <c:pt idx="58">
                  <c:v>37561</c:v>
                </c:pt>
                <c:pt idx="59">
                  <c:v>37591</c:v>
                </c:pt>
                <c:pt idx="60">
                  <c:v>37622</c:v>
                </c:pt>
                <c:pt idx="61">
                  <c:v>37653</c:v>
                </c:pt>
                <c:pt idx="62">
                  <c:v>37681</c:v>
                </c:pt>
                <c:pt idx="63">
                  <c:v>37712</c:v>
                </c:pt>
                <c:pt idx="64">
                  <c:v>37742</c:v>
                </c:pt>
                <c:pt idx="65">
                  <c:v>37773</c:v>
                </c:pt>
                <c:pt idx="66">
                  <c:v>37803</c:v>
                </c:pt>
                <c:pt idx="67">
                  <c:v>37834</c:v>
                </c:pt>
                <c:pt idx="68">
                  <c:v>37865</c:v>
                </c:pt>
                <c:pt idx="69">
                  <c:v>37895</c:v>
                </c:pt>
                <c:pt idx="70">
                  <c:v>37926</c:v>
                </c:pt>
                <c:pt idx="71">
                  <c:v>37956</c:v>
                </c:pt>
                <c:pt idx="72">
                  <c:v>37987</c:v>
                </c:pt>
                <c:pt idx="73">
                  <c:v>38018</c:v>
                </c:pt>
                <c:pt idx="74">
                  <c:v>38047</c:v>
                </c:pt>
                <c:pt idx="75">
                  <c:v>38078</c:v>
                </c:pt>
                <c:pt idx="76">
                  <c:v>38108</c:v>
                </c:pt>
                <c:pt idx="77">
                  <c:v>38139</c:v>
                </c:pt>
                <c:pt idx="78">
                  <c:v>38169</c:v>
                </c:pt>
                <c:pt idx="79">
                  <c:v>38200</c:v>
                </c:pt>
                <c:pt idx="80">
                  <c:v>38231</c:v>
                </c:pt>
                <c:pt idx="81">
                  <c:v>38261</c:v>
                </c:pt>
                <c:pt idx="82">
                  <c:v>38292</c:v>
                </c:pt>
                <c:pt idx="83">
                  <c:v>38322</c:v>
                </c:pt>
                <c:pt idx="84">
                  <c:v>38353</c:v>
                </c:pt>
                <c:pt idx="85">
                  <c:v>38384</c:v>
                </c:pt>
                <c:pt idx="86">
                  <c:v>38412</c:v>
                </c:pt>
                <c:pt idx="87">
                  <c:v>38443</c:v>
                </c:pt>
                <c:pt idx="88">
                  <c:v>38473</c:v>
                </c:pt>
                <c:pt idx="89">
                  <c:v>38504</c:v>
                </c:pt>
                <c:pt idx="90">
                  <c:v>38534</c:v>
                </c:pt>
                <c:pt idx="91">
                  <c:v>38565</c:v>
                </c:pt>
                <c:pt idx="92">
                  <c:v>38596</c:v>
                </c:pt>
                <c:pt idx="93">
                  <c:v>38626</c:v>
                </c:pt>
                <c:pt idx="94">
                  <c:v>38657</c:v>
                </c:pt>
                <c:pt idx="95">
                  <c:v>38687</c:v>
                </c:pt>
                <c:pt idx="96">
                  <c:v>38718</c:v>
                </c:pt>
                <c:pt idx="97">
                  <c:v>38749</c:v>
                </c:pt>
                <c:pt idx="98">
                  <c:v>38777</c:v>
                </c:pt>
                <c:pt idx="99">
                  <c:v>38808</c:v>
                </c:pt>
                <c:pt idx="100">
                  <c:v>38838</c:v>
                </c:pt>
                <c:pt idx="101">
                  <c:v>38869</c:v>
                </c:pt>
                <c:pt idx="102">
                  <c:v>38899</c:v>
                </c:pt>
                <c:pt idx="103">
                  <c:v>38930</c:v>
                </c:pt>
                <c:pt idx="104">
                  <c:v>38961</c:v>
                </c:pt>
                <c:pt idx="105">
                  <c:v>38991</c:v>
                </c:pt>
                <c:pt idx="106">
                  <c:v>39022</c:v>
                </c:pt>
                <c:pt idx="107">
                  <c:v>39052</c:v>
                </c:pt>
                <c:pt idx="108">
                  <c:v>39083</c:v>
                </c:pt>
                <c:pt idx="109">
                  <c:v>39114</c:v>
                </c:pt>
                <c:pt idx="110">
                  <c:v>39142</c:v>
                </c:pt>
                <c:pt idx="111">
                  <c:v>39173</c:v>
                </c:pt>
                <c:pt idx="112">
                  <c:v>39203</c:v>
                </c:pt>
                <c:pt idx="113">
                  <c:v>39234</c:v>
                </c:pt>
                <c:pt idx="114">
                  <c:v>39264</c:v>
                </c:pt>
                <c:pt idx="115">
                  <c:v>39295</c:v>
                </c:pt>
                <c:pt idx="116">
                  <c:v>39326</c:v>
                </c:pt>
                <c:pt idx="117">
                  <c:v>39356</c:v>
                </c:pt>
                <c:pt idx="118">
                  <c:v>39387</c:v>
                </c:pt>
                <c:pt idx="119">
                  <c:v>39417</c:v>
                </c:pt>
                <c:pt idx="120">
                  <c:v>39448</c:v>
                </c:pt>
                <c:pt idx="121">
                  <c:v>39479</c:v>
                </c:pt>
                <c:pt idx="122">
                  <c:v>39508</c:v>
                </c:pt>
                <c:pt idx="123">
                  <c:v>39539</c:v>
                </c:pt>
                <c:pt idx="124">
                  <c:v>39569</c:v>
                </c:pt>
                <c:pt idx="125">
                  <c:v>39600</c:v>
                </c:pt>
                <c:pt idx="126">
                  <c:v>39630</c:v>
                </c:pt>
                <c:pt idx="127">
                  <c:v>39661</c:v>
                </c:pt>
                <c:pt idx="128">
                  <c:v>39692</c:v>
                </c:pt>
                <c:pt idx="129">
                  <c:v>39722</c:v>
                </c:pt>
                <c:pt idx="130">
                  <c:v>39753</c:v>
                </c:pt>
                <c:pt idx="131">
                  <c:v>39783</c:v>
                </c:pt>
                <c:pt idx="132">
                  <c:v>39814</c:v>
                </c:pt>
                <c:pt idx="133">
                  <c:v>39845</c:v>
                </c:pt>
                <c:pt idx="134">
                  <c:v>39873</c:v>
                </c:pt>
                <c:pt idx="135">
                  <c:v>39904</c:v>
                </c:pt>
                <c:pt idx="136">
                  <c:v>39934</c:v>
                </c:pt>
                <c:pt idx="137">
                  <c:v>39965</c:v>
                </c:pt>
                <c:pt idx="138">
                  <c:v>39995</c:v>
                </c:pt>
                <c:pt idx="139">
                  <c:v>40026</c:v>
                </c:pt>
                <c:pt idx="140">
                  <c:v>40057</c:v>
                </c:pt>
                <c:pt idx="141">
                  <c:v>40087</c:v>
                </c:pt>
                <c:pt idx="142">
                  <c:v>40118</c:v>
                </c:pt>
                <c:pt idx="143">
                  <c:v>40148</c:v>
                </c:pt>
                <c:pt idx="144">
                  <c:v>40179</c:v>
                </c:pt>
                <c:pt idx="145">
                  <c:v>40210</c:v>
                </c:pt>
                <c:pt idx="146">
                  <c:v>40238</c:v>
                </c:pt>
                <c:pt idx="147">
                  <c:v>40269</c:v>
                </c:pt>
                <c:pt idx="148">
                  <c:v>40299</c:v>
                </c:pt>
                <c:pt idx="149">
                  <c:v>40330</c:v>
                </c:pt>
                <c:pt idx="150">
                  <c:v>40360</c:v>
                </c:pt>
                <c:pt idx="151">
                  <c:v>40391</c:v>
                </c:pt>
                <c:pt idx="152">
                  <c:v>40422</c:v>
                </c:pt>
                <c:pt idx="153">
                  <c:v>40452</c:v>
                </c:pt>
                <c:pt idx="154">
                  <c:v>40483</c:v>
                </c:pt>
                <c:pt idx="155">
                  <c:v>40513</c:v>
                </c:pt>
                <c:pt idx="156">
                  <c:v>40544</c:v>
                </c:pt>
                <c:pt idx="157">
                  <c:v>40575</c:v>
                </c:pt>
                <c:pt idx="158">
                  <c:v>40603</c:v>
                </c:pt>
                <c:pt idx="159">
                  <c:v>40634</c:v>
                </c:pt>
                <c:pt idx="160">
                  <c:v>40664</c:v>
                </c:pt>
                <c:pt idx="161">
                  <c:v>40695</c:v>
                </c:pt>
                <c:pt idx="162">
                  <c:v>40725</c:v>
                </c:pt>
                <c:pt idx="163">
                  <c:v>40756</c:v>
                </c:pt>
                <c:pt idx="164">
                  <c:v>40787</c:v>
                </c:pt>
                <c:pt idx="165">
                  <c:v>40817</c:v>
                </c:pt>
                <c:pt idx="166">
                  <c:v>40848</c:v>
                </c:pt>
                <c:pt idx="167">
                  <c:v>40878</c:v>
                </c:pt>
                <c:pt idx="168">
                  <c:v>40909</c:v>
                </c:pt>
                <c:pt idx="169">
                  <c:v>40940</c:v>
                </c:pt>
                <c:pt idx="170">
                  <c:v>40969</c:v>
                </c:pt>
                <c:pt idx="171">
                  <c:v>41000</c:v>
                </c:pt>
                <c:pt idx="172">
                  <c:v>41030</c:v>
                </c:pt>
                <c:pt idx="173">
                  <c:v>41061</c:v>
                </c:pt>
                <c:pt idx="174">
                  <c:v>41091</c:v>
                </c:pt>
                <c:pt idx="175">
                  <c:v>41122</c:v>
                </c:pt>
                <c:pt idx="176">
                  <c:v>41153</c:v>
                </c:pt>
                <c:pt idx="177">
                  <c:v>41183</c:v>
                </c:pt>
                <c:pt idx="178">
                  <c:v>41214</c:v>
                </c:pt>
                <c:pt idx="179">
                  <c:v>41244</c:v>
                </c:pt>
                <c:pt idx="180">
                  <c:v>41275</c:v>
                </c:pt>
                <c:pt idx="181">
                  <c:v>41306</c:v>
                </c:pt>
                <c:pt idx="182">
                  <c:v>41334</c:v>
                </c:pt>
                <c:pt idx="183">
                  <c:v>41365</c:v>
                </c:pt>
                <c:pt idx="184">
                  <c:v>41395</c:v>
                </c:pt>
                <c:pt idx="185">
                  <c:v>41426</c:v>
                </c:pt>
                <c:pt idx="186">
                  <c:v>41456</c:v>
                </c:pt>
                <c:pt idx="187">
                  <c:v>41487</c:v>
                </c:pt>
                <c:pt idx="188">
                  <c:v>41518</c:v>
                </c:pt>
                <c:pt idx="189">
                  <c:v>41548</c:v>
                </c:pt>
                <c:pt idx="190">
                  <c:v>41579</c:v>
                </c:pt>
                <c:pt idx="191">
                  <c:v>41609</c:v>
                </c:pt>
                <c:pt idx="192">
                  <c:v>41640</c:v>
                </c:pt>
              </c:numCache>
            </c:numRef>
          </c:cat>
          <c:val>
            <c:numRef>
              <c:f>Sheet1!$B$2:$B$194</c:f>
              <c:numCache>
                <c:formatCode>General</c:formatCode>
                <c:ptCount val="193"/>
                <c:pt idx="0">
                  <c:v>7.09</c:v>
                </c:pt>
                <c:pt idx="1">
                  <c:v>7.09</c:v>
                </c:pt>
                <c:pt idx="2">
                  <c:v>7.18</c:v>
                </c:pt>
                <c:pt idx="3">
                  <c:v>7.14</c:v>
                </c:pt>
                <c:pt idx="4">
                  <c:v>7.165</c:v>
                </c:pt>
                <c:pt idx="5">
                  <c:v>7</c:v>
                </c:pt>
                <c:pt idx="6">
                  <c:v>6.9749999999999996</c:v>
                </c:pt>
                <c:pt idx="7">
                  <c:v>6.9450000000000003</c:v>
                </c:pt>
                <c:pt idx="8">
                  <c:v>6.72</c:v>
                </c:pt>
                <c:pt idx="9">
                  <c:v>6.6849999999999996</c:v>
                </c:pt>
                <c:pt idx="10">
                  <c:v>6.8449999999999998</c:v>
                </c:pt>
                <c:pt idx="11">
                  <c:v>6.74</c:v>
                </c:pt>
                <c:pt idx="12">
                  <c:v>6.7649999999999997</c:v>
                </c:pt>
                <c:pt idx="13">
                  <c:v>6.81</c:v>
                </c:pt>
                <c:pt idx="14">
                  <c:v>7.0149999999999997</c:v>
                </c:pt>
                <c:pt idx="15">
                  <c:v>6.92</c:v>
                </c:pt>
                <c:pt idx="16">
                  <c:v>7.15</c:v>
                </c:pt>
                <c:pt idx="17">
                  <c:v>7.55</c:v>
                </c:pt>
                <c:pt idx="18">
                  <c:v>7.63</c:v>
                </c:pt>
                <c:pt idx="19">
                  <c:v>7.94</c:v>
                </c:pt>
                <c:pt idx="20">
                  <c:v>7.82</c:v>
                </c:pt>
                <c:pt idx="21">
                  <c:v>7.85</c:v>
                </c:pt>
                <c:pt idx="22">
                  <c:v>7.74</c:v>
                </c:pt>
                <c:pt idx="23">
                  <c:v>7.91</c:v>
                </c:pt>
                <c:pt idx="24">
                  <c:v>8.2100000000000009</c:v>
                </c:pt>
                <c:pt idx="25">
                  <c:v>8.33</c:v>
                </c:pt>
                <c:pt idx="26">
                  <c:v>8.24</c:v>
                </c:pt>
                <c:pt idx="27">
                  <c:v>8.15</c:v>
                </c:pt>
                <c:pt idx="28">
                  <c:v>8.52</c:v>
                </c:pt>
                <c:pt idx="29">
                  <c:v>8.2650000000000006</c:v>
                </c:pt>
                <c:pt idx="30">
                  <c:v>8.125</c:v>
                </c:pt>
                <c:pt idx="31">
                  <c:v>8.0299999999999994</c:v>
                </c:pt>
                <c:pt idx="32">
                  <c:v>7.91</c:v>
                </c:pt>
                <c:pt idx="33">
                  <c:v>7.8</c:v>
                </c:pt>
                <c:pt idx="34">
                  <c:v>7.7249999999999996</c:v>
                </c:pt>
                <c:pt idx="35">
                  <c:v>7.38</c:v>
                </c:pt>
                <c:pt idx="36">
                  <c:v>7.0049999999999999</c:v>
                </c:pt>
                <c:pt idx="37">
                  <c:v>7.05</c:v>
                </c:pt>
                <c:pt idx="38">
                  <c:v>6.9249999999999998</c:v>
                </c:pt>
                <c:pt idx="39">
                  <c:v>7.0549999999999997</c:v>
                </c:pt>
                <c:pt idx="40">
                  <c:v>7.15</c:v>
                </c:pt>
                <c:pt idx="41">
                  <c:v>7.16</c:v>
                </c:pt>
                <c:pt idx="42">
                  <c:v>7.1050000000000004</c:v>
                </c:pt>
                <c:pt idx="43">
                  <c:v>6.9249999999999998</c:v>
                </c:pt>
                <c:pt idx="44">
                  <c:v>6.7949999999999999</c:v>
                </c:pt>
                <c:pt idx="45">
                  <c:v>6.5949999999999998</c:v>
                </c:pt>
                <c:pt idx="46">
                  <c:v>6.61</c:v>
                </c:pt>
                <c:pt idx="47">
                  <c:v>7.02</c:v>
                </c:pt>
                <c:pt idx="48">
                  <c:v>6.95</c:v>
                </c:pt>
                <c:pt idx="49">
                  <c:v>6.8150000000000004</c:v>
                </c:pt>
                <c:pt idx="50">
                  <c:v>6.9349999999999996</c:v>
                </c:pt>
                <c:pt idx="51">
                  <c:v>6.915</c:v>
                </c:pt>
                <c:pt idx="52">
                  <c:v>6.7350000000000003</c:v>
                </c:pt>
                <c:pt idx="53">
                  <c:v>6.55</c:v>
                </c:pt>
                <c:pt idx="54">
                  <c:v>6.39</c:v>
                </c:pt>
                <c:pt idx="55">
                  <c:v>6.19</c:v>
                </c:pt>
                <c:pt idx="56">
                  <c:v>5.99</c:v>
                </c:pt>
                <c:pt idx="57">
                  <c:v>6.01</c:v>
                </c:pt>
                <c:pt idx="58">
                  <c:v>5.97</c:v>
                </c:pt>
                <c:pt idx="59">
                  <c:v>5.95</c:v>
                </c:pt>
                <c:pt idx="60">
                  <c:v>5.82</c:v>
                </c:pt>
                <c:pt idx="61">
                  <c:v>5.74</c:v>
                </c:pt>
                <c:pt idx="62">
                  <c:v>5.65</c:v>
                </c:pt>
                <c:pt idx="63">
                  <c:v>5.71</c:v>
                </c:pt>
                <c:pt idx="64">
                  <c:v>5.38</c:v>
                </c:pt>
                <c:pt idx="65">
                  <c:v>5.13</c:v>
                </c:pt>
                <c:pt idx="66">
                  <c:v>5.5049999999999999</c:v>
                </c:pt>
                <c:pt idx="67">
                  <c:v>6.1849999999999996</c:v>
                </c:pt>
                <c:pt idx="68">
                  <c:v>6.05</c:v>
                </c:pt>
                <c:pt idx="69">
                  <c:v>5.85</c:v>
                </c:pt>
                <c:pt idx="70">
                  <c:v>5.83</c:v>
                </c:pt>
                <c:pt idx="71">
                  <c:v>5.8049999999999997</c:v>
                </c:pt>
                <c:pt idx="72">
                  <c:v>5.6349999999999998</c:v>
                </c:pt>
                <c:pt idx="73">
                  <c:v>5.5650000000000004</c:v>
                </c:pt>
                <c:pt idx="74">
                  <c:v>5.375</c:v>
                </c:pt>
                <c:pt idx="75">
                  <c:v>5.7549999999999999</c:v>
                </c:pt>
                <c:pt idx="76">
                  <c:v>6.1950000000000003</c:v>
                </c:pt>
                <c:pt idx="77">
                  <c:v>6.19</c:v>
                </c:pt>
                <c:pt idx="78">
                  <c:v>5.96</c:v>
                </c:pt>
                <c:pt idx="79">
                  <c:v>5.7949999999999999</c:v>
                </c:pt>
                <c:pt idx="80">
                  <c:v>5.6749999999999998</c:v>
                </c:pt>
                <c:pt idx="81">
                  <c:v>5.6449999999999996</c:v>
                </c:pt>
                <c:pt idx="82">
                  <c:v>5.63</c:v>
                </c:pt>
                <c:pt idx="83">
                  <c:v>5.65</c:v>
                </c:pt>
                <c:pt idx="84">
                  <c:v>5.6349999999999998</c:v>
                </c:pt>
                <c:pt idx="85">
                  <c:v>5.5549999999999997</c:v>
                </c:pt>
                <c:pt idx="86">
                  <c:v>5.8550000000000004</c:v>
                </c:pt>
                <c:pt idx="87">
                  <c:v>5.76</c:v>
                </c:pt>
                <c:pt idx="88">
                  <c:v>5.62</c:v>
                </c:pt>
                <c:pt idx="89">
                  <c:v>5.48</c:v>
                </c:pt>
                <c:pt idx="90">
                  <c:v>5.5750000000000002</c:v>
                </c:pt>
                <c:pt idx="91">
                  <c:v>5.6950000000000003</c:v>
                </c:pt>
                <c:pt idx="92">
                  <c:v>5.67</c:v>
                </c:pt>
                <c:pt idx="93">
                  <c:v>5.9450000000000003</c:v>
                </c:pt>
                <c:pt idx="94">
                  <c:v>6.23</c:v>
                </c:pt>
                <c:pt idx="95">
                  <c:v>6.1449999999999996</c:v>
                </c:pt>
                <c:pt idx="96">
                  <c:v>6.0250000000000004</c:v>
                </c:pt>
                <c:pt idx="97">
                  <c:v>6.15</c:v>
                </c:pt>
                <c:pt idx="98">
                  <c:v>6.22</c:v>
                </c:pt>
                <c:pt idx="99">
                  <c:v>6.41</c:v>
                </c:pt>
                <c:pt idx="100">
                  <c:v>6.4749999999999996</c:v>
                </c:pt>
                <c:pt idx="101">
                  <c:v>6.5549999999999997</c:v>
                </c:pt>
                <c:pt idx="102">
                  <c:v>6.6349999999999998</c:v>
                </c:pt>
                <c:pt idx="103">
                  <c:v>6.37</c:v>
                </c:pt>
                <c:pt idx="104">
                  <c:v>6.2750000000000004</c:v>
                </c:pt>
                <c:pt idx="105">
                  <c:v>6.21</c:v>
                </c:pt>
                <c:pt idx="106">
                  <c:v>6.1150000000000002</c:v>
                </c:pt>
                <c:pt idx="107">
                  <c:v>5.99</c:v>
                </c:pt>
                <c:pt idx="108">
                  <c:v>6.07</c:v>
                </c:pt>
                <c:pt idx="109">
                  <c:v>6.14</c:v>
                </c:pt>
                <c:pt idx="110">
                  <c:v>6.01</c:v>
                </c:pt>
                <c:pt idx="111">
                  <c:v>6.0549999999999997</c:v>
                </c:pt>
                <c:pt idx="112">
                  <c:v>6.11</c:v>
                </c:pt>
                <c:pt idx="113">
                  <c:v>6.51</c:v>
                </c:pt>
                <c:pt idx="114">
                  <c:v>6.55</c:v>
                </c:pt>
                <c:pt idx="115">
                  <c:v>6.42</c:v>
                </c:pt>
                <c:pt idx="116">
                  <c:v>6.2549999999999999</c:v>
                </c:pt>
                <c:pt idx="117">
                  <c:v>6.2549999999999999</c:v>
                </c:pt>
                <c:pt idx="118">
                  <c:v>6.06</c:v>
                </c:pt>
                <c:pt idx="119">
                  <c:v>5.9749999999999996</c:v>
                </c:pt>
                <c:pt idx="120">
                  <c:v>5.61</c:v>
                </c:pt>
                <c:pt idx="121">
                  <c:v>5.7949999999999999</c:v>
                </c:pt>
                <c:pt idx="122">
                  <c:v>5.8449999999999998</c:v>
                </c:pt>
                <c:pt idx="123">
                  <c:v>5.77</c:v>
                </c:pt>
                <c:pt idx="124">
                  <c:v>5.915</c:v>
                </c:pt>
                <c:pt idx="125">
                  <c:v>6.2450000000000001</c:v>
                </c:pt>
                <c:pt idx="126">
                  <c:v>6.33</c:v>
                </c:pt>
                <c:pt idx="127">
                  <c:v>6.4050000000000002</c:v>
                </c:pt>
                <c:pt idx="128">
                  <c:v>5.9649999999999999</c:v>
                </c:pt>
                <c:pt idx="129">
                  <c:v>6.1</c:v>
                </c:pt>
                <c:pt idx="130">
                  <c:v>6.0149999999999997</c:v>
                </c:pt>
                <c:pt idx="131">
                  <c:v>5.2149999999999999</c:v>
                </c:pt>
                <c:pt idx="132">
                  <c:v>4.9749999999999996</c:v>
                </c:pt>
                <c:pt idx="133">
                  <c:v>5.0549999999999997</c:v>
                </c:pt>
                <c:pt idx="134">
                  <c:v>4.9249999999999998</c:v>
                </c:pt>
                <c:pt idx="135">
                  <c:v>4.7350000000000003</c:v>
                </c:pt>
                <c:pt idx="136">
                  <c:v>4.7850000000000001</c:v>
                </c:pt>
                <c:pt idx="137">
                  <c:v>5.3449999999999998</c:v>
                </c:pt>
                <c:pt idx="138">
                  <c:v>5.1449999999999996</c:v>
                </c:pt>
                <c:pt idx="139">
                  <c:v>5.1150000000000002</c:v>
                </c:pt>
                <c:pt idx="140">
                  <c:v>4.9850000000000003</c:v>
                </c:pt>
                <c:pt idx="141">
                  <c:v>4.875</c:v>
                </c:pt>
                <c:pt idx="142">
                  <c:v>4.8049999999999997</c:v>
                </c:pt>
                <c:pt idx="143">
                  <c:v>4.8550000000000004</c:v>
                </c:pt>
                <c:pt idx="144">
                  <c:v>4.9550000000000001</c:v>
                </c:pt>
                <c:pt idx="145">
                  <c:v>4.915</c:v>
                </c:pt>
                <c:pt idx="146">
                  <c:v>4.8949999999999996</c:v>
                </c:pt>
                <c:pt idx="147">
                  <c:v>5.0250000000000004</c:v>
                </c:pt>
                <c:pt idx="148">
                  <c:v>4.8150000000000004</c:v>
                </c:pt>
                <c:pt idx="149">
                  <c:v>4.665</c:v>
                </c:pt>
                <c:pt idx="150">
                  <c:v>4.4850000000000003</c:v>
                </c:pt>
                <c:pt idx="151">
                  <c:v>4.3550000000000004</c:v>
                </c:pt>
                <c:pt idx="152">
                  <c:v>4.2750000000000004</c:v>
                </c:pt>
                <c:pt idx="153">
                  <c:v>4.18</c:v>
                </c:pt>
                <c:pt idx="154">
                  <c:v>4.25</c:v>
                </c:pt>
                <c:pt idx="155">
                  <c:v>4.6349999999999998</c:v>
                </c:pt>
                <c:pt idx="156">
                  <c:v>4.71</c:v>
                </c:pt>
                <c:pt idx="157">
                  <c:v>4.875</c:v>
                </c:pt>
                <c:pt idx="158">
                  <c:v>4.7649999999999997</c:v>
                </c:pt>
                <c:pt idx="159">
                  <c:v>4.7649999999999997</c:v>
                </c:pt>
                <c:pt idx="160">
                  <c:v>4.5650000000000004</c:v>
                </c:pt>
                <c:pt idx="161">
                  <c:v>4.4349999999999996</c:v>
                </c:pt>
                <c:pt idx="162">
                  <c:v>4.4749999999999996</c:v>
                </c:pt>
                <c:pt idx="163">
                  <c:v>4.1950000000000003</c:v>
                </c:pt>
                <c:pt idx="164">
                  <c:v>4.0350000000000001</c:v>
                </c:pt>
                <c:pt idx="165">
                  <c:v>4.0199999999999996</c:v>
                </c:pt>
                <c:pt idx="166">
                  <c:v>3.915</c:v>
                </c:pt>
                <c:pt idx="167">
                  <c:v>3.8849999999999998</c:v>
                </c:pt>
                <c:pt idx="168">
                  <c:v>3.87</c:v>
                </c:pt>
                <c:pt idx="169">
                  <c:v>3.84</c:v>
                </c:pt>
                <c:pt idx="170">
                  <c:v>3.9</c:v>
                </c:pt>
                <c:pt idx="171">
                  <c:v>3.835</c:v>
                </c:pt>
                <c:pt idx="172">
                  <c:v>3.75</c:v>
                </c:pt>
                <c:pt idx="173">
                  <c:v>3.605</c:v>
                </c:pt>
                <c:pt idx="174">
                  <c:v>3.4750000000000001</c:v>
                </c:pt>
                <c:pt idx="175">
                  <c:v>3.5</c:v>
                </c:pt>
                <c:pt idx="176">
                  <c:v>3.4</c:v>
                </c:pt>
                <c:pt idx="177">
                  <c:v>3.3050000000000002</c:v>
                </c:pt>
                <c:pt idx="178">
                  <c:v>3.2749999999999999</c:v>
                </c:pt>
                <c:pt idx="179">
                  <c:v>3.2749999999999999</c:v>
                </c:pt>
                <c:pt idx="180">
                  <c:v>3.335</c:v>
                </c:pt>
                <c:pt idx="181">
                  <c:v>3.48</c:v>
                </c:pt>
                <c:pt idx="182">
                  <c:v>3.52</c:v>
                </c:pt>
                <c:pt idx="183">
                  <c:v>3.4</c:v>
                </c:pt>
                <c:pt idx="184">
                  <c:v>3.4649999999999999</c:v>
                </c:pt>
                <c:pt idx="185">
                  <c:v>4.0199999999999996</c:v>
                </c:pt>
                <c:pt idx="186">
                  <c:v>4.32</c:v>
                </c:pt>
                <c:pt idx="187">
                  <c:v>4.3849999999999998</c:v>
                </c:pt>
                <c:pt idx="188">
                  <c:v>4.415</c:v>
                </c:pt>
                <c:pt idx="189">
                  <c:v>4.1150000000000002</c:v>
                </c:pt>
                <c:pt idx="190">
                  <c:v>4.1849999999999996</c:v>
                </c:pt>
                <c:pt idx="191">
                  <c:v>4.3849999999999998</c:v>
                </c:pt>
                <c:pt idx="192">
                  <c:v>4.3550000000000004</c:v>
                </c:pt>
              </c:numCache>
            </c:numRef>
          </c:val>
          <c:smooth val="1"/>
        </c:ser>
        <c:ser>
          <c:idx val="1"/>
          <c:order val="1"/>
          <c:tx>
            <c:strRef>
              <c:f>Sheet1!$C$1</c:f>
              <c:strCache>
                <c:ptCount val="1"/>
                <c:pt idx="0">
                  <c:v>minRateVec</c:v>
                </c:pt>
              </c:strCache>
            </c:strRef>
          </c:tx>
          <c:spPr>
            <a:ln>
              <a:solidFill>
                <a:srgbClr val="C00000"/>
              </a:solidFill>
              <a:prstDash val="dash"/>
            </a:ln>
          </c:spPr>
          <c:marker>
            <c:symbol val="none"/>
          </c:marker>
          <c:cat>
            <c:numRef>
              <c:f>Sheet1!$A$2:$A$194</c:f>
              <c:numCache>
                <c:formatCode>m/d/yyyy</c:formatCode>
                <c:ptCount val="193"/>
                <c:pt idx="0">
                  <c:v>35796</c:v>
                </c:pt>
                <c:pt idx="1">
                  <c:v>35827</c:v>
                </c:pt>
                <c:pt idx="2">
                  <c:v>35855</c:v>
                </c:pt>
                <c:pt idx="3">
                  <c:v>35886</c:v>
                </c:pt>
                <c:pt idx="4">
                  <c:v>35916</c:v>
                </c:pt>
                <c:pt idx="5">
                  <c:v>35947</c:v>
                </c:pt>
                <c:pt idx="6">
                  <c:v>35977</c:v>
                </c:pt>
                <c:pt idx="7">
                  <c:v>36008</c:v>
                </c:pt>
                <c:pt idx="8">
                  <c:v>36039</c:v>
                </c:pt>
                <c:pt idx="9">
                  <c:v>36069</c:v>
                </c:pt>
                <c:pt idx="10">
                  <c:v>36100</c:v>
                </c:pt>
                <c:pt idx="11">
                  <c:v>36130</c:v>
                </c:pt>
                <c:pt idx="12">
                  <c:v>36161</c:v>
                </c:pt>
                <c:pt idx="13">
                  <c:v>36192</c:v>
                </c:pt>
                <c:pt idx="14">
                  <c:v>36220</c:v>
                </c:pt>
                <c:pt idx="15">
                  <c:v>36251</c:v>
                </c:pt>
                <c:pt idx="16">
                  <c:v>36281</c:v>
                </c:pt>
                <c:pt idx="17">
                  <c:v>36312</c:v>
                </c:pt>
                <c:pt idx="18">
                  <c:v>36342</c:v>
                </c:pt>
                <c:pt idx="19">
                  <c:v>36373</c:v>
                </c:pt>
                <c:pt idx="20">
                  <c:v>36404</c:v>
                </c:pt>
                <c:pt idx="21">
                  <c:v>36434</c:v>
                </c:pt>
                <c:pt idx="22">
                  <c:v>36465</c:v>
                </c:pt>
                <c:pt idx="23">
                  <c:v>36495</c:v>
                </c:pt>
                <c:pt idx="24">
                  <c:v>36526</c:v>
                </c:pt>
                <c:pt idx="25">
                  <c:v>36557</c:v>
                </c:pt>
                <c:pt idx="26">
                  <c:v>36586</c:v>
                </c:pt>
                <c:pt idx="27">
                  <c:v>36617</c:v>
                </c:pt>
                <c:pt idx="28">
                  <c:v>36647</c:v>
                </c:pt>
                <c:pt idx="29">
                  <c:v>36678</c:v>
                </c:pt>
                <c:pt idx="30">
                  <c:v>36708</c:v>
                </c:pt>
                <c:pt idx="31">
                  <c:v>36739</c:v>
                </c:pt>
                <c:pt idx="32">
                  <c:v>36770</c:v>
                </c:pt>
                <c:pt idx="33">
                  <c:v>36800</c:v>
                </c:pt>
                <c:pt idx="34">
                  <c:v>36831</c:v>
                </c:pt>
                <c:pt idx="35">
                  <c:v>36861</c:v>
                </c:pt>
                <c:pt idx="36">
                  <c:v>36892</c:v>
                </c:pt>
                <c:pt idx="37">
                  <c:v>36923</c:v>
                </c:pt>
                <c:pt idx="38">
                  <c:v>36951</c:v>
                </c:pt>
                <c:pt idx="39">
                  <c:v>36982</c:v>
                </c:pt>
                <c:pt idx="40">
                  <c:v>37012</c:v>
                </c:pt>
                <c:pt idx="41">
                  <c:v>37043</c:v>
                </c:pt>
                <c:pt idx="42">
                  <c:v>37073</c:v>
                </c:pt>
                <c:pt idx="43">
                  <c:v>37104</c:v>
                </c:pt>
                <c:pt idx="44">
                  <c:v>37135</c:v>
                </c:pt>
                <c:pt idx="45">
                  <c:v>37165</c:v>
                </c:pt>
                <c:pt idx="46">
                  <c:v>37196</c:v>
                </c:pt>
                <c:pt idx="47">
                  <c:v>37226</c:v>
                </c:pt>
                <c:pt idx="48">
                  <c:v>37257</c:v>
                </c:pt>
                <c:pt idx="49">
                  <c:v>37288</c:v>
                </c:pt>
                <c:pt idx="50">
                  <c:v>37316</c:v>
                </c:pt>
                <c:pt idx="51">
                  <c:v>37347</c:v>
                </c:pt>
                <c:pt idx="52">
                  <c:v>37377</c:v>
                </c:pt>
                <c:pt idx="53">
                  <c:v>37408</c:v>
                </c:pt>
                <c:pt idx="54">
                  <c:v>37438</c:v>
                </c:pt>
                <c:pt idx="55">
                  <c:v>37469</c:v>
                </c:pt>
                <c:pt idx="56">
                  <c:v>37500</c:v>
                </c:pt>
                <c:pt idx="57">
                  <c:v>37530</c:v>
                </c:pt>
                <c:pt idx="58">
                  <c:v>37561</c:v>
                </c:pt>
                <c:pt idx="59">
                  <c:v>37591</c:v>
                </c:pt>
                <c:pt idx="60">
                  <c:v>37622</c:v>
                </c:pt>
                <c:pt idx="61">
                  <c:v>37653</c:v>
                </c:pt>
                <c:pt idx="62">
                  <c:v>37681</c:v>
                </c:pt>
                <c:pt idx="63">
                  <c:v>37712</c:v>
                </c:pt>
                <c:pt idx="64">
                  <c:v>37742</c:v>
                </c:pt>
                <c:pt idx="65">
                  <c:v>37773</c:v>
                </c:pt>
                <c:pt idx="66">
                  <c:v>37803</c:v>
                </c:pt>
                <c:pt idx="67">
                  <c:v>37834</c:v>
                </c:pt>
                <c:pt idx="68">
                  <c:v>37865</c:v>
                </c:pt>
                <c:pt idx="69">
                  <c:v>37895</c:v>
                </c:pt>
                <c:pt idx="70">
                  <c:v>37926</c:v>
                </c:pt>
                <c:pt idx="71">
                  <c:v>37956</c:v>
                </c:pt>
                <c:pt idx="72">
                  <c:v>37987</c:v>
                </c:pt>
                <c:pt idx="73">
                  <c:v>38018</c:v>
                </c:pt>
                <c:pt idx="74">
                  <c:v>38047</c:v>
                </c:pt>
                <c:pt idx="75">
                  <c:v>38078</c:v>
                </c:pt>
                <c:pt idx="76">
                  <c:v>38108</c:v>
                </c:pt>
                <c:pt idx="77">
                  <c:v>38139</c:v>
                </c:pt>
                <c:pt idx="78">
                  <c:v>38169</c:v>
                </c:pt>
                <c:pt idx="79">
                  <c:v>38200</c:v>
                </c:pt>
                <c:pt idx="80">
                  <c:v>38231</c:v>
                </c:pt>
                <c:pt idx="81">
                  <c:v>38261</c:v>
                </c:pt>
                <c:pt idx="82">
                  <c:v>38292</c:v>
                </c:pt>
                <c:pt idx="83">
                  <c:v>38322</c:v>
                </c:pt>
                <c:pt idx="84">
                  <c:v>38353</c:v>
                </c:pt>
                <c:pt idx="85">
                  <c:v>38384</c:v>
                </c:pt>
                <c:pt idx="86">
                  <c:v>38412</c:v>
                </c:pt>
                <c:pt idx="87">
                  <c:v>38443</c:v>
                </c:pt>
                <c:pt idx="88">
                  <c:v>38473</c:v>
                </c:pt>
                <c:pt idx="89">
                  <c:v>38504</c:v>
                </c:pt>
                <c:pt idx="90">
                  <c:v>38534</c:v>
                </c:pt>
                <c:pt idx="91">
                  <c:v>38565</c:v>
                </c:pt>
                <c:pt idx="92">
                  <c:v>38596</c:v>
                </c:pt>
                <c:pt idx="93">
                  <c:v>38626</c:v>
                </c:pt>
                <c:pt idx="94">
                  <c:v>38657</c:v>
                </c:pt>
                <c:pt idx="95">
                  <c:v>38687</c:v>
                </c:pt>
                <c:pt idx="96">
                  <c:v>38718</c:v>
                </c:pt>
                <c:pt idx="97">
                  <c:v>38749</c:v>
                </c:pt>
                <c:pt idx="98">
                  <c:v>38777</c:v>
                </c:pt>
                <c:pt idx="99">
                  <c:v>38808</c:v>
                </c:pt>
                <c:pt idx="100">
                  <c:v>38838</c:v>
                </c:pt>
                <c:pt idx="101">
                  <c:v>38869</c:v>
                </c:pt>
                <c:pt idx="102">
                  <c:v>38899</c:v>
                </c:pt>
                <c:pt idx="103">
                  <c:v>38930</c:v>
                </c:pt>
                <c:pt idx="104">
                  <c:v>38961</c:v>
                </c:pt>
                <c:pt idx="105">
                  <c:v>38991</c:v>
                </c:pt>
                <c:pt idx="106">
                  <c:v>39022</c:v>
                </c:pt>
                <c:pt idx="107">
                  <c:v>39052</c:v>
                </c:pt>
                <c:pt idx="108">
                  <c:v>39083</c:v>
                </c:pt>
                <c:pt idx="109">
                  <c:v>39114</c:v>
                </c:pt>
                <c:pt idx="110">
                  <c:v>39142</c:v>
                </c:pt>
                <c:pt idx="111">
                  <c:v>39173</c:v>
                </c:pt>
                <c:pt idx="112">
                  <c:v>39203</c:v>
                </c:pt>
                <c:pt idx="113">
                  <c:v>39234</c:v>
                </c:pt>
                <c:pt idx="114">
                  <c:v>39264</c:v>
                </c:pt>
                <c:pt idx="115">
                  <c:v>39295</c:v>
                </c:pt>
                <c:pt idx="116">
                  <c:v>39326</c:v>
                </c:pt>
                <c:pt idx="117">
                  <c:v>39356</c:v>
                </c:pt>
                <c:pt idx="118">
                  <c:v>39387</c:v>
                </c:pt>
                <c:pt idx="119">
                  <c:v>39417</c:v>
                </c:pt>
                <c:pt idx="120">
                  <c:v>39448</c:v>
                </c:pt>
                <c:pt idx="121">
                  <c:v>39479</c:v>
                </c:pt>
                <c:pt idx="122">
                  <c:v>39508</c:v>
                </c:pt>
                <c:pt idx="123">
                  <c:v>39539</c:v>
                </c:pt>
                <c:pt idx="124">
                  <c:v>39569</c:v>
                </c:pt>
                <c:pt idx="125">
                  <c:v>39600</c:v>
                </c:pt>
                <c:pt idx="126">
                  <c:v>39630</c:v>
                </c:pt>
                <c:pt idx="127">
                  <c:v>39661</c:v>
                </c:pt>
                <c:pt idx="128">
                  <c:v>39692</c:v>
                </c:pt>
                <c:pt idx="129">
                  <c:v>39722</c:v>
                </c:pt>
                <c:pt idx="130">
                  <c:v>39753</c:v>
                </c:pt>
                <c:pt idx="131">
                  <c:v>39783</c:v>
                </c:pt>
                <c:pt idx="132">
                  <c:v>39814</c:v>
                </c:pt>
                <c:pt idx="133">
                  <c:v>39845</c:v>
                </c:pt>
                <c:pt idx="134">
                  <c:v>39873</c:v>
                </c:pt>
                <c:pt idx="135">
                  <c:v>39904</c:v>
                </c:pt>
                <c:pt idx="136">
                  <c:v>39934</c:v>
                </c:pt>
                <c:pt idx="137">
                  <c:v>39965</c:v>
                </c:pt>
                <c:pt idx="138">
                  <c:v>39995</c:v>
                </c:pt>
                <c:pt idx="139">
                  <c:v>40026</c:v>
                </c:pt>
                <c:pt idx="140">
                  <c:v>40057</c:v>
                </c:pt>
                <c:pt idx="141">
                  <c:v>40087</c:v>
                </c:pt>
                <c:pt idx="142">
                  <c:v>40118</c:v>
                </c:pt>
                <c:pt idx="143">
                  <c:v>40148</c:v>
                </c:pt>
                <c:pt idx="144">
                  <c:v>40179</c:v>
                </c:pt>
                <c:pt idx="145">
                  <c:v>40210</c:v>
                </c:pt>
                <c:pt idx="146">
                  <c:v>40238</c:v>
                </c:pt>
                <c:pt idx="147">
                  <c:v>40269</c:v>
                </c:pt>
                <c:pt idx="148">
                  <c:v>40299</c:v>
                </c:pt>
                <c:pt idx="149">
                  <c:v>40330</c:v>
                </c:pt>
                <c:pt idx="150">
                  <c:v>40360</c:v>
                </c:pt>
                <c:pt idx="151">
                  <c:v>40391</c:v>
                </c:pt>
                <c:pt idx="152">
                  <c:v>40422</c:v>
                </c:pt>
                <c:pt idx="153">
                  <c:v>40452</c:v>
                </c:pt>
                <c:pt idx="154">
                  <c:v>40483</c:v>
                </c:pt>
                <c:pt idx="155">
                  <c:v>40513</c:v>
                </c:pt>
                <c:pt idx="156">
                  <c:v>40544</c:v>
                </c:pt>
                <c:pt idx="157">
                  <c:v>40575</c:v>
                </c:pt>
                <c:pt idx="158">
                  <c:v>40603</c:v>
                </c:pt>
                <c:pt idx="159">
                  <c:v>40634</c:v>
                </c:pt>
                <c:pt idx="160">
                  <c:v>40664</c:v>
                </c:pt>
                <c:pt idx="161">
                  <c:v>40695</c:v>
                </c:pt>
                <c:pt idx="162">
                  <c:v>40725</c:v>
                </c:pt>
                <c:pt idx="163">
                  <c:v>40756</c:v>
                </c:pt>
                <c:pt idx="164">
                  <c:v>40787</c:v>
                </c:pt>
                <c:pt idx="165">
                  <c:v>40817</c:v>
                </c:pt>
                <c:pt idx="166">
                  <c:v>40848</c:v>
                </c:pt>
                <c:pt idx="167">
                  <c:v>40878</c:v>
                </c:pt>
                <c:pt idx="168">
                  <c:v>40909</c:v>
                </c:pt>
                <c:pt idx="169">
                  <c:v>40940</c:v>
                </c:pt>
                <c:pt idx="170">
                  <c:v>40969</c:v>
                </c:pt>
                <c:pt idx="171">
                  <c:v>41000</c:v>
                </c:pt>
                <c:pt idx="172">
                  <c:v>41030</c:v>
                </c:pt>
                <c:pt idx="173">
                  <c:v>41061</c:v>
                </c:pt>
                <c:pt idx="174">
                  <c:v>41091</c:v>
                </c:pt>
                <c:pt idx="175">
                  <c:v>41122</c:v>
                </c:pt>
                <c:pt idx="176">
                  <c:v>41153</c:v>
                </c:pt>
                <c:pt idx="177">
                  <c:v>41183</c:v>
                </c:pt>
                <c:pt idx="178">
                  <c:v>41214</c:v>
                </c:pt>
                <c:pt idx="179">
                  <c:v>41244</c:v>
                </c:pt>
                <c:pt idx="180">
                  <c:v>41275</c:v>
                </c:pt>
                <c:pt idx="181">
                  <c:v>41306</c:v>
                </c:pt>
                <c:pt idx="182">
                  <c:v>41334</c:v>
                </c:pt>
                <c:pt idx="183">
                  <c:v>41365</c:v>
                </c:pt>
                <c:pt idx="184">
                  <c:v>41395</c:v>
                </c:pt>
                <c:pt idx="185">
                  <c:v>41426</c:v>
                </c:pt>
                <c:pt idx="186">
                  <c:v>41456</c:v>
                </c:pt>
                <c:pt idx="187">
                  <c:v>41487</c:v>
                </c:pt>
                <c:pt idx="188">
                  <c:v>41518</c:v>
                </c:pt>
                <c:pt idx="189">
                  <c:v>41548</c:v>
                </c:pt>
                <c:pt idx="190">
                  <c:v>41579</c:v>
                </c:pt>
                <c:pt idx="191">
                  <c:v>41609</c:v>
                </c:pt>
                <c:pt idx="192">
                  <c:v>41640</c:v>
                </c:pt>
              </c:numCache>
            </c:numRef>
          </c:cat>
          <c:val>
            <c:numRef>
              <c:f>Sheet1!$C$2:$C$194</c:f>
              <c:numCache>
                <c:formatCode>General</c:formatCode>
                <c:ptCount val="193"/>
                <c:pt idx="0">
                  <c:v>7.23</c:v>
                </c:pt>
                <c:pt idx="1">
                  <c:v>7.09</c:v>
                </c:pt>
                <c:pt idx="2">
                  <c:v>7.09</c:v>
                </c:pt>
                <c:pt idx="3">
                  <c:v>7.09</c:v>
                </c:pt>
                <c:pt idx="4">
                  <c:v>7.09</c:v>
                </c:pt>
                <c:pt idx="5">
                  <c:v>7.09</c:v>
                </c:pt>
                <c:pt idx="6">
                  <c:v>7</c:v>
                </c:pt>
                <c:pt idx="7">
                  <c:v>6.9749999999999996</c:v>
                </c:pt>
                <c:pt idx="8">
                  <c:v>6.9450000000000003</c:v>
                </c:pt>
                <c:pt idx="9">
                  <c:v>6.72</c:v>
                </c:pt>
                <c:pt idx="10">
                  <c:v>6.6849999999999996</c:v>
                </c:pt>
                <c:pt idx="11">
                  <c:v>6.6849999999999996</c:v>
                </c:pt>
                <c:pt idx="12">
                  <c:v>6.6849999999999996</c:v>
                </c:pt>
                <c:pt idx="13">
                  <c:v>6.6849999999999996</c:v>
                </c:pt>
                <c:pt idx="14">
                  <c:v>6.6849999999999996</c:v>
                </c:pt>
                <c:pt idx="15">
                  <c:v>6.6849999999999996</c:v>
                </c:pt>
                <c:pt idx="16">
                  <c:v>6.6849999999999996</c:v>
                </c:pt>
                <c:pt idx="17">
                  <c:v>6.6849999999999996</c:v>
                </c:pt>
                <c:pt idx="18">
                  <c:v>6.6849999999999996</c:v>
                </c:pt>
                <c:pt idx="19">
                  <c:v>6.6849999999999996</c:v>
                </c:pt>
                <c:pt idx="20">
                  <c:v>6.6849999999999996</c:v>
                </c:pt>
                <c:pt idx="21">
                  <c:v>6.6849999999999996</c:v>
                </c:pt>
                <c:pt idx="22">
                  <c:v>6.6849999999999996</c:v>
                </c:pt>
                <c:pt idx="23">
                  <c:v>6.6849999999999996</c:v>
                </c:pt>
                <c:pt idx="24">
                  <c:v>6.6849999999999996</c:v>
                </c:pt>
                <c:pt idx="25">
                  <c:v>6.6849999999999996</c:v>
                </c:pt>
                <c:pt idx="26">
                  <c:v>6.6849999999999996</c:v>
                </c:pt>
                <c:pt idx="27">
                  <c:v>6.6849999999999996</c:v>
                </c:pt>
                <c:pt idx="28">
                  <c:v>6.6849999999999996</c:v>
                </c:pt>
                <c:pt idx="29">
                  <c:v>6.6849999999999996</c:v>
                </c:pt>
                <c:pt idx="30">
                  <c:v>6.6849999999999996</c:v>
                </c:pt>
                <c:pt idx="31">
                  <c:v>6.6849999999999996</c:v>
                </c:pt>
                <c:pt idx="32">
                  <c:v>6.6849999999999996</c:v>
                </c:pt>
                <c:pt idx="33">
                  <c:v>6.6849999999999996</c:v>
                </c:pt>
                <c:pt idx="34">
                  <c:v>6.6849999999999996</c:v>
                </c:pt>
                <c:pt idx="35">
                  <c:v>6.6849999999999996</c:v>
                </c:pt>
                <c:pt idx="36">
                  <c:v>6.6849999999999996</c:v>
                </c:pt>
                <c:pt idx="37">
                  <c:v>6.6849999999999996</c:v>
                </c:pt>
                <c:pt idx="38">
                  <c:v>6.6849999999999996</c:v>
                </c:pt>
                <c:pt idx="39">
                  <c:v>6.6849999999999996</c:v>
                </c:pt>
                <c:pt idx="40">
                  <c:v>6.6849999999999996</c:v>
                </c:pt>
                <c:pt idx="41">
                  <c:v>6.6849999999999996</c:v>
                </c:pt>
                <c:pt idx="42">
                  <c:v>6.6849999999999996</c:v>
                </c:pt>
                <c:pt idx="43">
                  <c:v>6.6849999999999996</c:v>
                </c:pt>
                <c:pt idx="44">
                  <c:v>6.6849999999999996</c:v>
                </c:pt>
                <c:pt idx="45">
                  <c:v>6.6849999999999996</c:v>
                </c:pt>
                <c:pt idx="46">
                  <c:v>6.5949999999999998</c:v>
                </c:pt>
                <c:pt idx="47">
                  <c:v>6.5949999999999998</c:v>
                </c:pt>
                <c:pt idx="48">
                  <c:v>6.5949999999999998</c:v>
                </c:pt>
                <c:pt idx="49">
                  <c:v>6.5949999999999998</c:v>
                </c:pt>
                <c:pt idx="50">
                  <c:v>6.5949999999999998</c:v>
                </c:pt>
                <c:pt idx="51">
                  <c:v>6.5949999999999998</c:v>
                </c:pt>
                <c:pt idx="52">
                  <c:v>6.5949999999999998</c:v>
                </c:pt>
                <c:pt idx="53">
                  <c:v>6.5949999999999998</c:v>
                </c:pt>
                <c:pt idx="54">
                  <c:v>6.55</c:v>
                </c:pt>
                <c:pt idx="55">
                  <c:v>6.39</c:v>
                </c:pt>
                <c:pt idx="56">
                  <c:v>6.19</c:v>
                </c:pt>
                <c:pt idx="57">
                  <c:v>5.99</c:v>
                </c:pt>
                <c:pt idx="58">
                  <c:v>5.99</c:v>
                </c:pt>
                <c:pt idx="59">
                  <c:v>5.97</c:v>
                </c:pt>
                <c:pt idx="60">
                  <c:v>5.95</c:v>
                </c:pt>
                <c:pt idx="61">
                  <c:v>5.82</c:v>
                </c:pt>
                <c:pt idx="62">
                  <c:v>5.74</c:v>
                </c:pt>
                <c:pt idx="63">
                  <c:v>5.65</c:v>
                </c:pt>
                <c:pt idx="64">
                  <c:v>5.65</c:v>
                </c:pt>
                <c:pt idx="65">
                  <c:v>5.38</c:v>
                </c:pt>
                <c:pt idx="66">
                  <c:v>5.13</c:v>
                </c:pt>
                <c:pt idx="67">
                  <c:v>5.13</c:v>
                </c:pt>
                <c:pt idx="68">
                  <c:v>5.13</c:v>
                </c:pt>
                <c:pt idx="69">
                  <c:v>5.13</c:v>
                </c:pt>
                <c:pt idx="70">
                  <c:v>5.13</c:v>
                </c:pt>
                <c:pt idx="71">
                  <c:v>5.13</c:v>
                </c:pt>
                <c:pt idx="72">
                  <c:v>5.13</c:v>
                </c:pt>
                <c:pt idx="73">
                  <c:v>5.13</c:v>
                </c:pt>
                <c:pt idx="74">
                  <c:v>5.13</c:v>
                </c:pt>
                <c:pt idx="75">
                  <c:v>5.13</c:v>
                </c:pt>
                <c:pt idx="76">
                  <c:v>5.13</c:v>
                </c:pt>
                <c:pt idx="77">
                  <c:v>5.13</c:v>
                </c:pt>
                <c:pt idx="78">
                  <c:v>5.13</c:v>
                </c:pt>
                <c:pt idx="79">
                  <c:v>5.13</c:v>
                </c:pt>
                <c:pt idx="80">
                  <c:v>5.13</c:v>
                </c:pt>
                <c:pt idx="81">
                  <c:v>5.13</c:v>
                </c:pt>
                <c:pt idx="82">
                  <c:v>5.13</c:v>
                </c:pt>
                <c:pt idx="83">
                  <c:v>5.13</c:v>
                </c:pt>
                <c:pt idx="84">
                  <c:v>5.13</c:v>
                </c:pt>
                <c:pt idx="85">
                  <c:v>5.13</c:v>
                </c:pt>
                <c:pt idx="86">
                  <c:v>5.13</c:v>
                </c:pt>
                <c:pt idx="87">
                  <c:v>5.13</c:v>
                </c:pt>
                <c:pt idx="88">
                  <c:v>5.13</c:v>
                </c:pt>
                <c:pt idx="89">
                  <c:v>5.13</c:v>
                </c:pt>
                <c:pt idx="90">
                  <c:v>5.13</c:v>
                </c:pt>
                <c:pt idx="91">
                  <c:v>5.13</c:v>
                </c:pt>
                <c:pt idx="92">
                  <c:v>5.13</c:v>
                </c:pt>
                <c:pt idx="93">
                  <c:v>5.13</c:v>
                </c:pt>
                <c:pt idx="94">
                  <c:v>5.13</c:v>
                </c:pt>
                <c:pt idx="95">
                  <c:v>5.13</c:v>
                </c:pt>
                <c:pt idx="96">
                  <c:v>5.13</c:v>
                </c:pt>
                <c:pt idx="97">
                  <c:v>5.13</c:v>
                </c:pt>
                <c:pt idx="98">
                  <c:v>5.13</c:v>
                </c:pt>
                <c:pt idx="99">
                  <c:v>5.13</c:v>
                </c:pt>
                <c:pt idx="100">
                  <c:v>5.13</c:v>
                </c:pt>
                <c:pt idx="101">
                  <c:v>5.13</c:v>
                </c:pt>
                <c:pt idx="102">
                  <c:v>5.13</c:v>
                </c:pt>
                <c:pt idx="103">
                  <c:v>5.375</c:v>
                </c:pt>
                <c:pt idx="104">
                  <c:v>5.375</c:v>
                </c:pt>
                <c:pt idx="105">
                  <c:v>5.375</c:v>
                </c:pt>
                <c:pt idx="106">
                  <c:v>5.375</c:v>
                </c:pt>
                <c:pt idx="107">
                  <c:v>5.375</c:v>
                </c:pt>
                <c:pt idx="108">
                  <c:v>5.375</c:v>
                </c:pt>
                <c:pt idx="109">
                  <c:v>5.375</c:v>
                </c:pt>
                <c:pt idx="110">
                  <c:v>5.375</c:v>
                </c:pt>
                <c:pt idx="111">
                  <c:v>5.375</c:v>
                </c:pt>
                <c:pt idx="112">
                  <c:v>5.48</c:v>
                </c:pt>
                <c:pt idx="113">
                  <c:v>5.48</c:v>
                </c:pt>
                <c:pt idx="114">
                  <c:v>5.48</c:v>
                </c:pt>
                <c:pt idx="115">
                  <c:v>5.48</c:v>
                </c:pt>
                <c:pt idx="116">
                  <c:v>5.48</c:v>
                </c:pt>
                <c:pt idx="117">
                  <c:v>5.48</c:v>
                </c:pt>
                <c:pt idx="118">
                  <c:v>5.48</c:v>
                </c:pt>
                <c:pt idx="119">
                  <c:v>5.48</c:v>
                </c:pt>
                <c:pt idx="120">
                  <c:v>5.48</c:v>
                </c:pt>
                <c:pt idx="121">
                  <c:v>5.48</c:v>
                </c:pt>
                <c:pt idx="122">
                  <c:v>5.48</c:v>
                </c:pt>
                <c:pt idx="123">
                  <c:v>5.48</c:v>
                </c:pt>
                <c:pt idx="124">
                  <c:v>5.48</c:v>
                </c:pt>
                <c:pt idx="125">
                  <c:v>5.48</c:v>
                </c:pt>
                <c:pt idx="126">
                  <c:v>5.48</c:v>
                </c:pt>
                <c:pt idx="127">
                  <c:v>5.5750000000000002</c:v>
                </c:pt>
                <c:pt idx="128">
                  <c:v>5.61</c:v>
                </c:pt>
                <c:pt idx="129">
                  <c:v>5.61</c:v>
                </c:pt>
                <c:pt idx="130">
                  <c:v>5.61</c:v>
                </c:pt>
                <c:pt idx="131">
                  <c:v>5.61</c:v>
                </c:pt>
                <c:pt idx="132">
                  <c:v>5.2149999999999999</c:v>
                </c:pt>
                <c:pt idx="133">
                  <c:v>4.9749999999999996</c:v>
                </c:pt>
                <c:pt idx="134">
                  <c:v>4.9749999999999996</c:v>
                </c:pt>
                <c:pt idx="135">
                  <c:v>4.9249999999999998</c:v>
                </c:pt>
                <c:pt idx="136">
                  <c:v>4.7350000000000003</c:v>
                </c:pt>
                <c:pt idx="137">
                  <c:v>4.7350000000000003</c:v>
                </c:pt>
                <c:pt idx="138">
                  <c:v>4.7350000000000003</c:v>
                </c:pt>
                <c:pt idx="139">
                  <c:v>4.7350000000000003</c:v>
                </c:pt>
                <c:pt idx="140">
                  <c:v>4.7350000000000003</c:v>
                </c:pt>
                <c:pt idx="141">
                  <c:v>4.7350000000000003</c:v>
                </c:pt>
                <c:pt idx="142">
                  <c:v>4.7350000000000003</c:v>
                </c:pt>
                <c:pt idx="143">
                  <c:v>4.7350000000000003</c:v>
                </c:pt>
                <c:pt idx="144">
                  <c:v>4.7350000000000003</c:v>
                </c:pt>
                <c:pt idx="145">
                  <c:v>4.7350000000000003</c:v>
                </c:pt>
                <c:pt idx="146">
                  <c:v>4.7350000000000003</c:v>
                </c:pt>
                <c:pt idx="147">
                  <c:v>4.7350000000000003</c:v>
                </c:pt>
                <c:pt idx="148">
                  <c:v>4.7350000000000003</c:v>
                </c:pt>
                <c:pt idx="149">
                  <c:v>4.7350000000000003</c:v>
                </c:pt>
                <c:pt idx="150">
                  <c:v>4.665</c:v>
                </c:pt>
                <c:pt idx="151">
                  <c:v>4.4850000000000003</c:v>
                </c:pt>
                <c:pt idx="152">
                  <c:v>4.3550000000000004</c:v>
                </c:pt>
                <c:pt idx="153">
                  <c:v>4.2750000000000004</c:v>
                </c:pt>
                <c:pt idx="154">
                  <c:v>4.18</c:v>
                </c:pt>
                <c:pt idx="155">
                  <c:v>4.18</c:v>
                </c:pt>
                <c:pt idx="156">
                  <c:v>4.18</c:v>
                </c:pt>
                <c:pt idx="157">
                  <c:v>4.18</c:v>
                </c:pt>
                <c:pt idx="158">
                  <c:v>4.18</c:v>
                </c:pt>
                <c:pt idx="159">
                  <c:v>4.18</c:v>
                </c:pt>
                <c:pt idx="160">
                  <c:v>4.18</c:v>
                </c:pt>
                <c:pt idx="161">
                  <c:v>4.18</c:v>
                </c:pt>
                <c:pt idx="162">
                  <c:v>4.18</c:v>
                </c:pt>
                <c:pt idx="163">
                  <c:v>4.18</c:v>
                </c:pt>
                <c:pt idx="164">
                  <c:v>4.18</c:v>
                </c:pt>
                <c:pt idx="165">
                  <c:v>4.0350000000000001</c:v>
                </c:pt>
                <c:pt idx="166">
                  <c:v>4.0199999999999996</c:v>
                </c:pt>
                <c:pt idx="167">
                  <c:v>3.915</c:v>
                </c:pt>
                <c:pt idx="168">
                  <c:v>3.8849999999999998</c:v>
                </c:pt>
                <c:pt idx="169">
                  <c:v>3.87</c:v>
                </c:pt>
                <c:pt idx="170">
                  <c:v>3.84</c:v>
                </c:pt>
                <c:pt idx="171">
                  <c:v>3.84</c:v>
                </c:pt>
                <c:pt idx="172">
                  <c:v>3.835</c:v>
                </c:pt>
                <c:pt idx="173">
                  <c:v>3.75</c:v>
                </c:pt>
                <c:pt idx="174">
                  <c:v>3.605</c:v>
                </c:pt>
                <c:pt idx="175">
                  <c:v>3.4750000000000001</c:v>
                </c:pt>
                <c:pt idx="176">
                  <c:v>3.4750000000000001</c:v>
                </c:pt>
                <c:pt idx="177">
                  <c:v>3.4</c:v>
                </c:pt>
                <c:pt idx="178">
                  <c:v>3.3050000000000002</c:v>
                </c:pt>
                <c:pt idx="179">
                  <c:v>3.2749999999999999</c:v>
                </c:pt>
                <c:pt idx="180">
                  <c:v>3.2749999999999999</c:v>
                </c:pt>
                <c:pt idx="181">
                  <c:v>3.2749999999999999</c:v>
                </c:pt>
                <c:pt idx="182">
                  <c:v>3.2749999999999999</c:v>
                </c:pt>
                <c:pt idx="183">
                  <c:v>3.2749999999999999</c:v>
                </c:pt>
                <c:pt idx="184">
                  <c:v>3.2749999999999999</c:v>
                </c:pt>
                <c:pt idx="185">
                  <c:v>3.2749999999999999</c:v>
                </c:pt>
                <c:pt idx="186">
                  <c:v>3.2749999999999999</c:v>
                </c:pt>
                <c:pt idx="187">
                  <c:v>3.2749999999999999</c:v>
                </c:pt>
                <c:pt idx="188">
                  <c:v>3.2749999999999999</c:v>
                </c:pt>
                <c:pt idx="189">
                  <c:v>3.2749999999999999</c:v>
                </c:pt>
                <c:pt idx="190">
                  <c:v>3.2749999999999999</c:v>
                </c:pt>
                <c:pt idx="191">
                  <c:v>3.2749999999999999</c:v>
                </c:pt>
                <c:pt idx="192">
                  <c:v>3.2749999999999999</c:v>
                </c:pt>
              </c:numCache>
            </c:numRef>
          </c:val>
          <c:smooth val="1"/>
        </c:ser>
        <c:dLbls>
          <c:showLegendKey val="0"/>
          <c:showVal val="0"/>
          <c:showCatName val="0"/>
          <c:showSerName val="0"/>
          <c:showPercent val="0"/>
          <c:showBubbleSize val="0"/>
        </c:dLbls>
        <c:marker val="1"/>
        <c:smooth val="0"/>
        <c:axId val="47558016"/>
        <c:axId val="47563904"/>
      </c:lineChart>
      <c:lineChart>
        <c:grouping val="standard"/>
        <c:varyColors val="0"/>
        <c:ser>
          <c:idx val="2"/>
          <c:order val="2"/>
          <c:tx>
            <c:strRef>
              <c:f>Sheet1!$D$1</c:f>
              <c:strCache>
                <c:ptCount val="1"/>
                <c:pt idx="0">
                  <c:v>Media Effect</c:v>
                </c:pt>
              </c:strCache>
            </c:strRef>
          </c:tx>
          <c:spPr>
            <a:ln>
              <a:solidFill>
                <a:srgbClr val="996633"/>
              </a:solidFill>
            </a:ln>
          </c:spPr>
          <c:marker>
            <c:symbol val="none"/>
          </c:marker>
          <c:cat>
            <c:numRef>
              <c:f>Sheet1!$A$2:$A$194</c:f>
              <c:numCache>
                <c:formatCode>m/d/yyyy</c:formatCode>
                <c:ptCount val="193"/>
                <c:pt idx="0">
                  <c:v>35796</c:v>
                </c:pt>
                <c:pt idx="1">
                  <c:v>35827</c:v>
                </c:pt>
                <c:pt idx="2">
                  <c:v>35855</c:v>
                </c:pt>
                <c:pt idx="3">
                  <c:v>35886</c:v>
                </c:pt>
                <c:pt idx="4">
                  <c:v>35916</c:v>
                </c:pt>
                <c:pt idx="5">
                  <c:v>35947</c:v>
                </c:pt>
                <c:pt idx="6">
                  <c:v>35977</c:v>
                </c:pt>
                <c:pt idx="7">
                  <c:v>36008</c:v>
                </c:pt>
                <c:pt idx="8">
                  <c:v>36039</c:v>
                </c:pt>
                <c:pt idx="9">
                  <c:v>36069</c:v>
                </c:pt>
                <c:pt idx="10">
                  <c:v>36100</c:v>
                </c:pt>
                <c:pt idx="11">
                  <c:v>36130</c:v>
                </c:pt>
                <c:pt idx="12">
                  <c:v>36161</c:v>
                </c:pt>
                <c:pt idx="13">
                  <c:v>36192</c:v>
                </c:pt>
                <c:pt idx="14">
                  <c:v>36220</c:v>
                </c:pt>
                <c:pt idx="15">
                  <c:v>36251</c:v>
                </c:pt>
                <c:pt idx="16">
                  <c:v>36281</c:v>
                </c:pt>
                <c:pt idx="17">
                  <c:v>36312</c:v>
                </c:pt>
                <c:pt idx="18">
                  <c:v>36342</c:v>
                </c:pt>
                <c:pt idx="19">
                  <c:v>36373</c:v>
                </c:pt>
                <c:pt idx="20">
                  <c:v>36404</c:v>
                </c:pt>
                <c:pt idx="21">
                  <c:v>36434</c:v>
                </c:pt>
                <c:pt idx="22">
                  <c:v>36465</c:v>
                </c:pt>
                <c:pt idx="23">
                  <c:v>36495</c:v>
                </c:pt>
                <c:pt idx="24">
                  <c:v>36526</c:v>
                </c:pt>
                <c:pt idx="25">
                  <c:v>36557</c:v>
                </c:pt>
                <c:pt idx="26">
                  <c:v>36586</c:v>
                </c:pt>
                <c:pt idx="27">
                  <c:v>36617</c:v>
                </c:pt>
                <c:pt idx="28">
                  <c:v>36647</c:v>
                </c:pt>
                <c:pt idx="29">
                  <c:v>36678</c:v>
                </c:pt>
                <c:pt idx="30">
                  <c:v>36708</c:v>
                </c:pt>
                <c:pt idx="31">
                  <c:v>36739</c:v>
                </c:pt>
                <c:pt idx="32">
                  <c:v>36770</c:v>
                </c:pt>
                <c:pt idx="33">
                  <c:v>36800</c:v>
                </c:pt>
                <c:pt idx="34">
                  <c:v>36831</c:v>
                </c:pt>
                <c:pt idx="35">
                  <c:v>36861</c:v>
                </c:pt>
                <c:pt idx="36">
                  <c:v>36892</c:v>
                </c:pt>
                <c:pt idx="37">
                  <c:v>36923</c:v>
                </c:pt>
                <c:pt idx="38">
                  <c:v>36951</c:v>
                </c:pt>
                <c:pt idx="39">
                  <c:v>36982</c:v>
                </c:pt>
                <c:pt idx="40">
                  <c:v>37012</c:v>
                </c:pt>
                <c:pt idx="41">
                  <c:v>37043</c:v>
                </c:pt>
                <c:pt idx="42">
                  <c:v>37073</c:v>
                </c:pt>
                <c:pt idx="43">
                  <c:v>37104</c:v>
                </c:pt>
                <c:pt idx="44">
                  <c:v>37135</c:v>
                </c:pt>
                <c:pt idx="45">
                  <c:v>37165</c:v>
                </c:pt>
                <c:pt idx="46">
                  <c:v>37196</c:v>
                </c:pt>
                <c:pt idx="47">
                  <c:v>37226</c:v>
                </c:pt>
                <c:pt idx="48">
                  <c:v>37257</c:v>
                </c:pt>
                <c:pt idx="49">
                  <c:v>37288</c:v>
                </c:pt>
                <c:pt idx="50">
                  <c:v>37316</c:v>
                </c:pt>
                <c:pt idx="51">
                  <c:v>37347</c:v>
                </c:pt>
                <c:pt idx="52">
                  <c:v>37377</c:v>
                </c:pt>
                <c:pt idx="53">
                  <c:v>37408</c:v>
                </c:pt>
                <c:pt idx="54">
                  <c:v>37438</c:v>
                </c:pt>
                <c:pt idx="55">
                  <c:v>37469</c:v>
                </c:pt>
                <c:pt idx="56">
                  <c:v>37500</c:v>
                </c:pt>
                <c:pt idx="57">
                  <c:v>37530</c:v>
                </c:pt>
                <c:pt idx="58">
                  <c:v>37561</c:v>
                </c:pt>
                <c:pt idx="59">
                  <c:v>37591</c:v>
                </c:pt>
                <c:pt idx="60">
                  <c:v>37622</c:v>
                </c:pt>
                <c:pt idx="61">
                  <c:v>37653</c:v>
                </c:pt>
                <c:pt idx="62">
                  <c:v>37681</c:v>
                </c:pt>
                <c:pt idx="63">
                  <c:v>37712</c:v>
                </c:pt>
                <c:pt idx="64">
                  <c:v>37742</c:v>
                </c:pt>
                <c:pt idx="65">
                  <c:v>37773</c:v>
                </c:pt>
                <c:pt idx="66">
                  <c:v>37803</c:v>
                </c:pt>
                <c:pt idx="67">
                  <c:v>37834</c:v>
                </c:pt>
                <c:pt idx="68">
                  <c:v>37865</c:v>
                </c:pt>
                <c:pt idx="69">
                  <c:v>37895</c:v>
                </c:pt>
                <c:pt idx="70">
                  <c:v>37926</c:v>
                </c:pt>
                <c:pt idx="71">
                  <c:v>37956</c:v>
                </c:pt>
                <c:pt idx="72">
                  <c:v>37987</c:v>
                </c:pt>
                <c:pt idx="73">
                  <c:v>38018</c:v>
                </c:pt>
                <c:pt idx="74">
                  <c:v>38047</c:v>
                </c:pt>
                <c:pt idx="75">
                  <c:v>38078</c:v>
                </c:pt>
                <c:pt idx="76">
                  <c:v>38108</c:v>
                </c:pt>
                <c:pt idx="77">
                  <c:v>38139</c:v>
                </c:pt>
                <c:pt idx="78">
                  <c:v>38169</c:v>
                </c:pt>
                <c:pt idx="79">
                  <c:v>38200</c:v>
                </c:pt>
                <c:pt idx="80">
                  <c:v>38231</c:v>
                </c:pt>
                <c:pt idx="81">
                  <c:v>38261</c:v>
                </c:pt>
                <c:pt idx="82">
                  <c:v>38292</c:v>
                </c:pt>
                <c:pt idx="83">
                  <c:v>38322</c:v>
                </c:pt>
                <c:pt idx="84">
                  <c:v>38353</c:v>
                </c:pt>
                <c:pt idx="85">
                  <c:v>38384</c:v>
                </c:pt>
                <c:pt idx="86">
                  <c:v>38412</c:v>
                </c:pt>
                <c:pt idx="87">
                  <c:v>38443</c:v>
                </c:pt>
                <c:pt idx="88">
                  <c:v>38473</c:v>
                </c:pt>
                <c:pt idx="89">
                  <c:v>38504</c:v>
                </c:pt>
                <c:pt idx="90">
                  <c:v>38534</c:v>
                </c:pt>
                <c:pt idx="91">
                  <c:v>38565</c:v>
                </c:pt>
                <c:pt idx="92">
                  <c:v>38596</c:v>
                </c:pt>
                <c:pt idx="93">
                  <c:v>38626</c:v>
                </c:pt>
                <c:pt idx="94">
                  <c:v>38657</c:v>
                </c:pt>
                <c:pt idx="95">
                  <c:v>38687</c:v>
                </c:pt>
                <c:pt idx="96">
                  <c:v>38718</c:v>
                </c:pt>
                <c:pt idx="97">
                  <c:v>38749</c:v>
                </c:pt>
                <c:pt idx="98">
                  <c:v>38777</c:v>
                </c:pt>
                <c:pt idx="99">
                  <c:v>38808</c:v>
                </c:pt>
                <c:pt idx="100">
                  <c:v>38838</c:v>
                </c:pt>
                <c:pt idx="101">
                  <c:v>38869</c:v>
                </c:pt>
                <c:pt idx="102">
                  <c:v>38899</c:v>
                </c:pt>
                <c:pt idx="103">
                  <c:v>38930</c:v>
                </c:pt>
                <c:pt idx="104">
                  <c:v>38961</c:v>
                </c:pt>
                <c:pt idx="105">
                  <c:v>38991</c:v>
                </c:pt>
                <c:pt idx="106">
                  <c:v>39022</c:v>
                </c:pt>
                <c:pt idx="107">
                  <c:v>39052</c:v>
                </c:pt>
                <c:pt idx="108">
                  <c:v>39083</c:v>
                </c:pt>
                <c:pt idx="109">
                  <c:v>39114</c:v>
                </c:pt>
                <c:pt idx="110">
                  <c:v>39142</c:v>
                </c:pt>
                <c:pt idx="111">
                  <c:v>39173</c:v>
                </c:pt>
                <c:pt idx="112">
                  <c:v>39203</c:v>
                </c:pt>
                <c:pt idx="113">
                  <c:v>39234</c:v>
                </c:pt>
                <c:pt idx="114">
                  <c:v>39264</c:v>
                </c:pt>
                <c:pt idx="115">
                  <c:v>39295</c:v>
                </c:pt>
                <c:pt idx="116">
                  <c:v>39326</c:v>
                </c:pt>
                <c:pt idx="117">
                  <c:v>39356</c:v>
                </c:pt>
                <c:pt idx="118">
                  <c:v>39387</c:v>
                </c:pt>
                <c:pt idx="119">
                  <c:v>39417</c:v>
                </c:pt>
                <c:pt idx="120">
                  <c:v>39448</c:v>
                </c:pt>
                <c:pt idx="121">
                  <c:v>39479</c:v>
                </c:pt>
                <c:pt idx="122">
                  <c:v>39508</c:v>
                </c:pt>
                <c:pt idx="123">
                  <c:v>39539</c:v>
                </c:pt>
                <c:pt idx="124">
                  <c:v>39569</c:v>
                </c:pt>
                <c:pt idx="125">
                  <c:v>39600</c:v>
                </c:pt>
                <c:pt idx="126">
                  <c:v>39630</c:v>
                </c:pt>
                <c:pt idx="127">
                  <c:v>39661</c:v>
                </c:pt>
                <c:pt idx="128">
                  <c:v>39692</c:v>
                </c:pt>
                <c:pt idx="129">
                  <c:v>39722</c:v>
                </c:pt>
                <c:pt idx="130">
                  <c:v>39753</c:v>
                </c:pt>
                <c:pt idx="131">
                  <c:v>39783</c:v>
                </c:pt>
                <c:pt idx="132">
                  <c:v>39814</c:v>
                </c:pt>
                <c:pt idx="133">
                  <c:v>39845</c:v>
                </c:pt>
                <c:pt idx="134">
                  <c:v>39873</c:v>
                </c:pt>
                <c:pt idx="135">
                  <c:v>39904</c:v>
                </c:pt>
                <c:pt idx="136">
                  <c:v>39934</c:v>
                </c:pt>
                <c:pt idx="137">
                  <c:v>39965</c:v>
                </c:pt>
                <c:pt idx="138">
                  <c:v>39995</c:v>
                </c:pt>
                <c:pt idx="139">
                  <c:v>40026</c:v>
                </c:pt>
                <c:pt idx="140">
                  <c:v>40057</c:v>
                </c:pt>
                <c:pt idx="141">
                  <c:v>40087</c:v>
                </c:pt>
                <c:pt idx="142">
                  <c:v>40118</c:v>
                </c:pt>
                <c:pt idx="143">
                  <c:v>40148</c:v>
                </c:pt>
                <c:pt idx="144">
                  <c:v>40179</c:v>
                </c:pt>
                <c:pt idx="145">
                  <c:v>40210</c:v>
                </c:pt>
                <c:pt idx="146">
                  <c:v>40238</c:v>
                </c:pt>
                <c:pt idx="147">
                  <c:v>40269</c:v>
                </c:pt>
                <c:pt idx="148">
                  <c:v>40299</c:v>
                </c:pt>
                <c:pt idx="149">
                  <c:v>40330</c:v>
                </c:pt>
                <c:pt idx="150">
                  <c:v>40360</c:v>
                </c:pt>
                <c:pt idx="151">
                  <c:v>40391</c:v>
                </c:pt>
                <c:pt idx="152">
                  <c:v>40422</c:v>
                </c:pt>
                <c:pt idx="153">
                  <c:v>40452</c:v>
                </c:pt>
                <c:pt idx="154">
                  <c:v>40483</c:v>
                </c:pt>
                <c:pt idx="155">
                  <c:v>40513</c:v>
                </c:pt>
                <c:pt idx="156">
                  <c:v>40544</c:v>
                </c:pt>
                <c:pt idx="157">
                  <c:v>40575</c:v>
                </c:pt>
                <c:pt idx="158">
                  <c:v>40603</c:v>
                </c:pt>
                <c:pt idx="159">
                  <c:v>40634</c:v>
                </c:pt>
                <c:pt idx="160">
                  <c:v>40664</c:v>
                </c:pt>
                <c:pt idx="161">
                  <c:v>40695</c:v>
                </c:pt>
                <c:pt idx="162">
                  <c:v>40725</c:v>
                </c:pt>
                <c:pt idx="163">
                  <c:v>40756</c:v>
                </c:pt>
                <c:pt idx="164">
                  <c:v>40787</c:v>
                </c:pt>
                <c:pt idx="165">
                  <c:v>40817</c:v>
                </c:pt>
                <c:pt idx="166">
                  <c:v>40848</c:v>
                </c:pt>
                <c:pt idx="167">
                  <c:v>40878</c:v>
                </c:pt>
                <c:pt idx="168">
                  <c:v>40909</c:v>
                </c:pt>
                <c:pt idx="169">
                  <c:v>40940</c:v>
                </c:pt>
                <c:pt idx="170">
                  <c:v>40969</c:v>
                </c:pt>
                <c:pt idx="171">
                  <c:v>41000</c:v>
                </c:pt>
                <c:pt idx="172">
                  <c:v>41030</c:v>
                </c:pt>
                <c:pt idx="173">
                  <c:v>41061</c:v>
                </c:pt>
                <c:pt idx="174">
                  <c:v>41091</c:v>
                </c:pt>
                <c:pt idx="175">
                  <c:v>41122</c:v>
                </c:pt>
                <c:pt idx="176">
                  <c:v>41153</c:v>
                </c:pt>
                <c:pt idx="177">
                  <c:v>41183</c:v>
                </c:pt>
                <c:pt idx="178">
                  <c:v>41214</c:v>
                </c:pt>
                <c:pt idx="179">
                  <c:v>41244</c:v>
                </c:pt>
                <c:pt idx="180">
                  <c:v>41275</c:v>
                </c:pt>
                <c:pt idx="181">
                  <c:v>41306</c:v>
                </c:pt>
                <c:pt idx="182">
                  <c:v>41334</c:v>
                </c:pt>
                <c:pt idx="183">
                  <c:v>41365</c:v>
                </c:pt>
                <c:pt idx="184">
                  <c:v>41395</c:v>
                </c:pt>
                <c:pt idx="185">
                  <c:v>41426</c:v>
                </c:pt>
                <c:pt idx="186">
                  <c:v>41456</c:v>
                </c:pt>
                <c:pt idx="187">
                  <c:v>41487</c:v>
                </c:pt>
                <c:pt idx="188">
                  <c:v>41518</c:v>
                </c:pt>
                <c:pt idx="189">
                  <c:v>41548</c:v>
                </c:pt>
                <c:pt idx="190">
                  <c:v>41579</c:v>
                </c:pt>
                <c:pt idx="191">
                  <c:v>41609</c:v>
                </c:pt>
                <c:pt idx="192">
                  <c:v>41640</c:v>
                </c:pt>
              </c:numCache>
            </c:numRef>
          </c:cat>
          <c:val>
            <c:numRef>
              <c:f>Sheet1!$D$2:$D$194</c:f>
              <c:numCache>
                <c:formatCode>0.00</c:formatCode>
                <c:ptCount val="193"/>
                <c:pt idx="0">
                  <c:v>1</c:v>
                </c:pt>
                <c:pt idx="1">
                  <c:v>1</c:v>
                </c:pt>
                <c:pt idx="2">
                  <c:v>1</c:v>
                </c:pt>
                <c:pt idx="3">
                  <c:v>1</c:v>
                </c:pt>
                <c:pt idx="4">
                  <c:v>1</c:v>
                </c:pt>
                <c:pt idx="5">
                  <c:v>1</c:v>
                </c:pt>
                <c:pt idx="6">
                  <c:v>1.0625000000000018</c:v>
                </c:pt>
                <c:pt idx="7">
                  <c:v>1.1291666666666678</c:v>
                </c:pt>
                <c:pt idx="8">
                  <c:v>1.2625000000000006</c:v>
                </c:pt>
                <c:pt idx="9">
                  <c:v>1.166666666666667</c:v>
                </c:pt>
                <c:pt idx="10">
                  <c:v>1.1916666666666664</c:v>
                </c:pt>
                <c:pt idx="11">
                  <c:v>1.4541666666666666</c:v>
                </c:pt>
                <c:pt idx="12">
                  <c:v>1.5249999999999999</c:v>
                </c:pt>
                <c:pt idx="13">
                  <c:v>1.4541666666666666</c:v>
                </c:pt>
                <c:pt idx="14">
                  <c:v>1.333333333333333</c:v>
                </c:pt>
                <c:pt idx="15">
                  <c:v>1.2458333333333327</c:v>
                </c:pt>
                <c:pt idx="16">
                  <c:v>1.1166666666666665</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1.0541666666666656</c:v>
                </c:pt>
                <c:pt idx="59">
                  <c:v>1.4291666666666658</c:v>
                </c:pt>
                <c:pt idx="60">
                  <c:v>1.6208333333333327</c:v>
                </c:pt>
                <c:pt idx="61">
                  <c:v>1.7541666666666669</c:v>
                </c:pt>
                <c:pt idx="62">
                  <c:v>1.7333333333333334</c:v>
                </c:pt>
                <c:pt idx="63">
                  <c:v>1.708333333333333</c:v>
                </c:pt>
                <c:pt idx="64">
                  <c:v>1.6083333333333338</c:v>
                </c:pt>
                <c:pt idx="65">
                  <c:v>1.5166666666666671</c:v>
                </c:pt>
                <c:pt idx="66">
                  <c:v>1.4833333333333334</c:v>
                </c:pt>
                <c:pt idx="67">
                  <c:v>1.6916666666666669</c:v>
                </c:pt>
                <c:pt idx="68">
                  <c:v>1.8833333333333337</c:v>
                </c:pt>
                <c:pt idx="69">
                  <c:v>1.5666666666666673</c:v>
                </c:pt>
                <c:pt idx="70">
                  <c:v>1.2916666666666674</c:v>
                </c:pt>
                <c:pt idx="71">
                  <c:v>1.008333333333334</c:v>
                </c:pt>
                <c:pt idx="72">
                  <c:v>1</c:v>
                </c:pt>
                <c:pt idx="73">
                  <c:v>1</c:v>
                </c:pt>
                <c:pt idx="74">
                  <c:v>1</c:v>
                </c:pt>
                <c:pt idx="75">
                  <c:v>1</c:v>
                </c:pt>
                <c:pt idx="76">
                  <c:v>1</c:v>
                </c:pt>
                <c:pt idx="77">
                  <c:v>1</c:v>
                </c:pt>
                <c:pt idx="78">
                  <c:v>1</c:v>
                </c:pt>
                <c:pt idx="79">
                  <c:v>1</c:v>
                </c:pt>
                <c:pt idx="80">
                  <c:v>1</c:v>
                </c:pt>
                <c:pt idx="81">
                  <c:v>1</c:v>
                </c:pt>
                <c:pt idx="82">
                  <c:v>1</c:v>
                </c:pt>
                <c:pt idx="83">
                  <c:v>1</c:v>
                </c:pt>
                <c:pt idx="84">
                  <c:v>1</c:v>
                </c:pt>
                <c:pt idx="85">
                  <c:v>1</c:v>
                </c:pt>
                <c:pt idx="86">
                  <c:v>1</c:v>
                </c:pt>
                <c:pt idx="87">
                  <c:v>1</c:v>
                </c:pt>
                <c:pt idx="88">
                  <c:v>1</c:v>
                </c:pt>
                <c:pt idx="89">
                  <c:v>1</c:v>
                </c:pt>
                <c:pt idx="90">
                  <c:v>1</c:v>
                </c:pt>
                <c:pt idx="91">
                  <c:v>1</c:v>
                </c:pt>
                <c:pt idx="92">
                  <c:v>1</c:v>
                </c:pt>
                <c:pt idx="93">
                  <c:v>1</c:v>
                </c:pt>
                <c:pt idx="94">
                  <c:v>1</c:v>
                </c:pt>
                <c:pt idx="95">
                  <c:v>1</c:v>
                </c:pt>
                <c:pt idx="96">
                  <c:v>1</c:v>
                </c:pt>
                <c:pt idx="97">
                  <c:v>1</c:v>
                </c:pt>
                <c:pt idx="98">
                  <c:v>1</c:v>
                </c:pt>
                <c:pt idx="99">
                  <c:v>1</c:v>
                </c:pt>
                <c:pt idx="100">
                  <c:v>1</c:v>
                </c:pt>
                <c:pt idx="101">
                  <c:v>1</c:v>
                </c:pt>
                <c:pt idx="102">
                  <c:v>1</c:v>
                </c:pt>
                <c:pt idx="103">
                  <c:v>1</c:v>
                </c:pt>
                <c:pt idx="104">
                  <c:v>1</c:v>
                </c:pt>
                <c:pt idx="105">
                  <c:v>1</c:v>
                </c:pt>
                <c:pt idx="106">
                  <c:v>1</c:v>
                </c:pt>
                <c:pt idx="107">
                  <c:v>1</c:v>
                </c:pt>
                <c:pt idx="108">
                  <c:v>1</c:v>
                </c:pt>
                <c:pt idx="109">
                  <c:v>1</c:v>
                </c:pt>
                <c:pt idx="110">
                  <c:v>1</c:v>
                </c:pt>
                <c:pt idx="111">
                  <c:v>1</c:v>
                </c:pt>
                <c:pt idx="112">
                  <c:v>1</c:v>
                </c:pt>
                <c:pt idx="113">
                  <c:v>1</c:v>
                </c:pt>
                <c:pt idx="114">
                  <c:v>1</c:v>
                </c:pt>
                <c:pt idx="115">
                  <c:v>1</c:v>
                </c:pt>
                <c:pt idx="116">
                  <c:v>1</c:v>
                </c:pt>
                <c:pt idx="117">
                  <c:v>1</c:v>
                </c:pt>
                <c:pt idx="118">
                  <c:v>1</c:v>
                </c:pt>
                <c:pt idx="119">
                  <c:v>1</c:v>
                </c:pt>
                <c:pt idx="120">
                  <c:v>1</c:v>
                </c:pt>
                <c:pt idx="121">
                  <c:v>1</c:v>
                </c:pt>
                <c:pt idx="122">
                  <c:v>1</c:v>
                </c:pt>
                <c:pt idx="123">
                  <c:v>1</c:v>
                </c:pt>
                <c:pt idx="124">
                  <c:v>1</c:v>
                </c:pt>
                <c:pt idx="125">
                  <c:v>1</c:v>
                </c:pt>
                <c:pt idx="126">
                  <c:v>1</c:v>
                </c:pt>
                <c:pt idx="127">
                  <c:v>1</c:v>
                </c:pt>
                <c:pt idx="128">
                  <c:v>1</c:v>
                </c:pt>
                <c:pt idx="129">
                  <c:v>1</c:v>
                </c:pt>
                <c:pt idx="130">
                  <c:v>1</c:v>
                </c:pt>
                <c:pt idx="131">
                  <c:v>1</c:v>
                </c:pt>
                <c:pt idx="132">
                  <c:v>1</c:v>
                </c:pt>
                <c:pt idx="133">
                  <c:v>1</c:v>
                </c:pt>
                <c:pt idx="134">
                  <c:v>1</c:v>
                </c:pt>
                <c:pt idx="135">
                  <c:v>1</c:v>
                </c:pt>
                <c:pt idx="136">
                  <c:v>1.0875000000000006</c:v>
                </c:pt>
                <c:pt idx="137">
                  <c:v>1.3375000000000004</c:v>
                </c:pt>
                <c:pt idx="138">
                  <c:v>1.7041666666666666</c:v>
                </c:pt>
                <c:pt idx="139">
                  <c:v>1.8708333333333336</c:v>
                </c:pt>
                <c:pt idx="140">
                  <c:v>1.333333333333333</c:v>
                </c:pt>
                <c:pt idx="141">
                  <c:v>1</c:v>
                </c:pt>
                <c:pt idx="142">
                  <c:v>1</c:v>
                </c:pt>
                <c:pt idx="143">
                  <c:v>1</c:v>
                </c:pt>
                <c:pt idx="144">
                  <c:v>1</c:v>
                </c:pt>
                <c:pt idx="145">
                  <c:v>1</c:v>
                </c:pt>
                <c:pt idx="146">
                  <c:v>1</c:v>
                </c:pt>
                <c:pt idx="147">
                  <c:v>1</c:v>
                </c:pt>
                <c:pt idx="148">
                  <c:v>1</c:v>
                </c:pt>
                <c:pt idx="149">
                  <c:v>1</c:v>
                </c:pt>
                <c:pt idx="150">
                  <c:v>1</c:v>
                </c:pt>
                <c:pt idx="151">
                  <c:v>1</c:v>
                </c:pt>
                <c:pt idx="152">
                  <c:v>1</c:v>
                </c:pt>
                <c:pt idx="153">
                  <c:v>1</c:v>
                </c:pt>
                <c:pt idx="154">
                  <c:v>1.1583333333333339</c:v>
                </c:pt>
                <c:pt idx="155">
                  <c:v>1.3583333333333334</c:v>
                </c:pt>
                <c:pt idx="156">
                  <c:v>1.6458333333333339</c:v>
                </c:pt>
                <c:pt idx="157">
                  <c:v>1.6541666666666668</c:v>
                </c:pt>
                <c:pt idx="158">
                  <c:v>1.3875000000000002</c:v>
                </c:pt>
                <c:pt idx="159">
                  <c:v>1.029166666666667</c:v>
                </c:pt>
                <c:pt idx="160">
                  <c:v>1</c:v>
                </c:pt>
                <c:pt idx="161">
                  <c:v>1</c:v>
                </c:pt>
                <c:pt idx="162">
                  <c:v>1</c:v>
                </c:pt>
                <c:pt idx="163">
                  <c:v>1</c:v>
                </c:pt>
                <c:pt idx="164">
                  <c:v>1</c:v>
                </c:pt>
                <c:pt idx="165">
                  <c:v>1</c:v>
                </c:pt>
                <c:pt idx="166">
                  <c:v>1</c:v>
                </c:pt>
                <c:pt idx="167">
                  <c:v>1</c:v>
                </c:pt>
                <c:pt idx="168">
                  <c:v>1</c:v>
                </c:pt>
                <c:pt idx="169">
                  <c:v>1.0416666666666659</c:v>
                </c:pt>
                <c:pt idx="170">
                  <c:v>1.2749999999999995</c:v>
                </c:pt>
                <c:pt idx="171">
                  <c:v>1.4958333333333327</c:v>
                </c:pt>
                <c:pt idx="172">
                  <c:v>1.5333333333333332</c:v>
                </c:pt>
                <c:pt idx="173">
                  <c:v>1.3625</c:v>
                </c:pt>
                <c:pt idx="174">
                  <c:v>1.3541666666666663</c:v>
                </c:pt>
                <c:pt idx="175">
                  <c:v>1.3375000000000001</c:v>
                </c:pt>
                <c:pt idx="176">
                  <c:v>1.4333333333333331</c:v>
                </c:pt>
                <c:pt idx="177">
                  <c:v>1.5291666666666668</c:v>
                </c:pt>
                <c:pt idx="178">
                  <c:v>1.4833333333333332</c:v>
                </c:pt>
                <c:pt idx="179">
                  <c:v>1.5958333333333332</c:v>
                </c:pt>
                <c:pt idx="180">
                  <c:v>1.6708333333333334</c:v>
                </c:pt>
                <c:pt idx="181">
                  <c:v>1.625</c:v>
                </c:pt>
                <c:pt idx="182">
                  <c:v>1.5041666666666667</c:v>
                </c:pt>
                <c:pt idx="183">
                  <c:v>1.3458333333333337</c:v>
                </c:pt>
                <c:pt idx="184">
                  <c:v>1.1958333333333333</c:v>
                </c:pt>
                <c:pt idx="185">
                  <c:v>1</c:v>
                </c:pt>
                <c:pt idx="186">
                  <c:v>1</c:v>
                </c:pt>
                <c:pt idx="187">
                  <c:v>1</c:v>
                </c:pt>
                <c:pt idx="188">
                  <c:v>1</c:v>
                </c:pt>
                <c:pt idx="189">
                  <c:v>1</c:v>
                </c:pt>
                <c:pt idx="190">
                  <c:v>1</c:v>
                </c:pt>
                <c:pt idx="191">
                  <c:v>1</c:v>
                </c:pt>
                <c:pt idx="192">
                  <c:v>1</c:v>
                </c:pt>
              </c:numCache>
            </c:numRef>
          </c:val>
          <c:smooth val="0"/>
        </c:ser>
        <c:dLbls>
          <c:showLegendKey val="0"/>
          <c:showVal val="0"/>
          <c:showCatName val="0"/>
          <c:showSerName val="0"/>
          <c:showPercent val="0"/>
          <c:showBubbleSize val="0"/>
        </c:dLbls>
        <c:marker val="1"/>
        <c:smooth val="0"/>
        <c:axId val="47567232"/>
        <c:axId val="47565440"/>
      </c:lineChart>
      <c:dateAx>
        <c:axId val="47558016"/>
        <c:scaling>
          <c:orientation val="minMax"/>
        </c:scaling>
        <c:delete val="0"/>
        <c:axPos val="b"/>
        <c:numFmt formatCode="m/d/yyyy" sourceLinked="0"/>
        <c:majorTickMark val="out"/>
        <c:minorTickMark val="none"/>
        <c:tickLblPos val="nextTo"/>
        <c:spPr>
          <a:ln>
            <a:solidFill>
              <a:schemeClr val="tx2"/>
            </a:solidFill>
          </a:ln>
        </c:spPr>
        <c:crossAx val="47563904"/>
        <c:crosses val="autoZero"/>
        <c:auto val="1"/>
        <c:lblOffset val="100"/>
        <c:baseTimeUnit val="months"/>
        <c:majorUnit val="12"/>
        <c:majorTimeUnit val="months"/>
      </c:dateAx>
      <c:valAx>
        <c:axId val="47563904"/>
        <c:scaling>
          <c:orientation val="minMax"/>
        </c:scaling>
        <c:delete val="0"/>
        <c:axPos val="l"/>
        <c:numFmt formatCode="General" sourceLinked="1"/>
        <c:majorTickMark val="out"/>
        <c:minorTickMark val="none"/>
        <c:tickLblPos val="nextTo"/>
        <c:spPr>
          <a:ln>
            <a:solidFill>
              <a:schemeClr val="tx2"/>
            </a:solidFill>
          </a:ln>
        </c:spPr>
        <c:crossAx val="47558016"/>
        <c:crosses val="autoZero"/>
        <c:crossBetween val="midCat"/>
      </c:valAx>
      <c:valAx>
        <c:axId val="47565440"/>
        <c:scaling>
          <c:orientation val="minMax"/>
          <c:max val="3"/>
          <c:min val="0.5"/>
        </c:scaling>
        <c:delete val="0"/>
        <c:axPos val="r"/>
        <c:numFmt formatCode="0.00" sourceLinked="1"/>
        <c:majorTickMark val="out"/>
        <c:minorTickMark val="none"/>
        <c:tickLblPos val="nextTo"/>
        <c:crossAx val="47567232"/>
        <c:crosses val="max"/>
        <c:crossBetween val="between"/>
      </c:valAx>
      <c:dateAx>
        <c:axId val="47567232"/>
        <c:scaling>
          <c:orientation val="minMax"/>
        </c:scaling>
        <c:delete val="1"/>
        <c:axPos val="b"/>
        <c:numFmt formatCode="m/d/yyyy" sourceLinked="1"/>
        <c:majorTickMark val="out"/>
        <c:minorTickMark val="none"/>
        <c:tickLblPos val="nextTo"/>
        <c:crossAx val="47565440"/>
        <c:crosses val="autoZero"/>
        <c:auto val="1"/>
        <c:lblOffset val="100"/>
        <c:baseTimeUnit val="months"/>
      </c:dateAx>
    </c:plotArea>
    <c:legend>
      <c:legendPos val="r"/>
      <c:layout>
        <c:manualLayout>
          <c:xMode val="edge"/>
          <c:yMode val="edge"/>
          <c:x val="0.80502648913677244"/>
          <c:y val="2.3925106403014106E-2"/>
          <c:w val="0.14044906070252097"/>
          <c:h val="0.22448270175158688"/>
        </c:manualLayout>
      </c:layout>
      <c:overlay val="1"/>
    </c:legend>
    <c:plotVisOnly val="1"/>
    <c:dispBlanksAs val="gap"/>
    <c:showDLblsOverMax val="0"/>
  </c:chart>
  <c:txPr>
    <a:bodyPr/>
    <a:lstStyle/>
    <a:p>
      <a:pPr>
        <a:defRPr sz="800">
          <a:solidFill>
            <a:schemeClr val="tx2"/>
          </a:solidFill>
          <a:latin typeface="Arial Unicode MS" pitchFamily="34" charset="-122"/>
          <a:ea typeface="Arial Unicode MS" pitchFamily="34" charset="-122"/>
          <a:cs typeface="Arial Unicode MS" pitchFamily="34" charset="-122"/>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1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4738" name="Rectangle 2"/>
          <p:cNvSpPr>
            <a:spLocks noGrp="1" noChangeArrowheads="1"/>
          </p:cNvSpPr>
          <p:nvPr>
            <p:ph type="hdr" sz="quarter"/>
          </p:nvPr>
        </p:nvSpPr>
        <p:spPr bwMode="auto">
          <a:xfrm>
            <a:off x="2" y="5"/>
            <a:ext cx="3038161" cy="463541"/>
          </a:xfrm>
          <a:prstGeom prst="rect">
            <a:avLst/>
          </a:prstGeom>
          <a:noFill/>
          <a:ln w="9525">
            <a:noFill/>
            <a:miter lim="800000"/>
            <a:headEnd/>
            <a:tailEnd/>
          </a:ln>
        </p:spPr>
        <p:txBody>
          <a:bodyPr vert="horz" wrap="square" lIns="92433" tIns="46215" rIns="92433" bIns="46215" numCol="1" anchor="t" anchorCtr="0" compatLnSpc="1">
            <a:prstTxWarp prst="textNoShape">
              <a:avLst/>
            </a:prstTxWarp>
          </a:bodyPr>
          <a:lstStyle>
            <a:lvl1pPr defTabSz="921588">
              <a:defRPr sz="1300">
                <a:latin typeface="Arial" charset="0"/>
              </a:defRPr>
            </a:lvl1pPr>
          </a:lstStyle>
          <a:p>
            <a:pPr>
              <a:defRPr/>
            </a:pPr>
            <a:endParaRPr lang="en-US" dirty="0"/>
          </a:p>
        </p:txBody>
      </p:sp>
      <p:sp>
        <p:nvSpPr>
          <p:cNvPr id="244739" name="Rectangle 3"/>
          <p:cNvSpPr>
            <a:spLocks noGrp="1" noChangeArrowheads="1"/>
          </p:cNvSpPr>
          <p:nvPr>
            <p:ph type="dt" sz="quarter" idx="1"/>
          </p:nvPr>
        </p:nvSpPr>
        <p:spPr bwMode="auto">
          <a:xfrm>
            <a:off x="3970640" y="5"/>
            <a:ext cx="3038161" cy="463541"/>
          </a:xfrm>
          <a:prstGeom prst="rect">
            <a:avLst/>
          </a:prstGeom>
          <a:noFill/>
          <a:ln w="9525">
            <a:noFill/>
            <a:miter lim="800000"/>
            <a:headEnd/>
            <a:tailEnd/>
          </a:ln>
        </p:spPr>
        <p:txBody>
          <a:bodyPr vert="horz" wrap="square" lIns="92433" tIns="46215" rIns="92433" bIns="46215" numCol="1" anchor="t" anchorCtr="0" compatLnSpc="1">
            <a:prstTxWarp prst="textNoShape">
              <a:avLst/>
            </a:prstTxWarp>
          </a:bodyPr>
          <a:lstStyle>
            <a:lvl1pPr algn="r" defTabSz="921588">
              <a:defRPr sz="1300">
                <a:latin typeface="Arial" charset="0"/>
              </a:defRPr>
            </a:lvl1pPr>
          </a:lstStyle>
          <a:p>
            <a:pPr>
              <a:defRPr/>
            </a:pPr>
            <a:endParaRPr lang="en-US" dirty="0"/>
          </a:p>
        </p:txBody>
      </p:sp>
      <p:sp>
        <p:nvSpPr>
          <p:cNvPr id="244740" name="Rectangle 4"/>
          <p:cNvSpPr>
            <a:spLocks noGrp="1" noChangeArrowheads="1"/>
          </p:cNvSpPr>
          <p:nvPr>
            <p:ph type="ftr" sz="quarter" idx="2"/>
          </p:nvPr>
        </p:nvSpPr>
        <p:spPr bwMode="auto">
          <a:xfrm>
            <a:off x="2" y="8831269"/>
            <a:ext cx="3038161" cy="463541"/>
          </a:xfrm>
          <a:prstGeom prst="rect">
            <a:avLst/>
          </a:prstGeom>
          <a:noFill/>
          <a:ln w="9525">
            <a:noFill/>
            <a:miter lim="800000"/>
            <a:headEnd/>
            <a:tailEnd/>
          </a:ln>
        </p:spPr>
        <p:txBody>
          <a:bodyPr vert="horz" wrap="square" lIns="92433" tIns="46215" rIns="92433" bIns="46215" numCol="1" anchor="b" anchorCtr="0" compatLnSpc="1">
            <a:prstTxWarp prst="textNoShape">
              <a:avLst/>
            </a:prstTxWarp>
          </a:bodyPr>
          <a:lstStyle>
            <a:lvl1pPr defTabSz="921588">
              <a:defRPr sz="1300">
                <a:latin typeface="Arial" charset="0"/>
              </a:defRPr>
            </a:lvl1pPr>
          </a:lstStyle>
          <a:p>
            <a:pPr>
              <a:defRPr/>
            </a:pPr>
            <a:endParaRPr lang="en-US" dirty="0"/>
          </a:p>
        </p:txBody>
      </p:sp>
      <p:sp>
        <p:nvSpPr>
          <p:cNvPr id="244741" name="Rectangle 5"/>
          <p:cNvSpPr>
            <a:spLocks noGrp="1" noChangeArrowheads="1"/>
          </p:cNvSpPr>
          <p:nvPr>
            <p:ph type="sldNum" sz="quarter" idx="3"/>
          </p:nvPr>
        </p:nvSpPr>
        <p:spPr bwMode="auto">
          <a:xfrm>
            <a:off x="3970640" y="8831269"/>
            <a:ext cx="3038161" cy="463541"/>
          </a:xfrm>
          <a:prstGeom prst="rect">
            <a:avLst/>
          </a:prstGeom>
          <a:noFill/>
          <a:ln w="9525">
            <a:noFill/>
            <a:miter lim="800000"/>
            <a:headEnd/>
            <a:tailEnd/>
          </a:ln>
        </p:spPr>
        <p:txBody>
          <a:bodyPr vert="horz" wrap="square" lIns="92433" tIns="46215" rIns="92433" bIns="46215" numCol="1" anchor="b" anchorCtr="0" compatLnSpc="1">
            <a:prstTxWarp prst="textNoShape">
              <a:avLst/>
            </a:prstTxWarp>
          </a:bodyPr>
          <a:lstStyle>
            <a:lvl1pPr algn="r" defTabSz="921588">
              <a:defRPr sz="1300">
                <a:latin typeface="Arial" charset="0"/>
              </a:defRPr>
            </a:lvl1pPr>
          </a:lstStyle>
          <a:p>
            <a:pPr>
              <a:defRPr/>
            </a:pPr>
            <a:fld id="{BDCE5F9F-0CCF-4CAC-B31C-496A1DC3068E}" type="slidenum">
              <a:rPr lang="en-US"/>
              <a:pPr>
                <a:defRPr/>
              </a:pPr>
              <a:t>‹#›</a:t>
            </a:fld>
            <a:endParaRPr lang="en-US" dirty="0"/>
          </a:p>
        </p:txBody>
      </p:sp>
    </p:spTree>
    <p:extLst>
      <p:ext uri="{BB962C8B-B14F-4D97-AF65-F5344CB8AC3E}">
        <p14:creationId xmlns:p14="http://schemas.microsoft.com/office/powerpoint/2010/main" val="8606462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1730" name="Rectangle 2"/>
          <p:cNvSpPr>
            <a:spLocks noGrp="1" noChangeArrowheads="1"/>
          </p:cNvSpPr>
          <p:nvPr>
            <p:ph type="hdr" sz="quarter"/>
          </p:nvPr>
        </p:nvSpPr>
        <p:spPr bwMode="auto">
          <a:xfrm>
            <a:off x="2" y="5"/>
            <a:ext cx="3038161" cy="463541"/>
          </a:xfrm>
          <a:prstGeom prst="rect">
            <a:avLst/>
          </a:prstGeom>
          <a:noFill/>
          <a:ln w="9525">
            <a:noFill/>
            <a:miter lim="800000"/>
            <a:headEnd/>
            <a:tailEnd/>
          </a:ln>
        </p:spPr>
        <p:txBody>
          <a:bodyPr vert="horz" wrap="square" lIns="92433" tIns="46215" rIns="92433" bIns="46215" numCol="1" anchor="t" anchorCtr="0" compatLnSpc="1">
            <a:prstTxWarp prst="textNoShape">
              <a:avLst/>
            </a:prstTxWarp>
          </a:bodyPr>
          <a:lstStyle>
            <a:lvl1pPr defTabSz="921588">
              <a:defRPr sz="1300">
                <a:latin typeface="Arial" charset="0"/>
              </a:defRPr>
            </a:lvl1pPr>
          </a:lstStyle>
          <a:p>
            <a:pPr>
              <a:defRPr/>
            </a:pPr>
            <a:endParaRPr lang="en-US" dirty="0"/>
          </a:p>
        </p:txBody>
      </p:sp>
      <p:sp>
        <p:nvSpPr>
          <p:cNvPr id="201731" name="Rectangle 3"/>
          <p:cNvSpPr>
            <a:spLocks noGrp="1" noChangeArrowheads="1"/>
          </p:cNvSpPr>
          <p:nvPr>
            <p:ph type="dt" idx="1"/>
          </p:nvPr>
        </p:nvSpPr>
        <p:spPr bwMode="auto">
          <a:xfrm>
            <a:off x="3970640" y="5"/>
            <a:ext cx="3038161" cy="463541"/>
          </a:xfrm>
          <a:prstGeom prst="rect">
            <a:avLst/>
          </a:prstGeom>
          <a:noFill/>
          <a:ln w="9525">
            <a:noFill/>
            <a:miter lim="800000"/>
            <a:headEnd/>
            <a:tailEnd/>
          </a:ln>
        </p:spPr>
        <p:txBody>
          <a:bodyPr vert="horz" wrap="square" lIns="92433" tIns="46215" rIns="92433" bIns="46215" numCol="1" anchor="t" anchorCtr="0" compatLnSpc="1">
            <a:prstTxWarp prst="textNoShape">
              <a:avLst/>
            </a:prstTxWarp>
          </a:bodyPr>
          <a:lstStyle>
            <a:lvl1pPr algn="r" defTabSz="921588">
              <a:defRPr sz="1300">
                <a:latin typeface="Arial" charset="0"/>
              </a:defRPr>
            </a:lvl1pPr>
          </a:lstStyle>
          <a:p>
            <a:pPr>
              <a:defRPr/>
            </a:pPr>
            <a:endParaRPr lang="en-US" dirty="0"/>
          </a:p>
        </p:txBody>
      </p:sp>
      <p:sp>
        <p:nvSpPr>
          <p:cNvPr id="87044" name="Rectangle 4"/>
          <p:cNvSpPr>
            <a:spLocks noGrp="1" noRot="1" noChangeAspect="1" noChangeArrowheads="1" noTextEdit="1"/>
          </p:cNvSpPr>
          <p:nvPr>
            <p:ph type="sldImg" idx="2"/>
          </p:nvPr>
        </p:nvSpPr>
        <p:spPr bwMode="auto">
          <a:xfrm>
            <a:off x="1249363" y="698500"/>
            <a:ext cx="4511675" cy="3486150"/>
          </a:xfrm>
          <a:prstGeom prst="rect">
            <a:avLst/>
          </a:prstGeom>
          <a:noFill/>
          <a:ln w="9525">
            <a:solidFill>
              <a:srgbClr val="000000"/>
            </a:solidFill>
            <a:miter lim="800000"/>
            <a:headEnd/>
            <a:tailEnd/>
          </a:ln>
        </p:spPr>
      </p:sp>
      <p:sp>
        <p:nvSpPr>
          <p:cNvPr id="201733" name="Rectangle 5"/>
          <p:cNvSpPr>
            <a:spLocks noGrp="1" noChangeArrowheads="1"/>
          </p:cNvSpPr>
          <p:nvPr>
            <p:ph type="body" sz="quarter" idx="3"/>
          </p:nvPr>
        </p:nvSpPr>
        <p:spPr bwMode="auto">
          <a:xfrm>
            <a:off x="701363" y="4416436"/>
            <a:ext cx="5607678" cy="4181463"/>
          </a:xfrm>
          <a:prstGeom prst="rect">
            <a:avLst/>
          </a:prstGeom>
          <a:noFill/>
          <a:ln w="9525">
            <a:noFill/>
            <a:miter lim="800000"/>
            <a:headEnd/>
            <a:tailEnd/>
          </a:ln>
        </p:spPr>
        <p:txBody>
          <a:bodyPr vert="horz" wrap="square" lIns="92433" tIns="46215" rIns="92433" bIns="46215"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201734" name="Rectangle 6"/>
          <p:cNvSpPr>
            <a:spLocks noGrp="1" noChangeArrowheads="1"/>
          </p:cNvSpPr>
          <p:nvPr>
            <p:ph type="ftr" sz="quarter" idx="4"/>
          </p:nvPr>
        </p:nvSpPr>
        <p:spPr bwMode="auto">
          <a:xfrm>
            <a:off x="2" y="8831269"/>
            <a:ext cx="3038161" cy="463541"/>
          </a:xfrm>
          <a:prstGeom prst="rect">
            <a:avLst/>
          </a:prstGeom>
          <a:noFill/>
          <a:ln w="9525">
            <a:noFill/>
            <a:miter lim="800000"/>
            <a:headEnd/>
            <a:tailEnd/>
          </a:ln>
        </p:spPr>
        <p:txBody>
          <a:bodyPr vert="horz" wrap="square" lIns="92433" tIns="46215" rIns="92433" bIns="46215" numCol="1" anchor="b" anchorCtr="0" compatLnSpc="1">
            <a:prstTxWarp prst="textNoShape">
              <a:avLst/>
            </a:prstTxWarp>
          </a:bodyPr>
          <a:lstStyle>
            <a:lvl1pPr defTabSz="921588">
              <a:defRPr sz="1300">
                <a:latin typeface="Arial" charset="0"/>
              </a:defRPr>
            </a:lvl1pPr>
          </a:lstStyle>
          <a:p>
            <a:pPr>
              <a:defRPr/>
            </a:pPr>
            <a:endParaRPr lang="en-US" dirty="0"/>
          </a:p>
        </p:txBody>
      </p:sp>
      <p:sp>
        <p:nvSpPr>
          <p:cNvPr id="201735" name="Rectangle 7"/>
          <p:cNvSpPr>
            <a:spLocks noGrp="1" noChangeArrowheads="1"/>
          </p:cNvSpPr>
          <p:nvPr>
            <p:ph type="sldNum" sz="quarter" idx="5"/>
          </p:nvPr>
        </p:nvSpPr>
        <p:spPr bwMode="auto">
          <a:xfrm>
            <a:off x="3970640" y="8831269"/>
            <a:ext cx="3038161" cy="463541"/>
          </a:xfrm>
          <a:prstGeom prst="rect">
            <a:avLst/>
          </a:prstGeom>
          <a:noFill/>
          <a:ln w="9525">
            <a:noFill/>
            <a:miter lim="800000"/>
            <a:headEnd/>
            <a:tailEnd/>
          </a:ln>
        </p:spPr>
        <p:txBody>
          <a:bodyPr vert="horz" wrap="square" lIns="92433" tIns="46215" rIns="92433" bIns="46215" numCol="1" anchor="b" anchorCtr="0" compatLnSpc="1">
            <a:prstTxWarp prst="textNoShape">
              <a:avLst/>
            </a:prstTxWarp>
          </a:bodyPr>
          <a:lstStyle>
            <a:lvl1pPr algn="r" defTabSz="921588">
              <a:defRPr sz="1300">
                <a:latin typeface="Arial" charset="0"/>
              </a:defRPr>
            </a:lvl1pPr>
          </a:lstStyle>
          <a:p>
            <a:pPr>
              <a:defRPr/>
            </a:pPr>
            <a:fld id="{993BEEDA-D9FC-4A9F-BB3F-83B0CB940930}" type="slidenum">
              <a:rPr lang="en-US"/>
              <a:pPr>
                <a:defRPr/>
              </a:pPr>
              <a:t>‹#›</a:t>
            </a:fld>
            <a:endParaRPr lang="en-US" dirty="0"/>
          </a:p>
        </p:txBody>
      </p:sp>
    </p:spTree>
    <p:extLst>
      <p:ext uri="{BB962C8B-B14F-4D97-AF65-F5344CB8AC3E}">
        <p14:creationId xmlns:p14="http://schemas.microsoft.com/office/powerpoint/2010/main" val="192646559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300" kern="1200">
        <a:solidFill>
          <a:schemeClr val="tx1"/>
        </a:solidFill>
        <a:latin typeface="Arial" charset="0"/>
        <a:ea typeface="+mn-ea"/>
        <a:cs typeface="+mn-cs"/>
      </a:defRPr>
    </a:lvl1pPr>
    <a:lvl2pPr marL="507526" algn="l" rtl="0" eaLnBrk="0" fontAlgn="base" hangingPunct="0">
      <a:spcBef>
        <a:spcPct val="30000"/>
      </a:spcBef>
      <a:spcAft>
        <a:spcPct val="0"/>
      </a:spcAft>
      <a:defRPr sz="1300" kern="1200">
        <a:solidFill>
          <a:schemeClr val="tx1"/>
        </a:solidFill>
        <a:latin typeface="Arial" charset="0"/>
        <a:ea typeface="+mn-ea"/>
        <a:cs typeface="+mn-cs"/>
      </a:defRPr>
    </a:lvl2pPr>
    <a:lvl3pPr marL="1016818" algn="l" rtl="0" eaLnBrk="0" fontAlgn="base" hangingPunct="0">
      <a:spcBef>
        <a:spcPct val="30000"/>
      </a:spcBef>
      <a:spcAft>
        <a:spcPct val="0"/>
      </a:spcAft>
      <a:defRPr sz="1300" kern="1200">
        <a:solidFill>
          <a:schemeClr val="tx1"/>
        </a:solidFill>
        <a:latin typeface="Arial" charset="0"/>
        <a:ea typeface="+mn-ea"/>
        <a:cs typeface="+mn-cs"/>
      </a:defRPr>
    </a:lvl3pPr>
    <a:lvl4pPr marL="1526111" algn="l" rtl="0" eaLnBrk="0" fontAlgn="base" hangingPunct="0">
      <a:spcBef>
        <a:spcPct val="30000"/>
      </a:spcBef>
      <a:spcAft>
        <a:spcPct val="0"/>
      </a:spcAft>
      <a:defRPr sz="1300" kern="1200">
        <a:solidFill>
          <a:schemeClr val="tx1"/>
        </a:solidFill>
        <a:latin typeface="Arial" charset="0"/>
        <a:ea typeface="+mn-ea"/>
        <a:cs typeface="+mn-cs"/>
      </a:defRPr>
    </a:lvl4pPr>
    <a:lvl5pPr marL="2035405" algn="l" rtl="0" eaLnBrk="0" fontAlgn="base" hangingPunct="0">
      <a:spcBef>
        <a:spcPct val="30000"/>
      </a:spcBef>
      <a:spcAft>
        <a:spcPct val="0"/>
      </a:spcAft>
      <a:defRPr sz="1300" kern="1200">
        <a:solidFill>
          <a:schemeClr val="tx1"/>
        </a:solidFill>
        <a:latin typeface="Arial" charset="0"/>
        <a:ea typeface="+mn-ea"/>
        <a:cs typeface="+mn-cs"/>
      </a:defRPr>
    </a:lvl5pPr>
    <a:lvl6pPr marL="2546180" algn="l" defTabSz="1018472" rtl="0" eaLnBrk="1" latinLnBrk="0" hangingPunct="1">
      <a:defRPr sz="1300" kern="1200">
        <a:solidFill>
          <a:schemeClr val="tx1"/>
        </a:solidFill>
        <a:latin typeface="+mn-lt"/>
        <a:ea typeface="+mn-ea"/>
        <a:cs typeface="+mn-cs"/>
      </a:defRPr>
    </a:lvl6pPr>
    <a:lvl7pPr marL="3055417" algn="l" defTabSz="1018472" rtl="0" eaLnBrk="1" latinLnBrk="0" hangingPunct="1">
      <a:defRPr sz="1300" kern="1200">
        <a:solidFill>
          <a:schemeClr val="tx1"/>
        </a:solidFill>
        <a:latin typeface="+mn-lt"/>
        <a:ea typeface="+mn-ea"/>
        <a:cs typeface="+mn-cs"/>
      </a:defRPr>
    </a:lvl7pPr>
    <a:lvl8pPr marL="3564653" algn="l" defTabSz="1018472" rtl="0" eaLnBrk="1" latinLnBrk="0" hangingPunct="1">
      <a:defRPr sz="1300" kern="1200">
        <a:solidFill>
          <a:schemeClr val="tx1"/>
        </a:solidFill>
        <a:latin typeface="+mn-lt"/>
        <a:ea typeface="+mn-ea"/>
        <a:cs typeface="+mn-cs"/>
      </a:defRPr>
    </a:lvl8pPr>
    <a:lvl9pPr marL="4073887" algn="l" defTabSz="1018472" rtl="0" eaLnBrk="1" latinLnBrk="0" hangingPunct="1">
      <a:defRPr sz="1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Slide Image Placeholder 1"/>
          <p:cNvSpPr>
            <a:spLocks noGrp="1" noRot="1" noChangeAspect="1"/>
          </p:cNvSpPr>
          <p:nvPr>
            <p:ph type="sldImg"/>
          </p:nvPr>
        </p:nvSpPr>
        <p:spPr>
          <a:xfrm>
            <a:off x="1249363" y="698500"/>
            <a:ext cx="4511675" cy="3486150"/>
          </a:xfrm>
          <a:ln/>
        </p:spPr>
      </p:sp>
      <p:sp>
        <p:nvSpPr>
          <p:cNvPr id="90114" name="Notes Placeholder 2"/>
          <p:cNvSpPr>
            <a:spLocks noGrp="1"/>
          </p:cNvSpPr>
          <p:nvPr>
            <p:ph type="body" idx="1"/>
          </p:nvPr>
        </p:nvSpPr>
        <p:spPr>
          <a:noFill/>
          <a:ln/>
        </p:spPr>
        <p:txBody>
          <a:bodyPr/>
          <a:lstStyle/>
          <a:p>
            <a:pPr eaLnBrk="1" hangingPunct="1"/>
            <a:endParaRPr lang="en-US" dirty="0" smtClean="0"/>
          </a:p>
        </p:txBody>
      </p:sp>
      <p:sp>
        <p:nvSpPr>
          <p:cNvPr id="90115" name="Slide Number Placeholder 3"/>
          <p:cNvSpPr>
            <a:spLocks noGrp="1"/>
          </p:cNvSpPr>
          <p:nvPr>
            <p:ph type="sldNum" sz="quarter" idx="5"/>
          </p:nvPr>
        </p:nvSpPr>
        <p:spPr>
          <a:noFill/>
        </p:spPr>
        <p:txBody>
          <a:bodyPr/>
          <a:lstStyle/>
          <a:p>
            <a:pPr defTabSz="919996"/>
            <a:fld id="{1FE077EC-684A-4FD9-A6C3-9AE90D8B81D6}" type="slidenum">
              <a:rPr lang="en-US" smtClean="0"/>
              <a:pPr defTabSz="919996"/>
              <a:t>1</a:t>
            </a:fld>
            <a:endParaRPr lang="en-US" dirty="0"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35" indent="0" algn="ctr">
              <a:buNone/>
              <a:defRPr/>
            </a:lvl2pPr>
            <a:lvl3pPr marL="1018472" indent="0" algn="ctr">
              <a:buNone/>
              <a:defRPr/>
            </a:lvl3pPr>
            <a:lvl4pPr marL="1527709" indent="0" algn="ctr">
              <a:buNone/>
              <a:defRPr/>
            </a:lvl4pPr>
            <a:lvl5pPr marL="2036945" indent="0" algn="ctr">
              <a:buNone/>
              <a:defRPr/>
            </a:lvl5pPr>
            <a:lvl6pPr marL="2546180" indent="0" algn="ctr">
              <a:buNone/>
              <a:defRPr/>
            </a:lvl6pPr>
            <a:lvl7pPr marL="3055417" indent="0" algn="ctr">
              <a:buNone/>
              <a:defRPr/>
            </a:lvl7pPr>
            <a:lvl8pPr marL="3564653" indent="0" algn="ctr">
              <a:buNone/>
              <a:defRPr/>
            </a:lvl8pPr>
            <a:lvl9pPr marL="4073887" indent="0" algn="ctr">
              <a:buNone/>
              <a:defRPr/>
            </a:lvl9pPr>
          </a:lstStyle>
          <a:p>
            <a:r>
              <a:rPr lang="en-US" smtClean="0"/>
              <a:t>Click to edit Master subtitle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3"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3088" indent="-234895">
              <a:defRPr sz="1200">
                <a:latin typeface="+mn-lt"/>
              </a:defRPr>
            </a:lvl4pPr>
            <a:lvl5pPr marL="1025285" indent="-222198">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1"/>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1"/>
            <a:ext cx="8549640" cy="1700212"/>
          </a:xfrm>
        </p:spPr>
        <p:txBody>
          <a:bodyPr anchor="b"/>
          <a:lstStyle>
            <a:lvl1pPr marL="0" indent="0">
              <a:buNone/>
              <a:defRPr sz="2200"/>
            </a:lvl1pPr>
            <a:lvl2pPr marL="509235" indent="0">
              <a:buNone/>
              <a:defRPr sz="2000"/>
            </a:lvl2pPr>
            <a:lvl3pPr marL="1018472" indent="0">
              <a:buNone/>
              <a:defRPr sz="1800"/>
            </a:lvl3pPr>
            <a:lvl4pPr marL="1527709" indent="0">
              <a:buNone/>
              <a:defRPr sz="1600"/>
            </a:lvl4pPr>
            <a:lvl5pPr marL="2036945" indent="0">
              <a:buNone/>
              <a:defRPr sz="1600"/>
            </a:lvl5pPr>
            <a:lvl6pPr marL="2546180" indent="0">
              <a:buNone/>
              <a:defRPr sz="1600"/>
            </a:lvl6pPr>
            <a:lvl7pPr marL="3055417" indent="0">
              <a:buNone/>
              <a:defRPr sz="1600"/>
            </a:lvl7pPr>
            <a:lvl8pPr marL="3564653" indent="0">
              <a:buNone/>
              <a:defRPr sz="1600"/>
            </a:lvl8pPr>
            <a:lvl9pPr marL="4073887" indent="0">
              <a:buNone/>
              <a:defRPr sz="16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78"/>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78"/>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91418" tIns="45710" rIns="91418" bIns="45710"/>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92" indent="0" algn="ctr">
              <a:buNone/>
              <a:defRPr/>
            </a:lvl2pPr>
            <a:lvl3pPr marL="1018586" indent="0" algn="ctr">
              <a:buNone/>
              <a:defRPr/>
            </a:lvl3pPr>
            <a:lvl4pPr marL="1527879" indent="0" algn="ctr">
              <a:buNone/>
              <a:defRPr/>
            </a:lvl4pPr>
            <a:lvl5pPr marL="2037173" indent="0" algn="ctr">
              <a:buNone/>
              <a:defRPr/>
            </a:lvl5pPr>
            <a:lvl6pPr marL="2546466" indent="0" algn="ctr">
              <a:buNone/>
              <a:defRPr/>
            </a:lvl6pPr>
            <a:lvl7pPr marL="3055758" indent="0" algn="ctr">
              <a:buNone/>
              <a:defRPr/>
            </a:lvl7pPr>
            <a:lvl8pPr marL="3565052" indent="0" algn="ctr">
              <a:buNone/>
              <a:defRPr/>
            </a:lvl8pPr>
            <a:lvl9pPr marL="4074344" indent="0" algn="ctr">
              <a:buNone/>
              <a:defRPr/>
            </a:lvl9pPr>
          </a:lstStyle>
          <a:p>
            <a:r>
              <a:rPr lang="en-US" smtClean="0"/>
              <a:t>Click to edit Master subtitle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lIns="91418" tIns="45710" rIns="91418" bIns="45710"/>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306195" y="43183"/>
            <a:ext cx="8574088" cy="609918"/>
          </a:xfrm>
          <a:prstGeom prst="rect">
            <a:avLst/>
          </a:prstGeom>
        </p:spPr>
        <p:txBody>
          <a:bodyPr lIns="91418" tIns="45710" rIns="91418" bIns="45710"/>
          <a:lstStyle/>
          <a:p>
            <a:r>
              <a:rPr lang="en-US" dirty="0" smtClean="0"/>
              <a:t>Click to edit Master title style</a:t>
            </a:r>
            <a:endParaRPr lang="en-US" dirty="0"/>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a:prstGeom prst="rect">
            <a:avLst/>
          </a:prstGeom>
        </p:spPr>
        <p:txBody>
          <a:bodyPr lIns="101847" tIns="50923" rIns="101847" bIns="50923"/>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a:prstGeom prst="rect">
            <a:avLst/>
          </a:prstGeom>
        </p:spPr>
        <p:txBody>
          <a:bodyPr lIns="101847" tIns="50923" rIns="101847" bIns="50923"/>
          <a:lstStyle>
            <a:lvl1pPr marL="0" indent="0" algn="ctr">
              <a:buNone/>
              <a:defRPr/>
            </a:lvl1pPr>
            <a:lvl2pPr marL="509235" indent="0" algn="ctr">
              <a:buNone/>
              <a:defRPr/>
            </a:lvl2pPr>
            <a:lvl3pPr marL="1018472" indent="0" algn="ctr">
              <a:buNone/>
              <a:defRPr/>
            </a:lvl3pPr>
            <a:lvl4pPr marL="1527709" indent="0" algn="ctr">
              <a:buNone/>
              <a:defRPr/>
            </a:lvl4pPr>
            <a:lvl5pPr marL="2036945" indent="0" algn="ctr">
              <a:buNone/>
              <a:defRPr/>
            </a:lvl5pPr>
            <a:lvl6pPr marL="2546180" indent="0" algn="ctr">
              <a:buNone/>
              <a:defRPr/>
            </a:lvl6pPr>
            <a:lvl7pPr marL="3055417" indent="0" algn="ctr">
              <a:buNone/>
              <a:defRPr/>
            </a:lvl7pPr>
            <a:lvl8pPr marL="3564653" indent="0" algn="ctr">
              <a:buNone/>
              <a:defRPr/>
            </a:lvl8pPr>
            <a:lvl9pPr marL="4073887" indent="0" algn="ctr">
              <a:buNone/>
              <a:defRPr/>
            </a:lvl9pPr>
          </a:lstStyle>
          <a:p>
            <a:r>
              <a:rPr lang="en-US" smtClean="0"/>
              <a:t>Click to edit Master subtitle style</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101858" tIns="50929" rIns="101858" bIns="50929"/>
          <a:lstStyle/>
          <a:p>
            <a:r>
              <a:rPr lang="en-US"/>
              <a:t>Click to edit Master title style</a:t>
            </a:r>
          </a:p>
        </p:txBody>
      </p:sp>
      <p:sp>
        <p:nvSpPr>
          <p:cNvPr id="3" name="Subtitle 2"/>
          <p:cNvSpPr>
            <a:spLocks noGrp="1"/>
          </p:cNvSpPr>
          <p:nvPr>
            <p:ph type="subTitle" idx="1"/>
          </p:nvPr>
        </p:nvSpPr>
        <p:spPr>
          <a:xfrm>
            <a:off x="1508760" y="4404360"/>
            <a:ext cx="7040880" cy="1986280"/>
          </a:xfrm>
          <a:prstGeom prst="rect">
            <a:avLst/>
          </a:prstGeom>
        </p:spPr>
        <p:txBody>
          <a:bodyPr lIns="101858" tIns="50929" rIns="101858" bIns="50929"/>
          <a:lstStyle>
            <a:lvl1pPr marL="0" indent="0" algn="ctr">
              <a:buNone/>
              <a:defRPr/>
            </a:lvl1pPr>
            <a:lvl2pPr marL="509292" indent="0" algn="ctr">
              <a:buNone/>
              <a:defRPr/>
            </a:lvl2pPr>
            <a:lvl3pPr marL="1018586" indent="0" algn="ctr">
              <a:buNone/>
              <a:defRPr/>
            </a:lvl3pPr>
            <a:lvl4pPr marL="1527879" indent="0" algn="ctr">
              <a:buNone/>
              <a:defRPr/>
            </a:lvl4pPr>
            <a:lvl5pPr marL="2037173" indent="0" algn="ctr">
              <a:buNone/>
              <a:defRPr/>
            </a:lvl5pPr>
            <a:lvl6pPr marL="2546466" indent="0" algn="ctr">
              <a:buNone/>
              <a:defRPr/>
            </a:lvl6pPr>
            <a:lvl7pPr marL="3055758" indent="0" algn="ctr">
              <a:buNone/>
              <a:defRPr/>
            </a:lvl7pPr>
            <a:lvl8pPr marL="3565052" indent="0" algn="ctr">
              <a:buNone/>
              <a:defRPr/>
            </a:lvl8pPr>
            <a:lvl9pPr marL="4074344" indent="0" algn="ctr">
              <a:buNone/>
              <a:defRPr/>
            </a:lvl9pPr>
          </a:lstStyle>
          <a:p>
            <a:r>
              <a:rPr lang="en-US"/>
              <a:t>Click to edit Master subtitle style</a:t>
            </a:r>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06195" y="176176"/>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91627" y="6521118"/>
            <a:ext cx="9454198" cy="915732"/>
          </a:xfrm>
          <a:prstGeom prst="rect">
            <a:avLst/>
          </a:prstGeom>
        </p:spPr>
        <p:txBody>
          <a:bodyPr lIns="91418" tIns="45710" rIns="91418" bIns="45710"/>
          <a:lstStyle/>
          <a:p>
            <a:r>
              <a:rPr lang="en-US" smtClean="0"/>
              <a:t>Click to edit Master title style</a:t>
            </a:r>
            <a:endParaRPr lang="en-US"/>
          </a:p>
        </p:txBody>
      </p:sp>
      <p:sp>
        <p:nvSpPr>
          <p:cNvPr id="3" name="Content Placeholder 2"/>
          <p:cNvSpPr>
            <a:spLocks noGrp="1"/>
          </p:cNvSpPr>
          <p:nvPr>
            <p:ph idx="1"/>
          </p:nvPr>
        </p:nvSpPr>
        <p:spPr>
          <a:xfrm>
            <a:off x="502920" y="1813563"/>
            <a:ext cx="9052560" cy="5129425"/>
          </a:xfrm>
          <a:prstGeom prst="rect">
            <a:avLst/>
          </a:prstGeom>
        </p:spPr>
        <p:txBody>
          <a:bodyPr lIns="101858" tIns="50929" rIns="101858" bIns="50929"/>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3" y="179917"/>
            <a:ext cx="6806130" cy="677966"/>
          </a:xfrm>
          <a:prstGeom prst="rect">
            <a:avLst/>
          </a:prstGeo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95" indent="0" algn="ctr">
              <a:buNone/>
              <a:defRPr/>
            </a:lvl2pPr>
            <a:lvl3pPr marL="1018592" indent="0" algn="ctr">
              <a:buNone/>
              <a:defRPr/>
            </a:lvl3pPr>
            <a:lvl4pPr marL="1527887" indent="0" algn="ctr">
              <a:buNone/>
              <a:defRPr/>
            </a:lvl4pPr>
            <a:lvl5pPr marL="2037183" indent="0" algn="ctr">
              <a:buNone/>
              <a:defRPr/>
            </a:lvl5pPr>
            <a:lvl6pPr marL="2546478" indent="0" algn="ctr">
              <a:buNone/>
              <a:defRPr/>
            </a:lvl6pPr>
            <a:lvl7pPr marL="3055774" indent="0" algn="ctr">
              <a:buNone/>
              <a:defRPr/>
            </a:lvl7pPr>
            <a:lvl8pPr marL="3565070" indent="0" algn="ctr">
              <a:buNone/>
              <a:defRPr/>
            </a:lvl8pPr>
            <a:lvl9pPr marL="4074364"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117642391"/>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2"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3181" indent="-234922">
              <a:defRPr sz="1200">
                <a:latin typeface="+mn-lt"/>
              </a:defRPr>
            </a:lvl4pPr>
            <a:lvl5pPr marL="1025405" indent="-222224">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3859887"/>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0"/>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0"/>
            <a:ext cx="8549640" cy="1700212"/>
          </a:xfrm>
        </p:spPr>
        <p:txBody>
          <a:bodyPr anchor="b"/>
          <a:lstStyle>
            <a:lvl1pPr marL="0" indent="0">
              <a:buNone/>
              <a:defRPr sz="2200"/>
            </a:lvl1pPr>
            <a:lvl2pPr marL="509295" indent="0">
              <a:buNone/>
              <a:defRPr sz="2000"/>
            </a:lvl2pPr>
            <a:lvl3pPr marL="1018592" indent="0">
              <a:buNone/>
              <a:defRPr sz="1800"/>
            </a:lvl3pPr>
            <a:lvl4pPr marL="1527887" indent="0">
              <a:buNone/>
              <a:defRPr sz="1600"/>
            </a:lvl4pPr>
            <a:lvl5pPr marL="2037183" indent="0">
              <a:buNone/>
              <a:defRPr sz="1600"/>
            </a:lvl5pPr>
            <a:lvl6pPr marL="2546478" indent="0">
              <a:buNone/>
              <a:defRPr sz="1600"/>
            </a:lvl6pPr>
            <a:lvl7pPr marL="3055774" indent="0">
              <a:buNone/>
              <a:defRPr sz="1600"/>
            </a:lvl7pPr>
            <a:lvl8pPr marL="3565070" indent="0">
              <a:buNone/>
              <a:defRPr sz="1600"/>
            </a:lvl8pPr>
            <a:lvl9pPr marL="4074364" indent="0">
              <a:buNone/>
              <a:defRPr sz="1600"/>
            </a:lvl9pPr>
          </a:lstStyle>
          <a:p>
            <a:pPr lvl="0"/>
            <a:r>
              <a:rPr lang="en-US" smtClean="0"/>
              <a:t>Click to edit Master text styles</a:t>
            </a:r>
          </a:p>
        </p:txBody>
      </p:sp>
    </p:spTree>
    <p:extLst>
      <p:ext uri="{BB962C8B-B14F-4D97-AF65-F5344CB8AC3E}">
        <p14:creationId xmlns:p14="http://schemas.microsoft.com/office/powerpoint/2010/main" val="42754838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77"/>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77"/>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261345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81207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8463" indent="0" algn="ctr">
              <a:buNone/>
              <a:defRPr/>
            </a:lvl2pPr>
            <a:lvl3pPr marL="1016925" indent="0" algn="ctr">
              <a:buNone/>
              <a:defRPr/>
            </a:lvl3pPr>
            <a:lvl4pPr marL="1525388" indent="0" algn="ctr">
              <a:buNone/>
              <a:defRPr/>
            </a:lvl4pPr>
            <a:lvl5pPr marL="2033851" indent="0" algn="ctr">
              <a:buNone/>
              <a:defRPr/>
            </a:lvl5pPr>
            <a:lvl6pPr marL="2542312" indent="0" algn="ctr">
              <a:buNone/>
              <a:defRPr/>
            </a:lvl6pPr>
            <a:lvl7pPr marL="3050775" indent="0" algn="ctr">
              <a:buNone/>
              <a:defRPr/>
            </a:lvl7pPr>
            <a:lvl8pPr marL="3559239" indent="0" algn="ctr">
              <a:buNone/>
              <a:defRPr/>
            </a:lvl8pPr>
            <a:lvl9pPr marL="4067698"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58022865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1869" indent="-234537">
              <a:defRPr sz="1200">
                <a:latin typeface="+mn-lt"/>
              </a:defRPr>
            </a:lvl4pPr>
            <a:lvl5pPr marL="1023730" indent="-221860">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4251155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505"/>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200"/>
            </a:lvl1pPr>
            <a:lvl2pPr marL="508463" indent="0">
              <a:buNone/>
              <a:defRPr sz="2000"/>
            </a:lvl2pPr>
            <a:lvl3pPr marL="1016925" indent="0">
              <a:buNone/>
              <a:defRPr sz="1800"/>
            </a:lvl3pPr>
            <a:lvl4pPr marL="1525388" indent="0">
              <a:buNone/>
              <a:defRPr sz="1600"/>
            </a:lvl4pPr>
            <a:lvl5pPr marL="2033851" indent="0">
              <a:buNone/>
              <a:defRPr sz="1600"/>
            </a:lvl5pPr>
            <a:lvl6pPr marL="2542312" indent="0">
              <a:buNone/>
              <a:defRPr sz="1600"/>
            </a:lvl6pPr>
            <a:lvl7pPr marL="3050775" indent="0">
              <a:buNone/>
              <a:defRPr sz="1600"/>
            </a:lvl7pPr>
            <a:lvl8pPr marL="3559239" indent="0">
              <a:buNone/>
              <a:defRPr sz="1600"/>
            </a:lvl8pPr>
            <a:lvl9pPr marL="4067698" indent="0">
              <a:buNone/>
              <a:defRPr sz="1600"/>
            </a:lvl9pPr>
          </a:lstStyle>
          <a:p>
            <a:pPr lvl="0"/>
            <a:r>
              <a:rPr lang="en-US" smtClean="0"/>
              <a:t>Click to edit Master text styles</a:t>
            </a:r>
          </a:p>
        </p:txBody>
      </p:sp>
    </p:spTree>
    <p:extLst>
      <p:ext uri="{BB962C8B-B14F-4D97-AF65-F5344CB8AC3E}">
        <p14:creationId xmlns:p14="http://schemas.microsoft.com/office/powerpoint/2010/main" val="403577153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92"/>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92"/>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11614108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902559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9.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4.xml"/><Relationship Id="rId1" Type="http://schemas.openxmlformats.org/officeDocument/2006/relationships/slideLayout" Target="../slideLayouts/slideLayout10.xml"/><Relationship Id="rId5" Type="http://schemas.openxmlformats.org/officeDocument/2006/relationships/image" Target="../media/image4.gif"/><Relationship Id="rId4" Type="http://schemas.openxmlformats.org/officeDocument/2006/relationships/image" Target="../media/image3.jpeg"/></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2.xml"/><Relationship Id="rId1" Type="http://schemas.openxmlformats.org/officeDocument/2006/relationships/slideLayout" Target="../slideLayouts/slideLayout11.xml"/><Relationship Id="rId4" Type="http://schemas.openxmlformats.org/officeDocument/2006/relationships/image" Target="../media/image3.jpeg"/></Relationships>
</file>

<file path=ppt/slideMasters/_rels/slideMaster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9.xml"/><Relationship Id="rId1" Type="http://schemas.openxmlformats.org/officeDocument/2006/relationships/slideLayout" Target="../slideLayouts/slideLayout13.xml"/></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theme" Target="../theme/theme10.xml"/><Relationship Id="rId1" Type="http://schemas.openxmlformats.org/officeDocument/2006/relationships/slideLayout" Target="../slideLayouts/slideLayout14.xml"/></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1.xml"/><Relationship Id="rId1" Type="http://schemas.openxmlformats.org/officeDocument/2006/relationships/slideLayout" Target="../slideLayouts/slideLayout15.xml"/></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5.jpeg"/><Relationship Id="rId1" Type="http://schemas.openxmlformats.org/officeDocument/2006/relationships/theme" Target="../theme/theme12.xml"/></Relationships>
</file>

<file path=ppt/slideMasters/_rels/slideMaster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theme" Target="../theme/theme13.xml"/><Relationship Id="rId4" Type="http://schemas.openxmlformats.org/officeDocument/2006/relationships/image" Target="../media/image4.gif"/></Relationships>
</file>

<file path=ppt/slideMasters/_rels/slideMaster14.xml.rels><?xml version="1.0" encoding="UTF-8" standalone="yes"?>
<Relationships xmlns="http://schemas.openxmlformats.org/package/2006/relationships"><Relationship Id="rId3" Type="http://schemas.openxmlformats.org/officeDocument/2006/relationships/slideLayout" Target="../slideLayouts/slideLayout18.xml"/><Relationship Id="rId7" Type="http://schemas.openxmlformats.org/officeDocument/2006/relationships/image" Target="../media/image1.png"/><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theme" Target="../theme/theme14.xml"/><Relationship Id="rId5" Type="http://schemas.openxmlformats.org/officeDocument/2006/relationships/slideLayout" Target="../slideLayouts/slideLayout20.xml"/><Relationship Id="rId4" Type="http://schemas.openxmlformats.org/officeDocument/2006/relationships/slideLayout" Target="../slideLayouts/slideLayout19.xml"/></Relationships>
</file>

<file path=ppt/slideMasters/_rels/slideMaster15.xml.rels><?xml version="1.0" encoding="UTF-8" standalone="yes"?>
<Relationships xmlns="http://schemas.openxmlformats.org/package/2006/relationships"><Relationship Id="rId3" Type="http://schemas.openxmlformats.org/officeDocument/2006/relationships/slideLayout" Target="../slideLayouts/slideLayout23.xml"/><Relationship Id="rId7" Type="http://schemas.openxmlformats.org/officeDocument/2006/relationships/image" Target="../media/image1.png"/><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theme" Target="../theme/theme15.xml"/><Relationship Id="rId5" Type="http://schemas.openxmlformats.org/officeDocument/2006/relationships/slideLayout" Target="../slideLayouts/slideLayout25.xml"/><Relationship Id="rId4"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70" r:id="rId1"/>
    <p:sldLayoutId id="2147483669" r:id="rId2"/>
    <p:sldLayoutId id="2147483668" r:id="rId3"/>
    <p:sldLayoutId id="2147483667" r:id="rId4"/>
    <p:sldLayoutId id="2147483664"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35" algn="r" rtl="0" fontAlgn="base">
        <a:spcBef>
          <a:spcPct val="0"/>
        </a:spcBef>
        <a:spcAft>
          <a:spcPct val="0"/>
        </a:spcAft>
        <a:defRPr sz="1900">
          <a:solidFill>
            <a:schemeClr val="bg1"/>
          </a:solidFill>
          <a:latin typeface="Calisto MT" pitchFamily="18" charset="0"/>
        </a:defRPr>
      </a:lvl6pPr>
      <a:lvl7pPr marL="1018472" algn="r" rtl="0" fontAlgn="base">
        <a:spcBef>
          <a:spcPct val="0"/>
        </a:spcBef>
        <a:spcAft>
          <a:spcPct val="0"/>
        </a:spcAft>
        <a:defRPr sz="1900">
          <a:solidFill>
            <a:schemeClr val="bg1"/>
          </a:solidFill>
          <a:latin typeface="Calisto MT" pitchFamily="18" charset="0"/>
        </a:defRPr>
      </a:lvl7pPr>
      <a:lvl8pPr marL="1527709" algn="r" rtl="0" fontAlgn="base">
        <a:spcBef>
          <a:spcPct val="0"/>
        </a:spcBef>
        <a:spcAft>
          <a:spcPct val="0"/>
        </a:spcAft>
        <a:defRPr sz="1900">
          <a:solidFill>
            <a:schemeClr val="bg1"/>
          </a:solidFill>
          <a:latin typeface="Calisto MT" pitchFamily="18" charset="0"/>
        </a:defRPr>
      </a:lvl8pPr>
      <a:lvl9pPr marL="2036945" algn="r" rtl="0" fontAlgn="base">
        <a:spcBef>
          <a:spcPct val="0"/>
        </a:spcBef>
        <a:spcAft>
          <a:spcPct val="0"/>
        </a:spcAft>
        <a:defRPr sz="1900">
          <a:solidFill>
            <a:schemeClr val="bg1"/>
          </a:solidFill>
          <a:latin typeface="Calisto MT" pitchFamily="18" charset="0"/>
        </a:defRPr>
      </a:lvl9pPr>
    </p:titleStyle>
    <p:bodyStyle>
      <a:lvl1pPr marL="187449" indent="-187449"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665" indent="-185681"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882" indent="-185681"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800798" indent="-254617" algn="l" rtl="0" fontAlgn="base">
        <a:spcBef>
          <a:spcPct val="20000"/>
        </a:spcBef>
        <a:spcAft>
          <a:spcPct val="0"/>
        </a:spcAft>
        <a:buChar char="»"/>
        <a:defRPr sz="1600">
          <a:solidFill>
            <a:schemeClr val="tx1"/>
          </a:solidFill>
          <a:latin typeface="Arial" charset="0"/>
        </a:defRPr>
      </a:lvl6pPr>
      <a:lvl7pPr marL="3310035" indent="-254617" algn="l" rtl="0" fontAlgn="base">
        <a:spcBef>
          <a:spcPct val="20000"/>
        </a:spcBef>
        <a:spcAft>
          <a:spcPct val="0"/>
        </a:spcAft>
        <a:buChar char="»"/>
        <a:defRPr sz="1600">
          <a:solidFill>
            <a:schemeClr val="tx1"/>
          </a:solidFill>
          <a:latin typeface="Arial" charset="0"/>
        </a:defRPr>
      </a:lvl7pPr>
      <a:lvl8pPr marL="3819270" indent="-254617" algn="l" rtl="0" fontAlgn="base">
        <a:spcBef>
          <a:spcPct val="20000"/>
        </a:spcBef>
        <a:spcAft>
          <a:spcPct val="0"/>
        </a:spcAft>
        <a:buChar char="»"/>
        <a:defRPr sz="1600">
          <a:solidFill>
            <a:schemeClr val="tx1"/>
          </a:solidFill>
          <a:latin typeface="Arial" charset="0"/>
        </a:defRPr>
      </a:lvl8pPr>
      <a:lvl9pPr marL="4328505" indent="-25461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2"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13314" name="Rectangle 3"/>
          <p:cNvSpPr>
            <a:spLocks noGrp="1" noChangeArrowheads="1"/>
          </p:cNvSpPr>
          <p:nvPr>
            <p:ph type="body" idx="1"/>
          </p:nvPr>
        </p:nvSpPr>
        <p:spPr bwMode="auto">
          <a:xfrm>
            <a:off x="2387124" y="1829756"/>
            <a:ext cx="7493158" cy="514921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555039" name="Line 31"/>
          <p:cNvSpPr>
            <a:spLocks noChangeShapeType="1"/>
          </p:cNvSpPr>
          <p:nvPr/>
        </p:nvSpPr>
        <p:spPr bwMode="auto">
          <a:xfrm>
            <a:off x="2305050" y="1887328"/>
            <a:ext cx="0" cy="5366912"/>
          </a:xfrm>
          <a:prstGeom prst="line">
            <a:avLst/>
          </a:prstGeom>
          <a:noFill/>
          <a:ln w="3175">
            <a:solidFill>
              <a:schemeClr val="accent1"/>
            </a:solidFill>
            <a:round/>
            <a:headEnd/>
            <a:tailEnd/>
          </a:ln>
          <a:effectLst/>
        </p:spPr>
        <p:txBody>
          <a:bodyPr lIns="101858" tIns="50929" rIns="101858" bIns="50929"/>
          <a:lstStyle/>
          <a:p>
            <a:pPr>
              <a:defRPr/>
            </a:pPr>
            <a:endParaRPr lang="en-US" dirty="0"/>
          </a:p>
        </p:txBody>
      </p:sp>
      <p:sp>
        <p:nvSpPr>
          <p:cNvPr id="56"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4" name="Rectangle 2"/>
          <p:cNvSpPr txBox="1">
            <a:spLocks noChangeArrowheads="1"/>
          </p:cNvSpPr>
          <p:nvPr userDrawn="1"/>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marL="0" marR="0" lvl="0" indent="0" algn="r" defTabSz="914187" rtl="0" eaLnBrk="0" fontAlgn="base" latinLnBrk="0" hangingPunct="0">
              <a:lnSpc>
                <a:spcPct val="100000"/>
              </a:lnSpc>
              <a:spcBef>
                <a:spcPct val="0"/>
              </a:spcBef>
              <a:spcAft>
                <a:spcPct val="0"/>
              </a:spcAft>
              <a:buClrTx/>
              <a:buSzTx/>
              <a:buFontTx/>
              <a:buNone/>
              <a:tabLst/>
              <a:defRPr/>
            </a:pPr>
            <a:r>
              <a:rPr kumimoji="0" lang="en-US" sz="1400" b="1" i="0" u="none" strike="noStrike" kern="0" cap="none" spc="0" normalizeH="0" baseline="0" noProof="0" dirty="0" smtClean="0">
                <a:ln>
                  <a:noFill/>
                </a:ln>
                <a:solidFill>
                  <a:schemeClr val="bg1"/>
                </a:solidFill>
                <a:effectLst/>
                <a:uLnTx/>
                <a:uFillTx/>
                <a:latin typeface="+mj-lt"/>
                <a:ea typeface="+mj-ea"/>
                <a:cs typeface="+mj-cs"/>
              </a:rPr>
              <a:t>Click to edit Master title style</a:t>
            </a:r>
          </a:p>
        </p:txBody>
      </p:sp>
      <p:pic>
        <p:nvPicPr>
          <p:cNvPr id="37" name="Picture 20" descr="Cello_LOGO_Horizontal_Short.png"/>
          <p:cNvPicPr>
            <a:picLocks noChangeAspect="1"/>
          </p:cNvPicPr>
          <p:nvPr userDrawn="1"/>
        </p:nvPicPr>
        <p:blipFill>
          <a:blip r:embed="rId5" cstate="print"/>
          <a:srcRect/>
          <a:stretch>
            <a:fillRect/>
          </a:stretch>
        </p:blipFill>
        <p:spPr bwMode="auto">
          <a:xfrm>
            <a:off x="308121" y="322236"/>
            <a:ext cx="2416810" cy="451590"/>
          </a:xfrm>
          <a:prstGeom prst="rect">
            <a:avLst/>
          </a:prstGeom>
          <a:noFill/>
          <a:ln w="9525">
            <a:noFill/>
            <a:miter lim="800000"/>
            <a:headEnd/>
            <a:tailEnd/>
          </a:ln>
        </p:spPr>
      </p:pic>
      <p:sp>
        <p:nvSpPr>
          <p:cNvPr id="39"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40" name="Straight Connector 39"/>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81" r:id="rId1"/>
    <p:sldLayoutId id="2147483680" r:id="rId2"/>
    <p:sldLayoutId id="2147483676" r:id="rId3"/>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l" rtl="0" eaLnBrk="0" fontAlgn="base" hangingPunct="0">
        <a:spcBef>
          <a:spcPct val="110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2340501" y="1168402"/>
            <a:ext cx="7539782" cy="581342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2302546" y="1265239"/>
            <a:ext cx="0" cy="5968682"/>
          </a:xfrm>
          <a:prstGeom prst="line">
            <a:avLst/>
          </a:prstGeom>
          <a:noFill/>
          <a:ln w="3175">
            <a:solidFill>
              <a:schemeClr val="accent1"/>
            </a:solidFill>
            <a:round/>
            <a:headEnd/>
            <a:tailEnd/>
          </a:ln>
          <a:effectLst/>
        </p:spPr>
        <p:txBody>
          <a:bodyPr lIns="101858" tIns="50929" rIns="101858" bIns="50929"/>
          <a:lstStyle/>
          <a:p>
            <a:pPr>
              <a:defRPr/>
            </a:pPr>
            <a:endParaRPr lang="en-US" dirty="0"/>
          </a:p>
        </p:txBody>
      </p:sp>
      <p:sp>
        <p:nvSpPr>
          <p:cNvPr id="22"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4"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50" name="Picture 20" descr="Cello_LOGO_Horizontal_Short.png"/>
          <p:cNvPicPr>
            <a:picLocks noChangeAspect="1"/>
          </p:cNvPicPr>
          <p:nvPr userDrawn="1"/>
        </p:nvPicPr>
        <p:blipFill>
          <a:blip r:embed="rId3" cstate="print"/>
          <a:srcRect/>
          <a:stretch>
            <a:fillRect/>
          </a:stretch>
        </p:blipFill>
        <p:spPr bwMode="auto">
          <a:xfrm>
            <a:off x="308121" y="322236"/>
            <a:ext cx="2416810" cy="451590"/>
          </a:xfrm>
          <a:prstGeom prst="rect">
            <a:avLst/>
          </a:prstGeom>
          <a:noFill/>
          <a:ln w="9525">
            <a:noFill/>
            <a:miter lim="800000"/>
            <a:headEnd/>
            <a:tailEnd/>
          </a:ln>
        </p:spPr>
      </p:pic>
      <p:sp>
        <p:nvSpPr>
          <p:cNvPr id="21"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91"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3" cstate="print"/>
          <a:srcRect b="3510"/>
          <a:stretch>
            <a:fillRect/>
          </a:stretch>
        </p:blipFill>
        <p:spPr bwMode="auto">
          <a:xfrm>
            <a:off x="228600" y="4769594"/>
            <a:ext cx="9601200" cy="482500"/>
          </a:xfrm>
          <a:prstGeom prst="rect">
            <a:avLst/>
          </a:prstGeom>
          <a:noFill/>
        </p:spPr>
      </p:pic>
      <p:pic>
        <p:nvPicPr>
          <p:cNvPr id="37892" name="Picture 33" descr="Cello_CoverDesigns_FINAL_2-02"/>
          <p:cNvPicPr>
            <a:picLocks noChangeAspect="1" noChangeArrowheads="1"/>
          </p:cNvPicPr>
          <p:nvPr/>
        </p:nvPicPr>
        <p:blipFill>
          <a:blip r:embed="rId4" cstate="print"/>
          <a:srcRect b="13019"/>
          <a:stretch>
            <a:fillRect/>
          </a:stretch>
        </p:blipFill>
        <p:spPr bwMode="auto">
          <a:xfrm>
            <a:off x="228600" y="889638"/>
            <a:ext cx="9601200" cy="3853742"/>
          </a:xfrm>
          <a:prstGeom prst="rect">
            <a:avLst/>
          </a:prstGeom>
          <a:noFill/>
          <a:ln w="9525">
            <a:noFill/>
            <a:miter lim="800000"/>
            <a:headEnd/>
            <a:tailEnd/>
          </a:ln>
        </p:spPr>
      </p:pic>
      <p:grpSp>
        <p:nvGrpSpPr>
          <p:cNvPr id="37897"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0" name="Rectangle 29"/>
          <p:cNvSpPr/>
          <p:nvPr userDrawn="1"/>
        </p:nvSpPr>
        <p:spPr>
          <a:xfrm>
            <a:off x="228600" y="228600"/>
            <a:ext cx="9601200" cy="7315200"/>
          </a:xfrm>
          <a:prstGeom prst="rect">
            <a:avLst/>
          </a:prstGeom>
          <a:noFill/>
          <a:ln>
            <a:solidFill>
              <a:srgbClr val="EFEBE4"/>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a:endParaRPr lang="en-US" dirty="0"/>
          </a:p>
        </p:txBody>
      </p:sp>
      <p:pic>
        <p:nvPicPr>
          <p:cNvPr id="39" name="Picture 38" descr="GUGG_logo_262.gif"/>
          <p:cNvPicPr>
            <a:picLocks noChangeAspect="1"/>
          </p:cNvPicPr>
          <p:nvPr userDrawn="1"/>
        </p:nvPicPr>
        <p:blipFill>
          <a:blip r:embed="rId5" cstate="print"/>
          <a:stretch>
            <a:fillRect/>
          </a:stretch>
        </p:blipFill>
        <p:spPr>
          <a:xfrm>
            <a:off x="4043680" y="468949"/>
            <a:ext cx="2072640" cy="153375"/>
          </a:xfrm>
          <a:prstGeom prst="rect">
            <a:avLst/>
          </a:prstGeom>
        </p:spPr>
      </p:pic>
    </p:spTree>
  </p:cSld>
  <p:clrMap bg1="lt1" tx1="dk1" bg2="lt2" tx2="dk2" accent1="accent1" accent2="accent2" accent3="accent3" accent4="accent4" accent5="accent5" accent6="accent6" hlink="hlink" folHlink="folHlink"/>
  <p:sldLayoutIdLst>
    <p:sldLayoutId id="2147483703" r:id="rId1"/>
  </p:sldLayoutIdLst>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35" algn="ctr" rtl="0" fontAlgn="base">
        <a:spcBef>
          <a:spcPct val="0"/>
        </a:spcBef>
        <a:spcAft>
          <a:spcPct val="0"/>
        </a:spcAft>
        <a:defRPr sz="4900">
          <a:solidFill>
            <a:schemeClr val="tx2"/>
          </a:solidFill>
          <a:latin typeface="Cambria" pitchFamily="18" charset="0"/>
        </a:defRPr>
      </a:lvl6pPr>
      <a:lvl7pPr marL="1018472" algn="ctr" rtl="0" fontAlgn="base">
        <a:spcBef>
          <a:spcPct val="0"/>
        </a:spcBef>
        <a:spcAft>
          <a:spcPct val="0"/>
        </a:spcAft>
        <a:defRPr sz="4900">
          <a:solidFill>
            <a:schemeClr val="tx2"/>
          </a:solidFill>
          <a:latin typeface="Cambria" pitchFamily="18" charset="0"/>
        </a:defRPr>
      </a:lvl7pPr>
      <a:lvl8pPr marL="1527709" algn="ctr" rtl="0" fontAlgn="base">
        <a:spcBef>
          <a:spcPct val="0"/>
        </a:spcBef>
        <a:spcAft>
          <a:spcPct val="0"/>
        </a:spcAft>
        <a:defRPr sz="4900">
          <a:solidFill>
            <a:schemeClr val="tx2"/>
          </a:solidFill>
          <a:latin typeface="Cambria" pitchFamily="18" charset="0"/>
        </a:defRPr>
      </a:lvl8pPr>
      <a:lvl9pPr marL="2036945"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800798" indent="-254617" algn="l" rtl="0" fontAlgn="base">
        <a:spcBef>
          <a:spcPct val="20000"/>
        </a:spcBef>
        <a:spcAft>
          <a:spcPct val="0"/>
        </a:spcAft>
        <a:buChar char="»"/>
        <a:defRPr sz="2200">
          <a:solidFill>
            <a:schemeClr val="tx1"/>
          </a:solidFill>
          <a:latin typeface="+mn-lt"/>
        </a:defRPr>
      </a:lvl6pPr>
      <a:lvl7pPr marL="3310035" indent="-254617" algn="l" rtl="0" fontAlgn="base">
        <a:spcBef>
          <a:spcPct val="20000"/>
        </a:spcBef>
        <a:spcAft>
          <a:spcPct val="0"/>
        </a:spcAft>
        <a:buChar char="»"/>
        <a:defRPr sz="2200">
          <a:solidFill>
            <a:schemeClr val="tx1"/>
          </a:solidFill>
          <a:latin typeface="+mn-lt"/>
        </a:defRPr>
      </a:lvl7pPr>
      <a:lvl8pPr marL="3819270" indent="-254617" algn="l" rtl="0" fontAlgn="base">
        <a:spcBef>
          <a:spcPct val="20000"/>
        </a:spcBef>
        <a:spcAft>
          <a:spcPct val="0"/>
        </a:spcAft>
        <a:buChar char="»"/>
        <a:defRPr sz="2200">
          <a:solidFill>
            <a:schemeClr val="tx1"/>
          </a:solidFill>
          <a:latin typeface="+mn-lt"/>
        </a:defRPr>
      </a:lvl8pPr>
      <a:lvl9pPr marL="4328505" indent="-25461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8" name="Picture 33" descr="Cello_CoverDesigns_FINAL_2-02"/>
          <p:cNvPicPr>
            <a:picLocks noChangeAspect="1" noChangeArrowheads="1"/>
          </p:cNvPicPr>
          <p:nvPr userDrawn="1"/>
        </p:nvPicPr>
        <p:blipFill>
          <a:blip r:embed="rId4" cstate="print"/>
          <a:srcRect b="13019"/>
          <a:stretch>
            <a:fillRect/>
          </a:stretch>
        </p:blipFill>
        <p:spPr bwMode="auto">
          <a:xfrm>
            <a:off x="228600" y="788038"/>
            <a:ext cx="9601200" cy="3853742"/>
          </a:xfrm>
          <a:prstGeom prst="rect">
            <a:avLst/>
          </a:prstGeom>
          <a:noFill/>
          <a:ln w="9525">
            <a:noFill/>
            <a:miter lim="800000"/>
            <a:headEnd/>
            <a:tailEnd/>
          </a:ln>
        </p:spPr>
      </p:pic>
      <p:sp>
        <p:nvSpPr>
          <p:cNvPr id="364592"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364594"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grpSp>
        <p:nvGrpSpPr>
          <p:cNvPr id="364597" name="Group 33"/>
          <p:cNvGrpSpPr>
            <a:grpSpLocks/>
          </p:cNvGrpSpPr>
          <p:nvPr userDrawn="1"/>
        </p:nvGrpSpPr>
        <p:grpSpPr bwMode="auto">
          <a:xfrm>
            <a:off x="1011082" y="3986954"/>
            <a:ext cx="2175828" cy="2880466"/>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4"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37" r:id="rId1"/>
    <p:sldLayoutId id="2147483743" r:id="rId2"/>
  </p:sldLayoutIdLst>
  <p:timing>
    <p:tnLst>
      <p:par>
        <p:cTn id="1" dur="indefinite" restart="never" nodeType="tmRoot"/>
      </p:par>
    </p:tnLst>
  </p:timing>
  <p:txStyles>
    <p:titleStyle>
      <a:lvl1pPr algn="ctr" rtl="0" fontAlgn="base">
        <a:spcBef>
          <a:spcPct val="0"/>
        </a:spcBef>
        <a:spcAft>
          <a:spcPct val="0"/>
        </a:spcAft>
        <a:defRPr sz="4900">
          <a:solidFill>
            <a:schemeClr val="tx2"/>
          </a:solidFill>
          <a:latin typeface="+mj-lt"/>
          <a:ea typeface="+mj-ea"/>
          <a:cs typeface="+mj-cs"/>
        </a:defRPr>
      </a:lvl1pPr>
      <a:lvl2pPr algn="ctr" rtl="0" fontAlgn="base">
        <a:spcBef>
          <a:spcPct val="0"/>
        </a:spcBef>
        <a:spcAft>
          <a:spcPct val="0"/>
        </a:spcAft>
        <a:defRPr sz="4900">
          <a:solidFill>
            <a:schemeClr val="tx2"/>
          </a:solidFill>
          <a:latin typeface="Cambria" pitchFamily="18" charset="0"/>
        </a:defRPr>
      </a:lvl2pPr>
      <a:lvl3pPr algn="ctr" rtl="0" fontAlgn="base">
        <a:spcBef>
          <a:spcPct val="0"/>
        </a:spcBef>
        <a:spcAft>
          <a:spcPct val="0"/>
        </a:spcAft>
        <a:defRPr sz="4900">
          <a:solidFill>
            <a:schemeClr val="tx2"/>
          </a:solidFill>
          <a:latin typeface="Cambria" pitchFamily="18" charset="0"/>
        </a:defRPr>
      </a:lvl3pPr>
      <a:lvl4pPr algn="ctr" rtl="0" fontAlgn="base">
        <a:spcBef>
          <a:spcPct val="0"/>
        </a:spcBef>
        <a:spcAft>
          <a:spcPct val="0"/>
        </a:spcAft>
        <a:defRPr sz="4900">
          <a:solidFill>
            <a:schemeClr val="tx2"/>
          </a:solidFill>
          <a:latin typeface="Cambria" pitchFamily="18" charset="0"/>
        </a:defRPr>
      </a:lvl4pPr>
      <a:lvl5pPr algn="ctr" rtl="0" fontAlgn="base">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fontAlgn="base">
        <a:spcBef>
          <a:spcPct val="20000"/>
        </a:spcBef>
        <a:spcAft>
          <a:spcPct val="0"/>
        </a:spcAft>
        <a:buChar char="•"/>
        <a:defRPr sz="3600">
          <a:solidFill>
            <a:schemeClr val="tx1"/>
          </a:solidFill>
          <a:latin typeface="+mn-lt"/>
          <a:ea typeface="+mn-ea"/>
          <a:cs typeface="+mn-cs"/>
        </a:defRPr>
      </a:lvl1pPr>
      <a:lvl2pPr marL="825834" indent="-316540" algn="l" rtl="0" fontAlgn="base">
        <a:spcBef>
          <a:spcPct val="20000"/>
        </a:spcBef>
        <a:spcAft>
          <a:spcPct val="0"/>
        </a:spcAft>
        <a:buChar char="–"/>
        <a:defRPr sz="3100">
          <a:solidFill>
            <a:schemeClr val="tx1"/>
          </a:solidFill>
          <a:latin typeface="+mn-lt"/>
        </a:defRPr>
      </a:lvl2pPr>
      <a:lvl3pPr marL="1271465" indent="-252880" algn="l" rtl="0" fontAlgn="base">
        <a:spcBef>
          <a:spcPct val="20000"/>
        </a:spcBef>
        <a:spcAft>
          <a:spcPct val="0"/>
        </a:spcAft>
        <a:buChar char="•"/>
        <a:defRPr sz="2700">
          <a:solidFill>
            <a:schemeClr val="tx1"/>
          </a:solidFill>
          <a:latin typeface="+mn-lt"/>
        </a:defRPr>
      </a:lvl3pPr>
      <a:lvl4pPr marL="1780758" indent="-252880" algn="l" rtl="0" fontAlgn="base">
        <a:spcBef>
          <a:spcPct val="20000"/>
        </a:spcBef>
        <a:spcAft>
          <a:spcPct val="0"/>
        </a:spcAft>
        <a:buChar char="–"/>
        <a:defRPr sz="2200">
          <a:solidFill>
            <a:schemeClr val="tx1"/>
          </a:solidFill>
          <a:latin typeface="+mn-lt"/>
        </a:defRPr>
      </a:lvl4pPr>
      <a:lvl5pPr marL="2290051" indent="-252880" algn="l" rtl="0" fontAlgn="base">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56406"/>
            <a:ext cx="9601200" cy="4295367"/>
          </a:xfrm>
          <a:prstGeom prst="rect">
            <a:avLst/>
          </a:prstGeom>
          <a:noFill/>
        </p:spPr>
      </p:pic>
      <p:sp>
        <p:nvSpPr>
          <p:cNvPr id="323601" name="Line 17"/>
          <p:cNvSpPr>
            <a:spLocks noChangeShapeType="1"/>
          </p:cNvSpPr>
          <p:nvPr/>
        </p:nvSpPr>
        <p:spPr bwMode="auto">
          <a:xfrm>
            <a:off x="228588" y="5157198"/>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p>
        </p:txBody>
      </p:sp>
      <p:sp>
        <p:nvSpPr>
          <p:cNvPr id="2" name="Line 17"/>
          <p:cNvSpPr>
            <a:spLocks noChangeShapeType="1"/>
          </p:cNvSpPr>
          <p:nvPr/>
        </p:nvSpPr>
        <p:spPr bwMode="auto">
          <a:xfrm>
            <a:off x="218111"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p>
        </p:txBody>
      </p:sp>
      <p:grpSp>
        <p:nvGrpSpPr>
          <p:cNvPr id="50185"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62471" name="Picture 33" descr="Cello_CoverDesigns_FINAL_2-02"/>
          <p:cNvPicPr>
            <a:picLocks noChangeAspect="1" noChangeArrowheads="1"/>
          </p:cNvPicPr>
          <p:nvPr userDrawn="1"/>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pic>
        <p:nvPicPr>
          <p:cNvPr id="62472" name="Picture 31" descr="Cello_CoverDesigns_FINAL_3and4-01"/>
          <p:cNvPicPr>
            <a:picLocks noChangeAspect="1" noChangeArrowheads="1"/>
          </p:cNvPicPr>
          <p:nvPr userDrawn="1"/>
        </p:nvPicPr>
        <p:blipFill>
          <a:blip r:embed="rId3" cstate="print"/>
          <a:srcRect t="88849"/>
          <a:stretch>
            <a:fillRect/>
          </a:stretch>
        </p:blipFill>
        <p:spPr bwMode="auto">
          <a:xfrm>
            <a:off x="228600" y="4687169"/>
            <a:ext cx="9601200" cy="482373"/>
          </a:xfrm>
          <a:prstGeom prst="rect">
            <a:avLst/>
          </a:prstGeom>
          <a:noFill/>
          <a:ln w="9525">
            <a:noFill/>
            <a:miter lim="800000"/>
            <a:headEnd/>
            <a:tailEnd/>
          </a:ln>
        </p:spPr>
      </p:pic>
      <p:grpSp>
        <p:nvGrpSpPr>
          <p:cNvPr id="62478" name="Group 33"/>
          <p:cNvGrpSpPr>
            <a:grpSpLocks/>
          </p:cNvGrpSpPr>
          <p:nvPr userDrawn="1"/>
        </p:nvGrpSpPr>
        <p:grpSpPr bwMode="auto">
          <a:xfrm>
            <a:off x="3794604" y="3762061"/>
            <a:ext cx="2507615" cy="3319462"/>
            <a:chOff x="2173" y="2091"/>
            <a:chExt cx="1436" cy="1845"/>
          </a:xfrm>
        </p:grpSpPr>
        <p:sp>
          <p:nvSpPr>
            <p:cNvPr id="50"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51"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52"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3"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4"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55"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6"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7"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58"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59"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7" name="Rectangle 20"/>
          <p:cNvSpPr>
            <a:spLocks noChangeArrowheads="1"/>
          </p:cNvSpPr>
          <p:nvPr userDrawn="1"/>
        </p:nvSpPr>
        <p:spPr bwMode="auto">
          <a:xfrm>
            <a:off x="228600" y="228600"/>
            <a:ext cx="9601200" cy="7315200"/>
          </a:xfrm>
          <a:prstGeom prst="rect">
            <a:avLst/>
          </a:prstGeom>
          <a:noFill/>
          <a:ln w="19050" cmpd="sng">
            <a:solidFill>
              <a:srgbClr val="EFEBE4"/>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Arial" charset="0"/>
        </a:defRPr>
      </a:lvl2pPr>
      <a:lvl3pPr algn="ctr" rtl="0" eaLnBrk="0" fontAlgn="base" hangingPunct="0">
        <a:spcBef>
          <a:spcPct val="0"/>
        </a:spcBef>
        <a:spcAft>
          <a:spcPct val="0"/>
        </a:spcAft>
        <a:defRPr sz="4900">
          <a:solidFill>
            <a:schemeClr val="tx2"/>
          </a:solidFill>
          <a:latin typeface="Arial" charset="0"/>
        </a:defRPr>
      </a:lvl3pPr>
      <a:lvl4pPr algn="ctr" rtl="0" eaLnBrk="0" fontAlgn="base" hangingPunct="0">
        <a:spcBef>
          <a:spcPct val="0"/>
        </a:spcBef>
        <a:spcAft>
          <a:spcPct val="0"/>
        </a:spcAft>
        <a:defRPr sz="4900">
          <a:solidFill>
            <a:schemeClr val="tx2"/>
          </a:solidFill>
          <a:latin typeface="Arial" charset="0"/>
        </a:defRPr>
      </a:lvl4pPr>
      <a:lvl5pPr algn="ctr" rtl="0" eaLnBrk="0" fontAlgn="base" hangingPunct="0">
        <a:spcBef>
          <a:spcPct val="0"/>
        </a:spcBef>
        <a:spcAft>
          <a:spcPct val="0"/>
        </a:spcAft>
        <a:defRPr sz="4900">
          <a:solidFill>
            <a:schemeClr val="tx2"/>
          </a:solidFill>
          <a:latin typeface="Arial" charset="0"/>
        </a:defRPr>
      </a:lvl5pPr>
      <a:lvl6pPr marL="509292" algn="ctr" rtl="0" fontAlgn="base">
        <a:spcBef>
          <a:spcPct val="0"/>
        </a:spcBef>
        <a:spcAft>
          <a:spcPct val="0"/>
        </a:spcAft>
        <a:defRPr sz="4900">
          <a:solidFill>
            <a:schemeClr val="tx2"/>
          </a:solidFill>
          <a:latin typeface="Arial" charset="0"/>
        </a:defRPr>
      </a:lvl6pPr>
      <a:lvl7pPr marL="1018586" algn="ctr" rtl="0" fontAlgn="base">
        <a:spcBef>
          <a:spcPct val="0"/>
        </a:spcBef>
        <a:spcAft>
          <a:spcPct val="0"/>
        </a:spcAft>
        <a:defRPr sz="4900">
          <a:solidFill>
            <a:schemeClr val="tx2"/>
          </a:solidFill>
          <a:latin typeface="Arial" charset="0"/>
        </a:defRPr>
      </a:lvl7pPr>
      <a:lvl8pPr marL="1527879" algn="ctr" rtl="0" fontAlgn="base">
        <a:spcBef>
          <a:spcPct val="0"/>
        </a:spcBef>
        <a:spcAft>
          <a:spcPct val="0"/>
        </a:spcAft>
        <a:defRPr sz="4900">
          <a:solidFill>
            <a:schemeClr val="tx2"/>
          </a:solidFill>
          <a:latin typeface="Arial" charset="0"/>
        </a:defRPr>
      </a:lvl8pPr>
      <a:lvl9pPr marL="2037173" algn="ctr" rtl="0" fontAlgn="base">
        <a:spcBef>
          <a:spcPct val="0"/>
        </a:spcBef>
        <a:spcAft>
          <a:spcPct val="0"/>
        </a:spcAft>
        <a:defRPr sz="4900">
          <a:solidFill>
            <a:schemeClr val="tx2"/>
          </a:solidFill>
          <a:latin typeface="Arial" charset="0"/>
        </a:defRPr>
      </a:lvl9pPr>
    </p:titleStyle>
    <p:bodyStyle>
      <a:lvl1pPr marL="381970" indent="-381970" algn="l" rtl="0" eaLnBrk="0" fontAlgn="base" hangingPunct="0">
        <a:spcBef>
          <a:spcPct val="20000"/>
        </a:spcBef>
        <a:spcAft>
          <a:spcPct val="0"/>
        </a:spcAft>
        <a:buChar char="•"/>
        <a:defRPr sz="3600">
          <a:solidFill>
            <a:schemeClr val="tx1"/>
          </a:solidFill>
          <a:latin typeface="+mn-lt"/>
          <a:ea typeface="+mn-ea"/>
          <a:cs typeface="+mn-cs"/>
        </a:defRPr>
      </a:lvl1pPr>
      <a:lvl2pPr marL="827601" indent="-318309" algn="l" rtl="0" eaLnBrk="0" fontAlgn="base" hangingPunct="0">
        <a:spcBef>
          <a:spcPct val="20000"/>
        </a:spcBef>
        <a:spcAft>
          <a:spcPct val="0"/>
        </a:spcAft>
        <a:buChar char="–"/>
        <a:defRPr sz="3100">
          <a:solidFill>
            <a:schemeClr val="tx1"/>
          </a:solidFill>
          <a:latin typeface="+mn-lt"/>
        </a:defRPr>
      </a:lvl2pPr>
      <a:lvl3pPr marL="1273233" indent="-254646" algn="l" rtl="0" eaLnBrk="0" fontAlgn="base" hangingPunct="0">
        <a:spcBef>
          <a:spcPct val="20000"/>
        </a:spcBef>
        <a:spcAft>
          <a:spcPct val="0"/>
        </a:spcAft>
        <a:buChar char="•"/>
        <a:defRPr sz="2700">
          <a:solidFill>
            <a:schemeClr val="tx1"/>
          </a:solidFill>
          <a:latin typeface="+mn-lt"/>
        </a:defRPr>
      </a:lvl3pPr>
      <a:lvl4pPr marL="1782525" indent="-254646" algn="l" rtl="0" eaLnBrk="0" fontAlgn="base" hangingPunct="0">
        <a:spcBef>
          <a:spcPct val="20000"/>
        </a:spcBef>
        <a:spcAft>
          <a:spcPct val="0"/>
        </a:spcAft>
        <a:buChar char="–"/>
        <a:defRPr sz="2200">
          <a:solidFill>
            <a:schemeClr val="tx1"/>
          </a:solidFill>
          <a:latin typeface="+mn-lt"/>
        </a:defRPr>
      </a:lvl4pPr>
      <a:lvl5pPr marL="2291819" indent="-254646" algn="l" rtl="0" eaLnBrk="0" fontAlgn="base" hangingPunct="0">
        <a:spcBef>
          <a:spcPct val="20000"/>
        </a:spcBef>
        <a:spcAft>
          <a:spcPct val="0"/>
        </a:spcAft>
        <a:buChar char="»"/>
        <a:defRPr sz="2200">
          <a:solidFill>
            <a:schemeClr val="tx1"/>
          </a:solidFill>
          <a:latin typeface="+mn-lt"/>
        </a:defRPr>
      </a:lvl5pPr>
      <a:lvl6pPr marL="2801112" indent="-254646" algn="l" rtl="0" fontAlgn="base">
        <a:spcBef>
          <a:spcPct val="20000"/>
        </a:spcBef>
        <a:spcAft>
          <a:spcPct val="0"/>
        </a:spcAft>
        <a:buChar char="»"/>
        <a:defRPr sz="2200">
          <a:solidFill>
            <a:schemeClr val="tx1"/>
          </a:solidFill>
          <a:latin typeface="+mn-lt"/>
        </a:defRPr>
      </a:lvl6pPr>
      <a:lvl7pPr marL="3310406" indent="-254646" algn="l" rtl="0" fontAlgn="base">
        <a:spcBef>
          <a:spcPct val="20000"/>
        </a:spcBef>
        <a:spcAft>
          <a:spcPct val="0"/>
        </a:spcAft>
        <a:buChar char="»"/>
        <a:defRPr sz="2200">
          <a:solidFill>
            <a:schemeClr val="tx1"/>
          </a:solidFill>
          <a:latin typeface="+mn-lt"/>
        </a:defRPr>
      </a:lvl7pPr>
      <a:lvl8pPr marL="3819698" indent="-254646" algn="l" rtl="0" fontAlgn="base">
        <a:spcBef>
          <a:spcPct val="20000"/>
        </a:spcBef>
        <a:spcAft>
          <a:spcPct val="0"/>
        </a:spcAft>
        <a:buChar char="»"/>
        <a:defRPr sz="2200">
          <a:solidFill>
            <a:schemeClr val="tx1"/>
          </a:solidFill>
          <a:latin typeface="+mn-lt"/>
        </a:defRPr>
      </a:lvl8pPr>
      <a:lvl9pPr marL="4328992" indent="-254646"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4754" name="Picture 33" descr="Cello_CoverDesigns_FINAL_2-02"/>
          <p:cNvPicPr>
            <a:picLocks noChangeAspect="1" noChangeArrowheads="1"/>
          </p:cNvPicPr>
          <p:nvPr/>
        </p:nvPicPr>
        <p:blipFill>
          <a:blip r:embed="rId2" cstate="print"/>
          <a:srcRect t="88007" b="1381"/>
          <a:stretch>
            <a:fillRect/>
          </a:stretch>
        </p:blipFill>
        <p:spPr bwMode="auto">
          <a:xfrm>
            <a:off x="228600" y="4714830"/>
            <a:ext cx="9601200" cy="470140"/>
          </a:xfrm>
          <a:prstGeom prst="rect">
            <a:avLst/>
          </a:prstGeom>
          <a:noFill/>
          <a:ln w="9525">
            <a:noFill/>
            <a:miter lim="800000"/>
            <a:headEnd/>
            <a:tailEnd/>
          </a:ln>
        </p:spPr>
      </p:pic>
      <p:pic>
        <p:nvPicPr>
          <p:cNvPr id="74756" name="Picture 33" descr="Cello_CoverDesigns_FINAL_2-02"/>
          <p:cNvPicPr>
            <a:picLocks noChangeAspect="1" noChangeArrowheads="1"/>
          </p:cNvPicPr>
          <p:nvPr/>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grpSp>
        <p:nvGrpSpPr>
          <p:cNvPr id="74761" name="Group 19"/>
          <p:cNvGrpSpPr>
            <a:grpSpLocks/>
          </p:cNvGrpSpPr>
          <p:nvPr/>
        </p:nvGrpSpPr>
        <p:grpSpPr bwMode="auto">
          <a:xfrm>
            <a:off x="4498340" y="4332396"/>
            <a:ext cx="1068705" cy="1417743"/>
            <a:chOff x="2173" y="2091"/>
            <a:chExt cx="1436" cy="1845"/>
          </a:xfrm>
        </p:grpSpPr>
        <p:sp>
          <p:nvSpPr>
            <p:cNvPr id="323607" name="Freeform 23"/>
            <p:cNvSpPr>
              <a:spLocks/>
            </p:cNvSpPr>
            <p:nvPr userDrawn="1"/>
          </p:nvSpPr>
          <p:spPr bwMode="auto">
            <a:xfrm>
              <a:off x="2192" y="3620"/>
              <a:ext cx="279"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3"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2"/>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7" y="3627"/>
              <a:ext cx="256" cy="302"/>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299" y="3620"/>
              <a:ext cx="310"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2"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8" cy="1393"/>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7" y="2105"/>
              <a:ext cx="784" cy="1393"/>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4" cy="1393"/>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74762" name="Rectangle 30"/>
          <p:cNvSpPr>
            <a:spLocks noGrp="1" noChangeArrowheads="1"/>
          </p:cNvSpPr>
          <p:nvPr>
            <p:ph type="title"/>
          </p:nvPr>
        </p:nvSpPr>
        <p:spPr bwMode="auto">
          <a:xfrm>
            <a:off x="493294" y="6160168"/>
            <a:ext cx="9071812" cy="987922"/>
          </a:xfrm>
          <a:prstGeom prst="rect">
            <a:avLst/>
          </a:prstGeom>
          <a:noFill/>
          <a:ln w="9525">
            <a:noFill/>
            <a:miter lim="800000"/>
            <a:headEnd/>
            <a:tailEnd/>
          </a:ln>
        </p:spPr>
        <p:txBody>
          <a:bodyPr vert="horz" wrap="square" lIns="101858" tIns="50929" rIns="101858" bIns="50929" numCol="1" anchor="ctr" anchorCtr="0" compatLnSpc="1">
            <a:prstTxWarp prst="textNoShape">
              <a:avLst/>
            </a:prstTxWarp>
          </a:bodyPr>
          <a:lstStyle/>
          <a:p>
            <a:pPr lvl="0"/>
            <a:r>
              <a:rPr lang="en-US" smtClean="0"/>
              <a:t>Click to edit Master title style</a:t>
            </a:r>
          </a:p>
        </p:txBody>
      </p:sp>
      <p:sp>
        <p:nvSpPr>
          <p:cNvPr id="46" name="Rectangle 20"/>
          <p:cNvSpPr>
            <a:spLocks noChangeArrowheads="1"/>
          </p:cNvSpPr>
          <p:nvPr userDrawn="1"/>
        </p:nvSpPr>
        <p:spPr bwMode="auto">
          <a:xfrm>
            <a:off x="228600" y="231774"/>
            <a:ext cx="9601200" cy="7315200"/>
          </a:xfrm>
          <a:prstGeom prst="rect">
            <a:avLst/>
          </a:prstGeom>
          <a:noFill/>
          <a:ln w="19050" cmpd="sng">
            <a:solidFill>
              <a:srgbClr val="EFEBE4"/>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292" algn="ctr" rtl="0" fontAlgn="base">
        <a:spcBef>
          <a:spcPct val="0"/>
        </a:spcBef>
        <a:spcAft>
          <a:spcPct val="0"/>
        </a:spcAft>
        <a:defRPr sz="4000">
          <a:solidFill>
            <a:schemeClr val="tx2"/>
          </a:solidFill>
          <a:latin typeface="Calibri" pitchFamily="34" charset="0"/>
        </a:defRPr>
      </a:lvl6pPr>
      <a:lvl7pPr marL="1018586" algn="ctr" rtl="0" fontAlgn="base">
        <a:spcBef>
          <a:spcPct val="0"/>
        </a:spcBef>
        <a:spcAft>
          <a:spcPct val="0"/>
        </a:spcAft>
        <a:defRPr sz="4000">
          <a:solidFill>
            <a:schemeClr val="tx2"/>
          </a:solidFill>
          <a:latin typeface="Calibri" pitchFamily="34" charset="0"/>
        </a:defRPr>
      </a:lvl7pPr>
      <a:lvl8pPr marL="1527879" algn="ctr" rtl="0" fontAlgn="base">
        <a:spcBef>
          <a:spcPct val="0"/>
        </a:spcBef>
        <a:spcAft>
          <a:spcPct val="0"/>
        </a:spcAft>
        <a:defRPr sz="4000">
          <a:solidFill>
            <a:schemeClr val="tx2"/>
          </a:solidFill>
          <a:latin typeface="Calibri" pitchFamily="34" charset="0"/>
        </a:defRPr>
      </a:lvl8pPr>
      <a:lvl9pPr marL="2037173" algn="ctr" rtl="0" fontAlgn="base">
        <a:spcBef>
          <a:spcPct val="0"/>
        </a:spcBef>
        <a:spcAft>
          <a:spcPct val="0"/>
        </a:spcAft>
        <a:defRPr sz="4000">
          <a:solidFill>
            <a:schemeClr val="tx2"/>
          </a:solidFill>
          <a:latin typeface="Calibri" pitchFamily="34"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1809115" y="1313395"/>
            <a:ext cx="8071168" cy="514921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1789907" y="1394357"/>
            <a:ext cx="0" cy="5849725"/>
          </a:xfrm>
          <a:prstGeom prst="line">
            <a:avLst/>
          </a:prstGeom>
          <a:noFill/>
          <a:ln w="3175">
            <a:solidFill>
              <a:schemeClr val="accent1"/>
            </a:solidFill>
            <a:round/>
            <a:headEnd/>
            <a:tailEnd/>
          </a:ln>
          <a:effectLst/>
        </p:spPr>
        <p:txBody>
          <a:bodyPr lIns="101858" tIns="50929" rIns="101858" bIns="50929"/>
          <a:lstStyle/>
          <a:p>
            <a:pPr>
              <a:defRPr/>
            </a:pPr>
            <a:endParaRPr lang="en-US" dirty="0">
              <a:solidFill>
                <a:srgbClr val="000000"/>
              </a:solidFill>
            </a:endParaRPr>
          </a:p>
        </p:txBody>
      </p:sp>
      <p:sp>
        <p:nvSpPr>
          <p:cNvPr id="45"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solidFill>
                <a:srgbClr val="000000"/>
              </a:solidFill>
            </a:endParaRPr>
          </a:p>
        </p:txBody>
      </p:sp>
      <p:sp>
        <p:nvSpPr>
          <p:cNvPr id="21"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2"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3"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49"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4"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51"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8" name="Picture 33" descr="Cello_CoverDesigns_FINAL_2-02"/>
          <p:cNvPicPr>
            <a:picLocks noChangeAspect="1" noChangeArrowheads="1"/>
          </p:cNvPicPr>
          <p:nvPr userDrawn="1"/>
        </p:nvPicPr>
        <p:blipFill>
          <a:blip r:embed="rId3" cstate="print"/>
          <a:srcRect b="13019"/>
          <a:stretch>
            <a:fillRect/>
          </a:stretch>
        </p:blipFill>
        <p:spPr bwMode="auto">
          <a:xfrm>
            <a:off x="228600" y="788038"/>
            <a:ext cx="9601200" cy="3853742"/>
          </a:xfrm>
          <a:prstGeom prst="rect">
            <a:avLst/>
          </a:prstGeom>
          <a:noFill/>
          <a:ln w="9525">
            <a:noFill/>
            <a:miter lim="800000"/>
            <a:headEnd/>
            <a:tailEnd/>
          </a:ln>
        </p:spPr>
      </p:pic>
      <p:sp>
        <p:nvSpPr>
          <p:cNvPr id="29"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30"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grpSp>
        <p:nvGrpSpPr>
          <p:cNvPr id="31" name="Group 33"/>
          <p:cNvGrpSpPr>
            <a:grpSpLocks/>
          </p:cNvGrpSpPr>
          <p:nvPr userDrawn="1"/>
        </p:nvGrpSpPr>
        <p:grpSpPr bwMode="auto">
          <a:xfrm>
            <a:off x="1011082" y="3986954"/>
            <a:ext cx="2175828" cy="2880466"/>
            <a:chOff x="2173" y="2091"/>
            <a:chExt cx="1436" cy="1845"/>
          </a:xfrm>
        </p:grpSpPr>
        <p:sp>
          <p:nvSpPr>
            <p:cNvPr id="32"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4"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5"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6"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7"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8"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9"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40"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41"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42"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3"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63" r:id="rId1"/>
  </p:sldLayoutIdLst>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292" algn="ctr" rtl="0" fontAlgn="base">
        <a:spcBef>
          <a:spcPct val="0"/>
        </a:spcBef>
        <a:spcAft>
          <a:spcPct val="0"/>
        </a:spcAft>
        <a:defRPr sz="4000">
          <a:solidFill>
            <a:schemeClr val="tx2"/>
          </a:solidFill>
          <a:latin typeface="Calibri" pitchFamily="34" charset="0"/>
        </a:defRPr>
      </a:lvl6pPr>
      <a:lvl7pPr marL="1018586" algn="ctr" rtl="0" fontAlgn="base">
        <a:spcBef>
          <a:spcPct val="0"/>
        </a:spcBef>
        <a:spcAft>
          <a:spcPct val="0"/>
        </a:spcAft>
        <a:defRPr sz="4000">
          <a:solidFill>
            <a:schemeClr val="tx2"/>
          </a:solidFill>
          <a:latin typeface="Calibri" pitchFamily="34" charset="0"/>
        </a:defRPr>
      </a:lvl7pPr>
      <a:lvl8pPr marL="1527879" algn="ctr" rtl="0" fontAlgn="base">
        <a:spcBef>
          <a:spcPct val="0"/>
        </a:spcBef>
        <a:spcAft>
          <a:spcPct val="0"/>
        </a:spcAft>
        <a:defRPr sz="4000">
          <a:solidFill>
            <a:schemeClr val="tx2"/>
          </a:solidFill>
          <a:latin typeface="Calibri" pitchFamily="34" charset="0"/>
        </a:defRPr>
      </a:lvl8pPr>
      <a:lvl9pPr marL="2037173" algn="ctr" rtl="0" fontAlgn="base">
        <a:spcBef>
          <a:spcPct val="0"/>
        </a:spcBef>
        <a:spcAft>
          <a:spcPct val="0"/>
        </a:spcAft>
        <a:defRPr sz="4000">
          <a:solidFill>
            <a:schemeClr val="tx2"/>
          </a:solidFill>
          <a:latin typeface="Calibri" pitchFamily="34"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342901" y="1567075"/>
            <a:ext cx="9372600" cy="5375910"/>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20"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1"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2"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36"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3"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8" name="Straight Connector 37"/>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75"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35" algn="r" rtl="0" fontAlgn="base">
        <a:spcBef>
          <a:spcPct val="0"/>
        </a:spcBef>
        <a:spcAft>
          <a:spcPct val="0"/>
        </a:spcAft>
        <a:defRPr sz="1900">
          <a:solidFill>
            <a:schemeClr val="bg1"/>
          </a:solidFill>
          <a:latin typeface="Calisto MT" pitchFamily="18" charset="0"/>
        </a:defRPr>
      </a:lvl6pPr>
      <a:lvl7pPr marL="1018472" algn="r" rtl="0" fontAlgn="base">
        <a:spcBef>
          <a:spcPct val="0"/>
        </a:spcBef>
        <a:spcAft>
          <a:spcPct val="0"/>
        </a:spcAft>
        <a:defRPr sz="1900">
          <a:solidFill>
            <a:schemeClr val="bg1"/>
          </a:solidFill>
          <a:latin typeface="Calisto MT" pitchFamily="18" charset="0"/>
        </a:defRPr>
      </a:lvl7pPr>
      <a:lvl8pPr marL="1527709" algn="r" rtl="0" fontAlgn="base">
        <a:spcBef>
          <a:spcPct val="0"/>
        </a:spcBef>
        <a:spcAft>
          <a:spcPct val="0"/>
        </a:spcAft>
        <a:defRPr sz="1900">
          <a:solidFill>
            <a:schemeClr val="bg1"/>
          </a:solidFill>
          <a:latin typeface="Calisto MT" pitchFamily="18" charset="0"/>
        </a:defRPr>
      </a:lvl8pPr>
      <a:lvl9pPr marL="2036945" algn="r" rtl="0" fontAlgn="base">
        <a:spcBef>
          <a:spcPct val="0"/>
        </a:spcBef>
        <a:spcAft>
          <a:spcPct val="0"/>
        </a:spcAft>
        <a:defRPr sz="1900">
          <a:solidFill>
            <a:schemeClr val="bg1"/>
          </a:solidFill>
          <a:latin typeface="Calisto MT" pitchFamily="18" charset="0"/>
        </a:defRPr>
      </a:lvl9pPr>
    </p:titleStyle>
    <p:bodyStyle>
      <a:lvl1pPr marL="187449" indent="-187449"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665" indent="-185681"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882" indent="-185681"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800798" indent="-254617" algn="l" rtl="0" fontAlgn="base">
        <a:spcBef>
          <a:spcPct val="20000"/>
        </a:spcBef>
        <a:spcAft>
          <a:spcPct val="0"/>
        </a:spcAft>
        <a:buChar char="»"/>
        <a:defRPr sz="1600">
          <a:solidFill>
            <a:schemeClr val="tx1"/>
          </a:solidFill>
          <a:latin typeface="Arial" charset="0"/>
        </a:defRPr>
      </a:lvl6pPr>
      <a:lvl7pPr marL="3310035" indent="-254617" algn="l" rtl="0" fontAlgn="base">
        <a:spcBef>
          <a:spcPct val="20000"/>
        </a:spcBef>
        <a:spcAft>
          <a:spcPct val="0"/>
        </a:spcAft>
        <a:buChar char="»"/>
        <a:defRPr sz="1600">
          <a:solidFill>
            <a:schemeClr val="tx1"/>
          </a:solidFill>
          <a:latin typeface="Arial" charset="0"/>
        </a:defRPr>
      </a:lvl7pPr>
      <a:lvl8pPr marL="3819270" indent="-254617" algn="l" rtl="0" fontAlgn="base">
        <a:spcBef>
          <a:spcPct val="20000"/>
        </a:spcBef>
        <a:spcAft>
          <a:spcPct val="0"/>
        </a:spcAft>
        <a:buChar char="»"/>
        <a:defRPr sz="1600">
          <a:solidFill>
            <a:schemeClr val="tx1"/>
          </a:solidFill>
          <a:latin typeface="Arial" charset="0"/>
        </a:defRPr>
      </a:lvl8pPr>
      <a:lvl9pPr marL="4328505" indent="-25461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68436"/>
            <a:ext cx="9601200" cy="4295367"/>
          </a:xfrm>
          <a:prstGeom prst="rect">
            <a:avLst/>
          </a:prstGeom>
          <a:noFill/>
        </p:spPr>
      </p:pic>
      <p:sp>
        <p:nvSpPr>
          <p:cNvPr id="323601" name="Line 17"/>
          <p:cNvSpPr>
            <a:spLocks noChangeShapeType="1"/>
          </p:cNvSpPr>
          <p:nvPr/>
        </p:nvSpPr>
        <p:spPr bwMode="auto">
          <a:xfrm>
            <a:off x="228600" y="5181262"/>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2" name="Line 17"/>
          <p:cNvSpPr>
            <a:spLocks noChangeShapeType="1"/>
          </p:cNvSpPr>
          <p:nvPr/>
        </p:nvSpPr>
        <p:spPr bwMode="auto">
          <a:xfrm>
            <a:off x="228600"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grpSp>
        <p:nvGrpSpPr>
          <p:cNvPr id="4"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47" tIns="50923" rIns="101847" bIns="50923" anchor="ctr"/>
          <a:lstStyle/>
          <a:p>
            <a:pPr>
              <a:defRPr/>
            </a:pPr>
            <a:endParaRPr lang="en-US" dirty="0">
              <a:solidFill>
                <a:srgbClr val="000000"/>
              </a:solidFill>
            </a:endParaRPr>
          </a:p>
        </p:txBody>
      </p:sp>
      <p:pic>
        <p:nvPicPr>
          <p:cNvPr id="28" name="Picture 27" descr="GUGG_logo_262.gif"/>
          <p:cNvPicPr>
            <a:picLocks noChangeAspect="1"/>
          </p:cNvPicPr>
          <p:nvPr userDrawn="1"/>
        </p:nvPicPr>
        <p:blipFill>
          <a:blip r:embed="rId3" cstate="print"/>
          <a:stretch>
            <a:fillRect/>
          </a:stretch>
        </p:blipFill>
        <p:spPr>
          <a:xfrm>
            <a:off x="3992880" y="468949"/>
            <a:ext cx="2072640" cy="153375"/>
          </a:xfrm>
          <a:prstGeom prst="rect">
            <a:avLst/>
          </a:prstGeom>
        </p:spPr>
      </p:pic>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2" cstate="print"/>
          <a:srcRect b="3510"/>
          <a:stretch>
            <a:fillRect/>
          </a:stretch>
        </p:blipFill>
        <p:spPr bwMode="auto">
          <a:xfrm>
            <a:off x="228600" y="4697402"/>
            <a:ext cx="9601200" cy="482500"/>
          </a:xfrm>
          <a:prstGeom prst="rect">
            <a:avLst/>
          </a:prstGeom>
          <a:noFill/>
        </p:spPr>
      </p:pic>
      <p:pic>
        <p:nvPicPr>
          <p:cNvPr id="37892" name="Picture 33" descr="Cello_CoverDesigns_FINAL_2-02"/>
          <p:cNvPicPr>
            <a:picLocks noChangeAspect="1" noChangeArrowheads="1"/>
          </p:cNvPicPr>
          <p:nvPr/>
        </p:nvPicPr>
        <p:blipFill>
          <a:blip r:embed="rId3" cstate="print"/>
          <a:srcRect b="13019"/>
          <a:stretch>
            <a:fillRect/>
          </a:stretch>
        </p:blipFill>
        <p:spPr bwMode="auto">
          <a:xfrm>
            <a:off x="228600" y="788038"/>
            <a:ext cx="9601200" cy="3853742"/>
          </a:xfrm>
          <a:prstGeom prst="rect">
            <a:avLst/>
          </a:prstGeom>
          <a:noFill/>
          <a:ln w="9525">
            <a:noFill/>
            <a:miter lim="800000"/>
            <a:headEnd/>
            <a:tailEnd/>
          </a:ln>
        </p:spPr>
      </p:pic>
      <p:sp>
        <p:nvSpPr>
          <p:cNvPr id="33" name="Rectangle 20"/>
          <p:cNvSpPr>
            <a:spLocks noChangeArrowheads="1"/>
          </p:cNvSpPr>
          <p:nvPr/>
        </p:nvSpPr>
        <p:spPr bwMode="auto">
          <a:xfrm>
            <a:off x="228600" y="228600"/>
            <a:ext cx="9601200" cy="7315200"/>
          </a:xfrm>
          <a:prstGeom prst="rect">
            <a:avLst/>
          </a:prstGeom>
          <a:noFill/>
          <a:ln w="38100">
            <a:solidFill>
              <a:srgbClr val="DAD6D3"/>
            </a:solidFill>
            <a:miter lim="800000"/>
            <a:headEnd/>
            <a:tailEnd/>
          </a:ln>
          <a:effectLst/>
        </p:spPr>
        <p:txBody>
          <a:bodyPr wrap="none" lIns="101847" tIns="50923" rIns="101847" bIns="50923" anchor="ctr"/>
          <a:lstStyle/>
          <a:p>
            <a:pPr>
              <a:defRPr/>
            </a:pPr>
            <a:endParaRPr lang="en-US" dirty="0">
              <a:solidFill>
                <a:srgbClr val="000000"/>
              </a:solidFill>
            </a:endParaRPr>
          </a:p>
        </p:txBody>
      </p:sp>
      <p:grpSp>
        <p:nvGrpSpPr>
          <p:cNvPr id="4" name="Group 33"/>
          <p:cNvGrpSpPr>
            <a:grpSpLocks/>
          </p:cNvGrpSpPr>
          <p:nvPr/>
        </p:nvGrpSpPr>
        <p:grpSpPr bwMode="auto">
          <a:xfrm>
            <a:off x="3775395"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grpSp>
      <p:pic>
        <p:nvPicPr>
          <p:cNvPr id="27" name="Picture 26" descr="GUGG_logo_262.gif"/>
          <p:cNvPicPr>
            <a:picLocks noChangeAspect="1"/>
          </p:cNvPicPr>
          <p:nvPr userDrawn="1"/>
        </p:nvPicPr>
        <p:blipFill>
          <a:blip r:embed="rId4" cstate="print"/>
          <a:stretch>
            <a:fillRect/>
          </a:stretch>
        </p:blipFill>
        <p:spPr>
          <a:xfrm>
            <a:off x="3992880" y="468949"/>
            <a:ext cx="2072640" cy="153375"/>
          </a:xfrm>
          <a:prstGeom prst="rect">
            <a:avLst/>
          </a:prstGeom>
        </p:spPr>
      </p:pic>
    </p:spTree>
  </p:cSld>
  <p:clrMap bg1="lt1" tx1="dk1" bg2="lt2" tx2="dk2" accent1="accent1" accent2="accent2" accent3="accent3" accent4="accent4" accent5="accent5" accent6="accent6" hlink="hlink" folHlink="folHlink"/>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35" algn="ctr" rtl="0" fontAlgn="base">
        <a:spcBef>
          <a:spcPct val="0"/>
        </a:spcBef>
        <a:spcAft>
          <a:spcPct val="0"/>
        </a:spcAft>
        <a:defRPr sz="4900">
          <a:solidFill>
            <a:schemeClr val="tx2"/>
          </a:solidFill>
          <a:latin typeface="Cambria" pitchFamily="18" charset="0"/>
        </a:defRPr>
      </a:lvl6pPr>
      <a:lvl7pPr marL="1018472" algn="ctr" rtl="0" fontAlgn="base">
        <a:spcBef>
          <a:spcPct val="0"/>
        </a:spcBef>
        <a:spcAft>
          <a:spcPct val="0"/>
        </a:spcAft>
        <a:defRPr sz="4900">
          <a:solidFill>
            <a:schemeClr val="tx2"/>
          </a:solidFill>
          <a:latin typeface="Cambria" pitchFamily="18" charset="0"/>
        </a:defRPr>
      </a:lvl7pPr>
      <a:lvl8pPr marL="1527709" algn="ctr" rtl="0" fontAlgn="base">
        <a:spcBef>
          <a:spcPct val="0"/>
        </a:spcBef>
        <a:spcAft>
          <a:spcPct val="0"/>
        </a:spcAft>
        <a:defRPr sz="4900">
          <a:solidFill>
            <a:schemeClr val="tx2"/>
          </a:solidFill>
          <a:latin typeface="Cambria" pitchFamily="18" charset="0"/>
        </a:defRPr>
      </a:lvl8pPr>
      <a:lvl9pPr marL="2036945"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800798" indent="-254617" algn="l" rtl="0" fontAlgn="base">
        <a:spcBef>
          <a:spcPct val="20000"/>
        </a:spcBef>
        <a:spcAft>
          <a:spcPct val="0"/>
        </a:spcAft>
        <a:buChar char="»"/>
        <a:defRPr sz="2200">
          <a:solidFill>
            <a:schemeClr val="tx1"/>
          </a:solidFill>
          <a:latin typeface="+mn-lt"/>
        </a:defRPr>
      </a:lvl6pPr>
      <a:lvl7pPr marL="3310035" indent="-254617" algn="l" rtl="0" fontAlgn="base">
        <a:spcBef>
          <a:spcPct val="20000"/>
        </a:spcBef>
        <a:spcAft>
          <a:spcPct val="0"/>
        </a:spcAft>
        <a:buChar char="»"/>
        <a:defRPr sz="2200">
          <a:solidFill>
            <a:schemeClr val="tx1"/>
          </a:solidFill>
          <a:latin typeface="+mn-lt"/>
        </a:defRPr>
      </a:lvl7pPr>
      <a:lvl8pPr marL="3819270" indent="-254617" algn="l" rtl="0" fontAlgn="base">
        <a:spcBef>
          <a:spcPct val="20000"/>
        </a:spcBef>
        <a:spcAft>
          <a:spcPct val="0"/>
        </a:spcAft>
        <a:buChar char="»"/>
        <a:defRPr sz="2200">
          <a:solidFill>
            <a:schemeClr val="tx1"/>
          </a:solidFill>
          <a:latin typeface="+mn-lt"/>
        </a:defRPr>
      </a:lvl8pPr>
      <a:lvl9pPr marL="4328505" indent="-25461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1"/>
            <a:ext cx="9601200" cy="649224"/>
          </a:xfrm>
          <a:prstGeom prst="rect">
            <a:avLst/>
          </a:prstGeom>
          <a:solidFill>
            <a:srgbClr val="2E398A"/>
          </a:solidFill>
          <a:ln w="9525">
            <a:noFill/>
            <a:miter lim="800000"/>
            <a:headEnd/>
            <a:tailEnd/>
          </a:ln>
          <a:effectLst/>
        </p:spPr>
        <p:txBody>
          <a:bodyPr wrap="none" lIns="101859" tIns="50929" rIns="101859" bIns="50929" anchor="ctr"/>
          <a:lstStyle/>
          <a:p>
            <a:pPr defTabSz="1018824">
              <a:defRPr/>
            </a:pPr>
            <a:endParaRPr lang="en-US" sz="2000" dirty="0">
              <a:solidFill>
                <a:srgbClr val="000000"/>
              </a:solidFill>
            </a:endParaRPr>
          </a:p>
        </p:txBody>
      </p:sp>
      <p:sp>
        <p:nvSpPr>
          <p:cNvPr id="1029" name="Rectangle 2"/>
          <p:cNvSpPr>
            <a:spLocks noGrp="1" noChangeArrowheads="1"/>
          </p:cNvSpPr>
          <p:nvPr>
            <p:ph type="title"/>
          </p:nvPr>
        </p:nvSpPr>
        <p:spPr bwMode="auto">
          <a:xfrm>
            <a:off x="2518974" y="220861"/>
            <a:ext cx="7280116" cy="644102"/>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1" y="7333576"/>
            <a:ext cx="827723" cy="213400"/>
          </a:xfrm>
          <a:prstGeom prst="rect">
            <a:avLst/>
          </a:prstGeom>
          <a:noFill/>
          <a:ln w="9525">
            <a:noFill/>
            <a:miter lim="800000"/>
            <a:headEnd/>
            <a:tailEnd/>
          </a:ln>
          <a:effectLst/>
        </p:spPr>
        <p:txBody>
          <a:bodyPr lIns="0" tIns="0" rIns="0" bIns="0" anchor="b"/>
          <a:lstStyle/>
          <a:p>
            <a:pPr defTabSz="1018824">
              <a:defRPr/>
            </a:pPr>
            <a:r>
              <a:rPr lang="en-US" sz="900" b="1" dirty="0">
                <a:solidFill>
                  <a:srgbClr val="203353"/>
                </a:solidFill>
                <a:latin typeface="Calibri"/>
              </a:rPr>
              <a:t>PAGE </a:t>
            </a:r>
            <a:fld id="{54B17DE0-6D87-48AB-BBA0-9128AA86CC3B}" type="slidenum">
              <a:rPr lang="en-US" sz="900" b="1">
                <a:solidFill>
                  <a:srgbClr val="203353"/>
                </a:solidFill>
                <a:latin typeface="Calibri"/>
              </a:rPr>
              <a:pPr defTabSz="1018824">
                <a:defRPr/>
              </a:pPr>
              <a:t>‹#›</a:t>
            </a:fld>
            <a:endParaRPr lang="en-US" sz="90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6047961"/>
      </p:ext>
    </p:extLst>
  </p:cSld>
  <p:clrMap bg1="lt1" tx1="dk1" bg2="lt2" tx2="dk2" accent1="accent1" accent2="accent2" accent3="accent3" accent4="accent4" accent5="accent5" accent6="accent6" hlink="hlink" folHlink="folHlink"/>
  <p:sldLayoutIdLst>
    <p:sldLayoutId id="2147483848" r:id="rId1"/>
    <p:sldLayoutId id="2147483849" r:id="rId2"/>
    <p:sldLayoutId id="2147483850" r:id="rId3"/>
    <p:sldLayoutId id="2147483851" r:id="rId4"/>
    <p:sldLayoutId id="2147483852"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5" algn="r" rtl="0" fontAlgn="base">
        <a:spcBef>
          <a:spcPct val="0"/>
        </a:spcBef>
        <a:spcAft>
          <a:spcPct val="0"/>
        </a:spcAft>
        <a:defRPr sz="1900">
          <a:solidFill>
            <a:schemeClr val="bg1"/>
          </a:solidFill>
          <a:latin typeface="Calisto MT" pitchFamily="18" charset="0"/>
        </a:defRPr>
      </a:lvl6pPr>
      <a:lvl7pPr marL="1018592" algn="r" rtl="0" fontAlgn="base">
        <a:spcBef>
          <a:spcPct val="0"/>
        </a:spcBef>
        <a:spcAft>
          <a:spcPct val="0"/>
        </a:spcAft>
        <a:defRPr sz="1900">
          <a:solidFill>
            <a:schemeClr val="bg1"/>
          </a:solidFill>
          <a:latin typeface="Calisto MT" pitchFamily="18" charset="0"/>
        </a:defRPr>
      </a:lvl7pPr>
      <a:lvl8pPr marL="1527887" algn="r" rtl="0" fontAlgn="base">
        <a:spcBef>
          <a:spcPct val="0"/>
        </a:spcBef>
        <a:spcAft>
          <a:spcPct val="0"/>
        </a:spcAft>
        <a:defRPr sz="1900">
          <a:solidFill>
            <a:schemeClr val="bg1"/>
          </a:solidFill>
          <a:latin typeface="Calisto MT" pitchFamily="18" charset="0"/>
        </a:defRPr>
      </a:lvl8pPr>
      <a:lvl9pPr marL="2037183" algn="r" rtl="0" fontAlgn="base">
        <a:spcBef>
          <a:spcPct val="0"/>
        </a:spcBef>
        <a:spcAft>
          <a:spcPct val="0"/>
        </a:spcAft>
        <a:defRPr sz="1900">
          <a:solidFill>
            <a:schemeClr val="bg1"/>
          </a:solidFill>
          <a:latin typeface="Calisto MT" pitchFamily="18" charset="0"/>
        </a:defRPr>
      </a:lvl9pPr>
    </p:titleStyle>
    <p:bodyStyle>
      <a:lvl1pPr marL="187470" indent="-187470"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709" indent="-185703"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948" indent="-185703"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966" indent="-252909" algn="l" rtl="0" eaLnBrk="0" fontAlgn="base" hangingPunct="0">
        <a:spcBef>
          <a:spcPct val="20000"/>
        </a:spcBef>
        <a:spcAft>
          <a:spcPct val="0"/>
        </a:spcAft>
        <a:buChar char="–"/>
        <a:defRPr sz="1600">
          <a:solidFill>
            <a:schemeClr val="tx1"/>
          </a:solidFill>
          <a:latin typeface="Arial" charset="0"/>
        </a:defRPr>
      </a:lvl4pPr>
      <a:lvl5pPr marL="2290319" indent="-252909" algn="l" rtl="0" eaLnBrk="0" fontAlgn="base" hangingPunct="0">
        <a:spcBef>
          <a:spcPct val="20000"/>
        </a:spcBef>
        <a:spcAft>
          <a:spcPct val="0"/>
        </a:spcAft>
        <a:buChar char="»"/>
        <a:defRPr sz="1600">
          <a:solidFill>
            <a:schemeClr val="tx1"/>
          </a:solidFill>
          <a:latin typeface="Arial" charset="0"/>
        </a:defRPr>
      </a:lvl5pPr>
      <a:lvl6pPr marL="2801126" indent="-254647" algn="l" rtl="0" fontAlgn="base">
        <a:spcBef>
          <a:spcPct val="20000"/>
        </a:spcBef>
        <a:spcAft>
          <a:spcPct val="0"/>
        </a:spcAft>
        <a:buChar char="»"/>
        <a:defRPr sz="1600">
          <a:solidFill>
            <a:schemeClr val="tx1"/>
          </a:solidFill>
          <a:latin typeface="Arial" charset="0"/>
        </a:defRPr>
      </a:lvl6pPr>
      <a:lvl7pPr marL="3310422" indent="-254647" algn="l" rtl="0" fontAlgn="base">
        <a:spcBef>
          <a:spcPct val="20000"/>
        </a:spcBef>
        <a:spcAft>
          <a:spcPct val="0"/>
        </a:spcAft>
        <a:buChar char="»"/>
        <a:defRPr sz="1600">
          <a:solidFill>
            <a:schemeClr val="tx1"/>
          </a:solidFill>
          <a:latin typeface="Arial" charset="0"/>
        </a:defRPr>
      </a:lvl7pPr>
      <a:lvl8pPr marL="3819717" indent="-254647" algn="l" rtl="0" fontAlgn="base">
        <a:spcBef>
          <a:spcPct val="20000"/>
        </a:spcBef>
        <a:spcAft>
          <a:spcPct val="0"/>
        </a:spcAft>
        <a:buChar char="»"/>
        <a:defRPr sz="1600">
          <a:solidFill>
            <a:schemeClr val="tx1"/>
          </a:solidFill>
          <a:latin typeface="Arial" charset="0"/>
        </a:defRPr>
      </a:lvl8pPr>
      <a:lvl9pPr marL="4329012" indent="-25464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92" rtl="0" eaLnBrk="1" latinLnBrk="0" hangingPunct="1">
        <a:defRPr sz="2000" kern="1200">
          <a:solidFill>
            <a:schemeClr val="tx1"/>
          </a:solidFill>
          <a:latin typeface="+mn-lt"/>
          <a:ea typeface="+mn-ea"/>
          <a:cs typeface="+mn-cs"/>
        </a:defRPr>
      </a:lvl1pPr>
      <a:lvl2pPr marL="509295" algn="l" defTabSz="1018592" rtl="0" eaLnBrk="1" latinLnBrk="0" hangingPunct="1">
        <a:defRPr sz="2000" kern="1200">
          <a:solidFill>
            <a:schemeClr val="tx1"/>
          </a:solidFill>
          <a:latin typeface="+mn-lt"/>
          <a:ea typeface="+mn-ea"/>
          <a:cs typeface="+mn-cs"/>
        </a:defRPr>
      </a:lvl2pPr>
      <a:lvl3pPr marL="1018592" algn="l" defTabSz="1018592" rtl="0" eaLnBrk="1" latinLnBrk="0" hangingPunct="1">
        <a:defRPr sz="2000" kern="1200">
          <a:solidFill>
            <a:schemeClr val="tx1"/>
          </a:solidFill>
          <a:latin typeface="+mn-lt"/>
          <a:ea typeface="+mn-ea"/>
          <a:cs typeface="+mn-cs"/>
        </a:defRPr>
      </a:lvl3pPr>
      <a:lvl4pPr marL="1527887" algn="l" defTabSz="1018592" rtl="0" eaLnBrk="1" latinLnBrk="0" hangingPunct="1">
        <a:defRPr sz="2000" kern="1200">
          <a:solidFill>
            <a:schemeClr val="tx1"/>
          </a:solidFill>
          <a:latin typeface="+mn-lt"/>
          <a:ea typeface="+mn-ea"/>
          <a:cs typeface="+mn-cs"/>
        </a:defRPr>
      </a:lvl4pPr>
      <a:lvl5pPr marL="2037183" algn="l" defTabSz="1018592" rtl="0" eaLnBrk="1" latinLnBrk="0" hangingPunct="1">
        <a:defRPr sz="2000" kern="1200">
          <a:solidFill>
            <a:schemeClr val="tx1"/>
          </a:solidFill>
          <a:latin typeface="+mn-lt"/>
          <a:ea typeface="+mn-ea"/>
          <a:cs typeface="+mn-cs"/>
        </a:defRPr>
      </a:lvl5pPr>
      <a:lvl6pPr marL="2546478" algn="l" defTabSz="1018592" rtl="0" eaLnBrk="1" latinLnBrk="0" hangingPunct="1">
        <a:defRPr sz="2000" kern="1200">
          <a:solidFill>
            <a:schemeClr val="tx1"/>
          </a:solidFill>
          <a:latin typeface="+mn-lt"/>
          <a:ea typeface="+mn-ea"/>
          <a:cs typeface="+mn-cs"/>
        </a:defRPr>
      </a:lvl6pPr>
      <a:lvl7pPr marL="3055774" algn="l" defTabSz="1018592" rtl="0" eaLnBrk="1" latinLnBrk="0" hangingPunct="1">
        <a:defRPr sz="2000" kern="1200">
          <a:solidFill>
            <a:schemeClr val="tx1"/>
          </a:solidFill>
          <a:latin typeface="+mn-lt"/>
          <a:ea typeface="+mn-ea"/>
          <a:cs typeface="+mn-cs"/>
        </a:defRPr>
      </a:lvl7pPr>
      <a:lvl8pPr marL="3565070" algn="l" defTabSz="1018592" rtl="0" eaLnBrk="1" latinLnBrk="0" hangingPunct="1">
        <a:defRPr sz="2000" kern="1200">
          <a:solidFill>
            <a:schemeClr val="tx1"/>
          </a:solidFill>
          <a:latin typeface="+mn-lt"/>
          <a:ea typeface="+mn-ea"/>
          <a:cs typeface="+mn-cs"/>
        </a:defRPr>
      </a:lvl8pPr>
      <a:lvl9pPr marL="4074364" algn="l" defTabSz="1018592" rtl="0" eaLnBrk="1" latinLnBrk="0" hangingPunct="1">
        <a:defRPr sz="20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692" tIns="50847" rIns="101692" bIns="50847"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101692" tIns="50847" rIns="101692" bIns="50847" anchor="ctr"/>
          <a:lstStyle/>
          <a:p>
            <a:pPr defTabSz="1017157">
              <a:defRPr/>
            </a:pPr>
            <a:endParaRPr lang="en-US" sz="2000" dirty="0">
              <a:solidFill>
                <a:srgbClr val="000000"/>
              </a:solidFill>
            </a:endParaRPr>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692" tIns="50847" rIns="101692" bIns="50847"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17" y="7333576"/>
            <a:ext cx="827723" cy="213400"/>
          </a:xfrm>
          <a:prstGeom prst="rect">
            <a:avLst/>
          </a:prstGeom>
          <a:noFill/>
          <a:ln w="9525">
            <a:noFill/>
            <a:miter lim="800000"/>
            <a:headEnd/>
            <a:tailEnd/>
          </a:ln>
          <a:effectLst/>
        </p:spPr>
        <p:txBody>
          <a:bodyPr lIns="0" tIns="0" rIns="0" bIns="0" anchor="b"/>
          <a:lstStyle/>
          <a:p>
            <a:pPr defTabSz="1017157">
              <a:defRPr/>
            </a:pPr>
            <a:r>
              <a:rPr lang="en-US" sz="900" b="1" dirty="0">
                <a:solidFill>
                  <a:srgbClr val="203353"/>
                </a:solidFill>
                <a:latin typeface="Calibri"/>
              </a:rPr>
              <a:t>PAGE </a:t>
            </a:r>
            <a:fld id="{54B17DE0-6D87-48AB-BBA0-9128AA86CC3B}" type="slidenum">
              <a:rPr lang="en-US" sz="900" b="1">
                <a:solidFill>
                  <a:srgbClr val="203353"/>
                </a:solidFill>
                <a:latin typeface="Calibri"/>
              </a:rPr>
              <a:pPr defTabSz="1017157">
                <a:defRPr/>
              </a:pPr>
              <a:t>‹#›</a:t>
            </a:fld>
            <a:endParaRPr lang="en-US" sz="90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7169777"/>
      </p:ext>
    </p:extLst>
  </p:cSld>
  <p:clrMap bg1="lt1" tx1="dk1" bg2="lt2" tx2="dk2" accent1="accent1" accent2="accent2" accent3="accent3" accent4="accent4" accent5="accent5" accent6="accent6" hlink="hlink" folHlink="folHlink"/>
  <p:sldLayoutIdLst>
    <p:sldLayoutId id="2147483854" r:id="rId1"/>
    <p:sldLayoutId id="2147483855" r:id="rId2"/>
    <p:sldLayoutId id="2147483856" r:id="rId3"/>
    <p:sldLayoutId id="2147483857" r:id="rId4"/>
    <p:sldLayoutId id="2147483858"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8463" algn="r" rtl="0" fontAlgn="base">
        <a:spcBef>
          <a:spcPct val="0"/>
        </a:spcBef>
        <a:spcAft>
          <a:spcPct val="0"/>
        </a:spcAft>
        <a:defRPr sz="1900">
          <a:solidFill>
            <a:schemeClr val="bg1"/>
          </a:solidFill>
          <a:latin typeface="Calisto MT" pitchFamily="18" charset="0"/>
        </a:defRPr>
      </a:lvl6pPr>
      <a:lvl7pPr marL="1016925" algn="r" rtl="0" fontAlgn="base">
        <a:spcBef>
          <a:spcPct val="0"/>
        </a:spcBef>
        <a:spcAft>
          <a:spcPct val="0"/>
        </a:spcAft>
        <a:defRPr sz="1900">
          <a:solidFill>
            <a:schemeClr val="bg1"/>
          </a:solidFill>
          <a:latin typeface="Calisto MT" pitchFamily="18" charset="0"/>
        </a:defRPr>
      </a:lvl7pPr>
      <a:lvl8pPr marL="1525388" algn="r" rtl="0" fontAlgn="base">
        <a:spcBef>
          <a:spcPct val="0"/>
        </a:spcBef>
        <a:spcAft>
          <a:spcPct val="0"/>
        </a:spcAft>
        <a:defRPr sz="1900">
          <a:solidFill>
            <a:schemeClr val="bg1"/>
          </a:solidFill>
          <a:latin typeface="Calisto MT" pitchFamily="18" charset="0"/>
        </a:defRPr>
      </a:lvl8pPr>
      <a:lvl9pPr marL="2033851" algn="r" rtl="0" fontAlgn="base">
        <a:spcBef>
          <a:spcPct val="0"/>
        </a:spcBef>
        <a:spcAft>
          <a:spcPct val="0"/>
        </a:spcAft>
        <a:defRPr sz="1900">
          <a:solidFill>
            <a:schemeClr val="bg1"/>
          </a:solidFill>
          <a:latin typeface="Calisto MT" pitchFamily="18" charset="0"/>
        </a:defRPr>
      </a:lvl9pPr>
    </p:titleStyle>
    <p:bodyStyle>
      <a:lvl1pPr marL="187164" indent="-187164"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093" indent="-185400"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023" indent="-185400"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78054" indent="-252500" algn="l" rtl="0" eaLnBrk="0" fontAlgn="base" hangingPunct="0">
        <a:spcBef>
          <a:spcPct val="20000"/>
        </a:spcBef>
        <a:spcAft>
          <a:spcPct val="0"/>
        </a:spcAft>
        <a:buChar char="–"/>
        <a:defRPr sz="1600">
          <a:solidFill>
            <a:schemeClr val="tx1"/>
          </a:solidFill>
          <a:latin typeface="Arial" charset="0"/>
        </a:defRPr>
      </a:lvl4pPr>
      <a:lvl5pPr marL="2286573" indent="-252500" algn="l" rtl="0" eaLnBrk="0" fontAlgn="base" hangingPunct="0">
        <a:spcBef>
          <a:spcPct val="20000"/>
        </a:spcBef>
        <a:spcAft>
          <a:spcPct val="0"/>
        </a:spcAft>
        <a:buChar char="»"/>
        <a:defRPr sz="1600">
          <a:solidFill>
            <a:schemeClr val="tx1"/>
          </a:solidFill>
          <a:latin typeface="Arial" charset="0"/>
        </a:defRPr>
      </a:lvl5pPr>
      <a:lvl6pPr marL="2796545" indent="-254235" algn="l" rtl="0" fontAlgn="base">
        <a:spcBef>
          <a:spcPct val="20000"/>
        </a:spcBef>
        <a:spcAft>
          <a:spcPct val="0"/>
        </a:spcAft>
        <a:buChar char="»"/>
        <a:defRPr sz="1600">
          <a:solidFill>
            <a:schemeClr val="tx1"/>
          </a:solidFill>
          <a:latin typeface="Arial" charset="0"/>
        </a:defRPr>
      </a:lvl6pPr>
      <a:lvl7pPr marL="3305008" indent="-254235" algn="l" rtl="0" fontAlgn="base">
        <a:spcBef>
          <a:spcPct val="20000"/>
        </a:spcBef>
        <a:spcAft>
          <a:spcPct val="0"/>
        </a:spcAft>
        <a:buChar char="»"/>
        <a:defRPr sz="1600">
          <a:solidFill>
            <a:schemeClr val="tx1"/>
          </a:solidFill>
          <a:latin typeface="Arial" charset="0"/>
        </a:defRPr>
      </a:lvl7pPr>
      <a:lvl8pPr marL="3813470" indent="-254235" algn="l" rtl="0" fontAlgn="base">
        <a:spcBef>
          <a:spcPct val="20000"/>
        </a:spcBef>
        <a:spcAft>
          <a:spcPct val="0"/>
        </a:spcAft>
        <a:buChar char="»"/>
        <a:defRPr sz="1600">
          <a:solidFill>
            <a:schemeClr val="tx1"/>
          </a:solidFill>
          <a:latin typeface="Arial" charset="0"/>
        </a:defRPr>
      </a:lvl8pPr>
      <a:lvl9pPr marL="4321928" indent="-254235"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6925" rtl="0" eaLnBrk="1" latinLnBrk="0" hangingPunct="1">
        <a:defRPr sz="2000" kern="1200">
          <a:solidFill>
            <a:schemeClr val="tx1"/>
          </a:solidFill>
          <a:latin typeface="+mn-lt"/>
          <a:ea typeface="+mn-ea"/>
          <a:cs typeface="+mn-cs"/>
        </a:defRPr>
      </a:lvl1pPr>
      <a:lvl2pPr marL="508463" algn="l" defTabSz="1016925" rtl="0" eaLnBrk="1" latinLnBrk="0" hangingPunct="1">
        <a:defRPr sz="2000" kern="1200">
          <a:solidFill>
            <a:schemeClr val="tx1"/>
          </a:solidFill>
          <a:latin typeface="+mn-lt"/>
          <a:ea typeface="+mn-ea"/>
          <a:cs typeface="+mn-cs"/>
        </a:defRPr>
      </a:lvl2pPr>
      <a:lvl3pPr marL="1016925" algn="l" defTabSz="1016925" rtl="0" eaLnBrk="1" latinLnBrk="0" hangingPunct="1">
        <a:defRPr sz="2000" kern="1200">
          <a:solidFill>
            <a:schemeClr val="tx1"/>
          </a:solidFill>
          <a:latin typeface="+mn-lt"/>
          <a:ea typeface="+mn-ea"/>
          <a:cs typeface="+mn-cs"/>
        </a:defRPr>
      </a:lvl3pPr>
      <a:lvl4pPr marL="1525388" algn="l" defTabSz="1016925" rtl="0" eaLnBrk="1" latinLnBrk="0" hangingPunct="1">
        <a:defRPr sz="2000" kern="1200">
          <a:solidFill>
            <a:schemeClr val="tx1"/>
          </a:solidFill>
          <a:latin typeface="+mn-lt"/>
          <a:ea typeface="+mn-ea"/>
          <a:cs typeface="+mn-cs"/>
        </a:defRPr>
      </a:lvl4pPr>
      <a:lvl5pPr marL="2033851" algn="l" defTabSz="1016925" rtl="0" eaLnBrk="1" latinLnBrk="0" hangingPunct="1">
        <a:defRPr sz="2000" kern="1200">
          <a:solidFill>
            <a:schemeClr val="tx1"/>
          </a:solidFill>
          <a:latin typeface="+mn-lt"/>
          <a:ea typeface="+mn-ea"/>
          <a:cs typeface="+mn-cs"/>
        </a:defRPr>
      </a:lvl5pPr>
      <a:lvl6pPr marL="2542312" algn="l" defTabSz="1016925" rtl="0" eaLnBrk="1" latinLnBrk="0" hangingPunct="1">
        <a:defRPr sz="2000" kern="1200">
          <a:solidFill>
            <a:schemeClr val="tx1"/>
          </a:solidFill>
          <a:latin typeface="+mn-lt"/>
          <a:ea typeface="+mn-ea"/>
          <a:cs typeface="+mn-cs"/>
        </a:defRPr>
      </a:lvl6pPr>
      <a:lvl7pPr marL="3050775" algn="l" defTabSz="1016925" rtl="0" eaLnBrk="1" latinLnBrk="0" hangingPunct="1">
        <a:defRPr sz="2000" kern="1200">
          <a:solidFill>
            <a:schemeClr val="tx1"/>
          </a:solidFill>
          <a:latin typeface="+mn-lt"/>
          <a:ea typeface="+mn-ea"/>
          <a:cs typeface="+mn-cs"/>
        </a:defRPr>
      </a:lvl7pPr>
      <a:lvl8pPr marL="3559239" algn="l" defTabSz="1016925" rtl="0" eaLnBrk="1" latinLnBrk="0" hangingPunct="1">
        <a:defRPr sz="2000" kern="1200">
          <a:solidFill>
            <a:schemeClr val="tx1"/>
          </a:solidFill>
          <a:latin typeface="+mn-lt"/>
          <a:ea typeface="+mn-ea"/>
          <a:cs typeface="+mn-cs"/>
        </a:defRPr>
      </a:lvl8pPr>
      <a:lvl9pPr marL="4067698" algn="l" defTabSz="1016925"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chart" Target="../charts/chart2.xml"/><Relationship Id="rId5" Type="http://schemas.openxmlformats.org/officeDocument/2006/relationships/chart" Target="../charts/chart1.xml"/><Relationship Id="rId4"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8.emf"/><Relationship Id="rId13" Type="http://schemas.openxmlformats.org/officeDocument/2006/relationships/image" Target="../media/image13.emf"/><Relationship Id="rId3" Type="http://schemas.openxmlformats.org/officeDocument/2006/relationships/tags" Target="../tags/tag6.xml"/><Relationship Id="rId7" Type="http://schemas.openxmlformats.org/officeDocument/2006/relationships/image" Target="../media/image7.emf"/><Relationship Id="rId12" Type="http://schemas.openxmlformats.org/officeDocument/2006/relationships/image" Target="../media/image12.emf"/><Relationship Id="rId2" Type="http://schemas.openxmlformats.org/officeDocument/2006/relationships/tags" Target="../tags/tag5.xml"/><Relationship Id="rId16" Type="http://schemas.openxmlformats.org/officeDocument/2006/relationships/image" Target="../media/image16.emf"/><Relationship Id="rId1" Type="http://schemas.openxmlformats.org/officeDocument/2006/relationships/tags" Target="../tags/tag4.xml"/><Relationship Id="rId6" Type="http://schemas.openxmlformats.org/officeDocument/2006/relationships/slideLayout" Target="../slideLayouts/slideLayout2.xml"/><Relationship Id="rId11" Type="http://schemas.openxmlformats.org/officeDocument/2006/relationships/image" Target="../media/image11.emf"/><Relationship Id="rId5" Type="http://schemas.openxmlformats.org/officeDocument/2006/relationships/tags" Target="../tags/tag8.xml"/><Relationship Id="rId15" Type="http://schemas.openxmlformats.org/officeDocument/2006/relationships/image" Target="../media/image15.emf"/><Relationship Id="rId10" Type="http://schemas.openxmlformats.org/officeDocument/2006/relationships/image" Target="../media/image10.emf"/><Relationship Id="rId4" Type="http://schemas.openxmlformats.org/officeDocument/2006/relationships/tags" Target="../tags/tag7.xml"/><Relationship Id="rId9" Type="http://schemas.openxmlformats.org/officeDocument/2006/relationships/image" Target="../media/image9.emf"/><Relationship Id="rId14" Type="http://schemas.openxmlformats.org/officeDocument/2006/relationships/image" Target="../media/image14.emf"/></Relationships>
</file>

<file path=ppt/slides/_rels/slide10.xml.rels><?xml version="1.0" encoding="UTF-8" standalone="yes"?>
<Relationships xmlns="http://schemas.openxmlformats.org/package/2006/relationships"><Relationship Id="rId8" Type="http://schemas.openxmlformats.org/officeDocument/2006/relationships/image" Target="../media/image9.emf"/><Relationship Id="rId13" Type="http://schemas.openxmlformats.org/officeDocument/2006/relationships/image" Target="../media/image14.emf"/><Relationship Id="rId3" Type="http://schemas.openxmlformats.org/officeDocument/2006/relationships/tags" Target="../tags/tag11.xml"/><Relationship Id="rId7" Type="http://schemas.openxmlformats.org/officeDocument/2006/relationships/image" Target="../media/image8.emf"/><Relationship Id="rId12" Type="http://schemas.openxmlformats.org/officeDocument/2006/relationships/image" Target="../media/image13.emf"/><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image" Target="../media/image7.emf"/><Relationship Id="rId11" Type="http://schemas.openxmlformats.org/officeDocument/2006/relationships/image" Target="../media/image12.emf"/><Relationship Id="rId5" Type="http://schemas.openxmlformats.org/officeDocument/2006/relationships/slideLayout" Target="../slideLayouts/slideLayout2.xml"/><Relationship Id="rId15" Type="http://schemas.openxmlformats.org/officeDocument/2006/relationships/image" Target="../media/image16.emf"/><Relationship Id="rId10" Type="http://schemas.openxmlformats.org/officeDocument/2006/relationships/image" Target="../media/image11.emf"/><Relationship Id="rId4" Type="http://schemas.openxmlformats.org/officeDocument/2006/relationships/tags" Target="../tags/tag12.xml"/><Relationship Id="rId9" Type="http://schemas.openxmlformats.org/officeDocument/2006/relationships/image" Target="../media/image10.emf"/><Relationship Id="rId14" Type="http://schemas.openxmlformats.org/officeDocument/2006/relationships/image" Target="../media/image15.emf"/></Relationships>
</file>

<file path=ppt/slides/_rels/slide11.xml.rels><?xml version="1.0" encoding="UTF-8" standalone="yes"?>
<Relationships xmlns="http://schemas.openxmlformats.org/package/2006/relationships"><Relationship Id="rId8" Type="http://schemas.openxmlformats.org/officeDocument/2006/relationships/image" Target="../media/image11.emf"/><Relationship Id="rId13" Type="http://schemas.openxmlformats.org/officeDocument/2006/relationships/image" Target="../media/image16.emf"/><Relationship Id="rId3" Type="http://schemas.openxmlformats.org/officeDocument/2006/relationships/slideLayout" Target="../slideLayouts/slideLayout2.xml"/><Relationship Id="rId7" Type="http://schemas.openxmlformats.org/officeDocument/2006/relationships/image" Target="../media/image10.emf"/><Relationship Id="rId12" Type="http://schemas.openxmlformats.org/officeDocument/2006/relationships/image" Target="../media/image15.emf"/><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image" Target="../media/image9.emf"/><Relationship Id="rId11" Type="http://schemas.openxmlformats.org/officeDocument/2006/relationships/image" Target="../media/image14.emf"/><Relationship Id="rId5" Type="http://schemas.openxmlformats.org/officeDocument/2006/relationships/image" Target="../media/image8.emf"/><Relationship Id="rId10" Type="http://schemas.openxmlformats.org/officeDocument/2006/relationships/image" Target="../media/image13.emf"/><Relationship Id="rId4" Type="http://schemas.openxmlformats.org/officeDocument/2006/relationships/image" Target="../media/image7.emf"/><Relationship Id="rId9" Type="http://schemas.openxmlformats.org/officeDocument/2006/relationships/image" Target="../media/image12.emf"/></Relationships>
</file>

<file path=ppt/slides/_rels/slide12.xml.rels><?xml version="1.0" encoding="UTF-8" standalone="yes"?>
<Relationships xmlns="http://schemas.openxmlformats.org/package/2006/relationships"><Relationship Id="rId8" Type="http://schemas.openxmlformats.org/officeDocument/2006/relationships/image" Target="../media/image11.emf"/><Relationship Id="rId13" Type="http://schemas.openxmlformats.org/officeDocument/2006/relationships/image" Target="../media/image16.emf"/><Relationship Id="rId3" Type="http://schemas.openxmlformats.org/officeDocument/2006/relationships/slideLayout" Target="../slideLayouts/slideLayout2.xml"/><Relationship Id="rId7" Type="http://schemas.openxmlformats.org/officeDocument/2006/relationships/image" Target="../media/image10.emf"/><Relationship Id="rId12" Type="http://schemas.openxmlformats.org/officeDocument/2006/relationships/image" Target="../media/image15.emf"/><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image" Target="../media/image9.emf"/><Relationship Id="rId11" Type="http://schemas.openxmlformats.org/officeDocument/2006/relationships/image" Target="../media/image14.emf"/><Relationship Id="rId5" Type="http://schemas.openxmlformats.org/officeDocument/2006/relationships/image" Target="../media/image8.emf"/><Relationship Id="rId10" Type="http://schemas.openxmlformats.org/officeDocument/2006/relationships/image" Target="../media/image13.emf"/><Relationship Id="rId4" Type="http://schemas.openxmlformats.org/officeDocument/2006/relationships/image" Target="../media/image7.emf"/><Relationship Id="rId9" Type="http://schemas.openxmlformats.org/officeDocument/2006/relationships/image" Target="../media/image12.e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chart" Target="../charts/chart6.xml"/><Relationship Id="rId4" Type="http://schemas.openxmlformats.org/officeDocument/2006/relationships/chart" Target="../charts/chart5.xml"/></Relationships>
</file>

<file path=ppt/slides/_rels/slide15.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tags" Target="../tags/tag19.xml"/><Relationship Id="rId7" Type="http://schemas.openxmlformats.org/officeDocument/2006/relationships/image" Target="../media/image19.png"/><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image" Target="../media/image18.png"/><Relationship Id="rId5" Type="http://schemas.openxmlformats.org/officeDocument/2006/relationships/slideLayout" Target="../slideLayouts/slideLayout2.xml"/><Relationship Id="rId4" Type="http://schemas.openxmlformats.org/officeDocument/2006/relationships/tags" Target="../tags/tag20.xml"/></Relationships>
</file>

<file path=ppt/slides/_rels/slide16.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slideLayout" Target="../slideLayouts/slideLayout2.xml"/><Relationship Id="rId7" Type="http://schemas.openxmlformats.org/officeDocument/2006/relationships/image" Target="../media/image23.png"/><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image" Target="../media/image22.png"/><Relationship Id="rId5" Type="http://schemas.openxmlformats.org/officeDocument/2006/relationships/image" Target="../media/image210.png"/><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28.emf"/><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emf"/></Relationships>
</file>

<file path=ppt/slides/_rels/slide19.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40.png"/><Relationship Id="rId18" Type="http://schemas.openxmlformats.org/officeDocument/2006/relationships/image" Target="../media/image44.png"/><Relationship Id="rId3" Type="http://schemas.openxmlformats.org/officeDocument/2006/relationships/image" Target="../media/image30.png"/><Relationship Id="rId21" Type="http://schemas.openxmlformats.org/officeDocument/2006/relationships/image" Target="../media/image47.png"/><Relationship Id="rId7" Type="http://schemas.openxmlformats.org/officeDocument/2006/relationships/image" Target="../media/image34.png"/><Relationship Id="rId12" Type="http://schemas.openxmlformats.org/officeDocument/2006/relationships/image" Target="../media/image39.png"/><Relationship Id="rId17" Type="http://schemas.openxmlformats.org/officeDocument/2006/relationships/image" Target="../media/image43.png"/><Relationship Id="rId2" Type="http://schemas.openxmlformats.org/officeDocument/2006/relationships/image" Target="../media/image29.png"/><Relationship Id="rId16" Type="http://schemas.openxmlformats.org/officeDocument/2006/relationships/image" Target="../media/image42.png"/><Relationship Id="rId20" Type="http://schemas.openxmlformats.org/officeDocument/2006/relationships/image" Target="../media/image46.png"/><Relationship Id="rId1" Type="http://schemas.openxmlformats.org/officeDocument/2006/relationships/slideLayout" Target="../slideLayouts/slideLayout2.xml"/><Relationship Id="rId6" Type="http://schemas.openxmlformats.org/officeDocument/2006/relationships/image" Target="../media/image33.png"/><Relationship Id="rId11" Type="http://schemas.openxmlformats.org/officeDocument/2006/relationships/image" Target="../media/image38.png"/><Relationship Id="rId5" Type="http://schemas.openxmlformats.org/officeDocument/2006/relationships/image" Target="../media/image32.png"/><Relationship Id="rId15" Type="http://schemas.openxmlformats.org/officeDocument/2006/relationships/image" Target="../media/image41.png"/><Relationship Id="rId23" Type="http://schemas.openxmlformats.org/officeDocument/2006/relationships/image" Target="../media/image49.png"/><Relationship Id="rId10" Type="http://schemas.openxmlformats.org/officeDocument/2006/relationships/image" Target="../media/image37.png"/><Relationship Id="rId19" Type="http://schemas.openxmlformats.org/officeDocument/2006/relationships/image" Target="../media/image45.png"/><Relationship Id="rId4" Type="http://schemas.openxmlformats.org/officeDocument/2006/relationships/image" Target="../media/image31.png"/><Relationship Id="rId9" Type="http://schemas.openxmlformats.org/officeDocument/2006/relationships/image" Target="../media/image36.png"/><Relationship Id="rId14" Type="http://schemas.openxmlformats.org/officeDocument/2006/relationships/image" Target="../media/image26.png"/><Relationship Id="rId22" Type="http://schemas.openxmlformats.org/officeDocument/2006/relationships/image" Target="../media/image48.png"/></Relationships>
</file>

<file path=ppt/slides/_rels/slide20.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2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88"/>
          <p:cNvSpPr txBox="1">
            <a:spLocks noChangeArrowheads="1"/>
          </p:cNvSpPr>
          <p:nvPr/>
        </p:nvSpPr>
        <p:spPr bwMode="auto">
          <a:xfrm>
            <a:off x="3333751" y="6084608"/>
            <a:ext cx="6357946" cy="856893"/>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spAutoFit/>
          </a:bodyPr>
          <a:lstStyle/>
          <a:p>
            <a:pPr algn="r" defTabSz="1018586"/>
            <a:r>
              <a:rPr lang="en-US" sz="3100" dirty="0" smtClean="0">
                <a:solidFill>
                  <a:srgbClr val="968880"/>
                </a:solidFill>
                <a:latin typeface="Calibri" pitchFamily="34" charset="0"/>
              </a:rPr>
              <a:t>Introduction to Prepayment Modeling</a:t>
            </a:r>
            <a:endParaRPr lang="en-US" sz="3100" dirty="0">
              <a:solidFill>
                <a:srgbClr val="968880"/>
              </a:solidFill>
              <a:latin typeface="Calibri" pitchFamily="34" charset="0"/>
            </a:endParaRPr>
          </a:p>
          <a:p>
            <a:pPr algn="r" defTabSz="1018586"/>
            <a:r>
              <a:rPr lang="en-US" dirty="0" smtClean="0">
                <a:solidFill>
                  <a:schemeClr val="tx2"/>
                </a:solidFill>
                <a:latin typeface="Calibri" pitchFamily="34" charset="0"/>
              </a:rPr>
              <a:t>August 2014</a:t>
            </a:r>
            <a:endParaRPr lang="en-US" dirty="0">
              <a:solidFill>
                <a:schemeClr val="tx2"/>
              </a:solidFill>
              <a:latin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23670" y="246592"/>
            <a:ext cx="6806130" cy="677966"/>
          </a:xfrm>
        </p:spPr>
        <p:txBody>
          <a:bodyPr/>
          <a:lstStyle/>
          <a:p>
            <a:r>
              <a:rPr lang="en-US" dirty="0" smtClean="0"/>
              <a:t>Agenda</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v"/>
            </a:pPr>
            <a:r>
              <a:rPr lang="en-US" sz="1400" b="1" dirty="0" smtClean="0"/>
              <a:t>Overview</a:t>
            </a:r>
          </a:p>
          <a:p>
            <a:pPr lvl="1"/>
            <a:r>
              <a:rPr lang="en-US" sz="1400" dirty="0" smtClean="0"/>
              <a:t>What is a prepayment model?</a:t>
            </a:r>
          </a:p>
          <a:p>
            <a:pPr lvl="1"/>
            <a:r>
              <a:rPr lang="en-US" sz="1400" dirty="0" smtClean="0"/>
              <a:t>The importance of a prepayment model</a:t>
            </a:r>
          </a:p>
          <a:p>
            <a:pPr>
              <a:buFont typeface="Wingdings" panose="05000000000000000000" pitchFamily="2" charset="2"/>
              <a:buChar char="v"/>
            </a:pPr>
            <a:r>
              <a:rPr lang="en-US" sz="1400" b="1" dirty="0" smtClean="0"/>
              <a:t>Topics in Model Fitting</a:t>
            </a:r>
          </a:p>
          <a:p>
            <a:pPr lvl="1"/>
            <a:r>
              <a:rPr lang="en-US" sz="1400" dirty="0" smtClean="0"/>
              <a:t>Spline calculations</a:t>
            </a:r>
          </a:p>
          <a:p>
            <a:pPr lvl="1"/>
            <a:r>
              <a:rPr lang="en-US" sz="1400" dirty="0" smtClean="0"/>
              <a:t>Fitting the Media Effect</a:t>
            </a:r>
          </a:p>
          <a:p>
            <a:pPr lvl="1"/>
            <a:r>
              <a:rPr lang="en-US" sz="1400" dirty="0" smtClean="0"/>
              <a:t>Fitting Credit Availability</a:t>
            </a:r>
          </a:p>
          <a:p>
            <a:pPr>
              <a:buFont typeface="Wingdings" panose="05000000000000000000" pitchFamily="2" charset="2"/>
              <a:buChar char="v"/>
            </a:pPr>
            <a:r>
              <a:rPr lang="en-US" sz="1400" b="1" dirty="0" smtClean="0"/>
              <a:t>Model Improvements</a:t>
            </a:r>
          </a:p>
          <a:p>
            <a:pPr lvl="1"/>
            <a:r>
              <a:rPr lang="en-US" sz="1400" dirty="0" smtClean="0"/>
              <a:t>Monotonic Spline Function</a:t>
            </a:r>
          </a:p>
          <a:p>
            <a:pPr lvl="1"/>
            <a:r>
              <a:rPr lang="en-US" sz="1400" dirty="0" smtClean="0"/>
              <a:t>Media Effect “Jump Up” Problem</a:t>
            </a:r>
          </a:p>
          <a:p>
            <a:pPr lvl="1"/>
            <a:r>
              <a:rPr lang="en-US" sz="1400" dirty="0" smtClean="0"/>
              <a:t>Change Credit Availability</a:t>
            </a:r>
          </a:p>
          <a:p>
            <a:pPr lvl="1"/>
            <a:r>
              <a:rPr lang="en-US" sz="1400" dirty="0" smtClean="0"/>
              <a:t>Efficient R- Script</a:t>
            </a:r>
          </a:p>
          <a:p>
            <a:pPr>
              <a:buFont typeface="Wingdings" panose="05000000000000000000" pitchFamily="2" charset="2"/>
              <a:buChar char="v"/>
            </a:pPr>
            <a:r>
              <a:rPr lang="en-US" sz="1400" b="1" dirty="0" smtClean="0"/>
              <a:t>Model Version Review</a:t>
            </a:r>
            <a:endParaRPr lang="en-US" sz="1400" b="1" dirty="0"/>
          </a:p>
        </p:txBody>
      </p:sp>
    </p:spTree>
    <p:extLst>
      <p:ext uri="{BB962C8B-B14F-4D97-AF65-F5344CB8AC3E}">
        <p14:creationId xmlns:p14="http://schemas.microsoft.com/office/powerpoint/2010/main" val="85413758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lvl="1"/>
            <a:r>
              <a:rPr lang="en-US" dirty="0">
                <a:solidFill>
                  <a:schemeClr val="tx1"/>
                </a:solidFill>
              </a:rPr>
              <a:t>What is </a:t>
            </a:r>
            <a:r>
              <a:rPr lang="en-US" dirty="0" smtClean="0">
                <a:solidFill>
                  <a:schemeClr val="tx1"/>
                </a:solidFill>
              </a:rPr>
              <a:t>a prepayment model?</a:t>
            </a:r>
            <a:r>
              <a:rPr lang="en-US" dirty="0">
                <a:solidFill>
                  <a:schemeClr val="tx1"/>
                </a:solidFill>
              </a:rPr>
              <a:t/>
            </a:r>
            <a:br>
              <a:rPr lang="en-US" dirty="0">
                <a:solidFill>
                  <a:schemeClr val="tx1"/>
                </a:solidFill>
              </a:rPr>
            </a:br>
            <a:r>
              <a:rPr lang="en-US" dirty="0">
                <a:solidFill>
                  <a:schemeClr val="tx1"/>
                </a:solidFill>
              </a:rPr>
              <a:t>The importance of </a:t>
            </a:r>
            <a:r>
              <a:rPr lang="en-US" dirty="0" smtClean="0">
                <a:solidFill>
                  <a:schemeClr val="tx1"/>
                </a:solidFill>
              </a:rPr>
              <a:t>a prepayment </a:t>
            </a:r>
            <a:r>
              <a:rPr lang="en-US" dirty="0">
                <a:solidFill>
                  <a:schemeClr val="tx1"/>
                </a:solidFill>
              </a:rPr>
              <a:t>model</a:t>
            </a:r>
            <a:br>
              <a:rPr lang="en-US" dirty="0">
                <a:solidFill>
                  <a:schemeClr val="tx1"/>
                </a:solidFill>
              </a:rPr>
            </a:br>
            <a:endParaRPr lang="en-US" dirty="0">
              <a:solidFill>
                <a:schemeClr val="tx1"/>
              </a:solidFill>
            </a:endParaRPr>
          </a:p>
        </p:txBody>
      </p:sp>
      <p:sp>
        <p:nvSpPr>
          <p:cNvPr id="5" name="Text Placeholder 4"/>
          <p:cNvSpPr>
            <a:spLocks noGrp="1"/>
          </p:cNvSpPr>
          <p:nvPr>
            <p:ph type="body" idx="1"/>
          </p:nvPr>
        </p:nvSpPr>
        <p:spPr/>
        <p:txBody>
          <a:bodyPr/>
          <a:lstStyle/>
          <a:p>
            <a:r>
              <a:rPr lang="en-US" sz="2400" b="1" dirty="0"/>
              <a:t>Overview</a:t>
            </a:r>
          </a:p>
          <a:p>
            <a:endParaRPr lang="en-US" dirty="0"/>
          </a:p>
        </p:txBody>
      </p:sp>
    </p:spTree>
    <p:extLst>
      <p:ext uri="{BB962C8B-B14F-4D97-AF65-F5344CB8AC3E}">
        <p14:creationId xmlns:p14="http://schemas.microsoft.com/office/powerpoint/2010/main" val="331272976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37" name="Rectangle 2"/>
          <p:cNvSpPr>
            <a:spLocks noGrp="1" noChangeArrowheads="1"/>
          </p:cNvSpPr>
          <p:nvPr>
            <p:ph type="title"/>
          </p:nvPr>
        </p:nvSpPr>
        <p:spPr>
          <a:xfrm>
            <a:off x="2533587" y="270070"/>
            <a:ext cx="7280116" cy="644102"/>
          </a:xfrm>
        </p:spPr>
        <p:txBody>
          <a:bodyPr/>
          <a:lstStyle/>
          <a:p>
            <a:r>
              <a:rPr lang="en-US" dirty="0"/>
              <a:t>Prepayment </a:t>
            </a:r>
            <a:r>
              <a:rPr lang="en-US" dirty="0" smtClean="0"/>
              <a:t>on </a:t>
            </a:r>
            <a:r>
              <a:rPr lang="en-US" dirty="0"/>
              <a:t>Residential </a:t>
            </a:r>
            <a:r>
              <a:rPr lang="en-US" dirty="0" smtClean="0"/>
              <a:t>Mortgages</a:t>
            </a:r>
            <a:endParaRPr lang="en-US" sz="1200" b="0" dirty="0"/>
          </a:p>
        </p:txBody>
      </p:sp>
      <p:sp>
        <p:nvSpPr>
          <p:cNvPr id="2" name="TextBox 1"/>
          <p:cNvSpPr txBox="1"/>
          <p:nvPr/>
        </p:nvSpPr>
        <p:spPr>
          <a:xfrm>
            <a:off x="747713" y="5682674"/>
            <a:ext cx="8601074" cy="1169551"/>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I</a:t>
            </a:r>
            <a:r>
              <a:rPr lang="en-US" sz="1400" dirty="0" smtClean="0">
                <a:latin typeface="Arial" panose="020B0604020202020204" pitchFamily="34" charset="0"/>
                <a:cs typeface="Arial" panose="020B0604020202020204" pitchFamily="34" charset="0"/>
              </a:rPr>
              <a:t>nvestor </a:t>
            </a:r>
            <a:r>
              <a:rPr lang="en-US" sz="1400" dirty="0">
                <a:latin typeface="Arial" panose="020B0604020202020204" pitchFamily="34" charset="0"/>
                <a:cs typeface="Arial" panose="020B0604020202020204" pitchFamily="34" charset="0"/>
              </a:rPr>
              <a:t>in a MBS has a short position in a call option due to the </a:t>
            </a:r>
            <a:r>
              <a:rPr lang="en-US" sz="1400" dirty="0" smtClean="0">
                <a:latin typeface="Arial" panose="020B0604020202020204" pitchFamily="34" charset="0"/>
                <a:cs typeface="Arial" panose="020B0604020202020204" pitchFamily="34" charset="0"/>
              </a:rPr>
              <a:t>homeowner’s </a:t>
            </a:r>
            <a:r>
              <a:rPr lang="en-US" sz="1400" dirty="0">
                <a:latin typeface="Arial" panose="020B0604020202020204" pitchFamily="34" charset="0"/>
                <a:cs typeface="Arial" panose="020B0604020202020204" pitchFamily="34" charset="0"/>
              </a:rPr>
              <a:t>right to prepay, a put option due to the </a:t>
            </a:r>
            <a:r>
              <a:rPr lang="en-US" sz="1400" dirty="0" smtClean="0">
                <a:latin typeface="Arial" panose="020B0604020202020204" pitchFamily="34" charset="0"/>
                <a:cs typeface="Arial" panose="020B0604020202020204" pitchFamily="34" charset="0"/>
              </a:rPr>
              <a:t>homeowner’s option to </a:t>
            </a:r>
            <a:r>
              <a:rPr lang="en-US" sz="1400" dirty="0">
                <a:latin typeface="Arial" panose="020B0604020202020204" pitchFamily="34" charset="0"/>
                <a:cs typeface="Arial" panose="020B0604020202020204" pitchFamily="34" charset="0"/>
              </a:rPr>
              <a:t>default, and also a long position in a non-callable bond. </a:t>
            </a:r>
            <a:r>
              <a:rPr lang="en-US" sz="1400" dirty="0" smtClean="0">
                <a:latin typeface="Arial" panose="020B0604020202020204" pitchFamily="34" charset="0"/>
                <a:cs typeface="Arial" panose="020B0604020202020204" pitchFamily="34" charset="0"/>
              </a:rPr>
              <a:t>Prepayments alter </a:t>
            </a:r>
            <a:r>
              <a:rPr lang="en-US" sz="1400" dirty="0">
                <a:latin typeface="Arial" panose="020B0604020202020204" pitchFamily="34" charset="0"/>
                <a:cs typeface="Arial" panose="020B0604020202020204" pitchFamily="34" charset="0"/>
              </a:rPr>
              <a:t>the cash flow of the MBS </a:t>
            </a:r>
            <a:r>
              <a:rPr lang="en-US" sz="1400" dirty="0" smtClean="0">
                <a:latin typeface="Arial" panose="020B0604020202020204" pitchFamily="34" charset="0"/>
                <a:cs typeface="Arial" panose="020B0604020202020204" pitchFamily="34" charset="0"/>
              </a:rPr>
              <a:t>and thus its return. So, </a:t>
            </a:r>
            <a:r>
              <a:rPr lang="en-US" sz="1400" dirty="0">
                <a:latin typeface="Arial" panose="020B0604020202020204" pitchFamily="34" charset="0"/>
                <a:cs typeface="Arial" panose="020B0604020202020204" pitchFamily="34" charset="0"/>
              </a:rPr>
              <a:t>the key to </a:t>
            </a:r>
            <a:r>
              <a:rPr lang="en-US" sz="1400" dirty="0" smtClean="0">
                <a:latin typeface="Arial" panose="020B0604020202020204" pitchFamily="34" charset="0"/>
                <a:cs typeface="Arial" panose="020B0604020202020204" pitchFamily="34" charset="0"/>
              </a:rPr>
              <a:t>estimating the </a:t>
            </a:r>
            <a:r>
              <a:rPr lang="en-US" sz="1400" dirty="0">
                <a:latin typeface="Arial" panose="020B0604020202020204" pitchFamily="34" charset="0"/>
                <a:cs typeface="Arial" panose="020B0604020202020204" pitchFamily="34" charset="0"/>
              </a:rPr>
              <a:t>value of </a:t>
            </a:r>
            <a:r>
              <a:rPr lang="en-US" sz="1400" dirty="0" smtClean="0">
                <a:latin typeface="Arial" panose="020B0604020202020204" pitchFamily="34" charset="0"/>
                <a:cs typeface="Arial" panose="020B0604020202020204" pitchFamily="34" charset="0"/>
              </a:rPr>
              <a:t>an MBS </a:t>
            </a:r>
            <a:r>
              <a:rPr lang="en-US" sz="1400" dirty="0">
                <a:latin typeface="Arial" panose="020B0604020202020204" pitchFamily="34" charset="0"/>
                <a:cs typeface="Arial" panose="020B0604020202020204" pitchFamily="34" charset="0"/>
              </a:rPr>
              <a:t>is to accurately estimate its cash flow. A</a:t>
            </a:r>
            <a:r>
              <a:rPr lang="en-US" sz="1400" dirty="0" smtClean="0">
                <a:latin typeface="Arial" panose="020B0604020202020204" pitchFamily="34" charset="0"/>
                <a:cs typeface="Arial" panose="020B0604020202020204" pitchFamily="34" charset="0"/>
              </a:rPr>
              <a:t> </a:t>
            </a:r>
            <a:r>
              <a:rPr lang="en-US" sz="1400" dirty="0">
                <a:latin typeface="Arial" panose="020B0604020202020204" pitchFamily="34" charset="0"/>
                <a:cs typeface="Arial" panose="020B0604020202020204" pitchFamily="34" charset="0"/>
              </a:rPr>
              <a:t>decent prepayment model will definitely be the foundation of the cash flow estimation</a:t>
            </a:r>
            <a:r>
              <a:rPr lang="en-US" sz="1400" dirty="0" smtClean="0">
                <a:latin typeface="Arial" panose="020B0604020202020204" pitchFamily="34" charset="0"/>
                <a:cs typeface="Arial" panose="020B0604020202020204" pitchFamily="34" charset="0"/>
              </a:rPr>
              <a:t>.</a:t>
            </a:r>
            <a:endParaRPr lang="en-US" sz="1400" dirty="0">
              <a:latin typeface="Arial" panose="020B0604020202020204" pitchFamily="34" charset="0"/>
              <a:cs typeface="Arial" panose="020B0604020202020204" pitchFamily="34" charset="0"/>
            </a:endParaRPr>
          </a:p>
        </p:txBody>
      </p:sp>
      <p:cxnSp>
        <p:nvCxnSpPr>
          <p:cNvPr id="6" name="Straight Connector 5"/>
          <p:cNvCxnSpPr/>
          <p:nvPr/>
        </p:nvCxnSpPr>
        <p:spPr>
          <a:xfrm>
            <a:off x="1051719" y="1310456"/>
            <a:ext cx="7629525" cy="0"/>
          </a:xfrm>
          <a:prstGeom prst="line">
            <a:avLst/>
          </a:prstGeom>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3724076" y="1156568"/>
            <a:ext cx="2357636" cy="338554"/>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sz="1600" dirty="0" smtClean="0">
                <a:latin typeface="Arial" panose="020B0604020202020204" pitchFamily="34" charset="0"/>
                <a:cs typeface="Arial" panose="020B0604020202020204" pitchFamily="34" charset="0"/>
              </a:rPr>
              <a:t>What is Prepayment</a:t>
            </a:r>
            <a:endParaRPr lang="en-US" sz="1600" dirty="0">
              <a:latin typeface="Arial" panose="020B0604020202020204" pitchFamily="34" charset="0"/>
              <a:cs typeface="Arial" panose="020B0604020202020204" pitchFamily="34" charset="0"/>
            </a:endParaRPr>
          </a:p>
        </p:txBody>
      </p:sp>
      <p:sp>
        <p:nvSpPr>
          <p:cNvPr id="4" name="TextBox 3"/>
          <p:cNvSpPr txBox="1"/>
          <p:nvPr/>
        </p:nvSpPr>
        <p:spPr>
          <a:xfrm>
            <a:off x="495300" y="1495122"/>
            <a:ext cx="8915400" cy="738664"/>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A mortgage is a loan contract with a certain repayment schedule. </a:t>
            </a:r>
            <a:r>
              <a:rPr lang="en-US" sz="1400" dirty="0" smtClean="0">
                <a:latin typeface="Arial" panose="020B0604020202020204" pitchFamily="34" charset="0"/>
                <a:cs typeface="Arial" panose="020B0604020202020204" pitchFamily="34" charset="0"/>
              </a:rPr>
              <a:t>This </a:t>
            </a:r>
            <a:r>
              <a:rPr lang="en-US" sz="1400" dirty="0">
                <a:latin typeface="Arial" panose="020B0604020202020204" pitchFamily="34" charset="0"/>
                <a:cs typeface="Arial" panose="020B0604020202020204" pitchFamily="34" charset="0"/>
              </a:rPr>
              <a:t>schedule will establish a monthly cash flow to payoff the debt. </a:t>
            </a:r>
            <a:r>
              <a:rPr lang="en-US" sz="1400" dirty="0" smtClean="0">
                <a:latin typeface="Arial" panose="020B0604020202020204" pitchFamily="34" charset="0"/>
                <a:cs typeface="Arial" panose="020B0604020202020204" pitchFamily="34" charset="0"/>
              </a:rPr>
              <a:t>The </a:t>
            </a:r>
            <a:r>
              <a:rPr lang="en-US" sz="1400" dirty="0">
                <a:latin typeface="Arial" panose="020B0604020202020204" pitchFamily="34" charset="0"/>
                <a:cs typeface="Arial" panose="020B0604020202020204" pitchFamily="34" charset="0"/>
              </a:rPr>
              <a:t>activities that may </a:t>
            </a:r>
            <a:r>
              <a:rPr lang="en-US" sz="1400" dirty="0" smtClean="0">
                <a:latin typeface="Arial" panose="020B0604020202020204" pitchFamily="34" charset="0"/>
                <a:cs typeface="Arial" panose="020B0604020202020204" pitchFamily="34" charset="0"/>
              </a:rPr>
              <a:t>accelerate </a:t>
            </a:r>
            <a:r>
              <a:rPr lang="en-US" sz="1400" dirty="0">
                <a:latin typeface="Arial" panose="020B0604020202020204" pitchFamily="34" charset="0"/>
                <a:cs typeface="Arial" panose="020B0604020202020204" pitchFamily="34" charset="0"/>
              </a:rPr>
              <a:t>the repayment schedule, resulting in </a:t>
            </a:r>
            <a:r>
              <a:rPr lang="en-US" sz="1400" dirty="0" smtClean="0">
                <a:latin typeface="Arial" panose="020B0604020202020204" pitchFamily="34" charset="0"/>
                <a:cs typeface="Arial" panose="020B0604020202020204" pitchFamily="34" charset="0"/>
              </a:rPr>
              <a:t>extinguishing </a:t>
            </a:r>
            <a:r>
              <a:rPr lang="en-US" sz="1400" dirty="0">
                <a:latin typeface="Arial" panose="020B0604020202020204" pitchFamily="34" charset="0"/>
                <a:cs typeface="Arial" panose="020B0604020202020204" pitchFamily="34" charset="0"/>
              </a:rPr>
              <a:t>the mortgage contract earlier, is called a prepayment</a:t>
            </a:r>
            <a:r>
              <a:rPr lang="en-US" sz="1400" dirty="0" smtClean="0">
                <a:latin typeface="Arial" panose="020B0604020202020204" pitchFamily="34" charset="0"/>
                <a:cs typeface="Arial" panose="020B0604020202020204" pitchFamily="34" charset="0"/>
              </a:rPr>
              <a:t>.</a:t>
            </a:r>
            <a:endParaRPr lang="en-US" sz="1400" dirty="0">
              <a:latin typeface="Arial" panose="020B0604020202020204" pitchFamily="34" charset="0"/>
              <a:cs typeface="Arial" panose="020B0604020202020204" pitchFamily="34" charset="0"/>
            </a:endParaRPr>
          </a:p>
        </p:txBody>
      </p:sp>
      <p:sp>
        <p:nvSpPr>
          <p:cNvPr id="5" name="Rectangle 4"/>
          <p:cNvSpPr/>
          <p:nvPr/>
        </p:nvSpPr>
        <p:spPr>
          <a:xfrm>
            <a:off x="619125" y="2305050"/>
            <a:ext cx="1685925" cy="47625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600" dirty="0" smtClean="0"/>
              <a:t>Mortgage Contract</a:t>
            </a:r>
            <a:endParaRPr lang="en-US" sz="1600" dirty="0"/>
          </a:p>
        </p:txBody>
      </p:sp>
      <p:sp>
        <p:nvSpPr>
          <p:cNvPr id="10" name="Rectangle 9"/>
          <p:cNvSpPr/>
          <p:nvPr/>
        </p:nvSpPr>
        <p:spPr>
          <a:xfrm>
            <a:off x="4110038" y="2305050"/>
            <a:ext cx="1685925" cy="47625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smtClean="0"/>
              <a:t>Cash Flow</a:t>
            </a:r>
            <a:endParaRPr lang="en-US" dirty="0"/>
          </a:p>
        </p:txBody>
      </p:sp>
      <p:sp>
        <p:nvSpPr>
          <p:cNvPr id="11" name="Rectangle 10"/>
          <p:cNvSpPr/>
          <p:nvPr/>
        </p:nvSpPr>
        <p:spPr>
          <a:xfrm>
            <a:off x="7600950" y="2305050"/>
            <a:ext cx="1685925" cy="47625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smtClean="0"/>
              <a:t>Prepayment</a:t>
            </a:r>
            <a:endParaRPr lang="en-US" dirty="0"/>
          </a:p>
        </p:txBody>
      </p:sp>
      <p:cxnSp>
        <p:nvCxnSpPr>
          <p:cNvPr id="15" name="Straight Arrow Connector 14"/>
          <p:cNvCxnSpPr>
            <a:stCxn id="5" idx="3"/>
            <a:endCxn id="10" idx="1"/>
          </p:cNvCxnSpPr>
          <p:nvPr/>
        </p:nvCxnSpPr>
        <p:spPr>
          <a:xfrm>
            <a:off x="2305050" y="2543175"/>
            <a:ext cx="1804988" cy="0"/>
          </a:xfrm>
          <a:prstGeom prst="straightConnector1">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10" idx="3"/>
            <a:endCxn id="11" idx="1"/>
          </p:cNvCxnSpPr>
          <p:nvPr/>
        </p:nvCxnSpPr>
        <p:spPr>
          <a:xfrm>
            <a:off x="5795963" y="2543175"/>
            <a:ext cx="1804987" cy="0"/>
          </a:xfrm>
          <a:prstGeom prst="straightConnector1">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2305051" y="2305050"/>
            <a:ext cx="1638300" cy="461665"/>
          </a:xfrm>
          <a:prstGeom prst="rect">
            <a:avLst/>
          </a:prstGeom>
          <a:noFill/>
        </p:spPr>
        <p:txBody>
          <a:bodyPr wrap="square" rtlCol="0">
            <a:spAutoFit/>
          </a:bodyPr>
          <a:lstStyle/>
          <a:p>
            <a:pPr algn="ctr"/>
            <a:r>
              <a:rPr lang="en-US" sz="1200" dirty="0" smtClean="0">
                <a:latin typeface="Arial" panose="020B0604020202020204" pitchFamily="34" charset="0"/>
                <a:cs typeface="Arial" panose="020B0604020202020204" pitchFamily="34" charset="0"/>
              </a:rPr>
              <a:t>Establish </a:t>
            </a:r>
            <a:r>
              <a:rPr lang="en-US" sz="1200" dirty="0">
                <a:latin typeface="Arial" panose="020B0604020202020204" pitchFamily="34" charset="0"/>
                <a:cs typeface="Arial" panose="020B0604020202020204" pitchFamily="34" charset="0"/>
              </a:rPr>
              <a:t>repayment schedule</a:t>
            </a:r>
          </a:p>
        </p:txBody>
      </p:sp>
      <p:sp>
        <p:nvSpPr>
          <p:cNvPr id="21" name="TextBox 20"/>
          <p:cNvSpPr txBox="1"/>
          <p:nvPr/>
        </p:nvSpPr>
        <p:spPr>
          <a:xfrm>
            <a:off x="5865591" y="2305050"/>
            <a:ext cx="1638300" cy="461665"/>
          </a:xfrm>
          <a:prstGeom prst="rect">
            <a:avLst/>
          </a:prstGeom>
          <a:noFill/>
        </p:spPr>
        <p:txBody>
          <a:bodyPr wrap="square" rtlCol="0">
            <a:spAutoFit/>
          </a:bodyPr>
          <a:lstStyle/>
          <a:p>
            <a:pPr algn="ctr"/>
            <a:r>
              <a:rPr lang="en-US" sz="1200" dirty="0">
                <a:latin typeface="Arial" panose="020B0604020202020204" pitchFamily="34" charset="0"/>
                <a:cs typeface="Arial" panose="020B0604020202020204" pitchFamily="34" charset="0"/>
              </a:rPr>
              <a:t>accelerates the repayment schedule</a:t>
            </a:r>
          </a:p>
        </p:txBody>
      </p:sp>
      <p:sp>
        <p:nvSpPr>
          <p:cNvPr id="20" name="TextBox 19"/>
          <p:cNvSpPr txBox="1"/>
          <p:nvPr/>
        </p:nvSpPr>
        <p:spPr>
          <a:xfrm>
            <a:off x="685800" y="3076575"/>
            <a:ext cx="8724900" cy="1169551"/>
          </a:xfrm>
          <a:prstGeom prst="rect">
            <a:avLst/>
          </a:prstGeom>
          <a:noFill/>
        </p:spPr>
        <p:txBody>
          <a:bodyPr wrap="square" rtlCol="0">
            <a:spAutoFit/>
          </a:bodyPr>
          <a:lstStyle/>
          <a:p>
            <a:pPr lvl="0"/>
            <a:r>
              <a:rPr lang="en-US" sz="1400" b="1" dirty="0" smtClean="0">
                <a:latin typeface="Arial" panose="020B0604020202020204" pitchFamily="34" charset="0"/>
                <a:cs typeface="Arial" panose="020B0604020202020204" pitchFamily="34" charset="0"/>
              </a:rPr>
              <a:t>Four kinds of prepayment activities</a:t>
            </a:r>
          </a:p>
          <a:p>
            <a:pPr marL="285750" lvl="0" indent="-285750">
              <a:buFont typeface="Arial" panose="020B0604020202020204" pitchFamily="34" charset="0"/>
              <a:buChar char="•"/>
            </a:pPr>
            <a:r>
              <a:rPr lang="en-US" sz="1400" b="1" dirty="0" smtClean="0">
                <a:latin typeface="Arial" panose="020B0604020202020204" pitchFamily="34" charset="0"/>
                <a:cs typeface="Arial" panose="020B0604020202020204" pitchFamily="34" charset="0"/>
              </a:rPr>
              <a:t>Curtailment </a:t>
            </a:r>
            <a:r>
              <a:rPr lang="en-US" sz="1400" b="1" dirty="0">
                <a:latin typeface="Arial" panose="020B0604020202020204" pitchFamily="34" charset="0"/>
                <a:cs typeface="Arial" panose="020B0604020202020204" pitchFamily="34" charset="0"/>
              </a:rPr>
              <a:t>/ Full payment: 	</a:t>
            </a:r>
            <a:r>
              <a:rPr lang="en-US" sz="1400" dirty="0" smtClean="0">
                <a:latin typeface="Arial" panose="020B0604020202020204" pitchFamily="34" charset="0"/>
                <a:cs typeface="Arial" panose="020B0604020202020204" pitchFamily="34" charset="0"/>
              </a:rPr>
              <a:t>Send </a:t>
            </a:r>
            <a:r>
              <a:rPr lang="en-US" sz="1400" dirty="0">
                <a:latin typeface="Arial" panose="020B0604020202020204" pitchFamily="34" charset="0"/>
                <a:cs typeface="Arial" panose="020B0604020202020204" pitchFamily="34" charset="0"/>
              </a:rPr>
              <a:t>more than the scheduled monthly payment </a:t>
            </a:r>
            <a:endParaRPr lang="en-US" sz="1400" dirty="0" smtClean="0">
              <a:latin typeface="Arial" panose="020B0604020202020204" pitchFamily="34" charset="0"/>
              <a:cs typeface="Arial" panose="020B0604020202020204" pitchFamily="34" charset="0"/>
            </a:endParaRPr>
          </a:p>
          <a:p>
            <a:pPr marL="285750" lvl="0" indent="-285750">
              <a:buFont typeface="Arial" panose="020B0604020202020204" pitchFamily="34" charset="0"/>
              <a:buChar char="•"/>
            </a:pPr>
            <a:r>
              <a:rPr lang="en-US" sz="1400" b="1" dirty="0" smtClean="0">
                <a:latin typeface="Arial" panose="020B0604020202020204" pitchFamily="34" charset="0"/>
                <a:cs typeface="Arial" panose="020B0604020202020204" pitchFamily="34" charset="0"/>
              </a:rPr>
              <a:t>Refinancing:</a:t>
            </a:r>
            <a:r>
              <a:rPr lang="en-US" sz="1400" dirty="0" smtClean="0">
                <a:latin typeface="Arial" panose="020B0604020202020204" pitchFamily="34" charset="0"/>
                <a:cs typeface="Arial" panose="020B0604020202020204" pitchFamily="34" charset="0"/>
              </a:rPr>
              <a:t> 		Replaces the mortgage with a new one</a:t>
            </a:r>
          </a:p>
          <a:p>
            <a:pPr marL="285750" lvl="0" indent="-285750">
              <a:buFont typeface="Arial" panose="020B0604020202020204" pitchFamily="34" charset="0"/>
              <a:buChar char="•"/>
            </a:pPr>
            <a:r>
              <a:rPr lang="en-US" sz="1400" b="1" dirty="0" smtClean="0">
                <a:latin typeface="Arial" panose="020B0604020202020204" pitchFamily="34" charset="0"/>
                <a:cs typeface="Arial" panose="020B0604020202020204" pitchFamily="34" charset="0"/>
              </a:rPr>
              <a:t>Turnover:</a:t>
            </a:r>
            <a:r>
              <a:rPr lang="zh-CN" altLang="en-US" sz="1400" dirty="0" smtClean="0">
                <a:latin typeface="Arial" panose="020B0604020202020204" pitchFamily="34" charset="0"/>
                <a:cs typeface="Arial" panose="020B0604020202020204" pitchFamily="34" charset="0"/>
              </a:rPr>
              <a:t> </a:t>
            </a:r>
            <a:r>
              <a:rPr lang="en-US" altLang="zh-CN" sz="1400" dirty="0" smtClean="0">
                <a:latin typeface="Arial" panose="020B0604020202020204" pitchFamily="34" charset="0"/>
                <a:cs typeface="Arial" panose="020B0604020202020204" pitchFamily="34" charset="0"/>
              </a:rPr>
              <a:t>		P</a:t>
            </a:r>
            <a:r>
              <a:rPr lang="en-US" sz="1400" dirty="0" smtClean="0">
                <a:latin typeface="Arial" panose="020B0604020202020204" pitchFamily="34" charset="0"/>
                <a:cs typeface="Arial" panose="020B0604020202020204" pitchFamily="34" charset="0"/>
              </a:rPr>
              <a:t>repayment due to sale of home</a:t>
            </a:r>
          </a:p>
          <a:p>
            <a:pPr marL="285750" lvl="0" indent="-285750">
              <a:buFont typeface="Arial" panose="020B0604020202020204" pitchFamily="34" charset="0"/>
              <a:buChar char="•"/>
            </a:pPr>
            <a:r>
              <a:rPr lang="en-US" sz="1400" b="1" dirty="0" smtClean="0">
                <a:latin typeface="Arial" panose="020B0604020202020204" pitchFamily="34" charset="0"/>
                <a:cs typeface="Arial" panose="020B0604020202020204" pitchFamily="34" charset="0"/>
              </a:rPr>
              <a:t>Default</a:t>
            </a:r>
            <a:r>
              <a:rPr lang="en-US" sz="1400" b="1" dirty="0">
                <a:latin typeface="Arial" panose="020B0604020202020204" pitchFamily="34" charset="0"/>
                <a:cs typeface="Arial" panose="020B0604020202020204" pitchFamily="34" charset="0"/>
              </a:rPr>
              <a:t>:</a:t>
            </a:r>
            <a:r>
              <a:rPr lang="en-US" sz="1400" dirty="0">
                <a:latin typeface="Arial" panose="020B0604020202020204" pitchFamily="34" charset="0"/>
                <a:cs typeface="Arial" panose="020B0604020202020204" pitchFamily="34" charset="0"/>
              </a:rPr>
              <a:t> </a:t>
            </a:r>
            <a:r>
              <a:rPr lang="en-US" sz="1400" dirty="0" smtClean="0">
                <a:latin typeface="Arial" panose="020B0604020202020204" pitchFamily="34" charset="0"/>
                <a:cs typeface="Arial" panose="020B0604020202020204" pitchFamily="34" charset="0"/>
              </a:rPr>
              <a:t>		Borrower fails to make required monthly payments</a:t>
            </a:r>
            <a:endParaRPr lang="en-US" sz="1400" dirty="0">
              <a:latin typeface="Arial" panose="020B0604020202020204" pitchFamily="34" charset="0"/>
              <a:cs typeface="Arial" panose="020B0604020202020204" pitchFamily="34" charset="0"/>
            </a:endParaRPr>
          </a:p>
        </p:txBody>
      </p:sp>
      <p:cxnSp>
        <p:nvCxnSpPr>
          <p:cNvPr id="23" name="Straight Connector 22"/>
          <p:cNvCxnSpPr/>
          <p:nvPr/>
        </p:nvCxnSpPr>
        <p:spPr>
          <a:xfrm>
            <a:off x="1051719" y="4492109"/>
            <a:ext cx="7629525" cy="0"/>
          </a:xfrm>
          <a:prstGeom prst="line">
            <a:avLst/>
          </a:prstGeom>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3124201" y="4338221"/>
            <a:ext cx="3560539" cy="338554"/>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sz="1600" dirty="0" smtClean="0">
                <a:latin typeface="Arial" panose="020B0604020202020204" pitchFamily="34" charset="0"/>
                <a:cs typeface="Arial" panose="020B0604020202020204" pitchFamily="34" charset="0"/>
              </a:rPr>
              <a:t>Prepayment Model Importance </a:t>
            </a:r>
            <a:endParaRPr lang="en-US" sz="1600" dirty="0">
              <a:latin typeface="Arial" panose="020B0604020202020204" pitchFamily="34" charset="0"/>
              <a:cs typeface="Arial" panose="020B0604020202020204" pitchFamily="34" charset="0"/>
            </a:endParaRPr>
          </a:p>
        </p:txBody>
      </p:sp>
      <p:sp>
        <p:nvSpPr>
          <p:cNvPr id="26" name="TextBox 25"/>
          <p:cNvSpPr txBox="1"/>
          <p:nvPr/>
        </p:nvSpPr>
        <p:spPr>
          <a:xfrm>
            <a:off x="685800" y="4887626"/>
            <a:ext cx="1927860" cy="302802"/>
          </a:xfrm>
          <a:prstGeom prst="rect">
            <a:avLst/>
          </a:prstGeom>
          <a:solidFill>
            <a:schemeClr val="tx2"/>
          </a:solidFill>
          <a:ln>
            <a:noFill/>
          </a:ln>
        </p:spPr>
        <p:style>
          <a:lnRef idx="2">
            <a:schemeClr val="accent1"/>
          </a:lnRef>
          <a:fillRef idx="1">
            <a:schemeClr val="lt1"/>
          </a:fillRef>
          <a:effectRef idx="0">
            <a:schemeClr val="accent1"/>
          </a:effectRef>
          <a:fontRef idx="minor">
            <a:schemeClr val="dk1"/>
          </a:fontRef>
        </p:style>
        <p:txBody>
          <a:bodyPr wrap="square" lIns="101751" tIns="50877" rIns="101751" bIns="50877" rtlCol="0">
            <a:spAutoFit/>
          </a:bodyPr>
          <a:lstStyle/>
          <a:p>
            <a:pPr algn="ctr" defTabSz="1017038" fontAlgn="auto">
              <a:spcBef>
                <a:spcPts val="0"/>
              </a:spcBef>
              <a:spcAft>
                <a:spcPts val="0"/>
              </a:spcAft>
            </a:pPr>
            <a:r>
              <a:rPr lang="en-US" sz="1300" dirty="0" smtClean="0">
                <a:solidFill>
                  <a:srgbClr val="FFFFFF"/>
                </a:solidFill>
              </a:rPr>
              <a:t>MBS Valuation</a:t>
            </a:r>
            <a:endParaRPr lang="en-US" sz="1300" dirty="0">
              <a:solidFill>
                <a:srgbClr val="FFFFFF"/>
              </a:solidFill>
            </a:endParaRPr>
          </a:p>
        </p:txBody>
      </p:sp>
      <p:sp>
        <p:nvSpPr>
          <p:cNvPr id="27" name="TextBox 26"/>
          <p:cNvSpPr txBox="1"/>
          <p:nvPr/>
        </p:nvSpPr>
        <p:spPr>
          <a:xfrm>
            <a:off x="4084320" y="4887626"/>
            <a:ext cx="1927860" cy="302802"/>
          </a:xfrm>
          <a:prstGeom prst="rect">
            <a:avLst/>
          </a:prstGeom>
          <a:solidFill>
            <a:schemeClr val="bg2">
              <a:lumMod val="75000"/>
            </a:schemeClr>
          </a:solidFill>
          <a:ln>
            <a:noFill/>
          </a:ln>
        </p:spPr>
        <p:style>
          <a:lnRef idx="2">
            <a:schemeClr val="accent1"/>
          </a:lnRef>
          <a:fillRef idx="1">
            <a:schemeClr val="lt1"/>
          </a:fillRef>
          <a:effectRef idx="0">
            <a:schemeClr val="accent1"/>
          </a:effectRef>
          <a:fontRef idx="minor">
            <a:schemeClr val="dk1"/>
          </a:fontRef>
        </p:style>
        <p:txBody>
          <a:bodyPr wrap="square" lIns="101751" tIns="50877" rIns="101751" bIns="50877" rtlCol="0">
            <a:spAutoFit/>
          </a:bodyPr>
          <a:lstStyle/>
          <a:p>
            <a:pPr algn="ctr" defTabSz="1017038" fontAlgn="auto">
              <a:spcBef>
                <a:spcPts val="0"/>
              </a:spcBef>
              <a:spcAft>
                <a:spcPts val="0"/>
              </a:spcAft>
            </a:pPr>
            <a:r>
              <a:rPr lang="en-US" sz="1200" dirty="0" smtClean="0">
                <a:latin typeface="Arial" panose="020B0604020202020204" pitchFamily="34" charset="0"/>
                <a:cs typeface="Arial" panose="020B0604020202020204" pitchFamily="34" charset="0"/>
              </a:rPr>
              <a:t>Estimate </a:t>
            </a:r>
            <a:r>
              <a:rPr lang="en-US" sz="1300" dirty="0" smtClean="0">
                <a:solidFill>
                  <a:schemeClr val="tx1"/>
                </a:solidFill>
              </a:rPr>
              <a:t>Cash Flow</a:t>
            </a:r>
            <a:endParaRPr lang="en-US" sz="1300" dirty="0">
              <a:solidFill>
                <a:schemeClr val="tx1"/>
              </a:solidFill>
            </a:endParaRPr>
          </a:p>
        </p:txBody>
      </p:sp>
      <p:sp>
        <p:nvSpPr>
          <p:cNvPr id="28" name="TextBox 27"/>
          <p:cNvSpPr txBox="1"/>
          <p:nvPr/>
        </p:nvSpPr>
        <p:spPr>
          <a:xfrm>
            <a:off x="7479982" y="4888625"/>
            <a:ext cx="1927860" cy="287414"/>
          </a:xfrm>
          <a:prstGeom prst="rect">
            <a:avLst/>
          </a:prstGeom>
          <a:solidFill>
            <a:schemeClr val="bg2">
              <a:lumMod val="75000"/>
            </a:schemeClr>
          </a:solidFill>
          <a:ln>
            <a:noFill/>
          </a:ln>
        </p:spPr>
        <p:style>
          <a:lnRef idx="2">
            <a:schemeClr val="accent1"/>
          </a:lnRef>
          <a:fillRef idx="1">
            <a:schemeClr val="lt1"/>
          </a:fillRef>
          <a:effectRef idx="0">
            <a:schemeClr val="accent1"/>
          </a:effectRef>
          <a:fontRef idx="minor">
            <a:schemeClr val="dk1"/>
          </a:fontRef>
        </p:style>
        <p:txBody>
          <a:bodyPr wrap="square" lIns="101751" tIns="50877" rIns="101751" bIns="50877" rtlCol="0">
            <a:spAutoFit/>
          </a:bodyPr>
          <a:lstStyle/>
          <a:p>
            <a:pPr algn="ctr" defTabSz="1017038" fontAlgn="auto">
              <a:spcBef>
                <a:spcPts val="0"/>
              </a:spcBef>
              <a:spcAft>
                <a:spcPts val="0"/>
              </a:spcAft>
            </a:pPr>
            <a:r>
              <a:rPr lang="en-US" sz="1200" dirty="0" smtClean="0">
                <a:latin typeface="Arial" panose="020B0604020202020204" pitchFamily="34" charset="0"/>
                <a:cs typeface="Arial" panose="020B0604020202020204" pitchFamily="34" charset="0"/>
              </a:rPr>
              <a:t>Prepayment Model</a:t>
            </a:r>
            <a:endParaRPr lang="en-US" sz="1300" dirty="0">
              <a:solidFill>
                <a:schemeClr val="tx1"/>
              </a:solidFill>
            </a:endParaRPr>
          </a:p>
        </p:txBody>
      </p:sp>
      <p:cxnSp>
        <p:nvCxnSpPr>
          <p:cNvPr id="29" name="Straight Arrow Connector 28"/>
          <p:cNvCxnSpPr>
            <a:stCxn id="27" idx="1"/>
            <a:endCxn id="26" idx="3"/>
          </p:cNvCxnSpPr>
          <p:nvPr/>
        </p:nvCxnSpPr>
        <p:spPr>
          <a:xfrm flipH="1">
            <a:off x="2613660" y="5039027"/>
            <a:ext cx="1470660" cy="0"/>
          </a:xfrm>
          <a:prstGeom prst="straightConnector1">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28" idx="1"/>
            <a:endCxn id="27" idx="3"/>
          </p:cNvCxnSpPr>
          <p:nvPr/>
        </p:nvCxnSpPr>
        <p:spPr>
          <a:xfrm flipH="1">
            <a:off x="6012180" y="5032332"/>
            <a:ext cx="1467802" cy="6695"/>
          </a:xfrm>
          <a:prstGeom prst="straightConnector1">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21538" name="TextBox 321537"/>
          <p:cNvSpPr txBox="1"/>
          <p:nvPr/>
        </p:nvSpPr>
        <p:spPr>
          <a:xfrm>
            <a:off x="971550" y="4629150"/>
            <a:ext cx="1428750" cy="307777"/>
          </a:xfrm>
          <a:prstGeom prst="rect">
            <a:avLst/>
          </a:prstGeom>
          <a:noFill/>
        </p:spPr>
        <p:txBody>
          <a:bodyPr wrap="square" rtlCol="0">
            <a:spAutoFit/>
          </a:bodyPr>
          <a:lstStyle/>
          <a:p>
            <a:pPr algn="ctr"/>
            <a:r>
              <a:rPr lang="en-US" sz="1400" dirty="0" smtClean="0">
                <a:latin typeface="Arial" panose="020B0604020202020204" pitchFamily="34" charset="0"/>
                <a:cs typeface="Arial" panose="020B0604020202020204" pitchFamily="34" charset="0"/>
              </a:rPr>
              <a:t>Our Goal</a:t>
            </a:r>
            <a:endParaRPr lang="en-US" sz="1400" dirty="0">
              <a:latin typeface="Arial" panose="020B0604020202020204" pitchFamily="34" charset="0"/>
              <a:cs typeface="Arial" panose="020B0604020202020204" pitchFamily="34" charset="0"/>
            </a:endParaRPr>
          </a:p>
        </p:txBody>
      </p:sp>
      <p:sp>
        <p:nvSpPr>
          <p:cNvPr id="35" name="TextBox 34"/>
          <p:cNvSpPr txBox="1"/>
          <p:nvPr/>
        </p:nvSpPr>
        <p:spPr>
          <a:xfrm>
            <a:off x="4333875" y="4629150"/>
            <a:ext cx="1428750" cy="307777"/>
          </a:xfrm>
          <a:prstGeom prst="rect">
            <a:avLst/>
          </a:prstGeom>
          <a:noFill/>
        </p:spPr>
        <p:txBody>
          <a:bodyPr wrap="square" rtlCol="0">
            <a:spAutoFit/>
          </a:bodyPr>
          <a:lstStyle/>
          <a:p>
            <a:pPr algn="ctr"/>
            <a:r>
              <a:rPr lang="en-US" sz="1400" dirty="0" smtClean="0">
                <a:latin typeface="Arial" panose="020B0604020202020204" pitchFamily="34" charset="0"/>
                <a:cs typeface="Arial" panose="020B0604020202020204" pitchFamily="34" charset="0"/>
              </a:rPr>
              <a:t>Key</a:t>
            </a:r>
            <a:endParaRPr lang="en-US" sz="1400" dirty="0">
              <a:latin typeface="Arial" panose="020B0604020202020204" pitchFamily="34" charset="0"/>
              <a:cs typeface="Arial" panose="020B0604020202020204" pitchFamily="34" charset="0"/>
            </a:endParaRPr>
          </a:p>
        </p:txBody>
      </p:sp>
      <p:sp>
        <p:nvSpPr>
          <p:cNvPr id="36" name="TextBox 35"/>
          <p:cNvSpPr txBox="1"/>
          <p:nvPr/>
        </p:nvSpPr>
        <p:spPr>
          <a:xfrm>
            <a:off x="7729537" y="4629150"/>
            <a:ext cx="1428750" cy="307777"/>
          </a:xfrm>
          <a:prstGeom prst="rect">
            <a:avLst/>
          </a:prstGeom>
          <a:noFill/>
        </p:spPr>
        <p:txBody>
          <a:bodyPr wrap="square" rtlCol="0">
            <a:spAutoFit/>
          </a:bodyPr>
          <a:lstStyle/>
          <a:p>
            <a:pPr algn="ctr"/>
            <a:r>
              <a:rPr lang="en-US" sz="1400" dirty="0" smtClean="0">
                <a:latin typeface="Arial" panose="020B0604020202020204" pitchFamily="34" charset="0"/>
                <a:cs typeface="Arial" panose="020B0604020202020204" pitchFamily="34" charset="0"/>
              </a:rPr>
              <a:t>Foundation</a:t>
            </a:r>
            <a:endParaRPr lang="en-US" sz="1400" dirty="0">
              <a:latin typeface="Arial" panose="020B0604020202020204" pitchFamily="34" charset="0"/>
              <a:cs typeface="Arial" panose="020B0604020202020204" pitchFamily="34" charset="0"/>
            </a:endParaRPr>
          </a:p>
        </p:txBody>
      </p:sp>
      <p:cxnSp>
        <p:nvCxnSpPr>
          <p:cNvPr id="37" name="Curved Connector 36"/>
          <p:cNvCxnSpPr>
            <a:stCxn id="28" idx="2"/>
            <a:endCxn id="26" idx="2"/>
          </p:cNvCxnSpPr>
          <p:nvPr/>
        </p:nvCxnSpPr>
        <p:spPr>
          <a:xfrm rot="5400000">
            <a:off x="5039627" y="1786142"/>
            <a:ext cx="14389" cy="6794182"/>
          </a:xfrm>
          <a:prstGeom prst="curvedConnector3">
            <a:avLst>
              <a:gd name="adj1" fmla="val 2880249"/>
            </a:avLst>
          </a:prstGeom>
          <a:ln w="57150">
            <a:solidFill>
              <a:schemeClr val="accent1">
                <a:lumMod val="40000"/>
                <a:lumOff val="60000"/>
              </a:schemeClr>
            </a:solidFill>
            <a:headEnd type="stealth"/>
            <a:tailEnd type="stealt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590796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37" name="Rectangle 2"/>
          <p:cNvSpPr>
            <a:spLocks noGrp="1" noChangeArrowheads="1"/>
          </p:cNvSpPr>
          <p:nvPr>
            <p:ph type="title"/>
          </p:nvPr>
        </p:nvSpPr>
        <p:spPr>
          <a:xfrm>
            <a:off x="2533587" y="270070"/>
            <a:ext cx="7280116" cy="644102"/>
          </a:xfrm>
        </p:spPr>
        <p:txBody>
          <a:bodyPr/>
          <a:lstStyle/>
          <a:p>
            <a:r>
              <a:rPr lang="en-US" dirty="0">
                <a:latin typeface="Arial" panose="020B0604020202020204" pitchFamily="34" charset="0"/>
                <a:cs typeface="Arial" panose="020B0604020202020204" pitchFamily="34" charset="0"/>
              </a:rPr>
              <a:t>What </a:t>
            </a:r>
            <a:r>
              <a:rPr lang="en-US" dirty="0" smtClean="0">
                <a:latin typeface="Arial" panose="020B0604020202020204" pitchFamily="34" charset="0"/>
                <a:cs typeface="Arial" panose="020B0604020202020204" pitchFamily="34" charset="0"/>
              </a:rPr>
              <a:t>is a </a:t>
            </a:r>
            <a:r>
              <a:rPr lang="en-US" dirty="0">
                <a:latin typeface="Arial" panose="020B0604020202020204" pitchFamily="34" charset="0"/>
                <a:cs typeface="Arial" panose="020B0604020202020204" pitchFamily="34" charset="0"/>
              </a:rPr>
              <a:t>Prepayment </a:t>
            </a:r>
            <a:r>
              <a:rPr lang="en-US" dirty="0" smtClean="0">
                <a:latin typeface="Arial" panose="020B0604020202020204" pitchFamily="34" charset="0"/>
                <a:cs typeface="Arial" panose="020B0604020202020204" pitchFamily="34" charset="0"/>
              </a:rPr>
              <a:t>Model?</a:t>
            </a:r>
            <a:endParaRPr lang="en-US" sz="1200" b="0" dirty="0">
              <a:latin typeface="Arial" panose="020B0604020202020204" pitchFamily="34" charset="0"/>
              <a:cs typeface="Arial" panose="020B0604020202020204" pitchFamily="34" charset="0"/>
            </a:endParaRPr>
          </a:p>
        </p:txBody>
      </p:sp>
      <p:sp>
        <p:nvSpPr>
          <p:cNvPr id="2" name="TextBox 1"/>
          <p:cNvSpPr txBox="1"/>
          <p:nvPr/>
        </p:nvSpPr>
        <p:spPr>
          <a:xfrm>
            <a:off x="1019174" y="1554445"/>
            <a:ext cx="7953375" cy="523220"/>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A prepayment model is a model to describe and </a:t>
            </a:r>
            <a:r>
              <a:rPr lang="en-US" sz="1400" dirty="0" smtClean="0">
                <a:latin typeface="Arial" panose="020B0604020202020204" pitchFamily="34" charset="0"/>
                <a:cs typeface="Arial" panose="020B0604020202020204" pitchFamily="34" charset="0"/>
              </a:rPr>
              <a:t>predict homeowner </a:t>
            </a:r>
            <a:r>
              <a:rPr lang="en-US" sz="1400" dirty="0">
                <a:latin typeface="Arial" panose="020B0604020202020204" pitchFamily="34" charset="0"/>
                <a:cs typeface="Arial" panose="020B0604020202020204" pitchFamily="34" charset="0"/>
              </a:rPr>
              <a:t>prepayment behavior. </a:t>
            </a:r>
            <a:endParaRPr lang="en-US" sz="1400" dirty="0" smtClean="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We analyze the four kinds of prepayment separately and then combine their influence together. </a:t>
            </a:r>
          </a:p>
        </p:txBody>
      </p:sp>
      <p:sp>
        <p:nvSpPr>
          <p:cNvPr id="3" name="Oval 2"/>
          <p:cNvSpPr/>
          <p:nvPr/>
        </p:nvSpPr>
        <p:spPr>
          <a:xfrm>
            <a:off x="1295400" y="2341244"/>
            <a:ext cx="1463040" cy="146304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200" dirty="0" smtClean="0">
                <a:latin typeface="Arial" panose="020B0604020202020204" pitchFamily="34" charset="0"/>
                <a:cs typeface="Arial" panose="020B0604020202020204" pitchFamily="34" charset="0"/>
              </a:rPr>
              <a:t>Prepayment</a:t>
            </a:r>
          </a:p>
          <a:p>
            <a:pPr algn="ctr"/>
            <a:r>
              <a:rPr lang="en-US" sz="1200" dirty="0">
                <a:latin typeface="Arial" panose="020B0604020202020204" pitchFamily="34" charset="0"/>
                <a:cs typeface="Arial" panose="020B0604020202020204" pitchFamily="34" charset="0"/>
              </a:rPr>
              <a:t>A</a:t>
            </a:r>
            <a:r>
              <a:rPr lang="en-US" sz="1200" dirty="0" smtClean="0">
                <a:latin typeface="Arial" panose="020B0604020202020204" pitchFamily="34" charset="0"/>
                <a:cs typeface="Arial" panose="020B0604020202020204" pitchFamily="34" charset="0"/>
              </a:rPr>
              <a:t>ctivities</a:t>
            </a:r>
            <a:endParaRPr lang="en-US" sz="1200" dirty="0">
              <a:latin typeface="Arial" panose="020B0604020202020204" pitchFamily="34" charset="0"/>
              <a:cs typeface="Arial" panose="020B0604020202020204" pitchFamily="34" charset="0"/>
            </a:endParaRPr>
          </a:p>
        </p:txBody>
      </p:sp>
      <p:graphicFrame>
        <p:nvGraphicFramePr>
          <p:cNvPr id="5" name="Chart 4"/>
          <p:cNvGraphicFramePr/>
          <p:nvPr>
            <p:extLst>
              <p:ext uri="{D42A27DB-BD31-4B8C-83A1-F6EECF244321}">
                <p14:modId xmlns:p14="http://schemas.microsoft.com/office/powerpoint/2010/main" val="1768010685"/>
              </p:ext>
            </p:extLst>
          </p:nvPr>
        </p:nvGraphicFramePr>
        <p:xfrm>
          <a:off x="4103489" y="1816055"/>
          <a:ext cx="1897261" cy="2513419"/>
        </p:xfrm>
        <a:graphic>
          <a:graphicData uri="http://schemas.openxmlformats.org/drawingml/2006/chart">
            <c:chart xmlns:c="http://schemas.openxmlformats.org/drawingml/2006/chart" xmlns:r="http://schemas.openxmlformats.org/officeDocument/2006/relationships" r:id="rId5"/>
          </a:graphicData>
        </a:graphic>
      </p:graphicFrame>
      <p:sp>
        <p:nvSpPr>
          <p:cNvPr id="6" name="Oval 5"/>
          <p:cNvSpPr/>
          <p:nvPr/>
        </p:nvSpPr>
        <p:spPr>
          <a:xfrm>
            <a:off x="7115175" y="2341244"/>
            <a:ext cx="1463040" cy="14630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latin typeface="Arial" panose="020B0604020202020204" pitchFamily="34" charset="0"/>
                <a:cs typeface="Arial" panose="020B0604020202020204" pitchFamily="34" charset="0"/>
              </a:rPr>
              <a:t>Quantitative Prepayment Speed</a:t>
            </a:r>
            <a:endParaRPr lang="en-US" sz="1200" dirty="0">
              <a:latin typeface="Arial" panose="020B0604020202020204" pitchFamily="34" charset="0"/>
              <a:cs typeface="Arial" panose="020B0604020202020204" pitchFamily="34" charset="0"/>
            </a:endParaRPr>
          </a:p>
        </p:txBody>
      </p:sp>
      <p:sp>
        <p:nvSpPr>
          <p:cNvPr id="7" name="AutoShape 12"/>
          <p:cNvSpPr>
            <a:spLocks noChangeArrowheads="1"/>
          </p:cNvSpPr>
          <p:nvPr>
            <p:custDataLst>
              <p:tags r:id="rId1"/>
            </p:custDataLst>
          </p:nvPr>
        </p:nvSpPr>
        <p:spPr bwMode="auto">
          <a:xfrm>
            <a:off x="3278124" y="2646521"/>
            <a:ext cx="258763" cy="852487"/>
          </a:xfrm>
          <a:prstGeom prst="rightArrow">
            <a:avLst>
              <a:gd name="adj1" fmla="val 50000"/>
              <a:gd name="adj2" fmla="val 52278"/>
            </a:avLst>
          </a:prstGeom>
          <a:solidFill>
            <a:schemeClr val="accent1"/>
          </a:solidFill>
          <a:ln w="12700" algn="ctr">
            <a:solidFill>
              <a:schemeClr val="bg1"/>
            </a:solidFill>
            <a:miter lim="800000"/>
            <a:headEnd/>
            <a:tailEnd/>
          </a:ln>
        </p:spPr>
        <p:txBody>
          <a:bodyPr rot="10800000" vert="eaVert" tIns="91440" bIns="91440" anchor="ctr"/>
          <a:lstStyle/>
          <a:p>
            <a:pPr algn="ctr">
              <a:defRPr/>
            </a:pPr>
            <a:endParaRPr lang="en-US" dirty="0">
              <a:latin typeface="Arial" panose="020B0604020202020204" pitchFamily="34" charset="0"/>
              <a:ea typeface="Arial Unicode MS" pitchFamily="34" charset="-122"/>
              <a:cs typeface="Arial" panose="020B0604020202020204" pitchFamily="34" charset="0"/>
            </a:endParaRPr>
          </a:p>
        </p:txBody>
      </p:sp>
      <p:sp>
        <p:nvSpPr>
          <p:cNvPr id="8" name="AutoShape 12"/>
          <p:cNvSpPr>
            <a:spLocks noChangeArrowheads="1"/>
          </p:cNvSpPr>
          <p:nvPr>
            <p:custDataLst>
              <p:tags r:id="rId2"/>
            </p:custDataLst>
          </p:nvPr>
        </p:nvSpPr>
        <p:spPr bwMode="auto">
          <a:xfrm>
            <a:off x="6478524" y="2646521"/>
            <a:ext cx="258763" cy="852487"/>
          </a:xfrm>
          <a:prstGeom prst="rightArrow">
            <a:avLst>
              <a:gd name="adj1" fmla="val 50000"/>
              <a:gd name="adj2" fmla="val 52278"/>
            </a:avLst>
          </a:prstGeom>
          <a:solidFill>
            <a:schemeClr val="accent1"/>
          </a:solidFill>
          <a:ln w="12700" algn="ctr">
            <a:solidFill>
              <a:schemeClr val="bg1"/>
            </a:solidFill>
            <a:miter lim="800000"/>
            <a:headEnd/>
            <a:tailEnd/>
          </a:ln>
        </p:spPr>
        <p:txBody>
          <a:bodyPr rot="10800000" vert="eaVert" tIns="91440" bIns="91440" anchor="ctr"/>
          <a:lstStyle/>
          <a:p>
            <a:pPr algn="ctr">
              <a:defRPr/>
            </a:pPr>
            <a:endParaRPr lang="en-US" dirty="0">
              <a:latin typeface="Arial" panose="020B0604020202020204" pitchFamily="34" charset="0"/>
              <a:ea typeface="Arial Unicode MS" pitchFamily="34" charset="-122"/>
              <a:cs typeface="Arial" panose="020B0604020202020204" pitchFamily="34" charset="0"/>
            </a:endParaRPr>
          </a:p>
        </p:txBody>
      </p:sp>
      <p:graphicFrame>
        <p:nvGraphicFramePr>
          <p:cNvPr id="9" name="Chart 8"/>
          <p:cNvGraphicFramePr/>
          <p:nvPr>
            <p:extLst>
              <p:ext uri="{D42A27DB-BD31-4B8C-83A1-F6EECF244321}">
                <p14:modId xmlns:p14="http://schemas.microsoft.com/office/powerpoint/2010/main" val="2428156114"/>
              </p:ext>
            </p:extLst>
          </p:nvPr>
        </p:nvGraphicFramePr>
        <p:xfrm>
          <a:off x="5581650" y="4548549"/>
          <a:ext cx="3976687" cy="2576151"/>
        </p:xfrm>
        <a:graphic>
          <a:graphicData uri="http://schemas.openxmlformats.org/drawingml/2006/chart">
            <c:chart xmlns:c="http://schemas.openxmlformats.org/drawingml/2006/chart" xmlns:r="http://schemas.openxmlformats.org/officeDocument/2006/relationships" r:id="rId6"/>
          </a:graphicData>
        </a:graphic>
      </p:graphicFrame>
      <p:sp>
        <p:nvSpPr>
          <p:cNvPr id="4" name="TextBox 3"/>
          <p:cNvSpPr txBox="1"/>
          <p:nvPr/>
        </p:nvSpPr>
        <p:spPr>
          <a:xfrm>
            <a:off x="923925" y="4695319"/>
            <a:ext cx="4181475" cy="1815882"/>
          </a:xfrm>
          <a:prstGeom prst="rect">
            <a:avLst/>
          </a:prstGeom>
          <a:noFill/>
        </p:spPr>
        <p:txBody>
          <a:bodyPr wrap="square" rtlCol="0">
            <a:spAutoFit/>
          </a:bodyPr>
          <a:lstStyle/>
          <a:p>
            <a:r>
              <a:rPr lang="en-US" sz="1400" dirty="0" smtClean="0">
                <a:latin typeface="Arial" panose="020B0604020202020204" pitchFamily="34" charset="0"/>
                <a:cs typeface="Arial" panose="020B0604020202020204" pitchFamily="34" charset="0"/>
              </a:rPr>
              <a:t>Use </a:t>
            </a:r>
            <a:r>
              <a:rPr lang="en-US" sz="1400" dirty="0">
                <a:latin typeface="Arial" panose="020B0604020202020204" pitchFamily="34" charset="0"/>
                <a:cs typeface="Arial" panose="020B0604020202020204" pitchFamily="34" charset="0"/>
              </a:rPr>
              <a:t>rates like SMM, CPR and PSA rate to describe the prepayment speed</a:t>
            </a:r>
            <a:r>
              <a:rPr lang="en-US" sz="1400" dirty="0" smtClean="0">
                <a:latin typeface="Arial" panose="020B0604020202020204" pitchFamily="34" charset="0"/>
                <a:cs typeface="Arial" panose="020B0604020202020204" pitchFamily="34" charset="0"/>
              </a:rPr>
              <a:t>.</a:t>
            </a:r>
          </a:p>
          <a:p>
            <a:endParaRPr lang="en-US" sz="1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400" dirty="0" smtClean="0">
                <a:latin typeface="Arial" panose="020B0604020202020204" pitchFamily="34" charset="0"/>
                <a:cs typeface="Arial" panose="020B0604020202020204" pitchFamily="34" charset="0"/>
              </a:rPr>
              <a:t>SMM </a:t>
            </a:r>
            <a:r>
              <a:rPr lang="en-US" sz="1400" dirty="0">
                <a:latin typeface="Arial" panose="020B0604020202020204" pitchFamily="34" charset="0"/>
                <a:cs typeface="Arial" panose="020B0604020202020204" pitchFamily="34" charset="0"/>
              </a:rPr>
              <a:t>converts the dollar amount into prepayment rate per </a:t>
            </a:r>
            <a:r>
              <a:rPr lang="en-US" sz="1400" dirty="0" smtClean="0">
                <a:latin typeface="Arial" panose="020B0604020202020204" pitchFamily="34" charset="0"/>
                <a:cs typeface="Arial" panose="020B0604020202020204" pitchFamily="34" charset="0"/>
              </a:rPr>
              <a:t>dollar</a:t>
            </a:r>
            <a:r>
              <a:rPr lang="en-US" sz="1400" dirty="0">
                <a:latin typeface="Arial" panose="020B0604020202020204" pitchFamily="34" charset="0"/>
                <a:cs typeface="Arial" panose="020B0604020202020204" pitchFamily="34" charset="0"/>
              </a:rPr>
              <a:t> </a:t>
            </a:r>
            <a:r>
              <a:rPr lang="en-US" sz="1400" dirty="0" smtClean="0">
                <a:latin typeface="Arial" panose="020B0604020202020204" pitchFamily="34" charset="0"/>
                <a:cs typeface="Arial" panose="020B0604020202020204" pitchFamily="34" charset="0"/>
              </a:rPr>
              <a:t>(expressed on a monthly basis)</a:t>
            </a:r>
          </a:p>
          <a:p>
            <a:pPr marL="285750" indent="-285750">
              <a:buFont typeface="Arial" panose="020B0604020202020204" pitchFamily="34" charset="0"/>
              <a:buChar char="•"/>
            </a:pPr>
            <a:r>
              <a:rPr lang="en-US" sz="1400" dirty="0" smtClean="0">
                <a:latin typeface="Arial" panose="020B0604020202020204" pitchFamily="34" charset="0"/>
                <a:cs typeface="Arial" panose="020B0604020202020204" pitchFamily="34" charset="0"/>
              </a:rPr>
              <a:t>CPR </a:t>
            </a:r>
            <a:r>
              <a:rPr lang="en-US" sz="1400" dirty="0">
                <a:latin typeface="Arial" panose="020B0604020202020204" pitchFamily="34" charset="0"/>
                <a:cs typeface="Arial" panose="020B0604020202020204" pitchFamily="34" charset="0"/>
              </a:rPr>
              <a:t>is the </a:t>
            </a:r>
            <a:r>
              <a:rPr lang="en-US" sz="1400" dirty="0" smtClean="0">
                <a:latin typeface="Arial" panose="020B0604020202020204" pitchFamily="34" charset="0"/>
                <a:cs typeface="Arial" panose="020B0604020202020204" pitchFamily="34" charset="0"/>
              </a:rPr>
              <a:t>corresponding </a:t>
            </a:r>
            <a:r>
              <a:rPr lang="en-US" sz="1400" dirty="0">
                <a:latin typeface="Arial" panose="020B0604020202020204" pitchFamily="34" charset="0"/>
                <a:cs typeface="Arial" panose="020B0604020202020204" pitchFamily="34" charset="0"/>
              </a:rPr>
              <a:t>annual value</a:t>
            </a:r>
            <a:r>
              <a:rPr lang="en-US" sz="1400" dirty="0" smtClean="0">
                <a:latin typeface="Arial" panose="020B0604020202020204" pitchFamily="34" charset="0"/>
                <a:cs typeface="Arial" panose="020B0604020202020204" pitchFamily="34" charset="0"/>
              </a:rPr>
              <a:t>.</a:t>
            </a:r>
          </a:p>
          <a:p>
            <a:pPr marL="285750" indent="-285750">
              <a:buFont typeface="Arial" panose="020B0604020202020204" pitchFamily="34" charset="0"/>
              <a:buChar char="•"/>
            </a:pPr>
            <a:r>
              <a:rPr lang="en-US" sz="1400" dirty="0" smtClean="0">
                <a:latin typeface="Arial" panose="020B0604020202020204" pitchFamily="34" charset="0"/>
                <a:cs typeface="Arial" panose="020B0604020202020204" pitchFamily="34" charset="0"/>
              </a:rPr>
              <a:t>PSA </a:t>
            </a:r>
            <a:r>
              <a:rPr lang="en-US" sz="1400" dirty="0">
                <a:latin typeface="Arial" panose="020B0604020202020204" pitchFamily="34" charset="0"/>
                <a:cs typeface="Arial" panose="020B0604020202020204" pitchFamily="34" charset="0"/>
              </a:rPr>
              <a:t>uses a benchmark prepayment curve</a:t>
            </a:r>
            <a:r>
              <a:rPr lang="en-US" sz="1400" dirty="0" smtClean="0">
                <a:latin typeface="Arial" panose="020B0604020202020204" pitchFamily="34" charset="0"/>
                <a:cs typeface="Arial" panose="020B0604020202020204" pitchFamily="34" charset="0"/>
              </a:rPr>
              <a:t>.</a:t>
            </a:r>
            <a:endParaRPr lang="en-US" sz="1400" dirty="0">
              <a:latin typeface="Arial" panose="020B0604020202020204" pitchFamily="34" charset="0"/>
              <a:cs typeface="Arial" panose="020B0604020202020204" pitchFamily="34" charset="0"/>
            </a:endParaRPr>
          </a:p>
        </p:txBody>
      </p:sp>
      <p:cxnSp>
        <p:nvCxnSpPr>
          <p:cNvPr id="11" name="Straight Connector 10"/>
          <p:cNvCxnSpPr/>
          <p:nvPr/>
        </p:nvCxnSpPr>
        <p:spPr>
          <a:xfrm>
            <a:off x="1181100" y="4192488"/>
            <a:ext cx="7629525" cy="0"/>
          </a:xfrm>
          <a:prstGeom prst="line">
            <a:avLst/>
          </a:prstGeom>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3278124" y="4038600"/>
            <a:ext cx="3329781" cy="338554"/>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sz="1600" dirty="0" smtClean="0">
                <a:latin typeface="Arial" panose="020B0604020202020204" pitchFamily="34" charset="0"/>
                <a:cs typeface="Arial" panose="020B0604020202020204" pitchFamily="34" charset="0"/>
              </a:rPr>
              <a:t>Measuring Prepayment Rates</a:t>
            </a:r>
            <a:endParaRPr lang="en-US" sz="1600" dirty="0">
              <a:latin typeface="Arial" panose="020B0604020202020204" pitchFamily="34" charset="0"/>
              <a:cs typeface="Arial" panose="020B0604020202020204" pitchFamily="34" charset="0"/>
            </a:endParaRPr>
          </a:p>
        </p:txBody>
      </p:sp>
      <p:cxnSp>
        <p:nvCxnSpPr>
          <p:cNvPr id="14" name="Straight Connector 13"/>
          <p:cNvCxnSpPr/>
          <p:nvPr/>
        </p:nvCxnSpPr>
        <p:spPr>
          <a:xfrm>
            <a:off x="1051719" y="1310456"/>
            <a:ext cx="7629525" cy="0"/>
          </a:xfrm>
          <a:prstGeom prst="line">
            <a:avLst/>
          </a:prstGeom>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2909689" y="1156568"/>
            <a:ext cx="3913584" cy="338554"/>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sz="1600" dirty="0" smtClean="0">
                <a:latin typeface="Arial" panose="020B0604020202020204" pitchFamily="34" charset="0"/>
                <a:cs typeface="Arial" panose="020B0604020202020204" pitchFamily="34" charset="0"/>
              </a:rPr>
              <a:t>Prepayment Model with Sub-components</a:t>
            </a:r>
            <a:endParaRPr lang="en-US" sz="1600" dirty="0">
              <a:latin typeface="Arial" panose="020B0604020202020204" pitchFamily="34" charset="0"/>
              <a:cs typeface="Arial" panose="020B0604020202020204" pitchFamily="34" charset="0"/>
            </a:endParaRPr>
          </a:p>
        </p:txBody>
      </p:sp>
      <p:sp>
        <p:nvSpPr>
          <p:cNvPr id="13" name="TextBox 12"/>
          <p:cNvSpPr txBox="1"/>
          <p:nvPr/>
        </p:nvSpPr>
        <p:spPr>
          <a:xfrm>
            <a:off x="5105400" y="2510038"/>
            <a:ext cx="790575" cy="253916"/>
          </a:xfrm>
          <a:prstGeom prst="rect">
            <a:avLst/>
          </a:prstGeom>
          <a:noFill/>
        </p:spPr>
        <p:txBody>
          <a:bodyPr wrap="square" rtlCol="0">
            <a:spAutoFit/>
          </a:bodyPr>
          <a:lstStyle/>
          <a:p>
            <a:r>
              <a:rPr lang="en-US" sz="1050" dirty="0" smtClean="0">
                <a:solidFill>
                  <a:schemeClr val="bg1"/>
                </a:solidFill>
                <a:latin typeface="Arial" panose="020B0604020202020204" pitchFamily="34" charset="0"/>
                <a:cs typeface="Arial" panose="020B0604020202020204" pitchFamily="34" charset="0"/>
              </a:rPr>
              <a:t>Curtail</a:t>
            </a:r>
            <a:endParaRPr lang="en-US" sz="1050" dirty="0">
              <a:solidFill>
                <a:schemeClr val="bg1"/>
              </a:solidFill>
              <a:latin typeface="Arial" panose="020B0604020202020204" pitchFamily="34" charset="0"/>
              <a:cs typeface="Arial" panose="020B0604020202020204" pitchFamily="34" charset="0"/>
            </a:endParaRPr>
          </a:p>
        </p:txBody>
      </p:sp>
      <p:sp>
        <p:nvSpPr>
          <p:cNvPr id="17" name="TextBox 16"/>
          <p:cNvSpPr txBox="1"/>
          <p:nvPr/>
        </p:nvSpPr>
        <p:spPr>
          <a:xfrm>
            <a:off x="5105400" y="3245092"/>
            <a:ext cx="790575" cy="253916"/>
          </a:xfrm>
          <a:prstGeom prst="rect">
            <a:avLst/>
          </a:prstGeom>
          <a:noFill/>
        </p:spPr>
        <p:txBody>
          <a:bodyPr wrap="square" rtlCol="0">
            <a:spAutoFit/>
          </a:bodyPr>
          <a:lstStyle/>
          <a:p>
            <a:r>
              <a:rPr lang="en-US" sz="1050" dirty="0" smtClean="0">
                <a:solidFill>
                  <a:schemeClr val="bg1"/>
                </a:solidFill>
                <a:latin typeface="Arial" panose="020B0604020202020204" pitchFamily="34" charset="0"/>
                <a:cs typeface="Arial" panose="020B0604020202020204" pitchFamily="34" charset="0"/>
              </a:rPr>
              <a:t>Default</a:t>
            </a:r>
            <a:endParaRPr lang="en-US" sz="1050" dirty="0">
              <a:solidFill>
                <a:schemeClr val="bg1"/>
              </a:solidFill>
              <a:latin typeface="Arial" panose="020B0604020202020204" pitchFamily="34" charset="0"/>
              <a:cs typeface="Arial" panose="020B0604020202020204" pitchFamily="34" charset="0"/>
            </a:endParaRPr>
          </a:p>
        </p:txBody>
      </p:sp>
      <p:sp>
        <p:nvSpPr>
          <p:cNvPr id="18" name="TextBox 17"/>
          <p:cNvSpPr txBox="1"/>
          <p:nvPr/>
        </p:nvSpPr>
        <p:spPr>
          <a:xfrm>
            <a:off x="4314824" y="2510038"/>
            <a:ext cx="981076" cy="253916"/>
          </a:xfrm>
          <a:prstGeom prst="rect">
            <a:avLst/>
          </a:prstGeom>
          <a:noFill/>
        </p:spPr>
        <p:txBody>
          <a:bodyPr wrap="square" rtlCol="0">
            <a:spAutoFit/>
          </a:bodyPr>
          <a:lstStyle/>
          <a:p>
            <a:r>
              <a:rPr lang="en-US" sz="1050" dirty="0" smtClean="0">
                <a:solidFill>
                  <a:schemeClr val="bg1"/>
                </a:solidFill>
                <a:latin typeface="Arial" panose="020B0604020202020204" pitchFamily="34" charset="0"/>
                <a:cs typeface="Arial" panose="020B0604020202020204" pitchFamily="34" charset="0"/>
              </a:rPr>
              <a:t>Refinancing</a:t>
            </a:r>
            <a:endParaRPr lang="en-US" sz="1050" dirty="0">
              <a:solidFill>
                <a:schemeClr val="bg1"/>
              </a:solidFill>
              <a:latin typeface="Arial" panose="020B0604020202020204" pitchFamily="34" charset="0"/>
              <a:cs typeface="Arial" panose="020B0604020202020204" pitchFamily="34" charset="0"/>
            </a:endParaRPr>
          </a:p>
        </p:txBody>
      </p:sp>
      <p:sp>
        <p:nvSpPr>
          <p:cNvPr id="19" name="TextBox 18"/>
          <p:cNvSpPr txBox="1"/>
          <p:nvPr/>
        </p:nvSpPr>
        <p:spPr>
          <a:xfrm>
            <a:off x="4314824" y="3245092"/>
            <a:ext cx="790575" cy="253916"/>
          </a:xfrm>
          <a:prstGeom prst="rect">
            <a:avLst/>
          </a:prstGeom>
          <a:noFill/>
        </p:spPr>
        <p:txBody>
          <a:bodyPr wrap="square" rtlCol="0">
            <a:spAutoFit/>
          </a:bodyPr>
          <a:lstStyle/>
          <a:p>
            <a:r>
              <a:rPr lang="en-US" sz="1050" dirty="0" smtClean="0">
                <a:solidFill>
                  <a:schemeClr val="bg1"/>
                </a:solidFill>
                <a:latin typeface="Arial" panose="020B0604020202020204" pitchFamily="34" charset="0"/>
                <a:cs typeface="Arial" panose="020B0604020202020204" pitchFamily="34" charset="0"/>
              </a:rPr>
              <a:t>Turnover</a:t>
            </a:r>
            <a:endParaRPr lang="en-US" sz="1050" dirty="0">
              <a:solidFill>
                <a:schemeClr val="bg1"/>
              </a:solidFill>
              <a:latin typeface="Arial" panose="020B0604020202020204" pitchFamily="34" charset="0"/>
              <a:cs typeface="Arial" panose="020B0604020202020204" pitchFamily="34" charset="0"/>
            </a:endParaRPr>
          </a:p>
        </p:txBody>
      </p:sp>
      <p:sp>
        <p:nvSpPr>
          <p:cNvPr id="16" name="TextBox 15"/>
          <p:cNvSpPr txBox="1"/>
          <p:nvPr/>
        </p:nvSpPr>
        <p:spPr>
          <a:xfrm>
            <a:off x="1838325" y="3306863"/>
            <a:ext cx="428625" cy="400110"/>
          </a:xfrm>
          <a:prstGeom prst="rect">
            <a:avLst/>
          </a:prstGeom>
          <a:noFill/>
        </p:spPr>
        <p:txBody>
          <a:bodyPr wrap="square" rtlCol="0">
            <a:spAutoFit/>
          </a:bodyPr>
          <a:lstStyle/>
          <a:p>
            <a:pPr algn="ctr"/>
            <a:r>
              <a:rPr lang="en-US" sz="2000" b="1" dirty="0" smtClean="0">
                <a:solidFill>
                  <a:schemeClr val="bg1"/>
                </a:solidFill>
                <a:latin typeface="Arial" panose="020B0604020202020204" pitchFamily="34" charset="0"/>
                <a:cs typeface="Arial" panose="020B0604020202020204" pitchFamily="34" charset="0"/>
              </a:rPr>
              <a:t>?</a:t>
            </a:r>
            <a:endParaRPr lang="en-US" sz="2000" b="1" dirty="0">
              <a:solidFill>
                <a:schemeClr val="bg1"/>
              </a:solidFill>
              <a:latin typeface="Arial" panose="020B0604020202020204" pitchFamily="34" charset="0"/>
              <a:cs typeface="Arial" panose="020B0604020202020204" pitchFamily="34" charset="0"/>
            </a:endParaRPr>
          </a:p>
        </p:txBody>
      </p:sp>
      <p:sp>
        <p:nvSpPr>
          <p:cNvPr id="21" name="Text Box 4"/>
          <p:cNvSpPr txBox="1">
            <a:spLocks noChangeArrowheads="1"/>
          </p:cNvSpPr>
          <p:nvPr>
            <p:custDataLst>
              <p:tags r:id="rId3"/>
            </p:custDataLst>
          </p:nvPr>
        </p:nvSpPr>
        <p:spPr bwMode="auto">
          <a:xfrm flipH="1">
            <a:off x="7681357" y="3306863"/>
            <a:ext cx="330675" cy="492443"/>
          </a:xfrm>
          <a:prstGeom prst="rect">
            <a:avLst/>
          </a:prstGeom>
          <a:noFill/>
          <a:ln w="6350" algn="ctr">
            <a:noFill/>
            <a:miter lim="800000"/>
            <a:headEnd/>
            <a:tailEnd/>
          </a:ln>
        </p:spPr>
        <p:txBody>
          <a:bodyPr wrap="square" lIns="0" tIns="0" rIns="0" bIns="0">
            <a:spAutoFit/>
          </a:bodyPr>
          <a:lstStyle/>
          <a:p>
            <a:r>
              <a:rPr lang="en-US" altLang="ja-JP" sz="3200" dirty="0">
                <a:solidFill>
                  <a:schemeClr val="bg1"/>
                </a:solidFill>
                <a:latin typeface="Arial" panose="020B0604020202020204" pitchFamily="34" charset="0"/>
                <a:ea typeface="Arial Unicode MS" pitchFamily="34" charset="-122"/>
                <a:cs typeface="Arial" panose="020B0604020202020204" pitchFamily="34" charset="0"/>
                <a:sym typeface="Wingdings" pitchFamily="2" charset="2"/>
              </a:rPr>
              <a:t></a:t>
            </a:r>
            <a:endParaRPr lang="en-US" sz="3200" dirty="0">
              <a:solidFill>
                <a:schemeClr val="bg1"/>
              </a:solidFill>
              <a:latin typeface="Arial" panose="020B0604020202020204" pitchFamily="34" charset="0"/>
              <a:ea typeface="Arial Unicode MS" pitchFamily="34" charset="-122"/>
              <a:cs typeface="Arial" panose="020B0604020202020204" pitchFamily="34" charset="0"/>
              <a:sym typeface="Wingdings" pitchFamily="2" charset="2"/>
            </a:endParaRPr>
          </a:p>
        </p:txBody>
      </p:sp>
    </p:spTree>
    <p:extLst>
      <p:ext uri="{BB962C8B-B14F-4D97-AF65-F5344CB8AC3E}">
        <p14:creationId xmlns:p14="http://schemas.microsoft.com/office/powerpoint/2010/main" val="99692867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lvl="1"/>
            <a:r>
              <a:rPr lang="en-US" dirty="0" smtClean="0">
                <a:solidFill>
                  <a:schemeClr val="tx1"/>
                </a:solidFill>
              </a:rPr>
              <a:t>Spline calculations</a:t>
            </a:r>
            <a:r>
              <a:rPr lang="en-US" dirty="0">
                <a:solidFill>
                  <a:schemeClr val="tx1"/>
                </a:solidFill>
              </a:rPr>
              <a:t/>
            </a:r>
            <a:br>
              <a:rPr lang="en-US" dirty="0">
                <a:solidFill>
                  <a:schemeClr val="tx1"/>
                </a:solidFill>
              </a:rPr>
            </a:br>
            <a:r>
              <a:rPr lang="en-US" dirty="0">
                <a:solidFill>
                  <a:schemeClr val="tx1"/>
                </a:solidFill>
              </a:rPr>
              <a:t>Media Effect</a:t>
            </a:r>
            <a:br>
              <a:rPr lang="en-US" dirty="0">
                <a:solidFill>
                  <a:schemeClr val="tx1"/>
                </a:solidFill>
              </a:rPr>
            </a:br>
            <a:r>
              <a:rPr lang="en-US" dirty="0">
                <a:solidFill>
                  <a:schemeClr val="tx1"/>
                </a:solidFill>
              </a:rPr>
              <a:t>Credit Availability</a:t>
            </a:r>
            <a:br>
              <a:rPr lang="en-US" dirty="0">
                <a:solidFill>
                  <a:schemeClr val="tx1"/>
                </a:solidFill>
              </a:rPr>
            </a:br>
            <a:r>
              <a:rPr lang="en-US" dirty="0">
                <a:solidFill>
                  <a:schemeClr val="tx1"/>
                </a:solidFill>
              </a:rPr>
              <a:t/>
            </a:r>
            <a:br>
              <a:rPr lang="en-US" dirty="0">
                <a:solidFill>
                  <a:schemeClr val="tx1"/>
                </a:solidFill>
              </a:rPr>
            </a:br>
            <a:endParaRPr lang="en-US" dirty="0">
              <a:solidFill>
                <a:schemeClr val="tx1"/>
              </a:solidFill>
            </a:endParaRPr>
          </a:p>
        </p:txBody>
      </p:sp>
      <p:sp>
        <p:nvSpPr>
          <p:cNvPr id="5" name="Text Placeholder 4"/>
          <p:cNvSpPr>
            <a:spLocks noGrp="1"/>
          </p:cNvSpPr>
          <p:nvPr>
            <p:ph type="body" idx="1"/>
          </p:nvPr>
        </p:nvSpPr>
        <p:spPr/>
        <p:txBody>
          <a:bodyPr/>
          <a:lstStyle/>
          <a:p>
            <a:r>
              <a:rPr lang="en-US" sz="2400" b="1" dirty="0" smtClean="0"/>
              <a:t>Topics in Model Fitting</a:t>
            </a:r>
            <a:endParaRPr lang="en-US" sz="2400" b="1" dirty="0"/>
          </a:p>
          <a:p>
            <a:endParaRPr lang="en-US" dirty="0"/>
          </a:p>
        </p:txBody>
      </p:sp>
    </p:spTree>
    <p:extLst>
      <p:ext uri="{BB962C8B-B14F-4D97-AF65-F5344CB8AC3E}">
        <p14:creationId xmlns:p14="http://schemas.microsoft.com/office/powerpoint/2010/main" val="53976470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23670" y="226484"/>
            <a:ext cx="6806130" cy="677966"/>
          </a:xfrm>
        </p:spPr>
        <p:txBody>
          <a:bodyPr/>
          <a:lstStyle/>
          <a:p>
            <a:r>
              <a:rPr lang="en-US" dirty="0" smtClean="0">
                <a:latin typeface="Arial" panose="020B0604020202020204" pitchFamily="34" charset="0"/>
                <a:cs typeface="Arial" panose="020B0604020202020204" pitchFamily="34" charset="0"/>
              </a:rPr>
              <a:t>Inputs of prepayment </a:t>
            </a:r>
            <a:r>
              <a:rPr lang="en-US" dirty="0">
                <a:latin typeface="Arial" panose="020B0604020202020204" pitchFamily="34" charset="0"/>
                <a:cs typeface="Arial" panose="020B0604020202020204" pitchFamily="34" charset="0"/>
              </a:rPr>
              <a:t>model</a:t>
            </a:r>
            <a:br>
              <a:rPr lang="en-US" dirty="0">
                <a:latin typeface="Arial" panose="020B0604020202020204" pitchFamily="34" charset="0"/>
                <a:cs typeface="Arial" panose="020B0604020202020204" pitchFamily="34" charset="0"/>
              </a:rPr>
            </a:br>
            <a:endParaRPr lang="en-US" dirty="0">
              <a:latin typeface="Arial" panose="020B0604020202020204" pitchFamily="34" charset="0"/>
              <a:cs typeface="Arial" panose="020B0604020202020204" pitchFamily="34" charset="0"/>
            </a:endParaRPr>
          </a:p>
        </p:txBody>
      </p:sp>
      <p:sp>
        <p:nvSpPr>
          <p:cNvPr id="34" name="Rectangle 33"/>
          <p:cNvSpPr/>
          <p:nvPr/>
        </p:nvSpPr>
        <p:spPr>
          <a:xfrm>
            <a:off x="657225" y="1743075"/>
            <a:ext cx="1228725" cy="4857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latin typeface="Arial" panose="020B0604020202020204" pitchFamily="34" charset="0"/>
                <a:cs typeface="Arial" panose="020B0604020202020204" pitchFamily="34" charset="0"/>
              </a:rPr>
              <a:t>Borrower Characteristics </a:t>
            </a:r>
          </a:p>
        </p:txBody>
      </p:sp>
      <p:sp>
        <p:nvSpPr>
          <p:cNvPr id="35" name="Rectangle 34"/>
          <p:cNvSpPr/>
          <p:nvPr/>
        </p:nvSpPr>
        <p:spPr>
          <a:xfrm>
            <a:off x="657225" y="2543175"/>
            <a:ext cx="1228725" cy="4857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latin typeface="Arial" panose="020B0604020202020204" pitchFamily="34" charset="0"/>
                <a:cs typeface="Arial" panose="020B0604020202020204" pitchFamily="34" charset="0"/>
              </a:rPr>
              <a:t>Loan Characteristics </a:t>
            </a:r>
          </a:p>
        </p:txBody>
      </p:sp>
      <p:sp>
        <p:nvSpPr>
          <p:cNvPr id="36" name="Rectangle 35"/>
          <p:cNvSpPr/>
          <p:nvPr/>
        </p:nvSpPr>
        <p:spPr>
          <a:xfrm>
            <a:off x="657225" y="3752850"/>
            <a:ext cx="1228725" cy="4857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sz="1100" b="1" dirty="0" smtClean="0">
                <a:latin typeface="Arial" panose="020B0604020202020204" pitchFamily="34" charset="0"/>
                <a:cs typeface="Arial" panose="020B0604020202020204" pitchFamily="34" charset="0"/>
              </a:rPr>
              <a:t>Macro Economic </a:t>
            </a:r>
            <a:r>
              <a:rPr lang="en-US" sz="1100" b="1" dirty="0" smtClean="0">
                <a:latin typeface="Arial" panose="020B0604020202020204" pitchFamily="34" charset="0"/>
                <a:cs typeface="Arial" panose="020B0604020202020204" pitchFamily="34" charset="0"/>
              </a:rPr>
              <a:t>Variables</a:t>
            </a:r>
            <a:endParaRPr lang="en-US" sz="1100" b="1" dirty="0">
              <a:latin typeface="Arial" panose="020B0604020202020204" pitchFamily="34" charset="0"/>
              <a:cs typeface="Arial" panose="020B0604020202020204" pitchFamily="34" charset="0"/>
            </a:endParaRPr>
          </a:p>
        </p:txBody>
      </p:sp>
      <p:graphicFrame>
        <p:nvGraphicFramePr>
          <p:cNvPr id="38" name="Table 37"/>
          <p:cNvGraphicFramePr>
            <a:graphicFrameLocks noGrp="1"/>
          </p:cNvGraphicFramePr>
          <p:nvPr>
            <p:extLst>
              <p:ext uri="{D42A27DB-BD31-4B8C-83A1-F6EECF244321}">
                <p14:modId xmlns:p14="http://schemas.microsoft.com/office/powerpoint/2010/main" val="4252466597"/>
              </p:ext>
            </p:extLst>
          </p:nvPr>
        </p:nvGraphicFramePr>
        <p:xfrm>
          <a:off x="2271395" y="1743075"/>
          <a:ext cx="4272280" cy="391414"/>
        </p:xfrm>
        <a:graphic>
          <a:graphicData uri="http://schemas.openxmlformats.org/drawingml/2006/table">
            <a:tbl>
              <a:tblPr firstRow="1" firstCol="1" bandRow="1">
                <a:tableStyleId>{5940675A-B579-460E-94D1-54222C63F5DA}</a:tableStyleId>
              </a:tblPr>
              <a:tblGrid>
                <a:gridCol w="1119505"/>
                <a:gridCol w="857250"/>
                <a:gridCol w="2295525"/>
              </a:tblGrid>
              <a:tr h="0">
                <a:tc>
                  <a:txBody>
                    <a:bodyPr/>
                    <a:lstStyle/>
                    <a:p>
                      <a:pPr marL="0" marR="0" algn="ctr">
                        <a:lnSpc>
                          <a:spcPct val="107000"/>
                        </a:lnSpc>
                        <a:spcBef>
                          <a:spcPts val="0"/>
                        </a:spcBef>
                        <a:spcAft>
                          <a:spcPts val="0"/>
                        </a:spcAft>
                      </a:pPr>
                      <a:r>
                        <a:rPr lang="en-US" sz="1200" b="0" dirty="0" smtClean="0">
                          <a:solidFill>
                            <a:schemeClr val="bg1"/>
                          </a:solidFill>
                        </a:rPr>
                        <a:t>Factor</a:t>
                      </a:r>
                      <a:endParaRPr lang="en-US" sz="1200" b="0" dirty="0">
                        <a:solidFill>
                          <a:schemeClr val="bg1"/>
                        </a:solidFill>
                      </a:endParaRPr>
                    </a:p>
                  </a:txBody>
                  <a:tcPr marL="68580" marR="68580" marT="0" marB="0">
                    <a:solidFill>
                      <a:schemeClr val="accent1"/>
                    </a:solidFill>
                  </a:tcPr>
                </a:tc>
                <a:tc>
                  <a:txBody>
                    <a:bodyPr/>
                    <a:lstStyle/>
                    <a:p>
                      <a:pPr marL="0" marR="0" algn="ctr">
                        <a:lnSpc>
                          <a:spcPct val="107000"/>
                        </a:lnSpc>
                        <a:spcBef>
                          <a:spcPts val="0"/>
                        </a:spcBef>
                        <a:spcAft>
                          <a:spcPts val="0"/>
                        </a:spcAft>
                      </a:pPr>
                      <a:r>
                        <a:rPr lang="en-US" sz="1200" b="0" dirty="0" smtClean="0">
                          <a:solidFill>
                            <a:schemeClr val="bg1"/>
                          </a:solidFill>
                        </a:rPr>
                        <a:t>Input name</a:t>
                      </a:r>
                      <a:endParaRPr lang="en-US" sz="1200" b="0" dirty="0">
                        <a:solidFill>
                          <a:schemeClr val="bg1"/>
                        </a:solidFill>
                      </a:endParaRPr>
                    </a:p>
                  </a:txBody>
                  <a:tcPr marL="68580" marR="68580" marT="0" marB="0">
                    <a:solidFill>
                      <a:schemeClr val="accent1"/>
                    </a:solidFill>
                  </a:tcPr>
                </a:tc>
                <a:tc>
                  <a:txBody>
                    <a:bodyPr/>
                    <a:lstStyle/>
                    <a:p>
                      <a:pPr marL="0" marR="0" algn="ctr">
                        <a:lnSpc>
                          <a:spcPct val="107000"/>
                        </a:lnSpc>
                        <a:spcBef>
                          <a:spcPts val="0"/>
                        </a:spcBef>
                        <a:spcAft>
                          <a:spcPts val="0"/>
                        </a:spcAft>
                      </a:pPr>
                      <a:r>
                        <a:rPr lang="en-US" sz="1200" b="0" dirty="0" smtClean="0">
                          <a:solidFill>
                            <a:schemeClr val="bg1"/>
                          </a:solidFill>
                        </a:rPr>
                        <a:t>Comments</a:t>
                      </a:r>
                      <a:endParaRPr lang="en-US" sz="1200" b="0" dirty="0">
                        <a:solidFill>
                          <a:schemeClr val="bg1"/>
                        </a:solidFill>
                      </a:endParaRPr>
                    </a:p>
                  </a:txBody>
                  <a:tcPr marL="68580" marR="68580" marT="0" marB="0">
                    <a:solidFill>
                      <a:schemeClr val="accent1"/>
                    </a:solidFill>
                  </a:tcPr>
                </a:tc>
              </a:tr>
              <a:tr h="0">
                <a:tc>
                  <a:txBody>
                    <a:bodyPr/>
                    <a:lstStyle/>
                    <a:p>
                      <a:pPr marL="0" marR="0" indent="0" algn="l" defTabSz="1018472" rtl="0" eaLnBrk="1" fontAlgn="auto" latinLnBrk="0" hangingPunct="1">
                        <a:lnSpc>
                          <a:spcPct val="107000"/>
                        </a:lnSpc>
                        <a:spcBef>
                          <a:spcPts val="0"/>
                        </a:spcBef>
                        <a:spcAft>
                          <a:spcPts val="0"/>
                        </a:spcAft>
                        <a:buClrTx/>
                        <a:buSzTx/>
                        <a:buFontTx/>
                        <a:buNone/>
                        <a:tabLst/>
                        <a:defRPr/>
                      </a:pPr>
                      <a:r>
                        <a:rPr lang="en-US" sz="1200" dirty="0" smtClean="0"/>
                        <a:t>Credit Score</a:t>
                      </a:r>
                      <a:endParaRPr lang="en-US" sz="1200" b="0" dirty="0" smtClean="0"/>
                    </a:p>
                  </a:txBody>
                  <a:tcPr marL="68580" marR="68580" marT="0" marB="0">
                    <a:solidFill>
                      <a:schemeClr val="accent2">
                        <a:lumMod val="20000"/>
                        <a:lumOff val="80000"/>
                      </a:schemeClr>
                    </a:solidFill>
                  </a:tcPr>
                </a:tc>
                <a:tc>
                  <a:txBody>
                    <a:bodyPr/>
                    <a:lstStyle/>
                    <a:p>
                      <a:pPr marL="0" marR="0">
                        <a:lnSpc>
                          <a:spcPct val="107000"/>
                        </a:lnSpc>
                        <a:spcBef>
                          <a:spcPts val="0"/>
                        </a:spcBef>
                        <a:spcAft>
                          <a:spcPts val="0"/>
                        </a:spcAft>
                      </a:pPr>
                      <a:r>
                        <a:rPr lang="en-US" sz="1200" dirty="0"/>
                        <a:t>FICO</a:t>
                      </a:r>
                      <a:endParaRPr lang="en-US" sz="1200" b="0" dirty="0"/>
                    </a:p>
                  </a:txBody>
                  <a:tcPr marL="68580" marR="68580" marT="0" marB="0">
                    <a:solidFill>
                      <a:schemeClr val="accent2">
                        <a:lumMod val="20000"/>
                        <a:lumOff val="80000"/>
                      </a:schemeClr>
                    </a:solidFill>
                  </a:tcPr>
                </a:tc>
                <a:tc>
                  <a:txBody>
                    <a:bodyPr/>
                    <a:lstStyle/>
                    <a:p>
                      <a:pPr marL="0" marR="0">
                        <a:lnSpc>
                          <a:spcPct val="107000"/>
                        </a:lnSpc>
                        <a:spcBef>
                          <a:spcPts val="0"/>
                        </a:spcBef>
                        <a:spcAft>
                          <a:spcPts val="0"/>
                        </a:spcAft>
                      </a:pPr>
                      <a:r>
                        <a:rPr lang="en-US" sz="1200" dirty="0"/>
                        <a:t>Credit Scoring</a:t>
                      </a:r>
                      <a:endParaRPr lang="en-US" sz="1200" b="0" dirty="0"/>
                    </a:p>
                  </a:txBody>
                  <a:tcPr marL="68580" marR="68580" marT="0" marB="0">
                    <a:solidFill>
                      <a:schemeClr val="accent2">
                        <a:lumMod val="20000"/>
                        <a:lumOff val="80000"/>
                      </a:schemeClr>
                    </a:solidFill>
                  </a:tcPr>
                </a:tc>
              </a:tr>
            </a:tbl>
          </a:graphicData>
        </a:graphic>
      </p:graphicFrame>
      <p:graphicFrame>
        <p:nvGraphicFramePr>
          <p:cNvPr id="40" name="Table 39"/>
          <p:cNvGraphicFramePr>
            <a:graphicFrameLocks noGrp="1"/>
          </p:cNvGraphicFramePr>
          <p:nvPr>
            <p:extLst>
              <p:ext uri="{D42A27DB-BD31-4B8C-83A1-F6EECF244321}">
                <p14:modId xmlns:p14="http://schemas.microsoft.com/office/powerpoint/2010/main" val="2257261456"/>
              </p:ext>
            </p:extLst>
          </p:nvPr>
        </p:nvGraphicFramePr>
        <p:xfrm>
          <a:off x="2271395" y="2543175"/>
          <a:ext cx="4272279" cy="978535"/>
        </p:xfrm>
        <a:graphic>
          <a:graphicData uri="http://schemas.openxmlformats.org/drawingml/2006/table">
            <a:tbl>
              <a:tblPr firstRow="1" firstCol="1" bandRow="1">
                <a:tableStyleId>{5940675A-B579-460E-94D1-54222C63F5DA}</a:tableStyleId>
              </a:tblPr>
              <a:tblGrid>
                <a:gridCol w="1109980"/>
                <a:gridCol w="857250"/>
                <a:gridCol w="2305049"/>
              </a:tblGrid>
              <a:tr h="0">
                <a:tc>
                  <a:txBody>
                    <a:bodyPr/>
                    <a:lstStyle/>
                    <a:p>
                      <a:pPr marL="0" marR="0" indent="0" algn="l" defTabSz="1018472" rtl="0" eaLnBrk="1" fontAlgn="auto" latinLnBrk="0" hangingPunct="1">
                        <a:lnSpc>
                          <a:spcPct val="107000"/>
                        </a:lnSpc>
                        <a:spcBef>
                          <a:spcPts val="0"/>
                        </a:spcBef>
                        <a:spcAft>
                          <a:spcPts val="0"/>
                        </a:spcAft>
                        <a:buClrTx/>
                        <a:buSzTx/>
                        <a:buFontTx/>
                        <a:buNone/>
                        <a:tabLst/>
                        <a:defRPr/>
                      </a:pPr>
                      <a:r>
                        <a:rPr lang="en-US" sz="1200" kern="1200" dirty="0" smtClean="0">
                          <a:solidFill>
                            <a:schemeClr val="tx1"/>
                          </a:solidFill>
                          <a:latin typeface="+mn-lt"/>
                          <a:ea typeface="+mn-ea"/>
                          <a:cs typeface="+mn-cs"/>
                        </a:rPr>
                        <a:t>Loan Size</a:t>
                      </a:r>
                    </a:p>
                  </a:txBody>
                  <a:tcPr marL="68580" marR="68580" marT="0" marB="0" anchor="b">
                    <a:solidFill>
                      <a:schemeClr val="accent2">
                        <a:lumMod val="20000"/>
                        <a:lumOff val="80000"/>
                      </a:schemeClr>
                    </a:solidFill>
                  </a:tcPr>
                </a:tc>
                <a:tc>
                  <a:txBody>
                    <a:bodyPr/>
                    <a:lstStyle/>
                    <a:p>
                      <a:pPr marL="0" marR="0" algn="l" defTabSz="1018472" rtl="0" eaLnBrk="1" latinLnBrk="0" hangingPunct="1">
                        <a:lnSpc>
                          <a:spcPct val="107000"/>
                        </a:lnSpc>
                        <a:spcBef>
                          <a:spcPts val="0"/>
                        </a:spcBef>
                        <a:spcAft>
                          <a:spcPts val="0"/>
                        </a:spcAft>
                      </a:pPr>
                      <a:r>
                        <a:rPr lang="en-US" sz="1200" kern="1200" dirty="0">
                          <a:solidFill>
                            <a:schemeClr val="tx1"/>
                          </a:solidFill>
                          <a:latin typeface="+mn-lt"/>
                          <a:ea typeface="+mn-ea"/>
                          <a:cs typeface="+mn-cs"/>
                        </a:rPr>
                        <a:t>ACLS</a:t>
                      </a:r>
                    </a:p>
                  </a:txBody>
                  <a:tcPr marL="68580" marR="68580" marT="0" marB="0" anchor="b">
                    <a:solidFill>
                      <a:schemeClr val="accent2">
                        <a:lumMod val="20000"/>
                        <a:lumOff val="80000"/>
                      </a:schemeClr>
                    </a:solidFill>
                  </a:tcPr>
                </a:tc>
                <a:tc>
                  <a:txBody>
                    <a:bodyPr/>
                    <a:lstStyle/>
                    <a:p>
                      <a:pPr marL="0" marR="0" algn="l" defTabSz="1018472" rtl="0" eaLnBrk="1" latinLnBrk="0" hangingPunct="1">
                        <a:lnSpc>
                          <a:spcPct val="107000"/>
                        </a:lnSpc>
                        <a:spcBef>
                          <a:spcPts val="0"/>
                        </a:spcBef>
                        <a:spcAft>
                          <a:spcPts val="0"/>
                        </a:spcAft>
                      </a:pPr>
                      <a:r>
                        <a:rPr lang="en-US" sz="1200" kern="1200" dirty="0" smtClean="0">
                          <a:solidFill>
                            <a:schemeClr val="tx1"/>
                          </a:solidFill>
                          <a:latin typeface="+mn-lt"/>
                          <a:ea typeface="+mn-ea"/>
                          <a:cs typeface="+mn-cs"/>
                        </a:rPr>
                        <a:t>Average Loan Size</a:t>
                      </a:r>
                      <a:endParaRPr lang="en-US" sz="1200" kern="1200" dirty="0">
                        <a:solidFill>
                          <a:schemeClr val="tx1"/>
                        </a:solidFill>
                        <a:latin typeface="+mn-lt"/>
                        <a:ea typeface="+mn-ea"/>
                        <a:cs typeface="+mn-cs"/>
                      </a:endParaRPr>
                    </a:p>
                  </a:txBody>
                  <a:tcPr marL="68580" marR="68580" marT="0" marB="0">
                    <a:solidFill>
                      <a:schemeClr val="accent2">
                        <a:lumMod val="20000"/>
                        <a:lumOff val="80000"/>
                      </a:schemeClr>
                    </a:solidFill>
                  </a:tcPr>
                </a:tc>
              </a:tr>
              <a:tr h="0">
                <a:tc>
                  <a:txBody>
                    <a:bodyPr/>
                    <a:lstStyle/>
                    <a:p>
                      <a:pPr marL="0" marR="0" algn="l" defTabSz="1018472" rtl="0" eaLnBrk="1" latinLnBrk="0" hangingPunct="1">
                        <a:lnSpc>
                          <a:spcPct val="107000"/>
                        </a:lnSpc>
                        <a:spcBef>
                          <a:spcPts val="0"/>
                        </a:spcBef>
                        <a:spcAft>
                          <a:spcPts val="0"/>
                        </a:spcAft>
                      </a:pPr>
                      <a:r>
                        <a:rPr lang="en-US" sz="1200" kern="1200" dirty="0" smtClean="0"/>
                        <a:t>Loan Rate</a:t>
                      </a:r>
                      <a:endParaRPr lang="en-US" sz="1200" b="0" kern="1200" dirty="0">
                        <a:solidFill>
                          <a:schemeClr val="lt1"/>
                        </a:solidFill>
                        <a:latin typeface="+mn-lt"/>
                        <a:ea typeface="+mn-ea"/>
                        <a:cs typeface="+mn-cs"/>
                      </a:endParaRPr>
                    </a:p>
                  </a:txBody>
                  <a:tcPr marL="68580" marR="68580" marT="0" marB="0" anchor="b">
                    <a:solidFill>
                      <a:schemeClr val="accent2">
                        <a:lumMod val="20000"/>
                        <a:lumOff val="80000"/>
                      </a:schemeClr>
                    </a:solidFill>
                  </a:tcPr>
                </a:tc>
                <a:tc>
                  <a:txBody>
                    <a:bodyPr/>
                    <a:lstStyle/>
                    <a:p>
                      <a:pPr marL="0" marR="0" algn="l" defTabSz="1018472" rtl="0" eaLnBrk="1" latinLnBrk="0" hangingPunct="1">
                        <a:lnSpc>
                          <a:spcPct val="107000"/>
                        </a:lnSpc>
                        <a:spcBef>
                          <a:spcPts val="0"/>
                        </a:spcBef>
                        <a:spcAft>
                          <a:spcPts val="0"/>
                        </a:spcAft>
                      </a:pPr>
                      <a:r>
                        <a:rPr lang="en-US" sz="1200" kern="1200" dirty="0"/>
                        <a:t>WAC</a:t>
                      </a:r>
                      <a:endParaRPr lang="en-US" sz="1200" b="0" kern="1200" dirty="0">
                        <a:solidFill>
                          <a:schemeClr val="lt1"/>
                        </a:solidFill>
                        <a:latin typeface="+mn-lt"/>
                        <a:ea typeface="+mn-ea"/>
                        <a:cs typeface="+mn-cs"/>
                      </a:endParaRPr>
                    </a:p>
                  </a:txBody>
                  <a:tcPr marL="68580" marR="68580" marT="0" marB="0" anchor="b">
                    <a:solidFill>
                      <a:schemeClr val="accent2">
                        <a:lumMod val="20000"/>
                        <a:lumOff val="80000"/>
                      </a:schemeClr>
                    </a:solidFill>
                  </a:tcPr>
                </a:tc>
                <a:tc>
                  <a:txBody>
                    <a:bodyPr/>
                    <a:lstStyle/>
                    <a:p>
                      <a:pPr marL="0" marR="0" algn="l" defTabSz="1018472" rtl="0" eaLnBrk="1" latinLnBrk="0" hangingPunct="1">
                        <a:lnSpc>
                          <a:spcPct val="107000"/>
                        </a:lnSpc>
                        <a:spcBef>
                          <a:spcPts val="0"/>
                        </a:spcBef>
                        <a:spcAft>
                          <a:spcPts val="0"/>
                        </a:spcAft>
                      </a:pPr>
                      <a:r>
                        <a:rPr lang="en-US" sz="1200" kern="1200" dirty="0"/>
                        <a:t>Weighted Average </a:t>
                      </a:r>
                      <a:r>
                        <a:rPr lang="en-US" sz="1200" kern="1200" dirty="0" smtClean="0"/>
                        <a:t>Coupon</a:t>
                      </a:r>
                      <a:endParaRPr lang="en-US" sz="1200" b="0" kern="1200" dirty="0">
                        <a:solidFill>
                          <a:schemeClr val="lt1"/>
                        </a:solidFill>
                        <a:latin typeface="+mn-lt"/>
                        <a:ea typeface="+mn-ea"/>
                        <a:cs typeface="+mn-cs"/>
                      </a:endParaRPr>
                    </a:p>
                  </a:txBody>
                  <a:tcPr marL="68580" marR="68580" marT="0" marB="0">
                    <a:solidFill>
                      <a:schemeClr val="accent2">
                        <a:lumMod val="20000"/>
                        <a:lumOff val="80000"/>
                      </a:schemeClr>
                    </a:solidFill>
                  </a:tcPr>
                </a:tc>
              </a:tr>
              <a:tr h="0">
                <a:tc>
                  <a:txBody>
                    <a:bodyPr/>
                    <a:lstStyle/>
                    <a:p>
                      <a:pPr marL="0" marR="0" algn="l" defTabSz="1018472" rtl="0" eaLnBrk="1" latinLnBrk="0" hangingPunct="1">
                        <a:lnSpc>
                          <a:spcPct val="107000"/>
                        </a:lnSpc>
                        <a:spcBef>
                          <a:spcPts val="0"/>
                        </a:spcBef>
                        <a:spcAft>
                          <a:spcPts val="0"/>
                        </a:spcAft>
                      </a:pPr>
                      <a:r>
                        <a:rPr lang="en-US" sz="1200" kern="1200" dirty="0" smtClean="0"/>
                        <a:t>Loan Age</a:t>
                      </a:r>
                      <a:endParaRPr lang="en-US" sz="1200" b="0" kern="1200" dirty="0">
                        <a:solidFill>
                          <a:schemeClr val="lt1"/>
                        </a:solidFill>
                        <a:latin typeface="+mn-lt"/>
                        <a:ea typeface="+mn-ea"/>
                        <a:cs typeface="+mn-cs"/>
                      </a:endParaRPr>
                    </a:p>
                  </a:txBody>
                  <a:tcPr marL="68580" marR="68580" marT="0" marB="0" anchor="b">
                    <a:solidFill>
                      <a:schemeClr val="accent2">
                        <a:lumMod val="20000"/>
                        <a:lumOff val="80000"/>
                      </a:schemeClr>
                    </a:solidFill>
                  </a:tcPr>
                </a:tc>
                <a:tc>
                  <a:txBody>
                    <a:bodyPr/>
                    <a:lstStyle/>
                    <a:p>
                      <a:pPr marL="0" marR="0" algn="l" defTabSz="1018472" rtl="0" eaLnBrk="1" latinLnBrk="0" hangingPunct="1">
                        <a:lnSpc>
                          <a:spcPct val="107000"/>
                        </a:lnSpc>
                        <a:spcBef>
                          <a:spcPts val="0"/>
                        </a:spcBef>
                        <a:spcAft>
                          <a:spcPts val="0"/>
                        </a:spcAft>
                      </a:pPr>
                      <a:r>
                        <a:rPr lang="en-US" sz="1200" kern="1200"/>
                        <a:t>WALA</a:t>
                      </a:r>
                      <a:endParaRPr lang="en-US" sz="1200" b="0" kern="1200">
                        <a:solidFill>
                          <a:schemeClr val="lt1"/>
                        </a:solidFill>
                        <a:latin typeface="+mn-lt"/>
                        <a:ea typeface="+mn-ea"/>
                        <a:cs typeface="+mn-cs"/>
                      </a:endParaRPr>
                    </a:p>
                  </a:txBody>
                  <a:tcPr marL="68580" marR="68580" marT="0" marB="0" anchor="b">
                    <a:solidFill>
                      <a:schemeClr val="accent2">
                        <a:lumMod val="20000"/>
                        <a:lumOff val="80000"/>
                      </a:schemeClr>
                    </a:solidFill>
                  </a:tcPr>
                </a:tc>
                <a:tc>
                  <a:txBody>
                    <a:bodyPr/>
                    <a:lstStyle/>
                    <a:p>
                      <a:pPr marL="0" marR="0" algn="l" defTabSz="1018472" rtl="0" eaLnBrk="1" latinLnBrk="0" hangingPunct="1">
                        <a:lnSpc>
                          <a:spcPct val="107000"/>
                        </a:lnSpc>
                        <a:spcBef>
                          <a:spcPts val="0"/>
                        </a:spcBef>
                        <a:spcAft>
                          <a:spcPts val="0"/>
                        </a:spcAft>
                      </a:pPr>
                      <a:r>
                        <a:rPr lang="en-US" sz="1200" kern="1200" dirty="0" smtClean="0"/>
                        <a:t>Seasoning</a:t>
                      </a:r>
                      <a:endParaRPr lang="en-US" sz="1200" b="0" kern="1200" dirty="0">
                        <a:solidFill>
                          <a:schemeClr val="lt1"/>
                        </a:solidFill>
                        <a:latin typeface="+mn-lt"/>
                        <a:ea typeface="+mn-ea"/>
                        <a:cs typeface="+mn-cs"/>
                      </a:endParaRPr>
                    </a:p>
                  </a:txBody>
                  <a:tcPr marL="68580" marR="68580" marT="0" marB="0">
                    <a:solidFill>
                      <a:schemeClr val="accent2">
                        <a:lumMod val="20000"/>
                        <a:lumOff val="80000"/>
                      </a:schemeClr>
                    </a:solidFill>
                  </a:tcPr>
                </a:tc>
              </a:tr>
              <a:tr h="0">
                <a:tc>
                  <a:txBody>
                    <a:bodyPr/>
                    <a:lstStyle/>
                    <a:p>
                      <a:pPr marL="0" marR="0" algn="l" defTabSz="1018472" rtl="0" eaLnBrk="1" latinLnBrk="0" hangingPunct="1">
                        <a:lnSpc>
                          <a:spcPct val="107000"/>
                        </a:lnSpc>
                        <a:spcBef>
                          <a:spcPts val="0"/>
                        </a:spcBef>
                        <a:spcAft>
                          <a:spcPts val="0"/>
                        </a:spcAft>
                      </a:pPr>
                      <a:r>
                        <a:rPr lang="en-US" sz="1200" kern="1200" dirty="0" smtClean="0"/>
                        <a:t>Loan Equity</a:t>
                      </a:r>
                      <a:endParaRPr lang="en-US" sz="1200" b="0" kern="1200" dirty="0">
                        <a:solidFill>
                          <a:schemeClr val="lt1"/>
                        </a:solidFill>
                        <a:latin typeface="+mn-lt"/>
                        <a:ea typeface="+mn-ea"/>
                        <a:cs typeface="+mn-cs"/>
                      </a:endParaRPr>
                    </a:p>
                  </a:txBody>
                  <a:tcPr marL="68580" marR="68580" marT="0" marB="0" anchor="b">
                    <a:solidFill>
                      <a:schemeClr val="accent2">
                        <a:lumMod val="20000"/>
                        <a:lumOff val="80000"/>
                      </a:schemeClr>
                    </a:solidFill>
                  </a:tcPr>
                </a:tc>
                <a:tc>
                  <a:txBody>
                    <a:bodyPr/>
                    <a:lstStyle/>
                    <a:p>
                      <a:pPr marL="0" marR="0" algn="l" defTabSz="1018472" rtl="0" eaLnBrk="1" latinLnBrk="0" hangingPunct="1">
                        <a:lnSpc>
                          <a:spcPct val="107000"/>
                        </a:lnSpc>
                        <a:spcBef>
                          <a:spcPts val="0"/>
                        </a:spcBef>
                        <a:spcAft>
                          <a:spcPts val="0"/>
                        </a:spcAft>
                      </a:pPr>
                      <a:r>
                        <a:rPr lang="en-US" sz="1200" kern="1200"/>
                        <a:t>LTV</a:t>
                      </a:r>
                      <a:endParaRPr lang="en-US" sz="1200" b="0" kern="1200">
                        <a:solidFill>
                          <a:schemeClr val="lt1"/>
                        </a:solidFill>
                        <a:latin typeface="+mn-lt"/>
                        <a:ea typeface="+mn-ea"/>
                        <a:cs typeface="+mn-cs"/>
                      </a:endParaRPr>
                    </a:p>
                  </a:txBody>
                  <a:tcPr marL="68580" marR="68580" marT="0" marB="0" anchor="b">
                    <a:solidFill>
                      <a:schemeClr val="accent2">
                        <a:lumMod val="20000"/>
                        <a:lumOff val="80000"/>
                      </a:schemeClr>
                    </a:solidFill>
                  </a:tcPr>
                </a:tc>
                <a:tc>
                  <a:txBody>
                    <a:bodyPr/>
                    <a:lstStyle/>
                    <a:p>
                      <a:pPr marL="0" marR="0" algn="l" defTabSz="1018472" rtl="0" eaLnBrk="1" latinLnBrk="0" hangingPunct="1">
                        <a:lnSpc>
                          <a:spcPct val="107000"/>
                        </a:lnSpc>
                        <a:spcBef>
                          <a:spcPts val="0"/>
                        </a:spcBef>
                        <a:spcAft>
                          <a:spcPts val="0"/>
                        </a:spcAft>
                      </a:pPr>
                      <a:r>
                        <a:rPr lang="en-US" sz="1200" kern="1200" dirty="0"/>
                        <a:t>Loan to Value </a:t>
                      </a:r>
                      <a:r>
                        <a:rPr lang="en-US" sz="1200" kern="1200" dirty="0" smtClean="0"/>
                        <a:t>Ratio</a:t>
                      </a:r>
                      <a:endParaRPr lang="en-US" sz="1200" b="0" kern="1200" dirty="0">
                        <a:solidFill>
                          <a:schemeClr val="lt1"/>
                        </a:solidFill>
                        <a:latin typeface="+mn-lt"/>
                        <a:ea typeface="+mn-ea"/>
                        <a:cs typeface="+mn-cs"/>
                      </a:endParaRPr>
                    </a:p>
                  </a:txBody>
                  <a:tcPr marL="68580" marR="68580" marT="0" marB="0">
                    <a:solidFill>
                      <a:schemeClr val="accent2">
                        <a:lumMod val="20000"/>
                        <a:lumOff val="80000"/>
                      </a:schemeClr>
                    </a:solidFill>
                  </a:tcPr>
                </a:tc>
              </a:tr>
              <a:tr h="0">
                <a:tc>
                  <a:txBody>
                    <a:bodyPr/>
                    <a:lstStyle/>
                    <a:p>
                      <a:pPr marL="0" marR="0" algn="l" defTabSz="1018472" rtl="0" eaLnBrk="1" latinLnBrk="0" hangingPunct="1">
                        <a:lnSpc>
                          <a:spcPct val="107000"/>
                        </a:lnSpc>
                        <a:spcBef>
                          <a:spcPts val="0"/>
                        </a:spcBef>
                        <a:spcAft>
                          <a:spcPts val="0"/>
                        </a:spcAft>
                      </a:pPr>
                      <a:r>
                        <a:rPr lang="en-US" sz="1200" kern="1200" dirty="0" smtClean="0"/>
                        <a:t>Pool Factor</a:t>
                      </a:r>
                      <a:endParaRPr lang="en-US" sz="1200" b="0" kern="1200" dirty="0">
                        <a:solidFill>
                          <a:schemeClr val="lt1"/>
                        </a:solidFill>
                        <a:latin typeface="+mn-lt"/>
                        <a:ea typeface="+mn-ea"/>
                        <a:cs typeface="+mn-cs"/>
                      </a:endParaRPr>
                    </a:p>
                  </a:txBody>
                  <a:tcPr marL="68580" marR="68580" marT="0" marB="0" anchor="b">
                    <a:solidFill>
                      <a:schemeClr val="accent2">
                        <a:lumMod val="20000"/>
                        <a:lumOff val="80000"/>
                      </a:schemeClr>
                    </a:solidFill>
                  </a:tcPr>
                </a:tc>
                <a:tc>
                  <a:txBody>
                    <a:bodyPr/>
                    <a:lstStyle/>
                    <a:p>
                      <a:pPr marL="0" marR="0" algn="l" defTabSz="1018472" rtl="0" eaLnBrk="1" latinLnBrk="0" hangingPunct="1">
                        <a:lnSpc>
                          <a:spcPct val="107000"/>
                        </a:lnSpc>
                        <a:spcBef>
                          <a:spcPts val="0"/>
                        </a:spcBef>
                        <a:spcAft>
                          <a:spcPts val="0"/>
                        </a:spcAft>
                      </a:pPr>
                      <a:r>
                        <a:rPr lang="en-US" sz="1200" kern="1200" dirty="0"/>
                        <a:t>Burnout</a:t>
                      </a:r>
                      <a:endParaRPr lang="en-US" sz="1200" b="0" kern="1200" dirty="0">
                        <a:solidFill>
                          <a:schemeClr val="lt1"/>
                        </a:solidFill>
                        <a:latin typeface="+mn-lt"/>
                        <a:ea typeface="+mn-ea"/>
                        <a:cs typeface="+mn-cs"/>
                      </a:endParaRPr>
                    </a:p>
                  </a:txBody>
                  <a:tcPr marL="68580" marR="68580" marT="0" marB="0" anchor="b">
                    <a:solidFill>
                      <a:schemeClr val="accent2">
                        <a:lumMod val="20000"/>
                        <a:lumOff val="80000"/>
                      </a:schemeClr>
                    </a:solidFill>
                  </a:tcPr>
                </a:tc>
                <a:tc>
                  <a:txBody>
                    <a:bodyPr/>
                    <a:lstStyle/>
                    <a:p>
                      <a:pPr marL="0" marR="0" algn="l" defTabSz="1018472" rtl="0" eaLnBrk="1" latinLnBrk="0" hangingPunct="1">
                        <a:lnSpc>
                          <a:spcPct val="107000"/>
                        </a:lnSpc>
                        <a:spcBef>
                          <a:spcPts val="0"/>
                        </a:spcBef>
                        <a:spcAft>
                          <a:spcPts val="0"/>
                        </a:spcAft>
                      </a:pPr>
                      <a:r>
                        <a:rPr lang="en-US" sz="1200" kern="1200" dirty="0"/>
                        <a:t>Current to Original Balance Ratio </a:t>
                      </a:r>
                      <a:endParaRPr lang="en-US" sz="1200" b="0" kern="1200" dirty="0">
                        <a:solidFill>
                          <a:schemeClr val="lt1"/>
                        </a:solidFill>
                        <a:latin typeface="+mn-lt"/>
                        <a:ea typeface="+mn-ea"/>
                        <a:cs typeface="+mn-cs"/>
                      </a:endParaRPr>
                    </a:p>
                  </a:txBody>
                  <a:tcPr marL="68580" marR="68580" marT="0" marB="0">
                    <a:solidFill>
                      <a:schemeClr val="accent2">
                        <a:lumMod val="20000"/>
                        <a:lumOff val="80000"/>
                      </a:schemeClr>
                    </a:solidFill>
                  </a:tcPr>
                </a:tc>
              </a:tr>
            </a:tbl>
          </a:graphicData>
        </a:graphic>
      </p:graphicFrame>
      <p:graphicFrame>
        <p:nvGraphicFramePr>
          <p:cNvPr id="41" name="Table 40"/>
          <p:cNvGraphicFramePr>
            <a:graphicFrameLocks noGrp="1"/>
          </p:cNvGraphicFramePr>
          <p:nvPr>
            <p:extLst>
              <p:ext uri="{D42A27DB-BD31-4B8C-83A1-F6EECF244321}">
                <p14:modId xmlns:p14="http://schemas.microsoft.com/office/powerpoint/2010/main" val="888184311"/>
              </p:ext>
            </p:extLst>
          </p:nvPr>
        </p:nvGraphicFramePr>
        <p:xfrm>
          <a:off x="2271395" y="3772154"/>
          <a:ext cx="4272280" cy="587121"/>
        </p:xfrm>
        <a:graphic>
          <a:graphicData uri="http://schemas.openxmlformats.org/drawingml/2006/table">
            <a:tbl>
              <a:tblPr firstRow="1" firstCol="1" bandRow="1">
                <a:tableStyleId>{5940675A-B579-460E-94D1-54222C63F5DA}</a:tableStyleId>
              </a:tblPr>
              <a:tblGrid>
                <a:gridCol w="1109980"/>
                <a:gridCol w="885825"/>
                <a:gridCol w="2276475"/>
              </a:tblGrid>
              <a:tr h="0">
                <a:tc>
                  <a:txBody>
                    <a:bodyPr/>
                    <a:lstStyle/>
                    <a:p>
                      <a:pPr marL="0" marR="0" indent="0" algn="l" defTabSz="1018472" rtl="0" eaLnBrk="1" fontAlgn="auto" latinLnBrk="0" hangingPunct="1">
                        <a:lnSpc>
                          <a:spcPct val="107000"/>
                        </a:lnSpc>
                        <a:spcBef>
                          <a:spcPts val="0"/>
                        </a:spcBef>
                        <a:spcAft>
                          <a:spcPts val="0"/>
                        </a:spcAft>
                        <a:buClrTx/>
                        <a:buSzTx/>
                        <a:buFontTx/>
                        <a:buNone/>
                        <a:tabLst/>
                        <a:defRPr/>
                      </a:pPr>
                      <a:r>
                        <a:rPr lang="en-US" sz="1200" kern="1200" dirty="0" smtClean="0"/>
                        <a:t>Housing </a:t>
                      </a:r>
                      <a:r>
                        <a:rPr lang="en-US" sz="1200" kern="1200" dirty="0" err="1" smtClean="0"/>
                        <a:t>Mkt</a:t>
                      </a:r>
                      <a:endParaRPr lang="en-US" sz="1200" b="0" kern="1200" dirty="0" smtClean="0">
                        <a:solidFill>
                          <a:schemeClr val="lt1"/>
                        </a:solidFill>
                        <a:latin typeface="+mn-lt"/>
                        <a:ea typeface="+mn-ea"/>
                        <a:cs typeface="+mn-cs"/>
                      </a:endParaRPr>
                    </a:p>
                  </a:txBody>
                  <a:tcPr marL="68580" marR="68580" marT="0" marB="0" anchor="b">
                    <a:solidFill>
                      <a:schemeClr val="accent2">
                        <a:lumMod val="20000"/>
                        <a:lumOff val="80000"/>
                      </a:schemeClr>
                    </a:solidFill>
                  </a:tcPr>
                </a:tc>
                <a:tc>
                  <a:txBody>
                    <a:bodyPr/>
                    <a:lstStyle/>
                    <a:p>
                      <a:pPr marL="0" marR="0" algn="l" defTabSz="1018472" rtl="0" eaLnBrk="1" latinLnBrk="0" hangingPunct="1">
                        <a:lnSpc>
                          <a:spcPct val="107000"/>
                        </a:lnSpc>
                        <a:spcBef>
                          <a:spcPts val="0"/>
                        </a:spcBef>
                        <a:spcAft>
                          <a:spcPts val="0"/>
                        </a:spcAft>
                      </a:pPr>
                      <a:r>
                        <a:rPr lang="en-US" sz="1200" kern="1200" dirty="0"/>
                        <a:t>HPA</a:t>
                      </a:r>
                      <a:endParaRPr lang="en-US" sz="1200" b="0" kern="1200" dirty="0">
                        <a:solidFill>
                          <a:schemeClr val="lt1"/>
                        </a:solidFill>
                        <a:latin typeface="+mn-lt"/>
                        <a:ea typeface="+mn-ea"/>
                        <a:cs typeface="+mn-cs"/>
                      </a:endParaRPr>
                    </a:p>
                  </a:txBody>
                  <a:tcPr marL="68580" marR="68580" marT="0" marB="0" anchor="b">
                    <a:solidFill>
                      <a:schemeClr val="accent2">
                        <a:lumMod val="20000"/>
                        <a:lumOff val="80000"/>
                      </a:schemeClr>
                    </a:solidFill>
                  </a:tcPr>
                </a:tc>
                <a:tc>
                  <a:txBody>
                    <a:bodyPr/>
                    <a:lstStyle/>
                    <a:p>
                      <a:pPr marL="0" marR="0" algn="l" defTabSz="1018472" rtl="0" eaLnBrk="1" latinLnBrk="0" hangingPunct="1">
                        <a:lnSpc>
                          <a:spcPct val="107000"/>
                        </a:lnSpc>
                        <a:spcBef>
                          <a:spcPts val="0"/>
                        </a:spcBef>
                        <a:spcAft>
                          <a:spcPts val="0"/>
                        </a:spcAft>
                      </a:pPr>
                      <a:r>
                        <a:rPr lang="en-US" sz="1200" kern="1200" dirty="0" smtClean="0"/>
                        <a:t>Home Price Appreciation</a:t>
                      </a:r>
                      <a:endParaRPr lang="en-US" sz="1200" b="0" kern="1200" dirty="0">
                        <a:solidFill>
                          <a:schemeClr val="lt1"/>
                        </a:solidFill>
                        <a:latin typeface="+mn-lt"/>
                        <a:ea typeface="+mn-ea"/>
                        <a:cs typeface="+mn-cs"/>
                      </a:endParaRPr>
                    </a:p>
                  </a:txBody>
                  <a:tcPr marL="68580" marR="68580" marT="0" marB="0">
                    <a:solidFill>
                      <a:schemeClr val="accent2">
                        <a:lumMod val="20000"/>
                        <a:lumOff val="80000"/>
                      </a:schemeClr>
                    </a:solidFill>
                  </a:tcPr>
                </a:tc>
              </a:tr>
              <a:tr h="0">
                <a:tc>
                  <a:txBody>
                    <a:bodyPr/>
                    <a:lstStyle/>
                    <a:p>
                      <a:pPr marL="0" marR="0" indent="0" algn="l" defTabSz="1018472" rtl="0" eaLnBrk="1" fontAlgn="auto" latinLnBrk="0" hangingPunct="1">
                        <a:lnSpc>
                          <a:spcPct val="107000"/>
                        </a:lnSpc>
                        <a:spcBef>
                          <a:spcPts val="0"/>
                        </a:spcBef>
                        <a:spcAft>
                          <a:spcPts val="0"/>
                        </a:spcAft>
                        <a:buClrTx/>
                        <a:buSzTx/>
                        <a:buFontTx/>
                        <a:buNone/>
                        <a:tabLst/>
                        <a:defRPr/>
                      </a:pPr>
                      <a:r>
                        <a:rPr lang="en-US" sz="1200" kern="1200" dirty="0" smtClean="0"/>
                        <a:t>Mortgage Rate</a:t>
                      </a:r>
                      <a:endParaRPr lang="en-US" sz="1200" b="0" kern="1200" dirty="0" smtClean="0">
                        <a:solidFill>
                          <a:schemeClr val="lt1"/>
                        </a:solidFill>
                        <a:latin typeface="+mn-lt"/>
                        <a:ea typeface="+mn-ea"/>
                        <a:cs typeface="+mn-cs"/>
                      </a:endParaRPr>
                    </a:p>
                  </a:txBody>
                  <a:tcPr marL="68580" marR="68580" marT="0" marB="0" anchor="b">
                    <a:solidFill>
                      <a:schemeClr val="accent2">
                        <a:lumMod val="20000"/>
                        <a:lumOff val="80000"/>
                      </a:schemeClr>
                    </a:solidFill>
                  </a:tcPr>
                </a:tc>
                <a:tc>
                  <a:txBody>
                    <a:bodyPr/>
                    <a:lstStyle/>
                    <a:p>
                      <a:pPr marL="0" marR="0" algn="l" defTabSz="1018472" rtl="0" eaLnBrk="1" latinLnBrk="0" hangingPunct="1">
                        <a:lnSpc>
                          <a:spcPct val="107000"/>
                        </a:lnSpc>
                        <a:spcBef>
                          <a:spcPts val="0"/>
                        </a:spcBef>
                        <a:spcAft>
                          <a:spcPts val="0"/>
                        </a:spcAft>
                      </a:pPr>
                      <a:r>
                        <a:rPr lang="en-US" sz="1200" kern="1200" dirty="0" smtClean="0"/>
                        <a:t>PMMS</a:t>
                      </a:r>
                      <a:endParaRPr lang="en-US" sz="1200" b="0" kern="1200" dirty="0">
                        <a:solidFill>
                          <a:schemeClr val="lt1"/>
                        </a:solidFill>
                        <a:latin typeface="+mn-lt"/>
                        <a:ea typeface="+mn-ea"/>
                        <a:cs typeface="+mn-cs"/>
                      </a:endParaRPr>
                    </a:p>
                  </a:txBody>
                  <a:tcPr marL="68580" marR="68580" marT="0" marB="0" anchor="b">
                    <a:solidFill>
                      <a:schemeClr val="accent2">
                        <a:lumMod val="20000"/>
                        <a:lumOff val="80000"/>
                      </a:schemeClr>
                    </a:solidFill>
                  </a:tcPr>
                </a:tc>
                <a:tc>
                  <a:txBody>
                    <a:bodyPr/>
                    <a:lstStyle/>
                    <a:p>
                      <a:pPr marL="0" marR="0" algn="l" defTabSz="1018472" rtl="0" eaLnBrk="1" latinLnBrk="0" hangingPunct="1">
                        <a:lnSpc>
                          <a:spcPct val="107000"/>
                        </a:lnSpc>
                        <a:spcBef>
                          <a:spcPts val="0"/>
                        </a:spcBef>
                        <a:spcAft>
                          <a:spcPts val="0"/>
                        </a:spcAft>
                      </a:pPr>
                      <a:r>
                        <a:rPr lang="en-US" sz="1200" kern="1200" dirty="0"/>
                        <a:t>Mortgage Rate</a:t>
                      </a:r>
                      <a:endParaRPr lang="en-US" sz="1200" b="0" kern="1200" dirty="0">
                        <a:solidFill>
                          <a:schemeClr val="lt1"/>
                        </a:solidFill>
                        <a:latin typeface="+mn-lt"/>
                        <a:ea typeface="+mn-ea"/>
                        <a:cs typeface="+mn-cs"/>
                      </a:endParaRPr>
                    </a:p>
                  </a:txBody>
                  <a:tcPr marL="68580" marR="68580" marT="0" marB="0">
                    <a:solidFill>
                      <a:schemeClr val="accent2">
                        <a:lumMod val="20000"/>
                        <a:lumOff val="80000"/>
                      </a:schemeClr>
                    </a:solidFill>
                  </a:tcPr>
                </a:tc>
              </a:tr>
              <a:tr h="0">
                <a:tc>
                  <a:txBody>
                    <a:bodyPr/>
                    <a:lstStyle/>
                    <a:p>
                      <a:pPr marL="0" marR="0" indent="0" algn="l" defTabSz="1018472" rtl="0" eaLnBrk="1" fontAlgn="auto" latinLnBrk="0" hangingPunct="1">
                        <a:lnSpc>
                          <a:spcPct val="107000"/>
                        </a:lnSpc>
                        <a:spcBef>
                          <a:spcPts val="0"/>
                        </a:spcBef>
                        <a:spcAft>
                          <a:spcPts val="0"/>
                        </a:spcAft>
                        <a:buClrTx/>
                        <a:buSzTx/>
                        <a:buFontTx/>
                        <a:buNone/>
                        <a:tabLst/>
                        <a:defRPr/>
                      </a:pPr>
                      <a:r>
                        <a:rPr lang="en-US" sz="1200" kern="1200" dirty="0" smtClean="0"/>
                        <a:t>Seasonal</a:t>
                      </a:r>
                      <a:endParaRPr lang="en-US" sz="1200" b="0" kern="1200" dirty="0" smtClean="0">
                        <a:solidFill>
                          <a:schemeClr val="lt1"/>
                        </a:solidFill>
                        <a:latin typeface="+mn-lt"/>
                        <a:ea typeface="+mn-ea"/>
                        <a:cs typeface="+mn-cs"/>
                      </a:endParaRPr>
                    </a:p>
                  </a:txBody>
                  <a:tcPr marL="68580" marR="68580" marT="0" marB="0" anchor="b">
                    <a:solidFill>
                      <a:schemeClr val="accent2">
                        <a:lumMod val="20000"/>
                        <a:lumOff val="80000"/>
                      </a:schemeClr>
                    </a:solidFill>
                  </a:tcPr>
                </a:tc>
                <a:tc>
                  <a:txBody>
                    <a:bodyPr/>
                    <a:lstStyle/>
                    <a:p>
                      <a:pPr marL="0" marR="0" algn="l" defTabSz="1018472" rtl="0" eaLnBrk="1" latinLnBrk="0" hangingPunct="1">
                        <a:lnSpc>
                          <a:spcPct val="107000"/>
                        </a:lnSpc>
                        <a:spcBef>
                          <a:spcPts val="0"/>
                        </a:spcBef>
                        <a:spcAft>
                          <a:spcPts val="0"/>
                        </a:spcAft>
                      </a:pPr>
                      <a:r>
                        <a:rPr lang="en-US" sz="1200" kern="1200" dirty="0" smtClean="0"/>
                        <a:t>SEASON</a:t>
                      </a:r>
                      <a:endParaRPr lang="en-US" sz="1200" b="0" kern="1200" dirty="0">
                        <a:solidFill>
                          <a:schemeClr val="lt1"/>
                        </a:solidFill>
                        <a:latin typeface="+mn-lt"/>
                        <a:ea typeface="+mn-ea"/>
                        <a:cs typeface="+mn-cs"/>
                      </a:endParaRPr>
                    </a:p>
                  </a:txBody>
                  <a:tcPr marL="68580" marR="68580" marT="0" marB="0" anchor="b">
                    <a:solidFill>
                      <a:schemeClr val="accent2">
                        <a:lumMod val="20000"/>
                        <a:lumOff val="80000"/>
                      </a:schemeClr>
                    </a:solidFill>
                  </a:tcPr>
                </a:tc>
                <a:tc>
                  <a:txBody>
                    <a:bodyPr/>
                    <a:lstStyle/>
                    <a:p>
                      <a:pPr marL="0" marR="0" indent="0" algn="l" defTabSz="1018472" rtl="0" eaLnBrk="1" fontAlgn="auto" latinLnBrk="0" hangingPunct="1">
                        <a:lnSpc>
                          <a:spcPct val="107000"/>
                        </a:lnSpc>
                        <a:spcBef>
                          <a:spcPts val="0"/>
                        </a:spcBef>
                        <a:spcAft>
                          <a:spcPts val="0"/>
                        </a:spcAft>
                        <a:buClrTx/>
                        <a:buSzTx/>
                        <a:buFontTx/>
                        <a:buNone/>
                        <a:tabLst/>
                        <a:defRPr/>
                      </a:pPr>
                      <a:r>
                        <a:rPr lang="en-US" sz="1200" kern="1200" dirty="0" smtClean="0"/>
                        <a:t>Market Seasonal Factor</a:t>
                      </a:r>
                      <a:endParaRPr lang="en-US" sz="1200" b="0" kern="1200" dirty="0" smtClean="0">
                        <a:solidFill>
                          <a:schemeClr val="lt1"/>
                        </a:solidFill>
                        <a:latin typeface="+mn-lt"/>
                        <a:ea typeface="+mn-ea"/>
                        <a:cs typeface="+mn-cs"/>
                      </a:endParaRPr>
                    </a:p>
                  </a:txBody>
                  <a:tcPr marL="68580" marR="68580" marT="0" marB="0">
                    <a:solidFill>
                      <a:schemeClr val="accent2">
                        <a:lumMod val="20000"/>
                        <a:lumOff val="80000"/>
                      </a:schemeClr>
                    </a:solidFill>
                  </a:tcPr>
                </a:tc>
              </a:tr>
            </a:tbl>
          </a:graphicData>
        </a:graphic>
      </p:graphicFrame>
      <p:sp>
        <p:nvSpPr>
          <p:cNvPr id="42" name="Isosceles Triangle 41"/>
          <p:cNvSpPr/>
          <p:nvPr/>
        </p:nvSpPr>
        <p:spPr>
          <a:xfrm rot="5400000">
            <a:off x="6057900" y="2855119"/>
            <a:ext cx="2000250" cy="242887"/>
          </a:xfrm>
          <a:prstGeom prst="triangl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43" name="Rectangle 42"/>
          <p:cNvSpPr/>
          <p:nvPr/>
        </p:nvSpPr>
        <p:spPr>
          <a:xfrm>
            <a:off x="7772400" y="1800225"/>
            <a:ext cx="1476375" cy="2495550"/>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latin typeface="Arial" panose="020B0604020202020204" pitchFamily="34" charset="0"/>
                <a:cs typeface="Arial" panose="020B0604020202020204" pitchFamily="34" charset="0"/>
              </a:rPr>
              <a:t>Input of</a:t>
            </a:r>
          </a:p>
          <a:p>
            <a:pPr algn="ctr"/>
            <a:r>
              <a:rPr lang="en-US" sz="1400" dirty="0" smtClean="0">
                <a:latin typeface="Arial" panose="020B0604020202020204" pitchFamily="34" charset="0"/>
                <a:cs typeface="Arial" panose="020B0604020202020204" pitchFamily="34" charset="0"/>
              </a:rPr>
              <a:t>Prepayment</a:t>
            </a:r>
          </a:p>
          <a:p>
            <a:pPr algn="ctr"/>
            <a:r>
              <a:rPr lang="en-US" sz="1400" dirty="0" smtClean="0">
                <a:latin typeface="Arial" panose="020B0604020202020204" pitchFamily="34" charset="0"/>
                <a:cs typeface="Arial" panose="020B0604020202020204" pitchFamily="34" charset="0"/>
              </a:rPr>
              <a:t>Model</a:t>
            </a:r>
            <a:endParaRPr lang="en-US" sz="1400" dirty="0">
              <a:latin typeface="Arial" panose="020B0604020202020204" pitchFamily="34" charset="0"/>
              <a:cs typeface="Arial" panose="020B0604020202020204" pitchFamily="34" charset="0"/>
            </a:endParaRPr>
          </a:p>
        </p:txBody>
      </p:sp>
      <p:cxnSp>
        <p:nvCxnSpPr>
          <p:cNvPr id="44" name="Straight Connector 43"/>
          <p:cNvCxnSpPr/>
          <p:nvPr/>
        </p:nvCxnSpPr>
        <p:spPr>
          <a:xfrm>
            <a:off x="836047" y="1277838"/>
            <a:ext cx="8286024" cy="0"/>
          </a:xfrm>
          <a:prstGeom prst="line">
            <a:avLst/>
          </a:prstGeom>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2867026" y="1123950"/>
            <a:ext cx="4381500" cy="338554"/>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sz="1600" dirty="0">
                <a:latin typeface="Arial" panose="020B0604020202020204" pitchFamily="34" charset="0"/>
                <a:cs typeface="Arial" panose="020B0604020202020204" pitchFamily="34" charset="0"/>
              </a:rPr>
              <a:t>What inputs does a prepayment model </a:t>
            </a:r>
            <a:r>
              <a:rPr lang="en-US" sz="1600" dirty="0" smtClean="0">
                <a:latin typeface="Arial" panose="020B0604020202020204" pitchFamily="34" charset="0"/>
                <a:cs typeface="Arial" panose="020B0604020202020204" pitchFamily="34" charset="0"/>
              </a:rPr>
              <a:t>need?</a:t>
            </a:r>
            <a:endParaRPr lang="en-US" sz="1600" dirty="0">
              <a:latin typeface="Arial" panose="020B0604020202020204" pitchFamily="34" charset="0"/>
              <a:cs typeface="Arial" panose="020B0604020202020204" pitchFamily="34" charset="0"/>
            </a:endParaRPr>
          </a:p>
        </p:txBody>
      </p:sp>
      <p:graphicFrame>
        <p:nvGraphicFramePr>
          <p:cNvPr id="47" name="Table 46"/>
          <p:cNvGraphicFramePr>
            <a:graphicFrameLocks noGrp="1"/>
          </p:cNvGraphicFramePr>
          <p:nvPr>
            <p:extLst>
              <p:ext uri="{D42A27DB-BD31-4B8C-83A1-F6EECF244321}">
                <p14:modId xmlns:p14="http://schemas.microsoft.com/office/powerpoint/2010/main" val="4266548033"/>
              </p:ext>
            </p:extLst>
          </p:nvPr>
        </p:nvGraphicFramePr>
        <p:xfrm>
          <a:off x="1885950" y="5239541"/>
          <a:ext cx="5781675" cy="1793880"/>
        </p:xfrm>
        <a:graphic>
          <a:graphicData uri="http://schemas.openxmlformats.org/drawingml/2006/table">
            <a:tbl>
              <a:tblPr firstRow="1" firstCol="1" bandRow="1">
                <a:tableStyleId>{5C22544A-7EE6-4342-B048-85BDC9FD1C3A}</a:tableStyleId>
              </a:tblPr>
              <a:tblGrid>
                <a:gridCol w="1404620"/>
                <a:gridCol w="1404620"/>
                <a:gridCol w="741045"/>
                <a:gridCol w="748665"/>
                <a:gridCol w="748665"/>
                <a:gridCol w="734060"/>
              </a:tblGrid>
              <a:tr h="0">
                <a:tc gridSpan="2">
                  <a:txBody>
                    <a:bodyPr/>
                    <a:lstStyle/>
                    <a:p>
                      <a:pPr marL="0" marR="0">
                        <a:lnSpc>
                          <a:spcPct val="107000"/>
                        </a:lnSpc>
                        <a:spcBef>
                          <a:spcPts val="0"/>
                        </a:spcBef>
                        <a:spcAft>
                          <a:spcPts val="0"/>
                        </a:spcAft>
                      </a:pPr>
                      <a:r>
                        <a:rPr lang="en-US" sz="1100" dirty="0">
                          <a:effectLst/>
                        </a:rPr>
                        <a:t>Input Parameter</a:t>
                      </a:r>
                      <a:endParaRPr lang="en-US" sz="1100" dirty="0">
                        <a:effectLst/>
                        <a:latin typeface="Calibri"/>
                        <a:ea typeface="SimSun"/>
                        <a:cs typeface="Times New Roman"/>
                      </a:endParaRPr>
                    </a:p>
                  </a:txBody>
                  <a:tcPr marL="68580" marR="68580" marT="0" marB="0"/>
                </a:tc>
                <a:tc hMerge="1">
                  <a:txBody>
                    <a:bodyPr/>
                    <a:lstStyle/>
                    <a:p>
                      <a:endParaRPr lang="en-US"/>
                    </a:p>
                  </a:txBody>
                  <a:tcPr/>
                </a:tc>
                <a:tc>
                  <a:txBody>
                    <a:bodyPr/>
                    <a:lstStyle/>
                    <a:p>
                      <a:pPr marL="0" marR="0" algn="ctr">
                        <a:lnSpc>
                          <a:spcPct val="107000"/>
                        </a:lnSpc>
                        <a:spcBef>
                          <a:spcPts val="0"/>
                        </a:spcBef>
                        <a:spcAft>
                          <a:spcPts val="0"/>
                        </a:spcAft>
                      </a:pPr>
                      <a:r>
                        <a:rPr lang="en-US" sz="1100">
                          <a:effectLst/>
                        </a:rPr>
                        <a:t>Curt</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Dflt</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Turn</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Refi</a:t>
                      </a:r>
                      <a:endParaRPr lang="en-US" sz="1100">
                        <a:effectLst/>
                        <a:latin typeface="Calibri"/>
                        <a:ea typeface="SimSun"/>
                        <a:cs typeface="Times New Roman"/>
                      </a:endParaRPr>
                    </a:p>
                  </a:txBody>
                  <a:tcPr marL="68580" marR="68580" marT="0" marB="0"/>
                </a:tc>
              </a:tr>
              <a:tr h="0">
                <a:tc>
                  <a:txBody>
                    <a:bodyPr/>
                    <a:lstStyle/>
                    <a:p>
                      <a:pPr marL="0" marR="0">
                        <a:lnSpc>
                          <a:spcPct val="107000"/>
                        </a:lnSpc>
                        <a:spcBef>
                          <a:spcPts val="0"/>
                        </a:spcBef>
                        <a:spcAft>
                          <a:spcPts val="0"/>
                        </a:spcAft>
                      </a:pPr>
                      <a:r>
                        <a:rPr lang="en-US" sz="1100">
                          <a:effectLst/>
                        </a:rPr>
                        <a:t>Borrower</a:t>
                      </a:r>
                      <a:endParaRPr lang="en-US" sz="1100">
                        <a:effectLst/>
                        <a:latin typeface="Calibri"/>
                        <a:ea typeface="SimSun"/>
                        <a:cs typeface="Times New Roman"/>
                      </a:endParaRPr>
                    </a:p>
                  </a:txBody>
                  <a:tcPr marL="68580" marR="68580" marT="0" marB="0"/>
                </a:tc>
                <a:tc>
                  <a:txBody>
                    <a:bodyPr/>
                    <a:lstStyle/>
                    <a:p>
                      <a:pPr marL="0" marR="0">
                        <a:lnSpc>
                          <a:spcPct val="107000"/>
                        </a:lnSpc>
                        <a:spcBef>
                          <a:spcPts val="0"/>
                        </a:spcBef>
                        <a:spcAft>
                          <a:spcPts val="0"/>
                        </a:spcAft>
                      </a:pPr>
                      <a:r>
                        <a:rPr lang="en-US" sz="1100">
                          <a:effectLst/>
                        </a:rPr>
                        <a:t>FICO</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 </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 </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a:t>
                      </a:r>
                      <a:endParaRPr lang="en-US" sz="1100">
                        <a:effectLst/>
                        <a:latin typeface="Calibri"/>
                        <a:ea typeface="SimSun"/>
                        <a:cs typeface="Times New Roman"/>
                      </a:endParaRPr>
                    </a:p>
                  </a:txBody>
                  <a:tcPr marL="68580" marR="68580" marT="0" marB="0"/>
                </a:tc>
              </a:tr>
              <a:tr h="0">
                <a:tc rowSpan="5">
                  <a:txBody>
                    <a:bodyPr/>
                    <a:lstStyle/>
                    <a:p>
                      <a:pPr marL="0" marR="0">
                        <a:lnSpc>
                          <a:spcPct val="107000"/>
                        </a:lnSpc>
                        <a:spcBef>
                          <a:spcPts val="0"/>
                        </a:spcBef>
                        <a:spcAft>
                          <a:spcPts val="0"/>
                        </a:spcAft>
                      </a:pPr>
                      <a:r>
                        <a:rPr lang="en-US" sz="1100">
                          <a:effectLst/>
                        </a:rPr>
                        <a:t>Loan</a:t>
                      </a:r>
                      <a:endParaRPr lang="en-US" sz="1100">
                        <a:effectLst/>
                        <a:latin typeface="Calibri"/>
                        <a:ea typeface="SimSun"/>
                        <a:cs typeface="Times New Roman"/>
                      </a:endParaRPr>
                    </a:p>
                  </a:txBody>
                  <a:tcPr marL="68580" marR="68580" marT="0" marB="0"/>
                </a:tc>
                <a:tc>
                  <a:txBody>
                    <a:bodyPr/>
                    <a:lstStyle/>
                    <a:p>
                      <a:pPr marL="0" marR="0">
                        <a:lnSpc>
                          <a:spcPct val="107000"/>
                        </a:lnSpc>
                        <a:spcBef>
                          <a:spcPts val="0"/>
                        </a:spcBef>
                        <a:spcAft>
                          <a:spcPts val="0"/>
                        </a:spcAft>
                      </a:pPr>
                      <a:r>
                        <a:rPr lang="en-US" sz="1100">
                          <a:effectLst/>
                        </a:rPr>
                        <a:t>ACLS</a:t>
                      </a:r>
                      <a:endParaRPr lang="en-US" sz="1100">
                        <a:effectLst/>
                        <a:latin typeface="Calibri"/>
                        <a:ea typeface="SimSun"/>
                        <a:cs typeface="Times New Roman"/>
                      </a:endParaRPr>
                    </a:p>
                  </a:txBody>
                  <a:tcPr marL="68580" marR="68580" marT="0" marB="0" anchor="b"/>
                </a:tc>
                <a:tc>
                  <a:txBody>
                    <a:bodyPr/>
                    <a:lstStyle/>
                    <a:p>
                      <a:pPr marL="0" marR="0" algn="ctr">
                        <a:lnSpc>
                          <a:spcPct val="107000"/>
                        </a:lnSpc>
                        <a:spcBef>
                          <a:spcPts val="0"/>
                        </a:spcBef>
                        <a:spcAft>
                          <a:spcPts val="0"/>
                        </a:spcAft>
                      </a:pPr>
                      <a:r>
                        <a:rPr lang="en-US" sz="1100">
                          <a:effectLst/>
                        </a:rPr>
                        <a:t> </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 </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 </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a:t>
                      </a:r>
                      <a:endParaRPr lang="en-US" sz="1100">
                        <a:effectLst/>
                        <a:latin typeface="Calibri"/>
                        <a:ea typeface="SimSun"/>
                        <a:cs typeface="Times New Roman"/>
                      </a:endParaRPr>
                    </a:p>
                  </a:txBody>
                  <a:tcPr marL="68580" marR="68580" marT="0" marB="0"/>
                </a:tc>
              </a:tr>
              <a:tr h="0">
                <a:tc vMerge="1">
                  <a:txBody>
                    <a:bodyPr/>
                    <a:lstStyle/>
                    <a:p>
                      <a:endParaRPr lang="en-US"/>
                    </a:p>
                  </a:txBody>
                  <a:tcPr/>
                </a:tc>
                <a:tc>
                  <a:txBody>
                    <a:bodyPr/>
                    <a:lstStyle/>
                    <a:p>
                      <a:pPr marL="0" marR="0">
                        <a:lnSpc>
                          <a:spcPct val="107000"/>
                        </a:lnSpc>
                        <a:spcBef>
                          <a:spcPts val="0"/>
                        </a:spcBef>
                        <a:spcAft>
                          <a:spcPts val="0"/>
                        </a:spcAft>
                      </a:pPr>
                      <a:r>
                        <a:rPr lang="en-US" sz="1100">
                          <a:effectLst/>
                        </a:rPr>
                        <a:t>WAC</a:t>
                      </a:r>
                      <a:endParaRPr lang="en-US" sz="1100">
                        <a:effectLst/>
                        <a:latin typeface="Calibri"/>
                        <a:ea typeface="SimSun"/>
                        <a:cs typeface="Times New Roman"/>
                      </a:endParaRPr>
                    </a:p>
                  </a:txBody>
                  <a:tcPr marL="68580" marR="68580" marT="0" marB="0" anchor="b"/>
                </a:tc>
                <a:tc>
                  <a:txBody>
                    <a:bodyPr/>
                    <a:lstStyle/>
                    <a:p>
                      <a:pPr marL="0" marR="0" algn="ctr">
                        <a:lnSpc>
                          <a:spcPct val="107000"/>
                        </a:lnSpc>
                        <a:spcBef>
                          <a:spcPts val="0"/>
                        </a:spcBef>
                        <a:spcAft>
                          <a:spcPts val="0"/>
                        </a:spcAft>
                      </a:pPr>
                      <a:r>
                        <a:rPr lang="en-US" sz="1100">
                          <a:effectLst/>
                        </a:rPr>
                        <a:t> </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 </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a:t>
                      </a:r>
                      <a:endParaRPr lang="en-US" sz="1100">
                        <a:effectLst/>
                        <a:latin typeface="Calibri"/>
                        <a:ea typeface="SimSun"/>
                        <a:cs typeface="Times New Roman"/>
                      </a:endParaRPr>
                    </a:p>
                  </a:txBody>
                  <a:tcPr marL="68580" marR="68580" marT="0" marB="0"/>
                </a:tc>
              </a:tr>
              <a:tr h="0">
                <a:tc vMerge="1">
                  <a:txBody>
                    <a:bodyPr/>
                    <a:lstStyle/>
                    <a:p>
                      <a:endParaRPr lang="en-US"/>
                    </a:p>
                  </a:txBody>
                  <a:tcPr/>
                </a:tc>
                <a:tc>
                  <a:txBody>
                    <a:bodyPr/>
                    <a:lstStyle/>
                    <a:p>
                      <a:pPr marL="0" marR="0">
                        <a:lnSpc>
                          <a:spcPct val="107000"/>
                        </a:lnSpc>
                        <a:spcBef>
                          <a:spcPts val="0"/>
                        </a:spcBef>
                        <a:spcAft>
                          <a:spcPts val="0"/>
                        </a:spcAft>
                      </a:pPr>
                      <a:r>
                        <a:rPr lang="en-US" sz="1100">
                          <a:effectLst/>
                        </a:rPr>
                        <a:t>WALA</a:t>
                      </a:r>
                      <a:endParaRPr lang="en-US" sz="1100">
                        <a:effectLst/>
                        <a:latin typeface="Calibri"/>
                        <a:ea typeface="SimSun"/>
                        <a:cs typeface="Times New Roman"/>
                      </a:endParaRPr>
                    </a:p>
                  </a:txBody>
                  <a:tcPr marL="68580" marR="68580" marT="0" marB="0" anchor="b"/>
                </a:tc>
                <a:tc>
                  <a:txBody>
                    <a:bodyPr/>
                    <a:lstStyle/>
                    <a:p>
                      <a:pPr marL="0" marR="0" algn="ctr">
                        <a:lnSpc>
                          <a:spcPct val="107000"/>
                        </a:lnSpc>
                        <a:spcBef>
                          <a:spcPts val="0"/>
                        </a:spcBef>
                        <a:spcAft>
                          <a:spcPts val="0"/>
                        </a:spcAft>
                      </a:pPr>
                      <a:r>
                        <a:rPr lang="en-US" sz="1100">
                          <a:effectLst/>
                        </a:rPr>
                        <a:t>•</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a:t>
                      </a:r>
                      <a:endParaRPr lang="en-US" sz="1100">
                        <a:effectLst/>
                        <a:latin typeface="Calibri"/>
                        <a:ea typeface="SimSun"/>
                        <a:cs typeface="Times New Roman"/>
                      </a:endParaRPr>
                    </a:p>
                  </a:txBody>
                  <a:tcPr marL="68580" marR="68580" marT="0" marB="0"/>
                </a:tc>
              </a:tr>
              <a:tr h="0">
                <a:tc vMerge="1">
                  <a:txBody>
                    <a:bodyPr/>
                    <a:lstStyle/>
                    <a:p>
                      <a:endParaRPr lang="en-US"/>
                    </a:p>
                  </a:txBody>
                  <a:tcPr/>
                </a:tc>
                <a:tc>
                  <a:txBody>
                    <a:bodyPr/>
                    <a:lstStyle/>
                    <a:p>
                      <a:pPr marL="0" marR="0">
                        <a:lnSpc>
                          <a:spcPct val="107000"/>
                        </a:lnSpc>
                        <a:spcBef>
                          <a:spcPts val="0"/>
                        </a:spcBef>
                        <a:spcAft>
                          <a:spcPts val="0"/>
                        </a:spcAft>
                      </a:pPr>
                      <a:r>
                        <a:rPr lang="en-US" sz="1100">
                          <a:effectLst/>
                        </a:rPr>
                        <a:t>LTV</a:t>
                      </a:r>
                      <a:endParaRPr lang="en-US" sz="1100">
                        <a:effectLst/>
                        <a:latin typeface="Calibri"/>
                        <a:ea typeface="SimSun"/>
                        <a:cs typeface="Times New Roman"/>
                      </a:endParaRPr>
                    </a:p>
                  </a:txBody>
                  <a:tcPr marL="68580" marR="68580" marT="0" marB="0" anchor="b"/>
                </a:tc>
                <a:tc>
                  <a:txBody>
                    <a:bodyPr/>
                    <a:lstStyle/>
                    <a:p>
                      <a:pPr marL="0" marR="0" algn="ctr">
                        <a:lnSpc>
                          <a:spcPct val="107000"/>
                        </a:lnSpc>
                        <a:spcBef>
                          <a:spcPts val="0"/>
                        </a:spcBef>
                        <a:spcAft>
                          <a:spcPts val="0"/>
                        </a:spcAft>
                      </a:pPr>
                      <a:r>
                        <a:rPr lang="en-US" sz="1100">
                          <a:effectLst/>
                        </a:rPr>
                        <a:t> </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a:t>
                      </a:r>
                      <a:endParaRPr lang="en-US" sz="1100">
                        <a:effectLst/>
                        <a:latin typeface="Calibri"/>
                        <a:ea typeface="SimSun"/>
                        <a:cs typeface="Times New Roman"/>
                      </a:endParaRPr>
                    </a:p>
                  </a:txBody>
                  <a:tcPr marL="68580" marR="68580" marT="0" marB="0"/>
                </a:tc>
              </a:tr>
              <a:tr h="0">
                <a:tc vMerge="1">
                  <a:txBody>
                    <a:bodyPr/>
                    <a:lstStyle/>
                    <a:p>
                      <a:endParaRPr lang="en-US"/>
                    </a:p>
                  </a:txBody>
                  <a:tcPr/>
                </a:tc>
                <a:tc>
                  <a:txBody>
                    <a:bodyPr/>
                    <a:lstStyle/>
                    <a:p>
                      <a:pPr marL="0" marR="0">
                        <a:lnSpc>
                          <a:spcPct val="107000"/>
                        </a:lnSpc>
                        <a:spcBef>
                          <a:spcPts val="0"/>
                        </a:spcBef>
                        <a:spcAft>
                          <a:spcPts val="0"/>
                        </a:spcAft>
                      </a:pPr>
                      <a:r>
                        <a:rPr lang="en-US" sz="1100">
                          <a:effectLst/>
                        </a:rPr>
                        <a:t>Burnout</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 </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 </a:t>
                      </a:r>
                      <a:endParaRPr lang="en-US" sz="1100">
                        <a:effectLst/>
                        <a:latin typeface="Calibri"/>
                        <a:ea typeface="SimSun"/>
                        <a:cs typeface="Times New Roman"/>
                      </a:endParaRPr>
                    </a:p>
                  </a:txBody>
                  <a:tcPr marL="68580" marR="68580" marT="0" marB="0"/>
                </a:tc>
                <a:tc>
                  <a:txBody>
                    <a:bodyPr/>
                    <a:lstStyle/>
                    <a:p>
                      <a:pPr marL="0" marR="0" indent="0" algn="ctr" defTabSz="1018472" rtl="0" eaLnBrk="1" fontAlgn="auto" latinLnBrk="0" hangingPunct="1">
                        <a:lnSpc>
                          <a:spcPct val="107000"/>
                        </a:lnSpc>
                        <a:spcBef>
                          <a:spcPts val="0"/>
                        </a:spcBef>
                        <a:spcAft>
                          <a:spcPts val="0"/>
                        </a:spcAft>
                        <a:buClrTx/>
                        <a:buSzTx/>
                        <a:buFontTx/>
                        <a:buNone/>
                        <a:tabLst/>
                        <a:defRPr/>
                      </a:pPr>
                      <a:endParaRPr lang="en-US" sz="1100" dirty="0" smtClean="0">
                        <a:effectLst/>
                        <a:latin typeface="+mn-lt"/>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dirty="0" smtClean="0">
                          <a:effectLst/>
                        </a:rPr>
                        <a:t>•</a:t>
                      </a:r>
                      <a:endParaRPr lang="en-US" sz="1100" dirty="0">
                        <a:effectLst/>
                        <a:latin typeface="Calibri"/>
                        <a:ea typeface="SimSun"/>
                        <a:cs typeface="Times New Roman"/>
                      </a:endParaRPr>
                    </a:p>
                  </a:txBody>
                  <a:tcPr marL="68580" marR="68580" marT="0" marB="0"/>
                </a:tc>
              </a:tr>
              <a:tr h="0">
                <a:tc rowSpan="3">
                  <a:txBody>
                    <a:bodyPr/>
                    <a:lstStyle/>
                    <a:p>
                      <a:pPr marL="0" marR="0">
                        <a:lnSpc>
                          <a:spcPct val="107000"/>
                        </a:lnSpc>
                        <a:spcBef>
                          <a:spcPts val="0"/>
                        </a:spcBef>
                        <a:spcAft>
                          <a:spcPts val="0"/>
                        </a:spcAft>
                      </a:pPr>
                      <a:r>
                        <a:rPr lang="en-US" sz="1100" dirty="0">
                          <a:effectLst/>
                        </a:rPr>
                        <a:t>Macro-Economic</a:t>
                      </a:r>
                      <a:endParaRPr lang="en-US" sz="1100" dirty="0">
                        <a:effectLst/>
                        <a:latin typeface="Calibri"/>
                        <a:ea typeface="SimSun"/>
                        <a:cs typeface="Times New Roman"/>
                      </a:endParaRPr>
                    </a:p>
                  </a:txBody>
                  <a:tcPr marL="68580" marR="68580" marT="0" marB="0"/>
                </a:tc>
                <a:tc>
                  <a:txBody>
                    <a:bodyPr/>
                    <a:lstStyle/>
                    <a:p>
                      <a:pPr marL="0" marR="0">
                        <a:lnSpc>
                          <a:spcPct val="107000"/>
                        </a:lnSpc>
                        <a:spcBef>
                          <a:spcPts val="0"/>
                        </a:spcBef>
                        <a:spcAft>
                          <a:spcPts val="0"/>
                        </a:spcAft>
                      </a:pPr>
                      <a:r>
                        <a:rPr lang="en-US" sz="1100">
                          <a:effectLst/>
                        </a:rPr>
                        <a:t>HPA</a:t>
                      </a:r>
                      <a:endParaRPr lang="en-US" sz="1100">
                        <a:effectLst/>
                        <a:latin typeface="Calibri"/>
                        <a:ea typeface="SimSun"/>
                        <a:cs typeface="Times New Roman"/>
                      </a:endParaRPr>
                    </a:p>
                  </a:txBody>
                  <a:tcPr marL="68580" marR="68580" marT="0" marB="0" anchor="b"/>
                </a:tc>
                <a:tc>
                  <a:txBody>
                    <a:bodyPr/>
                    <a:lstStyle/>
                    <a:p>
                      <a:pPr marL="0" marR="0" algn="ctr">
                        <a:lnSpc>
                          <a:spcPct val="107000"/>
                        </a:lnSpc>
                        <a:spcBef>
                          <a:spcPts val="0"/>
                        </a:spcBef>
                        <a:spcAft>
                          <a:spcPts val="0"/>
                        </a:spcAft>
                      </a:pPr>
                      <a:r>
                        <a:rPr lang="en-US" sz="1100">
                          <a:effectLst/>
                        </a:rPr>
                        <a:t> </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 </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a:t>
                      </a:r>
                      <a:endParaRPr lang="en-US" sz="1100">
                        <a:effectLst/>
                        <a:latin typeface="Calibri"/>
                        <a:ea typeface="SimSun"/>
                        <a:cs typeface="Times New Roman"/>
                      </a:endParaRPr>
                    </a:p>
                  </a:txBody>
                  <a:tcPr marL="68580" marR="68580" marT="0" marB="0"/>
                </a:tc>
              </a:tr>
              <a:tr h="0">
                <a:tc vMerge="1">
                  <a:txBody>
                    <a:bodyPr/>
                    <a:lstStyle/>
                    <a:p>
                      <a:endParaRPr lang="en-US"/>
                    </a:p>
                  </a:txBody>
                  <a:tcPr/>
                </a:tc>
                <a:tc>
                  <a:txBody>
                    <a:bodyPr/>
                    <a:lstStyle/>
                    <a:p>
                      <a:pPr marL="0" marR="0">
                        <a:lnSpc>
                          <a:spcPct val="107000"/>
                        </a:lnSpc>
                        <a:spcBef>
                          <a:spcPts val="0"/>
                        </a:spcBef>
                        <a:spcAft>
                          <a:spcPts val="0"/>
                        </a:spcAft>
                      </a:pPr>
                      <a:r>
                        <a:rPr lang="en-US" sz="1100" dirty="0" smtClean="0">
                          <a:effectLst/>
                        </a:rPr>
                        <a:t>PMMS</a:t>
                      </a:r>
                      <a:endParaRPr lang="en-US" sz="1100" dirty="0">
                        <a:effectLst/>
                        <a:latin typeface="Calibri"/>
                        <a:ea typeface="SimSun"/>
                        <a:cs typeface="Times New Roman"/>
                      </a:endParaRPr>
                    </a:p>
                  </a:txBody>
                  <a:tcPr marL="68580" marR="68580" marT="0" marB="0" anchor="b"/>
                </a:tc>
                <a:tc>
                  <a:txBody>
                    <a:bodyPr/>
                    <a:lstStyle/>
                    <a:p>
                      <a:pPr marL="0" marR="0" algn="ctr">
                        <a:lnSpc>
                          <a:spcPct val="107000"/>
                        </a:lnSpc>
                        <a:spcBef>
                          <a:spcPts val="0"/>
                        </a:spcBef>
                        <a:spcAft>
                          <a:spcPts val="0"/>
                        </a:spcAft>
                      </a:pPr>
                      <a:r>
                        <a:rPr lang="en-US" sz="1100">
                          <a:effectLst/>
                        </a:rPr>
                        <a:t> </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 </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a:t>
                      </a:r>
                      <a:endParaRPr lang="en-US" sz="1100">
                        <a:effectLst/>
                        <a:latin typeface="Calibri"/>
                        <a:ea typeface="SimSun"/>
                        <a:cs typeface="Times New Roman"/>
                      </a:endParaRPr>
                    </a:p>
                  </a:txBody>
                  <a:tcPr marL="68580" marR="68580" marT="0" marB="0"/>
                </a:tc>
              </a:tr>
              <a:tr h="0">
                <a:tc vMerge="1">
                  <a:txBody>
                    <a:bodyPr/>
                    <a:lstStyle/>
                    <a:p>
                      <a:endParaRPr lang="en-US"/>
                    </a:p>
                  </a:txBody>
                  <a:tcPr/>
                </a:tc>
                <a:tc>
                  <a:txBody>
                    <a:bodyPr/>
                    <a:lstStyle/>
                    <a:p>
                      <a:pPr marL="0" marR="0" indent="0" algn="l" defTabSz="1018472" rtl="0" eaLnBrk="1" fontAlgn="auto" latinLnBrk="0" hangingPunct="1">
                        <a:lnSpc>
                          <a:spcPct val="107000"/>
                        </a:lnSpc>
                        <a:spcBef>
                          <a:spcPts val="0"/>
                        </a:spcBef>
                        <a:spcAft>
                          <a:spcPts val="0"/>
                        </a:spcAft>
                        <a:buClrTx/>
                        <a:buSzTx/>
                        <a:buFontTx/>
                        <a:buNone/>
                        <a:tabLst/>
                        <a:defRPr/>
                      </a:pPr>
                      <a:r>
                        <a:rPr lang="en-US" sz="1100" kern="1200" dirty="0" smtClean="0"/>
                        <a:t>SEASON</a:t>
                      </a:r>
                      <a:endParaRPr lang="en-US" sz="1100" b="0" kern="1200" dirty="0" smtClean="0">
                        <a:solidFill>
                          <a:schemeClr val="lt1"/>
                        </a:solidFill>
                        <a:latin typeface="+mn-lt"/>
                        <a:ea typeface="+mn-ea"/>
                        <a:cs typeface="+mn-cs"/>
                      </a:endParaRPr>
                    </a:p>
                  </a:txBody>
                  <a:tcPr marL="68580" marR="68580" marT="0" marB="0" anchor="b"/>
                </a:tc>
                <a:tc>
                  <a:txBody>
                    <a:bodyPr/>
                    <a:lstStyle/>
                    <a:p>
                      <a:pPr marL="0" marR="0" algn="ctr">
                        <a:lnSpc>
                          <a:spcPct val="107000"/>
                        </a:lnSpc>
                        <a:spcBef>
                          <a:spcPts val="0"/>
                        </a:spcBef>
                        <a:spcAft>
                          <a:spcPts val="0"/>
                        </a:spcAft>
                      </a:pPr>
                      <a:r>
                        <a:rPr lang="en-US" sz="1100">
                          <a:effectLst/>
                        </a:rPr>
                        <a:t> </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 </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dirty="0">
                          <a:effectLst/>
                        </a:rPr>
                        <a:t>•</a:t>
                      </a:r>
                      <a:endParaRPr lang="en-US" sz="1100" dirty="0">
                        <a:effectLst/>
                        <a:latin typeface="Calibri"/>
                        <a:ea typeface="SimSun"/>
                        <a:cs typeface="Times New Roman"/>
                      </a:endParaRPr>
                    </a:p>
                  </a:txBody>
                  <a:tcPr marL="68580" marR="68580" marT="0" marB="0"/>
                </a:tc>
              </a:tr>
            </a:tbl>
          </a:graphicData>
        </a:graphic>
      </p:graphicFrame>
      <p:cxnSp>
        <p:nvCxnSpPr>
          <p:cNvPr id="49" name="Straight Connector 48"/>
          <p:cNvCxnSpPr/>
          <p:nvPr/>
        </p:nvCxnSpPr>
        <p:spPr>
          <a:xfrm>
            <a:off x="1132284" y="4879775"/>
            <a:ext cx="7629525" cy="0"/>
          </a:xfrm>
          <a:prstGeom prst="line">
            <a:avLst/>
          </a:prstGeom>
        </p:spPr>
        <p:style>
          <a:lnRef idx="1">
            <a:schemeClr val="accent1"/>
          </a:lnRef>
          <a:fillRef idx="0">
            <a:schemeClr val="accent1"/>
          </a:fillRef>
          <a:effectRef idx="0">
            <a:schemeClr val="accent1"/>
          </a:effectRef>
          <a:fontRef idx="minor">
            <a:schemeClr val="tx1"/>
          </a:fontRef>
        </p:style>
      </p:cxnSp>
      <p:sp>
        <p:nvSpPr>
          <p:cNvPr id="46" name="TextBox 45"/>
          <p:cNvSpPr txBox="1"/>
          <p:nvPr/>
        </p:nvSpPr>
        <p:spPr>
          <a:xfrm>
            <a:off x="1827609" y="4725887"/>
            <a:ext cx="6478191" cy="307777"/>
          </a:xfrm>
          <a:prstGeom prst="rect">
            <a:avLst/>
          </a:prstGeom>
          <a:solidFill>
            <a:schemeClr val="bg1"/>
          </a:solidFill>
        </p:spPr>
        <p:txBody>
          <a:bodyPr wrap="square" rtlCol="0">
            <a:spAutoFit/>
          </a:bodyPr>
          <a:lstStyle/>
          <a:p>
            <a:r>
              <a:rPr lang="en-US" sz="1400" dirty="0">
                <a:latin typeface="Arial" panose="020B0604020202020204" pitchFamily="34" charset="0"/>
                <a:cs typeface="Arial" panose="020B0604020202020204" pitchFamily="34" charset="0"/>
              </a:rPr>
              <a:t>Total SMM = curtailment SMM + default SMM + turnover SMM + refinance SMM</a:t>
            </a:r>
          </a:p>
        </p:txBody>
      </p:sp>
    </p:spTree>
    <p:extLst>
      <p:ext uri="{BB962C8B-B14F-4D97-AF65-F5344CB8AC3E}">
        <p14:creationId xmlns:p14="http://schemas.microsoft.com/office/powerpoint/2010/main" val="410415868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23670" y="227542"/>
            <a:ext cx="6806130" cy="677966"/>
          </a:xfrm>
        </p:spPr>
        <p:txBody>
          <a:bodyPr/>
          <a:lstStyle/>
          <a:p>
            <a:r>
              <a:rPr lang="en-US" dirty="0">
                <a:latin typeface="Arial" panose="020B0604020202020204" pitchFamily="34" charset="0"/>
                <a:cs typeface="Arial" panose="020B0604020202020204" pitchFamily="34" charset="0"/>
              </a:rPr>
              <a:t>Modeling Overview and Structure</a:t>
            </a:r>
          </a:p>
        </p:txBody>
      </p:sp>
      <p:sp>
        <p:nvSpPr>
          <p:cNvPr id="4" name="Rectangle 3"/>
          <p:cNvSpPr/>
          <p:nvPr/>
        </p:nvSpPr>
        <p:spPr>
          <a:xfrm>
            <a:off x="1304925" y="1409700"/>
            <a:ext cx="70485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atin typeface="Arial" panose="020B0604020202020204" pitchFamily="34" charset="0"/>
                <a:cs typeface="Arial" panose="020B0604020202020204" pitchFamily="34" charset="0"/>
              </a:rPr>
              <a:t>Inputs</a:t>
            </a:r>
            <a:endParaRPr lang="en-US" dirty="0">
              <a:latin typeface="Arial" panose="020B0604020202020204" pitchFamily="34" charset="0"/>
              <a:cs typeface="Arial" panose="020B0604020202020204" pitchFamily="34" charset="0"/>
            </a:endParaRPr>
          </a:p>
        </p:txBody>
      </p:sp>
      <p:graphicFrame>
        <p:nvGraphicFramePr>
          <p:cNvPr id="5" name="Table 4"/>
          <p:cNvGraphicFramePr>
            <a:graphicFrameLocks noGrp="1"/>
          </p:cNvGraphicFramePr>
          <p:nvPr>
            <p:extLst>
              <p:ext uri="{D42A27DB-BD31-4B8C-83A1-F6EECF244321}">
                <p14:modId xmlns:p14="http://schemas.microsoft.com/office/powerpoint/2010/main" val="3300238245"/>
              </p:ext>
            </p:extLst>
          </p:nvPr>
        </p:nvGraphicFramePr>
        <p:xfrm>
          <a:off x="376237" y="2918143"/>
          <a:ext cx="2194560" cy="990600"/>
        </p:xfrm>
        <a:graphic>
          <a:graphicData uri="http://schemas.openxmlformats.org/drawingml/2006/table">
            <a:tbl>
              <a:tblPr/>
              <a:tblGrid>
                <a:gridCol w="804863"/>
                <a:gridCol w="1389697"/>
              </a:tblGrid>
              <a:tr h="272732">
                <a:tc>
                  <a:txBody>
                    <a:bodyPr/>
                    <a:lstStyle/>
                    <a:p>
                      <a:pPr rtl="0" fontAlgn="t">
                        <a:spcBef>
                          <a:spcPts val="0"/>
                        </a:spcBef>
                        <a:spcAft>
                          <a:spcPts val="0"/>
                        </a:spcAft>
                      </a:pPr>
                      <a:r>
                        <a:rPr lang="en-US" sz="1000" b="0" i="0" u="none" strike="noStrike" dirty="0" smtClean="0">
                          <a:solidFill>
                            <a:srgbClr val="000000"/>
                          </a:solidFill>
                          <a:effectLst/>
                          <a:latin typeface="Arial" panose="020B0604020202020204" pitchFamily="34" charset="0"/>
                          <a:cs typeface="Arial" panose="020B0604020202020204" pitchFamily="34" charset="0"/>
                        </a:rPr>
                        <a:t>Parameter</a:t>
                      </a:r>
                      <a:endParaRPr lang="en-US" sz="1000" dirty="0">
                        <a:effectLst/>
                        <a:latin typeface="Arial" panose="020B0604020202020204" pitchFamily="34" charset="0"/>
                        <a:cs typeface="Arial" panose="020B0604020202020204" pitchFamily="34" charset="0"/>
                      </a:endParaRPr>
                    </a:p>
                  </a:txBody>
                  <a:tcPr marL="95250" marR="95250" marT="95250" marB="95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rtl="0" fontAlgn="t">
                        <a:spcBef>
                          <a:spcPts val="0"/>
                        </a:spcBef>
                        <a:spcAft>
                          <a:spcPts val="0"/>
                        </a:spcAft>
                      </a:pPr>
                      <a:r>
                        <a:rPr lang="en-US" sz="1000" b="0" i="0" u="none" strike="noStrike" dirty="0">
                          <a:solidFill>
                            <a:srgbClr val="000000"/>
                          </a:solidFill>
                          <a:effectLst/>
                          <a:latin typeface="Arial" panose="020B0604020202020204" pitchFamily="34" charset="0"/>
                          <a:cs typeface="Arial" panose="020B0604020202020204" pitchFamily="34" charset="0"/>
                        </a:rPr>
                        <a:t>Method</a:t>
                      </a:r>
                      <a:endParaRPr lang="en-US" sz="1000" dirty="0">
                        <a:effectLst/>
                        <a:latin typeface="Arial" panose="020B0604020202020204" pitchFamily="34" charset="0"/>
                        <a:cs typeface="Arial" panose="020B0604020202020204" pitchFamily="34" charset="0"/>
                      </a:endParaRPr>
                    </a:p>
                  </a:txBody>
                  <a:tcPr marL="95250" marR="95250" marT="95250" marB="95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570682">
                <a:tc>
                  <a:txBody>
                    <a:bodyPr/>
                    <a:lstStyle/>
                    <a:p>
                      <a:pPr rtl="0" fontAlgn="t">
                        <a:spcBef>
                          <a:spcPts val="0"/>
                        </a:spcBef>
                        <a:spcAft>
                          <a:spcPts val="0"/>
                        </a:spcAft>
                      </a:pPr>
                      <a:r>
                        <a:rPr lang="en-US" sz="1000" b="0" i="0" u="none" strike="noStrike" dirty="0" err="1" smtClean="0">
                          <a:solidFill>
                            <a:srgbClr val="000000"/>
                          </a:solidFill>
                          <a:effectLst/>
                          <a:latin typeface="Arial" panose="020B0604020202020204" pitchFamily="34" charset="0"/>
                          <a:cs typeface="Arial" panose="020B0604020202020204" pitchFamily="34" charset="0"/>
                        </a:rPr>
                        <a:t>wala</a:t>
                      </a:r>
                      <a:endParaRPr lang="en-US" sz="1000" dirty="0">
                        <a:effectLst/>
                        <a:latin typeface="Arial" panose="020B0604020202020204" pitchFamily="34" charset="0"/>
                        <a:cs typeface="Arial" panose="020B0604020202020204" pitchFamily="34" charset="0"/>
                      </a:endParaRPr>
                    </a:p>
                  </a:txBody>
                  <a:tcPr marL="95250" marR="95250" marT="95250" marB="95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rtl="0" fontAlgn="t">
                        <a:spcBef>
                          <a:spcPts val="0"/>
                        </a:spcBef>
                        <a:spcAft>
                          <a:spcPts val="0"/>
                        </a:spcAft>
                      </a:pPr>
                      <a:r>
                        <a:rPr lang="en-US" sz="1000" b="0" i="0" u="none" strike="noStrike" dirty="0">
                          <a:solidFill>
                            <a:srgbClr val="000000"/>
                          </a:solidFill>
                          <a:effectLst/>
                          <a:latin typeface="Arial" panose="020B0604020202020204" pitchFamily="34" charset="0"/>
                          <a:cs typeface="Arial" panose="020B0604020202020204" pitchFamily="34" charset="0"/>
                        </a:rPr>
                        <a:t>1. spline</a:t>
                      </a:r>
                      <a:endParaRPr lang="en-US" sz="1000" dirty="0">
                        <a:effectLst/>
                        <a:latin typeface="Arial" panose="020B0604020202020204" pitchFamily="34" charset="0"/>
                        <a:cs typeface="Arial" panose="020B0604020202020204" pitchFamily="34" charset="0"/>
                      </a:endParaRPr>
                    </a:p>
                    <a:p>
                      <a:pPr rtl="0" fontAlgn="t">
                        <a:spcBef>
                          <a:spcPts val="0"/>
                        </a:spcBef>
                        <a:spcAft>
                          <a:spcPts val="0"/>
                        </a:spcAft>
                      </a:pPr>
                      <a:r>
                        <a:rPr lang="en-US" sz="1000" b="0" i="0" u="none" strike="noStrike" dirty="0">
                          <a:solidFill>
                            <a:srgbClr val="000000"/>
                          </a:solidFill>
                          <a:effectLst/>
                          <a:latin typeface="Arial" panose="020B0604020202020204" pitchFamily="34" charset="0"/>
                          <a:cs typeface="Arial" panose="020B0604020202020204" pitchFamily="34" charset="0"/>
                        </a:rPr>
                        <a:t>2. least square optimal</a:t>
                      </a:r>
                      <a:endParaRPr lang="en-US" sz="1000" dirty="0">
                        <a:effectLst/>
                        <a:latin typeface="Arial" panose="020B0604020202020204" pitchFamily="34" charset="0"/>
                        <a:cs typeface="Arial" panose="020B0604020202020204" pitchFamily="34" charset="0"/>
                      </a:endParaRPr>
                    </a:p>
                  </a:txBody>
                  <a:tcPr marL="95250" marR="95250" marT="95250" marB="95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sp>
        <p:nvSpPr>
          <p:cNvPr id="6" name="Rectangle 1"/>
          <p:cNvSpPr>
            <a:spLocks noChangeArrowheads="1"/>
          </p:cNvSpPr>
          <p:nvPr/>
        </p:nvSpPr>
        <p:spPr bwMode="auto">
          <a:xfrm>
            <a:off x="4938949" y="2918143"/>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cs typeface="Arial" pitchFamily="34" charset="0"/>
            </a:endParaRPr>
          </a:p>
        </p:txBody>
      </p:sp>
      <p:graphicFrame>
        <p:nvGraphicFramePr>
          <p:cNvPr id="10" name="Table 9"/>
          <p:cNvGraphicFramePr>
            <a:graphicFrameLocks noGrp="1"/>
          </p:cNvGraphicFramePr>
          <p:nvPr>
            <p:extLst>
              <p:ext uri="{D42A27DB-BD31-4B8C-83A1-F6EECF244321}">
                <p14:modId xmlns:p14="http://schemas.microsoft.com/office/powerpoint/2010/main" val="1477464761"/>
              </p:ext>
            </p:extLst>
          </p:nvPr>
        </p:nvGraphicFramePr>
        <p:xfrm>
          <a:off x="2748102" y="2918143"/>
          <a:ext cx="2194560" cy="2053586"/>
        </p:xfrm>
        <a:graphic>
          <a:graphicData uri="http://schemas.openxmlformats.org/drawingml/2006/table">
            <a:tbl>
              <a:tblPr/>
              <a:tblGrid>
                <a:gridCol w="908094"/>
                <a:gridCol w="1286466"/>
              </a:tblGrid>
              <a:tr h="317275">
                <a:tc gridSpan="2">
                  <a:txBody>
                    <a:bodyPr/>
                    <a:lstStyle/>
                    <a:p>
                      <a:pPr rtl="0" fontAlgn="t">
                        <a:spcBef>
                          <a:spcPts val="0"/>
                        </a:spcBef>
                        <a:spcAft>
                          <a:spcPts val="0"/>
                        </a:spcAft>
                      </a:pPr>
                      <a:r>
                        <a:rPr lang="en-US" sz="1000" b="0" i="0" u="none" strike="noStrike" dirty="0" err="1">
                          <a:solidFill>
                            <a:srgbClr val="000000"/>
                          </a:solidFill>
                          <a:effectLst/>
                          <a:latin typeface="Arial"/>
                        </a:rPr>
                        <a:t>constSMM</a:t>
                      </a:r>
                      <a:r>
                        <a:rPr lang="en-US" sz="1000" b="0" i="0" u="none" strike="noStrike" dirty="0">
                          <a:solidFill>
                            <a:srgbClr val="000000"/>
                          </a:solidFill>
                          <a:effectLst/>
                          <a:latin typeface="Arial"/>
                        </a:rPr>
                        <a:t> * </a:t>
                      </a:r>
                      <a:r>
                        <a:rPr lang="en-US" sz="1000" b="0" i="0" u="none" strike="noStrike" dirty="0" err="1">
                          <a:solidFill>
                            <a:srgbClr val="000000"/>
                          </a:solidFill>
                          <a:effectLst/>
                          <a:latin typeface="Arial"/>
                        </a:rPr>
                        <a:t>cltv</a:t>
                      </a:r>
                      <a:r>
                        <a:rPr lang="en-US" sz="1000" b="0" i="0" u="none" strike="noStrike" dirty="0">
                          <a:solidFill>
                            <a:srgbClr val="000000"/>
                          </a:solidFill>
                          <a:effectLst/>
                          <a:latin typeface="Arial"/>
                        </a:rPr>
                        <a:t> * </a:t>
                      </a:r>
                      <a:r>
                        <a:rPr lang="en-US" sz="1000" b="0" i="0" u="none" strike="noStrike" dirty="0" err="1">
                          <a:solidFill>
                            <a:srgbClr val="000000"/>
                          </a:solidFill>
                          <a:effectLst/>
                          <a:latin typeface="Arial"/>
                        </a:rPr>
                        <a:t>wala</a:t>
                      </a:r>
                      <a:r>
                        <a:rPr lang="en-US" sz="1000" b="0" i="0" u="none" strike="noStrike" dirty="0">
                          <a:solidFill>
                            <a:srgbClr val="000000"/>
                          </a:solidFill>
                          <a:effectLst/>
                          <a:latin typeface="Arial"/>
                        </a:rPr>
                        <a:t> * fico</a:t>
                      </a:r>
                      <a:endParaRPr lang="en-US" sz="1000" dirty="0">
                        <a:effectLst/>
                      </a:endParaRPr>
                    </a:p>
                  </a:txBody>
                  <a:tcPr marL="81212" marR="81212" marT="81212" marB="8121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hMerge="1">
                  <a:txBody>
                    <a:bodyPr/>
                    <a:lstStyle/>
                    <a:p>
                      <a:endParaRPr lang="en-US"/>
                    </a:p>
                  </a:txBody>
                  <a:tcPr/>
                </a:tc>
              </a:tr>
              <a:tr h="547080">
                <a:tc>
                  <a:txBody>
                    <a:bodyPr/>
                    <a:lstStyle/>
                    <a:p>
                      <a:pPr rtl="0" fontAlgn="t">
                        <a:spcBef>
                          <a:spcPts val="0"/>
                        </a:spcBef>
                        <a:spcAft>
                          <a:spcPts val="0"/>
                        </a:spcAft>
                      </a:pPr>
                      <a:r>
                        <a:rPr lang="en-US" sz="1000" b="0" i="0" u="none" strike="noStrike" dirty="0" err="1">
                          <a:solidFill>
                            <a:srgbClr val="000000"/>
                          </a:solidFill>
                          <a:effectLst/>
                          <a:latin typeface="Arial"/>
                        </a:rPr>
                        <a:t>constSMM</a:t>
                      </a:r>
                      <a:endParaRPr lang="en-US" sz="1000" dirty="0">
                        <a:effectLst/>
                      </a:endParaRPr>
                    </a:p>
                  </a:txBody>
                  <a:tcPr marL="81212" marR="81212" marT="81212" marB="8121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rtl="0" fontAlgn="t">
                        <a:spcBef>
                          <a:spcPts val="0"/>
                        </a:spcBef>
                        <a:spcAft>
                          <a:spcPts val="0"/>
                        </a:spcAft>
                      </a:pPr>
                      <a:r>
                        <a:rPr lang="en-US" sz="1000" b="0" i="0" u="none" strike="noStrike" dirty="0">
                          <a:solidFill>
                            <a:srgbClr val="000000"/>
                          </a:solidFill>
                          <a:effectLst/>
                          <a:latin typeface="Arial"/>
                        </a:rPr>
                        <a:t>1. </a:t>
                      </a:r>
                      <a:r>
                        <a:rPr lang="en-US" sz="1000" b="0" i="0" u="none" strike="noStrike" dirty="0" smtClean="0">
                          <a:solidFill>
                            <a:srgbClr val="000000"/>
                          </a:solidFill>
                          <a:effectLst/>
                          <a:latin typeface="Arial"/>
                        </a:rPr>
                        <a:t>subtract </a:t>
                      </a:r>
                      <a:r>
                        <a:rPr lang="en-US" sz="1000" b="0" i="0" u="none" strike="noStrike" dirty="0">
                          <a:solidFill>
                            <a:srgbClr val="000000"/>
                          </a:solidFill>
                          <a:effectLst/>
                          <a:latin typeface="Arial"/>
                        </a:rPr>
                        <a:t>Curt </a:t>
                      </a:r>
                      <a:r>
                        <a:rPr lang="en-US" sz="1000" b="0" i="0" u="none" strike="noStrike" dirty="0" err="1">
                          <a:solidFill>
                            <a:srgbClr val="000000"/>
                          </a:solidFill>
                          <a:effectLst/>
                          <a:latin typeface="Arial"/>
                        </a:rPr>
                        <a:t>smm</a:t>
                      </a:r>
                      <a:endParaRPr lang="en-US" sz="1000" dirty="0">
                        <a:effectLst/>
                      </a:endParaRPr>
                    </a:p>
                    <a:p>
                      <a:pPr rtl="0" fontAlgn="t">
                        <a:spcBef>
                          <a:spcPts val="0"/>
                        </a:spcBef>
                        <a:spcAft>
                          <a:spcPts val="0"/>
                        </a:spcAft>
                      </a:pPr>
                      <a:r>
                        <a:rPr lang="en-US" sz="1000" b="0" i="0" u="none" strike="noStrike" dirty="0">
                          <a:solidFill>
                            <a:srgbClr val="000000"/>
                          </a:solidFill>
                          <a:effectLst/>
                          <a:latin typeface="Arial"/>
                        </a:rPr>
                        <a:t>2. weighted mean</a:t>
                      </a:r>
                      <a:endParaRPr lang="en-US" sz="1000" dirty="0">
                        <a:effectLst/>
                      </a:endParaRPr>
                    </a:p>
                  </a:txBody>
                  <a:tcPr marL="81212" marR="81212" marT="81212" marB="8121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02373">
                <a:tc>
                  <a:txBody>
                    <a:bodyPr/>
                    <a:lstStyle/>
                    <a:p>
                      <a:pPr rtl="0" fontAlgn="t">
                        <a:spcBef>
                          <a:spcPts val="0"/>
                        </a:spcBef>
                        <a:spcAft>
                          <a:spcPts val="0"/>
                        </a:spcAft>
                      </a:pPr>
                      <a:r>
                        <a:rPr lang="en-US" sz="1000" b="0" i="0" u="none" strike="noStrike" dirty="0" err="1">
                          <a:solidFill>
                            <a:srgbClr val="000000"/>
                          </a:solidFill>
                          <a:effectLst/>
                          <a:latin typeface="Arial"/>
                        </a:rPr>
                        <a:t>cltv</a:t>
                      </a:r>
                      <a:endParaRPr lang="en-US" sz="1000" dirty="0">
                        <a:effectLst/>
                      </a:endParaRPr>
                    </a:p>
                  </a:txBody>
                  <a:tcPr marL="81212" marR="81212" marT="81212" marB="8121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rowSpan="3">
                  <a:txBody>
                    <a:bodyPr/>
                    <a:lstStyle/>
                    <a:p>
                      <a:pPr rtl="0" fontAlgn="t">
                        <a:spcBef>
                          <a:spcPts val="0"/>
                        </a:spcBef>
                        <a:spcAft>
                          <a:spcPts val="0"/>
                        </a:spcAft>
                      </a:pPr>
                      <a:r>
                        <a:rPr lang="en-US" sz="1000" b="0" i="0" u="none" strike="noStrike" dirty="0">
                          <a:solidFill>
                            <a:srgbClr val="000000"/>
                          </a:solidFill>
                          <a:effectLst/>
                          <a:latin typeface="Arial"/>
                        </a:rPr>
                        <a:t>1. bucket WA</a:t>
                      </a:r>
                      <a:endParaRPr lang="en-US" sz="1000" dirty="0">
                        <a:effectLst/>
                      </a:endParaRPr>
                    </a:p>
                    <a:p>
                      <a:pPr rtl="0" fontAlgn="t">
                        <a:spcBef>
                          <a:spcPts val="0"/>
                        </a:spcBef>
                        <a:spcAft>
                          <a:spcPts val="0"/>
                        </a:spcAft>
                      </a:pPr>
                      <a:r>
                        <a:rPr lang="en-US" sz="1000" b="0" i="0" u="none" strike="noStrike" dirty="0">
                          <a:solidFill>
                            <a:srgbClr val="000000"/>
                          </a:solidFill>
                          <a:effectLst/>
                          <a:latin typeface="Arial"/>
                        </a:rPr>
                        <a:t>2. spline</a:t>
                      </a:r>
                      <a:endParaRPr lang="en-US" sz="1000" dirty="0">
                        <a:effectLst/>
                      </a:endParaRPr>
                    </a:p>
                    <a:p>
                      <a:pPr rtl="0" fontAlgn="t">
                        <a:spcBef>
                          <a:spcPts val="0"/>
                        </a:spcBef>
                        <a:spcAft>
                          <a:spcPts val="0"/>
                        </a:spcAft>
                      </a:pPr>
                      <a:r>
                        <a:rPr lang="en-US" sz="1000" b="0" i="0" u="none" strike="noStrike" dirty="0">
                          <a:solidFill>
                            <a:srgbClr val="000000"/>
                          </a:solidFill>
                          <a:effectLst/>
                          <a:latin typeface="Arial"/>
                        </a:rPr>
                        <a:t>3. least square </a:t>
                      </a:r>
                      <a:r>
                        <a:rPr lang="en-US" sz="1000" b="0" i="0" u="none" strike="noStrike" dirty="0" smtClean="0">
                          <a:solidFill>
                            <a:srgbClr val="000000"/>
                          </a:solidFill>
                          <a:effectLst/>
                          <a:latin typeface="Arial"/>
                        </a:rPr>
                        <a:t>optimal</a:t>
                      </a:r>
                      <a:endParaRPr lang="en-US" sz="1000" dirty="0">
                        <a:effectLst/>
                      </a:endParaRPr>
                    </a:p>
                  </a:txBody>
                  <a:tcPr marL="81212" marR="81212" marT="81212" marB="8121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02373">
                <a:tc>
                  <a:txBody>
                    <a:bodyPr/>
                    <a:lstStyle/>
                    <a:p>
                      <a:pPr rtl="0" fontAlgn="t">
                        <a:spcBef>
                          <a:spcPts val="0"/>
                        </a:spcBef>
                        <a:spcAft>
                          <a:spcPts val="0"/>
                        </a:spcAft>
                      </a:pPr>
                      <a:r>
                        <a:rPr lang="en-US" sz="1000" b="0" i="0" u="none" strike="noStrike">
                          <a:solidFill>
                            <a:srgbClr val="000000"/>
                          </a:solidFill>
                          <a:effectLst/>
                          <a:latin typeface="Arial"/>
                        </a:rPr>
                        <a:t>wala</a:t>
                      </a:r>
                      <a:endParaRPr lang="en-US" sz="1000">
                        <a:effectLst/>
                      </a:endParaRPr>
                    </a:p>
                  </a:txBody>
                  <a:tcPr marL="81212" marR="81212" marT="81212" marB="8121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vMerge="1">
                  <a:txBody>
                    <a:bodyPr/>
                    <a:lstStyle/>
                    <a:p>
                      <a:endParaRPr lang="en-US"/>
                    </a:p>
                  </a:txBody>
                  <a:tcPr/>
                </a:tc>
              </a:tr>
              <a:tr h="487039">
                <a:tc>
                  <a:txBody>
                    <a:bodyPr/>
                    <a:lstStyle/>
                    <a:p>
                      <a:pPr rtl="0" fontAlgn="t">
                        <a:spcBef>
                          <a:spcPts val="0"/>
                        </a:spcBef>
                        <a:spcAft>
                          <a:spcPts val="0"/>
                        </a:spcAft>
                      </a:pPr>
                      <a:r>
                        <a:rPr lang="en-US" sz="1000" b="0" i="0" u="none" strike="noStrike" dirty="0">
                          <a:solidFill>
                            <a:srgbClr val="000000"/>
                          </a:solidFill>
                          <a:effectLst/>
                          <a:latin typeface="Arial"/>
                        </a:rPr>
                        <a:t>fico</a:t>
                      </a:r>
                      <a:endParaRPr lang="en-US" sz="1000" dirty="0">
                        <a:effectLst/>
                      </a:endParaRPr>
                    </a:p>
                  </a:txBody>
                  <a:tcPr marL="81212" marR="81212" marT="81212" marB="8121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vMerge="1">
                  <a:txBody>
                    <a:bodyPr/>
                    <a:lstStyle/>
                    <a:p>
                      <a:endParaRPr lang="en-US"/>
                    </a:p>
                  </a:txBody>
                  <a:tcPr/>
                </a:tc>
              </a:tr>
            </a:tbl>
          </a:graphicData>
        </a:graphic>
      </p:graphicFrame>
      <p:sp>
        <p:nvSpPr>
          <p:cNvPr id="11" name="Rectangle 2"/>
          <p:cNvSpPr>
            <a:spLocks noChangeArrowheads="1"/>
          </p:cNvSpPr>
          <p:nvPr/>
        </p:nvSpPr>
        <p:spPr bwMode="auto">
          <a:xfrm>
            <a:off x="4205288" y="13091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cs typeface="Arial" pitchFamily="34" charset="0"/>
            </a:endParaRPr>
          </a:p>
        </p:txBody>
      </p:sp>
      <p:graphicFrame>
        <p:nvGraphicFramePr>
          <p:cNvPr id="12" name="Table 11"/>
          <p:cNvGraphicFramePr>
            <a:graphicFrameLocks noGrp="1"/>
          </p:cNvGraphicFramePr>
          <p:nvPr>
            <p:extLst>
              <p:ext uri="{D42A27DB-BD31-4B8C-83A1-F6EECF244321}">
                <p14:modId xmlns:p14="http://schemas.microsoft.com/office/powerpoint/2010/main" val="172493153"/>
              </p:ext>
            </p:extLst>
          </p:nvPr>
        </p:nvGraphicFramePr>
        <p:xfrm>
          <a:off x="5119967" y="2918143"/>
          <a:ext cx="2194560" cy="2156256"/>
        </p:xfrm>
        <a:graphic>
          <a:graphicData uri="http://schemas.openxmlformats.org/drawingml/2006/table">
            <a:tbl>
              <a:tblPr/>
              <a:tblGrid>
                <a:gridCol w="886265"/>
                <a:gridCol w="1308295"/>
              </a:tblGrid>
              <a:tr h="280563">
                <a:tc gridSpan="2">
                  <a:txBody>
                    <a:bodyPr/>
                    <a:lstStyle/>
                    <a:p>
                      <a:pPr rtl="0" fontAlgn="t">
                        <a:spcBef>
                          <a:spcPts val="0"/>
                        </a:spcBef>
                        <a:spcAft>
                          <a:spcPts val="0"/>
                        </a:spcAft>
                      </a:pPr>
                      <a:r>
                        <a:rPr lang="en-US" sz="1000" b="0" i="0" u="none" strike="noStrike" dirty="0" err="1">
                          <a:solidFill>
                            <a:srgbClr val="000000"/>
                          </a:solidFill>
                          <a:effectLst/>
                          <a:latin typeface="Arial" panose="020B0604020202020204" pitchFamily="34" charset="0"/>
                          <a:cs typeface="Arial" panose="020B0604020202020204" pitchFamily="34" charset="0"/>
                        </a:rPr>
                        <a:t>constSMM</a:t>
                      </a:r>
                      <a:r>
                        <a:rPr lang="en-US" sz="1000" b="0" i="0" u="none" strike="noStrike" dirty="0">
                          <a:solidFill>
                            <a:srgbClr val="000000"/>
                          </a:solidFill>
                          <a:effectLst/>
                          <a:latin typeface="Arial" panose="020B0604020202020204" pitchFamily="34" charset="0"/>
                          <a:cs typeface="Arial" panose="020B0604020202020204" pitchFamily="34" charset="0"/>
                        </a:rPr>
                        <a:t> * </a:t>
                      </a:r>
                      <a:r>
                        <a:rPr lang="en-US" sz="1000" b="0" i="0" u="none" strike="noStrike" dirty="0" err="1">
                          <a:solidFill>
                            <a:srgbClr val="000000"/>
                          </a:solidFill>
                          <a:effectLst/>
                          <a:latin typeface="Arial" panose="020B0604020202020204" pitchFamily="34" charset="0"/>
                          <a:cs typeface="Arial" panose="020B0604020202020204" pitchFamily="34" charset="0"/>
                        </a:rPr>
                        <a:t>wala</a:t>
                      </a:r>
                      <a:r>
                        <a:rPr lang="en-US" sz="1000" b="0" i="0" u="none" strike="noStrike" dirty="0">
                          <a:solidFill>
                            <a:srgbClr val="000000"/>
                          </a:solidFill>
                          <a:effectLst/>
                          <a:latin typeface="Arial" panose="020B0604020202020204" pitchFamily="34" charset="0"/>
                          <a:cs typeface="Arial" panose="020B0604020202020204" pitchFamily="34" charset="0"/>
                        </a:rPr>
                        <a:t> * incentive *</a:t>
                      </a:r>
                      <a:r>
                        <a:rPr lang="en-US" sz="1000" b="0" i="0" u="none" strike="noStrike" dirty="0" err="1">
                          <a:solidFill>
                            <a:srgbClr val="000000"/>
                          </a:solidFill>
                          <a:effectLst/>
                          <a:latin typeface="Arial" panose="020B0604020202020204" pitchFamily="34" charset="0"/>
                          <a:cs typeface="Arial" panose="020B0604020202020204" pitchFamily="34" charset="0"/>
                        </a:rPr>
                        <a:t>cltv</a:t>
                      </a:r>
                      <a:endParaRPr lang="en-US" sz="1000" dirty="0">
                        <a:effectLst/>
                        <a:latin typeface="Arial" panose="020B0604020202020204" pitchFamily="34" charset="0"/>
                        <a:cs typeface="Arial" panose="020B0604020202020204" pitchFamily="34" charset="0"/>
                      </a:endParaRPr>
                    </a:p>
                  </a:txBody>
                  <a:tcPr marL="78088" marR="78088" marT="78088" marB="78088">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hMerge="1">
                  <a:txBody>
                    <a:bodyPr/>
                    <a:lstStyle/>
                    <a:p>
                      <a:endParaRPr lang="en-US"/>
                    </a:p>
                  </a:txBody>
                  <a:tcPr/>
                </a:tc>
              </a:tr>
              <a:tr h="378869">
                <a:tc>
                  <a:txBody>
                    <a:bodyPr/>
                    <a:lstStyle/>
                    <a:p>
                      <a:pPr rtl="0" fontAlgn="t">
                        <a:spcBef>
                          <a:spcPts val="0"/>
                        </a:spcBef>
                        <a:spcAft>
                          <a:spcPts val="0"/>
                        </a:spcAft>
                      </a:pPr>
                      <a:r>
                        <a:rPr lang="en-US" sz="1000" b="0" i="0" u="none" strike="noStrike" dirty="0">
                          <a:solidFill>
                            <a:srgbClr val="000000"/>
                          </a:solidFill>
                          <a:effectLst/>
                          <a:latin typeface="Arial" panose="020B0604020202020204" pitchFamily="34" charset="0"/>
                          <a:cs typeface="Arial" panose="020B0604020202020204" pitchFamily="34" charset="0"/>
                        </a:rPr>
                        <a:t>seasonality </a:t>
                      </a:r>
                      <a:endParaRPr lang="en-US" sz="1000" dirty="0">
                        <a:effectLst/>
                        <a:latin typeface="Arial" panose="020B0604020202020204" pitchFamily="34" charset="0"/>
                        <a:cs typeface="Arial" panose="020B0604020202020204" pitchFamily="34" charset="0"/>
                      </a:endParaRPr>
                    </a:p>
                  </a:txBody>
                  <a:tcPr marL="78088" marR="78088" marT="78088" marB="78088">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rtl="0" fontAlgn="t">
                        <a:spcBef>
                          <a:spcPts val="0"/>
                        </a:spcBef>
                        <a:spcAft>
                          <a:spcPts val="0"/>
                        </a:spcAft>
                      </a:pPr>
                      <a:r>
                        <a:rPr lang="en-US" sz="1000" b="0" i="0" u="none" strike="noStrike" dirty="0">
                          <a:solidFill>
                            <a:srgbClr val="000000"/>
                          </a:solidFill>
                          <a:effectLst/>
                          <a:latin typeface="Arial" panose="020B0604020202020204" pitchFamily="34" charset="0"/>
                          <a:cs typeface="Arial" panose="020B0604020202020204" pitchFamily="34" charset="0"/>
                        </a:rPr>
                        <a:t>1. </a:t>
                      </a:r>
                      <a:r>
                        <a:rPr lang="en-US" sz="1000" b="0" i="0" u="none" strike="noStrike" dirty="0" smtClean="0">
                          <a:solidFill>
                            <a:srgbClr val="000000"/>
                          </a:solidFill>
                          <a:effectLst/>
                          <a:latin typeface="Arial" panose="020B0604020202020204" pitchFamily="34" charset="0"/>
                          <a:cs typeface="Arial" panose="020B0604020202020204" pitchFamily="34" charset="0"/>
                        </a:rPr>
                        <a:t>Su</a:t>
                      </a:r>
                      <a:r>
                        <a:rPr lang="en-US" sz="1000" b="0" i="0" u="none" strike="noStrike" baseline="0" dirty="0" smtClean="0">
                          <a:solidFill>
                            <a:srgbClr val="000000"/>
                          </a:solidFill>
                          <a:effectLst/>
                          <a:latin typeface="Arial" panose="020B0604020202020204" pitchFamily="34" charset="0"/>
                          <a:cs typeface="Arial" panose="020B0604020202020204" pitchFamily="34" charset="0"/>
                        </a:rPr>
                        <a:t>b</a:t>
                      </a:r>
                      <a:r>
                        <a:rPr lang="en-US" sz="1000" b="0" i="0" u="none" strike="noStrike" dirty="0" smtClean="0">
                          <a:solidFill>
                            <a:srgbClr val="000000"/>
                          </a:solidFill>
                          <a:effectLst/>
                          <a:latin typeface="Arial" panose="020B0604020202020204" pitchFamily="34" charset="0"/>
                          <a:cs typeface="Arial" panose="020B0604020202020204" pitchFamily="34" charset="0"/>
                        </a:rPr>
                        <a:t>tract </a:t>
                      </a:r>
                      <a:r>
                        <a:rPr lang="en-US" sz="1000" b="0" i="0" u="none" strike="noStrike" dirty="0">
                          <a:solidFill>
                            <a:srgbClr val="000000"/>
                          </a:solidFill>
                          <a:effectLst/>
                          <a:latin typeface="Arial" panose="020B0604020202020204" pitchFamily="34" charset="0"/>
                          <a:cs typeface="Arial" panose="020B0604020202020204" pitchFamily="34" charset="0"/>
                        </a:rPr>
                        <a:t>Curt and </a:t>
                      </a:r>
                      <a:r>
                        <a:rPr lang="en-US" sz="1000" b="0" i="0" u="none" strike="noStrike" dirty="0" err="1">
                          <a:solidFill>
                            <a:srgbClr val="000000"/>
                          </a:solidFill>
                          <a:effectLst/>
                          <a:latin typeface="Arial" panose="020B0604020202020204" pitchFamily="34" charset="0"/>
                          <a:cs typeface="Arial" panose="020B0604020202020204" pitchFamily="34" charset="0"/>
                        </a:rPr>
                        <a:t>Dflt</a:t>
                      </a:r>
                      <a:r>
                        <a:rPr lang="en-US" sz="1000" b="0" i="0" u="none" strike="noStrike" dirty="0">
                          <a:solidFill>
                            <a:srgbClr val="000000"/>
                          </a:solidFill>
                          <a:effectLst/>
                          <a:latin typeface="Arial" panose="020B0604020202020204" pitchFamily="34" charset="0"/>
                          <a:cs typeface="Arial" panose="020B0604020202020204" pitchFamily="34" charset="0"/>
                        </a:rPr>
                        <a:t> </a:t>
                      </a:r>
                      <a:r>
                        <a:rPr lang="en-US" sz="1000" b="0" i="0" u="none" strike="noStrike" dirty="0" err="1">
                          <a:solidFill>
                            <a:srgbClr val="000000"/>
                          </a:solidFill>
                          <a:effectLst/>
                          <a:latin typeface="Arial" panose="020B0604020202020204" pitchFamily="34" charset="0"/>
                          <a:cs typeface="Arial" panose="020B0604020202020204" pitchFamily="34" charset="0"/>
                        </a:rPr>
                        <a:t>smm</a:t>
                      </a:r>
                      <a:endParaRPr lang="en-US" sz="1000" dirty="0">
                        <a:effectLst/>
                        <a:latin typeface="Arial" panose="020B0604020202020204" pitchFamily="34" charset="0"/>
                        <a:cs typeface="Arial" panose="020B0604020202020204" pitchFamily="34" charset="0"/>
                      </a:endParaRPr>
                    </a:p>
                    <a:p>
                      <a:pPr rtl="0" fontAlgn="t">
                        <a:spcBef>
                          <a:spcPts val="0"/>
                        </a:spcBef>
                        <a:spcAft>
                          <a:spcPts val="0"/>
                        </a:spcAft>
                      </a:pPr>
                      <a:r>
                        <a:rPr lang="en-US" sz="1000" b="0" i="0" u="none" strike="noStrike" dirty="0">
                          <a:solidFill>
                            <a:srgbClr val="000000"/>
                          </a:solidFill>
                          <a:effectLst/>
                          <a:latin typeface="Arial" panose="020B0604020202020204" pitchFamily="34" charset="0"/>
                          <a:cs typeface="Arial" panose="020B0604020202020204" pitchFamily="34" charset="0"/>
                        </a:rPr>
                        <a:t>2. </a:t>
                      </a:r>
                      <a:r>
                        <a:rPr lang="en-US" sz="1000" b="0" i="0" u="none" strike="noStrike" dirty="0" err="1" smtClean="0">
                          <a:solidFill>
                            <a:srgbClr val="000000"/>
                          </a:solidFill>
                          <a:effectLst/>
                          <a:latin typeface="Arial" panose="020B0604020202020204" pitchFamily="34" charset="0"/>
                          <a:cs typeface="Arial" panose="020B0604020202020204" pitchFamily="34" charset="0"/>
                        </a:rPr>
                        <a:t>Deseasonal</a:t>
                      </a:r>
                      <a:endParaRPr lang="en-US" sz="1000" dirty="0">
                        <a:effectLst/>
                        <a:latin typeface="Arial" panose="020B0604020202020204" pitchFamily="34" charset="0"/>
                        <a:cs typeface="Arial" panose="020B0604020202020204" pitchFamily="34" charset="0"/>
                      </a:endParaRPr>
                    </a:p>
                  </a:txBody>
                  <a:tcPr marL="78088" marR="78088" marT="78088" marB="78088">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80563">
                <a:tc>
                  <a:txBody>
                    <a:bodyPr/>
                    <a:lstStyle/>
                    <a:p>
                      <a:pPr rtl="0" fontAlgn="t">
                        <a:spcBef>
                          <a:spcPts val="0"/>
                        </a:spcBef>
                        <a:spcAft>
                          <a:spcPts val="0"/>
                        </a:spcAft>
                      </a:pPr>
                      <a:r>
                        <a:rPr lang="en-US" sz="1000" b="0" i="0" u="none" strike="noStrike" dirty="0" err="1">
                          <a:solidFill>
                            <a:srgbClr val="000000"/>
                          </a:solidFill>
                          <a:effectLst/>
                          <a:latin typeface="Arial" panose="020B0604020202020204" pitchFamily="34" charset="0"/>
                          <a:cs typeface="Arial" panose="020B0604020202020204" pitchFamily="34" charset="0"/>
                        </a:rPr>
                        <a:t>constSMM</a:t>
                      </a:r>
                      <a:r>
                        <a:rPr lang="en-US" sz="1000" b="0" i="0" u="none" strike="noStrike" dirty="0">
                          <a:solidFill>
                            <a:srgbClr val="000000"/>
                          </a:solidFill>
                          <a:effectLst/>
                          <a:latin typeface="Arial" panose="020B0604020202020204" pitchFamily="34" charset="0"/>
                          <a:cs typeface="Arial" panose="020B0604020202020204" pitchFamily="34" charset="0"/>
                        </a:rPr>
                        <a:t> </a:t>
                      </a:r>
                      <a:endParaRPr lang="en-US" sz="1000" dirty="0">
                        <a:effectLst/>
                        <a:latin typeface="Arial" panose="020B0604020202020204" pitchFamily="34" charset="0"/>
                        <a:cs typeface="Arial" panose="020B0604020202020204" pitchFamily="34" charset="0"/>
                      </a:endParaRPr>
                    </a:p>
                  </a:txBody>
                  <a:tcPr marL="78088" marR="78088" marT="78088" marB="78088">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rtl="0" fontAlgn="t">
                        <a:spcBef>
                          <a:spcPts val="0"/>
                        </a:spcBef>
                        <a:spcAft>
                          <a:spcPts val="0"/>
                        </a:spcAft>
                      </a:pPr>
                      <a:r>
                        <a:rPr lang="en-US" sz="1000" b="0" i="0" u="none" strike="noStrike" dirty="0">
                          <a:solidFill>
                            <a:srgbClr val="000000"/>
                          </a:solidFill>
                          <a:effectLst/>
                          <a:latin typeface="Arial" panose="020B0604020202020204" pitchFamily="34" charset="0"/>
                          <a:cs typeface="Arial" panose="020B0604020202020204" pitchFamily="34" charset="0"/>
                        </a:rPr>
                        <a:t>1.weighted mean</a:t>
                      </a:r>
                      <a:endParaRPr lang="en-US" sz="1000" dirty="0">
                        <a:effectLst/>
                        <a:latin typeface="Arial" panose="020B0604020202020204" pitchFamily="34" charset="0"/>
                        <a:cs typeface="Arial" panose="020B0604020202020204" pitchFamily="34" charset="0"/>
                      </a:endParaRPr>
                    </a:p>
                  </a:txBody>
                  <a:tcPr marL="78088" marR="78088" marT="78088" marB="78088">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182257">
                <a:tc>
                  <a:txBody>
                    <a:bodyPr/>
                    <a:lstStyle/>
                    <a:p>
                      <a:pPr rtl="0" fontAlgn="t">
                        <a:spcBef>
                          <a:spcPts val="0"/>
                        </a:spcBef>
                        <a:spcAft>
                          <a:spcPts val="0"/>
                        </a:spcAft>
                      </a:pPr>
                      <a:r>
                        <a:rPr lang="en-US" sz="1000" b="0" i="0" u="none" strike="noStrike" dirty="0" err="1">
                          <a:solidFill>
                            <a:srgbClr val="000000"/>
                          </a:solidFill>
                          <a:effectLst/>
                          <a:latin typeface="Arial" panose="020B0604020202020204" pitchFamily="34" charset="0"/>
                          <a:cs typeface="Arial" panose="020B0604020202020204" pitchFamily="34" charset="0"/>
                        </a:rPr>
                        <a:t>wala</a:t>
                      </a:r>
                      <a:endParaRPr lang="en-US" sz="1000" dirty="0">
                        <a:effectLst/>
                        <a:latin typeface="Arial" panose="020B0604020202020204" pitchFamily="34" charset="0"/>
                        <a:cs typeface="Arial" panose="020B0604020202020204" pitchFamily="34" charset="0"/>
                      </a:endParaRPr>
                    </a:p>
                  </a:txBody>
                  <a:tcPr marL="78088" marR="78088" marT="78088" marB="78088">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rowSpan="3">
                  <a:txBody>
                    <a:bodyPr/>
                    <a:lstStyle/>
                    <a:p>
                      <a:pPr rtl="0" fontAlgn="t">
                        <a:spcBef>
                          <a:spcPts val="0"/>
                        </a:spcBef>
                        <a:spcAft>
                          <a:spcPts val="0"/>
                        </a:spcAft>
                      </a:pPr>
                      <a:r>
                        <a:rPr lang="en-US" sz="1000" b="0" i="0" u="none" strike="noStrike" dirty="0">
                          <a:solidFill>
                            <a:srgbClr val="000000"/>
                          </a:solidFill>
                          <a:effectLst/>
                          <a:latin typeface="Arial" panose="020B0604020202020204" pitchFamily="34" charset="0"/>
                          <a:cs typeface="Arial" panose="020B0604020202020204" pitchFamily="34" charset="0"/>
                        </a:rPr>
                        <a:t>1. bucket WA</a:t>
                      </a:r>
                      <a:endParaRPr lang="en-US" sz="1000" dirty="0">
                        <a:effectLst/>
                        <a:latin typeface="Arial" panose="020B0604020202020204" pitchFamily="34" charset="0"/>
                        <a:cs typeface="Arial" panose="020B0604020202020204" pitchFamily="34" charset="0"/>
                      </a:endParaRPr>
                    </a:p>
                    <a:p>
                      <a:pPr rtl="0" fontAlgn="t">
                        <a:spcBef>
                          <a:spcPts val="0"/>
                        </a:spcBef>
                        <a:spcAft>
                          <a:spcPts val="0"/>
                        </a:spcAft>
                      </a:pPr>
                      <a:r>
                        <a:rPr lang="en-US" sz="1000" b="0" i="0" u="none" strike="noStrike" dirty="0">
                          <a:solidFill>
                            <a:srgbClr val="000000"/>
                          </a:solidFill>
                          <a:effectLst/>
                          <a:latin typeface="Arial" panose="020B0604020202020204" pitchFamily="34" charset="0"/>
                          <a:cs typeface="Arial" panose="020B0604020202020204" pitchFamily="34" charset="0"/>
                        </a:rPr>
                        <a:t>2. spline</a:t>
                      </a:r>
                      <a:endParaRPr lang="en-US" sz="1000" dirty="0">
                        <a:effectLst/>
                        <a:latin typeface="Arial" panose="020B0604020202020204" pitchFamily="34" charset="0"/>
                        <a:cs typeface="Arial" panose="020B0604020202020204" pitchFamily="34" charset="0"/>
                      </a:endParaRPr>
                    </a:p>
                    <a:p>
                      <a:pPr rtl="0" fontAlgn="t">
                        <a:spcBef>
                          <a:spcPts val="0"/>
                        </a:spcBef>
                        <a:spcAft>
                          <a:spcPts val="0"/>
                        </a:spcAft>
                      </a:pPr>
                      <a:r>
                        <a:rPr lang="en-US" sz="1000" b="0" i="0" u="none" strike="noStrike" dirty="0">
                          <a:solidFill>
                            <a:srgbClr val="000000"/>
                          </a:solidFill>
                          <a:effectLst/>
                          <a:latin typeface="Arial" panose="020B0604020202020204" pitchFamily="34" charset="0"/>
                          <a:cs typeface="Arial" panose="020B0604020202020204" pitchFamily="34" charset="0"/>
                        </a:rPr>
                        <a:t>3. least square optimal</a:t>
                      </a:r>
                      <a:endParaRPr lang="en-US" sz="1000" dirty="0">
                        <a:effectLst/>
                        <a:latin typeface="Arial" panose="020B0604020202020204" pitchFamily="34" charset="0"/>
                        <a:cs typeface="Arial" panose="020B0604020202020204" pitchFamily="34" charset="0"/>
                      </a:endParaRPr>
                    </a:p>
                  </a:txBody>
                  <a:tcPr marL="78088" marR="78088" marT="78088" marB="78088">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80563">
                <a:tc>
                  <a:txBody>
                    <a:bodyPr/>
                    <a:lstStyle/>
                    <a:p>
                      <a:pPr rtl="0" fontAlgn="t">
                        <a:spcBef>
                          <a:spcPts val="0"/>
                        </a:spcBef>
                        <a:spcAft>
                          <a:spcPts val="0"/>
                        </a:spcAft>
                      </a:pPr>
                      <a:r>
                        <a:rPr lang="en-US" sz="1000" b="0" i="0" u="none" strike="noStrike" dirty="0" smtClean="0">
                          <a:solidFill>
                            <a:srgbClr val="000000"/>
                          </a:solidFill>
                          <a:effectLst/>
                          <a:latin typeface="Arial" panose="020B0604020202020204" pitchFamily="34" charset="0"/>
                          <a:cs typeface="Arial" panose="020B0604020202020204" pitchFamily="34" charset="0"/>
                        </a:rPr>
                        <a:t>incentive</a:t>
                      </a:r>
                      <a:endParaRPr lang="en-US" sz="1000" dirty="0">
                        <a:effectLst/>
                        <a:latin typeface="Arial" panose="020B0604020202020204" pitchFamily="34" charset="0"/>
                        <a:cs typeface="Arial" panose="020B0604020202020204" pitchFamily="34" charset="0"/>
                      </a:endParaRPr>
                    </a:p>
                  </a:txBody>
                  <a:tcPr marL="78088" marR="78088" marT="78088" marB="78088">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vMerge="1">
                  <a:txBody>
                    <a:bodyPr/>
                    <a:lstStyle/>
                    <a:p>
                      <a:endParaRPr lang="en-US"/>
                    </a:p>
                  </a:txBody>
                  <a:tcPr/>
                </a:tc>
              </a:tr>
              <a:tr h="182257">
                <a:tc>
                  <a:txBody>
                    <a:bodyPr/>
                    <a:lstStyle/>
                    <a:p>
                      <a:pPr rtl="0" fontAlgn="t">
                        <a:spcBef>
                          <a:spcPts val="0"/>
                        </a:spcBef>
                        <a:spcAft>
                          <a:spcPts val="0"/>
                        </a:spcAft>
                      </a:pPr>
                      <a:r>
                        <a:rPr lang="en-US" sz="1000" b="0" i="0" u="none" strike="noStrike" dirty="0" err="1">
                          <a:solidFill>
                            <a:srgbClr val="000000"/>
                          </a:solidFill>
                          <a:effectLst/>
                          <a:latin typeface="Arial" panose="020B0604020202020204" pitchFamily="34" charset="0"/>
                          <a:cs typeface="Arial" panose="020B0604020202020204" pitchFamily="34" charset="0"/>
                        </a:rPr>
                        <a:t>cltv</a:t>
                      </a:r>
                      <a:endParaRPr lang="en-US" sz="1000" dirty="0">
                        <a:effectLst/>
                        <a:latin typeface="Arial" panose="020B0604020202020204" pitchFamily="34" charset="0"/>
                        <a:cs typeface="Arial" panose="020B0604020202020204" pitchFamily="34" charset="0"/>
                      </a:endParaRPr>
                    </a:p>
                  </a:txBody>
                  <a:tcPr marL="78088" marR="78088" marT="78088" marB="78088">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vMerge="1">
                  <a:txBody>
                    <a:bodyPr/>
                    <a:lstStyle/>
                    <a:p>
                      <a:endParaRPr lang="en-US"/>
                    </a:p>
                  </a:txBody>
                  <a:tcPr/>
                </a:tc>
              </a:tr>
            </a:tbl>
          </a:graphicData>
        </a:graphic>
      </p:graphicFrame>
      <p:sp>
        <p:nvSpPr>
          <p:cNvPr id="13" name="Rectangle 3"/>
          <p:cNvSpPr>
            <a:spLocks noChangeArrowheads="1"/>
          </p:cNvSpPr>
          <p:nvPr/>
        </p:nvSpPr>
        <p:spPr bwMode="auto">
          <a:xfrm>
            <a:off x="4216400" y="1265238"/>
            <a:ext cx="10058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itchFamily="34" charset="0"/>
              <a:cs typeface="Arial" pitchFamily="34" charset="0"/>
            </a:endParaRPr>
          </a:p>
        </p:txBody>
      </p:sp>
      <p:graphicFrame>
        <p:nvGraphicFramePr>
          <p:cNvPr id="14" name="Table 13"/>
          <p:cNvGraphicFramePr>
            <a:graphicFrameLocks noGrp="1"/>
          </p:cNvGraphicFramePr>
          <p:nvPr>
            <p:extLst>
              <p:ext uri="{D42A27DB-BD31-4B8C-83A1-F6EECF244321}">
                <p14:modId xmlns:p14="http://schemas.microsoft.com/office/powerpoint/2010/main" val="1811730197"/>
              </p:ext>
            </p:extLst>
          </p:nvPr>
        </p:nvGraphicFramePr>
        <p:xfrm>
          <a:off x="7491833" y="2918143"/>
          <a:ext cx="2194560" cy="2817200"/>
        </p:xfrm>
        <a:graphic>
          <a:graphicData uri="http://schemas.openxmlformats.org/drawingml/2006/table">
            <a:tbl>
              <a:tblPr/>
              <a:tblGrid>
                <a:gridCol w="616344"/>
                <a:gridCol w="1578216"/>
              </a:tblGrid>
              <a:tr h="0">
                <a:tc gridSpan="2">
                  <a:txBody>
                    <a:bodyPr/>
                    <a:lstStyle/>
                    <a:p>
                      <a:pPr rtl="0" fontAlgn="t">
                        <a:spcBef>
                          <a:spcPts val="0"/>
                        </a:spcBef>
                        <a:spcAft>
                          <a:spcPts val="0"/>
                        </a:spcAft>
                      </a:pPr>
                      <a:r>
                        <a:rPr lang="en-US" sz="1000" b="0" i="0" u="none" strike="noStrike" dirty="0" err="1">
                          <a:solidFill>
                            <a:srgbClr val="000000"/>
                          </a:solidFill>
                          <a:effectLst/>
                          <a:latin typeface="Arial" panose="020B0604020202020204" pitchFamily="34" charset="0"/>
                          <a:cs typeface="Arial" panose="020B0604020202020204" pitchFamily="34" charset="0"/>
                        </a:rPr>
                        <a:t>constSMM</a:t>
                      </a:r>
                      <a:r>
                        <a:rPr lang="en-US" sz="1000" b="0" i="0" u="none" strike="noStrike" dirty="0">
                          <a:solidFill>
                            <a:srgbClr val="000000"/>
                          </a:solidFill>
                          <a:effectLst/>
                          <a:latin typeface="Arial" panose="020B0604020202020204" pitchFamily="34" charset="0"/>
                          <a:cs typeface="Arial" panose="020B0604020202020204" pitchFamily="34" charset="0"/>
                        </a:rPr>
                        <a:t> * incentive * </a:t>
                      </a:r>
                      <a:r>
                        <a:rPr lang="en-US" sz="1000" b="0" i="0" u="none" strike="noStrike" dirty="0" err="1">
                          <a:solidFill>
                            <a:srgbClr val="000000"/>
                          </a:solidFill>
                          <a:effectLst/>
                          <a:latin typeface="Arial" panose="020B0604020202020204" pitchFamily="34" charset="0"/>
                          <a:cs typeface="Arial" panose="020B0604020202020204" pitchFamily="34" charset="0"/>
                        </a:rPr>
                        <a:t>wala</a:t>
                      </a:r>
                      <a:r>
                        <a:rPr lang="en-US" sz="1000" b="0" i="0" u="none" strike="noStrike" dirty="0">
                          <a:solidFill>
                            <a:srgbClr val="000000"/>
                          </a:solidFill>
                          <a:effectLst/>
                          <a:latin typeface="Arial" panose="020B0604020202020204" pitchFamily="34" charset="0"/>
                          <a:cs typeface="Arial" panose="020B0604020202020204" pitchFamily="34" charset="0"/>
                        </a:rPr>
                        <a:t> * burnout * loan size * media * HPA</a:t>
                      </a:r>
                      <a:endParaRPr lang="en-US" sz="1000" dirty="0">
                        <a:effectLst/>
                        <a:latin typeface="Arial" panose="020B0604020202020204" pitchFamily="34" charset="0"/>
                        <a:cs typeface="Arial" panose="020B0604020202020204" pitchFamily="34" charset="0"/>
                      </a:endParaRPr>
                    </a:p>
                  </a:txBody>
                  <a:tcPr marL="52250" marR="52250" marT="52250" marB="52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hMerge="1">
                  <a:txBody>
                    <a:bodyPr/>
                    <a:lstStyle/>
                    <a:p>
                      <a:endParaRPr lang="en-US"/>
                    </a:p>
                  </a:txBody>
                  <a:tcPr/>
                </a:tc>
              </a:tr>
              <a:tr h="0">
                <a:tc>
                  <a:txBody>
                    <a:bodyPr/>
                    <a:lstStyle/>
                    <a:p>
                      <a:pPr rtl="0" fontAlgn="t">
                        <a:spcBef>
                          <a:spcPts val="0"/>
                        </a:spcBef>
                        <a:spcAft>
                          <a:spcPts val="0"/>
                        </a:spcAft>
                      </a:pPr>
                      <a:r>
                        <a:rPr lang="en-US" sz="1000" b="0" i="0" u="none" strike="noStrike">
                          <a:solidFill>
                            <a:srgbClr val="000000"/>
                          </a:solidFill>
                          <a:effectLst/>
                          <a:latin typeface="Arial" panose="020B0604020202020204" pitchFamily="34" charset="0"/>
                          <a:cs typeface="Arial" panose="020B0604020202020204" pitchFamily="34" charset="0"/>
                        </a:rPr>
                        <a:t>constSMM</a:t>
                      </a:r>
                      <a:endParaRPr lang="en-US" sz="1000">
                        <a:effectLst/>
                        <a:latin typeface="Arial" panose="020B0604020202020204" pitchFamily="34" charset="0"/>
                        <a:cs typeface="Arial" panose="020B0604020202020204" pitchFamily="34" charset="0"/>
                      </a:endParaRPr>
                    </a:p>
                  </a:txBody>
                  <a:tcPr marL="52250" marR="52250" marT="52250" marB="52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rtl="0" fontAlgn="t">
                        <a:spcBef>
                          <a:spcPts val="0"/>
                        </a:spcBef>
                        <a:spcAft>
                          <a:spcPts val="0"/>
                        </a:spcAft>
                      </a:pPr>
                      <a:r>
                        <a:rPr lang="en-US" sz="1000" b="0" i="0" u="none" strike="noStrike" dirty="0" smtClean="0">
                          <a:solidFill>
                            <a:srgbClr val="000000"/>
                          </a:solidFill>
                          <a:effectLst/>
                          <a:latin typeface="Arial" panose="020B0604020202020204" pitchFamily="34" charset="0"/>
                          <a:cs typeface="Arial" panose="020B0604020202020204" pitchFamily="34" charset="0"/>
                        </a:rPr>
                        <a:t>subtract </a:t>
                      </a:r>
                      <a:r>
                        <a:rPr lang="en-US" sz="1000" b="0" i="0" u="none" strike="noStrike" dirty="0">
                          <a:solidFill>
                            <a:srgbClr val="000000"/>
                          </a:solidFill>
                          <a:effectLst/>
                          <a:latin typeface="Arial" panose="020B0604020202020204" pitchFamily="34" charset="0"/>
                          <a:cs typeface="Arial" panose="020B0604020202020204" pitchFamily="34" charset="0"/>
                        </a:rPr>
                        <a:t>Curt, </a:t>
                      </a:r>
                      <a:r>
                        <a:rPr lang="en-US" sz="1000" b="0" i="0" u="none" strike="noStrike" dirty="0" err="1">
                          <a:solidFill>
                            <a:srgbClr val="000000"/>
                          </a:solidFill>
                          <a:effectLst/>
                          <a:latin typeface="Arial" panose="020B0604020202020204" pitchFamily="34" charset="0"/>
                          <a:cs typeface="Arial" panose="020B0604020202020204" pitchFamily="34" charset="0"/>
                        </a:rPr>
                        <a:t>Dflt</a:t>
                      </a:r>
                      <a:r>
                        <a:rPr lang="en-US" sz="1000" b="0" i="0" u="none" strike="noStrike" dirty="0">
                          <a:solidFill>
                            <a:srgbClr val="000000"/>
                          </a:solidFill>
                          <a:effectLst/>
                          <a:latin typeface="Arial" panose="020B0604020202020204" pitchFamily="34" charset="0"/>
                          <a:cs typeface="Arial" panose="020B0604020202020204" pitchFamily="34" charset="0"/>
                        </a:rPr>
                        <a:t> and Turn </a:t>
                      </a:r>
                      <a:r>
                        <a:rPr lang="en-US" sz="1000" b="0" i="0" u="none" strike="noStrike" dirty="0" err="1">
                          <a:solidFill>
                            <a:srgbClr val="000000"/>
                          </a:solidFill>
                          <a:effectLst/>
                          <a:latin typeface="Arial" panose="020B0604020202020204" pitchFamily="34" charset="0"/>
                          <a:cs typeface="Arial" panose="020B0604020202020204" pitchFamily="34" charset="0"/>
                        </a:rPr>
                        <a:t>smm</a:t>
                      </a:r>
                      <a:endParaRPr lang="en-US" sz="1000" dirty="0">
                        <a:effectLst/>
                        <a:latin typeface="Arial" panose="020B0604020202020204" pitchFamily="34" charset="0"/>
                        <a:cs typeface="Arial" panose="020B0604020202020204" pitchFamily="34" charset="0"/>
                      </a:endParaRPr>
                    </a:p>
                  </a:txBody>
                  <a:tcPr marL="52250" marR="52250" marT="52250" marB="52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0">
                <a:tc>
                  <a:txBody>
                    <a:bodyPr/>
                    <a:lstStyle/>
                    <a:p>
                      <a:pPr rtl="0" fontAlgn="t">
                        <a:spcBef>
                          <a:spcPts val="0"/>
                        </a:spcBef>
                        <a:spcAft>
                          <a:spcPts val="0"/>
                        </a:spcAft>
                      </a:pPr>
                      <a:r>
                        <a:rPr lang="en-US" sz="1000" b="0" i="0" u="none" strike="noStrike">
                          <a:solidFill>
                            <a:srgbClr val="000000"/>
                          </a:solidFill>
                          <a:effectLst/>
                          <a:latin typeface="Arial" panose="020B0604020202020204" pitchFamily="34" charset="0"/>
                          <a:cs typeface="Arial" panose="020B0604020202020204" pitchFamily="34" charset="0"/>
                        </a:rPr>
                        <a:t>incentive</a:t>
                      </a:r>
                      <a:endParaRPr lang="en-US" sz="1000">
                        <a:effectLst/>
                        <a:latin typeface="Arial" panose="020B0604020202020204" pitchFamily="34" charset="0"/>
                        <a:cs typeface="Arial" panose="020B0604020202020204" pitchFamily="34" charset="0"/>
                      </a:endParaRPr>
                    </a:p>
                  </a:txBody>
                  <a:tcPr marL="52250" marR="52250" marT="52250" marB="52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rowSpan="4">
                  <a:txBody>
                    <a:bodyPr/>
                    <a:lstStyle/>
                    <a:p>
                      <a:pPr rtl="0" fontAlgn="t">
                        <a:spcBef>
                          <a:spcPts val="0"/>
                        </a:spcBef>
                        <a:spcAft>
                          <a:spcPts val="0"/>
                        </a:spcAft>
                      </a:pPr>
                      <a:r>
                        <a:rPr lang="en-US" sz="1000" b="0" i="0" u="none" strike="noStrike">
                          <a:solidFill>
                            <a:srgbClr val="000000"/>
                          </a:solidFill>
                          <a:effectLst/>
                          <a:latin typeface="Arial" panose="020B0604020202020204" pitchFamily="34" charset="0"/>
                          <a:cs typeface="Arial" panose="020B0604020202020204" pitchFamily="34" charset="0"/>
                        </a:rPr>
                        <a:t>1. bucket WA</a:t>
                      </a:r>
                      <a:endParaRPr lang="en-US" sz="1000">
                        <a:effectLst/>
                        <a:latin typeface="Arial" panose="020B0604020202020204" pitchFamily="34" charset="0"/>
                        <a:cs typeface="Arial" panose="020B0604020202020204" pitchFamily="34" charset="0"/>
                      </a:endParaRPr>
                    </a:p>
                    <a:p>
                      <a:pPr rtl="0" fontAlgn="t">
                        <a:spcBef>
                          <a:spcPts val="0"/>
                        </a:spcBef>
                        <a:spcAft>
                          <a:spcPts val="0"/>
                        </a:spcAft>
                      </a:pPr>
                      <a:r>
                        <a:rPr lang="en-US" sz="1000" b="0" i="0" u="none" strike="noStrike">
                          <a:solidFill>
                            <a:srgbClr val="000000"/>
                          </a:solidFill>
                          <a:effectLst/>
                          <a:latin typeface="Arial" panose="020B0604020202020204" pitchFamily="34" charset="0"/>
                          <a:cs typeface="Arial" panose="020B0604020202020204" pitchFamily="34" charset="0"/>
                        </a:rPr>
                        <a:t>2. spline</a:t>
                      </a:r>
                      <a:endParaRPr lang="en-US" sz="1000">
                        <a:effectLst/>
                        <a:latin typeface="Arial" panose="020B0604020202020204" pitchFamily="34" charset="0"/>
                        <a:cs typeface="Arial" panose="020B0604020202020204" pitchFamily="34" charset="0"/>
                      </a:endParaRPr>
                    </a:p>
                    <a:p>
                      <a:pPr rtl="0" fontAlgn="t">
                        <a:spcBef>
                          <a:spcPts val="0"/>
                        </a:spcBef>
                        <a:spcAft>
                          <a:spcPts val="0"/>
                        </a:spcAft>
                      </a:pPr>
                      <a:r>
                        <a:rPr lang="en-US" sz="1000" b="0" i="0" u="none" strike="noStrike">
                          <a:solidFill>
                            <a:srgbClr val="000000"/>
                          </a:solidFill>
                          <a:effectLst/>
                          <a:latin typeface="Arial" panose="020B0604020202020204" pitchFamily="34" charset="0"/>
                          <a:cs typeface="Arial" panose="020B0604020202020204" pitchFamily="34" charset="0"/>
                        </a:rPr>
                        <a:t>3. least square optimal</a:t>
                      </a:r>
                      <a:endParaRPr lang="en-US" sz="1000">
                        <a:effectLst/>
                        <a:latin typeface="Arial" panose="020B0604020202020204" pitchFamily="34" charset="0"/>
                        <a:cs typeface="Arial" panose="020B0604020202020204" pitchFamily="34" charset="0"/>
                      </a:endParaRPr>
                    </a:p>
                  </a:txBody>
                  <a:tcPr marL="52250" marR="52250" marT="52250" marB="52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0">
                <a:tc>
                  <a:txBody>
                    <a:bodyPr/>
                    <a:lstStyle/>
                    <a:p>
                      <a:pPr rtl="0" fontAlgn="t">
                        <a:spcBef>
                          <a:spcPts val="0"/>
                        </a:spcBef>
                        <a:spcAft>
                          <a:spcPts val="0"/>
                        </a:spcAft>
                      </a:pPr>
                      <a:r>
                        <a:rPr lang="en-US" sz="1000" b="0" i="0" u="none" strike="noStrike">
                          <a:solidFill>
                            <a:srgbClr val="000000"/>
                          </a:solidFill>
                          <a:effectLst/>
                          <a:latin typeface="Arial" panose="020B0604020202020204" pitchFamily="34" charset="0"/>
                          <a:cs typeface="Arial" panose="020B0604020202020204" pitchFamily="34" charset="0"/>
                        </a:rPr>
                        <a:t>wala</a:t>
                      </a:r>
                      <a:endParaRPr lang="en-US" sz="1000">
                        <a:effectLst/>
                        <a:latin typeface="Arial" panose="020B0604020202020204" pitchFamily="34" charset="0"/>
                        <a:cs typeface="Arial" panose="020B0604020202020204" pitchFamily="34" charset="0"/>
                      </a:endParaRPr>
                    </a:p>
                  </a:txBody>
                  <a:tcPr marL="52250" marR="52250" marT="52250" marB="52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vMerge="1">
                  <a:txBody>
                    <a:bodyPr/>
                    <a:lstStyle/>
                    <a:p>
                      <a:endParaRPr lang="en-US"/>
                    </a:p>
                  </a:txBody>
                  <a:tcPr/>
                </a:tc>
              </a:tr>
              <a:tr h="0">
                <a:tc>
                  <a:txBody>
                    <a:bodyPr/>
                    <a:lstStyle/>
                    <a:p>
                      <a:pPr rtl="0" fontAlgn="t">
                        <a:spcBef>
                          <a:spcPts val="0"/>
                        </a:spcBef>
                        <a:spcAft>
                          <a:spcPts val="0"/>
                        </a:spcAft>
                      </a:pPr>
                      <a:r>
                        <a:rPr lang="en-US" sz="1000" b="0" i="0" u="none" strike="noStrike">
                          <a:solidFill>
                            <a:srgbClr val="000000"/>
                          </a:solidFill>
                          <a:effectLst/>
                          <a:latin typeface="Arial" panose="020B0604020202020204" pitchFamily="34" charset="0"/>
                          <a:cs typeface="Arial" panose="020B0604020202020204" pitchFamily="34" charset="0"/>
                        </a:rPr>
                        <a:t>burnout</a:t>
                      </a:r>
                      <a:endParaRPr lang="en-US" sz="1000">
                        <a:effectLst/>
                        <a:latin typeface="Arial" panose="020B0604020202020204" pitchFamily="34" charset="0"/>
                        <a:cs typeface="Arial" panose="020B0604020202020204" pitchFamily="34" charset="0"/>
                      </a:endParaRPr>
                    </a:p>
                  </a:txBody>
                  <a:tcPr marL="52250" marR="52250" marT="52250" marB="52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vMerge="1">
                  <a:txBody>
                    <a:bodyPr/>
                    <a:lstStyle/>
                    <a:p>
                      <a:endParaRPr lang="en-US"/>
                    </a:p>
                  </a:txBody>
                  <a:tcPr/>
                </a:tc>
              </a:tr>
              <a:tr h="0">
                <a:tc>
                  <a:txBody>
                    <a:bodyPr/>
                    <a:lstStyle/>
                    <a:p>
                      <a:pPr rtl="0" fontAlgn="t">
                        <a:spcBef>
                          <a:spcPts val="0"/>
                        </a:spcBef>
                        <a:spcAft>
                          <a:spcPts val="0"/>
                        </a:spcAft>
                      </a:pPr>
                      <a:r>
                        <a:rPr lang="en-US" sz="1000" b="0" i="0" u="none" strike="noStrike">
                          <a:solidFill>
                            <a:srgbClr val="000000"/>
                          </a:solidFill>
                          <a:effectLst/>
                          <a:latin typeface="Arial" panose="020B0604020202020204" pitchFamily="34" charset="0"/>
                          <a:cs typeface="Arial" panose="020B0604020202020204" pitchFamily="34" charset="0"/>
                        </a:rPr>
                        <a:t>loan size</a:t>
                      </a:r>
                      <a:endParaRPr lang="en-US" sz="1000">
                        <a:effectLst/>
                        <a:latin typeface="Arial" panose="020B0604020202020204" pitchFamily="34" charset="0"/>
                        <a:cs typeface="Arial" panose="020B0604020202020204" pitchFamily="34" charset="0"/>
                      </a:endParaRPr>
                    </a:p>
                  </a:txBody>
                  <a:tcPr marL="52250" marR="52250" marT="52250" marB="52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vMerge="1">
                  <a:txBody>
                    <a:bodyPr/>
                    <a:lstStyle/>
                    <a:p>
                      <a:endParaRPr lang="en-US"/>
                    </a:p>
                  </a:txBody>
                  <a:tcPr/>
                </a:tc>
              </a:tr>
              <a:tr h="0">
                <a:tc>
                  <a:txBody>
                    <a:bodyPr/>
                    <a:lstStyle/>
                    <a:p>
                      <a:pPr rtl="0" fontAlgn="t">
                        <a:spcBef>
                          <a:spcPts val="0"/>
                        </a:spcBef>
                        <a:spcAft>
                          <a:spcPts val="0"/>
                        </a:spcAft>
                      </a:pPr>
                      <a:r>
                        <a:rPr lang="en-US" sz="1000" b="0" i="0" u="none" strike="noStrike">
                          <a:solidFill>
                            <a:srgbClr val="000000"/>
                          </a:solidFill>
                          <a:effectLst/>
                          <a:latin typeface="Arial" panose="020B0604020202020204" pitchFamily="34" charset="0"/>
                          <a:cs typeface="Arial" panose="020B0604020202020204" pitchFamily="34" charset="0"/>
                        </a:rPr>
                        <a:t>media effect</a:t>
                      </a:r>
                      <a:endParaRPr lang="en-US" sz="1000">
                        <a:effectLst/>
                        <a:latin typeface="Arial" panose="020B0604020202020204" pitchFamily="34" charset="0"/>
                        <a:cs typeface="Arial" panose="020B0604020202020204" pitchFamily="34" charset="0"/>
                      </a:endParaRPr>
                    </a:p>
                  </a:txBody>
                  <a:tcPr marL="52250" marR="52250" marT="52250" marB="52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rtl="0" fontAlgn="t">
                        <a:spcBef>
                          <a:spcPts val="0"/>
                        </a:spcBef>
                        <a:spcAft>
                          <a:spcPts val="0"/>
                        </a:spcAft>
                      </a:pPr>
                      <a:r>
                        <a:rPr lang="en-US" sz="1000" b="0" i="0" u="none" strike="noStrike">
                          <a:solidFill>
                            <a:srgbClr val="000000"/>
                          </a:solidFill>
                          <a:effectLst/>
                          <a:latin typeface="Arial" panose="020B0604020202020204" pitchFamily="34" charset="0"/>
                          <a:cs typeface="Arial" panose="020B0604020202020204" pitchFamily="34" charset="0"/>
                        </a:rPr>
                        <a:t>media = max(5 * DeltaPMMS30_MA, 1.0)</a:t>
                      </a:r>
                      <a:endParaRPr lang="en-US" sz="1000">
                        <a:effectLst/>
                        <a:latin typeface="Arial" panose="020B0604020202020204" pitchFamily="34" charset="0"/>
                        <a:cs typeface="Arial" panose="020B0604020202020204" pitchFamily="34" charset="0"/>
                      </a:endParaRPr>
                    </a:p>
                  </a:txBody>
                  <a:tcPr marL="52250" marR="52250" marT="52250" marB="52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178137">
                <a:tc>
                  <a:txBody>
                    <a:bodyPr/>
                    <a:lstStyle/>
                    <a:p>
                      <a:pPr rtl="0" fontAlgn="t">
                        <a:spcBef>
                          <a:spcPts val="0"/>
                        </a:spcBef>
                        <a:spcAft>
                          <a:spcPts val="0"/>
                        </a:spcAft>
                      </a:pPr>
                      <a:r>
                        <a:rPr lang="en-US" sz="1000" b="0" i="0" u="none" strike="noStrike">
                          <a:solidFill>
                            <a:srgbClr val="000000"/>
                          </a:solidFill>
                          <a:effectLst/>
                          <a:latin typeface="Arial" panose="020B0604020202020204" pitchFamily="34" charset="0"/>
                          <a:cs typeface="Arial" panose="020B0604020202020204" pitchFamily="34" charset="0"/>
                        </a:rPr>
                        <a:t>HPA</a:t>
                      </a:r>
                      <a:endParaRPr lang="en-US" sz="1000">
                        <a:effectLst/>
                        <a:latin typeface="Arial" panose="020B0604020202020204" pitchFamily="34" charset="0"/>
                        <a:cs typeface="Arial" panose="020B0604020202020204" pitchFamily="34" charset="0"/>
                      </a:endParaRPr>
                    </a:p>
                  </a:txBody>
                  <a:tcPr marL="52250" marR="52250" marT="52250" marB="52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rtl="0" fontAlgn="t">
                        <a:spcBef>
                          <a:spcPts val="0"/>
                        </a:spcBef>
                        <a:spcAft>
                          <a:spcPts val="0"/>
                        </a:spcAft>
                      </a:pPr>
                      <a:r>
                        <a:rPr lang="en-US" sz="1000" b="0" i="0" u="none" strike="noStrike" dirty="0">
                          <a:solidFill>
                            <a:srgbClr val="000000"/>
                          </a:solidFill>
                          <a:effectLst/>
                          <a:latin typeface="Arial" panose="020B0604020202020204" pitchFamily="34" charset="0"/>
                          <a:cs typeface="Arial" panose="020B0604020202020204" pitchFamily="34" charset="0"/>
                        </a:rPr>
                        <a:t>HPA = 1 - 0.8/(1+exp((hpa-11%)/3%))</a:t>
                      </a:r>
                      <a:endParaRPr lang="en-US" sz="1000" dirty="0">
                        <a:effectLst/>
                        <a:latin typeface="Arial" panose="020B0604020202020204" pitchFamily="34" charset="0"/>
                        <a:cs typeface="Arial" panose="020B0604020202020204" pitchFamily="34" charset="0"/>
                      </a:endParaRPr>
                    </a:p>
                  </a:txBody>
                  <a:tcPr marL="52250" marR="52250" marT="52250" marB="52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sp>
        <p:nvSpPr>
          <p:cNvPr id="15" name="Rectangle 4"/>
          <p:cNvSpPr>
            <a:spLocks noChangeArrowheads="1"/>
          </p:cNvSpPr>
          <p:nvPr/>
        </p:nvSpPr>
        <p:spPr bwMode="auto">
          <a:xfrm>
            <a:off x="4414838" y="1258888"/>
            <a:ext cx="10058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6" name="TextBox 15"/>
          <p:cNvSpPr txBox="1"/>
          <p:nvPr/>
        </p:nvSpPr>
        <p:spPr>
          <a:xfrm>
            <a:off x="1304926" y="6414787"/>
            <a:ext cx="7048499" cy="30777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en-US" sz="1400" dirty="0">
                <a:latin typeface="Arial" panose="020B0604020202020204" pitchFamily="34" charset="0"/>
                <a:cs typeface="Arial" panose="020B0604020202020204" pitchFamily="34" charset="0"/>
              </a:rPr>
              <a:t>Total SMM = curtailment SMM + default SMM + turnover SMM + refinance SMM</a:t>
            </a:r>
          </a:p>
        </p:txBody>
      </p:sp>
      <p:sp>
        <p:nvSpPr>
          <p:cNvPr id="17" name="Rectangle 16"/>
          <p:cNvSpPr/>
          <p:nvPr/>
        </p:nvSpPr>
        <p:spPr>
          <a:xfrm>
            <a:off x="376237" y="2581275"/>
            <a:ext cx="2194560" cy="336868"/>
          </a:xfrm>
          <a:prstGeom prst="rect">
            <a:avLst/>
          </a:prstGeom>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b="1" dirty="0" smtClean="0"/>
              <a:t>Curtail</a:t>
            </a:r>
            <a:endParaRPr lang="en-US" sz="1400" b="1" dirty="0"/>
          </a:p>
        </p:txBody>
      </p:sp>
      <p:sp>
        <p:nvSpPr>
          <p:cNvPr id="18" name="Rectangle 17"/>
          <p:cNvSpPr/>
          <p:nvPr/>
        </p:nvSpPr>
        <p:spPr>
          <a:xfrm>
            <a:off x="2738577" y="2581275"/>
            <a:ext cx="2194560" cy="336868"/>
          </a:xfrm>
          <a:prstGeom prst="rect">
            <a:avLst/>
          </a:prstGeom>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smtClean="0"/>
              <a:t>Default</a:t>
            </a:r>
            <a:endParaRPr lang="en-US" dirty="0"/>
          </a:p>
        </p:txBody>
      </p:sp>
      <p:sp>
        <p:nvSpPr>
          <p:cNvPr id="19" name="Rectangle 18"/>
          <p:cNvSpPr/>
          <p:nvPr/>
        </p:nvSpPr>
        <p:spPr>
          <a:xfrm>
            <a:off x="5110442" y="2581275"/>
            <a:ext cx="2194560" cy="336868"/>
          </a:xfrm>
          <a:prstGeom prst="rect">
            <a:avLst/>
          </a:prstGeom>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smtClean="0"/>
              <a:t>Turnover</a:t>
            </a:r>
            <a:endParaRPr lang="en-US" dirty="0"/>
          </a:p>
        </p:txBody>
      </p:sp>
      <p:sp>
        <p:nvSpPr>
          <p:cNvPr id="20" name="Rectangle 19"/>
          <p:cNvSpPr/>
          <p:nvPr/>
        </p:nvSpPr>
        <p:spPr>
          <a:xfrm>
            <a:off x="7482308" y="2581275"/>
            <a:ext cx="2194560" cy="336868"/>
          </a:xfrm>
          <a:prstGeom prst="rect">
            <a:avLst/>
          </a:prstGeom>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smtClean="0"/>
              <a:t>Refinancing</a:t>
            </a:r>
            <a:endParaRPr lang="en-US" dirty="0"/>
          </a:p>
        </p:txBody>
      </p:sp>
      <p:sp>
        <p:nvSpPr>
          <p:cNvPr id="21" name="Isosceles Triangle 20"/>
          <p:cNvSpPr/>
          <p:nvPr/>
        </p:nvSpPr>
        <p:spPr>
          <a:xfrm rot="10800000">
            <a:off x="3248025" y="1924050"/>
            <a:ext cx="3333750" cy="390525"/>
          </a:xfrm>
          <a:prstGeom prst="triangl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22" name="Isosceles Triangle 21"/>
          <p:cNvSpPr/>
          <p:nvPr/>
        </p:nvSpPr>
        <p:spPr>
          <a:xfrm rot="10800000">
            <a:off x="3364439" y="5859168"/>
            <a:ext cx="3333750" cy="390525"/>
          </a:xfrm>
          <a:prstGeom prst="triangl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4279801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23"/>
          <p:cNvSpPr/>
          <p:nvPr/>
        </p:nvSpPr>
        <p:spPr>
          <a:xfrm>
            <a:off x="145771" y="6393321"/>
            <a:ext cx="3838924" cy="798054"/>
          </a:xfrm>
          <a:prstGeom prst="rect">
            <a:avLst/>
          </a:prstGeom>
          <a:solidFill>
            <a:schemeClr val="bg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25" name="Rectangle 24"/>
          <p:cNvSpPr/>
          <p:nvPr/>
        </p:nvSpPr>
        <p:spPr>
          <a:xfrm>
            <a:off x="145771" y="6393321"/>
            <a:ext cx="9684029" cy="798054"/>
          </a:xfrm>
          <a:prstGeom prst="rect">
            <a:avLst/>
          </a:prstGeom>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 name="Title 1"/>
          <p:cNvSpPr>
            <a:spLocks noGrp="1"/>
          </p:cNvSpPr>
          <p:nvPr>
            <p:ph type="title"/>
          </p:nvPr>
        </p:nvSpPr>
        <p:spPr>
          <a:xfrm>
            <a:off x="3023670" y="237067"/>
            <a:ext cx="6806130" cy="677966"/>
          </a:xfrm>
        </p:spPr>
        <p:txBody>
          <a:bodyPr/>
          <a:lstStyle/>
          <a:p>
            <a:r>
              <a:rPr lang="en-US" dirty="0"/>
              <a:t>Modeling </a:t>
            </a:r>
            <a:r>
              <a:rPr lang="en-US" dirty="0" smtClean="0"/>
              <a:t>Methods: Splines I</a:t>
            </a:r>
            <a:endParaRPr lang="en-US" dirty="0"/>
          </a:p>
        </p:txBody>
      </p:sp>
      <p:pic>
        <p:nvPicPr>
          <p:cNvPr id="4" name="Content Placeholder 3"/>
          <p:cNvPicPr>
            <a:picLocks noGrp="1" noChangeAspect="1"/>
          </p:cNvPicPr>
          <p:nvPr>
            <p:ph idx="1"/>
          </p:nvPr>
        </p:nvPicPr>
        <p:blipFill>
          <a:blip r:embed="rId7" cstate="print">
            <a:extLst>
              <a:ext uri="{28A0092B-C50C-407E-A947-70E740481C1C}">
                <a14:useLocalDpi xmlns:a14="http://schemas.microsoft.com/office/drawing/2010/main" val="0"/>
              </a:ext>
            </a:extLst>
          </a:blip>
          <a:stretch>
            <a:fillRect/>
          </a:stretch>
        </p:blipFill>
        <p:spPr>
          <a:xfrm>
            <a:off x="203586" y="6359550"/>
            <a:ext cx="916369" cy="914400"/>
          </a:xfrm>
        </p:spPr>
      </p:pic>
      <p:pic>
        <p:nvPicPr>
          <p:cNvPr id="5" name="Picture 4"/>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19955" y="6367374"/>
            <a:ext cx="916370" cy="914400"/>
          </a:xfrm>
          <a:prstGeom prst="rect">
            <a:avLst/>
          </a:prstGeom>
        </p:spPr>
      </p:pic>
      <p:pic>
        <p:nvPicPr>
          <p:cNvPr id="6" name="Picture 5"/>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2094140" y="6359550"/>
            <a:ext cx="916370" cy="914400"/>
          </a:xfrm>
          <a:prstGeom prst="rect">
            <a:avLst/>
          </a:prstGeom>
        </p:spPr>
      </p:pic>
      <p:pic>
        <p:nvPicPr>
          <p:cNvPr id="7" name="Picture 6"/>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3068325" y="6363723"/>
            <a:ext cx="916370" cy="914400"/>
          </a:xfrm>
          <a:prstGeom prst="rect">
            <a:avLst/>
          </a:prstGeom>
        </p:spPr>
      </p:pic>
      <p:pic>
        <p:nvPicPr>
          <p:cNvPr id="8" name="Picture 7"/>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042510" y="6367374"/>
            <a:ext cx="916370" cy="914400"/>
          </a:xfrm>
          <a:prstGeom prst="rect">
            <a:avLst/>
          </a:prstGeom>
        </p:spPr>
      </p:pic>
      <p:pic>
        <p:nvPicPr>
          <p:cNvPr id="9" name="Picture 8"/>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016695" y="6367374"/>
            <a:ext cx="916370" cy="914400"/>
          </a:xfrm>
          <a:prstGeom prst="rect">
            <a:avLst/>
          </a:prstGeom>
        </p:spPr>
      </p:pic>
      <p:pic>
        <p:nvPicPr>
          <p:cNvPr id="10" name="Picture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5990880" y="6367374"/>
            <a:ext cx="916369" cy="914400"/>
          </a:xfrm>
          <a:prstGeom prst="rect">
            <a:avLst/>
          </a:prstGeom>
        </p:spPr>
      </p:pic>
      <p:pic>
        <p:nvPicPr>
          <p:cNvPr id="11" name="Picture 10"/>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6965064" y="6359550"/>
            <a:ext cx="916369" cy="914400"/>
          </a:xfrm>
          <a:prstGeom prst="rect">
            <a:avLst/>
          </a:prstGeom>
        </p:spPr>
      </p:pic>
      <p:pic>
        <p:nvPicPr>
          <p:cNvPr id="12" name="Picture 11"/>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7939248" y="6359550"/>
            <a:ext cx="916369" cy="914400"/>
          </a:xfrm>
          <a:prstGeom prst="rect">
            <a:avLst/>
          </a:prstGeom>
        </p:spPr>
      </p:pic>
      <p:pic>
        <p:nvPicPr>
          <p:cNvPr id="13" name="Picture 12"/>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8913431" y="6367374"/>
            <a:ext cx="916369" cy="914400"/>
          </a:xfrm>
          <a:prstGeom prst="rect">
            <a:avLst/>
          </a:prstGeom>
        </p:spPr>
      </p:pic>
      <p:cxnSp>
        <p:nvCxnSpPr>
          <p:cNvPr id="17" name="Straight Connector 16"/>
          <p:cNvCxnSpPr/>
          <p:nvPr/>
        </p:nvCxnSpPr>
        <p:spPr>
          <a:xfrm>
            <a:off x="836047" y="1277838"/>
            <a:ext cx="8286024" cy="0"/>
          </a:xfrm>
          <a:prstGeom prst="line">
            <a:avLst/>
          </a:prstGeom>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3390901" y="1123950"/>
            <a:ext cx="2857500" cy="338554"/>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sz="1600" dirty="0" smtClean="0">
                <a:latin typeface="Arial" panose="020B0604020202020204" pitchFamily="34" charset="0"/>
                <a:cs typeface="Arial" panose="020B0604020202020204" pitchFamily="34" charset="0"/>
              </a:rPr>
              <a:t>1.Bucket </a:t>
            </a:r>
            <a:r>
              <a:rPr lang="en-US" sz="1600" dirty="0">
                <a:latin typeface="Arial" panose="020B0604020202020204" pitchFamily="34" charset="0"/>
                <a:cs typeface="Arial" panose="020B0604020202020204" pitchFamily="34" charset="0"/>
              </a:rPr>
              <a:t>and Weighted Mean</a:t>
            </a:r>
          </a:p>
        </p:txBody>
      </p:sp>
      <p:sp>
        <p:nvSpPr>
          <p:cNvPr id="19" name="TextBox 18"/>
          <p:cNvSpPr txBox="1"/>
          <p:nvPr/>
        </p:nvSpPr>
        <p:spPr>
          <a:xfrm>
            <a:off x="5730055" y="1619250"/>
            <a:ext cx="3554978" cy="738664"/>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We can see the data distributed around several small area. The first idea is to transfer the data area into data point. </a:t>
            </a:r>
          </a:p>
        </p:txBody>
      </p:sp>
      <p:pic>
        <p:nvPicPr>
          <p:cNvPr id="20" name="Content Placeholder 3"/>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bwMode="auto">
          <a:xfrm>
            <a:off x="502491" y="1321802"/>
            <a:ext cx="2565834" cy="2560320"/>
          </a:xfrm>
          <a:prstGeom prst="rect">
            <a:avLst/>
          </a:prstGeom>
          <a:noFill/>
          <a:ln w="9525">
            <a:noFill/>
            <a:miter lim="800000"/>
            <a:headEnd/>
            <a:tailEnd/>
          </a:ln>
        </p:spPr>
      </p:pic>
      <p:pic>
        <p:nvPicPr>
          <p:cNvPr id="22" name="Picture 21"/>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733777" y="3445104"/>
            <a:ext cx="2565835" cy="2560320"/>
          </a:xfrm>
          <a:prstGeom prst="rect">
            <a:avLst/>
          </a:prstGeom>
        </p:spPr>
      </p:pic>
      <p:pic>
        <p:nvPicPr>
          <p:cNvPr id="23" name="Picture 22"/>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6907249" y="3445104"/>
            <a:ext cx="2565835" cy="2560320"/>
          </a:xfrm>
          <a:prstGeom prst="rect">
            <a:avLst/>
          </a:prstGeom>
        </p:spPr>
      </p:pic>
      <p:sp>
        <p:nvSpPr>
          <p:cNvPr id="26" name="TextBox 25"/>
          <p:cNvSpPr txBox="1"/>
          <p:nvPr/>
        </p:nvSpPr>
        <p:spPr>
          <a:xfrm>
            <a:off x="845572" y="1395829"/>
            <a:ext cx="1973828" cy="276999"/>
          </a:xfrm>
          <a:prstGeom prst="rect">
            <a:avLst/>
          </a:prstGeom>
          <a:noFill/>
        </p:spPr>
        <p:txBody>
          <a:bodyPr wrap="square" rtlCol="0">
            <a:spAutoFit/>
          </a:bodyPr>
          <a:lstStyle/>
          <a:p>
            <a:pPr algn="ctr"/>
            <a:r>
              <a:rPr lang="en-US" sz="1200" i="1" dirty="0" smtClean="0">
                <a:latin typeface="Arial" panose="020B0604020202020204" pitchFamily="34" charset="0"/>
                <a:cs typeface="Arial" panose="020B0604020202020204" pitchFamily="34" charset="0"/>
              </a:rPr>
              <a:t>Raw Data</a:t>
            </a:r>
            <a:endParaRPr lang="en-US" sz="1200" i="1" dirty="0">
              <a:latin typeface="Arial" panose="020B0604020202020204" pitchFamily="34" charset="0"/>
              <a:cs typeface="Arial" panose="020B0604020202020204" pitchFamily="34" charset="0"/>
            </a:endParaRPr>
          </a:p>
        </p:txBody>
      </p:sp>
      <p:sp>
        <p:nvSpPr>
          <p:cNvPr id="27" name="TextBox 26"/>
          <p:cNvSpPr txBox="1"/>
          <p:nvPr/>
        </p:nvSpPr>
        <p:spPr>
          <a:xfrm>
            <a:off x="872049" y="3530500"/>
            <a:ext cx="1973828" cy="276999"/>
          </a:xfrm>
          <a:prstGeom prst="rect">
            <a:avLst/>
          </a:prstGeom>
          <a:solidFill>
            <a:schemeClr val="bg1"/>
          </a:solidFill>
        </p:spPr>
        <p:txBody>
          <a:bodyPr wrap="square" rtlCol="0">
            <a:spAutoFit/>
          </a:bodyPr>
          <a:lstStyle/>
          <a:p>
            <a:pPr algn="ctr"/>
            <a:r>
              <a:rPr lang="en-US" sz="1200" i="1" dirty="0" smtClean="0">
                <a:latin typeface="Arial" panose="020B0604020202020204" pitchFamily="34" charset="0"/>
                <a:cs typeface="Arial" panose="020B0604020202020204" pitchFamily="34" charset="0"/>
              </a:rPr>
              <a:t>Bucket</a:t>
            </a:r>
            <a:endParaRPr lang="en-US" sz="1200" i="1" dirty="0">
              <a:latin typeface="Arial" panose="020B0604020202020204" pitchFamily="34" charset="0"/>
              <a:cs typeface="Arial" panose="020B0604020202020204" pitchFamily="34" charset="0"/>
            </a:endParaRPr>
          </a:p>
        </p:txBody>
      </p:sp>
      <p:sp>
        <p:nvSpPr>
          <p:cNvPr id="28" name="TextBox 27"/>
          <p:cNvSpPr txBox="1"/>
          <p:nvPr/>
        </p:nvSpPr>
        <p:spPr>
          <a:xfrm>
            <a:off x="4112647" y="3520172"/>
            <a:ext cx="1973828" cy="276999"/>
          </a:xfrm>
          <a:prstGeom prst="rect">
            <a:avLst/>
          </a:prstGeom>
          <a:noFill/>
        </p:spPr>
        <p:txBody>
          <a:bodyPr wrap="square" rtlCol="0">
            <a:spAutoFit/>
          </a:bodyPr>
          <a:lstStyle/>
          <a:p>
            <a:pPr algn="ctr"/>
            <a:r>
              <a:rPr lang="en-US" sz="1200" i="1" dirty="0" smtClean="0">
                <a:latin typeface="Arial" panose="020B0604020202020204" pitchFamily="34" charset="0"/>
                <a:cs typeface="Arial" panose="020B0604020202020204" pitchFamily="34" charset="0"/>
              </a:rPr>
              <a:t>Weighted </a:t>
            </a:r>
            <a:r>
              <a:rPr lang="en-US" altLang="zh-CN" sz="1200" i="1" dirty="0" smtClean="0">
                <a:latin typeface="Arial" panose="020B0604020202020204" pitchFamily="34" charset="0"/>
                <a:cs typeface="Arial" panose="020B0604020202020204" pitchFamily="34" charset="0"/>
              </a:rPr>
              <a:t>Mean</a:t>
            </a:r>
            <a:endParaRPr lang="en-US" sz="1200" i="1" dirty="0">
              <a:latin typeface="Arial" panose="020B0604020202020204" pitchFamily="34" charset="0"/>
              <a:cs typeface="Arial" panose="020B0604020202020204" pitchFamily="34" charset="0"/>
            </a:endParaRPr>
          </a:p>
        </p:txBody>
      </p:sp>
      <p:sp>
        <p:nvSpPr>
          <p:cNvPr id="29" name="TextBox 28"/>
          <p:cNvSpPr txBox="1"/>
          <p:nvPr/>
        </p:nvSpPr>
        <p:spPr>
          <a:xfrm>
            <a:off x="7301680" y="3512253"/>
            <a:ext cx="1973828" cy="276999"/>
          </a:xfrm>
          <a:prstGeom prst="rect">
            <a:avLst/>
          </a:prstGeom>
          <a:noFill/>
        </p:spPr>
        <p:txBody>
          <a:bodyPr wrap="square" rtlCol="0">
            <a:spAutoFit/>
          </a:bodyPr>
          <a:lstStyle/>
          <a:p>
            <a:pPr algn="ctr"/>
            <a:r>
              <a:rPr lang="en-US" altLang="zh-CN" sz="1200" i="1" dirty="0" smtClean="0">
                <a:latin typeface="Arial" panose="020B0604020202020204" pitchFamily="34" charset="0"/>
                <a:cs typeface="Arial" panose="020B0604020202020204" pitchFamily="34" charset="0"/>
              </a:rPr>
              <a:t>Change</a:t>
            </a:r>
            <a:r>
              <a:rPr lang="zh-CN" altLang="en-US" sz="1200" i="1" dirty="0" smtClean="0">
                <a:latin typeface="Arial" panose="020B0604020202020204" pitchFamily="34" charset="0"/>
                <a:cs typeface="Arial" panose="020B0604020202020204" pitchFamily="34" charset="0"/>
              </a:rPr>
              <a:t> </a:t>
            </a:r>
            <a:r>
              <a:rPr lang="en-US" altLang="zh-CN" sz="1200" i="1" dirty="0" smtClean="0">
                <a:latin typeface="Arial" panose="020B0604020202020204" pitchFamily="34" charset="0"/>
                <a:cs typeface="Arial" panose="020B0604020202020204" pitchFamily="34" charset="0"/>
              </a:rPr>
              <a:t>Y Scale</a:t>
            </a:r>
            <a:endParaRPr lang="en-US" sz="1200" i="1" dirty="0">
              <a:latin typeface="Arial" panose="020B0604020202020204" pitchFamily="34" charset="0"/>
              <a:cs typeface="Arial" panose="020B0604020202020204" pitchFamily="34" charset="0"/>
            </a:endParaRPr>
          </a:p>
        </p:txBody>
      </p:sp>
      <p:sp>
        <p:nvSpPr>
          <p:cNvPr id="30" name="Oval 29"/>
          <p:cNvSpPr/>
          <p:nvPr/>
        </p:nvSpPr>
        <p:spPr>
          <a:xfrm>
            <a:off x="1858963" y="3200400"/>
            <a:ext cx="177362" cy="238125"/>
          </a:xfrm>
          <a:prstGeom prst="ellipse">
            <a:avLst/>
          </a:prstGeom>
          <a:noFill/>
          <a:ln>
            <a:solidFill>
              <a:srgbClr val="8C2B1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AutoShape 83"/>
          <p:cNvSpPr>
            <a:spLocks noChangeArrowheads="1"/>
          </p:cNvSpPr>
          <p:nvPr>
            <p:custDataLst>
              <p:tags r:id="rId1"/>
            </p:custDataLst>
          </p:nvPr>
        </p:nvSpPr>
        <p:spPr bwMode="gray">
          <a:xfrm>
            <a:off x="2676744" y="2751138"/>
            <a:ext cx="527050" cy="177800"/>
          </a:xfrm>
          <a:prstGeom prst="rightArrow">
            <a:avLst>
              <a:gd name="adj1" fmla="val 35713"/>
              <a:gd name="adj2" fmla="val 82054"/>
            </a:avLst>
          </a:prstGeom>
          <a:solidFill>
            <a:schemeClr val="tx2">
              <a:lumMod val="40000"/>
              <a:lumOff val="60000"/>
            </a:schemeClr>
          </a:solidFill>
          <a:ln w="12700">
            <a:solidFill>
              <a:schemeClr val="bg1"/>
            </a:solidFill>
            <a:miter lim="800000"/>
            <a:headEnd/>
            <a:tailEnd/>
          </a:ln>
        </p:spPr>
        <p:txBody>
          <a:bodyPr lIns="0" tIns="0" rIns="0" bIns="0" anchor="ctr" anchorCtr="1"/>
          <a:lstStyle/>
          <a:p>
            <a:pPr algn="ctr">
              <a:defRPr/>
            </a:pPr>
            <a:endParaRPr lang="en-US" sz="1400" dirty="0">
              <a:latin typeface="Arial Unicode MS" pitchFamily="34" charset="-122"/>
              <a:ea typeface="Arial Unicode MS" pitchFamily="34" charset="-122"/>
              <a:cs typeface="Arial Unicode MS" pitchFamily="34" charset="-122"/>
            </a:endParaRPr>
          </a:p>
        </p:txBody>
      </p:sp>
      <p:sp>
        <p:nvSpPr>
          <p:cNvPr id="32" name="AutoShape 83"/>
          <p:cNvSpPr>
            <a:spLocks noChangeArrowheads="1"/>
          </p:cNvSpPr>
          <p:nvPr>
            <p:custDataLst>
              <p:tags r:id="rId2"/>
            </p:custDataLst>
          </p:nvPr>
        </p:nvSpPr>
        <p:spPr bwMode="gray">
          <a:xfrm rot="13328114">
            <a:off x="6649730" y="3760457"/>
            <a:ext cx="1036398" cy="157522"/>
          </a:xfrm>
          <a:prstGeom prst="rightArrow">
            <a:avLst>
              <a:gd name="adj1" fmla="val 35713"/>
              <a:gd name="adj2" fmla="val 82054"/>
            </a:avLst>
          </a:prstGeom>
          <a:solidFill>
            <a:schemeClr val="tx2">
              <a:lumMod val="40000"/>
              <a:lumOff val="60000"/>
            </a:schemeClr>
          </a:solidFill>
          <a:ln w="12700">
            <a:solidFill>
              <a:schemeClr val="bg1"/>
            </a:solidFill>
            <a:miter lim="800000"/>
            <a:headEnd/>
            <a:tailEnd/>
          </a:ln>
        </p:spPr>
        <p:txBody>
          <a:bodyPr lIns="0" tIns="0" rIns="0" bIns="0" anchor="ctr" anchorCtr="1"/>
          <a:lstStyle/>
          <a:p>
            <a:pPr algn="ctr">
              <a:defRPr/>
            </a:pPr>
            <a:endParaRPr lang="en-US" sz="1400" dirty="0">
              <a:latin typeface="Arial Unicode MS" pitchFamily="34" charset="-122"/>
              <a:ea typeface="Arial Unicode MS" pitchFamily="34" charset="-122"/>
              <a:cs typeface="Arial Unicode MS" pitchFamily="34" charset="-122"/>
            </a:endParaRPr>
          </a:p>
        </p:txBody>
      </p:sp>
      <p:sp>
        <p:nvSpPr>
          <p:cNvPr id="33" name="Rounded Rectangle 32"/>
          <p:cNvSpPr/>
          <p:nvPr/>
        </p:nvSpPr>
        <p:spPr>
          <a:xfrm>
            <a:off x="3390901" y="2600325"/>
            <a:ext cx="971549" cy="50006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Data</a:t>
            </a:r>
          </a:p>
          <a:p>
            <a:pPr algn="ctr"/>
            <a:r>
              <a:rPr lang="en-US" dirty="0" smtClean="0"/>
              <a:t>Area</a:t>
            </a:r>
            <a:endParaRPr lang="en-US" dirty="0"/>
          </a:p>
        </p:txBody>
      </p:sp>
      <p:sp>
        <p:nvSpPr>
          <p:cNvPr id="34" name="Rounded Rectangle 33"/>
          <p:cNvSpPr/>
          <p:nvPr/>
        </p:nvSpPr>
        <p:spPr>
          <a:xfrm>
            <a:off x="5730055" y="2600325"/>
            <a:ext cx="971549" cy="50006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Data</a:t>
            </a:r>
          </a:p>
          <a:p>
            <a:pPr algn="ctr"/>
            <a:r>
              <a:rPr lang="en-US" dirty="0" smtClean="0"/>
              <a:t>Point</a:t>
            </a:r>
            <a:endParaRPr lang="en-US" dirty="0"/>
          </a:p>
        </p:txBody>
      </p:sp>
      <p:sp>
        <p:nvSpPr>
          <p:cNvPr id="35" name="AutoShape 13"/>
          <p:cNvSpPr>
            <a:spLocks noChangeArrowheads="1"/>
          </p:cNvSpPr>
          <p:nvPr>
            <p:custDataLst>
              <p:tags r:id="rId3"/>
            </p:custDataLst>
          </p:nvPr>
        </p:nvSpPr>
        <p:spPr bwMode="auto">
          <a:xfrm>
            <a:off x="4958880" y="2424906"/>
            <a:ext cx="257175" cy="850900"/>
          </a:xfrm>
          <a:prstGeom prst="rightArrow">
            <a:avLst>
              <a:gd name="adj1" fmla="val 50000"/>
              <a:gd name="adj2" fmla="val 52278"/>
            </a:avLst>
          </a:prstGeom>
          <a:solidFill>
            <a:schemeClr val="accent1"/>
          </a:solidFill>
          <a:ln w="12700" algn="ctr">
            <a:solidFill>
              <a:schemeClr val="bg1"/>
            </a:solidFill>
            <a:miter lim="800000"/>
            <a:headEnd/>
            <a:tailEnd/>
          </a:ln>
        </p:spPr>
        <p:txBody>
          <a:bodyPr tIns="91440" bIns="91440" anchor="ctr"/>
          <a:lstStyle/>
          <a:p>
            <a:pPr algn="ctr">
              <a:defRPr/>
            </a:pPr>
            <a:endParaRPr lang="en-US" dirty="0">
              <a:latin typeface="Arial Unicode MS" pitchFamily="34" charset="-122"/>
              <a:ea typeface="Arial Unicode MS" pitchFamily="34" charset="-122"/>
              <a:cs typeface="Arial Unicode MS" pitchFamily="34" charset="-122"/>
            </a:endParaRPr>
          </a:p>
        </p:txBody>
      </p:sp>
      <p:sp>
        <p:nvSpPr>
          <p:cNvPr id="36" name="TextBox 35"/>
          <p:cNvSpPr txBox="1"/>
          <p:nvPr/>
        </p:nvSpPr>
        <p:spPr>
          <a:xfrm>
            <a:off x="3338182" y="3095625"/>
            <a:ext cx="1567979" cy="253916"/>
          </a:xfrm>
          <a:prstGeom prst="rect">
            <a:avLst/>
          </a:prstGeom>
          <a:noFill/>
        </p:spPr>
        <p:txBody>
          <a:bodyPr wrap="square" rtlCol="0">
            <a:spAutoFit/>
          </a:bodyPr>
          <a:lstStyle/>
          <a:p>
            <a:r>
              <a:rPr lang="en-US" sz="1050" dirty="0" smtClean="0">
                <a:latin typeface="Arial" panose="020B0604020202020204" pitchFamily="34" charset="0"/>
                <a:cs typeface="Arial" panose="020B0604020202020204" pitchFamily="34" charset="0"/>
              </a:rPr>
              <a:t>Difficult to measure</a:t>
            </a:r>
            <a:endParaRPr lang="en-US" sz="1050" dirty="0">
              <a:latin typeface="Arial" panose="020B0604020202020204" pitchFamily="34" charset="0"/>
              <a:cs typeface="Arial" panose="020B0604020202020204" pitchFamily="34" charset="0"/>
            </a:endParaRPr>
          </a:p>
        </p:txBody>
      </p:sp>
      <p:sp>
        <p:nvSpPr>
          <p:cNvPr id="37" name="TextBox 36"/>
          <p:cNvSpPr txBox="1"/>
          <p:nvPr/>
        </p:nvSpPr>
        <p:spPr>
          <a:xfrm>
            <a:off x="5665074" y="3097254"/>
            <a:ext cx="1567979" cy="253916"/>
          </a:xfrm>
          <a:prstGeom prst="rect">
            <a:avLst/>
          </a:prstGeom>
          <a:noFill/>
        </p:spPr>
        <p:txBody>
          <a:bodyPr wrap="square" rtlCol="0">
            <a:spAutoFit/>
          </a:bodyPr>
          <a:lstStyle/>
          <a:p>
            <a:r>
              <a:rPr lang="en-US" sz="1050" dirty="0" smtClean="0">
                <a:latin typeface="Arial" panose="020B0604020202020204" pitchFamily="34" charset="0"/>
                <a:cs typeface="Arial" panose="020B0604020202020204" pitchFamily="34" charset="0"/>
              </a:rPr>
              <a:t>Easy to measure</a:t>
            </a:r>
            <a:endParaRPr lang="en-US" sz="1050" dirty="0">
              <a:latin typeface="Arial" panose="020B0604020202020204" pitchFamily="34" charset="0"/>
              <a:cs typeface="Arial" panose="020B0604020202020204" pitchFamily="34" charset="0"/>
            </a:endParaRPr>
          </a:p>
        </p:txBody>
      </p:sp>
      <p:pic>
        <p:nvPicPr>
          <p:cNvPr id="21" name="Picture 20"/>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76046" y="3445104"/>
            <a:ext cx="2565835" cy="2560320"/>
          </a:xfrm>
          <a:prstGeom prst="rect">
            <a:avLst/>
          </a:prstGeom>
        </p:spPr>
      </p:pic>
      <p:sp>
        <p:nvSpPr>
          <p:cNvPr id="38" name="TextBox 37"/>
          <p:cNvSpPr txBox="1"/>
          <p:nvPr/>
        </p:nvSpPr>
        <p:spPr>
          <a:xfrm>
            <a:off x="3766285" y="5854957"/>
            <a:ext cx="2682779" cy="461665"/>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weight mean along horizontal axis and vertical axis</a:t>
            </a:r>
          </a:p>
        </p:txBody>
      </p:sp>
      <p:sp>
        <p:nvSpPr>
          <p:cNvPr id="39" name="TextBox 38"/>
          <p:cNvSpPr txBox="1"/>
          <p:nvPr/>
        </p:nvSpPr>
        <p:spPr>
          <a:xfrm>
            <a:off x="790518" y="5854957"/>
            <a:ext cx="1518094"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set </a:t>
            </a:r>
            <a:r>
              <a:rPr lang="en-US" sz="1200" dirty="0" smtClean="0">
                <a:latin typeface="Arial" panose="020B0604020202020204" pitchFamily="34" charset="0"/>
                <a:cs typeface="Arial" panose="020B0604020202020204" pitchFamily="34" charset="0"/>
              </a:rPr>
              <a:t>up buckets</a:t>
            </a:r>
            <a:endParaRPr lang="en-US" sz="1200" dirty="0">
              <a:latin typeface="Arial" panose="020B0604020202020204" pitchFamily="34" charset="0"/>
              <a:cs typeface="Arial" panose="020B0604020202020204" pitchFamily="34" charset="0"/>
            </a:endParaRPr>
          </a:p>
        </p:txBody>
      </p:sp>
      <p:sp>
        <p:nvSpPr>
          <p:cNvPr id="40" name="TextBox 39"/>
          <p:cNvSpPr txBox="1"/>
          <p:nvPr/>
        </p:nvSpPr>
        <p:spPr>
          <a:xfrm>
            <a:off x="6965064" y="5854957"/>
            <a:ext cx="2682779" cy="461665"/>
          </a:xfrm>
          <a:prstGeom prst="rect">
            <a:avLst/>
          </a:prstGeom>
          <a:noFill/>
        </p:spPr>
        <p:txBody>
          <a:bodyPr wrap="square" rtlCol="0">
            <a:spAutoFit/>
          </a:bodyPr>
          <a:lstStyle/>
          <a:p>
            <a:r>
              <a:rPr lang="en-US" sz="1200" dirty="0" smtClean="0">
                <a:latin typeface="Arial" panose="020B0604020202020204" pitchFamily="34" charset="0"/>
                <a:cs typeface="Arial" panose="020B0604020202020204" pitchFamily="34" charset="0"/>
              </a:rPr>
              <a:t>Change Y scale. Get data point which easy to model.</a:t>
            </a:r>
            <a:endParaRPr lang="en-US" sz="1200" dirty="0">
              <a:latin typeface="Arial" panose="020B0604020202020204" pitchFamily="34" charset="0"/>
              <a:cs typeface="Arial" panose="020B0604020202020204" pitchFamily="34" charset="0"/>
            </a:endParaRPr>
          </a:p>
        </p:txBody>
      </p:sp>
      <p:sp>
        <p:nvSpPr>
          <p:cNvPr id="41" name="AutoShape 13"/>
          <p:cNvSpPr>
            <a:spLocks noChangeArrowheads="1"/>
          </p:cNvSpPr>
          <p:nvPr>
            <p:custDataLst>
              <p:tags r:id="rId4"/>
            </p:custDataLst>
          </p:nvPr>
        </p:nvSpPr>
        <p:spPr bwMode="auto">
          <a:xfrm>
            <a:off x="3338182" y="4240514"/>
            <a:ext cx="257175" cy="850900"/>
          </a:xfrm>
          <a:prstGeom prst="rightArrow">
            <a:avLst>
              <a:gd name="adj1" fmla="val 50000"/>
              <a:gd name="adj2" fmla="val 52278"/>
            </a:avLst>
          </a:prstGeom>
          <a:solidFill>
            <a:schemeClr val="bg2">
              <a:lumMod val="75000"/>
            </a:schemeClr>
          </a:solidFill>
          <a:ln w="12700" algn="ctr">
            <a:solidFill>
              <a:schemeClr val="bg1"/>
            </a:solidFill>
            <a:miter lim="800000"/>
            <a:headEnd/>
            <a:tailEnd/>
          </a:ln>
        </p:spPr>
        <p:txBody>
          <a:bodyPr tIns="91440" bIns="91440" anchor="ctr"/>
          <a:lstStyle/>
          <a:p>
            <a:pPr algn="ctr">
              <a:defRPr/>
            </a:pPr>
            <a:endParaRPr lang="en-US" dirty="0">
              <a:latin typeface="Arial Unicode MS" pitchFamily="34" charset="-122"/>
              <a:ea typeface="Arial Unicode MS" pitchFamily="34" charset="-122"/>
              <a:cs typeface="Arial Unicode MS" pitchFamily="34" charset="-122"/>
            </a:endParaRPr>
          </a:p>
        </p:txBody>
      </p:sp>
      <p:sp>
        <p:nvSpPr>
          <p:cNvPr id="42" name="AutoShape 13"/>
          <p:cNvSpPr>
            <a:spLocks noChangeArrowheads="1"/>
          </p:cNvSpPr>
          <p:nvPr>
            <p:custDataLst>
              <p:tags r:id="rId5"/>
            </p:custDataLst>
          </p:nvPr>
        </p:nvSpPr>
        <p:spPr bwMode="auto">
          <a:xfrm>
            <a:off x="6473637" y="4299814"/>
            <a:ext cx="257175" cy="850900"/>
          </a:xfrm>
          <a:prstGeom prst="rightArrow">
            <a:avLst>
              <a:gd name="adj1" fmla="val 50000"/>
              <a:gd name="adj2" fmla="val 52278"/>
            </a:avLst>
          </a:prstGeom>
          <a:solidFill>
            <a:schemeClr val="bg2">
              <a:lumMod val="75000"/>
            </a:schemeClr>
          </a:solidFill>
          <a:ln w="12700" algn="ctr">
            <a:solidFill>
              <a:schemeClr val="bg1"/>
            </a:solidFill>
            <a:miter lim="800000"/>
            <a:headEnd/>
            <a:tailEnd/>
          </a:ln>
        </p:spPr>
        <p:txBody>
          <a:bodyPr tIns="91440" bIns="91440" anchor="ctr"/>
          <a:lstStyle/>
          <a:p>
            <a:pPr algn="ctr">
              <a:defRPr/>
            </a:pPr>
            <a:endParaRPr lang="en-US" dirty="0">
              <a:latin typeface="Arial Unicode MS" pitchFamily="34" charset="-122"/>
              <a:ea typeface="Arial Unicode MS" pitchFamily="34" charset="-122"/>
              <a:cs typeface="Arial Unicode MS" pitchFamily="34" charset="-122"/>
            </a:endParaRPr>
          </a:p>
        </p:txBody>
      </p:sp>
    </p:spTree>
    <p:extLst>
      <p:ext uri="{BB962C8B-B14F-4D97-AF65-F5344CB8AC3E}">
        <p14:creationId xmlns:p14="http://schemas.microsoft.com/office/powerpoint/2010/main" val="348129505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23"/>
          <p:cNvSpPr/>
          <p:nvPr/>
        </p:nvSpPr>
        <p:spPr>
          <a:xfrm>
            <a:off x="4013603" y="6393321"/>
            <a:ext cx="1919462" cy="798054"/>
          </a:xfrm>
          <a:prstGeom prst="rect">
            <a:avLst/>
          </a:prstGeom>
          <a:solidFill>
            <a:schemeClr val="bg2">
              <a:lumMod val="9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25" name="Rectangle 24"/>
          <p:cNvSpPr/>
          <p:nvPr/>
        </p:nvSpPr>
        <p:spPr>
          <a:xfrm>
            <a:off x="145771" y="6393321"/>
            <a:ext cx="9684029" cy="798054"/>
          </a:xfrm>
          <a:prstGeom prst="rect">
            <a:avLst/>
          </a:prstGeom>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 name="Title 1"/>
          <p:cNvSpPr>
            <a:spLocks noGrp="1"/>
          </p:cNvSpPr>
          <p:nvPr>
            <p:ph type="title"/>
          </p:nvPr>
        </p:nvSpPr>
        <p:spPr>
          <a:xfrm>
            <a:off x="3023670" y="237067"/>
            <a:ext cx="6806130" cy="677966"/>
          </a:xfrm>
        </p:spPr>
        <p:txBody>
          <a:bodyPr/>
          <a:lstStyle/>
          <a:p>
            <a:r>
              <a:rPr lang="en-US" dirty="0"/>
              <a:t>Modeling </a:t>
            </a:r>
            <a:r>
              <a:rPr lang="en-US" dirty="0" smtClean="0"/>
              <a:t>Methods: Spline II</a:t>
            </a:r>
            <a:endParaRPr lang="en-US" dirty="0"/>
          </a:p>
        </p:txBody>
      </p:sp>
      <p:pic>
        <p:nvPicPr>
          <p:cNvPr id="4" name="Content Placeholder 3"/>
          <p:cNvPicPr>
            <a:picLocks noGrp="1" noChangeAspect="1"/>
          </p:cNvPicPr>
          <p:nvPr>
            <p:ph idx="1"/>
          </p:nvPr>
        </p:nvPicPr>
        <p:blipFill>
          <a:blip r:embed="rId6" cstate="print">
            <a:extLst>
              <a:ext uri="{28A0092B-C50C-407E-A947-70E740481C1C}">
                <a14:useLocalDpi xmlns:a14="http://schemas.microsoft.com/office/drawing/2010/main" val="0"/>
              </a:ext>
            </a:extLst>
          </a:blip>
          <a:stretch>
            <a:fillRect/>
          </a:stretch>
        </p:blipFill>
        <p:spPr>
          <a:xfrm>
            <a:off x="210958" y="6350025"/>
            <a:ext cx="916369" cy="914400"/>
          </a:xfrm>
        </p:spPr>
      </p:pic>
      <p:pic>
        <p:nvPicPr>
          <p:cNvPr id="5" name="Picture 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119955" y="6367374"/>
            <a:ext cx="916370" cy="914400"/>
          </a:xfrm>
          <a:prstGeom prst="rect">
            <a:avLst/>
          </a:prstGeom>
        </p:spPr>
      </p:pic>
      <p:pic>
        <p:nvPicPr>
          <p:cNvPr id="6" name="Picture 5"/>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094140" y="6359550"/>
            <a:ext cx="916370" cy="914400"/>
          </a:xfrm>
          <a:prstGeom prst="rect">
            <a:avLst/>
          </a:prstGeom>
        </p:spPr>
      </p:pic>
      <p:pic>
        <p:nvPicPr>
          <p:cNvPr id="7" name="Picture 6"/>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068325" y="6367374"/>
            <a:ext cx="916370" cy="914400"/>
          </a:xfrm>
          <a:prstGeom prst="rect">
            <a:avLst/>
          </a:prstGeom>
        </p:spPr>
      </p:pic>
      <p:pic>
        <p:nvPicPr>
          <p:cNvPr id="8" name="Picture 7"/>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056964" y="6363723"/>
            <a:ext cx="916370" cy="914400"/>
          </a:xfrm>
          <a:prstGeom prst="rect">
            <a:avLst/>
          </a:prstGeom>
        </p:spPr>
      </p:pic>
      <p:pic>
        <p:nvPicPr>
          <p:cNvPr id="9" name="Picture 8"/>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5016695" y="6367374"/>
            <a:ext cx="916370" cy="914400"/>
          </a:xfrm>
          <a:prstGeom prst="rect">
            <a:avLst/>
          </a:prstGeom>
        </p:spPr>
      </p:pic>
      <p:pic>
        <p:nvPicPr>
          <p:cNvPr id="10" name="Picture 9"/>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990880" y="6367374"/>
            <a:ext cx="916369" cy="914400"/>
          </a:xfrm>
          <a:prstGeom prst="rect">
            <a:avLst/>
          </a:prstGeom>
        </p:spPr>
      </p:pic>
      <p:pic>
        <p:nvPicPr>
          <p:cNvPr id="11" name="Picture 10"/>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6965064" y="6359550"/>
            <a:ext cx="916369" cy="914400"/>
          </a:xfrm>
          <a:prstGeom prst="rect">
            <a:avLst/>
          </a:prstGeom>
        </p:spPr>
      </p:pic>
      <p:pic>
        <p:nvPicPr>
          <p:cNvPr id="12" name="Picture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939248" y="6359550"/>
            <a:ext cx="916369" cy="914400"/>
          </a:xfrm>
          <a:prstGeom prst="rect">
            <a:avLst/>
          </a:prstGeom>
        </p:spPr>
      </p:pic>
      <p:pic>
        <p:nvPicPr>
          <p:cNvPr id="13" name="Picture 12"/>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8913431" y="6367374"/>
            <a:ext cx="916369" cy="914400"/>
          </a:xfrm>
          <a:prstGeom prst="rect">
            <a:avLst/>
          </a:prstGeom>
        </p:spPr>
      </p:pic>
      <p:cxnSp>
        <p:nvCxnSpPr>
          <p:cNvPr id="17" name="Straight Connector 16"/>
          <p:cNvCxnSpPr/>
          <p:nvPr/>
        </p:nvCxnSpPr>
        <p:spPr>
          <a:xfrm>
            <a:off x="836047" y="1277838"/>
            <a:ext cx="8286024" cy="0"/>
          </a:xfrm>
          <a:prstGeom prst="line">
            <a:avLst/>
          </a:prstGeom>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3390901" y="1123950"/>
            <a:ext cx="2857500" cy="338554"/>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sz="1600" dirty="0" smtClean="0">
                <a:latin typeface="Arial" panose="020B0604020202020204" pitchFamily="34" charset="0"/>
                <a:cs typeface="Arial" panose="020B0604020202020204" pitchFamily="34" charset="0"/>
              </a:rPr>
              <a:t>2. Spline </a:t>
            </a:r>
            <a:r>
              <a:rPr lang="en-US" sz="1600" dirty="0">
                <a:latin typeface="Arial" panose="020B0604020202020204" pitchFamily="34" charset="0"/>
                <a:cs typeface="Arial" panose="020B0604020202020204" pitchFamily="34" charset="0"/>
              </a:rPr>
              <a:t>and </a:t>
            </a:r>
            <a:r>
              <a:rPr lang="en-US" sz="1600" dirty="0" smtClean="0">
                <a:latin typeface="Arial" panose="020B0604020202020204" pitchFamily="34" charset="0"/>
                <a:cs typeface="Arial" panose="020B0604020202020204" pitchFamily="34" charset="0"/>
              </a:rPr>
              <a:t>Interpolation</a:t>
            </a:r>
            <a:endParaRPr lang="en-US" sz="1600" dirty="0">
              <a:latin typeface="Arial" panose="020B0604020202020204" pitchFamily="34" charset="0"/>
              <a:cs typeface="Arial" panose="020B0604020202020204" pitchFamily="34" charset="0"/>
            </a:endParaRPr>
          </a:p>
        </p:txBody>
      </p:sp>
      <p:sp>
        <p:nvSpPr>
          <p:cNvPr id="26" name="TextBox 25"/>
          <p:cNvSpPr txBox="1"/>
          <p:nvPr/>
        </p:nvSpPr>
        <p:spPr>
          <a:xfrm>
            <a:off x="779380" y="2754958"/>
            <a:ext cx="2565835" cy="276999"/>
          </a:xfrm>
          <a:prstGeom prst="rect">
            <a:avLst/>
          </a:prstGeom>
          <a:noFill/>
        </p:spPr>
        <p:txBody>
          <a:bodyPr wrap="square" rtlCol="0">
            <a:spAutoFit/>
          </a:bodyPr>
          <a:lstStyle/>
          <a:p>
            <a:pPr algn="ctr"/>
            <a:r>
              <a:rPr lang="en-US" sz="1200" i="1" dirty="0" smtClean="0">
                <a:latin typeface="Arial" panose="020B0604020202020204" pitchFamily="34" charset="0"/>
                <a:cs typeface="Arial" panose="020B0604020202020204" pitchFamily="34" charset="0"/>
              </a:rPr>
              <a:t>Previous Step: </a:t>
            </a:r>
            <a:r>
              <a:rPr lang="en-US" sz="1200" i="1" dirty="0">
                <a:latin typeface="Arial" panose="020B0604020202020204" pitchFamily="34" charset="0"/>
                <a:cs typeface="Arial" panose="020B0604020202020204" pitchFamily="34" charset="0"/>
              </a:rPr>
              <a:t>W</a:t>
            </a:r>
            <a:r>
              <a:rPr lang="en-US" sz="1200" i="1" dirty="0" smtClean="0">
                <a:latin typeface="Arial" panose="020B0604020202020204" pitchFamily="34" charset="0"/>
                <a:cs typeface="Arial" panose="020B0604020202020204" pitchFamily="34" charset="0"/>
              </a:rPr>
              <a:t>eighted Average</a:t>
            </a:r>
            <a:endParaRPr lang="en-US" sz="1200" i="1" dirty="0">
              <a:latin typeface="Arial" panose="020B0604020202020204" pitchFamily="34" charset="0"/>
              <a:cs typeface="Arial" panose="020B0604020202020204" pitchFamily="34" charset="0"/>
            </a:endParaRPr>
          </a:p>
        </p:txBody>
      </p:sp>
      <p:pic>
        <p:nvPicPr>
          <p:cNvPr id="41" name="Picture 40"/>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12705" y="2730729"/>
            <a:ext cx="2565835" cy="2560320"/>
          </a:xfrm>
          <a:prstGeom prst="rect">
            <a:avLst/>
          </a:prstGeom>
        </p:spPr>
      </p:pic>
      <p:pic>
        <p:nvPicPr>
          <p:cNvPr id="42" name="Picture 41"/>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3684517" y="2730729"/>
            <a:ext cx="2565836" cy="2560320"/>
          </a:xfrm>
          <a:prstGeom prst="rect">
            <a:avLst/>
          </a:prstGeom>
        </p:spPr>
      </p:pic>
      <p:pic>
        <p:nvPicPr>
          <p:cNvPr id="43" name="Picture 42"/>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6656330" y="2730729"/>
            <a:ext cx="2565836" cy="2560320"/>
          </a:xfrm>
          <a:prstGeom prst="rect">
            <a:avLst/>
          </a:prstGeom>
        </p:spPr>
      </p:pic>
      <p:sp>
        <p:nvSpPr>
          <p:cNvPr id="47" name="TextBox 46"/>
          <p:cNvSpPr txBox="1"/>
          <p:nvPr/>
        </p:nvSpPr>
        <p:spPr>
          <a:xfrm>
            <a:off x="4042510" y="2754958"/>
            <a:ext cx="1973828" cy="276999"/>
          </a:xfrm>
          <a:prstGeom prst="rect">
            <a:avLst/>
          </a:prstGeom>
          <a:noFill/>
        </p:spPr>
        <p:txBody>
          <a:bodyPr wrap="square" rtlCol="0">
            <a:spAutoFit/>
          </a:bodyPr>
          <a:lstStyle/>
          <a:p>
            <a:pPr algn="ctr"/>
            <a:r>
              <a:rPr lang="en-US" sz="1200" i="1" dirty="0" smtClean="0">
                <a:latin typeface="Arial" panose="020B0604020202020204" pitchFamily="34" charset="0"/>
                <a:cs typeface="Arial" panose="020B0604020202020204" pitchFamily="34" charset="0"/>
              </a:rPr>
              <a:t>Spline</a:t>
            </a:r>
            <a:endParaRPr lang="en-US" sz="1200" i="1" dirty="0">
              <a:latin typeface="Arial" panose="020B0604020202020204" pitchFamily="34" charset="0"/>
              <a:cs typeface="Arial" panose="020B0604020202020204" pitchFamily="34" charset="0"/>
            </a:endParaRPr>
          </a:p>
        </p:txBody>
      </p:sp>
      <p:sp>
        <p:nvSpPr>
          <p:cNvPr id="48" name="TextBox 47"/>
          <p:cNvSpPr txBox="1"/>
          <p:nvPr/>
        </p:nvSpPr>
        <p:spPr>
          <a:xfrm>
            <a:off x="7022214" y="2754957"/>
            <a:ext cx="1973828" cy="276999"/>
          </a:xfrm>
          <a:prstGeom prst="rect">
            <a:avLst/>
          </a:prstGeom>
          <a:noFill/>
        </p:spPr>
        <p:txBody>
          <a:bodyPr wrap="square" rtlCol="0">
            <a:spAutoFit/>
          </a:bodyPr>
          <a:lstStyle/>
          <a:p>
            <a:pPr algn="ctr"/>
            <a:r>
              <a:rPr lang="en-US" sz="1200" i="1" dirty="0" smtClean="0">
                <a:latin typeface="Arial" panose="020B0604020202020204" pitchFamily="34" charset="0"/>
                <a:cs typeface="Arial" panose="020B0604020202020204" pitchFamily="34" charset="0"/>
              </a:rPr>
              <a:t>Get Knots Value</a:t>
            </a:r>
            <a:endParaRPr lang="en-US" sz="1200" i="1" dirty="0">
              <a:latin typeface="Arial" panose="020B0604020202020204" pitchFamily="34" charset="0"/>
              <a:cs typeface="Arial" panose="020B0604020202020204" pitchFamily="34" charset="0"/>
            </a:endParaRPr>
          </a:p>
        </p:txBody>
      </p:sp>
      <p:sp>
        <p:nvSpPr>
          <p:cNvPr id="49" name="AutoShape 13"/>
          <p:cNvSpPr>
            <a:spLocks noChangeArrowheads="1"/>
          </p:cNvSpPr>
          <p:nvPr>
            <p:custDataLst>
              <p:tags r:id="rId1"/>
            </p:custDataLst>
          </p:nvPr>
        </p:nvSpPr>
        <p:spPr bwMode="auto">
          <a:xfrm>
            <a:off x="3275176" y="3497564"/>
            <a:ext cx="257175" cy="850900"/>
          </a:xfrm>
          <a:prstGeom prst="rightArrow">
            <a:avLst>
              <a:gd name="adj1" fmla="val 50000"/>
              <a:gd name="adj2" fmla="val 52278"/>
            </a:avLst>
          </a:prstGeom>
          <a:solidFill>
            <a:schemeClr val="bg2">
              <a:lumMod val="75000"/>
            </a:schemeClr>
          </a:solidFill>
          <a:ln w="12700" algn="ctr">
            <a:solidFill>
              <a:schemeClr val="bg1"/>
            </a:solidFill>
            <a:miter lim="800000"/>
            <a:headEnd/>
            <a:tailEnd/>
          </a:ln>
        </p:spPr>
        <p:txBody>
          <a:bodyPr tIns="91440" bIns="91440" anchor="ctr"/>
          <a:lstStyle/>
          <a:p>
            <a:pPr algn="ctr">
              <a:defRPr/>
            </a:pPr>
            <a:endParaRPr lang="en-US" dirty="0">
              <a:latin typeface="Arial Unicode MS" pitchFamily="34" charset="-122"/>
              <a:ea typeface="Arial Unicode MS" pitchFamily="34" charset="-122"/>
              <a:cs typeface="Arial Unicode MS" pitchFamily="34" charset="-122"/>
            </a:endParaRPr>
          </a:p>
        </p:txBody>
      </p:sp>
      <p:sp>
        <p:nvSpPr>
          <p:cNvPr id="50" name="AutoShape 13"/>
          <p:cNvSpPr>
            <a:spLocks noChangeArrowheads="1"/>
          </p:cNvSpPr>
          <p:nvPr>
            <p:custDataLst>
              <p:tags r:id="rId2"/>
            </p:custDataLst>
          </p:nvPr>
        </p:nvSpPr>
        <p:spPr bwMode="auto">
          <a:xfrm>
            <a:off x="6315381" y="3556864"/>
            <a:ext cx="257175" cy="850900"/>
          </a:xfrm>
          <a:prstGeom prst="rightArrow">
            <a:avLst>
              <a:gd name="adj1" fmla="val 50000"/>
              <a:gd name="adj2" fmla="val 52278"/>
            </a:avLst>
          </a:prstGeom>
          <a:solidFill>
            <a:schemeClr val="bg2">
              <a:lumMod val="75000"/>
            </a:schemeClr>
          </a:solidFill>
          <a:ln w="12700" algn="ctr">
            <a:solidFill>
              <a:schemeClr val="bg1"/>
            </a:solidFill>
            <a:miter lim="800000"/>
            <a:headEnd/>
            <a:tailEnd/>
          </a:ln>
        </p:spPr>
        <p:txBody>
          <a:bodyPr tIns="91440" bIns="91440" anchor="ctr"/>
          <a:lstStyle/>
          <a:p>
            <a:pPr algn="ctr">
              <a:defRPr/>
            </a:pPr>
            <a:endParaRPr lang="en-US" dirty="0">
              <a:latin typeface="Arial Unicode MS" pitchFamily="34" charset="-122"/>
              <a:ea typeface="Arial Unicode MS" pitchFamily="34" charset="-122"/>
              <a:cs typeface="Arial Unicode MS" pitchFamily="34" charset="-122"/>
            </a:endParaRPr>
          </a:p>
        </p:txBody>
      </p:sp>
      <p:sp>
        <p:nvSpPr>
          <p:cNvPr id="3" name="TextBox 2"/>
          <p:cNvSpPr txBox="1"/>
          <p:nvPr/>
        </p:nvSpPr>
        <p:spPr>
          <a:xfrm>
            <a:off x="836047" y="1600200"/>
            <a:ext cx="8286024" cy="738664"/>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Now, we set up some key knots, which are the most important CLTV values that may be used as our model parameters. So naturally, we want to know the SMM value on each of the knots. Here we use cubic spline to predict those values, as the red points in figure </a:t>
            </a:r>
            <a:r>
              <a:rPr lang="en-US" sz="1400" dirty="0" smtClean="0">
                <a:latin typeface="Arial" panose="020B0604020202020204" pitchFamily="34" charset="0"/>
                <a:cs typeface="Arial" panose="020B0604020202020204" pitchFamily="34" charset="0"/>
              </a:rPr>
              <a:t>3</a:t>
            </a:r>
            <a:endParaRPr lang="en-US" sz="1400" dirty="0">
              <a:latin typeface="Arial" panose="020B0604020202020204" pitchFamily="34" charset="0"/>
              <a:cs typeface="Arial" panose="020B0604020202020204" pitchFamily="34" charset="0"/>
            </a:endParaRPr>
          </a:p>
        </p:txBody>
      </p:sp>
      <p:sp>
        <p:nvSpPr>
          <p:cNvPr id="51" name="Rounded Rectangle 50"/>
          <p:cNvSpPr/>
          <p:nvPr/>
        </p:nvSpPr>
        <p:spPr>
          <a:xfrm>
            <a:off x="1278838" y="5291049"/>
            <a:ext cx="1514974" cy="50006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latin typeface="Arial" panose="020B0604020202020204" pitchFamily="34" charset="0"/>
                <a:cs typeface="Arial" panose="020B0604020202020204" pitchFamily="34" charset="0"/>
              </a:rPr>
              <a:t>Points</a:t>
            </a:r>
          </a:p>
        </p:txBody>
      </p:sp>
      <p:sp>
        <p:nvSpPr>
          <p:cNvPr id="52" name="Rounded Rectangle 51"/>
          <p:cNvSpPr/>
          <p:nvPr/>
        </p:nvSpPr>
        <p:spPr>
          <a:xfrm>
            <a:off x="4271937" y="5291049"/>
            <a:ext cx="1514974" cy="50006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latin typeface="Arial" panose="020B0604020202020204" pitchFamily="34" charset="0"/>
                <a:cs typeface="Arial" panose="020B0604020202020204" pitchFamily="34" charset="0"/>
              </a:rPr>
              <a:t>Curve</a:t>
            </a:r>
          </a:p>
        </p:txBody>
      </p:sp>
      <p:sp>
        <p:nvSpPr>
          <p:cNvPr id="53" name="AutoShape 13"/>
          <p:cNvSpPr>
            <a:spLocks noChangeArrowheads="1"/>
          </p:cNvSpPr>
          <p:nvPr>
            <p:custDataLst>
              <p:tags r:id="rId3"/>
            </p:custDataLst>
          </p:nvPr>
        </p:nvSpPr>
        <p:spPr bwMode="auto">
          <a:xfrm>
            <a:off x="3278540" y="5115630"/>
            <a:ext cx="257175" cy="850900"/>
          </a:xfrm>
          <a:prstGeom prst="rightArrow">
            <a:avLst>
              <a:gd name="adj1" fmla="val 50000"/>
              <a:gd name="adj2" fmla="val 52278"/>
            </a:avLst>
          </a:prstGeom>
          <a:solidFill>
            <a:schemeClr val="accent1"/>
          </a:solidFill>
          <a:ln w="12700" algn="ctr">
            <a:solidFill>
              <a:schemeClr val="bg1"/>
            </a:solidFill>
            <a:miter lim="800000"/>
            <a:headEnd/>
            <a:tailEnd/>
          </a:ln>
        </p:spPr>
        <p:txBody>
          <a:bodyPr tIns="91440" bIns="91440" anchor="ctr"/>
          <a:lstStyle/>
          <a:p>
            <a:pPr algn="ctr">
              <a:defRPr/>
            </a:pPr>
            <a:endParaRPr lang="en-US" dirty="0">
              <a:latin typeface="Arial Unicode MS" pitchFamily="34" charset="-122"/>
              <a:ea typeface="Arial Unicode MS" pitchFamily="34" charset="-122"/>
              <a:cs typeface="Arial Unicode MS" pitchFamily="34" charset="-122"/>
            </a:endParaRPr>
          </a:p>
        </p:txBody>
      </p:sp>
      <p:sp>
        <p:nvSpPr>
          <p:cNvPr id="54" name="TextBox 53"/>
          <p:cNvSpPr txBox="1"/>
          <p:nvPr/>
        </p:nvSpPr>
        <p:spPr>
          <a:xfrm>
            <a:off x="1278838" y="5800548"/>
            <a:ext cx="1567979" cy="253916"/>
          </a:xfrm>
          <a:prstGeom prst="rect">
            <a:avLst/>
          </a:prstGeom>
          <a:noFill/>
        </p:spPr>
        <p:txBody>
          <a:bodyPr wrap="square" rtlCol="0">
            <a:spAutoFit/>
          </a:bodyPr>
          <a:lstStyle/>
          <a:p>
            <a:pPr algn="ctr"/>
            <a:r>
              <a:rPr lang="en-US" sz="1050" dirty="0" smtClean="0">
                <a:latin typeface="Arial" panose="020B0604020202020204" pitchFamily="34" charset="0"/>
                <a:cs typeface="Arial" panose="020B0604020202020204" pitchFamily="34" charset="0"/>
              </a:rPr>
              <a:t>Vary </a:t>
            </a:r>
            <a:r>
              <a:rPr lang="en-US" sz="1050" dirty="0">
                <a:latin typeface="Arial" panose="020B0604020202020204" pitchFamily="34" charset="0"/>
                <a:cs typeface="Arial" panose="020B0604020202020204" pitchFamily="34" charset="0"/>
              </a:rPr>
              <a:t>Distance</a:t>
            </a:r>
          </a:p>
        </p:txBody>
      </p:sp>
      <p:sp>
        <p:nvSpPr>
          <p:cNvPr id="55" name="TextBox 54"/>
          <p:cNvSpPr txBox="1"/>
          <p:nvPr/>
        </p:nvSpPr>
        <p:spPr>
          <a:xfrm>
            <a:off x="4245434" y="5791112"/>
            <a:ext cx="1567979" cy="253916"/>
          </a:xfrm>
          <a:prstGeom prst="rect">
            <a:avLst/>
          </a:prstGeom>
          <a:noFill/>
        </p:spPr>
        <p:txBody>
          <a:bodyPr wrap="square" rtlCol="0">
            <a:spAutoFit/>
          </a:bodyPr>
          <a:lstStyle/>
          <a:p>
            <a:pPr algn="ctr"/>
            <a:r>
              <a:rPr lang="en-US" sz="1050" dirty="0" smtClean="0">
                <a:latin typeface="Arial" panose="020B0604020202020204" pitchFamily="34" charset="0"/>
                <a:cs typeface="Arial" panose="020B0604020202020204" pitchFamily="34" charset="0"/>
              </a:rPr>
              <a:t>Vary </a:t>
            </a:r>
            <a:r>
              <a:rPr lang="en-US" sz="1050" dirty="0">
                <a:latin typeface="Arial" panose="020B0604020202020204" pitchFamily="34" charset="0"/>
                <a:cs typeface="Arial" panose="020B0604020202020204" pitchFamily="34" charset="0"/>
              </a:rPr>
              <a:t>Distance</a:t>
            </a:r>
          </a:p>
        </p:txBody>
      </p:sp>
      <p:sp>
        <p:nvSpPr>
          <p:cNvPr id="56" name="Rounded Rectangle 55"/>
          <p:cNvSpPr/>
          <p:nvPr/>
        </p:nvSpPr>
        <p:spPr>
          <a:xfrm>
            <a:off x="7251641" y="5291049"/>
            <a:ext cx="1514974" cy="50006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Curve</a:t>
            </a:r>
            <a:endParaRPr lang="en-US" dirty="0"/>
          </a:p>
        </p:txBody>
      </p:sp>
      <p:sp>
        <p:nvSpPr>
          <p:cNvPr id="57" name="AutoShape 13"/>
          <p:cNvSpPr>
            <a:spLocks noChangeArrowheads="1"/>
          </p:cNvSpPr>
          <p:nvPr>
            <p:custDataLst>
              <p:tags r:id="rId4"/>
            </p:custDataLst>
          </p:nvPr>
        </p:nvSpPr>
        <p:spPr bwMode="auto">
          <a:xfrm>
            <a:off x="6315380" y="5115630"/>
            <a:ext cx="257175" cy="850900"/>
          </a:xfrm>
          <a:prstGeom prst="rightArrow">
            <a:avLst>
              <a:gd name="adj1" fmla="val 50000"/>
              <a:gd name="adj2" fmla="val 52278"/>
            </a:avLst>
          </a:prstGeom>
          <a:solidFill>
            <a:schemeClr val="accent1"/>
          </a:solidFill>
          <a:ln w="12700" algn="ctr">
            <a:solidFill>
              <a:schemeClr val="bg1"/>
            </a:solidFill>
            <a:miter lim="800000"/>
            <a:headEnd/>
            <a:tailEnd/>
          </a:ln>
        </p:spPr>
        <p:txBody>
          <a:bodyPr tIns="91440" bIns="91440" anchor="ctr"/>
          <a:lstStyle/>
          <a:p>
            <a:pPr algn="ctr">
              <a:defRPr/>
            </a:pPr>
            <a:endParaRPr lang="en-US" dirty="0">
              <a:latin typeface="Arial Unicode MS" pitchFamily="34" charset="-122"/>
              <a:ea typeface="Arial Unicode MS" pitchFamily="34" charset="-122"/>
              <a:cs typeface="Arial Unicode MS" pitchFamily="34" charset="-122"/>
            </a:endParaRPr>
          </a:p>
        </p:txBody>
      </p:sp>
      <p:sp>
        <p:nvSpPr>
          <p:cNvPr id="58" name="TextBox 57"/>
          <p:cNvSpPr txBox="1"/>
          <p:nvPr/>
        </p:nvSpPr>
        <p:spPr>
          <a:xfrm>
            <a:off x="7225138" y="5800548"/>
            <a:ext cx="1567979" cy="253916"/>
          </a:xfrm>
          <a:prstGeom prst="rect">
            <a:avLst/>
          </a:prstGeom>
          <a:noFill/>
        </p:spPr>
        <p:txBody>
          <a:bodyPr wrap="square" rtlCol="0">
            <a:spAutoFit/>
          </a:bodyPr>
          <a:lstStyle/>
          <a:p>
            <a:pPr algn="ctr"/>
            <a:r>
              <a:rPr lang="en-US" sz="1050" dirty="0" smtClean="0">
                <a:latin typeface="Arial" panose="020B0604020202020204" pitchFamily="34" charset="0"/>
                <a:cs typeface="Arial" panose="020B0604020202020204" pitchFamily="34" charset="0"/>
              </a:rPr>
              <a:t>Equal </a:t>
            </a:r>
            <a:r>
              <a:rPr lang="en-US" sz="1050" dirty="0">
                <a:latin typeface="Arial" panose="020B0604020202020204" pitchFamily="34" charset="0"/>
                <a:cs typeface="Arial" panose="020B0604020202020204" pitchFamily="34" charset="0"/>
              </a:rPr>
              <a:t>Distance</a:t>
            </a:r>
          </a:p>
        </p:txBody>
      </p:sp>
    </p:spTree>
    <p:extLst>
      <p:ext uri="{BB962C8B-B14F-4D97-AF65-F5344CB8AC3E}">
        <p14:creationId xmlns:p14="http://schemas.microsoft.com/office/powerpoint/2010/main" val="225372281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23"/>
          <p:cNvSpPr/>
          <p:nvPr/>
        </p:nvSpPr>
        <p:spPr>
          <a:xfrm>
            <a:off x="5961971" y="6408198"/>
            <a:ext cx="2951460" cy="798054"/>
          </a:xfrm>
          <a:prstGeom prst="rect">
            <a:avLst/>
          </a:prstGeom>
          <a:solidFill>
            <a:schemeClr val="bg2">
              <a:lumMod val="75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25" name="Rectangle 24"/>
          <p:cNvSpPr/>
          <p:nvPr/>
        </p:nvSpPr>
        <p:spPr>
          <a:xfrm>
            <a:off x="145771" y="6393321"/>
            <a:ext cx="9684029" cy="798054"/>
          </a:xfrm>
          <a:prstGeom prst="rect">
            <a:avLst/>
          </a:prstGeom>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 name="Title 1"/>
          <p:cNvSpPr>
            <a:spLocks noGrp="1"/>
          </p:cNvSpPr>
          <p:nvPr>
            <p:ph type="title"/>
          </p:nvPr>
        </p:nvSpPr>
        <p:spPr>
          <a:xfrm>
            <a:off x="3023670" y="237067"/>
            <a:ext cx="6806130" cy="677966"/>
          </a:xfrm>
        </p:spPr>
        <p:txBody>
          <a:bodyPr/>
          <a:lstStyle/>
          <a:p>
            <a:r>
              <a:rPr lang="en-US" dirty="0"/>
              <a:t>Modeling </a:t>
            </a:r>
            <a:r>
              <a:rPr lang="en-US" dirty="0" smtClean="0"/>
              <a:t>Methods: Spline III</a:t>
            </a:r>
            <a:endParaRPr lang="en-US" dirty="0"/>
          </a:p>
        </p:txBody>
      </p:sp>
      <p:pic>
        <p:nvPicPr>
          <p:cNvPr id="4" name="Content Placeholder 3"/>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210958" y="6350025"/>
            <a:ext cx="916369" cy="914400"/>
          </a:xfrm>
        </p:spPr>
      </p:pic>
      <p:pic>
        <p:nvPicPr>
          <p:cNvPr id="5" name="Picture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19955" y="6367374"/>
            <a:ext cx="916370" cy="914400"/>
          </a:xfrm>
          <a:prstGeom prst="rect">
            <a:avLst/>
          </a:prstGeom>
        </p:spPr>
      </p:pic>
      <p:pic>
        <p:nvPicPr>
          <p:cNvPr id="6" name="Picture 5"/>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094140" y="6359550"/>
            <a:ext cx="916370" cy="914400"/>
          </a:xfrm>
          <a:prstGeom prst="rect">
            <a:avLst/>
          </a:prstGeom>
        </p:spPr>
      </p:pic>
      <p:pic>
        <p:nvPicPr>
          <p:cNvPr id="7" name="Picture 6"/>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068325" y="6367374"/>
            <a:ext cx="916370" cy="914400"/>
          </a:xfrm>
          <a:prstGeom prst="rect">
            <a:avLst/>
          </a:prstGeom>
        </p:spPr>
      </p:pic>
      <p:pic>
        <p:nvPicPr>
          <p:cNvPr id="8" name="Picture 7"/>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042510" y="6367374"/>
            <a:ext cx="916370" cy="914400"/>
          </a:xfrm>
          <a:prstGeom prst="rect">
            <a:avLst/>
          </a:prstGeom>
        </p:spPr>
      </p:pic>
      <p:pic>
        <p:nvPicPr>
          <p:cNvPr id="9" name="Picture 8"/>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4987785" y="6363723"/>
            <a:ext cx="916370" cy="914400"/>
          </a:xfrm>
          <a:prstGeom prst="rect">
            <a:avLst/>
          </a:prstGeom>
        </p:spPr>
      </p:pic>
      <p:pic>
        <p:nvPicPr>
          <p:cNvPr id="10" name="Picture 9"/>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5990880" y="6367374"/>
            <a:ext cx="916369" cy="914400"/>
          </a:xfrm>
          <a:prstGeom prst="rect">
            <a:avLst/>
          </a:prstGeom>
        </p:spPr>
      </p:pic>
      <p:pic>
        <p:nvPicPr>
          <p:cNvPr id="11" name="Picture 10"/>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6965064" y="6359550"/>
            <a:ext cx="916369" cy="914400"/>
          </a:xfrm>
          <a:prstGeom prst="rect">
            <a:avLst/>
          </a:prstGeom>
        </p:spPr>
      </p:pic>
      <p:pic>
        <p:nvPicPr>
          <p:cNvPr id="12" name="Picture 11"/>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7910670" y="6367374"/>
            <a:ext cx="916369" cy="914400"/>
          </a:xfrm>
          <a:prstGeom prst="rect">
            <a:avLst/>
          </a:prstGeom>
        </p:spPr>
      </p:pic>
      <p:pic>
        <p:nvPicPr>
          <p:cNvPr id="13" name="Picture 12"/>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8913431" y="6367374"/>
            <a:ext cx="916369" cy="914400"/>
          </a:xfrm>
          <a:prstGeom prst="rect">
            <a:avLst/>
          </a:prstGeom>
        </p:spPr>
      </p:pic>
      <p:cxnSp>
        <p:nvCxnSpPr>
          <p:cNvPr id="17" name="Straight Connector 16"/>
          <p:cNvCxnSpPr/>
          <p:nvPr/>
        </p:nvCxnSpPr>
        <p:spPr>
          <a:xfrm>
            <a:off x="836047" y="1277838"/>
            <a:ext cx="8286024" cy="0"/>
          </a:xfrm>
          <a:prstGeom prst="line">
            <a:avLst/>
          </a:prstGeom>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3390901" y="1123950"/>
            <a:ext cx="2857500" cy="338554"/>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sz="1600" dirty="0" smtClean="0">
                <a:latin typeface="Arial" panose="020B0604020202020204" pitchFamily="34" charset="0"/>
                <a:cs typeface="Arial" panose="020B0604020202020204" pitchFamily="34" charset="0"/>
              </a:rPr>
              <a:t>3. Least Square Optimization</a:t>
            </a:r>
            <a:endParaRPr lang="en-US" sz="1600" dirty="0">
              <a:latin typeface="Arial" panose="020B0604020202020204" pitchFamily="34" charset="0"/>
              <a:cs typeface="Arial" panose="020B0604020202020204" pitchFamily="34" charset="0"/>
            </a:endParaRPr>
          </a:p>
        </p:txBody>
      </p:sp>
      <p:sp>
        <p:nvSpPr>
          <p:cNvPr id="26" name="TextBox 25"/>
          <p:cNvSpPr txBox="1"/>
          <p:nvPr/>
        </p:nvSpPr>
        <p:spPr>
          <a:xfrm>
            <a:off x="836047" y="3224689"/>
            <a:ext cx="2565835" cy="261610"/>
          </a:xfrm>
          <a:prstGeom prst="rect">
            <a:avLst/>
          </a:prstGeom>
          <a:noFill/>
        </p:spPr>
        <p:txBody>
          <a:bodyPr wrap="square" rtlCol="0">
            <a:spAutoFit/>
          </a:bodyPr>
          <a:lstStyle/>
          <a:p>
            <a:pPr algn="ctr"/>
            <a:r>
              <a:rPr lang="en-US" sz="1100" i="1" dirty="0" smtClean="0">
                <a:latin typeface="Arial" panose="020B0604020202020204" pitchFamily="34" charset="0"/>
                <a:cs typeface="Arial" panose="020B0604020202020204" pitchFamily="34" charset="0"/>
              </a:rPr>
              <a:t>Spline using Knots Value</a:t>
            </a:r>
            <a:endParaRPr lang="en-US" sz="1100" i="1" dirty="0">
              <a:latin typeface="Arial" panose="020B0604020202020204" pitchFamily="34" charset="0"/>
              <a:cs typeface="Arial" panose="020B0604020202020204" pitchFamily="34" charset="0"/>
            </a:endParaRPr>
          </a:p>
        </p:txBody>
      </p:sp>
      <p:sp>
        <p:nvSpPr>
          <p:cNvPr id="47" name="TextBox 46"/>
          <p:cNvSpPr txBox="1"/>
          <p:nvPr/>
        </p:nvSpPr>
        <p:spPr>
          <a:xfrm>
            <a:off x="3865485" y="3218825"/>
            <a:ext cx="2608009" cy="261610"/>
          </a:xfrm>
          <a:prstGeom prst="rect">
            <a:avLst/>
          </a:prstGeom>
          <a:noFill/>
        </p:spPr>
        <p:txBody>
          <a:bodyPr wrap="square" rtlCol="0">
            <a:spAutoFit/>
          </a:bodyPr>
          <a:lstStyle/>
          <a:p>
            <a:pPr algn="ctr"/>
            <a:r>
              <a:rPr lang="en-US" sz="1100" i="1" dirty="0" smtClean="0">
                <a:latin typeface="Arial" panose="020B0604020202020204" pitchFamily="34" charset="0"/>
                <a:cs typeface="Arial" panose="020B0604020202020204" pitchFamily="34" charset="0"/>
              </a:rPr>
              <a:t>Optimal </a:t>
            </a:r>
            <a:r>
              <a:rPr lang="en-US" altLang="zh-CN" sz="1100" i="1" dirty="0" smtClean="0">
                <a:latin typeface="Arial" panose="020B0604020202020204" pitchFamily="34" charset="0"/>
                <a:cs typeface="Arial" panose="020B0604020202020204" pitchFamily="34" charset="0"/>
              </a:rPr>
              <a:t>Knots</a:t>
            </a:r>
            <a:r>
              <a:rPr lang="zh-CN" altLang="en-US" sz="1100" i="1" dirty="0" smtClean="0">
                <a:latin typeface="Arial" panose="020B0604020202020204" pitchFamily="34" charset="0"/>
                <a:cs typeface="Arial" panose="020B0604020202020204" pitchFamily="34" charset="0"/>
              </a:rPr>
              <a:t> </a:t>
            </a:r>
            <a:r>
              <a:rPr lang="en-US" altLang="zh-CN" sz="1100" i="1" dirty="0" smtClean="0">
                <a:latin typeface="Arial" panose="020B0604020202020204" pitchFamily="34" charset="0"/>
                <a:cs typeface="Arial" panose="020B0604020202020204" pitchFamily="34" charset="0"/>
              </a:rPr>
              <a:t>Value and Spline Curve</a:t>
            </a:r>
            <a:endParaRPr lang="en-US" sz="1100" i="1" dirty="0">
              <a:latin typeface="Arial" panose="020B0604020202020204" pitchFamily="34" charset="0"/>
              <a:cs typeface="Arial" panose="020B0604020202020204" pitchFamily="34" charset="0"/>
            </a:endParaRPr>
          </a:p>
        </p:txBody>
      </p:sp>
      <p:sp>
        <p:nvSpPr>
          <p:cNvPr id="48" name="TextBox 47"/>
          <p:cNvSpPr txBox="1"/>
          <p:nvPr/>
        </p:nvSpPr>
        <p:spPr>
          <a:xfrm>
            <a:off x="7260819" y="3221057"/>
            <a:ext cx="1973828" cy="261610"/>
          </a:xfrm>
          <a:prstGeom prst="rect">
            <a:avLst/>
          </a:prstGeom>
          <a:noFill/>
        </p:spPr>
        <p:txBody>
          <a:bodyPr wrap="square" rtlCol="0">
            <a:spAutoFit/>
          </a:bodyPr>
          <a:lstStyle/>
          <a:p>
            <a:pPr algn="ctr"/>
            <a:r>
              <a:rPr lang="en-US" altLang="zh-CN" sz="1100" i="1" dirty="0" smtClean="0">
                <a:latin typeface="Arial" panose="020B0604020202020204" pitchFamily="34" charset="0"/>
                <a:cs typeface="Arial" panose="020B0604020202020204" pitchFamily="34" charset="0"/>
              </a:rPr>
              <a:t>Model Value</a:t>
            </a:r>
            <a:endParaRPr lang="en-US" sz="1100" i="1" dirty="0">
              <a:latin typeface="Arial" panose="020B0604020202020204" pitchFamily="34" charset="0"/>
              <a:cs typeface="Arial" panose="020B0604020202020204" pitchFamily="34" charset="0"/>
            </a:endParaRPr>
          </a:p>
        </p:txBody>
      </p:sp>
      <p:sp>
        <p:nvSpPr>
          <p:cNvPr id="50" name="AutoShape 13"/>
          <p:cNvSpPr>
            <a:spLocks noChangeArrowheads="1"/>
          </p:cNvSpPr>
          <p:nvPr>
            <p:custDataLst>
              <p:tags r:id="rId1"/>
            </p:custDataLst>
          </p:nvPr>
        </p:nvSpPr>
        <p:spPr bwMode="auto">
          <a:xfrm>
            <a:off x="3397922" y="4039067"/>
            <a:ext cx="257175" cy="850900"/>
          </a:xfrm>
          <a:prstGeom prst="rightArrow">
            <a:avLst>
              <a:gd name="adj1" fmla="val 50000"/>
              <a:gd name="adj2" fmla="val 52278"/>
            </a:avLst>
          </a:prstGeom>
          <a:solidFill>
            <a:schemeClr val="bg2">
              <a:lumMod val="75000"/>
            </a:schemeClr>
          </a:solidFill>
          <a:ln w="12700" algn="ctr">
            <a:solidFill>
              <a:schemeClr val="bg1"/>
            </a:solidFill>
            <a:miter lim="800000"/>
            <a:headEnd/>
            <a:tailEnd/>
          </a:ln>
        </p:spPr>
        <p:txBody>
          <a:bodyPr tIns="91440" bIns="91440" anchor="ctr"/>
          <a:lstStyle/>
          <a:p>
            <a:pPr algn="ctr">
              <a:defRPr/>
            </a:pPr>
            <a:endParaRPr lang="en-US" dirty="0">
              <a:latin typeface="Arial Unicode MS" pitchFamily="34" charset="-122"/>
              <a:ea typeface="Arial Unicode MS" pitchFamily="34" charset="-122"/>
              <a:cs typeface="Arial Unicode MS" pitchFamily="34" charset="-122"/>
            </a:endParaRPr>
          </a:p>
        </p:txBody>
      </p:sp>
      <p:sp>
        <p:nvSpPr>
          <p:cNvPr id="3" name="TextBox 2"/>
          <p:cNvSpPr txBox="1"/>
          <p:nvPr/>
        </p:nvSpPr>
        <p:spPr>
          <a:xfrm>
            <a:off x="983220" y="1462504"/>
            <a:ext cx="8286024" cy="738664"/>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The model curve (red line) pass through the weight mean points (black points). However, there is estimated error, which we want to minimize. Here we use least square method to optimize the knots value. </a:t>
            </a:r>
          </a:p>
        </p:txBody>
      </p:sp>
      <p:pic>
        <p:nvPicPr>
          <p:cNvPr id="34" name="Picture 33"/>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779382" y="3184357"/>
            <a:ext cx="2565833" cy="2560320"/>
          </a:xfrm>
          <a:prstGeom prst="rect">
            <a:avLst/>
          </a:prstGeom>
        </p:spPr>
      </p:pic>
      <p:pic>
        <p:nvPicPr>
          <p:cNvPr id="35" name="Picture 34"/>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3843316" y="3184357"/>
            <a:ext cx="2565833" cy="2560320"/>
          </a:xfrm>
          <a:prstGeom prst="rect">
            <a:avLst/>
          </a:prstGeom>
        </p:spPr>
      </p:pic>
      <p:pic>
        <p:nvPicPr>
          <p:cNvPr id="36" name="Picture 35"/>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6907249" y="3184357"/>
            <a:ext cx="2565833" cy="2560320"/>
          </a:xfrm>
          <a:prstGeom prst="rect">
            <a:avLst/>
          </a:prstGeom>
        </p:spPr>
      </p:pic>
      <p:sp>
        <p:nvSpPr>
          <p:cNvPr id="37" name="AutoShape 13"/>
          <p:cNvSpPr>
            <a:spLocks noChangeArrowheads="1"/>
          </p:cNvSpPr>
          <p:nvPr>
            <p:custDataLst>
              <p:tags r:id="rId2"/>
            </p:custDataLst>
          </p:nvPr>
        </p:nvSpPr>
        <p:spPr bwMode="auto">
          <a:xfrm>
            <a:off x="6494186" y="4039067"/>
            <a:ext cx="257175" cy="850900"/>
          </a:xfrm>
          <a:prstGeom prst="rightArrow">
            <a:avLst>
              <a:gd name="adj1" fmla="val 50000"/>
              <a:gd name="adj2" fmla="val 52278"/>
            </a:avLst>
          </a:prstGeom>
          <a:solidFill>
            <a:schemeClr val="bg2">
              <a:lumMod val="75000"/>
            </a:schemeClr>
          </a:solidFill>
          <a:ln w="12700" algn="ctr">
            <a:solidFill>
              <a:schemeClr val="bg1"/>
            </a:solidFill>
            <a:miter lim="800000"/>
            <a:headEnd/>
            <a:tailEnd/>
          </a:ln>
        </p:spPr>
        <p:txBody>
          <a:bodyPr tIns="91440" bIns="91440" anchor="ctr"/>
          <a:lstStyle/>
          <a:p>
            <a:pPr algn="ctr">
              <a:defRPr/>
            </a:pPr>
            <a:endParaRPr lang="en-US" dirty="0">
              <a:latin typeface="Arial Unicode MS" pitchFamily="34" charset="-122"/>
              <a:ea typeface="Arial Unicode MS" pitchFamily="34" charset="-122"/>
              <a:cs typeface="Arial Unicode MS" pitchFamily="34" charset="-122"/>
            </a:endParaRPr>
          </a:p>
        </p:txBody>
      </p:sp>
      <p:sp>
        <p:nvSpPr>
          <p:cNvPr id="15" name="TextBox 14"/>
          <p:cNvSpPr txBox="1"/>
          <p:nvPr/>
        </p:nvSpPr>
        <p:spPr>
          <a:xfrm>
            <a:off x="2036324" y="2268438"/>
            <a:ext cx="6361107" cy="307777"/>
          </a:xfrm>
          <a:prstGeom prst="rect">
            <a:avLst/>
          </a:prstGeom>
          <a:noFill/>
        </p:spPr>
        <p:txBody>
          <a:bodyPr wrap="square" rtlCol="0">
            <a:spAutoFit/>
          </a:bodyPr>
          <a:lstStyle/>
          <a:p>
            <a:pPr algn="ctr"/>
            <a:r>
              <a:rPr lang="en-US" sz="1400" dirty="0">
                <a:latin typeface="Arial" panose="020B0604020202020204" pitchFamily="34" charset="0"/>
                <a:cs typeface="Arial" panose="020B0604020202020204" pitchFamily="34" charset="0"/>
              </a:rPr>
              <a:t>Error Term = ∑ (predict value on spline – weighted average </a:t>
            </a:r>
            <a:r>
              <a:rPr lang="en-US" sz="1400" dirty="0" smtClean="0">
                <a:latin typeface="Arial" panose="020B0604020202020204" pitchFamily="34" charset="0"/>
                <a:cs typeface="Arial" panose="020B0604020202020204" pitchFamily="34" charset="0"/>
              </a:rPr>
              <a:t>value)</a:t>
            </a:r>
            <a:r>
              <a:rPr lang="en-US" sz="1400" baseline="30000" dirty="0" smtClean="0">
                <a:latin typeface="Arial" panose="020B0604020202020204" pitchFamily="34" charset="0"/>
                <a:cs typeface="Arial" panose="020B0604020202020204" pitchFamily="34" charset="0"/>
              </a:rPr>
              <a:t>2</a:t>
            </a:r>
            <a:endParaRPr lang="en-US"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1014349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3390901" y="2314575"/>
            <a:ext cx="3476624" cy="1176249"/>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p:cNvSpPr/>
          <p:nvPr/>
        </p:nvSpPr>
        <p:spPr>
          <a:xfrm>
            <a:off x="3390901" y="3599623"/>
            <a:ext cx="3476624" cy="1176249"/>
          </a:xfrm>
          <a:prstGeom prst="rect">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p:cNvSpPr/>
          <p:nvPr/>
        </p:nvSpPr>
        <p:spPr>
          <a:xfrm>
            <a:off x="3390901" y="4884672"/>
            <a:ext cx="3476624" cy="1176249"/>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8913431" y="6393321"/>
            <a:ext cx="916369" cy="798054"/>
          </a:xfrm>
          <a:prstGeom prst="rect">
            <a:avLst/>
          </a:prstGeom>
          <a:solidFill>
            <a:schemeClr val="accent2">
              <a:lumMod val="20000"/>
              <a:lumOff val="8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7" name="Rectangle 26"/>
          <p:cNvSpPr/>
          <p:nvPr/>
        </p:nvSpPr>
        <p:spPr>
          <a:xfrm>
            <a:off x="4042509" y="6397650"/>
            <a:ext cx="1933915" cy="798054"/>
          </a:xfrm>
          <a:prstGeom prst="rect">
            <a:avLst/>
          </a:prstGeom>
          <a:solidFill>
            <a:schemeClr val="bg2">
              <a:lumMod val="9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28" name="Rectangle 27"/>
          <p:cNvSpPr/>
          <p:nvPr/>
        </p:nvSpPr>
        <p:spPr>
          <a:xfrm>
            <a:off x="162491" y="6397650"/>
            <a:ext cx="3880018" cy="798054"/>
          </a:xfrm>
          <a:prstGeom prst="rect">
            <a:avLst/>
          </a:prstGeom>
          <a:solidFill>
            <a:schemeClr val="bg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24" name="Rectangle 23"/>
          <p:cNvSpPr/>
          <p:nvPr/>
        </p:nvSpPr>
        <p:spPr>
          <a:xfrm>
            <a:off x="5961971" y="6408198"/>
            <a:ext cx="2951460" cy="798054"/>
          </a:xfrm>
          <a:prstGeom prst="rect">
            <a:avLst/>
          </a:prstGeom>
          <a:solidFill>
            <a:schemeClr val="bg2">
              <a:lumMod val="75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25" name="Rectangle 24"/>
          <p:cNvSpPr/>
          <p:nvPr/>
        </p:nvSpPr>
        <p:spPr>
          <a:xfrm>
            <a:off x="145771" y="6393321"/>
            <a:ext cx="9684029" cy="798054"/>
          </a:xfrm>
          <a:prstGeom prst="rect">
            <a:avLst/>
          </a:prstGeom>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 name="Title 1"/>
          <p:cNvSpPr>
            <a:spLocks noGrp="1"/>
          </p:cNvSpPr>
          <p:nvPr>
            <p:ph type="title"/>
          </p:nvPr>
        </p:nvSpPr>
        <p:spPr>
          <a:xfrm>
            <a:off x="3023670" y="237067"/>
            <a:ext cx="6806130" cy="677966"/>
          </a:xfrm>
        </p:spPr>
        <p:txBody>
          <a:bodyPr/>
          <a:lstStyle/>
          <a:p>
            <a:r>
              <a:rPr lang="en-US" dirty="0"/>
              <a:t>Modeling Methods</a:t>
            </a:r>
          </a:p>
        </p:txBody>
      </p:sp>
      <p:pic>
        <p:nvPicPr>
          <p:cNvPr id="4" name="Content Placeholder 3"/>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210958" y="6350025"/>
            <a:ext cx="916369" cy="914400"/>
          </a:xfrm>
        </p:spPr>
      </p:pic>
      <p:pic>
        <p:nvPicPr>
          <p:cNvPr id="5" name="Picture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19955" y="6367374"/>
            <a:ext cx="916370" cy="914400"/>
          </a:xfrm>
          <a:prstGeom prst="rect">
            <a:avLst/>
          </a:prstGeom>
        </p:spPr>
      </p:pic>
      <p:pic>
        <p:nvPicPr>
          <p:cNvPr id="6" name="Picture 5"/>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094140" y="6359550"/>
            <a:ext cx="916370" cy="914400"/>
          </a:xfrm>
          <a:prstGeom prst="rect">
            <a:avLst/>
          </a:prstGeom>
        </p:spPr>
      </p:pic>
      <p:pic>
        <p:nvPicPr>
          <p:cNvPr id="7" name="Picture 6"/>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068325" y="6367374"/>
            <a:ext cx="916370" cy="914400"/>
          </a:xfrm>
          <a:prstGeom prst="rect">
            <a:avLst/>
          </a:prstGeom>
        </p:spPr>
      </p:pic>
      <p:pic>
        <p:nvPicPr>
          <p:cNvPr id="8" name="Picture 7"/>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042510" y="6367374"/>
            <a:ext cx="916370" cy="914400"/>
          </a:xfrm>
          <a:prstGeom prst="rect">
            <a:avLst/>
          </a:prstGeom>
        </p:spPr>
      </p:pic>
      <p:pic>
        <p:nvPicPr>
          <p:cNvPr id="9" name="Picture 8"/>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4987785" y="6363879"/>
            <a:ext cx="916370" cy="914400"/>
          </a:xfrm>
          <a:prstGeom prst="rect">
            <a:avLst/>
          </a:prstGeom>
        </p:spPr>
      </p:pic>
      <p:pic>
        <p:nvPicPr>
          <p:cNvPr id="10" name="Picture 9"/>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6048694" y="6358446"/>
            <a:ext cx="916369" cy="914400"/>
          </a:xfrm>
          <a:prstGeom prst="rect">
            <a:avLst/>
          </a:prstGeom>
        </p:spPr>
      </p:pic>
      <p:pic>
        <p:nvPicPr>
          <p:cNvPr id="11" name="Picture 10"/>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6965064" y="6359550"/>
            <a:ext cx="916369" cy="914400"/>
          </a:xfrm>
          <a:prstGeom prst="rect">
            <a:avLst/>
          </a:prstGeom>
        </p:spPr>
      </p:pic>
      <p:pic>
        <p:nvPicPr>
          <p:cNvPr id="12" name="Picture 11"/>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7939248" y="6359550"/>
            <a:ext cx="916369" cy="914400"/>
          </a:xfrm>
          <a:prstGeom prst="rect">
            <a:avLst/>
          </a:prstGeom>
        </p:spPr>
      </p:pic>
      <p:pic>
        <p:nvPicPr>
          <p:cNvPr id="13" name="Picture 12"/>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8913431" y="6367374"/>
            <a:ext cx="916369" cy="914400"/>
          </a:xfrm>
          <a:prstGeom prst="rect">
            <a:avLst/>
          </a:prstGeom>
        </p:spPr>
      </p:pic>
      <p:cxnSp>
        <p:nvCxnSpPr>
          <p:cNvPr id="17" name="Straight Connector 16"/>
          <p:cNvCxnSpPr/>
          <p:nvPr/>
        </p:nvCxnSpPr>
        <p:spPr>
          <a:xfrm>
            <a:off x="836047" y="1277838"/>
            <a:ext cx="8286024" cy="0"/>
          </a:xfrm>
          <a:prstGeom prst="line">
            <a:avLst/>
          </a:prstGeom>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3390901" y="1123950"/>
            <a:ext cx="2857500" cy="338554"/>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sz="1600" dirty="0" smtClean="0">
                <a:latin typeface="Arial" panose="020B0604020202020204" pitchFamily="34" charset="0"/>
                <a:cs typeface="Arial" panose="020B0604020202020204" pitchFamily="34" charset="0"/>
              </a:rPr>
              <a:t>Model Method Overview</a:t>
            </a:r>
            <a:endParaRPr lang="en-US" sz="1600" dirty="0">
              <a:latin typeface="Arial" panose="020B0604020202020204" pitchFamily="34" charset="0"/>
              <a:cs typeface="Arial" panose="020B0604020202020204" pitchFamily="34" charset="0"/>
            </a:endParaRPr>
          </a:p>
        </p:txBody>
      </p:sp>
      <p:sp>
        <p:nvSpPr>
          <p:cNvPr id="3" name="TextBox 2"/>
          <p:cNvSpPr txBox="1"/>
          <p:nvPr/>
        </p:nvSpPr>
        <p:spPr>
          <a:xfrm>
            <a:off x="983220" y="1462504"/>
            <a:ext cx="8286024" cy="738664"/>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So we get the spline function, as our model curve. When we get a new CLTV value, we use this spline function to predict our model SMM value corresponding to CLTV. Here we do the prediction for all the original data and show a comparison with the raw data.</a:t>
            </a:r>
          </a:p>
        </p:txBody>
      </p:sp>
      <p:pic>
        <p:nvPicPr>
          <p:cNvPr id="29" name="Content Placeholder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auto">
          <a:xfrm>
            <a:off x="502491" y="2912477"/>
            <a:ext cx="2565834" cy="2560320"/>
          </a:xfrm>
          <a:prstGeom prst="rect">
            <a:avLst/>
          </a:prstGeom>
          <a:noFill/>
          <a:ln w="9525">
            <a:noFill/>
            <a:miter lim="800000"/>
            <a:headEnd/>
            <a:tailEnd/>
          </a:ln>
        </p:spPr>
      </p:pic>
      <p:pic>
        <p:nvPicPr>
          <p:cNvPr id="30" name="Picture 2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152615" y="2912477"/>
            <a:ext cx="2565833" cy="2560320"/>
          </a:xfrm>
          <a:prstGeom prst="rect">
            <a:avLst/>
          </a:prstGeom>
        </p:spPr>
      </p:pic>
      <p:pic>
        <p:nvPicPr>
          <p:cNvPr id="31" name="Picture 3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692023" y="2576424"/>
            <a:ext cx="916370" cy="914400"/>
          </a:xfrm>
          <a:prstGeom prst="rect">
            <a:avLst/>
          </a:prstGeom>
        </p:spPr>
      </p:pic>
      <p:pic>
        <p:nvPicPr>
          <p:cNvPr id="32" name="Picture 3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666208" y="2568600"/>
            <a:ext cx="916370" cy="914400"/>
          </a:xfrm>
          <a:prstGeom prst="rect">
            <a:avLst/>
          </a:prstGeom>
        </p:spPr>
      </p:pic>
      <p:pic>
        <p:nvPicPr>
          <p:cNvPr id="33" name="Picture 32"/>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640393" y="2576424"/>
            <a:ext cx="916370" cy="914400"/>
          </a:xfrm>
          <a:prstGeom prst="rect">
            <a:avLst/>
          </a:prstGeom>
        </p:spPr>
      </p:pic>
      <p:pic>
        <p:nvPicPr>
          <p:cNvPr id="38" name="Picture 37"/>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236933" y="3839636"/>
            <a:ext cx="916370" cy="914400"/>
          </a:xfrm>
          <a:prstGeom prst="rect">
            <a:avLst/>
          </a:prstGeom>
        </p:spPr>
      </p:pic>
      <p:pic>
        <p:nvPicPr>
          <p:cNvPr id="39" name="Picture 38"/>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182208" y="3839636"/>
            <a:ext cx="916370" cy="914400"/>
          </a:xfrm>
          <a:prstGeom prst="rect">
            <a:avLst/>
          </a:prstGeom>
        </p:spPr>
      </p:pic>
      <p:pic>
        <p:nvPicPr>
          <p:cNvPr id="40" name="Picture 39"/>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236934" y="5110671"/>
            <a:ext cx="916369" cy="914400"/>
          </a:xfrm>
          <a:prstGeom prst="rect">
            <a:avLst/>
          </a:prstGeom>
        </p:spPr>
      </p:pic>
      <p:pic>
        <p:nvPicPr>
          <p:cNvPr id="41" name="Picture 40"/>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5182208" y="5111775"/>
            <a:ext cx="916369" cy="914400"/>
          </a:xfrm>
          <a:prstGeom prst="rect">
            <a:avLst/>
          </a:prstGeom>
        </p:spPr>
      </p:pic>
      <p:sp>
        <p:nvSpPr>
          <p:cNvPr id="19" name="TextBox 18"/>
          <p:cNvSpPr txBox="1"/>
          <p:nvPr/>
        </p:nvSpPr>
        <p:spPr>
          <a:xfrm>
            <a:off x="3692023" y="2314575"/>
            <a:ext cx="2937377" cy="261610"/>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1.Bucket and Weighted </a:t>
            </a:r>
            <a:r>
              <a:rPr lang="en-US" sz="1100" dirty="0" smtClean="0">
                <a:latin typeface="Arial" panose="020B0604020202020204" pitchFamily="34" charset="0"/>
                <a:cs typeface="Arial" panose="020B0604020202020204" pitchFamily="34" charset="0"/>
              </a:rPr>
              <a:t>Mean</a:t>
            </a:r>
            <a:endParaRPr lang="en-US" sz="1100" dirty="0">
              <a:latin typeface="Arial" panose="020B0604020202020204" pitchFamily="34" charset="0"/>
              <a:cs typeface="Arial" panose="020B0604020202020204" pitchFamily="34" charset="0"/>
            </a:endParaRPr>
          </a:p>
        </p:txBody>
      </p:sp>
      <p:sp>
        <p:nvSpPr>
          <p:cNvPr id="44" name="TextBox 43"/>
          <p:cNvSpPr txBox="1"/>
          <p:nvPr/>
        </p:nvSpPr>
        <p:spPr>
          <a:xfrm>
            <a:off x="3713519" y="3599623"/>
            <a:ext cx="2937377" cy="261610"/>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2. Spline and Interpolation</a:t>
            </a:r>
          </a:p>
        </p:txBody>
      </p:sp>
      <p:sp>
        <p:nvSpPr>
          <p:cNvPr id="45" name="TextBox 44"/>
          <p:cNvSpPr txBox="1"/>
          <p:nvPr/>
        </p:nvSpPr>
        <p:spPr>
          <a:xfrm>
            <a:off x="3713518" y="4884672"/>
            <a:ext cx="2937377" cy="261610"/>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3. Least Square Optimization</a:t>
            </a:r>
          </a:p>
        </p:txBody>
      </p:sp>
      <p:sp>
        <p:nvSpPr>
          <p:cNvPr id="46" name="AutoShape 13"/>
          <p:cNvSpPr>
            <a:spLocks noChangeArrowheads="1"/>
          </p:cNvSpPr>
          <p:nvPr>
            <p:custDataLst>
              <p:tags r:id="rId1"/>
            </p:custDataLst>
          </p:nvPr>
        </p:nvSpPr>
        <p:spPr bwMode="auto">
          <a:xfrm>
            <a:off x="3010510" y="3871386"/>
            <a:ext cx="257175" cy="850900"/>
          </a:xfrm>
          <a:prstGeom prst="rightArrow">
            <a:avLst>
              <a:gd name="adj1" fmla="val 50000"/>
              <a:gd name="adj2" fmla="val 52278"/>
            </a:avLst>
          </a:prstGeom>
          <a:solidFill>
            <a:schemeClr val="accent1"/>
          </a:solidFill>
          <a:ln w="12700" algn="ctr">
            <a:solidFill>
              <a:schemeClr val="bg1"/>
            </a:solidFill>
            <a:miter lim="800000"/>
            <a:headEnd/>
            <a:tailEnd/>
          </a:ln>
        </p:spPr>
        <p:txBody>
          <a:bodyPr tIns="91440" bIns="91440" anchor="ctr"/>
          <a:lstStyle/>
          <a:p>
            <a:pPr algn="ctr">
              <a:defRPr/>
            </a:pPr>
            <a:endParaRPr lang="en-US" dirty="0">
              <a:latin typeface="Arial Unicode MS" pitchFamily="34" charset="-122"/>
              <a:ea typeface="Arial Unicode MS" pitchFamily="34" charset="-122"/>
              <a:cs typeface="Arial Unicode MS" pitchFamily="34" charset="-122"/>
            </a:endParaRPr>
          </a:p>
        </p:txBody>
      </p:sp>
      <p:sp>
        <p:nvSpPr>
          <p:cNvPr id="49" name="AutoShape 13"/>
          <p:cNvSpPr>
            <a:spLocks noChangeArrowheads="1"/>
          </p:cNvSpPr>
          <p:nvPr>
            <p:custDataLst>
              <p:tags r:id="rId2"/>
            </p:custDataLst>
          </p:nvPr>
        </p:nvSpPr>
        <p:spPr bwMode="auto">
          <a:xfrm>
            <a:off x="6965064" y="3871386"/>
            <a:ext cx="257175" cy="850900"/>
          </a:xfrm>
          <a:prstGeom prst="rightArrow">
            <a:avLst>
              <a:gd name="adj1" fmla="val 50000"/>
              <a:gd name="adj2" fmla="val 52278"/>
            </a:avLst>
          </a:prstGeom>
          <a:solidFill>
            <a:schemeClr val="accent1"/>
          </a:solidFill>
          <a:ln w="12700" algn="ctr">
            <a:solidFill>
              <a:schemeClr val="bg1"/>
            </a:solidFill>
            <a:miter lim="800000"/>
            <a:headEnd/>
            <a:tailEnd/>
          </a:ln>
        </p:spPr>
        <p:txBody>
          <a:bodyPr tIns="91440" bIns="91440" anchor="ctr"/>
          <a:lstStyle/>
          <a:p>
            <a:pPr algn="ctr">
              <a:defRPr/>
            </a:pPr>
            <a:endParaRPr lang="en-US" dirty="0">
              <a:latin typeface="Arial Unicode MS" pitchFamily="34" charset="-122"/>
              <a:ea typeface="Arial Unicode MS" pitchFamily="34" charset="-122"/>
              <a:cs typeface="Arial Unicode MS" pitchFamily="34" charset="-122"/>
            </a:endParaRPr>
          </a:p>
        </p:txBody>
      </p:sp>
    </p:spTree>
    <p:extLst>
      <p:ext uri="{BB962C8B-B14F-4D97-AF65-F5344CB8AC3E}">
        <p14:creationId xmlns:p14="http://schemas.microsoft.com/office/powerpoint/2010/main" val="317096875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91941" y="3230325"/>
            <a:ext cx="2363152" cy="74160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2636660" y="3838575"/>
            <a:ext cx="2363152" cy="1133154"/>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p:cNvSpPr/>
          <p:nvPr/>
        </p:nvSpPr>
        <p:spPr>
          <a:xfrm>
            <a:off x="5026146" y="4152901"/>
            <a:ext cx="2363152" cy="99060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p:cNvSpPr/>
          <p:nvPr/>
        </p:nvSpPr>
        <p:spPr>
          <a:xfrm>
            <a:off x="7389298" y="3714749"/>
            <a:ext cx="2363152" cy="1057275"/>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023670" y="227542"/>
            <a:ext cx="6806130" cy="677966"/>
          </a:xfrm>
        </p:spPr>
        <p:txBody>
          <a:bodyPr/>
          <a:lstStyle/>
          <a:p>
            <a:r>
              <a:rPr lang="en-US" dirty="0">
                <a:latin typeface="Arial" panose="020B0604020202020204" pitchFamily="34" charset="0"/>
                <a:cs typeface="Arial" panose="020B0604020202020204" pitchFamily="34" charset="0"/>
              </a:rPr>
              <a:t>Modeling Overview and Structure</a:t>
            </a:r>
          </a:p>
        </p:txBody>
      </p:sp>
      <p:sp>
        <p:nvSpPr>
          <p:cNvPr id="4" name="Rectangle 3"/>
          <p:cNvSpPr/>
          <p:nvPr/>
        </p:nvSpPr>
        <p:spPr>
          <a:xfrm>
            <a:off x="1304925" y="1409700"/>
            <a:ext cx="70485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atin typeface="Arial" panose="020B0604020202020204" pitchFamily="34" charset="0"/>
                <a:cs typeface="Arial" panose="020B0604020202020204" pitchFamily="34" charset="0"/>
              </a:rPr>
              <a:t>Inputs</a:t>
            </a:r>
            <a:endParaRPr lang="en-US" dirty="0">
              <a:latin typeface="Arial" panose="020B0604020202020204" pitchFamily="34" charset="0"/>
              <a:cs typeface="Arial" panose="020B0604020202020204" pitchFamily="34" charset="0"/>
            </a:endParaRPr>
          </a:p>
        </p:txBody>
      </p:sp>
      <p:graphicFrame>
        <p:nvGraphicFramePr>
          <p:cNvPr id="5" name="Table 4"/>
          <p:cNvGraphicFramePr>
            <a:graphicFrameLocks noGrp="1"/>
          </p:cNvGraphicFramePr>
          <p:nvPr>
            <p:extLst>
              <p:ext uri="{D42A27DB-BD31-4B8C-83A1-F6EECF244321}">
                <p14:modId xmlns:p14="http://schemas.microsoft.com/office/powerpoint/2010/main" val="180606576"/>
              </p:ext>
            </p:extLst>
          </p:nvPr>
        </p:nvGraphicFramePr>
        <p:xfrm>
          <a:off x="376237" y="2918143"/>
          <a:ext cx="2194560" cy="990600"/>
        </p:xfrm>
        <a:graphic>
          <a:graphicData uri="http://schemas.openxmlformats.org/drawingml/2006/table">
            <a:tbl>
              <a:tblPr/>
              <a:tblGrid>
                <a:gridCol w="804863"/>
                <a:gridCol w="1389697"/>
              </a:tblGrid>
              <a:tr h="272732">
                <a:tc>
                  <a:txBody>
                    <a:bodyPr/>
                    <a:lstStyle/>
                    <a:p>
                      <a:pPr rtl="0" fontAlgn="t">
                        <a:spcBef>
                          <a:spcPts val="0"/>
                        </a:spcBef>
                        <a:spcAft>
                          <a:spcPts val="0"/>
                        </a:spcAft>
                      </a:pPr>
                      <a:r>
                        <a:rPr lang="en-US" sz="1000" b="0" i="0" u="none" strike="noStrike" dirty="0" smtClean="0">
                          <a:solidFill>
                            <a:srgbClr val="000000"/>
                          </a:solidFill>
                          <a:effectLst/>
                          <a:latin typeface="Arial" panose="020B0604020202020204" pitchFamily="34" charset="0"/>
                          <a:cs typeface="Arial" panose="020B0604020202020204" pitchFamily="34" charset="0"/>
                        </a:rPr>
                        <a:t>Parameter</a:t>
                      </a:r>
                      <a:endParaRPr lang="en-US" sz="1000" dirty="0">
                        <a:effectLst/>
                        <a:latin typeface="Arial" panose="020B0604020202020204" pitchFamily="34" charset="0"/>
                        <a:cs typeface="Arial" panose="020B0604020202020204" pitchFamily="34" charset="0"/>
                      </a:endParaRPr>
                    </a:p>
                  </a:txBody>
                  <a:tcPr marL="95250" marR="95250" marT="95250" marB="95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rtl="0" fontAlgn="t">
                        <a:spcBef>
                          <a:spcPts val="0"/>
                        </a:spcBef>
                        <a:spcAft>
                          <a:spcPts val="0"/>
                        </a:spcAft>
                      </a:pPr>
                      <a:r>
                        <a:rPr lang="en-US" sz="1000" b="0" i="0" u="none" strike="noStrike" dirty="0">
                          <a:solidFill>
                            <a:srgbClr val="000000"/>
                          </a:solidFill>
                          <a:effectLst/>
                          <a:latin typeface="Arial" panose="020B0604020202020204" pitchFamily="34" charset="0"/>
                          <a:cs typeface="Arial" panose="020B0604020202020204" pitchFamily="34" charset="0"/>
                        </a:rPr>
                        <a:t>Method</a:t>
                      </a:r>
                      <a:endParaRPr lang="en-US" sz="1000" dirty="0">
                        <a:effectLst/>
                        <a:latin typeface="Arial" panose="020B0604020202020204" pitchFamily="34" charset="0"/>
                        <a:cs typeface="Arial" panose="020B0604020202020204" pitchFamily="34" charset="0"/>
                      </a:endParaRPr>
                    </a:p>
                  </a:txBody>
                  <a:tcPr marL="95250" marR="95250" marT="95250" marB="95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570682">
                <a:tc>
                  <a:txBody>
                    <a:bodyPr/>
                    <a:lstStyle/>
                    <a:p>
                      <a:pPr rtl="0" fontAlgn="t">
                        <a:spcBef>
                          <a:spcPts val="0"/>
                        </a:spcBef>
                        <a:spcAft>
                          <a:spcPts val="0"/>
                        </a:spcAft>
                      </a:pPr>
                      <a:r>
                        <a:rPr lang="en-US" sz="1000" b="0" i="0" u="none" strike="noStrike" dirty="0" err="1" smtClean="0">
                          <a:solidFill>
                            <a:srgbClr val="000000"/>
                          </a:solidFill>
                          <a:effectLst/>
                          <a:latin typeface="Arial" panose="020B0604020202020204" pitchFamily="34" charset="0"/>
                          <a:cs typeface="Arial" panose="020B0604020202020204" pitchFamily="34" charset="0"/>
                        </a:rPr>
                        <a:t>wala</a:t>
                      </a:r>
                      <a:endParaRPr lang="en-US" sz="1000" dirty="0">
                        <a:effectLst/>
                        <a:latin typeface="Arial" panose="020B0604020202020204" pitchFamily="34" charset="0"/>
                        <a:cs typeface="Arial" panose="020B0604020202020204" pitchFamily="34" charset="0"/>
                      </a:endParaRPr>
                    </a:p>
                  </a:txBody>
                  <a:tcPr marL="95250" marR="95250" marT="95250" marB="95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rtl="0" fontAlgn="t">
                        <a:spcBef>
                          <a:spcPts val="0"/>
                        </a:spcBef>
                        <a:spcAft>
                          <a:spcPts val="0"/>
                        </a:spcAft>
                      </a:pPr>
                      <a:r>
                        <a:rPr lang="en-US" sz="1000" b="0" i="0" u="none" strike="noStrike" dirty="0">
                          <a:solidFill>
                            <a:srgbClr val="000000"/>
                          </a:solidFill>
                          <a:effectLst/>
                          <a:latin typeface="Arial" panose="020B0604020202020204" pitchFamily="34" charset="0"/>
                          <a:cs typeface="Arial" panose="020B0604020202020204" pitchFamily="34" charset="0"/>
                        </a:rPr>
                        <a:t>1. spline</a:t>
                      </a:r>
                      <a:endParaRPr lang="en-US" sz="1000" dirty="0">
                        <a:effectLst/>
                        <a:latin typeface="Arial" panose="020B0604020202020204" pitchFamily="34" charset="0"/>
                        <a:cs typeface="Arial" panose="020B0604020202020204" pitchFamily="34" charset="0"/>
                      </a:endParaRPr>
                    </a:p>
                    <a:p>
                      <a:pPr rtl="0" fontAlgn="t">
                        <a:spcBef>
                          <a:spcPts val="0"/>
                        </a:spcBef>
                        <a:spcAft>
                          <a:spcPts val="0"/>
                        </a:spcAft>
                      </a:pPr>
                      <a:r>
                        <a:rPr lang="en-US" sz="1000" b="0" i="0" u="none" strike="noStrike" dirty="0">
                          <a:solidFill>
                            <a:srgbClr val="000000"/>
                          </a:solidFill>
                          <a:effectLst/>
                          <a:latin typeface="Arial" panose="020B0604020202020204" pitchFamily="34" charset="0"/>
                          <a:cs typeface="Arial" panose="020B0604020202020204" pitchFamily="34" charset="0"/>
                        </a:rPr>
                        <a:t>2. least square optimal</a:t>
                      </a:r>
                      <a:endParaRPr lang="en-US" sz="1000" dirty="0">
                        <a:effectLst/>
                        <a:latin typeface="Arial" panose="020B0604020202020204" pitchFamily="34" charset="0"/>
                        <a:cs typeface="Arial" panose="020B0604020202020204" pitchFamily="34" charset="0"/>
                      </a:endParaRPr>
                    </a:p>
                  </a:txBody>
                  <a:tcPr marL="95250" marR="95250" marT="95250" marB="95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sp>
        <p:nvSpPr>
          <p:cNvPr id="6" name="Rectangle 1"/>
          <p:cNvSpPr>
            <a:spLocks noChangeArrowheads="1"/>
          </p:cNvSpPr>
          <p:nvPr/>
        </p:nvSpPr>
        <p:spPr bwMode="auto">
          <a:xfrm>
            <a:off x="4938949" y="2918143"/>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cs typeface="Arial" pitchFamily="34" charset="0"/>
            </a:endParaRPr>
          </a:p>
        </p:txBody>
      </p:sp>
      <p:graphicFrame>
        <p:nvGraphicFramePr>
          <p:cNvPr id="10" name="Table 9"/>
          <p:cNvGraphicFramePr>
            <a:graphicFrameLocks noGrp="1"/>
          </p:cNvGraphicFramePr>
          <p:nvPr>
            <p:extLst>
              <p:ext uri="{D42A27DB-BD31-4B8C-83A1-F6EECF244321}">
                <p14:modId xmlns:p14="http://schemas.microsoft.com/office/powerpoint/2010/main" val="4020668673"/>
              </p:ext>
            </p:extLst>
          </p:nvPr>
        </p:nvGraphicFramePr>
        <p:xfrm>
          <a:off x="2748102" y="2918143"/>
          <a:ext cx="2194560" cy="2053586"/>
        </p:xfrm>
        <a:graphic>
          <a:graphicData uri="http://schemas.openxmlformats.org/drawingml/2006/table">
            <a:tbl>
              <a:tblPr/>
              <a:tblGrid>
                <a:gridCol w="908094"/>
                <a:gridCol w="1286466"/>
              </a:tblGrid>
              <a:tr h="317275">
                <a:tc gridSpan="2">
                  <a:txBody>
                    <a:bodyPr/>
                    <a:lstStyle/>
                    <a:p>
                      <a:pPr rtl="0" fontAlgn="t">
                        <a:spcBef>
                          <a:spcPts val="0"/>
                        </a:spcBef>
                        <a:spcAft>
                          <a:spcPts val="0"/>
                        </a:spcAft>
                      </a:pPr>
                      <a:r>
                        <a:rPr lang="en-US" sz="1000" b="0" i="0" u="none" strike="noStrike" dirty="0" err="1">
                          <a:solidFill>
                            <a:srgbClr val="000000"/>
                          </a:solidFill>
                          <a:effectLst/>
                          <a:latin typeface="Arial"/>
                        </a:rPr>
                        <a:t>constSMM</a:t>
                      </a:r>
                      <a:r>
                        <a:rPr lang="en-US" sz="1000" b="0" i="0" u="none" strike="noStrike" dirty="0">
                          <a:solidFill>
                            <a:srgbClr val="000000"/>
                          </a:solidFill>
                          <a:effectLst/>
                          <a:latin typeface="Arial"/>
                        </a:rPr>
                        <a:t> * </a:t>
                      </a:r>
                      <a:r>
                        <a:rPr lang="en-US" sz="1000" b="0" i="0" u="none" strike="noStrike" dirty="0" err="1">
                          <a:solidFill>
                            <a:srgbClr val="000000"/>
                          </a:solidFill>
                          <a:effectLst/>
                          <a:latin typeface="Arial"/>
                        </a:rPr>
                        <a:t>cltv</a:t>
                      </a:r>
                      <a:r>
                        <a:rPr lang="en-US" sz="1000" b="0" i="0" u="none" strike="noStrike" dirty="0">
                          <a:solidFill>
                            <a:srgbClr val="000000"/>
                          </a:solidFill>
                          <a:effectLst/>
                          <a:latin typeface="Arial"/>
                        </a:rPr>
                        <a:t> * </a:t>
                      </a:r>
                      <a:r>
                        <a:rPr lang="en-US" sz="1000" b="0" i="0" u="none" strike="noStrike" dirty="0" err="1">
                          <a:solidFill>
                            <a:srgbClr val="000000"/>
                          </a:solidFill>
                          <a:effectLst/>
                          <a:latin typeface="Arial"/>
                        </a:rPr>
                        <a:t>wala</a:t>
                      </a:r>
                      <a:r>
                        <a:rPr lang="en-US" sz="1000" b="0" i="0" u="none" strike="noStrike" dirty="0">
                          <a:solidFill>
                            <a:srgbClr val="000000"/>
                          </a:solidFill>
                          <a:effectLst/>
                          <a:latin typeface="Arial"/>
                        </a:rPr>
                        <a:t> * fico</a:t>
                      </a:r>
                      <a:endParaRPr lang="en-US" sz="1000" dirty="0">
                        <a:effectLst/>
                      </a:endParaRPr>
                    </a:p>
                  </a:txBody>
                  <a:tcPr marL="81212" marR="81212" marT="81212" marB="8121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hMerge="1">
                  <a:txBody>
                    <a:bodyPr/>
                    <a:lstStyle/>
                    <a:p>
                      <a:endParaRPr lang="en-US"/>
                    </a:p>
                  </a:txBody>
                  <a:tcPr/>
                </a:tc>
              </a:tr>
              <a:tr h="547080">
                <a:tc>
                  <a:txBody>
                    <a:bodyPr/>
                    <a:lstStyle/>
                    <a:p>
                      <a:pPr rtl="0" fontAlgn="t">
                        <a:spcBef>
                          <a:spcPts val="0"/>
                        </a:spcBef>
                        <a:spcAft>
                          <a:spcPts val="0"/>
                        </a:spcAft>
                      </a:pPr>
                      <a:r>
                        <a:rPr lang="en-US" sz="1000" b="0" i="0" u="none" strike="noStrike" dirty="0" err="1">
                          <a:solidFill>
                            <a:srgbClr val="000000"/>
                          </a:solidFill>
                          <a:effectLst/>
                          <a:latin typeface="Arial"/>
                        </a:rPr>
                        <a:t>constSMM</a:t>
                      </a:r>
                      <a:endParaRPr lang="en-US" sz="1000" dirty="0">
                        <a:effectLst/>
                      </a:endParaRPr>
                    </a:p>
                  </a:txBody>
                  <a:tcPr marL="81212" marR="81212" marT="81212" marB="8121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rtl="0" fontAlgn="t">
                        <a:spcBef>
                          <a:spcPts val="0"/>
                        </a:spcBef>
                        <a:spcAft>
                          <a:spcPts val="0"/>
                        </a:spcAft>
                      </a:pPr>
                      <a:r>
                        <a:rPr lang="en-US" sz="1000" b="0" i="0" u="none" strike="noStrike" dirty="0">
                          <a:solidFill>
                            <a:srgbClr val="000000"/>
                          </a:solidFill>
                          <a:effectLst/>
                          <a:latin typeface="Arial"/>
                        </a:rPr>
                        <a:t>1. </a:t>
                      </a:r>
                      <a:r>
                        <a:rPr lang="en-US" sz="1000" b="0" i="0" u="none" strike="noStrike" dirty="0" smtClean="0">
                          <a:solidFill>
                            <a:srgbClr val="000000"/>
                          </a:solidFill>
                          <a:effectLst/>
                          <a:latin typeface="Arial"/>
                        </a:rPr>
                        <a:t>subtract </a:t>
                      </a:r>
                      <a:r>
                        <a:rPr lang="en-US" sz="1000" b="0" i="0" u="none" strike="noStrike" dirty="0">
                          <a:solidFill>
                            <a:srgbClr val="000000"/>
                          </a:solidFill>
                          <a:effectLst/>
                          <a:latin typeface="Arial"/>
                        </a:rPr>
                        <a:t>Curt </a:t>
                      </a:r>
                      <a:r>
                        <a:rPr lang="en-US" sz="1000" b="0" i="0" u="none" strike="noStrike" dirty="0" err="1">
                          <a:solidFill>
                            <a:srgbClr val="000000"/>
                          </a:solidFill>
                          <a:effectLst/>
                          <a:latin typeface="Arial"/>
                        </a:rPr>
                        <a:t>smm</a:t>
                      </a:r>
                      <a:endParaRPr lang="en-US" sz="1000" dirty="0">
                        <a:effectLst/>
                      </a:endParaRPr>
                    </a:p>
                    <a:p>
                      <a:pPr rtl="0" fontAlgn="t">
                        <a:spcBef>
                          <a:spcPts val="0"/>
                        </a:spcBef>
                        <a:spcAft>
                          <a:spcPts val="0"/>
                        </a:spcAft>
                      </a:pPr>
                      <a:r>
                        <a:rPr lang="en-US" sz="1000" b="0" i="0" u="none" strike="noStrike" dirty="0">
                          <a:solidFill>
                            <a:srgbClr val="000000"/>
                          </a:solidFill>
                          <a:effectLst/>
                          <a:latin typeface="Arial"/>
                        </a:rPr>
                        <a:t>2. weighted mean</a:t>
                      </a:r>
                      <a:endParaRPr lang="en-US" sz="1000" dirty="0">
                        <a:effectLst/>
                      </a:endParaRPr>
                    </a:p>
                  </a:txBody>
                  <a:tcPr marL="81212" marR="81212" marT="81212" marB="8121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02373">
                <a:tc>
                  <a:txBody>
                    <a:bodyPr/>
                    <a:lstStyle/>
                    <a:p>
                      <a:pPr rtl="0" fontAlgn="t">
                        <a:spcBef>
                          <a:spcPts val="0"/>
                        </a:spcBef>
                        <a:spcAft>
                          <a:spcPts val="0"/>
                        </a:spcAft>
                      </a:pPr>
                      <a:r>
                        <a:rPr lang="en-US" sz="1000" b="0" i="0" u="none" strike="noStrike" dirty="0" err="1">
                          <a:solidFill>
                            <a:srgbClr val="000000"/>
                          </a:solidFill>
                          <a:effectLst/>
                          <a:latin typeface="Arial"/>
                        </a:rPr>
                        <a:t>cltv</a:t>
                      </a:r>
                      <a:endParaRPr lang="en-US" sz="1000" dirty="0">
                        <a:effectLst/>
                      </a:endParaRPr>
                    </a:p>
                  </a:txBody>
                  <a:tcPr marL="81212" marR="81212" marT="81212" marB="8121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rowSpan="3">
                  <a:txBody>
                    <a:bodyPr/>
                    <a:lstStyle/>
                    <a:p>
                      <a:pPr rtl="0" fontAlgn="t">
                        <a:spcBef>
                          <a:spcPts val="0"/>
                        </a:spcBef>
                        <a:spcAft>
                          <a:spcPts val="0"/>
                        </a:spcAft>
                      </a:pPr>
                      <a:r>
                        <a:rPr lang="en-US" sz="1000" b="0" i="0" u="none" strike="noStrike" dirty="0">
                          <a:solidFill>
                            <a:srgbClr val="000000"/>
                          </a:solidFill>
                          <a:effectLst/>
                          <a:latin typeface="Arial"/>
                        </a:rPr>
                        <a:t>1. bucket WA</a:t>
                      </a:r>
                      <a:endParaRPr lang="en-US" sz="1000" dirty="0">
                        <a:effectLst/>
                      </a:endParaRPr>
                    </a:p>
                    <a:p>
                      <a:pPr rtl="0" fontAlgn="t">
                        <a:spcBef>
                          <a:spcPts val="0"/>
                        </a:spcBef>
                        <a:spcAft>
                          <a:spcPts val="0"/>
                        </a:spcAft>
                      </a:pPr>
                      <a:r>
                        <a:rPr lang="en-US" sz="1000" b="0" i="0" u="none" strike="noStrike" dirty="0">
                          <a:solidFill>
                            <a:srgbClr val="000000"/>
                          </a:solidFill>
                          <a:effectLst/>
                          <a:latin typeface="Arial"/>
                        </a:rPr>
                        <a:t>2. spline</a:t>
                      </a:r>
                      <a:endParaRPr lang="en-US" sz="1000" dirty="0">
                        <a:effectLst/>
                      </a:endParaRPr>
                    </a:p>
                    <a:p>
                      <a:pPr rtl="0" fontAlgn="t">
                        <a:spcBef>
                          <a:spcPts val="0"/>
                        </a:spcBef>
                        <a:spcAft>
                          <a:spcPts val="0"/>
                        </a:spcAft>
                      </a:pPr>
                      <a:r>
                        <a:rPr lang="en-US" sz="1000" b="0" i="0" u="none" strike="noStrike" dirty="0">
                          <a:solidFill>
                            <a:srgbClr val="000000"/>
                          </a:solidFill>
                          <a:effectLst/>
                          <a:latin typeface="Arial"/>
                        </a:rPr>
                        <a:t>3. least square </a:t>
                      </a:r>
                      <a:r>
                        <a:rPr lang="en-US" sz="1000" b="0" i="0" u="none" strike="noStrike" dirty="0" smtClean="0">
                          <a:solidFill>
                            <a:srgbClr val="000000"/>
                          </a:solidFill>
                          <a:effectLst/>
                          <a:latin typeface="Arial"/>
                        </a:rPr>
                        <a:t>optimal</a:t>
                      </a:r>
                      <a:endParaRPr lang="en-US" sz="1000" dirty="0">
                        <a:effectLst/>
                      </a:endParaRPr>
                    </a:p>
                  </a:txBody>
                  <a:tcPr marL="81212" marR="81212" marT="81212" marB="8121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02373">
                <a:tc>
                  <a:txBody>
                    <a:bodyPr/>
                    <a:lstStyle/>
                    <a:p>
                      <a:pPr rtl="0" fontAlgn="t">
                        <a:spcBef>
                          <a:spcPts val="0"/>
                        </a:spcBef>
                        <a:spcAft>
                          <a:spcPts val="0"/>
                        </a:spcAft>
                      </a:pPr>
                      <a:r>
                        <a:rPr lang="en-US" sz="1000" b="0" i="0" u="none" strike="noStrike">
                          <a:solidFill>
                            <a:srgbClr val="000000"/>
                          </a:solidFill>
                          <a:effectLst/>
                          <a:latin typeface="Arial"/>
                        </a:rPr>
                        <a:t>wala</a:t>
                      </a:r>
                      <a:endParaRPr lang="en-US" sz="1000">
                        <a:effectLst/>
                      </a:endParaRPr>
                    </a:p>
                  </a:txBody>
                  <a:tcPr marL="81212" marR="81212" marT="81212" marB="8121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vMerge="1">
                  <a:txBody>
                    <a:bodyPr/>
                    <a:lstStyle/>
                    <a:p>
                      <a:endParaRPr lang="en-US"/>
                    </a:p>
                  </a:txBody>
                  <a:tcPr/>
                </a:tc>
              </a:tr>
              <a:tr h="487039">
                <a:tc>
                  <a:txBody>
                    <a:bodyPr/>
                    <a:lstStyle/>
                    <a:p>
                      <a:pPr rtl="0" fontAlgn="t">
                        <a:spcBef>
                          <a:spcPts val="0"/>
                        </a:spcBef>
                        <a:spcAft>
                          <a:spcPts val="0"/>
                        </a:spcAft>
                      </a:pPr>
                      <a:r>
                        <a:rPr lang="en-US" sz="1000" b="0" i="0" u="none" strike="noStrike" dirty="0">
                          <a:solidFill>
                            <a:srgbClr val="000000"/>
                          </a:solidFill>
                          <a:effectLst/>
                          <a:latin typeface="Arial"/>
                        </a:rPr>
                        <a:t>fico</a:t>
                      </a:r>
                      <a:endParaRPr lang="en-US" sz="1000" dirty="0">
                        <a:effectLst/>
                      </a:endParaRPr>
                    </a:p>
                  </a:txBody>
                  <a:tcPr marL="81212" marR="81212" marT="81212" marB="8121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vMerge="1">
                  <a:txBody>
                    <a:bodyPr/>
                    <a:lstStyle/>
                    <a:p>
                      <a:endParaRPr lang="en-US"/>
                    </a:p>
                  </a:txBody>
                  <a:tcPr/>
                </a:tc>
              </a:tr>
            </a:tbl>
          </a:graphicData>
        </a:graphic>
      </p:graphicFrame>
      <p:sp>
        <p:nvSpPr>
          <p:cNvPr id="11" name="Rectangle 2"/>
          <p:cNvSpPr>
            <a:spLocks noChangeArrowheads="1"/>
          </p:cNvSpPr>
          <p:nvPr/>
        </p:nvSpPr>
        <p:spPr bwMode="auto">
          <a:xfrm>
            <a:off x="4205288" y="13091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cs typeface="Arial" pitchFamily="34" charset="0"/>
            </a:endParaRPr>
          </a:p>
        </p:txBody>
      </p:sp>
      <p:graphicFrame>
        <p:nvGraphicFramePr>
          <p:cNvPr id="12" name="Table 11"/>
          <p:cNvGraphicFramePr>
            <a:graphicFrameLocks noGrp="1"/>
          </p:cNvGraphicFramePr>
          <p:nvPr>
            <p:extLst>
              <p:ext uri="{D42A27DB-BD31-4B8C-83A1-F6EECF244321}">
                <p14:modId xmlns:p14="http://schemas.microsoft.com/office/powerpoint/2010/main" val="3445114708"/>
              </p:ext>
            </p:extLst>
          </p:nvPr>
        </p:nvGraphicFramePr>
        <p:xfrm>
          <a:off x="5119967" y="2918143"/>
          <a:ext cx="2194560" cy="2156256"/>
        </p:xfrm>
        <a:graphic>
          <a:graphicData uri="http://schemas.openxmlformats.org/drawingml/2006/table">
            <a:tbl>
              <a:tblPr/>
              <a:tblGrid>
                <a:gridCol w="886265"/>
                <a:gridCol w="1308295"/>
              </a:tblGrid>
              <a:tr h="280563">
                <a:tc gridSpan="2">
                  <a:txBody>
                    <a:bodyPr/>
                    <a:lstStyle/>
                    <a:p>
                      <a:pPr rtl="0" fontAlgn="t">
                        <a:spcBef>
                          <a:spcPts val="0"/>
                        </a:spcBef>
                        <a:spcAft>
                          <a:spcPts val="0"/>
                        </a:spcAft>
                      </a:pPr>
                      <a:r>
                        <a:rPr lang="en-US" sz="1000" b="0" i="0" u="none" strike="noStrike" dirty="0" err="1">
                          <a:solidFill>
                            <a:srgbClr val="000000"/>
                          </a:solidFill>
                          <a:effectLst/>
                          <a:latin typeface="Arial" panose="020B0604020202020204" pitchFamily="34" charset="0"/>
                          <a:cs typeface="Arial" panose="020B0604020202020204" pitchFamily="34" charset="0"/>
                        </a:rPr>
                        <a:t>constSMM</a:t>
                      </a:r>
                      <a:r>
                        <a:rPr lang="en-US" sz="1000" b="0" i="0" u="none" strike="noStrike" dirty="0">
                          <a:solidFill>
                            <a:srgbClr val="000000"/>
                          </a:solidFill>
                          <a:effectLst/>
                          <a:latin typeface="Arial" panose="020B0604020202020204" pitchFamily="34" charset="0"/>
                          <a:cs typeface="Arial" panose="020B0604020202020204" pitchFamily="34" charset="0"/>
                        </a:rPr>
                        <a:t> * </a:t>
                      </a:r>
                      <a:r>
                        <a:rPr lang="en-US" sz="1000" b="0" i="0" u="none" strike="noStrike" dirty="0" err="1">
                          <a:solidFill>
                            <a:srgbClr val="000000"/>
                          </a:solidFill>
                          <a:effectLst/>
                          <a:latin typeface="Arial" panose="020B0604020202020204" pitchFamily="34" charset="0"/>
                          <a:cs typeface="Arial" panose="020B0604020202020204" pitchFamily="34" charset="0"/>
                        </a:rPr>
                        <a:t>wala</a:t>
                      </a:r>
                      <a:r>
                        <a:rPr lang="en-US" sz="1000" b="0" i="0" u="none" strike="noStrike" dirty="0">
                          <a:solidFill>
                            <a:srgbClr val="000000"/>
                          </a:solidFill>
                          <a:effectLst/>
                          <a:latin typeface="Arial" panose="020B0604020202020204" pitchFamily="34" charset="0"/>
                          <a:cs typeface="Arial" panose="020B0604020202020204" pitchFamily="34" charset="0"/>
                        </a:rPr>
                        <a:t> * incentive *</a:t>
                      </a:r>
                      <a:r>
                        <a:rPr lang="en-US" sz="1000" b="0" i="0" u="none" strike="noStrike" dirty="0" err="1">
                          <a:solidFill>
                            <a:srgbClr val="000000"/>
                          </a:solidFill>
                          <a:effectLst/>
                          <a:latin typeface="Arial" panose="020B0604020202020204" pitchFamily="34" charset="0"/>
                          <a:cs typeface="Arial" panose="020B0604020202020204" pitchFamily="34" charset="0"/>
                        </a:rPr>
                        <a:t>cltv</a:t>
                      </a:r>
                      <a:endParaRPr lang="en-US" sz="1000" dirty="0">
                        <a:effectLst/>
                        <a:latin typeface="Arial" panose="020B0604020202020204" pitchFamily="34" charset="0"/>
                        <a:cs typeface="Arial" panose="020B0604020202020204" pitchFamily="34" charset="0"/>
                      </a:endParaRPr>
                    </a:p>
                  </a:txBody>
                  <a:tcPr marL="78088" marR="78088" marT="78088" marB="78088">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hMerge="1">
                  <a:txBody>
                    <a:bodyPr/>
                    <a:lstStyle/>
                    <a:p>
                      <a:endParaRPr lang="en-US"/>
                    </a:p>
                  </a:txBody>
                  <a:tcPr/>
                </a:tc>
              </a:tr>
              <a:tr h="378869">
                <a:tc>
                  <a:txBody>
                    <a:bodyPr/>
                    <a:lstStyle/>
                    <a:p>
                      <a:pPr rtl="0" fontAlgn="t">
                        <a:spcBef>
                          <a:spcPts val="0"/>
                        </a:spcBef>
                        <a:spcAft>
                          <a:spcPts val="0"/>
                        </a:spcAft>
                      </a:pPr>
                      <a:r>
                        <a:rPr lang="en-US" sz="1000" b="0" i="0" u="none" strike="noStrike" dirty="0">
                          <a:solidFill>
                            <a:srgbClr val="000000"/>
                          </a:solidFill>
                          <a:effectLst/>
                          <a:latin typeface="Arial" panose="020B0604020202020204" pitchFamily="34" charset="0"/>
                          <a:cs typeface="Arial" panose="020B0604020202020204" pitchFamily="34" charset="0"/>
                        </a:rPr>
                        <a:t>seasonality </a:t>
                      </a:r>
                      <a:endParaRPr lang="en-US" sz="1000" dirty="0">
                        <a:effectLst/>
                        <a:latin typeface="Arial" panose="020B0604020202020204" pitchFamily="34" charset="0"/>
                        <a:cs typeface="Arial" panose="020B0604020202020204" pitchFamily="34" charset="0"/>
                      </a:endParaRPr>
                    </a:p>
                  </a:txBody>
                  <a:tcPr marL="78088" marR="78088" marT="78088" marB="78088">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rtl="0" fontAlgn="t">
                        <a:spcBef>
                          <a:spcPts val="0"/>
                        </a:spcBef>
                        <a:spcAft>
                          <a:spcPts val="0"/>
                        </a:spcAft>
                      </a:pPr>
                      <a:r>
                        <a:rPr lang="en-US" sz="1000" b="0" i="0" u="none" strike="noStrike" dirty="0">
                          <a:solidFill>
                            <a:srgbClr val="000000"/>
                          </a:solidFill>
                          <a:effectLst/>
                          <a:latin typeface="Arial" panose="020B0604020202020204" pitchFamily="34" charset="0"/>
                          <a:cs typeface="Arial" panose="020B0604020202020204" pitchFamily="34" charset="0"/>
                        </a:rPr>
                        <a:t>1. </a:t>
                      </a:r>
                      <a:r>
                        <a:rPr lang="en-US" sz="1000" b="0" i="0" u="none" strike="noStrike" dirty="0" smtClean="0">
                          <a:solidFill>
                            <a:srgbClr val="000000"/>
                          </a:solidFill>
                          <a:effectLst/>
                          <a:latin typeface="Arial" panose="020B0604020202020204" pitchFamily="34" charset="0"/>
                          <a:cs typeface="Arial" panose="020B0604020202020204" pitchFamily="34" charset="0"/>
                        </a:rPr>
                        <a:t>Su</a:t>
                      </a:r>
                      <a:r>
                        <a:rPr lang="en-US" sz="1000" b="0" i="0" u="none" strike="noStrike" baseline="0" dirty="0" smtClean="0">
                          <a:solidFill>
                            <a:srgbClr val="000000"/>
                          </a:solidFill>
                          <a:effectLst/>
                          <a:latin typeface="Arial" panose="020B0604020202020204" pitchFamily="34" charset="0"/>
                          <a:cs typeface="Arial" panose="020B0604020202020204" pitchFamily="34" charset="0"/>
                        </a:rPr>
                        <a:t>b</a:t>
                      </a:r>
                      <a:r>
                        <a:rPr lang="en-US" sz="1000" b="0" i="0" u="none" strike="noStrike" dirty="0" smtClean="0">
                          <a:solidFill>
                            <a:srgbClr val="000000"/>
                          </a:solidFill>
                          <a:effectLst/>
                          <a:latin typeface="Arial" panose="020B0604020202020204" pitchFamily="34" charset="0"/>
                          <a:cs typeface="Arial" panose="020B0604020202020204" pitchFamily="34" charset="0"/>
                        </a:rPr>
                        <a:t>tract </a:t>
                      </a:r>
                      <a:r>
                        <a:rPr lang="en-US" sz="1000" b="0" i="0" u="none" strike="noStrike" dirty="0">
                          <a:solidFill>
                            <a:srgbClr val="000000"/>
                          </a:solidFill>
                          <a:effectLst/>
                          <a:latin typeface="Arial" panose="020B0604020202020204" pitchFamily="34" charset="0"/>
                          <a:cs typeface="Arial" panose="020B0604020202020204" pitchFamily="34" charset="0"/>
                        </a:rPr>
                        <a:t>Curt and </a:t>
                      </a:r>
                      <a:r>
                        <a:rPr lang="en-US" sz="1000" b="0" i="0" u="none" strike="noStrike" dirty="0" err="1">
                          <a:solidFill>
                            <a:srgbClr val="000000"/>
                          </a:solidFill>
                          <a:effectLst/>
                          <a:latin typeface="Arial" panose="020B0604020202020204" pitchFamily="34" charset="0"/>
                          <a:cs typeface="Arial" panose="020B0604020202020204" pitchFamily="34" charset="0"/>
                        </a:rPr>
                        <a:t>Dflt</a:t>
                      </a:r>
                      <a:r>
                        <a:rPr lang="en-US" sz="1000" b="0" i="0" u="none" strike="noStrike" dirty="0">
                          <a:solidFill>
                            <a:srgbClr val="000000"/>
                          </a:solidFill>
                          <a:effectLst/>
                          <a:latin typeface="Arial" panose="020B0604020202020204" pitchFamily="34" charset="0"/>
                          <a:cs typeface="Arial" panose="020B0604020202020204" pitchFamily="34" charset="0"/>
                        </a:rPr>
                        <a:t> </a:t>
                      </a:r>
                      <a:r>
                        <a:rPr lang="en-US" sz="1000" b="0" i="0" u="none" strike="noStrike" dirty="0" err="1">
                          <a:solidFill>
                            <a:srgbClr val="000000"/>
                          </a:solidFill>
                          <a:effectLst/>
                          <a:latin typeface="Arial" panose="020B0604020202020204" pitchFamily="34" charset="0"/>
                          <a:cs typeface="Arial" panose="020B0604020202020204" pitchFamily="34" charset="0"/>
                        </a:rPr>
                        <a:t>smm</a:t>
                      </a:r>
                      <a:endParaRPr lang="en-US" sz="1000" dirty="0">
                        <a:effectLst/>
                        <a:latin typeface="Arial" panose="020B0604020202020204" pitchFamily="34" charset="0"/>
                        <a:cs typeface="Arial" panose="020B0604020202020204" pitchFamily="34" charset="0"/>
                      </a:endParaRPr>
                    </a:p>
                    <a:p>
                      <a:pPr rtl="0" fontAlgn="t">
                        <a:spcBef>
                          <a:spcPts val="0"/>
                        </a:spcBef>
                        <a:spcAft>
                          <a:spcPts val="0"/>
                        </a:spcAft>
                      </a:pPr>
                      <a:r>
                        <a:rPr lang="en-US" sz="1000" b="0" i="0" u="none" strike="noStrike" dirty="0">
                          <a:solidFill>
                            <a:srgbClr val="000000"/>
                          </a:solidFill>
                          <a:effectLst/>
                          <a:latin typeface="Arial" panose="020B0604020202020204" pitchFamily="34" charset="0"/>
                          <a:cs typeface="Arial" panose="020B0604020202020204" pitchFamily="34" charset="0"/>
                        </a:rPr>
                        <a:t>2. </a:t>
                      </a:r>
                      <a:r>
                        <a:rPr lang="en-US" sz="1000" b="0" i="0" u="none" strike="noStrike" dirty="0" err="1" smtClean="0">
                          <a:solidFill>
                            <a:srgbClr val="000000"/>
                          </a:solidFill>
                          <a:effectLst/>
                          <a:latin typeface="Arial" panose="020B0604020202020204" pitchFamily="34" charset="0"/>
                          <a:cs typeface="Arial" panose="020B0604020202020204" pitchFamily="34" charset="0"/>
                        </a:rPr>
                        <a:t>Deseasonal</a:t>
                      </a:r>
                      <a:endParaRPr lang="en-US" sz="1000" dirty="0">
                        <a:effectLst/>
                        <a:latin typeface="Arial" panose="020B0604020202020204" pitchFamily="34" charset="0"/>
                        <a:cs typeface="Arial" panose="020B0604020202020204" pitchFamily="34" charset="0"/>
                      </a:endParaRPr>
                    </a:p>
                  </a:txBody>
                  <a:tcPr marL="78088" marR="78088" marT="78088" marB="78088">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80563">
                <a:tc>
                  <a:txBody>
                    <a:bodyPr/>
                    <a:lstStyle/>
                    <a:p>
                      <a:pPr rtl="0" fontAlgn="t">
                        <a:spcBef>
                          <a:spcPts val="0"/>
                        </a:spcBef>
                        <a:spcAft>
                          <a:spcPts val="0"/>
                        </a:spcAft>
                      </a:pPr>
                      <a:r>
                        <a:rPr lang="en-US" sz="1000" b="0" i="0" u="none" strike="noStrike" dirty="0" err="1">
                          <a:solidFill>
                            <a:srgbClr val="000000"/>
                          </a:solidFill>
                          <a:effectLst/>
                          <a:latin typeface="Arial" panose="020B0604020202020204" pitchFamily="34" charset="0"/>
                          <a:cs typeface="Arial" panose="020B0604020202020204" pitchFamily="34" charset="0"/>
                        </a:rPr>
                        <a:t>constSMM</a:t>
                      </a:r>
                      <a:r>
                        <a:rPr lang="en-US" sz="1000" b="0" i="0" u="none" strike="noStrike" dirty="0">
                          <a:solidFill>
                            <a:srgbClr val="000000"/>
                          </a:solidFill>
                          <a:effectLst/>
                          <a:latin typeface="Arial" panose="020B0604020202020204" pitchFamily="34" charset="0"/>
                          <a:cs typeface="Arial" panose="020B0604020202020204" pitchFamily="34" charset="0"/>
                        </a:rPr>
                        <a:t> </a:t>
                      </a:r>
                      <a:endParaRPr lang="en-US" sz="1000" dirty="0">
                        <a:effectLst/>
                        <a:latin typeface="Arial" panose="020B0604020202020204" pitchFamily="34" charset="0"/>
                        <a:cs typeface="Arial" panose="020B0604020202020204" pitchFamily="34" charset="0"/>
                      </a:endParaRPr>
                    </a:p>
                  </a:txBody>
                  <a:tcPr marL="78088" marR="78088" marT="78088" marB="78088">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rtl="0" fontAlgn="t">
                        <a:spcBef>
                          <a:spcPts val="0"/>
                        </a:spcBef>
                        <a:spcAft>
                          <a:spcPts val="0"/>
                        </a:spcAft>
                      </a:pPr>
                      <a:r>
                        <a:rPr lang="en-US" sz="1000" b="0" i="0" u="none" strike="noStrike" dirty="0">
                          <a:solidFill>
                            <a:srgbClr val="000000"/>
                          </a:solidFill>
                          <a:effectLst/>
                          <a:latin typeface="Arial" panose="020B0604020202020204" pitchFamily="34" charset="0"/>
                          <a:cs typeface="Arial" panose="020B0604020202020204" pitchFamily="34" charset="0"/>
                        </a:rPr>
                        <a:t>1.weighted mean</a:t>
                      </a:r>
                      <a:endParaRPr lang="en-US" sz="1000" dirty="0">
                        <a:effectLst/>
                        <a:latin typeface="Arial" panose="020B0604020202020204" pitchFamily="34" charset="0"/>
                        <a:cs typeface="Arial" panose="020B0604020202020204" pitchFamily="34" charset="0"/>
                      </a:endParaRPr>
                    </a:p>
                  </a:txBody>
                  <a:tcPr marL="78088" marR="78088" marT="78088" marB="78088">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182257">
                <a:tc>
                  <a:txBody>
                    <a:bodyPr/>
                    <a:lstStyle/>
                    <a:p>
                      <a:pPr rtl="0" fontAlgn="t">
                        <a:spcBef>
                          <a:spcPts val="0"/>
                        </a:spcBef>
                        <a:spcAft>
                          <a:spcPts val="0"/>
                        </a:spcAft>
                      </a:pPr>
                      <a:r>
                        <a:rPr lang="en-US" sz="1000" b="0" i="0" u="none" strike="noStrike" dirty="0" err="1">
                          <a:solidFill>
                            <a:srgbClr val="000000"/>
                          </a:solidFill>
                          <a:effectLst/>
                          <a:latin typeface="Arial" panose="020B0604020202020204" pitchFamily="34" charset="0"/>
                          <a:cs typeface="Arial" panose="020B0604020202020204" pitchFamily="34" charset="0"/>
                        </a:rPr>
                        <a:t>wala</a:t>
                      </a:r>
                      <a:endParaRPr lang="en-US" sz="1000" dirty="0">
                        <a:effectLst/>
                        <a:latin typeface="Arial" panose="020B0604020202020204" pitchFamily="34" charset="0"/>
                        <a:cs typeface="Arial" panose="020B0604020202020204" pitchFamily="34" charset="0"/>
                      </a:endParaRPr>
                    </a:p>
                  </a:txBody>
                  <a:tcPr marL="78088" marR="78088" marT="78088" marB="78088">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rowSpan="3">
                  <a:txBody>
                    <a:bodyPr/>
                    <a:lstStyle/>
                    <a:p>
                      <a:pPr rtl="0" fontAlgn="t">
                        <a:spcBef>
                          <a:spcPts val="0"/>
                        </a:spcBef>
                        <a:spcAft>
                          <a:spcPts val="0"/>
                        </a:spcAft>
                      </a:pPr>
                      <a:r>
                        <a:rPr lang="en-US" sz="1000" b="0" i="0" u="none" strike="noStrike" dirty="0">
                          <a:solidFill>
                            <a:srgbClr val="000000"/>
                          </a:solidFill>
                          <a:effectLst/>
                          <a:latin typeface="Arial" panose="020B0604020202020204" pitchFamily="34" charset="0"/>
                          <a:cs typeface="Arial" panose="020B0604020202020204" pitchFamily="34" charset="0"/>
                        </a:rPr>
                        <a:t>1. bucket WA</a:t>
                      </a:r>
                      <a:endParaRPr lang="en-US" sz="1000" dirty="0">
                        <a:effectLst/>
                        <a:latin typeface="Arial" panose="020B0604020202020204" pitchFamily="34" charset="0"/>
                        <a:cs typeface="Arial" panose="020B0604020202020204" pitchFamily="34" charset="0"/>
                      </a:endParaRPr>
                    </a:p>
                    <a:p>
                      <a:pPr rtl="0" fontAlgn="t">
                        <a:spcBef>
                          <a:spcPts val="0"/>
                        </a:spcBef>
                        <a:spcAft>
                          <a:spcPts val="0"/>
                        </a:spcAft>
                      </a:pPr>
                      <a:r>
                        <a:rPr lang="en-US" sz="1000" b="0" i="0" u="none" strike="noStrike" dirty="0">
                          <a:solidFill>
                            <a:srgbClr val="000000"/>
                          </a:solidFill>
                          <a:effectLst/>
                          <a:latin typeface="Arial" panose="020B0604020202020204" pitchFamily="34" charset="0"/>
                          <a:cs typeface="Arial" panose="020B0604020202020204" pitchFamily="34" charset="0"/>
                        </a:rPr>
                        <a:t>2. spline</a:t>
                      </a:r>
                      <a:endParaRPr lang="en-US" sz="1000" dirty="0">
                        <a:effectLst/>
                        <a:latin typeface="Arial" panose="020B0604020202020204" pitchFamily="34" charset="0"/>
                        <a:cs typeface="Arial" panose="020B0604020202020204" pitchFamily="34" charset="0"/>
                      </a:endParaRPr>
                    </a:p>
                    <a:p>
                      <a:pPr rtl="0" fontAlgn="t">
                        <a:spcBef>
                          <a:spcPts val="0"/>
                        </a:spcBef>
                        <a:spcAft>
                          <a:spcPts val="0"/>
                        </a:spcAft>
                      </a:pPr>
                      <a:r>
                        <a:rPr lang="en-US" sz="1000" b="0" i="0" u="none" strike="noStrike" dirty="0">
                          <a:solidFill>
                            <a:srgbClr val="000000"/>
                          </a:solidFill>
                          <a:effectLst/>
                          <a:latin typeface="Arial" panose="020B0604020202020204" pitchFamily="34" charset="0"/>
                          <a:cs typeface="Arial" panose="020B0604020202020204" pitchFamily="34" charset="0"/>
                        </a:rPr>
                        <a:t>3. least square optimal</a:t>
                      </a:r>
                      <a:endParaRPr lang="en-US" sz="1000" dirty="0">
                        <a:effectLst/>
                        <a:latin typeface="Arial" panose="020B0604020202020204" pitchFamily="34" charset="0"/>
                        <a:cs typeface="Arial" panose="020B0604020202020204" pitchFamily="34" charset="0"/>
                      </a:endParaRPr>
                    </a:p>
                  </a:txBody>
                  <a:tcPr marL="78088" marR="78088" marT="78088" marB="78088">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80563">
                <a:tc>
                  <a:txBody>
                    <a:bodyPr/>
                    <a:lstStyle/>
                    <a:p>
                      <a:pPr rtl="0" fontAlgn="t">
                        <a:spcBef>
                          <a:spcPts val="0"/>
                        </a:spcBef>
                        <a:spcAft>
                          <a:spcPts val="0"/>
                        </a:spcAft>
                      </a:pPr>
                      <a:r>
                        <a:rPr lang="en-US" sz="1000" b="0" i="0" u="none" strike="noStrike" dirty="0" smtClean="0">
                          <a:solidFill>
                            <a:srgbClr val="000000"/>
                          </a:solidFill>
                          <a:effectLst/>
                          <a:latin typeface="Arial" panose="020B0604020202020204" pitchFamily="34" charset="0"/>
                          <a:cs typeface="Arial" panose="020B0604020202020204" pitchFamily="34" charset="0"/>
                        </a:rPr>
                        <a:t>incentive</a:t>
                      </a:r>
                      <a:endParaRPr lang="en-US" sz="1000" dirty="0">
                        <a:effectLst/>
                        <a:latin typeface="Arial" panose="020B0604020202020204" pitchFamily="34" charset="0"/>
                        <a:cs typeface="Arial" panose="020B0604020202020204" pitchFamily="34" charset="0"/>
                      </a:endParaRPr>
                    </a:p>
                  </a:txBody>
                  <a:tcPr marL="78088" marR="78088" marT="78088" marB="78088">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vMerge="1">
                  <a:txBody>
                    <a:bodyPr/>
                    <a:lstStyle/>
                    <a:p>
                      <a:endParaRPr lang="en-US"/>
                    </a:p>
                  </a:txBody>
                  <a:tcPr/>
                </a:tc>
              </a:tr>
              <a:tr h="182257">
                <a:tc>
                  <a:txBody>
                    <a:bodyPr/>
                    <a:lstStyle/>
                    <a:p>
                      <a:pPr rtl="0" fontAlgn="t">
                        <a:spcBef>
                          <a:spcPts val="0"/>
                        </a:spcBef>
                        <a:spcAft>
                          <a:spcPts val="0"/>
                        </a:spcAft>
                      </a:pPr>
                      <a:r>
                        <a:rPr lang="en-US" sz="1000" b="0" i="0" u="none" strike="noStrike" dirty="0" err="1">
                          <a:solidFill>
                            <a:srgbClr val="000000"/>
                          </a:solidFill>
                          <a:effectLst/>
                          <a:latin typeface="Arial" panose="020B0604020202020204" pitchFamily="34" charset="0"/>
                          <a:cs typeface="Arial" panose="020B0604020202020204" pitchFamily="34" charset="0"/>
                        </a:rPr>
                        <a:t>cltv</a:t>
                      </a:r>
                      <a:endParaRPr lang="en-US" sz="1000" dirty="0">
                        <a:effectLst/>
                        <a:latin typeface="Arial" panose="020B0604020202020204" pitchFamily="34" charset="0"/>
                        <a:cs typeface="Arial" panose="020B0604020202020204" pitchFamily="34" charset="0"/>
                      </a:endParaRPr>
                    </a:p>
                  </a:txBody>
                  <a:tcPr marL="78088" marR="78088" marT="78088" marB="78088">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vMerge="1">
                  <a:txBody>
                    <a:bodyPr/>
                    <a:lstStyle/>
                    <a:p>
                      <a:endParaRPr lang="en-US"/>
                    </a:p>
                  </a:txBody>
                  <a:tcPr/>
                </a:tc>
              </a:tr>
            </a:tbl>
          </a:graphicData>
        </a:graphic>
      </p:graphicFrame>
      <p:sp>
        <p:nvSpPr>
          <p:cNvPr id="13" name="Rectangle 3"/>
          <p:cNvSpPr>
            <a:spLocks noChangeArrowheads="1"/>
          </p:cNvSpPr>
          <p:nvPr/>
        </p:nvSpPr>
        <p:spPr bwMode="auto">
          <a:xfrm>
            <a:off x="4216400" y="1265238"/>
            <a:ext cx="10058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itchFamily="34" charset="0"/>
              <a:cs typeface="Arial" pitchFamily="34" charset="0"/>
            </a:endParaRPr>
          </a:p>
        </p:txBody>
      </p:sp>
      <p:graphicFrame>
        <p:nvGraphicFramePr>
          <p:cNvPr id="14" name="Table 13"/>
          <p:cNvGraphicFramePr>
            <a:graphicFrameLocks noGrp="1"/>
          </p:cNvGraphicFramePr>
          <p:nvPr>
            <p:extLst>
              <p:ext uri="{D42A27DB-BD31-4B8C-83A1-F6EECF244321}">
                <p14:modId xmlns:p14="http://schemas.microsoft.com/office/powerpoint/2010/main" val="2520287668"/>
              </p:ext>
            </p:extLst>
          </p:nvPr>
        </p:nvGraphicFramePr>
        <p:xfrm>
          <a:off x="7491833" y="2918143"/>
          <a:ext cx="2194560" cy="2817200"/>
        </p:xfrm>
        <a:graphic>
          <a:graphicData uri="http://schemas.openxmlformats.org/drawingml/2006/table">
            <a:tbl>
              <a:tblPr/>
              <a:tblGrid>
                <a:gridCol w="616344"/>
                <a:gridCol w="1578216"/>
              </a:tblGrid>
              <a:tr h="0">
                <a:tc gridSpan="2">
                  <a:txBody>
                    <a:bodyPr/>
                    <a:lstStyle/>
                    <a:p>
                      <a:pPr rtl="0" fontAlgn="t">
                        <a:spcBef>
                          <a:spcPts val="0"/>
                        </a:spcBef>
                        <a:spcAft>
                          <a:spcPts val="0"/>
                        </a:spcAft>
                      </a:pPr>
                      <a:r>
                        <a:rPr lang="en-US" sz="1000" b="0" i="0" u="none" strike="noStrike" dirty="0" err="1">
                          <a:solidFill>
                            <a:srgbClr val="000000"/>
                          </a:solidFill>
                          <a:effectLst/>
                          <a:latin typeface="Arial" panose="020B0604020202020204" pitchFamily="34" charset="0"/>
                          <a:cs typeface="Arial" panose="020B0604020202020204" pitchFamily="34" charset="0"/>
                        </a:rPr>
                        <a:t>constSMM</a:t>
                      </a:r>
                      <a:r>
                        <a:rPr lang="en-US" sz="1000" b="0" i="0" u="none" strike="noStrike" dirty="0">
                          <a:solidFill>
                            <a:srgbClr val="000000"/>
                          </a:solidFill>
                          <a:effectLst/>
                          <a:latin typeface="Arial" panose="020B0604020202020204" pitchFamily="34" charset="0"/>
                          <a:cs typeface="Arial" panose="020B0604020202020204" pitchFamily="34" charset="0"/>
                        </a:rPr>
                        <a:t> * incentive * </a:t>
                      </a:r>
                      <a:r>
                        <a:rPr lang="en-US" sz="1000" b="0" i="0" u="none" strike="noStrike" dirty="0" err="1">
                          <a:solidFill>
                            <a:srgbClr val="000000"/>
                          </a:solidFill>
                          <a:effectLst/>
                          <a:latin typeface="Arial" panose="020B0604020202020204" pitchFamily="34" charset="0"/>
                          <a:cs typeface="Arial" panose="020B0604020202020204" pitchFamily="34" charset="0"/>
                        </a:rPr>
                        <a:t>wala</a:t>
                      </a:r>
                      <a:r>
                        <a:rPr lang="en-US" sz="1000" b="0" i="0" u="none" strike="noStrike" dirty="0">
                          <a:solidFill>
                            <a:srgbClr val="000000"/>
                          </a:solidFill>
                          <a:effectLst/>
                          <a:latin typeface="Arial" panose="020B0604020202020204" pitchFamily="34" charset="0"/>
                          <a:cs typeface="Arial" panose="020B0604020202020204" pitchFamily="34" charset="0"/>
                        </a:rPr>
                        <a:t> * burnout * loan size * media * HPA</a:t>
                      </a:r>
                      <a:endParaRPr lang="en-US" sz="1000" dirty="0">
                        <a:effectLst/>
                        <a:latin typeface="Arial" panose="020B0604020202020204" pitchFamily="34" charset="0"/>
                        <a:cs typeface="Arial" panose="020B0604020202020204" pitchFamily="34" charset="0"/>
                      </a:endParaRPr>
                    </a:p>
                  </a:txBody>
                  <a:tcPr marL="52250" marR="52250" marT="52250" marB="52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hMerge="1">
                  <a:txBody>
                    <a:bodyPr/>
                    <a:lstStyle/>
                    <a:p>
                      <a:endParaRPr lang="en-US"/>
                    </a:p>
                  </a:txBody>
                  <a:tcPr/>
                </a:tc>
              </a:tr>
              <a:tr h="0">
                <a:tc>
                  <a:txBody>
                    <a:bodyPr/>
                    <a:lstStyle/>
                    <a:p>
                      <a:pPr rtl="0" fontAlgn="t">
                        <a:spcBef>
                          <a:spcPts val="0"/>
                        </a:spcBef>
                        <a:spcAft>
                          <a:spcPts val="0"/>
                        </a:spcAft>
                      </a:pPr>
                      <a:r>
                        <a:rPr lang="en-US" sz="1000" b="0" i="0" u="none" strike="noStrike">
                          <a:solidFill>
                            <a:srgbClr val="000000"/>
                          </a:solidFill>
                          <a:effectLst/>
                          <a:latin typeface="Arial" panose="020B0604020202020204" pitchFamily="34" charset="0"/>
                          <a:cs typeface="Arial" panose="020B0604020202020204" pitchFamily="34" charset="0"/>
                        </a:rPr>
                        <a:t>constSMM</a:t>
                      </a:r>
                      <a:endParaRPr lang="en-US" sz="1000">
                        <a:effectLst/>
                        <a:latin typeface="Arial" panose="020B0604020202020204" pitchFamily="34" charset="0"/>
                        <a:cs typeface="Arial" panose="020B0604020202020204" pitchFamily="34" charset="0"/>
                      </a:endParaRPr>
                    </a:p>
                  </a:txBody>
                  <a:tcPr marL="52250" marR="52250" marT="52250" marB="52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rtl="0" fontAlgn="t">
                        <a:spcBef>
                          <a:spcPts val="0"/>
                        </a:spcBef>
                        <a:spcAft>
                          <a:spcPts val="0"/>
                        </a:spcAft>
                      </a:pPr>
                      <a:r>
                        <a:rPr lang="en-US" sz="1000" b="0" i="0" u="none" strike="noStrike" dirty="0" smtClean="0">
                          <a:solidFill>
                            <a:srgbClr val="000000"/>
                          </a:solidFill>
                          <a:effectLst/>
                          <a:latin typeface="Arial" panose="020B0604020202020204" pitchFamily="34" charset="0"/>
                          <a:cs typeface="Arial" panose="020B0604020202020204" pitchFamily="34" charset="0"/>
                        </a:rPr>
                        <a:t>subtract </a:t>
                      </a:r>
                      <a:r>
                        <a:rPr lang="en-US" sz="1000" b="0" i="0" u="none" strike="noStrike" dirty="0">
                          <a:solidFill>
                            <a:srgbClr val="000000"/>
                          </a:solidFill>
                          <a:effectLst/>
                          <a:latin typeface="Arial" panose="020B0604020202020204" pitchFamily="34" charset="0"/>
                          <a:cs typeface="Arial" panose="020B0604020202020204" pitchFamily="34" charset="0"/>
                        </a:rPr>
                        <a:t>Curt, </a:t>
                      </a:r>
                      <a:r>
                        <a:rPr lang="en-US" sz="1000" b="0" i="0" u="none" strike="noStrike" dirty="0" err="1">
                          <a:solidFill>
                            <a:srgbClr val="000000"/>
                          </a:solidFill>
                          <a:effectLst/>
                          <a:latin typeface="Arial" panose="020B0604020202020204" pitchFamily="34" charset="0"/>
                          <a:cs typeface="Arial" panose="020B0604020202020204" pitchFamily="34" charset="0"/>
                        </a:rPr>
                        <a:t>Dflt</a:t>
                      </a:r>
                      <a:r>
                        <a:rPr lang="en-US" sz="1000" b="0" i="0" u="none" strike="noStrike" dirty="0">
                          <a:solidFill>
                            <a:srgbClr val="000000"/>
                          </a:solidFill>
                          <a:effectLst/>
                          <a:latin typeface="Arial" panose="020B0604020202020204" pitchFamily="34" charset="0"/>
                          <a:cs typeface="Arial" panose="020B0604020202020204" pitchFamily="34" charset="0"/>
                        </a:rPr>
                        <a:t> and Turn </a:t>
                      </a:r>
                      <a:r>
                        <a:rPr lang="en-US" sz="1000" b="0" i="0" u="none" strike="noStrike" dirty="0" err="1">
                          <a:solidFill>
                            <a:srgbClr val="000000"/>
                          </a:solidFill>
                          <a:effectLst/>
                          <a:latin typeface="Arial" panose="020B0604020202020204" pitchFamily="34" charset="0"/>
                          <a:cs typeface="Arial" panose="020B0604020202020204" pitchFamily="34" charset="0"/>
                        </a:rPr>
                        <a:t>smm</a:t>
                      </a:r>
                      <a:endParaRPr lang="en-US" sz="1000" dirty="0">
                        <a:effectLst/>
                        <a:latin typeface="Arial" panose="020B0604020202020204" pitchFamily="34" charset="0"/>
                        <a:cs typeface="Arial" panose="020B0604020202020204" pitchFamily="34" charset="0"/>
                      </a:endParaRPr>
                    </a:p>
                  </a:txBody>
                  <a:tcPr marL="52250" marR="52250" marT="52250" marB="52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0">
                <a:tc>
                  <a:txBody>
                    <a:bodyPr/>
                    <a:lstStyle/>
                    <a:p>
                      <a:pPr rtl="0" fontAlgn="t">
                        <a:spcBef>
                          <a:spcPts val="0"/>
                        </a:spcBef>
                        <a:spcAft>
                          <a:spcPts val="0"/>
                        </a:spcAft>
                      </a:pPr>
                      <a:r>
                        <a:rPr lang="en-US" sz="1000" b="0" i="0" u="none" strike="noStrike">
                          <a:solidFill>
                            <a:srgbClr val="000000"/>
                          </a:solidFill>
                          <a:effectLst/>
                          <a:latin typeface="Arial" panose="020B0604020202020204" pitchFamily="34" charset="0"/>
                          <a:cs typeface="Arial" panose="020B0604020202020204" pitchFamily="34" charset="0"/>
                        </a:rPr>
                        <a:t>incentive</a:t>
                      </a:r>
                      <a:endParaRPr lang="en-US" sz="1000">
                        <a:effectLst/>
                        <a:latin typeface="Arial" panose="020B0604020202020204" pitchFamily="34" charset="0"/>
                        <a:cs typeface="Arial" panose="020B0604020202020204" pitchFamily="34" charset="0"/>
                      </a:endParaRPr>
                    </a:p>
                  </a:txBody>
                  <a:tcPr marL="52250" marR="52250" marT="52250" marB="52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rowSpan="4">
                  <a:txBody>
                    <a:bodyPr/>
                    <a:lstStyle/>
                    <a:p>
                      <a:pPr rtl="0" fontAlgn="t">
                        <a:spcBef>
                          <a:spcPts val="0"/>
                        </a:spcBef>
                        <a:spcAft>
                          <a:spcPts val="0"/>
                        </a:spcAft>
                      </a:pPr>
                      <a:r>
                        <a:rPr lang="en-US" sz="1000" b="0" i="0" u="none" strike="noStrike">
                          <a:solidFill>
                            <a:srgbClr val="000000"/>
                          </a:solidFill>
                          <a:effectLst/>
                          <a:latin typeface="Arial" panose="020B0604020202020204" pitchFamily="34" charset="0"/>
                          <a:cs typeface="Arial" panose="020B0604020202020204" pitchFamily="34" charset="0"/>
                        </a:rPr>
                        <a:t>1. bucket WA</a:t>
                      </a:r>
                      <a:endParaRPr lang="en-US" sz="1000">
                        <a:effectLst/>
                        <a:latin typeface="Arial" panose="020B0604020202020204" pitchFamily="34" charset="0"/>
                        <a:cs typeface="Arial" panose="020B0604020202020204" pitchFamily="34" charset="0"/>
                      </a:endParaRPr>
                    </a:p>
                    <a:p>
                      <a:pPr rtl="0" fontAlgn="t">
                        <a:spcBef>
                          <a:spcPts val="0"/>
                        </a:spcBef>
                        <a:spcAft>
                          <a:spcPts val="0"/>
                        </a:spcAft>
                      </a:pPr>
                      <a:r>
                        <a:rPr lang="en-US" sz="1000" b="0" i="0" u="none" strike="noStrike">
                          <a:solidFill>
                            <a:srgbClr val="000000"/>
                          </a:solidFill>
                          <a:effectLst/>
                          <a:latin typeface="Arial" panose="020B0604020202020204" pitchFamily="34" charset="0"/>
                          <a:cs typeface="Arial" panose="020B0604020202020204" pitchFamily="34" charset="0"/>
                        </a:rPr>
                        <a:t>2. spline</a:t>
                      </a:r>
                      <a:endParaRPr lang="en-US" sz="1000">
                        <a:effectLst/>
                        <a:latin typeface="Arial" panose="020B0604020202020204" pitchFamily="34" charset="0"/>
                        <a:cs typeface="Arial" panose="020B0604020202020204" pitchFamily="34" charset="0"/>
                      </a:endParaRPr>
                    </a:p>
                    <a:p>
                      <a:pPr rtl="0" fontAlgn="t">
                        <a:spcBef>
                          <a:spcPts val="0"/>
                        </a:spcBef>
                        <a:spcAft>
                          <a:spcPts val="0"/>
                        </a:spcAft>
                      </a:pPr>
                      <a:r>
                        <a:rPr lang="en-US" sz="1000" b="0" i="0" u="none" strike="noStrike">
                          <a:solidFill>
                            <a:srgbClr val="000000"/>
                          </a:solidFill>
                          <a:effectLst/>
                          <a:latin typeface="Arial" panose="020B0604020202020204" pitchFamily="34" charset="0"/>
                          <a:cs typeface="Arial" panose="020B0604020202020204" pitchFamily="34" charset="0"/>
                        </a:rPr>
                        <a:t>3. least square optimal</a:t>
                      </a:r>
                      <a:endParaRPr lang="en-US" sz="1000">
                        <a:effectLst/>
                        <a:latin typeface="Arial" panose="020B0604020202020204" pitchFamily="34" charset="0"/>
                        <a:cs typeface="Arial" panose="020B0604020202020204" pitchFamily="34" charset="0"/>
                      </a:endParaRPr>
                    </a:p>
                  </a:txBody>
                  <a:tcPr marL="52250" marR="52250" marT="52250" marB="52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0">
                <a:tc>
                  <a:txBody>
                    <a:bodyPr/>
                    <a:lstStyle/>
                    <a:p>
                      <a:pPr rtl="0" fontAlgn="t">
                        <a:spcBef>
                          <a:spcPts val="0"/>
                        </a:spcBef>
                        <a:spcAft>
                          <a:spcPts val="0"/>
                        </a:spcAft>
                      </a:pPr>
                      <a:r>
                        <a:rPr lang="en-US" sz="1000" b="0" i="0" u="none" strike="noStrike">
                          <a:solidFill>
                            <a:srgbClr val="000000"/>
                          </a:solidFill>
                          <a:effectLst/>
                          <a:latin typeface="Arial" panose="020B0604020202020204" pitchFamily="34" charset="0"/>
                          <a:cs typeface="Arial" panose="020B0604020202020204" pitchFamily="34" charset="0"/>
                        </a:rPr>
                        <a:t>wala</a:t>
                      </a:r>
                      <a:endParaRPr lang="en-US" sz="1000">
                        <a:effectLst/>
                        <a:latin typeface="Arial" panose="020B0604020202020204" pitchFamily="34" charset="0"/>
                        <a:cs typeface="Arial" panose="020B0604020202020204" pitchFamily="34" charset="0"/>
                      </a:endParaRPr>
                    </a:p>
                  </a:txBody>
                  <a:tcPr marL="52250" marR="52250" marT="52250" marB="52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vMerge="1">
                  <a:txBody>
                    <a:bodyPr/>
                    <a:lstStyle/>
                    <a:p>
                      <a:endParaRPr lang="en-US"/>
                    </a:p>
                  </a:txBody>
                  <a:tcPr/>
                </a:tc>
              </a:tr>
              <a:tr h="0">
                <a:tc>
                  <a:txBody>
                    <a:bodyPr/>
                    <a:lstStyle/>
                    <a:p>
                      <a:pPr rtl="0" fontAlgn="t">
                        <a:spcBef>
                          <a:spcPts val="0"/>
                        </a:spcBef>
                        <a:spcAft>
                          <a:spcPts val="0"/>
                        </a:spcAft>
                      </a:pPr>
                      <a:r>
                        <a:rPr lang="en-US" sz="1000" b="0" i="0" u="none" strike="noStrike">
                          <a:solidFill>
                            <a:srgbClr val="000000"/>
                          </a:solidFill>
                          <a:effectLst/>
                          <a:latin typeface="Arial" panose="020B0604020202020204" pitchFamily="34" charset="0"/>
                          <a:cs typeface="Arial" panose="020B0604020202020204" pitchFamily="34" charset="0"/>
                        </a:rPr>
                        <a:t>burnout</a:t>
                      </a:r>
                      <a:endParaRPr lang="en-US" sz="1000">
                        <a:effectLst/>
                        <a:latin typeface="Arial" panose="020B0604020202020204" pitchFamily="34" charset="0"/>
                        <a:cs typeface="Arial" panose="020B0604020202020204" pitchFamily="34" charset="0"/>
                      </a:endParaRPr>
                    </a:p>
                  </a:txBody>
                  <a:tcPr marL="52250" marR="52250" marT="52250" marB="52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vMerge="1">
                  <a:txBody>
                    <a:bodyPr/>
                    <a:lstStyle/>
                    <a:p>
                      <a:endParaRPr lang="en-US"/>
                    </a:p>
                  </a:txBody>
                  <a:tcPr/>
                </a:tc>
              </a:tr>
              <a:tr h="0">
                <a:tc>
                  <a:txBody>
                    <a:bodyPr/>
                    <a:lstStyle/>
                    <a:p>
                      <a:pPr rtl="0" fontAlgn="t">
                        <a:spcBef>
                          <a:spcPts val="0"/>
                        </a:spcBef>
                        <a:spcAft>
                          <a:spcPts val="0"/>
                        </a:spcAft>
                      </a:pPr>
                      <a:r>
                        <a:rPr lang="en-US" sz="1000" b="0" i="0" u="none" strike="noStrike">
                          <a:solidFill>
                            <a:srgbClr val="000000"/>
                          </a:solidFill>
                          <a:effectLst/>
                          <a:latin typeface="Arial" panose="020B0604020202020204" pitchFamily="34" charset="0"/>
                          <a:cs typeface="Arial" panose="020B0604020202020204" pitchFamily="34" charset="0"/>
                        </a:rPr>
                        <a:t>loan size</a:t>
                      </a:r>
                      <a:endParaRPr lang="en-US" sz="1000">
                        <a:effectLst/>
                        <a:latin typeface="Arial" panose="020B0604020202020204" pitchFamily="34" charset="0"/>
                        <a:cs typeface="Arial" panose="020B0604020202020204" pitchFamily="34" charset="0"/>
                      </a:endParaRPr>
                    </a:p>
                  </a:txBody>
                  <a:tcPr marL="52250" marR="52250" marT="52250" marB="52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vMerge="1">
                  <a:txBody>
                    <a:bodyPr/>
                    <a:lstStyle/>
                    <a:p>
                      <a:endParaRPr lang="en-US"/>
                    </a:p>
                  </a:txBody>
                  <a:tcPr/>
                </a:tc>
              </a:tr>
              <a:tr h="0">
                <a:tc>
                  <a:txBody>
                    <a:bodyPr/>
                    <a:lstStyle/>
                    <a:p>
                      <a:pPr rtl="0" fontAlgn="t">
                        <a:spcBef>
                          <a:spcPts val="0"/>
                        </a:spcBef>
                        <a:spcAft>
                          <a:spcPts val="0"/>
                        </a:spcAft>
                      </a:pPr>
                      <a:r>
                        <a:rPr lang="en-US" sz="1000" b="0" i="0" u="none" strike="noStrike">
                          <a:solidFill>
                            <a:srgbClr val="000000"/>
                          </a:solidFill>
                          <a:effectLst/>
                          <a:latin typeface="Arial" panose="020B0604020202020204" pitchFamily="34" charset="0"/>
                          <a:cs typeface="Arial" panose="020B0604020202020204" pitchFamily="34" charset="0"/>
                        </a:rPr>
                        <a:t>media effect</a:t>
                      </a:r>
                      <a:endParaRPr lang="en-US" sz="1000">
                        <a:effectLst/>
                        <a:latin typeface="Arial" panose="020B0604020202020204" pitchFamily="34" charset="0"/>
                        <a:cs typeface="Arial" panose="020B0604020202020204" pitchFamily="34" charset="0"/>
                      </a:endParaRPr>
                    </a:p>
                  </a:txBody>
                  <a:tcPr marL="52250" marR="52250" marT="52250" marB="52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rtl="0" fontAlgn="t">
                        <a:spcBef>
                          <a:spcPts val="0"/>
                        </a:spcBef>
                        <a:spcAft>
                          <a:spcPts val="0"/>
                        </a:spcAft>
                      </a:pPr>
                      <a:r>
                        <a:rPr lang="en-US" sz="1000" b="0" i="0" u="none" strike="noStrike">
                          <a:solidFill>
                            <a:srgbClr val="000000"/>
                          </a:solidFill>
                          <a:effectLst/>
                          <a:latin typeface="Arial" panose="020B0604020202020204" pitchFamily="34" charset="0"/>
                          <a:cs typeface="Arial" panose="020B0604020202020204" pitchFamily="34" charset="0"/>
                        </a:rPr>
                        <a:t>media = max(5 * DeltaPMMS30_MA, 1.0)</a:t>
                      </a:r>
                      <a:endParaRPr lang="en-US" sz="1000">
                        <a:effectLst/>
                        <a:latin typeface="Arial" panose="020B0604020202020204" pitchFamily="34" charset="0"/>
                        <a:cs typeface="Arial" panose="020B0604020202020204" pitchFamily="34" charset="0"/>
                      </a:endParaRPr>
                    </a:p>
                  </a:txBody>
                  <a:tcPr marL="52250" marR="52250" marT="52250" marB="52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178137">
                <a:tc>
                  <a:txBody>
                    <a:bodyPr/>
                    <a:lstStyle/>
                    <a:p>
                      <a:pPr rtl="0" fontAlgn="t">
                        <a:spcBef>
                          <a:spcPts val="0"/>
                        </a:spcBef>
                        <a:spcAft>
                          <a:spcPts val="0"/>
                        </a:spcAft>
                      </a:pPr>
                      <a:r>
                        <a:rPr lang="en-US" sz="1000" b="0" i="0" u="none" strike="noStrike">
                          <a:solidFill>
                            <a:srgbClr val="000000"/>
                          </a:solidFill>
                          <a:effectLst/>
                          <a:latin typeface="Arial" panose="020B0604020202020204" pitchFamily="34" charset="0"/>
                          <a:cs typeface="Arial" panose="020B0604020202020204" pitchFamily="34" charset="0"/>
                        </a:rPr>
                        <a:t>HPA</a:t>
                      </a:r>
                      <a:endParaRPr lang="en-US" sz="1000">
                        <a:effectLst/>
                        <a:latin typeface="Arial" panose="020B0604020202020204" pitchFamily="34" charset="0"/>
                        <a:cs typeface="Arial" panose="020B0604020202020204" pitchFamily="34" charset="0"/>
                      </a:endParaRPr>
                    </a:p>
                  </a:txBody>
                  <a:tcPr marL="52250" marR="52250" marT="52250" marB="52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rtl="0" fontAlgn="t">
                        <a:spcBef>
                          <a:spcPts val="0"/>
                        </a:spcBef>
                        <a:spcAft>
                          <a:spcPts val="0"/>
                        </a:spcAft>
                      </a:pPr>
                      <a:r>
                        <a:rPr lang="en-US" sz="1000" b="0" i="0" u="none" strike="noStrike" dirty="0">
                          <a:solidFill>
                            <a:srgbClr val="000000"/>
                          </a:solidFill>
                          <a:effectLst/>
                          <a:latin typeface="Arial" panose="020B0604020202020204" pitchFamily="34" charset="0"/>
                          <a:cs typeface="Arial" panose="020B0604020202020204" pitchFamily="34" charset="0"/>
                        </a:rPr>
                        <a:t>HPA = 1 - 0.8/(1+exp((hpa-11%)/3%))</a:t>
                      </a:r>
                      <a:endParaRPr lang="en-US" sz="1000" dirty="0">
                        <a:effectLst/>
                        <a:latin typeface="Arial" panose="020B0604020202020204" pitchFamily="34" charset="0"/>
                        <a:cs typeface="Arial" panose="020B0604020202020204" pitchFamily="34" charset="0"/>
                      </a:endParaRPr>
                    </a:p>
                  </a:txBody>
                  <a:tcPr marL="52250" marR="52250" marT="52250" marB="52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sp>
        <p:nvSpPr>
          <p:cNvPr id="15" name="Rectangle 4"/>
          <p:cNvSpPr>
            <a:spLocks noChangeArrowheads="1"/>
          </p:cNvSpPr>
          <p:nvPr/>
        </p:nvSpPr>
        <p:spPr bwMode="auto">
          <a:xfrm>
            <a:off x="4414838" y="1258888"/>
            <a:ext cx="10058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6" name="TextBox 15"/>
          <p:cNvSpPr txBox="1"/>
          <p:nvPr/>
        </p:nvSpPr>
        <p:spPr>
          <a:xfrm>
            <a:off x="1304926" y="6414787"/>
            <a:ext cx="7048499" cy="30777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en-US" sz="1400" dirty="0">
                <a:latin typeface="Arial" panose="020B0604020202020204" pitchFamily="34" charset="0"/>
                <a:cs typeface="Arial" panose="020B0604020202020204" pitchFamily="34" charset="0"/>
              </a:rPr>
              <a:t>Total SMM = curtailment SMM + default SMM + turnover SMM + refinance SMM</a:t>
            </a:r>
          </a:p>
        </p:txBody>
      </p:sp>
      <p:sp>
        <p:nvSpPr>
          <p:cNvPr id="17" name="Rectangle 16"/>
          <p:cNvSpPr/>
          <p:nvPr/>
        </p:nvSpPr>
        <p:spPr>
          <a:xfrm>
            <a:off x="376237" y="2581275"/>
            <a:ext cx="2194560" cy="336868"/>
          </a:xfrm>
          <a:prstGeom prst="rect">
            <a:avLst/>
          </a:prstGeom>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b="1" dirty="0" smtClean="0"/>
              <a:t>Curtail</a:t>
            </a:r>
            <a:endParaRPr lang="en-US" sz="1400" b="1" dirty="0"/>
          </a:p>
        </p:txBody>
      </p:sp>
      <p:sp>
        <p:nvSpPr>
          <p:cNvPr id="18" name="Rectangle 17"/>
          <p:cNvSpPr/>
          <p:nvPr/>
        </p:nvSpPr>
        <p:spPr>
          <a:xfrm>
            <a:off x="2738577" y="2581275"/>
            <a:ext cx="2194560" cy="336868"/>
          </a:xfrm>
          <a:prstGeom prst="rect">
            <a:avLst/>
          </a:prstGeom>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smtClean="0"/>
              <a:t>Default</a:t>
            </a:r>
            <a:endParaRPr lang="en-US" dirty="0"/>
          </a:p>
        </p:txBody>
      </p:sp>
      <p:sp>
        <p:nvSpPr>
          <p:cNvPr id="19" name="Rectangle 18"/>
          <p:cNvSpPr/>
          <p:nvPr/>
        </p:nvSpPr>
        <p:spPr>
          <a:xfrm>
            <a:off x="5110442" y="2581275"/>
            <a:ext cx="2194560" cy="336868"/>
          </a:xfrm>
          <a:prstGeom prst="rect">
            <a:avLst/>
          </a:prstGeom>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smtClean="0"/>
              <a:t>Turnover</a:t>
            </a:r>
            <a:endParaRPr lang="en-US" dirty="0"/>
          </a:p>
        </p:txBody>
      </p:sp>
      <p:sp>
        <p:nvSpPr>
          <p:cNvPr id="20" name="Rectangle 19"/>
          <p:cNvSpPr/>
          <p:nvPr/>
        </p:nvSpPr>
        <p:spPr>
          <a:xfrm>
            <a:off x="7482308" y="2581275"/>
            <a:ext cx="2194560" cy="336868"/>
          </a:xfrm>
          <a:prstGeom prst="rect">
            <a:avLst/>
          </a:prstGeom>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smtClean="0"/>
              <a:t>Refinancing</a:t>
            </a:r>
            <a:endParaRPr lang="en-US" dirty="0"/>
          </a:p>
        </p:txBody>
      </p:sp>
      <p:sp>
        <p:nvSpPr>
          <p:cNvPr id="21" name="Isosceles Triangle 20"/>
          <p:cNvSpPr/>
          <p:nvPr/>
        </p:nvSpPr>
        <p:spPr>
          <a:xfrm rot="10800000">
            <a:off x="3248025" y="1924050"/>
            <a:ext cx="3333750" cy="390525"/>
          </a:xfrm>
          <a:prstGeom prst="triangl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22" name="Isosceles Triangle 21"/>
          <p:cNvSpPr/>
          <p:nvPr/>
        </p:nvSpPr>
        <p:spPr>
          <a:xfrm rot="10800000">
            <a:off x="3364439" y="5859168"/>
            <a:ext cx="3333750" cy="390525"/>
          </a:xfrm>
          <a:prstGeom prst="triangl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1695016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4145" y="236009"/>
            <a:ext cx="6806130" cy="677966"/>
          </a:xfrm>
        </p:spPr>
        <p:txBody>
          <a:bodyPr/>
          <a:lstStyle/>
          <a:p>
            <a:r>
              <a:rPr lang="en-US" dirty="0" smtClean="0"/>
              <a:t>Result After Spline I</a:t>
            </a:r>
            <a:r>
              <a:rPr lang="en-US" altLang="zh-CN" dirty="0" smtClean="0"/>
              <a:t>nterpolation</a:t>
            </a:r>
            <a:endParaRPr lang="en-US" dirty="0"/>
          </a:p>
        </p:txBody>
      </p:sp>
      <p:graphicFrame>
        <p:nvGraphicFramePr>
          <p:cNvPr id="6" name="Chart 5"/>
          <p:cNvGraphicFramePr/>
          <p:nvPr>
            <p:extLst>
              <p:ext uri="{D42A27DB-BD31-4B8C-83A1-F6EECF244321}">
                <p14:modId xmlns:p14="http://schemas.microsoft.com/office/powerpoint/2010/main" val="1219705739"/>
              </p:ext>
            </p:extLst>
          </p:nvPr>
        </p:nvGraphicFramePr>
        <p:xfrm>
          <a:off x="207612" y="4857750"/>
          <a:ext cx="4812064" cy="111115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hart 6"/>
          <p:cNvGraphicFramePr/>
          <p:nvPr>
            <p:extLst>
              <p:ext uri="{D42A27DB-BD31-4B8C-83A1-F6EECF244321}">
                <p14:modId xmlns:p14="http://schemas.microsoft.com/office/powerpoint/2010/main" val="1393561197"/>
              </p:ext>
            </p:extLst>
          </p:nvPr>
        </p:nvGraphicFramePr>
        <p:xfrm>
          <a:off x="5151086" y="4905375"/>
          <a:ext cx="4812064" cy="111115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Chart 7"/>
          <p:cNvGraphicFramePr/>
          <p:nvPr>
            <p:extLst>
              <p:ext uri="{D42A27DB-BD31-4B8C-83A1-F6EECF244321}">
                <p14:modId xmlns:p14="http://schemas.microsoft.com/office/powerpoint/2010/main" val="3073780056"/>
              </p:ext>
            </p:extLst>
          </p:nvPr>
        </p:nvGraphicFramePr>
        <p:xfrm>
          <a:off x="212374" y="6121302"/>
          <a:ext cx="4812064" cy="1111152"/>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9" name="Chart 8"/>
          <p:cNvGraphicFramePr/>
          <p:nvPr>
            <p:extLst>
              <p:ext uri="{D42A27DB-BD31-4B8C-83A1-F6EECF244321}">
                <p14:modId xmlns:p14="http://schemas.microsoft.com/office/powerpoint/2010/main" val="840859284"/>
              </p:ext>
            </p:extLst>
          </p:nvPr>
        </p:nvGraphicFramePr>
        <p:xfrm>
          <a:off x="5151086" y="6140450"/>
          <a:ext cx="4812064" cy="1111152"/>
        </p:xfrm>
        <a:graphic>
          <a:graphicData uri="http://schemas.openxmlformats.org/drawingml/2006/chart">
            <c:chart xmlns:c="http://schemas.openxmlformats.org/drawingml/2006/chart" xmlns:r="http://schemas.openxmlformats.org/officeDocument/2006/relationships" r:id="rId5"/>
          </a:graphicData>
        </a:graphic>
      </p:graphicFrame>
      <p:sp>
        <p:nvSpPr>
          <p:cNvPr id="10" name="Oval 9"/>
          <p:cNvSpPr/>
          <p:nvPr/>
        </p:nvSpPr>
        <p:spPr>
          <a:xfrm>
            <a:off x="4352925" y="5124450"/>
            <a:ext cx="352425" cy="3619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dirty="0"/>
          </a:p>
        </p:txBody>
      </p:sp>
      <p:sp>
        <p:nvSpPr>
          <p:cNvPr id="11" name="Oval 10"/>
          <p:cNvSpPr/>
          <p:nvPr/>
        </p:nvSpPr>
        <p:spPr>
          <a:xfrm>
            <a:off x="4352925" y="6362700"/>
            <a:ext cx="352425" cy="3619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9134474" y="5124450"/>
            <a:ext cx="352425" cy="3619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9134475" y="6362700"/>
            <a:ext cx="352425" cy="3619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4333876" y="5153025"/>
            <a:ext cx="438150" cy="276999"/>
          </a:xfrm>
          <a:prstGeom prst="rect">
            <a:avLst/>
          </a:prstGeom>
          <a:noFill/>
        </p:spPr>
        <p:txBody>
          <a:bodyPr wrap="square" rtlCol="0">
            <a:spAutoFit/>
          </a:bodyPr>
          <a:lstStyle/>
          <a:p>
            <a:r>
              <a:rPr lang="en-US" sz="1200" dirty="0" smtClean="0">
                <a:solidFill>
                  <a:schemeClr val="bg1"/>
                </a:solidFill>
              </a:rPr>
              <a:t>3%</a:t>
            </a:r>
            <a:endParaRPr lang="en-US" sz="1200" dirty="0">
              <a:solidFill>
                <a:schemeClr val="bg1"/>
              </a:solidFill>
            </a:endParaRPr>
          </a:p>
        </p:txBody>
      </p:sp>
      <p:sp>
        <p:nvSpPr>
          <p:cNvPr id="15" name="TextBox 14"/>
          <p:cNvSpPr txBox="1"/>
          <p:nvPr/>
        </p:nvSpPr>
        <p:spPr>
          <a:xfrm>
            <a:off x="9120186" y="5166925"/>
            <a:ext cx="438150" cy="276999"/>
          </a:xfrm>
          <a:prstGeom prst="rect">
            <a:avLst/>
          </a:prstGeom>
          <a:noFill/>
        </p:spPr>
        <p:txBody>
          <a:bodyPr wrap="square" rtlCol="0">
            <a:spAutoFit/>
          </a:bodyPr>
          <a:lstStyle/>
          <a:p>
            <a:r>
              <a:rPr lang="en-US" sz="1200" dirty="0">
                <a:solidFill>
                  <a:schemeClr val="bg1"/>
                </a:solidFill>
              </a:rPr>
              <a:t>4</a:t>
            </a:r>
            <a:r>
              <a:rPr lang="en-US" sz="1200" dirty="0" smtClean="0">
                <a:solidFill>
                  <a:schemeClr val="bg1"/>
                </a:solidFill>
              </a:rPr>
              <a:t>%</a:t>
            </a:r>
            <a:endParaRPr lang="en-US" sz="1200" dirty="0">
              <a:solidFill>
                <a:schemeClr val="bg1"/>
              </a:solidFill>
            </a:endParaRPr>
          </a:p>
        </p:txBody>
      </p:sp>
      <p:sp>
        <p:nvSpPr>
          <p:cNvPr id="16" name="TextBox 15"/>
          <p:cNvSpPr txBox="1"/>
          <p:nvPr/>
        </p:nvSpPr>
        <p:spPr>
          <a:xfrm>
            <a:off x="4295775" y="6405175"/>
            <a:ext cx="542925" cy="276999"/>
          </a:xfrm>
          <a:prstGeom prst="rect">
            <a:avLst/>
          </a:prstGeom>
          <a:noFill/>
        </p:spPr>
        <p:txBody>
          <a:bodyPr wrap="square" rtlCol="0">
            <a:spAutoFit/>
          </a:bodyPr>
          <a:lstStyle/>
          <a:p>
            <a:r>
              <a:rPr lang="en-US" sz="1200" dirty="0" smtClean="0">
                <a:solidFill>
                  <a:schemeClr val="bg1"/>
                </a:solidFill>
              </a:rPr>
              <a:t>26%</a:t>
            </a:r>
            <a:endParaRPr lang="en-US" sz="1200" dirty="0">
              <a:solidFill>
                <a:schemeClr val="bg1"/>
              </a:solidFill>
            </a:endParaRPr>
          </a:p>
        </p:txBody>
      </p:sp>
      <p:sp>
        <p:nvSpPr>
          <p:cNvPr id="17" name="TextBox 16"/>
          <p:cNvSpPr txBox="1"/>
          <p:nvPr/>
        </p:nvSpPr>
        <p:spPr>
          <a:xfrm>
            <a:off x="9082086" y="6405174"/>
            <a:ext cx="542925" cy="276999"/>
          </a:xfrm>
          <a:prstGeom prst="rect">
            <a:avLst/>
          </a:prstGeom>
          <a:noFill/>
        </p:spPr>
        <p:txBody>
          <a:bodyPr wrap="square" rtlCol="0">
            <a:spAutoFit/>
          </a:bodyPr>
          <a:lstStyle/>
          <a:p>
            <a:r>
              <a:rPr lang="en-US" sz="1200" dirty="0" smtClean="0">
                <a:solidFill>
                  <a:schemeClr val="bg1"/>
                </a:solidFill>
              </a:rPr>
              <a:t>68%</a:t>
            </a:r>
            <a:endParaRPr lang="en-US" sz="1200" dirty="0">
              <a:solidFill>
                <a:schemeClr val="bg1"/>
              </a:solidFill>
            </a:endParaRPr>
          </a:p>
        </p:txBody>
      </p:sp>
      <p:sp>
        <p:nvSpPr>
          <p:cNvPr id="18" name="TextBox 17"/>
          <p:cNvSpPr txBox="1"/>
          <p:nvPr/>
        </p:nvSpPr>
        <p:spPr>
          <a:xfrm>
            <a:off x="3409950" y="4772025"/>
            <a:ext cx="1533525" cy="261610"/>
          </a:xfrm>
          <a:prstGeom prst="rect">
            <a:avLst/>
          </a:prstGeom>
          <a:noFill/>
        </p:spPr>
        <p:txBody>
          <a:bodyPr wrap="square" rtlCol="0">
            <a:spAutoFit/>
          </a:bodyPr>
          <a:lstStyle/>
          <a:p>
            <a:pPr algn="r"/>
            <a:r>
              <a:rPr lang="en-US" sz="1100" dirty="0" smtClean="0"/>
              <a:t>Mean contribution</a:t>
            </a:r>
            <a:endParaRPr lang="en-US" sz="1100" dirty="0"/>
          </a:p>
        </p:txBody>
      </p:sp>
      <p:sp>
        <p:nvSpPr>
          <p:cNvPr id="19" name="Oval 18"/>
          <p:cNvSpPr/>
          <p:nvPr/>
        </p:nvSpPr>
        <p:spPr>
          <a:xfrm>
            <a:off x="1581150" y="2724150"/>
            <a:ext cx="1238250" cy="1114425"/>
          </a:xfrm>
          <a:prstGeom prst="ellipse">
            <a:avLst/>
          </a:prstGeom>
          <a:noFill/>
          <a:ln>
            <a:solidFill>
              <a:srgbClr val="9966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4529137" y="1785937"/>
            <a:ext cx="1238250" cy="1114425"/>
          </a:xfrm>
          <a:prstGeom prst="ellipse">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7962900" y="2952749"/>
            <a:ext cx="1238250" cy="1114425"/>
          </a:xfrm>
          <a:prstGeom prst="ellipse">
            <a:avLst/>
          </a:prstGeom>
          <a:noFill/>
          <a:ln>
            <a:solidFill>
              <a:srgbClr val="9966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p:cNvSpPr txBox="1"/>
          <p:nvPr/>
        </p:nvSpPr>
        <p:spPr>
          <a:xfrm>
            <a:off x="1005250" y="1023929"/>
            <a:ext cx="8286024" cy="646331"/>
          </a:xfrm>
          <a:prstGeom prst="rect">
            <a:avLst/>
          </a:prstGeom>
          <a:noFill/>
        </p:spPr>
        <p:txBody>
          <a:bodyPr wrap="square" rtlCol="0">
            <a:spAutoFit/>
          </a:bodyPr>
          <a:lstStyle/>
          <a:p>
            <a:r>
              <a:rPr lang="en-US" sz="1200" dirty="0" smtClean="0">
                <a:latin typeface="Arial" panose="020B0604020202020204" pitchFamily="34" charset="0"/>
                <a:cs typeface="Arial" panose="020B0604020202020204" pitchFamily="34" charset="0"/>
              </a:rPr>
              <a:t>Result shows that model can capture trends over time. However, the model </a:t>
            </a:r>
            <a:r>
              <a:rPr lang="en-US" sz="1200" dirty="0" err="1" smtClean="0">
                <a:latin typeface="Arial" panose="020B0604020202020204" pitchFamily="34" charset="0"/>
                <a:cs typeface="Arial" panose="020B0604020202020204" pitchFamily="34" charset="0"/>
              </a:rPr>
              <a:t>smm</a:t>
            </a:r>
            <a:r>
              <a:rPr lang="en-US" sz="1200" dirty="0" smtClean="0">
                <a:latin typeface="Arial" panose="020B0604020202020204" pitchFamily="34" charset="0"/>
                <a:cs typeface="Arial" panose="020B0604020202020204" pitchFamily="34" charset="0"/>
              </a:rPr>
              <a:t> is too fast in 1998-1999, too slow in 2003-2004, and too fast for recent data. In order to improve the fit, </a:t>
            </a:r>
            <a:r>
              <a:rPr lang="en-US" sz="1200" b="1" dirty="0" smtClean="0">
                <a:latin typeface="Arial" panose="020B0604020202020204" pitchFamily="34" charset="0"/>
                <a:cs typeface="Arial" panose="020B0604020202020204" pitchFamily="34" charset="0"/>
              </a:rPr>
              <a:t>media effect </a:t>
            </a:r>
            <a:r>
              <a:rPr lang="en-US" sz="1200" dirty="0" smtClean="0">
                <a:latin typeface="Arial" panose="020B0604020202020204" pitchFamily="34" charset="0"/>
                <a:cs typeface="Arial" panose="020B0604020202020204" pitchFamily="34" charset="0"/>
              </a:rPr>
              <a:t>and </a:t>
            </a:r>
            <a:r>
              <a:rPr lang="en-US" sz="1200" b="1" dirty="0" smtClean="0">
                <a:latin typeface="Arial" panose="020B0604020202020204" pitchFamily="34" charset="0"/>
                <a:cs typeface="Arial" panose="020B0604020202020204" pitchFamily="34" charset="0"/>
              </a:rPr>
              <a:t>credit availability </a:t>
            </a:r>
            <a:r>
              <a:rPr lang="en-US" sz="1200" dirty="0" smtClean="0">
                <a:latin typeface="Arial" panose="020B0604020202020204" pitchFamily="34" charset="0"/>
                <a:cs typeface="Arial" panose="020B0604020202020204" pitchFamily="34" charset="0"/>
              </a:rPr>
              <a:t>multipliers are introduced.</a:t>
            </a:r>
            <a:endParaRPr lang="en-US" sz="1200" dirty="0">
              <a:latin typeface="Arial" panose="020B0604020202020204" pitchFamily="34" charset="0"/>
              <a:cs typeface="Arial" panose="020B0604020202020204" pitchFamily="34" charset="0"/>
            </a:endParaRPr>
          </a:p>
        </p:txBody>
      </p:sp>
      <p:sp>
        <p:nvSpPr>
          <p:cNvPr id="23" name="TextBox 22"/>
          <p:cNvSpPr txBox="1"/>
          <p:nvPr/>
        </p:nvSpPr>
        <p:spPr>
          <a:xfrm>
            <a:off x="5672137" y="1904999"/>
            <a:ext cx="938213" cy="307777"/>
          </a:xfrm>
          <a:prstGeom prst="rect">
            <a:avLst/>
          </a:prstGeom>
          <a:noFill/>
        </p:spPr>
        <p:txBody>
          <a:bodyPr wrap="square" rtlCol="0">
            <a:spAutoFit/>
          </a:bodyPr>
          <a:lstStyle/>
          <a:p>
            <a:r>
              <a:rPr lang="en-US" sz="1400" dirty="0" smtClean="0">
                <a:latin typeface="Arial" panose="020B0604020202020204" pitchFamily="34" charset="0"/>
                <a:cs typeface="Arial" panose="020B0604020202020204" pitchFamily="34" charset="0"/>
              </a:rPr>
              <a:t>Slower</a:t>
            </a:r>
            <a:endParaRPr lang="en-US" sz="1400" dirty="0">
              <a:latin typeface="Arial" panose="020B0604020202020204" pitchFamily="34" charset="0"/>
              <a:cs typeface="Arial" panose="020B0604020202020204" pitchFamily="34" charset="0"/>
            </a:endParaRPr>
          </a:p>
        </p:txBody>
      </p:sp>
      <p:sp>
        <p:nvSpPr>
          <p:cNvPr id="24" name="TextBox 23"/>
          <p:cNvSpPr txBox="1"/>
          <p:nvPr/>
        </p:nvSpPr>
        <p:spPr>
          <a:xfrm>
            <a:off x="2671762" y="2746473"/>
            <a:ext cx="938213" cy="307777"/>
          </a:xfrm>
          <a:prstGeom prst="rect">
            <a:avLst/>
          </a:prstGeom>
          <a:noFill/>
        </p:spPr>
        <p:txBody>
          <a:bodyPr wrap="square" rtlCol="0">
            <a:spAutoFit/>
          </a:bodyPr>
          <a:lstStyle/>
          <a:p>
            <a:r>
              <a:rPr lang="en-US" sz="1400" dirty="0" smtClean="0">
                <a:latin typeface="Arial" panose="020B0604020202020204" pitchFamily="34" charset="0"/>
                <a:cs typeface="Arial" panose="020B0604020202020204" pitchFamily="34" charset="0"/>
              </a:rPr>
              <a:t>Faster</a:t>
            </a:r>
            <a:endParaRPr lang="en-US" sz="1400" dirty="0">
              <a:latin typeface="Arial" panose="020B0604020202020204" pitchFamily="34" charset="0"/>
              <a:cs typeface="Arial" panose="020B0604020202020204" pitchFamily="34" charset="0"/>
            </a:endParaRPr>
          </a:p>
        </p:txBody>
      </p:sp>
      <p:sp>
        <p:nvSpPr>
          <p:cNvPr id="25" name="TextBox 24"/>
          <p:cNvSpPr txBox="1"/>
          <p:nvPr/>
        </p:nvSpPr>
        <p:spPr>
          <a:xfrm>
            <a:off x="7493793" y="2898873"/>
            <a:ext cx="938213" cy="307777"/>
          </a:xfrm>
          <a:prstGeom prst="rect">
            <a:avLst/>
          </a:prstGeom>
          <a:noFill/>
        </p:spPr>
        <p:txBody>
          <a:bodyPr wrap="square" rtlCol="0">
            <a:spAutoFit/>
          </a:bodyPr>
          <a:lstStyle/>
          <a:p>
            <a:r>
              <a:rPr lang="en-US" sz="1400" dirty="0" smtClean="0">
                <a:latin typeface="Arial" panose="020B0604020202020204" pitchFamily="34" charset="0"/>
                <a:cs typeface="Arial" panose="020B0604020202020204" pitchFamily="34" charset="0"/>
              </a:rPr>
              <a:t>Faster</a:t>
            </a:r>
            <a:endParaRPr lang="en-US" sz="1400" dirty="0">
              <a:latin typeface="Arial" panose="020B0604020202020204" pitchFamily="34" charset="0"/>
              <a:cs typeface="Arial" panose="020B0604020202020204" pitchFamily="34" charset="0"/>
            </a:endParaRPr>
          </a:p>
        </p:txBody>
      </p:sp>
      <p:pic>
        <p:nvPicPr>
          <p:cNvPr id="1026"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4201" y="1529555"/>
            <a:ext cx="8870950" cy="2846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6779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Graphic spid="7" grpId="0">
        <p:bldAsOne/>
      </p:bldGraphic>
      <p:bldGraphic spid="8" grpId="0">
        <p:bldAsOne/>
      </p:bldGraphic>
      <p:bldGraphic spid="9" grpId="0">
        <p:bldAsOne/>
      </p:bldGraphic>
      <p:bldP spid="10" grpId="0" animBg="1"/>
      <p:bldP spid="11" grpId="0" animBg="1"/>
      <p:bldP spid="12" grpId="0" animBg="1"/>
      <p:bldP spid="13" grpId="0" animBg="1"/>
      <p:bldP spid="14" grpId="0"/>
      <p:bldP spid="15" grpId="0"/>
      <p:bldP spid="16" grpId="0"/>
      <p:bldP spid="17" grpId="0"/>
      <p:bldP spid="18" grpId="0"/>
      <p:bldP spid="19" grpId="0" animBg="1"/>
      <p:bldP spid="20" grpId="0" animBg="1"/>
      <p:bldP spid="21" grpId="0" animBg="1"/>
      <p:bldP spid="22" grpId="0"/>
      <p:bldP spid="23" grpId="0"/>
      <p:bldP spid="24" grpId="0"/>
      <p:bldP spid="2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23670" y="226484"/>
            <a:ext cx="6806130" cy="677966"/>
          </a:xfrm>
        </p:spPr>
        <p:txBody>
          <a:bodyPr/>
          <a:lstStyle/>
          <a:p>
            <a:r>
              <a:rPr lang="en-US" dirty="0" smtClean="0"/>
              <a:t>Media Effect and Credit Availability</a:t>
            </a:r>
            <a:endParaRPr lang="en-US" dirty="0"/>
          </a:p>
        </p:txBody>
      </p:sp>
      <p:sp>
        <p:nvSpPr>
          <p:cNvPr id="4" name="TextBox 3"/>
          <p:cNvSpPr txBox="1"/>
          <p:nvPr/>
        </p:nvSpPr>
        <p:spPr>
          <a:xfrm>
            <a:off x="638175" y="3733800"/>
            <a:ext cx="7915275" cy="923330"/>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1200" dirty="0" smtClean="0">
                <a:latin typeface="Arial" panose="020B0604020202020204" pitchFamily="34" charset="0"/>
                <a:cs typeface="Arial" panose="020B0604020202020204" pitchFamily="34" charset="0"/>
              </a:rPr>
              <a:t>DeltaPMMS30 </a:t>
            </a:r>
            <a:r>
              <a:rPr lang="en-US" sz="1200" dirty="0">
                <a:latin typeface="Arial" panose="020B0604020202020204" pitchFamily="34" charset="0"/>
                <a:cs typeface="Arial" panose="020B0604020202020204" pitchFamily="34" charset="0"/>
              </a:rPr>
              <a:t>= max(lowest PMMS in past 3 years not including this month - PMMS this month + rate buffer, 0</a:t>
            </a:r>
            <a:r>
              <a:rPr lang="en-US" sz="1200" dirty="0" smtClean="0">
                <a:latin typeface="Arial" panose="020B0604020202020204" pitchFamily="34" charset="0"/>
                <a:cs typeface="Arial" panose="020B0604020202020204" pitchFamily="34" charset="0"/>
              </a:rPr>
              <a:t>)</a:t>
            </a:r>
            <a:endParaRPr lang="en-US" sz="1200" dirty="0">
              <a:latin typeface="Arial" panose="020B0604020202020204" pitchFamily="34" charset="0"/>
              <a:cs typeface="Arial" panose="020B0604020202020204" pitchFamily="34" charset="0"/>
            </a:endParaRPr>
          </a:p>
          <a:p>
            <a:pPr marL="171450" indent="-171450">
              <a:lnSpc>
                <a:spcPct val="150000"/>
              </a:lnSpc>
              <a:buFont typeface="Arial" panose="020B0604020202020204" pitchFamily="34" charset="0"/>
              <a:buChar char="•"/>
            </a:pPr>
            <a:r>
              <a:rPr lang="en-US" sz="1200" dirty="0">
                <a:latin typeface="Arial" panose="020B0604020202020204" pitchFamily="34" charset="0"/>
                <a:cs typeface="Arial" panose="020B0604020202020204" pitchFamily="34" charset="0"/>
              </a:rPr>
              <a:t>DeltaPMMS30_MA = 3-month moving average of DeltaPMMS30.  </a:t>
            </a:r>
          </a:p>
          <a:p>
            <a:pPr marL="171450" indent="-171450">
              <a:lnSpc>
                <a:spcPct val="150000"/>
              </a:lnSpc>
              <a:buFont typeface="Arial" panose="020B0604020202020204" pitchFamily="34" charset="0"/>
              <a:buChar char="•"/>
            </a:pPr>
            <a:r>
              <a:rPr lang="en-US" sz="1200" dirty="0" smtClean="0">
                <a:latin typeface="Arial" panose="020B0604020202020204" pitchFamily="34" charset="0"/>
                <a:cs typeface="Arial" panose="020B0604020202020204" pitchFamily="34" charset="0"/>
              </a:rPr>
              <a:t>Media </a:t>
            </a:r>
            <a:r>
              <a:rPr lang="en-US" sz="1200" dirty="0">
                <a:latin typeface="Arial" panose="020B0604020202020204" pitchFamily="34" charset="0"/>
                <a:cs typeface="Arial" panose="020B0604020202020204" pitchFamily="34" charset="0"/>
              </a:rPr>
              <a:t>effect multiplier = max(5 * DeltaPMMS30_MA at three month earlier, 1.0</a:t>
            </a:r>
            <a:r>
              <a:rPr lang="en-US" sz="1200" dirty="0" smtClean="0">
                <a:latin typeface="Arial" panose="020B0604020202020204" pitchFamily="34" charset="0"/>
                <a:cs typeface="Arial" panose="020B0604020202020204" pitchFamily="34" charset="0"/>
              </a:rPr>
              <a:t>)</a:t>
            </a:r>
            <a:endParaRPr lang="en-US" sz="1200" dirty="0">
              <a:latin typeface="Arial" panose="020B0604020202020204" pitchFamily="34" charset="0"/>
              <a:cs typeface="Arial" panose="020B0604020202020204" pitchFamily="34" charset="0"/>
            </a:endParaRPr>
          </a:p>
        </p:txBody>
      </p:sp>
      <p:cxnSp>
        <p:nvCxnSpPr>
          <p:cNvPr id="5" name="Straight Connector 4"/>
          <p:cNvCxnSpPr/>
          <p:nvPr/>
        </p:nvCxnSpPr>
        <p:spPr>
          <a:xfrm>
            <a:off x="836047" y="1277838"/>
            <a:ext cx="8286024"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2789567" y="1123950"/>
            <a:ext cx="3971925" cy="338554"/>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sz="1600" dirty="0" smtClean="0">
                <a:latin typeface="Arial" panose="020B0604020202020204" pitchFamily="34" charset="0"/>
                <a:cs typeface="Arial" panose="020B0604020202020204" pitchFamily="34" charset="0"/>
              </a:rPr>
              <a:t>Media Effect – Meet the Refinance Wave</a:t>
            </a:r>
            <a:endParaRPr lang="en-US" sz="1600" dirty="0">
              <a:latin typeface="Arial" panose="020B0604020202020204" pitchFamily="34" charset="0"/>
              <a:cs typeface="Arial" panose="020B0604020202020204" pitchFamily="34" charset="0"/>
            </a:endParaRPr>
          </a:p>
        </p:txBody>
      </p:sp>
      <p:pic>
        <p:nvPicPr>
          <p:cNvPr id="4098" name="Picture 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74725" y="1566864"/>
            <a:ext cx="3695816" cy="1185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 name="TextBox 18"/>
          <p:cNvSpPr txBox="1"/>
          <p:nvPr/>
        </p:nvSpPr>
        <p:spPr>
          <a:xfrm>
            <a:off x="5360059" y="1790463"/>
            <a:ext cx="3564866" cy="646331"/>
          </a:xfrm>
          <a:prstGeom prst="rect">
            <a:avLst/>
          </a:prstGeom>
          <a:noFill/>
        </p:spPr>
        <p:txBody>
          <a:bodyPr wrap="square" rtlCol="0">
            <a:spAutoFit/>
          </a:bodyPr>
          <a:lstStyle/>
          <a:p>
            <a:r>
              <a:rPr lang="en-US" sz="1200" dirty="0" smtClean="0">
                <a:latin typeface="Arial" panose="020B0604020202020204" pitchFamily="34" charset="0"/>
                <a:cs typeface="Arial" panose="020B0604020202020204" pitchFamily="34" charset="0"/>
              </a:rPr>
              <a:t>Mortgage borrowers tend to refinance more aggressively than usual when rates hit multi-year lows.</a:t>
            </a:r>
            <a:endParaRPr lang="en-US" sz="1200" dirty="0">
              <a:latin typeface="Arial" panose="020B0604020202020204" pitchFamily="34" charset="0"/>
              <a:cs typeface="Arial" panose="020B0604020202020204" pitchFamily="34" charset="0"/>
            </a:endParaRPr>
          </a:p>
        </p:txBody>
      </p:sp>
      <p:sp>
        <p:nvSpPr>
          <p:cNvPr id="21" name="AutoShape 3"/>
          <p:cNvSpPr>
            <a:spLocks noChangeArrowheads="1"/>
          </p:cNvSpPr>
          <p:nvPr>
            <p:custDataLst>
              <p:tags r:id="rId1"/>
            </p:custDataLst>
          </p:nvPr>
        </p:nvSpPr>
        <p:spPr bwMode="gray">
          <a:xfrm>
            <a:off x="836047" y="3006725"/>
            <a:ext cx="2206625" cy="584200"/>
          </a:xfrm>
          <a:prstGeom prst="chevron">
            <a:avLst>
              <a:gd name="adj" fmla="val 34952"/>
            </a:avLst>
          </a:prstGeom>
          <a:solidFill>
            <a:schemeClr val="accent1"/>
          </a:solidFill>
          <a:ln w="12700" cap="rnd" algn="ctr">
            <a:solidFill>
              <a:schemeClr val="bg1"/>
            </a:solidFill>
            <a:miter lim="800000"/>
            <a:headEnd/>
            <a:tailEnd/>
          </a:ln>
        </p:spPr>
        <p:txBody>
          <a:bodyPr lIns="36000" tIns="36000" rIns="36000" bIns="36000" anchor="ctr" anchorCtr="1"/>
          <a:lstStyle/>
          <a:p>
            <a:pPr algn="ctr">
              <a:lnSpc>
                <a:spcPct val="106000"/>
              </a:lnSpc>
              <a:defRPr/>
            </a:pPr>
            <a:r>
              <a:rPr lang="en-US" altLang="zh-CN" sz="1400" b="1" dirty="0" smtClean="0">
                <a:solidFill>
                  <a:schemeClr val="bg1"/>
                </a:solidFill>
                <a:latin typeface="Arial Unicode MS" pitchFamily="34" charset="-122"/>
                <a:ea typeface="Arial Unicode MS" pitchFamily="34" charset="-122"/>
                <a:cs typeface="Arial Unicode MS" pitchFamily="34" charset="-122"/>
              </a:rPr>
              <a:t>Model prepay speed is slower in 2003</a:t>
            </a:r>
            <a:endParaRPr lang="en-US" sz="1400" b="1" dirty="0">
              <a:solidFill>
                <a:schemeClr val="bg1"/>
              </a:solidFill>
              <a:latin typeface="Arial Unicode MS" pitchFamily="34" charset="-122"/>
              <a:ea typeface="Arial Unicode MS" pitchFamily="34" charset="-122"/>
              <a:cs typeface="Arial Unicode MS" pitchFamily="34" charset="-122"/>
            </a:endParaRPr>
          </a:p>
        </p:txBody>
      </p:sp>
      <p:sp>
        <p:nvSpPr>
          <p:cNvPr id="22" name="AutoShape 4"/>
          <p:cNvSpPr>
            <a:spLocks noChangeArrowheads="1"/>
          </p:cNvSpPr>
          <p:nvPr>
            <p:custDataLst>
              <p:tags r:id="rId2"/>
            </p:custDataLst>
          </p:nvPr>
        </p:nvSpPr>
        <p:spPr bwMode="gray">
          <a:xfrm>
            <a:off x="2890272" y="3006725"/>
            <a:ext cx="2206625" cy="584200"/>
          </a:xfrm>
          <a:prstGeom prst="chevron">
            <a:avLst>
              <a:gd name="adj" fmla="val 34975"/>
            </a:avLst>
          </a:prstGeom>
          <a:solidFill>
            <a:schemeClr val="accent1"/>
          </a:solidFill>
          <a:ln w="12700" cap="rnd" algn="ctr">
            <a:solidFill>
              <a:schemeClr val="bg1"/>
            </a:solidFill>
            <a:miter lim="800000"/>
            <a:headEnd/>
            <a:tailEnd/>
          </a:ln>
        </p:spPr>
        <p:txBody>
          <a:bodyPr lIns="36000" tIns="36000" rIns="36000" bIns="36000" anchor="ctr" anchorCtr="1"/>
          <a:lstStyle/>
          <a:p>
            <a:pPr>
              <a:lnSpc>
                <a:spcPct val="106000"/>
              </a:lnSpc>
              <a:defRPr/>
            </a:pPr>
            <a:r>
              <a:rPr lang="en-US" sz="1400" b="1" dirty="0" smtClean="0">
                <a:solidFill>
                  <a:schemeClr val="bg1"/>
                </a:solidFill>
                <a:latin typeface="Arial Unicode MS" pitchFamily="34" charset="-122"/>
                <a:ea typeface="Arial Unicode MS" pitchFamily="34" charset="-122"/>
                <a:cs typeface="Arial Unicode MS" pitchFamily="34" charset="-122"/>
              </a:rPr>
              <a:t>Reason:</a:t>
            </a:r>
          </a:p>
          <a:p>
            <a:pPr>
              <a:lnSpc>
                <a:spcPct val="106000"/>
              </a:lnSpc>
              <a:defRPr/>
            </a:pPr>
            <a:r>
              <a:rPr lang="en-US" sz="1400" b="1" dirty="0" smtClean="0">
                <a:solidFill>
                  <a:schemeClr val="bg1"/>
                </a:solidFill>
                <a:latin typeface="Arial Unicode MS" pitchFamily="34" charset="-122"/>
                <a:ea typeface="Arial Unicode MS" pitchFamily="34" charset="-122"/>
                <a:cs typeface="Arial Unicode MS" pitchFamily="34" charset="-122"/>
              </a:rPr>
              <a:t>Media effect</a:t>
            </a:r>
            <a:endParaRPr lang="en-US" sz="1400" b="1" dirty="0">
              <a:solidFill>
                <a:schemeClr val="bg1"/>
              </a:solidFill>
              <a:latin typeface="Arial Unicode MS" pitchFamily="34" charset="-122"/>
              <a:ea typeface="Arial Unicode MS" pitchFamily="34" charset="-122"/>
              <a:cs typeface="Arial Unicode MS" pitchFamily="34" charset="-122"/>
            </a:endParaRPr>
          </a:p>
        </p:txBody>
      </p:sp>
      <p:sp>
        <p:nvSpPr>
          <p:cNvPr id="23" name="AutoShape 5"/>
          <p:cNvSpPr>
            <a:spLocks noChangeArrowheads="1"/>
          </p:cNvSpPr>
          <p:nvPr>
            <p:custDataLst>
              <p:tags r:id="rId3"/>
            </p:custDataLst>
          </p:nvPr>
        </p:nvSpPr>
        <p:spPr bwMode="gray">
          <a:xfrm>
            <a:off x="4938147" y="3006725"/>
            <a:ext cx="2206625" cy="584200"/>
          </a:xfrm>
          <a:prstGeom prst="chevron">
            <a:avLst>
              <a:gd name="adj" fmla="val 34975"/>
            </a:avLst>
          </a:prstGeom>
          <a:solidFill>
            <a:schemeClr val="accent1"/>
          </a:solidFill>
          <a:ln w="12700" cap="rnd" algn="ctr">
            <a:solidFill>
              <a:schemeClr val="bg1"/>
            </a:solidFill>
            <a:miter lim="800000"/>
            <a:headEnd/>
            <a:tailEnd/>
          </a:ln>
        </p:spPr>
        <p:txBody>
          <a:bodyPr lIns="36000" tIns="36000" rIns="36000" bIns="36000" anchor="ctr" anchorCtr="1"/>
          <a:lstStyle/>
          <a:p>
            <a:pPr>
              <a:lnSpc>
                <a:spcPct val="106000"/>
              </a:lnSpc>
              <a:defRPr/>
            </a:pPr>
            <a:r>
              <a:rPr lang="en-US" altLang="zh-CN" sz="1400" b="1" dirty="0">
                <a:solidFill>
                  <a:schemeClr val="bg1"/>
                </a:solidFill>
                <a:latin typeface="Arial Unicode MS" pitchFamily="34" charset="-122"/>
                <a:ea typeface="Arial Unicode MS" pitchFamily="34" charset="-122"/>
                <a:cs typeface="Arial Unicode MS" pitchFamily="34" charset="-122"/>
              </a:rPr>
              <a:t>Solution:</a:t>
            </a:r>
          </a:p>
          <a:p>
            <a:pPr>
              <a:lnSpc>
                <a:spcPct val="106000"/>
              </a:lnSpc>
              <a:defRPr/>
            </a:pPr>
            <a:r>
              <a:rPr lang="en-US" sz="1400" b="1" dirty="0">
                <a:solidFill>
                  <a:schemeClr val="bg1"/>
                </a:solidFill>
                <a:latin typeface="Arial Unicode MS" pitchFamily="34" charset="-122"/>
                <a:ea typeface="Arial Unicode MS" pitchFamily="34" charset="-122"/>
                <a:cs typeface="Arial Unicode MS" pitchFamily="34" charset="-122"/>
              </a:rPr>
              <a:t>Media effect multiplier</a:t>
            </a:r>
            <a:endParaRPr lang="en-US" altLang="zh-CN" sz="1400" b="1" dirty="0">
              <a:solidFill>
                <a:schemeClr val="bg1"/>
              </a:solidFill>
              <a:latin typeface="Arial Unicode MS" pitchFamily="34" charset="-122"/>
              <a:ea typeface="Arial Unicode MS" pitchFamily="34" charset="-122"/>
              <a:cs typeface="Arial Unicode MS" pitchFamily="34" charset="-122"/>
            </a:endParaRPr>
          </a:p>
        </p:txBody>
      </p:sp>
      <p:sp>
        <p:nvSpPr>
          <p:cNvPr id="24" name="AutoShape 6"/>
          <p:cNvSpPr>
            <a:spLocks noChangeArrowheads="1"/>
          </p:cNvSpPr>
          <p:nvPr>
            <p:custDataLst>
              <p:tags r:id="rId4"/>
            </p:custDataLst>
          </p:nvPr>
        </p:nvSpPr>
        <p:spPr bwMode="gray">
          <a:xfrm>
            <a:off x="6984434" y="3006725"/>
            <a:ext cx="2206625" cy="584200"/>
          </a:xfrm>
          <a:prstGeom prst="chevron">
            <a:avLst>
              <a:gd name="adj" fmla="val 34975"/>
            </a:avLst>
          </a:prstGeom>
          <a:solidFill>
            <a:schemeClr val="accent1"/>
          </a:solidFill>
          <a:ln w="12700" cap="rnd" algn="ctr">
            <a:solidFill>
              <a:schemeClr val="bg1"/>
            </a:solidFill>
            <a:miter lim="800000"/>
            <a:headEnd/>
            <a:tailEnd/>
          </a:ln>
        </p:spPr>
        <p:txBody>
          <a:bodyPr lIns="36000" tIns="36000" rIns="36000" bIns="36000" anchor="ctr" anchorCtr="1"/>
          <a:lstStyle/>
          <a:p>
            <a:pPr>
              <a:lnSpc>
                <a:spcPct val="106000"/>
              </a:lnSpc>
              <a:defRPr/>
            </a:pPr>
            <a:r>
              <a:rPr lang="en-US" altLang="zh-CN" sz="1400" b="1" dirty="0" smtClean="0">
                <a:solidFill>
                  <a:schemeClr val="bg1"/>
                </a:solidFill>
                <a:latin typeface="Arial Unicode MS" pitchFamily="34" charset="-122"/>
                <a:ea typeface="Arial Unicode MS" pitchFamily="34" charset="-122"/>
                <a:cs typeface="Arial Unicode MS" pitchFamily="34" charset="-122"/>
              </a:rPr>
              <a:t>Result:</a:t>
            </a:r>
          </a:p>
          <a:p>
            <a:pPr>
              <a:lnSpc>
                <a:spcPct val="106000"/>
              </a:lnSpc>
              <a:defRPr/>
            </a:pPr>
            <a:r>
              <a:rPr lang="en-US" sz="1400" b="1" dirty="0" smtClean="0">
                <a:solidFill>
                  <a:schemeClr val="bg1"/>
                </a:solidFill>
                <a:latin typeface="Arial Unicode MS" pitchFamily="34" charset="-122"/>
                <a:ea typeface="Arial Unicode MS" pitchFamily="34" charset="-122"/>
                <a:cs typeface="Arial Unicode MS" pitchFamily="34" charset="-122"/>
              </a:rPr>
              <a:t>Meet </a:t>
            </a:r>
            <a:r>
              <a:rPr lang="en-US" sz="1400" b="1" dirty="0" err="1" smtClean="0">
                <a:solidFill>
                  <a:schemeClr val="bg1"/>
                </a:solidFill>
                <a:latin typeface="Arial Unicode MS" pitchFamily="34" charset="-122"/>
                <a:ea typeface="Arial Unicode MS" pitchFamily="34" charset="-122"/>
                <a:cs typeface="Arial Unicode MS" pitchFamily="34" charset="-122"/>
              </a:rPr>
              <a:t>Refi</a:t>
            </a:r>
            <a:r>
              <a:rPr lang="en-US" sz="1400" b="1" dirty="0" smtClean="0">
                <a:solidFill>
                  <a:schemeClr val="bg1"/>
                </a:solidFill>
                <a:latin typeface="Arial Unicode MS" pitchFamily="34" charset="-122"/>
                <a:ea typeface="Arial Unicode MS" pitchFamily="34" charset="-122"/>
                <a:cs typeface="Arial Unicode MS" pitchFamily="34" charset="-122"/>
              </a:rPr>
              <a:t> Wave 2013</a:t>
            </a:r>
            <a:endParaRPr lang="en-US" sz="1400" b="1" dirty="0">
              <a:solidFill>
                <a:schemeClr val="bg1"/>
              </a:solidFill>
              <a:latin typeface="Arial Unicode MS" pitchFamily="34" charset="-122"/>
              <a:ea typeface="Arial Unicode MS" pitchFamily="34" charset="-122"/>
              <a:cs typeface="Arial Unicode MS" pitchFamily="34" charset="-122"/>
            </a:endParaRPr>
          </a:p>
        </p:txBody>
      </p:sp>
      <p:pic>
        <p:nvPicPr>
          <p:cNvPr id="28" name="Picture 2"/>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68454" y="5045996"/>
            <a:ext cx="4002087" cy="18262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9" name="Picture 3"/>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096897" y="5045996"/>
            <a:ext cx="3950722" cy="17100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0" name="TextBox 29"/>
          <p:cNvSpPr txBox="1"/>
          <p:nvPr/>
        </p:nvSpPr>
        <p:spPr>
          <a:xfrm>
            <a:off x="1427749" y="4878921"/>
            <a:ext cx="2565835" cy="276999"/>
          </a:xfrm>
          <a:prstGeom prst="rect">
            <a:avLst/>
          </a:prstGeom>
          <a:noFill/>
        </p:spPr>
        <p:txBody>
          <a:bodyPr wrap="square" rtlCol="0">
            <a:spAutoFit/>
          </a:bodyPr>
          <a:lstStyle/>
          <a:p>
            <a:pPr algn="ctr"/>
            <a:r>
              <a:rPr lang="en-US" sz="1200" i="1" dirty="0" smtClean="0">
                <a:latin typeface="Arial" panose="020B0604020202020204" pitchFamily="34" charset="0"/>
                <a:cs typeface="Arial" panose="020B0604020202020204" pitchFamily="34" charset="0"/>
              </a:rPr>
              <a:t>Rate Changes and Media Effect</a:t>
            </a:r>
            <a:endParaRPr lang="en-US" sz="1200" i="1" dirty="0">
              <a:latin typeface="Arial" panose="020B0604020202020204" pitchFamily="34" charset="0"/>
              <a:cs typeface="Arial" panose="020B0604020202020204" pitchFamily="34" charset="0"/>
            </a:endParaRPr>
          </a:p>
        </p:txBody>
      </p:sp>
      <p:sp>
        <p:nvSpPr>
          <p:cNvPr id="31" name="TextBox 30"/>
          <p:cNvSpPr txBox="1"/>
          <p:nvPr/>
        </p:nvSpPr>
        <p:spPr>
          <a:xfrm>
            <a:off x="5789340" y="4923830"/>
            <a:ext cx="2565835" cy="276999"/>
          </a:xfrm>
          <a:prstGeom prst="rect">
            <a:avLst/>
          </a:prstGeom>
          <a:noFill/>
        </p:spPr>
        <p:txBody>
          <a:bodyPr wrap="square" rtlCol="0">
            <a:spAutoFit/>
          </a:bodyPr>
          <a:lstStyle/>
          <a:p>
            <a:pPr algn="ctr"/>
            <a:r>
              <a:rPr lang="en-US" sz="1200" i="1" dirty="0" smtClean="0">
                <a:latin typeface="Arial" panose="020B0604020202020204" pitchFamily="34" charset="0"/>
                <a:cs typeface="Arial" panose="020B0604020202020204" pitchFamily="34" charset="0"/>
              </a:rPr>
              <a:t>Fitting Result after Media Effect</a:t>
            </a:r>
            <a:endParaRPr lang="en-US" sz="1200" i="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06325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9" grpId="0"/>
      <p:bldP spid="22" grpId="0" animBg="1"/>
      <p:bldP spid="23" grpId="0" animBg="1"/>
      <p:bldP spid="24" grpId="0" animBg="1"/>
      <p:bldP spid="30" grpId="0"/>
      <p:bldP spid="3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23670" y="226484"/>
            <a:ext cx="6806130" cy="677966"/>
          </a:xfrm>
        </p:spPr>
        <p:txBody>
          <a:bodyPr/>
          <a:lstStyle/>
          <a:p>
            <a:r>
              <a:rPr lang="en-US" dirty="0" smtClean="0"/>
              <a:t>Media Effect and Credit Availability</a:t>
            </a:r>
            <a:endParaRPr lang="en-US" dirty="0"/>
          </a:p>
        </p:txBody>
      </p:sp>
      <p:cxnSp>
        <p:nvCxnSpPr>
          <p:cNvPr id="5" name="Straight Connector 4"/>
          <p:cNvCxnSpPr/>
          <p:nvPr/>
        </p:nvCxnSpPr>
        <p:spPr>
          <a:xfrm>
            <a:off x="836047" y="1293227"/>
            <a:ext cx="8286024"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3786155" y="1123950"/>
            <a:ext cx="1909795" cy="338554"/>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sz="1600" dirty="0" smtClean="0">
                <a:latin typeface="Arial" panose="020B0604020202020204" pitchFamily="34" charset="0"/>
                <a:cs typeface="Arial" panose="020B0604020202020204" pitchFamily="34" charset="0"/>
              </a:rPr>
              <a:t>Credit Availability</a:t>
            </a:r>
            <a:endParaRPr lang="en-US" sz="1600" dirty="0">
              <a:latin typeface="Arial" panose="020B0604020202020204" pitchFamily="34" charset="0"/>
              <a:cs typeface="Arial" panose="020B0604020202020204" pitchFamily="34" charset="0"/>
            </a:endParaRPr>
          </a:p>
        </p:txBody>
      </p:sp>
      <p:sp>
        <p:nvSpPr>
          <p:cNvPr id="3" name="TextBox 2"/>
          <p:cNvSpPr txBox="1"/>
          <p:nvPr/>
        </p:nvSpPr>
        <p:spPr>
          <a:xfrm>
            <a:off x="845571" y="2047280"/>
            <a:ext cx="2439141" cy="461665"/>
          </a:xfrm>
          <a:prstGeom prst="rect">
            <a:avLst/>
          </a:prstGeom>
          <a:noFill/>
        </p:spPr>
        <p:txBody>
          <a:bodyPr wrap="square" rtlCol="0">
            <a:spAutoFit/>
          </a:bodyPr>
          <a:lstStyle/>
          <a:p>
            <a:r>
              <a:rPr lang="en-US" sz="1200" dirty="0" smtClean="0"/>
              <a:t>Model SMM is too fast after 2008</a:t>
            </a:r>
          </a:p>
          <a:p>
            <a:r>
              <a:rPr lang="en-US" sz="1200" dirty="0"/>
              <a:t>U</a:t>
            </a:r>
            <a:r>
              <a:rPr lang="en-US" sz="1200" dirty="0" smtClean="0"/>
              <a:t>sing same Media Effect model  </a:t>
            </a:r>
            <a:endParaRPr lang="en-US" sz="1200" dirty="0"/>
          </a:p>
        </p:txBody>
      </p:sp>
      <p:pic>
        <p:nvPicPr>
          <p:cNvPr id="6149"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786156" y="1619250"/>
            <a:ext cx="5335916" cy="16378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5" name="AutoShape 12"/>
          <p:cNvSpPr>
            <a:spLocks noChangeArrowheads="1"/>
          </p:cNvSpPr>
          <p:nvPr>
            <p:custDataLst>
              <p:tags r:id="rId1"/>
            </p:custDataLst>
          </p:nvPr>
        </p:nvSpPr>
        <p:spPr bwMode="auto">
          <a:xfrm rot="5400000">
            <a:off x="2013743" y="2465318"/>
            <a:ext cx="258763" cy="852487"/>
          </a:xfrm>
          <a:prstGeom prst="rightArrow">
            <a:avLst>
              <a:gd name="adj1" fmla="val 50000"/>
              <a:gd name="adj2" fmla="val 52278"/>
            </a:avLst>
          </a:prstGeom>
          <a:solidFill>
            <a:schemeClr val="accent1"/>
          </a:solidFill>
          <a:ln w="12700" algn="ctr">
            <a:solidFill>
              <a:schemeClr val="bg1"/>
            </a:solidFill>
            <a:miter lim="800000"/>
            <a:headEnd/>
            <a:tailEnd/>
          </a:ln>
        </p:spPr>
        <p:txBody>
          <a:bodyPr rot="10800000" vert="eaVert" tIns="91440" bIns="91440" anchor="ctr"/>
          <a:lstStyle/>
          <a:p>
            <a:pPr algn="ctr">
              <a:defRPr/>
            </a:pPr>
            <a:endParaRPr lang="en-US" dirty="0">
              <a:latin typeface="Arial Unicode MS" pitchFamily="34" charset="-122"/>
              <a:ea typeface="Arial Unicode MS" pitchFamily="34" charset="-122"/>
              <a:cs typeface="Arial Unicode MS" pitchFamily="34" charset="-122"/>
            </a:endParaRPr>
          </a:p>
        </p:txBody>
      </p:sp>
      <p:sp>
        <p:nvSpPr>
          <p:cNvPr id="36" name="TextBox 35"/>
          <p:cNvSpPr txBox="1"/>
          <p:nvPr/>
        </p:nvSpPr>
        <p:spPr>
          <a:xfrm>
            <a:off x="845572" y="3185815"/>
            <a:ext cx="2439141" cy="461665"/>
          </a:xfrm>
          <a:prstGeom prst="rect">
            <a:avLst/>
          </a:prstGeom>
          <a:noFill/>
        </p:spPr>
        <p:txBody>
          <a:bodyPr wrap="square" rtlCol="0">
            <a:spAutoFit/>
          </a:bodyPr>
          <a:lstStyle/>
          <a:p>
            <a:r>
              <a:rPr lang="en-US" sz="1200" dirty="0" smtClean="0"/>
              <a:t>Another factor need to be involved for the house market.</a:t>
            </a:r>
            <a:endParaRPr lang="en-US" sz="1200" dirty="0"/>
          </a:p>
        </p:txBody>
      </p:sp>
      <mc:AlternateContent xmlns:mc="http://schemas.openxmlformats.org/markup-compatibility/2006" xmlns:a14="http://schemas.microsoft.com/office/drawing/2010/main">
        <mc:Choice Requires="a14">
          <p:sp>
            <p:nvSpPr>
              <p:cNvPr id="8" name="TextBox 7"/>
              <p:cNvSpPr txBox="1"/>
              <p:nvPr/>
            </p:nvSpPr>
            <p:spPr>
              <a:xfrm>
                <a:off x="840291" y="3647480"/>
                <a:ext cx="2887072"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a:rPr>
                        <m:t>𝐶𝐴</m:t>
                      </m:r>
                      <m:r>
                        <a:rPr lang="en-US" sz="1200" b="0" i="1" smtClean="0">
                          <a:latin typeface="Cambria Math"/>
                        </a:rPr>
                        <m:t>=1− </m:t>
                      </m:r>
                      <m:r>
                        <a:rPr lang="en-US" sz="1200" b="0" i="1" smtClean="0">
                          <a:latin typeface="Cambria Math"/>
                          <a:ea typeface="Cambria Math"/>
                        </a:rPr>
                        <m:t>𝛼</m:t>
                      </m:r>
                      <m:r>
                        <a:rPr lang="en-US" sz="1200" b="0" i="1" smtClean="0">
                          <a:latin typeface="Cambria Math"/>
                          <a:ea typeface="Cambria Math"/>
                        </a:rPr>
                        <m:t>/(1 +</m:t>
                      </m:r>
                      <m:r>
                        <a:rPr lang="en-US" sz="1200" b="0" i="1" smtClean="0">
                          <a:latin typeface="Cambria Math"/>
                          <a:ea typeface="Cambria Math"/>
                        </a:rPr>
                        <m:t>𝑒</m:t>
                      </m:r>
                      <m:r>
                        <a:rPr lang="en-US" sz="1200" b="0" i="1" smtClean="0">
                          <a:latin typeface="Cambria Math"/>
                          <a:ea typeface="Cambria Math"/>
                        </a:rPr>
                        <m:t>^((</m:t>
                      </m:r>
                      <m:r>
                        <a:rPr lang="en-US" sz="1200" b="0" i="1" smtClean="0">
                          <a:latin typeface="Cambria Math"/>
                          <a:ea typeface="Cambria Math"/>
                        </a:rPr>
                        <m:t>h𝑝𝑎</m:t>
                      </m:r>
                      <m:r>
                        <a:rPr lang="en-US" sz="1200" b="0" i="1" smtClean="0">
                          <a:latin typeface="Cambria Math"/>
                          <a:ea typeface="Cambria Math"/>
                        </a:rPr>
                        <m:t>2</m:t>
                      </m:r>
                      <m:r>
                        <a:rPr lang="en-US" sz="1200" b="0" i="1" smtClean="0">
                          <a:latin typeface="Cambria Math"/>
                          <a:ea typeface="Cambria Math"/>
                        </a:rPr>
                        <m:t>𝑦𝑟</m:t>
                      </m:r>
                      <m:r>
                        <a:rPr lang="en-US" sz="1200" b="0" i="1" smtClean="0">
                          <a:latin typeface="Cambria Math"/>
                          <a:ea typeface="Cambria Math"/>
                        </a:rPr>
                        <m:t> − </m:t>
                      </m:r>
                      <m:r>
                        <a:rPr lang="en-US" sz="1200" b="0" i="1" smtClean="0">
                          <a:latin typeface="Cambria Math"/>
                          <a:ea typeface="Cambria Math"/>
                        </a:rPr>
                        <m:t>𝛽</m:t>
                      </m:r>
                      <m:r>
                        <a:rPr lang="en-US" sz="1200" b="0" i="1" smtClean="0">
                          <a:latin typeface="Cambria Math"/>
                          <a:ea typeface="Cambria Math"/>
                        </a:rPr>
                        <m:t>)/</m:t>
                      </m:r>
                      <m:r>
                        <a:rPr lang="en-US" sz="1200" b="0" i="1" smtClean="0">
                          <a:latin typeface="Cambria Math"/>
                          <a:ea typeface="Cambria Math"/>
                        </a:rPr>
                        <m:t>𝛾</m:t>
                      </m:r>
                      <m:r>
                        <a:rPr lang="en-US" sz="1200" b="0" i="1" smtClean="0">
                          <a:latin typeface="Cambria Math"/>
                          <a:ea typeface="Cambria Math"/>
                        </a:rPr>
                        <m:t>)</m:t>
                      </m:r>
                    </m:oMath>
                  </m:oMathPara>
                </a14:m>
                <a:endParaRPr lang="en-US" sz="1200" dirty="0"/>
              </a:p>
            </p:txBody>
          </p:sp>
        </mc:Choice>
        <mc:Fallback xmlns="">
          <p:sp>
            <p:nvSpPr>
              <p:cNvPr id="8" name="TextBox 7"/>
              <p:cNvSpPr txBox="1">
                <a:spLocks noRot="1" noChangeAspect="1" noMove="1" noResize="1" noEditPoints="1" noAdjustHandles="1" noChangeArrowheads="1" noChangeShapeType="1" noTextEdit="1"/>
              </p:cNvSpPr>
              <p:nvPr/>
            </p:nvSpPr>
            <p:spPr>
              <a:xfrm>
                <a:off x="840291" y="3647480"/>
                <a:ext cx="2887072" cy="276999"/>
              </a:xfrm>
              <a:prstGeom prst="rect">
                <a:avLst/>
              </a:prstGeom>
              <a:blipFill rotWithShape="1">
                <a:blip r:embed="rId5"/>
                <a:stretch>
                  <a:fillRect b="-8696"/>
                </a:stretch>
              </a:blipFill>
            </p:spPr>
            <p:txBody>
              <a:bodyPr/>
              <a:lstStyle/>
              <a:p>
                <a:r>
                  <a:rPr lang="en-US">
                    <a:noFill/>
                  </a:rPr>
                  <a:t> </a:t>
                </a:r>
              </a:p>
            </p:txBody>
          </p:sp>
        </mc:Fallback>
      </mc:AlternateContent>
      <p:pic>
        <p:nvPicPr>
          <p:cNvPr id="6151" name="Picture 7"/>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811704" y="3577929"/>
            <a:ext cx="5284820" cy="1622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52" name="Picture 8"/>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727363" y="5520925"/>
            <a:ext cx="5369161" cy="1648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2" name="AutoShape 12"/>
          <p:cNvSpPr>
            <a:spLocks noChangeArrowheads="1"/>
          </p:cNvSpPr>
          <p:nvPr>
            <p:custDataLst>
              <p:tags r:id="rId2"/>
            </p:custDataLst>
          </p:nvPr>
        </p:nvSpPr>
        <p:spPr bwMode="auto">
          <a:xfrm rot="5400000">
            <a:off x="2013743" y="5621823"/>
            <a:ext cx="258763" cy="852487"/>
          </a:xfrm>
          <a:prstGeom prst="rightArrow">
            <a:avLst>
              <a:gd name="adj1" fmla="val 50000"/>
              <a:gd name="adj2" fmla="val 52278"/>
            </a:avLst>
          </a:prstGeom>
          <a:solidFill>
            <a:schemeClr val="accent1"/>
          </a:solidFill>
          <a:ln w="12700" algn="ctr">
            <a:solidFill>
              <a:schemeClr val="bg1"/>
            </a:solidFill>
            <a:miter lim="800000"/>
            <a:headEnd/>
            <a:tailEnd/>
          </a:ln>
        </p:spPr>
        <p:txBody>
          <a:bodyPr rot="10800000" vert="eaVert" tIns="91440" bIns="91440" anchor="ctr"/>
          <a:lstStyle/>
          <a:p>
            <a:pPr algn="ctr">
              <a:defRPr/>
            </a:pPr>
            <a:endParaRPr lang="en-US" dirty="0">
              <a:latin typeface="Arial Unicode MS" pitchFamily="34" charset="-122"/>
              <a:ea typeface="Arial Unicode MS" pitchFamily="34" charset="-122"/>
              <a:cs typeface="Arial Unicode MS" pitchFamily="34" charset="-122"/>
            </a:endParaRPr>
          </a:p>
        </p:txBody>
      </p:sp>
      <p:sp>
        <p:nvSpPr>
          <p:cNvPr id="43" name="TextBox 42"/>
          <p:cNvSpPr txBox="1"/>
          <p:nvPr/>
        </p:nvSpPr>
        <p:spPr>
          <a:xfrm>
            <a:off x="923553" y="6330377"/>
            <a:ext cx="2439141" cy="4616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en-US" sz="1200" dirty="0" smtClean="0"/>
              <a:t>Good overall fitting result from 1998 to 2014</a:t>
            </a:r>
            <a:endParaRPr lang="en-US" sz="1200" dirty="0"/>
          </a:p>
        </p:txBody>
      </p:sp>
      <p:pic>
        <p:nvPicPr>
          <p:cNvPr id="6153" name="Picture 9"/>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300405" y="3890058"/>
            <a:ext cx="1685435" cy="18727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9747341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lvl="1"/>
            <a:r>
              <a:rPr lang="en-US" dirty="0">
                <a:solidFill>
                  <a:schemeClr val="tx1"/>
                </a:solidFill>
              </a:rPr>
              <a:t>Monotonic Spline Function</a:t>
            </a:r>
            <a:br>
              <a:rPr lang="en-US" dirty="0">
                <a:solidFill>
                  <a:schemeClr val="tx1"/>
                </a:solidFill>
              </a:rPr>
            </a:br>
            <a:r>
              <a:rPr lang="en-US" dirty="0">
                <a:solidFill>
                  <a:schemeClr val="tx1"/>
                </a:solidFill>
              </a:rPr>
              <a:t>Media Effect “Jump Up” Problem</a:t>
            </a:r>
            <a:br>
              <a:rPr lang="en-US" dirty="0">
                <a:solidFill>
                  <a:schemeClr val="tx1"/>
                </a:solidFill>
              </a:rPr>
            </a:br>
            <a:r>
              <a:rPr lang="en-US" dirty="0">
                <a:solidFill>
                  <a:schemeClr val="tx1"/>
                </a:solidFill>
              </a:rPr>
              <a:t>Change Credit Availability</a:t>
            </a:r>
            <a:br>
              <a:rPr lang="en-US" dirty="0">
                <a:solidFill>
                  <a:schemeClr val="tx1"/>
                </a:solidFill>
              </a:rPr>
            </a:br>
            <a:r>
              <a:rPr lang="en-US" dirty="0">
                <a:solidFill>
                  <a:schemeClr val="tx1"/>
                </a:solidFill>
              </a:rPr>
              <a:t>Efficient R- Script</a:t>
            </a:r>
            <a:br>
              <a:rPr lang="en-US" dirty="0">
                <a:solidFill>
                  <a:schemeClr val="tx1"/>
                </a:solidFill>
              </a:rPr>
            </a:br>
            <a:r>
              <a:rPr lang="en-US" dirty="0">
                <a:solidFill>
                  <a:schemeClr val="tx1"/>
                </a:solidFill>
              </a:rPr>
              <a:t/>
            </a:r>
            <a:br>
              <a:rPr lang="en-US" dirty="0">
                <a:solidFill>
                  <a:schemeClr val="tx1"/>
                </a:solidFill>
              </a:rPr>
            </a:br>
            <a:r>
              <a:rPr lang="en-US" dirty="0">
                <a:solidFill>
                  <a:schemeClr val="tx1"/>
                </a:solidFill>
              </a:rPr>
              <a:t/>
            </a:r>
            <a:br>
              <a:rPr lang="en-US" dirty="0">
                <a:solidFill>
                  <a:schemeClr val="tx1"/>
                </a:solidFill>
              </a:rPr>
            </a:br>
            <a:endParaRPr lang="en-US" dirty="0">
              <a:solidFill>
                <a:schemeClr val="tx1"/>
              </a:solidFill>
            </a:endParaRPr>
          </a:p>
        </p:txBody>
      </p:sp>
      <p:sp>
        <p:nvSpPr>
          <p:cNvPr id="5" name="Text Placeholder 4"/>
          <p:cNvSpPr>
            <a:spLocks noGrp="1"/>
          </p:cNvSpPr>
          <p:nvPr>
            <p:ph type="body" idx="1"/>
          </p:nvPr>
        </p:nvSpPr>
        <p:spPr/>
        <p:txBody>
          <a:bodyPr/>
          <a:lstStyle/>
          <a:p>
            <a:pPr>
              <a:buFont typeface="Wingdings" panose="05000000000000000000" pitchFamily="2" charset="2"/>
              <a:buChar char="v"/>
            </a:pPr>
            <a:r>
              <a:rPr lang="en-US" sz="2400" b="1" dirty="0" smtClean="0"/>
              <a:t>Improvement</a:t>
            </a:r>
          </a:p>
          <a:p>
            <a:endParaRPr lang="en-US" dirty="0"/>
          </a:p>
        </p:txBody>
      </p:sp>
    </p:spTree>
    <p:extLst>
      <p:ext uri="{BB962C8B-B14F-4D97-AF65-F5344CB8AC3E}">
        <p14:creationId xmlns:p14="http://schemas.microsoft.com/office/powerpoint/2010/main" val="367798602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23670" y="226484"/>
            <a:ext cx="6806130" cy="677966"/>
          </a:xfrm>
        </p:spPr>
        <p:txBody>
          <a:bodyPr/>
          <a:lstStyle/>
          <a:p>
            <a:r>
              <a:rPr lang="en-US" dirty="0" smtClean="0"/>
              <a:t>Model </a:t>
            </a:r>
            <a:r>
              <a:rPr lang="en-US" dirty="0" smtClean="0"/>
              <a:t>Improvements</a:t>
            </a:r>
            <a:r>
              <a:rPr lang="zh-CN" altLang="en-US" dirty="0" smtClean="0"/>
              <a:t> </a:t>
            </a:r>
            <a:r>
              <a:rPr lang="en-US" altLang="zh-CN" dirty="0" smtClean="0"/>
              <a:t>I</a:t>
            </a:r>
            <a:r>
              <a:rPr lang="en-US" dirty="0" smtClean="0"/>
              <a:t/>
            </a:r>
            <a:br>
              <a:rPr lang="en-US" dirty="0" smtClean="0"/>
            </a:br>
            <a:r>
              <a:rPr lang="en-US" dirty="0" smtClean="0"/>
              <a:t>Change smooth spline to monotonic </a:t>
            </a:r>
            <a:r>
              <a:rPr lang="en-US" dirty="0" err="1" smtClean="0"/>
              <a:t>Hermite</a:t>
            </a:r>
            <a:r>
              <a:rPr lang="en-US" dirty="0" smtClean="0"/>
              <a:t> spline</a:t>
            </a:r>
            <a:endParaRPr lang="en-US" dirty="0"/>
          </a:p>
        </p:txBody>
      </p:sp>
      <p:sp>
        <p:nvSpPr>
          <p:cNvPr id="4" name="TextBox 3"/>
          <p:cNvSpPr txBox="1"/>
          <p:nvPr/>
        </p:nvSpPr>
        <p:spPr>
          <a:xfrm>
            <a:off x="295275" y="1246286"/>
            <a:ext cx="6591300" cy="1815882"/>
          </a:xfrm>
          <a:prstGeom prst="rect">
            <a:avLst/>
          </a:prstGeom>
          <a:noFill/>
        </p:spPr>
        <p:txBody>
          <a:bodyPr wrap="square" rtlCol="0">
            <a:spAutoFit/>
          </a:bodyPr>
          <a:lstStyle/>
          <a:p>
            <a:r>
              <a:rPr lang="en-US" sz="1400" dirty="0" smtClean="0">
                <a:latin typeface="Arial" panose="020B0604020202020204" pitchFamily="34" charset="0"/>
                <a:cs typeface="Arial" panose="020B0604020202020204" pitchFamily="34" charset="0"/>
              </a:rPr>
              <a:t>Cubic Spline</a:t>
            </a:r>
          </a:p>
          <a:p>
            <a:pPr marL="285750" indent="-285750">
              <a:buFont typeface="Arial" panose="020B0604020202020204" pitchFamily="34" charset="0"/>
              <a:buChar char="•"/>
            </a:pPr>
            <a:r>
              <a:rPr lang="it-IT" sz="1400" dirty="0" smtClean="0">
                <a:latin typeface="Arial" panose="020B0604020202020204" pitchFamily="34" charset="0"/>
                <a:cs typeface="Arial" panose="020B0604020202020204" pitchFamily="34" charset="0"/>
              </a:rPr>
              <a:t>smooth.spline</a:t>
            </a:r>
          </a:p>
          <a:p>
            <a:r>
              <a:rPr lang="it-IT" sz="1400" dirty="0">
                <a:latin typeface="Arial" panose="020B0604020202020204" pitchFamily="34" charset="0"/>
                <a:cs typeface="Arial" panose="020B0604020202020204" pitchFamily="34" charset="0"/>
              </a:rPr>
              <a:t>	</a:t>
            </a:r>
            <a:r>
              <a:rPr lang="it-IT" sz="1200" dirty="0">
                <a:latin typeface="Arial" panose="020B0604020202020204" pitchFamily="34" charset="0"/>
                <a:cs typeface="Arial" panose="020B0604020202020204" pitchFamily="34" charset="0"/>
              </a:rPr>
              <a:t>Derivative </a:t>
            </a:r>
            <a:r>
              <a:rPr lang="it-IT" sz="1200" dirty="0" smtClean="0">
                <a:latin typeface="Arial" panose="020B0604020202020204" pitchFamily="34" charset="0"/>
                <a:cs typeface="Arial" panose="020B0604020202020204" pitchFamily="34" charset="0"/>
              </a:rPr>
              <a:t>discontinuous when use few knots</a:t>
            </a:r>
            <a:endParaRPr lang="it-IT" sz="1400" dirty="0" smtClean="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it-IT" sz="1400" dirty="0" smtClean="0">
                <a:latin typeface="Arial" panose="020B0604020202020204" pitchFamily="34" charset="0"/>
                <a:cs typeface="Arial" panose="020B0604020202020204" pitchFamily="34" charset="0"/>
              </a:rPr>
              <a:t>natural spline</a:t>
            </a:r>
          </a:p>
          <a:p>
            <a:pPr lvl="1" indent="0"/>
            <a:r>
              <a:rPr lang="it-IT" sz="1400" dirty="0">
                <a:latin typeface="Arial" panose="020B0604020202020204" pitchFamily="34" charset="0"/>
                <a:cs typeface="Arial" panose="020B0604020202020204" pitchFamily="34" charset="0"/>
              </a:rPr>
              <a:t>	</a:t>
            </a:r>
            <a:r>
              <a:rPr lang="it-IT" sz="1200" dirty="0" smtClean="0">
                <a:latin typeface="Arial" panose="020B0604020202020204" pitchFamily="34" charset="0"/>
                <a:cs typeface="Arial" panose="020B0604020202020204" pitchFamily="34" charset="0"/>
              </a:rPr>
              <a:t>First derivative continuous, poor local control, no monotonic feature </a:t>
            </a:r>
            <a:endParaRPr lang="it-IT" sz="1400" dirty="0" smtClean="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it-IT" sz="1400" dirty="0">
                <a:latin typeface="Arial" panose="020B0604020202020204" pitchFamily="34" charset="0"/>
                <a:cs typeface="Arial" panose="020B0604020202020204" pitchFamily="34" charset="0"/>
              </a:rPr>
              <a:t>Hermite </a:t>
            </a:r>
            <a:r>
              <a:rPr lang="it-IT" sz="1400" dirty="0" smtClean="0">
                <a:latin typeface="Arial" panose="020B0604020202020204" pitchFamily="34" charset="0"/>
                <a:cs typeface="Arial" panose="020B0604020202020204" pitchFamily="34" charset="0"/>
              </a:rPr>
              <a:t>spline</a:t>
            </a:r>
          </a:p>
          <a:p>
            <a:r>
              <a:rPr lang="it-IT" sz="1400" dirty="0">
                <a:latin typeface="Arial" panose="020B0604020202020204" pitchFamily="34" charset="0"/>
                <a:cs typeface="Arial" panose="020B0604020202020204" pitchFamily="34" charset="0"/>
              </a:rPr>
              <a:t>	</a:t>
            </a:r>
            <a:r>
              <a:rPr lang="it-IT" sz="1200" dirty="0" smtClean="0">
                <a:latin typeface="Arial" panose="020B0604020202020204" pitchFamily="34" charset="0"/>
                <a:cs typeface="Arial" panose="020B0604020202020204" pitchFamily="34" charset="0"/>
              </a:rPr>
              <a:t>First </a:t>
            </a:r>
            <a:r>
              <a:rPr lang="it-IT" sz="1200" dirty="0">
                <a:latin typeface="Arial" panose="020B0604020202020204" pitchFamily="34" charset="0"/>
                <a:cs typeface="Arial" panose="020B0604020202020204" pitchFamily="34" charset="0"/>
              </a:rPr>
              <a:t>derivative </a:t>
            </a:r>
            <a:r>
              <a:rPr lang="it-IT" sz="1200" dirty="0" smtClean="0">
                <a:latin typeface="Arial" panose="020B0604020202020204" pitchFamily="34" charset="0"/>
                <a:cs typeface="Arial" panose="020B0604020202020204" pitchFamily="34" charset="0"/>
              </a:rPr>
              <a:t>continuous, piecewise cubic strong local control,</a:t>
            </a:r>
          </a:p>
          <a:p>
            <a:r>
              <a:rPr lang="it-IT" sz="1200" dirty="0">
                <a:latin typeface="Arial" panose="020B0604020202020204" pitchFamily="34" charset="0"/>
                <a:cs typeface="Arial" panose="020B0604020202020204" pitchFamily="34" charset="0"/>
              </a:rPr>
              <a:t>	</a:t>
            </a:r>
            <a:r>
              <a:rPr lang="it-IT" sz="1200" dirty="0" smtClean="0">
                <a:latin typeface="Arial" panose="020B0604020202020204" pitchFamily="34" charset="0"/>
                <a:cs typeface="Arial" panose="020B0604020202020204" pitchFamily="34" charset="0"/>
              </a:rPr>
              <a:t>monotonic feature</a:t>
            </a:r>
            <a:endParaRPr lang="it-IT" sz="1200" dirty="0">
              <a:latin typeface="Arial" panose="020B0604020202020204" pitchFamily="34" charset="0"/>
              <a:cs typeface="Arial" panose="020B0604020202020204" pitchFamily="34" charset="0"/>
            </a:endParaRPr>
          </a:p>
        </p:txBody>
      </p:sp>
      <p:pic>
        <p:nvPicPr>
          <p:cNvPr id="1331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62675" y="647701"/>
            <a:ext cx="3667125" cy="304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15" name="Picture 3" descr="C:\Rwd\ppmRCode_1.5\Result\tracking\Default_cltv.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715125" y="3857623"/>
            <a:ext cx="3017520" cy="3017520"/>
          </a:xfrm>
          <a:prstGeom prst="rect">
            <a:avLst/>
          </a:prstGeom>
          <a:noFill/>
          <a:extLst>
            <a:ext uri="{909E8E84-426E-40DD-AFC4-6F175D3DCCD1}">
              <a14:hiddenFill xmlns:a14="http://schemas.microsoft.com/office/drawing/2010/main">
                <a:solidFill>
                  <a:srgbClr val="FFFFFF"/>
                </a:solidFill>
              </a14:hiddenFill>
            </a:ext>
          </a:extLst>
        </p:spPr>
      </p:pic>
      <p:pic>
        <p:nvPicPr>
          <p:cNvPr id="13316" name="Picture 4" descr="C:\Rwd\ppmRCode_1.4\Result\fitting\Defualt_cltv.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532593" y="3857623"/>
            <a:ext cx="3017520" cy="3017520"/>
          </a:xfrm>
          <a:prstGeom prst="rect">
            <a:avLst/>
          </a:prstGeom>
          <a:noFill/>
          <a:extLst>
            <a:ext uri="{909E8E84-426E-40DD-AFC4-6F175D3DCCD1}">
              <a14:hiddenFill xmlns:a14="http://schemas.microsoft.com/office/drawing/2010/main">
                <a:solidFill>
                  <a:srgbClr val="FFFFFF"/>
                </a:solidFill>
              </a14:hiddenFill>
            </a:ext>
          </a:extLst>
        </p:spPr>
      </p:pic>
      <p:pic>
        <p:nvPicPr>
          <p:cNvPr id="13317"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0921" y="3638550"/>
            <a:ext cx="3166660" cy="3474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590550" y="3695701"/>
            <a:ext cx="2562225" cy="3428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t>Previous</a:t>
            </a:r>
            <a:endParaRPr lang="en-US" sz="1200" dirty="0"/>
          </a:p>
        </p:txBody>
      </p:sp>
      <p:sp>
        <p:nvSpPr>
          <p:cNvPr id="14" name="Rectangle 13"/>
          <p:cNvSpPr/>
          <p:nvPr/>
        </p:nvSpPr>
        <p:spPr>
          <a:xfrm>
            <a:off x="3829050" y="3695701"/>
            <a:ext cx="2562225" cy="3428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200" dirty="0">
                <a:latin typeface="Arial" panose="020B0604020202020204" pitchFamily="34" charset="0"/>
                <a:cs typeface="Arial" panose="020B0604020202020204" pitchFamily="34" charset="0"/>
              </a:rPr>
              <a:t>First derivative continuous</a:t>
            </a:r>
            <a:endParaRPr lang="en-US" sz="1200" dirty="0"/>
          </a:p>
        </p:txBody>
      </p:sp>
      <p:sp>
        <p:nvSpPr>
          <p:cNvPr id="15" name="Rectangle 14"/>
          <p:cNvSpPr/>
          <p:nvPr/>
        </p:nvSpPr>
        <p:spPr>
          <a:xfrm>
            <a:off x="7018972" y="3705226"/>
            <a:ext cx="2562225" cy="3428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Monotonic</a:t>
            </a:r>
            <a:endParaRPr lang="en-US" sz="1400" dirty="0"/>
          </a:p>
        </p:txBody>
      </p:sp>
      <p:sp>
        <p:nvSpPr>
          <p:cNvPr id="16" name="AutoShape 12"/>
          <p:cNvSpPr>
            <a:spLocks noChangeArrowheads="1"/>
          </p:cNvSpPr>
          <p:nvPr>
            <p:custDataLst>
              <p:tags r:id="rId1"/>
            </p:custDataLst>
          </p:nvPr>
        </p:nvSpPr>
        <p:spPr bwMode="auto">
          <a:xfrm>
            <a:off x="3403211" y="3450431"/>
            <a:ext cx="258763" cy="852487"/>
          </a:xfrm>
          <a:prstGeom prst="rightArrow">
            <a:avLst>
              <a:gd name="adj1" fmla="val 50000"/>
              <a:gd name="adj2" fmla="val 52278"/>
            </a:avLst>
          </a:prstGeom>
          <a:solidFill>
            <a:schemeClr val="accent1"/>
          </a:solidFill>
          <a:ln w="12700" algn="ctr">
            <a:solidFill>
              <a:schemeClr val="bg1"/>
            </a:solidFill>
            <a:miter lim="800000"/>
            <a:headEnd/>
            <a:tailEnd/>
          </a:ln>
        </p:spPr>
        <p:txBody>
          <a:bodyPr rot="10800000" vert="eaVert" tIns="91440" bIns="91440" anchor="ctr"/>
          <a:lstStyle/>
          <a:p>
            <a:pPr algn="ctr">
              <a:defRPr/>
            </a:pPr>
            <a:endParaRPr lang="en-US" dirty="0">
              <a:latin typeface="Arial Unicode MS" pitchFamily="34" charset="-122"/>
              <a:ea typeface="Arial Unicode MS" pitchFamily="34" charset="-122"/>
              <a:cs typeface="Arial Unicode MS" pitchFamily="34" charset="-122"/>
            </a:endParaRPr>
          </a:p>
        </p:txBody>
      </p:sp>
      <p:sp>
        <p:nvSpPr>
          <p:cNvPr id="17" name="AutoShape 12"/>
          <p:cNvSpPr>
            <a:spLocks noChangeArrowheads="1"/>
          </p:cNvSpPr>
          <p:nvPr>
            <p:custDataLst>
              <p:tags r:id="rId2"/>
            </p:custDataLst>
          </p:nvPr>
        </p:nvSpPr>
        <p:spPr bwMode="auto">
          <a:xfrm>
            <a:off x="6585743" y="3450431"/>
            <a:ext cx="258763" cy="852487"/>
          </a:xfrm>
          <a:prstGeom prst="rightArrow">
            <a:avLst>
              <a:gd name="adj1" fmla="val 50000"/>
              <a:gd name="adj2" fmla="val 52278"/>
            </a:avLst>
          </a:prstGeom>
          <a:solidFill>
            <a:schemeClr val="accent1"/>
          </a:solidFill>
          <a:ln w="12700" algn="ctr">
            <a:solidFill>
              <a:schemeClr val="bg1"/>
            </a:solidFill>
            <a:miter lim="800000"/>
            <a:headEnd/>
            <a:tailEnd/>
          </a:ln>
        </p:spPr>
        <p:txBody>
          <a:bodyPr rot="10800000" vert="eaVert" tIns="91440" bIns="91440" anchor="ctr"/>
          <a:lstStyle/>
          <a:p>
            <a:pPr algn="ctr">
              <a:defRPr/>
            </a:pPr>
            <a:endParaRPr lang="en-US" dirty="0">
              <a:latin typeface="Arial Unicode MS" pitchFamily="34" charset="-122"/>
              <a:ea typeface="Arial Unicode MS" pitchFamily="34" charset="-122"/>
              <a:cs typeface="Arial Unicode MS" pitchFamily="34" charset="-122"/>
            </a:endParaRPr>
          </a:p>
        </p:txBody>
      </p:sp>
      <p:sp>
        <p:nvSpPr>
          <p:cNvPr id="7" name="TextBox 6"/>
          <p:cNvSpPr txBox="1"/>
          <p:nvPr/>
        </p:nvSpPr>
        <p:spPr>
          <a:xfrm>
            <a:off x="590550" y="6875143"/>
            <a:ext cx="8877300" cy="276999"/>
          </a:xfrm>
          <a:prstGeom prst="rect">
            <a:avLst/>
          </a:prstGeom>
          <a:noFill/>
        </p:spPr>
        <p:txBody>
          <a:bodyPr wrap="square" rtlCol="0">
            <a:spAutoFit/>
          </a:bodyPr>
          <a:lstStyle/>
          <a:p>
            <a:pPr algn="ctr"/>
            <a:r>
              <a:rPr lang="en-US" sz="1200" dirty="0" smtClean="0">
                <a:latin typeface="Arial" panose="020B0604020202020204" pitchFamily="34" charset="0"/>
                <a:cs typeface="Arial" panose="020B0604020202020204" pitchFamily="34" charset="0"/>
              </a:rPr>
              <a:t>Change </a:t>
            </a:r>
            <a:r>
              <a:rPr lang="en-US" sz="1200" dirty="0" err="1" smtClean="0">
                <a:latin typeface="Arial" panose="020B0604020202020204" pitchFamily="34" charset="0"/>
                <a:cs typeface="Arial" panose="020B0604020202020204" pitchFamily="34" charset="0"/>
              </a:rPr>
              <a:t>Hermite</a:t>
            </a:r>
            <a:r>
              <a:rPr lang="en-US" sz="1200" dirty="0" smtClean="0">
                <a:latin typeface="Arial" panose="020B0604020202020204" pitchFamily="34" charset="0"/>
                <a:cs typeface="Arial" panose="020B0604020202020204" pitchFamily="34" charset="0"/>
              </a:rPr>
              <a:t> spline, re-check the raw data, fulfill monotonic condition.</a:t>
            </a:r>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8212319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23670" y="226484"/>
            <a:ext cx="6806130" cy="677966"/>
          </a:xfrm>
        </p:spPr>
        <p:txBody>
          <a:bodyPr/>
          <a:lstStyle/>
          <a:p>
            <a:r>
              <a:rPr lang="en-US" dirty="0" smtClean="0"/>
              <a:t>Model </a:t>
            </a:r>
            <a:r>
              <a:rPr lang="en-US" dirty="0" smtClean="0"/>
              <a:t>Improvements</a:t>
            </a:r>
            <a:r>
              <a:rPr lang="zh-CN" altLang="en-US" dirty="0" smtClean="0"/>
              <a:t> </a:t>
            </a:r>
            <a:r>
              <a:rPr lang="en-US" altLang="zh-CN" dirty="0" smtClean="0"/>
              <a:t>I</a:t>
            </a:r>
            <a:r>
              <a:rPr lang="en-US" dirty="0" smtClean="0"/>
              <a:t/>
            </a:r>
            <a:br>
              <a:rPr lang="en-US" dirty="0" smtClean="0"/>
            </a:br>
            <a:r>
              <a:rPr lang="en-US" dirty="0"/>
              <a:t>Change smooth spline to monotonic </a:t>
            </a:r>
            <a:r>
              <a:rPr lang="en-US" dirty="0" err="1"/>
              <a:t>Hermite</a:t>
            </a:r>
            <a:r>
              <a:rPr lang="en-US" dirty="0"/>
              <a:t> spline</a:t>
            </a:r>
          </a:p>
        </p:txBody>
      </p:sp>
      <p:pic>
        <p:nvPicPr>
          <p:cNvPr id="21" name="Picture 2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95350" y="1107150"/>
            <a:ext cx="1371600" cy="1371600"/>
          </a:xfrm>
          <a:prstGeom prst="rect">
            <a:avLst/>
          </a:prstGeom>
        </p:spPr>
      </p:pic>
      <p:pic>
        <p:nvPicPr>
          <p:cNvPr id="22" name="Picture 2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66455" y="1107150"/>
            <a:ext cx="1371600" cy="1371600"/>
          </a:xfrm>
          <a:prstGeom prst="rect">
            <a:avLst/>
          </a:prstGeom>
        </p:spPr>
      </p:pic>
      <p:pic>
        <p:nvPicPr>
          <p:cNvPr id="23" name="Picture 2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37560" y="1107150"/>
            <a:ext cx="1371600" cy="1371600"/>
          </a:xfrm>
          <a:prstGeom prst="rect">
            <a:avLst/>
          </a:prstGeom>
        </p:spPr>
      </p:pic>
      <p:pic>
        <p:nvPicPr>
          <p:cNvPr id="24" name="Picture 2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308665" y="1107150"/>
            <a:ext cx="1371600" cy="1371600"/>
          </a:xfrm>
          <a:prstGeom prst="rect">
            <a:avLst/>
          </a:prstGeom>
        </p:spPr>
      </p:pic>
      <p:pic>
        <p:nvPicPr>
          <p:cNvPr id="25" name="Picture 24"/>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679770" y="1107150"/>
            <a:ext cx="1371600" cy="1371600"/>
          </a:xfrm>
          <a:prstGeom prst="rect">
            <a:avLst/>
          </a:prstGeom>
        </p:spPr>
      </p:pic>
      <p:pic>
        <p:nvPicPr>
          <p:cNvPr id="26" name="Picture 25"/>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050875" y="1107150"/>
            <a:ext cx="1371600" cy="1371600"/>
          </a:xfrm>
          <a:prstGeom prst="rect">
            <a:avLst/>
          </a:prstGeom>
        </p:spPr>
      </p:pic>
      <p:pic>
        <p:nvPicPr>
          <p:cNvPr id="27" name="Picture 26"/>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94855" y="2669248"/>
            <a:ext cx="1371600" cy="1371600"/>
          </a:xfrm>
          <a:prstGeom prst="rect">
            <a:avLst/>
          </a:prstGeom>
        </p:spPr>
      </p:pic>
      <p:pic>
        <p:nvPicPr>
          <p:cNvPr id="28" name="Picture 27"/>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2565960" y="2669250"/>
            <a:ext cx="1371600" cy="1371600"/>
          </a:xfrm>
          <a:prstGeom prst="rect">
            <a:avLst/>
          </a:prstGeom>
        </p:spPr>
      </p:pic>
      <p:pic>
        <p:nvPicPr>
          <p:cNvPr id="29" name="Picture 28"/>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3937065" y="2669250"/>
            <a:ext cx="1371600" cy="1371600"/>
          </a:xfrm>
          <a:prstGeom prst="rect">
            <a:avLst/>
          </a:prstGeom>
        </p:spPr>
      </p:pic>
      <p:pic>
        <p:nvPicPr>
          <p:cNvPr id="30" name="Picture 29"/>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5308170" y="2669250"/>
            <a:ext cx="1371600" cy="1371600"/>
          </a:xfrm>
          <a:prstGeom prst="rect">
            <a:avLst/>
          </a:prstGeom>
        </p:spPr>
      </p:pic>
      <p:pic>
        <p:nvPicPr>
          <p:cNvPr id="31" name="Picture 30"/>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6679275" y="2669247"/>
            <a:ext cx="1371600" cy="1371600"/>
          </a:xfrm>
          <a:prstGeom prst="rect">
            <a:avLst/>
          </a:prstGeom>
        </p:spPr>
      </p:pic>
      <p:sp>
        <p:nvSpPr>
          <p:cNvPr id="13312" name="TextBox 13311"/>
          <p:cNvSpPr txBox="1"/>
          <p:nvPr/>
        </p:nvSpPr>
        <p:spPr>
          <a:xfrm>
            <a:off x="1304925" y="986575"/>
            <a:ext cx="1200150"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Curtail_wala</a:t>
            </a:r>
            <a:endParaRPr lang="en-US" sz="1200" dirty="0">
              <a:latin typeface="Arial" panose="020B0604020202020204" pitchFamily="34" charset="0"/>
              <a:cs typeface="Arial" panose="020B0604020202020204" pitchFamily="34" charset="0"/>
            </a:endParaRPr>
          </a:p>
        </p:txBody>
      </p:sp>
      <p:sp>
        <p:nvSpPr>
          <p:cNvPr id="37" name="TextBox 36"/>
          <p:cNvSpPr txBox="1"/>
          <p:nvPr/>
        </p:nvSpPr>
        <p:spPr>
          <a:xfrm>
            <a:off x="2677425" y="986575"/>
            <a:ext cx="1200150"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Default_cltv</a:t>
            </a:r>
            <a:endParaRPr lang="en-US" sz="1200" dirty="0">
              <a:latin typeface="Arial" panose="020B0604020202020204" pitchFamily="34" charset="0"/>
              <a:cs typeface="Arial" panose="020B0604020202020204" pitchFamily="34" charset="0"/>
            </a:endParaRPr>
          </a:p>
        </p:txBody>
      </p:sp>
      <p:sp>
        <p:nvSpPr>
          <p:cNvPr id="38" name="TextBox 37"/>
          <p:cNvSpPr txBox="1"/>
          <p:nvPr/>
        </p:nvSpPr>
        <p:spPr>
          <a:xfrm>
            <a:off x="8167425" y="977050"/>
            <a:ext cx="1200150"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Refi_burnout</a:t>
            </a:r>
            <a:endParaRPr lang="en-US" sz="1200" dirty="0">
              <a:latin typeface="Arial" panose="020B0604020202020204" pitchFamily="34" charset="0"/>
              <a:cs typeface="Arial" panose="020B0604020202020204" pitchFamily="34" charset="0"/>
            </a:endParaRPr>
          </a:p>
        </p:txBody>
      </p:sp>
      <p:sp>
        <p:nvSpPr>
          <p:cNvPr id="39" name="TextBox 38"/>
          <p:cNvSpPr txBox="1"/>
          <p:nvPr/>
        </p:nvSpPr>
        <p:spPr>
          <a:xfrm>
            <a:off x="6794925" y="986575"/>
            <a:ext cx="1200150"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Refi_acls</a:t>
            </a:r>
            <a:endParaRPr lang="en-US" sz="1200" dirty="0">
              <a:latin typeface="Arial" panose="020B0604020202020204" pitchFamily="34" charset="0"/>
              <a:cs typeface="Arial" panose="020B0604020202020204" pitchFamily="34" charset="0"/>
            </a:endParaRPr>
          </a:p>
        </p:txBody>
      </p:sp>
      <p:sp>
        <p:nvSpPr>
          <p:cNvPr id="40" name="TextBox 39"/>
          <p:cNvSpPr txBox="1"/>
          <p:nvPr/>
        </p:nvSpPr>
        <p:spPr>
          <a:xfrm>
            <a:off x="4049925" y="986575"/>
            <a:ext cx="1200150"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Default_fico</a:t>
            </a:r>
            <a:endParaRPr lang="en-US" sz="1200" dirty="0">
              <a:latin typeface="Arial" panose="020B0604020202020204" pitchFamily="34" charset="0"/>
              <a:cs typeface="Arial" panose="020B0604020202020204" pitchFamily="34" charset="0"/>
            </a:endParaRPr>
          </a:p>
        </p:txBody>
      </p:sp>
      <p:sp>
        <p:nvSpPr>
          <p:cNvPr id="41" name="TextBox 40"/>
          <p:cNvSpPr txBox="1"/>
          <p:nvPr/>
        </p:nvSpPr>
        <p:spPr>
          <a:xfrm>
            <a:off x="5422425" y="986575"/>
            <a:ext cx="1200150"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Default_wala</a:t>
            </a:r>
            <a:endParaRPr lang="en-US" sz="1200" dirty="0">
              <a:latin typeface="Arial" panose="020B0604020202020204" pitchFamily="34" charset="0"/>
              <a:cs typeface="Arial" panose="020B0604020202020204" pitchFamily="34" charset="0"/>
            </a:endParaRPr>
          </a:p>
        </p:txBody>
      </p:sp>
      <p:sp>
        <p:nvSpPr>
          <p:cNvPr id="42" name="TextBox 41"/>
          <p:cNvSpPr txBox="1"/>
          <p:nvPr/>
        </p:nvSpPr>
        <p:spPr>
          <a:xfrm>
            <a:off x="1271055" y="2530748"/>
            <a:ext cx="1200150"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Refi_incentive</a:t>
            </a:r>
            <a:endParaRPr lang="en-US" sz="1200" dirty="0">
              <a:latin typeface="Arial" panose="020B0604020202020204" pitchFamily="34" charset="0"/>
              <a:cs typeface="Arial" panose="020B0604020202020204" pitchFamily="34" charset="0"/>
            </a:endParaRPr>
          </a:p>
        </p:txBody>
      </p:sp>
      <p:sp>
        <p:nvSpPr>
          <p:cNvPr id="43" name="TextBox 42"/>
          <p:cNvSpPr txBox="1"/>
          <p:nvPr/>
        </p:nvSpPr>
        <p:spPr>
          <a:xfrm>
            <a:off x="2699648" y="2532999"/>
            <a:ext cx="1200150"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Refi_wala</a:t>
            </a:r>
            <a:endParaRPr lang="en-US" sz="1200" dirty="0">
              <a:latin typeface="Arial" panose="020B0604020202020204" pitchFamily="34" charset="0"/>
              <a:cs typeface="Arial" panose="020B0604020202020204" pitchFamily="34" charset="0"/>
            </a:endParaRPr>
          </a:p>
        </p:txBody>
      </p:sp>
      <p:sp>
        <p:nvSpPr>
          <p:cNvPr id="44" name="TextBox 43"/>
          <p:cNvSpPr txBox="1"/>
          <p:nvPr/>
        </p:nvSpPr>
        <p:spPr>
          <a:xfrm>
            <a:off x="4061565" y="2530749"/>
            <a:ext cx="1200150"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Turnover_cltv</a:t>
            </a:r>
            <a:endParaRPr lang="en-US" sz="1200" dirty="0">
              <a:latin typeface="Arial" panose="020B0604020202020204" pitchFamily="34" charset="0"/>
              <a:cs typeface="Arial" panose="020B0604020202020204" pitchFamily="34" charset="0"/>
            </a:endParaRPr>
          </a:p>
        </p:txBody>
      </p:sp>
      <p:sp>
        <p:nvSpPr>
          <p:cNvPr id="45" name="TextBox 44"/>
          <p:cNvSpPr txBox="1"/>
          <p:nvPr/>
        </p:nvSpPr>
        <p:spPr>
          <a:xfrm>
            <a:off x="5223457" y="2532999"/>
            <a:ext cx="1581150"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Turnover_incentive</a:t>
            </a:r>
            <a:endParaRPr lang="en-US" sz="1200" dirty="0">
              <a:latin typeface="Arial" panose="020B0604020202020204" pitchFamily="34" charset="0"/>
              <a:cs typeface="Arial" panose="020B0604020202020204" pitchFamily="34" charset="0"/>
            </a:endParaRPr>
          </a:p>
        </p:txBody>
      </p:sp>
      <p:sp>
        <p:nvSpPr>
          <p:cNvPr id="46" name="TextBox 45"/>
          <p:cNvSpPr txBox="1"/>
          <p:nvPr/>
        </p:nvSpPr>
        <p:spPr>
          <a:xfrm>
            <a:off x="6794925" y="2532999"/>
            <a:ext cx="1200150"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Turnover_wala</a:t>
            </a:r>
            <a:endParaRPr lang="en-US" sz="1200" dirty="0">
              <a:latin typeface="Arial" panose="020B0604020202020204" pitchFamily="34" charset="0"/>
              <a:cs typeface="Arial" panose="020B0604020202020204" pitchFamily="34" charset="0"/>
            </a:endParaRPr>
          </a:p>
        </p:txBody>
      </p:sp>
      <p:sp>
        <p:nvSpPr>
          <p:cNvPr id="13318" name="Rectangle 13317"/>
          <p:cNvSpPr/>
          <p:nvPr/>
        </p:nvSpPr>
        <p:spPr>
          <a:xfrm>
            <a:off x="457200" y="1115549"/>
            <a:ext cx="581025" cy="27992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dirty="0" smtClean="0"/>
              <a:t>Before</a:t>
            </a:r>
            <a:endParaRPr lang="en-US" dirty="0"/>
          </a:p>
        </p:txBody>
      </p:sp>
      <p:sp>
        <p:nvSpPr>
          <p:cNvPr id="49" name="Rectangle 48"/>
          <p:cNvSpPr/>
          <p:nvPr/>
        </p:nvSpPr>
        <p:spPr>
          <a:xfrm>
            <a:off x="457199" y="4345647"/>
            <a:ext cx="581025" cy="27684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dirty="0" smtClean="0"/>
              <a:t>After</a:t>
            </a:r>
            <a:endParaRPr lang="en-US" dirty="0"/>
          </a:p>
        </p:txBody>
      </p:sp>
      <p:pic>
        <p:nvPicPr>
          <p:cNvPr id="13319" name="Picture 13318"/>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195350" y="4350222"/>
            <a:ext cx="1371600" cy="1371600"/>
          </a:xfrm>
          <a:prstGeom prst="rect">
            <a:avLst/>
          </a:prstGeom>
        </p:spPr>
      </p:pic>
      <p:pic>
        <p:nvPicPr>
          <p:cNvPr id="13320" name="Picture 13319"/>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2566455" y="4350222"/>
            <a:ext cx="1371600" cy="1371600"/>
          </a:xfrm>
          <a:prstGeom prst="rect">
            <a:avLst/>
          </a:prstGeom>
        </p:spPr>
      </p:pic>
      <p:pic>
        <p:nvPicPr>
          <p:cNvPr id="13321" name="Picture 13320"/>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3937560" y="4350222"/>
            <a:ext cx="1371600" cy="1371600"/>
          </a:xfrm>
          <a:prstGeom prst="rect">
            <a:avLst/>
          </a:prstGeom>
        </p:spPr>
      </p:pic>
      <p:pic>
        <p:nvPicPr>
          <p:cNvPr id="13322" name="Picture 13321"/>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5308665" y="4350222"/>
            <a:ext cx="1371600" cy="1371600"/>
          </a:xfrm>
          <a:prstGeom prst="rect">
            <a:avLst/>
          </a:prstGeom>
        </p:spPr>
      </p:pic>
      <p:pic>
        <p:nvPicPr>
          <p:cNvPr id="13323" name="Picture 13322"/>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6679770" y="4350222"/>
            <a:ext cx="1371600" cy="1371600"/>
          </a:xfrm>
          <a:prstGeom prst="rect">
            <a:avLst/>
          </a:prstGeom>
        </p:spPr>
      </p:pic>
      <p:pic>
        <p:nvPicPr>
          <p:cNvPr id="13324" name="Picture 13323"/>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8050875" y="4358249"/>
            <a:ext cx="1371600" cy="1371600"/>
          </a:xfrm>
          <a:prstGeom prst="rect">
            <a:avLst/>
          </a:prstGeom>
        </p:spPr>
      </p:pic>
      <p:pic>
        <p:nvPicPr>
          <p:cNvPr id="13325" name="Picture 13324"/>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1219200" y="5856894"/>
            <a:ext cx="1371600" cy="1371600"/>
          </a:xfrm>
          <a:prstGeom prst="rect">
            <a:avLst/>
          </a:prstGeom>
        </p:spPr>
      </p:pic>
      <p:pic>
        <p:nvPicPr>
          <p:cNvPr id="13326" name="Picture 13325"/>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2580056" y="5856894"/>
            <a:ext cx="1371600" cy="1371600"/>
          </a:xfrm>
          <a:prstGeom prst="rect">
            <a:avLst/>
          </a:prstGeom>
        </p:spPr>
      </p:pic>
      <p:pic>
        <p:nvPicPr>
          <p:cNvPr id="13327" name="Picture 13326"/>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3940912" y="5856894"/>
            <a:ext cx="1371600" cy="1371600"/>
          </a:xfrm>
          <a:prstGeom prst="rect">
            <a:avLst/>
          </a:prstGeom>
        </p:spPr>
      </p:pic>
      <p:pic>
        <p:nvPicPr>
          <p:cNvPr id="13328" name="Picture 13327"/>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5301768" y="5856894"/>
            <a:ext cx="1371600" cy="1371600"/>
          </a:xfrm>
          <a:prstGeom prst="rect">
            <a:avLst/>
          </a:prstGeom>
        </p:spPr>
      </p:pic>
      <p:pic>
        <p:nvPicPr>
          <p:cNvPr id="13329" name="Picture 13328"/>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6662625" y="5856894"/>
            <a:ext cx="1371600" cy="1371600"/>
          </a:xfrm>
          <a:prstGeom prst="rect">
            <a:avLst/>
          </a:prstGeom>
        </p:spPr>
      </p:pic>
      <p:sp>
        <p:nvSpPr>
          <p:cNvPr id="61" name="TextBox 60"/>
          <p:cNvSpPr txBox="1"/>
          <p:nvPr/>
        </p:nvSpPr>
        <p:spPr>
          <a:xfrm>
            <a:off x="1309312" y="5727598"/>
            <a:ext cx="1200150"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Refi_incentive</a:t>
            </a:r>
            <a:endParaRPr lang="en-US" sz="1200" dirty="0">
              <a:latin typeface="Arial" panose="020B0604020202020204" pitchFamily="34" charset="0"/>
              <a:cs typeface="Arial" panose="020B0604020202020204" pitchFamily="34" charset="0"/>
            </a:endParaRPr>
          </a:p>
        </p:txBody>
      </p:sp>
      <p:sp>
        <p:nvSpPr>
          <p:cNvPr id="62" name="TextBox 61"/>
          <p:cNvSpPr txBox="1"/>
          <p:nvPr/>
        </p:nvSpPr>
        <p:spPr>
          <a:xfrm>
            <a:off x="2737905" y="5729849"/>
            <a:ext cx="1200150"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Refi_wala</a:t>
            </a:r>
            <a:endParaRPr lang="en-US" sz="1200" dirty="0">
              <a:latin typeface="Arial" panose="020B0604020202020204" pitchFamily="34" charset="0"/>
              <a:cs typeface="Arial" panose="020B0604020202020204" pitchFamily="34" charset="0"/>
            </a:endParaRPr>
          </a:p>
        </p:txBody>
      </p:sp>
      <p:sp>
        <p:nvSpPr>
          <p:cNvPr id="63" name="TextBox 62"/>
          <p:cNvSpPr txBox="1"/>
          <p:nvPr/>
        </p:nvSpPr>
        <p:spPr>
          <a:xfrm>
            <a:off x="4099822" y="5727599"/>
            <a:ext cx="1200150"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Turnover_cltv</a:t>
            </a:r>
            <a:endParaRPr lang="en-US" sz="1200" dirty="0">
              <a:latin typeface="Arial" panose="020B0604020202020204" pitchFamily="34" charset="0"/>
              <a:cs typeface="Arial" panose="020B0604020202020204" pitchFamily="34" charset="0"/>
            </a:endParaRPr>
          </a:p>
        </p:txBody>
      </p:sp>
      <p:sp>
        <p:nvSpPr>
          <p:cNvPr id="64" name="TextBox 63"/>
          <p:cNvSpPr txBox="1"/>
          <p:nvPr/>
        </p:nvSpPr>
        <p:spPr>
          <a:xfrm>
            <a:off x="5261714" y="5729849"/>
            <a:ext cx="1581150"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Turnover_incentive</a:t>
            </a:r>
            <a:endParaRPr lang="en-US" sz="1200" dirty="0">
              <a:latin typeface="Arial" panose="020B0604020202020204" pitchFamily="34" charset="0"/>
              <a:cs typeface="Arial" panose="020B0604020202020204" pitchFamily="34" charset="0"/>
            </a:endParaRPr>
          </a:p>
        </p:txBody>
      </p:sp>
      <p:sp>
        <p:nvSpPr>
          <p:cNvPr id="65" name="TextBox 64"/>
          <p:cNvSpPr txBox="1"/>
          <p:nvPr/>
        </p:nvSpPr>
        <p:spPr>
          <a:xfrm>
            <a:off x="6833182" y="5729849"/>
            <a:ext cx="1200150"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Turnover_wala</a:t>
            </a:r>
            <a:endParaRPr lang="en-US" sz="1200" dirty="0">
              <a:latin typeface="Arial" panose="020B0604020202020204" pitchFamily="34" charset="0"/>
              <a:cs typeface="Arial" panose="020B0604020202020204" pitchFamily="34" charset="0"/>
            </a:endParaRPr>
          </a:p>
        </p:txBody>
      </p:sp>
      <p:sp>
        <p:nvSpPr>
          <p:cNvPr id="66" name="TextBox 65"/>
          <p:cNvSpPr txBox="1"/>
          <p:nvPr/>
        </p:nvSpPr>
        <p:spPr>
          <a:xfrm>
            <a:off x="1304925" y="4207147"/>
            <a:ext cx="1200150"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Curtail_wala</a:t>
            </a:r>
            <a:endParaRPr lang="en-US" sz="1200" dirty="0">
              <a:latin typeface="Arial" panose="020B0604020202020204" pitchFamily="34" charset="0"/>
              <a:cs typeface="Arial" panose="020B0604020202020204" pitchFamily="34" charset="0"/>
            </a:endParaRPr>
          </a:p>
        </p:txBody>
      </p:sp>
      <p:sp>
        <p:nvSpPr>
          <p:cNvPr id="67" name="TextBox 66"/>
          <p:cNvSpPr txBox="1"/>
          <p:nvPr/>
        </p:nvSpPr>
        <p:spPr>
          <a:xfrm>
            <a:off x="2677425" y="4207147"/>
            <a:ext cx="1200150"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Default_cltv</a:t>
            </a:r>
            <a:endParaRPr lang="en-US" sz="1200" dirty="0">
              <a:latin typeface="Arial" panose="020B0604020202020204" pitchFamily="34" charset="0"/>
              <a:cs typeface="Arial" panose="020B0604020202020204" pitchFamily="34" charset="0"/>
            </a:endParaRPr>
          </a:p>
        </p:txBody>
      </p:sp>
      <p:sp>
        <p:nvSpPr>
          <p:cNvPr id="68" name="TextBox 67"/>
          <p:cNvSpPr txBox="1"/>
          <p:nvPr/>
        </p:nvSpPr>
        <p:spPr>
          <a:xfrm>
            <a:off x="8167425" y="4197622"/>
            <a:ext cx="1200150"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Refi_burnout</a:t>
            </a:r>
            <a:endParaRPr lang="en-US" sz="1200" dirty="0">
              <a:latin typeface="Arial" panose="020B0604020202020204" pitchFamily="34" charset="0"/>
              <a:cs typeface="Arial" panose="020B0604020202020204" pitchFamily="34" charset="0"/>
            </a:endParaRPr>
          </a:p>
        </p:txBody>
      </p:sp>
      <p:sp>
        <p:nvSpPr>
          <p:cNvPr id="69" name="TextBox 68"/>
          <p:cNvSpPr txBox="1"/>
          <p:nvPr/>
        </p:nvSpPr>
        <p:spPr>
          <a:xfrm>
            <a:off x="6794925" y="4207147"/>
            <a:ext cx="1200150"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Refi_acls</a:t>
            </a:r>
            <a:endParaRPr lang="en-US" sz="1200" dirty="0">
              <a:latin typeface="Arial" panose="020B0604020202020204" pitchFamily="34" charset="0"/>
              <a:cs typeface="Arial" panose="020B0604020202020204" pitchFamily="34" charset="0"/>
            </a:endParaRPr>
          </a:p>
        </p:txBody>
      </p:sp>
      <p:sp>
        <p:nvSpPr>
          <p:cNvPr id="70" name="TextBox 69"/>
          <p:cNvSpPr txBox="1"/>
          <p:nvPr/>
        </p:nvSpPr>
        <p:spPr>
          <a:xfrm>
            <a:off x="4049925" y="4207147"/>
            <a:ext cx="1200150"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Default_fico</a:t>
            </a:r>
            <a:endParaRPr lang="en-US" sz="1200" dirty="0">
              <a:latin typeface="Arial" panose="020B0604020202020204" pitchFamily="34" charset="0"/>
              <a:cs typeface="Arial" panose="020B0604020202020204" pitchFamily="34" charset="0"/>
            </a:endParaRPr>
          </a:p>
        </p:txBody>
      </p:sp>
      <p:sp>
        <p:nvSpPr>
          <p:cNvPr id="71" name="TextBox 70"/>
          <p:cNvSpPr txBox="1"/>
          <p:nvPr/>
        </p:nvSpPr>
        <p:spPr>
          <a:xfrm>
            <a:off x="5422425" y="4207147"/>
            <a:ext cx="1200150"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Default_wala</a:t>
            </a:r>
            <a:endParaRPr lang="en-US" sz="1200" dirty="0">
              <a:latin typeface="Arial" panose="020B0604020202020204" pitchFamily="34" charset="0"/>
              <a:cs typeface="Arial" panose="020B0604020202020204" pitchFamily="34" charset="0"/>
            </a:endParaRPr>
          </a:p>
        </p:txBody>
      </p:sp>
      <p:cxnSp>
        <p:nvCxnSpPr>
          <p:cNvPr id="13331" name="Straight Connector 13330"/>
          <p:cNvCxnSpPr/>
          <p:nvPr/>
        </p:nvCxnSpPr>
        <p:spPr>
          <a:xfrm>
            <a:off x="447674" y="4149997"/>
            <a:ext cx="9067801" cy="0"/>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939779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23670" y="226484"/>
            <a:ext cx="6806130" cy="677966"/>
          </a:xfrm>
        </p:spPr>
        <p:txBody>
          <a:bodyPr/>
          <a:lstStyle/>
          <a:p>
            <a:r>
              <a:rPr lang="en-US" dirty="0" smtClean="0"/>
              <a:t>Model </a:t>
            </a:r>
            <a:r>
              <a:rPr lang="en-US" dirty="0" smtClean="0"/>
              <a:t>Improvements</a:t>
            </a:r>
            <a:r>
              <a:rPr lang="zh-CN" altLang="en-US" dirty="0" smtClean="0"/>
              <a:t> </a:t>
            </a:r>
            <a:r>
              <a:rPr lang="en-US" altLang="zh-CN" dirty="0" smtClean="0"/>
              <a:t>II</a:t>
            </a:r>
            <a:r>
              <a:rPr lang="en-US" dirty="0" smtClean="0"/>
              <a:t/>
            </a:r>
            <a:br>
              <a:rPr lang="en-US" dirty="0" smtClean="0"/>
            </a:br>
            <a:r>
              <a:rPr lang="en-US" dirty="0" smtClean="0"/>
              <a:t>Remove “jump up” problem in media effect</a:t>
            </a:r>
            <a:endParaRPr lang="en-US" dirty="0"/>
          </a:p>
        </p:txBody>
      </p:sp>
      <p:graphicFrame>
        <p:nvGraphicFramePr>
          <p:cNvPr id="50" name="Chart 49"/>
          <p:cNvGraphicFramePr/>
          <p:nvPr>
            <p:extLst>
              <p:ext uri="{D42A27DB-BD31-4B8C-83A1-F6EECF244321}">
                <p14:modId xmlns:p14="http://schemas.microsoft.com/office/powerpoint/2010/main" val="1486019336"/>
              </p:ext>
            </p:extLst>
          </p:nvPr>
        </p:nvGraphicFramePr>
        <p:xfrm>
          <a:off x="399080" y="2466381"/>
          <a:ext cx="8763970" cy="2419349"/>
        </p:xfrm>
        <a:graphic>
          <a:graphicData uri="http://schemas.openxmlformats.org/drawingml/2006/chart">
            <c:chart xmlns:c="http://schemas.openxmlformats.org/drawingml/2006/chart" xmlns:r="http://schemas.openxmlformats.org/officeDocument/2006/relationships" r:id="rId2"/>
          </a:graphicData>
        </a:graphic>
      </p:graphicFrame>
      <p:sp>
        <p:nvSpPr>
          <p:cNvPr id="51" name="TextBox 50"/>
          <p:cNvSpPr txBox="1"/>
          <p:nvPr/>
        </p:nvSpPr>
        <p:spPr>
          <a:xfrm>
            <a:off x="990600" y="1524000"/>
            <a:ext cx="7915275" cy="923330"/>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1200" dirty="0" smtClean="0">
                <a:latin typeface="Arial" panose="020B0604020202020204" pitchFamily="34" charset="0"/>
                <a:cs typeface="Arial" panose="020B0604020202020204" pitchFamily="34" charset="0"/>
              </a:rPr>
              <a:t>DeltaPMMS30 </a:t>
            </a:r>
            <a:r>
              <a:rPr lang="en-US" sz="1200" dirty="0">
                <a:latin typeface="Arial" panose="020B0604020202020204" pitchFamily="34" charset="0"/>
                <a:cs typeface="Arial" panose="020B0604020202020204" pitchFamily="34" charset="0"/>
              </a:rPr>
              <a:t>= max(lowest PMMS in past 3 years not including this month - PMMS this month + </a:t>
            </a:r>
            <a:r>
              <a:rPr lang="en-US" sz="1200" dirty="0" smtClean="0">
                <a:latin typeface="Arial" panose="020B0604020202020204" pitchFamily="34" charset="0"/>
                <a:cs typeface="Arial" panose="020B0604020202020204" pitchFamily="34" charset="0"/>
              </a:rPr>
              <a:t>rate adjust, </a:t>
            </a:r>
            <a:r>
              <a:rPr lang="en-US" sz="1200" dirty="0">
                <a:latin typeface="Arial" panose="020B0604020202020204" pitchFamily="34" charset="0"/>
                <a:cs typeface="Arial" panose="020B0604020202020204" pitchFamily="34" charset="0"/>
              </a:rPr>
              <a:t>0</a:t>
            </a:r>
            <a:r>
              <a:rPr lang="en-US" sz="1200" dirty="0" smtClean="0">
                <a:latin typeface="Arial" panose="020B0604020202020204" pitchFamily="34" charset="0"/>
                <a:cs typeface="Arial" panose="020B0604020202020204" pitchFamily="34" charset="0"/>
              </a:rPr>
              <a:t>)</a:t>
            </a:r>
            <a:endParaRPr lang="en-US" sz="1200" dirty="0">
              <a:latin typeface="Arial" panose="020B0604020202020204" pitchFamily="34" charset="0"/>
              <a:cs typeface="Arial" panose="020B0604020202020204" pitchFamily="34" charset="0"/>
            </a:endParaRPr>
          </a:p>
          <a:p>
            <a:pPr marL="171450" indent="-171450">
              <a:lnSpc>
                <a:spcPct val="150000"/>
              </a:lnSpc>
              <a:buFont typeface="Arial" panose="020B0604020202020204" pitchFamily="34" charset="0"/>
              <a:buChar char="•"/>
            </a:pPr>
            <a:r>
              <a:rPr lang="en-US" sz="1200" dirty="0">
                <a:latin typeface="Arial" panose="020B0604020202020204" pitchFamily="34" charset="0"/>
                <a:cs typeface="Arial" panose="020B0604020202020204" pitchFamily="34" charset="0"/>
              </a:rPr>
              <a:t>DeltaPMMS30_MA = 3-month moving average of DeltaPMMS30.  </a:t>
            </a:r>
          </a:p>
          <a:p>
            <a:pPr marL="171450" indent="-171450">
              <a:lnSpc>
                <a:spcPct val="150000"/>
              </a:lnSpc>
              <a:buFont typeface="Arial" panose="020B0604020202020204" pitchFamily="34" charset="0"/>
              <a:buChar char="•"/>
            </a:pPr>
            <a:r>
              <a:rPr lang="en-US" sz="1200" dirty="0" smtClean="0">
                <a:latin typeface="Arial" panose="020B0604020202020204" pitchFamily="34" charset="0"/>
                <a:cs typeface="Arial" panose="020B0604020202020204" pitchFamily="34" charset="0"/>
              </a:rPr>
              <a:t>Media </a:t>
            </a:r>
            <a:r>
              <a:rPr lang="en-US" sz="1200" dirty="0">
                <a:latin typeface="Arial" panose="020B0604020202020204" pitchFamily="34" charset="0"/>
                <a:cs typeface="Arial" panose="020B0604020202020204" pitchFamily="34" charset="0"/>
              </a:rPr>
              <a:t>effect multiplier = max(5 * DeltaPMMS30_MA at three month earlier, 1.0</a:t>
            </a:r>
            <a:r>
              <a:rPr lang="en-US" sz="1200" dirty="0" smtClean="0">
                <a:latin typeface="Arial" panose="020B0604020202020204" pitchFamily="34" charset="0"/>
                <a:cs typeface="Arial" panose="020B0604020202020204" pitchFamily="34" charset="0"/>
              </a:rPr>
              <a:t>)</a:t>
            </a:r>
            <a:endParaRPr lang="en-US" sz="1200" dirty="0">
              <a:latin typeface="Arial" panose="020B0604020202020204" pitchFamily="34" charset="0"/>
              <a:cs typeface="Arial" panose="020B0604020202020204" pitchFamily="34" charset="0"/>
            </a:endParaRPr>
          </a:p>
        </p:txBody>
      </p:sp>
      <p:sp>
        <p:nvSpPr>
          <p:cNvPr id="3" name="Rectangle 2"/>
          <p:cNvSpPr/>
          <p:nvPr/>
        </p:nvSpPr>
        <p:spPr>
          <a:xfrm>
            <a:off x="990600" y="1076325"/>
            <a:ext cx="6238875" cy="2667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Consider a situation when rate stay constant for 3 years</a:t>
            </a:r>
            <a:endParaRPr lang="en-US" dirty="0"/>
          </a:p>
        </p:txBody>
      </p:sp>
      <p:sp>
        <p:nvSpPr>
          <p:cNvPr id="4" name="Rectangle 3"/>
          <p:cNvSpPr/>
          <p:nvPr/>
        </p:nvSpPr>
        <p:spPr>
          <a:xfrm>
            <a:off x="2714625" y="1590675"/>
            <a:ext cx="4981575" cy="266700"/>
          </a:xfrm>
          <a:prstGeom prst="rect">
            <a:avLst/>
          </a:prstGeom>
          <a:noFill/>
          <a:ln w="127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7467600" y="1332666"/>
            <a:ext cx="704850" cy="276999"/>
          </a:xfrm>
          <a:prstGeom prst="rect">
            <a:avLst/>
          </a:prstGeom>
          <a:noFill/>
        </p:spPr>
        <p:txBody>
          <a:bodyPr wrap="square" rtlCol="0">
            <a:spAutoFit/>
          </a:bodyPr>
          <a:lstStyle/>
          <a:p>
            <a:r>
              <a:rPr lang="en-US" sz="1200" dirty="0" smtClean="0">
                <a:solidFill>
                  <a:srgbClr val="C00000"/>
                </a:solidFill>
              </a:rPr>
              <a:t>=0</a:t>
            </a:r>
            <a:endParaRPr lang="en-US" sz="1200" dirty="0">
              <a:solidFill>
                <a:srgbClr val="C00000"/>
              </a:solidFill>
            </a:endParaRPr>
          </a:p>
        </p:txBody>
      </p:sp>
      <p:sp>
        <p:nvSpPr>
          <p:cNvPr id="55" name="Rectangle 54"/>
          <p:cNvSpPr/>
          <p:nvPr/>
        </p:nvSpPr>
        <p:spPr>
          <a:xfrm>
            <a:off x="1200150" y="1571625"/>
            <a:ext cx="1062037" cy="266700"/>
          </a:xfrm>
          <a:prstGeom prst="rect">
            <a:avLst/>
          </a:prstGeom>
          <a:noFill/>
          <a:ln w="127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TextBox 55"/>
          <p:cNvSpPr txBox="1"/>
          <p:nvPr/>
        </p:nvSpPr>
        <p:spPr>
          <a:xfrm>
            <a:off x="1971675" y="1313616"/>
            <a:ext cx="1181100" cy="276999"/>
          </a:xfrm>
          <a:prstGeom prst="rect">
            <a:avLst/>
          </a:prstGeom>
          <a:noFill/>
        </p:spPr>
        <p:txBody>
          <a:bodyPr wrap="square" rtlCol="0">
            <a:spAutoFit/>
          </a:bodyPr>
          <a:lstStyle/>
          <a:p>
            <a:r>
              <a:rPr lang="en-US" sz="1200" dirty="0" smtClean="0">
                <a:solidFill>
                  <a:srgbClr val="C00000"/>
                </a:solidFill>
              </a:rPr>
              <a:t>=rate </a:t>
            </a:r>
            <a:r>
              <a:rPr lang="en-US" sz="1200" dirty="0" err="1" smtClean="0">
                <a:solidFill>
                  <a:srgbClr val="C00000"/>
                </a:solidFill>
              </a:rPr>
              <a:t>adj</a:t>
            </a:r>
            <a:endParaRPr lang="en-US" sz="1200" dirty="0">
              <a:solidFill>
                <a:srgbClr val="C00000"/>
              </a:solidFill>
            </a:endParaRPr>
          </a:p>
        </p:txBody>
      </p:sp>
      <p:sp>
        <p:nvSpPr>
          <p:cNvPr id="57" name="Rectangle 56"/>
          <p:cNvSpPr/>
          <p:nvPr/>
        </p:nvSpPr>
        <p:spPr>
          <a:xfrm>
            <a:off x="3176587" y="2115384"/>
            <a:ext cx="3062288" cy="266700"/>
          </a:xfrm>
          <a:prstGeom prst="rect">
            <a:avLst/>
          </a:prstGeom>
          <a:noFill/>
          <a:ln w="127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Box 57"/>
          <p:cNvSpPr txBox="1"/>
          <p:nvPr/>
        </p:nvSpPr>
        <p:spPr>
          <a:xfrm>
            <a:off x="4110037" y="2391015"/>
            <a:ext cx="1181100" cy="276999"/>
          </a:xfrm>
          <a:prstGeom prst="rect">
            <a:avLst/>
          </a:prstGeom>
          <a:noFill/>
        </p:spPr>
        <p:txBody>
          <a:bodyPr wrap="square" rtlCol="0">
            <a:spAutoFit/>
          </a:bodyPr>
          <a:lstStyle/>
          <a:p>
            <a:r>
              <a:rPr lang="en-US" sz="1200" dirty="0" smtClean="0">
                <a:solidFill>
                  <a:srgbClr val="C00000"/>
                </a:solidFill>
              </a:rPr>
              <a:t>=5 * rate </a:t>
            </a:r>
            <a:r>
              <a:rPr lang="en-US" sz="1200" dirty="0" err="1" smtClean="0">
                <a:solidFill>
                  <a:srgbClr val="C00000"/>
                </a:solidFill>
              </a:rPr>
              <a:t>adj</a:t>
            </a:r>
            <a:endParaRPr lang="en-US" sz="1200" dirty="0">
              <a:solidFill>
                <a:srgbClr val="C00000"/>
              </a:solidFill>
            </a:endParaRPr>
          </a:p>
        </p:txBody>
      </p:sp>
      <p:sp>
        <p:nvSpPr>
          <p:cNvPr id="59" name="Rectangle 58"/>
          <p:cNvSpPr/>
          <p:nvPr/>
        </p:nvSpPr>
        <p:spPr>
          <a:xfrm>
            <a:off x="990599" y="4953000"/>
            <a:ext cx="8172451" cy="2667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bg1"/>
                </a:solidFill>
              </a:rPr>
              <a:t>If (5 </a:t>
            </a:r>
            <a:r>
              <a:rPr lang="en-US" dirty="0">
                <a:solidFill>
                  <a:schemeClr val="bg1"/>
                </a:solidFill>
              </a:rPr>
              <a:t>* rate </a:t>
            </a:r>
            <a:r>
              <a:rPr lang="en-US" dirty="0" smtClean="0">
                <a:solidFill>
                  <a:schemeClr val="bg1"/>
                </a:solidFill>
              </a:rPr>
              <a:t>buffer) &gt; 1, </a:t>
            </a:r>
            <a:r>
              <a:rPr lang="en-US" dirty="0">
                <a:latin typeface="Arial" panose="020B0604020202020204" pitchFamily="34" charset="0"/>
                <a:cs typeface="Arial" panose="020B0604020202020204" pitchFamily="34" charset="0"/>
              </a:rPr>
              <a:t>Media effect multiplier </a:t>
            </a:r>
            <a:r>
              <a:rPr lang="en-US" dirty="0" smtClean="0">
                <a:latin typeface="Arial" panose="020B0604020202020204" pitchFamily="34" charset="0"/>
                <a:cs typeface="Arial" panose="020B0604020202020204" pitchFamily="34" charset="0"/>
              </a:rPr>
              <a:t> will unexpectedly jump up</a:t>
            </a:r>
            <a:endParaRPr lang="en-US" dirty="0">
              <a:solidFill>
                <a:schemeClr val="bg1"/>
              </a:solidFill>
            </a:endParaRPr>
          </a:p>
        </p:txBody>
      </p:sp>
      <p:sp>
        <p:nvSpPr>
          <p:cNvPr id="6" name="TextBox 5"/>
          <p:cNvSpPr txBox="1"/>
          <p:nvPr/>
        </p:nvSpPr>
        <p:spPr>
          <a:xfrm>
            <a:off x="990600" y="5429250"/>
            <a:ext cx="7772400" cy="523220"/>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Solution: set rate </a:t>
            </a:r>
            <a:r>
              <a:rPr lang="en-US" sz="1400" dirty="0" smtClean="0">
                <a:latin typeface="Arial" panose="020B0604020202020204" pitchFamily="34" charset="0"/>
                <a:cs typeface="Arial" panose="020B0604020202020204" pitchFamily="34" charset="0"/>
              </a:rPr>
              <a:t>adjustment boundary </a:t>
            </a:r>
            <a:r>
              <a:rPr lang="en-US" sz="1400" dirty="0">
                <a:latin typeface="Arial" panose="020B0604020202020204" pitchFamily="34" charset="0"/>
                <a:cs typeface="Arial" panose="020B0604020202020204" pitchFamily="34" charset="0"/>
              </a:rPr>
              <a:t>no larger than </a:t>
            </a:r>
            <a:r>
              <a:rPr lang="en-US" sz="1400" dirty="0" smtClean="0">
                <a:latin typeface="Arial" panose="020B0604020202020204" pitchFamily="34" charset="0"/>
                <a:cs typeface="Arial" panose="020B0604020202020204" pitchFamily="34" charset="0"/>
              </a:rPr>
              <a:t>0.2</a:t>
            </a:r>
          </a:p>
          <a:p>
            <a:r>
              <a:rPr lang="en-US" sz="1400" dirty="0" smtClean="0">
                <a:latin typeface="Arial" panose="020B0604020202020204" pitchFamily="34" charset="0"/>
                <a:cs typeface="Arial" panose="020B0604020202020204" pitchFamily="34" charset="0"/>
              </a:rPr>
              <a:t>Check fitting error: </a:t>
            </a:r>
            <a:endParaRPr lang="en-US" sz="1400" dirty="0">
              <a:latin typeface="Arial" panose="020B0604020202020204" pitchFamily="34" charset="0"/>
              <a:cs typeface="Arial" panose="020B0604020202020204" pitchFamily="34" charset="0"/>
            </a:endParaRPr>
          </a:p>
        </p:txBody>
      </p:sp>
      <p:graphicFrame>
        <p:nvGraphicFramePr>
          <p:cNvPr id="7" name="Table 6"/>
          <p:cNvGraphicFramePr>
            <a:graphicFrameLocks noGrp="1"/>
          </p:cNvGraphicFramePr>
          <p:nvPr>
            <p:extLst>
              <p:ext uri="{D42A27DB-BD31-4B8C-83A1-F6EECF244321}">
                <p14:modId xmlns:p14="http://schemas.microsoft.com/office/powerpoint/2010/main" val="3940655220"/>
              </p:ext>
            </p:extLst>
          </p:nvPr>
        </p:nvGraphicFramePr>
        <p:xfrm>
          <a:off x="1938337" y="5993745"/>
          <a:ext cx="6705600" cy="1097280"/>
        </p:xfrm>
        <a:graphic>
          <a:graphicData uri="http://schemas.openxmlformats.org/drawingml/2006/table">
            <a:tbl>
              <a:tblPr firstRow="1" bandRow="1">
                <a:tableStyleId>{0E3FDE45-AF77-4B5C-9715-49D594BDF05E}</a:tableStyleId>
              </a:tblPr>
              <a:tblGrid>
                <a:gridCol w="2235200"/>
                <a:gridCol w="2235200"/>
                <a:gridCol w="2235200"/>
              </a:tblGrid>
              <a:tr h="206534">
                <a:tc>
                  <a:txBody>
                    <a:bodyPr/>
                    <a:lstStyle/>
                    <a:p>
                      <a:endParaRPr lang="en-US" sz="1200" dirty="0"/>
                    </a:p>
                  </a:txBody>
                  <a:tcPr/>
                </a:tc>
                <a:tc>
                  <a:txBody>
                    <a:bodyPr/>
                    <a:lstStyle/>
                    <a:p>
                      <a:pPr algn="ctr"/>
                      <a:r>
                        <a:rPr lang="en-US" sz="1200" dirty="0" smtClean="0"/>
                        <a:t>Rate </a:t>
                      </a:r>
                      <a:r>
                        <a:rPr lang="en-US" sz="1200" dirty="0" smtClean="0"/>
                        <a:t>Adjustment</a:t>
                      </a:r>
                      <a:endParaRPr lang="en-US" sz="1200" dirty="0"/>
                    </a:p>
                  </a:txBody>
                  <a:tcPr/>
                </a:tc>
                <a:tc>
                  <a:txBody>
                    <a:bodyPr/>
                    <a:lstStyle/>
                    <a:p>
                      <a:pPr algn="ctr"/>
                      <a:r>
                        <a:rPr lang="en-US" sz="1200" dirty="0" smtClean="0"/>
                        <a:t>Fitting</a:t>
                      </a:r>
                      <a:r>
                        <a:rPr lang="en-US" sz="1200" baseline="0" dirty="0" smtClean="0"/>
                        <a:t> Error</a:t>
                      </a:r>
                      <a:endParaRPr lang="en-US" sz="1200" dirty="0"/>
                    </a:p>
                  </a:txBody>
                  <a:tcPr/>
                </a:tc>
              </a:tr>
              <a:tr h="206534">
                <a:tc>
                  <a:txBody>
                    <a:bodyPr/>
                    <a:lstStyle/>
                    <a:p>
                      <a:r>
                        <a:rPr lang="en-US" sz="1200" dirty="0" smtClean="0"/>
                        <a:t>Previous</a:t>
                      </a:r>
                      <a:r>
                        <a:rPr lang="en-US" sz="1200" baseline="0" dirty="0" smtClean="0"/>
                        <a:t> buffer</a:t>
                      </a:r>
                      <a:endParaRPr lang="en-US" sz="1200" dirty="0"/>
                    </a:p>
                  </a:txBody>
                  <a:tcPr/>
                </a:tc>
                <a:tc>
                  <a:txBody>
                    <a:bodyPr/>
                    <a:lstStyle/>
                    <a:p>
                      <a:pPr algn="ctr" fontAlgn="b"/>
                      <a:r>
                        <a:rPr lang="en-US" sz="1100" u="none" strike="noStrike" dirty="0">
                          <a:effectLst/>
                        </a:rPr>
                        <a:t>0.25</a:t>
                      </a:r>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0.673184642</a:t>
                      </a:r>
                      <a:endParaRPr lang="en-US" sz="1100" b="0" i="0" u="none" strike="noStrike" dirty="0">
                        <a:solidFill>
                          <a:srgbClr val="000000"/>
                        </a:solidFill>
                        <a:effectLst/>
                        <a:latin typeface="Calibri"/>
                      </a:endParaRPr>
                    </a:p>
                  </a:txBody>
                  <a:tcPr marL="9525" marR="9525" marT="9525" marB="0" anchor="b"/>
                </a:tc>
              </a:tr>
              <a:tr h="206534">
                <a:tc>
                  <a:txBody>
                    <a:bodyPr/>
                    <a:lstStyle/>
                    <a:p>
                      <a:r>
                        <a:rPr lang="en-US" sz="1200" dirty="0" smtClean="0"/>
                        <a:t>New buffer</a:t>
                      </a:r>
                      <a:endParaRPr lang="en-US" sz="1200" dirty="0"/>
                    </a:p>
                  </a:txBody>
                  <a:tcPr/>
                </a:tc>
                <a:tc>
                  <a:txBody>
                    <a:bodyPr/>
                    <a:lstStyle/>
                    <a:p>
                      <a:pPr algn="ctr" fontAlgn="b"/>
                      <a:r>
                        <a:rPr lang="en-US" sz="1100" u="none" strike="noStrike" dirty="0">
                          <a:effectLst/>
                        </a:rPr>
                        <a:t>0.2</a:t>
                      </a:r>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0.666360687</a:t>
                      </a:r>
                      <a:endParaRPr lang="en-US" sz="1100" b="0" i="0" u="none" strike="noStrike" dirty="0">
                        <a:solidFill>
                          <a:srgbClr val="000000"/>
                        </a:solidFill>
                        <a:effectLst/>
                        <a:latin typeface="Calibri"/>
                      </a:endParaRPr>
                    </a:p>
                  </a:txBody>
                  <a:tcPr marL="9525" marR="9525" marT="9525" marB="0" anchor="b"/>
                </a:tc>
              </a:tr>
              <a:tr h="206534">
                <a:tc>
                  <a:txBody>
                    <a:bodyPr/>
                    <a:lstStyle/>
                    <a:p>
                      <a:r>
                        <a:rPr lang="en-US" sz="1200" dirty="0" smtClean="0"/>
                        <a:t>Min</a:t>
                      </a:r>
                      <a:r>
                        <a:rPr lang="en-US" sz="1200" baseline="0" dirty="0" smtClean="0"/>
                        <a:t> error </a:t>
                      </a:r>
                      <a:endParaRPr lang="en-US" sz="1200" dirty="0"/>
                    </a:p>
                  </a:txBody>
                  <a:tcPr/>
                </a:tc>
                <a:tc>
                  <a:txBody>
                    <a:bodyPr/>
                    <a:lstStyle/>
                    <a:p>
                      <a:pPr algn="ctr" fontAlgn="b"/>
                      <a:r>
                        <a:rPr lang="en-US" sz="1100" u="none" strike="noStrike" dirty="0">
                          <a:effectLst/>
                        </a:rPr>
                        <a:t>0.2301195</a:t>
                      </a:r>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0.651605852</a:t>
                      </a:r>
                      <a:endParaRPr lang="en-US" sz="1100" b="0" i="0" u="none" strike="noStrike" dirty="0">
                        <a:solidFill>
                          <a:srgbClr val="000000"/>
                        </a:solidFill>
                        <a:effectLst/>
                        <a:latin typeface="Calibri"/>
                      </a:endParaRPr>
                    </a:p>
                  </a:txBody>
                  <a:tcPr marL="9525" marR="9525" marT="9525" marB="0" anchor="b"/>
                </a:tc>
              </a:tr>
            </a:tbl>
          </a:graphicData>
        </a:graphic>
      </p:graphicFrame>
    </p:spTree>
    <p:extLst>
      <p:ext uri="{BB962C8B-B14F-4D97-AF65-F5344CB8AC3E}">
        <p14:creationId xmlns:p14="http://schemas.microsoft.com/office/powerpoint/2010/main" val="1679644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0" grpId="0">
        <p:bldAsOne/>
      </p:bldGraphic>
      <p:bldP spid="51" grpId="0"/>
      <p:bldP spid="3" grpId="0" animBg="1"/>
      <p:bldP spid="4" grpId="0" animBg="1"/>
      <p:bldP spid="5" grpId="0"/>
      <p:bldP spid="55" grpId="0" animBg="1"/>
      <p:bldP spid="56" grpId="0"/>
      <p:bldP spid="57" grpId="0" animBg="1"/>
      <p:bldP spid="58" grpId="0"/>
      <p:bldP spid="59" grpId="0" animBg="1"/>
      <p:bldP spid="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23673" y="227542"/>
            <a:ext cx="6806130" cy="677966"/>
          </a:xfrm>
        </p:spPr>
        <p:txBody>
          <a:bodyPr/>
          <a:lstStyle/>
          <a:p>
            <a:r>
              <a:rPr lang="en-US" dirty="0"/>
              <a:t>Model </a:t>
            </a:r>
            <a:r>
              <a:rPr lang="en-US" dirty="0" smtClean="0"/>
              <a:t>Improvements</a:t>
            </a:r>
            <a:r>
              <a:rPr lang="zh-CN" altLang="en-US" dirty="0" smtClean="0"/>
              <a:t> </a:t>
            </a:r>
            <a:r>
              <a:rPr lang="en-US" altLang="zh-CN" dirty="0" smtClean="0"/>
              <a:t>III</a:t>
            </a:r>
            <a:r>
              <a:rPr lang="en-US" dirty="0"/>
              <a:t/>
            </a:r>
            <a:br>
              <a:rPr lang="en-US" dirty="0"/>
            </a:br>
            <a:r>
              <a:rPr lang="en-US" dirty="0" smtClean="0"/>
              <a:t>Change Credit Availability measure, Improve Recent Years Fitting</a:t>
            </a:r>
            <a:endParaRPr lang="en-US" dirty="0"/>
          </a:p>
        </p:txBody>
      </p:sp>
      <p:pic>
        <p:nvPicPr>
          <p:cNvPr id="4" name="Picture 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9092" y="1529950"/>
            <a:ext cx="5369161" cy="1648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Oval 6"/>
          <p:cNvSpPr/>
          <p:nvPr/>
        </p:nvSpPr>
        <p:spPr>
          <a:xfrm>
            <a:off x="4648200" y="2344462"/>
            <a:ext cx="1060053" cy="824038"/>
          </a:xfrm>
          <a:prstGeom prst="ellipse">
            <a:avLst/>
          </a:prstGeom>
          <a:noFill/>
          <a:ln>
            <a:solidFill>
              <a:srgbClr val="8C2B1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21"/>
          <p:cNvGrpSpPr/>
          <p:nvPr/>
        </p:nvGrpSpPr>
        <p:grpSpPr>
          <a:xfrm>
            <a:off x="6149231" y="1460350"/>
            <a:ext cx="2783632" cy="1727200"/>
            <a:chOff x="6139706" y="1441300"/>
            <a:chExt cx="2783632" cy="1727200"/>
          </a:xfrm>
        </p:grpSpPr>
        <p:pic>
          <p:nvPicPr>
            <p:cNvPr id="174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39706" y="1441300"/>
              <a:ext cx="2783632" cy="172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9" name="Straight Arrow Connector 8"/>
            <p:cNvCxnSpPr/>
            <p:nvPr/>
          </p:nvCxnSpPr>
          <p:spPr>
            <a:xfrm>
              <a:off x="8715375" y="2209800"/>
              <a:ext cx="0" cy="342900"/>
            </a:xfrm>
            <a:prstGeom prst="straightConnector1">
              <a:avLst/>
            </a:prstGeom>
            <a:ln>
              <a:solidFill>
                <a:srgbClr val="8C2B18"/>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grpSp>
      <p:sp>
        <p:nvSpPr>
          <p:cNvPr id="10" name="TextBox 9"/>
          <p:cNvSpPr txBox="1"/>
          <p:nvPr/>
        </p:nvSpPr>
        <p:spPr>
          <a:xfrm>
            <a:off x="8562976" y="1911980"/>
            <a:ext cx="1266827" cy="261610"/>
          </a:xfrm>
          <a:prstGeom prst="rect">
            <a:avLst/>
          </a:prstGeom>
          <a:noFill/>
        </p:spPr>
        <p:txBody>
          <a:bodyPr wrap="square" rtlCol="0">
            <a:spAutoFit/>
          </a:bodyPr>
          <a:lstStyle/>
          <a:p>
            <a:r>
              <a:rPr lang="en-US" sz="1100" dirty="0" smtClean="0"/>
              <a:t>0.9% fitting error</a:t>
            </a:r>
            <a:endParaRPr lang="en-US" sz="1100" dirty="0"/>
          </a:p>
        </p:txBody>
      </p:sp>
      <p:cxnSp>
        <p:nvCxnSpPr>
          <p:cNvPr id="13" name="Straight Connector 12"/>
          <p:cNvCxnSpPr/>
          <p:nvPr/>
        </p:nvCxnSpPr>
        <p:spPr>
          <a:xfrm>
            <a:off x="836047" y="1277838"/>
            <a:ext cx="8286024"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2789567" y="1123950"/>
            <a:ext cx="3971925" cy="338554"/>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sz="1600" dirty="0" smtClean="0">
                <a:latin typeface="Arial" panose="020B0604020202020204" pitchFamily="34" charset="0"/>
                <a:cs typeface="Arial" panose="020B0604020202020204" pitchFamily="34" charset="0"/>
              </a:rPr>
              <a:t>Fitting Quality Decrease After 2010</a:t>
            </a:r>
            <a:endParaRPr lang="en-US" sz="1600" dirty="0">
              <a:latin typeface="Arial" panose="020B0604020202020204" pitchFamily="34" charset="0"/>
              <a:cs typeface="Arial" panose="020B0604020202020204" pitchFamily="34" charset="0"/>
            </a:endParaRPr>
          </a:p>
        </p:txBody>
      </p:sp>
      <p:cxnSp>
        <p:nvCxnSpPr>
          <p:cNvPr id="15" name="Straight Connector 14"/>
          <p:cNvCxnSpPr/>
          <p:nvPr/>
        </p:nvCxnSpPr>
        <p:spPr>
          <a:xfrm>
            <a:off x="836047" y="4468713"/>
            <a:ext cx="8286024" cy="0"/>
          </a:xfrm>
          <a:prstGeom prst="line">
            <a:avLst/>
          </a:prstGeom>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3743325" y="4314825"/>
            <a:ext cx="2047875" cy="338554"/>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sz="1600" dirty="0" smtClean="0">
                <a:latin typeface="Arial" panose="020B0604020202020204" pitchFamily="34" charset="0"/>
                <a:cs typeface="Arial" panose="020B0604020202020204" pitchFamily="34" charset="0"/>
              </a:rPr>
              <a:t>Review HPA Model</a:t>
            </a:r>
            <a:endParaRPr lang="en-US" sz="1600" dirty="0">
              <a:latin typeface="Arial" panose="020B0604020202020204" pitchFamily="34" charset="0"/>
              <a:cs typeface="Arial" panose="020B0604020202020204" pitchFamily="34" charset="0"/>
            </a:endParaRPr>
          </a:p>
        </p:txBody>
      </p:sp>
      <p:pic>
        <p:nvPicPr>
          <p:cNvPr id="17" name="Picture 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3433" y="4720054"/>
            <a:ext cx="5284820" cy="1622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 name="Rectangle 18"/>
          <p:cNvSpPr/>
          <p:nvPr/>
        </p:nvSpPr>
        <p:spPr>
          <a:xfrm>
            <a:off x="6191670" y="4751218"/>
            <a:ext cx="3056683" cy="5161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HPA measure shows a higher prediction </a:t>
            </a:r>
            <a:r>
              <a:rPr lang="en-US" sz="1400" dirty="0" smtClean="0">
                <a:latin typeface="Arial" panose="020B0604020202020204" pitchFamily="34" charset="0"/>
                <a:cs typeface="Arial" panose="020B0604020202020204" pitchFamily="34" charset="0"/>
              </a:rPr>
              <a:t>SMM in </a:t>
            </a:r>
            <a:r>
              <a:rPr lang="en-US" sz="1400" dirty="0">
                <a:latin typeface="Arial" panose="020B0604020202020204" pitchFamily="34" charset="0"/>
                <a:cs typeface="Arial" panose="020B0604020202020204" pitchFamily="34" charset="0"/>
              </a:rPr>
              <a:t>recent 2 yrs. </a:t>
            </a:r>
          </a:p>
        </p:txBody>
      </p:sp>
      <p:sp>
        <p:nvSpPr>
          <p:cNvPr id="20" name="Rectangle 19"/>
          <p:cNvSpPr/>
          <p:nvPr/>
        </p:nvSpPr>
        <p:spPr>
          <a:xfrm>
            <a:off x="6191670" y="5788299"/>
            <a:ext cx="3056683" cy="4018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latin typeface="Arial" panose="020B0604020202020204" pitchFamily="34" charset="0"/>
                <a:cs typeface="Arial" panose="020B0604020202020204" pitchFamily="34" charset="0"/>
              </a:rPr>
              <a:t>More </a:t>
            </a:r>
            <a:r>
              <a:rPr lang="en-US" sz="1400" dirty="0">
                <a:latin typeface="Arial" panose="020B0604020202020204" pitchFamily="34" charset="0"/>
                <a:cs typeface="Arial" panose="020B0604020202020204" pitchFamily="34" charset="0"/>
              </a:rPr>
              <a:t>strict underwriting criteria</a:t>
            </a:r>
          </a:p>
        </p:txBody>
      </p:sp>
      <p:sp>
        <p:nvSpPr>
          <p:cNvPr id="21" name="Rectangle 20"/>
          <p:cNvSpPr/>
          <p:nvPr/>
        </p:nvSpPr>
        <p:spPr>
          <a:xfrm>
            <a:off x="763258" y="6663455"/>
            <a:ext cx="8485095" cy="4018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latin typeface="Arial" panose="020B0604020202020204" pitchFamily="34" charset="0"/>
                <a:cs typeface="Arial" panose="020B0604020202020204" pitchFamily="34" charset="0"/>
              </a:rPr>
              <a:t>Need </a:t>
            </a:r>
            <a:r>
              <a:rPr lang="en-US" sz="1400" dirty="0">
                <a:latin typeface="Arial" panose="020B0604020202020204" pitchFamily="34" charset="0"/>
                <a:cs typeface="Arial" panose="020B0604020202020204" pitchFamily="34" charset="0"/>
              </a:rPr>
              <a:t>to find a credit availability </a:t>
            </a:r>
            <a:r>
              <a:rPr lang="en-US" sz="1400" dirty="0" smtClean="0">
                <a:latin typeface="Arial" panose="020B0604020202020204" pitchFamily="34" charset="0"/>
                <a:cs typeface="Arial" panose="020B0604020202020204" pitchFamily="34" charset="0"/>
              </a:rPr>
              <a:t>measure with thin tail</a:t>
            </a:r>
            <a:endParaRPr lang="en-US" sz="1400" dirty="0">
              <a:latin typeface="Arial" panose="020B0604020202020204" pitchFamily="34" charset="0"/>
              <a:cs typeface="Arial" panose="020B0604020202020204" pitchFamily="34" charset="0"/>
            </a:endParaRPr>
          </a:p>
        </p:txBody>
      </p:sp>
      <p:sp>
        <p:nvSpPr>
          <p:cNvPr id="18" name="Down Arrow 17"/>
          <p:cNvSpPr/>
          <p:nvPr/>
        </p:nvSpPr>
        <p:spPr>
          <a:xfrm>
            <a:off x="7343775" y="5419725"/>
            <a:ext cx="619125" cy="23812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Down Arrow 22"/>
          <p:cNvSpPr/>
          <p:nvPr/>
        </p:nvSpPr>
        <p:spPr>
          <a:xfrm>
            <a:off x="7343775" y="6342241"/>
            <a:ext cx="619125" cy="23434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p:cNvSpPr txBox="1"/>
          <p:nvPr/>
        </p:nvSpPr>
        <p:spPr>
          <a:xfrm>
            <a:off x="836047" y="3305175"/>
            <a:ext cx="7772400" cy="523220"/>
          </a:xfrm>
          <a:prstGeom prst="rect">
            <a:avLst/>
          </a:prstGeom>
          <a:noFill/>
        </p:spPr>
        <p:txBody>
          <a:bodyPr wrap="square" rtlCol="0">
            <a:spAutoFit/>
          </a:bodyPr>
          <a:lstStyle/>
          <a:p>
            <a:r>
              <a:rPr lang="en-US" sz="1400" dirty="0" smtClean="0">
                <a:latin typeface="Arial" panose="020B0604020202020204" pitchFamily="34" charset="0"/>
                <a:cs typeface="Arial" panose="020B0604020202020204" pitchFamily="34" charset="0"/>
              </a:rPr>
              <a:t>Overall fitting result is acceptable, but resent years results show a larger error. </a:t>
            </a:r>
          </a:p>
          <a:p>
            <a:r>
              <a:rPr lang="en-US" altLang="zh-CN" sz="1400" dirty="0" smtClean="0">
                <a:latin typeface="Arial" panose="020B0604020202020204" pitchFamily="34" charset="0"/>
                <a:cs typeface="Arial" panose="020B0604020202020204" pitchFamily="34" charset="0"/>
              </a:rPr>
              <a:t>Error in 2004 even increase to 0.9% SMM.</a:t>
            </a:r>
            <a:endParaRPr lang="en-US" sz="1400" dirty="0">
              <a:latin typeface="Arial" panose="020B0604020202020204" pitchFamily="34" charset="0"/>
              <a:cs typeface="Arial" panose="020B0604020202020204" pitchFamily="34" charset="0"/>
            </a:endParaRPr>
          </a:p>
        </p:txBody>
      </p:sp>
      <p:cxnSp>
        <p:nvCxnSpPr>
          <p:cNvPr id="26" name="Straight Connector 25"/>
          <p:cNvCxnSpPr/>
          <p:nvPr/>
        </p:nvCxnSpPr>
        <p:spPr>
          <a:xfrm flipV="1">
            <a:off x="5438775" y="1609725"/>
            <a:ext cx="600075" cy="714225"/>
          </a:xfrm>
          <a:prstGeom prst="line">
            <a:avLst/>
          </a:prstGeom>
          <a:ln w="28575">
            <a:solidFill>
              <a:srgbClr val="8C2B18"/>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V="1">
            <a:off x="5791200" y="2971800"/>
            <a:ext cx="247650" cy="9525"/>
          </a:xfrm>
          <a:prstGeom prst="line">
            <a:avLst/>
          </a:prstGeom>
          <a:ln w="28575">
            <a:solidFill>
              <a:srgbClr val="8C2B1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083815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23673" y="227542"/>
            <a:ext cx="6806130" cy="677966"/>
          </a:xfrm>
        </p:spPr>
        <p:txBody>
          <a:bodyPr/>
          <a:lstStyle/>
          <a:p>
            <a:r>
              <a:rPr lang="en-US" dirty="0"/>
              <a:t>Model </a:t>
            </a:r>
            <a:r>
              <a:rPr lang="en-US" dirty="0" smtClean="0"/>
              <a:t>Improvements</a:t>
            </a:r>
            <a:r>
              <a:rPr lang="zh-CN" altLang="en-US" dirty="0" smtClean="0"/>
              <a:t> </a:t>
            </a:r>
            <a:r>
              <a:rPr lang="en-US" altLang="zh-CN" dirty="0" smtClean="0"/>
              <a:t>III</a:t>
            </a:r>
            <a:r>
              <a:rPr lang="en-US" dirty="0"/>
              <a:t/>
            </a:r>
            <a:br>
              <a:rPr lang="en-US" dirty="0"/>
            </a:br>
            <a:r>
              <a:rPr lang="en-US" dirty="0" smtClean="0"/>
              <a:t>Change Credit Availability measure, Improve Recent Years Fitting</a:t>
            </a:r>
            <a:endParaRPr lang="en-US" dirty="0"/>
          </a:p>
        </p:txBody>
      </p:sp>
      <p:cxnSp>
        <p:nvCxnSpPr>
          <p:cNvPr id="13" name="Straight Connector 12"/>
          <p:cNvCxnSpPr/>
          <p:nvPr/>
        </p:nvCxnSpPr>
        <p:spPr>
          <a:xfrm>
            <a:off x="836047" y="1277838"/>
            <a:ext cx="8286024"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3171825" y="1123950"/>
            <a:ext cx="3589667" cy="338554"/>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sz="1600" dirty="0" smtClean="0">
                <a:latin typeface="Arial" panose="020B0604020202020204" pitchFamily="34" charset="0"/>
                <a:cs typeface="Arial" panose="020B0604020202020204" pitchFamily="34" charset="0"/>
              </a:rPr>
              <a:t>Purchase Index</a:t>
            </a:r>
            <a:endParaRPr lang="en-US" sz="1600" dirty="0">
              <a:latin typeface="Arial" panose="020B0604020202020204" pitchFamily="34" charset="0"/>
              <a:cs typeface="Arial" panose="020B0604020202020204" pitchFamily="34" charset="0"/>
            </a:endParaRPr>
          </a:p>
        </p:txBody>
      </p:sp>
      <p:pic>
        <p:nvPicPr>
          <p:cNvPr id="18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3427" y="1557754"/>
            <a:ext cx="5848644" cy="17952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386355" y="1797992"/>
            <a:ext cx="2785469" cy="954107"/>
          </a:xfrm>
          <a:prstGeom prst="rect">
            <a:avLst/>
          </a:prstGeom>
          <a:noFill/>
        </p:spPr>
        <p:txBody>
          <a:bodyPr wrap="square" rtlCol="0">
            <a:spAutoFit/>
          </a:bodyPr>
          <a:lstStyle/>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Changed credit </a:t>
            </a:r>
            <a:r>
              <a:rPr lang="en-US" sz="1400" dirty="0" smtClean="0">
                <a:latin typeface="Arial" panose="020B0604020202020204" pitchFamily="34" charset="0"/>
                <a:cs typeface="Arial" panose="020B0604020202020204" pitchFamily="34" charset="0"/>
              </a:rPr>
              <a:t>availability</a:t>
            </a: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U</a:t>
            </a:r>
            <a:r>
              <a:rPr lang="en-US" sz="1400" dirty="0" smtClean="0">
                <a:latin typeface="Arial" panose="020B0604020202020204" pitchFamily="34" charset="0"/>
                <a:cs typeface="Arial" panose="020B0604020202020204" pitchFamily="34" charset="0"/>
              </a:rPr>
              <a:t>sing </a:t>
            </a:r>
            <a:r>
              <a:rPr lang="en-US" sz="1400" b="1" dirty="0">
                <a:latin typeface="Arial" panose="020B0604020202020204" pitchFamily="34" charset="0"/>
                <a:cs typeface="Arial" panose="020B0604020202020204" pitchFamily="34" charset="0"/>
              </a:rPr>
              <a:t>MBAVPRCH</a:t>
            </a:r>
            <a:r>
              <a:rPr lang="en-US" sz="1400" dirty="0">
                <a:latin typeface="Arial" panose="020B0604020202020204" pitchFamily="34" charset="0"/>
                <a:cs typeface="Arial" panose="020B0604020202020204" pitchFamily="34" charset="0"/>
              </a:rPr>
              <a:t> </a:t>
            </a:r>
            <a:r>
              <a:rPr lang="en-US" sz="1400" dirty="0" smtClean="0">
                <a:latin typeface="Arial" panose="020B0604020202020204" pitchFamily="34" charset="0"/>
                <a:cs typeface="Arial" panose="020B0604020202020204" pitchFamily="34" charset="0"/>
              </a:rPr>
              <a:t>Purchase </a:t>
            </a:r>
            <a:r>
              <a:rPr lang="en-US" sz="1400" dirty="0">
                <a:latin typeface="Arial" panose="020B0604020202020204" pitchFamily="34" charset="0"/>
                <a:cs typeface="Arial" panose="020B0604020202020204" pitchFamily="34" charset="0"/>
              </a:rPr>
              <a:t>Index instead of </a:t>
            </a:r>
            <a:r>
              <a:rPr lang="en-US" sz="1400" dirty="0" smtClean="0">
                <a:latin typeface="Arial" panose="020B0604020202020204" pitchFamily="34" charset="0"/>
                <a:cs typeface="Arial" panose="020B0604020202020204" pitchFamily="34" charset="0"/>
              </a:rPr>
              <a:t>HPA</a:t>
            </a:r>
          </a:p>
        </p:txBody>
      </p:sp>
      <mc:AlternateContent xmlns:mc="http://schemas.openxmlformats.org/markup-compatibility/2006" xmlns:a14="http://schemas.microsoft.com/office/drawing/2010/main">
        <mc:Choice Requires="a14">
          <p:sp>
            <p:nvSpPr>
              <p:cNvPr id="26" name="TextBox 25"/>
              <p:cNvSpPr txBox="1"/>
              <p:nvPr/>
            </p:nvSpPr>
            <p:spPr>
              <a:xfrm>
                <a:off x="386355" y="2675930"/>
                <a:ext cx="3093667"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a:rPr>
                        <m:t>𝐶𝐴</m:t>
                      </m:r>
                      <m:r>
                        <a:rPr lang="en-US" sz="1200" b="0" i="1" smtClean="0">
                          <a:latin typeface="Cambria Math"/>
                        </a:rPr>
                        <m:t>=1− </m:t>
                      </m:r>
                      <m:r>
                        <a:rPr lang="en-US" sz="1200" b="0" i="1" smtClean="0">
                          <a:latin typeface="Cambria Math"/>
                          <a:ea typeface="Cambria Math"/>
                        </a:rPr>
                        <m:t>𝛼</m:t>
                      </m:r>
                      <m:r>
                        <a:rPr lang="en-US" sz="1200" b="0" i="1" smtClean="0">
                          <a:latin typeface="Cambria Math"/>
                          <a:ea typeface="Cambria Math"/>
                        </a:rPr>
                        <m:t>/(1 +</m:t>
                      </m:r>
                      <m:r>
                        <a:rPr lang="en-US" sz="1200" b="0" i="1" smtClean="0">
                          <a:latin typeface="Cambria Math"/>
                          <a:ea typeface="Cambria Math"/>
                        </a:rPr>
                        <m:t>𝑒</m:t>
                      </m:r>
                      <m:r>
                        <a:rPr lang="en-US" sz="1200" b="0" i="1" smtClean="0">
                          <a:latin typeface="Cambria Math"/>
                          <a:ea typeface="Cambria Math"/>
                        </a:rPr>
                        <m:t>^((</m:t>
                      </m:r>
                      <m:r>
                        <a:rPr lang="en-US" sz="1200" b="1" i="1" smtClean="0">
                          <a:latin typeface="Cambria Math"/>
                          <a:ea typeface="Cambria Math"/>
                        </a:rPr>
                        <m:t>𝒑𝒖𝒓𝒄𝒉𝒂𝒔𝒆</m:t>
                      </m:r>
                      <m:r>
                        <a:rPr lang="en-US" sz="1200" b="1" i="1" smtClean="0">
                          <a:latin typeface="Cambria Math"/>
                          <a:ea typeface="Cambria Math"/>
                        </a:rPr>
                        <m:t> </m:t>
                      </m:r>
                      <m:r>
                        <a:rPr lang="en-US" sz="1200" b="0" i="1" smtClean="0">
                          <a:latin typeface="Cambria Math"/>
                          <a:ea typeface="Cambria Math"/>
                        </a:rPr>
                        <m:t>− </m:t>
                      </m:r>
                      <m:r>
                        <a:rPr lang="en-US" sz="1200" b="0" i="1" smtClean="0">
                          <a:latin typeface="Cambria Math"/>
                          <a:ea typeface="Cambria Math"/>
                        </a:rPr>
                        <m:t>𝛽</m:t>
                      </m:r>
                      <m:r>
                        <a:rPr lang="en-US" sz="1200" b="0" i="1" smtClean="0">
                          <a:latin typeface="Cambria Math"/>
                          <a:ea typeface="Cambria Math"/>
                        </a:rPr>
                        <m:t>)/</m:t>
                      </m:r>
                      <m:r>
                        <a:rPr lang="en-US" sz="1200" b="0" i="1" smtClean="0">
                          <a:latin typeface="Cambria Math"/>
                          <a:ea typeface="Cambria Math"/>
                        </a:rPr>
                        <m:t>𝛾</m:t>
                      </m:r>
                      <m:r>
                        <a:rPr lang="en-US" sz="1200" b="0" i="1" smtClean="0">
                          <a:latin typeface="Cambria Math"/>
                          <a:ea typeface="Cambria Math"/>
                        </a:rPr>
                        <m:t>)</m:t>
                      </m:r>
                    </m:oMath>
                  </m:oMathPara>
                </a14:m>
                <a:endParaRPr lang="en-US" sz="1200" dirty="0" smtClean="0"/>
              </a:p>
            </p:txBody>
          </p:sp>
        </mc:Choice>
        <mc:Fallback xmlns="">
          <p:sp>
            <p:nvSpPr>
              <p:cNvPr id="26" name="TextBox 25"/>
              <p:cNvSpPr txBox="1">
                <a:spLocks noRot="1" noChangeAspect="1" noMove="1" noResize="1" noEditPoints="1" noAdjustHandles="1" noChangeArrowheads="1" noChangeShapeType="1" noTextEdit="1"/>
              </p:cNvSpPr>
              <p:nvPr/>
            </p:nvSpPr>
            <p:spPr>
              <a:xfrm>
                <a:off x="386355" y="2675930"/>
                <a:ext cx="3093667" cy="276999"/>
              </a:xfrm>
              <a:prstGeom prst="rect">
                <a:avLst/>
              </a:prstGeom>
              <a:blipFill rotWithShape="1">
                <a:blip r:embed="rId3"/>
                <a:stretch>
                  <a:fillRect b="-11111"/>
                </a:stretch>
              </a:blipFill>
            </p:spPr>
            <p:txBody>
              <a:bodyPr/>
              <a:lstStyle/>
              <a:p>
                <a:r>
                  <a:rPr lang="en-US">
                    <a:noFill/>
                  </a:rPr>
                  <a:t> </a:t>
                </a:r>
              </a:p>
            </p:txBody>
          </p:sp>
        </mc:Fallback>
      </mc:AlternateContent>
      <p:sp>
        <p:nvSpPr>
          <p:cNvPr id="6" name="Down Arrow 5"/>
          <p:cNvSpPr/>
          <p:nvPr/>
        </p:nvSpPr>
        <p:spPr>
          <a:xfrm>
            <a:off x="1460002" y="3209925"/>
            <a:ext cx="838200" cy="4572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561973" y="4019550"/>
            <a:ext cx="8486775" cy="30777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en-US" sz="1400" dirty="0"/>
              <a:t>Get a right model </a:t>
            </a:r>
            <a:r>
              <a:rPr lang="en-US" sz="1400" dirty="0" smtClean="0"/>
              <a:t>shape:  thin tail in recent 2 years</a:t>
            </a:r>
            <a:endParaRPr lang="en-US" sz="1400" dirty="0"/>
          </a:p>
        </p:txBody>
      </p:sp>
      <p:pic>
        <p:nvPicPr>
          <p:cNvPr id="1843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3427" y="4987848"/>
            <a:ext cx="5848645" cy="1720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Box 10"/>
          <p:cNvSpPr txBox="1"/>
          <p:nvPr/>
        </p:nvSpPr>
        <p:spPr>
          <a:xfrm>
            <a:off x="386355" y="5014095"/>
            <a:ext cx="2985495" cy="1169551"/>
          </a:xfrm>
          <a:prstGeom prst="rect">
            <a:avLst/>
          </a:prstGeom>
          <a:noFill/>
        </p:spPr>
        <p:txBody>
          <a:bodyPr wrap="square" rtlCol="0">
            <a:spAutoFit/>
          </a:bodyPr>
          <a:lstStyle/>
          <a:p>
            <a:r>
              <a:rPr lang="en-US" sz="1400" dirty="0" smtClean="0">
                <a:latin typeface="Arial" panose="020B0604020202020204" pitchFamily="34" charset="0"/>
                <a:cs typeface="Arial" panose="020B0604020202020204" pitchFamily="34" charset="0"/>
              </a:rPr>
              <a:t>Problem:</a:t>
            </a:r>
            <a:endParaRPr lang="en-US" sz="1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400" dirty="0" smtClean="0">
                <a:latin typeface="Arial" panose="020B0604020202020204" pitchFamily="34" charset="0"/>
                <a:cs typeface="Arial" panose="020B0604020202020204" pitchFamily="34" charset="0"/>
              </a:rPr>
              <a:t>Purchase index </a:t>
            </a:r>
            <a:r>
              <a:rPr lang="en-US" sz="1400" dirty="0">
                <a:latin typeface="Arial" panose="020B0604020202020204" pitchFamily="34" charset="0"/>
                <a:cs typeface="Arial" panose="020B0604020202020204" pitchFamily="34" charset="0"/>
              </a:rPr>
              <a:t>is sensitive to mortgage rate</a:t>
            </a:r>
            <a:r>
              <a:rPr lang="en-US" sz="1400" dirty="0" smtClean="0">
                <a:latin typeface="Arial" panose="020B0604020202020204" pitchFamily="34" charset="0"/>
                <a:cs typeface="Arial" panose="020B0604020202020204" pitchFamily="34" charset="0"/>
              </a:rPr>
              <a:t>.</a:t>
            </a:r>
          </a:p>
          <a:p>
            <a:pPr marL="285750" indent="-285750">
              <a:buFont typeface="Arial" panose="020B0604020202020204" pitchFamily="34" charset="0"/>
              <a:buChar char="•"/>
            </a:pPr>
            <a:r>
              <a:rPr lang="en-US" sz="1400" dirty="0" smtClean="0">
                <a:latin typeface="Arial" panose="020B0604020202020204" pitchFamily="34" charset="0"/>
                <a:cs typeface="Arial" panose="020B0604020202020204" pitchFamily="34" charset="0"/>
              </a:rPr>
              <a:t>Multiplier decrease slow in 09’ to 10’.</a:t>
            </a:r>
            <a:endParaRPr lang="en-US"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5176241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23673" y="227542"/>
            <a:ext cx="6806130" cy="677966"/>
          </a:xfrm>
        </p:spPr>
        <p:txBody>
          <a:bodyPr/>
          <a:lstStyle/>
          <a:p>
            <a:r>
              <a:rPr lang="en-US" dirty="0"/>
              <a:t>Model </a:t>
            </a:r>
            <a:r>
              <a:rPr lang="en-US" dirty="0" smtClean="0"/>
              <a:t>Improvements</a:t>
            </a:r>
            <a:r>
              <a:rPr lang="zh-CN" altLang="en-US" dirty="0" smtClean="0"/>
              <a:t> </a:t>
            </a:r>
            <a:r>
              <a:rPr lang="en-US" altLang="zh-CN" dirty="0" smtClean="0"/>
              <a:t>III</a:t>
            </a:r>
            <a:r>
              <a:rPr lang="en-US" dirty="0"/>
              <a:t/>
            </a:r>
            <a:br>
              <a:rPr lang="en-US" dirty="0"/>
            </a:br>
            <a:r>
              <a:rPr lang="en-US" dirty="0" smtClean="0"/>
              <a:t>Change Credit Availability measure, Improve Recent Years Fitting</a:t>
            </a:r>
            <a:endParaRPr lang="en-US" dirty="0"/>
          </a:p>
        </p:txBody>
      </p:sp>
      <p:cxnSp>
        <p:nvCxnSpPr>
          <p:cNvPr id="13" name="Straight Connector 12"/>
          <p:cNvCxnSpPr/>
          <p:nvPr/>
        </p:nvCxnSpPr>
        <p:spPr>
          <a:xfrm>
            <a:off x="836047" y="1277838"/>
            <a:ext cx="8286024"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3171825" y="1123950"/>
            <a:ext cx="3589667" cy="338554"/>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sz="1600" dirty="0" smtClean="0">
                <a:latin typeface="Arial" panose="020B0604020202020204" pitchFamily="34" charset="0"/>
                <a:cs typeface="Arial" panose="020B0604020202020204" pitchFamily="34" charset="0"/>
              </a:rPr>
              <a:t>FICO Distribution Measure</a:t>
            </a:r>
            <a:endParaRPr lang="en-US" sz="1600" dirty="0">
              <a:latin typeface="Arial" panose="020B0604020202020204" pitchFamily="34" charset="0"/>
              <a:cs typeface="Arial" panose="020B0604020202020204" pitchFamily="34" charset="0"/>
            </a:endParaRPr>
          </a:p>
        </p:txBody>
      </p:sp>
      <p:sp>
        <p:nvSpPr>
          <p:cNvPr id="3" name="Rectangle 2"/>
          <p:cNvSpPr/>
          <p:nvPr/>
        </p:nvSpPr>
        <p:spPr>
          <a:xfrm>
            <a:off x="836047" y="1555849"/>
            <a:ext cx="8557849" cy="1323439"/>
          </a:xfrm>
          <a:prstGeom prst="rect">
            <a:avLst/>
          </a:prstGeom>
        </p:spPr>
        <p:txBody>
          <a:bodyPr wrap="square">
            <a:spAutoFit/>
          </a:bodyPr>
          <a:lstStyle/>
          <a:p>
            <a:r>
              <a:rPr lang="en-US" sz="1400" dirty="0" smtClean="0">
                <a:latin typeface="Arial" panose="020B0604020202020204" pitchFamily="34" charset="0"/>
                <a:cs typeface="Arial" panose="020B0604020202020204" pitchFamily="34" charset="0"/>
              </a:rPr>
              <a:t>Borrowers in purchase activities is sensitive to mortgage rate, so using purchase index to directly measure credit </a:t>
            </a:r>
            <a:r>
              <a:rPr lang="en-US" sz="1400" dirty="0">
                <a:latin typeface="Arial" panose="020B0604020202020204" pitchFamily="34" charset="0"/>
                <a:cs typeface="Arial" panose="020B0604020202020204" pitchFamily="34" charset="0"/>
              </a:rPr>
              <a:t>availability may brings </a:t>
            </a:r>
            <a:r>
              <a:rPr lang="en-US" sz="1400" dirty="0" smtClean="0">
                <a:latin typeface="Arial" panose="020B0604020202020204" pitchFamily="34" charset="0"/>
                <a:cs typeface="Arial" panose="020B0604020202020204" pitchFamily="34" charset="0"/>
              </a:rPr>
              <a:t>bias.</a:t>
            </a:r>
          </a:p>
          <a:p>
            <a:endParaRPr lang="en-US" sz="1400" dirty="0">
              <a:latin typeface="Arial" panose="020B0604020202020204" pitchFamily="34" charset="0"/>
              <a:cs typeface="Arial" panose="020B0604020202020204" pitchFamily="34" charset="0"/>
            </a:endParaRPr>
          </a:p>
          <a:p>
            <a:r>
              <a:rPr lang="en-US" sz="1400" dirty="0" smtClean="0">
                <a:latin typeface="Arial" panose="020B0604020202020204" pitchFamily="34" charset="0"/>
                <a:cs typeface="Arial" panose="020B0604020202020204" pitchFamily="34" charset="0"/>
              </a:rPr>
              <a:t>Consider another measure: percentage distribution of FICO score</a:t>
            </a:r>
          </a:p>
          <a:p>
            <a:r>
              <a:rPr lang="en-US" sz="1200" i="1" dirty="0" smtClean="0">
                <a:latin typeface="Arial" panose="020B0604020202020204" pitchFamily="34" charset="0"/>
                <a:cs typeface="Arial" panose="020B0604020202020204" pitchFamily="34" charset="0"/>
              </a:rPr>
              <a:t>e.g.: Percentage for borrowers’ FICO below 680 is 22.55% in Nov. 2007; </a:t>
            </a:r>
          </a:p>
          <a:p>
            <a:r>
              <a:rPr lang="en-US" sz="1200" i="1" dirty="0" smtClean="0">
                <a:latin typeface="Arial" panose="020B0604020202020204" pitchFamily="34" charset="0"/>
                <a:cs typeface="Arial" panose="020B0604020202020204" pitchFamily="34" charset="0"/>
              </a:rPr>
              <a:t>        this number decrease to 3.29% in July 2009.</a:t>
            </a:r>
          </a:p>
        </p:txBody>
      </p:sp>
      <p:sp>
        <p:nvSpPr>
          <p:cNvPr id="4" name="TextBox 3"/>
          <p:cNvSpPr txBox="1"/>
          <p:nvPr/>
        </p:nvSpPr>
        <p:spPr>
          <a:xfrm>
            <a:off x="836047" y="4810125"/>
            <a:ext cx="8286024" cy="30777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en-US" sz="1400" dirty="0" smtClean="0">
                <a:latin typeface="Arial" panose="020B0604020202020204" pitchFamily="34" charset="0"/>
                <a:cs typeface="Arial" panose="020B0604020202020204" pitchFamily="34" charset="0"/>
              </a:rPr>
              <a:t>Get </a:t>
            </a:r>
            <a:r>
              <a:rPr lang="en-US" sz="1400" dirty="0">
                <a:latin typeface="Arial" panose="020B0604020202020204" pitchFamily="34" charset="0"/>
                <a:cs typeface="Arial" panose="020B0604020202020204" pitchFamily="34" charset="0"/>
              </a:rPr>
              <a:t>a less rate-sensitive measure for credit </a:t>
            </a:r>
            <a:r>
              <a:rPr lang="en-US" sz="1400" dirty="0" smtClean="0">
                <a:latin typeface="Arial" panose="020B0604020202020204" pitchFamily="34" charset="0"/>
                <a:cs typeface="Arial" panose="020B0604020202020204" pitchFamily="34" charset="0"/>
              </a:rPr>
              <a:t>availability.</a:t>
            </a:r>
            <a:endParaRPr lang="en-US" sz="1400" dirty="0"/>
          </a:p>
        </p:txBody>
      </p:sp>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70112" y="2879288"/>
            <a:ext cx="6156325" cy="18896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45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1396" y="5184577"/>
            <a:ext cx="6167272" cy="18896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p:cNvSpPr txBox="1"/>
          <p:nvPr/>
        </p:nvSpPr>
        <p:spPr>
          <a:xfrm>
            <a:off x="6988668" y="5598168"/>
            <a:ext cx="2486025" cy="461665"/>
          </a:xfrm>
          <a:prstGeom prst="rect">
            <a:avLst/>
          </a:prstGeom>
          <a:noFill/>
        </p:spPr>
        <p:txBody>
          <a:bodyPr wrap="square" rtlCol="0">
            <a:spAutoFit/>
          </a:bodyPr>
          <a:lstStyle/>
          <a:p>
            <a:r>
              <a:rPr lang="en-US" sz="1200" dirty="0" smtClean="0">
                <a:latin typeface="Arial" panose="020B0604020202020204" pitchFamily="34" charset="0"/>
                <a:cs typeface="Arial" panose="020B0604020202020204" pitchFamily="34" charset="0"/>
              </a:rPr>
              <a:t>High overall fitting quality;</a:t>
            </a:r>
          </a:p>
          <a:p>
            <a:r>
              <a:rPr lang="en-US" sz="1200" dirty="0" smtClean="0">
                <a:latin typeface="Arial" panose="020B0604020202020204" pitchFamily="34" charset="0"/>
                <a:cs typeface="Arial" panose="020B0604020202020204" pitchFamily="34" charset="0"/>
              </a:rPr>
              <a:t>Errors in recent years keep low.</a:t>
            </a:r>
            <a:endParaRPr lang="en-US" sz="1200" dirty="0">
              <a:latin typeface="Arial" panose="020B0604020202020204" pitchFamily="34" charset="0"/>
              <a:cs typeface="Arial" panose="020B0604020202020204" pitchFamily="34" charset="0"/>
            </a:endParaRPr>
          </a:p>
        </p:txBody>
      </p:sp>
      <p:sp>
        <p:nvSpPr>
          <p:cNvPr id="10" name="TextBox 9"/>
          <p:cNvSpPr txBox="1"/>
          <p:nvPr/>
        </p:nvSpPr>
        <p:spPr>
          <a:xfrm>
            <a:off x="6988667" y="6217293"/>
            <a:ext cx="2593483" cy="461665"/>
          </a:xfrm>
          <a:prstGeom prst="rect">
            <a:avLst/>
          </a:prstGeom>
          <a:noFill/>
        </p:spPr>
        <p:txBody>
          <a:bodyPr wrap="square" rtlCol="0">
            <a:spAutoFit/>
          </a:bodyPr>
          <a:lstStyle/>
          <a:p>
            <a:r>
              <a:rPr lang="en-US" sz="1200" dirty="0" smtClean="0">
                <a:latin typeface="Arial" panose="020B0604020202020204" pitchFamily="34" charset="0"/>
                <a:cs typeface="Arial" panose="020B0604020202020204" pitchFamily="34" charset="0"/>
              </a:rPr>
              <a:t>Average Fitting Error = </a:t>
            </a:r>
            <a:r>
              <a:rPr lang="en-US" sz="1200" b="1" dirty="0" smtClean="0">
                <a:latin typeface="Arial" panose="020B0604020202020204" pitchFamily="34" charset="0"/>
                <a:cs typeface="Arial" panose="020B0604020202020204" pitchFamily="34" charset="0"/>
              </a:rPr>
              <a:t>0.39%</a:t>
            </a:r>
            <a:r>
              <a:rPr lang="en-US" sz="1200" dirty="0" smtClean="0">
                <a:latin typeface="Arial" panose="020B0604020202020204" pitchFamily="34" charset="0"/>
                <a:cs typeface="Arial" panose="020B0604020202020204" pitchFamily="34" charset="0"/>
              </a:rPr>
              <a:t> SMM</a:t>
            </a:r>
          </a:p>
          <a:p>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7265097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Straight Connector 14"/>
          <p:cNvCxnSpPr/>
          <p:nvPr/>
        </p:nvCxnSpPr>
        <p:spPr>
          <a:xfrm>
            <a:off x="836047" y="4725888"/>
            <a:ext cx="8286024" cy="0"/>
          </a:xfrm>
          <a:prstGeom prst="line">
            <a:avLst/>
          </a:prstGeom>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3733800" y="4572000"/>
            <a:ext cx="2238375" cy="338554"/>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sz="1600" dirty="0" smtClean="0">
                <a:latin typeface="Arial" panose="020B0604020202020204" pitchFamily="34" charset="0"/>
                <a:cs typeface="Arial" panose="020B0604020202020204" pitchFamily="34" charset="0"/>
              </a:rPr>
              <a:t>New Features</a:t>
            </a:r>
            <a:endParaRPr lang="en-US" sz="1600" dirty="0">
              <a:latin typeface="Arial" panose="020B0604020202020204" pitchFamily="34" charset="0"/>
              <a:cs typeface="Arial" panose="020B0604020202020204" pitchFamily="34" charset="0"/>
            </a:endParaRPr>
          </a:p>
        </p:txBody>
      </p:sp>
      <p:sp>
        <p:nvSpPr>
          <p:cNvPr id="2" name="Title 1"/>
          <p:cNvSpPr>
            <a:spLocks noGrp="1"/>
          </p:cNvSpPr>
          <p:nvPr>
            <p:ph type="title"/>
          </p:nvPr>
        </p:nvSpPr>
        <p:spPr>
          <a:xfrm>
            <a:off x="3023673" y="227542"/>
            <a:ext cx="6806130" cy="677966"/>
          </a:xfrm>
        </p:spPr>
        <p:txBody>
          <a:bodyPr/>
          <a:lstStyle/>
          <a:p>
            <a:r>
              <a:rPr lang="en-US" dirty="0"/>
              <a:t>Model </a:t>
            </a:r>
            <a:r>
              <a:rPr lang="en-US" dirty="0" smtClean="0"/>
              <a:t>Improvements</a:t>
            </a:r>
            <a:r>
              <a:rPr lang="zh-CN" altLang="en-US" dirty="0" smtClean="0"/>
              <a:t> </a:t>
            </a:r>
            <a:r>
              <a:rPr lang="en-US" altLang="zh-CN" dirty="0" smtClean="0"/>
              <a:t>IV</a:t>
            </a:r>
            <a:r>
              <a:rPr lang="en-US" dirty="0"/>
              <a:t/>
            </a:r>
            <a:br>
              <a:rPr lang="en-US" dirty="0"/>
            </a:br>
            <a:r>
              <a:rPr lang="en-US" dirty="0" smtClean="0"/>
              <a:t>Efficient R-Script</a:t>
            </a:r>
            <a:endParaRPr lang="en-US" dirty="0"/>
          </a:p>
        </p:txBody>
      </p:sp>
      <p:cxnSp>
        <p:nvCxnSpPr>
          <p:cNvPr id="13" name="Straight Connector 12"/>
          <p:cNvCxnSpPr/>
          <p:nvPr/>
        </p:nvCxnSpPr>
        <p:spPr>
          <a:xfrm>
            <a:off x="836047" y="1277838"/>
            <a:ext cx="8286024"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3733800" y="1123950"/>
            <a:ext cx="2238375" cy="338554"/>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sz="1600" dirty="0" smtClean="0">
                <a:latin typeface="Arial" panose="020B0604020202020204" pitchFamily="34" charset="0"/>
                <a:cs typeface="Arial" panose="020B0604020202020204" pitchFamily="34" charset="0"/>
              </a:rPr>
              <a:t>Code Efficiency</a:t>
            </a:r>
            <a:endParaRPr lang="en-US" sz="1600" dirty="0">
              <a:latin typeface="Arial" panose="020B0604020202020204" pitchFamily="34" charset="0"/>
              <a:cs typeface="Arial" panose="020B0604020202020204" pitchFamily="34" charset="0"/>
            </a:endParaRPr>
          </a:p>
        </p:txBody>
      </p:sp>
      <p:sp>
        <p:nvSpPr>
          <p:cNvPr id="3" name="TextBox 2"/>
          <p:cNvSpPr txBox="1"/>
          <p:nvPr/>
        </p:nvSpPr>
        <p:spPr>
          <a:xfrm>
            <a:off x="836047" y="1543050"/>
            <a:ext cx="8286024" cy="2769989"/>
          </a:xfrm>
          <a:prstGeom prst="rect">
            <a:avLst/>
          </a:prstGeom>
          <a:noFill/>
        </p:spPr>
        <p:txBody>
          <a:bodyPr wrap="square" rtlCol="0">
            <a:spAutoFit/>
          </a:bodyPr>
          <a:lstStyle/>
          <a:p>
            <a:r>
              <a:rPr lang="en-US" sz="1400" b="1" dirty="0" smtClean="0">
                <a:latin typeface="Arial" panose="020B0604020202020204" pitchFamily="34" charset="0"/>
                <a:cs typeface="Arial" panose="020B0604020202020204" pitchFamily="34" charset="0"/>
              </a:rPr>
              <a:t>Made every sub-component/functional calculation process a function:</a:t>
            </a:r>
          </a:p>
          <a:p>
            <a:r>
              <a:rPr lang="en-US" sz="1200" i="1" dirty="0">
                <a:latin typeface="Arial" panose="020B0604020202020204" pitchFamily="34" charset="0"/>
                <a:cs typeface="Arial" panose="020B0604020202020204" pitchFamily="34" charset="0"/>
              </a:rPr>
              <a:t>	R</a:t>
            </a:r>
            <a:r>
              <a:rPr lang="en-US" sz="1200" i="1" dirty="0" smtClean="0">
                <a:latin typeface="Arial" panose="020B0604020202020204" pitchFamily="34" charset="0"/>
                <a:cs typeface="Arial" panose="020B0604020202020204" pitchFamily="34" charset="0"/>
              </a:rPr>
              <a:t>efinancing model: reduce from 913 lines to 310 (reduce by </a:t>
            </a:r>
            <a:r>
              <a:rPr lang="en-US" sz="1200" b="1" i="1" dirty="0" smtClean="0">
                <a:latin typeface="Arial" panose="020B0604020202020204" pitchFamily="34" charset="0"/>
                <a:cs typeface="Arial" panose="020B0604020202020204" pitchFamily="34" charset="0"/>
              </a:rPr>
              <a:t>66%</a:t>
            </a:r>
            <a:r>
              <a:rPr lang="en-US" sz="1200" i="1" dirty="0" smtClean="0">
                <a:latin typeface="Arial" panose="020B0604020202020204" pitchFamily="34" charset="0"/>
                <a:cs typeface="Arial" panose="020B0604020202020204" pitchFamily="34" charset="0"/>
              </a:rPr>
              <a:t>) </a:t>
            </a:r>
          </a:p>
          <a:p>
            <a:r>
              <a:rPr lang="en-US" sz="1200" i="1" dirty="0">
                <a:latin typeface="Arial" panose="020B0604020202020204" pitchFamily="34" charset="0"/>
                <a:cs typeface="Arial" panose="020B0604020202020204" pitchFamily="34" charset="0"/>
              </a:rPr>
              <a:t>	</a:t>
            </a:r>
            <a:r>
              <a:rPr lang="en-US" sz="1200" i="1" dirty="0" smtClean="0">
                <a:latin typeface="Arial" panose="020B0604020202020204" pitchFamily="34" charset="0"/>
                <a:cs typeface="Arial" panose="020B0604020202020204" pitchFamily="34" charset="0"/>
              </a:rPr>
              <a:t>Turnover model: from 783 to 212 (</a:t>
            </a:r>
            <a:r>
              <a:rPr lang="en-US" sz="1200" i="1" dirty="0">
                <a:latin typeface="Arial" panose="020B0604020202020204" pitchFamily="34" charset="0"/>
                <a:cs typeface="Arial" panose="020B0604020202020204" pitchFamily="34" charset="0"/>
              </a:rPr>
              <a:t>reduce by </a:t>
            </a:r>
            <a:r>
              <a:rPr lang="en-US" sz="1200" b="1" i="1" dirty="0" smtClean="0">
                <a:latin typeface="Arial" panose="020B0604020202020204" pitchFamily="34" charset="0"/>
                <a:cs typeface="Arial" panose="020B0604020202020204" pitchFamily="34" charset="0"/>
              </a:rPr>
              <a:t>73%</a:t>
            </a:r>
            <a:r>
              <a:rPr lang="en-US" sz="1200" i="1" dirty="0" smtClean="0">
                <a:latin typeface="Arial" panose="020B0604020202020204" pitchFamily="34" charset="0"/>
                <a:cs typeface="Arial" panose="020B0604020202020204" pitchFamily="34" charset="0"/>
              </a:rPr>
              <a:t>)</a:t>
            </a:r>
          </a:p>
          <a:p>
            <a:r>
              <a:rPr lang="en-US" sz="1200" i="1" dirty="0" smtClean="0">
                <a:latin typeface="Arial" panose="020B0604020202020204" pitchFamily="34" charset="0"/>
                <a:cs typeface="Arial" panose="020B0604020202020204" pitchFamily="34" charset="0"/>
              </a:rPr>
              <a:t>	Default model: from 567 to 156 (</a:t>
            </a:r>
            <a:r>
              <a:rPr lang="en-US" sz="1200" i="1" dirty="0">
                <a:latin typeface="Arial" panose="020B0604020202020204" pitchFamily="34" charset="0"/>
                <a:cs typeface="Arial" panose="020B0604020202020204" pitchFamily="34" charset="0"/>
              </a:rPr>
              <a:t>reduce by </a:t>
            </a:r>
            <a:r>
              <a:rPr lang="en-US" sz="1200" b="1" i="1" dirty="0" smtClean="0">
                <a:latin typeface="Arial" panose="020B0604020202020204" pitchFamily="34" charset="0"/>
                <a:cs typeface="Arial" panose="020B0604020202020204" pitchFamily="34" charset="0"/>
              </a:rPr>
              <a:t>72%</a:t>
            </a:r>
            <a:r>
              <a:rPr lang="en-US" sz="1200" i="1" dirty="0" smtClean="0">
                <a:latin typeface="Arial" panose="020B0604020202020204" pitchFamily="34" charset="0"/>
                <a:cs typeface="Arial" panose="020B0604020202020204" pitchFamily="34" charset="0"/>
              </a:rPr>
              <a:t>)</a:t>
            </a:r>
          </a:p>
          <a:p>
            <a:r>
              <a:rPr lang="en-US" sz="1200" i="1" dirty="0">
                <a:latin typeface="Arial" panose="020B0604020202020204" pitchFamily="34" charset="0"/>
                <a:cs typeface="Arial" panose="020B0604020202020204" pitchFamily="34" charset="0"/>
              </a:rPr>
              <a:t>	</a:t>
            </a:r>
            <a:r>
              <a:rPr lang="en-US" sz="1200" i="1" dirty="0" smtClean="0">
                <a:latin typeface="Arial" panose="020B0604020202020204" pitchFamily="34" charset="0"/>
                <a:cs typeface="Arial" panose="020B0604020202020204" pitchFamily="34" charset="0"/>
              </a:rPr>
              <a:t>Curtailment model: </a:t>
            </a:r>
            <a:r>
              <a:rPr lang="en-US" sz="1200" i="1" dirty="0">
                <a:latin typeface="Arial" panose="020B0604020202020204" pitchFamily="34" charset="0"/>
                <a:cs typeface="Arial" panose="020B0604020202020204" pitchFamily="34" charset="0"/>
              </a:rPr>
              <a:t>from </a:t>
            </a:r>
            <a:r>
              <a:rPr lang="en-US" sz="1200" i="1" dirty="0" smtClean="0">
                <a:latin typeface="Arial" panose="020B0604020202020204" pitchFamily="34" charset="0"/>
                <a:cs typeface="Arial" panose="020B0604020202020204" pitchFamily="34" charset="0"/>
              </a:rPr>
              <a:t>98 </a:t>
            </a:r>
            <a:r>
              <a:rPr lang="en-US" sz="1200" i="1" dirty="0">
                <a:latin typeface="Arial" panose="020B0604020202020204" pitchFamily="34" charset="0"/>
                <a:cs typeface="Arial" panose="020B0604020202020204" pitchFamily="34" charset="0"/>
              </a:rPr>
              <a:t>to </a:t>
            </a:r>
            <a:r>
              <a:rPr lang="en-US" sz="1200" i="1" dirty="0" smtClean="0">
                <a:latin typeface="Arial" panose="020B0604020202020204" pitchFamily="34" charset="0"/>
                <a:cs typeface="Arial" panose="020B0604020202020204" pitchFamily="34" charset="0"/>
              </a:rPr>
              <a:t>65 </a:t>
            </a:r>
            <a:r>
              <a:rPr lang="en-US" sz="1200" i="1" dirty="0">
                <a:latin typeface="Arial" panose="020B0604020202020204" pitchFamily="34" charset="0"/>
                <a:cs typeface="Arial" panose="020B0604020202020204" pitchFamily="34" charset="0"/>
              </a:rPr>
              <a:t>(reduce by </a:t>
            </a:r>
            <a:r>
              <a:rPr lang="en-US" sz="1200" b="1" i="1" dirty="0" smtClean="0">
                <a:latin typeface="Arial" panose="020B0604020202020204" pitchFamily="34" charset="0"/>
                <a:cs typeface="Arial" panose="020B0604020202020204" pitchFamily="34" charset="0"/>
              </a:rPr>
              <a:t>34%</a:t>
            </a:r>
            <a:r>
              <a:rPr lang="en-US" sz="1200" i="1" dirty="0" smtClean="0">
                <a:latin typeface="Arial" panose="020B0604020202020204" pitchFamily="34" charset="0"/>
                <a:cs typeface="Arial" panose="020B0604020202020204" pitchFamily="34" charset="0"/>
              </a:rPr>
              <a:t>)</a:t>
            </a:r>
          </a:p>
          <a:p>
            <a:r>
              <a:rPr lang="en-US" sz="1400" dirty="0" smtClean="0">
                <a:latin typeface="Arial" panose="020B0604020202020204" pitchFamily="34" charset="0"/>
                <a:cs typeface="Arial" panose="020B0604020202020204" pitchFamily="34" charset="0"/>
              </a:rPr>
              <a:t>Total reduce: from 2361 to 743 (reduce by </a:t>
            </a:r>
            <a:r>
              <a:rPr lang="en-US" sz="1400" b="1" dirty="0" smtClean="0">
                <a:latin typeface="Arial" panose="020B0604020202020204" pitchFamily="34" charset="0"/>
                <a:cs typeface="Arial" panose="020B0604020202020204" pitchFamily="34" charset="0"/>
              </a:rPr>
              <a:t>68.5%</a:t>
            </a:r>
            <a:r>
              <a:rPr lang="en-US" sz="1400" dirty="0" smtClean="0">
                <a:latin typeface="Arial" panose="020B0604020202020204" pitchFamily="34" charset="0"/>
                <a:cs typeface="Arial" panose="020B0604020202020204" pitchFamily="34" charset="0"/>
              </a:rPr>
              <a:t>)</a:t>
            </a:r>
          </a:p>
          <a:p>
            <a:endParaRPr lang="en-US" sz="1400" dirty="0">
              <a:latin typeface="Arial" panose="020B0604020202020204" pitchFamily="34" charset="0"/>
              <a:cs typeface="Arial" panose="020B0604020202020204" pitchFamily="34" charset="0"/>
            </a:endParaRPr>
          </a:p>
          <a:p>
            <a:r>
              <a:rPr lang="en-US" sz="1400" b="1" dirty="0" smtClean="0">
                <a:latin typeface="Arial" panose="020B0604020202020204" pitchFamily="34" charset="0"/>
                <a:cs typeface="Arial" panose="020B0604020202020204" pitchFamily="34" charset="0"/>
              </a:rPr>
              <a:t>Remove manual execution: </a:t>
            </a:r>
            <a:r>
              <a:rPr lang="en-US" sz="1400" dirty="0" smtClean="0">
                <a:latin typeface="Arial" panose="020B0604020202020204" pitchFamily="34" charset="0"/>
                <a:cs typeface="Arial" panose="020B0604020202020204" pitchFamily="34" charset="0"/>
              </a:rPr>
              <a:t>	only need to call one function for each component</a:t>
            </a:r>
          </a:p>
          <a:p>
            <a:r>
              <a:rPr lang="en-US" sz="1400" dirty="0">
                <a:latin typeface="Arial" panose="020B0604020202020204" pitchFamily="34" charset="0"/>
                <a:cs typeface="Arial" panose="020B0604020202020204" pitchFamily="34" charset="0"/>
              </a:rPr>
              <a:t>	</a:t>
            </a:r>
            <a:r>
              <a:rPr lang="en-US" sz="1400" dirty="0" smtClean="0">
                <a:latin typeface="Arial" panose="020B0604020202020204" pitchFamily="34" charset="0"/>
                <a:cs typeface="Arial" panose="020B0604020202020204" pitchFamily="34" charset="0"/>
              </a:rPr>
              <a:t>		easy to add/delete factors in sub-model</a:t>
            </a:r>
          </a:p>
          <a:p>
            <a:r>
              <a:rPr lang="en-US" sz="1400" dirty="0">
                <a:latin typeface="Arial" panose="020B0604020202020204" pitchFamily="34" charset="0"/>
                <a:cs typeface="Arial" panose="020B0604020202020204" pitchFamily="34" charset="0"/>
              </a:rPr>
              <a:t>	</a:t>
            </a:r>
            <a:r>
              <a:rPr lang="en-US" sz="1400" dirty="0" smtClean="0">
                <a:latin typeface="Arial" panose="020B0604020202020204" pitchFamily="34" charset="0"/>
                <a:cs typeface="Arial" panose="020B0604020202020204" pitchFamily="34" charset="0"/>
              </a:rPr>
              <a:t>		easy to change functional calculation method</a:t>
            </a:r>
          </a:p>
          <a:p>
            <a:endParaRPr lang="en-US" sz="1400" dirty="0">
              <a:latin typeface="Arial" panose="020B0604020202020204" pitchFamily="34" charset="0"/>
              <a:cs typeface="Arial" panose="020B0604020202020204" pitchFamily="34" charset="0"/>
            </a:endParaRPr>
          </a:p>
          <a:p>
            <a:r>
              <a:rPr lang="en-US" sz="1400" b="1" dirty="0" smtClean="0">
                <a:latin typeface="Arial" panose="020B0604020202020204" pitchFamily="34" charset="0"/>
                <a:cs typeface="Arial" panose="020B0604020202020204" pitchFamily="34" charset="0"/>
              </a:rPr>
              <a:t>Remove most loop calculation: 	</a:t>
            </a:r>
            <a:r>
              <a:rPr lang="en-US" sz="1400" dirty="0" smtClean="0">
                <a:latin typeface="Arial" panose="020B0604020202020204" pitchFamily="34" charset="0"/>
                <a:cs typeface="Arial" panose="020B0604020202020204" pitchFamily="34" charset="0"/>
              </a:rPr>
              <a:t>Loop in R is the </a:t>
            </a:r>
            <a:r>
              <a:rPr lang="en-US" sz="1400" dirty="0">
                <a:latin typeface="Arial" panose="020B0604020202020204" pitchFamily="34" charset="0"/>
                <a:cs typeface="Arial" panose="020B0604020202020204" pitchFamily="34" charset="0"/>
              </a:rPr>
              <a:t>most time </a:t>
            </a:r>
            <a:r>
              <a:rPr lang="en-US" sz="1400" dirty="0" smtClean="0">
                <a:latin typeface="Arial" panose="020B0604020202020204" pitchFamily="34" charset="0"/>
                <a:cs typeface="Arial" panose="020B0604020202020204" pitchFamily="34" charset="0"/>
              </a:rPr>
              <a:t>consuming part</a:t>
            </a:r>
          </a:p>
          <a:p>
            <a:r>
              <a:rPr lang="en-US" sz="1400" dirty="0">
                <a:latin typeface="Arial" panose="020B0604020202020204" pitchFamily="34" charset="0"/>
                <a:cs typeface="Arial" panose="020B0604020202020204" pitchFamily="34" charset="0"/>
              </a:rPr>
              <a:t>	</a:t>
            </a:r>
            <a:r>
              <a:rPr lang="en-US" sz="1400" dirty="0" smtClean="0">
                <a:latin typeface="Arial" panose="020B0604020202020204" pitchFamily="34" charset="0"/>
                <a:cs typeface="Arial" panose="020B0604020202020204" pitchFamily="34" charset="0"/>
              </a:rPr>
              <a:t>		change loops with matrix function</a:t>
            </a:r>
            <a:endParaRPr lang="en-US" sz="1400" dirty="0">
              <a:latin typeface="Arial" panose="020B0604020202020204" pitchFamily="34" charset="0"/>
              <a:cs typeface="Arial" panose="020B0604020202020204" pitchFamily="34" charset="0"/>
            </a:endParaRPr>
          </a:p>
        </p:txBody>
      </p:sp>
      <p:pic>
        <p:nvPicPr>
          <p:cNvPr id="2048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24114" y="1462504"/>
            <a:ext cx="1800861" cy="14655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483" name="Picture 3" descr="C:\Rwd\ppmRCode_1.5\Result\Overall\tracking98_14.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23648" y="4986754"/>
            <a:ext cx="1670050" cy="2115168"/>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p:cNvSpPr txBox="1"/>
          <p:nvPr/>
        </p:nvSpPr>
        <p:spPr>
          <a:xfrm>
            <a:off x="877047" y="4986754"/>
            <a:ext cx="1780427" cy="954107"/>
          </a:xfrm>
          <a:prstGeom prst="rect">
            <a:avLst/>
          </a:prstGeom>
          <a:noFill/>
        </p:spPr>
        <p:txBody>
          <a:bodyPr wrap="square" rtlCol="0">
            <a:spAutoFit/>
          </a:bodyPr>
          <a:lstStyle/>
          <a:p>
            <a:r>
              <a:rPr lang="en-US" sz="1400" dirty="0" smtClean="0">
                <a:latin typeface="Arial" panose="020B0604020202020204" pitchFamily="34" charset="0"/>
                <a:cs typeface="Arial" panose="020B0604020202020204" pitchFamily="34" charset="0"/>
              </a:rPr>
              <a:t>Visualize the quality of sub-model fitting across various prepayment data.</a:t>
            </a:r>
            <a:endParaRPr lang="en-US" sz="1400" dirty="0">
              <a:latin typeface="Arial" panose="020B0604020202020204" pitchFamily="34" charset="0"/>
              <a:cs typeface="Arial" panose="020B0604020202020204" pitchFamily="34" charset="0"/>
            </a:endParaRPr>
          </a:p>
        </p:txBody>
      </p:sp>
      <p:pic>
        <p:nvPicPr>
          <p:cNvPr id="20484" name="Picture 4" descr="C:\Rwd\ppmRCode_1.5\Result\tracking\Refi_incentive.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52527" y="5974497"/>
            <a:ext cx="1205948" cy="1205948"/>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Straight Connector 11"/>
          <p:cNvCxnSpPr/>
          <p:nvPr/>
        </p:nvCxnSpPr>
        <p:spPr>
          <a:xfrm>
            <a:off x="4979059" y="5076825"/>
            <a:ext cx="0" cy="2025097"/>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5438775" y="5136397"/>
            <a:ext cx="3683296" cy="1815882"/>
          </a:xfrm>
          <a:prstGeom prst="rect">
            <a:avLst/>
          </a:prstGeom>
          <a:noFill/>
        </p:spPr>
        <p:txBody>
          <a:bodyPr wrap="square" rtlCol="0">
            <a:spAutoFit/>
          </a:bodyPr>
          <a:lstStyle/>
          <a:p>
            <a:r>
              <a:rPr lang="en-US" sz="1400" dirty="0" smtClean="0">
                <a:latin typeface="Arial" panose="020B0604020202020204" pitchFamily="34" charset="0"/>
                <a:cs typeface="Arial" panose="020B0604020202020204" pitchFamily="34" charset="0"/>
              </a:rPr>
              <a:t>Building spline function:</a:t>
            </a:r>
          </a:p>
          <a:p>
            <a:r>
              <a:rPr lang="en-US" sz="1400" dirty="0" smtClean="0">
                <a:latin typeface="Arial" panose="020B0604020202020204" pitchFamily="34" charset="0"/>
                <a:cs typeface="Arial" panose="020B0604020202020204" pitchFamily="34" charset="0"/>
              </a:rPr>
              <a:t>Includes 3 different spline function, easy to choose:</a:t>
            </a:r>
          </a:p>
          <a:p>
            <a:pPr marL="285750" indent="-285750">
              <a:buFont typeface="Arial" panose="020B0604020202020204" pitchFamily="34" charset="0"/>
              <a:buChar char="•"/>
            </a:pPr>
            <a:r>
              <a:rPr lang="it-IT" sz="1400" dirty="0" smtClean="0">
                <a:latin typeface="Arial" panose="020B0604020202020204" pitchFamily="34" charset="0"/>
                <a:cs typeface="Arial" panose="020B0604020202020204" pitchFamily="34" charset="0"/>
              </a:rPr>
              <a:t>Smooth spline</a:t>
            </a:r>
            <a:endParaRPr lang="it-IT" sz="1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it-IT" sz="1400" dirty="0">
                <a:latin typeface="Arial" panose="020B0604020202020204" pitchFamily="34" charset="0"/>
                <a:cs typeface="Arial" panose="020B0604020202020204" pitchFamily="34" charset="0"/>
              </a:rPr>
              <a:t>N</a:t>
            </a:r>
            <a:r>
              <a:rPr lang="it-IT" sz="1400" dirty="0" smtClean="0">
                <a:latin typeface="Arial" panose="020B0604020202020204" pitchFamily="34" charset="0"/>
                <a:cs typeface="Arial" panose="020B0604020202020204" pitchFamily="34" charset="0"/>
              </a:rPr>
              <a:t>atural </a:t>
            </a:r>
            <a:r>
              <a:rPr lang="it-IT" sz="1400" dirty="0">
                <a:latin typeface="Arial" panose="020B0604020202020204" pitchFamily="34" charset="0"/>
                <a:cs typeface="Arial" panose="020B0604020202020204" pitchFamily="34" charset="0"/>
              </a:rPr>
              <a:t>spline</a:t>
            </a:r>
          </a:p>
          <a:p>
            <a:pPr marL="285750" indent="-285750">
              <a:buFont typeface="Arial" panose="020B0604020202020204" pitchFamily="34" charset="0"/>
              <a:buChar char="•"/>
            </a:pPr>
            <a:r>
              <a:rPr lang="it-IT" sz="1400" dirty="0" smtClean="0">
                <a:latin typeface="Arial" panose="020B0604020202020204" pitchFamily="34" charset="0"/>
                <a:cs typeface="Arial" panose="020B0604020202020204" pitchFamily="34" charset="0"/>
              </a:rPr>
              <a:t>Hermite </a:t>
            </a:r>
            <a:r>
              <a:rPr lang="it-IT" sz="1400" dirty="0">
                <a:latin typeface="Arial" panose="020B0604020202020204" pitchFamily="34" charset="0"/>
                <a:cs typeface="Arial" panose="020B0604020202020204" pitchFamily="34" charset="0"/>
              </a:rPr>
              <a:t>spline</a:t>
            </a:r>
          </a:p>
          <a:p>
            <a:endParaRPr lang="en-US" sz="1400" dirty="0"/>
          </a:p>
          <a:p>
            <a:endParaRPr lang="en-US" sz="1400" dirty="0"/>
          </a:p>
        </p:txBody>
      </p:sp>
    </p:spTree>
    <p:extLst>
      <p:ext uri="{BB962C8B-B14F-4D97-AF65-F5344CB8AC3E}">
        <p14:creationId xmlns:p14="http://schemas.microsoft.com/office/powerpoint/2010/main" val="219202028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23673" y="227542"/>
            <a:ext cx="6806130" cy="677966"/>
          </a:xfrm>
        </p:spPr>
        <p:txBody>
          <a:bodyPr/>
          <a:lstStyle/>
          <a:p>
            <a:r>
              <a:rPr lang="en-US" dirty="0" smtClean="0"/>
              <a:t>Version </a:t>
            </a:r>
            <a:r>
              <a:rPr lang="en-US" altLang="zh-CN" dirty="0"/>
              <a:t>R</a:t>
            </a:r>
            <a:r>
              <a:rPr lang="en-US" altLang="zh-CN" dirty="0" smtClean="0"/>
              <a:t>eview</a:t>
            </a:r>
            <a:r>
              <a:rPr lang="en-US" dirty="0"/>
              <a:t/>
            </a:r>
            <a:br>
              <a:rPr lang="en-US" dirty="0"/>
            </a:b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1589054081"/>
              </p:ext>
            </p:extLst>
          </p:nvPr>
        </p:nvGraphicFramePr>
        <p:xfrm>
          <a:off x="695325" y="1044575"/>
          <a:ext cx="8848725" cy="6162440"/>
        </p:xfrm>
        <a:graphic>
          <a:graphicData uri="http://schemas.openxmlformats.org/drawingml/2006/table">
            <a:tbl>
              <a:tblPr>
                <a:tableStyleId>{5C22544A-7EE6-4342-B048-85BDC9FD1C3A}</a:tableStyleId>
              </a:tblPr>
              <a:tblGrid>
                <a:gridCol w="2432908"/>
                <a:gridCol w="4532273"/>
                <a:gridCol w="1883544"/>
              </a:tblGrid>
              <a:tr h="109084">
                <a:tc>
                  <a:txBody>
                    <a:bodyPr/>
                    <a:lstStyle/>
                    <a:p>
                      <a:pPr algn="ctr" fontAlgn="ctr"/>
                      <a:r>
                        <a:rPr lang="en-US" sz="800" u="none" strike="noStrike" dirty="0">
                          <a:solidFill>
                            <a:schemeClr val="bg1"/>
                          </a:solidFill>
                          <a:effectLst/>
                        </a:rPr>
                        <a:t>R Script Folder</a:t>
                      </a:r>
                      <a:endParaRPr lang="en-US" sz="800" b="0" i="0" u="none" strike="noStrike" dirty="0">
                        <a:solidFill>
                          <a:schemeClr val="bg1"/>
                        </a:solidFill>
                        <a:effectLst/>
                        <a:latin typeface="Calibri"/>
                      </a:endParaRPr>
                    </a:p>
                  </a:txBody>
                  <a:tcPr marL="5076" marR="5076" marT="5076" marB="0" anchor="ctr">
                    <a:solidFill>
                      <a:schemeClr val="accent6"/>
                    </a:solidFill>
                  </a:tcPr>
                </a:tc>
                <a:tc>
                  <a:txBody>
                    <a:bodyPr/>
                    <a:lstStyle/>
                    <a:p>
                      <a:pPr algn="ctr" fontAlgn="ctr"/>
                      <a:r>
                        <a:rPr lang="en-US" sz="800" u="none" strike="noStrike" dirty="0">
                          <a:solidFill>
                            <a:schemeClr val="bg1"/>
                          </a:solidFill>
                          <a:effectLst/>
                        </a:rPr>
                        <a:t>Description</a:t>
                      </a:r>
                      <a:endParaRPr lang="en-US" sz="800" b="0" i="0" u="none" strike="noStrike" dirty="0">
                        <a:solidFill>
                          <a:schemeClr val="bg1"/>
                        </a:solidFill>
                        <a:effectLst/>
                        <a:latin typeface="Calibri"/>
                      </a:endParaRPr>
                    </a:p>
                  </a:txBody>
                  <a:tcPr marL="5076" marR="5076" marT="5076" marB="0" anchor="ctr">
                    <a:solidFill>
                      <a:schemeClr val="accent6"/>
                    </a:solidFill>
                  </a:tcPr>
                </a:tc>
                <a:tc>
                  <a:txBody>
                    <a:bodyPr/>
                    <a:lstStyle/>
                    <a:p>
                      <a:pPr algn="ctr" fontAlgn="ctr"/>
                      <a:r>
                        <a:rPr lang="en-US" sz="800" u="none" strike="noStrike" dirty="0">
                          <a:solidFill>
                            <a:schemeClr val="bg1"/>
                          </a:solidFill>
                          <a:effectLst/>
                        </a:rPr>
                        <a:t>Final Changed Date</a:t>
                      </a:r>
                      <a:endParaRPr lang="en-US" sz="800" b="0" i="0" u="none" strike="noStrike" dirty="0">
                        <a:solidFill>
                          <a:schemeClr val="bg1"/>
                        </a:solidFill>
                        <a:effectLst/>
                        <a:latin typeface="Calibri"/>
                      </a:endParaRPr>
                    </a:p>
                  </a:txBody>
                  <a:tcPr marL="5076" marR="5076" marT="5076" marB="0" anchor="ctr">
                    <a:solidFill>
                      <a:schemeClr val="accent6"/>
                    </a:solidFill>
                  </a:tcPr>
                </a:tc>
              </a:tr>
              <a:tr h="109084">
                <a:tc>
                  <a:txBody>
                    <a:bodyPr/>
                    <a:lstStyle/>
                    <a:p>
                      <a:pPr algn="l" fontAlgn="ctr"/>
                      <a:r>
                        <a:rPr lang="en-US" sz="800" u="none" strike="noStrike">
                          <a:effectLst/>
                        </a:rPr>
                        <a:t>ppmRCode_1.2</a:t>
                      </a:r>
                      <a:endParaRPr lang="en-US" sz="800" b="0" i="0" u="none" strike="noStrike">
                        <a:solidFill>
                          <a:srgbClr val="000000"/>
                        </a:solidFill>
                        <a:effectLst/>
                        <a:latin typeface="Calibri"/>
                      </a:endParaRPr>
                    </a:p>
                  </a:txBody>
                  <a:tcPr marL="5076" marR="5076" marT="5076" marB="0" anchor="ctr"/>
                </a:tc>
                <a:tc>
                  <a:txBody>
                    <a:bodyPr/>
                    <a:lstStyle/>
                    <a:p>
                      <a:pPr algn="l" fontAlgn="ctr"/>
                      <a:r>
                        <a:rPr lang="en-US" sz="800" u="none" strike="noStrike">
                          <a:effectLst/>
                        </a:rPr>
                        <a:t>Bin's latest version</a:t>
                      </a:r>
                      <a:endParaRPr lang="en-US" sz="800" b="0" i="0" u="none" strike="noStrike">
                        <a:solidFill>
                          <a:srgbClr val="000000"/>
                        </a:solidFill>
                        <a:effectLst/>
                        <a:latin typeface="Calibri"/>
                      </a:endParaRPr>
                    </a:p>
                  </a:txBody>
                  <a:tcPr marL="5076" marR="5076" marT="5076" marB="0" anchor="ctr"/>
                </a:tc>
                <a:tc>
                  <a:txBody>
                    <a:bodyPr/>
                    <a:lstStyle/>
                    <a:p>
                      <a:pPr algn="l" fontAlgn="ctr"/>
                      <a:endParaRPr lang="en-US" sz="800" b="0" i="0" u="none" strike="noStrike" dirty="0">
                        <a:solidFill>
                          <a:srgbClr val="000000"/>
                        </a:solidFill>
                        <a:effectLst/>
                        <a:latin typeface="Calibri"/>
                      </a:endParaRPr>
                    </a:p>
                  </a:txBody>
                  <a:tcPr marL="5076" marR="5076" marT="5076" marB="0" anchor="ctr"/>
                </a:tc>
              </a:tr>
              <a:tr h="436336">
                <a:tc>
                  <a:txBody>
                    <a:bodyPr/>
                    <a:lstStyle/>
                    <a:p>
                      <a:pPr algn="l" fontAlgn="ctr"/>
                      <a:r>
                        <a:rPr lang="en-US" sz="800" u="none" strike="noStrike">
                          <a:effectLst/>
                        </a:rPr>
                        <a:t>ppmRCode_1.2.1</a:t>
                      </a:r>
                      <a:endParaRPr lang="en-US" sz="800" b="0" i="0" u="none" strike="noStrike">
                        <a:solidFill>
                          <a:srgbClr val="000000"/>
                        </a:solidFill>
                        <a:effectLst/>
                        <a:latin typeface="Calibri"/>
                      </a:endParaRPr>
                    </a:p>
                  </a:txBody>
                  <a:tcPr marL="5076" marR="5076" marT="5076" marB="0" anchor="ctr"/>
                </a:tc>
                <a:tc>
                  <a:txBody>
                    <a:bodyPr/>
                    <a:lstStyle/>
                    <a:p>
                      <a:pPr algn="l" fontAlgn="ctr"/>
                      <a:r>
                        <a:rPr lang="en-US" sz="800" u="none" strike="noStrike">
                          <a:effectLst/>
                        </a:rPr>
                        <a:t>Previous Version: ppmRCode_1.2;</a:t>
                      </a:r>
                      <a:br>
                        <a:rPr lang="en-US" sz="800" u="none" strike="noStrike">
                          <a:effectLst/>
                        </a:rPr>
                      </a:br>
                      <a:r>
                        <a:rPr lang="en-US" sz="800" u="none" strike="noStrike">
                          <a:effectLst/>
                        </a:rPr>
                        <a:t>Bug fixed: manual copy wrong parameters;</a:t>
                      </a:r>
                      <a:br>
                        <a:rPr lang="en-US" sz="800" u="none" strike="noStrike">
                          <a:effectLst/>
                        </a:rPr>
                      </a:br>
                      <a:r>
                        <a:rPr lang="en-US" sz="800" u="none" strike="noStrike">
                          <a:effectLst/>
                        </a:rPr>
                        <a:t>finished the 2nd time spline optimization using least square optimal results.</a:t>
                      </a:r>
                      <a:endParaRPr lang="en-US" sz="800" b="0" i="0" u="none" strike="noStrike">
                        <a:solidFill>
                          <a:srgbClr val="000000"/>
                        </a:solidFill>
                        <a:effectLst/>
                        <a:latin typeface="Calibri"/>
                      </a:endParaRPr>
                    </a:p>
                  </a:txBody>
                  <a:tcPr marL="5076" marR="5076" marT="5076" marB="0" anchor="ctr"/>
                </a:tc>
                <a:tc>
                  <a:txBody>
                    <a:bodyPr/>
                    <a:lstStyle/>
                    <a:p>
                      <a:pPr algn="l" fontAlgn="ctr"/>
                      <a:r>
                        <a:rPr lang="en-US" sz="800" u="none" strike="noStrike">
                          <a:effectLst/>
                        </a:rPr>
                        <a:t>7/9/2014</a:t>
                      </a:r>
                      <a:endParaRPr lang="en-US" sz="800" b="0" i="0" u="none" strike="noStrike">
                        <a:solidFill>
                          <a:srgbClr val="000000"/>
                        </a:solidFill>
                        <a:effectLst/>
                        <a:latin typeface="Calibri"/>
                      </a:endParaRPr>
                    </a:p>
                  </a:txBody>
                  <a:tcPr marL="5076" marR="5076" marT="5076" marB="0" anchor="ctr"/>
                </a:tc>
              </a:tr>
              <a:tr h="763588">
                <a:tc>
                  <a:txBody>
                    <a:bodyPr/>
                    <a:lstStyle/>
                    <a:p>
                      <a:pPr algn="l" fontAlgn="ctr"/>
                      <a:r>
                        <a:rPr lang="en-US" sz="800" u="none" strike="noStrike">
                          <a:effectLst/>
                        </a:rPr>
                        <a:t>ppmRCode_1.3</a:t>
                      </a:r>
                      <a:endParaRPr lang="en-US" sz="800" b="0" i="0" u="none" strike="noStrike">
                        <a:solidFill>
                          <a:srgbClr val="000000"/>
                        </a:solidFill>
                        <a:effectLst/>
                        <a:latin typeface="Calibri"/>
                      </a:endParaRPr>
                    </a:p>
                  </a:txBody>
                  <a:tcPr marL="5076" marR="5076" marT="5076" marB="0" anchor="ctr"/>
                </a:tc>
                <a:tc>
                  <a:txBody>
                    <a:bodyPr/>
                    <a:lstStyle/>
                    <a:p>
                      <a:pPr algn="l" fontAlgn="ctr"/>
                      <a:r>
                        <a:rPr lang="en-US" sz="800" u="none" strike="noStrike" dirty="0">
                          <a:effectLst/>
                        </a:rPr>
                        <a:t>Previous Version: ppmRCode_1.2.1;</a:t>
                      </a:r>
                      <a:br>
                        <a:rPr lang="en-US" sz="800" u="none" strike="noStrike" dirty="0">
                          <a:effectLst/>
                        </a:rPr>
                      </a:br>
                      <a:r>
                        <a:rPr lang="en-US" sz="800" u="none" strike="noStrike" dirty="0">
                          <a:effectLst/>
                        </a:rPr>
                        <a:t>make every fitting and tracking components a function, easy to add or delete factors;</a:t>
                      </a:r>
                      <a:br>
                        <a:rPr lang="en-US" sz="800" u="none" strike="noStrike" dirty="0">
                          <a:effectLst/>
                        </a:rPr>
                      </a:br>
                      <a:r>
                        <a:rPr lang="en-US" sz="800" u="none" strike="noStrike" dirty="0">
                          <a:effectLst/>
                        </a:rPr>
                        <a:t>reduce loop calculations;</a:t>
                      </a:r>
                      <a:br>
                        <a:rPr lang="en-US" sz="800" u="none" strike="noStrike" dirty="0">
                          <a:effectLst/>
                        </a:rPr>
                      </a:br>
                      <a:r>
                        <a:rPr lang="en-US" sz="800" b="1" u="none" strike="noStrike" dirty="0">
                          <a:effectLst/>
                        </a:rPr>
                        <a:t>Provide same result as folder ppmRCode_1.2.1</a:t>
                      </a:r>
                      <a:r>
                        <a:rPr lang="en-US" sz="800" u="none" strike="noStrike" dirty="0">
                          <a:effectLst/>
                        </a:rPr>
                        <a:t>.</a:t>
                      </a:r>
                      <a:br>
                        <a:rPr lang="en-US" sz="800" u="none" strike="noStrike" dirty="0">
                          <a:effectLst/>
                        </a:rPr>
                      </a:br>
                      <a:r>
                        <a:rPr lang="en-US" sz="800" u="none" strike="noStrike" dirty="0">
                          <a:effectLst/>
                        </a:rPr>
                        <a:t>local storage raw data and calculation data, easy to track;</a:t>
                      </a:r>
                      <a:endParaRPr lang="en-US" sz="800" b="0" i="0" u="none" strike="noStrike" dirty="0">
                        <a:solidFill>
                          <a:srgbClr val="000000"/>
                        </a:solidFill>
                        <a:effectLst/>
                        <a:latin typeface="Calibri"/>
                      </a:endParaRPr>
                    </a:p>
                  </a:txBody>
                  <a:tcPr marL="5076" marR="5076" marT="5076" marB="0" anchor="ctr"/>
                </a:tc>
                <a:tc>
                  <a:txBody>
                    <a:bodyPr/>
                    <a:lstStyle/>
                    <a:p>
                      <a:pPr algn="l" fontAlgn="ctr"/>
                      <a:r>
                        <a:rPr lang="en-US" sz="800" u="none" strike="noStrike">
                          <a:effectLst/>
                        </a:rPr>
                        <a:t>7/17/2014</a:t>
                      </a:r>
                      <a:endParaRPr lang="en-US" sz="800" b="0" i="0" u="none" strike="noStrike">
                        <a:solidFill>
                          <a:srgbClr val="000000"/>
                        </a:solidFill>
                        <a:effectLst/>
                        <a:latin typeface="Calibri"/>
                      </a:endParaRPr>
                    </a:p>
                  </a:txBody>
                  <a:tcPr marL="5076" marR="5076" marT="5076" marB="0" anchor="ctr"/>
                </a:tc>
              </a:tr>
              <a:tr h="545420">
                <a:tc>
                  <a:txBody>
                    <a:bodyPr/>
                    <a:lstStyle/>
                    <a:p>
                      <a:pPr algn="l" fontAlgn="ctr"/>
                      <a:r>
                        <a:rPr lang="en-US" sz="800" u="none" strike="noStrike">
                          <a:effectLst/>
                        </a:rPr>
                        <a:t>ppmRCode_1.3.1</a:t>
                      </a:r>
                      <a:endParaRPr lang="en-US" sz="800" b="0" i="0" u="none" strike="noStrike">
                        <a:solidFill>
                          <a:srgbClr val="000000"/>
                        </a:solidFill>
                        <a:effectLst/>
                        <a:latin typeface="Calibri"/>
                      </a:endParaRPr>
                    </a:p>
                  </a:txBody>
                  <a:tcPr marL="5076" marR="5076" marT="5076" marB="0" anchor="ctr"/>
                </a:tc>
                <a:tc>
                  <a:txBody>
                    <a:bodyPr/>
                    <a:lstStyle/>
                    <a:p>
                      <a:pPr algn="l" fontAlgn="ctr"/>
                      <a:r>
                        <a:rPr lang="en-US" sz="800" u="none" strike="noStrike" dirty="0">
                          <a:effectLst/>
                        </a:rPr>
                        <a:t>Previous Version: ppmRCode_1.3;</a:t>
                      </a:r>
                      <a:br>
                        <a:rPr lang="en-US" sz="800" u="none" strike="noStrike" dirty="0">
                          <a:effectLst/>
                        </a:rPr>
                      </a:br>
                      <a:r>
                        <a:rPr lang="en-US" sz="800" u="none" strike="noStrike" dirty="0">
                          <a:effectLst/>
                        </a:rPr>
                        <a:t>Change spline function(from smooth to </a:t>
                      </a:r>
                      <a:r>
                        <a:rPr lang="en-US" sz="800" u="none" strike="noStrike" dirty="0" err="1">
                          <a:effectLst/>
                        </a:rPr>
                        <a:t>hermite</a:t>
                      </a:r>
                      <a:r>
                        <a:rPr lang="en-US" sz="800" u="none" strike="noStrike" dirty="0">
                          <a:effectLst/>
                        </a:rPr>
                        <a:t>) for tracking function;</a:t>
                      </a:r>
                      <a:br>
                        <a:rPr lang="en-US" sz="800" u="none" strike="noStrike" dirty="0">
                          <a:effectLst/>
                        </a:rPr>
                      </a:br>
                      <a:r>
                        <a:rPr lang="en-US" sz="800" u="none" strike="noStrike" dirty="0">
                          <a:effectLst/>
                        </a:rPr>
                        <a:t>Research on media effect and credit availability.</a:t>
                      </a:r>
                      <a:endParaRPr lang="en-US" sz="800" b="0" i="0" u="none" strike="noStrike" dirty="0">
                        <a:solidFill>
                          <a:srgbClr val="000000"/>
                        </a:solidFill>
                        <a:effectLst/>
                        <a:latin typeface="Calibri"/>
                      </a:endParaRPr>
                    </a:p>
                  </a:txBody>
                  <a:tcPr marL="5076" marR="5076" marT="5076" marB="0" anchor="ctr"/>
                </a:tc>
                <a:tc>
                  <a:txBody>
                    <a:bodyPr/>
                    <a:lstStyle/>
                    <a:p>
                      <a:pPr algn="l" fontAlgn="ctr"/>
                      <a:r>
                        <a:rPr lang="en-US" sz="800" u="none" strike="noStrike">
                          <a:effectLst/>
                        </a:rPr>
                        <a:t>8/6/2014</a:t>
                      </a:r>
                      <a:endParaRPr lang="en-US" sz="800" b="0" i="0" u="none" strike="noStrike">
                        <a:solidFill>
                          <a:srgbClr val="000000"/>
                        </a:solidFill>
                        <a:effectLst/>
                        <a:latin typeface="Calibri"/>
                      </a:endParaRPr>
                    </a:p>
                  </a:txBody>
                  <a:tcPr marL="5076" marR="5076" marT="5076" marB="0" anchor="ctr"/>
                </a:tc>
              </a:tr>
              <a:tr h="109084">
                <a:tc>
                  <a:txBody>
                    <a:bodyPr/>
                    <a:lstStyle/>
                    <a:p>
                      <a:pPr algn="l" fontAlgn="ctr"/>
                      <a:r>
                        <a:rPr lang="en-US" sz="800" u="none" strike="noStrike">
                          <a:effectLst/>
                        </a:rPr>
                        <a:t>ppmRCode_1.3.1/ME1</a:t>
                      </a:r>
                      <a:endParaRPr lang="en-US" sz="800" b="0" i="0" u="none" strike="noStrike">
                        <a:solidFill>
                          <a:srgbClr val="000000"/>
                        </a:solidFill>
                        <a:effectLst/>
                        <a:latin typeface="Calibri"/>
                      </a:endParaRPr>
                    </a:p>
                  </a:txBody>
                  <a:tcPr marL="91363" marR="5076" marT="5076" marB="0" anchor="ctr"/>
                </a:tc>
                <a:tc>
                  <a:txBody>
                    <a:bodyPr/>
                    <a:lstStyle/>
                    <a:p>
                      <a:pPr algn="l" fontAlgn="ctr"/>
                      <a:r>
                        <a:rPr lang="en-US" sz="800" u="none" strike="noStrike">
                          <a:effectLst/>
                        </a:rPr>
                        <a:t>Check the model without media effect and HPA</a:t>
                      </a:r>
                      <a:endParaRPr lang="en-US" sz="800" b="0" i="0" u="none" strike="noStrike">
                        <a:solidFill>
                          <a:srgbClr val="000000"/>
                        </a:solidFill>
                        <a:effectLst/>
                        <a:latin typeface="Calibri"/>
                      </a:endParaRPr>
                    </a:p>
                  </a:txBody>
                  <a:tcPr marL="5076" marR="5076" marT="5076" marB="0" anchor="ctr"/>
                </a:tc>
                <a:tc>
                  <a:txBody>
                    <a:bodyPr/>
                    <a:lstStyle/>
                    <a:p>
                      <a:pPr algn="l" fontAlgn="ctr"/>
                      <a:endParaRPr lang="en-US" sz="800" b="0" i="0" u="none" strike="noStrike">
                        <a:solidFill>
                          <a:srgbClr val="000000"/>
                        </a:solidFill>
                        <a:effectLst/>
                        <a:latin typeface="Calibri"/>
                      </a:endParaRPr>
                    </a:p>
                  </a:txBody>
                  <a:tcPr marL="5076" marR="5076" marT="5076" marB="0" anchor="ctr"/>
                </a:tc>
              </a:tr>
              <a:tr h="218168">
                <a:tc>
                  <a:txBody>
                    <a:bodyPr/>
                    <a:lstStyle/>
                    <a:p>
                      <a:pPr algn="l" fontAlgn="ctr"/>
                      <a:r>
                        <a:rPr lang="en-US" sz="800" u="none" strike="noStrike">
                          <a:effectLst/>
                        </a:rPr>
                        <a:t>ppmRCode_1.3.1/ME2</a:t>
                      </a:r>
                      <a:endParaRPr lang="en-US" sz="800" b="0" i="0" u="none" strike="noStrike">
                        <a:solidFill>
                          <a:srgbClr val="000000"/>
                        </a:solidFill>
                        <a:effectLst/>
                        <a:latin typeface="Calibri"/>
                      </a:endParaRPr>
                    </a:p>
                  </a:txBody>
                  <a:tcPr marL="91363" marR="5076" marT="5076" marB="0" anchor="ctr"/>
                </a:tc>
                <a:tc>
                  <a:txBody>
                    <a:bodyPr/>
                    <a:lstStyle/>
                    <a:p>
                      <a:pPr algn="l" fontAlgn="ctr"/>
                      <a:r>
                        <a:rPr lang="en-US" sz="800" u="none" strike="noStrike">
                          <a:effectLst/>
                        </a:rPr>
                        <a:t>Changed Media Effect parameters, removed "jump up" problem after 3 yrs constant rate</a:t>
                      </a:r>
                      <a:endParaRPr lang="en-US" sz="800" b="0" i="0" u="none" strike="noStrike">
                        <a:solidFill>
                          <a:srgbClr val="000000"/>
                        </a:solidFill>
                        <a:effectLst/>
                        <a:latin typeface="Calibri"/>
                      </a:endParaRPr>
                    </a:p>
                  </a:txBody>
                  <a:tcPr marL="5076" marR="5076" marT="5076" marB="0" anchor="ctr"/>
                </a:tc>
                <a:tc>
                  <a:txBody>
                    <a:bodyPr/>
                    <a:lstStyle/>
                    <a:p>
                      <a:pPr algn="l" fontAlgn="ctr"/>
                      <a:endParaRPr lang="en-US" sz="800" b="0" i="0" u="none" strike="noStrike">
                        <a:solidFill>
                          <a:srgbClr val="000000"/>
                        </a:solidFill>
                        <a:effectLst/>
                        <a:latin typeface="Calibri"/>
                      </a:endParaRPr>
                    </a:p>
                  </a:txBody>
                  <a:tcPr marL="5076" marR="5076" marT="5076" marB="0" anchor="ctr"/>
                </a:tc>
              </a:tr>
              <a:tr h="654504">
                <a:tc>
                  <a:txBody>
                    <a:bodyPr/>
                    <a:lstStyle/>
                    <a:p>
                      <a:pPr algn="l" fontAlgn="ctr"/>
                      <a:r>
                        <a:rPr lang="en-US" sz="800" u="none" strike="noStrike">
                          <a:effectLst/>
                        </a:rPr>
                        <a:t>ppmRCode_1.3.1/ME3</a:t>
                      </a:r>
                      <a:endParaRPr lang="en-US" sz="800" b="0" i="0" u="none" strike="noStrike">
                        <a:solidFill>
                          <a:srgbClr val="000000"/>
                        </a:solidFill>
                        <a:effectLst/>
                        <a:latin typeface="Calibri"/>
                      </a:endParaRPr>
                    </a:p>
                  </a:txBody>
                  <a:tcPr marL="91363" marR="5076" marT="5076" marB="0" anchor="ctr"/>
                </a:tc>
                <a:tc>
                  <a:txBody>
                    <a:bodyPr/>
                    <a:lstStyle/>
                    <a:p>
                      <a:pPr algn="l" fontAlgn="ctr"/>
                      <a:r>
                        <a:rPr lang="en-US" sz="800" u="none" strike="noStrike">
                          <a:effectLst/>
                        </a:rPr>
                        <a:t>Changed credit availability by modify HPA parameters. HPA measure shows a higher prediction smm than actual in recent 2 yrs. Due to much more strict underwriting criteria, we might need to find a credit availability measure other than HPA.</a:t>
                      </a:r>
                      <a:endParaRPr lang="en-US" sz="800" b="0" i="0" u="none" strike="noStrike">
                        <a:solidFill>
                          <a:srgbClr val="000000"/>
                        </a:solidFill>
                        <a:effectLst/>
                        <a:latin typeface="Calibri"/>
                      </a:endParaRPr>
                    </a:p>
                  </a:txBody>
                  <a:tcPr marL="5076" marR="5076" marT="5076" marB="0" anchor="ctr"/>
                </a:tc>
                <a:tc>
                  <a:txBody>
                    <a:bodyPr/>
                    <a:lstStyle/>
                    <a:p>
                      <a:pPr algn="l" fontAlgn="ctr"/>
                      <a:endParaRPr lang="en-US" sz="800" b="0" i="0" u="none" strike="noStrike">
                        <a:solidFill>
                          <a:srgbClr val="000000"/>
                        </a:solidFill>
                        <a:effectLst/>
                        <a:latin typeface="Calibri"/>
                      </a:endParaRPr>
                    </a:p>
                  </a:txBody>
                  <a:tcPr marL="5076" marR="5076" marT="5076" marB="0" anchor="ctr"/>
                </a:tc>
              </a:tr>
              <a:tr h="436336">
                <a:tc>
                  <a:txBody>
                    <a:bodyPr/>
                    <a:lstStyle/>
                    <a:p>
                      <a:pPr algn="l" fontAlgn="ctr"/>
                      <a:r>
                        <a:rPr lang="en-US" sz="800" u="none" strike="noStrike">
                          <a:effectLst/>
                        </a:rPr>
                        <a:t>ppmRCode_1.3.1/ME4</a:t>
                      </a:r>
                      <a:endParaRPr lang="en-US" sz="800" b="0" i="0" u="none" strike="noStrike">
                        <a:solidFill>
                          <a:srgbClr val="000000"/>
                        </a:solidFill>
                        <a:effectLst/>
                        <a:latin typeface="Calibri"/>
                      </a:endParaRPr>
                    </a:p>
                  </a:txBody>
                  <a:tcPr marL="91363" marR="5076" marT="5076" marB="0" anchor="ctr"/>
                </a:tc>
                <a:tc>
                  <a:txBody>
                    <a:bodyPr/>
                    <a:lstStyle/>
                    <a:p>
                      <a:pPr algn="l" fontAlgn="ctr"/>
                      <a:r>
                        <a:rPr lang="en-US" sz="800" u="none" strike="noStrike">
                          <a:effectLst/>
                        </a:rPr>
                        <a:t>Changed credit availability, get a right model shape by using Purchase Index instead of HPA, though MBAVPRCH index is sensitive to mortgage rate.</a:t>
                      </a:r>
                      <a:endParaRPr lang="en-US" sz="800" b="0" i="0" u="none" strike="noStrike">
                        <a:solidFill>
                          <a:srgbClr val="000000"/>
                        </a:solidFill>
                        <a:effectLst/>
                        <a:latin typeface="Calibri"/>
                      </a:endParaRPr>
                    </a:p>
                  </a:txBody>
                  <a:tcPr marL="5076" marR="5076" marT="5076" marB="0" anchor="ctr"/>
                </a:tc>
                <a:tc>
                  <a:txBody>
                    <a:bodyPr/>
                    <a:lstStyle/>
                    <a:p>
                      <a:pPr algn="l" fontAlgn="ctr"/>
                      <a:endParaRPr lang="en-US" sz="800" b="0" i="0" u="none" strike="noStrike">
                        <a:solidFill>
                          <a:srgbClr val="000000"/>
                        </a:solidFill>
                        <a:effectLst/>
                        <a:latin typeface="Calibri"/>
                      </a:endParaRPr>
                    </a:p>
                  </a:txBody>
                  <a:tcPr marL="5076" marR="5076" marT="5076" marB="0" anchor="ctr"/>
                </a:tc>
              </a:tr>
              <a:tr h="436336">
                <a:tc>
                  <a:txBody>
                    <a:bodyPr/>
                    <a:lstStyle/>
                    <a:p>
                      <a:pPr algn="l" fontAlgn="ctr"/>
                      <a:r>
                        <a:rPr lang="en-US" sz="800" u="none" strike="noStrike">
                          <a:effectLst/>
                        </a:rPr>
                        <a:t>ppmRCode_1.3.1/ME5</a:t>
                      </a:r>
                      <a:endParaRPr lang="en-US" sz="800" b="0" i="0" u="none" strike="noStrike">
                        <a:solidFill>
                          <a:srgbClr val="000000"/>
                        </a:solidFill>
                        <a:effectLst/>
                        <a:latin typeface="Calibri"/>
                      </a:endParaRPr>
                    </a:p>
                  </a:txBody>
                  <a:tcPr marL="91363" marR="5076" marT="5076" marB="0" anchor="ctr"/>
                </a:tc>
                <a:tc>
                  <a:txBody>
                    <a:bodyPr/>
                    <a:lstStyle/>
                    <a:p>
                      <a:pPr algn="l" fontAlgn="ctr"/>
                      <a:r>
                        <a:rPr lang="en-US" sz="800" u="none" strike="noStrike">
                          <a:effectLst/>
                        </a:rPr>
                        <a:t>Changed credit availability, get a less rate-sensitive measure for credit availability by constructing a distribution of FICO score in all purchases.</a:t>
                      </a:r>
                      <a:endParaRPr lang="en-US" sz="800" b="0" i="0" u="none" strike="noStrike">
                        <a:solidFill>
                          <a:srgbClr val="000000"/>
                        </a:solidFill>
                        <a:effectLst/>
                        <a:latin typeface="Calibri"/>
                      </a:endParaRPr>
                    </a:p>
                  </a:txBody>
                  <a:tcPr marL="5076" marR="5076" marT="5076" marB="0" anchor="ctr"/>
                </a:tc>
                <a:tc>
                  <a:txBody>
                    <a:bodyPr/>
                    <a:lstStyle/>
                    <a:p>
                      <a:pPr algn="l" fontAlgn="ctr"/>
                      <a:endParaRPr lang="en-US" sz="800" b="0" i="0" u="none" strike="noStrike">
                        <a:solidFill>
                          <a:srgbClr val="000000"/>
                        </a:solidFill>
                        <a:effectLst/>
                        <a:latin typeface="Calibri"/>
                      </a:endParaRPr>
                    </a:p>
                  </a:txBody>
                  <a:tcPr marL="5076" marR="5076" marT="5076" marB="0" anchor="ctr"/>
                </a:tc>
              </a:tr>
              <a:tr h="545420">
                <a:tc>
                  <a:txBody>
                    <a:bodyPr/>
                    <a:lstStyle/>
                    <a:p>
                      <a:pPr algn="l" fontAlgn="ctr"/>
                      <a:r>
                        <a:rPr lang="en-US" sz="800" u="none" strike="noStrike">
                          <a:effectLst/>
                        </a:rPr>
                        <a:t>ppmRCode_1.3.2</a:t>
                      </a:r>
                      <a:endParaRPr lang="en-US" sz="800" b="0" i="0" u="none" strike="noStrike">
                        <a:solidFill>
                          <a:srgbClr val="000000"/>
                        </a:solidFill>
                        <a:effectLst/>
                        <a:latin typeface="Calibri"/>
                      </a:endParaRPr>
                    </a:p>
                  </a:txBody>
                  <a:tcPr marL="5076" marR="5076" marT="5076" marB="0" anchor="ctr"/>
                </a:tc>
                <a:tc>
                  <a:txBody>
                    <a:bodyPr/>
                    <a:lstStyle/>
                    <a:p>
                      <a:pPr algn="l" fontAlgn="ctr"/>
                      <a:r>
                        <a:rPr lang="en-US" sz="800" u="none" strike="noStrike" dirty="0">
                          <a:effectLst/>
                        </a:rPr>
                        <a:t>Previous Version: ppmRCode_1.3.1;</a:t>
                      </a:r>
                      <a:br>
                        <a:rPr lang="en-US" sz="800" u="none" strike="noStrike" dirty="0">
                          <a:effectLst/>
                        </a:rPr>
                      </a:br>
                      <a:r>
                        <a:rPr lang="en-US" sz="800" u="none" strike="noStrike" dirty="0">
                          <a:effectLst/>
                        </a:rPr>
                        <a:t>Changed the Pool level model to add a feature to fit the single pool AE5463;</a:t>
                      </a:r>
                      <a:br>
                        <a:rPr lang="en-US" sz="800" u="none" strike="noStrike" dirty="0">
                          <a:effectLst/>
                        </a:rPr>
                      </a:br>
                      <a:r>
                        <a:rPr lang="en-US" sz="800" b="1" u="none" strike="noStrike" dirty="0">
                          <a:effectLst/>
                        </a:rPr>
                        <a:t>Tie out with C++ program result from CCMPrepayModel_v1.2.2.</a:t>
                      </a:r>
                      <a:endParaRPr lang="en-US" sz="800" b="1" i="0" u="none" strike="noStrike" dirty="0">
                        <a:solidFill>
                          <a:srgbClr val="000000"/>
                        </a:solidFill>
                        <a:effectLst/>
                        <a:latin typeface="Calibri"/>
                      </a:endParaRPr>
                    </a:p>
                  </a:txBody>
                  <a:tcPr marL="5076" marR="5076" marT="5076" marB="0" anchor="ctr"/>
                </a:tc>
                <a:tc>
                  <a:txBody>
                    <a:bodyPr/>
                    <a:lstStyle/>
                    <a:p>
                      <a:pPr algn="l" fontAlgn="ctr"/>
                      <a:r>
                        <a:rPr lang="en-US" sz="800" u="none" strike="noStrike">
                          <a:effectLst/>
                        </a:rPr>
                        <a:t>8/6/2014</a:t>
                      </a:r>
                      <a:endParaRPr lang="en-US" sz="800" b="0" i="0" u="none" strike="noStrike">
                        <a:solidFill>
                          <a:srgbClr val="000000"/>
                        </a:solidFill>
                        <a:effectLst/>
                        <a:latin typeface="Calibri"/>
                      </a:endParaRPr>
                    </a:p>
                  </a:txBody>
                  <a:tcPr marL="5076" marR="5076" marT="5076" marB="0" anchor="ctr"/>
                </a:tc>
              </a:tr>
              <a:tr h="545420">
                <a:tc>
                  <a:txBody>
                    <a:bodyPr/>
                    <a:lstStyle/>
                    <a:p>
                      <a:pPr algn="l" fontAlgn="ctr"/>
                      <a:r>
                        <a:rPr lang="en-US" sz="800" u="none" strike="noStrike">
                          <a:effectLst/>
                        </a:rPr>
                        <a:t>ppmRCode_1.3.3</a:t>
                      </a:r>
                      <a:endParaRPr lang="en-US" sz="800" b="0" i="0" u="none" strike="noStrike">
                        <a:solidFill>
                          <a:srgbClr val="000000"/>
                        </a:solidFill>
                        <a:effectLst/>
                        <a:latin typeface="Calibri"/>
                      </a:endParaRPr>
                    </a:p>
                  </a:txBody>
                  <a:tcPr marL="5076" marR="5076" marT="5076" marB="0" anchor="ctr"/>
                </a:tc>
                <a:tc>
                  <a:txBody>
                    <a:bodyPr/>
                    <a:lstStyle/>
                    <a:p>
                      <a:pPr algn="l" fontAlgn="ctr"/>
                      <a:r>
                        <a:rPr lang="en-US" sz="800" u="none" strike="noStrike" dirty="0">
                          <a:effectLst/>
                        </a:rPr>
                        <a:t>Previous Version: ppmRCode_1.3.2;</a:t>
                      </a:r>
                      <a:br>
                        <a:rPr lang="en-US" sz="800" u="none" strike="noStrike" dirty="0">
                          <a:effectLst/>
                        </a:rPr>
                      </a:br>
                      <a:r>
                        <a:rPr lang="en-US" sz="800" u="none" strike="noStrike" dirty="0">
                          <a:effectLst/>
                        </a:rPr>
                        <a:t>Test version for pool: MA1291  (Fannie Mae)</a:t>
                      </a:r>
                      <a:br>
                        <a:rPr lang="en-US" sz="800" u="none" strike="noStrike" dirty="0">
                          <a:effectLst/>
                        </a:rPr>
                      </a:br>
                      <a:r>
                        <a:rPr lang="en-US" sz="800" u="none" strike="noStrike" dirty="0">
                          <a:effectLst/>
                        </a:rPr>
                        <a:t>CLTV&gt;100, turnover SMM shows </a:t>
                      </a:r>
                      <a:r>
                        <a:rPr lang="en-US" sz="800" u="none" strike="noStrike" dirty="0" err="1">
                          <a:effectLst/>
                        </a:rPr>
                        <a:t>negtive</a:t>
                      </a:r>
                      <a:r>
                        <a:rPr lang="en-US" sz="800" u="none" strike="noStrike" dirty="0">
                          <a:effectLst/>
                        </a:rPr>
                        <a:t> number in C++ v1.2.2 and v1.2; turn is higher in 1.2.1.</a:t>
                      </a:r>
                      <a:endParaRPr lang="en-US" sz="800" b="0" i="0" u="none" strike="noStrike" dirty="0">
                        <a:solidFill>
                          <a:srgbClr val="000000"/>
                        </a:solidFill>
                        <a:effectLst/>
                        <a:latin typeface="Calibri"/>
                      </a:endParaRPr>
                    </a:p>
                  </a:txBody>
                  <a:tcPr marL="5076" marR="5076" marT="5076" marB="0" anchor="ctr"/>
                </a:tc>
                <a:tc>
                  <a:txBody>
                    <a:bodyPr/>
                    <a:lstStyle/>
                    <a:p>
                      <a:pPr algn="l" fontAlgn="ctr"/>
                      <a:r>
                        <a:rPr lang="en-US" sz="800" u="none" strike="noStrike">
                          <a:effectLst/>
                        </a:rPr>
                        <a:t>8/8/2014</a:t>
                      </a:r>
                      <a:endParaRPr lang="en-US" sz="800" b="0" i="0" u="none" strike="noStrike">
                        <a:solidFill>
                          <a:srgbClr val="000000"/>
                        </a:solidFill>
                        <a:effectLst/>
                        <a:latin typeface="Calibri"/>
                      </a:endParaRPr>
                    </a:p>
                  </a:txBody>
                  <a:tcPr marL="5076" marR="5076" marT="5076" marB="0" anchor="ctr"/>
                </a:tc>
              </a:tr>
              <a:tr h="654504">
                <a:tc>
                  <a:txBody>
                    <a:bodyPr/>
                    <a:lstStyle/>
                    <a:p>
                      <a:pPr algn="l" fontAlgn="ctr"/>
                      <a:r>
                        <a:rPr lang="en-US" sz="800" u="none" strike="noStrike">
                          <a:effectLst/>
                        </a:rPr>
                        <a:t>ppmRCode_1.4</a:t>
                      </a:r>
                      <a:endParaRPr lang="en-US" sz="800" b="0" i="0" u="none" strike="noStrike">
                        <a:solidFill>
                          <a:srgbClr val="000000"/>
                        </a:solidFill>
                        <a:effectLst/>
                        <a:latin typeface="Calibri"/>
                      </a:endParaRPr>
                    </a:p>
                  </a:txBody>
                  <a:tcPr marL="5076" marR="5076" marT="5076" marB="0" anchor="ctr"/>
                </a:tc>
                <a:tc>
                  <a:txBody>
                    <a:bodyPr/>
                    <a:lstStyle/>
                    <a:p>
                      <a:pPr algn="l" fontAlgn="ctr"/>
                      <a:r>
                        <a:rPr lang="en-US" sz="800" u="none" strike="noStrike">
                          <a:effectLst/>
                        </a:rPr>
                        <a:t>Previous Version: ppmRCode_1.3.1;</a:t>
                      </a:r>
                      <a:br>
                        <a:rPr lang="en-US" sz="800" u="none" strike="noStrike">
                          <a:effectLst/>
                        </a:rPr>
                      </a:br>
                      <a:r>
                        <a:rPr lang="en-US" sz="800" u="none" strike="noStrike">
                          <a:effectLst/>
                        </a:rPr>
                        <a:t>Changed the spline function from smooth spline to Hermite cubic spline in fitting;</a:t>
                      </a:r>
                      <a:br>
                        <a:rPr lang="en-US" sz="800" u="none" strike="noStrike">
                          <a:effectLst/>
                        </a:rPr>
                      </a:br>
                      <a:r>
                        <a:rPr lang="en-US" sz="800" u="none" strike="noStrike">
                          <a:effectLst/>
                        </a:rPr>
                        <a:t>plot all the tracking curves and fitting curves;</a:t>
                      </a:r>
                      <a:br>
                        <a:rPr lang="en-US" sz="800" u="none" strike="noStrike">
                          <a:effectLst/>
                        </a:rPr>
                      </a:br>
                      <a:r>
                        <a:rPr lang="en-US" sz="800" u="none" strike="noStrike">
                          <a:effectLst/>
                        </a:rPr>
                        <a:t>remove "*0.5" multiplier in default model fico factor .</a:t>
                      </a:r>
                      <a:endParaRPr lang="en-US" sz="800" b="0" i="0" u="none" strike="noStrike">
                        <a:solidFill>
                          <a:srgbClr val="000000"/>
                        </a:solidFill>
                        <a:effectLst/>
                        <a:latin typeface="Calibri"/>
                      </a:endParaRPr>
                    </a:p>
                  </a:txBody>
                  <a:tcPr marL="5076" marR="5076" marT="5076" marB="0" anchor="ctr"/>
                </a:tc>
                <a:tc>
                  <a:txBody>
                    <a:bodyPr/>
                    <a:lstStyle/>
                    <a:p>
                      <a:pPr algn="l" fontAlgn="ctr"/>
                      <a:r>
                        <a:rPr lang="en-US" sz="800" u="none" strike="noStrike">
                          <a:effectLst/>
                        </a:rPr>
                        <a:t>7/31/2014</a:t>
                      </a:r>
                      <a:endParaRPr lang="en-US" sz="800" b="0" i="0" u="none" strike="noStrike">
                        <a:solidFill>
                          <a:srgbClr val="000000"/>
                        </a:solidFill>
                        <a:effectLst/>
                        <a:latin typeface="Calibri"/>
                      </a:endParaRPr>
                    </a:p>
                  </a:txBody>
                  <a:tcPr marL="5076" marR="5076" marT="5076" marB="0" anchor="ctr"/>
                </a:tc>
              </a:tr>
              <a:tr h="327252">
                <a:tc>
                  <a:txBody>
                    <a:bodyPr/>
                    <a:lstStyle/>
                    <a:p>
                      <a:pPr algn="l" fontAlgn="ctr"/>
                      <a:r>
                        <a:rPr lang="en-US" sz="800" u="none" strike="noStrike">
                          <a:effectLst/>
                        </a:rPr>
                        <a:t>ppmRCode_1.5</a:t>
                      </a:r>
                      <a:endParaRPr lang="en-US" sz="800" b="0" i="0" u="none" strike="noStrike">
                        <a:solidFill>
                          <a:srgbClr val="000000"/>
                        </a:solidFill>
                        <a:effectLst/>
                        <a:latin typeface="Calibri"/>
                      </a:endParaRPr>
                    </a:p>
                  </a:txBody>
                  <a:tcPr marL="5076" marR="5076" marT="5076" marB="0" anchor="ctr"/>
                </a:tc>
                <a:tc>
                  <a:txBody>
                    <a:bodyPr/>
                    <a:lstStyle/>
                    <a:p>
                      <a:pPr algn="l" fontAlgn="ctr"/>
                      <a:r>
                        <a:rPr lang="en-US" sz="800" u="none" strike="noStrike" dirty="0">
                          <a:effectLst/>
                        </a:rPr>
                        <a:t>Previous Version: ppmRCode_1.4;</a:t>
                      </a:r>
                      <a:br>
                        <a:rPr lang="en-US" sz="800" u="none" strike="noStrike" dirty="0">
                          <a:effectLst/>
                        </a:rPr>
                      </a:br>
                      <a:r>
                        <a:rPr lang="en-US" sz="800" u="none" strike="noStrike" dirty="0">
                          <a:effectLst/>
                        </a:rPr>
                        <a:t>Modified knot values to fulfill the conditions for </a:t>
                      </a:r>
                      <a:r>
                        <a:rPr lang="en-US" sz="800" b="1" u="none" strike="noStrike" dirty="0">
                          <a:effectLst/>
                        </a:rPr>
                        <a:t>monotonic spline</a:t>
                      </a:r>
                      <a:r>
                        <a:rPr lang="en-US" sz="800" u="none" strike="noStrike" dirty="0">
                          <a:effectLst/>
                        </a:rPr>
                        <a:t>.</a:t>
                      </a:r>
                      <a:endParaRPr lang="en-US" sz="800" b="0" i="0" u="none" strike="noStrike" dirty="0">
                        <a:solidFill>
                          <a:srgbClr val="000000"/>
                        </a:solidFill>
                        <a:effectLst/>
                        <a:latin typeface="Calibri"/>
                      </a:endParaRPr>
                    </a:p>
                  </a:txBody>
                  <a:tcPr marL="5076" marR="5076" marT="5076" marB="0" anchor="ctr"/>
                </a:tc>
                <a:tc>
                  <a:txBody>
                    <a:bodyPr/>
                    <a:lstStyle/>
                    <a:p>
                      <a:pPr algn="l" fontAlgn="ctr"/>
                      <a:r>
                        <a:rPr lang="en-US" sz="800" u="none" strike="noStrike">
                          <a:effectLst/>
                        </a:rPr>
                        <a:t>8/4/2014</a:t>
                      </a:r>
                      <a:endParaRPr lang="en-US" sz="800" b="0" i="0" u="none" strike="noStrike">
                        <a:solidFill>
                          <a:srgbClr val="000000"/>
                        </a:solidFill>
                        <a:effectLst/>
                        <a:latin typeface="Calibri"/>
                      </a:endParaRPr>
                    </a:p>
                  </a:txBody>
                  <a:tcPr marL="5076" marR="5076" marT="5076" marB="0" anchor="ctr"/>
                </a:tc>
              </a:tr>
              <a:tr h="218168">
                <a:tc>
                  <a:txBody>
                    <a:bodyPr/>
                    <a:lstStyle/>
                    <a:p>
                      <a:pPr algn="l" fontAlgn="ctr"/>
                      <a:r>
                        <a:rPr lang="en-US" sz="800" u="none" strike="noStrike">
                          <a:effectLst/>
                        </a:rPr>
                        <a:t>ppmRCode_1.5/ME5</a:t>
                      </a:r>
                      <a:endParaRPr lang="en-US" sz="800" b="0" i="0" u="none" strike="noStrike">
                        <a:solidFill>
                          <a:srgbClr val="000000"/>
                        </a:solidFill>
                        <a:effectLst/>
                        <a:latin typeface="Calibri"/>
                      </a:endParaRPr>
                    </a:p>
                  </a:txBody>
                  <a:tcPr marL="91363" marR="5076" marT="5076" marB="0" anchor="ctr"/>
                </a:tc>
                <a:tc>
                  <a:txBody>
                    <a:bodyPr/>
                    <a:lstStyle/>
                    <a:p>
                      <a:pPr algn="l" fontAlgn="ctr"/>
                      <a:r>
                        <a:rPr lang="en-US" sz="800" u="none" strike="noStrike" dirty="0">
                          <a:effectLst/>
                        </a:rPr>
                        <a:t>Changed credit availability for new </a:t>
                      </a:r>
                      <a:r>
                        <a:rPr lang="en-US" sz="800" u="none" strike="noStrike" dirty="0" err="1">
                          <a:effectLst/>
                        </a:rPr>
                        <a:t>refi</a:t>
                      </a:r>
                      <a:r>
                        <a:rPr lang="en-US" sz="800" u="none" strike="noStrike" dirty="0">
                          <a:effectLst/>
                        </a:rPr>
                        <a:t> data generated from new spline function </a:t>
                      </a:r>
                      <a:endParaRPr lang="en-US" sz="800" b="0" i="0" u="none" strike="noStrike" dirty="0">
                        <a:solidFill>
                          <a:srgbClr val="000000"/>
                        </a:solidFill>
                        <a:effectLst/>
                        <a:latin typeface="Calibri"/>
                      </a:endParaRPr>
                    </a:p>
                  </a:txBody>
                  <a:tcPr marL="5076" marR="5076" marT="5076" marB="0" anchor="ctr"/>
                </a:tc>
                <a:tc>
                  <a:txBody>
                    <a:bodyPr/>
                    <a:lstStyle/>
                    <a:p>
                      <a:pPr algn="l" fontAlgn="ctr"/>
                      <a:endParaRPr lang="en-US" sz="800" b="0" i="0" u="none" strike="noStrike" dirty="0">
                        <a:solidFill>
                          <a:srgbClr val="000000"/>
                        </a:solidFill>
                        <a:effectLst/>
                        <a:latin typeface="Calibri"/>
                      </a:endParaRPr>
                    </a:p>
                  </a:txBody>
                  <a:tcPr marL="5076" marR="5076" marT="5076" marB="0" anchor="ctr"/>
                </a:tc>
              </a:tr>
            </a:tbl>
          </a:graphicData>
        </a:graphic>
      </p:graphicFrame>
    </p:spTree>
    <p:extLst>
      <p:ext uri="{BB962C8B-B14F-4D97-AF65-F5344CB8AC3E}">
        <p14:creationId xmlns:p14="http://schemas.microsoft.com/office/powerpoint/2010/main" val="224287840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37" name="Rectangle 2"/>
          <p:cNvSpPr>
            <a:spLocks noGrp="1" noChangeArrowheads="1"/>
          </p:cNvSpPr>
          <p:nvPr>
            <p:ph type="title"/>
          </p:nvPr>
        </p:nvSpPr>
        <p:spPr>
          <a:xfrm>
            <a:off x="2533587" y="270070"/>
            <a:ext cx="7280116" cy="644102"/>
          </a:xfrm>
        </p:spPr>
        <p:txBody>
          <a:bodyPr/>
          <a:lstStyle/>
          <a:p>
            <a:r>
              <a:rPr lang="en-US" dirty="0" smtClean="0"/>
              <a:t>CONTACT INFORMATION</a:t>
            </a:r>
            <a:br>
              <a:rPr lang="en-US" dirty="0" smtClean="0"/>
            </a:br>
            <a:r>
              <a:rPr lang="en-US" sz="1200" b="0" dirty="0"/>
              <a:t>For further information, please contact:</a:t>
            </a:r>
          </a:p>
        </p:txBody>
      </p:sp>
      <p:sp>
        <p:nvSpPr>
          <p:cNvPr id="3" name="Rectangle 2"/>
          <p:cNvSpPr/>
          <p:nvPr/>
        </p:nvSpPr>
        <p:spPr>
          <a:xfrm>
            <a:off x="2533587" y="2556257"/>
            <a:ext cx="5029200" cy="338397"/>
          </a:xfrm>
          <a:prstGeom prst="rect">
            <a:avLst/>
          </a:prstGeom>
        </p:spPr>
        <p:txBody>
          <a:bodyPr lIns="91288" tIns="45642" rIns="91288" bIns="45642">
            <a:spAutoFit/>
          </a:bodyPr>
          <a:lstStyle/>
          <a:p>
            <a:pPr algn="ctr">
              <a:buClr>
                <a:schemeClr val="tx2"/>
              </a:buClr>
              <a:defRPr/>
            </a:pPr>
            <a:r>
              <a:rPr lang="en-US" sz="1600" kern="0" dirty="0" smtClean="0">
                <a:latin typeface="Arial" panose="020B0604020202020204" pitchFamily="34" charset="0"/>
                <a:cs typeface="Arial" panose="020B0604020202020204" pitchFamily="34" charset="0"/>
              </a:rPr>
              <a:t>Thank You</a:t>
            </a:r>
            <a:r>
              <a:rPr lang="en-US" sz="1600" kern="0" dirty="0" smtClean="0">
                <a:latin typeface="Arial" panose="020B0604020202020204" pitchFamily="34" charset="0"/>
                <a:cs typeface="Arial" panose="020B0604020202020204" pitchFamily="34" charset="0"/>
              </a:rPr>
              <a:t>:</a:t>
            </a:r>
            <a:endParaRPr lang="en-US" sz="1600" kern="0" dirty="0" smtClean="0">
              <a:latin typeface="Arial" panose="020B0604020202020204" pitchFamily="34" charset="0"/>
              <a:cs typeface="Arial" panose="020B0604020202020204" pitchFamily="34" charset="0"/>
            </a:endParaRPr>
          </a:p>
        </p:txBody>
      </p:sp>
      <p:sp>
        <p:nvSpPr>
          <p:cNvPr id="2" name="TextBox 1"/>
          <p:cNvSpPr txBox="1"/>
          <p:nvPr/>
        </p:nvSpPr>
        <p:spPr>
          <a:xfrm>
            <a:off x="742950" y="3126689"/>
            <a:ext cx="8372475" cy="307777"/>
          </a:xfrm>
          <a:prstGeom prst="rect">
            <a:avLst/>
          </a:prstGeom>
          <a:noFill/>
        </p:spPr>
        <p:txBody>
          <a:bodyPr wrap="square" rtlCol="0">
            <a:spAutoFit/>
          </a:bodyPr>
          <a:lstStyle/>
          <a:p>
            <a:pPr algn="ctr">
              <a:buClr>
                <a:schemeClr val="tx2"/>
              </a:buClr>
              <a:defRPr/>
            </a:pPr>
            <a:r>
              <a:rPr lang="en-US" sz="1400" kern="0" dirty="0" err="1">
                <a:latin typeface="Arial" panose="020B0604020202020204" pitchFamily="34" charset="0"/>
                <a:cs typeface="Arial" panose="020B0604020202020204" pitchFamily="34" charset="0"/>
              </a:rPr>
              <a:t>Sharad</a:t>
            </a:r>
            <a:r>
              <a:rPr lang="en-US" sz="1400" kern="0" dirty="0">
                <a:latin typeface="Arial" panose="020B0604020202020204" pitchFamily="34" charset="0"/>
                <a:cs typeface="Arial" panose="020B0604020202020204" pitchFamily="34" charset="0"/>
              </a:rPr>
              <a:t> </a:t>
            </a:r>
            <a:r>
              <a:rPr lang="en-US" sz="1400" kern="0" dirty="0" smtClean="0">
                <a:latin typeface="Arial" panose="020B0604020202020204" pitchFamily="34" charset="0"/>
                <a:cs typeface="Arial" panose="020B0604020202020204" pitchFamily="34" charset="0"/>
              </a:rPr>
              <a:t>Chaudhary,	Bin Shao,	Derek Ho,	Chun-nip Lee</a:t>
            </a:r>
            <a:endParaRPr lang="en-US" sz="1400" kern="0" dirty="0">
              <a:latin typeface="Arial" panose="020B0604020202020204" pitchFamily="34" charset="0"/>
              <a:cs typeface="Arial" panose="020B0604020202020204" pitchFamily="34" charset="0"/>
            </a:endParaRPr>
          </a:p>
        </p:txBody>
      </p:sp>
      <p:sp>
        <p:nvSpPr>
          <p:cNvPr id="5" name="TextBox 4"/>
          <p:cNvSpPr txBox="1"/>
          <p:nvPr/>
        </p:nvSpPr>
        <p:spPr>
          <a:xfrm>
            <a:off x="742950" y="3669614"/>
            <a:ext cx="8372475" cy="738664"/>
          </a:xfrm>
          <a:prstGeom prst="rect">
            <a:avLst/>
          </a:prstGeom>
          <a:noFill/>
        </p:spPr>
        <p:txBody>
          <a:bodyPr wrap="square" rtlCol="0">
            <a:spAutoFit/>
          </a:bodyPr>
          <a:lstStyle/>
          <a:p>
            <a:pPr algn="ctr">
              <a:buClr>
                <a:schemeClr val="tx2"/>
              </a:buClr>
              <a:defRPr/>
            </a:pPr>
            <a:r>
              <a:rPr lang="en-US" sz="1400" kern="0" dirty="0" smtClean="0">
                <a:latin typeface="Arial" panose="020B0604020202020204" pitchFamily="34" charset="0"/>
                <a:cs typeface="Arial" panose="020B0604020202020204" pitchFamily="34" charset="0"/>
              </a:rPr>
              <a:t>&amp; </a:t>
            </a:r>
          </a:p>
          <a:p>
            <a:pPr algn="ctr">
              <a:buClr>
                <a:schemeClr val="tx2"/>
              </a:buClr>
              <a:defRPr/>
            </a:pPr>
            <a:endParaRPr lang="en-US" sz="1400" kern="0" dirty="0">
              <a:latin typeface="Arial" panose="020B0604020202020204" pitchFamily="34" charset="0"/>
              <a:cs typeface="Arial" panose="020B0604020202020204" pitchFamily="34" charset="0"/>
            </a:endParaRPr>
          </a:p>
          <a:p>
            <a:pPr algn="ctr">
              <a:buClr>
                <a:schemeClr val="tx2"/>
              </a:buClr>
              <a:defRPr/>
            </a:pPr>
            <a:r>
              <a:rPr lang="en-US" sz="1400" kern="0" dirty="0" smtClean="0">
                <a:latin typeface="Arial" panose="020B0604020202020204" pitchFamily="34" charset="0"/>
                <a:cs typeface="Arial" panose="020B0604020202020204" pitchFamily="34" charset="0"/>
              </a:rPr>
              <a:t>Cello</a:t>
            </a:r>
            <a:endParaRPr lang="en-US" sz="1400" kern="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1885812"/>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cm8GILvGcEK1.hktzTiyRA"/>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cm8GILvGcEK1.hktzTiyRA"/>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toqVmyh_6Em0eLwtchsP9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VeisDvefwU6Tw6WsJZvkrA"/>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VeisDvefwU6Tw6WsJZvkrA"/>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BTy3XHNU30u3zebbKdVxJQ"/>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BTy3XHNU30u3zebbKdVxJQ"/>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BTy3XHNU30u3zebbKdVxJQ"/>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BTy3XHNU30u3zebbKdVxJQ"/>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BTy3XHNU30u3zebbKdVxJQ"/>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BTy3XHNU30u3zebbKdVxJQ"/>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BTy3XHNU30u3zebbKdVxJQ"/>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BTy3XHNU30u3zebbKdVxJQ"/>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BTy3XHNU30u3zebbKdVxJQ"/>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BTy3XHNU30u3zebbKdVxJQ"/>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BTy3XHNU30u3zebbKdVxJQ"/>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leDs8D4wyUyzR70VR6nx5Q"/>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SlqQSQ3D7kSLx3Blnvm2pQ"/>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gyh1hehj6UWXOi_PfnH5Fw"/>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EqjQoIvI8ku.RJyh3vMCkw"/>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cm8GILvGcEK1.hktzTiyRA"/>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cm8GILvGcEK1.hktzTiyRA"/>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cm8GILvGcEK1.hktzTiyRA"/>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cm8GILvGcEK1.hktzTiyRA"/>
</p:tagLst>
</file>

<file path=ppt/theme/theme1.xml><?xml version="1.0" encoding="utf-8"?>
<a:theme xmlns:a="http://schemas.openxmlformats.org/drawingml/2006/main" name="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ustom Design">
  <a:themeElements>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4_Default Design">
  <a:themeElements>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4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4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4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4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3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3_Custom Design">
  <a:themeElements>
    <a:clrScheme name="">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2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4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5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5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6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7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4.xml><?xml version="1.0" encoding="utf-8"?>
<a:theme xmlns:a="http://schemas.openxmlformats.org/drawingml/2006/main" name="6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5.xml><?xml version="1.0" encoding="utf-8"?>
<a:theme xmlns:a="http://schemas.openxmlformats.org/drawingml/2006/main" name="7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6.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7.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66249</TotalTime>
  <Words>1988</Words>
  <Application>Microsoft Office PowerPoint</Application>
  <PresentationFormat>Custom</PresentationFormat>
  <Paragraphs>485</Paragraphs>
  <Slides>26</Slides>
  <Notes>1</Notes>
  <HiddenSlides>0</HiddenSlides>
  <MMClips>0</MMClips>
  <ScaleCrop>false</ScaleCrop>
  <HeadingPairs>
    <vt:vector size="4" baseType="variant">
      <vt:variant>
        <vt:lpstr>Theme</vt:lpstr>
      </vt:variant>
      <vt:variant>
        <vt:i4>15</vt:i4>
      </vt:variant>
      <vt:variant>
        <vt:lpstr>Slide Titles</vt:lpstr>
      </vt:variant>
      <vt:variant>
        <vt:i4>26</vt:i4>
      </vt:variant>
    </vt:vector>
  </HeadingPairs>
  <TitlesOfParts>
    <vt:vector size="41" baseType="lpstr">
      <vt:lpstr>Custom Design</vt:lpstr>
      <vt:lpstr>1_Custom Design</vt:lpstr>
      <vt:lpstr>2_Custom Design</vt:lpstr>
      <vt:lpstr>1_Default Design</vt:lpstr>
      <vt:lpstr>4_Default Design</vt:lpstr>
      <vt:lpstr>3_Default Design</vt:lpstr>
      <vt:lpstr>3_Custom Design</vt:lpstr>
      <vt:lpstr>2_Default Design</vt:lpstr>
      <vt:lpstr>4_Custom Design</vt:lpstr>
      <vt:lpstr>5_Default Design</vt:lpstr>
      <vt:lpstr>5_Custom Design</vt:lpstr>
      <vt:lpstr>6_Default Design</vt:lpstr>
      <vt:lpstr>7_Default Design</vt:lpstr>
      <vt:lpstr>6_Custom Design</vt:lpstr>
      <vt:lpstr>7_Custom Design</vt:lpstr>
      <vt:lpstr>PowerPoint Presentation</vt:lpstr>
      <vt:lpstr>Agenda</vt:lpstr>
      <vt:lpstr>What is a prepayment model? The importance of a prepayment model </vt:lpstr>
      <vt:lpstr>Prepayment on Residential Mortgages</vt:lpstr>
      <vt:lpstr>What is a Prepayment Model?</vt:lpstr>
      <vt:lpstr>Spline calculations Media Effect Credit Availability  </vt:lpstr>
      <vt:lpstr>Inputs of prepayment model </vt:lpstr>
      <vt:lpstr>Modeling Overview and Structure</vt:lpstr>
      <vt:lpstr>Modeling Methods: Splines I</vt:lpstr>
      <vt:lpstr>Modeling Methods: Spline II</vt:lpstr>
      <vt:lpstr>Modeling Methods: Spline III</vt:lpstr>
      <vt:lpstr>Modeling Methods</vt:lpstr>
      <vt:lpstr>Modeling Overview and Structure</vt:lpstr>
      <vt:lpstr>Result After Spline Interpolation</vt:lpstr>
      <vt:lpstr>Media Effect and Credit Availability</vt:lpstr>
      <vt:lpstr>Media Effect and Credit Availability</vt:lpstr>
      <vt:lpstr>Monotonic Spline Function Media Effect “Jump Up” Problem Change Credit Availability Efficient R- Script   </vt:lpstr>
      <vt:lpstr>Model Improvements I Change smooth spline to monotonic Hermite spline</vt:lpstr>
      <vt:lpstr>Model Improvements I Change smooth spline to monotonic Hermite spline</vt:lpstr>
      <vt:lpstr>Model Improvements II Remove “jump up” problem in media effect</vt:lpstr>
      <vt:lpstr>Model Improvements III Change Credit Availability measure, Improve Recent Years Fitting</vt:lpstr>
      <vt:lpstr>Model Improvements III Change Credit Availability measure, Improve Recent Years Fitting</vt:lpstr>
      <vt:lpstr>Model Improvements III Change Credit Availability measure, Improve Recent Years Fitting</vt:lpstr>
      <vt:lpstr>Model Improvements IV Efficient R-Script</vt:lpstr>
      <vt:lpstr>Version Review </vt:lpstr>
      <vt:lpstr>CONTACT INFORMATION For further information, please contact:</vt:lpstr>
    </vt:vector>
  </TitlesOfParts>
  <Company>Microsoft Corporation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0</dc:title>
  <dc:creator>William Gates</dc:creator>
  <cp:lastModifiedBy>Lien Chen</cp:lastModifiedBy>
  <cp:revision>1793</cp:revision>
  <cp:lastPrinted>2014-08-14T21:45:56Z</cp:lastPrinted>
  <dcterms:created xsi:type="dcterms:W3CDTF">2011-07-07T12:37:32Z</dcterms:created>
  <dcterms:modified xsi:type="dcterms:W3CDTF">2014-08-15T19:01:18Z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-1471813815</vt:i4>
  </property>
  <property fmtid="{D5CDD505-2E9C-101B-9397-08002B2CF9AE}" pid="3" name="_NewReviewCycle">
    <vt:lpwstr/>
  </property>
  <property fmtid="{D5CDD505-2E9C-101B-9397-08002B2CF9AE}" pid="4" name="_EmailSubject">
    <vt:lpwstr>FW: 2012 05 15 cello presentation.pptx</vt:lpwstr>
  </property>
  <property fmtid="{D5CDD505-2E9C-101B-9397-08002B2CF9AE}" pid="5" name="_AuthorEmail">
    <vt:lpwstr>Marisa.Goldberg@guggenheimpartners.com</vt:lpwstr>
  </property>
  <property fmtid="{D5CDD505-2E9C-101B-9397-08002B2CF9AE}" pid="6" name="_AuthorEmailDisplayName">
    <vt:lpwstr>Goldberg, Marisa</vt:lpwstr>
  </property>
  <property fmtid="{D5CDD505-2E9C-101B-9397-08002B2CF9AE}" pid="7" name="_PreviousAdHocReviewCycleID">
    <vt:i4>-274319563</vt:i4>
  </property>
</Properties>
</file>