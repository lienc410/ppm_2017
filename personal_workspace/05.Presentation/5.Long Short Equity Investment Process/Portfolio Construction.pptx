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320" r:id="rId2"/>
    <p:sldId id="330" r:id="rId3"/>
    <p:sldId id="331" r:id="rId4"/>
    <p:sldId id="332" r:id="rId5"/>
  </p:sldIdLst>
  <p:sldSz cx="10058400" cy="7772400"/>
  <p:notesSz cx="6934200" cy="9220200"/>
  <p:defaultTextStyle>
    <a:defPPr>
      <a:defRPr lang="en-US"/>
    </a:defPPr>
    <a:lvl1pPr marL="0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1pPr>
    <a:lvl2pPr marL="509412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2pPr>
    <a:lvl3pPr marL="1018824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3pPr>
    <a:lvl4pPr marL="1528237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4pPr>
    <a:lvl5pPr marL="2037649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5pPr>
    <a:lvl6pPr marL="2547061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6pPr>
    <a:lvl7pPr marL="3056473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7pPr>
    <a:lvl8pPr marL="3565886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8pPr>
    <a:lvl9pPr marL="4075298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3456">
          <p15:clr>
            <a:srgbClr val="A4A3A4"/>
          </p15:clr>
        </p15:guide>
        <p15:guide id="2" orient="horz" pos="144">
          <p15:clr>
            <a:srgbClr val="A4A3A4"/>
          </p15:clr>
        </p15:guide>
        <p15:guide id="3" orient="horz" pos="207">
          <p15:clr>
            <a:srgbClr val="A4A3A4"/>
          </p15:clr>
        </p15:guide>
        <p15:guide id="4" orient="horz" pos="4752">
          <p15:clr>
            <a:srgbClr val="A4A3A4"/>
          </p15:clr>
        </p15:guide>
        <p15:guide id="5" orient="horz" pos="788">
          <p15:clr>
            <a:srgbClr val="A4A3A4"/>
          </p15:clr>
        </p15:guide>
        <p15:guide id="6" orient="horz" pos="4519">
          <p15:clr>
            <a:srgbClr val="A4A3A4"/>
          </p15:clr>
        </p15:guide>
        <p15:guide id="7" orient="horz" pos="1200">
          <p15:clr>
            <a:srgbClr val="A4A3A4"/>
          </p15:clr>
        </p15:guide>
        <p15:guide id="8" orient="horz" pos="4320">
          <p15:clr>
            <a:srgbClr val="A4A3A4"/>
          </p15:clr>
        </p15:guide>
        <p15:guide id="9" orient="horz" pos="4032">
          <p15:clr>
            <a:srgbClr val="A4A3A4"/>
          </p15:clr>
        </p15:guide>
        <p15:guide id="10" pos="3168">
          <p15:clr>
            <a:srgbClr val="A4A3A4"/>
          </p15:clr>
        </p15:guide>
        <p15:guide id="11" pos="185">
          <p15:clr>
            <a:srgbClr val="A4A3A4"/>
          </p15:clr>
        </p15:guide>
        <p15:guide id="12" pos="6150">
          <p15:clr>
            <a:srgbClr val="A4A3A4"/>
          </p15:clr>
        </p15:guide>
        <p15:guide id="13" pos="3072">
          <p15:clr>
            <a:srgbClr val="A4A3A4"/>
          </p15:clr>
        </p15:guide>
        <p15:guide id="14" pos="3264">
          <p15:clr>
            <a:srgbClr val="A4A3A4"/>
          </p15:clr>
        </p15:guide>
        <p15:guide id="15" pos="1344">
          <p15:clr>
            <a:srgbClr val="A4A3A4"/>
          </p15:clr>
        </p15:guide>
        <p15:guide id="16" pos="2101">
          <p15:clr>
            <a:srgbClr val="A4A3A4"/>
          </p15:clr>
        </p15:guide>
        <p15:guide id="17" pos="528">
          <p15:clr>
            <a:srgbClr val="A4A3A4"/>
          </p15:clr>
        </p15:guide>
        <p15:guide id="18" pos="3866">
          <p15:clr>
            <a:srgbClr val="A4A3A4"/>
          </p15:clr>
        </p15:guide>
        <p15:guide id="19" pos="3775">
          <p15:clr>
            <a:srgbClr val="A4A3A4"/>
          </p15:clr>
        </p15:guide>
        <p15:guide id="20" pos="3963">
          <p15:clr>
            <a:srgbClr val="A4A3A4"/>
          </p15:clr>
        </p15:guide>
        <p15:guide id="21" pos="4812">
          <p15:clr>
            <a:srgbClr val="A4A3A4"/>
          </p15:clr>
        </p15:guide>
        <p15:guide id="22" pos="720">
          <p15:clr>
            <a:srgbClr val="A4A3A4"/>
          </p15:clr>
        </p15:guide>
        <p15:guide id="23" pos="480">
          <p15:clr>
            <a:srgbClr val="A4A3A4"/>
          </p15:clr>
        </p15:guide>
        <p15:guide id="24" pos="4605">
          <p15:clr>
            <a:srgbClr val="A4A3A4"/>
          </p15:clr>
        </p15:guide>
        <p15:guide id="25" pos="2304">
          <p15:clr>
            <a:srgbClr val="A4A3A4"/>
          </p15:clr>
        </p15:guide>
        <p15:guide id="26" pos="1584">
          <p15:clr>
            <a:srgbClr val="A4A3A4"/>
          </p15:clr>
        </p15:guide>
      </p15:sldGuideLst>
    </p:ext>
    <p:ext uri="{2D200454-40CA-4A62-9FC3-DE9A4176ACB9}">
      <p15:notesGuideLst xmlns="" xmlns:p15="http://schemas.microsoft.com/office/powerpoint/2012/main">
        <p15:guide id="1" orient="horz" pos="2904" userDrawn="1">
          <p15:clr>
            <a:srgbClr val="A4A3A4"/>
          </p15:clr>
        </p15:guide>
        <p15:guide id="2" pos="2184" userDrawn="1">
          <p15:clr>
            <a:srgbClr val="A4A3A4"/>
          </p15:clr>
        </p15:guide>
        <p15:guide id="3" orient="horz" pos="2928">
          <p15:clr>
            <a:srgbClr val="A4A3A4"/>
          </p15:clr>
        </p15:guide>
        <p15:guide id="4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060"/>
    <a:srgbClr val="2E3989"/>
    <a:srgbClr val="C7732D"/>
    <a:srgbClr val="533D2D"/>
    <a:srgbClr val="592E8A"/>
    <a:srgbClr val="2E39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303" autoAdjust="0"/>
    <p:restoredTop sz="94660" autoAdjust="0"/>
  </p:normalViewPr>
  <p:slideViewPr>
    <p:cSldViewPr showGuides="1">
      <p:cViewPr>
        <p:scale>
          <a:sx n="120" d="100"/>
          <a:sy n="120" d="100"/>
        </p:scale>
        <p:origin x="-1494" y="-396"/>
      </p:cViewPr>
      <p:guideLst>
        <p:guide orient="horz" pos="3456"/>
        <p:guide orient="horz" pos="144"/>
        <p:guide orient="horz" pos="207"/>
        <p:guide orient="horz" pos="4752"/>
        <p:guide orient="horz" pos="788"/>
        <p:guide orient="horz" pos="4519"/>
        <p:guide orient="horz" pos="1200"/>
        <p:guide orient="horz" pos="4320"/>
        <p:guide orient="horz" pos="4032"/>
        <p:guide pos="3168"/>
        <p:guide pos="185"/>
        <p:guide pos="6150"/>
        <p:guide pos="3072"/>
        <p:guide pos="3264"/>
        <p:guide pos="1344"/>
        <p:guide pos="2101"/>
        <p:guide pos="528"/>
        <p:guide pos="3866"/>
        <p:guide pos="3775"/>
        <p:guide pos="3963"/>
        <p:guide pos="4812"/>
        <p:guide pos="720"/>
        <p:guide pos="480"/>
        <p:guide pos="4605"/>
        <p:guide pos="2304"/>
        <p:guide pos="158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61" d="100"/>
          <a:sy n="61" d="100"/>
        </p:scale>
        <p:origin x="-2382" y="-78"/>
      </p:cViewPr>
      <p:guideLst>
        <p:guide orient="horz" pos="2880"/>
        <p:guide orient="horz" pos="2904"/>
        <p:guide pos="2160"/>
        <p:guide pos="218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04820" cy="461010"/>
          </a:xfrm>
          <a:prstGeom prst="rect">
            <a:avLst/>
          </a:prstGeom>
        </p:spPr>
        <p:txBody>
          <a:bodyPr vert="horz" lIns="92293" tIns="46147" rIns="92293" bIns="46147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27776" y="0"/>
            <a:ext cx="3004820" cy="461010"/>
          </a:xfrm>
          <a:prstGeom prst="rect">
            <a:avLst/>
          </a:prstGeom>
        </p:spPr>
        <p:txBody>
          <a:bodyPr vert="horz" lIns="92293" tIns="46147" rIns="92293" bIns="46147" rtlCol="0"/>
          <a:lstStyle>
            <a:lvl1pPr algn="r">
              <a:defRPr sz="1200"/>
            </a:lvl1pPr>
          </a:lstStyle>
          <a:p>
            <a:fld id="{CD69C154-8DB3-4790-A359-7790FFBF8C47}" type="datetimeFigureOut">
              <a:rPr lang="en-US" smtClean="0"/>
              <a:t>7/15/2015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757590"/>
            <a:ext cx="3004820" cy="461010"/>
          </a:xfrm>
          <a:prstGeom prst="rect">
            <a:avLst/>
          </a:prstGeom>
        </p:spPr>
        <p:txBody>
          <a:bodyPr vert="horz" lIns="92293" tIns="46147" rIns="92293" bIns="46147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27776" y="8757590"/>
            <a:ext cx="3004820" cy="461010"/>
          </a:xfrm>
          <a:prstGeom prst="rect">
            <a:avLst/>
          </a:prstGeom>
        </p:spPr>
        <p:txBody>
          <a:bodyPr vert="horz" lIns="92293" tIns="46147" rIns="92293" bIns="46147" rtlCol="0" anchor="b"/>
          <a:lstStyle>
            <a:lvl1pPr algn="r">
              <a:defRPr sz="1200"/>
            </a:lvl1pPr>
          </a:lstStyle>
          <a:p>
            <a:fld id="{3AA19290-3B50-423F-8386-34EA3226F5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65368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04820" cy="461010"/>
          </a:xfrm>
          <a:prstGeom prst="rect">
            <a:avLst/>
          </a:prstGeom>
        </p:spPr>
        <p:txBody>
          <a:bodyPr vert="horz" lIns="92293" tIns="46147" rIns="92293" bIns="46147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27776" y="0"/>
            <a:ext cx="3004820" cy="461010"/>
          </a:xfrm>
          <a:prstGeom prst="rect">
            <a:avLst/>
          </a:prstGeom>
        </p:spPr>
        <p:txBody>
          <a:bodyPr vert="horz" lIns="92293" tIns="46147" rIns="92293" bIns="46147" rtlCol="0"/>
          <a:lstStyle>
            <a:lvl1pPr algn="r">
              <a:defRPr sz="1200"/>
            </a:lvl1pPr>
          </a:lstStyle>
          <a:p>
            <a:fld id="{D94E0677-78E7-4F29-8DEE-AA9328514842}" type="datetimeFigureOut">
              <a:rPr lang="en-US" smtClean="0"/>
              <a:t>7/15/2015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30313" y="690563"/>
            <a:ext cx="4473575" cy="3457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293" tIns="46147" rIns="92293" bIns="46147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3420" y="4379595"/>
            <a:ext cx="5547360" cy="4149090"/>
          </a:xfrm>
          <a:prstGeom prst="rect">
            <a:avLst/>
          </a:prstGeom>
        </p:spPr>
        <p:txBody>
          <a:bodyPr vert="horz" lIns="92293" tIns="46147" rIns="92293" bIns="46147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57590"/>
            <a:ext cx="3004820" cy="461010"/>
          </a:xfrm>
          <a:prstGeom prst="rect">
            <a:avLst/>
          </a:prstGeom>
        </p:spPr>
        <p:txBody>
          <a:bodyPr vert="horz" lIns="92293" tIns="46147" rIns="92293" bIns="46147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27776" y="8757590"/>
            <a:ext cx="3004820" cy="461010"/>
          </a:xfrm>
          <a:prstGeom prst="rect">
            <a:avLst/>
          </a:prstGeom>
        </p:spPr>
        <p:txBody>
          <a:bodyPr vert="horz" lIns="92293" tIns="46147" rIns="92293" bIns="46147" rtlCol="0" anchor="b"/>
          <a:lstStyle>
            <a:lvl1pPr algn="r">
              <a:defRPr sz="1200"/>
            </a:lvl1pPr>
          </a:lstStyle>
          <a:p>
            <a:fld id="{4CF500CA-EC02-405F-A377-1C6BD89C66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03638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30313" y="692150"/>
            <a:ext cx="4473575" cy="3457575"/>
          </a:xfrm>
          <a:ln/>
        </p:spPr>
      </p:sp>
      <p:sp>
        <p:nvSpPr>
          <p:cNvPr id="90114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 smtClean="0"/>
          </a:p>
        </p:txBody>
      </p:sp>
      <p:sp>
        <p:nvSpPr>
          <p:cNvPr id="90115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19366"/>
            <a:fld id="{1FE077EC-684A-4FD9-A6C3-9AE90D8B81D6}" type="slidenum">
              <a:rPr lang="en-US" smtClean="0"/>
              <a:pPr defTabSz="919366"/>
              <a:t>1</a:t>
            </a:fld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0067720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30313" y="692150"/>
            <a:ext cx="4473575" cy="3457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93BEEDA-D9FC-4A9F-BB3F-83B0CB940930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2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04201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30313" y="692150"/>
            <a:ext cx="4473575" cy="3457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93BEEDA-D9FC-4A9F-BB3F-83B0CB940930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3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04201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30313" y="692150"/>
            <a:ext cx="4473575" cy="3457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93BEEDA-D9FC-4A9F-BB3F-83B0CB940930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4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04201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emf"/><Relationship Id="rId4" Type="http://schemas.openxmlformats.org/officeDocument/2006/relationships/image" Target="../media/image5.gi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emf"/><Relationship Id="rId4" Type="http://schemas.openxmlformats.org/officeDocument/2006/relationships/image" Target="../media/image5.gi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2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Rectangle 48"/>
          <p:cNvSpPr>
            <a:spLocks noChangeArrowheads="1"/>
          </p:cNvSpPr>
          <p:nvPr userDrawn="1"/>
        </p:nvSpPr>
        <p:spPr bwMode="auto">
          <a:xfrm>
            <a:off x="228600" y="7136284"/>
            <a:ext cx="9601200" cy="40121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01858" tIns="50929" rIns="101858" bIns="50929" anchor="ctr"/>
          <a:lstStyle/>
          <a:p>
            <a:endParaRPr lang="en-US" dirty="0"/>
          </a:p>
        </p:txBody>
      </p:sp>
      <p:sp>
        <p:nvSpPr>
          <p:cNvPr id="9" name="Rectangle 50"/>
          <p:cNvSpPr>
            <a:spLocks noChangeArrowheads="1"/>
          </p:cNvSpPr>
          <p:nvPr userDrawn="1"/>
        </p:nvSpPr>
        <p:spPr bwMode="auto">
          <a:xfrm flipV="1">
            <a:off x="228600" y="4967500"/>
            <a:ext cx="9601200" cy="401214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91418" tIns="45710" rIns="91418" bIns="45710" anchor="ctr"/>
          <a:lstStyle/>
          <a:p>
            <a:endParaRPr lang="en-US" dirty="0"/>
          </a:p>
        </p:txBody>
      </p:sp>
      <p:sp>
        <p:nvSpPr>
          <p:cNvPr id="21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accent3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2800" y="6299200"/>
            <a:ext cx="6248400" cy="330200"/>
          </a:xfrm>
        </p:spPr>
        <p:txBody>
          <a:bodyPr/>
          <a:lstStyle>
            <a:lvl1pPr algn="r">
              <a:defRPr sz="2000" b="0" baseline="0">
                <a:solidFill>
                  <a:schemeClr val="accent3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2800" y="6639560"/>
            <a:ext cx="6248400" cy="457200"/>
          </a:xfrm>
        </p:spPr>
        <p:txBody>
          <a:bodyPr/>
          <a:lstStyle>
            <a:lvl1pPr marL="0" indent="0" algn="r">
              <a:buNone/>
              <a:defRPr sz="1700" b="0">
                <a:solidFill>
                  <a:schemeClr val="tx2"/>
                </a:solidFill>
              </a:defRPr>
            </a:lvl1pPr>
            <a:lvl2pPr marL="5094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188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282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0376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5470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0564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565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0752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pic>
        <p:nvPicPr>
          <p:cNvPr id="22" name="Picture 2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11082" y="3986954"/>
            <a:ext cx="2202628" cy="2880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2140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30" descr="Cello_CoverDesigns_Cellobluestrip-01"/>
          <p:cNvPicPr>
            <a:picLocks noChangeAspect="1" noChangeArrowheads="1"/>
          </p:cNvPicPr>
          <p:nvPr userDrawn="1"/>
        </p:nvPicPr>
        <p:blipFill>
          <a:blip r:embed="rId2" cstate="print"/>
          <a:srcRect b="3510"/>
          <a:stretch>
            <a:fillRect/>
          </a:stretch>
        </p:blipFill>
        <p:spPr bwMode="auto">
          <a:xfrm>
            <a:off x="228600" y="4769594"/>
            <a:ext cx="9601200" cy="482500"/>
          </a:xfrm>
          <a:prstGeom prst="rect">
            <a:avLst/>
          </a:prstGeom>
          <a:noFill/>
        </p:spPr>
      </p:pic>
      <p:pic>
        <p:nvPicPr>
          <p:cNvPr id="11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3" cstate="print"/>
          <a:srcRect b="13019"/>
          <a:stretch>
            <a:fillRect/>
          </a:stretch>
        </p:blipFill>
        <p:spPr bwMode="auto">
          <a:xfrm>
            <a:off x="228600" y="8896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6" name="Picture 25" descr="GUGG_logo_262.gif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4043680" y="468949"/>
            <a:ext cx="2072640" cy="153375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3753074" y="3762061"/>
            <a:ext cx="2552251" cy="3337560"/>
          </a:xfrm>
          <a:prstGeom prst="rect">
            <a:avLst/>
          </a:prstGeom>
        </p:spPr>
      </p:pic>
      <p:sp>
        <p:nvSpPr>
          <p:cNvPr id="28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accent3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57969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30" descr="Cello_CoverDesigns_Cellobluestrip-01"/>
          <p:cNvPicPr>
            <a:picLocks noChangeAspect="1" noChangeArrowheads="1"/>
          </p:cNvPicPr>
          <p:nvPr userDrawn="1"/>
        </p:nvPicPr>
        <p:blipFill>
          <a:blip r:embed="rId2" cstate="print"/>
          <a:srcRect b="3510"/>
          <a:stretch>
            <a:fillRect/>
          </a:stretch>
        </p:blipFill>
        <p:spPr bwMode="auto">
          <a:xfrm>
            <a:off x="228600" y="4769594"/>
            <a:ext cx="9601200" cy="482500"/>
          </a:xfrm>
          <a:prstGeom prst="rect">
            <a:avLst/>
          </a:prstGeom>
          <a:noFill/>
        </p:spPr>
      </p:pic>
      <p:pic>
        <p:nvPicPr>
          <p:cNvPr id="11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3" cstate="print"/>
          <a:srcRect b="13019"/>
          <a:stretch>
            <a:fillRect/>
          </a:stretch>
        </p:blipFill>
        <p:spPr bwMode="auto">
          <a:xfrm>
            <a:off x="228600" y="8896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5" name="Rectangle 24"/>
          <p:cNvSpPr/>
          <p:nvPr userDrawn="1"/>
        </p:nvSpPr>
        <p:spPr>
          <a:xfrm>
            <a:off x="228600" y="228600"/>
            <a:ext cx="9601200" cy="731520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10" rIns="91418" bIns="45710" rtlCol="0" anchor="ctr"/>
          <a:lstStyle/>
          <a:p>
            <a:pPr algn="ctr"/>
            <a:endParaRPr lang="en-US" dirty="0"/>
          </a:p>
        </p:txBody>
      </p:sp>
      <p:pic>
        <p:nvPicPr>
          <p:cNvPr id="26" name="Picture 25" descr="GUGG_logo_262.gif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4043680" y="468949"/>
            <a:ext cx="2072640" cy="153375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3753074" y="3762061"/>
            <a:ext cx="2552251" cy="3337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6296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1" descr="Cello_CoverDesigns_cellofade-02"/>
          <p:cNvPicPr>
            <a:picLocks noChangeAspect="1" noChangeArrowheads="1"/>
          </p:cNvPicPr>
          <p:nvPr userDrawn="1"/>
        </p:nvPicPr>
        <p:blipFill>
          <a:blip r:embed="rId2" cstate="print"/>
          <a:srcRect l="2904" t="426" r="180"/>
          <a:stretch>
            <a:fillRect/>
          </a:stretch>
        </p:blipFill>
        <p:spPr bwMode="auto">
          <a:xfrm>
            <a:off x="228600" y="868436"/>
            <a:ext cx="9601200" cy="4295367"/>
          </a:xfrm>
          <a:prstGeom prst="rect">
            <a:avLst/>
          </a:prstGeom>
          <a:noFill/>
        </p:spPr>
      </p:pic>
      <p:sp>
        <p:nvSpPr>
          <p:cNvPr id="8" name="Line 17"/>
          <p:cNvSpPr>
            <a:spLocks noChangeShapeType="1"/>
          </p:cNvSpPr>
          <p:nvPr userDrawn="1"/>
        </p:nvSpPr>
        <p:spPr bwMode="auto">
          <a:xfrm>
            <a:off x="228600" y="5181262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9" name="Line 17"/>
          <p:cNvSpPr>
            <a:spLocks noChangeShapeType="1"/>
          </p:cNvSpPr>
          <p:nvPr userDrawn="1"/>
        </p:nvSpPr>
        <p:spPr bwMode="auto">
          <a:xfrm>
            <a:off x="228600" y="829416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5" name="Rectangle 24"/>
          <p:cNvSpPr/>
          <p:nvPr userDrawn="1"/>
        </p:nvSpPr>
        <p:spPr>
          <a:xfrm>
            <a:off x="228600" y="228600"/>
            <a:ext cx="9601200" cy="73152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10" rIns="91418" bIns="45710" rtlCol="0" anchor="ctr"/>
          <a:lstStyle/>
          <a:p>
            <a:pPr algn="ctr"/>
            <a:endParaRPr lang="en-US" dirty="0"/>
          </a:p>
        </p:txBody>
      </p:sp>
      <p:pic>
        <p:nvPicPr>
          <p:cNvPr id="26" name="Picture 25" descr="GUGG_logo_262.gif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4043680" y="468949"/>
            <a:ext cx="2072640" cy="153375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753074" y="3762061"/>
            <a:ext cx="2552251" cy="3337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9921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1" descr="Cello_CoverDesigns_cellofade-02"/>
          <p:cNvPicPr>
            <a:picLocks noChangeAspect="1" noChangeArrowheads="1"/>
          </p:cNvPicPr>
          <p:nvPr userDrawn="1"/>
        </p:nvPicPr>
        <p:blipFill>
          <a:blip r:embed="rId2" cstate="print"/>
          <a:srcRect l="2904" t="426" r="180"/>
          <a:stretch>
            <a:fillRect/>
          </a:stretch>
        </p:blipFill>
        <p:spPr bwMode="auto">
          <a:xfrm>
            <a:off x="228600" y="868436"/>
            <a:ext cx="9601200" cy="4295367"/>
          </a:xfrm>
          <a:prstGeom prst="rect">
            <a:avLst/>
          </a:prstGeom>
          <a:noFill/>
        </p:spPr>
      </p:pic>
      <p:sp>
        <p:nvSpPr>
          <p:cNvPr id="8" name="Line 17"/>
          <p:cNvSpPr>
            <a:spLocks noChangeShapeType="1"/>
          </p:cNvSpPr>
          <p:nvPr userDrawn="1"/>
        </p:nvSpPr>
        <p:spPr bwMode="auto">
          <a:xfrm>
            <a:off x="228600" y="5181262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9" name="Line 17"/>
          <p:cNvSpPr>
            <a:spLocks noChangeShapeType="1"/>
          </p:cNvSpPr>
          <p:nvPr userDrawn="1"/>
        </p:nvSpPr>
        <p:spPr bwMode="auto">
          <a:xfrm>
            <a:off x="228600" y="829416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5" name="Rectangle 24"/>
          <p:cNvSpPr/>
          <p:nvPr userDrawn="1"/>
        </p:nvSpPr>
        <p:spPr>
          <a:xfrm>
            <a:off x="228600" y="228600"/>
            <a:ext cx="9601200" cy="73152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10" rIns="91418" bIns="45710" rtlCol="0" anchor="ctr"/>
          <a:lstStyle/>
          <a:p>
            <a:pPr algn="ctr"/>
            <a:endParaRPr lang="en-US" dirty="0"/>
          </a:p>
        </p:txBody>
      </p:sp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753074" y="3762061"/>
            <a:ext cx="2552251" cy="3337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3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1" descr="Cello_CoverDesigns_FINAL_3and4-01"/>
          <p:cNvPicPr>
            <a:picLocks noChangeAspect="1" noChangeArrowheads="1"/>
          </p:cNvPicPr>
          <p:nvPr userDrawn="1"/>
        </p:nvPicPr>
        <p:blipFill>
          <a:blip r:embed="rId2" cstate="print"/>
          <a:srcRect t="88849"/>
          <a:stretch>
            <a:fillRect/>
          </a:stretch>
        </p:blipFill>
        <p:spPr bwMode="auto">
          <a:xfrm>
            <a:off x="228600" y="4769721"/>
            <a:ext cx="9601200" cy="4823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3" cstate="print"/>
          <a:srcRect b="13019"/>
          <a:stretch>
            <a:fillRect/>
          </a:stretch>
        </p:blipFill>
        <p:spPr bwMode="auto">
          <a:xfrm>
            <a:off x="228600" y="8896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8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bg2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753074" y="3762061"/>
            <a:ext cx="2552251" cy="3337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8930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2" cstate="print"/>
          <a:srcRect t="88007" b="1381"/>
          <a:stretch>
            <a:fillRect/>
          </a:stretch>
        </p:blipFill>
        <p:spPr bwMode="auto">
          <a:xfrm>
            <a:off x="228600" y="4781954"/>
            <a:ext cx="9601200" cy="470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2" cstate="print"/>
          <a:srcRect b="13019"/>
          <a:stretch>
            <a:fillRect/>
          </a:stretch>
        </p:blipFill>
        <p:spPr bwMode="auto">
          <a:xfrm>
            <a:off x="228600" y="8896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8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bg2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pic>
        <p:nvPicPr>
          <p:cNvPr id="34" name="Picture 3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487283" y="4495800"/>
            <a:ext cx="1083833" cy="141732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293688" y="6400800"/>
            <a:ext cx="9469437" cy="1001713"/>
          </a:xfrm>
        </p:spPr>
        <p:txBody>
          <a:bodyPr/>
          <a:lstStyle>
            <a:lvl1pPr algn="ctr">
              <a:defRPr sz="2600" b="0"/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54498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895600" y="436880"/>
            <a:ext cx="6867525" cy="594360"/>
          </a:xfrm>
        </p:spPr>
        <p:txBody>
          <a:bodyPr/>
          <a:lstStyle>
            <a:lvl1pPr algn="r"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430005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clos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algn="just">
              <a:spcBef>
                <a:spcPts val="1200"/>
              </a:spcBef>
              <a:defRPr sz="1100"/>
            </a:lvl1pPr>
            <a:lvl2pPr algn="just">
              <a:spcBef>
                <a:spcPts val="900"/>
              </a:spcBef>
              <a:defRPr sz="1100"/>
            </a:lvl2pPr>
            <a:lvl3pPr algn="just">
              <a:spcBef>
                <a:spcPts val="600"/>
              </a:spcBef>
              <a:defRPr sz="1100"/>
            </a:lvl3pPr>
            <a:lvl4pPr algn="just">
              <a:spcBef>
                <a:spcPts val="0"/>
              </a:spcBef>
              <a:defRPr sz="1100"/>
            </a:lvl4pPr>
            <a:lvl5pPr algn="just">
              <a:spcBef>
                <a:spcPts val="0"/>
              </a:spcBef>
              <a:defRPr sz="11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895600" y="436880"/>
            <a:ext cx="6867525" cy="594360"/>
          </a:xfrm>
        </p:spPr>
        <p:txBody>
          <a:bodyPr/>
          <a:lstStyle>
            <a:lvl1pPr algn="r">
              <a:defRPr sz="1400" b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552757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7406" y="3881120"/>
            <a:ext cx="8925718" cy="914400"/>
          </a:xfrm>
        </p:spPr>
        <p:txBody>
          <a:bodyPr anchor="t"/>
          <a:lstStyle>
            <a:lvl1pPr algn="l">
              <a:defRPr sz="3200" b="0" cap="all">
                <a:solidFill>
                  <a:schemeClr val="accent3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4800600"/>
            <a:ext cx="8925718" cy="914400"/>
          </a:xfrm>
        </p:spPr>
        <p:txBody>
          <a:bodyPr anchor="t"/>
          <a:lstStyle>
            <a:lvl1pPr marL="0" indent="0" algn="l">
              <a:buNone/>
              <a:defRPr sz="2200" b="0">
                <a:solidFill>
                  <a:schemeClr val="accent1"/>
                </a:solidFill>
              </a:defRPr>
            </a:lvl1pPr>
            <a:lvl2pPr marL="509412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101882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52823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203764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54706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305647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56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407529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Line 31"/>
          <p:cNvSpPr>
            <a:spLocks noChangeShapeType="1"/>
          </p:cNvSpPr>
          <p:nvPr userDrawn="1"/>
        </p:nvSpPr>
        <p:spPr bwMode="auto">
          <a:xfrm>
            <a:off x="695960" y="3886200"/>
            <a:ext cx="0" cy="3411346"/>
          </a:xfrm>
          <a:prstGeom prst="line">
            <a:avLst/>
          </a:prstGeom>
          <a:noFill/>
          <a:ln w="635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25474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os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93688" y="1235075"/>
            <a:ext cx="4526280" cy="5938838"/>
          </a:xfrm>
        </p:spPr>
        <p:txBody>
          <a:bodyPr/>
          <a:lstStyle>
            <a:lvl1pPr algn="just">
              <a:spcBef>
                <a:spcPts val="2400"/>
              </a:spcBef>
              <a:defRPr sz="1300"/>
            </a:lvl1pPr>
            <a:lvl2pPr algn="just">
              <a:spcBef>
                <a:spcPts val="0"/>
              </a:spcBef>
              <a:defRPr sz="1100"/>
            </a:lvl2pPr>
            <a:lvl3pPr algn="just">
              <a:spcBef>
                <a:spcPts val="300"/>
              </a:spcBef>
              <a:defRPr sz="1100"/>
            </a:lvl3pPr>
            <a:lvl4pPr algn="just">
              <a:spcBef>
                <a:spcPts val="300"/>
              </a:spcBef>
              <a:defRPr sz="1100"/>
            </a:lvl4pPr>
            <a:lvl5pPr algn="just">
              <a:spcBef>
                <a:spcPts val="300"/>
              </a:spcBef>
              <a:defRPr sz="11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13350" y="1235075"/>
            <a:ext cx="4526280" cy="5938838"/>
          </a:xfrm>
        </p:spPr>
        <p:txBody>
          <a:bodyPr/>
          <a:lstStyle>
            <a:lvl1pPr algn="just">
              <a:spcBef>
                <a:spcPts val="2400"/>
              </a:spcBef>
              <a:defRPr sz="1300"/>
            </a:lvl1pPr>
            <a:lvl2pPr algn="just">
              <a:spcBef>
                <a:spcPts val="0"/>
              </a:spcBef>
              <a:defRPr sz="1100"/>
            </a:lvl2pPr>
            <a:lvl3pPr algn="just">
              <a:defRPr sz="1100"/>
            </a:lvl3pPr>
            <a:lvl4pPr algn="just">
              <a:defRPr sz="1100"/>
            </a:lvl4pPr>
            <a:lvl5pPr algn="just">
              <a:defRPr sz="11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895600" y="436880"/>
            <a:ext cx="6867525" cy="594360"/>
          </a:xfrm>
        </p:spPr>
        <p:txBody>
          <a:bodyPr/>
          <a:lstStyle>
            <a:lvl1pPr algn="r">
              <a:defRPr sz="1400" b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110181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93688" y="1235075"/>
            <a:ext cx="4526280" cy="5938838"/>
          </a:xfrm>
        </p:spPr>
        <p:txBody>
          <a:bodyPr/>
          <a:lstStyle>
            <a:lvl1pPr algn="just">
              <a:defRPr sz="1400"/>
            </a:lvl1pPr>
            <a:lvl2pPr algn="just">
              <a:defRPr sz="1300"/>
            </a:lvl2pPr>
            <a:lvl3pPr algn="just">
              <a:defRPr sz="1300"/>
            </a:lvl3pPr>
            <a:lvl4pPr algn="just">
              <a:defRPr sz="1300"/>
            </a:lvl4pPr>
            <a:lvl5pPr algn="just">
              <a:defRPr sz="13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13350" y="1235075"/>
            <a:ext cx="4526280" cy="5938838"/>
          </a:xfrm>
        </p:spPr>
        <p:txBody>
          <a:bodyPr/>
          <a:lstStyle>
            <a:lvl1pPr algn="just">
              <a:defRPr sz="1400"/>
            </a:lvl1pPr>
            <a:lvl2pPr algn="just">
              <a:defRPr sz="1300"/>
            </a:lvl2pPr>
            <a:lvl3pPr algn="just">
              <a:defRPr sz="1300"/>
            </a:lvl3pPr>
            <a:lvl4pPr algn="just">
              <a:defRPr sz="1300"/>
            </a:lvl4pPr>
            <a:lvl5pPr algn="just">
              <a:defRPr sz="13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895600" y="436880"/>
            <a:ext cx="6867525" cy="594360"/>
          </a:xfrm>
        </p:spPr>
        <p:txBody>
          <a:bodyPr/>
          <a:lstStyle>
            <a:lvl1pPr algn="r">
              <a:defRPr sz="1400" b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534523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688" y="1235075"/>
            <a:ext cx="4526280" cy="725064"/>
          </a:xfrm>
        </p:spPr>
        <p:txBody>
          <a:bodyPr anchor="t"/>
          <a:lstStyle>
            <a:lvl1pPr marL="0" indent="0">
              <a:buNone/>
              <a:defRPr sz="1400" b="1"/>
            </a:lvl1pPr>
            <a:lvl2pPr marL="509412" indent="0">
              <a:buNone/>
              <a:defRPr sz="2200" b="1"/>
            </a:lvl2pPr>
            <a:lvl3pPr marL="1018824" indent="0">
              <a:buNone/>
              <a:defRPr sz="2000" b="1"/>
            </a:lvl3pPr>
            <a:lvl4pPr marL="1528237" indent="0">
              <a:buNone/>
              <a:defRPr sz="1800" b="1"/>
            </a:lvl4pPr>
            <a:lvl5pPr marL="2037649" indent="0">
              <a:buNone/>
              <a:defRPr sz="1800" b="1"/>
            </a:lvl5pPr>
            <a:lvl6pPr marL="2547061" indent="0">
              <a:buNone/>
              <a:defRPr sz="1800" b="1"/>
            </a:lvl6pPr>
            <a:lvl7pPr marL="3056473" indent="0">
              <a:buNone/>
              <a:defRPr sz="1800" b="1"/>
            </a:lvl7pPr>
            <a:lvl8pPr marL="3565886" indent="0">
              <a:buNone/>
              <a:defRPr sz="1800" b="1"/>
            </a:lvl8pPr>
            <a:lvl9pPr marL="4075298" indent="0">
              <a:buNone/>
              <a:defRPr sz="18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3688" y="1960139"/>
            <a:ext cx="4526280" cy="5213774"/>
          </a:xfrm>
        </p:spPr>
        <p:txBody>
          <a:bodyPr/>
          <a:lstStyle>
            <a:lvl1pPr algn="just">
              <a:defRPr sz="1300"/>
            </a:lvl1pPr>
            <a:lvl2pPr algn="just">
              <a:defRPr sz="1300"/>
            </a:lvl2pPr>
            <a:lvl3pPr algn="just">
              <a:defRPr sz="1300"/>
            </a:lvl3pPr>
            <a:lvl4pPr algn="just">
              <a:defRPr sz="1300"/>
            </a:lvl4pPr>
            <a:lvl5pPr algn="just">
              <a:defRPr sz="13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208270" y="1235075"/>
            <a:ext cx="4526280" cy="725064"/>
          </a:xfrm>
        </p:spPr>
        <p:txBody>
          <a:bodyPr anchor="t"/>
          <a:lstStyle>
            <a:lvl1pPr marL="0" indent="0">
              <a:buNone/>
              <a:defRPr sz="1400" b="1"/>
            </a:lvl1pPr>
            <a:lvl2pPr marL="509412" indent="0">
              <a:buNone/>
              <a:defRPr sz="2200" b="1"/>
            </a:lvl2pPr>
            <a:lvl3pPr marL="1018824" indent="0">
              <a:buNone/>
              <a:defRPr sz="2000" b="1"/>
            </a:lvl3pPr>
            <a:lvl4pPr marL="1528237" indent="0">
              <a:buNone/>
              <a:defRPr sz="1800" b="1"/>
            </a:lvl4pPr>
            <a:lvl5pPr marL="2037649" indent="0">
              <a:buNone/>
              <a:defRPr sz="1800" b="1"/>
            </a:lvl5pPr>
            <a:lvl6pPr marL="2547061" indent="0">
              <a:buNone/>
              <a:defRPr sz="1800" b="1"/>
            </a:lvl6pPr>
            <a:lvl7pPr marL="3056473" indent="0">
              <a:buNone/>
              <a:defRPr sz="1800" b="1"/>
            </a:lvl7pPr>
            <a:lvl8pPr marL="3565886" indent="0">
              <a:buNone/>
              <a:defRPr sz="1800" b="1"/>
            </a:lvl8pPr>
            <a:lvl9pPr marL="4075298" indent="0">
              <a:buNone/>
              <a:defRPr sz="18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208270" y="1960139"/>
            <a:ext cx="4526280" cy="5213774"/>
          </a:xfrm>
        </p:spPr>
        <p:txBody>
          <a:bodyPr/>
          <a:lstStyle>
            <a:lvl1pPr algn="just">
              <a:defRPr sz="1300"/>
            </a:lvl1pPr>
            <a:lvl2pPr algn="just">
              <a:defRPr sz="1300"/>
            </a:lvl2pPr>
            <a:lvl3pPr algn="just">
              <a:defRPr sz="1300"/>
            </a:lvl3pPr>
            <a:lvl4pPr algn="just">
              <a:defRPr sz="1300"/>
            </a:lvl4pPr>
            <a:lvl5pPr algn="just">
              <a:defRPr sz="13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895600" y="436880"/>
            <a:ext cx="6867525" cy="594360"/>
          </a:xfrm>
        </p:spPr>
        <p:txBody>
          <a:bodyPr/>
          <a:lstStyle>
            <a:lvl1pPr algn="r">
              <a:defRPr sz="1400" b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619624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 T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3687" y="1235075"/>
            <a:ext cx="1839913" cy="5938837"/>
          </a:xfrm>
        </p:spPr>
        <p:txBody>
          <a:bodyPr/>
          <a:lstStyle>
            <a:lvl1pPr>
              <a:spcBef>
                <a:spcPts val="2400"/>
              </a:spcBef>
              <a:defRPr sz="1300"/>
            </a:lvl1pPr>
            <a:lvl2pPr>
              <a:defRPr sz="1100"/>
            </a:lvl2pPr>
            <a:lvl3pPr>
              <a:spcBef>
                <a:spcPts val="600"/>
              </a:spcBef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2514600" y="1235075"/>
            <a:ext cx="7214616" cy="5938838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8" name="Line 31"/>
          <p:cNvSpPr>
            <a:spLocks noChangeShapeType="1"/>
          </p:cNvSpPr>
          <p:nvPr userDrawn="1"/>
        </p:nvSpPr>
        <p:spPr bwMode="auto">
          <a:xfrm>
            <a:off x="2302546" y="1235074"/>
            <a:ext cx="0" cy="6062472"/>
          </a:xfrm>
          <a:prstGeom prst="line">
            <a:avLst/>
          </a:prstGeom>
          <a:noFill/>
          <a:ln w="635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/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895600" y="436880"/>
            <a:ext cx="6867525" cy="594360"/>
          </a:xfrm>
        </p:spPr>
        <p:txBody>
          <a:bodyPr/>
          <a:lstStyle>
            <a:lvl1pPr algn="r">
              <a:defRPr sz="1400" b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012772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 Sho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3687" y="1874838"/>
            <a:ext cx="1839913" cy="5299074"/>
          </a:xfrm>
        </p:spPr>
        <p:txBody>
          <a:bodyPr/>
          <a:lstStyle>
            <a:lvl1pPr>
              <a:spcBef>
                <a:spcPts val="2400"/>
              </a:spcBef>
              <a:defRPr sz="1300"/>
            </a:lvl1pPr>
            <a:lvl2pPr>
              <a:defRPr sz="1100"/>
            </a:lvl2pPr>
            <a:lvl3pPr>
              <a:spcBef>
                <a:spcPts val="600"/>
              </a:spcBef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2514600" y="1874837"/>
            <a:ext cx="7214616" cy="5299075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8" name="Line 31"/>
          <p:cNvSpPr>
            <a:spLocks noChangeShapeType="1"/>
          </p:cNvSpPr>
          <p:nvPr userDrawn="1"/>
        </p:nvSpPr>
        <p:spPr bwMode="auto">
          <a:xfrm>
            <a:off x="2302546" y="1905000"/>
            <a:ext cx="0" cy="5392546"/>
          </a:xfrm>
          <a:prstGeom prst="line">
            <a:avLst/>
          </a:prstGeom>
          <a:noFill/>
          <a:ln w="635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/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895600" y="436880"/>
            <a:ext cx="6867525" cy="594360"/>
          </a:xfrm>
        </p:spPr>
        <p:txBody>
          <a:bodyPr/>
          <a:lstStyle>
            <a:lvl1pPr algn="r">
              <a:defRPr sz="1400" b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885739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895600" y="436880"/>
            <a:ext cx="6867525" cy="594360"/>
          </a:xfrm>
        </p:spPr>
        <p:txBody>
          <a:bodyPr/>
          <a:lstStyle>
            <a:lvl1pPr algn="r">
              <a:defRPr sz="1400" b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899754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23241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261941"/>
            <a:ext cx="6867524" cy="6096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687" y="1235075"/>
            <a:ext cx="9469437" cy="593883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9" name="Rectangle 200"/>
          <p:cNvSpPr>
            <a:spLocks noChangeArrowheads="1"/>
          </p:cNvSpPr>
          <p:nvPr userDrawn="1"/>
        </p:nvSpPr>
        <p:spPr bwMode="auto">
          <a:xfrm>
            <a:off x="228600" y="732341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 smtClean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228600" y="7291071"/>
            <a:ext cx="9601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283529" y="320040"/>
            <a:ext cx="2478795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86097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50" r:id="rId8"/>
    <p:sldLayoutId id="2147483664" r:id="rId9"/>
    <p:sldLayoutId id="2147483651" r:id="rId10"/>
    <p:sldLayoutId id="2147483652" r:id="rId11"/>
    <p:sldLayoutId id="2147483665" r:id="rId12"/>
    <p:sldLayoutId id="2147483653" r:id="rId13"/>
    <p:sldLayoutId id="2147483656" r:id="rId14"/>
    <p:sldLayoutId id="2147483657" r:id="rId15"/>
    <p:sldLayoutId id="2147483654" r:id="rId16"/>
    <p:sldLayoutId id="2147483655" r:id="rId17"/>
  </p:sldLayoutIdLst>
  <p:txStyles>
    <p:titleStyle>
      <a:lvl1pPr algn="r" defTabSz="1018824" rtl="0" eaLnBrk="1" latinLnBrk="0" hangingPunct="1">
        <a:lnSpc>
          <a:spcPct val="110000"/>
        </a:lnSpc>
        <a:spcBef>
          <a:spcPct val="0"/>
        </a:spcBef>
        <a:buNone/>
        <a:defRPr sz="1400" b="1" kern="1200" cap="all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1018824" rtl="0" eaLnBrk="1" latinLnBrk="0" hangingPunct="1">
        <a:lnSpc>
          <a:spcPct val="110000"/>
        </a:lnSpc>
        <a:spcBef>
          <a:spcPts val="1800"/>
        </a:spcBef>
        <a:buFont typeface="Arial" panose="020B0604020202020204" pitchFamily="34" charset="0"/>
        <a:buNone/>
        <a:defRPr sz="1400" b="1" kern="1200">
          <a:solidFill>
            <a:schemeClr val="accent1"/>
          </a:solidFill>
          <a:latin typeface="+mj-lt"/>
          <a:ea typeface="+mn-ea"/>
          <a:cs typeface="+mn-cs"/>
        </a:defRPr>
      </a:lvl1pPr>
      <a:lvl2pPr marL="0" indent="0" algn="l" defTabSz="1018824" rtl="0" eaLnBrk="1" latinLnBrk="0" hangingPunct="1">
        <a:lnSpc>
          <a:spcPct val="110000"/>
        </a:lnSpc>
        <a:spcBef>
          <a:spcPts val="1500"/>
        </a:spcBef>
        <a:buFont typeface="Arial" panose="020B0604020202020204" pitchFamily="34" charset="0"/>
        <a:buNone/>
        <a:defRPr sz="1300" b="1" kern="1200">
          <a:solidFill>
            <a:schemeClr val="tx1"/>
          </a:solidFill>
          <a:latin typeface="+mj-lt"/>
          <a:ea typeface="+mn-ea"/>
          <a:cs typeface="+mn-cs"/>
        </a:defRPr>
      </a:lvl2pPr>
      <a:lvl3pPr marL="1588" indent="0" algn="l" defTabSz="1018824" rtl="0" eaLnBrk="1" latinLnBrk="0" hangingPunct="1">
        <a:lnSpc>
          <a:spcPct val="110000"/>
        </a:lnSpc>
        <a:spcBef>
          <a:spcPts val="300"/>
        </a:spcBef>
        <a:buFont typeface="Arial" panose="020B0604020202020204" pitchFamily="34" charset="0"/>
        <a:buNone/>
        <a:defRPr sz="1300" kern="1200">
          <a:solidFill>
            <a:schemeClr val="tx1"/>
          </a:solidFill>
          <a:latin typeface="+mj-lt"/>
          <a:ea typeface="+mn-ea"/>
          <a:cs typeface="+mn-cs"/>
        </a:defRPr>
      </a:lvl3pPr>
      <a:lvl4pPr marL="173038" indent="-173038" algn="l" defTabSz="1018824" rtl="0" eaLnBrk="1" latinLnBrk="0" hangingPunct="1">
        <a:lnSpc>
          <a:spcPct val="110000"/>
        </a:lnSpc>
        <a:spcBef>
          <a:spcPts val="300"/>
        </a:spcBef>
        <a:buSzPct val="80000"/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j-lt"/>
          <a:ea typeface="+mn-ea"/>
          <a:cs typeface="+mn-cs"/>
        </a:defRPr>
      </a:lvl4pPr>
      <a:lvl5pPr marL="385763" indent="-206375" algn="l" defTabSz="1018824" rtl="0" eaLnBrk="1" latinLnBrk="0" hangingPunct="1">
        <a:lnSpc>
          <a:spcPct val="110000"/>
        </a:lnSpc>
        <a:spcBef>
          <a:spcPts val="300"/>
        </a:spcBef>
        <a:buFont typeface="Arial" panose="020B0604020202020204" pitchFamily="34" charset="0"/>
        <a:buChar char="–"/>
        <a:defRPr sz="1300" kern="1200">
          <a:solidFill>
            <a:schemeClr val="tx1"/>
          </a:solidFill>
          <a:latin typeface="+mj-lt"/>
          <a:ea typeface="+mn-ea"/>
          <a:cs typeface="+mn-cs"/>
        </a:defRPr>
      </a:lvl5pPr>
      <a:lvl6pPr marL="2801767" indent="-254706" algn="l" defTabSz="101882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311180" indent="-254706" algn="l" defTabSz="101882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820592" indent="-254706" algn="l" defTabSz="101882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330004" indent="-254706" algn="l" defTabSz="101882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412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824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8237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649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7061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6473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886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5298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Long Short equity</a:t>
            </a:r>
            <a:endParaRPr lang="en-US" dirty="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July 2015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6037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Straight Connector 23"/>
          <p:cNvCxnSpPr/>
          <p:nvPr/>
        </p:nvCxnSpPr>
        <p:spPr>
          <a:xfrm>
            <a:off x="3276600" y="1347696"/>
            <a:ext cx="5838265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Return Generating process for equity</a:t>
            </a:r>
            <a:endParaRPr lang="en-US" dirty="0"/>
          </a:p>
        </p:txBody>
      </p:sp>
      <p:sp>
        <p:nvSpPr>
          <p:cNvPr id="16" name="Content Placeholder 12"/>
          <p:cNvSpPr>
            <a:spLocks noGrp="1"/>
          </p:cNvSpPr>
          <p:nvPr>
            <p:ph idx="1"/>
          </p:nvPr>
        </p:nvSpPr>
        <p:spPr>
          <a:xfrm>
            <a:off x="293687" y="1235075"/>
            <a:ext cx="1839913" cy="5927725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200" b="0" dirty="0" smtClean="0">
                <a:solidFill>
                  <a:schemeClr val="tx1"/>
                </a:solidFill>
                <a:latin typeface="+mn-lt"/>
              </a:rPr>
              <a:t>There are some fundamental differences between modeling credit events for residential loans versus commercial loans.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200" b="0" dirty="0">
              <a:solidFill>
                <a:schemeClr val="tx1"/>
              </a:solidFill>
              <a:latin typeface="+mn-lt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200" b="0" dirty="0" smtClean="0">
                <a:solidFill>
                  <a:schemeClr val="tx1"/>
                </a:solidFill>
                <a:latin typeface="+mn-lt"/>
              </a:rPr>
              <a:t>The smaller population of commercial mortgages, heterogeneity of the underlying properties/loans, and the potential for large single loans to have an outsized impact on the returns of a securitization (“concentration risk”) all lead to a modeling process that combines qualitative and quantitative measures.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200" b="0" dirty="0">
              <a:solidFill>
                <a:schemeClr val="tx1"/>
              </a:solidFill>
              <a:latin typeface="+mn-lt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100" b="0" dirty="0">
              <a:solidFill>
                <a:schemeClr val="tx1"/>
              </a:solidFill>
            </a:endParaRPr>
          </a:p>
          <a:p>
            <a:endParaRPr lang="en-US" sz="1100" b="0" dirty="0" smtClean="0">
              <a:solidFill>
                <a:schemeClr val="tx1"/>
              </a:solidFill>
            </a:endParaRPr>
          </a:p>
          <a:p>
            <a:endParaRPr lang="en-US" sz="1100" b="0" dirty="0">
              <a:solidFill>
                <a:schemeClr val="tx1"/>
              </a:solidFill>
            </a:endParaRPr>
          </a:p>
          <a:p>
            <a:endParaRPr lang="en-US" sz="1100" dirty="0" smtClean="0"/>
          </a:p>
        </p:txBody>
      </p:sp>
      <p:sp>
        <p:nvSpPr>
          <p:cNvPr id="36" name="Rectangle 35"/>
          <p:cNvSpPr/>
          <p:nvPr/>
        </p:nvSpPr>
        <p:spPr>
          <a:xfrm>
            <a:off x="877264" y="7349978"/>
            <a:ext cx="129715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00" dirty="0"/>
              <a:t>Source: </a:t>
            </a:r>
            <a:r>
              <a:rPr lang="en-US" sz="900" dirty="0" smtClean="0"/>
              <a:t>Blackrock, Cello</a:t>
            </a:r>
            <a:endParaRPr lang="en-US" sz="9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3157992" y="1669134"/>
                <a:ext cx="6213303" cy="4717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𝑅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/>
                        </a:rPr>
                        <m:t>   </m:t>
                      </m:r>
                      <m:r>
                        <a:rPr lang="en-US" i="1">
                          <a:latin typeface="Cambria Math"/>
                        </a:rPr>
                        <m:t>=</m:t>
                      </m:r>
                      <m:r>
                        <a:rPr lang="en-US" b="0" i="1" smtClean="0">
                          <a:latin typeface="Cambria Math"/>
                        </a:rPr>
                        <m:t>   </m:t>
                      </m:r>
                      <m:r>
                        <a:rPr lang="en-US" i="1">
                          <a:latin typeface="Cambria Math"/>
                        </a:rPr>
                        <m:t>𝛼</m:t>
                      </m:r>
                      <m:r>
                        <a:rPr lang="en-US" i="1">
                          <a:latin typeface="Cambria Math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𝑡</m:t>
                          </m:r>
                        </m:sub>
                        <m:sup>
                          <m:r>
                            <a:rPr lang="en-US" i="1">
                              <a:latin typeface="Cambria Math"/>
                            </a:rPr>
                            <m:t>𝑀</m:t>
                          </m:r>
                        </m:sup>
                      </m:sSubSup>
                      <m:r>
                        <a:rPr lang="en-US" i="1">
                          <a:latin typeface="Cambria Math"/>
                        </a:rPr>
                        <m:t>×</m:t>
                      </m:r>
                      <m:sSub>
                        <m:sSubPr>
                          <m:ctrlPr>
                            <a:rPr lang="en-US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𝑀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/>
                        </a:rPr>
                        <m:t>   </m:t>
                      </m:r>
                      <m:r>
                        <a:rPr lang="en-US" i="1">
                          <a:latin typeface="Cambria Math"/>
                        </a:rPr>
                        <m:t>+</m:t>
                      </m:r>
                      <m:r>
                        <a:rPr lang="en-US" b="0" i="1" smtClean="0">
                          <a:latin typeface="Cambria Math"/>
                        </a:rPr>
                        <m:t>   </m:t>
                      </m:r>
                      <m:sSubSup>
                        <m:sSubSupPr>
                          <m:ctrlPr>
                            <a:rPr lang="en-US" i="1"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𝑡</m:t>
                          </m:r>
                        </m:sub>
                        <m:sup>
                          <m:r>
                            <a:rPr lang="en-US" i="1">
                              <a:latin typeface="Cambria Math"/>
                            </a:rPr>
                            <m:t>𝐼</m:t>
                          </m:r>
                        </m:sup>
                      </m:sSubSup>
                      <m:r>
                        <a:rPr lang="en-US" i="1">
                          <a:latin typeface="Cambria Math"/>
                        </a:rPr>
                        <m:t>×</m:t>
                      </m:r>
                      <m:sSub>
                        <m:sSubPr>
                          <m:ctrlPr>
                            <a:rPr lang="en-US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/>
                        </a:rPr>
                        <m:t>   </m:t>
                      </m:r>
                      <m:r>
                        <a:rPr lang="en-US" i="1">
                          <a:latin typeface="Cambria Math"/>
                        </a:rPr>
                        <m:t>+</m:t>
                      </m:r>
                      <m:r>
                        <a:rPr lang="en-US" b="0" i="1" smtClean="0">
                          <a:latin typeface="Cambria Math"/>
                        </a:rPr>
                        <m:t>   </m:t>
                      </m:r>
                      <m:sSubSup>
                        <m:sSubSupPr>
                          <m:ctrlPr>
                            <a:rPr lang="en-US" i="1"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𝑡</m:t>
                          </m:r>
                        </m:sub>
                        <m:sup>
                          <m:r>
                            <a:rPr lang="en-US" i="1">
                              <a:latin typeface="Cambria Math"/>
                            </a:rPr>
                            <m:t>𝐹</m:t>
                          </m:r>
                        </m:sup>
                      </m:sSubSup>
                      <m:r>
                        <a:rPr lang="en-US" i="1">
                          <a:latin typeface="Cambria Math"/>
                        </a:rPr>
                        <m:t>×</m:t>
                      </m:r>
                      <m:sSub>
                        <m:sSubPr>
                          <m:ctrlPr>
                            <a:rPr lang="en-US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𝐹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/>
                        </a:rPr>
                        <m:t>   </m:t>
                      </m:r>
                      <m:r>
                        <a:rPr lang="en-US" i="1">
                          <a:latin typeface="Cambria Math"/>
                        </a:rPr>
                        <m:t>+</m:t>
                      </m:r>
                      <m:r>
                        <a:rPr lang="en-US" b="0" i="1" smtClean="0">
                          <a:latin typeface="Cambria Math"/>
                        </a:rPr>
                        <m:t>   </m:t>
                      </m:r>
                      <m:sSub>
                        <m:sSubPr>
                          <m:ctrlPr>
                            <a:rPr lang="en-US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𝜀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7992" y="1669134"/>
                <a:ext cx="6213303" cy="471732"/>
              </a:xfrm>
              <a:prstGeom prst="rect">
                <a:avLst/>
              </a:prstGeom>
              <a:blipFill rotWithShape="1">
                <a:blip r:embed="rId3"/>
                <a:stretch>
                  <a:fillRect b="-64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97508909"/>
                  </p:ext>
                </p:extLst>
              </p:nvPr>
            </p:nvGraphicFramePr>
            <p:xfrm>
              <a:off x="2864970" y="2431683"/>
              <a:ext cx="6799348" cy="45770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99837"/>
                    <a:gridCol w="1699837"/>
                    <a:gridCol w="1699837"/>
                    <a:gridCol w="1699837"/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1" i="1" smtClean="0">
                                    <a:latin typeface="Cambria Math"/>
                                  </a:rPr>
                                  <m:t>𝜶</m:t>
                                </m:r>
                                <m:r>
                                  <a:rPr lang="en-US" sz="1200" b="1" i="1" smtClean="0">
                                    <a:latin typeface="Cambria Math"/>
                                  </a:rPr>
                                  <m:t>+</m:t>
                                </m:r>
                                <m:sSubSup>
                                  <m:sSubSupPr>
                                    <m:ctrlPr>
                                      <a:rPr lang="en-US" sz="1200" b="1" i="1">
                                        <a:latin typeface="Cambria Math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200" b="1" i="1">
                                        <a:latin typeface="Cambria Math"/>
                                      </a:rPr>
                                      <m:t>𝜷</m:t>
                                    </m:r>
                                  </m:e>
                                  <m:sub>
                                    <m:r>
                                      <a:rPr lang="en-US" sz="1200" b="1" i="1">
                                        <a:latin typeface="Cambria Math"/>
                                      </a:rPr>
                                      <m:t>𝒕</m:t>
                                    </m:r>
                                  </m:sub>
                                  <m:sup>
                                    <m:r>
                                      <a:rPr lang="en-US" sz="1200" b="1" i="1">
                                        <a:latin typeface="Cambria Math"/>
                                      </a:rPr>
                                      <m:t>𝑴</m:t>
                                    </m:r>
                                  </m:sup>
                                </m:sSubSup>
                                <m:r>
                                  <a:rPr lang="en-US" sz="1200" b="1" i="1">
                                    <a:latin typeface="Cambria Math"/>
                                  </a:rPr>
                                  <m:t>×</m:t>
                                </m:r>
                                <m:sSub>
                                  <m:sSubPr>
                                    <m:ctrlPr>
                                      <a:rPr lang="en-US" sz="1200" b="1" i="1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>
                                        <a:latin typeface="Cambria Math"/>
                                      </a:rPr>
                                      <m:t>𝑴</m:t>
                                    </m:r>
                                  </m:e>
                                  <m:sub>
                                    <m:r>
                                      <a:rPr lang="en-US" sz="1200" b="1" i="1">
                                        <a:latin typeface="Cambria Math"/>
                                      </a:rPr>
                                      <m:t>𝒕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1200" b="1" i="1" smtClean="0">
                                        <a:latin typeface="Cambria Math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200" b="1" i="1">
                                        <a:latin typeface="Cambria Math"/>
                                      </a:rPr>
                                      <m:t>𝜷</m:t>
                                    </m:r>
                                  </m:e>
                                  <m:sub>
                                    <m:r>
                                      <a:rPr lang="en-US" sz="1200" b="1" i="1">
                                        <a:latin typeface="Cambria Math"/>
                                      </a:rPr>
                                      <m:t>𝒕</m:t>
                                    </m:r>
                                  </m:sub>
                                  <m:sup>
                                    <m:r>
                                      <a:rPr lang="en-US" sz="1200" b="1" i="1">
                                        <a:latin typeface="Cambria Math"/>
                                      </a:rPr>
                                      <m:t>𝑰</m:t>
                                    </m:r>
                                  </m:sup>
                                </m:sSubSup>
                                <m:r>
                                  <a:rPr lang="en-US" sz="1200" b="1" i="1">
                                    <a:latin typeface="Cambria Math"/>
                                  </a:rPr>
                                  <m:t>×</m:t>
                                </m:r>
                                <m:sSub>
                                  <m:sSubPr>
                                    <m:ctrlPr>
                                      <a:rPr lang="en-US" sz="1200" b="1" i="1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>
                                        <a:latin typeface="Cambria Math"/>
                                      </a:rPr>
                                      <m:t>𝑰</m:t>
                                    </m:r>
                                  </m:e>
                                  <m:sub>
                                    <m:r>
                                      <a:rPr lang="en-US" sz="1200" b="1" i="1">
                                        <a:latin typeface="Cambria Math"/>
                                      </a:rPr>
                                      <m:t>𝒕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b="1" dirty="0"/>
                        </a:p>
                      </a:txBody>
                      <a:tcPr anchor="ctr"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1200" b="1" i="1" smtClean="0">
                                        <a:latin typeface="Cambria Math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200" b="1" i="1">
                                        <a:latin typeface="Cambria Math"/>
                                      </a:rPr>
                                      <m:t>𝜷</m:t>
                                    </m:r>
                                  </m:e>
                                  <m:sub>
                                    <m:r>
                                      <a:rPr lang="en-US" sz="1200" b="1" i="1">
                                        <a:latin typeface="Cambria Math"/>
                                      </a:rPr>
                                      <m:t>𝒕</m:t>
                                    </m:r>
                                  </m:sub>
                                  <m:sup>
                                    <m:r>
                                      <a:rPr lang="en-US" sz="1200" b="1" i="1">
                                        <a:latin typeface="Cambria Math"/>
                                      </a:rPr>
                                      <m:t>𝑭</m:t>
                                    </m:r>
                                  </m:sup>
                                </m:sSubSup>
                                <m:r>
                                  <a:rPr lang="en-US" sz="1200" b="1" i="1">
                                    <a:latin typeface="Cambria Math"/>
                                  </a:rPr>
                                  <m:t>×</m:t>
                                </m:r>
                                <m:sSub>
                                  <m:sSubPr>
                                    <m:ctrlPr>
                                      <a:rPr lang="en-US" sz="1200" b="1" i="1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>
                                        <a:latin typeface="Cambria Math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US" sz="1200" b="1" i="1">
                                        <a:latin typeface="Cambria Math"/>
                                      </a:rPr>
                                      <m:t>𝒕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b="1" dirty="0"/>
                        </a:p>
                      </a:txBody>
                      <a:tcPr anchor="ctr">
                        <a:solidFill>
                          <a:schemeClr val="accent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>
                                        <a:latin typeface="Cambria Math"/>
                                      </a:rPr>
                                      <m:t>𝜺</m:t>
                                    </m:r>
                                  </m:e>
                                  <m:sub>
                                    <m:r>
                                      <a:rPr lang="en-US" sz="1200" b="1" i="1">
                                        <a:latin typeface="Cambria Math"/>
                                      </a:rPr>
                                      <m:t>𝒕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b="1" dirty="0"/>
                        </a:p>
                      </a:txBody>
                      <a:tcPr anchor="ctr">
                        <a:solidFill>
                          <a:schemeClr val="accent4"/>
                        </a:solid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General Market Movements</a:t>
                          </a:r>
                          <a:endParaRPr 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Industry Membership</a:t>
                          </a:r>
                          <a:endParaRPr 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Exposure to </a:t>
                          </a:r>
                        </a:p>
                        <a:p>
                          <a:pPr algn="ctr"/>
                          <a:r>
                            <a:rPr lang="en-US" sz="1200" dirty="0" smtClean="0"/>
                            <a:t>Systematic Factors</a:t>
                          </a:r>
                          <a:endParaRPr 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Firm-Specific Return</a:t>
                          </a:r>
                          <a:endParaRPr lang="en-US" sz="1200" dirty="0"/>
                        </a:p>
                      </a:txBody>
                      <a:tcPr anchor="ctr"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20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This portion of return is attributable to general market movements. </a:t>
                          </a:r>
                        </a:p>
                        <a:p>
                          <a:endParaRPr lang="en-US" sz="1200" kern="1200" dirty="0" smtClean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r>
                            <a:rPr lang="en-US" sz="120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It consists of a market drift term α, which is the return that all stocks earn just for being a stock that month.</a:t>
                          </a:r>
                        </a:p>
                        <a:p>
                          <a:endParaRPr lang="en-US" sz="1200" kern="1200" dirty="0" smtClean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r>
                            <a:rPr lang="en-US" sz="120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Plus the incremental return associated with the stock’s normalized beta.</a:t>
                          </a:r>
                        </a:p>
                        <a:p>
                          <a:endParaRPr 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A portion flows from its industry membership.</a:t>
                          </a:r>
                        </a:p>
                        <a:p>
                          <a:endParaRPr lang="en-US" sz="1200" kern="1200" dirty="0" smtClean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r>
                            <a:rPr lang="en-US" sz="120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Industry related returns are estimated as the coefficients, I, of the 0-1 variable matrix β</a:t>
                          </a:r>
                          <a:r>
                            <a:rPr lang="en-US" sz="1200" kern="1200" baseline="300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I</a:t>
                          </a:r>
                          <a:r>
                            <a:rPr lang="en-US" sz="120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encoding industry membership.</a:t>
                          </a:r>
                        </a:p>
                        <a:p>
                          <a:endParaRPr lang="en-US" sz="1200" kern="1200" dirty="0" smtClean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r>
                            <a:rPr lang="en-US" sz="120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The portion equals the returns attributable to industry membership after controlling for market movements and factor exposure.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Returns from systematic factors arise from characteristics such as P/E, volatility, momentum, growth</a:t>
                          </a:r>
                          <a:r>
                            <a:rPr lang="en-US" sz="1200" kern="1200" baseline="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</a:t>
                          </a:r>
                          <a:r>
                            <a:rPr lang="en-US" sz="120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orientation, and capitalization.</a:t>
                          </a:r>
                        </a:p>
                        <a:p>
                          <a:endParaRPr lang="en-US" sz="1200" kern="1200" dirty="0" smtClean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r>
                            <a:rPr lang="en-US" sz="120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They are estimated as the coefficients, F, of the factor exposure matrix β</a:t>
                          </a:r>
                          <a:r>
                            <a:rPr lang="en-US" sz="1200" kern="1200" baseline="300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F</a:t>
                          </a:r>
                          <a:r>
                            <a:rPr lang="en-US" sz="120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.</a:t>
                          </a:r>
                        </a:p>
                        <a:p>
                          <a:endParaRPr lang="en-US" sz="1200" kern="1200" dirty="0" smtClean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r>
                            <a:rPr lang="en-US" sz="120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This portion contains, for each of the N stocks, the normalized exposures or betas to the K different systematic factors.</a:t>
                          </a:r>
                        </a:p>
                        <a:p>
                          <a:endParaRPr lang="en-US" sz="1200" kern="1200" dirty="0" smtClean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This portion is unrelated to general market moves, industry membership, or systematic factors. </a:t>
                          </a:r>
                        </a:p>
                        <a:p>
                          <a:endParaRPr lang="en-US" sz="1200" kern="1200" dirty="0" smtClean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r>
                            <a:rPr lang="en-US" sz="120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ε is therefore unique or specific to the company. </a:t>
                          </a:r>
                        </a:p>
                        <a:p>
                          <a:endParaRPr lang="en-US" sz="1200" kern="1200" dirty="0" smtClean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r>
                            <a:rPr lang="en-US" sz="120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Firm specific returns are calculated as the residuals in the cross-sectional regression that relates monthly stock returns to the other systematic factors.</a:t>
                          </a:r>
                        </a:p>
                        <a:p>
                          <a:endParaRPr lang="en-US" sz="1200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97508909"/>
                  </p:ext>
                </p:extLst>
              </p:nvPr>
            </p:nvGraphicFramePr>
            <p:xfrm>
              <a:off x="2864970" y="2431683"/>
              <a:ext cx="6799348" cy="45770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99837"/>
                    <a:gridCol w="1699837"/>
                    <a:gridCol w="1699837"/>
                    <a:gridCol w="1699837"/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1">
                          <a:blip r:embed="rId4"/>
                          <a:stretch>
                            <a:fillRect l="-358" t="-1639" r="-300000" b="-11311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1">
                          <a:blip r:embed="rId4"/>
                          <a:stretch>
                            <a:fillRect l="-100358" t="-1639" r="-200000" b="-11311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1">
                          <a:blip r:embed="rId4"/>
                          <a:stretch>
                            <a:fillRect l="-201079" t="-1639" r="-100719" b="-11311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1">
                          <a:blip r:embed="rId4"/>
                          <a:stretch>
                            <a:fillRect l="-300000" t="-1639" r="-358" b="-1131148"/>
                          </a:stretch>
                        </a:blipFill>
                      </a:tcPr>
                    </a:tc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General Market Movements</a:t>
                          </a:r>
                          <a:endParaRPr 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Industry Membership</a:t>
                          </a:r>
                          <a:endParaRPr 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Exposure to </a:t>
                          </a:r>
                        </a:p>
                        <a:p>
                          <a:pPr algn="ctr"/>
                          <a:r>
                            <a:rPr lang="en-US" sz="1200" dirty="0" smtClean="0"/>
                            <a:t>Systematic Factors</a:t>
                          </a:r>
                          <a:endParaRPr 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Firm-Specific Return</a:t>
                          </a:r>
                          <a:endParaRPr lang="en-US" sz="1200" dirty="0"/>
                        </a:p>
                      </a:txBody>
                      <a:tcPr anchor="ctr"/>
                    </a:tc>
                  </a:tr>
                  <a:tr h="3749040">
                    <a:tc>
                      <a:txBody>
                        <a:bodyPr/>
                        <a:lstStyle/>
                        <a:p>
                          <a:r>
                            <a:rPr lang="en-US" sz="120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This portion of return is attributable to general market movements. </a:t>
                          </a:r>
                        </a:p>
                        <a:p>
                          <a:endParaRPr lang="en-US" sz="1200" kern="1200" dirty="0" smtClean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r>
                            <a:rPr lang="en-US" sz="120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It consists of a market drift term α, which is the return that all stocks earn just for being a stock that month.</a:t>
                          </a:r>
                        </a:p>
                        <a:p>
                          <a:endParaRPr lang="en-US" sz="1200" kern="1200" dirty="0" smtClean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r>
                            <a:rPr lang="en-US" sz="120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Plus the incremental return associated with the stock’s normalized beta.</a:t>
                          </a:r>
                        </a:p>
                        <a:p>
                          <a:endParaRPr 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A portion flows from its industry membership.</a:t>
                          </a:r>
                        </a:p>
                        <a:p>
                          <a:endParaRPr lang="en-US" sz="1200" kern="1200" dirty="0" smtClean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r>
                            <a:rPr lang="en-US" sz="120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Industry related returns are estimated as the coefficients, I, of the 0-1 variable matrix β</a:t>
                          </a:r>
                          <a:r>
                            <a:rPr lang="en-US" sz="1200" kern="1200" baseline="300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I</a:t>
                          </a:r>
                          <a:r>
                            <a:rPr lang="en-US" sz="120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encoding industry membership.</a:t>
                          </a:r>
                        </a:p>
                        <a:p>
                          <a:endParaRPr lang="en-US" sz="1200" kern="1200" dirty="0" smtClean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r>
                            <a:rPr lang="en-US" sz="120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The portion equals the returns attributable to industry membership after controlling for market movements and factor exposure.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Returns from systematic factors arise from characteristics such as P/E, volatility, momentum, growth</a:t>
                          </a:r>
                          <a:r>
                            <a:rPr lang="en-US" sz="1200" kern="1200" baseline="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</a:t>
                          </a:r>
                          <a:r>
                            <a:rPr lang="en-US" sz="120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orientation, and capitalization.</a:t>
                          </a:r>
                        </a:p>
                        <a:p>
                          <a:endParaRPr lang="en-US" sz="1200" kern="1200" dirty="0" smtClean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r>
                            <a:rPr lang="en-US" sz="120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They are estimated as the coefficients, F, of the factor exposure matrix β</a:t>
                          </a:r>
                          <a:r>
                            <a:rPr lang="en-US" sz="1200" kern="1200" baseline="300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F</a:t>
                          </a:r>
                          <a:r>
                            <a:rPr lang="en-US" sz="120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.</a:t>
                          </a:r>
                        </a:p>
                        <a:p>
                          <a:endParaRPr lang="en-US" sz="1200" kern="1200" dirty="0" smtClean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r>
                            <a:rPr lang="en-US" sz="120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This portion contains, for each of the N stocks, the normalized exposures or betas to the K different systematic factors.</a:t>
                          </a:r>
                        </a:p>
                        <a:p>
                          <a:endParaRPr lang="en-US" sz="1200" kern="1200" dirty="0" smtClean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This portion is unrelated to general market moves, industry membership, or systematic factors. </a:t>
                          </a:r>
                        </a:p>
                        <a:p>
                          <a:endParaRPr lang="en-US" sz="1200" kern="1200" dirty="0" smtClean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r>
                            <a:rPr lang="en-US" sz="120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ε is therefore unique or specific to the company. </a:t>
                          </a:r>
                        </a:p>
                        <a:p>
                          <a:endParaRPr lang="en-US" sz="1200" kern="1200" dirty="0" smtClean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r>
                            <a:rPr lang="en-US" sz="120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Firm specific returns are calculated as the residuals in the cross-sectional regression that relates monthly stock returns to the other systematic factors.</a:t>
                          </a:r>
                        </a:p>
                        <a:p>
                          <a:endParaRPr lang="en-US" sz="1200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p:cxnSp>
        <p:nvCxnSpPr>
          <p:cNvPr id="61" name="Straight Connector 60"/>
          <p:cNvCxnSpPr/>
          <p:nvPr/>
        </p:nvCxnSpPr>
        <p:spPr>
          <a:xfrm>
            <a:off x="6096000" y="2140866"/>
            <a:ext cx="914400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62" name="Straight Connector 61"/>
          <p:cNvCxnSpPr/>
          <p:nvPr/>
        </p:nvCxnSpPr>
        <p:spPr>
          <a:xfrm>
            <a:off x="4191000" y="2140866"/>
            <a:ext cx="13716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64" name="Straight Connector 63"/>
          <p:cNvCxnSpPr/>
          <p:nvPr/>
        </p:nvCxnSpPr>
        <p:spPr>
          <a:xfrm>
            <a:off x="7467600" y="2140866"/>
            <a:ext cx="990600" cy="0"/>
          </a:xfrm>
          <a:prstGeom prst="line">
            <a:avLst/>
          </a:prstGeom>
          <a:ln w="28575"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68" name="Straight Connector 67"/>
          <p:cNvCxnSpPr/>
          <p:nvPr/>
        </p:nvCxnSpPr>
        <p:spPr>
          <a:xfrm>
            <a:off x="8858436" y="2140866"/>
            <a:ext cx="512859" cy="0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572000" y="1139690"/>
            <a:ext cx="3276600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dirty="0" smtClean="0"/>
              <a:t>4 Components of Returns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176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Investment Style</a:t>
            </a:r>
            <a:endParaRPr lang="en-US" dirty="0"/>
          </a:p>
        </p:txBody>
      </p:sp>
      <p:sp>
        <p:nvSpPr>
          <p:cNvPr id="16" name="Content Placeholder 12"/>
          <p:cNvSpPr>
            <a:spLocks noGrp="1"/>
          </p:cNvSpPr>
          <p:nvPr>
            <p:ph idx="1"/>
          </p:nvPr>
        </p:nvSpPr>
        <p:spPr>
          <a:xfrm>
            <a:off x="293687" y="1235075"/>
            <a:ext cx="1839913" cy="5927725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200" b="0" dirty="0" smtClean="0">
                <a:solidFill>
                  <a:schemeClr val="tx1"/>
                </a:solidFill>
                <a:latin typeface="+mn-lt"/>
              </a:rPr>
              <a:t>There are some fundamental differences between modeling credit events for residential loans versus commercial loans.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200" b="0" dirty="0">
              <a:solidFill>
                <a:schemeClr val="tx1"/>
              </a:solidFill>
              <a:latin typeface="+mn-lt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200" b="0" dirty="0" smtClean="0">
                <a:solidFill>
                  <a:schemeClr val="tx1"/>
                </a:solidFill>
                <a:latin typeface="+mn-lt"/>
              </a:rPr>
              <a:t>The smaller population of commercial mortgages, heterogeneity of the underlying properties/loans, and the potential for large single loans to have an outsized impact on the returns of a securitization (“concentration risk”) all lead to a modeling process that combines qualitative and quantitative measures.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200" b="0" dirty="0">
              <a:solidFill>
                <a:schemeClr val="tx1"/>
              </a:solidFill>
              <a:latin typeface="+mn-lt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100" b="0" dirty="0">
              <a:solidFill>
                <a:schemeClr val="tx1"/>
              </a:solidFill>
            </a:endParaRPr>
          </a:p>
          <a:p>
            <a:endParaRPr lang="en-US" sz="1100" b="0" dirty="0" smtClean="0">
              <a:solidFill>
                <a:schemeClr val="tx1"/>
              </a:solidFill>
            </a:endParaRPr>
          </a:p>
          <a:p>
            <a:endParaRPr lang="en-US" sz="1100" b="0" dirty="0">
              <a:solidFill>
                <a:schemeClr val="tx1"/>
              </a:solidFill>
            </a:endParaRPr>
          </a:p>
          <a:p>
            <a:endParaRPr lang="en-US" sz="1100" dirty="0" smtClean="0"/>
          </a:p>
        </p:txBody>
      </p:sp>
      <p:sp>
        <p:nvSpPr>
          <p:cNvPr id="36" name="Rectangle 35"/>
          <p:cNvSpPr/>
          <p:nvPr/>
        </p:nvSpPr>
        <p:spPr>
          <a:xfrm>
            <a:off x="877264" y="7349978"/>
            <a:ext cx="129715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00" dirty="0"/>
              <a:t>Source: </a:t>
            </a:r>
            <a:r>
              <a:rPr lang="en-US" sz="900" dirty="0" smtClean="0"/>
              <a:t>Blackrock, Cello</a:t>
            </a:r>
            <a:endParaRPr lang="en-US" sz="900" dirty="0"/>
          </a:p>
        </p:txBody>
      </p:sp>
      <p:cxnSp>
        <p:nvCxnSpPr>
          <p:cNvPr id="13" name="Straight Connector 12"/>
          <p:cNvCxnSpPr/>
          <p:nvPr/>
        </p:nvCxnSpPr>
        <p:spPr>
          <a:xfrm>
            <a:off x="3276600" y="1347696"/>
            <a:ext cx="5838265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876800" y="1139690"/>
            <a:ext cx="2362200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dirty="0" smtClean="0"/>
              <a:t>Style Factors</a:t>
            </a:r>
            <a:endParaRPr lang="en-US" dirty="0"/>
          </a:p>
        </p:txBody>
      </p:sp>
      <p:grpSp>
        <p:nvGrpSpPr>
          <p:cNvPr id="15" name="Group 14"/>
          <p:cNvGrpSpPr/>
          <p:nvPr/>
        </p:nvGrpSpPr>
        <p:grpSpPr>
          <a:xfrm rot="5400000">
            <a:off x="5160653" y="3078987"/>
            <a:ext cx="2160587" cy="2447925"/>
            <a:chOff x="3379788" y="1371599"/>
            <a:chExt cx="2160587" cy="2447925"/>
          </a:xfrm>
        </p:grpSpPr>
        <p:sp>
          <p:nvSpPr>
            <p:cNvPr id="17" name="Freeform 8"/>
            <p:cNvSpPr>
              <a:spLocks/>
            </p:cNvSpPr>
            <p:nvPr/>
          </p:nvSpPr>
          <p:spPr bwMode="blackWhite">
            <a:xfrm>
              <a:off x="4330700" y="1543049"/>
              <a:ext cx="1209675" cy="2276475"/>
            </a:xfrm>
            <a:custGeom>
              <a:avLst/>
              <a:gdLst>
                <a:gd name="T0" fmla="*/ 2147483647 w 976"/>
                <a:gd name="T1" fmla="*/ 2147483647 h 1811"/>
                <a:gd name="T2" fmla="*/ 2147483647 w 976"/>
                <a:gd name="T3" fmla="*/ 2147483647 h 1811"/>
                <a:gd name="T4" fmla="*/ 2147483647 w 976"/>
                <a:gd name="T5" fmla="*/ 2147483647 h 1811"/>
                <a:gd name="T6" fmla="*/ 2147483647 w 976"/>
                <a:gd name="T7" fmla="*/ 2147483647 h 1811"/>
                <a:gd name="T8" fmla="*/ 2147483647 w 976"/>
                <a:gd name="T9" fmla="*/ 2147483647 h 1811"/>
                <a:gd name="T10" fmla="*/ 2147483647 w 976"/>
                <a:gd name="T11" fmla="*/ 2147483647 h 1811"/>
                <a:gd name="T12" fmla="*/ 2147483647 w 976"/>
                <a:gd name="T13" fmla="*/ 2147483647 h 1811"/>
                <a:gd name="T14" fmla="*/ 2147483647 w 976"/>
                <a:gd name="T15" fmla="*/ 2147483647 h 1811"/>
                <a:gd name="T16" fmla="*/ 2147483647 w 976"/>
                <a:gd name="T17" fmla="*/ 2147483647 h 1811"/>
                <a:gd name="T18" fmla="*/ 2147483647 w 976"/>
                <a:gd name="T19" fmla="*/ 2147483647 h 1811"/>
                <a:gd name="T20" fmla="*/ 2147483647 w 976"/>
                <a:gd name="T21" fmla="*/ 2147483647 h 1811"/>
                <a:gd name="T22" fmla="*/ 2147483647 w 976"/>
                <a:gd name="T23" fmla="*/ 2147483647 h 1811"/>
                <a:gd name="T24" fmla="*/ 2147483647 w 976"/>
                <a:gd name="T25" fmla="*/ 2147483647 h 1811"/>
                <a:gd name="T26" fmla="*/ 2147483647 w 976"/>
                <a:gd name="T27" fmla="*/ 2147483647 h 1811"/>
                <a:gd name="T28" fmla="*/ 2147483647 w 976"/>
                <a:gd name="T29" fmla="*/ 2147483647 h 1811"/>
                <a:gd name="T30" fmla="*/ 2147483647 w 976"/>
                <a:gd name="T31" fmla="*/ 2147483647 h 1811"/>
                <a:gd name="T32" fmla="*/ 2147483647 w 976"/>
                <a:gd name="T33" fmla="*/ 2147483647 h 1811"/>
                <a:gd name="T34" fmla="*/ 2147483647 w 976"/>
                <a:gd name="T35" fmla="*/ 2147483647 h 1811"/>
                <a:gd name="T36" fmla="*/ 2147483647 w 976"/>
                <a:gd name="T37" fmla="*/ 2147483647 h 1811"/>
                <a:gd name="T38" fmla="*/ 2147483647 w 976"/>
                <a:gd name="T39" fmla="*/ 2147483647 h 1811"/>
                <a:gd name="T40" fmla="*/ 2147483647 w 976"/>
                <a:gd name="T41" fmla="*/ 2147483647 h 1811"/>
                <a:gd name="T42" fmla="*/ 2147483647 w 976"/>
                <a:gd name="T43" fmla="*/ 2147483647 h 1811"/>
                <a:gd name="T44" fmla="*/ 2147483647 w 976"/>
                <a:gd name="T45" fmla="*/ 2147483647 h 1811"/>
                <a:gd name="T46" fmla="*/ 2147483647 w 976"/>
                <a:gd name="T47" fmla="*/ 2147483647 h 1811"/>
                <a:gd name="T48" fmla="*/ 2147483647 w 976"/>
                <a:gd name="T49" fmla="*/ 2147483647 h 1811"/>
                <a:gd name="T50" fmla="*/ 2147483647 w 976"/>
                <a:gd name="T51" fmla="*/ 2147483647 h 1811"/>
                <a:gd name="T52" fmla="*/ 2147483647 w 976"/>
                <a:gd name="T53" fmla="*/ 2147483647 h 1811"/>
                <a:gd name="T54" fmla="*/ 2147483647 w 976"/>
                <a:gd name="T55" fmla="*/ 2147483647 h 1811"/>
                <a:gd name="T56" fmla="*/ 2147483647 w 976"/>
                <a:gd name="T57" fmla="*/ 2147483647 h 1811"/>
                <a:gd name="T58" fmla="*/ 2147483647 w 976"/>
                <a:gd name="T59" fmla="*/ 2147483647 h 1811"/>
                <a:gd name="T60" fmla="*/ 2147483647 w 976"/>
                <a:gd name="T61" fmla="*/ 2147483647 h 1811"/>
                <a:gd name="T62" fmla="*/ 2147483647 w 976"/>
                <a:gd name="T63" fmla="*/ 2147483647 h 1811"/>
                <a:gd name="T64" fmla="*/ 2147483647 w 976"/>
                <a:gd name="T65" fmla="*/ 2147483647 h 1811"/>
                <a:gd name="T66" fmla="*/ 2147483647 w 976"/>
                <a:gd name="T67" fmla="*/ 2147483647 h 1811"/>
                <a:gd name="T68" fmla="*/ 2147483647 w 976"/>
                <a:gd name="T69" fmla="*/ 2147483647 h 1811"/>
                <a:gd name="T70" fmla="*/ 2147483647 w 976"/>
                <a:gd name="T71" fmla="*/ 2147483647 h 1811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976"/>
                <a:gd name="T109" fmla="*/ 0 h 1811"/>
                <a:gd name="T110" fmla="*/ 976 w 976"/>
                <a:gd name="T111" fmla="*/ 1811 h 1811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976" h="1811">
                  <a:moveTo>
                    <a:pt x="279" y="1669"/>
                  </a:moveTo>
                  <a:lnTo>
                    <a:pt x="338" y="1654"/>
                  </a:lnTo>
                  <a:lnTo>
                    <a:pt x="394" y="1635"/>
                  </a:lnTo>
                  <a:lnTo>
                    <a:pt x="449" y="1612"/>
                  </a:lnTo>
                  <a:lnTo>
                    <a:pt x="502" y="1585"/>
                  </a:lnTo>
                  <a:lnTo>
                    <a:pt x="553" y="1555"/>
                  </a:lnTo>
                  <a:lnTo>
                    <a:pt x="601" y="1520"/>
                  </a:lnTo>
                  <a:lnTo>
                    <a:pt x="651" y="1485"/>
                  </a:lnTo>
                  <a:lnTo>
                    <a:pt x="697" y="1447"/>
                  </a:lnTo>
                  <a:lnTo>
                    <a:pt x="741" y="1405"/>
                  </a:lnTo>
                  <a:lnTo>
                    <a:pt x="782" y="1361"/>
                  </a:lnTo>
                  <a:lnTo>
                    <a:pt x="818" y="1313"/>
                  </a:lnTo>
                  <a:lnTo>
                    <a:pt x="851" y="1263"/>
                  </a:lnTo>
                  <a:lnTo>
                    <a:pt x="882" y="1210"/>
                  </a:lnTo>
                  <a:lnTo>
                    <a:pt x="908" y="1156"/>
                  </a:lnTo>
                  <a:lnTo>
                    <a:pt x="929" y="1100"/>
                  </a:lnTo>
                  <a:lnTo>
                    <a:pt x="947" y="1043"/>
                  </a:lnTo>
                  <a:lnTo>
                    <a:pt x="961" y="984"/>
                  </a:lnTo>
                  <a:lnTo>
                    <a:pt x="970" y="924"/>
                  </a:lnTo>
                  <a:lnTo>
                    <a:pt x="975" y="865"/>
                  </a:lnTo>
                  <a:lnTo>
                    <a:pt x="975" y="804"/>
                  </a:lnTo>
                  <a:lnTo>
                    <a:pt x="972" y="744"/>
                  </a:lnTo>
                  <a:lnTo>
                    <a:pt x="963" y="685"/>
                  </a:lnTo>
                  <a:lnTo>
                    <a:pt x="950" y="625"/>
                  </a:lnTo>
                  <a:lnTo>
                    <a:pt x="935" y="567"/>
                  </a:lnTo>
                  <a:lnTo>
                    <a:pt x="913" y="511"/>
                  </a:lnTo>
                  <a:lnTo>
                    <a:pt x="889" y="456"/>
                  </a:lnTo>
                  <a:lnTo>
                    <a:pt x="859" y="403"/>
                  </a:lnTo>
                  <a:lnTo>
                    <a:pt x="826" y="352"/>
                  </a:lnTo>
                  <a:lnTo>
                    <a:pt x="790" y="304"/>
                  </a:lnTo>
                  <a:lnTo>
                    <a:pt x="751" y="259"/>
                  </a:lnTo>
                  <a:lnTo>
                    <a:pt x="708" y="216"/>
                  </a:lnTo>
                  <a:lnTo>
                    <a:pt x="662" y="178"/>
                  </a:lnTo>
                  <a:lnTo>
                    <a:pt x="614" y="142"/>
                  </a:lnTo>
                  <a:lnTo>
                    <a:pt x="563" y="109"/>
                  </a:lnTo>
                  <a:lnTo>
                    <a:pt x="510" y="81"/>
                  </a:lnTo>
                  <a:lnTo>
                    <a:pt x="455" y="56"/>
                  </a:lnTo>
                  <a:lnTo>
                    <a:pt x="398" y="36"/>
                  </a:lnTo>
                  <a:lnTo>
                    <a:pt x="340" y="20"/>
                  </a:lnTo>
                  <a:lnTo>
                    <a:pt x="281" y="8"/>
                  </a:lnTo>
                  <a:lnTo>
                    <a:pt x="222" y="0"/>
                  </a:lnTo>
                  <a:lnTo>
                    <a:pt x="294" y="112"/>
                  </a:lnTo>
                  <a:lnTo>
                    <a:pt x="369" y="222"/>
                  </a:lnTo>
                  <a:lnTo>
                    <a:pt x="226" y="434"/>
                  </a:lnTo>
                  <a:lnTo>
                    <a:pt x="268" y="446"/>
                  </a:lnTo>
                  <a:lnTo>
                    <a:pt x="306" y="463"/>
                  </a:lnTo>
                  <a:lnTo>
                    <a:pt x="344" y="483"/>
                  </a:lnTo>
                  <a:lnTo>
                    <a:pt x="379" y="508"/>
                  </a:lnTo>
                  <a:lnTo>
                    <a:pt x="411" y="536"/>
                  </a:lnTo>
                  <a:lnTo>
                    <a:pt x="440" y="567"/>
                  </a:lnTo>
                  <a:lnTo>
                    <a:pt x="467" y="601"/>
                  </a:lnTo>
                  <a:lnTo>
                    <a:pt x="489" y="637"/>
                  </a:lnTo>
                  <a:lnTo>
                    <a:pt x="508" y="676"/>
                  </a:lnTo>
                  <a:lnTo>
                    <a:pt x="521" y="716"/>
                  </a:lnTo>
                  <a:lnTo>
                    <a:pt x="531" y="758"/>
                  </a:lnTo>
                  <a:lnTo>
                    <a:pt x="538" y="801"/>
                  </a:lnTo>
                  <a:lnTo>
                    <a:pt x="539" y="843"/>
                  </a:lnTo>
                  <a:lnTo>
                    <a:pt x="536" y="886"/>
                  </a:lnTo>
                  <a:lnTo>
                    <a:pt x="529" y="928"/>
                  </a:lnTo>
                  <a:lnTo>
                    <a:pt x="517" y="969"/>
                  </a:lnTo>
                  <a:lnTo>
                    <a:pt x="501" y="1009"/>
                  </a:lnTo>
                  <a:lnTo>
                    <a:pt x="482" y="1046"/>
                  </a:lnTo>
                  <a:lnTo>
                    <a:pt x="458" y="1082"/>
                  </a:lnTo>
                  <a:lnTo>
                    <a:pt x="431" y="1115"/>
                  </a:lnTo>
                  <a:lnTo>
                    <a:pt x="401" y="1145"/>
                  </a:lnTo>
                  <a:lnTo>
                    <a:pt x="367" y="1172"/>
                  </a:lnTo>
                  <a:lnTo>
                    <a:pt x="331" y="1196"/>
                  </a:lnTo>
                  <a:lnTo>
                    <a:pt x="293" y="1215"/>
                  </a:lnTo>
                  <a:lnTo>
                    <a:pt x="253" y="1230"/>
                  </a:lnTo>
                  <a:lnTo>
                    <a:pt x="253" y="1093"/>
                  </a:lnTo>
                  <a:lnTo>
                    <a:pt x="0" y="1420"/>
                  </a:lnTo>
                  <a:lnTo>
                    <a:pt x="279" y="1810"/>
                  </a:lnTo>
                  <a:lnTo>
                    <a:pt x="279" y="1669"/>
                  </a:lnTo>
                </a:path>
              </a:pathLst>
            </a:custGeom>
            <a:solidFill>
              <a:schemeClr val="accent3"/>
            </a:solidFill>
            <a:ln w="12700" cap="rnd">
              <a:noFill/>
              <a:round/>
              <a:headEnd/>
              <a:tailEnd/>
            </a:ln>
          </p:spPr>
          <p:txBody>
            <a:bodyPr/>
            <a:lstStyle/>
            <a:p>
              <a:endParaRPr lang="en-US" sz="1200">
                <a:solidFill>
                  <a:schemeClr val="bg1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endParaRPr>
            </a:p>
          </p:txBody>
        </p:sp>
        <p:sp>
          <p:nvSpPr>
            <p:cNvPr id="18" name="Freeform 9"/>
            <p:cNvSpPr>
              <a:spLocks/>
            </p:cNvSpPr>
            <p:nvPr/>
          </p:nvSpPr>
          <p:spPr bwMode="blackWhite">
            <a:xfrm>
              <a:off x="3379788" y="1371599"/>
              <a:ext cx="1343025" cy="2290763"/>
            </a:xfrm>
            <a:custGeom>
              <a:avLst/>
              <a:gdLst>
                <a:gd name="T0" fmla="*/ 2147483647 w 1084"/>
                <a:gd name="T1" fmla="*/ 2147483647 h 1823"/>
                <a:gd name="T2" fmla="*/ 2147483647 w 1084"/>
                <a:gd name="T3" fmla="*/ 2147483647 h 1823"/>
                <a:gd name="T4" fmla="*/ 2147483647 w 1084"/>
                <a:gd name="T5" fmla="*/ 2147483647 h 1823"/>
                <a:gd name="T6" fmla="*/ 2147483647 w 1084"/>
                <a:gd name="T7" fmla="*/ 2147483647 h 1823"/>
                <a:gd name="T8" fmla="*/ 2147483647 w 1084"/>
                <a:gd name="T9" fmla="*/ 2147483647 h 1823"/>
                <a:gd name="T10" fmla="*/ 2147483647 w 1084"/>
                <a:gd name="T11" fmla="*/ 2147483647 h 1823"/>
                <a:gd name="T12" fmla="*/ 2147483647 w 1084"/>
                <a:gd name="T13" fmla="*/ 2147483647 h 1823"/>
                <a:gd name="T14" fmla="*/ 2147483647 w 1084"/>
                <a:gd name="T15" fmla="*/ 2147483647 h 1823"/>
                <a:gd name="T16" fmla="*/ 2147483647 w 1084"/>
                <a:gd name="T17" fmla="*/ 2147483647 h 1823"/>
                <a:gd name="T18" fmla="*/ 2147483647 w 1084"/>
                <a:gd name="T19" fmla="*/ 2147483647 h 1823"/>
                <a:gd name="T20" fmla="*/ 2147483647 w 1084"/>
                <a:gd name="T21" fmla="*/ 2147483647 h 1823"/>
                <a:gd name="T22" fmla="*/ 2147483647 w 1084"/>
                <a:gd name="T23" fmla="*/ 2147483647 h 1823"/>
                <a:gd name="T24" fmla="*/ 2147483647 w 1084"/>
                <a:gd name="T25" fmla="*/ 2147483647 h 1823"/>
                <a:gd name="T26" fmla="*/ 2147483647 w 1084"/>
                <a:gd name="T27" fmla="*/ 2147483647 h 1823"/>
                <a:gd name="T28" fmla="*/ 2147483647 w 1084"/>
                <a:gd name="T29" fmla="*/ 2147483647 h 1823"/>
                <a:gd name="T30" fmla="*/ 2147483647 w 1084"/>
                <a:gd name="T31" fmla="*/ 2147483647 h 1823"/>
                <a:gd name="T32" fmla="*/ 2147483647 w 1084"/>
                <a:gd name="T33" fmla="*/ 0 h 1823"/>
                <a:gd name="T34" fmla="*/ 2147483647 w 1084"/>
                <a:gd name="T35" fmla="*/ 2147483647 h 1823"/>
                <a:gd name="T36" fmla="*/ 2147483647 w 1084"/>
                <a:gd name="T37" fmla="*/ 2147483647 h 1823"/>
                <a:gd name="T38" fmla="*/ 2147483647 w 1084"/>
                <a:gd name="T39" fmla="*/ 2147483647 h 1823"/>
                <a:gd name="T40" fmla="*/ 2147483647 w 1084"/>
                <a:gd name="T41" fmla="*/ 2147483647 h 1823"/>
                <a:gd name="T42" fmla="*/ 2147483647 w 1084"/>
                <a:gd name="T43" fmla="*/ 2147483647 h 1823"/>
                <a:gd name="T44" fmla="*/ 2147483647 w 1084"/>
                <a:gd name="T45" fmla="*/ 2147483647 h 1823"/>
                <a:gd name="T46" fmla="*/ 2147483647 w 1084"/>
                <a:gd name="T47" fmla="*/ 2147483647 h 1823"/>
                <a:gd name="T48" fmla="*/ 2147483647 w 1084"/>
                <a:gd name="T49" fmla="*/ 2147483647 h 1823"/>
                <a:gd name="T50" fmla="*/ 2147483647 w 1084"/>
                <a:gd name="T51" fmla="*/ 2147483647 h 1823"/>
                <a:gd name="T52" fmla="*/ 2147483647 w 1084"/>
                <a:gd name="T53" fmla="*/ 2147483647 h 1823"/>
                <a:gd name="T54" fmla="*/ 2147483647 w 1084"/>
                <a:gd name="T55" fmla="*/ 2147483647 h 1823"/>
                <a:gd name="T56" fmla="*/ 2147483647 w 1084"/>
                <a:gd name="T57" fmla="*/ 2147483647 h 1823"/>
                <a:gd name="T58" fmla="*/ 2147483647 w 1084"/>
                <a:gd name="T59" fmla="*/ 2147483647 h 1823"/>
                <a:gd name="T60" fmla="*/ 2147483647 w 1084"/>
                <a:gd name="T61" fmla="*/ 2147483647 h 1823"/>
                <a:gd name="T62" fmla="*/ 2147483647 w 1084"/>
                <a:gd name="T63" fmla="*/ 2147483647 h 1823"/>
                <a:gd name="T64" fmla="*/ 2147483647 w 1084"/>
                <a:gd name="T65" fmla="*/ 2147483647 h 1823"/>
                <a:gd name="T66" fmla="*/ 2147483647 w 1084"/>
                <a:gd name="T67" fmla="*/ 2147483647 h 1823"/>
                <a:gd name="T68" fmla="*/ 2147483647 w 1084"/>
                <a:gd name="T69" fmla="*/ 2147483647 h 1823"/>
                <a:gd name="T70" fmla="*/ 2147483647 w 1084"/>
                <a:gd name="T71" fmla="*/ 2147483647 h 1823"/>
                <a:gd name="T72" fmla="*/ 2147483647 w 1084"/>
                <a:gd name="T73" fmla="*/ 2147483647 h 1823"/>
                <a:gd name="T74" fmla="*/ 2147483647 w 1084"/>
                <a:gd name="T75" fmla="*/ 2147483647 h 1823"/>
                <a:gd name="T76" fmla="*/ 2147483647 w 1084"/>
                <a:gd name="T77" fmla="*/ 2147483647 h 1823"/>
                <a:gd name="T78" fmla="*/ 2147483647 w 1084"/>
                <a:gd name="T79" fmla="*/ 2147483647 h 1823"/>
                <a:gd name="T80" fmla="*/ 2147483647 w 1084"/>
                <a:gd name="T81" fmla="*/ 2147483647 h 1823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1084"/>
                <a:gd name="T124" fmla="*/ 0 h 1823"/>
                <a:gd name="T125" fmla="*/ 1084 w 1084"/>
                <a:gd name="T126" fmla="*/ 1823 h 1823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1084" h="1823">
                  <a:moveTo>
                    <a:pt x="832" y="1394"/>
                  </a:moveTo>
                  <a:lnTo>
                    <a:pt x="789" y="1389"/>
                  </a:lnTo>
                  <a:lnTo>
                    <a:pt x="746" y="1380"/>
                  </a:lnTo>
                  <a:lnTo>
                    <a:pt x="705" y="1367"/>
                  </a:lnTo>
                  <a:lnTo>
                    <a:pt x="665" y="1349"/>
                  </a:lnTo>
                  <a:lnTo>
                    <a:pt x="628" y="1327"/>
                  </a:lnTo>
                  <a:lnTo>
                    <a:pt x="592" y="1301"/>
                  </a:lnTo>
                  <a:lnTo>
                    <a:pt x="559" y="1273"/>
                  </a:lnTo>
                  <a:lnTo>
                    <a:pt x="530" y="1240"/>
                  </a:lnTo>
                  <a:lnTo>
                    <a:pt x="504" y="1206"/>
                  </a:lnTo>
                  <a:lnTo>
                    <a:pt x="482" y="1168"/>
                  </a:lnTo>
                  <a:lnTo>
                    <a:pt x="464" y="1129"/>
                  </a:lnTo>
                  <a:lnTo>
                    <a:pt x="450" y="1087"/>
                  </a:lnTo>
                  <a:lnTo>
                    <a:pt x="440" y="1044"/>
                  </a:lnTo>
                  <a:lnTo>
                    <a:pt x="434" y="1002"/>
                  </a:lnTo>
                  <a:lnTo>
                    <a:pt x="434" y="958"/>
                  </a:lnTo>
                  <a:lnTo>
                    <a:pt x="438" y="915"/>
                  </a:lnTo>
                  <a:lnTo>
                    <a:pt x="446" y="872"/>
                  </a:lnTo>
                  <a:lnTo>
                    <a:pt x="458" y="831"/>
                  </a:lnTo>
                  <a:lnTo>
                    <a:pt x="475" y="790"/>
                  </a:lnTo>
                  <a:lnTo>
                    <a:pt x="495" y="752"/>
                  </a:lnTo>
                  <a:lnTo>
                    <a:pt x="520" y="716"/>
                  </a:lnTo>
                  <a:lnTo>
                    <a:pt x="548" y="683"/>
                  </a:lnTo>
                  <a:lnTo>
                    <a:pt x="580" y="653"/>
                  </a:lnTo>
                  <a:lnTo>
                    <a:pt x="613" y="626"/>
                  </a:lnTo>
                  <a:lnTo>
                    <a:pt x="651" y="603"/>
                  </a:lnTo>
                  <a:lnTo>
                    <a:pt x="688" y="584"/>
                  </a:lnTo>
                  <a:lnTo>
                    <a:pt x="727" y="569"/>
                  </a:lnTo>
                  <a:lnTo>
                    <a:pt x="768" y="559"/>
                  </a:lnTo>
                  <a:lnTo>
                    <a:pt x="809" y="552"/>
                  </a:lnTo>
                  <a:lnTo>
                    <a:pt x="851" y="549"/>
                  </a:lnTo>
                  <a:lnTo>
                    <a:pt x="851" y="675"/>
                  </a:lnTo>
                  <a:lnTo>
                    <a:pt x="1083" y="353"/>
                  </a:lnTo>
                  <a:lnTo>
                    <a:pt x="846" y="0"/>
                  </a:lnTo>
                  <a:lnTo>
                    <a:pt x="846" y="121"/>
                  </a:lnTo>
                  <a:lnTo>
                    <a:pt x="786" y="125"/>
                  </a:lnTo>
                  <a:lnTo>
                    <a:pt x="726" y="133"/>
                  </a:lnTo>
                  <a:lnTo>
                    <a:pt x="668" y="145"/>
                  </a:lnTo>
                  <a:lnTo>
                    <a:pt x="610" y="161"/>
                  </a:lnTo>
                  <a:lnTo>
                    <a:pt x="554" y="181"/>
                  </a:lnTo>
                  <a:lnTo>
                    <a:pt x="499" y="206"/>
                  </a:lnTo>
                  <a:lnTo>
                    <a:pt x="446" y="234"/>
                  </a:lnTo>
                  <a:lnTo>
                    <a:pt x="394" y="264"/>
                  </a:lnTo>
                  <a:lnTo>
                    <a:pt x="344" y="298"/>
                  </a:lnTo>
                  <a:lnTo>
                    <a:pt x="297" y="335"/>
                  </a:lnTo>
                  <a:lnTo>
                    <a:pt x="252" y="376"/>
                  </a:lnTo>
                  <a:lnTo>
                    <a:pt x="211" y="420"/>
                  </a:lnTo>
                  <a:lnTo>
                    <a:pt x="173" y="466"/>
                  </a:lnTo>
                  <a:lnTo>
                    <a:pt x="138" y="515"/>
                  </a:lnTo>
                  <a:lnTo>
                    <a:pt x="107" y="566"/>
                  </a:lnTo>
                  <a:lnTo>
                    <a:pt x="79" y="620"/>
                  </a:lnTo>
                  <a:lnTo>
                    <a:pt x="56" y="675"/>
                  </a:lnTo>
                  <a:lnTo>
                    <a:pt x="37" y="733"/>
                  </a:lnTo>
                  <a:lnTo>
                    <a:pt x="21" y="790"/>
                  </a:lnTo>
                  <a:lnTo>
                    <a:pt x="10" y="850"/>
                  </a:lnTo>
                  <a:lnTo>
                    <a:pt x="3" y="909"/>
                  </a:lnTo>
                  <a:lnTo>
                    <a:pt x="0" y="969"/>
                  </a:lnTo>
                  <a:lnTo>
                    <a:pt x="2" y="1029"/>
                  </a:lnTo>
                  <a:lnTo>
                    <a:pt x="7" y="1090"/>
                  </a:lnTo>
                  <a:lnTo>
                    <a:pt x="18" y="1148"/>
                  </a:lnTo>
                  <a:lnTo>
                    <a:pt x="31" y="1207"/>
                  </a:lnTo>
                  <a:lnTo>
                    <a:pt x="50" y="1264"/>
                  </a:lnTo>
                  <a:lnTo>
                    <a:pt x="73" y="1320"/>
                  </a:lnTo>
                  <a:lnTo>
                    <a:pt x="99" y="1374"/>
                  </a:lnTo>
                  <a:lnTo>
                    <a:pt x="129" y="1426"/>
                  </a:lnTo>
                  <a:lnTo>
                    <a:pt x="163" y="1476"/>
                  </a:lnTo>
                  <a:lnTo>
                    <a:pt x="200" y="1523"/>
                  </a:lnTo>
                  <a:lnTo>
                    <a:pt x="241" y="1568"/>
                  </a:lnTo>
                  <a:lnTo>
                    <a:pt x="283" y="1609"/>
                  </a:lnTo>
                  <a:lnTo>
                    <a:pt x="330" y="1647"/>
                  </a:lnTo>
                  <a:lnTo>
                    <a:pt x="379" y="1682"/>
                  </a:lnTo>
                  <a:lnTo>
                    <a:pt x="431" y="1713"/>
                  </a:lnTo>
                  <a:lnTo>
                    <a:pt x="484" y="1741"/>
                  </a:lnTo>
                  <a:lnTo>
                    <a:pt x="539" y="1765"/>
                  </a:lnTo>
                  <a:lnTo>
                    <a:pt x="595" y="1784"/>
                  </a:lnTo>
                  <a:lnTo>
                    <a:pt x="654" y="1800"/>
                  </a:lnTo>
                  <a:lnTo>
                    <a:pt x="713" y="1812"/>
                  </a:lnTo>
                  <a:lnTo>
                    <a:pt x="772" y="1819"/>
                  </a:lnTo>
                  <a:lnTo>
                    <a:pt x="833" y="1822"/>
                  </a:lnTo>
                  <a:lnTo>
                    <a:pt x="893" y="1821"/>
                  </a:lnTo>
                  <a:lnTo>
                    <a:pt x="708" y="1557"/>
                  </a:lnTo>
                  <a:lnTo>
                    <a:pt x="832" y="1394"/>
                  </a:lnTo>
                </a:path>
              </a:pathLst>
            </a:custGeom>
            <a:solidFill>
              <a:schemeClr val="accent1"/>
            </a:solidFill>
            <a:ln w="12700" cap="rnd">
              <a:noFill/>
              <a:round/>
              <a:headEnd/>
              <a:tailEnd/>
            </a:ln>
          </p:spPr>
          <p:txBody>
            <a:bodyPr/>
            <a:lstStyle/>
            <a:p>
              <a:endParaRPr lang="en-US" sz="1200">
                <a:solidFill>
                  <a:schemeClr val="bg1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endParaRPr>
            </a:p>
          </p:txBody>
        </p:sp>
        <p:sp>
          <p:nvSpPr>
            <p:cNvPr id="19" name="Rectangle 10"/>
            <p:cNvSpPr>
              <a:spLocks noChangeArrowheads="1"/>
            </p:cNvSpPr>
            <p:nvPr/>
          </p:nvSpPr>
          <p:spPr bwMode="blackWhite">
            <a:xfrm rot="16200000">
              <a:off x="3312970" y="2404340"/>
              <a:ext cx="687689" cy="36420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0" tIns="0" rIns="0" bIns="0" anchor="ctr" anchorCtr="1">
              <a:spAutoFit/>
            </a:bodyPr>
            <a:lstStyle/>
            <a:p>
              <a:pPr algn="ctr" defTabSz="787400">
                <a:spcBef>
                  <a:spcPts val="200"/>
                </a:spcBef>
                <a:buClr>
                  <a:schemeClr val="tx1"/>
                </a:buClr>
              </a:pPr>
              <a:r>
                <a:rPr lang="en-US" altLang="zh-CN" sz="1100" dirty="0">
                  <a:solidFill>
                    <a:schemeClr val="bg1"/>
                  </a:solidFill>
                  <a:latin typeface="Arial Unicode MS" pitchFamily="34" charset="-122"/>
                  <a:ea typeface="Arial Unicode MS" pitchFamily="34" charset="-122"/>
                  <a:cs typeface="Arial Unicode MS" pitchFamily="34" charset="-122"/>
                </a:rPr>
                <a:t>Investment</a:t>
              </a:r>
            </a:p>
            <a:p>
              <a:pPr algn="ctr" defTabSz="787400">
                <a:spcBef>
                  <a:spcPts val="200"/>
                </a:spcBef>
                <a:buClr>
                  <a:schemeClr val="tx1"/>
                </a:buClr>
              </a:pPr>
              <a:r>
                <a:rPr lang="en-US" altLang="zh-CN" sz="1100" dirty="0">
                  <a:solidFill>
                    <a:schemeClr val="bg1"/>
                  </a:solidFill>
                  <a:latin typeface="Arial Unicode MS" pitchFamily="34" charset="-122"/>
                  <a:ea typeface="Arial Unicode MS" pitchFamily="34" charset="-122"/>
                  <a:cs typeface="Arial Unicode MS" pitchFamily="34" charset="-122"/>
                </a:rPr>
                <a:t>Style</a:t>
              </a:r>
              <a:endParaRPr lang="en-US" sz="1100" dirty="0">
                <a:solidFill>
                  <a:schemeClr val="bg1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endParaRPr>
            </a:p>
          </p:txBody>
        </p:sp>
        <p:sp>
          <p:nvSpPr>
            <p:cNvPr id="20" name="Rectangle 11"/>
            <p:cNvSpPr>
              <a:spLocks noChangeArrowheads="1"/>
            </p:cNvSpPr>
            <p:nvPr/>
          </p:nvSpPr>
          <p:spPr bwMode="blackWhite">
            <a:xfrm rot="16200000">
              <a:off x="4859257" y="2404339"/>
              <a:ext cx="838371" cy="36420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0" tIns="0" rIns="0" bIns="0" anchor="ctr" anchorCtr="1">
              <a:spAutoFit/>
            </a:bodyPr>
            <a:lstStyle/>
            <a:p>
              <a:pPr algn="ctr" defTabSz="787400">
                <a:spcBef>
                  <a:spcPts val="200"/>
                </a:spcBef>
                <a:buClr>
                  <a:schemeClr val="tx1"/>
                </a:buClr>
              </a:pPr>
              <a:r>
                <a:rPr lang="en-US" sz="1100" dirty="0" smtClean="0">
                  <a:solidFill>
                    <a:schemeClr val="bg1"/>
                  </a:solidFill>
                  <a:latin typeface="Arial Unicode MS" pitchFamily="34" charset="-122"/>
                  <a:ea typeface="Arial Unicode MS" pitchFamily="34" charset="-122"/>
                  <a:cs typeface="Arial Unicode MS" pitchFamily="34" charset="-122"/>
                </a:rPr>
                <a:t>Identifying</a:t>
              </a:r>
            </a:p>
            <a:p>
              <a:pPr algn="ctr" defTabSz="787400">
                <a:spcBef>
                  <a:spcPts val="200"/>
                </a:spcBef>
                <a:buClr>
                  <a:schemeClr val="tx1"/>
                </a:buClr>
              </a:pPr>
              <a:r>
                <a:rPr lang="en-US" sz="1100" dirty="0" smtClean="0">
                  <a:solidFill>
                    <a:schemeClr val="bg1"/>
                  </a:solidFill>
                  <a:latin typeface="Arial Unicode MS" pitchFamily="34" charset="-122"/>
                  <a:ea typeface="Arial Unicode MS" pitchFamily="34" charset="-122"/>
                  <a:cs typeface="Arial Unicode MS" pitchFamily="34" charset="-122"/>
                </a:rPr>
                <a:t>Opportunities</a:t>
              </a:r>
              <a:endParaRPr lang="en-US" sz="1100" dirty="0">
                <a:solidFill>
                  <a:schemeClr val="bg1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endParaRPr>
            </a:p>
          </p:txBody>
        </p:sp>
      </p:grp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7210038"/>
              </p:ext>
            </p:extLst>
          </p:nvPr>
        </p:nvGraphicFramePr>
        <p:xfrm>
          <a:off x="2897267" y="1676400"/>
          <a:ext cx="6705600" cy="11125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284333"/>
                <a:gridCol w="4421267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Investment Style</a:t>
                      </a:r>
                      <a:endParaRPr lang="en-US" sz="1400" dirty="0"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Investor-focused</a:t>
                      </a:r>
                      <a:endParaRPr lang="en-US" sz="1400" dirty="0"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 smtClean="0"/>
                        <a:t>Equity</a:t>
                      </a:r>
                      <a:r>
                        <a:rPr lang="en-US" sz="1400" baseline="0" dirty="0" smtClean="0"/>
                        <a:t> Valuation</a:t>
                      </a:r>
                      <a:endParaRPr lang="en-US" sz="1400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400" dirty="0" smtClean="0"/>
                        <a:t>Bottoms-up</a:t>
                      </a:r>
                      <a:r>
                        <a:rPr lang="en-US" sz="1400" baseline="0" dirty="0" smtClean="0"/>
                        <a:t> Fundamental Analysis</a:t>
                      </a:r>
                      <a:endParaRPr lang="en-US" sz="1400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 smtClean="0"/>
                        <a:t>Holding Period</a:t>
                      </a:r>
                      <a:endParaRPr lang="en-US" sz="1400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400" dirty="0" smtClean="0"/>
                        <a:t>3-6 Months</a:t>
                      </a:r>
                      <a:endParaRPr lang="en-US" sz="1400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5" name="Table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0316184"/>
              </p:ext>
            </p:extLst>
          </p:nvPr>
        </p:nvGraphicFramePr>
        <p:xfrm>
          <a:off x="2897267" y="5715000"/>
          <a:ext cx="6705600" cy="14071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284333"/>
                <a:gridCol w="4421267"/>
              </a:tblGrid>
              <a:tr h="370840">
                <a:tc gridSpan="2">
                  <a:txBody>
                    <a:bodyPr/>
                    <a:lstStyle/>
                    <a:p>
                      <a:r>
                        <a:rPr lang="en-US" sz="1400" dirty="0" smtClean="0"/>
                        <a:t>Investment Opportunities Identification</a:t>
                      </a:r>
                      <a:endParaRPr lang="en-US" sz="1400" dirty="0"/>
                    </a:p>
                  </a:txBody>
                  <a:tcPr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 smtClean="0"/>
                        <a:t>Analysis Techniques</a:t>
                      </a:r>
                      <a:endParaRPr lang="en-US" sz="1400" dirty="0"/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 smtClean="0"/>
                        <a:t>Discount</a:t>
                      </a:r>
                    </a:p>
                    <a:p>
                      <a:pPr marL="285750" marR="0" lvl="0" indent="-285750" algn="l" defTabSz="10188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dirty="0" smtClean="0"/>
                        <a:t>Market Inefficiencies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 smtClean="0"/>
                        <a:t>Opportunities Identification Process</a:t>
                      </a:r>
                      <a:endParaRPr lang="en-US" sz="1400" dirty="0"/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endParaRPr lang="en-US" sz="1400" dirty="0"/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7607784" y="6093023"/>
            <a:ext cx="1383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dirty="0" smtClean="0"/>
              <a:t>Catalysts</a:t>
            </a:r>
            <a:endParaRPr lang="en-US" sz="1400" dirty="0"/>
          </a:p>
        </p:txBody>
      </p:sp>
      <p:sp>
        <p:nvSpPr>
          <p:cNvPr id="28" name="TextBox 27"/>
          <p:cNvSpPr txBox="1"/>
          <p:nvPr/>
        </p:nvSpPr>
        <p:spPr>
          <a:xfrm>
            <a:off x="5181600" y="6705932"/>
            <a:ext cx="14158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400" dirty="0"/>
              <a:t>Identify a </a:t>
            </a:r>
            <a:r>
              <a:rPr lang="en-US" sz="1400" dirty="0" smtClean="0"/>
              <a:t>Theme</a:t>
            </a:r>
            <a:endParaRPr lang="en-US" sz="1400" dirty="0"/>
          </a:p>
        </p:txBody>
      </p:sp>
      <p:sp>
        <p:nvSpPr>
          <p:cNvPr id="29" name="TextBox 28"/>
          <p:cNvSpPr txBox="1"/>
          <p:nvPr/>
        </p:nvSpPr>
        <p:spPr>
          <a:xfrm>
            <a:off x="6605547" y="6705932"/>
            <a:ext cx="15489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400" dirty="0" smtClean="0"/>
              <a:t>Exploit the Theme</a:t>
            </a:r>
            <a:endParaRPr lang="en-US" sz="1400" dirty="0"/>
          </a:p>
        </p:txBody>
      </p:sp>
      <p:sp>
        <p:nvSpPr>
          <p:cNvPr id="30" name="TextBox 29"/>
          <p:cNvSpPr txBox="1"/>
          <p:nvPr/>
        </p:nvSpPr>
        <p:spPr>
          <a:xfrm>
            <a:off x="8085151" y="6705932"/>
            <a:ext cx="14990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400" dirty="0" smtClean="0"/>
              <a:t>Deep-Dive Targets</a:t>
            </a:r>
            <a:endParaRPr lang="en-US" sz="1400" dirty="0"/>
          </a:p>
        </p:txBody>
      </p:sp>
      <p:sp>
        <p:nvSpPr>
          <p:cNvPr id="8" name="Right Arrow 7"/>
          <p:cNvSpPr/>
          <p:nvPr/>
        </p:nvSpPr>
        <p:spPr>
          <a:xfrm>
            <a:off x="6537298" y="6782876"/>
            <a:ext cx="111688" cy="153889"/>
          </a:xfrm>
          <a:prstGeom prst="rightArrow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ight Arrow 30"/>
          <p:cNvSpPr/>
          <p:nvPr/>
        </p:nvSpPr>
        <p:spPr>
          <a:xfrm>
            <a:off x="8042156" y="6782876"/>
            <a:ext cx="111688" cy="153889"/>
          </a:xfrm>
          <a:prstGeom prst="rightArrow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250081"/>
            <a:ext cx="114388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104562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3200400" y="1143000"/>
            <a:ext cx="6400800" cy="143525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Portfolio Construction</a:t>
            </a:r>
            <a:endParaRPr lang="en-US" dirty="0"/>
          </a:p>
        </p:txBody>
      </p:sp>
      <p:sp>
        <p:nvSpPr>
          <p:cNvPr id="16" name="Content Placeholder 12"/>
          <p:cNvSpPr>
            <a:spLocks noGrp="1"/>
          </p:cNvSpPr>
          <p:nvPr>
            <p:ph idx="1"/>
          </p:nvPr>
        </p:nvSpPr>
        <p:spPr>
          <a:xfrm>
            <a:off x="293687" y="1235075"/>
            <a:ext cx="1839913" cy="5927725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200" b="0" dirty="0" smtClean="0">
                <a:solidFill>
                  <a:schemeClr val="tx1"/>
                </a:solidFill>
                <a:latin typeface="+mn-lt"/>
              </a:rPr>
              <a:t>There are some fundamental differences between modeling credit events for residential loans versus commercial loans.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200" b="0" dirty="0">
              <a:solidFill>
                <a:schemeClr val="tx1"/>
              </a:solidFill>
              <a:latin typeface="+mn-lt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200" b="0" dirty="0" smtClean="0">
                <a:solidFill>
                  <a:schemeClr val="tx1"/>
                </a:solidFill>
                <a:latin typeface="+mn-lt"/>
              </a:rPr>
              <a:t>The smaller population of commercial mortgages, heterogeneity of the underlying properties/loans, and the potential for large single loans to have an outsized impact on the returns of a securitization (“concentration risk”) all lead to a modeling process that combines qualitative and quantitative measures.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200" b="0" dirty="0">
              <a:solidFill>
                <a:schemeClr val="tx1"/>
              </a:solidFill>
              <a:latin typeface="+mn-lt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100" b="0" dirty="0">
              <a:solidFill>
                <a:schemeClr val="tx1"/>
              </a:solidFill>
            </a:endParaRPr>
          </a:p>
          <a:p>
            <a:endParaRPr lang="en-US" sz="1100" b="0" dirty="0" smtClean="0">
              <a:solidFill>
                <a:schemeClr val="tx1"/>
              </a:solidFill>
            </a:endParaRPr>
          </a:p>
          <a:p>
            <a:endParaRPr lang="en-US" sz="1100" b="0" dirty="0">
              <a:solidFill>
                <a:schemeClr val="tx1"/>
              </a:solidFill>
            </a:endParaRPr>
          </a:p>
          <a:p>
            <a:endParaRPr lang="en-US" sz="1100" dirty="0" smtClean="0"/>
          </a:p>
        </p:txBody>
      </p:sp>
      <p:sp>
        <p:nvSpPr>
          <p:cNvPr id="36" name="Rectangle 35"/>
          <p:cNvSpPr/>
          <p:nvPr/>
        </p:nvSpPr>
        <p:spPr>
          <a:xfrm>
            <a:off x="877264" y="7349978"/>
            <a:ext cx="129715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00" dirty="0"/>
              <a:t>Source: </a:t>
            </a:r>
            <a:r>
              <a:rPr lang="en-US" sz="900" dirty="0" smtClean="0"/>
              <a:t>Blackrock, Cello</a:t>
            </a:r>
            <a:endParaRPr lang="en-US" sz="900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9541441"/>
              </p:ext>
            </p:extLst>
          </p:nvPr>
        </p:nvGraphicFramePr>
        <p:xfrm>
          <a:off x="3276600" y="1511459"/>
          <a:ext cx="6271932" cy="1005840"/>
        </p:xfrm>
        <a:graphic>
          <a:graphicData uri="http://schemas.openxmlformats.org/drawingml/2006/table">
            <a:tbl>
              <a:tblPr bandRow="1">
                <a:tableStyleId>{2D5ABB26-0587-4C30-8999-92F81FD0307C}</a:tableStyleId>
              </a:tblPr>
              <a:tblGrid>
                <a:gridCol w="2032704"/>
                <a:gridCol w="4239228"/>
              </a:tblGrid>
              <a:tr h="253175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Small, toe-hold position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Building the position</a:t>
                      </a:r>
                      <a:r>
                        <a:rPr lang="en-US" sz="1200" baseline="0" dirty="0" smtClean="0"/>
                        <a:t> as conviction grows and/or catalysts unfold</a:t>
                      </a:r>
                      <a:endParaRPr lang="en-US" sz="1200" dirty="0"/>
                    </a:p>
                  </a:txBody>
                  <a:tcPr anchor="ctr"/>
                </a:tc>
              </a:tr>
              <a:tr h="408051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Midsize position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Less upside relative to other positions</a:t>
                      </a:r>
                    </a:p>
                    <a:p>
                      <a:r>
                        <a:rPr lang="en-US" sz="1200" dirty="0" smtClean="0"/>
                        <a:t>Same</a:t>
                      </a:r>
                      <a:r>
                        <a:rPr lang="en-US" sz="1200" baseline="0" dirty="0" smtClean="0"/>
                        <a:t> intent as toe-hold positions</a:t>
                      </a:r>
                      <a:endParaRPr lang="en-US" sz="1200" dirty="0"/>
                    </a:p>
                  </a:txBody>
                  <a:tcPr anchor="ctr"/>
                </a:tc>
              </a:tr>
              <a:tr h="253175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Maximum position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Potentially</a:t>
                      </a:r>
                      <a:r>
                        <a:rPr lang="en-US" sz="1200" baseline="0" dirty="0" smtClean="0"/>
                        <a:t> with a near-term catalyst</a:t>
                      </a:r>
                      <a:endParaRPr lang="en-US" sz="1200" dirty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3200400" y="1234461"/>
            <a:ext cx="20908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Position </a:t>
            </a:r>
            <a:r>
              <a:rPr lang="en-US" sz="1200" b="1" dirty="0" smtClean="0"/>
              <a:t>Size</a:t>
            </a:r>
            <a:endParaRPr lang="en-US" sz="1200" b="1" dirty="0"/>
          </a:p>
        </p:txBody>
      </p:sp>
      <p:cxnSp>
        <p:nvCxnSpPr>
          <p:cNvPr id="23" name="Straight Connector 22"/>
          <p:cNvCxnSpPr/>
          <p:nvPr/>
        </p:nvCxnSpPr>
        <p:spPr>
          <a:xfrm>
            <a:off x="3200400" y="1511456"/>
            <a:ext cx="64008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257800" y="1234460"/>
            <a:ext cx="20908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Intention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2590800" y="1143000"/>
            <a:ext cx="609600" cy="143525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400" dirty="0"/>
              <a:t>Initialize Positions</a:t>
            </a:r>
          </a:p>
        </p:txBody>
      </p:sp>
      <p:cxnSp>
        <p:nvCxnSpPr>
          <p:cNvPr id="12" name="Straight Connector 11"/>
          <p:cNvCxnSpPr/>
          <p:nvPr/>
        </p:nvCxnSpPr>
        <p:spPr>
          <a:xfrm>
            <a:off x="3276600" y="1797021"/>
            <a:ext cx="6172200" cy="0"/>
          </a:xfrm>
          <a:prstGeom prst="line">
            <a:avLst/>
          </a:prstGeom>
          <a:ln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3276600" y="2244965"/>
            <a:ext cx="6172200" cy="0"/>
          </a:xfrm>
          <a:prstGeom prst="line">
            <a:avLst/>
          </a:prstGeom>
          <a:ln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3193774" y="2743200"/>
            <a:ext cx="6400800" cy="22098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/>
          <p:cNvSpPr txBox="1"/>
          <p:nvPr/>
        </p:nvSpPr>
        <p:spPr>
          <a:xfrm>
            <a:off x="3193774" y="2843254"/>
            <a:ext cx="2090849" cy="3347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/>
              <a:t>Process</a:t>
            </a:r>
            <a:endParaRPr lang="en-US" sz="1200" b="1" dirty="0"/>
          </a:p>
        </p:txBody>
      </p:sp>
      <p:cxnSp>
        <p:nvCxnSpPr>
          <p:cNvPr id="37" name="Straight Connector 36"/>
          <p:cNvCxnSpPr/>
          <p:nvPr/>
        </p:nvCxnSpPr>
        <p:spPr>
          <a:xfrm>
            <a:off x="3193774" y="3124200"/>
            <a:ext cx="6400800" cy="0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251174" y="2843253"/>
            <a:ext cx="2090849" cy="3347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/>
              <a:t>Activity</a:t>
            </a:r>
            <a:endParaRPr lang="en-US" sz="1200" b="1" dirty="0"/>
          </a:p>
        </p:txBody>
      </p:sp>
      <p:sp>
        <p:nvSpPr>
          <p:cNvPr id="39" name="Rectangle 38"/>
          <p:cNvSpPr/>
          <p:nvPr/>
        </p:nvSpPr>
        <p:spPr>
          <a:xfrm>
            <a:off x="2584174" y="2743200"/>
            <a:ext cx="609600" cy="2209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400" dirty="0" smtClean="0"/>
              <a:t>Change Position Size</a:t>
            </a:r>
            <a:endParaRPr lang="en-US" sz="1400" dirty="0"/>
          </a:p>
        </p:txBody>
      </p:sp>
      <p:cxnSp>
        <p:nvCxnSpPr>
          <p:cNvPr id="40" name="Straight Connector 39"/>
          <p:cNvCxnSpPr/>
          <p:nvPr/>
        </p:nvCxnSpPr>
        <p:spPr>
          <a:xfrm>
            <a:off x="3269974" y="3854396"/>
            <a:ext cx="6172200" cy="0"/>
          </a:xfrm>
          <a:prstGeom prst="line">
            <a:avLst/>
          </a:prstGeom>
          <a:ln>
            <a:solidFill>
              <a:schemeClr val="accent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3269974" y="4415990"/>
            <a:ext cx="6172200" cy="0"/>
          </a:xfrm>
          <a:prstGeom prst="line">
            <a:avLst/>
          </a:prstGeom>
          <a:ln>
            <a:solidFill>
              <a:schemeClr val="accent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4" name="Table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3288318"/>
              </p:ext>
            </p:extLst>
          </p:nvPr>
        </p:nvGraphicFramePr>
        <p:xfrm>
          <a:off x="3269974" y="3124200"/>
          <a:ext cx="6271932" cy="1797022"/>
        </p:xfrm>
        <a:graphic>
          <a:graphicData uri="http://schemas.openxmlformats.org/drawingml/2006/table">
            <a:tbl>
              <a:tblPr bandRow="1">
                <a:tableStyleId>{2D5ABB26-0587-4C30-8999-92F81FD0307C}</a:tableStyleId>
              </a:tblPr>
              <a:tblGrid>
                <a:gridCol w="2032704"/>
                <a:gridCol w="4239228"/>
              </a:tblGrid>
              <a:tr h="694101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Risk/Reward Assessment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baseline="0" dirty="0" smtClean="0"/>
                        <a:t>Review the risk/reward profile of current position. As positions move closer to their price target, they are viewed as more risky as the potential for give-back of open profit is increase.</a:t>
                      </a:r>
                      <a:endParaRPr lang="en-US" sz="1200" dirty="0"/>
                    </a:p>
                  </a:txBody>
                  <a:tcPr anchor="ctr"/>
                </a:tc>
              </a:tr>
              <a:tr h="607135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Active Rebalancing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Trim from positions reach predetermined size</a:t>
                      </a:r>
                      <a:r>
                        <a:rPr lang="en-US" sz="1200" baseline="0" dirty="0" smtClean="0"/>
                        <a:t> constraints;</a:t>
                      </a:r>
                    </a:p>
                    <a:p>
                      <a:r>
                        <a:rPr lang="en-US" sz="1200" baseline="0" dirty="0" smtClean="0"/>
                        <a:t>Redeploy the capital to other attractive equities.</a:t>
                      </a:r>
                      <a:endParaRPr lang="en-US" sz="1200" dirty="0"/>
                    </a:p>
                  </a:txBody>
                  <a:tcPr anchor="ctr"/>
                </a:tc>
              </a:tr>
              <a:tr h="495786">
                <a:tc>
                  <a:txBody>
                    <a:bodyPr/>
                    <a:lstStyle/>
                    <a:p>
                      <a:r>
                        <a:rPr lang="en-US" sz="1200" baseline="0" dirty="0" smtClean="0"/>
                        <a:t>Catalyst Analysis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Capture the specific “event” from economic scenarios that leads to the stock converging to</a:t>
                      </a:r>
                      <a:r>
                        <a:rPr lang="en-US" sz="1200" baseline="0" dirty="0" smtClean="0"/>
                        <a:t>wards its price target.</a:t>
                      </a:r>
                      <a:endParaRPr lang="en-US" sz="1200" dirty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51" name="Rectangle 50"/>
          <p:cNvSpPr/>
          <p:nvPr/>
        </p:nvSpPr>
        <p:spPr>
          <a:xfrm>
            <a:off x="3200400" y="5105400"/>
            <a:ext cx="6400800" cy="20574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/>
          <p:cNvSpPr txBox="1"/>
          <p:nvPr/>
        </p:nvSpPr>
        <p:spPr>
          <a:xfrm>
            <a:off x="3200400" y="5210912"/>
            <a:ext cx="20908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/>
              <a:t>Exit </a:t>
            </a:r>
            <a:r>
              <a:rPr lang="en-US" sz="1200" b="1" dirty="0" smtClean="0"/>
              <a:t>Trigger</a:t>
            </a:r>
            <a:endParaRPr lang="en-US" sz="1200" b="1" dirty="0"/>
          </a:p>
        </p:txBody>
      </p:sp>
      <p:cxnSp>
        <p:nvCxnSpPr>
          <p:cNvPr id="54" name="Straight Connector 53"/>
          <p:cNvCxnSpPr/>
          <p:nvPr/>
        </p:nvCxnSpPr>
        <p:spPr>
          <a:xfrm>
            <a:off x="3200400" y="5514188"/>
            <a:ext cx="6400800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5257800" y="5210912"/>
            <a:ext cx="20908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Methodology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590800" y="5105400"/>
            <a:ext cx="609600" cy="20574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400" dirty="0" smtClean="0"/>
              <a:t>Sell Discipline</a:t>
            </a:r>
            <a:endParaRPr lang="en-US" sz="1400" dirty="0"/>
          </a:p>
        </p:txBody>
      </p:sp>
      <p:cxnSp>
        <p:nvCxnSpPr>
          <p:cNvPr id="57" name="Straight Connector 56"/>
          <p:cNvCxnSpPr/>
          <p:nvPr/>
        </p:nvCxnSpPr>
        <p:spPr>
          <a:xfrm>
            <a:off x="3276600" y="5980045"/>
            <a:ext cx="6172200" cy="0"/>
          </a:xfrm>
          <a:prstGeom prst="line">
            <a:avLst/>
          </a:prstGeom>
          <a:ln>
            <a:solidFill>
              <a:schemeClr val="accent6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/>
          <p:nvPr/>
        </p:nvCxnSpPr>
        <p:spPr>
          <a:xfrm>
            <a:off x="3276600" y="6820200"/>
            <a:ext cx="6172200" cy="0"/>
          </a:xfrm>
          <a:prstGeom prst="line">
            <a:avLst/>
          </a:prstGeom>
          <a:ln>
            <a:solidFill>
              <a:schemeClr val="accent6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2" name="Table 5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2820933"/>
              </p:ext>
            </p:extLst>
          </p:nvPr>
        </p:nvGraphicFramePr>
        <p:xfrm>
          <a:off x="3276600" y="5491703"/>
          <a:ext cx="6271932" cy="1596771"/>
        </p:xfrm>
        <a:graphic>
          <a:graphicData uri="http://schemas.openxmlformats.org/drawingml/2006/table">
            <a:tbl>
              <a:tblPr bandRow="1">
                <a:tableStyleId>{2D5ABB26-0587-4C30-8999-92F81FD0307C}</a:tableStyleId>
              </a:tblPr>
              <a:tblGrid>
                <a:gridCol w="2032704"/>
                <a:gridCol w="4239228"/>
              </a:tblGrid>
              <a:tr h="253175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Price</a:t>
                      </a:r>
                      <a:r>
                        <a:rPr lang="en-US" sz="1200" baseline="0" dirty="0" smtClean="0"/>
                        <a:t> Targets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Once price target</a:t>
                      </a:r>
                      <a:r>
                        <a:rPr lang="en-US" sz="1200" baseline="0" dirty="0" smtClean="0"/>
                        <a:t>s have been hit, position is usually closed out.</a:t>
                      </a:r>
                    </a:p>
                    <a:p>
                      <a:r>
                        <a:rPr lang="en-US" sz="1200" baseline="0" dirty="0" smtClean="0"/>
                        <a:t>A portion may be kept for extra profit from market momentum.</a:t>
                      </a:r>
                      <a:endParaRPr lang="en-US" sz="1200" dirty="0"/>
                    </a:p>
                  </a:txBody>
                  <a:tcPr anchor="ctr"/>
                </a:tc>
              </a:tr>
              <a:tr h="408051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Better Opportunities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Better investment</a:t>
                      </a:r>
                      <a:r>
                        <a:rPr lang="en-US" sz="1200" baseline="0" dirty="0" smtClean="0"/>
                        <a:t> opportunities occur.</a:t>
                      </a:r>
                      <a:endParaRPr lang="en-US" sz="1200" dirty="0"/>
                    </a:p>
                  </a:txBody>
                  <a:tcPr anchor="ctr"/>
                </a:tc>
              </a:tr>
              <a:tr h="253175">
                <a:tc>
                  <a:txBody>
                    <a:bodyPr/>
                    <a:lstStyle/>
                    <a:p>
                      <a:pPr marL="0" marR="0" indent="0" algn="l" defTabSz="10188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smtClean="0"/>
                        <a:t>Establishing </a:t>
                      </a:r>
                      <a:r>
                        <a:rPr lang="en-US" sz="1200" baseline="0" dirty="0" smtClean="0"/>
                        <a:t>and Checking</a:t>
                      </a:r>
                      <a:endParaRPr lang="en-US" sz="1200" dirty="0" smtClean="0"/>
                    </a:p>
                    <a:p>
                      <a:r>
                        <a:rPr lang="en-US" sz="1200" dirty="0" smtClean="0"/>
                        <a:t>New Thesis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When a position doesn’t move in-line with expectations,</a:t>
                      </a:r>
                      <a:r>
                        <a:rPr lang="en-US" sz="1200" baseline="0" dirty="0" smtClean="0"/>
                        <a:t> the thesis is re-evaluated. If it’s no longer hold, exits will occur.</a:t>
                      </a:r>
                    </a:p>
                  </a:txBody>
                  <a:tcPr anchor="ctr"/>
                </a:tc>
              </a:tr>
              <a:tr h="253175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Macro Factors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baseline="0" dirty="0" smtClean="0"/>
                        <a:t>Uncertainty surrounding government interventions.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cxnSp>
        <p:nvCxnSpPr>
          <p:cNvPr id="60" name="Straight Connector 59"/>
          <p:cNvCxnSpPr/>
          <p:nvPr/>
        </p:nvCxnSpPr>
        <p:spPr>
          <a:xfrm>
            <a:off x="3276600" y="6324600"/>
            <a:ext cx="6172200" cy="0"/>
          </a:xfrm>
          <a:prstGeom prst="line">
            <a:avLst/>
          </a:prstGeom>
          <a:ln>
            <a:solidFill>
              <a:schemeClr val="accent6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8321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4" grpId="0"/>
    </p:bldLst>
  </p:timing>
</p:sld>
</file>

<file path=ppt/theme/theme1.xml><?xml version="1.0" encoding="utf-8"?>
<a:theme xmlns:a="http://schemas.openxmlformats.org/drawingml/2006/main" name="Office Theme">
  <a:themeElements>
    <a:clrScheme name="Cello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968880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5823</TotalTime>
  <Words>762</Words>
  <Application>Microsoft Office PowerPoint</Application>
  <PresentationFormat>Custom</PresentationFormat>
  <Paragraphs>114</Paragraphs>
  <Slides>4</Slides>
  <Notes>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Theme</vt:lpstr>
      <vt:lpstr>Long Short equity</vt:lpstr>
      <vt:lpstr>Return Generating process for equity</vt:lpstr>
      <vt:lpstr>Investment Style</vt:lpstr>
      <vt:lpstr>Portfolio Construction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Matt</dc:creator>
  <cp:lastModifiedBy>Lien Chen</cp:lastModifiedBy>
  <cp:revision>491</cp:revision>
  <cp:lastPrinted>2015-07-15T17:40:38Z</cp:lastPrinted>
  <dcterms:created xsi:type="dcterms:W3CDTF">2015-05-21T20:34:11Z</dcterms:created>
  <dcterms:modified xsi:type="dcterms:W3CDTF">2015-07-15T22:09:22Z</dcterms:modified>
</cp:coreProperties>
</file>