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38" r:id="rId2"/>
    <p:sldId id="339" r:id="rId3"/>
  </p:sldIdLst>
  <p:sldSz cx="10058400" cy="7772400"/>
  <p:notesSz cx="6934200" cy="92202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732D"/>
    <a:srgbClr val="002060"/>
    <a:srgbClr val="2E3989"/>
    <a:srgbClr val="533D2D"/>
    <a:srgbClr val="592E8A"/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03" autoAdjust="0"/>
    <p:restoredTop sz="94660" autoAdjust="0"/>
  </p:normalViewPr>
  <p:slideViewPr>
    <p:cSldViewPr showGuides="1">
      <p:cViewPr>
        <p:scale>
          <a:sx n="125" d="100"/>
          <a:sy n="125" d="100"/>
        </p:scale>
        <p:origin x="-1326" y="-270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1" d="100"/>
          <a:sy n="61" d="100"/>
        </p:scale>
        <p:origin x="-2382" y="-78"/>
      </p:cViewPr>
      <p:guideLst>
        <p:guide orient="horz" pos="2880"/>
        <p:guide orient="horz" pos="2904"/>
        <p:guide pos="2160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7/17/2015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7/17/2015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0313" y="690563"/>
            <a:ext cx="4473575" cy="345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3" tIns="46147" rIns="92293" bIns="4614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420" y="4379595"/>
            <a:ext cx="5547360" cy="4149090"/>
          </a:xfrm>
          <a:prstGeom prst="rect">
            <a:avLst/>
          </a:prstGeom>
        </p:spPr>
        <p:txBody>
          <a:bodyPr vert="horz" lIns="92293" tIns="46147" rIns="92293" bIns="46147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 property / </a:t>
            </a:r>
            <a:r>
              <a:rPr lang="en-US" dirty="0" err="1" smtClean="0"/>
              <a:t>reit</a:t>
            </a:r>
            <a:r>
              <a:rPr lang="en-US" dirty="0" smtClean="0"/>
              <a:t> income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Low Beta is a market dependent strategy. Managers in this strategy category are generally market neutral either on a dollar value (dollars on the long side equal dollars on the short side) or beta adjusted (beta on the long side matches beta on the short side) basis.</a:t>
            </a:r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415747"/>
              </p:ext>
            </p:extLst>
          </p:nvPr>
        </p:nvGraphicFramePr>
        <p:xfrm>
          <a:off x="3048001" y="1689216"/>
          <a:ext cx="6432548" cy="4648198"/>
        </p:xfrm>
        <a:graphic>
          <a:graphicData uri="http://schemas.openxmlformats.org/drawingml/2006/table">
            <a:tbl>
              <a:tblPr/>
              <a:tblGrid>
                <a:gridCol w="2410355"/>
                <a:gridCol w="681528"/>
                <a:gridCol w="2664075"/>
                <a:gridCol w="676590"/>
              </a:tblGrid>
              <a:tr h="315636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Direct Property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D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REIT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D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Potential Gross Income (PGI)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Potential Gross Income (PGI)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Vacancy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Vacancy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Operating Expenses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Operating Expenses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NOI (property level)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General and Administrative Expenses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EBITDA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97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Interest Expense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Interest Expense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Funds from operations (FFO)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Depreciation Expense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Depreciation Expense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GAAP Net Income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GAAP Net Income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31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(Dividends &gt;= 0.9 x Net Income = 33.3)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Add back Depreciation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Add back Depreciation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CapEx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CapEx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31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Equity-before-tax cash flow (EBTCF)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Adjusted funds from operations (AFFO)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42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06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Controls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Low Beta is a market dependent strategy. Managers in this strategy category are generally market neutral either on a dollar value (dollars on the long side equal dollars on the short side) or beta adjusted (beta on the long side matches beta on the short side) basis.</a:t>
            </a:r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2903220" y="1420595"/>
            <a:ext cx="6629400" cy="8229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2903220" y="1420594"/>
            <a:ext cx="6629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03220" y="1066800"/>
            <a:ext cx="662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Position concentration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03220" y="1420594"/>
            <a:ext cx="662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text</a:t>
            </a:r>
            <a:endParaRPr lang="en-US" sz="1400" dirty="0" smtClean="0"/>
          </a:p>
        </p:txBody>
      </p:sp>
      <p:sp>
        <p:nvSpPr>
          <p:cNvPr id="22" name="Rectangle 21"/>
          <p:cNvSpPr/>
          <p:nvPr/>
        </p:nvSpPr>
        <p:spPr>
          <a:xfrm>
            <a:off x="2903220" y="2603332"/>
            <a:ext cx="6629400" cy="8229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2903220" y="2603331"/>
            <a:ext cx="6629400" cy="0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903220" y="2603331"/>
            <a:ext cx="662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text</a:t>
            </a:r>
            <a:endParaRPr lang="en-US" sz="1400" dirty="0" smtClean="0"/>
          </a:p>
        </p:txBody>
      </p:sp>
      <p:sp>
        <p:nvSpPr>
          <p:cNvPr id="26" name="Rectangle 25"/>
          <p:cNvSpPr/>
          <p:nvPr/>
        </p:nvSpPr>
        <p:spPr>
          <a:xfrm>
            <a:off x="2903220" y="3780086"/>
            <a:ext cx="6629400" cy="8229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>
            <a:off x="2903220" y="3780085"/>
            <a:ext cx="662940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903220" y="3780085"/>
            <a:ext cx="662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text</a:t>
            </a:r>
            <a:endParaRPr lang="en-US" sz="1400" dirty="0" smtClean="0"/>
          </a:p>
        </p:txBody>
      </p:sp>
      <p:sp>
        <p:nvSpPr>
          <p:cNvPr id="30" name="Rectangle 29"/>
          <p:cNvSpPr/>
          <p:nvPr/>
        </p:nvSpPr>
        <p:spPr>
          <a:xfrm>
            <a:off x="2903220" y="4956840"/>
            <a:ext cx="6629400" cy="8229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2903220" y="4956839"/>
            <a:ext cx="6629400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903220" y="4956839"/>
            <a:ext cx="662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text</a:t>
            </a:r>
            <a:endParaRPr lang="en-US" sz="1400" dirty="0" smtClean="0"/>
          </a:p>
        </p:txBody>
      </p:sp>
      <p:sp>
        <p:nvSpPr>
          <p:cNvPr id="34" name="Rectangle 33"/>
          <p:cNvSpPr/>
          <p:nvPr/>
        </p:nvSpPr>
        <p:spPr>
          <a:xfrm>
            <a:off x="2903220" y="6131957"/>
            <a:ext cx="6629400" cy="8229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2903220" y="6131956"/>
            <a:ext cx="6629400" cy="0"/>
          </a:xfrm>
          <a:prstGeom prst="line">
            <a:avLst/>
          </a:prstGeom>
          <a:ln w="38100">
            <a:solidFill>
              <a:schemeClr val="accent4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903220" y="6131956"/>
            <a:ext cx="662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text</a:t>
            </a:r>
            <a:endParaRPr lang="en-US" sz="1400" dirty="0" smtClean="0"/>
          </a:p>
        </p:txBody>
      </p:sp>
      <p:sp>
        <p:nvSpPr>
          <p:cNvPr id="39" name="TextBox 38"/>
          <p:cNvSpPr txBox="1"/>
          <p:nvPr/>
        </p:nvSpPr>
        <p:spPr>
          <a:xfrm>
            <a:off x="2903220" y="2286000"/>
            <a:ext cx="662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Sector concentration</a:t>
            </a:r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903220" y="3441532"/>
            <a:ext cx="662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Gross Exposure</a:t>
            </a:r>
            <a:endParaRPr lang="en-US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910840" y="4630818"/>
            <a:ext cx="662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3">
                    <a:lumMod val="75000"/>
                  </a:schemeClr>
                </a:solidFill>
              </a:rPr>
              <a:t>Net Exposure</a:t>
            </a:r>
            <a:endParaRPr lang="en-US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903220" y="5821175"/>
            <a:ext cx="662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85000"/>
                    <a:lumOff val="15000"/>
                  </a:schemeClr>
                </a:solidFill>
              </a:rPr>
              <a:t>Leverage</a:t>
            </a:r>
            <a:endParaRPr lang="en-US" sz="1600" b="1" dirty="0">
              <a:solidFill>
                <a:schemeClr val="accent4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8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ello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968880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6014</TotalTime>
  <Words>256</Words>
  <Application>Microsoft Office PowerPoint</Application>
  <PresentationFormat>Custom</PresentationFormat>
  <Paragraphs>76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Direct property / reit income</vt:lpstr>
      <vt:lpstr>Risk Controls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Lien Chen</cp:lastModifiedBy>
  <cp:revision>510</cp:revision>
  <cp:lastPrinted>2015-07-15T17:40:38Z</cp:lastPrinted>
  <dcterms:created xsi:type="dcterms:W3CDTF">2015-05-21T20:34:11Z</dcterms:created>
  <dcterms:modified xsi:type="dcterms:W3CDTF">2015-07-17T14:18:08Z</dcterms:modified>
</cp:coreProperties>
</file>