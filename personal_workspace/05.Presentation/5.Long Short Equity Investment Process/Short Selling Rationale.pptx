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37" r:id="rId2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-1374" y="-270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7/16/2015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7/16/2015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Short selling rationale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Selling stocks short serves different purposes for different equity managers and strategies.</a:t>
            </a:r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sp>
        <p:nvSpPr>
          <p:cNvPr id="5" name="Rectangle 4"/>
          <p:cNvSpPr/>
          <p:nvPr/>
        </p:nvSpPr>
        <p:spPr>
          <a:xfrm>
            <a:off x="2903220" y="1200686"/>
            <a:ext cx="525780" cy="4757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2903220" y="1691640"/>
            <a:ext cx="6629400" cy="12721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903220" y="1691640"/>
            <a:ext cx="6629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000" y="1261646"/>
            <a:ext cx="6103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/>
                </a:solidFill>
              </a:rPr>
              <a:t>Hedge a Portfolio’s Market Exposure and/or Sector Exposure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903220" y="3319046"/>
            <a:ext cx="525780" cy="47571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2903220" y="3810000"/>
            <a:ext cx="6629400" cy="11847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>
            <a:off x="2903220" y="3810000"/>
            <a:ext cx="66294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429000" y="3398520"/>
            <a:ext cx="6103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5">
                    <a:lumMod val="50000"/>
                  </a:schemeClr>
                </a:solidFill>
              </a:rPr>
              <a:t>Profit from Stock Price Declines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03220" y="1691640"/>
            <a:ext cx="6629400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Hedge out market risk (beta risk)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Protect the portfolio’s long positions against a broad market decline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Reduce portfolio’s correlation to the markets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Reduce volatility of a portfolio’s returns with the market</a:t>
            </a:r>
            <a:endParaRPr lang="en-US" sz="1400" dirty="0"/>
          </a:p>
          <a:p>
            <a:pPr>
              <a:spcBef>
                <a:spcPts val="800"/>
              </a:spcBef>
            </a:pPr>
            <a:r>
              <a:rPr lang="en-US" sz="1400" dirty="0" smtClean="0"/>
              <a:t>Often use short selling index to hedge out portfolio risk and sector risk.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03220" y="3825240"/>
            <a:ext cx="6629400" cy="105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Profit from a decline in the stock price for company-specific reasons </a:t>
            </a:r>
          </a:p>
          <a:p>
            <a:pPr lvl="1"/>
            <a:r>
              <a:rPr lang="en-US" sz="1400" dirty="0" smtClean="0"/>
              <a:t>(overvaluation, weak management, declining revenue and earnings etc.)</a:t>
            </a:r>
          </a:p>
          <a:p>
            <a:pPr>
              <a:spcBef>
                <a:spcPts val="800"/>
              </a:spcBef>
            </a:pPr>
            <a:r>
              <a:rPr lang="en-US" sz="1400" dirty="0" smtClean="0"/>
              <a:t>Based on extensive fundamental and/or quantitative research to identify factors lead to stock price decline. 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80360" y="5285006"/>
            <a:ext cx="525780" cy="4757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US" dirty="0"/>
          </a:p>
        </p:txBody>
      </p:sp>
      <p:sp>
        <p:nvSpPr>
          <p:cNvPr id="65" name="Rectangle 64"/>
          <p:cNvSpPr/>
          <p:nvPr/>
        </p:nvSpPr>
        <p:spPr>
          <a:xfrm>
            <a:off x="2880360" y="5775960"/>
            <a:ext cx="6629400" cy="12873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>
            <a:off x="2880360" y="5775960"/>
            <a:ext cx="6629400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406140" y="5364480"/>
            <a:ext cx="6103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3"/>
                </a:solidFill>
              </a:rPr>
              <a:t>Capture Relative Value</a:t>
            </a:r>
            <a:endParaRPr lang="en-US" sz="1600" dirty="0">
              <a:solidFill>
                <a:schemeClr val="accent3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880360" y="5791200"/>
            <a:ext cx="6629400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Market neutral managers may establish a pairs trade by buying an undervalued stock and selling an overvalued stock, usually in the same industry.</a:t>
            </a:r>
          </a:p>
          <a:p>
            <a:pPr>
              <a:spcBef>
                <a:spcPts val="800"/>
              </a:spcBef>
            </a:pPr>
            <a:r>
              <a:rPr lang="en-US" sz="1400" dirty="0" smtClean="0"/>
              <a:t>Pairs trading is a non-direction, relative value strategy seeks to identify two companies with similar characteristics whose stocks are currently trading at a price relationship outside its historical range.</a:t>
            </a:r>
          </a:p>
        </p:txBody>
      </p:sp>
    </p:spTree>
    <p:extLst>
      <p:ext uri="{BB962C8B-B14F-4D97-AF65-F5344CB8AC3E}">
        <p14:creationId xmlns:p14="http://schemas.microsoft.com/office/powerpoint/2010/main" val="398789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6014</TotalTime>
  <Words>183</Words>
  <Application>Microsoft Office PowerPoint</Application>
  <PresentationFormat>Custom</PresentationFormat>
  <Paragraphs>20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Short selling rationale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509</cp:revision>
  <cp:lastPrinted>2015-07-15T17:40:38Z</cp:lastPrinted>
  <dcterms:created xsi:type="dcterms:W3CDTF">2015-05-21T20:34:11Z</dcterms:created>
  <dcterms:modified xsi:type="dcterms:W3CDTF">2015-07-16T16:17:17Z</dcterms:modified>
</cp:coreProperties>
</file>