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336" r:id="rId2"/>
    <p:sldId id="332" r:id="rId3"/>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p15="http://schemas.microsoft.com/office/powerpoint/2012/main" xmlns="">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3" autoAdjust="0"/>
    <p:restoredTop sz="94660" autoAdjust="0"/>
  </p:normalViewPr>
  <p:slideViewPr>
    <p:cSldViewPr showGuides="1">
      <p:cViewPr varScale="1">
        <p:scale>
          <a:sx n="132" d="100"/>
          <a:sy n="132" d="100"/>
        </p:scale>
        <p:origin x="-1098" y="-90"/>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7/17/2015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7/17/2015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Style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investment style</a:t>
            </a:r>
            <a:r>
              <a:rPr lang="en-US" sz="1200" b="0" dirty="0" smtClean="0">
                <a:solidFill>
                  <a:schemeClr val="tx1"/>
                </a:solidFill>
                <a:latin typeface="+mn-lt"/>
              </a:rPr>
              <a:t> provides an indication of how portfolio managers reach their investment decisions and how long they intend to hold their positions. In addition, it provides insight into the portfolio construction process and the manager’s investment strategy.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CRE Long/Short Equity Strategy is strongly Investor-style oriented and consequently relies heavily on fundamental techniques of equity valuation. These include monitoring trends in cash flow, implied Cap rates, balance sheet and income statement analysis etc. From time to time, technical factors such as earnings or return momentum are also taken into account.</a:t>
            </a: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 name="Rectangle 2"/>
          <p:cNvSpPr/>
          <p:nvPr/>
        </p:nvSpPr>
        <p:spPr>
          <a:xfrm>
            <a:off x="2819400" y="2057400"/>
            <a:ext cx="2133600" cy="13716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Trader vs </a:t>
            </a:r>
            <a:r>
              <a:rPr lang="en-US" sz="1600" b="1" dirty="0" smtClean="0">
                <a:solidFill>
                  <a:schemeClr val="bg1"/>
                </a:solidFill>
              </a:rPr>
              <a:t>Investor</a:t>
            </a:r>
            <a:endParaRPr lang="en-US" sz="1600" b="1" dirty="0">
              <a:solidFill>
                <a:schemeClr val="bg1"/>
              </a:solidFill>
            </a:endParaRPr>
          </a:p>
        </p:txBody>
      </p:sp>
      <p:sp>
        <p:nvSpPr>
          <p:cNvPr id="7" name="Rectangle 6"/>
          <p:cNvSpPr/>
          <p:nvPr/>
        </p:nvSpPr>
        <p:spPr>
          <a:xfrm>
            <a:off x="4953000" y="2057400"/>
            <a:ext cx="434340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Investor-oriented with heavy reliance on fundamental bottoms-up analysis of company financials. Technical factors such as earnings or return momentum also taken into account</a:t>
            </a:r>
            <a:r>
              <a:rPr lang="en-US" sz="1400" dirty="0" smtClean="0">
                <a:solidFill>
                  <a:schemeClr val="tx1"/>
                </a:solidFill>
              </a:rPr>
              <a:t>.</a:t>
            </a:r>
            <a:endParaRPr lang="en-US" sz="1400" dirty="0">
              <a:solidFill>
                <a:schemeClr val="tx1"/>
              </a:solidFill>
            </a:endParaRPr>
          </a:p>
        </p:txBody>
      </p:sp>
      <p:sp>
        <p:nvSpPr>
          <p:cNvPr id="8" name="Rectangle 7"/>
          <p:cNvSpPr/>
          <p:nvPr/>
        </p:nvSpPr>
        <p:spPr>
          <a:xfrm>
            <a:off x="2819400" y="3695700"/>
            <a:ext cx="2133600" cy="1371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Holding </a:t>
            </a:r>
            <a:r>
              <a:rPr lang="en-US" b="1" dirty="0" smtClean="0">
                <a:solidFill>
                  <a:schemeClr val="bg1"/>
                </a:solidFill>
              </a:rPr>
              <a:t>Period</a:t>
            </a:r>
            <a:endParaRPr lang="en-US" b="1" dirty="0">
              <a:solidFill>
                <a:schemeClr val="bg1"/>
              </a:solidFill>
            </a:endParaRPr>
          </a:p>
        </p:txBody>
      </p:sp>
      <p:sp>
        <p:nvSpPr>
          <p:cNvPr id="9" name="Rectangle 8"/>
          <p:cNvSpPr/>
          <p:nvPr/>
        </p:nvSpPr>
        <p:spPr>
          <a:xfrm>
            <a:off x="4953000" y="3695700"/>
            <a:ext cx="4343400" cy="1371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819400" y="5334000"/>
            <a:ext cx="2133600" cy="13716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Investment </a:t>
            </a:r>
            <a:r>
              <a:rPr lang="en-US" b="1" dirty="0" smtClean="0">
                <a:solidFill>
                  <a:schemeClr val="bg1"/>
                </a:solidFill>
              </a:rPr>
              <a:t>Signals</a:t>
            </a:r>
            <a:endParaRPr lang="en-US" b="1" dirty="0">
              <a:solidFill>
                <a:schemeClr val="bg1"/>
              </a:solidFill>
            </a:endParaRPr>
          </a:p>
        </p:txBody>
      </p:sp>
      <p:sp>
        <p:nvSpPr>
          <p:cNvPr id="11" name="Rectangle 10"/>
          <p:cNvSpPr/>
          <p:nvPr/>
        </p:nvSpPr>
        <p:spPr>
          <a:xfrm>
            <a:off x="4953000" y="5334000"/>
            <a:ext cx="4343400" cy="1371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819400" y="3664922"/>
            <a:ext cx="2133600" cy="1371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Holding </a:t>
            </a:r>
            <a:r>
              <a:rPr lang="en-US" sz="1600" b="1" dirty="0" smtClean="0">
                <a:solidFill>
                  <a:schemeClr val="bg1"/>
                </a:solidFill>
              </a:rPr>
              <a:t>Period</a:t>
            </a:r>
            <a:endParaRPr lang="en-US" sz="1600" b="1" dirty="0">
              <a:solidFill>
                <a:schemeClr val="bg1"/>
              </a:solidFill>
            </a:endParaRPr>
          </a:p>
        </p:txBody>
      </p:sp>
      <p:sp>
        <p:nvSpPr>
          <p:cNvPr id="21" name="Rectangle 20"/>
          <p:cNvSpPr/>
          <p:nvPr/>
        </p:nvSpPr>
        <p:spPr>
          <a:xfrm>
            <a:off x="4953000" y="3664922"/>
            <a:ext cx="4343400" cy="14023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Longs are more value-oriented: ~6-9 months </a:t>
            </a:r>
          </a:p>
          <a:p>
            <a:pPr lvl="0"/>
            <a:r>
              <a:rPr lang="en-US" sz="1400" dirty="0">
                <a:solidFill>
                  <a:schemeClr val="tx1"/>
                </a:solidFill>
              </a:rPr>
              <a:t>Shorts are more tactical: ~3 </a:t>
            </a:r>
            <a:r>
              <a:rPr lang="en-US" sz="1400" dirty="0" smtClean="0">
                <a:solidFill>
                  <a:schemeClr val="tx1"/>
                </a:solidFill>
              </a:rPr>
              <a:t>months</a:t>
            </a:r>
            <a:endParaRPr lang="en-US" sz="1400" dirty="0">
              <a:solidFill>
                <a:schemeClr val="tx1"/>
              </a:solidFill>
            </a:endParaRPr>
          </a:p>
        </p:txBody>
      </p:sp>
      <p:sp>
        <p:nvSpPr>
          <p:cNvPr id="23" name="Rectangle 22"/>
          <p:cNvSpPr/>
          <p:nvPr/>
        </p:nvSpPr>
        <p:spPr>
          <a:xfrm>
            <a:off x="2819400" y="5303222"/>
            <a:ext cx="2133600" cy="163097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Investment </a:t>
            </a:r>
            <a:r>
              <a:rPr lang="en-US" sz="1600" b="1" dirty="0" smtClean="0">
                <a:solidFill>
                  <a:schemeClr val="bg1"/>
                </a:solidFill>
              </a:rPr>
              <a:t>Signals</a:t>
            </a:r>
            <a:endParaRPr lang="en-US" sz="1600" b="1" dirty="0">
              <a:solidFill>
                <a:schemeClr val="bg1"/>
              </a:solidFill>
            </a:endParaRPr>
          </a:p>
        </p:txBody>
      </p:sp>
      <p:sp>
        <p:nvSpPr>
          <p:cNvPr id="24" name="Rectangle 23"/>
          <p:cNvSpPr/>
          <p:nvPr/>
        </p:nvSpPr>
        <p:spPr>
          <a:xfrm>
            <a:off x="4953000" y="5303222"/>
            <a:ext cx="4343400" cy="16309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Thematic views from the CRE market are considered in conjunction with valuation screens for a universe of ~100-125 CRE-linked equities in order to identify potential long/short targets. An investment thesis is built for each potential target through consideration of Discounts, Catalysts, and Market inefficiencies, among other factors</a:t>
            </a:r>
            <a:r>
              <a:rPr lang="en-US" sz="1400" dirty="0" smtClean="0">
                <a:solidFill>
                  <a:schemeClr val="tx1"/>
                </a:solidFill>
              </a:rPr>
              <a:t>.</a:t>
            </a:r>
            <a:endParaRPr lang="en-US" sz="1400" dirty="0">
              <a:solidFill>
                <a:schemeClr val="tx1"/>
              </a:solidFill>
            </a:endParaRPr>
          </a:p>
        </p:txBody>
      </p:sp>
      <p:sp>
        <p:nvSpPr>
          <p:cNvPr id="18" name="TextBox 17"/>
          <p:cNvSpPr txBox="1"/>
          <p:nvPr/>
        </p:nvSpPr>
        <p:spPr>
          <a:xfrm>
            <a:off x="2819400" y="1600200"/>
            <a:ext cx="2057400" cy="369332"/>
          </a:xfrm>
          <a:prstGeom prst="rect">
            <a:avLst/>
          </a:prstGeom>
          <a:noFill/>
        </p:spPr>
        <p:txBody>
          <a:bodyPr wrap="square" rtlCol="0">
            <a:spAutoFit/>
          </a:bodyPr>
          <a:lstStyle/>
          <a:p>
            <a:r>
              <a:rPr lang="en-US" sz="1800" b="1" dirty="0" smtClean="0">
                <a:solidFill>
                  <a:schemeClr val="accent1"/>
                </a:solidFill>
              </a:rPr>
              <a:t>Style Factors</a:t>
            </a:r>
            <a:endParaRPr lang="en-US" sz="1800" b="1" dirty="0">
              <a:solidFill>
                <a:schemeClr val="accent1"/>
              </a:solidFill>
            </a:endParaRPr>
          </a:p>
        </p:txBody>
      </p:sp>
      <p:sp>
        <p:nvSpPr>
          <p:cNvPr id="26" name="TextBox 25"/>
          <p:cNvSpPr txBox="1"/>
          <p:nvPr/>
        </p:nvSpPr>
        <p:spPr>
          <a:xfrm>
            <a:off x="4949686" y="1619416"/>
            <a:ext cx="2670313" cy="369332"/>
          </a:xfrm>
          <a:prstGeom prst="rect">
            <a:avLst/>
          </a:prstGeom>
          <a:noFill/>
        </p:spPr>
        <p:txBody>
          <a:bodyPr wrap="square" rtlCol="0">
            <a:spAutoFit/>
          </a:bodyPr>
          <a:lstStyle/>
          <a:p>
            <a:r>
              <a:rPr lang="en-US" sz="1800" b="1" dirty="0">
                <a:solidFill>
                  <a:schemeClr val="accent1"/>
                </a:solidFill>
              </a:rPr>
              <a:t>CRE Long/Short Strategy</a:t>
            </a:r>
          </a:p>
        </p:txBody>
      </p:sp>
      <p:cxnSp>
        <p:nvCxnSpPr>
          <p:cNvPr id="27" name="Straight Connector 26"/>
          <p:cNvCxnSpPr/>
          <p:nvPr/>
        </p:nvCxnSpPr>
        <p:spPr>
          <a:xfrm>
            <a:off x="2822714" y="1969532"/>
            <a:ext cx="2111236" cy="214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968902" y="1969532"/>
            <a:ext cx="43434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476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200400" y="1143000"/>
            <a:ext cx="6400800" cy="17373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Price targets are set for Bull/Base/Bear scenarios are sizing depends on where pricing is relative to targets. Positions are typically established at a “toe-hold” or “mid-size” level with no distinction between the long and short side. Other factors influencing sizing include timing, portfolio attributes, and upside relative to other positions in the portfolio</a:t>
            </a:r>
            <a:r>
              <a:rPr lang="en-US" sz="1400" dirty="0" smtClean="0">
                <a:solidFill>
                  <a:schemeClr val="tx1"/>
                </a:solidFill>
              </a:rPr>
              <a:t>.</a:t>
            </a:r>
            <a:endParaRPr lang="en-US" sz="1400" dirty="0" smtClean="0">
              <a:solidFill>
                <a:schemeClr val="tx1"/>
              </a:solidFill>
            </a:endParaRPr>
          </a:p>
        </p:txBody>
      </p:sp>
      <p:sp>
        <p:nvSpPr>
          <p:cNvPr id="2" name="Title 1"/>
          <p:cNvSpPr>
            <a:spLocks noGrp="1"/>
          </p:cNvSpPr>
          <p:nvPr>
            <p:ph type="title"/>
          </p:nvPr>
        </p:nvSpPr>
        <p:spPr/>
        <p:txBody>
          <a:bodyPr/>
          <a:lstStyle/>
          <a:p>
            <a:r>
              <a:rPr lang="en-US" dirty="0" smtClean="0"/>
              <a:t>Portfolio Construction</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portfolio construction</a:t>
            </a:r>
            <a:r>
              <a:rPr lang="en-US" sz="1200" b="0" dirty="0" smtClean="0">
                <a:solidFill>
                  <a:schemeClr val="tx1"/>
                </a:solidFill>
                <a:latin typeface="+mn-lt"/>
              </a:rPr>
              <a:t> process for a portfolio manager establishes a baseline for understanding the underlying investment philosophy, evaluating portfolio changes, and establishing performance expectations.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Three key components of position sizing include:</a:t>
            </a:r>
          </a:p>
          <a:p>
            <a:pPr>
              <a:lnSpc>
                <a:spcPct val="100000"/>
              </a:lnSpc>
              <a:spcBef>
                <a:spcPts val="0"/>
              </a:spcBef>
            </a:pPr>
            <a:endParaRPr lang="en-US" sz="1200" b="0" dirty="0">
              <a:solidFill>
                <a:schemeClr val="tx1"/>
              </a:solidFill>
              <a:latin typeface="+mn-lt"/>
            </a:endParaRP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initiation: </a:t>
            </a:r>
            <a:r>
              <a:rPr lang="en-US" sz="1200" b="0" dirty="0" smtClean="0">
                <a:solidFill>
                  <a:schemeClr val="tx1"/>
                </a:solidFill>
                <a:latin typeface="+mn-lt"/>
              </a:rPr>
              <a:t>How initial position sizes are established</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Management: </a:t>
            </a:r>
            <a:r>
              <a:rPr lang="en-US" sz="1200" b="0" dirty="0" smtClean="0">
                <a:solidFill>
                  <a:schemeClr val="tx1"/>
                </a:solidFill>
                <a:latin typeface="+mn-lt"/>
              </a:rPr>
              <a:t>What factors influence changes in position size</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Sell Discipline: </a:t>
            </a:r>
            <a:r>
              <a:rPr lang="en-US" sz="1200" b="0" dirty="0" smtClean="0">
                <a:solidFill>
                  <a:schemeClr val="tx1"/>
                </a:solidFill>
                <a:latin typeface="+mn-lt"/>
              </a:rPr>
              <a:t>The process for closing out a long or short position</a:t>
            </a:r>
            <a:endParaRPr lang="en-US" sz="1200" dirty="0" smtClean="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7" name="Rectangle 6"/>
          <p:cNvSpPr/>
          <p:nvPr/>
        </p:nvSpPr>
        <p:spPr>
          <a:xfrm>
            <a:off x="2590800" y="1143000"/>
            <a:ext cx="609600" cy="1737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 Position Initiation</a:t>
            </a:r>
            <a:endParaRPr lang="en-US" sz="1400" dirty="0"/>
          </a:p>
        </p:txBody>
      </p:sp>
      <p:sp>
        <p:nvSpPr>
          <p:cNvPr id="33" name="Rectangle 32"/>
          <p:cNvSpPr/>
          <p:nvPr/>
        </p:nvSpPr>
        <p:spPr>
          <a:xfrm>
            <a:off x="3193774" y="3040380"/>
            <a:ext cx="6400800" cy="2057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Position sizes are actively rebalanced as stocks move towards or away from price targets. Generally, winners are trimmed and losers are added to. Scaling is also a function of risk/reward assessment as conviction levels move higher or the investment thesis begins to bear fruit. On the short side, scaling also depends on availability. Catalysts paly a significant role in terms of the investment strategy and are captured through scenario analysis (Bull/Base/Bear). Each scenario embeds a specific event that leads to the stock converging to its price target.</a:t>
            </a:r>
            <a:endParaRPr lang="en-US" sz="1400" dirty="0">
              <a:solidFill>
                <a:schemeClr val="tx1"/>
              </a:solidFill>
            </a:endParaRPr>
          </a:p>
        </p:txBody>
      </p:sp>
      <p:sp>
        <p:nvSpPr>
          <p:cNvPr id="39" name="Rectangle 38"/>
          <p:cNvSpPr/>
          <p:nvPr/>
        </p:nvSpPr>
        <p:spPr>
          <a:xfrm>
            <a:off x="2584174" y="3040380"/>
            <a:ext cx="609600" cy="2057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Position Management</a:t>
            </a:r>
            <a:endParaRPr lang="en-US" sz="1400" dirty="0"/>
          </a:p>
        </p:txBody>
      </p:sp>
      <p:sp>
        <p:nvSpPr>
          <p:cNvPr id="51" name="Rectangle 50"/>
          <p:cNvSpPr/>
          <p:nvPr/>
        </p:nvSpPr>
        <p:spPr>
          <a:xfrm>
            <a:off x="3200400" y="5257800"/>
            <a:ext cx="6400800" cy="17373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Exit methodologies include reaching price targets, the availability of better opportunities, a discrediting of the investment thesis (when the movements of the position are not in line with the thesis), the failure of a catalyst to materialize, and the appearance of systemic risk factors.</a:t>
            </a:r>
            <a:endParaRPr lang="en-US" sz="1400" dirty="0">
              <a:solidFill>
                <a:schemeClr val="tx1"/>
              </a:solidFill>
            </a:endParaRPr>
          </a:p>
        </p:txBody>
      </p:sp>
      <p:sp>
        <p:nvSpPr>
          <p:cNvPr id="56" name="Rectangle 55"/>
          <p:cNvSpPr/>
          <p:nvPr/>
        </p:nvSpPr>
        <p:spPr>
          <a:xfrm>
            <a:off x="2590800" y="5257800"/>
            <a:ext cx="609600" cy="173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Sell Discipline</a:t>
            </a:r>
            <a:endParaRPr lang="en-US" sz="1400" dirty="0"/>
          </a:p>
        </p:txBody>
      </p:sp>
    </p:spTree>
    <p:extLst>
      <p:ext uri="{BB962C8B-B14F-4D97-AF65-F5344CB8AC3E}">
        <p14:creationId xmlns:p14="http://schemas.microsoft.com/office/powerpoint/2010/main" val="24009798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7446</TotalTime>
  <Words>503</Words>
  <Application>Microsoft Office PowerPoint</Application>
  <PresentationFormat>Custom</PresentationFormat>
  <Paragraphs>37</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Investment Style</vt:lpstr>
      <vt:lpstr>Portfolio Construction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Lien Chen</cp:lastModifiedBy>
  <cp:revision>522</cp:revision>
  <cp:lastPrinted>2015-07-02T14:12:03Z</cp:lastPrinted>
  <dcterms:created xsi:type="dcterms:W3CDTF">2015-05-21T20:34:11Z</dcterms:created>
  <dcterms:modified xsi:type="dcterms:W3CDTF">2015-07-17T18:30:24Z</dcterms:modified>
</cp:coreProperties>
</file>