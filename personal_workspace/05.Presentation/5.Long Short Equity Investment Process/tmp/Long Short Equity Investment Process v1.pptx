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320" r:id="rId2"/>
    <p:sldId id="331" r:id="rId3"/>
    <p:sldId id="336" r:id="rId4"/>
    <p:sldId id="332" r:id="rId5"/>
    <p:sldId id="334" r:id="rId6"/>
    <p:sldId id="335" r:id="rId7"/>
    <p:sldId id="333" r:id="rId8"/>
    <p:sldId id="330" r:id="rId9"/>
  </p:sldIdLst>
  <p:sldSz cx="10058400" cy="7772400"/>
  <p:notesSz cx="6934200" cy="9220200"/>
  <p:defaultTex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3456">
          <p15:clr>
            <a:srgbClr val="A4A3A4"/>
          </p15:clr>
        </p15:guide>
        <p15:guide id="2" orient="horz" pos="144">
          <p15:clr>
            <a:srgbClr val="A4A3A4"/>
          </p15:clr>
        </p15:guide>
        <p15:guide id="3" orient="horz" pos="207">
          <p15:clr>
            <a:srgbClr val="A4A3A4"/>
          </p15:clr>
        </p15:guide>
        <p15:guide id="4" orient="horz" pos="4752">
          <p15:clr>
            <a:srgbClr val="A4A3A4"/>
          </p15:clr>
        </p15:guide>
        <p15:guide id="5" orient="horz" pos="788">
          <p15:clr>
            <a:srgbClr val="A4A3A4"/>
          </p15:clr>
        </p15:guide>
        <p15:guide id="6" orient="horz" pos="4519">
          <p15:clr>
            <a:srgbClr val="A4A3A4"/>
          </p15:clr>
        </p15:guide>
        <p15:guide id="7" orient="horz" pos="1200">
          <p15:clr>
            <a:srgbClr val="A4A3A4"/>
          </p15:clr>
        </p15:guide>
        <p15:guide id="8" orient="horz" pos="4320">
          <p15:clr>
            <a:srgbClr val="A4A3A4"/>
          </p15:clr>
        </p15:guide>
        <p15:guide id="9" orient="horz" pos="4032">
          <p15:clr>
            <a:srgbClr val="A4A3A4"/>
          </p15:clr>
        </p15:guide>
        <p15:guide id="10" pos="3168">
          <p15:clr>
            <a:srgbClr val="A4A3A4"/>
          </p15:clr>
        </p15:guide>
        <p15:guide id="11" pos="185">
          <p15:clr>
            <a:srgbClr val="A4A3A4"/>
          </p15:clr>
        </p15:guide>
        <p15:guide id="12" pos="6150">
          <p15:clr>
            <a:srgbClr val="A4A3A4"/>
          </p15:clr>
        </p15:guide>
        <p15:guide id="13" pos="3072">
          <p15:clr>
            <a:srgbClr val="A4A3A4"/>
          </p15:clr>
        </p15:guide>
        <p15:guide id="14" pos="3264">
          <p15:clr>
            <a:srgbClr val="A4A3A4"/>
          </p15:clr>
        </p15:guide>
        <p15:guide id="15" pos="1344">
          <p15:clr>
            <a:srgbClr val="A4A3A4"/>
          </p15:clr>
        </p15:guide>
        <p15:guide id="16" pos="2101">
          <p15:clr>
            <a:srgbClr val="A4A3A4"/>
          </p15:clr>
        </p15:guide>
        <p15:guide id="17" pos="528">
          <p15:clr>
            <a:srgbClr val="A4A3A4"/>
          </p15:clr>
        </p15:guide>
        <p15:guide id="18" pos="3866">
          <p15:clr>
            <a:srgbClr val="A4A3A4"/>
          </p15:clr>
        </p15:guide>
        <p15:guide id="19" pos="3775">
          <p15:clr>
            <a:srgbClr val="A4A3A4"/>
          </p15:clr>
        </p15:guide>
        <p15:guide id="20" pos="3963">
          <p15:clr>
            <a:srgbClr val="A4A3A4"/>
          </p15:clr>
        </p15:guide>
        <p15:guide id="21" pos="4812">
          <p15:clr>
            <a:srgbClr val="A4A3A4"/>
          </p15:clr>
        </p15:guide>
        <p15:guide id="22" pos="720">
          <p15:clr>
            <a:srgbClr val="A4A3A4"/>
          </p15:clr>
        </p15:guide>
        <p15:guide id="23" pos="480">
          <p15:clr>
            <a:srgbClr val="A4A3A4"/>
          </p15:clr>
        </p15:guide>
        <p15:guide id="24" pos="4605">
          <p15:clr>
            <a:srgbClr val="A4A3A4"/>
          </p15:clr>
        </p15:guide>
        <p15:guide id="25" pos="2304">
          <p15:clr>
            <a:srgbClr val="A4A3A4"/>
          </p15:clr>
        </p15:guide>
        <p15:guide id="26" pos="1584">
          <p15:clr>
            <a:srgbClr val="A4A3A4"/>
          </p15:clr>
        </p15:guide>
      </p15:sldGuideLst>
    </p:ext>
    <p:ext uri="{2D200454-40CA-4A62-9FC3-DE9A4176ACB9}">
      <p15:notesGuideLst xmlns:p15="http://schemas.microsoft.com/office/powerpoint/2012/main" xmlns="">
        <p15:guide id="1" orient="horz" pos="2904" userDrawn="1">
          <p15:clr>
            <a:srgbClr val="A4A3A4"/>
          </p15:clr>
        </p15:guide>
        <p15:guide id="2" pos="2184" userDrawn="1">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2E3989"/>
    <a:srgbClr val="C7732D"/>
    <a:srgbClr val="533D2D"/>
    <a:srgbClr val="592E8A"/>
    <a:srgbClr val="2E39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03" autoAdjust="0"/>
    <p:restoredTop sz="94660" autoAdjust="0"/>
  </p:normalViewPr>
  <p:slideViewPr>
    <p:cSldViewPr showGuides="1">
      <p:cViewPr varScale="1">
        <p:scale>
          <a:sx n="132" d="100"/>
          <a:sy n="132" d="100"/>
        </p:scale>
        <p:origin x="-1098" y="-90"/>
      </p:cViewPr>
      <p:guideLst>
        <p:guide orient="horz" pos="3456"/>
        <p:guide orient="horz" pos="144"/>
        <p:guide orient="horz" pos="207"/>
        <p:guide orient="horz" pos="4752"/>
        <p:guide orient="horz" pos="788"/>
        <p:guide orient="horz" pos="4519"/>
        <p:guide orient="horz" pos="1200"/>
        <p:guide orient="horz" pos="4320"/>
        <p:guide orient="horz" pos="4032"/>
        <p:guide pos="3168"/>
        <p:guide pos="185"/>
        <p:guide pos="6150"/>
        <p:guide pos="3072"/>
        <p:guide pos="3264"/>
        <p:guide pos="1344"/>
        <p:guide pos="2101"/>
        <p:guide pos="528"/>
        <p:guide pos="3866"/>
        <p:guide pos="3775"/>
        <p:guide pos="3963"/>
        <p:guide pos="4812"/>
        <p:guide pos="720"/>
        <p:guide pos="480"/>
        <p:guide pos="4605"/>
        <p:guide pos="2304"/>
        <p:guide pos="1584"/>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61" d="100"/>
          <a:sy n="61" d="100"/>
        </p:scale>
        <p:origin x="-2382" y="-78"/>
      </p:cViewPr>
      <p:guideLst>
        <p:guide orient="horz" pos="2880"/>
        <p:guide orient="horz" pos="2904"/>
        <p:guide pos="2160"/>
        <p:guide pos="218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invertIfNegative val="0"/>
          <c:cat>
            <c:numRef>
              <c:f>Sheet1!$A$2:$A$3</c:f>
              <c:numCache>
                <c:formatCode>General</c:formatCode>
                <c:ptCount val="2"/>
              </c:numCache>
            </c:numRef>
          </c:cat>
          <c:val>
            <c:numRef>
              <c:f>Sheet1!$B$2:$B$3</c:f>
              <c:numCache>
                <c:formatCode>General</c:formatCode>
                <c:ptCount val="2"/>
                <c:pt idx="0">
                  <c:v>0.7</c:v>
                </c:pt>
                <c:pt idx="1">
                  <c:v>0.6</c:v>
                </c:pt>
              </c:numCache>
            </c:numRef>
          </c:val>
        </c:ser>
        <c:ser>
          <c:idx val="1"/>
          <c:order val="1"/>
          <c:tx>
            <c:strRef>
              <c:f>Sheet1!$C$1</c:f>
              <c:strCache>
                <c:ptCount val="1"/>
                <c:pt idx="0">
                  <c:v>Series 2</c:v>
                </c:pt>
              </c:strCache>
            </c:strRef>
          </c:tx>
          <c:invertIfNegative val="0"/>
          <c:cat>
            <c:numRef>
              <c:f>Sheet1!$A$2:$A$3</c:f>
              <c:numCache>
                <c:formatCode>General</c:formatCode>
                <c:ptCount val="2"/>
              </c:numCache>
            </c:numRef>
          </c:cat>
          <c:val>
            <c:numRef>
              <c:f>Sheet1!$C$2:$C$3</c:f>
              <c:numCache>
                <c:formatCode>General</c:formatCode>
                <c:ptCount val="2"/>
                <c:pt idx="0">
                  <c:v>-0.4</c:v>
                </c:pt>
                <c:pt idx="1">
                  <c:v>-0.6</c:v>
                </c:pt>
              </c:numCache>
            </c:numRef>
          </c:val>
        </c:ser>
        <c:dLbls>
          <c:showLegendKey val="0"/>
          <c:showVal val="0"/>
          <c:showCatName val="0"/>
          <c:showSerName val="0"/>
          <c:showPercent val="0"/>
          <c:showBubbleSize val="0"/>
        </c:dLbls>
        <c:gapWidth val="150"/>
        <c:overlap val="100"/>
        <c:axId val="205189120"/>
        <c:axId val="205190656"/>
      </c:barChart>
      <c:catAx>
        <c:axId val="205189120"/>
        <c:scaling>
          <c:orientation val="minMax"/>
        </c:scaling>
        <c:delete val="0"/>
        <c:axPos val="b"/>
        <c:numFmt formatCode="General" sourceLinked="1"/>
        <c:majorTickMark val="out"/>
        <c:minorTickMark val="none"/>
        <c:tickLblPos val="nextTo"/>
        <c:crossAx val="205190656"/>
        <c:crosses val="autoZero"/>
        <c:auto val="1"/>
        <c:lblAlgn val="ctr"/>
        <c:lblOffset val="100"/>
        <c:noMultiLvlLbl val="0"/>
      </c:catAx>
      <c:valAx>
        <c:axId val="205190656"/>
        <c:scaling>
          <c:orientation val="minMax"/>
          <c:max val="1"/>
          <c:min val="-0.60000000000000009"/>
        </c:scaling>
        <c:delete val="0"/>
        <c:axPos val="l"/>
        <c:majorGridlines>
          <c:spPr>
            <a:ln w="19050">
              <a:solidFill>
                <a:schemeClr val="bg1"/>
              </a:solidFill>
            </a:ln>
          </c:spPr>
        </c:majorGridlines>
        <c:numFmt formatCode="0%" sourceLinked="0"/>
        <c:majorTickMark val="out"/>
        <c:minorTickMark val="none"/>
        <c:tickLblPos val="nextTo"/>
        <c:spPr>
          <a:ln>
            <a:solidFill>
              <a:schemeClr val="bg1"/>
            </a:solidFill>
          </a:ln>
        </c:spPr>
        <c:txPr>
          <a:bodyPr/>
          <a:lstStyle/>
          <a:p>
            <a:pPr>
              <a:defRPr sz="1000"/>
            </a:pPr>
            <a:endParaRPr lang="en-US"/>
          </a:p>
        </c:txPr>
        <c:crossAx val="205189120"/>
        <c:crosses val="autoZero"/>
        <c:crossBetween val="between"/>
        <c:majorUnit val="0.2"/>
      </c:valAx>
      <c:spPr>
        <a:solidFill>
          <a:schemeClr val="accent3">
            <a:lumMod val="20000"/>
            <a:lumOff val="80000"/>
          </a:schemeClr>
        </a:solidFill>
      </c:spPr>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sz="quarter" idx="1"/>
          </p:nvPr>
        </p:nvSpPr>
        <p:spPr>
          <a:xfrm>
            <a:off x="3927776" y="0"/>
            <a:ext cx="3004820" cy="461010"/>
          </a:xfrm>
          <a:prstGeom prst="rect">
            <a:avLst/>
          </a:prstGeom>
        </p:spPr>
        <p:txBody>
          <a:bodyPr vert="horz" lIns="92293" tIns="46147" rIns="92293" bIns="46147" rtlCol="0"/>
          <a:lstStyle>
            <a:lvl1pPr algn="r">
              <a:defRPr sz="1200"/>
            </a:lvl1pPr>
          </a:lstStyle>
          <a:p>
            <a:fld id="{CD69C154-8DB3-4790-A359-7790FFBF8C47}" type="datetimeFigureOut">
              <a:rPr lang="en-US" smtClean="0"/>
              <a:t>7/17/2015</a:t>
            </a:fld>
            <a:endParaRPr lang="en-US" dirty="0"/>
          </a:p>
        </p:txBody>
      </p:sp>
      <p:sp>
        <p:nvSpPr>
          <p:cNvPr id="4" name="Footer Placeholder 3"/>
          <p:cNvSpPr>
            <a:spLocks noGrp="1"/>
          </p:cNvSpPr>
          <p:nvPr>
            <p:ph type="ftr" sz="quarter" idx="2"/>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27776" y="8757590"/>
            <a:ext cx="3004820" cy="461010"/>
          </a:xfrm>
          <a:prstGeom prst="rect">
            <a:avLst/>
          </a:prstGeom>
        </p:spPr>
        <p:txBody>
          <a:bodyPr vert="horz" lIns="92293" tIns="46147" rIns="92293" bIns="46147" rtlCol="0" anchor="b"/>
          <a:lstStyle>
            <a:lvl1pPr algn="r">
              <a:defRPr sz="1200"/>
            </a:lvl1pPr>
          </a:lstStyle>
          <a:p>
            <a:fld id="{3AA19290-3B50-423F-8386-34EA3226F54C}" type="slidenum">
              <a:rPr lang="en-US" smtClean="0"/>
              <a:t>‹#›</a:t>
            </a:fld>
            <a:endParaRPr lang="en-US" dirty="0"/>
          </a:p>
        </p:txBody>
      </p:sp>
    </p:spTree>
    <p:extLst>
      <p:ext uri="{BB962C8B-B14F-4D97-AF65-F5344CB8AC3E}">
        <p14:creationId xmlns:p14="http://schemas.microsoft.com/office/powerpoint/2010/main" val="1616536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idx="1"/>
          </p:nvPr>
        </p:nvSpPr>
        <p:spPr>
          <a:xfrm>
            <a:off x="3927776" y="0"/>
            <a:ext cx="3004820" cy="461010"/>
          </a:xfrm>
          <a:prstGeom prst="rect">
            <a:avLst/>
          </a:prstGeom>
        </p:spPr>
        <p:txBody>
          <a:bodyPr vert="horz" lIns="92293" tIns="46147" rIns="92293" bIns="46147" rtlCol="0"/>
          <a:lstStyle>
            <a:lvl1pPr algn="r">
              <a:defRPr sz="1200"/>
            </a:lvl1pPr>
          </a:lstStyle>
          <a:p>
            <a:fld id="{D94E0677-78E7-4F29-8DEE-AA9328514842}" type="datetimeFigureOut">
              <a:rPr lang="en-US" smtClean="0"/>
              <a:t>7/17/2015</a:t>
            </a:fld>
            <a:endParaRPr lang="en-US" dirty="0"/>
          </a:p>
        </p:txBody>
      </p:sp>
      <p:sp>
        <p:nvSpPr>
          <p:cNvPr id="4" name="Slide Image Placeholder 3"/>
          <p:cNvSpPr>
            <a:spLocks noGrp="1" noRot="1" noChangeAspect="1"/>
          </p:cNvSpPr>
          <p:nvPr>
            <p:ph type="sldImg" idx="2"/>
          </p:nvPr>
        </p:nvSpPr>
        <p:spPr>
          <a:xfrm>
            <a:off x="1230313" y="690563"/>
            <a:ext cx="4473575" cy="3457575"/>
          </a:xfrm>
          <a:prstGeom prst="rect">
            <a:avLst/>
          </a:prstGeom>
          <a:noFill/>
          <a:ln w="12700">
            <a:solidFill>
              <a:prstClr val="black"/>
            </a:solidFill>
          </a:ln>
        </p:spPr>
        <p:txBody>
          <a:bodyPr vert="horz" lIns="92293" tIns="46147" rIns="92293" bIns="46147" rtlCol="0" anchor="ctr"/>
          <a:lstStyle/>
          <a:p>
            <a:endParaRPr lang="en-US" dirty="0"/>
          </a:p>
        </p:txBody>
      </p:sp>
      <p:sp>
        <p:nvSpPr>
          <p:cNvPr id="5" name="Notes Placeholder 4"/>
          <p:cNvSpPr>
            <a:spLocks noGrp="1"/>
          </p:cNvSpPr>
          <p:nvPr>
            <p:ph type="body" sz="quarter" idx="3"/>
          </p:nvPr>
        </p:nvSpPr>
        <p:spPr>
          <a:xfrm>
            <a:off x="693420" y="4379595"/>
            <a:ext cx="5547360" cy="4149090"/>
          </a:xfrm>
          <a:prstGeom prst="rect">
            <a:avLst/>
          </a:prstGeom>
        </p:spPr>
        <p:txBody>
          <a:bodyPr vert="horz" lIns="92293" tIns="46147" rIns="92293" bIns="46147"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27776" y="8757590"/>
            <a:ext cx="3004820" cy="461010"/>
          </a:xfrm>
          <a:prstGeom prst="rect">
            <a:avLst/>
          </a:prstGeom>
        </p:spPr>
        <p:txBody>
          <a:bodyPr vert="horz" lIns="92293" tIns="46147" rIns="92293" bIns="46147" rtlCol="0" anchor="b"/>
          <a:lstStyle>
            <a:lvl1pPr algn="r">
              <a:defRPr sz="1200"/>
            </a:lvl1pPr>
          </a:lstStyle>
          <a:p>
            <a:fld id="{4CF500CA-EC02-405F-A377-1C6BD89C661C}" type="slidenum">
              <a:rPr lang="en-US" smtClean="0"/>
              <a:t>‹#›</a:t>
            </a:fld>
            <a:endParaRPr lang="en-US" dirty="0"/>
          </a:p>
        </p:txBody>
      </p:sp>
    </p:spTree>
    <p:extLst>
      <p:ext uri="{BB962C8B-B14F-4D97-AF65-F5344CB8AC3E}">
        <p14:creationId xmlns:p14="http://schemas.microsoft.com/office/powerpoint/2010/main" val="2770363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366"/>
            <a:fld id="{1FE077EC-684A-4FD9-A6C3-9AE90D8B81D6}" type="slidenum">
              <a:rPr lang="en-US" smtClean="0"/>
              <a:pPr defTabSz="919366"/>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3</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4</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5</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6</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7</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8</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2113214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Tree>
    <p:extLst>
      <p:ext uri="{BB962C8B-B14F-4D97-AF65-F5344CB8AC3E}">
        <p14:creationId xmlns:p14="http://schemas.microsoft.com/office/powerpoint/2010/main" val="1215796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050629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3399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5183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87893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325449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84300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855275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Tree>
    <p:extLst>
      <p:ext uri="{BB962C8B-B14F-4D97-AF65-F5344CB8AC3E}">
        <p14:creationId xmlns:p14="http://schemas.microsoft.com/office/powerpoint/2010/main" val="1652547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611018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153452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561962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901277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885739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6899754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324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a:defRPr/>
            </a:pPr>
            <a:endParaRPr lang="en-US" dirty="0"/>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algn="l">
              <a:defRPr/>
            </a:pPr>
            <a:r>
              <a:rPr lang="en-US" sz="900" b="1" dirty="0" smtClean="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19"/>
          <a:stretch>
            <a:fillRect/>
          </a:stretch>
        </p:blipFill>
        <p:spPr>
          <a:xfrm>
            <a:off x="283529" y="320040"/>
            <a:ext cx="2478795" cy="457200"/>
          </a:xfrm>
          <a:prstGeom prst="rect">
            <a:avLst/>
          </a:prstGeom>
        </p:spPr>
      </p:pic>
    </p:spTree>
    <p:extLst>
      <p:ext uri="{BB962C8B-B14F-4D97-AF65-F5344CB8AC3E}">
        <p14:creationId xmlns:p14="http://schemas.microsoft.com/office/powerpoint/2010/main" val="1878609759"/>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7" r:id="rId3"/>
    <p:sldLayoutId id="2147483668" r:id="rId4"/>
    <p:sldLayoutId id="2147483669" r:id="rId5"/>
    <p:sldLayoutId id="2147483670" r:id="rId6"/>
    <p:sldLayoutId id="2147483671" r:id="rId7"/>
    <p:sldLayoutId id="2147483650" r:id="rId8"/>
    <p:sldLayoutId id="2147483664" r:id="rId9"/>
    <p:sldLayoutId id="2147483651" r:id="rId10"/>
    <p:sldLayoutId id="2147483652" r:id="rId11"/>
    <p:sldLayoutId id="2147483665" r:id="rId12"/>
    <p:sldLayoutId id="2147483653" r:id="rId13"/>
    <p:sldLayoutId id="2147483656" r:id="rId14"/>
    <p:sldLayoutId id="2147483657" r:id="rId15"/>
    <p:sldLayoutId id="2147483654" r:id="rId16"/>
    <p:sldLayoutId id="2147483655" r:id="rId17"/>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chart" Target="../charts/char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7.xml"/><Relationship Id="rId5" Type="http://schemas.openxmlformats.org/officeDocument/2006/relationships/slideLayout" Target="../slideLayouts/slideLayout14.xml"/><Relationship Id="rId4"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CELLO INVESTMENT PROCESS: Long/Short equity </a:t>
            </a:r>
            <a:endParaRPr lang="en-US" dirty="0"/>
          </a:p>
        </p:txBody>
      </p:sp>
      <p:sp>
        <p:nvSpPr>
          <p:cNvPr id="6" name="Subtitle 5"/>
          <p:cNvSpPr>
            <a:spLocks noGrp="1"/>
          </p:cNvSpPr>
          <p:nvPr>
            <p:ph type="subTitle" idx="1"/>
          </p:nvPr>
        </p:nvSpPr>
        <p:spPr/>
        <p:txBody>
          <a:bodyPr/>
          <a:lstStyle/>
          <a:p>
            <a:r>
              <a:rPr lang="en-US" dirty="0" smtClean="0"/>
              <a:t>July 2015</a:t>
            </a:r>
            <a:endParaRPr lang="en-US" dirty="0"/>
          </a:p>
        </p:txBody>
      </p:sp>
    </p:spTree>
    <p:extLst>
      <p:ext uri="{BB962C8B-B14F-4D97-AF65-F5344CB8AC3E}">
        <p14:creationId xmlns:p14="http://schemas.microsoft.com/office/powerpoint/2010/main" val="26460373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Investment Style</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a:t>
            </a:r>
            <a:r>
              <a:rPr lang="en-US" sz="1200" dirty="0" smtClean="0">
                <a:solidFill>
                  <a:schemeClr val="tx1"/>
                </a:solidFill>
                <a:latin typeface="+mn-lt"/>
              </a:rPr>
              <a:t>investment style</a:t>
            </a:r>
            <a:r>
              <a:rPr lang="en-US" sz="1200" b="0" dirty="0" smtClean="0">
                <a:solidFill>
                  <a:schemeClr val="tx1"/>
                </a:solidFill>
                <a:latin typeface="+mn-lt"/>
              </a:rPr>
              <a:t> provides an indication of how portfolio managers reach their investment decisions and how long they intend to hold their positions. In addition, it provides insight into the portfolio construction process and the manager’s investment strategy.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CRE Long/Short Equity Strategy is strongly Investor-style oriented and consequently relies heavily on fundamental techniques of equity valuation. These include monitoring trends in cash flow, implied Cap rates, balance sheet and income statement analysis etc. From time to time, technical factors such as earnings or return momentum are also taken into account.</a:t>
            </a: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graphicFrame>
        <p:nvGraphicFramePr>
          <p:cNvPr id="5" name="Table 4"/>
          <p:cNvGraphicFramePr>
            <a:graphicFrameLocks noGrp="1"/>
          </p:cNvGraphicFramePr>
          <p:nvPr>
            <p:extLst>
              <p:ext uri="{D42A27DB-BD31-4B8C-83A1-F6EECF244321}">
                <p14:modId xmlns:p14="http://schemas.microsoft.com/office/powerpoint/2010/main" val="2367219358"/>
              </p:ext>
            </p:extLst>
          </p:nvPr>
        </p:nvGraphicFramePr>
        <p:xfrm>
          <a:off x="2897267" y="1676400"/>
          <a:ext cx="6705600" cy="3205480"/>
        </p:xfrm>
        <a:graphic>
          <a:graphicData uri="http://schemas.openxmlformats.org/drawingml/2006/table">
            <a:tbl>
              <a:tblPr bandRow="1">
                <a:tableStyleId>{5C22544A-7EE6-4342-B048-85BDC9FD1C3A}</a:tableStyleId>
              </a:tblPr>
              <a:tblGrid>
                <a:gridCol w="2284333"/>
                <a:gridCol w="4421267"/>
              </a:tblGrid>
              <a:tr h="370840">
                <a:tc>
                  <a:txBody>
                    <a:bodyPr/>
                    <a:lstStyle/>
                    <a:p>
                      <a:r>
                        <a:rPr lang="en-US" sz="1600" b="1" dirty="0" smtClean="0"/>
                        <a:t>Style</a:t>
                      </a:r>
                      <a:r>
                        <a:rPr lang="en-US" sz="1600" b="1" baseline="0" dirty="0" smtClean="0"/>
                        <a:t> Factors</a:t>
                      </a:r>
                      <a:endParaRPr lang="en-US" sz="1600" b="1" dirty="0"/>
                    </a:p>
                  </a:txBody>
                  <a:tcPr anchor="ctr">
                    <a:solidFill>
                      <a:schemeClr val="accent1">
                        <a:lumMod val="40000"/>
                        <a:lumOff val="60000"/>
                      </a:schemeClr>
                    </a:solidFill>
                  </a:tcPr>
                </a:tc>
                <a:tc>
                  <a:txBody>
                    <a:bodyPr/>
                    <a:lstStyle/>
                    <a:p>
                      <a:pPr algn="ctr"/>
                      <a:r>
                        <a:rPr lang="en-US" sz="1600" b="1" dirty="0" smtClean="0"/>
                        <a:t>CRE</a:t>
                      </a:r>
                      <a:r>
                        <a:rPr lang="en-US" sz="1600" b="1" baseline="0" dirty="0" smtClean="0"/>
                        <a:t> Long/Short Strategy</a:t>
                      </a:r>
                      <a:endParaRPr lang="en-US" sz="1600" b="1" dirty="0"/>
                    </a:p>
                  </a:txBody>
                  <a:tcPr anchor="ctr">
                    <a:solidFill>
                      <a:schemeClr val="accent1">
                        <a:lumMod val="40000"/>
                        <a:lumOff val="60000"/>
                      </a:schemeClr>
                    </a:solidFill>
                  </a:tcPr>
                </a:tc>
              </a:tr>
              <a:tr h="370840">
                <a:tc>
                  <a:txBody>
                    <a:bodyPr/>
                    <a:lstStyle/>
                    <a:p>
                      <a:pPr marL="0" indent="0" algn="l">
                        <a:buFont typeface="Arial" panose="020B0604020202020204" pitchFamily="34" charset="0"/>
                        <a:buNone/>
                      </a:pPr>
                      <a:r>
                        <a:rPr lang="en-US" sz="1400" b="1" dirty="0" smtClean="0"/>
                        <a:t>Trader</a:t>
                      </a:r>
                      <a:r>
                        <a:rPr lang="en-US" sz="1400" b="1" baseline="0" dirty="0" smtClean="0"/>
                        <a:t> vs Investor</a:t>
                      </a:r>
                      <a:endParaRPr lang="en-US" sz="1400" b="1" dirty="0"/>
                    </a:p>
                  </a:txBody>
                  <a:tcPr anchor="ctr">
                    <a:solidFill>
                      <a:schemeClr val="accent2">
                        <a:lumMod val="20000"/>
                        <a:lumOff val="80000"/>
                      </a:schemeClr>
                    </a:solidFill>
                  </a:tcPr>
                </a:tc>
                <a:tc>
                  <a:txBody>
                    <a:bodyPr/>
                    <a:lstStyle/>
                    <a:p>
                      <a:pPr lvl="0" algn="l"/>
                      <a:r>
                        <a:rPr lang="en-US" sz="1400" dirty="0" smtClean="0"/>
                        <a:t>Investor-oriented with heavy</a:t>
                      </a:r>
                      <a:r>
                        <a:rPr lang="en-US" sz="1400" baseline="0" dirty="0" smtClean="0"/>
                        <a:t> reliance on fundamental bottoms-up analysis of company financials. Technical factors such as earnings or return momentum also taken into account.</a:t>
                      </a:r>
                      <a:endParaRPr lang="en-US" sz="1400" dirty="0"/>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Holding</a:t>
                      </a:r>
                      <a:r>
                        <a:rPr lang="en-US" sz="1400" b="1" baseline="0" dirty="0" smtClean="0"/>
                        <a:t> Period</a:t>
                      </a:r>
                      <a:endParaRPr lang="en-US" sz="1400" b="1" dirty="0"/>
                    </a:p>
                  </a:txBody>
                  <a:tcPr anchor="ctr">
                    <a:solidFill>
                      <a:schemeClr val="accent2">
                        <a:lumMod val="20000"/>
                        <a:lumOff val="80000"/>
                      </a:schemeClr>
                    </a:solidFill>
                  </a:tcPr>
                </a:tc>
                <a:tc>
                  <a:txBody>
                    <a:bodyPr/>
                    <a:lstStyle/>
                    <a:p>
                      <a:pPr lvl="0" algn="l"/>
                      <a:r>
                        <a:rPr lang="en-US" sz="1400" dirty="0" smtClean="0"/>
                        <a:t>Longs are more value-oriented:</a:t>
                      </a:r>
                      <a:r>
                        <a:rPr lang="en-US" sz="1400" baseline="0" dirty="0" smtClean="0"/>
                        <a:t> ~6-9 months </a:t>
                      </a:r>
                    </a:p>
                    <a:p>
                      <a:pPr lvl="0" algn="l"/>
                      <a:r>
                        <a:rPr lang="en-US" sz="1400" baseline="0" dirty="0" smtClean="0"/>
                        <a:t>Shorts are more tactical: ~3 months</a:t>
                      </a:r>
                      <a:endParaRPr lang="en-US" sz="1400" dirty="0"/>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Investment</a:t>
                      </a:r>
                      <a:r>
                        <a:rPr lang="en-US" sz="1400" b="1" baseline="0" dirty="0" smtClean="0"/>
                        <a:t> Signals</a:t>
                      </a:r>
                      <a:endParaRPr lang="en-US" sz="1400" b="1" dirty="0"/>
                    </a:p>
                  </a:txBody>
                  <a:tcPr anchor="ctr">
                    <a:solidFill>
                      <a:schemeClr val="accent2">
                        <a:lumMod val="20000"/>
                        <a:lumOff val="80000"/>
                      </a:schemeClr>
                    </a:solidFill>
                  </a:tcPr>
                </a:tc>
                <a:tc>
                  <a:txBody>
                    <a:bodyPr/>
                    <a:lstStyle/>
                    <a:p>
                      <a:pPr lvl="0" algn="l"/>
                      <a:r>
                        <a:rPr lang="en-US" sz="1400" baseline="0" dirty="0" smtClean="0"/>
                        <a:t>Thematic views from the CRE market are considered in conjunction with valuation screens for a universe of ~100-125 CRE-linked equities in order to identify potential long/short targets. An investment thesis is built for each potential target through consideration of Discounts, Catalysts, and Market inefficiencies, among other factors.</a:t>
                      </a:r>
                    </a:p>
                  </a:txBody>
                  <a:tcPr anchor="ctr">
                    <a:solidFill>
                      <a:schemeClr val="accent2">
                        <a:lumMod val="20000"/>
                        <a:lumOff val="80000"/>
                      </a:schemeClr>
                    </a:solidFill>
                  </a:tcPr>
                </a:tc>
              </a:tr>
            </a:tbl>
          </a:graphicData>
        </a:graphic>
      </p:graphicFrame>
    </p:spTree>
    <p:extLst>
      <p:ext uri="{BB962C8B-B14F-4D97-AF65-F5344CB8AC3E}">
        <p14:creationId xmlns:p14="http://schemas.microsoft.com/office/powerpoint/2010/main" val="2340678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Investment Style</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a:t>
            </a:r>
            <a:r>
              <a:rPr lang="en-US" sz="1200" dirty="0" smtClean="0">
                <a:solidFill>
                  <a:schemeClr val="tx1"/>
                </a:solidFill>
                <a:latin typeface="+mn-lt"/>
              </a:rPr>
              <a:t>investment style</a:t>
            </a:r>
            <a:r>
              <a:rPr lang="en-US" sz="1200" b="0" dirty="0" smtClean="0">
                <a:solidFill>
                  <a:schemeClr val="tx1"/>
                </a:solidFill>
                <a:latin typeface="+mn-lt"/>
              </a:rPr>
              <a:t> provides an indication of how portfolio managers reach their investment decisions and how long they intend to hold their positions. In addition, it provides insight into the portfolio construction process and the manager’s investment strategy.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CRE Long/Short Equity Strategy is strongly Investor-style oriented and consequently relies heavily on fundamental techniques of equity valuation. These include monitoring trends in cash flow, implied Cap rates, balance sheet and income statement analysis etc. From time to time, technical factors such as earnings or return momentum are also taken into account.</a:t>
            </a: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
        <p:nvSpPr>
          <p:cNvPr id="3" name="Rectangle 2"/>
          <p:cNvSpPr/>
          <p:nvPr/>
        </p:nvSpPr>
        <p:spPr>
          <a:xfrm>
            <a:off x="2819400" y="2057400"/>
            <a:ext cx="2133600" cy="13716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Trader vs </a:t>
            </a:r>
            <a:r>
              <a:rPr lang="en-US" sz="1600" b="1" dirty="0" smtClean="0">
                <a:solidFill>
                  <a:schemeClr val="bg1"/>
                </a:solidFill>
              </a:rPr>
              <a:t>Investor</a:t>
            </a:r>
            <a:endParaRPr lang="en-US" sz="1600" b="1" dirty="0">
              <a:solidFill>
                <a:schemeClr val="bg1"/>
              </a:solidFill>
            </a:endParaRPr>
          </a:p>
        </p:txBody>
      </p:sp>
      <p:sp>
        <p:nvSpPr>
          <p:cNvPr id="7" name="Rectangle 6"/>
          <p:cNvSpPr/>
          <p:nvPr/>
        </p:nvSpPr>
        <p:spPr>
          <a:xfrm>
            <a:off x="4953000" y="2057400"/>
            <a:ext cx="4343400" cy="13716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1400" dirty="0">
                <a:solidFill>
                  <a:schemeClr val="tx1"/>
                </a:solidFill>
              </a:rPr>
              <a:t>Investor-oriented with heavy reliance on fundamental bottoms-up analysis of company financials. Technical factors such as earnings or return momentum also taken into account</a:t>
            </a:r>
            <a:r>
              <a:rPr lang="en-US" sz="1400" dirty="0" smtClean="0">
                <a:solidFill>
                  <a:schemeClr val="tx1"/>
                </a:solidFill>
              </a:rPr>
              <a:t>.</a:t>
            </a:r>
            <a:endParaRPr lang="en-US" sz="1400" dirty="0">
              <a:solidFill>
                <a:schemeClr val="tx1"/>
              </a:solidFill>
            </a:endParaRPr>
          </a:p>
        </p:txBody>
      </p:sp>
      <p:sp>
        <p:nvSpPr>
          <p:cNvPr id="8" name="Rectangle 7"/>
          <p:cNvSpPr/>
          <p:nvPr/>
        </p:nvSpPr>
        <p:spPr>
          <a:xfrm>
            <a:off x="2819400" y="3695700"/>
            <a:ext cx="2133600" cy="13716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Holding </a:t>
            </a:r>
            <a:r>
              <a:rPr lang="en-US" b="1" dirty="0" smtClean="0">
                <a:solidFill>
                  <a:schemeClr val="bg1"/>
                </a:solidFill>
              </a:rPr>
              <a:t>Period</a:t>
            </a:r>
            <a:endParaRPr lang="en-US" b="1" dirty="0">
              <a:solidFill>
                <a:schemeClr val="bg1"/>
              </a:solidFill>
            </a:endParaRPr>
          </a:p>
        </p:txBody>
      </p:sp>
      <p:sp>
        <p:nvSpPr>
          <p:cNvPr id="9" name="Rectangle 8"/>
          <p:cNvSpPr/>
          <p:nvPr/>
        </p:nvSpPr>
        <p:spPr>
          <a:xfrm>
            <a:off x="4953000" y="3695700"/>
            <a:ext cx="4343400" cy="13716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819400" y="5334000"/>
            <a:ext cx="2133600" cy="13716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Investment </a:t>
            </a:r>
            <a:r>
              <a:rPr lang="en-US" b="1" dirty="0" smtClean="0">
                <a:solidFill>
                  <a:schemeClr val="bg1"/>
                </a:solidFill>
              </a:rPr>
              <a:t>Signals</a:t>
            </a:r>
            <a:endParaRPr lang="en-US" b="1" dirty="0">
              <a:solidFill>
                <a:schemeClr val="bg1"/>
              </a:solidFill>
            </a:endParaRPr>
          </a:p>
        </p:txBody>
      </p:sp>
      <p:sp>
        <p:nvSpPr>
          <p:cNvPr id="11" name="Rectangle 10"/>
          <p:cNvSpPr/>
          <p:nvPr/>
        </p:nvSpPr>
        <p:spPr>
          <a:xfrm>
            <a:off x="4953000" y="5334000"/>
            <a:ext cx="4343400" cy="1371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819400" y="3664922"/>
            <a:ext cx="2133600" cy="13716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Holding </a:t>
            </a:r>
            <a:r>
              <a:rPr lang="en-US" sz="1600" b="1" dirty="0" smtClean="0">
                <a:solidFill>
                  <a:schemeClr val="bg1"/>
                </a:solidFill>
              </a:rPr>
              <a:t>Period</a:t>
            </a:r>
            <a:endParaRPr lang="en-US" sz="1600" b="1" dirty="0">
              <a:solidFill>
                <a:schemeClr val="bg1"/>
              </a:solidFill>
            </a:endParaRPr>
          </a:p>
        </p:txBody>
      </p:sp>
      <p:sp>
        <p:nvSpPr>
          <p:cNvPr id="21" name="Rectangle 20"/>
          <p:cNvSpPr/>
          <p:nvPr/>
        </p:nvSpPr>
        <p:spPr>
          <a:xfrm>
            <a:off x="4953000" y="3664922"/>
            <a:ext cx="4343400" cy="1402378"/>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1400" dirty="0">
                <a:solidFill>
                  <a:schemeClr val="tx1"/>
                </a:solidFill>
              </a:rPr>
              <a:t>Longs are more value-oriented: ~6-9 months </a:t>
            </a:r>
          </a:p>
          <a:p>
            <a:pPr lvl="0"/>
            <a:r>
              <a:rPr lang="en-US" sz="1400" dirty="0">
                <a:solidFill>
                  <a:schemeClr val="tx1"/>
                </a:solidFill>
              </a:rPr>
              <a:t>Shorts are more tactical: ~3 </a:t>
            </a:r>
            <a:r>
              <a:rPr lang="en-US" sz="1400" dirty="0" smtClean="0">
                <a:solidFill>
                  <a:schemeClr val="tx1"/>
                </a:solidFill>
              </a:rPr>
              <a:t>months</a:t>
            </a:r>
            <a:endParaRPr lang="en-US" sz="1400" dirty="0">
              <a:solidFill>
                <a:schemeClr val="tx1"/>
              </a:solidFill>
            </a:endParaRPr>
          </a:p>
        </p:txBody>
      </p:sp>
      <p:sp>
        <p:nvSpPr>
          <p:cNvPr id="23" name="Rectangle 22"/>
          <p:cNvSpPr/>
          <p:nvPr/>
        </p:nvSpPr>
        <p:spPr>
          <a:xfrm>
            <a:off x="2819400" y="5303222"/>
            <a:ext cx="2133600" cy="163097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Investment </a:t>
            </a:r>
            <a:r>
              <a:rPr lang="en-US" sz="1600" b="1" dirty="0" smtClean="0">
                <a:solidFill>
                  <a:schemeClr val="bg1"/>
                </a:solidFill>
              </a:rPr>
              <a:t>Signals</a:t>
            </a:r>
            <a:endParaRPr lang="en-US" sz="1600" b="1" dirty="0">
              <a:solidFill>
                <a:schemeClr val="bg1"/>
              </a:solidFill>
            </a:endParaRPr>
          </a:p>
        </p:txBody>
      </p:sp>
      <p:sp>
        <p:nvSpPr>
          <p:cNvPr id="24" name="Rectangle 23"/>
          <p:cNvSpPr/>
          <p:nvPr/>
        </p:nvSpPr>
        <p:spPr>
          <a:xfrm>
            <a:off x="4953000" y="5303222"/>
            <a:ext cx="4343400" cy="163097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1400" dirty="0">
                <a:solidFill>
                  <a:schemeClr val="tx1"/>
                </a:solidFill>
              </a:rPr>
              <a:t>Thematic views from the CRE market are considered in conjunction with valuation screens for a universe of ~100-125 CRE-linked equities in order to identify potential long/short targets. An investment thesis is built for each potential target through consideration of Discounts, Catalysts, and Market inefficiencies, among other factors</a:t>
            </a:r>
            <a:r>
              <a:rPr lang="en-US" sz="1400" dirty="0" smtClean="0">
                <a:solidFill>
                  <a:schemeClr val="tx1"/>
                </a:solidFill>
              </a:rPr>
              <a:t>.</a:t>
            </a:r>
            <a:endParaRPr lang="en-US" sz="1400" dirty="0">
              <a:solidFill>
                <a:schemeClr val="tx1"/>
              </a:solidFill>
            </a:endParaRPr>
          </a:p>
        </p:txBody>
      </p:sp>
      <p:sp>
        <p:nvSpPr>
          <p:cNvPr id="18" name="TextBox 17"/>
          <p:cNvSpPr txBox="1"/>
          <p:nvPr/>
        </p:nvSpPr>
        <p:spPr>
          <a:xfrm>
            <a:off x="2819400" y="1600200"/>
            <a:ext cx="2057400" cy="369332"/>
          </a:xfrm>
          <a:prstGeom prst="rect">
            <a:avLst/>
          </a:prstGeom>
          <a:noFill/>
        </p:spPr>
        <p:txBody>
          <a:bodyPr wrap="square" rtlCol="0">
            <a:spAutoFit/>
          </a:bodyPr>
          <a:lstStyle/>
          <a:p>
            <a:r>
              <a:rPr lang="en-US" sz="1800" b="1" dirty="0" smtClean="0">
                <a:solidFill>
                  <a:schemeClr val="accent1"/>
                </a:solidFill>
              </a:rPr>
              <a:t>Style Factors</a:t>
            </a:r>
            <a:endParaRPr lang="en-US" sz="1800" b="1" dirty="0">
              <a:solidFill>
                <a:schemeClr val="accent1"/>
              </a:solidFill>
            </a:endParaRPr>
          </a:p>
        </p:txBody>
      </p:sp>
      <p:sp>
        <p:nvSpPr>
          <p:cNvPr id="26" name="TextBox 25"/>
          <p:cNvSpPr txBox="1"/>
          <p:nvPr/>
        </p:nvSpPr>
        <p:spPr>
          <a:xfrm>
            <a:off x="4949686" y="1619416"/>
            <a:ext cx="2670313" cy="369332"/>
          </a:xfrm>
          <a:prstGeom prst="rect">
            <a:avLst/>
          </a:prstGeom>
          <a:noFill/>
        </p:spPr>
        <p:txBody>
          <a:bodyPr wrap="square" rtlCol="0">
            <a:spAutoFit/>
          </a:bodyPr>
          <a:lstStyle/>
          <a:p>
            <a:r>
              <a:rPr lang="en-US" sz="1800" b="1" dirty="0">
                <a:solidFill>
                  <a:schemeClr val="accent1"/>
                </a:solidFill>
              </a:rPr>
              <a:t>CRE Long/Short Strategy</a:t>
            </a:r>
          </a:p>
        </p:txBody>
      </p:sp>
      <p:cxnSp>
        <p:nvCxnSpPr>
          <p:cNvPr id="27" name="Straight Connector 26"/>
          <p:cNvCxnSpPr/>
          <p:nvPr/>
        </p:nvCxnSpPr>
        <p:spPr>
          <a:xfrm>
            <a:off x="2822714" y="1969532"/>
            <a:ext cx="2111236" cy="214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4968902" y="1969532"/>
            <a:ext cx="4343400"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6476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200400" y="1143000"/>
            <a:ext cx="6400800" cy="173736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Price targets are set for Bull/Base/Bear scenarios are sizing depends on where pricing is relative to targets. Positions are typically established at a “toe-hold” or “mid-size” level with no distinction between the long and short side. Other factors influencing sizing include timing, portfolio attributes, and upside relative to other positions in the portfolio</a:t>
            </a:r>
            <a:r>
              <a:rPr lang="en-US" sz="1400" dirty="0" smtClean="0">
                <a:solidFill>
                  <a:schemeClr val="tx1"/>
                </a:solidFill>
              </a:rPr>
              <a:t>.</a:t>
            </a:r>
            <a:endParaRPr lang="en-US" sz="1400" dirty="0" smtClean="0">
              <a:solidFill>
                <a:schemeClr val="tx1"/>
              </a:solidFill>
            </a:endParaRPr>
          </a:p>
        </p:txBody>
      </p:sp>
      <p:sp>
        <p:nvSpPr>
          <p:cNvPr id="2" name="Title 1"/>
          <p:cNvSpPr>
            <a:spLocks noGrp="1"/>
          </p:cNvSpPr>
          <p:nvPr>
            <p:ph type="title"/>
          </p:nvPr>
        </p:nvSpPr>
        <p:spPr/>
        <p:txBody>
          <a:bodyPr/>
          <a:lstStyle/>
          <a:p>
            <a:r>
              <a:rPr lang="en-US" dirty="0" smtClean="0"/>
              <a:t>Portfolio Construction</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a:t>
            </a:r>
            <a:r>
              <a:rPr lang="en-US" sz="1200" dirty="0" smtClean="0">
                <a:solidFill>
                  <a:schemeClr val="tx1"/>
                </a:solidFill>
                <a:latin typeface="+mn-lt"/>
              </a:rPr>
              <a:t>portfolio construction</a:t>
            </a:r>
            <a:r>
              <a:rPr lang="en-US" sz="1200" b="0" dirty="0" smtClean="0">
                <a:solidFill>
                  <a:schemeClr val="tx1"/>
                </a:solidFill>
                <a:latin typeface="+mn-lt"/>
              </a:rPr>
              <a:t> process for a portfolio manager establishes a baseline for understanding the underlying investment philosophy, evaluating portfolio changes, and establishing performance expectations.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Three key components of position sizing include:</a:t>
            </a:r>
          </a:p>
          <a:p>
            <a:pPr>
              <a:lnSpc>
                <a:spcPct val="100000"/>
              </a:lnSpc>
              <a:spcBef>
                <a:spcPts val="0"/>
              </a:spcBef>
            </a:pPr>
            <a:endParaRPr lang="en-US" sz="1200" b="0" dirty="0">
              <a:solidFill>
                <a:schemeClr val="tx1"/>
              </a:solidFill>
              <a:latin typeface="+mn-lt"/>
            </a:endParaRPr>
          </a:p>
          <a:p>
            <a:pPr marL="171450" indent="-171450">
              <a:lnSpc>
                <a:spcPct val="100000"/>
              </a:lnSpc>
              <a:spcBef>
                <a:spcPts val="0"/>
              </a:spcBef>
              <a:buFont typeface="Arial" panose="020B0604020202020204" pitchFamily="34" charset="0"/>
              <a:buChar char="•"/>
            </a:pPr>
            <a:r>
              <a:rPr lang="en-US" sz="1200" dirty="0" smtClean="0">
                <a:solidFill>
                  <a:schemeClr val="tx1"/>
                </a:solidFill>
                <a:latin typeface="+mn-lt"/>
              </a:rPr>
              <a:t>Position initiation: </a:t>
            </a:r>
            <a:r>
              <a:rPr lang="en-US" sz="1200" b="0" dirty="0" smtClean="0">
                <a:solidFill>
                  <a:schemeClr val="tx1"/>
                </a:solidFill>
                <a:latin typeface="+mn-lt"/>
              </a:rPr>
              <a:t>How initial position sizes are established</a:t>
            </a:r>
          </a:p>
          <a:p>
            <a:pPr marL="171450" indent="-171450">
              <a:lnSpc>
                <a:spcPct val="100000"/>
              </a:lnSpc>
              <a:spcBef>
                <a:spcPts val="0"/>
              </a:spcBef>
              <a:buFont typeface="Arial" panose="020B0604020202020204" pitchFamily="34" charset="0"/>
              <a:buChar char="•"/>
            </a:pPr>
            <a:r>
              <a:rPr lang="en-US" sz="1200" dirty="0" smtClean="0">
                <a:solidFill>
                  <a:schemeClr val="tx1"/>
                </a:solidFill>
                <a:latin typeface="+mn-lt"/>
              </a:rPr>
              <a:t>Position Management: </a:t>
            </a:r>
            <a:r>
              <a:rPr lang="en-US" sz="1200" b="0" dirty="0" smtClean="0">
                <a:solidFill>
                  <a:schemeClr val="tx1"/>
                </a:solidFill>
                <a:latin typeface="+mn-lt"/>
              </a:rPr>
              <a:t>What factors influence changes in position size</a:t>
            </a:r>
          </a:p>
          <a:p>
            <a:pPr marL="171450" indent="-171450">
              <a:lnSpc>
                <a:spcPct val="100000"/>
              </a:lnSpc>
              <a:spcBef>
                <a:spcPts val="0"/>
              </a:spcBef>
              <a:buFont typeface="Arial" panose="020B0604020202020204" pitchFamily="34" charset="0"/>
              <a:buChar char="•"/>
            </a:pPr>
            <a:r>
              <a:rPr lang="en-US" sz="1200" dirty="0" smtClean="0">
                <a:solidFill>
                  <a:schemeClr val="tx1"/>
                </a:solidFill>
                <a:latin typeface="+mn-lt"/>
              </a:rPr>
              <a:t>Sell Discipline: </a:t>
            </a:r>
            <a:r>
              <a:rPr lang="en-US" sz="1200" b="0" dirty="0" smtClean="0">
                <a:solidFill>
                  <a:schemeClr val="tx1"/>
                </a:solidFill>
                <a:latin typeface="+mn-lt"/>
              </a:rPr>
              <a:t>The process for closing out a long or short position</a:t>
            </a:r>
            <a:endParaRPr lang="en-US" sz="1200" dirty="0" smtClean="0">
              <a:solidFill>
                <a:schemeClr val="tx1"/>
              </a:solidFill>
              <a:latin typeface="+mn-lt"/>
            </a:endParaRP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7" name="Rectangle 6"/>
          <p:cNvSpPr/>
          <p:nvPr/>
        </p:nvSpPr>
        <p:spPr>
          <a:xfrm>
            <a:off x="2590800" y="1143000"/>
            <a:ext cx="609600" cy="1737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t> Position Initiation</a:t>
            </a:r>
            <a:endParaRPr lang="en-US" sz="1400" dirty="0"/>
          </a:p>
        </p:txBody>
      </p:sp>
      <p:sp>
        <p:nvSpPr>
          <p:cNvPr id="33" name="Rectangle 32"/>
          <p:cNvSpPr/>
          <p:nvPr/>
        </p:nvSpPr>
        <p:spPr>
          <a:xfrm>
            <a:off x="3193774" y="3040380"/>
            <a:ext cx="6400800" cy="20574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Position sizes are actively rebalanced as stocks move towards or away from price targets. Generally, winners are trimmed and losers are added to. Scaling is also a function of risk/reward assessment as conviction levels move higher or the investment thesis begins to bear fruit. On the short side, scaling also depends on availability. Catalysts paly a significant role in terms of the investment strategy and are captured through scenario analysis (Bull/Base/Bear). Each scenario embeds a specific event that leads to the stock converging to its price target.</a:t>
            </a:r>
            <a:endParaRPr lang="en-US" sz="1400" dirty="0">
              <a:solidFill>
                <a:schemeClr val="tx1"/>
              </a:solidFill>
            </a:endParaRPr>
          </a:p>
        </p:txBody>
      </p:sp>
      <p:sp>
        <p:nvSpPr>
          <p:cNvPr id="39" name="Rectangle 38"/>
          <p:cNvSpPr/>
          <p:nvPr/>
        </p:nvSpPr>
        <p:spPr>
          <a:xfrm>
            <a:off x="2584174" y="3040380"/>
            <a:ext cx="609600" cy="20574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t>Position Management</a:t>
            </a:r>
            <a:endParaRPr lang="en-US" sz="1400" dirty="0"/>
          </a:p>
        </p:txBody>
      </p:sp>
      <p:sp>
        <p:nvSpPr>
          <p:cNvPr id="51" name="Rectangle 50"/>
          <p:cNvSpPr/>
          <p:nvPr/>
        </p:nvSpPr>
        <p:spPr>
          <a:xfrm>
            <a:off x="3200400" y="5257800"/>
            <a:ext cx="6400800" cy="17373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Exit methodologies include reaching price targets, the availability of better opportunities, a discrediting of the investment thesis (when the movements of the position are not in line with the thesis), the failure of a catalyst to materialize, and the appearance of systemic risk factors.</a:t>
            </a:r>
            <a:endParaRPr lang="en-US" sz="1400" dirty="0">
              <a:solidFill>
                <a:schemeClr val="tx1"/>
              </a:solidFill>
            </a:endParaRPr>
          </a:p>
        </p:txBody>
      </p:sp>
      <p:sp>
        <p:nvSpPr>
          <p:cNvPr id="56" name="Rectangle 55"/>
          <p:cNvSpPr/>
          <p:nvPr/>
        </p:nvSpPr>
        <p:spPr>
          <a:xfrm>
            <a:off x="2590800" y="5257800"/>
            <a:ext cx="609600" cy="17373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t>Sell Discipline</a:t>
            </a:r>
            <a:endParaRPr lang="en-US" sz="1400" dirty="0"/>
          </a:p>
        </p:txBody>
      </p:sp>
    </p:spTree>
    <p:extLst>
      <p:ext uri="{BB962C8B-B14F-4D97-AF65-F5344CB8AC3E}">
        <p14:creationId xmlns:p14="http://schemas.microsoft.com/office/powerpoint/2010/main" val="24009798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Short selling rationale</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Shorting serves various different purposes for the CRE Long/Short Equity strategy.</a:t>
            </a:r>
            <a:endParaRPr lang="en-US" sz="1100" dirty="0" smtClean="0"/>
          </a:p>
        </p:txBody>
      </p: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
        <p:nvSpPr>
          <p:cNvPr id="5" name="Rectangle 4"/>
          <p:cNvSpPr/>
          <p:nvPr/>
        </p:nvSpPr>
        <p:spPr>
          <a:xfrm>
            <a:off x="2903220" y="1200686"/>
            <a:ext cx="525780" cy="475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sp>
        <p:nvSpPr>
          <p:cNvPr id="25" name="Rectangle 24"/>
          <p:cNvSpPr/>
          <p:nvPr/>
        </p:nvSpPr>
        <p:spPr>
          <a:xfrm>
            <a:off x="2903220" y="1691640"/>
            <a:ext cx="6629400" cy="127214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a:off x="2903220" y="1691640"/>
            <a:ext cx="6629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429000" y="1261646"/>
            <a:ext cx="6103620" cy="338554"/>
          </a:xfrm>
          <a:prstGeom prst="rect">
            <a:avLst/>
          </a:prstGeom>
          <a:noFill/>
        </p:spPr>
        <p:txBody>
          <a:bodyPr wrap="square" rtlCol="0">
            <a:spAutoFit/>
          </a:bodyPr>
          <a:lstStyle/>
          <a:p>
            <a:r>
              <a:rPr lang="en-US" sz="1600" dirty="0" smtClean="0">
                <a:solidFill>
                  <a:schemeClr val="accent1"/>
                </a:solidFill>
              </a:rPr>
              <a:t>Hedge Portfolio’s Market Exposure and/or Sector Exposure</a:t>
            </a:r>
            <a:endParaRPr lang="en-US" sz="1600" dirty="0">
              <a:solidFill>
                <a:schemeClr val="accent1"/>
              </a:solidFill>
            </a:endParaRPr>
          </a:p>
        </p:txBody>
      </p:sp>
      <p:sp>
        <p:nvSpPr>
          <p:cNvPr id="42" name="Rectangle 41"/>
          <p:cNvSpPr/>
          <p:nvPr/>
        </p:nvSpPr>
        <p:spPr>
          <a:xfrm>
            <a:off x="2903220" y="3319046"/>
            <a:ext cx="525780" cy="47571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sp>
        <p:nvSpPr>
          <p:cNvPr id="43" name="Rectangle 42"/>
          <p:cNvSpPr/>
          <p:nvPr/>
        </p:nvSpPr>
        <p:spPr>
          <a:xfrm>
            <a:off x="2903220" y="3810000"/>
            <a:ext cx="6629400" cy="1184791"/>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p:nvPr/>
        </p:nvCxnSpPr>
        <p:spPr>
          <a:xfrm>
            <a:off x="2903220" y="3810000"/>
            <a:ext cx="6629400" cy="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3429000" y="3398520"/>
            <a:ext cx="6103620" cy="338554"/>
          </a:xfrm>
          <a:prstGeom prst="rect">
            <a:avLst/>
          </a:prstGeom>
          <a:noFill/>
        </p:spPr>
        <p:txBody>
          <a:bodyPr wrap="square" rtlCol="0">
            <a:spAutoFit/>
          </a:bodyPr>
          <a:lstStyle/>
          <a:p>
            <a:r>
              <a:rPr lang="en-US" sz="1600" dirty="0" smtClean="0">
                <a:solidFill>
                  <a:schemeClr val="accent5">
                    <a:lumMod val="50000"/>
                  </a:schemeClr>
                </a:solidFill>
              </a:rPr>
              <a:t>Target Individual Overvalued Stocks</a:t>
            </a:r>
            <a:endParaRPr lang="en-US" sz="1600" dirty="0">
              <a:solidFill>
                <a:schemeClr val="accent5">
                  <a:lumMod val="50000"/>
                </a:schemeClr>
              </a:solidFill>
            </a:endParaRPr>
          </a:p>
        </p:txBody>
      </p:sp>
      <p:sp>
        <p:nvSpPr>
          <p:cNvPr id="9" name="TextBox 8"/>
          <p:cNvSpPr txBox="1"/>
          <p:nvPr/>
        </p:nvSpPr>
        <p:spPr>
          <a:xfrm>
            <a:off x="2903220" y="1691640"/>
            <a:ext cx="6629400" cy="1272143"/>
          </a:xfrm>
          <a:prstGeom prst="rect">
            <a:avLst/>
          </a:prstGeom>
          <a:noFill/>
        </p:spPr>
        <p:txBody>
          <a:bodyPr wrap="square" rtlCol="0">
            <a:spAutoFit/>
          </a:bodyPr>
          <a:lstStyle/>
          <a:p>
            <a:pPr marL="285750" indent="-285750">
              <a:buFont typeface="Arial" panose="020B0604020202020204" pitchFamily="34" charset="0"/>
              <a:buChar char="•"/>
            </a:pPr>
            <a:r>
              <a:rPr lang="en-US" sz="1400" dirty="0" smtClean="0"/>
              <a:t>Hedge market risk (beta risk)</a:t>
            </a:r>
          </a:p>
          <a:p>
            <a:pPr marL="285750" indent="-285750">
              <a:buFont typeface="Arial" panose="020B0604020202020204" pitchFamily="34" charset="0"/>
              <a:buChar char="•"/>
            </a:pPr>
            <a:r>
              <a:rPr lang="en-US" sz="1400" dirty="0" smtClean="0"/>
              <a:t>Protect the portfolio’s long positions against a broad market decline</a:t>
            </a:r>
          </a:p>
          <a:p>
            <a:pPr marL="285750" indent="-285750">
              <a:buFont typeface="Arial" panose="020B0604020202020204" pitchFamily="34" charset="0"/>
              <a:buChar char="•"/>
            </a:pPr>
            <a:r>
              <a:rPr lang="en-US" sz="1400" dirty="0" smtClean="0"/>
              <a:t>Reduce portfolio’s correlation to the markets</a:t>
            </a:r>
          </a:p>
          <a:p>
            <a:pPr marL="285750" indent="-285750">
              <a:buFont typeface="Arial" panose="020B0604020202020204" pitchFamily="34" charset="0"/>
              <a:buChar char="•"/>
            </a:pPr>
            <a:r>
              <a:rPr lang="en-US" sz="1400" dirty="0" smtClean="0"/>
              <a:t>Reduce volatility of a portfolio’s returns with the market</a:t>
            </a:r>
            <a:endParaRPr lang="en-US" sz="1400" dirty="0"/>
          </a:p>
          <a:p>
            <a:pPr>
              <a:spcBef>
                <a:spcPts val="800"/>
              </a:spcBef>
            </a:pPr>
            <a:r>
              <a:rPr lang="en-US" sz="1400" dirty="0"/>
              <a:t>S</a:t>
            </a:r>
            <a:r>
              <a:rPr lang="en-US" sz="1400" dirty="0" smtClean="0"/>
              <a:t>trategy may short ETFs (IYR) or buy/sell derivatives to hedge portfolio and sector risk.</a:t>
            </a:r>
          </a:p>
        </p:txBody>
      </p:sp>
      <p:sp>
        <p:nvSpPr>
          <p:cNvPr id="50" name="TextBox 49"/>
          <p:cNvSpPr txBox="1"/>
          <p:nvPr/>
        </p:nvSpPr>
        <p:spPr>
          <a:xfrm>
            <a:off x="2903220" y="3825240"/>
            <a:ext cx="6629400" cy="1056700"/>
          </a:xfrm>
          <a:prstGeom prst="rect">
            <a:avLst/>
          </a:prstGeom>
          <a:noFill/>
        </p:spPr>
        <p:txBody>
          <a:bodyPr wrap="square" rtlCol="0">
            <a:spAutoFit/>
          </a:bodyPr>
          <a:lstStyle/>
          <a:p>
            <a:pPr marL="285750" indent="-285750">
              <a:buFont typeface="Arial" panose="020B0604020202020204" pitchFamily="34" charset="0"/>
              <a:buChar char="•"/>
            </a:pPr>
            <a:r>
              <a:rPr lang="en-US" sz="1400" dirty="0" smtClean="0"/>
              <a:t>Profit from a decline in the stock price for company-specific reasons (overvaluation, weak management, declining revenue and earnings etc.)</a:t>
            </a:r>
          </a:p>
          <a:p>
            <a:pPr>
              <a:spcBef>
                <a:spcPts val="800"/>
              </a:spcBef>
            </a:pPr>
            <a:r>
              <a:rPr lang="en-US" sz="1400" dirty="0" smtClean="0"/>
              <a:t>Based on extensive fundamental research along with identification of catalysts that would lead to a stock price decline. </a:t>
            </a:r>
          </a:p>
        </p:txBody>
      </p:sp>
      <p:sp>
        <p:nvSpPr>
          <p:cNvPr id="64" name="Rectangle 63"/>
          <p:cNvSpPr/>
          <p:nvPr/>
        </p:nvSpPr>
        <p:spPr>
          <a:xfrm>
            <a:off x="2880360" y="5285006"/>
            <a:ext cx="525780" cy="47571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65" name="Rectangle 64"/>
          <p:cNvSpPr/>
          <p:nvPr/>
        </p:nvSpPr>
        <p:spPr>
          <a:xfrm>
            <a:off x="2880360" y="5775960"/>
            <a:ext cx="6629400" cy="128738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lumMod val="20000"/>
                  <a:lumOff val="80000"/>
                </a:schemeClr>
              </a:solidFill>
            </a:endParaRPr>
          </a:p>
        </p:txBody>
      </p:sp>
      <p:cxnSp>
        <p:nvCxnSpPr>
          <p:cNvPr id="66" name="Straight Connector 65"/>
          <p:cNvCxnSpPr/>
          <p:nvPr/>
        </p:nvCxnSpPr>
        <p:spPr>
          <a:xfrm>
            <a:off x="2880360" y="5775960"/>
            <a:ext cx="662940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3406140" y="5364480"/>
            <a:ext cx="6103620" cy="338554"/>
          </a:xfrm>
          <a:prstGeom prst="rect">
            <a:avLst/>
          </a:prstGeom>
          <a:noFill/>
        </p:spPr>
        <p:txBody>
          <a:bodyPr wrap="square" rtlCol="0">
            <a:spAutoFit/>
          </a:bodyPr>
          <a:lstStyle/>
          <a:p>
            <a:r>
              <a:rPr lang="en-US" sz="1600" dirty="0" smtClean="0">
                <a:solidFill>
                  <a:schemeClr val="accent3"/>
                </a:solidFill>
              </a:rPr>
              <a:t>Capture Relative Value</a:t>
            </a:r>
            <a:endParaRPr lang="en-US" sz="1600" dirty="0">
              <a:solidFill>
                <a:schemeClr val="accent3"/>
              </a:solidFill>
            </a:endParaRPr>
          </a:p>
        </p:txBody>
      </p:sp>
      <p:sp>
        <p:nvSpPr>
          <p:cNvPr id="68" name="TextBox 67"/>
          <p:cNvSpPr txBox="1"/>
          <p:nvPr/>
        </p:nvSpPr>
        <p:spPr>
          <a:xfrm>
            <a:off x="2880360" y="5791200"/>
            <a:ext cx="6629400" cy="523220"/>
          </a:xfrm>
          <a:prstGeom prst="rect">
            <a:avLst/>
          </a:prstGeom>
          <a:noFill/>
        </p:spPr>
        <p:txBody>
          <a:bodyPr wrap="square" rtlCol="0">
            <a:spAutoFit/>
          </a:bodyPr>
          <a:lstStyle/>
          <a:p>
            <a:r>
              <a:rPr lang="en-US" sz="1400" dirty="0" smtClean="0"/>
              <a:t>Identify two similar companies whose stocks are currently trading at a price relationship outside a historical range. </a:t>
            </a:r>
          </a:p>
        </p:txBody>
      </p:sp>
    </p:spTree>
    <p:extLst>
      <p:ext uri="{BB962C8B-B14F-4D97-AF65-F5344CB8AC3E}">
        <p14:creationId xmlns:p14="http://schemas.microsoft.com/office/powerpoint/2010/main" val="40084797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Short </a:t>
            </a:r>
            <a:r>
              <a:rPr lang="en-US" dirty="0" err="1" smtClean="0"/>
              <a:t>sALE</a:t>
            </a:r>
            <a:r>
              <a:rPr lang="en-US" dirty="0" smtClean="0"/>
              <a:t> EXAMPLE</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example illustrates some of the mechanics behind a typical short stock sale that anticipates a decline in the price of a particular stock.</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Building a short case places a significant emphasis on top-down analysis and sectoral work corresponding to the underlying CRE market. In addition, it also relies on a combination of forensic accounting and catalyst identification.</a:t>
            </a:r>
          </a:p>
        </p:txBody>
      </p: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graphicFrame>
        <p:nvGraphicFramePr>
          <p:cNvPr id="3" name="Table 2"/>
          <p:cNvGraphicFramePr>
            <a:graphicFrameLocks noGrp="1"/>
          </p:cNvGraphicFramePr>
          <p:nvPr>
            <p:extLst>
              <p:ext uri="{D42A27DB-BD31-4B8C-83A1-F6EECF244321}">
                <p14:modId xmlns:p14="http://schemas.microsoft.com/office/powerpoint/2010/main" val="3937798997"/>
              </p:ext>
            </p:extLst>
          </p:nvPr>
        </p:nvGraphicFramePr>
        <p:xfrm>
          <a:off x="2590800" y="1234440"/>
          <a:ext cx="7086600" cy="2941320"/>
        </p:xfrm>
        <a:graphic>
          <a:graphicData uri="http://schemas.openxmlformats.org/drawingml/2006/table">
            <a:tbl>
              <a:tblPr firstRow="1" bandRow="1">
                <a:tableStyleId>{6E25E649-3F16-4E02-A733-19D2CDBF48F0}</a:tableStyleId>
              </a:tblPr>
              <a:tblGrid>
                <a:gridCol w="1676400"/>
                <a:gridCol w="914400"/>
                <a:gridCol w="1066800"/>
                <a:gridCol w="838200"/>
                <a:gridCol w="2590800"/>
              </a:tblGrid>
              <a:tr h="381000">
                <a:tc>
                  <a:txBody>
                    <a:bodyPr/>
                    <a:lstStyle/>
                    <a:p>
                      <a:pPr algn="ctr"/>
                      <a:r>
                        <a:rPr lang="en-US" sz="1100" dirty="0" smtClean="0"/>
                        <a:t>Return Source</a:t>
                      </a:r>
                      <a:endParaRPr lang="en-US" sz="1100" dirty="0"/>
                    </a:p>
                  </a:txBody>
                  <a:tcPr anchor="ctr"/>
                </a:tc>
                <a:tc>
                  <a:txBody>
                    <a:bodyPr/>
                    <a:lstStyle/>
                    <a:p>
                      <a:pPr algn="ctr"/>
                      <a:r>
                        <a:rPr lang="en-US" sz="1100" dirty="0" smtClean="0"/>
                        <a:t>Cost</a:t>
                      </a:r>
                      <a:r>
                        <a:rPr lang="en-US" sz="1100" baseline="0" dirty="0" smtClean="0"/>
                        <a:t> Basis</a:t>
                      </a:r>
                      <a:endParaRPr lang="en-US" sz="1100" dirty="0"/>
                    </a:p>
                  </a:txBody>
                  <a:tcPr anchor="ctr"/>
                </a:tc>
                <a:tc>
                  <a:txBody>
                    <a:bodyPr/>
                    <a:lstStyle/>
                    <a:p>
                      <a:pPr algn="ctr"/>
                      <a:r>
                        <a:rPr lang="en-US" sz="1100" dirty="0" smtClean="0"/>
                        <a:t>Exit Proceeds</a:t>
                      </a:r>
                      <a:endParaRPr lang="en-US" sz="1100" dirty="0"/>
                    </a:p>
                  </a:txBody>
                  <a:tcPr anchor="ctr"/>
                </a:tc>
                <a:tc>
                  <a:txBody>
                    <a:bodyPr/>
                    <a:lstStyle/>
                    <a:p>
                      <a:pPr algn="ctr"/>
                      <a:r>
                        <a:rPr lang="en-US" sz="1100" dirty="0" smtClean="0"/>
                        <a:t>Return</a:t>
                      </a:r>
                      <a:endParaRPr lang="en-US" sz="1100" dirty="0"/>
                    </a:p>
                  </a:txBody>
                  <a:tcPr anchor="ctr"/>
                </a:tc>
                <a:tc>
                  <a:txBody>
                    <a:bodyPr/>
                    <a:lstStyle/>
                    <a:p>
                      <a:pPr algn="ctr"/>
                      <a:r>
                        <a:rPr lang="en-US" sz="1100" dirty="0" smtClean="0"/>
                        <a:t>Assumptions/Notes</a:t>
                      </a:r>
                      <a:endParaRPr lang="en-US" sz="1100" dirty="0"/>
                    </a:p>
                  </a:txBody>
                  <a:tcPr anchor="ctr"/>
                </a:tc>
              </a:tr>
              <a:tr h="331839">
                <a:tc>
                  <a:txBody>
                    <a:bodyPr/>
                    <a:lstStyle/>
                    <a:p>
                      <a:r>
                        <a:rPr lang="en-US" sz="1100" dirty="0" smtClean="0"/>
                        <a:t>Short</a:t>
                      </a:r>
                      <a:r>
                        <a:rPr lang="en-US" sz="1100" baseline="0" dirty="0" smtClean="0"/>
                        <a:t> Position: XYZ Co.</a:t>
                      </a:r>
                      <a:endParaRPr lang="en-US" sz="1100" dirty="0"/>
                    </a:p>
                  </a:txBody>
                  <a:tcPr anchor="ctr"/>
                </a:tc>
                <a:tc>
                  <a:txBody>
                    <a:bodyPr/>
                    <a:lstStyle/>
                    <a:p>
                      <a:pPr algn="ctr"/>
                      <a:r>
                        <a:rPr lang="en-US" sz="1100" dirty="0" smtClean="0"/>
                        <a:t>$2,000,000</a:t>
                      </a:r>
                      <a:endParaRPr lang="en-US" sz="1100" dirty="0"/>
                    </a:p>
                  </a:txBody>
                  <a:tcPr anchor="ctr"/>
                </a:tc>
                <a:tc>
                  <a:txBody>
                    <a:bodyPr/>
                    <a:lstStyle/>
                    <a:p>
                      <a:pPr algn="ctr"/>
                      <a:r>
                        <a:rPr lang="en-US" sz="1100" dirty="0" smtClean="0"/>
                        <a:t>$1,500,000</a:t>
                      </a:r>
                      <a:endParaRPr lang="en-US" sz="1100" dirty="0"/>
                    </a:p>
                  </a:txBody>
                  <a:tcPr anchor="ctr"/>
                </a:tc>
                <a:tc>
                  <a:txBody>
                    <a:bodyPr/>
                    <a:lstStyle/>
                    <a:p>
                      <a:pPr algn="ctr"/>
                      <a:r>
                        <a:rPr lang="en-US" sz="1100" dirty="0" smtClean="0"/>
                        <a:t>$500,000</a:t>
                      </a:r>
                      <a:endParaRPr lang="en-US" sz="1100" dirty="0"/>
                    </a:p>
                  </a:txBody>
                  <a:tcPr anchor="ctr"/>
                </a:tc>
                <a:tc>
                  <a:txBody>
                    <a:bodyPr/>
                    <a:lstStyle/>
                    <a:p>
                      <a:r>
                        <a:rPr lang="en-US" sz="1100" dirty="0" smtClean="0"/>
                        <a:t>200,000 shares shorted @$10</a:t>
                      </a:r>
                      <a:r>
                        <a:rPr lang="en-US" sz="1100" baseline="0" dirty="0" smtClean="0"/>
                        <a:t> per share and covered @$7.50 per share</a:t>
                      </a:r>
                      <a:endParaRPr lang="en-US" sz="1100" dirty="0"/>
                    </a:p>
                  </a:txBody>
                  <a:tcPr anchor="ctr"/>
                </a:tc>
              </a:tr>
              <a:tr h="331839">
                <a:tc>
                  <a:txBody>
                    <a:bodyPr/>
                    <a:lstStyle/>
                    <a:p>
                      <a:r>
                        <a:rPr lang="en-US" sz="1100" dirty="0" smtClean="0"/>
                        <a:t>Short Rebate on Short Sale</a:t>
                      </a:r>
                      <a:r>
                        <a:rPr lang="en-US" sz="1100" baseline="0" dirty="0" smtClean="0"/>
                        <a:t> Proceeds</a:t>
                      </a:r>
                      <a:endParaRPr lang="en-US" sz="1100" dirty="0"/>
                    </a:p>
                  </a:txBody>
                  <a:tcPr anchor="ctr"/>
                </a:tc>
                <a:tc>
                  <a:txBody>
                    <a:bodyPr/>
                    <a:lstStyle/>
                    <a:p>
                      <a:pPr algn="ctr"/>
                      <a:endParaRPr lang="en-US" sz="1100" dirty="0"/>
                    </a:p>
                  </a:txBody>
                  <a:tcPr anchor="ctr"/>
                </a:tc>
                <a:tc>
                  <a:txBody>
                    <a:bodyPr/>
                    <a:lstStyle/>
                    <a:p>
                      <a:pPr algn="ctr"/>
                      <a:endParaRPr lang="en-US" sz="1100" dirty="0"/>
                    </a:p>
                  </a:txBody>
                  <a:tcPr anchor="ctr"/>
                </a:tc>
                <a:tc>
                  <a:txBody>
                    <a:bodyPr/>
                    <a:lstStyle/>
                    <a:p>
                      <a:pPr algn="ctr"/>
                      <a:r>
                        <a:rPr lang="en-US" sz="1100" dirty="0" smtClean="0"/>
                        <a:t>$30,000</a:t>
                      </a:r>
                    </a:p>
                  </a:txBody>
                  <a:tcPr anchor="ctr"/>
                </a:tc>
                <a:tc>
                  <a:txBody>
                    <a:bodyPr/>
                    <a:lstStyle/>
                    <a:p>
                      <a:r>
                        <a:rPr lang="en-US" sz="1100" dirty="0" smtClean="0"/>
                        <a:t>Rate of 1.5% earned on short proceeds</a:t>
                      </a:r>
                      <a:r>
                        <a:rPr lang="en-US" sz="1100" baseline="0" dirty="0" smtClean="0"/>
                        <a:t> of $2,000,000</a:t>
                      </a:r>
                      <a:endParaRPr lang="en-US" sz="1100" dirty="0"/>
                    </a:p>
                  </a:txBody>
                  <a:tcPr anchor="ctr"/>
                </a:tc>
              </a:tr>
              <a:tr h="331839">
                <a:tc>
                  <a:txBody>
                    <a:bodyPr/>
                    <a:lstStyle/>
                    <a:p>
                      <a:r>
                        <a:rPr lang="en-US" sz="1100" dirty="0" smtClean="0"/>
                        <a:t>Cost of Borrowing Shares</a:t>
                      </a:r>
                      <a:endParaRPr lang="en-US" sz="1100" dirty="0"/>
                    </a:p>
                  </a:txBody>
                  <a:tcPr anchor="ctr"/>
                </a:tc>
                <a:tc>
                  <a:txBody>
                    <a:bodyPr/>
                    <a:lstStyle/>
                    <a:p>
                      <a:pPr algn="ctr"/>
                      <a:endParaRPr lang="en-US" sz="1100"/>
                    </a:p>
                  </a:txBody>
                  <a:tcPr anchor="ctr"/>
                </a:tc>
                <a:tc>
                  <a:txBody>
                    <a:bodyPr/>
                    <a:lstStyle/>
                    <a:p>
                      <a:pPr algn="ctr"/>
                      <a:endParaRPr lang="en-US" sz="1100" dirty="0"/>
                    </a:p>
                  </a:txBody>
                  <a:tcPr anchor="ctr"/>
                </a:tc>
                <a:tc>
                  <a:txBody>
                    <a:bodyPr/>
                    <a:lstStyle/>
                    <a:p>
                      <a:pPr algn="ctr"/>
                      <a:r>
                        <a:rPr lang="en-US" sz="1100" dirty="0" smtClean="0"/>
                        <a:t>($5,000)</a:t>
                      </a:r>
                      <a:endParaRPr lang="en-US" sz="1100" dirty="0"/>
                    </a:p>
                  </a:txBody>
                  <a:tcPr anchor="ctr"/>
                </a:tc>
                <a:tc>
                  <a:txBody>
                    <a:bodyPr/>
                    <a:lstStyle/>
                    <a:p>
                      <a:r>
                        <a:rPr lang="en-US" sz="1100" dirty="0" smtClean="0"/>
                        <a:t>Rate of 0.25%</a:t>
                      </a:r>
                      <a:r>
                        <a:rPr lang="en-US" sz="1100" baseline="0" dirty="0" smtClean="0"/>
                        <a:t> paid on initial stock loan, with a borrow value of $2 million</a:t>
                      </a:r>
                      <a:endParaRPr lang="en-US" sz="1100" dirty="0"/>
                    </a:p>
                  </a:txBody>
                  <a:tcPr anchor="ctr"/>
                </a:tc>
              </a:tr>
              <a:tr h="331839">
                <a:tc>
                  <a:txBody>
                    <a:bodyPr/>
                    <a:lstStyle/>
                    <a:p>
                      <a:r>
                        <a:rPr lang="en-US" sz="1100" dirty="0" smtClean="0"/>
                        <a:t>Dividend</a:t>
                      </a:r>
                      <a:r>
                        <a:rPr lang="en-US" sz="1100" baseline="0" dirty="0" smtClean="0"/>
                        <a:t> Payment </a:t>
                      </a:r>
                    </a:p>
                    <a:p>
                      <a:r>
                        <a:rPr lang="en-US" sz="1100" baseline="0" dirty="0" smtClean="0"/>
                        <a:t>on Short Position</a:t>
                      </a:r>
                      <a:endParaRPr lang="en-US" sz="1100" dirty="0"/>
                    </a:p>
                  </a:txBody>
                  <a:tcPr anchor="ctr"/>
                </a:tc>
                <a:tc>
                  <a:txBody>
                    <a:bodyPr/>
                    <a:lstStyle/>
                    <a:p>
                      <a:pPr algn="ctr"/>
                      <a:endParaRPr lang="en-US" sz="1100" dirty="0"/>
                    </a:p>
                  </a:txBody>
                  <a:tcPr anchor="ctr"/>
                </a:tc>
                <a:tc>
                  <a:txBody>
                    <a:bodyPr/>
                    <a:lstStyle/>
                    <a:p>
                      <a:pPr algn="ctr"/>
                      <a:endParaRPr lang="en-US" sz="1100" dirty="0"/>
                    </a:p>
                  </a:txBody>
                  <a:tcPr anchor="ctr"/>
                </a:tc>
                <a:tc>
                  <a:txBody>
                    <a:bodyPr/>
                    <a:lstStyle/>
                    <a:p>
                      <a:pPr algn="ctr"/>
                      <a:r>
                        <a:rPr lang="en-US" sz="1100" dirty="0" smtClean="0"/>
                        <a:t>($20,000)</a:t>
                      </a:r>
                      <a:endParaRPr lang="en-US" sz="1100" dirty="0"/>
                    </a:p>
                  </a:txBody>
                  <a:tcPr anchor="ctr"/>
                </a:tc>
                <a:tc>
                  <a:txBody>
                    <a:bodyPr/>
                    <a:lstStyle/>
                    <a:p>
                      <a:r>
                        <a:rPr lang="en-US" sz="1100" dirty="0" smtClean="0"/>
                        <a:t>Dividend yield of 1% on XYZ Co.</a:t>
                      </a:r>
                      <a:endParaRPr lang="en-US" sz="1100" dirty="0"/>
                    </a:p>
                  </a:txBody>
                  <a:tcPr anchor="ctr"/>
                </a:tc>
              </a:tr>
              <a:tr h="331839">
                <a:tc>
                  <a:txBody>
                    <a:bodyPr/>
                    <a:lstStyle/>
                    <a:p>
                      <a:r>
                        <a:rPr lang="en-US" sz="1100" dirty="0" smtClean="0"/>
                        <a:t>Margin Costs</a:t>
                      </a:r>
                      <a:r>
                        <a:rPr lang="en-US" sz="1100" baseline="0" dirty="0" smtClean="0"/>
                        <a:t> </a:t>
                      </a:r>
                    </a:p>
                    <a:p>
                      <a:r>
                        <a:rPr lang="en-US" sz="1100" baseline="0" dirty="0" smtClean="0"/>
                        <a:t>(on Short Position)</a:t>
                      </a:r>
                      <a:endParaRPr lang="en-US" sz="1100" dirty="0"/>
                    </a:p>
                  </a:txBody>
                  <a:tcPr anchor="ctr"/>
                </a:tc>
                <a:tc>
                  <a:txBody>
                    <a:bodyPr/>
                    <a:lstStyle/>
                    <a:p>
                      <a:pPr algn="ctr"/>
                      <a:endParaRPr lang="en-US" sz="1100" dirty="0"/>
                    </a:p>
                  </a:txBody>
                  <a:tcPr anchor="ctr"/>
                </a:tc>
                <a:tc>
                  <a:txBody>
                    <a:bodyPr/>
                    <a:lstStyle/>
                    <a:p>
                      <a:pPr algn="ctr"/>
                      <a:endParaRPr lang="en-US" sz="1100" dirty="0"/>
                    </a:p>
                  </a:txBody>
                  <a:tcPr anchor="ctr"/>
                </a:tc>
                <a:tc>
                  <a:txBody>
                    <a:bodyPr/>
                    <a:lstStyle/>
                    <a:p>
                      <a:pPr algn="ctr"/>
                      <a:r>
                        <a:rPr lang="en-US" sz="1100" dirty="0" smtClean="0"/>
                        <a:t>($15,000)</a:t>
                      </a:r>
                      <a:endParaRPr lang="en-US" sz="1100" dirty="0"/>
                    </a:p>
                  </a:txBody>
                  <a:tcPr anchor="ctr"/>
                </a:tc>
                <a:tc>
                  <a:txBody>
                    <a:bodyPr/>
                    <a:lstStyle/>
                    <a:p>
                      <a:r>
                        <a:rPr lang="en-US" sz="1100" dirty="0" smtClean="0"/>
                        <a:t>Rate of 2.5% paid on margin of $600,000*</a:t>
                      </a:r>
                      <a:endParaRPr lang="en-US" sz="1100" dirty="0"/>
                    </a:p>
                  </a:txBody>
                  <a:tcPr anchor="ctr"/>
                </a:tc>
              </a:tr>
              <a:tr h="199103">
                <a:tc>
                  <a:txBody>
                    <a:bodyPr/>
                    <a:lstStyle/>
                    <a:p>
                      <a:r>
                        <a:rPr lang="en-US" sz="1100" b="1" dirty="0" smtClean="0"/>
                        <a:t>Total Return</a:t>
                      </a:r>
                    </a:p>
                    <a:p>
                      <a:r>
                        <a:rPr lang="en-US" sz="1100" b="1" dirty="0" smtClean="0"/>
                        <a:t>Total Return (%)</a:t>
                      </a:r>
                      <a:endParaRPr lang="en-US" sz="1100" b="1" dirty="0"/>
                    </a:p>
                  </a:txBody>
                  <a:tcPr anchor="ctr"/>
                </a:tc>
                <a:tc>
                  <a:txBody>
                    <a:bodyPr/>
                    <a:lstStyle/>
                    <a:p>
                      <a:pPr algn="ctr"/>
                      <a:endParaRPr lang="en-US" sz="1100" b="1" dirty="0"/>
                    </a:p>
                  </a:txBody>
                  <a:tcPr anchor="ctr"/>
                </a:tc>
                <a:tc>
                  <a:txBody>
                    <a:bodyPr/>
                    <a:lstStyle/>
                    <a:p>
                      <a:pPr algn="ctr"/>
                      <a:endParaRPr lang="en-US" sz="1100" b="1" dirty="0"/>
                    </a:p>
                  </a:txBody>
                  <a:tcPr anchor="ctr"/>
                </a:tc>
                <a:tc>
                  <a:txBody>
                    <a:bodyPr/>
                    <a:lstStyle/>
                    <a:p>
                      <a:pPr algn="ctr"/>
                      <a:r>
                        <a:rPr lang="en-US" sz="1100" b="1" dirty="0" smtClean="0"/>
                        <a:t>$490,000</a:t>
                      </a:r>
                    </a:p>
                    <a:p>
                      <a:pPr algn="ctr"/>
                      <a:r>
                        <a:rPr lang="en-US" sz="1100" b="1" dirty="0" smtClean="0"/>
                        <a:t>24.5%</a:t>
                      </a:r>
                      <a:endParaRPr lang="en-US" sz="1100" b="1" dirty="0"/>
                    </a:p>
                  </a:txBody>
                  <a:tcPr anchor="ctr"/>
                </a:tc>
                <a:tc>
                  <a:txBody>
                    <a:bodyPr/>
                    <a:lstStyle/>
                    <a:p>
                      <a:r>
                        <a:rPr lang="en-US" sz="1100" dirty="0" smtClean="0"/>
                        <a:t>$490,000 / $2,000,000 × 100 = 24.5%</a:t>
                      </a:r>
                      <a:endParaRPr lang="en-US" sz="1100" dirty="0"/>
                    </a:p>
                  </a:txBody>
                  <a:tcPr anchor="ct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664800899"/>
              </p:ext>
            </p:extLst>
          </p:nvPr>
        </p:nvGraphicFramePr>
        <p:xfrm>
          <a:off x="2590800" y="4511040"/>
          <a:ext cx="3200400" cy="1752600"/>
        </p:xfrm>
        <a:graphic>
          <a:graphicData uri="http://schemas.openxmlformats.org/drawingml/2006/table">
            <a:tbl>
              <a:tblPr firstRow="1" bandRow="1">
                <a:tableStyleId>{6E25E649-3F16-4E02-A733-19D2CDBF48F0}</a:tableStyleId>
              </a:tblPr>
              <a:tblGrid>
                <a:gridCol w="2209800"/>
                <a:gridCol w="990600"/>
              </a:tblGrid>
              <a:tr h="457200">
                <a:tc>
                  <a:txBody>
                    <a:bodyPr/>
                    <a:lstStyle/>
                    <a:p>
                      <a:pPr algn="ctr"/>
                      <a:r>
                        <a:rPr lang="en-US" sz="1100" dirty="0" smtClean="0"/>
                        <a:t>Details</a:t>
                      </a:r>
                      <a:endParaRPr lang="en-US" sz="1100" dirty="0"/>
                    </a:p>
                  </a:txBody>
                  <a:tcPr anchor="ctr"/>
                </a:tc>
                <a:tc>
                  <a:txBody>
                    <a:bodyPr/>
                    <a:lstStyle/>
                    <a:p>
                      <a:pPr algn="ctr"/>
                      <a:r>
                        <a:rPr lang="en-US" sz="1100" dirty="0" smtClean="0"/>
                        <a:t>Amount</a:t>
                      </a:r>
                    </a:p>
                  </a:txBody>
                  <a:tcPr anchor="ctr"/>
                </a:tc>
              </a:tr>
              <a:tr h="215900">
                <a:tc>
                  <a:txBody>
                    <a:bodyPr/>
                    <a:lstStyle/>
                    <a:p>
                      <a:r>
                        <a:rPr lang="en-US" sz="1100" dirty="0" smtClean="0"/>
                        <a:t>Portfolio’s Net Asset Value (NAV)</a:t>
                      </a:r>
                      <a:endParaRPr lang="en-US" sz="1100" dirty="0"/>
                    </a:p>
                  </a:txBody>
                  <a:tcPr anchor="ctr"/>
                </a:tc>
                <a:tc>
                  <a:txBody>
                    <a:bodyPr/>
                    <a:lstStyle/>
                    <a:p>
                      <a:pPr algn="ctr"/>
                      <a:r>
                        <a:rPr lang="en-US" sz="1100" dirty="0" smtClean="0"/>
                        <a:t>$100,000,000</a:t>
                      </a:r>
                      <a:endParaRPr lang="en-US" sz="1100" dirty="0"/>
                    </a:p>
                  </a:txBody>
                  <a:tcPr anchor="ctr"/>
                </a:tc>
              </a:tr>
              <a:tr h="215900">
                <a:tc>
                  <a:txBody>
                    <a:bodyPr/>
                    <a:lstStyle/>
                    <a:p>
                      <a:r>
                        <a:rPr lang="en-US" sz="1100" dirty="0" smtClean="0"/>
                        <a:t>Position Weighting of Portfolio</a:t>
                      </a:r>
                      <a:endParaRPr lang="en-US" sz="1100" dirty="0"/>
                    </a:p>
                  </a:txBody>
                  <a:tcPr anchor="ctr"/>
                </a:tc>
                <a:tc>
                  <a:txBody>
                    <a:bodyPr/>
                    <a:lstStyle/>
                    <a:p>
                      <a:pPr algn="ctr"/>
                      <a:r>
                        <a:rPr lang="en-US" sz="1100" dirty="0" smtClean="0"/>
                        <a:t>2%</a:t>
                      </a:r>
                      <a:endParaRPr lang="en-US" sz="1100" dirty="0"/>
                    </a:p>
                  </a:txBody>
                  <a:tcPr anchor="ctr"/>
                </a:tc>
              </a:tr>
              <a:tr h="215900">
                <a:tc>
                  <a:txBody>
                    <a:bodyPr/>
                    <a:lstStyle/>
                    <a:p>
                      <a:r>
                        <a:rPr lang="en-US" sz="1100" dirty="0" smtClean="0"/>
                        <a:t>Initial Capital for the Trade</a:t>
                      </a:r>
                      <a:endParaRPr lang="en-US" sz="1100" dirty="0"/>
                    </a:p>
                  </a:txBody>
                  <a:tcPr anchor="ctr"/>
                </a:tc>
                <a:tc>
                  <a:txBody>
                    <a:bodyPr/>
                    <a:lstStyle/>
                    <a:p>
                      <a:pPr algn="ctr"/>
                      <a:r>
                        <a:rPr lang="en-US" sz="1100" dirty="0" smtClean="0"/>
                        <a:t>$2,000,000</a:t>
                      </a:r>
                      <a:endParaRPr lang="en-US" sz="1100" dirty="0"/>
                    </a:p>
                  </a:txBody>
                  <a:tcPr anchor="ctr"/>
                </a:tc>
              </a:tr>
              <a:tr h="215900">
                <a:tc>
                  <a:txBody>
                    <a:bodyPr/>
                    <a:lstStyle/>
                    <a:p>
                      <a:r>
                        <a:rPr lang="en-US" sz="1100" dirty="0" smtClean="0"/>
                        <a:t>Percent Return on the Trade</a:t>
                      </a:r>
                      <a:endParaRPr lang="en-US" sz="1100" dirty="0"/>
                    </a:p>
                  </a:txBody>
                  <a:tcPr anchor="ctr"/>
                </a:tc>
                <a:tc>
                  <a:txBody>
                    <a:bodyPr/>
                    <a:lstStyle/>
                    <a:p>
                      <a:pPr algn="ctr"/>
                      <a:r>
                        <a:rPr lang="en-US" sz="1100" dirty="0" smtClean="0"/>
                        <a:t>24.5%</a:t>
                      </a:r>
                      <a:endParaRPr lang="en-US" sz="1100" dirty="0"/>
                    </a:p>
                  </a:txBody>
                  <a:tcPr anchor="ctr"/>
                </a:tc>
              </a:tr>
              <a:tr h="215900">
                <a:tc>
                  <a:txBody>
                    <a:bodyPr/>
                    <a:lstStyle/>
                    <a:p>
                      <a:r>
                        <a:rPr lang="en-US" sz="1100" dirty="0" smtClean="0"/>
                        <a:t>Percent Return Attribution</a:t>
                      </a:r>
                      <a:endParaRPr lang="en-US" sz="1100" dirty="0"/>
                    </a:p>
                  </a:txBody>
                  <a:tcPr anchor="ctr"/>
                </a:tc>
                <a:tc>
                  <a:txBody>
                    <a:bodyPr/>
                    <a:lstStyle/>
                    <a:p>
                      <a:pPr algn="ctr"/>
                      <a:r>
                        <a:rPr lang="en-US" sz="1100" dirty="0" smtClean="0"/>
                        <a:t>0.49%</a:t>
                      </a:r>
                      <a:endParaRPr lang="en-US" sz="1100" dirty="0"/>
                    </a:p>
                  </a:txBody>
                  <a:tcPr anchor="ctr"/>
                </a:tc>
              </a:tr>
            </a:tbl>
          </a:graphicData>
        </a:graphic>
      </p:graphicFrame>
      <p:graphicFrame>
        <p:nvGraphicFramePr>
          <p:cNvPr id="22" name="Table 21"/>
          <p:cNvGraphicFramePr>
            <a:graphicFrameLocks noGrp="1"/>
          </p:cNvGraphicFramePr>
          <p:nvPr>
            <p:extLst>
              <p:ext uri="{D42A27DB-BD31-4B8C-83A1-F6EECF244321}">
                <p14:modId xmlns:p14="http://schemas.microsoft.com/office/powerpoint/2010/main" val="665477226"/>
              </p:ext>
            </p:extLst>
          </p:nvPr>
        </p:nvGraphicFramePr>
        <p:xfrm>
          <a:off x="6400800" y="4511040"/>
          <a:ext cx="3276600" cy="2148840"/>
        </p:xfrm>
        <a:graphic>
          <a:graphicData uri="http://schemas.openxmlformats.org/drawingml/2006/table">
            <a:tbl>
              <a:tblPr firstRow="1" bandRow="1">
                <a:tableStyleId>{6E25E649-3F16-4E02-A733-19D2CDBF48F0}</a:tableStyleId>
              </a:tblPr>
              <a:tblGrid>
                <a:gridCol w="1219200"/>
                <a:gridCol w="990600"/>
                <a:gridCol w="1066800"/>
              </a:tblGrid>
              <a:tr h="215900">
                <a:tc>
                  <a:txBody>
                    <a:bodyPr/>
                    <a:lstStyle/>
                    <a:p>
                      <a:pPr algn="ctr"/>
                      <a:r>
                        <a:rPr lang="en-US" sz="1100" dirty="0" smtClean="0"/>
                        <a:t>Details</a:t>
                      </a:r>
                      <a:endParaRPr lang="en-US" sz="1100" dirty="0"/>
                    </a:p>
                  </a:txBody>
                  <a:tcPr anchor="ctr"/>
                </a:tc>
                <a:tc>
                  <a:txBody>
                    <a:bodyPr/>
                    <a:lstStyle/>
                    <a:p>
                      <a:pPr algn="ctr"/>
                      <a:r>
                        <a:rPr lang="en-US" sz="1100" dirty="0" smtClean="0"/>
                        <a:t>Contribution</a:t>
                      </a:r>
                    </a:p>
                  </a:txBody>
                  <a:tcPr anchor="ctr"/>
                </a:tc>
                <a:tc>
                  <a:txBody>
                    <a:bodyPr/>
                    <a:lstStyle/>
                    <a:p>
                      <a:pPr algn="ctr"/>
                      <a:r>
                        <a:rPr lang="en-US" sz="1100" dirty="0" smtClean="0"/>
                        <a:t>Portfolio Attribution</a:t>
                      </a:r>
                    </a:p>
                  </a:txBody>
                  <a:tcPr anchor="ctr"/>
                </a:tc>
              </a:tr>
              <a:tr h="215900">
                <a:tc>
                  <a:txBody>
                    <a:bodyPr/>
                    <a:lstStyle/>
                    <a:p>
                      <a:r>
                        <a:rPr lang="en-US" sz="1100" dirty="0" smtClean="0"/>
                        <a:t>Short</a:t>
                      </a:r>
                      <a:r>
                        <a:rPr lang="en-US" sz="1100" baseline="0" dirty="0" smtClean="0"/>
                        <a:t> Position</a:t>
                      </a:r>
                      <a:endParaRPr lang="en-US" sz="1100" dirty="0"/>
                    </a:p>
                  </a:txBody>
                  <a:tcPr anchor="ctr"/>
                </a:tc>
                <a:tc>
                  <a:txBody>
                    <a:bodyPr/>
                    <a:lstStyle/>
                    <a:p>
                      <a:pPr algn="ctr"/>
                      <a:r>
                        <a:rPr lang="en-US" sz="1100" dirty="0" smtClean="0"/>
                        <a:t>25%</a:t>
                      </a:r>
                      <a:endParaRPr lang="en-US" sz="1100" dirty="0"/>
                    </a:p>
                  </a:txBody>
                  <a:tcPr anchor="ctr"/>
                </a:tc>
                <a:tc>
                  <a:txBody>
                    <a:bodyPr/>
                    <a:lstStyle/>
                    <a:p>
                      <a:pPr algn="ctr"/>
                      <a:r>
                        <a:rPr lang="en-US" sz="1100" dirty="0" smtClean="0"/>
                        <a:t>0.5%</a:t>
                      </a:r>
                      <a:endParaRPr lang="en-US" sz="1100" dirty="0"/>
                    </a:p>
                  </a:txBody>
                  <a:tcPr anchor="ctr"/>
                </a:tc>
              </a:tr>
              <a:tr h="215900">
                <a:tc>
                  <a:txBody>
                    <a:bodyPr/>
                    <a:lstStyle/>
                    <a:p>
                      <a:r>
                        <a:rPr lang="en-US" sz="1100" dirty="0" smtClean="0"/>
                        <a:t>Short Rebate</a:t>
                      </a:r>
                      <a:endParaRPr lang="en-US" sz="1100" dirty="0"/>
                    </a:p>
                  </a:txBody>
                  <a:tcPr anchor="ctr"/>
                </a:tc>
                <a:tc>
                  <a:txBody>
                    <a:bodyPr/>
                    <a:lstStyle/>
                    <a:p>
                      <a:pPr algn="ctr"/>
                      <a:r>
                        <a:rPr lang="en-US" sz="1100" dirty="0" smtClean="0"/>
                        <a:t>1.5%</a:t>
                      </a:r>
                      <a:endParaRPr lang="en-US" sz="1100" dirty="0"/>
                    </a:p>
                  </a:txBody>
                  <a:tcPr anchor="ctr"/>
                </a:tc>
                <a:tc>
                  <a:txBody>
                    <a:bodyPr/>
                    <a:lstStyle/>
                    <a:p>
                      <a:pPr algn="ctr"/>
                      <a:r>
                        <a:rPr lang="en-US" sz="1100" dirty="0" smtClean="0"/>
                        <a:t>0.03%</a:t>
                      </a:r>
                      <a:endParaRPr lang="en-US" sz="1100" dirty="0"/>
                    </a:p>
                  </a:txBody>
                  <a:tcPr anchor="ctr"/>
                </a:tc>
              </a:tr>
              <a:tr h="215900">
                <a:tc>
                  <a:txBody>
                    <a:bodyPr/>
                    <a:lstStyle/>
                    <a:p>
                      <a:r>
                        <a:rPr lang="en-US" sz="1100" dirty="0" smtClean="0"/>
                        <a:t>Cost of Borrowing Shares</a:t>
                      </a:r>
                      <a:endParaRPr lang="en-US" sz="1100" dirty="0"/>
                    </a:p>
                  </a:txBody>
                  <a:tcPr anchor="ctr"/>
                </a:tc>
                <a:tc>
                  <a:txBody>
                    <a:bodyPr/>
                    <a:lstStyle/>
                    <a:p>
                      <a:pPr algn="ctr"/>
                      <a:r>
                        <a:rPr lang="en-US" sz="1100" dirty="0" smtClean="0"/>
                        <a:t>-0.25%</a:t>
                      </a:r>
                      <a:endParaRPr lang="en-US" sz="1100" dirty="0"/>
                    </a:p>
                  </a:txBody>
                  <a:tcPr anchor="ctr"/>
                </a:tc>
                <a:tc>
                  <a:txBody>
                    <a:bodyPr/>
                    <a:lstStyle/>
                    <a:p>
                      <a:pPr algn="ctr"/>
                      <a:r>
                        <a:rPr lang="en-US" sz="1100" dirty="0" smtClean="0"/>
                        <a:t>-0.005%</a:t>
                      </a:r>
                      <a:endParaRPr lang="en-US" sz="1100" dirty="0"/>
                    </a:p>
                  </a:txBody>
                  <a:tcPr anchor="ctr"/>
                </a:tc>
              </a:tr>
              <a:tr h="215900">
                <a:tc>
                  <a:txBody>
                    <a:bodyPr/>
                    <a:lstStyle/>
                    <a:p>
                      <a:r>
                        <a:rPr lang="en-US" sz="1100" dirty="0" smtClean="0"/>
                        <a:t>Dividend</a:t>
                      </a:r>
                      <a:r>
                        <a:rPr lang="en-US" sz="1100" baseline="0" dirty="0" smtClean="0"/>
                        <a:t> Payment </a:t>
                      </a:r>
                    </a:p>
                  </a:txBody>
                  <a:tcPr anchor="ctr"/>
                </a:tc>
                <a:tc>
                  <a:txBody>
                    <a:bodyPr/>
                    <a:lstStyle/>
                    <a:p>
                      <a:pPr algn="ctr"/>
                      <a:r>
                        <a:rPr lang="en-US" sz="1100" dirty="0" smtClean="0"/>
                        <a:t>-1%</a:t>
                      </a:r>
                      <a:endParaRPr lang="en-US" sz="1100" dirty="0"/>
                    </a:p>
                  </a:txBody>
                  <a:tcPr anchor="ctr"/>
                </a:tc>
                <a:tc>
                  <a:txBody>
                    <a:bodyPr/>
                    <a:lstStyle/>
                    <a:p>
                      <a:pPr algn="ctr"/>
                      <a:r>
                        <a:rPr lang="en-US" sz="1100" dirty="0" smtClean="0"/>
                        <a:t>-0.02%</a:t>
                      </a:r>
                      <a:endParaRPr lang="en-US" sz="1100" dirty="0"/>
                    </a:p>
                  </a:txBody>
                  <a:tcPr anchor="ctr"/>
                </a:tc>
              </a:tr>
              <a:tr h="215900">
                <a:tc>
                  <a:txBody>
                    <a:bodyPr/>
                    <a:lstStyle/>
                    <a:p>
                      <a:r>
                        <a:rPr lang="en-US" sz="1100" dirty="0" smtClean="0"/>
                        <a:t>Margin Costs</a:t>
                      </a:r>
                      <a:r>
                        <a:rPr lang="en-US" sz="1100" baseline="0" dirty="0" smtClean="0"/>
                        <a:t> </a:t>
                      </a:r>
                    </a:p>
                  </a:txBody>
                  <a:tcPr anchor="ctr"/>
                </a:tc>
                <a:tc>
                  <a:txBody>
                    <a:bodyPr/>
                    <a:lstStyle/>
                    <a:p>
                      <a:pPr algn="ctr"/>
                      <a:r>
                        <a:rPr lang="en-US" sz="1100" dirty="0" smtClean="0"/>
                        <a:t>-0.75%</a:t>
                      </a:r>
                      <a:endParaRPr lang="en-US" sz="1100" dirty="0"/>
                    </a:p>
                  </a:txBody>
                  <a:tcPr anchor="ctr"/>
                </a:tc>
                <a:tc>
                  <a:txBody>
                    <a:bodyPr/>
                    <a:lstStyle/>
                    <a:p>
                      <a:pPr algn="ctr"/>
                      <a:r>
                        <a:rPr lang="en-US" sz="1100" dirty="0" smtClean="0"/>
                        <a:t>-0.015%</a:t>
                      </a:r>
                      <a:endParaRPr lang="en-US" sz="1100" dirty="0"/>
                    </a:p>
                  </a:txBody>
                  <a:tcPr anchor="ctr"/>
                </a:tc>
              </a:tr>
              <a:tr h="215900">
                <a:tc>
                  <a:txBody>
                    <a:bodyPr/>
                    <a:lstStyle/>
                    <a:p>
                      <a:r>
                        <a:rPr lang="en-US" sz="1100" b="1" baseline="0" dirty="0" smtClean="0"/>
                        <a:t>Total Return</a:t>
                      </a:r>
                    </a:p>
                  </a:txBody>
                  <a:tcPr anchor="ctr"/>
                </a:tc>
                <a:tc>
                  <a:txBody>
                    <a:bodyPr/>
                    <a:lstStyle/>
                    <a:p>
                      <a:pPr algn="ctr"/>
                      <a:r>
                        <a:rPr lang="en-US" sz="1100" b="1" dirty="0" smtClean="0"/>
                        <a:t>24.5%</a:t>
                      </a:r>
                      <a:endParaRPr lang="en-US" sz="1100" b="1" dirty="0"/>
                    </a:p>
                  </a:txBody>
                  <a:tcPr anchor="ctr"/>
                </a:tc>
                <a:tc>
                  <a:txBody>
                    <a:bodyPr/>
                    <a:lstStyle/>
                    <a:p>
                      <a:pPr algn="ctr"/>
                      <a:r>
                        <a:rPr lang="en-US" sz="1100" b="1" dirty="0" smtClean="0"/>
                        <a:t>0.49%</a:t>
                      </a:r>
                      <a:endParaRPr lang="en-US" sz="1100" b="1" dirty="0"/>
                    </a:p>
                  </a:txBody>
                  <a:tcPr anchor="ctr"/>
                </a:tc>
              </a:tr>
            </a:tbl>
          </a:graphicData>
        </a:graphic>
      </p:graphicFrame>
      <p:sp>
        <p:nvSpPr>
          <p:cNvPr id="6" name="TextBox 5"/>
          <p:cNvSpPr txBox="1"/>
          <p:nvPr/>
        </p:nvSpPr>
        <p:spPr>
          <a:xfrm>
            <a:off x="2514600" y="6751320"/>
            <a:ext cx="7086600" cy="553998"/>
          </a:xfrm>
          <a:prstGeom prst="rect">
            <a:avLst/>
          </a:prstGeom>
          <a:noFill/>
        </p:spPr>
        <p:txBody>
          <a:bodyPr wrap="square" rtlCol="0">
            <a:spAutoFit/>
          </a:bodyPr>
          <a:lstStyle/>
          <a:p>
            <a:r>
              <a:rPr lang="en-US" sz="1000" dirty="0" smtClean="0"/>
              <a:t>* Short Cost = Margin of $600,000 @2.5%, which is calculated as follows: </a:t>
            </a:r>
          </a:p>
          <a:p>
            <a:r>
              <a:rPr lang="en-US" sz="1000" dirty="0" smtClean="0"/>
              <a:t>($2,000,000) × 130% short margin </a:t>
            </a:r>
            <a:r>
              <a:rPr lang="en-US" sz="1000" dirty="0"/>
              <a:t>+ $</a:t>
            </a:r>
            <a:r>
              <a:rPr lang="en-US" sz="1000" dirty="0" smtClean="0"/>
              <a:t>2,000,000 = ($2,600,000) + $2,000,000 = ($600,000);</a:t>
            </a:r>
          </a:p>
          <a:p>
            <a:r>
              <a:rPr lang="en-US" sz="1000" dirty="0" smtClean="0"/>
              <a:t>Net Margin used = ($600,000) in margin rate @2.5% .  130% short margin is based on the prime broker’s margin requirement.</a:t>
            </a:r>
            <a:endParaRPr lang="en-US" sz="1000" dirty="0"/>
          </a:p>
        </p:txBody>
      </p:sp>
    </p:spTree>
    <p:extLst>
      <p:ext uri="{BB962C8B-B14F-4D97-AF65-F5344CB8AC3E}">
        <p14:creationId xmlns:p14="http://schemas.microsoft.com/office/powerpoint/2010/main" val="38191013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Strategy categorization: LOW BETA</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CRE Long/Short Equity strategy category is generally low beta both from a dollar value (dollars on the long side equal dollars on the short side) or beta adjusted (beta on the long side matches beta on the short side) basis.</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a:t>
            </a:r>
            <a:r>
              <a:rPr lang="en-US" sz="1200" dirty="0" smtClean="0">
                <a:solidFill>
                  <a:schemeClr val="tx1"/>
                </a:solidFill>
                <a:latin typeface="+mn-lt"/>
              </a:rPr>
              <a:t>net market exposure </a:t>
            </a:r>
            <a:r>
              <a:rPr lang="en-US" sz="1200" b="0" dirty="0" smtClean="0">
                <a:solidFill>
                  <a:schemeClr val="tx1"/>
                </a:solidFill>
                <a:latin typeface="+mn-lt"/>
              </a:rPr>
              <a:t>is driven mostly by bottoms-up stock selection.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Risk controls are established on a top-down basis in order to manage gross and net market exposure and sector allocation. </a:t>
            </a:r>
            <a:endParaRPr lang="en-US" sz="1100" dirty="0" smtClean="0"/>
          </a:p>
        </p:txBody>
      </p:sp>
      <p:graphicFrame>
        <p:nvGraphicFramePr>
          <p:cNvPr id="32" name="Chart 31"/>
          <p:cNvGraphicFramePr/>
          <p:nvPr>
            <p:extLst>
              <p:ext uri="{D42A27DB-BD31-4B8C-83A1-F6EECF244321}">
                <p14:modId xmlns:p14="http://schemas.microsoft.com/office/powerpoint/2010/main" val="4248316743"/>
              </p:ext>
            </p:extLst>
          </p:nvPr>
        </p:nvGraphicFramePr>
        <p:xfrm>
          <a:off x="2743200" y="2667794"/>
          <a:ext cx="6705600" cy="3810000"/>
        </p:xfrm>
        <a:graphic>
          <a:graphicData uri="http://schemas.openxmlformats.org/drawingml/2006/chart">
            <c:chart xmlns:c="http://schemas.openxmlformats.org/drawingml/2006/chart" xmlns:r="http://schemas.openxmlformats.org/officeDocument/2006/relationships" r:id="rId7"/>
          </a:graphicData>
        </a:graphic>
      </p:graphicFrame>
      <p:sp>
        <p:nvSpPr>
          <p:cNvPr id="33" name="Rectangle 32"/>
          <p:cNvSpPr/>
          <p:nvPr/>
        </p:nvSpPr>
        <p:spPr>
          <a:xfrm>
            <a:off x="4147718" y="4344194"/>
            <a:ext cx="1193598" cy="653490"/>
          </a:xfrm>
          <a:prstGeom prst="rect">
            <a:avLst/>
          </a:prstGeom>
          <a:pattFill prst="wdUpDiag">
            <a:fgClr>
              <a:schemeClr val="bg1"/>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flipV="1">
            <a:off x="7201814" y="4980005"/>
            <a:ext cx="1193598" cy="45719"/>
          </a:xfrm>
          <a:prstGeom prst="rect">
            <a:avLst/>
          </a:prstGeom>
          <a:pattFill prst="wdUpDiag">
            <a:fgClr>
              <a:schemeClr val="bg1"/>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5"/>
          <p:cNvSpPr>
            <a:spLocks/>
          </p:cNvSpPr>
          <p:nvPr>
            <p:custDataLst>
              <p:tags r:id="rId1"/>
            </p:custDataLst>
          </p:nvPr>
        </p:nvSpPr>
        <p:spPr bwMode="auto">
          <a:xfrm rot="10800000">
            <a:off x="5104920" y="4344194"/>
            <a:ext cx="236396" cy="652880"/>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38100">
            <a:solidFill>
              <a:srgbClr val="C7732D"/>
            </a:solidFill>
            <a:prstDash val="solid"/>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37" name="Freeform 5"/>
          <p:cNvSpPr>
            <a:spLocks/>
          </p:cNvSpPr>
          <p:nvPr>
            <p:custDataLst>
              <p:tags r:id="rId2"/>
            </p:custDataLst>
          </p:nvPr>
        </p:nvSpPr>
        <p:spPr bwMode="auto">
          <a:xfrm rot="5400000">
            <a:off x="5104919" y="4346390"/>
            <a:ext cx="236396" cy="236397"/>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38100">
            <a:solidFill>
              <a:srgbClr val="C7732D"/>
            </a:solidFill>
            <a:prstDash val="solid"/>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38" name="Rectangular Callout 37"/>
          <p:cNvSpPr/>
          <p:nvPr/>
        </p:nvSpPr>
        <p:spPr>
          <a:xfrm rot="5400000">
            <a:off x="5833100" y="4081314"/>
            <a:ext cx="489226" cy="1255774"/>
          </a:xfrm>
          <a:prstGeom prst="wedgeRectCallout">
            <a:avLst>
              <a:gd name="adj1" fmla="val -20833"/>
              <a:gd name="adj2" fmla="val 55604"/>
            </a:avLst>
          </a:prstGeom>
          <a:solidFill>
            <a:srgbClr val="C77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9" name="TextBox 38"/>
          <p:cNvSpPr txBox="1"/>
          <p:nvPr/>
        </p:nvSpPr>
        <p:spPr>
          <a:xfrm>
            <a:off x="5449825" y="4466350"/>
            <a:ext cx="1331975" cy="461666"/>
          </a:xfrm>
          <a:prstGeom prst="rect">
            <a:avLst/>
          </a:prstGeom>
          <a:noFill/>
        </p:spPr>
        <p:txBody>
          <a:bodyPr wrap="square" rtlCol="0">
            <a:spAutoFit/>
          </a:bodyPr>
          <a:lstStyle/>
          <a:p>
            <a:r>
              <a:rPr lang="en-US" sz="1200" b="1" dirty="0" smtClean="0">
                <a:solidFill>
                  <a:schemeClr val="bg1"/>
                </a:solidFill>
              </a:rPr>
              <a:t>Max: 30% </a:t>
            </a:r>
          </a:p>
          <a:p>
            <a:r>
              <a:rPr lang="en-US" sz="1200" b="1" dirty="0" smtClean="0">
                <a:solidFill>
                  <a:schemeClr val="bg1"/>
                </a:solidFill>
              </a:rPr>
              <a:t>Market Exposure</a:t>
            </a:r>
            <a:endParaRPr lang="en-US" sz="1200" b="1" dirty="0">
              <a:solidFill>
                <a:schemeClr val="bg1"/>
              </a:solidFill>
            </a:endParaRPr>
          </a:p>
        </p:txBody>
      </p:sp>
      <p:sp>
        <p:nvSpPr>
          <p:cNvPr id="40" name="Freeform 5"/>
          <p:cNvSpPr>
            <a:spLocks/>
          </p:cNvSpPr>
          <p:nvPr>
            <p:custDataLst>
              <p:tags r:id="rId3"/>
            </p:custDataLst>
          </p:nvPr>
        </p:nvSpPr>
        <p:spPr bwMode="auto">
          <a:xfrm>
            <a:off x="7182429" y="4968424"/>
            <a:ext cx="236396" cy="64615"/>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38100">
            <a:solidFill>
              <a:srgbClr val="C7732D"/>
            </a:solidFill>
            <a:prstDash val="solid"/>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41" name="Freeform 5"/>
          <p:cNvSpPr>
            <a:spLocks/>
          </p:cNvSpPr>
          <p:nvPr>
            <p:custDataLst>
              <p:tags r:id="rId4"/>
            </p:custDataLst>
          </p:nvPr>
        </p:nvSpPr>
        <p:spPr bwMode="auto">
          <a:xfrm rot="16200000">
            <a:off x="7271078" y="4887091"/>
            <a:ext cx="59100" cy="236397"/>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38100">
            <a:solidFill>
              <a:srgbClr val="C7732D"/>
            </a:solidFill>
            <a:prstDash val="solid"/>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51" name="Rectangular Callout 50"/>
          <p:cNvSpPr/>
          <p:nvPr/>
        </p:nvSpPr>
        <p:spPr>
          <a:xfrm rot="16200000">
            <a:off x="6274177" y="4749837"/>
            <a:ext cx="489226" cy="1150381"/>
          </a:xfrm>
          <a:prstGeom prst="wedgeRectCallout">
            <a:avLst>
              <a:gd name="adj1" fmla="val 55425"/>
              <a:gd name="adj2" fmla="val 55604"/>
            </a:avLst>
          </a:prstGeom>
          <a:solidFill>
            <a:srgbClr val="C77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2" name="TextBox 51"/>
          <p:cNvSpPr txBox="1"/>
          <p:nvPr/>
        </p:nvSpPr>
        <p:spPr>
          <a:xfrm>
            <a:off x="5903975" y="5106194"/>
            <a:ext cx="1331975" cy="461666"/>
          </a:xfrm>
          <a:prstGeom prst="rect">
            <a:avLst/>
          </a:prstGeom>
          <a:noFill/>
        </p:spPr>
        <p:txBody>
          <a:bodyPr wrap="square" rtlCol="0">
            <a:spAutoFit/>
          </a:bodyPr>
          <a:lstStyle/>
          <a:p>
            <a:r>
              <a:rPr lang="en-US" sz="1200" b="1" dirty="0" smtClean="0">
                <a:solidFill>
                  <a:schemeClr val="bg1"/>
                </a:solidFill>
              </a:rPr>
              <a:t>Min: 0% </a:t>
            </a:r>
          </a:p>
          <a:p>
            <a:r>
              <a:rPr lang="en-US" sz="1200" b="1" dirty="0" smtClean="0">
                <a:solidFill>
                  <a:schemeClr val="bg1"/>
                </a:solidFill>
              </a:rPr>
              <a:t>Market Exposure</a:t>
            </a:r>
            <a:endParaRPr lang="en-US" sz="1200" b="1" dirty="0">
              <a:solidFill>
                <a:schemeClr val="bg1"/>
              </a:solidFill>
            </a:endParaRPr>
          </a:p>
        </p:txBody>
      </p:sp>
      <p:sp>
        <p:nvSpPr>
          <p:cNvPr id="53" name="TextBox 52"/>
          <p:cNvSpPr txBox="1"/>
          <p:nvPr/>
        </p:nvSpPr>
        <p:spPr>
          <a:xfrm>
            <a:off x="4147718" y="3429794"/>
            <a:ext cx="881482" cy="461665"/>
          </a:xfrm>
          <a:prstGeom prst="rect">
            <a:avLst/>
          </a:prstGeom>
          <a:noFill/>
        </p:spPr>
        <p:txBody>
          <a:bodyPr wrap="square" rtlCol="0">
            <a:spAutoFit/>
          </a:bodyPr>
          <a:lstStyle/>
          <a:p>
            <a:r>
              <a:rPr lang="en-US" sz="1200" b="1" dirty="0" smtClean="0">
                <a:solidFill>
                  <a:schemeClr val="bg1"/>
                </a:solidFill>
              </a:rPr>
              <a:t>70%</a:t>
            </a:r>
          </a:p>
          <a:p>
            <a:r>
              <a:rPr lang="en-US" sz="1200" b="1" dirty="0" smtClean="0">
                <a:solidFill>
                  <a:schemeClr val="bg1"/>
                </a:solidFill>
              </a:rPr>
              <a:t>Gross Long</a:t>
            </a:r>
            <a:endParaRPr lang="en-US" sz="1200" b="1" dirty="0">
              <a:solidFill>
                <a:schemeClr val="bg1"/>
              </a:solidFill>
            </a:endParaRPr>
          </a:p>
        </p:txBody>
      </p:sp>
      <p:sp>
        <p:nvSpPr>
          <p:cNvPr id="54" name="TextBox 53"/>
          <p:cNvSpPr txBox="1"/>
          <p:nvPr/>
        </p:nvSpPr>
        <p:spPr>
          <a:xfrm>
            <a:off x="7174809" y="3660626"/>
            <a:ext cx="881482" cy="461665"/>
          </a:xfrm>
          <a:prstGeom prst="rect">
            <a:avLst/>
          </a:prstGeom>
          <a:noFill/>
        </p:spPr>
        <p:txBody>
          <a:bodyPr wrap="square" rtlCol="0">
            <a:spAutoFit/>
          </a:bodyPr>
          <a:lstStyle/>
          <a:p>
            <a:r>
              <a:rPr lang="en-US" sz="1200" b="1" dirty="0">
                <a:solidFill>
                  <a:schemeClr val="bg1"/>
                </a:solidFill>
              </a:rPr>
              <a:t>6</a:t>
            </a:r>
            <a:r>
              <a:rPr lang="en-US" sz="1200" b="1" dirty="0" smtClean="0">
                <a:solidFill>
                  <a:schemeClr val="bg1"/>
                </a:solidFill>
              </a:rPr>
              <a:t>0%</a:t>
            </a:r>
          </a:p>
          <a:p>
            <a:r>
              <a:rPr lang="en-US" sz="1200" b="1" dirty="0" smtClean="0">
                <a:solidFill>
                  <a:schemeClr val="bg1"/>
                </a:solidFill>
              </a:rPr>
              <a:t>Gross Long</a:t>
            </a:r>
            <a:endParaRPr lang="en-US" sz="1200" b="1" dirty="0">
              <a:solidFill>
                <a:schemeClr val="bg1"/>
              </a:solidFill>
            </a:endParaRPr>
          </a:p>
        </p:txBody>
      </p:sp>
      <p:sp>
        <p:nvSpPr>
          <p:cNvPr id="55" name="TextBox 54"/>
          <p:cNvSpPr txBox="1"/>
          <p:nvPr/>
        </p:nvSpPr>
        <p:spPr>
          <a:xfrm>
            <a:off x="7182428" y="5868194"/>
            <a:ext cx="970971" cy="461665"/>
          </a:xfrm>
          <a:prstGeom prst="rect">
            <a:avLst/>
          </a:prstGeom>
          <a:noFill/>
        </p:spPr>
        <p:txBody>
          <a:bodyPr wrap="square" rtlCol="0">
            <a:spAutoFit/>
          </a:bodyPr>
          <a:lstStyle/>
          <a:p>
            <a:r>
              <a:rPr lang="en-US" sz="1200" b="1" dirty="0">
                <a:solidFill>
                  <a:schemeClr val="bg1"/>
                </a:solidFill>
              </a:rPr>
              <a:t>6</a:t>
            </a:r>
            <a:r>
              <a:rPr lang="en-US" sz="1200" b="1" dirty="0" smtClean="0">
                <a:solidFill>
                  <a:schemeClr val="bg1"/>
                </a:solidFill>
              </a:rPr>
              <a:t>0%</a:t>
            </a:r>
          </a:p>
          <a:p>
            <a:r>
              <a:rPr lang="en-US" sz="1200" b="1" dirty="0" smtClean="0">
                <a:solidFill>
                  <a:schemeClr val="bg1"/>
                </a:solidFill>
              </a:rPr>
              <a:t>Gross Short</a:t>
            </a:r>
            <a:endParaRPr lang="en-US" sz="1200" b="1" dirty="0">
              <a:solidFill>
                <a:schemeClr val="bg1"/>
              </a:solidFill>
            </a:endParaRPr>
          </a:p>
        </p:txBody>
      </p:sp>
      <p:sp>
        <p:nvSpPr>
          <p:cNvPr id="56" name="TextBox 55"/>
          <p:cNvSpPr txBox="1"/>
          <p:nvPr/>
        </p:nvSpPr>
        <p:spPr>
          <a:xfrm>
            <a:off x="4133948" y="5441474"/>
            <a:ext cx="970971" cy="461665"/>
          </a:xfrm>
          <a:prstGeom prst="rect">
            <a:avLst/>
          </a:prstGeom>
          <a:noFill/>
        </p:spPr>
        <p:txBody>
          <a:bodyPr wrap="square" rtlCol="0">
            <a:spAutoFit/>
          </a:bodyPr>
          <a:lstStyle/>
          <a:p>
            <a:r>
              <a:rPr lang="en-US" sz="1200" b="1" dirty="0" smtClean="0">
                <a:solidFill>
                  <a:schemeClr val="bg1"/>
                </a:solidFill>
              </a:rPr>
              <a:t>40%</a:t>
            </a:r>
          </a:p>
          <a:p>
            <a:r>
              <a:rPr lang="en-US" sz="1200" b="1" dirty="0" smtClean="0">
                <a:solidFill>
                  <a:schemeClr val="bg1"/>
                </a:solidFill>
              </a:rPr>
              <a:t>Gross Short</a:t>
            </a:r>
            <a:endParaRPr lang="en-US" sz="1200" b="1" dirty="0">
              <a:solidFill>
                <a:schemeClr val="bg1"/>
              </a:solidFill>
            </a:endParaRPr>
          </a:p>
        </p:txBody>
      </p:sp>
      <p:sp>
        <p:nvSpPr>
          <p:cNvPr id="57" name="Rectangle 7"/>
          <p:cNvSpPr>
            <a:spLocks noChangeArrowheads="1"/>
          </p:cNvSpPr>
          <p:nvPr/>
        </p:nvSpPr>
        <p:spPr bwMode="auto">
          <a:xfrm>
            <a:off x="3417868" y="1600200"/>
            <a:ext cx="2490984" cy="1068388"/>
          </a:xfrm>
          <a:prstGeom prst="rect">
            <a:avLst/>
          </a:prstGeom>
          <a:noFill/>
          <a:ln w="9525" algn="ctr">
            <a:solidFill>
              <a:srgbClr val="FFFFFF"/>
            </a:solidFill>
            <a:miter lim="800000"/>
            <a:headEnd/>
            <a:tailEnd/>
          </a:ln>
        </p:spPr>
        <p:txBody>
          <a:bodyPr lIns="36000" tIns="72000" rIns="36000" bIns="36000" anchorCtr="1"/>
          <a:lstStyle/>
          <a:p>
            <a:pPr algn="ctr"/>
            <a:r>
              <a:rPr lang="en-US" altLang="zh-CN" sz="1200" b="1" dirty="0" smtClean="0">
                <a:solidFill>
                  <a:schemeClr val="tx2"/>
                </a:solidFill>
                <a:ea typeface="Arial Unicode MS" pitchFamily="34" charset="-122"/>
                <a:cs typeface="Arial Unicode MS" pitchFamily="34" charset="-122"/>
              </a:rPr>
              <a:t>Low Beta Strategy</a:t>
            </a:r>
          </a:p>
          <a:p>
            <a:pPr algn="ctr"/>
            <a:r>
              <a:rPr lang="en-US" altLang="ja-JP" sz="1200" b="1" dirty="0" smtClean="0">
                <a:solidFill>
                  <a:schemeClr val="tx2"/>
                </a:solidFill>
                <a:ea typeface="Arial Unicode MS" pitchFamily="34" charset="-122"/>
                <a:cs typeface="Arial Unicode MS" pitchFamily="34" charset="-122"/>
              </a:rPr>
              <a:t>With Highest Market Exposure</a:t>
            </a:r>
            <a:endParaRPr lang="en-GB" altLang="ja-JP" sz="1200" b="1" dirty="0">
              <a:solidFill>
                <a:schemeClr val="tx2"/>
              </a:solidFill>
              <a:ea typeface="Arial Unicode MS" pitchFamily="34" charset="-122"/>
              <a:cs typeface="Arial Unicode MS" pitchFamily="34" charset="-122"/>
            </a:endParaRPr>
          </a:p>
          <a:p>
            <a:pPr algn="ctr"/>
            <a:endParaRPr lang="en-GB" altLang="ja-JP" sz="1200" dirty="0">
              <a:solidFill>
                <a:schemeClr val="tx2"/>
              </a:solidFill>
              <a:ea typeface="Arial Unicode MS" pitchFamily="34" charset="-122"/>
              <a:cs typeface="Arial Unicode MS" pitchFamily="34" charset="-122"/>
            </a:endParaRPr>
          </a:p>
          <a:p>
            <a:pPr algn="ctr"/>
            <a:r>
              <a:rPr lang="en-US" altLang="zh-CN" sz="1200" dirty="0" smtClean="0">
                <a:solidFill>
                  <a:schemeClr val="tx2"/>
                </a:solidFill>
                <a:ea typeface="Arial Unicode MS" pitchFamily="34" charset="-122"/>
                <a:cs typeface="Arial Unicode MS" pitchFamily="34" charset="-122"/>
              </a:rPr>
              <a:t>Max Market Exposure: 30%</a:t>
            </a:r>
            <a:endParaRPr lang="en-US" altLang="zh-CN" sz="1200" dirty="0">
              <a:solidFill>
                <a:schemeClr val="tx2"/>
              </a:solidFill>
              <a:ea typeface="Arial Unicode MS" pitchFamily="34" charset="-122"/>
              <a:cs typeface="Arial Unicode MS" pitchFamily="34" charset="-122"/>
            </a:endParaRPr>
          </a:p>
          <a:p>
            <a:pPr algn="ctr"/>
            <a:r>
              <a:rPr lang="en-US" altLang="zh-CN" sz="1200" dirty="0" smtClean="0">
                <a:solidFill>
                  <a:schemeClr val="tx2"/>
                </a:solidFill>
                <a:ea typeface="Arial Unicode MS" pitchFamily="34" charset="-122"/>
                <a:cs typeface="Arial Unicode MS" pitchFamily="34" charset="-122"/>
              </a:rPr>
              <a:t>Gross Invested: 110%</a:t>
            </a:r>
          </a:p>
        </p:txBody>
      </p:sp>
      <p:sp>
        <p:nvSpPr>
          <p:cNvPr id="58" name="Rectangle 7"/>
          <p:cNvSpPr>
            <a:spLocks noChangeArrowheads="1"/>
          </p:cNvSpPr>
          <p:nvPr/>
        </p:nvSpPr>
        <p:spPr bwMode="auto">
          <a:xfrm>
            <a:off x="6547102" y="1600200"/>
            <a:ext cx="2490984" cy="1068388"/>
          </a:xfrm>
          <a:prstGeom prst="rect">
            <a:avLst/>
          </a:prstGeom>
          <a:noFill/>
          <a:ln w="9525" algn="ctr">
            <a:solidFill>
              <a:srgbClr val="FFFFFF"/>
            </a:solidFill>
            <a:miter lim="800000"/>
            <a:headEnd/>
            <a:tailEnd/>
          </a:ln>
        </p:spPr>
        <p:txBody>
          <a:bodyPr lIns="36000" tIns="72000" rIns="36000" bIns="36000" anchorCtr="1"/>
          <a:lstStyle/>
          <a:p>
            <a:pPr algn="ctr"/>
            <a:r>
              <a:rPr lang="en-US" altLang="zh-CN" sz="1200" b="1" dirty="0" smtClean="0">
                <a:solidFill>
                  <a:schemeClr val="tx2"/>
                </a:solidFill>
                <a:ea typeface="Arial Unicode MS" pitchFamily="34" charset="-122"/>
                <a:cs typeface="Arial Unicode MS" pitchFamily="34" charset="-122"/>
              </a:rPr>
              <a:t>Low Beta Strategy</a:t>
            </a:r>
          </a:p>
          <a:p>
            <a:pPr algn="ctr"/>
            <a:r>
              <a:rPr lang="en-US" altLang="ja-JP" sz="1200" b="1" dirty="0" smtClean="0">
                <a:solidFill>
                  <a:schemeClr val="tx2"/>
                </a:solidFill>
                <a:ea typeface="Arial Unicode MS" pitchFamily="34" charset="-122"/>
                <a:cs typeface="Arial Unicode MS" pitchFamily="34" charset="-122"/>
              </a:rPr>
              <a:t>With Lowest Market Exposure</a:t>
            </a:r>
            <a:endParaRPr lang="en-GB" altLang="ja-JP" sz="1200" b="1" dirty="0">
              <a:solidFill>
                <a:schemeClr val="tx2"/>
              </a:solidFill>
              <a:ea typeface="Arial Unicode MS" pitchFamily="34" charset="-122"/>
              <a:cs typeface="Arial Unicode MS" pitchFamily="34" charset="-122"/>
            </a:endParaRPr>
          </a:p>
          <a:p>
            <a:pPr algn="ctr"/>
            <a:endParaRPr lang="en-GB" altLang="ja-JP" sz="1200" dirty="0">
              <a:solidFill>
                <a:schemeClr val="tx2"/>
              </a:solidFill>
              <a:ea typeface="Arial Unicode MS" pitchFamily="34" charset="-122"/>
              <a:cs typeface="Arial Unicode MS" pitchFamily="34" charset="-122"/>
            </a:endParaRPr>
          </a:p>
          <a:p>
            <a:pPr algn="ctr"/>
            <a:r>
              <a:rPr lang="en-US" altLang="zh-CN" sz="1200" dirty="0" smtClean="0">
                <a:solidFill>
                  <a:schemeClr val="tx2"/>
                </a:solidFill>
                <a:ea typeface="Arial Unicode MS" pitchFamily="34" charset="-122"/>
                <a:cs typeface="Arial Unicode MS" pitchFamily="34" charset="-122"/>
              </a:rPr>
              <a:t>Min Market Exposure: 0%</a:t>
            </a:r>
            <a:endParaRPr lang="en-US" altLang="zh-CN" sz="1200" dirty="0">
              <a:solidFill>
                <a:schemeClr val="tx2"/>
              </a:solidFill>
              <a:ea typeface="Arial Unicode MS" pitchFamily="34" charset="-122"/>
              <a:cs typeface="Arial Unicode MS" pitchFamily="34" charset="-122"/>
            </a:endParaRPr>
          </a:p>
          <a:p>
            <a:pPr algn="ctr"/>
            <a:r>
              <a:rPr lang="en-US" altLang="zh-CN" sz="1200" dirty="0" smtClean="0">
                <a:solidFill>
                  <a:schemeClr val="tx2"/>
                </a:solidFill>
                <a:ea typeface="Arial Unicode MS" pitchFamily="34" charset="-122"/>
                <a:cs typeface="Arial Unicode MS" pitchFamily="34" charset="-122"/>
              </a:rPr>
              <a:t>Gross Invested: 120%</a:t>
            </a:r>
          </a:p>
        </p:txBody>
      </p:sp>
    </p:spTree>
    <p:extLst>
      <p:ext uri="{BB962C8B-B14F-4D97-AF65-F5344CB8AC3E}">
        <p14:creationId xmlns:p14="http://schemas.microsoft.com/office/powerpoint/2010/main" val="15308031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p:cNvCxnSpPr/>
          <p:nvPr/>
        </p:nvCxnSpPr>
        <p:spPr>
          <a:xfrm>
            <a:off x="3276600" y="1347696"/>
            <a:ext cx="5838265"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RISK CONTROL THROUGH EQUITY RISK MODELING</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A dollar neutral Long/Short portfolio leaves the portfolio exposed to a potentially significant amount of risk to various factors including beta differentials, industry/sector exposures, value/growth exposure, and other systematic factors.</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To utilize a more stringent level of risk control in portfolio construction, the long and short portions of the strategy are optimized to reduce risks by incorporating a risk modeling optimizer with the buy and sell lists. This ensures that the long and short positions are constructed with the same aggregate risk characteristics.</a:t>
            </a: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mc:AlternateContent xmlns:mc="http://schemas.openxmlformats.org/markup-compatibility/2006" xmlns:a14="http://schemas.microsoft.com/office/drawing/2010/main">
        <mc:Choice Requires="a14">
          <p:sp>
            <p:nvSpPr>
              <p:cNvPr id="3" name="Rectangle 2"/>
              <p:cNvSpPr/>
              <p:nvPr/>
            </p:nvSpPr>
            <p:spPr>
              <a:xfrm>
                <a:off x="3157992" y="1669134"/>
                <a:ext cx="6213303" cy="471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a:rPr>
                          </m:ctrlPr>
                        </m:sSubPr>
                        <m:e>
                          <m:r>
                            <a:rPr lang="en-US" i="1">
                              <a:latin typeface="Cambria Math"/>
                            </a:rPr>
                            <m:t>𝑅</m:t>
                          </m:r>
                        </m:e>
                        <m:sub>
                          <m:r>
                            <a:rPr lang="en-US" i="1">
                              <a:latin typeface="Cambria Math"/>
                            </a:rPr>
                            <m:t>𝑡</m:t>
                          </m:r>
                        </m:sub>
                      </m:sSub>
                      <m:r>
                        <a:rPr lang="en-US" b="0" i="1" smtClean="0">
                          <a:latin typeface="Cambria Math"/>
                        </a:rPr>
                        <m:t>   </m:t>
                      </m:r>
                      <m:r>
                        <a:rPr lang="en-US" i="1">
                          <a:latin typeface="Cambria Math"/>
                        </a:rPr>
                        <m:t>=</m:t>
                      </m:r>
                      <m:r>
                        <a:rPr lang="en-US" b="0" i="1" smtClean="0">
                          <a:latin typeface="Cambria Math"/>
                        </a:rPr>
                        <m:t>   </m:t>
                      </m:r>
                      <m:r>
                        <a:rPr lang="en-US" i="1">
                          <a:latin typeface="Cambria Math"/>
                        </a:rPr>
                        <m:t>𝛼</m:t>
                      </m:r>
                      <m:r>
                        <a:rPr lang="en-US" i="1">
                          <a:latin typeface="Cambria Math"/>
                        </a:rPr>
                        <m:t>+</m:t>
                      </m:r>
                      <m:sSubSup>
                        <m:sSubSupPr>
                          <m:ctrlPr>
                            <a:rPr lang="en-US" i="1">
                              <a:latin typeface="Cambria Math"/>
                            </a:rPr>
                          </m:ctrlPr>
                        </m:sSubSupPr>
                        <m:e>
                          <m:r>
                            <a:rPr lang="en-US" i="1">
                              <a:latin typeface="Cambria Math"/>
                            </a:rPr>
                            <m:t>𝛽</m:t>
                          </m:r>
                        </m:e>
                        <m:sub>
                          <m:r>
                            <a:rPr lang="en-US" i="1">
                              <a:latin typeface="Cambria Math"/>
                            </a:rPr>
                            <m:t>𝑡</m:t>
                          </m:r>
                        </m:sub>
                        <m:sup>
                          <m:r>
                            <a:rPr lang="en-US" i="1">
                              <a:latin typeface="Cambria Math"/>
                            </a:rPr>
                            <m:t>𝑀</m:t>
                          </m:r>
                        </m:sup>
                      </m:sSubSup>
                      <m:r>
                        <a:rPr lang="en-US" i="1">
                          <a:latin typeface="Cambria Math"/>
                        </a:rPr>
                        <m:t>×</m:t>
                      </m:r>
                      <m:sSub>
                        <m:sSubPr>
                          <m:ctrlPr>
                            <a:rPr lang="en-US" i="1">
                              <a:latin typeface="Cambria Math"/>
                            </a:rPr>
                          </m:ctrlPr>
                        </m:sSubPr>
                        <m:e>
                          <m:r>
                            <a:rPr lang="en-US" i="1">
                              <a:latin typeface="Cambria Math"/>
                            </a:rPr>
                            <m:t>𝑀</m:t>
                          </m:r>
                        </m:e>
                        <m:sub>
                          <m:r>
                            <a:rPr lang="en-US" i="1">
                              <a:latin typeface="Cambria Math"/>
                            </a:rPr>
                            <m:t>𝑡</m:t>
                          </m:r>
                        </m:sub>
                      </m:sSub>
                      <m:r>
                        <a:rPr lang="en-US" b="0" i="1" smtClean="0">
                          <a:latin typeface="Cambria Math"/>
                        </a:rPr>
                        <m:t>   </m:t>
                      </m:r>
                      <m:r>
                        <a:rPr lang="en-US" i="1">
                          <a:latin typeface="Cambria Math"/>
                        </a:rPr>
                        <m:t>+</m:t>
                      </m:r>
                      <m:r>
                        <a:rPr lang="en-US" b="0" i="1" smtClean="0">
                          <a:latin typeface="Cambria Math"/>
                        </a:rPr>
                        <m:t>   </m:t>
                      </m:r>
                      <m:sSubSup>
                        <m:sSubSupPr>
                          <m:ctrlPr>
                            <a:rPr lang="en-US" i="1">
                              <a:latin typeface="Cambria Math"/>
                            </a:rPr>
                          </m:ctrlPr>
                        </m:sSubSupPr>
                        <m:e>
                          <m:r>
                            <a:rPr lang="en-US" i="1">
                              <a:latin typeface="Cambria Math"/>
                            </a:rPr>
                            <m:t>𝛽</m:t>
                          </m:r>
                        </m:e>
                        <m:sub>
                          <m:r>
                            <a:rPr lang="en-US" i="1">
                              <a:latin typeface="Cambria Math"/>
                            </a:rPr>
                            <m:t>𝑡</m:t>
                          </m:r>
                        </m:sub>
                        <m:sup>
                          <m:r>
                            <a:rPr lang="en-US" i="1">
                              <a:latin typeface="Cambria Math"/>
                            </a:rPr>
                            <m:t>𝐼</m:t>
                          </m:r>
                        </m:sup>
                      </m:sSubSup>
                      <m:r>
                        <a:rPr lang="en-US" i="1">
                          <a:latin typeface="Cambria Math"/>
                        </a:rPr>
                        <m:t>×</m:t>
                      </m:r>
                      <m:sSub>
                        <m:sSubPr>
                          <m:ctrlPr>
                            <a:rPr lang="en-US" i="1">
                              <a:latin typeface="Cambria Math"/>
                            </a:rPr>
                          </m:ctrlPr>
                        </m:sSubPr>
                        <m:e>
                          <m:r>
                            <a:rPr lang="en-US" i="1">
                              <a:latin typeface="Cambria Math"/>
                            </a:rPr>
                            <m:t>𝐼</m:t>
                          </m:r>
                        </m:e>
                        <m:sub>
                          <m:r>
                            <a:rPr lang="en-US" i="1">
                              <a:latin typeface="Cambria Math"/>
                            </a:rPr>
                            <m:t>𝑡</m:t>
                          </m:r>
                        </m:sub>
                      </m:sSub>
                      <m:r>
                        <a:rPr lang="en-US" b="0" i="1" smtClean="0">
                          <a:latin typeface="Cambria Math"/>
                        </a:rPr>
                        <m:t>   </m:t>
                      </m:r>
                      <m:r>
                        <a:rPr lang="en-US" i="1">
                          <a:latin typeface="Cambria Math"/>
                        </a:rPr>
                        <m:t>+</m:t>
                      </m:r>
                      <m:r>
                        <a:rPr lang="en-US" b="0" i="1" smtClean="0">
                          <a:latin typeface="Cambria Math"/>
                        </a:rPr>
                        <m:t>   </m:t>
                      </m:r>
                      <m:sSubSup>
                        <m:sSubSupPr>
                          <m:ctrlPr>
                            <a:rPr lang="en-US" i="1">
                              <a:latin typeface="Cambria Math"/>
                            </a:rPr>
                          </m:ctrlPr>
                        </m:sSubSupPr>
                        <m:e>
                          <m:r>
                            <a:rPr lang="en-US" i="1">
                              <a:latin typeface="Cambria Math"/>
                            </a:rPr>
                            <m:t>𝛽</m:t>
                          </m:r>
                        </m:e>
                        <m:sub>
                          <m:r>
                            <a:rPr lang="en-US" i="1">
                              <a:latin typeface="Cambria Math"/>
                            </a:rPr>
                            <m:t>𝑡</m:t>
                          </m:r>
                        </m:sub>
                        <m:sup>
                          <m:r>
                            <a:rPr lang="en-US" i="1">
                              <a:latin typeface="Cambria Math"/>
                            </a:rPr>
                            <m:t>𝐹</m:t>
                          </m:r>
                        </m:sup>
                      </m:sSubSup>
                      <m:r>
                        <a:rPr lang="en-US" i="1">
                          <a:latin typeface="Cambria Math"/>
                        </a:rPr>
                        <m:t>×</m:t>
                      </m:r>
                      <m:sSub>
                        <m:sSubPr>
                          <m:ctrlPr>
                            <a:rPr lang="en-US" i="1">
                              <a:latin typeface="Cambria Math"/>
                            </a:rPr>
                          </m:ctrlPr>
                        </m:sSubPr>
                        <m:e>
                          <m:r>
                            <a:rPr lang="en-US" i="1">
                              <a:latin typeface="Cambria Math"/>
                            </a:rPr>
                            <m:t>𝐹</m:t>
                          </m:r>
                        </m:e>
                        <m:sub>
                          <m:r>
                            <a:rPr lang="en-US" i="1">
                              <a:latin typeface="Cambria Math"/>
                            </a:rPr>
                            <m:t>𝑡</m:t>
                          </m:r>
                        </m:sub>
                      </m:sSub>
                      <m:r>
                        <a:rPr lang="en-US" b="0" i="1" smtClean="0">
                          <a:latin typeface="Cambria Math"/>
                        </a:rPr>
                        <m:t>   </m:t>
                      </m:r>
                      <m:r>
                        <a:rPr lang="en-US" i="1">
                          <a:latin typeface="Cambria Math"/>
                        </a:rPr>
                        <m:t>+</m:t>
                      </m:r>
                      <m:r>
                        <a:rPr lang="en-US" b="0" i="1" smtClean="0">
                          <a:latin typeface="Cambria Math"/>
                        </a:rPr>
                        <m:t>   </m:t>
                      </m:r>
                      <m:sSub>
                        <m:sSubPr>
                          <m:ctrlPr>
                            <a:rPr lang="en-US" i="1">
                              <a:latin typeface="Cambria Math"/>
                            </a:rPr>
                          </m:ctrlPr>
                        </m:sSubPr>
                        <m:e>
                          <m:r>
                            <a:rPr lang="en-US" i="1">
                              <a:latin typeface="Cambria Math"/>
                            </a:rPr>
                            <m:t>𝜀</m:t>
                          </m:r>
                        </m:e>
                        <m:sub>
                          <m:r>
                            <a:rPr lang="en-US" i="1">
                              <a:latin typeface="Cambria Math"/>
                            </a:rPr>
                            <m:t>𝑡</m:t>
                          </m:r>
                        </m:sub>
                      </m:sSub>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3157992" y="1669134"/>
                <a:ext cx="6213303" cy="471732"/>
              </a:xfrm>
              <a:prstGeom prst="rect">
                <a:avLst/>
              </a:prstGeom>
              <a:blipFill rotWithShape="1">
                <a:blip r:embed="rId3"/>
                <a:stretch>
                  <a:fillRect b="-64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944300830"/>
                  </p:ext>
                </p:extLst>
              </p:nvPr>
            </p:nvGraphicFramePr>
            <p:xfrm>
              <a:off x="2864970" y="2431683"/>
              <a:ext cx="6799348" cy="3662680"/>
            </p:xfrm>
            <a:graphic>
              <a:graphicData uri="http://schemas.openxmlformats.org/drawingml/2006/table">
                <a:tbl>
                  <a:tblPr firstRow="1" bandRow="1">
                    <a:tableStyleId>{5C22544A-7EE6-4342-B048-85BDC9FD1C3A}</a:tableStyleId>
                  </a:tblPr>
                  <a:tblGrid>
                    <a:gridCol w="1699837"/>
                    <a:gridCol w="1699837"/>
                    <a:gridCol w="1699837"/>
                    <a:gridCol w="1699837"/>
                  </a:tblGrid>
                  <a:tr h="370840">
                    <a:tc>
                      <a:txBody>
                        <a:bodyPr/>
                        <a:lstStyle/>
                        <a:p>
                          <a:pPr/>
                          <a14:m>
                            <m:oMathPara xmlns:m="http://schemas.openxmlformats.org/officeDocument/2006/math">
                              <m:oMathParaPr>
                                <m:jc m:val="centerGroup"/>
                              </m:oMathParaPr>
                              <m:oMath xmlns:m="http://schemas.openxmlformats.org/officeDocument/2006/math">
                                <m:r>
                                  <a:rPr lang="en-US" sz="1200" b="1" i="1" smtClean="0">
                                    <a:latin typeface="Cambria Math"/>
                                  </a:rPr>
                                  <m:t>𝜶</m:t>
                                </m:r>
                                <m:r>
                                  <a:rPr lang="en-US" sz="1200" b="1" i="1" smtClean="0">
                                    <a:latin typeface="Cambria Math"/>
                                  </a:rPr>
                                  <m:t>+</m:t>
                                </m:r>
                                <m:sSubSup>
                                  <m:sSubSupPr>
                                    <m:ctrlPr>
                                      <a:rPr lang="en-US" sz="1200" b="1" i="1">
                                        <a:latin typeface="Cambria Math"/>
                                      </a:rPr>
                                    </m:ctrlPr>
                                  </m:sSubSupPr>
                                  <m:e>
                                    <m:r>
                                      <a:rPr lang="en-US" sz="1200" b="1" i="1">
                                        <a:latin typeface="Cambria Math"/>
                                      </a:rPr>
                                      <m:t>𝜷</m:t>
                                    </m:r>
                                  </m:e>
                                  <m:sub>
                                    <m:r>
                                      <a:rPr lang="en-US" sz="1200" b="1" i="1">
                                        <a:latin typeface="Cambria Math"/>
                                      </a:rPr>
                                      <m:t>𝒕</m:t>
                                    </m:r>
                                  </m:sub>
                                  <m:sup>
                                    <m:r>
                                      <a:rPr lang="en-US" sz="1200" b="1" i="1">
                                        <a:latin typeface="Cambria Math"/>
                                      </a:rPr>
                                      <m:t>𝑴</m:t>
                                    </m:r>
                                  </m:sup>
                                </m:sSubSup>
                                <m:r>
                                  <a:rPr lang="en-US" sz="1200" b="1" i="1">
                                    <a:latin typeface="Cambria Math"/>
                                  </a:rPr>
                                  <m:t>×</m:t>
                                </m:r>
                                <m:sSub>
                                  <m:sSubPr>
                                    <m:ctrlPr>
                                      <a:rPr lang="en-US" sz="1200" b="1" i="1">
                                        <a:latin typeface="Cambria Math"/>
                                      </a:rPr>
                                    </m:ctrlPr>
                                  </m:sSubPr>
                                  <m:e>
                                    <m:r>
                                      <a:rPr lang="en-US" sz="1200" b="1" i="1">
                                        <a:latin typeface="Cambria Math"/>
                                      </a:rPr>
                                      <m:t>𝑴</m:t>
                                    </m:r>
                                  </m:e>
                                  <m:sub>
                                    <m:r>
                                      <a:rPr lang="en-US" sz="1200" b="1" i="1">
                                        <a:latin typeface="Cambria Math"/>
                                      </a:rPr>
                                      <m:t>𝒕</m:t>
                                    </m:r>
                                  </m:sub>
                                </m:sSub>
                              </m:oMath>
                            </m:oMathPara>
                          </a14:m>
                          <a:endParaRPr lang="en-US" sz="1200" b="1" dirty="0"/>
                        </a:p>
                      </a:txBody>
                      <a:tcPr anchor="ctr"/>
                    </a:tc>
                    <a:tc>
                      <a:txBody>
                        <a:bodyPr/>
                        <a:lstStyle/>
                        <a:p>
                          <a:pPr/>
                          <a14:m>
                            <m:oMathPara xmlns:m="http://schemas.openxmlformats.org/officeDocument/2006/math">
                              <m:oMathParaPr>
                                <m:jc m:val="centerGroup"/>
                              </m:oMathParaPr>
                              <m:oMath xmlns:m="http://schemas.openxmlformats.org/officeDocument/2006/math">
                                <m:sSubSup>
                                  <m:sSubSupPr>
                                    <m:ctrlPr>
                                      <a:rPr lang="en-US" sz="1200" b="1" i="1" smtClean="0">
                                        <a:latin typeface="Cambria Math"/>
                                      </a:rPr>
                                    </m:ctrlPr>
                                  </m:sSubSupPr>
                                  <m:e>
                                    <m:r>
                                      <a:rPr lang="en-US" sz="1200" b="1" i="1">
                                        <a:latin typeface="Cambria Math"/>
                                      </a:rPr>
                                      <m:t>𝜷</m:t>
                                    </m:r>
                                  </m:e>
                                  <m:sub>
                                    <m:r>
                                      <a:rPr lang="en-US" sz="1200" b="1" i="1">
                                        <a:latin typeface="Cambria Math"/>
                                      </a:rPr>
                                      <m:t>𝒕</m:t>
                                    </m:r>
                                  </m:sub>
                                  <m:sup>
                                    <m:r>
                                      <a:rPr lang="en-US" sz="1200" b="1" i="1">
                                        <a:latin typeface="Cambria Math"/>
                                      </a:rPr>
                                      <m:t>𝑰</m:t>
                                    </m:r>
                                  </m:sup>
                                </m:sSubSup>
                                <m:r>
                                  <a:rPr lang="en-US" sz="1200" b="1" i="1">
                                    <a:latin typeface="Cambria Math"/>
                                  </a:rPr>
                                  <m:t>×</m:t>
                                </m:r>
                                <m:sSub>
                                  <m:sSubPr>
                                    <m:ctrlPr>
                                      <a:rPr lang="en-US" sz="1200" b="1" i="1">
                                        <a:latin typeface="Cambria Math"/>
                                      </a:rPr>
                                    </m:ctrlPr>
                                  </m:sSubPr>
                                  <m:e>
                                    <m:r>
                                      <a:rPr lang="en-US" sz="1200" b="1" i="1">
                                        <a:latin typeface="Cambria Math"/>
                                      </a:rPr>
                                      <m:t>𝑰</m:t>
                                    </m:r>
                                  </m:e>
                                  <m:sub>
                                    <m:r>
                                      <a:rPr lang="en-US" sz="1200" b="1" i="1">
                                        <a:latin typeface="Cambria Math"/>
                                      </a:rPr>
                                      <m:t>𝒕</m:t>
                                    </m:r>
                                  </m:sub>
                                </m:sSub>
                              </m:oMath>
                            </m:oMathPara>
                          </a14:m>
                          <a:endParaRPr lang="en-US" sz="1200" b="1" dirty="0"/>
                        </a:p>
                      </a:txBody>
                      <a:tcPr anchor="ctr">
                        <a:solidFill>
                          <a:schemeClr val="accent2"/>
                        </a:solidFill>
                      </a:tcPr>
                    </a:tc>
                    <a:tc>
                      <a:txBody>
                        <a:bodyPr/>
                        <a:lstStyle/>
                        <a:p>
                          <a:pPr/>
                          <a14:m>
                            <m:oMathPara xmlns:m="http://schemas.openxmlformats.org/officeDocument/2006/math">
                              <m:oMathParaPr>
                                <m:jc m:val="centerGroup"/>
                              </m:oMathParaPr>
                              <m:oMath xmlns:m="http://schemas.openxmlformats.org/officeDocument/2006/math">
                                <m:sSubSup>
                                  <m:sSubSupPr>
                                    <m:ctrlPr>
                                      <a:rPr lang="en-US" sz="1200" b="1" i="1" smtClean="0">
                                        <a:latin typeface="Cambria Math"/>
                                      </a:rPr>
                                    </m:ctrlPr>
                                  </m:sSubSupPr>
                                  <m:e>
                                    <m:r>
                                      <a:rPr lang="en-US" sz="1200" b="1" i="1">
                                        <a:latin typeface="Cambria Math"/>
                                      </a:rPr>
                                      <m:t>𝜷</m:t>
                                    </m:r>
                                  </m:e>
                                  <m:sub>
                                    <m:r>
                                      <a:rPr lang="en-US" sz="1200" b="1" i="1">
                                        <a:latin typeface="Cambria Math"/>
                                      </a:rPr>
                                      <m:t>𝒕</m:t>
                                    </m:r>
                                  </m:sub>
                                  <m:sup>
                                    <m:r>
                                      <a:rPr lang="en-US" sz="1200" b="1" i="1">
                                        <a:latin typeface="Cambria Math"/>
                                      </a:rPr>
                                      <m:t>𝑭</m:t>
                                    </m:r>
                                  </m:sup>
                                </m:sSubSup>
                                <m:r>
                                  <a:rPr lang="en-US" sz="1200" b="1" i="1">
                                    <a:latin typeface="Cambria Math"/>
                                  </a:rPr>
                                  <m:t>×</m:t>
                                </m:r>
                                <m:sSub>
                                  <m:sSubPr>
                                    <m:ctrlPr>
                                      <a:rPr lang="en-US" sz="1200" b="1" i="1">
                                        <a:latin typeface="Cambria Math"/>
                                      </a:rPr>
                                    </m:ctrlPr>
                                  </m:sSubPr>
                                  <m:e>
                                    <m:r>
                                      <a:rPr lang="en-US" sz="1200" b="1" i="1">
                                        <a:latin typeface="Cambria Math"/>
                                      </a:rPr>
                                      <m:t>𝑭</m:t>
                                    </m:r>
                                  </m:e>
                                  <m:sub>
                                    <m:r>
                                      <a:rPr lang="en-US" sz="1200" b="1" i="1">
                                        <a:latin typeface="Cambria Math"/>
                                      </a:rPr>
                                      <m:t>𝒕</m:t>
                                    </m:r>
                                  </m:sub>
                                </m:sSub>
                              </m:oMath>
                            </m:oMathPara>
                          </a14:m>
                          <a:endParaRPr lang="en-US" sz="1200" b="1" dirty="0"/>
                        </a:p>
                      </a:txBody>
                      <a:tcPr anchor="ctr">
                        <a:solidFill>
                          <a:schemeClr val="accent3"/>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1200" b="1" i="1" smtClean="0">
                                        <a:latin typeface="Cambria Math"/>
                                      </a:rPr>
                                    </m:ctrlPr>
                                  </m:sSubPr>
                                  <m:e>
                                    <m:r>
                                      <a:rPr lang="en-US" sz="1200" b="1" i="1">
                                        <a:latin typeface="Cambria Math"/>
                                      </a:rPr>
                                      <m:t>𝜺</m:t>
                                    </m:r>
                                  </m:e>
                                  <m:sub>
                                    <m:r>
                                      <a:rPr lang="en-US" sz="1200" b="1" i="1">
                                        <a:latin typeface="Cambria Math"/>
                                      </a:rPr>
                                      <m:t>𝒕</m:t>
                                    </m:r>
                                  </m:sub>
                                </m:sSub>
                              </m:oMath>
                            </m:oMathPara>
                          </a14:m>
                          <a:endParaRPr lang="en-US" sz="1200" b="1" dirty="0"/>
                        </a:p>
                      </a:txBody>
                      <a:tcPr anchor="ctr">
                        <a:solidFill>
                          <a:schemeClr val="accent4"/>
                        </a:solidFill>
                      </a:tcPr>
                    </a:tc>
                  </a:tr>
                  <a:tr h="370840">
                    <a:tc>
                      <a:txBody>
                        <a:bodyPr/>
                        <a:lstStyle/>
                        <a:p>
                          <a:pPr algn="ctr"/>
                          <a:r>
                            <a:rPr lang="en-US" sz="1200" dirty="0" smtClean="0"/>
                            <a:t>General Market Movements</a:t>
                          </a:r>
                          <a:endParaRPr lang="en-US" sz="1200" dirty="0"/>
                        </a:p>
                      </a:txBody>
                      <a:tcPr anchor="ctr"/>
                    </a:tc>
                    <a:tc>
                      <a:txBody>
                        <a:bodyPr/>
                        <a:lstStyle/>
                        <a:p>
                          <a:pPr algn="ctr"/>
                          <a:r>
                            <a:rPr lang="en-US" sz="1200" dirty="0" smtClean="0"/>
                            <a:t>Industry Membership</a:t>
                          </a:r>
                          <a:endParaRPr lang="en-US" sz="1200" dirty="0"/>
                        </a:p>
                      </a:txBody>
                      <a:tcPr anchor="ctr"/>
                    </a:tc>
                    <a:tc>
                      <a:txBody>
                        <a:bodyPr/>
                        <a:lstStyle/>
                        <a:p>
                          <a:pPr algn="ctr"/>
                          <a:r>
                            <a:rPr lang="en-US" sz="1200" dirty="0" smtClean="0"/>
                            <a:t>Exposure to </a:t>
                          </a:r>
                        </a:p>
                        <a:p>
                          <a:pPr algn="ctr"/>
                          <a:r>
                            <a:rPr lang="en-US" sz="1200" dirty="0" smtClean="0"/>
                            <a:t>Systematic Factors</a:t>
                          </a:r>
                          <a:endParaRPr lang="en-US" sz="1200" dirty="0"/>
                        </a:p>
                      </a:txBody>
                      <a:tcPr anchor="ctr"/>
                    </a:tc>
                    <a:tc>
                      <a:txBody>
                        <a:bodyPr/>
                        <a:lstStyle/>
                        <a:p>
                          <a:pPr algn="ctr"/>
                          <a:r>
                            <a:rPr lang="en-US" sz="1200" dirty="0" smtClean="0"/>
                            <a:t>Firm-Specific Return</a:t>
                          </a:r>
                          <a:endParaRPr lang="en-US" sz="1200" dirty="0"/>
                        </a:p>
                      </a:txBody>
                      <a:tcPr anchor="ctr"/>
                    </a:tc>
                  </a:tr>
                  <a:tr h="370840">
                    <a:tc>
                      <a:txBody>
                        <a:bodyPr/>
                        <a:lstStyle/>
                        <a:p>
                          <a:r>
                            <a:rPr lang="en-US" sz="1200" kern="1200" dirty="0" smtClean="0">
                              <a:solidFill>
                                <a:schemeClr val="dk1"/>
                              </a:solidFill>
                              <a:effectLst/>
                              <a:latin typeface="+mn-lt"/>
                              <a:ea typeface="+mn-ea"/>
                              <a:cs typeface="+mn-cs"/>
                            </a:rPr>
                            <a:t>This portion of return is attributable to general market movements. </a:t>
                          </a:r>
                        </a:p>
                        <a:p>
                          <a:endParaRPr lang="en-US" sz="1200" kern="1200" dirty="0" smtClean="0">
                            <a:solidFill>
                              <a:schemeClr val="dk1"/>
                            </a:solidFill>
                            <a:effectLst/>
                            <a:latin typeface="+mn-lt"/>
                            <a:ea typeface="+mn-ea"/>
                            <a:cs typeface="+mn-cs"/>
                          </a:endParaRPr>
                        </a:p>
                        <a:p>
                          <a:r>
                            <a:rPr lang="en-US" sz="1200" kern="1200" dirty="0" smtClean="0">
                              <a:solidFill>
                                <a:schemeClr val="dk1"/>
                              </a:solidFill>
                              <a:effectLst/>
                              <a:latin typeface="+mn-lt"/>
                              <a:ea typeface="+mn-ea"/>
                              <a:cs typeface="+mn-cs"/>
                            </a:rPr>
                            <a:t>It consists of a market drift term α, which is the return that all stocks earn just for being a stock that month.</a:t>
                          </a:r>
                        </a:p>
                        <a:p>
                          <a:endParaRPr lang="en-US" sz="1200" kern="1200" dirty="0" smtClean="0">
                            <a:solidFill>
                              <a:schemeClr val="dk1"/>
                            </a:solidFill>
                            <a:effectLst/>
                            <a:latin typeface="+mn-lt"/>
                            <a:ea typeface="+mn-ea"/>
                            <a:cs typeface="+mn-cs"/>
                          </a:endParaRPr>
                        </a:p>
                        <a:p>
                          <a:r>
                            <a:rPr lang="en-US" sz="1200" kern="1200" dirty="0" smtClean="0">
                              <a:solidFill>
                                <a:schemeClr val="dk1"/>
                              </a:solidFill>
                              <a:effectLst/>
                              <a:latin typeface="+mn-lt"/>
                              <a:ea typeface="+mn-ea"/>
                              <a:cs typeface="+mn-cs"/>
                            </a:rPr>
                            <a:t>Plus the incremental return associated with the stock’s normalized beta.</a:t>
                          </a:r>
                        </a:p>
                        <a:p>
                          <a:endParaRPr lang="en-US" sz="1200" dirty="0"/>
                        </a:p>
                      </a:txBody>
                      <a:tcPr/>
                    </a:tc>
                    <a:tc>
                      <a:txBody>
                        <a:bodyPr/>
                        <a:lstStyle/>
                        <a:p>
                          <a:r>
                            <a:rPr lang="en-US" sz="1200" kern="1200" dirty="0" smtClean="0">
                              <a:solidFill>
                                <a:schemeClr val="dk1"/>
                              </a:solidFill>
                              <a:effectLst/>
                              <a:latin typeface="+mn-lt"/>
                              <a:ea typeface="+mn-ea"/>
                              <a:cs typeface="+mn-cs"/>
                            </a:rPr>
                            <a:t>A portion of the return flows from the stock’s industry membership.</a:t>
                          </a:r>
                        </a:p>
                        <a:p>
                          <a:endParaRPr lang="en-US" sz="1200" kern="1200" dirty="0" smtClean="0">
                            <a:solidFill>
                              <a:schemeClr val="dk1"/>
                            </a:solidFill>
                            <a:effectLst/>
                            <a:latin typeface="+mn-lt"/>
                            <a:ea typeface="+mn-ea"/>
                            <a:cs typeface="+mn-cs"/>
                          </a:endParaRPr>
                        </a:p>
                        <a:p>
                          <a:r>
                            <a:rPr lang="en-US" sz="1200" kern="1200" dirty="0" smtClean="0">
                              <a:solidFill>
                                <a:schemeClr val="dk1"/>
                              </a:solidFill>
                              <a:effectLst/>
                              <a:latin typeface="+mn-lt"/>
                              <a:ea typeface="+mn-ea"/>
                              <a:cs typeface="+mn-cs"/>
                            </a:rPr>
                            <a:t>This portion equals the returns attributable to industry membership after controlling for market movements and the</a:t>
                          </a:r>
                          <a:r>
                            <a:rPr lang="en-US" sz="1200" kern="1200" baseline="0" dirty="0" smtClean="0">
                              <a:solidFill>
                                <a:schemeClr val="dk1"/>
                              </a:solidFill>
                              <a:effectLst/>
                              <a:latin typeface="+mn-lt"/>
                              <a:ea typeface="+mn-ea"/>
                              <a:cs typeface="+mn-cs"/>
                            </a:rPr>
                            <a:t> market beta</a:t>
                          </a:r>
                          <a:r>
                            <a:rPr lang="en-US" sz="1200" kern="1200" dirty="0" smtClean="0">
                              <a:solidFill>
                                <a:schemeClr val="dk1"/>
                              </a:solidFill>
                              <a:effectLst/>
                              <a:latin typeface="+mn-lt"/>
                              <a:ea typeface="+mn-ea"/>
                              <a:cs typeface="+mn-cs"/>
                            </a:rPr>
                            <a:t> exposure.</a:t>
                          </a:r>
                        </a:p>
                      </a:txBody>
                      <a:tcPr/>
                    </a:tc>
                    <a:tc>
                      <a:txBody>
                        <a:bodyPr/>
                        <a:lstStyle/>
                        <a:p>
                          <a:r>
                            <a:rPr lang="en-US" sz="1200" kern="1200" dirty="0" smtClean="0">
                              <a:solidFill>
                                <a:schemeClr val="dk1"/>
                              </a:solidFill>
                              <a:effectLst/>
                              <a:latin typeface="+mn-lt"/>
                              <a:ea typeface="+mn-ea"/>
                              <a:cs typeface="+mn-cs"/>
                            </a:rPr>
                            <a:t>Returns from systematic factors arise from characteristics such as P/E, volatility, momentum, growth</a:t>
                          </a:r>
                          <a:r>
                            <a:rPr lang="en-US" sz="1200" kern="1200" baseline="0" dirty="0" smtClean="0">
                              <a:solidFill>
                                <a:schemeClr val="dk1"/>
                              </a:solidFill>
                              <a:effectLst/>
                              <a:latin typeface="+mn-lt"/>
                              <a:ea typeface="+mn-ea"/>
                              <a:cs typeface="+mn-cs"/>
                            </a:rPr>
                            <a:t> </a:t>
                          </a:r>
                          <a:r>
                            <a:rPr lang="en-US" sz="1200" kern="1200" dirty="0" smtClean="0">
                              <a:solidFill>
                                <a:schemeClr val="dk1"/>
                              </a:solidFill>
                              <a:effectLst/>
                              <a:latin typeface="+mn-lt"/>
                              <a:ea typeface="+mn-ea"/>
                              <a:cs typeface="+mn-cs"/>
                            </a:rPr>
                            <a:t>orientation, and capitalization.</a:t>
                          </a:r>
                        </a:p>
                        <a:p>
                          <a:endParaRPr lang="en-US" sz="1200" kern="1200" dirty="0" smtClean="0">
                            <a:solidFill>
                              <a:schemeClr val="dk1"/>
                            </a:solidFill>
                            <a:effectLst/>
                            <a:latin typeface="+mn-lt"/>
                            <a:ea typeface="+mn-ea"/>
                            <a:cs typeface="+mn-cs"/>
                          </a:endParaRPr>
                        </a:p>
                        <a:p>
                          <a:endParaRPr lang="en-US" sz="1200" kern="1200" dirty="0" smtClean="0">
                            <a:solidFill>
                              <a:schemeClr val="dk1"/>
                            </a:solidFill>
                            <a:effectLst/>
                            <a:latin typeface="+mn-lt"/>
                            <a:ea typeface="+mn-ea"/>
                            <a:cs typeface="+mn-cs"/>
                          </a:endParaRPr>
                        </a:p>
                      </a:txBody>
                      <a:tcPr/>
                    </a:tc>
                    <a:tc>
                      <a:txBody>
                        <a:bodyPr/>
                        <a:lstStyle/>
                        <a:p>
                          <a:r>
                            <a:rPr lang="en-US" sz="1200" kern="1200" dirty="0" smtClean="0">
                              <a:solidFill>
                                <a:schemeClr val="dk1"/>
                              </a:solidFill>
                              <a:effectLst/>
                              <a:latin typeface="+mn-lt"/>
                              <a:ea typeface="+mn-ea"/>
                              <a:cs typeface="+mn-cs"/>
                            </a:rPr>
                            <a:t>This portion is unrelated to general market moves, industry membership, or systematic factors. </a:t>
                          </a:r>
                        </a:p>
                        <a:p>
                          <a:endParaRPr lang="en-US" sz="1200" kern="1200" dirty="0" smtClean="0">
                            <a:solidFill>
                              <a:schemeClr val="dk1"/>
                            </a:solidFill>
                            <a:effectLst/>
                            <a:latin typeface="+mn-lt"/>
                            <a:ea typeface="+mn-ea"/>
                            <a:cs typeface="+mn-cs"/>
                          </a:endParaRPr>
                        </a:p>
                        <a:p>
                          <a:r>
                            <a:rPr lang="en-US" sz="1200" kern="1200" dirty="0" smtClean="0">
                              <a:solidFill>
                                <a:schemeClr val="dk1"/>
                              </a:solidFill>
                              <a:effectLst/>
                              <a:latin typeface="+mn-lt"/>
                              <a:ea typeface="+mn-ea"/>
                              <a:cs typeface="+mn-cs"/>
                            </a:rPr>
                            <a:t>ε is therefore unique or specific to the company. </a:t>
                          </a:r>
                        </a:p>
                        <a:p>
                          <a:endParaRPr lang="en-US" sz="1200" kern="1200" dirty="0" smtClean="0">
                            <a:solidFill>
                              <a:schemeClr val="dk1"/>
                            </a:solidFill>
                            <a:effectLst/>
                            <a:latin typeface="+mn-lt"/>
                            <a:ea typeface="+mn-ea"/>
                            <a:cs typeface="+mn-cs"/>
                          </a:endParaRPr>
                        </a:p>
                      </a:txBody>
                      <a:tcPr/>
                    </a:tc>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944300830"/>
                  </p:ext>
                </p:extLst>
              </p:nvPr>
            </p:nvGraphicFramePr>
            <p:xfrm>
              <a:off x="2864970" y="2431683"/>
              <a:ext cx="6799348" cy="3662680"/>
            </p:xfrm>
            <a:graphic>
              <a:graphicData uri="http://schemas.openxmlformats.org/drawingml/2006/table">
                <a:tbl>
                  <a:tblPr firstRow="1" bandRow="1">
                    <a:tableStyleId>{5C22544A-7EE6-4342-B048-85BDC9FD1C3A}</a:tableStyleId>
                  </a:tblPr>
                  <a:tblGrid>
                    <a:gridCol w="1699837"/>
                    <a:gridCol w="1699837"/>
                    <a:gridCol w="1699837"/>
                    <a:gridCol w="1699837"/>
                  </a:tblGrid>
                  <a:tr h="370840">
                    <a:tc>
                      <a:txBody>
                        <a:bodyPr/>
                        <a:lstStyle/>
                        <a:p>
                          <a:endParaRPr lang="en-US"/>
                        </a:p>
                      </a:txBody>
                      <a:tcPr anchor="ctr">
                        <a:blipFill rotWithShape="1">
                          <a:blip r:embed="rId4"/>
                          <a:stretch>
                            <a:fillRect l="-358" t="-1639" r="-300000" b="-885246"/>
                          </a:stretch>
                        </a:blipFill>
                      </a:tcPr>
                    </a:tc>
                    <a:tc>
                      <a:txBody>
                        <a:bodyPr/>
                        <a:lstStyle/>
                        <a:p>
                          <a:endParaRPr lang="en-US"/>
                        </a:p>
                      </a:txBody>
                      <a:tcPr anchor="ctr">
                        <a:blipFill rotWithShape="1">
                          <a:blip r:embed="rId4"/>
                          <a:stretch>
                            <a:fillRect l="-100358" t="-1639" r="-200000" b="-885246"/>
                          </a:stretch>
                        </a:blipFill>
                      </a:tcPr>
                    </a:tc>
                    <a:tc>
                      <a:txBody>
                        <a:bodyPr/>
                        <a:lstStyle/>
                        <a:p>
                          <a:endParaRPr lang="en-US"/>
                        </a:p>
                      </a:txBody>
                      <a:tcPr anchor="ctr">
                        <a:blipFill rotWithShape="1">
                          <a:blip r:embed="rId4"/>
                          <a:stretch>
                            <a:fillRect l="-201079" t="-1639" r="-100719" b="-885246"/>
                          </a:stretch>
                        </a:blipFill>
                      </a:tcPr>
                    </a:tc>
                    <a:tc>
                      <a:txBody>
                        <a:bodyPr/>
                        <a:lstStyle/>
                        <a:p>
                          <a:endParaRPr lang="en-US"/>
                        </a:p>
                      </a:txBody>
                      <a:tcPr anchor="ctr">
                        <a:blipFill rotWithShape="1">
                          <a:blip r:embed="rId4"/>
                          <a:stretch>
                            <a:fillRect l="-300000" t="-1639" r="-358" b="-885246"/>
                          </a:stretch>
                        </a:blipFill>
                      </a:tcPr>
                    </a:tc>
                  </a:tr>
                  <a:tr h="457200">
                    <a:tc>
                      <a:txBody>
                        <a:bodyPr/>
                        <a:lstStyle/>
                        <a:p>
                          <a:pPr algn="ctr"/>
                          <a:r>
                            <a:rPr lang="en-US" sz="1200" dirty="0" smtClean="0"/>
                            <a:t>General Market Movements</a:t>
                          </a:r>
                          <a:endParaRPr lang="en-US" sz="1200" dirty="0"/>
                        </a:p>
                      </a:txBody>
                      <a:tcPr anchor="ctr"/>
                    </a:tc>
                    <a:tc>
                      <a:txBody>
                        <a:bodyPr/>
                        <a:lstStyle/>
                        <a:p>
                          <a:pPr algn="ctr"/>
                          <a:r>
                            <a:rPr lang="en-US" sz="1200" dirty="0" smtClean="0"/>
                            <a:t>Industry Membership</a:t>
                          </a:r>
                          <a:endParaRPr lang="en-US" sz="1200" dirty="0"/>
                        </a:p>
                      </a:txBody>
                      <a:tcPr anchor="ctr"/>
                    </a:tc>
                    <a:tc>
                      <a:txBody>
                        <a:bodyPr/>
                        <a:lstStyle/>
                        <a:p>
                          <a:pPr algn="ctr"/>
                          <a:r>
                            <a:rPr lang="en-US" sz="1200" dirty="0" smtClean="0"/>
                            <a:t>Exposure to </a:t>
                          </a:r>
                        </a:p>
                        <a:p>
                          <a:pPr algn="ctr"/>
                          <a:r>
                            <a:rPr lang="en-US" sz="1200" dirty="0" smtClean="0"/>
                            <a:t>Systematic Factors</a:t>
                          </a:r>
                          <a:endParaRPr lang="en-US" sz="1200" dirty="0"/>
                        </a:p>
                      </a:txBody>
                      <a:tcPr anchor="ctr"/>
                    </a:tc>
                    <a:tc>
                      <a:txBody>
                        <a:bodyPr/>
                        <a:lstStyle/>
                        <a:p>
                          <a:pPr algn="ctr"/>
                          <a:r>
                            <a:rPr lang="en-US" sz="1200" dirty="0" smtClean="0"/>
                            <a:t>Firm-Specific Return</a:t>
                          </a:r>
                          <a:endParaRPr lang="en-US" sz="1200" dirty="0"/>
                        </a:p>
                      </a:txBody>
                      <a:tcPr anchor="ctr"/>
                    </a:tc>
                  </a:tr>
                  <a:tr h="2834640">
                    <a:tc>
                      <a:txBody>
                        <a:bodyPr/>
                        <a:lstStyle/>
                        <a:p>
                          <a:r>
                            <a:rPr lang="en-US" sz="1200" kern="1200" dirty="0" smtClean="0">
                              <a:solidFill>
                                <a:schemeClr val="dk1"/>
                              </a:solidFill>
                              <a:effectLst/>
                              <a:latin typeface="+mn-lt"/>
                              <a:ea typeface="+mn-ea"/>
                              <a:cs typeface="+mn-cs"/>
                            </a:rPr>
                            <a:t>This portion of return is attributable to general market movements. </a:t>
                          </a:r>
                        </a:p>
                        <a:p>
                          <a:endParaRPr lang="en-US" sz="1200" kern="1200" dirty="0" smtClean="0">
                            <a:solidFill>
                              <a:schemeClr val="dk1"/>
                            </a:solidFill>
                            <a:effectLst/>
                            <a:latin typeface="+mn-lt"/>
                            <a:ea typeface="+mn-ea"/>
                            <a:cs typeface="+mn-cs"/>
                          </a:endParaRPr>
                        </a:p>
                        <a:p>
                          <a:r>
                            <a:rPr lang="en-US" sz="1200" kern="1200" dirty="0" smtClean="0">
                              <a:solidFill>
                                <a:schemeClr val="dk1"/>
                              </a:solidFill>
                              <a:effectLst/>
                              <a:latin typeface="+mn-lt"/>
                              <a:ea typeface="+mn-ea"/>
                              <a:cs typeface="+mn-cs"/>
                            </a:rPr>
                            <a:t>It consists of a market drift term α, which is the return that all stocks earn just for being a stock that month.</a:t>
                          </a:r>
                        </a:p>
                        <a:p>
                          <a:endParaRPr lang="en-US" sz="1200" kern="1200" dirty="0" smtClean="0">
                            <a:solidFill>
                              <a:schemeClr val="dk1"/>
                            </a:solidFill>
                            <a:effectLst/>
                            <a:latin typeface="+mn-lt"/>
                            <a:ea typeface="+mn-ea"/>
                            <a:cs typeface="+mn-cs"/>
                          </a:endParaRPr>
                        </a:p>
                        <a:p>
                          <a:r>
                            <a:rPr lang="en-US" sz="1200" kern="1200" dirty="0" smtClean="0">
                              <a:solidFill>
                                <a:schemeClr val="dk1"/>
                              </a:solidFill>
                              <a:effectLst/>
                              <a:latin typeface="+mn-lt"/>
                              <a:ea typeface="+mn-ea"/>
                              <a:cs typeface="+mn-cs"/>
                            </a:rPr>
                            <a:t>Plus the incremental return associated with the stock’s normalized beta.</a:t>
                          </a:r>
                        </a:p>
                        <a:p>
                          <a:endParaRPr lang="en-US" sz="1200" dirty="0"/>
                        </a:p>
                      </a:txBody>
                      <a:tcPr/>
                    </a:tc>
                    <a:tc>
                      <a:txBody>
                        <a:bodyPr/>
                        <a:lstStyle/>
                        <a:p>
                          <a:r>
                            <a:rPr lang="en-US" sz="1200" kern="1200" dirty="0" smtClean="0">
                              <a:solidFill>
                                <a:schemeClr val="dk1"/>
                              </a:solidFill>
                              <a:effectLst/>
                              <a:latin typeface="+mn-lt"/>
                              <a:ea typeface="+mn-ea"/>
                              <a:cs typeface="+mn-cs"/>
                            </a:rPr>
                            <a:t>A portion </a:t>
                          </a:r>
                          <a:r>
                            <a:rPr lang="en-US" sz="1200" kern="1200" dirty="0" smtClean="0">
                              <a:solidFill>
                                <a:schemeClr val="dk1"/>
                              </a:solidFill>
                              <a:effectLst/>
                              <a:latin typeface="+mn-lt"/>
                              <a:ea typeface="+mn-ea"/>
                              <a:cs typeface="+mn-cs"/>
                            </a:rPr>
                            <a:t>of the return flows </a:t>
                          </a:r>
                          <a:r>
                            <a:rPr lang="en-US" sz="1200" kern="1200" dirty="0" smtClean="0">
                              <a:solidFill>
                                <a:schemeClr val="dk1"/>
                              </a:solidFill>
                              <a:effectLst/>
                              <a:latin typeface="+mn-lt"/>
                              <a:ea typeface="+mn-ea"/>
                              <a:cs typeface="+mn-cs"/>
                            </a:rPr>
                            <a:t>from </a:t>
                          </a:r>
                          <a:r>
                            <a:rPr lang="en-US" sz="1200" kern="1200" dirty="0" smtClean="0">
                              <a:solidFill>
                                <a:schemeClr val="dk1"/>
                              </a:solidFill>
                              <a:effectLst/>
                              <a:latin typeface="+mn-lt"/>
                              <a:ea typeface="+mn-ea"/>
                              <a:cs typeface="+mn-cs"/>
                            </a:rPr>
                            <a:t>the stock’s </a:t>
                          </a:r>
                          <a:r>
                            <a:rPr lang="en-US" sz="1200" kern="1200" dirty="0" smtClean="0">
                              <a:solidFill>
                                <a:schemeClr val="dk1"/>
                              </a:solidFill>
                              <a:effectLst/>
                              <a:latin typeface="+mn-lt"/>
                              <a:ea typeface="+mn-ea"/>
                              <a:cs typeface="+mn-cs"/>
                            </a:rPr>
                            <a:t>industry membership.</a:t>
                          </a:r>
                        </a:p>
                        <a:p>
                          <a:endParaRPr lang="en-US" sz="1200" kern="1200" dirty="0" smtClean="0">
                            <a:solidFill>
                              <a:schemeClr val="dk1"/>
                            </a:solidFill>
                            <a:effectLst/>
                            <a:latin typeface="+mn-lt"/>
                            <a:ea typeface="+mn-ea"/>
                            <a:cs typeface="+mn-cs"/>
                          </a:endParaRPr>
                        </a:p>
                        <a:p>
                          <a:r>
                            <a:rPr lang="en-US" sz="1200" kern="1200" dirty="0" smtClean="0">
                              <a:solidFill>
                                <a:schemeClr val="dk1"/>
                              </a:solidFill>
                              <a:effectLst/>
                              <a:latin typeface="+mn-lt"/>
                              <a:ea typeface="+mn-ea"/>
                              <a:cs typeface="+mn-cs"/>
                            </a:rPr>
                            <a:t>This </a:t>
                          </a:r>
                          <a:r>
                            <a:rPr lang="en-US" sz="1200" kern="1200" dirty="0" smtClean="0">
                              <a:solidFill>
                                <a:schemeClr val="dk1"/>
                              </a:solidFill>
                              <a:effectLst/>
                              <a:latin typeface="+mn-lt"/>
                              <a:ea typeface="+mn-ea"/>
                              <a:cs typeface="+mn-cs"/>
                            </a:rPr>
                            <a:t>portion equals the returns attributable to industry membership after controlling for market movements and </a:t>
                          </a:r>
                          <a:r>
                            <a:rPr lang="en-US" sz="1200" kern="1200" dirty="0" smtClean="0">
                              <a:solidFill>
                                <a:schemeClr val="dk1"/>
                              </a:solidFill>
                              <a:effectLst/>
                              <a:latin typeface="+mn-lt"/>
                              <a:ea typeface="+mn-ea"/>
                              <a:cs typeface="+mn-cs"/>
                            </a:rPr>
                            <a:t>the</a:t>
                          </a:r>
                          <a:r>
                            <a:rPr lang="en-US" sz="1200" kern="1200" baseline="0" dirty="0" smtClean="0">
                              <a:solidFill>
                                <a:schemeClr val="dk1"/>
                              </a:solidFill>
                              <a:effectLst/>
                              <a:latin typeface="+mn-lt"/>
                              <a:ea typeface="+mn-ea"/>
                              <a:cs typeface="+mn-cs"/>
                            </a:rPr>
                            <a:t> market beta</a:t>
                          </a:r>
                          <a:r>
                            <a:rPr lang="en-US" sz="1200" kern="1200" dirty="0" smtClean="0">
                              <a:solidFill>
                                <a:schemeClr val="dk1"/>
                              </a:solidFill>
                              <a:effectLst/>
                              <a:latin typeface="+mn-lt"/>
                              <a:ea typeface="+mn-ea"/>
                              <a:cs typeface="+mn-cs"/>
                            </a:rPr>
                            <a:t> </a:t>
                          </a:r>
                          <a:r>
                            <a:rPr lang="en-US" sz="1200" kern="1200" dirty="0" smtClean="0">
                              <a:solidFill>
                                <a:schemeClr val="dk1"/>
                              </a:solidFill>
                              <a:effectLst/>
                              <a:latin typeface="+mn-lt"/>
                              <a:ea typeface="+mn-ea"/>
                              <a:cs typeface="+mn-cs"/>
                            </a:rPr>
                            <a:t>exposure.</a:t>
                          </a:r>
                        </a:p>
                      </a:txBody>
                      <a:tcPr/>
                    </a:tc>
                    <a:tc>
                      <a:txBody>
                        <a:bodyPr/>
                        <a:lstStyle/>
                        <a:p>
                          <a:r>
                            <a:rPr lang="en-US" sz="1200" kern="1200" dirty="0" smtClean="0">
                              <a:solidFill>
                                <a:schemeClr val="dk1"/>
                              </a:solidFill>
                              <a:effectLst/>
                              <a:latin typeface="+mn-lt"/>
                              <a:ea typeface="+mn-ea"/>
                              <a:cs typeface="+mn-cs"/>
                            </a:rPr>
                            <a:t>Returns from systematic factors arise from characteristics such as P/E, volatility, momentum, growth</a:t>
                          </a:r>
                          <a:r>
                            <a:rPr lang="en-US" sz="1200" kern="1200" baseline="0" dirty="0" smtClean="0">
                              <a:solidFill>
                                <a:schemeClr val="dk1"/>
                              </a:solidFill>
                              <a:effectLst/>
                              <a:latin typeface="+mn-lt"/>
                              <a:ea typeface="+mn-ea"/>
                              <a:cs typeface="+mn-cs"/>
                            </a:rPr>
                            <a:t> </a:t>
                          </a:r>
                          <a:r>
                            <a:rPr lang="en-US" sz="1200" kern="1200" dirty="0" smtClean="0">
                              <a:solidFill>
                                <a:schemeClr val="dk1"/>
                              </a:solidFill>
                              <a:effectLst/>
                              <a:latin typeface="+mn-lt"/>
                              <a:ea typeface="+mn-ea"/>
                              <a:cs typeface="+mn-cs"/>
                            </a:rPr>
                            <a:t>orientation, and capitalization.</a:t>
                          </a:r>
                        </a:p>
                        <a:p>
                          <a:endParaRPr lang="en-US" sz="1200" kern="1200" dirty="0" smtClean="0">
                            <a:solidFill>
                              <a:schemeClr val="dk1"/>
                            </a:solidFill>
                            <a:effectLst/>
                            <a:latin typeface="+mn-lt"/>
                            <a:ea typeface="+mn-ea"/>
                            <a:cs typeface="+mn-cs"/>
                          </a:endParaRPr>
                        </a:p>
                        <a:p>
                          <a:endParaRPr lang="en-US" sz="1200" kern="1200" dirty="0" smtClean="0">
                            <a:solidFill>
                              <a:schemeClr val="dk1"/>
                            </a:solidFill>
                            <a:effectLst/>
                            <a:latin typeface="+mn-lt"/>
                            <a:ea typeface="+mn-ea"/>
                            <a:cs typeface="+mn-cs"/>
                          </a:endParaRPr>
                        </a:p>
                      </a:txBody>
                      <a:tcPr/>
                    </a:tc>
                    <a:tc>
                      <a:txBody>
                        <a:bodyPr/>
                        <a:lstStyle/>
                        <a:p>
                          <a:r>
                            <a:rPr lang="en-US" sz="1200" kern="1200" dirty="0" smtClean="0">
                              <a:solidFill>
                                <a:schemeClr val="dk1"/>
                              </a:solidFill>
                              <a:effectLst/>
                              <a:latin typeface="+mn-lt"/>
                              <a:ea typeface="+mn-ea"/>
                              <a:cs typeface="+mn-cs"/>
                            </a:rPr>
                            <a:t>This portion is unrelated to general market moves, industry membership, or systematic factors. </a:t>
                          </a:r>
                        </a:p>
                        <a:p>
                          <a:endParaRPr lang="en-US" sz="1200" kern="1200" dirty="0" smtClean="0">
                            <a:solidFill>
                              <a:schemeClr val="dk1"/>
                            </a:solidFill>
                            <a:effectLst/>
                            <a:latin typeface="+mn-lt"/>
                            <a:ea typeface="+mn-ea"/>
                            <a:cs typeface="+mn-cs"/>
                          </a:endParaRPr>
                        </a:p>
                        <a:p>
                          <a:r>
                            <a:rPr lang="en-US" sz="1200" kern="1200" dirty="0" smtClean="0">
                              <a:solidFill>
                                <a:schemeClr val="dk1"/>
                              </a:solidFill>
                              <a:effectLst/>
                              <a:latin typeface="+mn-lt"/>
                              <a:ea typeface="+mn-ea"/>
                              <a:cs typeface="+mn-cs"/>
                            </a:rPr>
                            <a:t>ε is therefore unique or specific to the company. </a:t>
                          </a:r>
                        </a:p>
                        <a:p>
                          <a:endParaRPr lang="en-US" sz="1200" kern="1200" dirty="0" smtClean="0">
                            <a:solidFill>
                              <a:schemeClr val="dk1"/>
                            </a:solidFill>
                            <a:effectLst/>
                            <a:latin typeface="+mn-lt"/>
                            <a:ea typeface="+mn-ea"/>
                            <a:cs typeface="+mn-cs"/>
                          </a:endParaRPr>
                        </a:p>
                      </a:txBody>
                      <a:tcPr/>
                    </a:tc>
                  </a:tr>
                </a:tbl>
              </a:graphicData>
            </a:graphic>
          </p:graphicFrame>
        </mc:Fallback>
      </mc:AlternateContent>
      <p:cxnSp>
        <p:nvCxnSpPr>
          <p:cNvPr id="61" name="Straight Connector 60"/>
          <p:cNvCxnSpPr/>
          <p:nvPr/>
        </p:nvCxnSpPr>
        <p:spPr>
          <a:xfrm>
            <a:off x="6096000" y="2140866"/>
            <a:ext cx="914400" cy="0"/>
          </a:xfrm>
          <a:prstGeom prst="line">
            <a:avLst/>
          </a:prstGeom>
          <a:ln w="28575">
            <a:solidFill>
              <a:schemeClr val="accent2"/>
            </a:solidFill>
          </a:ln>
        </p:spPr>
        <p:style>
          <a:lnRef idx="1">
            <a:schemeClr val="accent3"/>
          </a:lnRef>
          <a:fillRef idx="0">
            <a:schemeClr val="accent3"/>
          </a:fillRef>
          <a:effectRef idx="0">
            <a:schemeClr val="accent3"/>
          </a:effectRef>
          <a:fontRef idx="minor">
            <a:schemeClr val="tx1"/>
          </a:fontRef>
        </p:style>
      </p:cxnSp>
      <p:cxnSp>
        <p:nvCxnSpPr>
          <p:cNvPr id="62" name="Straight Connector 61"/>
          <p:cNvCxnSpPr/>
          <p:nvPr/>
        </p:nvCxnSpPr>
        <p:spPr>
          <a:xfrm>
            <a:off x="4191000" y="2140866"/>
            <a:ext cx="1371600" cy="0"/>
          </a:xfrm>
          <a:prstGeom prst="line">
            <a:avLst/>
          </a:prstGeom>
          <a:ln w="28575">
            <a:solidFill>
              <a:schemeClr val="accent1"/>
            </a:solidFill>
          </a:ln>
        </p:spPr>
        <p:style>
          <a:lnRef idx="1">
            <a:schemeClr val="accent3"/>
          </a:lnRef>
          <a:fillRef idx="0">
            <a:schemeClr val="accent3"/>
          </a:fillRef>
          <a:effectRef idx="0">
            <a:schemeClr val="accent3"/>
          </a:effectRef>
          <a:fontRef idx="minor">
            <a:schemeClr val="tx1"/>
          </a:fontRef>
        </p:style>
      </p:cxnSp>
      <p:cxnSp>
        <p:nvCxnSpPr>
          <p:cNvPr id="64" name="Straight Connector 63"/>
          <p:cNvCxnSpPr/>
          <p:nvPr/>
        </p:nvCxnSpPr>
        <p:spPr>
          <a:xfrm>
            <a:off x="7467600" y="2140866"/>
            <a:ext cx="990600" cy="0"/>
          </a:xfrm>
          <a:prstGeom prst="line">
            <a:avLst/>
          </a:prstGeom>
          <a:ln w="28575"/>
        </p:spPr>
        <p:style>
          <a:lnRef idx="1">
            <a:schemeClr val="accent3"/>
          </a:lnRef>
          <a:fillRef idx="0">
            <a:schemeClr val="accent3"/>
          </a:fillRef>
          <a:effectRef idx="0">
            <a:schemeClr val="accent3"/>
          </a:effectRef>
          <a:fontRef idx="minor">
            <a:schemeClr val="tx1"/>
          </a:fontRef>
        </p:style>
      </p:cxnSp>
      <p:cxnSp>
        <p:nvCxnSpPr>
          <p:cNvPr id="68" name="Straight Connector 67"/>
          <p:cNvCxnSpPr/>
          <p:nvPr/>
        </p:nvCxnSpPr>
        <p:spPr>
          <a:xfrm>
            <a:off x="8858436" y="2140866"/>
            <a:ext cx="512859" cy="0"/>
          </a:xfrm>
          <a:prstGeom prst="line">
            <a:avLst/>
          </a:prstGeom>
          <a:ln w="28575">
            <a:solidFill>
              <a:schemeClr val="accent4"/>
            </a:solidFill>
          </a:ln>
        </p:spPr>
        <p:style>
          <a:lnRef idx="1">
            <a:schemeClr val="accent3"/>
          </a:lnRef>
          <a:fillRef idx="0">
            <a:schemeClr val="accent3"/>
          </a:fillRef>
          <a:effectRef idx="0">
            <a:schemeClr val="accent3"/>
          </a:effectRef>
          <a:fontRef idx="minor">
            <a:schemeClr val="tx1"/>
          </a:fontRef>
        </p:style>
      </p:cxnSp>
      <p:sp>
        <p:nvSpPr>
          <p:cNvPr id="22" name="TextBox 21"/>
          <p:cNvSpPr txBox="1"/>
          <p:nvPr/>
        </p:nvSpPr>
        <p:spPr>
          <a:xfrm>
            <a:off x="4572000" y="985802"/>
            <a:ext cx="3276600" cy="707886"/>
          </a:xfrm>
          <a:prstGeom prst="rect">
            <a:avLst/>
          </a:prstGeom>
          <a:solidFill>
            <a:schemeClr val="bg1"/>
          </a:solidFill>
        </p:spPr>
        <p:txBody>
          <a:bodyPr wrap="square" rtlCol="0" anchor="ctr">
            <a:spAutoFit/>
          </a:bodyPr>
          <a:lstStyle/>
          <a:p>
            <a:pPr algn="ctr"/>
            <a:r>
              <a:rPr lang="en-US" dirty="0" smtClean="0"/>
              <a:t>4 Components of Equity Returns</a:t>
            </a:r>
            <a:endParaRPr lang="en-US" dirty="0"/>
          </a:p>
        </p:txBody>
      </p:sp>
    </p:spTree>
    <p:extLst>
      <p:ext uri="{BB962C8B-B14F-4D97-AF65-F5344CB8AC3E}">
        <p14:creationId xmlns:p14="http://schemas.microsoft.com/office/powerpoint/2010/main" val="24317694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heme/theme1.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7220</TotalTime>
  <Words>1703</Words>
  <Application>Microsoft Office PowerPoint</Application>
  <PresentationFormat>Custom</PresentationFormat>
  <Paragraphs>207</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CELLO INVESTMENT PROCESS: Long/Short equity </vt:lpstr>
      <vt:lpstr>Investment Style</vt:lpstr>
      <vt:lpstr>Investment Style</vt:lpstr>
      <vt:lpstr>Portfolio Construction</vt:lpstr>
      <vt:lpstr>Short selling rationale</vt:lpstr>
      <vt:lpstr>Short sALE EXAMPLE</vt:lpstr>
      <vt:lpstr>Strategy categorization: LOW BETA</vt:lpstr>
      <vt:lpstr>RISK CONTROL THROUGH EQUITY RISK MODELING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dc:creator>
  <cp:lastModifiedBy>Lien Chen</cp:lastModifiedBy>
  <cp:revision>521</cp:revision>
  <cp:lastPrinted>2015-07-02T14:12:03Z</cp:lastPrinted>
  <dcterms:created xsi:type="dcterms:W3CDTF">2015-05-21T20:34:11Z</dcterms:created>
  <dcterms:modified xsi:type="dcterms:W3CDTF">2015-07-17T14:44:44Z</dcterms:modified>
</cp:coreProperties>
</file>