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20" r:id="rId2"/>
    <p:sldId id="330" r:id="rId3"/>
    <p:sldId id="331" r:id="rId4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2E3989"/>
    <a:srgbClr val="C7732D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0" d="100"/>
          <a:sy n="120" d="100"/>
        </p:scale>
        <p:origin x="-1494" y="-396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366"/>
            <a:fld id="{1FE077EC-684A-4FD9-A6C3-9AE90D8B81D6}" type="slidenum">
              <a:rPr lang="en-US" smtClean="0"/>
              <a:pPr defTabSz="919366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677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Long Short equity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July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3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/>
          <p:nvPr/>
        </p:nvCxnSpPr>
        <p:spPr>
          <a:xfrm>
            <a:off x="3276600" y="1347696"/>
            <a:ext cx="583826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Generating process for equity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157992" y="1669134"/>
                <a:ext cx="6213303" cy="471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992" y="1669134"/>
                <a:ext cx="6213303" cy="471732"/>
              </a:xfrm>
              <a:prstGeom prst="rect">
                <a:avLst/>
              </a:prstGeom>
              <a:blipFill rotWithShape="1">
                <a:blip r:embed="rId3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508909"/>
                  </p:ext>
                </p:extLst>
              </p:nvPr>
            </p:nvGraphicFramePr>
            <p:xfrm>
              <a:off x="2864970" y="2431683"/>
              <a:ext cx="6799348" cy="457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9837"/>
                    <a:gridCol w="1699837"/>
                    <a:gridCol w="1699837"/>
                    <a:gridCol w="1699837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/>
                                  </a:rPr>
                                  <m:t>𝜶</m:t>
                                </m:r>
                                <m:r>
                                  <a:rPr lang="en-US" sz="1200" b="1" i="1" smtClean="0">
                                    <a:latin typeface="Cambria Math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𝑴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𝑰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𝑭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4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General Market Movements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Industry Membership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Exposure to </a:t>
                          </a:r>
                        </a:p>
                        <a:p>
                          <a:pPr algn="ctr"/>
                          <a:r>
                            <a:rPr lang="en-US" sz="1200" dirty="0" smtClean="0"/>
                            <a:t>Systematic Factors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Firm-Specific Return</a:t>
                          </a:r>
                          <a:endParaRPr lang="en-US" sz="12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of return is attributable to general market movements.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 consists of a market drift term α, which is the return that all stocks earn just for being a stock that month.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Plus the incremental return associated with the stock’s normalized beta.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portion flows from its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Industry related returns are estimated as the coefficients, I, of the 0-1 variable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encoding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portion equals the returns attributable to industry membership after controlling for market movements and factor exposure.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Returns from systematic factors arise from characteristics such as P/E, volatility, momentum, growth</a:t>
                          </a:r>
                          <a:r>
                            <a:rPr lang="en-US" sz="120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orientation, and capitalization.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They are estimated as the coefficients, F, of the factor exposure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contains, for each of the N stocks, the normalized exposures or betas to the K different systematic factors.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is unrelated to general market moves, industry membership, or systematic factors.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ε is therefore unique or specific to the company.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Firm specific returns are calculated as the residuals in the cross-sectional regression that relates monthly stock returns to the other systematic factors.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508909"/>
                  </p:ext>
                </p:extLst>
              </p:nvPr>
            </p:nvGraphicFramePr>
            <p:xfrm>
              <a:off x="2864970" y="2431683"/>
              <a:ext cx="6799348" cy="457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9837"/>
                    <a:gridCol w="1699837"/>
                    <a:gridCol w="1699837"/>
                    <a:gridCol w="169983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58" t="-1639" r="-300000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00358" t="-1639" r="-200000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201079" t="-1639" r="-100719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0000" t="-1639" r="-358" b="-1131148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General Market Movements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Industry Membership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Exposure to </a:t>
                          </a:r>
                        </a:p>
                        <a:p>
                          <a:pPr algn="ctr"/>
                          <a:r>
                            <a:rPr lang="en-US" sz="1200" dirty="0" smtClean="0"/>
                            <a:t>Systematic Factors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Firm-Specific Return</a:t>
                          </a:r>
                          <a:endParaRPr lang="en-US" sz="1200" dirty="0"/>
                        </a:p>
                      </a:txBody>
                      <a:tcPr anchor="ctr"/>
                    </a:tc>
                  </a:tr>
                  <a:tr h="3749040"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of return is attributable to general market movements.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 consists of a market drift term α, which is the return that all stocks earn just for being a stock that month.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Plus the incremental return associated with the stock’s normalized beta.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portion flows from its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Industry related returns are estimated as the coefficients, I, of the 0-1 variable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encoding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portion equals the returns attributable to industry membership after controlling for market movements and factor exposure.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Returns from systematic factors arise from characteristics such as P/E, volatility, momentum, growth</a:t>
                          </a:r>
                          <a:r>
                            <a:rPr lang="en-US" sz="120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orientation, and capitalization.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They are estimated as the coefficients, F, of the factor exposure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contains, for each of the N stocks, the normalized exposures or betas to the K different systematic factors.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is unrelated to general market moves, industry membership, or systematic factors.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ε is therefore unique or specific to the company.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Firm specific returns are calculated as the residuals in the cross-sectional regression that relates monthly stock returns to the other systematic factors.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61" name="Straight Connector 60"/>
          <p:cNvCxnSpPr/>
          <p:nvPr/>
        </p:nvCxnSpPr>
        <p:spPr>
          <a:xfrm>
            <a:off x="6096000" y="2140866"/>
            <a:ext cx="9144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191000" y="2140866"/>
            <a:ext cx="1371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7467600" y="2140866"/>
            <a:ext cx="990600" cy="0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858436" y="2140866"/>
            <a:ext cx="51285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1139690"/>
            <a:ext cx="32766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4 Components of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Investment Style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276600" y="1347696"/>
            <a:ext cx="583826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76800" y="1139690"/>
            <a:ext cx="23622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Style Factors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 rot="5400000">
            <a:off x="5160653" y="3078987"/>
            <a:ext cx="2160587" cy="2447925"/>
            <a:chOff x="3379788" y="1371599"/>
            <a:chExt cx="2160587" cy="2447925"/>
          </a:xfrm>
        </p:grpSpPr>
        <p:sp>
          <p:nvSpPr>
            <p:cNvPr id="17" name="Freeform 8"/>
            <p:cNvSpPr>
              <a:spLocks/>
            </p:cNvSpPr>
            <p:nvPr/>
          </p:nvSpPr>
          <p:spPr bwMode="blackWhite">
            <a:xfrm>
              <a:off x="4330700" y="1543049"/>
              <a:ext cx="1209675" cy="2276475"/>
            </a:xfrm>
            <a:custGeom>
              <a:avLst/>
              <a:gdLst>
                <a:gd name="T0" fmla="*/ 2147483647 w 976"/>
                <a:gd name="T1" fmla="*/ 2147483647 h 1811"/>
                <a:gd name="T2" fmla="*/ 2147483647 w 976"/>
                <a:gd name="T3" fmla="*/ 2147483647 h 1811"/>
                <a:gd name="T4" fmla="*/ 2147483647 w 976"/>
                <a:gd name="T5" fmla="*/ 2147483647 h 1811"/>
                <a:gd name="T6" fmla="*/ 2147483647 w 976"/>
                <a:gd name="T7" fmla="*/ 2147483647 h 1811"/>
                <a:gd name="T8" fmla="*/ 2147483647 w 976"/>
                <a:gd name="T9" fmla="*/ 2147483647 h 1811"/>
                <a:gd name="T10" fmla="*/ 2147483647 w 976"/>
                <a:gd name="T11" fmla="*/ 2147483647 h 1811"/>
                <a:gd name="T12" fmla="*/ 2147483647 w 976"/>
                <a:gd name="T13" fmla="*/ 2147483647 h 1811"/>
                <a:gd name="T14" fmla="*/ 2147483647 w 976"/>
                <a:gd name="T15" fmla="*/ 2147483647 h 1811"/>
                <a:gd name="T16" fmla="*/ 2147483647 w 976"/>
                <a:gd name="T17" fmla="*/ 2147483647 h 1811"/>
                <a:gd name="T18" fmla="*/ 2147483647 w 976"/>
                <a:gd name="T19" fmla="*/ 2147483647 h 1811"/>
                <a:gd name="T20" fmla="*/ 2147483647 w 976"/>
                <a:gd name="T21" fmla="*/ 2147483647 h 1811"/>
                <a:gd name="T22" fmla="*/ 2147483647 w 976"/>
                <a:gd name="T23" fmla="*/ 2147483647 h 1811"/>
                <a:gd name="T24" fmla="*/ 2147483647 w 976"/>
                <a:gd name="T25" fmla="*/ 2147483647 h 1811"/>
                <a:gd name="T26" fmla="*/ 2147483647 w 976"/>
                <a:gd name="T27" fmla="*/ 2147483647 h 1811"/>
                <a:gd name="T28" fmla="*/ 2147483647 w 976"/>
                <a:gd name="T29" fmla="*/ 2147483647 h 1811"/>
                <a:gd name="T30" fmla="*/ 2147483647 w 976"/>
                <a:gd name="T31" fmla="*/ 2147483647 h 1811"/>
                <a:gd name="T32" fmla="*/ 2147483647 w 976"/>
                <a:gd name="T33" fmla="*/ 2147483647 h 1811"/>
                <a:gd name="T34" fmla="*/ 2147483647 w 976"/>
                <a:gd name="T35" fmla="*/ 2147483647 h 1811"/>
                <a:gd name="T36" fmla="*/ 2147483647 w 976"/>
                <a:gd name="T37" fmla="*/ 2147483647 h 1811"/>
                <a:gd name="T38" fmla="*/ 2147483647 w 976"/>
                <a:gd name="T39" fmla="*/ 2147483647 h 1811"/>
                <a:gd name="T40" fmla="*/ 2147483647 w 976"/>
                <a:gd name="T41" fmla="*/ 2147483647 h 1811"/>
                <a:gd name="T42" fmla="*/ 2147483647 w 976"/>
                <a:gd name="T43" fmla="*/ 2147483647 h 1811"/>
                <a:gd name="T44" fmla="*/ 2147483647 w 976"/>
                <a:gd name="T45" fmla="*/ 2147483647 h 1811"/>
                <a:gd name="T46" fmla="*/ 2147483647 w 976"/>
                <a:gd name="T47" fmla="*/ 2147483647 h 1811"/>
                <a:gd name="T48" fmla="*/ 2147483647 w 976"/>
                <a:gd name="T49" fmla="*/ 2147483647 h 1811"/>
                <a:gd name="T50" fmla="*/ 2147483647 w 976"/>
                <a:gd name="T51" fmla="*/ 2147483647 h 1811"/>
                <a:gd name="T52" fmla="*/ 2147483647 w 976"/>
                <a:gd name="T53" fmla="*/ 2147483647 h 1811"/>
                <a:gd name="T54" fmla="*/ 2147483647 w 976"/>
                <a:gd name="T55" fmla="*/ 2147483647 h 1811"/>
                <a:gd name="T56" fmla="*/ 2147483647 w 976"/>
                <a:gd name="T57" fmla="*/ 2147483647 h 1811"/>
                <a:gd name="T58" fmla="*/ 2147483647 w 976"/>
                <a:gd name="T59" fmla="*/ 2147483647 h 1811"/>
                <a:gd name="T60" fmla="*/ 2147483647 w 976"/>
                <a:gd name="T61" fmla="*/ 2147483647 h 1811"/>
                <a:gd name="T62" fmla="*/ 2147483647 w 976"/>
                <a:gd name="T63" fmla="*/ 2147483647 h 1811"/>
                <a:gd name="T64" fmla="*/ 2147483647 w 976"/>
                <a:gd name="T65" fmla="*/ 2147483647 h 1811"/>
                <a:gd name="T66" fmla="*/ 2147483647 w 976"/>
                <a:gd name="T67" fmla="*/ 2147483647 h 1811"/>
                <a:gd name="T68" fmla="*/ 2147483647 w 976"/>
                <a:gd name="T69" fmla="*/ 2147483647 h 1811"/>
                <a:gd name="T70" fmla="*/ 2147483647 w 976"/>
                <a:gd name="T71" fmla="*/ 2147483647 h 181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76"/>
                <a:gd name="T109" fmla="*/ 0 h 1811"/>
                <a:gd name="T110" fmla="*/ 976 w 976"/>
                <a:gd name="T111" fmla="*/ 1811 h 181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76" h="1811">
                  <a:moveTo>
                    <a:pt x="279" y="1669"/>
                  </a:moveTo>
                  <a:lnTo>
                    <a:pt x="338" y="1654"/>
                  </a:lnTo>
                  <a:lnTo>
                    <a:pt x="394" y="1635"/>
                  </a:lnTo>
                  <a:lnTo>
                    <a:pt x="449" y="1612"/>
                  </a:lnTo>
                  <a:lnTo>
                    <a:pt x="502" y="1585"/>
                  </a:lnTo>
                  <a:lnTo>
                    <a:pt x="553" y="1555"/>
                  </a:lnTo>
                  <a:lnTo>
                    <a:pt x="601" y="1520"/>
                  </a:lnTo>
                  <a:lnTo>
                    <a:pt x="651" y="1485"/>
                  </a:lnTo>
                  <a:lnTo>
                    <a:pt x="697" y="1447"/>
                  </a:lnTo>
                  <a:lnTo>
                    <a:pt x="741" y="1405"/>
                  </a:lnTo>
                  <a:lnTo>
                    <a:pt x="782" y="1361"/>
                  </a:lnTo>
                  <a:lnTo>
                    <a:pt x="818" y="1313"/>
                  </a:lnTo>
                  <a:lnTo>
                    <a:pt x="851" y="1263"/>
                  </a:lnTo>
                  <a:lnTo>
                    <a:pt x="882" y="1210"/>
                  </a:lnTo>
                  <a:lnTo>
                    <a:pt x="908" y="1156"/>
                  </a:lnTo>
                  <a:lnTo>
                    <a:pt x="929" y="1100"/>
                  </a:lnTo>
                  <a:lnTo>
                    <a:pt x="947" y="1043"/>
                  </a:lnTo>
                  <a:lnTo>
                    <a:pt x="961" y="984"/>
                  </a:lnTo>
                  <a:lnTo>
                    <a:pt x="970" y="924"/>
                  </a:lnTo>
                  <a:lnTo>
                    <a:pt x="975" y="865"/>
                  </a:lnTo>
                  <a:lnTo>
                    <a:pt x="975" y="804"/>
                  </a:lnTo>
                  <a:lnTo>
                    <a:pt x="972" y="744"/>
                  </a:lnTo>
                  <a:lnTo>
                    <a:pt x="963" y="685"/>
                  </a:lnTo>
                  <a:lnTo>
                    <a:pt x="950" y="625"/>
                  </a:lnTo>
                  <a:lnTo>
                    <a:pt x="935" y="567"/>
                  </a:lnTo>
                  <a:lnTo>
                    <a:pt x="913" y="511"/>
                  </a:lnTo>
                  <a:lnTo>
                    <a:pt x="889" y="456"/>
                  </a:lnTo>
                  <a:lnTo>
                    <a:pt x="859" y="403"/>
                  </a:lnTo>
                  <a:lnTo>
                    <a:pt x="826" y="352"/>
                  </a:lnTo>
                  <a:lnTo>
                    <a:pt x="790" y="304"/>
                  </a:lnTo>
                  <a:lnTo>
                    <a:pt x="751" y="259"/>
                  </a:lnTo>
                  <a:lnTo>
                    <a:pt x="708" y="216"/>
                  </a:lnTo>
                  <a:lnTo>
                    <a:pt x="662" y="178"/>
                  </a:lnTo>
                  <a:lnTo>
                    <a:pt x="614" y="142"/>
                  </a:lnTo>
                  <a:lnTo>
                    <a:pt x="563" y="109"/>
                  </a:lnTo>
                  <a:lnTo>
                    <a:pt x="510" y="81"/>
                  </a:lnTo>
                  <a:lnTo>
                    <a:pt x="455" y="56"/>
                  </a:lnTo>
                  <a:lnTo>
                    <a:pt x="398" y="36"/>
                  </a:lnTo>
                  <a:lnTo>
                    <a:pt x="340" y="20"/>
                  </a:lnTo>
                  <a:lnTo>
                    <a:pt x="281" y="8"/>
                  </a:lnTo>
                  <a:lnTo>
                    <a:pt x="222" y="0"/>
                  </a:lnTo>
                  <a:lnTo>
                    <a:pt x="294" y="112"/>
                  </a:lnTo>
                  <a:lnTo>
                    <a:pt x="369" y="222"/>
                  </a:lnTo>
                  <a:lnTo>
                    <a:pt x="226" y="434"/>
                  </a:lnTo>
                  <a:lnTo>
                    <a:pt x="268" y="446"/>
                  </a:lnTo>
                  <a:lnTo>
                    <a:pt x="306" y="463"/>
                  </a:lnTo>
                  <a:lnTo>
                    <a:pt x="344" y="483"/>
                  </a:lnTo>
                  <a:lnTo>
                    <a:pt x="379" y="508"/>
                  </a:lnTo>
                  <a:lnTo>
                    <a:pt x="411" y="536"/>
                  </a:lnTo>
                  <a:lnTo>
                    <a:pt x="440" y="567"/>
                  </a:lnTo>
                  <a:lnTo>
                    <a:pt x="467" y="601"/>
                  </a:lnTo>
                  <a:lnTo>
                    <a:pt x="489" y="637"/>
                  </a:lnTo>
                  <a:lnTo>
                    <a:pt x="508" y="676"/>
                  </a:lnTo>
                  <a:lnTo>
                    <a:pt x="521" y="716"/>
                  </a:lnTo>
                  <a:lnTo>
                    <a:pt x="531" y="758"/>
                  </a:lnTo>
                  <a:lnTo>
                    <a:pt x="538" y="801"/>
                  </a:lnTo>
                  <a:lnTo>
                    <a:pt x="539" y="843"/>
                  </a:lnTo>
                  <a:lnTo>
                    <a:pt x="536" y="886"/>
                  </a:lnTo>
                  <a:lnTo>
                    <a:pt x="529" y="928"/>
                  </a:lnTo>
                  <a:lnTo>
                    <a:pt x="517" y="969"/>
                  </a:lnTo>
                  <a:lnTo>
                    <a:pt x="501" y="1009"/>
                  </a:lnTo>
                  <a:lnTo>
                    <a:pt x="482" y="1046"/>
                  </a:lnTo>
                  <a:lnTo>
                    <a:pt x="458" y="1082"/>
                  </a:lnTo>
                  <a:lnTo>
                    <a:pt x="431" y="1115"/>
                  </a:lnTo>
                  <a:lnTo>
                    <a:pt x="401" y="1145"/>
                  </a:lnTo>
                  <a:lnTo>
                    <a:pt x="367" y="1172"/>
                  </a:lnTo>
                  <a:lnTo>
                    <a:pt x="331" y="1196"/>
                  </a:lnTo>
                  <a:lnTo>
                    <a:pt x="293" y="1215"/>
                  </a:lnTo>
                  <a:lnTo>
                    <a:pt x="253" y="1230"/>
                  </a:lnTo>
                  <a:lnTo>
                    <a:pt x="253" y="1093"/>
                  </a:lnTo>
                  <a:lnTo>
                    <a:pt x="0" y="1420"/>
                  </a:lnTo>
                  <a:lnTo>
                    <a:pt x="279" y="1810"/>
                  </a:lnTo>
                  <a:lnTo>
                    <a:pt x="279" y="1669"/>
                  </a:lnTo>
                </a:path>
              </a:pathLst>
            </a:custGeom>
            <a:solidFill>
              <a:schemeClr val="accent3"/>
            </a:solidFill>
            <a:ln w="12700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20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blackWhite">
            <a:xfrm>
              <a:off x="3379788" y="1371599"/>
              <a:ext cx="1343025" cy="2290763"/>
            </a:xfrm>
            <a:custGeom>
              <a:avLst/>
              <a:gdLst>
                <a:gd name="T0" fmla="*/ 2147483647 w 1084"/>
                <a:gd name="T1" fmla="*/ 2147483647 h 1823"/>
                <a:gd name="T2" fmla="*/ 2147483647 w 1084"/>
                <a:gd name="T3" fmla="*/ 2147483647 h 1823"/>
                <a:gd name="T4" fmla="*/ 2147483647 w 1084"/>
                <a:gd name="T5" fmla="*/ 2147483647 h 1823"/>
                <a:gd name="T6" fmla="*/ 2147483647 w 1084"/>
                <a:gd name="T7" fmla="*/ 2147483647 h 1823"/>
                <a:gd name="T8" fmla="*/ 2147483647 w 1084"/>
                <a:gd name="T9" fmla="*/ 2147483647 h 1823"/>
                <a:gd name="T10" fmla="*/ 2147483647 w 1084"/>
                <a:gd name="T11" fmla="*/ 2147483647 h 1823"/>
                <a:gd name="T12" fmla="*/ 2147483647 w 1084"/>
                <a:gd name="T13" fmla="*/ 2147483647 h 1823"/>
                <a:gd name="T14" fmla="*/ 2147483647 w 1084"/>
                <a:gd name="T15" fmla="*/ 2147483647 h 1823"/>
                <a:gd name="T16" fmla="*/ 2147483647 w 1084"/>
                <a:gd name="T17" fmla="*/ 2147483647 h 1823"/>
                <a:gd name="T18" fmla="*/ 2147483647 w 1084"/>
                <a:gd name="T19" fmla="*/ 2147483647 h 1823"/>
                <a:gd name="T20" fmla="*/ 2147483647 w 1084"/>
                <a:gd name="T21" fmla="*/ 2147483647 h 1823"/>
                <a:gd name="T22" fmla="*/ 2147483647 w 1084"/>
                <a:gd name="T23" fmla="*/ 2147483647 h 1823"/>
                <a:gd name="T24" fmla="*/ 2147483647 w 1084"/>
                <a:gd name="T25" fmla="*/ 2147483647 h 1823"/>
                <a:gd name="T26" fmla="*/ 2147483647 w 1084"/>
                <a:gd name="T27" fmla="*/ 2147483647 h 1823"/>
                <a:gd name="T28" fmla="*/ 2147483647 w 1084"/>
                <a:gd name="T29" fmla="*/ 2147483647 h 1823"/>
                <a:gd name="T30" fmla="*/ 2147483647 w 1084"/>
                <a:gd name="T31" fmla="*/ 2147483647 h 1823"/>
                <a:gd name="T32" fmla="*/ 2147483647 w 1084"/>
                <a:gd name="T33" fmla="*/ 0 h 1823"/>
                <a:gd name="T34" fmla="*/ 2147483647 w 1084"/>
                <a:gd name="T35" fmla="*/ 2147483647 h 1823"/>
                <a:gd name="T36" fmla="*/ 2147483647 w 1084"/>
                <a:gd name="T37" fmla="*/ 2147483647 h 1823"/>
                <a:gd name="T38" fmla="*/ 2147483647 w 1084"/>
                <a:gd name="T39" fmla="*/ 2147483647 h 1823"/>
                <a:gd name="T40" fmla="*/ 2147483647 w 1084"/>
                <a:gd name="T41" fmla="*/ 2147483647 h 1823"/>
                <a:gd name="T42" fmla="*/ 2147483647 w 1084"/>
                <a:gd name="T43" fmla="*/ 2147483647 h 1823"/>
                <a:gd name="T44" fmla="*/ 2147483647 w 1084"/>
                <a:gd name="T45" fmla="*/ 2147483647 h 1823"/>
                <a:gd name="T46" fmla="*/ 2147483647 w 1084"/>
                <a:gd name="T47" fmla="*/ 2147483647 h 1823"/>
                <a:gd name="T48" fmla="*/ 2147483647 w 1084"/>
                <a:gd name="T49" fmla="*/ 2147483647 h 1823"/>
                <a:gd name="T50" fmla="*/ 2147483647 w 1084"/>
                <a:gd name="T51" fmla="*/ 2147483647 h 1823"/>
                <a:gd name="T52" fmla="*/ 2147483647 w 1084"/>
                <a:gd name="T53" fmla="*/ 2147483647 h 1823"/>
                <a:gd name="T54" fmla="*/ 2147483647 w 1084"/>
                <a:gd name="T55" fmla="*/ 2147483647 h 1823"/>
                <a:gd name="T56" fmla="*/ 2147483647 w 1084"/>
                <a:gd name="T57" fmla="*/ 2147483647 h 1823"/>
                <a:gd name="T58" fmla="*/ 2147483647 w 1084"/>
                <a:gd name="T59" fmla="*/ 2147483647 h 1823"/>
                <a:gd name="T60" fmla="*/ 2147483647 w 1084"/>
                <a:gd name="T61" fmla="*/ 2147483647 h 1823"/>
                <a:gd name="T62" fmla="*/ 2147483647 w 1084"/>
                <a:gd name="T63" fmla="*/ 2147483647 h 1823"/>
                <a:gd name="T64" fmla="*/ 2147483647 w 1084"/>
                <a:gd name="T65" fmla="*/ 2147483647 h 1823"/>
                <a:gd name="T66" fmla="*/ 2147483647 w 1084"/>
                <a:gd name="T67" fmla="*/ 2147483647 h 1823"/>
                <a:gd name="T68" fmla="*/ 2147483647 w 1084"/>
                <a:gd name="T69" fmla="*/ 2147483647 h 1823"/>
                <a:gd name="T70" fmla="*/ 2147483647 w 1084"/>
                <a:gd name="T71" fmla="*/ 2147483647 h 1823"/>
                <a:gd name="T72" fmla="*/ 2147483647 w 1084"/>
                <a:gd name="T73" fmla="*/ 2147483647 h 1823"/>
                <a:gd name="T74" fmla="*/ 2147483647 w 1084"/>
                <a:gd name="T75" fmla="*/ 2147483647 h 1823"/>
                <a:gd name="T76" fmla="*/ 2147483647 w 1084"/>
                <a:gd name="T77" fmla="*/ 2147483647 h 1823"/>
                <a:gd name="T78" fmla="*/ 2147483647 w 1084"/>
                <a:gd name="T79" fmla="*/ 2147483647 h 1823"/>
                <a:gd name="T80" fmla="*/ 2147483647 w 1084"/>
                <a:gd name="T81" fmla="*/ 2147483647 h 182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84"/>
                <a:gd name="T124" fmla="*/ 0 h 1823"/>
                <a:gd name="T125" fmla="*/ 1084 w 1084"/>
                <a:gd name="T126" fmla="*/ 1823 h 182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84" h="1823">
                  <a:moveTo>
                    <a:pt x="832" y="1394"/>
                  </a:moveTo>
                  <a:lnTo>
                    <a:pt x="789" y="1389"/>
                  </a:lnTo>
                  <a:lnTo>
                    <a:pt x="746" y="1380"/>
                  </a:lnTo>
                  <a:lnTo>
                    <a:pt x="705" y="1367"/>
                  </a:lnTo>
                  <a:lnTo>
                    <a:pt x="665" y="1349"/>
                  </a:lnTo>
                  <a:lnTo>
                    <a:pt x="628" y="1327"/>
                  </a:lnTo>
                  <a:lnTo>
                    <a:pt x="592" y="1301"/>
                  </a:lnTo>
                  <a:lnTo>
                    <a:pt x="559" y="1273"/>
                  </a:lnTo>
                  <a:lnTo>
                    <a:pt x="530" y="1240"/>
                  </a:lnTo>
                  <a:lnTo>
                    <a:pt x="504" y="1206"/>
                  </a:lnTo>
                  <a:lnTo>
                    <a:pt x="482" y="1168"/>
                  </a:lnTo>
                  <a:lnTo>
                    <a:pt x="464" y="1129"/>
                  </a:lnTo>
                  <a:lnTo>
                    <a:pt x="450" y="1087"/>
                  </a:lnTo>
                  <a:lnTo>
                    <a:pt x="440" y="1044"/>
                  </a:lnTo>
                  <a:lnTo>
                    <a:pt x="434" y="1002"/>
                  </a:lnTo>
                  <a:lnTo>
                    <a:pt x="434" y="958"/>
                  </a:lnTo>
                  <a:lnTo>
                    <a:pt x="438" y="915"/>
                  </a:lnTo>
                  <a:lnTo>
                    <a:pt x="446" y="872"/>
                  </a:lnTo>
                  <a:lnTo>
                    <a:pt x="458" y="831"/>
                  </a:lnTo>
                  <a:lnTo>
                    <a:pt x="475" y="790"/>
                  </a:lnTo>
                  <a:lnTo>
                    <a:pt x="495" y="752"/>
                  </a:lnTo>
                  <a:lnTo>
                    <a:pt x="520" y="716"/>
                  </a:lnTo>
                  <a:lnTo>
                    <a:pt x="548" y="683"/>
                  </a:lnTo>
                  <a:lnTo>
                    <a:pt x="580" y="653"/>
                  </a:lnTo>
                  <a:lnTo>
                    <a:pt x="613" y="626"/>
                  </a:lnTo>
                  <a:lnTo>
                    <a:pt x="651" y="603"/>
                  </a:lnTo>
                  <a:lnTo>
                    <a:pt x="688" y="584"/>
                  </a:lnTo>
                  <a:lnTo>
                    <a:pt x="727" y="569"/>
                  </a:lnTo>
                  <a:lnTo>
                    <a:pt x="768" y="559"/>
                  </a:lnTo>
                  <a:lnTo>
                    <a:pt x="809" y="552"/>
                  </a:lnTo>
                  <a:lnTo>
                    <a:pt x="851" y="549"/>
                  </a:lnTo>
                  <a:lnTo>
                    <a:pt x="851" y="675"/>
                  </a:lnTo>
                  <a:lnTo>
                    <a:pt x="1083" y="353"/>
                  </a:lnTo>
                  <a:lnTo>
                    <a:pt x="846" y="0"/>
                  </a:lnTo>
                  <a:lnTo>
                    <a:pt x="846" y="121"/>
                  </a:lnTo>
                  <a:lnTo>
                    <a:pt x="786" y="125"/>
                  </a:lnTo>
                  <a:lnTo>
                    <a:pt x="726" y="133"/>
                  </a:lnTo>
                  <a:lnTo>
                    <a:pt x="668" y="145"/>
                  </a:lnTo>
                  <a:lnTo>
                    <a:pt x="610" y="161"/>
                  </a:lnTo>
                  <a:lnTo>
                    <a:pt x="554" y="181"/>
                  </a:lnTo>
                  <a:lnTo>
                    <a:pt x="499" y="206"/>
                  </a:lnTo>
                  <a:lnTo>
                    <a:pt x="446" y="234"/>
                  </a:lnTo>
                  <a:lnTo>
                    <a:pt x="394" y="264"/>
                  </a:lnTo>
                  <a:lnTo>
                    <a:pt x="344" y="298"/>
                  </a:lnTo>
                  <a:lnTo>
                    <a:pt x="297" y="335"/>
                  </a:lnTo>
                  <a:lnTo>
                    <a:pt x="252" y="376"/>
                  </a:lnTo>
                  <a:lnTo>
                    <a:pt x="211" y="420"/>
                  </a:lnTo>
                  <a:lnTo>
                    <a:pt x="173" y="466"/>
                  </a:lnTo>
                  <a:lnTo>
                    <a:pt x="138" y="515"/>
                  </a:lnTo>
                  <a:lnTo>
                    <a:pt x="107" y="566"/>
                  </a:lnTo>
                  <a:lnTo>
                    <a:pt x="79" y="620"/>
                  </a:lnTo>
                  <a:lnTo>
                    <a:pt x="56" y="675"/>
                  </a:lnTo>
                  <a:lnTo>
                    <a:pt x="37" y="733"/>
                  </a:lnTo>
                  <a:lnTo>
                    <a:pt x="21" y="790"/>
                  </a:lnTo>
                  <a:lnTo>
                    <a:pt x="10" y="850"/>
                  </a:lnTo>
                  <a:lnTo>
                    <a:pt x="3" y="909"/>
                  </a:lnTo>
                  <a:lnTo>
                    <a:pt x="0" y="969"/>
                  </a:lnTo>
                  <a:lnTo>
                    <a:pt x="2" y="1029"/>
                  </a:lnTo>
                  <a:lnTo>
                    <a:pt x="7" y="1090"/>
                  </a:lnTo>
                  <a:lnTo>
                    <a:pt x="18" y="1148"/>
                  </a:lnTo>
                  <a:lnTo>
                    <a:pt x="31" y="1207"/>
                  </a:lnTo>
                  <a:lnTo>
                    <a:pt x="50" y="1264"/>
                  </a:lnTo>
                  <a:lnTo>
                    <a:pt x="73" y="1320"/>
                  </a:lnTo>
                  <a:lnTo>
                    <a:pt x="99" y="1374"/>
                  </a:lnTo>
                  <a:lnTo>
                    <a:pt x="129" y="1426"/>
                  </a:lnTo>
                  <a:lnTo>
                    <a:pt x="163" y="1476"/>
                  </a:lnTo>
                  <a:lnTo>
                    <a:pt x="200" y="1523"/>
                  </a:lnTo>
                  <a:lnTo>
                    <a:pt x="241" y="1568"/>
                  </a:lnTo>
                  <a:lnTo>
                    <a:pt x="283" y="1609"/>
                  </a:lnTo>
                  <a:lnTo>
                    <a:pt x="330" y="1647"/>
                  </a:lnTo>
                  <a:lnTo>
                    <a:pt x="379" y="1682"/>
                  </a:lnTo>
                  <a:lnTo>
                    <a:pt x="431" y="1713"/>
                  </a:lnTo>
                  <a:lnTo>
                    <a:pt x="484" y="1741"/>
                  </a:lnTo>
                  <a:lnTo>
                    <a:pt x="539" y="1765"/>
                  </a:lnTo>
                  <a:lnTo>
                    <a:pt x="595" y="1784"/>
                  </a:lnTo>
                  <a:lnTo>
                    <a:pt x="654" y="1800"/>
                  </a:lnTo>
                  <a:lnTo>
                    <a:pt x="713" y="1812"/>
                  </a:lnTo>
                  <a:lnTo>
                    <a:pt x="772" y="1819"/>
                  </a:lnTo>
                  <a:lnTo>
                    <a:pt x="833" y="1822"/>
                  </a:lnTo>
                  <a:lnTo>
                    <a:pt x="893" y="1821"/>
                  </a:lnTo>
                  <a:lnTo>
                    <a:pt x="708" y="1557"/>
                  </a:lnTo>
                  <a:lnTo>
                    <a:pt x="832" y="1394"/>
                  </a:lnTo>
                </a:path>
              </a:pathLst>
            </a:custGeom>
            <a:solidFill>
              <a:schemeClr val="accent1"/>
            </a:solidFill>
            <a:ln w="12700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20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blackWhite">
            <a:xfrm rot="16200000">
              <a:off x="3312970" y="2404340"/>
              <a:ext cx="687689" cy="3642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altLang="zh-CN" sz="1100" dirty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Investment</a:t>
              </a:r>
            </a:p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altLang="zh-CN" sz="1100" dirty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Style</a:t>
              </a:r>
              <a:endParaRPr lang="en-US" sz="11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blackWhite">
            <a:xfrm rot="16200000">
              <a:off x="4859257" y="2404339"/>
              <a:ext cx="838371" cy="3642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sz="1100" dirty="0" smtClean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Identifying</a:t>
              </a:r>
            </a:p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sz="1100" dirty="0" smtClean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Opportunities</a:t>
              </a:r>
              <a:endParaRPr lang="en-US" sz="11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10038"/>
              </p:ext>
            </p:extLst>
          </p:nvPr>
        </p:nvGraphicFramePr>
        <p:xfrm>
          <a:off x="2897267" y="1676400"/>
          <a:ext cx="67056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4333"/>
                <a:gridCol w="4421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Investment Style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Investor-focused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Equity</a:t>
                      </a:r>
                      <a:r>
                        <a:rPr lang="en-US" sz="1400" baseline="0" dirty="0" smtClean="0"/>
                        <a:t> Valuation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 smtClean="0"/>
                        <a:t>Bottoms-up</a:t>
                      </a:r>
                      <a:r>
                        <a:rPr lang="en-US" sz="1400" baseline="0" dirty="0" smtClean="0"/>
                        <a:t> Fundamental Analysis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Holding Period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 smtClean="0"/>
                        <a:t>3-6 Months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316184"/>
              </p:ext>
            </p:extLst>
          </p:nvPr>
        </p:nvGraphicFramePr>
        <p:xfrm>
          <a:off x="2897267" y="5715000"/>
          <a:ext cx="6705600" cy="1407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4333"/>
                <a:gridCol w="442126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dirty="0" smtClean="0"/>
                        <a:t>Investment Opportunities Identification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Analysis </a:t>
                      </a:r>
                      <a:r>
                        <a:rPr lang="en-US" sz="1400" dirty="0" smtClean="0"/>
                        <a:t>Techniques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Discount</a:t>
                      </a:r>
                    </a:p>
                    <a:p>
                      <a:pPr marL="285750" marR="0" lvl="0" indent="-28575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Market Inefficiencies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Opportunities Identification Process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607784" y="6093023"/>
            <a:ext cx="1383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Catalysts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5181600" y="6705932"/>
            <a:ext cx="1415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/>
              <a:t>Identify a </a:t>
            </a:r>
            <a:r>
              <a:rPr lang="en-US" sz="1400" dirty="0" smtClean="0"/>
              <a:t>Theme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6605547" y="6705932"/>
            <a:ext cx="1548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 smtClean="0"/>
              <a:t>Exploit the Theme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8085151" y="6705932"/>
            <a:ext cx="1499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 smtClean="0"/>
              <a:t>Deep-Dive Targets</a:t>
            </a:r>
            <a:endParaRPr lang="en-US" sz="1400" dirty="0"/>
          </a:p>
        </p:txBody>
      </p:sp>
      <p:sp>
        <p:nvSpPr>
          <p:cNvPr id="8" name="Right Arrow 7"/>
          <p:cNvSpPr/>
          <p:nvPr/>
        </p:nvSpPr>
        <p:spPr>
          <a:xfrm>
            <a:off x="6537298" y="6782876"/>
            <a:ext cx="111688" cy="153889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8042156" y="6782876"/>
            <a:ext cx="111688" cy="153889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50081"/>
            <a:ext cx="114388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45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5664</TotalTime>
  <Words>496</Words>
  <Application>Microsoft Office PowerPoint</Application>
  <PresentationFormat>Custom</PresentationFormat>
  <Paragraphs>72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Long Short equity</vt:lpstr>
      <vt:lpstr>Return Generating process for equity</vt:lpstr>
      <vt:lpstr>Investment Style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480</cp:revision>
  <cp:lastPrinted>2015-07-15T17:40:38Z</cp:lastPrinted>
  <dcterms:created xsi:type="dcterms:W3CDTF">2015-05-21T20:34:11Z</dcterms:created>
  <dcterms:modified xsi:type="dcterms:W3CDTF">2015-07-15T17:42:59Z</dcterms:modified>
</cp:coreProperties>
</file>