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20" r:id="rId2"/>
    <p:sldId id="330" r:id="rId3"/>
    <p:sldId id="331" r:id="rId4"/>
    <p:sldId id="332" r:id="rId5"/>
    <p:sldId id="333" r:id="rId6"/>
    <p:sldId id="334" r:id="rId7"/>
    <p:sldId id="336" r:id="rId8"/>
    <p:sldId id="335" r:id="rId9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26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5174784"/>
        <c:axId val="177408256"/>
      </c:barChart>
      <c:catAx>
        <c:axId val="175174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77408256"/>
        <c:crosses val="autoZero"/>
        <c:auto val="1"/>
        <c:lblAlgn val="ctr"/>
        <c:lblOffset val="100"/>
        <c:noMultiLvlLbl val="0"/>
      </c:catAx>
      <c:valAx>
        <c:axId val="177408256"/>
        <c:scaling>
          <c:orientation val="minMax"/>
          <c:max val="1.2"/>
          <c:min val="-0.60000000000000009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75174784"/>
        <c:crosses val="autoZero"/>
        <c:crossBetween val="between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-0.4</c:v>
                </c:pt>
                <c:pt idx="1">
                  <c:v>-0.6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344960"/>
        <c:axId val="147097472"/>
      </c:barChart>
      <c:catAx>
        <c:axId val="144344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7097472"/>
        <c:crosses val="autoZero"/>
        <c:auto val="1"/>
        <c:lblAlgn val="ctr"/>
        <c:lblOffset val="100"/>
        <c:noMultiLvlLbl val="0"/>
      </c:catAx>
      <c:valAx>
        <c:axId val="147097472"/>
        <c:scaling>
          <c:orientation val="minMax"/>
          <c:max val="1"/>
          <c:min val="-0.60000000000000009"/>
        </c:scaling>
        <c:delete val="0"/>
        <c:axPos val="l"/>
        <c:majorGridlines>
          <c:spPr>
            <a:ln w="19050">
              <a:solidFill>
                <a:schemeClr val="bg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144344960"/>
        <c:crosses val="autoZero"/>
        <c:crossBetween val="between"/>
        <c:majorUnit val="0.2"/>
      </c:valAx>
      <c:spPr>
        <a:solidFill>
          <a:schemeClr val="accent3">
            <a:lumMod val="20000"/>
            <a:lumOff val="80000"/>
          </a:schemeClr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-0.4</c:v>
                </c:pt>
                <c:pt idx="1">
                  <c:v>-0.6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2053888"/>
        <c:axId val="202067968"/>
      </c:barChart>
      <c:catAx>
        <c:axId val="20205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2067968"/>
        <c:crosses val="autoZero"/>
        <c:auto val="1"/>
        <c:lblAlgn val="ctr"/>
        <c:lblOffset val="100"/>
        <c:noMultiLvlLbl val="0"/>
      </c:catAx>
      <c:valAx>
        <c:axId val="202067968"/>
        <c:scaling>
          <c:orientation val="minMax"/>
          <c:max val="1"/>
          <c:min val="-0.60000000000000009"/>
        </c:scaling>
        <c:delete val="0"/>
        <c:axPos val="l"/>
        <c:majorGridlines>
          <c:spPr>
            <a:ln w="19050">
              <a:solidFill>
                <a:schemeClr val="bg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202053888"/>
        <c:crosses val="autoZero"/>
        <c:crossBetween val="between"/>
        <c:majorUnit val="0.2"/>
      </c:valAx>
      <c:spPr>
        <a:solidFill>
          <a:schemeClr val="accent3">
            <a:lumMod val="20000"/>
            <a:lumOff val="80000"/>
          </a:schemeClr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366"/>
            <a:fld id="{1FE077EC-684A-4FD9-A6C3-9AE90D8B81D6}" type="slidenum">
              <a:rPr lang="en-US" smtClean="0"/>
              <a:pPr defTabSz="919366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677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hart" Target="../charts/char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chart" Target="../charts/chart3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Long Short equity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July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Generating process for equity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992" y="1669134"/>
                <a:ext cx="6213303" cy="471732"/>
              </a:xfrm>
              <a:prstGeom prst="rect">
                <a:avLst/>
              </a:prstGeom>
              <a:blipFill rotWithShape="1">
                <a:blip r:embed="rId3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𝜶</m:t>
                                </m:r>
                                <m:r>
                                  <a:rPr lang="en-US" sz="1200" b="1" i="1" smtClean="0"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sup>
                                </m:sSubSup>
                                <m:r>
                                  <a:rPr lang="en-US" sz="1200" b="1" i="1">
                                    <a:latin typeface="Cambria Math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𝜺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/>
                        </a:p>
                      </a:txBody>
                      <a:tcPr anchor="ctr">
                        <a:solidFill>
                          <a:schemeClr val="accent4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7508909"/>
                  </p:ext>
                </p:extLst>
              </p:nvPr>
            </p:nvGraphicFramePr>
            <p:xfrm>
              <a:off x="2864970" y="2431683"/>
              <a:ext cx="6799348" cy="4577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9837"/>
                    <a:gridCol w="1699837"/>
                    <a:gridCol w="1699837"/>
                    <a:gridCol w="169983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58" t="-1639" r="-3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358" t="-1639" r="-200000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201079" t="-1639" r="-100719" b="-11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0000" t="-1639" r="-358" b="-1131148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General Market Movements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Industry Membership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Exposure to </a:t>
                          </a:r>
                        </a:p>
                        <a:p>
                          <a:pPr algn="ctr"/>
                          <a:r>
                            <a:rPr lang="en-US" sz="1200" dirty="0" smtClean="0"/>
                            <a:t>Systematic Factors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Firm-Specific Return</a:t>
                          </a:r>
                          <a:endParaRPr lang="en-US" sz="1200" dirty="0"/>
                        </a:p>
                      </a:txBody>
                      <a:tcPr anchor="ctr"/>
                    </a:tc>
                  </a:tr>
                  <a:tr h="3749040"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of return is attributable to general market movements.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 consists of a market drift term α, which is the return that all stocks earn just for being a stock that month.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Plus the incremental return associated with the stock’s normalized beta.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portion flows from its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Industry related returns are estimated as the coefficients, I, of the 0-1 variable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encoding industry membership.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portion equals the returns attributable to industry membership after controlling for market movements and factor exposure.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Returns from systematic factors arise from characteristics such as P/E, volatility, momentum, growth</a:t>
                          </a:r>
                          <a:r>
                            <a:rPr lang="en-US" sz="120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orientation, and capitalization.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They are estimated as the coefficients, F, of the factor exposure matrix β</a:t>
                          </a:r>
                          <a:r>
                            <a:rPr lang="en-US" sz="1200" kern="1200" baseline="300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</a:t>
                          </a:r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contains, for each of the N stocks, the normalized exposures or betas to the K different systematic factors.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This portion is unrelated to general market moves, industry membership, or systematic factors.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ε is therefore unique or specific to the company. </a:t>
                          </a:r>
                        </a:p>
                        <a:p>
                          <a:endParaRPr lang="en-US" sz="1200" kern="1200" dirty="0" smtClean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lang="en-US" sz="120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Firm specific returns are calculated as the residuals in the cross-sectional regression that relates monthly stock returns to the other systematic factors.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61" name="Straight Connector 60"/>
          <p:cNvCxnSpPr/>
          <p:nvPr/>
        </p:nvCxnSpPr>
        <p:spPr>
          <a:xfrm>
            <a:off x="6096000" y="2140866"/>
            <a:ext cx="9144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91000" y="2140866"/>
            <a:ext cx="137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467600" y="2140866"/>
            <a:ext cx="990600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8858436" y="2140866"/>
            <a:ext cx="512859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1139690"/>
            <a:ext cx="32766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4 Components of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Style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276600" y="1347696"/>
            <a:ext cx="583826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800" y="1139690"/>
            <a:ext cx="23622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 smtClean="0"/>
              <a:t>Style Factors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5160653" y="3078987"/>
            <a:ext cx="2160587" cy="2447925"/>
            <a:chOff x="3379788" y="1371599"/>
            <a:chExt cx="2160587" cy="2447925"/>
          </a:xfrm>
        </p:grpSpPr>
        <p:sp>
          <p:nvSpPr>
            <p:cNvPr id="17" name="Freeform 8"/>
            <p:cNvSpPr>
              <a:spLocks/>
            </p:cNvSpPr>
            <p:nvPr/>
          </p:nvSpPr>
          <p:spPr bwMode="blackWhite">
            <a:xfrm>
              <a:off x="4330700" y="1543049"/>
              <a:ext cx="1209675" cy="2276475"/>
            </a:xfrm>
            <a:custGeom>
              <a:avLst/>
              <a:gdLst>
                <a:gd name="T0" fmla="*/ 2147483647 w 976"/>
                <a:gd name="T1" fmla="*/ 2147483647 h 1811"/>
                <a:gd name="T2" fmla="*/ 2147483647 w 976"/>
                <a:gd name="T3" fmla="*/ 2147483647 h 1811"/>
                <a:gd name="T4" fmla="*/ 2147483647 w 976"/>
                <a:gd name="T5" fmla="*/ 2147483647 h 1811"/>
                <a:gd name="T6" fmla="*/ 2147483647 w 976"/>
                <a:gd name="T7" fmla="*/ 2147483647 h 1811"/>
                <a:gd name="T8" fmla="*/ 2147483647 w 976"/>
                <a:gd name="T9" fmla="*/ 2147483647 h 1811"/>
                <a:gd name="T10" fmla="*/ 2147483647 w 976"/>
                <a:gd name="T11" fmla="*/ 2147483647 h 1811"/>
                <a:gd name="T12" fmla="*/ 2147483647 w 976"/>
                <a:gd name="T13" fmla="*/ 2147483647 h 1811"/>
                <a:gd name="T14" fmla="*/ 2147483647 w 976"/>
                <a:gd name="T15" fmla="*/ 2147483647 h 1811"/>
                <a:gd name="T16" fmla="*/ 2147483647 w 976"/>
                <a:gd name="T17" fmla="*/ 2147483647 h 1811"/>
                <a:gd name="T18" fmla="*/ 2147483647 w 976"/>
                <a:gd name="T19" fmla="*/ 2147483647 h 1811"/>
                <a:gd name="T20" fmla="*/ 2147483647 w 976"/>
                <a:gd name="T21" fmla="*/ 2147483647 h 1811"/>
                <a:gd name="T22" fmla="*/ 2147483647 w 976"/>
                <a:gd name="T23" fmla="*/ 2147483647 h 1811"/>
                <a:gd name="T24" fmla="*/ 2147483647 w 976"/>
                <a:gd name="T25" fmla="*/ 2147483647 h 1811"/>
                <a:gd name="T26" fmla="*/ 2147483647 w 976"/>
                <a:gd name="T27" fmla="*/ 2147483647 h 1811"/>
                <a:gd name="T28" fmla="*/ 2147483647 w 976"/>
                <a:gd name="T29" fmla="*/ 2147483647 h 1811"/>
                <a:gd name="T30" fmla="*/ 2147483647 w 976"/>
                <a:gd name="T31" fmla="*/ 2147483647 h 1811"/>
                <a:gd name="T32" fmla="*/ 2147483647 w 976"/>
                <a:gd name="T33" fmla="*/ 2147483647 h 1811"/>
                <a:gd name="T34" fmla="*/ 2147483647 w 976"/>
                <a:gd name="T35" fmla="*/ 2147483647 h 1811"/>
                <a:gd name="T36" fmla="*/ 2147483647 w 976"/>
                <a:gd name="T37" fmla="*/ 2147483647 h 1811"/>
                <a:gd name="T38" fmla="*/ 2147483647 w 976"/>
                <a:gd name="T39" fmla="*/ 2147483647 h 1811"/>
                <a:gd name="T40" fmla="*/ 2147483647 w 976"/>
                <a:gd name="T41" fmla="*/ 2147483647 h 1811"/>
                <a:gd name="T42" fmla="*/ 2147483647 w 976"/>
                <a:gd name="T43" fmla="*/ 2147483647 h 1811"/>
                <a:gd name="T44" fmla="*/ 2147483647 w 976"/>
                <a:gd name="T45" fmla="*/ 2147483647 h 1811"/>
                <a:gd name="T46" fmla="*/ 2147483647 w 976"/>
                <a:gd name="T47" fmla="*/ 2147483647 h 1811"/>
                <a:gd name="T48" fmla="*/ 2147483647 w 976"/>
                <a:gd name="T49" fmla="*/ 2147483647 h 1811"/>
                <a:gd name="T50" fmla="*/ 2147483647 w 976"/>
                <a:gd name="T51" fmla="*/ 2147483647 h 1811"/>
                <a:gd name="T52" fmla="*/ 2147483647 w 976"/>
                <a:gd name="T53" fmla="*/ 2147483647 h 1811"/>
                <a:gd name="T54" fmla="*/ 2147483647 w 976"/>
                <a:gd name="T55" fmla="*/ 2147483647 h 1811"/>
                <a:gd name="T56" fmla="*/ 2147483647 w 976"/>
                <a:gd name="T57" fmla="*/ 2147483647 h 1811"/>
                <a:gd name="T58" fmla="*/ 2147483647 w 976"/>
                <a:gd name="T59" fmla="*/ 2147483647 h 1811"/>
                <a:gd name="T60" fmla="*/ 2147483647 w 976"/>
                <a:gd name="T61" fmla="*/ 2147483647 h 1811"/>
                <a:gd name="T62" fmla="*/ 2147483647 w 976"/>
                <a:gd name="T63" fmla="*/ 2147483647 h 1811"/>
                <a:gd name="T64" fmla="*/ 2147483647 w 976"/>
                <a:gd name="T65" fmla="*/ 2147483647 h 1811"/>
                <a:gd name="T66" fmla="*/ 2147483647 w 976"/>
                <a:gd name="T67" fmla="*/ 2147483647 h 1811"/>
                <a:gd name="T68" fmla="*/ 2147483647 w 976"/>
                <a:gd name="T69" fmla="*/ 2147483647 h 1811"/>
                <a:gd name="T70" fmla="*/ 2147483647 w 976"/>
                <a:gd name="T71" fmla="*/ 2147483647 h 181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976"/>
                <a:gd name="T109" fmla="*/ 0 h 1811"/>
                <a:gd name="T110" fmla="*/ 976 w 976"/>
                <a:gd name="T111" fmla="*/ 1811 h 1811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976" h="1811">
                  <a:moveTo>
                    <a:pt x="279" y="1669"/>
                  </a:moveTo>
                  <a:lnTo>
                    <a:pt x="338" y="1654"/>
                  </a:lnTo>
                  <a:lnTo>
                    <a:pt x="394" y="1635"/>
                  </a:lnTo>
                  <a:lnTo>
                    <a:pt x="449" y="1612"/>
                  </a:lnTo>
                  <a:lnTo>
                    <a:pt x="502" y="1585"/>
                  </a:lnTo>
                  <a:lnTo>
                    <a:pt x="553" y="1555"/>
                  </a:lnTo>
                  <a:lnTo>
                    <a:pt x="601" y="1520"/>
                  </a:lnTo>
                  <a:lnTo>
                    <a:pt x="651" y="1485"/>
                  </a:lnTo>
                  <a:lnTo>
                    <a:pt x="697" y="1447"/>
                  </a:lnTo>
                  <a:lnTo>
                    <a:pt x="741" y="1405"/>
                  </a:lnTo>
                  <a:lnTo>
                    <a:pt x="782" y="1361"/>
                  </a:lnTo>
                  <a:lnTo>
                    <a:pt x="818" y="1313"/>
                  </a:lnTo>
                  <a:lnTo>
                    <a:pt x="851" y="1263"/>
                  </a:lnTo>
                  <a:lnTo>
                    <a:pt x="882" y="1210"/>
                  </a:lnTo>
                  <a:lnTo>
                    <a:pt x="908" y="1156"/>
                  </a:lnTo>
                  <a:lnTo>
                    <a:pt x="929" y="1100"/>
                  </a:lnTo>
                  <a:lnTo>
                    <a:pt x="947" y="1043"/>
                  </a:lnTo>
                  <a:lnTo>
                    <a:pt x="961" y="984"/>
                  </a:lnTo>
                  <a:lnTo>
                    <a:pt x="970" y="924"/>
                  </a:lnTo>
                  <a:lnTo>
                    <a:pt x="975" y="865"/>
                  </a:lnTo>
                  <a:lnTo>
                    <a:pt x="975" y="804"/>
                  </a:lnTo>
                  <a:lnTo>
                    <a:pt x="972" y="744"/>
                  </a:lnTo>
                  <a:lnTo>
                    <a:pt x="963" y="685"/>
                  </a:lnTo>
                  <a:lnTo>
                    <a:pt x="950" y="625"/>
                  </a:lnTo>
                  <a:lnTo>
                    <a:pt x="935" y="567"/>
                  </a:lnTo>
                  <a:lnTo>
                    <a:pt x="913" y="511"/>
                  </a:lnTo>
                  <a:lnTo>
                    <a:pt x="889" y="456"/>
                  </a:lnTo>
                  <a:lnTo>
                    <a:pt x="859" y="403"/>
                  </a:lnTo>
                  <a:lnTo>
                    <a:pt x="826" y="352"/>
                  </a:lnTo>
                  <a:lnTo>
                    <a:pt x="790" y="304"/>
                  </a:lnTo>
                  <a:lnTo>
                    <a:pt x="751" y="259"/>
                  </a:lnTo>
                  <a:lnTo>
                    <a:pt x="708" y="216"/>
                  </a:lnTo>
                  <a:lnTo>
                    <a:pt x="662" y="178"/>
                  </a:lnTo>
                  <a:lnTo>
                    <a:pt x="614" y="142"/>
                  </a:lnTo>
                  <a:lnTo>
                    <a:pt x="563" y="109"/>
                  </a:lnTo>
                  <a:lnTo>
                    <a:pt x="510" y="81"/>
                  </a:lnTo>
                  <a:lnTo>
                    <a:pt x="455" y="56"/>
                  </a:lnTo>
                  <a:lnTo>
                    <a:pt x="398" y="36"/>
                  </a:lnTo>
                  <a:lnTo>
                    <a:pt x="340" y="20"/>
                  </a:lnTo>
                  <a:lnTo>
                    <a:pt x="281" y="8"/>
                  </a:lnTo>
                  <a:lnTo>
                    <a:pt x="222" y="0"/>
                  </a:lnTo>
                  <a:lnTo>
                    <a:pt x="294" y="112"/>
                  </a:lnTo>
                  <a:lnTo>
                    <a:pt x="369" y="222"/>
                  </a:lnTo>
                  <a:lnTo>
                    <a:pt x="226" y="434"/>
                  </a:lnTo>
                  <a:lnTo>
                    <a:pt x="268" y="446"/>
                  </a:lnTo>
                  <a:lnTo>
                    <a:pt x="306" y="463"/>
                  </a:lnTo>
                  <a:lnTo>
                    <a:pt x="344" y="483"/>
                  </a:lnTo>
                  <a:lnTo>
                    <a:pt x="379" y="508"/>
                  </a:lnTo>
                  <a:lnTo>
                    <a:pt x="411" y="536"/>
                  </a:lnTo>
                  <a:lnTo>
                    <a:pt x="440" y="567"/>
                  </a:lnTo>
                  <a:lnTo>
                    <a:pt x="467" y="601"/>
                  </a:lnTo>
                  <a:lnTo>
                    <a:pt x="489" y="637"/>
                  </a:lnTo>
                  <a:lnTo>
                    <a:pt x="508" y="676"/>
                  </a:lnTo>
                  <a:lnTo>
                    <a:pt x="521" y="716"/>
                  </a:lnTo>
                  <a:lnTo>
                    <a:pt x="531" y="758"/>
                  </a:lnTo>
                  <a:lnTo>
                    <a:pt x="538" y="801"/>
                  </a:lnTo>
                  <a:lnTo>
                    <a:pt x="539" y="843"/>
                  </a:lnTo>
                  <a:lnTo>
                    <a:pt x="536" y="886"/>
                  </a:lnTo>
                  <a:lnTo>
                    <a:pt x="529" y="928"/>
                  </a:lnTo>
                  <a:lnTo>
                    <a:pt x="517" y="969"/>
                  </a:lnTo>
                  <a:lnTo>
                    <a:pt x="501" y="1009"/>
                  </a:lnTo>
                  <a:lnTo>
                    <a:pt x="482" y="1046"/>
                  </a:lnTo>
                  <a:lnTo>
                    <a:pt x="458" y="1082"/>
                  </a:lnTo>
                  <a:lnTo>
                    <a:pt x="431" y="1115"/>
                  </a:lnTo>
                  <a:lnTo>
                    <a:pt x="401" y="1145"/>
                  </a:lnTo>
                  <a:lnTo>
                    <a:pt x="367" y="1172"/>
                  </a:lnTo>
                  <a:lnTo>
                    <a:pt x="331" y="1196"/>
                  </a:lnTo>
                  <a:lnTo>
                    <a:pt x="293" y="1215"/>
                  </a:lnTo>
                  <a:lnTo>
                    <a:pt x="253" y="1230"/>
                  </a:lnTo>
                  <a:lnTo>
                    <a:pt x="253" y="1093"/>
                  </a:lnTo>
                  <a:lnTo>
                    <a:pt x="0" y="1420"/>
                  </a:lnTo>
                  <a:lnTo>
                    <a:pt x="279" y="1810"/>
                  </a:lnTo>
                  <a:lnTo>
                    <a:pt x="279" y="1669"/>
                  </a:lnTo>
                </a:path>
              </a:pathLst>
            </a:custGeom>
            <a:solidFill>
              <a:schemeClr val="accent3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blackWhite">
            <a:xfrm>
              <a:off x="3379788" y="1371599"/>
              <a:ext cx="1343025" cy="2290763"/>
            </a:xfrm>
            <a:custGeom>
              <a:avLst/>
              <a:gdLst>
                <a:gd name="T0" fmla="*/ 2147483647 w 1084"/>
                <a:gd name="T1" fmla="*/ 2147483647 h 1823"/>
                <a:gd name="T2" fmla="*/ 2147483647 w 1084"/>
                <a:gd name="T3" fmla="*/ 2147483647 h 1823"/>
                <a:gd name="T4" fmla="*/ 2147483647 w 1084"/>
                <a:gd name="T5" fmla="*/ 2147483647 h 1823"/>
                <a:gd name="T6" fmla="*/ 2147483647 w 1084"/>
                <a:gd name="T7" fmla="*/ 2147483647 h 1823"/>
                <a:gd name="T8" fmla="*/ 2147483647 w 1084"/>
                <a:gd name="T9" fmla="*/ 2147483647 h 1823"/>
                <a:gd name="T10" fmla="*/ 2147483647 w 1084"/>
                <a:gd name="T11" fmla="*/ 2147483647 h 1823"/>
                <a:gd name="T12" fmla="*/ 2147483647 w 1084"/>
                <a:gd name="T13" fmla="*/ 2147483647 h 1823"/>
                <a:gd name="T14" fmla="*/ 2147483647 w 1084"/>
                <a:gd name="T15" fmla="*/ 2147483647 h 1823"/>
                <a:gd name="T16" fmla="*/ 2147483647 w 1084"/>
                <a:gd name="T17" fmla="*/ 2147483647 h 1823"/>
                <a:gd name="T18" fmla="*/ 2147483647 w 1084"/>
                <a:gd name="T19" fmla="*/ 2147483647 h 1823"/>
                <a:gd name="T20" fmla="*/ 2147483647 w 1084"/>
                <a:gd name="T21" fmla="*/ 2147483647 h 1823"/>
                <a:gd name="T22" fmla="*/ 2147483647 w 1084"/>
                <a:gd name="T23" fmla="*/ 2147483647 h 1823"/>
                <a:gd name="T24" fmla="*/ 2147483647 w 1084"/>
                <a:gd name="T25" fmla="*/ 2147483647 h 1823"/>
                <a:gd name="T26" fmla="*/ 2147483647 w 1084"/>
                <a:gd name="T27" fmla="*/ 2147483647 h 1823"/>
                <a:gd name="T28" fmla="*/ 2147483647 w 1084"/>
                <a:gd name="T29" fmla="*/ 2147483647 h 1823"/>
                <a:gd name="T30" fmla="*/ 2147483647 w 1084"/>
                <a:gd name="T31" fmla="*/ 2147483647 h 1823"/>
                <a:gd name="T32" fmla="*/ 2147483647 w 1084"/>
                <a:gd name="T33" fmla="*/ 0 h 1823"/>
                <a:gd name="T34" fmla="*/ 2147483647 w 1084"/>
                <a:gd name="T35" fmla="*/ 2147483647 h 1823"/>
                <a:gd name="T36" fmla="*/ 2147483647 w 1084"/>
                <a:gd name="T37" fmla="*/ 2147483647 h 1823"/>
                <a:gd name="T38" fmla="*/ 2147483647 w 1084"/>
                <a:gd name="T39" fmla="*/ 2147483647 h 1823"/>
                <a:gd name="T40" fmla="*/ 2147483647 w 1084"/>
                <a:gd name="T41" fmla="*/ 2147483647 h 1823"/>
                <a:gd name="T42" fmla="*/ 2147483647 w 1084"/>
                <a:gd name="T43" fmla="*/ 2147483647 h 1823"/>
                <a:gd name="T44" fmla="*/ 2147483647 w 1084"/>
                <a:gd name="T45" fmla="*/ 2147483647 h 1823"/>
                <a:gd name="T46" fmla="*/ 2147483647 w 1084"/>
                <a:gd name="T47" fmla="*/ 2147483647 h 1823"/>
                <a:gd name="T48" fmla="*/ 2147483647 w 1084"/>
                <a:gd name="T49" fmla="*/ 2147483647 h 1823"/>
                <a:gd name="T50" fmla="*/ 2147483647 w 1084"/>
                <a:gd name="T51" fmla="*/ 2147483647 h 1823"/>
                <a:gd name="T52" fmla="*/ 2147483647 w 1084"/>
                <a:gd name="T53" fmla="*/ 2147483647 h 1823"/>
                <a:gd name="T54" fmla="*/ 2147483647 w 1084"/>
                <a:gd name="T55" fmla="*/ 2147483647 h 1823"/>
                <a:gd name="T56" fmla="*/ 2147483647 w 1084"/>
                <a:gd name="T57" fmla="*/ 2147483647 h 1823"/>
                <a:gd name="T58" fmla="*/ 2147483647 w 1084"/>
                <a:gd name="T59" fmla="*/ 2147483647 h 1823"/>
                <a:gd name="T60" fmla="*/ 2147483647 w 1084"/>
                <a:gd name="T61" fmla="*/ 2147483647 h 1823"/>
                <a:gd name="T62" fmla="*/ 2147483647 w 1084"/>
                <a:gd name="T63" fmla="*/ 2147483647 h 1823"/>
                <a:gd name="T64" fmla="*/ 2147483647 w 1084"/>
                <a:gd name="T65" fmla="*/ 2147483647 h 1823"/>
                <a:gd name="T66" fmla="*/ 2147483647 w 1084"/>
                <a:gd name="T67" fmla="*/ 2147483647 h 1823"/>
                <a:gd name="T68" fmla="*/ 2147483647 w 1084"/>
                <a:gd name="T69" fmla="*/ 2147483647 h 1823"/>
                <a:gd name="T70" fmla="*/ 2147483647 w 1084"/>
                <a:gd name="T71" fmla="*/ 2147483647 h 1823"/>
                <a:gd name="T72" fmla="*/ 2147483647 w 1084"/>
                <a:gd name="T73" fmla="*/ 2147483647 h 1823"/>
                <a:gd name="T74" fmla="*/ 2147483647 w 1084"/>
                <a:gd name="T75" fmla="*/ 2147483647 h 1823"/>
                <a:gd name="T76" fmla="*/ 2147483647 w 1084"/>
                <a:gd name="T77" fmla="*/ 2147483647 h 1823"/>
                <a:gd name="T78" fmla="*/ 2147483647 w 1084"/>
                <a:gd name="T79" fmla="*/ 2147483647 h 1823"/>
                <a:gd name="T80" fmla="*/ 2147483647 w 1084"/>
                <a:gd name="T81" fmla="*/ 2147483647 h 182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84"/>
                <a:gd name="T124" fmla="*/ 0 h 1823"/>
                <a:gd name="T125" fmla="*/ 1084 w 1084"/>
                <a:gd name="T126" fmla="*/ 1823 h 182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84" h="1823">
                  <a:moveTo>
                    <a:pt x="832" y="1394"/>
                  </a:moveTo>
                  <a:lnTo>
                    <a:pt x="789" y="1389"/>
                  </a:lnTo>
                  <a:lnTo>
                    <a:pt x="746" y="1380"/>
                  </a:lnTo>
                  <a:lnTo>
                    <a:pt x="705" y="1367"/>
                  </a:lnTo>
                  <a:lnTo>
                    <a:pt x="665" y="1349"/>
                  </a:lnTo>
                  <a:lnTo>
                    <a:pt x="628" y="1327"/>
                  </a:lnTo>
                  <a:lnTo>
                    <a:pt x="592" y="1301"/>
                  </a:lnTo>
                  <a:lnTo>
                    <a:pt x="559" y="1273"/>
                  </a:lnTo>
                  <a:lnTo>
                    <a:pt x="530" y="1240"/>
                  </a:lnTo>
                  <a:lnTo>
                    <a:pt x="504" y="1206"/>
                  </a:lnTo>
                  <a:lnTo>
                    <a:pt x="482" y="1168"/>
                  </a:lnTo>
                  <a:lnTo>
                    <a:pt x="464" y="1129"/>
                  </a:lnTo>
                  <a:lnTo>
                    <a:pt x="450" y="1087"/>
                  </a:lnTo>
                  <a:lnTo>
                    <a:pt x="440" y="1044"/>
                  </a:lnTo>
                  <a:lnTo>
                    <a:pt x="434" y="1002"/>
                  </a:lnTo>
                  <a:lnTo>
                    <a:pt x="434" y="958"/>
                  </a:lnTo>
                  <a:lnTo>
                    <a:pt x="438" y="915"/>
                  </a:lnTo>
                  <a:lnTo>
                    <a:pt x="446" y="872"/>
                  </a:lnTo>
                  <a:lnTo>
                    <a:pt x="458" y="831"/>
                  </a:lnTo>
                  <a:lnTo>
                    <a:pt x="475" y="790"/>
                  </a:lnTo>
                  <a:lnTo>
                    <a:pt x="495" y="752"/>
                  </a:lnTo>
                  <a:lnTo>
                    <a:pt x="520" y="716"/>
                  </a:lnTo>
                  <a:lnTo>
                    <a:pt x="548" y="683"/>
                  </a:lnTo>
                  <a:lnTo>
                    <a:pt x="580" y="653"/>
                  </a:lnTo>
                  <a:lnTo>
                    <a:pt x="613" y="626"/>
                  </a:lnTo>
                  <a:lnTo>
                    <a:pt x="651" y="603"/>
                  </a:lnTo>
                  <a:lnTo>
                    <a:pt x="688" y="584"/>
                  </a:lnTo>
                  <a:lnTo>
                    <a:pt x="727" y="569"/>
                  </a:lnTo>
                  <a:lnTo>
                    <a:pt x="768" y="559"/>
                  </a:lnTo>
                  <a:lnTo>
                    <a:pt x="809" y="552"/>
                  </a:lnTo>
                  <a:lnTo>
                    <a:pt x="851" y="549"/>
                  </a:lnTo>
                  <a:lnTo>
                    <a:pt x="851" y="675"/>
                  </a:lnTo>
                  <a:lnTo>
                    <a:pt x="1083" y="353"/>
                  </a:lnTo>
                  <a:lnTo>
                    <a:pt x="846" y="0"/>
                  </a:lnTo>
                  <a:lnTo>
                    <a:pt x="846" y="121"/>
                  </a:lnTo>
                  <a:lnTo>
                    <a:pt x="786" y="125"/>
                  </a:lnTo>
                  <a:lnTo>
                    <a:pt x="726" y="133"/>
                  </a:lnTo>
                  <a:lnTo>
                    <a:pt x="668" y="145"/>
                  </a:lnTo>
                  <a:lnTo>
                    <a:pt x="610" y="161"/>
                  </a:lnTo>
                  <a:lnTo>
                    <a:pt x="554" y="181"/>
                  </a:lnTo>
                  <a:lnTo>
                    <a:pt x="499" y="206"/>
                  </a:lnTo>
                  <a:lnTo>
                    <a:pt x="446" y="234"/>
                  </a:lnTo>
                  <a:lnTo>
                    <a:pt x="394" y="264"/>
                  </a:lnTo>
                  <a:lnTo>
                    <a:pt x="344" y="298"/>
                  </a:lnTo>
                  <a:lnTo>
                    <a:pt x="297" y="335"/>
                  </a:lnTo>
                  <a:lnTo>
                    <a:pt x="252" y="376"/>
                  </a:lnTo>
                  <a:lnTo>
                    <a:pt x="211" y="420"/>
                  </a:lnTo>
                  <a:lnTo>
                    <a:pt x="173" y="466"/>
                  </a:lnTo>
                  <a:lnTo>
                    <a:pt x="138" y="515"/>
                  </a:lnTo>
                  <a:lnTo>
                    <a:pt x="107" y="566"/>
                  </a:lnTo>
                  <a:lnTo>
                    <a:pt x="79" y="620"/>
                  </a:lnTo>
                  <a:lnTo>
                    <a:pt x="56" y="675"/>
                  </a:lnTo>
                  <a:lnTo>
                    <a:pt x="37" y="733"/>
                  </a:lnTo>
                  <a:lnTo>
                    <a:pt x="21" y="790"/>
                  </a:lnTo>
                  <a:lnTo>
                    <a:pt x="10" y="850"/>
                  </a:lnTo>
                  <a:lnTo>
                    <a:pt x="3" y="909"/>
                  </a:lnTo>
                  <a:lnTo>
                    <a:pt x="0" y="969"/>
                  </a:lnTo>
                  <a:lnTo>
                    <a:pt x="2" y="1029"/>
                  </a:lnTo>
                  <a:lnTo>
                    <a:pt x="7" y="1090"/>
                  </a:lnTo>
                  <a:lnTo>
                    <a:pt x="18" y="1148"/>
                  </a:lnTo>
                  <a:lnTo>
                    <a:pt x="31" y="1207"/>
                  </a:lnTo>
                  <a:lnTo>
                    <a:pt x="50" y="1264"/>
                  </a:lnTo>
                  <a:lnTo>
                    <a:pt x="73" y="1320"/>
                  </a:lnTo>
                  <a:lnTo>
                    <a:pt x="99" y="1374"/>
                  </a:lnTo>
                  <a:lnTo>
                    <a:pt x="129" y="1426"/>
                  </a:lnTo>
                  <a:lnTo>
                    <a:pt x="163" y="1476"/>
                  </a:lnTo>
                  <a:lnTo>
                    <a:pt x="200" y="1523"/>
                  </a:lnTo>
                  <a:lnTo>
                    <a:pt x="241" y="1568"/>
                  </a:lnTo>
                  <a:lnTo>
                    <a:pt x="283" y="1609"/>
                  </a:lnTo>
                  <a:lnTo>
                    <a:pt x="330" y="1647"/>
                  </a:lnTo>
                  <a:lnTo>
                    <a:pt x="379" y="1682"/>
                  </a:lnTo>
                  <a:lnTo>
                    <a:pt x="431" y="1713"/>
                  </a:lnTo>
                  <a:lnTo>
                    <a:pt x="484" y="1741"/>
                  </a:lnTo>
                  <a:lnTo>
                    <a:pt x="539" y="1765"/>
                  </a:lnTo>
                  <a:lnTo>
                    <a:pt x="595" y="1784"/>
                  </a:lnTo>
                  <a:lnTo>
                    <a:pt x="654" y="1800"/>
                  </a:lnTo>
                  <a:lnTo>
                    <a:pt x="713" y="1812"/>
                  </a:lnTo>
                  <a:lnTo>
                    <a:pt x="772" y="1819"/>
                  </a:lnTo>
                  <a:lnTo>
                    <a:pt x="833" y="1822"/>
                  </a:lnTo>
                  <a:lnTo>
                    <a:pt x="893" y="1821"/>
                  </a:lnTo>
                  <a:lnTo>
                    <a:pt x="708" y="1557"/>
                  </a:lnTo>
                  <a:lnTo>
                    <a:pt x="832" y="1394"/>
                  </a:lnTo>
                </a:path>
              </a:pathLst>
            </a:custGeom>
            <a:solidFill>
              <a:schemeClr val="accent1"/>
            </a:solidFill>
            <a:ln w="12700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20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blackWhite">
            <a:xfrm rot="16200000">
              <a:off x="3312970" y="2404340"/>
              <a:ext cx="687689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Investment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altLang="zh-CN" sz="1100" dirty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Style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blackWhite">
            <a:xfrm rot="16200000">
              <a:off x="4859257" y="2404339"/>
              <a:ext cx="838371" cy="3642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Identifying</a:t>
              </a:r>
            </a:p>
            <a:p>
              <a:pPr algn="ctr" defTabSz="787400">
                <a:spcBef>
                  <a:spcPts val="200"/>
                </a:spcBef>
                <a:buClr>
                  <a:schemeClr val="tx1"/>
                </a:buClr>
              </a:pPr>
              <a:r>
                <a:rPr lang="en-US" sz="1100" dirty="0" smtClean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Opportunities</a:t>
              </a:r>
              <a:endParaRPr lang="en-US" sz="11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10038"/>
              </p:ext>
            </p:extLst>
          </p:nvPr>
        </p:nvGraphicFramePr>
        <p:xfrm>
          <a:off x="2897267" y="1676400"/>
          <a:ext cx="6705600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Investment Style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Investor-focused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Equity</a:t>
                      </a:r>
                      <a:r>
                        <a:rPr lang="en-US" sz="1400" baseline="0" dirty="0" smtClean="0"/>
                        <a:t> Valuation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Bottoms-up</a:t>
                      </a:r>
                      <a:r>
                        <a:rPr lang="en-US" sz="1400" baseline="0" dirty="0" smtClean="0"/>
                        <a:t> Fundamental Analysis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Holding Period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 dirty="0" smtClean="0"/>
                        <a:t>3-6 Months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316184"/>
              </p:ext>
            </p:extLst>
          </p:nvPr>
        </p:nvGraphicFramePr>
        <p:xfrm>
          <a:off x="2897267" y="5715000"/>
          <a:ext cx="6705600" cy="1407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4333"/>
                <a:gridCol w="4421267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dirty="0" smtClean="0"/>
                        <a:t>Investment Opportunities Identification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Analysis Techniques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Discount</a:t>
                      </a:r>
                    </a:p>
                    <a:p>
                      <a:pPr marL="285750" marR="0" lvl="0" indent="-28575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Market Inefficiencies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Opportunities Identification Process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07784" y="6093023"/>
            <a:ext cx="1383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 smtClean="0"/>
              <a:t>Catalysts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181600" y="6705932"/>
            <a:ext cx="1415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/>
              <a:t>Identify a </a:t>
            </a:r>
            <a:r>
              <a:rPr lang="en-US" sz="1400" dirty="0" smtClean="0"/>
              <a:t>Theme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605547" y="6705932"/>
            <a:ext cx="1548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Exploit the Theme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8085151" y="6705932"/>
            <a:ext cx="1499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 smtClean="0"/>
              <a:t>Deep-Dive Targets</a:t>
            </a:r>
            <a:endParaRPr lang="en-US" sz="1400" dirty="0"/>
          </a:p>
        </p:txBody>
      </p:sp>
      <p:sp>
        <p:nvSpPr>
          <p:cNvPr id="8" name="Right Arrow 7"/>
          <p:cNvSpPr/>
          <p:nvPr/>
        </p:nvSpPr>
        <p:spPr>
          <a:xfrm>
            <a:off x="6537298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8042156" y="6782876"/>
            <a:ext cx="111688" cy="153889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50081"/>
            <a:ext cx="114388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45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00400" y="1143000"/>
            <a:ext cx="6400800" cy="1435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Portfolio Construction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541441"/>
              </p:ext>
            </p:extLst>
          </p:nvPr>
        </p:nvGraphicFramePr>
        <p:xfrm>
          <a:off x="3276600" y="1511459"/>
          <a:ext cx="6271932" cy="10058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Small, toe-hold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Building the position</a:t>
                      </a:r>
                      <a:r>
                        <a:rPr lang="en-US" sz="1200" baseline="0" dirty="0" smtClean="0"/>
                        <a:t> as conviction grows and/or catalysts unfold</a:t>
                      </a:r>
                      <a:endParaRPr lang="en-US" sz="1200" dirty="0"/>
                    </a:p>
                  </a:txBody>
                  <a:tcPr anchor="ctr"/>
                </a:tc>
              </a:tr>
              <a:tr h="40805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Midsize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Less upside relative to other positions</a:t>
                      </a:r>
                    </a:p>
                    <a:p>
                      <a:r>
                        <a:rPr lang="en-US" sz="1200" dirty="0" smtClean="0"/>
                        <a:t>Same</a:t>
                      </a:r>
                      <a:r>
                        <a:rPr lang="en-US" sz="1200" baseline="0" dirty="0" smtClean="0"/>
                        <a:t> intent as toe-hold positions</a:t>
                      </a:r>
                      <a:endParaRPr lang="en-US" sz="1200" dirty="0"/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Maximum position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Potentially</a:t>
                      </a:r>
                      <a:r>
                        <a:rPr lang="en-US" sz="1200" baseline="0" dirty="0" smtClean="0"/>
                        <a:t> with a near-term catalyst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00400" y="1234461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Position </a:t>
            </a:r>
            <a:r>
              <a:rPr lang="en-US" sz="1200" b="1" dirty="0" smtClean="0"/>
              <a:t>Size</a:t>
            </a:r>
            <a:endParaRPr lang="en-US" sz="1200" b="1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3200400" y="1511456"/>
            <a:ext cx="64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57800" y="1234460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0800" y="1143000"/>
            <a:ext cx="609600" cy="14352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Initialize Positions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276600" y="1797021"/>
            <a:ext cx="6172200" cy="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276600" y="2244965"/>
            <a:ext cx="6172200" cy="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193774" y="2743200"/>
            <a:ext cx="6400800" cy="2209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193774" y="2843254"/>
            <a:ext cx="209084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Process</a:t>
            </a:r>
            <a:endParaRPr lang="en-US" sz="1200" b="1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3193774" y="3124200"/>
            <a:ext cx="64008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1174" y="2843253"/>
            <a:ext cx="2090849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Activity</a:t>
            </a:r>
            <a:endParaRPr lang="en-US" sz="1200" b="1" dirty="0"/>
          </a:p>
        </p:txBody>
      </p:sp>
      <p:sp>
        <p:nvSpPr>
          <p:cNvPr id="39" name="Rectangle 38"/>
          <p:cNvSpPr/>
          <p:nvPr/>
        </p:nvSpPr>
        <p:spPr>
          <a:xfrm>
            <a:off x="2584174" y="2743200"/>
            <a:ext cx="609600" cy="220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Change Position Size</a:t>
            </a:r>
            <a:endParaRPr lang="en-US" sz="1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3269974" y="3854396"/>
            <a:ext cx="6172200" cy="0"/>
          </a:xfrm>
          <a:prstGeom prst="line">
            <a:avLst/>
          </a:prstGeom>
          <a:ln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269974" y="4415990"/>
            <a:ext cx="6172200" cy="0"/>
          </a:xfrm>
          <a:prstGeom prst="line">
            <a:avLst/>
          </a:prstGeom>
          <a:ln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88318"/>
              </p:ext>
            </p:extLst>
          </p:nvPr>
        </p:nvGraphicFramePr>
        <p:xfrm>
          <a:off x="3269974" y="3124200"/>
          <a:ext cx="6271932" cy="1797022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69410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Risk/Reward Assessment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Review the risk/reward profile of current position. As positions move closer to their price target, they are viewed as more risky as the potential for give-back of open profit is increase.</a:t>
                      </a:r>
                      <a:endParaRPr lang="en-US" sz="1200" dirty="0"/>
                    </a:p>
                  </a:txBody>
                  <a:tcPr anchor="ctr"/>
                </a:tc>
              </a:tr>
              <a:tr h="60713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Active Rebalancing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Trim from positions reach predetermined size</a:t>
                      </a:r>
                      <a:r>
                        <a:rPr lang="en-US" sz="1200" baseline="0" dirty="0" smtClean="0"/>
                        <a:t> constraints;</a:t>
                      </a:r>
                    </a:p>
                    <a:p>
                      <a:r>
                        <a:rPr lang="en-US" sz="1200" baseline="0" dirty="0" smtClean="0"/>
                        <a:t>Redeploy the capital to other attractive equities.</a:t>
                      </a:r>
                      <a:endParaRPr lang="en-US" sz="1200" dirty="0"/>
                    </a:p>
                  </a:txBody>
                  <a:tcPr anchor="ctr"/>
                </a:tc>
              </a:tr>
              <a:tr h="495786"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Catalyst Analysis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Capture the specific “event” from economic scenarios that leads to the stock converging to</a:t>
                      </a:r>
                      <a:r>
                        <a:rPr lang="en-US" sz="1200" baseline="0" dirty="0" smtClean="0"/>
                        <a:t>wards its price target.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3200400" y="5105400"/>
            <a:ext cx="6400800" cy="2057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200400" y="5210912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Exit Trigger</a:t>
            </a:r>
            <a:endParaRPr lang="en-US" sz="1200" b="1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3200400" y="5514188"/>
            <a:ext cx="6400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57800" y="5210912"/>
            <a:ext cx="2090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Methodology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90800" y="5105400"/>
            <a:ext cx="609600" cy="2057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Sell Discipline</a:t>
            </a:r>
            <a:endParaRPr lang="en-US" sz="1400" dirty="0"/>
          </a:p>
        </p:txBody>
      </p:sp>
      <p:cxnSp>
        <p:nvCxnSpPr>
          <p:cNvPr id="57" name="Straight Connector 56"/>
          <p:cNvCxnSpPr/>
          <p:nvPr/>
        </p:nvCxnSpPr>
        <p:spPr>
          <a:xfrm>
            <a:off x="3276600" y="5980045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3276600" y="6820200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20933"/>
              </p:ext>
            </p:extLst>
          </p:nvPr>
        </p:nvGraphicFramePr>
        <p:xfrm>
          <a:off x="3276600" y="5491703"/>
          <a:ext cx="6271932" cy="1596771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32704"/>
                <a:gridCol w="4239228"/>
              </a:tblGrid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Price</a:t>
                      </a:r>
                      <a:r>
                        <a:rPr lang="en-US" sz="1200" baseline="0" dirty="0" smtClean="0"/>
                        <a:t> Targets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Once price target</a:t>
                      </a:r>
                      <a:r>
                        <a:rPr lang="en-US" sz="1200" baseline="0" dirty="0" smtClean="0"/>
                        <a:t>s have been hit, position is usually closed out.</a:t>
                      </a:r>
                    </a:p>
                    <a:p>
                      <a:r>
                        <a:rPr lang="en-US" sz="1200" baseline="0" dirty="0" smtClean="0"/>
                        <a:t>A portion may be kept for extra profit from market momentum.</a:t>
                      </a:r>
                      <a:endParaRPr lang="en-US" sz="1200" dirty="0"/>
                    </a:p>
                  </a:txBody>
                  <a:tcPr anchor="ctr"/>
                </a:tc>
              </a:tr>
              <a:tr h="40805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Better Opportunities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Better investment</a:t>
                      </a:r>
                      <a:r>
                        <a:rPr lang="en-US" sz="1200" baseline="0" dirty="0" smtClean="0"/>
                        <a:t> opportunities occur.</a:t>
                      </a:r>
                      <a:endParaRPr lang="en-US" sz="1200" dirty="0"/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Establishing </a:t>
                      </a:r>
                      <a:r>
                        <a:rPr lang="en-US" sz="1200" baseline="0" dirty="0" smtClean="0"/>
                        <a:t>and Checking</a:t>
                      </a:r>
                      <a:endParaRPr lang="en-US" sz="1200" dirty="0" smtClean="0"/>
                    </a:p>
                    <a:p>
                      <a:r>
                        <a:rPr lang="en-US" sz="1200" dirty="0" smtClean="0"/>
                        <a:t>New Thesis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When a position doesn’t move in-line with expectations,</a:t>
                      </a:r>
                      <a:r>
                        <a:rPr lang="en-US" sz="1200" baseline="0" dirty="0" smtClean="0"/>
                        <a:t> the thesis is re-evaluated. If it’s no longer hold, exits will occur.</a:t>
                      </a:r>
                    </a:p>
                  </a:txBody>
                  <a:tcPr anchor="ctr"/>
                </a:tc>
              </a:tr>
              <a:tr h="25317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Macro Factors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Uncertainty surrounding government interventions.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3276600" y="6324600"/>
            <a:ext cx="6172200" cy="0"/>
          </a:xfrm>
          <a:prstGeom prst="line">
            <a:avLst/>
          </a:prstGeom>
          <a:ln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32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categorization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There are some fundamental differences between modeling credit events for residential loans versus commercial loans.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The smaller population of commercial mortgages, heterogeneity of the underlying properties/loans, and the potential for large single loans to have an outsized impact on the returns of a securitization (“concentration risk”) all lead to a modeling process that combines qualitative and quantitative measures.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sp>
        <p:nvSpPr>
          <p:cNvPr id="4" name="TextBox 3"/>
          <p:cNvSpPr txBox="1"/>
          <p:nvPr/>
        </p:nvSpPr>
        <p:spPr>
          <a:xfrm>
            <a:off x="2868613" y="167389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Market Exposure</a:t>
            </a:r>
            <a:endParaRPr 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2868613" y="205489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Positions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868613" y="251209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Purpose of Short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2868613" y="331384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Market Exposure</a:t>
            </a:r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2868613" y="3610694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Positions</a:t>
            </a:r>
            <a:endParaRPr 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2868613" y="395989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>Purpose of Short</a:t>
            </a:r>
            <a:endParaRPr lang="en-US" sz="12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4164013" y="1015890"/>
            <a:ext cx="4979987" cy="3556110"/>
            <a:chOff x="4164013" y="1323200"/>
            <a:chExt cx="4598987" cy="3556110"/>
          </a:xfrm>
        </p:grpSpPr>
        <p:grpSp>
          <p:nvGrpSpPr>
            <p:cNvPr id="30" name="Group 3"/>
            <p:cNvGrpSpPr>
              <a:grpSpLocks/>
            </p:cNvGrpSpPr>
            <p:nvPr/>
          </p:nvGrpSpPr>
          <p:grpSpPr bwMode="auto">
            <a:xfrm>
              <a:off x="4164013" y="1601122"/>
              <a:ext cx="4598987" cy="3278188"/>
              <a:chOff x="470" y="1382"/>
              <a:chExt cx="2515" cy="1777"/>
            </a:xfrm>
          </p:grpSpPr>
          <p:sp>
            <p:nvSpPr>
              <p:cNvPr id="31" name="Rectangle 4"/>
              <p:cNvSpPr>
                <a:spLocks noChangeArrowheads="1"/>
              </p:cNvSpPr>
              <p:nvPr/>
            </p:nvSpPr>
            <p:spPr bwMode="auto">
              <a:xfrm>
                <a:off x="1727" y="2271"/>
                <a:ext cx="1258" cy="888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36000" tIns="72000" rIns="36000" bIns="36000" anchorCtr="1"/>
              <a:lstStyle/>
              <a:p>
                <a:pPr algn="ctr"/>
                <a:r>
                  <a:rPr lang="en-US" altLang="zh-CN" sz="1200" b="1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Hedged</a:t>
                </a:r>
                <a:endParaRPr lang="en-GB" altLang="ja-JP" sz="1200" b="1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endParaRPr lang="en-GB" altLang="ja-JP" sz="1200" dirty="0">
                  <a:solidFill>
                    <a:srgbClr val="002776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r>
                  <a:rPr lang="en-US" altLang="zh-CN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30-70%</a:t>
                </a:r>
                <a:endParaRPr lang="en-GB" altLang="ja-JP" sz="1200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>
                  <a:spcBef>
                    <a:spcPts val="800"/>
                  </a:spcBef>
                </a:pPr>
                <a:r>
                  <a:rPr lang="en-GB" altLang="ja-JP" sz="1200" dirty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Maintain short book at all </a:t>
                </a:r>
                <a:r>
                  <a:rPr lang="en-GB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times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GB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As a profit centre</a:t>
                </a:r>
              </a:p>
              <a:p>
                <a:pPr algn="ctr"/>
                <a:r>
                  <a:rPr lang="en-GB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Hedging</a:t>
                </a:r>
                <a:r>
                  <a:rPr lang="en-GB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 </a:t>
                </a:r>
                <a:endParaRPr lang="en-GB" altLang="ja-JP" sz="1200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42" name="Rectangle 5"/>
              <p:cNvSpPr>
                <a:spLocks noChangeArrowheads="1"/>
              </p:cNvSpPr>
              <p:nvPr/>
            </p:nvSpPr>
            <p:spPr bwMode="auto">
              <a:xfrm>
                <a:off x="470" y="2271"/>
                <a:ext cx="1257" cy="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36000" tIns="72000" rIns="36000" bIns="36000" anchorCtr="1"/>
              <a:lstStyle/>
              <a:p>
                <a:pPr algn="ctr"/>
                <a:r>
                  <a:rPr lang="en-US" altLang="zh-CN" sz="1200" b="1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Low Beta</a:t>
                </a:r>
                <a:endParaRPr lang="en-GB" altLang="ja-JP" sz="1200" b="1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endParaRPr lang="en-GB" altLang="ja-JP" sz="1200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r>
                  <a:rPr lang="en-US" altLang="zh-CN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0-30%</a:t>
                </a:r>
                <a:endParaRPr lang="en-GB" altLang="ja-JP" sz="1200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>
                  <a:spcBef>
                    <a:spcPts val="800"/>
                  </a:spcBef>
                </a:pPr>
                <a:r>
                  <a:rPr lang="en-GB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Remain market neutral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GB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Generate market neutral </a:t>
                </a:r>
              </a:p>
              <a:p>
                <a:pPr algn="ctr"/>
                <a:r>
                  <a:rPr lang="en-GB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by dollar/beta adjusted</a:t>
                </a:r>
                <a:endParaRPr lang="en-GB" altLang="ja-JP" sz="1200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43" name="Rectangle 6"/>
              <p:cNvSpPr>
                <a:spLocks noChangeArrowheads="1"/>
              </p:cNvSpPr>
              <p:nvPr/>
            </p:nvSpPr>
            <p:spPr bwMode="auto">
              <a:xfrm>
                <a:off x="470" y="1382"/>
                <a:ext cx="1257" cy="888"/>
              </a:xfrm>
              <a:prstGeom prst="rect">
                <a:avLst/>
              </a:prstGeom>
              <a:solidFill>
                <a:schemeClr val="accent6"/>
              </a:solidFill>
              <a:ln w="952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36000" tIns="72000" rIns="36000" bIns="36000" anchorCtr="1"/>
              <a:lstStyle/>
              <a:p>
                <a:pPr algn="ctr"/>
                <a:r>
                  <a:rPr lang="en-US" altLang="ja-JP" sz="1200" b="1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High Beta</a:t>
                </a:r>
                <a:endParaRPr lang="en-GB" altLang="ja-JP" sz="1200" b="1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endParaRPr lang="en-GB" altLang="ja-JP" sz="1200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r>
                  <a:rPr lang="zh-CN" altLang="en-US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≥</a:t>
                </a:r>
                <a:r>
                  <a:rPr lang="en-US" altLang="zh-CN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100%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Long-biased</a:t>
                </a:r>
              </a:p>
              <a:p>
                <a:pPr algn="ctr"/>
                <a:r>
                  <a:rPr lang="en-US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No dedicated short book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Alpha as oppose to hedge </a:t>
                </a:r>
              </a:p>
              <a:p>
                <a:pPr algn="ctr"/>
                <a:r>
                  <a:rPr lang="en-US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their long book</a:t>
                </a:r>
              </a:p>
              <a:p>
                <a:pPr algn="ctr"/>
                <a:r>
                  <a:rPr lang="en-GB" altLang="ja-JP" sz="1200" dirty="0" smtClean="0">
                    <a:solidFill>
                      <a:schemeClr val="bg1"/>
                    </a:solidFill>
                    <a:ea typeface="Arial Unicode MS" pitchFamily="34" charset="-122"/>
                    <a:cs typeface="Arial Unicode MS" pitchFamily="34" charset="-122"/>
                  </a:rPr>
                  <a:t> </a:t>
                </a:r>
                <a:endParaRPr lang="en-GB" altLang="ja-JP" sz="1200" dirty="0">
                  <a:solidFill>
                    <a:schemeClr val="bg1"/>
                  </a:solidFill>
                  <a:ea typeface="Arial Unicode MS" pitchFamily="34" charset="-122"/>
                  <a:cs typeface="Arial Unicode MS" pitchFamily="34" charset="-122"/>
                </a:endParaRPr>
              </a:p>
            </p:txBody>
          </p:sp>
          <p:sp>
            <p:nvSpPr>
              <p:cNvPr id="44" name="Rectangle 7"/>
              <p:cNvSpPr>
                <a:spLocks noChangeArrowheads="1"/>
              </p:cNvSpPr>
              <p:nvPr/>
            </p:nvSpPr>
            <p:spPr bwMode="auto">
              <a:xfrm>
                <a:off x="1727" y="1382"/>
                <a:ext cx="1258" cy="888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36000" tIns="72000" rIns="36000" bIns="36000" anchorCtr="1"/>
              <a:lstStyle/>
              <a:p>
                <a:pPr algn="ctr"/>
                <a:r>
                  <a:rPr lang="en-US" altLang="zh-CN" sz="1200" b="1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Flexible/Directional</a:t>
                </a:r>
                <a:endParaRPr lang="en-GB" altLang="ja-JP" sz="1200" b="1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endParaRPr lang="en-GB" altLang="ja-JP" sz="1200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  <a:p>
                <a:pPr algn="ctr"/>
                <a:r>
                  <a:rPr lang="en-US" altLang="zh-CN" sz="1200" dirty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70-100</a:t>
                </a:r>
                <a:r>
                  <a:rPr lang="en-US" altLang="zh-CN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%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Long biased</a:t>
                </a:r>
              </a:p>
              <a:p>
                <a:pPr algn="ctr"/>
                <a:r>
                  <a:rPr lang="en-US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Consistently manage short books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Generate flexibility to </a:t>
                </a:r>
              </a:p>
              <a:p>
                <a:pPr algn="ctr"/>
                <a:r>
                  <a:rPr lang="en-US" altLang="ja-JP" sz="1200" dirty="0" smtClean="0">
                    <a:solidFill>
                      <a:schemeClr val="tx2"/>
                    </a:solidFill>
                    <a:ea typeface="Arial Unicode MS" pitchFamily="34" charset="-122"/>
                    <a:cs typeface="Arial Unicode MS" pitchFamily="34" charset="-122"/>
                  </a:rPr>
                  <a:t>the market movements</a:t>
                </a:r>
                <a:endParaRPr lang="en-GB" altLang="ja-JP" sz="1200" dirty="0">
                  <a:solidFill>
                    <a:schemeClr val="tx2"/>
                  </a:solidFill>
                  <a:ea typeface="Arial Unicode MS" pitchFamily="34" charset="-122"/>
                  <a:cs typeface="Arial Unicode MS" pitchFamily="34" charset="-122"/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4265557" y="1323201"/>
              <a:ext cx="20908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Market Dependent</a:t>
              </a:r>
              <a:endParaRPr lang="en-US" sz="1200" b="1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67371" y="1323200"/>
              <a:ext cx="20908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Core</a:t>
              </a:r>
              <a:endParaRPr lang="en-US" sz="1200" b="1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171213" y="1585953"/>
              <a:ext cx="227953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6462592" y="1585953"/>
              <a:ext cx="2286000" cy="0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/>
          <p:nvPr/>
        </p:nvCxnSpPr>
        <p:spPr>
          <a:xfrm>
            <a:off x="4114800" y="1721520"/>
            <a:ext cx="0" cy="18288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14800" y="2054890"/>
            <a:ext cx="0" cy="27699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114800" y="2512089"/>
            <a:ext cx="0" cy="30480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114800" y="2079476"/>
            <a:ext cx="0" cy="27699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114800" y="3363823"/>
            <a:ext cx="0" cy="18288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114800" y="3959890"/>
            <a:ext cx="0" cy="30480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114800" y="3661672"/>
            <a:ext cx="0" cy="18288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3810000" y="5029200"/>
            <a:ext cx="5318398" cy="2057400"/>
            <a:chOff x="4306140" y="5403850"/>
            <a:chExt cx="4724400" cy="1683291"/>
          </a:xfrm>
        </p:grpSpPr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6140" y="5403850"/>
              <a:ext cx="4724400" cy="1683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5" name="Straight Connector 24"/>
            <p:cNvCxnSpPr/>
            <p:nvPr/>
          </p:nvCxnSpPr>
          <p:spPr>
            <a:xfrm>
              <a:off x="4648200" y="6496050"/>
              <a:ext cx="426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115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743200" y="4953000"/>
            <a:ext cx="6705600" cy="2390775"/>
            <a:chOff x="2743200" y="4953000"/>
            <a:chExt cx="6705600" cy="2390775"/>
          </a:xfrm>
        </p:grpSpPr>
        <p:graphicFrame>
          <p:nvGraphicFramePr>
            <p:cNvPr id="6" name="Chart 5"/>
            <p:cNvGraphicFramePr/>
            <p:nvPr>
              <p:extLst>
                <p:ext uri="{D42A27DB-BD31-4B8C-83A1-F6EECF244321}">
                  <p14:modId xmlns:p14="http://schemas.microsoft.com/office/powerpoint/2010/main" val="3205879135"/>
                </p:ext>
              </p:extLst>
            </p:nvPr>
          </p:nvGraphicFramePr>
          <p:xfrm>
            <a:off x="2743200" y="4953000"/>
            <a:ext cx="6705600" cy="23907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Rectangle 6"/>
            <p:cNvSpPr/>
            <p:nvPr/>
          </p:nvSpPr>
          <p:spPr>
            <a:xfrm>
              <a:off x="3733800" y="5333999"/>
              <a:ext cx="609600" cy="116681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219700" y="5086350"/>
              <a:ext cx="609600" cy="141446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705600" y="5562599"/>
              <a:ext cx="609600" cy="9382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29600" y="5791200"/>
              <a:ext cx="609600" cy="70961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19700" y="6500810"/>
              <a:ext cx="609600" cy="46910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05600" y="6500812"/>
              <a:ext cx="609600" cy="4691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229600" y="6500810"/>
              <a:ext cx="609600" cy="7096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9580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categorization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1826932486"/>
              </p:ext>
            </p:extLst>
          </p:nvPr>
        </p:nvGraphicFramePr>
        <p:xfrm>
          <a:off x="2743200" y="2667794"/>
          <a:ext cx="6705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Rectangle 32"/>
          <p:cNvSpPr/>
          <p:nvPr/>
        </p:nvSpPr>
        <p:spPr>
          <a:xfrm>
            <a:off x="4147718" y="4344194"/>
            <a:ext cx="1193598" cy="653490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7201814" y="4980005"/>
            <a:ext cx="1193598" cy="45719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 rot="10800000">
            <a:off x="5104920" y="4344194"/>
            <a:ext cx="236396" cy="652880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7" name="Freeform 5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5400000">
            <a:off x="5104919" y="4346390"/>
            <a:ext cx="236396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Rectangular Callout 37"/>
          <p:cNvSpPr/>
          <p:nvPr/>
        </p:nvSpPr>
        <p:spPr>
          <a:xfrm rot="5400000">
            <a:off x="5833100" y="4081314"/>
            <a:ext cx="489226" cy="1255774"/>
          </a:xfrm>
          <a:prstGeom prst="wedgeRectCallout">
            <a:avLst>
              <a:gd name="adj1" fmla="val -20833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49825" y="4466350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Max: 30%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Freeform 5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182429" y="4968424"/>
            <a:ext cx="236396" cy="64615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1" name="Freeform 5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6200000">
            <a:off x="7271078" y="4887091"/>
            <a:ext cx="59100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1" name="Rectangular Callout 50"/>
          <p:cNvSpPr/>
          <p:nvPr/>
        </p:nvSpPr>
        <p:spPr>
          <a:xfrm rot="16200000">
            <a:off x="6274177" y="4749837"/>
            <a:ext cx="489226" cy="1150381"/>
          </a:xfrm>
          <a:prstGeom prst="wedgeRectCallout">
            <a:avLst>
              <a:gd name="adj1" fmla="val 55425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03975" y="5106194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Min: 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47718" y="3429794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70%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74809" y="3660626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82428" y="586819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33948" y="544147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40%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3417868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Highest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Max Market Exposure: 30%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110%</a:t>
            </a: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6547102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Lowest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Min Market Exposure: 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120%</a:t>
            </a:r>
          </a:p>
        </p:txBody>
      </p:sp>
    </p:spTree>
    <p:extLst>
      <p:ext uri="{BB962C8B-B14F-4D97-AF65-F5344CB8AC3E}">
        <p14:creationId xmlns:p14="http://schemas.microsoft.com/office/powerpoint/2010/main" val="132053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020218765"/>
              </p:ext>
            </p:extLst>
          </p:nvPr>
        </p:nvGraphicFramePr>
        <p:xfrm>
          <a:off x="2743200" y="2667794"/>
          <a:ext cx="6705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4147718" y="4344194"/>
            <a:ext cx="1193598" cy="653490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flipV="1">
            <a:off x="7201814" y="4980005"/>
            <a:ext cx="1193598" cy="45719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 rot="10800000">
            <a:off x="5104920" y="4344194"/>
            <a:ext cx="236396" cy="652880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9" name="Freeform 5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5400000">
            <a:off x="5104919" y="4346390"/>
            <a:ext cx="236396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1" name="Rectangular Callout 10"/>
          <p:cNvSpPr/>
          <p:nvPr/>
        </p:nvSpPr>
        <p:spPr>
          <a:xfrm rot="5400000">
            <a:off x="5833100" y="4081314"/>
            <a:ext cx="489226" cy="1255774"/>
          </a:xfrm>
          <a:prstGeom prst="wedgeRectCallout">
            <a:avLst>
              <a:gd name="adj1" fmla="val -20833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49825" y="4466350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Max: 30%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Freeform 5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182429" y="4968424"/>
            <a:ext cx="236396" cy="64615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Freeform 5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6200000">
            <a:off x="7271078" y="4887091"/>
            <a:ext cx="59100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6" name="Rectangular Callout 25"/>
          <p:cNvSpPr/>
          <p:nvPr/>
        </p:nvSpPr>
        <p:spPr>
          <a:xfrm rot="16200000">
            <a:off x="6274177" y="4749837"/>
            <a:ext cx="489226" cy="1150381"/>
          </a:xfrm>
          <a:prstGeom prst="wedgeRectCallout">
            <a:avLst>
              <a:gd name="adj1" fmla="val 55425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03975" y="5106194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Min: 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47718" y="3429794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70%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74809" y="3660626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82428" y="586819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33948" y="544147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40%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3417868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Highest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Max Market Exposure: 30%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110%</a:t>
            </a: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6547102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Lowest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Min Market Exposure: 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120%</a:t>
            </a:r>
          </a:p>
        </p:txBody>
      </p:sp>
    </p:spTree>
    <p:extLst>
      <p:ext uri="{BB962C8B-B14F-4D97-AF65-F5344CB8AC3E}">
        <p14:creationId xmlns:p14="http://schemas.microsoft.com/office/powerpoint/2010/main" val="1445860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5969</TotalTime>
  <Words>1099</Words>
  <Application>Microsoft Office PowerPoint</Application>
  <PresentationFormat>Custom</PresentationFormat>
  <Paragraphs>206</Paragraphs>
  <Slides>8</Slides>
  <Notes>6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Long Short equity</vt:lpstr>
      <vt:lpstr>Return Generating process for equity</vt:lpstr>
      <vt:lpstr>Investment Style</vt:lpstr>
      <vt:lpstr>Portfolio Construction</vt:lpstr>
      <vt:lpstr>Strategy categorization</vt:lpstr>
      <vt:lpstr>PowerPoint Presentation</vt:lpstr>
      <vt:lpstr>Strategy categorization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502</cp:revision>
  <cp:lastPrinted>2015-07-15T17:40:38Z</cp:lastPrinted>
  <dcterms:created xsi:type="dcterms:W3CDTF">2015-05-21T20:34:11Z</dcterms:created>
  <dcterms:modified xsi:type="dcterms:W3CDTF">2015-07-16T00:46:27Z</dcterms:modified>
</cp:coreProperties>
</file>