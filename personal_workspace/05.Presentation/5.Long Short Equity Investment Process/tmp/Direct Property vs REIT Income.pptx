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338" r:id="rId2"/>
  </p:sldIdLst>
  <p:sldSz cx="10058400" cy="7772400"/>
  <p:notesSz cx="6934200" cy="9220200"/>
  <p:defaultTextStyle>
    <a:defPPr>
      <a:defRPr lang="en-US"/>
    </a:defPPr>
    <a:lvl1pPr marL="0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456">
          <p15:clr>
            <a:srgbClr val="A4A3A4"/>
          </p15:clr>
        </p15:guide>
        <p15:guide id="2" orient="horz" pos="144">
          <p15:clr>
            <a:srgbClr val="A4A3A4"/>
          </p15:clr>
        </p15:guide>
        <p15:guide id="3" orient="horz" pos="207">
          <p15:clr>
            <a:srgbClr val="A4A3A4"/>
          </p15:clr>
        </p15:guide>
        <p15:guide id="4" orient="horz" pos="4752">
          <p15:clr>
            <a:srgbClr val="A4A3A4"/>
          </p15:clr>
        </p15:guide>
        <p15:guide id="5" orient="horz" pos="788">
          <p15:clr>
            <a:srgbClr val="A4A3A4"/>
          </p15:clr>
        </p15:guide>
        <p15:guide id="6" orient="horz" pos="4519">
          <p15:clr>
            <a:srgbClr val="A4A3A4"/>
          </p15:clr>
        </p15:guide>
        <p15:guide id="7" orient="horz" pos="1200">
          <p15:clr>
            <a:srgbClr val="A4A3A4"/>
          </p15:clr>
        </p15:guide>
        <p15:guide id="8" orient="horz" pos="4320">
          <p15:clr>
            <a:srgbClr val="A4A3A4"/>
          </p15:clr>
        </p15:guide>
        <p15:guide id="9" orient="horz" pos="4032">
          <p15:clr>
            <a:srgbClr val="A4A3A4"/>
          </p15:clr>
        </p15:guide>
        <p15:guide id="10" pos="3168">
          <p15:clr>
            <a:srgbClr val="A4A3A4"/>
          </p15:clr>
        </p15:guide>
        <p15:guide id="11" pos="185">
          <p15:clr>
            <a:srgbClr val="A4A3A4"/>
          </p15:clr>
        </p15:guide>
        <p15:guide id="12" pos="6150">
          <p15:clr>
            <a:srgbClr val="A4A3A4"/>
          </p15:clr>
        </p15:guide>
        <p15:guide id="13" pos="3072">
          <p15:clr>
            <a:srgbClr val="A4A3A4"/>
          </p15:clr>
        </p15:guide>
        <p15:guide id="14" pos="3264">
          <p15:clr>
            <a:srgbClr val="A4A3A4"/>
          </p15:clr>
        </p15:guide>
        <p15:guide id="15" pos="1344">
          <p15:clr>
            <a:srgbClr val="A4A3A4"/>
          </p15:clr>
        </p15:guide>
        <p15:guide id="16" pos="2101">
          <p15:clr>
            <a:srgbClr val="A4A3A4"/>
          </p15:clr>
        </p15:guide>
        <p15:guide id="17" pos="528">
          <p15:clr>
            <a:srgbClr val="A4A3A4"/>
          </p15:clr>
        </p15:guide>
        <p15:guide id="18" pos="3866">
          <p15:clr>
            <a:srgbClr val="A4A3A4"/>
          </p15:clr>
        </p15:guide>
        <p15:guide id="19" pos="3775">
          <p15:clr>
            <a:srgbClr val="A4A3A4"/>
          </p15:clr>
        </p15:guide>
        <p15:guide id="20" pos="3963">
          <p15:clr>
            <a:srgbClr val="A4A3A4"/>
          </p15:clr>
        </p15:guide>
        <p15:guide id="21" pos="4812">
          <p15:clr>
            <a:srgbClr val="A4A3A4"/>
          </p15:clr>
        </p15:guide>
        <p15:guide id="22" pos="720">
          <p15:clr>
            <a:srgbClr val="A4A3A4"/>
          </p15:clr>
        </p15:guide>
        <p15:guide id="23" pos="480">
          <p15:clr>
            <a:srgbClr val="A4A3A4"/>
          </p15:clr>
        </p15:guide>
        <p15:guide id="24" pos="4605">
          <p15:clr>
            <a:srgbClr val="A4A3A4"/>
          </p15:clr>
        </p15:guide>
        <p15:guide id="25" pos="2304">
          <p15:clr>
            <a:srgbClr val="A4A3A4"/>
          </p15:clr>
        </p15:guide>
        <p15:guide id="26" pos="15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904" userDrawn="1">
          <p15:clr>
            <a:srgbClr val="A4A3A4"/>
          </p15:clr>
        </p15:guide>
        <p15:guide id="2" pos="2184" userDrawn="1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732D"/>
    <a:srgbClr val="002060"/>
    <a:srgbClr val="2E3989"/>
    <a:srgbClr val="533D2D"/>
    <a:srgbClr val="592E8A"/>
    <a:srgbClr val="2E39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03" autoAdjust="0"/>
    <p:restoredTop sz="94660" autoAdjust="0"/>
  </p:normalViewPr>
  <p:slideViewPr>
    <p:cSldViewPr showGuides="1">
      <p:cViewPr>
        <p:scale>
          <a:sx n="125" d="100"/>
          <a:sy n="125" d="100"/>
        </p:scale>
        <p:origin x="-1374" y="-270"/>
      </p:cViewPr>
      <p:guideLst>
        <p:guide orient="horz" pos="3456"/>
        <p:guide orient="horz" pos="144"/>
        <p:guide orient="horz" pos="207"/>
        <p:guide orient="horz" pos="4752"/>
        <p:guide orient="horz" pos="788"/>
        <p:guide orient="horz" pos="4519"/>
        <p:guide orient="horz" pos="1200"/>
        <p:guide orient="horz" pos="4320"/>
        <p:guide orient="horz" pos="4032"/>
        <p:guide pos="3168"/>
        <p:guide pos="185"/>
        <p:guide pos="6150"/>
        <p:guide pos="3072"/>
        <p:guide pos="3264"/>
        <p:guide pos="1344"/>
        <p:guide pos="2101"/>
        <p:guide pos="528"/>
        <p:guide pos="3866"/>
        <p:guide pos="3775"/>
        <p:guide pos="3963"/>
        <p:guide pos="4812"/>
        <p:guide pos="720"/>
        <p:guide pos="480"/>
        <p:guide pos="4605"/>
        <p:guide pos="2304"/>
        <p:guide pos="15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1" d="100"/>
          <a:sy n="61" d="100"/>
        </p:scale>
        <p:origin x="-2382" y="-78"/>
      </p:cViewPr>
      <p:guideLst>
        <p:guide orient="horz" pos="2880"/>
        <p:guide orient="horz" pos="2904"/>
        <p:guide pos="2160"/>
        <p:guide pos="218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r">
              <a:defRPr sz="1200"/>
            </a:lvl1pPr>
          </a:lstStyle>
          <a:p>
            <a:fld id="{CD69C154-8DB3-4790-A359-7790FFBF8C47}" type="datetimeFigureOut">
              <a:rPr lang="en-US" smtClean="0"/>
              <a:t>7/17/2015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r">
              <a:defRPr sz="1200"/>
            </a:lvl1pPr>
          </a:lstStyle>
          <a:p>
            <a:fld id="{3AA19290-3B50-423F-8386-34EA3226F5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536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27776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r">
              <a:defRPr sz="1200"/>
            </a:lvl1pPr>
          </a:lstStyle>
          <a:p>
            <a:fld id="{D94E0677-78E7-4F29-8DEE-AA9328514842}" type="datetimeFigureOut">
              <a:rPr lang="en-US" smtClean="0"/>
              <a:t>7/17/2015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30313" y="690563"/>
            <a:ext cx="4473575" cy="3457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3" tIns="46147" rIns="92293" bIns="46147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3420" y="4379595"/>
            <a:ext cx="5547360" cy="4149090"/>
          </a:xfrm>
          <a:prstGeom prst="rect">
            <a:avLst/>
          </a:prstGeom>
        </p:spPr>
        <p:txBody>
          <a:bodyPr vert="horz" lIns="92293" tIns="46147" rIns="92293" bIns="46147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27776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r">
              <a:defRPr sz="1200"/>
            </a:lvl1pPr>
          </a:lstStyle>
          <a:p>
            <a:fld id="{4CF500CA-EC02-405F-A377-1C6BD89C66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363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3BEEDA-D9FC-4A9F-BB3F-83B0CB94093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420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5.gi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5.gi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9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sp>
        <p:nvSpPr>
          <p:cNvPr id="21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accent3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2800" y="6299200"/>
            <a:ext cx="6248400" cy="330200"/>
          </a:xfrm>
        </p:spPr>
        <p:txBody>
          <a:bodyPr/>
          <a:lstStyle>
            <a:lvl1pPr algn="r">
              <a:defRPr sz="2000" b="0" baseline="0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2800" y="6639560"/>
            <a:ext cx="6248400" cy="457200"/>
          </a:xfrm>
        </p:spPr>
        <p:txBody>
          <a:bodyPr/>
          <a:lstStyle>
            <a:lvl1pPr marL="0" indent="0" algn="r">
              <a:buNone/>
              <a:defRPr sz="1700" b="0">
                <a:solidFill>
                  <a:schemeClr val="tx2"/>
                </a:solidFill>
              </a:defRPr>
            </a:lvl1pPr>
            <a:lvl2pPr marL="5094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88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8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76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470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564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6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752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1082" y="3986954"/>
            <a:ext cx="2202628" cy="28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14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accent3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796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629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8" name="Line 17"/>
          <p:cNvSpPr>
            <a:spLocks noChangeShapeType="1"/>
          </p:cNvSpPr>
          <p:nvPr userDrawn="1"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Line 17"/>
          <p:cNvSpPr>
            <a:spLocks noChangeShapeType="1"/>
          </p:cNvSpPr>
          <p:nvPr userDrawn="1"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992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8" name="Line 17"/>
          <p:cNvSpPr>
            <a:spLocks noChangeShapeType="1"/>
          </p:cNvSpPr>
          <p:nvPr userDrawn="1"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Line 17"/>
          <p:cNvSpPr>
            <a:spLocks noChangeShapeType="1"/>
          </p:cNvSpPr>
          <p:nvPr userDrawn="1"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2" cstate="print"/>
          <a:srcRect t="88849"/>
          <a:stretch>
            <a:fillRect/>
          </a:stretch>
        </p:blipFill>
        <p:spPr bwMode="auto">
          <a:xfrm>
            <a:off x="228600" y="4769721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930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81954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87283" y="4495800"/>
            <a:ext cx="1083833" cy="141732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93688" y="6400800"/>
            <a:ext cx="9469437" cy="1001713"/>
          </a:xfrm>
        </p:spPr>
        <p:txBody>
          <a:bodyPr/>
          <a:lstStyle>
            <a:lvl1pPr algn="ctr">
              <a:defRPr sz="2600" b="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4498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3000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o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spcBef>
                <a:spcPts val="1200"/>
              </a:spcBef>
              <a:defRPr sz="1100"/>
            </a:lvl1pPr>
            <a:lvl2pPr algn="just">
              <a:spcBef>
                <a:spcPts val="900"/>
              </a:spcBef>
              <a:defRPr sz="1100"/>
            </a:lvl2pPr>
            <a:lvl3pPr algn="just">
              <a:spcBef>
                <a:spcPts val="600"/>
              </a:spcBef>
              <a:defRPr sz="1100"/>
            </a:lvl3pPr>
            <a:lvl4pPr algn="just">
              <a:spcBef>
                <a:spcPts val="0"/>
              </a:spcBef>
              <a:defRPr sz="1100"/>
            </a:lvl4pPr>
            <a:lvl5pPr algn="just">
              <a:spcBef>
                <a:spcPts val="0"/>
              </a:spcBef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527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406" y="3881120"/>
            <a:ext cx="8925718" cy="914400"/>
          </a:xfrm>
        </p:spPr>
        <p:txBody>
          <a:bodyPr anchor="t"/>
          <a:lstStyle>
            <a:lvl1pPr algn="l">
              <a:defRPr sz="3200" b="0" cap="all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800600"/>
            <a:ext cx="8925718" cy="914400"/>
          </a:xfrm>
        </p:spPr>
        <p:txBody>
          <a:bodyPr anchor="t"/>
          <a:lstStyle>
            <a:lvl1pPr marL="0" indent="0" algn="l">
              <a:buNone/>
              <a:defRPr sz="2200" b="0">
                <a:solidFill>
                  <a:schemeClr val="accent1"/>
                </a:solidFill>
              </a:defRPr>
            </a:lvl1pPr>
            <a:lvl2pPr marL="5094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1882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2823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376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4706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05647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56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0752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Line 31"/>
          <p:cNvSpPr>
            <a:spLocks noChangeShapeType="1"/>
          </p:cNvSpPr>
          <p:nvPr userDrawn="1"/>
        </p:nvSpPr>
        <p:spPr bwMode="auto">
          <a:xfrm>
            <a:off x="695960" y="3886200"/>
            <a:ext cx="0" cy="3411346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54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s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688" y="1235075"/>
            <a:ext cx="4526280" cy="5938838"/>
          </a:xfrm>
        </p:spPr>
        <p:txBody>
          <a:bodyPr/>
          <a:lstStyle>
            <a:lvl1pPr algn="just">
              <a:spcBef>
                <a:spcPts val="2400"/>
              </a:spcBef>
              <a:defRPr sz="1300"/>
            </a:lvl1pPr>
            <a:lvl2pPr algn="just">
              <a:spcBef>
                <a:spcPts val="0"/>
              </a:spcBef>
              <a:defRPr sz="1100"/>
            </a:lvl2pPr>
            <a:lvl3pPr algn="just">
              <a:spcBef>
                <a:spcPts val="300"/>
              </a:spcBef>
              <a:defRPr sz="1100"/>
            </a:lvl3pPr>
            <a:lvl4pPr algn="just">
              <a:spcBef>
                <a:spcPts val="300"/>
              </a:spcBef>
              <a:defRPr sz="1100"/>
            </a:lvl4pPr>
            <a:lvl5pPr algn="just">
              <a:spcBef>
                <a:spcPts val="300"/>
              </a:spcBef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3350" y="1235075"/>
            <a:ext cx="4526280" cy="5938838"/>
          </a:xfrm>
        </p:spPr>
        <p:txBody>
          <a:bodyPr/>
          <a:lstStyle>
            <a:lvl1pPr algn="just">
              <a:spcBef>
                <a:spcPts val="2400"/>
              </a:spcBef>
              <a:defRPr sz="1300"/>
            </a:lvl1pPr>
            <a:lvl2pPr algn="just">
              <a:spcBef>
                <a:spcPts val="0"/>
              </a:spcBef>
              <a:defRPr sz="1100"/>
            </a:lvl2pPr>
            <a:lvl3pPr algn="just">
              <a:defRPr sz="1100"/>
            </a:lvl3pPr>
            <a:lvl4pPr algn="just">
              <a:defRPr sz="1100"/>
            </a:lvl4pPr>
            <a:lvl5pPr algn="just"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1018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688" y="1235075"/>
            <a:ext cx="4526280" cy="5938838"/>
          </a:xfrm>
        </p:spPr>
        <p:txBody>
          <a:bodyPr/>
          <a:lstStyle>
            <a:lvl1pPr algn="just">
              <a:defRPr sz="14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3350" y="1235075"/>
            <a:ext cx="4526280" cy="5938838"/>
          </a:xfrm>
        </p:spPr>
        <p:txBody>
          <a:bodyPr/>
          <a:lstStyle>
            <a:lvl1pPr algn="just">
              <a:defRPr sz="14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3452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688" y="1235075"/>
            <a:ext cx="4526280" cy="725064"/>
          </a:xfrm>
        </p:spPr>
        <p:txBody>
          <a:bodyPr anchor="t"/>
          <a:lstStyle>
            <a:lvl1pPr marL="0" indent="0">
              <a:buNone/>
              <a:defRPr sz="14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688" y="1960139"/>
            <a:ext cx="4526280" cy="5213774"/>
          </a:xfrm>
        </p:spPr>
        <p:txBody>
          <a:bodyPr/>
          <a:lstStyle>
            <a:lvl1pPr algn="just">
              <a:defRPr sz="13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8270" y="1235075"/>
            <a:ext cx="4526280" cy="725064"/>
          </a:xfrm>
        </p:spPr>
        <p:txBody>
          <a:bodyPr anchor="t"/>
          <a:lstStyle>
            <a:lvl1pPr marL="0" indent="0">
              <a:buNone/>
              <a:defRPr sz="14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8270" y="1960139"/>
            <a:ext cx="4526280" cy="5213774"/>
          </a:xfrm>
        </p:spPr>
        <p:txBody>
          <a:bodyPr/>
          <a:lstStyle>
            <a:lvl1pPr algn="just">
              <a:defRPr sz="13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61962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38837"/>
          </a:xfrm>
        </p:spPr>
        <p:txBody>
          <a:bodyPr/>
          <a:lstStyle>
            <a:lvl1pPr>
              <a:spcBef>
                <a:spcPts val="2400"/>
              </a:spcBef>
              <a:defRPr sz="1300"/>
            </a:lvl1pPr>
            <a:lvl2pPr>
              <a:defRPr sz="1100"/>
            </a:lvl2pPr>
            <a:lvl3pPr>
              <a:spcBef>
                <a:spcPts val="60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1235075"/>
            <a:ext cx="7214616" cy="5938838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Line 31"/>
          <p:cNvSpPr>
            <a:spLocks noChangeShapeType="1"/>
          </p:cNvSpPr>
          <p:nvPr userDrawn="1"/>
        </p:nvSpPr>
        <p:spPr bwMode="auto">
          <a:xfrm>
            <a:off x="2302546" y="1235074"/>
            <a:ext cx="0" cy="6062472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1277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687" y="1874838"/>
            <a:ext cx="1839913" cy="5299074"/>
          </a:xfrm>
        </p:spPr>
        <p:txBody>
          <a:bodyPr/>
          <a:lstStyle>
            <a:lvl1pPr>
              <a:spcBef>
                <a:spcPts val="2400"/>
              </a:spcBef>
              <a:defRPr sz="1300"/>
            </a:lvl1pPr>
            <a:lvl2pPr>
              <a:defRPr sz="1100"/>
            </a:lvl2pPr>
            <a:lvl3pPr>
              <a:spcBef>
                <a:spcPts val="60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1874837"/>
            <a:ext cx="7214616" cy="529907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Line 31"/>
          <p:cNvSpPr>
            <a:spLocks noChangeShapeType="1"/>
          </p:cNvSpPr>
          <p:nvPr userDrawn="1"/>
        </p:nvSpPr>
        <p:spPr bwMode="auto">
          <a:xfrm>
            <a:off x="2302546" y="1905000"/>
            <a:ext cx="0" cy="5392546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885739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899754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2324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261941"/>
            <a:ext cx="6867524" cy="609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687" y="1235075"/>
            <a:ext cx="9469437" cy="59388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Rectangle 200"/>
          <p:cNvSpPr>
            <a:spLocks noChangeArrowheads="1"/>
          </p:cNvSpPr>
          <p:nvPr/>
        </p:nvSpPr>
        <p:spPr bwMode="auto">
          <a:xfrm>
            <a:off x="228600" y="732341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 smtClean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228600" y="7291071"/>
            <a:ext cx="9601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83529" y="320040"/>
            <a:ext cx="247879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609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50" r:id="rId8"/>
    <p:sldLayoutId id="2147483664" r:id="rId9"/>
    <p:sldLayoutId id="2147483651" r:id="rId10"/>
    <p:sldLayoutId id="2147483652" r:id="rId11"/>
    <p:sldLayoutId id="2147483665" r:id="rId12"/>
    <p:sldLayoutId id="2147483653" r:id="rId13"/>
    <p:sldLayoutId id="2147483656" r:id="rId14"/>
    <p:sldLayoutId id="2147483657" r:id="rId15"/>
    <p:sldLayoutId id="2147483654" r:id="rId16"/>
    <p:sldLayoutId id="2147483655" r:id="rId17"/>
  </p:sldLayoutIdLst>
  <p:txStyles>
    <p:titleStyle>
      <a:lvl1pPr algn="r" defTabSz="1018824" rtl="0" eaLnBrk="1" latinLnBrk="0" hangingPunct="1">
        <a:lnSpc>
          <a:spcPct val="110000"/>
        </a:lnSpc>
        <a:spcBef>
          <a:spcPct val="0"/>
        </a:spcBef>
        <a:buNone/>
        <a:defRPr sz="1400" b="1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1018824" rtl="0" eaLnBrk="1" latinLnBrk="0" hangingPunct="1">
        <a:lnSpc>
          <a:spcPct val="110000"/>
        </a:lnSpc>
        <a:spcBef>
          <a:spcPts val="1800"/>
        </a:spcBef>
        <a:buFont typeface="Arial" panose="020B0604020202020204" pitchFamily="34" charset="0"/>
        <a:buNone/>
        <a:defRPr sz="1400" b="1" kern="1200">
          <a:solidFill>
            <a:schemeClr val="accent1"/>
          </a:solidFill>
          <a:latin typeface="+mj-lt"/>
          <a:ea typeface="+mn-ea"/>
          <a:cs typeface="+mn-cs"/>
        </a:defRPr>
      </a:lvl1pPr>
      <a:lvl2pPr marL="0" indent="0" algn="l" defTabSz="1018824" rtl="0" eaLnBrk="1" latinLnBrk="0" hangingPunct="1">
        <a:lnSpc>
          <a:spcPct val="110000"/>
        </a:lnSpc>
        <a:spcBef>
          <a:spcPts val="1500"/>
        </a:spcBef>
        <a:buFont typeface="Arial" panose="020B0604020202020204" pitchFamily="34" charset="0"/>
        <a:buNone/>
        <a:defRPr sz="1300" b="1" kern="1200">
          <a:solidFill>
            <a:schemeClr val="tx1"/>
          </a:solidFill>
          <a:latin typeface="+mj-lt"/>
          <a:ea typeface="+mn-ea"/>
          <a:cs typeface="+mn-cs"/>
        </a:defRPr>
      </a:lvl2pPr>
      <a:lvl3pPr marL="1588" indent="0" algn="l" defTabSz="1018824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None/>
        <a:defRPr sz="1300" kern="1200">
          <a:solidFill>
            <a:schemeClr val="tx1"/>
          </a:solidFill>
          <a:latin typeface="+mj-lt"/>
          <a:ea typeface="+mn-ea"/>
          <a:cs typeface="+mn-cs"/>
        </a:defRPr>
      </a:lvl3pPr>
      <a:lvl4pPr marL="173038" indent="-173038" algn="l" defTabSz="1018824" rtl="0" eaLnBrk="1" latinLnBrk="0" hangingPunct="1">
        <a:lnSpc>
          <a:spcPct val="110000"/>
        </a:lnSpc>
        <a:spcBef>
          <a:spcPts val="300"/>
        </a:spcBef>
        <a:buSzPct val="80000"/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j-lt"/>
          <a:ea typeface="+mn-ea"/>
          <a:cs typeface="+mn-cs"/>
        </a:defRPr>
      </a:lvl4pPr>
      <a:lvl5pPr marL="385763" indent="-206375" algn="l" defTabSz="1018824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Char char="–"/>
        <a:defRPr sz="1300" kern="1200">
          <a:solidFill>
            <a:schemeClr val="tx1"/>
          </a:solidFill>
          <a:latin typeface="+mj-lt"/>
          <a:ea typeface="+mn-ea"/>
          <a:cs typeface="+mn-cs"/>
        </a:defRPr>
      </a:lvl5pPr>
      <a:lvl6pPr marL="2801767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11180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20592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30004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412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824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237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649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7061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473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886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5298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Direct property / </a:t>
            </a:r>
            <a:r>
              <a:rPr lang="en-US" dirty="0" err="1" smtClean="0"/>
              <a:t>reit</a:t>
            </a:r>
            <a:r>
              <a:rPr lang="en-US" dirty="0" smtClean="0"/>
              <a:t> income</a:t>
            </a:r>
            <a:endParaRPr lang="en-US" dirty="0"/>
          </a:p>
        </p:txBody>
      </p:sp>
      <p:sp>
        <p:nvSpPr>
          <p:cNvPr id="16" name="Content Placeholder 1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2772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0" dirty="0" smtClean="0">
                <a:solidFill>
                  <a:schemeClr val="tx1"/>
                </a:solidFill>
                <a:latin typeface="+mn-lt"/>
              </a:rPr>
              <a:t>Low Beta is a market dependent strategy. Managers in this strategy category are generally market neutral either on a dollar value (dollars on the long side equal dollars on the short side) or beta adjusted (beta on the long side matches beta on the short side) basis.</a:t>
            </a:r>
            <a:endParaRPr lang="en-US" sz="1100" dirty="0" smtClean="0"/>
          </a:p>
        </p:txBody>
      </p:sp>
      <p:sp>
        <p:nvSpPr>
          <p:cNvPr id="36" name="Rectangle 35"/>
          <p:cNvSpPr/>
          <p:nvPr/>
        </p:nvSpPr>
        <p:spPr>
          <a:xfrm>
            <a:off x="877264" y="7349978"/>
            <a:ext cx="129715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Source: </a:t>
            </a:r>
            <a:r>
              <a:rPr lang="en-US" sz="900" dirty="0" smtClean="0"/>
              <a:t>Blackrock, Cello</a:t>
            </a:r>
            <a:endParaRPr lang="en-US" sz="9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415747"/>
              </p:ext>
            </p:extLst>
          </p:nvPr>
        </p:nvGraphicFramePr>
        <p:xfrm>
          <a:off x="3048001" y="1689216"/>
          <a:ext cx="6432548" cy="4648198"/>
        </p:xfrm>
        <a:graphic>
          <a:graphicData uri="http://schemas.openxmlformats.org/drawingml/2006/table">
            <a:tbl>
              <a:tblPr/>
              <a:tblGrid>
                <a:gridCol w="2410355"/>
                <a:gridCol w="681528"/>
                <a:gridCol w="2664075"/>
                <a:gridCol w="676590"/>
              </a:tblGrid>
              <a:tr h="315636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Direct Property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D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REIT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D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7247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Potential Gross Income (PGI)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Potential Gross Income (PGI)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247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Vacancy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Vacancy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247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Operating Expenses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-71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Operating Expenses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-71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247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1F497D"/>
                          </a:solidFill>
                          <a:effectLst/>
                          <a:latin typeface="Calibri"/>
                        </a:rPr>
                        <a:t>NOI (property level)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1F497D"/>
                          </a:solidFill>
                          <a:effectLst/>
                          <a:latin typeface="Calibri"/>
                        </a:rPr>
                        <a:t>100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247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General and Administrative Expenses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247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1F497D"/>
                          </a:solidFill>
                          <a:effectLst/>
                          <a:latin typeface="Calibri"/>
                        </a:rPr>
                        <a:t>EBITDA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1F497D"/>
                          </a:solidFill>
                          <a:effectLst/>
                          <a:latin typeface="Calibri"/>
                        </a:rPr>
                        <a:t>97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247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Interest Expense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Interest Expense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247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1F497D"/>
                          </a:solidFill>
                          <a:effectLst/>
                          <a:latin typeface="Calibri"/>
                        </a:rPr>
                        <a:t>Funds from operations (FFO)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247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Depreciation Expense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Depreciation Expense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247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GAAP Net Income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1F497D"/>
                          </a:solidFill>
                          <a:effectLst/>
                          <a:latin typeface="Calibri"/>
                        </a:rPr>
                        <a:t>GAAP Net Income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1F497D"/>
                          </a:solidFill>
                          <a:effectLst/>
                          <a:latin typeface="Calibri"/>
                        </a:rPr>
                        <a:t>37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531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(Dividends &gt;= 0.9 x Net Income = 33.3)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247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Add back Depreciation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Add back Depreciation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247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CapEx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CapEx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531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Equity-before-tax cash flow (EBTCF)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1F497D"/>
                          </a:solidFill>
                          <a:effectLst/>
                          <a:latin typeface="Calibri"/>
                        </a:rPr>
                        <a:t>Adjusted funds from operations (AFFO)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1F497D"/>
                          </a:solidFill>
                          <a:effectLst/>
                          <a:latin typeface="Calibri"/>
                        </a:rPr>
                        <a:t>42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1060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ello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968880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5987</TotalTime>
  <Words>181</Words>
  <Application>Microsoft Office PowerPoint</Application>
  <PresentationFormat>Custom</PresentationFormat>
  <Paragraphs>62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Direct property / reit income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</dc:creator>
  <cp:lastModifiedBy>Lien Chen</cp:lastModifiedBy>
  <cp:revision>507</cp:revision>
  <cp:lastPrinted>2015-07-15T17:40:38Z</cp:lastPrinted>
  <dcterms:created xsi:type="dcterms:W3CDTF">2015-05-21T20:34:11Z</dcterms:created>
  <dcterms:modified xsi:type="dcterms:W3CDTF">2015-07-17T13:50:33Z</dcterms:modified>
</cp:coreProperties>
</file>