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336" r:id="rId2"/>
  </p:sldIdLst>
  <p:sldSz cx="10058400" cy="7772400"/>
  <p:notesSz cx="6934200" cy="9220200"/>
  <p:defaultTextStyle>
    <a:defPPr>
      <a:defRPr lang="en-US"/>
    </a:defPPr>
    <a:lvl1pPr marL="0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509412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1018824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528237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2037649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547061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3056473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565886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4075298" algn="l" defTabSz="1018824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456">
          <p15:clr>
            <a:srgbClr val="A4A3A4"/>
          </p15:clr>
        </p15:guide>
        <p15:guide id="2" orient="horz" pos="144">
          <p15:clr>
            <a:srgbClr val="A4A3A4"/>
          </p15:clr>
        </p15:guide>
        <p15:guide id="3" orient="horz" pos="207">
          <p15:clr>
            <a:srgbClr val="A4A3A4"/>
          </p15:clr>
        </p15:guide>
        <p15:guide id="4" orient="horz" pos="4752">
          <p15:clr>
            <a:srgbClr val="A4A3A4"/>
          </p15:clr>
        </p15:guide>
        <p15:guide id="5" orient="horz" pos="788">
          <p15:clr>
            <a:srgbClr val="A4A3A4"/>
          </p15:clr>
        </p15:guide>
        <p15:guide id="6" orient="horz" pos="4519">
          <p15:clr>
            <a:srgbClr val="A4A3A4"/>
          </p15:clr>
        </p15:guide>
        <p15:guide id="7" orient="horz" pos="1200">
          <p15:clr>
            <a:srgbClr val="A4A3A4"/>
          </p15:clr>
        </p15:guide>
        <p15:guide id="8" orient="horz" pos="4320">
          <p15:clr>
            <a:srgbClr val="A4A3A4"/>
          </p15:clr>
        </p15:guide>
        <p15:guide id="9" orient="horz" pos="4032">
          <p15:clr>
            <a:srgbClr val="A4A3A4"/>
          </p15:clr>
        </p15:guide>
        <p15:guide id="10" pos="3168">
          <p15:clr>
            <a:srgbClr val="A4A3A4"/>
          </p15:clr>
        </p15:guide>
        <p15:guide id="11" pos="185">
          <p15:clr>
            <a:srgbClr val="A4A3A4"/>
          </p15:clr>
        </p15:guide>
        <p15:guide id="12" pos="6150">
          <p15:clr>
            <a:srgbClr val="A4A3A4"/>
          </p15:clr>
        </p15:guide>
        <p15:guide id="13" pos="3072">
          <p15:clr>
            <a:srgbClr val="A4A3A4"/>
          </p15:clr>
        </p15:guide>
        <p15:guide id="14" pos="3264">
          <p15:clr>
            <a:srgbClr val="A4A3A4"/>
          </p15:clr>
        </p15:guide>
        <p15:guide id="15" pos="1344">
          <p15:clr>
            <a:srgbClr val="A4A3A4"/>
          </p15:clr>
        </p15:guide>
        <p15:guide id="16" pos="2101">
          <p15:clr>
            <a:srgbClr val="A4A3A4"/>
          </p15:clr>
        </p15:guide>
        <p15:guide id="17" pos="528">
          <p15:clr>
            <a:srgbClr val="A4A3A4"/>
          </p15:clr>
        </p15:guide>
        <p15:guide id="18" pos="3866">
          <p15:clr>
            <a:srgbClr val="A4A3A4"/>
          </p15:clr>
        </p15:guide>
        <p15:guide id="19" pos="3775">
          <p15:clr>
            <a:srgbClr val="A4A3A4"/>
          </p15:clr>
        </p15:guide>
        <p15:guide id="20" pos="3963">
          <p15:clr>
            <a:srgbClr val="A4A3A4"/>
          </p15:clr>
        </p15:guide>
        <p15:guide id="21" pos="4812">
          <p15:clr>
            <a:srgbClr val="A4A3A4"/>
          </p15:clr>
        </p15:guide>
        <p15:guide id="22" pos="720">
          <p15:clr>
            <a:srgbClr val="A4A3A4"/>
          </p15:clr>
        </p15:guide>
        <p15:guide id="23" pos="480">
          <p15:clr>
            <a:srgbClr val="A4A3A4"/>
          </p15:clr>
        </p15:guide>
        <p15:guide id="24" pos="4605">
          <p15:clr>
            <a:srgbClr val="A4A3A4"/>
          </p15:clr>
        </p15:guide>
        <p15:guide id="25" pos="2304">
          <p15:clr>
            <a:srgbClr val="A4A3A4"/>
          </p15:clr>
        </p15:guide>
        <p15:guide id="26" pos="158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904" userDrawn="1">
          <p15:clr>
            <a:srgbClr val="A4A3A4"/>
          </p15:clr>
        </p15:guide>
        <p15:guide id="2" pos="2184" userDrawn="1">
          <p15:clr>
            <a:srgbClr val="A4A3A4"/>
          </p15:clr>
        </p15:guide>
        <p15:guide id="3" orient="horz" pos="2928">
          <p15:clr>
            <a:srgbClr val="A4A3A4"/>
          </p15:clr>
        </p15:guide>
        <p15:guide id="4" pos="2208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7732D"/>
    <a:srgbClr val="002060"/>
    <a:srgbClr val="2E3989"/>
    <a:srgbClr val="533D2D"/>
    <a:srgbClr val="592E8A"/>
    <a:srgbClr val="2E398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03" autoAdjust="0"/>
    <p:restoredTop sz="94660" autoAdjust="0"/>
  </p:normalViewPr>
  <p:slideViewPr>
    <p:cSldViewPr showGuides="1">
      <p:cViewPr>
        <p:scale>
          <a:sx n="125" d="100"/>
          <a:sy n="125" d="100"/>
        </p:scale>
        <p:origin x="-1374" y="-270"/>
      </p:cViewPr>
      <p:guideLst>
        <p:guide orient="horz" pos="3456"/>
        <p:guide orient="horz" pos="144"/>
        <p:guide orient="horz" pos="207"/>
        <p:guide orient="horz" pos="4752"/>
        <p:guide orient="horz" pos="788"/>
        <p:guide orient="horz" pos="4519"/>
        <p:guide orient="horz" pos="1200"/>
        <p:guide orient="horz" pos="4320"/>
        <p:guide orient="horz" pos="4032"/>
        <p:guide pos="3168"/>
        <p:guide pos="185"/>
        <p:guide pos="6150"/>
        <p:guide pos="3072"/>
        <p:guide pos="3264"/>
        <p:guide pos="1344"/>
        <p:guide pos="2101"/>
        <p:guide pos="528"/>
        <p:guide pos="3866"/>
        <p:guide pos="3775"/>
        <p:guide pos="3963"/>
        <p:guide pos="4812"/>
        <p:guide pos="720"/>
        <p:guide pos="480"/>
        <p:guide pos="4605"/>
        <p:guide pos="2304"/>
        <p:guide pos="1584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howGuides="1">
      <p:cViewPr varScale="1">
        <p:scale>
          <a:sx n="61" d="100"/>
          <a:sy n="61" d="100"/>
        </p:scale>
        <p:origin x="-2382" y="-78"/>
      </p:cViewPr>
      <p:guideLst>
        <p:guide orient="horz" pos="2880"/>
        <p:guide orient="horz" pos="2904"/>
        <p:guide pos="2160"/>
        <p:guide pos="218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invertIfNegative val="0"/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0.7</c:v>
                </c:pt>
                <c:pt idx="1">
                  <c:v>0.6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invertIfNegative val="0"/>
          <c:cat>
            <c:numRef>
              <c:f>Sheet1!$A$2:$A$3</c:f>
              <c:numCache>
                <c:formatCode>General</c:formatCode>
                <c:ptCount val="2"/>
              </c:numCache>
            </c:numRef>
          </c:cat>
          <c:val>
            <c:numRef>
              <c:f>Sheet1!$C$2:$C$3</c:f>
              <c:numCache>
                <c:formatCode>General</c:formatCode>
                <c:ptCount val="2"/>
                <c:pt idx="0">
                  <c:v>-0.4</c:v>
                </c:pt>
                <c:pt idx="1">
                  <c:v>-0.6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44344960"/>
        <c:axId val="147097472"/>
      </c:barChart>
      <c:catAx>
        <c:axId val="14434496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crossAx val="147097472"/>
        <c:crosses val="autoZero"/>
        <c:auto val="1"/>
        <c:lblAlgn val="ctr"/>
        <c:lblOffset val="100"/>
        <c:noMultiLvlLbl val="0"/>
      </c:catAx>
      <c:valAx>
        <c:axId val="147097472"/>
        <c:scaling>
          <c:orientation val="minMax"/>
          <c:max val="1"/>
          <c:min val="-0.60000000000000009"/>
        </c:scaling>
        <c:delete val="0"/>
        <c:axPos val="l"/>
        <c:majorGridlines>
          <c:spPr>
            <a:ln w="19050">
              <a:solidFill>
                <a:schemeClr val="bg1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solidFill>
              <a:schemeClr val="bg1"/>
            </a:solidFill>
          </a:ln>
        </c:spPr>
        <c:txPr>
          <a:bodyPr/>
          <a:lstStyle/>
          <a:p>
            <a:pPr>
              <a:defRPr sz="1000"/>
            </a:pPr>
            <a:endParaRPr lang="en-US"/>
          </a:p>
        </c:txPr>
        <c:crossAx val="144344960"/>
        <c:crosses val="autoZero"/>
        <c:crossBetween val="between"/>
        <c:majorUnit val="0.2"/>
      </c:valAx>
      <c:spPr>
        <a:solidFill>
          <a:schemeClr val="accent3">
            <a:lumMod val="20000"/>
            <a:lumOff val="80000"/>
          </a:schemeClr>
        </a:solidFill>
      </c:spPr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CD69C154-8DB3-4790-A359-7790FFBF8C47}" type="datetimeFigureOut">
              <a:rPr lang="en-US" smtClean="0"/>
              <a:t>7/15/2015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3AA19290-3B50-423F-8386-34EA3226F54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53681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27776" y="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/>
          <a:lstStyle>
            <a:lvl1pPr algn="r">
              <a:defRPr sz="1200"/>
            </a:lvl1pPr>
          </a:lstStyle>
          <a:p>
            <a:fld id="{D94E0677-78E7-4F29-8DEE-AA9328514842}" type="datetimeFigureOut">
              <a:rPr lang="en-US" smtClean="0"/>
              <a:t>7/15/2015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30313" y="690563"/>
            <a:ext cx="4473575" cy="3457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293" tIns="46147" rIns="92293" bIns="46147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3420" y="4379595"/>
            <a:ext cx="5547360" cy="4149090"/>
          </a:xfrm>
          <a:prstGeom prst="rect">
            <a:avLst/>
          </a:prstGeom>
        </p:spPr>
        <p:txBody>
          <a:bodyPr vert="horz" lIns="92293" tIns="46147" rIns="92293" bIns="46147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27776" y="8757590"/>
            <a:ext cx="3004820" cy="461010"/>
          </a:xfrm>
          <a:prstGeom prst="rect">
            <a:avLst/>
          </a:prstGeom>
        </p:spPr>
        <p:txBody>
          <a:bodyPr vert="horz" lIns="92293" tIns="46147" rIns="92293" bIns="46147" rtlCol="0" anchor="b"/>
          <a:lstStyle>
            <a:lvl1pPr algn="r">
              <a:defRPr sz="1200"/>
            </a:lvl1pPr>
          </a:lstStyle>
          <a:p>
            <a:fld id="{4CF500CA-EC02-405F-A377-1C6BD89C66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03638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230313" y="692150"/>
            <a:ext cx="4473575" cy="3457575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93BEEDA-D9FC-4A9F-BB3F-83B0CB940930}" type="slidenum">
              <a:rPr lang="en-US" smtClean="0">
                <a:solidFill>
                  <a:srgbClr val="000000"/>
                </a:solidFill>
              </a:rPr>
              <a:pPr>
                <a:defRPr/>
              </a:pPr>
              <a:t>1</a:t>
            </a:fld>
            <a:endParaRPr lang="en-US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04201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emf"/><Relationship Id="rId4" Type="http://schemas.openxmlformats.org/officeDocument/2006/relationships/image" Target="../media/image5.gi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7880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Rectangle 48"/>
          <p:cNvSpPr>
            <a:spLocks noChangeArrowheads="1"/>
          </p:cNvSpPr>
          <p:nvPr userDrawn="1"/>
        </p:nvSpPr>
        <p:spPr bwMode="auto">
          <a:xfrm>
            <a:off x="228600" y="7136284"/>
            <a:ext cx="9601200" cy="401215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101858" tIns="50929" rIns="101858" bIns="50929" anchor="ctr"/>
          <a:lstStyle/>
          <a:p>
            <a:endParaRPr lang="en-US" dirty="0"/>
          </a:p>
        </p:txBody>
      </p:sp>
      <p:sp>
        <p:nvSpPr>
          <p:cNvPr id="9" name="Rectangle 50"/>
          <p:cNvSpPr>
            <a:spLocks noChangeArrowheads="1"/>
          </p:cNvSpPr>
          <p:nvPr userDrawn="1"/>
        </p:nvSpPr>
        <p:spPr bwMode="auto">
          <a:xfrm flipV="1">
            <a:off x="228600" y="4967500"/>
            <a:ext cx="9601200" cy="401214"/>
          </a:xfrm>
          <a:prstGeom prst="rect">
            <a:avLst/>
          </a:prstGeom>
          <a:gradFill rotWithShape="1">
            <a:gsLst>
              <a:gs pos="0">
                <a:schemeClr val="accent1"/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lIns="91418" tIns="45710" rIns="91418" bIns="45710" anchor="ctr"/>
          <a:lstStyle/>
          <a:p>
            <a:endParaRPr lang="en-US" dirty="0"/>
          </a:p>
        </p:txBody>
      </p:sp>
      <p:sp>
        <p:nvSpPr>
          <p:cNvPr id="21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352800" y="6299200"/>
            <a:ext cx="6248400" cy="330200"/>
          </a:xfrm>
        </p:spPr>
        <p:txBody>
          <a:bodyPr/>
          <a:lstStyle>
            <a:lvl1pPr algn="r">
              <a:defRPr sz="2000" b="0" baseline="0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352800" y="6639560"/>
            <a:ext cx="6248400" cy="457200"/>
          </a:xfrm>
        </p:spPr>
        <p:txBody>
          <a:bodyPr/>
          <a:lstStyle>
            <a:lvl1pPr marL="0" indent="0" algn="r">
              <a:buNone/>
              <a:defRPr sz="1700" b="0">
                <a:solidFill>
                  <a:schemeClr val="tx2"/>
                </a:solidFill>
              </a:defRPr>
            </a:lvl1pPr>
            <a:lvl2pPr marL="5094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88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8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76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470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564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658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752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 smtClean="0"/>
              <a:t>Click to edit Master subtitle style</a:t>
            </a:r>
            <a:endParaRPr lang="en-US" dirty="0"/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11082" y="3986954"/>
            <a:ext cx="2202628" cy="288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3214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accent3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57969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30" descr="Cello_CoverDesigns_Cellobluestrip-01"/>
          <p:cNvPicPr>
            <a:picLocks noChangeAspect="1" noChangeArrowheads="1"/>
          </p:cNvPicPr>
          <p:nvPr userDrawn="1"/>
        </p:nvPicPr>
        <p:blipFill>
          <a:blip r:embed="rId2" cstate="print"/>
          <a:srcRect b="3510"/>
          <a:stretch>
            <a:fillRect/>
          </a:stretch>
        </p:blipFill>
        <p:spPr bwMode="auto">
          <a:xfrm>
            <a:off x="228600" y="4769594"/>
            <a:ext cx="9601200" cy="482500"/>
          </a:xfrm>
          <a:prstGeom prst="rect">
            <a:avLst/>
          </a:prstGeom>
          <a:noFill/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4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0629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6" name="Picture 25" descr="GUGG_logo_262.gif"/>
          <p:cNvPicPr>
            <a:picLocks noChangeAspect="1"/>
          </p:cNvPicPr>
          <p:nvPr userDrawn="1"/>
        </p:nvPicPr>
        <p:blipFill>
          <a:blip r:embed="rId3" cstate="print"/>
          <a:stretch>
            <a:fillRect/>
          </a:stretch>
        </p:blipFill>
        <p:spPr>
          <a:xfrm>
            <a:off x="4043680" y="468949"/>
            <a:ext cx="2072640" cy="153375"/>
          </a:xfrm>
          <a:prstGeom prst="rect">
            <a:avLst/>
          </a:prstGeom>
        </p:spPr>
      </p:pic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9921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cellofade-02"/>
          <p:cNvPicPr>
            <a:picLocks noChangeAspect="1" noChangeArrowheads="1"/>
          </p:cNvPicPr>
          <p:nvPr userDrawn="1"/>
        </p:nvPicPr>
        <p:blipFill>
          <a:blip r:embed="rId2" cstate="print"/>
          <a:srcRect l="2904" t="426" r="180"/>
          <a:stretch>
            <a:fillRect/>
          </a:stretch>
        </p:blipFill>
        <p:spPr bwMode="auto">
          <a:xfrm>
            <a:off x="228600" y="868436"/>
            <a:ext cx="9601200" cy="4295367"/>
          </a:xfrm>
          <a:prstGeom prst="rect">
            <a:avLst/>
          </a:prstGeom>
          <a:noFill/>
        </p:spPr>
      </p:pic>
      <p:sp>
        <p:nvSpPr>
          <p:cNvPr id="8" name="Line 17"/>
          <p:cNvSpPr>
            <a:spLocks noChangeShapeType="1"/>
          </p:cNvSpPr>
          <p:nvPr userDrawn="1"/>
        </p:nvSpPr>
        <p:spPr bwMode="auto">
          <a:xfrm>
            <a:off x="228600" y="5181262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9" name="Line 17"/>
          <p:cNvSpPr>
            <a:spLocks noChangeShapeType="1"/>
          </p:cNvSpPr>
          <p:nvPr userDrawn="1"/>
        </p:nvSpPr>
        <p:spPr bwMode="auto">
          <a:xfrm>
            <a:off x="228600" y="829416"/>
            <a:ext cx="9601200" cy="0"/>
          </a:xfrm>
          <a:prstGeom prst="line">
            <a:avLst/>
          </a:prstGeom>
          <a:noFill/>
          <a:ln w="1270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47" tIns="50923" rIns="101847" bIns="50923"/>
          <a:lstStyle/>
          <a:p>
            <a:pPr>
              <a:defRPr/>
            </a:pP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228600" y="228600"/>
            <a:ext cx="9601200" cy="731520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18" tIns="45710" rIns="91418" bIns="45710" rtlCol="0" anchor="ctr"/>
          <a:lstStyle/>
          <a:p>
            <a:pPr algn="ctr"/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8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31" descr="Cello_CoverDesigns_FINAL_3and4-01"/>
          <p:cNvPicPr>
            <a:picLocks noChangeAspect="1" noChangeArrowheads="1"/>
          </p:cNvPicPr>
          <p:nvPr userDrawn="1"/>
        </p:nvPicPr>
        <p:blipFill>
          <a:blip r:embed="rId2" cstate="print"/>
          <a:srcRect t="88849"/>
          <a:stretch>
            <a:fillRect/>
          </a:stretch>
        </p:blipFill>
        <p:spPr bwMode="auto">
          <a:xfrm>
            <a:off x="228600" y="4769721"/>
            <a:ext cx="9601200" cy="482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3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27" name="Picture 26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753074" y="3762061"/>
            <a:ext cx="2552251" cy="3337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9302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t="88007" b="1381"/>
          <a:stretch>
            <a:fillRect/>
          </a:stretch>
        </p:blipFill>
        <p:spPr bwMode="auto">
          <a:xfrm>
            <a:off x="228600" y="4781954"/>
            <a:ext cx="9601200" cy="4701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Picture 33" descr="Cello_CoverDesigns_FINAL_2-02"/>
          <p:cNvPicPr>
            <a:picLocks noChangeAspect="1" noChangeArrowheads="1"/>
          </p:cNvPicPr>
          <p:nvPr userDrawn="1"/>
        </p:nvPicPr>
        <p:blipFill>
          <a:blip r:embed="rId2" cstate="print"/>
          <a:srcRect b="13019"/>
          <a:stretch>
            <a:fillRect/>
          </a:stretch>
        </p:blipFill>
        <p:spPr bwMode="auto">
          <a:xfrm>
            <a:off x="228600" y="889638"/>
            <a:ext cx="9601200" cy="38537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" name="Rectangle 14"/>
          <p:cNvSpPr>
            <a:spLocks noChangeArrowheads="1"/>
          </p:cNvSpPr>
          <p:nvPr userDrawn="1"/>
        </p:nvSpPr>
        <p:spPr bwMode="auto">
          <a:xfrm>
            <a:off x="228600" y="228600"/>
            <a:ext cx="9601200" cy="7315200"/>
          </a:xfrm>
          <a:prstGeom prst="rect">
            <a:avLst/>
          </a:prstGeom>
          <a:noFill/>
          <a:ln w="25400">
            <a:solidFill>
              <a:schemeClr val="bg2"/>
            </a:solidFill>
            <a:miter lim="800000"/>
            <a:headEnd/>
            <a:tailEnd/>
          </a:ln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487283" y="4495800"/>
            <a:ext cx="1083833" cy="141732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293688" y="6400800"/>
            <a:ext cx="9469437" cy="1001713"/>
          </a:xfrm>
        </p:spPr>
        <p:txBody>
          <a:bodyPr/>
          <a:lstStyle>
            <a:lvl1pPr algn="ctr">
              <a:defRPr sz="2600" b="0"/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544988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430005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os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spcBef>
                <a:spcPts val="1200"/>
              </a:spcBef>
              <a:defRPr sz="1100"/>
            </a:lvl1pPr>
            <a:lvl2pPr algn="just">
              <a:spcBef>
                <a:spcPts val="900"/>
              </a:spcBef>
              <a:defRPr sz="1100"/>
            </a:lvl2pPr>
            <a:lvl3pPr algn="just">
              <a:spcBef>
                <a:spcPts val="600"/>
              </a:spcBef>
              <a:defRPr sz="1100"/>
            </a:lvl3pPr>
            <a:lvl4pPr algn="just">
              <a:spcBef>
                <a:spcPts val="0"/>
              </a:spcBef>
              <a:defRPr sz="1100"/>
            </a:lvl4pPr>
            <a:lvl5pPr algn="just">
              <a:spcBef>
                <a:spcPts val="0"/>
              </a:spcBef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55275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7406" y="3881120"/>
            <a:ext cx="8925718" cy="914400"/>
          </a:xfrm>
        </p:spPr>
        <p:txBody>
          <a:bodyPr anchor="t"/>
          <a:lstStyle>
            <a:lvl1pPr algn="l">
              <a:defRPr sz="3200" b="0" cap="all">
                <a:solidFill>
                  <a:schemeClr val="accent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4800600"/>
            <a:ext cx="8925718" cy="914400"/>
          </a:xfrm>
        </p:spPr>
        <p:txBody>
          <a:bodyPr anchor="t"/>
          <a:lstStyle>
            <a:lvl1pPr marL="0" indent="0" algn="l">
              <a:buNone/>
              <a:defRPr sz="2200" b="0">
                <a:solidFill>
                  <a:schemeClr val="accent1"/>
                </a:solidFill>
              </a:defRPr>
            </a:lvl1pPr>
            <a:lvl2pPr marL="509412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1882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2823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0376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54706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05647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5658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0752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Line 31"/>
          <p:cNvSpPr>
            <a:spLocks noChangeShapeType="1"/>
          </p:cNvSpPr>
          <p:nvPr userDrawn="1"/>
        </p:nvSpPr>
        <p:spPr bwMode="auto">
          <a:xfrm>
            <a:off x="695960" y="3886200"/>
            <a:ext cx="0" cy="34113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2547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os 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spcBef>
                <a:spcPts val="300"/>
              </a:spcBef>
              <a:defRPr sz="1100"/>
            </a:lvl3pPr>
            <a:lvl4pPr algn="just">
              <a:spcBef>
                <a:spcPts val="300"/>
              </a:spcBef>
              <a:defRPr sz="1100"/>
            </a:lvl4pPr>
            <a:lvl5pPr algn="just">
              <a:spcBef>
                <a:spcPts val="300"/>
              </a:spcBef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spcBef>
                <a:spcPts val="2400"/>
              </a:spcBef>
              <a:defRPr sz="1300"/>
            </a:lvl1pPr>
            <a:lvl2pPr algn="just">
              <a:spcBef>
                <a:spcPts val="0"/>
              </a:spcBef>
              <a:defRPr sz="1100"/>
            </a:lvl2pPr>
            <a:lvl3pPr algn="just">
              <a:defRPr sz="1100"/>
            </a:lvl3pPr>
            <a:lvl4pPr algn="just">
              <a:defRPr sz="1100"/>
            </a:lvl4pPr>
            <a:lvl5pPr algn="just">
              <a:defRPr sz="11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110181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93688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13350" y="1235075"/>
            <a:ext cx="4526280" cy="5938838"/>
          </a:xfrm>
        </p:spPr>
        <p:txBody>
          <a:bodyPr/>
          <a:lstStyle>
            <a:lvl1pPr algn="just">
              <a:defRPr sz="14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1534523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8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93688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08270" y="1235075"/>
            <a:ext cx="4526280" cy="725064"/>
          </a:xfrm>
        </p:spPr>
        <p:txBody>
          <a:bodyPr anchor="t"/>
          <a:lstStyle>
            <a:lvl1pPr marL="0" indent="0">
              <a:buNone/>
              <a:defRPr sz="1400" b="1"/>
            </a:lvl1pPr>
            <a:lvl2pPr marL="509412" indent="0">
              <a:buNone/>
              <a:defRPr sz="2200" b="1"/>
            </a:lvl2pPr>
            <a:lvl3pPr marL="1018824" indent="0">
              <a:buNone/>
              <a:defRPr sz="2000" b="1"/>
            </a:lvl3pPr>
            <a:lvl4pPr marL="1528237" indent="0">
              <a:buNone/>
              <a:defRPr sz="1800" b="1"/>
            </a:lvl4pPr>
            <a:lvl5pPr marL="2037649" indent="0">
              <a:buNone/>
              <a:defRPr sz="1800" b="1"/>
            </a:lvl5pPr>
            <a:lvl6pPr marL="2547061" indent="0">
              <a:buNone/>
              <a:defRPr sz="1800" b="1"/>
            </a:lvl6pPr>
            <a:lvl7pPr marL="3056473" indent="0">
              <a:buNone/>
              <a:defRPr sz="1800" b="1"/>
            </a:lvl7pPr>
            <a:lvl8pPr marL="3565886" indent="0">
              <a:buNone/>
              <a:defRPr sz="1800" b="1"/>
            </a:lvl8pPr>
            <a:lvl9pPr marL="4075298" indent="0">
              <a:buNone/>
              <a:defRPr sz="1800" b="1"/>
            </a:lvl9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08270" y="1960139"/>
            <a:ext cx="4526280" cy="5213774"/>
          </a:xfrm>
        </p:spPr>
        <p:txBody>
          <a:bodyPr/>
          <a:lstStyle>
            <a:lvl1pPr algn="just">
              <a:defRPr sz="1300"/>
            </a:lvl1pPr>
            <a:lvl2pPr algn="just">
              <a:defRPr sz="1300"/>
            </a:lvl2pPr>
            <a:lvl3pPr algn="just">
              <a:defRPr sz="1300"/>
            </a:lvl3pPr>
            <a:lvl4pPr algn="just">
              <a:defRPr sz="1300"/>
            </a:lvl4pPr>
            <a:lvl5pPr algn="just">
              <a:defRPr sz="13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61962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T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38837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235075"/>
            <a:ext cx="7214616" cy="5938838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235074"/>
            <a:ext cx="0" cy="6062472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1277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687" y="1874838"/>
            <a:ext cx="1839913" cy="5299074"/>
          </a:xfrm>
        </p:spPr>
        <p:txBody>
          <a:bodyPr/>
          <a:lstStyle>
            <a:lvl1pPr>
              <a:spcBef>
                <a:spcPts val="2400"/>
              </a:spcBef>
              <a:defRPr sz="1300"/>
            </a:lvl1pPr>
            <a:lvl2pPr>
              <a:defRPr sz="1100"/>
            </a:lvl2pPr>
            <a:lvl3pPr>
              <a:spcBef>
                <a:spcPts val="600"/>
              </a:spcBef>
              <a:defRPr sz="1100"/>
            </a:lvl3pPr>
            <a:lvl4pPr>
              <a:defRPr sz="1100"/>
            </a:lvl4pPr>
            <a:lvl5pPr>
              <a:defRPr sz="11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</p:nvPr>
        </p:nvSpPr>
        <p:spPr>
          <a:xfrm>
            <a:off x="2514600" y="1874837"/>
            <a:ext cx="7214616" cy="5299075"/>
          </a:xfrm>
        </p:spPr>
        <p:txBody>
          <a:bodyPr/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8" name="Line 31"/>
          <p:cNvSpPr>
            <a:spLocks noChangeShapeType="1"/>
          </p:cNvSpPr>
          <p:nvPr userDrawn="1"/>
        </p:nvSpPr>
        <p:spPr bwMode="auto">
          <a:xfrm>
            <a:off x="2302546" y="1905000"/>
            <a:ext cx="0" cy="5392546"/>
          </a:xfrm>
          <a:prstGeom prst="line">
            <a:avLst/>
          </a:prstGeom>
          <a:noFill/>
          <a:ln w="6350">
            <a:solidFill>
              <a:schemeClr val="accent1"/>
            </a:solidFill>
            <a:round/>
            <a:headEnd/>
            <a:tailEnd/>
          </a:ln>
          <a:effectLst/>
        </p:spPr>
        <p:txBody>
          <a:bodyPr lIns="101858" tIns="50929" rIns="101858" bIns="50929"/>
          <a:lstStyle/>
          <a:p>
            <a:pPr>
              <a:defRPr/>
            </a:pPr>
            <a:endParaRPr lang="en-US" dirty="0"/>
          </a:p>
        </p:txBody>
      </p:sp>
      <p:sp>
        <p:nvSpPr>
          <p:cNvPr id="6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885739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4"/>
          <p:cNvSpPr>
            <a:spLocks noGrp="1"/>
          </p:cNvSpPr>
          <p:nvPr>
            <p:ph type="body" sz="quarter" idx="10"/>
          </p:nvPr>
        </p:nvSpPr>
        <p:spPr>
          <a:xfrm>
            <a:off x="2895600" y="436880"/>
            <a:ext cx="6867525" cy="594360"/>
          </a:xfrm>
        </p:spPr>
        <p:txBody>
          <a:bodyPr/>
          <a:lstStyle>
            <a:lvl1pPr algn="r">
              <a:defRPr sz="1400" b="0" cap="all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89975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23241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51"/>
          <p:cNvSpPr>
            <a:spLocks noChangeArrowheads="1"/>
          </p:cNvSpPr>
          <p:nvPr userDrawn="1"/>
        </p:nvSpPr>
        <p:spPr bwMode="auto">
          <a:xfrm>
            <a:off x="228600" y="230122"/>
            <a:ext cx="9601200" cy="649224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  <a:effectLst/>
        </p:spPr>
        <p:txBody>
          <a:bodyPr wrap="none" lIns="101847" tIns="50923" rIns="101847" bIns="50923" anchor="ctr"/>
          <a:lstStyle/>
          <a:p>
            <a:pPr>
              <a:defRPr/>
            </a:pPr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261941"/>
            <a:ext cx="6867524" cy="6096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687" y="1235075"/>
            <a:ext cx="9469437" cy="593883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9" name="Rectangle 200"/>
          <p:cNvSpPr>
            <a:spLocks noChangeArrowheads="1"/>
          </p:cNvSpPr>
          <p:nvPr userDrawn="1"/>
        </p:nvSpPr>
        <p:spPr bwMode="auto">
          <a:xfrm>
            <a:off x="228600" y="7323416"/>
            <a:ext cx="827723" cy="21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0" tIns="0" rIns="0" bIns="0" anchor="b"/>
          <a:lstStyle/>
          <a:p>
            <a:pPr algn="l">
              <a:defRPr/>
            </a:pPr>
            <a:r>
              <a:rPr lang="en-US" sz="900" b="1" dirty="0" smtClean="0">
                <a:solidFill>
                  <a:schemeClr val="tx2"/>
                </a:solidFill>
                <a:latin typeface="Calibri" pitchFamily="34" charset="0"/>
              </a:rPr>
              <a:t>PAGE </a:t>
            </a:r>
            <a:fld id="{54B17DE0-6D87-48AB-BBA0-9128AA86CC3B}" type="slidenum">
              <a:rPr lang="en-US" sz="900" b="1">
                <a:solidFill>
                  <a:schemeClr val="tx2"/>
                </a:solidFill>
                <a:latin typeface="Calibri" pitchFamily="34" charset="0"/>
              </a:rPr>
              <a:pPr algn="l">
                <a:defRPr/>
              </a:pPr>
              <a:t>‹#›</a:t>
            </a:fld>
            <a:endParaRPr lang="en-US" sz="900" b="1" dirty="0">
              <a:solidFill>
                <a:schemeClr val="tx2"/>
              </a:solidFill>
              <a:latin typeface="Calibri" pitchFamily="34" charset="0"/>
            </a:endParaRPr>
          </a:p>
        </p:txBody>
      </p:sp>
      <p:cxnSp>
        <p:nvCxnSpPr>
          <p:cNvPr id="10" name="Straight Connector 9"/>
          <p:cNvCxnSpPr/>
          <p:nvPr userDrawn="1"/>
        </p:nvCxnSpPr>
        <p:spPr>
          <a:xfrm>
            <a:off x="228600" y="7291071"/>
            <a:ext cx="9601200" cy="0"/>
          </a:xfrm>
          <a:prstGeom prst="line">
            <a:avLst/>
          </a:prstGeom>
          <a:ln w="285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283529" y="320040"/>
            <a:ext cx="2478795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860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50" r:id="rId8"/>
    <p:sldLayoutId id="2147483664" r:id="rId9"/>
    <p:sldLayoutId id="2147483651" r:id="rId10"/>
    <p:sldLayoutId id="2147483652" r:id="rId11"/>
    <p:sldLayoutId id="2147483665" r:id="rId12"/>
    <p:sldLayoutId id="2147483653" r:id="rId13"/>
    <p:sldLayoutId id="2147483656" r:id="rId14"/>
    <p:sldLayoutId id="2147483657" r:id="rId15"/>
    <p:sldLayoutId id="2147483654" r:id="rId16"/>
    <p:sldLayoutId id="2147483655" r:id="rId17"/>
  </p:sldLayoutIdLst>
  <p:txStyles>
    <p:titleStyle>
      <a:lvl1pPr algn="r" defTabSz="1018824" rtl="0" eaLnBrk="1" latinLnBrk="0" hangingPunct="1">
        <a:lnSpc>
          <a:spcPct val="110000"/>
        </a:lnSpc>
        <a:spcBef>
          <a:spcPct val="0"/>
        </a:spcBef>
        <a:buNone/>
        <a:defRPr sz="1400" b="1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1018824" rtl="0" eaLnBrk="1" latinLnBrk="0" hangingPunct="1">
        <a:lnSpc>
          <a:spcPct val="110000"/>
        </a:lnSpc>
        <a:spcBef>
          <a:spcPts val="1800"/>
        </a:spcBef>
        <a:buFont typeface="Arial" panose="020B0604020202020204" pitchFamily="34" charset="0"/>
        <a:buNone/>
        <a:defRPr sz="1400" b="1" kern="1200">
          <a:solidFill>
            <a:schemeClr val="accent1"/>
          </a:solidFill>
          <a:latin typeface="+mj-lt"/>
          <a:ea typeface="+mn-ea"/>
          <a:cs typeface="+mn-cs"/>
        </a:defRPr>
      </a:lvl1pPr>
      <a:lvl2pPr marL="0" indent="0" algn="l" defTabSz="1018824" rtl="0" eaLnBrk="1" latinLnBrk="0" hangingPunct="1">
        <a:lnSpc>
          <a:spcPct val="110000"/>
        </a:lnSpc>
        <a:spcBef>
          <a:spcPts val="1500"/>
        </a:spcBef>
        <a:buFont typeface="Arial" panose="020B0604020202020204" pitchFamily="34" charset="0"/>
        <a:buNone/>
        <a:defRPr sz="1300" b="1" kern="1200">
          <a:solidFill>
            <a:schemeClr val="tx1"/>
          </a:solidFill>
          <a:latin typeface="+mj-lt"/>
          <a:ea typeface="+mn-ea"/>
          <a:cs typeface="+mn-cs"/>
        </a:defRPr>
      </a:lvl2pPr>
      <a:lvl3pPr marL="1588" indent="0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None/>
        <a:defRPr sz="1300" kern="1200">
          <a:solidFill>
            <a:schemeClr val="tx1"/>
          </a:solidFill>
          <a:latin typeface="+mj-lt"/>
          <a:ea typeface="+mn-ea"/>
          <a:cs typeface="+mn-cs"/>
        </a:defRPr>
      </a:lvl3pPr>
      <a:lvl4pPr marL="173038" indent="-173038" algn="l" defTabSz="1018824" rtl="0" eaLnBrk="1" latinLnBrk="0" hangingPunct="1">
        <a:lnSpc>
          <a:spcPct val="110000"/>
        </a:lnSpc>
        <a:spcBef>
          <a:spcPts val="300"/>
        </a:spcBef>
        <a:buSzPct val="80000"/>
        <a:buFont typeface="Arial" panose="020B0604020202020204" pitchFamily="34" charset="0"/>
        <a:buChar char="•"/>
        <a:defRPr sz="1300" kern="1200">
          <a:solidFill>
            <a:schemeClr val="tx1"/>
          </a:solidFill>
          <a:latin typeface="+mj-lt"/>
          <a:ea typeface="+mn-ea"/>
          <a:cs typeface="+mn-cs"/>
        </a:defRPr>
      </a:lvl4pPr>
      <a:lvl5pPr marL="385763" indent="-206375" algn="l" defTabSz="1018824" rtl="0" eaLnBrk="1" latinLnBrk="0" hangingPunct="1">
        <a:lnSpc>
          <a:spcPct val="110000"/>
        </a:lnSpc>
        <a:spcBef>
          <a:spcPts val="300"/>
        </a:spcBef>
        <a:buFont typeface="Arial" panose="020B0604020202020204" pitchFamily="34" charset="0"/>
        <a:buChar char="–"/>
        <a:defRPr sz="1300" kern="1200">
          <a:solidFill>
            <a:schemeClr val="tx1"/>
          </a:solidFill>
          <a:latin typeface="+mj-lt"/>
          <a:ea typeface="+mn-ea"/>
          <a:cs typeface="+mn-cs"/>
        </a:defRPr>
      </a:lvl5pPr>
      <a:lvl6pPr marL="2801767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311180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820592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330004" indent="-254706" algn="l" defTabSz="1018824" rtl="0" eaLnBrk="1" latinLnBrk="0" hangingPunct="1">
        <a:spcBef>
          <a:spcPct val="20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9412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18824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28237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37649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47061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56473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65886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75298" algn="l" defTabSz="1018824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7" Type="http://schemas.openxmlformats.org/officeDocument/2006/relationships/chart" Target="../charts/char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4.xml"/><Relationship Id="rId4" Type="http://schemas.openxmlformats.org/officeDocument/2006/relationships/tags" Target="../tags/tag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Strategy categorization</a:t>
            </a:r>
            <a:endParaRPr lang="en-US" dirty="0"/>
          </a:p>
        </p:txBody>
      </p:sp>
      <p:sp>
        <p:nvSpPr>
          <p:cNvPr id="16" name="Content Placeholder 12"/>
          <p:cNvSpPr>
            <a:spLocks noGrp="1"/>
          </p:cNvSpPr>
          <p:nvPr>
            <p:ph idx="1"/>
          </p:nvPr>
        </p:nvSpPr>
        <p:spPr>
          <a:xfrm>
            <a:off x="293687" y="1235075"/>
            <a:ext cx="1839913" cy="5927725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1200" b="0" dirty="0" smtClean="0">
                <a:solidFill>
                  <a:schemeClr val="tx1"/>
                </a:solidFill>
                <a:latin typeface="+mn-lt"/>
              </a:rPr>
              <a:t>Low Beta is a market dependent strategy. Managers in this strategy category are generally market neutral either on a dollar value (dollars on the long side equal dollars on the short side) or beta adjusted (beta on the long side matches beta on the short side) basis.</a:t>
            </a:r>
            <a:endParaRPr lang="en-US" sz="1100" dirty="0" smtClean="0"/>
          </a:p>
        </p:txBody>
      </p:sp>
      <p:sp>
        <p:nvSpPr>
          <p:cNvPr id="36" name="Rectangle 35"/>
          <p:cNvSpPr/>
          <p:nvPr/>
        </p:nvSpPr>
        <p:spPr>
          <a:xfrm>
            <a:off x="877264" y="7349978"/>
            <a:ext cx="1297150" cy="2308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900" dirty="0"/>
              <a:t>Source: </a:t>
            </a:r>
            <a:r>
              <a:rPr lang="en-US" sz="900" dirty="0" smtClean="0"/>
              <a:t>Blackrock, Cello</a:t>
            </a:r>
            <a:endParaRPr lang="en-US" sz="900" dirty="0"/>
          </a:p>
        </p:txBody>
      </p:sp>
      <p:graphicFrame>
        <p:nvGraphicFramePr>
          <p:cNvPr id="32" name="Chart 31"/>
          <p:cNvGraphicFramePr/>
          <p:nvPr>
            <p:extLst>
              <p:ext uri="{D42A27DB-BD31-4B8C-83A1-F6EECF244321}">
                <p14:modId xmlns:p14="http://schemas.microsoft.com/office/powerpoint/2010/main" val="1826932486"/>
              </p:ext>
            </p:extLst>
          </p:nvPr>
        </p:nvGraphicFramePr>
        <p:xfrm>
          <a:off x="2743200" y="2667794"/>
          <a:ext cx="6705600" cy="3810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7"/>
          </a:graphicData>
        </a:graphic>
      </p:graphicFrame>
      <p:sp>
        <p:nvSpPr>
          <p:cNvPr id="33" name="Rectangle 32"/>
          <p:cNvSpPr/>
          <p:nvPr/>
        </p:nvSpPr>
        <p:spPr>
          <a:xfrm>
            <a:off x="4147718" y="4344194"/>
            <a:ext cx="1193598" cy="653490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 flipV="1">
            <a:off x="7201814" y="4980005"/>
            <a:ext cx="1193598" cy="45719"/>
          </a:xfrm>
          <a:prstGeom prst="rect">
            <a:avLst/>
          </a:prstGeom>
          <a:pattFill prst="wdUpDiag">
            <a:fgClr>
              <a:schemeClr val="bg1"/>
            </a:fgClr>
            <a:bgClr>
              <a:schemeClr val="accent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 5"/>
          <p:cNvSpPr>
            <a:spLocks/>
          </p:cNvSpPr>
          <p:nvPr>
            <p:custDataLst>
              <p:tags r:id="rId1"/>
            </p:custDataLst>
          </p:nvPr>
        </p:nvSpPr>
        <p:spPr bwMode="auto">
          <a:xfrm rot="10800000">
            <a:off x="5104920" y="4344194"/>
            <a:ext cx="236396" cy="652880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7" name="Freeform 5"/>
          <p:cNvSpPr>
            <a:spLocks/>
          </p:cNvSpPr>
          <p:nvPr>
            <p:custDataLst>
              <p:tags r:id="rId2"/>
            </p:custDataLst>
          </p:nvPr>
        </p:nvSpPr>
        <p:spPr bwMode="auto">
          <a:xfrm rot="5400000">
            <a:off x="5104919" y="4346390"/>
            <a:ext cx="236396" cy="236397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38" name="Rectangular Callout 37"/>
          <p:cNvSpPr/>
          <p:nvPr/>
        </p:nvSpPr>
        <p:spPr>
          <a:xfrm rot="5400000">
            <a:off x="5833100" y="4081314"/>
            <a:ext cx="489226" cy="1255774"/>
          </a:xfrm>
          <a:prstGeom prst="wedgeRectCallout">
            <a:avLst>
              <a:gd name="adj1" fmla="val -20833"/>
              <a:gd name="adj2" fmla="val 55604"/>
            </a:avLst>
          </a:prstGeom>
          <a:solidFill>
            <a:srgbClr val="C77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5449825" y="4466350"/>
            <a:ext cx="1331975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Max: 30%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Market Exposure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40" name="Freeform 5"/>
          <p:cNvSpPr>
            <a:spLocks/>
          </p:cNvSpPr>
          <p:nvPr>
            <p:custDataLst>
              <p:tags r:id="rId3"/>
            </p:custDataLst>
          </p:nvPr>
        </p:nvSpPr>
        <p:spPr bwMode="auto">
          <a:xfrm>
            <a:off x="7182429" y="4968424"/>
            <a:ext cx="236396" cy="64615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41" name="Freeform 5"/>
          <p:cNvSpPr>
            <a:spLocks/>
          </p:cNvSpPr>
          <p:nvPr>
            <p:custDataLst>
              <p:tags r:id="rId4"/>
            </p:custDataLst>
          </p:nvPr>
        </p:nvSpPr>
        <p:spPr bwMode="auto">
          <a:xfrm rot="16200000">
            <a:off x="7271078" y="4887091"/>
            <a:ext cx="59100" cy="236397"/>
          </a:xfrm>
          <a:custGeom>
            <a:avLst/>
            <a:gdLst>
              <a:gd name="T0" fmla="*/ 0 w 1404"/>
              <a:gd name="T1" fmla="*/ 2147483647 h 228"/>
              <a:gd name="T2" fmla="*/ 0 w 1404"/>
              <a:gd name="T3" fmla="*/ 0 h 228"/>
              <a:gd name="T4" fmla="*/ 2147483647 w 1404"/>
              <a:gd name="T5" fmla="*/ 0 h 228"/>
              <a:gd name="T6" fmla="*/ 0 60000 65536"/>
              <a:gd name="T7" fmla="*/ 0 60000 65536"/>
              <a:gd name="T8" fmla="*/ 0 60000 65536"/>
              <a:gd name="T9" fmla="*/ 0 w 1404"/>
              <a:gd name="T10" fmla="*/ 0 h 228"/>
              <a:gd name="T11" fmla="*/ 1404 w 1404"/>
              <a:gd name="T12" fmla="*/ 228 h 22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404" h="228">
                <a:moveTo>
                  <a:pt x="0" y="228"/>
                </a:moveTo>
                <a:lnTo>
                  <a:pt x="0" y="0"/>
                </a:lnTo>
                <a:lnTo>
                  <a:pt x="1404" y="0"/>
                </a:lnTo>
              </a:path>
            </a:pathLst>
          </a:custGeom>
          <a:noFill/>
          <a:ln w="38100">
            <a:solidFill>
              <a:srgbClr val="C7732D"/>
            </a:solidFill>
            <a:prstDash val="solid"/>
            <a:round/>
            <a:headEnd/>
            <a:tailEnd/>
          </a:ln>
        </p:spPr>
        <p:txBody>
          <a:bodyPr wrap="none" anchor="ctr"/>
          <a:lstStyle/>
          <a:p>
            <a:endParaRPr lang="en-US">
              <a:latin typeface="Arial Unicode MS" pitchFamily="34" charset="-122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1" name="Rectangular Callout 50"/>
          <p:cNvSpPr/>
          <p:nvPr/>
        </p:nvSpPr>
        <p:spPr>
          <a:xfrm rot="16200000">
            <a:off x="6274177" y="4749837"/>
            <a:ext cx="489226" cy="1150381"/>
          </a:xfrm>
          <a:prstGeom prst="wedgeRectCallout">
            <a:avLst>
              <a:gd name="adj1" fmla="val 55425"/>
              <a:gd name="adj2" fmla="val 55604"/>
            </a:avLst>
          </a:prstGeom>
          <a:solidFill>
            <a:srgbClr val="C773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903975" y="5106194"/>
            <a:ext cx="1331975" cy="461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Min: 0% 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Market Exposure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4147718" y="3429794"/>
            <a:ext cx="88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70%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Long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7174809" y="3660626"/>
            <a:ext cx="88148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6</a:t>
            </a:r>
            <a:r>
              <a:rPr lang="en-US" sz="1200" b="1" dirty="0" smtClean="0">
                <a:solidFill>
                  <a:schemeClr val="bg1"/>
                </a:solidFill>
              </a:rPr>
              <a:t>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Long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7182428" y="5868194"/>
            <a:ext cx="97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chemeClr val="bg1"/>
                </a:solidFill>
              </a:rPr>
              <a:t>6</a:t>
            </a:r>
            <a:r>
              <a:rPr lang="en-US" sz="1200" b="1" dirty="0" smtClean="0">
                <a:solidFill>
                  <a:schemeClr val="bg1"/>
                </a:solidFill>
              </a:rPr>
              <a:t>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Short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133948" y="5441474"/>
            <a:ext cx="97097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 smtClean="0">
                <a:solidFill>
                  <a:schemeClr val="bg1"/>
                </a:solidFill>
              </a:rPr>
              <a:t>40%</a:t>
            </a:r>
          </a:p>
          <a:p>
            <a:r>
              <a:rPr lang="en-US" sz="1200" b="1" dirty="0" smtClean="0">
                <a:solidFill>
                  <a:schemeClr val="bg1"/>
                </a:solidFill>
              </a:rPr>
              <a:t>Gross Short</a:t>
            </a:r>
            <a:endParaRPr lang="en-US" sz="1200" b="1" dirty="0">
              <a:solidFill>
                <a:schemeClr val="bg1"/>
              </a:solidFill>
            </a:endParaRPr>
          </a:p>
        </p:txBody>
      </p:sp>
      <p:sp>
        <p:nvSpPr>
          <p:cNvPr id="57" name="Rectangle 7"/>
          <p:cNvSpPr>
            <a:spLocks noChangeArrowheads="1"/>
          </p:cNvSpPr>
          <p:nvPr/>
        </p:nvSpPr>
        <p:spPr bwMode="auto">
          <a:xfrm>
            <a:off x="3417868" y="1600200"/>
            <a:ext cx="2490984" cy="1068388"/>
          </a:xfrm>
          <a:prstGeom prst="rect">
            <a:avLst/>
          </a:prstGeom>
          <a:noFill/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lIns="36000" tIns="72000" rIns="36000" bIns="36000" anchorCtr="1"/>
          <a:lstStyle/>
          <a:p>
            <a:pPr algn="ctr"/>
            <a:r>
              <a:rPr lang="en-US" altLang="zh-CN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Low Beta Strategy</a:t>
            </a:r>
          </a:p>
          <a:p>
            <a:pPr algn="ctr"/>
            <a:r>
              <a:rPr lang="en-US" altLang="ja-JP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With Highest Market Exposure</a:t>
            </a:r>
            <a:endParaRPr lang="en-GB" altLang="ja-JP" sz="1200" b="1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endParaRPr lang="en-GB" altLang="ja-JP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Max Market Exposure: 30%</a:t>
            </a:r>
            <a:endParaRPr lang="en-US" altLang="zh-CN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Gross Invested: 110%</a:t>
            </a:r>
          </a:p>
        </p:txBody>
      </p:sp>
      <p:sp>
        <p:nvSpPr>
          <p:cNvPr id="58" name="Rectangle 7"/>
          <p:cNvSpPr>
            <a:spLocks noChangeArrowheads="1"/>
          </p:cNvSpPr>
          <p:nvPr/>
        </p:nvSpPr>
        <p:spPr bwMode="auto">
          <a:xfrm>
            <a:off x="6547102" y="1600200"/>
            <a:ext cx="2490984" cy="1068388"/>
          </a:xfrm>
          <a:prstGeom prst="rect">
            <a:avLst/>
          </a:prstGeom>
          <a:noFill/>
          <a:ln w="9525" algn="ctr">
            <a:solidFill>
              <a:srgbClr val="FFFFFF"/>
            </a:solidFill>
            <a:miter lim="800000"/>
            <a:headEnd/>
            <a:tailEnd/>
          </a:ln>
        </p:spPr>
        <p:txBody>
          <a:bodyPr lIns="36000" tIns="72000" rIns="36000" bIns="36000" anchorCtr="1"/>
          <a:lstStyle/>
          <a:p>
            <a:pPr algn="ctr"/>
            <a:r>
              <a:rPr lang="en-US" altLang="zh-CN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Low Beta Strategy</a:t>
            </a:r>
          </a:p>
          <a:p>
            <a:pPr algn="ctr"/>
            <a:r>
              <a:rPr lang="en-US" altLang="ja-JP" sz="1200" b="1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With Lowest Market Exposure</a:t>
            </a:r>
            <a:endParaRPr lang="en-GB" altLang="ja-JP" sz="1200" b="1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endParaRPr lang="en-GB" altLang="ja-JP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Min Market Exposure: 0%</a:t>
            </a:r>
            <a:endParaRPr lang="en-US" altLang="zh-CN" sz="1200" dirty="0">
              <a:solidFill>
                <a:schemeClr val="tx2"/>
              </a:solidFill>
              <a:ea typeface="Arial Unicode MS" pitchFamily="34" charset="-122"/>
              <a:cs typeface="Arial Unicode MS" pitchFamily="34" charset="-122"/>
            </a:endParaRPr>
          </a:p>
          <a:p>
            <a:pPr algn="ctr"/>
            <a:r>
              <a:rPr lang="en-US" altLang="zh-CN" sz="1200" dirty="0" smtClean="0">
                <a:solidFill>
                  <a:schemeClr val="tx2"/>
                </a:solidFill>
                <a:ea typeface="Arial Unicode MS" pitchFamily="34" charset="-122"/>
                <a:cs typeface="Arial Unicode MS" pitchFamily="34" charset="-122"/>
              </a:rPr>
              <a:t>Gross Invested: 120%</a:t>
            </a:r>
          </a:p>
        </p:txBody>
      </p:sp>
    </p:spTree>
    <p:extLst>
      <p:ext uri="{BB962C8B-B14F-4D97-AF65-F5344CB8AC3E}">
        <p14:creationId xmlns:p14="http://schemas.microsoft.com/office/powerpoint/2010/main" val="1320532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IyJAvTK6EOWvDOa_eKQhw"/>
</p:tagLst>
</file>

<file path=ppt/theme/theme1.xml><?xml version="1.0" encoding="utf-8"?>
<a:theme xmlns:a="http://schemas.openxmlformats.org/drawingml/2006/main" name="Office Theme">
  <a:themeElements>
    <a:clrScheme name="Cello">
      <a:dk1>
        <a:srgbClr val="000000"/>
      </a:dk1>
      <a:lt1>
        <a:srgbClr val="FFFFFF"/>
      </a:lt1>
      <a:dk2>
        <a:srgbClr val="203353"/>
      </a:dk2>
      <a:lt2>
        <a:srgbClr val="EFEBE4"/>
      </a:lt2>
      <a:accent1>
        <a:srgbClr val="2E398A"/>
      </a:accent1>
      <a:accent2>
        <a:srgbClr val="8891D5"/>
      </a:accent2>
      <a:accent3>
        <a:srgbClr val="968880"/>
      </a:accent3>
      <a:accent4>
        <a:srgbClr val="000000"/>
      </a:accent4>
      <a:accent5>
        <a:srgbClr val="ADAEC4"/>
      </a:accent5>
      <a:accent6>
        <a:srgbClr val="7B83C1"/>
      </a:accent6>
      <a:hlink>
        <a:srgbClr val="968880"/>
      </a:hlink>
      <a:folHlink>
        <a:srgbClr val="533D2D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5969</TotalTime>
  <Words>125</Words>
  <Application>Microsoft Office PowerPoint</Application>
  <PresentationFormat>Custom</PresentationFormat>
  <Paragraphs>26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Strategy categorization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Matt</dc:creator>
  <cp:lastModifiedBy>Lien Chen</cp:lastModifiedBy>
  <cp:revision>503</cp:revision>
  <cp:lastPrinted>2015-07-15T17:40:38Z</cp:lastPrinted>
  <dcterms:created xsi:type="dcterms:W3CDTF">2015-05-21T20:34:11Z</dcterms:created>
  <dcterms:modified xsi:type="dcterms:W3CDTF">2015-07-16T00:46:53Z</dcterms:modified>
</cp:coreProperties>
</file>