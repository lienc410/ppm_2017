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37" r:id="rId2"/>
    <p:sldId id="338" r:id="rId3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1326" y="-270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7/16/2015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7/16/2015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 selling rationale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Selling stocks short serves different purposes for different equity managers and strategies.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sp>
        <p:nvSpPr>
          <p:cNvPr id="5" name="Rectangle 4"/>
          <p:cNvSpPr/>
          <p:nvPr/>
        </p:nvSpPr>
        <p:spPr>
          <a:xfrm>
            <a:off x="2903220" y="1200686"/>
            <a:ext cx="525780" cy="4757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2903220" y="1691640"/>
            <a:ext cx="6629400" cy="12721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903220" y="1691640"/>
            <a:ext cx="6629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0" y="1261646"/>
            <a:ext cx="6103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</a:rPr>
              <a:t>Hedge a Portfolio’s Market Exposure and/or Sector Exposure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903220" y="3319046"/>
            <a:ext cx="525780" cy="4757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2903220" y="3810000"/>
            <a:ext cx="6629400" cy="11847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>
            <a:off x="2903220" y="3810000"/>
            <a:ext cx="66294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29000" y="3398520"/>
            <a:ext cx="6103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5">
                    <a:lumMod val="50000"/>
                  </a:schemeClr>
                </a:solidFill>
              </a:rPr>
              <a:t>Profit from Stock Price Declines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03220" y="1691640"/>
            <a:ext cx="6629400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Hedge out market risk (beta risk)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Protect the portfolio’s long positions against a broad market decline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Reduce portfolio’s correlation to the markets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Reduce volatility of a portfolio’s returns with the market</a:t>
            </a:r>
            <a:endParaRPr lang="en-US" sz="1400" dirty="0"/>
          </a:p>
          <a:p>
            <a:pPr>
              <a:spcBef>
                <a:spcPts val="800"/>
              </a:spcBef>
            </a:pPr>
            <a:r>
              <a:rPr lang="en-US" sz="1400" dirty="0" smtClean="0"/>
              <a:t>Often use short selling index to hedge out portfolio risk and sector risk.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03220" y="3825240"/>
            <a:ext cx="6629400" cy="105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Profit from a decline in the stock price for company-specific reasons </a:t>
            </a:r>
          </a:p>
          <a:p>
            <a:pPr lvl="1"/>
            <a:r>
              <a:rPr lang="en-US" sz="1400" dirty="0" smtClean="0"/>
              <a:t>(overvaluation, weak management, declining revenue and earnings etc.)</a:t>
            </a:r>
          </a:p>
          <a:p>
            <a:pPr>
              <a:spcBef>
                <a:spcPts val="800"/>
              </a:spcBef>
            </a:pPr>
            <a:r>
              <a:rPr lang="en-US" sz="1400" dirty="0" smtClean="0"/>
              <a:t>Based on extensive fundamental and/or quantitative research to identify factors lead to stock price decline. 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80360" y="5285006"/>
            <a:ext cx="525780" cy="4757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80360" y="5775960"/>
            <a:ext cx="6629400" cy="11847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>
            <a:off x="2880360" y="5775960"/>
            <a:ext cx="6629400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406140" y="5364480"/>
            <a:ext cx="6103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3"/>
                </a:solidFill>
              </a:rPr>
              <a:t>Capture Relative Value</a:t>
            </a:r>
            <a:endParaRPr lang="en-US" sz="1600" dirty="0">
              <a:solidFill>
                <a:schemeClr val="accent3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880360" y="5791200"/>
            <a:ext cx="6629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Market neutral managers may establish a pairs trade by buying an undervalued stock and selling an overvalued stock, usually in the same industry.</a:t>
            </a:r>
          </a:p>
          <a:p>
            <a:r>
              <a:rPr lang="en-US" sz="1400" dirty="0" smtClean="0"/>
              <a:t>Pairs trading is a non-direction, relative value strategy seeks to identify two companies with similar characteristics whose stocks are currently trading at a price relationship outside its historical range.</a:t>
            </a:r>
          </a:p>
        </p:txBody>
      </p:sp>
    </p:spTree>
    <p:extLst>
      <p:ext uri="{BB962C8B-B14F-4D97-AF65-F5344CB8AC3E}">
        <p14:creationId xmlns:p14="http://schemas.microsoft.com/office/powerpoint/2010/main" val="398789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 selling rationale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Selling stocks short serves different purposes for different equity managers and strategies.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665654"/>
              </p:ext>
            </p:extLst>
          </p:nvPr>
        </p:nvGraphicFramePr>
        <p:xfrm>
          <a:off x="2590800" y="1234440"/>
          <a:ext cx="7086600" cy="29413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676400"/>
                <a:gridCol w="914400"/>
                <a:gridCol w="1066800"/>
                <a:gridCol w="838200"/>
                <a:gridCol w="25908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Return Source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Cost</a:t>
                      </a:r>
                      <a:r>
                        <a:rPr lang="en-US" sz="1100" baseline="0" dirty="0" smtClean="0"/>
                        <a:t> Bas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Exit Proceeds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Return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Assumptions/Notes</a:t>
                      </a:r>
                      <a:endParaRPr lang="en-US" sz="1100" dirty="0"/>
                    </a:p>
                  </a:txBody>
                  <a:tcPr anchor="ctr"/>
                </a:tc>
              </a:tr>
              <a:tr h="33183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Short</a:t>
                      </a:r>
                      <a:r>
                        <a:rPr lang="en-US" sz="1100" baseline="0" dirty="0" smtClean="0"/>
                        <a:t> Position: XYZ Co.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$2,000,000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$1,500,000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$500,000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200,000 shares shorted @$10</a:t>
                      </a:r>
                      <a:r>
                        <a:rPr lang="en-US" sz="1100" baseline="0" dirty="0" smtClean="0"/>
                        <a:t> per share and covered @7.50 per share</a:t>
                      </a:r>
                      <a:endParaRPr lang="en-US" sz="1100" dirty="0"/>
                    </a:p>
                  </a:txBody>
                  <a:tcPr anchor="ctr"/>
                </a:tc>
              </a:tr>
              <a:tr h="33183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Short Rebate on Short Sale</a:t>
                      </a:r>
                      <a:r>
                        <a:rPr lang="en-US" sz="1100" baseline="0" dirty="0" smtClean="0"/>
                        <a:t> Proceeds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Rate of 1.5% earned on short proceeds</a:t>
                      </a:r>
                      <a:r>
                        <a:rPr lang="en-US" sz="1100" baseline="0" dirty="0" smtClean="0"/>
                        <a:t> od $2,000,000</a:t>
                      </a:r>
                      <a:endParaRPr lang="en-US" sz="1100" dirty="0"/>
                    </a:p>
                  </a:txBody>
                  <a:tcPr anchor="ctr"/>
                </a:tc>
              </a:tr>
              <a:tr h="33183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Cost of Borrowing Shares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($5,000)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Rate of 0.25%</a:t>
                      </a:r>
                      <a:r>
                        <a:rPr lang="en-US" sz="1100" baseline="0" dirty="0" smtClean="0"/>
                        <a:t> paid on initial stock loan, with a borrow value of $2 million</a:t>
                      </a:r>
                      <a:endParaRPr lang="en-US" sz="1100" dirty="0"/>
                    </a:p>
                  </a:txBody>
                  <a:tcPr anchor="ctr"/>
                </a:tc>
              </a:tr>
              <a:tr h="33183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Dividend</a:t>
                      </a:r>
                      <a:r>
                        <a:rPr lang="en-US" sz="1100" baseline="0" dirty="0" smtClean="0"/>
                        <a:t> Payment </a:t>
                      </a:r>
                    </a:p>
                    <a:p>
                      <a:r>
                        <a:rPr lang="en-US" sz="1100" baseline="0" dirty="0" smtClean="0"/>
                        <a:t>on Short Position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($20,000)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Dividend yield of 1% on XYZ Co.</a:t>
                      </a:r>
                      <a:endParaRPr lang="en-US" sz="1100" dirty="0"/>
                    </a:p>
                  </a:txBody>
                  <a:tcPr anchor="ctr"/>
                </a:tc>
              </a:tr>
              <a:tr h="331839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Margin Costs</a:t>
                      </a:r>
                      <a:r>
                        <a:rPr lang="en-US" sz="1100" baseline="0" dirty="0" smtClean="0"/>
                        <a:t> </a:t>
                      </a:r>
                    </a:p>
                    <a:p>
                      <a:r>
                        <a:rPr lang="en-US" sz="1100" baseline="0" dirty="0" smtClean="0"/>
                        <a:t>(on Short Position)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($15,000)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Rate of 2.5% paid for margin of $600,000*</a:t>
                      </a:r>
                      <a:endParaRPr lang="en-US" sz="1100" dirty="0"/>
                    </a:p>
                  </a:txBody>
                  <a:tcPr anchor="ctr"/>
                </a:tc>
              </a:tr>
              <a:tr h="199103">
                <a:tc>
                  <a:txBody>
                    <a:bodyPr/>
                    <a:lstStyle/>
                    <a:p>
                      <a:r>
                        <a:rPr lang="en-US" sz="1100" b="1" dirty="0" smtClean="0"/>
                        <a:t>Total Return</a:t>
                      </a:r>
                    </a:p>
                    <a:p>
                      <a:r>
                        <a:rPr lang="en-US" sz="1100" b="1" dirty="0" smtClean="0"/>
                        <a:t>Total Return (%)</a:t>
                      </a:r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$490,000</a:t>
                      </a:r>
                    </a:p>
                    <a:p>
                      <a:pPr algn="ctr"/>
                      <a:r>
                        <a:rPr lang="en-US" sz="1100" b="1" dirty="0" smtClean="0"/>
                        <a:t>24.5%</a:t>
                      </a:r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$490,000 / $2,000,000 × 100 = 24.5%</a:t>
                      </a:r>
                      <a:endParaRPr lang="en-US" sz="11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480110"/>
              </p:ext>
            </p:extLst>
          </p:nvPr>
        </p:nvGraphicFramePr>
        <p:xfrm>
          <a:off x="2590800" y="4511040"/>
          <a:ext cx="3200400" cy="17526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209800"/>
                <a:gridCol w="990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Details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Amount</a:t>
                      </a:r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Portfolio’s Net Asset Value (NAV)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$100,000,000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Position Weighting of Portfolio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2%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Initial Capital for the Trade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$2,000,000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Percent Return on the Trade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24.5%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Percent Return Attribution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0.49%</a:t>
                      </a:r>
                      <a:endParaRPr lang="en-US" sz="11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990023"/>
              </p:ext>
            </p:extLst>
          </p:nvPr>
        </p:nvGraphicFramePr>
        <p:xfrm>
          <a:off x="6400800" y="4511040"/>
          <a:ext cx="3276600" cy="21488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19200"/>
                <a:gridCol w="990600"/>
                <a:gridCol w="1066800"/>
              </a:tblGrid>
              <a:tr h="2159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Details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Portfolio Attribution</a:t>
                      </a:r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Short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baseline="0" dirty="0" smtClean="0"/>
                        <a:t>Position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25%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0.50%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Short </a:t>
                      </a:r>
                      <a:r>
                        <a:rPr lang="en-US" sz="1100" dirty="0" smtClean="0"/>
                        <a:t>Rebate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1.5%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0.03%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Cost of Borrowing Shares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-0.25%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-0.005%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Dividend</a:t>
                      </a:r>
                      <a:r>
                        <a:rPr lang="en-US" sz="1100" baseline="0" dirty="0" smtClean="0"/>
                        <a:t> Payment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-1%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-0.02%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Margin Costs</a:t>
                      </a:r>
                      <a:r>
                        <a:rPr lang="en-US" sz="1100" baseline="0" dirty="0" smtClean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-0.75%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-0.015%</a:t>
                      </a:r>
                      <a:endParaRPr lang="en-US" sz="1100" dirty="0"/>
                    </a:p>
                  </a:txBody>
                  <a:tcPr anchor="ctr"/>
                </a:tc>
              </a:tr>
              <a:tr h="215900">
                <a:tc>
                  <a:txBody>
                    <a:bodyPr/>
                    <a:lstStyle/>
                    <a:p>
                      <a:r>
                        <a:rPr lang="en-US" sz="1100" b="1" baseline="0" dirty="0" smtClean="0"/>
                        <a:t>Total Return</a:t>
                      </a:r>
                      <a:endParaRPr lang="en-US" sz="1100" b="1" baseline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24.5%</a:t>
                      </a:r>
                      <a:endParaRPr 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0.49%</a:t>
                      </a:r>
                      <a:endParaRPr lang="en-US" sz="1100" b="1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4600" y="6751320"/>
            <a:ext cx="7086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* Short Cost = Margin of $600,000 @2.5%, which is calculated as follows: </a:t>
            </a:r>
          </a:p>
          <a:p>
            <a:r>
              <a:rPr lang="en-US" sz="1000" dirty="0" smtClean="0"/>
              <a:t>($2,000,000) × 130% short margin </a:t>
            </a:r>
            <a:r>
              <a:rPr lang="en-US" sz="1000" dirty="0"/>
              <a:t>+ $</a:t>
            </a:r>
            <a:r>
              <a:rPr lang="en-US" sz="1000" dirty="0" smtClean="0"/>
              <a:t>2,000,000 = ($2,600,000) + $2,000,000 = ($600,000);</a:t>
            </a:r>
          </a:p>
          <a:p>
            <a:r>
              <a:rPr lang="en-US" sz="1000" dirty="0" smtClean="0"/>
              <a:t>Net Margin used = ($600,000) in margin rate @2.5% .  130% short margin is based on the prime broker’s margin requirement.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8909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6044</TotalTime>
  <Words>489</Words>
  <Application>Microsoft Office PowerPoint</Application>
  <PresentationFormat>Custom</PresentationFormat>
  <Paragraphs>89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Short selling rationale</vt:lpstr>
      <vt:lpstr>Short selling rationale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512</cp:revision>
  <cp:lastPrinted>2015-07-15T17:40:38Z</cp:lastPrinted>
  <dcterms:created xsi:type="dcterms:W3CDTF">2015-05-21T20:34:11Z</dcterms:created>
  <dcterms:modified xsi:type="dcterms:W3CDTF">2015-07-16T17:57:57Z</dcterms:modified>
</cp:coreProperties>
</file>