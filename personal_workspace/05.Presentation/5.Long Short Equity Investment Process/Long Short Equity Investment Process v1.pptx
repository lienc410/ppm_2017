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20" r:id="rId2"/>
    <p:sldId id="331" r:id="rId3"/>
    <p:sldId id="332" r:id="rId4"/>
    <p:sldId id="339" r:id="rId5"/>
    <p:sldId id="340" r:id="rId6"/>
    <p:sldId id="334" r:id="rId7"/>
    <p:sldId id="335" r:id="rId8"/>
    <p:sldId id="333" r:id="rId9"/>
    <p:sldId id="338" r:id="rId10"/>
    <p:sldId id="330" r:id="rId11"/>
    <p:sldId id="337" r:id="rId12"/>
    <p:sldId id="336" r:id="rId1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20" d="100"/>
          <a:sy n="120" d="100"/>
        </p:scale>
        <p:origin x="-1494" y="-396"/>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invertIfNegative val="0"/>
          <c:cat>
            <c:numRef>
              <c:f>Sheet1!$A$2:$A$3</c:f>
              <c:numCache>
                <c:formatCode>General</c:formatCode>
                <c:ptCount val="2"/>
              </c:numCache>
            </c:numRef>
          </c:cat>
          <c:val>
            <c:numRef>
              <c:f>Sheet1!$B$2:$B$3</c:f>
              <c:numCache>
                <c:formatCode>General</c:formatCode>
                <c:ptCount val="2"/>
                <c:pt idx="0">
                  <c:v>0.7</c:v>
                </c:pt>
                <c:pt idx="1">
                  <c:v>0.6</c:v>
                </c:pt>
              </c:numCache>
            </c:numRef>
          </c:val>
        </c:ser>
        <c:ser>
          <c:idx val="1"/>
          <c:order val="1"/>
          <c:tx>
            <c:strRef>
              <c:f>Sheet1!$C$1</c:f>
              <c:strCache>
                <c:ptCount val="1"/>
                <c:pt idx="0">
                  <c:v>Series 2</c:v>
                </c:pt>
              </c:strCache>
            </c:strRef>
          </c:tx>
          <c:invertIfNegative val="0"/>
          <c:cat>
            <c:numRef>
              <c:f>Sheet1!$A$2:$A$3</c:f>
              <c:numCache>
                <c:formatCode>General</c:formatCode>
                <c:ptCount val="2"/>
              </c:numCache>
            </c:numRef>
          </c:cat>
          <c:val>
            <c:numRef>
              <c:f>Sheet1!$C$2:$C$3</c:f>
              <c:numCache>
                <c:formatCode>General</c:formatCode>
                <c:ptCount val="2"/>
                <c:pt idx="0">
                  <c:v>-0.4</c:v>
                </c:pt>
                <c:pt idx="1">
                  <c:v>-0.6</c:v>
                </c:pt>
              </c:numCache>
            </c:numRef>
          </c:val>
        </c:ser>
        <c:dLbls>
          <c:showLegendKey val="0"/>
          <c:showVal val="0"/>
          <c:showCatName val="0"/>
          <c:showSerName val="0"/>
          <c:showPercent val="0"/>
          <c:showBubbleSize val="0"/>
        </c:dLbls>
        <c:gapWidth val="150"/>
        <c:overlap val="100"/>
        <c:axId val="108950272"/>
        <c:axId val="108951808"/>
      </c:barChart>
      <c:catAx>
        <c:axId val="108950272"/>
        <c:scaling>
          <c:orientation val="minMax"/>
        </c:scaling>
        <c:delete val="0"/>
        <c:axPos val="b"/>
        <c:numFmt formatCode="General" sourceLinked="1"/>
        <c:majorTickMark val="out"/>
        <c:minorTickMark val="none"/>
        <c:tickLblPos val="nextTo"/>
        <c:crossAx val="108951808"/>
        <c:crosses val="autoZero"/>
        <c:auto val="1"/>
        <c:lblAlgn val="ctr"/>
        <c:lblOffset val="100"/>
        <c:noMultiLvlLbl val="0"/>
      </c:catAx>
      <c:valAx>
        <c:axId val="108951808"/>
        <c:scaling>
          <c:orientation val="minMax"/>
          <c:max val="1"/>
          <c:min val="-0.60000000000000009"/>
        </c:scaling>
        <c:delete val="0"/>
        <c:axPos val="l"/>
        <c:majorGridlines>
          <c:spPr>
            <a:ln w="19050">
              <a:solidFill>
                <a:schemeClr val="bg1"/>
              </a:solidFill>
            </a:ln>
          </c:spPr>
        </c:majorGridlines>
        <c:numFmt formatCode="0%" sourceLinked="0"/>
        <c:majorTickMark val="out"/>
        <c:minorTickMark val="none"/>
        <c:tickLblPos val="nextTo"/>
        <c:spPr>
          <a:ln>
            <a:solidFill>
              <a:schemeClr val="bg1"/>
            </a:solidFill>
          </a:ln>
        </c:spPr>
        <c:txPr>
          <a:bodyPr/>
          <a:lstStyle/>
          <a:p>
            <a:pPr>
              <a:defRPr sz="1000"/>
            </a:pPr>
            <a:endParaRPr lang="en-US"/>
          </a:p>
        </c:txPr>
        <c:crossAx val="108950272"/>
        <c:crosses val="autoZero"/>
        <c:crossBetween val="between"/>
        <c:majorUnit val="0.2"/>
      </c:valAx>
      <c:spPr>
        <a:solidFill>
          <a:schemeClr val="accent3">
            <a:lumMod val="20000"/>
            <a:lumOff val="80000"/>
          </a:schemeClr>
        </a:solidFill>
      </c:spPr>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7/17/2015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7/17/2015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6</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11</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chart" Target="../charts/char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8.xml"/><Relationship Id="rId5" Type="http://schemas.openxmlformats.org/officeDocument/2006/relationships/slideLayout" Target="../slideLayouts/slideLayout14.xml"/><Relationship Id="rId4"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INVESTMENT PROCESS: Long/Short equity </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graphicFrame>
        <p:nvGraphicFramePr>
          <p:cNvPr id="5" name="Table 4"/>
          <p:cNvGraphicFramePr>
            <a:graphicFrameLocks noGrp="1"/>
          </p:cNvGraphicFramePr>
          <p:nvPr>
            <p:extLst>
              <p:ext uri="{D42A27DB-BD31-4B8C-83A1-F6EECF244321}">
                <p14:modId xmlns:p14="http://schemas.microsoft.com/office/powerpoint/2010/main" val="2367219358"/>
              </p:ext>
            </p:extLst>
          </p:nvPr>
        </p:nvGraphicFramePr>
        <p:xfrm>
          <a:off x="2897267" y="1676400"/>
          <a:ext cx="6705600" cy="32054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Style</a:t>
                      </a:r>
                      <a:r>
                        <a:rPr lang="en-US" sz="1600" b="1" baseline="0" dirty="0" smtClean="0"/>
                        <a:t> Factors</a:t>
                      </a:r>
                      <a:endParaRPr lang="en-US" sz="1600" b="1" dirty="0"/>
                    </a:p>
                  </a:txBody>
                  <a:tcPr anchor="ctr">
                    <a:solidFill>
                      <a:schemeClr val="accent1">
                        <a:lumMod val="40000"/>
                        <a:lumOff val="60000"/>
                      </a:schemeClr>
                    </a:solidFill>
                  </a:tcPr>
                </a:tc>
                <a:tc>
                  <a:txBody>
                    <a:bodyPr/>
                    <a:lstStyle/>
                    <a:p>
                      <a:pPr algn="ctr"/>
                      <a:r>
                        <a:rPr lang="en-US" sz="1600" b="1" dirty="0" smtClean="0"/>
                        <a:t>CRE</a:t>
                      </a:r>
                      <a:r>
                        <a:rPr lang="en-US" sz="1600" b="1" baseline="0" dirty="0" smtClean="0"/>
                        <a:t> Long/Short Strategy</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Trader</a:t>
                      </a:r>
                      <a:r>
                        <a:rPr lang="en-US" sz="1400" b="1" baseline="0" dirty="0" smtClean="0"/>
                        <a:t> vs Investor</a:t>
                      </a:r>
                      <a:endParaRPr lang="en-US" sz="1400" b="1" dirty="0"/>
                    </a:p>
                  </a:txBody>
                  <a:tcPr anchor="ctr">
                    <a:solidFill>
                      <a:schemeClr val="accent2">
                        <a:lumMod val="20000"/>
                        <a:lumOff val="80000"/>
                      </a:schemeClr>
                    </a:solidFill>
                  </a:tcPr>
                </a:tc>
                <a:tc>
                  <a:txBody>
                    <a:bodyPr/>
                    <a:lstStyle/>
                    <a:p>
                      <a:pPr lvl="0" algn="l"/>
                      <a:r>
                        <a:rPr lang="en-US" sz="1400" dirty="0" smtClean="0"/>
                        <a:t>Investor-oriented with heavy</a:t>
                      </a:r>
                      <a:r>
                        <a:rPr lang="en-US" sz="1400" baseline="0" dirty="0" smtClean="0"/>
                        <a:t> reliance on fundamental bottoms-up analysis of company financials. Technical factors such as earnings or return momentum also taken into account.</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Holding</a:t>
                      </a:r>
                      <a:r>
                        <a:rPr lang="en-US" sz="1400" b="1" baseline="0" dirty="0" smtClean="0"/>
                        <a:t> Period</a:t>
                      </a:r>
                      <a:endParaRPr lang="en-US" sz="1400" b="1" dirty="0"/>
                    </a:p>
                  </a:txBody>
                  <a:tcPr anchor="ctr">
                    <a:solidFill>
                      <a:schemeClr val="accent2">
                        <a:lumMod val="20000"/>
                        <a:lumOff val="80000"/>
                      </a:schemeClr>
                    </a:solidFill>
                  </a:tcPr>
                </a:tc>
                <a:tc>
                  <a:txBody>
                    <a:bodyPr/>
                    <a:lstStyle/>
                    <a:p>
                      <a:pPr lvl="0" algn="l"/>
                      <a:r>
                        <a:rPr lang="en-US" sz="1400" dirty="0" smtClean="0"/>
                        <a:t>Longs are more value-oriented:</a:t>
                      </a:r>
                      <a:r>
                        <a:rPr lang="en-US" sz="1400" baseline="0" dirty="0" smtClean="0"/>
                        <a:t> ~6-9 months </a:t>
                      </a:r>
                    </a:p>
                    <a:p>
                      <a:pPr lvl="0" algn="l"/>
                      <a:r>
                        <a:rPr lang="en-US" sz="1400" baseline="0" dirty="0" smtClean="0"/>
                        <a:t>Shorts are more tactical: ~3 months</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Investment</a:t>
                      </a:r>
                      <a:r>
                        <a:rPr lang="en-US" sz="1400" b="1" baseline="0" dirty="0" smtClean="0"/>
                        <a:t> Signals</a:t>
                      </a:r>
                      <a:endParaRPr lang="en-US" sz="1400" b="1" dirty="0"/>
                    </a:p>
                  </a:txBody>
                  <a:tcPr anchor="ctr">
                    <a:solidFill>
                      <a:schemeClr val="accent2">
                        <a:lumMod val="20000"/>
                        <a:lumOff val="80000"/>
                      </a:schemeClr>
                    </a:solidFill>
                  </a:tcPr>
                </a:tc>
                <a:tc>
                  <a:txBody>
                    <a:bodyPr/>
                    <a:lstStyle/>
                    <a:p>
                      <a:pPr lvl="0" algn="l"/>
                      <a:r>
                        <a:rPr lang="en-US" sz="1400" baseline="0" dirty="0" smtClean="0"/>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340678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p:cNvSpPr/>
          <p:nvPr/>
        </p:nvSpPr>
        <p:spPr>
          <a:xfrm>
            <a:off x="3200400" y="1143000"/>
            <a:ext cx="6400800" cy="14352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Price targets are set for Bull/Base/Bear scenarios are sizing depends on where pricing is relative to targets. Positions are typically established at a “toe-hold” or “mid-size” level with no distinction between the long and short side. Other factors influencing sizing include timing, portfolio attributes, and upside relative to other positions in the portfolio.</a:t>
            </a:r>
          </a:p>
          <a:p>
            <a:endParaRPr lang="en-US" sz="1400" dirty="0">
              <a:solidFill>
                <a:schemeClr val="tx1"/>
              </a:solidFill>
            </a:endParaRPr>
          </a:p>
        </p:txBody>
      </p:sp>
      <p:sp>
        <p:nvSpPr>
          <p:cNvPr id="2" name="Title 1"/>
          <p:cNvSpPr>
            <a:spLocks noGrp="1"/>
          </p:cNvSpPr>
          <p:nvPr>
            <p:ph type="title"/>
          </p:nvPr>
        </p:nvSpPr>
        <p:spPr/>
        <p:txBody>
          <a:bodyPr/>
          <a:lstStyle/>
          <a:p>
            <a:r>
              <a:rPr lang="en-US" dirty="0" smtClean="0"/>
              <a:t>Portfolio Construction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portfolio construction</a:t>
            </a:r>
            <a:r>
              <a:rPr lang="en-US" sz="1200" b="0" dirty="0" smtClean="0">
                <a:solidFill>
                  <a:schemeClr val="tx1"/>
                </a:solidFill>
                <a:latin typeface="+mn-lt"/>
              </a:rPr>
              <a:t> process for a portfolio manager establishes a baseline for understanding the underlying investment philosophy, evaluating portfolio changes, and establishing performance expectations.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Three key components of position sizing include:</a:t>
            </a:r>
          </a:p>
          <a:p>
            <a:pPr>
              <a:lnSpc>
                <a:spcPct val="100000"/>
              </a:lnSpc>
              <a:spcBef>
                <a:spcPts val="0"/>
              </a:spcBef>
            </a:pPr>
            <a:endParaRPr lang="en-US" sz="1200" b="0" dirty="0">
              <a:solidFill>
                <a:schemeClr val="tx1"/>
              </a:solidFill>
              <a:latin typeface="+mn-lt"/>
            </a:endParaRP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initiation: </a:t>
            </a:r>
            <a:r>
              <a:rPr lang="en-US" sz="1200" b="0" dirty="0" smtClean="0">
                <a:solidFill>
                  <a:schemeClr val="tx1"/>
                </a:solidFill>
                <a:latin typeface="+mn-lt"/>
              </a:rPr>
              <a:t>How initial position sizes are established</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Management: </a:t>
            </a:r>
            <a:r>
              <a:rPr lang="en-US" sz="1200" b="0" dirty="0" smtClean="0">
                <a:solidFill>
                  <a:schemeClr val="tx1"/>
                </a:solidFill>
                <a:latin typeface="+mn-lt"/>
              </a:rPr>
              <a:t>What factors influence changes in position size</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Sell Discipline: </a:t>
            </a:r>
            <a:r>
              <a:rPr lang="en-US" sz="1200" b="0" dirty="0" smtClean="0">
                <a:solidFill>
                  <a:schemeClr val="tx1"/>
                </a:solidFill>
                <a:latin typeface="+mn-lt"/>
              </a:rPr>
              <a:t>The process for closing out a long or short position</a:t>
            </a:r>
            <a:endParaRPr lang="en-US" sz="120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7" name="Rectangle 6"/>
          <p:cNvSpPr/>
          <p:nvPr/>
        </p:nvSpPr>
        <p:spPr>
          <a:xfrm>
            <a:off x="2590800" y="1143000"/>
            <a:ext cx="609600" cy="14352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 Position Initiation</a:t>
            </a:r>
            <a:endParaRPr lang="en-US" sz="1400" dirty="0"/>
          </a:p>
        </p:txBody>
      </p:sp>
      <p:sp>
        <p:nvSpPr>
          <p:cNvPr id="33" name="Rectangle 32"/>
          <p:cNvSpPr/>
          <p:nvPr/>
        </p:nvSpPr>
        <p:spPr>
          <a:xfrm>
            <a:off x="3193774" y="2743200"/>
            <a:ext cx="6400800" cy="2209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Position sizes are actively rebalanced as stocks move towards or away from price targets. Generally, winners are trimmed and losers are added to. Scaling is also a function of risk/reward assessment as conviction levels move higher or the investment thesis begins to bear fruit. On the short side, scaling also depends on availability. Catalysts paly a significant role in terms of the investment strategy and are captured through scenario analysis (Bull/Base/Bear). Each scenario embeds a specific event that leads to the stock converging to its price target.</a:t>
            </a:r>
            <a:endParaRPr lang="en-US" sz="1400" dirty="0">
              <a:solidFill>
                <a:schemeClr val="tx1"/>
              </a:solidFill>
            </a:endParaRPr>
          </a:p>
        </p:txBody>
      </p:sp>
      <p:sp>
        <p:nvSpPr>
          <p:cNvPr id="39" name="Rectangle 38"/>
          <p:cNvSpPr/>
          <p:nvPr/>
        </p:nvSpPr>
        <p:spPr>
          <a:xfrm>
            <a:off x="2584174" y="2743200"/>
            <a:ext cx="609600" cy="2209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Position Management</a:t>
            </a:r>
            <a:endParaRPr lang="en-US" sz="1400" dirty="0"/>
          </a:p>
        </p:txBody>
      </p:sp>
      <p:sp>
        <p:nvSpPr>
          <p:cNvPr id="51" name="Rectangle 50"/>
          <p:cNvSpPr/>
          <p:nvPr/>
        </p:nvSpPr>
        <p:spPr>
          <a:xfrm>
            <a:off x="3200400" y="5105400"/>
            <a:ext cx="6400800" cy="2057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Exit methodologies include reaching price targets, the availability of better opportunities, a discrediting of the investment thesis (when the movements of the position are not in line with the thesis), the failure of a catalyst to materialize, and the appearance of systemic risk factors.</a:t>
            </a:r>
            <a:endParaRPr lang="en-US" sz="1400" dirty="0">
              <a:solidFill>
                <a:schemeClr val="tx1"/>
              </a:solidFill>
            </a:endParaRPr>
          </a:p>
        </p:txBody>
      </p:sp>
      <p:sp>
        <p:nvSpPr>
          <p:cNvPr id="56" name="Rectangle 55"/>
          <p:cNvSpPr/>
          <p:nvPr/>
        </p:nvSpPr>
        <p:spPr>
          <a:xfrm>
            <a:off x="2590800" y="5105400"/>
            <a:ext cx="609600" cy="20574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Sell Discipline</a:t>
            </a:r>
            <a:endParaRPr lang="en-US" sz="1400" dirty="0"/>
          </a:p>
        </p:txBody>
      </p:sp>
    </p:spTree>
    <p:extLst>
      <p:ext uri="{BB962C8B-B14F-4D97-AF65-F5344CB8AC3E}">
        <p14:creationId xmlns:p14="http://schemas.microsoft.com/office/powerpoint/2010/main" val="24009798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 name="Rectangle 2"/>
          <p:cNvSpPr/>
          <p:nvPr/>
        </p:nvSpPr>
        <p:spPr>
          <a:xfrm>
            <a:off x="2819400" y="20574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Trader vs </a:t>
            </a:r>
            <a:r>
              <a:rPr lang="en-US" sz="1600" b="1" dirty="0" smtClean="0">
                <a:solidFill>
                  <a:schemeClr val="bg1"/>
                </a:solidFill>
              </a:rPr>
              <a:t>Investor</a:t>
            </a:r>
            <a:endParaRPr lang="en-US" sz="1600" b="1" dirty="0">
              <a:solidFill>
                <a:schemeClr val="bg1"/>
              </a:solidFill>
            </a:endParaRPr>
          </a:p>
        </p:txBody>
      </p:sp>
      <p:sp>
        <p:nvSpPr>
          <p:cNvPr id="7" name="Rectangle 6"/>
          <p:cNvSpPr/>
          <p:nvPr/>
        </p:nvSpPr>
        <p:spPr>
          <a:xfrm>
            <a:off x="4953000" y="2057400"/>
            <a:ext cx="43434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Investor-oriented with heavy reliance on fundamental bottoms-up analysis of company financials. Technical factors such as earnings or return momentum also taken into account</a:t>
            </a:r>
            <a:r>
              <a:rPr lang="en-US" sz="1400" dirty="0" smtClean="0">
                <a:solidFill>
                  <a:schemeClr val="tx1"/>
                </a:solidFill>
              </a:rPr>
              <a:t>.</a:t>
            </a:r>
            <a:endParaRPr lang="en-US" sz="1400" dirty="0">
              <a:solidFill>
                <a:schemeClr val="tx1"/>
              </a:solidFill>
            </a:endParaRPr>
          </a:p>
        </p:txBody>
      </p:sp>
      <p:sp>
        <p:nvSpPr>
          <p:cNvPr id="8" name="Rectangle 7"/>
          <p:cNvSpPr/>
          <p:nvPr/>
        </p:nvSpPr>
        <p:spPr>
          <a:xfrm>
            <a:off x="2819400" y="3695700"/>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Holding </a:t>
            </a:r>
            <a:r>
              <a:rPr lang="en-US" b="1" dirty="0" smtClean="0">
                <a:solidFill>
                  <a:schemeClr val="bg1"/>
                </a:solidFill>
              </a:rPr>
              <a:t>Period</a:t>
            </a:r>
            <a:endParaRPr lang="en-US" b="1" dirty="0">
              <a:solidFill>
                <a:schemeClr val="bg1"/>
              </a:solidFill>
            </a:endParaRPr>
          </a:p>
        </p:txBody>
      </p:sp>
      <p:sp>
        <p:nvSpPr>
          <p:cNvPr id="9" name="Rectangle 8"/>
          <p:cNvSpPr/>
          <p:nvPr/>
        </p:nvSpPr>
        <p:spPr>
          <a:xfrm>
            <a:off x="4953000" y="3695700"/>
            <a:ext cx="4343400" cy="1371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53340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Investment </a:t>
            </a:r>
            <a:r>
              <a:rPr lang="en-US" b="1" dirty="0" smtClean="0">
                <a:solidFill>
                  <a:schemeClr val="bg1"/>
                </a:solidFill>
              </a:rPr>
              <a:t>Signals</a:t>
            </a:r>
            <a:endParaRPr lang="en-US" b="1" dirty="0">
              <a:solidFill>
                <a:schemeClr val="bg1"/>
              </a:solidFill>
            </a:endParaRPr>
          </a:p>
        </p:txBody>
      </p:sp>
      <p:sp>
        <p:nvSpPr>
          <p:cNvPr id="11" name="Rectangle 10"/>
          <p:cNvSpPr/>
          <p:nvPr/>
        </p:nvSpPr>
        <p:spPr>
          <a:xfrm>
            <a:off x="4953000" y="5334000"/>
            <a:ext cx="4343400" cy="1371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819400" y="3664922"/>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Holding </a:t>
            </a:r>
            <a:r>
              <a:rPr lang="en-US" sz="1600" b="1" dirty="0" smtClean="0">
                <a:solidFill>
                  <a:schemeClr val="bg1"/>
                </a:solidFill>
              </a:rPr>
              <a:t>Period</a:t>
            </a:r>
            <a:endParaRPr lang="en-US" sz="1600" b="1" dirty="0">
              <a:solidFill>
                <a:schemeClr val="bg1"/>
              </a:solidFill>
            </a:endParaRPr>
          </a:p>
        </p:txBody>
      </p:sp>
      <p:sp>
        <p:nvSpPr>
          <p:cNvPr id="21" name="Rectangle 20"/>
          <p:cNvSpPr/>
          <p:nvPr/>
        </p:nvSpPr>
        <p:spPr>
          <a:xfrm>
            <a:off x="4953000" y="3664922"/>
            <a:ext cx="4343400" cy="14023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Longs are more value-oriented: ~6-9 months </a:t>
            </a:r>
          </a:p>
          <a:p>
            <a:pPr lvl="0"/>
            <a:r>
              <a:rPr lang="en-US" sz="1400" dirty="0">
                <a:solidFill>
                  <a:schemeClr val="tx1"/>
                </a:solidFill>
              </a:rPr>
              <a:t>Shorts are more tactical: ~3 </a:t>
            </a:r>
            <a:r>
              <a:rPr lang="en-US" sz="1400" dirty="0" smtClean="0">
                <a:solidFill>
                  <a:schemeClr val="tx1"/>
                </a:solidFill>
              </a:rPr>
              <a:t>months</a:t>
            </a:r>
            <a:endParaRPr lang="en-US" sz="1400" dirty="0">
              <a:solidFill>
                <a:schemeClr val="tx1"/>
              </a:solidFill>
            </a:endParaRPr>
          </a:p>
        </p:txBody>
      </p:sp>
      <p:sp>
        <p:nvSpPr>
          <p:cNvPr id="23" name="Rectangle 22"/>
          <p:cNvSpPr/>
          <p:nvPr/>
        </p:nvSpPr>
        <p:spPr>
          <a:xfrm>
            <a:off x="2819400" y="5303222"/>
            <a:ext cx="2133600" cy="163097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Investment </a:t>
            </a:r>
            <a:r>
              <a:rPr lang="en-US" sz="1600" b="1" dirty="0" smtClean="0">
                <a:solidFill>
                  <a:schemeClr val="bg1"/>
                </a:solidFill>
              </a:rPr>
              <a:t>Signals</a:t>
            </a:r>
            <a:endParaRPr lang="en-US" sz="1600" b="1" dirty="0">
              <a:solidFill>
                <a:schemeClr val="bg1"/>
              </a:solidFill>
            </a:endParaRPr>
          </a:p>
        </p:txBody>
      </p:sp>
      <p:sp>
        <p:nvSpPr>
          <p:cNvPr id="24" name="Rectangle 23"/>
          <p:cNvSpPr/>
          <p:nvPr/>
        </p:nvSpPr>
        <p:spPr>
          <a:xfrm>
            <a:off x="4953000" y="5303222"/>
            <a:ext cx="4343400" cy="16309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r>
              <a:rPr lang="en-US" sz="1400" dirty="0" smtClean="0">
                <a:solidFill>
                  <a:schemeClr val="tx1"/>
                </a:solidFill>
              </a:rPr>
              <a:t>.</a:t>
            </a:r>
            <a:endParaRPr lang="en-US" sz="1400" dirty="0">
              <a:solidFill>
                <a:schemeClr val="tx1"/>
              </a:solidFill>
            </a:endParaRPr>
          </a:p>
        </p:txBody>
      </p:sp>
      <p:sp>
        <p:nvSpPr>
          <p:cNvPr id="18" name="TextBox 17"/>
          <p:cNvSpPr txBox="1"/>
          <p:nvPr/>
        </p:nvSpPr>
        <p:spPr>
          <a:xfrm>
            <a:off x="2819400" y="1600200"/>
            <a:ext cx="2057400" cy="369332"/>
          </a:xfrm>
          <a:prstGeom prst="rect">
            <a:avLst/>
          </a:prstGeom>
          <a:noFill/>
        </p:spPr>
        <p:txBody>
          <a:bodyPr wrap="square" rtlCol="0">
            <a:spAutoFit/>
          </a:bodyPr>
          <a:lstStyle/>
          <a:p>
            <a:r>
              <a:rPr lang="en-US" sz="1800" b="1" dirty="0" smtClean="0">
                <a:solidFill>
                  <a:schemeClr val="accent1"/>
                </a:solidFill>
              </a:rPr>
              <a:t>Style Factors</a:t>
            </a:r>
            <a:endParaRPr lang="en-US" sz="1800" b="1" dirty="0">
              <a:solidFill>
                <a:schemeClr val="accent1"/>
              </a:solidFill>
            </a:endParaRPr>
          </a:p>
        </p:txBody>
      </p:sp>
      <p:sp>
        <p:nvSpPr>
          <p:cNvPr id="26" name="TextBox 25"/>
          <p:cNvSpPr txBox="1"/>
          <p:nvPr/>
        </p:nvSpPr>
        <p:spPr>
          <a:xfrm>
            <a:off x="4949686" y="1619416"/>
            <a:ext cx="2670313" cy="369332"/>
          </a:xfrm>
          <a:prstGeom prst="rect">
            <a:avLst/>
          </a:prstGeom>
          <a:noFill/>
        </p:spPr>
        <p:txBody>
          <a:bodyPr wrap="square" rtlCol="0">
            <a:spAutoFit/>
          </a:bodyPr>
          <a:lstStyle/>
          <a:p>
            <a:r>
              <a:rPr lang="en-US" sz="1800" b="1" dirty="0">
                <a:solidFill>
                  <a:schemeClr val="accent1"/>
                </a:solidFill>
              </a:rPr>
              <a:t>CRE Long/Short Strategy</a:t>
            </a:r>
          </a:p>
        </p:txBody>
      </p:sp>
      <p:cxnSp>
        <p:nvCxnSpPr>
          <p:cNvPr id="27" name="Straight Connector 26"/>
          <p:cNvCxnSpPr/>
          <p:nvPr/>
        </p:nvCxnSpPr>
        <p:spPr>
          <a:xfrm>
            <a:off x="2822714" y="1969532"/>
            <a:ext cx="2111236" cy="214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68902" y="1969532"/>
            <a:ext cx="43434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609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200400" y="1143000"/>
            <a:ext cx="6400800" cy="17373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Price targets are set for Bull/Base/Bear scenarios are sizing depends on where pricing is relative to targets. Positions are typically established at a “toe-hold” or “mid-size” level with no distinction between the long and short side. Other factors influencing sizing include timing, portfolio attributes, and upside relative to other positions in the portfolio.</a:t>
            </a:r>
          </a:p>
        </p:txBody>
      </p:sp>
      <p:sp>
        <p:nvSpPr>
          <p:cNvPr id="2" name="Title 1"/>
          <p:cNvSpPr>
            <a:spLocks noGrp="1"/>
          </p:cNvSpPr>
          <p:nvPr>
            <p:ph type="title"/>
          </p:nvPr>
        </p:nvSpPr>
        <p:spPr/>
        <p:txBody>
          <a:bodyPr/>
          <a:lstStyle/>
          <a:p>
            <a:r>
              <a:rPr lang="en-US" dirty="0" smtClean="0"/>
              <a:t>Portfolio Construction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portfolio construction</a:t>
            </a:r>
            <a:r>
              <a:rPr lang="en-US" sz="1200" b="0" dirty="0" smtClean="0">
                <a:solidFill>
                  <a:schemeClr val="tx1"/>
                </a:solidFill>
                <a:latin typeface="+mn-lt"/>
              </a:rPr>
              <a:t> process for a portfolio manager establishes a baseline for understanding the underlying investment philosophy, evaluating portfolio changes, and establishing performance expectations.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Three key components of position sizing include:</a:t>
            </a:r>
          </a:p>
          <a:p>
            <a:pPr>
              <a:lnSpc>
                <a:spcPct val="100000"/>
              </a:lnSpc>
              <a:spcBef>
                <a:spcPts val="0"/>
              </a:spcBef>
            </a:pPr>
            <a:endParaRPr lang="en-US" sz="1200" b="0" dirty="0">
              <a:solidFill>
                <a:schemeClr val="tx1"/>
              </a:solidFill>
              <a:latin typeface="+mn-lt"/>
            </a:endParaRP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initiation: </a:t>
            </a:r>
            <a:r>
              <a:rPr lang="en-US" sz="1200" b="0" dirty="0" smtClean="0">
                <a:solidFill>
                  <a:schemeClr val="tx1"/>
                </a:solidFill>
                <a:latin typeface="+mn-lt"/>
              </a:rPr>
              <a:t>How initial position sizes are established</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Management: </a:t>
            </a:r>
            <a:r>
              <a:rPr lang="en-US" sz="1200" b="0" dirty="0" smtClean="0">
                <a:solidFill>
                  <a:schemeClr val="tx1"/>
                </a:solidFill>
                <a:latin typeface="+mn-lt"/>
              </a:rPr>
              <a:t>What factors influence changes in position size</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Sell Discipline: </a:t>
            </a:r>
            <a:r>
              <a:rPr lang="en-US" sz="1200" b="0" dirty="0" smtClean="0">
                <a:solidFill>
                  <a:schemeClr val="tx1"/>
                </a:solidFill>
                <a:latin typeface="+mn-lt"/>
              </a:rPr>
              <a:t>The process for closing out a long or short position</a:t>
            </a:r>
            <a:endParaRPr lang="en-US" sz="120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7" name="Rectangle 6"/>
          <p:cNvSpPr/>
          <p:nvPr/>
        </p:nvSpPr>
        <p:spPr>
          <a:xfrm>
            <a:off x="2590800" y="1143000"/>
            <a:ext cx="609600" cy="1737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 Position Initiation</a:t>
            </a:r>
            <a:endParaRPr lang="en-US" sz="1400" dirty="0"/>
          </a:p>
        </p:txBody>
      </p:sp>
      <p:sp>
        <p:nvSpPr>
          <p:cNvPr id="33" name="Rectangle 32"/>
          <p:cNvSpPr/>
          <p:nvPr/>
        </p:nvSpPr>
        <p:spPr>
          <a:xfrm>
            <a:off x="3193774" y="3040380"/>
            <a:ext cx="6400800" cy="2057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Position sizes are actively rebalanced as stocks move towards or away from price targets. Generally, winners are trimmed and losers are added to. Scaling is also a function of risk/reward assessment as conviction levels move higher or the investment thesis begins to bear fruit. On the short side, scaling also depends on availability. Catalysts paly a significant role in terms of the investment strategy and are captured through scenario analysis (Bull/Base/Bear). Each scenario embeds a specific event that leads to the stock converging to its price target.</a:t>
            </a:r>
            <a:endParaRPr lang="en-US" sz="1400" dirty="0">
              <a:solidFill>
                <a:schemeClr val="tx1"/>
              </a:solidFill>
            </a:endParaRPr>
          </a:p>
        </p:txBody>
      </p:sp>
      <p:sp>
        <p:nvSpPr>
          <p:cNvPr id="39" name="Rectangle 38"/>
          <p:cNvSpPr/>
          <p:nvPr/>
        </p:nvSpPr>
        <p:spPr>
          <a:xfrm>
            <a:off x="2584174" y="3040380"/>
            <a:ext cx="609600" cy="2057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Position Management</a:t>
            </a:r>
            <a:endParaRPr lang="en-US" sz="1400" dirty="0"/>
          </a:p>
        </p:txBody>
      </p:sp>
      <p:sp>
        <p:nvSpPr>
          <p:cNvPr id="51" name="Rectangle 50"/>
          <p:cNvSpPr/>
          <p:nvPr/>
        </p:nvSpPr>
        <p:spPr>
          <a:xfrm>
            <a:off x="3200400" y="5257800"/>
            <a:ext cx="6400800" cy="17373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Exit methodologies include reaching price targets, the availability of better opportunities, a discrediting of the investment thesis (when the movements of the position are not in line with the thesis), the failure of a catalyst to materialize, and the appearance of systemic risk factors.</a:t>
            </a:r>
            <a:endParaRPr lang="en-US" sz="1400" dirty="0">
              <a:solidFill>
                <a:schemeClr val="tx1"/>
              </a:solidFill>
            </a:endParaRPr>
          </a:p>
        </p:txBody>
      </p:sp>
      <p:sp>
        <p:nvSpPr>
          <p:cNvPr id="56" name="Rectangle 55"/>
          <p:cNvSpPr/>
          <p:nvPr/>
        </p:nvSpPr>
        <p:spPr>
          <a:xfrm>
            <a:off x="2590800" y="5257800"/>
            <a:ext cx="609600" cy="173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Sell Discipline</a:t>
            </a:r>
            <a:endParaRPr lang="en-US" sz="1400" dirty="0"/>
          </a:p>
        </p:txBody>
      </p:sp>
    </p:spTree>
    <p:extLst>
      <p:ext uri="{BB962C8B-B14F-4D97-AF65-F5344CB8AC3E}">
        <p14:creationId xmlns:p14="http://schemas.microsoft.com/office/powerpoint/2010/main" val="4165459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selling rationale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Shorting serves various different purposes for the CRE Long/Short Equity strategy.</a:t>
            </a:r>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5" name="Rectangle 4"/>
          <p:cNvSpPr/>
          <p:nvPr/>
        </p:nvSpPr>
        <p:spPr>
          <a:xfrm>
            <a:off x="2903220" y="1200686"/>
            <a:ext cx="525780" cy="47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25" name="Rectangle 24"/>
          <p:cNvSpPr/>
          <p:nvPr/>
        </p:nvSpPr>
        <p:spPr>
          <a:xfrm>
            <a:off x="2903220" y="1691640"/>
            <a:ext cx="6629400" cy="127214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2903220" y="1691640"/>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429000" y="1261646"/>
            <a:ext cx="6103620" cy="338554"/>
          </a:xfrm>
          <a:prstGeom prst="rect">
            <a:avLst/>
          </a:prstGeom>
          <a:noFill/>
        </p:spPr>
        <p:txBody>
          <a:bodyPr wrap="square" rtlCol="0">
            <a:spAutoFit/>
          </a:bodyPr>
          <a:lstStyle/>
          <a:p>
            <a:r>
              <a:rPr lang="en-US" sz="1600" dirty="0" smtClean="0">
                <a:solidFill>
                  <a:schemeClr val="accent1"/>
                </a:solidFill>
              </a:rPr>
              <a:t>Hedge Portfolio’s Market Exposure and/or Sector Exposure</a:t>
            </a:r>
            <a:endParaRPr lang="en-US" sz="1600" dirty="0">
              <a:solidFill>
                <a:schemeClr val="accent1"/>
              </a:solidFill>
            </a:endParaRPr>
          </a:p>
        </p:txBody>
      </p:sp>
      <p:sp>
        <p:nvSpPr>
          <p:cNvPr id="42" name="Rectangle 41"/>
          <p:cNvSpPr/>
          <p:nvPr/>
        </p:nvSpPr>
        <p:spPr>
          <a:xfrm>
            <a:off x="2903220" y="3319046"/>
            <a:ext cx="525780" cy="47571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43" name="Rectangle 42"/>
          <p:cNvSpPr/>
          <p:nvPr/>
        </p:nvSpPr>
        <p:spPr>
          <a:xfrm>
            <a:off x="2903220" y="3810000"/>
            <a:ext cx="6629400" cy="118479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2903220" y="3810000"/>
            <a:ext cx="6629400" cy="0"/>
          </a:xfrm>
          <a:prstGeom prst="line">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429000" y="3398520"/>
            <a:ext cx="6103620" cy="338554"/>
          </a:xfrm>
          <a:prstGeom prst="rect">
            <a:avLst/>
          </a:prstGeom>
          <a:noFill/>
        </p:spPr>
        <p:txBody>
          <a:bodyPr wrap="square" rtlCol="0">
            <a:spAutoFit/>
          </a:bodyPr>
          <a:lstStyle/>
          <a:p>
            <a:r>
              <a:rPr lang="en-US" sz="1600" dirty="0" smtClean="0">
                <a:solidFill>
                  <a:schemeClr val="accent5">
                    <a:lumMod val="50000"/>
                  </a:schemeClr>
                </a:solidFill>
              </a:rPr>
              <a:t>Target Individual Overvalued Stocks</a:t>
            </a:r>
            <a:endParaRPr lang="en-US" sz="1600" dirty="0">
              <a:solidFill>
                <a:schemeClr val="accent5">
                  <a:lumMod val="50000"/>
                </a:schemeClr>
              </a:solidFill>
            </a:endParaRPr>
          </a:p>
        </p:txBody>
      </p:sp>
      <p:sp>
        <p:nvSpPr>
          <p:cNvPr id="9" name="TextBox 8"/>
          <p:cNvSpPr txBox="1"/>
          <p:nvPr/>
        </p:nvSpPr>
        <p:spPr>
          <a:xfrm>
            <a:off x="2903220" y="1691640"/>
            <a:ext cx="6629400" cy="1272143"/>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t>Hedge market risk (beta risk)</a:t>
            </a:r>
          </a:p>
          <a:p>
            <a:pPr marL="285750" indent="-285750">
              <a:buFont typeface="Arial" panose="020B0604020202020204" pitchFamily="34" charset="0"/>
              <a:buChar char="•"/>
            </a:pPr>
            <a:r>
              <a:rPr lang="en-US" sz="1400" dirty="0" smtClean="0"/>
              <a:t>Protect the portfolio’s long positions against a broad market decline</a:t>
            </a:r>
          </a:p>
          <a:p>
            <a:pPr marL="285750" indent="-285750">
              <a:buFont typeface="Arial" panose="020B0604020202020204" pitchFamily="34" charset="0"/>
              <a:buChar char="•"/>
            </a:pPr>
            <a:r>
              <a:rPr lang="en-US" sz="1400" dirty="0" smtClean="0"/>
              <a:t>Reduce portfolio’s correlation to the markets</a:t>
            </a:r>
          </a:p>
          <a:p>
            <a:pPr marL="285750" indent="-285750">
              <a:buFont typeface="Arial" panose="020B0604020202020204" pitchFamily="34" charset="0"/>
              <a:buChar char="•"/>
            </a:pPr>
            <a:r>
              <a:rPr lang="en-US" sz="1400" dirty="0" smtClean="0"/>
              <a:t>Reduce volatility of a portfolio’s returns with the market</a:t>
            </a:r>
            <a:endParaRPr lang="en-US" sz="1400" dirty="0"/>
          </a:p>
          <a:p>
            <a:pPr>
              <a:spcBef>
                <a:spcPts val="800"/>
              </a:spcBef>
            </a:pPr>
            <a:r>
              <a:rPr lang="en-US" sz="1400" dirty="0"/>
              <a:t>S</a:t>
            </a:r>
            <a:r>
              <a:rPr lang="en-US" sz="1400" dirty="0" smtClean="0"/>
              <a:t>trategy may short ETFs (IYR) or buy/sell derivatives to hedge portfolio and sector risk.</a:t>
            </a:r>
          </a:p>
        </p:txBody>
      </p:sp>
      <p:sp>
        <p:nvSpPr>
          <p:cNvPr id="50" name="TextBox 49"/>
          <p:cNvSpPr txBox="1"/>
          <p:nvPr/>
        </p:nvSpPr>
        <p:spPr>
          <a:xfrm>
            <a:off x="2903220" y="3825240"/>
            <a:ext cx="6629400" cy="1056700"/>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t>Profit from a decline in the stock price for company-specific reasons (overvaluation, weak management, declining revenue and earnings etc.)</a:t>
            </a:r>
          </a:p>
          <a:p>
            <a:pPr>
              <a:spcBef>
                <a:spcPts val="800"/>
              </a:spcBef>
            </a:pPr>
            <a:r>
              <a:rPr lang="en-US" sz="1400" dirty="0" smtClean="0"/>
              <a:t>Based on extensive fundamental research along with identification of catalysts that would lead to a stock price decline. </a:t>
            </a:r>
          </a:p>
        </p:txBody>
      </p:sp>
      <p:sp>
        <p:nvSpPr>
          <p:cNvPr id="64" name="Rectangle 63"/>
          <p:cNvSpPr/>
          <p:nvPr/>
        </p:nvSpPr>
        <p:spPr>
          <a:xfrm>
            <a:off x="2880360" y="5285006"/>
            <a:ext cx="525780" cy="4757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5" name="Rectangle 64"/>
          <p:cNvSpPr/>
          <p:nvPr/>
        </p:nvSpPr>
        <p:spPr>
          <a:xfrm>
            <a:off x="2880360" y="5775960"/>
            <a:ext cx="6629400" cy="128738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lumMod val="20000"/>
                  <a:lumOff val="80000"/>
                </a:schemeClr>
              </a:solidFill>
            </a:endParaRPr>
          </a:p>
        </p:txBody>
      </p:sp>
      <p:cxnSp>
        <p:nvCxnSpPr>
          <p:cNvPr id="66" name="Straight Connector 65"/>
          <p:cNvCxnSpPr/>
          <p:nvPr/>
        </p:nvCxnSpPr>
        <p:spPr>
          <a:xfrm>
            <a:off x="2880360" y="5775960"/>
            <a:ext cx="662940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3406140" y="5364480"/>
            <a:ext cx="6103620" cy="338554"/>
          </a:xfrm>
          <a:prstGeom prst="rect">
            <a:avLst/>
          </a:prstGeom>
          <a:noFill/>
        </p:spPr>
        <p:txBody>
          <a:bodyPr wrap="square" rtlCol="0">
            <a:spAutoFit/>
          </a:bodyPr>
          <a:lstStyle/>
          <a:p>
            <a:r>
              <a:rPr lang="en-US" sz="1600" dirty="0" smtClean="0">
                <a:solidFill>
                  <a:schemeClr val="accent3"/>
                </a:solidFill>
              </a:rPr>
              <a:t>Capture Relative Value</a:t>
            </a:r>
            <a:endParaRPr lang="en-US" sz="1600" dirty="0">
              <a:solidFill>
                <a:schemeClr val="accent3"/>
              </a:solidFill>
            </a:endParaRPr>
          </a:p>
        </p:txBody>
      </p:sp>
      <p:sp>
        <p:nvSpPr>
          <p:cNvPr id="68" name="TextBox 67"/>
          <p:cNvSpPr txBox="1"/>
          <p:nvPr/>
        </p:nvSpPr>
        <p:spPr>
          <a:xfrm>
            <a:off x="2880360" y="5791200"/>
            <a:ext cx="6629400" cy="523220"/>
          </a:xfrm>
          <a:prstGeom prst="rect">
            <a:avLst/>
          </a:prstGeom>
          <a:noFill/>
        </p:spPr>
        <p:txBody>
          <a:bodyPr wrap="square" rtlCol="0">
            <a:spAutoFit/>
          </a:bodyPr>
          <a:lstStyle/>
          <a:p>
            <a:r>
              <a:rPr lang="en-US" sz="1400" dirty="0" smtClean="0"/>
              <a:t>Identify two similar companies whose stocks are currently trading at a price relationship outside a historical range. </a:t>
            </a:r>
          </a:p>
        </p:txBody>
      </p:sp>
    </p:spTree>
    <p:extLst>
      <p:ext uri="{BB962C8B-B14F-4D97-AF65-F5344CB8AC3E}">
        <p14:creationId xmlns:p14="http://schemas.microsoft.com/office/powerpoint/2010/main" val="40084797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a:t>
            </a:r>
            <a:r>
              <a:rPr lang="en-US" dirty="0" err="1" smtClean="0"/>
              <a:t>sALE</a:t>
            </a:r>
            <a:r>
              <a:rPr lang="en-US" dirty="0" smtClean="0"/>
              <a:t> EXAMPLE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example illustrates some of the mechanics behind a typical short stock sale that anticipates a decline in the price of a particular stock.</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Building a short case places a significant emphasis on top-down analysis and sectoral work corresponding to the underlying CRE market. In addition, it also relies on a combination of forensic accounting and catalyst identification.</a:t>
            </a:r>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graphicFrame>
        <p:nvGraphicFramePr>
          <p:cNvPr id="3" name="Table 2"/>
          <p:cNvGraphicFramePr>
            <a:graphicFrameLocks noGrp="1"/>
          </p:cNvGraphicFramePr>
          <p:nvPr>
            <p:extLst>
              <p:ext uri="{D42A27DB-BD31-4B8C-83A1-F6EECF244321}">
                <p14:modId xmlns:p14="http://schemas.microsoft.com/office/powerpoint/2010/main" val="3937798997"/>
              </p:ext>
            </p:extLst>
          </p:nvPr>
        </p:nvGraphicFramePr>
        <p:xfrm>
          <a:off x="2590800" y="1234440"/>
          <a:ext cx="7086600" cy="2941320"/>
        </p:xfrm>
        <a:graphic>
          <a:graphicData uri="http://schemas.openxmlformats.org/drawingml/2006/table">
            <a:tbl>
              <a:tblPr firstRow="1" bandRow="1">
                <a:tableStyleId>{6E25E649-3F16-4E02-A733-19D2CDBF48F0}</a:tableStyleId>
              </a:tblPr>
              <a:tblGrid>
                <a:gridCol w="1676400"/>
                <a:gridCol w="914400"/>
                <a:gridCol w="1066800"/>
                <a:gridCol w="838200"/>
                <a:gridCol w="2590800"/>
              </a:tblGrid>
              <a:tr h="381000">
                <a:tc>
                  <a:txBody>
                    <a:bodyPr/>
                    <a:lstStyle/>
                    <a:p>
                      <a:pPr algn="ctr"/>
                      <a:r>
                        <a:rPr lang="en-US" sz="1100" dirty="0" smtClean="0"/>
                        <a:t>Return Source</a:t>
                      </a:r>
                      <a:endParaRPr lang="en-US" sz="1100" dirty="0"/>
                    </a:p>
                  </a:txBody>
                  <a:tcPr anchor="ctr"/>
                </a:tc>
                <a:tc>
                  <a:txBody>
                    <a:bodyPr/>
                    <a:lstStyle/>
                    <a:p>
                      <a:pPr algn="ctr"/>
                      <a:r>
                        <a:rPr lang="en-US" sz="1100" dirty="0" smtClean="0"/>
                        <a:t>Cost</a:t>
                      </a:r>
                      <a:r>
                        <a:rPr lang="en-US" sz="1100" baseline="0" dirty="0" smtClean="0"/>
                        <a:t> Basis</a:t>
                      </a:r>
                      <a:endParaRPr lang="en-US" sz="1100" dirty="0"/>
                    </a:p>
                  </a:txBody>
                  <a:tcPr anchor="ctr"/>
                </a:tc>
                <a:tc>
                  <a:txBody>
                    <a:bodyPr/>
                    <a:lstStyle/>
                    <a:p>
                      <a:pPr algn="ctr"/>
                      <a:r>
                        <a:rPr lang="en-US" sz="1100" dirty="0" smtClean="0"/>
                        <a:t>Exit Proceeds</a:t>
                      </a:r>
                      <a:endParaRPr lang="en-US" sz="1100" dirty="0"/>
                    </a:p>
                  </a:txBody>
                  <a:tcPr anchor="ctr"/>
                </a:tc>
                <a:tc>
                  <a:txBody>
                    <a:bodyPr/>
                    <a:lstStyle/>
                    <a:p>
                      <a:pPr algn="ctr"/>
                      <a:r>
                        <a:rPr lang="en-US" sz="1100" dirty="0" smtClean="0"/>
                        <a:t>Return</a:t>
                      </a:r>
                      <a:endParaRPr lang="en-US" sz="1100" dirty="0"/>
                    </a:p>
                  </a:txBody>
                  <a:tcPr anchor="ctr"/>
                </a:tc>
                <a:tc>
                  <a:txBody>
                    <a:bodyPr/>
                    <a:lstStyle/>
                    <a:p>
                      <a:pPr algn="ctr"/>
                      <a:r>
                        <a:rPr lang="en-US" sz="1100" dirty="0" smtClean="0"/>
                        <a:t>Assumptions/Notes</a:t>
                      </a:r>
                      <a:endParaRPr lang="en-US" sz="1100" dirty="0"/>
                    </a:p>
                  </a:txBody>
                  <a:tcPr anchor="ctr"/>
                </a:tc>
              </a:tr>
              <a:tr h="331839">
                <a:tc>
                  <a:txBody>
                    <a:bodyPr/>
                    <a:lstStyle/>
                    <a:p>
                      <a:r>
                        <a:rPr lang="en-US" sz="1100" dirty="0" smtClean="0"/>
                        <a:t>Short</a:t>
                      </a:r>
                      <a:r>
                        <a:rPr lang="en-US" sz="1100" baseline="0" dirty="0" smtClean="0"/>
                        <a:t> Position: XYZ Co.</a:t>
                      </a:r>
                      <a:endParaRPr lang="en-US" sz="1100" dirty="0"/>
                    </a:p>
                  </a:txBody>
                  <a:tcPr anchor="ctr"/>
                </a:tc>
                <a:tc>
                  <a:txBody>
                    <a:bodyPr/>
                    <a:lstStyle/>
                    <a:p>
                      <a:pPr algn="ctr"/>
                      <a:r>
                        <a:rPr lang="en-US" sz="1100" dirty="0" smtClean="0"/>
                        <a:t>$2,000,000</a:t>
                      </a:r>
                      <a:endParaRPr lang="en-US" sz="1100" dirty="0"/>
                    </a:p>
                  </a:txBody>
                  <a:tcPr anchor="ctr"/>
                </a:tc>
                <a:tc>
                  <a:txBody>
                    <a:bodyPr/>
                    <a:lstStyle/>
                    <a:p>
                      <a:pPr algn="ctr"/>
                      <a:r>
                        <a:rPr lang="en-US" sz="1100" dirty="0" smtClean="0"/>
                        <a:t>$1,500,000</a:t>
                      </a:r>
                      <a:endParaRPr lang="en-US" sz="1100" dirty="0"/>
                    </a:p>
                  </a:txBody>
                  <a:tcPr anchor="ctr"/>
                </a:tc>
                <a:tc>
                  <a:txBody>
                    <a:bodyPr/>
                    <a:lstStyle/>
                    <a:p>
                      <a:pPr algn="ctr"/>
                      <a:r>
                        <a:rPr lang="en-US" sz="1100" dirty="0" smtClean="0"/>
                        <a:t>$500,000</a:t>
                      </a:r>
                      <a:endParaRPr lang="en-US" sz="1100" dirty="0"/>
                    </a:p>
                  </a:txBody>
                  <a:tcPr anchor="ctr"/>
                </a:tc>
                <a:tc>
                  <a:txBody>
                    <a:bodyPr/>
                    <a:lstStyle/>
                    <a:p>
                      <a:r>
                        <a:rPr lang="en-US" sz="1100" dirty="0" smtClean="0"/>
                        <a:t>200,000 shares shorted @$10</a:t>
                      </a:r>
                      <a:r>
                        <a:rPr lang="en-US" sz="1100" baseline="0" dirty="0" smtClean="0"/>
                        <a:t> per share and covered @$7.50 per share</a:t>
                      </a:r>
                      <a:endParaRPr lang="en-US" sz="1100" dirty="0"/>
                    </a:p>
                  </a:txBody>
                  <a:tcPr anchor="ctr"/>
                </a:tc>
              </a:tr>
              <a:tr h="331839">
                <a:tc>
                  <a:txBody>
                    <a:bodyPr/>
                    <a:lstStyle/>
                    <a:p>
                      <a:r>
                        <a:rPr lang="en-US" sz="1100" dirty="0" smtClean="0"/>
                        <a:t>Short Rebate on Short Sale</a:t>
                      </a:r>
                      <a:r>
                        <a:rPr lang="en-US" sz="1100" baseline="0" dirty="0" smtClean="0"/>
                        <a:t> Proceeds</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$30,000</a:t>
                      </a:r>
                    </a:p>
                  </a:txBody>
                  <a:tcPr anchor="ctr"/>
                </a:tc>
                <a:tc>
                  <a:txBody>
                    <a:bodyPr/>
                    <a:lstStyle/>
                    <a:p>
                      <a:r>
                        <a:rPr lang="en-US" sz="1100" dirty="0" smtClean="0"/>
                        <a:t>Rate of 1.5% earned on short proceeds</a:t>
                      </a:r>
                      <a:r>
                        <a:rPr lang="en-US" sz="1100" baseline="0" dirty="0" smtClean="0"/>
                        <a:t> of $2,000,000</a:t>
                      </a:r>
                      <a:endParaRPr lang="en-US" sz="1100" dirty="0"/>
                    </a:p>
                  </a:txBody>
                  <a:tcPr anchor="ctr"/>
                </a:tc>
              </a:tr>
              <a:tr h="331839">
                <a:tc>
                  <a:txBody>
                    <a:bodyPr/>
                    <a:lstStyle/>
                    <a:p>
                      <a:r>
                        <a:rPr lang="en-US" sz="1100" dirty="0" smtClean="0"/>
                        <a:t>Cost of Borrowing Shares</a:t>
                      </a:r>
                      <a:endParaRPr lang="en-US" sz="1100" dirty="0"/>
                    </a:p>
                  </a:txBody>
                  <a:tcPr anchor="ctr"/>
                </a:tc>
                <a:tc>
                  <a:txBody>
                    <a:bodyPr/>
                    <a:lstStyle/>
                    <a:p>
                      <a:pPr algn="ctr"/>
                      <a:endParaRPr lang="en-US" sz="1100"/>
                    </a:p>
                  </a:txBody>
                  <a:tcPr anchor="ctr"/>
                </a:tc>
                <a:tc>
                  <a:txBody>
                    <a:bodyPr/>
                    <a:lstStyle/>
                    <a:p>
                      <a:pPr algn="ctr"/>
                      <a:endParaRPr lang="en-US" sz="1100" dirty="0"/>
                    </a:p>
                  </a:txBody>
                  <a:tcPr anchor="ctr"/>
                </a:tc>
                <a:tc>
                  <a:txBody>
                    <a:bodyPr/>
                    <a:lstStyle/>
                    <a:p>
                      <a:pPr algn="ctr"/>
                      <a:r>
                        <a:rPr lang="en-US" sz="1100" dirty="0" smtClean="0"/>
                        <a:t>($5,000)</a:t>
                      </a:r>
                      <a:endParaRPr lang="en-US" sz="1100" dirty="0"/>
                    </a:p>
                  </a:txBody>
                  <a:tcPr anchor="ctr"/>
                </a:tc>
                <a:tc>
                  <a:txBody>
                    <a:bodyPr/>
                    <a:lstStyle/>
                    <a:p>
                      <a:r>
                        <a:rPr lang="en-US" sz="1100" dirty="0" smtClean="0"/>
                        <a:t>Rate of 0.25%</a:t>
                      </a:r>
                      <a:r>
                        <a:rPr lang="en-US" sz="1100" baseline="0" dirty="0" smtClean="0"/>
                        <a:t> paid on initial stock loan, with a borrow value of $2 million</a:t>
                      </a:r>
                      <a:endParaRPr lang="en-US" sz="1100" dirty="0"/>
                    </a:p>
                  </a:txBody>
                  <a:tcPr anchor="ctr"/>
                </a:tc>
              </a:tr>
              <a:tr h="331839">
                <a:tc>
                  <a:txBody>
                    <a:bodyPr/>
                    <a:lstStyle/>
                    <a:p>
                      <a:r>
                        <a:rPr lang="en-US" sz="1100" dirty="0" smtClean="0"/>
                        <a:t>Dividend</a:t>
                      </a:r>
                      <a:r>
                        <a:rPr lang="en-US" sz="1100" baseline="0" dirty="0" smtClean="0"/>
                        <a:t> Payment </a:t>
                      </a:r>
                    </a:p>
                    <a:p>
                      <a:r>
                        <a:rPr lang="en-US" sz="1100" baseline="0" dirty="0" smtClean="0"/>
                        <a:t>on Short Position</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($20,000)</a:t>
                      </a:r>
                      <a:endParaRPr lang="en-US" sz="1100" dirty="0"/>
                    </a:p>
                  </a:txBody>
                  <a:tcPr anchor="ctr"/>
                </a:tc>
                <a:tc>
                  <a:txBody>
                    <a:bodyPr/>
                    <a:lstStyle/>
                    <a:p>
                      <a:r>
                        <a:rPr lang="en-US" sz="1100" dirty="0" smtClean="0"/>
                        <a:t>Dividend yield of 1% on XYZ Co.</a:t>
                      </a:r>
                      <a:endParaRPr lang="en-US" sz="1100" dirty="0"/>
                    </a:p>
                  </a:txBody>
                  <a:tcPr anchor="ctr"/>
                </a:tc>
              </a:tr>
              <a:tr h="331839">
                <a:tc>
                  <a:txBody>
                    <a:bodyPr/>
                    <a:lstStyle/>
                    <a:p>
                      <a:r>
                        <a:rPr lang="en-US" sz="1100" dirty="0" smtClean="0"/>
                        <a:t>Margin Costs</a:t>
                      </a:r>
                      <a:r>
                        <a:rPr lang="en-US" sz="1100" baseline="0" dirty="0" smtClean="0"/>
                        <a:t> </a:t>
                      </a:r>
                    </a:p>
                    <a:p>
                      <a:r>
                        <a:rPr lang="en-US" sz="1100" baseline="0" dirty="0" smtClean="0"/>
                        <a:t>(on Short Position)</a:t>
                      </a:r>
                      <a:endParaRPr lang="en-US" sz="1100" dirty="0"/>
                    </a:p>
                  </a:txBody>
                  <a:tcPr anchor="ctr"/>
                </a:tc>
                <a:tc>
                  <a:txBody>
                    <a:bodyPr/>
                    <a:lstStyle/>
                    <a:p>
                      <a:pPr algn="ctr"/>
                      <a:endParaRPr lang="en-US" sz="1100" dirty="0"/>
                    </a:p>
                  </a:txBody>
                  <a:tcPr anchor="ctr"/>
                </a:tc>
                <a:tc>
                  <a:txBody>
                    <a:bodyPr/>
                    <a:lstStyle/>
                    <a:p>
                      <a:pPr algn="ctr"/>
                      <a:endParaRPr lang="en-US" sz="1100" dirty="0"/>
                    </a:p>
                  </a:txBody>
                  <a:tcPr anchor="ctr"/>
                </a:tc>
                <a:tc>
                  <a:txBody>
                    <a:bodyPr/>
                    <a:lstStyle/>
                    <a:p>
                      <a:pPr algn="ctr"/>
                      <a:r>
                        <a:rPr lang="en-US" sz="1100" dirty="0" smtClean="0"/>
                        <a:t>($15,000)</a:t>
                      </a:r>
                      <a:endParaRPr lang="en-US" sz="1100" dirty="0"/>
                    </a:p>
                  </a:txBody>
                  <a:tcPr anchor="ctr"/>
                </a:tc>
                <a:tc>
                  <a:txBody>
                    <a:bodyPr/>
                    <a:lstStyle/>
                    <a:p>
                      <a:r>
                        <a:rPr lang="en-US" sz="1100" dirty="0" smtClean="0"/>
                        <a:t>Rate of 2.5% paid on margin of $600,000*</a:t>
                      </a:r>
                      <a:endParaRPr lang="en-US" sz="1100" dirty="0"/>
                    </a:p>
                  </a:txBody>
                  <a:tcPr anchor="ctr"/>
                </a:tc>
              </a:tr>
              <a:tr h="199103">
                <a:tc>
                  <a:txBody>
                    <a:bodyPr/>
                    <a:lstStyle/>
                    <a:p>
                      <a:r>
                        <a:rPr lang="en-US" sz="1100" b="1" dirty="0" smtClean="0"/>
                        <a:t>Total Return</a:t>
                      </a:r>
                    </a:p>
                    <a:p>
                      <a:r>
                        <a:rPr lang="en-US" sz="1100" b="1" dirty="0" smtClean="0"/>
                        <a:t>Total Return (%)</a:t>
                      </a:r>
                      <a:endParaRPr lang="en-US" sz="1100" b="1" dirty="0"/>
                    </a:p>
                  </a:txBody>
                  <a:tcPr anchor="ctr"/>
                </a:tc>
                <a:tc>
                  <a:txBody>
                    <a:bodyPr/>
                    <a:lstStyle/>
                    <a:p>
                      <a:pPr algn="ctr"/>
                      <a:endParaRPr lang="en-US" sz="1100" b="1" dirty="0"/>
                    </a:p>
                  </a:txBody>
                  <a:tcPr anchor="ctr"/>
                </a:tc>
                <a:tc>
                  <a:txBody>
                    <a:bodyPr/>
                    <a:lstStyle/>
                    <a:p>
                      <a:pPr algn="ctr"/>
                      <a:endParaRPr lang="en-US" sz="1100" b="1" dirty="0"/>
                    </a:p>
                  </a:txBody>
                  <a:tcPr anchor="ctr"/>
                </a:tc>
                <a:tc>
                  <a:txBody>
                    <a:bodyPr/>
                    <a:lstStyle/>
                    <a:p>
                      <a:pPr algn="ctr"/>
                      <a:r>
                        <a:rPr lang="en-US" sz="1100" b="1" dirty="0" smtClean="0"/>
                        <a:t>$490,000</a:t>
                      </a:r>
                    </a:p>
                    <a:p>
                      <a:pPr algn="ctr"/>
                      <a:r>
                        <a:rPr lang="en-US" sz="1100" b="1" dirty="0" smtClean="0"/>
                        <a:t>24.5%</a:t>
                      </a:r>
                      <a:endParaRPr lang="en-US" sz="1100" b="1" dirty="0"/>
                    </a:p>
                  </a:txBody>
                  <a:tcPr anchor="ctr"/>
                </a:tc>
                <a:tc>
                  <a:txBody>
                    <a:bodyPr/>
                    <a:lstStyle/>
                    <a:p>
                      <a:r>
                        <a:rPr lang="en-US" sz="1100" dirty="0" smtClean="0"/>
                        <a:t>$490,000 / $2,000,000 × 100 = 24.5%</a:t>
                      </a:r>
                      <a:endParaRPr lang="en-US" sz="1100" dirty="0"/>
                    </a:p>
                  </a:txBody>
                  <a:tcPr anchor="ct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664800899"/>
              </p:ext>
            </p:extLst>
          </p:nvPr>
        </p:nvGraphicFramePr>
        <p:xfrm>
          <a:off x="2590800" y="4511040"/>
          <a:ext cx="3200400" cy="1752600"/>
        </p:xfrm>
        <a:graphic>
          <a:graphicData uri="http://schemas.openxmlformats.org/drawingml/2006/table">
            <a:tbl>
              <a:tblPr firstRow="1" bandRow="1">
                <a:tableStyleId>{6E25E649-3F16-4E02-A733-19D2CDBF48F0}</a:tableStyleId>
              </a:tblPr>
              <a:tblGrid>
                <a:gridCol w="2209800"/>
                <a:gridCol w="990600"/>
              </a:tblGrid>
              <a:tr h="457200">
                <a:tc>
                  <a:txBody>
                    <a:bodyPr/>
                    <a:lstStyle/>
                    <a:p>
                      <a:pPr algn="ctr"/>
                      <a:r>
                        <a:rPr lang="en-US" sz="1100" dirty="0" smtClean="0"/>
                        <a:t>Details</a:t>
                      </a:r>
                      <a:endParaRPr lang="en-US" sz="1100" dirty="0"/>
                    </a:p>
                  </a:txBody>
                  <a:tcPr anchor="ctr"/>
                </a:tc>
                <a:tc>
                  <a:txBody>
                    <a:bodyPr/>
                    <a:lstStyle/>
                    <a:p>
                      <a:pPr algn="ctr"/>
                      <a:r>
                        <a:rPr lang="en-US" sz="1100" dirty="0" smtClean="0"/>
                        <a:t>Amount</a:t>
                      </a:r>
                    </a:p>
                  </a:txBody>
                  <a:tcPr anchor="ctr"/>
                </a:tc>
              </a:tr>
              <a:tr h="215900">
                <a:tc>
                  <a:txBody>
                    <a:bodyPr/>
                    <a:lstStyle/>
                    <a:p>
                      <a:r>
                        <a:rPr lang="en-US" sz="1100" dirty="0" smtClean="0"/>
                        <a:t>Portfolio’s Net Asset Value (NAV)</a:t>
                      </a:r>
                      <a:endParaRPr lang="en-US" sz="1100" dirty="0"/>
                    </a:p>
                  </a:txBody>
                  <a:tcPr anchor="ctr"/>
                </a:tc>
                <a:tc>
                  <a:txBody>
                    <a:bodyPr/>
                    <a:lstStyle/>
                    <a:p>
                      <a:pPr algn="ctr"/>
                      <a:r>
                        <a:rPr lang="en-US" sz="1100" dirty="0" smtClean="0"/>
                        <a:t>$100,000,000</a:t>
                      </a:r>
                      <a:endParaRPr lang="en-US" sz="1100" dirty="0"/>
                    </a:p>
                  </a:txBody>
                  <a:tcPr anchor="ctr"/>
                </a:tc>
              </a:tr>
              <a:tr h="215900">
                <a:tc>
                  <a:txBody>
                    <a:bodyPr/>
                    <a:lstStyle/>
                    <a:p>
                      <a:r>
                        <a:rPr lang="en-US" sz="1100" dirty="0" smtClean="0"/>
                        <a:t>Position Weighting of Portfolio</a:t>
                      </a:r>
                      <a:endParaRPr lang="en-US" sz="1100" dirty="0"/>
                    </a:p>
                  </a:txBody>
                  <a:tcPr anchor="ctr"/>
                </a:tc>
                <a:tc>
                  <a:txBody>
                    <a:bodyPr/>
                    <a:lstStyle/>
                    <a:p>
                      <a:pPr algn="ctr"/>
                      <a:r>
                        <a:rPr lang="en-US" sz="1100" dirty="0" smtClean="0"/>
                        <a:t>2%</a:t>
                      </a:r>
                      <a:endParaRPr lang="en-US" sz="1100" dirty="0"/>
                    </a:p>
                  </a:txBody>
                  <a:tcPr anchor="ctr"/>
                </a:tc>
              </a:tr>
              <a:tr h="215900">
                <a:tc>
                  <a:txBody>
                    <a:bodyPr/>
                    <a:lstStyle/>
                    <a:p>
                      <a:r>
                        <a:rPr lang="en-US" sz="1100" dirty="0" smtClean="0"/>
                        <a:t>Initial Capital for the Trade</a:t>
                      </a:r>
                      <a:endParaRPr lang="en-US" sz="1100" dirty="0"/>
                    </a:p>
                  </a:txBody>
                  <a:tcPr anchor="ctr"/>
                </a:tc>
                <a:tc>
                  <a:txBody>
                    <a:bodyPr/>
                    <a:lstStyle/>
                    <a:p>
                      <a:pPr algn="ctr"/>
                      <a:r>
                        <a:rPr lang="en-US" sz="1100" dirty="0" smtClean="0"/>
                        <a:t>$2,000,000</a:t>
                      </a:r>
                      <a:endParaRPr lang="en-US" sz="1100" dirty="0"/>
                    </a:p>
                  </a:txBody>
                  <a:tcPr anchor="ctr"/>
                </a:tc>
              </a:tr>
              <a:tr h="215900">
                <a:tc>
                  <a:txBody>
                    <a:bodyPr/>
                    <a:lstStyle/>
                    <a:p>
                      <a:r>
                        <a:rPr lang="en-US" sz="1100" dirty="0" smtClean="0"/>
                        <a:t>Percent Return on the Trade</a:t>
                      </a:r>
                      <a:endParaRPr lang="en-US" sz="1100" dirty="0"/>
                    </a:p>
                  </a:txBody>
                  <a:tcPr anchor="ctr"/>
                </a:tc>
                <a:tc>
                  <a:txBody>
                    <a:bodyPr/>
                    <a:lstStyle/>
                    <a:p>
                      <a:pPr algn="ctr"/>
                      <a:r>
                        <a:rPr lang="en-US" sz="1100" dirty="0" smtClean="0"/>
                        <a:t>24.5%</a:t>
                      </a:r>
                      <a:endParaRPr lang="en-US" sz="1100" dirty="0"/>
                    </a:p>
                  </a:txBody>
                  <a:tcPr anchor="ctr"/>
                </a:tc>
              </a:tr>
              <a:tr h="215900">
                <a:tc>
                  <a:txBody>
                    <a:bodyPr/>
                    <a:lstStyle/>
                    <a:p>
                      <a:r>
                        <a:rPr lang="en-US" sz="1100" dirty="0" smtClean="0"/>
                        <a:t>Percent Return Attribution</a:t>
                      </a:r>
                      <a:endParaRPr lang="en-US" sz="1100" dirty="0"/>
                    </a:p>
                  </a:txBody>
                  <a:tcPr anchor="ctr"/>
                </a:tc>
                <a:tc>
                  <a:txBody>
                    <a:bodyPr/>
                    <a:lstStyle/>
                    <a:p>
                      <a:pPr algn="ctr"/>
                      <a:r>
                        <a:rPr lang="en-US" sz="1100" dirty="0" smtClean="0"/>
                        <a:t>0.49%</a:t>
                      </a:r>
                      <a:endParaRPr lang="en-US" sz="1100" dirty="0"/>
                    </a:p>
                  </a:txBody>
                  <a:tcPr anchor="ctr"/>
                </a:tc>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665477226"/>
              </p:ext>
            </p:extLst>
          </p:nvPr>
        </p:nvGraphicFramePr>
        <p:xfrm>
          <a:off x="6400800" y="4511040"/>
          <a:ext cx="3276600" cy="2148840"/>
        </p:xfrm>
        <a:graphic>
          <a:graphicData uri="http://schemas.openxmlformats.org/drawingml/2006/table">
            <a:tbl>
              <a:tblPr firstRow="1" bandRow="1">
                <a:tableStyleId>{6E25E649-3F16-4E02-A733-19D2CDBF48F0}</a:tableStyleId>
              </a:tblPr>
              <a:tblGrid>
                <a:gridCol w="1219200"/>
                <a:gridCol w="990600"/>
                <a:gridCol w="1066800"/>
              </a:tblGrid>
              <a:tr h="215900">
                <a:tc>
                  <a:txBody>
                    <a:bodyPr/>
                    <a:lstStyle/>
                    <a:p>
                      <a:pPr algn="ctr"/>
                      <a:r>
                        <a:rPr lang="en-US" sz="1100" dirty="0" smtClean="0"/>
                        <a:t>Details</a:t>
                      </a:r>
                      <a:endParaRPr lang="en-US" sz="1100" dirty="0"/>
                    </a:p>
                  </a:txBody>
                  <a:tcPr anchor="ctr"/>
                </a:tc>
                <a:tc>
                  <a:txBody>
                    <a:bodyPr/>
                    <a:lstStyle/>
                    <a:p>
                      <a:pPr algn="ctr"/>
                      <a:r>
                        <a:rPr lang="en-US" sz="1100" dirty="0" smtClean="0"/>
                        <a:t>Contribution</a:t>
                      </a:r>
                    </a:p>
                  </a:txBody>
                  <a:tcPr anchor="ctr"/>
                </a:tc>
                <a:tc>
                  <a:txBody>
                    <a:bodyPr/>
                    <a:lstStyle/>
                    <a:p>
                      <a:pPr algn="ctr"/>
                      <a:r>
                        <a:rPr lang="en-US" sz="1100" dirty="0" smtClean="0"/>
                        <a:t>Portfolio Attribution</a:t>
                      </a:r>
                    </a:p>
                  </a:txBody>
                  <a:tcPr anchor="ctr"/>
                </a:tc>
              </a:tr>
              <a:tr h="215900">
                <a:tc>
                  <a:txBody>
                    <a:bodyPr/>
                    <a:lstStyle/>
                    <a:p>
                      <a:r>
                        <a:rPr lang="en-US" sz="1100" dirty="0" smtClean="0"/>
                        <a:t>Short</a:t>
                      </a:r>
                      <a:r>
                        <a:rPr lang="en-US" sz="1100" baseline="0" dirty="0" smtClean="0"/>
                        <a:t> Position</a:t>
                      </a:r>
                      <a:endParaRPr lang="en-US" sz="1100" dirty="0"/>
                    </a:p>
                  </a:txBody>
                  <a:tcPr anchor="ctr"/>
                </a:tc>
                <a:tc>
                  <a:txBody>
                    <a:bodyPr/>
                    <a:lstStyle/>
                    <a:p>
                      <a:pPr algn="ctr"/>
                      <a:r>
                        <a:rPr lang="en-US" sz="1100" dirty="0" smtClean="0"/>
                        <a:t>25%</a:t>
                      </a:r>
                      <a:endParaRPr lang="en-US" sz="1100" dirty="0"/>
                    </a:p>
                  </a:txBody>
                  <a:tcPr anchor="ctr"/>
                </a:tc>
                <a:tc>
                  <a:txBody>
                    <a:bodyPr/>
                    <a:lstStyle/>
                    <a:p>
                      <a:pPr algn="ctr"/>
                      <a:r>
                        <a:rPr lang="en-US" sz="1100" dirty="0" smtClean="0"/>
                        <a:t>0.5%</a:t>
                      </a:r>
                      <a:endParaRPr lang="en-US" sz="1100" dirty="0"/>
                    </a:p>
                  </a:txBody>
                  <a:tcPr anchor="ctr"/>
                </a:tc>
              </a:tr>
              <a:tr h="215900">
                <a:tc>
                  <a:txBody>
                    <a:bodyPr/>
                    <a:lstStyle/>
                    <a:p>
                      <a:r>
                        <a:rPr lang="en-US" sz="1100" dirty="0" smtClean="0"/>
                        <a:t>Short Rebate</a:t>
                      </a:r>
                      <a:endParaRPr lang="en-US" sz="1100" dirty="0"/>
                    </a:p>
                  </a:txBody>
                  <a:tcPr anchor="ctr"/>
                </a:tc>
                <a:tc>
                  <a:txBody>
                    <a:bodyPr/>
                    <a:lstStyle/>
                    <a:p>
                      <a:pPr algn="ctr"/>
                      <a:r>
                        <a:rPr lang="en-US" sz="1100" dirty="0" smtClean="0"/>
                        <a:t>1.5%</a:t>
                      </a:r>
                      <a:endParaRPr lang="en-US" sz="1100" dirty="0"/>
                    </a:p>
                  </a:txBody>
                  <a:tcPr anchor="ctr"/>
                </a:tc>
                <a:tc>
                  <a:txBody>
                    <a:bodyPr/>
                    <a:lstStyle/>
                    <a:p>
                      <a:pPr algn="ctr"/>
                      <a:r>
                        <a:rPr lang="en-US" sz="1100" dirty="0" smtClean="0"/>
                        <a:t>0.03%</a:t>
                      </a:r>
                      <a:endParaRPr lang="en-US" sz="1100" dirty="0"/>
                    </a:p>
                  </a:txBody>
                  <a:tcPr anchor="ctr"/>
                </a:tc>
              </a:tr>
              <a:tr h="215900">
                <a:tc>
                  <a:txBody>
                    <a:bodyPr/>
                    <a:lstStyle/>
                    <a:p>
                      <a:r>
                        <a:rPr lang="en-US" sz="1100" dirty="0" smtClean="0"/>
                        <a:t>Cost of Borrowing Shares</a:t>
                      </a:r>
                      <a:endParaRPr lang="en-US" sz="1100" dirty="0"/>
                    </a:p>
                  </a:txBody>
                  <a:tcPr anchor="ctr"/>
                </a:tc>
                <a:tc>
                  <a:txBody>
                    <a:bodyPr/>
                    <a:lstStyle/>
                    <a:p>
                      <a:pPr algn="ctr"/>
                      <a:r>
                        <a:rPr lang="en-US" sz="1100" dirty="0" smtClean="0"/>
                        <a:t>-0.25%</a:t>
                      </a:r>
                      <a:endParaRPr lang="en-US" sz="1100" dirty="0"/>
                    </a:p>
                  </a:txBody>
                  <a:tcPr anchor="ctr"/>
                </a:tc>
                <a:tc>
                  <a:txBody>
                    <a:bodyPr/>
                    <a:lstStyle/>
                    <a:p>
                      <a:pPr algn="ctr"/>
                      <a:r>
                        <a:rPr lang="en-US" sz="1100" dirty="0" smtClean="0"/>
                        <a:t>-0.005%</a:t>
                      </a:r>
                      <a:endParaRPr lang="en-US" sz="1100" dirty="0"/>
                    </a:p>
                  </a:txBody>
                  <a:tcPr anchor="ctr"/>
                </a:tc>
              </a:tr>
              <a:tr h="215900">
                <a:tc>
                  <a:txBody>
                    <a:bodyPr/>
                    <a:lstStyle/>
                    <a:p>
                      <a:r>
                        <a:rPr lang="en-US" sz="1100" dirty="0" smtClean="0"/>
                        <a:t>Dividend</a:t>
                      </a:r>
                      <a:r>
                        <a:rPr lang="en-US" sz="1100" baseline="0" dirty="0" smtClean="0"/>
                        <a:t> Payment </a:t>
                      </a:r>
                    </a:p>
                  </a:txBody>
                  <a:tcPr anchor="ctr"/>
                </a:tc>
                <a:tc>
                  <a:txBody>
                    <a:bodyPr/>
                    <a:lstStyle/>
                    <a:p>
                      <a:pPr algn="ctr"/>
                      <a:r>
                        <a:rPr lang="en-US" sz="1100" dirty="0" smtClean="0"/>
                        <a:t>-1%</a:t>
                      </a:r>
                      <a:endParaRPr lang="en-US" sz="1100" dirty="0"/>
                    </a:p>
                  </a:txBody>
                  <a:tcPr anchor="ctr"/>
                </a:tc>
                <a:tc>
                  <a:txBody>
                    <a:bodyPr/>
                    <a:lstStyle/>
                    <a:p>
                      <a:pPr algn="ctr"/>
                      <a:r>
                        <a:rPr lang="en-US" sz="1100" dirty="0" smtClean="0"/>
                        <a:t>-0.02%</a:t>
                      </a:r>
                      <a:endParaRPr lang="en-US" sz="1100" dirty="0"/>
                    </a:p>
                  </a:txBody>
                  <a:tcPr anchor="ctr"/>
                </a:tc>
              </a:tr>
              <a:tr h="215900">
                <a:tc>
                  <a:txBody>
                    <a:bodyPr/>
                    <a:lstStyle/>
                    <a:p>
                      <a:r>
                        <a:rPr lang="en-US" sz="1100" dirty="0" smtClean="0"/>
                        <a:t>Margin Costs</a:t>
                      </a:r>
                      <a:r>
                        <a:rPr lang="en-US" sz="1100" baseline="0" dirty="0" smtClean="0"/>
                        <a:t> </a:t>
                      </a:r>
                    </a:p>
                  </a:txBody>
                  <a:tcPr anchor="ctr"/>
                </a:tc>
                <a:tc>
                  <a:txBody>
                    <a:bodyPr/>
                    <a:lstStyle/>
                    <a:p>
                      <a:pPr algn="ctr"/>
                      <a:r>
                        <a:rPr lang="en-US" sz="1100" dirty="0" smtClean="0"/>
                        <a:t>-0.75%</a:t>
                      </a:r>
                      <a:endParaRPr lang="en-US" sz="1100" dirty="0"/>
                    </a:p>
                  </a:txBody>
                  <a:tcPr anchor="ctr"/>
                </a:tc>
                <a:tc>
                  <a:txBody>
                    <a:bodyPr/>
                    <a:lstStyle/>
                    <a:p>
                      <a:pPr algn="ctr"/>
                      <a:r>
                        <a:rPr lang="en-US" sz="1100" dirty="0" smtClean="0"/>
                        <a:t>-0.015%</a:t>
                      </a:r>
                      <a:endParaRPr lang="en-US" sz="1100" dirty="0"/>
                    </a:p>
                  </a:txBody>
                  <a:tcPr anchor="ctr"/>
                </a:tc>
              </a:tr>
              <a:tr h="215900">
                <a:tc>
                  <a:txBody>
                    <a:bodyPr/>
                    <a:lstStyle/>
                    <a:p>
                      <a:r>
                        <a:rPr lang="en-US" sz="1100" b="1" baseline="0" dirty="0" smtClean="0"/>
                        <a:t>Total Return</a:t>
                      </a:r>
                    </a:p>
                  </a:txBody>
                  <a:tcPr anchor="ctr"/>
                </a:tc>
                <a:tc>
                  <a:txBody>
                    <a:bodyPr/>
                    <a:lstStyle/>
                    <a:p>
                      <a:pPr algn="ctr"/>
                      <a:r>
                        <a:rPr lang="en-US" sz="1100" b="1" dirty="0" smtClean="0"/>
                        <a:t>24.5%</a:t>
                      </a:r>
                      <a:endParaRPr lang="en-US" sz="1100" b="1" dirty="0"/>
                    </a:p>
                  </a:txBody>
                  <a:tcPr anchor="ctr"/>
                </a:tc>
                <a:tc>
                  <a:txBody>
                    <a:bodyPr/>
                    <a:lstStyle/>
                    <a:p>
                      <a:pPr algn="ctr"/>
                      <a:r>
                        <a:rPr lang="en-US" sz="1100" b="1" dirty="0" smtClean="0"/>
                        <a:t>0.49%</a:t>
                      </a:r>
                      <a:endParaRPr lang="en-US" sz="1100" b="1" dirty="0"/>
                    </a:p>
                  </a:txBody>
                  <a:tcPr anchor="ctr"/>
                </a:tc>
              </a:tr>
            </a:tbl>
          </a:graphicData>
        </a:graphic>
      </p:graphicFrame>
      <p:sp>
        <p:nvSpPr>
          <p:cNvPr id="6" name="TextBox 5"/>
          <p:cNvSpPr txBox="1"/>
          <p:nvPr/>
        </p:nvSpPr>
        <p:spPr>
          <a:xfrm>
            <a:off x="2514600" y="6751320"/>
            <a:ext cx="7086600" cy="553998"/>
          </a:xfrm>
          <a:prstGeom prst="rect">
            <a:avLst/>
          </a:prstGeom>
          <a:noFill/>
        </p:spPr>
        <p:txBody>
          <a:bodyPr wrap="square" rtlCol="0">
            <a:spAutoFit/>
          </a:bodyPr>
          <a:lstStyle/>
          <a:p>
            <a:r>
              <a:rPr lang="en-US" sz="1000" dirty="0" smtClean="0"/>
              <a:t>* Short Cost = Margin of $600,000 @2.5%, which is calculated as follows: </a:t>
            </a:r>
          </a:p>
          <a:p>
            <a:r>
              <a:rPr lang="en-US" sz="1000" dirty="0" smtClean="0"/>
              <a:t>($2,000,000) × 130% short margin </a:t>
            </a:r>
            <a:r>
              <a:rPr lang="en-US" sz="1000" dirty="0"/>
              <a:t>+ $</a:t>
            </a:r>
            <a:r>
              <a:rPr lang="en-US" sz="1000" dirty="0" smtClean="0"/>
              <a:t>2,000,000 = ($2,600,000) + $2,000,000 = ($600,000);</a:t>
            </a:r>
          </a:p>
          <a:p>
            <a:r>
              <a:rPr lang="en-US" sz="1000" dirty="0" smtClean="0"/>
              <a:t>Net Margin used = ($600,000) in margin rate @2.5% .  130% short margin is based on the prime broker’s margin requirement.</a:t>
            </a:r>
            <a:endParaRPr lang="en-US" sz="1000" dirty="0"/>
          </a:p>
        </p:txBody>
      </p:sp>
    </p:spTree>
    <p:extLst>
      <p:ext uri="{BB962C8B-B14F-4D97-AF65-F5344CB8AC3E}">
        <p14:creationId xmlns:p14="http://schemas.microsoft.com/office/powerpoint/2010/main" val="38191013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Strategy categorization: LOW BETA</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CRE Long/Short Equity strategy category is generally low beta both from a dollar value (dollars on the long side equal dollars on the short side) or beta adjusted (beta on the long side matches beta on the short side) basis.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net market exposure </a:t>
            </a:r>
            <a:r>
              <a:rPr lang="en-US" sz="1200" b="0" dirty="0" smtClean="0">
                <a:solidFill>
                  <a:schemeClr val="tx1"/>
                </a:solidFill>
                <a:latin typeface="+mn-lt"/>
              </a:rPr>
              <a:t>is driven mostly by bottoms-up stock selection.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Risk controls are established on a top-down basis in order to manage gross and net market exposure and sector allocation. </a:t>
            </a:r>
            <a:endParaRPr lang="en-US" sz="1100" dirty="0" smtClean="0"/>
          </a:p>
        </p:txBody>
      </p:sp>
      <p:graphicFrame>
        <p:nvGraphicFramePr>
          <p:cNvPr id="32" name="Chart 31"/>
          <p:cNvGraphicFramePr/>
          <p:nvPr>
            <p:extLst>
              <p:ext uri="{D42A27DB-BD31-4B8C-83A1-F6EECF244321}">
                <p14:modId xmlns:p14="http://schemas.microsoft.com/office/powerpoint/2010/main" val="4248316743"/>
              </p:ext>
            </p:extLst>
          </p:nvPr>
        </p:nvGraphicFramePr>
        <p:xfrm>
          <a:off x="2743200" y="2667794"/>
          <a:ext cx="6705600" cy="3810000"/>
        </p:xfrm>
        <a:graphic>
          <a:graphicData uri="http://schemas.openxmlformats.org/drawingml/2006/chart">
            <c:chart xmlns:c="http://schemas.openxmlformats.org/drawingml/2006/chart" xmlns:r="http://schemas.openxmlformats.org/officeDocument/2006/relationships" r:id="rId7"/>
          </a:graphicData>
        </a:graphic>
      </p:graphicFrame>
      <p:sp>
        <p:nvSpPr>
          <p:cNvPr id="33" name="Rectangle 32"/>
          <p:cNvSpPr/>
          <p:nvPr/>
        </p:nvSpPr>
        <p:spPr>
          <a:xfrm>
            <a:off x="4147718" y="4344194"/>
            <a:ext cx="1193598" cy="653490"/>
          </a:xfrm>
          <a:prstGeom prst="rect">
            <a:avLst/>
          </a:prstGeom>
          <a:pattFill prst="wdUpDiag">
            <a:fgClr>
              <a:schemeClr val="bg1"/>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flipV="1">
            <a:off x="7201814" y="4980005"/>
            <a:ext cx="1193598" cy="45719"/>
          </a:xfrm>
          <a:prstGeom prst="rect">
            <a:avLst/>
          </a:prstGeom>
          <a:pattFill prst="wdUpDiag">
            <a:fgClr>
              <a:schemeClr val="bg1"/>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5"/>
          <p:cNvSpPr>
            <a:spLocks/>
          </p:cNvSpPr>
          <p:nvPr>
            <p:custDataLst>
              <p:tags r:id="rId1"/>
            </p:custDataLst>
          </p:nvPr>
        </p:nvSpPr>
        <p:spPr bwMode="auto">
          <a:xfrm rot="10800000">
            <a:off x="5104920" y="4344194"/>
            <a:ext cx="236396" cy="652880"/>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37" name="Freeform 5"/>
          <p:cNvSpPr>
            <a:spLocks/>
          </p:cNvSpPr>
          <p:nvPr>
            <p:custDataLst>
              <p:tags r:id="rId2"/>
            </p:custDataLst>
          </p:nvPr>
        </p:nvSpPr>
        <p:spPr bwMode="auto">
          <a:xfrm rot="5400000">
            <a:off x="5104919" y="4346390"/>
            <a:ext cx="236396" cy="23639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38" name="Rectangular Callout 37"/>
          <p:cNvSpPr/>
          <p:nvPr/>
        </p:nvSpPr>
        <p:spPr>
          <a:xfrm rot="5400000">
            <a:off x="5833100" y="4081314"/>
            <a:ext cx="489226" cy="1255774"/>
          </a:xfrm>
          <a:prstGeom prst="wedgeRectCallout">
            <a:avLst>
              <a:gd name="adj1" fmla="val -20833"/>
              <a:gd name="adj2" fmla="val 55604"/>
            </a:avLst>
          </a:prstGeom>
          <a:solidFill>
            <a:srgbClr val="C77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9" name="TextBox 38"/>
          <p:cNvSpPr txBox="1"/>
          <p:nvPr/>
        </p:nvSpPr>
        <p:spPr>
          <a:xfrm>
            <a:off x="5449825" y="4466350"/>
            <a:ext cx="1331975" cy="461666"/>
          </a:xfrm>
          <a:prstGeom prst="rect">
            <a:avLst/>
          </a:prstGeom>
          <a:noFill/>
        </p:spPr>
        <p:txBody>
          <a:bodyPr wrap="square" rtlCol="0">
            <a:spAutoFit/>
          </a:bodyPr>
          <a:lstStyle/>
          <a:p>
            <a:r>
              <a:rPr lang="en-US" sz="1200" b="1" dirty="0" smtClean="0">
                <a:solidFill>
                  <a:schemeClr val="bg1"/>
                </a:solidFill>
              </a:rPr>
              <a:t>Max: 30% </a:t>
            </a:r>
          </a:p>
          <a:p>
            <a:r>
              <a:rPr lang="en-US" sz="1200" b="1" dirty="0" smtClean="0">
                <a:solidFill>
                  <a:schemeClr val="bg1"/>
                </a:solidFill>
              </a:rPr>
              <a:t>Market Exposure</a:t>
            </a:r>
            <a:endParaRPr lang="en-US" sz="1200" b="1" dirty="0">
              <a:solidFill>
                <a:schemeClr val="bg1"/>
              </a:solidFill>
            </a:endParaRPr>
          </a:p>
        </p:txBody>
      </p:sp>
      <p:sp>
        <p:nvSpPr>
          <p:cNvPr id="40" name="Freeform 5"/>
          <p:cNvSpPr>
            <a:spLocks/>
          </p:cNvSpPr>
          <p:nvPr>
            <p:custDataLst>
              <p:tags r:id="rId3"/>
            </p:custDataLst>
          </p:nvPr>
        </p:nvSpPr>
        <p:spPr bwMode="auto">
          <a:xfrm>
            <a:off x="7182429" y="4968424"/>
            <a:ext cx="236396" cy="6461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1" name="Freeform 5"/>
          <p:cNvSpPr>
            <a:spLocks/>
          </p:cNvSpPr>
          <p:nvPr>
            <p:custDataLst>
              <p:tags r:id="rId4"/>
            </p:custDataLst>
          </p:nvPr>
        </p:nvSpPr>
        <p:spPr bwMode="auto">
          <a:xfrm rot="16200000">
            <a:off x="7271078" y="4887091"/>
            <a:ext cx="59100" cy="23639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38100">
            <a:solidFill>
              <a:srgbClr val="C7732D"/>
            </a:solidFill>
            <a:prstDash val="solid"/>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1" name="Rectangular Callout 50"/>
          <p:cNvSpPr/>
          <p:nvPr/>
        </p:nvSpPr>
        <p:spPr>
          <a:xfrm rot="16200000">
            <a:off x="6274177" y="4749837"/>
            <a:ext cx="489226" cy="1150381"/>
          </a:xfrm>
          <a:prstGeom prst="wedgeRectCallout">
            <a:avLst>
              <a:gd name="adj1" fmla="val 55425"/>
              <a:gd name="adj2" fmla="val 55604"/>
            </a:avLst>
          </a:prstGeom>
          <a:solidFill>
            <a:srgbClr val="C77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2" name="TextBox 51"/>
          <p:cNvSpPr txBox="1"/>
          <p:nvPr/>
        </p:nvSpPr>
        <p:spPr>
          <a:xfrm>
            <a:off x="5903975" y="5106194"/>
            <a:ext cx="1331975" cy="461666"/>
          </a:xfrm>
          <a:prstGeom prst="rect">
            <a:avLst/>
          </a:prstGeom>
          <a:noFill/>
        </p:spPr>
        <p:txBody>
          <a:bodyPr wrap="square" rtlCol="0">
            <a:spAutoFit/>
          </a:bodyPr>
          <a:lstStyle/>
          <a:p>
            <a:r>
              <a:rPr lang="en-US" sz="1200" b="1" dirty="0" smtClean="0">
                <a:solidFill>
                  <a:schemeClr val="bg1"/>
                </a:solidFill>
              </a:rPr>
              <a:t>Min: 0% </a:t>
            </a:r>
          </a:p>
          <a:p>
            <a:r>
              <a:rPr lang="en-US" sz="1200" b="1" dirty="0" smtClean="0">
                <a:solidFill>
                  <a:schemeClr val="bg1"/>
                </a:solidFill>
              </a:rPr>
              <a:t>Market Exposure</a:t>
            </a:r>
            <a:endParaRPr lang="en-US" sz="1200" b="1" dirty="0">
              <a:solidFill>
                <a:schemeClr val="bg1"/>
              </a:solidFill>
            </a:endParaRPr>
          </a:p>
        </p:txBody>
      </p:sp>
      <p:sp>
        <p:nvSpPr>
          <p:cNvPr id="53" name="TextBox 52"/>
          <p:cNvSpPr txBox="1"/>
          <p:nvPr/>
        </p:nvSpPr>
        <p:spPr>
          <a:xfrm>
            <a:off x="4147718" y="3429794"/>
            <a:ext cx="881482" cy="461665"/>
          </a:xfrm>
          <a:prstGeom prst="rect">
            <a:avLst/>
          </a:prstGeom>
          <a:noFill/>
        </p:spPr>
        <p:txBody>
          <a:bodyPr wrap="square" rtlCol="0">
            <a:spAutoFit/>
          </a:bodyPr>
          <a:lstStyle/>
          <a:p>
            <a:r>
              <a:rPr lang="en-US" sz="1200" b="1" dirty="0" smtClean="0">
                <a:solidFill>
                  <a:schemeClr val="bg1"/>
                </a:solidFill>
              </a:rPr>
              <a:t>70%</a:t>
            </a:r>
          </a:p>
          <a:p>
            <a:r>
              <a:rPr lang="en-US" sz="1200" b="1" dirty="0" smtClean="0">
                <a:solidFill>
                  <a:schemeClr val="bg1"/>
                </a:solidFill>
              </a:rPr>
              <a:t>Gross Long</a:t>
            </a:r>
            <a:endParaRPr lang="en-US" sz="1200" b="1" dirty="0">
              <a:solidFill>
                <a:schemeClr val="bg1"/>
              </a:solidFill>
            </a:endParaRPr>
          </a:p>
        </p:txBody>
      </p:sp>
      <p:sp>
        <p:nvSpPr>
          <p:cNvPr id="54" name="TextBox 53"/>
          <p:cNvSpPr txBox="1"/>
          <p:nvPr/>
        </p:nvSpPr>
        <p:spPr>
          <a:xfrm>
            <a:off x="7174809" y="3660626"/>
            <a:ext cx="881482" cy="461665"/>
          </a:xfrm>
          <a:prstGeom prst="rect">
            <a:avLst/>
          </a:prstGeom>
          <a:noFill/>
        </p:spPr>
        <p:txBody>
          <a:bodyPr wrap="square" rtlCol="0">
            <a:spAutoFit/>
          </a:bodyPr>
          <a:lstStyle/>
          <a:p>
            <a:r>
              <a:rPr lang="en-US" sz="1200" b="1" dirty="0">
                <a:solidFill>
                  <a:schemeClr val="bg1"/>
                </a:solidFill>
              </a:rPr>
              <a:t>6</a:t>
            </a:r>
            <a:r>
              <a:rPr lang="en-US" sz="1200" b="1" dirty="0" smtClean="0">
                <a:solidFill>
                  <a:schemeClr val="bg1"/>
                </a:solidFill>
              </a:rPr>
              <a:t>0%</a:t>
            </a:r>
          </a:p>
          <a:p>
            <a:r>
              <a:rPr lang="en-US" sz="1200" b="1" dirty="0" smtClean="0">
                <a:solidFill>
                  <a:schemeClr val="bg1"/>
                </a:solidFill>
              </a:rPr>
              <a:t>Gross Long</a:t>
            </a:r>
            <a:endParaRPr lang="en-US" sz="1200" b="1" dirty="0">
              <a:solidFill>
                <a:schemeClr val="bg1"/>
              </a:solidFill>
            </a:endParaRPr>
          </a:p>
        </p:txBody>
      </p:sp>
      <p:sp>
        <p:nvSpPr>
          <p:cNvPr id="55" name="TextBox 54"/>
          <p:cNvSpPr txBox="1"/>
          <p:nvPr/>
        </p:nvSpPr>
        <p:spPr>
          <a:xfrm>
            <a:off x="7182428" y="5868194"/>
            <a:ext cx="970971" cy="461665"/>
          </a:xfrm>
          <a:prstGeom prst="rect">
            <a:avLst/>
          </a:prstGeom>
          <a:noFill/>
        </p:spPr>
        <p:txBody>
          <a:bodyPr wrap="square" rtlCol="0">
            <a:spAutoFit/>
          </a:bodyPr>
          <a:lstStyle/>
          <a:p>
            <a:r>
              <a:rPr lang="en-US" sz="1200" b="1" dirty="0">
                <a:solidFill>
                  <a:schemeClr val="bg1"/>
                </a:solidFill>
              </a:rPr>
              <a:t>6</a:t>
            </a:r>
            <a:r>
              <a:rPr lang="en-US" sz="1200" b="1" dirty="0" smtClean="0">
                <a:solidFill>
                  <a:schemeClr val="bg1"/>
                </a:solidFill>
              </a:rPr>
              <a:t>0%</a:t>
            </a:r>
          </a:p>
          <a:p>
            <a:r>
              <a:rPr lang="en-US" sz="1200" b="1" dirty="0" smtClean="0">
                <a:solidFill>
                  <a:schemeClr val="bg1"/>
                </a:solidFill>
              </a:rPr>
              <a:t>Gross Short</a:t>
            </a:r>
            <a:endParaRPr lang="en-US" sz="1200" b="1" dirty="0">
              <a:solidFill>
                <a:schemeClr val="bg1"/>
              </a:solidFill>
            </a:endParaRPr>
          </a:p>
        </p:txBody>
      </p:sp>
      <p:sp>
        <p:nvSpPr>
          <p:cNvPr id="56" name="TextBox 55"/>
          <p:cNvSpPr txBox="1"/>
          <p:nvPr/>
        </p:nvSpPr>
        <p:spPr>
          <a:xfrm>
            <a:off x="4133948" y="5441474"/>
            <a:ext cx="970971" cy="461665"/>
          </a:xfrm>
          <a:prstGeom prst="rect">
            <a:avLst/>
          </a:prstGeom>
          <a:noFill/>
        </p:spPr>
        <p:txBody>
          <a:bodyPr wrap="square" rtlCol="0">
            <a:spAutoFit/>
          </a:bodyPr>
          <a:lstStyle/>
          <a:p>
            <a:r>
              <a:rPr lang="en-US" sz="1200" b="1" dirty="0" smtClean="0">
                <a:solidFill>
                  <a:schemeClr val="bg1"/>
                </a:solidFill>
              </a:rPr>
              <a:t>40%</a:t>
            </a:r>
          </a:p>
          <a:p>
            <a:r>
              <a:rPr lang="en-US" sz="1200" b="1" dirty="0" smtClean="0">
                <a:solidFill>
                  <a:schemeClr val="bg1"/>
                </a:solidFill>
              </a:rPr>
              <a:t>Gross Short</a:t>
            </a:r>
            <a:endParaRPr lang="en-US" sz="1200" b="1" dirty="0">
              <a:solidFill>
                <a:schemeClr val="bg1"/>
              </a:solidFill>
            </a:endParaRPr>
          </a:p>
        </p:txBody>
      </p:sp>
      <p:sp>
        <p:nvSpPr>
          <p:cNvPr id="57" name="Rectangle 7"/>
          <p:cNvSpPr>
            <a:spLocks noChangeArrowheads="1"/>
          </p:cNvSpPr>
          <p:nvPr/>
        </p:nvSpPr>
        <p:spPr bwMode="auto">
          <a:xfrm>
            <a:off x="3417868" y="1600200"/>
            <a:ext cx="2490984" cy="1068388"/>
          </a:xfrm>
          <a:prstGeom prst="rect">
            <a:avLst/>
          </a:prstGeom>
          <a:noFill/>
          <a:ln w="9525" algn="ctr">
            <a:solidFill>
              <a:srgbClr val="FFFFFF"/>
            </a:solidFill>
            <a:miter lim="800000"/>
            <a:headEnd/>
            <a:tailEnd/>
          </a:ln>
        </p:spPr>
        <p:txBody>
          <a:bodyPr lIns="36000" tIns="72000" rIns="36000" bIns="36000" anchorCtr="1"/>
          <a:lstStyle/>
          <a:p>
            <a:pPr algn="ctr"/>
            <a:r>
              <a:rPr lang="en-US" altLang="zh-CN" sz="1200" b="1" dirty="0" smtClean="0">
                <a:solidFill>
                  <a:schemeClr val="tx2"/>
                </a:solidFill>
                <a:ea typeface="Arial Unicode MS" pitchFamily="34" charset="-122"/>
                <a:cs typeface="Arial Unicode MS" pitchFamily="34" charset="-122"/>
              </a:rPr>
              <a:t>Low Beta Strategy</a:t>
            </a:r>
          </a:p>
          <a:p>
            <a:pPr algn="ctr"/>
            <a:r>
              <a:rPr lang="en-US" altLang="ja-JP" sz="1200" b="1" dirty="0" smtClean="0">
                <a:solidFill>
                  <a:schemeClr val="tx2"/>
                </a:solidFill>
                <a:ea typeface="Arial Unicode MS" pitchFamily="34" charset="-122"/>
                <a:cs typeface="Arial Unicode MS" pitchFamily="34" charset="-122"/>
              </a:rPr>
              <a:t>With Highest Market Exposure</a:t>
            </a:r>
            <a:endParaRPr lang="en-GB" altLang="ja-JP" sz="1200" b="1" dirty="0">
              <a:solidFill>
                <a:schemeClr val="tx2"/>
              </a:solidFill>
              <a:ea typeface="Arial Unicode MS" pitchFamily="34" charset="-122"/>
              <a:cs typeface="Arial Unicode MS" pitchFamily="34" charset="-122"/>
            </a:endParaRPr>
          </a:p>
          <a:p>
            <a:pPr algn="ctr"/>
            <a:endParaRPr lang="en-GB" altLang="ja-JP"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Max Market Exposure: 30%</a:t>
            </a:r>
            <a:endParaRPr lang="en-US" altLang="zh-CN"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Gross Invested: 110%</a:t>
            </a:r>
          </a:p>
        </p:txBody>
      </p:sp>
      <p:sp>
        <p:nvSpPr>
          <p:cNvPr id="58" name="Rectangle 7"/>
          <p:cNvSpPr>
            <a:spLocks noChangeArrowheads="1"/>
          </p:cNvSpPr>
          <p:nvPr/>
        </p:nvSpPr>
        <p:spPr bwMode="auto">
          <a:xfrm>
            <a:off x="6547102" y="1600200"/>
            <a:ext cx="2490984" cy="1068388"/>
          </a:xfrm>
          <a:prstGeom prst="rect">
            <a:avLst/>
          </a:prstGeom>
          <a:noFill/>
          <a:ln w="9525" algn="ctr">
            <a:solidFill>
              <a:srgbClr val="FFFFFF"/>
            </a:solidFill>
            <a:miter lim="800000"/>
            <a:headEnd/>
            <a:tailEnd/>
          </a:ln>
        </p:spPr>
        <p:txBody>
          <a:bodyPr lIns="36000" tIns="72000" rIns="36000" bIns="36000" anchorCtr="1"/>
          <a:lstStyle/>
          <a:p>
            <a:pPr algn="ctr"/>
            <a:r>
              <a:rPr lang="en-US" altLang="zh-CN" sz="1200" b="1" dirty="0" smtClean="0">
                <a:solidFill>
                  <a:schemeClr val="tx2"/>
                </a:solidFill>
                <a:ea typeface="Arial Unicode MS" pitchFamily="34" charset="-122"/>
                <a:cs typeface="Arial Unicode MS" pitchFamily="34" charset="-122"/>
              </a:rPr>
              <a:t>Low Beta Strategy</a:t>
            </a:r>
          </a:p>
          <a:p>
            <a:pPr algn="ctr"/>
            <a:r>
              <a:rPr lang="en-US" altLang="ja-JP" sz="1200" b="1" dirty="0" smtClean="0">
                <a:solidFill>
                  <a:schemeClr val="tx2"/>
                </a:solidFill>
                <a:ea typeface="Arial Unicode MS" pitchFamily="34" charset="-122"/>
                <a:cs typeface="Arial Unicode MS" pitchFamily="34" charset="-122"/>
              </a:rPr>
              <a:t>With Lowest Market Exposure</a:t>
            </a:r>
            <a:endParaRPr lang="en-GB" altLang="ja-JP" sz="1200" b="1" dirty="0">
              <a:solidFill>
                <a:schemeClr val="tx2"/>
              </a:solidFill>
              <a:ea typeface="Arial Unicode MS" pitchFamily="34" charset="-122"/>
              <a:cs typeface="Arial Unicode MS" pitchFamily="34" charset="-122"/>
            </a:endParaRPr>
          </a:p>
          <a:p>
            <a:pPr algn="ctr"/>
            <a:endParaRPr lang="en-GB" altLang="ja-JP"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Min Market Exposure: 0%</a:t>
            </a:r>
            <a:endParaRPr lang="en-US" altLang="zh-CN" sz="1200" dirty="0">
              <a:solidFill>
                <a:schemeClr val="tx2"/>
              </a:solidFill>
              <a:ea typeface="Arial Unicode MS" pitchFamily="34" charset="-122"/>
              <a:cs typeface="Arial Unicode MS" pitchFamily="34" charset="-122"/>
            </a:endParaRPr>
          </a:p>
          <a:p>
            <a:pPr algn="ctr"/>
            <a:r>
              <a:rPr lang="en-US" altLang="zh-CN" sz="1200" dirty="0" smtClean="0">
                <a:solidFill>
                  <a:schemeClr val="tx2"/>
                </a:solidFill>
                <a:ea typeface="Arial Unicode MS" pitchFamily="34" charset="-122"/>
                <a:cs typeface="Arial Unicode MS" pitchFamily="34" charset="-122"/>
              </a:rPr>
              <a:t>Gross Invested: 120%</a:t>
            </a:r>
          </a:p>
        </p:txBody>
      </p:sp>
    </p:spTree>
    <p:extLst>
      <p:ext uri="{BB962C8B-B14F-4D97-AF65-F5344CB8AC3E}">
        <p14:creationId xmlns:p14="http://schemas.microsoft.com/office/powerpoint/2010/main" val="1530803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Controls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CRE Long/Short Equity Strategy will actively manage position, sector, and market exposure (both gross and net).</a:t>
            </a:r>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a:solidFill>
                  <a:schemeClr val="accent1"/>
                </a:solidFill>
              </a:rPr>
              <a:t>Position concentration</a:t>
            </a:r>
          </a:p>
        </p:txBody>
      </p:sp>
      <p:sp>
        <p:nvSpPr>
          <p:cNvPr id="14" name="TextBox 13"/>
          <p:cNvSpPr txBox="1"/>
          <p:nvPr/>
        </p:nvSpPr>
        <p:spPr>
          <a:xfrm>
            <a:off x="2903220" y="1420594"/>
            <a:ext cx="6629400" cy="307777"/>
          </a:xfrm>
          <a:prstGeom prst="rect">
            <a:avLst/>
          </a:prstGeom>
          <a:noFill/>
        </p:spPr>
        <p:txBody>
          <a:bodyPr wrap="square" rtlCol="0">
            <a:spAutoFit/>
          </a:bodyPr>
          <a:lstStyle/>
          <a:p>
            <a:r>
              <a:rPr lang="en-US" sz="1400" dirty="0" smtClean="0"/>
              <a:t>No more than 5% of NAV for any single position (either long or short)</a:t>
            </a:r>
          </a:p>
        </p:txBody>
      </p:sp>
      <p:sp>
        <p:nvSpPr>
          <p:cNvPr id="22" name="Rectangle 21"/>
          <p:cNvSpPr/>
          <p:nvPr/>
        </p:nvSpPr>
        <p:spPr>
          <a:xfrm>
            <a:off x="2903220" y="2603332"/>
            <a:ext cx="6629400" cy="82295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2903220" y="2603331"/>
            <a:ext cx="6629400" cy="0"/>
          </a:xfrm>
          <a:prstGeom prst="line">
            <a:avLst/>
          </a:prstGeom>
          <a:ln w="381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903220" y="2603331"/>
            <a:ext cx="6629400" cy="307777"/>
          </a:xfrm>
          <a:prstGeom prst="rect">
            <a:avLst/>
          </a:prstGeom>
          <a:noFill/>
        </p:spPr>
        <p:txBody>
          <a:bodyPr wrap="square" rtlCol="0">
            <a:spAutoFit/>
          </a:bodyPr>
          <a:lstStyle/>
          <a:p>
            <a:r>
              <a:rPr lang="en-US" sz="1400" dirty="0" smtClean="0"/>
              <a:t>No more than 20% in any specific sector (Apartments, Hotels, REITs..)</a:t>
            </a:r>
          </a:p>
        </p:txBody>
      </p:sp>
      <p:sp>
        <p:nvSpPr>
          <p:cNvPr id="26" name="Rectangle 25"/>
          <p:cNvSpPr/>
          <p:nvPr/>
        </p:nvSpPr>
        <p:spPr>
          <a:xfrm>
            <a:off x="2903220" y="3780086"/>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2903220" y="3780085"/>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903220" y="3780085"/>
            <a:ext cx="6629400" cy="523220"/>
          </a:xfrm>
          <a:prstGeom prst="rect">
            <a:avLst/>
          </a:prstGeom>
          <a:noFill/>
        </p:spPr>
        <p:txBody>
          <a:bodyPr wrap="square" rtlCol="0">
            <a:spAutoFit/>
          </a:bodyPr>
          <a:lstStyle/>
          <a:p>
            <a:r>
              <a:rPr lang="en-US" sz="1400" dirty="0" smtClean="0"/>
              <a:t>No more than 100% on the Long Side and 100% on the short side, for a total gross exposure cap of 200%. </a:t>
            </a:r>
          </a:p>
        </p:txBody>
      </p:sp>
      <p:sp>
        <p:nvSpPr>
          <p:cNvPr id="30" name="Rectangle 29"/>
          <p:cNvSpPr/>
          <p:nvPr/>
        </p:nvSpPr>
        <p:spPr>
          <a:xfrm>
            <a:off x="2903220" y="4956840"/>
            <a:ext cx="6629400" cy="82295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a:off x="2903220" y="4956839"/>
            <a:ext cx="6629400" cy="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903220" y="4956839"/>
            <a:ext cx="6629400" cy="307777"/>
          </a:xfrm>
          <a:prstGeom prst="rect">
            <a:avLst/>
          </a:prstGeom>
          <a:noFill/>
        </p:spPr>
        <p:txBody>
          <a:bodyPr wrap="square" rtlCol="0">
            <a:spAutoFit/>
          </a:bodyPr>
          <a:lstStyle/>
          <a:p>
            <a:r>
              <a:rPr lang="en-US" sz="1400" dirty="0" smtClean="0"/>
              <a:t>Minimum: -15%. Maximum: 40%</a:t>
            </a:r>
          </a:p>
        </p:txBody>
      </p:sp>
      <p:sp>
        <p:nvSpPr>
          <p:cNvPr id="34" name="Rectangle 33"/>
          <p:cNvSpPr/>
          <p:nvPr/>
        </p:nvSpPr>
        <p:spPr>
          <a:xfrm>
            <a:off x="2903220" y="6131957"/>
            <a:ext cx="6629400" cy="82295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a:off x="2903220" y="6131956"/>
            <a:ext cx="6629400" cy="0"/>
          </a:xfrm>
          <a:prstGeom prst="line">
            <a:avLst/>
          </a:prstGeom>
          <a:ln w="38100">
            <a:solidFill>
              <a:schemeClr val="accent4">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903220" y="6131956"/>
            <a:ext cx="6629400" cy="307777"/>
          </a:xfrm>
          <a:prstGeom prst="rect">
            <a:avLst/>
          </a:prstGeom>
          <a:noFill/>
        </p:spPr>
        <p:txBody>
          <a:bodyPr wrap="square" rtlCol="0">
            <a:spAutoFit/>
          </a:bodyPr>
          <a:lstStyle/>
          <a:p>
            <a:r>
              <a:rPr lang="en-US" sz="1400" dirty="0" smtClean="0"/>
              <a:t>No leverage on the long side</a:t>
            </a:r>
          </a:p>
        </p:txBody>
      </p:sp>
      <p:sp>
        <p:nvSpPr>
          <p:cNvPr id="39" name="TextBox 38"/>
          <p:cNvSpPr txBox="1"/>
          <p:nvPr/>
        </p:nvSpPr>
        <p:spPr>
          <a:xfrm>
            <a:off x="2903220" y="2286000"/>
            <a:ext cx="6629400" cy="338554"/>
          </a:xfrm>
          <a:prstGeom prst="rect">
            <a:avLst/>
          </a:prstGeom>
          <a:noFill/>
        </p:spPr>
        <p:txBody>
          <a:bodyPr wrap="square" rtlCol="0">
            <a:spAutoFit/>
          </a:bodyPr>
          <a:lstStyle/>
          <a:p>
            <a:r>
              <a:rPr lang="en-US" sz="1600" b="1" dirty="0">
                <a:solidFill>
                  <a:schemeClr val="accent5">
                    <a:lumMod val="50000"/>
                  </a:schemeClr>
                </a:solidFill>
              </a:rPr>
              <a:t>Sector concentration</a:t>
            </a:r>
          </a:p>
        </p:txBody>
      </p:sp>
      <p:sp>
        <p:nvSpPr>
          <p:cNvPr id="40" name="TextBox 39"/>
          <p:cNvSpPr txBox="1"/>
          <p:nvPr/>
        </p:nvSpPr>
        <p:spPr>
          <a:xfrm>
            <a:off x="2903220" y="3441532"/>
            <a:ext cx="6629400" cy="338554"/>
          </a:xfrm>
          <a:prstGeom prst="rect">
            <a:avLst/>
          </a:prstGeom>
          <a:noFill/>
        </p:spPr>
        <p:txBody>
          <a:bodyPr wrap="square" rtlCol="0">
            <a:spAutoFit/>
          </a:bodyPr>
          <a:lstStyle/>
          <a:p>
            <a:r>
              <a:rPr lang="en-US" sz="1600" b="1" dirty="0">
                <a:solidFill>
                  <a:schemeClr val="accent2">
                    <a:lumMod val="75000"/>
                  </a:schemeClr>
                </a:solidFill>
              </a:rPr>
              <a:t>Gross Exposure</a:t>
            </a:r>
          </a:p>
        </p:txBody>
      </p:sp>
      <p:sp>
        <p:nvSpPr>
          <p:cNvPr id="41" name="TextBox 40"/>
          <p:cNvSpPr txBox="1"/>
          <p:nvPr/>
        </p:nvSpPr>
        <p:spPr>
          <a:xfrm>
            <a:off x="2910840" y="4630818"/>
            <a:ext cx="6629400" cy="338554"/>
          </a:xfrm>
          <a:prstGeom prst="rect">
            <a:avLst/>
          </a:prstGeom>
          <a:noFill/>
        </p:spPr>
        <p:txBody>
          <a:bodyPr wrap="square" rtlCol="0">
            <a:spAutoFit/>
          </a:bodyPr>
          <a:lstStyle/>
          <a:p>
            <a:r>
              <a:rPr lang="en-US" sz="1600" b="1" dirty="0" smtClean="0">
                <a:solidFill>
                  <a:schemeClr val="accent3">
                    <a:lumMod val="75000"/>
                  </a:schemeClr>
                </a:solidFill>
              </a:rPr>
              <a:t>Net Exposure</a:t>
            </a:r>
            <a:endParaRPr lang="en-US" sz="1600" b="1" dirty="0">
              <a:solidFill>
                <a:schemeClr val="accent3">
                  <a:lumMod val="75000"/>
                </a:schemeClr>
              </a:solidFill>
            </a:endParaRPr>
          </a:p>
        </p:txBody>
      </p:sp>
      <p:sp>
        <p:nvSpPr>
          <p:cNvPr id="42" name="TextBox 41"/>
          <p:cNvSpPr txBox="1"/>
          <p:nvPr/>
        </p:nvSpPr>
        <p:spPr>
          <a:xfrm>
            <a:off x="2903220" y="5821175"/>
            <a:ext cx="6629400" cy="338554"/>
          </a:xfrm>
          <a:prstGeom prst="rect">
            <a:avLst/>
          </a:prstGeom>
          <a:noFill/>
        </p:spPr>
        <p:txBody>
          <a:bodyPr wrap="square" rtlCol="0">
            <a:spAutoFit/>
          </a:bodyPr>
          <a:lstStyle/>
          <a:p>
            <a:r>
              <a:rPr lang="en-US" sz="1600" b="1" dirty="0">
                <a:solidFill>
                  <a:schemeClr val="accent4">
                    <a:lumMod val="85000"/>
                    <a:lumOff val="15000"/>
                  </a:schemeClr>
                </a:solidFill>
              </a:rPr>
              <a:t>Leverage</a:t>
            </a:r>
          </a:p>
        </p:txBody>
      </p:sp>
    </p:spTree>
    <p:extLst>
      <p:ext uri="{BB962C8B-B14F-4D97-AF65-F5344CB8AC3E}">
        <p14:creationId xmlns:p14="http://schemas.microsoft.com/office/powerpoint/2010/main" val="30515867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p:cNvCxnSpPr/>
          <p:nvPr/>
        </p:nvCxnSpPr>
        <p:spPr>
          <a:xfrm>
            <a:off x="3276600" y="1347696"/>
            <a:ext cx="583826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RISK CONTROL THROUGH EQUITY RISK MODELING</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A dollar neutral Long/Short portfolio leaves the portfolio exposed to a potentially significant amount of risk to various factors including beta differentials, industry/sector exposures, value/growth exposure, and other systematic factors.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To utilize a more stringent level of risk control in portfolio construction, the long and short portions of the strategy are optimized to reduce risks by incorporating a risk modeling optimizer with the buy and sell lists. This ensures that the long and short positions are constructed with the same aggregate risk characteristics.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mc:AlternateContent xmlns:mc="http://schemas.openxmlformats.org/markup-compatibility/2006">
        <mc:Choice xmlns:a14="http://schemas.microsoft.com/office/drawing/2010/main" Requires="a14">
          <p:sp>
            <p:nvSpPr>
              <p:cNvPr id="3" name="Rectangle 2"/>
              <p:cNvSpPr/>
              <p:nvPr/>
            </p:nvSpPr>
            <p:spPr>
              <a:xfrm>
                <a:off x="3157992" y="1746971"/>
                <a:ext cx="6213303" cy="471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i="1">
                              <a:latin typeface="Cambria Math"/>
                            </a:rPr>
                            <m:t>𝑅</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r>
                        <a:rPr lang="en-US" i="1">
                          <a:latin typeface="Cambria Math"/>
                        </a:rPr>
                        <m:t>𝛼</m:t>
                      </m:r>
                      <m:r>
                        <a:rPr lang="en-US" i="1">
                          <a:latin typeface="Cambria Math"/>
                        </a:rPr>
                        <m:t>+</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𝑀</m:t>
                          </m:r>
                        </m:sup>
                      </m:sSubSup>
                      <m:r>
                        <a:rPr lang="en-US" i="1">
                          <a:latin typeface="Cambria Math"/>
                        </a:rPr>
                        <m:t>×</m:t>
                      </m:r>
                      <m:sSub>
                        <m:sSubPr>
                          <m:ctrlPr>
                            <a:rPr lang="en-US" i="1">
                              <a:latin typeface="Cambria Math"/>
                            </a:rPr>
                          </m:ctrlPr>
                        </m:sSubPr>
                        <m:e>
                          <m:r>
                            <a:rPr lang="en-US" i="1">
                              <a:latin typeface="Cambria Math"/>
                            </a:rPr>
                            <m:t>𝑀</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𝐼</m:t>
                          </m:r>
                        </m:sup>
                      </m:sSubSup>
                      <m:r>
                        <a:rPr lang="en-US" i="1">
                          <a:latin typeface="Cambria Math"/>
                        </a:rPr>
                        <m:t>×</m:t>
                      </m:r>
                      <m:sSub>
                        <m:sSubPr>
                          <m:ctrlPr>
                            <a:rPr lang="en-US" i="1">
                              <a:latin typeface="Cambria Math"/>
                            </a:rPr>
                          </m:ctrlPr>
                        </m:sSubPr>
                        <m:e>
                          <m:r>
                            <a:rPr lang="en-US" i="1">
                              <a:latin typeface="Cambria Math"/>
                            </a:rPr>
                            <m:t>𝐼</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Sup>
                        <m:sSubSupPr>
                          <m:ctrlPr>
                            <a:rPr lang="en-US" i="1">
                              <a:latin typeface="Cambria Math"/>
                            </a:rPr>
                          </m:ctrlPr>
                        </m:sSubSupPr>
                        <m:e>
                          <m:r>
                            <a:rPr lang="en-US" i="1">
                              <a:latin typeface="Cambria Math"/>
                            </a:rPr>
                            <m:t>𝛽</m:t>
                          </m:r>
                        </m:e>
                        <m:sub>
                          <m:r>
                            <a:rPr lang="en-US" i="1">
                              <a:latin typeface="Cambria Math"/>
                            </a:rPr>
                            <m:t>𝑡</m:t>
                          </m:r>
                        </m:sub>
                        <m:sup>
                          <m:r>
                            <a:rPr lang="en-US" i="1">
                              <a:latin typeface="Cambria Math"/>
                            </a:rPr>
                            <m:t>𝐹</m:t>
                          </m:r>
                        </m:sup>
                      </m:sSubSup>
                      <m:r>
                        <a:rPr lang="en-US" i="1">
                          <a:latin typeface="Cambria Math"/>
                        </a:rPr>
                        <m:t>×</m:t>
                      </m:r>
                      <m:sSub>
                        <m:sSubPr>
                          <m:ctrlPr>
                            <a:rPr lang="en-US" i="1">
                              <a:latin typeface="Cambria Math"/>
                            </a:rPr>
                          </m:ctrlPr>
                        </m:sSubPr>
                        <m:e>
                          <m:r>
                            <a:rPr lang="en-US" i="1">
                              <a:latin typeface="Cambria Math"/>
                            </a:rPr>
                            <m:t>𝐹</m:t>
                          </m:r>
                        </m:e>
                        <m:sub>
                          <m:r>
                            <a:rPr lang="en-US" i="1">
                              <a:latin typeface="Cambria Math"/>
                            </a:rPr>
                            <m:t>𝑡</m:t>
                          </m:r>
                        </m:sub>
                      </m:sSub>
                      <m:r>
                        <a:rPr lang="en-US" b="0" i="1" smtClean="0">
                          <a:latin typeface="Cambria Math"/>
                        </a:rPr>
                        <m:t>   </m:t>
                      </m:r>
                      <m:r>
                        <a:rPr lang="en-US" i="1">
                          <a:latin typeface="Cambria Math"/>
                        </a:rPr>
                        <m:t>+</m:t>
                      </m:r>
                      <m:r>
                        <a:rPr lang="en-US" b="0" i="1" smtClean="0">
                          <a:latin typeface="Cambria Math"/>
                        </a:rPr>
                        <m:t>   </m:t>
                      </m:r>
                      <m:sSub>
                        <m:sSubPr>
                          <m:ctrlPr>
                            <a:rPr lang="en-US" i="1">
                              <a:latin typeface="Cambria Math"/>
                            </a:rPr>
                          </m:ctrlPr>
                        </m:sSubPr>
                        <m:e>
                          <m:r>
                            <a:rPr lang="en-US" i="1">
                              <a:latin typeface="Cambria Math"/>
                            </a:rPr>
                            <m:t>𝜀</m:t>
                          </m:r>
                        </m:e>
                        <m:sub>
                          <m:r>
                            <a:rPr lang="en-US" i="1">
                              <a:latin typeface="Cambria Math"/>
                            </a:rPr>
                            <m:t>𝑡</m:t>
                          </m:r>
                        </m:sub>
                      </m:sSub>
                    </m:oMath>
                  </m:oMathPara>
                </a14:m>
                <a:endParaRPr lang="en-US" dirty="0"/>
              </a:p>
            </p:txBody>
          </p:sp>
        </mc:Choice>
        <mc:Fallback>
          <p:sp>
            <p:nvSpPr>
              <p:cNvPr id="3" name="Rectangle 2"/>
              <p:cNvSpPr>
                <a:spLocks noRot="1" noChangeAspect="1" noMove="1" noResize="1" noEditPoints="1" noAdjustHandles="1" noChangeArrowheads="1" noChangeShapeType="1" noTextEdit="1"/>
              </p:cNvSpPr>
              <p:nvPr/>
            </p:nvSpPr>
            <p:spPr>
              <a:xfrm>
                <a:off x="3157992" y="1746971"/>
                <a:ext cx="6213303" cy="4717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504691492"/>
                  </p:ext>
                </p:extLst>
              </p:nvPr>
            </p:nvGraphicFramePr>
            <p:xfrm>
              <a:off x="2864970" y="2509520"/>
              <a:ext cx="6799348" cy="3662680"/>
            </p:xfrm>
            <a:graphic>
              <a:graphicData uri="http://schemas.openxmlformats.org/drawingml/2006/table">
                <a:tbl>
                  <a:tblPr firstRow="1" bandRow="1">
                    <a:tableStyleId>{5C22544A-7EE6-4342-B048-85BDC9FD1C3A}</a:tableStyleId>
                  </a:tblPr>
                  <a:tblGrid>
                    <a:gridCol w="1699837"/>
                    <a:gridCol w="1699837"/>
                    <a:gridCol w="1699837"/>
                    <a:gridCol w="1699837"/>
                  </a:tblGrid>
                  <a:tr h="370840">
                    <a:tc>
                      <a:txBody>
                        <a:bodyPr/>
                        <a:lstStyle/>
                        <a:p>
                          <a:pPr/>
                          <a14:m>
                            <m:oMathPara xmlns:m="http://schemas.openxmlformats.org/officeDocument/2006/math">
                              <m:oMathParaPr>
                                <m:jc m:val="centerGroup"/>
                              </m:oMathParaPr>
                              <m:oMath xmlns:m="http://schemas.openxmlformats.org/officeDocument/2006/math">
                                <m:r>
                                  <a:rPr lang="en-US" sz="1200" b="1" i="1" smtClean="0">
                                    <a:latin typeface="Cambria Math"/>
                                  </a:rPr>
                                  <m:t>𝜶</m:t>
                                </m:r>
                                <m:r>
                                  <a:rPr lang="en-US" sz="1200" b="1" i="1" smtClean="0">
                                    <a:latin typeface="Cambria Math"/>
                                  </a:rPr>
                                  <m:t>+</m:t>
                                </m:r>
                                <m:sSubSup>
                                  <m:sSubSupPr>
                                    <m:ctrlPr>
                                      <a:rPr lang="en-US" sz="1200" b="1" i="1">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𝑴</m:t>
                                    </m:r>
                                  </m:sup>
                                </m:sSubSup>
                                <m:r>
                                  <a:rPr lang="en-US" sz="1200" b="1" i="1">
                                    <a:latin typeface="Cambria Math"/>
                                  </a:rPr>
                                  <m:t>×</m:t>
                                </m:r>
                                <m:sSub>
                                  <m:sSubPr>
                                    <m:ctrlPr>
                                      <a:rPr lang="en-US" sz="1200" b="1" i="1">
                                        <a:latin typeface="Cambria Math"/>
                                      </a:rPr>
                                    </m:ctrlPr>
                                  </m:sSubPr>
                                  <m:e>
                                    <m:r>
                                      <a:rPr lang="en-US" sz="1200" b="1" i="1">
                                        <a:latin typeface="Cambria Math"/>
                                      </a:rPr>
                                      <m:t>𝑴</m:t>
                                    </m:r>
                                  </m:e>
                                  <m:sub>
                                    <m:r>
                                      <a:rPr lang="en-US" sz="1200" b="1" i="1">
                                        <a:latin typeface="Cambria Math"/>
                                      </a:rPr>
                                      <m:t>𝒕</m:t>
                                    </m:r>
                                  </m:sub>
                                </m:sSub>
                              </m:oMath>
                            </m:oMathPara>
                          </a14:m>
                          <a:endParaRPr lang="en-US" sz="1200" b="1" dirty="0"/>
                        </a:p>
                      </a:txBody>
                      <a:tcPr anchor="ctr"/>
                    </a:tc>
                    <a:tc>
                      <a:txBody>
                        <a:bodyPr/>
                        <a:lstStyle/>
                        <a:p>
                          <a:pPr/>
                          <a14:m>
                            <m:oMathPara xmlns:m="http://schemas.openxmlformats.org/officeDocument/2006/math">
                              <m:oMathParaPr>
                                <m:jc m:val="centerGroup"/>
                              </m:oMathParaPr>
                              <m:oMath xmlns:m="http://schemas.openxmlformats.org/officeDocument/2006/math">
                                <m:sSubSup>
                                  <m:sSubSupPr>
                                    <m:ctrlPr>
                                      <a:rPr lang="en-US" sz="1200" b="1" i="1" smtClean="0">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𝑰</m:t>
                                    </m:r>
                                  </m:sup>
                                </m:sSubSup>
                                <m:r>
                                  <a:rPr lang="en-US" sz="1200" b="1" i="1">
                                    <a:latin typeface="Cambria Math"/>
                                  </a:rPr>
                                  <m:t>×</m:t>
                                </m:r>
                                <m:sSub>
                                  <m:sSubPr>
                                    <m:ctrlPr>
                                      <a:rPr lang="en-US" sz="1200" b="1" i="1">
                                        <a:latin typeface="Cambria Math"/>
                                      </a:rPr>
                                    </m:ctrlPr>
                                  </m:sSubPr>
                                  <m:e>
                                    <m:r>
                                      <a:rPr lang="en-US" sz="1200" b="1" i="1">
                                        <a:latin typeface="Cambria Math"/>
                                      </a:rPr>
                                      <m:t>𝑰</m:t>
                                    </m:r>
                                  </m:e>
                                  <m:sub>
                                    <m:r>
                                      <a:rPr lang="en-US" sz="1200" b="1" i="1">
                                        <a:latin typeface="Cambria Math"/>
                                      </a:rPr>
                                      <m:t>𝒕</m:t>
                                    </m:r>
                                  </m:sub>
                                </m:sSub>
                              </m:oMath>
                            </m:oMathPara>
                          </a14:m>
                          <a:endParaRPr lang="en-US" sz="1200" b="1" dirty="0"/>
                        </a:p>
                      </a:txBody>
                      <a:tcPr anchor="ctr">
                        <a:solidFill>
                          <a:schemeClr val="accent2"/>
                        </a:solidFill>
                      </a:tcPr>
                    </a:tc>
                    <a:tc>
                      <a:txBody>
                        <a:bodyPr/>
                        <a:lstStyle/>
                        <a:p>
                          <a:pPr/>
                          <a14:m>
                            <m:oMathPara xmlns:m="http://schemas.openxmlformats.org/officeDocument/2006/math">
                              <m:oMathParaPr>
                                <m:jc m:val="centerGroup"/>
                              </m:oMathParaPr>
                              <m:oMath xmlns:m="http://schemas.openxmlformats.org/officeDocument/2006/math">
                                <m:sSubSup>
                                  <m:sSubSupPr>
                                    <m:ctrlPr>
                                      <a:rPr lang="en-US" sz="1200" b="1" i="1" smtClean="0">
                                        <a:latin typeface="Cambria Math"/>
                                      </a:rPr>
                                    </m:ctrlPr>
                                  </m:sSubSupPr>
                                  <m:e>
                                    <m:r>
                                      <a:rPr lang="en-US" sz="1200" b="1" i="1">
                                        <a:latin typeface="Cambria Math"/>
                                      </a:rPr>
                                      <m:t>𝜷</m:t>
                                    </m:r>
                                  </m:e>
                                  <m:sub>
                                    <m:r>
                                      <a:rPr lang="en-US" sz="1200" b="1" i="1">
                                        <a:latin typeface="Cambria Math"/>
                                      </a:rPr>
                                      <m:t>𝒕</m:t>
                                    </m:r>
                                  </m:sub>
                                  <m:sup>
                                    <m:r>
                                      <a:rPr lang="en-US" sz="1200" b="1" i="1">
                                        <a:latin typeface="Cambria Math"/>
                                      </a:rPr>
                                      <m:t>𝑭</m:t>
                                    </m:r>
                                  </m:sup>
                                </m:sSubSup>
                                <m:r>
                                  <a:rPr lang="en-US" sz="1200" b="1" i="1">
                                    <a:latin typeface="Cambria Math"/>
                                  </a:rPr>
                                  <m:t>×</m:t>
                                </m:r>
                                <m:sSub>
                                  <m:sSubPr>
                                    <m:ctrlPr>
                                      <a:rPr lang="en-US" sz="1200" b="1" i="1">
                                        <a:latin typeface="Cambria Math"/>
                                      </a:rPr>
                                    </m:ctrlPr>
                                  </m:sSubPr>
                                  <m:e>
                                    <m:r>
                                      <a:rPr lang="en-US" sz="1200" b="1" i="1">
                                        <a:latin typeface="Cambria Math"/>
                                      </a:rPr>
                                      <m:t>𝑭</m:t>
                                    </m:r>
                                  </m:e>
                                  <m:sub>
                                    <m:r>
                                      <a:rPr lang="en-US" sz="1200" b="1" i="1">
                                        <a:latin typeface="Cambria Math"/>
                                      </a:rPr>
                                      <m:t>𝒕</m:t>
                                    </m:r>
                                  </m:sub>
                                </m:sSub>
                              </m:oMath>
                            </m:oMathPara>
                          </a14:m>
                          <a:endParaRPr lang="en-US" sz="1200" b="1" dirty="0"/>
                        </a:p>
                      </a:txBody>
                      <a:tcPr anchor="ctr">
                        <a:solidFill>
                          <a:schemeClr val="accent3"/>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200" b="1" i="1" smtClean="0">
                                        <a:latin typeface="Cambria Math"/>
                                      </a:rPr>
                                    </m:ctrlPr>
                                  </m:sSubPr>
                                  <m:e>
                                    <m:r>
                                      <a:rPr lang="en-US" sz="1200" b="1" i="1">
                                        <a:latin typeface="Cambria Math"/>
                                      </a:rPr>
                                      <m:t>𝜺</m:t>
                                    </m:r>
                                  </m:e>
                                  <m:sub>
                                    <m:r>
                                      <a:rPr lang="en-US" sz="1200" b="1" i="1">
                                        <a:latin typeface="Cambria Math"/>
                                      </a:rPr>
                                      <m:t>𝒕</m:t>
                                    </m:r>
                                  </m:sub>
                                </m:sSub>
                              </m:oMath>
                            </m:oMathPara>
                          </a14:m>
                          <a:endParaRPr lang="en-US" sz="1200" b="1" dirty="0"/>
                        </a:p>
                      </a:txBody>
                      <a:tcPr anchor="ctr">
                        <a:solidFill>
                          <a:schemeClr val="accent4"/>
                        </a:solidFill>
                      </a:tcPr>
                    </a:tc>
                  </a:tr>
                  <a:tr h="370840">
                    <a:tc>
                      <a:txBody>
                        <a:bodyPr/>
                        <a:lstStyle/>
                        <a:p>
                          <a:pPr algn="ctr"/>
                          <a:r>
                            <a:rPr lang="en-US" sz="1200" dirty="0" smtClean="0"/>
                            <a:t>General Market Movements</a:t>
                          </a:r>
                          <a:endParaRPr lang="en-US" sz="1200" dirty="0"/>
                        </a:p>
                      </a:txBody>
                      <a:tcPr anchor="ctr"/>
                    </a:tc>
                    <a:tc>
                      <a:txBody>
                        <a:bodyPr/>
                        <a:lstStyle/>
                        <a:p>
                          <a:pPr algn="ctr"/>
                          <a:r>
                            <a:rPr lang="en-US" sz="1200" dirty="0" smtClean="0"/>
                            <a:t>Industry Membership</a:t>
                          </a:r>
                          <a:endParaRPr lang="en-US" sz="1200" dirty="0"/>
                        </a:p>
                      </a:txBody>
                      <a:tcPr anchor="ctr"/>
                    </a:tc>
                    <a:tc>
                      <a:txBody>
                        <a:bodyPr/>
                        <a:lstStyle/>
                        <a:p>
                          <a:pPr algn="ctr"/>
                          <a:r>
                            <a:rPr lang="en-US" sz="1200" dirty="0" smtClean="0"/>
                            <a:t>Exposure to </a:t>
                          </a:r>
                        </a:p>
                        <a:p>
                          <a:pPr algn="ctr"/>
                          <a:r>
                            <a:rPr lang="en-US" sz="1200" dirty="0" smtClean="0"/>
                            <a:t>Systematic Factors</a:t>
                          </a:r>
                          <a:endParaRPr lang="en-US" sz="1200" dirty="0"/>
                        </a:p>
                      </a:txBody>
                      <a:tcPr anchor="ctr"/>
                    </a:tc>
                    <a:tc>
                      <a:txBody>
                        <a:bodyPr/>
                        <a:lstStyle/>
                        <a:p>
                          <a:pPr algn="ctr"/>
                          <a:r>
                            <a:rPr lang="en-US" sz="1200" dirty="0" smtClean="0"/>
                            <a:t>Firm-Specific Return</a:t>
                          </a:r>
                          <a:endParaRPr lang="en-US" sz="1200" dirty="0"/>
                        </a:p>
                      </a:txBody>
                      <a:tcPr anchor="ctr"/>
                    </a:tc>
                  </a:tr>
                  <a:tr h="370840">
                    <a:tc>
                      <a:txBody>
                        <a:bodyPr/>
                        <a:lstStyle/>
                        <a:p>
                          <a:r>
                            <a:rPr lang="en-US" sz="1200" kern="1200" dirty="0" smtClean="0">
                              <a:solidFill>
                                <a:schemeClr val="dk1"/>
                              </a:solidFill>
                              <a:effectLst/>
                              <a:latin typeface="+mn-lt"/>
                              <a:ea typeface="+mn-ea"/>
                              <a:cs typeface="+mn-cs"/>
                            </a:rPr>
                            <a:t>This portion of return is attributable to general market movements.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It consists of a market drift term α, which is the return that all stocks earn just for being a stock that month.</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Plus the incremental return associated with the stock’s normalized beta.</a:t>
                          </a:r>
                        </a:p>
                        <a:p>
                          <a:endParaRPr lang="en-US" sz="1200" dirty="0"/>
                        </a:p>
                      </a:txBody>
                      <a:tcPr/>
                    </a:tc>
                    <a:tc>
                      <a:txBody>
                        <a:bodyPr/>
                        <a:lstStyle/>
                        <a:p>
                          <a:r>
                            <a:rPr lang="en-US" sz="1200" kern="1200" dirty="0" smtClean="0">
                              <a:solidFill>
                                <a:schemeClr val="dk1"/>
                              </a:solidFill>
                              <a:effectLst/>
                              <a:latin typeface="+mn-lt"/>
                              <a:ea typeface="+mn-ea"/>
                              <a:cs typeface="+mn-cs"/>
                            </a:rPr>
                            <a:t>A portion of the return flows from the stock’s industry membership.</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This portion equals the returns attributable to industry membership after controlling for market movements and the</a:t>
                          </a:r>
                          <a:r>
                            <a:rPr lang="en-US" sz="1200" kern="1200" baseline="0" dirty="0" smtClean="0">
                              <a:solidFill>
                                <a:schemeClr val="dk1"/>
                              </a:solidFill>
                              <a:effectLst/>
                              <a:latin typeface="+mn-lt"/>
                              <a:ea typeface="+mn-ea"/>
                              <a:cs typeface="+mn-cs"/>
                            </a:rPr>
                            <a:t> market beta</a:t>
                          </a:r>
                          <a:r>
                            <a:rPr lang="en-US" sz="1200" kern="1200" dirty="0" smtClean="0">
                              <a:solidFill>
                                <a:schemeClr val="dk1"/>
                              </a:solidFill>
                              <a:effectLst/>
                              <a:latin typeface="+mn-lt"/>
                              <a:ea typeface="+mn-ea"/>
                              <a:cs typeface="+mn-cs"/>
                            </a:rPr>
                            <a:t> exposure.</a:t>
                          </a:r>
                        </a:p>
                      </a:txBody>
                      <a:tcPr/>
                    </a:tc>
                    <a:tc>
                      <a:txBody>
                        <a:bodyPr/>
                        <a:lstStyle/>
                        <a:p>
                          <a:r>
                            <a:rPr lang="en-US" sz="1200" kern="1200" dirty="0" smtClean="0">
                              <a:solidFill>
                                <a:schemeClr val="dk1"/>
                              </a:solidFill>
                              <a:effectLst/>
                              <a:latin typeface="+mn-lt"/>
                              <a:ea typeface="+mn-ea"/>
                              <a:cs typeface="+mn-cs"/>
                            </a:rPr>
                            <a:t>Returns from systematic factors arise from characteristics such as P/E, volatility, momentum, growth</a:t>
                          </a:r>
                          <a:r>
                            <a:rPr lang="en-US" sz="1200" kern="1200" baseline="0" dirty="0" smtClean="0">
                              <a:solidFill>
                                <a:schemeClr val="dk1"/>
                              </a:solidFill>
                              <a:effectLst/>
                              <a:latin typeface="+mn-lt"/>
                              <a:ea typeface="+mn-ea"/>
                              <a:cs typeface="+mn-cs"/>
                            </a:rPr>
                            <a:t> </a:t>
                          </a:r>
                          <a:r>
                            <a:rPr lang="en-US" sz="1200" kern="1200" dirty="0" smtClean="0">
                              <a:solidFill>
                                <a:schemeClr val="dk1"/>
                              </a:solidFill>
                              <a:effectLst/>
                              <a:latin typeface="+mn-lt"/>
                              <a:ea typeface="+mn-ea"/>
                              <a:cs typeface="+mn-cs"/>
                            </a:rPr>
                            <a:t>orientation, and capitalization.</a:t>
                          </a:r>
                        </a:p>
                        <a:p>
                          <a:endParaRPr lang="en-US" sz="1200" kern="1200" dirty="0" smtClean="0">
                            <a:solidFill>
                              <a:schemeClr val="dk1"/>
                            </a:solidFill>
                            <a:effectLst/>
                            <a:latin typeface="+mn-lt"/>
                            <a:ea typeface="+mn-ea"/>
                            <a:cs typeface="+mn-cs"/>
                          </a:endParaRPr>
                        </a:p>
                        <a:p>
                          <a:endParaRPr lang="en-US" sz="1200" kern="1200" dirty="0" smtClean="0">
                            <a:solidFill>
                              <a:schemeClr val="dk1"/>
                            </a:solidFill>
                            <a:effectLst/>
                            <a:latin typeface="+mn-lt"/>
                            <a:ea typeface="+mn-ea"/>
                            <a:cs typeface="+mn-cs"/>
                          </a:endParaRPr>
                        </a:p>
                      </a:txBody>
                      <a:tcPr/>
                    </a:tc>
                    <a:tc>
                      <a:txBody>
                        <a:bodyPr/>
                        <a:lstStyle/>
                        <a:p>
                          <a:r>
                            <a:rPr lang="en-US" sz="1200" kern="1200" dirty="0" smtClean="0">
                              <a:solidFill>
                                <a:schemeClr val="dk1"/>
                              </a:solidFill>
                              <a:effectLst/>
                              <a:latin typeface="+mn-lt"/>
                              <a:ea typeface="+mn-ea"/>
                              <a:cs typeface="+mn-cs"/>
                            </a:rPr>
                            <a:t>This portion is unrelated to general market moves, industry membership, or systematic factors.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ε is therefore unique or specific to the company. </a:t>
                          </a:r>
                        </a:p>
                        <a:p>
                          <a:endParaRPr lang="en-US" sz="1200" kern="1200" dirty="0" smtClean="0">
                            <a:solidFill>
                              <a:schemeClr val="dk1"/>
                            </a:solidFill>
                            <a:effectLst/>
                            <a:latin typeface="+mn-lt"/>
                            <a:ea typeface="+mn-ea"/>
                            <a:cs typeface="+mn-cs"/>
                          </a:endParaRPr>
                        </a:p>
                      </a:txBody>
                      <a:tcPr/>
                    </a:tc>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504691492"/>
                  </p:ext>
                </p:extLst>
              </p:nvPr>
            </p:nvGraphicFramePr>
            <p:xfrm>
              <a:off x="2864970" y="2509520"/>
              <a:ext cx="6799348" cy="3662680"/>
            </p:xfrm>
            <a:graphic>
              <a:graphicData uri="http://schemas.openxmlformats.org/drawingml/2006/table">
                <a:tbl>
                  <a:tblPr firstRow="1" bandRow="1">
                    <a:tableStyleId>{5C22544A-7EE6-4342-B048-85BDC9FD1C3A}</a:tableStyleId>
                  </a:tblPr>
                  <a:tblGrid>
                    <a:gridCol w="1699837"/>
                    <a:gridCol w="1699837"/>
                    <a:gridCol w="1699837"/>
                    <a:gridCol w="1699837"/>
                  </a:tblGrid>
                  <a:tr h="370840">
                    <a:tc>
                      <a:txBody>
                        <a:bodyPr/>
                        <a:lstStyle/>
                        <a:p>
                          <a:endParaRPr lang="en-US"/>
                        </a:p>
                      </a:txBody>
                      <a:tcPr anchor="ctr">
                        <a:blipFill rotWithShape="1">
                          <a:blip r:embed="rId4"/>
                          <a:stretch>
                            <a:fillRect l="-358" t="-1639" r="-300000" b="-885246"/>
                          </a:stretch>
                        </a:blipFill>
                      </a:tcPr>
                    </a:tc>
                    <a:tc>
                      <a:txBody>
                        <a:bodyPr/>
                        <a:lstStyle/>
                        <a:p>
                          <a:endParaRPr lang="en-US"/>
                        </a:p>
                      </a:txBody>
                      <a:tcPr anchor="ctr">
                        <a:blipFill rotWithShape="1">
                          <a:blip r:embed="rId4"/>
                          <a:stretch>
                            <a:fillRect l="-100358" t="-1639" r="-200000" b="-885246"/>
                          </a:stretch>
                        </a:blipFill>
                      </a:tcPr>
                    </a:tc>
                    <a:tc>
                      <a:txBody>
                        <a:bodyPr/>
                        <a:lstStyle/>
                        <a:p>
                          <a:endParaRPr lang="en-US"/>
                        </a:p>
                      </a:txBody>
                      <a:tcPr anchor="ctr">
                        <a:blipFill rotWithShape="1">
                          <a:blip r:embed="rId4"/>
                          <a:stretch>
                            <a:fillRect l="-201079" t="-1639" r="-100719" b="-885246"/>
                          </a:stretch>
                        </a:blipFill>
                      </a:tcPr>
                    </a:tc>
                    <a:tc>
                      <a:txBody>
                        <a:bodyPr/>
                        <a:lstStyle/>
                        <a:p>
                          <a:endParaRPr lang="en-US"/>
                        </a:p>
                      </a:txBody>
                      <a:tcPr anchor="ctr">
                        <a:blipFill rotWithShape="1">
                          <a:blip r:embed="rId4"/>
                          <a:stretch>
                            <a:fillRect l="-300000" t="-1639" r="-358" b="-885246"/>
                          </a:stretch>
                        </a:blipFill>
                      </a:tcPr>
                    </a:tc>
                  </a:tr>
                  <a:tr h="457200">
                    <a:tc>
                      <a:txBody>
                        <a:bodyPr/>
                        <a:lstStyle/>
                        <a:p>
                          <a:pPr algn="ctr"/>
                          <a:r>
                            <a:rPr lang="en-US" sz="1200" dirty="0" smtClean="0"/>
                            <a:t>General Market Movements</a:t>
                          </a:r>
                          <a:endParaRPr lang="en-US" sz="1200" dirty="0"/>
                        </a:p>
                      </a:txBody>
                      <a:tcPr anchor="ctr"/>
                    </a:tc>
                    <a:tc>
                      <a:txBody>
                        <a:bodyPr/>
                        <a:lstStyle/>
                        <a:p>
                          <a:pPr algn="ctr"/>
                          <a:r>
                            <a:rPr lang="en-US" sz="1200" dirty="0" smtClean="0"/>
                            <a:t>Industry Membership</a:t>
                          </a:r>
                          <a:endParaRPr lang="en-US" sz="1200" dirty="0"/>
                        </a:p>
                      </a:txBody>
                      <a:tcPr anchor="ctr"/>
                    </a:tc>
                    <a:tc>
                      <a:txBody>
                        <a:bodyPr/>
                        <a:lstStyle/>
                        <a:p>
                          <a:pPr algn="ctr"/>
                          <a:r>
                            <a:rPr lang="en-US" sz="1200" dirty="0" smtClean="0"/>
                            <a:t>Exposure to </a:t>
                          </a:r>
                        </a:p>
                        <a:p>
                          <a:pPr algn="ctr"/>
                          <a:r>
                            <a:rPr lang="en-US" sz="1200" dirty="0" smtClean="0"/>
                            <a:t>Systematic Factors</a:t>
                          </a:r>
                          <a:endParaRPr lang="en-US" sz="1200" dirty="0"/>
                        </a:p>
                      </a:txBody>
                      <a:tcPr anchor="ctr"/>
                    </a:tc>
                    <a:tc>
                      <a:txBody>
                        <a:bodyPr/>
                        <a:lstStyle/>
                        <a:p>
                          <a:pPr algn="ctr"/>
                          <a:r>
                            <a:rPr lang="en-US" sz="1200" dirty="0" smtClean="0"/>
                            <a:t>Firm-Specific Return</a:t>
                          </a:r>
                          <a:endParaRPr lang="en-US" sz="1200" dirty="0"/>
                        </a:p>
                      </a:txBody>
                      <a:tcPr anchor="ctr"/>
                    </a:tc>
                  </a:tr>
                  <a:tr h="2834640">
                    <a:tc>
                      <a:txBody>
                        <a:bodyPr/>
                        <a:lstStyle/>
                        <a:p>
                          <a:r>
                            <a:rPr lang="en-US" sz="1200" kern="1200" dirty="0" smtClean="0">
                              <a:solidFill>
                                <a:schemeClr val="dk1"/>
                              </a:solidFill>
                              <a:effectLst/>
                              <a:latin typeface="+mn-lt"/>
                              <a:ea typeface="+mn-ea"/>
                              <a:cs typeface="+mn-cs"/>
                            </a:rPr>
                            <a:t>This portion of return is attributable to general market movements.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It consists of a market drift term α, which is the return that all stocks earn just for being a stock that month.</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Plus the incremental return associated with the stock’s normalized beta.</a:t>
                          </a:r>
                        </a:p>
                        <a:p>
                          <a:endParaRPr lang="en-US" sz="1200" dirty="0"/>
                        </a:p>
                      </a:txBody>
                      <a:tcPr/>
                    </a:tc>
                    <a:tc>
                      <a:txBody>
                        <a:bodyPr/>
                        <a:lstStyle/>
                        <a:p>
                          <a:r>
                            <a:rPr lang="en-US" sz="1200" kern="1200" dirty="0" smtClean="0">
                              <a:solidFill>
                                <a:schemeClr val="dk1"/>
                              </a:solidFill>
                              <a:effectLst/>
                              <a:latin typeface="+mn-lt"/>
                              <a:ea typeface="+mn-ea"/>
                              <a:cs typeface="+mn-cs"/>
                            </a:rPr>
                            <a:t>A portion of the return flows from the stock’s industry membership.</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This portion equals the returns attributable to industry membership after controlling for market movements and the</a:t>
                          </a:r>
                          <a:r>
                            <a:rPr lang="en-US" sz="1200" kern="1200" baseline="0" dirty="0" smtClean="0">
                              <a:solidFill>
                                <a:schemeClr val="dk1"/>
                              </a:solidFill>
                              <a:effectLst/>
                              <a:latin typeface="+mn-lt"/>
                              <a:ea typeface="+mn-ea"/>
                              <a:cs typeface="+mn-cs"/>
                            </a:rPr>
                            <a:t> market beta</a:t>
                          </a:r>
                          <a:r>
                            <a:rPr lang="en-US" sz="1200" kern="1200" dirty="0" smtClean="0">
                              <a:solidFill>
                                <a:schemeClr val="dk1"/>
                              </a:solidFill>
                              <a:effectLst/>
                              <a:latin typeface="+mn-lt"/>
                              <a:ea typeface="+mn-ea"/>
                              <a:cs typeface="+mn-cs"/>
                            </a:rPr>
                            <a:t> exposure.</a:t>
                          </a:r>
                        </a:p>
                      </a:txBody>
                      <a:tcPr/>
                    </a:tc>
                    <a:tc>
                      <a:txBody>
                        <a:bodyPr/>
                        <a:lstStyle/>
                        <a:p>
                          <a:r>
                            <a:rPr lang="en-US" sz="1200" kern="1200" dirty="0" smtClean="0">
                              <a:solidFill>
                                <a:schemeClr val="dk1"/>
                              </a:solidFill>
                              <a:effectLst/>
                              <a:latin typeface="+mn-lt"/>
                              <a:ea typeface="+mn-ea"/>
                              <a:cs typeface="+mn-cs"/>
                            </a:rPr>
                            <a:t>Returns from systematic factors arise from characteristics such as P/E, volatility, momentum, growth</a:t>
                          </a:r>
                          <a:r>
                            <a:rPr lang="en-US" sz="1200" kern="1200" baseline="0" dirty="0" smtClean="0">
                              <a:solidFill>
                                <a:schemeClr val="dk1"/>
                              </a:solidFill>
                              <a:effectLst/>
                              <a:latin typeface="+mn-lt"/>
                              <a:ea typeface="+mn-ea"/>
                              <a:cs typeface="+mn-cs"/>
                            </a:rPr>
                            <a:t> </a:t>
                          </a:r>
                          <a:r>
                            <a:rPr lang="en-US" sz="1200" kern="1200" dirty="0" smtClean="0">
                              <a:solidFill>
                                <a:schemeClr val="dk1"/>
                              </a:solidFill>
                              <a:effectLst/>
                              <a:latin typeface="+mn-lt"/>
                              <a:ea typeface="+mn-ea"/>
                              <a:cs typeface="+mn-cs"/>
                            </a:rPr>
                            <a:t>orientation, and capitalization.</a:t>
                          </a:r>
                        </a:p>
                        <a:p>
                          <a:endParaRPr lang="en-US" sz="1200" kern="1200" dirty="0" smtClean="0">
                            <a:solidFill>
                              <a:schemeClr val="dk1"/>
                            </a:solidFill>
                            <a:effectLst/>
                            <a:latin typeface="+mn-lt"/>
                            <a:ea typeface="+mn-ea"/>
                            <a:cs typeface="+mn-cs"/>
                          </a:endParaRPr>
                        </a:p>
                        <a:p>
                          <a:endParaRPr lang="en-US" sz="1200" kern="1200" dirty="0" smtClean="0">
                            <a:solidFill>
                              <a:schemeClr val="dk1"/>
                            </a:solidFill>
                            <a:effectLst/>
                            <a:latin typeface="+mn-lt"/>
                            <a:ea typeface="+mn-ea"/>
                            <a:cs typeface="+mn-cs"/>
                          </a:endParaRPr>
                        </a:p>
                      </a:txBody>
                      <a:tcPr/>
                    </a:tc>
                    <a:tc>
                      <a:txBody>
                        <a:bodyPr/>
                        <a:lstStyle/>
                        <a:p>
                          <a:r>
                            <a:rPr lang="en-US" sz="1200" kern="1200" dirty="0" smtClean="0">
                              <a:solidFill>
                                <a:schemeClr val="dk1"/>
                              </a:solidFill>
                              <a:effectLst/>
                              <a:latin typeface="+mn-lt"/>
                              <a:ea typeface="+mn-ea"/>
                              <a:cs typeface="+mn-cs"/>
                            </a:rPr>
                            <a:t>This portion is unrelated to general market moves, industry membership, or systematic factors. </a:t>
                          </a:r>
                        </a:p>
                        <a:p>
                          <a:endParaRPr lang="en-US" sz="1200" kern="1200" dirty="0" smtClean="0">
                            <a:solidFill>
                              <a:schemeClr val="dk1"/>
                            </a:solidFill>
                            <a:effectLst/>
                            <a:latin typeface="+mn-lt"/>
                            <a:ea typeface="+mn-ea"/>
                            <a:cs typeface="+mn-cs"/>
                          </a:endParaRPr>
                        </a:p>
                        <a:p>
                          <a:r>
                            <a:rPr lang="en-US" sz="1200" kern="1200" dirty="0" smtClean="0">
                              <a:solidFill>
                                <a:schemeClr val="dk1"/>
                              </a:solidFill>
                              <a:effectLst/>
                              <a:latin typeface="+mn-lt"/>
                              <a:ea typeface="+mn-ea"/>
                              <a:cs typeface="+mn-cs"/>
                            </a:rPr>
                            <a:t>ε is therefore unique or specific to the company. </a:t>
                          </a:r>
                        </a:p>
                        <a:p>
                          <a:endParaRPr lang="en-US" sz="1200" kern="1200" dirty="0" smtClean="0">
                            <a:solidFill>
                              <a:schemeClr val="dk1"/>
                            </a:solidFill>
                            <a:effectLst/>
                            <a:latin typeface="+mn-lt"/>
                            <a:ea typeface="+mn-ea"/>
                            <a:cs typeface="+mn-cs"/>
                          </a:endParaRPr>
                        </a:p>
                      </a:txBody>
                      <a:tcPr/>
                    </a:tc>
                  </a:tr>
                </a:tbl>
              </a:graphicData>
            </a:graphic>
          </p:graphicFrame>
        </mc:Fallback>
      </mc:AlternateContent>
      <p:cxnSp>
        <p:nvCxnSpPr>
          <p:cNvPr id="61" name="Straight Connector 60"/>
          <p:cNvCxnSpPr/>
          <p:nvPr/>
        </p:nvCxnSpPr>
        <p:spPr>
          <a:xfrm>
            <a:off x="6096000" y="2218703"/>
            <a:ext cx="914400" cy="0"/>
          </a:xfrm>
          <a:prstGeom prst="line">
            <a:avLst/>
          </a:prstGeom>
          <a:ln w="28575">
            <a:solidFill>
              <a:schemeClr val="accent2"/>
            </a:solidFill>
          </a:ln>
        </p:spPr>
        <p:style>
          <a:lnRef idx="1">
            <a:schemeClr val="accent3"/>
          </a:lnRef>
          <a:fillRef idx="0">
            <a:schemeClr val="accent3"/>
          </a:fillRef>
          <a:effectRef idx="0">
            <a:schemeClr val="accent3"/>
          </a:effectRef>
          <a:fontRef idx="minor">
            <a:schemeClr val="tx1"/>
          </a:fontRef>
        </p:style>
      </p:cxnSp>
      <p:cxnSp>
        <p:nvCxnSpPr>
          <p:cNvPr id="62" name="Straight Connector 61"/>
          <p:cNvCxnSpPr/>
          <p:nvPr/>
        </p:nvCxnSpPr>
        <p:spPr>
          <a:xfrm>
            <a:off x="4191000" y="2218703"/>
            <a:ext cx="13716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cxnSp>
        <p:nvCxnSpPr>
          <p:cNvPr id="64" name="Straight Connector 63"/>
          <p:cNvCxnSpPr/>
          <p:nvPr/>
        </p:nvCxnSpPr>
        <p:spPr>
          <a:xfrm>
            <a:off x="7467600" y="2218703"/>
            <a:ext cx="9906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68" name="Straight Connector 67"/>
          <p:cNvCxnSpPr/>
          <p:nvPr/>
        </p:nvCxnSpPr>
        <p:spPr>
          <a:xfrm>
            <a:off x="8858436" y="2218703"/>
            <a:ext cx="512859" cy="0"/>
          </a:xfrm>
          <a:prstGeom prst="line">
            <a:avLst/>
          </a:prstGeom>
          <a:ln w="28575">
            <a:solidFill>
              <a:schemeClr val="accent4"/>
            </a:solidFill>
          </a:ln>
        </p:spPr>
        <p:style>
          <a:lnRef idx="1">
            <a:schemeClr val="accent3"/>
          </a:lnRef>
          <a:fillRef idx="0">
            <a:schemeClr val="accent3"/>
          </a:fillRef>
          <a:effectRef idx="0">
            <a:schemeClr val="accent3"/>
          </a:effectRef>
          <a:fontRef idx="minor">
            <a:schemeClr val="tx1"/>
          </a:fontRef>
        </p:style>
      </p:cxnSp>
      <p:sp>
        <p:nvSpPr>
          <p:cNvPr id="22" name="TextBox 21"/>
          <p:cNvSpPr txBox="1"/>
          <p:nvPr/>
        </p:nvSpPr>
        <p:spPr>
          <a:xfrm>
            <a:off x="4419600" y="1139690"/>
            <a:ext cx="3733800" cy="400110"/>
          </a:xfrm>
          <a:prstGeom prst="rect">
            <a:avLst/>
          </a:prstGeom>
          <a:solidFill>
            <a:schemeClr val="bg1"/>
          </a:solidFill>
        </p:spPr>
        <p:txBody>
          <a:bodyPr wrap="square" rtlCol="0" anchor="ctr">
            <a:spAutoFit/>
          </a:bodyPr>
          <a:lstStyle/>
          <a:p>
            <a:pPr algn="ctr"/>
            <a:r>
              <a:rPr lang="en-US" dirty="0" smtClean="0"/>
              <a:t>4 Components of Equity Returns</a:t>
            </a:r>
            <a:endParaRPr lang="en-US" dirty="0"/>
          </a:p>
        </p:txBody>
      </p:sp>
    </p:spTree>
    <p:extLst>
      <p:ext uri="{BB962C8B-B14F-4D97-AF65-F5344CB8AC3E}">
        <p14:creationId xmlns:p14="http://schemas.microsoft.com/office/powerpoint/2010/main" val="243176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31046"/>
            <a:ext cx="2090849" cy="307777"/>
          </a:xfrm>
          <a:prstGeom prst="rect">
            <a:avLst/>
          </a:prstGeom>
          <a:noFill/>
        </p:spPr>
        <p:txBody>
          <a:bodyPr wrap="square" rtlCol="0">
            <a:spAutoFit/>
          </a:bodyPr>
          <a:lstStyle/>
          <a:p>
            <a:r>
              <a:rPr lang="en-US" sz="1400" b="1" dirty="0" smtClean="0"/>
              <a:t>Etude Components</a:t>
            </a:r>
            <a:endParaRPr lang="en-US" sz="1400" b="1" dirty="0"/>
          </a:p>
        </p:txBody>
      </p:sp>
      <p:grpSp>
        <p:nvGrpSpPr>
          <p:cNvPr id="42" name="Group 41"/>
          <p:cNvGrpSpPr/>
          <p:nvPr/>
        </p:nvGrpSpPr>
        <p:grpSpPr>
          <a:xfrm>
            <a:off x="2514600" y="1447800"/>
            <a:ext cx="6943477" cy="3259372"/>
            <a:chOff x="2743200" y="1708150"/>
            <a:chExt cx="4201264" cy="2641971"/>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64251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23691"/>
            </a:xfrm>
            <a:prstGeom prst="rect">
              <a:avLst/>
            </a:prstGeom>
            <a:noFill/>
          </p:spPr>
          <p:txBody>
            <a:bodyPr wrap="square" rtlCol="0">
              <a:spAutoFit/>
            </a:bodyPr>
            <a:lstStyle/>
            <a:p>
              <a:r>
                <a:rPr lang="en-US" sz="1100" b="1" dirty="0" smtClean="0"/>
                <a:t>Property, Loan and Securities Database</a:t>
              </a:r>
            </a:p>
            <a:p>
              <a:pPr marL="171450" indent="-171450">
                <a:buFont typeface="Arial" panose="020B0604020202020204" pitchFamily="34" charset="0"/>
                <a:buChar char="•"/>
              </a:pPr>
              <a:r>
                <a:rPr lang="en-US" sz="1100" dirty="0" smtClean="0"/>
                <a:t>Property-level data</a:t>
              </a:r>
            </a:p>
            <a:p>
              <a:pPr marL="171450" indent="-171450">
                <a:buFont typeface="Arial" panose="020B0604020202020204" pitchFamily="34" charset="0"/>
                <a:buChar char="•"/>
              </a:pPr>
              <a:r>
                <a:rPr lang="en-US" sz="1100" dirty="0" smtClean="0"/>
                <a:t>Loan-level data</a:t>
              </a:r>
            </a:p>
            <a:p>
              <a:pPr marL="171450" indent="-171450">
                <a:buFont typeface="Arial" panose="020B0604020202020204" pitchFamily="34" charset="0"/>
                <a:buChar char="•"/>
              </a:pPr>
              <a:r>
                <a:rPr lang="en-US" sz="1100" dirty="0" smtClean="0"/>
                <a:t>CMBS Deals</a:t>
              </a:r>
              <a:endParaRPr lang="en-US" sz="1100" dirty="0"/>
            </a:p>
          </p:txBody>
        </p:sp>
        <p:sp>
          <p:nvSpPr>
            <p:cNvPr id="29" name="TextBox 28"/>
            <p:cNvSpPr txBox="1"/>
            <p:nvPr/>
          </p:nvSpPr>
          <p:spPr>
            <a:xfrm>
              <a:off x="2743200" y="2393864"/>
              <a:ext cx="4191000" cy="623691"/>
            </a:xfrm>
            <a:prstGeom prst="rect">
              <a:avLst/>
            </a:prstGeom>
            <a:noFill/>
          </p:spPr>
          <p:txBody>
            <a:bodyPr wrap="square" rtlCol="0">
              <a:spAutoFit/>
            </a:bodyPr>
            <a:lstStyle/>
            <a:p>
              <a:r>
                <a:rPr lang="en-US" sz="1100" b="1" dirty="0" smtClean="0"/>
                <a:t>Property and Loan-Level Reviews</a:t>
              </a:r>
              <a:endParaRPr lang="en-US" sz="1100" b="1" dirty="0"/>
            </a:p>
            <a:p>
              <a:pPr marL="171450" indent="-171450">
                <a:buFont typeface="Arial" panose="020B0604020202020204" pitchFamily="34" charset="0"/>
                <a:buChar char="•"/>
              </a:pPr>
              <a:r>
                <a:rPr lang="en-US" sz="1100" dirty="0" smtClean="0"/>
                <a:t>Property conditions: Financials &amp; Physical Inspections (where appropriate)</a:t>
              </a:r>
            </a:p>
            <a:p>
              <a:pPr marL="171450" indent="-171450">
                <a:buFont typeface="Arial" panose="020B0604020202020204" pitchFamily="34" charset="0"/>
                <a:buChar char="•"/>
              </a:pPr>
              <a:r>
                <a:rPr lang="en-US" sz="1100" dirty="0" smtClean="0"/>
                <a:t>Qualitative underwriting review for large, delinquent, or special serviced loans</a:t>
              </a:r>
            </a:p>
            <a:p>
              <a:pPr marL="171450" indent="-171450">
                <a:buFont typeface="Arial" panose="020B0604020202020204" pitchFamily="34" charset="0"/>
                <a:buChar char="•"/>
              </a:pPr>
              <a:r>
                <a:rPr lang="en-US" sz="1100" dirty="0" smtClean="0"/>
                <a:t>Quantitative vetting for all other loans</a:t>
              </a:r>
              <a:endParaRPr lang="en-US" sz="1100" dirty="0"/>
            </a:p>
          </p:txBody>
        </p:sp>
        <p:sp>
          <p:nvSpPr>
            <p:cNvPr id="30" name="TextBox 29"/>
            <p:cNvSpPr txBox="1"/>
            <p:nvPr/>
          </p:nvSpPr>
          <p:spPr>
            <a:xfrm>
              <a:off x="2747851" y="3067001"/>
              <a:ext cx="4191000" cy="623691"/>
            </a:xfrm>
            <a:prstGeom prst="rect">
              <a:avLst/>
            </a:prstGeom>
            <a:noFill/>
          </p:spPr>
          <p:txBody>
            <a:bodyPr wrap="square" rtlCol="0">
              <a:spAutoFit/>
            </a:bodyPr>
            <a:lstStyle/>
            <a:p>
              <a:r>
                <a:rPr lang="en-US" sz="1100" b="1" dirty="0" smtClean="0"/>
                <a:t>Model Assumptions</a:t>
              </a:r>
            </a:p>
            <a:p>
              <a:pPr marL="171450" indent="-171450">
                <a:buFont typeface="Arial" panose="020B0604020202020204" pitchFamily="34" charset="0"/>
                <a:buChar char="•"/>
              </a:pPr>
              <a:r>
                <a:rPr lang="en-US" sz="1100" dirty="0" smtClean="0"/>
                <a:t>NOI and Cap rate forecasts</a:t>
              </a:r>
            </a:p>
            <a:p>
              <a:pPr marL="171450" indent="-171450">
                <a:buFont typeface="Arial" panose="020B0604020202020204" pitchFamily="34" charset="0"/>
                <a:buChar char="•"/>
              </a:pPr>
              <a:r>
                <a:rPr lang="en-US" sz="1100" dirty="0" smtClean="0"/>
                <a:t>Default triggers (e.g. DSCR levels)</a:t>
              </a:r>
            </a:p>
            <a:p>
              <a:pPr marL="171450" indent="-171450">
                <a:buFont typeface="Arial" panose="020B0604020202020204" pitchFamily="34" charset="0"/>
                <a:buChar char="•"/>
              </a:pPr>
              <a:r>
                <a:rPr lang="en-US" sz="1100" dirty="0" smtClean="0"/>
                <a:t>Extension parameters</a:t>
              </a:r>
              <a:endParaRPr lang="en-US" sz="1100" dirty="0"/>
            </a:p>
          </p:txBody>
        </p:sp>
        <p:sp>
          <p:nvSpPr>
            <p:cNvPr id="31" name="TextBox 30"/>
            <p:cNvSpPr txBox="1"/>
            <p:nvPr/>
          </p:nvSpPr>
          <p:spPr>
            <a:xfrm>
              <a:off x="2753464" y="3710440"/>
              <a:ext cx="4191000" cy="623691"/>
            </a:xfrm>
            <a:prstGeom prst="rect">
              <a:avLst/>
            </a:prstGeom>
            <a:noFill/>
          </p:spPr>
          <p:txBody>
            <a:bodyPr wrap="square" rtlCol="0">
              <a:spAutoFit/>
            </a:bodyPr>
            <a:lstStyle/>
            <a:p>
              <a:r>
                <a:rPr lang="en-US" sz="1100" b="1" dirty="0" smtClean="0"/>
                <a:t>Loan Cash Flow and Outcome Projections</a:t>
              </a:r>
            </a:p>
            <a:p>
              <a:pPr marL="171450" indent="-171450">
                <a:buFont typeface="Arial" panose="020B0604020202020204" pitchFamily="34" charset="0"/>
                <a:buChar char="•"/>
              </a:pPr>
              <a:r>
                <a:rPr lang="en-US" sz="1100" dirty="0" smtClean="0"/>
                <a:t>Cash flow and outcome estimates for each loan</a:t>
              </a:r>
            </a:p>
            <a:p>
              <a:pPr marL="171450" indent="-171450">
                <a:buFont typeface="Arial" panose="020B0604020202020204" pitchFamily="34" charset="0"/>
                <a:buChar char="•"/>
              </a:pPr>
              <a:r>
                <a:rPr lang="en-US" sz="1100" dirty="0" smtClean="0"/>
                <a:t>Outcomes include: Payoff/Term Default/Maturity Default/Extension</a:t>
              </a:r>
            </a:p>
            <a:p>
              <a:pPr marL="171450" indent="-171450">
                <a:buFont typeface="Arial" panose="020B0604020202020204" pitchFamily="34" charset="0"/>
                <a:buChar char="•"/>
              </a:pPr>
              <a:r>
                <a:rPr lang="en-US" sz="1100" dirty="0" smtClean="0"/>
                <a:t>Scenario analysis</a:t>
              </a:r>
              <a:endParaRPr lang="en-US" sz="1100" dirty="0"/>
            </a:p>
          </p:txBody>
        </p:sp>
        <p:sp>
          <p:nvSpPr>
            <p:cNvPr id="32" name="TextBox 31"/>
            <p:cNvSpPr txBox="1"/>
            <p:nvPr/>
          </p:nvSpPr>
          <p:spPr>
            <a:xfrm>
              <a:off x="4956291" y="3239409"/>
              <a:ext cx="1676400" cy="34926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Workout Periods/Costs</a:t>
              </a:r>
            </a:p>
            <a:p>
              <a:pPr marL="171450" indent="-171450">
                <a:buFont typeface="Arial" panose="020B0604020202020204" pitchFamily="34" charset="0"/>
                <a:buChar char="•"/>
              </a:pPr>
              <a:r>
                <a:rPr lang="en-US" sz="1100" dirty="0" smtClean="0"/>
                <a:t>Other model parameters</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991099"/>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953000"/>
            <a:ext cx="1642795" cy="246221"/>
          </a:xfrm>
          <a:prstGeom prst="rect">
            <a:avLst/>
          </a:prstGeom>
          <a:noFill/>
        </p:spPr>
        <p:txBody>
          <a:bodyPr wrap="square" rtlCol="0">
            <a:spAutoFit/>
          </a:bodyPr>
          <a:lstStyle/>
          <a:p>
            <a:pPr algn="ctr"/>
            <a:r>
              <a:rPr lang="en-US" sz="1000" dirty="0" smtClean="0">
                <a:solidFill>
                  <a:schemeClr val="bg1"/>
                </a:solidFill>
              </a:rPr>
              <a:t>Property and Loan Trends</a:t>
            </a:r>
            <a:endParaRPr lang="en-US" sz="1000" dirty="0">
              <a:solidFill>
                <a:schemeClr val="bg1"/>
              </a:solidFill>
            </a:endParaRPr>
          </a:p>
        </p:txBody>
      </p:sp>
      <p:sp>
        <p:nvSpPr>
          <p:cNvPr id="51" name="TextBox 50"/>
          <p:cNvSpPr txBox="1"/>
          <p:nvPr/>
        </p:nvSpPr>
        <p:spPr>
          <a:xfrm>
            <a:off x="2503340" y="5403852"/>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680851"/>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770996"/>
            <a:ext cx="6962775"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Develop scenario forecasts for the evolution of NOI, Cap Rates, Rents, and Vacancies</a:t>
            </a:r>
          </a:p>
          <a:p>
            <a:pPr marL="171450" indent="-171450">
              <a:buFont typeface="Arial" panose="020B0604020202020204" pitchFamily="34" charset="0"/>
              <a:buChar char="•"/>
            </a:pPr>
            <a:r>
              <a:rPr lang="en-US" sz="1200" dirty="0" smtClean="0"/>
              <a:t>The Investment Process is not totally subordinate to history and incorporates market expectations into the decision-making process  </a:t>
            </a:r>
          </a:p>
          <a:p>
            <a:pPr marL="171450" indent="-171450">
              <a:buFont typeface="Arial" panose="020B0604020202020204" pitchFamily="34" charset="0"/>
              <a:buChar char="•"/>
            </a:pP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framework provides a systematic way to track and forecast property- and loan-level metrics at a micro- and macro-level.</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outputs of this framework provide a foundation for the detailed credit work needed to address idiosyncratic issues. </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0895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380602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reit</a:t>
            </a:r>
            <a:r>
              <a:rPr lang="en-US" dirty="0" smtClean="0"/>
              <a:t> VALUATION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REIT valuation model relies on the CRE modeling framework to project NOIs and Cap Rates at a granular level corresponding to the real estate that the REIT holds.</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Valuation metrics considered in the analysis include EBITDA, FFO, AFFO etc. </a:t>
            </a:r>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graphicFrame>
        <p:nvGraphicFramePr>
          <p:cNvPr id="3" name="Table 2"/>
          <p:cNvGraphicFramePr>
            <a:graphicFrameLocks noGrp="1"/>
          </p:cNvGraphicFramePr>
          <p:nvPr>
            <p:extLst>
              <p:ext uri="{D42A27DB-BD31-4B8C-83A1-F6EECF244321}">
                <p14:modId xmlns:p14="http://schemas.microsoft.com/office/powerpoint/2010/main" val="2234952876"/>
              </p:ext>
            </p:extLst>
          </p:nvPr>
        </p:nvGraphicFramePr>
        <p:xfrm>
          <a:off x="3048001" y="1689216"/>
          <a:ext cx="6432548" cy="4648198"/>
        </p:xfrm>
        <a:graphic>
          <a:graphicData uri="http://schemas.openxmlformats.org/drawingml/2006/table">
            <a:tbl>
              <a:tblPr/>
              <a:tblGrid>
                <a:gridCol w="2410355"/>
                <a:gridCol w="681528"/>
                <a:gridCol w="2664075"/>
                <a:gridCol w="676590"/>
              </a:tblGrid>
              <a:tr h="315636">
                <a:tc gridSpan="2">
                  <a:txBody>
                    <a:bodyPr/>
                    <a:lstStyle/>
                    <a:p>
                      <a:pPr algn="ctr" fontAlgn="b"/>
                      <a:r>
                        <a:rPr lang="en-US" sz="1400" b="1" i="0" u="none" strike="noStrike" dirty="0">
                          <a:solidFill>
                            <a:srgbClr val="FFFFFF"/>
                          </a:solidFill>
                          <a:effectLst/>
                          <a:latin typeface="Calibri"/>
                        </a:rPr>
                        <a:t>Direct Property</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hMerge="1">
                  <a:txBody>
                    <a:bodyPr/>
                    <a:lstStyle/>
                    <a:p>
                      <a:endParaRPr lang="en-US"/>
                    </a:p>
                  </a:txBody>
                  <a:tcPr/>
                </a:tc>
                <a:tc gridSpan="2">
                  <a:txBody>
                    <a:bodyPr/>
                    <a:lstStyle/>
                    <a:p>
                      <a:pPr algn="ctr" fontAlgn="b"/>
                      <a:r>
                        <a:rPr lang="en-US" sz="1400" b="1" i="0" u="none" strike="noStrike" dirty="0">
                          <a:solidFill>
                            <a:srgbClr val="FFFFFF"/>
                          </a:solidFill>
                          <a:effectLst/>
                          <a:latin typeface="Calibri"/>
                        </a:rPr>
                        <a:t>REIT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hMerge="1">
                  <a:txBody>
                    <a:bodyPr/>
                    <a:lstStyle/>
                    <a:p>
                      <a:endParaRPr lang="en-US"/>
                    </a:p>
                  </a:txBody>
                  <a:tcPr/>
                </a:tc>
              </a:tr>
              <a:tr h="272471">
                <a:tc>
                  <a:txBody>
                    <a:bodyPr/>
                    <a:lstStyle/>
                    <a:p>
                      <a:pPr algn="l" fontAlgn="b"/>
                      <a:r>
                        <a:rPr lang="en-US" sz="1200" b="0" i="0" u="none" strike="noStrike" dirty="0">
                          <a:solidFill>
                            <a:srgbClr val="000000"/>
                          </a:solidFill>
                          <a:effectLst/>
                          <a:latin typeface="Calibri"/>
                        </a:rPr>
                        <a:t>Potential Gross Income (PGI)</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180</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Potential Gross Income (PGI)</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180</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Vacancy</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dirty="0">
                          <a:solidFill>
                            <a:srgbClr val="000000"/>
                          </a:solidFill>
                          <a:effectLst/>
                          <a:latin typeface="Calibri"/>
                        </a:rPr>
                        <a:t>-9</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l" fontAlgn="b"/>
                      <a:r>
                        <a:rPr lang="en-US" sz="1200" b="0" i="0" u="none" strike="noStrike">
                          <a:solidFill>
                            <a:srgbClr val="000000"/>
                          </a:solidFill>
                          <a:effectLst/>
                          <a:latin typeface="Calibri"/>
                        </a:rPr>
                        <a:t>Vacancy</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-9</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Operating Expenses</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dirty="0">
                          <a:solidFill>
                            <a:srgbClr val="000000"/>
                          </a:solidFill>
                          <a:effectLst/>
                          <a:latin typeface="Calibri"/>
                        </a:rPr>
                        <a:t>-71</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0" i="0" u="none" strike="noStrike">
                          <a:solidFill>
                            <a:srgbClr val="000000"/>
                          </a:solidFill>
                          <a:effectLst/>
                          <a:latin typeface="Calibri"/>
                        </a:rPr>
                        <a:t>Operating Expenses</a:t>
                      </a:r>
                    </a:p>
                  </a:txBody>
                  <a:tcPr marL="9525" marR="9525" marT="9525" marB="0" anchor="ctr">
                    <a:lnL w="12700" cap="flat" cmpd="sng" algn="ctr">
                      <a:solidFill>
                        <a:schemeClr val="tx1"/>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-71</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r>
              <a:tr h="272471">
                <a:tc>
                  <a:txBody>
                    <a:bodyPr/>
                    <a:lstStyle/>
                    <a:p>
                      <a:pPr algn="l" fontAlgn="b"/>
                      <a:r>
                        <a:rPr lang="en-US" sz="1200" b="1" i="0" u="none" strike="noStrike" dirty="0">
                          <a:solidFill>
                            <a:srgbClr val="000000"/>
                          </a:solidFill>
                          <a:effectLst/>
                          <a:latin typeface="Calibri"/>
                        </a:rPr>
                        <a:t>NOI</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dirty="0">
                          <a:solidFill>
                            <a:srgbClr val="000000"/>
                          </a:solidFill>
                          <a:effectLst/>
                          <a:latin typeface="Calibri"/>
                        </a:rPr>
                        <a:t>100</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l" fontAlgn="b"/>
                      <a:r>
                        <a:rPr lang="en-US" sz="1200" b="1" i="0" u="none" strike="noStrike" dirty="0">
                          <a:solidFill>
                            <a:srgbClr val="1F497D"/>
                          </a:solidFill>
                          <a:effectLst/>
                          <a:latin typeface="Calibri"/>
                        </a:rPr>
                        <a:t>NOI (property level)</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a:solidFill>
                            <a:srgbClr val="1F497D"/>
                          </a:solidFill>
                          <a:effectLst/>
                          <a:latin typeface="Calibri"/>
                        </a:rPr>
                        <a:t>100</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dirty="0">
                          <a:solidFill>
                            <a:srgbClr val="000000"/>
                          </a:solidFill>
                          <a:effectLst/>
                          <a:latin typeface="Calibri"/>
                        </a:rPr>
                        <a:t> </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General and Administrative Expenses</a:t>
                      </a:r>
                    </a:p>
                  </a:txBody>
                  <a:tcPr marL="9525" marR="9525" marT="9525" marB="0" anchor="ctr">
                    <a:lnL w="12700" cap="flat" cmpd="sng" algn="ctr">
                      <a:solidFill>
                        <a:schemeClr val="tx1"/>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-3</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 </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l" fontAlgn="b"/>
                      <a:r>
                        <a:rPr lang="en-US" sz="1200" b="1" i="0" u="none" strike="noStrike" dirty="0">
                          <a:solidFill>
                            <a:srgbClr val="1F497D"/>
                          </a:solidFill>
                          <a:effectLst/>
                          <a:latin typeface="Calibri"/>
                        </a:rPr>
                        <a:t>EBITDA</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a:solidFill>
                            <a:srgbClr val="1F497D"/>
                          </a:solidFill>
                          <a:effectLst/>
                          <a:latin typeface="Calibri"/>
                        </a:rPr>
                        <a:t>97</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Interest Expense</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-40</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Interest Expense</a:t>
                      </a:r>
                    </a:p>
                  </a:txBody>
                  <a:tcPr marL="9525" marR="9525" marT="9525" marB="0" anchor="ctr">
                    <a:lnL w="12700" cap="flat" cmpd="sng" algn="ctr">
                      <a:solidFill>
                        <a:schemeClr val="tx1"/>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-40</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 </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l" fontAlgn="b"/>
                      <a:r>
                        <a:rPr lang="en-US" sz="1200" b="1" i="0" u="none" strike="noStrike" dirty="0">
                          <a:solidFill>
                            <a:srgbClr val="1F497D"/>
                          </a:solidFill>
                          <a:effectLst/>
                          <a:latin typeface="Calibri"/>
                        </a:rPr>
                        <a:t>Funds from operations (FFO)</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a:solidFill>
                            <a:srgbClr val="000000"/>
                          </a:solidFill>
                          <a:effectLst/>
                          <a:latin typeface="Calibri"/>
                        </a:rPr>
                        <a:t>57</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Depreciation Expense</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-20</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Depreciation Expense</a:t>
                      </a:r>
                    </a:p>
                  </a:txBody>
                  <a:tcPr marL="9525" marR="9525" marT="9525" marB="0" anchor="ctr">
                    <a:lnL w="12700" cap="flat" cmpd="sng" algn="ctr">
                      <a:solidFill>
                        <a:schemeClr val="tx1"/>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-20</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r>
              <a:tr h="272471">
                <a:tc>
                  <a:txBody>
                    <a:bodyPr/>
                    <a:lstStyle/>
                    <a:p>
                      <a:pPr algn="l" fontAlgn="b"/>
                      <a:r>
                        <a:rPr lang="en-US" sz="1200" b="1" i="0" u="none" strike="noStrike" dirty="0">
                          <a:solidFill>
                            <a:srgbClr val="000000"/>
                          </a:solidFill>
                          <a:effectLst/>
                          <a:latin typeface="Calibri"/>
                        </a:rPr>
                        <a:t>GAAP Net Income</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a:solidFill>
                            <a:srgbClr val="000000"/>
                          </a:solidFill>
                          <a:effectLst/>
                          <a:latin typeface="Calibri"/>
                        </a:rPr>
                        <a:t>40</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l" fontAlgn="b"/>
                      <a:r>
                        <a:rPr lang="en-US" sz="1200" b="1" i="0" u="none" strike="noStrike" dirty="0">
                          <a:solidFill>
                            <a:srgbClr val="1F497D"/>
                          </a:solidFill>
                          <a:effectLst/>
                          <a:latin typeface="Calibri"/>
                        </a:rPr>
                        <a:t>GAAP Net Income</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algn="ctr" fontAlgn="b"/>
                      <a:r>
                        <a:rPr lang="en-US" sz="1200" b="1" i="0" u="none" strike="noStrike">
                          <a:solidFill>
                            <a:srgbClr val="1F497D"/>
                          </a:solidFill>
                          <a:effectLst/>
                          <a:latin typeface="Calibri"/>
                        </a:rPr>
                        <a:t>37</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5">
                        <a:lumMod val="20000"/>
                        <a:lumOff val="80000"/>
                      </a:schemeClr>
                    </a:solidFill>
                  </a:tcPr>
                </a:tc>
              </a:tr>
              <a:tr h="531455">
                <a:tc>
                  <a:txBody>
                    <a:bodyPr/>
                    <a:lstStyle/>
                    <a:p>
                      <a:pPr algn="l" fontAlgn="b"/>
                      <a:r>
                        <a:rPr lang="en-US" sz="1200" b="0" i="0" u="none" strike="noStrike" dirty="0">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 </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(Dividends &gt;= 0.9 x Net Income = 33.3)</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 </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r>
              <a:tr h="272471">
                <a:tc>
                  <a:txBody>
                    <a:bodyPr/>
                    <a:lstStyle/>
                    <a:p>
                      <a:pPr algn="l" fontAlgn="b"/>
                      <a:r>
                        <a:rPr lang="en-US" sz="1200" b="0" i="0" u="none" strike="noStrike" dirty="0">
                          <a:solidFill>
                            <a:srgbClr val="000000"/>
                          </a:solidFill>
                          <a:effectLst/>
                          <a:latin typeface="Calibri"/>
                        </a:rPr>
                        <a:t>Add back Depreciation</a:t>
                      </a: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20</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c>
                  <a:txBody>
                    <a:bodyPr/>
                    <a:lstStyle/>
                    <a:p>
                      <a:pPr algn="l" fontAlgn="b"/>
                      <a:r>
                        <a:rPr lang="en-US" sz="1200" b="0" i="0" u="none" strike="noStrike" dirty="0">
                          <a:solidFill>
                            <a:srgbClr val="000000"/>
                          </a:solidFill>
                          <a:effectLst/>
                          <a:latin typeface="Calibri"/>
                        </a:rPr>
                        <a:t>Add back Depreciation</a:t>
                      </a:r>
                    </a:p>
                  </a:txBody>
                  <a:tcPr marL="9525" marR="9525" marT="9525" marB="0" anchor="ctr">
                    <a:lnL w="12700" cap="flat" cmpd="sng" algn="ctr">
                      <a:solidFill>
                        <a:schemeClr val="tx1"/>
                      </a:solidFill>
                      <a:prstDash val="solid"/>
                      <a:round/>
                      <a:headEnd type="none" w="med" len="med"/>
                      <a:tailEnd type="none" w="med" len="med"/>
                    </a:lnL>
                    <a:lnR>
                      <a:noFill/>
                    </a:lnR>
                    <a:lnT>
                      <a:noFill/>
                    </a:lnT>
                    <a:lnB>
                      <a:noFill/>
                    </a:lnB>
                    <a:solidFill>
                      <a:schemeClr val="accent5">
                        <a:lumMod val="20000"/>
                        <a:lumOff val="80000"/>
                      </a:schemeClr>
                    </a:solidFill>
                  </a:tcPr>
                </a:tc>
                <a:tc>
                  <a:txBody>
                    <a:bodyPr/>
                    <a:lstStyle/>
                    <a:p>
                      <a:pPr algn="ctr" fontAlgn="b"/>
                      <a:r>
                        <a:rPr lang="en-US" sz="1200" b="0" i="0" u="none" strike="noStrike" dirty="0">
                          <a:solidFill>
                            <a:srgbClr val="000000"/>
                          </a:solidFill>
                          <a:effectLst/>
                          <a:latin typeface="Calibri"/>
                        </a:rPr>
                        <a:t>20</a:t>
                      </a:r>
                    </a:p>
                  </a:txBody>
                  <a:tcPr marL="9525" marR="9525" marT="9525" marB="0" anchor="ctr">
                    <a:lnL>
                      <a:noFill/>
                    </a:lnL>
                    <a:lnR w="12700" cap="flat" cmpd="sng" algn="ctr">
                      <a:solidFill>
                        <a:schemeClr val="tx1"/>
                      </a:solidFill>
                      <a:prstDash val="solid"/>
                      <a:round/>
                      <a:headEnd type="none" w="med" len="med"/>
                      <a:tailEnd type="none" w="med" len="med"/>
                    </a:lnR>
                    <a:lnT>
                      <a:noFill/>
                    </a:lnT>
                    <a:lnB>
                      <a:noFill/>
                    </a:lnB>
                    <a:solidFill>
                      <a:schemeClr val="accent5">
                        <a:lumMod val="20000"/>
                        <a:lumOff val="80000"/>
                      </a:schemeClr>
                    </a:solidFill>
                  </a:tcPr>
                </a:tc>
              </a:tr>
              <a:tr h="272471">
                <a:tc>
                  <a:txBody>
                    <a:bodyPr/>
                    <a:lstStyle/>
                    <a:p>
                      <a:pPr algn="l" fontAlgn="b"/>
                      <a:r>
                        <a:rPr lang="en-US" sz="1200" b="0" i="0" u="none" strike="noStrike" dirty="0" err="1">
                          <a:solidFill>
                            <a:srgbClr val="000000"/>
                          </a:solidFill>
                          <a:effectLst/>
                          <a:latin typeface="Calibri"/>
                        </a:rPr>
                        <a:t>CapEx</a:t>
                      </a:r>
                      <a:endParaRPr lang="en-US" sz="1200" b="0" i="0" u="none" strike="noStrike" dirty="0">
                        <a:solidFill>
                          <a:srgbClr val="000000"/>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a:solidFill>
                            <a:srgbClr val="000000"/>
                          </a:solidFill>
                          <a:effectLst/>
                          <a:latin typeface="Calibri"/>
                        </a:rPr>
                        <a:t>-15</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0" i="0" u="none" strike="noStrike" dirty="0" err="1">
                          <a:solidFill>
                            <a:srgbClr val="000000"/>
                          </a:solidFill>
                          <a:effectLst/>
                          <a:latin typeface="Calibri"/>
                        </a:rPr>
                        <a:t>CapEx</a:t>
                      </a:r>
                      <a:endParaRPr lang="en-US" sz="1200" b="0" i="0" u="none" strike="noStrike" dirty="0">
                        <a:solidFill>
                          <a:srgbClr val="000000"/>
                        </a:solidFill>
                        <a:effectLst/>
                        <a:latin typeface="Calibri"/>
                      </a:endParaRPr>
                    </a:p>
                  </a:txBody>
                  <a:tcPr marL="9525" marR="9525" marT="9525" marB="0" anchor="ctr">
                    <a:lnL w="12700" cap="flat" cmpd="sng" algn="ctr">
                      <a:solidFill>
                        <a:schemeClr val="tx1"/>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0" i="0" u="none" strike="noStrike" dirty="0">
                          <a:solidFill>
                            <a:srgbClr val="000000"/>
                          </a:solidFill>
                          <a:effectLst/>
                          <a:latin typeface="Calibri"/>
                        </a:rPr>
                        <a:t>-15</a:t>
                      </a:r>
                    </a:p>
                  </a:txBody>
                  <a:tcPr marL="9525" marR="9525" marT="9525" marB="0" anchor="ctr">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5">
                        <a:lumMod val="20000"/>
                        <a:lumOff val="80000"/>
                      </a:schemeClr>
                    </a:solidFill>
                  </a:tcPr>
                </a:tc>
              </a:tr>
              <a:tr h="531455">
                <a:tc>
                  <a:txBody>
                    <a:bodyPr/>
                    <a:lstStyle/>
                    <a:p>
                      <a:pPr algn="l" fontAlgn="b"/>
                      <a:r>
                        <a:rPr lang="en-US" sz="1200" b="1" i="0" u="none" strike="noStrike" dirty="0">
                          <a:solidFill>
                            <a:srgbClr val="000000"/>
                          </a:solidFill>
                          <a:effectLst/>
                          <a:latin typeface="Calibri"/>
                        </a:rPr>
                        <a:t>Equity-before-tax cash flow (EBTCF)</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1" i="0" u="none" strike="noStrike" dirty="0">
                          <a:solidFill>
                            <a:srgbClr val="000000"/>
                          </a:solidFill>
                          <a:effectLst/>
                          <a:latin typeface="Calibri"/>
                        </a:rPr>
                        <a:t>45</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l" fontAlgn="b"/>
                      <a:r>
                        <a:rPr lang="en-US" sz="1200" b="1" i="0" u="none" strike="noStrike" dirty="0">
                          <a:solidFill>
                            <a:srgbClr val="1F497D"/>
                          </a:solidFill>
                          <a:effectLst/>
                          <a:latin typeface="Calibri"/>
                        </a:rPr>
                        <a:t>Adjusted funds from operations (AFFO)</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
                      <a:r>
                        <a:rPr lang="en-US" sz="1200" b="1" i="0" u="none" strike="noStrike" dirty="0">
                          <a:solidFill>
                            <a:srgbClr val="1F497D"/>
                          </a:solidFill>
                          <a:effectLst/>
                          <a:latin typeface="Calibri"/>
                        </a:rPr>
                        <a:t>42</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bl>
          </a:graphicData>
        </a:graphic>
      </p:graphicFrame>
    </p:spTree>
    <p:extLst>
      <p:ext uri="{BB962C8B-B14F-4D97-AF65-F5344CB8AC3E}">
        <p14:creationId xmlns:p14="http://schemas.microsoft.com/office/powerpoint/2010/main" val="312271223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7211</TotalTime>
  <Words>2478</Words>
  <Application>Microsoft Office PowerPoint</Application>
  <PresentationFormat>Custom</PresentationFormat>
  <Paragraphs>336</Paragraphs>
  <Slides>12</Slides>
  <Notes>12</Notes>
  <HiddenSlides>2</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CELLO INVESTMENT PROCESS: Long/Short equity </vt:lpstr>
      <vt:lpstr>Investment Style</vt:lpstr>
      <vt:lpstr>Portfolio Construction</vt:lpstr>
      <vt:lpstr>Investment Style</vt:lpstr>
      <vt:lpstr>Portfolio Construction</vt:lpstr>
      <vt:lpstr>Short selling rationale</vt:lpstr>
      <vt:lpstr>Short sALE EXAMPLE</vt:lpstr>
      <vt:lpstr>Strategy categorization: LOW BETA</vt:lpstr>
      <vt:lpstr>Risk Controls</vt:lpstr>
      <vt:lpstr>RISK CONTROL THROUGH EQUITY RISK MODELING</vt:lpstr>
      <vt:lpstr>CRE Modeling  CRE Modeling framework: ETUDE</vt:lpstr>
      <vt:lpstr>reit VALUATION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530</cp:revision>
  <cp:lastPrinted>2015-07-02T14:12:03Z</cp:lastPrinted>
  <dcterms:created xsi:type="dcterms:W3CDTF">2015-05-21T20:34:11Z</dcterms:created>
  <dcterms:modified xsi:type="dcterms:W3CDTF">2015-07-17T21:58:48Z</dcterms:modified>
</cp:coreProperties>
</file>