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20" r:id="rId2"/>
    <p:sldId id="324" r:id="rId3"/>
    <p:sldId id="323" r:id="rId4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2E3989"/>
    <a:srgbClr val="C7732D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50" d="100"/>
          <a:sy n="150" d="100"/>
        </p:scale>
        <p:origin x="-534" y="756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7/14/2015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366"/>
            <a:fld id="{1FE077EC-684A-4FD9-A6C3-9AE90D8B81D6}" type="slidenum">
              <a:rPr lang="en-US" smtClean="0"/>
              <a:pPr defTabSz="919366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6772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draft you sent over had this title. It doesn’t look correct?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draft you sent over had this title. It doesn’t look correct?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CELLO CRE MODELING FRAMEWORK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July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03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INVESTMENT APPROACH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441325"/>
          </a:xfrm>
        </p:spPr>
        <p:txBody>
          <a:bodyPr/>
          <a:lstStyle/>
          <a:p>
            <a:r>
              <a:rPr lang="en-US" dirty="0" smtClean="0"/>
              <a:t>A Relative Value Approach is Applied Across the Portfolio   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/>
          <a:p>
            <a:r>
              <a:rPr lang="en-US" dirty="0"/>
              <a:t>RELATIVE-VALUE FOCUS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Cello believes that the same fundamental factors influence valuations in CRE across Fixed Income and Equities.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investment process and proprietary infrastructure will be the same across the Portfolio.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>
                <a:solidFill>
                  <a:schemeClr val="tx1"/>
                </a:solidFill>
              </a:rPr>
              <a:t>The initial </a:t>
            </a:r>
            <a:r>
              <a:rPr lang="en-US" sz="1100" b="0" dirty="0" smtClean="0">
                <a:solidFill>
                  <a:schemeClr val="tx1"/>
                </a:solidFill>
              </a:rPr>
              <a:t>allocation is expected to be approximately 70% in Fixed Income and 30% in Equities.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3298213" y="1828800"/>
            <a:ext cx="5120640" cy="5120640"/>
            <a:chOff x="3298213" y="1470660"/>
            <a:chExt cx="5120640" cy="5120640"/>
          </a:xfrm>
        </p:grpSpPr>
        <p:sp>
          <p:nvSpPr>
            <p:cNvPr id="32" name="Oval 31"/>
            <p:cNvSpPr/>
            <p:nvPr/>
          </p:nvSpPr>
          <p:spPr>
            <a:xfrm>
              <a:off x="3298213" y="1470660"/>
              <a:ext cx="5120640" cy="512064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067833" y="2240280"/>
              <a:ext cx="3581400" cy="3581400"/>
            </a:xfrm>
            <a:prstGeom prst="ellipse">
              <a:avLst/>
            </a:prstGeom>
            <a:solidFill>
              <a:schemeClr val="accent2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505200" y="1470660"/>
              <a:ext cx="4495800" cy="3994593"/>
              <a:chOff x="2706721" y="1098901"/>
              <a:chExt cx="4495800" cy="3994593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5780505" y="4213726"/>
                <a:ext cx="1422016" cy="824715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V="1">
                <a:off x="2706721" y="4191000"/>
                <a:ext cx="1560479" cy="902494"/>
              </a:xfrm>
              <a:prstGeom prst="line">
                <a:avLst/>
              </a:prstGeom>
              <a:ln w="539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H="1" flipV="1">
                <a:off x="5068921" y="1098901"/>
                <a:ext cx="0" cy="1812270"/>
              </a:xfrm>
              <a:prstGeom prst="line">
                <a:avLst/>
              </a:prstGeom>
              <a:ln w="539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4936139" y="3208504"/>
              <a:ext cx="1828800" cy="1828800"/>
            </a:xfrm>
            <a:prstGeom prst="ellipse">
              <a:avLst/>
            </a:prstGeom>
            <a:solidFill>
              <a:schemeClr val="tx2"/>
            </a:solidFill>
            <a:ln w="15875">
              <a:noFill/>
            </a:ln>
          </p:spPr>
          <p:txBody>
            <a:bodyPr wrap="square" rtlCol="0" anchor="ctr">
              <a:noAutofit/>
            </a:bodyPr>
            <a:lstStyle/>
            <a:p>
              <a:pPr marL="0" lvl="1" algn="ctr">
                <a:lnSpc>
                  <a:spcPct val="110000"/>
                </a:lnSpc>
                <a:spcBef>
                  <a:spcPts val="1500"/>
                </a:spcBef>
              </a:pPr>
              <a:r>
                <a:rPr lang="en-US" sz="1300" b="1" dirty="0" smtClean="0">
                  <a:solidFill>
                    <a:schemeClr val="bg1"/>
                  </a:solidFill>
                </a:rPr>
                <a:t>CRE INVESTMENT PROCESS</a:t>
              </a: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4679307" y="2805705"/>
              <a:ext cx="2503628" cy="2566395"/>
              <a:chOff x="3917266" y="2464174"/>
              <a:chExt cx="2503628" cy="2566395"/>
            </a:xfrm>
          </p:grpSpPr>
          <p:sp>
            <p:nvSpPr>
              <p:cNvPr id="23" name="TextBox 22"/>
              <p:cNvSpPr txBox="1"/>
              <p:nvPr/>
            </p:nvSpPr>
            <p:spPr>
              <a:xfrm rot="18294870">
                <a:off x="3525262" y="2856178"/>
                <a:ext cx="1462273" cy="678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Up">
                  <a:avLst/>
                </a:prstTxWarp>
                <a:noAutofit/>
              </a:bodyPr>
              <a:lstStyle/>
              <a:p>
                <a:pPr marL="0" lvl="1" algn="ctr">
                  <a:lnSpc>
                    <a:spcPct val="110000"/>
                  </a:lnSpc>
                  <a:spcBef>
                    <a:spcPts val="1500"/>
                  </a:spcBef>
                </a:pP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  </a:t>
                </a:r>
                <a:b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</a:b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EQUITY</a:t>
                </a:r>
                <a:endParaRPr lang="en-US" sz="1300" b="1" dirty="0">
                  <a:solidFill>
                    <a:schemeClr val="bg1"/>
                  </a:solidFill>
                  <a:latin typeface="Calibri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000459" y="3582769"/>
                <a:ext cx="2171700" cy="1447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Down">
                  <a:avLst/>
                </a:prstTxWarp>
                <a:noAutofit/>
              </a:bodyPr>
              <a:lstStyle/>
              <a:p>
                <a:pPr marL="0" lvl="1" algn="ctr">
                  <a:lnSpc>
                    <a:spcPct val="110000"/>
                  </a:lnSpc>
                  <a:spcBef>
                    <a:spcPts val="1500"/>
                  </a:spcBef>
                </a:pP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CORPORATES</a:t>
                </a:r>
                <a:endParaRPr lang="en-US" sz="1300" b="1" dirty="0">
                  <a:solidFill>
                    <a:schemeClr val="bg1"/>
                  </a:solidFill>
                  <a:latin typeface="Calibri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 rot="3412790">
                <a:off x="4272822" y="2636365"/>
                <a:ext cx="2276955" cy="2019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Up">
                  <a:avLst>
                    <a:gd name="adj" fmla="val 12240818"/>
                  </a:avLst>
                </a:prstTxWarp>
                <a:noAutofit/>
              </a:bodyPr>
              <a:lstStyle/>
              <a:p>
                <a:pPr marL="0" lvl="1" algn="ctr">
                  <a:lnSpc>
                    <a:spcPct val="110000"/>
                  </a:lnSpc>
                  <a:spcBef>
                    <a:spcPts val="1500"/>
                  </a:spcBef>
                </a:pPr>
                <a:r>
                  <a:rPr lang="en-US" sz="1300" b="1" dirty="0">
                    <a:solidFill>
                      <a:schemeClr val="bg1"/>
                    </a:solidFill>
                  </a:rPr>
                  <a:t>STRUCTURED FINANCE</a:t>
                </a:r>
                <a:endParaRPr lang="en-US" sz="1300" b="1" dirty="0">
                  <a:solidFill>
                    <a:schemeClr val="bg1"/>
                  </a:solidFill>
                  <a:latin typeface="Calibri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 rot="3554244">
              <a:off x="4918476" y="2305667"/>
              <a:ext cx="3626137" cy="23358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prstTxWarp prst="textArchUp">
                <a:avLst>
                  <a:gd name="adj" fmla="val 11639147"/>
                </a:avLst>
              </a:prstTxWarp>
              <a:noAutofit/>
            </a:bodyPr>
            <a:lstStyle/>
            <a:p>
              <a:pPr marL="0" lvl="1" algn="ctr">
                <a:lnSpc>
                  <a:spcPct val="110000"/>
                </a:lnSpc>
                <a:spcBef>
                  <a:spcPts val="1500"/>
                </a:spcBef>
              </a:pPr>
              <a:r>
                <a:rPr lang="en-US" sz="1400" b="1" dirty="0" smtClean="0">
                  <a:solidFill>
                    <a:schemeClr val="tx2"/>
                  </a:solidFill>
                  <a:latin typeface="Calibri"/>
                </a:rPr>
                <a:t>CMBX    Cash CMBS    CRE Mezzanine Lending</a:t>
              </a:r>
              <a:endParaRPr lang="en-US" sz="1400" b="1" dirty="0">
                <a:solidFill>
                  <a:schemeClr val="tx2"/>
                </a:solidFill>
                <a:latin typeface="Calibri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rot="17792054">
              <a:off x="3149414" y="2457200"/>
              <a:ext cx="3095629" cy="19245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prstTxWarp prst="textArchUp">
                <a:avLst>
                  <a:gd name="adj" fmla="val 12133961"/>
                </a:avLst>
              </a:prstTxWarp>
              <a:noAutofit/>
            </a:bodyPr>
            <a:lstStyle/>
            <a:p>
              <a:pPr marL="0" lvl="1" algn="ctr">
                <a:lnSpc>
                  <a:spcPct val="110000"/>
                </a:lnSpc>
                <a:spcBef>
                  <a:spcPts val="1500"/>
                </a:spcBef>
              </a:pPr>
              <a:r>
                <a:rPr lang="en-US" sz="1400" b="1" dirty="0" smtClean="0">
                  <a:solidFill>
                    <a:schemeClr val="tx2"/>
                  </a:solidFill>
                  <a:latin typeface="Calibri"/>
                </a:rPr>
                <a:t>REITs    Retail    Other CRE Names</a:t>
              </a:r>
              <a:endParaRPr lang="en-US" sz="1400" b="1" dirty="0">
                <a:solidFill>
                  <a:schemeClr val="tx2"/>
                </a:solidFill>
                <a:latin typeface="Calibri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38600" y="4137660"/>
              <a:ext cx="3610633" cy="20739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prstTxWarp prst="textArchDown">
                <a:avLst>
                  <a:gd name="adj" fmla="val 641322"/>
                </a:avLst>
              </a:prstTxWarp>
              <a:noAutofit/>
            </a:bodyPr>
            <a:lstStyle/>
            <a:p>
              <a:pPr marL="0" lvl="1" algn="ctr">
                <a:lnSpc>
                  <a:spcPct val="110000"/>
                </a:lnSpc>
                <a:spcBef>
                  <a:spcPts val="1500"/>
                </a:spcBef>
              </a:pPr>
              <a:r>
                <a:rPr lang="en-US" sz="1400" b="1" dirty="0" smtClean="0">
                  <a:solidFill>
                    <a:schemeClr val="tx2"/>
                  </a:solidFill>
                  <a:latin typeface="Calibri"/>
                </a:rPr>
                <a:t>Unsecured Debt    </a:t>
              </a:r>
              <a:r>
                <a:rPr lang="en-US" sz="1400" b="1" dirty="0" err="1" smtClean="0">
                  <a:solidFill>
                    <a:schemeClr val="tx2"/>
                  </a:solidFill>
                  <a:latin typeface="Calibri"/>
                </a:rPr>
                <a:t>PropCo</a:t>
              </a:r>
              <a:r>
                <a:rPr lang="en-US" sz="1400" b="1" dirty="0" smtClean="0">
                  <a:solidFill>
                    <a:schemeClr val="tx2"/>
                  </a:solidFill>
                  <a:latin typeface="Calibri"/>
                </a:rPr>
                <a:t> Debt    Corporate Loans    CDS</a:t>
              </a:r>
              <a:endParaRPr lang="en-US" sz="1400" b="1" dirty="0">
                <a:solidFill>
                  <a:schemeClr val="tx2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258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INVESTMENT APPROACH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441325"/>
          </a:xfrm>
        </p:spPr>
        <p:txBody>
          <a:bodyPr/>
          <a:lstStyle/>
          <a:p>
            <a:r>
              <a:rPr lang="en-US" dirty="0" smtClean="0"/>
              <a:t>A Relative Value Approach is Applied Across the Portfolio   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/>
          <a:p>
            <a:r>
              <a:rPr lang="en-US" dirty="0"/>
              <a:t>RELATIVE-VALUE FOCUS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Cello believes that the same fundamental factors influence valuations in CRE across Fixed Income and Equities.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investment process and proprietary infrastructure will be the same across the Portfolio.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>
                <a:solidFill>
                  <a:schemeClr val="tx1"/>
                </a:solidFill>
              </a:rPr>
              <a:t>The initial </a:t>
            </a:r>
            <a:r>
              <a:rPr lang="en-US" sz="1100" b="0" dirty="0" smtClean="0">
                <a:solidFill>
                  <a:schemeClr val="tx1"/>
                </a:solidFill>
              </a:rPr>
              <a:t>allocation is expected to be approximately 70% in Fixed Income and 30% in Equities.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pSp>
        <p:nvGrpSpPr>
          <p:cNvPr id="17" name="Group 16"/>
          <p:cNvGrpSpPr/>
          <p:nvPr/>
        </p:nvGrpSpPr>
        <p:grpSpPr>
          <a:xfrm>
            <a:off x="4038600" y="2039934"/>
            <a:ext cx="3719308" cy="3657600"/>
            <a:chOff x="3200400" y="1830421"/>
            <a:chExt cx="3719308" cy="36576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6717506" y="5093494"/>
              <a:ext cx="202202" cy="11522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3200400" y="1906621"/>
              <a:ext cx="3581400" cy="3581400"/>
            </a:xfrm>
            <a:prstGeom prst="ellipse">
              <a:avLst/>
            </a:prstGeom>
            <a:solidFill>
              <a:schemeClr val="accent2"/>
            </a:solidFill>
            <a:ln w="1270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352800" y="1830421"/>
              <a:ext cx="3291840" cy="2893107"/>
              <a:chOff x="3352800" y="1830421"/>
              <a:chExt cx="3291840" cy="2893107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5780505" y="4213726"/>
                <a:ext cx="864135" cy="486525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V="1">
                <a:off x="3352800" y="4191000"/>
                <a:ext cx="914400" cy="532528"/>
              </a:xfrm>
              <a:prstGeom prst="line">
                <a:avLst/>
              </a:prstGeom>
              <a:ln w="539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H="1" flipV="1">
                <a:off x="5020333" y="1830421"/>
                <a:ext cx="1438" cy="1080749"/>
              </a:xfrm>
              <a:prstGeom prst="line">
                <a:avLst/>
              </a:prstGeom>
              <a:ln w="539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4137660" y="2836745"/>
              <a:ext cx="1828800" cy="1828800"/>
            </a:xfrm>
            <a:prstGeom prst="ellipse">
              <a:avLst/>
            </a:prstGeom>
            <a:solidFill>
              <a:schemeClr val="tx2"/>
            </a:solidFill>
            <a:ln w="15875">
              <a:noFill/>
            </a:ln>
          </p:spPr>
          <p:txBody>
            <a:bodyPr wrap="square" rtlCol="0" anchor="ctr">
              <a:noAutofit/>
            </a:bodyPr>
            <a:lstStyle/>
            <a:p>
              <a:pPr marL="0" lvl="1" algn="ctr">
                <a:lnSpc>
                  <a:spcPct val="110000"/>
                </a:lnSpc>
                <a:spcBef>
                  <a:spcPts val="1500"/>
                </a:spcBef>
              </a:pPr>
              <a:r>
                <a:rPr lang="en-US" sz="1300" b="1" dirty="0" smtClean="0">
                  <a:solidFill>
                    <a:schemeClr val="bg1"/>
                  </a:solidFill>
                </a:rPr>
                <a:t>CRE INVESTMENT PROCESS</a:t>
              </a: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3772090" y="2507481"/>
              <a:ext cx="2648804" cy="2363936"/>
              <a:chOff x="3772090" y="2507481"/>
              <a:chExt cx="2648804" cy="2363936"/>
            </a:xfrm>
          </p:grpSpPr>
          <p:sp>
            <p:nvSpPr>
              <p:cNvPr id="23" name="TextBox 22"/>
              <p:cNvSpPr txBox="1"/>
              <p:nvPr/>
            </p:nvSpPr>
            <p:spPr>
              <a:xfrm rot="18294870">
                <a:off x="3463523" y="2944529"/>
                <a:ext cx="1295400" cy="678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Up">
                  <a:avLst/>
                </a:prstTxWarp>
                <a:noAutofit/>
              </a:bodyPr>
              <a:lstStyle/>
              <a:p>
                <a:pPr marL="0" lvl="1" algn="ctr">
                  <a:lnSpc>
                    <a:spcPct val="110000"/>
                  </a:lnSpc>
                  <a:spcBef>
                    <a:spcPts val="1500"/>
                  </a:spcBef>
                </a:pP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  </a:t>
                </a:r>
                <a:b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</a:b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EQUITY MARKET</a:t>
                </a:r>
                <a:endParaRPr lang="en-US" sz="1300" b="1" dirty="0">
                  <a:solidFill>
                    <a:schemeClr val="bg1"/>
                  </a:solidFill>
                  <a:latin typeface="Calibri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953811" y="3423617"/>
                <a:ext cx="2171700" cy="1447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Down">
                  <a:avLst/>
                </a:prstTxWarp>
                <a:noAutofit/>
              </a:bodyPr>
              <a:lstStyle/>
              <a:p>
                <a:pPr marL="0" lvl="1" algn="ctr">
                  <a:lnSpc>
                    <a:spcPct val="110000"/>
                  </a:lnSpc>
                  <a:spcBef>
                    <a:spcPts val="1500"/>
                  </a:spcBef>
                </a:pP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CORPORATE </a:t>
                </a:r>
                <a:b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</a:b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DEBT MARKET</a:t>
                </a:r>
                <a:endParaRPr lang="en-US" sz="1300" b="1" dirty="0">
                  <a:solidFill>
                    <a:schemeClr val="bg1"/>
                  </a:solidFill>
                  <a:latin typeface="Calibri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 rot="3412790">
                <a:off x="4272822" y="2636365"/>
                <a:ext cx="2276955" cy="2019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Up">
                  <a:avLst>
                    <a:gd name="adj" fmla="val 12240818"/>
                  </a:avLst>
                </a:prstTxWarp>
                <a:noAutofit/>
              </a:bodyPr>
              <a:lstStyle/>
              <a:p>
                <a:pPr marL="0" lvl="1" algn="ctr">
                  <a:lnSpc>
                    <a:spcPct val="110000"/>
                  </a:lnSpc>
                  <a:spcBef>
                    <a:spcPts val="1500"/>
                  </a:spcBef>
                </a:pPr>
                <a:r>
                  <a:rPr lang="en-US" sz="1300" b="1" dirty="0" smtClean="0">
                    <a:solidFill>
                      <a:schemeClr val="bg1"/>
                    </a:solidFill>
                    <a:latin typeface="Calibri"/>
                  </a:rPr>
                  <a:t>CMBS  MARKET</a:t>
                </a:r>
                <a:endParaRPr lang="en-US" sz="1300" b="1" dirty="0">
                  <a:solidFill>
                    <a:schemeClr val="bg1"/>
                  </a:solidFill>
                  <a:latin typeface="Calibri"/>
                </a:endParaRPr>
              </a:p>
            </p:txBody>
          </p:sp>
        </p:grpSp>
      </p:grpSp>
      <p:sp>
        <p:nvSpPr>
          <p:cNvPr id="29" name="Rectangle 28"/>
          <p:cNvSpPr/>
          <p:nvPr/>
        </p:nvSpPr>
        <p:spPr>
          <a:xfrm>
            <a:off x="5443384" y="5823022"/>
            <a:ext cx="2793124" cy="57150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lvl="1">
              <a:lnSpc>
                <a:spcPct val="110000"/>
              </a:lnSpc>
              <a:spcBef>
                <a:spcPts val="1500"/>
              </a:spcBef>
            </a:pPr>
            <a:r>
              <a:rPr lang="en-US" sz="1400" b="1" dirty="0" smtClean="0">
                <a:solidFill>
                  <a:schemeClr val="accent2"/>
                </a:solidFill>
                <a:latin typeface="+mj-lt"/>
              </a:rPr>
              <a:t>Corporate CRE</a:t>
            </a:r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Unsecured Debt</a:t>
            </a:r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tx2"/>
                </a:solidFill>
              </a:rPr>
              <a:t>PropCo</a:t>
            </a:r>
            <a:r>
              <a:rPr lang="en-US" sz="1300" dirty="0">
                <a:solidFill>
                  <a:schemeClr val="tx2"/>
                </a:solidFill>
              </a:rPr>
              <a:t> Debt</a:t>
            </a:r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Corporate Loans</a:t>
            </a:r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CDS</a:t>
            </a:r>
          </a:p>
          <a:p>
            <a:pPr marL="173038" lvl="3" indent="-173038" algn="ctr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pPr marL="173038" lvl="3" indent="-173038" algn="ctr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553138" y="2350328"/>
            <a:ext cx="2793124" cy="57150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lvl="1">
              <a:lnSpc>
                <a:spcPct val="110000"/>
              </a:lnSpc>
              <a:spcBef>
                <a:spcPts val="1500"/>
              </a:spcBef>
            </a:pPr>
            <a:r>
              <a:rPr lang="en-US" sz="1400" b="1" dirty="0" smtClean="0">
                <a:solidFill>
                  <a:schemeClr val="accent2"/>
                </a:solidFill>
                <a:latin typeface="+mj-lt"/>
              </a:rPr>
              <a:t>CRE EQUITIES</a:t>
            </a:r>
          </a:p>
          <a:p>
            <a:pPr marL="173038" lvl="3" indent="-173038"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tx2"/>
                </a:solidFill>
                <a:latin typeface="+mj-lt"/>
              </a:rPr>
              <a:t>REITs</a:t>
            </a:r>
          </a:p>
          <a:p>
            <a:pPr marL="173038" lvl="3" indent="-173038"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tx2"/>
                </a:solidFill>
                <a:latin typeface="+mj-lt"/>
              </a:rPr>
              <a:t>Retail</a:t>
            </a:r>
          </a:p>
          <a:p>
            <a:pPr marL="173038" lvl="3" indent="-173038"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tx2"/>
                </a:solidFill>
                <a:latin typeface="+mj-lt"/>
              </a:rPr>
              <a:t>Other CRE Names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17122" y="2291594"/>
            <a:ext cx="2793124" cy="57150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lvl="1">
              <a:lnSpc>
                <a:spcPct val="110000"/>
              </a:lnSpc>
              <a:spcBef>
                <a:spcPts val="1500"/>
              </a:spcBef>
            </a:pPr>
            <a:r>
              <a:rPr lang="en-US" sz="1400" b="1" dirty="0">
                <a:solidFill>
                  <a:schemeClr val="accent2"/>
                </a:solidFill>
                <a:latin typeface="+mj-lt"/>
              </a:rPr>
              <a:t>CMBS &amp; Mortgage </a:t>
            </a:r>
            <a:r>
              <a:rPr lang="en-US" sz="1400" b="1" dirty="0" smtClean="0">
                <a:solidFill>
                  <a:schemeClr val="accent2"/>
                </a:solidFill>
                <a:latin typeface="+mj-lt"/>
              </a:rPr>
              <a:t>Lending</a:t>
            </a:r>
            <a:endParaRPr lang="en-US" sz="1400" b="1" dirty="0">
              <a:solidFill>
                <a:schemeClr val="accent2"/>
              </a:solidFill>
              <a:latin typeface="+mj-lt"/>
            </a:endParaRPr>
          </a:p>
          <a:p>
            <a:pPr marL="173038" lvl="3" indent="-173038"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  <a:latin typeface="+mj-lt"/>
              </a:rPr>
              <a:t>CMBX</a:t>
            </a:r>
          </a:p>
          <a:p>
            <a:pPr marL="173038" lvl="3" indent="-173038"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  <a:latin typeface="+mj-lt"/>
              </a:rPr>
              <a:t>Cash </a:t>
            </a:r>
            <a:r>
              <a:rPr lang="en-US" sz="1300" dirty="0" smtClean="0">
                <a:solidFill>
                  <a:schemeClr val="tx2"/>
                </a:solidFill>
                <a:latin typeface="+mj-lt"/>
              </a:rPr>
              <a:t>CMBS</a:t>
            </a:r>
            <a:endParaRPr lang="en-US" sz="1300" dirty="0">
              <a:solidFill>
                <a:schemeClr val="tx2"/>
              </a:solidFill>
              <a:latin typeface="+mj-lt"/>
            </a:endParaRPr>
          </a:p>
          <a:p>
            <a:pPr marL="173038" lvl="3" indent="-173038"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  <a:latin typeface="+mj-lt"/>
              </a:rPr>
              <a:t>CRE Mezzanine Lending</a:t>
            </a:r>
          </a:p>
        </p:txBody>
      </p:sp>
    </p:spTree>
    <p:extLst>
      <p:ext uri="{BB962C8B-B14F-4D97-AF65-F5344CB8AC3E}">
        <p14:creationId xmlns:p14="http://schemas.microsoft.com/office/powerpoint/2010/main" val="243715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5202</TotalTime>
  <Words>221</Words>
  <Application>Microsoft Office PowerPoint</Application>
  <PresentationFormat>Custom</PresentationFormat>
  <Paragraphs>59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CELLO CRE MODELING FRAMEWORK</vt:lpstr>
      <vt:lpstr>INVESTMENT APPROACH</vt:lpstr>
      <vt:lpstr>INVESTMENT APPROACH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469</cp:revision>
  <cp:lastPrinted>2015-07-02T14:12:03Z</cp:lastPrinted>
  <dcterms:created xsi:type="dcterms:W3CDTF">2015-05-21T20:34:11Z</dcterms:created>
  <dcterms:modified xsi:type="dcterms:W3CDTF">2015-07-14T22:40:04Z</dcterms:modified>
</cp:coreProperties>
</file>