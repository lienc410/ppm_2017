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6" r:id="rId2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3" autoAdjust="0"/>
    <p:restoredTop sz="94660" autoAdjust="0"/>
  </p:normalViewPr>
  <p:slideViewPr>
    <p:cSldViewPr showGuides="1">
      <p:cViewPr varScale="1">
        <p:scale>
          <a:sx n="123" d="100"/>
          <a:sy n="123" d="100"/>
        </p:scale>
        <p:origin x="-1134" y="-108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2743200" y="1447800"/>
            <a:ext cx="65913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CMBS Modeling</a:t>
            </a:r>
            <a:br>
              <a:rPr lang="en-US" dirty="0"/>
            </a:br>
            <a:r>
              <a:rPr lang="en-US" dirty="0"/>
              <a:t>Loan outcome projection</a:t>
            </a:r>
            <a:br>
              <a:rPr lang="en-US" dirty="0"/>
            </a:br>
            <a:endParaRPr lang="en-US" dirty="0"/>
          </a:p>
        </p:txBody>
      </p:sp>
      <p:sp>
        <p:nvSpPr>
          <p:cNvPr id="118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Loan outcomes are determined by a series of DSCR and LTV tests over time.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A monthly test logic will be applied to each loan to determine its monthly loan outcome.</a:t>
            </a:r>
            <a:endParaRPr lang="en-US" sz="1100" dirty="0" smtClean="0"/>
          </a:p>
        </p:txBody>
      </p:sp>
      <p:sp>
        <p:nvSpPr>
          <p:cNvPr id="119" name="Rectangle 118"/>
          <p:cNvSpPr/>
          <p:nvPr/>
        </p:nvSpPr>
        <p:spPr>
          <a:xfrm>
            <a:off x="4648200" y="3352800"/>
            <a:ext cx="22860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DSCR &lt; DSCR Default Trigger?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352800" y="41910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at </a:t>
            </a:r>
            <a:r>
              <a:rPr lang="en-US" sz="1000" dirty="0" smtClean="0">
                <a:solidFill>
                  <a:schemeClr val="tx1"/>
                </a:solidFill>
              </a:rPr>
              <a:t>maturity?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3352800" y="49149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LTV &lt; pay-off LTV requirement?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52800" y="56388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LTV &lt; extension LTV </a:t>
            </a:r>
            <a:r>
              <a:rPr lang="en-US" sz="1000" dirty="0" smtClean="0">
                <a:solidFill>
                  <a:schemeClr val="tx1"/>
                </a:solidFill>
              </a:rPr>
              <a:t>limit?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858000" y="5256322"/>
            <a:ext cx="1066800" cy="80591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At extension maturity is 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LTV &lt; Refinance Threshold?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/>
          <p:cNvCxnSpPr>
            <a:stCxn id="119" idx="2"/>
            <a:endCxn id="120" idx="0"/>
          </p:cNvCxnSpPr>
          <p:nvPr/>
        </p:nvCxnSpPr>
        <p:spPr>
          <a:xfrm rot="5400000">
            <a:off x="4762500" y="3162300"/>
            <a:ext cx="457200" cy="1600200"/>
          </a:xfrm>
          <a:prstGeom prst="bentConnector3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20" idx="2"/>
            <a:endCxn id="121" idx="0"/>
          </p:cNvCxnSpPr>
          <p:nvPr/>
        </p:nvCxnSpPr>
        <p:spPr>
          <a:xfrm>
            <a:off x="4191000" y="4572000"/>
            <a:ext cx="0" cy="34290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21" idx="2"/>
            <a:endCxn id="122" idx="0"/>
          </p:cNvCxnSpPr>
          <p:nvPr/>
        </p:nvCxnSpPr>
        <p:spPr>
          <a:xfrm>
            <a:off x="4191000" y="5295900"/>
            <a:ext cx="0" cy="34290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stCxn id="120" idx="3"/>
            <a:endCxn id="119" idx="3"/>
          </p:cNvCxnSpPr>
          <p:nvPr/>
        </p:nvCxnSpPr>
        <p:spPr>
          <a:xfrm flipV="1">
            <a:off x="5029200" y="3543300"/>
            <a:ext cx="1905000" cy="838200"/>
          </a:xfrm>
          <a:prstGeom prst="bentConnector3">
            <a:avLst>
              <a:gd name="adj1" fmla="val 112000"/>
            </a:avLst>
          </a:prstGeom>
          <a:ln w="12700">
            <a:solidFill>
              <a:schemeClr val="accent2">
                <a:lumMod val="50000"/>
              </a:schemeClr>
            </a:solidFill>
            <a:prstDash val="lg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5562600" y="4915333"/>
            <a:ext cx="914400" cy="381000"/>
          </a:xfrm>
          <a:prstGeom prst="ellipse">
            <a:avLst/>
          </a:prstGeom>
          <a:solidFill>
            <a:srgbClr val="DFF5EB"/>
          </a:solidFill>
          <a:ln w="12700">
            <a:solidFill>
              <a:srgbClr val="2E8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Loan pays off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5562600" y="5638800"/>
            <a:ext cx="100584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Maturity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Extension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8382000" y="5638800"/>
            <a:ext cx="914400" cy="381000"/>
          </a:xfrm>
          <a:prstGeom prst="ellipse">
            <a:avLst/>
          </a:prstGeom>
          <a:solidFill>
            <a:srgbClr val="DFF5EB"/>
          </a:solidFill>
          <a:ln w="12700">
            <a:solidFill>
              <a:srgbClr val="2E8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Loan pays off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24384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Term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37338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Maturity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9342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Maturity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cxnSp>
        <p:nvCxnSpPr>
          <p:cNvPr id="134" name="Straight Arrow Connector 133"/>
          <p:cNvCxnSpPr>
            <a:stCxn id="121" idx="3"/>
            <a:endCxn id="128" idx="2"/>
          </p:cNvCxnSpPr>
          <p:nvPr/>
        </p:nvCxnSpPr>
        <p:spPr>
          <a:xfrm>
            <a:off x="5029200" y="5105400"/>
            <a:ext cx="533400" cy="433"/>
          </a:xfrm>
          <a:prstGeom prst="straightConnector1">
            <a:avLst/>
          </a:prstGeom>
          <a:ln w="12700">
            <a:solidFill>
              <a:srgbClr val="2E8A60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stCxn id="122" idx="3"/>
            <a:endCxn id="129" idx="2"/>
          </p:cNvCxnSpPr>
          <p:nvPr/>
        </p:nvCxnSpPr>
        <p:spPr>
          <a:xfrm>
            <a:off x="5029200" y="5829300"/>
            <a:ext cx="533400" cy="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/>
          <p:cNvCxnSpPr>
            <a:stCxn id="119" idx="1"/>
            <a:endCxn id="131" idx="0"/>
          </p:cNvCxnSpPr>
          <p:nvPr/>
        </p:nvCxnSpPr>
        <p:spPr>
          <a:xfrm rot="10800000" flipV="1">
            <a:off x="2895600" y="3543300"/>
            <a:ext cx="1752600" cy="2971800"/>
          </a:xfrm>
          <a:prstGeom prst="bentConnector2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32" idx="0"/>
          </p:cNvCxnSpPr>
          <p:nvPr/>
        </p:nvCxnSpPr>
        <p:spPr>
          <a:xfrm>
            <a:off x="4191000" y="6019800"/>
            <a:ext cx="0" cy="49530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stCxn id="123" idx="2"/>
            <a:endCxn id="133" idx="0"/>
          </p:cNvCxnSpPr>
          <p:nvPr/>
        </p:nvCxnSpPr>
        <p:spPr>
          <a:xfrm>
            <a:off x="7391400" y="6062236"/>
            <a:ext cx="0" cy="452864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30" idx="2"/>
          </p:cNvCxnSpPr>
          <p:nvPr/>
        </p:nvCxnSpPr>
        <p:spPr>
          <a:xfrm>
            <a:off x="7924800" y="5829300"/>
            <a:ext cx="457200" cy="0"/>
          </a:xfrm>
          <a:prstGeom prst="straightConnector1">
            <a:avLst/>
          </a:prstGeom>
          <a:ln w="12700">
            <a:solidFill>
              <a:srgbClr val="2E8A60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6568440" y="5829300"/>
            <a:ext cx="289560" cy="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2743200" y="13144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Content Placeholder 8"/>
          <p:cNvSpPr txBox="1">
            <a:spLocks/>
          </p:cNvSpPr>
          <p:nvPr/>
        </p:nvSpPr>
        <p:spPr>
          <a:xfrm>
            <a:off x="4876800" y="1219200"/>
            <a:ext cx="22860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Loan Outcomes</a:t>
            </a:r>
            <a:endParaRPr lang="en-US" sz="1200" dirty="0"/>
          </a:p>
        </p:txBody>
      </p:sp>
      <p:sp>
        <p:nvSpPr>
          <p:cNvPr id="144" name="TextBox 143"/>
          <p:cNvSpPr txBox="1"/>
          <p:nvPr/>
        </p:nvSpPr>
        <p:spPr>
          <a:xfrm>
            <a:off x="4495800" y="3733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5" name="TextBox 144"/>
          <p:cNvSpPr txBox="1"/>
          <p:nvPr/>
        </p:nvSpPr>
        <p:spPr>
          <a:xfrm>
            <a:off x="5485924" y="4114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6" name="TextBox 145"/>
          <p:cNvSpPr txBox="1"/>
          <p:nvPr/>
        </p:nvSpPr>
        <p:spPr>
          <a:xfrm>
            <a:off x="3733324" y="4630579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Yes</a:t>
            </a:r>
            <a:endParaRPr lang="en-US" sz="900" dirty="0"/>
          </a:p>
        </p:txBody>
      </p:sp>
      <p:sp>
        <p:nvSpPr>
          <p:cNvPr id="147" name="TextBox 146"/>
          <p:cNvSpPr txBox="1"/>
          <p:nvPr/>
        </p:nvSpPr>
        <p:spPr>
          <a:xfrm>
            <a:off x="3733324" y="53340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8" name="TextBox 147"/>
          <p:cNvSpPr txBox="1"/>
          <p:nvPr/>
        </p:nvSpPr>
        <p:spPr>
          <a:xfrm>
            <a:off x="5029200" y="4876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2E8A60"/>
                </a:solidFill>
              </a:rPr>
              <a:t>Yes</a:t>
            </a:r>
            <a:endParaRPr lang="en-US" sz="900" dirty="0">
              <a:solidFill>
                <a:srgbClr val="2E8A6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5029200" y="55626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Yes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820501" y="5598468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2E8A60"/>
                </a:solidFill>
              </a:rPr>
              <a:t>Yes</a:t>
            </a:r>
            <a:endParaRPr lang="en-US" sz="900" dirty="0">
              <a:solidFill>
                <a:srgbClr val="2E8A6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239000" y="6154579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No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733324" y="6019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No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276600" y="3315345"/>
            <a:ext cx="610076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Yes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2362200" y="6421754"/>
            <a:ext cx="5562600" cy="579120"/>
          </a:xfrm>
          <a:prstGeom prst="rect">
            <a:avLst/>
          </a:prstGeom>
          <a:noFill/>
          <a:ln>
            <a:solidFill>
              <a:srgbClr val="C6642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8610600" y="6421754"/>
            <a:ext cx="990600" cy="579120"/>
          </a:xfrm>
          <a:prstGeom prst="rect">
            <a:avLst/>
          </a:prstGeom>
          <a:solidFill>
            <a:srgbClr val="C6642E"/>
          </a:solidFill>
          <a:ln w="12700">
            <a:solidFill>
              <a:srgbClr val="C66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Loan Workout Period and Loss Calculation </a:t>
            </a:r>
            <a:endParaRPr lang="en-US" sz="1000" dirty="0"/>
          </a:p>
        </p:txBody>
      </p:sp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301023"/>
              </p:ext>
            </p:extLst>
          </p:nvPr>
        </p:nvGraphicFramePr>
        <p:xfrm>
          <a:off x="3200400" y="1524000"/>
          <a:ext cx="60198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6600"/>
                <a:gridCol w="1803400"/>
                <a:gridCol w="2209800"/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During initial term or extension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Term 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DSCR &lt; Default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rowSpan="3">
                  <a:txBody>
                    <a:bodyPr/>
                    <a:lstStyle/>
                    <a:p>
                      <a:r>
                        <a:rPr lang="en-US" sz="1000" dirty="0" smtClean="0"/>
                        <a:t>At</a:t>
                      </a:r>
                      <a:r>
                        <a:rPr lang="en-US" sz="1000" baseline="0" dirty="0" smtClean="0"/>
                        <a:t> original maturity</a:t>
                      </a:r>
                      <a:endParaRPr 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Pay off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&lt; pay off LTV</a:t>
                      </a:r>
                      <a:r>
                        <a:rPr lang="en-US" sz="1000" baseline="0" dirty="0" smtClean="0"/>
                        <a:t> requirement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Extension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between extension LTV bounds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&gt; extension LTV limit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At extension maturity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&gt;</a:t>
                      </a:r>
                      <a:r>
                        <a:rPr lang="en-US" sz="1000" baseline="0" dirty="0" smtClean="0"/>
                        <a:t> Refinance Threshold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8" name="Straight Connector 157"/>
          <p:cNvCxnSpPr/>
          <p:nvPr/>
        </p:nvCxnSpPr>
        <p:spPr>
          <a:xfrm>
            <a:off x="2743200" y="31051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ontent Placeholder 8"/>
          <p:cNvSpPr txBox="1">
            <a:spLocks/>
          </p:cNvSpPr>
          <p:nvPr/>
        </p:nvSpPr>
        <p:spPr>
          <a:xfrm>
            <a:off x="4572000" y="3009900"/>
            <a:ext cx="28956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Default, Extension and Payoff Logic Tree</a:t>
            </a:r>
            <a:endParaRPr lang="en-US" sz="1200" dirty="0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7978140" y="6444614"/>
            <a:ext cx="579120" cy="533400"/>
          </a:xfrm>
          <a:prstGeom prst="triangle">
            <a:avLst/>
          </a:prstGeom>
          <a:solidFill>
            <a:srgbClr val="C6642E"/>
          </a:solidFill>
          <a:ln w="12700">
            <a:solidFill>
              <a:srgbClr val="C66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124200" y="1752600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>
            <a:off x="3124200" y="2499102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4800" y="6457890"/>
            <a:ext cx="685800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</a:rPr>
              <a:t>All </a:t>
            </a:r>
          </a:p>
          <a:p>
            <a:r>
              <a:rPr lang="en-US" sz="1000" dirty="0" smtClean="0">
                <a:solidFill>
                  <a:schemeClr val="bg1"/>
                </a:solidFill>
              </a:rPr>
              <a:t>Defaults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39000" y="3657600"/>
            <a:ext cx="1371600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Loan is current, repeat process next month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52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</TotalTime>
  <Words>176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CMBS Modeling Loan outcome projection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360</cp:revision>
  <cp:lastPrinted>2015-06-19T12:14:16Z</cp:lastPrinted>
  <dcterms:created xsi:type="dcterms:W3CDTF">2015-05-21T20:34:11Z</dcterms:created>
  <dcterms:modified xsi:type="dcterms:W3CDTF">2015-06-30T13:57:10Z</dcterms:modified>
</cp:coreProperties>
</file>