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handoutMasterIdLst>
    <p:handoutMasterId r:id="rId15"/>
  </p:handoutMasterIdLst>
  <p:sldIdLst>
    <p:sldId id="320" r:id="rId2"/>
    <p:sldId id="323" r:id="rId3"/>
    <p:sldId id="326" r:id="rId4"/>
    <p:sldId id="315" r:id="rId5"/>
    <p:sldId id="322" r:id="rId6"/>
    <p:sldId id="325" r:id="rId7"/>
    <p:sldId id="327" r:id="rId8"/>
    <p:sldId id="324" r:id="rId9"/>
    <p:sldId id="314" r:id="rId10"/>
    <p:sldId id="321" r:id="rId11"/>
    <p:sldId id="316" r:id="rId12"/>
    <p:sldId id="319" r:id="rId13"/>
  </p:sldIdLst>
  <p:sldSz cx="10058400" cy="7772400"/>
  <p:notesSz cx="6934200" cy="9220200"/>
  <p:defaultText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3456">
          <p15:clr>
            <a:srgbClr val="A4A3A4"/>
          </p15:clr>
        </p15:guide>
        <p15:guide id="2" orient="horz" pos="144">
          <p15:clr>
            <a:srgbClr val="A4A3A4"/>
          </p15:clr>
        </p15:guide>
        <p15:guide id="3" orient="horz" pos="207">
          <p15:clr>
            <a:srgbClr val="A4A3A4"/>
          </p15:clr>
        </p15:guide>
        <p15:guide id="4" orient="horz" pos="4752">
          <p15:clr>
            <a:srgbClr val="A4A3A4"/>
          </p15:clr>
        </p15:guide>
        <p15:guide id="5" orient="horz" pos="788">
          <p15:clr>
            <a:srgbClr val="A4A3A4"/>
          </p15:clr>
        </p15:guide>
        <p15:guide id="6" orient="horz" pos="4519">
          <p15:clr>
            <a:srgbClr val="A4A3A4"/>
          </p15:clr>
        </p15:guide>
        <p15:guide id="7" orient="horz" pos="1200">
          <p15:clr>
            <a:srgbClr val="A4A3A4"/>
          </p15:clr>
        </p15:guide>
        <p15:guide id="8" orient="horz" pos="4320">
          <p15:clr>
            <a:srgbClr val="A4A3A4"/>
          </p15:clr>
        </p15:guide>
        <p15:guide id="9" orient="horz" pos="4032">
          <p15:clr>
            <a:srgbClr val="A4A3A4"/>
          </p15:clr>
        </p15:guide>
        <p15:guide id="10" pos="3168">
          <p15:clr>
            <a:srgbClr val="A4A3A4"/>
          </p15:clr>
        </p15:guide>
        <p15:guide id="11" pos="185">
          <p15:clr>
            <a:srgbClr val="A4A3A4"/>
          </p15:clr>
        </p15:guide>
        <p15:guide id="12" pos="6150">
          <p15:clr>
            <a:srgbClr val="A4A3A4"/>
          </p15:clr>
        </p15:guide>
        <p15:guide id="13" pos="3072">
          <p15:clr>
            <a:srgbClr val="A4A3A4"/>
          </p15:clr>
        </p15:guide>
        <p15:guide id="14" pos="3264">
          <p15:clr>
            <a:srgbClr val="A4A3A4"/>
          </p15:clr>
        </p15:guide>
        <p15:guide id="15" pos="1344">
          <p15:clr>
            <a:srgbClr val="A4A3A4"/>
          </p15:clr>
        </p15:guide>
        <p15:guide id="16" pos="2101">
          <p15:clr>
            <a:srgbClr val="A4A3A4"/>
          </p15:clr>
        </p15:guide>
        <p15:guide id="17" pos="528">
          <p15:clr>
            <a:srgbClr val="A4A3A4"/>
          </p15:clr>
        </p15:guide>
        <p15:guide id="18" pos="3866">
          <p15:clr>
            <a:srgbClr val="A4A3A4"/>
          </p15:clr>
        </p15:guide>
        <p15:guide id="19" pos="3775">
          <p15:clr>
            <a:srgbClr val="A4A3A4"/>
          </p15:clr>
        </p15:guide>
        <p15:guide id="20" pos="3963">
          <p15:clr>
            <a:srgbClr val="A4A3A4"/>
          </p15:clr>
        </p15:guide>
        <p15:guide id="21" pos="4812">
          <p15:clr>
            <a:srgbClr val="A4A3A4"/>
          </p15:clr>
        </p15:guide>
        <p15:guide id="22" pos="720">
          <p15:clr>
            <a:srgbClr val="A4A3A4"/>
          </p15:clr>
        </p15:guide>
        <p15:guide id="23" pos="480">
          <p15:clr>
            <a:srgbClr val="A4A3A4"/>
          </p15:clr>
        </p15:guide>
        <p15:guide id="24" pos="4605">
          <p15:clr>
            <a:srgbClr val="A4A3A4"/>
          </p15:clr>
        </p15:guide>
        <p15:guide id="25" pos="2304">
          <p15:clr>
            <a:srgbClr val="A4A3A4"/>
          </p15:clr>
        </p15:guide>
        <p15:guide id="26" pos="1584">
          <p15:clr>
            <a:srgbClr val="A4A3A4"/>
          </p15:clr>
        </p15:guide>
      </p15:sldGuideLst>
    </p:ext>
    <p:ext uri="{2D200454-40CA-4A62-9FC3-DE9A4176ACB9}">
      <p15:notesGuideLst xmlns:p15="http://schemas.microsoft.com/office/powerpoint/2012/main" xmlns="">
        <p15:guide id="1" orient="horz" pos="2904" userDrawn="1">
          <p15:clr>
            <a:srgbClr val="A4A3A4"/>
          </p15:clr>
        </p15:guide>
        <p15:guide id="2" pos="2184" userDrawn="1">
          <p15:clr>
            <a:srgbClr val="A4A3A4"/>
          </p15:clr>
        </p15:guide>
        <p15:guide id="3" orient="horz" pos="2928">
          <p15:clr>
            <a:srgbClr val="A4A3A4"/>
          </p15:clr>
        </p15:guide>
        <p15:guide id="4"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060"/>
    <a:srgbClr val="2E3989"/>
    <a:srgbClr val="C7732D"/>
    <a:srgbClr val="533D2D"/>
    <a:srgbClr val="592E8A"/>
    <a:srgbClr val="2E398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303" autoAdjust="0"/>
    <p:restoredTop sz="94660" autoAdjust="0"/>
  </p:normalViewPr>
  <p:slideViewPr>
    <p:cSldViewPr showGuides="1">
      <p:cViewPr>
        <p:scale>
          <a:sx n="120" d="100"/>
          <a:sy n="120" d="100"/>
        </p:scale>
        <p:origin x="-132" y="42"/>
      </p:cViewPr>
      <p:guideLst>
        <p:guide orient="horz" pos="3456"/>
        <p:guide orient="horz" pos="144"/>
        <p:guide orient="horz" pos="207"/>
        <p:guide orient="horz" pos="4752"/>
        <p:guide orient="horz" pos="788"/>
        <p:guide orient="horz" pos="4519"/>
        <p:guide orient="horz" pos="1200"/>
        <p:guide orient="horz" pos="4320"/>
        <p:guide orient="horz" pos="4032"/>
        <p:guide pos="3168"/>
        <p:guide pos="185"/>
        <p:guide pos="6150"/>
        <p:guide pos="3072"/>
        <p:guide pos="3264"/>
        <p:guide pos="1344"/>
        <p:guide pos="2101"/>
        <p:guide pos="528"/>
        <p:guide pos="3866"/>
        <p:guide pos="3775"/>
        <p:guide pos="3963"/>
        <p:guide pos="4812"/>
        <p:guide pos="720"/>
        <p:guide pos="480"/>
        <p:guide pos="4605"/>
        <p:guide pos="2304"/>
        <p:guide pos="1584"/>
      </p:guideLst>
    </p:cSldViewPr>
  </p:slideViewPr>
  <p:notesTextViewPr>
    <p:cViewPr>
      <p:scale>
        <a:sx n="1" d="1"/>
        <a:sy n="1" d="1"/>
      </p:scale>
      <p:origin x="0" y="0"/>
    </p:cViewPr>
  </p:notesTextViewPr>
  <p:sorterViewPr>
    <p:cViewPr>
      <p:scale>
        <a:sx n="100" d="100"/>
        <a:sy n="100" d="100"/>
      </p:scale>
      <p:origin x="0" y="0"/>
    </p:cViewPr>
  </p:sorterViewPr>
  <p:notesViewPr>
    <p:cSldViewPr showGuides="1">
      <p:cViewPr varScale="1">
        <p:scale>
          <a:sx n="61" d="100"/>
          <a:sy n="61" d="100"/>
        </p:scale>
        <p:origin x="-2382" y="-78"/>
      </p:cViewPr>
      <p:guideLst>
        <p:guide orient="horz" pos="2880"/>
        <p:guide orient="horz" pos="2904"/>
        <p:guide pos="2160"/>
        <p:guide pos="218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oleObject" Target="file:///C:\Users\james.edwards\Downloads\Pitch%20book%20tables_1%20(2).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0512820512820512E-2"/>
          <c:y val="3.4819687854085318E-2"/>
          <c:w val="0.77564102564102566"/>
          <c:h val="0.93036062429182931"/>
        </c:manualLayout>
      </c:layout>
      <c:barChart>
        <c:barDir val="col"/>
        <c:grouping val="percentStacked"/>
        <c:varyColors val="0"/>
        <c:ser>
          <c:idx val="0"/>
          <c:order val="0"/>
          <c:tx>
            <c:strRef>
              <c:f>Sheet1!$B$1</c:f>
              <c:strCache>
                <c:ptCount val="1"/>
                <c:pt idx="0">
                  <c:v>A</c:v>
                </c:pt>
              </c:strCache>
            </c:strRef>
          </c:tx>
          <c:spPr>
            <a:ln>
              <a:solidFill>
                <a:schemeClr val="bg1"/>
              </a:solidFill>
            </a:ln>
          </c:spPr>
          <c:invertIfNegative val="0"/>
          <c:dLbls>
            <c:delete val="1"/>
          </c:dLbls>
          <c:cat>
            <c:numRef>
              <c:f>Sheet1!$A$2</c:f>
              <c:numCache>
                <c:formatCode>General</c:formatCode>
                <c:ptCount val="1"/>
              </c:numCache>
            </c:numRef>
          </c:cat>
          <c:val>
            <c:numRef>
              <c:f>Sheet1!$B$2</c:f>
              <c:numCache>
                <c:formatCode>General</c:formatCode>
                <c:ptCount val="1"/>
                <c:pt idx="0">
                  <c:v>80</c:v>
                </c:pt>
              </c:numCache>
            </c:numRef>
          </c:val>
        </c:ser>
        <c:ser>
          <c:idx val="1"/>
          <c:order val="1"/>
          <c:tx>
            <c:strRef>
              <c:f>Sheet1!$C$1</c:f>
              <c:strCache>
                <c:ptCount val="1"/>
                <c:pt idx="0">
                  <c:v>B</c:v>
                </c:pt>
              </c:strCache>
            </c:strRef>
          </c:tx>
          <c:spPr>
            <a:ln>
              <a:solidFill>
                <a:schemeClr val="bg1"/>
              </a:solidFill>
            </a:ln>
          </c:spPr>
          <c:invertIfNegative val="0"/>
          <c:dLbls>
            <c:delete val="1"/>
          </c:dLbls>
          <c:cat>
            <c:numRef>
              <c:f>Sheet1!$A$2</c:f>
              <c:numCache>
                <c:formatCode>General</c:formatCode>
                <c:ptCount val="1"/>
              </c:numCache>
            </c:numRef>
          </c:cat>
          <c:val>
            <c:numRef>
              <c:f>Sheet1!$C$2</c:f>
              <c:numCache>
                <c:formatCode>General</c:formatCode>
                <c:ptCount val="1"/>
                <c:pt idx="0">
                  <c:v>-20</c:v>
                </c:pt>
              </c:numCache>
            </c:numRef>
          </c:val>
        </c:ser>
        <c:dLbls>
          <c:showLegendKey val="0"/>
          <c:showVal val="1"/>
          <c:showCatName val="0"/>
          <c:showSerName val="0"/>
          <c:showPercent val="0"/>
          <c:showBubbleSize val="0"/>
        </c:dLbls>
        <c:gapWidth val="95"/>
        <c:overlap val="100"/>
        <c:axId val="124863232"/>
        <c:axId val="124864768"/>
      </c:barChart>
      <c:catAx>
        <c:axId val="124863232"/>
        <c:scaling>
          <c:orientation val="minMax"/>
        </c:scaling>
        <c:delete val="1"/>
        <c:axPos val="b"/>
        <c:numFmt formatCode="General" sourceLinked="1"/>
        <c:majorTickMark val="none"/>
        <c:minorTickMark val="none"/>
        <c:tickLblPos val="nextTo"/>
        <c:crossAx val="124864768"/>
        <c:crosses val="autoZero"/>
        <c:auto val="1"/>
        <c:lblAlgn val="ctr"/>
        <c:lblOffset val="100"/>
        <c:noMultiLvlLbl val="0"/>
      </c:catAx>
      <c:valAx>
        <c:axId val="124864768"/>
        <c:scaling>
          <c:orientation val="minMax"/>
        </c:scaling>
        <c:delete val="1"/>
        <c:axPos val="l"/>
        <c:numFmt formatCode="0%" sourceLinked="1"/>
        <c:majorTickMark val="out"/>
        <c:minorTickMark val="none"/>
        <c:tickLblPos val="nextTo"/>
        <c:crossAx val="124863232"/>
        <c:crosses val="autoZero"/>
        <c:crossBetween val="between"/>
        <c:majorUnit val="0.25"/>
      </c:valAx>
      <c:spPr>
        <a:ln>
          <a:solidFill>
            <a:schemeClr val="bg1"/>
          </a:solidFill>
        </a:ln>
      </c:spPr>
    </c:plotArea>
    <c:plotVisOnly val="1"/>
    <c:dispBlanksAs val="gap"/>
    <c:showDLblsOverMax val="0"/>
  </c:chart>
  <c:txPr>
    <a:bodyPr/>
    <a:lstStyle/>
    <a:p>
      <a:pPr>
        <a:defRPr sz="1200">
          <a:latin typeface="Arial Unicode MS" pitchFamily="34" charset="-122"/>
          <a:ea typeface="Arial Unicode MS" pitchFamily="34" charset="-122"/>
          <a:cs typeface="Arial Unicode MS" pitchFamily="34" charset="-122"/>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800" b="1" i="0" u="none" strike="noStrike" kern="1200" spc="0" baseline="0">
                <a:solidFill>
                  <a:schemeClr val="tx1"/>
                </a:solidFill>
                <a:latin typeface="+mn-lt"/>
                <a:ea typeface="+mn-ea"/>
                <a:cs typeface="+mn-cs"/>
              </a:defRPr>
            </a:pPr>
            <a:r>
              <a:rPr lang="en-US" sz="800" b="1" dirty="0">
                <a:solidFill>
                  <a:schemeClr val="tx1"/>
                </a:solidFill>
              </a:rPr>
              <a:t>Collateral Summary</a:t>
            </a:r>
          </a:p>
        </c:rich>
      </c:tx>
      <c:layout>
        <c:manualLayout>
          <c:xMode val="edge"/>
          <c:yMode val="edge"/>
          <c:x val="0.23160889635210052"/>
          <c:y val="4.5255661077859784E-2"/>
        </c:manualLayout>
      </c:layout>
      <c:overlay val="0"/>
      <c:spPr>
        <a:noFill/>
        <a:ln>
          <a:noFill/>
        </a:ln>
        <a:effectLst/>
      </c:spPr>
    </c:title>
    <c:autoTitleDeleted val="0"/>
    <c:plotArea>
      <c:layout/>
      <c:pieChart>
        <c:varyColors val="1"/>
        <c:ser>
          <c:idx val="0"/>
          <c:order val="0"/>
          <c:tx>
            <c:strRef>
              <c:f>'[Pitch book tables_1 (2).xlsx]BACM071'!$W$10</c:f>
              <c:strCache>
                <c:ptCount val="1"/>
                <c:pt idx="0">
                  <c:v>%age</c:v>
                </c:pt>
              </c:strCache>
            </c:strRef>
          </c:tx>
          <c:dPt>
            <c:idx val="0"/>
            <c:bubble3D val="0"/>
            <c:spPr>
              <a:solidFill>
                <a:schemeClr val="accent1"/>
              </a:solidFill>
              <a:ln w="19050">
                <a:solidFill>
                  <a:schemeClr val="lt1"/>
                </a:solidFill>
              </a:ln>
              <a:effectLst/>
            </c:spPr>
          </c:dPt>
          <c:dPt>
            <c:idx val="1"/>
            <c:bubble3D val="0"/>
            <c:spPr>
              <a:solidFill>
                <a:schemeClr val="accent2"/>
              </a:solidFill>
              <a:ln w="19050">
                <a:solidFill>
                  <a:schemeClr val="lt1"/>
                </a:solidFill>
              </a:ln>
              <a:effectLst/>
            </c:spPr>
          </c:dPt>
          <c:dPt>
            <c:idx val="2"/>
            <c:bubble3D val="0"/>
            <c:spPr>
              <a:solidFill>
                <a:srgbClr val="C7732D"/>
              </a:solidFill>
              <a:ln w="19050">
                <a:solidFill>
                  <a:schemeClr val="lt1"/>
                </a:solidFill>
              </a:ln>
              <a:effectLst/>
            </c:spPr>
          </c:dPt>
          <c:dPt>
            <c:idx val="3"/>
            <c:bubble3D val="0"/>
            <c:spPr>
              <a:solidFill>
                <a:srgbClr val="533D2D"/>
              </a:solidFill>
              <a:ln w="19050">
                <a:solidFill>
                  <a:schemeClr val="lt1"/>
                </a:solidFill>
              </a:ln>
              <a:effectLst/>
            </c:spPr>
          </c:dPt>
          <c:dPt>
            <c:idx val="4"/>
            <c:bubble3D val="0"/>
            <c:spPr>
              <a:solidFill>
                <a:schemeClr val="accent5"/>
              </a:solidFill>
              <a:ln w="19050">
                <a:solidFill>
                  <a:schemeClr val="lt1"/>
                </a:solidFill>
              </a:ln>
              <a:effectLst/>
            </c:spPr>
          </c:dPt>
          <c:dPt>
            <c:idx val="5"/>
            <c:bubble3D val="0"/>
            <c:spPr>
              <a:solidFill>
                <a:schemeClr val="tx2"/>
              </a:solidFill>
              <a:ln w="19050">
                <a:solidFill>
                  <a:schemeClr val="lt1"/>
                </a:solidFill>
              </a:ln>
              <a:effectLst/>
            </c:spPr>
          </c:dPt>
          <c:dPt>
            <c:idx val="6"/>
            <c:bubble3D val="0"/>
            <c:spPr>
              <a:solidFill>
                <a:srgbClr val="C8C42D"/>
              </a:solidFill>
              <a:ln w="19050">
                <a:solidFill>
                  <a:schemeClr val="lt1"/>
                </a:solidFill>
              </a:ln>
              <a:effectLst/>
            </c:spPr>
          </c:dPt>
          <c:dPt>
            <c:idx val="7"/>
            <c:bubble3D val="0"/>
            <c:spPr>
              <a:solidFill>
                <a:srgbClr val="AD273D"/>
              </a:solidFill>
              <a:ln w="19050">
                <a:solidFill>
                  <a:schemeClr val="lt1"/>
                </a:solidFill>
              </a:ln>
              <a:effectLst/>
            </c:spPr>
          </c:dPt>
          <c:dPt>
            <c:idx val="8"/>
            <c:bubble3D val="0"/>
            <c:spPr>
              <a:solidFill>
                <a:srgbClr val="00B050"/>
              </a:solidFill>
              <a:ln w="19050">
                <a:solidFill>
                  <a:schemeClr val="lt1"/>
                </a:solidFill>
              </a:ln>
              <a:effectLst/>
            </c:spPr>
          </c:dPt>
          <c:cat>
            <c:strRef>
              <c:f>'[Pitch book tables_1 (2).xlsx]BACM071'!$V$11:$V$19</c:f>
              <c:strCache>
                <c:ptCount val="9"/>
                <c:pt idx="0">
                  <c:v>Office</c:v>
                </c:pt>
                <c:pt idx="1">
                  <c:v>Retail</c:v>
                </c:pt>
                <c:pt idx="2">
                  <c:v>Multi-Family</c:v>
                </c:pt>
                <c:pt idx="3">
                  <c:v>Industrial</c:v>
                </c:pt>
                <c:pt idx="4">
                  <c:v>Self Storage</c:v>
                </c:pt>
                <c:pt idx="5">
                  <c:v>Lodging</c:v>
                </c:pt>
                <c:pt idx="6">
                  <c:v>Mobile Home</c:v>
                </c:pt>
                <c:pt idx="7">
                  <c:v>Mixed Use</c:v>
                </c:pt>
                <c:pt idx="8">
                  <c:v>Other</c:v>
                </c:pt>
              </c:strCache>
            </c:strRef>
          </c:cat>
          <c:val>
            <c:numRef>
              <c:f>'[Pitch book tables_1 (2).xlsx]BACM071'!$W$11:$W$19</c:f>
              <c:numCache>
                <c:formatCode>0%</c:formatCode>
                <c:ptCount val="9"/>
                <c:pt idx="0">
                  <c:v>0.33600000000000002</c:v>
                </c:pt>
                <c:pt idx="1">
                  <c:v>0.29699999999999999</c:v>
                </c:pt>
                <c:pt idx="2">
                  <c:v>0.14000000000000001</c:v>
                </c:pt>
                <c:pt idx="3">
                  <c:v>0.13800000000000001</c:v>
                </c:pt>
                <c:pt idx="4">
                  <c:v>3.5000000000000003E-2</c:v>
                </c:pt>
                <c:pt idx="5">
                  <c:v>2.7999999999999997E-2</c:v>
                </c:pt>
                <c:pt idx="6">
                  <c:v>0.01</c:v>
                </c:pt>
                <c:pt idx="7">
                  <c:v>9.0000000000000011E-3</c:v>
                </c:pt>
                <c:pt idx="8">
                  <c:v>6.9999999999999993E-3</c:v>
                </c:pt>
              </c:numCache>
            </c:numRef>
          </c:val>
        </c:ser>
        <c:dLbls>
          <c:showLegendKey val="0"/>
          <c:showVal val="0"/>
          <c:showCatName val="0"/>
          <c:showSerName val="0"/>
          <c:showPercent val="0"/>
          <c:showBubbleSize val="0"/>
          <c:showLeaderLines val="1"/>
        </c:dLbls>
        <c:firstSliceAng val="0"/>
      </c:pieChart>
      <c:spPr>
        <a:noFill/>
        <a:ln>
          <a:noFill/>
        </a:ln>
        <a:effectLst/>
      </c:spPr>
    </c:plotArea>
    <c:legend>
      <c:legendPos val="r"/>
      <c:layout/>
      <c:overlay val="0"/>
      <c:spPr>
        <a:noFill/>
        <a:ln>
          <a:noFill/>
        </a:ln>
        <a:effectLst/>
      </c:spPr>
      <c:txPr>
        <a:bodyPr rot="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w="9525" cap="flat" cmpd="sng" algn="ctr">
      <a:noFill/>
      <a:round/>
    </a:ln>
    <a:effectLst/>
  </c:spPr>
  <c:txPr>
    <a:bodyPr/>
    <a:lstStyle/>
    <a:p>
      <a:pPr>
        <a:defRPr/>
      </a:pPr>
      <a:endParaRPr lang="en-US"/>
    </a:p>
  </c:txPr>
  <c:externalData r:id="rId1">
    <c:autoUpdate val="0"/>
  </c:externalData>
</c:chartSpace>
</file>

<file path=ppt/drawings/_rels/vmlDrawing1.v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image" Target="../media/image8.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04820" cy="461010"/>
          </a:xfrm>
          <a:prstGeom prst="rect">
            <a:avLst/>
          </a:prstGeom>
        </p:spPr>
        <p:txBody>
          <a:bodyPr vert="horz" lIns="92293" tIns="46147" rIns="92293" bIns="46147" rtlCol="0"/>
          <a:lstStyle>
            <a:lvl1pPr algn="l">
              <a:defRPr sz="1200"/>
            </a:lvl1pPr>
          </a:lstStyle>
          <a:p>
            <a:endParaRPr lang="en-US" dirty="0"/>
          </a:p>
        </p:txBody>
      </p:sp>
      <p:sp>
        <p:nvSpPr>
          <p:cNvPr id="3" name="Date Placeholder 2"/>
          <p:cNvSpPr>
            <a:spLocks noGrp="1"/>
          </p:cNvSpPr>
          <p:nvPr>
            <p:ph type="dt" sz="quarter" idx="1"/>
          </p:nvPr>
        </p:nvSpPr>
        <p:spPr>
          <a:xfrm>
            <a:off x="3927776" y="0"/>
            <a:ext cx="3004820" cy="461010"/>
          </a:xfrm>
          <a:prstGeom prst="rect">
            <a:avLst/>
          </a:prstGeom>
        </p:spPr>
        <p:txBody>
          <a:bodyPr vert="horz" lIns="92293" tIns="46147" rIns="92293" bIns="46147" rtlCol="0"/>
          <a:lstStyle>
            <a:lvl1pPr algn="r">
              <a:defRPr sz="1200"/>
            </a:lvl1pPr>
          </a:lstStyle>
          <a:p>
            <a:fld id="{CD69C154-8DB3-4790-A359-7790FFBF8C47}" type="datetimeFigureOut">
              <a:rPr lang="en-US" smtClean="0"/>
              <a:t>7/2/2015</a:t>
            </a:fld>
            <a:endParaRPr lang="en-US" dirty="0"/>
          </a:p>
        </p:txBody>
      </p:sp>
      <p:sp>
        <p:nvSpPr>
          <p:cNvPr id="4" name="Footer Placeholder 3"/>
          <p:cNvSpPr>
            <a:spLocks noGrp="1"/>
          </p:cNvSpPr>
          <p:nvPr>
            <p:ph type="ftr" sz="quarter" idx="2"/>
          </p:nvPr>
        </p:nvSpPr>
        <p:spPr>
          <a:xfrm>
            <a:off x="0" y="8757590"/>
            <a:ext cx="3004820" cy="461010"/>
          </a:xfrm>
          <a:prstGeom prst="rect">
            <a:avLst/>
          </a:prstGeom>
        </p:spPr>
        <p:txBody>
          <a:bodyPr vert="horz" lIns="92293" tIns="46147" rIns="92293" bIns="46147"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27776" y="8757590"/>
            <a:ext cx="3004820" cy="461010"/>
          </a:xfrm>
          <a:prstGeom prst="rect">
            <a:avLst/>
          </a:prstGeom>
        </p:spPr>
        <p:txBody>
          <a:bodyPr vert="horz" lIns="92293" tIns="46147" rIns="92293" bIns="46147" rtlCol="0" anchor="b"/>
          <a:lstStyle>
            <a:lvl1pPr algn="r">
              <a:defRPr sz="1200"/>
            </a:lvl1pPr>
          </a:lstStyle>
          <a:p>
            <a:fld id="{3AA19290-3B50-423F-8386-34EA3226F54C}" type="slidenum">
              <a:rPr lang="en-US" smtClean="0"/>
              <a:t>‹#›</a:t>
            </a:fld>
            <a:endParaRPr lang="en-US" dirty="0"/>
          </a:p>
        </p:txBody>
      </p:sp>
    </p:spTree>
    <p:extLst>
      <p:ext uri="{BB962C8B-B14F-4D97-AF65-F5344CB8AC3E}">
        <p14:creationId xmlns:p14="http://schemas.microsoft.com/office/powerpoint/2010/main" val="1616536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04820" cy="461010"/>
          </a:xfrm>
          <a:prstGeom prst="rect">
            <a:avLst/>
          </a:prstGeom>
        </p:spPr>
        <p:txBody>
          <a:bodyPr vert="horz" lIns="92293" tIns="46147" rIns="92293" bIns="46147" rtlCol="0"/>
          <a:lstStyle>
            <a:lvl1pPr algn="l">
              <a:defRPr sz="1200"/>
            </a:lvl1pPr>
          </a:lstStyle>
          <a:p>
            <a:endParaRPr lang="en-US" dirty="0"/>
          </a:p>
        </p:txBody>
      </p:sp>
      <p:sp>
        <p:nvSpPr>
          <p:cNvPr id="3" name="Date Placeholder 2"/>
          <p:cNvSpPr>
            <a:spLocks noGrp="1"/>
          </p:cNvSpPr>
          <p:nvPr>
            <p:ph type="dt" idx="1"/>
          </p:nvPr>
        </p:nvSpPr>
        <p:spPr>
          <a:xfrm>
            <a:off x="3927776" y="0"/>
            <a:ext cx="3004820" cy="461010"/>
          </a:xfrm>
          <a:prstGeom prst="rect">
            <a:avLst/>
          </a:prstGeom>
        </p:spPr>
        <p:txBody>
          <a:bodyPr vert="horz" lIns="92293" tIns="46147" rIns="92293" bIns="46147" rtlCol="0"/>
          <a:lstStyle>
            <a:lvl1pPr algn="r">
              <a:defRPr sz="1200"/>
            </a:lvl1pPr>
          </a:lstStyle>
          <a:p>
            <a:fld id="{D94E0677-78E7-4F29-8DEE-AA9328514842}" type="datetimeFigureOut">
              <a:rPr lang="en-US" smtClean="0"/>
              <a:t>7/2/2015</a:t>
            </a:fld>
            <a:endParaRPr lang="en-US" dirty="0"/>
          </a:p>
        </p:txBody>
      </p:sp>
      <p:sp>
        <p:nvSpPr>
          <p:cNvPr id="4" name="Slide Image Placeholder 3"/>
          <p:cNvSpPr>
            <a:spLocks noGrp="1" noRot="1" noChangeAspect="1"/>
          </p:cNvSpPr>
          <p:nvPr>
            <p:ph type="sldImg" idx="2"/>
          </p:nvPr>
        </p:nvSpPr>
        <p:spPr>
          <a:xfrm>
            <a:off x="1230313" y="690563"/>
            <a:ext cx="4473575" cy="3457575"/>
          </a:xfrm>
          <a:prstGeom prst="rect">
            <a:avLst/>
          </a:prstGeom>
          <a:noFill/>
          <a:ln w="12700">
            <a:solidFill>
              <a:prstClr val="black"/>
            </a:solidFill>
          </a:ln>
        </p:spPr>
        <p:txBody>
          <a:bodyPr vert="horz" lIns="92293" tIns="46147" rIns="92293" bIns="46147" rtlCol="0" anchor="ctr"/>
          <a:lstStyle/>
          <a:p>
            <a:endParaRPr lang="en-US" dirty="0"/>
          </a:p>
        </p:txBody>
      </p:sp>
      <p:sp>
        <p:nvSpPr>
          <p:cNvPr id="5" name="Notes Placeholder 4"/>
          <p:cNvSpPr>
            <a:spLocks noGrp="1"/>
          </p:cNvSpPr>
          <p:nvPr>
            <p:ph type="body" sz="quarter" idx="3"/>
          </p:nvPr>
        </p:nvSpPr>
        <p:spPr>
          <a:xfrm>
            <a:off x="693420" y="4379595"/>
            <a:ext cx="5547360" cy="4149090"/>
          </a:xfrm>
          <a:prstGeom prst="rect">
            <a:avLst/>
          </a:prstGeom>
        </p:spPr>
        <p:txBody>
          <a:bodyPr vert="horz" lIns="92293" tIns="46147" rIns="92293" bIns="46147"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757590"/>
            <a:ext cx="3004820" cy="461010"/>
          </a:xfrm>
          <a:prstGeom prst="rect">
            <a:avLst/>
          </a:prstGeom>
        </p:spPr>
        <p:txBody>
          <a:bodyPr vert="horz" lIns="92293" tIns="46147" rIns="92293" bIns="46147"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27776" y="8757590"/>
            <a:ext cx="3004820" cy="461010"/>
          </a:xfrm>
          <a:prstGeom prst="rect">
            <a:avLst/>
          </a:prstGeom>
        </p:spPr>
        <p:txBody>
          <a:bodyPr vert="horz" lIns="92293" tIns="46147" rIns="92293" bIns="46147" rtlCol="0" anchor="b"/>
          <a:lstStyle>
            <a:lvl1pPr algn="r">
              <a:defRPr sz="1200"/>
            </a:lvl1pPr>
          </a:lstStyle>
          <a:p>
            <a:fld id="{4CF500CA-EC02-405F-A377-1C6BD89C661C}" type="slidenum">
              <a:rPr lang="en-US" smtClean="0"/>
              <a:t>‹#›</a:t>
            </a:fld>
            <a:endParaRPr lang="en-US" dirty="0"/>
          </a:p>
        </p:txBody>
      </p:sp>
    </p:spTree>
    <p:extLst>
      <p:ext uri="{BB962C8B-B14F-4D97-AF65-F5344CB8AC3E}">
        <p14:creationId xmlns:p14="http://schemas.microsoft.com/office/powerpoint/2010/main" val="2770363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p:cNvSpPr>
            <a:spLocks noGrp="1" noRot="1" noChangeAspect="1"/>
          </p:cNvSpPr>
          <p:nvPr>
            <p:ph type="sldImg"/>
          </p:nvPr>
        </p:nvSpPr>
        <p:spPr>
          <a:xfrm>
            <a:off x="1230313" y="692150"/>
            <a:ext cx="4473575" cy="3457575"/>
          </a:xfrm>
          <a:ln/>
        </p:spPr>
      </p:sp>
      <p:sp>
        <p:nvSpPr>
          <p:cNvPr id="90114" name="Notes Placeholder 2"/>
          <p:cNvSpPr>
            <a:spLocks noGrp="1"/>
          </p:cNvSpPr>
          <p:nvPr>
            <p:ph type="body" idx="1"/>
          </p:nvPr>
        </p:nvSpPr>
        <p:spPr>
          <a:noFill/>
          <a:ln/>
        </p:spPr>
        <p:txBody>
          <a:bodyPr/>
          <a:lstStyle/>
          <a:p>
            <a:pPr eaLnBrk="1" hangingPunct="1"/>
            <a:endParaRPr lang="en-US" dirty="0" smtClean="0"/>
          </a:p>
        </p:txBody>
      </p:sp>
      <p:sp>
        <p:nvSpPr>
          <p:cNvPr id="90115" name="Slide Number Placeholder 3"/>
          <p:cNvSpPr>
            <a:spLocks noGrp="1"/>
          </p:cNvSpPr>
          <p:nvPr>
            <p:ph type="sldNum" sz="quarter" idx="5"/>
          </p:nvPr>
        </p:nvSpPr>
        <p:spPr>
          <a:noFill/>
        </p:spPr>
        <p:txBody>
          <a:bodyPr/>
          <a:lstStyle/>
          <a:p>
            <a:pPr defTabSz="919366"/>
            <a:fld id="{1FE077EC-684A-4FD9-A6C3-9AE90D8B81D6}" type="slidenum">
              <a:rPr lang="en-US" smtClean="0"/>
              <a:pPr defTabSz="919366"/>
              <a:t>1</a:t>
            </a:fld>
            <a:endParaRPr lang="en-US" dirty="0" smtClean="0"/>
          </a:p>
        </p:txBody>
      </p:sp>
    </p:spTree>
    <p:extLst>
      <p:ext uri="{BB962C8B-B14F-4D97-AF65-F5344CB8AC3E}">
        <p14:creationId xmlns:p14="http://schemas.microsoft.com/office/powerpoint/2010/main" val="30067720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r>
              <a:rPr lang="en-US" dirty="0" smtClean="0"/>
              <a:t>The draft you sent over had this title. It doesn’t look correct?</a:t>
            </a:r>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2</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4</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500CA-EC02-405F-A377-1C6BD89C661C}" type="slidenum">
              <a:rPr lang="en-US" smtClean="0"/>
              <a:t>5</a:t>
            </a:fld>
            <a:endParaRPr lang="en-US" dirty="0"/>
          </a:p>
        </p:txBody>
      </p:sp>
    </p:spTree>
    <p:extLst>
      <p:ext uri="{BB962C8B-B14F-4D97-AF65-F5344CB8AC3E}">
        <p14:creationId xmlns:p14="http://schemas.microsoft.com/office/powerpoint/2010/main" val="41359565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9</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r>
              <a:rPr lang="en-US" dirty="0" smtClean="0"/>
              <a:t>The draft you sent over had this title. It doesn’t look correct?</a:t>
            </a:r>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10</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r>
              <a:rPr lang="en-US" dirty="0" smtClean="0"/>
              <a:t>The draft you sent over had this title. It doesn’t look correct?</a:t>
            </a:r>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11</a:t>
            </a:fld>
            <a:endParaRPr lang="en-US" dirty="0">
              <a:solidFill>
                <a:srgbClr val="000000"/>
              </a:solidFill>
            </a:endParaRPr>
          </a:p>
        </p:txBody>
      </p:sp>
    </p:spTree>
    <p:extLst>
      <p:ext uri="{BB962C8B-B14F-4D97-AF65-F5344CB8AC3E}">
        <p14:creationId xmlns:p14="http://schemas.microsoft.com/office/powerpoint/2010/main" val="38598176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r>
              <a:rPr lang="en-US" dirty="0" smtClean="0"/>
              <a:t>The draft you sent over had this title. It doesn’t look correct?</a:t>
            </a:r>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12</a:t>
            </a:fld>
            <a:endParaRPr lang="en-US" dirty="0">
              <a:solidFill>
                <a:srgbClr val="000000"/>
              </a:solidFill>
            </a:endParaRPr>
          </a:p>
        </p:txBody>
      </p:sp>
    </p:spTree>
    <p:extLst>
      <p:ext uri="{BB962C8B-B14F-4D97-AF65-F5344CB8AC3E}">
        <p14:creationId xmlns:p14="http://schemas.microsoft.com/office/powerpoint/2010/main" val="58003982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Master" Target="../slideMasters/slideMaster1.xml"/><Relationship Id="rId5" Type="http://schemas.openxmlformats.org/officeDocument/2006/relationships/image" Target="../media/image3.emf"/><Relationship Id="rId4" Type="http://schemas.openxmlformats.org/officeDocument/2006/relationships/image" Target="../media/image5.gi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Master" Target="../slideMasters/slideMaster1.xml"/><Relationship Id="rId5" Type="http://schemas.openxmlformats.org/officeDocument/2006/relationships/image" Target="../media/image3.emf"/><Relationship Id="rId4" Type="http://schemas.openxmlformats.org/officeDocument/2006/relationships/image" Target="../media/image5.gi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33" descr="Cello_CoverDesigns_FINAL_2-02"/>
          <p:cNvPicPr>
            <a:picLocks noChangeAspect="1" noChangeArrowheads="1"/>
          </p:cNvPicPr>
          <p:nvPr userDrawn="1"/>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sp>
        <p:nvSpPr>
          <p:cNvPr id="8"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9"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sp>
        <p:nvSpPr>
          <p:cNvPr id="21" name="Rectangle 14"/>
          <p:cNvSpPr>
            <a:spLocks noChangeArrowheads="1"/>
          </p:cNvSpPr>
          <p:nvPr userDrawn="1"/>
        </p:nvSpPr>
        <p:spPr bwMode="auto">
          <a:xfrm>
            <a:off x="228600" y="228600"/>
            <a:ext cx="9601200" cy="7315200"/>
          </a:xfrm>
          <a:prstGeom prst="rect">
            <a:avLst/>
          </a:prstGeom>
          <a:noFill/>
          <a:ln w="25400">
            <a:solidFill>
              <a:schemeClr val="accent3"/>
            </a:solidFill>
            <a:miter lim="800000"/>
            <a:headEnd/>
            <a:tailEnd/>
          </a:ln>
        </p:spPr>
        <p:txBody>
          <a:bodyPr wrap="none" lIns="101847" tIns="50923" rIns="101847" bIns="50923" anchor="ctr"/>
          <a:lstStyle/>
          <a:p>
            <a:pPr>
              <a:defRPr/>
            </a:pPr>
            <a:endParaRPr lang="en-US" dirty="0"/>
          </a:p>
        </p:txBody>
      </p:sp>
      <p:sp>
        <p:nvSpPr>
          <p:cNvPr id="2" name="Title 1"/>
          <p:cNvSpPr>
            <a:spLocks noGrp="1"/>
          </p:cNvSpPr>
          <p:nvPr>
            <p:ph type="ctrTitle"/>
          </p:nvPr>
        </p:nvSpPr>
        <p:spPr>
          <a:xfrm>
            <a:off x="3352800" y="6299200"/>
            <a:ext cx="6248400" cy="330200"/>
          </a:xfrm>
        </p:spPr>
        <p:txBody>
          <a:bodyPr/>
          <a:lstStyle>
            <a:lvl1pPr algn="r">
              <a:defRPr sz="2000" b="0" baseline="0">
                <a:solidFill>
                  <a:schemeClr val="accent3"/>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3352800" y="6639560"/>
            <a:ext cx="6248400" cy="457200"/>
          </a:xfrm>
        </p:spPr>
        <p:txBody>
          <a:bodyPr/>
          <a:lstStyle>
            <a:lvl1pPr marL="0" indent="0" algn="r">
              <a:buNone/>
              <a:defRPr sz="1700" b="0">
                <a:solidFill>
                  <a:schemeClr val="tx2"/>
                </a:solidFill>
              </a:defRPr>
            </a:lvl1pPr>
            <a:lvl2pPr marL="509412" indent="0" algn="ctr">
              <a:buNone/>
              <a:defRPr>
                <a:solidFill>
                  <a:schemeClr val="tx1">
                    <a:tint val="75000"/>
                  </a:schemeClr>
                </a:solidFill>
              </a:defRPr>
            </a:lvl2pPr>
            <a:lvl3pPr marL="1018824" indent="0" algn="ctr">
              <a:buNone/>
              <a:defRPr>
                <a:solidFill>
                  <a:schemeClr val="tx1">
                    <a:tint val="75000"/>
                  </a:schemeClr>
                </a:solidFill>
              </a:defRPr>
            </a:lvl3pPr>
            <a:lvl4pPr marL="1528237" indent="0" algn="ctr">
              <a:buNone/>
              <a:defRPr>
                <a:solidFill>
                  <a:schemeClr val="tx1">
                    <a:tint val="75000"/>
                  </a:schemeClr>
                </a:solidFill>
              </a:defRPr>
            </a:lvl4pPr>
            <a:lvl5pPr marL="2037649" indent="0" algn="ctr">
              <a:buNone/>
              <a:defRPr>
                <a:solidFill>
                  <a:schemeClr val="tx1">
                    <a:tint val="75000"/>
                  </a:schemeClr>
                </a:solidFill>
              </a:defRPr>
            </a:lvl5pPr>
            <a:lvl6pPr marL="2547061" indent="0" algn="ctr">
              <a:buNone/>
              <a:defRPr>
                <a:solidFill>
                  <a:schemeClr val="tx1">
                    <a:tint val="75000"/>
                  </a:schemeClr>
                </a:solidFill>
              </a:defRPr>
            </a:lvl6pPr>
            <a:lvl7pPr marL="3056473" indent="0" algn="ctr">
              <a:buNone/>
              <a:defRPr>
                <a:solidFill>
                  <a:schemeClr val="tx1">
                    <a:tint val="75000"/>
                  </a:schemeClr>
                </a:solidFill>
              </a:defRPr>
            </a:lvl7pPr>
            <a:lvl8pPr marL="3565886" indent="0" algn="ctr">
              <a:buNone/>
              <a:defRPr>
                <a:solidFill>
                  <a:schemeClr val="tx1">
                    <a:tint val="75000"/>
                  </a:schemeClr>
                </a:solidFill>
              </a:defRPr>
            </a:lvl8pPr>
            <a:lvl9pPr marL="4075298" indent="0" algn="ctr">
              <a:buNone/>
              <a:defRPr>
                <a:solidFill>
                  <a:schemeClr val="tx1">
                    <a:tint val="75000"/>
                  </a:schemeClr>
                </a:solidFill>
              </a:defRPr>
            </a:lvl9pPr>
          </a:lstStyle>
          <a:p>
            <a:r>
              <a:rPr lang="en-US" dirty="0" smtClean="0"/>
              <a:t>Click to edit Master subtitle style</a:t>
            </a:r>
            <a:endParaRPr lang="en-US" dirty="0"/>
          </a:p>
        </p:txBody>
      </p:sp>
      <p:pic>
        <p:nvPicPr>
          <p:cNvPr id="22" name="Picture 21"/>
          <p:cNvPicPr>
            <a:picLocks noChangeAspect="1"/>
          </p:cNvPicPr>
          <p:nvPr userDrawn="1"/>
        </p:nvPicPr>
        <p:blipFill>
          <a:blip r:embed="rId3"/>
          <a:stretch>
            <a:fillRect/>
          </a:stretch>
        </p:blipFill>
        <p:spPr>
          <a:xfrm>
            <a:off x="1011082" y="3986954"/>
            <a:ext cx="2202628" cy="2880360"/>
          </a:xfrm>
          <a:prstGeom prst="rect">
            <a:avLst/>
          </a:prstGeom>
        </p:spPr>
      </p:pic>
    </p:spTree>
    <p:extLst>
      <p:ext uri="{BB962C8B-B14F-4D97-AF65-F5344CB8AC3E}">
        <p14:creationId xmlns:p14="http://schemas.microsoft.com/office/powerpoint/2010/main" val="21132140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10" name="Picture 30" descr="Cello_CoverDesigns_Cellobluestrip-01"/>
          <p:cNvPicPr>
            <a:picLocks noChangeAspect="1" noChangeArrowheads="1"/>
          </p:cNvPicPr>
          <p:nvPr userDrawn="1"/>
        </p:nvPicPr>
        <p:blipFill>
          <a:blip r:embed="rId2" cstate="print"/>
          <a:srcRect b="3510"/>
          <a:stretch>
            <a:fillRect/>
          </a:stretch>
        </p:blipFill>
        <p:spPr bwMode="auto">
          <a:xfrm>
            <a:off x="228600" y="4769594"/>
            <a:ext cx="9601200" cy="482500"/>
          </a:xfrm>
          <a:prstGeom prst="rect">
            <a:avLst/>
          </a:prstGeom>
          <a:noFill/>
        </p:spPr>
      </p:pic>
      <p:pic>
        <p:nvPicPr>
          <p:cNvPr id="11" name="Picture 33" descr="Cello_CoverDesigns_FINAL_2-02"/>
          <p:cNvPicPr>
            <a:picLocks noChangeAspect="1" noChangeArrowheads="1"/>
          </p:cNvPicPr>
          <p:nvPr userDrawn="1"/>
        </p:nvPicPr>
        <p:blipFill>
          <a:blip r:embed="rId3" cstate="print"/>
          <a:srcRect b="13019"/>
          <a:stretch>
            <a:fillRect/>
          </a:stretch>
        </p:blipFill>
        <p:spPr bwMode="auto">
          <a:xfrm>
            <a:off x="228600" y="889638"/>
            <a:ext cx="9601200" cy="3853742"/>
          </a:xfrm>
          <a:prstGeom prst="rect">
            <a:avLst/>
          </a:prstGeom>
          <a:noFill/>
          <a:ln w="9525">
            <a:noFill/>
            <a:miter lim="800000"/>
            <a:headEnd/>
            <a:tailEnd/>
          </a:ln>
        </p:spPr>
      </p:pic>
      <p:pic>
        <p:nvPicPr>
          <p:cNvPr id="26" name="Picture 25" descr="GUGG_logo_262.gif"/>
          <p:cNvPicPr>
            <a:picLocks noChangeAspect="1"/>
          </p:cNvPicPr>
          <p:nvPr userDrawn="1"/>
        </p:nvPicPr>
        <p:blipFill>
          <a:blip r:embed="rId4" cstate="print"/>
          <a:stretch>
            <a:fillRect/>
          </a:stretch>
        </p:blipFill>
        <p:spPr>
          <a:xfrm>
            <a:off x="4043680" y="468949"/>
            <a:ext cx="2072640" cy="153375"/>
          </a:xfrm>
          <a:prstGeom prst="rect">
            <a:avLst/>
          </a:prstGeom>
        </p:spPr>
      </p:pic>
      <p:pic>
        <p:nvPicPr>
          <p:cNvPr id="27" name="Picture 26"/>
          <p:cNvPicPr>
            <a:picLocks noChangeAspect="1"/>
          </p:cNvPicPr>
          <p:nvPr userDrawn="1"/>
        </p:nvPicPr>
        <p:blipFill>
          <a:blip r:embed="rId5"/>
          <a:stretch>
            <a:fillRect/>
          </a:stretch>
        </p:blipFill>
        <p:spPr>
          <a:xfrm>
            <a:off x="3753074" y="3762061"/>
            <a:ext cx="2552251" cy="3337560"/>
          </a:xfrm>
          <a:prstGeom prst="rect">
            <a:avLst/>
          </a:prstGeom>
        </p:spPr>
      </p:pic>
      <p:sp>
        <p:nvSpPr>
          <p:cNvPr id="28" name="Rectangle 14"/>
          <p:cNvSpPr>
            <a:spLocks noChangeArrowheads="1"/>
          </p:cNvSpPr>
          <p:nvPr userDrawn="1"/>
        </p:nvSpPr>
        <p:spPr bwMode="auto">
          <a:xfrm>
            <a:off x="228600" y="228600"/>
            <a:ext cx="9601200" cy="7315200"/>
          </a:xfrm>
          <a:prstGeom prst="rect">
            <a:avLst/>
          </a:prstGeom>
          <a:noFill/>
          <a:ln w="25400">
            <a:solidFill>
              <a:schemeClr val="accent3"/>
            </a:solidFill>
            <a:miter lim="800000"/>
            <a:headEnd/>
            <a:tailEnd/>
          </a:ln>
        </p:spPr>
        <p:txBody>
          <a:bodyPr wrap="none" lIns="101847" tIns="50923" rIns="101847" bIns="50923" anchor="ctr"/>
          <a:lstStyle/>
          <a:p>
            <a:pPr>
              <a:defRPr/>
            </a:pPr>
            <a:endParaRPr lang="en-US" dirty="0"/>
          </a:p>
        </p:txBody>
      </p:sp>
    </p:spTree>
    <p:extLst>
      <p:ext uri="{BB962C8B-B14F-4D97-AF65-F5344CB8AC3E}">
        <p14:creationId xmlns:p14="http://schemas.microsoft.com/office/powerpoint/2010/main" val="12157969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pic>
        <p:nvPicPr>
          <p:cNvPr id="10" name="Picture 30" descr="Cello_CoverDesigns_Cellobluestrip-01"/>
          <p:cNvPicPr>
            <a:picLocks noChangeAspect="1" noChangeArrowheads="1"/>
          </p:cNvPicPr>
          <p:nvPr userDrawn="1"/>
        </p:nvPicPr>
        <p:blipFill>
          <a:blip r:embed="rId2" cstate="print"/>
          <a:srcRect b="3510"/>
          <a:stretch>
            <a:fillRect/>
          </a:stretch>
        </p:blipFill>
        <p:spPr bwMode="auto">
          <a:xfrm>
            <a:off x="228600" y="4769594"/>
            <a:ext cx="9601200" cy="482500"/>
          </a:xfrm>
          <a:prstGeom prst="rect">
            <a:avLst/>
          </a:prstGeom>
          <a:noFill/>
        </p:spPr>
      </p:pic>
      <p:pic>
        <p:nvPicPr>
          <p:cNvPr id="11" name="Picture 33" descr="Cello_CoverDesigns_FINAL_2-02"/>
          <p:cNvPicPr>
            <a:picLocks noChangeAspect="1" noChangeArrowheads="1"/>
          </p:cNvPicPr>
          <p:nvPr userDrawn="1"/>
        </p:nvPicPr>
        <p:blipFill>
          <a:blip r:embed="rId3" cstate="print"/>
          <a:srcRect b="13019"/>
          <a:stretch>
            <a:fillRect/>
          </a:stretch>
        </p:blipFill>
        <p:spPr bwMode="auto">
          <a:xfrm>
            <a:off x="228600" y="889638"/>
            <a:ext cx="9601200" cy="3853742"/>
          </a:xfrm>
          <a:prstGeom prst="rect">
            <a:avLst/>
          </a:prstGeom>
          <a:noFill/>
          <a:ln w="9525">
            <a:noFill/>
            <a:miter lim="800000"/>
            <a:headEnd/>
            <a:tailEnd/>
          </a:ln>
        </p:spPr>
      </p:pic>
      <p:sp>
        <p:nvSpPr>
          <p:cNvPr id="25" name="Rectangle 24"/>
          <p:cNvSpPr/>
          <p:nvPr userDrawn="1"/>
        </p:nvSpPr>
        <p:spPr>
          <a:xfrm>
            <a:off x="228600" y="228600"/>
            <a:ext cx="9601200" cy="7315200"/>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26" name="Picture 25" descr="GUGG_logo_262.gif"/>
          <p:cNvPicPr>
            <a:picLocks noChangeAspect="1"/>
          </p:cNvPicPr>
          <p:nvPr userDrawn="1"/>
        </p:nvPicPr>
        <p:blipFill>
          <a:blip r:embed="rId4" cstate="print"/>
          <a:stretch>
            <a:fillRect/>
          </a:stretch>
        </p:blipFill>
        <p:spPr>
          <a:xfrm>
            <a:off x="4043680" y="468949"/>
            <a:ext cx="2072640" cy="153375"/>
          </a:xfrm>
          <a:prstGeom prst="rect">
            <a:avLst/>
          </a:prstGeom>
        </p:spPr>
      </p:pic>
      <p:pic>
        <p:nvPicPr>
          <p:cNvPr id="27" name="Picture 26"/>
          <p:cNvPicPr>
            <a:picLocks noChangeAspect="1"/>
          </p:cNvPicPr>
          <p:nvPr userDrawn="1"/>
        </p:nvPicPr>
        <p:blipFill>
          <a:blip r:embed="rId5"/>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20506296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3_Title Slide">
    <p:spTree>
      <p:nvGrpSpPr>
        <p:cNvPr id="1" name=""/>
        <p:cNvGrpSpPr/>
        <p:nvPr/>
      </p:nvGrpSpPr>
      <p:grpSpPr>
        <a:xfrm>
          <a:off x="0" y="0"/>
          <a:ext cx="0" cy="0"/>
          <a:chOff x="0" y="0"/>
          <a:chExt cx="0" cy="0"/>
        </a:xfrm>
      </p:grpSpPr>
      <p:pic>
        <p:nvPicPr>
          <p:cNvPr id="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8" name="Line 17"/>
          <p:cNvSpPr>
            <a:spLocks noChangeShapeType="1"/>
          </p:cNvSpPr>
          <p:nvPr userDrawn="1"/>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9" name="Line 17"/>
          <p:cNvSpPr>
            <a:spLocks noChangeShapeType="1"/>
          </p:cNvSpPr>
          <p:nvPr userDrawn="1"/>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5" name="Rectangle 24"/>
          <p:cNvSpPr/>
          <p:nvPr userDrawn="1"/>
        </p:nvSpPr>
        <p:spPr>
          <a:xfrm>
            <a:off x="228600" y="228600"/>
            <a:ext cx="9601200" cy="73152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26" name="Picture 25" descr="GUGG_logo_262.gif"/>
          <p:cNvPicPr>
            <a:picLocks noChangeAspect="1"/>
          </p:cNvPicPr>
          <p:nvPr userDrawn="1"/>
        </p:nvPicPr>
        <p:blipFill>
          <a:blip r:embed="rId3" cstate="print"/>
          <a:stretch>
            <a:fillRect/>
          </a:stretch>
        </p:blipFill>
        <p:spPr>
          <a:xfrm>
            <a:off x="4043680" y="468949"/>
            <a:ext cx="2072640" cy="153375"/>
          </a:xfrm>
          <a:prstGeom prst="rect">
            <a:avLst/>
          </a:prstGeom>
        </p:spPr>
      </p:pic>
      <p:pic>
        <p:nvPicPr>
          <p:cNvPr id="27" name="Picture 26"/>
          <p:cNvPicPr>
            <a:picLocks noChangeAspect="1"/>
          </p:cNvPicPr>
          <p:nvPr userDrawn="1"/>
        </p:nvPicPr>
        <p:blipFill>
          <a:blip r:embed="rId4"/>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4339921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4_Title Slide">
    <p:spTree>
      <p:nvGrpSpPr>
        <p:cNvPr id="1" name=""/>
        <p:cNvGrpSpPr/>
        <p:nvPr/>
      </p:nvGrpSpPr>
      <p:grpSpPr>
        <a:xfrm>
          <a:off x="0" y="0"/>
          <a:ext cx="0" cy="0"/>
          <a:chOff x="0" y="0"/>
          <a:chExt cx="0" cy="0"/>
        </a:xfrm>
      </p:grpSpPr>
      <p:pic>
        <p:nvPicPr>
          <p:cNvPr id="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8" name="Line 17"/>
          <p:cNvSpPr>
            <a:spLocks noChangeShapeType="1"/>
          </p:cNvSpPr>
          <p:nvPr userDrawn="1"/>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9" name="Line 17"/>
          <p:cNvSpPr>
            <a:spLocks noChangeShapeType="1"/>
          </p:cNvSpPr>
          <p:nvPr userDrawn="1"/>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5" name="Rectangle 24"/>
          <p:cNvSpPr/>
          <p:nvPr userDrawn="1"/>
        </p:nvSpPr>
        <p:spPr>
          <a:xfrm>
            <a:off x="228600" y="228600"/>
            <a:ext cx="9601200" cy="73152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27" name="Picture 26"/>
          <p:cNvPicPr>
            <a:picLocks noChangeAspect="1"/>
          </p:cNvPicPr>
          <p:nvPr userDrawn="1"/>
        </p:nvPicPr>
        <p:blipFill>
          <a:blip r:embed="rId3"/>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151838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5_Title Slide">
    <p:spTree>
      <p:nvGrpSpPr>
        <p:cNvPr id="1" name=""/>
        <p:cNvGrpSpPr/>
        <p:nvPr/>
      </p:nvGrpSpPr>
      <p:grpSpPr>
        <a:xfrm>
          <a:off x="0" y="0"/>
          <a:ext cx="0" cy="0"/>
          <a:chOff x="0" y="0"/>
          <a:chExt cx="0" cy="0"/>
        </a:xfrm>
      </p:grpSpPr>
      <p:pic>
        <p:nvPicPr>
          <p:cNvPr id="7" name="Picture 31" descr="Cello_CoverDesigns_FINAL_3and4-01"/>
          <p:cNvPicPr>
            <a:picLocks noChangeAspect="1" noChangeArrowheads="1"/>
          </p:cNvPicPr>
          <p:nvPr userDrawn="1"/>
        </p:nvPicPr>
        <p:blipFill>
          <a:blip r:embed="rId2" cstate="print"/>
          <a:srcRect t="88849"/>
          <a:stretch>
            <a:fillRect/>
          </a:stretch>
        </p:blipFill>
        <p:spPr bwMode="auto">
          <a:xfrm>
            <a:off x="228600" y="4769721"/>
            <a:ext cx="9601200" cy="482373"/>
          </a:xfrm>
          <a:prstGeom prst="rect">
            <a:avLst/>
          </a:prstGeom>
          <a:noFill/>
          <a:ln w="9525">
            <a:noFill/>
            <a:miter lim="800000"/>
            <a:headEnd/>
            <a:tailEnd/>
          </a:ln>
        </p:spPr>
      </p:pic>
      <p:pic>
        <p:nvPicPr>
          <p:cNvPr id="11" name="Picture 33" descr="Cello_CoverDesigns_FINAL_2-02"/>
          <p:cNvPicPr>
            <a:picLocks noChangeAspect="1" noChangeArrowheads="1"/>
          </p:cNvPicPr>
          <p:nvPr userDrawn="1"/>
        </p:nvPicPr>
        <p:blipFill>
          <a:blip r:embed="rId3" cstate="print"/>
          <a:srcRect b="13019"/>
          <a:stretch>
            <a:fillRect/>
          </a:stretch>
        </p:blipFill>
        <p:spPr bwMode="auto">
          <a:xfrm>
            <a:off x="228600" y="889638"/>
            <a:ext cx="9601200" cy="3853742"/>
          </a:xfrm>
          <a:prstGeom prst="rect">
            <a:avLst/>
          </a:prstGeom>
          <a:noFill/>
          <a:ln w="9525">
            <a:noFill/>
            <a:miter lim="800000"/>
            <a:headEnd/>
            <a:tailEnd/>
          </a:ln>
        </p:spPr>
      </p:pic>
      <p:sp>
        <p:nvSpPr>
          <p:cNvPr id="28" name="Rectangle 14"/>
          <p:cNvSpPr>
            <a:spLocks noChangeArrowheads="1"/>
          </p:cNvSpPr>
          <p:nvPr userDrawn="1"/>
        </p:nvSpPr>
        <p:spPr bwMode="auto">
          <a:xfrm>
            <a:off x="228600" y="228600"/>
            <a:ext cx="9601200" cy="7315200"/>
          </a:xfrm>
          <a:prstGeom prst="rect">
            <a:avLst/>
          </a:prstGeom>
          <a:noFill/>
          <a:ln w="25400">
            <a:solidFill>
              <a:schemeClr val="bg2"/>
            </a:solidFill>
            <a:miter lim="800000"/>
            <a:headEnd/>
            <a:tailEnd/>
          </a:ln>
        </p:spPr>
        <p:txBody>
          <a:bodyPr wrap="none" lIns="101847" tIns="50923" rIns="101847" bIns="50923" anchor="ctr"/>
          <a:lstStyle/>
          <a:p>
            <a:pPr>
              <a:defRPr/>
            </a:pPr>
            <a:endParaRPr lang="en-US" dirty="0"/>
          </a:p>
        </p:txBody>
      </p:sp>
      <p:pic>
        <p:nvPicPr>
          <p:cNvPr id="27" name="Picture 26"/>
          <p:cNvPicPr>
            <a:picLocks noChangeAspect="1"/>
          </p:cNvPicPr>
          <p:nvPr userDrawn="1"/>
        </p:nvPicPr>
        <p:blipFill>
          <a:blip r:embed="rId4"/>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18789302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6_Title Slide">
    <p:spTree>
      <p:nvGrpSpPr>
        <p:cNvPr id="1" name=""/>
        <p:cNvGrpSpPr/>
        <p:nvPr/>
      </p:nvGrpSpPr>
      <p:grpSpPr>
        <a:xfrm>
          <a:off x="0" y="0"/>
          <a:ext cx="0" cy="0"/>
          <a:chOff x="0" y="0"/>
          <a:chExt cx="0" cy="0"/>
        </a:xfrm>
      </p:grpSpPr>
      <p:pic>
        <p:nvPicPr>
          <p:cNvPr id="20" name="Picture 33" descr="Cello_CoverDesigns_FINAL_2-02"/>
          <p:cNvPicPr>
            <a:picLocks noChangeAspect="1" noChangeArrowheads="1"/>
          </p:cNvPicPr>
          <p:nvPr userDrawn="1"/>
        </p:nvPicPr>
        <p:blipFill>
          <a:blip r:embed="rId2" cstate="print"/>
          <a:srcRect t="88007" b="1381"/>
          <a:stretch>
            <a:fillRect/>
          </a:stretch>
        </p:blipFill>
        <p:spPr bwMode="auto">
          <a:xfrm>
            <a:off x="228600" y="4781954"/>
            <a:ext cx="9601200" cy="470140"/>
          </a:xfrm>
          <a:prstGeom prst="rect">
            <a:avLst/>
          </a:prstGeom>
          <a:noFill/>
          <a:ln w="9525">
            <a:noFill/>
            <a:miter lim="800000"/>
            <a:headEnd/>
            <a:tailEnd/>
          </a:ln>
        </p:spPr>
      </p:pic>
      <p:pic>
        <p:nvPicPr>
          <p:cNvPr id="11" name="Picture 33" descr="Cello_CoverDesigns_FINAL_2-02"/>
          <p:cNvPicPr>
            <a:picLocks noChangeAspect="1" noChangeArrowheads="1"/>
          </p:cNvPicPr>
          <p:nvPr userDrawn="1"/>
        </p:nvPicPr>
        <p:blipFill>
          <a:blip r:embed="rId2" cstate="print"/>
          <a:srcRect b="13019"/>
          <a:stretch>
            <a:fillRect/>
          </a:stretch>
        </p:blipFill>
        <p:spPr bwMode="auto">
          <a:xfrm>
            <a:off x="228600" y="889638"/>
            <a:ext cx="9601200" cy="3853742"/>
          </a:xfrm>
          <a:prstGeom prst="rect">
            <a:avLst/>
          </a:prstGeom>
          <a:noFill/>
          <a:ln w="9525">
            <a:noFill/>
            <a:miter lim="800000"/>
            <a:headEnd/>
            <a:tailEnd/>
          </a:ln>
        </p:spPr>
      </p:pic>
      <p:sp>
        <p:nvSpPr>
          <p:cNvPr id="28" name="Rectangle 14"/>
          <p:cNvSpPr>
            <a:spLocks noChangeArrowheads="1"/>
          </p:cNvSpPr>
          <p:nvPr userDrawn="1"/>
        </p:nvSpPr>
        <p:spPr bwMode="auto">
          <a:xfrm>
            <a:off x="228600" y="228600"/>
            <a:ext cx="9601200" cy="7315200"/>
          </a:xfrm>
          <a:prstGeom prst="rect">
            <a:avLst/>
          </a:prstGeom>
          <a:noFill/>
          <a:ln w="25400">
            <a:solidFill>
              <a:schemeClr val="bg2"/>
            </a:solidFill>
            <a:miter lim="800000"/>
            <a:headEnd/>
            <a:tailEnd/>
          </a:ln>
        </p:spPr>
        <p:txBody>
          <a:bodyPr wrap="none" lIns="101847" tIns="50923" rIns="101847" bIns="50923" anchor="ctr"/>
          <a:lstStyle/>
          <a:p>
            <a:pPr>
              <a:defRPr/>
            </a:pPr>
            <a:endParaRPr lang="en-US" dirty="0"/>
          </a:p>
        </p:txBody>
      </p:sp>
      <p:pic>
        <p:nvPicPr>
          <p:cNvPr id="34" name="Picture 33"/>
          <p:cNvPicPr>
            <a:picLocks noChangeAspect="1"/>
          </p:cNvPicPr>
          <p:nvPr userDrawn="1"/>
        </p:nvPicPr>
        <p:blipFill>
          <a:blip r:embed="rId3"/>
          <a:stretch>
            <a:fillRect/>
          </a:stretch>
        </p:blipFill>
        <p:spPr>
          <a:xfrm>
            <a:off x="4487283" y="4495800"/>
            <a:ext cx="1083833" cy="1417320"/>
          </a:xfrm>
          <a:prstGeom prst="rect">
            <a:avLst/>
          </a:prstGeom>
        </p:spPr>
      </p:pic>
      <p:sp>
        <p:nvSpPr>
          <p:cNvPr id="3" name="Content Placeholder 2"/>
          <p:cNvSpPr>
            <a:spLocks noGrp="1"/>
          </p:cNvSpPr>
          <p:nvPr>
            <p:ph sz="quarter" idx="10"/>
          </p:nvPr>
        </p:nvSpPr>
        <p:spPr>
          <a:xfrm>
            <a:off x="293688" y="6400800"/>
            <a:ext cx="9469437" cy="1001713"/>
          </a:xfrm>
        </p:spPr>
        <p:txBody>
          <a:bodyPr/>
          <a:lstStyle>
            <a:lvl1pPr algn="ctr">
              <a:defRPr sz="2600" b="0"/>
            </a:lvl1pPr>
          </a:lstStyle>
          <a:p>
            <a:pPr lvl="0"/>
            <a:r>
              <a:rPr lang="en-US" dirty="0" smtClean="0"/>
              <a:t>Click to edit Master text styles</a:t>
            </a:r>
          </a:p>
        </p:txBody>
      </p:sp>
    </p:spTree>
    <p:extLst>
      <p:ext uri="{BB962C8B-B14F-4D97-AF65-F5344CB8AC3E}">
        <p14:creationId xmlns:p14="http://schemas.microsoft.com/office/powerpoint/2010/main" val="3254498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843000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sclosur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lgn="just">
              <a:spcBef>
                <a:spcPts val="1200"/>
              </a:spcBef>
              <a:defRPr sz="1100"/>
            </a:lvl1pPr>
            <a:lvl2pPr algn="just">
              <a:spcBef>
                <a:spcPts val="900"/>
              </a:spcBef>
              <a:defRPr sz="1100"/>
            </a:lvl2pPr>
            <a:lvl3pPr algn="just">
              <a:spcBef>
                <a:spcPts val="600"/>
              </a:spcBef>
              <a:defRPr sz="1100"/>
            </a:lvl3pPr>
            <a:lvl4pPr algn="just">
              <a:spcBef>
                <a:spcPts val="0"/>
              </a:spcBef>
              <a:defRPr sz="1100"/>
            </a:lvl4pPr>
            <a:lvl5pPr algn="just">
              <a:spcBef>
                <a:spcPts val="0"/>
              </a:spcBef>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8552757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7406" y="3881120"/>
            <a:ext cx="8925718" cy="914400"/>
          </a:xfrm>
        </p:spPr>
        <p:txBody>
          <a:bodyPr anchor="t"/>
          <a:lstStyle>
            <a:lvl1pPr algn="l">
              <a:defRPr sz="3200" b="0" cap="all">
                <a:solidFill>
                  <a:schemeClr val="accent3"/>
                </a:solidFil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838200" y="4800600"/>
            <a:ext cx="8925718" cy="914400"/>
          </a:xfrm>
        </p:spPr>
        <p:txBody>
          <a:bodyPr anchor="t"/>
          <a:lstStyle>
            <a:lvl1pPr marL="0" indent="0" algn="l">
              <a:buNone/>
              <a:defRPr sz="2200" b="0">
                <a:solidFill>
                  <a:schemeClr val="accent1"/>
                </a:solidFill>
              </a:defRPr>
            </a:lvl1pPr>
            <a:lvl2pPr marL="509412" indent="0">
              <a:buNone/>
              <a:defRPr sz="2000">
                <a:solidFill>
                  <a:schemeClr val="tx1">
                    <a:tint val="75000"/>
                  </a:schemeClr>
                </a:solidFill>
              </a:defRPr>
            </a:lvl2pPr>
            <a:lvl3pPr marL="1018824" indent="0">
              <a:buNone/>
              <a:defRPr sz="1800">
                <a:solidFill>
                  <a:schemeClr val="tx1">
                    <a:tint val="75000"/>
                  </a:schemeClr>
                </a:solidFill>
              </a:defRPr>
            </a:lvl3pPr>
            <a:lvl4pPr marL="1528237" indent="0">
              <a:buNone/>
              <a:defRPr sz="1600">
                <a:solidFill>
                  <a:schemeClr val="tx1">
                    <a:tint val="75000"/>
                  </a:schemeClr>
                </a:solidFill>
              </a:defRPr>
            </a:lvl4pPr>
            <a:lvl5pPr marL="2037649" indent="0">
              <a:buNone/>
              <a:defRPr sz="1600">
                <a:solidFill>
                  <a:schemeClr val="tx1">
                    <a:tint val="75000"/>
                  </a:schemeClr>
                </a:solidFill>
              </a:defRPr>
            </a:lvl5pPr>
            <a:lvl6pPr marL="2547061" indent="0">
              <a:buNone/>
              <a:defRPr sz="1600">
                <a:solidFill>
                  <a:schemeClr val="tx1">
                    <a:tint val="75000"/>
                  </a:schemeClr>
                </a:solidFill>
              </a:defRPr>
            </a:lvl6pPr>
            <a:lvl7pPr marL="3056473" indent="0">
              <a:buNone/>
              <a:defRPr sz="1600">
                <a:solidFill>
                  <a:schemeClr val="tx1">
                    <a:tint val="75000"/>
                  </a:schemeClr>
                </a:solidFill>
              </a:defRPr>
            </a:lvl7pPr>
            <a:lvl8pPr marL="3565886" indent="0">
              <a:buNone/>
              <a:defRPr sz="1600">
                <a:solidFill>
                  <a:schemeClr val="tx1">
                    <a:tint val="75000"/>
                  </a:schemeClr>
                </a:solidFill>
              </a:defRPr>
            </a:lvl8pPr>
            <a:lvl9pPr marL="4075298" indent="0">
              <a:buNone/>
              <a:defRPr sz="1600">
                <a:solidFill>
                  <a:schemeClr val="tx1">
                    <a:tint val="75000"/>
                  </a:schemeClr>
                </a:solidFill>
              </a:defRPr>
            </a:lvl9pPr>
          </a:lstStyle>
          <a:p>
            <a:pPr lvl="0"/>
            <a:r>
              <a:rPr lang="en-US" smtClean="0"/>
              <a:t>Click to edit Master text styles</a:t>
            </a:r>
          </a:p>
        </p:txBody>
      </p:sp>
      <p:sp>
        <p:nvSpPr>
          <p:cNvPr id="4" name="Line 31"/>
          <p:cNvSpPr>
            <a:spLocks noChangeShapeType="1"/>
          </p:cNvSpPr>
          <p:nvPr userDrawn="1"/>
        </p:nvSpPr>
        <p:spPr bwMode="auto">
          <a:xfrm>
            <a:off x="695960" y="3886200"/>
            <a:ext cx="0" cy="3411346"/>
          </a:xfrm>
          <a:prstGeom prst="line">
            <a:avLst/>
          </a:prstGeom>
          <a:noFill/>
          <a:ln w="6350">
            <a:solidFill>
              <a:schemeClr val="accent1"/>
            </a:solidFill>
            <a:round/>
            <a:headEnd/>
            <a:tailEnd/>
          </a:ln>
          <a:effectLst/>
        </p:spPr>
        <p:txBody>
          <a:bodyPr lIns="101858" tIns="50929" rIns="101858" bIns="50929"/>
          <a:lstStyle/>
          <a:p>
            <a:pPr>
              <a:defRPr/>
            </a:pPr>
            <a:endParaRPr lang="en-US" dirty="0"/>
          </a:p>
        </p:txBody>
      </p:sp>
    </p:spTree>
    <p:extLst>
      <p:ext uri="{BB962C8B-B14F-4D97-AF65-F5344CB8AC3E}">
        <p14:creationId xmlns:p14="http://schemas.microsoft.com/office/powerpoint/2010/main" val="1652547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ios 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vl1pPr>
          </a:lstStyle>
          <a:p>
            <a:r>
              <a:rPr lang="en-US" smtClean="0"/>
              <a:t>Click to edit Master title style</a:t>
            </a:r>
            <a:endParaRPr lang="en-US"/>
          </a:p>
        </p:txBody>
      </p:sp>
      <p:sp>
        <p:nvSpPr>
          <p:cNvPr id="3" name="Content Placeholder 2"/>
          <p:cNvSpPr>
            <a:spLocks noGrp="1"/>
          </p:cNvSpPr>
          <p:nvPr>
            <p:ph sz="half" idx="1"/>
          </p:nvPr>
        </p:nvSpPr>
        <p:spPr>
          <a:xfrm>
            <a:off x="293688" y="1235075"/>
            <a:ext cx="4526280" cy="5938838"/>
          </a:xfrm>
        </p:spPr>
        <p:txBody>
          <a:bodyPr/>
          <a:lstStyle>
            <a:lvl1pPr algn="just">
              <a:spcBef>
                <a:spcPts val="2400"/>
              </a:spcBef>
              <a:defRPr sz="1300"/>
            </a:lvl1pPr>
            <a:lvl2pPr algn="just">
              <a:spcBef>
                <a:spcPts val="0"/>
              </a:spcBef>
              <a:defRPr sz="1100"/>
            </a:lvl2pPr>
            <a:lvl3pPr algn="just">
              <a:spcBef>
                <a:spcPts val="300"/>
              </a:spcBef>
              <a:defRPr sz="1100"/>
            </a:lvl3pPr>
            <a:lvl4pPr algn="just">
              <a:spcBef>
                <a:spcPts val="300"/>
              </a:spcBef>
              <a:defRPr sz="1100"/>
            </a:lvl4pPr>
            <a:lvl5pPr algn="just">
              <a:spcBef>
                <a:spcPts val="300"/>
              </a:spcBef>
              <a:defRPr sz="11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213350" y="1235075"/>
            <a:ext cx="4526280" cy="5938838"/>
          </a:xfrm>
        </p:spPr>
        <p:txBody>
          <a:bodyPr/>
          <a:lstStyle>
            <a:lvl1pPr algn="just">
              <a:spcBef>
                <a:spcPts val="2400"/>
              </a:spcBef>
              <a:defRPr sz="1300"/>
            </a:lvl1pPr>
            <a:lvl2pPr algn="just">
              <a:spcBef>
                <a:spcPts val="0"/>
              </a:spcBef>
              <a:defRPr sz="1100"/>
            </a:lvl2pPr>
            <a:lvl3pPr algn="just">
              <a:defRPr sz="1100"/>
            </a:lvl3pPr>
            <a:lvl4pPr algn="just">
              <a:defRPr sz="1100"/>
            </a:lvl4pPr>
            <a:lvl5pPr algn="just">
              <a:defRPr sz="11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6110181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vl1pPr>
          </a:lstStyle>
          <a:p>
            <a:r>
              <a:rPr lang="en-US" smtClean="0"/>
              <a:t>Click to edit Master title style</a:t>
            </a:r>
            <a:endParaRPr lang="en-US"/>
          </a:p>
        </p:txBody>
      </p:sp>
      <p:sp>
        <p:nvSpPr>
          <p:cNvPr id="3" name="Content Placeholder 2"/>
          <p:cNvSpPr>
            <a:spLocks noGrp="1"/>
          </p:cNvSpPr>
          <p:nvPr>
            <p:ph sz="half" idx="1"/>
          </p:nvPr>
        </p:nvSpPr>
        <p:spPr>
          <a:xfrm>
            <a:off x="293688" y="1235075"/>
            <a:ext cx="4526280" cy="5938838"/>
          </a:xfrm>
        </p:spPr>
        <p:txBody>
          <a:bodyPr/>
          <a:lstStyle>
            <a:lvl1pPr algn="just">
              <a:defRPr sz="1400"/>
            </a:lvl1pPr>
            <a:lvl2pPr algn="just">
              <a:defRPr sz="1300"/>
            </a:lvl2pPr>
            <a:lvl3pPr algn="just">
              <a:defRPr sz="1300"/>
            </a:lvl3pPr>
            <a:lvl4pPr algn="just">
              <a:defRPr sz="1300"/>
            </a:lvl4pPr>
            <a:lvl5pPr algn="just">
              <a:defRPr sz="13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213350" y="1235075"/>
            <a:ext cx="4526280" cy="5938838"/>
          </a:xfrm>
        </p:spPr>
        <p:txBody>
          <a:bodyPr/>
          <a:lstStyle>
            <a:lvl1pPr algn="just">
              <a:defRPr sz="1400"/>
            </a:lvl1pPr>
            <a:lvl2pPr algn="just">
              <a:defRPr sz="1300"/>
            </a:lvl2pPr>
            <a:lvl3pPr algn="just">
              <a:defRPr sz="1300"/>
            </a:lvl3pPr>
            <a:lvl4pPr algn="just">
              <a:defRPr sz="1300"/>
            </a:lvl4pPr>
            <a:lvl5pPr algn="just">
              <a:defRPr sz="13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1534523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293688" y="1235075"/>
            <a:ext cx="4526280" cy="725064"/>
          </a:xfrm>
        </p:spPr>
        <p:txBody>
          <a:bodyPr anchor="t"/>
          <a:lstStyle>
            <a:lvl1pPr marL="0" indent="0">
              <a:buNone/>
              <a:defRPr sz="1400" b="1"/>
            </a:lvl1pPr>
            <a:lvl2pPr marL="509412" indent="0">
              <a:buNone/>
              <a:defRPr sz="2200" b="1"/>
            </a:lvl2pPr>
            <a:lvl3pPr marL="1018824" indent="0">
              <a:buNone/>
              <a:defRPr sz="2000" b="1"/>
            </a:lvl3pPr>
            <a:lvl4pPr marL="1528237" indent="0">
              <a:buNone/>
              <a:defRPr sz="1800" b="1"/>
            </a:lvl4pPr>
            <a:lvl5pPr marL="2037649" indent="0">
              <a:buNone/>
              <a:defRPr sz="1800" b="1"/>
            </a:lvl5pPr>
            <a:lvl6pPr marL="2547061" indent="0">
              <a:buNone/>
              <a:defRPr sz="1800" b="1"/>
            </a:lvl6pPr>
            <a:lvl7pPr marL="3056473" indent="0">
              <a:buNone/>
              <a:defRPr sz="1800" b="1"/>
            </a:lvl7pPr>
            <a:lvl8pPr marL="3565886" indent="0">
              <a:buNone/>
              <a:defRPr sz="1800" b="1"/>
            </a:lvl8pPr>
            <a:lvl9pPr marL="4075298" indent="0">
              <a:buNone/>
              <a:defRPr sz="1800" b="1"/>
            </a:lvl9pPr>
          </a:lstStyle>
          <a:p>
            <a:pPr lvl="0"/>
            <a:r>
              <a:rPr lang="en-US" dirty="0" smtClean="0"/>
              <a:t>Click to edit Master text styles</a:t>
            </a:r>
          </a:p>
        </p:txBody>
      </p:sp>
      <p:sp>
        <p:nvSpPr>
          <p:cNvPr id="4" name="Content Placeholder 3"/>
          <p:cNvSpPr>
            <a:spLocks noGrp="1"/>
          </p:cNvSpPr>
          <p:nvPr>
            <p:ph sz="half" idx="2"/>
          </p:nvPr>
        </p:nvSpPr>
        <p:spPr>
          <a:xfrm>
            <a:off x="293688" y="1960139"/>
            <a:ext cx="4526280" cy="5213774"/>
          </a:xfrm>
        </p:spPr>
        <p:txBody>
          <a:bodyPr/>
          <a:lstStyle>
            <a:lvl1pPr algn="just">
              <a:defRPr sz="1300"/>
            </a:lvl1pPr>
            <a:lvl2pPr algn="just">
              <a:defRPr sz="1300"/>
            </a:lvl2pPr>
            <a:lvl3pPr algn="just">
              <a:defRPr sz="1300"/>
            </a:lvl3pPr>
            <a:lvl4pPr algn="just">
              <a:defRPr sz="1300"/>
            </a:lvl4pPr>
            <a:lvl5pPr algn="just">
              <a:defRPr sz="13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5208270" y="1235075"/>
            <a:ext cx="4526280" cy="725064"/>
          </a:xfrm>
        </p:spPr>
        <p:txBody>
          <a:bodyPr anchor="t"/>
          <a:lstStyle>
            <a:lvl1pPr marL="0" indent="0">
              <a:buNone/>
              <a:defRPr sz="1400" b="1"/>
            </a:lvl1pPr>
            <a:lvl2pPr marL="509412" indent="0">
              <a:buNone/>
              <a:defRPr sz="2200" b="1"/>
            </a:lvl2pPr>
            <a:lvl3pPr marL="1018824" indent="0">
              <a:buNone/>
              <a:defRPr sz="2000" b="1"/>
            </a:lvl3pPr>
            <a:lvl4pPr marL="1528237" indent="0">
              <a:buNone/>
              <a:defRPr sz="1800" b="1"/>
            </a:lvl4pPr>
            <a:lvl5pPr marL="2037649" indent="0">
              <a:buNone/>
              <a:defRPr sz="1800" b="1"/>
            </a:lvl5pPr>
            <a:lvl6pPr marL="2547061" indent="0">
              <a:buNone/>
              <a:defRPr sz="1800" b="1"/>
            </a:lvl6pPr>
            <a:lvl7pPr marL="3056473" indent="0">
              <a:buNone/>
              <a:defRPr sz="1800" b="1"/>
            </a:lvl7pPr>
            <a:lvl8pPr marL="3565886" indent="0">
              <a:buNone/>
              <a:defRPr sz="1800" b="1"/>
            </a:lvl8pPr>
            <a:lvl9pPr marL="4075298" indent="0">
              <a:buNone/>
              <a:defRPr sz="1800" b="1"/>
            </a:lvl9pPr>
          </a:lstStyle>
          <a:p>
            <a:pPr lvl="0"/>
            <a:r>
              <a:rPr lang="en-US" dirty="0" smtClean="0"/>
              <a:t>Click to edit Master text styles</a:t>
            </a:r>
          </a:p>
        </p:txBody>
      </p:sp>
      <p:sp>
        <p:nvSpPr>
          <p:cNvPr id="6" name="Content Placeholder 5"/>
          <p:cNvSpPr>
            <a:spLocks noGrp="1"/>
          </p:cNvSpPr>
          <p:nvPr>
            <p:ph sz="quarter" idx="4"/>
          </p:nvPr>
        </p:nvSpPr>
        <p:spPr>
          <a:xfrm>
            <a:off x="5208270" y="1960139"/>
            <a:ext cx="4526280" cy="5213774"/>
          </a:xfrm>
        </p:spPr>
        <p:txBody>
          <a:bodyPr/>
          <a:lstStyle>
            <a:lvl1pPr algn="just">
              <a:defRPr sz="1300"/>
            </a:lvl1pPr>
            <a:lvl2pPr algn="just">
              <a:defRPr sz="1300"/>
            </a:lvl2pPr>
            <a:lvl3pPr algn="just">
              <a:defRPr sz="1300"/>
            </a:lvl3pPr>
            <a:lvl4pPr algn="just">
              <a:defRPr sz="1300"/>
            </a:lvl4pPr>
            <a:lvl5pPr algn="just">
              <a:defRPr sz="13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15619624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allout Tal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293687" y="1235075"/>
            <a:ext cx="1839913" cy="5938837"/>
          </a:xfrm>
        </p:spPr>
        <p:txBody>
          <a:bodyPr/>
          <a:lstStyle>
            <a:lvl1pPr>
              <a:spcBef>
                <a:spcPts val="2400"/>
              </a:spcBef>
              <a:defRPr sz="1300"/>
            </a:lvl1pPr>
            <a:lvl2pPr>
              <a:defRPr sz="1100"/>
            </a:lvl2pPr>
            <a:lvl3pPr>
              <a:spcBef>
                <a:spcPts val="600"/>
              </a:spcBef>
              <a:defRPr sz="1100"/>
            </a:lvl3pPr>
            <a:lvl4pPr>
              <a:defRPr sz="1100"/>
            </a:lvl4pPr>
            <a:lvl5pPr>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6"/>
          <p:cNvSpPr>
            <a:spLocks noGrp="1"/>
          </p:cNvSpPr>
          <p:nvPr>
            <p:ph sz="quarter" idx="13"/>
          </p:nvPr>
        </p:nvSpPr>
        <p:spPr>
          <a:xfrm>
            <a:off x="2514600" y="1235075"/>
            <a:ext cx="7214616" cy="5938838"/>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Line 31"/>
          <p:cNvSpPr>
            <a:spLocks noChangeShapeType="1"/>
          </p:cNvSpPr>
          <p:nvPr userDrawn="1"/>
        </p:nvSpPr>
        <p:spPr bwMode="auto">
          <a:xfrm>
            <a:off x="2302546" y="1235074"/>
            <a:ext cx="0" cy="6062472"/>
          </a:xfrm>
          <a:prstGeom prst="line">
            <a:avLst/>
          </a:prstGeom>
          <a:noFill/>
          <a:ln w="6350">
            <a:solidFill>
              <a:schemeClr val="accent1"/>
            </a:solidFill>
            <a:round/>
            <a:headEnd/>
            <a:tailEnd/>
          </a:ln>
          <a:effectLst/>
        </p:spPr>
        <p:txBody>
          <a:bodyPr lIns="101858" tIns="50929" rIns="101858" bIns="50929"/>
          <a:lstStyle/>
          <a:p>
            <a:pPr>
              <a:defRPr/>
            </a:pPr>
            <a:endParaRPr lang="en-US" dirty="0"/>
          </a:p>
        </p:txBody>
      </p:sp>
      <p:sp>
        <p:nvSpPr>
          <p:cNvPr id="6"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9012772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allout Shor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293687" y="1874838"/>
            <a:ext cx="1839913" cy="5299074"/>
          </a:xfrm>
        </p:spPr>
        <p:txBody>
          <a:bodyPr/>
          <a:lstStyle>
            <a:lvl1pPr>
              <a:spcBef>
                <a:spcPts val="2400"/>
              </a:spcBef>
              <a:defRPr sz="1300"/>
            </a:lvl1pPr>
            <a:lvl2pPr>
              <a:defRPr sz="1100"/>
            </a:lvl2pPr>
            <a:lvl3pPr>
              <a:spcBef>
                <a:spcPts val="600"/>
              </a:spcBef>
              <a:defRPr sz="1100"/>
            </a:lvl3pPr>
            <a:lvl4pPr>
              <a:defRPr sz="1100"/>
            </a:lvl4pPr>
            <a:lvl5pPr>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6"/>
          <p:cNvSpPr>
            <a:spLocks noGrp="1"/>
          </p:cNvSpPr>
          <p:nvPr>
            <p:ph sz="quarter" idx="13"/>
          </p:nvPr>
        </p:nvSpPr>
        <p:spPr>
          <a:xfrm>
            <a:off x="2514600" y="1874837"/>
            <a:ext cx="7214616" cy="529907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Line 31"/>
          <p:cNvSpPr>
            <a:spLocks noChangeShapeType="1"/>
          </p:cNvSpPr>
          <p:nvPr userDrawn="1"/>
        </p:nvSpPr>
        <p:spPr bwMode="auto">
          <a:xfrm>
            <a:off x="2302546" y="1905000"/>
            <a:ext cx="0" cy="5392546"/>
          </a:xfrm>
          <a:prstGeom prst="line">
            <a:avLst/>
          </a:prstGeom>
          <a:noFill/>
          <a:ln w="6350">
            <a:solidFill>
              <a:schemeClr val="accent1"/>
            </a:solidFill>
            <a:round/>
            <a:headEnd/>
            <a:tailEnd/>
          </a:ln>
          <a:effectLst/>
        </p:spPr>
        <p:txBody>
          <a:bodyPr lIns="101858" tIns="50929" rIns="101858" bIns="50929"/>
          <a:lstStyle/>
          <a:p>
            <a:pPr>
              <a:defRPr/>
            </a:pPr>
            <a:endParaRPr lang="en-US" dirty="0"/>
          </a:p>
        </p:txBody>
      </p:sp>
      <p:sp>
        <p:nvSpPr>
          <p:cNvPr id="6"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21885739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6899754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023241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7755718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51"/>
          <p:cNvSpPr>
            <a:spLocks noChangeArrowheads="1"/>
          </p:cNvSpPr>
          <p:nvPr userDrawn="1"/>
        </p:nvSpPr>
        <p:spPr bwMode="auto">
          <a:xfrm>
            <a:off x="228600" y="230122"/>
            <a:ext cx="9601200" cy="649224"/>
          </a:xfrm>
          <a:prstGeom prst="rect">
            <a:avLst/>
          </a:prstGeom>
          <a:solidFill>
            <a:schemeClr val="accent1"/>
          </a:solidFill>
          <a:ln w="9525">
            <a:noFill/>
            <a:miter lim="800000"/>
            <a:headEnd/>
            <a:tailEnd/>
          </a:ln>
          <a:effectLst/>
        </p:spPr>
        <p:txBody>
          <a:bodyPr wrap="none" lIns="101847" tIns="50923" rIns="101847" bIns="50923" anchor="ctr"/>
          <a:lstStyle/>
          <a:p>
            <a:pPr>
              <a:defRPr/>
            </a:pPr>
            <a:endParaRPr lang="en-US" dirty="0"/>
          </a:p>
        </p:txBody>
      </p:sp>
      <p:sp>
        <p:nvSpPr>
          <p:cNvPr id="2" name="Title Placeholder 1"/>
          <p:cNvSpPr>
            <a:spLocks noGrp="1"/>
          </p:cNvSpPr>
          <p:nvPr>
            <p:ph type="title"/>
          </p:nvPr>
        </p:nvSpPr>
        <p:spPr>
          <a:xfrm>
            <a:off x="2895600" y="261941"/>
            <a:ext cx="6867524" cy="609600"/>
          </a:xfrm>
          <a:prstGeom prst="rect">
            <a:avLst/>
          </a:prstGeom>
        </p:spPr>
        <p:txBody>
          <a:bodyPr vert="horz" lIns="0" tIns="0" rIns="0" bIns="0" rtlCol="0" anchor="t" anchorCtr="0">
            <a:no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293687" y="1235075"/>
            <a:ext cx="9469437" cy="5938837"/>
          </a:xfrm>
          <a:prstGeom prst="rect">
            <a:avLst/>
          </a:prstGeom>
        </p:spPr>
        <p:txBody>
          <a:bodyPr vert="horz" lIns="0" tIns="0" rIns="0" bIns="0" rtlCol="0" anchor="t" anchorCtr="0">
            <a:no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Rectangle 200"/>
          <p:cNvSpPr>
            <a:spLocks noChangeArrowheads="1"/>
          </p:cNvSpPr>
          <p:nvPr userDrawn="1"/>
        </p:nvSpPr>
        <p:spPr bwMode="auto">
          <a:xfrm>
            <a:off x="228600" y="7323416"/>
            <a:ext cx="827723" cy="213400"/>
          </a:xfrm>
          <a:prstGeom prst="rect">
            <a:avLst/>
          </a:prstGeom>
          <a:noFill/>
          <a:ln w="9525">
            <a:noFill/>
            <a:miter lim="800000"/>
            <a:headEnd/>
            <a:tailEnd/>
          </a:ln>
          <a:effectLst/>
        </p:spPr>
        <p:txBody>
          <a:bodyPr lIns="0" tIns="0" rIns="0" bIns="0" anchor="b"/>
          <a:lstStyle/>
          <a:p>
            <a:pPr algn="l">
              <a:defRPr/>
            </a:pPr>
            <a:r>
              <a:rPr lang="en-US" sz="900" b="1" dirty="0" smtClean="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10" name="Straight Connector 9"/>
          <p:cNvCxnSpPr/>
          <p:nvPr userDrawn="1"/>
        </p:nvCxnSpPr>
        <p:spPr>
          <a:xfrm>
            <a:off x="228600" y="7291071"/>
            <a:ext cx="9601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userDrawn="1"/>
        </p:nvPicPr>
        <p:blipFill>
          <a:blip r:embed="rId20"/>
          <a:stretch>
            <a:fillRect/>
          </a:stretch>
        </p:blipFill>
        <p:spPr>
          <a:xfrm>
            <a:off x="283529" y="320040"/>
            <a:ext cx="2478795" cy="457200"/>
          </a:xfrm>
          <a:prstGeom prst="rect">
            <a:avLst/>
          </a:prstGeom>
        </p:spPr>
      </p:pic>
    </p:spTree>
    <p:extLst>
      <p:ext uri="{BB962C8B-B14F-4D97-AF65-F5344CB8AC3E}">
        <p14:creationId xmlns:p14="http://schemas.microsoft.com/office/powerpoint/2010/main" val="1878609759"/>
      </p:ext>
    </p:extLst>
  </p:cSld>
  <p:clrMap bg1="lt1" tx1="dk1" bg2="lt2" tx2="dk2" accent1="accent1" accent2="accent2" accent3="accent3" accent4="accent4" accent5="accent5" accent6="accent6" hlink="hlink" folHlink="folHlink"/>
  <p:sldLayoutIdLst>
    <p:sldLayoutId id="2147483649" r:id="rId1"/>
    <p:sldLayoutId id="2147483666" r:id="rId2"/>
    <p:sldLayoutId id="2147483667" r:id="rId3"/>
    <p:sldLayoutId id="2147483668" r:id="rId4"/>
    <p:sldLayoutId id="2147483669" r:id="rId5"/>
    <p:sldLayoutId id="2147483670" r:id="rId6"/>
    <p:sldLayoutId id="2147483671" r:id="rId7"/>
    <p:sldLayoutId id="2147483650" r:id="rId8"/>
    <p:sldLayoutId id="2147483664" r:id="rId9"/>
    <p:sldLayoutId id="2147483651" r:id="rId10"/>
    <p:sldLayoutId id="2147483652" r:id="rId11"/>
    <p:sldLayoutId id="2147483665" r:id="rId12"/>
    <p:sldLayoutId id="2147483653" r:id="rId13"/>
    <p:sldLayoutId id="2147483656" r:id="rId14"/>
    <p:sldLayoutId id="2147483657" r:id="rId15"/>
    <p:sldLayoutId id="2147483654" r:id="rId16"/>
    <p:sldLayoutId id="2147483655" r:id="rId17"/>
    <p:sldLayoutId id="2147483672" r:id="rId18"/>
  </p:sldLayoutIdLst>
  <p:txStyles>
    <p:titleStyle>
      <a:lvl1pPr algn="r" defTabSz="1018824" rtl="0" eaLnBrk="1" latinLnBrk="0" hangingPunct="1">
        <a:lnSpc>
          <a:spcPct val="110000"/>
        </a:lnSpc>
        <a:spcBef>
          <a:spcPct val="0"/>
        </a:spcBef>
        <a:buNone/>
        <a:defRPr sz="1400" b="1" kern="1200" cap="all" baseline="0">
          <a:solidFill>
            <a:schemeClr val="bg1"/>
          </a:solidFill>
          <a:latin typeface="+mj-lt"/>
          <a:ea typeface="+mj-ea"/>
          <a:cs typeface="+mj-cs"/>
        </a:defRPr>
      </a:lvl1pPr>
    </p:titleStyle>
    <p:bodyStyle>
      <a:lvl1pPr marL="0" indent="0" algn="l" defTabSz="1018824" rtl="0" eaLnBrk="1" latinLnBrk="0" hangingPunct="1">
        <a:lnSpc>
          <a:spcPct val="110000"/>
        </a:lnSpc>
        <a:spcBef>
          <a:spcPts val="1800"/>
        </a:spcBef>
        <a:buFont typeface="Arial" panose="020B0604020202020204" pitchFamily="34" charset="0"/>
        <a:buNone/>
        <a:defRPr sz="1400" b="1" kern="1200">
          <a:solidFill>
            <a:schemeClr val="accent1"/>
          </a:solidFill>
          <a:latin typeface="+mj-lt"/>
          <a:ea typeface="+mn-ea"/>
          <a:cs typeface="+mn-cs"/>
        </a:defRPr>
      </a:lvl1pPr>
      <a:lvl2pPr marL="0" indent="0" algn="l" defTabSz="1018824" rtl="0" eaLnBrk="1" latinLnBrk="0" hangingPunct="1">
        <a:lnSpc>
          <a:spcPct val="110000"/>
        </a:lnSpc>
        <a:spcBef>
          <a:spcPts val="1500"/>
        </a:spcBef>
        <a:buFont typeface="Arial" panose="020B0604020202020204" pitchFamily="34" charset="0"/>
        <a:buNone/>
        <a:defRPr sz="1300" b="1" kern="1200">
          <a:solidFill>
            <a:schemeClr val="tx1"/>
          </a:solidFill>
          <a:latin typeface="+mj-lt"/>
          <a:ea typeface="+mn-ea"/>
          <a:cs typeface="+mn-cs"/>
        </a:defRPr>
      </a:lvl2pPr>
      <a:lvl3pPr marL="1588" indent="0" algn="l" defTabSz="1018824" rtl="0" eaLnBrk="1" latinLnBrk="0" hangingPunct="1">
        <a:lnSpc>
          <a:spcPct val="110000"/>
        </a:lnSpc>
        <a:spcBef>
          <a:spcPts val="300"/>
        </a:spcBef>
        <a:buFont typeface="Arial" panose="020B0604020202020204" pitchFamily="34" charset="0"/>
        <a:buNone/>
        <a:defRPr sz="1300" kern="1200">
          <a:solidFill>
            <a:schemeClr val="tx1"/>
          </a:solidFill>
          <a:latin typeface="+mj-lt"/>
          <a:ea typeface="+mn-ea"/>
          <a:cs typeface="+mn-cs"/>
        </a:defRPr>
      </a:lvl3pPr>
      <a:lvl4pPr marL="173038" indent="-173038" algn="l" defTabSz="1018824" rtl="0" eaLnBrk="1" latinLnBrk="0" hangingPunct="1">
        <a:lnSpc>
          <a:spcPct val="110000"/>
        </a:lnSpc>
        <a:spcBef>
          <a:spcPts val="300"/>
        </a:spcBef>
        <a:buSzPct val="80000"/>
        <a:buFont typeface="Arial" panose="020B0604020202020204" pitchFamily="34" charset="0"/>
        <a:buChar char="•"/>
        <a:defRPr sz="1300" kern="1200">
          <a:solidFill>
            <a:schemeClr val="tx1"/>
          </a:solidFill>
          <a:latin typeface="+mj-lt"/>
          <a:ea typeface="+mn-ea"/>
          <a:cs typeface="+mn-cs"/>
        </a:defRPr>
      </a:lvl4pPr>
      <a:lvl5pPr marL="385763" indent="-206375" algn="l" defTabSz="1018824" rtl="0" eaLnBrk="1" latinLnBrk="0" hangingPunct="1">
        <a:lnSpc>
          <a:spcPct val="110000"/>
        </a:lnSpc>
        <a:spcBef>
          <a:spcPts val="300"/>
        </a:spcBef>
        <a:buFont typeface="Arial" panose="020B0604020202020204" pitchFamily="34" charset="0"/>
        <a:buChar char="–"/>
        <a:defRPr sz="1300" kern="1200">
          <a:solidFill>
            <a:schemeClr val="tx1"/>
          </a:solidFill>
          <a:latin typeface="+mj-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p:bodyStyle>
    <p:other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8" Type="http://schemas.openxmlformats.org/officeDocument/2006/relationships/chart" Target="../charts/chart1.xml"/><Relationship Id="rId3" Type="http://schemas.openxmlformats.org/officeDocument/2006/relationships/tags" Target="../tags/tag5.xml"/><Relationship Id="rId7" Type="http://schemas.openxmlformats.org/officeDocument/2006/relationships/notesSlide" Target="../notesSlides/notesSlide3.xml"/><Relationship Id="rId12" Type="http://schemas.openxmlformats.org/officeDocument/2006/relationships/image" Target="../media/image11.png"/><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slideLayout" Target="../slideLayouts/slideLayout14.xml"/><Relationship Id="rId11" Type="http://schemas.openxmlformats.org/officeDocument/2006/relationships/image" Target="../media/image10.png"/><Relationship Id="rId5" Type="http://schemas.openxmlformats.org/officeDocument/2006/relationships/tags" Target="../tags/tag7.xml"/><Relationship Id="rId10" Type="http://schemas.openxmlformats.org/officeDocument/2006/relationships/image" Target="../media/image9.png"/><Relationship Id="rId4" Type="http://schemas.openxmlformats.org/officeDocument/2006/relationships/tags" Target="../tags/tag6.xml"/><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3" Type="http://schemas.openxmlformats.org/officeDocument/2006/relationships/image" Target="../media/image90.pn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image" Target="../media/image80.png"/><Relationship Id="rId1" Type="http://schemas.openxmlformats.org/officeDocument/2006/relationships/slideLayout" Target="../slideLayouts/slideLayout14.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0.png"/><Relationship Id="rId10" Type="http://schemas.openxmlformats.org/officeDocument/2006/relationships/image" Target="../media/image16.png"/><Relationship Id="rId4" Type="http://schemas.openxmlformats.org/officeDocument/2006/relationships/image" Target="../media/image100.png"/><Relationship Id="rId9" Type="http://schemas.openxmlformats.org/officeDocument/2006/relationships/image" Target="../media/image15.png"/><Relationship Id="rId14"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8" Type="http://schemas.openxmlformats.org/officeDocument/2006/relationships/image" Target="../media/image9.emf"/><Relationship Id="rId3" Type="http://schemas.openxmlformats.org/officeDocument/2006/relationships/notesSlide" Target="../notesSlides/notesSlide7.xml"/><Relationship Id="rId7" Type="http://schemas.openxmlformats.org/officeDocument/2006/relationships/package" Target="../embeddings/Microsoft_Excel_Worksheet3.xlsx"/><Relationship Id="rId2" Type="http://schemas.openxmlformats.org/officeDocument/2006/relationships/slideLayout" Target="../slideLayouts/slideLayout18.xml"/><Relationship Id="rId1" Type="http://schemas.openxmlformats.org/officeDocument/2006/relationships/vmlDrawing" Target="../drawings/vmlDrawing1.vml"/><Relationship Id="rId6" Type="http://schemas.openxmlformats.org/officeDocument/2006/relationships/image" Target="../media/image8.emf"/><Relationship Id="rId5" Type="http://schemas.openxmlformats.org/officeDocument/2006/relationships/package" Target="../embeddings/Microsoft_Excel_Worksheet2.xlsx"/><Relationship Id="rId4" Type="http://schemas.openxmlformats.org/officeDocument/2006/relationships/chart" Target="../charts/chart2.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CELLO CRE MODELING FRAMEWORK</a:t>
            </a:r>
            <a:endParaRPr lang="en-US" dirty="0"/>
          </a:p>
        </p:txBody>
      </p:sp>
      <p:sp>
        <p:nvSpPr>
          <p:cNvPr id="6" name="Subtitle 5"/>
          <p:cNvSpPr>
            <a:spLocks noGrp="1"/>
          </p:cNvSpPr>
          <p:nvPr>
            <p:ph type="subTitle" idx="1"/>
          </p:nvPr>
        </p:nvSpPr>
        <p:spPr/>
        <p:txBody>
          <a:bodyPr/>
          <a:lstStyle/>
          <a:p>
            <a:r>
              <a:rPr lang="en-US" dirty="0" smtClean="0"/>
              <a:t>July 2015</a:t>
            </a:r>
            <a:endParaRPr lang="en-US" dirty="0"/>
          </a:p>
        </p:txBody>
      </p:sp>
    </p:spTree>
    <p:extLst>
      <p:ext uri="{BB962C8B-B14F-4D97-AF65-F5344CB8AC3E}">
        <p14:creationId xmlns:p14="http://schemas.microsoft.com/office/powerpoint/2010/main" val="264603733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INVESTMENT APPROACH</a:t>
            </a:r>
            <a:endParaRPr lang="en-US" dirty="0"/>
          </a:p>
        </p:txBody>
      </p:sp>
      <p:sp>
        <p:nvSpPr>
          <p:cNvPr id="9" name="Content Placeholder 8"/>
          <p:cNvSpPr>
            <a:spLocks noGrp="1"/>
          </p:cNvSpPr>
          <p:nvPr>
            <p:ph sz="quarter" idx="13"/>
          </p:nvPr>
        </p:nvSpPr>
        <p:spPr>
          <a:xfrm>
            <a:off x="2514600" y="1235075"/>
            <a:ext cx="7214616" cy="441325"/>
          </a:xfrm>
        </p:spPr>
        <p:txBody>
          <a:bodyPr/>
          <a:lstStyle/>
          <a:p>
            <a:r>
              <a:rPr lang="en-US" dirty="0" smtClean="0"/>
              <a:t>A Relative Value Approach is Applied Across the Portfolio   </a:t>
            </a:r>
            <a:endParaRPr lang="en-US" dirty="0"/>
          </a:p>
        </p:txBody>
      </p:sp>
      <p:sp>
        <p:nvSpPr>
          <p:cNvPr id="10" name="Text Placeholder 2"/>
          <p:cNvSpPr>
            <a:spLocks noGrp="1"/>
          </p:cNvSpPr>
          <p:nvPr>
            <p:ph type="body" sz="quarter" idx="10"/>
          </p:nvPr>
        </p:nvSpPr>
        <p:spPr>
          <a:xfrm>
            <a:off x="2895600" y="436880"/>
            <a:ext cx="6867525" cy="594360"/>
          </a:xfrm>
        </p:spPr>
        <p:txBody>
          <a:bodyPr/>
          <a:lstStyle/>
          <a:p>
            <a:r>
              <a:rPr lang="en-US" dirty="0"/>
              <a:t>RELATIVE-VALUE FOCUS</a:t>
            </a:r>
          </a:p>
        </p:txBody>
      </p:sp>
      <p:sp>
        <p:nvSpPr>
          <p:cNvPr id="16" name="Content Placeholder 12"/>
          <p:cNvSpPr>
            <a:spLocks noGrp="1"/>
          </p:cNvSpPr>
          <p:nvPr>
            <p:ph idx="1"/>
          </p:nvPr>
        </p:nvSpPr>
        <p:spPr>
          <a:xfrm>
            <a:off x="293687" y="1235075"/>
            <a:ext cx="1839913" cy="5938837"/>
          </a:xfrm>
        </p:spPr>
        <p:txBody>
          <a:bodyPr/>
          <a:lstStyle/>
          <a:p>
            <a:pPr>
              <a:lnSpc>
                <a:spcPct val="100000"/>
              </a:lnSpc>
              <a:spcBef>
                <a:spcPts val="0"/>
              </a:spcBef>
            </a:pPr>
            <a:r>
              <a:rPr lang="en-US" sz="1100" b="0" dirty="0" smtClean="0">
                <a:solidFill>
                  <a:schemeClr val="tx1"/>
                </a:solidFill>
              </a:rPr>
              <a:t>Cello believes that the same fundamental factors influence valuations in CRE across Fixed Income and Equities. </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smtClean="0">
                <a:solidFill>
                  <a:schemeClr val="tx1"/>
                </a:solidFill>
              </a:rPr>
              <a:t>The investment process and proprietary infrastructure will be the same across the Portfolio. </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a:solidFill>
                  <a:schemeClr val="tx1"/>
                </a:solidFill>
              </a:rPr>
              <a:t>The initial </a:t>
            </a:r>
            <a:r>
              <a:rPr lang="en-US" sz="1100" b="0" dirty="0" smtClean="0">
                <a:solidFill>
                  <a:schemeClr val="tx1"/>
                </a:solidFill>
              </a:rPr>
              <a:t>allocation is expected to be approximately 70% in Fixed Income and 30% in Equities.</a:t>
            </a:r>
            <a:endParaRPr lang="en-US" sz="1100" b="0" dirty="0">
              <a:solidFill>
                <a:schemeClr val="tx1"/>
              </a:solidFill>
            </a:endParaRPr>
          </a:p>
          <a:p>
            <a:pPr>
              <a:lnSpc>
                <a:spcPct val="100000"/>
              </a:lnSpc>
              <a:spcBef>
                <a:spcPts val="0"/>
              </a:spcBef>
            </a:pPr>
            <a:endParaRPr lang="en-US" sz="1100" b="0" dirty="0" smtClean="0">
              <a:solidFill>
                <a:schemeClr val="tx1"/>
              </a:solidFill>
            </a:endParaRPr>
          </a:p>
          <a:p>
            <a:pPr>
              <a:lnSpc>
                <a:spcPct val="100000"/>
              </a:lnSpc>
              <a:spcBef>
                <a:spcPts val="0"/>
              </a:spcBef>
            </a:pPr>
            <a:endParaRPr lang="en-US" sz="1100" b="0" dirty="0">
              <a:solidFill>
                <a:schemeClr val="tx1"/>
              </a:solidFill>
            </a:endParaRPr>
          </a:p>
          <a:p>
            <a:pPr>
              <a:lnSpc>
                <a:spcPct val="100000"/>
              </a:lnSpc>
              <a:spcBef>
                <a:spcPts val="0"/>
              </a:spcBef>
            </a:pPr>
            <a:endParaRPr lang="en-US" sz="1100" b="0" dirty="0" smtClean="0">
              <a:solidFill>
                <a:schemeClr val="tx1"/>
              </a:solidFill>
            </a:endParaRPr>
          </a:p>
          <a:p>
            <a:pPr>
              <a:lnSpc>
                <a:spcPct val="100000"/>
              </a:lnSpc>
              <a:spcBef>
                <a:spcPts val="0"/>
              </a:spcBef>
            </a:pPr>
            <a:endParaRPr lang="en-US" sz="1100" b="0" dirty="0">
              <a:solidFill>
                <a:schemeClr val="tx1"/>
              </a:solidFill>
            </a:endParaRPr>
          </a:p>
          <a:p>
            <a:pPr>
              <a:lnSpc>
                <a:spcPct val="100000"/>
              </a:lnSpc>
              <a:spcBef>
                <a:spcPts val="0"/>
              </a:spcBef>
            </a:pPr>
            <a:endParaRPr lang="en-US" sz="1100" b="0" dirty="0">
              <a:solidFill>
                <a:schemeClr val="tx1"/>
              </a:solidFill>
            </a:endParaRPr>
          </a:p>
          <a:p>
            <a:endParaRPr lang="en-US" sz="1100" b="0" dirty="0" smtClean="0">
              <a:solidFill>
                <a:schemeClr val="tx1"/>
              </a:solidFill>
            </a:endParaRPr>
          </a:p>
          <a:p>
            <a:endParaRPr lang="en-US" sz="1100" b="0" dirty="0">
              <a:solidFill>
                <a:schemeClr val="tx1"/>
              </a:solidFill>
            </a:endParaRPr>
          </a:p>
          <a:p>
            <a:endParaRPr lang="en-US" sz="1100" dirty="0" smtClean="0"/>
          </a:p>
        </p:txBody>
      </p:sp>
      <p:grpSp>
        <p:nvGrpSpPr>
          <p:cNvPr id="17" name="Group 16"/>
          <p:cNvGrpSpPr/>
          <p:nvPr/>
        </p:nvGrpSpPr>
        <p:grpSpPr>
          <a:xfrm>
            <a:off x="4038600" y="2039934"/>
            <a:ext cx="3719308" cy="3657600"/>
            <a:chOff x="3200400" y="1830421"/>
            <a:chExt cx="3719308" cy="3657600"/>
          </a:xfrm>
        </p:grpSpPr>
        <p:cxnSp>
          <p:nvCxnSpPr>
            <p:cNvPr id="18" name="Straight Connector 17"/>
            <p:cNvCxnSpPr/>
            <p:nvPr/>
          </p:nvCxnSpPr>
          <p:spPr>
            <a:xfrm>
              <a:off x="6717506" y="5093494"/>
              <a:ext cx="202202" cy="115220"/>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3200400" y="1906621"/>
              <a:ext cx="3581400" cy="3581400"/>
            </a:xfrm>
            <a:prstGeom prst="ellipse">
              <a:avLst/>
            </a:prstGeom>
            <a:solidFill>
              <a:schemeClr val="accent2"/>
            </a:solidFill>
            <a:ln w="127000">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lang="en-US"/>
            </a:p>
          </p:txBody>
        </p:sp>
        <p:grpSp>
          <p:nvGrpSpPr>
            <p:cNvPr id="20" name="Group 19"/>
            <p:cNvGrpSpPr/>
            <p:nvPr/>
          </p:nvGrpSpPr>
          <p:grpSpPr>
            <a:xfrm>
              <a:off x="3352800" y="1830421"/>
              <a:ext cx="3291840" cy="2893107"/>
              <a:chOff x="3352800" y="1830421"/>
              <a:chExt cx="3291840" cy="2893107"/>
            </a:xfrm>
          </p:grpSpPr>
          <p:cxnSp>
            <p:nvCxnSpPr>
              <p:cNvPr id="26" name="Straight Connector 25"/>
              <p:cNvCxnSpPr/>
              <p:nvPr/>
            </p:nvCxnSpPr>
            <p:spPr>
              <a:xfrm>
                <a:off x="5780505" y="4213726"/>
                <a:ext cx="864135" cy="486525"/>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V="1">
                <a:off x="3352800" y="4191000"/>
                <a:ext cx="914400" cy="532528"/>
              </a:xfrm>
              <a:prstGeom prst="line">
                <a:avLst/>
              </a:prstGeom>
              <a:ln w="539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H="1" flipV="1">
                <a:off x="5020333" y="1830421"/>
                <a:ext cx="1438" cy="1080749"/>
              </a:xfrm>
              <a:prstGeom prst="line">
                <a:avLst/>
              </a:prstGeom>
              <a:ln w="53975">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1" name="TextBox 20"/>
            <p:cNvSpPr txBox="1"/>
            <p:nvPr/>
          </p:nvSpPr>
          <p:spPr>
            <a:xfrm>
              <a:off x="4137660" y="2836745"/>
              <a:ext cx="1828800" cy="1828800"/>
            </a:xfrm>
            <a:prstGeom prst="ellipse">
              <a:avLst/>
            </a:prstGeom>
            <a:solidFill>
              <a:schemeClr val="tx2"/>
            </a:solidFill>
            <a:ln w="15875">
              <a:noFill/>
            </a:ln>
          </p:spPr>
          <p:txBody>
            <a:bodyPr wrap="square" rtlCol="0" anchor="ctr">
              <a:noAutofit/>
            </a:bodyPr>
            <a:lstStyle/>
            <a:p>
              <a:pPr marL="0" lvl="1" algn="ctr">
                <a:lnSpc>
                  <a:spcPct val="110000"/>
                </a:lnSpc>
                <a:spcBef>
                  <a:spcPts val="1500"/>
                </a:spcBef>
              </a:pPr>
              <a:r>
                <a:rPr lang="en-US" sz="1300" b="1" dirty="0" smtClean="0">
                  <a:solidFill>
                    <a:schemeClr val="bg1"/>
                  </a:solidFill>
                </a:rPr>
                <a:t>CRE INVESTMENT PROCESS</a:t>
              </a:r>
            </a:p>
          </p:txBody>
        </p:sp>
        <p:grpSp>
          <p:nvGrpSpPr>
            <p:cNvPr id="22" name="Group 21"/>
            <p:cNvGrpSpPr/>
            <p:nvPr/>
          </p:nvGrpSpPr>
          <p:grpSpPr>
            <a:xfrm>
              <a:off x="3772090" y="2507481"/>
              <a:ext cx="2648804" cy="2363936"/>
              <a:chOff x="3772090" y="2507481"/>
              <a:chExt cx="2648804" cy="2363936"/>
            </a:xfrm>
          </p:grpSpPr>
          <p:sp>
            <p:nvSpPr>
              <p:cNvPr id="23" name="TextBox 22"/>
              <p:cNvSpPr txBox="1"/>
              <p:nvPr/>
            </p:nvSpPr>
            <p:spPr>
              <a:xfrm rot="18294870">
                <a:off x="3463523" y="2944529"/>
                <a:ext cx="1295400" cy="678265"/>
              </a:xfrm>
              <a:prstGeom prst="rect">
                <a:avLst/>
              </a:prstGeom>
              <a:noFill/>
            </p:spPr>
            <p:txBody>
              <a:bodyPr wrap="square" lIns="0" tIns="0" rIns="0" bIns="0" rtlCol="0">
                <a:prstTxWarp prst="textArchUp">
                  <a:avLst/>
                </a:prstTxWarp>
                <a:noAutofit/>
              </a:bodyPr>
              <a:lstStyle/>
              <a:p>
                <a:pPr marL="0" lvl="1" algn="ctr">
                  <a:lnSpc>
                    <a:spcPct val="110000"/>
                  </a:lnSpc>
                  <a:spcBef>
                    <a:spcPts val="1500"/>
                  </a:spcBef>
                </a:pPr>
                <a:r>
                  <a:rPr lang="en-US" sz="1300" b="1" dirty="0" smtClean="0">
                    <a:solidFill>
                      <a:schemeClr val="bg1"/>
                    </a:solidFill>
                    <a:latin typeface="Calibri"/>
                  </a:rPr>
                  <a:t>  </a:t>
                </a:r>
                <a:br>
                  <a:rPr lang="en-US" sz="1300" b="1" dirty="0" smtClean="0">
                    <a:solidFill>
                      <a:schemeClr val="bg1"/>
                    </a:solidFill>
                    <a:latin typeface="Calibri"/>
                  </a:rPr>
                </a:br>
                <a:r>
                  <a:rPr lang="en-US" sz="1300" b="1" dirty="0" smtClean="0">
                    <a:solidFill>
                      <a:schemeClr val="bg1"/>
                    </a:solidFill>
                    <a:latin typeface="Calibri"/>
                  </a:rPr>
                  <a:t>EQUITY MARKET</a:t>
                </a:r>
                <a:endParaRPr lang="en-US" sz="1300" b="1" dirty="0">
                  <a:solidFill>
                    <a:schemeClr val="bg1"/>
                  </a:solidFill>
                  <a:latin typeface="Calibri"/>
                </a:endParaRPr>
              </a:p>
            </p:txBody>
          </p:sp>
          <p:sp>
            <p:nvSpPr>
              <p:cNvPr id="24" name="TextBox 23"/>
              <p:cNvSpPr txBox="1"/>
              <p:nvPr/>
            </p:nvSpPr>
            <p:spPr>
              <a:xfrm>
                <a:off x="3953811" y="3423617"/>
                <a:ext cx="2171700" cy="1447800"/>
              </a:xfrm>
              <a:prstGeom prst="rect">
                <a:avLst/>
              </a:prstGeom>
              <a:noFill/>
            </p:spPr>
            <p:txBody>
              <a:bodyPr wrap="square" lIns="0" tIns="0" rIns="0" bIns="0" rtlCol="0">
                <a:prstTxWarp prst="textArchDown">
                  <a:avLst/>
                </a:prstTxWarp>
                <a:noAutofit/>
              </a:bodyPr>
              <a:lstStyle/>
              <a:p>
                <a:pPr marL="0" lvl="1" algn="ctr">
                  <a:lnSpc>
                    <a:spcPct val="110000"/>
                  </a:lnSpc>
                  <a:spcBef>
                    <a:spcPts val="1500"/>
                  </a:spcBef>
                </a:pPr>
                <a:r>
                  <a:rPr lang="en-US" sz="1300" b="1" dirty="0" smtClean="0">
                    <a:solidFill>
                      <a:schemeClr val="bg1"/>
                    </a:solidFill>
                    <a:latin typeface="Calibri"/>
                  </a:rPr>
                  <a:t>CORPORATE </a:t>
                </a:r>
                <a:br>
                  <a:rPr lang="en-US" sz="1300" b="1" dirty="0" smtClean="0">
                    <a:solidFill>
                      <a:schemeClr val="bg1"/>
                    </a:solidFill>
                    <a:latin typeface="Calibri"/>
                  </a:rPr>
                </a:br>
                <a:r>
                  <a:rPr lang="en-US" sz="1300" b="1" dirty="0" smtClean="0">
                    <a:solidFill>
                      <a:schemeClr val="bg1"/>
                    </a:solidFill>
                    <a:latin typeface="Calibri"/>
                  </a:rPr>
                  <a:t>DEBT MARKET</a:t>
                </a:r>
                <a:endParaRPr lang="en-US" sz="1300" b="1" dirty="0">
                  <a:solidFill>
                    <a:schemeClr val="bg1"/>
                  </a:solidFill>
                  <a:latin typeface="Calibri"/>
                </a:endParaRPr>
              </a:p>
            </p:txBody>
          </p:sp>
          <p:sp>
            <p:nvSpPr>
              <p:cNvPr id="25" name="TextBox 24"/>
              <p:cNvSpPr txBox="1"/>
              <p:nvPr/>
            </p:nvSpPr>
            <p:spPr>
              <a:xfrm rot="3412790">
                <a:off x="4272822" y="2636365"/>
                <a:ext cx="2276955" cy="2019188"/>
              </a:xfrm>
              <a:prstGeom prst="rect">
                <a:avLst/>
              </a:prstGeom>
              <a:noFill/>
            </p:spPr>
            <p:txBody>
              <a:bodyPr wrap="square" lIns="0" tIns="0" rIns="0" bIns="0" rtlCol="0">
                <a:prstTxWarp prst="textArchUp">
                  <a:avLst>
                    <a:gd name="adj" fmla="val 12240818"/>
                  </a:avLst>
                </a:prstTxWarp>
                <a:noAutofit/>
              </a:bodyPr>
              <a:lstStyle/>
              <a:p>
                <a:pPr marL="0" lvl="1" algn="ctr">
                  <a:lnSpc>
                    <a:spcPct val="110000"/>
                  </a:lnSpc>
                  <a:spcBef>
                    <a:spcPts val="1500"/>
                  </a:spcBef>
                </a:pPr>
                <a:r>
                  <a:rPr lang="en-US" sz="1300" b="1" dirty="0" smtClean="0">
                    <a:solidFill>
                      <a:schemeClr val="bg1"/>
                    </a:solidFill>
                    <a:latin typeface="Calibri"/>
                  </a:rPr>
                  <a:t>CMBS  MARKET</a:t>
                </a:r>
                <a:endParaRPr lang="en-US" sz="1300" b="1" dirty="0">
                  <a:solidFill>
                    <a:schemeClr val="bg1"/>
                  </a:solidFill>
                  <a:latin typeface="Calibri"/>
                </a:endParaRPr>
              </a:p>
            </p:txBody>
          </p:sp>
        </p:grpSp>
      </p:grpSp>
      <p:sp>
        <p:nvSpPr>
          <p:cNvPr id="29" name="Rectangle 28"/>
          <p:cNvSpPr/>
          <p:nvPr/>
        </p:nvSpPr>
        <p:spPr>
          <a:xfrm>
            <a:off x="5443384" y="5823022"/>
            <a:ext cx="2793124" cy="5715000"/>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lvl="1">
              <a:lnSpc>
                <a:spcPct val="110000"/>
              </a:lnSpc>
              <a:spcBef>
                <a:spcPts val="1500"/>
              </a:spcBef>
            </a:pPr>
            <a:r>
              <a:rPr lang="en-US" sz="1400" b="1" dirty="0" smtClean="0">
                <a:solidFill>
                  <a:schemeClr val="accent2"/>
                </a:solidFill>
                <a:latin typeface="+mj-lt"/>
              </a:rPr>
              <a:t>Corporate CRE</a:t>
            </a:r>
          </a:p>
          <a:p>
            <a:pPr marL="171450" lvl="1" indent="-171450">
              <a:spcBef>
                <a:spcPts val="600"/>
              </a:spcBef>
              <a:buFont typeface="Arial" panose="020B0604020202020204" pitchFamily="34" charset="0"/>
              <a:buChar char="•"/>
            </a:pPr>
            <a:r>
              <a:rPr lang="en-US" sz="1300" dirty="0">
                <a:solidFill>
                  <a:schemeClr val="tx2"/>
                </a:solidFill>
              </a:rPr>
              <a:t>Unsecured Debt</a:t>
            </a:r>
          </a:p>
          <a:p>
            <a:pPr marL="171450" lvl="1" indent="-171450">
              <a:spcBef>
                <a:spcPts val="600"/>
              </a:spcBef>
              <a:buFont typeface="Arial" panose="020B0604020202020204" pitchFamily="34" charset="0"/>
              <a:buChar char="•"/>
            </a:pPr>
            <a:r>
              <a:rPr lang="en-US" sz="1300" dirty="0" err="1">
                <a:solidFill>
                  <a:schemeClr val="tx2"/>
                </a:solidFill>
              </a:rPr>
              <a:t>PropCo</a:t>
            </a:r>
            <a:r>
              <a:rPr lang="en-US" sz="1300" dirty="0">
                <a:solidFill>
                  <a:schemeClr val="tx2"/>
                </a:solidFill>
              </a:rPr>
              <a:t> Debt</a:t>
            </a:r>
          </a:p>
          <a:p>
            <a:pPr marL="171450" lvl="1" indent="-171450">
              <a:spcBef>
                <a:spcPts val="600"/>
              </a:spcBef>
              <a:buFont typeface="Arial" panose="020B0604020202020204" pitchFamily="34" charset="0"/>
              <a:buChar char="•"/>
            </a:pPr>
            <a:r>
              <a:rPr lang="en-US" sz="1300" dirty="0">
                <a:solidFill>
                  <a:schemeClr val="tx2"/>
                </a:solidFill>
              </a:rPr>
              <a:t>Corporate Loans</a:t>
            </a:r>
          </a:p>
          <a:p>
            <a:pPr marL="171450" lvl="1" indent="-171450">
              <a:spcBef>
                <a:spcPts val="600"/>
              </a:spcBef>
              <a:buFont typeface="Arial" panose="020B0604020202020204" pitchFamily="34" charset="0"/>
              <a:buChar char="•"/>
            </a:pPr>
            <a:r>
              <a:rPr lang="en-US" sz="1300" dirty="0">
                <a:solidFill>
                  <a:schemeClr val="tx2"/>
                </a:solidFill>
              </a:rPr>
              <a:t>CDS</a:t>
            </a:r>
          </a:p>
          <a:p>
            <a:pPr marL="173038" lvl="3" indent="-173038" algn="ctr">
              <a:lnSpc>
                <a:spcPct val="110000"/>
              </a:lnSpc>
              <a:spcBef>
                <a:spcPts val="300"/>
              </a:spcBef>
              <a:buSzPct val="80000"/>
              <a:buFont typeface="Arial" panose="020B0604020202020204" pitchFamily="34" charset="0"/>
              <a:buChar char="•"/>
            </a:pPr>
            <a:endParaRPr lang="en-US" sz="1300" dirty="0">
              <a:solidFill>
                <a:schemeClr val="tx2"/>
              </a:solidFill>
            </a:endParaRPr>
          </a:p>
          <a:p>
            <a:pPr marL="173038" lvl="3" indent="-173038" algn="ctr">
              <a:lnSpc>
                <a:spcPct val="110000"/>
              </a:lnSpc>
              <a:spcBef>
                <a:spcPts val="300"/>
              </a:spcBef>
              <a:buSzPct val="80000"/>
              <a:buFont typeface="Arial" panose="020B0604020202020204" pitchFamily="34" charset="0"/>
              <a:buChar char="•"/>
            </a:pPr>
            <a:endParaRPr lang="en-US" sz="1300" dirty="0">
              <a:solidFill>
                <a:schemeClr val="tx2"/>
              </a:solidFill>
              <a:latin typeface="+mj-lt"/>
            </a:endParaRPr>
          </a:p>
        </p:txBody>
      </p:sp>
      <p:sp>
        <p:nvSpPr>
          <p:cNvPr id="30" name="Rectangle 29"/>
          <p:cNvSpPr/>
          <p:nvPr/>
        </p:nvSpPr>
        <p:spPr>
          <a:xfrm>
            <a:off x="2553138" y="2350328"/>
            <a:ext cx="2793124" cy="5715000"/>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lvl="1">
              <a:lnSpc>
                <a:spcPct val="110000"/>
              </a:lnSpc>
              <a:spcBef>
                <a:spcPts val="1500"/>
              </a:spcBef>
            </a:pPr>
            <a:r>
              <a:rPr lang="en-US" sz="1400" b="1" dirty="0" smtClean="0">
                <a:solidFill>
                  <a:schemeClr val="accent2"/>
                </a:solidFill>
                <a:latin typeface="+mj-lt"/>
              </a:rPr>
              <a:t>CRE EQUITIES</a:t>
            </a:r>
          </a:p>
          <a:p>
            <a:pPr marL="173038" lvl="3" indent="-173038">
              <a:spcBef>
                <a:spcPts val="600"/>
              </a:spcBef>
              <a:buSzPct val="80000"/>
              <a:buFont typeface="Arial" panose="020B0604020202020204" pitchFamily="34" charset="0"/>
              <a:buChar char="•"/>
            </a:pPr>
            <a:r>
              <a:rPr lang="en-US" sz="1300" dirty="0" smtClean="0">
                <a:solidFill>
                  <a:schemeClr val="tx2"/>
                </a:solidFill>
                <a:latin typeface="+mj-lt"/>
              </a:rPr>
              <a:t>REITs</a:t>
            </a:r>
          </a:p>
          <a:p>
            <a:pPr marL="173038" lvl="3" indent="-173038">
              <a:spcBef>
                <a:spcPts val="600"/>
              </a:spcBef>
              <a:buSzPct val="80000"/>
              <a:buFont typeface="Arial" panose="020B0604020202020204" pitchFamily="34" charset="0"/>
              <a:buChar char="•"/>
            </a:pPr>
            <a:r>
              <a:rPr lang="en-US" sz="1300" dirty="0" smtClean="0">
                <a:solidFill>
                  <a:schemeClr val="tx2"/>
                </a:solidFill>
                <a:latin typeface="+mj-lt"/>
              </a:rPr>
              <a:t>Retail</a:t>
            </a:r>
          </a:p>
          <a:p>
            <a:pPr marL="173038" lvl="3" indent="-173038">
              <a:spcBef>
                <a:spcPts val="600"/>
              </a:spcBef>
              <a:buSzPct val="80000"/>
              <a:buFont typeface="Arial" panose="020B0604020202020204" pitchFamily="34" charset="0"/>
              <a:buChar char="•"/>
            </a:pPr>
            <a:r>
              <a:rPr lang="en-US" sz="1300" dirty="0" smtClean="0">
                <a:solidFill>
                  <a:schemeClr val="tx2"/>
                </a:solidFill>
                <a:latin typeface="+mj-lt"/>
              </a:rPr>
              <a:t>Other CRE Names</a:t>
            </a:r>
          </a:p>
        </p:txBody>
      </p:sp>
      <p:sp>
        <p:nvSpPr>
          <p:cNvPr id="31" name="Rectangle 30"/>
          <p:cNvSpPr/>
          <p:nvPr/>
        </p:nvSpPr>
        <p:spPr>
          <a:xfrm>
            <a:off x="7717122" y="2291594"/>
            <a:ext cx="2793124" cy="5715000"/>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lvl="1">
              <a:lnSpc>
                <a:spcPct val="110000"/>
              </a:lnSpc>
              <a:spcBef>
                <a:spcPts val="1500"/>
              </a:spcBef>
            </a:pPr>
            <a:r>
              <a:rPr lang="en-US" sz="1400" b="1" dirty="0">
                <a:solidFill>
                  <a:schemeClr val="accent2"/>
                </a:solidFill>
                <a:latin typeface="+mj-lt"/>
              </a:rPr>
              <a:t>CMBS &amp; Mortgage </a:t>
            </a:r>
            <a:r>
              <a:rPr lang="en-US" sz="1400" b="1" dirty="0" smtClean="0">
                <a:solidFill>
                  <a:schemeClr val="accent2"/>
                </a:solidFill>
                <a:latin typeface="+mj-lt"/>
              </a:rPr>
              <a:t>Lending</a:t>
            </a:r>
            <a:endParaRPr lang="en-US" sz="1400" b="1" dirty="0">
              <a:solidFill>
                <a:schemeClr val="accent2"/>
              </a:solidFill>
              <a:latin typeface="+mj-lt"/>
            </a:endParaRPr>
          </a:p>
          <a:p>
            <a:pPr marL="173038" lvl="3" indent="-173038">
              <a:spcBef>
                <a:spcPts val="600"/>
              </a:spcBef>
              <a:buSzPct val="80000"/>
              <a:buFont typeface="Arial" panose="020B0604020202020204" pitchFamily="34" charset="0"/>
              <a:buChar char="•"/>
            </a:pPr>
            <a:r>
              <a:rPr lang="en-US" sz="1300" dirty="0">
                <a:solidFill>
                  <a:schemeClr val="tx2"/>
                </a:solidFill>
                <a:latin typeface="+mj-lt"/>
              </a:rPr>
              <a:t>CMBX</a:t>
            </a:r>
          </a:p>
          <a:p>
            <a:pPr marL="173038" lvl="3" indent="-173038">
              <a:spcBef>
                <a:spcPts val="600"/>
              </a:spcBef>
              <a:buSzPct val="80000"/>
              <a:buFont typeface="Arial" panose="020B0604020202020204" pitchFamily="34" charset="0"/>
              <a:buChar char="•"/>
            </a:pPr>
            <a:r>
              <a:rPr lang="en-US" sz="1300" dirty="0">
                <a:solidFill>
                  <a:schemeClr val="tx2"/>
                </a:solidFill>
                <a:latin typeface="+mj-lt"/>
              </a:rPr>
              <a:t>Cash </a:t>
            </a:r>
            <a:r>
              <a:rPr lang="en-US" sz="1300" dirty="0" smtClean="0">
                <a:solidFill>
                  <a:schemeClr val="tx2"/>
                </a:solidFill>
                <a:latin typeface="+mj-lt"/>
              </a:rPr>
              <a:t>CMBS</a:t>
            </a:r>
            <a:endParaRPr lang="en-US" sz="1300" dirty="0">
              <a:solidFill>
                <a:schemeClr val="tx2"/>
              </a:solidFill>
              <a:latin typeface="+mj-lt"/>
            </a:endParaRPr>
          </a:p>
          <a:p>
            <a:pPr marL="173038" lvl="3" indent="-173038">
              <a:spcBef>
                <a:spcPts val="600"/>
              </a:spcBef>
              <a:buSzPct val="80000"/>
              <a:buFont typeface="Arial" panose="020B0604020202020204" pitchFamily="34" charset="0"/>
              <a:buChar char="•"/>
            </a:pPr>
            <a:r>
              <a:rPr lang="en-US" sz="1300" dirty="0">
                <a:solidFill>
                  <a:schemeClr val="tx2"/>
                </a:solidFill>
                <a:latin typeface="+mj-lt"/>
              </a:rPr>
              <a:t>CRE Mezzanine Lending</a:t>
            </a:r>
          </a:p>
        </p:txBody>
      </p:sp>
    </p:spTree>
    <p:extLst>
      <p:ext uri="{BB962C8B-B14F-4D97-AF65-F5344CB8AC3E}">
        <p14:creationId xmlns:p14="http://schemas.microsoft.com/office/powerpoint/2010/main" val="243715339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 Modeling</a:t>
            </a:r>
            <a:br>
              <a:rPr lang="en-US" dirty="0" smtClean="0"/>
            </a:br>
            <a:r>
              <a:rPr lang="en-US" dirty="0" smtClean="0"/>
              <a:t>HOLDERS OF CRE RISK: A CAPITAL MARKETS VIEW </a:t>
            </a:r>
            <a:endParaRPr lang="en-US" dirty="0"/>
          </a:p>
        </p:txBody>
      </p:sp>
      <p:sp>
        <p:nvSpPr>
          <p:cNvPr id="14" name="Text Placeholder 12"/>
          <p:cNvSpPr>
            <a:spLocks/>
          </p:cNvSpPr>
          <p:nvPr>
            <p:custDataLst>
              <p:tags r:id="rId1"/>
            </p:custDataLst>
          </p:nvPr>
        </p:nvSpPr>
        <p:spPr bwMode="auto">
          <a:xfrm>
            <a:off x="3031622" y="2800424"/>
            <a:ext cx="685800" cy="257369"/>
          </a:xfrm>
          <a:prstGeom prst="rect">
            <a:avLst/>
          </a:prstGeom>
          <a:noFill/>
          <a:ln w="9525">
            <a:noFill/>
            <a:miter lim="800000"/>
            <a:headEnd/>
            <a:tailEnd/>
          </a:ln>
        </p:spPr>
        <p:txBody>
          <a:bodyPr wrap="square" lIns="36000" tIns="36000" rIns="36000" bIns="36000">
            <a:spAutoFit/>
          </a:bodyPr>
          <a:lstStyle/>
          <a:p>
            <a:pPr algn="ctr" defTabSz="1019175">
              <a:spcAft>
                <a:spcPts val="300"/>
              </a:spcAft>
            </a:pPr>
            <a:r>
              <a:rPr lang="en-US" sz="1200" b="1" dirty="0" smtClean="0">
                <a:solidFill>
                  <a:schemeClr val="tx2"/>
                </a:solidFill>
                <a:ea typeface="Arial Unicode MS" pitchFamily="34" charset="-122"/>
                <a:cs typeface="Arial Unicode MS" pitchFamily="34" charset="-122"/>
              </a:rPr>
              <a:t>PUBLIC</a:t>
            </a:r>
            <a:endParaRPr lang="en-US" sz="1200" b="1" dirty="0">
              <a:solidFill>
                <a:schemeClr val="tx2"/>
              </a:solidFill>
              <a:ea typeface="Arial Unicode MS" pitchFamily="34" charset="-122"/>
              <a:cs typeface="Arial Unicode MS" pitchFamily="34" charset="-122"/>
            </a:endParaRPr>
          </a:p>
        </p:txBody>
      </p:sp>
      <p:sp>
        <p:nvSpPr>
          <p:cNvPr id="15" name="Text Placeholder 12"/>
          <p:cNvSpPr>
            <a:spLocks/>
          </p:cNvSpPr>
          <p:nvPr>
            <p:custDataLst>
              <p:tags r:id="rId2"/>
            </p:custDataLst>
          </p:nvPr>
        </p:nvSpPr>
        <p:spPr bwMode="auto">
          <a:xfrm>
            <a:off x="3015243" y="5012343"/>
            <a:ext cx="718557" cy="257369"/>
          </a:xfrm>
          <a:prstGeom prst="rect">
            <a:avLst/>
          </a:prstGeom>
          <a:noFill/>
          <a:ln w="9525">
            <a:noFill/>
            <a:miter lim="800000"/>
            <a:headEnd/>
            <a:tailEnd/>
          </a:ln>
        </p:spPr>
        <p:txBody>
          <a:bodyPr wrap="square" lIns="36000" tIns="36000" rIns="36000" bIns="36000">
            <a:spAutoFit/>
          </a:bodyPr>
          <a:lstStyle/>
          <a:p>
            <a:pPr algn="ctr" defTabSz="1019175">
              <a:spcAft>
                <a:spcPts val="300"/>
              </a:spcAft>
            </a:pPr>
            <a:r>
              <a:rPr lang="en-US" altLang="zh-CN" sz="1200" b="1" dirty="0" smtClean="0">
                <a:solidFill>
                  <a:schemeClr val="tx2"/>
                </a:solidFill>
                <a:ea typeface="Arial Unicode MS" pitchFamily="34" charset="-122"/>
                <a:cs typeface="Arial Unicode MS" pitchFamily="34" charset="-122"/>
              </a:rPr>
              <a:t>PRIVATE</a:t>
            </a:r>
            <a:endParaRPr lang="en-US" sz="1200" b="1" dirty="0">
              <a:solidFill>
                <a:schemeClr val="tx2"/>
              </a:solidFill>
              <a:ea typeface="Arial Unicode MS" pitchFamily="34" charset="-122"/>
              <a:cs typeface="Arial Unicode MS" pitchFamily="34" charset="-122"/>
            </a:endParaRPr>
          </a:p>
        </p:txBody>
      </p:sp>
      <p:sp>
        <p:nvSpPr>
          <p:cNvPr id="17" name="Rectangle 16"/>
          <p:cNvSpPr>
            <a:spLocks noChangeArrowheads="1"/>
          </p:cNvSpPr>
          <p:nvPr/>
        </p:nvSpPr>
        <p:spPr bwMode="auto">
          <a:xfrm>
            <a:off x="6167370" y="1927947"/>
            <a:ext cx="2094515" cy="1971546"/>
          </a:xfrm>
          <a:prstGeom prst="rect">
            <a:avLst/>
          </a:prstGeom>
          <a:solidFill>
            <a:schemeClr val="accent3">
              <a:lumMod val="20000"/>
              <a:lumOff val="80000"/>
            </a:schemeClr>
          </a:solidFill>
          <a:ln w="12700">
            <a:solidFill>
              <a:schemeClr val="bg1"/>
            </a:solidFill>
            <a:miter lim="800000"/>
            <a:headEnd/>
            <a:tailEnd/>
          </a:ln>
        </p:spPr>
        <p:txBody>
          <a:bodyPr lIns="36000" tIns="36000" rIns="36000"/>
          <a:lstStyle/>
          <a:p>
            <a:pPr algn="ctr">
              <a:defRPr/>
            </a:pPr>
            <a:endParaRPr lang="en-US" sz="1000" dirty="0">
              <a:solidFill>
                <a:schemeClr val="tx2"/>
              </a:solidFill>
              <a:latin typeface="Arial Unicode MS" pitchFamily="34" charset="-122"/>
              <a:ea typeface="Arial Unicode MS" pitchFamily="34" charset="-122"/>
              <a:cs typeface="Arial Unicode MS" pitchFamily="34" charset="-122"/>
            </a:endParaRPr>
          </a:p>
        </p:txBody>
      </p:sp>
      <p:sp>
        <p:nvSpPr>
          <p:cNvPr id="19" name="Rectangle 18"/>
          <p:cNvSpPr>
            <a:spLocks noChangeArrowheads="1"/>
          </p:cNvSpPr>
          <p:nvPr/>
        </p:nvSpPr>
        <p:spPr bwMode="auto">
          <a:xfrm>
            <a:off x="3925285" y="1927947"/>
            <a:ext cx="2094515" cy="1971546"/>
          </a:xfrm>
          <a:prstGeom prst="rect">
            <a:avLst/>
          </a:prstGeom>
          <a:solidFill>
            <a:schemeClr val="accent1">
              <a:lumMod val="40000"/>
              <a:lumOff val="60000"/>
            </a:schemeClr>
          </a:solidFill>
          <a:ln w="12700">
            <a:solidFill>
              <a:schemeClr val="bg1"/>
            </a:solidFill>
            <a:miter lim="800000"/>
            <a:headEnd/>
            <a:tailEnd/>
          </a:ln>
        </p:spPr>
        <p:txBody>
          <a:bodyPr lIns="36000" tIns="36000" rIns="36000"/>
          <a:lstStyle/>
          <a:p>
            <a:pPr algn="ctr">
              <a:defRPr/>
            </a:pPr>
            <a:endParaRPr lang="en-US" sz="1000" dirty="0">
              <a:solidFill>
                <a:schemeClr val="tx2"/>
              </a:solidFill>
              <a:latin typeface="Arial Unicode MS" pitchFamily="34" charset="-122"/>
              <a:ea typeface="Arial Unicode MS" pitchFamily="34" charset="-122"/>
              <a:cs typeface="Arial Unicode MS" pitchFamily="34" charset="-122"/>
            </a:endParaRPr>
          </a:p>
        </p:txBody>
      </p:sp>
      <p:sp>
        <p:nvSpPr>
          <p:cNvPr id="20" name="Rectangle 19"/>
          <p:cNvSpPr>
            <a:spLocks noChangeArrowheads="1"/>
          </p:cNvSpPr>
          <p:nvPr/>
        </p:nvSpPr>
        <p:spPr bwMode="auto">
          <a:xfrm>
            <a:off x="6167370" y="4038600"/>
            <a:ext cx="2094515" cy="1971546"/>
          </a:xfrm>
          <a:prstGeom prst="rect">
            <a:avLst/>
          </a:prstGeom>
          <a:solidFill>
            <a:schemeClr val="accent3">
              <a:lumMod val="60000"/>
              <a:lumOff val="40000"/>
            </a:schemeClr>
          </a:solidFill>
          <a:ln w="12700">
            <a:solidFill>
              <a:schemeClr val="bg1"/>
            </a:solidFill>
            <a:miter lim="800000"/>
            <a:headEnd/>
            <a:tailEnd/>
          </a:ln>
        </p:spPr>
        <p:txBody>
          <a:bodyPr lIns="36000" tIns="36000" rIns="36000"/>
          <a:lstStyle/>
          <a:p>
            <a:pPr algn="ctr">
              <a:defRPr/>
            </a:pPr>
            <a:endParaRPr lang="en-US" sz="1000" dirty="0">
              <a:solidFill>
                <a:schemeClr val="tx2"/>
              </a:solidFill>
              <a:latin typeface="Arial Unicode MS" pitchFamily="34" charset="-122"/>
              <a:ea typeface="Arial Unicode MS" pitchFamily="34" charset="-122"/>
              <a:cs typeface="Arial Unicode MS" pitchFamily="34" charset="-122"/>
            </a:endParaRPr>
          </a:p>
        </p:txBody>
      </p:sp>
      <p:sp>
        <p:nvSpPr>
          <p:cNvPr id="21" name="Rectangle 20"/>
          <p:cNvSpPr>
            <a:spLocks noChangeArrowheads="1"/>
          </p:cNvSpPr>
          <p:nvPr/>
        </p:nvSpPr>
        <p:spPr bwMode="auto">
          <a:xfrm>
            <a:off x="3925285" y="4038600"/>
            <a:ext cx="2094515" cy="1971546"/>
          </a:xfrm>
          <a:prstGeom prst="rect">
            <a:avLst/>
          </a:prstGeom>
          <a:solidFill>
            <a:schemeClr val="accent2">
              <a:lumMod val="20000"/>
              <a:lumOff val="80000"/>
            </a:schemeClr>
          </a:solidFill>
          <a:ln w="12700">
            <a:solidFill>
              <a:schemeClr val="bg1"/>
            </a:solidFill>
            <a:miter lim="800000"/>
            <a:headEnd/>
            <a:tailEnd/>
          </a:ln>
        </p:spPr>
        <p:txBody>
          <a:bodyPr lIns="36000" tIns="36000" rIns="36000"/>
          <a:lstStyle/>
          <a:p>
            <a:pPr algn="ctr">
              <a:defRPr/>
            </a:pPr>
            <a:endParaRPr lang="en-US" sz="1000" dirty="0">
              <a:solidFill>
                <a:schemeClr val="tx2"/>
              </a:solidFill>
              <a:latin typeface="Arial Unicode MS" pitchFamily="34" charset="-122"/>
              <a:ea typeface="Arial Unicode MS" pitchFamily="34" charset="-122"/>
              <a:cs typeface="Arial Unicode MS" pitchFamily="34" charset="-122"/>
            </a:endParaRPr>
          </a:p>
        </p:txBody>
      </p:sp>
      <p:sp>
        <p:nvSpPr>
          <p:cNvPr id="24" name="TextBox 23"/>
          <p:cNvSpPr txBox="1"/>
          <p:nvPr/>
        </p:nvSpPr>
        <p:spPr>
          <a:xfrm>
            <a:off x="3925285" y="2072019"/>
            <a:ext cx="2094515" cy="1456809"/>
          </a:xfrm>
          <a:prstGeom prst="rect">
            <a:avLst/>
          </a:prstGeom>
          <a:noFill/>
        </p:spPr>
        <p:txBody>
          <a:bodyPr wrap="square" rtlCol="0">
            <a:spAutoFit/>
          </a:bodyPr>
          <a:lstStyle/>
          <a:p>
            <a:pPr marL="171450" indent="-171450">
              <a:spcAft>
                <a:spcPts val="500"/>
              </a:spcAft>
              <a:buFont typeface="Arial" panose="020B0604020202020204" pitchFamily="34" charset="0"/>
              <a:buChar char="•"/>
            </a:pPr>
            <a:r>
              <a:rPr lang="en-GB" altLang="ja-JP" sz="1200" dirty="0">
                <a:ea typeface="Arial Unicode MS" pitchFamily="34" charset="-122"/>
                <a:cs typeface="Arial Unicode MS" pitchFamily="34" charset="-122"/>
              </a:rPr>
              <a:t>Commercial Mortgage </a:t>
            </a:r>
            <a:r>
              <a:rPr lang="en-GB" altLang="ja-JP" sz="1200" dirty="0" smtClean="0">
                <a:ea typeface="Arial Unicode MS" pitchFamily="34" charset="-122"/>
                <a:cs typeface="Arial Unicode MS" pitchFamily="34" charset="-122"/>
              </a:rPr>
              <a:t>Backed </a:t>
            </a:r>
            <a:r>
              <a:rPr lang="en-GB" altLang="ja-JP" sz="1200" dirty="0">
                <a:ea typeface="Arial Unicode MS" pitchFamily="34" charset="-122"/>
                <a:cs typeface="Arial Unicode MS" pitchFamily="34" charset="-122"/>
              </a:rPr>
              <a:t>Securities (CMBS</a:t>
            </a:r>
            <a:r>
              <a:rPr lang="en-GB" altLang="ja-JP" sz="1200" dirty="0" smtClean="0">
                <a:ea typeface="Arial Unicode MS" pitchFamily="34" charset="-122"/>
                <a:cs typeface="Arial Unicode MS" pitchFamily="34" charset="-122"/>
              </a:rPr>
              <a:t>)</a:t>
            </a:r>
          </a:p>
          <a:p>
            <a:pPr marL="171450" indent="-171450">
              <a:spcAft>
                <a:spcPts val="500"/>
              </a:spcAft>
              <a:buFont typeface="Arial" panose="020B0604020202020204" pitchFamily="34" charset="0"/>
              <a:buChar char="•"/>
            </a:pPr>
            <a:r>
              <a:rPr lang="en-GB" altLang="ja-JP" sz="1200" dirty="0" smtClean="0">
                <a:ea typeface="Arial Unicode MS" pitchFamily="34" charset="-122"/>
                <a:cs typeface="Arial Unicode MS" pitchFamily="34" charset="-122"/>
              </a:rPr>
              <a:t>CMBX</a:t>
            </a:r>
          </a:p>
          <a:p>
            <a:pPr marL="171450" indent="-171450">
              <a:spcAft>
                <a:spcPts val="500"/>
              </a:spcAft>
              <a:buFont typeface="Arial" panose="020B0604020202020204" pitchFamily="34" charset="0"/>
              <a:buChar char="•"/>
            </a:pPr>
            <a:r>
              <a:rPr lang="en-GB" altLang="ja-JP" sz="1200" dirty="0" smtClean="0">
                <a:ea typeface="Arial Unicode MS" pitchFamily="34" charset="-122"/>
                <a:cs typeface="Arial Unicode MS" pitchFamily="34" charset="-122"/>
              </a:rPr>
              <a:t>Corporate Loans</a:t>
            </a:r>
          </a:p>
          <a:p>
            <a:pPr marL="171450" indent="-171450">
              <a:spcAft>
                <a:spcPts val="500"/>
              </a:spcAft>
              <a:buFont typeface="Arial" panose="020B0604020202020204" pitchFamily="34" charset="0"/>
              <a:buChar char="•"/>
            </a:pPr>
            <a:r>
              <a:rPr lang="en-GB" altLang="ja-JP" sz="1200" dirty="0" smtClean="0">
                <a:ea typeface="Arial Unicode MS" pitchFamily="34" charset="-122"/>
                <a:cs typeface="Arial Unicode MS" pitchFamily="34" charset="-122"/>
              </a:rPr>
              <a:t>CDS</a:t>
            </a:r>
            <a:endParaRPr lang="en-GB" altLang="ja-JP" sz="1200" dirty="0">
              <a:ea typeface="Arial Unicode MS" pitchFamily="34" charset="-122"/>
              <a:cs typeface="Arial Unicode MS" pitchFamily="34" charset="-122"/>
            </a:endParaRPr>
          </a:p>
          <a:p>
            <a:pPr marL="171450" indent="-171450">
              <a:buFont typeface="Arial" panose="020B0604020202020204" pitchFamily="34" charset="0"/>
              <a:buChar char="•"/>
            </a:pPr>
            <a:endParaRPr lang="en-US" sz="1200" dirty="0"/>
          </a:p>
        </p:txBody>
      </p:sp>
      <p:sp>
        <p:nvSpPr>
          <p:cNvPr id="25" name="TextBox 24"/>
          <p:cNvSpPr txBox="1"/>
          <p:nvPr/>
        </p:nvSpPr>
        <p:spPr>
          <a:xfrm>
            <a:off x="6157619" y="2072019"/>
            <a:ext cx="2114017" cy="1208023"/>
          </a:xfrm>
          <a:prstGeom prst="rect">
            <a:avLst/>
          </a:prstGeom>
          <a:noFill/>
        </p:spPr>
        <p:txBody>
          <a:bodyPr wrap="square" rtlCol="0">
            <a:spAutoFit/>
          </a:bodyPr>
          <a:lstStyle>
            <a:defPPr>
              <a:defRPr lang="en-US"/>
            </a:defPPr>
            <a:lvl1pPr marL="171450" indent="-171450">
              <a:spcAft>
                <a:spcPts val="500"/>
              </a:spcAft>
              <a:buFont typeface="Arial" panose="020B0604020202020204" pitchFamily="34" charset="0"/>
              <a:buChar char="•"/>
              <a:defRPr sz="1200">
                <a:solidFill>
                  <a:schemeClr val="bg1"/>
                </a:solidFill>
                <a:ea typeface="Arial Unicode MS" pitchFamily="34" charset="-122"/>
                <a:cs typeface="Arial Unicode MS" pitchFamily="34" charset="-122"/>
              </a:defRPr>
            </a:lvl1pPr>
          </a:lstStyle>
          <a:p>
            <a:r>
              <a:rPr lang="en-GB" altLang="ja-JP" dirty="0">
                <a:solidFill>
                  <a:schemeClr val="tx1"/>
                </a:solidFill>
              </a:rPr>
              <a:t>Equity REITs</a:t>
            </a:r>
          </a:p>
          <a:p>
            <a:r>
              <a:rPr lang="en-GB" altLang="ja-JP" dirty="0">
                <a:solidFill>
                  <a:schemeClr val="tx1"/>
                </a:solidFill>
              </a:rPr>
              <a:t>Public Real Estate Property Companies</a:t>
            </a:r>
          </a:p>
          <a:p>
            <a:r>
              <a:rPr lang="en-GB" altLang="ja-JP" dirty="0">
                <a:solidFill>
                  <a:schemeClr val="tx1"/>
                </a:solidFill>
              </a:rPr>
              <a:t>Real Estate Mutual Funds</a:t>
            </a:r>
          </a:p>
          <a:p>
            <a:r>
              <a:rPr lang="en-GB" altLang="ja-JP" dirty="0" smtClean="0">
                <a:solidFill>
                  <a:schemeClr val="tx1"/>
                </a:solidFill>
              </a:rPr>
              <a:t>Retail</a:t>
            </a:r>
            <a:endParaRPr lang="en-GB" altLang="ja-JP" dirty="0">
              <a:solidFill>
                <a:schemeClr val="tx1"/>
              </a:solidFill>
            </a:endParaRPr>
          </a:p>
        </p:txBody>
      </p:sp>
      <p:sp>
        <p:nvSpPr>
          <p:cNvPr id="26" name="TextBox 25"/>
          <p:cNvSpPr txBox="1"/>
          <p:nvPr/>
        </p:nvSpPr>
        <p:spPr>
          <a:xfrm>
            <a:off x="3927290" y="4181346"/>
            <a:ext cx="2090505" cy="774571"/>
          </a:xfrm>
          <a:prstGeom prst="rect">
            <a:avLst/>
          </a:prstGeom>
          <a:noFill/>
        </p:spPr>
        <p:txBody>
          <a:bodyPr wrap="square" rtlCol="0">
            <a:spAutoFit/>
          </a:bodyPr>
          <a:lstStyle>
            <a:defPPr>
              <a:defRPr lang="en-US"/>
            </a:defPPr>
            <a:lvl1pPr marL="171450" indent="-171450">
              <a:spcAft>
                <a:spcPts val="500"/>
              </a:spcAft>
              <a:buFont typeface="Arial" panose="020B0604020202020204" pitchFamily="34" charset="0"/>
              <a:buChar char="•"/>
              <a:defRPr sz="1200">
                <a:solidFill>
                  <a:schemeClr val="bg1"/>
                </a:solidFill>
                <a:ea typeface="Arial Unicode MS" pitchFamily="34" charset="-122"/>
                <a:cs typeface="Arial Unicode MS" pitchFamily="34" charset="-122"/>
              </a:defRPr>
            </a:lvl1pPr>
          </a:lstStyle>
          <a:p>
            <a:r>
              <a:rPr lang="en-GB" altLang="ja-JP" dirty="0">
                <a:solidFill>
                  <a:schemeClr val="tx1"/>
                </a:solidFill>
              </a:rPr>
              <a:t>Senior Loans</a:t>
            </a:r>
          </a:p>
          <a:p>
            <a:r>
              <a:rPr lang="en-GB" altLang="ja-JP" dirty="0">
                <a:solidFill>
                  <a:schemeClr val="tx1"/>
                </a:solidFill>
              </a:rPr>
              <a:t>Mezzanine Debt</a:t>
            </a:r>
          </a:p>
          <a:p>
            <a:r>
              <a:rPr lang="en-GB" altLang="ja-JP" dirty="0">
                <a:solidFill>
                  <a:schemeClr val="tx1"/>
                </a:solidFill>
              </a:rPr>
              <a:t>Mortgage Whole Loans</a:t>
            </a:r>
          </a:p>
        </p:txBody>
      </p:sp>
      <p:sp>
        <p:nvSpPr>
          <p:cNvPr id="27" name="TextBox 26"/>
          <p:cNvSpPr txBox="1"/>
          <p:nvPr/>
        </p:nvSpPr>
        <p:spPr>
          <a:xfrm>
            <a:off x="6174667" y="4181346"/>
            <a:ext cx="2079920" cy="959237"/>
          </a:xfrm>
          <a:prstGeom prst="rect">
            <a:avLst/>
          </a:prstGeom>
          <a:noFill/>
        </p:spPr>
        <p:txBody>
          <a:bodyPr wrap="square" rtlCol="0">
            <a:spAutoFit/>
          </a:bodyPr>
          <a:lstStyle>
            <a:defPPr>
              <a:defRPr lang="en-US"/>
            </a:defPPr>
            <a:lvl1pPr marL="171450" indent="-171450">
              <a:spcAft>
                <a:spcPts val="500"/>
              </a:spcAft>
              <a:buFont typeface="Arial" panose="020B0604020202020204" pitchFamily="34" charset="0"/>
              <a:buChar char="•"/>
              <a:defRPr sz="1200">
                <a:solidFill>
                  <a:schemeClr val="bg1"/>
                </a:solidFill>
                <a:ea typeface="Arial Unicode MS" pitchFamily="34" charset="-122"/>
                <a:cs typeface="Arial Unicode MS" pitchFamily="34" charset="-122"/>
              </a:defRPr>
            </a:lvl1pPr>
          </a:lstStyle>
          <a:p>
            <a:r>
              <a:rPr lang="en-US" altLang="zh-CN" dirty="0">
                <a:solidFill>
                  <a:schemeClr val="tx1"/>
                </a:solidFill>
              </a:rPr>
              <a:t>Open and Closed End Funds</a:t>
            </a:r>
          </a:p>
          <a:p>
            <a:r>
              <a:rPr lang="en-US" altLang="ja-JP" dirty="0">
                <a:solidFill>
                  <a:schemeClr val="tx1"/>
                </a:solidFill>
              </a:rPr>
              <a:t>Separate Accounts/Direct Investments</a:t>
            </a:r>
          </a:p>
          <a:p>
            <a:r>
              <a:rPr lang="en-GB" altLang="ja-JP" dirty="0">
                <a:solidFill>
                  <a:schemeClr val="tx1"/>
                </a:solidFill>
              </a:rPr>
              <a:t>Non-Traded REITs</a:t>
            </a:r>
          </a:p>
        </p:txBody>
      </p:sp>
      <p:sp>
        <p:nvSpPr>
          <p:cNvPr id="78" name="TextBox 77"/>
          <p:cNvSpPr txBox="1"/>
          <p:nvPr/>
        </p:nvSpPr>
        <p:spPr>
          <a:xfrm>
            <a:off x="4362517" y="1659714"/>
            <a:ext cx="1220051" cy="276999"/>
          </a:xfrm>
          <a:prstGeom prst="rect">
            <a:avLst/>
          </a:prstGeom>
          <a:noFill/>
        </p:spPr>
        <p:txBody>
          <a:bodyPr wrap="square" rtlCol="0">
            <a:spAutoFit/>
          </a:bodyPr>
          <a:lstStyle/>
          <a:p>
            <a:pPr algn="ctr"/>
            <a:r>
              <a:rPr lang="en-US" sz="1200" b="1" dirty="0" smtClean="0"/>
              <a:t>DEBT</a:t>
            </a:r>
            <a:endParaRPr lang="en-US" sz="1200" b="1" dirty="0"/>
          </a:p>
        </p:txBody>
      </p:sp>
      <p:sp>
        <p:nvSpPr>
          <p:cNvPr id="114" name="Content Placeholder 12"/>
          <p:cNvSpPr>
            <a:spLocks noGrp="1"/>
          </p:cNvSpPr>
          <p:nvPr>
            <p:ph idx="1"/>
          </p:nvPr>
        </p:nvSpPr>
        <p:spPr>
          <a:xfrm>
            <a:off x="293687" y="1235075"/>
            <a:ext cx="1839913" cy="4860925"/>
          </a:xfrm>
        </p:spPr>
        <p:txBody>
          <a:bodyPr/>
          <a:lstStyle/>
          <a:p>
            <a:pPr>
              <a:lnSpc>
                <a:spcPct val="100000"/>
              </a:lnSpc>
              <a:spcBef>
                <a:spcPts val="0"/>
              </a:spcBef>
            </a:pPr>
            <a:r>
              <a:rPr lang="en-US" sz="1100" b="0" dirty="0">
                <a:solidFill>
                  <a:schemeClr val="tx1"/>
                </a:solidFill>
              </a:rPr>
              <a:t>P</a:t>
            </a:r>
            <a:r>
              <a:rPr lang="en-US" sz="1100" b="0" dirty="0" smtClean="0">
                <a:solidFill>
                  <a:schemeClr val="tx1"/>
                </a:solidFill>
              </a:rPr>
              <a:t>roducts based on real estate have been developed for, and are traded in all four branches of the capital markets – </a:t>
            </a:r>
            <a:r>
              <a:rPr lang="en-US" sz="1100" dirty="0" smtClean="0">
                <a:solidFill>
                  <a:schemeClr val="tx1"/>
                </a:solidFill>
              </a:rPr>
              <a:t>Debt/Equity, Public/Private.</a:t>
            </a:r>
            <a:r>
              <a:rPr lang="en-US" sz="1100" b="0" dirty="0" smtClean="0">
                <a:solidFill>
                  <a:schemeClr val="tx1"/>
                </a:solidFill>
              </a:rPr>
              <a:t> </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smtClean="0">
                <a:solidFill>
                  <a:schemeClr val="tx1"/>
                </a:solidFill>
              </a:rPr>
              <a:t>The asset and loan coverage of some of these </a:t>
            </a:r>
            <a:r>
              <a:rPr lang="en-US" sz="1100" b="0" dirty="0">
                <a:solidFill>
                  <a:schemeClr val="tx1"/>
                </a:solidFill>
              </a:rPr>
              <a:t>markets </a:t>
            </a:r>
            <a:r>
              <a:rPr lang="en-US" sz="1100" b="0" dirty="0" smtClean="0">
                <a:solidFill>
                  <a:schemeClr val="tx1"/>
                </a:solidFill>
              </a:rPr>
              <a:t>is comprehensive enough to provide significant insight into macro-level trends.</a:t>
            </a:r>
            <a:endParaRPr lang="en-US" sz="1100" b="0" dirty="0">
              <a:solidFill>
                <a:schemeClr val="tx1"/>
              </a:solidFill>
            </a:endParaRPr>
          </a:p>
          <a:p>
            <a:pPr>
              <a:lnSpc>
                <a:spcPct val="100000"/>
              </a:lnSpc>
              <a:spcBef>
                <a:spcPts val="0"/>
              </a:spcBef>
            </a:pPr>
            <a:endParaRPr lang="en-US" sz="1100" b="0" dirty="0" smtClean="0">
              <a:solidFill>
                <a:schemeClr val="tx1"/>
              </a:solidFill>
            </a:endParaRPr>
          </a:p>
          <a:p>
            <a:pPr>
              <a:lnSpc>
                <a:spcPct val="100000"/>
              </a:lnSpc>
              <a:spcBef>
                <a:spcPts val="0"/>
              </a:spcBef>
            </a:pPr>
            <a:r>
              <a:rPr lang="en-US" sz="1100" b="0" dirty="0" smtClean="0">
                <a:solidFill>
                  <a:schemeClr val="tx1"/>
                </a:solidFill>
              </a:rPr>
              <a:t>Cello’s </a:t>
            </a:r>
            <a:r>
              <a:rPr lang="en-US" sz="1100" b="0" dirty="0">
                <a:solidFill>
                  <a:schemeClr val="tx1"/>
                </a:solidFill>
              </a:rPr>
              <a:t>framework for CRE analysis connects valuation information across the various capital markets that price CRE </a:t>
            </a:r>
            <a:r>
              <a:rPr lang="en-US" sz="1100" b="0" dirty="0" smtClean="0">
                <a:solidFill>
                  <a:schemeClr val="tx1"/>
                </a:solidFill>
              </a:rPr>
              <a:t>risk</a:t>
            </a:r>
            <a:r>
              <a:rPr lang="en-US" sz="1100" b="0" dirty="0">
                <a:solidFill>
                  <a:schemeClr val="tx1"/>
                </a:solidFill>
              </a:rPr>
              <a:t> </a:t>
            </a:r>
            <a:r>
              <a:rPr lang="en-US" sz="1100" b="0" dirty="0" smtClean="0">
                <a:solidFill>
                  <a:schemeClr val="tx1"/>
                </a:solidFill>
              </a:rPr>
              <a:t>with the goal of identifying pricing inefficiencies that create relative value opportunities.</a:t>
            </a:r>
          </a:p>
          <a:p>
            <a:pPr>
              <a:lnSpc>
                <a:spcPct val="100000"/>
              </a:lnSpc>
              <a:spcBef>
                <a:spcPts val="0"/>
              </a:spcBef>
            </a:pPr>
            <a:endParaRPr lang="en-US" sz="1100" b="0" dirty="0">
              <a:solidFill>
                <a:schemeClr val="tx1"/>
              </a:solidFill>
            </a:endParaRPr>
          </a:p>
          <a:p>
            <a:pPr>
              <a:lnSpc>
                <a:spcPct val="100000"/>
              </a:lnSpc>
              <a:spcBef>
                <a:spcPts val="0"/>
              </a:spcBef>
            </a:pPr>
            <a:endParaRPr lang="en-US" sz="1100" b="0" dirty="0" smtClean="0">
              <a:solidFill>
                <a:schemeClr val="tx1"/>
              </a:solidFill>
            </a:endParaRPr>
          </a:p>
          <a:p>
            <a:pPr>
              <a:lnSpc>
                <a:spcPct val="100000"/>
              </a:lnSpc>
              <a:spcBef>
                <a:spcPts val="0"/>
              </a:spcBef>
            </a:pPr>
            <a:endParaRPr lang="en-US" sz="1100" b="0" dirty="0">
              <a:solidFill>
                <a:schemeClr val="tx1"/>
              </a:solidFill>
            </a:endParaRPr>
          </a:p>
          <a:p>
            <a:pPr>
              <a:lnSpc>
                <a:spcPct val="100000"/>
              </a:lnSpc>
              <a:spcBef>
                <a:spcPts val="0"/>
              </a:spcBef>
            </a:pPr>
            <a:endParaRPr lang="en-US" sz="1100" b="0" dirty="0" smtClean="0">
              <a:solidFill>
                <a:schemeClr val="tx1"/>
              </a:solidFill>
            </a:endParaRPr>
          </a:p>
          <a:p>
            <a:pPr>
              <a:lnSpc>
                <a:spcPct val="100000"/>
              </a:lnSpc>
              <a:spcBef>
                <a:spcPts val="0"/>
              </a:spcBef>
            </a:pPr>
            <a:endParaRPr lang="en-US" sz="1100" b="0" dirty="0">
              <a:solidFill>
                <a:schemeClr val="tx1"/>
              </a:solidFill>
            </a:endParaRPr>
          </a:p>
          <a:p>
            <a:pPr>
              <a:lnSpc>
                <a:spcPct val="100000"/>
              </a:lnSpc>
              <a:spcBef>
                <a:spcPts val="0"/>
              </a:spcBef>
            </a:pPr>
            <a:endParaRPr lang="en-US" sz="1100" b="0" dirty="0" smtClean="0">
              <a:solidFill>
                <a:schemeClr val="tx1"/>
              </a:solidFill>
            </a:endParaRPr>
          </a:p>
        </p:txBody>
      </p:sp>
      <p:sp>
        <p:nvSpPr>
          <p:cNvPr id="62" name="TextBox 61"/>
          <p:cNvSpPr txBox="1"/>
          <p:nvPr/>
        </p:nvSpPr>
        <p:spPr>
          <a:xfrm>
            <a:off x="6604602" y="1659714"/>
            <a:ext cx="1220051" cy="276999"/>
          </a:xfrm>
          <a:prstGeom prst="rect">
            <a:avLst/>
          </a:prstGeom>
          <a:noFill/>
        </p:spPr>
        <p:txBody>
          <a:bodyPr wrap="square" rtlCol="0">
            <a:spAutoFit/>
          </a:bodyPr>
          <a:lstStyle/>
          <a:p>
            <a:pPr algn="ctr"/>
            <a:r>
              <a:rPr lang="en-US" sz="1200" b="1" dirty="0" smtClean="0"/>
              <a:t>EQUITY</a:t>
            </a:r>
            <a:endParaRPr lang="en-US" sz="1200" b="1" dirty="0"/>
          </a:p>
        </p:txBody>
      </p:sp>
    </p:spTree>
    <p:extLst>
      <p:ext uri="{BB962C8B-B14F-4D97-AF65-F5344CB8AC3E}">
        <p14:creationId xmlns:p14="http://schemas.microsoft.com/office/powerpoint/2010/main" val="421879868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p:cNvSpPr/>
          <p:nvPr/>
        </p:nvSpPr>
        <p:spPr>
          <a:xfrm>
            <a:off x="5906453" y="1825915"/>
            <a:ext cx="3733800" cy="2186183"/>
          </a:xfrm>
          <a:prstGeom prst="rect">
            <a:avLst/>
          </a:prstGeom>
          <a:solidFill>
            <a:schemeClr val="accent6">
              <a:lumMod val="20000"/>
              <a:lumOff val="8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cxnSp>
        <p:nvCxnSpPr>
          <p:cNvPr id="18" name="Straight Connector 17"/>
          <p:cNvCxnSpPr/>
          <p:nvPr/>
        </p:nvCxnSpPr>
        <p:spPr>
          <a:xfrm>
            <a:off x="2477453" y="1508799"/>
            <a:ext cx="2780347"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smtClean="0"/>
              <a:t>CRE Modeling</a:t>
            </a:r>
            <a:br>
              <a:rPr lang="en-US" dirty="0" smtClean="0"/>
            </a:br>
            <a:r>
              <a:rPr lang="en-US" dirty="0" smtClean="0"/>
              <a:t>COMMERCIAL PROPERTY AND Loan basics</a:t>
            </a:r>
            <a:endParaRPr lang="en-US" dirty="0"/>
          </a:p>
        </p:txBody>
      </p:sp>
      <p:sp>
        <p:nvSpPr>
          <p:cNvPr id="16" name="Content Placeholder 12"/>
          <p:cNvSpPr>
            <a:spLocks noGrp="1"/>
          </p:cNvSpPr>
          <p:nvPr>
            <p:ph idx="1"/>
          </p:nvPr>
        </p:nvSpPr>
        <p:spPr>
          <a:xfrm>
            <a:off x="293687" y="1235075"/>
            <a:ext cx="1839913" cy="5927725"/>
          </a:xfrm>
        </p:spPr>
        <p:txBody>
          <a:bodyPr/>
          <a:lstStyle/>
          <a:p>
            <a:pPr>
              <a:lnSpc>
                <a:spcPct val="100000"/>
              </a:lnSpc>
              <a:spcBef>
                <a:spcPts val="0"/>
              </a:spcBef>
            </a:pPr>
            <a:r>
              <a:rPr lang="en-US" sz="1100" b="0" dirty="0" smtClean="0">
                <a:solidFill>
                  <a:schemeClr val="tx1"/>
                </a:solidFill>
              </a:rPr>
              <a:t>As in the case of </a:t>
            </a:r>
            <a:r>
              <a:rPr lang="en-US" sz="1100" b="0" dirty="0">
                <a:solidFill>
                  <a:schemeClr val="tx1"/>
                </a:solidFill>
              </a:rPr>
              <a:t>r</a:t>
            </a:r>
            <a:r>
              <a:rPr lang="en-US" sz="1100" b="0" dirty="0" smtClean="0">
                <a:solidFill>
                  <a:schemeClr val="tx1"/>
                </a:solidFill>
              </a:rPr>
              <a:t>esidential properties, most commercial properties are financed with mortgages. </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smtClean="0">
                <a:solidFill>
                  <a:schemeClr val="tx1"/>
                </a:solidFill>
              </a:rPr>
              <a:t>The most important metrics of a property’s financial condition are its </a:t>
            </a:r>
            <a:r>
              <a:rPr lang="en-US" sz="1100" dirty="0" smtClean="0">
                <a:solidFill>
                  <a:schemeClr val="tx1"/>
                </a:solidFill>
              </a:rPr>
              <a:t>Net Operating Income </a:t>
            </a:r>
            <a:r>
              <a:rPr lang="en-US" sz="1100" b="0" dirty="0" smtClean="0">
                <a:solidFill>
                  <a:schemeClr val="tx1"/>
                </a:solidFill>
              </a:rPr>
              <a:t>(NOI), its </a:t>
            </a:r>
            <a:r>
              <a:rPr lang="en-US" sz="1100" dirty="0" smtClean="0">
                <a:solidFill>
                  <a:schemeClr val="tx1"/>
                </a:solidFill>
              </a:rPr>
              <a:t>Debt Service Coverage Ratio</a:t>
            </a:r>
            <a:r>
              <a:rPr lang="en-US" sz="1100" b="0" dirty="0" smtClean="0">
                <a:solidFill>
                  <a:schemeClr val="tx1"/>
                </a:solidFill>
              </a:rPr>
              <a:t> (DSCR), and its Loan-to-value Ratio (LTV). </a:t>
            </a:r>
            <a:endParaRPr lang="en-US" sz="1100" b="0" dirty="0">
              <a:solidFill>
                <a:schemeClr val="tx1"/>
              </a:solidFill>
            </a:endParaRPr>
          </a:p>
          <a:p>
            <a:pPr>
              <a:lnSpc>
                <a:spcPct val="100000"/>
              </a:lnSpc>
              <a:spcBef>
                <a:spcPts val="0"/>
              </a:spcBef>
            </a:pPr>
            <a:endParaRPr lang="en-US" sz="1100" b="0" dirty="0" smtClean="0">
              <a:solidFill>
                <a:schemeClr val="tx1"/>
              </a:solidFill>
            </a:endParaRPr>
          </a:p>
          <a:p>
            <a:pPr>
              <a:lnSpc>
                <a:spcPct val="100000"/>
              </a:lnSpc>
              <a:spcBef>
                <a:spcPts val="0"/>
              </a:spcBef>
            </a:pPr>
            <a:r>
              <a:rPr lang="en-US" sz="1100" b="0" dirty="0" smtClean="0">
                <a:solidFill>
                  <a:schemeClr val="tx1"/>
                </a:solidFill>
              </a:rPr>
              <a:t>The key </a:t>
            </a:r>
            <a:r>
              <a:rPr lang="en-US" sz="1100" dirty="0" smtClean="0">
                <a:solidFill>
                  <a:schemeClr val="tx1"/>
                </a:solidFill>
              </a:rPr>
              <a:t>credit events </a:t>
            </a:r>
            <a:r>
              <a:rPr lang="en-US" sz="1100" b="0" dirty="0" smtClean="0">
                <a:solidFill>
                  <a:schemeClr val="tx1"/>
                </a:solidFill>
              </a:rPr>
              <a:t>associated with a commercial mortgage include a Term Default, a Maturity Default and Extension Risk.</a:t>
            </a:r>
          </a:p>
          <a:p>
            <a:pPr>
              <a:lnSpc>
                <a:spcPct val="100000"/>
              </a:lnSpc>
              <a:spcBef>
                <a:spcPts val="0"/>
              </a:spcBef>
            </a:pPr>
            <a:endParaRPr lang="en-US" sz="1100" b="0" dirty="0">
              <a:solidFill>
                <a:schemeClr val="tx1"/>
              </a:solidFill>
            </a:endParaRPr>
          </a:p>
          <a:p>
            <a:pPr>
              <a:lnSpc>
                <a:spcPct val="100000"/>
              </a:lnSpc>
              <a:spcBef>
                <a:spcPts val="0"/>
              </a:spcBef>
            </a:pPr>
            <a:r>
              <a:rPr lang="en-US" sz="1100" dirty="0" smtClean="0">
                <a:solidFill>
                  <a:schemeClr val="tx1"/>
                </a:solidFill>
              </a:rPr>
              <a:t>Extension Risk</a:t>
            </a:r>
            <a:r>
              <a:rPr lang="en-US" sz="1100" b="0" dirty="0" smtClean="0">
                <a:solidFill>
                  <a:schemeClr val="tx1"/>
                </a:solidFill>
              </a:rPr>
              <a:t>: Borrowers with a mortgage that is not in default at maturity but does not meet prevailing underwriting standards will attempt to extend the loan with the lender. Loans that are extended may ultimately default. </a:t>
            </a:r>
            <a:endParaRPr lang="en-US" sz="1100" b="0" dirty="0">
              <a:solidFill>
                <a:schemeClr val="tx1"/>
              </a:solidFill>
            </a:endParaRPr>
          </a:p>
          <a:p>
            <a:pPr>
              <a:lnSpc>
                <a:spcPct val="100000"/>
              </a:lnSpc>
              <a:spcBef>
                <a:spcPts val="0"/>
              </a:spcBef>
            </a:pPr>
            <a:endParaRPr lang="en-US" sz="1100" b="0" dirty="0">
              <a:solidFill>
                <a:schemeClr val="tx1"/>
              </a:solidFill>
            </a:endParaRPr>
          </a:p>
          <a:p>
            <a:endParaRPr lang="en-US" sz="1100" b="0" dirty="0" smtClean="0">
              <a:solidFill>
                <a:schemeClr val="tx1"/>
              </a:solidFill>
            </a:endParaRPr>
          </a:p>
          <a:p>
            <a:endParaRPr lang="en-US" sz="1100" b="0" dirty="0">
              <a:solidFill>
                <a:schemeClr val="tx1"/>
              </a:solidFill>
            </a:endParaRPr>
          </a:p>
          <a:p>
            <a:endParaRPr lang="en-US" sz="1100" dirty="0" smtClean="0"/>
          </a:p>
        </p:txBody>
      </p:sp>
      <p:grpSp>
        <p:nvGrpSpPr>
          <p:cNvPr id="6" name="Group 5"/>
          <p:cNvGrpSpPr/>
          <p:nvPr/>
        </p:nvGrpSpPr>
        <p:grpSpPr>
          <a:xfrm>
            <a:off x="3010853" y="1143000"/>
            <a:ext cx="1981200" cy="4114800"/>
            <a:chOff x="2819400" y="1582439"/>
            <a:chExt cx="1981200" cy="3935898"/>
          </a:xfrm>
        </p:grpSpPr>
        <p:graphicFrame>
          <p:nvGraphicFramePr>
            <p:cNvPr id="36" name="Chart 35"/>
            <p:cNvGraphicFramePr/>
            <p:nvPr>
              <p:custDataLst>
                <p:tags r:id="rId5"/>
              </p:custDataLst>
              <p:extLst>
                <p:ext uri="{D42A27DB-BD31-4B8C-83A1-F6EECF244321}">
                  <p14:modId xmlns:p14="http://schemas.microsoft.com/office/powerpoint/2010/main" val="489750133"/>
                </p:ext>
              </p:extLst>
            </p:nvPr>
          </p:nvGraphicFramePr>
          <p:xfrm>
            <a:off x="2819400" y="1582439"/>
            <a:ext cx="1981200" cy="3935898"/>
          </p:xfrm>
          <a:graphic>
            <a:graphicData uri="http://schemas.openxmlformats.org/drawingml/2006/chart">
              <c:chart xmlns:c="http://schemas.openxmlformats.org/drawingml/2006/chart" xmlns:r="http://schemas.openxmlformats.org/officeDocument/2006/relationships" r:id="rId8"/>
            </a:graphicData>
          </a:graphic>
        </p:graphicFrame>
        <p:sp>
          <p:nvSpPr>
            <p:cNvPr id="3" name="TextBox 2"/>
            <p:cNvSpPr txBox="1"/>
            <p:nvPr/>
          </p:nvSpPr>
          <p:spPr>
            <a:xfrm>
              <a:off x="3276600" y="3276600"/>
              <a:ext cx="914400" cy="261610"/>
            </a:xfrm>
            <a:prstGeom prst="rect">
              <a:avLst/>
            </a:prstGeom>
            <a:noFill/>
          </p:spPr>
          <p:txBody>
            <a:bodyPr wrap="square" rtlCol="0">
              <a:spAutoFit/>
            </a:bodyPr>
            <a:lstStyle/>
            <a:p>
              <a:pPr algn="ctr"/>
              <a:r>
                <a:rPr lang="en-US" sz="1100" b="1" dirty="0" smtClean="0">
                  <a:solidFill>
                    <a:schemeClr val="bg1"/>
                  </a:solidFill>
                </a:rPr>
                <a:t>Mortgage</a:t>
              </a:r>
              <a:endParaRPr lang="en-US" sz="1100" b="1" dirty="0">
                <a:solidFill>
                  <a:schemeClr val="bg1"/>
                </a:solidFill>
              </a:endParaRPr>
            </a:p>
          </p:txBody>
        </p:sp>
        <p:sp>
          <p:nvSpPr>
            <p:cNvPr id="37" name="TextBox 36"/>
            <p:cNvSpPr txBox="1"/>
            <p:nvPr/>
          </p:nvSpPr>
          <p:spPr>
            <a:xfrm>
              <a:off x="3276600" y="4724400"/>
              <a:ext cx="914400" cy="430887"/>
            </a:xfrm>
            <a:prstGeom prst="rect">
              <a:avLst/>
            </a:prstGeom>
            <a:noFill/>
          </p:spPr>
          <p:txBody>
            <a:bodyPr wrap="square" rtlCol="0">
              <a:spAutoFit/>
            </a:bodyPr>
            <a:lstStyle/>
            <a:p>
              <a:pPr algn="ctr"/>
              <a:r>
                <a:rPr lang="en-US" sz="1100" b="1" dirty="0" smtClean="0">
                  <a:solidFill>
                    <a:schemeClr val="tx2"/>
                  </a:solidFill>
                </a:rPr>
                <a:t>Borrower</a:t>
              </a:r>
            </a:p>
            <a:p>
              <a:pPr algn="ctr"/>
              <a:r>
                <a:rPr lang="en-US" sz="1100" b="1" dirty="0" smtClean="0">
                  <a:solidFill>
                    <a:schemeClr val="tx2"/>
                  </a:solidFill>
                </a:rPr>
                <a:t>Equity</a:t>
              </a:r>
              <a:endParaRPr lang="en-US" sz="1100" b="1" dirty="0">
                <a:solidFill>
                  <a:schemeClr val="tx2"/>
                </a:solidFill>
              </a:endParaRPr>
            </a:p>
          </p:txBody>
        </p:sp>
      </p:grpSp>
      <p:sp>
        <p:nvSpPr>
          <p:cNvPr id="41" name="Freeform 5"/>
          <p:cNvSpPr>
            <a:spLocks/>
          </p:cNvSpPr>
          <p:nvPr>
            <p:custDataLst>
              <p:tags r:id="rId1"/>
            </p:custDataLst>
          </p:nvPr>
        </p:nvSpPr>
        <p:spPr bwMode="auto">
          <a:xfrm>
            <a:off x="3010852" y="1919628"/>
            <a:ext cx="457201" cy="1041992"/>
          </a:xfrm>
          <a:custGeom>
            <a:avLst/>
            <a:gdLst>
              <a:gd name="T0" fmla="*/ 0 w 1404"/>
              <a:gd name="T1" fmla="*/ 2147483647 h 228"/>
              <a:gd name="T2" fmla="*/ 0 w 1404"/>
              <a:gd name="T3" fmla="*/ 0 h 228"/>
              <a:gd name="T4" fmla="*/ 2147483647 w 1404"/>
              <a:gd name="T5" fmla="*/ 0 h 228"/>
              <a:gd name="T6" fmla="*/ 0 60000 65536"/>
              <a:gd name="T7" fmla="*/ 0 60000 65536"/>
              <a:gd name="T8" fmla="*/ 0 60000 65536"/>
              <a:gd name="T9" fmla="*/ 0 w 1404"/>
              <a:gd name="T10" fmla="*/ 0 h 228"/>
              <a:gd name="T11" fmla="*/ 1404 w 1404"/>
              <a:gd name="T12" fmla="*/ 228 h 228"/>
            </a:gdLst>
            <a:ahLst/>
            <a:cxnLst>
              <a:cxn ang="T6">
                <a:pos x="T0" y="T1"/>
              </a:cxn>
              <a:cxn ang="T7">
                <a:pos x="T2" y="T3"/>
              </a:cxn>
              <a:cxn ang="T8">
                <a:pos x="T4" y="T5"/>
              </a:cxn>
            </a:cxnLst>
            <a:rect l="T9" t="T10" r="T11" b="T12"/>
            <a:pathLst>
              <a:path w="1404" h="228">
                <a:moveTo>
                  <a:pt x="0" y="228"/>
                </a:moveTo>
                <a:lnTo>
                  <a:pt x="0" y="0"/>
                </a:lnTo>
                <a:lnTo>
                  <a:pt x="1404" y="0"/>
                </a:lnTo>
              </a:path>
            </a:pathLst>
          </a:custGeom>
          <a:noFill/>
          <a:ln w="19050">
            <a:solidFill>
              <a:srgbClr val="002776"/>
            </a:solidFill>
            <a:prstDash val="lgDash"/>
            <a:round/>
            <a:headEnd/>
            <a:tailEnd/>
          </a:ln>
        </p:spPr>
        <p:txBody>
          <a:bodyPr wrap="none" anchor="ctr"/>
          <a:lstStyle/>
          <a:p>
            <a:endParaRPr lang="en-US">
              <a:latin typeface="Arial Unicode MS" pitchFamily="34" charset="-122"/>
              <a:ea typeface="Arial Unicode MS" pitchFamily="34" charset="-122"/>
              <a:cs typeface="Arial Unicode MS" pitchFamily="34" charset="-122"/>
            </a:endParaRPr>
          </a:p>
        </p:txBody>
      </p:sp>
      <p:sp>
        <p:nvSpPr>
          <p:cNvPr id="46" name="Freeform 14"/>
          <p:cNvSpPr>
            <a:spLocks/>
          </p:cNvSpPr>
          <p:nvPr>
            <p:custDataLst>
              <p:tags r:id="rId2"/>
            </p:custDataLst>
          </p:nvPr>
        </p:nvSpPr>
        <p:spPr bwMode="auto">
          <a:xfrm rot="10800000" flipH="1">
            <a:off x="3010853" y="4133961"/>
            <a:ext cx="431505" cy="819039"/>
          </a:xfrm>
          <a:custGeom>
            <a:avLst/>
            <a:gdLst>
              <a:gd name="T0" fmla="*/ 0 w 1404"/>
              <a:gd name="T1" fmla="*/ 2147483647 h 228"/>
              <a:gd name="T2" fmla="*/ 0 w 1404"/>
              <a:gd name="T3" fmla="*/ 0 h 228"/>
              <a:gd name="T4" fmla="*/ 2147483647 w 1404"/>
              <a:gd name="T5" fmla="*/ 0 h 228"/>
              <a:gd name="T6" fmla="*/ 0 60000 65536"/>
              <a:gd name="T7" fmla="*/ 0 60000 65536"/>
              <a:gd name="T8" fmla="*/ 0 60000 65536"/>
              <a:gd name="T9" fmla="*/ 0 w 1404"/>
              <a:gd name="T10" fmla="*/ 0 h 228"/>
              <a:gd name="T11" fmla="*/ 1404 w 1404"/>
              <a:gd name="T12" fmla="*/ 228 h 228"/>
            </a:gdLst>
            <a:ahLst/>
            <a:cxnLst>
              <a:cxn ang="T6">
                <a:pos x="T0" y="T1"/>
              </a:cxn>
              <a:cxn ang="T7">
                <a:pos x="T2" y="T3"/>
              </a:cxn>
              <a:cxn ang="T8">
                <a:pos x="T4" y="T5"/>
              </a:cxn>
            </a:cxnLst>
            <a:rect l="T9" t="T10" r="T11" b="T12"/>
            <a:pathLst>
              <a:path w="1404" h="228">
                <a:moveTo>
                  <a:pt x="0" y="228"/>
                </a:moveTo>
                <a:lnTo>
                  <a:pt x="0" y="0"/>
                </a:lnTo>
                <a:lnTo>
                  <a:pt x="1404" y="0"/>
                </a:lnTo>
              </a:path>
            </a:pathLst>
          </a:custGeom>
          <a:noFill/>
          <a:ln w="19050">
            <a:solidFill>
              <a:srgbClr val="002776"/>
            </a:solidFill>
            <a:prstDash val="lgDash"/>
            <a:round/>
            <a:headEnd/>
            <a:tailEnd/>
          </a:ln>
        </p:spPr>
        <p:txBody>
          <a:bodyPr wrap="none" anchor="ctr"/>
          <a:lstStyle/>
          <a:p>
            <a:endParaRPr lang="en-US">
              <a:latin typeface="Arial Unicode MS" pitchFamily="34" charset="-122"/>
              <a:ea typeface="Arial Unicode MS" pitchFamily="34" charset="-122"/>
              <a:cs typeface="Arial Unicode MS" pitchFamily="34" charset="-122"/>
            </a:endParaRPr>
          </a:p>
        </p:txBody>
      </p:sp>
      <p:sp>
        <p:nvSpPr>
          <p:cNvPr id="8" name="TextBox 7"/>
          <p:cNvSpPr txBox="1"/>
          <p:nvPr/>
        </p:nvSpPr>
        <p:spPr>
          <a:xfrm>
            <a:off x="2477453" y="3209836"/>
            <a:ext cx="1066800" cy="600164"/>
          </a:xfrm>
          <a:prstGeom prst="rect">
            <a:avLst/>
          </a:prstGeom>
          <a:noFill/>
        </p:spPr>
        <p:txBody>
          <a:bodyPr wrap="square" rtlCol="0">
            <a:spAutoFit/>
          </a:bodyPr>
          <a:lstStyle/>
          <a:p>
            <a:pPr algn="ctr"/>
            <a:r>
              <a:rPr lang="en-US" sz="1100" dirty="0" smtClean="0"/>
              <a:t>Total</a:t>
            </a:r>
          </a:p>
          <a:p>
            <a:pPr algn="ctr"/>
            <a:r>
              <a:rPr lang="en-US" sz="1100" dirty="0" smtClean="0"/>
              <a:t>Property</a:t>
            </a:r>
          </a:p>
          <a:p>
            <a:pPr algn="ctr"/>
            <a:r>
              <a:rPr lang="en-US" sz="1100" dirty="0" smtClean="0"/>
              <a:t>Value = 100%</a:t>
            </a:r>
            <a:endParaRPr lang="en-US" sz="1100" dirty="0"/>
          </a:p>
        </p:txBody>
      </p:sp>
      <p:sp>
        <p:nvSpPr>
          <p:cNvPr id="47" name="Freeform 5"/>
          <p:cNvSpPr>
            <a:spLocks/>
          </p:cNvSpPr>
          <p:nvPr>
            <p:custDataLst>
              <p:tags r:id="rId3"/>
            </p:custDataLst>
          </p:nvPr>
        </p:nvSpPr>
        <p:spPr bwMode="auto">
          <a:xfrm rot="10800000">
            <a:off x="4368380" y="3567272"/>
            <a:ext cx="457201" cy="776127"/>
          </a:xfrm>
          <a:custGeom>
            <a:avLst/>
            <a:gdLst>
              <a:gd name="T0" fmla="*/ 0 w 1404"/>
              <a:gd name="T1" fmla="*/ 2147483647 h 228"/>
              <a:gd name="T2" fmla="*/ 0 w 1404"/>
              <a:gd name="T3" fmla="*/ 0 h 228"/>
              <a:gd name="T4" fmla="*/ 2147483647 w 1404"/>
              <a:gd name="T5" fmla="*/ 0 h 228"/>
              <a:gd name="T6" fmla="*/ 0 60000 65536"/>
              <a:gd name="T7" fmla="*/ 0 60000 65536"/>
              <a:gd name="T8" fmla="*/ 0 60000 65536"/>
              <a:gd name="T9" fmla="*/ 0 w 1404"/>
              <a:gd name="T10" fmla="*/ 0 h 228"/>
              <a:gd name="T11" fmla="*/ 1404 w 1404"/>
              <a:gd name="T12" fmla="*/ 228 h 228"/>
            </a:gdLst>
            <a:ahLst/>
            <a:cxnLst>
              <a:cxn ang="T6">
                <a:pos x="T0" y="T1"/>
              </a:cxn>
              <a:cxn ang="T7">
                <a:pos x="T2" y="T3"/>
              </a:cxn>
              <a:cxn ang="T8">
                <a:pos x="T4" y="T5"/>
              </a:cxn>
            </a:cxnLst>
            <a:rect l="T9" t="T10" r="T11" b="T12"/>
            <a:pathLst>
              <a:path w="1404" h="228">
                <a:moveTo>
                  <a:pt x="0" y="228"/>
                </a:moveTo>
                <a:lnTo>
                  <a:pt x="0" y="0"/>
                </a:lnTo>
                <a:lnTo>
                  <a:pt x="1404" y="0"/>
                </a:lnTo>
              </a:path>
            </a:pathLst>
          </a:custGeom>
          <a:noFill/>
          <a:ln w="19050">
            <a:solidFill>
              <a:srgbClr val="002776"/>
            </a:solidFill>
            <a:prstDash val="lgDash"/>
            <a:round/>
            <a:headEnd/>
            <a:tailEnd/>
          </a:ln>
        </p:spPr>
        <p:txBody>
          <a:bodyPr wrap="none" anchor="ctr"/>
          <a:lstStyle/>
          <a:p>
            <a:endParaRPr lang="en-US">
              <a:latin typeface="Arial Unicode MS" pitchFamily="34" charset="-122"/>
              <a:ea typeface="Arial Unicode MS" pitchFamily="34" charset="-122"/>
              <a:cs typeface="Arial Unicode MS" pitchFamily="34" charset="-122"/>
            </a:endParaRPr>
          </a:p>
        </p:txBody>
      </p:sp>
      <p:sp>
        <p:nvSpPr>
          <p:cNvPr id="48" name="Freeform 14"/>
          <p:cNvSpPr>
            <a:spLocks/>
          </p:cNvSpPr>
          <p:nvPr>
            <p:custDataLst>
              <p:tags r:id="rId4"/>
            </p:custDataLst>
          </p:nvPr>
        </p:nvSpPr>
        <p:spPr bwMode="auto">
          <a:xfrm flipH="1">
            <a:off x="4394076" y="1907826"/>
            <a:ext cx="431505" cy="700735"/>
          </a:xfrm>
          <a:custGeom>
            <a:avLst/>
            <a:gdLst>
              <a:gd name="T0" fmla="*/ 0 w 1404"/>
              <a:gd name="T1" fmla="*/ 2147483647 h 228"/>
              <a:gd name="T2" fmla="*/ 0 w 1404"/>
              <a:gd name="T3" fmla="*/ 0 h 228"/>
              <a:gd name="T4" fmla="*/ 2147483647 w 1404"/>
              <a:gd name="T5" fmla="*/ 0 h 228"/>
              <a:gd name="T6" fmla="*/ 0 60000 65536"/>
              <a:gd name="T7" fmla="*/ 0 60000 65536"/>
              <a:gd name="T8" fmla="*/ 0 60000 65536"/>
              <a:gd name="T9" fmla="*/ 0 w 1404"/>
              <a:gd name="T10" fmla="*/ 0 h 228"/>
              <a:gd name="T11" fmla="*/ 1404 w 1404"/>
              <a:gd name="T12" fmla="*/ 228 h 228"/>
            </a:gdLst>
            <a:ahLst/>
            <a:cxnLst>
              <a:cxn ang="T6">
                <a:pos x="T0" y="T1"/>
              </a:cxn>
              <a:cxn ang="T7">
                <a:pos x="T2" y="T3"/>
              </a:cxn>
              <a:cxn ang="T8">
                <a:pos x="T4" y="T5"/>
              </a:cxn>
            </a:cxnLst>
            <a:rect l="T9" t="T10" r="T11" b="T12"/>
            <a:pathLst>
              <a:path w="1404" h="228">
                <a:moveTo>
                  <a:pt x="0" y="228"/>
                </a:moveTo>
                <a:lnTo>
                  <a:pt x="0" y="0"/>
                </a:lnTo>
                <a:lnTo>
                  <a:pt x="1404" y="0"/>
                </a:lnTo>
              </a:path>
            </a:pathLst>
          </a:custGeom>
          <a:noFill/>
          <a:ln w="19050">
            <a:solidFill>
              <a:srgbClr val="002776"/>
            </a:solidFill>
            <a:prstDash val="lgDash"/>
            <a:round/>
            <a:headEnd/>
            <a:tailEnd/>
          </a:ln>
        </p:spPr>
        <p:txBody>
          <a:bodyPr wrap="none" anchor="ctr"/>
          <a:lstStyle/>
          <a:p>
            <a:endParaRPr lang="en-US">
              <a:latin typeface="Arial Unicode MS" pitchFamily="34" charset="-122"/>
              <a:ea typeface="Arial Unicode MS" pitchFamily="34" charset="-122"/>
              <a:cs typeface="Arial Unicode MS" pitchFamily="34" charset="-122"/>
            </a:endParaRPr>
          </a:p>
        </p:txBody>
      </p:sp>
      <p:sp>
        <p:nvSpPr>
          <p:cNvPr id="56" name="TextBox 55"/>
          <p:cNvSpPr txBox="1"/>
          <p:nvPr/>
        </p:nvSpPr>
        <p:spPr>
          <a:xfrm>
            <a:off x="4394076" y="2819400"/>
            <a:ext cx="826577" cy="600164"/>
          </a:xfrm>
          <a:prstGeom prst="rect">
            <a:avLst/>
          </a:prstGeom>
          <a:noFill/>
        </p:spPr>
        <p:txBody>
          <a:bodyPr wrap="square" rtlCol="0">
            <a:spAutoFit/>
          </a:bodyPr>
          <a:lstStyle/>
          <a:p>
            <a:pPr algn="ctr"/>
            <a:r>
              <a:rPr lang="en-US" sz="1100" dirty="0" smtClean="0"/>
              <a:t>Mortgage</a:t>
            </a:r>
          </a:p>
          <a:p>
            <a:pPr algn="ctr"/>
            <a:r>
              <a:rPr lang="en-US" sz="1100" dirty="0" smtClean="0"/>
              <a:t>LTV</a:t>
            </a:r>
          </a:p>
          <a:p>
            <a:pPr algn="ctr"/>
            <a:r>
              <a:rPr lang="en-US" sz="1100" dirty="0" smtClean="0"/>
              <a:t>= 80%</a:t>
            </a:r>
            <a:endParaRPr lang="en-US" sz="1100" dirty="0"/>
          </a:p>
        </p:txBody>
      </p:sp>
      <p:cxnSp>
        <p:nvCxnSpPr>
          <p:cNvPr id="13" name="Straight Connector 12"/>
          <p:cNvCxnSpPr/>
          <p:nvPr/>
        </p:nvCxnSpPr>
        <p:spPr>
          <a:xfrm>
            <a:off x="5410200" y="1726098"/>
            <a:ext cx="0" cy="3276600"/>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5982653" y="1825915"/>
            <a:ext cx="3657600" cy="2123658"/>
          </a:xfrm>
          <a:prstGeom prst="rect">
            <a:avLst/>
          </a:prstGeom>
          <a:noFill/>
        </p:spPr>
        <p:txBody>
          <a:bodyPr wrap="square" rtlCol="0">
            <a:spAutoFit/>
          </a:bodyPr>
          <a:lstStyle/>
          <a:p>
            <a:r>
              <a:rPr lang="en-US" sz="1100" b="1" dirty="0" smtClean="0"/>
              <a:t>Credit events for Commercial mortgages</a:t>
            </a:r>
          </a:p>
          <a:p>
            <a:endParaRPr lang="en-US" sz="1100" b="1" dirty="0" smtClean="0"/>
          </a:p>
          <a:p>
            <a:pPr marL="171450" indent="-171450">
              <a:buFont typeface="Arial" panose="020B0604020202020204" pitchFamily="34" charset="0"/>
              <a:buChar char="•"/>
            </a:pPr>
            <a:r>
              <a:rPr lang="en-US" sz="1100" u="sng" dirty="0" smtClean="0"/>
              <a:t>Term </a:t>
            </a:r>
            <a:r>
              <a:rPr lang="en-US" sz="1100" u="sng" dirty="0"/>
              <a:t>Default </a:t>
            </a:r>
            <a:r>
              <a:rPr lang="en-US" sz="1100" dirty="0" smtClean="0"/>
              <a:t>: </a:t>
            </a:r>
          </a:p>
          <a:p>
            <a:r>
              <a:rPr lang="en-US" sz="1100" dirty="0" smtClean="0"/>
              <a:t>Borrower </a:t>
            </a:r>
            <a:r>
              <a:rPr lang="en-US" sz="1100" dirty="0"/>
              <a:t>is unable to </a:t>
            </a:r>
            <a:r>
              <a:rPr lang="en-US" sz="1100" dirty="0" smtClean="0"/>
              <a:t>meet </a:t>
            </a:r>
            <a:r>
              <a:rPr lang="en-US" sz="1100" dirty="0"/>
              <a:t>interest obligations and defaults on </a:t>
            </a:r>
            <a:r>
              <a:rPr lang="en-US" sz="1100" dirty="0" smtClean="0"/>
              <a:t>the </a:t>
            </a:r>
            <a:r>
              <a:rPr lang="en-US" sz="1100" dirty="0"/>
              <a:t>mortgage before maturity</a:t>
            </a:r>
          </a:p>
          <a:p>
            <a:endParaRPr lang="en-US" sz="1100" dirty="0"/>
          </a:p>
          <a:p>
            <a:pPr marL="171450" indent="-171450">
              <a:buFont typeface="Arial" panose="020B0604020202020204" pitchFamily="34" charset="0"/>
              <a:buChar char="•"/>
            </a:pPr>
            <a:r>
              <a:rPr lang="en-US" sz="1100" u="sng" dirty="0"/>
              <a:t>Maturity Default</a:t>
            </a:r>
            <a:r>
              <a:rPr lang="en-US" sz="1100" dirty="0"/>
              <a:t>: </a:t>
            </a:r>
            <a:endParaRPr lang="en-US" sz="1100" dirty="0" smtClean="0"/>
          </a:p>
          <a:p>
            <a:r>
              <a:rPr lang="en-US" sz="1100" dirty="0" smtClean="0"/>
              <a:t>Borrower </a:t>
            </a:r>
            <a:r>
              <a:rPr lang="en-US" sz="1100" dirty="0"/>
              <a:t>is unable to refinance or payoff </a:t>
            </a:r>
            <a:r>
              <a:rPr lang="en-US" sz="1100" dirty="0" smtClean="0"/>
              <a:t>the loan </a:t>
            </a:r>
            <a:r>
              <a:rPr lang="en-US" sz="1100" dirty="0"/>
              <a:t>balance at maturity</a:t>
            </a:r>
          </a:p>
          <a:p>
            <a:endParaRPr lang="en-US" sz="1100" dirty="0"/>
          </a:p>
          <a:p>
            <a:pPr marL="171450" indent="-171450">
              <a:buFont typeface="Arial" panose="020B0604020202020204" pitchFamily="34" charset="0"/>
              <a:buChar char="•"/>
            </a:pPr>
            <a:r>
              <a:rPr lang="en-US" sz="1100" u="sng" dirty="0"/>
              <a:t>Extension Risk</a:t>
            </a:r>
            <a:r>
              <a:rPr lang="en-US" sz="1100" dirty="0"/>
              <a:t>: </a:t>
            </a:r>
            <a:endParaRPr lang="en-US" sz="1100" dirty="0" smtClean="0"/>
          </a:p>
          <a:p>
            <a:r>
              <a:rPr lang="en-US" sz="1100" dirty="0" smtClean="0"/>
              <a:t>Servicer/Lender </a:t>
            </a:r>
            <a:r>
              <a:rPr lang="en-US" sz="1100" dirty="0"/>
              <a:t> </a:t>
            </a:r>
            <a:r>
              <a:rPr lang="en-US" sz="1100" dirty="0" smtClean="0"/>
              <a:t>has to extend </a:t>
            </a:r>
            <a:r>
              <a:rPr lang="en-US" sz="1100" dirty="0"/>
              <a:t>loan </a:t>
            </a:r>
            <a:r>
              <a:rPr lang="en-US" sz="1100" dirty="0" smtClean="0"/>
              <a:t>maturity</a:t>
            </a:r>
            <a:endParaRPr lang="en-US" sz="1100" dirty="0"/>
          </a:p>
        </p:txBody>
      </p:sp>
      <p:sp>
        <p:nvSpPr>
          <p:cNvPr id="9" name="Content Placeholder 8"/>
          <p:cNvSpPr>
            <a:spLocks noGrp="1"/>
          </p:cNvSpPr>
          <p:nvPr>
            <p:ph sz="quarter" idx="13"/>
          </p:nvPr>
        </p:nvSpPr>
        <p:spPr>
          <a:xfrm>
            <a:off x="2563678" y="1405800"/>
            <a:ext cx="2541722" cy="205998"/>
          </a:xfrm>
          <a:solidFill>
            <a:schemeClr val="bg1"/>
          </a:solidFill>
        </p:spPr>
        <p:txBody>
          <a:bodyPr/>
          <a:lstStyle/>
          <a:p>
            <a:pPr algn="ctr"/>
            <a:r>
              <a:rPr lang="en-US" sz="1200" dirty="0" smtClean="0"/>
              <a:t>Capital Structure of a Sample Property</a:t>
            </a:r>
            <a:endParaRPr lang="en-US" sz="1200" dirty="0"/>
          </a:p>
        </p:txBody>
      </p:sp>
      <p:cxnSp>
        <p:nvCxnSpPr>
          <p:cNvPr id="94" name="Straight Connector 93"/>
          <p:cNvCxnSpPr/>
          <p:nvPr/>
        </p:nvCxnSpPr>
        <p:spPr>
          <a:xfrm>
            <a:off x="5754053" y="1508799"/>
            <a:ext cx="3886200" cy="0"/>
          </a:xfrm>
          <a:prstGeom prst="line">
            <a:avLst/>
          </a:prstGeom>
        </p:spPr>
        <p:style>
          <a:lnRef idx="1">
            <a:schemeClr val="accent1"/>
          </a:lnRef>
          <a:fillRef idx="0">
            <a:schemeClr val="accent1"/>
          </a:fillRef>
          <a:effectRef idx="0">
            <a:schemeClr val="accent1"/>
          </a:effectRef>
          <a:fontRef idx="minor">
            <a:schemeClr val="tx1"/>
          </a:fontRef>
        </p:style>
      </p:cxnSp>
      <p:sp>
        <p:nvSpPr>
          <p:cNvPr id="59" name="Content Placeholder 8"/>
          <p:cNvSpPr txBox="1">
            <a:spLocks/>
          </p:cNvSpPr>
          <p:nvPr/>
        </p:nvSpPr>
        <p:spPr>
          <a:xfrm>
            <a:off x="5982653" y="1413549"/>
            <a:ext cx="3429000" cy="190500"/>
          </a:xfrm>
          <a:prstGeom prst="rect">
            <a:avLst/>
          </a:prstGeom>
          <a:solidFill>
            <a:schemeClr val="bg1"/>
          </a:solidFill>
        </p:spPr>
        <p:txBody>
          <a:bodyPr vert="horz" lIns="0" tIns="0" rIns="0" bIns="0" rtlCol="0" anchor="t" anchorCtr="0">
            <a:noAutofit/>
          </a:bodyPr>
          <a:lstStyle>
            <a:lvl1pPr marL="0" indent="0" algn="l" defTabSz="1018824" rtl="0" eaLnBrk="1" latinLnBrk="0" hangingPunct="1">
              <a:lnSpc>
                <a:spcPct val="110000"/>
              </a:lnSpc>
              <a:spcBef>
                <a:spcPts val="1800"/>
              </a:spcBef>
              <a:buFont typeface="Arial" panose="020B0604020202020204" pitchFamily="34" charset="0"/>
              <a:buNone/>
              <a:defRPr sz="1400" b="1" kern="1200">
                <a:solidFill>
                  <a:schemeClr val="accent1"/>
                </a:solidFill>
                <a:latin typeface="+mj-lt"/>
                <a:ea typeface="+mn-ea"/>
                <a:cs typeface="+mn-cs"/>
              </a:defRPr>
            </a:lvl1pPr>
            <a:lvl2pPr marL="0" indent="0" algn="l" defTabSz="1018824" rtl="0" eaLnBrk="1" latinLnBrk="0" hangingPunct="1">
              <a:lnSpc>
                <a:spcPct val="110000"/>
              </a:lnSpc>
              <a:spcBef>
                <a:spcPts val="1500"/>
              </a:spcBef>
              <a:buFont typeface="Arial" panose="020B0604020202020204" pitchFamily="34" charset="0"/>
              <a:buNone/>
              <a:defRPr sz="1300" b="1" kern="1200">
                <a:solidFill>
                  <a:schemeClr val="tx1"/>
                </a:solidFill>
                <a:latin typeface="+mj-lt"/>
                <a:ea typeface="+mn-ea"/>
                <a:cs typeface="+mn-cs"/>
              </a:defRPr>
            </a:lvl2pPr>
            <a:lvl3pPr marL="1588" indent="0" algn="l" defTabSz="1018824" rtl="0" eaLnBrk="1" latinLnBrk="0" hangingPunct="1">
              <a:lnSpc>
                <a:spcPct val="110000"/>
              </a:lnSpc>
              <a:spcBef>
                <a:spcPts val="300"/>
              </a:spcBef>
              <a:buFont typeface="Arial" panose="020B0604020202020204" pitchFamily="34" charset="0"/>
              <a:buNone/>
              <a:defRPr sz="1300" kern="1200">
                <a:solidFill>
                  <a:schemeClr val="tx1"/>
                </a:solidFill>
                <a:latin typeface="+mj-lt"/>
                <a:ea typeface="+mn-ea"/>
                <a:cs typeface="+mn-cs"/>
              </a:defRPr>
            </a:lvl3pPr>
            <a:lvl4pPr marL="173038" indent="-173038" algn="l" defTabSz="1018824" rtl="0" eaLnBrk="1" latinLnBrk="0" hangingPunct="1">
              <a:lnSpc>
                <a:spcPct val="110000"/>
              </a:lnSpc>
              <a:spcBef>
                <a:spcPts val="300"/>
              </a:spcBef>
              <a:buSzPct val="80000"/>
              <a:buFont typeface="Arial" panose="020B0604020202020204" pitchFamily="34" charset="0"/>
              <a:buChar char="•"/>
              <a:defRPr sz="1300" kern="1200">
                <a:solidFill>
                  <a:schemeClr val="tx1"/>
                </a:solidFill>
                <a:latin typeface="+mj-lt"/>
                <a:ea typeface="+mn-ea"/>
                <a:cs typeface="+mn-cs"/>
              </a:defRPr>
            </a:lvl4pPr>
            <a:lvl5pPr marL="385763" indent="-206375" algn="l" defTabSz="1018824" rtl="0" eaLnBrk="1" latinLnBrk="0" hangingPunct="1">
              <a:lnSpc>
                <a:spcPct val="110000"/>
              </a:lnSpc>
              <a:spcBef>
                <a:spcPts val="300"/>
              </a:spcBef>
              <a:buFont typeface="Arial" panose="020B0604020202020204" pitchFamily="34" charset="0"/>
              <a:buChar char="–"/>
              <a:defRPr sz="1300" kern="1200">
                <a:solidFill>
                  <a:schemeClr val="tx1"/>
                </a:solidFill>
                <a:latin typeface="+mj-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algn="ctr"/>
            <a:r>
              <a:rPr lang="en-US" sz="1200" dirty="0" smtClean="0"/>
              <a:t>Life Cycle of a Sample Commercial Mortgage Loan</a:t>
            </a:r>
            <a:endParaRPr lang="en-US" sz="1200" dirty="0"/>
          </a:p>
        </p:txBody>
      </p:sp>
      <p:cxnSp>
        <p:nvCxnSpPr>
          <p:cNvPr id="23" name="Straight Connector 22"/>
          <p:cNvCxnSpPr/>
          <p:nvPr/>
        </p:nvCxnSpPr>
        <p:spPr>
          <a:xfrm>
            <a:off x="5830253" y="4754880"/>
            <a:ext cx="38862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4" name="Oval 23"/>
          <p:cNvSpPr/>
          <p:nvPr/>
        </p:nvSpPr>
        <p:spPr>
          <a:xfrm>
            <a:off x="5815013" y="4709160"/>
            <a:ext cx="91440" cy="91440"/>
          </a:xfrm>
          <a:prstGeom prst="ellipse">
            <a:avLst/>
          </a:prstGeom>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Oval 94"/>
          <p:cNvSpPr/>
          <p:nvPr/>
        </p:nvSpPr>
        <p:spPr>
          <a:xfrm>
            <a:off x="8344853" y="4709160"/>
            <a:ext cx="91440" cy="91440"/>
          </a:xfrm>
          <a:prstGeom prst="ellipse">
            <a:avLst/>
          </a:prstGeom>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p:cNvSpPr/>
          <p:nvPr/>
        </p:nvSpPr>
        <p:spPr>
          <a:xfrm>
            <a:off x="9662160" y="4709160"/>
            <a:ext cx="91440" cy="91440"/>
          </a:xfrm>
          <a:prstGeom prst="ellipse">
            <a:avLst/>
          </a:prstGeom>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Left Brace 24"/>
          <p:cNvSpPr/>
          <p:nvPr/>
        </p:nvSpPr>
        <p:spPr>
          <a:xfrm rot="5400000">
            <a:off x="7031874" y="3367586"/>
            <a:ext cx="155172" cy="2484120"/>
          </a:xfrm>
          <a:prstGeom prst="leftBrace">
            <a:avLst>
              <a:gd name="adj1" fmla="val 98611"/>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7" name="Left Brace 96"/>
          <p:cNvSpPr/>
          <p:nvPr/>
        </p:nvSpPr>
        <p:spPr>
          <a:xfrm rot="5400000">
            <a:off x="8998787" y="3972338"/>
            <a:ext cx="155172" cy="1280160"/>
          </a:xfrm>
          <a:prstGeom prst="leftBrace">
            <a:avLst>
              <a:gd name="adj1" fmla="val 98611"/>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8" name="TextBox 27"/>
          <p:cNvSpPr txBox="1"/>
          <p:nvPr/>
        </p:nvSpPr>
        <p:spPr>
          <a:xfrm>
            <a:off x="6477000" y="4323993"/>
            <a:ext cx="1220152" cy="261610"/>
          </a:xfrm>
          <a:prstGeom prst="rect">
            <a:avLst/>
          </a:prstGeom>
          <a:noFill/>
        </p:spPr>
        <p:txBody>
          <a:bodyPr wrap="square" rtlCol="0">
            <a:spAutoFit/>
          </a:bodyPr>
          <a:lstStyle/>
          <a:p>
            <a:pPr algn="ctr"/>
            <a:r>
              <a:rPr lang="en-US" sz="1050" dirty="0" smtClean="0"/>
              <a:t>Term Default Risk</a:t>
            </a:r>
            <a:endParaRPr lang="en-US" sz="1050" dirty="0"/>
          </a:p>
        </p:txBody>
      </p:sp>
      <p:sp>
        <p:nvSpPr>
          <p:cNvPr id="98" name="TextBox 97"/>
          <p:cNvSpPr txBox="1"/>
          <p:nvPr/>
        </p:nvSpPr>
        <p:spPr>
          <a:xfrm>
            <a:off x="8466297" y="4323993"/>
            <a:ext cx="1220152" cy="261610"/>
          </a:xfrm>
          <a:prstGeom prst="rect">
            <a:avLst/>
          </a:prstGeom>
          <a:noFill/>
        </p:spPr>
        <p:txBody>
          <a:bodyPr wrap="square" rtlCol="0">
            <a:spAutoFit/>
          </a:bodyPr>
          <a:lstStyle/>
          <a:p>
            <a:pPr algn="ctr"/>
            <a:r>
              <a:rPr lang="en-US" sz="1050" dirty="0" smtClean="0"/>
              <a:t>Extension Risk</a:t>
            </a:r>
            <a:endParaRPr lang="en-US" sz="1050" dirty="0"/>
          </a:p>
        </p:txBody>
      </p:sp>
      <p:sp>
        <p:nvSpPr>
          <p:cNvPr id="99" name="TextBox 98"/>
          <p:cNvSpPr txBox="1"/>
          <p:nvPr/>
        </p:nvSpPr>
        <p:spPr>
          <a:xfrm>
            <a:off x="7620000" y="4038600"/>
            <a:ext cx="1439703" cy="261610"/>
          </a:xfrm>
          <a:prstGeom prst="rect">
            <a:avLst/>
          </a:prstGeom>
          <a:noFill/>
        </p:spPr>
        <p:txBody>
          <a:bodyPr wrap="square" rtlCol="0">
            <a:spAutoFit/>
          </a:bodyPr>
          <a:lstStyle/>
          <a:p>
            <a:pPr algn="ctr"/>
            <a:r>
              <a:rPr lang="en-US" sz="1050" dirty="0" smtClean="0"/>
              <a:t>Maturity Default Risk</a:t>
            </a:r>
            <a:endParaRPr lang="en-US" sz="1050" dirty="0"/>
          </a:p>
        </p:txBody>
      </p:sp>
      <p:cxnSp>
        <p:nvCxnSpPr>
          <p:cNvPr id="100" name="Straight Arrow Connector 99"/>
          <p:cNvCxnSpPr/>
          <p:nvPr/>
        </p:nvCxnSpPr>
        <p:spPr>
          <a:xfrm>
            <a:off x="8390573" y="4267200"/>
            <a:ext cx="0" cy="387022"/>
          </a:xfrm>
          <a:prstGeom prst="straightConnector1">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1" name="TextBox 100"/>
          <p:cNvSpPr txBox="1"/>
          <p:nvPr/>
        </p:nvSpPr>
        <p:spPr>
          <a:xfrm>
            <a:off x="5562600" y="4800600"/>
            <a:ext cx="610076" cy="246221"/>
          </a:xfrm>
          <a:prstGeom prst="rect">
            <a:avLst/>
          </a:prstGeom>
          <a:noFill/>
        </p:spPr>
        <p:txBody>
          <a:bodyPr wrap="square" rtlCol="0">
            <a:spAutoFit/>
          </a:bodyPr>
          <a:lstStyle/>
          <a:p>
            <a:pPr algn="ctr"/>
            <a:r>
              <a:rPr lang="en-US" sz="1000" dirty="0" smtClean="0"/>
              <a:t>Year 0</a:t>
            </a:r>
            <a:endParaRPr lang="en-US" sz="1000" dirty="0"/>
          </a:p>
        </p:txBody>
      </p:sp>
      <p:sp>
        <p:nvSpPr>
          <p:cNvPr id="102" name="TextBox 101"/>
          <p:cNvSpPr txBox="1"/>
          <p:nvPr/>
        </p:nvSpPr>
        <p:spPr>
          <a:xfrm>
            <a:off x="8085535" y="4800600"/>
            <a:ext cx="610076" cy="246221"/>
          </a:xfrm>
          <a:prstGeom prst="rect">
            <a:avLst/>
          </a:prstGeom>
          <a:noFill/>
        </p:spPr>
        <p:txBody>
          <a:bodyPr wrap="square" rtlCol="0">
            <a:spAutoFit/>
          </a:bodyPr>
          <a:lstStyle/>
          <a:p>
            <a:pPr algn="ctr"/>
            <a:r>
              <a:rPr lang="en-US" sz="1000" dirty="0" smtClean="0"/>
              <a:t>Year 10</a:t>
            </a:r>
            <a:endParaRPr lang="en-US" sz="1000" dirty="0"/>
          </a:p>
        </p:txBody>
      </p:sp>
      <p:sp>
        <p:nvSpPr>
          <p:cNvPr id="103" name="TextBox 102"/>
          <p:cNvSpPr txBox="1"/>
          <p:nvPr/>
        </p:nvSpPr>
        <p:spPr>
          <a:xfrm>
            <a:off x="9296400" y="4800600"/>
            <a:ext cx="610076" cy="246221"/>
          </a:xfrm>
          <a:prstGeom prst="rect">
            <a:avLst/>
          </a:prstGeom>
          <a:noFill/>
        </p:spPr>
        <p:txBody>
          <a:bodyPr wrap="square" rtlCol="0">
            <a:spAutoFit/>
          </a:bodyPr>
          <a:lstStyle/>
          <a:p>
            <a:pPr algn="ctr"/>
            <a:r>
              <a:rPr lang="en-US" sz="1000" dirty="0" smtClean="0"/>
              <a:t>Year 12</a:t>
            </a:r>
            <a:endParaRPr lang="en-US" sz="1000" dirty="0"/>
          </a:p>
        </p:txBody>
      </p:sp>
      <p:sp>
        <p:nvSpPr>
          <p:cNvPr id="104" name="TextBox 103"/>
          <p:cNvSpPr txBox="1"/>
          <p:nvPr/>
        </p:nvSpPr>
        <p:spPr>
          <a:xfrm>
            <a:off x="5410200" y="4953000"/>
            <a:ext cx="914400" cy="400110"/>
          </a:xfrm>
          <a:prstGeom prst="rect">
            <a:avLst/>
          </a:prstGeom>
          <a:noFill/>
        </p:spPr>
        <p:txBody>
          <a:bodyPr wrap="square" rtlCol="0">
            <a:spAutoFit/>
          </a:bodyPr>
          <a:lstStyle/>
          <a:p>
            <a:pPr algn="ctr"/>
            <a:r>
              <a:rPr lang="en-US" sz="1000" i="1" dirty="0" smtClean="0">
                <a:solidFill>
                  <a:schemeClr val="accent2">
                    <a:lumMod val="75000"/>
                  </a:schemeClr>
                </a:solidFill>
              </a:rPr>
              <a:t>Original Loan Issuance</a:t>
            </a:r>
            <a:endParaRPr lang="en-US" sz="1000" i="1" dirty="0">
              <a:solidFill>
                <a:schemeClr val="accent2">
                  <a:lumMod val="75000"/>
                </a:schemeClr>
              </a:solidFill>
            </a:endParaRPr>
          </a:p>
        </p:txBody>
      </p:sp>
      <p:sp>
        <p:nvSpPr>
          <p:cNvPr id="105" name="TextBox 104"/>
          <p:cNvSpPr txBox="1"/>
          <p:nvPr/>
        </p:nvSpPr>
        <p:spPr>
          <a:xfrm>
            <a:off x="7924800" y="4935379"/>
            <a:ext cx="914399" cy="400110"/>
          </a:xfrm>
          <a:prstGeom prst="rect">
            <a:avLst/>
          </a:prstGeom>
          <a:noFill/>
        </p:spPr>
        <p:txBody>
          <a:bodyPr wrap="square" rtlCol="0">
            <a:spAutoFit/>
          </a:bodyPr>
          <a:lstStyle>
            <a:defPPr>
              <a:defRPr lang="en-US"/>
            </a:defPPr>
            <a:lvl1pPr algn="ctr">
              <a:defRPr sz="1000" i="1">
                <a:solidFill>
                  <a:schemeClr val="accent2">
                    <a:lumMod val="75000"/>
                  </a:schemeClr>
                </a:solidFill>
              </a:defRPr>
            </a:lvl1pPr>
          </a:lstStyle>
          <a:p>
            <a:r>
              <a:rPr lang="en-US" dirty="0"/>
              <a:t>Stated Loan Maturity</a:t>
            </a:r>
          </a:p>
        </p:txBody>
      </p:sp>
      <p:sp>
        <p:nvSpPr>
          <p:cNvPr id="106" name="TextBox 105"/>
          <p:cNvSpPr txBox="1"/>
          <p:nvPr/>
        </p:nvSpPr>
        <p:spPr>
          <a:xfrm>
            <a:off x="9295924" y="4935379"/>
            <a:ext cx="610076" cy="400110"/>
          </a:xfrm>
          <a:prstGeom prst="rect">
            <a:avLst/>
          </a:prstGeom>
          <a:noFill/>
        </p:spPr>
        <p:txBody>
          <a:bodyPr wrap="square" rtlCol="0">
            <a:spAutoFit/>
          </a:bodyPr>
          <a:lstStyle>
            <a:defPPr>
              <a:defRPr lang="en-US"/>
            </a:defPPr>
            <a:lvl1pPr algn="ctr">
              <a:defRPr sz="1000" i="1">
                <a:solidFill>
                  <a:schemeClr val="accent2">
                    <a:lumMod val="75000"/>
                  </a:schemeClr>
                </a:solidFill>
              </a:defRPr>
            </a:lvl1pPr>
          </a:lstStyle>
          <a:p>
            <a:r>
              <a:rPr lang="en-US" dirty="0"/>
              <a:t>Final Payoff</a:t>
            </a:r>
          </a:p>
        </p:txBody>
      </p:sp>
      <p:cxnSp>
        <p:nvCxnSpPr>
          <p:cNvPr id="107" name="Straight Connector 106"/>
          <p:cNvCxnSpPr/>
          <p:nvPr/>
        </p:nvCxnSpPr>
        <p:spPr>
          <a:xfrm>
            <a:off x="2743200" y="5734050"/>
            <a:ext cx="6553200" cy="0"/>
          </a:xfrm>
          <a:prstGeom prst="line">
            <a:avLst/>
          </a:prstGeom>
        </p:spPr>
        <p:style>
          <a:lnRef idx="1">
            <a:schemeClr val="accent1"/>
          </a:lnRef>
          <a:fillRef idx="0">
            <a:schemeClr val="accent1"/>
          </a:fillRef>
          <a:effectRef idx="0">
            <a:schemeClr val="accent1"/>
          </a:effectRef>
          <a:fontRef idx="minor">
            <a:schemeClr val="tx1"/>
          </a:fontRef>
        </p:style>
      </p:cxnSp>
      <p:sp>
        <p:nvSpPr>
          <p:cNvPr id="108" name="Content Placeholder 8"/>
          <p:cNvSpPr txBox="1">
            <a:spLocks/>
          </p:cNvSpPr>
          <p:nvPr/>
        </p:nvSpPr>
        <p:spPr>
          <a:xfrm>
            <a:off x="4876800" y="5638800"/>
            <a:ext cx="2286000" cy="190500"/>
          </a:xfrm>
          <a:prstGeom prst="rect">
            <a:avLst/>
          </a:prstGeom>
          <a:solidFill>
            <a:schemeClr val="bg1"/>
          </a:solidFill>
        </p:spPr>
        <p:txBody>
          <a:bodyPr vert="horz" lIns="0" tIns="0" rIns="0" bIns="0" rtlCol="0" anchor="t" anchorCtr="0">
            <a:noAutofit/>
          </a:bodyPr>
          <a:lstStyle>
            <a:lvl1pPr marL="0" indent="0" algn="l" defTabSz="1018824" rtl="0" eaLnBrk="1" latinLnBrk="0" hangingPunct="1">
              <a:lnSpc>
                <a:spcPct val="110000"/>
              </a:lnSpc>
              <a:spcBef>
                <a:spcPts val="1800"/>
              </a:spcBef>
              <a:buFont typeface="Arial" panose="020B0604020202020204" pitchFamily="34" charset="0"/>
              <a:buNone/>
              <a:defRPr sz="1400" b="1" kern="1200">
                <a:solidFill>
                  <a:schemeClr val="accent1"/>
                </a:solidFill>
                <a:latin typeface="+mj-lt"/>
                <a:ea typeface="+mn-ea"/>
                <a:cs typeface="+mn-cs"/>
              </a:defRPr>
            </a:lvl1pPr>
            <a:lvl2pPr marL="0" indent="0" algn="l" defTabSz="1018824" rtl="0" eaLnBrk="1" latinLnBrk="0" hangingPunct="1">
              <a:lnSpc>
                <a:spcPct val="110000"/>
              </a:lnSpc>
              <a:spcBef>
                <a:spcPts val="1500"/>
              </a:spcBef>
              <a:buFont typeface="Arial" panose="020B0604020202020204" pitchFamily="34" charset="0"/>
              <a:buNone/>
              <a:defRPr sz="1300" b="1" kern="1200">
                <a:solidFill>
                  <a:schemeClr val="tx1"/>
                </a:solidFill>
                <a:latin typeface="+mj-lt"/>
                <a:ea typeface="+mn-ea"/>
                <a:cs typeface="+mn-cs"/>
              </a:defRPr>
            </a:lvl2pPr>
            <a:lvl3pPr marL="1588" indent="0" algn="l" defTabSz="1018824" rtl="0" eaLnBrk="1" latinLnBrk="0" hangingPunct="1">
              <a:lnSpc>
                <a:spcPct val="110000"/>
              </a:lnSpc>
              <a:spcBef>
                <a:spcPts val="300"/>
              </a:spcBef>
              <a:buFont typeface="Arial" panose="020B0604020202020204" pitchFamily="34" charset="0"/>
              <a:buNone/>
              <a:defRPr sz="1300" kern="1200">
                <a:solidFill>
                  <a:schemeClr val="tx1"/>
                </a:solidFill>
                <a:latin typeface="+mj-lt"/>
                <a:ea typeface="+mn-ea"/>
                <a:cs typeface="+mn-cs"/>
              </a:defRPr>
            </a:lvl3pPr>
            <a:lvl4pPr marL="173038" indent="-173038" algn="l" defTabSz="1018824" rtl="0" eaLnBrk="1" latinLnBrk="0" hangingPunct="1">
              <a:lnSpc>
                <a:spcPct val="110000"/>
              </a:lnSpc>
              <a:spcBef>
                <a:spcPts val="300"/>
              </a:spcBef>
              <a:buSzPct val="80000"/>
              <a:buFont typeface="Arial" panose="020B0604020202020204" pitchFamily="34" charset="0"/>
              <a:buChar char="•"/>
              <a:defRPr sz="1300" kern="1200">
                <a:solidFill>
                  <a:schemeClr val="tx1"/>
                </a:solidFill>
                <a:latin typeface="+mj-lt"/>
                <a:ea typeface="+mn-ea"/>
                <a:cs typeface="+mn-cs"/>
              </a:defRPr>
            </a:lvl4pPr>
            <a:lvl5pPr marL="385763" indent="-206375" algn="l" defTabSz="1018824" rtl="0" eaLnBrk="1" latinLnBrk="0" hangingPunct="1">
              <a:lnSpc>
                <a:spcPct val="110000"/>
              </a:lnSpc>
              <a:spcBef>
                <a:spcPts val="300"/>
              </a:spcBef>
              <a:buFont typeface="Arial" panose="020B0604020202020204" pitchFamily="34" charset="0"/>
              <a:buChar char="–"/>
              <a:defRPr sz="1300" kern="1200">
                <a:solidFill>
                  <a:schemeClr val="tx1"/>
                </a:solidFill>
                <a:latin typeface="+mj-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algn="ctr"/>
            <a:r>
              <a:rPr lang="en-US" sz="1200" dirty="0" smtClean="0"/>
              <a:t>Key Term Definitions</a:t>
            </a:r>
            <a:endParaRPr lang="en-US" sz="1200" dirty="0"/>
          </a:p>
        </p:txBody>
      </p:sp>
      <mc:AlternateContent xmlns:mc="http://schemas.openxmlformats.org/markup-compatibility/2006" xmlns:a14="http://schemas.microsoft.com/office/drawing/2010/main">
        <mc:Choice Requires="a14">
          <p:sp>
            <p:nvSpPr>
              <p:cNvPr id="109" name="TextBox 108"/>
              <p:cNvSpPr txBox="1"/>
              <p:nvPr/>
            </p:nvSpPr>
            <p:spPr>
              <a:xfrm>
                <a:off x="4405611" y="6019800"/>
                <a:ext cx="1638782" cy="876009"/>
              </a:xfrm>
              <a:prstGeom prst="rect">
                <a:avLst/>
              </a:prstGeom>
              <a:noFill/>
            </p:spPr>
            <p:txBody>
              <a:bodyPr wrap="none" rtlCol="0">
                <a:spAutoFit/>
              </a:bodyPr>
              <a:lstStyle>
                <a:defPPr>
                  <a:defRPr lang="en-US"/>
                </a:defPPr>
                <a:lvl1pPr>
                  <a:lnSpc>
                    <a:spcPct val="150000"/>
                  </a:lnSpc>
                  <a:defRPr sz="1200"/>
                </a:lvl1pPr>
              </a:lstStyle>
              <a:p>
                <a:r>
                  <a:rPr lang="en-US" b="1" dirty="0" smtClean="0"/>
                  <a:t>  Property </a:t>
                </a:r>
                <a:r>
                  <a:rPr lang="en-US" b="1" dirty="0"/>
                  <a:t>Value</a:t>
                </a:r>
              </a:p>
              <a:p>
                <a:r>
                  <a:rPr lang="en-US" dirty="0" smtClean="0">
                    <a:solidFill>
                      <a:schemeClr val="bg1"/>
                    </a:solidFill>
                  </a:rPr>
                  <a:t>a</a:t>
                </a:r>
                <a14:m>
                  <m:oMath xmlns:m="http://schemas.openxmlformats.org/officeDocument/2006/math">
                    <m:r>
                      <a:rPr lang="en-US" sz="1400">
                        <a:latin typeface="Cambria Math"/>
                      </a:rPr>
                      <m:t>=</m:t>
                    </m:r>
                    <m:f>
                      <m:fPr>
                        <m:ctrlPr>
                          <a:rPr lang="en-US" sz="1400" i="1">
                            <a:latin typeface="Cambria Math"/>
                          </a:rPr>
                        </m:ctrlPr>
                      </m:fPr>
                      <m:num>
                        <m:r>
                          <m:rPr>
                            <m:sty m:val="p"/>
                          </m:rPr>
                          <a:rPr lang="en-US" sz="1400">
                            <a:latin typeface="Cambria Math"/>
                          </a:rPr>
                          <m:t>NOI</m:t>
                        </m:r>
                      </m:num>
                      <m:den>
                        <m:r>
                          <m:rPr>
                            <m:sty m:val="p"/>
                          </m:rPr>
                          <a:rPr lang="en-US" sz="1400">
                            <a:latin typeface="Cambria Math"/>
                          </a:rPr>
                          <m:t>Capitalization</m:t>
                        </m:r>
                        <m:r>
                          <a:rPr lang="en-US" sz="1400">
                            <a:latin typeface="Cambria Math"/>
                          </a:rPr>
                          <m:t> </m:t>
                        </m:r>
                        <m:r>
                          <m:rPr>
                            <m:sty m:val="p"/>
                          </m:rPr>
                          <a:rPr lang="en-US" sz="1400">
                            <a:latin typeface="Cambria Math"/>
                          </a:rPr>
                          <m:t>Rate</m:t>
                        </m:r>
                      </m:den>
                    </m:f>
                  </m:oMath>
                </a14:m>
                <a:endParaRPr lang="en-US" dirty="0"/>
              </a:p>
            </p:txBody>
          </p:sp>
        </mc:Choice>
        <mc:Fallback xmlns="">
          <p:sp>
            <p:nvSpPr>
              <p:cNvPr id="109" name="TextBox 108"/>
              <p:cNvSpPr txBox="1">
                <a:spLocks noRot="1" noChangeAspect="1" noMove="1" noResize="1" noEditPoints="1" noAdjustHandles="1" noChangeArrowheads="1" noChangeShapeType="1" noTextEdit="1"/>
              </p:cNvSpPr>
              <p:nvPr/>
            </p:nvSpPr>
            <p:spPr>
              <a:xfrm>
                <a:off x="4405611" y="6019800"/>
                <a:ext cx="1638782" cy="876009"/>
              </a:xfrm>
              <a:prstGeom prst="rect">
                <a:avLst/>
              </a:prstGeom>
              <a:blipFill rotWithShape="1">
                <a:blip r:embed="rId9"/>
                <a:stretch>
                  <a:fillRect l="-37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0" name="TextBox 109"/>
              <p:cNvSpPr txBox="1"/>
              <p:nvPr/>
            </p:nvSpPr>
            <p:spPr>
              <a:xfrm>
                <a:off x="6100870" y="6019800"/>
                <a:ext cx="1584216" cy="883703"/>
              </a:xfrm>
              <a:prstGeom prst="rect">
                <a:avLst/>
              </a:prstGeom>
              <a:noFill/>
            </p:spPr>
            <p:txBody>
              <a:bodyPr wrap="none" rtlCol="0">
                <a:spAutoFit/>
              </a:bodyPr>
              <a:lstStyle/>
              <a:p>
                <a:pPr>
                  <a:lnSpc>
                    <a:spcPct val="150000"/>
                  </a:lnSpc>
                </a:pPr>
                <a:r>
                  <a:rPr lang="en-US" sz="1200" b="1" dirty="0" smtClean="0"/>
                  <a:t> Loan to Value </a:t>
                </a:r>
              </a:p>
              <a:p>
                <a:pPr>
                  <a:lnSpc>
                    <a:spcPct val="150000"/>
                  </a:lnSpc>
                </a:pPr>
                <a:r>
                  <a:rPr lang="en-US" sz="1200" b="1" dirty="0" smtClean="0"/>
                  <a:t>LTV</a:t>
                </a:r>
                <a14:m>
                  <m:oMath xmlns:m="http://schemas.openxmlformats.org/officeDocument/2006/math">
                    <m:r>
                      <a:rPr lang="en-US" sz="1400" b="1" i="0" smtClean="0">
                        <a:latin typeface="Cambria Math"/>
                      </a:rPr>
                      <m:t> </m:t>
                    </m:r>
                    <m:r>
                      <a:rPr lang="en-US" sz="1400" i="0" smtClean="0">
                        <a:latin typeface="Cambria Math"/>
                      </a:rPr>
                      <m:t>=</m:t>
                    </m:r>
                    <m:f>
                      <m:fPr>
                        <m:ctrlPr>
                          <a:rPr lang="en-US" sz="1400" i="1" smtClean="0">
                            <a:latin typeface="Cambria Math"/>
                          </a:rPr>
                        </m:ctrlPr>
                      </m:fPr>
                      <m:num>
                        <m:r>
                          <m:rPr>
                            <m:sty m:val="p"/>
                          </m:rPr>
                          <a:rPr lang="en-US" sz="1400" b="0" i="0" smtClean="0">
                            <a:latin typeface="Cambria Math"/>
                          </a:rPr>
                          <m:t>Loan</m:t>
                        </m:r>
                        <m:r>
                          <a:rPr lang="en-US" sz="1400" b="0" i="0" smtClean="0">
                            <a:latin typeface="Cambria Math"/>
                          </a:rPr>
                          <m:t> </m:t>
                        </m:r>
                        <m:r>
                          <m:rPr>
                            <m:sty m:val="p"/>
                          </m:rPr>
                          <a:rPr lang="en-US" sz="1400" b="0" i="0" smtClean="0">
                            <a:latin typeface="Cambria Math"/>
                          </a:rPr>
                          <m:t>Balance</m:t>
                        </m:r>
                      </m:num>
                      <m:den>
                        <m:r>
                          <m:rPr>
                            <m:sty m:val="p"/>
                          </m:rPr>
                          <a:rPr lang="en-US" sz="1400" b="0" i="0" smtClean="0">
                            <a:latin typeface="Cambria Math"/>
                          </a:rPr>
                          <m:t>Property</m:t>
                        </m:r>
                        <m:r>
                          <a:rPr lang="en-US" sz="1400" b="0" i="0" smtClean="0">
                            <a:latin typeface="Cambria Math"/>
                          </a:rPr>
                          <m:t> </m:t>
                        </m:r>
                        <m:r>
                          <m:rPr>
                            <m:sty m:val="p"/>
                          </m:rPr>
                          <a:rPr lang="en-US" sz="1400" b="0" i="0" smtClean="0">
                            <a:latin typeface="Cambria Math"/>
                          </a:rPr>
                          <m:t>Value</m:t>
                        </m:r>
                      </m:den>
                    </m:f>
                  </m:oMath>
                </a14:m>
                <a:endParaRPr lang="en-US" sz="1200" dirty="0"/>
              </a:p>
            </p:txBody>
          </p:sp>
        </mc:Choice>
        <mc:Fallback xmlns="">
          <p:sp>
            <p:nvSpPr>
              <p:cNvPr id="110" name="TextBox 109"/>
              <p:cNvSpPr txBox="1">
                <a:spLocks noRot="1" noChangeAspect="1" noMove="1" noResize="1" noEditPoints="1" noAdjustHandles="1" noChangeArrowheads="1" noChangeShapeType="1" noTextEdit="1"/>
              </p:cNvSpPr>
              <p:nvPr/>
            </p:nvSpPr>
            <p:spPr>
              <a:xfrm>
                <a:off x="6100870" y="6019800"/>
                <a:ext cx="1584216" cy="883703"/>
              </a:xfrm>
              <a:prstGeom prst="rect">
                <a:avLst/>
              </a:prstGeom>
              <a:blipFill rotWithShape="1">
                <a:blip r:embed="rId10"/>
                <a:stretch>
                  <a:fillRect l="-3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1" name="TextBox 110"/>
              <p:cNvSpPr txBox="1"/>
              <p:nvPr/>
            </p:nvSpPr>
            <p:spPr>
              <a:xfrm>
                <a:off x="7770415" y="6019800"/>
                <a:ext cx="2059385" cy="837152"/>
              </a:xfrm>
              <a:prstGeom prst="rect">
                <a:avLst/>
              </a:prstGeom>
              <a:noFill/>
            </p:spPr>
            <p:txBody>
              <a:bodyPr wrap="square" rtlCol="0">
                <a:spAutoFit/>
              </a:bodyPr>
              <a:lstStyle>
                <a:defPPr>
                  <a:defRPr lang="en-US"/>
                </a:defPPr>
                <a:lvl1pPr>
                  <a:lnSpc>
                    <a:spcPct val="150000"/>
                  </a:lnSpc>
                  <a:defRPr sz="1200"/>
                </a:lvl1pPr>
              </a:lstStyle>
              <a:p>
                <a:r>
                  <a:rPr lang="en-US" b="1" dirty="0" smtClean="0"/>
                  <a:t>Debt Service Coverage Ratio DSCR  </a:t>
                </a:r>
                <a14:m>
                  <m:oMath xmlns:m="http://schemas.openxmlformats.org/officeDocument/2006/math">
                    <m:r>
                      <a:rPr lang="en-US" sz="1400">
                        <a:latin typeface="Cambria Math"/>
                      </a:rPr>
                      <m:t>=</m:t>
                    </m:r>
                    <m:f>
                      <m:fPr>
                        <m:ctrlPr>
                          <a:rPr lang="en-US" sz="1400" i="1">
                            <a:latin typeface="Cambria Math"/>
                          </a:rPr>
                        </m:ctrlPr>
                      </m:fPr>
                      <m:num>
                        <m:r>
                          <m:rPr>
                            <m:sty m:val="p"/>
                          </m:rPr>
                          <a:rPr lang="en-US" sz="1400">
                            <a:latin typeface="Cambria Math"/>
                          </a:rPr>
                          <m:t>NOI</m:t>
                        </m:r>
                      </m:num>
                      <m:den>
                        <m:r>
                          <m:rPr>
                            <m:sty m:val="p"/>
                          </m:rPr>
                          <a:rPr lang="en-US" sz="1400" b="0" i="0" smtClean="0">
                            <a:latin typeface="Cambria Math"/>
                          </a:rPr>
                          <m:t>Annual</m:t>
                        </m:r>
                        <m:r>
                          <a:rPr lang="en-US" sz="1400" b="0" i="0" smtClean="0">
                            <a:latin typeface="Cambria Math"/>
                          </a:rPr>
                          <m:t> </m:t>
                        </m:r>
                        <m:r>
                          <m:rPr>
                            <m:sty m:val="p"/>
                          </m:rPr>
                          <a:rPr lang="en-US" sz="1400" b="0" i="0" smtClean="0">
                            <a:latin typeface="Cambria Math"/>
                          </a:rPr>
                          <m:t>Debt</m:t>
                        </m:r>
                        <m:r>
                          <a:rPr lang="en-US" sz="1400" b="0" i="0" smtClean="0">
                            <a:latin typeface="Cambria Math"/>
                          </a:rPr>
                          <m:t> </m:t>
                        </m:r>
                        <m:r>
                          <m:rPr>
                            <m:sty m:val="p"/>
                          </m:rPr>
                          <a:rPr lang="en-US" sz="1400" b="0" i="0" smtClean="0">
                            <a:latin typeface="Cambria Math"/>
                          </a:rPr>
                          <m:t>Service</m:t>
                        </m:r>
                      </m:den>
                    </m:f>
                  </m:oMath>
                </a14:m>
                <a:endParaRPr lang="en-US" dirty="0"/>
              </a:p>
            </p:txBody>
          </p:sp>
        </mc:Choice>
        <mc:Fallback xmlns="">
          <p:sp>
            <p:nvSpPr>
              <p:cNvPr id="111" name="TextBox 110"/>
              <p:cNvSpPr txBox="1">
                <a:spLocks noRot="1" noChangeAspect="1" noMove="1" noResize="1" noEditPoints="1" noAdjustHandles="1" noChangeArrowheads="1" noChangeShapeType="1" noTextEdit="1"/>
              </p:cNvSpPr>
              <p:nvPr/>
            </p:nvSpPr>
            <p:spPr>
              <a:xfrm>
                <a:off x="7770415" y="6019800"/>
                <a:ext cx="2059385" cy="837152"/>
              </a:xfrm>
              <a:prstGeom prst="rect">
                <a:avLst/>
              </a:prstGeom>
              <a:blipFill rotWithShape="1">
                <a:blip r:embed="rId11"/>
                <a:stretch>
                  <a:fillRect l="-296"/>
                </a:stretch>
              </a:blipFill>
            </p:spPr>
            <p:txBody>
              <a:bodyPr/>
              <a:lstStyle/>
              <a:p>
                <a:r>
                  <a:rPr lang="en-US">
                    <a:noFill/>
                  </a:rPr>
                  <a:t> </a:t>
                </a:r>
              </a:p>
            </p:txBody>
          </p:sp>
        </mc:Fallback>
      </mc:AlternateContent>
      <p:cxnSp>
        <p:nvCxnSpPr>
          <p:cNvPr id="113" name="Straight Connector 112"/>
          <p:cNvCxnSpPr/>
          <p:nvPr/>
        </p:nvCxnSpPr>
        <p:spPr>
          <a:xfrm>
            <a:off x="6051604" y="6019800"/>
            <a:ext cx="0" cy="838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Straight Connector 113"/>
          <p:cNvCxnSpPr/>
          <p:nvPr/>
        </p:nvCxnSpPr>
        <p:spPr>
          <a:xfrm>
            <a:off x="7704151" y="6019800"/>
            <a:ext cx="0" cy="838200"/>
          </a:xfrm>
          <a:prstGeom prst="line">
            <a:avLst/>
          </a:prstGeom>
        </p:spPr>
        <p:style>
          <a:lnRef idx="1">
            <a:schemeClr val="accent1"/>
          </a:lnRef>
          <a:fillRef idx="0">
            <a:schemeClr val="accent1"/>
          </a:fillRef>
          <a:effectRef idx="0">
            <a:schemeClr val="accent1"/>
          </a:effectRef>
          <a:fontRef idx="minor">
            <a:schemeClr val="tx1"/>
          </a:fontRef>
        </p:style>
      </p:cxnSp>
      <p:sp>
        <p:nvSpPr>
          <p:cNvPr id="44" name="Rectangle 43"/>
          <p:cNvSpPr/>
          <p:nvPr/>
        </p:nvSpPr>
        <p:spPr>
          <a:xfrm>
            <a:off x="877264" y="7349978"/>
            <a:ext cx="1297150" cy="230832"/>
          </a:xfrm>
          <a:prstGeom prst="rect">
            <a:avLst/>
          </a:prstGeom>
        </p:spPr>
        <p:txBody>
          <a:bodyPr wrap="none">
            <a:spAutoFit/>
          </a:bodyPr>
          <a:lstStyle/>
          <a:p>
            <a:r>
              <a:rPr lang="en-US" sz="900" dirty="0"/>
              <a:t>Source: </a:t>
            </a:r>
            <a:r>
              <a:rPr lang="en-US" sz="900" dirty="0" smtClean="0"/>
              <a:t>Blackrock, Cello</a:t>
            </a:r>
            <a:endParaRPr lang="en-US" sz="900" dirty="0"/>
          </a:p>
        </p:txBody>
      </p:sp>
      <p:cxnSp>
        <p:nvCxnSpPr>
          <p:cNvPr id="45" name="Straight Connector 44"/>
          <p:cNvCxnSpPr/>
          <p:nvPr/>
        </p:nvCxnSpPr>
        <p:spPr>
          <a:xfrm>
            <a:off x="4343400" y="6019800"/>
            <a:ext cx="0" cy="83820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TextBox 48"/>
              <p:cNvSpPr txBox="1"/>
              <p:nvPr/>
            </p:nvSpPr>
            <p:spPr>
              <a:xfrm>
                <a:off x="2403933" y="6019800"/>
                <a:ext cx="1763624" cy="815608"/>
              </a:xfrm>
              <a:prstGeom prst="rect">
                <a:avLst/>
              </a:prstGeom>
              <a:noFill/>
            </p:spPr>
            <p:txBody>
              <a:bodyPr wrap="none" rtlCol="0">
                <a:spAutoFit/>
              </a:bodyPr>
              <a:lstStyle>
                <a:defPPr>
                  <a:defRPr lang="en-US"/>
                </a:defPPr>
                <a:lvl1pPr>
                  <a:lnSpc>
                    <a:spcPct val="150000"/>
                  </a:lnSpc>
                  <a:defRPr sz="1200"/>
                </a:lvl1pPr>
              </a:lstStyle>
              <a:p>
                <a:r>
                  <a:rPr lang="en-US" b="1" dirty="0" smtClean="0"/>
                  <a:t>Net Operating Income </a:t>
                </a:r>
              </a:p>
              <a:p>
                <a:r>
                  <a:rPr lang="en-US" b="1" dirty="0"/>
                  <a:t>N</a:t>
                </a:r>
                <a:r>
                  <a:rPr lang="en-US" b="1" dirty="0" smtClean="0"/>
                  <a:t>OI</a:t>
                </a:r>
                <a14:m>
                  <m:oMath xmlns:m="http://schemas.openxmlformats.org/officeDocument/2006/math">
                    <m:r>
                      <a:rPr lang="en-US" b="1" i="0" smtClean="0">
                        <a:latin typeface="Cambria Math"/>
                      </a:rPr>
                      <m:t> </m:t>
                    </m:r>
                    <m:r>
                      <a:rPr lang="en-US">
                        <a:latin typeface="Cambria Math"/>
                      </a:rPr>
                      <m:t>=</m:t>
                    </m:r>
                  </m:oMath>
                </a14:m>
                <a:r>
                  <a:rPr lang="en-US" dirty="0" smtClean="0"/>
                  <a:t> </a:t>
                </a:r>
                <a:r>
                  <a:rPr lang="en-US" sz="1100" dirty="0" smtClean="0">
                    <a:latin typeface="Cambria Math" panose="02040503050406030204" pitchFamily="18" charset="0"/>
                    <a:ea typeface="Cambria Math" panose="02040503050406030204" pitchFamily="18" charset="0"/>
                  </a:rPr>
                  <a:t>Rental Revenue </a:t>
                </a:r>
              </a:p>
              <a:p>
                <a:pPr>
                  <a:lnSpc>
                    <a:spcPct val="100000"/>
                  </a:lnSpc>
                </a:pPr>
                <a:r>
                  <a:rPr lang="en-US" sz="1100" dirty="0" smtClean="0">
                    <a:latin typeface="Cambria Math" panose="02040503050406030204" pitchFamily="18" charset="0"/>
                    <a:ea typeface="Cambria Math" panose="02040503050406030204" pitchFamily="18" charset="0"/>
                  </a:rPr>
                  <a:t>            - Operating Expense</a:t>
                </a:r>
                <a:endParaRPr lang="en-US" sz="1100" dirty="0">
                  <a:latin typeface="Cambria Math" panose="02040503050406030204" pitchFamily="18" charset="0"/>
                  <a:ea typeface="Cambria Math" panose="02040503050406030204" pitchFamily="18" charset="0"/>
                </a:endParaRPr>
              </a:p>
            </p:txBody>
          </p:sp>
        </mc:Choice>
        <mc:Fallback xmlns="">
          <p:sp>
            <p:nvSpPr>
              <p:cNvPr id="49" name="TextBox 48"/>
              <p:cNvSpPr txBox="1">
                <a:spLocks noRot="1" noChangeAspect="1" noMove="1" noResize="1" noEditPoints="1" noAdjustHandles="1" noChangeArrowheads="1" noChangeShapeType="1" noTextEdit="1"/>
              </p:cNvSpPr>
              <p:nvPr/>
            </p:nvSpPr>
            <p:spPr>
              <a:xfrm>
                <a:off x="2403933" y="6019800"/>
                <a:ext cx="1763624" cy="815608"/>
              </a:xfrm>
              <a:prstGeom prst="rect">
                <a:avLst/>
              </a:prstGeom>
              <a:blipFill rotWithShape="1">
                <a:blip r:embed="rId12"/>
                <a:stretch>
                  <a:fillRect b="-3759"/>
                </a:stretch>
              </a:blipFill>
            </p:spPr>
            <p:txBody>
              <a:bodyPr/>
              <a:lstStyle/>
              <a:p>
                <a:r>
                  <a:rPr lang="en-US">
                    <a:noFill/>
                  </a:rPr>
                  <a:t> </a:t>
                </a:r>
              </a:p>
            </p:txBody>
          </p:sp>
        </mc:Fallback>
      </mc:AlternateContent>
    </p:spTree>
    <p:extLst>
      <p:ext uri="{BB962C8B-B14F-4D97-AF65-F5344CB8AC3E}">
        <p14:creationId xmlns:p14="http://schemas.microsoft.com/office/powerpoint/2010/main" val="126534033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 Modeling </a:t>
            </a:r>
            <a:r>
              <a:rPr lang="en-US" dirty="0" smtClean="0"/>
              <a:t/>
            </a:r>
            <a:br>
              <a:rPr lang="en-US" dirty="0" smtClean="0"/>
            </a:br>
            <a:r>
              <a:rPr lang="en-US" dirty="0" smtClean="0"/>
              <a:t>CRE Modeling framework: ETUDE</a:t>
            </a:r>
            <a:endParaRPr lang="en-US" dirty="0"/>
          </a:p>
        </p:txBody>
      </p:sp>
      <p:sp>
        <p:nvSpPr>
          <p:cNvPr id="35" name="TextBox 34"/>
          <p:cNvSpPr txBox="1"/>
          <p:nvPr/>
        </p:nvSpPr>
        <p:spPr>
          <a:xfrm>
            <a:off x="2438400" y="1170801"/>
            <a:ext cx="2090849" cy="276999"/>
          </a:xfrm>
          <a:prstGeom prst="rect">
            <a:avLst/>
          </a:prstGeom>
          <a:noFill/>
        </p:spPr>
        <p:txBody>
          <a:bodyPr wrap="square" rtlCol="0">
            <a:spAutoFit/>
          </a:bodyPr>
          <a:lstStyle/>
          <a:p>
            <a:r>
              <a:rPr lang="en-US" sz="1200" b="1" smtClean="0"/>
              <a:t>Etude </a:t>
            </a:r>
            <a:r>
              <a:rPr lang="en-US" sz="1200" b="1" dirty="0" smtClean="0"/>
              <a:t>Components</a:t>
            </a:r>
            <a:endParaRPr lang="en-US" sz="1200" b="1" dirty="0"/>
          </a:p>
        </p:txBody>
      </p:sp>
      <p:grpSp>
        <p:nvGrpSpPr>
          <p:cNvPr id="42" name="Group 41"/>
          <p:cNvGrpSpPr/>
          <p:nvPr/>
        </p:nvGrpSpPr>
        <p:grpSpPr>
          <a:xfrm>
            <a:off x="2514600" y="1447800"/>
            <a:ext cx="6934200" cy="2853657"/>
            <a:chOff x="2743200" y="1708150"/>
            <a:chExt cx="4195651" cy="2599020"/>
          </a:xfrm>
        </p:grpSpPr>
        <p:sp>
          <p:nvSpPr>
            <p:cNvPr id="23" name="Rectangle 22"/>
            <p:cNvSpPr/>
            <p:nvPr/>
          </p:nvSpPr>
          <p:spPr>
            <a:xfrm>
              <a:off x="2743200" y="2394567"/>
              <a:ext cx="3962400" cy="648778"/>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000" dirty="0">
                <a:solidFill>
                  <a:schemeClr val="tx1"/>
                </a:solidFill>
              </a:endParaRPr>
            </a:p>
          </p:txBody>
        </p:sp>
        <p:sp>
          <p:nvSpPr>
            <p:cNvPr id="24" name="Rectangle 23"/>
            <p:cNvSpPr/>
            <p:nvPr/>
          </p:nvSpPr>
          <p:spPr>
            <a:xfrm>
              <a:off x="2743200" y="3052079"/>
              <a:ext cx="3962400" cy="646793"/>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25" name="Rectangle 24"/>
            <p:cNvSpPr/>
            <p:nvPr/>
          </p:nvSpPr>
          <p:spPr>
            <a:xfrm>
              <a:off x="2743200" y="3707606"/>
              <a:ext cx="3962400" cy="580514"/>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26" name="Rectangle 25"/>
            <p:cNvSpPr/>
            <p:nvPr/>
          </p:nvSpPr>
          <p:spPr>
            <a:xfrm>
              <a:off x="2743200" y="1737055"/>
              <a:ext cx="3962400" cy="648778"/>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p>
          </p:txBody>
        </p:sp>
        <p:sp>
          <p:nvSpPr>
            <p:cNvPr id="27" name="TextBox 26"/>
            <p:cNvSpPr txBox="1"/>
            <p:nvPr/>
          </p:nvSpPr>
          <p:spPr>
            <a:xfrm>
              <a:off x="2743200" y="1737055"/>
              <a:ext cx="4191000" cy="644720"/>
            </a:xfrm>
            <a:prstGeom prst="rect">
              <a:avLst/>
            </a:prstGeom>
            <a:noFill/>
          </p:spPr>
          <p:txBody>
            <a:bodyPr wrap="square" rtlCol="0">
              <a:spAutoFit/>
            </a:bodyPr>
            <a:lstStyle/>
            <a:p>
              <a:r>
                <a:rPr lang="en-US" sz="1000" b="1" dirty="0" smtClean="0"/>
                <a:t>Property, Loan and Securities Database</a:t>
              </a:r>
              <a:endParaRPr lang="en-US" sz="1000" b="1" dirty="0" smtClean="0"/>
            </a:p>
            <a:p>
              <a:pPr marL="171450" indent="-171450">
                <a:buFont typeface="Arial" panose="020B0604020202020204" pitchFamily="34" charset="0"/>
                <a:buChar char="•"/>
              </a:pPr>
              <a:r>
                <a:rPr lang="en-US" sz="1000" dirty="0" smtClean="0"/>
                <a:t>Property-level data</a:t>
              </a:r>
              <a:endParaRPr lang="en-US" sz="1000" dirty="0" smtClean="0"/>
            </a:p>
            <a:p>
              <a:pPr marL="171450" indent="-171450">
                <a:buFont typeface="Arial" panose="020B0604020202020204" pitchFamily="34" charset="0"/>
                <a:buChar char="•"/>
              </a:pPr>
              <a:r>
                <a:rPr lang="en-US" sz="1000" dirty="0" smtClean="0"/>
                <a:t>Loan-level data</a:t>
              </a:r>
              <a:endParaRPr lang="en-US" sz="1000" dirty="0" smtClean="0"/>
            </a:p>
            <a:p>
              <a:pPr marL="171450" indent="-171450">
                <a:buFont typeface="Arial" panose="020B0604020202020204" pitchFamily="34" charset="0"/>
                <a:buChar char="•"/>
              </a:pPr>
              <a:r>
                <a:rPr lang="en-US" sz="1000" dirty="0" smtClean="0"/>
                <a:t>CMBS Deals</a:t>
              </a:r>
              <a:endParaRPr lang="en-US" sz="1000" dirty="0"/>
            </a:p>
          </p:txBody>
        </p:sp>
        <p:sp>
          <p:nvSpPr>
            <p:cNvPr id="29" name="TextBox 28"/>
            <p:cNvSpPr txBox="1"/>
            <p:nvPr/>
          </p:nvSpPr>
          <p:spPr>
            <a:xfrm>
              <a:off x="2743200" y="2393864"/>
              <a:ext cx="4191000" cy="644720"/>
            </a:xfrm>
            <a:prstGeom prst="rect">
              <a:avLst/>
            </a:prstGeom>
            <a:noFill/>
          </p:spPr>
          <p:txBody>
            <a:bodyPr wrap="square" rtlCol="0">
              <a:spAutoFit/>
            </a:bodyPr>
            <a:lstStyle/>
            <a:p>
              <a:r>
                <a:rPr lang="en-US" sz="1000" b="1" dirty="0" smtClean="0"/>
                <a:t>Property and Loan-Level Reviews</a:t>
              </a:r>
              <a:endParaRPr lang="en-US" sz="1000" b="1" dirty="0"/>
            </a:p>
            <a:p>
              <a:pPr marL="171450" indent="-171450">
                <a:buFont typeface="Arial" panose="020B0604020202020204" pitchFamily="34" charset="0"/>
                <a:buChar char="•"/>
              </a:pPr>
              <a:r>
                <a:rPr lang="en-US" sz="1000" dirty="0" smtClean="0"/>
                <a:t>NOI growth curves and Cap Rate projections</a:t>
              </a:r>
            </a:p>
            <a:p>
              <a:pPr marL="171450" indent="-171450">
                <a:buFont typeface="Arial" panose="020B0604020202020204" pitchFamily="34" charset="0"/>
                <a:buChar char="•"/>
              </a:pPr>
              <a:r>
                <a:rPr lang="en-US" sz="1000" dirty="0" smtClean="0"/>
                <a:t>Default triggers (e.g. DSCR levels)</a:t>
              </a:r>
            </a:p>
            <a:p>
              <a:pPr marL="171450" indent="-171450">
                <a:buFont typeface="Arial" panose="020B0604020202020204" pitchFamily="34" charset="0"/>
                <a:buChar char="•"/>
              </a:pPr>
              <a:r>
                <a:rPr lang="en-US" sz="1000" dirty="0" smtClean="0"/>
                <a:t>Extension parameters</a:t>
              </a:r>
              <a:endParaRPr lang="en-US" sz="1000" dirty="0"/>
            </a:p>
          </p:txBody>
        </p:sp>
        <p:sp>
          <p:nvSpPr>
            <p:cNvPr id="30" name="TextBox 29"/>
            <p:cNvSpPr txBox="1"/>
            <p:nvPr/>
          </p:nvSpPr>
          <p:spPr>
            <a:xfrm>
              <a:off x="2747851" y="3041150"/>
              <a:ext cx="4191000" cy="644720"/>
            </a:xfrm>
            <a:prstGeom prst="rect">
              <a:avLst/>
            </a:prstGeom>
            <a:noFill/>
          </p:spPr>
          <p:txBody>
            <a:bodyPr wrap="square" rtlCol="0">
              <a:spAutoFit/>
            </a:bodyPr>
            <a:lstStyle/>
            <a:p>
              <a:r>
                <a:rPr lang="en-US" sz="1000" b="1" dirty="0" smtClean="0"/>
                <a:t>Loan-Level Review</a:t>
              </a:r>
            </a:p>
            <a:p>
              <a:pPr marL="171450" indent="-171450">
                <a:buFont typeface="Arial" panose="020B0604020202020204" pitchFamily="34" charset="0"/>
                <a:buChar char="•"/>
              </a:pPr>
              <a:r>
                <a:rPr lang="en-US" sz="1000" dirty="0"/>
                <a:t>Qualitative underwriting review for </a:t>
              </a:r>
              <a:r>
                <a:rPr lang="en-US" sz="1000" dirty="0" smtClean="0"/>
                <a:t>large loans</a:t>
              </a:r>
            </a:p>
            <a:p>
              <a:pPr marL="171450" indent="-171450">
                <a:buFont typeface="Arial" panose="020B0604020202020204" pitchFamily="34" charset="0"/>
                <a:buChar char="•"/>
              </a:pPr>
              <a:r>
                <a:rPr lang="en-US" sz="1000" dirty="0" smtClean="0"/>
                <a:t>Qualitative underwriting review for delinquent or specially serviced loans</a:t>
              </a:r>
            </a:p>
            <a:p>
              <a:pPr marL="171450" indent="-171450">
                <a:buFont typeface="Arial" panose="020B0604020202020204" pitchFamily="34" charset="0"/>
                <a:buChar char="•"/>
              </a:pPr>
              <a:r>
                <a:rPr lang="en-US" sz="1000" dirty="0" smtClean="0"/>
                <a:t>Quantitative vetting for all other loans</a:t>
              </a:r>
              <a:endParaRPr lang="en-US" sz="1000" dirty="0"/>
            </a:p>
          </p:txBody>
        </p:sp>
        <p:sp>
          <p:nvSpPr>
            <p:cNvPr id="31" name="TextBox 30"/>
            <p:cNvSpPr txBox="1"/>
            <p:nvPr/>
          </p:nvSpPr>
          <p:spPr>
            <a:xfrm>
              <a:off x="2747851" y="3657600"/>
              <a:ext cx="4191000" cy="644720"/>
            </a:xfrm>
            <a:prstGeom prst="rect">
              <a:avLst/>
            </a:prstGeom>
            <a:noFill/>
          </p:spPr>
          <p:txBody>
            <a:bodyPr wrap="square" rtlCol="0">
              <a:spAutoFit/>
            </a:bodyPr>
            <a:lstStyle/>
            <a:p>
              <a:r>
                <a:rPr lang="en-US" sz="1000" b="1" dirty="0" smtClean="0"/>
                <a:t>Loan and Property Database</a:t>
              </a:r>
            </a:p>
            <a:p>
              <a:pPr marL="171450" indent="-171450">
                <a:buFont typeface="Arial" panose="020B0604020202020204" pitchFamily="34" charset="0"/>
                <a:buChar char="•"/>
              </a:pPr>
              <a:r>
                <a:rPr lang="en-US" sz="1000" dirty="0" smtClean="0"/>
                <a:t>CMBS deals</a:t>
              </a:r>
            </a:p>
            <a:p>
              <a:pPr marL="171450" indent="-171450">
                <a:buFont typeface="Arial" panose="020B0604020202020204" pitchFamily="34" charset="0"/>
                <a:buChar char="•"/>
              </a:pPr>
              <a:r>
                <a:rPr lang="en-US" sz="1000" dirty="0" smtClean="0"/>
                <a:t>Property-level data</a:t>
              </a:r>
            </a:p>
            <a:p>
              <a:pPr marL="171450" indent="-171450">
                <a:buFont typeface="Arial" panose="020B0604020202020204" pitchFamily="34" charset="0"/>
                <a:buChar char="•"/>
              </a:pPr>
              <a:r>
                <a:rPr lang="en-US" sz="1000" dirty="0" smtClean="0"/>
                <a:t>Loan-level data</a:t>
              </a:r>
              <a:endParaRPr lang="en-US" sz="1000" dirty="0"/>
            </a:p>
          </p:txBody>
        </p:sp>
        <p:sp>
          <p:nvSpPr>
            <p:cNvPr id="32" name="TextBox 31"/>
            <p:cNvSpPr txBox="1"/>
            <p:nvPr/>
          </p:nvSpPr>
          <p:spPr>
            <a:xfrm>
              <a:off x="5029200" y="2667000"/>
              <a:ext cx="1676400" cy="400110"/>
            </a:xfrm>
            <a:prstGeom prst="rect">
              <a:avLst/>
            </a:prstGeom>
            <a:noFill/>
          </p:spPr>
          <p:txBody>
            <a:bodyPr wrap="square" rtlCol="0">
              <a:spAutoFit/>
            </a:bodyPr>
            <a:lstStyle/>
            <a:p>
              <a:pPr marL="171450" indent="-171450">
                <a:buFont typeface="Arial" panose="020B0604020202020204" pitchFamily="34" charset="0"/>
                <a:buChar char="•"/>
              </a:pPr>
              <a:r>
                <a:rPr lang="en-US" sz="1000" dirty="0" smtClean="0"/>
                <a:t>Workout Periods/Costs</a:t>
              </a:r>
            </a:p>
            <a:p>
              <a:pPr marL="171450" indent="-171450">
                <a:buFont typeface="Arial" panose="020B0604020202020204" pitchFamily="34" charset="0"/>
                <a:buChar char="•"/>
              </a:pPr>
              <a:r>
                <a:rPr lang="en-US" sz="1000" dirty="0" smtClean="0"/>
                <a:t>Other model parameters</a:t>
              </a:r>
            </a:p>
          </p:txBody>
        </p:sp>
        <p:sp>
          <p:nvSpPr>
            <p:cNvPr id="33" name="TextBox 32"/>
            <p:cNvSpPr txBox="1"/>
            <p:nvPr/>
          </p:nvSpPr>
          <p:spPr>
            <a:xfrm>
              <a:off x="5029200" y="3907060"/>
              <a:ext cx="1676400" cy="400110"/>
            </a:xfrm>
            <a:prstGeom prst="rect">
              <a:avLst/>
            </a:prstGeom>
            <a:noFill/>
          </p:spPr>
          <p:txBody>
            <a:bodyPr wrap="square" rtlCol="0">
              <a:spAutoFit/>
            </a:bodyPr>
            <a:lstStyle/>
            <a:p>
              <a:pPr marL="171450" indent="-171450">
                <a:buFont typeface="Arial" panose="020B0604020202020204" pitchFamily="34" charset="0"/>
                <a:buChar char="•"/>
              </a:pPr>
              <a:r>
                <a:rPr lang="en-US" sz="1000" dirty="0" smtClean="0"/>
                <a:t>Directly sourced from servicers and trustees </a:t>
              </a:r>
            </a:p>
          </p:txBody>
        </p:sp>
        <p:cxnSp>
          <p:nvCxnSpPr>
            <p:cNvPr id="37" name="Straight Connector 36"/>
            <p:cNvCxnSpPr/>
            <p:nvPr/>
          </p:nvCxnSpPr>
          <p:spPr>
            <a:xfrm>
              <a:off x="2747851" y="1708150"/>
              <a:ext cx="3957749" cy="0"/>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40" name="Isosceles Triangle 39"/>
          <p:cNvSpPr/>
          <p:nvPr/>
        </p:nvSpPr>
        <p:spPr>
          <a:xfrm rot="10800000">
            <a:off x="3657601" y="4540247"/>
            <a:ext cx="4572000" cy="336552"/>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p:cNvSpPr txBox="1"/>
          <p:nvPr/>
        </p:nvSpPr>
        <p:spPr>
          <a:xfrm>
            <a:off x="5128260" y="4502148"/>
            <a:ext cx="1642795" cy="230832"/>
          </a:xfrm>
          <a:prstGeom prst="rect">
            <a:avLst/>
          </a:prstGeom>
          <a:noFill/>
        </p:spPr>
        <p:txBody>
          <a:bodyPr wrap="square" rtlCol="0">
            <a:spAutoFit/>
          </a:bodyPr>
          <a:lstStyle/>
          <a:p>
            <a:pPr algn="ctr"/>
            <a:r>
              <a:rPr lang="en-US" sz="900" dirty="0" smtClean="0">
                <a:solidFill>
                  <a:schemeClr val="bg1"/>
                </a:solidFill>
              </a:rPr>
              <a:t>Loan and Property Trends</a:t>
            </a:r>
            <a:endParaRPr lang="en-US" sz="900" dirty="0">
              <a:solidFill>
                <a:schemeClr val="bg1"/>
              </a:solidFill>
            </a:endParaRPr>
          </a:p>
        </p:txBody>
      </p:sp>
      <p:sp>
        <p:nvSpPr>
          <p:cNvPr id="51" name="TextBox 50"/>
          <p:cNvSpPr txBox="1"/>
          <p:nvPr/>
        </p:nvSpPr>
        <p:spPr>
          <a:xfrm>
            <a:off x="2503340" y="4953000"/>
            <a:ext cx="2090849" cy="276999"/>
          </a:xfrm>
          <a:prstGeom prst="rect">
            <a:avLst/>
          </a:prstGeom>
          <a:noFill/>
        </p:spPr>
        <p:txBody>
          <a:bodyPr wrap="square" rtlCol="0">
            <a:spAutoFit/>
          </a:bodyPr>
          <a:lstStyle/>
          <a:p>
            <a:r>
              <a:rPr lang="en-US" sz="1200" b="1" dirty="0" smtClean="0"/>
              <a:t>Establishing Themes</a:t>
            </a:r>
            <a:endParaRPr lang="en-US" sz="1200" b="1" dirty="0"/>
          </a:p>
        </p:txBody>
      </p:sp>
      <p:cxnSp>
        <p:nvCxnSpPr>
          <p:cNvPr id="52" name="Straight Connector 51"/>
          <p:cNvCxnSpPr/>
          <p:nvPr/>
        </p:nvCxnSpPr>
        <p:spPr>
          <a:xfrm>
            <a:off x="2590800" y="5229999"/>
            <a:ext cx="4173387"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2590799" y="5320144"/>
            <a:ext cx="6962775" cy="646331"/>
          </a:xfrm>
          <a:prstGeom prst="rect">
            <a:avLst/>
          </a:prstGeom>
          <a:noFill/>
        </p:spPr>
        <p:txBody>
          <a:bodyPr wrap="square" rtlCol="0">
            <a:spAutoFit/>
          </a:bodyPr>
          <a:lstStyle/>
          <a:p>
            <a:pPr marL="171450" indent="-171450">
              <a:buFont typeface="Arial" panose="020B0604020202020204" pitchFamily="34" charset="0"/>
              <a:buChar char="•"/>
            </a:pPr>
            <a:r>
              <a:rPr lang="en-US" sz="1200" dirty="0" smtClean="0"/>
              <a:t>Gain insight into property- and loan-level trends that can be applied to both public and private holders of real estate</a:t>
            </a:r>
          </a:p>
          <a:p>
            <a:pPr marL="171450" indent="-171450">
              <a:buFont typeface="Arial" panose="020B0604020202020204" pitchFamily="34" charset="0"/>
              <a:buChar char="•"/>
            </a:pPr>
            <a:r>
              <a:rPr lang="en-US" sz="1200" dirty="0" smtClean="0"/>
              <a:t>The new issue commercial loan market provides substantial insight into prevailing cap rates</a:t>
            </a:r>
            <a:endParaRPr lang="en-US" sz="1200" dirty="0"/>
          </a:p>
        </p:txBody>
      </p:sp>
      <p:sp>
        <p:nvSpPr>
          <p:cNvPr id="54" name="Content Placeholder 12"/>
          <p:cNvSpPr>
            <a:spLocks noGrp="1"/>
          </p:cNvSpPr>
          <p:nvPr>
            <p:ph idx="1"/>
          </p:nvPr>
        </p:nvSpPr>
        <p:spPr>
          <a:xfrm>
            <a:off x="293687" y="1235075"/>
            <a:ext cx="1839913" cy="5013325"/>
          </a:xfrm>
        </p:spPr>
        <p:txBody>
          <a:bodyPr/>
          <a:lstStyle/>
          <a:p>
            <a:pPr>
              <a:lnSpc>
                <a:spcPct val="100000"/>
              </a:lnSpc>
              <a:spcBef>
                <a:spcPts val="0"/>
              </a:spcBef>
            </a:pPr>
            <a:r>
              <a:rPr lang="en-US" sz="1100" b="0" dirty="0" smtClean="0">
                <a:solidFill>
                  <a:schemeClr val="tx1"/>
                </a:solidFill>
              </a:rPr>
              <a:t>The hub of Cello’s Investment Process is the CRE Asset and Loan Modeling Framework – </a:t>
            </a:r>
            <a:r>
              <a:rPr lang="en-US" sz="1100" dirty="0" smtClean="0">
                <a:solidFill>
                  <a:schemeClr val="tx1"/>
                </a:solidFill>
              </a:rPr>
              <a:t>Etude</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smtClean="0">
                <a:solidFill>
                  <a:schemeClr val="tx1"/>
                </a:solidFill>
              </a:rPr>
              <a:t>Etude consists of 4 components:</a:t>
            </a:r>
          </a:p>
          <a:p>
            <a:pPr>
              <a:lnSpc>
                <a:spcPct val="100000"/>
              </a:lnSpc>
              <a:spcBef>
                <a:spcPts val="0"/>
              </a:spcBef>
            </a:pPr>
            <a:endParaRPr lang="en-US" sz="1100" b="0" dirty="0">
              <a:solidFill>
                <a:schemeClr val="tx1"/>
              </a:solidFill>
            </a:endParaRPr>
          </a:p>
          <a:p>
            <a:pPr marL="171450" indent="-171450">
              <a:lnSpc>
                <a:spcPct val="100000"/>
              </a:lnSpc>
              <a:spcBef>
                <a:spcPts val="0"/>
              </a:spcBef>
              <a:buFont typeface="Arial" panose="020B0604020202020204" pitchFamily="34" charset="0"/>
              <a:buChar char="•"/>
            </a:pPr>
            <a:r>
              <a:rPr lang="en-US" sz="1100" dirty="0" smtClean="0">
                <a:solidFill>
                  <a:schemeClr val="tx1"/>
                </a:solidFill>
              </a:rPr>
              <a:t>Loan and Property Database: </a:t>
            </a:r>
            <a:r>
              <a:rPr lang="en-US" sz="1100" b="0" dirty="0" smtClean="0">
                <a:solidFill>
                  <a:schemeClr val="tx1"/>
                </a:solidFill>
              </a:rPr>
              <a:t>Source loan- and property level data from servicers and trustees who report the payment status on commercial loans that are securitized in CMBS on a monthly basis.</a:t>
            </a:r>
          </a:p>
          <a:p>
            <a:pPr marL="171450" indent="-171450">
              <a:lnSpc>
                <a:spcPct val="100000"/>
              </a:lnSpc>
              <a:spcBef>
                <a:spcPts val="0"/>
              </a:spcBef>
              <a:buFont typeface="Arial" panose="020B0604020202020204" pitchFamily="34" charset="0"/>
              <a:buChar char="•"/>
            </a:pPr>
            <a:r>
              <a:rPr lang="en-US" sz="1100" dirty="0" smtClean="0">
                <a:solidFill>
                  <a:schemeClr val="tx1"/>
                </a:solidFill>
              </a:rPr>
              <a:t>Loan-level Review: </a:t>
            </a:r>
            <a:r>
              <a:rPr lang="en-US" sz="1100" b="0" dirty="0" smtClean="0">
                <a:solidFill>
                  <a:schemeClr val="tx1"/>
                </a:solidFill>
              </a:rPr>
              <a:t>Detailed underwriting review for large loans (supplemented by boots-on-ground physical inspections where necessary) complemented by quantitative vetting for smaller loans.</a:t>
            </a:r>
          </a:p>
          <a:p>
            <a:pPr marL="171450" indent="-171450">
              <a:lnSpc>
                <a:spcPct val="100000"/>
              </a:lnSpc>
              <a:spcBef>
                <a:spcPts val="0"/>
              </a:spcBef>
              <a:buFont typeface="Arial" panose="020B0604020202020204" pitchFamily="34" charset="0"/>
              <a:buChar char="•"/>
            </a:pPr>
            <a:r>
              <a:rPr lang="en-US" sz="1100" dirty="0" smtClean="0">
                <a:solidFill>
                  <a:schemeClr val="tx1"/>
                </a:solidFill>
              </a:rPr>
              <a:t>CRE and Credit Model Assumptions: </a:t>
            </a:r>
            <a:r>
              <a:rPr lang="en-US" sz="1100" b="0" dirty="0" smtClean="0">
                <a:solidFill>
                  <a:schemeClr val="tx1"/>
                </a:solidFill>
              </a:rPr>
              <a:t>Forecast NOI and cap rates by property type.</a:t>
            </a:r>
          </a:p>
          <a:p>
            <a:pPr marL="171450" indent="-171450">
              <a:lnSpc>
                <a:spcPct val="100000"/>
              </a:lnSpc>
              <a:spcBef>
                <a:spcPts val="0"/>
              </a:spcBef>
              <a:buFont typeface="Arial" panose="020B0604020202020204" pitchFamily="34" charset="0"/>
              <a:buChar char="•"/>
            </a:pPr>
            <a:r>
              <a:rPr lang="en-US" sz="1100" dirty="0" smtClean="0">
                <a:solidFill>
                  <a:schemeClr val="tx1"/>
                </a:solidFill>
              </a:rPr>
              <a:t>Loan Outcome Projection: </a:t>
            </a:r>
            <a:r>
              <a:rPr lang="en-US" sz="1100" b="0" dirty="0" smtClean="0">
                <a:solidFill>
                  <a:schemeClr val="tx1"/>
                </a:solidFill>
              </a:rPr>
              <a:t>Project outcomes for each loan based on assumptions</a:t>
            </a:r>
          </a:p>
          <a:p>
            <a:pPr>
              <a:lnSpc>
                <a:spcPct val="100000"/>
              </a:lnSpc>
              <a:spcBef>
                <a:spcPts val="0"/>
              </a:spcBef>
            </a:pPr>
            <a:r>
              <a:rPr lang="en-US" sz="1100" dirty="0" smtClean="0">
                <a:solidFill>
                  <a:schemeClr val="tx1"/>
                </a:solidFill>
              </a:rPr>
              <a:t> </a:t>
            </a:r>
          </a:p>
          <a:p>
            <a:pPr marL="171450" indent="-171450">
              <a:lnSpc>
                <a:spcPct val="100000"/>
              </a:lnSpc>
              <a:spcBef>
                <a:spcPts val="0"/>
              </a:spcBef>
              <a:buFont typeface="Arial" panose="020B0604020202020204" pitchFamily="34" charset="0"/>
              <a:buChar char="•"/>
            </a:pPr>
            <a:endParaRPr lang="en-US" sz="1100" dirty="0" smtClean="0">
              <a:solidFill>
                <a:schemeClr val="tx1"/>
              </a:solidFill>
            </a:endParaRPr>
          </a:p>
        </p:txBody>
      </p:sp>
      <p:sp>
        <p:nvSpPr>
          <p:cNvPr id="3" name="Content Placeholder 2"/>
          <p:cNvSpPr>
            <a:spLocks noGrp="1"/>
          </p:cNvSpPr>
          <p:nvPr>
            <p:ph idx="1"/>
          </p:nvPr>
        </p:nvSpPr>
        <p:spPr>
          <a:xfrm>
            <a:off x="293687" y="1235076"/>
            <a:ext cx="1839913" cy="5165724"/>
          </a:xfrm>
        </p:spPr>
        <p:txBody>
          <a:bodyPr/>
          <a:lstStyle/>
          <a:p>
            <a:endParaRPr lang="en-US" dirty="0" smtClean="0"/>
          </a:p>
          <a:p>
            <a:endParaRPr lang="en-US" dirty="0" smtClean="0"/>
          </a:p>
          <a:p>
            <a:endParaRPr lang="en-US" b="0" dirty="0"/>
          </a:p>
        </p:txBody>
      </p:sp>
    </p:spTree>
    <p:extLst>
      <p:ext uri="{BB962C8B-B14F-4D97-AF65-F5344CB8AC3E}">
        <p14:creationId xmlns:p14="http://schemas.microsoft.com/office/powerpoint/2010/main" val="2276169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4" grpId="0"/>
      <p:bldP spid="51" grpId="0"/>
      <p:bldP spid="5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4241800" y="2368550"/>
            <a:ext cx="5257800" cy="44958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smtClean="0"/>
              <a:t>CRE </a:t>
            </a:r>
            <a:r>
              <a:rPr lang="en-US" dirty="0"/>
              <a:t>Modeling</a:t>
            </a:r>
            <a:br>
              <a:rPr lang="en-US" dirty="0"/>
            </a:br>
            <a:r>
              <a:rPr lang="en-US" dirty="0" smtClean="0"/>
              <a:t>DATA SOURCES FOR MODELING CRE RISK </a:t>
            </a:r>
            <a:endParaRPr lang="en-US" dirty="0"/>
          </a:p>
        </p:txBody>
      </p:sp>
      <p:graphicFrame>
        <p:nvGraphicFramePr>
          <p:cNvPr id="85" name="Content Placeholder 84"/>
          <p:cNvGraphicFramePr>
            <a:graphicFrameLocks noGrp="1"/>
          </p:cNvGraphicFramePr>
          <p:nvPr>
            <p:ph idx="1"/>
            <p:extLst>
              <p:ext uri="{D42A27DB-BD31-4B8C-83A1-F6EECF244321}">
                <p14:modId xmlns:p14="http://schemas.microsoft.com/office/powerpoint/2010/main" val="1321568196"/>
              </p:ext>
            </p:extLst>
          </p:nvPr>
        </p:nvGraphicFramePr>
        <p:xfrm>
          <a:off x="2574421" y="1676399"/>
          <a:ext cx="6922418" cy="5200360"/>
        </p:xfrm>
        <a:graphic>
          <a:graphicData uri="http://schemas.openxmlformats.org/drawingml/2006/table">
            <a:tbl>
              <a:tblPr firstRow="1">
                <a:tableStyleId>{3B4B98B0-60AC-42C2-AFA5-B58CD77FA1E5}</a:tableStyleId>
              </a:tblPr>
              <a:tblGrid>
                <a:gridCol w="1692779"/>
                <a:gridCol w="762000"/>
                <a:gridCol w="1447800"/>
                <a:gridCol w="1066800"/>
                <a:gridCol w="761399"/>
                <a:gridCol w="1191640"/>
              </a:tblGrid>
              <a:tr h="685801">
                <a:tc>
                  <a:txBody>
                    <a:bodyPr/>
                    <a:lstStyle/>
                    <a:p>
                      <a:endParaRPr lang="en-US" sz="1100" dirty="0">
                        <a:solidFill>
                          <a:schemeClr val="bg1"/>
                        </a:solidFill>
                      </a:endParaRPr>
                    </a:p>
                  </a:txBody>
                  <a:tcPr anchor="ctr">
                    <a:solidFill>
                      <a:schemeClr val="accent2">
                        <a:lumMod val="50000"/>
                      </a:schemeClr>
                    </a:solidFill>
                  </a:tcPr>
                </a:tc>
                <a:tc>
                  <a:txBody>
                    <a:bodyPr/>
                    <a:lstStyle/>
                    <a:p>
                      <a:pPr algn="ctr"/>
                      <a:r>
                        <a:rPr lang="en-US" sz="1100" dirty="0" smtClean="0">
                          <a:solidFill>
                            <a:schemeClr val="bg1"/>
                          </a:solidFill>
                        </a:rPr>
                        <a:t>Data Level</a:t>
                      </a:r>
                      <a:endParaRPr lang="en-US" sz="1100" dirty="0">
                        <a:solidFill>
                          <a:schemeClr val="bg1"/>
                        </a:solidFill>
                      </a:endParaRPr>
                    </a:p>
                  </a:txBody>
                  <a:tcPr anchor="ctr">
                    <a:solidFill>
                      <a:schemeClr val="accent2">
                        <a:lumMod val="50000"/>
                      </a:schemeClr>
                    </a:solidFill>
                  </a:tcPr>
                </a:tc>
                <a:tc>
                  <a:txBody>
                    <a:bodyPr/>
                    <a:lstStyle/>
                    <a:p>
                      <a:pPr algn="ctr"/>
                      <a:r>
                        <a:rPr lang="en-US" sz="1100" dirty="0" smtClean="0">
                          <a:solidFill>
                            <a:schemeClr val="bg1"/>
                          </a:solidFill>
                        </a:rPr>
                        <a:t>Property</a:t>
                      </a:r>
                    </a:p>
                    <a:p>
                      <a:pPr algn="ctr"/>
                      <a:r>
                        <a:rPr lang="en-US" sz="1100" dirty="0" smtClean="0">
                          <a:solidFill>
                            <a:schemeClr val="bg1"/>
                          </a:solidFill>
                        </a:rPr>
                        <a:t>Coverage</a:t>
                      </a:r>
                      <a:endParaRPr lang="en-US" sz="1100" dirty="0">
                        <a:solidFill>
                          <a:schemeClr val="bg1"/>
                        </a:solidFill>
                      </a:endParaRPr>
                    </a:p>
                  </a:txBody>
                  <a:tcPr anchor="ctr">
                    <a:solidFill>
                      <a:schemeClr val="accent2">
                        <a:lumMod val="50000"/>
                      </a:schemeClr>
                    </a:solidFill>
                  </a:tcPr>
                </a:tc>
                <a:tc>
                  <a:txBody>
                    <a:bodyPr/>
                    <a:lstStyle/>
                    <a:p>
                      <a:pPr algn="ctr"/>
                      <a:r>
                        <a:rPr lang="en-US" sz="1100" dirty="0" smtClean="0">
                          <a:solidFill>
                            <a:schemeClr val="bg1"/>
                          </a:solidFill>
                        </a:rPr>
                        <a:t>Geographic</a:t>
                      </a:r>
                    </a:p>
                    <a:p>
                      <a:pPr algn="ctr"/>
                      <a:r>
                        <a:rPr lang="en-US" sz="1100" dirty="0" smtClean="0">
                          <a:solidFill>
                            <a:schemeClr val="bg1"/>
                          </a:solidFill>
                        </a:rPr>
                        <a:t>Coverage</a:t>
                      </a:r>
                      <a:endParaRPr lang="en-US" sz="1100" dirty="0">
                        <a:solidFill>
                          <a:schemeClr val="bg1"/>
                        </a:solidFill>
                      </a:endParaRPr>
                    </a:p>
                  </a:txBody>
                  <a:tcPr anchor="ctr">
                    <a:solidFill>
                      <a:schemeClr val="accent2">
                        <a:lumMod val="50000"/>
                      </a:schemeClr>
                    </a:solidFill>
                  </a:tcPr>
                </a:tc>
                <a:tc>
                  <a:txBody>
                    <a:bodyPr/>
                    <a:lstStyle/>
                    <a:p>
                      <a:pPr algn="ctr"/>
                      <a:r>
                        <a:rPr lang="en-US" sz="1100" dirty="0" smtClean="0">
                          <a:solidFill>
                            <a:schemeClr val="bg1"/>
                          </a:solidFill>
                        </a:rPr>
                        <a:t>Historical</a:t>
                      </a:r>
                      <a:r>
                        <a:rPr lang="en-US" sz="1100" baseline="0" dirty="0" smtClean="0">
                          <a:solidFill>
                            <a:schemeClr val="bg1"/>
                          </a:solidFill>
                        </a:rPr>
                        <a:t> </a:t>
                      </a:r>
                      <a:r>
                        <a:rPr lang="en-US" sz="1100" dirty="0" smtClean="0">
                          <a:solidFill>
                            <a:schemeClr val="bg1"/>
                          </a:solidFill>
                        </a:rPr>
                        <a:t>Coverage</a:t>
                      </a:r>
                      <a:endParaRPr lang="en-US" sz="1100" dirty="0">
                        <a:solidFill>
                          <a:schemeClr val="bg1"/>
                        </a:solidFill>
                      </a:endParaRPr>
                    </a:p>
                  </a:txBody>
                  <a:tcPr anchor="ctr">
                    <a:solidFill>
                      <a:schemeClr val="accent2">
                        <a:lumMod val="50000"/>
                      </a:schemeClr>
                    </a:solidFill>
                  </a:tcPr>
                </a:tc>
                <a:tc>
                  <a:txBody>
                    <a:bodyPr/>
                    <a:lstStyle/>
                    <a:p>
                      <a:pPr algn="ctr"/>
                      <a:r>
                        <a:rPr lang="en-US" sz="1100" dirty="0" smtClean="0">
                          <a:solidFill>
                            <a:schemeClr val="bg1"/>
                          </a:solidFill>
                        </a:rPr>
                        <a:t>Comments</a:t>
                      </a:r>
                      <a:endParaRPr lang="en-US" sz="1100" dirty="0">
                        <a:solidFill>
                          <a:schemeClr val="bg1"/>
                        </a:solidFill>
                      </a:endParaRPr>
                    </a:p>
                  </a:txBody>
                  <a:tcPr anchor="ctr">
                    <a:solidFill>
                      <a:schemeClr val="accent2">
                        <a:lumMod val="50000"/>
                      </a:schemeClr>
                    </a:solidFill>
                  </a:tcPr>
                </a:tc>
              </a:tr>
              <a:tr h="721561">
                <a:tc>
                  <a:txBody>
                    <a:bodyPr/>
                    <a:lstStyle/>
                    <a:p>
                      <a:pPr marL="0" marR="0" indent="0" algn="l" defTabSz="1018824" rtl="0" eaLnBrk="1" fontAlgn="auto" latinLnBrk="0" hangingPunct="1">
                        <a:lnSpc>
                          <a:spcPct val="100000"/>
                        </a:lnSpc>
                        <a:spcBef>
                          <a:spcPts val="0"/>
                        </a:spcBef>
                        <a:spcAft>
                          <a:spcPts val="0"/>
                        </a:spcAft>
                        <a:buClrTx/>
                        <a:buSzTx/>
                        <a:buFontTx/>
                        <a:buNone/>
                        <a:tabLst/>
                        <a:defRPr/>
                      </a:pPr>
                      <a:r>
                        <a:rPr lang="en-US" sz="1100" b="1" dirty="0" err="1" smtClean="0">
                          <a:solidFill>
                            <a:schemeClr val="tx1"/>
                          </a:solidFill>
                        </a:rPr>
                        <a:t>Trepp</a:t>
                      </a:r>
                      <a:r>
                        <a:rPr lang="en-US" sz="1100" b="1" dirty="0" smtClean="0">
                          <a:solidFill>
                            <a:schemeClr val="tx1"/>
                          </a:solidFill>
                        </a:rPr>
                        <a:t> CMBS Database</a:t>
                      </a:r>
                    </a:p>
                  </a:txBody>
                  <a:tcPr anchor="ctr">
                    <a:solidFill>
                      <a:schemeClr val="accent6">
                        <a:lumMod val="40000"/>
                        <a:lumOff val="60000"/>
                      </a:schemeClr>
                    </a:solidFill>
                  </a:tcPr>
                </a:tc>
                <a:tc>
                  <a:txBody>
                    <a:bodyPr/>
                    <a:lstStyle/>
                    <a:p>
                      <a:pPr algn="ctr"/>
                      <a:r>
                        <a:rPr lang="en-US" sz="1100" dirty="0" smtClean="0"/>
                        <a:t>Loan</a:t>
                      </a:r>
                      <a:endParaRPr lang="en-US" sz="1100" dirty="0">
                        <a:solidFill>
                          <a:schemeClr val="tx1"/>
                        </a:solidFill>
                      </a:endParaRPr>
                    </a:p>
                  </a:txBody>
                  <a:tcPr anchor="ctr"/>
                </a:tc>
                <a:tc>
                  <a:txBody>
                    <a:bodyPr/>
                    <a:lstStyle/>
                    <a:p>
                      <a:pPr algn="ctr"/>
                      <a:r>
                        <a:rPr lang="en-US" sz="1100" dirty="0" smtClean="0">
                          <a:solidFill>
                            <a:schemeClr val="tx1"/>
                          </a:solidFill>
                        </a:rPr>
                        <a:t>CMBS Universe</a:t>
                      </a:r>
                      <a:endParaRPr lang="en-US" sz="1100" dirty="0">
                        <a:solidFill>
                          <a:schemeClr val="tx1"/>
                        </a:solidFill>
                      </a:endParaRPr>
                    </a:p>
                  </a:txBody>
                  <a:tcPr anchor="ctr"/>
                </a:tc>
                <a:tc>
                  <a:txBody>
                    <a:bodyPr/>
                    <a:lstStyle/>
                    <a:p>
                      <a:pPr algn="ctr"/>
                      <a:r>
                        <a:rPr lang="en-US" sz="1100" dirty="0" smtClean="0">
                          <a:solidFill>
                            <a:schemeClr val="tx1"/>
                          </a:solidFill>
                        </a:rPr>
                        <a:t>US</a:t>
                      </a:r>
                      <a:endParaRPr lang="en-US" sz="1100" dirty="0">
                        <a:solidFill>
                          <a:schemeClr val="tx1"/>
                        </a:solidFill>
                      </a:endParaRPr>
                    </a:p>
                  </a:txBody>
                  <a:tcPr anchor="ctr"/>
                </a:tc>
                <a:tc>
                  <a:txBody>
                    <a:bodyPr/>
                    <a:lstStyle/>
                    <a:p>
                      <a:pPr algn="ctr"/>
                      <a:r>
                        <a:rPr lang="en-US" sz="1100" dirty="0" smtClean="0"/>
                        <a:t>1998-</a:t>
                      </a:r>
                      <a:endParaRPr lang="en-US" sz="1100" dirty="0">
                        <a:solidFill>
                          <a:schemeClr val="tx1"/>
                        </a:solidFill>
                      </a:endParaRPr>
                    </a:p>
                  </a:txBody>
                  <a:tcPr anchor="ctr"/>
                </a:tc>
                <a:tc>
                  <a:txBody>
                    <a:bodyPr/>
                    <a:lstStyle/>
                    <a:p>
                      <a:pPr algn="ctr"/>
                      <a:r>
                        <a:rPr lang="en-US" sz="1100" dirty="0" smtClean="0"/>
                        <a:t>Largest CMBS DB </a:t>
                      </a:r>
                      <a:endParaRPr lang="en-US" sz="1100" dirty="0">
                        <a:solidFill>
                          <a:schemeClr val="tx1"/>
                        </a:solidFill>
                      </a:endParaRPr>
                    </a:p>
                  </a:txBody>
                  <a:tcPr anchor="ctr"/>
                </a:tc>
              </a:tr>
              <a:tr h="721561">
                <a:tc>
                  <a:txBody>
                    <a:bodyPr/>
                    <a:lstStyle/>
                    <a:p>
                      <a:pPr marL="0" marR="0" indent="0" algn="l" defTabSz="1018824" rtl="0" eaLnBrk="1" fontAlgn="auto" latinLnBrk="0" hangingPunct="1">
                        <a:lnSpc>
                          <a:spcPct val="100000"/>
                        </a:lnSpc>
                        <a:spcBef>
                          <a:spcPts val="0"/>
                        </a:spcBef>
                        <a:spcAft>
                          <a:spcPts val="0"/>
                        </a:spcAft>
                        <a:buClrTx/>
                        <a:buSzTx/>
                        <a:buFontTx/>
                        <a:buNone/>
                        <a:tabLst/>
                        <a:defRPr/>
                      </a:pPr>
                      <a:r>
                        <a:rPr lang="en-US" sz="1100" b="1" dirty="0" smtClean="0">
                          <a:solidFill>
                            <a:schemeClr val="tx1"/>
                          </a:solidFill>
                        </a:rPr>
                        <a:t>American Council of Life Insurers (ACLI)</a:t>
                      </a:r>
                    </a:p>
                  </a:txBody>
                  <a:tcPr anchor="ctr">
                    <a:solidFill>
                      <a:schemeClr val="accent6">
                        <a:lumMod val="40000"/>
                        <a:lumOff val="60000"/>
                      </a:schemeClr>
                    </a:solidFill>
                  </a:tcPr>
                </a:tc>
                <a:tc>
                  <a:txBody>
                    <a:bodyPr/>
                    <a:lstStyle/>
                    <a:p>
                      <a:pPr algn="ctr"/>
                      <a:r>
                        <a:rPr lang="en-US" sz="1100" dirty="0" smtClean="0"/>
                        <a:t>Aggregate</a:t>
                      </a:r>
                      <a:endParaRPr lang="en-US" sz="1100" dirty="0">
                        <a:solidFill>
                          <a:schemeClr val="tx1"/>
                        </a:solidFill>
                      </a:endParaRPr>
                    </a:p>
                  </a:txBody>
                  <a:tcPr anchor="ctr"/>
                </a:tc>
                <a:tc>
                  <a:txBody>
                    <a:bodyPr/>
                    <a:lstStyle/>
                    <a:p>
                      <a:pPr algn="ctr"/>
                      <a:r>
                        <a:rPr lang="en-US" sz="1100" dirty="0" smtClean="0">
                          <a:solidFill>
                            <a:schemeClr val="tx1"/>
                          </a:solidFill>
                        </a:rPr>
                        <a:t>Commercial</a:t>
                      </a:r>
                      <a:r>
                        <a:rPr lang="en-US" sz="1100" baseline="0" dirty="0" smtClean="0">
                          <a:solidFill>
                            <a:schemeClr val="tx1"/>
                          </a:solidFill>
                        </a:rPr>
                        <a:t> Mortgage Originated/Held by Insurance Companies</a:t>
                      </a:r>
                      <a:endParaRPr lang="en-US" sz="1100" dirty="0">
                        <a:solidFill>
                          <a:schemeClr val="tx1"/>
                        </a:solidFill>
                      </a:endParaRPr>
                    </a:p>
                  </a:txBody>
                  <a:tcPr anchor="ctr"/>
                </a:tc>
                <a:tc>
                  <a:txBody>
                    <a:bodyPr/>
                    <a:lstStyle/>
                    <a:p>
                      <a:pPr algn="ctr"/>
                      <a:r>
                        <a:rPr lang="en-US" sz="1100" dirty="0" smtClean="0">
                          <a:solidFill>
                            <a:schemeClr val="tx1"/>
                          </a:solidFill>
                        </a:rPr>
                        <a:t>US</a:t>
                      </a:r>
                      <a:endParaRPr lang="en-US" sz="1100" dirty="0">
                        <a:solidFill>
                          <a:schemeClr val="tx1"/>
                        </a:solidFill>
                      </a:endParaRPr>
                    </a:p>
                  </a:txBody>
                  <a:tcPr anchor="ctr"/>
                </a:tc>
                <a:tc>
                  <a:txBody>
                    <a:bodyPr/>
                    <a:lstStyle/>
                    <a:p>
                      <a:pPr algn="ctr"/>
                      <a:r>
                        <a:rPr lang="en-US" sz="1100" dirty="0" smtClean="0"/>
                        <a:t>1965-</a:t>
                      </a:r>
                      <a:endParaRPr lang="en-US" sz="1100" dirty="0">
                        <a:solidFill>
                          <a:schemeClr val="tx1"/>
                        </a:solidFill>
                      </a:endParaRPr>
                    </a:p>
                  </a:txBody>
                  <a:tcPr anchor="ctr"/>
                </a:tc>
                <a:tc>
                  <a:txBody>
                    <a:bodyPr/>
                    <a:lstStyle/>
                    <a:p>
                      <a:pPr algn="ctr"/>
                      <a:r>
                        <a:rPr lang="en-US" sz="1100" dirty="0" smtClean="0"/>
                        <a:t>Longest History</a:t>
                      </a:r>
                      <a:endParaRPr lang="en-US" sz="1100" dirty="0">
                        <a:solidFill>
                          <a:schemeClr val="tx1"/>
                        </a:solidFill>
                      </a:endParaRPr>
                    </a:p>
                  </a:txBody>
                  <a:tcPr anchor="ctr"/>
                </a:tc>
              </a:tr>
              <a:tr h="721561">
                <a:tc>
                  <a:txBody>
                    <a:bodyPr/>
                    <a:lstStyle/>
                    <a:p>
                      <a:pPr marL="0" marR="0" indent="0" algn="l" defTabSz="1018824" rtl="0" eaLnBrk="1" fontAlgn="auto" latinLnBrk="0" hangingPunct="1">
                        <a:lnSpc>
                          <a:spcPct val="100000"/>
                        </a:lnSpc>
                        <a:spcBef>
                          <a:spcPts val="0"/>
                        </a:spcBef>
                        <a:spcAft>
                          <a:spcPts val="0"/>
                        </a:spcAft>
                        <a:buClrTx/>
                        <a:buSzTx/>
                        <a:buFontTx/>
                        <a:buNone/>
                        <a:tabLst/>
                        <a:defRPr/>
                      </a:pPr>
                      <a:r>
                        <a:rPr lang="en-US" sz="1100" b="1" dirty="0" smtClean="0">
                          <a:solidFill>
                            <a:schemeClr val="tx1"/>
                          </a:solidFill>
                        </a:rPr>
                        <a:t>Federal Deposit Insurance Corporation (FDIC)</a:t>
                      </a:r>
                    </a:p>
                  </a:txBody>
                  <a:tcPr anchor="ctr">
                    <a:solidFill>
                      <a:schemeClr val="accent6">
                        <a:lumMod val="40000"/>
                        <a:lumOff val="60000"/>
                      </a:schemeClr>
                    </a:solidFill>
                  </a:tcPr>
                </a:tc>
                <a:tc>
                  <a:txBody>
                    <a:bodyPr/>
                    <a:lstStyle/>
                    <a:p>
                      <a:pPr algn="ctr"/>
                      <a:r>
                        <a:rPr lang="en-US" sz="1100" dirty="0" smtClean="0"/>
                        <a:t>Loan</a:t>
                      </a:r>
                      <a:endParaRPr lang="en-US" sz="1100" dirty="0">
                        <a:solidFill>
                          <a:schemeClr val="tx1"/>
                        </a:solidFill>
                      </a:endParaRPr>
                    </a:p>
                  </a:txBody>
                  <a:tcPr anchor="ctr"/>
                </a:tc>
                <a:tc>
                  <a:txBody>
                    <a:bodyPr/>
                    <a:lstStyle/>
                    <a:p>
                      <a:pPr algn="ctr"/>
                      <a:r>
                        <a:rPr lang="en-US" sz="1100" dirty="0" smtClean="0">
                          <a:solidFill>
                            <a:schemeClr val="tx1"/>
                          </a:solidFill>
                        </a:rPr>
                        <a:t>Banks’ Loans and Leases</a:t>
                      </a:r>
                      <a:endParaRPr lang="en-US" sz="1100" dirty="0">
                        <a:solidFill>
                          <a:schemeClr val="tx1"/>
                        </a:solidFill>
                      </a:endParaRPr>
                    </a:p>
                  </a:txBody>
                  <a:tcPr anchor="ctr"/>
                </a:tc>
                <a:tc>
                  <a:txBody>
                    <a:bodyPr/>
                    <a:lstStyle/>
                    <a:p>
                      <a:pPr algn="ctr"/>
                      <a:r>
                        <a:rPr lang="en-US" sz="1100" dirty="0" smtClean="0">
                          <a:solidFill>
                            <a:schemeClr val="tx1"/>
                          </a:solidFill>
                        </a:rPr>
                        <a:t>US</a:t>
                      </a:r>
                      <a:endParaRPr lang="en-US" sz="1100" dirty="0">
                        <a:solidFill>
                          <a:schemeClr val="tx1"/>
                        </a:solidFill>
                      </a:endParaRPr>
                    </a:p>
                  </a:txBody>
                  <a:tcPr anchor="ctr"/>
                </a:tc>
                <a:tc>
                  <a:txBody>
                    <a:bodyPr/>
                    <a:lstStyle/>
                    <a:p>
                      <a:pPr algn="ctr"/>
                      <a:r>
                        <a:rPr lang="en-US" sz="1100" dirty="0" smtClean="0"/>
                        <a:t>1992-</a:t>
                      </a:r>
                      <a:endParaRPr lang="en-US" sz="1100" dirty="0">
                        <a:solidFill>
                          <a:schemeClr val="tx1"/>
                        </a:solidFill>
                      </a:endParaRPr>
                    </a:p>
                  </a:txBody>
                  <a:tcPr anchor="ctr"/>
                </a:tc>
                <a:tc>
                  <a:txBody>
                    <a:bodyPr/>
                    <a:lstStyle/>
                    <a:p>
                      <a:pPr algn="ctr"/>
                      <a:r>
                        <a:rPr lang="en-US" sz="1100" dirty="0" smtClean="0"/>
                        <a:t>Cover largest</a:t>
                      </a:r>
                      <a:r>
                        <a:rPr lang="en-US" sz="1100" baseline="0" dirty="0" smtClean="0"/>
                        <a:t> players</a:t>
                      </a:r>
                      <a:endParaRPr lang="en-US" sz="1100" dirty="0">
                        <a:solidFill>
                          <a:schemeClr val="tx1"/>
                        </a:solidFill>
                      </a:endParaRPr>
                    </a:p>
                  </a:txBody>
                  <a:tcPr anchor="ctr"/>
                </a:tc>
              </a:tr>
              <a:tr h="906754">
                <a:tc>
                  <a:txBody>
                    <a:bodyPr/>
                    <a:lstStyle/>
                    <a:p>
                      <a:r>
                        <a:rPr lang="en-US" sz="1100" b="1" dirty="0" smtClean="0">
                          <a:solidFill>
                            <a:schemeClr val="tx1"/>
                          </a:solidFill>
                        </a:rPr>
                        <a:t>National</a:t>
                      </a:r>
                      <a:r>
                        <a:rPr lang="en-US" sz="1100" b="1" baseline="0" dirty="0" smtClean="0">
                          <a:solidFill>
                            <a:schemeClr val="tx1"/>
                          </a:solidFill>
                        </a:rPr>
                        <a:t> Council of Real Estate Investment Fiduciaries (NCREIF)</a:t>
                      </a:r>
                      <a:endParaRPr lang="en-US" sz="1100" b="1" dirty="0">
                        <a:solidFill>
                          <a:schemeClr val="tx1"/>
                        </a:solidFill>
                      </a:endParaRPr>
                    </a:p>
                  </a:txBody>
                  <a:tcPr anchor="ctr">
                    <a:solidFill>
                      <a:schemeClr val="accent6">
                        <a:lumMod val="40000"/>
                        <a:lumOff val="60000"/>
                      </a:schemeClr>
                    </a:solidFill>
                  </a:tcPr>
                </a:tc>
                <a:tc>
                  <a:txBody>
                    <a:bodyPr/>
                    <a:lstStyle/>
                    <a:p>
                      <a:pPr algn="ctr"/>
                      <a:r>
                        <a:rPr lang="en-US" sz="1100" dirty="0" smtClean="0"/>
                        <a:t>Aggregate</a:t>
                      </a:r>
                      <a:endParaRPr lang="en-US" sz="1100" dirty="0">
                        <a:solidFill>
                          <a:schemeClr val="tx1"/>
                        </a:solidFill>
                      </a:endParaRPr>
                    </a:p>
                  </a:txBody>
                  <a:tcPr anchor="ctr"/>
                </a:tc>
                <a:tc>
                  <a:txBody>
                    <a:bodyPr/>
                    <a:lstStyle/>
                    <a:p>
                      <a:pPr algn="ctr"/>
                      <a:r>
                        <a:rPr lang="en-US" sz="1100" dirty="0" smtClean="0">
                          <a:solidFill>
                            <a:schemeClr val="tx1"/>
                          </a:solidFill>
                        </a:rPr>
                        <a:t>Five Major Property Types</a:t>
                      </a:r>
                      <a:endParaRPr lang="en-US" sz="1100" dirty="0">
                        <a:solidFill>
                          <a:schemeClr val="tx1"/>
                        </a:solidFill>
                      </a:endParaRPr>
                    </a:p>
                  </a:txBody>
                  <a:tcPr anchor="ctr"/>
                </a:tc>
                <a:tc>
                  <a:txBody>
                    <a:bodyPr/>
                    <a:lstStyle/>
                    <a:p>
                      <a:pPr algn="ctr"/>
                      <a:r>
                        <a:rPr lang="en-US" sz="1100" dirty="0" smtClean="0">
                          <a:solidFill>
                            <a:schemeClr val="tx1"/>
                          </a:solidFill>
                        </a:rPr>
                        <a:t>50 Metropolitan Areas</a:t>
                      </a:r>
                      <a:endParaRPr lang="en-US" sz="1100" dirty="0">
                        <a:solidFill>
                          <a:schemeClr val="tx1"/>
                        </a:solidFill>
                      </a:endParaRPr>
                    </a:p>
                  </a:txBody>
                  <a:tcPr anchor="ctr"/>
                </a:tc>
                <a:tc>
                  <a:txBody>
                    <a:bodyPr/>
                    <a:lstStyle/>
                    <a:p>
                      <a:pPr algn="ctr"/>
                      <a:r>
                        <a:rPr lang="en-US" sz="1100" dirty="0" smtClean="0"/>
                        <a:t>1978-</a:t>
                      </a:r>
                      <a:endParaRPr lang="en-US" sz="1100" dirty="0">
                        <a:solidFill>
                          <a:schemeClr val="tx1"/>
                        </a:solidFill>
                      </a:endParaRPr>
                    </a:p>
                  </a:txBody>
                  <a:tcPr anchor="ctr"/>
                </a:tc>
                <a:tc>
                  <a:txBody>
                    <a:bodyPr/>
                    <a:lstStyle/>
                    <a:p>
                      <a:pPr algn="ctr"/>
                      <a:r>
                        <a:rPr lang="en-US" sz="1100" dirty="0" smtClean="0"/>
                        <a:t>Widely</a:t>
                      </a:r>
                      <a:r>
                        <a:rPr lang="en-US" sz="1100" baseline="0" dirty="0" smtClean="0"/>
                        <a:t> Regarded</a:t>
                      </a:r>
                      <a:endParaRPr lang="en-US" sz="1100" dirty="0">
                        <a:solidFill>
                          <a:schemeClr val="tx1"/>
                        </a:solidFill>
                      </a:endParaRPr>
                    </a:p>
                  </a:txBody>
                  <a:tcPr anchor="ctr"/>
                </a:tc>
              </a:tr>
              <a:tr h="721561">
                <a:tc>
                  <a:txBody>
                    <a:bodyPr/>
                    <a:lstStyle/>
                    <a:p>
                      <a:r>
                        <a:rPr lang="en-US" sz="1100" b="1" dirty="0" smtClean="0">
                          <a:solidFill>
                            <a:schemeClr val="tx1"/>
                          </a:solidFill>
                        </a:rPr>
                        <a:t>CB Richard Ellis Econometric Advisors (CBRE EA)</a:t>
                      </a:r>
                      <a:endParaRPr lang="en-US" sz="1100" b="1" dirty="0">
                        <a:solidFill>
                          <a:schemeClr val="tx1"/>
                        </a:solidFill>
                      </a:endParaRPr>
                    </a:p>
                  </a:txBody>
                  <a:tcPr anchor="ctr">
                    <a:solidFill>
                      <a:schemeClr val="accent6">
                        <a:lumMod val="40000"/>
                        <a:lumOff val="60000"/>
                      </a:schemeClr>
                    </a:solidFill>
                  </a:tcPr>
                </a:tc>
                <a:tc>
                  <a:txBody>
                    <a:bodyPr/>
                    <a:lstStyle/>
                    <a:p>
                      <a:pPr algn="ctr"/>
                      <a:r>
                        <a:rPr lang="en-US" sz="1100" dirty="0" smtClean="0"/>
                        <a:t>Aggregate</a:t>
                      </a:r>
                      <a:endParaRPr lang="en-US" sz="1100" dirty="0">
                        <a:solidFill>
                          <a:schemeClr val="tx1"/>
                        </a:solidFill>
                      </a:endParaRPr>
                    </a:p>
                  </a:txBody>
                  <a:tcPr anchor="ctr"/>
                </a:tc>
                <a:tc>
                  <a:txBody>
                    <a:bodyPr/>
                    <a:lstStyle/>
                    <a:p>
                      <a:pPr algn="ctr"/>
                      <a:r>
                        <a:rPr lang="en-US" sz="1100" dirty="0" smtClean="0">
                          <a:solidFill>
                            <a:schemeClr val="tx1"/>
                          </a:solidFill>
                        </a:rPr>
                        <a:t>Market Rents</a:t>
                      </a:r>
                      <a:r>
                        <a:rPr lang="en-US" sz="1100" baseline="0" dirty="0" smtClean="0">
                          <a:solidFill>
                            <a:schemeClr val="tx1"/>
                          </a:solidFill>
                        </a:rPr>
                        <a:t> and Vacancies</a:t>
                      </a:r>
                      <a:endParaRPr lang="en-US" sz="1100" dirty="0">
                        <a:solidFill>
                          <a:schemeClr val="tx1"/>
                        </a:solidFill>
                      </a:endParaRPr>
                    </a:p>
                  </a:txBody>
                  <a:tcPr anchor="ctr"/>
                </a:tc>
                <a:tc>
                  <a:txBody>
                    <a:bodyPr/>
                    <a:lstStyle/>
                    <a:p>
                      <a:pPr algn="ctr"/>
                      <a:r>
                        <a:rPr lang="en-US" sz="1100" dirty="0" smtClean="0">
                          <a:solidFill>
                            <a:schemeClr val="tx1"/>
                          </a:solidFill>
                        </a:rPr>
                        <a:t>US</a:t>
                      </a:r>
                      <a:endParaRPr lang="en-US" sz="1100" dirty="0">
                        <a:solidFill>
                          <a:schemeClr val="tx1"/>
                        </a:solidFill>
                      </a:endParaRPr>
                    </a:p>
                  </a:txBody>
                  <a:tcPr anchor="ctr"/>
                </a:tc>
                <a:tc>
                  <a:txBody>
                    <a:bodyPr/>
                    <a:lstStyle/>
                    <a:p>
                      <a:pPr algn="ctr"/>
                      <a:r>
                        <a:rPr lang="en-US" sz="1100" dirty="0" smtClean="0"/>
                        <a:t>1980-</a:t>
                      </a:r>
                      <a:endParaRPr lang="en-US" sz="1100" dirty="0">
                        <a:solidFill>
                          <a:schemeClr val="tx1"/>
                        </a:solidFill>
                      </a:endParaRPr>
                    </a:p>
                  </a:txBody>
                  <a:tcPr anchor="ctr"/>
                </a:tc>
                <a:tc>
                  <a:txBody>
                    <a:bodyPr/>
                    <a:lstStyle/>
                    <a:p>
                      <a:pPr algn="ctr"/>
                      <a:endParaRPr lang="en-US" sz="1100" dirty="0">
                        <a:solidFill>
                          <a:schemeClr val="tx1"/>
                        </a:solidFill>
                      </a:endParaRPr>
                    </a:p>
                  </a:txBody>
                  <a:tcPr anchor="ctr"/>
                </a:tc>
              </a:tr>
              <a:tr h="721561">
                <a:tc>
                  <a:txBody>
                    <a:bodyPr/>
                    <a:lstStyle/>
                    <a:p>
                      <a:r>
                        <a:rPr lang="en-US" sz="1100" b="1" dirty="0" smtClean="0">
                          <a:solidFill>
                            <a:schemeClr val="tx1"/>
                          </a:solidFill>
                        </a:rPr>
                        <a:t>Real</a:t>
                      </a:r>
                      <a:r>
                        <a:rPr lang="en-US" sz="1100" b="1" baseline="0" dirty="0" smtClean="0">
                          <a:solidFill>
                            <a:schemeClr val="tx1"/>
                          </a:solidFill>
                        </a:rPr>
                        <a:t> Capital Analytics (RCA)</a:t>
                      </a:r>
                      <a:endParaRPr lang="en-US" sz="1100" b="1" dirty="0">
                        <a:solidFill>
                          <a:schemeClr val="tx1"/>
                        </a:solidFill>
                      </a:endParaRPr>
                    </a:p>
                  </a:txBody>
                  <a:tcPr anchor="ctr">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1100" dirty="0" smtClean="0"/>
                        <a:t>Loan</a:t>
                      </a:r>
                      <a:endParaRPr lang="en-US" sz="1100" dirty="0">
                        <a:solidFill>
                          <a:schemeClr val="tx1"/>
                        </a:solidFill>
                      </a:endParaRPr>
                    </a:p>
                  </a:txBody>
                  <a:tcPr anchor="ctr"/>
                </a:tc>
                <a:tc>
                  <a:txBody>
                    <a:bodyPr/>
                    <a:lstStyle/>
                    <a:p>
                      <a:pPr algn="ctr"/>
                      <a:r>
                        <a:rPr lang="en-US" sz="1100" dirty="0" smtClean="0">
                          <a:solidFill>
                            <a:schemeClr val="tx1"/>
                          </a:solidFill>
                        </a:rPr>
                        <a:t>Property Value </a:t>
                      </a:r>
                    </a:p>
                    <a:p>
                      <a:pPr algn="ctr"/>
                      <a:r>
                        <a:rPr lang="en-US" sz="1100" dirty="0" smtClean="0">
                          <a:solidFill>
                            <a:schemeClr val="tx1"/>
                          </a:solidFill>
                        </a:rPr>
                        <a:t>Over $5 Million</a:t>
                      </a:r>
                    </a:p>
                  </a:txBody>
                  <a:tcPr anchor="ctr"/>
                </a:tc>
                <a:tc>
                  <a:txBody>
                    <a:bodyPr/>
                    <a:lstStyle/>
                    <a:p>
                      <a:pPr algn="ctr"/>
                      <a:r>
                        <a:rPr lang="en-US" sz="1100" dirty="0" smtClean="0">
                          <a:solidFill>
                            <a:schemeClr val="tx1"/>
                          </a:solidFill>
                        </a:rPr>
                        <a:t>US</a:t>
                      </a:r>
                      <a:endParaRPr lang="en-US" sz="1100" dirty="0">
                        <a:solidFill>
                          <a:schemeClr val="tx1"/>
                        </a:solidFill>
                      </a:endParaRPr>
                    </a:p>
                  </a:txBody>
                  <a:tcPr anchor="ctr"/>
                </a:tc>
                <a:tc>
                  <a:txBody>
                    <a:bodyPr/>
                    <a:lstStyle/>
                    <a:p>
                      <a:pPr algn="ctr"/>
                      <a:r>
                        <a:rPr lang="en-US" sz="1100" dirty="0" smtClean="0"/>
                        <a:t>2000-</a:t>
                      </a:r>
                      <a:endParaRPr lang="en-US" sz="1100" dirty="0">
                        <a:solidFill>
                          <a:schemeClr val="tx1"/>
                        </a:solidFill>
                      </a:endParaRPr>
                    </a:p>
                  </a:txBody>
                  <a:tcPr anchor="ctr"/>
                </a:tc>
                <a:tc>
                  <a:txBody>
                    <a:bodyPr/>
                    <a:lstStyle/>
                    <a:p>
                      <a:pPr algn="ctr"/>
                      <a:endParaRPr lang="en-US" sz="1100" dirty="0">
                        <a:solidFill>
                          <a:schemeClr val="tx1"/>
                        </a:solidFill>
                      </a:endParaRPr>
                    </a:p>
                  </a:txBody>
                  <a:tcPr anchor="ctr"/>
                </a:tc>
              </a:tr>
            </a:tbl>
          </a:graphicData>
        </a:graphic>
      </p:graphicFrame>
      <p:cxnSp>
        <p:nvCxnSpPr>
          <p:cNvPr id="105" name="Straight Connector 104"/>
          <p:cNvCxnSpPr/>
          <p:nvPr/>
        </p:nvCxnSpPr>
        <p:spPr>
          <a:xfrm>
            <a:off x="2743200" y="1314450"/>
            <a:ext cx="6553200" cy="0"/>
          </a:xfrm>
          <a:prstGeom prst="line">
            <a:avLst/>
          </a:prstGeom>
        </p:spPr>
        <p:style>
          <a:lnRef idx="1">
            <a:schemeClr val="accent1"/>
          </a:lnRef>
          <a:fillRef idx="0">
            <a:schemeClr val="accent1"/>
          </a:fillRef>
          <a:effectRef idx="0">
            <a:schemeClr val="accent1"/>
          </a:effectRef>
          <a:fontRef idx="minor">
            <a:schemeClr val="tx1"/>
          </a:fontRef>
        </p:style>
      </p:cxnSp>
      <p:sp>
        <p:nvSpPr>
          <p:cNvPr id="106" name="Content Placeholder 8"/>
          <p:cNvSpPr txBox="1">
            <a:spLocks/>
          </p:cNvSpPr>
          <p:nvPr/>
        </p:nvSpPr>
        <p:spPr>
          <a:xfrm>
            <a:off x="4572000" y="1219200"/>
            <a:ext cx="2895600" cy="190500"/>
          </a:xfrm>
          <a:prstGeom prst="rect">
            <a:avLst/>
          </a:prstGeom>
          <a:solidFill>
            <a:schemeClr val="bg1"/>
          </a:solidFill>
        </p:spPr>
        <p:txBody>
          <a:bodyPr vert="horz" lIns="0" tIns="0" rIns="0" bIns="0" rtlCol="0" anchor="t" anchorCtr="0">
            <a:noAutofit/>
          </a:bodyPr>
          <a:lstStyle>
            <a:lvl1pPr marL="0" indent="0" algn="l" defTabSz="1018824" rtl="0" eaLnBrk="1" latinLnBrk="0" hangingPunct="1">
              <a:lnSpc>
                <a:spcPct val="110000"/>
              </a:lnSpc>
              <a:spcBef>
                <a:spcPts val="1800"/>
              </a:spcBef>
              <a:buFont typeface="Arial" panose="020B0604020202020204" pitchFamily="34" charset="0"/>
              <a:buNone/>
              <a:defRPr sz="1400" b="1" kern="1200">
                <a:solidFill>
                  <a:schemeClr val="accent1"/>
                </a:solidFill>
                <a:latin typeface="+mj-lt"/>
                <a:ea typeface="+mn-ea"/>
                <a:cs typeface="+mn-cs"/>
              </a:defRPr>
            </a:lvl1pPr>
            <a:lvl2pPr marL="0" indent="0" algn="l" defTabSz="1018824" rtl="0" eaLnBrk="1" latinLnBrk="0" hangingPunct="1">
              <a:lnSpc>
                <a:spcPct val="110000"/>
              </a:lnSpc>
              <a:spcBef>
                <a:spcPts val="1500"/>
              </a:spcBef>
              <a:buFont typeface="Arial" panose="020B0604020202020204" pitchFamily="34" charset="0"/>
              <a:buNone/>
              <a:defRPr sz="1300" b="1" kern="1200">
                <a:solidFill>
                  <a:schemeClr val="tx1"/>
                </a:solidFill>
                <a:latin typeface="+mj-lt"/>
                <a:ea typeface="+mn-ea"/>
                <a:cs typeface="+mn-cs"/>
              </a:defRPr>
            </a:lvl2pPr>
            <a:lvl3pPr marL="1588" indent="0" algn="l" defTabSz="1018824" rtl="0" eaLnBrk="1" latinLnBrk="0" hangingPunct="1">
              <a:lnSpc>
                <a:spcPct val="110000"/>
              </a:lnSpc>
              <a:spcBef>
                <a:spcPts val="300"/>
              </a:spcBef>
              <a:buFont typeface="Arial" panose="020B0604020202020204" pitchFamily="34" charset="0"/>
              <a:buNone/>
              <a:defRPr sz="1300" kern="1200">
                <a:solidFill>
                  <a:schemeClr val="tx1"/>
                </a:solidFill>
                <a:latin typeface="+mj-lt"/>
                <a:ea typeface="+mn-ea"/>
                <a:cs typeface="+mn-cs"/>
              </a:defRPr>
            </a:lvl3pPr>
            <a:lvl4pPr marL="173038" indent="-173038" algn="l" defTabSz="1018824" rtl="0" eaLnBrk="1" latinLnBrk="0" hangingPunct="1">
              <a:lnSpc>
                <a:spcPct val="110000"/>
              </a:lnSpc>
              <a:spcBef>
                <a:spcPts val="300"/>
              </a:spcBef>
              <a:buSzPct val="80000"/>
              <a:buFont typeface="Arial" panose="020B0604020202020204" pitchFamily="34" charset="0"/>
              <a:buChar char="•"/>
              <a:defRPr sz="1300" kern="1200">
                <a:solidFill>
                  <a:schemeClr val="tx1"/>
                </a:solidFill>
                <a:latin typeface="+mj-lt"/>
                <a:ea typeface="+mn-ea"/>
                <a:cs typeface="+mn-cs"/>
              </a:defRPr>
            </a:lvl4pPr>
            <a:lvl5pPr marL="385763" indent="-206375" algn="l" defTabSz="1018824" rtl="0" eaLnBrk="1" latinLnBrk="0" hangingPunct="1">
              <a:lnSpc>
                <a:spcPct val="110000"/>
              </a:lnSpc>
              <a:spcBef>
                <a:spcPts val="300"/>
              </a:spcBef>
              <a:buFont typeface="Arial" panose="020B0604020202020204" pitchFamily="34" charset="0"/>
              <a:buChar char="–"/>
              <a:defRPr sz="1300" kern="1200">
                <a:solidFill>
                  <a:schemeClr val="tx1"/>
                </a:solidFill>
                <a:latin typeface="+mj-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algn="ctr"/>
            <a:r>
              <a:rPr lang="en-US" sz="1200" dirty="0" smtClean="0"/>
              <a:t>Empirical Data Sources</a:t>
            </a:r>
            <a:endParaRPr lang="en-US" sz="1200" dirty="0"/>
          </a:p>
        </p:txBody>
      </p:sp>
      <p:sp>
        <p:nvSpPr>
          <p:cNvPr id="114" name="Content Placeholder 12"/>
          <p:cNvSpPr>
            <a:spLocks noGrp="1"/>
          </p:cNvSpPr>
          <p:nvPr>
            <p:ph idx="1"/>
          </p:nvPr>
        </p:nvSpPr>
        <p:spPr>
          <a:xfrm>
            <a:off x="293687" y="1235075"/>
            <a:ext cx="1839913" cy="2583659"/>
          </a:xfrm>
        </p:spPr>
        <p:txBody>
          <a:bodyPr/>
          <a:lstStyle/>
          <a:p>
            <a:pPr>
              <a:lnSpc>
                <a:spcPct val="100000"/>
              </a:lnSpc>
              <a:spcBef>
                <a:spcPts val="0"/>
              </a:spcBef>
            </a:pPr>
            <a:r>
              <a:rPr lang="en-US" sz="1100" b="0" dirty="0" smtClean="0">
                <a:solidFill>
                  <a:schemeClr val="tx1"/>
                </a:solidFill>
              </a:rPr>
              <a:t>There are a number of datasets available that cover different aspects of the CRE asset and loan markets.</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smtClean="0">
                <a:solidFill>
                  <a:schemeClr val="tx1"/>
                </a:solidFill>
              </a:rPr>
              <a:t>Collectively, these datasets are used as the foundation for both model development and validation.</a:t>
            </a:r>
          </a:p>
          <a:p>
            <a:pPr>
              <a:lnSpc>
                <a:spcPct val="100000"/>
              </a:lnSpc>
              <a:spcBef>
                <a:spcPts val="0"/>
              </a:spcBef>
            </a:pPr>
            <a:endParaRPr lang="en-US" sz="1100" b="0" dirty="0">
              <a:solidFill>
                <a:schemeClr val="tx1"/>
              </a:solidFill>
            </a:endParaRPr>
          </a:p>
        </p:txBody>
      </p:sp>
      <p:cxnSp>
        <p:nvCxnSpPr>
          <p:cNvPr id="8" name="Straight Connector 7"/>
          <p:cNvCxnSpPr/>
          <p:nvPr/>
        </p:nvCxnSpPr>
        <p:spPr>
          <a:xfrm>
            <a:off x="4267200" y="1676400"/>
            <a:ext cx="0" cy="518795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2590800" y="3048000"/>
            <a:ext cx="681570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2590800" y="3860800"/>
            <a:ext cx="681570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2590800" y="4572000"/>
            <a:ext cx="681570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2590800" y="5410200"/>
            <a:ext cx="681570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2611948" y="6216650"/>
            <a:ext cx="6815704"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030452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 Modeling</a:t>
            </a:r>
            <a:br>
              <a:rPr lang="en-US" dirty="0"/>
            </a:br>
            <a:r>
              <a:rPr lang="en-US" dirty="0" err="1" smtClean="0"/>
              <a:t>MODELING</a:t>
            </a:r>
            <a:r>
              <a:rPr lang="en-US" dirty="0" smtClean="0"/>
              <a:t> THE EVOLUTION OF ASSET PRICES  </a:t>
            </a:r>
            <a:endParaRPr lang="en-US" dirty="0"/>
          </a:p>
        </p:txBody>
      </p:sp>
      <p:sp>
        <p:nvSpPr>
          <p:cNvPr id="3" name="Content Placeholder 2"/>
          <p:cNvSpPr>
            <a:spLocks noGrp="1"/>
          </p:cNvSpPr>
          <p:nvPr>
            <p:ph idx="1"/>
          </p:nvPr>
        </p:nvSpPr>
        <p:spPr/>
        <p:txBody>
          <a:bodyPr vert="horz" lIns="0" tIns="0" rIns="0" bIns="0" rtlCol="0" anchor="t" anchorCtr="0">
            <a:noAutofit/>
          </a:bodyPr>
          <a:lstStyle/>
          <a:p>
            <a:pPr>
              <a:lnSpc>
                <a:spcPct val="100000"/>
              </a:lnSpc>
              <a:spcBef>
                <a:spcPts val="0"/>
              </a:spcBef>
            </a:pPr>
            <a:r>
              <a:rPr lang="en-US" sz="1100" b="0" dirty="0">
                <a:solidFill>
                  <a:schemeClr val="tx1"/>
                </a:solidFill>
              </a:rPr>
              <a:t>The </a:t>
            </a:r>
            <a:r>
              <a:rPr lang="en-US" sz="1100" b="0" dirty="0" smtClean="0">
                <a:solidFill>
                  <a:schemeClr val="tx1"/>
                </a:solidFill>
              </a:rPr>
              <a:t>asset risk of a commercial property comes from both market uncertainty and idiosyncratic source.</a:t>
            </a:r>
            <a:endParaRPr lang="en-US" sz="1100" b="0" dirty="0">
              <a:solidFill>
                <a:schemeClr val="tx1"/>
              </a:solidFill>
            </a:endParaRPr>
          </a:p>
        </p:txBody>
      </p:sp>
      <p:grpSp>
        <p:nvGrpSpPr>
          <p:cNvPr id="10" name="Group 9"/>
          <p:cNvGrpSpPr/>
          <p:nvPr/>
        </p:nvGrpSpPr>
        <p:grpSpPr>
          <a:xfrm rot="16200000">
            <a:off x="3479738" y="2790365"/>
            <a:ext cx="1932905" cy="1729581"/>
            <a:chOff x="1793875" y="2565400"/>
            <a:chExt cx="5549900" cy="792163"/>
          </a:xfrm>
        </p:grpSpPr>
        <p:cxnSp>
          <p:nvCxnSpPr>
            <p:cNvPr id="7" name="AutoShape 15"/>
            <p:cNvCxnSpPr>
              <a:cxnSpLocks noChangeShapeType="1"/>
            </p:cNvCxnSpPr>
            <p:nvPr/>
          </p:nvCxnSpPr>
          <p:spPr bwMode="auto">
            <a:xfrm rot="5400000">
              <a:off x="2784475" y="1574800"/>
              <a:ext cx="792163" cy="2773363"/>
            </a:xfrm>
            <a:prstGeom prst="straightConnector1">
              <a:avLst/>
            </a:prstGeom>
            <a:noFill/>
            <a:ln w="12700">
              <a:solidFill>
                <a:schemeClr val="accent1"/>
              </a:solidFill>
              <a:miter lim="800000"/>
              <a:headEnd type="none" w="med" len="med"/>
              <a:tailEnd type="triangle" w="med" len="med"/>
            </a:ln>
          </p:spPr>
        </p:cxnSp>
        <p:cxnSp>
          <p:nvCxnSpPr>
            <p:cNvPr id="8" name="AutoShape 16"/>
            <p:cNvCxnSpPr>
              <a:cxnSpLocks noChangeShapeType="1"/>
            </p:cNvCxnSpPr>
            <p:nvPr/>
          </p:nvCxnSpPr>
          <p:spPr bwMode="auto">
            <a:xfrm rot="16200000" flipH="1">
              <a:off x="5559425" y="1573213"/>
              <a:ext cx="792163" cy="2776537"/>
            </a:xfrm>
            <a:prstGeom prst="straightConnector1">
              <a:avLst/>
            </a:prstGeom>
            <a:noFill/>
            <a:ln w="12700">
              <a:solidFill>
                <a:schemeClr val="accent1"/>
              </a:solidFill>
              <a:miter lim="800000"/>
              <a:headEnd type="none" w="med" len="med"/>
              <a:tailEnd type="triangle" w="med" len="med"/>
            </a:ln>
          </p:spPr>
        </p:cxnSp>
        <p:cxnSp>
          <p:nvCxnSpPr>
            <p:cNvPr id="9" name="AutoShape 17"/>
            <p:cNvCxnSpPr>
              <a:cxnSpLocks noChangeShapeType="1"/>
            </p:cNvCxnSpPr>
            <p:nvPr/>
          </p:nvCxnSpPr>
          <p:spPr bwMode="auto">
            <a:xfrm rot="16200000">
              <a:off x="4171156" y="2961482"/>
              <a:ext cx="792163" cy="0"/>
            </a:xfrm>
            <a:prstGeom prst="straightConnector1">
              <a:avLst/>
            </a:prstGeom>
            <a:noFill/>
            <a:ln w="12700">
              <a:solidFill>
                <a:schemeClr val="accent1"/>
              </a:solidFill>
              <a:round/>
              <a:headEnd type="triangle" w="med" len="med"/>
              <a:tailEnd type="none" w="med" len="med"/>
            </a:ln>
          </p:spPr>
        </p:cxnSp>
      </p:grpSp>
      <mc:AlternateContent xmlns:mc="http://schemas.openxmlformats.org/markup-compatibility/2006" xmlns:a14="http://schemas.microsoft.com/office/drawing/2010/main">
        <mc:Choice Requires="a14">
          <p:sp>
            <p:nvSpPr>
              <p:cNvPr id="14" name="TextBox 13"/>
              <p:cNvSpPr txBox="1"/>
              <p:nvPr/>
            </p:nvSpPr>
            <p:spPr>
              <a:xfrm>
                <a:off x="5310982" y="3448079"/>
                <a:ext cx="975908" cy="34932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latin typeface="Cambria Math"/>
                            </a:rPr>
                          </m:ctrlPr>
                        </m:sSubPr>
                        <m:e>
                          <m:r>
                            <a:rPr lang="en-US" sz="1600" b="0" i="1" smtClean="0">
                              <a:latin typeface="Cambria Math"/>
                            </a:rPr>
                            <m:t>𝑃</m:t>
                          </m:r>
                        </m:e>
                        <m:sub>
                          <m:r>
                            <a:rPr lang="en-US" sz="1600" b="0" i="1" smtClean="0">
                              <a:latin typeface="Cambria Math"/>
                            </a:rPr>
                            <m:t>𝑀𝑘𝑡</m:t>
                          </m:r>
                          <m:r>
                            <a:rPr lang="en-US" sz="1600" b="0" i="1" smtClean="0">
                              <a:latin typeface="Cambria Math"/>
                            </a:rPr>
                            <m:t>,  </m:t>
                          </m:r>
                          <m:r>
                            <a:rPr lang="en-US" sz="1600" b="0" i="1" smtClean="0">
                              <a:latin typeface="Cambria Math"/>
                            </a:rPr>
                            <m:t>𝐹𝑙𝑎𝑡</m:t>
                          </m:r>
                        </m:sub>
                      </m:sSub>
                    </m:oMath>
                  </m:oMathPara>
                </a14:m>
                <a:endParaRPr lang="en-US" sz="1600" dirty="0"/>
              </a:p>
            </p:txBody>
          </p:sp>
        </mc:Choice>
        <mc:Fallback xmlns="">
          <p:sp>
            <p:nvSpPr>
              <p:cNvPr id="14" name="TextBox 13"/>
              <p:cNvSpPr txBox="1">
                <a:spLocks noRot="1" noChangeAspect="1" noMove="1" noResize="1" noEditPoints="1" noAdjustHandles="1" noChangeArrowheads="1" noChangeShapeType="1" noTextEdit="1"/>
              </p:cNvSpPr>
              <p:nvPr/>
            </p:nvSpPr>
            <p:spPr>
              <a:xfrm>
                <a:off x="5310982" y="3448079"/>
                <a:ext cx="975908" cy="349326"/>
              </a:xfrm>
              <a:prstGeom prst="rect">
                <a:avLst/>
              </a:prstGeom>
              <a:blipFill rotWithShape="1">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5310982" y="2467668"/>
                <a:ext cx="872675" cy="35753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latin typeface="Cambria Math"/>
                            </a:rPr>
                          </m:ctrlPr>
                        </m:sSubPr>
                        <m:e>
                          <m:r>
                            <a:rPr lang="en-US" sz="1600" b="0" i="1" smtClean="0">
                              <a:latin typeface="Cambria Math"/>
                            </a:rPr>
                            <m:t>𝑃</m:t>
                          </m:r>
                        </m:e>
                        <m:sub>
                          <m:r>
                            <a:rPr lang="en-US" sz="1600" b="0" i="1" smtClean="0">
                              <a:latin typeface="Cambria Math"/>
                            </a:rPr>
                            <m:t>𝑀𝑘𝑡</m:t>
                          </m:r>
                          <m:r>
                            <a:rPr lang="en-US" sz="1600" b="0" i="1" smtClean="0">
                              <a:latin typeface="Cambria Math"/>
                            </a:rPr>
                            <m:t>, </m:t>
                          </m:r>
                          <m:r>
                            <a:rPr lang="en-US" sz="1600" b="0" i="1" smtClean="0">
                              <a:latin typeface="Cambria Math"/>
                            </a:rPr>
                            <m:t>𝑈𝑝</m:t>
                          </m:r>
                        </m:sub>
                      </m:sSub>
                    </m:oMath>
                  </m:oMathPara>
                </a14:m>
                <a:endParaRPr lang="en-US" sz="1600" dirty="0"/>
              </a:p>
            </p:txBody>
          </p:sp>
        </mc:Choice>
        <mc:Fallback xmlns="">
          <p:sp>
            <p:nvSpPr>
              <p:cNvPr id="15" name="TextBox 14"/>
              <p:cNvSpPr txBox="1">
                <a:spLocks noRot="1" noChangeAspect="1" noMove="1" noResize="1" noEditPoints="1" noAdjustHandles="1" noChangeArrowheads="1" noChangeShapeType="1" noTextEdit="1"/>
              </p:cNvSpPr>
              <p:nvPr/>
            </p:nvSpPr>
            <p:spPr>
              <a:xfrm>
                <a:off x="5310982" y="2467668"/>
                <a:ext cx="872675" cy="357534"/>
              </a:xfrm>
              <a:prstGeom prst="rect">
                <a:avLst/>
              </a:prstGeom>
              <a:blipFill rotWithShape="1">
                <a:blip r:embed="rId3"/>
                <a:stretch>
                  <a:fillRect b="-68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5310982" y="4495800"/>
                <a:ext cx="1085041" cy="34932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latin typeface="Cambria Math"/>
                            </a:rPr>
                          </m:ctrlPr>
                        </m:sSubPr>
                        <m:e>
                          <m:r>
                            <a:rPr lang="en-US" sz="1600" b="0" i="1" smtClean="0">
                              <a:latin typeface="Cambria Math"/>
                            </a:rPr>
                            <m:t>𝑃</m:t>
                          </m:r>
                        </m:e>
                        <m:sub>
                          <m:r>
                            <a:rPr lang="en-US" sz="1600" b="0" i="1" smtClean="0">
                              <a:latin typeface="Cambria Math"/>
                            </a:rPr>
                            <m:t>𝑀𝑘𝑡</m:t>
                          </m:r>
                          <m:r>
                            <a:rPr lang="en-US" sz="1600" b="0" i="1" smtClean="0">
                              <a:latin typeface="Cambria Math"/>
                            </a:rPr>
                            <m:t>, </m:t>
                          </m:r>
                          <m:r>
                            <a:rPr lang="en-US" sz="1600" b="0" i="1" smtClean="0">
                              <a:latin typeface="Cambria Math"/>
                            </a:rPr>
                            <m:t>𝐷𝑜𝑤𝑛</m:t>
                          </m:r>
                        </m:sub>
                      </m:sSub>
                    </m:oMath>
                  </m:oMathPara>
                </a14:m>
                <a:endParaRPr lang="en-US" sz="1600" dirty="0"/>
              </a:p>
            </p:txBody>
          </p:sp>
        </mc:Choice>
        <mc:Fallback xmlns="">
          <p:sp>
            <p:nvSpPr>
              <p:cNvPr id="16" name="TextBox 15"/>
              <p:cNvSpPr txBox="1">
                <a:spLocks noRot="1" noChangeAspect="1" noMove="1" noResize="1" noEditPoints="1" noAdjustHandles="1" noChangeArrowheads="1" noChangeShapeType="1" noTextEdit="1"/>
              </p:cNvSpPr>
              <p:nvPr/>
            </p:nvSpPr>
            <p:spPr>
              <a:xfrm>
                <a:off x="5310982" y="4495800"/>
                <a:ext cx="1085041" cy="349326"/>
              </a:xfrm>
              <a:prstGeom prst="rect">
                <a:avLst/>
              </a:prstGeom>
              <a:blipFill rotWithShape="1">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3124200" y="3471446"/>
                <a:ext cx="362792"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a:rPr>
                        <m:t>𝑃</m:t>
                      </m:r>
                    </m:oMath>
                  </m:oMathPara>
                </a14:m>
                <a:endParaRPr lang="en-US" sz="1600" dirty="0"/>
              </a:p>
            </p:txBody>
          </p:sp>
        </mc:Choice>
        <mc:Fallback xmlns="">
          <p:sp>
            <p:nvSpPr>
              <p:cNvPr id="18" name="TextBox 17"/>
              <p:cNvSpPr txBox="1">
                <a:spLocks noRot="1" noChangeAspect="1" noMove="1" noResize="1" noEditPoints="1" noAdjustHandles="1" noChangeArrowheads="1" noChangeShapeType="1" noTextEdit="1"/>
              </p:cNvSpPr>
              <p:nvPr/>
            </p:nvSpPr>
            <p:spPr>
              <a:xfrm>
                <a:off x="3124200" y="3471446"/>
                <a:ext cx="362792" cy="338554"/>
              </a:xfrm>
              <a:prstGeom prst="rect">
                <a:avLst/>
              </a:prstGeom>
              <a:blipFill rotWithShape="1">
                <a:blip r:embed="rId5"/>
                <a:stretch>
                  <a:fillRect/>
                </a:stretch>
              </a:blipFill>
            </p:spPr>
            <p:txBody>
              <a:bodyPr/>
              <a:lstStyle/>
              <a:p>
                <a:r>
                  <a:rPr lang="en-US">
                    <a:noFill/>
                  </a:rPr>
                  <a:t> </a:t>
                </a:r>
              </a:p>
            </p:txBody>
          </p:sp>
        </mc:Fallback>
      </mc:AlternateContent>
      <p:grpSp>
        <p:nvGrpSpPr>
          <p:cNvPr id="19" name="Group 18"/>
          <p:cNvGrpSpPr/>
          <p:nvPr/>
        </p:nvGrpSpPr>
        <p:grpSpPr>
          <a:xfrm rot="16200000">
            <a:off x="6235282" y="2305970"/>
            <a:ext cx="689028" cy="579342"/>
            <a:chOff x="1793875" y="2565400"/>
            <a:chExt cx="5549900" cy="792163"/>
          </a:xfrm>
        </p:grpSpPr>
        <p:cxnSp>
          <p:nvCxnSpPr>
            <p:cNvPr id="20" name="AutoShape 15"/>
            <p:cNvCxnSpPr>
              <a:cxnSpLocks noChangeShapeType="1"/>
            </p:cNvCxnSpPr>
            <p:nvPr/>
          </p:nvCxnSpPr>
          <p:spPr bwMode="auto">
            <a:xfrm rot="5400000">
              <a:off x="2784475" y="1574800"/>
              <a:ext cx="792163" cy="2773363"/>
            </a:xfrm>
            <a:prstGeom prst="straightConnector1">
              <a:avLst/>
            </a:prstGeom>
            <a:noFill/>
            <a:ln w="12700">
              <a:solidFill>
                <a:schemeClr val="accent1"/>
              </a:solidFill>
              <a:miter lim="800000"/>
              <a:headEnd type="none" w="med" len="med"/>
              <a:tailEnd type="triangle" w="med" len="med"/>
            </a:ln>
          </p:spPr>
        </p:cxnSp>
        <p:cxnSp>
          <p:nvCxnSpPr>
            <p:cNvPr id="21" name="AutoShape 16"/>
            <p:cNvCxnSpPr>
              <a:cxnSpLocks noChangeShapeType="1"/>
            </p:cNvCxnSpPr>
            <p:nvPr/>
          </p:nvCxnSpPr>
          <p:spPr bwMode="auto">
            <a:xfrm rot="16200000" flipH="1">
              <a:off x="5559425" y="1573213"/>
              <a:ext cx="792163" cy="2776537"/>
            </a:xfrm>
            <a:prstGeom prst="straightConnector1">
              <a:avLst/>
            </a:prstGeom>
            <a:noFill/>
            <a:ln w="12700">
              <a:solidFill>
                <a:schemeClr val="accent1"/>
              </a:solidFill>
              <a:miter lim="800000"/>
              <a:headEnd type="none" w="med" len="med"/>
              <a:tailEnd type="triangle" w="med" len="med"/>
            </a:ln>
          </p:spPr>
        </p:cxnSp>
        <p:cxnSp>
          <p:nvCxnSpPr>
            <p:cNvPr id="22" name="AutoShape 17"/>
            <p:cNvCxnSpPr>
              <a:cxnSpLocks noChangeShapeType="1"/>
            </p:cNvCxnSpPr>
            <p:nvPr/>
          </p:nvCxnSpPr>
          <p:spPr bwMode="auto">
            <a:xfrm rot="16200000">
              <a:off x="4171156" y="2961482"/>
              <a:ext cx="792163" cy="0"/>
            </a:xfrm>
            <a:prstGeom prst="straightConnector1">
              <a:avLst/>
            </a:prstGeom>
            <a:noFill/>
            <a:ln w="12700">
              <a:solidFill>
                <a:schemeClr val="accent1"/>
              </a:solidFill>
              <a:round/>
              <a:headEnd type="triangle" w="med" len="med"/>
              <a:tailEnd type="none" w="med" len="med"/>
            </a:ln>
          </p:spPr>
        </p:cxnSp>
      </p:grpSp>
      <mc:AlternateContent xmlns:mc="http://schemas.openxmlformats.org/markup-compatibility/2006" xmlns:a14="http://schemas.microsoft.com/office/drawing/2010/main">
        <mc:Choice Requires="a14">
          <p:sp>
            <p:nvSpPr>
              <p:cNvPr id="23" name="TextBox 22"/>
              <p:cNvSpPr txBox="1"/>
              <p:nvPr/>
            </p:nvSpPr>
            <p:spPr>
              <a:xfrm>
                <a:off x="6975925" y="2057400"/>
                <a:ext cx="963405" cy="37747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1600" i="1" smtClean="0">
                              <a:latin typeface="Cambria Math"/>
                            </a:rPr>
                          </m:ctrlPr>
                        </m:sSupPr>
                        <m:e>
                          <m:sSub>
                            <m:sSubPr>
                              <m:ctrlPr>
                                <a:rPr lang="en-US" sz="1600" i="1">
                                  <a:latin typeface="Cambria Math"/>
                                </a:rPr>
                              </m:ctrlPr>
                            </m:sSubPr>
                            <m:e>
                              <m:r>
                                <a:rPr lang="en-US" sz="1600" i="1">
                                  <a:latin typeface="Cambria Math"/>
                                </a:rPr>
                                <m:t>𝑃</m:t>
                              </m:r>
                            </m:e>
                            <m:sub>
                              <m:r>
                                <a:rPr lang="en-US" sz="1600" i="1">
                                  <a:latin typeface="Cambria Math"/>
                                </a:rPr>
                                <m:t>𝑀𝑘𝑡</m:t>
                              </m:r>
                              <m:r>
                                <a:rPr lang="en-US" sz="1600" i="1">
                                  <a:latin typeface="Cambria Math"/>
                                </a:rPr>
                                <m:t>, </m:t>
                              </m:r>
                              <m:r>
                                <a:rPr lang="en-US" sz="1600" i="1">
                                  <a:latin typeface="Cambria Math"/>
                                </a:rPr>
                                <m:t>𝑈𝑝</m:t>
                              </m:r>
                            </m:sub>
                          </m:sSub>
                        </m:e>
                        <m:sup>
                          <m:r>
                            <a:rPr lang="en-US" sz="1600" b="0" i="1" smtClean="0">
                              <a:latin typeface="Cambria Math"/>
                            </a:rPr>
                            <m:t>1</m:t>
                          </m:r>
                        </m:sup>
                      </m:sSup>
                    </m:oMath>
                  </m:oMathPara>
                </a14:m>
                <a:endParaRPr lang="en-US" sz="1600" dirty="0"/>
              </a:p>
            </p:txBody>
          </p:sp>
        </mc:Choice>
        <mc:Fallback xmlns="">
          <p:sp>
            <p:nvSpPr>
              <p:cNvPr id="23" name="TextBox 22"/>
              <p:cNvSpPr txBox="1">
                <a:spLocks noRot="1" noChangeAspect="1" noMove="1" noResize="1" noEditPoints="1" noAdjustHandles="1" noChangeArrowheads="1" noChangeShapeType="1" noTextEdit="1"/>
              </p:cNvSpPr>
              <p:nvPr/>
            </p:nvSpPr>
            <p:spPr>
              <a:xfrm>
                <a:off x="6975925" y="2057400"/>
                <a:ext cx="963405" cy="377476"/>
              </a:xfrm>
              <a:prstGeom prst="rect">
                <a:avLst/>
              </a:prstGeom>
              <a:blipFill rotWithShape="1">
                <a:blip r:embed="rId6"/>
                <a:stretch>
                  <a:fillRect b="-4918"/>
                </a:stretch>
              </a:blipFill>
            </p:spPr>
            <p:txBody>
              <a:bodyPr/>
              <a:lstStyle/>
              <a:p>
                <a:r>
                  <a:rPr lang="en-US">
                    <a:noFill/>
                  </a:rPr>
                  <a:t> </a:t>
                </a:r>
              </a:p>
            </p:txBody>
          </p:sp>
        </mc:Fallback>
      </mc:AlternateContent>
      <p:grpSp>
        <p:nvGrpSpPr>
          <p:cNvPr id="35" name="Group 34"/>
          <p:cNvGrpSpPr/>
          <p:nvPr/>
        </p:nvGrpSpPr>
        <p:grpSpPr>
          <a:xfrm rot="16200000">
            <a:off x="6235282" y="3385276"/>
            <a:ext cx="689028" cy="579342"/>
            <a:chOff x="1793875" y="2565400"/>
            <a:chExt cx="5549900" cy="792163"/>
          </a:xfrm>
        </p:grpSpPr>
        <p:cxnSp>
          <p:nvCxnSpPr>
            <p:cNvPr id="36" name="AutoShape 15"/>
            <p:cNvCxnSpPr>
              <a:cxnSpLocks noChangeShapeType="1"/>
            </p:cNvCxnSpPr>
            <p:nvPr/>
          </p:nvCxnSpPr>
          <p:spPr bwMode="auto">
            <a:xfrm rot="5400000">
              <a:off x="2784475" y="1574800"/>
              <a:ext cx="792163" cy="2773363"/>
            </a:xfrm>
            <a:prstGeom prst="straightConnector1">
              <a:avLst/>
            </a:prstGeom>
            <a:noFill/>
            <a:ln w="12700">
              <a:solidFill>
                <a:schemeClr val="accent1"/>
              </a:solidFill>
              <a:miter lim="800000"/>
              <a:headEnd type="none" w="med" len="med"/>
              <a:tailEnd type="triangle" w="med" len="med"/>
            </a:ln>
          </p:spPr>
        </p:cxnSp>
        <p:cxnSp>
          <p:nvCxnSpPr>
            <p:cNvPr id="37" name="AutoShape 16"/>
            <p:cNvCxnSpPr>
              <a:cxnSpLocks noChangeShapeType="1"/>
            </p:cNvCxnSpPr>
            <p:nvPr/>
          </p:nvCxnSpPr>
          <p:spPr bwMode="auto">
            <a:xfrm rot="16200000" flipH="1">
              <a:off x="5559425" y="1573213"/>
              <a:ext cx="792163" cy="2776537"/>
            </a:xfrm>
            <a:prstGeom prst="straightConnector1">
              <a:avLst/>
            </a:prstGeom>
            <a:noFill/>
            <a:ln w="12700">
              <a:solidFill>
                <a:schemeClr val="accent1"/>
              </a:solidFill>
              <a:miter lim="800000"/>
              <a:headEnd type="none" w="med" len="med"/>
              <a:tailEnd type="triangle" w="med" len="med"/>
            </a:ln>
          </p:spPr>
        </p:cxnSp>
        <p:cxnSp>
          <p:nvCxnSpPr>
            <p:cNvPr id="38" name="AutoShape 17"/>
            <p:cNvCxnSpPr>
              <a:cxnSpLocks noChangeShapeType="1"/>
            </p:cNvCxnSpPr>
            <p:nvPr/>
          </p:nvCxnSpPr>
          <p:spPr bwMode="auto">
            <a:xfrm rot="16200000">
              <a:off x="4171156" y="2961482"/>
              <a:ext cx="792163" cy="0"/>
            </a:xfrm>
            <a:prstGeom prst="straightConnector1">
              <a:avLst/>
            </a:prstGeom>
            <a:noFill/>
            <a:ln w="12700">
              <a:solidFill>
                <a:schemeClr val="accent1"/>
              </a:solidFill>
              <a:round/>
              <a:headEnd type="triangle" w="med" len="med"/>
              <a:tailEnd type="none" w="med" len="med"/>
            </a:ln>
          </p:spPr>
        </p:cxnSp>
      </p:grpSp>
      <p:grpSp>
        <p:nvGrpSpPr>
          <p:cNvPr id="42" name="Group 41"/>
          <p:cNvGrpSpPr/>
          <p:nvPr/>
        </p:nvGrpSpPr>
        <p:grpSpPr>
          <a:xfrm rot="16200000">
            <a:off x="6235282" y="4502952"/>
            <a:ext cx="689028" cy="579342"/>
            <a:chOff x="1793875" y="2565400"/>
            <a:chExt cx="5549900" cy="792163"/>
          </a:xfrm>
        </p:grpSpPr>
        <p:cxnSp>
          <p:nvCxnSpPr>
            <p:cNvPr id="43" name="AutoShape 15"/>
            <p:cNvCxnSpPr>
              <a:cxnSpLocks noChangeShapeType="1"/>
            </p:cNvCxnSpPr>
            <p:nvPr/>
          </p:nvCxnSpPr>
          <p:spPr bwMode="auto">
            <a:xfrm rot="5400000">
              <a:off x="2784475" y="1574800"/>
              <a:ext cx="792163" cy="2773363"/>
            </a:xfrm>
            <a:prstGeom prst="straightConnector1">
              <a:avLst/>
            </a:prstGeom>
            <a:noFill/>
            <a:ln w="12700">
              <a:solidFill>
                <a:schemeClr val="accent1"/>
              </a:solidFill>
              <a:miter lim="800000"/>
              <a:headEnd type="none" w="med" len="med"/>
              <a:tailEnd type="triangle" w="med" len="med"/>
            </a:ln>
          </p:spPr>
        </p:cxnSp>
        <p:cxnSp>
          <p:nvCxnSpPr>
            <p:cNvPr id="44" name="AutoShape 16"/>
            <p:cNvCxnSpPr>
              <a:cxnSpLocks noChangeShapeType="1"/>
            </p:cNvCxnSpPr>
            <p:nvPr/>
          </p:nvCxnSpPr>
          <p:spPr bwMode="auto">
            <a:xfrm rot="16200000" flipH="1">
              <a:off x="5559425" y="1573213"/>
              <a:ext cx="792163" cy="2776537"/>
            </a:xfrm>
            <a:prstGeom prst="straightConnector1">
              <a:avLst/>
            </a:prstGeom>
            <a:noFill/>
            <a:ln w="12700">
              <a:solidFill>
                <a:schemeClr val="accent1"/>
              </a:solidFill>
              <a:miter lim="800000"/>
              <a:headEnd type="none" w="med" len="med"/>
              <a:tailEnd type="triangle" w="med" len="med"/>
            </a:ln>
          </p:spPr>
        </p:cxnSp>
        <p:cxnSp>
          <p:nvCxnSpPr>
            <p:cNvPr id="45" name="AutoShape 17"/>
            <p:cNvCxnSpPr>
              <a:cxnSpLocks noChangeShapeType="1"/>
            </p:cNvCxnSpPr>
            <p:nvPr/>
          </p:nvCxnSpPr>
          <p:spPr bwMode="auto">
            <a:xfrm rot="16200000">
              <a:off x="4171156" y="2961482"/>
              <a:ext cx="792163" cy="0"/>
            </a:xfrm>
            <a:prstGeom prst="straightConnector1">
              <a:avLst/>
            </a:prstGeom>
            <a:noFill/>
            <a:ln w="12700">
              <a:solidFill>
                <a:schemeClr val="accent1"/>
              </a:solidFill>
              <a:round/>
              <a:headEnd type="triangle" w="med" len="med"/>
              <a:tailEnd type="none" w="med" len="med"/>
            </a:ln>
          </p:spPr>
        </p:cxnSp>
      </p:grpSp>
      <mc:AlternateContent xmlns:mc="http://schemas.openxmlformats.org/markup-compatibility/2006" xmlns:a14="http://schemas.microsoft.com/office/drawing/2010/main">
        <mc:Choice Requires="a14">
          <p:sp>
            <p:nvSpPr>
              <p:cNvPr id="49" name="TextBox 48"/>
              <p:cNvSpPr txBox="1"/>
              <p:nvPr/>
            </p:nvSpPr>
            <p:spPr>
              <a:xfrm>
                <a:off x="6975925" y="2376577"/>
                <a:ext cx="967764" cy="37798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1600" i="1" smtClean="0">
                              <a:latin typeface="Cambria Math"/>
                            </a:rPr>
                          </m:ctrlPr>
                        </m:sSupPr>
                        <m:e>
                          <m:sSub>
                            <m:sSubPr>
                              <m:ctrlPr>
                                <a:rPr lang="en-US" sz="1600" i="1">
                                  <a:latin typeface="Cambria Math"/>
                                </a:rPr>
                              </m:ctrlPr>
                            </m:sSubPr>
                            <m:e>
                              <m:r>
                                <a:rPr lang="en-US" sz="1600" i="1">
                                  <a:latin typeface="Cambria Math"/>
                                </a:rPr>
                                <m:t>𝑃</m:t>
                              </m:r>
                            </m:e>
                            <m:sub>
                              <m:r>
                                <a:rPr lang="en-US" sz="1600" i="1">
                                  <a:latin typeface="Cambria Math"/>
                                </a:rPr>
                                <m:t>𝑀𝑘𝑡</m:t>
                              </m:r>
                              <m:r>
                                <a:rPr lang="en-US" sz="1600" i="1">
                                  <a:latin typeface="Cambria Math"/>
                                </a:rPr>
                                <m:t>, </m:t>
                              </m:r>
                              <m:r>
                                <a:rPr lang="en-US" sz="1600" i="1">
                                  <a:latin typeface="Cambria Math"/>
                                </a:rPr>
                                <m:t>𝑈𝑝</m:t>
                              </m:r>
                            </m:sub>
                          </m:sSub>
                        </m:e>
                        <m:sup>
                          <m:r>
                            <a:rPr lang="en-US" sz="1600" b="0" i="1" smtClean="0">
                              <a:latin typeface="Cambria Math"/>
                            </a:rPr>
                            <m:t>2</m:t>
                          </m:r>
                        </m:sup>
                      </m:sSup>
                    </m:oMath>
                  </m:oMathPara>
                </a14:m>
                <a:endParaRPr lang="en-US" sz="1600" dirty="0"/>
              </a:p>
            </p:txBody>
          </p:sp>
        </mc:Choice>
        <mc:Fallback xmlns="">
          <p:sp>
            <p:nvSpPr>
              <p:cNvPr id="49" name="TextBox 48"/>
              <p:cNvSpPr txBox="1">
                <a:spLocks noRot="1" noChangeAspect="1" noMove="1" noResize="1" noEditPoints="1" noAdjustHandles="1" noChangeArrowheads="1" noChangeShapeType="1" noTextEdit="1"/>
              </p:cNvSpPr>
              <p:nvPr/>
            </p:nvSpPr>
            <p:spPr>
              <a:xfrm>
                <a:off x="6975925" y="2376577"/>
                <a:ext cx="967764" cy="377989"/>
              </a:xfrm>
              <a:prstGeom prst="rect">
                <a:avLst/>
              </a:prstGeom>
              <a:blipFill rotWithShape="1">
                <a:blip r:embed="rId7"/>
                <a:stretch>
                  <a:fillRect b="-48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p:cNvSpPr txBox="1"/>
              <p:nvPr/>
            </p:nvSpPr>
            <p:spPr>
              <a:xfrm>
                <a:off x="6975925" y="2696268"/>
                <a:ext cx="967764" cy="37798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1600" i="1" smtClean="0">
                              <a:latin typeface="Cambria Math"/>
                            </a:rPr>
                          </m:ctrlPr>
                        </m:sSupPr>
                        <m:e>
                          <m:sSub>
                            <m:sSubPr>
                              <m:ctrlPr>
                                <a:rPr lang="en-US" sz="1600" i="1">
                                  <a:latin typeface="Cambria Math"/>
                                </a:rPr>
                              </m:ctrlPr>
                            </m:sSubPr>
                            <m:e>
                              <m:r>
                                <a:rPr lang="en-US" sz="1600" i="1">
                                  <a:latin typeface="Cambria Math"/>
                                </a:rPr>
                                <m:t>𝑃</m:t>
                              </m:r>
                            </m:e>
                            <m:sub>
                              <m:r>
                                <a:rPr lang="en-US" sz="1600" i="1">
                                  <a:latin typeface="Cambria Math"/>
                                </a:rPr>
                                <m:t>𝑀𝑘𝑡</m:t>
                              </m:r>
                              <m:r>
                                <a:rPr lang="en-US" sz="1600" i="1">
                                  <a:latin typeface="Cambria Math"/>
                                </a:rPr>
                                <m:t>, </m:t>
                              </m:r>
                              <m:r>
                                <a:rPr lang="en-US" sz="1600" i="1">
                                  <a:latin typeface="Cambria Math"/>
                                </a:rPr>
                                <m:t>𝑈𝑝</m:t>
                              </m:r>
                            </m:sub>
                          </m:sSub>
                        </m:e>
                        <m:sup>
                          <m:r>
                            <a:rPr lang="en-US" sz="1600" b="0" i="1" smtClean="0">
                              <a:latin typeface="Cambria Math"/>
                            </a:rPr>
                            <m:t>3</m:t>
                          </m:r>
                        </m:sup>
                      </m:sSup>
                    </m:oMath>
                  </m:oMathPara>
                </a14:m>
                <a:endParaRPr lang="en-US" sz="1600" dirty="0"/>
              </a:p>
            </p:txBody>
          </p:sp>
        </mc:Choice>
        <mc:Fallback xmlns="">
          <p:sp>
            <p:nvSpPr>
              <p:cNvPr id="50" name="TextBox 49"/>
              <p:cNvSpPr txBox="1">
                <a:spLocks noRot="1" noChangeAspect="1" noMove="1" noResize="1" noEditPoints="1" noAdjustHandles="1" noChangeArrowheads="1" noChangeShapeType="1" noTextEdit="1"/>
              </p:cNvSpPr>
              <p:nvPr/>
            </p:nvSpPr>
            <p:spPr>
              <a:xfrm>
                <a:off x="6975925" y="2696268"/>
                <a:ext cx="967764" cy="377989"/>
              </a:xfrm>
              <a:prstGeom prst="rect">
                <a:avLst/>
              </a:prstGeom>
              <a:blipFill rotWithShape="1">
                <a:blip r:embed="rId8"/>
                <a:stretch>
                  <a:fillRect b="-48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p:cNvSpPr txBox="1"/>
              <p:nvPr/>
            </p:nvSpPr>
            <p:spPr>
              <a:xfrm>
                <a:off x="7010400" y="3163301"/>
                <a:ext cx="1066639" cy="3692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1600" i="1" smtClean="0">
                              <a:latin typeface="Cambria Math"/>
                            </a:rPr>
                          </m:ctrlPr>
                        </m:sSupPr>
                        <m:e>
                          <m:sSub>
                            <m:sSubPr>
                              <m:ctrlPr>
                                <a:rPr lang="en-US" sz="1600" i="1">
                                  <a:latin typeface="Cambria Math"/>
                                </a:rPr>
                              </m:ctrlPr>
                            </m:sSubPr>
                            <m:e>
                              <m:r>
                                <a:rPr lang="en-US" sz="1600" i="1">
                                  <a:latin typeface="Cambria Math"/>
                                </a:rPr>
                                <m:t>𝑃</m:t>
                              </m:r>
                            </m:e>
                            <m:sub>
                              <m:r>
                                <a:rPr lang="en-US" sz="1600" i="1">
                                  <a:latin typeface="Cambria Math"/>
                                </a:rPr>
                                <m:t>𝑀𝑘𝑡</m:t>
                              </m:r>
                              <m:r>
                                <a:rPr lang="en-US" sz="1600" i="1">
                                  <a:latin typeface="Cambria Math"/>
                                </a:rPr>
                                <m:t>, </m:t>
                              </m:r>
                              <m:r>
                                <a:rPr lang="en-US" sz="1600" b="0" i="1" smtClean="0">
                                  <a:latin typeface="Cambria Math"/>
                                </a:rPr>
                                <m:t>𝐹𝑙𝑎𝑡</m:t>
                              </m:r>
                            </m:sub>
                          </m:sSub>
                        </m:e>
                        <m:sup>
                          <m:r>
                            <a:rPr lang="en-US" sz="1600" b="0" i="1" smtClean="0">
                              <a:latin typeface="Cambria Math"/>
                            </a:rPr>
                            <m:t>1</m:t>
                          </m:r>
                        </m:sup>
                      </m:sSup>
                    </m:oMath>
                  </m:oMathPara>
                </a14:m>
                <a:endParaRPr lang="en-US" sz="1600" dirty="0"/>
              </a:p>
            </p:txBody>
          </p:sp>
        </mc:Choice>
        <mc:Fallback xmlns="">
          <p:sp>
            <p:nvSpPr>
              <p:cNvPr id="51" name="TextBox 50"/>
              <p:cNvSpPr txBox="1">
                <a:spLocks noRot="1" noChangeAspect="1" noMove="1" noResize="1" noEditPoints="1" noAdjustHandles="1" noChangeArrowheads="1" noChangeShapeType="1" noTextEdit="1"/>
              </p:cNvSpPr>
              <p:nvPr/>
            </p:nvSpPr>
            <p:spPr>
              <a:xfrm>
                <a:off x="7010400" y="3163301"/>
                <a:ext cx="1066639" cy="369268"/>
              </a:xfrm>
              <a:prstGeom prst="rect">
                <a:avLst/>
              </a:prstGeom>
              <a:blipFill rotWithShape="1">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p:cNvSpPr txBox="1"/>
              <p:nvPr/>
            </p:nvSpPr>
            <p:spPr>
              <a:xfrm>
                <a:off x="7010400" y="3482478"/>
                <a:ext cx="1070999" cy="36978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1600" i="1" smtClean="0">
                              <a:latin typeface="Cambria Math"/>
                            </a:rPr>
                          </m:ctrlPr>
                        </m:sSupPr>
                        <m:e>
                          <m:sSub>
                            <m:sSubPr>
                              <m:ctrlPr>
                                <a:rPr lang="en-US" sz="1600" i="1">
                                  <a:latin typeface="Cambria Math"/>
                                </a:rPr>
                              </m:ctrlPr>
                            </m:sSubPr>
                            <m:e>
                              <m:r>
                                <a:rPr lang="en-US" sz="1600" i="1">
                                  <a:latin typeface="Cambria Math"/>
                                </a:rPr>
                                <m:t>𝑃</m:t>
                              </m:r>
                            </m:e>
                            <m:sub>
                              <m:r>
                                <a:rPr lang="en-US" sz="1600" i="1">
                                  <a:latin typeface="Cambria Math"/>
                                </a:rPr>
                                <m:t>𝑀𝑘𝑡</m:t>
                              </m:r>
                              <m:r>
                                <a:rPr lang="en-US" sz="1600" i="1">
                                  <a:latin typeface="Cambria Math"/>
                                </a:rPr>
                                <m:t>, </m:t>
                              </m:r>
                              <m:r>
                                <a:rPr lang="en-US" sz="1600" b="0" i="1" smtClean="0">
                                  <a:latin typeface="Cambria Math"/>
                                </a:rPr>
                                <m:t>𝐹𝑙𝑎𝑡</m:t>
                              </m:r>
                            </m:sub>
                          </m:sSub>
                        </m:e>
                        <m:sup>
                          <m:r>
                            <a:rPr lang="en-US" sz="1600" b="0" i="1" smtClean="0">
                              <a:latin typeface="Cambria Math"/>
                            </a:rPr>
                            <m:t>2</m:t>
                          </m:r>
                        </m:sup>
                      </m:sSup>
                    </m:oMath>
                  </m:oMathPara>
                </a14:m>
                <a:endParaRPr lang="en-US" sz="1600" dirty="0"/>
              </a:p>
            </p:txBody>
          </p:sp>
        </mc:Choice>
        <mc:Fallback xmlns="">
          <p:sp>
            <p:nvSpPr>
              <p:cNvPr id="52" name="TextBox 51"/>
              <p:cNvSpPr txBox="1">
                <a:spLocks noRot="1" noChangeAspect="1" noMove="1" noResize="1" noEditPoints="1" noAdjustHandles="1" noChangeArrowheads="1" noChangeShapeType="1" noTextEdit="1"/>
              </p:cNvSpPr>
              <p:nvPr/>
            </p:nvSpPr>
            <p:spPr>
              <a:xfrm>
                <a:off x="7010400" y="3482478"/>
                <a:ext cx="1070999" cy="369781"/>
              </a:xfrm>
              <a:prstGeom prst="rect">
                <a:avLst/>
              </a:prstGeom>
              <a:blipFill rotWithShape="1">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p:cNvSpPr txBox="1"/>
              <p:nvPr/>
            </p:nvSpPr>
            <p:spPr>
              <a:xfrm>
                <a:off x="7010400" y="3802169"/>
                <a:ext cx="1070999" cy="36978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1600" i="1" smtClean="0">
                              <a:latin typeface="Cambria Math"/>
                            </a:rPr>
                          </m:ctrlPr>
                        </m:sSupPr>
                        <m:e>
                          <m:sSub>
                            <m:sSubPr>
                              <m:ctrlPr>
                                <a:rPr lang="en-US" sz="1600" i="1">
                                  <a:latin typeface="Cambria Math"/>
                                </a:rPr>
                              </m:ctrlPr>
                            </m:sSubPr>
                            <m:e>
                              <m:r>
                                <a:rPr lang="en-US" sz="1600" i="1">
                                  <a:latin typeface="Cambria Math"/>
                                </a:rPr>
                                <m:t>𝑃</m:t>
                              </m:r>
                            </m:e>
                            <m:sub>
                              <m:r>
                                <a:rPr lang="en-US" sz="1600" i="1">
                                  <a:latin typeface="Cambria Math"/>
                                </a:rPr>
                                <m:t>𝑀𝑘𝑡</m:t>
                              </m:r>
                              <m:r>
                                <a:rPr lang="en-US" sz="1600" i="1">
                                  <a:latin typeface="Cambria Math"/>
                                </a:rPr>
                                <m:t>, </m:t>
                              </m:r>
                              <m:r>
                                <a:rPr lang="en-US" sz="1600" b="0" i="1" smtClean="0">
                                  <a:latin typeface="Cambria Math"/>
                                </a:rPr>
                                <m:t>𝐹𝑙𝑎𝑡</m:t>
                              </m:r>
                            </m:sub>
                          </m:sSub>
                        </m:e>
                        <m:sup>
                          <m:r>
                            <a:rPr lang="en-US" sz="1600" b="0" i="1" smtClean="0">
                              <a:latin typeface="Cambria Math"/>
                            </a:rPr>
                            <m:t>3</m:t>
                          </m:r>
                        </m:sup>
                      </m:sSup>
                    </m:oMath>
                  </m:oMathPara>
                </a14:m>
                <a:endParaRPr lang="en-US" sz="1600" dirty="0"/>
              </a:p>
            </p:txBody>
          </p:sp>
        </mc:Choice>
        <mc:Fallback xmlns="">
          <p:sp>
            <p:nvSpPr>
              <p:cNvPr id="53" name="TextBox 52"/>
              <p:cNvSpPr txBox="1">
                <a:spLocks noRot="1" noChangeAspect="1" noMove="1" noResize="1" noEditPoints="1" noAdjustHandles="1" noChangeArrowheads="1" noChangeShapeType="1" noTextEdit="1"/>
              </p:cNvSpPr>
              <p:nvPr/>
            </p:nvSpPr>
            <p:spPr>
              <a:xfrm>
                <a:off x="7010400" y="3802169"/>
                <a:ext cx="1070999" cy="369781"/>
              </a:xfrm>
              <a:prstGeom prst="rect">
                <a:avLst/>
              </a:prstGeom>
              <a:blipFill rotWithShape="1">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p:cNvSpPr txBox="1"/>
              <p:nvPr/>
            </p:nvSpPr>
            <p:spPr>
              <a:xfrm>
                <a:off x="7010400" y="4293601"/>
                <a:ext cx="1175771" cy="3692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1600" i="1" smtClean="0">
                              <a:latin typeface="Cambria Math"/>
                            </a:rPr>
                          </m:ctrlPr>
                        </m:sSupPr>
                        <m:e>
                          <m:sSub>
                            <m:sSubPr>
                              <m:ctrlPr>
                                <a:rPr lang="en-US" sz="1600" i="1">
                                  <a:latin typeface="Cambria Math"/>
                                </a:rPr>
                              </m:ctrlPr>
                            </m:sSubPr>
                            <m:e>
                              <m:r>
                                <a:rPr lang="en-US" sz="1600" i="1">
                                  <a:latin typeface="Cambria Math"/>
                                </a:rPr>
                                <m:t>𝑃</m:t>
                              </m:r>
                            </m:e>
                            <m:sub>
                              <m:r>
                                <a:rPr lang="en-US" sz="1600" i="1">
                                  <a:latin typeface="Cambria Math"/>
                                </a:rPr>
                                <m:t>𝑀𝑘𝑡</m:t>
                              </m:r>
                              <m:r>
                                <a:rPr lang="en-US" sz="1600" i="1">
                                  <a:latin typeface="Cambria Math"/>
                                </a:rPr>
                                <m:t>, </m:t>
                              </m:r>
                              <m:r>
                                <a:rPr lang="en-US" sz="1600" b="0" i="1" smtClean="0">
                                  <a:latin typeface="Cambria Math"/>
                                </a:rPr>
                                <m:t>𝐷𝑜𝑤𝑛</m:t>
                              </m:r>
                            </m:sub>
                          </m:sSub>
                        </m:e>
                        <m:sup>
                          <m:r>
                            <a:rPr lang="en-US" sz="1600" b="0" i="1" smtClean="0">
                              <a:latin typeface="Cambria Math"/>
                            </a:rPr>
                            <m:t>1</m:t>
                          </m:r>
                        </m:sup>
                      </m:sSup>
                    </m:oMath>
                  </m:oMathPara>
                </a14:m>
                <a:endParaRPr lang="en-US" sz="1600" dirty="0"/>
              </a:p>
            </p:txBody>
          </p:sp>
        </mc:Choice>
        <mc:Fallback xmlns="">
          <p:sp>
            <p:nvSpPr>
              <p:cNvPr id="54" name="TextBox 53"/>
              <p:cNvSpPr txBox="1">
                <a:spLocks noRot="1" noChangeAspect="1" noMove="1" noResize="1" noEditPoints="1" noAdjustHandles="1" noChangeArrowheads="1" noChangeShapeType="1" noTextEdit="1"/>
              </p:cNvSpPr>
              <p:nvPr/>
            </p:nvSpPr>
            <p:spPr>
              <a:xfrm>
                <a:off x="7010400" y="4293601"/>
                <a:ext cx="1175771" cy="369268"/>
              </a:xfrm>
              <a:prstGeom prst="rect">
                <a:avLst/>
              </a:prstGeom>
              <a:blipFill rotWithShape="1">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p:cNvSpPr txBox="1"/>
              <p:nvPr/>
            </p:nvSpPr>
            <p:spPr>
              <a:xfrm>
                <a:off x="7010400" y="4612778"/>
                <a:ext cx="1180131" cy="36978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1600" i="1" smtClean="0">
                              <a:latin typeface="Cambria Math"/>
                            </a:rPr>
                          </m:ctrlPr>
                        </m:sSupPr>
                        <m:e>
                          <m:sSub>
                            <m:sSubPr>
                              <m:ctrlPr>
                                <a:rPr lang="en-US" sz="1600" i="1">
                                  <a:latin typeface="Cambria Math"/>
                                </a:rPr>
                              </m:ctrlPr>
                            </m:sSubPr>
                            <m:e>
                              <m:r>
                                <a:rPr lang="en-US" sz="1600" i="1">
                                  <a:latin typeface="Cambria Math"/>
                                </a:rPr>
                                <m:t>𝑃</m:t>
                              </m:r>
                            </m:e>
                            <m:sub>
                              <m:r>
                                <a:rPr lang="en-US" sz="1600" i="1">
                                  <a:latin typeface="Cambria Math"/>
                                </a:rPr>
                                <m:t>𝑀𝑘𝑡</m:t>
                              </m:r>
                              <m:r>
                                <a:rPr lang="en-US" sz="1600" i="1">
                                  <a:latin typeface="Cambria Math"/>
                                </a:rPr>
                                <m:t>, </m:t>
                              </m:r>
                              <m:r>
                                <a:rPr lang="en-US" sz="1600" b="0" i="1" smtClean="0">
                                  <a:latin typeface="Cambria Math"/>
                                </a:rPr>
                                <m:t>𝐷𝑜𝑤𝑛</m:t>
                              </m:r>
                            </m:sub>
                          </m:sSub>
                        </m:e>
                        <m:sup>
                          <m:r>
                            <a:rPr lang="en-US" sz="1600" b="0" i="1" smtClean="0">
                              <a:latin typeface="Cambria Math"/>
                            </a:rPr>
                            <m:t>2</m:t>
                          </m:r>
                        </m:sup>
                      </m:sSup>
                    </m:oMath>
                  </m:oMathPara>
                </a14:m>
                <a:endParaRPr lang="en-US" sz="1600" dirty="0"/>
              </a:p>
            </p:txBody>
          </p:sp>
        </mc:Choice>
        <mc:Fallback xmlns="">
          <p:sp>
            <p:nvSpPr>
              <p:cNvPr id="55" name="TextBox 54"/>
              <p:cNvSpPr txBox="1">
                <a:spLocks noRot="1" noChangeAspect="1" noMove="1" noResize="1" noEditPoints="1" noAdjustHandles="1" noChangeArrowheads="1" noChangeShapeType="1" noTextEdit="1"/>
              </p:cNvSpPr>
              <p:nvPr/>
            </p:nvSpPr>
            <p:spPr>
              <a:xfrm>
                <a:off x="7010400" y="4612778"/>
                <a:ext cx="1180131" cy="369781"/>
              </a:xfrm>
              <a:prstGeom prst="rect">
                <a:avLst/>
              </a:prstGeom>
              <a:blipFill rotWithShape="1">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p:cNvSpPr txBox="1"/>
              <p:nvPr/>
            </p:nvSpPr>
            <p:spPr>
              <a:xfrm>
                <a:off x="7010400" y="4932469"/>
                <a:ext cx="1180131" cy="36978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1600" i="1" smtClean="0">
                              <a:latin typeface="Cambria Math"/>
                            </a:rPr>
                          </m:ctrlPr>
                        </m:sSupPr>
                        <m:e>
                          <m:sSub>
                            <m:sSubPr>
                              <m:ctrlPr>
                                <a:rPr lang="en-US" sz="1600" i="1">
                                  <a:latin typeface="Cambria Math"/>
                                </a:rPr>
                              </m:ctrlPr>
                            </m:sSubPr>
                            <m:e>
                              <m:r>
                                <a:rPr lang="en-US" sz="1600" i="1">
                                  <a:latin typeface="Cambria Math"/>
                                </a:rPr>
                                <m:t>𝑃</m:t>
                              </m:r>
                            </m:e>
                            <m:sub>
                              <m:r>
                                <a:rPr lang="en-US" sz="1600" i="1">
                                  <a:latin typeface="Cambria Math"/>
                                </a:rPr>
                                <m:t>𝑀𝑘𝑡</m:t>
                              </m:r>
                              <m:r>
                                <a:rPr lang="en-US" sz="1600" i="1">
                                  <a:latin typeface="Cambria Math"/>
                                </a:rPr>
                                <m:t>, </m:t>
                              </m:r>
                              <m:r>
                                <a:rPr lang="en-US" sz="1600" b="0" i="1" smtClean="0">
                                  <a:latin typeface="Cambria Math"/>
                                </a:rPr>
                                <m:t>𝐷𝑜𝑤𝑛</m:t>
                              </m:r>
                            </m:sub>
                          </m:sSub>
                        </m:e>
                        <m:sup>
                          <m:r>
                            <a:rPr lang="en-US" sz="1600" b="0" i="1" smtClean="0">
                              <a:latin typeface="Cambria Math"/>
                            </a:rPr>
                            <m:t>3</m:t>
                          </m:r>
                        </m:sup>
                      </m:sSup>
                    </m:oMath>
                  </m:oMathPara>
                </a14:m>
                <a:endParaRPr lang="en-US" sz="1600" dirty="0"/>
              </a:p>
            </p:txBody>
          </p:sp>
        </mc:Choice>
        <mc:Fallback xmlns="">
          <p:sp>
            <p:nvSpPr>
              <p:cNvPr id="56" name="TextBox 55"/>
              <p:cNvSpPr txBox="1">
                <a:spLocks noRot="1" noChangeAspect="1" noMove="1" noResize="1" noEditPoints="1" noAdjustHandles="1" noChangeArrowheads="1" noChangeShapeType="1" noTextEdit="1"/>
              </p:cNvSpPr>
              <p:nvPr/>
            </p:nvSpPr>
            <p:spPr>
              <a:xfrm>
                <a:off x="7010400" y="4932469"/>
                <a:ext cx="1180131" cy="369781"/>
              </a:xfrm>
              <a:prstGeom prst="rect">
                <a:avLst/>
              </a:prstGeom>
              <a:blipFill rotWithShape="1">
                <a:blip r:embed="rId14"/>
                <a:stretch>
                  <a:fillRect/>
                </a:stretch>
              </a:blipFill>
            </p:spPr>
            <p:txBody>
              <a:bodyPr/>
              <a:lstStyle/>
              <a:p>
                <a:r>
                  <a:rPr lang="en-US">
                    <a:noFill/>
                  </a:rPr>
                  <a:t> </a:t>
                </a:r>
              </a:p>
            </p:txBody>
          </p:sp>
        </mc:Fallback>
      </mc:AlternateContent>
      <p:sp>
        <p:nvSpPr>
          <p:cNvPr id="57" name="TextBox 56"/>
          <p:cNvSpPr txBox="1"/>
          <p:nvPr/>
        </p:nvSpPr>
        <p:spPr>
          <a:xfrm>
            <a:off x="5105400" y="5877580"/>
            <a:ext cx="1100769" cy="523220"/>
          </a:xfrm>
          <a:prstGeom prst="rect">
            <a:avLst/>
          </a:prstGeom>
          <a:noFill/>
        </p:spPr>
        <p:txBody>
          <a:bodyPr wrap="square" rtlCol="0">
            <a:spAutoFit/>
          </a:bodyPr>
          <a:lstStyle/>
          <a:p>
            <a:pPr algn="ctr"/>
            <a:r>
              <a:rPr lang="en-US" sz="1400" dirty="0" smtClean="0"/>
              <a:t>Market Uncertainty</a:t>
            </a:r>
            <a:endParaRPr lang="en-US" sz="1400" dirty="0"/>
          </a:p>
        </p:txBody>
      </p:sp>
      <p:sp>
        <p:nvSpPr>
          <p:cNvPr id="58" name="TextBox 57"/>
          <p:cNvSpPr txBox="1"/>
          <p:nvPr/>
        </p:nvSpPr>
        <p:spPr>
          <a:xfrm>
            <a:off x="6975925" y="5877580"/>
            <a:ext cx="1100769" cy="523220"/>
          </a:xfrm>
          <a:prstGeom prst="rect">
            <a:avLst/>
          </a:prstGeom>
          <a:noFill/>
        </p:spPr>
        <p:txBody>
          <a:bodyPr wrap="square" rtlCol="0">
            <a:spAutoFit/>
          </a:bodyPr>
          <a:lstStyle/>
          <a:p>
            <a:pPr algn="ctr"/>
            <a:r>
              <a:rPr lang="en-US" sz="1400" dirty="0" smtClean="0"/>
              <a:t>Individual</a:t>
            </a:r>
          </a:p>
          <a:p>
            <a:pPr algn="ctr"/>
            <a:r>
              <a:rPr lang="en-US" sz="1400" dirty="0" smtClean="0"/>
              <a:t>Dispersion</a:t>
            </a:r>
            <a:endParaRPr lang="en-US" sz="1400" dirty="0"/>
          </a:p>
        </p:txBody>
      </p:sp>
      <p:sp>
        <p:nvSpPr>
          <p:cNvPr id="60" name="Plus 59"/>
          <p:cNvSpPr/>
          <p:nvPr/>
        </p:nvSpPr>
        <p:spPr>
          <a:xfrm>
            <a:off x="6396024" y="5953780"/>
            <a:ext cx="365760" cy="365760"/>
          </a:xfrm>
          <a:prstGeom prst="mathPlus">
            <a:avLst>
              <a:gd name="adj1" fmla="val 685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2" name="Elbow Connector 61"/>
          <p:cNvCxnSpPr>
            <a:stCxn id="57" idx="0"/>
            <a:endCxn id="58" idx="0"/>
          </p:cNvCxnSpPr>
          <p:nvPr/>
        </p:nvCxnSpPr>
        <p:spPr>
          <a:xfrm rot="5400000" flipH="1" flipV="1">
            <a:off x="6591047" y="4942318"/>
            <a:ext cx="12700" cy="1870525"/>
          </a:xfrm>
          <a:prstGeom prst="bentConnector3">
            <a:avLst>
              <a:gd name="adj1" fmla="val 1800000"/>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a:off x="2743200" y="1428750"/>
            <a:ext cx="6553200" cy="0"/>
          </a:xfrm>
          <a:prstGeom prst="line">
            <a:avLst/>
          </a:prstGeom>
        </p:spPr>
        <p:style>
          <a:lnRef idx="1">
            <a:schemeClr val="accent1"/>
          </a:lnRef>
          <a:fillRef idx="0">
            <a:schemeClr val="accent1"/>
          </a:fillRef>
          <a:effectRef idx="0">
            <a:schemeClr val="accent1"/>
          </a:effectRef>
          <a:fontRef idx="minor">
            <a:schemeClr val="tx1"/>
          </a:fontRef>
        </p:style>
      </p:cxnSp>
      <p:sp>
        <p:nvSpPr>
          <p:cNvPr id="64" name="Content Placeholder 8"/>
          <p:cNvSpPr txBox="1">
            <a:spLocks/>
          </p:cNvSpPr>
          <p:nvPr/>
        </p:nvSpPr>
        <p:spPr>
          <a:xfrm>
            <a:off x="4343400" y="1333500"/>
            <a:ext cx="3276600" cy="190500"/>
          </a:xfrm>
          <a:prstGeom prst="rect">
            <a:avLst/>
          </a:prstGeom>
          <a:solidFill>
            <a:schemeClr val="bg1"/>
          </a:solidFill>
        </p:spPr>
        <p:txBody>
          <a:bodyPr vert="horz" lIns="0" tIns="0" rIns="0" bIns="0" rtlCol="0" anchor="t" anchorCtr="0">
            <a:noAutofit/>
          </a:bodyPr>
          <a:lstStyle>
            <a:lvl1pPr marL="0" indent="0" algn="l" defTabSz="1018824" rtl="0" eaLnBrk="1" latinLnBrk="0" hangingPunct="1">
              <a:lnSpc>
                <a:spcPct val="110000"/>
              </a:lnSpc>
              <a:spcBef>
                <a:spcPts val="1800"/>
              </a:spcBef>
              <a:buFont typeface="Arial" panose="020B0604020202020204" pitchFamily="34" charset="0"/>
              <a:buNone/>
              <a:defRPr sz="1400" b="1" kern="1200">
                <a:solidFill>
                  <a:schemeClr val="accent1"/>
                </a:solidFill>
                <a:latin typeface="+mj-lt"/>
                <a:ea typeface="+mn-ea"/>
                <a:cs typeface="+mn-cs"/>
              </a:defRPr>
            </a:lvl1pPr>
            <a:lvl2pPr marL="0" indent="0" algn="l" defTabSz="1018824" rtl="0" eaLnBrk="1" latinLnBrk="0" hangingPunct="1">
              <a:lnSpc>
                <a:spcPct val="110000"/>
              </a:lnSpc>
              <a:spcBef>
                <a:spcPts val="1500"/>
              </a:spcBef>
              <a:buFont typeface="Arial" panose="020B0604020202020204" pitchFamily="34" charset="0"/>
              <a:buNone/>
              <a:defRPr sz="1300" b="1" kern="1200">
                <a:solidFill>
                  <a:schemeClr val="tx1"/>
                </a:solidFill>
                <a:latin typeface="+mj-lt"/>
                <a:ea typeface="+mn-ea"/>
                <a:cs typeface="+mn-cs"/>
              </a:defRPr>
            </a:lvl2pPr>
            <a:lvl3pPr marL="1588" indent="0" algn="l" defTabSz="1018824" rtl="0" eaLnBrk="1" latinLnBrk="0" hangingPunct="1">
              <a:lnSpc>
                <a:spcPct val="110000"/>
              </a:lnSpc>
              <a:spcBef>
                <a:spcPts val="300"/>
              </a:spcBef>
              <a:buFont typeface="Arial" panose="020B0604020202020204" pitchFamily="34" charset="0"/>
              <a:buNone/>
              <a:defRPr sz="1300" kern="1200">
                <a:solidFill>
                  <a:schemeClr val="tx1"/>
                </a:solidFill>
                <a:latin typeface="+mj-lt"/>
                <a:ea typeface="+mn-ea"/>
                <a:cs typeface="+mn-cs"/>
              </a:defRPr>
            </a:lvl3pPr>
            <a:lvl4pPr marL="173038" indent="-173038" algn="l" defTabSz="1018824" rtl="0" eaLnBrk="1" latinLnBrk="0" hangingPunct="1">
              <a:lnSpc>
                <a:spcPct val="110000"/>
              </a:lnSpc>
              <a:spcBef>
                <a:spcPts val="300"/>
              </a:spcBef>
              <a:buSzPct val="80000"/>
              <a:buFont typeface="Arial" panose="020B0604020202020204" pitchFamily="34" charset="0"/>
              <a:buChar char="•"/>
              <a:defRPr sz="1300" kern="1200">
                <a:solidFill>
                  <a:schemeClr val="tx1"/>
                </a:solidFill>
                <a:latin typeface="+mj-lt"/>
                <a:ea typeface="+mn-ea"/>
                <a:cs typeface="+mn-cs"/>
              </a:defRPr>
            </a:lvl4pPr>
            <a:lvl5pPr marL="385763" indent="-206375" algn="l" defTabSz="1018824" rtl="0" eaLnBrk="1" latinLnBrk="0" hangingPunct="1">
              <a:lnSpc>
                <a:spcPct val="110000"/>
              </a:lnSpc>
              <a:spcBef>
                <a:spcPts val="300"/>
              </a:spcBef>
              <a:buFont typeface="Arial" panose="020B0604020202020204" pitchFamily="34" charset="0"/>
              <a:buChar char="–"/>
              <a:defRPr sz="1300" kern="1200">
                <a:solidFill>
                  <a:schemeClr val="tx1"/>
                </a:solidFill>
                <a:latin typeface="+mj-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algn="ctr"/>
            <a:r>
              <a:rPr lang="en-US" sz="1200" dirty="0" smtClean="0"/>
              <a:t>Asset Risk: Market and Idiosyncratic Factors</a:t>
            </a:r>
            <a:endParaRPr lang="en-US" sz="1200" dirty="0"/>
          </a:p>
        </p:txBody>
      </p:sp>
    </p:spTree>
    <p:extLst>
      <p:ext uri="{BB962C8B-B14F-4D97-AF65-F5344CB8AC3E}">
        <p14:creationId xmlns:p14="http://schemas.microsoft.com/office/powerpoint/2010/main" val="1842103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3496828" y="3581400"/>
            <a:ext cx="6138276" cy="32766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3496828" y="1572398"/>
            <a:ext cx="6138276" cy="2009002"/>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a:t>CRE Modeling </a:t>
            </a:r>
            <a:r>
              <a:rPr lang="en-US" dirty="0" smtClean="0"/>
              <a:t/>
            </a:r>
            <a:br>
              <a:rPr lang="en-US" dirty="0" smtClean="0"/>
            </a:br>
            <a:r>
              <a:rPr lang="en-US" dirty="0" smtClean="0"/>
              <a:t>CRE model parameters and Assumptions</a:t>
            </a:r>
            <a:endParaRPr lang="en-US" dirty="0"/>
          </a:p>
        </p:txBody>
      </p:sp>
      <p:sp>
        <p:nvSpPr>
          <p:cNvPr id="54" name="Content Placeholder 12"/>
          <p:cNvSpPr>
            <a:spLocks noGrp="1"/>
          </p:cNvSpPr>
          <p:nvPr>
            <p:ph idx="1"/>
          </p:nvPr>
        </p:nvSpPr>
        <p:spPr>
          <a:xfrm>
            <a:off x="293687" y="1235075"/>
            <a:ext cx="1839913" cy="2583659"/>
          </a:xfrm>
        </p:spPr>
        <p:txBody>
          <a:bodyPr/>
          <a:lstStyle/>
          <a:p>
            <a:pPr>
              <a:lnSpc>
                <a:spcPct val="100000"/>
              </a:lnSpc>
              <a:spcBef>
                <a:spcPts val="0"/>
              </a:spcBef>
            </a:pPr>
            <a:r>
              <a:rPr lang="en-US" sz="1100" b="0" dirty="0" smtClean="0">
                <a:solidFill>
                  <a:schemeClr val="tx1"/>
                </a:solidFill>
              </a:rPr>
              <a:t>The CRE model employs a forward looking model to estimate the evolution of asset loan-level outcomes.</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smtClean="0">
                <a:solidFill>
                  <a:schemeClr val="tx1"/>
                </a:solidFill>
              </a:rPr>
              <a:t>Major model parameters include Income &amp; Property Value Drivers and Loan Outcome &amp; Loss Parameters.</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smtClean="0">
                <a:solidFill>
                  <a:schemeClr val="tx1"/>
                </a:solidFill>
              </a:rPr>
              <a:t>For each parameter, several assumptions will be applied.</a:t>
            </a:r>
            <a:endParaRPr lang="en-US" sz="1100" dirty="0" smtClean="0"/>
          </a:p>
        </p:txBody>
      </p:sp>
      <p:graphicFrame>
        <p:nvGraphicFramePr>
          <p:cNvPr id="6" name="Table 5"/>
          <p:cNvGraphicFramePr>
            <a:graphicFrameLocks noGrp="1"/>
          </p:cNvGraphicFramePr>
          <p:nvPr>
            <p:extLst>
              <p:ext uri="{D42A27DB-BD31-4B8C-83A1-F6EECF244321}">
                <p14:modId xmlns:p14="http://schemas.microsoft.com/office/powerpoint/2010/main" val="209724060"/>
              </p:ext>
            </p:extLst>
          </p:nvPr>
        </p:nvGraphicFramePr>
        <p:xfrm>
          <a:off x="3496828" y="1572399"/>
          <a:ext cx="6172200" cy="5334002"/>
        </p:xfrm>
        <a:graphic>
          <a:graphicData uri="http://schemas.openxmlformats.org/drawingml/2006/table">
            <a:tbl>
              <a:tblPr>
                <a:tableStyleId>{5C22544A-7EE6-4342-B048-85BDC9FD1C3A}</a:tableStyleId>
              </a:tblPr>
              <a:tblGrid>
                <a:gridCol w="1447800"/>
                <a:gridCol w="4724400"/>
              </a:tblGrid>
              <a:tr h="582036">
                <a:tc>
                  <a:txBody>
                    <a:bodyPr/>
                    <a:lstStyle/>
                    <a:p>
                      <a:r>
                        <a:rPr lang="en-US" sz="1050" b="1" dirty="0" smtClean="0"/>
                        <a:t>Income</a:t>
                      </a:r>
                      <a:r>
                        <a:rPr lang="en-US" sz="1050" b="1" baseline="0" dirty="0" smtClean="0"/>
                        <a:t> growth curves</a:t>
                      </a:r>
                      <a:endParaRPr lang="en-US" sz="1050" b="1"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marR="0" indent="-171450" algn="l" defTabSz="101882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smtClean="0"/>
                        <a:t>MSA and property-type based projections of property-level NCF through time</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861094">
                <a:tc>
                  <a:txBody>
                    <a:bodyPr/>
                    <a:lstStyle/>
                    <a:p>
                      <a:r>
                        <a:rPr lang="en-US" sz="1050" b="1" dirty="0" smtClean="0"/>
                        <a:t>Cap rates</a:t>
                      </a:r>
                      <a:endParaRPr lang="en-US" sz="1050" b="1"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US" sz="1050" dirty="0" smtClean="0"/>
                        <a:t>Cap rate curves (term structure) by property type</a:t>
                      </a:r>
                    </a:p>
                    <a:p>
                      <a:pPr marL="171450" indent="-171450">
                        <a:buFont typeface="Arial" panose="020B0604020202020204" pitchFamily="34" charset="0"/>
                        <a:buChar char="•"/>
                      </a:pPr>
                      <a:r>
                        <a:rPr lang="en-US" sz="1050" dirty="0" smtClean="0"/>
                        <a:t>Adjusted by property grades to account for individual property location and quality</a:t>
                      </a:r>
                    </a:p>
                    <a:p>
                      <a:pPr marL="171450" indent="-171450">
                        <a:buFont typeface="Arial" panose="020B0604020202020204" pitchFamily="34" charset="0"/>
                        <a:buChar char="•"/>
                      </a:pPr>
                      <a:r>
                        <a:rPr lang="en-US" sz="1050" dirty="0" smtClean="0"/>
                        <a:t>Combined with income projections to determine property value</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621902">
                <a:tc>
                  <a:txBody>
                    <a:bodyPr/>
                    <a:lstStyle/>
                    <a:p>
                      <a:r>
                        <a:rPr lang="en-US" sz="1050" b="1" dirty="0" smtClean="0"/>
                        <a:t>Property</a:t>
                      </a:r>
                      <a:r>
                        <a:rPr lang="en-US" sz="1050" b="1" baseline="0" dirty="0" smtClean="0"/>
                        <a:t> grades</a:t>
                      </a:r>
                      <a:endParaRPr lang="en-US" sz="1050" b="1"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US" sz="1050" dirty="0" smtClean="0"/>
                        <a:t>Individually assigned grades based on location, condition and size</a:t>
                      </a:r>
                    </a:p>
                    <a:p>
                      <a:pPr marL="171450" indent="-171450">
                        <a:buFont typeface="Arial" panose="020B0604020202020204" pitchFamily="34" charset="0"/>
                        <a:buChar char="•"/>
                      </a:pPr>
                      <a:r>
                        <a:rPr lang="en-US" sz="1050" dirty="0" smtClean="0"/>
                        <a:t>Used to adjust cap rates to account for individual property quality</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621902">
                <a:tc>
                  <a:txBody>
                    <a:bodyPr/>
                    <a:lstStyle/>
                    <a:p>
                      <a:r>
                        <a:rPr lang="en-US" sz="1050" b="1" dirty="0" smtClean="0"/>
                        <a:t>DSCR default trigger</a:t>
                      </a:r>
                      <a:endParaRPr lang="en-US" sz="1050" b="1"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US" sz="1050" dirty="0" smtClean="0"/>
                        <a:t>Monthly test that results in a term default if DSCR drops below a defined level</a:t>
                      </a:r>
                    </a:p>
                    <a:p>
                      <a:pPr marL="171450" indent="-171450">
                        <a:buFont typeface="Arial" panose="020B0604020202020204" pitchFamily="34" charset="0"/>
                        <a:buChar char="•"/>
                      </a:pPr>
                      <a:r>
                        <a:rPr lang="en-US" sz="1050" dirty="0" smtClean="0"/>
                        <a:t>Triggers are property type based</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582036">
                <a:tc>
                  <a:txBody>
                    <a:bodyPr/>
                    <a:lstStyle/>
                    <a:p>
                      <a:r>
                        <a:rPr lang="en-US" sz="1050" b="1" dirty="0" smtClean="0"/>
                        <a:t>Loan extensions</a:t>
                      </a:r>
                      <a:endParaRPr lang="en-US" sz="1050" b="1"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marR="0" indent="-171450" algn="l" defTabSz="101882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smtClean="0"/>
                        <a:t>Loans are extended at maturity if LTV falls within a defined band</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621902">
                <a:tc>
                  <a:txBody>
                    <a:bodyPr/>
                    <a:lstStyle/>
                    <a:p>
                      <a:r>
                        <a:rPr lang="en-US" sz="1050" b="1" dirty="0" smtClean="0"/>
                        <a:t>Workout period</a:t>
                      </a:r>
                      <a:endParaRPr lang="en-US" sz="1050" b="1"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US" sz="1050" dirty="0" smtClean="0"/>
                        <a:t>Time to resolution after a term or maturity default</a:t>
                      </a:r>
                    </a:p>
                    <a:p>
                      <a:pPr marL="171450" indent="-171450">
                        <a:buFont typeface="Arial" panose="020B0604020202020204" pitchFamily="34" charset="0"/>
                        <a:buChar char="•"/>
                      </a:pPr>
                      <a:r>
                        <a:rPr lang="en-US" sz="1050" dirty="0" smtClean="0"/>
                        <a:t>Jurisdiction-based (by State)</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582036">
                <a:tc>
                  <a:txBody>
                    <a:bodyPr/>
                    <a:lstStyle/>
                    <a:p>
                      <a:r>
                        <a:rPr lang="en-US" sz="1050" b="1" dirty="0" smtClean="0"/>
                        <a:t>Liquidation costs</a:t>
                      </a:r>
                      <a:endParaRPr lang="en-US" sz="1050" b="1"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marR="0" indent="-171450" algn="l" defTabSz="101882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smtClean="0"/>
                        <a:t>Percentage of property value at liquidation</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861094">
                <a:tc>
                  <a:txBody>
                    <a:bodyPr/>
                    <a:lstStyle/>
                    <a:p>
                      <a:r>
                        <a:rPr lang="en-US" sz="1050" b="1" dirty="0" smtClean="0"/>
                        <a:t>Servicer reserves</a:t>
                      </a:r>
                      <a:endParaRPr lang="en-US" sz="1050" b="1"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marR="0" indent="-171450" algn="l" defTabSz="101882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smtClean="0"/>
                        <a:t>Reserves held by the servicer are used to fund debt service payment shortfalls if income drops below the DSCR threshold</a:t>
                      </a:r>
                      <a:endParaRPr lang="en-US" sz="105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bl>
          </a:graphicData>
        </a:graphic>
      </p:graphicFrame>
      <p:sp>
        <p:nvSpPr>
          <p:cNvPr id="38" name="TextBox 37"/>
          <p:cNvSpPr txBox="1"/>
          <p:nvPr/>
        </p:nvSpPr>
        <p:spPr>
          <a:xfrm>
            <a:off x="3429000" y="1295400"/>
            <a:ext cx="2090849" cy="276999"/>
          </a:xfrm>
          <a:prstGeom prst="rect">
            <a:avLst/>
          </a:prstGeom>
          <a:noFill/>
        </p:spPr>
        <p:txBody>
          <a:bodyPr wrap="square" rtlCol="0">
            <a:spAutoFit/>
          </a:bodyPr>
          <a:lstStyle/>
          <a:p>
            <a:r>
              <a:rPr lang="en-US" sz="1200" b="1" dirty="0" smtClean="0"/>
              <a:t>Assumption</a:t>
            </a:r>
            <a:endParaRPr lang="en-US" sz="1200" b="1" dirty="0"/>
          </a:p>
        </p:txBody>
      </p:sp>
      <p:cxnSp>
        <p:nvCxnSpPr>
          <p:cNvPr id="39" name="Straight Connector 38"/>
          <p:cNvCxnSpPr/>
          <p:nvPr/>
        </p:nvCxnSpPr>
        <p:spPr>
          <a:xfrm flipV="1">
            <a:off x="3496828" y="1572397"/>
            <a:ext cx="6138276" cy="3"/>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4903084" y="1295399"/>
            <a:ext cx="2090849" cy="276999"/>
          </a:xfrm>
          <a:prstGeom prst="rect">
            <a:avLst/>
          </a:prstGeom>
          <a:noFill/>
        </p:spPr>
        <p:txBody>
          <a:bodyPr wrap="square" rtlCol="0">
            <a:spAutoFit/>
          </a:bodyPr>
          <a:lstStyle/>
          <a:p>
            <a:r>
              <a:rPr lang="en-US" sz="1200" b="1" dirty="0" smtClean="0"/>
              <a:t>Description</a:t>
            </a:r>
            <a:endParaRPr lang="en-US" sz="1200" b="1" dirty="0"/>
          </a:p>
        </p:txBody>
      </p:sp>
      <p:cxnSp>
        <p:nvCxnSpPr>
          <p:cNvPr id="13" name="Straight Connector 12"/>
          <p:cNvCxnSpPr/>
          <p:nvPr/>
        </p:nvCxnSpPr>
        <p:spPr>
          <a:xfrm>
            <a:off x="3615304" y="2057400"/>
            <a:ext cx="5791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3615304" y="3048000"/>
            <a:ext cx="5791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3615304" y="3581400"/>
            <a:ext cx="5791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a:off x="3615304" y="4267200"/>
            <a:ext cx="5791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a:off x="3615304" y="4800600"/>
            <a:ext cx="5791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a:off x="3615304" y="5486400"/>
            <a:ext cx="5791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a:off x="3615304" y="6096000"/>
            <a:ext cx="5791200"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2590800" y="1572400"/>
            <a:ext cx="914400" cy="2009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rot="16200000">
            <a:off x="2624438" y="2157798"/>
            <a:ext cx="923330" cy="838201"/>
          </a:xfrm>
          <a:prstGeom prst="rect">
            <a:avLst/>
          </a:prstGeom>
          <a:noFill/>
        </p:spPr>
        <p:txBody>
          <a:bodyPr vert="eaVert" wrap="square" rtlCol="0">
            <a:spAutoFit/>
          </a:bodyPr>
          <a:lstStyle/>
          <a:p>
            <a:pPr algn="ctr"/>
            <a:r>
              <a:rPr lang="en-US" sz="1200" b="1" dirty="0" smtClean="0">
                <a:solidFill>
                  <a:schemeClr val="bg1"/>
                </a:solidFill>
              </a:rPr>
              <a:t>Income and Property </a:t>
            </a:r>
          </a:p>
          <a:p>
            <a:pPr algn="ctr"/>
            <a:r>
              <a:rPr lang="en-US" sz="1200" b="1" dirty="0" smtClean="0">
                <a:solidFill>
                  <a:schemeClr val="bg1"/>
                </a:solidFill>
              </a:rPr>
              <a:t>Value Drivers</a:t>
            </a:r>
            <a:endParaRPr lang="en-US" sz="1200" b="1" dirty="0">
              <a:solidFill>
                <a:schemeClr val="bg1"/>
              </a:solidFill>
            </a:endParaRPr>
          </a:p>
        </p:txBody>
      </p:sp>
      <p:sp>
        <p:nvSpPr>
          <p:cNvPr id="59" name="Rectangle 58"/>
          <p:cNvSpPr/>
          <p:nvPr/>
        </p:nvSpPr>
        <p:spPr>
          <a:xfrm>
            <a:off x="2590800" y="3581400"/>
            <a:ext cx="914400" cy="327660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t>Loan Outcome and Loss Parameters</a:t>
            </a:r>
            <a:endParaRPr lang="en-US" sz="1200" b="1" dirty="0"/>
          </a:p>
        </p:txBody>
      </p:sp>
    </p:spTree>
    <p:extLst>
      <p:ext uri="{BB962C8B-B14F-4D97-AF65-F5344CB8AC3E}">
        <p14:creationId xmlns:p14="http://schemas.microsoft.com/office/powerpoint/2010/main" val="3769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4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 </a:t>
            </a:r>
            <a:r>
              <a:rPr lang="en-US" dirty="0"/>
              <a:t>Modeling</a:t>
            </a:r>
            <a:br>
              <a:rPr lang="en-US" dirty="0"/>
            </a:br>
            <a:r>
              <a:rPr lang="en-US" dirty="0" smtClean="0"/>
              <a:t>RESIDENTIAL LOANS VERSUS COMMERCIAL LOANS</a:t>
            </a:r>
            <a:endParaRPr lang="en-US" dirty="0"/>
          </a:p>
        </p:txBody>
      </p:sp>
      <p:sp>
        <p:nvSpPr>
          <p:cNvPr id="16" name="Content Placeholder 12"/>
          <p:cNvSpPr>
            <a:spLocks noGrp="1"/>
          </p:cNvSpPr>
          <p:nvPr>
            <p:ph idx="1"/>
          </p:nvPr>
        </p:nvSpPr>
        <p:spPr>
          <a:xfrm>
            <a:off x="293687" y="1235075"/>
            <a:ext cx="1839913" cy="5927725"/>
          </a:xfrm>
        </p:spPr>
        <p:txBody>
          <a:bodyPr/>
          <a:lstStyle/>
          <a:p>
            <a:pPr>
              <a:lnSpc>
                <a:spcPct val="100000"/>
              </a:lnSpc>
              <a:spcBef>
                <a:spcPts val="0"/>
              </a:spcBef>
            </a:pPr>
            <a:r>
              <a:rPr lang="en-US" sz="1200" b="0" dirty="0" smtClean="0">
                <a:solidFill>
                  <a:schemeClr val="tx1"/>
                </a:solidFill>
                <a:latin typeface="+mn-lt"/>
              </a:rPr>
              <a:t>There are some fundamental differences between modeling credit events for residential loans versus commercial loans. </a:t>
            </a:r>
          </a:p>
          <a:p>
            <a:pPr>
              <a:lnSpc>
                <a:spcPct val="100000"/>
              </a:lnSpc>
              <a:spcBef>
                <a:spcPts val="0"/>
              </a:spcBef>
            </a:pPr>
            <a:endParaRPr lang="en-US" sz="1200" b="0" dirty="0">
              <a:solidFill>
                <a:schemeClr val="tx1"/>
              </a:solidFill>
              <a:latin typeface="+mn-lt"/>
            </a:endParaRPr>
          </a:p>
          <a:p>
            <a:pPr>
              <a:lnSpc>
                <a:spcPct val="100000"/>
              </a:lnSpc>
              <a:spcBef>
                <a:spcPts val="0"/>
              </a:spcBef>
            </a:pPr>
            <a:r>
              <a:rPr lang="en-US" sz="1200" b="0" dirty="0" smtClean="0">
                <a:solidFill>
                  <a:schemeClr val="tx1"/>
                </a:solidFill>
                <a:latin typeface="+mn-lt"/>
              </a:rPr>
              <a:t>The smaller population of commercial mortgages, heterogeneity of the underlying properties/loans, and the potential for large single loans to have an outsized impact on the returns of a securitization (“concentration risk”) all lead to a modeling process that combines qualitative and quantitative measures.</a:t>
            </a:r>
          </a:p>
          <a:p>
            <a:pPr>
              <a:lnSpc>
                <a:spcPct val="100000"/>
              </a:lnSpc>
              <a:spcBef>
                <a:spcPts val="0"/>
              </a:spcBef>
            </a:pPr>
            <a:endParaRPr lang="en-US" sz="1200" b="0" dirty="0">
              <a:solidFill>
                <a:schemeClr val="tx1"/>
              </a:solidFill>
              <a:latin typeface="+mn-lt"/>
            </a:endParaRPr>
          </a:p>
          <a:p>
            <a:pPr>
              <a:lnSpc>
                <a:spcPct val="100000"/>
              </a:lnSpc>
              <a:spcBef>
                <a:spcPts val="0"/>
              </a:spcBef>
            </a:pPr>
            <a:endParaRPr lang="en-US" sz="1100" b="0" dirty="0">
              <a:solidFill>
                <a:schemeClr val="tx1"/>
              </a:solidFill>
            </a:endParaRPr>
          </a:p>
          <a:p>
            <a:endParaRPr lang="en-US" sz="1100" b="0" dirty="0" smtClean="0">
              <a:solidFill>
                <a:schemeClr val="tx1"/>
              </a:solidFill>
            </a:endParaRPr>
          </a:p>
          <a:p>
            <a:endParaRPr lang="en-US" sz="1100" b="0" dirty="0">
              <a:solidFill>
                <a:schemeClr val="tx1"/>
              </a:solidFill>
            </a:endParaRPr>
          </a:p>
          <a:p>
            <a:endParaRPr lang="en-US" sz="1100" dirty="0" smtClean="0"/>
          </a:p>
        </p:txBody>
      </p:sp>
      <p:sp>
        <p:nvSpPr>
          <p:cNvPr id="42" name="Rectangle 41"/>
          <p:cNvSpPr/>
          <p:nvPr/>
        </p:nvSpPr>
        <p:spPr>
          <a:xfrm>
            <a:off x="6324600" y="1405658"/>
            <a:ext cx="3505200" cy="5718930"/>
          </a:xfrm>
          <a:prstGeom prst="rect">
            <a:avLst/>
          </a:prstGeom>
          <a:solidFill>
            <a:schemeClr val="accent6">
              <a:lumMod val="20000"/>
              <a:lumOff val="8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2" name="Rectangle 11"/>
          <p:cNvSpPr/>
          <p:nvPr/>
        </p:nvSpPr>
        <p:spPr>
          <a:xfrm>
            <a:off x="3200400" y="1405658"/>
            <a:ext cx="3124200" cy="5718930"/>
          </a:xfrm>
          <a:prstGeom prst="rect">
            <a:avLst/>
          </a:prstGeom>
          <a:solidFill>
            <a:schemeClr val="accent3">
              <a:lumMod val="20000"/>
              <a:lumOff val="8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7" name="TextBox 6"/>
          <p:cNvSpPr txBox="1"/>
          <p:nvPr/>
        </p:nvSpPr>
        <p:spPr>
          <a:xfrm>
            <a:off x="3200400" y="1485491"/>
            <a:ext cx="3124200" cy="430887"/>
          </a:xfrm>
          <a:prstGeom prst="rect">
            <a:avLst/>
          </a:prstGeom>
          <a:noFill/>
        </p:spPr>
        <p:txBody>
          <a:bodyPr wrap="square" rtlCol="0">
            <a:spAutoFit/>
          </a:bodyPr>
          <a:lstStyle/>
          <a:p>
            <a:pPr marL="171450" indent="-171450">
              <a:buFont typeface="Arial" panose="020B0604020202020204" pitchFamily="34" charset="0"/>
              <a:buChar char="•"/>
            </a:pPr>
            <a:r>
              <a:rPr lang="en-US" sz="1100" dirty="0"/>
              <a:t>R</a:t>
            </a:r>
            <a:r>
              <a:rPr lang="en-US" sz="1100" dirty="0" smtClean="0"/>
              <a:t>elatively </a:t>
            </a:r>
            <a:r>
              <a:rPr lang="en-US" sz="1100" dirty="0"/>
              <a:t>homogeneous collateral - mortgages are secured by</a:t>
            </a:r>
            <a:r>
              <a:rPr lang="en-US" sz="1100" b="1" dirty="0"/>
              <a:t> single family residences</a:t>
            </a:r>
          </a:p>
        </p:txBody>
      </p:sp>
      <p:sp>
        <p:nvSpPr>
          <p:cNvPr id="33" name="TextBox 32"/>
          <p:cNvSpPr txBox="1"/>
          <p:nvPr/>
        </p:nvSpPr>
        <p:spPr>
          <a:xfrm>
            <a:off x="6400800" y="1486846"/>
            <a:ext cx="3429000" cy="600164"/>
          </a:xfrm>
          <a:prstGeom prst="rect">
            <a:avLst/>
          </a:prstGeom>
          <a:noFill/>
        </p:spPr>
        <p:txBody>
          <a:bodyPr wrap="square" rtlCol="0">
            <a:spAutoFit/>
          </a:bodyPr>
          <a:lstStyle/>
          <a:p>
            <a:pPr marL="171450" indent="-171450">
              <a:buFont typeface="Arial" panose="020B0604020202020204" pitchFamily="34" charset="0"/>
              <a:buChar char="•"/>
            </a:pPr>
            <a:r>
              <a:rPr lang="en-US" sz="1100" dirty="0"/>
              <a:t>M</a:t>
            </a:r>
            <a:r>
              <a:rPr lang="en-US" sz="1100" dirty="0" smtClean="0"/>
              <a:t>ore </a:t>
            </a:r>
            <a:r>
              <a:rPr lang="en-US" sz="1100" dirty="0"/>
              <a:t>heterogeneous collateral - mortgages are secured by a </a:t>
            </a:r>
            <a:r>
              <a:rPr lang="en-US" sz="1100" b="1" dirty="0"/>
              <a:t>variety of property types </a:t>
            </a:r>
            <a:r>
              <a:rPr lang="en-US" sz="1100" dirty="0"/>
              <a:t>including office, retail, multifamily, industry and hospitality</a:t>
            </a:r>
          </a:p>
        </p:txBody>
      </p:sp>
      <p:sp>
        <p:nvSpPr>
          <p:cNvPr id="34" name="TextBox 33"/>
          <p:cNvSpPr txBox="1"/>
          <p:nvPr/>
        </p:nvSpPr>
        <p:spPr>
          <a:xfrm>
            <a:off x="3200400" y="2214907"/>
            <a:ext cx="3124200" cy="430887"/>
          </a:xfrm>
          <a:prstGeom prst="rect">
            <a:avLst/>
          </a:prstGeom>
          <a:noFill/>
        </p:spPr>
        <p:txBody>
          <a:bodyPr wrap="square" rtlCol="0">
            <a:spAutoFit/>
          </a:bodyPr>
          <a:lstStyle/>
          <a:p>
            <a:pPr marL="171450" indent="-171450">
              <a:buFont typeface="Arial" panose="020B0604020202020204" pitchFamily="34" charset="0"/>
              <a:buChar char="•"/>
            </a:pPr>
            <a:r>
              <a:rPr lang="en-US" sz="1100" dirty="0"/>
              <a:t>Each </a:t>
            </a:r>
            <a:r>
              <a:rPr lang="en-US" sz="1100" dirty="0" smtClean="0"/>
              <a:t>RMBS securitization </a:t>
            </a:r>
            <a:r>
              <a:rPr lang="en-US" sz="1100" dirty="0"/>
              <a:t>typically contains </a:t>
            </a:r>
            <a:r>
              <a:rPr lang="en-US" sz="1100" b="1" dirty="0"/>
              <a:t>thousands of mortgages</a:t>
            </a:r>
          </a:p>
        </p:txBody>
      </p:sp>
      <p:sp>
        <p:nvSpPr>
          <p:cNvPr id="35" name="TextBox 34"/>
          <p:cNvSpPr txBox="1"/>
          <p:nvPr/>
        </p:nvSpPr>
        <p:spPr>
          <a:xfrm>
            <a:off x="6400800" y="2216261"/>
            <a:ext cx="3429000" cy="769441"/>
          </a:xfrm>
          <a:prstGeom prst="rect">
            <a:avLst/>
          </a:prstGeom>
          <a:noFill/>
        </p:spPr>
        <p:txBody>
          <a:bodyPr wrap="square" rtlCol="0">
            <a:spAutoFit/>
          </a:bodyPr>
          <a:lstStyle/>
          <a:p>
            <a:pPr marL="171450" indent="-171450">
              <a:buFont typeface="Arial" panose="020B0604020202020204" pitchFamily="34" charset="0"/>
              <a:buChar char="•"/>
            </a:pPr>
            <a:r>
              <a:rPr lang="en-US" sz="1100" dirty="0"/>
              <a:t>Most </a:t>
            </a:r>
            <a:r>
              <a:rPr lang="en-US" sz="1100" dirty="0" smtClean="0"/>
              <a:t>CMBS securitizations </a:t>
            </a:r>
            <a:r>
              <a:rPr lang="en-US" sz="1100" dirty="0"/>
              <a:t>contain approximately </a:t>
            </a:r>
            <a:r>
              <a:rPr lang="en-US" sz="1100" b="1" dirty="0"/>
              <a:t>15-300 mortgages</a:t>
            </a:r>
          </a:p>
          <a:p>
            <a:pPr marL="171450" indent="-171450">
              <a:buFont typeface="Arial" panose="020B0604020202020204" pitchFamily="34" charset="0"/>
              <a:buChar char="•"/>
            </a:pPr>
            <a:r>
              <a:rPr lang="en-US" sz="1100" dirty="0"/>
              <a:t>Generally the </a:t>
            </a:r>
            <a:r>
              <a:rPr lang="en-US" sz="1100" b="1" dirty="0"/>
              <a:t>top 15 </a:t>
            </a:r>
            <a:r>
              <a:rPr lang="en-US" sz="1100" dirty="0"/>
              <a:t>loans account for approximately 50% of the balance of a CMBS trust</a:t>
            </a:r>
          </a:p>
        </p:txBody>
      </p:sp>
      <p:cxnSp>
        <p:nvCxnSpPr>
          <p:cNvPr id="11" name="Straight Connector 10"/>
          <p:cNvCxnSpPr/>
          <p:nvPr/>
        </p:nvCxnSpPr>
        <p:spPr>
          <a:xfrm>
            <a:off x="3276600" y="2135072"/>
            <a:ext cx="6400800" cy="0"/>
          </a:xfrm>
          <a:prstGeom prst="line">
            <a:avLst/>
          </a:prstGeom>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3185693" y="4860084"/>
            <a:ext cx="3124200" cy="430887"/>
          </a:xfrm>
          <a:prstGeom prst="rect">
            <a:avLst/>
          </a:prstGeom>
          <a:noFill/>
        </p:spPr>
        <p:txBody>
          <a:bodyPr wrap="square" rtlCol="0">
            <a:spAutoFit/>
          </a:bodyPr>
          <a:lstStyle/>
          <a:p>
            <a:pPr marL="171450" indent="-171450">
              <a:buFont typeface="Arial" panose="020B0604020202020204" pitchFamily="34" charset="0"/>
              <a:buChar char="•"/>
            </a:pPr>
            <a:r>
              <a:rPr lang="en-US" sz="1100" dirty="0"/>
              <a:t>The default of a single mortgage </a:t>
            </a:r>
            <a:r>
              <a:rPr lang="en-US" sz="1100" b="1" dirty="0" smtClean="0"/>
              <a:t>rarely </a:t>
            </a:r>
            <a:r>
              <a:rPr lang="en-US" sz="1100" b="1" dirty="0"/>
              <a:t>materially </a:t>
            </a:r>
            <a:r>
              <a:rPr lang="en-US" sz="1100" b="1" dirty="0" smtClean="0"/>
              <a:t>impacts </a:t>
            </a:r>
            <a:r>
              <a:rPr lang="en-US" sz="1100" dirty="0"/>
              <a:t>deal performance</a:t>
            </a:r>
          </a:p>
        </p:txBody>
      </p:sp>
      <p:sp>
        <p:nvSpPr>
          <p:cNvPr id="44" name="TextBox 43"/>
          <p:cNvSpPr txBox="1"/>
          <p:nvPr/>
        </p:nvSpPr>
        <p:spPr>
          <a:xfrm>
            <a:off x="6386093" y="4861439"/>
            <a:ext cx="3429000" cy="600164"/>
          </a:xfrm>
          <a:prstGeom prst="rect">
            <a:avLst/>
          </a:prstGeom>
          <a:noFill/>
        </p:spPr>
        <p:txBody>
          <a:bodyPr wrap="square" rtlCol="0">
            <a:spAutoFit/>
          </a:bodyPr>
          <a:lstStyle/>
          <a:p>
            <a:pPr marL="171450" indent="-171450">
              <a:buFont typeface="Arial" panose="020B0604020202020204" pitchFamily="34" charset="0"/>
              <a:buChar char="•"/>
            </a:pPr>
            <a:r>
              <a:rPr lang="en-US" sz="1100" dirty="0"/>
              <a:t>The default of a single mortgage can have a </a:t>
            </a:r>
            <a:r>
              <a:rPr lang="en-US" sz="1100" b="1" dirty="0"/>
              <a:t>significant impact</a:t>
            </a:r>
            <a:r>
              <a:rPr lang="en-US" sz="1100" dirty="0"/>
              <a:t> </a:t>
            </a:r>
            <a:r>
              <a:rPr lang="en-US" sz="1100" dirty="0" smtClean="0"/>
              <a:t>on </a:t>
            </a:r>
            <a:r>
              <a:rPr lang="en-US" sz="1100" dirty="0"/>
              <a:t>the owners of all related CMBS tranches</a:t>
            </a:r>
          </a:p>
        </p:txBody>
      </p:sp>
      <p:cxnSp>
        <p:nvCxnSpPr>
          <p:cNvPr id="45" name="Straight Connector 44"/>
          <p:cNvCxnSpPr/>
          <p:nvPr/>
        </p:nvCxnSpPr>
        <p:spPr>
          <a:xfrm>
            <a:off x="3261893" y="4780249"/>
            <a:ext cx="6400800" cy="0"/>
          </a:xfrm>
          <a:prstGeom prst="line">
            <a:avLst/>
          </a:prstGeom>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3185693" y="5642435"/>
            <a:ext cx="3124200" cy="430887"/>
          </a:xfrm>
          <a:prstGeom prst="rect">
            <a:avLst/>
          </a:prstGeom>
          <a:noFill/>
        </p:spPr>
        <p:txBody>
          <a:bodyPr wrap="square" rtlCol="0">
            <a:spAutoFit/>
          </a:bodyPr>
          <a:lstStyle/>
          <a:p>
            <a:pPr marL="171450" indent="-171450">
              <a:buFont typeface="Arial" panose="020B0604020202020204" pitchFamily="34" charset="0"/>
              <a:buChar char="•"/>
            </a:pPr>
            <a:r>
              <a:rPr lang="en-US" sz="1100" dirty="0" smtClean="0"/>
              <a:t>Greater </a:t>
            </a:r>
            <a:r>
              <a:rPr lang="en-US" sz="1100" b="1" dirty="0"/>
              <a:t>consistency</a:t>
            </a:r>
            <a:r>
              <a:rPr lang="en-US" sz="1100" dirty="0"/>
              <a:t> in loan documentation for residential mortgages</a:t>
            </a:r>
          </a:p>
        </p:txBody>
      </p:sp>
      <p:sp>
        <p:nvSpPr>
          <p:cNvPr id="50" name="TextBox 49"/>
          <p:cNvSpPr txBox="1"/>
          <p:nvPr/>
        </p:nvSpPr>
        <p:spPr>
          <a:xfrm>
            <a:off x="6386093" y="5643789"/>
            <a:ext cx="3429000" cy="451439"/>
          </a:xfrm>
          <a:prstGeom prst="rect">
            <a:avLst/>
          </a:prstGeom>
          <a:noFill/>
        </p:spPr>
        <p:txBody>
          <a:bodyPr wrap="square" rtlCol="0">
            <a:spAutoFit/>
          </a:bodyPr>
          <a:lstStyle/>
          <a:p>
            <a:pPr marL="171450" indent="-171450">
              <a:buFont typeface="Arial" panose="020B0604020202020204" pitchFamily="34" charset="0"/>
              <a:buChar char="•"/>
            </a:pPr>
            <a:r>
              <a:rPr lang="en-US" sz="1100" dirty="0"/>
              <a:t>Loan documentation tends to be </a:t>
            </a:r>
            <a:r>
              <a:rPr lang="en-US" sz="1100" b="1" dirty="0"/>
              <a:t>unique</a:t>
            </a:r>
            <a:r>
              <a:rPr lang="en-US" sz="1100" dirty="0"/>
              <a:t> for each borrower/mortgage</a:t>
            </a:r>
          </a:p>
        </p:txBody>
      </p:sp>
      <p:cxnSp>
        <p:nvCxnSpPr>
          <p:cNvPr id="51" name="Straight Connector 50"/>
          <p:cNvCxnSpPr/>
          <p:nvPr/>
        </p:nvCxnSpPr>
        <p:spPr>
          <a:xfrm>
            <a:off x="3261893" y="5562600"/>
            <a:ext cx="6400800" cy="0"/>
          </a:xfrm>
          <a:prstGeom prst="line">
            <a:avLst/>
          </a:prstGeom>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3185693" y="6355147"/>
            <a:ext cx="3124200" cy="769441"/>
          </a:xfrm>
          <a:prstGeom prst="rect">
            <a:avLst/>
          </a:prstGeom>
          <a:noFill/>
        </p:spPr>
        <p:txBody>
          <a:bodyPr wrap="square" rtlCol="0">
            <a:spAutoFit/>
          </a:bodyPr>
          <a:lstStyle/>
          <a:p>
            <a:pPr marL="171450" indent="-171450">
              <a:buFont typeface="Arial" panose="020B0604020202020204" pitchFamily="34" charset="0"/>
              <a:buChar char="•"/>
            </a:pPr>
            <a:r>
              <a:rPr lang="en-US" sz="1100" dirty="0"/>
              <a:t>Modeling is typically based on </a:t>
            </a:r>
            <a:r>
              <a:rPr lang="en-US" sz="1100" dirty="0" smtClean="0"/>
              <a:t>the law </a:t>
            </a:r>
            <a:r>
              <a:rPr lang="en-US" sz="1100" dirty="0"/>
              <a:t>of large numbers, applying a </a:t>
            </a:r>
            <a:r>
              <a:rPr lang="en-US" sz="1100" b="1" dirty="0"/>
              <a:t>probabilistic approach </a:t>
            </a:r>
            <a:r>
              <a:rPr lang="en-US" sz="1100" dirty="0"/>
              <a:t>to projecting performance outcome (e.g. CDR, CPR, Severities, etc.)</a:t>
            </a:r>
          </a:p>
        </p:txBody>
      </p:sp>
      <p:sp>
        <p:nvSpPr>
          <p:cNvPr id="53" name="TextBox 52"/>
          <p:cNvSpPr txBox="1"/>
          <p:nvPr/>
        </p:nvSpPr>
        <p:spPr>
          <a:xfrm>
            <a:off x="6386093" y="6356502"/>
            <a:ext cx="3429000" cy="600164"/>
          </a:xfrm>
          <a:prstGeom prst="rect">
            <a:avLst/>
          </a:prstGeom>
          <a:noFill/>
        </p:spPr>
        <p:txBody>
          <a:bodyPr wrap="square" rtlCol="0">
            <a:spAutoFit/>
          </a:bodyPr>
          <a:lstStyle/>
          <a:p>
            <a:pPr marL="171450" indent="-171450">
              <a:buFont typeface="Arial" panose="020B0604020202020204" pitchFamily="34" charset="0"/>
              <a:buChar char="•"/>
            </a:pPr>
            <a:r>
              <a:rPr lang="en-US" sz="1100" dirty="0"/>
              <a:t>Commercial real estate is </a:t>
            </a:r>
            <a:r>
              <a:rPr lang="en-US" sz="1100" b="1" dirty="0"/>
              <a:t>less amenable </a:t>
            </a:r>
            <a:r>
              <a:rPr lang="en-US" sz="1100" dirty="0"/>
              <a:t>to statistical modeling due to </a:t>
            </a:r>
            <a:r>
              <a:rPr lang="en-US" sz="1100" dirty="0" smtClean="0"/>
              <a:t>the idiosyncratic </a:t>
            </a:r>
            <a:r>
              <a:rPr lang="en-US" sz="1100" dirty="0"/>
              <a:t>aspects of each underlying commercial property and mortgage</a:t>
            </a:r>
          </a:p>
        </p:txBody>
      </p:sp>
      <p:cxnSp>
        <p:nvCxnSpPr>
          <p:cNvPr id="54" name="Straight Connector 53"/>
          <p:cNvCxnSpPr/>
          <p:nvPr/>
        </p:nvCxnSpPr>
        <p:spPr>
          <a:xfrm>
            <a:off x="3261893" y="6275313"/>
            <a:ext cx="6400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3200400" y="1405658"/>
            <a:ext cx="3124200" cy="0"/>
          </a:xfrm>
          <a:prstGeom prst="line">
            <a:avLst/>
          </a:prstGeom>
          <a:ln w="28575"/>
        </p:spPr>
        <p:style>
          <a:lnRef idx="1">
            <a:schemeClr val="accent3"/>
          </a:lnRef>
          <a:fillRef idx="0">
            <a:schemeClr val="accent3"/>
          </a:fillRef>
          <a:effectRef idx="0">
            <a:schemeClr val="accent3"/>
          </a:effectRef>
          <a:fontRef idx="minor">
            <a:schemeClr val="tx1"/>
          </a:fontRef>
        </p:style>
      </p:cxnSp>
      <p:cxnSp>
        <p:nvCxnSpPr>
          <p:cNvPr id="55" name="Straight Connector 54"/>
          <p:cNvCxnSpPr/>
          <p:nvPr/>
        </p:nvCxnSpPr>
        <p:spPr>
          <a:xfrm>
            <a:off x="6324600" y="1405658"/>
            <a:ext cx="3505200" cy="0"/>
          </a:xfrm>
          <a:prstGeom prst="line">
            <a:avLst/>
          </a:prstGeom>
          <a:ln w="28575">
            <a:solidFill>
              <a:schemeClr val="accent1"/>
            </a:solidFill>
          </a:ln>
        </p:spPr>
        <p:style>
          <a:lnRef idx="1">
            <a:schemeClr val="accent3"/>
          </a:lnRef>
          <a:fillRef idx="0">
            <a:schemeClr val="accent3"/>
          </a:fillRef>
          <a:effectRef idx="0">
            <a:schemeClr val="accent3"/>
          </a:effectRef>
          <a:fontRef idx="minor">
            <a:schemeClr val="tx1"/>
          </a:fontRef>
        </p:style>
      </p:cxnSp>
      <p:sp>
        <p:nvSpPr>
          <p:cNvPr id="57" name="TextBox 56"/>
          <p:cNvSpPr txBox="1"/>
          <p:nvPr/>
        </p:nvSpPr>
        <p:spPr>
          <a:xfrm>
            <a:off x="3200400" y="1100858"/>
            <a:ext cx="1752600" cy="307777"/>
          </a:xfrm>
          <a:prstGeom prst="rect">
            <a:avLst/>
          </a:prstGeom>
          <a:noFill/>
        </p:spPr>
        <p:txBody>
          <a:bodyPr wrap="square" rtlCol="0">
            <a:spAutoFit/>
          </a:bodyPr>
          <a:lstStyle/>
          <a:p>
            <a:r>
              <a:rPr lang="en-US" sz="1400" b="1" dirty="0" smtClean="0"/>
              <a:t>RESIDENTIAL LOANS</a:t>
            </a:r>
            <a:endParaRPr lang="en-US" sz="1400" b="1" dirty="0"/>
          </a:p>
        </p:txBody>
      </p:sp>
      <p:sp>
        <p:nvSpPr>
          <p:cNvPr id="58" name="TextBox 57"/>
          <p:cNvSpPr txBox="1"/>
          <p:nvPr/>
        </p:nvSpPr>
        <p:spPr>
          <a:xfrm>
            <a:off x="6324600" y="1090328"/>
            <a:ext cx="1790700" cy="307777"/>
          </a:xfrm>
          <a:prstGeom prst="rect">
            <a:avLst/>
          </a:prstGeom>
          <a:noFill/>
        </p:spPr>
        <p:txBody>
          <a:bodyPr wrap="square" rtlCol="0">
            <a:spAutoFit/>
          </a:bodyPr>
          <a:lstStyle/>
          <a:p>
            <a:r>
              <a:rPr lang="en-US" sz="1400" b="1" dirty="0" smtClean="0"/>
              <a:t>COMMERCIAL LOANS</a:t>
            </a:r>
            <a:endParaRPr lang="en-US" sz="1400" b="1" dirty="0"/>
          </a:p>
        </p:txBody>
      </p:sp>
      <p:sp>
        <p:nvSpPr>
          <p:cNvPr id="63" name="TextBox 62"/>
          <p:cNvSpPr txBox="1"/>
          <p:nvPr/>
        </p:nvSpPr>
        <p:spPr>
          <a:xfrm rot="16200000">
            <a:off x="2436246" y="1930683"/>
            <a:ext cx="553998" cy="854489"/>
          </a:xfrm>
          <a:prstGeom prst="rect">
            <a:avLst/>
          </a:prstGeom>
          <a:noFill/>
        </p:spPr>
        <p:txBody>
          <a:bodyPr vert="eaVert" wrap="square" rtlCol="0">
            <a:spAutoFit/>
          </a:bodyPr>
          <a:lstStyle/>
          <a:p>
            <a:pPr algn="r"/>
            <a:r>
              <a:rPr lang="en-US" sz="1200" dirty="0"/>
              <a:t>Collateral</a:t>
            </a:r>
            <a:endParaRPr lang="en-US" sz="1200" dirty="0" smtClean="0"/>
          </a:p>
          <a:p>
            <a:pPr algn="r"/>
            <a:r>
              <a:rPr lang="en-US" sz="1200" dirty="0" smtClean="0"/>
              <a:t>Size</a:t>
            </a:r>
            <a:endParaRPr lang="en-US" sz="1200" dirty="0"/>
          </a:p>
        </p:txBody>
      </p:sp>
      <p:cxnSp>
        <p:nvCxnSpPr>
          <p:cNvPr id="65" name="Straight Connector 64"/>
          <p:cNvCxnSpPr/>
          <p:nvPr/>
        </p:nvCxnSpPr>
        <p:spPr>
          <a:xfrm>
            <a:off x="3140490" y="2173261"/>
            <a:ext cx="0" cy="36933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66" name="TextBox 65"/>
          <p:cNvSpPr txBox="1"/>
          <p:nvPr/>
        </p:nvSpPr>
        <p:spPr>
          <a:xfrm rot="16200000">
            <a:off x="2436247" y="1174747"/>
            <a:ext cx="553998" cy="854489"/>
          </a:xfrm>
          <a:prstGeom prst="rect">
            <a:avLst/>
          </a:prstGeom>
          <a:noFill/>
        </p:spPr>
        <p:txBody>
          <a:bodyPr vert="eaVert" wrap="square" rtlCol="0">
            <a:spAutoFit/>
          </a:bodyPr>
          <a:lstStyle/>
          <a:p>
            <a:pPr algn="r"/>
            <a:r>
              <a:rPr lang="en-US" sz="1200" dirty="0" smtClean="0"/>
              <a:t>Collateral</a:t>
            </a:r>
          </a:p>
          <a:p>
            <a:pPr algn="r"/>
            <a:r>
              <a:rPr lang="en-US" sz="1200" dirty="0" smtClean="0"/>
              <a:t>Type</a:t>
            </a:r>
            <a:endParaRPr lang="en-US" sz="1200" dirty="0"/>
          </a:p>
        </p:txBody>
      </p:sp>
      <p:cxnSp>
        <p:nvCxnSpPr>
          <p:cNvPr id="67" name="Straight Connector 66"/>
          <p:cNvCxnSpPr/>
          <p:nvPr/>
        </p:nvCxnSpPr>
        <p:spPr>
          <a:xfrm>
            <a:off x="3140491" y="1417325"/>
            <a:ext cx="0" cy="36933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69" name="TextBox 68"/>
          <p:cNvSpPr txBox="1"/>
          <p:nvPr/>
        </p:nvSpPr>
        <p:spPr>
          <a:xfrm rot="16200000">
            <a:off x="2421540" y="4596998"/>
            <a:ext cx="553998" cy="854489"/>
          </a:xfrm>
          <a:prstGeom prst="rect">
            <a:avLst/>
          </a:prstGeom>
          <a:noFill/>
        </p:spPr>
        <p:txBody>
          <a:bodyPr vert="eaVert" wrap="square" rtlCol="0">
            <a:spAutoFit/>
          </a:bodyPr>
          <a:lstStyle/>
          <a:p>
            <a:pPr algn="r"/>
            <a:r>
              <a:rPr lang="en-US" sz="1200" dirty="0" smtClean="0"/>
              <a:t>Default</a:t>
            </a:r>
          </a:p>
          <a:p>
            <a:pPr algn="r"/>
            <a:r>
              <a:rPr lang="en-US" sz="1200" dirty="0" smtClean="0"/>
              <a:t>Impact</a:t>
            </a:r>
            <a:endParaRPr lang="en-US" sz="1200" dirty="0"/>
          </a:p>
        </p:txBody>
      </p:sp>
      <p:cxnSp>
        <p:nvCxnSpPr>
          <p:cNvPr id="70" name="Straight Connector 69"/>
          <p:cNvCxnSpPr/>
          <p:nvPr/>
        </p:nvCxnSpPr>
        <p:spPr>
          <a:xfrm>
            <a:off x="3125784" y="4839576"/>
            <a:ext cx="0" cy="36933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1" name="TextBox 70"/>
          <p:cNvSpPr txBox="1"/>
          <p:nvPr/>
        </p:nvSpPr>
        <p:spPr>
          <a:xfrm rot="16200000">
            <a:off x="2513871" y="5380361"/>
            <a:ext cx="369332" cy="854489"/>
          </a:xfrm>
          <a:prstGeom prst="rect">
            <a:avLst/>
          </a:prstGeom>
          <a:noFill/>
        </p:spPr>
        <p:txBody>
          <a:bodyPr vert="eaVert" wrap="square" rtlCol="0">
            <a:spAutoFit/>
          </a:bodyPr>
          <a:lstStyle/>
          <a:p>
            <a:pPr algn="r"/>
            <a:r>
              <a:rPr lang="en-US" sz="1200" dirty="0" smtClean="0"/>
              <a:t>Documents</a:t>
            </a:r>
            <a:endParaRPr lang="en-US" sz="1200" dirty="0"/>
          </a:p>
        </p:txBody>
      </p:sp>
      <p:cxnSp>
        <p:nvCxnSpPr>
          <p:cNvPr id="72" name="Straight Connector 71"/>
          <p:cNvCxnSpPr/>
          <p:nvPr/>
        </p:nvCxnSpPr>
        <p:spPr>
          <a:xfrm>
            <a:off x="3125782" y="5622939"/>
            <a:ext cx="0" cy="36933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3" name="TextBox 72"/>
          <p:cNvSpPr txBox="1"/>
          <p:nvPr/>
        </p:nvSpPr>
        <p:spPr>
          <a:xfrm rot="16200000">
            <a:off x="2405249" y="6103385"/>
            <a:ext cx="553998" cy="854489"/>
          </a:xfrm>
          <a:prstGeom prst="rect">
            <a:avLst/>
          </a:prstGeom>
          <a:noFill/>
        </p:spPr>
        <p:txBody>
          <a:bodyPr vert="eaVert" wrap="square" rtlCol="0">
            <a:spAutoFit/>
          </a:bodyPr>
          <a:lstStyle/>
          <a:p>
            <a:pPr algn="r"/>
            <a:r>
              <a:rPr lang="en-US" sz="1200" dirty="0" smtClean="0"/>
              <a:t>Statistical</a:t>
            </a:r>
          </a:p>
          <a:p>
            <a:pPr algn="r"/>
            <a:r>
              <a:rPr lang="en-US" sz="1200" dirty="0" smtClean="0"/>
              <a:t>Modeling</a:t>
            </a:r>
            <a:endParaRPr lang="en-US" sz="1200" dirty="0"/>
          </a:p>
        </p:txBody>
      </p:sp>
      <p:cxnSp>
        <p:nvCxnSpPr>
          <p:cNvPr id="74" name="Straight Connector 73"/>
          <p:cNvCxnSpPr/>
          <p:nvPr/>
        </p:nvCxnSpPr>
        <p:spPr>
          <a:xfrm>
            <a:off x="3109493" y="6345963"/>
            <a:ext cx="0" cy="36933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6" name="Rectangle 35"/>
          <p:cNvSpPr/>
          <p:nvPr/>
        </p:nvSpPr>
        <p:spPr>
          <a:xfrm>
            <a:off x="877264" y="7349978"/>
            <a:ext cx="1297150" cy="230832"/>
          </a:xfrm>
          <a:prstGeom prst="rect">
            <a:avLst/>
          </a:prstGeom>
        </p:spPr>
        <p:txBody>
          <a:bodyPr wrap="none">
            <a:spAutoFit/>
          </a:bodyPr>
          <a:lstStyle/>
          <a:p>
            <a:r>
              <a:rPr lang="en-US" sz="900" dirty="0"/>
              <a:t>Source: </a:t>
            </a:r>
            <a:r>
              <a:rPr lang="en-US" sz="900" dirty="0" smtClean="0"/>
              <a:t>Blackrock, Cello</a:t>
            </a:r>
            <a:endParaRPr lang="en-US" sz="900" dirty="0"/>
          </a:p>
        </p:txBody>
      </p:sp>
      <p:sp>
        <p:nvSpPr>
          <p:cNvPr id="37" name="TextBox 36"/>
          <p:cNvSpPr txBox="1"/>
          <p:nvPr/>
        </p:nvSpPr>
        <p:spPr>
          <a:xfrm>
            <a:off x="3218482" y="3095909"/>
            <a:ext cx="3124200" cy="261610"/>
          </a:xfrm>
          <a:prstGeom prst="rect">
            <a:avLst/>
          </a:prstGeom>
          <a:noFill/>
        </p:spPr>
        <p:txBody>
          <a:bodyPr wrap="square" rtlCol="0">
            <a:spAutoFit/>
          </a:bodyPr>
          <a:lstStyle/>
          <a:p>
            <a:pPr marL="171450" indent="-171450">
              <a:buFont typeface="Arial" panose="020B0604020202020204" pitchFamily="34" charset="0"/>
              <a:buChar char="•"/>
            </a:pPr>
            <a:r>
              <a:rPr lang="en-US" sz="1100" dirty="0" smtClean="0"/>
              <a:t>Primarily fixed-rate </a:t>
            </a:r>
            <a:r>
              <a:rPr lang="en-US" sz="1100" b="1" dirty="0" smtClean="0"/>
              <a:t>level-payment</a:t>
            </a:r>
            <a:r>
              <a:rPr lang="en-US" sz="1100" dirty="0" smtClean="0"/>
              <a:t> mortgages.</a:t>
            </a:r>
            <a:endParaRPr lang="en-US" sz="1100" dirty="0"/>
          </a:p>
        </p:txBody>
      </p:sp>
      <p:sp>
        <p:nvSpPr>
          <p:cNvPr id="38" name="TextBox 37"/>
          <p:cNvSpPr txBox="1"/>
          <p:nvPr/>
        </p:nvSpPr>
        <p:spPr>
          <a:xfrm>
            <a:off x="6418882" y="3097264"/>
            <a:ext cx="3429000" cy="600164"/>
          </a:xfrm>
          <a:prstGeom prst="rect">
            <a:avLst/>
          </a:prstGeom>
          <a:noFill/>
        </p:spPr>
        <p:txBody>
          <a:bodyPr wrap="square" rtlCol="0">
            <a:spAutoFit/>
          </a:bodyPr>
          <a:lstStyle/>
          <a:p>
            <a:pPr marL="171450" indent="-171450">
              <a:buFont typeface="Arial" panose="020B0604020202020204" pitchFamily="34" charset="0"/>
              <a:buChar char="•"/>
            </a:pPr>
            <a:r>
              <a:rPr lang="en-US" sz="1100" dirty="0" smtClean="0"/>
              <a:t>Usually a partially amortized </a:t>
            </a:r>
            <a:r>
              <a:rPr lang="en-US" sz="1100" b="1" dirty="0" smtClean="0"/>
              <a:t>balloon </a:t>
            </a:r>
            <a:r>
              <a:rPr lang="en-US" sz="1100" dirty="0" smtClean="0"/>
              <a:t>mortgage with 25 to 30 year amortization of principal and 5 to 10 year maturity.</a:t>
            </a:r>
            <a:endParaRPr lang="en-US" sz="1100" dirty="0"/>
          </a:p>
        </p:txBody>
      </p:sp>
      <p:cxnSp>
        <p:nvCxnSpPr>
          <p:cNvPr id="39" name="Straight Connector 38"/>
          <p:cNvCxnSpPr/>
          <p:nvPr/>
        </p:nvCxnSpPr>
        <p:spPr>
          <a:xfrm>
            <a:off x="3294682" y="3016074"/>
            <a:ext cx="6400800" cy="0"/>
          </a:xfrm>
          <a:prstGeom prst="line">
            <a:avLst/>
          </a:prstGeom>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3218482" y="3949230"/>
            <a:ext cx="3124200" cy="430887"/>
          </a:xfrm>
          <a:prstGeom prst="rect">
            <a:avLst/>
          </a:prstGeom>
          <a:noFill/>
        </p:spPr>
        <p:txBody>
          <a:bodyPr wrap="square" rtlCol="0">
            <a:spAutoFit/>
          </a:bodyPr>
          <a:lstStyle/>
          <a:p>
            <a:pPr marL="171450" indent="-171450">
              <a:buFont typeface="Arial" panose="020B0604020202020204" pitchFamily="34" charset="0"/>
              <a:buChar char="•"/>
            </a:pPr>
            <a:r>
              <a:rPr lang="en-US" sz="1100" dirty="0" smtClean="0"/>
              <a:t>Substantial because of the </a:t>
            </a:r>
            <a:r>
              <a:rPr lang="en-US" sz="1100" b="1" dirty="0" smtClean="0"/>
              <a:t>absence of prepayment penalties</a:t>
            </a:r>
            <a:r>
              <a:rPr lang="en-US" sz="1100" dirty="0" smtClean="0"/>
              <a:t>.</a:t>
            </a:r>
            <a:endParaRPr lang="en-US" sz="1100" dirty="0"/>
          </a:p>
        </p:txBody>
      </p:sp>
      <p:sp>
        <p:nvSpPr>
          <p:cNvPr id="41" name="TextBox 40"/>
          <p:cNvSpPr txBox="1"/>
          <p:nvPr/>
        </p:nvSpPr>
        <p:spPr>
          <a:xfrm>
            <a:off x="6418882" y="3950584"/>
            <a:ext cx="3429000" cy="600164"/>
          </a:xfrm>
          <a:prstGeom prst="rect">
            <a:avLst/>
          </a:prstGeom>
          <a:noFill/>
        </p:spPr>
        <p:txBody>
          <a:bodyPr wrap="square" rtlCol="0">
            <a:spAutoFit/>
          </a:bodyPr>
          <a:lstStyle/>
          <a:p>
            <a:pPr marL="171450" indent="-171450">
              <a:buFont typeface="Arial" panose="020B0604020202020204" pitchFamily="34" charset="0"/>
              <a:buChar char="•"/>
            </a:pPr>
            <a:r>
              <a:rPr lang="en-US" sz="1100" b="1" dirty="0" smtClean="0"/>
              <a:t>Minimal impact </a:t>
            </a:r>
            <a:r>
              <a:rPr lang="en-US" sz="1100" dirty="0" smtClean="0"/>
              <a:t>because of stringent prepayment penalties including lock-outs, points, yield maintenance, and defeasance.</a:t>
            </a:r>
            <a:endParaRPr lang="en-US" sz="1100" dirty="0"/>
          </a:p>
        </p:txBody>
      </p:sp>
      <p:cxnSp>
        <p:nvCxnSpPr>
          <p:cNvPr id="46" name="Straight Connector 45"/>
          <p:cNvCxnSpPr/>
          <p:nvPr/>
        </p:nvCxnSpPr>
        <p:spPr>
          <a:xfrm>
            <a:off x="3294682" y="3869395"/>
            <a:ext cx="6400800" cy="0"/>
          </a:xfrm>
          <a:prstGeom prst="line">
            <a:avLst/>
          </a:prstGeom>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rot="16200000">
            <a:off x="2454329" y="2832823"/>
            <a:ext cx="553998" cy="854489"/>
          </a:xfrm>
          <a:prstGeom prst="rect">
            <a:avLst/>
          </a:prstGeom>
          <a:noFill/>
        </p:spPr>
        <p:txBody>
          <a:bodyPr vert="eaVert" wrap="square" rtlCol="0">
            <a:spAutoFit/>
          </a:bodyPr>
          <a:lstStyle/>
          <a:p>
            <a:pPr algn="r"/>
            <a:r>
              <a:rPr lang="en-US" sz="1200" dirty="0" smtClean="0"/>
              <a:t>Loan</a:t>
            </a:r>
          </a:p>
          <a:p>
            <a:pPr algn="r"/>
            <a:r>
              <a:rPr lang="en-US" sz="1200" dirty="0" smtClean="0"/>
              <a:t>Type</a:t>
            </a:r>
            <a:endParaRPr lang="en-US" sz="1200" dirty="0"/>
          </a:p>
        </p:txBody>
      </p:sp>
      <p:cxnSp>
        <p:nvCxnSpPr>
          <p:cNvPr id="56" name="Straight Connector 55"/>
          <p:cNvCxnSpPr/>
          <p:nvPr/>
        </p:nvCxnSpPr>
        <p:spPr>
          <a:xfrm>
            <a:off x="3158573" y="3075401"/>
            <a:ext cx="0" cy="36933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rot="16200000">
            <a:off x="2454327" y="3687156"/>
            <a:ext cx="553998" cy="854489"/>
          </a:xfrm>
          <a:prstGeom prst="rect">
            <a:avLst/>
          </a:prstGeom>
          <a:noFill/>
        </p:spPr>
        <p:txBody>
          <a:bodyPr vert="eaVert" wrap="square" rtlCol="0">
            <a:spAutoFit/>
          </a:bodyPr>
          <a:lstStyle/>
          <a:p>
            <a:pPr algn="r"/>
            <a:r>
              <a:rPr lang="en-US" sz="1200" dirty="0" smtClean="0"/>
              <a:t>Prepayment</a:t>
            </a:r>
          </a:p>
          <a:p>
            <a:pPr algn="r"/>
            <a:r>
              <a:rPr lang="en-US" sz="1200" dirty="0" smtClean="0"/>
              <a:t>Impact</a:t>
            </a:r>
            <a:endParaRPr lang="en-US" sz="1200" dirty="0"/>
          </a:p>
        </p:txBody>
      </p:sp>
      <p:cxnSp>
        <p:nvCxnSpPr>
          <p:cNvPr id="60" name="Straight Connector 59"/>
          <p:cNvCxnSpPr/>
          <p:nvPr/>
        </p:nvCxnSpPr>
        <p:spPr>
          <a:xfrm>
            <a:off x="3158571" y="3929734"/>
            <a:ext cx="0" cy="369333"/>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273180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p:cNvSpPr/>
          <p:nvPr/>
        </p:nvSpPr>
        <p:spPr>
          <a:xfrm>
            <a:off x="2743200" y="1447800"/>
            <a:ext cx="6591300" cy="1371600"/>
          </a:xfrm>
          <a:prstGeom prst="rect">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0"/>
          <p:cNvSpPr>
            <a:spLocks noGrp="1"/>
          </p:cNvSpPr>
          <p:nvPr>
            <p:ph type="title"/>
          </p:nvPr>
        </p:nvSpPr>
        <p:spPr/>
        <p:txBody>
          <a:bodyPr/>
          <a:lstStyle/>
          <a:p>
            <a:r>
              <a:rPr lang="en-US" dirty="0" smtClean="0"/>
              <a:t>CRE </a:t>
            </a:r>
            <a:r>
              <a:rPr lang="en-US" dirty="0"/>
              <a:t>Modeling</a:t>
            </a:r>
            <a:br>
              <a:rPr lang="en-US" dirty="0"/>
            </a:br>
            <a:r>
              <a:rPr lang="en-US" dirty="0" smtClean="0"/>
              <a:t>FORECASTING Loan </a:t>
            </a:r>
            <a:r>
              <a:rPr lang="en-US" dirty="0" err="1" smtClean="0"/>
              <a:t>outcomeS</a:t>
            </a:r>
            <a:r>
              <a:rPr lang="en-US" dirty="0"/>
              <a:t/>
            </a:r>
            <a:br>
              <a:rPr lang="en-US" dirty="0"/>
            </a:br>
            <a:endParaRPr lang="en-US" dirty="0"/>
          </a:p>
        </p:txBody>
      </p:sp>
      <p:sp>
        <p:nvSpPr>
          <p:cNvPr id="118" name="Content Placeholder 12"/>
          <p:cNvSpPr>
            <a:spLocks noGrp="1"/>
          </p:cNvSpPr>
          <p:nvPr>
            <p:ph idx="1"/>
          </p:nvPr>
        </p:nvSpPr>
        <p:spPr>
          <a:xfrm>
            <a:off x="293687" y="1235075"/>
            <a:ext cx="1839913" cy="5150336"/>
          </a:xfrm>
        </p:spPr>
        <p:txBody>
          <a:bodyPr/>
          <a:lstStyle/>
          <a:p>
            <a:pPr>
              <a:lnSpc>
                <a:spcPct val="100000"/>
              </a:lnSpc>
              <a:spcBef>
                <a:spcPts val="0"/>
              </a:spcBef>
            </a:pPr>
            <a:r>
              <a:rPr lang="en-US" sz="1100" b="0" dirty="0" smtClean="0">
                <a:solidFill>
                  <a:schemeClr val="tx1"/>
                </a:solidFill>
              </a:rPr>
              <a:t>Outcomes for CRE loans are triggered by the financial condition of the collateral. </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smtClean="0">
                <a:solidFill>
                  <a:schemeClr val="tx1"/>
                </a:solidFill>
              </a:rPr>
              <a:t>The two standard triggers that play a significant role in determining loan outcomes are:</a:t>
            </a:r>
          </a:p>
          <a:p>
            <a:pPr>
              <a:lnSpc>
                <a:spcPct val="100000"/>
              </a:lnSpc>
              <a:spcBef>
                <a:spcPts val="0"/>
              </a:spcBef>
            </a:pPr>
            <a:endParaRPr lang="en-US" sz="1100" b="0" dirty="0">
              <a:solidFill>
                <a:schemeClr val="tx1"/>
              </a:solidFill>
            </a:endParaRPr>
          </a:p>
          <a:p>
            <a:pPr marL="228600" indent="-228600">
              <a:lnSpc>
                <a:spcPct val="100000"/>
              </a:lnSpc>
              <a:spcBef>
                <a:spcPts val="0"/>
              </a:spcBef>
              <a:buAutoNum type="arabicParenBoth"/>
            </a:pPr>
            <a:r>
              <a:rPr lang="en-US" sz="1100" b="0" dirty="0" smtClean="0">
                <a:solidFill>
                  <a:schemeClr val="tx1"/>
                </a:solidFill>
              </a:rPr>
              <a:t>Whether the DSCR &lt; 1.0 </a:t>
            </a:r>
          </a:p>
          <a:p>
            <a:pPr marL="228600" indent="-228600">
              <a:lnSpc>
                <a:spcPct val="100000"/>
              </a:lnSpc>
              <a:spcBef>
                <a:spcPts val="0"/>
              </a:spcBef>
              <a:buAutoNum type="arabicParenBoth"/>
            </a:pPr>
            <a:r>
              <a:rPr lang="en-US" sz="1100" b="0" dirty="0" smtClean="0">
                <a:solidFill>
                  <a:schemeClr val="tx1"/>
                </a:solidFill>
              </a:rPr>
              <a:t>Whether the LTV &gt; 100%</a:t>
            </a:r>
          </a:p>
          <a:p>
            <a:pPr>
              <a:lnSpc>
                <a:spcPct val="100000"/>
              </a:lnSpc>
              <a:spcBef>
                <a:spcPts val="0"/>
              </a:spcBef>
            </a:pPr>
            <a:endParaRPr lang="en-US" sz="1100" b="0" dirty="0" smtClean="0">
              <a:solidFill>
                <a:schemeClr val="tx1"/>
              </a:solidFill>
            </a:endParaRPr>
          </a:p>
          <a:p>
            <a:pPr>
              <a:lnSpc>
                <a:spcPct val="100000"/>
              </a:lnSpc>
              <a:spcBef>
                <a:spcPts val="0"/>
              </a:spcBef>
            </a:pPr>
            <a:r>
              <a:rPr lang="en-US" sz="1100" b="0" dirty="0" smtClean="0">
                <a:solidFill>
                  <a:schemeClr val="tx1"/>
                </a:solidFill>
              </a:rPr>
              <a:t>A credit or default event for a CRE loan is </a:t>
            </a:r>
            <a:r>
              <a:rPr lang="en-US" sz="1100" dirty="0" smtClean="0">
                <a:solidFill>
                  <a:schemeClr val="tx1"/>
                </a:solidFill>
              </a:rPr>
              <a:t>doubly triggered </a:t>
            </a:r>
            <a:r>
              <a:rPr lang="en-US" sz="1100" b="0" dirty="0" smtClean="0">
                <a:solidFill>
                  <a:schemeClr val="tx1"/>
                </a:solidFill>
              </a:rPr>
              <a:t>by: (1) The NOI falling below the total debt service and (2) The property market value falling below the total outstanding loan balance.</a:t>
            </a:r>
          </a:p>
          <a:p>
            <a:pPr>
              <a:lnSpc>
                <a:spcPct val="100000"/>
              </a:lnSpc>
              <a:spcBef>
                <a:spcPts val="0"/>
              </a:spcBef>
            </a:pPr>
            <a:endParaRPr lang="en-US" sz="1100" b="0" dirty="0">
              <a:solidFill>
                <a:schemeClr val="tx1"/>
              </a:solidFill>
            </a:endParaRPr>
          </a:p>
        </p:txBody>
      </p:sp>
      <p:sp>
        <p:nvSpPr>
          <p:cNvPr id="119" name="Rectangle 118"/>
          <p:cNvSpPr/>
          <p:nvPr/>
        </p:nvSpPr>
        <p:spPr>
          <a:xfrm>
            <a:off x="4648200" y="3352800"/>
            <a:ext cx="2286000" cy="381000"/>
          </a:xfrm>
          <a:prstGeom prst="rect">
            <a:avLst/>
          </a:prstGeom>
          <a:noFill/>
          <a:ln w="12700">
            <a:solidFill>
              <a:schemeClr val="accent2">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solidFill>
                  <a:schemeClr val="tx1"/>
                </a:solidFill>
              </a:rPr>
              <a:t>Is DSCR &lt; DSCR Default Trigger?</a:t>
            </a:r>
            <a:endParaRPr lang="en-US" sz="1000" dirty="0">
              <a:solidFill>
                <a:schemeClr val="tx1"/>
              </a:solidFill>
            </a:endParaRPr>
          </a:p>
        </p:txBody>
      </p:sp>
      <p:sp>
        <p:nvSpPr>
          <p:cNvPr id="120" name="Rectangle 119"/>
          <p:cNvSpPr/>
          <p:nvPr/>
        </p:nvSpPr>
        <p:spPr>
          <a:xfrm>
            <a:off x="3352800" y="4191000"/>
            <a:ext cx="1676400" cy="381000"/>
          </a:xfrm>
          <a:prstGeom prst="rect">
            <a:avLst/>
          </a:prstGeom>
          <a:noFill/>
          <a:ln w="12700">
            <a:solidFill>
              <a:schemeClr val="accent2">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solidFill>
                  <a:schemeClr val="tx1"/>
                </a:solidFill>
              </a:rPr>
              <a:t>Is loan at maturity?</a:t>
            </a:r>
            <a:endParaRPr lang="en-US" sz="1000" dirty="0">
              <a:solidFill>
                <a:schemeClr val="tx1"/>
              </a:solidFill>
            </a:endParaRPr>
          </a:p>
        </p:txBody>
      </p:sp>
      <p:sp>
        <p:nvSpPr>
          <p:cNvPr id="121" name="Rectangle 120"/>
          <p:cNvSpPr/>
          <p:nvPr/>
        </p:nvSpPr>
        <p:spPr>
          <a:xfrm>
            <a:off x="3352800" y="4914900"/>
            <a:ext cx="1676400" cy="381000"/>
          </a:xfrm>
          <a:prstGeom prst="rect">
            <a:avLst/>
          </a:prstGeom>
          <a:noFill/>
          <a:ln w="12700">
            <a:solidFill>
              <a:schemeClr val="accent2">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solidFill>
                  <a:schemeClr val="tx1"/>
                </a:solidFill>
              </a:rPr>
              <a:t>Is loan LTV &lt; pay-off LTV requirement?</a:t>
            </a:r>
          </a:p>
        </p:txBody>
      </p:sp>
      <p:sp>
        <p:nvSpPr>
          <p:cNvPr id="122" name="Rectangle 121"/>
          <p:cNvSpPr/>
          <p:nvPr/>
        </p:nvSpPr>
        <p:spPr>
          <a:xfrm>
            <a:off x="3352800" y="5638800"/>
            <a:ext cx="1676400" cy="381000"/>
          </a:xfrm>
          <a:prstGeom prst="rect">
            <a:avLst/>
          </a:prstGeom>
          <a:noFill/>
          <a:ln w="12700">
            <a:solidFill>
              <a:schemeClr val="accent2">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solidFill>
                  <a:schemeClr val="tx1"/>
                </a:solidFill>
              </a:rPr>
              <a:t>Is Loan LTV &lt; extension LTV limit?</a:t>
            </a:r>
            <a:endParaRPr lang="en-US" sz="1000" dirty="0">
              <a:solidFill>
                <a:schemeClr val="tx1"/>
              </a:solidFill>
            </a:endParaRPr>
          </a:p>
        </p:txBody>
      </p:sp>
      <p:sp>
        <p:nvSpPr>
          <p:cNvPr id="123" name="Rectangle 122"/>
          <p:cNvSpPr/>
          <p:nvPr/>
        </p:nvSpPr>
        <p:spPr>
          <a:xfrm>
            <a:off x="6858000" y="5256322"/>
            <a:ext cx="1066800" cy="805914"/>
          </a:xfrm>
          <a:prstGeom prst="rect">
            <a:avLst/>
          </a:prstGeom>
          <a:noFill/>
          <a:ln w="12700">
            <a:solidFill>
              <a:schemeClr val="accent2">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solidFill>
                  <a:schemeClr val="tx1"/>
                </a:solidFill>
              </a:rPr>
              <a:t>At extension maturity is </a:t>
            </a:r>
          </a:p>
          <a:p>
            <a:pPr algn="ctr"/>
            <a:r>
              <a:rPr lang="en-US" sz="1000" dirty="0" smtClean="0">
                <a:solidFill>
                  <a:schemeClr val="tx1"/>
                </a:solidFill>
              </a:rPr>
              <a:t>LTV &lt; Refinance Threshold?</a:t>
            </a:r>
            <a:endParaRPr lang="en-US" sz="1000" dirty="0">
              <a:solidFill>
                <a:schemeClr val="tx1"/>
              </a:solidFill>
            </a:endParaRPr>
          </a:p>
        </p:txBody>
      </p:sp>
      <p:cxnSp>
        <p:nvCxnSpPr>
          <p:cNvPr id="124" name="Elbow Connector 123"/>
          <p:cNvCxnSpPr>
            <a:stCxn id="119" idx="2"/>
            <a:endCxn id="120" idx="0"/>
          </p:cNvCxnSpPr>
          <p:nvPr/>
        </p:nvCxnSpPr>
        <p:spPr>
          <a:xfrm rot="5400000">
            <a:off x="4762500" y="3162300"/>
            <a:ext cx="457200" cy="1600200"/>
          </a:xfrm>
          <a:prstGeom prst="bentConnector3">
            <a:avLst/>
          </a:prstGeom>
          <a:ln w="12700">
            <a:solidFill>
              <a:schemeClr val="accent2">
                <a:lumMod val="50000"/>
              </a:schemeClr>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125" name="Straight Connector 124"/>
          <p:cNvCxnSpPr>
            <a:stCxn id="120" idx="2"/>
            <a:endCxn id="121" idx="0"/>
          </p:cNvCxnSpPr>
          <p:nvPr/>
        </p:nvCxnSpPr>
        <p:spPr>
          <a:xfrm>
            <a:off x="4191000" y="4572000"/>
            <a:ext cx="0" cy="342900"/>
          </a:xfrm>
          <a:prstGeom prst="line">
            <a:avLst/>
          </a:prstGeom>
          <a:ln w="12700">
            <a:solidFill>
              <a:schemeClr val="accent2">
                <a:lumMod val="50000"/>
              </a:schemeClr>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126" name="Straight Connector 125"/>
          <p:cNvCxnSpPr>
            <a:stCxn id="121" idx="2"/>
            <a:endCxn id="122" idx="0"/>
          </p:cNvCxnSpPr>
          <p:nvPr/>
        </p:nvCxnSpPr>
        <p:spPr>
          <a:xfrm>
            <a:off x="4191000" y="5295900"/>
            <a:ext cx="0" cy="342900"/>
          </a:xfrm>
          <a:prstGeom prst="line">
            <a:avLst/>
          </a:prstGeom>
          <a:ln w="12700">
            <a:solidFill>
              <a:schemeClr val="accent2">
                <a:lumMod val="50000"/>
              </a:schemeClr>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127" name="Elbow Connector 126"/>
          <p:cNvCxnSpPr>
            <a:stCxn id="120" idx="3"/>
            <a:endCxn id="119" idx="3"/>
          </p:cNvCxnSpPr>
          <p:nvPr/>
        </p:nvCxnSpPr>
        <p:spPr>
          <a:xfrm flipV="1">
            <a:off x="5029200" y="3543300"/>
            <a:ext cx="1905000" cy="838200"/>
          </a:xfrm>
          <a:prstGeom prst="bentConnector3">
            <a:avLst>
              <a:gd name="adj1" fmla="val 112000"/>
            </a:avLst>
          </a:prstGeom>
          <a:ln w="12700">
            <a:solidFill>
              <a:schemeClr val="accent2">
                <a:lumMod val="50000"/>
              </a:schemeClr>
            </a:solidFill>
            <a:prstDash val="lgDash"/>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8" name="Oval 127"/>
          <p:cNvSpPr/>
          <p:nvPr/>
        </p:nvSpPr>
        <p:spPr>
          <a:xfrm>
            <a:off x="5562600" y="4915333"/>
            <a:ext cx="914400" cy="381000"/>
          </a:xfrm>
          <a:prstGeom prst="ellipse">
            <a:avLst/>
          </a:prstGeom>
          <a:solidFill>
            <a:srgbClr val="DFF5EB"/>
          </a:solidFill>
          <a:ln w="12700">
            <a:solidFill>
              <a:srgbClr val="2E8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rPr>
              <a:t>Loan pays off</a:t>
            </a:r>
            <a:endParaRPr lang="en-US" sz="1000" dirty="0">
              <a:solidFill>
                <a:schemeClr val="tx1"/>
              </a:solidFill>
            </a:endParaRPr>
          </a:p>
        </p:txBody>
      </p:sp>
      <p:sp>
        <p:nvSpPr>
          <p:cNvPr id="129" name="Oval 128"/>
          <p:cNvSpPr/>
          <p:nvPr/>
        </p:nvSpPr>
        <p:spPr>
          <a:xfrm>
            <a:off x="5562600" y="5638800"/>
            <a:ext cx="1005840" cy="381000"/>
          </a:xfrm>
          <a:prstGeom prst="ellipse">
            <a:avLst/>
          </a:prstGeom>
          <a:solidFill>
            <a:srgbClr val="F4E0D0"/>
          </a:solidFill>
          <a:ln w="12700">
            <a:solidFill>
              <a:srgbClr val="C664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rPr>
              <a:t>Maturity</a:t>
            </a:r>
          </a:p>
          <a:p>
            <a:pPr algn="ctr"/>
            <a:r>
              <a:rPr lang="en-US" sz="1000" dirty="0" smtClean="0">
                <a:solidFill>
                  <a:schemeClr val="tx1"/>
                </a:solidFill>
              </a:rPr>
              <a:t>Extension</a:t>
            </a:r>
            <a:endParaRPr lang="en-US" sz="1000" dirty="0">
              <a:solidFill>
                <a:schemeClr val="tx1"/>
              </a:solidFill>
            </a:endParaRPr>
          </a:p>
        </p:txBody>
      </p:sp>
      <p:sp>
        <p:nvSpPr>
          <p:cNvPr id="130" name="Oval 129"/>
          <p:cNvSpPr/>
          <p:nvPr/>
        </p:nvSpPr>
        <p:spPr>
          <a:xfrm>
            <a:off x="8382000" y="5638800"/>
            <a:ext cx="914400" cy="381000"/>
          </a:xfrm>
          <a:prstGeom prst="ellipse">
            <a:avLst/>
          </a:prstGeom>
          <a:solidFill>
            <a:srgbClr val="DFF5EB"/>
          </a:solidFill>
          <a:ln w="12700">
            <a:solidFill>
              <a:srgbClr val="2E8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rPr>
              <a:t>Loan pays off</a:t>
            </a:r>
            <a:endParaRPr lang="en-US" sz="1000" dirty="0">
              <a:solidFill>
                <a:schemeClr val="tx1"/>
              </a:solidFill>
            </a:endParaRPr>
          </a:p>
        </p:txBody>
      </p:sp>
      <p:sp>
        <p:nvSpPr>
          <p:cNvPr id="131" name="Oval 130"/>
          <p:cNvSpPr/>
          <p:nvPr/>
        </p:nvSpPr>
        <p:spPr>
          <a:xfrm>
            <a:off x="2438400" y="6515100"/>
            <a:ext cx="914400" cy="381000"/>
          </a:xfrm>
          <a:prstGeom prst="ellipse">
            <a:avLst/>
          </a:prstGeom>
          <a:solidFill>
            <a:srgbClr val="F4E0D0"/>
          </a:solidFill>
          <a:ln w="12700">
            <a:solidFill>
              <a:srgbClr val="C664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rgbClr val="000000"/>
                </a:solidFill>
              </a:rPr>
              <a:t>Term Default</a:t>
            </a:r>
            <a:endParaRPr lang="en-US" sz="1000" dirty="0">
              <a:solidFill>
                <a:srgbClr val="000000"/>
              </a:solidFill>
            </a:endParaRPr>
          </a:p>
        </p:txBody>
      </p:sp>
      <p:sp>
        <p:nvSpPr>
          <p:cNvPr id="132" name="Oval 131"/>
          <p:cNvSpPr/>
          <p:nvPr/>
        </p:nvSpPr>
        <p:spPr>
          <a:xfrm>
            <a:off x="3733800" y="6515100"/>
            <a:ext cx="914400" cy="381000"/>
          </a:xfrm>
          <a:prstGeom prst="ellipse">
            <a:avLst/>
          </a:prstGeom>
          <a:solidFill>
            <a:srgbClr val="F4E0D0"/>
          </a:solidFill>
          <a:ln w="12700">
            <a:solidFill>
              <a:srgbClr val="C664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rgbClr val="000000"/>
                </a:solidFill>
              </a:rPr>
              <a:t>Maturity Default</a:t>
            </a:r>
            <a:endParaRPr lang="en-US" sz="1000" dirty="0">
              <a:solidFill>
                <a:srgbClr val="000000"/>
              </a:solidFill>
            </a:endParaRPr>
          </a:p>
        </p:txBody>
      </p:sp>
      <p:sp>
        <p:nvSpPr>
          <p:cNvPr id="133" name="Oval 132"/>
          <p:cNvSpPr/>
          <p:nvPr/>
        </p:nvSpPr>
        <p:spPr>
          <a:xfrm>
            <a:off x="6934200" y="6515100"/>
            <a:ext cx="914400" cy="381000"/>
          </a:xfrm>
          <a:prstGeom prst="ellipse">
            <a:avLst/>
          </a:prstGeom>
          <a:solidFill>
            <a:srgbClr val="F4E0D0"/>
          </a:solidFill>
          <a:ln w="12700">
            <a:solidFill>
              <a:srgbClr val="C664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rgbClr val="000000"/>
                </a:solidFill>
              </a:rPr>
              <a:t>Maturity Default</a:t>
            </a:r>
            <a:endParaRPr lang="en-US" sz="1000" dirty="0">
              <a:solidFill>
                <a:srgbClr val="000000"/>
              </a:solidFill>
            </a:endParaRPr>
          </a:p>
        </p:txBody>
      </p:sp>
      <p:cxnSp>
        <p:nvCxnSpPr>
          <p:cNvPr id="134" name="Straight Arrow Connector 133"/>
          <p:cNvCxnSpPr>
            <a:stCxn id="121" idx="3"/>
            <a:endCxn id="128" idx="2"/>
          </p:cNvCxnSpPr>
          <p:nvPr/>
        </p:nvCxnSpPr>
        <p:spPr>
          <a:xfrm>
            <a:off x="5029200" y="5105400"/>
            <a:ext cx="533400" cy="433"/>
          </a:xfrm>
          <a:prstGeom prst="straightConnector1">
            <a:avLst/>
          </a:prstGeom>
          <a:ln w="12700">
            <a:solidFill>
              <a:srgbClr val="2E8A6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5" name="Straight Arrow Connector 134"/>
          <p:cNvCxnSpPr>
            <a:stCxn id="122" idx="3"/>
            <a:endCxn id="129" idx="2"/>
          </p:cNvCxnSpPr>
          <p:nvPr/>
        </p:nvCxnSpPr>
        <p:spPr>
          <a:xfrm>
            <a:off x="5029200" y="5829300"/>
            <a:ext cx="533400" cy="0"/>
          </a:xfrm>
          <a:prstGeom prst="straightConnector1">
            <a:avLst/>
          </a:prstGeom>
          <a:ln w="12700">
            <a:solidFill>
              <a:srgbClr val="C6642E"/>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6" name="Elbow Connector 135"/>
          <p:cNvCxnSpPr>
            <a:stCxn id="119" idx="1"/>
            <a:endCxn id="131" idx="0"/>
          </p:cNvCxnSpPr>
          <p:nvPr/>
        </p:nvCxnSpPr>
        <p:spPr>
          <a:xfrm rot="10800000" flipV="1">
            <a:off x="2895600" y="3543300"/>
            <a:ext cx="1752600" cy="2971800"/>
          </a:xfrm>
          <a:prstGeom prst="bentConnector2">
            <a:avLst/>
          </a:prstGeom>
          <a:ln w="12700">
            <a:solidFill>
              <a:srgbClr val="C6642E"/>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7" name="Straight Arrow Connector 136"/>
          <p:cNvCxnSpPr>
            <a:stCxn id="122" idx="2"/>
            <a:endCxn id="132" idx="0"/>
          </p:cNvCxnSpPr>
          <p:nvPr/>
        </p:nvCxnSpPr>
        <p:spPr>
          <a:xfrm>
            <a:off x="4191000" y="6019800"/>
            <a:ext cx="0" cy="495300"/>
          </a:xfrm>
          <a:prstGeom prst="straightConnector1">
            <a:avLst/>
          </a:prstGeom>
          <a:ln w="12700">
            <a:solidFill>
              <a:srgbClr val="C6642E"/>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8" name="Straight Arrow Connector 137"/>
          <p:cNvCxnSpPr>
            <a:stCxn id="123" idx="2"/>
            <a:endCxn id="133" idx="0"/>
          </p:cNvCxnSpPr>
          <p:nvPr/>
        </p:nvCxnSpPr>
        <p:spPr>
          <a:xfrm>
            <a:off x="7391400" y="6062236"/>
            <a:ext cx="0" cy="452864"/>
          </a:xfrm>
          <a:prstGeom prst="straightConnector1">
            <a:avLst/>
          </a:prstGeom>
          <a:ln w="12700">
            <a:solidFill>
              <a:srgbClr val="C6642E"/>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9" name="Straight Arrow Connector 138"/>
          <p:cNvCxnSpPr>
            <a:endCxn id="130" idx="2"/>
          </p:cNvCxnSpPr>
          <p:nvPr/>
        </p:nvCxnSpPr>
        <p:spPr>
          <a:xfrm>
            <a:off x="7924800" y="5829300"/>
            <a:ext cx="457200" cy="0"/>
          </a:xfrm>
          <a:prstGeom prst="straightConnector1">
            <a:avLst/>
          </a:prstGeom>
          <a:ln w="12700">
            <a:solidFill>
              <a:srgbClr val="2E8A6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40" name="Straight Arrow Connector 139"/>
          <p:cNvCxnSpPr/>
          <p:nvPr/>
        </p:nvCxnSpPr>
        <p:spPr>
          <a:xfrm>
            <a:off x="6568440" y="5829300"/>
            <a:ext cx="289560" cy="0"/>
          </a:xfrm>
          <a:prstGeom prst="straightConnector1">
            <a:avLst/>
          </a:prstGeom>
          <a:ln w="12700">
            <a:solidFill>
              <a:srgbClr val="C6642E"/>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41" name="Straight Connector 140"/>
          <p:cNvCxnSpPr/>
          <p:nvPr/>
        </p:nvCxnSpPr>
        <p:spPr>
          <a:xfrm>
            <a:off x="2743200" y="1314450"/>
            <a:ext cx="6553200" cy="0"/>
          </a:xfrm>
          <a:prstGeom prst="line">
            <a:avLst/>
          </a:prstGeom>
        </p:spPr>
        <p:style>
          <a:lnRef idx="1">
            <a:schemeClr val="accent1"/>
          </a:lnRef>
          <a:fillRef idx="0">
            <a:schemeClr val="accent1"/>
          </a:fillRef>
          <a:effectRef idx="0">
            <a:schemeClr val="accent1"/>
          </a:effectRef>
          <a:fontRef idx="minor">
            <a:schemeClr val="tx1"/>
          </a:fontRef>
        </p:style>
      </p:cxnSp>
      <p:sp>
        <p:nvSpPr>
          <p:cNvPr id="142" name="Content Placeholder 8"/>
          <p:cNvSpPr txBox="1">
            <a:spLocks/>
          </p:cNvSpPr>
          <p:nvPr/>
        </p:nvSpPr>
        <p:spPr>
          <a:xfrm>
            <a:off x="4876800" y="1219200"/>
            <a:ext cx="2286000" cy="190500"/>
          </a:xfrm>
          <a:prstGeom prst="rect">
            <a:avLst/>
          </a:prstGeom>
          <a:solidFill>
            <a:schemeClr val="bg1"/>
          </a:solidFill>
        </p:spPr>
        <p:txBody>
          <a:bodyPr vert="horz" lIns="0" tIns="0" rIns="0" bIns="0" rtlCol="0" anchor="t" anchorCtr="0">
            <a:noAutofit/>
          </a:bodyPr>
          <a:lstStyle>
            <a:lvl1pPr marL="0" indent="0" algn="l" defTabSz="1018824" rtl="0" eaLnBrk="1" latinLnBrk="0" hangingPunct="1">
              <a:lnSpc>
                <a:spcPct val="110000"/>
              </a:lnSpc>
              <a:spcBef>
                <a:spcPts val="1800"/>
              </a:spcBef>
              <a:buFont typeface="Arial" panose="020B0604020202020204" pitchFamily="34" charset="0"/>
              <a:buNone/>
              <a:defRPr sz="1400" b="1" kern="1200">
                <a:solidFill>
                  <a:schemeClr val="accent1"/>
                </a:solidFill>
                <a:latin typeface="+mj-lt"/>
                <a:ea typeface="+mn-ea"/>
                <a:cs typeface="+mn-cs"/>
              </a:defRPr>
            </a:lvl1pPr>
            <a:lvl2pPr marL="0" indent="0" algn="l" defTabSz="1018824" rtl="0" eaLnBrk="1" latinLnBrk="0" hangingPunct="1">
              <a:lnSpc>
                <a:spcPct val="110000"/>
              </a:lnSpc>
              <a:spcBef>
                <a:spcPts val="1500"/>
              </a:spcBef>
              <a:buFont typeface="Arial" panose="020B0604020202020204" pitchFamily="34" charset="0"/>
              <a:buNone/>
              <a:defRPr sz="1300" b="1" kern="1200">
                <a:solidFill>
                  <a:schemeClr val="tx1"/>
                </a:solidFill>
                <a:latin typeface="+mj-lt"/>
                <a:ea typeface="+mn-ea"/>
                <a:cs typeface="+mn-cs"/>
              </a:defRPr>
            </a:lvl2pPr>
            <a:lvl3pPr marL="1588" indent="0" algn="l" defTabSz="1018824" rtl="0" eaLnBrk="1" latinLnBrk="0" hangingPunct="1">
              <a:lnSpc>
                <a:spcPct val="110000"/>
              </a:lnSpc>
              <a:spcBef>
                <a:spcPts val="300"/>
              </a:spcBef>
              <a:buFont typeface="Arial" panose="020B0604020202020204" pitchFamily="34" charset="0"/>
              <a:buNone/>
              <a:defRPr sz="1300" kern="1200">
                <a:solidFill>
                  <a:schemeClr val="tx1"/>
                </a:solidFill>
                <a:latin typeface="+mj-lt"/>
                <a:ea typeface="+mn-ea"/>
                <a:cs typeface="+mn-cs"/>
              </a:defRPr>
            </a:lvl3pPr>
            <a:lvl4pPr marL="173038" indent="-173038" algn="l" defTabSz="1018824" rtl="0" eaLnBrk="1" latinLnBrk="0" hangingPunct="1">
              <a:lnSpc>
                <a:spcPct val="110000"/>
              </a:lnSpc>
              <a:spcBef>
                <a:spcPts val="300"/>
              </a:spcBef>
              <a:buSzPct val="80000"/>
              <a:buFont typeface="Arial" panose="020B0604020202020204" pitchFamily="34" charset="0"/>
              <a:buChar char="•"/>
              <a:defRPr sz="1300" kern="1200">
                <a:solidFill>
                  <a:schemeClr val="tx1"/>
                </a:solidFill>
                <a:latin typeface="+mj-lt"/>
                <a:ea typeface="+mn-ea"/>
                <a:cs typeface="+mn-cs"/>
              </a:defRPr>
            </a:lvl4pPr>
            <a:lvl5pPr marL="385763" indent="-206375" algn="l" defTabSz="1018824" rtl="0" eaLnBrk="1" latinLnBrk="0" hangingPunct="1">
              <a:lnSpc>
                <a:spcPct val="110000"/>
              </a:lnSpc>
              <a:spcBef>
                <a:spcPts val="300"/>
              </a:spcBef>
              <a:buFont typeface="Arial" panose="020B0604020202020204" pitchFamily="34" charset="0"/>
              <a:buChar char="–"/>
              <a:defRPr sz="1300" kern="1200">
                <a:solidFill>
                  <a:schemeClr val="tx1"/>
                </a:solidFill>
                <a:latin typeface="+mj-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algn="ctr"/>
            <a:r>
              <a:rPr lang="en-US" sz="1200" dirty="0" smtClean="0"/>
              <a:t>Potential Loan Outcomes</a:t>
            </a:r>
            <a:endParaRPr lang="en-US" sz="1200" dirty="0"/>
          </a:p>
        </p:txBody>
      </p:sp>
      <p:sp>
        <p:nvSpPr>
          <p:cNvPr id="144" name="TextBox 143"/>
          <p:cNvSpPr txBox="1"/>
          <p:nvPr/>
        </p:nvSpPr>
        <p:spPr>
          <a:xfrm>
            <a:off x="4495800" y="3733800"/>
            <a:ext cx="610076" cy="230832"/>
          </a:xfrm>
          <a:prstGeom prst="rect">
            <a:avLst/>
          </a:prstGeom>
          <a:noFill/>
          <a:ln w="12700">
            <a:noFill/>
          </a:ln>
          <a:effectLst/>
        </p:spPr>
        <p:txBody>
          <a:bodyPr wrap="square" rtlCol="0">
            <a:spAutoFit/>
          </a:bodyPr>
          <a:lstStyle/>
          <a:p>
            <a:pPr algn="ctr"/>
            <a:r>
              <a:rPr lang="en-US" sz="900" dirty="0" smtClean="0"/>
              <a:t>No</a:t>
            </a:r>
            <a:endParaRPr lang="en-US" sz="900" dirty="0"/>
          </a:p>
        </p:txBody>
      </p:sp>
      <p:sp>
        <p:nvSpPr>
          <p:cNvPr id="145" name="TextBox 144"/>
          <p:cNvSpPr txBox="1"/>
          <p:nvPr/>
        </p:nvSpPr>
        <p:spPr>
          <a:xfrm>
            <a:off x="5485924" y="4114800"/>
            <a:ext cx="610076" cy="230832"/>
          </a:xfrm>
          <a:prstGeom prst="rect">
            <a:avLst/>
          </a:prstGeom>
          <a:noFill/>
          <a:ln w="12700">
            <a:noFill/>
          </a:ln>
          <a:effectLst/>
        </p:spPr>
        <p:txBody>
          <a:bodyPr wrap="square" rtlCol="0">
            <a:spAutoFit/>
          </a:bodyPr>
          <a:lstStyle/>
          <a:p>
            <a:pPr algn="ctr"/>
            <a:r>
              <a:rPr lang="en-US" sz="900" dirty="0" smtClean="0"/>
              <a:t>No</a:t>
            </a:r>
            <a:endParaRPr lang="en-US" sz="900" dirty="0"/>
          </a:p>
        </p:txBody>
      </p:sp>
      <p:sp>
        <p:nvSpPr>
          <p:cNvPr id="146" name="TextBox 145"/>
          <p:cNvSpPr txBox="1"/>
          <p:nvPr/>
        </p:nvSpPr>
        <p:spPr>
          <a:xfrm>
            <a:off x="3733324" y="4630579"/>
            <a:ext cx="610076" cy="230832"/>
          </a:xfrm>
          <a:prstGeom prst="rect">
            <a:avLst/>
          </a:prstGeom>
          <a:noFill/>
          <a:ln w="12700">
            <a:noFill/>
          </a:ln>
          <a:effectLst/>
        </p:spPr>
        <p:txBody>
          <a:bodyPr wrap="square" rtlCol="0">
            <a:spAutoFit/>
          </a:bodyPr>
          <a:lstStyle/>
          <a:p>
            <a:pPr algn="ctr"/>
            <a:r>
              <a:rPr lang="en-US" sz="900" dirty="0" smtClean="0"/>
              <a:t>Yes</a:t>
            </a:r>
            <a:endParaRPr lang="en-US" sz="900" dirty="0"/>
          </a:p>
        </p:txBody>
      </p:sp>
      <p:sp>
        <p:nvSpPr>
          <p:cNvPr id="147" name="TextBox 146"/>
          <p:cNvSpPr txBox="1"/>
          <p:nvPr/>
        </p:nvSpPr>
        <p:spPr>
          <a:xfrm>
            <a:off x="3733324" y="5334000"/>
            <a:ext cx="610076" cy="230832"/>
          </a:xfrm>
          <a:prstGeom prst="rect">
            <a:avLst/>
          </a:prstGeom>
          <a:noFill/>
          <a:ln w="12700">
            <a:noFill/>
          </a:ln>
          <a:effectLst/>
        </p:spPr>
        <p:txBody>
          <a:bodyPr wrap="square" rtlCol="0">
            <a:spAutoFit/>
          </a:bodyPr>
          <a:lstStyle/>
          <a:p>
            <a:pPr algn="ctr"/>
            <a:r>
              <a:rPr lang="en-US" sz="900" dirty="0" smtClean="0"/>
              <a:t>No</a:t>
            </a:r>
            <a:endParaRPr lang="en-US" sz="900" dirty="0"/>
          </a:p>
        </p:txBody>
      </p:sp>
      <p:sp>
        <p:nvSpPr>
          <p:cNvPr id="148" name="TextBox 147"/>
          <p:cNvSpPr txBox="1"/>
          <p:nvPr/>
        </p:nvSpPr>
        <p:spPr>
          <a:xfrm>
            <a:off x="5029200" y="4876800"/>
            <a:ext cx="610076" cy="230832"/>
          </a:xfrm>
          <a:prstGeom prst="rect">
            <a:avLst/>
          </a:prstGeom>
          <a:noFill/>
          <a:ln w="12700">
            <a:noFill/>
          </a:ln>
          <a:effectLst/>
        </p:spPr>
        <p:txBody>
          <a:bodyPr wrap="square" rtlCol="0">
            <a:spAutoFit/>
          </a:bodyPr>
          <a:lstStyle/>
          <a:p>
            <a:pPr algn="ctr"/>
            <a:r>
              <a:rPr lang="en-US" sz="900" dirty="0" smtClean="0">
                <a:solidFill>
                  <a:srgbClr val="2E8A60"/>
                </a:solidFill>
              </a:rPr>
              <a:t>Yes</a:t>
            </a:r>
            <a:endParaRPr lang="en-US" sz="900" dirty="0">
              <a:solidFill>
                <a:srgbClr val="2E8A60"/>
              </a:solidFill>
            </a:endParaRPr>
          </a:p>
        </p:txBody>
      </p:sp>
      <p:sp>
        <p:nvSpPr>
          <p:cNvPr id="149" name="TextBox 148"/>
          <p:cNvSpPr txBox="1"/>
          <p:nvPr/>
        </p:nvSpPr>
        <p:spPr>
          <a:xfrm>
            <a:off x="5029200" y="5562600"/>
            <a:ext cx="610076" cy="230832"/>
          </a:xfrm>
          <a:prstGeom prst="rect">
            <a:avLst/>
          </a:prstGeom>
          <a:noFill/>
          <a:ln w="12700">
            <a:noFill/>
          </a:ln>
          <a:effectLst/>
        </p:spPr>
        <p:txBody>
          <a:bodyPr wrap="square" rtlCol="0">
            <a:spAutoFit/>
          </a:bodyPr>
          <a:lstStyle/>
          <a:p>
            <a:pPr algn="ctr"/>
            <a:r>
              <a:rPr lang="en-US" sz="900" dirty="0" smtClean="0">
                <a:solidFill>
                  <a:srgbClr val="C6642E"/>
                </a:solidFill>
              </a:rPr>
              <a:t>Yes</a:t>
            </a:r>
            <a:endParaRPr lang="en-US" sz="900" dirty="0">
              <a:solidFill>
                <a:srgbClr val="C6642E"/>
              </a:solidFill>
            </a:endParaRPr>
          </a:p>
        </p:txBody>
      </p:sp>
      <p:sp>
        <p:nvSpPr>
          <p:cNvPr id="150" name="TextBox 149"/>
          <p:cNvSpPr txBox="1"/>
          <p:nvPr/>
        </p:nvSpPr>
        <p:spPr>
          <a:xfrm>
            <a:off x="7820501" y="5598468"/>
            <a:ext cx="610076" cy="230832"/>
          </a:xfrm>
          <a:prstGeom prst="rect">
            <a:avLst/>
          </a:prstGeom>
          <a:noFill/>
          <a:ln w="12700">
            <a:noFill/>
          </a:ln>
          <a:effectLst/>
        </p:spPr>
        <p:txBody>
          <a:bodyPr wrap="square" rtlCol="0">
            <a:spAutoFit/>
          </a:bodyPr>
          <a:lstStyle/>
          <a:p>
            <a:pPr algn="ctr"/>
            <a:r>
              <a:rPr lang="en-US" sz="900" dirty="0" smtClean="0">
                <a:solidFill>
                  <a:srgbClr val="2E8A60"/>
                </a:solidFill>
              </a:rPr>
              <a:t>Yes</a:t>
            </a:r>
            <a:endParaRPr lang="en-US" sz="900" dirty="0">
              <a:solidFill>
                <a:srgbClr val="2E8A60"/>
              </a:solidFill>
            </a:endParaRPr>
          </a:p>
        </p:txBody>
      </p:sp>
      <p:sp>
        <p:nvSpPr>
          <p:cNvPr id="151" name="TextBox 150"/>
          <p:cNvSpPr txBox="1"/>
          <p:nvPr/>
        </p:nvSpPr>
        <p:spPr>
          <a:xfrm>
            <a:off x="7239000" y="6154579"/>
            <a:ext cx="610076" cy="230832"/>
          </a:xfrm>
          <a:prstGeom prst="rect">
            <a:avLst/>
          </a:prstGeom>
          <a:noFill/>
          <a:ln w="12700">
            <a:noFill/>
          </a:ln>
          <a:effectLst/>
        </p:spPr>
        <p:txBody>
          <a:bodyPr wrap="square" rtlCol="0">
            <a:spAutoFit/>
          </a:bodyPr>
          <a:lstStyle/>
          <a:p>
            <a:pPr algn="ctr"/>
            <a:r>
              <a:rPr lang="en-US" sz="900" dirty="0" smtClean="0">
                <a:solidFill>
                  <a:srgbClr val="C6642E"/>
                </a:solidFill>
              </a:rPr>
              <a:t>No</a:t>
            </a:r>
            <a:endParaRPr lang="en-US" sz="900" dirty="0">
              <a:solidFill>
                <a:srgbClr val="C6642E"/>
              </a:solidFill>
            </a:endParaRPr>
          </a:p>
        </p:txBody>
      </p:sp>
      <p:sp>
        <p:nvSpPr>
          <p:cNvPr id="152" name="TextBox 151"/>
          <p:cNvSpPr txBox="1"/>
          <p:nvPr/>
        </p:nvSpPr>
        <p:spPr>
          <a:xfrm>
            <a:off x="3733324" y="6019800"/>
            <a:ext cx="610076" cy="230832"/>
          </a:xfrm>
          <a:prstGeom prst="rect">
            <a:avLst/>
          </a:prstGeom>
          <a:noFill/>
          <a:ln w="12700">
            <a:noFill/>
          </a:ln>
          <a:effectLst/>
        </p:spPr>
        <p:txBody>
          <a:bodyPr wrap="square" rtlCol="0">
            <a:spAutoFit/>
          </a:bodyPr>
          <a:lstStyle/>
          <a:p>
            <a:pPr algn="ctr"/>
            <a:r>
              <a:rPr lang="en-US" sz="900" dirty="0" smtClean="0">
                <a:solidFill>
                  <a:srgbClr val="C6642E"/>
                </a:solidFill>
              </a:rPr>
              <a:t>No</a:t>
            </a:r>
            <a:endParaRPr lang="en-US" sz="900" dirty="0">
              <a:solidFill>
                <a:srgbClr val="C6642E"/>
              </a:solidFill>
            </a:endParaRPr>
          </a:p>
        </p:txBody>
      </p:sp>
      <p:sp>
        <p:nvSpPr>
          <p:cNvPr id="153" name="TextBox 152"/>
          <p:cNvSpPr txBox="1"/>
          <p:nvPr/>
        </p:nvSpPr>
        <p:spPr>
          <a:xfrm>
            <a:off x="3276600" y="3315345"/>
            <a:ext cx="610076" cy="230832"/>
          </a:xfrm>
          <a:prstGeom prst="rect">
            <a:avLst/>
          </a:prstGeom>
          <a:noFill/>
          <a:effectLst/>
        </p:spPr>
        <p:txBody>
          <a:bodyPr wrap="square" rtlCol="0">
            <a:spAutoFit/>
          </a:bodyPr>
          <a:lstStyle/>
          <a:p>
            <a:pPr algn="ctr"/>
            <a:r>
              <a:rPr lang="en-US" sz="900" dirty="0" smtClean="0">
                <a:solidFill>
                  <a:srgbClr val="C6642E"/>
                </a:solidFill>
              </a:rPr>
              <a:t>Yes</a:t>
            </a:r>
            <a:endParaRPr lang="en-US" sz="900" dirty="0">
              <a:solidFill>
                <a:srgbClr val="C6642E"/>
              </a:solidFill>
            </a:endParaRPr>
          </a:p>
        </p:txBody>
      </p:sp>
      <p:sp>
        <p:nvSpPr>
          <p:cNvPr id="154" name="Rectangle 153"/>
          <p:cNvSpPr/>
          <p:nvPr/>
        </p:nvSpPr>
        <p:spPr>
          <a:xfrm>
            <a:off x="2362200" y="6421754"/>
            <a:ext cx="5562600" cy="579120"/>
          </a:xfrm>
          <a:prstGeom prst="rect">
            <a:avLst/>
          </a:prstGeom>
          <a:noFill/>
          <a:ln>
            <a:solidFill>
              <a:srgbClr val="C6642E"/>
            </a:solidFill>
            <a:prstDash val="lg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6" name="Rectangle 155"/>
          <p:cNvSpPr/>
          <p:nvPr/>
        </p:nvSpPr>
        <p:spPr>
          <a:xfrm>
            <a:off x="8610600" y="6421754"/>
            <a:ext cx="990600" cy="579120"/>
          </a:xfrm>
          <a:prstGeom prst="rect">
            <a:avLst/>
          </a:prstGeom>
          <a:solidFill>
            <a:srgbClr val="C6642E"/>
          </a:solidFill>
          <a:ln w="12700">
            <a:solidFill>
              <a:srgbClr val="C6642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t>Loan Workout Period and Loss Calculation </a:t>
            </a:r>
            <a:endParaRPr lang="en-US" sz="1000" dirty="0"/>
          </a:p>
        </p:txBody>
      </p:sp>
      <p:graphicFrame>
        <p:nvGraphicFramePr>
          <p:cNvPr id="157" name="Table 156"/>
          <p:cNvGraphicFramePr>
            <a:graphicFrameLocks noGrp="1"/>
          </p:cNvGraphicFramePr>
          <p:nvPr>
            <p:extLst>
              <p:ext uri="{D42A27DB-BD31-4B8C-83A1-F6EECF244321}">
                <p14:modId xmlns:p14="http://schemas.microsoft.com/office/powerpoint/2010/main" val="771973588"/>
              </p:ext>
            </p:extLst>
          </p:nvPr>
        </p:nvGraphicFramePr>
        <p:xfrm>
          <a:off x="3200400" y="1524000"/>
          <a:ext cx="6019800" cy="1219200"/>
        </p:xfrm>
        <a:graphic>
          <a:graphicData uri="http://schemas.openxmlformats.org/drawingml/2006/table">
            <a:tbl>
              <a:tblPr>
                <a:tableStyleId>{5C22544A-7EE6-4342-B048-85BDC9FD1C3A}</a:tableStyleId>
              </a:tblPr>
              <a:tblGrid>
                <a:gridCol w="2006600"/>
                <a:gridCol w="1803400"/>
                <a:gridCol w="2209800"/>
              </a:tblGrid>
              <a:tr h="182880">
                <a:tc>
                  <a:txBody>
                    <a:bodyPr/>
                    <a:lstStyle/>
                    <a:p>
                      <a:r>
                        <a:rPr lang="en-US" sz="1000" dirty="0" smtClean="0"/>
                        <a:t>During initial term or extension</a:t>
                      </a:r>
                      <a:endParaRPr lang="en-US" sz="1000"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1" dirty="0" smtClean="0"/>
                        <a:t>Term Default</a:t>
                      </a:r>
                      <a:endParaRPr lang="en-US" sz="1000" b="1"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1018824" rtl="0" eaLnBrk="1" fontAlgn="auto" latinLnBrk="0" hangingPunct="1">
                        <a:lnSpc>
                          <a:spcPct val="100000"/>
                        </a:lnSpc>
                        <a:spcBef>
                          <a:spcPts val="0"/>
                        </a:spcBef>
                        <a:spcAft>
                          <a:spcPts val="0"/>
                        </a:spcAft>
                        <a:buClrTx/>
                        <a:buSzTx/>
                        <a:buFontTx/>
                        <a:buNone/>
                        <a:tabLst/>
                        <a:defRPr/>
                      </a:pPr>
                      <a:r>
                        <a:rPr lang="en-US" sz="1000" dirty="0" smtClean="0"/>
                        <a:t>DSCR &lt; DSCR</a:t>
                      </a:r>
                      <a:r>
                        <a:rPr lang="en-US" sz="1000" baseline="0" dirty="0" smtClean="0"/>
                        <a:t> Default Trigger</a:t>
                      </a:r>
                      <a:endParaRPr lang="en-US" sz="1000" dirty="0" smtClean="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182880">
                <a:tc rowSpan="3">
                  <a:txBody>
                    <a:bodyPr/>
                    <a:lstStyle/>
                    <a:p>
                      <a:r>
                        <a:rPr lang="en-US" sz="1000" dirty="0" smtClean="0"/>
                        <a:t>At</a:t>
                      </a:r>
                      <a:r>
                        <a:rPr lang="en-US" sz="1000" baseline="0" dirty="0" smtClean="0"/>
                        <a:t> original maturity</a:t>
                      </a:r>
                      <a:endParaRPr lang="en-US" sz="1000" dirty="0"/>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1" dirty="0" smtClean="0"/>
                        <a:t>Pay off</a:t>
                      </a:r>
                      <a:endParaRPr lang="en-US" sz="1000" b="1" dirty="0"/>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r>
                        <a:rPr lang="en-US" sz="1000" dirty="0" smtClean="0"/>
                        <a:t>LTV &lt; pay off LTV</a:t>
                      </a:r>
                      <a:r>
                        <a:rPr lang="en-US" sz="1000" baseline="0" dirty="0" smtClean="0"/>
                        <a:t> requirement</a:t>
                      </a:r>
                      <a:endParaRPr lang="en-US" sz="1000" dirty="0"/>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r>
              <a:tr h="182880">
                <a:tc vMerge="1">
                  <a:txBody>
                    <a:bodyPr/>
                    <a:lstStyle/>
                    <a:p>
                      <a:endParaRPr lang="en-US" sz="1000"/>
                    </a:p>
                  </a:txBody>
                  <a:tcPr/>
                </a:tc>
                <a:tc>
                  <a:txBody>
                    <a:bodyPr/>
                    <a:lstStyle/>
                    <a:p>
                      <a:r>
                        <a:rPr lang="en-US" sz="1000" b="1" dirty="0" smtClean="0"/>
                        <a:t>Extension</a:t>
                      </a:r>
                      <a:endParaRPr lang="en-US" sz="1000"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sz="1000" dirty="0" smtClean="0"/>
                        <a:t>LTV between extension LTV bounds</a:t>
                      </a:r>
                      <a:endParaRPr lang="en-US" sz="10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182880">
                <a:tc vMerge="1">
                  <a:txBody>
                    <a:bodyPr/>
                    <a:lstStyle/>
                    <a:p>
                      <a:endParaRPr lang="en-US" sz="1000" dirty="0"/>
                    </a:p>
                  </a:txBody>
                  <a:tcPr/>
                </a:tc>
                <a:tc>
                  <a:txBody>
                    <a:bodyPr/>
                    <a:lstStyle/>
                    <a:p>
                      <a:r>
                        <a:rPr lang="en-US" sz="1000" b="1" dirty="0" smtClean="0"/>
                        <a:t>Default</a:t>
                      </a:r>
                      <a:endParaRPr lang="en-US" sz="1000" b="1"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dirty="0" smtClean="0"/>
                        <a:t>LTV &gt; extension LTV limit</a:t>
                      </a:r>
                      <a:endParaRPr lang="en-US" sz="1000"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182880">
                <a:tc>
                  <a:txBody>
                    <a:bodyPr/>
                    <a:lstStyle/>
                    <a:p>
                      <a:r>
                        <a:rPr lang="en-US" sz="1000" dirty="0" smtClean="0"/>
                        <a:t>At extension maturity</a:t>
                      </a:r>
                      <a:endParaRPr lang="en-US" sz="1000" dirty="0"/>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r>
                        <a:rPr lang="en-US" sz="1000" b="1" dirty="0" smtClean="0"/>
                        <a:t>Default</a:t>
                      </a:r>
                      <a:endParaRPr lang="en-US" sz="1000" b="1" dirty="0"/>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r>
                        <a:rPr lang="en-US" sz="1000" dirty="0" smtClean="0"/>
                        <a:t>LTV &gt;</a:t>
                      </a:r>
                      <a:r>
                        <a:rPr lang="en-US" sz="1000" baseline="0" dirty="0" smtClean="0"/>
                        <a:t> Refinance Threshold</a:t>
                      </a:r>
                      <a:endParaRPr lang="en-US" sz="1000" dirty="0"/>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r>
            </a:tbl>
          </a:graphicData>
        </a:graphic>
      </p:graphicFrame>
      <p:cxnSp>
        <p:nvCxnSpPr>
          <p:cNvPr id="158" name="Straight Connector 157"/>
          <p:cNvCxnSpPr/>
          <p:nvPr/>
        </p:nvCxnSpPr>
        <p:spPr>
          <a:xfrm>
            <a:off x="2743200" y="3105150"/>
            <a:ext cx="6553200" cy="0"/>
          </a:xfrm>
          <a:prstGeom prst="line">
            <a:avLst/>
          </a:prstGeom>
        </p:spPr>
        <p:style>
          <a:lnRef idx="1">
            <a:schemeClr val="accent1"/>
          </a:lnRef>
          <a:fillRef idx="0">
            <a:schemeClr val="accent1"/>
          </a:fillRef>
          <a:effectRef idx="0">
            <a:schemeClr val="accent1"/>
          </a:effectRef>
          <a:fontRef idx="minor">
            <a:schemeClr val="tx1"/>
          </a:fontRef>
        </p:style>
      </p:cxnSp>
      <p:sp>
        <p:nvSpPr>
          <p:cNvPr id="159" name="Content Placeholder 8"/>
          <p:cNvSpPr txBox="1">
            <a:spLocks/>
          </p:cNvSpPr>
          <p:nvPr/>
        </p:nvSpPr>
        <p:spPr>
          <a:xfrm>
            <a:off x="4572000" y="3009900"/>
            <a:ext cx="2895600" cy="190500"/>
          </a:xfrm>
          <a:prstGeom prst="rect">
            <a:avLst/>
          </a:prstGeom>
          <a:solidFill>
            <a:schemeClr val="bg1"/>
          </a:solidFill>
        </p:spPr>
        <p:txBody>
          <a:bodyPr vert="horz" lIns="0" tIns="0" rIns="0" bIns="0" rtlCol="0" anchor="t" anchorCtr="0">
            <a:noAutofit/>
          </a:bodyPr>
          <a:lstStyle>
            <a:lvl1pPr marL="0" indent="0" algn="l" defTabSz="1018824" rtl="0" eaLnBrk="1" latinLnBrk="0" hangingPunct="1">
              <a:lnSpc>
                <a:spcPct val="110000"/>
              </a:lnSpc>
              <a:spcBef>
                <a:spcPts val="1800"/>
              </a:spcBef>
              <a:buFont typeface="Arial" panose="020B0604020202020204" pitchFamily="34" charset="0"/>
              <a:buNone/>
              <a:defRPr sz="1400" b="1" kern="1200">
                <a:solidFill>
                  <a:schemeClr val="accent1"/>
                </a:solidFill>
                <a:latin typeface="+mj-lt"/>
                <a:ea typeface="+mn-ea"/>
                <a:cs typeface="+mn-cs"/>
              </a:defRPr>
            </a:lvl1pPr>
            <a:lvl2pPr marL="0" indent="0" algn="l" defTabSz="1018824" rtl="0" eaLnBrk="1" latinLnBrk="0" hangingPunct="1">
              <a:lnSpc>
                <a:spcPct val="110000"/>
              </a:lnSpc>
              <a:spcBef>
                <a:spcPts val="1500"/>
              </a:spcBef>
              <a:buFont typeface="Arial" panose="020B0604020202020204" pitchFamily="34" charset="0"/>
              <a:buNone/>
              <a:defRPr sz="1300" b="1" kern="1200">
                <a:solidFill>
                  <a:schemeClr val="tx1"/>
                </a:solidFill>
                <a:latin typeface="+mj-lt"/>
                <a:ea typeface="+mn-ea"/>
                <a:cs typeface="+mn-cs"/>
              </a:defRPr>
            </a:lvl2pPr>
            <a:lvl3pPr marL="1588" indent="0" algn="l" defTabSz="1018824" rtl="0" eaLnBrk="1" latinLnBrk="0" hangingPunct="1">
              <a:lnSpc>
                <a:spcPct val="110000"/>
              </a:lnSpc>
              <a:spcBef>
                <a:spcPts val="300"/>
              </a:spcBef>
              <a:buFont typeface="Arial" panose="020B0604020202020204" pitchFamily="34" charset="0"/>
              <a:buNone/>
              <a:defRPr sz="1300" kern="1200">
                <a:solidFill>
                  <a:schemeClr val="tx1"/>
                </a:solidFill>
                <a:latin typeface="+mj-lt"/>
                <a:ea typeface="+mn-ea"/>
                <a:cs typeface="+mn-cs"/>
              </a:defRPr>
            </a:lvl3pPr>
            <a:lvl4pPr marL="173038" indent="-173038" algn="l" defTabSz="1018824" rtl="0" eaLnBrk="1" latinLnBrk="0" hangingPunct="1">
              <a:lnSpc>
                <a:spcPct val="110000"/>
              </a:lnSpc>
              <a:spcBef>
                <a:spcPts val="300"/>
              </a:spcBef>
              <a:buSzPct val="80000"/>
              <a:buFont typeface="Arial" panose="020B0604020202020204" pitchFamily="34" charset="0"/>
              <a:buChar char="•"/>
              <a:defRPr sz="1300" kern="1200">
                <a:solidFill>
                  <a:schemeClr val="tx1"/>
                </a:solidFill>
                <a:latin typeface="+mj-lt"/>
                <a:ea typeface="+mn-ea"/>
                <a:cs typeface="+mn-cs"/>
              </a:defRPr>
            </a:lvl4pPr>
            <a:lvl5pPr marL="385763" indent="-206375" algn="l" defTabSz="1018824" rtl="0" eaLnBrk="1" latinLnBrk="0" hangingPunct="1">
              <a:lnSpc>
                <a:spcPct val="110000"/>
              </a:lnSpc>
              <a:spcBef>
                <a:spcPts val="300"/>
              </a:spcBef>
              <a:buFont typeface="Arial" panose="020B0604020202020204" pitchFamily="34" charset="0"/>
              <a:buChar char="–"/>
              <a:defRPr sz="1300" kern="1200">
                <a:solidFill>
                  <a:schemeClr val="tx1"/>
                </a:solidFill>
                <a:latin typeface="+mj-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algn="ctr"/>
            <a:r>
              <a:rPr lang="en-US" sz="1200" dirty="0" smtClean="0"/>
              <a:t>Default, Extension and Payoff Logic Tree</a:t>
            </a:r>
            <a:endParaRPr lang="en-US" sz="1200" dirty="0"/>
          </a:p>
        </p:txBody>
      </p:sp>
      <p:sp>
        <p:nvSpPr>
          <p:cNvPr id="14" name="Isosceles Triangle 13"/>
          <p:cNvSpPr/>
          <p:nvPr/>
        </p:nvSpPr>
        <p:spPr>
          <a:xfrm rot="5400000">
            <a:off x="7978140" y="6444614"/>
            <a:ext cx="579120" cy="533400"/>
          </a:xfrm>
          <a:prstGeom prst="triangle">
            <a:avLst/>
          </a:prstGeom>
          <a:solidFill>
            <a:srgbClr val="C6642E"/>
          </a:solidFill>
          <a:ln w="12700">
            <a:solidFill>
              <a:srgbClr val="C6642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9" name="Straight Connector 18"/>
          <p:cNvCxnSpPr/>
          <p:nvPr/>
        </p:nvCxnSpPr>
        <p:spPr>
          <a:xfrm>
            <a:off x="3124200" y="1752600"/>
            <a:ext cx="5638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0" name="Straight Connector 159"/>
          <p:cNvCxnSpPr/>
          <p:nvPr/>
        </p:nvCxnSpPr>
        <p:spPr>
          <a:xfrm>
            <a:off x="3124200" y="2499102"/>
            <a:ext cx="5638800" cy="0"/>
          </a:xfrm>
          <a:prstGeom prst="line">
            <a:avLst/>
          </a:prstGeom>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a:off x="7924800" y="6457890"/>
            <a:ext cx="685800" cy="400110"/>
          </a:xfrm>
          <a:prstGeom prst="rect">
            <a:avLst/>
          </a:prstGeom>
          <a:noFill/>
          <a:ln w="12700">
            <a:noFill/>
          </a:ln>
        </p:spPr>
        <p:txBody>
          <a:bodyPr wrap="square" rtlCol="0">
            <a:spAutoFit/>
          </a:bodyPr>
          <a:lstStyle/>
          <a:p>
            <a:r>
              <a:rPr lang="en-US" sz="1000" dirty="0" smtClean="0">
                <a:solidFill>
                  <a:schemeClr val="bg1"/>
                </a:solidFill>
              </a:rPr>
              <a:t>All </a:t>
            </a:r>
          </a:p>
          <a:p>
            <a:r>
              <a:rPr lang="en-US" sz="1000" dirty="0" smtClean="0">
                <a:solidFill>
                  <a:schemeClr val="bg1"/>
                </a:solidFill>
              </a:rPr>
              <a:t>Defaults</a:t>
            </a:r>
            <a:endParaRPr lang="en-US" sz="1000" dirty="0">
              <a:solidFill>
                <a:schemeClr val="bg1"/>
              </a:solidFill>
            </a:endParaRPr>
          </a:p>
        </p:txBody>
      </p:sp>
      <p:sp>
        <p:nvSpPr>
          <p:cNvPr id="43" name="TextBox 42"/>
          <p:cNvSpPr txBox="1"/>
          <p:nvPr/>
        </p:nvSpPr>
        <p:spPr>
          <a:xfrm>
            <a:off x="7239000" y="3657600"/>
            <a:ext cx="1371600" cy="400110"/>
          </a:xfrm>
          <a:prstGeom prst="rect">
            <a:avLst/>
          </a:prstGeom>
          <a:noFill/>
          <a:ln w="12700">
            <a:noFill/>
          </a:ln>
        </p:spPr>
        <p:txBody>
          <a:bodyPr wrap="square" rtlCol="0">
            <a:spAutoFit/>
          </a:bodyPr>
          <a:lstStyle/>
          <a:p>
            <a:r>
              <a:rPr lang="en-US" sz="1000" dirty="0" smtClean="0"/>
              <a:t>Loan is current, repeat process next month</a:t>
            </a:r>
            <a:endParaRPr lang="en-US" sz="1000" dirty="0"/>
          </a:p>
        </p:txBody>
      </p:sp>
      <p:sp>
        <p:nvSpPr>
          <p:cNvPr id="49" name="Rectangle 48"/>
          <p:cNvSpPr/>
          <p:nvPr/>
        </p:nvSpPr>
        <p:spPr>
          <a:xfrm>
            <a:off x="877264" y="7349978"/>
            <a:ext cx="1297150" cy="230832"/>
          </a:xfrm>
          <a:prstGeom prst="rect">
            <a:avLst/>
          </a:prstGeom>
        </p:spPr>
        <p:txBody>
          <a:bodyPr wrap="none">
            <a:spAutoFit/>
          </a:bodyPr>
          <a:lstStyle/>
          <a:p>
            <a:r>
              <a:rPr lang="en-US" sz="900" dirty="0"/>
              <a:t>Source: </a:t>
            </a:r>
            <a:r>
              <a:rPr lang="en-US" sz="900" dirty="0" smtClean="0"/>
              <a:t>Blackrock, Cello</a:t>
            </a:r>
            <a:endParaRPr lang="en-US" sz="900" dirty="0"/>
          </a:p>
        </p:txBody>
      </p:sp>
    </p:spTree>
    <p:extLst>
      <p:ext uri="{BB962C8B-B14F-4D97-AF65-F5344CB8AC3E}">
        <p14:creationId xmlns:p14="http://schemas.microsoft.com/office/powerpoint/2010/main" val="335914603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9616" y="257190"/>
            <a:ext cx="8574088" cy="609918"/>
          </a:xfrm>
        </p:spPr>
        <p:txBody>
          <a:bodyPr/>
          <a:lstStyle/>
          <a:p>
            <a:r>
              <a:rPr lang="en-US" dirty="0" smtClean="0"/>
              <a:t>CRE MODELING </a:t>
            </a:r>
            <a:br>
              <a:rPr lang="en-US" dirty="0" smtClean="0"/>
            </a:br>
            <a:r>
              <a:rPr lang="en-US" dirty="0" smtClean="0"/>
              <a:t>LARGE LOAN ANALYSIS</a:t>
            </a:r>
            <a:endParaRPr lang="en-US" dirty="0"/>
          </a:p>
        </p:txBody>
      </p:sp>
      <p:sp>
        <p:nvSpPr>
          <p:cNvPr id="448528" name="Rectangle 159"/>
          <p:cNvSpPr>
            <a:spLocks noChangeArrowheads="1"/>
          </p:cNvSpPr>
          <p:nvPr/>
        </p:nvSpPr>
        <p:spPr bwMode="auto">
          <a:xfrm>
            <a:off x="2583180" y="1458298"/>
            <a:ext cx="7157415" cy="640079"/>
          </a:xfrm>
          <a:prstGeom prst="rect">
            <a:avLst/>
          </a:prstGeom>
          <a:solidFill>
            <a:srgbClr val="203353"/>
          </a:solidFill>
          <a:ln w="12700">
            <a:noFill/>
            <a:miter lim="800000"/>
            <a:headEnd/>
            <a:tailEnd/>
          </a:ln>
        </p:spPr>
        <p:txBody>
          <a:bodyPr vert="horz" wrap="square" lIns="45710" tIns="45710" rIns="45710" bIns="45710" numCol="1" anchor="ctr" anchorCtr="0" compatLnSpc="1">
            <a:prstTxWarp prst="textNoShape">
              <a:avLst/>
            </a:prstTxWarp>
          </a:bodyPr>
          <a:lstStyle/>
          <a:p>
            <a:pPr algn="ctr" defTabSz="1018586"/>
            <a:r>
              <a:rPr lang="en-US" sz="1300" b="1" dirty="0">
                <a:solidFill>
                  <a:srgbClr val="FFFFFF"/>
                </a:solidFill>
                <a:latin typeface="Calibri" pitchFamily="34" charset="0"/>
              </a:rPr>
              <a:t>EXAMPLE </a:t>
            </a:r>
            <a:r>
              <a:rPr lang="en-US" sz="1300" b="1" dirty="0" smtClean="0">
                <a:solidFill>
                  <a:srgbClr val="FFFFFF"/>
                </a:solidFill>
                <a:latin typeface="Calibri" pitchFamily="34" charset="0"/>
              </a:rPr>
              <a:t>BOND WITH CELLO CREDIT MODEL SCENARIO ANALYSIS</a:t>
            </a:r>
            <a:endParaRPr lang="en-US" b="1" dirty="0">
              <a:solidFill>
                <a:srgbClr val="000000"/>
              </a:solidFill>
              <a:latin typeface="Arial" pitchFamily="34" charset="0"/>
            </a:endParaRPr>
          </a:p>
        </p:txBody>
      </p:sp>
      <p:sp>
        <p:nvSpPr>
          <p:cNvPr id="3" name="AutoShape 2" descr="data:image/jpeg;base64,/9j/4AAQSkZJRgABAQAAAQABAAD/2wCEAAkGBxAQEBUQDw8QEBUUEBUQEBQPFBAQFRUQFRQYFhUUFBQYHCogGBolHBQUITEhKCkrLi4uFx8zODMsNygtLisBCgoKDg0OFxAQGywmHR40LCwvLCwsLi8sLCssLCwsLDEsLCwsLCwsLC8sLCwuNywsLCwsLCwsLCwsLCwsLCwsLP/AABEIALwBCwMBIgACEQEDEQH/xAAcAAABBQEBAQAAAAAAAAAAAAAAAgMEBQYBBwj/xABBEAABAwIDBQQGCAQGAwEAAAABAAIDBBEFEiEGEzFBUSJhcYEycpGhscEHFCMzQlJi0UOSsuEVFjRzgvBjg6Ik/8QAGgEBAQADAQEAAAAAAAAAAAAAAAECAwQFBv/EACwRAAICAQMCBAUFAQAAAAAAAAABAhEDBBIxEyEFQVFhMkKRoeEUInGxwfD/2gAMAwEAAhEDEQA/APcUIQgBCEIAQhCAEIQgBCEIAQhCAEIQgBCEIAQhCAEIQgBCEIAQhCAEIQgBCEIAQhCAEIQgBCEIAQhCAEIQgBCEIAQhCAEIQgBCEIAQhCAEIQgBCFAxvF4aOEzzuIaCBYauc48A0cyjdFjFyaS5ZPQscz6SsOPEzN8Yz8iVH2i23oZqKdkFSRI6F4jGWWN2cjSxtofNYdSPqdC0ea0nF/Q3KF82f4jOeNROfGWQ/NWDa+YcJph4SSD5rQ9Sl5Hp4/BJT+f7fk+g0LO7D1gdQQ55Q52V2bO/M703cbm60LXA8CD4Lpi7SZ4+XG8c5Q9G19DqEIVNYIQhACEIQAhCEAIQhACEIQAhCEAIQhACEIQAhCamd+Hrx8EBGqsQDTZozH2BRxiUn5G+9dmYLoDAgJdLWtfp6J6H5KUquOIXUujqQ+4vq02PyP8A3oha7WSUIQhBE0rWNL3uDWtBc4uNgGgXJJ6Lw3bbaZ1fPdtxDHcQtOl+sjh1PuHmr76Ttqd680UDuww/bub+KQfw79Bz7/BefrkzZL/aj6Dw3R7F1Z8vj2RxJcUpIetB6okKaXKCFIlfZYyN+DhkGVodI42HHp3KXTyPb6L3t9Vzm/BNsbzT7Wqmtq33JceKVI4VNQPCaUfNTIdpK5no1lR5yOd8bqqASgrbMXig+UvoXrNssSHCsk8xEfi1TIdvcSH8drvWjj+QCzACehZzTqSXmT9Jhl22L6I9U2G2vkqnugqizeEZoi0ZQ4Adptr8Rx8L9Ftl88UdcWy3jcWvieCCOIcNbjz0XuezWMtrKdszbB3oyNH4ZBxHhzHcQurBkcv2vk8LxXRRxNZcfwvt/D/JaIQhdB44IQhACEIQAhCEAxWzOjYXtYZLa5W8bc7dfBUf+ZHObdkY14G5PyWjWXroW70vh3eurmu4ZzxPcVqyqbrazZBx+ZFc7aOogPaIkHMP4+Tgp2F7Y7+ZkLaYjMbE5wbDmbZeSqJaH6zMIuzE8n1mhtrkj2FbDBsEhpWkRNJcfTe/V7vE8h3DRa8cci7N9jObhykWSrK+oySa82i3tKs1T7R0znR7xguWXuBxLefsXSaCEay5TjKtZg1mvFOCt71CminrgBdN7Kzl80x5ZWX8but81mKzENOK2OyWHOhhzSCz5DncDxa21mtPlc+Lip5m20oP3LxY36RdqvqcW4hd9vK3Qj+HGdC/xOoHmeSu9p8ejoad00mp9GJl7F8h4Dw5k8gvBa+tkqJXzTOzve7M49/IDoALADkAFrzZNqpcnb4do+rLfL4V92MLq4hcZ9GCS9qWhAMgFLLbnXySwuqMyi6VAAlBAXQhToXQEBKAUKhTG30Wh2Ywf6xJqPs2WL+88mqnpKdznBjBmc4hrQOp4L1vA8JbTQNiGp4vd+Z54n5eACzxQ3P2RyeIanoYqXxS+yPNdt8FMEgqohpoJQOnAO+R8lI2J2k+pzBxJMMlmyjoOT7dW6+V1vsYoRIxzXNBBBBB1BB4grx6to3Uc7oXXyON4ienS/XkfLqtuSLi9yOLRZo5YPDk4Z9GscCAQQQRcEagg8wurA/RhtBnYaKV3aYLwE84ubPFvLuPct8uqElJWjxNTglgyOEvL+gQhCyNAIQhACEIQDFc9zY3OYLuAuATa56XWFmxCIEmoo3xOPF+Vwv/AOxmnvWix/EQWOhjNydC8cGnu6n3LOWlLckkuYHjcAG3etE88Y9jbDE33JWBOjZJvWk3/DvDfskf3Wtgr2O49nx1HtWIip2CwkbmDehLTbuI5q7GDytaH0s+8aRcNl0NvWHzCYcm5FyQpmmBXVkXYnJDpNFNDbiQHZf5h2UMxyN3CV/k8/ut1mqiXjGyscpL4nbpx1ItdhPh+Hy9izVRgFRES12Q2F7tdcEey600VU94JEziOVsundeyamjebkvcSeZN0KheAbMRxZZpSJZLBw/Iw/pHM959yvquqZDG6WVwYxjS97jwDRxKqKbEXRtDXNBAAA1sbBY36UaypnijZTxvfECXzsZbMXD0Da/baNdON7Gx5SUqXY24sXUmlJ0vUx+120T6+oMhu2Nt2wMP4WdT+o8T5DkqVRW1sd8pORw0LXgsIPeDwUhrr6g38Fwyu7Z9Ti2KKjDhDjQSQACSSAANSSeAAWkpNkJTLkle1jGxiSZ7dchP4LnQu93uvY7C4CMv1yXvFO0gecmvsHmeivsdxaCjjDpdSTdkY4vf1PVbYYlVyPP1Oun1Oni5/wB/B5vieHyU7gJGlrX5jCXWBewGwdl4t5aHqoiexHEJamUzTOu46AcmN5NamFplV9j08TltW/kUuhcC6FibEKC6uBKChmjoCdibzSGhXOzuFGpmbGL5R2pT0YOXieA/snPZFcowi5y4RpthMKyj63Iy/wCGEHTS9i/z4Dz6q/qdtadhLWwyOIJHBoFxpxJ+SsjEGsDWgACwAGgABFgFgJKe73H9R+K9HBjSVHxuu1Ms2Tf6/wBGspdojUv3e5DAQTe9zoL9Fnds8DFRGQNHDtMPR3Q9xVlg0GWVp/S74K0q47hXJFXRrwZJRqR45hNfJFIHtJZLC++vHM08x7j/AHXvuzuMsrKds7NL6Pb+WQek3/vIheLba4UYpPrMY7pQOnAO+R8uim7A7TfU5xmP2E1my/pPASW7ufdfoFzQfTlT4Z7eeC1mBSj8Ufv7f9/p7ehcBXV1nz4IQhACrMdrd2zKDq7TwbzKs1jNrqu1RkvwYNPG615ZbYszxq5FfWV8cbHSyODGMFyTyH7rEVn0iXe3cU5MeYh5k0Lmga5LaNPPW/gFZbXUctRSOiiALs7XgEgZg08LnS/PXosDBiM9I6Jk0OkW9LGStLbiXR+vMd+q4IxvuejCqPWcKxeGri3sTr20eDbM135XBaHZrEi127cey42Hc/8AuvPdlsfp52mOGFsD2gExgNsRwzBwAzAd/C60rZGtAa068fDvSEnCVmvJFNUejqJUYZTyG8kETz1cxhPttdR8CxLfx6+k3R3f0Ksrr0k01aOBqnRiTSbiokZHdrM1wLkge1W9O6+hTFbZ0hcOZJ8r6KTTtUBV49UZB5Kv/wAOxAtD2U4LXC9i9jX25XaTp4cVKxsXlZfhnaD4ZgtuSiRslJpKjyfEaOEkfX6EjiAZoifHK+3wKpp9ncJPob6A9Y5JR7nXC9E+kL7uL13fALA1czo25m2ve2qjSMo5p+ppm7SUzAxgcLABoyNNmgCwus1t1Ry1D2VFO3fxiPL9kQXNN7klvMcOHRVjscjvlljI726hTIS1zc8D3AOuDa7b9bqSSkqZlhyyxT3x5MhFWxu4PA7jp8VKaVNqdnonH0berp8FAk2ZkbrFK4dx/t+y0PD6HrY/E18yHQlBQXxVkXpRiQdW6/Cx9ySzFWg2kY5h9v7Fanjkjvx6zFPhlkEsKNDWRu9F7fA6H2FS2Ba32OyLUuByJh5C5OgA468AF6rsrg4pYQCBnd2pD38m+A/fqspsNhG8k+sPHZYbR35ydfAfHwXogXRhh8zPF8W1Vvox4XP8nJjp7PiFlm07iT2OfgtPLcjRNku6hvqgBdUZUeDJWQqaAgh2Uga6+SflS8mt7k+JJXHMJRuypUUeL0gkaQRe4sb9F5l/l3EIHuD6Ko3Zed25rHSNyk9g3bfiLL16dnIrV0+jG+qPgsHBSOnBqpYHcSFs1QyU9JDDK8veyMBxOtjxyg8w30R3BWa4F1bEqVHLKTlJyfmCEIVMQXl+0NdDNO50hbfhy0A0ABXqCrZ8Bo3uzPo6Z7iblz4YnG54m5C15IOaqzOEtp4jtLR1Ega6lqXjKLFjZHR3HG9weKzzaqt37GOja6UUzoWiQg5oydXuJPaK+hKrZKgk40sbf9kvg9u7IuoX+QsOvm3LyeH30/DpfNdaug0b1qPY8g2Wwv6mTLK9pkLMga03DWmxNzzOgWkpq1z9IY5JSTYmNrn6+QXotPslh8fCjhd/vAz++QlW0MbWNDWNaxo4NYA0DwA0T9PfLMXnbMrslRVTZM743RMsQ4SWBItoA3je+tytHidTlblB1d7m81JustidWXPdr+Mt8ADYD3LdGKiqRplLc7Y7Eczr+xWEfBVVNKAp4nFuKyIUuOu59Df2Lah19Vg8bfoVtmOsAO4IiyM3t+fs4vXd8AvP8SHY8wt7t277OL13f0rB4j6HmFGVGTrx2z4BabZ1v/5m+u/4rNV/pnwC1Ozn+lb67/ioCQ+NRTWFpOZlwHEdnQ2Btw4KwIUCog0cf1O/qWUUnySTa4JFJJHMcrfSsXWItoE1Ph8b9HMafEAowCO0x/23/BT7KSVMsZOrM5U7KwO9EFnqn5HRcwjZiVsrY2ygse4NOYG7e8fstMGqdhLftmesFg4p8nTj1OTG7izV0NK2JjY2CzWgAD/vNTmQuPAFMZlltotqqyOUwxOY0BrTmy3dci/h7llGN9kc85+bNoaQ/iIb4kKFIbHjfwXnEtdUzfezyOvxF8o/lbYLfMPZHgPgspR2mEZbhGIY1HSszPiMl3ZRY8yCdfYqKfbWod91FHEP5intpm5o2j/yA/8Ay5UsFLos4JV3MJt32NPTzufG17zdzmguPeQtjD6I8B8Fi6bSNo/SPgtnGdB4LBGxjwXUkJSpiCEIQHCuFdK4UBwpJK6SkEoDhKSSuEpBcgFFyw2OSGKokHIuzfzdr5raFyyG2sPaZIObcp8R/YoUrxijRxNk4MU6FM4Dh0MrZzMwODIwWkkjKTmNxb1VU4ZhD5HGz3BnkgLelc6pqWRDhfPJ3RtNz7dB5reGRZrZegbEHyC5znI0u1ORnE+br+wK6dKoUpdtX3ZH65+CxOIeh5hWO3O1DIqhtNIw2DGy52m+rrixb/x96qJquOWLNG9rhcXseHiOSjKkZmv+8PgFqtm/9K313/FYfGql4lIZa1hqNdbLZbHuJo2Fxuc7/wCpQFsU4+FrmHKQdb35am6RZIMWtxcHqNFU6I1Z3DYHMkNxpu3fBOLkMrwdbO0I6HUW80oI3ZUqFNU7Cvvmet8lBCnYV98zx+RUBqyVi8ehzVDj+ln9IWvJVbNhhkeXkaEDU2A0AHFZQdMxmrRn4aXRa0HQeCiikjaLF3dZgzJ8lWbskFRFracy2aORv15JLaAMHbcG+PH2BPOB17RAPEDRNbsDkopUjJxtnW6ADpYLYsKxhK1sbkQZMalpphTqpiCEIQHCklKKQUAlxTbilOKZcUBxzk1I+wuh7lBxOQiJ5HENuhTgrzzZ7CoWMtE8YaAbhwIvp4qp/wARcBcpyKoqXsMgDGtDS5ucm7gByAQCqWkdG2VgbcSMDNOVswJPk5OOiyMEbNHP08BzcfAKuwytnqCQ54i7OYZRmPEDme9W1NTiO5zOe48XO4+A6BQExpDGhrdA0BoHcNFGnqEmR6iykoU85+kQgVLJC0OLoyDm6Ndpb+YqgiqWO09Hu4Bel4vhEVQLSsDrcDwI8DyWKxbYyRl3QOzj8rrB3keB9yjRkmVT4PBarZeshEDYhKzOHOJbcX1OiwsmG1JcWbmXTSxa4AeZ0S3YLVR9oxO/46keQUKeoosvPMP2jqIdC7eAfhk1I7r8QtRh21EEujzundH8PJyEovLJQSWOBFwQR1GqUEIdCm4X98zx+RUMKXhn3rfE/AoDSOKaydbnxSrrhKA4kkrpKQSgOOKbcUzW18UIvLIxnrEX9nFZnENuYGaQsdKep7LULRqL6+a1EDl4RiO11VLcBwib0j0969Q+jmR5oIi8uJJebvuTbObceVlUSSNtEU+o0KkhZGAIQhAJKQ5LKbcgGnlMPKeeo70AzI5Qqx12OHUWUmVVeJPyscTyCFKiqg4N6kN9psrOqkAYWjhbKAOnBUBr888UMfac4l1h0Av+yvKuOzALG/MoCua5rJI8unFrvMfvZWJesvNO/fBjBcghxJ4AX+OivYHOI1UBJKSWpTQlhqAjmNNmFTci5u0KV76cHkmH0Y6K2MaQYkBk8U2agm1cyx/M3su9vNY/FdkZotYvtW9NA4eXNesuhTMlMDyULZ4vR4lPTusx7mW4tde3m0rT4Ztgx1m1Dch/M25HmOS1mJ7Pwzi0kYd0PAjwI1WLxbYiRl3QOzj8r9D5O4FSjK0zXU1QyQZo3teOrSCp+G/et8T8CvHrz0z/AOJC4eLf7ELSYNtxJG4b6MSW4Edk3tbVBR65dR6utiiF5ZGMH6iB7l5hiW3FXLcMIhb+jjbx4qhBmnd/EmcemZ58+ihdp6Nie3dOzSEGY9fRasriO2VXNcBwib0j0NvHiu4dsZUyayWiHf2newae9avDNiKePV7TKesmo/l4K0LSPPIYJ6h3ZbJKeZ1PtJ0C0WG7ESv1mfux+VnaPt4D3r0amw5rAA1oA6AWCmsgAVoxcjNYRslTQkERhzvzP7R8r8PJbKghDRomI2KfAFTFk+BSQo8KkBUxBCEIBJTbk6UghAMPCYeFLc1NOYgIMjVArKYPaWuFwRYjuVw6NNOhQGQiwEQPEtOxoeNOlweV09NNVuBaIrX5ucy3uJK0xp1z6uhTJ0OClurzmcTdx7+7uVkyksrr6ujcKAqhTpQhVpuEbhAVm5RuVabhG4QFXuVzcK13CNwgKk064aZW+4RuEBSmlTb6G/JX24RuEFmSr9no5m5ZGNeOjgCsjiH0YkuDqeUMF9WyXcAP0ka+269b3C7uEotnmmG/RzEyxmLpj/K2/cBr7StTR4JHEMrGNaOjQAPctHuV3cpQsqWUgHJPNgVhuV3dICAIkoRqbukbpCEVsalRNXREnmMQD0QT4TTAnVSAhCEAJNkpCAQQuFqcQgGSxJMafsiyAY3S5ulIsiyAj7pG6UiyLICPukbpSLIsgGN0jdJ+yLIBjdI3SfsiyAY3aN2n7IsgGN2jdp+yLIBjdo3afsiyAY3aN2n7IsgGN2jdp+yLIBndo3aesiyAZ3aUGpyyLIDgCUhCA//Z"/>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0000"/>
              </a:solidFill>
            </a:endParaRPr>
          </a:p>
        </p:txBody>
      </p:sp>
      <p:graphicFrame>
        <p:nvGraphicFramePr>
          <p:cNvPr id="9" name="Chart 8"/>
          <p:cNvGraphicFramePr>
            <a:graphicFrameLocks/>
          </p:cNvGraphicFramePr>
          <p:nvPr>
            <p:extLst>
              <p:ext uri="{D42A27DB-BD31-4B8C-83A1-F6EECF244321}">
                <p14:modId xmlns:p14="http://schemas.microsoft.com/office/powerpoint/2010/main" val="2350193307"/>
              </p:ext>
            </p:extLst>
          </p:nvPr>
        </p:nvGraphicFramePr>
        <p:xfrm>
          <a:off x="7348398" y="4954771"/>
          <a:ext cx="2450426" cy="2245023"/>
        </p:xfrm>
        <a:graphic>
          <a:graphicData uri="http://schemas.openxmlformats.org/drawingml/2006/chart">
            <c:chart xmlns:c="http://schemas.openxmlformats.org/drawingml/2006/chart" xmlns:r="http://schemas.openxmlformats.org/officeDocument/2006/relationships" r:id="rId4"/>
          </a:graphicData>
        </a:graphic>
      </p:graphicFrame>
      <p:sp>
        <p:nvSpPr>
          <p:cNvPr id="11" name="Rectangle 9"/>
          <p:cNvSpPr>
            <a:spLocks noChangeArrowheads="1"/>
          </p:cNvSpPr>
          <p:nvPr/>
        </p:nvSpPr>
        <p:spPr bwMode="auto">
          <a:xfrm>
            <a:off x="197200" y="1125896"/>
            <a:ext cx="2084832" cy="5504331"/>
          </a:xfrm>
          <a:prstGeom prst="rect">
            <a:avLst/>
          </a:prstGeom>
          <a:noFill/>
          <a:ln w="9525">
            <a:noFill/>
            <a:miter lim="800000"/>
            <a:headEnd/>
            <a:tailEnd/>
          </a:ln>
          <a:effectLst/>
        </p:spPr>
        <p:txBody>
          <a:bodyPr wrap="square" lIns="101858" tIns="50929" rIns="101858" bIns="50929">
            <a:spAutoFit/>
          </a:bodyPr>
          <a:lstStyle/>
          <a:p>
            <a:endParaRPr lang="en-US" sz="1300" dirty="0">
              <a:solidFill>
                <a:srgbClr val="000000"/>
              </a:solidFill>
              <a:latin typeface="+mn-lt"/>
            </a:endParaRPr>
          </a:p>
          <a:p>
            <a:r>
              <a:rPr lang="en-US" sz="1300" b="1" dirty="0">
                <a:solidFill>
                  <a:srgbClr val="000000"/>
                </a:solidFill>
                <a:latin typeface="+mn-lt"/>
              </a:rPr>
              <a:t>Largest Loan </a:t>
            </a:r>
            <a:r>
              <a:rPr lang="en-US" sz="1300" b="1" dirty="0" smtClean="0">
                <a:solidFill>
                  <a:srgbClr val="000000"/>
                </a:solidFill>
                <a:latin typeface="+mn-lt"/>
              </a:rPr>
              <a:t>Analysis</a:t>
            </a:r>
            <a:endParaRPr lang="en-US" sz="1300" b="1" dirty="0">
              <a:solidFill>
                <a:srgbClr val="000000"/>
              </a:solidFill>
              <a:latin typeface="+mn-lt"/>
            </a:endParaRPr>
          </a:p>
          <a:p>
            <a:endParaRPr lang="en-US" sz="1300" dirty="0">
              <a:solidFill>
                <a:srgbClr val="000000"/>
              </a:solidFill>
              <a:latin typeface="+mn-lt"/>
            </a:endParaRPr>
          </a:p>
          <a:p>
            <a:r>
              <a:rPr lang="en-US" sz="1300" dirty="0" smtClean="0">
                <a:solidFill>
                  <a:srgbClr val="000000"/>
                </a:solidFill>
                <a:latin typeface="+mn-lt"/>
              </a:rPr>
              <a:t>The loan </a:t>
            </a:r>
            <a:r>
              <a:rPr lang="en-US" sz="1300" dirty="0">
                <a:solidFill>
                  <a:srgbClr val="000000"/>
                </a:solidFill>
                <a:latin typeface="+mn-lt"/>
              </a:rPr>
              <a:t>is currently 18% of the </a:t>
            </a:r>
            <a:r>
              <a:rPr lang="en-US" sz="1300" dirty="0" smtClean="0">
                <a:solidFill>
                  <a:srgbClr val="000000"/>
                </a:solidFill>
                <a:latin typeface="+mn-lt"/>
              </a:rPr>
              <a:t>trust. </a:t>
            </a:r>
          </a:p>
          <a:p>
            <a:endParaRPr lang="en-US" sz="1300" dirty="0" smtClean="0">
              <a:solidFill>
                <a:srgbClr val="000000"/>
              </a:solidFill>
              <a:latin typeface="+mn-lt"/>
            </a:endParaRPr>
          </a:p>
          <a:p>
            <a:r>
              <a:rPr lang="en-US" sz="1300" dirty="0" smtClean="0">
                <a:solidFill>
                  <a:srgbClr val="000000"/>
                </a:solidFill>
                <a:latin typeface="+mn-lt"/>
              </a:rPr>
              <a:t>Collateral </a:t>
            </a:r>
            <a:r>
              <a:rPr lang="en-US" sz="1300" dirty="0">
                <a:solidFill>
                  <a:srgbClr val="000000"/>
                </a:solidFill>
                <a:latin typeface="+mn-lt"/>
              </a:rPr>
              <a:t>consists of 8 individual office buildings (2.6 million square feet) with an aggregate occupancy of 53% as of March 31, </a:t>
            </a:r>
            <a:r>
              <a:rPr lang="en-US" sz="1300" dirty="0" smtClean="0">
                <a:solidFill>
                  <a:srgbClr val="000000"/>
                </a:solidFill>
                <a:latin typeface="+mn-lt"/>
              </a:rPr>
              <a:t>2015 which form </a:t>
            </a:r>
            <a:r>
              <a:rPr lang="en-US" sz="1300" dirty="0">
                <a:solidFill>
                  <a:srgbClr val="000000"/>
                </a:solidFill>
                <a:latin typeface="+mn-lt"/>
              </a:rPr>
              <a:t>p</a:t>
            </a:r>
            <a:r>
              <a:rPr lang="en-US" sz="1300" dirty="0" smtClean="0">
                <a:solidFill>
                  <a:srgbClr val="000000"/>
                </a:solidFill>
                <a:latin typeface="+mn-lt"/>
              </a:rPr>
              <a:t>art </a:t>
            </a:r>
            <a:r>
              <a:rPr lang="en-US" sz="1300" dirty="0">
                <a:solidFill>
                  <a:srgbClr val="000000"/>
                </a:solidFill>
                <a:latin typeface="+mn-lt"/>
              </a:rPr>
              <a:t>of a 100 acre, master planned, mixed use corporate park located in Metro Washington </a:t>
            </a:r>
            <a:r>
              <a:rPr lang="en-US" sz="1300" dirty="0" smtClean="0">
                <a:solidFill>
                  <a:srgbClr val="000000"/>
                </a:solidFill>
                <a:latin typeface="+mn-lt"/>
              </a:rPr>
              <a:t>D.C. </a:t>
            </a:r>
          </a:p>
          <a:p>
            <a:endParaRPr lang="en-US" sz="1300" dirty="0" smtClean="0">
              <a:solidFill>
                <a:srgbClr val="000000"/>
              </a:solidFill>
              <a:latin typeface="+mn-lt"/>
            </a:endParaRPr>
          </a:p>
          <a:p>
            <a:r>
              <a:rPr lang="en-US" sz="1300" dirty="0" smtClean="0">
                <a:solidFill>
                  <a:srgbClr val="000000"/>
                </a:solidFill>
                <a:latin typeface="+mn-lt"/>
              </a:rPr>
              <a:t>Loan was modified in 2013 with an A/B Structure under which the Sponsor is contributing equity.</a:t>
            </a:r>
          </a:p>
          <a:p>
            <a:endParaRPr lang="en-US" sz="1300" dirty="0" smtClean="0">
              <a:solidFill>
                <a:srgbClr val="000000"/>
              </a:solidFill>
              <a:latin typeface="+mn-lt"/>
            </a:endParaRPr>
          </a:p>
          <a:p>
            <a:r>
              <a:rPr lang="en-US" sz="1300" dirty="0" smtClean="0">
                <a:solidFill>
                  <a:srgbClr val="000000"/>
                </a:solidFill>
                <a:latin typeface="+mn-lt"/>
              </a:rPr>
              <a:t>Cello sees potential B Note returns creating upside on the example bond.</a:t>
            </a:r>
          </a:p>
          <a:p>
            <a:pPr marL="285750" indent="-285750">
              <a:buFont typeface="Arial" panose="020B0604020202020204" pitchFamily="34" charset="0"/>
              <a:buChar char="•"/>
            </a:pPr>
            <a:endParaRPr lang="en-US" sz="1300" dirty="0">
              <a:solidFill>
                <a:srgbClr val="000000"/>
              </a:solidFill>
              <a:latin typeface="+mn-lt"/>
            </a:endParaRPr>
          </a:p>
          <a:p>
            <a:endParaRPr lang="en-US" sz="1300" dirty="0">
              <a:solidFill>
                <a:srgbClr val="000000"/>
              </a:solidFill>
              <a:latin typeface="+mn-lt"/>
            </a:endParaRPr>
          </a:p>
        </p:txBody>
      </p:sp>
      <p:graphicFrame>
        <p:nvGraphicFramePr>
          <p:cNvPr id="6" name="Object 5"/>
          <p:cNvGraphicFramePr>
            <a:graphicFrameLocks noChangeAspect="1"/>
          </p:cNvGraphicFramePr>
          <p:nvPr>
            <p:extLst>
              <p:ext uri="{D42A27DB-BD31-4B8C-83A1-F6EECF244321}">
                <p14:modId xmlns:p14="http://schemas.microsoft.com/office/powerpoint/2010/main" val="4290466949"/>
              </p:ext>
            </p:extLst>
          </p:nvPr>
        </p:nvGraphicFramePr>
        <p:xfrm>
          <a:off x="3025627" y="2146286"/>
          <a:ext cx="6370339" cy="2863161"/>
        </p:xfrm>
        <a:graphic>
          <a:graphicData uri="http://schemas.openxmlformats.org/presentationml/2006/ole">
            <mc:AlternateContent xmlns:mc="http://schemas.openxmlformats.org/markup-compatibility/2006">
              <mc:Choice xmlns:v="urn:schemas-microsoft-com:vml" Requires="v">
                <p:oleObj spid="_x0000_s1200" name="Worksheet" r:id="rId5" imgW="7819892" imgH="3514657" progId="Excel.Sheet.12">
                  <p:embed/>
                </p:oleObj>
              </mc:Choice>
              <mc:Fallback>
                <p:oleObj name="Worksheet" r:id="rId5" imgW="7819892" imgH="3514657" progId="Excel.Sheet.12">
                  <p:embed/>
                  <p:pic>
                    <p:nvPicPr>
                      <p:cNvPr id="0" name=""/>
                      <p:cNvPicPr/>
                      <p:nvPr/>
                    </p:nvPicPr>
                    <p:blipFill>
                      <a:blip r:embed="rId6"/>
                      <a:stretch>
                        <a:fillRect/>
                      </a:stretch>
                    </p:blipFill>
                    <p:spPr>
                      <a:xfrm>
                        <a:off x="3025627" y="2146286"/>
                        <a:ext cx="6370339" cy="2863161"/>
                      </a:xfrm>
                      <a:prstGeom prst="rect">
                        <a:avLst/>
                      </a:prstGeom>
                    </p:spPr>
                  </p:pic>
                </p:oleObj>
              </mc:Fallback>
            </mc:AlternateContent>
          </a:graphicData>
        </a:graphic>
      </p:graphicFrame>
      <p:sp>
        <p:nvSpPr>
          <p:cNvPr id="12" name="TextBox 11"/>
          <p:cNvSpPr txBox="1"/>
          <p:nvPr/>
        </p:nvSpPr>
        <p:spPr>
          <a:xfrm>
            <a:off x="914400" y="7322820"/>
            <a:ext cx="4244069" cy="200055"/>
          </a:xfrm>
          <a:prstGeom prst="rect">
            <a:avLst/>
          </a:prstGeom>
          <a:noFill/>
        </p:spPr>
        <p:txBody>
          <a:bodyPr wrap="square" rtlCol="0">
            <a:spAutoFit/>
          </a:bodyPr>
          <a:lstStyle/>
          <a:p>
            <a:r>
              <a:rPr lang="en-US" sz="700" dirty="0">
                <a:latin typeface="+mn-lt"/>
              </a:rPr>
              <a:t>Source: </a:t>
            </a:r>
            <a:r>
              <a:rPr lang="en-US" sz="700" dirty="0" err="1">
                <a:latin typeface="+mn-lt"/>
              </a:rPr>
              <a:t>CoStar</a:t>
            </a:r>
            <a:r>
              <a:rPr lang="en-US" sz="700" dirty="0">
                <a:latin typeface="+mn-lt"/>
              </a:rPr>
              <a:t>/</a:t>
            </a:r>
            <a:r>
              <a:rPr lang="en-US" sz="700" dirty="0" err="1">
                <a:latin typeface="+mn-lt"/>
              </a:rPr>
              <a:t>Trepp</a:t>
            </a:r>
            <a:r>
              <a:rPr lang="en-US" sz="700" dirty="0">
                <a:latin typeface="+mn-lt"/>
              </a:rPr>
              <a:t>/Bloomberg and Cello as of March 31, 2015</a:t>
            </a:r>
          </a:p>
        </p:txBody>
      </p:sp>
      <p:graphicFrame>
        <p:nvGraphicFramePr>
          <p:cNvPr id="5" name="Object 4"/>
          <p:cNvGraphicFramePr>
            <a:graphicFrameLocks noChangeAspect="1"/>
          </p:cNvGraphicFramePr>
          <p:nvPr>
            <p:extLst>
              <p:ext uri="{D42A27DB-BD31-4B8C-83A1-F6EECF244321}">
                <p14:modId xmlns:p14="http://schemas.microsoft.com/office/powerpoint/2010/main" val="4210174597"/>
              </p:ext>
            </p:extLst>
          </p:nvPr>
        </p:nvGraphicFramePr>
        <p:xfrm>
          <a:off x="3025627" y="5057356"/>
          <a:ext cx="4379688" cy="2086744"/>
        </p:xfrm>
        <a:graphic>
          <a:graphicData uri="http://schemas.openxmlformats.org/presentationml/2006/ole">
            <mc:AlternateContent xmlns:mc="http://schemas.openxmlformats.org/markup-compatibility/2006">
              <mc:Choice xmlns:v="urn:schemas-microsoft-com:vml" Requires="v">
                <p:oleObj spid="_x0000_s1201" name="Worksheet" r:id="rId7" imgW="5057722" imgH="2409757" progId="Excel.Sheet.12">
                  <p:embed/>
                </p:oleObj>
              </mc:Choice>
              <mc:Fallback>
                <p:oleObj name="Worksheet" r:id="rId7" imgW="5057722" imgH="2409757" progId="Excel.Sheet.12">
                  <p:embed/>
                  <p:pic>
                    <p:nvPicPr>
                      <p:cNvPr id="0" name=""/>
                      <p:cNvPicPr/>
                      <p:nvPr/>
                    </p:nvPicPr>
                    <p:blipFill>
                      <a:blip r:embed="rId8"/>
                      <a:stretch>
                        <a:fillRect/>
                      </a:stretch>
                    </p:blipFill>
                    <p:spPr>
                      <a:xfrm>
                        <a:off x="3025627" y="5057356"/>
                        <a:ext cx="4379688" cy="2086744"/>
                      </a:xfrm>
                      <a:prstGeom prst="rect">
                        <a:avLst/>
                      </a:prstGeom>
                    </p:spPr>
                  </p:pic>
                </p:oleObj>
              </mc:Fallback>
            </mc:AlternateContent>
          </a:graphicData>
        </a:graphic>
      </p:graphicFrame>
    </p:spTree>
    <p:extLst>
      <p:ext uri="{BB962C8B-B14F-4D97-AF65-F5344CB8AC3E}">
        <p14:creationId xmlns:p14="http://schemas.microsoft.com/office/powerpoint/2010/main" val="106224109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9616" y="257190"/>
            <a:ext cx="8574088" cy="609918"/>
          </a:xfrm>
        </p:spPr>
        <p:txBody>
          <a:bodyPr/>
          <a:lstStyle/>
          <a:p>
            <a:r>
              <a:rPr lang="en-US" dirty="0" smtClean="0"/>
              <a:t>CRE MODELING </a:t>
            </a:r>
            <a:br>
              <a:rPr lang="en-US" dirty="0" smtClean="0"/>
            </a:br>
            <a:r>
              <a:rPr lang="en-US" dirty="0" smtClean="0"/>
              <a:t>PROPERTY INSPECTIONS</a:t>
            </a:r>
            <a:endParaRPr lang="en-US" dirty="0"/>
          </a:p>
        </p:txBody>
      </p:sp>
      <p:sp>
        <p:nvSpPr>
          <p:cNvPr id="448528" name="Rectangle 159"/>
          <p:cNvSpPr>
            <a:spLocks noChangeArrowheads="1"/>
          </p:cNvSpPr>
          <p:nvPr/>
        </p:nvSpPr>
        <p:spPr bwMode="auto">
          <a:xfrm>
            <a:off x="2583180" y="1458298"/>
            <a:ext cx="7157415" cy="640079"/>
          </a:xfrm>
          <a:prstGeom prst="rect">
            <a:avLst/>
          </a:prstGeom>
          <a:solidFill>
            <a:srgbClr val="203353"/>
          </a:solidFill>
          <a:ln w="12700">
            <a:noFill/>
            <a:miter lim="800000"/>
            <a:headEnd/>
            <a:tailEnd/>
          </a:ln>
        </p:spPr>
        <p:txBody>
          <a:bodyPr vert="horz" wrap="square" lIns="45710" tIns="45710" rIns="45710" bIns="45710" numCol="1" anchor="ctr" anchorCtr="0" compatLnSpc="1">
            <a:prstTxWarp prst="textNoShape">
              <a:avLst/>
            </a:prstTxWarp>
          </a:bodyPr>
          <a:lstStyle/>
          <a:p>
            <a:pPr algn="ctr" defTabSz="1018586"/>
            <a:r>
              <a:rPr lang="en-US" sz="1300" b="1" dirty="0" smtClean="0">
                <a:solidFill>
                  <a:srgbClr val="FFFFFF"/>
                </a:solidFill>
                <a:latin typeface="Calibri" pitchFamily="34" charset="0"/>
              </a:rPr>
              <a:t>PHYSICAL DUE DILLIGENCE OF PROPERTY</a:t>
            </a:r>
            <a:endParaRPr lang="en-US" b="1" dirty="0">
              <a:solidFill>
                <a:srgbClr val="000000"/>
              </a:solidFill>
              <a:latin typeface="Arial" pitchFamily="34" charset="0"/>
            </a:endParaRPr>
          </a:p>
        </p:txBody>
      </p:sp>
      <p:sp>
        <p:nvSpPr>
          <p:cNvPr id="3" name="AutoShape 2" descr="data:image/jpeg;base64,/9j/4AAQSkZJRgABAQAAAQABAAD/2wCEAAkGBxAQEBUQDw8QEBUUEBUQEBQPFBAQFRUQFRQYFhUUFBQYHCogGBolHBQUITEhKCkrLi4uFx8zODMsNygtLisBCgoKDg0OFxAQGywmHR40LCwvLCwsLi8sLCssLCwsLDEsLCwsLCwsLC8sLCwuNywsLCwsLCwsLCwsLCwsLCwsLP/AABEIALwBCwMBIgACEQEDEQH/xAAcAAABBQEBAQAAAAAAAAAAAAAAAgMEBQYBBwj/xABBEAABAwIDBQQGCAQGAwEAAAABAAIDBBEFEiEGEzFBUSJhcYEycpGhscEHFCMzQlJi0UOSsuEVFjRzgvBjg6Ik/8QAGgEBAQADAQEAAAAAAAAAAAAAAAECAwQFBv/EACwRAAICAQMCBAUFAQAAAAAAAAABAhEDBBIxEyEFQVFhMkKRoeEUInGxwfD/2gAMAwEAAhEDEQA/APcUIQgBCEIAQhCAEIQgBCEIAQhCAEIQgBCEIAQhCAEIQgBCEIAQhCAEIQgBCEIAQhCAEIQgBCEIAQhCAEIQgBCEIAQhCAEIQgBCEIAQhCAEIQgBCFAxvF4aOEzzuIaCBYauc48A0cyjdFjFyaS5ZPQscz6SsOPEzN8Yz8iVH2i23oZqKdkFSRI6F4jGWWN2cjSxtofNYdSPqdC0ea0nF/Q3KF82f4jOeNROfGWQ/NWDa+YcJph4SSD5rQ9Sl5Hp4/BJT+f7fk+g0LO7D1gdQQ55Q52V2bO/M703cbm60LXA8CD4Lpi7SZ4+XG8c5Q9G19DqEIVNYIQhACEIQAhCEAIQhACEIQAhCEAIQhACEIQAhCamd+Hrx8EBGqsQDTZozH2BRxiUn5G+9dmYLoDAgJdLWtfp6J6H5KUquOIXUujqQ+4vq02PyP8A3oha7WSUIQhBE0rWNL3uDWtBc4uNgGgXJJ6Lw3bbaZ1fPdtxDHcQtOl+sjh1PuHmr76Ttqd680UDuww/bub+KQfw79Bz7/BefrkzZL/aj6Dw3R7F1Z8vj2RxJcUpIetB6okKaXKCFIlfZYyN+DhkGVodI42HHp3KXTyPb6L3t9Vzm/BNsbzT7Wqmtq33JceKVI4VNQPCaUfNTIdpK5no1lR5yOd8bqqASgrbMXig+UvoXrNssSHCsk8xEfi1TIdvcSH8drvWjj+QCzACehZzTqSXmT9Jhl22L6I9U2G2vkqnugqizeEZoi0ZQ4Adptr8Rx8L9Ftl88UdcWy3jcWvieCCOIcNbjz0XuezWMtrKdszbB3oyNH4ZBxHhzHcQurBkcv2vk8LxXRRxNZcfwvt/D/JaIQhdB44IQhACEIQAhCEAxWzOjYXtYZLa5W8bc7dfBUf+ZHObdkY14G5PyWjWXroW70vh3eurmu4ZzxPcVqyqbrazZBx+ZFc7aOogPaIkHMP4+Tgp2F7Y7+ZkLaYjMbE5wbDmbZeSqJaH6zMIuzE8n1mhtrkj2FbDBsEhpWkRNJcfTe/V7vE8h3DRa8cci7N9jObhykWSrK+oySa82i3tKs1T7R0znR7xguWXuBxLefsXSaCEay5TjKtZg1mvFOCt71CminrgBdN7Kzl80x5ZWX8but81mKzENOK2OyWHOhhzSCz5DncDxa21mtPlc+Lip5m20oP3LxY36RdqvqcW4hd9vK3Qj+HGdC/xOoHmeSu9p8ejoad00mp9GJl7F8h4Dw5k8gvBa+tkqJXzTOzve7M49/IDoALADkAFrzZNqpcnb4do+rLfL4V92MLq4hcZ9GCS9qWhAMgFLLbnXySwuqMyi6VAAlBAXQhToXQEBKAUKhTG30Wh2Ywf6xJqPs2WL+88mqnpKdznBjBmc4hrQOp4L1vA8JbTQNiGp4vd+Z54n5eACzxQ3P2RyeIanoYqXxS+yPNdt8FMEgqohpoJQOnAO+R8lI2J2k+pzBxJMMlmyjoOT7dW6+V1vsYoRIxzXNBBBBB1BB4grx6to3Uc7oXXyON4ienS/XkfLqtuSLi9yOLRZo5YPDk4Z9GscCAQQQRcEagg8wurA/RhtBnYaKV3aYLwE84ubPFvLuPct8uqElJWjxNTglgyOEvL+gQhCyNAIQhACEIQDFc9zY3OYLuAuATa56XWFmxCIEmoo3xOPF+Vwv/AOxmnvWix/EQWOhjNydC8cGnu6n3LOWlLckkuYHjcAG3etE88Y9jbDE33JWBOjZJvWk3/DvDfskf3Wtgr2O49nx1HtWIip2CwkbmDehLTbuI5q7GDytaH0s+8aRcNl0NvWHzCYcm5FyQpmmBXVkXYnJDpNFNDbiQHZf5h2UMxyN3CV/k8/ut1mqiXjGyscpL4nbpx1ItdhPh+Hy9izVRgFRES12Q2F7tdcEey600VU94JEziOVsundeyamjebkvcSeZN0KheAbMRxZZpSJZLBw/Iw/pHM959yvquqZDG6WVwYxjS97jwDRxKqKbEXRtDXNBAAA1sbBY36UaypnijZTxvfECXzsZbMXD0Da/baNdON7Gx5SUqXY24sXUmlJ0vUx+120T6+oMhu2Nt2wMP4WdT+o8T5DkqVRW1sd8pORw0LXgsIPeDwUhrr6g38Fwyu7Z9Ti2KKjDhDjQSQACSSAANSSeAAWkpNkJTLkle1jGxiSZ7dchP4LnQu93uvY7C4CMv1yXvFO0gecmvsHmeivsdxaCjjDpdSTdkY4vf1PVbYYlVyPP1Oun1Oni5/wB/B5vieHyU7gJGlrX5jCXWBewGwdl4t5aHqoiexHEJamUzTOu46AcmN5NamFplV9j08TltW/kUuhcC6FibEKC6uBKChmjoCdibzSGhXOzuFGpmbGL5R2pT0YOXieA/snPZFcowi5y4RpthMKyj63Iy/wCGEHTS9i/z4Dz6q/qdtadhLWwyOIJHBoFxpxJ+SsjEGsDWgACwAGgABFgFgJKe73H9R+K9HBjSVHxuu1Ms2Tf6/wBGspdojUv3e5DAQTe9zoL9Fnds8DFRGQNHDtMPR3Q9xVlg0GWVp/S74K0q47hXJFXRrwZJRqR45hNfJFIHtJZLC++vHM08x7j/AHXvuzuMsrKds7NL6Pb+WQek3/vIheLba4UYpPrMY7pQOnAO+R8uim7A7TfU5xmP2E1my/pPASW7ufdfoFzQfTlT4Z7eeC1mBSj8Ufv7f9/p7ehcBXV1nz4IQhACrMdrd2zKDq7TwbzKs1jNrqu1RkvwYNPG615ZbYszxq5FfWV8cbHSyODGMFyTyH7rEVn0iXe3cU5MeYh5k0Lmga5LaNPPW/gFZbXUctRSOiiALs7XgEgZg08LnS/PXosDBiM9I6Jk0OkW9LGStLbiXR+vMd+q4IxvuejCqPWcKxeGri3sTr20eDbM135XBaHZrEi127cey42Hc/8AuvPdlsfp52mOGFsD2gExgNsRwzBwAzAd/C60rZGtAa068fDvSEnCVmvJFNUejqJUYZTyG8kETz1cxhPttdR8CxLfx6+k3R3f0Ksrr0k01aOBqnRiTSbiokZHdrM1wLkge1W9O6+hTFbZ0hcOZJ8r6KTTtUBV49UZB5Kv/wAOxAtD2U4LXC9i9jX25XaTp4cVKxsXlZfhnaD4ZgtuSiRslJpKjyfEaOEkfX6EjiAZoifHK+3wKpp9ncJPob6A9Y5JR7nXC9E+kL7uL13fALA1czo25m2ve2qjSMo5p+ppm7SUzAxgcLABoyNNmgCwus1t1Ry1D2VFO3fxiPL9kQXNN7klvMcOHRVjscjvlljI726hTIS1zc8D3AOuDa7b9bqSSkqZlhyyxT3x5MhFWxu4PA7jp8VKaVNqdnonH0berp8FAk2ZkbrFK4dx/t+y0PD6HrY/E18yHQlBQXxVkXpRiQdW6/Cx9ySzFWg2kY5h9v7Fanjkjvx6zFPhlkEsKNDWRu9F7fA6H2FS2Ba32OyLUuByJh5C5OgA468AF6rsrg4pYQCBnd2pD38m+A/fqspsNhG8k+sPHZYbR35ydfAfHwXogXRhh8zPF8W1Vvox4XP8nJjp7PiFlm07iT2OfgtPLcjRNku6hvqgBdUZUeDJWQqaAgh2Uga6+SflS8mt7k+JJXHMJRuypUUeL0gkaQRe4sb9F5l/l3EIHuD6Ko3Zed25rHSNyk9g3bfiLL16dnIrV0+jG+qPgsHBSOnBqpYHcSFs1QyU9JDDK8veyMBxOtjxyg8w30R3BWa4F1bEqVHLKTlJyfmCEIVMQXl+0NdDNO50hbfhy0A0ABXqCrZ8Bo3uzPo6Z7iblz4YnG54m5C15IOaqzOEtp4jtLR1Ega6lqXjKLFjZHR3HG9weKzzaqt37GOja6UUzoWiQg5oydXuJPaK+hKrZKgk40sbf9kvg9u7IuoX+QsOvm3LyeH30/DpfNdaug0b1qPY8g2Wwv6mTLK9pkLMga03DWmxNzzOgWkpq1z9IY5JSTYmNrn6+QXotPslh8fCjhd/vAz++QlW0MbWNDWNaxo4NYA0DwA0T9PfLMXnbMrslRVTZM743RMsQ4SWBItoA3je+tytHidTlblB1d7m81JustidWXPdr+Mt8ADYD3LdGKiqRplLc7Y7Eczr+xWEfBVVNKAp4nFuKyIUuOu59Df2Lah19Vg8bfoVtmOsAO4IiyM3t+fs4vXd8AvP8SHY8wt7t277OL13f0rB4j6HmFGVGTrx2z4BabZ1v/5m+u/4rNV/pnwC1Ozn+lb67/ioCQ+NRTWFpOZlwHEdnQ2Btw4KwIUCog0cf1O/qWUUnySTa4JFJJHMcrfSsXWItoE1Ph8b9HMafEAowCO0x/23/BT7KSVMsZOrM5U7KwO9EFnqn5HRcwjZiVsrY2ygse4NOYG7e8fstMGqdhLftmesFg4p8nTj1OTG7izV0NK2JjY2CzWgAD/vNTmQuPAFMZlltotqqyOUwxOY0BrTmy3dci/h7llGN9kc85+bNoaQ/iIb4kKFIbHjfwXnEtdUzfezyOvxF8o/lbYLfMPZHgPgspR2mEZbhGIY1HSszPiMl3ZRY8yCdfYqKfbWod91FHEP5intpm5o2j/yA/8Ay5UsFLos4JV3MJt32NPTzufG17zdzmguPeQtjD6I8B8Fi6bSNo/SPgtnGdB4LBGxjwXUkJSpiCEIQHCuFdK4UBwpJK6SkEoDhKSSuEpBcgFFyw2OSGKokHIuzfzdr5raFyyG2sPaZIObcp8R/YoUrxijRxNk4MU6FM4Dh0MrZzMwODIwWkkjKTmNxb1VU4ZhD5HGz3BnkgLelc6pqWRDhfPJ3RtNz7dB5reGRZrZegbEHyC5znI0u1ORnE+br+wK6dKoUpdtX3ZH65+CxOIeh5hWO3O1DIqhtNIw2DGy52m+rrixb/x96qJquOWLNG9rhcXseHiOSjKkZmv+8PgFqtm/9K313/FYfGql4lIZa1hqNdbLZbHuJo2Fxuc7/wCpQFsU4+FrmHKQdb35am6RZIMWtxcHqNFU6I1Z3DYHMkNxpu3fBOLkMrwdbO0I6HUW80oI3ZUqFNU7Cvvmet8lBCnYV98zx+RUBqyVi8ehzVDj+ln9IWvJVbNhhkeXkaEDU2A0AHFZQdMxmrRn4aXRa0HQeCiikjaLF3dZgzJ8lWbskFRFracy2aORv15JLaAMHbcG+PH2BPOB17RAPEDRNbsDkopUjJxtnW6ADpYLYsKxhK1sbkQZMalpphTqpiCEIQHCklKKQUAlxTbilOKZcUBxzk1I+wuh7lBxOQiJ5HENuhTgrzzZ7CoWMtE8YaAbhwIvp4qp/wARcBcpyKoqXsMgDGtDS5ucm7gByAQCqWkdG2VgbcSMDNOVswJPk5OOiyMEbNHP08BzcfAKuwytnqCQ54i7OYZRmPEDme9W1NTiO5zOe48XO4+A6BQExpDGhrdA0BoHcNFGnqEmR6iykoU85+kQgVLJC0OLoyDm6Ndpb+YqgiqWO09Hu4Bel4vhEVQLSsDrcDwI8DyWKxbYyRl3QOzj8rrB3keB9yjRkmVT4PBarZeshEDYhKzOHOJbcX1OiwsmG1JcWbmXTSxa4AeZ0S3YLVR9oxO/46keQUKeoosvPMP2jqIdC7eAfhk1I7r8QtRh21EEujzundH8PJyEovLJQSWOBFwQR1GqUEIdCm4X98zx+RUMKXhn3rfE/AoDSOKaydbnxSrrhKA4kkrpKQSgOOKbcUzW18UIvLIxnrEX9nFZnENuYGaQsdKep7LULRqL6+a1EDl4RiO11VLcBwib0j0969Q+jmR5oIi8uJJebvuTbObceVlUSSNtEU+o0KkhZGAIQhAJKQ5LKbcgGnlMPKeeo70AzI5Qqx12OHUWUmVVeJPyscTyCFKiqg4N6kN9psrOqkAYWjhbKAOnBUBr888UMfac4l1h0Av+yvKuOzALG/MoCua5rJI8unFrvMfvZWJesvNO/fBjBcghxJ4AX+OivYHOI1UBJKSWpTQlhqAjmNNmFTci5u0KV76cHkmH0Y6K2MaQYkBk8U2agm1cyx/M3su9vNY/FdkZotYvtW9NA4eXNesuhTMlMDyULZ4vR4lPTusx7mW4tde3m0rT4Ztgx1m1Dch/M25HmOS1mJ7Pwzi0kYd0PAjwI1WLxbYiRl3QOzj8r9D5O4FSjK0zXU1QyQZo3teOrSCp+G/et8T8CvHrz0z/AOJC4eLf7ELSYNtxJG4b6MSW4Edk3tbVBR65dR6utiiF5ZGMH6iB7l5hiW3FXLcMIhb+jjbx4qhBmnd/EmcemZ58+ihdp6Nie3dOzSEGY9fRasriO2VXNcBwib0j0NvHiu4dsZUyayWiHf2newae9avDNiKePV7TKesmo/l4K0LSPPIYJ6h3ZbJKeZ1PtJ0C0WG7ESv1mfux+VnaPt4D3r0amw5rAA1oA6AWCmsgAVoxcjNYRslTQkERhzvzP7R8r8PJbKghDRomI2KfAFTFk+BSQo8KkBUxBCEIBJTbk6UghAMPCYeFLc1NOYgIMjVArKYPaWuFwRYjuVw6NNOhQGQiwEQPEtOxoeNOlweV09NNVuBaIrX5ucy3uJK0xp1z6uhTJ0OClurzmcTdx7+7uVkyksrr6ujcKAqhTpQhVpuEbhAVm5RuVabhG4QFXuVzcK13CNwgKk064aZW+4RuEBSmlTb6G/JX24RuEFmSr9no5m5ZGNeOjgCsjiH0YkuDqeUMF9WyXcAP0ka+269b3C7uEotnmmG/RzEyxmLpj/K2/cBr7StTR4JHEMrGNaOjQAPctHuV3cpQsqWUgHJPNgVhuV3dICAIkoRqbukbpCEVsalRNXREnmMQD0QT4TTAnVSAhCEAJNkpCAQQuFqcQgGSxJMafsiyAY3S5ulIsiyAj7pG6UiyLICPukbpSLIsgGN0jdJ+yLIBjdI3SfsiyAY3aN2n7IsgGN2jdp+yLIBjdo3afsiyAY3aN2n7IsgGN2jdp+yLIBndo3aesiyAZ3aUGpyyLIDgCUhCA//Z"/>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0000"/>
              </a:solidFill>
            </a:endParaRPr>
          </a:p>
        </p:txBody>
      </p:sp>
      <p:sp>
        <p:nvSpPr>
          <p:cNvPr id="6" name="Rectangle 9"/>
          <p:cNvSpPr>
            <a:spLocks noChangeArrowheads="1"/>
          </p:cNvSpPr>
          <p:nvPr/>
        </p:nvSpPr>
        <p:spPr bwMode="auto">
          <a:xfrm>
            <a:off x="155575" y="1339679"/>
            <a:ext cx="2084832" cy="5362113"/>
          </a:xfrm>
          <a:prstGeom prst="rect">
            <a:avLst/>
          </a:prstGeom>
          <a:noFill/>
          <a:ln w="9525">
            <a:noFill/>
            <a:miter lim="800000"/>
            <a:headEnd/>
            <a:tailEnd/>
          </a:ln>
          <a:effectLst/>
        </p:spPr>
        <p:txBody>
          <a:bodyPr wrap="square" lIns="101858" tIns="50929" rIns="101858" bIns="50929">
            <a:spAutoFit/>
          </a:bodyPr>
          <a:lstStyle/>
          <a:p>
            <a:pPr>
              <a:lnSpc>
                <a:spcPct val="110000"/>
              </a:lnSpc>
              <a:spcBef>
                <a:spcPct val="77000"/>
              </a:spcBef>
              <a:buClr>
                <a:srgbClr val="000000"/>
              </a:buClr>
            </a:pPr>
            <a:r>
              <a:rPr lang="en-US" sz="1300" dirty="0" smtClean="0">
                <a:latin typeface="Calibri"/>
              </a:rPr>
              <a:t>The Skyline Portfolio was a key transaction valuation component of the Bond example presented on page 17 and would be the subject of physical Cello due diligence prior to an investment.</a:t>
            </a:r>
          </a:p>
          <a:p>
            <a:pPr>
              <a:lnSpc>
                <a:spcPct val="110000"/>
              </a:lnSpc>
              <a:spcBef>
                <a:spcPct val="77000"/>
              </a:spcBef>
              <a:buClr>
                <a:srgbClr val="000000"/>
              </a:buClr>
            </a:pPr>
            <a:r>
              <a:rPr lang="en-US" sz="1300" dirty="0" smtClean="0">
                <a:latin typeface="Calibri"/>
              </a:rPr>
              <a:t>Cello has a relationship with a Dallas-based Special Servicer; a partnership we use for portions of the Due Diligence process.</a:t>
            </a:r>
            <a:endParaRPr lang="en-US" sz="1300" dirty="0">
              <a:latin typeface="Calibri"/>
            </a:endParaRPr>
          </a:p>
          <a:p>
            <a:pPr>
              <a:lnSpc>
                <a:spcPct val="110000"/>
              </a:lnSpc>
              <a:spcBef>
                <a:spcPct val="77000"/>
              </a:spcBef>
              <a:buClr>
                <a:srgbClr val="000000"/>
              </a:buClr>
            </a:pPr>
            <a:endParaRPr lang="en-US" sz="1300" dirty="0" smtClean="0">
              <a:latin typeface="Calibri"/>
            </a:endParaRPr>
          </a:p>
          <a:p>
            <a:pPr>
              <a:lnSpc>
                <a:spcPct val="110000"/>
              </a:lnSpc>
              <a:spcBef>
                <a:spcPct val="77000"/>
              </a:spcBef>
              <a:buClr>
                <a:srgbClr val="000000"/>
              </a:buClr>
            </a:pPr>
            <a:endParaRPr lang="en-US" sz="1300" dirty="0" smtClean="0">
              <a:latin typeface="Calibri"/>
            </a:endParaRPr>
          </a:p>
          <a:p>
            <a:pPr>
              <a:lnSpc>
                <a:spcPct val="110000"/>
              </a:lnSpc>
              <a:spcBef>
                <a:spcPct val="77000"/>
              </a:spcBef>
              <a:buClr>
                <a:srgbClr val="000000"/>
              </a:buClr>
            </a:pPr>
            <a:r>
              <a:rPr lang="en-US" sz="1300" dirty="0" smtClean="0">
                <a:latin typeface="Calibri"/>
              </a:rPr>
              <a:t>  </a:t>
            </a:r>
          </a:p>
          <a:p>
            <a:pPr>
              <a:lnSpc>
                <a:spcPct val="110000"/>
              </a:lnSpc>
              <a:spcBef>
                <a:spcPct val="77000"/>
              </a:spcBef>
              <a:buClr>
                <a:srgbClr val="000000"/>
              </a:buClr>
            </a:pPr>
            <a:endParaRPr lang="en-US" sz="1300" dirty="0">
              <a:solidFill>
                <a:srgbClr val="C00000"/>
              </a:solidFill>
              <a:latin typeface="Calibri"/>
            </a:endParaRPr>
          </a:p>
          <a:p>
            <a:pPr>
              <a:lnSpc>
                <a:spcPct val="110000"/>
              </a:lnSpc>
              <a:spcBef>
                <a:spcPct val="77000"/>
              </a:spcBef>
              <a:buClr>
                <a:srgbClr val="000000"/>
              </a:buClr>
            </a:pPr>
            <a:endParaRPr lang="en-US" sz="1300" dirty="0" smtClean="0">
              <a:solidFill>
                <a:srgbClr val="C00000"/>
              </a:solidFill>
              <a:latin typeface="Calibri"/>
            </a:endParaRPr>
          </a:p>
          <a:p>
            <a:pPr>
              <a:lnSpc>
                <a:spcPct val="110000"/>
              </a:lnSpc>
              <a:spcBef>
                <a:spcPct val="77000"/>
              </a:spcBef>
              <a:buClr>
                <a:srgbClr val="000000"/>
              </a:buClr>
            </a:pPr>
            <a:endParaRPr lang="en-US" sz="1300" dirty="0">
              <a:solidFill>
                <a:srgbClr val="C00000"/>
              </a:solidFill>
              <a:latin typeface="Calibri"/>
            </a:endParaRPr>
          </a:p>
        </p:txBody>
      </p:sp>
      <p:pic>
        <p:nvPicPr>
          <p:cNvPr id="5" name="Picture 4"/>
          <p:cNvPicPr>
            <a:picLocks noChangeAspect="1"/>
          </p:cNvPicPr>
          <p:nvPr/>
        </p:nvPicPr>
        <p:blipFill>
          <a:blip r:embed="rId3"/>
          <a:stretch>
            <a:fillRect/>
          </a:stretch>
        </p:blipFill>
        <p:spPr>
          <a:xfrm>
            <a:off x="2760160" y="2218157"/>
            <a:ext cx="6657549" cy="4670498"/>
          </a:xfrm>
          <a:prstGeom prst="rect">
            <a:avLst/>
          </a:prstGeom>
        </p:spPr>
      </p:pic>
    </p:spTree>
    <p:extLst>
      <p:ext uri="{BB962C8B-B14F-4D97-AF65-F5344CB8AC3E}">
        <p14:creationId xmlns:p14="http://schemas.microsoft.com/office/powerpoint/2010/main" val="250472513"/>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aH4Npqag8ESMrCAv3xFb0A"/>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aH4Npqag8ESMrCAv3xFb0A"/>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eIyJAvTK6EOWvDOa_eKQh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stEKNiqSSUm.Pxf10hkaFg"/>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eIyJAvTK6EOWvDOa_eKQh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stEKNiqSSUm.Pxf10hkaFg"/>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JEa2F8LQUEyxStrXkIqA.Q"/>
</p:tagLst>
</file>

<file path=ppt/theme/theme1.xml><?xml version="1.0" encoding="utf-8"?>
<a:theme xmlns:a="http://schemas.openxmlformats.org/drawingml/2006/main" name="Office Theme">
  <a:themeElements>
    <a:clrScheme name="Cello">
      <a:dk1>
        <a:srgbClr val="000000"/>
      </a:dk1>
      <a:lt1>
        <a:srgbClr val="FFFFFF"/>
      </a:lt1>
      <a:dk2>
        <a:srgbClr val="203353"/>
      </a:dk2>
      <a:lt2>
        <a:srgbClr val="EFEBE4"/>
      </a:lt2>
      <a:accent1>
        <a:srgbClr val="2E398A"/>
      </a:accent1>
      <a:accent2>
        <a:srgbClr val="8891D5"/>
      </a:accent2>
      <a:accent3>
        <a:srgbClr val="968880"/>
      </a:accent3>
      <a:accent4>
        <a:srgbClr val="000000"/>
      </a:accent4>
      <a:accent5>
        <a:srgbClr val="ADAEC4"/>
      </a:accent5>
      <a:accent6>
        <a:srgbClr val="7B83C1"/>
      </a:accent6>
      <a:hlink>
        <a:srgbClr val="968880"/>
      </a:hlink>
      <a:folHlink>
        <a:srgbClr val="533D2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4707</TotalTime>
  <Words>1964</Words>
  <Application>Microsoft Office PowerPoint</Application>
  <PresentationFormat>Custom</PresentationFormat>
  <Paragraphs>368</Paragraphs>
  <Slides>12</Slides>
  <Notes>8</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12</vt:i4>
      </vt:variant>
    </vt:vector>
  </HeadingPairs>
  <TitlesOfParts>
    <vt:vector size="14" baseType="lpstr">
      <vt:lpstr>Office Theme</vt:lpstr>
      <vt:lpstr>Worksheet</vt:lpstr>
      <vt:lpstr>CELLO CRE MODELING FRAMEWORK</vt:lpstr>
      <vt:lpstr>INVESTMENT APPROACH</vt:lpstr>
      <vt:lpstr>CRE Modeling HOLDERS OF CRE RISK: A CAPITAL MARKETS VIEW </vt:lpstr>
      <vt:lpstr>CRE Modeling COMMERCIAL PROPERTY AND Loan basics</vt:lpstr>
      <vt:lpstr>CRE Modeling  CRE Modeling framework: ETUDE</vt:lpstr>
      <vt:lpstr>CRE Modeling DATA SOURCES FOR MODELING CRE RISK </vt:lpstr>
      <vt:lpstr>CRE Modeling MODELING THE EVOLUTION OF ASSET PRICES  </vt:lpstr>
      <vt:lpstr>CRE Modeling  CRE model parameters and Assumptions</vt:lpstr>
      <vt:lpstr>CRE Modeling RESIDENTIAL LOANS VERSUS COMMERCIAL LOANS</vt:lpstr>
      <vt:lpstr>CRE Modeling FORECASTING Loan outcomeS </vt:lpstr>
      <vt:lpstr>CRE MODELING  LARGE LOAN ANALYSIS</vt:lpstr>
      <vt:lpstr>CRE MODELING  PROPERTY INSPECTIONS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Matt</dc:creator>
  <cp:lastModifiedBy>Sharad Chaudhary</cp:lastModifiedBy>
  <cp:revision>430</cp:revision>
  <cp:lastPrinted>2015-07-02T14:12:03Z</cp:lastPrinted>
  <dcterms:created xsi:type="dcterms:W3CDTF">2015-05-21T20:34:11Z</dcterms:created>
  <dcterms:modified xsi:type="dcterms:W3CDTF">2015-07-02T15:22:52Z</dcterms:modified>
</cp:coreProperties>
</file>