
<file path=[Content_Types].xml><?xml version="1.0" encoding="utf-8"?>
<Types xmlns="http://schemas.openxmlformats.org/package/2006/content-types">
  <Default Extension="png" ContentType="image/png"/>
  <Default Extension="emf" ContentType="image/x-emf"/>
  <Default Extension="jpeg" ContentType="image/jpeg"/>
  <Default Extension="rels" ContentType="application/vnd.openxmlformats-package.relationships+xml"/>
  <Default Extension="xml" ContentType="application/xml"/>
  <Default Extension="gif" ContentType="image/gif"/>
  <Default Extension="xlsx" ContentType="application/vnd.openxmlformats-officedocument.spreadsheetml.sheet"/>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1.xml" ContentType="application/vnd.openxmlformats-officedocument.presentationml.tags+xml"/>
  <Override PartName="/ppt/tags/tag2.xml" ContentType="application/vnd.openxmlformats-officedocument.presentationml.tags+xml"/>
  <Override PartName="/ppt/tags/tag3.xml" ContentType="application/vnd.openxmlformats-officedocument.presentationml.tags+xml"/>
  <Override PartName="/ppt/tags/tag4.xml" ContentType="application/vnd.openxmlformats-officedocument.presentationml.tags+xml"/>
  <Override PartName="/ppt/tags/tag5.xml" ContentType="application/vnd.openxmlformats-officedocument.presentationml.tags+xml"/>
  <Override PartName="/ppt/notesSlides/notesSlide6.xml" ContentType="application/vnd.openxmlformats-officedocument.presentationml.notesSlide+xml"/>
  <Override PartName="/ppt/charts/chart1.xml" ContentType="application/vnd.openxmlformats-officedocument.drawingml.char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17"/>
  </p:notesMasterIdLst>
  <p:handoutMasterIdLst>
    <p:handoutMasterId r:id="rId18"/>
  </p:handoutMasterIdLst>
  <p:sldIdLst>
    <p:sldId id="257" r:id="rId2"/>
    <p:sldId id="258" r:id="rId3"/>
    <p:sldId id="299" r:id="rId4"/>
    <p:sldId id="309" r:id="rId5"/>
    <p:sldId id="260" r:id="rId6"/>
    <p:sldId id="307" r:id="rId7"/>
    <p:sldId id="314" r:id="rId8"/>
    <p:sldId id="315" r:id="rId9"/>
    <p:sldId id="295" r:id="rId10"/>
    <p:sldId id="313" r:id="rId11"/>
    <p:sldId id="305" r:id="rId12"/>
    <p:sldId id="296" r:id="rId13"/>
    <p:sldId id="282" r:id="rId14"/>
    <p:sldId id="312" r:id="rId15"/>
    <p:sldId id="301" r:id="rId16"/>
  </p:sldIdLst>
  <p:sldSz cx="10058400" cy="7772400"/>
  <p:notesSz cx="7010400" cy="9296400"/>
  <p:defaultText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defaultTextStyle>
  <p:extLst>
    <p:ext uri="{EFAFB233-063F-42B5-8137-9DF3F51BA10A}">
      <p15:sldGuideLst xmlns:p15="http://schemas.microsoft.com/office/powerpoint/2012/main" xmlns="">
        <p15:guide id="1" orient="horz" pos="3456">
          <p15:clr>
            <a:srgbClr val="A4A3A4"/>
          </p15:clr>
        </p15:guide>
        <p15:guide id="2" orient="horz" pos="144">
          <p15:clr>
            <a:srgbClr val="A4A3A4"/>
          </p15:clr>
        </p15:guide>
        <p15:guide id="3" orient="horz" pos="207">
          <p15:clr>
            <a:srgbClr val="A4A3A4"/>
          </p15:clr>
        </p15:guide>
        <p15:guide id="4" orient="horz" pos="4752">
          <p15:clr>
            <a:srgbClr val="A4A3A4"/>
          </p15:clr>
        </p15:guide>
        <p15:guide id="5" orient="horz" pos="788">
          <p15:clr>
            <a:srgbClr val="A4A3A4"/>
          </p15:clr>
        </p15:guide>
        <p15:guide id="6" orient="horz" pos="4519">
          <p15:clr>
            <a:srgbClr val="A4A3A4"/>
          </p15:clr>
        </p15:guide>
        <p15:guide id="7" orient="horz" pos="1200">
          <p15:clr>
            <a:srgbClr val="A4A3A4"/>
          </p15:clr>
        </p15:guide>
        <p15:guide id="8" orient="horz" pos="4320">
          <p15:clr>
            <a:srgbClr val="A4A3A4"/>
          </p15:clr>
        </p15:guide>
        <p15:guide id="9" orient="horz" pos="4032">
          <p15:clr>
            <a:srgbClr val="A4A3A4"/>
          </p15:clr>
        </p15:guide>
        <p15:guide id="10" pos="3168">
          <p15:clr>
            <a:srgbClr val="A4A3A4"/>
          </p15:clr>
        </p15:guide>
        <p15:guide id="11" pos="185">
          <p15:clr>
            <a:srgbClr val="A4A3A4"/>
          </p15:clr>
        </p15:guide>
        <p15:guide id="12" pos="6150">
          <p15:clr>
            <a:srgbClr val="A4A3A4"/>
          </p15:clr>
        </p15:guide>
        <p15:guide id="13" pos="3072">
          <p15:clr>
            <a:srgbClr val="A4A3A4"/>
          </p15:clr>
        </p15:guide>
        <p15:guide id="14" pos="3264">
          <p15:clr>
            <a:srgbClr val="A4A3A4"/>
          </p15:clr>
        </p15:guide>
        <p15:guide id="15" pos="1344">
          <p15:clr>
            <a:srgbClr val="A4A3A4"/>
          </p15:clr>
        </p15:guide>
        <p15:guide id="16" pos="2101">
          <p15:clr>
            <a:srgbClr val="A4A3A4"/>
          </p15:clr>
        </p15:guide>
        <p15:guide id="17" pos="528">
          <p15:clr>
            <a:srgbClr val="A4A3A4"/>
          </p15:clr>
        </p15:guide>
        <p15:guide id="18" pos="3866">
          <p15:clr>
            <a:srgbClr val="A4A3A4"/>
          </p15:clr>
        </p15:guide>
        <p15:guide id="19" pos="3775">
          <p15:clr>
            <a:srgbClr val="A4A3A4"/>
          </p15:clr>
        </p15:guide>
        <p15:guide id="20" pos="3963">
          <p15:clr>
            <a:srgbClr val="A4A3A4"/>
          </p15:clr>
        </p15:guide>
        <p15:guide id="21" pos="4812">
          <p15:clr>
            <a:srgbClr val="A4A3A4"/>
          </p15:clr>
        </p15:guide>
        <p15:guide id="22" pos="720">
          <p15:clr>
            <a:srgbClr val="A4A3A4"/>
          </p15:clr>
        </p15:guide>
        <p15:guide id="23" pos="480">
          <p15:clr>
            <a:srgbClr val="A4A3A4"/>
          </p15:clr>
        </p15:guide>
        <p15:guide id="24" pos="4605">
          <p15:clr>
            <a:srgbClr val="A4A3A4"/>
          </p15:clr>
        </p15:guide>
        <p15:guide id="25" pos="2304">
          <p15:clr>
            <a:srgbClr val="A4A3A4"/>
          </p15:clr>
        </p15:guide>
        <p15:guide id="26" pos="1584">
          <p15:clr>
            <a:srgbClr val="A4A3A4"/>
          </p15:clr>
        </p15:guide>
      </p15:sldGuideLst>
    </p:ext>
    <p:ext uri="{2D200454-40CA-4A62-9FC3-DE9A4176ACB9}">
      <p15:notesGuideLst xmlns:p15="http://schemas.microsoft.com/office/powerpoint/2012/main" xmlns="">
        <p15:guide id="1" orient="horz" pos="2904" userDrawn="1">
          <p15:clr>
            <a:srgbClr val="A4A3A4"/>
          </p15:clr>
        </p15:guide>
        <p15:guide id="2" pos="2184" userDrawn="1">
          <p15:clr>
            <a:srgbClr val="A4A3A4"/>
          </p15:clr>
        </p15:guide>
        <p15:guide id="3" orient="horz" pos="2928">
          <p15:clr>
            <a:srgbClr val="A4A3A4"/>
          </p15:clr>
        </p15:guide>
        <p15:guide id="4" pos="2208">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002060"/>
    <a:srgbClr val="2E3989"/>
    <a:srgbClr val="C7732D"/>
    <a:srgbClr val="533D2D"/>
    <a:srgbClr val="592E8A"/>
    <a:srgbClr val="2E398A"/>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xmlns=""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1303" autoAdjust="0"/>
    <p:restoredTop sz="94660" autoAdjust="0"/>
  </p:normalViewPr>
  <p:slideViewPr>
    <p:cSldViewPr showGuides="1">
      <p:cViewPr varScale="1">
        <p:scale>
          <a:sx n="123" d="100"/>
          <a:sy n="123" d="100"/>
        </p:scale>
        <p:origin x="-1086" y="-108"/>
      </p:cViewPr>
      <p:guideLst>
        <p:guide orient="horz" pos="3456"/>
        <p:guide orient="horz" pos="144"/>
        <p:guide orient="horz" pos="207"/>
        <p:guide orient="horz" pos="4752"/>
        <p:guide orient="horz" pos="788"/>
        <p:guide orient="horz" pos="4519"/>
        <p:guide orient="horz" pos="1200"/>
        <p:guide orient="horz" pos="4320"/>
        <p:guide orient="horz" pos="4032"/>
        <p:guide pos="3168"/>
        <p:guide pos="185"/>
        <p:guide pos="6150"/>
        <p:guide pos="3072"/>
        <p:guide pos="3264"/>
        <p:guide pos="1344"/>
        <p:guide pos="2101"/>
        <p:guide pos="528"/>
        <p:guide pos="3866"/>
        <p:guide pos="3775"/>
        <p:guide pos="3963"/>
        <p:guide pos="4812"/>
        <p:guide pos="720"/>
        <p:guide pos="480"/>
        <p:guide pos="4605"/>
        <p:guide pos="2304"/>
        <p:guide pos="1584"/>
      </p:guideLst>
    </p:cSldViewPr>
  </p:slideViewPr>
  <p:notesTextViewPr>
    <p:cViewPr>
      <p:scale>
        <a:sx n="1" d="1"/>
        <a:sy n="1" d="1"/>
      </p:scale>
      <p:origin x="0" y="0"/>
    </p:cViewPr>
  </p:notesTextViewPr>
  <p:notesViewPr>
    <p:cSldViewPr showGuides="1">
      <p:cViewPr varScale="1">
        <p:scale>
          <a:sx n="80" d="100"/>
          <a:sy n="80" d="100"/>
        </p:scale>
        <p:origin x="-1974" y="-78"/>
      </p:cViewPr>
      <p:guideLst>
        <p:guide orient="horz" pos="2904"/>
        <p:guide orient="horz" pos="2928"/>
        <p:guide pos="2184"/>
        <p:guide pos="2208"/>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handoutMaster" Target="handoutMasters/handoutMaster1.xml"/><Relationship Id="rId3" Type="http://schemas.openxmlformats.org/officeDocument/2006/relationships/slide" Target="slides/slide2.xml"/><Relationship Id="rId21" Type="http://schemas.openxmlformats.org/officeDocument/2006/relationships/theme" Target="theme/theme1.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notesMaster" Target="notesMasters/notesMaster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10" Type="http://schemas.openxmlformats.org/officeDocument/2006/relationships/slide" Target="slides/slide9.xml"/><Relationship Id="rId19"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ableStyles" Target="tableStyles.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Worksheet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en-US"/>
  <c:roundedCorners val="0"/>
  <mc:AlternateContent xmlns:mc="http://schemas.openxmlformats.org/markup-compatibility/2006">
    <mc:Choice xmlns:c14="http://schemas.microsoft.com/office/drawing/2007/8/2/chart" Requires="c14">
      <c14:style val="102"/>
    </mc:Choice>
    <mc:Fallback>
      <c:style val="2"/>
    </mc:Fallback>
  </mc:AlternateContent>
  <c:chart>
    <c:autoTitleDeleted val="1"/>
    <c:plotArea>
      <c:layout>
        <c:manualLayout>
          <c:layoutTarget val="inner"/>
          <c:xMode val="edge"/>
          <c:yMode val="edge"/>
          <c:x val="7.0512820512820512E-2"/>
          <c:y val="3.4819687854085318E-2"/>
          <c:w val="0.77564102564102566"/>
          <c:h val="0.93036062429182931"/>
        </c:manualLayout>
      </c:layout>
      <c:barChart>
        <c:barDir val="col"/>
        <c:grouping val="percentStacked"/>
        <c:varyColors val="0"/>
        <c:ser>
          <c:idx val="0"/>
          <c:order val="0"/>
          <c:tx>
            <c:strRef>
              <c:f>Sheet1!$B$1</c:f>
              <c:strCache>
                <c:ptCount val="1"/>
                <c:pt idx="0">
                  <c:v>A</c:v>
                </c:pt>
              </c:strCache>
            </c:strRef>
          </c:tx>
          <c:spPr>
            <a:ln>
              <a:solidFill>
                <a:schemeClr val="bg1"/>
              </a:solidFill>
            </a:ln>
          </c:spPr>
          <c:invertIfNegative val="0"/>
          <c:dLbls>
            <c:delete val="1"/>
          </c:dLbls>
          <c:cat>
            <c:numRef>
              <c:f>Sheet1!$A$2</c:f>
              <c:numCache>
                <c:formatCode>General</c:formatCode>
                <c:ptCount val="1"/>
              </c:numCache>
            </c:numRef>
          </c:cat>
          <c:val>
            <c:numRef>
              <c:f>Sheet1!$B$2</c:f>
              <c:numCache>
                <c:formatCode>General</c:formatCode>
                <c:ptCount val="1"/>
                <c:pt idx="0">
                  <c:v>80</c:v>
                </c:pt>
              </c:numCache>
            </c:numRef>
          </c:val>
        </c:ser>
        <c:ser>
          <c:idx val="1"/>
          <c:order val="1"/>
          <c:tx>
            <c:strRef>
              <c:f>Sheet1!$C$1</c:f>
              <c:strCache>
                <c:ptCount val="1"/>
                <c:pt idx="0">
                  <c:v>B</c:v>
                </c:pt>
              </c:strCache>
            </c:strRef>
          </c:tx>
          <c:spPr>
            <a:ln>
              <a:solidFill>
                <a:schemeClr val="bg1"/>
              </a:solidFill>
            </a:ln>
          </c:spPr>
          <c:invertIfNegative val="0"/>
          <c:dLbls>
            <c:delete val="1"/>
          </c:dLbls>
          <c:cat>
            <c:numRef>
              <c:f>Sheet1!$A$2</c:f>
              <c:numCache>
                <c:formatCode>General</c:formatCode>
                <c:ptCount val="1"/>
              </c:numCache>
            </c:numRef>
          </c:cat>
          <c:val>
            <c:numRef>
              <c:f>Sheet1!$C$2</c:f>
              <c:numCache>
                <c:formatCode>General</c:formatCode>
                <c:ptCount val="1"/>
                <c:pt idx="0">
                  <c:v>-20</c:v>
                </c:pt>
              </c:numCache>
            </c:numRef>
          </c:val>
        </c:ser>
        <c:dLbls>
          <c:showLegendKey val="0"/>
          <c:showVal val="1"/>
          <c:showCatName val="0"/>
          <c:showSerName val="0"/>
          <c:showPercent val="0"/>
          <c:showBubbleSize val="0"/>
        </c:dLbls>
        <c:gapWidth val="95"/>
        <c:overlap val="100"/>
        <c:axId val="133236608"/>
        <c:axId val="133357952"/>
      </c:barChart>
      <c:catAx>
        <c:axId val="133236608"/>
        <c:scaling>
          <c:orientation val="minMax"/>
        </c:scaling>
        <c:delete val="1"/>
        <c:axPos val="b"/>
        <c:numFmt formatCode="General" sourceLinked="1"/>
        <c:majorTickMark val="none"/>
        <c:minorTickMark val="none"/>
        <c:tickLblPos val="nextTo"/>
        <c:crossAx val="133357952"/>
        <c:crosses val="autoZero"/>
        <c:auto val="1"/>
        <c:lblAlgn val="ctr"/>
        <c:lblOffset val="100"/>
        <c:noMultiLvlLbl val="0"/>
      </c:catAx>
      <c:valAx>
        <c:axId val="133357952"/>
        <c:scaling>
          <c:orientation val="minMax"/>
        </c:scaling>
        <c:delete val="1"/>
        <c:axPos val="l"/>
        <c:numFmt formatCode="0%" sourceLinked="1"/>
        <c:majorTickMark val="out"/>
        <c:minorTickMark val="none"/>
        <c:tickLblPos val="nextTo"/>
        <c:crossAx val="133236608"/>
        <c:crosses val="autoZero"/>
        <c:crossBetween val="between"/>
        <c:majorUnit val="0.25"/>
      </c:valAx>
      <c:spPr>
        <a:ln>
          <a:solidFill>
            <a:schemeClr val="bg1"/>
          </a:solidFill>
        </a:ln>
      </c:spPr>
    </c:plotArea>
    <c:plotVisOnly val="1"/>
    <c:dispBlanksAs val="gap"/>
    <c:showDLblsOverMax val="0"/>
  </c:chart>
  <c:txPr>
    <a:bodyPr/>
    <a:lstStyle/>
    <a:p>
      <a:pPr>
        <a:defRPr sz="1200">
          <a:latin typeface="Arial Unicode MS" pitchFamily="34" charset="-122"/>
          <a:ea typeface="Arial Unicode MS" pitchFamily="34" charset="-122"/>
          <a:cs typeface="Arial Unicode MS" pitchFamily="34" charset="-122"/>
        </a:defRPr>
      </a:pPr>
      <a:endParaRPr lang="en-US"/>
    </a:p>
  </c:txPr>
  <c:externalData r:id="rId1">
    <c:autoUpdate val="0"/>
  </c:externalData>
</c:chartSpace>
</file>

<file path=ppt/diagrams/colors1.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4B5CED99-CD8D-483A-8E8A-53A8340B79BE}" type="doc">
      <dgm:prSet loTypeId="urn:microsoft.com/office/officeart/2005/8/layout/cycle8" loCatId="cycle" qsTypeId="urn:microsoft.com/office/officeart/2005/8/quickstyle/simple1" qsCatId="simple" csTypeId="urn:microsoft.com/office/officeart/2005/8/colors/accent2_2" csCatId="accent2" phldr="1"/>
      <dgm:spPr/>
    </dgm:pt>
    <dgm:pt modelId="{24663E0A-320C-41D9-8142-5DD5DF41BBAD}">
      <dgm:prSet phldrT="[Text]" custT="1"/>
      <dgm:spPr/>
      <dgm:t>
        <a:bodyPr/>
        <a:lstStyle/>
        <a:p>
          <a:endParaRPr lang="en-US" sz="1400" u="sng" dirty="0"/>
        </a:p>
      </dgm:t>
    </dgm:pt>
    <dgm:pt modelId="{F7A0C9A2-652E-4A0B-8AD6-92C5ED2DF197}" type="parTrans" cxnId="{4D7D9EB9-0411-40D2-BE68-7007CE0F8BEA}">
      <dgm:prSet/>
      <dgm:spPr/>
      <dgm:t>
        <a:bodyPr/>
        <a:lstStyle/>
        <a:p>
          <a:endParaRPr lang="en-US"/>
        </a:p>
      </dgm:t>
    </dgm:pt>
    <dgm:pt modelId="{EF4E5FF3-C02D-43B7-9C9F-2F2B42B7F1DF}" type="sibTrans" cxnId="{4D7D9EB9-0411-40D2-BE68-7007CE0F8BEA}">
      <dgm:prSet/>
      <dgm:spPr/>
      <dgm:t>
        <a:bodyPr/>
        <a:lstStyle/>
        <a:p>
          <a:endParaRPr lang="en-US"/>
        </a:p>
      </dgm:t>
    </dgm:pt>
    <dgm:pt modelId="{CC46A8CE-AAB4-496F-A659-B6E27EA13A48}">
      <dgm:prSet phldrT="[Text]" custT="1"/>
      <dgm:spPr>
        <a:solidFill>
          <a:schemeClr val="tx2"/>
        </a:solidFill>
      </dgm:spPr>
      <dgm:t>
        <a:bodyPr/>
        <a:lstStyle/>
        <a:p>
          <a:r>
            <a:rPr lang="en-US" sz="2500" dirty="0" smtClean="0"/>
            <a:t>	</a:t>
          </a:r>
          <a:endParaRPr lang="en-US" sz="2500" dirty="0"/>
        </a:p>
      </dgm:t>
    </dgm:pt>
    <dgm:pt modelId="{19482B7F-031A-415D-9B1C-176DA4310515}" type="parTrans" cxnId="{2B93171D-4F0C-4074-AD3B-3174D00CD9F7}">
      <dgm:prSet/>
      <dgm:spPr/>
      <dgm:t>
        <a:bodyPr/>
        <a:lstStyle/>
        <a:p>
          <a:endParaRPr lang="en-US"/>
        </a:p>
      </dgm:t>
    </dgm:pt>
    <dgm:pt modelId="{5280D605-8E83-4647-94ED-C25BD9D8CF9E}" type="sibTrans" cxnId="{2B93171D-4F0C-4074-AD3B-3174D00CD9F7}">
      <dgm:prSet/>
      <dgm:spPr/>
      <dgm:t>
        <a:bodyPr/>
        <a:lstStyle/>
        <a:p>
          <a:endParaRPr lang="en-US"/>
        </a:p>
      </dgm:t>
    </dgm:pt>
    <dgm:pt modelId="{9E203571-AACA-4FDE-9C5B-B8CF6EE1D83D}">
      <dgm:prSet phldrT="[Text]" custT="1"/>
      <dgm:spPr>
        <a:solidFill>
          <a:schemeClr val="accent2"/>
        </a:solidFill>
      </dgm:spPr>
      <dgm:t>
        <a:bodyPr/>
        <a:lstStyle/>
        <a:p>
          <a:pPr algn="l"/>
          <a:endParaRPr lang="en-US" sz="1400" u="sng" dirty="0"/>
        </a:p>
      </dgm:t>
    </dgm:pt>
    <dgm:pt modelId="{00762FFD-877B-47BB-A8C0-DB420E4BBCCE}" type="parTrans" cxnId="{A0F26B15-304C-4B03-84AD-2AF43D482631}">
      <dgm:prSet/>
      <dgm:spPr/>
      <dgm:t>
        <a:bodyPr/>
        <a:lstStyle/>
        <a:p>
          <a:endParaRPr lang="en-US"/>
        </a:p>
      </dgm:t>
    </dgm:pt>
    <dgm:pt modelId="{13F4506C-407C-4052-A783-B95D7AA76B5D}" type="sibTrans" cxnId="{A0F26B15-304C-4B03-84AD-2AF43D482631}">
      <dgm:prSet/>
      <dgm:spPr/>
      <dgm:t>
        <a:bodyPr/>
        <a:lstStyle/>
        <a:p>
          <a:endParaRPr lang="en-US"/>
        </a:p>
      </dgm:t>
    </dgm:pt>
    <dgm:pt modelId="{262B9BE7-A9A8-4AFC-86A7-77A758555AC5}">
      <dgm:prSet custT="1"/>
      <dgm:spPr>
        <a:solidFill>
          <a:srgbClr val="203353"/>
        </a:solidFill>
      </dgm:spPr>
      <dgm:t>
        <a:bodyPr/>
        <a:lstStyle/>
        <a:p>
          <a:endParaRPr lang="en-US" sz="1400" u="sng" dirty="0"/>
        </a:p>
      </dgm:t>
    </dgm:pt>
    <dgm:pt modelId="{E03DFC01-7E9C-4271-92D3-C0118687AEFA}" type="parTrans" cxnId="{2795231A-9E64-4AA6-B02A-9D7D83C7AA7F}">
      <dgm:prSet/>
      <dgm:spPr/>
      <dgm:t>
        <a:bodyPr/>
        <a:lstStyle/>
        <a:p>
          <a:endParaRPr lang="en-US"/>
        </a:p>
      </dgm:t>
    </dgm:pt>
    <dgm:pt modelId="{767AC6AA-815A-490A-8F18-DC5CEE596680}" type="sibTrans" cxnId="{2795231A-9E64-4AA6-B02A-9D7D83C7AA7F}">
      <dgm:prSet/>
      <dgm:spPr/>
      <dgm:t>
        <a:bodyPr/>
        <a:lstStyle/>
        <a:p>
          <a:endParaRPr lang="en-US"/>
        </a:p>
      </dgm:t>
    </dgm:pt>
    <dgm:pt modelId="{92DF9F1D-9698-4752-9F14-113B77D0703E}" type="pres">
      <dgm:prSet presAssocID="{4B5CED99-CD8D-483A-8E8A-53A8340B79BE}" presName="compositeShape" presStyleCnt="0">
        <dgm:presLayoutVars>
          <dgm:chMax val="7"/>
          <dgm:dir/>
          <dgm:resizeHandles val="exact"/>
        </dgm:presLayoutVars>
      </dgm:prSet>
      <dgm:spPr/>
    </dgm:pt>
    <dgm:pt modelId="{13815624-F007-4CA9-9AD0-2C39CADB04E2}" type="pres">
      <dgm:prSet presAssocID="{4B5CED99-CD8D-483A-8E8A-53A8340B79BE}" presName="wedge1" presStyleLbl="node1" presStyleIdx="0" presStyleCnt="4"/>
      <dgm:spPr/>
      <dgm:t>
        <a:bodyPr/>
        <a:lstStyle/>
        <a:p>
          <a:endParaRPr lang="en-US"/>
        </a:p>
      </dgm:t>
    </dgm:pt>
    <dgm:pt modelId="{3AE294BB-1FD9-4BF8-8E0A-27E7E27BC9AF}" type="pres">
      <dgm:prSet presAssocID="{4B5CED99-CD8D-483A-8E8A-53A8340B79BE}" presName="dummy1a" presStyleCnt="0"/>
      <dgm:spPr/>
    </dgm:pt>
    <dgm:pt modelId="{0A0ECFF6-EBAC-44D6-BEE0-E09D1FB700F0}" type="pres">
      <dgm:prSet presAssocID="{4B5CED99-CD8D-483A-8E8A-53A8340B79BE}" presName="dummy1b" presStyleCnt="0"/>
      <dgm:spPr/>
    </dgm:pt>
    <dgm:pt modelId="{D7CBAE91-7612-40AA-9AE3-16ACA5FE9BFD}" type="pres">
      <dgm:prSet presAssocID="{4B5CED99-CD8D-483A-8E8A-53A8340B79BE}" presName="wedge1Tx" presStyleLbl="node1" presStyleIdx="0" presStyleCnt="4">
        <dgm:presLayoutVars>
          <dgm:chMax val="0"/>
          <dgm:chPref val="0"/>
          <dgm:bulletEnabled val="1"/>
        </dgm:presLayoutVars>
      </dgm:prSet>
      <dgm:spPr/>
      <dgm:t>
        <a:bodyPr/>
        <a:lstStyle/>
        <a:p>
          <a:endParaRPr lang="en-US"/>
        </a:p>
      </dgm:t>
    </dgm:pt>
    <dgm:pt modelId="{1CE67D36-97EA-4501-9EEF-8818F7BA6436}" type="pres">
      <dgm:prSet presAssocID="{4B5CED99-CD8D-483A-8E8A-53A8340B79BE}" presName="wedge2" presStyleLbl="node1" presStyleIdx="1" presStyleCnt="4"/>
      <dgm:spPr/>
      <dgm:t>
        <a:bodyPr/>
        <a:lstStyle/>
        <a:p>
          <a:endParaRPr lang="en-US"/>
        </a:p>
      </dgm:t>
    </dgm:pt>
    <dgm:pt modelId="{986B82F9-7740-4D2D-B87A-827CBB0EF9DB}" type="pres">
      <dgm:prSet presAssocID="{4B5CED99-CD8D-483A-8E8A-53A8340B79BE}" presName="dummy2a" presStyleCnt="0"/>
      <dgm:spPr/>
    </dgm:pt>
    <dgm:pt modelId="{674B4B72-B6C7-48BD-B1D8-A39FE9BA6934}" type="pres">
      <dgm:prSet presAssocID="{4B5CED99-CD8D-483A-8E8A-53A8340B79BE}" presName="dummy2b" presStyleCnt="0"/>
      <dgm:spPr/>
    </dgm:pt>
    <dgm:pt modelId="{D1606310-0825-48C4-88BC-F0F774F36236}" type="pres">
      <dgm:prSet presAssocID="{4B5CED99-CD8D-483A-8E8A-53A8340B79BE}" presName="wedge2Tx" presStyleLbl="node1" presStyleIdx="1" presStyleCnt="4">
        <dgm:presLayoutVars>
          <dgm:chMax val="0"/>
          <dgm:chPref val="0"/>
          <dgm:bulletEnabled val="1"/>
        </dgm:presLayoutVars>
      </dgm:prSet>
      <dgm:spPr/>
      <dgm:t>
        <a:bodyPr/>
        <a:lstStyle/>
        <a:p>
          <a:endParaRPr lang="en-US"/>
        </a:p>
      </dgm:t>
    </dgm:pt>
    <dgm:pt modelId="{E95DDB37-400D-4890-9C15-D180024B41DE}" type="pres">
      <dgm:prSet presAssocID="{4B5CED99-CD8D-483A-8E8A-53A8340B79BE}" presName="wedge3" presStyleLbl="node1" presStyleIdx="2" presStyleCnt="4"/>
      <dgm:spPr/>
      <dgm:t>
        <a:bodyPr/>
        <a:lstStyle/>
        <a:p>
          <a:endParaRPr lang="en-US"/>
        </a:p>
      </dgm:t>
    </dgm:pt>
    <dgm:pt modelId="{A35E10B3-7949-4632-99F1-AFD981AC7756}" type="pres">
      <dgm:prSet presAssocID="{4B5CED99-CD8D-483A-8E8A-53A8340B79BE}" presName="dummy3a" presStyleCnt="0"/>
      <dgm:spPr/>
    </dgm:pt>
    <dgm:pt modelId="{2F18BDC2-1FE2-4DA2-823D-CC02307A9C15}" type="pres">
      <dgm:prSet presAssocID="{4B5CED99-CD8D-483A-8E8A-53A8340B79BE}" presName="dummy3b" presStyleCnt="0"/>
      <dgm:spPr/>
    </dgm:pt>
    <dgm:pt modelId="{D587A556-79C7-4FC9-BA06-85CC5BE9251D}" type="pres">
      <dgm:prSet presAssocID="{4B5CED99-CD8D-483A-8E8A-53A8340B79BE}" presName="wedge3Tx" presStyleLbl="node1" presStyleIdx="2" presStyleCnt="4">
        <dgm:presLayoutVars>
          <dgm:chMax val="0"/>
          <dgm:chPref val="0"/>
          <dgm:bulletEnabled val="1"/>
        </dgm:presLayoutVars>
      </dgm:prSet>
      <dgm:spPr/>
      <dgm:t>
        <a:bodyPr/>
        <a:lstStyle/>
        <a:p>
          <a:endParaRPr lang="en-US"/>
        </a:p>
      </dgm:t>
    </dgm:pt>
    <dgm:pt modelId="{505B24D3-2F2B-4291-B692-C7EBD408D66C}" type="pres">
      <dgm:prSet presAssocID="{4B5CED99-CD8D-483A-8E8A-53A8340B79BE}" presName="wedge4" presStyleLbl="node1" presStyleIdx="3" presStyleCnt="4"/>
      <dgm:spPr/>
      <dgm:t>
        <a:bodyPr/>
        <a:lstStyle/>
        <a:p>
          <a:endParaRPr lang="en-US"/>
        </a:p>
      </dgm:t>
    </dgm:pt>
    <dgm:pt modelId="{892F951A-5908-4596-8A61-1B73C8C37F28}" type="pres">
      <dgm:prSet presAssocID="{4B5CED99-CD8D-483A-8E8A-53A8340B79BE}" presName="dummy4a" presStyleCnt="0"/>
      <dgm:spPr/>
    </dgm:pt>
    <dgm:pt modelId="{1338AB4D-96FB-4821-966C-176D971150C5}" type="pres">
      <dgm:prSet presAssocID="{4B5CED99-CD8D-483A-8E8A-53A8340B79BE}" presName="dummy4b" presStyleCnt="0"/>
      <dgm:spPr/>
    </dgm:pt>
    <dgm:pt modelId="{5C022334-6756-4647-ACD1-256C45B13B2F}" type="pres">
      <dgm:prSet presAssocID="{4B5CED99-CD8D-483A-8E8A-53A8340B79BE}" presName="wedge4Tx" presStyleLbl="node1" presStyleIdx="3" presStyleCnt="4">
        <dgm:presLayoutVars>
          <dgm:chMax val="0"/>
          <dgm:chPref val="0"/>
          <dgm:bulletEnabled val="1"/>
        </dgm:presLayoutVars>
      </dgm:prSet>
      <dgm:spPr/>
      <dgm:t>
        <a:bodyPr/>
        <a:lstStyle/>
        <a:p>
          <a:endParaRPr lang="en-US"/>
        </a:p>
      </dgm:t>
    </dgm:pt>
    <dgm:pt modelId="{30987156-C7FC-411E-99DA-2C49E0A1D8EC}" type="pres">
      <dgm:prSet presAssocID="{EF4E5FF3-C02D-43B7-9C9F-2F2B42B7F1DF}" presName="arrowWedge1" presStyleLbl="fgSibTrans2D1" presStyleIdx="0" presStyleCnt="4"/>
      <dgm:spPr/>
    </dgm:pt>
    <dgm:pt modelId="{F856935D-2161-4D6A-B962-78C086AAE305}" type="pres">
      <dgm:prSet presAssocID="{767AC6AA-815A-490A-8F18-DC5CEE596680}" presName="arrowWedge2" presStyleLbl="fgSibTrans2D1" presStyleIdx="1" presStyleCnt="4"/>
      <dgm:spPr/>
    </dgm:pt>
    <dgm:pt modelId="{C84873A9-4C0D-4EF8-B1F4-2D18E5525F92}" type="pres">
      <dgm:prSet presAssocID="{5280D605-8E83-4647-94ED-C25BD9D8CF9E}" presName="arrowWedge3" presStyleLbl="fgSibTrans2D1" presStyleIdx="2" presStyleCnt="4"/>
      <dgm:spPr/>
    </dgm:pt>
    <dgm:pt modelId="{808BD357-BA9C-42A4-894B-E9B265CE6620}" type="pres">
      <dgm:prSet presAssocID="{13F4506C-407C-4052-A783-B95D7AA76B5D}" presName="arrowWedge4" presStyleLbl="fgSibTrans2D1" presStyleIdx="3" presStyleCnt="4"/>
      <dgm:spPr/>
    </dgm:pt>
  </dgm:ptLst>
  <dgm:cxnLst>
    <dgm:cxn modelId="{D77797AB-6AA9-4394-94E8-C1B2B1B2A686}" type="presOf" srcId="{9E203571-AACA-4FDE-9C5B-B8CF6EE1D83D}" destId="{505B24D3-2F2B-4291-B692-C7EBD408D66C}" srcOrd="0" destOrd="0" presId="urn:microsoft.com/office/officeart/2005/8/layout/cycle8"/>
    <dgm:cxn modelId="{0A74486A-7257-4A5A-9A49-89E692A172D1}" type="presOf" srcId="{262B9BE7-A9A8-4AFC-86A7-77A758555AC5}" destId="{1CE67D36-97EA-4501-9EEF-8818F7BA6436}" srcOrd="0" destOrd="0" presId="urn:microsoft.com/office/officeart/2005/8/layout/cycle8"/>
    <dgm:cxn modelId="{049F2219-02A8-41A9-AEF2-7414E42F18CD}" type="presOf" srcId="{24663E0A-320C-41D9-8142-5DD5DF41BBAD}" destId="{13815624-F007-4CA9-9AD0-2C39CADB04E2}" srcOrd="0" destOrd="0" presId="urn:microsoft.com/office/officeart/2005/8/layout/cycle8"/>
    <dgm:cxn modelId="{AEF70CAE-168E-4155-99E5-BA1EBB408031}" type="presOf" srcId="{24663E0A-320C-41D9-8142-5DD5DF41BBAD}" destId="{D7CBAE91-7612-40AA-9AE3-16ACA5FE9BFD}" srcOrd="1" destOrd="0" presId="urn:microsoft.com/office/officeart/2005/8/layout/cycle8"/>
    <dgm:cxn modelId="{4D7D9EB9-0411-40D2-BE68-7007CE0F8BEA}" srcId="{4B5CED99-CD8D-483A-8E8A-53A8340B79BE}" destId="{24663E0A-320C-41D9-8142-5DD5DF41BBAD}" srcOrd="0" destOrd="0" parTransId="{F7A0C9A2-652E-4A0B-8AD6-92C5ED2DF197}" sibTransId="{EF4E5FF3-C02D-43B7-9C9F-2F2B42B7F1DF}"/>
    <dgm:cxn modelId="{A0F26B15-304C-4B03-84AD-2AF43D482631}" srcId="{4B5CED99-CD8D-483A-8E8A-53A8340B79BE}" destId="{9E203571-AACA-4FDE-9C5B-B8CF6EE1D83D}" srcOrd="3" destOrd="0" parTransId="{00762FFD-877B-47BB-A8C0-DB420E4BBCCE}" sibTransId="{13F4506C-407C-4052-A783-B95D7AA76B5D}"/>
    <dgm:cxn modelId="{2B93171D-4F0C-4074-AD3B-3174D00CD9F7}" srcId="{4B5CED99-CD8D-483A-8E8A-53A8340B79BE}" destId="{CC46A8CE-AAB4-496F-A659-B6E27EA13A48}" srcOrd="2" destOrd="0" parTransId="{19482B7F-031A-415D-9B1C-176DA4310515}" sibTransId="{5280D605-8E83-4647-94ED-C25BD9D8CF9E}"/>
    <dgm:cxn modelId="{74F49EF2-8F62-475A-A7EF-D4B4D9D73F39}" type="presOf" srcId="{CC46A8CE-AAB4-496F-A659-B6E27EA13A48}" destId="{D587A556-79C7-4FC9-BA06-85CC5BE9251D}" srcOrd="1" destOrd="0" presId="urn:microsoft.com/office/officeart/2005/8/layout/cycle8"/>
    <dgm:cxn modelId="{2795231A-9E64-4AA6-B02A-9D7D83C7AA7F}" srcId="{4B5CED99-CD8D-483A-8E8A-53A8340B79BE}" destId="{262B9BE7-A9A8-4AFC-86A7-77A758555AC5}" srcOrd="1" destOrd="0" parTransId="{E03DFC01-7E9C-4271-92D3-C0118687AEFA}" sibTransId="{767AC6AA-815A-490A-8F18-DC5CEE596680}"/>
    <dgm:cxn modelId="{3EE24B9F-4E6C-460E-AE2A-CDA084C99179}" type="presOf" srcId="{4B5CED99-CD8D-483A-8E8A-53A8340B79BE}" destId="{92DF9F1D-9698-4752-9F14-113B77D0703E}" srcOrd="0" destOrd="0" presId="urn:microsoft.com/office/officeart/2005/8/layout/cycle8"/>
    <dgm:cxn modelId="{CDB009DA-2CDE-4EFD-B025-30620312AEAD}" type="presOf" srcId="{262B9BE7-A9A8-4AFC-86A7-77A758555AC5}" destId="{D1606310-0825-48C4-88BC-F0F774F36236}" srcOrd="1" destOrd="0" presId="urn:microsoft.com/office/officeart/2005/8/layout/cycle8"/>
    <dgm:cxn modelId="{3342E6FF-F8CA-4C12-87A5-CB97FD39631F}" type="presOf" srcId="{9E203571-AACA-4FDE-9C5B-B8CF6EE1D83D}" destId="{5C022334-6756-4647-ACD1-256C45B13B2F}" srcOrd="1" destOrd="0" presId="urn:microsoft.com/office/officeart/2005/8/layout/cycle8"/>
    <dgm:cxn modelId="{3726B228-1BB9-4009-9DEA-D0DF99476EC0}" type="presOf" srcId="{CC46A8CE-AAB4-496F-A659-B6E27EA13A48}" destId="{E95DDB37-400D-4890-9C15-D180024B41DE}" srcOrd="0" destOrd="0" presId="urn:microsoft.com/office/officeart/2005/8/layout/cycle8"/>
    <dgm:cxn modelId="{43BD3CF7-CDA6-4636-9F4D-C64B9A1ECDCA}" type="presParOf" srcId="{92DF9F1D-9698-4752-9F14-113B77D0703E}" destId="{13815624-F007-4CA9-9AD0-2C39CADB04E2}" srcOrd="0" destOrd="0" presId="urn:microsoft.com/office/officeart/2005/8/layout/cycle8"/>
    <dgm:cxn modelId="{3B36FEA6-1532-40EF-B3DD-1BC70D328426}" type="presParOf" srcId="{92DF9F1D-9698-4752-9F14-113B77D0703E}" destId="{3AE294BB-1FD9-4BF8-8E0A-27E7E27BC9AF}" srcOrd="1" destOrd="0" presId="urn:microsoft.com/office/officeart/2005/8/layout/cycle8"/>
    <dgm:cxn modelId="{11781D11-E360-4762-BA9F-6AE54788CBC7}" type="presParOf" srcId="{92DF9F1D-9698-4752-9F14-113B77D0703E}" destId="{0A0ECFF6-EBAC-44D6-BEE0-E09D1FB700F0}" srcOrd="2" destOrd="0" presId="urn:microsoft.com/office/officeart/2005/8/layout/cycle8"/>
    <dgm:cxn modelId="{F8F0AD9F-DE59-4072-998A-164077355700}" type="presParOf" srcId="{92DF9F1D-9698-4752-9F14-113B77D0703E}" destId="{D7CBAE91-7612-40AA-9AE3-16ACA5FE9BFD}" srcOrd="3" destOrd="0" presId="urn:microsoft.com/office/officeart/2005/8/layout/cycle8"/>
    <dgm:cxn modelId="{589525DB-FD37-4B84-8479-6A8112CD6050}" type="presParOf" srcId="{92DF9F1D-9698-4752-9F14-113B77D0703E}" destId="{1CE67D36-97EA-4501-9EEF-8818F7BA6436}" srcOrd="4" destOrd="0" presId="urn:microsoft.com/office/officeart/2005/8/layout/cycle8"/>
    <dgm:cxn modelId="{AD335C3E-CB49-4B4E-A994-78C76F6FA4BE}" type="presParOf" srcId="{92DF9F1D-9698-4752-9F14-113B77D0703E}" destId="{986B82F9-7740-4D2D-B87A-827CBB0EF9DB}" srcOrd="5" destOrd="0" presId="urn:microsoft.com/office/officeart/2005/8/layout/cycle8"/>
    <dgm:cxn modelId="{6D5BF0EA-2E56-4C00-949E-26E0858079C3}" type="presParOf" srcId="{92DF9F1D-9698-4752-9F14-113B77D0703E}" destId="{674B4B72-B6C7-48BD-B1D8-A39FE9BA6934}" srcOrd="6" destOrd="0" presId="urn:microsoft.com/office/officeart/2005/8/layout/cycle8"/>
    <dgm:cxn modelId="{50D7DDA7-359F-42AB-B066-FE501D717F84}" type="presParOf" srcId="{92DF9F1D-9698-4752-9F14-113B77D0703E}" destId="{D1606310-0825-48C4-88BC-F0F774F36236}" srcOrd="7" destOrd="0" presId="urn:microsoft.com/office/officeart/2005/8/layout/cycle8"/>
    <dgm:cxn modelId="{7ACE90F6-01B9-4A59-A4F6-B3AE00BA81E0}" type="presParOf" srcId="{92DF9F1D-9698-4752-9F14-113B77D0703E}" destId="{E95DDB37-400D-4890-9C15-D180024B41DE}" srcOrd="8" destOrd="0" presId="urn:microsoft.com/office/officeart/2005/8/layout/cycle8"/>
    <dgm:cxn modelId="{633E98B1-5ECD-43AD-A20A-85786D6D0823}" type="presParOf" srcId="{92DF9F1D-9698-4752-9F14-113B77D0703E}" destId="{A35E10B3-7949-4632-99F1-AFD981AC7756}" srcOrd="9" destOrd="0" presId="urn:microsoft.com/office/officeart/2005/8/layout/cycle8"/>
    <dgm:cxn modelId="{D64B7397-9C8B-4051-96D4-1BC90DE1DD7B}" type="presParOf" srcId="{92DF9F1D-9698-4752-9F14-113B77D0703E}" destId="{2F18BDC2-1FE2-4DA2-823D-CC02307A9C15}" srcOrd="10" destOrd="0" presId="urn:microsoft.com/office/officeart/2005/8/layout/cycle8"/>
    <dgm:cxn modelId="{06E5C3C5-1A51-4E78-8152-AC95980B7AC7}" type="presParOf" srcId="{92DF9F1D-9698-4752-9F14-113B77D0703E}" destId="{D587A556-79C7-4FC9-BA06-85CC5BE9251D}" srcOrd="11" destOrd="0" presId="urn:microsoft.com/office/officeart/2005/8/layout/cycle8"/>
    <dgm:cxn modelId="{F6C590DD-D8EF-4085-B5EE-96A808B45F2B}" type="presParOf" srcId="{92DF9F1D-9698-4752-9F14-113B77D0703E}" destId="{505B24D3-2F2B-4291-B692-C7EBD408D66C}" srcOrd="12" destOrd="0" presId="urn:microsoft.com/office/officeart/2005/8/layout/cycle8"/>
    <dgm:cxn modelId="{7E5F9001-E560-4552-A714-38401859C325}" type="presParOf" srcId="{92DF9F1D-9698-4752-9F14-113B77D0703E}" destId="{892F951A-5908-4596-8A61-1B73C8C37F28}" srcOrd="13" destOrd="0" presId="urn:microsoft.com/office/officeart/2005/8/layout/cycle8"/>
    <dgm:cxn modelId="{895BD11B-317D-48FD-ADB0-EEC658D8D6CF}" type="presParOf" srcId="{92DF9F1D-9698-4752-9F14-113B77D0703E}" destId="{1338AB4D-96FB-4821-966C-176D971150C5}" srcOrd="14" destOrd="0" presId="urn:microsoft.com/office/officeart/2005/8/layout/cycle8"/>
    <dgm:cxn modelId="{8A35CB8A-A0C4-4B1C-BD4C-9EF118F49928}" type="presParOf" srcId="{92DF9F1D-9698-4752-9F14-113B77D0703E}" destId="{5C022334-6756-4647-ACD1-256C45B13B2F}" srcOrd="15" destOrd="0" presId="urn:microsoft.com/office/officeart/2005/8/layout/cycle8"/>
    <dgm:cxn modelId="{C1FE764B-D48B-43C7-B498-52C7D9409231}" type="presParOf" srcId="{92DF9F1D-9698-4752-9F14-113B77D0703E}" destId="{30987156-C7FC-411E-99DA-2C49E0A1D8EC}" srcOrd="16" destOrd="0" presId="urn:microsoft.com/office/officeart/2005/8/layout/cycle8"/>
    <dgm:cxn modelId="{AD89F3B4-EE5F-4726-9499-1DD5BE75C51B}" type="presParOf" srcId="{92DF9F1D-9698-4752-9F14-113B77D0703E}" destId="{F856935D-2161-4D6A-B962-78C086AAE305}" srcOrd="17" destOrd="0" presId="urn:microsoft.com/office/officeart/2005/8/layout/cycle8"/>
    <dgm:cxn modelId="{7405DA4E-9B09-49C6-8A65-27E4F3AAA3A8}" type="presParOf" srcId="{92DF9F1D-9698-4752-9F14-113B77D0703E}" destId="{C84873A9-4C0D-4EF8-B1F4-2D18E5525F92}" srcOrd="18" destOrd="0" presId="urn:microsoft.com/office/officeart/2005/8/layout/cycle8"/>
    <dgm:cxn modelId="{1E692CC4-4CEA-4E5B-857C-2799CECA88E2}" type="presParOf" srcId="{92DF9F1D-9698-4752-9F14-113B77D0703E}" destId="{808BD357-BA9C-42A4-894B-E9B265CE6620}" srcOrd="19"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3815624-F007-4CA9-9AD0-2C39CADB04E2}">
      <dsp:nvSpPr>
        <dsp:cNvPr id="0" name=""/>
        <dsp:cNvSpPr/>
      </dsp:nvSpPr>
      <dsp:spPr>
        <a:xfrm>
          <a:off x="2082723" y="329109"/>
          <a:ext cx="4424461" cy="4424461"/>
        </a:xfrm>
        <a:prstGeom prst="pie">
          <a:avLst>
            <a:gd name="adj1" fmla="val 16200000"/>
            <a:gd name="adj2" fmla="val 0"/>
          </a:avLst>
        </a:prstGeom>
        <a:solidFill>
          <a:schemeClr val="accent2">
            <a:hueOff val="0"/>
            <a:satOff val="0"/>
            <a:lumOff val="0"/>
            <a:alphaOff val="0"/>
          </a:schemeClr>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endParaRPr lang="en-US" sz="1400" u="sng" kern="1200" dirty="0"/>
        </a:p>
      </dsp:txBody>
      <dsp:txXfrm>
        <a:off x="4431375" y="1246131"/>
        <a:ext cx="1632836" cy="1211459"/>
      </dsp:txXfrm>
    </dsp:sp>
    <dsp:sp modelId="{1CE67D36-97EA-4501-9EEF-8818F7BA6436}">
      <dsp:nvSpPr>
        <dsp:cNvPr id="0" name=""/>
        <dsp:cNvSpPr/>
      </dsp:nvSpPr>
      <dsp:spPr>
        <a:xfrm>
          <a:off x="2082723" y="477645"/>
          <a:ext cx="4424461" cy="4424461"/>
        </a:xfrm>
        <a:prstGeom prst="pie">
          <a:avLst>
            <a:gd name="adj1" fmla="val 0"/>
            <a:gd name="adj2" fmla="val 5400000"/>
          </a:avLst>
        </a:prstGeom>
        <a:solidFill>
          <a:srgbClr val="203353"/>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ctr" defTabSz="622300">
            <a:lnSpc>
              <a:spcPct val="90000"/>
            </a:lnSpc>
            <a:spcBef>
              <a:spcPct val="0"/>
            </a:spcBef>
            <a:spcAft>
              <a:spcPct val="35000"/>
            </a:spcAft>
          </a:pPr>
          <a:endParaRPr lang="en-US" sz="1400" u="sng" kern="1200" dirty="0"/>
        </a:p>
      </dsp:txBody>
      <dsp:txXfrm>
        <a:off x="4431375" y="2773624"/>
        <a:ext cx="1632836" cy="1211459"/>
      </dsp:txXfrm>
    </dsp:sp>
    <dsp:sp modelId="{E95DDB37-400D-4890-9C15-D180024B41DE}">
      <dsp:nvSpPr>
        <dsp:cNvPr id="0" name=""/>
        <dsp:cNvSpPr/>
      </dsp:nvSpPr>
      <dsp:spPr>
        <a:xfrm>
          <a:off x="1934188" y="477645"/>
          <a:ext cx="4424461" cy="4424461"/>
        </a:xfrm>
        <a:prstGeom prst="pie">
          <a:avLst>
            <a:gd name="adj1" fmla="val 5400000"/>
            <a:gd name="adj2" fmla="val 10800000"/>
          </a:avLst>
        </a:prstGeom>
        <a:solidFill>
          <a:schemeClr val="tx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31750" tIns="31750" rIns="31750" bIns="31750" numCol="1" spcCol="1270" anchor="ctr" anchorCtr="0">
          <a:noAutofit/>
        </a:bodyPr>
        <a:lstStyle/>
        <a:p>
          <a:pPr lvl="0" algn="ctr" defTabSz="1111250">
            <a:lnSpc>
              <a:spcPct val="90000"/>
            </a:lnSpc>
            <a:spcBef>
              <a:spcPct val="0"/>
            </a:spcBef>
            <a:spcAft>
              <a:spcPct val="35000"/>
            </a:spcAft>
          </a:pPr>
          <a:r>
            <a:rPr lang="en-US" sz="2500" kern="1200" dirty="0" smtClean="0"/>
            <a:t>	</a:t>
          </a:r>
          <a:endParaRPr lang="en-US" sz="2500" kern="1200" dirty="0"/>
        </a:p>
      </dsp:txBody>
      <dsp:txXfrm>
        <a:off x="2377160" y="2773624"/>
        <a:ext cx="1632836" cy="1211459"/>
      </dsp:txXfrm>
    </dsp:sp>
    <dsp:sp modelId="{505B24D3-2F2B-4291-B692-C7EBD408D66C}">
      <dsp:nvSpPr>
        <dsp:cNvPr id="0" name=""/>
        <dsp:cNvSpPr/>
      </dsp:nvSpPr>
      <dsp:spPr>
        <a:xfrm>
          <a:off x="1934188" y="329109"/>
          <a:ext cx="4424461" cy="4424461"/>
        </a:xfrm>
        <a:prstGeom prst="pie">
          <a:avLst>
            <a:gd name="adj1" fmla="val 10800000"/>
            <a:gd name="adj2" fmla="val 16200000"/>
          </a:avLst>
        </a:prstGeom>
        <a:solidFill>
          <a:schemeClr val="accent2"/>
        </a:solidFill>
        <a:ln w="25400" cap="flat" cmpd="sng" algn="ctr">
          <a:solidFill>
            <a:schemeClr val="lt1">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7780" tIns="17780" rIns="17780" bIns="17780" numCol="1" spcCol="1270" anchor="ctr" anchorCtr="0">
          <a:noAutofit/>
        </a:bodyPr>
        <a:lstStyle/>
        <a:p>
          <a:pPr lvl="0" algn="l" defTabSz="622300">
            <a:lnSpc>
              <a:spcPct val="90000"/>
            </a:lnSpc>
            <a:spcBef>
              <a:spcPct val="0"/>
            </a:spcBef>
            <a:spcAft>
              <a:spcPct val="35000"/>
            </a:spcAft>
          </a:pPr>
          <a:endParaRPr lang="en-US" sz="1400" u="sng" kern="1200" dirty="0"/>
        </a:p>
      </dsp:txBody>
      <dsp:txXfrm>
        <a:off x="2377160" y="1246131"/>
        <a:ext cx="1632836" cy="1211459"/>
      </dsp:txXfrm>
    </dsp:sp>
    <dsp:sp modelId="{30987156-C7FC-411E-99DA-2C49E0A1D8EC}">
      <dsp:nvSpPr>
        <dsp:cNvPr id="0" name=""/>
        <dsp:cNvSpPr/>
      </dsp:nvSpPr>
      <dsp:spPr>
        <a:xfrm>
          <a:off x="1808828" y="55214"/>
          <a:ext cx="4972251" cy="4972251"/>
        </a:xfrm>
        <a:prstGeom prst="circularArrow">
          <a:avLst>
            <a:gd name="adj1" fmla="val 5085"/>
            <a:gd name="adj2" fmla="val 327528"/>
            <a:gd name="adj3" fmla="val 21272472"/>
            <a:gd name="adj4" fmla="val 16200000"/>
            <a:gd name="adj5" fmla="val 5932"/>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F856935D-2161-4D6A-B962-78C086AAE305}">
      <dsp:nvSpPr>
        <dsp:cNvPr id="0" name=""/>
        <dsp:cNvSpPr/>
      </dsp:nvSpPr>
      <dsp:spPr>
        <a:xfrm>
          <a:off x="1808828" y="203749"/>
          <a:ext cx="4972251" cy="4972251"/>
        </a:xfrm>
        <a:prstGeom prst="circularArrow">
          <a:avLst>
            <a:gd name="adj1" fmla="val 5085"/>
            <a:gd name="adj2" fmla="val 327528"/>
            <a:gd name="adj3" fmla="val 5072472"/>
            <a:gd name="adj4" fmla="val 0"/>
            <a:gd name="adj5" fmla="val 5932"/>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C84873A9-4C0D-4EF8-B1F4-2D18E5525F92}">
      <dsp:nvSpPr>
        <dsp:cNvPr id="0" name=""/>
        <dsp:cNvSpPr/>
      </dsp:nvSpPr>
      <dsp:spPr>
        <a:xfrm>
          <a:off x="1660292" y="203749"/>
          <a:ext cx="4972251" cy="4972251"/>
        </a:xfrm>
        <a:prstGeom prst="circularArrow">
          <a:avLst>
            <a:gd name="adj1" fmla="val 5085"/>
            <a:gd name="adj2" fmla="val 327528"/>
            <a:gd name="adj3" fmla="val 10472472"/>
            <a:gd name="adj4" fmla="val 5400000"/>
            <a:gd name="adj5" fmla="val 5932"/>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 modelId="{808BD357-BA9C-42A4-894B-E9B265CE6620}">
      <dsp:nvSpPr>
        <dsp:cNvPr id="0" name=""/>
        <dsp:cNvSpPr/>
      </dsp:nvSpPr>
      <dsp:spPr>
        <a:xfrm>
          <a:off x="1660292" y="55214"/>
          <a:ext cx="4972251" cy="4972251"/>
        </a:xfrm>
        <a:prstGeom prst="circularArrow">
          <a:avLst>
            <a:gd name="adj1" fmla="val 5085"/>
            <a:gd name="adj2" fmla="val 327528"/>
            <a:gd name="adj3" fmla="val 15872472"/>
            <a:gd name="adj4" fmla="val 10800000"/>
            <a:gd name="adj5" fmla="val 5932"/>
          </a:avLst>
        </a:prstGeom>
        <a:solidFill>
          <a:schemeClr val="accent2">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layout1.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69" tIns="46585" rIns="93169" bIns="46585" rtlCol="0"/>
          <a:lstStyle>
            <a:lvl1pPr algn="l">
              <a:defRPr sz="1200"/>
            </a:lvl1pPr>
          </a:lstStyle>
          <a:p>
            <a:endParaRPr lang="en-US" dirty="0"/>
          </a:p>
        </p:txBody>
      </p:sp>
      <p:sp>
        <p:nvSpPr>
          <p:cNvPr id="3" name="Date Placeholder 2"/>
          <p:cNvSpPr>
            <a:spLocks noGrp="1"/>
          </p:cNvSpPr>
          <p:nvPr>
            <p:ph type="dt" sz="quarter" idx="1"/>
          </p:nvPr>
        </p:nvSpPr>
        <p:spPr>
          <a:xfrm>
            <a:off x="3970938" y="0"/>
            <a:ext cx="3037840" cy="464820"/>
          </a:xfrm>
          <a:prstGeom prst="rect">
            <a:avLst/>
          </a:prstGeom>
        </p:spPr>
        <p:txBody>
          <a:bodyPr vert="horz" lIns="93169" tIns="46585" rIns="93169" bIns="46585" rtlCol="0"/>
          <a:lstStyle>
            <a:lvl1pPr algn="r">
              <a:defRPr sz="1200"/>
            </a:lvl1pPr>
          </a:lstStyle>
          <a:p>
            <a:fld id="{CD69C154-8DB3-4790-A359-7790FFBF8C47}" type="datetimeFigureOut">
              <a:rPr lang="en-US" smtClean="0"/>
              <a:t>6/29/2015</a:t>
            </a:fld>
            <a:endParaRPr lang="en-US" dirty="0"/>
          </a:p>
        </p:txBody>
      </p:sp>
      <p:sp>
        <p:nvSpPr>
          <p:cNvPr id="4" name="Footer Placeholder 3"/>
          <p:cNvSpPr>
            <a:spLocks noGrp="1"/>
          </p:cNvSpPr>
          <p:nvPr>
            <p:ph type="ftr" sz="quarter" idx="2"/>
          </p:nvPr>
        </p:nvSpPr>
        <p:spPr>
          <a:xfrm>
            <a:off x="0" y="8829967"/>
            <a:ext cx="3037840" cy="464820"/>
          </a:xfrm>
          <a:prstGeom prst="rect">
            <a:avLst/>
          </a:prstGeom>
        </p:spPr>
        <p:txBody>
          <a:bodyPr vert="horz" lIns="93169" tIns="46585" rIns="93169" bIns="46585" rtlCol="0" anchor="b"/>
          <a:lstStyle>
            <a:lvl1pPr algn="l">
              <a:defRPr sz="1200"/>
            </a:lvl1pPr>
          </a:lstStyle>
          <a:p>
            <a:endParaRPr lang="en-US" dirty="0"/>
          </a:p>
        </p:txBody>
      </p:sp>
      <p:sp>
        <p:nvSpPr>
          <p:cNvPr id="5" name="Slide Number Placeholder 4"/>
          <p:cNvSpPr>
            <a:spLocks noGrp="1"/>
          </p:cNvSpPr>
          <p:nvPr>
            <p:ph type="sldNum" sz="quarter" idx="3"/>
          </p:nvPr>
        </p:nvSpPr>
        <p:spPr>
          <a:xfrm>
            <a:off x="3970938" y="8829967"/>
            <a:ext cx="3037840" cy="464820"/>
          </a:xfrm>
          <a:prstGeom prst="rect">
            <a:avLst/>
          </a:prstGeom>
        </p:spPr>
        <p:txBody>
          <a:bodyPr vert="horz" lIns="93169" tIns="46585" rIns="93169" bIns="46585" rtlCol="0" anchor="b"/>
          <a:lstStyle>
            <a:lvl1pPr algn="r">
              <a:defRPr sz="1200"/>
            </a:lvl1pPr>
          </a:lstStyle>
          <a:p>
            <a:fld id="{3AA19290-3B50-423F-8386-34EA3226F54C}" type="slidenum">
              <a:rPr lang="en-US" smtClean="0"/>
              <a:t>‹#›</a:t>
            </a:fld>
            <a:endParaRPr lang="en-US" dirty="0"/>
          </a:p>
        </p:txBody>
      </p:sp>
    </p:spTree>
    <p:extLst>
      <p:ext uri="{BB962C8B-B14F-4D97-AF65-F5344CB8AC3E}">
        <p14:creationId xmlns:p14="http://schemas.microsoft.com/office/powerpoint/2010/main" val="1616536815"/>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3037840" cy="464820"/>
          </a:xfrm>
          <a:prstGeom prst="rect">
            <a:avLst/>
          </a:prstGeom>
        </p:spPr>
        <p:txBody>
          <a:bodyPr vert="horz" lIns="93169" tIns="46585" rIns="93169" bIns="46585" rtlCol="0"/>
          <a:lstStyle>
            <a:lvl1pPr algn="l">
              <a:defRPr sz="1200"/>
            </a:lvl1pPr>
          </a:lstStyle>
          <a:p>
            <a:endParaRPr lang="en-US" dirty="0"/>
          </a:p>
        </p:txBody>
      </p:sp>
      <p:sp>
        <p:nvSpPr>
          <p:cNvPr id="3" name="Date Placeholder 2"/>
          <p:cNvSpPr>
            <a:spLocks noGrp="1"/>
          </p:cNvSpPr>
          <p:nvPr>
            <p:ph type="dt" idx="1"/>
          </p:nvPr>
        </p:nvSpPr>
        <p:spPr>
          <a:xfrm>
            <a:off x="3970938" y="0"/>
            <a:ext cx="3037840" cy="464820"/>
          </a:xfrm>
          <a:prstGeom prst="rect">
            <a:avLst/>
          </a:prstGeom>
        </p:spPr>
        <p:txBody>
          <a:bodyPr vert="horz" lIns="93169" tIns="46585" rIns="93169" bIns="46585" rtlCol="0"/>
          <a:lstStyle>
            <a:lvl1pPr algn="r">
              <a:defRPr sz="1200"/>
            </a:lvl1pPr>
          </a:lstStyle>
          <a:p>
            <a:fld id="{D94E0677-78E7-4F29-8DEE-AA9328514842}" type="datetimeFigureOut">
              <a:rPr lang="en-US" smtClean="0"/>
              <a:t>6/29/2015</a:t>
            </a:fld>
            <a:endParaRPr lang="en-US" dirty="0"/>
          </a:p>
        </p:txBody>
      </p:sp>
      <p:sp>
        <p:nvSpPr>
          <p:cNvPr id="4" name="Slide Image Placeholder 3"/>
          <p:cNvSpPr>
            <a:spLocks noGrp="1" noRot="1" noChangeAspect="1"/>
          </p:cNvSpPr>
          <p:nvPr>
            <p:ph type="sldImg" idx="2"/>
          </p:nvPr>
        </p:nvSpPr>
        <p:spPr>
          <a:xfrm>
            <a:off x="1249363" y="696913"/>
            <a:ext cx="4511675" cy="3486150"/>
          </a:xfrm>
          <a:prstGeom prst="rect">
            <a:avLst/>
          </a:prstGeom>
          <a:noFill/>
          <a:ln w="12700">
            <a:solidFill>
              <a:prstClr val="black"/>
            </a:solidFill>
          </a:ln>
        </p:spPr>
        <p:txBody>
          <a:bodyPr vert="horz" lIns="93169" tIns="46585" rIns="93169" bIns="46585" rtlCol="0" anchor="ctr"/>
          <a:lstStyle/>
          <a:p>
            <a:endParaRPr lang="en-US" dirty="0"/>
          </a:p>
        </p:txBody>
      </p:sp>
      <p:sp>
        <p:nvSpPr>
          <p:cNvPr id="5" name="Notes Placeholder 4"/>
          <p:cNvSpPr>
            <a:spLocks noGrp="1"/>
          </p:cNvSpPr>
          <p:nvPr>
            <p:ph type="body" sz="quarter" idx="3"/>
          </p:nvPr>
        </p:nvSpPr>
        <p:spPr>
          <a:xfrm>
            <a:off x="701040" y="4415790"/>
            <a:ext cx="5608320" cy="4183380"/>
          </a:xfrm>
          <a:prstGeom prst="rect">
            <a:avLst/>
          </a:prstGeom>
        </p:spPr>
        <p:txBody>
          <a:bodyPr vert="horz" lIns="93169" tIns="46585" rIns="93169" bIns="46585"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829967"/>
            <a:ext cx="3037840" cy="464820"/>
          </a:xfrm>
          <a:prstGeom prst="rect">
            <a:avLst/>
          </a:prstGeom>
        </p:spPr>
        <p:txBody>
          <a:bodyPr vert="horz" lIns="93169" tIns="46585" rIns="93169" bIns="46585" rtlCol="0" anchor="b"/>
          <a:lstStyle>
            <a:lvl1pPr algn="l">
              <a:defRPr sz="1200"/>
            </a:lvl1pPr>
          </a:lstStyle>
          <a:p>
            <a:endParaRPr lang="en-US" dirty="0"/>
          </a:p>
        </p:txBody>
      </p:sp>
      <p:sp>
        <p:nvSpPr>
          <p:cNvPr id="7" name="Slide Number Placeholder 6"/>
          <p:cNvSpPr>
            <a:spLocks noGrp="1"/>
          </p:cNvSpPr>
          <p:nvPr>
            <p:ph type="sldNum" sz="quarter" idx="5"/>
          </p:nvPr>
        </p:nvSpPr>
        <p:spPr>
          <a:xfrm>
            <a:off x="3970938" y="8829967"/>
            <a:ext cx="3037840" cy="464820"/>
          </a:xfrm>
          <a:prstGeom prst="rect">
            <a:avLst/>
          </a:prstGeom>
        </p:spPr>
        <p:txBody>
          <a:bodyPr vert="horz" lIns="93169" tIns="46585" rIns="93169" bIns="46585" rtlCol="0" anchor="b"/>
          <a:lstStyle>
            <a:lvl1pPr algn="r">
              <a:defRPr sz="1200"/>
            </a:lvl1pPr>
          </a:lstStyle>
          <a:p>
            <a:fld id="{4CF500CA-EC02-405F-A377-1C6BD89C661C}" type="slidenum">
              <a:rPr lang="en-US" smtClean="0"/>
              <a:t>‹#›</a:t>
            </a:fld>
            <a:endParaRPr lang="en-US" dirty="0"/>
          </a:p>
        </p:txBody>
      </p:sp>
    </p:spTree>
    <p:extLst>
      <p:ext uri="{BB962C8B-B14F-4D97-AF65-F5344CB8AC3E}">
        <p14:creationId xmlns:p14="http://schemas.microsoft.com/office/powerpoint/2010/main" val="277036388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0113" name="Slide Image Placeholder 1"/>
          <p:cNvSpPr>
            <a:spLocks noGrp="1" noRot="1" noChangeAspect="1"/>
          </p:cNvSpPr>
          <p:nvPr>
            <p:ph type="sldImg"/>
          </p:nvPr>
        </p:nvSpPr>
        <p:spPr>
          <a:xfrm>
            <a:off x="1249363" y="698500"/>
            <a:ext cx="4511675" cy="3486150"/>
          </a:xfrm>
          <a:ln/>
        </p:spPr>
      </p:sp>
      <p:sp>
        <p:nvSpPr>
          <p:cNvPr id="90114" name="Notes Placeholder 2"/>
          <p:cNvSpPr>
            <a:spLocks noGrp="1"/>
          </p:cNvSpPr>
          <p:nvPr>
            <p:ph type="body" idx="1"/>
          </p:nvPr>
        </p:nvSpPr>
        <p:spPr>
          <a:noFill/>
          <a:ln/>
        </p:spPr>
        <p:txBody>
          <a:bodyPr/>
          <a:lstStyle/>
          <a:p>
            <a:pPr eaLnBrk="1" hangingPunct="1"/>
            <a:endParaRPr lang="en-US" dirty="0" smtClean="0"/>
          </a:p>
        </p:txBody>
      </p:sp>
      <p:sp>
        <p:nvSpPr>
          <p:cNvPr id="90115" name="Slide Number Placeholder 3"/>
          <p:cNvSpPr>
            <a:spLocks noGrp="1"/>
          </p:cNvSpPr>
          <p:nvPr>
            <p:ph type="sldNum" sz="quarter" idx="5"/>
          </p:nvPr>
        </p:nvSpPr>
        <p:spPr>
          <a:noFill/>
        </p:spPr>
        <p:txBody>
          <a:bodyPr/>
          <a:lstStyle/>
          <a:p>
            <a:pPr defTabSz="928090"/>
            <a:fld id="{1FE077EC-684A-4FD9-A6C3-9AE90D8B81D6}" type="slidenum">
              <a:rPr lang="en-US" smtClean="0"/>
              <a:pPr defTabSz="928090"/>
              <a:t>1</a:t>
            </a:fld>
            <a:endParaRPr lang="en-US" dirty="0" smtClean="0"/>
          </a:p>
        </p:txBody>
      </p:sp>
    </p:spTree>
    <p:extLst>
      <p:ext uri="{BB962C8B-B14F-4D97-AF65-F5344CB8AC3E}">
        <p14:creationId xmlns:p14="http://schemas.microsoft.com/office/powerpoint/2010/main" val="30067720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7775" y="696913"/>
            <a:ext cx="4514850" cy="348773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CA49B7-56B7-41CA-B1AF-E05A1D1FCC64}" type="slidenum">
              <a:rPr lang="en-US" smtClean="0">
                <a:solidFill>
                  <a:prstClr val="black"/>
                </a:solidFill>
              </a:rPr>
              <a:pPr/>
              <a:t>4</a:t>
            </a:fld>
            <a:endParaRPr lang="en-US" dirty="0">
              <a:solidFill>
                <a:prstClr val="black"/>
              </a:solidFill>
            </a:endParaRPr>
          </a:p>
        </p:txBody>
      </p:sp>
    </p:spTree>
    <p:extLst>
      <p:ext uri="{BB962C8B-B14F-4D97-AF65-F5344CB8AC3E}">
        <p14:creationId xmlns:p14="http://schemas.microsoft.com/office/powerpoint/2010/main" val="100626227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7775" y="696913"/>
            <a:ext cx="4514850" cy="3487737"/>
          </a:xfrm>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5DCA49B7-56B7-41CA-B1AF-E05A1D1FCC64}" type="slidenum">
              <a:rPr lang="en-US" smtClean="0">
                <a:solidFill>
                  <a:prstClr val="black"/>
                </a:solidFill>
              </a:rPr>
              <a:pPr/>
              <a:t>5</a:t>
            </a:fld>
            <a:endParaRPr lang="en-US" dirty="0">
              <a:solidFill>
                <a:prstClr val="black"/>
              </a:solidFill>
            </a:endParaRPr>
          </a:p>
        </p:txBody>
      </p:sp>
    </p:spTree>
    <p:extLst>
      <p:ext uri="{BB962C8B-B14F-4D97-AF65-F5344CB8AC3E}">
        <p14:creationId xmlns:p14="http://schemas.microsoft.com/office/powerpoint/2010/main" val="3724634170"/>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698500"/>
            <a:ext cx="4511675" cy="3486150"/>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6</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698500"/>
            <a:ext cx="4511675" cy="3486150"/>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7</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1249363" y="698500"/>
            <a:ext cx="4511675" cy="3486150"/>
          </a:xfrm>
        </p:spPr>
      </p:sp>
      <p:sp>
        <p:nvSpPr>
          <p:cNvPr id="3" name="Notes Placeholder 2"/>
          <p:cNvSpPr>
            <a:spLocks noGrp="1"/>
          </p:cNvSpPr>
          <p:nvPr>
            <p:ph type="body" idx="1"/>
          </p:nvPr>
        </p:nvSpPr>
        <p:spPr/>
        <p:txBody>
          <a:bodyPr>
            <a:normAutofit/>
          </a:bodyPr>
          <a:lstStyle/>
          <a:p>
            <a:r>
              <a:rPr lang="en-US" dirty="0" smtClean="0"/>
              <a:t>The draft you sent over had this title. It doesn’t look correct?</a:t>
            </a:r>
            <a:endParaRPr lang="en-US" dirty="0"/>
          </a:p>
        </p:txBody>
      </p:sp>
      <p:sp>
        <p:nvSpPr>
          <p:cNvPr id="4" name="Slide Number Placeholder 3"/>
          <p:cNvSpPr>
            <a:spLocks noGrp="1"/>
          </p:cNvSpPr>
          <p:nvPr>
            <p:ph type="sldNum" sz="quarter" idx="10"/>
          </p:nvPr>
        </p:nvSpPr>
        <p:spPr/>
        <p:txBody>
          <a:bodyPr/>
          <a:lstStyle/>
          <a:p>
            <a:pPr>
              <a:defRPr/>
            </a:pPr>
            <a:fld id="{993BEEDA-D9FC-4A9F-BB3F-83B0CB940930}" type="slidenum">
              <a:rPr lang="en-US" smtClean="0">
                <a:solidFill>
                  <a:srgbClr val="000000"/>
                </a:solidFill>
              </a:rPr>
              <a:pPr>
                <a:defRPr/>
              </a:pPr>
              <a:t>8</a:t>
            </a:fld>
            <a:endParaRPr lang="en-US" dirty="0">
              <a:solidFill>
                <a:srgbClr val="000000"/>
              </a:solidFill>
            </a:endParaRPr>
          </a:p>
        </p:txBody>
      </p:sp>
    </p:spTree>
    <p:extLst>
      <p:ext uri="{BB962C8B-B14F-4D97-AF65-F5344CB8AC3E}">
        <p14:creationId xmlns:p14="http://schemas.microsoft.com/office/powerpoint/2010/main" val="2430420144"/>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4.jpeg"/><Relationship Id="rId1" Type="http://schemas.openxmlformats.org/officeDocument/2006/relationships/slideMaster" Target="../slideMasters/slideMaster1.xml"/><Relationship Id="rId5" Type="http://schemas.openxmlformats.org/officeDocument/2006/relationships/image" Target="../media/image3.emf"/><Relationship Id="rId4" Type="http://schemas.openxmlformats.org/officeDocument/2006/relationships/image" Target="../media/image5.gif"/></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5.gif"/><Relationship Id="rId2" Type="http://schemas.openxmlformats.org/officeDocument/2006/relationships/image" Target="../media/image6.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6.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7.jpeg"/><Relationship Id="rId1" Type="http://schemas.openxmlformats.org/officeDocument/2006/relationships/slideMaster" Target="../slideMasters/slideMaster1.xml"/><Relationship Id="rId4" Type="http://schemas.openxmlformats.org/officeDocument/2006/relationships/image" Target="../media/image3.emf"/></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showMasterSp="0" type="title" preserve="1">
  <p:cSld name="Title Slide">
    <p:spTree>
      <p:nvGrpSpPr>
        <p:cNvPr id="1" name=""/>
        <p:cNvGrpSpPr/>
        <p:nvPr/>
      </p:nvGrpSpPr>
      <p:grpSpPr>
        <a:xfrm>
          <a:off x="0" y="0"/>
          <a:ext cx="0" cy="0"/>
          <a:chOff x="0" y="0"/>
          <a:chExt cx="0" cy="0"/>
        </a:xfrm>
      </p:grpSpPr>
      <p:pic>
        <p:nvPicPr>
          <p:cNvPr id="7" name="Picture 33" descr="Cello_CoverDesigns_FINAL_2-02"/>
          <p:cNvPicPr>
            <a:picLocks noChangeAspect="1" noChangeArrowheads="1"/>
          </p:cNvPicPr>
          <p:nvPr userDrawn="1"/>
        </p:nvPicPr>
        <p:blipFill>
          <a:blip r:embed="rId2" cstate="print"/>
          <a:srcRect b="13019"/>
          <a:stretch>
            <a:fillRect/>
          </a:stretch>
        </p:blipFill>
        <p:spPr bwMode="auto">
          <a:xfrm>
            <a:off x="228600" y="788038"/>
            <a:ext cx="9601200" cy="3853742"/>
          </a:xfrm>
          <a:prstGeom prst="rect">
            <a:avLst/>
          </a:prstGeom>
          <a:noFill/>
          <a:ln w="9525">
            <a:noFill/>
            <a:miter lim="800000"/>
            <a:headEnd/>
            <a:tailEnd/>
          </a:ln>
        </p:spPr>
      </p:pic>
      <p:sp>
        <p:nvSpPr>
          <p:cNvPr id="8" name="Rectangle 48"/>
          <p:cNvSpPr>
            <a:spLocks noChangeArrowheads="1"/>
          </p:cNvSpPr>
          <p:nvPr userDrawn="1"/>
        </p:nvSpPr>
        <p:spPr bwMode="auto">
          <a:xfrm>
            <a:off x="228600" y="7136284"/>
            <a:ext cx="9601200" cy="401215"/>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101858" tIns="50929" rIns="101858" bIns="50929" anchor="ctr"/>
          <a:lstStyle/>
          <a:p>
            <a:endParaRPr lang="en-US" dirty="0"/>
          </a:p>
        </p:txBody>
      </p:sp>
      <p:sp>
        <p:nvSpPr>
          <p:cNvPr id="9" name="Rectangle 50"/>
          <p:cNvSpPr>
            <a:spLocks noChangeArrowheads="1"/>
          </p:cNvSpPr>
          <p:nvPr userDrawn="1"/>
        </p:nvSpPr>
        <p:spPr bwMode="auto">
          <a:xfrm flipV="1">
            <a:off x="228600" y="4967500"/>
            <a:ext cx="9601200" cy="401214"/>
          </a:xfrm>
          <a:prstGeom prst="rect">
            <a:avLst/>
          </a:prstGeom>
          <a:gradFill rotWithShape="1">
            <a:gsLst>
              <a:gs pos="0">
                <a:schemeClr val="accent1"/>
              </a:gs>
              <a:gs pos="100000">
                <a:schemeClr val="tx2"/>
              </a:gs>
            </a:gsLst>
            <a:lin ang="0" scaled="1"/>
          </a:gradFill>
          <a:ln w="9525">
            <a:noFill/>
            <a:miter lim="800000"/>
            <a:headEnd/>
            <a:tailEnd/>
          </a:ln>
          <a:effectLst/>
        </p:spPr>
        <p:txBody>
          <a:bodyPr wrap="none" lIns="91418" tIns="45710" rIns="91418" bIns="45710" anchor="ctr"/>
          <a:lstStyle/>
          <a:p>
            <a:endParaRPr lang="en-US" dirty="0"/>
          </a:p>
        </p:txBody>
      </p:sp>
      <p:sp>
        <p:nvSpPr>
          <p:cNvPr id="21"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
        <p:nvSpPr>
          <p:cNvPr id="2" name="Title 1"/>
          <p:cNvSpPr>
            <a:spLocks noGrp="1"/>
          </p:cNvSpPr>
          <p:nvPr>
            <p:ph type="ctrTitle"/>
          </p:nvPr>
        </p:nvSpPr>
        <p:spPr>
          <a:xfrm>
            <a:off x="3352800" y="6299200"/>
            <a:ext cx="6248400" cy="330200"/>
          </a:xfrm>
        </p:spPr>
        <p:txBody>
          <a:bodyPr/>
          <a:lstStyle>
            <a:lvl1pPr algn="r">
              <a:defRPr sz="2000" b="0" baseline="0">
                <a:solidFill>
                  <a:schemeClr val="accent3"/>
                </a:solidFill>
              </a:defRPr>
            </a:lvl1pPr>
          </a:lstStyle>
          <a:p>
            <a:r>
              <a:rPr lang="en-US" dirty="0" smtClean="0"/>
              <a:t>Click to edit Master title style</a:t>
            </a:r>
            <a:endParaRPr lang="en-US" dirty="0"/>
          </a:p>
        </p:txBody>
      </p:sp>
      <p:sp>
        <p:nvSpPr>
          <p:cNvPr id="3" name="Subtitle 2"/>
          <p:cNvSpPr>
            <a:spLocks noGrp="1"/>
          </p:cNvSpPr>
          <p:nvPr>
            <p:ph type="subTitle" idx="1"/>
          </p:nvPr>
        </p:nvSpPr>
        <p:spPr>
          <a:xfrm>
            <a:off x="3352800" y="6639560"/>
            <a:ext cx="6248400" cy="457200"/>
          </a:xfrm>
        </p:spPr>
        <p:txBody>
          <a:bodyPr/>
          <a:lstStyle>
            <a:lvl1pPr marL="0" indent="0" algn="r">
              <a:buNone/>
              <a:defRPr sz="1700" b="0">
                <a:solidFill>
                  <a:schemeClr val="tx2"/>
                </a:solidFill>
              </a:defRPr>
            </a:lvl1pPr>
            <a:lvl2pPr marL="509412" indent="0" algn="ctr">
              <a:buNone/>
              <a:defRPr>
                <a:solidFill>
                  <a:schemeClr val="tx1">
                    <a:tint val="75000"/>
                  </a:schemeClr>
                </a:solidFill>
              </a:defRPr>
            </a:lvl2pPr>
            <a:lvl3pPr marL="1018824" indent="0" algn="ctr">
              <a:buNone/>
              <a:defRPr>
                <a:solidFill>
                  <a:schemeClr val="tx1">
                    <a:tint val="75000"/>
                  </a:schemeClr>
                </a:solidFill>
              </a:defRPr>
            </a:lvl3pPr>
            <a:lvl4pPr marL="1528237" indent="0" algn="ctr">
              <a:buNone/>
              <a:defRPr>
                <a:solidFill>
                  <a:schemeClr val="tx1">
                    <a:tint val="75000"/>
                  </a:schemeClr>
                </a:solidFill>
              </a:defRPr>
            </a:lvl4pPr>
            <a:lvl5pPr marL="2037649" indent="0" algn="ctr">
              <a:buNone/>
              <a:defRPr>
                <a:solidFill>
                  <a:schemeClr val="tx1">
                    <a:tint val="75000"/>
                  </a:schemeClr>
                </a:solidFill>
              </a:defRPr>
            </a:lvl5pPr>
            <a:lvl6pPr marL="2547061" indent="0" algn="ctr">
              <a:buNone/>
              <a:defRPr>
                <a:solidFill>
                  <a:schemeClr val="tx1">
                    <a:tint val="75000"/>
                  </a:schemeClr>
                </a:solidFill>
              </a:defRPr>
            </a:lvl6pPr>
            <a:lvl7pPr marL="3056473" indent="0" algn="ctr">
              <a:buNone/>
              <a:defRPr>
                <a:solidFill>
                  <a:schemeClr val="tx1">
                    <a:tint val="75000"/>
                  </a:schemeClr>
                </a:solidFill>
              </a:defRPr>
            </a:lvl7pPr>
            <a:lvl8pPr marL="3565886" indent="0" algn="ctr">
              <a:buNone/>
              <a:defRPr>
                <a:solidFill>
                  <a:schemeClr val="tx1">
                    <a:tint val="75000"/>
                  </a:schemeClr>
                </a:solidFill>
              </a:defRPr>
            </a:lvl8pPr>
            <a:lvl9pPr marL="4075298" indent="0" algn="ctr">
              <a:buNone/>
              <a:defRPr>
                <a:solidFill>
                  <a:schemeClr val="tx1">
                    <a:tint val="75000"/>
                  </a:schemeClr>
                </a:solidFill>
              </a:defRPr>
            </a:lvl9pPr>
          </a:lstStyle>
          <a:p>
            <a:r>
              <a:rPr lang="en-US" dirty="0" smtClean="0"/>
              <a:t>Click to edit Master subtitle style</a:t>
            </a:r>
            <a:endParaRPr lang="en-US" dirty="0"/>
          </a:p>
        </p:txBody>
      </p:sp>
      <p:pic>
        <p:nvPicPr>
          <p:cNvPr id="22" name="Picture 21"/>
          <p:cNvPicPr>
            <a:picLocks noChangeAspect="1"/>
          </p:cNvPicPr>
          <p:nvPr userDrawn="1"/>
        </p:nvPicPr>
        <p:blipFill>
          <a:blip r:embed="rId3"/>
          <a:stretch>
            <a:fillRect/>
          </a:stretch>
        </p:blipFill>
        <p:spPr>
          <a:xfrm>
            <a:off x="1011082" y="3986954"/>
            <a:ext cx="2202628" cy="2880360"/>
          </a:xfrm>
          <a:prstGeom prst="rect">
            <a:avLst/>
          </a:prstGeom>
        </p:spPr>
      </p:pic>
    </p:spTree>
    <p:extLst>
      <p:ext uri="{BB962C8B-B14F-4D97-AF65-F5344CB8AC3E}">
        <p14:creationId xmlns:p14="http://schemas.microsoft.com/office/powerpoint/2010/main" val="21132140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showMasterSp="0" preserve="1" userDrawn="1">
  <p:cSld name="1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accent3"/>
            </a:solidFill>
            <a:miter lim="800000"/>
            <a:headEnd/>
            <a:tailEnd/>
          </a:ln>
        </p:spPr>
        <p:txBody>
          <a:bodyPr wrap="none" lIns="101847" tIns="50923" rIns="101847" bIns="50923" anchor="ctr"/>
          <a:lstStyle/>
          <a:p>
            <a:pPr>
              <a:defRPr/>
            </a:pPr>
            <a:endParaRPr lang="en-US" dirty="0"/>
          </a:p>
        </p:txBody>
      </p:sp>
    </p:spTree>
    <p:extLst>
      <p:ext uri="{BB962C8B-B14F-4D97-AF65-F5344CB8AC3E}">
        <p14:creationId xmlns:p14="http://schemas.microsoft.com/office/powerpoint/2010/main" val="1215796980"/>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userDrawn="1">
  <p:cSld name="2_Title Slide">
    <p:spTree>
      <p:nvGrpSpPr>
        <p:cNvPr id="1" name=""/>
        <p:cNvGrpSpPr/>
        <p:nvPr/>
      </p:nvGrpSpPr>
      <p:grpSpPr>
        <a:xfrm>
          <a:off x="0" y="0"/>
          <a:ext cx="0" cy="0"/>
          <a:chOff x="0" y="0"/>
          <a:chExt cx="0" cy="0"/>
        </a:xfrm>
      </p:grpSpPr>
      <p:pic>
        <p:nvPicPr>
          <p:cNvPr id="10" name="Picture 30" descr="Cello_CoverDesigns_Cellobluestrip-01"/>
          <p:cNvPicPr>
            <a:picLocks noChangeAspect="1" noChangeArrowheads="1"/>
          </p:cNvPicPr>
          <p:nvPr userDrawn="1"/>
        </p:nvPicPr>
        <p:blipFill>
          <a:blip r:embed="rId2" cstate="print"/>
          <a:srcRect b="3510"/>
          <a:stretch>
            <a:fillRect/>
          </a:stretch>
        </p:blipFill>
        <p:spPr bwMode="auto">
          <a:xfrm>
            <a:off x="228600" y="4769594"/>
            <a:ext cx="9601200" cy="482500"/>
          </a:xfrm>
          <a:prstGeom prst="rect">
            <a:avLst/>
          </a:prstGeom>
          <a:noFill/>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5" name="Rectangle 24"/>
          <p:cNvSpPr/>
          <p:nvPr userDrawn="1"/>
        </p:nvSpPr>
        <p:spPr>
          <a:xfrm>
            <a:off x="228600" y="228600"/>
            <a:ext cx="9601200" cy="7315200"/>
          </a:xfrm>
          <a:prstGeom prst="rect">
            <a:avLst/>
          </a:prstGeom>
          <a:noFill/>
          <a:ln>
            <a:solidFill>
              <a:schemeClr val="bg2"/>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4"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5"/>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205062966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userDrawn="1">
  <p:cSld name="3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6" name="Picture 25" descr="GUGG_logo_262.gif"/>
          <p:cNvPicPr>
            <a:picLocks noChangeAspect="1"/>
          </p:cNvPicPr>
          <p:nvPr userDrawn="1"/>
        </p:nvPicPr>
        <p:blipFill>
          <a:blip r:embed="rId3" cstate="print"/>
          <a:stretch>
            <a:fillRect/>
          </a:stretch>
        </p:blipFill>
        <p:spPr>
          <a:xfrm>
            <a:off x="4043680" y="468949"/>
            <a:ext cx="2072640" cy="153375"/>
          </a:xfrm>
          <a:prstGeom prst="rect">
            <a:avLst/>
          </a:prstGeom>
        </p:spPr>
      </p:pic>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4339921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showMasterSp="0" preserve="1" userDrawn="1">
  <p:cSld name="4_Title Slide">
    <p:spTree>
      <p:nvGrpSpPr>
        <p:cNvPr id="1" name=""/>
        <p:cNvGrpSpPr/>
        <p:nvPr/>
      </p:nvGrpSpPr>
      <p:grpSpPr>
        <a:xfrm>
          <a:off x="0" y="0"/>
          <a:ext cx="0" cy="0"/>
          <a:chOff x="0" y="0"/>
          <a:chExt cx="0" cy="0"/>
        </a:xfrm>
      </p:grpSpPr>
      <p:pic>
        <p:nvPicPr>
          <p:cNvPr id="7" name="Picture 31" descr="Cello_CoverDesigns_cellofade-02"/>
          <p:cNvPicPr>
            <a:picLocks noChangeAspect="1" noChangeArrowheads="1"/>
          </p:cNvPicPr>
          <p:nvPr userDrawn="1"/>
        </p:nvPicPr>
        <p:blipFill>
          <a:blip r:embed="rId2" cstate="print"/>
          <a:srcRect l="2904" t="426" r="180"/>
          <a:stretch>
            <a:fillRect/>
          </a:stretch>
        </p:blipFill>
        <p:spPr bwMode="auto">
          <a:xfrm>
            <a:off x="228600" y="868436"/>
            <a:ext cx="9601200" cy="4295367"/>
          </a:xfrm>
          <a:prstGeom prst="rect">
            <a:avLst/>
          </a:prstGeom>
          <a:noFill/>
        </p:spPr>
      </p:pic>
      <p:sp>
        <p:nvSpPr>
          <p:cNvPr id="8" name="Line 17"/>
          <p:cNvSpPr>
            <a:spLocks noChangeShapeType="1"/>
          </p:cNvSpPr>
          <p:nvPr userDrawn="1"/>
        </p:nvSpPr>
        <p:spPr bwMode="auto">
          <a:xfrm>
            <a:off x="228600" y="5181262"/>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9" name="Line 17"/>
          <p:cNvSpPr>
            <a:spLocks noChangeShapeType="1"/>
          </p:cNvSpPr>
          <p:nvPr userDrawn="1"/>
        </p:nvSpPr>
        <p:spPr bwMode="auto">
          <a:xfrm>
            <a:off x="228600" y="829416"/>
            <a:ext cx="9601200" cy="0"/>
          </a:xfrm>
          <a:prstGeom prst="line">
            <a:avLst/>
          </a:prstGeom>
          <a:noFill/>
          <a:ln w="12700">
            <a:solidFill>
              <a:schemeClr val="accent1"/>
            </a:solidFill>
            <a:round/>
            <a:headEnd/>
            <a:tailEnd/>
          </a:ln>
          <a:effectLst/>
        </p:spPr>
        <p:txBody>
          <a:bodyPr lIns="101847" tIns="50923" rIns="101847" bIns="50923"/>
          <a:lstStyle/>
          <a:p>
            <a:pPr>
              <a:defRPr/>
            </a:pPr>
            <a:endParaRPr lang="en-US" dirty="0">
              <a:solidFill>
                <a:srgbClr val="000000"/>
              </a:solidFill>
            </a:endParaRPr>
          </a:p>
        </p:txBody>
      </p:sp>
      <p:sp>
        <p:nvSpPr>
          <p:cNvPr id="25" name="Rectangle 24"/>
          <p:cNvSpPr/>
          <p:nvPr userDrawn="1"/>
        </p:nvSpPr>
        <p:spPr>
          <a:xfrm>
            <a:off x="228600" y="228600"/>
            <a:ext cx="9601200" cy="7315200"/>
          </a:xfrm>
          <a:prstGeom prst="rect">
            <a:avLst/>
          </a:prstGeom>
          <a:noFill/>
          <a:ln>
            <a:solidFill>
              <a:schemeClr val="accent1"/>
            </a:solidFill>
          </a:ln>
        </p:spPr>
        <p:style>
          <a:lnRef idx="2">
            <a:schemeClr val="accent1">
              <a:shade val="50000"/>
            </a:schemeClr>
          </a:lnRef>
          <a:fillRef idx="1">
            <a:schemeClr val="accent1"/>
          </a:fillRef>
          <a:effectRef idx="0">
            <a:schemeClr val="accent1"/>
          </a:effectRef>
          <a:fontRef idx="minor">
            <a:schemeClr val="lt1"/>
          </a:fontRef>
        </p:style>
        <p:txBody>
          <a:bodyPr lIns="91418" tIns="45710" rIns="91418" bIns="45710" rtlCol="0" anchor="ctr"/>
          <a:lstStyle/>
          <a:p>
            <a:pPr algn="ctr"/>
            <a:endParaRPr lang="en-US" dirty="0"/>
          </a:p>
        </p:txBody>
      </p:sp>
      <p:pic>
        <p:nvPicPr>
          <p:cNvPr id="27" name="Picture 26"/>
          <p:cNvPicPr>
            <a:picLocks noChangeAspect="1"/>
          </p:cNvPicPr>
          <p:nvPr userDrawn="1"/>
        </p:nvPicPr>
        <p:blipFill>
          <a:blip r:embed="rId3"/>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5183840"/>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showMasterSp="0" preserve="1" userDrawn="1">
  <p:cSld name="5_Title Slide">
    <p:spTree>
      <p:nvGrpSpPr>
        <p:cNvPr id="1" name=""/>
        <p:cNvGrpSpPr/>
        <p:nvPr/>
      </p:nvGrpSpPr>
      <p:grpSpPr>
        <a:xfrm>
          <a:off x="0" y="0"/>
          <a:ext cx="0" cy="0"/>
          <a:chOff x="0" y="0"/>
          <a:chExt cx="0" cy="0"/>
        </a:xfrm>
      </p:grpSpPr>
      <p:pic>
        <p:nvPicPr>
          <p:cNvPr id="7" name="Picture 31" descr="Cello_CoverDesigns_FINAL_3and4-01"/>
          <p:cNvPicPr>
            <a:picLocks noChangeAspect="1" noChangeArrowheads="1"/>
          </p:cNvPicPr>
          <p:nvPr userDrawn="1"/>
        </p:nvPicPr>
        <p:blipFill>
          <a:blip r:embed="rId2" cstate="print"/>
          <a:srcRect t="88849"/>
          <a:stretch>
            <a:fillRect/>
          </a:stretch>
        </p:blipFill>
        <p:spPr bwMode="auto">
          <a:xfrm>
            <a:off x="228600" y="4769721"/>
            <a:ext cx="9601200" cy="482373"/>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3"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27" name="Picture 26"/>
          <p:cNvPicPr>
            <a:picLocks noChangeAspect="1"/>
          </p:cNvPicPr>
          <p:nvPr userDrawn="1"/>
        </p:nvPicPr>
        <p:blipFill>
          <a:blip r:embed="rId4"/>
          <a:stretch>
            <a:fillRect/>
          </a:stretch>
        </p:blipFill>
        <p:spPr>
          <a:xfrm>
            <a:off x="3753074" y="3762061"/>
            <a:ext cx="2552251" cy="3337560"/>
          </a:xfrm>
          <a:prstGeom prst="rect">
            <a:avLst/>
          </a:prstGeom>
        </p:spPr>
      </p:pic>
    </p:spTree>
    <p:extLst>
      <p:ext uri="{BB962C8B-B14F-4D97-AF65-F5344CB8AC3E}">
        <p14:creationId xmlns:p14="http://schemas.microsoft.com/office/powerpoint/2010/main" val="1878930250"/>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showMasterSp="0" preserve="1" userDrawn="1">
  <p:cSld name="6_Title Slide">
    <p:spTree>
      <p:nvGrpSpPr>
        <p:cNvPr id="1" name=""/>
        <p:cNvGrpSpPr/>
        <p:nvPr/>
      </p:nvGrpSpPr>
      <p:grpSpPr>
        <a:xfrm>
          <a:off x="0" y="0"/>
          <a:ext cx="0" cy="0"/>
          <a:chOff x="0" y="0"/>
          <a:chExt cx="0" cy="0"/>
        </a:xfrm>
      </p:grpSpPr>
      <p:pic>
        <p:nvPicPr>
          <p:cNvPr id="20" name="Picture 33" descr="Cello_CoverDesigns_FINAL_2-02"/>
          <p:cNvPicPr>
            <a:picLocks noChangeAspect="1" noChangeArrowheads="1"/>
          </p:cNvPicPr>
          <p:nvPr userDrawn="1"/>
        </p:nvPicPr>
        <p:blipFill>
          <a:blip r:embed="rId2" cstate="print"/>
          <a:srcRect t="88007" b="1381"/>
          <a:stretch>
            <a:fillRect/>
          </a:stretch>
        </p:blipFill>
        <p:spPr bwMode="auto">
          <a:xfrm>
            <a:off x="228600" y="4781954"/>
            <a:ext cx="9601200" cy="470140"/>
          </a:xfrm>
          <a:prstGeom prst="rect">
            <a:avLst/>
          </a:prstGeom>
          <a:noFill/>
          <a:ln w="9525">
            <a:noFill/>
            <a:miter lim="800000"/>
            <a:headEnd/>
            <a:tailEnd/>
          </a:ln>
        </p:spPr>
      </p:pic>
      <p:pic>
        <p:nvPicPr>
          <p:cNvPr id="11" name="Picture 33" descr="Cello_CoverDesigns_FINAL_2-02"/>
          <p:cNvPicPr>
            <a:picLocks noChangeAspect="1" noChangeArrowheads="1"/>
          </p:cNvPicPr>
          <p:nvPr userDrawn="1"/>
        </p:nvPicPr>
        <p:blipFill>
          <a:blip r:embed="rId2" cstate="print"/>
          <a:srcRect b="13019"/>
          <a:stretch>
            <a:fillRect/>
          </a:stretch>
        </p:blipFill>
        <p:spPr bwMode="auto">
          <a:xfrm>
            <a:off x="228600" y="889638"/>
            <a:ext cx="9601200" cy="3853742"/>
          </a:xfrm>
          <a:prstGeom prst="rect">
            <a:avLst/>
          </a:prstGeom>
          <a:noFill/>
          <a:ln w="9525">
            <a:noFill/>
            <a:miter lim="800000"/>
            <a:headEnd/>
            <a:tailEnd/>
          </a:ln>
        </p:spPr>
      </p:pic>
      <p:sp>
        <p:nvSpPr>
          <p:cNvPr id="28" name="Rectangle 14"/>
          <p:cNvSpPr>
            <a:spLocks noChangeArrowheads="1"/>
          </p:cNvSpPr>
          <p:nvPr userDrawn="1"/>
        </p:nvSpPr>
        <p:spPr bwMode="auto">
          <a:xfrm>
            <a:off x="228600" y="228600"/>
            <a:ext cx="9601200" cy="7315200"/>
          </a:xfrm>
          <a:prstGeom prst="rect">
            <a:avLst/>
          </a:prstGeom>
          <a:noFill/>
          <a:ln w="25400">
            <a:solidFill>
              <a:schemeClr val="bg2"/>
            </a:solidFill>
            <a:miter lim="800000"/>
            <a:headEnd/>
            <a:tailEnd/>
          </a:ln>
        </p:spPr>
        <p:txBody>
          <a:bodyPr wrap="none" lIns="101847" tIns="50923" rIns="101847" bIns="50923" anchor="ctr"/>
          <a:lstStyle/>
          <a:p>
            <a:pPr>
              <a:defRPr/>
            </a:pPr>
            <a:endParaRPr lang="en-US" dirty="0"/>
          </a:p>
        </p:txBody>
      </p:sp>
      <p:pic>
        <p:nvPicPr>
          <p:cNvPr id="34" name="Picture 33"/>
          <p:cNvPicPr>
            <a:picLocks noChangeAspect="1"/>
          </p:cNvPicPr>
          <p:nvPr userDrawn="1"/>
        </p:nvPicPr>
        <p:blipFill>
          <a:blip r:embed="rId3"/>
          <a:stretch>
            <a:fillRect/>
          </a:stretch>
        </p:blipFill>
        <p:spPr>
          <a:xfrm>
            <a:off x="4487283" y="4495800"/>
            <a:ext cx="1083833" cy="1417320"/>
          </a:xfrm>
          <a:prstGeom prst="rect">
            <a:avLst/>
          </a:prstGeom>
        </p:spPr>
      </p:pic>
      <p:sp>
        <p:nvSpPr>
          <p:cNvPr id="3" name="Content Placeholder 2"/>
          <p:cNvSpPr>
            <a:spLocks noGrp="1"/>
          </p:cNvSpPr>
          <p:nvPr>
            <p:ph sz="quarter" idx="10"/>
          </p:nvPr>
        </p:nvSpPr>
        <p:spPr>
          <a:xfrm>
            <a:off x="293688" y="6400800"/>
            <a:ext cx="9469437" cy="1001713"/>
          </a:xfrm>
        </p:spPr>
        <p:txBody>
          <a:bodyPr/>
          <a:lstStyle>
            <a:lvl1pPr algn="ctr">
              <a:defRPr sz="2600" b="0"/>
            </a:lvl1pPr>
          </a:lstStyle>
          <a:p>
            <a:pPr lvl="0"/>
            <a:r>
              <a:rPr lang="en-US" dirty="0" smtClean="0"/>
              <a:t>Click to edit Master text styles</a:t>
            </a:r>
          </a:p>
        </p:txBody>
      </p:sp>
    </p:spTree>
    <p:extLst>
      <p:ext uri="{BB962C8B-B14F-4D97-AF65-F5344CB8AC3E}">
        <p14:creationId xmlns:p14="http://schemas.microsoft.com/office/powerpoint/2010/main" val="32544988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84300056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Disclosure">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lgn="just">
              <a:spcBef>
                <a:spcPts val="1200"/>
              </a:spcBef>
              <a:defRPr sz="1100"/>
            </a:lvl1pPr>
            <a:lvl2pPr algn="just">
              <a:spcBef>
                <a:spcPts val="900"/>
              </a:spcBef>
              <a:defRPr sz="1100"/>
            </a:lvl2pPr>
            <a:lvl3pPr algn="just">
              <a:spcBef>
                <a:spcPts val="600"/>
              </a:spcBef>
              <a:defRPr sz="1100"/>
            </a:lvl3pPr>
            <a:lvl4pPr algn="just">
              <a:spcBef>
                <a:spcPts val="0"/>
              </a:spcBef>
              <a:defRPr sz="1100"/>
            </a:lvl4pPr>
            <a:lvl5pPr algn="just">
              <a:spcBef>
                <a:spcPts val="0"/>
              </a:spcBef>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85527579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7406" y="3881120"/>
            <a:ext cx="8925718" cy="914400"/>
          </a:xfrm>
        </p:spPr>
        <p:txBody>
          <a:bodyPr anchor="t"/>
          <a:lstStyle>
            <a:lvl1pPr algn="l">
              <a:defRPr sz="3200" b="0" cap="all">
                <a:solidFill>
                  <a:schemeClr val="accent3"/>
                </a:solidFill>
              </a:defRPr>
            </a:lvl1pPr>
          </a:lstStyle>
          <a:p>
            <a:r>
              <a:rPr lang="en-US" dirty="0" smtClean="0"/>
              <a:t>Click to edit Master title style</a:t>
            </a:r>
            <a:endParaRPr lang="en-US" dirty="0"/>
          </a:p>
        </p:txBody>
      </p:sp>
      <p:sp>
        <p:nvSpPr>
          <p:cNvPr id="3" name="Text Placeholder 2"/>
          <p:cNvSpPr>
            <a:spLocks noGrp="1"/>
          </p:cNvSpPr>
          <p:nvPr>
            <p:ph type="body" idx="1"/>
          </p:nvPr>
        </p:nvSpPr>
        <p:spPr>
          <a:xfrm>
            <a:off x="838200" y="4800600"/>
            <a:ext cx="8925718" cy="914400"/>
          </a:xfrm>
        </p:spPr>
        <p:txBody>
          <a:bodyPr anchor="t"/>
          <a:lstStyle>
            <a:lvl1pPr marL="0" indent="0" algn="l">
              <a:buNone/>
              <a:defRPr sz="2200" b="0">
                <a:solidFill>
                  <a:schemeClr val="accent1"/>
                </a:solidFill>
              </a:defRPr>
            </a:lvl1pPr>
            <a:lvl2pPr marL="509412" indent="0">
              <a:buNone/>
              <a:defRPr sz="2000">
                <a:solidFill>
                  <a:schemeClr val="tx1">
                    <a:tint val="75000"/>
                  </a:schemeClr>
                </a:solidFill>
              </a:defRPr>
            </a:lvl2pPr>
            <a:lvl3pPr marL="1018824" indent="0">
              <a:buNone/>
              <a:defRPr sz="1800">
                <a:solidFill>
                  <a:schemeClr val="tx1">
                    <a:tint val="75000"/>
                  </a:schemeClr>
                </a:solidFill>
              </a:defRPr>
            </a:lvl3pPr>
            <a:lvl4pPr marL="1528237" indent="0">
              <a:buNone/>
              <a:defRPr sz="1600">
                <a:solidFill>
                  <a:schemeClr val="tx1">
                    <a:tint val="75000"/>
                  </a:schemeClr>
                </a:solidFill>
              </a:defRPr>
            </a:lvl4pPr>
            <a:lvl5pPr marL="2037649" indent="0">
              <a:buNone/>
              <a:defRPr sz="1600">
                <a:solidFill>
                  <a:schemeClr val="tx1">
                    <a:tint val="75000"/>
                  </a:schemeClr>
                </a:solidFill>
              </a:defRPr>
            </a:lvl5pPr>
            <a:lvl6pPr marL="2547061" indent="0">
              <a:buNone/>
              <a:defRPr sz="1600">
                <a:solidFill>
                  <a:schemeClr val="tx1">
                    <a:tint val="75000"/>
                  </a:schemeClr>
                </a:solidFill>
              </a:defRPr>
            </a:lvl6pPr>
            <a:lvl7pPr marL="3056473" indent="0">
              <a:buNone/>
              <a:defRPr sz="1600">
                <a:solidFill>
                  <a:schemeClr val="tx1">
                    <a:tint val="75000"/>
                  </a:schemeClr>
                </a:solidFill>
              </a:defRPr>
            </a:lvl7pPr>
            <a:lvl8pPr marL="3565886" indent="0">
              <a:buNone/>
              <a:defRPr sz="1600">
                <a:solidFill>
                  <a:schemeClr val="tx1">
                    <a:tint val="75000"/>
                  </a:schemeClr>
                </a:solidFill>
              </a:defRPr>
            </a:lvl8pPr>
            <a:lvl9pPr marL="4075298" indent="0">
              <a:buNone/>
              <a:defRPr sz="1600">
                <a:solidFill>
                  <a:schemeClr val="tx1">
                    <a:tint val="75000"/>
                  </a:schemeClr>
                </a:solidFill>
              </a:defRPr>
            </a:lvl9pPr>
          </a:lstStyle>
          <a:p>
            <a:pPr lvl="0"/>
            <a:r>
              <a:rPr lang="en-US" smtClean="0"/>
              <a:t>Click to edit Master text styles</a:t>
            </a:r>
          </a:p>
        </p:txBody>
      </p:sp>
      <p:sp>
        <p:nvSpPr>
          <p:cNvPr id="4" name="Line 31"/>
          <p:cNvSpPr>
            <a:spLocks noChangeShapeType="1"/>
          </p:cNvSpPr>
          <p:nvPr userDrawn="1"/>
        </p:nvSpPr>
        <p:spPr bwMode="auto">
          <a:xfrm>
            <a:off x="695960" y="3886200"/>
            <a:ext cx="0" cy="34113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Tree>
    <p:extLst>
      <p:ext uri="{BB962C8B-B14F-4D97-AF65-F5344CB8AC3E}">
        <p14:creationId xmlns:p14="http://schemas.microsoft.com/office/powerpoint/2010/main" val="1652547483"/>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Bios 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spcBef>
                <a:spcPts val="2400"/>
              </a:spcBef>
              <a:defRPr sz="1300"/>
            </a:lvl1pPr>
            <a:lvl2pPr algn="just">
              <a:spcBef>
                <a:spcPts val="0"/>
              </a:spcBef>
              <a:defRPr sz="1100"/>
            </a:lvl2pPr>
            <a:lvl3pPr algn="just">
              <a:spcBef>
                <a:spcPts val="300"/>
              </a:spcBef>
              <a:defRPr sz="1100"/>
            </a:lvl3pPr>
            <a:lvl4pPr algn="just">
              <a:spcBef>
                <a:spcPts val="300"/>
              </a:spcBef>
              <a:defRPr sz="1100"/>
            </a:lvl4pPr>
            <a:lvl5pPr algn="just">
              <a:spcBef>
                <a:spcPts val="300"/>
              </a:spcBef>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spcBef>
                <a:spcPts val="2400"/>
              </a:spcBef>
              <a:defRPr sz="1300"/>
            </a:lvl1pPr>
            <a:lvl2pPr algn="just">
              <a:spcBef>
                <a:spcPts val="0"/>
              </a:spcBef>
              <a:defRPr sz="1100"/>
            </a:lvl2pPr>
            <a:lvl3pPr algn="just">
              <a:defRPr sz="1100"/>
            </a:lvl3pPr>
            <a:lvl4pPr algn="just">
              <a:defRPr sz="1100"/>
            </a:lvl4pPr>
            <a:lvl5pPr algn="just">
              <a:defRPr sz="11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61101815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1_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baseline="0"/>
            </a:lvl1pPr>
          </a:lstStyle>
          <a:p>
            <a:r>
              <a:rPr lang="en-US" smtClean="0"/>
              <a:t>Click to edit Master title style</a:t>
            </a:r>
            <a:endParaRPr lang="en-US"/>
          </a:p>
        </p:txBody>
      </p:sp>
      <p:sp>
        <p:nvSpPr>
          <p:cNvPr id="3" name="Content Placeholder 2"/>
          <p:cNvSpPr>
            <a:spLocks noGrp="1"/>
          </p:cNvSpPr>
          <p:nvPr>
            <p:ph sz="half" idx="1"/>
          </p:nvPr>
        </p:nvSpPr>
        <p:spPr>
          <a:xfrm>
            <a:off x="293688"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4" name="Content Placeholder 3"/>
          <p:cNvSpPr>
            <a:spLocks noGrp="1"/>
          </p:cNvSpPr>
          <p:nvPr>
            <p:ph sz="half" idx="2"/>
          </p:nvPr>
        </p:nvSpPr>
        <p:spPr>
          <a:xfrm>
            <a:off x="5213350" y="1235075"/>
            <a:ext cx="4526280" cy="5938838"/>
          </a:xfrm>
        </p:spPr>
        <p:txBody>
          <a:bodyPr/>
          <a:lstStyle>
            <a:lvl1pPr algn="just">
              <a:defRPr sz="1400"/>
            </a:lvl1pPr>
            <a:lvl2pPr algn="just">
              <a:defRPr sz="1300"/>
            </a:lvl2pPr>
            <a:lvl3pPr algn="just">
              <a:defRPr sz="1300"/>
            </a:lvl3pPr>
            <a:lvl4pPr algn="just">
              <a:defRPr sz="1300"/>
            </a:lvl4pPr>
            <a:lvl5pPr algn="just">
              <a:defRPr sz="1300"/>
            </a:lvl5pPr>
            <a:lvl6pPr>
              <a:defRPr sz="2000"/>
            </a:lvl6pPr>
            <a:lvl7pPr>
              <a:defRPr sz="2000"/>
            </a:lvl7pPr>
            <a:lvl8pPr>
              <a:defRPr sz="2000"/>
            </a:lvl8pPr>
            <a:lvl9pPr>
              <a:defRPr sz="20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153452334"/>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293688"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4" name="Content Placeholder 3"/>
          <p:cNvSpPr>
            <a:spLocks noGrp="1"/>
          </p:cNvSpPr>
          <p:nvPr>
            <p:ph sz="half" idx="2"/>
          </p:nvPr>
        </p:nvSpPr>
        <p:spPr>
          <a:xfrm>
            <a:off x="293688"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5" name="Text Placeholder 4"/>
          <p:cNvSpPr>
            <a:spLocks noGrp="1"/>
          </p:cNvSpPr>
          <p:nvPr>
            <p:ph type="body" sz="quarter" idx="3"/>
          </p:nvPr>
        </p:nvSpPr>
        <p:spPr>
          <a:xfrm>
            <a:off x="5208270" y="1235075"/>
            <a:ext cx="4526280" cy="725064"/>
          </a:xfrm>
        </p:spPr>
        <p:txBody>
          <a:bodyPr anchor="t"/>
          <a:lstStyle>
            <a:lvl1pPr marL="0" indent="0">
              <a:buNone/>
              <a:defRPr sz="1400" b="1"/>
            </a:lvl1pPr>
            <a:lvl2pPr marL="509412" indent="0">
              <a:buNone/>
              <a:defRPr sz="2200" b="1"/>
            </a:lvl2pPr>
            <a:lvl3pPr marL="1018824" indent="0">
              <a:buNone/>
              <a:defRPr sz="2000" b="1"/>
            </a:lvl3pPr>
            <a:lvl4pPr marL="1528237" indent="0">
              <a:buNone/>
              <a:defRPr sz="1800" b="1"/>
            </a:lvl4pPr>
            <a:lvl5pPr marL="2037649" indent="0">
              <a:buNone/>
              <a:defRPr sz="1800" b="1"/>
            </a:lvl5pPr>
            <a:lvl6pPr marL="2547061" indent="0">
              <a:buNone/>
              <a:defRPr sz="1800" b="1"/>
            </a:lvl6pPr>
            <a:lvl7pPr marL="3056473" indent="0">
              <a:buNone/>
              <a:defRPr sz="1800" b="1"/>
            </a:lvl7pPr>
            <a:lvl8pPr marL="3565886" indent="0">
              <a:buNone/>
              <a:defRPr sz="1800" b="1"/>
            </a:lvl8pPr>
            <a:lvl9pPr marL="4075298" indent="0">
              <a:buNone/>
              <a:defRPr sz="1800" b="1"/>
            </a:lvl9pPr>
          </a:lstStyle>
          <a:p>
            <a:pPr lvl="0"/>
            <a:r>
              <a:rPr lang="en-US" dirty="0" smtClean="0"/>
              <a:t>Click to edit Master text styles</a:t>
            </a:r>
          </a:p>
        </p:txBody>
      </p:sp>
      <p:sp>
        <p:nvSpPr>
          <p:cNvPr id="6" name="Content Placeholder 5"/>
          <p:cNvSpPr>
            <a:spLocks noGrp="1"/>
          </p:cNvSpPr>
          <p:nvPr>
            <p:ph sz="quarter" idx="4"/>
          </p:nvPr>
        </p:nvSpPr>
        <p:spPr>
          <a:xfrm>
            <a:off x="5208270" y="1960139"/>
            <a:ext cx="4526280" cy="5213774"/>
          </a:xfrm>
        </p:spPr>
        <p:txBody>
          <a:bodyPr/>
          <a:lstStyle>
            <a:lvl1pPr algn="just">
              <a:defRPr sz="1300"/>
            </a:lvl1pPr>
            <a:lvl2pPr algn="just">
              <a:defRPr sz="1300"/>
            </a:lvl2pPr>
            <a:lvl3pPr algn="just">
              <a:defRPr sz="1300"/>
            </a:lvl3pPr>
            <a:lvl4pPr algn="just">
              <a:defRPr sz="1300"/>
            </a:lvl4pPr>
            <a:lvl5pPr algn="just">
              <a:defRPr sz="13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156196245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Callout Tall">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235075"/>
            <a:ext cx="1839913" cy="5938837"/>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235075"/>
            <a:ext cx="7214616" cy="5938838"/>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235074"/>
            <a:ext cx="0" cy="6062472"/>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90127722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Callout Shor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a:xfrm>
            <a:off x="293687" y="1874838"/>
            <a:ext cx="1839913" cy="5299074"/>
          </a:xfrm>
        </p:spPr>
        <p:txBody>
          <a:bodyPr/>
          <a:lstStyle>
            <a:lvl1pPr>
              <a:spcBef>
                <a:spcPts val="2400"/>
              </a:spcBef>
              <a:defRPr sz="1300"/>
            </a:lvl1pPr>
            <a:lvl2pPr>
              <a:defRPr sz="1100"/>
            </a:lvl2pPr>
            <a:lvl3pPr>
              <a:spcBef>
                <a:spcPts val="600"/>
              </a:spcBef>
              <a:defRPr sz="1100"/>
            </a:lvl3pPr>
            <a:lvl4pPr>
              <a:defRPr sz="1100"/>
            </a:lvl4pPr>
            <a:lvl5pPr>
              <a:defRPr sz="1100"/>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7" name="Content Placeholder 6"/>
          <p:cNvSpPr>
            <a:spLocks noGrp="1"/>
          </p:cNvSpPr>
          <p:nvPr>
            <p:ph sz="quarter" idx="13"/>
          </p:nvPr>
        </p:nvSpPr>
        <p:spPr>
          <a:xfrm>
            <a:off x="2514600" y="1874837"/>
            <a:ext cx="7214616" cy="5299075"/>
          </a:xfrm>
        </p:spPr>
        <p:txBody>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8" name="Line 31"/>
          <p:cNvSpPr>
            <a:spLocks noChangeShapeType="1"/>
          </p:cNvSpPr>
          <p:nvPr userDrawn="1"/>
        </p:nvSpPr>
        <p:spPr bwMode="auto">
          <a:xfrm>
            <a:off x="2302546" y="1905000"/>
            <a:ext cx="0" cy="5392546"/>
          </a:xfrm>
          <a:prstGeom prst="line">
            <a:avLst/>
          </a:prstGeom>
          <a:noFill/>
          <a:ln w="6350">
            <a:solidFill>
              <a:schemeClr val="accent1"/>
            </a:solidFill>
            <a:round/>
            <a:headEnd/>
            <a:tailEnd/>
          </a:ln>
          <a:effectLst/>
        </p:spPr>
        <p:txBody>
          <a:bodyPr lIns="101858" tIns="50929" rIns="101858" bIns="50929"/>
          <a:lstStyle/>
          <a:p>
            <a:pPr>
              <a:defRPr/>
            </a:pPr>
            <a:endParaRPr lang="en-US" dirty="0"/>
          </a:p>
        </p:txBody>
      </p:sp>
      <p:sp>
        <p:nvSpPr>
          <p:cNvPr id="6"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218857392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Text Placeholder 4"/>
          <p:cNvSpPr>
            <a:spLocks noGrp="1"/>
          </p:cNvSpPr>
          <p:nvPr>
            <p:ph type="body" sz="quarter" idx="10"/>
          </p:nvPr>
        </p:nvSpPr>
        <p:spPr>
          <a:xfrm>
            <a:off x="2895600" y="436880"/>
            <a:ext cx="6867525" cy="594360"/>
          </a:xfrm>
        </p:spPr>
        <p:txBody>
          <a:bodyPr/>
          <a:lstStyle>
            <a:lvl1pPr algn="r">
              <a:defRPr sz="1400" b="0" cap="all" baseline="0">
                <a:solidFill>
                  <a:schemeClr val="bg1"/>
                </a:solidFill>
              </a:defRPr>
            </a:lvl1pPr>
          </a:lstStyle>
          <a:p>
            <a:pPr lvl="0"/>
            <a:r>
              <a:rPr lang="en-US" dirty="0" smtClean="0"/>
              <a:t>Click to edit Master text styles</a:t>
            </a:r>
          </a:p>
        </p:txBody>
      </p:sp>
    </p:spTree>
    <p:extLst>
      <p:ext uri="{BB962C8B-B14F-4D97-AF65-F5344CB8AC3E}">
        <p14:creationId xmlns:p14="http://schemas.microsoft.com/office/powerpoint/2010/main" val="3689975418"/>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702324125"/>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obj">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a:xfrm>
            <a:off x="3252273" y="179917"/>
            <a:ext cx="6806130" cy="677966"/>
          </a:xfrm>
        </p:spPr>
        <p:txBody>
          <a:bodyPr/>
          <a:lstStyle/>
          <a:p>
            <a:r>
              <a:rPr lang="en-US" dirty="0" smtClean="0"/>
              <a:t>Click to edit Master title style</a:t>
            </a:r>
            <a:endParaRPr lang="en-US" dirty="0"/>
          </a:p>
        </p:txBody>
      </p:sp>
      <p:sp>
        <p:nvSpPr>
          <p:cNvPr id="3" name="Content Placeholder 2"/>
          <p:cNvSpPr>
            <a:spLocks noGrp="1"/>
          </p:cNvSpPr>
          <p:nvPr>
            <p:ph idx="1"/>
          </p:nvPr>
        </p:nvSpPr>
        <p:spPr/>
        <p:txBody>
          <a:bodyPr/>
          <a:lstStyle>
            <a:lvl1pPr>
              <a:defRPr sz="1200">
                <a:latin typeface="+mn-lt"/>
              </a:defRPr>
            </a:lvl1pPr>
            <a:lvl2pPr>
              <a:defRPr sz="1200">
                <a:latin typeface="+mn-lt"/>
              </a:defRPr>
            </a:lvl2pPr>
            <a:lvl3pPr>
              <a:defRPr sz="1200">
                <a:latin typeface="+mn-lt"/>
              </a:defRPr>
            </a:lvl3pPr>
            <a:lvl4pPr marL="803088" indent="-234895">
              <a:defRPr sz="1200">
                <a:latin typeface="+mn-lt"/>
              </a:defRPr>
            </a:lvl4pPr>
            <a:lvl5pPr marL="1025285" indent="-222198">
              <a:defRPr sz="1200">
                <a:latin typeface="+mn-lt"/>
              </a:defRPr>
            </a:lvl5p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Tree>
    <p:extLst>
      <p:ext uri="{BB962C8B-B14F-4D97-AF65-F5344CB8AC3E}">
        <p14:creationId xmlns:p14="http://schemas.microsoft.com/office/powerpoint/2010/main" val="3075533289"/>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1.emf"/><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theme" Target="../theme/theme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Rectangle 51"/>
          <p:cNvSpPr>
            <a:spLocks noChangeArrowheads="1"/>
          </p:cNvSpPr>
          <p:nvPr userDrawn="1"/>
        </p:nvSpPr>
        <p:spPr bwMode="auto">
          <a:xfrm>
            <a:off x="228600" y="230122"/>
            <a:ext cx="9601200" cy="649224"/>
          </a:xfrm>
          <a:prstGeom prst="rect">
            <a:avLst/>
          </a:prstGeom>
          <a:solidFill>
            <a:schemeClr val="accent1"/>
          </a:solidFill>
          <a:ln w="9525">
            <a:noFill/>
            <a:miter lim="800000"/>
            <a:headEnd/>
            <a:tailEnd/>
          </a:ln>
          <a:effectLst/>
        </p:spPr>
        <p:txBody>
          <a:bodyPr wrap="none" lIns="101847" tIns="50923" rIns="101847" bIns="50923" anchor="ctr"/>
          <a:lstStyle/>
          <a:p>
            <a:pPr>
              <a:defRPr/>
            </a:pPr>
            <a:endParaRPr lang="en-US" dirty="0"/>
          </a:p>
        </p:txBody>
      </p:sp>
      <p:sp>
        <p:nvSpPr>
          <p:cNvPr id="2" name="Title Placeholder 1"/>
          <p:cNvSpPr>
            <a:spLocks noGrp="1"/>
          </p:cNvSpPr>
          <p:nvPr>
            <p:ph type="title"/>
          </p:nvPr>
        </p:nvSpPr>
        <p:spPr>
          <a:xfrm>
            <a:off x="2895600" y="261941"/>
            <a:ext cx="6867524" cy="609600"/>
          </a:xfrm>
          <a:prstGeom prst="rect">
            <a:avLst/>
          </a:prstGeom>
        </p:spPr>
        <p:txBody>
          <a:bodyPr vert="horz" lIns="0" tIns="0" rIns="0" bIns="0" rtlCol="0" anchor="t" anchorCtr="0">
            <a:noAutofit/>
          </a:bodyPr>
          <a:lstStyle/>
          <a:p>
            <a:r>
              <a:rPr lang="en-US" dirty="0" smtClean="0"/>
              <a:t>Click to edit Master title style</a:t>
            </a:r>
            <a:endParaRPr lang="en-US" dirty="0"/>
          </a:p>
        </p:txBody>
      </p:sp>
      <p:sp>
        <p:nvSpPr>
          <p:cNvPr id="3" name="Text Placeholder 2"/>
          <p:cNvSpPr>
            <a:spLocks noGrp="1"/>
          </p:cNvSpPr>
          <p:nvPr>
            <p:ph type="body" idx="1"/>
          </p:nvPr>
        </p:nvSpPr>
        <p:spPr>
          <a:xfrm>
            <a:off x="293687" y="1235075"/>
            <a:ext cx="9469437" cy="5938837"/>
          </a:xfrm>
          <a:prstGeom prst="rect">
            <a:avLst/>
          </a:prstGeom>
        </p:spPr>
        <p:txBody>
          <a:bodyPr vert="horz" lIns="0" tIns="0" rIns="0" bIns="0" rtlCol="0" anchor="t" anchorCtr="0">
            <a:noAutofit/>
          </a:bodyPr>
          <a:lstStyle/>
          <a:p>
            <a:pPr lvl="0"/>
            <a:r>
              <a:rPr lang="en-US" dirty="0" smtClean="0"/>
              <a:t>Click to edit Master text styles</a:t>
            </a:r>
          </a:p>
          <a:p>
            <a:pPr lvl="1"/>
            <a:r>
              <a:rPr lang="en-US" dirty="0" smtClean="0"/>
              <a:t>Second level</a:t>
            </a:r>
          </a:p>
          <a:p>
            <a:pPr lvl="2"/>
            <a:r>
              <a:rPr lang="en-US" dirty="0" smtClean="0"/>
              <a:t>Third level</a:t>
            </a:r>
          </a:p>
          <a:p>
            <a:pPr lvl="3"/>
            <a:r>
              <a:rPr lang="en-US" dirty="0" smtClean="0"/>
              <a:t>Fourth level</a:t>
            </a:r>
          </a:p>
          <a:p>
            <a:pPr lvl="4"/>
            <a:r>
              <a:rPr lang="en-US" dirty="0" smtClean="0"/>
              <a:t>Fifth level</a:t>
            </a:r>
            <a:endParaRPr lang="en-US" dirty="0"/>
          </a:p>
        </p:txBody>
      </p:sp>
      <p:sp>
        <p:nvSpPr>
          <p:cNvPr id="9" name="Rectangle 200"/>
          <p:cNvSpPr>
            <a:spLocks noChangeArrowheads="1"/>
          </p:cNvSpPr>
          <p:nvPr userDrawn="1"/>
        </p:nvSpPr>
        <p:spPr bwMode="auto">
          <a:xfrm>
            <a:off x="228600" y="7323416"/>
            <a:ext cx="827723" cy="213400"/>
          </a:xfrm>
          <a:prstGeom prst="rect">
            <a:avLst/>
          </a:prstGeom>
          <a:noFill/>
          <a:ln w="9525">
            <a:noFill/>
            <a:miter lim="800000"/>
            <a:headEnd/>
            <a:tailEnd/>
          </a:ln>
          <a:effectLst/>
        </p:spPr>
        <p:txBody>
          <a:bodyPr lIns="0" tIns="0" rIns="0" bIns="0" anchor="b"/>
          <a:lstStyle/>
          <a:p>
            <a:pPr algn="l">
              <a:defRPr/>
            </a:pPr>
            <a:r>
              <a:rPr lang="en-US" sz="900" b="1" dirty="0" smtClean="0">
                <a:solidFill>
                  <a:schemeClr val="tx2"/>
                </a:solidFill>
                <a:latin typeface="Calibri" pitchFamily="34" charset="0"/>
              </a:rPr>
              <a:t>PAGE </a:t>
            </a:r>
            <a:fld id="{54B17DE0-6D87-48AB-BBA0-9128AA86CC3B}" type="slidenum">
              <a:rPr lang="en-US" sz="900" b="1">
                <a:solidFill>
                  <a:schemeClr val="tx2"/>
                </a:solidFill>
                <a:latin typeface="Calibri" pitchFamily="34" charset="0"/>
              </a:rPr>
              <a:pPr algn="l">
                <a:defRPr/>
              </a:pPr>
              <a:t>‹#›</a:t>
            </a:fld>
            <a:endParaRPr lang="en-US" sz="900" b="1" dirty="0">
              <a:solidFill>
                <a:schemeClr val="tx2"/>
              </a:solidFill>
              <a:latin typeface="Calibri" pitchFamily="34" charset="0"/>
            </a:endParaRPr>
          </a:p>
        </p:txBody>
      </p:sp>
      <p:cxnSp>
        <p:nvCxnSpPr>
          <p:cNvPr id="10" name="Straight Connector 9"/>
          <p:cNvCxnSpPr/>
          <p:nvPr userDrawn="1"/>
        </p:nvCxnSpPr>
        <p:spPr>
          <a:xfrm>
            <a:off x="228600" y="7291071"/>
            <a:ext cx="9601200" cy="0"/>
          </a:xfrm>
          <a:prstGeom prst="line">
            <a:avLst/>
          </a:prstGeom>
          <a:ln w="28575">
            <a:solidFill>
              <a:schemeClr val="accent1"/>
            </a:solidFill>
          </a:ln>
        </p:spPr>
        <p:style>
          <a:lnRef idx="1">
            <a:schemeClr val="accent1"/>
          </a:lnRef>
          <a:fillRef idx="0">
            <a:schemeClr val="accent1"/>
          </a:fillRef>
          <a:effectRef idx="0">
            <a:schemeClr val="accent1"/>
          </a:effectRef>
          <a:fontRef idx="minor">
            <a:schemeClr val="tx1"/>
          </a:fontRef>
        </p:style>
      </p:cxnSp>
      <p:pic>
        <p:nvPicPr>
          <p:cNvPr id="11" name="Picture 10"/>
          <p:cNvPicPr>
            <a:picLocks noChangeAspect="1"/>
          </p:cNvPicPr>
          <p:nvPr userDrawn="1"/>
        </p:nvPicPr>
        <p:blipFill>
          <a:blip r:embed="rId20"/>
          <a:stretch>
            <a:fillRect/>
          </a:stretch>
        </p:blipFill>
        <p:spPr>
          <a:xfrm>
            <a:off x="283529" y="320040"/>
            <a:ext cx="2478795" cy="457200"/>
          </a:xfrm>
          <a:prstGeom prst="rect">
            <a:avLst/>
          </a:prstGeom>
        </p:spPr>
      </p:pic>
    </p:spTree>
    <p:extLst>
      <p:ext uri="{BB962C8B-B14F-4D97-AF65-F5344CB8AC3E}">
        <p14:creationId xmlns:p14="http://schemas.microsoft.com/office/powerpoint/2010/main" val="1878609759"/>
      </p:ext>
    </p:extLst>
  </p:cSld>
  <p:clrMap bg1="lt1" tx1="dk1" bg2="lt2" tx2="dk2" accent1="accent1" accent2="accent2" accent3="accent3" accent4="accent4" accent5="accent5" accent6="accent6" hlink="hlink" folHlink="folHlink"/>
  <p:sldLayoutIdLst>
    <p:sldLayoutId id="2147483649" r:id="rId1"/>
    <p:sldLayoutId id="2147483666" r:id="rId2"/>
    <p:sldLayoutId id="2147483667" r:id="rId3"/>
    <p:sldLayoutId id="2147483668" r:id="rId4"/>
    <p:sldLayoutId id="2147483669" r:id="rId5"/>
    <p:sldLayoutId id="2147483670" r:id="rId6"/>
    <p:sldLayoutId id="2147483671" r:id="rId7"/>
    <p:sldLayoutId id="2147483650" r:id="rId8"/>
    <p:sldLayoutId id="2147483664" r:id="rId9"/>
    <p:sldLayoutId id="2147483651" r:id="rId10"/>
    <p:sldLayoutId id="2147483652" r:id="rId11"/>
    <p:sldLayoutId id="2147483665" r:id="rId12"/>
    <p:sldLayoutId id="2147483653" r:id="rId13"/>
    <p:sldLayoutId id="2147483656" r:id="rId14"/>
    <p:sldLayoutId id="2147483657" r:id="rId15"/>
    <p:sldLayoutId id="2147483654" r:id="rId16"/>
    <p:sldLayoutId id="2147483655" r:id="rId17"/>
    <p:sldLayoutId id="2147483672" r:id="rId18"/>
  </p:sldLayoutIdLst>
  <p:txStyles>
    <p:titleStyle>
      <a:lvl1pPr algn="r" defTabSz="1018824" rtl="0" eaLnBrk="1" latinLnBrk="0" hangingPunct="1">
        <a:lnSpc>
          <a:spcPct val="110000"/>
        </a:lnSpc>
        <a:spcBef>
          <a:spcPct val="0"/>
        </a:spcBef>
        <a:buNone/>
        <a:defRPr sz="1400" b="1" kern="1200" cap="all" baseline="0">
          <a:solidFill>
            <a:schemeClr val="bg1"/>
          </a:solidFill>
          <a:latin typeface="+mj-lt"/>
          <a:ea typeface="+mj-ea"/>
          <a:cs typeface="+mj-cs"/>
        </a:defRPr>
      </a:lvl1pPr>
    </p:titleStyle>
    <p:body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p:bodyStyle>
    <p:otherStyle>
      <a:defPPr>
        <a:defRPr lang="en-US"/>
      </a:defPPr>
      <a:lvl1pPr marL="0" algn="l" defTabSz="1018824" rtl="0" eaLnBrk="1" latinLnBrk="0" hangingPunct="1">
        <a:defRPr sz="2000" kern="1200">
          <a:solidFill>
            <a:schemeClr val="tx1"/>
          </a:solidFill>
          <a:latin typeface="+mn-lt"/>
          <a:ea typeface="+mn-ea"/>
          <a:cs typeface="+mn-cs"/>
        </a:defRPr>
      </a:lvl1pPr>
      <a:lvl2pPr marL="509412" algn="l" defTabSz="1018824" rtl="0" eaLnBrk="1" latinLnBrk="0" hangingPunct="1">
        <a:defRPr sz="2000" kern="1200">
          <a:solidFill>
            <a:schemeClr val="tx1"/>
          </a:solidFill>
          <a:latin typeface="+mn-lt"/>
          <a:ea typeface="+mn-ea"/>
          <a:cs typeface="+mn-cs"/>
        </a:defRPr>
      </a:lvl2pPr>
      <a:lvl3pPr marL="1018824" algn="l" defTabSz="1018824" rtl="0" eaLnBrk="1" latinLnBrk="0" hangingPunct="1">
        <a:defRPr sz="2000" kern="1200">
          <a:solidFill>
            <a:schemeClr val="tx1"/>
          </a:solidFill>
          <a:latin typeface="+mn-lt"/>
          <a:ea typeface="+mn-ea"/>
          <a:cs typeface="+mn-cs"/>
        </a:defRPr>
      </a:lvl3pPr>
      <a:lvl4pPr marL="1528237" algn="l" defTabSz="1018824" rtl="0" eaLnBrk="1" latinLnBrk="0" hangingPunct="1">
        <a:defRPr sz="2000" kern="1200">
          <a:solidFill>
            <a:schemeClr val="tx1"/>
          </a:solidFill>
          <a:latin typeface="+mn-lt"/>
          <a:ea typeface="+mn-ea"/>
          <a:cs typeface="+mn-cs"/>
        </a:defRPr>
      </a:lvl4pPr>
      <a:lvl5pPr marL="2037649" algn="l" defTabSz="1018824" rtl="0" eaLnBrk="1" latinLnBrk="0" hangingPunct="1">
        <a:defRPr sz="2000" kern="1200">
          <a:solidFill>
            <a:schemeClr val="tx1"/>
          </a:solidFill>
          <a:latin typeface="+mn-lt"/>
          <a:ea typeface="+mn-ea"/>
          <a:cs typeface="+mn-cs"/>
        </a:defRPr>
      </a:lvl5pPr>
      <a:lvl6pPr marL="2547061" algn="l" defTabSz="1018824" rtl="0" eaLnBrk="1" latinLnBrk="0" hangingPunct="1">
        <a:defRPr sz="2000" kern="1200">
          <a:solidFill>
            <a:schemeClr val="tx1"/>
          </a:solidFill>
          <a:latin typeface="+mn-lt"/>
          <a:ea typeface="+mn-ea"/>
          <a:cs typeface="+mn-cs"/>
        </a:defRPr>
      </a:lvl6pPr>
      <a:lvl7pPr marL="3056473" algn="l" defTabSz="1018824" rtl="0" eaLnBrk="1" latinLnBrk="0" hangingPunct="1">
        <a:defRPr sz="2000" kern="1200">
          <a:solidFill>
            <a:schemeClr val="tx1"/>
          </a:solidFill>
          <a:latin typeface="+mn-lt"/>
          <a:ea typeface="+mn-ea"/>
          <a:cs typeface="+mn-cs"/>
        </a:defRPr>
      </a:lvl7pPr>
      <a:lvl8pPr marL="3565886" algn="l" defTabSz="1018824" rtl="0" eaLnBrk="1" latinLnBrk="0" hangingPunct="1">
        <a:defRPr sz="2000" kern="1200">
          <a:solidFill>
            <a:schemeClr val="tx1"/>
          </a:solidFill>
          <a:latin typeface="+mn-lt"/>
          <a:ea typeface="+mn-ea"/>
          <a:cs typeface="+mn-cs"/>
        </a:defRPr>
      </a:lvl8pPr>
      <a:lvl9pPr marL="4075298" algn="l" defTabSz="1018824" rtl="0" eaLnBrk="1" latinLnBrk="0" hangingPunct="1">
        <a:defRPr sz="20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6.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8.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4.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8" Type="http://schemas.openxmlformats.org/officeDocument/2006/relationships/chart" Target="../charts/chart1.xml"/><Relationship Id="rId3" Type="http://schemas.openxmlformats.org/officeDocument/2006/relationships/tags" Target="../tags/tag3.xml"/><Relationship Id="rId7" Type="http://schemas.openxmlformats.org/officeDocument/2006/relationships/notesSlide" Target="../notesSlides/notesSlide6.xml"/><Relationship Id="rId2" Type="http://schemas.openxmlformats.org/officeDocument/2006/relationships/tags" Target="../tags/tag2.xml"/><Relationship Id="rId1" Type="http://schemas.openxmlformats.org/officeDocument/2006/relationships/tags" Target="../tags/tag1.xml"/><Relationship Id="rId6" Type="http://schemas.openxmlformats.org/officeDocument/2006/relationships/slideLayout" Target="../slideLayouts/slideLayout14.xml"/><Relationship Id="rId11" Type="http://schemas.openxmlformats.org/officeDocument/2006/relationships/image" Target="../media/image10.png"/><Relationship Id="rId5" Type="http://schemas.openxmlformats.org/officeDocument/2006/relationships/tags" Target="../tags/tag5.xml"/><Relationship Id="rId10" Type="http://schemas.openxmlformats.org/officeDocument/2006/relationships/image" Target="../media/image9.png"/><Relationship Id="rId4" Type="http://schemas.openxmlformats.org/officeDocument/2006/relationships/tags" Target="../tags/tag4.xml"/><Relationship Id="rId9" Type="http://schemas.openxmlformats.org/officeDocument/2006/relationships/image" Target="../media/image8.png"/></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8.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1.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8.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US" dirty="0" smtClean="0"/>
              <a:t>CELLO CRE MODELING FRAMEWORK</a:t>
            </a:r>
            <a:endParaRPr lang="en-US" dirty="0"/>
          </a:p>
        </p:txBody>
      </p:sp>
      <p:sp>
        <p:nvSpPr>
          <p:cNvPr id="6" name="Subtitle 5"/>
          <p:cNvSpPr>
            <a:spLocks noGrp="1"/>
          </p:cNvSpPr>
          <p:nvPr>
            <p:ph type="subTitle" idx="1"/>
          </p:nvPr>
        </p:nvSpPr>
        <p:spPr/>
        <p:txBody>
          <a:bodyPr/>
          <a:lstStyle/>
          <a:p>
            <a:r>
              <a:rPr lang="en-US" dirty="0" smtClean="0"/>
              <a:t>July 2015</a:t>
            </a:r>
            <a:endParaRPr lang="en-US" dirty="0"/>
          </a:p>
        </p:txBody>
      </p:sp>
    </p:spTree>
    <p:extLst>
      <p:ext uri="{BB962C8B-B14F-4D97-AF65-F5344CB8AC3E}">
        <p14:creationId xmlns:p14="http://schemas.microsoft.com/office/powerpoint/2010/main" val="379498151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EXECUTIVE SUMMARY</a:t>
            </a:r>
            <a:endParaRPr lang="en-US" dirty="0"/>
          </a:p>
        </p:txBody>
      </p:sp>
      <p:sp>
        <p:nvSpPr>
          <p:cNvPr id="6" name="Content Placeholder 5"/>
          <p:cNvSpPr>
            <a:spLocks noGrp="1"/>
          </p:cNvSpPr>
          <p:nvPr>
            <p:ph idx="1"/>
          </p:nvPr>
        </p:nvSpPr>
        <p:spPr/>
        <p:txBody>
          <a:bodyPr/>
          <a:lstStyle/>
          <a:p>
            <a:r>
              <a:rPr lang="en-US" dirty="0" smtClean="0"/>
              <a:t>Fund Profile</a:t>
            </a:r>
          </a:p>
          <a:p>
            <a:pPr lvl="1"/>
            <a:r>
              <a:rPr lang="en-US" dirty="0" smtClean="0"/>
              <a:t>Cello Credit Opportunities Master Fund, LP</a:t>
            </a:r>
          </a:p>
          <a:p>
            <a:pPr lvl="1"/>
            <a:r>
              <a:rPr lang="en-US" dirty="0" smtClean="0"/>
              <a:t>Sector Focus:</a:t>
            </a:r>
          </a:p>
          <a:p>
            <a:pPr lvl="2"/>
            <a:r>
              <a:rPr lang="en-US" dirty="0" smtClean="0"/>
              <a:t>Commercial Real Estate Long/Short</a:t>
            </a:r>
          </a:p>
          <a:p>
            <a:pPr lvl="1"/>
            <a:r>
              <a:rPr lang="en-US" dirty="0" smtClean="0"/>
              <a:t>Return Target: </a:t>
            </a:r>
          </a:p>
          <a:p>
            <a:pPr lvl="2"/>
            <a:r>
              <a:rPr lang="en-US" dirty="0" smtClean="0"/>
              <a:t>8%-12% across Market Cycles</a:t>
            </a:r>
          </a:p>
          <a:p>
            <a:pPr lvl="1"/>
            <a:r>
              <a:rPr lang="en-US" dirty="0" smtClean="0"/>
              <a:t>Volatility Target: </a:t>
            </a:r>
          </a:p>
          <a:p>
            <a:pPr lvl="2"/>
            <a:r>
              <a:rPr lang="en-US" dirty="0" smtClean="0"/>
              <a:t>Moderate</a:t>
            </a:r>
            <a:endParaRPr lang="en-US" dirty="0"/>
          </a:p>
        </p:txBody>
      </p:sp>
      <p:sp>
        <p:nvSpPr>
          <p:cNvPr id="7" name="Content Placeholder 6"/>
          <p:cNvSpPr>
            <a:spLocks noGrp="1"/>
          </p:cNvSpPr>
          <p:nvPr>
            <p:ph sz="quarter" idx="13"/>
          </p:nvPr>
        </p:nvSpPr>
        <p:spPr/>
        <p:txBody>
          <a:bodyPr/>
          <a:lstStyle/>
          <a:p>
            <a:r>
              <a:rPr lang="en-US" dirty="0" smtClean="0"/>
              <a:t>Cello Capital Management, LP</a:t>
            </a:r>
          </a:p>
          <a:p>
            <a:pPr lvl="3"/>
            <a:r>
              <a:rPr lang="en-US" dirty="0" smtClean="0"/>
              <a:t>Founded in 2009 by Antoine Schetritt, Cello Capital Management is a US housing and real estate investment manager with a broad and deep knowledge-base in fixed income trading and structured products.</a:t>
            </a:r>
          </a:p>
          <a:p>
            <a:pPr lvl="3"/>
            <a:r>
              <a:rPr lang="en-US" dirty="0" smtClean="0"/>
              <a:t>The Firm’s investment process is distinguished by its reliance on fundamental research, tactical trading, and an extensive and flexible analytics infrastructure for valuation and risk management.</a:t>
            </a:r>
          </a:p>
          <a:p>
            <a:pPr lvl="3"/>
            <a:r>
              <a:rPr lang="en-US" dirty="0" smtClean="0"/>
              <a:t>Cello’s first fund, the Cello Fixed Income Master Fund, has focused exclusively on an Agency Mortgage Arbitrage Strategy, with annualized performance of 12.02% and a Sharpe Ratio of 3.17 since January 2010.</a:t>
            </a:r>
          </a:p>
          <a:p>
            <a:r>
              <a:rPr lang="en-US" dirty="0" smtClean="0"/>
              <a:t>CRE Strategy</a:t>
            </a:r>
          </a:p>
          <a:p>
            <a:pPr lvl="3">
              <a:buClr>
                <a:schemeClr val="tx2"/>
              </a:buClr>
              <a:defRPr/>
            </a:pPr>
            <a:r>
              <a:rPr lang="en-US" dirty="0" smtClean="0"/>
              <a:t>The </a:t>
            </a:r>
            <a:r>
              <a:rPr lang="en-US" dirty="0"/>
              <a:t>Cello Credit Opportunities Master Fund will be Cello’s second fund, launching with a Long/Short Commercial Real Estate Strategy.</a:t>
            </a:r>
          </a:p>
          <a:p>
            <a:pPr lvl="3">
              <a:buClr>
                <a:schemeClr val="tx2"/>
              </a:buClr>
              <a:defRPr/>
            </a:pPr>
            <a:r>
              <a:rPr lang="en-US" dirty="0"/>
              <a:t>The lead Portfolio Managers have successfully worked together for almost a decade, running a Long/Short CRE Strategy at JPMorgan between 2006 and 2011 and Saba Capital between 2011 and 2015</a:t>
            </a:r>
            <a:r>
              <a:rPr lang="en-US" dirty="0" smtClean="0"/>
              <a:t>.</a:t>
            </a:r>
          </a:p>
          <a:p>
            <a:pPr lvl="3">
              <a:buClr>
                <a:schemeClr val="tx2"/>
              </a:buClr>
              <a:defRPr/>
            </a:pPr>
            <a:r>
              <a:rPr lang="en-US" dirty="0" smtClean="0"/>
              <a:t>The Portfolio Management Team combines active trading and investment expertise in CRE across Fixed Income, Equities and Private markets.</a:t>
            </a:r>
          </a:p>
          <a:p>
            <a:pPr marL="0" lvl="3" indent="0">
              <a:buClr>
                <a:schemeClr val="tx2"/>
              </a:buClr>
              <a:buNone/>
              <a:defRPr/>
            </a:pPr>
            <a:endParaRPr lang="en-US" sz="1400" b="1" dirty="0">
              <a:solidFill>
                <a:schemeClr val="accent1"/>
              </a:solidFill>
            </a:endParaRPr>
          </a:p>
          <a:p>
            <a:pPr marL="0" lvl="3" indent="0">
              <a:buClr>
                <a:schemeClr val="tx2"/>
              </a:buClr>
              <a:buNone/>
              <a:defRPr/>
            </a:pPr>
            <a:r>
              <a:rPr lang="en-US" sz="1400" b="1" dirty="0" smtClean="0">
                <a:solidFill>
                  <a:schemeClr val="accent1"/>
                </a:solidFill>
              </a:rPr>
              <a:t>Cello Differential Advantage</a:t>
            </a:r>
            <a:endParaRPr lang="en-US" sz="1400" b="1" dirty="0">
              <a:solidFill>
                <a:schemeClr val="accent1"/>
              </a:solidFill>
            </a:endParaRPr>
          </a:p>
          <a:p>
            <a:pPr lvl="3">
              <a:buClr>
                <a:schemeClr val="tx2"/>
              </a:buClr>
              <a:defRPr/>
            </a:pPr>
            <a:r>
              <a:rPr lang="en-US" dirty="0"/>
              <a:t>The Cello CRE </a:t>
            </a:r>
            <a:r>
              <a:rPr lang="en-US" dirty="0" smtClean="0"/>
              <a:t>Strategy distinguishes </a:t>
            </a:r>
            <a:r>
              <a:rPr lang="en-US" dirty="0"/>
              <a:t>itself from other Structured Finance offerings through (1) a focus on </a:t>
            </a:r>
            <a:r>
              <a:rPr lang="en-US" dirty="0" smtClean="0"/>
              <a:t>Long/Short </a:t>
            </a:r>
            <a:r>
              <a:rPr lang="en-US" dirty="0"/>
              <a:t>opportunities across all CRE capital markets,  (2) limited market directionality across credit cycles and (3) fundamental boots-on-the-ground credit focus</a:t>
            </a:r>
            <a:r>
              <a:rPr lang="en-US" dirty="0" smtClean="0"/>
              <a:t>.</a:t>
            </a:r>
            <a:endParaRPr lang="en-US" dirty="0"/>
          </a:p>
        </p:txBody>
      </p:sp>
      <p:sp>
        <p:nvSpPr>
          <p:cNvPr id="5" name="Rectangle 4"/>
          <p:cNvSpPr/>
          <p:nvPr/>
        </p:nvSpPr>
        <p:spPr>
          <a:xfrm>
            <a:off x="632662" y="7306613"/>
            <a:ext cx="9096554" cy="461665"/>
          </a:xfrm>
          <a:prstGeom prst="rect">
            <a:avLst/>
          </a:prstGeom>
        </p:spPr>
        <p:txBody>
          <a:bodyPr wrap="square">
            <a:spAutoFit/>
          </a:bodyPr>
          <a:lstStyle/>
          <a:p>
            <a:pPr algn="just">
              <a:spcAft>
                <a:spcPts val="199"/>
              </a:spcAft>
            </a:pPr>
            <a:r>
              <a:rPr lang="en-US" sz="600" i="1" kern="200" dirty="0" smtClean="0">
                <a:solidFill>
                  <a:srgbClr val="000000"/>
                </a:solidFill>
                <a:cs typeface="Times New Roman" pitchFamily="18" charset="0"/>
              </a:rPr>
              <a:t>1 Performance results are provided for an investor in Class A1a shares of Cello Fixed Income Master Fund, LP (the “Master Fund”). Performance reflects all income. Class A1a shares launched on January 1, 2012, and returns for periods prior thereto have been adjusted to reflect the management fees and performance allocations chargeable to Class A1a shares.  As of January 1, 2012, all trading activities for Cello Fixed Income Fund Ltd. and Cello Fixed Income Domestic Fund, LP are being conducted through the Master Fund.  Performance results are net of fees and expenses and are generally unaudited and subject to change.   Certain research-related Master Fund expenses were paid for by Cello Capital Management, LLC prior to July 1, 2012.   Individual returns may vary due to investment in the offshore or onshore feeder fund, the class of investment and the timing of subscriptions and redemptions.</a:t>
            </a:r>
            <a:endParaRPr lang="en-US" sz="600" i="1" kern="200" dirty="0">
              <a:solidFill>
                <a:srgbClr val="000000"/>
              </a:solidFill>
              <a:cs typeface="Times New Roman" pitchFamily="18" charset="0"/>
            </a:endParaRPr>
          </a:p>
        </p:txBody>
      </p:sp>
    </p:spTree>
    <p:extLst>
      <p:ext uri="{BB962C8B-B14F-4D97-AF65-F5344CB8AC3E}">
        <p14:creationId xmlns:p14="http://schemas.microsoft.com/office/powerpoint/2010/main" val="3622737654"/>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5" name="Rectangle 2"/>
          <p:cNvSpPr>
            <a:spLocks noGrp="1" noChangeArrowheads="1"/>
          </p:cNvSpPr>
          <p:nvPr>
            <p:ph type="title"/>
          </p:nvPr>
        </p:nvSpPr>
        <p:spPr/>
        <p:txBody>
          <a:bodyPr/>
          <a:lstStyle/>
          <a:p>
            <a:r>
              <a:rPr lang="en-US" dirty="0"/>
              <a:t>CRE Strategy</a:t>
            </a:r>
          </a:p>
        </p:txBody>
      </p:sp>
      <p:sp>
        <p:nvSpPr>
          <p:cNvPr id="8" name="Rectangle 7"/>
          <p:cNvSpPr/>
          <p:nvPr/>
        </p:nvSpPr>
        <p:spPr>
          <a:xfrm>
            <a:off x="877264" y="7349978"/>
            <a:ext cx="2305439" cy="230832"/>
          </a:xfrm>
          <a:prstGeom prst="rect">
            <a:avLst/>
          </a:prstGeom>
        </p:spPr>
        <p:txBody>
          <a:bodyPr wrap="none">
            <a:spAutoFit/>
          </a:bodyPr>
          <a:lstStyle/>
          <a:p>
            <a:r>
              <a:rPr lang="en-US" sz="900" dirty="0"/>
              <a:t>Source: Real Capital </a:t>
            </a:r>
            <a:r>
              <a:rPr lang="en-US" sz="900" dirty="0" smtClean="0"/>
              <a:t>Analytics as </a:t>
            </a:r>
            <a:r>
              <a:rPr lang="en-US" sz="900" dirty="0"/>
              <a:t>of </a:t>
            </a:r>
            <a:r>
              <a:rPr lang="en-US" sz="900" dirty="0" smtClean="0"/>
              <a:t>June 2015</a:t>
            </a:r>
            <a:endParaRPr lang="en-US" sz="900" dirty="0"/>
          </a:p>
        </p:txBody>
      </p:sp>
      <p:sp>
        <p:nvSpPr>
          <p:cNvPr id="5" name="Content Placeholder 6"/>
          <p:cNvSpPr>
            <a:spLocks noGrp="1"/>
          </p:cNvSpPr>
          <p:nvPr>
            <p:ph sz="quarter" idx="4294967295"/>
          </p:nvPr>
        </p:nvSpPr>
        <p:spPr>
          <a:xfrm>
            <a:off x="228600" y="1235075"/>
            <a:ext cx="9500616" cy="5938838"/>
          </a:xfrm>
          <a:prstGeom prst="rect">
            <a:avLst/>
          </a:prstGeom>
        </p:spPr>
        <p:txBody>
          <a:bodyPr/>
          <a:lstStyle/>
          <a:p>
            <a:r>
              <a:rPr lang="en-US" dirty="0" smtClean="0"/>
              <a:t>Why Commercial Real Estate Long / Short?</a:t>
            </a:r>
          </a:p>
          <a:p>
            <a:pPr marL="0" lvl="3" indent="0">
              <a:buClr>
                <a:schemeClr val="tx2"/>
              </a:buClr>
              <a:buNone/>
              <a:defRPr/>
            </a:pPr>
            <a:endParaRPr lang="en-US" sz="1400" b="1" dirty="0" smtClean="0"/>
          </a:p>
          <a:p>
            <a:pPr marL="0" lvl="3" indent="0">
              <a:buClr>
                <a:schemeClr val="tx2"/>
              </a:buClr>
              <a:buNone/>
              <a:defRPr/>
            </a:pPr>
            <a:r>
              <a:rPr lang="en-US" sz="1400" b="1" dirty="0" smtClean="0"/>
              <a:t>Commercial Real Estate Capital Markets provide a natural forum for a relative value strategy.</a:t>
            </a:r>
          </a:p>
          <a:p>
            <a:pPr lvl="3">
              <a:buClr>
                <a:schemeClr val="tx2"/>
              </a:buClr>
              <a:defRPr/>
            </a:pPr>
            <a:r>
              <a:rPr lang="en-US" dirty="0" smtClean="0"/>
              <a:t>There are three principal financing options in CRE: Equity, Corporate Debt or CMBS.  Any Relative Value Strategy in CRE should focus on each underlying market. </a:t>
            </a:r>
          </a:p>
          <a:p>
            <a:pPr lvl="3">
              <a:buClr>
                <a:schemeClr val="tx2"/>
              </a:buClr>
              <a:defRPr/>
            </a:pPr>
            <a:r>
              <a:rPr lang="en-US" dirty="0"/>
              <a:t>E</a:t>
            </a:r>
            <a:r>
              <a:rPr lang="en-US" dirty="0" smtClean="0"/>
              <a:t>merging disruptive trends affecting CRE, such as the displacement of retail through online alternatives, </a:t>
            </a:r>
            <a:r>
              <a:rPr lang="en-US" dirty="0"/>
              <a:t>provide opportunities </a:t>
            </a:r>
            <a:r>
              <a:rPr lang="en-US" dirty="0" smtClean="0"/>
              <a:t>in Equity and Corporate Debt Markets to isolate winners and losers.</a:t>
            </a:r>
          </a:p>
          <a:p>
            <a:pPr lvl="3">
              <a:buClr>
                <a:schemeClr val="tx2"/>
              </a:buClr>
              <a:defRPr/>
            </a:pPr>
            <a:r>
              <a:rPr lang="en-US" dirty="0"/>
              <a:t>CMBS is the only Structured Finance sector with a vibrant credit derivatives market </a:t>
            </a:r>
            <a:r>
              <a:rPr lang="en-US" dirty="0" smtClean="0"/>
              <a:t>that </a:t>
            </a:r>
            <a:r>
              <a:rPr lang="en-US" dirty="0"/>
              <a:t>allows </a:t>
            </a:r>
            <a:r>
              <a:rPr lang="en-US" dirty="0" smtClean="0"/>
              <a:t>investors </a:t>
            </a:r>
            <a:r>
              <a:rPr lang="en-US" dirty="0"/>
              <a:t>to go long and short risk</a:t>
            </a:r>
            <a:r>
              <a:rPr lang="en-US" dirty="0" smtClean="0"/>
              <a:t>.</a:t>
            </a:r>
          </a:p>
          <a:p>
            <a:pPr marL="179388" lvl="4" indent="0">
              <a:buClr>
                <a:schemeClr val="tx2"/>
              </a:buClr>
              <a:buNone/>
              <a:defRPr/>
            </a:pPr>
            <a:endParaRPr lang="en-US" dirty="0" smtClean="0"/>
          </a:p>
          <a:p>
            <a:pPr lvl="2">
              <a:buClr>
                <a:schemeClr val="tx2"/>
              </a:buClr>
              <a:defRPr/>
            </a:pPr>
            <a:r>
              <a:rPr lang="en-US" sz="1400" b="1" dirty="0" smtClean="0"/>
              <a:t>Certain CRE prices are back to peak levels leaving limited upside for further increases.</a:t>
            </a:r>
          </a:p>
          <a:p>
            <a:pPr lvl="3">
              <a:buClr>
                <a:schemeClr val="tx2"/>
              </a:buClr>
              <a:defRPr/>
            </a:pPr>
            <a:r>
              <a:rPr lang="en-US" dirty="0" smtClean="0"/>
              <a:t>Underlying sub-markets in CRE are performing in dramatically different ways. Most price growth over the past 15 years has been in the High Rise Apartment and Retail Sectors in large urban MSAs. Drivers of growth in the next cycle will be in different sub-markets and geographies.</a:t>
            </a:r>
          </a:p>
          <a:p>
            <a:pPr marL="179388" lvl="4" indent="0">
              <a:buClr>
                <a:schemeClr val="tx2"/>
              </a:buClr>
              <a:buNone/>
              <a:defRPr/>
            </a:pPr>
            <a:endParaRPr lang="en-US" dirty="0" smtClean="0"/>
          </a:p>
          <a:p>
            <a:pPr marL="0" lvl="3" indent="0">
              <a:buClr>
                <a:schemeClr val="tx2"/>
              </a:buClr>
              <a:buNone/>
              <a:defRPr/>
            </a:pPr>
            <a:r>
              <a:rPr lang="en-US" sz="1400" b="1" dirty="0" smtClean="0"/>
              <a:t>Cap Rate Compression is unlikely to occur as rates rise without sustained economic growth.</a:t>
            </a:r>
            <a:endParaRPr lang="en-US" sz="1400" b="1" dirty="0"/>
          </a:p>
          <a:p>
            <a:pPr lvl="3">
              <a:buClr>
                <a:schemeClr val="tx2"/>
              </a:buClr>
              <a:defRPr/>
            </a:pPr>
            <a:r>
              <a:rPr lang="en-US" dirty="0" smtClean="0"/>
              <a:t>Many parts of the REIT sector could be strained as expectations of Rate hikes grow (IYR -3.27%, as of 6/16/15).</a:t>
            </a:r>
          </a:p>
          <a:p>
            <a:pPr lvl="3">
              <a:buClr>
                <a:schemeClr val="tx2"/>
              </a:buClr>
              <a:defRPr/>
            </a:pPr>
            <a:r>
              <a:rPr lang="en-US" dirty="0" smtClean="0"/>
              <a:t>Corporate spreads remain close to record tights.</a:t>
            </a:r>
          </a:p>
          <a:p>
            <a:pPr lvl="3">
              <a:buClr>
                <a:schemeClr val="tx2"/>
              </a:buClr>
              <a:defRPr/>
            </a:pPr>
            <a:r>
              <a:rPr lang="en-US" dirty="0" smtClean="0"/>
              <a:t>Legacy CMBS loans approaching the “Wall of Maturity” in 2016/17 may struggle to refinance.</a:t>
            </a:r>
          </a:p>
          <a:p>
            <a:pPr marL="179388" lvl="4" indent="0">
              <a:buClr>
                <a:schemeClr val="tx2"/>
              </a:buClr>
              <a:buNone/>
              <a:defRPr/>
            </a:pPr>
            <a:endParaRPr lang="en-US" dirty="0"/>
          </a:p>
          <a:p>
            <a:pPr marL="0" lvl="3" indent="0">
              <a:buClr>
                <a:schemeClr val="tx2"/>
              </a:buClr>
              <a:buNone/>
              <a:defRPr/>
            </a:pPr>
            <a:endParaRPr lang="en-US" sz="1400" dirty="0"/>
          </a:p>
        </p:txBody>
      </p:sp>
    </p:spTree>
    <p:extLst>
      <p:ext uri="{BB962C8B-B14F-4D97-AF65-F5344CB8AC3E}">
        <p14:creationId xmlns:p14="http://schemas.microsoft.com/office/powerpoint/2010/main" val="2535358428"/>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2" name="Rectangle 41"/>
          <p:cNvSpPr/>
          <p:nvPr/>
        </p:nvSpPr>
        <p:spPr>
          <a:xfrm>
            <a:off x="240284" y="2872147"/>
            <a:ext cx="1612900" cy="2539288"/>
          </a:xfrm>
          <a:prstGeom prst="rect">
            <a:avLst/>
          </a:prstGeom>
          <a:solidFill>
            <a:schemeClr val="bg1"/>
          </a:solidFill>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cxnSp>
        <p:nvCxnSpPr>
          <p:cNvPr id="39" name="Straight Connector 38"/>
          <p:cNvCxnSpPr>
            <a:stCxn id="79" idx="2"/>
            <a:endCxn id="88" idx="0"/>
          </p:cNvCxnSpPr>
          <p:nvPr/>
        </p:nvCxnSpPr>
        <p:spPr>
          <a:xfrm>
            <a:off x="2640203" y="3649358"/>
            <a:ext cx="0" cy="987914"/>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3" name="Straight Connector 92"/>
          <p:cNvCxnSpPr>
            <a:stCxn id="80" idx="2"/>
            <a:endCxn id="98" idx="0"/>
          </p:cNvCxnSpPr>
          <p:nvPr/>
        </p:nvCxnSpPr>
        <p:spPr>
          <a:xfrm>
            <a:off x="4232338" y="3646310"/>
            <a:ext cx="0" cy="990962"/>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91" name="Straight Connector 90"/>
          <p:cNvCxnSpPr>
            <a:stCxn id="73" idx="2"/>
            <a:endCxn id="90" idx="0"/>
          </p:cNvCxnSpPr>
          <p:nvPr/>
        </p:nvCxnSpPr>
        <p:spPr>
          <a:xfrm>
            <a:off x="1048068" y="3649358"/>
            <a:ext cx="0" cy="987914"/>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sp>
        <p:nvSpPr>
          <p:cNvPr id="95" name="Rectangle 159"/>
          <p:cNvSpPr>
            <a:spLocks noChangeArrowheads="1"/>
          </p:cNvSpPr>
          <p:nvPr/>
        </p:nvSpPr>
        <p:spPr bwMode="auto">
          <a:xfrm>
            <a:off x="234189" y="1235074"/>
            <a:ext cx="9528936" cy="685800"/>
          </a:xfrm>
          <a:prstGeom prst="rect">
            <a:avLst/>
          </a:prstGeom>
          <a:solidFill>
            <a:schemeClr val="accent1"/>
          </a:solidFill>
          <a:ln w="12700">
            <a:noFill/>
            <a:miter lim="800000"/>
            <a:headEnd/>
            <a:tailEnd/>
          </a:ln>
        </p:spPr>
        <p:txBody>
          <a:bodyPr vert="horz" wrap="square" lIns="47354" tIns="47354" rIns="47354" bIns="47354" numCol="1" anchor="ctr" anchorCtr="1" compatLnSpc="1">
            <a:prstTxWarp prst="textNoShape">
              <a:avLst/>
            </a:prstTxWarp>
          </a:bodyPr>
          <a:lstStyle/>
          <a:p>
            <a:pPr algn="ctr" defTabSz="1055618" fontAlgn="auto">
              <a:lnSpc>
                <a:spcPct val="110000"/>
              </a:lnSpc>
              <a:spcBef>
                <a:spcPts val="0"/>
              </a:spcBef>
              <a:spcAft>
                <a:spcPts val="0"/>
              </a:spcAft>
            </a:pPr>
            <a:r>
              <a:rPr lang="en-US" sz="1400" dirty="0">
                <a:solidFill>
                  <a:srgbClr val="FFFFFF"/>
                </a:solidFill>
                <a:latin typeface="Calibri"/>
              </a:rPr>
              <a:t>CELLO CAPITAL MANAGEMENT, </a:t>
            </a:r>
            <a:r>
              <a:rPr lang="en-US" sz="1400" dirty="0" smtClean="0">
                <a:solidFill>
                  <a:srgbClr val="FFFFFF"/>
                </a:solidFill>
                <a:latin typeface="Calibri"/>
              </a:rPr>
              <a:t>LP</a:t>
            </a:r>
          </a:p>
          <a:p>
            <a:pPr algn="ctr" defTabSz="1055618" fontAlgn="auto">
              <a:lnSpc>
                <a:spcPct val="110000"/>
              </a:lnSpc>
              <a:spcBef>
                <a:spcPts val="0"/>
              </a:spcBef>
              <a:spcAft>
                <a:spcPts val="0"/>
              </a:spcAft>
            </a:pPr>
            <a:r>
              <a:rPr lang="en-US" sz="1400" dirty="0">
                <a:solidFill>
                  <a:srgbClr val="FFFFFF"/>
                </a:solidFill>
                <a:latin typeface="Calibri"/>
              </a:rPr>
              <a:t>Antoine Schetritt, CIO &amp; Managing </a:t>
            </a:r>
            <a:r>
              <a:rPr lang="en-US" sz="1400" dirty="0" smtClean="0">
                <a:solidFill>
                  <a:srgbClr val="FFFFFF"/>
                </a:solidFill>
                <a:latin typeface="Calibri"/>
              </a:rPr>
              <a:t>Partner</a:t>
            </a:r>
            <a:endParaRPr lang="en-US" sz="1400" dirty="0">
              <a:solidFill>
                <a:srgbClr val="FFFFFF"/>
              </a:solidFill>
              <a:latin typeface="Calibri"/>
            </a:endParaRPr>
          </a:p>
        </p:txBody>
      </p:sp>
      <p:cxnSp>
        <p:nvCxnSpPr>
          <p:cNvPr id="85" name="Straight Connector 84"/>
          <p:cNvCxnSpPr>
            <a:stCxn id="82" idx="2"/>
          </p:cNvCxnSpPr>
          <p:nvPr/>
        </p:nvCxnSpPr>
        <p:spPr>
          <a:xfrm flipH="1">
            <a:off x="9007757" y="3646310"/>
            <a:ext cx="987" cy="1851278"/>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4" name="Straight Connector 53"/>
          <p:cNvCxnSpPr/>
          <p:nvPr/>
        </p:nvCxnSpPr>
        <p:spPr>
          <a:xfrm>
            <a:off x="7416608" y="3484178"/>
            <a:ext cx="0" cy="987914"/>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cxnSp>
        <p:nvCxnSpPr>
          <p:cNvPr id="50" name="Straight Connector 49"/>
          <p:cNvCxnSpPr>
            <a:stCxn id="81" idx="2"/>
            <a:endCxn id="107" idx="0"/>
          </p:cNvCxnSpPr>
          <p:nvPr/>
        </p:nvCxnSpPr>
        <p:spPr>
          <a:xfrm>
            <a:off x="5823933" y="3649358"/>
            <a:ext cx="0" cy="2704301"/>
          </a:xfrm>
          <a:prstGeom prst="line">
            <a:avLst/>
          </a:prstGeom>
          <a:ln w="6350">
            <a:solidFill>
              <a:schemeClr val="accent3"/>
            </a:solidFill>
          </a:ln>
        </p:spPr>
        <p:style>
          <a:lnRef idx="1">
            <a:schemeClr val="accent1"/>
          </a:lnRef>
          <a:fillRef idx="0">
            <a:schemeClr val="accent1"/>
          </a:fillRef>
          <a:effectRef idx="0">
            <a:schemeClr val="accent1"/>
          </a:effectRef>
          <a:fontRef idx="minor">
            <a:schemeClr val="tx1"/>
          </a:fontRef>
        </p:style>
      </p:cxnSp>
      <p:sp>
        <p:nvSpPr>
          <p:cNvPr id="109" name="Rectangle 159"/>
          <p:cNvSpPr>
            <a:spLocks noChangeArrowheads="1"/>
          </p:cNvSpPr>
          <p:nvPr/>
        </p:nvSpPr>
        <p:spPr bwMode="auto">
          <a:xfrm>
            <a:off x="234188" y="2102778"/>
            <a:ext cx="6339408" cy="320040"/>
          </a:xfrm>
          <a:prstGeom prst="rect">
            <a:avLst/>
          </a:prstGeom>
          <a:solidFill>
            <a:schemeClr val="tx2"/>
          </a:solidFill>
          <a:ln w="6350">
            <a:solidFill>
              <a:schemeClr val="tx2"/>
            </a:solidFill>
            <a:miter lim="800000"/>
            <a:headEnd/>
            <a:tailEnd/>
          </a:ln>
        </p:spPr>
        <p:txBody>
          <a:bodyPr vert="horz" wrap="square" lIns="18288" tIns="47354" rIns="18288" bIns="47354" numCol="1" anchor="ctr" anchorCtr="1" compatLnSpc="1">
            <a:prstTxWarp prst="textNoShape">
              <a:avLst/>
            </a:prstTxWarp>
          </a:bodyPr>
          <a:lstStyle/>
          <a:p>
            <a:pPr algn="ctr" defTabSz="1055618" fontAlgn="auto">
              <a:lnSpc>
                <a:spcPct val="110000"/>
              </a:lnSpc>
              <a:spcBef>
                <a:spcPts val="0"/>
              </a:spcBef>
              <a:spcAft>
                <a:spcPts val="0"/>
              </a:spcAft>
            </a:pPr>
            <a:r>
              <a:rPr lang="en-US" sz="1000" dirty="0" smtClean="0">
                <a:solidFill>
                  <a:srgbClr val="FFFFFF"/>
                </a:solidFill>
                <a:latin typeface="Calibri"/>
              </a:rPr>
              <a:t>INVESTMENT MANAGEMENT</a:t>
            </a:r>
            <a:endParaRPr lang="en-US" sz="1000" dirty="0">
              <a:solidFill>
                <a:srgbClr val="FFFFFF"/>
              </a:solidFill>
              <a:latin typeface="Calibri"/>
            </a:endParaRPr>
          </a:p>
        </p:txBody>
      </p:sp>
      <p:sp>
        <p:nvSpPr>
          <p:cNvPr id="48" name="Rectangle 159"/>
          <p:cNvSpPr>
            <a:spLocks noChangeArrowheads="1"/>
          </p:cNvSpPr>
          <p:nvPr/>
        </p:nvSpPr>
        <p:spPr bwMode="auto">
          <a:xfrm>
            <a:off x="6661958" y="2102778"/>
            <a:ext cx="3099816" cy="320040"/>
          </a:xfrm>
          <a:prstGeom prst="rect">
            <a:avLst/>
          </a:prstGeom>
          <a:solidFill>
            <a:schemeClr val="tx2"/>
          </a:solidFill>
          <a:ln w="6350">
            <a:solidFill>
              <a:schemeClr val="tx2"/>
            </a:solidFill>
            <a:miter lim="800000"/>
            <a:headEnd/>
            <a:tailEnd/>
          </a:ln>
        </p:spPr>
        <p:txBody>
          <a:bodyPr vert="horz" wrap="square" lIns="18288" tIns="47354" rIns="18288" bIns="47354" numCol="1" anchor="ctr" anchorCtr="1" compatLnSpc="1">
            <a:prstTxWarp prst="textNoShape">
              <a:avLst/>
            </a:prstTxWarp>
          </a:bodyPr>
          <a:lstStyle/>
          <a:p>
            <a:pPr algn="ctr" defTabSz="1055618" fontAlgn="auto">
              <a:lnSpc>
                <a:spcPct val="110000"/>
              </a:lnSpc>
              <a:spcBef>
                <a:spcPts val="0"/>
              </a:spcBef>
              <a:spcAft>
                <a:spcPts val="0"/>
              </a:spcAft>
            </a:pPr>
            <a:r>
              <a:rPr lang="en-US" sz="1000" dirty="0">
                <a:solidFill>
                  <a:srgbClr val="FFFFFF"/>
                </a:solidFill>
                <a:latin typeface="Calibri"/>
              </a:rPr>
              <a:t>BUSINESS MANAGEMENT</a:t>
            </a:r>
          </a:p>
        </p:txBody>
      </p:sp>
      <p:sp>
        <p:nvSpPr>
          <p:cNvPr id="35" name="Rectangle 159"/>
          <p:cNvSpPr>
            <a:spLocks noChangeArrowheads="1"/>
          </p:cNvSpPr>
          <p:nvPr/>
        </p:nvSpPr>
        <p:spPr bwMode="auto">
          <a:xfrm>
            <a:off x="234188" y="2496679"/>
            <a:ext cx="3159315" cy="320040"/>
          </a:xfrm>
          <a:prstGeom prst="rect">
            <a:avLst/>
          </a:prstGeom>
          <a:solidFill>
            <a:schemeClr val="accent3"/>
          </a:solidFill>
          <a:ln w="6350">
            <a:solidFill>
              <a:schemeClr val="accent3"/>
            </a:solidFill>
            <a:miter lim="800000"/>
            <a:headEnd/>
            <a:tailEnd/>
          </a:ln>
        </p:spPr>
        <p:txBody>
          <a:bodyPr vert="horz" wrap="square" lIns="18288" tIns="47354" rIns="18288" bIns="47354" numCol="1" anchor="ctr" anchorCtr="1" compatLnSpc="1">
            <a:prstTxWarp prst="textNoShape">
              <a:avLst/>
            </a:prstTxWarp>
          </a:bodyPr>
          <a:lstStyle/>
          <a:p>
            <a:pPr algn="ctr" defTabSz="1055618" fontAlgn="auto">
              <a:lnSpc>
                <a:spcPct val="110000"/>
              </a:lnSpc>
              <a:spcBef>
                <a:spcPts val="0"/>
              </a:spcBef>
              <a:spcAft>
                <a:spcPts val="0"/>
              </a:spcAft>
            </a:pPr>
            <a:r>
              <a:rPr lang="en-US" sz="1000" dirty="0" smtClean="0">
                <a:solidFill>
                  <a:srgbClr val="FFFFFF"/>
                </a:solidFill>
                <a:latin typeface="Calibri"/>
              </a:rPr>
              <a:t>PORTFOLIO MANAGEMENT </a:t>
            </a:r>
            <a:endParaRPr lang="en-US" sz="1000" dirty="0">
              <a:solidFill>
                <a:srgbClr val="FFFFFF"/>
              </a:solidFill>
              <a:latin typeface="Calibri"/>
            </a:endParaRPr>
          </a:p>
        </p:txBody>
      </p:sp>
      <p:sp>
        <p:nvSpPr>
          <p:cNvPr id="38" name="Rectangle 159"/>
          <p:cNvSpPr>
            <a:spLocks noChangeArrowheads="1"/>
          </p:cNvSpPr>
          <p:nvPr/>
        </p:nvSpPr>
        <p:spPr bwMode="auto">
          <a:xfrm>
            <a:off x="3477148" y="2496679"/>
            <a:ext cx="1508760" cy="320040"/>
          </a:xfrm>
          <a:prstGeom prst="rect">
            <a:avLst/>
          </a:prstGeom>
          <a:solidFill>
            <a:schemeClr val="accent3"/>
          </a:solidFill>
          <a:ln w="6350">
            <a:solidFill>
              <a:schemeClr val="accent3"/>
            </a:solidFill>
            <a:miter lim="800000"/>
            <a:headEnd/>
            <a:tailEnd/>
          </a:ln>
        </p:spPr>
        <p:txBody>
          <a:bodyPr vert="horz" wrap="square" lIns="18288" tIns="47354" rIns="18288" bIns="47354" numCol="1" anchor="ctr" anchorCtr="1" compatLnSpc="1">
            <a:prstTxWarp prst="textNoShape">
              <a:avLst/>
            </a:prstTxWarp>
          </a:bodyPr>
          <a:lstStyle/>
          <a:p>
            <a:pPr algn="ctr" defTabSz="1055618" fontAlgn="auto">
              <a:lnSpc>
                <a:spcPct val="110000"/>
              </a:lnSpc>
              <a:spcBef>
                <a:spcPts val="0"/>
              </a:spcBef>
              <a:spcAft>
                <a:spcPts val="0"/>
              </a:spcAft>
            </a:pPr>
            <a:r>
              <a:rPr lang="en-US" sz="1000" dirty="0">
                <a:solidFill>
                  <a:srgbClr val="FFFFFF"/>
                </a:solidFill>
                <a:latin typeface="Calibri"/>
              </a:rPr>
              <a:t>RESEARCH</a:t>
            </a:r>
          </a:p>
        </p:txBody>
      </p:sp>
      <p:sp>
        <p:nvSpPr>
          <p:cNvPr id="45" name="Rectangle 159"/>
          <p:cNvSpPr>
            <a:spLocks noChangeArrowheads="1"/>
          </p:cNvSpPr>
          <p:nvPr/>
        </p:nvSpPr>
        <p:spPr bwMode="auto">
          <a:xfrm>
            <a:off x="5069553" y="2510308"/>
            <a:ext cx="1508760" cy="320040"/>
          </a:xfrm>
          <a:prstGeom prst="rect">
            <a:avLst/>
          </a:prstGeom>
          <a:solidFill>
            <a:schemeClr val="accent3"/>
          </a:solidFill>
          <a:ln w="6350">
            <a:solidFill>
              <a:schemeClr val="accent3"/>
            </a:solidFill>
            <a:miter lim="800000"/>
            <a:headEnd/>
            <a:tailEnd/>
          </a:ln>
        </p:spPr>
        <p:txBody>
          <a:bodyPr vert="horz" wrap="square" lIns="18288" tIns="47354" rIns="18288" bIns="47354" numCol="1" anchor="ctr" anchorCtr="1" compatLnSpc="1">
            <a:prstTxWarp prst="textNoShape">
              <a:avLst/>
            </a:prstTxWarp>
          </a:bodyPr>
          <a:lstStyle/>
          <a:p>
            <a:pPr algn="ctr" defTabSz="1055618" fontAlgn="auto">
              <a:lnSpc>
                <a:spcPct val="110000"/>
              </a:lnSpc>
              <a:spcBef>
                <a:spcPts val="0"/>
              </a:spcBef>
              <a:spcAft>
                <a:spcPts val="0"/>
              </a:spcAft>
            </a:pPr>
            <a:r>
              <a:rPr lang="en-US" sz="1000" dirty="0">
                <a:solidFill>
                  <a:srgbClr val="FFFFFF"/>
                </a:solidFill>
                <a:latin typeface="Calibri"/>
              </a:rPr>
              <a:t>ANALYTICS</a:t>
            </a:r>
          </a:p>
        </p:txBody>
      </p:sp>
      <p:sp>
        <p:nvSpPr>
          <p:cNvPr id="59" name="Rectangle 159"/>
          <p:cNvSpPr>
            <a:spLocks noChangeArrowheads="1"/>
          </p:cNvSpPr>
          <p:nvPr/>
        </p:nvSpPr>
        <p:spPr bwMode="auto">
          <a:xfrm>
            <a:off x="8254364" y="2496679"/>
            <a:ext cx="1508760" cy="320040"/>
          </a:xfrm>
          <a:prstGeom prst="rect">
            <a:avLst/>
          </a:prstGeom>
          <a:solidFill>
            <a:schemeClr val="accent3"/>
          </a:solidFill>
          <a:ln w="6350">
            <a:solidFill>
              <a:schemeClr val="accent3"/>
            </a:solidFill>
            <a:miter lim="800000"/>
            <a:headEnd/>
            <a:tailEnd/>
          </a:ln>
        </p:spPr>
        <p:txBody>
          <a:bodyPr vert="horz" wrap="square" lIns="18288" tIns="47354" rIns="18288" bIns="47354" numCol="1" anchor="ctr" anchorCtr="1" compatLnSpc="1">
            <a:prstTxWarp prst="textNoShape">
              <a:avLst/>
            </a:prstTxWarp>
          </a:bodyPr>
          <a:lstStyle/>
          <a:p>
            <a:pPr algn="ctr" defTabSz="1055618" fontAlgn="auto">
              <a:lnSpc>
                <a:spcPct val="110000"/>
              </a:lnSpc>
              <a:spcBef>
                <a:spcPts val="0"/>
              </a:spcBef>
              <a:spcAft>
                <a:spcPts val="0"/>
              </a:spcAft>
            </a:pPr>
            <a:r>
              <a:rPr lang="en-US" sz="1000" dirty="0" smtClean="0">
                <a:solidFill>
                  <a:srgbClr val="FFFFFF"/>
                </a:solidFill>
                <a:latin typeface="Calibri"/>
              </a:rPr>
              <a:t>OPERATIONS &amp; FINANCE</a:t>
            </a:r>
            <a:endParaRPr lang="en-US" sz="1000" dirty="0">
              <a:solidFill>
                <a:srgbClr val="FFFFFF"/>
              </a:solidFill>
              <a:latin typeface="Calibri"/>
            </a:endParaRPr>
          </a:p>
        </p:txBody>
      </p:sp>
      <p:sp>
        <p:nvSpPr>
          <p:cNvPr id="65" name="Rectangle 159"/>
          <p:cNvSpPr>
            <a:spLocks noChangeArrowheads="1"/>
          </p:cNvSpPr>
          <p:nvPr/>
        </p:nvSpPr>
        <p:spPr bwMode="auto">
          <a:xfrm>
            <a:off x="6661958" y="2496679"/>
            <a:ext cx="1508760" cy="320040"/>
          </a:xfrm>
          <a:prstGeom prst="rect">
            <a:avLst/>
          </a:prstGeom>
          <a:solidFill>
            <a:schemeClr val="accent3"/>
          </a:solidFill>
          <a:ln w="6350">
            <a:solidFill>
              <a:schemeClr val="accent3"/>
            </a:solidFill>
            <a:miter lim="800000"/>
            <a:headEnd/>
            <a:tailEnd/>
          </a:ln>
        </p:spPr>
        <p:txBody>
          <a:bodyPr vert="horz" wrap="square" lIns="18288" tIns="47354" rIns="18288" bIns="47354" numCol="1" anchor="ctr" anchorCtr="1" compatLnSpc="1">
            <a:prstTxWarp prst="textNoShape">
              <a:avLst/>
            </a:prstTxWarp>
          </a:bodyPr>
          <a:lstStyle/>
          <a:p>
            <a:pPr algn="ctr" defTabSz="1055618" fontAlgn="auto">
              <a:lnSpc>
                <a:spcPct val="110000"/>
              </a:lnSpc>
              <a:spcBef>
                <a:spcPts val="0"/>
              </a:spcBef>
              <a:spcAft>
                <a:spcPts val="0"/>
              </a:spcAft>
            </a:pPr>
            <a:r>
              <a:rPr lang="en-US" sz="1000" dirty="0" smtClean="0">
                <a:solidFill>
                  <a:srgbClr val="FFFFFF"/>
                </a:solidFill>
                <a:latin typeface="Calibri"/>
              </a:rPr>
              <a:t>INVESTOR RELATIONS</a:t>
            </a:r>
            <a:endParaRPr lang="en-US" sz="1000" dirty="0">
              <a:solidFill>
                <a:srgbClr val="FFFFFF"/>
              </a:solidFill>
              <a:latin typeface="Calibri"/>
            </a:endParaRPr>
          </a:p>
        </p:txBody>
      </p:sp>
      <p:graphicFrame>
        <p:nvGraphicFramePr>
          <p:cNvPr id="73" name="Group 21"/>
          <p:cNvGraphicFramePr>
            <a:graphicFrameLocks noGrp="1"/>
          </p:cNvGraphicFramePr>
          <p:nvPr>
            <p:extLst/>
          </p:nvPr>
        </p:nvGraphicFramePr>
        <p:xfrm>
          <a:off x="293688" y="2917838"/>
          <a:ext cx="1508760" cy="731520"/>
        </p:xfrm>
        <a:graphic>
          <a:graphicData uri="http://schemas.openxmlformats.org/drawingml/2006/table">
            <a:tbl>
              <a:tblPr/>
              <a:tblGrid>
                <a:gridCol w="1508760"/>
              </a:tblGrid>
              <a:tr h="2471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bg1"/>
                          </a:solidFill>
                          <a:effectLst/>
                          <a:latin typeface="Calibri" pitchFamily="34" charset="0"/>
                        </a:rPr>
                        <a:t>Toby Maitland Hudson</a:t>
                      </a:r>
                      <a:endParaRPr kumimoji="0" lang="en-US" sz="800" b="1"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30110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rgbClr val="00B050"/>
                          </a:solidFill>
                          <a:effectLst/>
                          <a:latin typeface="Calibri" pitchFamily="34" charset="0"/>
                        </a:rPr>
                        <a:t>Cello Credit Opportunities Fund (16)</a:t>
                      </a:r>
                      <a:endParaRPr kumimoji="0" lang="en-US" sz="800" b="0" i="0" u="none" strike="noStrike" cap="none" normalizeH="0" baseline="0" dirty="0" smtClean="0">
                        <a:ln>
                          <a:noFill/>
                        </a:ln>
                        <a:solidFill>
                          <a:srgbClr val="00B050"/>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79" name="Group 21"/>
          <p:cNvGraphicFramePr>
            <a:graphicFrameLocks noGrp="1"/>
          </p:cNvGraphicFramePr>
          <p:nvPr>
            <p:extLst/>
          </p:nvPr>
        </p:nvGraphicFramePr>
        <p:xfrm>
          <a:off x="1885823" y="2917838"/>
          <a:ext cx="1508760" cy="731520"/>
        </p:xfrm>
        <a:graphic>
          <a:graphicData uri="http://schemas.openxmlformats.org/drawingml/2006/table">
            <a:tbl>
              <a:tblPr/>
              <a:tblGrid>
                <a:gridCol w="1508760"/>
              </a:tblGrid>
              <a:tr h="2471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bg1"/>
                          </a:solidFill>
                          <a:effectLst/>
                          <a:latin typeface="Calibri" pitchFamily="34" charset="0"/>
                        </a:rPr>
                        <a:t>Antoine Schetritt</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30110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Calibri" pitchFamily="34" charset="0"/>
                        </a:rPr>
                        <a:t>Cello Fixed Income Master Fund (24)</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80" name="Group 21"/>
          <p:cNvGraphicFramePr>
            <a:graphicFrameLocks noGrp="1"/>
          </p:cNvGraphicFramePr>
          <p:nvPr>
            <p:extLst/>
          </p:nvPr>
        </p:nvGraphicFramePr>
        <p:xfrm>
          <a:off x="3477958" y="2917838"/>
          <a:ext cx="1508760" cy="728472"/>
        </p:xfrm>
        <a:graphic>
          <a:graphicData uri="http://schemas.openxmlformats.org/drawingml/2006/table">
            <a:tbl>
              <a:tblPr/>
              <a:tblGrid>
                <a:gridCol w="1508760"/>
              </a:tblGrid>
              <a:tr h="2471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bg1"/>
                          </a:solidFill>
                          <a:effectLst/>
                          <a:latin typeface="Calibri" pitchFamily="34" charset="0"/>
                        </a:rPr>
                        <a:t>Sharad Chaudhary, PhD</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Calibri" pitchFamily="34" charset="0"/>
                        </a:rPr>
                        <a:t>Head of Research (18)</a:t>
                      </a:r>
                      <a:endParaRPr kumimoji="0" lang="en-US" sz="800" b="0" i="0" u="none" strike="noStrike" cap="none" normalizeH="0" baseline="0" dirty="0" smtClean="0">
                        <a:ln>
                          <a:noFill/>
                        </a:ln>
                        <a:solidFill>
                          <a:schemeClr val="tx1"/>
                        </a:solidFill>
                        <a:effectLst/>
                        <a:latin typeface="Arial" charset="0"/>
                      </a:endParaRPr>
                    </a:p>
                  </a:txBody>
                  <a:tcPr marL="18288" marR="18288" marT="155448" marB="146304"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81" name="Group 21"/>
          <p:cNvGraphicFramePr>
            <a:graphicFrameLocks noGrp="1"/>
          </p:cNvGraphicFramePr>
          <p:nvPr>
            <p:extLst/>
          </p:nvPr>
        </p:nvGraphicFramePr>
        <p:xfrm>
          <a:off x="5069553" y="2917838"/>
          <a:ext cx="1508760" cy="731520"/>
        </p:xfrm>
        <a:graphic>
          <a:graphicData uri="http://schemas.openxmlformats.org/drawingml/2006/table">
            <a:tbl>
              <a:tblPr/>
              <a:tblGrid>
                <a:gridCol w="1508760"/>
              </a:tblGrid>
              <a:tr h="2471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bg1"/>
                          </a:solidFill>
                          <a:effectLst/>
                          <a:latin typeface="Calibri" pitchFamily="34" charset="0"/>
                        </a:rPr>
                        <a:t>Derek Ho</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30110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Calibri" pitchFamily="34" charset="0"/>
                        </a:rPr>
                        <a:t>Chief Technology Officer </a:t>
                      </a:r>
                      <a:br>
                        <a:rPr kumimoji="0" lang="en-US" sz="800" b="0" i="0" u="none" strike="noStrike" cap="none" normalizeH="0" baseline="0" dirty="0" smtClean="0">
                          <a:ln>
                            <a:noFill/>
                          </a:ln>
                          <a:solidFill>
                            <a:schemeClr val="tx1"/>
                          </a:solidFill>
                          <a:effectLst/>
                          <a:latin typeface="Calibri" pitchFamily="34" charset="0"/>
                        </a:rPr>
                      </a:br>
                      <a:r>
                        <a:rPr kumimoji="0" lang="en-US" sz="800" b="0" i="0" u="none" strike="noStrike" cap="none" normalizeH="0" baseline="0" dirty="0" smtClean="0">
                          <a:ln>
                            <a:noFill/>
                          </a:ln>
                          <a:solidFill>
                            <a:schemeClr val="tx1"/>
                          </a:solidFill>
                          <a:effectLst/>
                          <a:latin typeface="Calibri" pitchFamily="34" charset="0"/>
                        </a:rPr>
                        <a:t>(23)</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82" name="Group 21"/>
          <p:cNvGraphicFramePr>
            <a:graphicFrameLocks noGrp="1"/>
          </p:cNvGraphicFramePr>
          <p:nvPr>
            <p:extLst/>
          </p:nvPr>
        </p:nvGraphicFramePr>
        <p:xfrm>
          <a:off x="8254364" y="2917838"/>
          <a:ext cx="1508760" cy="728472"/>
        </p:xfrm>
        <a:graphic>
          <a:graphicData uri="http://schemas.openxmlformats.org/drawingml/2006/table">
            <a:tbl>
              <a:tblPr/>
              <a:tblGrid>
                <a:gridCol w="1508760"/>
              </a:tblGrid>
              <a:tr h="2471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bg1"/>
                          </a:solidFill>
                          <a:effectLst/>
                          <a:latin typeface="Calibri" pitchFamily="34" charset="0"/>
                        </a:rPr>
                        <a:t>Dennis Ouma, PhD</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Calibri" pitchFamily="34" charset="0"/>
                        </a:rPr>
                        <a:t>Chief Operating Officer (16)</a:t>
                      </a:r>
                      <a:endParaRPr kumimoji="0" lang="en-US" sz="800" b="0" i="0" u="none" strike="noStrike" cap="none" normalizeH="0" baseline="0" dirty="0" smtClean="0">
                        <a:ln>
                          <a:noFill/>
                        </a:ln>
                        <a:solidFill>
                          <a:schemeClr val="tx1"/>
                        </a:solidFill>
                        <a:effectLst/>
                        <a:latin typeface="Arial" charset="0"/>
                      </a:endParaRPr>
                    </a:p>
                  </a:txBody>
                  <a:tcPr marL="18288" marR="18288" marT="155448" marB="146304"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86" name="Group 21"/>
          <p:cNvGraphicFramePr>
            <a:graphicFrameLocks noGrp="1"/>
          </p:cNvGraphicFramePr>
          <p:nvPr>
            <p:extLst/>
          </p:nvPr>
        </p:nvGraphicFramePr>
        <p:xfrm>
          <a:off x="1885823" y="3779079"/>
          <a:ext cx="1508760" cy="731520"/>
        </p:xfrm>
        <a:graphic>
          <a:graphicData uri="http://schemas.openxmlformats.org/drawingml/2006/table">
            <a:tbl>
              <a:tblPr/>
              <a:tblGrid>
                <a:gridCol w="1508760"/>
              </a:tblGrid>
              <a:tr h="2471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bg1"/>
                          </a:solidFill>
                          <a:effectLst/>
                          <a:latin typeface="Calibri" pitchFamily="34" charset="0"/>
                        </a:rPr>
                        <a:t>Nicholas Letica</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30110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Calibri" pitchFamily="34" charset="0"/>
                        </a:rPr>
                        <a:t>Cello Fixed Income Master Fund (28)</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88" name="Group 21"/>
          <p:cNvGraphicFramePr>
            <a:graphicFrameLocks noGrp="1"/>
          </p:cNvGraphicFramePr>
          <p:nvPr>
            <p:extLst/>
          </p:nvPr>
        </p:nvGraphicFramePr>
        <p:xfrm>
          <a:off x="1885823" y="4637272"/>
          <a:ext cx="1508760" cy="731520"/>
        </p:xfrm>
        <a:graphic>
          <a:graphicData uri="http://schemas.openxmlformats.org/drawingml/2006/table">
            <a:tbl>
              <a:tblPr/>
              <a:tblGrid>
                <a:gridCol w="1508760"/>
              </a:tblGrid>
              <a:tr h="247199">
                <a:tc>
                  <a:txBody>
                    <a:bodyPr/>
                    <a:lstStyle/>
                    <a:p>
                      <a:pPr marL="0" marR="0" lvl="0" indent="0" algn="ctr" defTabSz="914400" rtl="0" eaLnBrk="1" fontAlgn="base" latinLnBrk="0" hangingPunct="1">
                        <a:lnSpc>
                          <a:spcPct val="100000"/>
                        </a:lnSpc>
                        <a:spcBef>
                          <a:spcPct val="0"/>
                        </a:spcBef>
                        <a:spcAft>
                          <a:spcPct val="0"/>
                        </a:spcAft>
                        <a:buClrTx/>
                        <a:buSzTx/>
                        <a:buFontTx/>
                        <a:buNone/>
                        <a:tabLst/>
                        <a:defRPr/>
                      </a:pPr>
                      <a:r>
                        <a:rPr kumimoji="0" lang="en-US" sz="800" b="1" i="0" u="none" strike="noStrike" cap="none" normalizeH="0" baseline="0" dirty="0" smtClean="0">
                          <a:ln>
                            <a:noFill/>
                          </a:ln>
                          <a:solidFill>
                            <a:schemeClr val="bg1"/>
                          </a:solidFill>
                          <a:effectLst/>
                          <a:latin typeface="Calibri" pitchFamily="34" charset="0"/>
                        </a:rPr>
                        <a:t>Chun-Nip Lee, PhD</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30110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Calibri" pitchFamily="34" charset="0"/>
                        </a:rPr>
                        <a:t>Cello Fixed Income Master Fund (24)</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89" name="Group 21"/>
          <p:cNvGraphicFramePr>
            <a:graphicFrameLocks noGrp="1"/>
          </p:cNvGraphicFramePr>
          <p:nvPr>
            <p:extLst/>
          </p:nvPr>
        </p:nvGraphicFramePr>
        <p:xfrm>
          <a:off x="293688" y="3779079"/>
          <a:ext cx="1508760" cy="728472"/>
        </p:xfrm>
        <a:graphic>
          <a:graphicData uri="http://schemas.openxmlformats.org/drawingml/2006/table">
            <a:tbl>
              <a:tblPr/>
              <a:tblGrid>
                <a:gridCol w="1508760"/>
              </a:tblGrid>
              <a:tr h="2471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bg1"/>
                          </a:solidFill>
                          <a:effectLst/>
                          <a:latin typeface="Calibri" pitchFamily="34" charset="0"/>
                        </a:rPr>
                        <a:t>Kashif Akhtar</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rgbClr val="00B050"/>
                          </a:solidFill>
                          <a:effectLst/>
                          <a:latin typeface="Calibri" pitchFamily="34" charset="0"/>
                        </a:rPr>
                        <a:t>Cello Credit Opportunities Fund (9)</a:t>
                      </a:r>
                      <a:endParaRPr kumimoji="0" lang="en-US" sz="800" b="0" i="0" u="none" strike="noStrike" cap="none" normalizeH="0" baseline="0" dirty="0" smtClean="0">
                        <a:ln>
                          <a:noFill/>
                        </a:ln>
                        <a:solidFill>
                          <a:srgbClr val="00B050"/>
                        </a:solidFill>
                        <a:effectLst/>
                        <a:latin typeface="Arial" charset="0"/>
                      </a:endParaRPr>
                    </a:p>
                  </a:txBody>
                  <a:tcPr marL="18288" marR="18288" marT="155448" marB="146304"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90" name="Group 21"/>
          <p:cNvGraphicFramePr>
            <a:graphicFrameLocks noGrp="1"/>
          </p:cNvGraphicFramePr>
          <p:nvPr>
            <p:extLst/>
          </p:nvPr>
        </p:nvGraphicFramePr>
        <p:xfrm>
          <a:off x="293688" y="4637272"/>
          <a:ext cx="1508760" cy="731520"/>
        </p:xfrm>
        <a:graphic>
          <a:graphicData uri="http://schemas.openxmlformats.org/drawingml/2006/table">
            <a:tbl>
              <a:tblPr/>
              <a:tblGrid>
                <a:gridCol w="1508760"/>
              </a:tblGrid>
              <a:tr h="2471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bg1"/>
                          </a:solidFill>
                          <a:effectLst/>
                          <a:latin typeface="Calibri" pitchFamily="34" charset="0"/>
                        </a:rPr>
                        <a:t>Scott Grabine, CPA</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30110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rgbClr val="00B050"/>
                          </a:solidFill>
                          <a:effectLst/>
                          <a:latin typeface="Calibri" pitchFamily="34" charset="0"/>
                        </a:rPr>
                        <a:t>Cello Credit Opportunities Fund (20)</a:t>
                      </a:r>
                      <a:endParaRPr kumimoji="0" lang="en-US" sz="800" b="0" i="0" u="none" strike="noStrike" cap="none" normalizeH="0" baseline="0" dirty="0" smtClean="0">
                        <a:ln>
                          <a:noFill/>
                        </a:ln>
                        <a:solidFill>
                          <a:srgbClr val="00B050"/>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94" name="Group 21"/>
          <p:cNvGraphicFramePr>
            <a:graphicFrameLocks noGrp="1"/>
          </p:cNvGraphicFramePr>
          <p:nvPr>
            <p:extLst/>
          </p:nvPr>
        </p:nvGraphicFramePr>
        <p:xfrm>
          <a:off x="3477958" y="3779079"/>
          <a:ext cx="1508760" cy="728472"/>
        </p:xfrm>
        <a:graphic>
          <a:graphicData uri="http://schemas.openxmlformats.org/drawingml/2006/table">
            <a:tbl>
              <a:tblPr/>
              <a:tblGrid>
                <a:gridCol w="1508760"/>
              </a:tblGrid>
              <a:tr h="2471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bg1"/>
                          </a:solidFill>
                          <a:effectLst/>
                          <a:latin typeface="Calibri" pitchFamily="34" charset="0"/>
                        </a:rPr>
                        <a:t>Robert Morris</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Calibri" pitchFamily="34" charset="0"/>
                        </a:rPr>
                        <a:t>Quantitative Modeling (7)</a:t>
                      </a:r>
                      <a:endParaRPr kumimoji="0" lang="en-US" sz="800" b="0" i="0" u="none" strike="noStrike" cap="none" normalizeH="0" baseline="0" dirty="0" smtClean="0">
                        <a:ln>
                          <a:noFill/>
                        </a:ln>
                        <a:solidFill>
                          <a:schemeClr val="tx1"/>
                        </a:solidFill>
                        <a:effectLst/>
                        <a:latin typeface="Arial" charset="0"/>
                      </a:endParaRPr>
                    </a:p>
                  </a:txBody>
                  <a:tcPr marL="18288" marR="18288" marT="155448" marB="146304"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98" name="Group 21"/>
          <p:cNvGraphicFramePr>
            <a:graphicFrameLocks noGrp="1"/>
          </p:cNvGraphicFramePr>
          <p:nvPr>
            <p:extLst/>
          </p:nvPr>
        </p:nvGraphicFramePr>
        <p:xfrm>
          <a:off x="3477958" y="4637272"/>
          <a:ext cx="1508760" cy="728472"/>
        </p:xfrm>
        <a:graphic>
          <a:graphicData uri="http://schemas.openxmlformats.org/drawingml/2006/table">
            <a:tbl>
              <a:tblPr/>
              <a:tblGrid>
                <a:gridCol w="1508760"/>
              </a:tblGrid>
              <a:tr h="2471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bg1"/>
                          </a:solidFill>
                          <a:effectLst/>
                          <a:latin typeface="Calibri" pitchFamily="34" charset="0"/>
                        </a:rPr>
                        <a:t>Lien Chen</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Calibri" pitchFamily="34" charset="0"/>
                        </a:rPr>
                        <a:t>Quantitative Modeling (2)</a:t>
                      </a:r>
                      <a:endParaRPr kumimoji="0" lang="en-US" sz="800" b="0" i="0" u="none" strike="noStrike" cap="none" normalizeH="0" baseline="0" dirty="0" smtClean="0">
                        <a:ln>
                          <a:noFill/>
                        </a:ln>
                        <a:solidFill>
                          <a:schemeClr val="tx1"/>
                        </a:solidFill>
                        <a:effectLst/>
                        <a:latin typeface="Arial" charset="0"/>
                      </a:endParaRPr>
                    </a:p>
                  </a:txBody>
                  <a:tcPr marL="18288" marR="18288" marT="155448" marB="146304"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00" name="Group 21"/>
          <p:cNvGraphicFramePr>
            <a:graphicFrameLocks noGrp="1"/>
          </p:cNvGraphicFramePr>
          <p:nvPr>
            <p:extLst/>
          </p:nvPr>
        </p:nvGraphicFramePr>
        <p:xfrm>
          <a:off x="6662228" y="3779079"/>
          <a:ext cx="1508760" cy="728472"/>
        </p:xfrm>
        <a:graphic>
          <a:graphicData uri="http://schemas.openxmlformats.org/drawingml/2006/table">
            <a:tbl>
              <a:tblPr/>
              <a:tblGrid>
                <a:gridCol w="1508760"/>
              </a:tblGrid>
              <a:tr h="2471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bg1"/>
                          </a:solidFill>
                          <a:effectLst/>
                          <a:latin typeface="Calibri" pitchFamily="34" charset="0"/>
                        </a:rPr>
                        <a:t>James Edwards</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Calibri" pitchFamily="34" charset="0"/>
                        </a:rPr>
                        <a:t>Investor Relations (5)</a:t>
                      </a:r>
                      <a:endParaRPr kumimoji="0" lang="en-US" sz="800" b="0" i="0" u="none" strike="noStrike" cap="none" normalizeH="0" baseline="0" dirty="0" smtClean="0">
                        <a:ln>
                          <a:noFill/>
                        </a:ln>
                        <a:solidFill>
                          <a:schemeClr val="tx1"/>
                        </a:solidFill>
                        <a:effectLst/>
                        <a:latin typeface="Arial" charset="0"/>
                      </a:endParaRPr>
                    </a:p>
                  </a:txBody>
                  <a:tcPr marL="18288" marR="18288" marT="155448" marB="146304"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02" name="Group 21"/>
          <p:cNvGraphicFramePr>
            <a:graphicFrameLocks noGrp="1"/>
          </p:cNvGraphicFramePr>
          <p:nvPr>
            <p:extLst/>
          </p:nvPr>
        </p:nvGraphicFramePr>
        <p:xfrm>
          <a:off x="8254364" y="3779079"/>
          <a:ext cx="1508760" cy="728472"/>
        </p:xfrm>
        <a:graphic>
          <a:graphicData uri="http://schemas.openxmlformats.org/drawingml/2006/table">
            <a:tbl>
              <a:tblPr/>
              <a:tblGrid>
                <a:gridCol w="1508760"/>
              </a:tblGrid>
              <a:tr h="2471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bg1"/>
                          </a:solidFill>
                          <a:effectLst/>
                          <a:latin typeface="Calibri" pitchFamily="34" charset="0"/>
                        </a:rPr>
                        <a:t>Jeff Waller</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Calibri" pitchFamily="34" charset="0"/>
                        </a:rPr>
                        <a:t>Trading Operations (23)</a:t>
                      </a:r>
                      <a:endParaRPr kumimoji="0" lang="en-US" sz="800" b="0" i="0" u="none" strike="noStrike" cap="none" normalizeH="0" baseline="0" dirty="0" smtClean="0">
                        <a:ln>
                          <a:noFill/>
                        </a:ln>
                        <a:solidFill>
                          <a:schemeClr val="tx1"/>
                        </a:solidFill>
                        <a:effectLst/>
                        <a:latin typeface="Arial" charset="0"/>
                      </a:endParaRPr>
                    </a:p>
                  </a:txBody>
                  <a:tcPr marL="18288" marR="18288" marT="155448" marB="146304"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03" name="Group 21"/>
          <p:cNvGraphicFramePr>
            <a:graphicFrameLocks noGrp="1"/>
          </p:cNvGraphicFramePr>
          <p:nvPr>
            <p:extLst/>
          </p:nvPr>
        </p:nvGraphicFramePr>
        <p:xfrm>
          <a:off x="8254364" y="4637272"/>
          <a:ext cx="1508760" cy="728472"/>
        </p:xfrm>
        <a:graphic>
          <a:graphicData uri="http://schemas.openxmlformats.org/drawingml/2006/table">
            <a:tbl>
              <a:tblPr/>
              <a:tblGrid>
                <a:gridCol w="1508760"/>
              </a:tblGrid>
              <a:tr h="2471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endParaRPr kumimoji="0" lang="en-US" sz="800" b="0" i="0" u="none" strike="noStrike" cap="none" normalizeH="0" baseline="0" dirty="0" smtClean="0">
                        <a:ln>
                          <a:noFill/>
                        </a:ln>
                        <a:solidFill>
                          <a:schemeClr val="tx1"/>
                        </a:solidFill>
                        <a:effectLst/>
                        <a:latin typeface="Arial" charset="0"/>
                      </a:endParaRPr>
                    </a:p>
                  </a:txBody>
                  <a:tcPr marL="18288" marR="18288" marT="155448" marB="146304"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04" name="Group 21"/>
          <p:cNvGraphicFramePr>
            <a:graphicFrameLocks noGrp="1"/>
          </p:cNvGraphicFramePr>
          <p:nvPr>
            <p:extLst/>
          </p:nvPr>
        </p:nvGraphicFramePr>
        <p:xfrm>
          <a:off x="5070093" y="3779079"/>
          <a:ext cx="1508760" cy="728472"/>
        </p:xfrm>
        <a:graphic>
          <a:graphicData uri="http://schemas.openxmlformats.org/drawingml/2006/table">
            <a:tbl>
              <a:tblPr/>
              <a:tblGrid>
                <a:gridCol w="1508760"/>
              </a:tblGrid>
              <a:tr h="2471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bg1"/>
                          </a:solidFill>
                          <a:effectLst/>
                          <a:latin typeface="Calibri" pitchFamily="34" charset="0"/>
                        </a:rPr>
                        <a:t>Johnson Ho</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Calibri" pitchFamily="34" charset="0"/>
                        </a:rPr>
                        <a:t>Trading Analytics (16)</a:t>
                      </a:r>
                      <a:endParaRPr kumimoji="0" lang="en-US" sz="800" b="0" i="0" u="none" strike="noStrike" cap="none" normalizeH="0" baseline="0" dirty="0" smtClean="0">
                        <a:ln>
                          <a:noFill/>
                        </a:ln>
                        <a:solidFill>
                          <a:schemeClr val="tx1"/>
                        </a:solidFill>
                        <a:effectLst/>
                        <a:latin typeface="Arial" charset="0"/>
                      </a:endParaRPr>
                    </a:p>
                  </a:txBody>
                  <a:tcPr marL="18288" marR="18288" marT="155448" marB="146304"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05" name="Group 21"/>
          <p:cNvGraphicFramePr>
            <a:graphicFrameLocks noGrp="1"/>
          </p:cNvGraphicFramePr>
          <p:nvPr>
            <p:extLst/>
          </p:nvPr>
        </p:nvGraphicFramePr>
        <p:xfrm>
          <a:off x="5070093" y="4637272"/>
          <a:ext cx="1508760" cy="728472"/>
        </p:xfrm>
        <a:graphic>
          <a:graphicData uri="http://schemas.openxmlformats.org/drawingml/2006/table">
            <a:tbl>
              <a:tblPr/>
              <a:tblGrid>
                <a:gridCol w="1508760"/>
              </a:tblGrid>
              <a:tr h="2471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bg1"/>
                          </a:solidFill>
                          <a:effectLst/>
                          <a:latin typeface="Calibri" pitchFamily="34" charset="0"/>
                        </a:rPr>
                        <a:t>Purvi Mehta</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Calibri" pitchFamily="34" charset="0"/>
                        </a:rPr>
                        <a:t>Prepayment Analytics (15)</a:t>
                      </a:r>
                      <a:endParaRPr kumimoji="0" lang="en-US" sz="800" b="0" i="0" u="none" strike="noStrike" cap="none" normalizeH="0" baseline="0" dirty="0" smtClean="0">
                        <a:ln>
                          <a:noFill/>
                        </a:ln>
                        <a:solidFill>
                          <a:schemeClr val="tx1"/>
                        </a:solidFill>
                        <a:effectLst/>
                        <a:latin typeface="Arial" charset="0"/>
                      </a:endParaRPr>
                    </a:p>
                  </a:txBody>
                  <a:tcPr marL="18288" marR="18288" marT="155448" marB="146304"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06" name="Group 21"/>
          <p:cNvGraphicFramePr>
            <a:graphicFrameLocks noGrp="1"/>
          </p:cNvGraphicFramePr>
          <p:nvPr>
            <p:extLst/>
          </p:nvPr>
        </p:nvGraphicFramePr>
        <p:xfrm>
          <a:off x="5069553" y="5495465"/>
          <a:ext cx="1508760" cy="728472"/>
        </p:xfrm>
        <a:graphic>
          <a:graphicData uri="http://schemas.openxmlformats.org/drawingml/2006/table">
            <a:tbl>
              <a:tblPr/>
              <a:tblGrid>
                <a:gridCol w="1508760"/>
              </a:tblGrid>
              <a:tr h="2471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bg1"/>
                          </a:solidFill>
                          <a:effectLst/>
                          <a:latin typeface="Calibri" pitchFamily="34" charset="0"/>
                        </a:rPr>
                        <a:t>Neo Wang</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Calibri" pitchFamily="34" charset="0"/>
                        </a:rPr>
                        <a:t>Operations Automation (2)</a:t>
                      </a:r>
                      <a:endParaRPr kumimoji="0" lang="en-US" sz="800" b="0" i="0" u="none" strike="noStrike" cap="none" normalizeH="0" baseline="0" dirty="0" smtClean="0">
                        <a:ln>
                          <a:noFill/>
                        </a:ln>
                        <a:solidFill>
                          <a:schemeClr val="tx1"/>
                        </a:solidFill>
                        <a:effectLst/>
                        <a:latin typeface="Arial" charset="0"/>
                      </a:endParaRPr>
                    </a:p>
                  </a:txBody>
                  <a:tcPr marL="18288" marR="18288" marT="155448" marB="146304"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107" name="Group 21"/>
          <p:cNvGraphicFramePr>
            <a:graphicFrameLocks noGrp="1"/>
          </p:cNvGraphicFramePr>
          <p:nvPr>
            <p:extLst/>
          </p:nvPr>
        </p:nvGraphicFramePr>
        <p:xfrm>
          <a:off x="5069553" y="6353659"/>
          <a:ext cx="1508760" cy="728472"/>
        </p:xfrm>
        <a:graphic>
          <a:graphicData uri="http://schemas.openxmlformats.org/drawingml/2006/table">
            <a:tbl>
              <a:tblPr/>
              <a:tblGrid>
                <a:gridCol w="1508760"/>
              </a:tblGrid>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bg1"/>
                          </a:solidFill>
                          <a:effectLst/>
                          <a:latin typeface="Calibri" pitchFamily="34" charset="0"/>
                        </a:rPr>
                        <a:t>Hongzhuo Zhang</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Calibri" pitchFamily="34" charset="0"/>
                        </a:rPr>
                        <a:t>Trading Analytics (1)</a:t>
                      </a:r>
                      <a:endParaRPr kumimoji="0" lang="en-US" sz="800" b="0" i="0" u="none" strike="noStrike" cap="none" normalizeH="0" baseline="0" dirty="0" smtClean="0">
                        <a:ln>
                          <a:noFill/>
                        </a:ln>
                        <a:solidFill>
                          <a:schemeClr val="tx1"/>
                        </a:solidFill>
                        <a:effectLst/>
                        <a:latin typeface="Arial" charset="0"/>
                      </a:endParaRPr>
                    </a:p>
                  </a:txBody>
                  <a:tcPr marL="18288" marR="18288" marT="155448" marB="146304"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sp>
        <p:nvSpPr>
          <p:cNvPr id="3" name="Title 2"/>
          <p:cNvSpPr>
            <a:spLocks noGrp="1"/>
          </p:cNvSpPr>
          <p:nvPr>
            <p:ph type="title"/>
          </p:nvPr>
        </p:nvSpPr>
        <p:spPr/>
        <p:txBody>
          <a:bodyPr/>
          <a:lstStyle/>
          <a:p>
            <a:r>
              <a:rPr lang="en-US" dirty="0" smtClean="0"/>
              <a:t>ORGANIZATION CHART</a:t>
            </a:r>
            <a:br>
              <a:rPr lang="en-US" dirty="0" smtClean="0"/>
            </a:br>
            <a:endParaRPr lang="en-US" dirty="0"/>
          </a:p>
        </p:txBody>
      </p:sp>
      <p:sp>
        <p:nvSpPr>
          <p:cNvPr id="4" name="Text Placeholder 3"/>
          <p:cNvSpPr>
            <a:spLocks noGrp="1"/>
          </p:cNvSpPr>
          <p:nvPr>
            <p:ph type="body" sz="quarter" idx="10"/>
          </p:nvPr>
        </p:nvSpPr>
        <p:spPr/>
        <p:txBody>
          <a:bodyPr/>
          <a:lstStyle/>
          <a:p>
            <a:r>
              <a:rPr lang="en-US" dirty="0" smtClean="0"/>
              <a:t>Cello Team is 20-Strong</a:t>
            </a:r>
            <a:endParaRPr lang="en-US" dirty="0"/>
          </a:p>
        </p:txBody>
      </p:sp>
      <p:sp>
        <p:nvSpPr>
          <p:cNvPr id="40" name="TextBox 39"/>
          <p:cNvSpPr txBox="1"/>
          <p:nvPr/>
        </p:nvSpPr>
        <p:spPr>
          <a:xfrm>
            <a:off x="638355" y="7366958"/>
            <a:ext cx="5503653" cy="200055"/>
          </a:xfrm>
          <a:prstGeom prst="rect">
            <a:avLst/>
          </a:prstGeom>
          <a:noFill/>
        </p:spPr>
        <p:txBody>
          <a:bodyPr wrap="square" rtlCol="0">
            <a:spAutoFit/>
          </a:bodyPr>
          <a:lstStyle/>
          <a:p>
            <a:pPr defTabSz="1018824" fontAlgn="auto">
              <a:spcBef>
                <a:spcPts val="0"/>
              </a:spcBef>
              <a:spcAft>
                <a:spcPts val="0"/>
              </a:spcAft>
            </a:pPr>
            <a:r>
              <a:rPr lang="en-US" sz="700" dirty="0" smtClean="0">
                <a:solidFill>
                  <a:srgbClr val="000000"/>
                </a:solidFill>
                <a:latin typeface="Calibri"/>
              </a:rPr>
              <a:t>Note: Numbers in parentheses indicates years of experience </a:t>
            </a:r>
            <a:endParaRPr lang="en-US" sz="700" dirty="0">
              <a:solidFill>
                <a:srgbClr val="000000"/>
              </a:solidFill>
              <a:latin typeface="Calibri"/>
            </a:endParaRPr>
          </a:p>
        </p:txBody>
      </p:sp>
      <p:graphicFrame>
        <p:nvGraphicFramePr>
          <p:cNvPr id="41" name="Group 21"/>
          <p:cNvGraphicFramePr>
            <a:graphicFrameLocks noGrp="1"/>
          </p:cNvGraphicFramePr>
          <p:nvPr>
            <p:extLst/>
          </p:nvPr>
        </p:nvGraphicFramePr>
        <p:xfrm>
          <a:off x="8253014" y="2917838"/>
          <a:ext cx="1508760" cy="731520"/>
        </p:xfrm>
        <a:graphic>
          <a:graphicData uri="http://schemas.openxmlformats.org/drawingml/2006/table">
            <a:tbl>
              <a:tblPr/>
              <a:tblGrid>
                <a:gridCol w="1508760"/>
              </a:tblGrid>
              <a:tr h="2471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bg1"/>
                          </a:solidFill>
                          <a:effectLst/>
                          <a:latin typeface="Calibri" pitchFamily="34" charset="0"/>
                        </a:rPr>
                        <a:t>Dennis Ouma, PhD</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30110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Calibri" pitchFamily="34" charset="0"/>
                        </a:rPr>
                        <a:t>Chief Operating &amp; Compliance Officer (16)</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46" name="Group 21"/>
          <p:cNvGraphicFramePr>
            <a:graphicFrameLocks noGrp="1"/>
          </p:cNvGraphicFramePr>
          <p:nvPr>
            <p:extLst/>
          </p:nvPr>
        </p:nvGraphicFramePr>
        <p:xfrm>
          <a:off x="8254759" y="4634097"/>
          <a:ext cx="1508760" cy="731520"/>
        </p:xfrm>
        <a:graphic>
          <a:graphicData uri="http://schemas.openxmlformats.org/drawingml/2006/table">
            <a:tbl>
              <a:tblPr/>
              <a:tblGrid>
                <a:gridCol w="1508760"/>
              </a:tblGrid>
              <a:tr h="29557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bg1"/>
                          </a:solidFill>
                          <a:effectLst/>
                          <a:latin typeface="Calibri" pitchFamily="34" charset="0"/>
                        </a:rPr>
                        <a:t>Heather Hart</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30110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Calibri" pitchFamily="34" charset="0"/>
                        </a:rPr>
                        <a:t>Compliance &amp; Business Management (4)</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49" name="Group 21"/>
          <p:cNvGraphicFramePr>
            <a:graphicFrameLocks noGrp="1"/>
          </p:cNvGraphicFramePr>
          <p:nvPr>
            <p:extLst/>
          </p:nvPr>
        </p:nvGraphicFramePr>
        <p:xfrm>
          <a:off x="8259282" y="5495137"/>
          <a:ext cx="1508760" cy="728472"/>
        </p:xfrm>
        <a:graphic>
          <a:graphicData uri="http://schemas.openxmlformats.org/drawingml/2006/table">
            <a:tbl>
              <a:tblPr/>
              <a:tblGrid>
                <a:gridCol w="1508760"/>
              </a:tblGrid>
              <a:tr h="2471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bg1"/>
                          </a:solidFill>
                          <a:effectLst/>
                          <a:latin typeface="Calibri" pitchFamily="34" charset="0"/>
                        </a:rPr>
                        <a:t>Cecelia Cheng</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0">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Calibri" pitchFamily="34" charset="0"/>
                        </a:rPr>
                        <a:t>Trading Operations (2)</a:t>
                      </a:r>
                      <a:endParaRPr kumimoji="0" lang="en-US" sz="800" b="0" i="0" u="none" strike="noStrike" cap="none" normalizeH="0" baseline="0" dirty="0" smtClean="0">
                        <a:ln>
                          <a:noFill/>
                        </a:ln>
                        <a:solidFill>
                          <a:schemeClr val="tx1"/>
                        </a:solidFill>
                        <a:effectLst/>
                        <a:latin typeface="Arial" charset="0"/>
                      </a:endParaRPr>
                    </a:p>
                  </a:txBody>
                  <a:tcPr marL="18288" marR="18288" marT="155448" marB="146304"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graphicFrame>
        <p:nvGraphicFramePr>
          <p:cNvPr id="51" name="Group 21"/>
          <p:cNvGraphicFramePr>
            <a:graphicFrameLocks noGrp="1"/>
          </p:cNvGraphicFramePr>
          <p:nvPr>
            <p:extLst/>
          </p:nvPr>
        </p:nvGraphicFramePr>
        <p:xfrm>
          <a:off x="6662228" y="2917838"/>
          <a:ext cx="1508760" cy="731520"/>
        </p:xfrm>
        <a:graphic>
          <a:graphicData uri="http://schemas.openxmlformats.org/drawingml/2006/table">
            <a:tbl>
              <a:tblPr/>
              <a:tblGrid>
                <a:gridCol w="1508760"/>
              </a:tblGrid>
              <a:tr h="247199">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1" i="0" u="none" strike="noStrike" cap="none" normalizeH="0" baseline="0" dirty="0" smtClean="0">
                          <a:ln>
                            <a:noFill/>
                          </a:ln>
                          <a:solidFill>
                            <a:schemeClr val="bg1"/>
                          </a:solidFill>
                          <a:effectLst/>
                          <a:latin typeface="Calibri" pitchFamily="34" charset="0"/>
                        </a:rPr>
                        <a:t>Elizabeth Styron</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accent2"/>
                    </a:solidFill>
                  </a:tcPr>
                </a:tc>
              </a:tr>
              <a:tr h="301104">
                <a:tc>
                  <a:txBody>
                    <a:bodyPr/>
                    <a:lstStyle/>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Calibri" pitchFamily="34" charset="0"/>
                        </a:rPr>
                        <a:t>Head of Investor Relations </a:t>
                      </a:r>
                    </a:p>
                    <a:p>
                      <a:pPr marL="0" marR="0" lvl="0" indent="0" algn="ctr" defTabSz="914400" rtl="0" eaLnBrk="1" fontAlgn="base" latinLnBrk="0" hangingPunct="1">
                        <a:lnSpc>
                          <a:spcPct val="100000"/>
                        </a:lnSpc>
                        <a:spcBef>
                          <a:spcPct val="0"/>
                        </a:spcBef>
                        <a:spcAft>
                          <a:spcPct val="0"/>
                        </a:spcAft>
                        <a:buClrTx/>
                        <a:buSzTx/>
                        <a:buFontTx/>
                        <a:buNone/>
                        <a:tabLst/>
                      </a:pPr>
                      <a:r>
                        <a:rPr kumimoji="0" lang="en-US" sz="800" b="0" i="0" u="none" strike="noStrike" cap="none" normalizeH="0" baseline="0" dirty="0" smtClean="0">
                          <a:ln>
                            <a:noFill/>
                          </a:ln>
                          <a:solidFill>
                            <a:schemeClr val="tx1"/>
                          </a:solidFill>
                          <a:effectLst/>
                          <a:latin typeface="Calibri" pitchFamily="34" charset="0"/>
                        </a:rPr>
                        <a:t>(14)</a:t>
                      </a:r>
                      <a:endParaRPr kumimoji="0" lang="en-US" sz="800" b="0" i="0" u="none" strike="noStrike" cap="none" normalizeH="0" baseline="0" dirty="0" smtClean="0">
                        <a:ln>
                          <a:noFill/>
                        </a:ln>
                        <a:solidFill>
                          <a:schemeClr val="tx1"/>
                        </a:solidFill>
                        <a:effectLst/>
                        <a:latin typeface="Arial" charset="0"/>
                      </a:endParaRPr>
                    </a:p>
                  </a:txBody>
                  <a:tcPr marL="18288" marR="18288" marT="91440" marB="91440" anchor="ctr" horzOverflow="overflow">
                    <a:lnL w="6350" cap="flat" cmpd="sng" algn="ctr">
                      <a:solidFill>
                        <a:schemeClr val="accent3"/>
                      </a:solidFill>
                      <a:prstDash val="solid"/>
                      <a:round/>
                      <a:headEnd type="none" w="med" len="med"/>
                      <a:tailEnd type="none" w="med" len="med"/>
                    </a:lnL>
                    <a:lnR w="6350" cap="flat" cmpd="sng" algn="ctr">
                      <a:solidFill>
                        <a:schemeClr val="accent3"/>
                      </a:solid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spTree>
    <p:extLst>
      <p:ext uri="{BB962C8B-B14F-4D97-AF65-F5344CB8AC3E}">
        <p14:creationId xmlns:p14="http://schemas.microsoft.com/office/powerpoint/2010/main" val="80097958"/>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8" name="Content Placeholder 23"/>
          <p:cNvGraphicFramePr>
            <a:graphicFrameLocks/>
          </p:cNvGraphicFramePr>
          <p:nvPr>
            <p:extLst>
              <p:ext uri="{D42A27DB-BD31-4B8C-83A1-F6EECF244321}">
                <p14:modId xmlns:p14="http://schemas.microsoft.com/office/powerpoint/2010/main" val="1428446789"/>
              </p:ext>
            </p:extLst>
          </p:nvPr>
        </p:nvGraphicFramePr>
        <p:xfrm>
          <a:off x="294477" y="1905000"/>
          <a:ext cx="9468645" cy="5405120"/>
        </p:xfrm>
        <a:graphic>
          <a:graphicData uri="http://schemas.openxmlformats.org/drawingml/2006/table">
            <a:tbl>
              <a:tblPr firstRow="1" bandRow="1">
                <a:tableStyleId>{5C22544A-7EE6-4342-B048-85BDC9FD1C3A}</a:tableStyleId>
              </a:tblPr>
              <a:tblGrid>
                <a:gridCol w="848523"/>
                <a:gridCol w="990600"/>
                <a:gridCol w="546100"/>
                <a:gridCol w="546100"/>
                <a:gridCol w="546100"/>
                <a:gridCol w="546100"/>
                <a:gridCol w="546100"/>
                <a:gridCol w="546100"/>
                <a:gridCol w="546100"/>
                <a:gridCol w="546100"/>
                <a:gridCol w="546100"/>
                <a:gridCol w="546100"/>
                <a:gridCol w="546100"/>
                <a:gridCol w="546100"/>
                <a:gridCol w="1076322"/>
              </a:tblGrid>
              <a:tr h="904302">
                <a:tc gridSpan="15">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300" b="1" dirty="0" smtClean="0">
                          <a:solidFill>
                            <a:schemeClr val="accent1"/>
                          </a:solidFill>
                        </a:rPr>
                        <a:t>Toby Maitland Hudson, </a:t>
                      </a:r>
                      <a:r>
                        <a:rPr lang="en-US" sz="1300" b="0" i="0" dirty="0" smtClean="0">
                          <a:solidFill>
                            <a:schemeClr val="tx1"/>
                          </a:solidFill>
                        </a:rPr>
                        <a:t>Head Portfolio Manager</a:t>
                      </a:r>
                    </a:p>
                    <a:p>
                      <a:pPr marL="0" marR="0" indent="0" algn="l" defTabSz="1018824" rtl="0" eaLnBrk="1" fontAlgn="auto" latinLnBrk="0" hangingPunct="1">
                        <a:lnSpc>
                          <a:spcPct val="100000"/>
                        </a:lnSpc>
                        <a:spcBef>
                          <a:spcPts val="0"/>
                        </a:spcBef>
                        <a:spcAft>
                          <a:spcPts val="0"/>
                        </a:spcAft>
                        <a:buClrTx/>
                        <a:buSzTx/>
                        <a:buFontTx/>
                        <a:buNone/>
                        <a:tabLst/>
                        <a:defRPr/>
                      </a:pPr>
                      <a:endParaRPr lang="en-US" sz="1300" b="0" i="0" dirty="0" smtClean="0">
                        <a:solidFill>
                          <a:schemeClr val="tx1"/>
                        </a:solidFill>
                      </a:endParaRPr>
                    </a:p>
                    <a:p>
                      <a:pPr marL="0" marR="0" indent="0" algn="l" defTabSz="1018824" rtl="0" eaLnBrk="1" fontAlgn="auto" latinLnBrk="0" hangingPunct="1">
                        <a:lnSpc>
                          <a:spcPct val="100000"/>
                        </a:lnSpc>
                        <a:spcBef>
                          <a:spcPts val="0"/>
                        </a:spcBef>
                        <a:spcAft>
                          <a:spcPts val="0"/>
                        </a:spcAft>
                        <a:buClrTx/>
                        <a:buSzTx/>
                        <a:buFontTx/>
                        <a:buNone/>
                        <a:tabLst/>
                        <a:defRPr/>
                      </a:pPr>
                      <a:endParaRPr lang="en-US" sz="1300" b="0" i="0" dirty="0" smtClean="0">
                        <a:solidFill>
                          <a:schemeClr val="tx1"/>
                        </a:solidFill>
                      </a:endParaRPr>
                    </a:p>
                    <a:p>
                      <a:pPr marL="0" marR="0" indent="0" algn="l" defTabSz="1018824" rtl="0" eaLnBrk="1" fontAlgn="auto" latinLnBrk="0" hangingPunct="1">
                        <a:lnSpc>
                          <a:spcPct val="100000"/>
                        </a:lnSpc>
                        <a:spcBef>
                          <a:spcPts val="0"/>
                        </a:spcBef>
                        <a:spcAft>
                          <a:spcPts val="0"/>
                        </a:spcAft>
                        <a:buClrTx/>
                        <a:buSzTx/>
                        <a:buFontTx/>
                        <a:buNone/>
                        <a:tabLst/>
                        <a:defRPr/>
                      </a:pPr>
                      <a:endParaRPr lang="en-US" sz="1300" b="0" i="0" dirty="0" smtClean="0">
                        <a:solidFill>
                          <a:schemeClr val="tx1"/>
                        </a:solidFill>
                      </a:endParaRPr>
                    </a:p>
                  </a:txBody>
                  <a:tcPr marL="0" marR="0" marT="9144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3"/>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marR="0" indent="0" algn="l" defTabSz="1018824" rtl="0" eaLnBrk="1" fontAlgn="auto" latinLnBrk="0" hangingPunct="1">
                        <a:lnSpc>
                          <a:spcPct val="100000"/>
                        </a:lnSpc>
                        <a:spcBef>
                          <a:spcPts val="0"/>
                        </a:spcBef>
                        <a:spcAft>
                          <a:spcPts val="0"/>
                        </a:spcAft>
                        <a:buClrTx/>
                        <a:buSzTx/>
                        <a:buFontTx/>
                        <a:buNone/>
                        <a:tabLst/>
                        <a:defRPr/>
                      </a:pPr>
                      <a:endParaRPr lang="en-US" sz="1400" b="0" i="0" dirty="0" smtClean="0">
                        <a:solidFill>
                          <a:schemeClr val="tx1"/>
                        </a:solidFill>
                      </a:endParaRPr>
                    </a:p>
                  </a:txBody>
                  <a:tcPr marL="0" marR="0" marT="91440" marB="9144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3"/>
                      </a:solid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l" defTabSz="1018824" rtl="0" eaLnBrk="1" fontAlgn="auto" latinLnBrk="0" hangingPunct="1">
                        <a:lnSpc>
                          <a:spcPct val="100000"/>
                        </a:lnSpc>
                        <a:spcBef>
                          <a:spcPts val="0"/>
                        </a:spcBef>
                        <a:spcAft>
                          <a:spcPts val="0"/>
                        </a:spcAft>
                        <a:buClrTx/>
                        <a:buSzTx/>
                        <a:buFontTx/>
                        <a:buNone/>
                        <a:tabLst/>
                        <a:defRPr/>
                      </a:pPr>
                      <a:endParaRPr lang="en-US" sz="1400" b="0" i="0" dirty="0" smtClean="0">
                        <a:solidFill>
                          <a:schemeClr val="tx1"/>
                        </a:solidFill>
                      </a:endParaRPr>
                    </a:p>
                  </a:txBody>
                  <a:tcPr marL="0" marR="0" marT="91440" marB="9144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3"/>
                      </a:solid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l" defTabSz="1018824" rtl="0" eaLnBrk="1" fontAlgn="auto" latinLnBrk="0" hangingPunct="1">
                        <a:lnSpc>
                          <a:spcPct val="100000"/>
                        </a:lnSpc>
                        <a:spcBef>
                          <a:spcPts val="0"/>
                        </a:spcBef>
                        <a:spcAft>
                          <a:spcPts val="0"/>
                        </a:spcAft>
                        <a:buClrTx/>
                        <a:buSzTx/>
                        <a:buFontTx/>
                        <a:buNone/>
                        <a:tabLst/>
                        <a:defRPr/>
                      </a:pPr>
                      <a:endParaRPr lang="en-US" sz="1400" b="0" i="0" dirty="0" smtClean="0">
                        <a:solidFill>
                          <a:schemeClr val="tx1"/>
                        </a:solidFill>
                      </a:endParaRPr>
                    </a:p>
                  </a:txBody>
                  <a:tcPr marL="0" marR="0" marT="91440" marB="9144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3"/>
                      </a:solid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l" defTabSz="1018824" rtl="0" eaLnBrk="1" fontAlgn="auto" latinLnBrk="0" hangingPunct="1">
                        <a:lnSpc>
                          <a:spcPct val="100000"/>
                        </a:lnSpc>
                        <a:spcBef>
                          <a:spcPts val="0"/>
                        </a:spcBef>
                        <a:spcAft>
                          <a:spcPts val="0"/>
                        </a:spcAft>
                        <a:buClrTx/>
                        <a:buSzTx/>
                        <a:buFontTx/>
                        <a:buNone/>
                        <a:tabLst/>
                        <a:defRPr/>
                      </a:pPr>
                      <a:endParaRPr lang="en-US" sz="1400" b="0" i="0" dirty="0" smtClean="0">
                        <a:solidFill>
                          <a:schemeClr val="tx1"/>
                        </a:solidFill>
                      </a:endParaRPr>
                    </a:p>
                  </a:txBody>
                  <a:tcPr marL="0" marR="0" marT="91440" marB="9144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3"/>
                      </a:solid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l" defTabSz="1018824" rtl="0" eaLnBrk="1" fontAlgn="auto" latinLnBrk="0" hangingPunct="1">
                        <a:lnSpc>
                          <a:spcPct val="100000"/>
                        </a:lnSpc>
                        <a:spcBef>
                          <a:spcPts val="0"/>
                        </a:spcBef>
                        <a:spcAft>
                          <a:spcPts val="0"/>
                        </a:spcAft>
                        <a:buClrTx/>
                        <a:buSzTx/>
                        <a:buFontTx/>
                        <a:buNone/>
                        <a:tabLst/>
                        <a:defRPr/>
                      </a:pPr>
                      <a:endParaRPr lang="en-US" sz="1400" b="0" i="0" dirty="0" smtClean="0">
                        <a:solidFill>
                          <a:schemeClr val="tx1"/>
                        </a:solidFill>
                      </a:endParaRPr>
                    </a:p>
                  </a:txBody>
                  <a:tcPr marL="0" marR="0" marT="91440" marB="9144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3"/>
                      </a:solid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l" defTabSz="1018824" rtl="0" eaLnBrk="1" fontAlgn="auto" latinLnBrk="0" hangingPunct="1">
                        <a:lnSpc>
                          <a:spcPct val="100000"/>
                        </a:lnSpc>
                        <a:spcBef>
                          <a:spcPts val="0"/>
                        </a:spcBef>
                        <a:spcAft>
                          <a:spcPts val="0"/>
                        </a:spcAft>
                        <a:buClrTx/>
                        <a:buSzTx/>
                        <a:buFontTx/>
                        <a:buNone/>
                        <a:tabLst/>
                        <a:defRPr/>
                      </a:pPr>
                      <a:endParaRPr lang="en-US" sz="1400" b="0" i="0" dirty="0" smtClean="0">
                        <a:solidFill>
                          <a:schemeClr val="tx1"/>
                        </a:solidFill>
                      </a:endParaRPr>
                    </a:p>
                  </a:txBody>
                  <a:tcPr marL="0" marR="0" marT="91440" marB="9144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3"/>
                      </a:solid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l" defTabSz="1018824" rtl="0" eaLnBrk="1" fontAlgn="auto" latinLnBrk="0" hangingPunct="1">
                        <a:lnSpc>
                          <a:spcPct val="100000"/>
                        </a:lnSpc>
                        <a:spcBef>
                          <a:spcPts val="0"/>
                        </a:spcBef>
                        <a:spcAft>
                          <a:spcPts val="0"/>
                        </a:spcAft>
                        <a:buClrTx/>
                        <a:buSzTx/>
                        <a:buFontTx/>
                        <a:buNone/>
                        <a:tabLst/>
                        <a:defRPr/>
                      </a:pPr>
                      <a:endParaRPr lang="en-US" sz="1400" b="0" i="0" dirty="0" smtClean="0">
                        <a:solidFill>
                          <a:schemeClr val="tx1"/>
                        </a:solidFill>
                      </a:endParaRPr>
                    </a:p>
                  </a:txBody>
                  <a:tcPr marL="0" marR="0" marT="91440" marB="9144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3"/>
                      </a:solid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l" defTabSz="1018824" rtl="0" eaLnBrk="1" fontAlgn="auto" latinLnBrk="0" hangingPunct="1">
                        <a:lnSpc>
                          <a:spcPct val="100000"/>
                        </a:lnSpc>
                        <a:spcBef>
                          <a:spcPts val="0"/>
                        </a:spcBef>
                        <a:spcAft>
                          <a:spcPts val="0"/>
                        </a:spcAft>
                        <a:buClrTx/>
                        <a:buSzTx/>
                        <a:buFontTx/>
                        <a:buNone/>
                        <a:tabLst/>
                        <a:defRPr/>
                      </a:pPr>
                      <a:endParaRPr lang="en-US" sz="1400" b="0" i="0" dirty="0" smtClean="0">
                        <a:solidFill>
                          <a:schemeClr val="tx1"/>
                        </a:solidFill>
                      </a:endParaRPr>
                    </a:p>
                  </a:txBody>
                  <a:tcPr marL="0" marR="0" marT="91440" marB="9144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3"/>
                      </a:solid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l" defTabSz="1018824" rtl="0" eaLnBrk="1" fontAlgn="auto" latinLnBrk="0" hangingPunct="1">
                        <a:lnSpc>
                          <a:spcPct val="100000"/>
                        </a:lnSpc>
                        <a:spcBef>
                          <a:spcPts val="0"/>
                        </a:spcBef>
                        <a:spcAft>
                          <a:spcPts val="0"/>
                        </a:spcAft>
                        <a:buClrTx/>
                        <a:buSzTx/>
                        <a:buFontTx/>
                        <a:buNone/>
                        <a:tabLst/>
                        <a:defRPr/>
                      </a:pPr>
                      <a:endParaRPr lang="en-US" sz="1400" b="0" i="0" dirty="0" smtClean="0">
                        <a:solidFill>
                          <a:schemeClr val="tx1"/>
                        </a:solidFill>
                      </a:endParaRPr>
                    </a:p>
                  </a:txBody>
                  <a:tcPr marL="0" marR="0" marT="91440" marB="9144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3"/>
                      </a:solid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l" defTabSz="1018824" rtl="0" eaLnBrk="1" fontAlgn="auto" latinLnBrk="0" hangingPunct="1">
                        <a:lnSpc>
                          <a:spcPct val="100000"/>
                        </a:lnSpc>
                        <a:spcBef>
                          <a:spcPts val="0"/>
                        </a:spcBef>
                        <a:spcAft>
                          <a:spcPts val="0"/>
                        </a:spcAft>
                        <a:buClrTx/>
                        <a:buSzTx/>
                        <a:buFontTx/>
                        <a:buNone/>
                        <a:tabLst/>
                        <a:defRPr/>
                      </a:pPr>
                      <a:endParaRPr lang="en-US" sz="1400" b="0" i="0" dirty="0" smtClean="0">
                        <a:solidFill>
                          <a:schemeClr val="tx1"/>
                        </a:solidFill>
                      </a:endParaRPr>
                    </a:p>
                  </a:txBody>
                  <a:tcPr marL="0" marR="0" marT="91440" marB="9144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3"/>
                      </a:solid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l" defTabSz="1018824" rtl="0" eaLnBrk="1" fontAlgn="auto" latinLnBrk="0" hangingPunct="1">
                        <a:lnSpc>
                          <a:spcPct val="100000"/>
                        </a:lnSpc>
                        <a:spcBef>
                          <a:spcPts val="0"/>
                        </a:spcBef>
                        <a:spcAft>
                          <a:spcPts val="0"/>
                        </a:spcAft>
                        <a:buClrTx/>
                        <a:buSzTx/>
                        <a:buFontTx/>
                        <a:buNone/>
                        <a:tabLst/>
                        <a:defRPr/>
                      </a:pPr>
                      <a:endParaRPr lang="en-US" sz="1400" b="0" i="0" dirty="0" smtClean="0">
                        <a:solidFill>
                          <a:schemeClr val="tx1"/>
                        </a:solidFill>
                      </a:endParaRPr>
                    </a:p>
                  </a:txBody>
                  <a:tcPr marL="0" marR="0" marT="91440" marB="9144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3"/>
                      </a:solid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l" defTabSz="1018824" rtl="0" eaLnBrk="1" fontAlgn="auto" latinLnBrk="0" hangingPunct="1">
                        <a:lnSpc>
                          <a:spcPct val="100000"/>
                        </a:lnSpc>
                        <a:spcBef>
                          <a:spcPts val="0"/>
                        </a:spcBef>
                        <a:spcAft>
                          <a:spcPts val="0"/>
                        </a:spcAft>
                        <a:buClrTx/>
                        <a:buSzTx/>
                        <a:buFontTx/>
                        <a:buNone/>
                        <a:tabLst/>
                        <a:defRPr/>
                      </a:pPr>
                      <a:endParaRPr lang="en-US" sz="1400" b="0" i="0" dirty="0" smtClean="0">
                        <a:solidFill>
                          <a:schemeClr val="tx1"/>
                        </a:solidFill>
                      </a:endParaRPr>
                    </a:p>
                  </a:txBody>
                  <a:tcPr marL="0" marR="0" marT="91440" marB="9144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3"/>
                      </a:solid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0" marR="0" indent="0" algn="l" defTabSz="1018824" rtl="0" eaLnBrk="1" fontAlgn="auto" latinLnBrk="0" hangingPunct="1">
                        <a:lnSpc>
                          <a:spcPct val="100000"/>
                        </a:lnSpc>
                        <a:spcBef>
                          <a:spcPts val="0"/>
                        </a:spcBef>
                        <a:spcAft>
                          <a:spcPts val="0"/>
                        </a:spcAft>
                        <a:buClrTx/>
                        <a:buSzTx/>
                        <a:buFontTx/>
                        <a:buNone/>
                        <a:tabLst/>
                        <a:defRPr/>
                      </a:pPr>
                      <a:endParaRPr lang="en-US" sz="1400" b="0" i="0" dirty="0" smtClean="0">
                        <a:solidFill>
                          <a:schemeClr val="tx1"/>
                        </a:solidFill>
                      </a:endParaRPr>
                    </a:p>
                  </a:txBody>
                  <a:tcPr marL="0" marR="0" marT="91440" marB="9144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3"/>
                      </a:solid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r>
              <a:tr h="659696">
                <a:tc>
                  <a:txBody>
                    <a:bodyPr/>
                    <a:lstStyle/>
                    <a:p>
                      <a:pPr algn="l"/>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2713" lvl="3" indent="-112713" algn="l" defTabSz="1018824" rtl="0" eaLnBrk="1" latinLnBrk="0" hangingPunct="1">
                        <a:spcBef>
                          <a:spcPts val="100"/>
                        </a:spcBef>
                        <a:buSzPct val="80000"/>
                        <a:buFont typeface="Arial" panose="020B0604020202020204" pitchFamily="34" charset="0"/>
                        <a:buChar char="•"/>
                      </a:pPr>
                      <a:r>
                        <a:rPr lang="en-US" sz="900" kern="1200" dirty="0" smtClean="0">
                          <a:solidFill>
                            <a:schemeClr val="tx1"/>
                          </a:solidFill>
                          <a:latin typeface="+mn-lt"/>
                          <a:ea typeface="+mn-ea"/>
                          <a:cs typeface="+mn-cs"/>
                        </a:rPr>
                        <a:t>Equity &amp; Credit Derivatives</a:t>
                      </a:r>
                    </a:p>
                    <a:p>
                      <a:pPr marL="112713" lvl="3" indent="-112713" algn="l" defTabSz="1018824" rtl="0" eaLnBrk="1" latinLnBrk="0" hangingPunct="1">
                        <a:spcBef>
                          <a:spcPts val="100"/>
                        </a:spcBef>
                        <a:buSzPct val="80000"/>
                        <a:buFont typeface="Arial" panose="020B0604020202020204" pitchFamily="34" charset="0"/>
                        <a:buChar char="•"/>
                      </a:pPr>
                      <a:r>
                        <a:rPr lang="en-US" sz="900" kern="1200" dirty="0" smtClean="0">
                          <a:solidFill>
                            <a:schemeClr val="tx1"/>
                          </a:solidFill>
                          <a:latin typeface="+mn-lt"/>
                          <a:ea typeface="+mn-ea"/>
                          <a:cs typeface="+mn-cs"/>
                        </a:rPr>
                        <a:t>M&amp;A</a:t>
                      </a:r>
                    </a:p>
                    <a:p>
                      <a:pPr marL="112713" lvl="3" indent="-112713" algn="l" defTabSz="1018824" rtl="0" eaLnBrk="1" latinLnBrk="0" hangingPunct="1">
                        <a:spcBef>
                          <a:spcPts val="100"/>
                        </a:spcBef>
                        <a:buSzPct val="80000"/>
                        <a:buFont typeface="Arial" panose="020B0604020202020204" pitchFamily="34" charset="0"/>
                        <a:buChar char="•"/>
                      </a:pPr>
                      <a:r>
                        <a:rPr lang="en-US" sz="900" kern="1200" dirty="0" smtClean="0">
                          <a:solidFill>
                            <a:schemeClr val="tx1"/>
                          </a:solidFill>
                          <a:latin typeface="+mn-lt"/>
                          <a:ea typeface="+mn-ea"/>
                          <a:cs typeface="+mn-cs"/>
                        </a:rPr>
                        <a:t>Tax Structuring</a:t>
                      </a: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3">
                  <a:txBody>
                    <a:bodyPr/>
                    <a:lstStyle/>
                    <a:p>
                      <a:pPr marL="112713" marR="0" lvl="3" indent="-112713" algn="l" defTabSz="1018824" rtl="0" eaLnBrk="1" fontAlgn="auto" latinLnBrk="0" hangingPunct="1">
                        <a:lnSpc>
                          <a:spcPct val="100000"/>
                        </a:lnSpc>
                        <a:spcBef>
                          <a:spcPts val="100"/>
                        </a:spcBef>
                        <a:spcAft>
                          <a:spcPts val="0"/>
                        </a:spcAft>
                        <a:buClrTx/>
                        <a:buSzPct val="80000"/>
                        <a:buFont typeface="Arial" panose="020B0604020202020204" pitchFamily="34" charset="0"/>
                        <a:buChar char="•"/>
                        <a:tabLst/>
                        <a:defRPr/>
                      </a:pPr>
                      <a:r>
                        <a:rPr lang="en-US" sz="900" dirty="0" smtClean="0"/>
                        <a:t>Corporate Credit Derivatives</a:t>
                      </a:r>
                    </a:p>
                    <a:p>
                      <a:pPr marL="112713" lvl="3" indent="-112713">
                        <a:spcBef>
                          <a:spcPts val="100"/>
                        </a:spcBef>
                        <a:buSzPct val="80000"/>
                        <a:buFont typeface="Arial" panose="020B0604020202020204" pitchFamily="34" charset="0"/>
                        <a:buChar char="•"/>
                      </a:pPr>
                      <a:r>
                        <a:rPr lang="en-US" sz="900" dirty="0" smtClean="0"/>
                        <a:t>CDO Structuring</a:t>
                      </a:r>
                    </a:p>
                    <a:p>
                      <a:pPr marL="112713" lvl="3" indent="-112713">
                        <a:spcBef>
                          <a:spcPts val="100"/>
                        </a:spcBef>
                        <a:buSzPct val="80000"/>
                        <a:buFont typeface="Arial" panose="020B0604020202020204" pitchFamily="34" charset="0"/>
                        <a:buChar char="•"/>
                      </a:pPr>
                      <a:r>
                        <a:rPr lang="en-US" sz="900" dirty="0" smtClean="0"/>
                        <a:t>Mortgage Credit Derivatives</a:t>
                      </a:r>
                      <a:endParaRPr lang="en-US" sz="900" dirty="0"/>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73038" lvl="3" indent="-173038" algn="l" defTabSz="1018824" rtl="0" eaLnBrk="1" latinLnBrk="0" hangingPunct="1">
                        <a:spcBef>
                          <a:spcPts val="100"/>
                        </a:spcBef>
                        <a:buSzPct val="80000"/>
                        <a:buFont typeface="Arial" panose="020B0604020202020204" pitchFamily="34" charset="0"/>
                        <a:buChar char="•"/>
                      </a:pPr>
                      <a:endParaRPr lang="en-US" sz="900" kern="1200" dirty="0">
                        <a:solidFill>
                          <a:schemeClr val="tx1"/>
                        </a:solidFill>
                        <a:latin typeface="+mn-lt"/>
                        <a:ea typeface="+mn-ea"/>
                        <a:cs typeface="+mn-cs"/>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73038" lvl="3" indent="-173038" algn="l" defTabSz="1018824" rtl="0" eaLnBrk="1" latinLnBrk="0" hangingPunct="1">
                        <a:spcBef>
                          <a:spcPts val="100"/>
                        </a:spcBef>
                        <a:buSzPct val="80000"/>
                        <a:buFont typeface="Arial" panose="020B0604020202020204" pitchFamily="34" charset="0"/>
                        <a:buChar char="•"/>
                      </a:pPr>
                      <a:endParaRPr lang="en-US" sz="900" kern="1200" dirty="0">
                        <a:solidFill>
                          <a:schemeClr val="tx1"/>
                        </a:solidFill>
                        <a:latin typeface="+mn-lt"/>
                        <a:ea typeface="+mn-ea"/>
                        <a:cs typeface="+mn-cs"/>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112713" lvl="3" indent="-112713">
                        <a:spcBef>
                          <a:spcPts val="100"/>
                        </a:spcBef>
                        <a:buSzPct val="80000"/>
                        <a:buFont typeface="Arial" panose="020B0604020202020204" pitchFamily="34" charset="0"/>
                        <a:buChar char="•"/>
                      </a:pPr>
                      <a:r>
                        <a:rPr lang="en-US" sz="900" dirty="0" smtClean="0"/>
                        <a:t>CMBS Proprietary Trading</a:t>
                      </a:r>
                    </a:p>
                    <a:p>
                      <a:pPr marL="112713" lvl="3" indent="-112713">
                        <a:spcBef>
                          <a:spcPts val="100"/>
                        </a:spcBef>
                        <a:buSzPct val="80000"/>
                        <a:buFont typeface="Arial" panose="020B0604020202020204" pitchFamily="34" charset="0"/>
                        <a:buChar char="•"/>
                      </a:pPr>
                      <a:r>
                        <a:rPr lang="en-US" sz="900" dirty="0" smtClean="0"/>
                        <a:t>Correlation Trading of RMBS / CMBS Credit Derivatives</a:t>
                      </a:r>
                    </a:p>
                    <a:p>
                      <a:pPr marL="112713" lvl="3" indent="-112713">
                        <a:spcBef>
                          <a:spcPts val="100"/>
                        </a:spcBef>
                        <a:buSzPct val="80000"/>
                        <a:buFont typeface="Arial" panose="020B0604020202020204" pitchFamily="34" charset="0"/>
                        <a:buChar char="•"/>
                      </a:pPr>
                      <a:r>
                        <a:rPr lang="en-US" sz="900" dirty="0" smtClean="0"/>
                        <a:t>Proprietary</a:t>
                      </a:r>
                      <a:r>
                        <a:rPr lang="en-US" sz="900" baseline="0" dirty="0" smtClean="0"/>
                        <a:t> CDS Trading</a:t>
                      </a:r>
                      <a:endParaRPr lang="en-US" sz="900" dirty="0"/>
                    </a:p>
                  </a:txBody>
                  <a:tcPr marL="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73038" lvl="3" indent="-173038" algn="l" defTabSz="1018824" rtl="0" eaLnBrk="1" latinLnBrk="0" hangingPunct="1">
                        <a:spcBef>
                          <a:spcPts val="100"/>
                        </a:spcBef>
                        <a:buSzPct val="80000"/>
                        <a:buFont typeface="Arial" panose="020B0604020202020204" pitchFamily="34" charset="0"/>
                        <a:buChar char="•"/>
                      </a:pPr>
                      <a:endParaRPr lang="en-US" sz="900" kern="1200" dirty="0">
                        <a:solidFill>
                          <a:schemeClr val="tx1"/>
                        </a:solidFill>
                        <a:latin typeface="+mn-lt"/>
                        <a:ea typeface="+mn-ea"/>
                        <a:cs typeface="+mn-cs"/>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73038" lvl="3" indent="-173038" algn="l" defTabSz="1018824" rtl="0" eaLnBrk="1" latinLnBrk="0" hangingPunct="1">
                        <a:spcBef>
                          <a:spcPts val="100"/>
                        </a:spcBef>
                        <a:buSzPct val="80000"/>
                        <a:buFont typeface="Arial" panose="020B0604020202020204" pitchFamily="34" charset="0"/>
                        <a:buChar char="•"/>
                      </a:pPr>
                      <a:endParaRPr lang="en-US" sz="900" kern="1200" dirty="0">
                        <a:solidFill>
                          <a:schemeClr val="tx1"/>
                        </a:solidFill>
                        <a:latin typeface="+mn-lt"/>
                        <a:ea typeface="+mn-ea"/>
                        <a:cs typeface="+mn-cs"/>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73038" lvl="3" indent="-173038" algn="l" defTabSz="1018824" rtl="0" eaLnBrk="1" latinLnBrk="0" hangingPunct="1">
                        <a:spcBef>
                          <a:spcPts val="100"/>
                        </a:spcBef>
                        <a:buSzPct val="80000"/>
                        <a:buFont typeface="Arial" panose="020B0604020202020204" pitchFamily="34" charset="0"/>
                        <a:buChar char="•"/>
                      </a:pPr>
                      <a:endParaRPr lang="en-US" sz="900" kern="1200" dirty="0">
                        <a:solidFill>
                          <a:schemeClr val="tx1"/>
                        </a:solidFill>
                        <a:latin typeface="+mn-lt"/>
                        <a:ea typeface="+mn-ea"/>
                        <a:cs typeface="+mn-cs"/>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73038" lvl="3" indent="-173038" algn="l" defTabSz="1018824" rtl="0" eaLnBrk="1" latinLnBrk="0" hangingPunct="1">
                        <a:spcBef>
                          <a:spcPts val="100"/>
                        </a:spcBef>
                        <a:buSzPct val="80000"/>
                        <a:buFont typeface="Arial" panose="020B0604020202020204" pitchFamily="34" charset="0"/>
                        <a:buChar char="•"/>
                      </a:pPr>
                      <a:endParaRPr lang="en-US" sz="900" kern="1200" dirty="0">
                        <a:solidFill>
                          <a:schemeClr val="tx1"/>
                        </a:solidFill>
                        <a:latin typeface="+mn-lt"/>
                        <a:ea typeface="+mn-ea"/>
                        <a:cs typeface="+mn-cs"/>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112713" lvl="3" indent="-112713">
                        <a:spcBef>
                          <a:spcPts val="100"/>
                        </a:spcBef>
                        <a:buSzPct val="80000"/>
                        <a:buFont typeface="Arial" panose="020B0604020202020204" pitchFamily="34" charset="0"/>
                        <a:buChar char="•"/>
                      </a:pPr>
                      <a:r>
                        <a:rPr lang="en-US" sz="900" dirty="0" smtClean="0"/>
                        <a:t>CMBS Cash</a:t>
                      </a:r>
                    </a:p>
                    <a:p>
                      <a:pPr marL="112713" lvl="3" indent="-112713">
                        <a:spcBef>
                          <a:spcPts val="100"/>
                        </a:spcBef>
                        <a:buSzPct val="80000"/>
                        <a:buFont typeface="Arial" panose="020B0604020202020204" pitchFamily="34" charset="0"/>
                        <a:buChar char="•"/>
                      </a:pPr>
                      <a:r>
                        <a:rPr lang="en-US" sz="900" dirty="0" smtClean="0"/>
                        <a:t>CRE Mezzanine Debt</a:t>
                      </a:r>
                    </a:p>
                    <a:p>
                      <a:pPr marL="112713" lvl="3" indent="-112713">
                        <a:spcBef>
                          <a:spcPts val="100"/>
                        </a:spcBef>
                        <a:buSzPct val="80000"/>
                        <a:buFont typeface="Arial" panose="020B0604020202020204" pitchFamily="34" charset="0"/>
                        <a:buChar char="•"/>
                      </a:pPr>
                      <a:r>
                        <a:rPr lang="en-US" sz="900" dirty="0" smtClean="0"/>
                        <a:t>CMBX</a:t>
                      </a:r>
                    </a:p>
                    <a:p>
                      <a:pPr marL="112713" lvl="3" indent="-112713">
                        <a:spcBef>
                          <a:spcPts val="100"/>
                        </a:spcBef>
                        <a:buSzPct val="80000"/>
                        <a:buFont typeface="Arial" panose="020B0604020202020204" pitchFamily="34" charset="0"/>
                        <a:buChar char="•"/>
                      </a:pPr>
                      <a:r>
                        <a:rPr lang="en-US" sz="900" dirty="0" smtClean="0"/>
                        <a:t>CMBS B-Pieces</a:t>
                      </a:r>
                      <a:endParaRPr lang="en-US" sz="900" dirty="0"/>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73038" lvl="3" indent="-173038" algn="l" defTabSz="1018824" rtl="0" eaLnBrk="1" latinLnBrk="0" hangingPunct="1">
                        <a:spcBef>
                          <a:spcPts val="100"/>
                        </a:spcBef>
                        <a:buSzPct val="80000"/>
                        <a:buFont typeface="Arial" panose="020B0604020202020204" pitchFamily="34" charset="0"/>
                        <a:buChar char="•"/>
                      </a:pPr>
                      <a:endParaRPr lang="en-US" sz="900" kern="1200" dirty="0">
                        <a:solidFill>
                          <a:schemeClr val="tx1"/>
                        </a:solidFill>
                        <a:latin typeface="+mn-lt"/>
                        <a:ea typeface="+mn-ea"/>
                        <a:cs typeface="+mn-cs"/>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73038" lvl="3" indent="-173038" algn="l" defTabSz="1018824" rtl="0" eaLnBrk="1" latinLnBrk="0" hangingPunct="1">
                        <a:spcBef>
                          <a:spcPts val="100"/>
                        </a:spcBef>
                        <a:buSzPct val="80000"/>
                        <a:buFont typeface="Arial" panose="020B0604020202020204" pitchFamily="34" charset="0"/>
                        <a:buChar char="•"/>
                      </a:pPr>
                      <a:endParaRPr lang="en-US" sz="900" kern="1200" dirty="0">
                        <a:solidFill>
                          <a:schemeClr val="tx1"/>
                        </a:solidFill>
                        <a:latin typeface="+mn-lt"/>
                        <a:ea typeface="+mn-ea"/>
                        <a:cs typeface="+mn-cs"/>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marL="173038" lvl="3" indent="-173038" algn="l" defTabSz="1018824" rtl="0" eaLnBrk="1" latinLnBrk="0" hangingPunct="1">
                        <a:spcBef>
                          <a:spcPts val="100"/>
                        </a:spcBef>
                        <a:buSzPct val="80000"/>
                        <a:buFont typeface="Arial" panose="020B0604020202020204" pitchFamily="34" charset="0"/>
                        <a:buChar char="•"/>
                      </a:pPr>
                      <a:endParaRPr lang="en-US" sz="900" kern="1200" dirty="0">
                        <a:solidFill>
                          <a:schemeClr val="tx1"/>
                        </a:solidFill>
                        <a:latin typeface="+mn-lt"/>
                        <a:ea typeface="+mn-ea"/>
                        <a:cs typeface="+mn-cs"/>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73038" lvl="3" indent="-173038" algn="l" defTabSz="1018824" rtl="0" eaLnBrk="1" latinLnBrk="0" hangingPunct="1">
                        <a:spcBef>
                          <a:spcPts val="100"/>
                        </a:spcBef>
                        <a:buSzPct val="80000"/>
                        <a:buFont typeface="Arial" panose="020B0604020202020204" pitchFamily="34" charset="0"/>
                        <a:buChar char="•"/>
                      </a:pPr>
                      <a:endParaRPr lang="en-US" sz="900" kern="1200" dirty="0">
                        <a:solidFill>
                          <a:schemeClr val="tx1"/>
                        </a:solidFill>
                        <a:latin typeface="+mn-lt"/>
                        <a:ea typeface="+mn-ea"/>
                        <a:cs typeface="+mn-cs"/>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r>
              <a:tr h="222369">
                <a:tc>
                  <a:txBody>
                    <a:bodyPr/>
                    <a:lstStyle/>
                    <a:p>
                      <a:pPr algn="l"/>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900" dirty="0"/>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75401" rtl="0" eaLnBrk="1" fontAlgn="auto" latinLnBrk="0" hangingPunct="1">
                        <a:lnSpc>
                          <a:spcPct val="100000"/>
                        </a:lnSpc>
                        <a:spcBef>
                          <a:spcPts val="0"/>
                        </a:spcBef>
                        <a:spcAft>
                          <a:spcPts val="0"/>
                        </a:spcAft>
                        <a:buClrTx/>
                        <a:buSzTx/>
                        <a:buFontTx/>
                        <a:buNone/>
                        <a:tabLst/>
                        <a:defRPr/>
                      </a:pPr>
                      <a:endParaRPr lang="en-US" sz="900" b="1" dirty="0" smtClean="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r>
              <a:tr h="859828">
                <a:tc gridSpan="15">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300" b="1" kern="1200" dirty="0" smtClean="0">
                          <a:solidFill>
                            <a:schemeClr val="accent1"/>
                          </a:solidFill>
                          <a:latin typeface="+mn-lt"/>
                          <a:ea typeface="+mn-ea"/>
                          <a:cs typeface="+mn-cs"/>
                        </a:rPr>
                        <a:t>Kashif Akhtar, </a:t>
                      </a:r>
                      <a:r>
                        <a:rPr lang="en-US" sz="1300" b="0" i="0" kern="1200" dirty="0" smtClean="0">
                          <a:solidFill>
                            <a:schemeClr val="tx1"/>
                          </a:solidFill>
                          <a:latin typeface="+mn-lt"/>
                          <a:ea typeface="+mn-ea"/>
                          <a:cs typeface="+mn-cs"/>
                        </a:rPr>
                        <a:t>Portfolio Manager</a:t>
                      </a:r>
                    </a:p>
                    <a:p>
                      <a:pPr marL="0" marR="0" indent="0" algn="l" defTabSz="1018824" rtl="0" eaLnBrk="1" fontAlgn="auto" latinLnBrk="0" hangingPunct="1">
                        <a:lnSpc>
                          <a:spcPct val="100000"/>
                        </a:lnSpc>
                        <a:spcBef>
                          <a:spcPts val="0"/>
                        </a:spcBef>
                        <a:spcAft>
                          <a:spcPts val="0"/>
                        </a:spcAft>
                        <a:buClrTx/>
                        <a:buSzTx/>
                        <a:buFontTx/>
                        <a:buNone/>
                        <a:tabLst/>
                        <a:defRPr/>
                      </a:pPr>
                      <a:endParaRPr lang="en-US" sz="1300" b="0" i="0" kern="1200" dirty="0" smtClean="0">
                        <a:solidFill>
                          <a:schemeClr val="tx1"/>
                        </a:solidFill>
                        <a:latin typeface="+mn-lt"/>
                        <a:ea typeface="+mn-ea"/>
                        <a:cs typeface="+mn-cs"/>
                      </a:endParaRPr>
                    </a:p>
                    <a:p>
                      <a:pPr marL="0" marR="0" indent="0" algn="l" defTabSz="1018824" rtl="0" eaLnBrk="1" fontAlgn="auto" latinLnBrk="0" hangingPunct="1">
                        <a:lnSpc>
                          <a:spcPct val="100000"/>
                        </a:lnSpc>
                        <a:spcBef>
                          <a:spcPts val="0"/>
                        </a:spcBef>
                        <a:spcAft>
                          <a:spcPts val="0"/>
                        </a:spcAft>
                        <a:buClrTx/>
                        <a:buSzTx/>
                        <a:buFontTx/>
                        <a:buNone/>
                        <a:tabLst/>
                        <a:defRPr/>
                      </a:pPr>
                      <a:endParaRPr lang="en-US" sz="1300" b="0" i="0" kern="1200" dirty="0" smtClean="0">
                        <a:solidFill>
                          <a:schemeClr val="tx1"/>
                        </a:solidFill>
                        <a:latin typeface="+mn-lt"/>
                        <a:ea typeface="+mn-ea"/>
                        <a:cs typeface="+mn-cs"/>
                      </a:endParaRPr>
                    </a:p>
                    <a:p>
                      <a:pPr marL="0" marR="0" indent="0" algn="l" defTabSz="1018824" rtl="0" eaLnBrk="1" fontAlgn="auto" latinLnBrk="0" hangingPunct="1">
                        <a:lnSpc>
                          <a:spcPct val="100000"/>
                        </a:lnSpc>
                        <a:spcBef>
                          <a:spcPts val="0"/>
                        </a:spcBef>
                        <a:spcAft>
                          <a:spcPts val="0"/>
                        </a:spcAft>
                        <a:buClrTx/>
                        <a:buSzTx/>
                        <a:buFontTx/>
                        <a:buNone/>
                        <a:tabLst/>
                        <a:defRPr/>
                      </a:pPr>
                      <a:endParaRPr lang="en-US" sz="1300" b="0" i="0" kern="1200" dirty="0" smtClean="0">
                        <a:solidFill>
                          <a:schemeClr val="tx1"/>
                        </a:solidFill>
                        <a:latin typeface="+mn-lt"/>
                        <a:ea typeface="+mn-ea"/>
                        <a:cs typeface="+mn-cs"/>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3"/>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marR="0" indent="0" algn="ctr" defTabSz="975401" rtl="0" eaLnBrk="1" fontAlgn="auto" latinLnBrk="0" hangingPunct="1">
                        <a:lnSpc>
                          <a:spcPct val="100000"/>
                        </a:lnSpc>
                        <a:spcBef>
                          <a:spcPts val="0"/>
                        </a:spcBef>
                        <a:spcAft>
                          <a:spcPts val="0"/>
                        </a:spcAft>
                        <a:buClrTx/>
                        <a:buSzTx/>
                        <a:buFontTx/>
                        <a:buNone/>
                        <a:tabLst/>
                        <a:defRPr/>
                      </a:pPr>
                      <a:endParaRPr lang="en-US" sz="1100" b="1" dirty="0" smtClean="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r>
              <a:tr h="659696">
                <a:tc>
                  <a:txBody>
                    <a:bodyPr/>
                    <a:lstStyle/>
                    <a:p>
                      <a:pPr algn="l"/>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900" dirty="0"/>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75401" rtl="0" eaLnBrk="1" fontAlgn="auto" latinLnBrk="0" hangingPunct="1">
                        <a:lnSpc>
                          <a:spcPct val="100000"/>
                        </a:lnSpc>
                        <a:spcBef>
                          <a:spcPts val="0"/>
                        </a:spcBef>
                        <a:spcAft>
                          <a:spcPts val="0"/>
                        </a:spcAft>
                        <a:buClrTx/>
                        <a:buSzTx/>
                        <a:buFontTx/>
                        <a:buNone/>
                        <a:tabLst/>
                        <a:defRPr/>
                      </a:pPr>
                      <a:endParaRPr lang="en-US" sz="900" b="1" dirty="0" smtClean="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5">
                  <a:txBody>
                    <a:bodyPr/>
                    <a:lstStyle/>
                    <a:p>
                      <a:pPr marL="112713" lvl="3" indent="-112713">
                        <a:spcBef>
                          <a:spcPts val="100"/>
                        </a:spcBef>
                        <a:buSzPct val="80000"/>
                        <a:buFont typeface="Arial" panose="020B0604020202020204" pitchFamily="34" charset="0"/>
                        <a:buChar char="•"/>
                      </a:pPr>
                      <a:r>
                        <a:rPr lang="en-US" sz="900" dirty="0" smtClean="0"/>
                        <a:t>FAST Program</a:t>
                      </a:r>
                    </a:p>
                    <a:p>
                      <a:pPr marL="112713" lvl="3" indent="-112713">
                        <a:spcBef>
                          <a:spcPts val="100"/>
                        </a:spcBef>
                        <a:buSzPct val="80000"/>
                        <a:buFont typeface="Arial" panose="020B0604020202020204" pitchFamily="34" charset="0"/>
                        <a:buChar char="•"/>
                      </a:pPr>
                      <a:r>
                        <a:rPr lang="en-US" sz="900" dirty="0" smtClean="0"/>
                        <a:t>CMBS Proprietary Trading/ ABS / RMBS</a:t>
                      </a:r>
                      <a:endParaRPr lang="en-US" sz="900" dirty="0"/>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112713" lvl="3" indent="-112713">
                        <a:spcBef>
                          <a:spcPts val="100"/>
                        </a:spcBef>
                        <a:buSzPct val="80000"/>
                        <a:buFont typeface="Arial" panose="020B0604020202020204" pitchFamily="34" charset="0"/>
                        <a:buChar char="•"/>
                      </a:pPr>
                      <a:r>
                        <a:rPr lang="en-US" sz="900" dirty="0" smtClean="0"/>
                        <a:t>CMBS Cash:</a:t>
                      </a:r>
                      <a:r>
                        <a:rPr lang="en-US" sz="900" baseline="0" dirty="0" smtClean="0"/>
                        <a:t>  Deep Credit</a:t>
                      </a:r>
                      <a:endParaRPr lang="en-US" sz="900" dirty="0" smtClean="0"/>
                    </a:p>
                    <a:p>
                      <a:pPr marL="112713" lvl="3" indent="-112713">
                        <a:spcBef>
                          <a:spcPts val="100"/>
                        </a:spcBef>
                        <a:buSzPct val="80000"/>
                        <a:buFont typeface="Arial" panose="020B0604020202020204" pitchFamily="34" charset="0"/>
                        <a:buChar char="•"/>
                      </a:pPr>
                      <a:r>
                        <a:rPr lang="en-US" sz="900" dirty="0" smtClean="0"/>
                        <a:t>CRE Mezzanine Debt</a:t>
                      </a:r>
                    </a:p>
                    <a:p>
                      <a:pPr marL="112713" lvl="3" indent="-112713">
                        <a:spcBef>
                          <a:spcPts val="100"/>
                        </a:spcBef>
                        <a:buSzPct val="80000"/>
                        <a:buFont typeface="Arial" panose="020B0604020202020204" pitchFamily="34" charset="0"/>
                        <a:buChar char="•"/>
                      </a:pPr>
                      <a:r>
                        <a:rPr lang="en-US" sz="900" dirty="0" smtClean="0"/>
                        <a:t>CMBX</a:t>
                      </a:r>
                    </a:p>
                    <a:p>
                      <a:pPr marL="112713" lvl="3" indent="-112713">
                        <a:spcBef>
                          <a:spcPts val="100"/>
                        </a:spcBef>
                        <a:buSzPct val="80000"/>
                        <a:buFont typeface="Arial" panose="020B0604020202020204" pitchFamily="34" charset="0"/>
                        <a:buChar char="•"/>
                      </a:pPr>
                      <a:r>
                        <a:rPr lang="en-US" sz="900" dirty="0" smtClean="0"/>
                        <a:t>CMBS B-Pieces</a:t>
                      </a:r>
                      <a:endParaRPr lang="en-US" sz="900" dirty="0"/>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r>
              <a:tr h="222369">
                <a:tc>
                  <a:txBody>
                    <a:bodyPr/>
                    <a:lstStyle/>
                    <a:p>
                      <a:pPr algn="l"/>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900" dirty="0"/>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75401" rtl="0" eaLnBrk="1" fontAlgn="auto" latinLnBrk="0" hangingPunct="1">
                        <a:lnSpc>
                          <a:spcPct val="100000"/>
                        </a:lnSpc>
                        <a:spcBef>
                          <a:spcPts val="0"/>
                        </a:spcBef>
                        <a:spcAft>
                          <a:spcPts val="0"/>
                        </a:spcAft>
                        <a:buClrTx/>
                        <a:buSzTx/>
                        <a:buFontTx/>
                        <a:buNone/>
                        <a:tabLst/>
                        <a:defRPr/>
                      </a:pPr>
                      <a:endParaRPr lang="en-US" sz="900" b="1" dirty="0" smtClean="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r>
              <a:tr h="859828">
                <a:tc gridSpan="15">
                  <a:txBody>
                    <a:bodyPr/>
                    <a:lstStyle/>
                    <a:p>
                      <a:pPr marL="0" marR="0" indent="0" algn="l" defTabSz="1018824" rtl="0" eaLnBrk="1" fontAlgn="auto" latinLnBrk="0" hangingPunct="1">
                        <a:lnSpc>
                          <a:spcPct val="100000"/>
                        </a:lnSpc>
                        <a:spcBef>
                          <a:spcPts val="0"/>
                        </a:spcBef>
                        <a:spcAft>
                          <a:spcPts val="0"/>
                        </a:spcAft>
                        <a:buClrTx/>
                        <a:buSzTx/>
                        <a:buFontTx/>
                        <a:buNone/>
                        <a:tabLst/>
                        <a:defRPr/>
                      </a:pPr>
                      <a:r>
                        <a:rPr lang="en-US" sz="1300" b="1" kern="1200" dirty="0" smtClean="0">
                          <a:solidFill>
                            <a:schemeClr val="accent1"/>
                          </a:solidFill>
                          <a:latin typeface="+mn-lt"/>
                          <a:ea typeface="+mn-ea"/>
                          <a:cs typeface="+mn-cs"/>
                        </a:rPr>
                        <a:t>Scott Grabine, </a:t>
                      </a:r>
                      <a:r>
                        <a:rPr lang="en-US" sz="1300" b="0" i="0" kern="1200" dirty="0" smtClean="0">
                          <a:solidFill>
                            <a:schemeClr val="tx1"/>
                          </a:solidFill>
                          <a:latin typeface="+mn-lt"/>
                          <a:ea typeface="+mn-ea"/>
                          <a:cs typeface="+mn-cs"/>
                        </a:rPr>
                        <a:t>Portfolio Manager</a:t>
                      </a:r>
                    </a:p>
                    <a:p>
                      <a:pPr marL="0" marR="0" indent="0" algn="l" defTabSz="1018824" rtl="0" eaLnBrk="1" fontAlgn="auto" latinLnBrk="0" hangingPunct="1">
                        <a:lnSpc>
                          <a:spcPct val="100000"/>
                        </a:lnSpc>
                        <a:spcBef>
                          <a:spcPts val="0"/>
                        </a:spcBef>
                        <a:spcAft>
                          <a:spcPts val="0"/>
                        </a:spcAft>
                        <a:buClrTx/>
                        <a:buSzTx/>
                        <a:buFontTx/>
                        <a:buNone/>
                        <a:tabLst/>
                        <a:defRPr/>
                      </a:pPr>
                      <a:endParaRPr lang="en-US" sz="1300" b="0" i="0" kern="1200" dirty="0" smtClean="0">
                        <a:solidFill>
                          <a:schemeClr val="tx1"/>
                        </a:solidFill>
                        <a:latin typeface="+mn-lt"/>
                        <a:ea typeface="+mn-ea"/>
                        <a:cs typeface="+mn-cs"/>
                      </a:endParaRPr>
                    </a:p>
                    <a:p>
                      <a:pPr marL="0" marR="0" indent="0" algn="l" defTabSz="1018824" rtl="0" eaLnBrk="1" fontAlgn="auto" latinLnBrk="0" hangingPunct="1">
                        <a:lnSpc>
                          <a:spcPct val="100000"/>
                        </a:lnSpc>
                        <a:spcBef>
                          <a:spcPts val="0"/>
                        </a:spcBef>
                        <a:spcAft>
                          <a:spcPts val="0"/>
                        </a:spcAft>
                        <a:buClrTx/>
                        <a:buSzTx/>
                        <a:buFontTx/>
                        <a:buNone/>
                        <a:tabLst/>
                        <a:defRPr/>
                      </a:pPr>
                      <a:endParaRPr lang="en-US" sz="1300" b="0" i="0" kern="1200" dirty="0" smtClean="0">
                        <a:solidFill>
                          <a:schemeClr val="tx1"/>
                        </a:solidFill>
                        <a:latin typeface="+mn-lt"/>
                        <a:ea typeface="+mn-ea"/>
                        <a:cs typeface="+mn-cs"/>
                      </a:endParaRPr>
                    </a:p>
                    <a:p>
                      <a:pPr marL="0" marR="0" indent="0" algn="l" defTabSz="1018824" rtl="0" eaLnBrk="1" fontAlgn="auto" latinLnBrk="0" hangingPunct="1">
                        <a:lnSpc>
                          <a:spcPct val="100000"/>
                        </a:lnSpc>
                        <a:spcBef>
                          <a:spcPts val="0"/>
                        </a:spcBef>
                        <a:spcAft>
                          <a:spcPts val="0"/>
                        </a:spcAft>
                        <a:buClrTx/>
                        <a:buSzTx/>
                        <a:buFontTx/>
                        <a:buNone/>
                        <a:tabLst/>
                        <a:defRPr/>
                      </a:pPr>
                      <a:endParaRPr lang="en-US" sz="1300" b="0" i="0" kern="1200" dirty="0" smtClean="0">
                        <a:solidFill>
                          <a:schemeClr val="tx1"/>
                        </a:solidFill>
                        <a:latin typeface="+mn-lt"/>
                        <a:ea typeface="+mn-ea"/>
                        <a:cs typeface="+mn-cs"/>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solidFill>
                        <a:schemeClr val="accent3"/>
                      </a:solid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endParaRPr lang="en-US"/>
                    </a:p>
                  </a:txBody>
                  <a:tcPr/>
                </a:tc>
                <a:tc hMerge="1">
                  <a:txBody>
                    <a:bodyPr/>
                    <a:lstStyle/>
                    <a:p>
                      <a:pPr marL="0" marR="0" indent="0" algn="ctr" defTabSz="975401" rtl="0" eaLnBrk="1" fontAlgn="auto" latinLnBrk="0" hangingPunct="1">
                        <a:lnSpc>
                          <a:spcPct val="100000"/>
                        </a:lnSpc>
                        <a:spcBef>
                          <a:spcPts val="0"/>
                        </a:spcBef>
                        <a:spcAft>
                          <a:spcPts val="0"/>
                        </a:spcAft>
                        <a:buClrTx/>
                        <a:buSzTx/>
                        <a:buFontTx/>
                        <a:buNone/>
                        <a:tabLst/>
                        <a:defRPr/>
                      </a:pPr>
                      <a:endParaRPr lang="en-US" sz="1100" b="1" dirty="0" smtClean="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r>
              <a:tr h="647342">
                <a:tc>
                  <a:txBody>
                    <a:bodyPr/>
                    <a:lstStyle/>
                    <a:p>
                      <a:pPr algn="l"/>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112713" marR="0" lvl="3" indent="-112713" algn="l" defTabSz="1018824" rtl="0" eaLnBrk="1" fontAlgn="auto" latinLnBrk="0" hangingPunct="1">
                        <a:lnSpc>
                          <a:spcPct val="100000"/>
                        </a:lnSpc>
                        <a:spcBef>
                          <a:spcPts val="100"/>
                        </a:spcBef>
                        <a:spcAft>
                          <a:spcPts val="0"/>
                        </a:spcAft>
                        <a:buClrTx/>
                        <a:buSzPct val="80000"/>
                        <a:buFont typeface="Arial" panose="020B0604020202020204" pitchFamily="34" charset="0"/>
                        <a:buChar char="•"/>
                        <a:tabLst/>
                        <a:defRPr/>
                      </a:pPr>
                      <a:r>
                        <a:rPr lang="en-US" sz="900" kern="1200" dirty="0" smtClean="0">
                          <a:solidFill>
                            <a:schemeClr val="dk1"/>
                          </a:solidFill>
                          <a:latin typeface="+mn-lt"/>
                          <a:ea typeface="+mn-ea"/>
                          <a:cs typeface="+mn-cs"/>
                        </a:rPr>
                        <a:t>Real Estate M&amp;A</a:t>
                      </a: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112713" lvl="3" indent="-112713" algn="l" defTabSz="1018824" rtl="0" eaLnBrk="1" latinLnBrk="0" hangingPunct="1">
                        <a:spcBef>
                          <a:spcPts val="100"/>
                        </a:spcBef>
                        <a:buSzPct val="80000"/>
                        <a:buFont typeface="Arial" panose="020B0604020202020204" pitchFamily="34" charset="0"/>
                        <a:buChar char="•"/>
                      </a:pPr>
                      <a:r>
                        <a:rPr lang="en-US" sz="900" kern="1200" dirty="0" smtClean="0">
                          <a:solidFill>
                            <a:schemeClr val="dk1"/>
                          </a:solidFill>
                          <a:latin typeface="+mn-lt"/>
                          <a:ea typeface="+mn-ea"/>
                          <a:cs typeface="+mn-cs"/>
                        </a:rPr>
                        <a:t>High Yield Investments:  Real Estate, Retail &amp; Homebuilding</a:t>
                      </a:r>
                      <a:endParaRPr lang="en-US" sz="900" kern="1200" dirty="0">
                        <a:solidFill>
                          <a:schemeClr val="dk1"/>
                        </a:solidFill>
                        <a:latin typeface="+mn-lt"/>
                        <a:ea typeface="+mn-ea"/>
                        <a:cs typeface="+mn-cs"/>
                      </a:endParaRPr>
                    </a:p>
                  </a:txBody>
                  <a:tcPr marL="0" marR="1371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112713" lvl="3" indent="-112713" algn="l" defTabSz="1018824" rtl="0" eaLnBrk="1" latinLnBrk="0" hangingPunct="1">
                        <a:spcBef>
                          <a:spcPts val="100"/>
                        </a:spcBef>
                        <a:buSzPct val="80000"/>
                        <a:buFont typeface="Arial" panose="020B0604020202020204" pitchFamily="34" charset="0"/>
                        <a:buChar char="•"/>
                      </a:pPr>
                      <a:r>
                        <a:rPr lang="en-US" sz="900" kern="1200" dirty="0" smtClean="0">
                          <a:solidFill>
                            <a:schemeClr val="dk1"/>
                          </a:solidFill>
                          <a:latin typeface="+mn-lt"/>
                          <a:ea typeface="+mn-ea"/>
                          <a:cs typeface="+mn-cs"/>
                        </a:rPr>
                        <a:t>Private &amp; Public Real Estate Debt &amp; Equity</a:t>
                      </a:r>
                      <a:endParaRPr lang="en-US" sz="900" kern="1200" dirty="0">
                        <a:solidFill>
                          <a:schemeClr val="dk1"/>
                        </a:solidFill>
                        <a:latin typeface="+mn-lt"/>
                        <a:ea typeface="+mn-ea"/>
                        <a:cs typeface="+mn-cs"/>
                      </a:endParaRPr>
                    </a:p>
                  </a:txBody>
                  <a:tcPr marL="0" marR="1371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gridSpan="4">
                  <a:txBody>
                    <a:bodyPr/>
                    <a:lstStyle/>
                    <a:p>
                      <a:pPr marL="112713" lvl="3" indent="-112713" algn="l" defTabSz="1018824" rtl="0" eaLnBrk="1" latinLnBrk="0" hangingPunct="1">
                        <a:spcBef>
                          <a:spcPts val="100"/>
                        </a:spcBef>
                        <a:buSzPct val="80000"/>
                        <a:buFont typeface="Arial" panose="020B0604020202020204" pitchFamily="34" charset="0"/>
                        <a:buChar char="•"/>
                      </a:pPr>
                      <a:r>
                        <a:rPr lang="en-US" sz="900" kern="1200" dirty="0" smtClean="0">
                          <a:solidFill>
                            <a:schemeClr val="dk1"/>
                          </a:solidFill>
                          <a:latin typeface="+mn-lt"/>
                          <a:ea typeface="+mn-ea"/>
                          <a:cs typeface="+mn-cs"/>
                        </a:rPr>
                        <a:t>CRE / CMBS: Real Estate Analysis</a:t>
                      </a:r>
                    </a:p>
                    <a:p>
                      <a:pPr marL="112713" lvl="3" indent="-112713" algn="l" defTabSz="1018824" rtl="0" eaLnBrk="1" latinLnBrk="0" hangingPunct="1">
                        <a:spcBef>
                          <a:spcPts val="100"/>
                        </a:spcBef>
                        <a:buSzPct val="80000"/>
                        <a:buFont typeface="Arial" panose="020B0604020202020204" pitchFamily="34" charset="0"/>
                        <a:buChar char="•"/>
                      </a:pPr>
                      <a:r>
                        <a:rPr lang="en-US" sz="900" kern="1200" dirty="0" smtClean="0">
                          <a:solidFill>
                            <a:schemeClr val="dk1"/>
                          </a:solidFill>
                          <a:latin typeface="+mn-lt"/>
                          <a:ea typeface="+mn-ea"/>
                          <a:cs typeface="+mn-cs"/>
                        </a:rPr>
                        <a:t>CMBS B-Pieces</a:t>
                      </a:r>
                    </a:p>
                    <a:p>
                      <a:pPr marL="112713" lvl="3" indent="-112713" algn="l" defTabSz="1018824" rtl="0" eaLnBrk="1" latinLnBrk="0" hangingPunct="1">
                        <a:spcBef>
                          <a:spcPts val="100"/>
                        </a:spcBef>
                        <a:buSzPct val="80000"/>
                        <a:buFont typeface="Arial" panose="020B0604020202020204" pitchFamily="34" charset="0"/>
                        <a:buChar char="•"/>
                      </a:pPr>
                      <a:r>
                        <a:rPr lang="en-US" sz="900" kern="1200" dirty="0" smtClean="0">
                          <a:solidFill>
                            <a:schemeClr val="dk1"/>
                          </a:solidFill>
                          <a:latin typeface="+mn-lt"/>
                          <a:ea typeface="+mn-ea"/>
                          <a:cs typeface="+mn-cs"/>
                        </a:rPr>
                        <a:t>Real Estate, Retail &amp;</a:t>
                      </a:r>
                      <a:r>
                        <a:rPr lang="en-US" sz="900" kern="1200" baseline="0" dirty="0" smtClean="0">
                          <a:solidFill>
                            <a:schemeClr val="dk1"/>
                          </a:solidFill>
                          <a:latin typeface="+mn-lt"/>
                          <a:ea typeface="+mn-ea"/>
                          <a:cs typeface="+mn-cs"/>
                        </a:rPr>
                        <a:t> Homebuilding:  Debt and Equities</a:t>
                      </a:r>
                      <a:endParaRPr lang="en-US" sz="900" kern="1200" dirty="0">
                        <a:solidFill>
                          <a:schemeClr val="dk1"/>
                        </a:solidFill>
                        <a:latin typeface="+mn-lt"/>
                        <a:ea typeface="+mn-ea"/>
                        <a:cs typeface="+mn-cs"/>
                      </a:endParaRPr>
                    </a:p>
                  </a:txBody>
                  <a:tcPr marL="0" marR="137160">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hMerge="1">
                  <a:txBody>
                    <a:bodyPr/>
                    <a:lstStyle/>
                    <a:p>
                      <a:pPr algn="ctr"/>
                      <a:endParaRPr lang="en-US" sz="1100" b="1" dirty="0">
                        <a:solidFill>
                          <a:schemeClr val="tx1"/>
                        </a:solidFill>
                      </a:endParaRPr>
                    </a:p>
                  </a:txBody>
                  <a:tcPr marL="0" marR="18288" marB="0">
                    <a:lnL w="19050" cap="flat" cmpd="sng" algn="ctr">
                      <a:solidFill>
                        <a:srgbClr val="FF0000"/>
                      </a:solidFill>
                      <a:prstDash val="solid"/>
                      <a:round/>
                      <a:headEnd type="none" w="med" len="med"/>
                      <a:tailEnd type="none" w="med" len="med"/>
                    </a:lnL>
                    <a:lnR w="19050" cap="flat" cmpd="sng" algn="ctr">
                      <a:solidFill>
                        <a:srgbClr val="FF0000"/>
                      </a:solid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noFill/>
                      <a:prstDash val="solid"/>
                      <a:round/>
                      <a:headEnd type="none" w="med" len="med"/>
                      <a:tailEnd type="none" w="med" len="med"/>
                    </a:lnB>
                    <a:lnTlToBr w="12700" cmpd="sng">
                      <a:noFill/>
                      <a:prstDash val="solid"/>
                    </a:lnTlToBr>
                    <a:lnBlToTr w="12700" cmpd="sng">
                      <a:noFill/>
                      <a:prstDash val="solid"/>
                    </a:lnBlToTr>
                    <a:noFill/>
                  </a:tcPr>
                </a:tc>
              </a:tr>
              <a:tr h="222369">
                <a:tc>
                  <a:txBody>
                    <a:bodyPr/>
                    <a:lstStyle/>
                    <a:p>
                      <a:pPr algn="l"/>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endParaRPr lang="en-US" sz="900" dirty="0"/>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ctr" defTabSz="975401" rtl="0" eaLnBrk="1" fontAlgn="auto" latinLnBrk="0" hangingPunct="1">
                        <a:lnSpc>
                          <a:spcPct val="100000"/>
                        </a:lnSpc>
                        <a:spcBef>
                          <a:spcPts val="0"/>
                        </a:spcBef>
                        <a:spcAft>
                          <a:spcPts val="0"/>
                        </a:spcAft>
                        <a:buClrTx/>
                        <a:buSzTx/>
                        <a:buFontTx/>
                        <a:buNone/>
                        <a:tabLst/>
                        <a:defRPr/>
                      </a:pPr>
                      <a:endParaRPr lang="en-US" sz="900" b="1" dirty="0" smtClean="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ctr"/>
                      <a:endParaRPr lang="en-US" sz="900" b="1" dirty="0">
                        <a:solidFill>
                          <a:schemeClr val="tx1"/>
                        </a:solidFill>
                      </a:endParaRPr>
                    </a:p>
                  </a:txBody>
                  <a:tcPr marL="0" marR="18288">
                    <a:lnL w="19050" cap="flat" cmpd="sng" algn="ctr">
                      <a:noFill/>
                      <a:prstDash val="solid"/>
                      <a:round/>
                      <a:headEnd type="none" w="med" len="med"/>
                      <a:tailEnd type="none" w="med" len="med"/>
                    </a:lnL>
                    <a:lnR w="19050" cap="flat" cmpd="sng" algn="ctr">
                      <a:noFill/>
                      <a:prstDash val="solid"/>
                      <a:round/>
                      <a:headEnd type="none" w="med" len="med"/>
                      <a:tailEnd type="none" w="med" len="med"/>
                    </a:lnR>
                    <a:lnT w="19050" cap="flat" cmpd="sng" algn="ctr">
                      <a:noFill/>
                      <a:prstDash val="solid"/>
                      <a:round/>
                      <a:headEnd type="none" w="med" len="med"/>
                      <a:tailEnd type="none" w="med" len="med"/>
                    </a:lnT>
                    <a:lnB w="190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r>
            </a:tbl>
          </a:graphicData>
        </a:graphic>
      </p:graphicFrame>
      <p:sp>
        <p:nvSpPr>
          <p:cNvPr id="10" name="Title 9"/>
          <p:cNvSpPr>
            <a:spLocks noGrp="1"/>
          </p:cNvSpPr>
          <p:nvPr>
            <p:ph type="title"/>
          </p:nvPr>
        </p:nvSpPr>
        <p:spPr/>
        <p:txBody>
          <a:bodyPr/>
          <a:lstStyle/>
          <a:p>
            <a:r>
              <a:rPr lang="en-US" dirty="0" smtClean="0"/>
              <a:t>PORTFOLIO MANAGEMENT TEAM EXPERIENCE</a:t>
            </a:r>
            <a:endParaRPr lang="en-US" dirty="0"/>
          </a:p>
        </p:txBody>
      </p:sp>
      <p:graphicFrame>
        <p:nvGraphicFramePr>
          <p:cNvPr id="24" name="Content Placeholder 23"/>
          <p:cNvGraphicFramePr>
            <a:graphicFrameLocks noGrp="1"/>
          </p:cNvGraphicFramePr>
          <p:nvPr>
            <p:ph idx="1"/>
            <p:extLst>
              <p:ext uri="{D42A27DB-BD31-4B8C-83A1-F6EECF244321}">
                <p14:modId xmlns:p14="http://schemas.microsoft.com/office/powerpoint/2010/main" val="644102410"/>
              </p:ext>
            </p:extLst>
          </p:nvPr>
        </p:nvGraphicFramePr>
        <p:xfrm>
          <a:off x="293689" y="1235075"/>
          <a:ext cx="9469445" cy="259080"/>
        </p:xfrm>
        <a:graphic>
          <a:graphicData uri="http://schemas.openxmlformats.org/drawingml/2006/table">
            <a:tbl>
              <a:tblPr firstRow="1" bandRow="1">
                <a:tableStyleId>{5C22544A-7EE6-4342-B048-85BDC9FD1C3A}</a:tableStyleId>
              </a:tblPr>
              <a:tblGrid>
                <a:gridCol w="849311"/>
                <a:gridCol w="978594"/>
                <a:gridCol w="547101"/>
                <a:gridCol w="547101"/>
                <a:gridCol w="547101"/>
                <a:gridCol w="547101"/>
                <a:gridCol w="547101"/>
                <a:gridCol w="547101"/>
                <a:gridCol w="547101"/>
                <a:gridCol w="547101"/>
                <a:gridCol w="547101"/>
                <a:gridCol w="547101"/>
                <a:gridCol w="547101"/>
                <a:gridCol w="547101"/>
                <a:gridCol w="1076328"/>
              </a:tblGrid>
              <a:tr h="0">
                <a:tc>
                  <a:txBody>
                    <a:bodyPr/>
                    <a:lstStyle/>
                    <a:p>
                      <a:pPr algn="l"/>
                      <a:r>
                        <a:rPr lang="en-US" sz="1100" b="1" dirty="0" smtClean="0">
                          <a:solidFill>
                            <a:schemeClr val="tx1"/>
                          </a:solidFill>
                        </a:rPr>
                        <a:t>Year</a:t>
                      </a:r>
                      <a:endParaRPr lang="en-US" sz="1100" b="1" dirty="0">
                        <a:solidFill>
                          <a:schemeClr val="tx1"/>
                        </a:solidFill>
                      </a:endParaRPr>
                    </a:p>
                  </a:txBody>
                  <a:tcPr marR="18288" anchor="ctr">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endParaRPr lang="en-US" sz="1100" b="1" dirty="0">
                        <a:solidFill>
                          <a:schemeClr val="tx1"/>
                        </a:solidFill>
                      </a:endParaRPr>
                    </a:p>
                  </a:txBody>
                  <a:tcPr marL="18288" marR="18288" anchor="ctr" anchorCtr="1">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marL="0" marR="0" indent="0" algn="ctr" defTabSz="975401" rtl="0" eaLnBrk="1" fontAlgn="auto" latinLnBrk="0" hangingPunct="1">
                        <a:lnSpc>
                          <a:spcPct val="100000"/>
                        </a:lnSpc>
                        <a:spcBef>
                          <a:spcPts val="0"/>
                        </a:spcBef>
                        <a:spcAft>
                          <a:spcPts val="0"/>
                        </a:spcAft>
                        <a:buClrTx/>
                        <a:buSzTx/>
                        <a:buFontTx/>
                        <a:buNone/>
                        <a:tabLst/>
                        <a:defRPr/>
                      </a:pPr>
                      <a:r>
                        <a:rPr lang="en-US" sz="1100" b="1" dirty="0" smtClean="0">
                          <a:solidFill>
                            <a:schemeClr val="tx1"/>
                          </a:solidFill>
                        </a:rPr>
                        <a:t>2003</a:t>
                      </a:r>
                    </a:p>
                  </a:txBody>
                  <a:tcPr marL="18288" marR="18288" anchor="ctr" anchorCtr="1">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en-US" sz="1100" b="1" dirty="0" smtClean="0">
                          <a:solidFill>
                            <a:schemeClr val="tx1"/>
                          </a:solidFill>
                        </a:rPr>
                        <a:t>2004</a:t>
                      </a:r>
                      <a:endParaRPr lang="en-US" sz="1100" b="1" dirty="0">
                        <a:solidFill>
                          <a:schemeClr val="tx1"/>
                        </a:solidFill>
                      </a:endParaRPr>
                    </a:p>
                  </a:txBody>
                  <a:tcPr marL="18288" marR="18288" anchor="ctr" anchorCtr="1">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en-US" sz="1100" b="1" dirty="0" smtClean="0">
                          <a:solidFill>
                            <a:schemeClr val="tx1"/>
                          </a:solidFill>
                        </a:rPr>
                        <a:t>2005</a:t>
                      </a:r>
                      <a:endParaRPr lang="en-US" sz="1100" b="1" dirty="0">
                        <a:solidFill>
                          <a:schemeClr val="tx1"/>
                        </a:solidFill>
                      </a:endParaRPr>
                    </a:p>
                  </a:txBody>
                  <a:tcPr marL="18288" marR="18288" anchor="ctr" anchorCtr="1">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en-US" sz="1100" b="1" dirty="0" smtClean="0">
                          <a:solidFill>
                            <a:schemeClr val="tx1"/>
                          </a:solidFill>
                        </a:rPr>
                        <a:t>2006</a:t>
                      </a:r>
                      <a:endParaRPr lang="en-US" sz="1100" b="1" dirty="0">
                        <a:solidFill>
                          <a:schemeClr val="tx1"/>
                        </a:solidFill>
                      </a:endParaRPr>
                    </a:p>
                  </a:txBody>
                  <a:tcPr marL="18288" marR="18288" anchor="ctr" anchorCtr="1">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en-US" sz="1100" b="1" dirty="0" smtClean="0">
                          <a:solidFill>
                            <a:schemeClr val="tx1"/>
                          </a:solidFill>
                        </a:rPr>
                        <a:t>2007</a:t>
                      </a:r>
                      <a:endParaRPr lang="en-US" sz="1100" b="1" dirty="0">
                        <a:solidFill>
                          <a:schemeClr val="tx1"/>
                        </a:solidFill>
                      </a:endParaRPr>
                    </a:p>
                  </a:txBody>
                  <a:tcPr marL="18288" marR="18288" anchor="ctr" anchorCtr="1">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en-US" sz="1100" b="1" dirty="0" smtClean="0">
                          <a:solidFill>
                            <a:schemeClr val="tx1"/>
                          </a:solidFill>
                        </a:rPr>
                        <a:t>2008</a:t>
                      </a:r>
                      <a:endParaRPr lang="en-US" sz="1100" b="1" dirty="0">
                        <a:solidFill>
                          <a:schemeClr val="tx1"/>
                        </a:solidFill>
                      </a:endParaRPr>
                    </a:p>
                  </a:txBody>
                  <a:tcPr marL="18288" marR="18288" anchor="ctr" anchorCtr="1">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en-US" sz="1100" b="1" dirty="0" smtClean="0">
                          <a:solidFill>
                            <a:schemeClr val="tx1"/>
                          </a:solidFill>
                        </a:rPr>
                        <a:t>2009</a:t>
                      </a:r>
                      <a:endParaRPr lang="en-US" sz="1100" b="1" dirty="0">
                        <a:solidFill>
                          <a:schemeClr val="tx1"/>
                        </a:solidFill>
                      </a:endParaRPr>
                    </a:p>
                  </a:txBody>
                  <a:tcPr marL="18288" marR="18288" anchor="ctr" anchorCtr="1">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en-US" sz="1100" b="1" dirty="0" smtClean="0">
                          <a:solidFill>
                            <a:schemeClr val="tx1"/>
                          </a:solidFill>
                        </a:rPr>
                        <a:t>2010</a:t>
                      </a:r>
                      <a:endParaRPr lang="en-US" sz="1100" b="1" dirty="0">
                        <a:solidFill>
                          <a:schemeClr val="tx1"/>
                        </a:solidFill>
                      </a:endParaRPr>
                    </a:p>
                  </a:txBody>
                  <a:tcPr marL="18288" marR="18288" anchor="ctr" anchorCtr="1">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en-US" sz="1100" b="1" dirty="0" smtClean="0">
                          <a:solidFill>
                            <a:schemeClr val="tx1"/>
                          </a:solidFill>
                        </a:rPr>
                        <a:t>2011</a:t>
                      </a:r>
                      <a:endParaRPr lang="en-US" sz="1100" b="1" dirty="0">
                        <a:solidFill>
                          <a:schemeClr val="tx1"/>
                        </a:solidFill>
                      </a:endParaRPr>
                    </a:p>
                  </a:txBody>
                  <a:tcPr marL="18288" marR="18288" anchor="ctr" anchorCtr="1">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en-US" sz="1100" b="1" dirty="0" smtClean="0">
                          <a:solidFill>
                            <a:schemeClr val="tx1"/>
                          </a:solidFill>
                        </a:rPr>
                        <a:t>2012</a:t>
                      </a:r>
                      <a:endParaRPr lang="en-US" sz="1100" b="1" dirty="0">
                        <a:solidFill>
                          <a:schemeClr val="tx1"/>
                        </a:solidFill>
                      </a:endParaRPr>
                    </a:p>
                  </a:txBody>
                  <a:tcPr marL="18288" marR="18288" anchor="ctr" anchorCtr="1">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en-US" sz="1100" b="1" dirty="0" smtClean="0">
                          <a:solidFill>
                            <a:schemeClr val="tx1"/>
                          </a:solidFill>
                        </a:rPr>
                        <a:t>2013</a:t>
                      </a:r>
                      <a:endParaRPr lang="en-US" sz="1100" b="1" dirty="0">
                        <a:solidFill>
                          <a:schemeClr val="tx1"/>
                        </a:solidFill>
                      </a:endParaRPr>
                    </a:p>
                  </a:txBody>
                  <a:tcPr marL="18288" marR="18288" anchor="ctr" anchorCtr="1">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algn="ctr"/>
                      <a:r>
                        <a:rPr lang="en-US" sz="1100" b="1" dirty="0" smtClean="0">
                          <a:solidFill>
                            <a:schemeClr val="tx1"/>
                          </a:solidFill>
                        </a:rPr>
                        <a:t>2014</a:t>
                      </a:r>
                      <a:endParaRPr lang="en-US" sz="1100" b="1" dirty="0">
                        <a:solidFill>
                          <a:schemeClr val="tx1"/>
                        </a:solidFill>
                      </a:endParaRPr>
                    </a:p>
                  </a:txBody>
                  <a:tcPr marL="18288" marR="18288" anchor="ctr" anchorCtr="1">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40000"/>
                        <a:lumOff val="60000"/>
                      </a:schemeClr>
                    </a:solidFill>
                  </a:tcPr>
                </a:tc>
                <a:tc>
                  <a:txBody>
                    <a:bodyPr/>
                    <a:lstStyle/>
                    <a:p>
                      <a:pPr marL="0" indent="0" algn="ctr"/>
                      <a:r>
                        <a:rPr lang="en-US" sz="1100" b="1" dirty="0" smtClean="0">
                          <a:solidFill>
                            <a:schemeClr val="tx1"/>
                          </a:solidFill>
                        </a:rPr>
                        <a:t>2015</a:t>
                      </a:r>
                      <a:r>
                        <a:rPr lang="en-US" sz="1100" b="1" baseline="0" dirty="0" smtClean="0">
                          <a:solidFill>
                            <a:schemeClr val="tx1"/>
                          </a:solidFill>
                        </a:rPr>
                        <a:t> </a:t>
                      </a:r>
                      <a:r>
                        <a:rPr lang="en-US" sz="1100" b="1" baseline="0" dirty="0" smtClean="0">
                          <a:solidFill>
                            <a:schemeClr val="tx1"/>
                          </a:solidFill>
                          <a:latin typeface="Arial"/>
                          <a:cs typeface="Arial"/>
                        </a:rPr>
                        <a:t>                   </a:t>
                      </a:r>
                      <a:endParaRPr lang="en-US" sz="1100" b="1" dirty="0">
                        <a:solidFill>
                          <a:schemeClr val="tx1"/>
                        </a:solidFill>
                      </a:endParaRPr>
                    </a:p>
                  </a:txBody>
                  <a:tcPr marL="18288" marR="18288" anchor="ctr" anchorCtr="1">
                    <a:lnL w="19050" cap="flat" cmpd="sng" algn="ctr">
                      <a:solidFill>
                        <a:schemeClr val="bg1"/>
                      </a:solidFill>
                      <a:prstDash val="solid"/>
                      <a:round/>
                      <a:headEnd type="none" w="med" len="med"/>
                      <a:tailEnd type="none" w="med" len="med"/>
                    </a:lnL>
                    <a:lnR w="19050" cap="flat" cmpd="sng" algn="ctr">
                      <a:solidFill>
                        <a:schemeClr val="bg1"/>
                      </a:solidFill>
                      <a:prstDash val="solid"/>
                      <a:round/>
                      <a:headEnd type="none" w="med" len="med"/>
                      <a:tailEnd type="none" w="med" len="med"/>
                    </a:lnR>
                    <a:lnT w="19050" cap="flat" cmpd="sng" algn="ctr">
                      <a:solidFill>
                        <a:schemeClr val="bg1"/>
                      </a:solidFill>
                      <a:prstDash val="solid"/>
                      <a:round/>
                      <a:headEnd type="none" w="med" len="med"/>
                      <a:tailEnd type="none" w="med" len="med"/>
                    </a:lnT>
                    <a:lnB w="19050" cap="flat" cmpd="sng" algn="ctr">
                      <a:solidFill>
                        <a:schemeClr val="bg1"/>
                      </a:solidFill>
                      <a:prstDash val="solid"/>
                      <a:round/>
                      <a:headEnd type="none" w="med" len="med"/>
                      <a:tailEnd type="none" w="med" len="med"/>
                    </a:lnB>
                    <a:solidFill>
                      <a:schemeClr val="accent3">
                        <a:lumMod val="40000"/>
                        <a:lumOff val="60000"/>
                      </a:schemeClr>
                    </a:solidFill>
                  </a:tcPr>
                </a:tc>
              </a:tr>
            </a:tbl>
          </a:graphicData>
        </a:graphic>
      </p:graphicFrame>
      <p:sp>
        <p:nvSpPr>
          <p:cNvPr id="29" name="Pentagon 28"/>
          <p:cNvSpPr/>
          <p:nvPr/>
        </p:nvSpPr>
        <p:spPr>
          <a:xfrm>
            <a:off x="8686799" y="2287710"/>
            <a:ext cx="1076325" cy="457200"/>
          </a:xfrm>
          <a:prstGeom prst="homePlate">
            <a:avLst>
              <a:gd name="adj" fmla="val 29775"/>
            </a:avLst>
          </a:prstGeom>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37160" rIns="45720" rtlCol="0" anchor="ctr"/>
          <a:lstStyle/>
          <a:p>
            <a:pPr algn="ctr"/>
            <a:r>
              <a:rPr lang="en-US" sz="1300" dirty="0" smtClean="0"/>
              <a:t>Cello</a:t>
            </a:r>
            <a:endParaRPr lang="en-US" sz="1300" dirty="0"/>
          </a:p>
        </p:txBody>
      </p:sp>
      <p:sp>
        <p:nvSpPr>
          <p:cNvPr id="30" name="Pentagon 29"/>
          <p:cNvSpPr/>
          <p:nvPr/>
        </p:nvSpPr>
        <p:spPr>
          <a:xfrm>
            <a:off x="6482993" y="2287710"/>
            <a:ext cx="2365732" cy="457200"/>
          </a:xfrm>
          <a:prstGeom prst="homePlate">
            <a:avLst>
              <a:gd name="adj" fmla="val 29775"/>
            </a:avLst>
          </a:prstGeom>
          <a:solidFill>
            <a:schemeClr val="accent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82880" rIns="45720" rtlCol="0" anchor="ctr"/>
          <a:lstStyle/>
          <a:p>
            <a:pPr lvl="0" algn="ctr"/>
            <a:r>
              <a:rPr lang="en-US" sz="1300" dirty="0"/>
              <a:t>Saba </a:t>
            </a:r>
            <a:r>
              <a:rPr lang="en-US" sz="1300" dirty="0" smtClean="0"/>
              <a:t>Capital</a:t>
            </a:r>
            <a:endParaRPr lang="en-US" sz="1300" dirty="0"/>
          </a:p>
        </p:txBody>
      </p:sp>
      <p:sp>
        <p:nvSpPr>
          <p:cNvPr id="31" name="Pentagon 30"/>
          <p:cNvSpPr/>
          <p:nvPr/>
        </p:nvSpPr>
        <p:spPr>
          <a:xfrm>
            <a:off x="3750067" y="2287710"/>
            <a:ext cx="2882865" cy="457200"/>
          </a:xfrm>
          <a:prstGeom prst="homePlate">
            <a:avLst>
              <a:gd name="adj" fmla="val 29775"/>
            </a:avLst>
          </a:prstGeom>
          <a:solidFill>
            <a:schemeClr val="tx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8640" rIns="45720" rtlCol="0" anchor="ctr"/>
          <a:lstStyle/>
          <a:p>
            <a:pPr lvl="0"/>
            <a:r>
              <a:rPr lang="en-US" sz="1300" dirty="0"/>
              <a:t>Bear Stearns / JPMorgan</a:t>
            </a:r>
          </a:p>
        </p:txBody>
      </p:sp>
      <p:sp>
        <p:nvSpPr>
          <p:cNvPr id="32" name="Pentagon 31"/>
          <p:cNvSpPr/>
          <p:nvPr/>
        </p:nvSpPr>
        <p:spPr>
          <a:xfrm>
            <a:off x="2133600" y="2287710"/>
            <a:ext cx="1822432" cy="457200"/>
          </a:xfrm>
          <a:prstGeom prst="homePlate">
            <a:avLst>
              <a:gd name="adj" fmla="val 29775"/>
            </a:avLst>
          </a:prstGeom>
          <a:solidFill>
            <a:schemeClr val="accent3"/>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457200" rIns="45720" rtlCol="0" anchor="ctr"/>
          <a:lstStyle/>
          <a:p>
            <a:pPr lvl="0"/>
            <a:r>
              <a:rPr lang="en-US" sz="1300" dirty="0"/>
              <a:t>Credit Suisse</a:t>
            </a:r>
          </a:p>
        </p:txBody>
      </p:sp>
      <p:sp>
        <p:nvSpPr>
          <p:cNvPr id="33" name="Pentagon 32"/>
          <p:cNvSpPr/>
          <p:nvPr/>
        </p:nvSpPr>
        <p:spPr>
          <a:xfrm>
            <a:off x="1143001" y="2287710"/>
            <a:ext cx="1143000" cy="457200"/>
          </a:xfrm>
          <a:prstGeom prst="homePlate">
            <a:avLst>
              <a:gd name="adj" fmla="val 29775"/>
            </a:avLst>
          </a:prstGeom>
          <a:solidFill>
            <a:srgbClr val="592E8A"/>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64008" rIns="0" rtlCol="0" anchor="ctr"/>
          <a:lstStyle/>
          <a:p>
            <a:pPr lvl="0"/>
            <a:r>
              <a:rPr lang="en-US" sz="1300" dirty="0"/>
              <a:t>Legal Career</a:t>
            </a:r>
          </a:p>
        </p:txBody>
      </p:sp>
      <p:sp>
        <p:nvSpPr>
          <p:cNvPr id="34" name="Pentagon 33"/>
          <p:cNvSpPr/>
          <p:nvPr/>
        </p:nvSpPr>
        <p:spPr>
          <a:xfrm>
            <a:off x="8686800" y="4120790"/>
            <a:ext cx="1076325" cy="457200"/>
          </a:xfrm>
          <a:prstGeom prst="homePlate">
            <a:avLst>
              <a:gd name="adj" fmla="val 29775"/>
            </a:avLst>
          </a:prstGeom>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37160" rIns="45720" rtlCol="0" anchor="ctr"/>
          <a:lstStyle/>
          <a:p>
            <a:pPr algn="ctr"/>
            <a:r>
              <a:rPr lang="en-US" sz="1300" dirty="0" smtClean="0"/>
              <a:t>Cello</a:t>
            </a:r>
            <a:endParaRPr lang="en-US" sz="1300" dirty="0"/>
          </a:p>
        </p:txBody>
      </p:sp>
      <p:sp>
        <p:nvSpPr>
          <p:cNvPr id="35" name="Pentagon 34"/>
          <p:cNvSpPr/>
          <p:nvPr/>
        </p:nvSpPr>
        <p:spPr>
          <a:xfrm>
            <a:off x="6482994" y="4120790"/>
            <a:ext cx="2365732" cy="457200"/>
          </a:xfrm>
          <a:prstGeom prst="homePlate">
            <a:avLst>
              <a:gd name="adj" fmla="val 29775"/>
            </a:avLst>
          </a:prstGeom>
          <a:solidFill>
            <a:schemeClr val="accent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82880" rIns="45720" rtlCol="0" anchor="ctr"/>
          <a:lstStyle/>
          <a:p>
            <a:pPr lvl="0" algn="ctr"/>
            <a:r>
              <a:rPr lang="en-US" sz="1300" dirty="0"/>
              <a:t>Saba </a:t>
            </a:r>
            <a:r>
              <a:rPr lang="en-US" sz="1300" dirty="0" smtClean="0"/>
              <a:t>Capital</a:t>
            </a:r>
            <a:endParaRPr lang="en-US" sz="1300" dirty="0"/>
          </a:p>
        </p:txBody>
      </p:sp>
      <p:sp>
        <p:nvSpPr>
          <p:cNvPr id="36" name="Pentagon 35"/>
          <p:cNvSpPr/>
          <p:nvPr/>
        </p:nvSpPr>
        <p:spPr>
          <a:xfrm>
            <a:off x="3750068" y="4120790"/>
            <a:ext cx="2882865" cy="457200"/>
          </a:xfrm>
          <a:prstGeom prst="homePlate">
            <a:avLst>
              <a:gd name="adj" fmla="val 29775"/>
            </a:avLst>
          </a:prstGeom>
          <a:solidFill>
            <a:schemeClr val="tx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8640" rIns="45720" rtlCol="0" anchor="ctr"/>
          <a:lstStyle/>
          <a:p>
            <a:pPr lvl="0"/>
            <a:r>
              <a:rPr lang="en-US" sz="1300" dirty="0"/>
              <a:t>Bear Stearns / JPMorgan</a:t>
            </a:r>
          </a:p>
        </p:txBody>
      </p:sp>
      <p:sp>
        <p:nvSpPr>
          <p:cNvPr id="37" name="Pentagon 36"/>
          <p:cNvSpPr/>
          <p:nvPr/>
        </p:nvSpPr>
        <p:spPr>
          <a:xfrm>
            <a:off x="8686799" y="5945310"/>
            <a:ext cx="1076325" cy="457200"/>
          </a:xfrm>
          <a:prstGeom prst="homePlate">
            <a:avLst>
              <a:gd name="adj" fmla="val 29775"/>
            </a:avLst>
          </a:prstGeom>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37160" rIns="45720" rtlCol="0" anchor="ctr"/>
          <a:lstStyle/>
          <a:p>
            <a:pPr algn="ctr"/>
            <a:r>
              <a:rPr lang="en-US" sz="1300" dirty="0" smtClean="0"/>
              <a:t>Cello</a:t>
            </a:r>
            <a:endParaRPr lang="en-US" sz="1300" dirty="0"/>
          </a:p>
        </p:txBody>
      </p:sp>
      <p:sp>
        <p:nvSpPr>
          <p:cNvPr id="38" name="Pentagon 37"/>
          <p:cNvSpPr/>
          <p:nvPr/>
        </p:nvSpPr>
        <p:spPr>
          <a:xfrm>
            <a:off x="6482993" y="5945310"/>
            <a:ext cx="2365732" cy="457200"/>
          </a:xfrm>
          <a:prstGeom prst="homePlate">
            <a:avLst>
              <a:gd name="adj" fmla="val 29775"/>
            </a:avLst>
          </a:prstGeom>
          <a:solidFill>
            <a:schemeClr val="accent2"/>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182880" rIns="45720" rtlCol="0" anchor="ctr"/>
          <a:lstStyle/>
          <a:p>
            <a:pPr lvl="0" algn="ctr"/>
            <a:r>
              <a:rPr lang="en-US" sz="1300" dirty="0"/>
              <a:t>Saba </a:t>
            </a:r>
            <a:r>
              <a:rPr lang="en-US" sz="1300" dirty="0" smtClean="0"/>
              <a:t>Capital</a:t>
            </a:r>
            <a:endParaRPr lang="en-US" sz="1300" dirty="0"/>
          </a:p>
        </p:txBody>
      </p:sp>
      <p:sp>
        <p:nvSpPr>
          <p:cNvPr id="39" name="Pentagon 38"/>
          <p:cNvSpPr/>
          <p:nvPr/>
        </p:nvSpPr>
        <p:spPr>
          <a:xfrm>
            <a:off x="4114800" y="5945310"/>
            <a:ext cx="2518132" cy="457200"/>
          </a:xfrm>
          <a:prstGeom prst="homePlate">
            <a:avLst>
              <a:gd name="adj" fmla="val 29775"/>
            </a:avLst>
          </a:prstGeom>
          <a:solidFill>
            <a:srgbClr val="C7732D"/>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457200" rIns="45720" rtlCol="0" anchor="ctr"/>
          <a:lstStyle/>
          <a:p>
            <a:pPr lvl="0"/>
            <a:r>
              <a:rPr lang="en-US" sz="1150" dirty="0"/>
              <a:t>Plainfield Asset </a:t>
            </a:r>
            <a:r>
              <a:rPr lang="en-US" sz="1150" dirty="0" smtClean="0"/>
              <a:t>Management</a:t>
            </a:r>
            <a:endParaRPr lang="en-US" sz="1150" dirty="0"/>
          </a:p>
        </p:txBody>
      </p:sp>
      <p:sp>
        <p:nvSpPr>
          <p:cNvPr id="40" name="Pentagon 39"/>
          <p:cNvSpPr/>
          <p:nvPr/>
        </p:nvSpPr>
        <p:spPr>
          <a:xfrm>
            <a:off x="2133600" y="5945310"/>
            <a:ext cx="2286000" cy="457200"/>
          </a:xfrm>
          <a:prstGeom prst="homePlate">
            <a:avLst>
              <a:gd name="adj" fmla="val 29775"/>
            </a:avLst>
          </a:prstGeom>
          <a:solidFill>
            <a:schemeClr val="tx2">
              <a:lumMod val="40000"/>
              <a:lumOff val="6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548640" rIns="45720" rtlCol="0" anchor="ctr"/>
          <a:lstStyle/>
          <a:p>
            <a:pPr lvl="0"/>
            <a:r>
              <a:rPr lang="en-US" sz="1200" dirty="0"/>
              <a:t>Shenkman Capital</a:t>
            </a:r>
          </a:p>
        </p:txBody>
      </p:sp>
      <p:sp>
        <p:nvSpPr>
          <p:cNvPr id="41" name="Pentagon 40"/>
          <p:cNvSpPr/>
          <p:nvPr/>
        </p:nvSpPr>
        <p:spPr>
          <a:xfrm>
            <a:off x="1143001" y="5945310"/>
            <a:ext cx="1143000" cy="457200"/>
          </a:xfrm>
          <a:prstGeom prst="homePlate">
            <a:avLst>
              <a:gd name="adj" fmla="val 29775"/>
            </a:avLst>
          </a:prstGeom>
          <a:solidFill>
            <a:schemeClr val="bg2">
              <a:lumMod val="50000"/>
            </a:schemeClr>
          </a:solidFill>
          <a:ln w="1905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lIns="45720" rIns="0" rtlCol="0" anchor="ctr"/>
          <a:lstStyle/>
          <a:p>
            <a:pPr lvl="0"/>
            <a:r>
              <a:rPr lang="en-US" sz="1200" dirty="0"/>
              <a:t>Ernst &amp; Young</a:t>
            </a:r>
          </a:p>
        </p:txBody>
      </p:sp>
      <p:cxnSp>
        <p:nvCxnSpPr>
          <p:cNvPr id="3" name="Straight Arrow Connector 2"/>
          <p:cNvCxnSpPr/>
          <p:nvPr/>
        </p:nvCxnSpPr>
        <p:spPr>
          <a:xfrm flipH="1">
            <a:off x="1524000" y="1371600"/>
            <a:ext cx="2286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cxnSp>
        <p:nvCxnSpPr>
          <p:cNvPr id="21" name="Straight Arrow Connector 20"/>
          <p:cNvCxnSpPr/>
          <p:nvPr/>
        </p:nvCxnSpPr>
        <p:spPr>
          <a:xfrm>
            <a:off x="9413893" y="1371600"/>
            <a:ext cx="228600" cy="0"/>
          </a:xfrm>
          <a:prstGeom prst="straightConnector1">
            <a:avLst/>
          </a:prstGeom>
          <a:ln>
            <a:solidFill>
              <a:schemeClr val="tx1"/>
            </a:solidFill>
            <a:tailEnd type="triangl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932968945"/>
      </p:ext>
    </p:extLst>
  </p:cSld>
  <p:clrMapOvr>
    <a:masterClrMapping/>
  </p:clrMapOvr>
  <p:timing>
    <p:tnLst>
      <p:par>
        <p:cTn id="1" dur="indefinite" restart="never" nodeType="tmRoot"/>
      </p:par>
    </p:tnLst>
  </p:timing>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INVESTMENT APPROACH</a:t>
            </a:r>
            <a:endParaRPr lang="en-US" dirty="0"/>
          </a:p>
        </p:txBody>
      </p:sp>
      <p:sp>
        <p:nvSpPr>
          <p:cNvPr id="9" name="Content Placeholder 8"/>
          <p:cNvSpPr>
            <a:spLocks noGrp="1"/>
          </p:cNvSpPr>
          <p:nvPr>
            <p:ph sz="quarter" idx="13"/>
          </p:nvPr>
        </p:nvSpPr>
        <p:spPr>
          <a:xfrm>
            <a:off x="2514600" y="1235075"/>
            <a:ext cx="7214616" cy="441325"/>
          </a:xfrm>
        </p:spPr>
        <p:txBody>
          <a:bodyPr/>
          <a:lstStyle/>
          <a:p>
            <a:r>
              <a:rPr lang="en-US" dirty="0" smtClean="0"/>
              <a:t>A Relative Value Approach is Applied Across the Portfolio   </a:t>
            </a:r>
            <a:endParaRPr lang="en-US" dirty="0"/>
          </a:p>
        </p:txBody>
      </p:sp>
      <p:sp>
        <p:nvSpPr>
          <p:cNvPr id="10" name="Text Placeholder 2"/>
          <p:cNvSpPr>
            <a:spLocks noGrp="1"/>
          </p:cNvSpPr>
          <p:nvPr>
            <p:ph type="body" sz="quarter" idx="10"/>
          </p:nvPr>
        </p:nvSpPr>
        <p:spPr>
          <a:xfrm>
            <a:off x="2895600" y="436880"/>
            <a:ext cx="6867525" cy="594360"/>
          </a:xfrm>
        </p:spPr>
        <p:txBody>
          <a:bodyPr/>
          <a:lstStyle/>
          <a:p>
            <a:r>
              <a:rPr lang="en-US" dirty="0"/>
              <a:t>RELATIVE-VALUE FOCUS</a:t>
            </a:r>
          </a:p>
        </p:txBody>
      </p:sp>
      <p:sp>
        <p:nvSpPr>
          <p:cNvPr id="16" name="Content Placeholder 12"/>
          <p:cNvSpPr>
            <a:spLocks noGrp="1"/>
          </p:cNvSpPr>
          <p:nvPr>
            <p:ph idx="1"/>
          </p:nvPr>
        </p:nvSpPr>
        <p:spPr>
          <a:xfrm>
            <a:off x="293687" y="1235075"/>
            <a:ext cx="1839913" cy="5938837"/>
          </a:xfrm>
        </p:spPr>
        <p:txBody>
          <a:bodyPr/>
          <a:lstStyle/>
          <a:p>
            <a:pPr>
              <a:lnSpc>
                <a:spcPct val="100000"/>
              </a:lnSpc>
              <a:spcBef>
                <a:spcPts val="0"/>
              </a:spcBef>
            </a:pPr>
            <a:r>
              <a:rPr lang="en-US" sz="1100" b="0" dirty="0" smtClean="0">
                <a:solidFill>
                  <a:schemeClr val="tx1"/>
                </a:solidFill>
              </a:rPr>
              <a:t>Cello believes that the same fundamental factors influence valuations in CRE across Fixed Income and Equities.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smtClean="0">
                <a:solidFill>
                  <a:schemeClr val="tx1"/>
                </a:solidFill>
              </a:rPr>
              <a:t>The investment process and proprietary infrastructure will be the same across the Portfolio. </a:t>
            </a:r>
          </a:p>
          <a:p>
            <a:pPr>
              <a:lnSpc>
                <a:spcPct val="100000"/>
              </a:lnSpc>
              <a:spcBef>
                <a:spcPts val="0"/>
              </a:spcBef>
            </a:pPr>
            <a:endParaRPr lang="en-US" sz="1100" b="0" dirty="0">
              <a:solidFill>
                <a:schemeClr val="tx1"/>
              </a:solidFill>
            </a:endParaRPr>
          </a:p>
          <a:p>
            <a:pPr>
              <a:lnSpc>
                <a:spcPct val="100000"/>
              </a:lnSpc>
              <a:spcBef>
                <a:spcPts val="0"/>
              </a:spcBef>
            </a:pPr>
            <a:r>
              <a:rPr lang="en-US" sz="1100" b="0" dirty="0">
                <a:solidFill>
                  <a:schemeClr val="tx1"/>
                </a:solidFill>
              </a:rPr>
              <a:t>The initial </a:t>
            </a:r>
            <a:r>
              <a:rPr lang="en-US" sz="1100" b="0" dirty="0" smtClean="0">
                <a:solidFill>
                  <a:schemeClr val="tx1"/>
                </a:solidFill>
              </a:rPr>
              <a:t>allocation is expected to be approximately 70% in Fixed Income and 30% in Equities.</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endParaRPr lang="en-US" sz="1100" b="0" dirty="0">
              <a:solidFill>
                <a:schemeClr val="tx1"/>
              </a:solidFill>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17" name="Group 16"/>
          <p:cNvGrpSpPr/>
          <p:nvPr/>
        </p:nvGrpSpPr>
        <p:grpSpPr>
          <a:xfrm>
            <a:off x="4038600" y="2039934"/>
            <a:ext cx="3719308" cy="3657600"/>
            <a:chOff x="3200400" y="1830421"/>
            <a:chExt cx="3719308" cy="3657600"/>
          </a:xfrm>
        </p:grpSpPr>
        <p:cxnSp>
          <p:nvCxnSpPr>
            <p:cNvPr id="18" name="Straight Connector 17"/>
            <p:cNvCxnSpPr/>
            <p:nvPr/>
          </p:nvCxnSpPr>
          <p:spPr>
            <a:xfrm>
              <a:off x="6717506" y="5093494"/>
              <a:ext cx="202202" cy="11522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19" name="Oval 18"/>
            <p:cNvSpPr/>
            <p:nvPr/>
          </p:nvSpPr>
          <p:spPr>
            <a:xfrm>
              <a:off x="3200400" y="1906621"/>
              <a:ext cx="3581400" cy="3581400"/>
            </a:xfrm>
            <a:prstGeom prst="ellipse">
              <a:avLst/>
            </a:prstGeom>
            <a:solidFill>
              <a:schemeClr val="accent2"/>
            </a:solidFill>
            <a:ln w="12700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US"/>
            </a:p>
          </p:txBody>
        </p:sp>
        <p:grpSp>
          <p:nvGrpSpPr>
            <p:cNvPr id="20" name="Group 19"/>
            <p:cNvGrpSpPr/>
            <p:nvPr/>
          </p:nvGrpSpPr>
          <p:grpSpPr>
            <a:xfrm>
              <a:off x="3352800" y="1830421"/>
              <a:ext cx="3291840" cy="2893107"/>
              <a:chOff x="3352800" y="1830421"/>
              <a:chExt cx="3291840" cy="2893107"/>
            </a:xfrm>
          </p:grpSpPr>
          <p:cxnSp>
            <p:nvCxnSpPr>
              <p:cNvPr id="26" name="Straight Connector 25"/>
              <p:cNvCxnSpPr/>
              <p:nvPr/>
            </p:nvCxnSpPr>
            <p:spPr>
              <a:xfrm>
                <a:off x="5780505" y="4213726"/>
                <a:ext cx="864135" cy="48652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7" name="Straight Connector 26"/>
              <p:cNvCxnSpPr/>
              <p:nvPr/>
            </p:nvCxnSpPr>
            <p:spPr>
              <a:xfrm flipV="1">
                <a:off x="3352800" y="4191000"/>
                <a:ext cx="914400" cy="532528"/>
              </a:xfrm>
              <a:prstGeom prst="line">
                <a:avLst/>
              </a:prstGeom>
              <a:ln w="539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28" name="Straight Connector 27"/>
              <p:cNvCxnSpPr/>
              <p:nvPr/>
            </p:nvCxnSpPr>
            <p:spPr>
              <a:xfrm flipH="1" flipV="1">
                <a:off x="5020333" y="1830421"/>
                <a:ext cx="1438" cy="1080749"/>
              </a:xfrm>
              <a:prstGeom prst="line">
                <a:avLst/>
              </a:prstGeom>
              <a:ln w="5397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1" name="TextBox 20"/>
            <p:cNvSpPr txBox="1"/>
            <p:nvPr/>
          </p:nvSpPr>
          <p:spPr>
            <a:xfrm>
              <a:off x="4137660" y="2836745"/>
              <a:ext cx="1828800" cy="1828800"/>
            </a:xfrm>
            <a:prstGeom prst="ellipse">
              <a:avLst/>
            </a:prstGeom>
            <a:solidFill>
              <a:schemeClr val="tx2"/>
            </a:solidFill>
            <a:ln w="15875">
              <a:noFill/>
            </a:ln>
          </p:spPr>
          <p:txBody>
            <a:bodyPr wrap="square" rtlCol="0" anchor="ctr">
              <a:noAutofit/>
            </a:bodyPr>
            <a:lstStyle/>
            <a:p>
              <a:pPr marL="0" lvl="1" algn="ctr">
                <a:lnSpc>
                  <a:spcPct val="110000"/>
                </a:lnSpc>
                <a:spcBef>
                  <a:spcPts val="1500"/>
                </a:spcBef>
              </a:pPr>
              <a:r>
                <a:rPr lang="en-US" sz="1300" b="1" dirty="0" smtClean="0">
                  <a:solidFill>
                    <a:schemeClr val="bg1"/>
                  </a:solidFill>
                </a:rPr>
                <a:t>CRE INVESTMENT PROCESS</a:t>
              </a:r>
            </a:p>
          </p:txBody>
        </p:sp>
        <p:grpSp>
          <p:nvGrpSpPr>
            <p:cNvPr id="22" name="Group 21"/>
            <p:cNvGrpSpPr/>
            <p:nvPr/>
          </p:nvGrpSpPr>
          <p:grpSpPr>
            <a:xfrm>
              <a:off x="3772090" y="2507481"/>
              <a:ext cx="2648804" cy="2363936"/>
              <a:chOff x="3772090" y="2507481"/>
              <a:chExt cx="2648804" cy="2363936"/>
            </a:xfrm>
          </p:grpSpPr>
          <p:sp>
            <p:nvSpPr>
              <p:cNvPr id="23" name="TextBox 22"/>
              <p:cNvSpPr txBox="1"/>
              <p:nvPr/>
            </p:nvSpPr>
            <p:spPr>
              <a:xfrm rot="18294870">
                <a:off x="3463523" y="2944529"/>
                <a:ext cx="1295400" cy="678265"/>
              </a:xfrm>
              <a:prstGeom prst="rect">
                <a:avLst/>
              </a:prstGeom>
              <a:noFill/>
            </p:spPr>
            <p:txBody>
              <a:bodyPr wrap="square" lIns="0" tIns="0" rIns="0" bIns="0" rtlCol="0">
                <a:prstTxWarp prst="textArchUp">
                  <a:avLst/>
                </a:prstTxWarp>
                <a:noAutofit/>
              </a:bodyPr>
              <a:lstStyle/>
              <a:p>
                <a:pPr marL="0" lvl="1" algn="ctr">
                  <a:lnSpc>
                    <a:spcPct val="110000"/>
                  </a:lnSpc>
                  <a:spcBef>
                    <a:spcPts val="1500"/>
                  </a:spcBef>
                </a:pPr>
                <a:r>
                  <a:rPr lang="en-US" sz="1300" b="1" dirty="0" smtClean="0">
                    <a:solidFill>
                      <a:schemeClr val="bg1"/>
                    </a:solidFill>
                    <a:latin typeface="Calibri"/>
                  </a:rPr>
                  <a:t>  </a:t>
                </a:r>
                <a:br>
                  <a:rPr lang="en-US" sz="1300" b="1" dirty="0" smtClean="0">
                    <a:solidFill>
                      <a:schemeClr val="bg1"/>
                    </a:solidFill>
                    <a:latin typeface="Calibri"/>
                  </a:rPr>
                </a:br>
                <a:r>
                  <a:rPr lang="en-US" sz="1300" b="1" dirty="0" smtClean="0">
                    <a:solidFill>
                      <a:schemeClr val="bg1"/>
                    </a:solidFill>
                    <a:latin typeface="Calibri"/>
                  </a:rPr>
                  <a:t>EQUITY MARKET</a:t>
                </a:r>
                <a:endParaRPr lang="en-US" sz="1300" b="1" dirty="0">
                  <a:solidFill>
                    <a:schemeClr val="bg1"/>
                  </a:solidFill>
                  <a:latin typeface="Calibri"/>
                </a:endParaRPr>
              </a:p>
            </p:txBody>
          </p:sp>
          <p:sp>
            <p:nvSpPr>
              <p:cNvPr id="24" name="TextBox 23"/>
              <p:cNvSpPr txBox="1"/>
              <p:nvPr/>
            </p:nvSpPr>
            <p:spPr>
              <a:xfrm>
                <a:off x="3953811" y="3423617"/>
                <a:ext cx="2171700" cy="1447800"/>
              </a:xfrm>
              <a:prstGeom prst="rect">
                <a:avLst/>
              </a:prstGeom>
              <a:noFill/>
            </p:spPr>
            <p:txBody>
              <a:bodyPr wrap="square" lIns="0" tIns="0" rIns="0" bIns="0" rtlCol="0">
                <a:prstTxWarp prst="textArchDown">
                  <a:avLst/>
                </a:prstTxWarp>
                <a:noAutofit/>
              </a:bodyPr>
              <a:lstStyle/>
              <a:p>
                <a:pPr marL="0" lvl="1" algn="ctr">
                  <a:lnSpc>
                    <a:spcPct val="110000"/>
                  </a:lnSpc>
                  <a:spcBef>
                    <a:spcPts val="1500"/>
                  </a:spcBef>
                </a:pPr>
                <a:r>
                  <a:rPr lang="en-US" sz="1300" b="1" dirty="0" smtClean="0">
                    <a:solidFill>
                      <a:schemeClr val="bg1"/>
                    </a:solidFill>
                    <a:latin typeface="Calibri"/>
                  </a:rPr>
                  <a:t>CORPORATE </a:t>
                </a:r>
                <a:br>
                  <a:rPr lang="en-US" sz="1300" b="1" dirty="0" smtClean="0">
                    <a:solidFill>
                      <a:schemeClr val="bg1"/>
                    </a:solidFill>
                    <a:latin typeface="Calibri"/>
                  </a:rPr>
                </a:br>
                <a:r>
                  <a:rPr lang="en-US" sz="1300" b="1" dirty="0" smtClean="0">
                    <a:solidFill>
                      <a:schemeClr val="bg1"/>
                    </a:solidFill>
                    <a:latin typeface="Calibri"/>
                  </a:rPr>
                  <a:t>DEBT MARKET</a:t>
                </a:r>
                <a:endParaRPr lang="en-US" sz="1300" b="1" dirty="0">
                  <a:solidFill>
                    <a:schemeClr val="bg1"/>
                  </a:solidFill>
                  <a:latin typeface="Calibri"/>
                </a:endParaRPr>
              </a:p>
            </p:txBody>
          </p:sp>
          <p:sp>
            <p:nvSpPr>
              <p:cNvPr id="25" name="TextBox 24"/>
              <p:cNvSpPr txBox="1"/>
              <p:nvPr/>
            </p:nvSpPr>
            <p:spPr>
              <a:xfrm rot="3412790">
                <a:off x="4272822" y="2636365"/>
                <a:ext cx="2276955" cy="2019188"/>
              </a:xfrm>
              <a:prstGeom prst="rect">
                <a:avLst/>
              </a:prstGeom>
              <a:noFill/>
            </p:spPr>
            <p:txBody>
              <a:bodyPr wrap="square" lIns="0" tIns="0" rIns="0" bIns="0" rtlCol="0">
                <a:prstTxWarp prst="textArchUp">
                  <a:avLst>
                    <a:gd name="adj" fmla="val 12240818"/>
                  </a:avLst>
                </a:prstTxWarp>
                <a:noAutofit/>
              </a:bodyPr>
              <a:lstStyle/>
              <a:p>
                <a:pPr marL="0" lvl="1" algn="ctr">
                  <a:lnSpc>
                    <a:spcPct val="110000"/>
                  </a:lnSpc>
                  <a:spcBef>
                    <a:spcPts val="1500"/>
                  </a:spcBef>
                </a:pPr>
                <a:r>
                  <a:rPr lang="en-US" sz="1300" b="1" dirty="0" smtClean="0">
                    <a:solidFill>
                      <a:schemeClr val="bg1"/>
                    </a:solidFill>
                    <a:latin typeface="Calibri"/>
                  </a:rPr>
                  <a:t>CMBS  MARKET</a:t>
                </a:r>
                <a:endParaRPr lang="en-US" sz="1300" b="1" dirty="0">
                  <a:solidFill>
                    <a:schemeClr val="bg1"/>
                  </a:solidFill>
                  <a:latin typeface="Calibri"/>
                </a:endParaRPr>
              </a:p>
            </p:txBody>
          </p:sp>
        </p:grpSp>
      </p:grpSp>
      <p:sp>
        <p:nvSpPr>
          <p:cNvPr id="29" name="Rectangle 28"/>
          <p:cNvSpPr/>
          <p:nvPr/>
        </p:nvSpPr>
        <p:spPr>
          <a:xfrm>
            <a:off x="5443384" y="5823022"/>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smtClean="0">
                <a:solidFill>
                  <a:schemeClr val="accent2"/>
                </a:solidFill>
                <a:latin typeface="+mj-lt"/>
              </a:rPr>
              <a:t>Corporate CRE</a:t>
            </a:r>
          </a:p>
          <a:p>
            <a:pPr marL="171450" lvl="1" indent="-171450">
              <a:spcBef>
                <a:spcPts val="600"/>
              </a:spcBef>
              <a:buFont typeface="Arial" panose="020B0604020202020204" pitchFamily="34" charset="0"/>
              <a:buChar char="•"/>
            </a:pPr>
            <a:r>
              <a:rPr lang="en-US" sz="1300" dirty="0">
                <a:solidFill>
                  <a:schemeClr val="tx2"/>
                </a:solidFill>
              </a:rPr>
              <a:t>Unsecured Debt</a:t>
            </a:r>
          </a:p>
          <a:p>
            <a:pPr marL="171450" lvl="1" indent="-171450">
              <a:spcBef>
                <a:spcPts val="600"/>
              </a:spcBef>
              <a:buFont typeface="Arial" panose="020B0604020202020204" pitchFamily="34" charset="0"/>
              <a:buChar char="•"/>
            </a:pPr>
            <a:r>
              <a:rPr lang="en-US" sz="1300" dirty="0" err="1">
                <a:solidFill>
                  <a:schemeClr val="tx2"/>
                </a:solidFill>
              </a:rPr>
              <a:t>PropCo</a:t>
            </a:r>
            <a:r>
              <a:rPr lang="en-US" sz="1300" dirty="0">
                <a:solidFill>
                  <a:schemeClr val="tx2"/>
                </a:solidFill>
              </a:rPr>
              <a:t> Debt</a:t>
            </a:r>
          </a:p>
          <a:p>
            <a:pPr marL="171450" lvl="1" indent="-171450">
              <a:spcBef>
                <a:spcPts val="600"/>
              </a:spcBef>
              <a:buFont typeface="Arial" panose="020B0604020202020204" pitchFamily="34" charset="0"/>
              <a:buChar char="•"/>
            </a:pPr>
            <a:r>
              <a:rPr lang="en-US" sz="1300" dirty="0">
                <a:solidFill>
                  <a:schemeClr val="tx2"/>
                </a:solidFill>
              </a:rPr>
              <a:t>Corporate Loans</a:t>
            </a:r>
          </a:p>
          <a:p>
            <a:pPr marL="171450" lvl="1" indent="-171450">
              <a:spcBef>
                <a:spcPts val="600"/>
              </a:spcBef>
              <a:buFont typeface="Arial" panose="020B0604020202020204" pitchFamily="34" charset="0"/>
              <a:buChar char="•"/>
            </a:pPr>
            <a:r>
              <a:rPr lang="en-US" sz="1300" dirty="0">
                <a:solidFill>
                  <a:schemeClr val="tx2"/>
                </a:solidFill>
              </a:rPr>
              <a:t>CDS</a:t>
            </a:r>
          </a:p>
          <a:p>
            <a:pPr marL="173038" lvl="3" indent="-173038" algn="ctr">
              <a:lnSpc>
                <a:spcPct val="110000"/>
              </a:lnSpc>
              <a:spcBef>
                <a:spcPts val="300"/>
              </a:spcBef>
              <a:buSzPct val="80000"/>
              <a:buFont typeface="Arial" panose="020B0604020202020204" pitchFamily="34" charset="0"/>
              <a:buChar char="•"/>
            </a:pPr>
            <a:endParaRPr lang="en-US" sz="1300" dirty="0">
              <a:solidFill>
                <a:schemeClr val="tx2"/>
              </a:solidFill>
            </a:endParaRPr>
          </a:p>
          <a:p>
            <a:pPr marL="173038" lvl="3" indent="-173038" algn="ctr">
              <a:lnSpc>
                <a:spcPct val="110000"/>
              </a:lnSpc>
              <a:spcBef>
                <a:spcPts val="300"/>
              </a:spcBef>
              <a:buSzPct val="80000"/>
              <a:buFont typeface="Arial" panose="020B0604020202020204" pitchFamily="34" charset="0"/>
              <a:buChar char="•"/>
            </a:pPr>
            <a:endParaRPr lang="en-US" sz="1300" dirty="0">
              <a:solidFill>
                <a:schemeClr val="tx2"/>
              </a:solidFill>
              <a:latin typeface="+mj-lt"/>
            </a:endParaRPr>
          </a:p>
        </p:txBody>
      </p:sp>
      <p:sp>
        <p:nvSpPr>
          <p:cNvPr id="30" name="Rectangle 29"/>
          <p:cNvSpPr/>
          <p:nvPr/>
        </p:nvSpPr>
        <p:spPr>
          <a:xfrm>
            <a:off x="2553138" y="2350328"/>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smtClean="0">
                <a:solidFill>
                  <a:schemeClr val="accent2"/>
                </a:solidFill>
                <a:latin typeface="+mj-lt"/>
              </a:rPr>
              <a:t>CRE EQUITIES</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REITs</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Retail</a:t>
            </a:r>
          </a:p>
          <a:p>
            <a:pPr marL="173038" lvl="3" indent="-173038">
              <a:spcBef>
                <a:spcPts val="600"/>
              </a:spcBef>
              <a:buSzPct val="80000"/>
              <a:buFont typeface="Arial" panose="020B0604020202020204" pitchFamily="34" charset="0"/>
              <a:buChar char="•"/>
            </a:pPr>
            <a:r>
              <a:rPr lang="en-US" sz="1300" dirty="0" smtClean="0">
                <a:solidFill>
                  <a:schemeClr val="tx2"/>
                </a:solidFill>
                <a:latin typeface="+mj-lt"/>
              </a:rPr>
              <a:t>Other CRE Names</a:t>
            </a:r>
          </a:p>
        </p:txBody>
      </p:sp>
      <p:sp>
        <p:nvSpPr>
          <p:cNvPr id="31" name="Rectangle 30"/>
          <p:cNvSpPr/>
          <p:nvPr/>
        </p:nvSpPr>
        <p:spPr>
          <a:xfrm>
            <a:off x="7717122" y="2291594"/>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400" b="1" dirty="0">
                <a:solidFill>
                  <a:schemeClr val="accent2"/>
                </a:solidFill>
                <a:latin typeface="+mj-lt"/>
              </a:rPr>
              <a:t>CMBS &amp; Mortgage </a:t>
            </a:r>
            <a:r>
              <a:rPr lang="en-US" sz="1400" b="1" dirty="0" smtClean="0">
                <a:solidFill>
                  <a:schemeClr val="accent2"/>
                </a:solidFill>
                <a:latin typeface="+mj-lt"/>
              </a:rPr>
              <a:t>Lending</a:t>
            </a:r>
            <a:endParaRPr lang="en-US" sz="1400" b="1" dirty="0">
              <a:solidFill>
                <a:schemeClr val="accent2"/>
              </a:solidFill>
              <a:latin typeface="+mj-lt"/>
            </a:endParaRP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CMBX</a:t>
            </a: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Cash </a:t>
            </a:r>
            <a:r>
              <a:rPr lang="en-US" sz="1300" dirty="0" smtClean="0">
                <a:solidFill>
                  <a:schemeClr val="tx2"/>
                </a:solidFill>
                <a:latin typeface="+mj-lt"/>
              </a:rPr>
              <a:t>CMBS</a:t>
            </a:r>
            <a:endParaRPr lang="en-US" sz="1300" dirty="0">
              <a:solidFill>
                <a:schemeClr val="tx2"/>
              </a:solidFill>
              <a:latin typeface="+mj-lt"/>
            </a:endParaRPr>
          </a:p>
          <a:p>
            <a:pPr marL="173038" lvl="3" indent="-173038">
              <a:spcBef>
                <a:spcPts val="600"/>
              </a:spcBef>
              <a:buSzPct val="80000"/>
              <a:buFont typeface="Arial" panose="020B0604020202020204" pitchFamily="34" charset="0"/>
              <a:buChar char="•"/>
            </a:pPr>
            <a:r>
              <a:rPr lang="en-US" sz="1300" dirty="0">
                <a:solidFill>
                  <a:schemeClr val="tx2"/>
                </a:solidFill>
                <a:latin typeface="+mj-lt"/>
              </a:rPr>
              <a:t>CRE Mezzanine Lending</a:t>
            </a:r>
          </a:p>
        </p:txBody>
      </p:sp>
    </p:spTree>
    <p:extLst>
      <p:ext uri="{BB962C8B-B14F-4D97-AF65-F5344CB8AC3E}">
        <p14:creationId xmlns:p14="http://schemas.microsoft.com/office/powerpoint/2010/main" val="236009115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CMBS Modeling</a:t>
            </a:r>
            <a:br>
              <a:rPr lang="en-US" dirty="0"/>
            </a:br>
            <a:r>
              <a:rPr lang="en-US" dirty="0"/>
              <a:t>RMBS Modeling vs. CMBS </a:t>
            </a:r>
            <a:r>
              <a:rPr lang="en-US" dirty="0" smtClean="0"/>
              <a:t>Modeling</a:t>
            </a:r>
            <a:endParaRPr lang="en-US" dirty="0"/>
          </a:p>
        </p:txBody>
      </p:sp>
      <p:sp>
        <p:nvSpPr>
          <p:cNvPr id="16" name="Content Placeholder 12"/>
          <p:cNvSpPr>
            <a:spLocks noGrp="1"/>
          </p:cNvSpPr>
          <p:nvPr>
            <p:ph idx="1"/>
          </p:nvPr>
        </p:nvSpPr>
        <p:spPr>
          <a:xfrm>
            <a:off x="293687" y="1235075"/>
            <a:ext cx="1839913" cy="2583659"/>
          </a:xfrm>
        </p:spPr>
        <p:txBody>
          <a:bodyPr/>
          <a:lstStyle/>
          <a:p>
            <a:pPr>
              <a:lnSpc>
                <a:spcPct val="100000"/>
              </a:lnSpc>
              <a:spcBef>
                <a:spcPts val="0"/>
              </a:spcBef>
            </a:pPr>
            <a:r>
              <a:rPr lang="en-US" sz="1100" b="0" dirty="0" smtClean="0">
                <a:solidFill>
                  <a:schemeClr val="tx1"/>
                </a:solidFill>
              </a:rPr>
              <a:t>RMBS Modeling has some fundamental differences from CMBS Modeling. The differences are introduced by the securities characteristics.</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The differences are noticed in terms of different collateral type, collateral size, default impact</a:t>
            </a:r>
            <a:r>
              <a:rPr lang="en-US" sz="1100" b="0" dirty="0">
                <a:solidFill>
                  <a:schemeClr val="tx1"/>
                </a:solidFill>
              </a:rPr>
              <a:t>, documentation, </a:t>
            </a:r>
            <a:r>
              <a:rPr lang="en-US" sz="1100" b="0" dirty="0" smtClean="0">
                <a:solidFill>
                  <a:schemeClr val="tx1"/>
                </a:solidFill>
              </a:rPr>
              <a:t>and the </a:t>
            </a:r>
            <a:r>
              <a:rPr lang="en-US" sz="1100" b="0" dirty="0">
                <a:solidFill>
                  <a:schemeClr val="tx1"/>
                </a:solidFill>
              </a:rPr>
              <a:t>applicability of the statistical </a:t>
            </a:r>
            <a:r>
              <a:rPr lang="en-US" sz="1100" b="0" dirty="0" smtClean="0">
                <a:solidFill>
                  <a:schemeClr val="tx1"/>
                </a:solidFill>
              </a:rPr>
              <a:t>models.</a:t>
            </a:r>
            <a:endParaRPr lang="en-US" sz="1100" b="0" dirty="0">
              <a:solidFill>
                <a:schemeClr val="tx1"/>
              </a:solidFill>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75" name="Group 74"/>
          <p:cNvGrpSpPr/>
          <p:nvPr/>
        </p:nvGrpSpPr>
        <p:grpSpPr>
          <a:xfrm>
            <a:off x="3200400" y="1839330"/>
            <a:ext cx="6629400" cy="4790070"/>
            <a:chOff x="3200400" y="2057400"/>
            <a:chExt cx="6629400" cy="4572000"/>
          </a:xfrm>
        </p:grpSpPr>
        <p:sp>
          <p:nvSpPr>
            <p:cNvPr id="42" name="Rectangle 41"/>
            <p:cNvSpPr/>
            <p:nvPr/>
          </p:nvSpPr>
          <p:spPr>
            <a:xfrm>
              <a:off x="6324600" y="2057400"/>
              <a:ext cx="3505200" cy="4572000"/>
            </a:xfrm>
            <a:prstGeom prst="rect">
              <a:avLst/>
            </a:prstGeom>
            <a:solidFill>
              <a:schemeClr val="accent6">
                <a:lumMod val="20000"/>
                <a:lumOff val="80000"/>
              </a:schemeClr>
            </a:solidFill>
            <a:ln>
              <a:noFill/>
            </a:ln>
          </p:spPr>
          <p:style>
            <a:lnRef idx="2">
              <a:schemeClr val="accent2">
                <a:shade val="50000"/>
              </a:schemeClr>
            </a:lnRef>
            <a:fillRef idx="1">
              <a:schemeClr val="accent2"/>
            </a:fillRef>
            <a:effectRef idx="0">
              <a:schemeClr val="accent2"/>
            </a:effectRef>
            <a:fontRef idx="minor">
              <a:schemeClr val="lt1"/>
            </a:fontRef>
          </p:style>
          <p:txBody>
            <a:bodyPr rtlCol="0" anchor="ctr"/>
            <a:lstStyle/>
            <a:p>
              <a:pPr algn="ctr"/>
              <a:endParaRPr lang="en-US"/>
            </a:p>
          </p:txBody>
        </p:sp>
        <p:sp>
          <p:nvSpPr>
            <p:cNvPr id="12" name="Rectangle 11"/>
            <p:cNvSpPr/>
            <p:nvPr/>
          </p:nvSpPr>
          <p:spPr>
            <a:xfrm>
              <a:off x="3200400" y="2057400"/>
              <a:ext cx="3124200" cy="4572000"/>
            </a:xfrm>
            <a:prstGeom prst="rect">
              <a:avLst/>
            </a:prstGeom>
            <a:solidFill>
              <a:schemeClr val="accent3">
                <a:lumMod val="20000"/>
                <a:lumOff val="8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sp>
          <p:nvSpPr>
            <p:cNvPr id="7" name="TextBox 6"/>
            <p:cNvSpPr txBox="1"/>
            <p:nvPr/>
          </p:nvSpPr>
          <p:spPr>
            <a:xfrm>
              <a:off x="3200400" y="2133599"/>
              <a:ext cx="31242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Trend to be backed by relatively homogeneous collateral - mortgages are secured by</a:t>
              </a:r>
              <a:r>
                <a:rPr lang="en-US" sz="1100" b="1" dirty="0"/>
                <a:t> single family residences</a:t>
              </a:r>
            </a:p>
          </p:txBody>
        </p:sp>
        <p:sp>
          <p:nvSpPr>
            <p:cNvPr id="33" name="TextBox 32"/>
            <p:cNvSpPr txBox="1"/>
            <p:nvPr/>
          </p:nvSpPr>
          <p:spPr>
            <a:xfrm>
              <a:off x="6400800" y="2134892"/>
              <a:ext cx="3429000" cy="769441"/>
            </a:xfrm>
            <a:prstGeom prst="rect">
              <a:avLst/>
            </a:prstGeom>
            <a:noFill/>
          </p:spPr>
          <p:txBody>
            <a:bodyPr wrap="square" rtlCol="0">
              <a:spAutoFit/>
            </a:bodyPr>
            <a:lstStyle/>
            <a:p>
              <a:pPr marL="171450" indent="-171450">
                <a:buFont typeface="Arial" panose="020B0604020202020204" pitchFamily="34" charset="0"/>
                <a:buChar char="•"/>
              </a:pPr>
              <a:r>
                <a:rPr lang="en-US" sz="1100" dirty="0"/>
                <a:t>Trend to be more heterogeneous collateral - mortgages are secured by a </a:t>
              </a:r>
              <a:r>
                <a:rPr lang="en-US" sz="1100" b="1" dirty="0"/>
                <a:t>variety of property types </a:t>
              </a:r>
              <a:r>
                <a:rPr lang="en-US" sz="1100" dirty="0"/>
                <a:t>including office, retail, multifamily, industry and hospitality</a:t>
              </a:r>
            </a:p>
          </p:txBody>
        </p:sp>
        <p:sp>
          <p:nvSpPr>
            <p:cNvPr id="34" name="TextBox 33"/>
            <p:cNvSpPr txBox="1"/>
            <p:nvPr/>
          </p:nvSpPr>
          <p:spPr>
            <a:xfrm>
              <a:off x="3200400" y="3048000"/>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Each securitization typically contains </a:t>
              </a:r>
              <a:r>
                <a:rPr lang="en-US" sz="1100" b="1" dirty="0"/>
                <a:t>thousands of mortgages</a:t>
              </a:r>
            </a:p>
          </p:txBody>
        </p:sp>
        <p:sp>
          <p:nvSpPr>
            <p:cNvPr id="35" name="TextBox 34"/>
            <p:cNvSpPr txBox="1"/>
            <p:nvPr/>
          </p:nvSpPr>
          <p:spPr>
            <a:xfrm>
              <a:off x="6400800" y="3049293"/>
              <a:ext cx="3429000" cy="769441"/>
            </a:xfrm>
            <a:prstGeom prst="rect">
              <a:avLst/>
            </a:prstGeom>
            <a:noFill/>
          </p:spPr>
          <p:txBody>
            <a:bodyPr wrap="square" rtlCol="0">
              <a:spAutoFit/>
            </a:bodyPr>
            <a:lstStyle/>
            <a:p>
              <a:pPr marL="171450" indent="-171450">
                <a:buFont typeface="Arial" panose="020B0604020202020204" pitchFamily="34" charset="0"/>
                <a:buChar char="•"/>
              </a:pPr>
              <a:r>
                <a:rPr lang="en-US" sz="1100" dirty="0"/>
                <a:t>Most securitizations contain approximately </a:t>
              </a:r>
              <a:r>
                <a:rPr lang="en-US" sz="1100" b="1" dirty="0"/>
                <a:t>15-300 mortgages</a:t>
              </a:r>
            </a:p>
            <a:p>
              <a:pPr marL="171450" indent="-171450">
                <a:buFont typeface="Arial" panose="020B0604020202020204" pitchFamily="34" charset="0"/>
                <a:buChar char="•"/>
              </a:pPr>
              <a:r>
                <a:rPr lang="en-US" sz="1100" dirty="0"/>
                <a:t>Generally the </a:t>
              </a:r>
              <a:r>
                <a:rPr lang="en-US" sz="1100" b="1" dirty="0"/>
                <a:t>top 15 </a:t>
              </a:r>
              <a:r>
                <a:rPr lang="en-US" sz="1100" dirty="0"/>
                <a:t>loans account for approximately 50% of the balance of a CMBS trust</a:t>
              </a:r>
            </a:p>
          </p:txBody>
        </p:sp>
        <p:cxnSp>
          <p:nvCxnSpPr>
            <p:cNvPr id="11" name="Straight Connector 10"/>
            <p:cNvCxnSpPr/>
            <p:nvPr/>
          </p:nvCxnSpPr>
          <p:spPr>
            <a:xfrm>
              <a:off x="3276600" y="2971800"/>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3" name="TextBox 42"/>
            <p:cNvSpPr txBox="1"/>
            <p:nvPr/>
          </p:nvSpPr>
          <p:spPr>
            <a:xfrm>
              <a:off x="3200400" y="3953666"/>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The default of a single mortgage </a:t>
              </a:r>
              <a:r>
                <a:rPr lang="en-US" sz="1100" b="1" dirty="0"/>
                <a:t>does not tend to materially impact </a:t>
              </a:r>
              <a:r>
                <a:rPr lang="en-US" sz="1100" dirty="0"/>
                <a:t>deal performance</a:t>
              </a:r>
            </a:p>
          </p:txBody>
        </p:sp>
        <p:sp>
          <p:nvSpPr>
            <p:cNvPr id="44" name="TextBox 43"/>
            <p:cNvSpPr txBox="1"/>
            <p:nvPr/>
          </p:nvSpPr>
          <p:spPr>
            <a:xfrm>
              <a:off x="6400800" y="3954959"/>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The default of a single mortgage can have a </a:t>
              </a:r>
              <a:r>
                <a:rPr lang="en-US" sz="1100" b="1" dirty="0"/>
                <a:t>significant impact</a:t>
              </a:r>
              <a:r>
                <a:rPr lang="en-US" sz="1100" dirty="0"/>
                <a:t> to the owners of all related CMBS tranches</a:t>
              </a:r>
            </a:p>
          </p:txBody>
        </p:sp>
        <p:cxnSp>
          <p:nvCxnSpPr>
            <p:cNvPr id="45" name="Straight Connector 44"/>
            <p:cNvCxnSpPr/>
            <p:nvPr/>
          </p:nvCxnSpPr>
          <p:spPr>
            <a:xfrm>
              <a:off x="3276600" y="3877466"/>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49" name="TextBox 48"/>
            <p:cNvSpPr txBox="1"/>
            <p:nvPr/>
          </p:nvSpPr>
          <p:spPr>
            <a:xfrm>
              <a:off x="3200400" y="4768139"/>
              <a:ext cx="31242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More </a:t>
              </a:r>
              <a:r>
                <a:rPr lang="en-US" sz="1100" b="1" dirty="0"/>
                <a:t>consistency</a:t>
              </a:r>
              <a:r>
                <a:rPr lang="en-US" sz="1100" dirty="0"/>
                <a:t> in loan documentation for residential mortgages</a:t>
              </a:r>
            </a:p>
          </p:txBody>
        </p:sp>
        <p:sp>
          <p:nvSpPr>
            <p:cNvPr id="50" name="TextBox 49"/>
            <p:cNvSpPr txBox="1"/>
            <p:nvPr/>
          </p:nvSpPr>
          <p:spPr>
            <a:xfrm>
              <a:off x="6400800" y="4769432"/>
              <a:ext cx="3429000" cy="430887"/>
            </a:xfrm>
            <a:prstGeom prst="rect">
              <a:avLst/>
            </a:prstGeom>
            <a:noFill/>
          </p:spPr>
          <p:txBody>
            <a:bodyPr wrap="square" rtlCol="0">
              <a:spAutoFit/>
            </a:bodyPr>
            <a:lstStyle/>
            <a:p>
              <a:pPr marL="171450" indent="-171450">
                <a:buFont typeface="Arial" panose="020B0604020202020204" pitchFamily="34" charset="0"/>
                <a:buChar char="•"/>
              </a:pPr>
              <a:r>
                <a:rPr lang="en-US" sz="1100" dirty="0"/>
                <a:t>Loan documentation tends to be </a:t>
              </a:r>
              <a:r>
                <a:rPr lang="en-US" sz="1100" b="1" dirty="0"/>
                <a:t>unique</a:t>
              </a:r>
              <a:r>
                <a:rPr lang="en-US" sz="1100" dirty="0"/>
                <a:t> for each borrower/mortgage</a:t>
              </a:r>
            </a:p>
          </p:txBody>
        </p:sp>
        <p:cxnSp>
          <p:nvCxnSpPr>
            <p:cNvPr id="51" name="Straight Connector 50"/>
            <p:cNvCxnSpPr/>
            <p:nvPr/>
          </p:nvCxnSpPr>
          <p:spPr>
            <a:xfrm>
              <a:off x="3276600" y="4691939"/>
              <a:ext cx="6400800" cy="0"/>
            </a:xfrm>
            <a:prstGeom prst="line">
              <a:avLst/>
            </a:prstGeom>
          </p:spPr>
          <p:style>
            <a:lnRef idx="1">
              <a:schemeClr val="accent1"/>
            </a:lnRef>
            <a:fillRef idx="0">
              <a:schemeClr val="accent1"/>
            </a:fillRef>
            <a:effectRef idx="0">
              <a:schemeClr val="accent1"/>
            </a:effectRef>
            <a:fontRef idx="minor">
              <a:schemeClr val="tx1"/>
            </a:fontRef>
          </p:style>
        </p:cxnSp>
        <p:sp>
          <p:nvSpPr>
            <p:cNvPr id="52" name="TextBox 51"/>
            <p:cNvSpPr txBox="1"/>
            <p:nvPr/>
          </p:nvSpPr>
          <p:spPr>
            <a:xfrm>
              <a:off x="3200400" y="5562600"/>
              <a:ext cx="3124200" cy="769441"/>
            </a:xfrm>
            <a:prstGeom prst="rect">
              <a:avLst/>
            </a:prstGeom>
            <a:noFill/>
          </p:spPr>
          <p:txBody>
            <a:bodyPr wrap="square" rtlCol="0">
              <a:spAutoFit/>
            </a:bodyPr>
            <a:lstStyle/>
            <a:p>
              <a:pPr marL="171450" indent="-171450">
                <a:buFont typeface="Arial" panose="020B0604020202020204" pitchFamily="34" charset="0"/>
                <a:buChar char="•"/>
              </a:pPr>
              <a:r>
                <a:rPr lang="en-US" sz="1100" dirty="0"/>
                <a:t>Modeling is typically based on law of large numbers, applying a </a:t>
              </a:r>
              <a:r>
                <a:rPr lang="en-US" sz="1100" b="1" dirty="0"/>
                <a:t>probabilistic approach </a:t>
              </a:r>
              <a:r>
                <a:rPr lang="en-US" sz="1100" dirty="0"/>
                <a:t>to projecting performance outcome (e.g. CDR, CPR, Severities, etc.)</a:t>
              </a:r>
            </a:p>
          </p:txBody>
        </p:sp>
        <p:sp>
          <p:nvSpPr>
            <p:cNvPr id="53" name="TextBox 52"/>
            <p:cNvSpPr txBox="1"/>
            <p:nvPr/>
          </p:nvSpPr>
          <p:spPr>
            <a:xfrm>
              <a:off x="6400800" y="5563893"/>
              <a:ext cx="3429000" cy="600164"/>
            </a:xfrm>
            <a:prstGeom prst="rect">
              <a:avLst/>
            </a:prstGeom>
            <a:noFill/>
          </p:spPr>
          <p:txBody>
            <a:bodyPr wrap="square" rtlCol="0">
              <a:spAutoFit/>
            </a:bodyPr>
            <a:lstStyle/>
            <a:p>
              <a:pPr marL="171450" indent="-171450">
                <a:buFont typeface="Arial" panose="020B0604020202020204" pitchFamily="34" charset="0"/>
                <a:buChar char="•"/>
              </a:pPr>
              <a:r>
                <a:rPr lang="en-US" sz="1100" dirty="0"/>
                <a:t>Commercial real estate is </a:t>
              </a:r>
              <a:r>
                <a:rPr lang="en-US" sz="1100" b="1" dirty="0"/>
                <a:t>less amenable </a:t>
              </a:r>
              <a:r>
                <a:rPr lang="en-US" sz="1100" dirty="0"/>
                <a:t>to statistical modeling due to idiosyncratic aspects of each underlying commercial property and mortgage</a:t>
              </a:r>
            </a:p>
          </p:txBody>
        </p:sp>
        <p:cxnSp>
          <p:nvCxnSpPr>
            <p:cNvPr id="54" name="Straight Connector 53"/>
            <p:cNvCxnSpPr/>
            <p:nvPr/>
          </p:nvCxnSpPr>
          <p:spPr>
            <a:xfrm>
              <a:off x="3276600" y="5486400"/>
              <a:ext cx="6400800" cy="0"/>
            </a:xfrm>
            <a:prstGeom prst="line">
              <a:avLst/>
            </a:prstGeom>
          </p:spPr>
          <p:style>
            <a:lnRef idx="1">
              <a:schemeClr val="accent1"/>
            </a:lnRef>
            <a:fillRef idx="0">
              <a:schemeClr val="accent1"/>
            </a:fillRef>
            <a:effectRef idx="0">
              <a:schemeClr val="accent1"/>
            </a:effectRef>
            <a:fontRef idx="minor">
              <a:schemeClr val="tx1"/>
            </a:fontRef>
          </p:style>
        </p:cxnSp>
        <p:cxnSp>
          <p:nvCxnSpPr>
            <p:cNvPr id="14" name="Straight Connector 13"/>
            <p:cNvCxnSpPr/>
            <p:nvPr/>
          </p:nvCxnSpPr>
          <p:spPr>
            <a:xfrm>
              <a:off x="3200400" y="2057400"/>
              <a:ext cx="3124200" cy="0"/>
            </a:xfrm>
            <a:prstGeom prst="line">
              <a:avLst/>
            </a:prstGeom>
            <a:ln w="28575"/>
          </p:spPr>
          <p:style>
            <a:lnRef idx="1">
              <a:schemeClr val="accent3"/>
            </a:lnRef>
            <a:fillRef idx="0">
              <a:schemeClr val="accent3"/>
            </a:fillRef>
            <a:effectRef idx="0">
              <a:schemeClr val="accent3"/>
            </a:effectRef>
            <a:fontRef idx="minor">
              <a:schemeClr val="tx1"/>
            </a:fontRef>
          </p:style>
        </p:cxnSp>
        <p:cxnSp>
          <p:nvCxnSpPr>
            <p:cNvPr id="55" name="Straight Connector 54"/>
            <p:cNvCxnSpPr/>
            <p:nvPr/>
          </p:nvCxnSpPr>
          <p:spPr>
            <a:xfrm>
              <a:off x="6324600" y="2057400"/>
              <a:ext cx="3505200" cy="0"/>
            </a:xfrm>
            <a:prstGeom prst="line">
              <a:avLst/>
            </a:prstGeom>
            <a:ln w="28575">
              <a:solidFill>
                <a:schemeClr val="accent1"/>
              </a:solidFill>
            </a:ln>
          </p:spPr>
          <p:style>
            <a:lnRef idx="1">
              <a:schemeClr val="accent3"/>
            </a:lnRef>
            <a:fillRef idx="0">
              <a:schemeClr val="accent3"/>
            </a:fillRef>
            <a:effectRef idx="0">
              <a:schemeClr val="accent3"/>
            </a:effectRef>
            <a:fontRef idx="minor">
              <a:schemeClr val="tx1"/>
            </a:fontRef>
          </p:style>
        </p:cxnSp>
      </p:grpSp>
      <p:sp>
        <p:nvSpPr>
          <p:cNvPr id="57" name="TextBox 56"/>
          <p:cNvSpPr txBox="1"/>
          <p:nvPr/>
        </p:nvSpPr>
        <p:spPr>
          <a:xfrm>
            <a:off x="3200400" y="1534530"/>
            <a:ext cx="1562100" cy="307777"/>
          </a:xfrm>
          <a:prstGeom prst="rect">
            <a:avLst/>
          </a:prstGeom>
          <a:noFill/>
        </p:spPr>
        <p:txBody>
          <a:bodyPr wrap="square" rtlCol="0">
            <a:spAutoFit/>
          </a:bodyPr>
          <a:lstStyle/>
          <a:p>
            <a:r>
              <a:rPr lang="en-US" sz="1400" b="1" dirty="0" smtClean="0"/>
              <a:t>RMBS</a:t>
            </a:r>
            <a:endParaRPr lang="en-US" sz="1400" b="1" dirty="0"/>
          </a:p>
        </p:txBody>
      </p:sp>
      <p:sp>
        <p:nvSpPr>
          <p:cNvPr id="58" name="TextBox 57"/>
          <p:cNvSpPr txBox="1"/>
          <p:nvPr/>
        </p:nvSpPr>
        <p:spPr>
          <a:xfrm>
            <a:off x="6324600" y="1524000"/>
            <a:ext cx="1562100" cy="307777"/>
          </a:xfrm>
          <a:prstGeom prst="rect">
            <a:avLst/>
          </a:prstGeom>
          <a:noFill/>
        </p:spPr>
        <p:txBody>
          <a:bodyPr wrap="square" rtlCol="0">
            <a:spAutoFit/>
          </a:bodyPr>
          <a:lstStyle/>
          <a:p>
            <a:r>
              <a:rPr lang="en-US" sz="1400" b="1" dirty="0"/>
              <a:t>C</a:t>
            </a:r>
            <a:r>
              <a:rPr lang="en-US" sz="1400" b="1" dirty="0" smtClean="0"/>
              <a:t>MBS</a:t>
            </a:r>
            <a:endParaRPr lang="en-US" sz="1400" b="1" dirty="0"/>
          </a:p>
        </p:txBody>
      </p:sp>
      <p:sp>
        <p:nvSpPr>
          <p:cNvPr id="63" name="TextBox 62"/>
          <p:cNvSpPr txBox="1"/>
          <p:nvPr/>
        </p:nvSpPr>
        <p:spPr>
          <a:xfrm rot="16200000">
            <a:off x="2436246" y="2592955"/>
            <a:ext cx="553998" cy="854489"/>
          </a:xfrm>
          <a:prstGeom prst="rect">
            <a:avLst/>
          </a:prstGeom>
          <a:noFill/>
        </p:spPr>
        <p:txBody>
          <a:bodyPr vert="eaVert" wrap="square" rtlCol="0">
            <a:spAutoFit/>
          </a:bodyPr>
          <a:lstStyle/>
          <a:p>
            <a:pPr algn="r"/>
            <a:r>
              <a:rPr lang="en-US" sz="1200" dirty="0"/>
              <a:t>Collateral</a:t>
            </a:r>
            <a:endParaRPr lang="en-US" sz="1200" dirty="0" smtClean="0"/>
          </a:p>
          <a:p>
            <a:pPr algn="r"/>
            <a:r>
              <a:rPr lang="en-US" sz="1200" dirty="0" smtClean="0"/>
              <a:t>Size</a:t>
            </a:r>
            <a:endParaRPr lang="en-US" sz="1200" dirty="0"/>
          </a:p>
        </p:txBody>
      </p:sp>
      <p:cxnSp>
        <p:nvCxnSpPr>
          <p:cNvPr id="65" name="Straight Connector 64"/>
          <p:cNvCxnSpPr/>
          <p:nvPr/>
        </p:nvCxnSpPr>
        <p:spPr>
          <a:xfrm>
            <a:off x="3140490" y="2835533"/>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6" name="TextBox 65"/>
          <p:cNvSpPr txBox="1"/>
          <p:nvPr/>
        </p:nvSpPr>
        <p:spPr>
          <a:xfrm rot="16200000">
            <a:off x="2436247" y="1608419"/>
            <a:ext cx="553998" cy="854489"/>
          </a:xfrm>
          <a:prstGeom prst="rect">
            <a:avLst/>
          </a:prstGeom>
          <a:noFill/>
        </p:spPr>
        <p:txBody>
          <a:bodyPr vert="eaVert" wrap="square" rtlCol="0">
            <a:spAutoFit/>
          </a:bodyPr>
          <a:lstStyle/>
          <a:p>
            <a:pPr algn="r"/>
            <a:r>
              <a:rPr lang="en-US" sz="1200" dirty="0" smtClean="0"/>
              <a:t>Collateral</a:t>
            </a:r>
          </a:p>
          <a:p>
            <a:pPr algn="r"/>
            <a:r>
              <a:rPr lang="en-US" sz="1200" dirty="0" smtClean="0"/>
              <a:t>Type</a:t>
            </a:r>
            <a:endParaRPr lang="en-US" sz="1200" dirty="0"/>
          </a:p>
        </p:txBody>
      </p:sp>
      <p:cxnSp>
        <p:nvCxnSpPr>
          <p:cNvPr id="67" name="Straight Connector 66"/>
          <p:cNvCxnSpPr/>
          <p:nvPr/>
        </p:nvCxnSpPr>
        <p:spPr>
          <a:xfrm>
            <a:off x="3140491" y="1850997"/>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69" name="TextBox 68"/>
          <p:cNvSpPr txBox="1"/>
          <p:nvPr/>
        </p:nvSpPr>
        <p:spPr>
          <a:xfrm rot="16200000">
            <a:off x="2436247" y="3562956"/>
            <a:ext cx="553998" cy="854489"/>
          </a:xfrm>
          <a:prstGeom prst="rect">
            <a:avLst/>
          </a:prstGeom>
          <a:noFill/>
        </p:spPr>
        <p:txBody>
          <a:bodyPr vert="eaVert" wrap="square" rtlCol="0">
            <a:spAutoFit/>
          </a:bodyPr>
          <a:lstStyle/>
          <a:p>
            <a:pPr algn="r"/>
            <a:r>
              <a:rPr lang="en-US" sz="1200" dirty="0" smtClean="0"/>
              <a:t>Default</a:t>
            </a:r>
          </a:p>
          <a:p>
            <a:pPr algn="r"/>
            <a:r>
              <a:rPr lang="en-US" sz="1200" dirty="0" smtClean="0"/>
              <a:t>Impact</a:t>
            </a:r>
            <a:endParaRPr lang="en-US" sz="1200" dirty="0"/>
          </a:p>
        </p:txBody>
      </p:sp>
      <p:cxnSp>
        <p:nvCxnSpPr>
          <p:cNvPr id="70" name="Straight Connector 69"/>
          <p:cNvCxnSpPr/>
          <p:nvPr/>
        </p:nvCxnSpPr>
        <p:spPr>
          <a:xfrm>
            <a:off x="3140491" y="3805534"/>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1" name="TextBox 70"/>
          <p:cNvSpPr txBox="1"/>
          <p:nvPr/>
        </p:nvSpPr>
        <p:spPr>
          <a:xfrm rot="16200000">
            <a:off x="2528578" y="4417289"/>
            <a:ext cx="369332" cy="854489"/>
          </a:xfrm>
          <a:prstGeom prst="rect">
            <a:avLst/>
          </a:prstGeom>
          <a:noFill/>
        </p:spPr>
        <p:txBody>
          <a:bodyPr vert="eaVert" wrap="square" rtlCol="0">
            <a:spAutoFit/>
          </a:bodyPr>
          <a:lstStyle/>
          <a:p>
            <a:pPr algn="r"/>
            <a:r>
              <a:rPr lang="en-US" sz="1200" dirty="0" smtClean="0"/>
              <a:t>Documents</a:t>
            </a:r>
            <a:endParaRPr lang="en-US" sz="1200" dirty="0"/>
          </a:p>
        </p:txBody>
      </p:sp>
      <p:cxnSp>
        <p:nvCxnSpPr>
          <p:cNvPr id="72" name="Straight Connector 71"/>
          <p:cNvCxnSpPr/>
          <p:nvPr/>
        </p:nvCxnSpPr>
        <p:spPr>
          <a:xfrm>
            <a:off x="3140489" y="4659867"/>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
        <p:nvSpPr>
          <p:cNvPr id="73" name="TextBox 72"/>
          <p:cNvSpPr txBox="1"/>
          <p:nvPr/>
        </p:nvSpPr>
        <p:spPr>
          <a:xfrm rot="16200000">
            <a:off x="2419956" y="5259955"/>
            <a:ext cx="553998" cy="854489"/>
          </a:xfrm>
          <a:prstGeom prst="rect">
            <a:avLst/>
          </a:prstGeom>
          <a:noFill/>
        </p:spPr>
        <p:txBody>
          <a:bodyPr vert="eaVert" wrap="square" rtlCol="0">
            <a:spAutoFit/>
          </a:bodyPr>
          <a:lstStyle/>
          <a:p>
            <a:pPr algn="r"/>
            <a:r>
              <a:rPr lang="en-US" sz="1200" dirty="0" smtClean="0"/>
              <a:t>Statistical</a:t>
            </a:r>
          </a:p>
          <a:p>
            <a:pPr algn="r"/>
            <a:r>
              <a:rPr lang="en-US" sz="1200" dirty="0" smtClean="0"/>
              <a:t>Modeling</a:t>
            </a:r>
            <a:endParaRPr lang="en-US" sz="1200" dirty="0"/>
          </a:p>
        </p:txBody>
      </p:sp>
      <p:cxnSp>
        <p:nvCxnSpPr>
          <p:cNvPr id="74" name="Straight Connector 73"/>
          <p:cNvCxnSpPr/>
          <p:nvPr/>
        </p:nvCxnSpPr>
        <p:spPr>
          <a:xfrm>
            <a:off x="3124200" y="5502533"/>
            <a:ext cx="0" cy="369333"/>
          </a:xfrm>
          <a:prstGeom prst="line">
            <a:avLst/>
          </a:prstGeom>
          <a:ln w="19050"/>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522731802"/>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5906453" y="1825915"/>
            <a:ext cx="3733800" cy="2186183"/>
          </a:xfrm>
          <a:prstGeom prst="rect">
            <a:avLst/>
          </a:prstGeom>
          <a:solidFill>
            <a:schemeClr val="accent6">
              <a:lumMod val="20000"/>
              <a:lumOff val="80000"/>
            </a:schemeClr>
          </a:solidFill>
          <a:ln>
            <a:noFill/>
          </a:ln>
        </p:spPr>
        <p:style>
          <a:lnRef idx="2">
            <a:schemeClr val="accent5">
              <a:shade val="50000"/>
            </a:schemeClr>
          </a:lnRef>
          <a:fillRef idx="1">
            <a:schemeClr val="accent5"/>
          </a:fillRef>
          <a:effectRef idx="0">
            <a:schemeClr val="accent5"/>
          </a:effectRef>
          <a:fontRef idx="minor">
            <a:schemeClr val="lt1"/>
          </a:fontRef>
        </p:style>
        <p:txBody>
          <a:bodyPr rtlCol="0" anchor="ctr"/>
          <a:lstStyle/>
          <a:p>
            <a:pPr algn="ctr"/>
            <a:endParaRPr lang="en-US"/>
          </a:p>
        </p:txBody>
      </p:sp>
      <p:cxnSp>
        <p:nvCxnSpPr>
          <p:cNvPr id="18" name="Straight Connector 17"/>
          <p:cNvCxnSpPr/>
          <p:nvPr/>
        </p:nvCxnSpPr>
        <p:spPr>
          <a:xfrm>
            <a:off x="2477453" y="1508799"/>
            <a:ext cx="2780347" cy="0"/>
          </a:xfrm>
          <a:prstGeom prst="line">
            <a:avLst/>
          </a:prstGeom>
        </p:spPr>
        <p:style>
          <a:lnRef idx="1">
            <a:schemeClr val="accent1"/>
          </a:lnRef>
          <a:fillRef idx="0">
            <a:schemeClr val="accent1"/>
          </a:fillRef>
          <a:effectRef idx="0">
            <a:schemeClr val="accent1"/>
          </a:effectRef>
          <a:fontRef idx="minor">
            <a:schemeClr val="tx1"/>
          </a:fontRef>
        </p:style>
      </p:cxnSp>
      <p:sp>
        <p:nvSpPr>
          <p:cNvPr id="2" name="Title 1"/>
          <p:cNvSpPr>
            <a:spLocks noGrp="1"/>
          </p:cNvSpPr>
          <p:nvPr>
            <p:ph type="title"/>
          </p:nvPr>
        </p:nvSpPr>
        <p:spPr/>
        <p:txBody>
          <a:bodyPr/>
          <a:lstStyle/>
          <a:p>
            <a:r>
              <a:rPr lang="en-US" dirty="0" smtClean="0"/>
              <a:t>CMBS Modeling</a:t>
            </a:r>
            <a:br>
              <a:rPr lang="en-US" dirty="0" smtClean="0"/>
            </a:br>
            <a:r>
              <a:rPr lang="en-US" dirty="0" smtClean="0"/>
              <a:t>Commercial Mortgage Loan basics</a:t>
            </a:r>
            <a:endParaRPr lang="en-US" dirty="0"/>
          </a:p>
        </p:txBody>
      </p:sp>
      <p:sp>
        <p:nvSpPr>
          <p:cNvPr id="16" name="Content Placeholder 12"/>
          <p:cNvSpPr>
            <a:spLocks noGrp="1"/>
          </p:cNvSpPr>
          <p:nvPr>
            <p:ph idx="1"/>
          </p:nvPr>
        </p:nvSpPr>
        <p:spPr>
          <a:xfrm>
            <a:off x="293687" y="1235075"/>
            <a:ext cx="1839913" cy="2583659"/>
          </a:xfrm>
        </p:spPr>
        <p:txBody>
          <a:bodyPr/>
          <a:lstStyle/>
          <a:p>
            <a:pPr>
              <a:lnSpc>
                <a:spcPct val="100000"/>
              </a:lnSpc>
              <a:spcBef>
                <a:spcPts val="0"/>
              </a:spcBef>
            </a:pPr>
            <a:r>
              <a:rPr lang="en-US" sz="1100" b="0" dirty="0" smtClean="0">
                <a:solidFill>
                  <a:schemeClr val="tx1"/>
                </a:solidFill>
              </a:rPr>
              <a:t>Similar as </a:t>
            </a:r>
            <a:r>
              <a:rPr lang="en-US" sz="1100" b="0" dirty="0">
                <a:solidFill>
                  <a:schemeClr val="tx1"/>
                </a:solidFill>
              </a:rPr>
              <a:t>r</a:t>
            </a:r>
            <a:r>
              <a:rPr lang="en-US" sz="1100" b="0" dirty="0" smtClean="0">
                <a:solidFill>
                  <a:schemeClr val="tx1"/>
                </a:solidFill>
              </a:rPr>
              <a:t>esidential properties, the capital structure for a commercial property also includes mortgage part and borrower equity part. </a:t>
            </a:r>
            <a:endParaRPr lang="en-US" sz="1100" b="0" dirty="0">
              <a:solidFill>
                <a:schemeClr val="tx1"/>
              </a:solidFill>
            </a:endParaRPr>
          </a:p>
          <a:p>
            <a:pPr>
              <a:lnSpc>
                <a:spcPct val="100000"/>
              </a:lnSpc>
              <a:spcBef>
                <a:spcPts val="0"/>
              </a:spcBef>
            </a:pPr>
            <a:endParaRPr lang="en-US" sz="1100" b="0" dirty="0" smtClean="0">
              <a:solidFill>
                <a:schemeClr val="tx1"/>
              </a:solidFill>
            </a:endParaRPr>
          </a:p>
          <a:p>
            <a:pPr>
              <a:lnSpc>
                <a:spcPct val="100000"/>
              </a:lnSpc>
              <a:spcBef>
                <a:spcPts val="0"/>
              </a:spcBef>
            </a:pPr>
            <a:r>
              <a:rPr lang="en-US" sz="1100" b="0" dirty="0" smtClean="0">
                <a:solidFill>
                  <a:schemeClr val="tx1"/>
                </a:solidFill>
              </a:rPr>
              <a:t>The risk terms inherited with commercial mortgage include Term Default Risk, Maturity Default Risk and Extension Risk.</a:t>
            </a:r>
            <a:endParaRPr lang="en-US" sz="1100" b="0" dirty="0">
              <a:solidFill>
                <a:schemeClr val="tx1"/>
              </a:solidFill>
            </a:endParaRPr>
          </a:p>
          <a:p>
            <a:pPr>
              <a:lnSpc>
                <a:spcPct val="100000"/>
              </a:lnSpc>
              <a:spcBef>
                <a:spcPts val="0"/>
              </a:spcBef>
            </a:pPr>
            <a:endParaRPr lang="en-US" sz="1100" b="0" dirty="0">
              <a:solidFill>
                <a:schemeClr val="tx1"/>
              </a:solidFill>
            </a:endParaRPr>
          </a:p>
          <a:p>
            <a:endParaRPr lang="en-US" sz="1100" b="0" dirty="0" smtClean="0">
              <a:solidFill>
                <a:schemeClr val="tx1"/>
              </a:solidFill>
            </a:endParaRPr>
          </a:p>
          <a:p>
            <a:endParaRPr lang="en-US" sz="1100" b="0" dirty="0">
              <a:solidFill>
                <a:schemeClr val="tx1"/>
              </a:solidFill>
            </a:endParaRPr>
          </a:p>
          <a:p>
            <a:endParaRPr lang="en-US" sz="1100" dirty="0" smtClean="0"/>
          </a:p>
        </p:txBody>
      </p:sp>
      <p:grpSp>
        <p:nvGrpSpPr>
          <p:cNvPr id="6" name="Group 5"/>
          <p:cNvGrpSpPr/>
          <p:nvPr/>
        </p:nvGrpSpPr>
        <p:grpSpPr>
          <a:xfrm>
            <a:off x="3010853" y="1143000"/>
            <a:ext cx="1981200" cy="4114800"/>
            <a:chOff x="2819400" y="1582439"/>
            <a:chExt cx="1981200" cy="3935898"/>
          </a:xfrm>
        </p:grpSpPr>
        <p:graphicFrame>
          <p:nvGraphicFramePr>
            <p:cNvPr id="36" name="Chart 35"/>
            <p:cNvGraphicFramePr/>
            <p:nvPr>
              <p:custDataLst>
                <p:tags r:id="rId5"/>
              </p:custDataLst>
              <p:extLst>
                <p:ext uri="{D42A27DB-BD31-4B8C-83A1-F6EECF244321}">
                  <p14:modId xmlns:p14="http://schemas.microsoft.com/office/powerpoint/2010/main" val="489750133"/>
                </p:ext>
              </p:extLst>
            </p:nvPr>
          </p:nvGraphicFramePr>
          <p:xfrm>
            <a:off x="2819400" y="1582439"/>
            <a:ext cx="1981200" cy="3935898"/>
          </p:xfrm>
          <a:graphic>
            <a:graphicData uri="http://schemas.openxmlformats.org/drawingml/2006/chart">
              <c:chart xmlns:c="http://schemas.openxmlformats.org/drawingml/2006/chart" xmlns:r="http://schemas.openxmlformats.org/officeDocument/2006/relationships" r:id="rId8"/>
            </a:graphicData>
          </a:graphic>
        </p:graphicFrame>
        <p:sp>
          <p:nvSpPr>
            <p:cNvPr id="3" name="TextBox 2"/>
            <p:cNvSpPr txBox="1"/>
            <p:nvPr/>
          </p:nvSpPr>
          <p:spPr>
            <a:xfrm>
              <a:off x="3276600" y="3276600"/>
              <a:ext cx="914400" cy="261610"/>
            </a:xfrm>
            <a:prstGeom prst="rect">
              <a:avLst/>
            </a:prstGeom>
            <a:noFill/>
          </p:spPr>
          <p:txBody>
            <a:bodyPr wrap="square" rtlCol="0">
              <a:spAutoFit/>
            </a:bodyPr>
            <a:lstStyle/>
            <a:p>
              <a:pPr algn="ctr"/>
              <a:r>
                <a:rPr lang="en-US" sz="1100" b="1" dirty="0" smtClean="0">
                  <a:solidFill>
                    <a:schemeClr val="bg1"/>
                  </a:solidFill>
                </a:rPr>
                <a:t>Mortgage</a:t>
              </a:r>
              <a:endParaRPr lang="en-US" sz="1100" b="1" dirty="0">
                <a:solidFill>
                  <a:schemeClr val="bg1"/>
                </a:solidFill>
              </a:endParaRPr>
            </a:p>
          </p:txBody>
        </p:sp>
        <p:sp>
          <p:nvSpPr>
            <p:cNvPr id="37" name="TextBox 36"/>
            <p:cNvSpPr txBox="1"/>
            <p:nvPr/>
          </p:nvSpPr>
          <p:spPr>
            <a:xfrm>
              <a:off x="3276600" y="4724400"/>
              <a:ext cx="914400" cy="430887"/>
            </a:xfrm>
            <a:prstGeom prst="rect">
              <a:avLst/>
            </a:prstGeom>
            <a:noFill/>
          </p:spPr>
          <p:txBody>
            <a:bodyPr wrap="square" rtlCol="0">
              <a:spAutoFit/>
            </a:bodyPr>
            <a:lstStyle/>
            <a:p>
              <a:pPr algn="ctr"/>
              <a:r>
                <a:rPr lang="en-US" sz="1100" b="1" dirty="0" smtClean="0">
                  <a:solidFill>
                    <a:schemeClr val="tx2"/>
                  </a:solidFill>
                </a:rPr>
                <a:t>Borrower</a:t>
              </a:r>
            </a:p>
            <a:p>
              <a:pPr algn="ctr"/>
              <a:r>
                <a:rPr lang="en-US" sz="1100" b="1" dirty="0" smtClean="0">
                  <a:solidFill>
                    <a:schemeClr val="tx2"/>
                  </a:solidFill>
                </a:rPr>
                <a:t>Equity</a:t>
              </a:r>
              <a:endParaRPr lang="en-US" sz="1100" b="1" dirty="0">
                <a:solidFill>
                  <a:schemeClr val="tx2"/>
                </a:solidFill>
              </a:endParaRPr>
            </a:p>
          </p:txBody>
        </p:sp>
      </p:grpSp>
      <p:sp>
        <p:nvSpPr>
          <p:cNvPr id="41" name="Freeform 5"/>
          <p:cNvSpPr>
            <a:spLocks/>
          </p:cNvSpPr>
          <p:nvPr>
            <p:custDataLst>
              <p:tags r:id="rId1"/>
            </p:custDataLst>
          </p:nvPr>
        </p:nvSpPr>
        <p:spPr bwMode="auto">
          <a:xfrm>
            <a:off x="3010852" y="1919628"/>
            <a:ext cx="457201" cy="1041992"/>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46" name="Freeform 14"/>
          <p:cNvSpPr>
            <a:spLocks/>
          </p:cNvSpPr>
          <p:nvPr>
            <p:custDataLst>
              <p:tags r:id="rId2"/>
            </p:custDataLst>
          </p:nvPr>
        </p:nvSpPr>
        <p:spPr bwMode="auto">
          <a:xfrm rot="10800000" flipH="1">
            <a:off x="3010853" y="4133961"/>
            <a:ext cx="431505" cy="819039"/>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8" name="TextBox 7"/>
          <p:cNvSpPr txBox="1"/>
          <p:nvPr/>
        </p:nvSpPr>
        <p:spPr>
          <a:xfrm>
            <a:off x="2477453" y="3209836"/>
            <a:ext cx="1066800" cy="600164"/>
          </a:xfrm>
          <a:prstGeom prst="rect">
            <a:avLst/>
          </a:prstGeom>
          <a:noFill/>
        </p:spPr>
        <p:txBody>
          <a:bodyPr wrap="square" rtlCol="0">
            <a:spAutoFit/>
          </a:bodyPr>
          <a:lstStyle/>
          <a:p>
            <a:pPr algn="ctr"/>
            <a:r>
              <a:rPr lang="en-US" sz="1100" dirty="0" smtClean="0"/>
              <a:t>Total</a:t>
            </a:r>
          </a:p>
          <a:p>
            <a:pPr algn="ctr"/>
            <a:r>
              <a:rPr lang="en-US" sz="1100" dirty="0" smtClean="0"/>
              <a:t>Property</a:t>
            </a:r>
          </a:p>
          <a:p>
            <a:pPr algn="ctr"/>
            <a:r>
              <a:rPr lang="en-US" sz="1100" dirty="0" smtClean="0"/>
              <a:t>Value = 100%</a:t>
            </a:r>
            <a:endParaRPr lang="en-US" sz="1100" dirty="0"/>
          </a:p>
        </p:txBody>
      </p:sp>
      <p:sp>
        <p:nvSpPr>
          <p:cNvPr id="47" name="Freeform 5"/>
          <p:cNvSpPr>
            <a:spLocks/>
          </p:cNvSpPr>
          <p:nvPr>
            <p:custDataLst>
              <p:tags r:id="rId3"/>
            </p:custDataLst>
          </p:nvPr>
        </p:nvSpPr>
        <p:spPr bwMode="auto">
          <a:xfrm rot="10800000">
            <a:off x="4368380" y="3567272"/>
            <a:ext cx="457201" cy="776127"/>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48" name="Freeform 14"/>
          <p:cNvSpPr>
            <a:spLocks/>
          </p:cNvSpPr>
          <p:nvPr>
            <p:custDataLst>
              <p:tags r:id="rId4"/>
            </p:custDataLst>
          </p:nvPr>
        </p:nvSpPr>
        <p:spPr bwMode="auto">
          <a:xfrm flipH="1">
            <a:off x="4394076" y="1907826"/>
            <a:ext cx="431505" cy="700735"/>
          </a:xfrm>
          <a:custGeom>
            <a:avLst/>
            <a:gdLst>
              <a:gd name="T0" fmla="*/ 0 w 1404"/>
              <a:gd name="T1" fmla="*/ 2147483647 h 228"/>
              <a:gd name="T2" fmla="*/ 0 w 1404"/>
              <a:gd name="T3" fmla="*/ 0 h 228"/>
              <a:gd name="T4" fmla="*/ 2147483647 w 1404"/>
              <a:gd name="T5" fmla="*/ 0 h 228"/>
              <a:gd name="T6" fmla="*/ 0 60000 65536"/>
              <a:gd name="T7" fmla="*/ 0 60000 65536"/>
              <a:gd name="T8" fmla="*/ 0 60000 65536"/>
              <a:gd name="T9" fmla="*/ 0 w 1404"/>
              <a:gd name="T10" fmla="*/ 0 h 228"/>
              <a:gd name="T11" fmla="*/ 1404 w 1404"/>
              <a:gd name="T12" fmla="*/ 228 h 228"/>
            </a:gdLst>
            <a:ahLst/>
            <a:cxnLst>
              <a:cxn ang="T6">
                <a:pos x="T0" y="T1"/>
              </a:cxn>
              <a:cxn ang="T7">
                <a:pos x="T2" y="T3"/>
              </a:cxn>
              <a:cxn ang="T8">
                <a:pos x="T4" y="T5"/>
              </a:cxn>
            </a:cxnLst>
            <a:rect l="T9" t="T10" r="T11" b="T12"/>
            <a:pathLst>
              <a:path w="1404" h="228">
                <a:moveTo>
                  <a:pt x="0" y="228"/>
                </a:moveTo>
                <a:lnTo>
                  <a:pt x="0" y="0"/>
                </a:lnTo>
                <a:lnTo>
                  <a:pt x="1404" y="0"/>
                </a:lnTo>
              </a:path>
            </a:pathLst>
          </a:custGeom>
          <a:noFill/>
          <a:ln w="19050">
            <a:solidFill>
              <a:srgbClr val="002776"/>
            </a:solidFill>
            <a:prstDash val="lgDash"/>
            <a:round/>
            <a:headEnd/>
            <a:tailEnd/>
          </a:ln>
        </p:spPr>
        <p:txBody>
          <a:bodyPr wrap="none" anchor="ctr"/>
          <a:lstStyle/>
          <a:p>
            <a:endParaRPr lang="en-US">
              <a:latin typeface="Arial Unicode MS" pitchFamily="34" charset="-122"/>
              <a:ea typeface="Arial Unicode MS" pitchFamily="34" charset="-122"/>
              <a:cs typeface="Arial Unicode MS" pitchFamily="34" charset="-122"/>
            </a:endParaRPr>
          </a:p>
        </p:txBody>
      </p:sp>
      <p:sp>
        <p:nvSpPr>
          <p:cNvPr id="56" name="TextBox 55"/>
          <p:cNvSpPr txBox="1"/>
          <p:nvPr/>
        </p:nvSpPr>
        <p:spPr>
          <a:xfrm>
            <a:off x="4394076" y="2819400"/>
            <a:ext cx="826577" cy="600164"/>
          </a:xfrm>
          <a:prstGeom prst="rect">
            <a:avLst/>
          </a:prstGeom>
          <a:noFill/>
        </p:spPr>
        <p:txBody>
          <a:bodyPr wrap="square" rtlCol="0">
            <a:spAutoFit/>
          </a:bodyPr>
          <a:lstStyle/>
          <a:p>
            <a:pPr algn="ctr"/>
            <a:r>
              <a:rPr lang="en-US" sz="1100" dirty="0" smtClean="0"/>
              <a:t>Mortgage</a:t>
            </a:r>
          </a:p>
          <a:p>
            <a:pPr algn="ctr"/>
            <a:r>
              <a:rPr lang="en-US" sz="1100" dirty="0" smtClean="0"/>
              <a:t>LTV</a:t>
            </a:r>
          </a:p>
          <a:p>
            <a:pPr algn="ctr"/>
            <a:r>
              <a:rPr lang="en-US" sz="1100" dirty="0" smtClean="0"/>
              <a:t>= 80%</a:t>
            </a:r>
            <a:endParaRPr lang="en-US" sz="1100" dirty="0"/>
          </a:p>
        </p:txBody>
      </p:sp>
      <p:cxnSp>
        <p:nvCxnSpPr>
          <p:cNvPr id="13" name="Straight Connector 12"/>
          <p:cNvCxnSpPr/>
          <p:nvPr/>
        </p:nvCxnSpPr>
        <p:spPr>
          <a:xfrm>
            <a:off x="5410200" y="1726098"/>
            <a:ext cx="0" cy="3276600"/>
          </a:xfrm>
          <a:prstGeom prst="line">
            <a:avLst/>
          </a:prstGeom>
        </p:spPr>
        <p:style>
          <a:lnRef idx="1">
            <a:schemeClr val="accent1"/>
          </a:lnRef>
          <a:fillRef idx="0">
            <a:schemeClr val="accent1"/>
          </a:fillRef>
          <a:effectRef idx="0">
            <a:schemeClr val="accent1"/>
          </a:effectRef>
          <a:fontRef idx="minor">
            <a:schemeClr val="tx1"/>
          </a:fontRef>
        </p:style>
      </p:cxnSp>
      <p:sp>
        <p:nvSpPr>
          <p:cNvPr id="15" name="TextBox 14"/>
          <p:cNvSpPr txBox="1"/>
          <p:nvPr/>
        </p:nvSpPr>
        <p:spPr>
          <a:xfrm>
            <a:off x="5982653" y="1825915"/>
            <a:ext cx="3657600" cy="2123658"/>
          </a:xfrm>
          <a:prstGeom prst="rect">
            <a:avLst/>
          </a:prstGeom>
          <a:noFill/>
        </p:spPr>
        <p:txBody>
          <a:bodyPr wrap="square" rtlCol="0">
            <a:spAutoFit/>
          </a:bodyPr>
          <a:lstStyle/>
          <a:p>
            <a:r>
              <a:rPr lang="en-US" sz="1100" b="1" dirty="0" smtClean="0"/>
              <a:t>Commercial mortgage have inherent risks to the lender</a:t>
            </a:r>
          </a:p>
          <a:p>
            <a:endParaRPr lang="en-US" sz="1100" b="1" dirty="0" smtClean="0"/>
          </a:p>
          <a:p>
            <a:pPr marL="171450" indent="-171450">
              <a:buFont typeface="Arial" panose="020B0604020202020204" pitchFamily="34" charset="0"/>
              <a:buChar char="•"/>
            </a:pPr>
            <a:r>
              <a:rPr lang="en-US" sz="1100" u="sng" dirty="0" smtClean="0"/>
              <a:t>Term </a:t>
            </a:r>
            <a:r>
              <a:rPr lang="en-US" sz="1100" u="sng" dirty="0"/>
              <a:t>Default Risk</a:t>
            </a:r>
            <a:r>
              <a:rPr lang="en-US" sz="1100" dirty="0"/>
              <a:t>: </a:t>
            </a:r>
            <a:endParaRPr lang="en-US" sz="1100" dirty="0" smtClean="0"/>
          </a:p>
          <a:p>
            <a:r>
              <a:rPr lang="en-US" sz="1100" dirty="0" smtClean="0"/>
              <a:t>Borrower </a:t>
            </a:r>
            <a:r>
              <a:rPr lang="en-US" sz="1100" dirty="0"/>
              <a:t>is unable to meet its interest obligations and defaults on its mortgage before maturity</a:t>
            </a:r>
          </a:p>
          <a:p>
            <a:endParaRPr lang="en-US" sz="1100" dirty="0"/>
          </a:p>
          <a:p>
            <a:pPr marL="171450" indent="-171450">
              <a:buFont typeface="Arial" panose="020B0604020202020204" pitchFamily="34" charset="0"/>
              <a:buChar char="•"/>
            </a:pPr>
            <a:r>
              <a:rPr lang="en-US" sz="1100" u="sng" dirty="0"/>
              <a:t>Maturity Default</a:t>
            </a:r>
            <a:r>
              <a:rPr lang="en-US" sz="1100" dirty="0"/>
              <a:t>: </a:t>
            </a:r>
            <a:endParaRPr lang="en-US" sz="1100" dirty="0" smtClean="0"/>
          </a:p>
          <a:p>
            <a:r>
              <a:rPr lang="en-US" sz="1100" dirty="0" smtClean="0"/>
              <a:t>Borrower </a:t>
            </a:r>
            <a:r>
              <a:rPr lang="en-US" sz="1100" dirty="0"/>
              <a:t>is unable to refinance or payoff loan balance at maturity</a:t>
            </a:r>
          </a:p>
          <a:p>
            <a:endParaRPr lang="en-US" sz="1100" dirty="0"/>
          </a:p>
          <a:p>
            <a:pPr marL="171450" indent="-171450">
              <a:buFont typeface="Arial" panose="020B0604020202020204" pitchFamily="34" charset="0"/>
              <a:buChar char="•"/>
            </a:pPr>
            <a:r>
              <a:rPr lang="en-US" sz="1100" u="sng" dirty="0"/>
              <a:t>Extension Risk</a:t>
            </a:r>
            <a:r>
              <a:rPr lang="en-US" sz="1100" dirty="0"/>
              <a:t>: </a:t>
            </a:r>
            <a:endParaRPr lang="en-US" sz="1100" dirty="0" smtClean="0"/>
          </a:p>
          <a:p>
            <a:r>
              <a:rPr lang="en-US" sz="1100" dirty="0" smtClean="0"/>
              <a:t>Servicer/Lender </a:t>
            </a:r>
            <a:r>
              <a:rPr lang="en-US" sz="1100" dirty="0"/>
              <a:t>may extend loan </a:t>
            </a:r>
            <a:r>
              <a:rPr lang="en-US" sz="1100" dirty="0" smtClean="0"/>
              <a:t>maturity</a:t>
            </a:r>
            <a:endParaRPr lang="en-US" sz="1100" dirty="0"/>
          </a:p>
        </p:txBody>
      </p:sp>
      <p:sp>
        <p:nvSpPr>
          <p:cNvPr id="9" name="Content Placeholder 8"/>
          <p:cNvSpPr>
            <a:spLocks noGrp="1"/>
          </p:cNvSpPr>
          <p:nvPr>
            <p:ph sz="quarter" idx="13"/>
          </p:nvPr>
        </p:nvSpPr>
        <p:spPr>
          <a:xfrm>
            <a:off x="2563678" y="1405800"/>
            <a:ext cx="2541722" cy="205998"/>
          </a:xfrm>
          <a:solidFill>
            <a:schemeClr val="bg1"/>
          </a:solidFill>
        </p:spPr>
        <p:txBody>
          <a:bodyPr/>
          <a:lstStyle/>
          <a:p>
            <a:pPr algn="ctr"/>
            <a:r>
              <a:rPr lang="en-US" sz="1200" dirty="0" smtClean="0"/>
              <a:t>Capital Structure of a Sample Property</a:t>
            </a:r>
            <a:endParaRPr lang="en-US" sz="1200" dirty="0"/>
          </a:p>
        </p:txBody>
      </p:sp>
      <p:cxnSp>
        <p:nvCxnSpPr>
          <p:cNvPr id="94" name="Straight Connector 93"/>
          <p:cNvCxnSpPr/>
          <p:nvPr/>
        </p:nvCxnSpPr>
        <p:spPr>
          <a:xfrm>
            <a:off x="5754053" y="1508799"/>
            <a:ext cx="3886200" cy="0"/>
          </a:xfrm>
          <a:prstGeom prst="line">
            <a:avLst/>
          </a:prstGeom>
        </p:spPr>
        <p:style>
          <a:lnRef idx="1">
            <a:schemeClr val="accent1"/>
          </a:lnRef>
          <a:fillRef idx="0">
            <a:schemeClr val="accent1"/>
          </a:fillRef>
          <a:effectRef idx="0">
            <a:schemeClr val="accent1"/>
          </a:effectRef>
          <a:fontRef idx="minor">
            <a:schemeClr val="tx1"/>
          </a:fontRef>
        </p:style>
      </p:cxnSp>
      <p:sp>
        <p:nvSpPr>
          <p:cNvPr id="59" name="Content Placeholder 8"/>
          <p:cNvSpPr txBox="1">
            <a:spLocks/>
          </p:cNvSpPr>
          <p:nvPr/>
        </p:nvSpPr>
        <p:spPr>
          <a:xfrm>
            <a:off x="5982653" y="1413549"/>
            <a:ext cx="34290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Life Cycle of a Sample Commercial Mortgage Loan</a:t>
            </a:r>
            <a:endParaRPr lang="en-US" sz="1200" dirty="0"/>
          </a:p>
        </p:txBody>
      </p:sp>
      <p:cxnSp>
        <p:nvCxnSpPr>
          <p:cNvPr id="23" name="Straight Connector 22"/>
          <p:cNvCxnSpPr/>
          <p:nvPr/>
        </p:nvCxnSpPr>
        <p:spPr>
          <a:xfrm>
            <a:off x="5830253" y="4754880"/>
            <a:ext cx="3886200" cy="0"/>
          </a:xfrm>
          <a:prstGeom prst="line">
            <a:avLst/>
          </a:prstGeom>
          <a:ln w="28575"/>
        </p:spPr>
        <p:style>
          <a:lnRef idx="1">
            <a:schemeClr val="accent1"/>
          </a:lnRef>
          <a:fillRef idx="0">
            <a:schemeClr val="accent1"/>
          </a:fillRef>
          <a:effectRef idx="0">
            <a:schemeClr val="accent1"/>
          </a:effectRef>
          <a:fontRef idx="minor">
            <a:schemeClr val="tx1"/>
          </a:fontRef>
        </p:style>
      </p:cxnSp>
      <p:sp>
        <p:nvSpPr>
          <p:cNvPr id="24" name="Oval 23"/>
          <p:cNvSpPr/>
          <p:nvPr/>
        </p:nvSpPr>
        <p:spPr>
          <a:xfrm>
            <a:off x="5815013"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5" name="Oval 94"/>
          <p:cNvSpPr/>
          <p:nvPr/>
        </p:nvSpPr>
        <p:spPr>
          <a:xfrm>
            <a:off x="8344853"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6" name="Oval 95"/>
          <p:cNvSpPr/>
          <p:nvPr/>
        </p:nvSpPr>
        <p:spPr>
          <a:xfrm>
            <a:off x="9662160" y="4709160"/>
            <a:ext cx="91440" cy="91440"/>
          </a:xfrm>
          <a:prstGeom prst="ellipse">
            <a:avLst/>
          </a:prstGeom>
          <a:ln w="12700">
            <a:solidFill>
              <a:schemeClr val="bg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Left Brace 24"/>
          <p:cNvSpPr/>
          <p:nvPr/>
        </p:nvSpPr>
        <p:spPr>
          <a:xfrm rot="5400000">
            <a:off x="7031874" y="3367586"/>
            <a:ext cx="155172" cy="2484120"/>
          </a:xfrm>
          <a:prstGeom prst="leftBrace">
            <a:avLst>
              <a:gd name="adj1" fmla="val 9861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97" name="Left Brace 96"/>
          <p:cNvSpPr/>
          <p:nvPr/>
        </p:nvSpPr>
        <p:spPr>
          <a:xfrm rot="5400000">
            <a:off x="8998787" y="3972338"/>
            <a:ext cx="155172" cy="1280160"/>
          </a:xfrm>
          <a:prstGeom prst="leftBrace">
            <a:avLst>
              <a:gd name="adj1" fmla="val 98611"/>
              <a:gd name="adj2" fmla="val 50000"/>
            </a:avLst>
          </a:prstGeom>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8" name="TextBox 27"/>
          <p:cNvSpPr txBox="1"/>
          <p:nvPr/>
        </p:nvSpPr>
        <p:spPr>
          <a:xfrm>
            <a:off x="6477000" y="4323993"/>
            <a:ext cx="1220152" cy="261610"/>
          </a:xfrm>
          <a:prstGeom prst="rect">
            <a:avLst/>
          </a:prstGeom>
          <a:noFill/>
        </p:spPr>
        <p:txBody>
          <a:bodyPr wrap="square" rtlCol="0">
            <a:spAutoFit/>
          </a:bodyPr>
          <a:lstStyle/>
          <a:p>
            <a:pPr algn="ctr"/>
            <a:r>
              <a:rPr lang="en-US" sz="1050" dirty="0" smtClean="0"/>
              <a:t>Term Default Risk</a:t>
            </a:r>
            <a:endParaRPr lang="en-US" sz="1050" dirty="0"/>
          </a:p>
        </p:txBody>
      </p:sp>
      <p:sp>
        <p:nvSpPr>
          <p:cNvPr id="98" name="TextBox 97"/>
          <p:cNvSpPr txBox="1"/>
          <p:nvPr/>
        </p:nvSpPr>
        <p:spPr>
          <a:xfrm>
            <a:off x="8466297" y="4323993"/>
            <a:ext cx="1220152" cy="261610"/>
          </a:xfrm>
          <a:prstGeom prst="rect">
            <a:avLst/>
          </a:prstGeom>
          <a:noFill/>
        </p:spPr>
        <p:txBody>
          <a:bodyPr wrap="square" rtlCol="0">
            <a:spAutoFit/>
          </a:bodyPr>
          <a:lstStyle/>
          <a:p>
            <a:pPr algn="ctr"/>
            <a:r>
              <a:rPr lang="en-US" sz="1050" dirty="0" smtClean="0"/>
              <a:t>Extension Risk</a:t>
            </a:r>
            <a:endParaRPr lang="en-US" sz="1050" dirty="0"/>
          </a:p>
        </p:txBody>
      </p:sp>
      <p:sp>
        <p:nvSpPr>
          <p:cNvPr id="99" name="TextBox 98"/>
          <p:cNvSpPr txBox="1"/>
          <p:nvPr/>
        </p:nvSpPr>
        <p:spPr>
          <a:xfrm>
            <a:off x="7620000" y="4038600"/>
            <a:ext cx="1439703" cy="261610"/>
          </a:xfrm>
          <a:prstGeom prst="rect">
            <a:avLst/>
          </a:prstGeom>
          <a:noFill/>
        </p:spPr>
        <p:txBody>
          <a:bodyPr wrap="square" rtlCol="0">
            <a:spAutoFit/>
          </a:bodyPr>
          <a:lstStyle/>
          <a:p>
            <a:pPr algn="ctr"/>
            <a:r>
              <a:rPr lang="en-US" sz="1050" dirty="0" smtClean="0"/>
              <a:t>Maturity Default Risk</a:t>
            </a:r>
            <a:endParaRPr lang="en-US" sz="1050" dirty="0"/>
          </a:p>
        </p:txBody>
      </p:sp>
      <p:cxnSp>
        <p:nvCxnSpPr>
          <p:cNvPr id="100" name="Straight Arrow Connector 99"/>
          <p:cNvCxnSpPr/>
          <p:nvPr/>
        </p:nvCxnSpPr>
        <p:spPr>
          <a:xfrm>
            <a:off x="8390573" y="4267200"/>
            <a:ext cx="0" cy="387022"/>
          </a:xfrm>
          <a:prstGeom prst="straightConnector1">
            <a:avLst/>
          </a:prstGeom>
          <a:ln>
            <a:headEnd type="none" w="med" len="med"/>
            <a:tailEnd type="triangle" w="med" len="med"/>
          </a:ln>
        </p:spPr>
        <p:style>
          <a:lnRef idx="1">
            <a:schemeClr val="accent1"/>
          </a:lnRef>
          <a:fillRef idx="0">
            <a:schemeClr val="accent1"/>
          </a:fillRef>
          <a:effectRef idx="0">
            <a:schemeClr val="accent1"/>
          </a:effectRef>
          <a:fontRef idx="minor">
            <a:schemeClr val="tx1"/>
          </a:fontRef>
        </p:style>
      </p:cxnSp>
      <p:sp>
        <p:nvSpPr>
          <p:cNvPr id="101" name="TextBox 100"/>
          <p:cNvSpPr txBox="1"/>
          <p:nvPr/>
        </p:nvSpPr>
        <p:spPr>
          <a:xfrm>
            <a:off x="5562600" y="4800600"/>
            <a:ext cx="610076" cy="246221"/>
          </a:xfrm>
          <a:prstGeom prst="rect">
            <a:avLst/>
          </a:prstGeom>
          <a:noFill/>
        </p:spPr>
        <p:txBody>
          <a:bodyPr wrap="square" rtlCol="0">
            <a:spAutoFit/>
          </a:bodyPr>
          <a:lstStyle/>
          <a:p>
            <a:pPr algn="ctr"/>
            <a:r>
              <a:rPr lang="en-US" sz="1000" dirty="0" smtClean="0"/>
              <a:t>Year 0</a:t>
            </a:r>
            <a:endParaRPr lang="en-US" sz="1000" dirty="0"/>
          </a:p>
        </p:txBody>
      </p:sp>
      <p:sp>
        <p:nvSpPr>
          <p:cNvPr id="102" name="TextBox 101"/>
          <p:cNvSpPr txBox="1"/>
          <p:nvPr/>
        </p:nvSpPr>
        <p:spPr>
          <a:xfrm>
            <a:off x="8085535" y="4800600"/>
            <a:ext cx="610076" cy="246221"/>
          </a:xfrm>
          <a:prstGeom prst="rect">
            <a:avLst/>
          </a:prstGeom>
          <a:noFill/>
        </p:spPr>
        <p:txBody>
          <a:bodyPr wrap="square" rtlCol="0">
            <a:spAutoFit/>
          </a:bodyPr>
          <a:lstStyle/>
          <a:p>
            <a:pPr algn="ctr"/>
            <a:r>
              <a:rPr lang="en-US" sz="1000" dirty="0" smtClean="0"/>
              <a:t>Year 10</a:t>
            </a:r>
            <a:endParaRPr lang="en-US" sz="1000" dirty="0"/>
          </a:p>
        </p:txBody>
      </p:sp>
      <p:sp>
        <p:nvSpPr>
          <p:cNvPr id="103" name="TextBox 102"/>
          <p:cNvSpPr txBox="1"/>
          <p:nvPr/>
        </p:nvSpPr>
        <p:spPr>
          <a:xfrm>
            <a:off x="9296400" y="4800600"/>
            <a:ext cx="610076" cy="246221"/>
          </a:xfrm>
          <a:prstGeom prst="rect">
            <a:avLst/>
          </a:prstGeom>
          <a:noFill/>
        </p:spPr>
        <p:txBody>
          <a:bodyPr wrap="square" rtlCol="0">
            <a:spAutoFit/>
          </a:bodyPr>
          <a:lstStyle/>
          <a:p>
            <a:pPr algn="ctr"/>
            <a:r>
              <a:rPr lang="en-US" sz="1000" dirty="0" smtClean="0"/>
              <a:t>Year 12</a:t>
            </a:r>
            <a:endParaRPr lang="en-US" sz="1000" dirty="0"/>
          </a:p>
        </p:txBody>
      </p:sp>
      <p:sp>
        <p:nvSpPr>
          <p:cNvPr id="104" name="TextBox 103"/>
          <p:cNvSpPr txBox="1"/>
          <p:nvPr/>
        </p:nvSpPr>
        <p:spPr>
          <a:xfrm>
            <a:off x="5410200" y="4953000"/>
            <a:ext cx="914400" cy="400110"/>
          </a:xfrm>
          <a:prstGeom prst="rect">
            <a:avLst/>
          </a:prstGeom>
          <a:noFill/>
        </p:spPr>
        <p:txBody>
          <a:bodyPr wrap="square" rtlCol="0">
            <a:spAutoFit/>
          </a:bodyPr>
          <a:lstStyle/>
          <a:p>
            <a:pPr algn="ctr"/>
            <a:r>
              <a:rPr lang="en-US" sz="1000" i="1" dirty="0" smtClean="0">
                <a:solidFill>
                  <a:schemeClr val="accent2">
                    <a:lumMod val="75000"/>
                  </a:schemeClr>
                </a:solidFill>
              </a:rPr>
              <a:t>Original Loan Issuance</a:t>
            </a:r>
            <a:endParaRPr lang="en-US" sz="1000" i="1" dirty="0">
              <a:solidFill>
                <a:schemeClr val="accent2">
                  <a:lumMod val="75000"/>
                </a:schemeClr>
              </a:solidFill>
            </a:endParaRPr>
          </a:p>
        </p:txBody>
      </p:sp>
      <p:sp>
        <p:nvSpPr>
          <p:cNvPr id="105" name="TextBox 104"/>
          <p:cNvSpPr txBox="1"/>
          <p:nvPr/>
        </p:nvSpPr>
        <p:spPr>
          <a:xfrm>
            <a:off x="7924800" y="4935379"/>
            <a:ext cx="914399" cy="400110"/>
          </a:xfrm>
          <a:prstGeom prst="rect">
            <a:avLst/>
          </a:prstGeom>
          <a:noFill/>
        </p:spPr>
        <p:txBody>
          <a:bodyPr wrap="square" rtlCol="0">
            <a:spAutoFit/>
          </a:bodyPr>
          <a:lstStyle>
            <a:defPPr>
              <a:defRPr lang="en-US"/>
            </a:defPPr>
            <a:lvl1pPr algn="ctr">
              <a:defRPr sz="1000" i="1">
                <a:solidFill>
                  <a:schemeClr val="accent2">
                    <a:lumMod val="75000"/>
                  </a:schemeClr>
                </a:solidFill>
              </a:defRPr>
            </a:lvl1pPr>
          </a:lstStyle>
          <a:p>
            <a:r>
              <a:rPr lang="en-US" dirty="0"/>
              <a:t>Stated Loan Maturity</a:t>
            </a:r>
          </a:p>
        </p:txBody>
      </p:sp>
      <p:sp>
        <p:nvSpPr>
          <p:cNvPr id="106" name="TextBox 105"/>
          <p:cNvSpPr txBox="1"/>
          <p:nvPr/>
        </p:nvSpPr>
        <p:spPr>
          <a:xfrm>
            <a:off x="9295924" y="4935379"/>
            <a:ext cx="610076" cy="400110"/>
          </a:xfrm>
          <a:prstGeom prst="rect">
            <a:avLst/>
          </a:prstGeom>
          <a:noFill/>
        </p:spPr>
        <p:txBody>
          <a:bodyPr wrap="square" rtlCol="0">
            <a:spAutoFit/>
          </a:bodyPr>
          <a:lstStyle>
            <a:defPPr>
              <a:defRPr lang="en-US"/>
            </a:defPPr>
            <a:lvl1pPr algn="ctr">
              <a:defRPr sz="1000" i="1">
                <a:solidFill>
                  <a:schemeClr val="accent2">
                    <a:lumMod val="75000"/>
                  </a:schemeClr>
                </a:solidFill>
              </a:defRPr>
            </a:lvl1pPr>
          </a:lstStyle>
          <a:p>
            <a:r>
              <a:rPr lang="en-US" dirty="0"/>
              <a:t>Final Payoff</a:t>
            </a:r>
          </a:p>
        </p:txBody>
      </p:sp>
      <p:cxnSp>
        <p:nvCxnSpPr>
          <p:cNvPr id="107" name="Straight Connector 106"/>
          <p:cNvCxnSpPr/>
          <p:nvPr/>
        </p:nvCxnSpPr>
        <p:spPr>
          <a:xfrm>
            <a:off x="2743200" y="5734050"/>
            <a:ext cx="6553200" cy="0"/>
          </a:xfrm>
          <a:prstGeom prst="line">
            <a:avLst/>
          </a:prstGeom>
        </p:spPr>
        <p:style>
          <a:lnRef idx="1">
            <a:schemeClr val="accent1"/>
          </a:lnRef>
          <a:fillRef idx="0">
            <a:schemeClr val="accent1"/>
          </a:fillRef>
          <a:effectRef idx="0">
            <a:schemeClr val="accent1"/>
          </a:effectRef>
          <a:fontRef idx="minor">
            <a:schemeClr val="tx1"/>
          </a:fontRef>
        </p:style>
      </p:cxnSp>
      <p:sp>
        <p:nvSpPr>
          <p:cNvPr id="108" name="Content Placeholder 8"/>
          <p:cNvSpPr txBox="1">
            <a:spLocks/>
          </p:cNvSpPr>
          <p:nvPr/>
        </p:nvSpPr>
        <p:spPr>
          <a:xfrm>
            <a:off x="4876800" y="5638800"/>
            <a:ext cx="2286000" cy="190500"/>
          </a:xfrm>
          <a:prstGeom prst="rect">
            <a:avLst/>
          </a:prstGeom>
          <a:solidFill>
            <a:schemeClr val="bg1"/>
          </a:solidFill>
        </p:spPr>
        <p:txBody>
          <a:bodyPr vert="horz" lIns="0" tIns="0" rIns="0" bIns="0" rtlCol="0" anchor="t" anchorCtr="0">
            <a:noAutofit/>
          </a:bodyPr>
          <a:lstStyle>
            <a:lvl1pPr marL="0" indent="0" algn="l" defTabSz="1018824" rtl="0" eaLnBrk="1" latinLnBrk="0" hangingPunct="1">
              <a:lnSpc>
                <a:spcPct val="110000"/>
              </a:lnSpc>
              <a:spcBef>
                <a:spcPts val="1800"/>
              </a:spcBef>
              <a:buFont typeface="Arial" panose="020B0604020202020204" pitchFamily="34" charset="0"/>
              <a:buNone/>
              <a:defRPr sz="1400" b="1" kern="1200">
                <a:solidFill>
                  <a:schemeClr val="accent1"/>
                </a:solidFill>
                <a:latin typeface="+mj-lt"/>
                <a:ea typeface="+mn-ea"/>
                <a:cs typeface="+mn-cs"/>
              </a:defRPr>
            </a:lvl1pPr>
            <a:lvl2pPr marL="0" indent="0" algn="l" defTabSz="1018824" rtl="0" eaLnBrk="1" latinLnBrk="0" hangingPunct="1">
              <a:lnSpc>
                <a:spcPct val="110000"/>
              </a:lnSpc>
              <a:spcBef>
                <a:spcPts val="1500"/>
              </a:spcBef>
              <a:buFont typeface="Arial" panose="020B0604020202020204" pitchFamily="34" charset="0"/>
              <a:buNone/>
              <a:defRPr sz="1300" b="1" kern="1200">
                <a:solidFill>
                  <a:schemeClr val="tx1"/>
                </a:solidFill>
                <a:latin typeface="+mj-lt"/>
                <a:ea typeface="+mn-ea"/>
                <a:cs typeface="+mn-cs"/>
              </a:defRPr>
            </a:lvl2pPr>
            <a:lvl3pPr marL="1588" indent="0" algn="l" defTabSz="1018824" rtl="0" eaLnBrk="1" latinLnBrk="0" hangingPunct="1">
              <a:lnSpc>
                <a:spcPct val="110000"/>
              </a:lnSpc>
              <a:spcBef>
                <a:spcPts val="300"/>
              </a:spcBef>
              <a:buFont typeface="Arial" panose="020B0604020202020204" pitchFamily="34" charset="0"/>
              <a:buNone/>
              <a:defRPr sz="1300" kern="1200">
                <a:solidFill>
                  <a:schemeClr val="tx1"/>
                </a:solidFill>
                <a:latin typeface="+mj-lt"/>
                <a:ea typeface="+mn-ea"/>
                <a:cs typeface="+mn-cs"/>
              </a:defRPr>
            </a:lvl3pPr>
            <a:lvl4pPr marL="173038" indent="-173038" algn="l" defTabSz="1018824" rtl="0" eaLnBrk="1" latinLnBrk="0" hangingPunct="1">
              <a:lnSpc>
                <a:spcPct val="110000"/>
              </a:lnSpc>
              <a:spcBef>
                <a:spcPts val="300"/>
              </a:spcBef>
              <a:buSzPct val="80000"/>
              <a:buFont typeface="Arial" panose="020B0604020202020204" pitchFamily="34" charset="0"/>
              <a:buChar char="•"/>
              <a:defRPr sz="1300" kern="1200">
                <a:solidFill>
                  <a:schemeClr val="tx1"/>
                </a:solidFill>
                <a:latin typeface="+mj-lt"/>
                <a:ea typeface="+mn-ea"/>
                <a:cs typeface="+mn-cs"/>
              </a:defRPr>
            </a:lvl4pPr>
            <a:lvl5pPr marL="385763" indent="-206375" algn="l" defTabSz="1018824" rtl="0" eaLnBrk="1" latinLnBrk="0" hangingPunct="1">
              <a:lnSpc>
                <a:spcPct val="110000"/>
              </a:lnSpc>
              <a:spcBef>
                <a:spcPts val="300"/>
              </a:spcBef>
              <a:buFont typeface="Arial" panose="020B0604020202020204" pitchFamily="34" charset="0"/>
              <a:buChar char="–"/>
              <a:defRPr sz="1300" kern="1200">
                <a:solidFill>
                  <a:schemeClr val="tx1"/>
                </a:solidFill>
                <a:latin typeface="+mj-lt"/>
                <a:ea typeface="+mn-ea"/>
                <a:cs typeface="+mn-cs"/>
              </a:defRPr>
            </a:lvl5pPr>
            <a:lvl6pPr marL="2801767"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6pPr>
            <a:lvl7pPr marL="3311180"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7pPr>
            <a:lvl8pPr marL="3820592"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8pPr>
            <a:lvl9pPr marL="4330004" indent="-254706" algn="l" defTabSz="1018824" rtl="0" eaLnBrk="1" latinLnBrk="0" hangingPunct="1">
              <a:spcBef>
                <a:spcPct val="20000"/>
              </a:spcBef>
              <a:buFont typeface="Arial" panose="020B0604020202020204" pitchFamily="34" charset="0"/>
              <a:buChar char="•"/>
              <a:defRPr sz="2200" kern="1200">
                <a:solidFill>
                  <a:schemeClr val="tx1"/>
                </a:solidFill>
                <a:latin typeface="+mn-lt"/>
                <a:ea typeface="+mn-ea"/>
                <a:cs typeface="+mn-cs"/>
              </a:defRPr>
            </a:lvl9pPr>
          </a:lstStyle>
          <a:p>
            <a:pPr algn="ctr"/>
            <a:r>
              <a:rPr lang="en-US" sz="1200" dirty="0" smtClean="0"/>
              <a:t>Key Term Definitions</a:t>
            </a:r>
            <a:endParaRPr lang="en-US" sz="1200" dirty="0"/>
          </a:p>
        </p:txBody>
      </p:sp>
      <mc:AlternateContent xmlns:mc="http://schemas.openxmlformats.org/markup-compatibility/2006">
        <mc:Choice xmlns:a14="http://schemas.microsoft.com/office/drawing/2010/main" Requires="a14">
          <p:sp>
            <p:nvSpPr>
              <p:cNvPr id="109" name="TextBox 108"/>
              <p:cNvSpPr txBox="1"/>
              <p:nvPr/>
            </p:nvSpPr>
            <p:spPr>
              <a:xfrm>
                <a:off x="2477453" y="6019800"/>
                <a:ext cx="2385333" cy="943528"/>
              </a:xfrm>
              <a:prstGeom prst="rect">
                <a:avLst/>
              </a:prstGeom>
              <a:noFill/>
            </p:spPr>
            <p:txBody>
              <a:bodyPr wrap="none" rtlCol="0">
                <a:spAutoFit/>
              </a:bodyPr>
              <a:lstStyle>
                <a:defPPr>
                  <a:defRPr lang="en-US"/>
                </a:defPPr>
                <a:lvl1pPr>
                  <a:lnSpc>
                    <a:spcPct val="150000"/>
                  </a:lnSpc>
                  <a:defRPr sz="1200"/>
                </a:lvl1pPr>
              </a:lstStyle>
              <a:p>
                <a:r>
                  <a:rPr lang="en-US" b="1" dirty="0"/>
                  <a:t>  </a:t>
                </a:r>
                <a:r>
                  <a:rPr lang="en-US" b="1" dirty="0" smtClean="0"/>
                  <a:t>Property </a:t>
                </a:r>
                <a:r>
                  <a:rPr lang="en-US" b="1" dirty="0"/>
                  <a:t>Value</a:t>
                </a:r>
              </a:p>
              <a:p>
                <a14:m>
                  <m:oMathPara xmlns:m="http://schemas.openxmlformats.org/officeDocument/2006/math">
                    <m:oMathParaPr>
                      <m:jc m:val="centerGroup"/>
                    </m:oMathParaPr>
                    <m:oMath xmlns:m="http://schemas.openxmlformats.org/officeDocument/2006/math">
                      <m:r>
                        <a:rPr lang="en-US"/>
                        <m:t>=</m:t>
                      </m:r>
                      <m:f>
                        <m:fPr>
                          <m:ctrlPr>
                            <a:rPr lang="en-US"/>
                          </m:ctrlPr>
                        </m:fPr>
                        <m:num>
                          <m:r>
                            <m:rPr>
                              <m:sty m:val="p"/>
                            </m:rPr>
                            <a:rPr lang="en-US"/>
                            <m:t>Annual</m:t>
                          </m:r>
                          <m:r>
                            <a:rPr lang="en-US"/>
                            <m:t> </m:t>
                          </m:r>
                          <m:r>
                            <m:rPr>
                              <m:sty m:val="p"/>
                            </m:rPr>
                            <a:rPr lang="en-US"/>
                            <m:t>Net</m:t>
                          </m:r>
                          <m:r>
                            <a:rPr lang="en-US"/>
                            <m:t> </m:t>
                          </m:r>
                          <m:r>
                            <m:rPr>
                              <m:sty m:val="p"/>
                            </m:rPr>
                            <a:rPr lang="en-US"/>
                            <m:t>Cash</m:t>
                          </m:r>
                          <m:r>
                            <a:rPr lang="en-US"/>
                            <m:t> </m:t>
                          </m:r>
                          <m:r>
                            <m:rPr>
                              <m:sty m:val="p"/>
                            </m:rPr>
                            <a:rPr lang="en-US"/>
                            <m:t>Flow</m:t>
                          </m:r>
                          <m:r>
                            <a:rPr lang="en-US"/>
                            <m:t> (</m:t>
                          </m:r>
                          <m:r>
                            <m:rPr>
                              <m:sty m:val="p"/>
                            </m:rPr>
                            <a:rPr lang="en-US"/>
                            <m:t>NCF</m:t>
                          </m:r>
                          <m:r>
                            <a:rPr lang="en-US"/>
                            <m:t>)</m:t>
                          </m:r>
                        </m:num>
                        <m:den>
                          <m:r>
                            <m:rPr>
                              <m:sty m:val="p"/>
                            </m:rPr>
                            <a:rPr lang="en-US"/>
                            <m:t>Capitalization</m:t>
                          </m:r>
                          <m:r>
                            <a:rPr lang="en-US"/>
                            <m:t> </m:t>
                          </m:r>
                          <m:r>
                            <m:rPr>
                              <m:sty m:val="p"/>
                            </m:rPr>
                            <a:rPr lang="en-US"/>
                            <m:t>Rate</m:t>
                          </m:r>
                        </m:den>
                      </m:f>
                    </m:oMath>
                  </m:oMathPara>
                </a14:m>
                <a:endParaRPr lang="en-US" dirty="0"/>
              </a:p>
            </p:txBody>
          </p:sp>
        </mc:Choice>
        <mc:Fallback>
          <p:sp>
            <p:nvSpPr>
              <p:cNvPr id="109" name="TextBox 108"/>
              <p:cNvSpPr txBox="1">
                <a:spLocks noRot="1" noChangeAspect="1" noMove="1" noResize="1" noEditPoints="1" noAdjustHandles="1" noChangeArrowheads="1" noChangeShapeType="1" noTextEdit="1"/>
              </p:cNvSpPr>
              <p:nvPr/>
            </p:nvSpPr>
            <p:spPr>
              <a:xfrm>
                <a:off x="2477453" y="6019800"/>
                <a:ext cx="2385333" cy="943528"/>
              </a:xfrm>
              <a:prstGeom prst="rect">
                <a:avLst/>
              </a:prstGeom>
              <a:blipFill rotWithShape="1">
                <a:blip r:embed="rId9"/>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0" name="TextBox 109"/>
              <p:cNvSpPr txBox="1"/>
              <p:nvPr/>
            </p:nvSpPr>
            <p:spPr>
              <a:xfrm>
                <a:off x="5136377" y="6019800"/>
                <a:ext cx="1743298" cy="944489"/>
              </a:xfrm>
              <a:prstGeom prst="rect">
                <a:avLst/>
              </a:prstGeom>
              <a:noFill/>
            </p:spPr>
            <p:txBody>
              <a:bodyPr wrap="none" rtlCol="0">
                <a:spAutoFit/>
              </a:bodyPr>
              <a:lstStyle/>
              <a:p>
                <a:pPr>
                  <a:lnSpc>
                    <a:spcPct val="150000"/>
                  </a:lnSpc>
                </a:pPr>
                <a:r>
                  <a:rPr lang="en-US" sz="1200" b="1" dirty="0"/>
                  <a:t> </a:t>
                </a:r>
                <a:r>
                  <a:rPr lang="en-US" sz="1200" b="1" dirty="0" smtClean="0"/>
                  <a:t>Loan to Value (LTV)</a:t>
                </a:r>
                <a:endParaRPr lang="en-US" sz="1200" b="1" dirty="0"/>
              </a:p>
              <a:p>
                <a:pPr>
                  <a:lnSpc>
                    <a:spcPct val="150000"/>
                  </a:lnSpc>
                </a:pPr>
                <a14:m>
                  <m:oMathPara xmlns:m="http://schemas.openxmlformats.org/officeDocument/2006/math">
                    <m:oMathParaPr>
                      <m:jc m:val="centerGroup"/>
                    </m:oMathParaPr>
                    <m:oMath xmlns:m="http://schemas.openxmlformats.org/officeDocument/2006/math">
                      <m:r>
                        <a:rPr lang="en-US" sz="1200" i="0" smtClean="0"/>
                        <m:t>=</m:t>
                      </m:r>
                      <m:f>
                        <m:fPr>
                          <m:ctrlPr>
                            <a:rPr lang="en-US" sz="1200" smtClean="0"/>
                          </m:ctrlPr>
                        </m:fPr>
                        <m:num>
                          <m:r>
                            <m:rPr>
                              <m:sty m:val="p"/>
                            </m:rPr>
                            <a:rPr lang="en-US" sz="1200" b="0" i="0" smtClean="0">
                              <a:latin typeface="Cambria Math"/>
                            </a:rPr>
                            <m:t>Loan</m:t>
                          </m:r>
                          <m:r>
                            <a:rPr lang="en-US" sz="1200" b="0" i="0" smtClean="0">
                              <a:latin typeface="Cambria Math"/>
                            </a:rPr>
                            <m:t> </m:t>
                          </m:r>
                          <m:r>
                            <m:rPr>
                              <m:sty m:val="p"/>
                            </m:rPr>
                            <a:rPr lang="en-US" sz="1200" b="0" i="0" smtClean="0">
                              <a:latin typeface="Cambria Math"/>
                            </a:rPr>
                            <m:t>Balance</m:t>
                          </m:r>
                          <m:r>
                            <a:rPr lang="en-US" sz="1200" b="0" i="0" smtClean="0">
                              <a:latin typeface="Cambria Math"/>
                            </a:rPr>
                            <m:t> </m:t>
                          </m:r>
                          <m:r>
                            <a:rPr lang="en-US" sz="1200" b="0" i="0" smtClean="0"/>
                            <m:t>(</m:t>
                          </m:r>
                          <m:r>
                            <m:rPr>
                              <m:sty m:val="p"/>
                            </m:rPr>
                            <a:rPr lang="en-US" sz="1200" b="0" i="0" smtClean="0"/>
                            <m:t>NCF</m:t>
                          </m:r>
                          <m:r>
                            <a:rPr lang="en-US" sz="1200" b="0" i="0" smtClean="0"/>
                            <m:t>)</m:t>
                          </m:r>
                        </m:num>
                        <m:den>
                          <m:r>
                            <m:rPr>
                              <m:sty m:val="p"/>
                            </m:rPr>
                            <a:rPr lang="en-US" sz="1200" b="0" i="0" smtClean="0">
                              <a:latin typeface="Cambria Math"/>
                            </a:rPr>
                            <m:t>Property</m:t>
                          </m:r>
                          <m:r>
                            <a:rPr lang="en-US" sz="1200" b="0" i="0" smtClean="0">
                              <a:latin typeface="Cambria Math"/>
                            </a:rPr>
                            <m:t> </m:t>
                          </m:r>
                          <m:r>
                            <m:rPr>
                              <m:sty m:val="p"/>
                            </m:rPr>
                            <a:rPr lang="en-US" sz="1200" b="0" i="0" smtClean="0">
                              <a:latin typeface="Cambria Math"/>
                            </a:rPr>
                            <m:t>Value</m:t>
                          </m:r>
                        </m:den>
                      </m:f>
                    </m:oMath>
                  </m:oMathPara>
                </a14:m>
                <a:endParaRPr lang="en-US" sz="1200" dirty="0"/>
              </a:p>
            </p:txBody>
          </p:sp>
        </mc:Choice>
        <mc:Fallback>
          <p:sp>
            <p:nvSpPr>
              <p:cNvPr id="110" name="TextBox 109"/>
              <p:cNvSpPr txBox="1">
                <a:spLocks noRot="1" noChangeAspect="1" noMove="1" noResize="1" noEditPoints="1" noAdjustHandles="1" noChangeArrowheads="1" noChangeShapeType="1" noTextEdit="1"/>
              </p:cNvSpPr>
              <p:nvPr/>
            </p:nvSpPr>
            <p:spPr>
              <a:xfrm>
                <a:off x="5136377" y="6019800"/>
                <a:ext cx="1743298" cy="944489"/>
              </a:xfrm>
              <a:prstGeom prst="rect">
                <a:avLst/>
              </a:prstGeom>
              <a:blipFill rotWithShape="1">
                <a:blip r:embed="rId10"/>
                <a:stretch>
                  <a:fillRect/>
                </a:stretch>
              </a:blipFill>
            </p:spPr>
            <p:txBody>
              <a:bodyPr/>
              <a:lstStyle/>
              <a:p>
                <a:r>
                  <a:rPr lang="en-US">
                    <a:noFill/>
                  </a:rPr>
                  <a:t> </a:t>
                </a:r>
              </a:p>
            </p:txBody>
          </p:sp>
        </mc:Fallback>
      </mc:AlternateContent>
      <mc:AlternateContent xmlns:mc="http://schemas.openxmlformats.org/markup-compatibility/2006">
        <mc:Choice xmlns:a14="http://schemas.microsoft.com/office/drawing/2010/main" Requires="a14">
          <p:sp>
            <p:nvSpPr>
              <p:cNvPr id="111" name="TextBox 110"/>
              <p:cNvSpPr txBox="1"/>
              <p:nvPr/>
            </p:nvSpPr>
            <p:spPr>
              <a:xfrm>
                <a:off x="7153265" y="6019800"/>
                <a:ext cx="2450158" cy="896912"/>
              </a:xfrm>
              <a:prstGeom prst="rect">
                <a:avLst/>
              </a:prstGeom>
              <a:noFill/>
            </p:spPr>
            <p:txBody>
              <a:bodyPr wrap="none" rtlCol="0">
                <a:spAutoFit/>
              </a:bodyPr>
              <a:lstStyle>
                <a:defPPr>
                  <a:defRPr lang="en-US"/>
                </a:defPPr>
                <a:lvl1pPr>
                  <a:lnSpc>
                    <a:spcPct val="150000"/>
                  </a:lnSpc>
                  <a:defRPr sz="1200"/>
                </a:lvl1pPr>
              </a:lstStyle>
              <a:p>
                <a:r>
                  <a:rPr lang="en-US" b="1" dirty="0" smtClean="0"/>
                  <a:t>Debt Service Coverage Ratio (DSCR)</a:t>
                </a:r>
                <a:endParaRPr lang="en-US" b="1" dirty="0"/>
              </a:p>
              <a:p>
                <a14:m>
                  <m:oMathPara xmlns:m="http://schemas.openxmlformats.org/officeDocument/2006/math">
                    <m:oMathParaPr>
                      <m:jc m:val="centerGroup"/>
                    </m:oMathParaPr>
                    <m:oMath xmlns:m="http://schemas.openxmlformats.org/officeDocument/2006/math">
                      <m:r>
                        <a:rPr lang="en-US"/>
                        <m:t>=</m:t>
                      </m:r>
                      <m:f>
                        <m:fPr>
                          <m:ctrlPr>
                            <a:rPr lang="en-US"/>
                          </m:ctrlPr>
                        </m:fPr>
                        <m:num>
                          <m:r>
                            <m:rPr>
                              <m:sty m:val="p"/>
                            </m:rPr>
                            <a:rPr lang="en-US"/>
                            <m:t>Annual</m:t>
                          </m:r>
                          <m:r>
                            <a:rPr lang="en-US"/>
                            <m:t> </m:t>
                          </m:r>
                          <m:r>
                            <m:rPr>
                              <m:sty m:val="p"/>
                            </m:rPr>
                            <a:rPr lang="en-US"/>
                            <m:t>Net</m:t>
                          </m:r>
                          <m:r>
                            <a:rPr lang="en-US"/>
                            <m:t> </m:t>
                          </m:r>
                          <m:r>
                            <m:rPr>
                              <m:sty m:val="p"/>
                            </m:rPr>
                            <a:rPr lang="en-US"/>
                            <m:t>Cash</m:t>
                          </m:r>
                          <m:r>
                            <a:rPr lang="en-US"/>
                            <m:t> </m:t>
                          </m:r>
                          <m:r>
                            <m:rPr>
                              <m:sty m:val="p"/>
                            </m:rPr>
                            <a:rPr lang="en-US"/>
                            <m:t>Flow</m:t>
                          </m:r>
                          <m:r>
                            <a:rPr lang="en-US"/>
                            <m:t> (</m:t>
                          </m:r>
                          <m:r>
                            <m:rPr>
                              <m:sty m:val="p"/>
                            </m:rPr>
                            <a:rPr lang="en-US"/>
                            <m:t>NCF</m:t>
                          </m:r>
                          <m:r>
                            <a:rPr lang="en-US"/>
                            <m:t>)</m:t>
                          </m:r>
                        </m:num>
                        <m:den>
                          <m:r>
                            <m:rPr>
                              <m:sty m:val="p"/>
                            </m:rPr>
                            <a:rPr lang="en-US" b="0" i="0" smtClean="0">
                              <a:latin typeface="Cambria Math"/>
                            </a:rPr>
                            <m:t>Annual</m:t>
                          </m:r>
                          <m:r>
                            <a:rPr lang="en-US" b="0" i="0" smtClean="0">
                              <a:latin typeface="Cambria Math"/>
                            </a:rPr>
                            <m:t> </m:t>
                          </m:r>
                          <m:r>
                            <m:rPr>
                              <m:sty m:val="p"/>
                            </m:rPr>
                            <a:rPr lang="en-US" b="0" i="0" smtClean="0">
                              <a:latin typeface="Cambria Math"/>
                            </a:rPr>
                            <m:t>Debt</m:t>
                          </m:r>
                          <m:r>
                            <a:rPr lang="en-US" b="0" i="0" smtClean="0">
                              <a:latin typeface="Cambria Math"/>
                            </a:rPr>
                            <m:t> </m:t>
                          </m:r>
                          <m:r>
                            <m:rPr>
                              <m:sty m:val="p"/>
                            </m:rPr>
                            <a:rPr lang="en-US" b="0" i="0" smtClean="0">
                              <a:latin typeface="Cambria Math"/>
                            </a:rPr>
                            <m:t>Service</m:t>
                          </m:r>
                        </m:den>
                      </m:f>
                    </m:oMath>
                  </m:oMathPara>
                </a14:m>
                <a:endParaRPr lang="en-US" dirty="0"/>
              </a:p>
            </p:txBody>
          </p:sp>
        </mc:Choice>
        <mc:Fallback>
          <p:sp>
            <p:nvSpPr>
              <p:cNvPr id="111" name="TextBox 110"/>
              <p:cNvSpPr txBox="1">
                <a:spLocks noRot="1" noChangeAspect="1" noMove="1" noResize="1" noEditPoints="1" noAdjustHandles="1" noChangeArrowheads="1" noChangeShapeType="1" noTextEdit="1"/>
              </p:cNvSpPr>
              <p:nvPr/>
            </p:nvSpPr>
            <p:spPr>
              <a:xfrm>
                <a:off x="7153265" y="6019800"/>
                <a:ext cx="2450158" cy="896912"/>
              </a:xfrm>
              <a:prstGeom prst="rect">
                <a:avLst/>
              </a:prstGeom>
              <a:blipFill rotWithShape="1">
                <a:blip r:embed="rId11"/>
                <a:stretch>
                  <a:fillRect/>
                </a:stretch>
              </a:blipFill>
            </p:spPr>
            <p:txBody>
              <a:bodyPr/>
              <a:lstStyle/>
              <a:p>
                <a:r>
                  <a:rPr lang="en-US">
                    <a:noFill/>
                  </a:rPr>
                  <a:t> </a:t>
                </a:r>
              </a:p>
            </p:txBody>
          </p:sp>
        </mc:Fallback>
      </mc:AlternateContent>
      <p:cxnSp>
        <p:nvCxnSpPr>
          <p:cNvPr id="113" name="Straight Connector 112"/>
          <p:cNvCxnSpPr/>
          <p:nvPr/>
        </p:nvCxnSpPr>
        <p:spPr>
          <a:xfrm>
            <a:off x="5029200" y="6019800"/>
            <a:ext cx="0" cy="838200"/>
          </a:xfrm>
          <a:prstGeom prst="line">
            <a:avLst/>
          </a:prstGeom>
        </p:spPr>
        <p:style>
          <a:lnRef idx="1">
            <a:schemeClr val="accent1"/>
          </a:lnRef>
          <a:fillRef idx="0">
            <a:schemeClr val="accent1"/>
          </a:fillRef>
          <a:effectRef idx="0">
            <a:schemeClr val="accent1"/>
          </a:effectRef>
          <a:fontRef idx="minor">
            <a:schemeClr val="tx1"/>
          </a:fontRef>
        </p:style>
      </p:cxnSp>
      <p:cxnSp>
        <p:nvCxnSpPr>
          <p:cNvPr id="114" name="Straight Connector 113"/>
          <p:cNvCxnSpPr/>
          <p:nvPr/>
        </p:nvCxnSpPr>
        <p:spPr>
          <a:xfrm>
            <a:off x="7086600" y="6019800"/>
            <a:ext cx="0" cy="838200"/>
          </a:xfrm>
          <a:prstGeom prst="line">
            <a:avLst/>
          </a:prstGeom>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265340333"/>
      </p:ext>
    </p:extLst>
  </p:cSld>
  <p:clrMapOvr>
    <a:masterClrMapping/>
  </p:clrMapOvr>
  <p:timing>
    <p:tnLst>
      <p:par>
        <p:cTn id="1" dur="indefinite" restart="never" nodeType="tmRoot"/>
      </p:par>
    </p:tnLst>
  </p:timing>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6" name="Diagram 35"/>
          <p:cNvGraphicFramePr/>
          <p:nvPr>
            <p:extLst>
              <p:ext uri="{D42A27DB-BD31-4B8C-83A1-F6EECF244321}">
                <p14:modId xmlns:p14="http://schemas.microsoft.com/office/powerpoint/2010/main" val="4257264782"/>
              </p:ext>
            </p:extLst>
          </p:nvPr>
        </p:nvGraphicFramePr>
        <p:xfrm>
          <a:off x="879003" y="1847406"/>
          <a:ext cx="8477373" cy="526721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33" name="Title 1"/>
          <p:cNvSpPr>
            <a:spLocks noGrp="1"/>
          </p:cNvSpPr>
          <p:nvPr>
            <p:ph type="title"/>
          </p:nvPr>
        </p:nvSpPr>
        <p:spPr/>
        <p:txBody>
          <a:bodyPr/>
          <a:lstStyle/>
          <a:p>
            <a:r>
              <a:rPr lang="en-US" dirty="0" smtClean="0"/>
              <a:t>INVESTMENT APPROACH</a:t>
            </a:r>
            <a:endParaRPr lang="en-US" dirty="0"/>
          </a:p>
        </p:txBody>
      </p:sp>
      <p:sp>
        <p:nvSpPr>
          <p:cNvPr id="2" name="Content Placeholder 1"/>
          <p:cNvSpPr>
            <a:spLocks noGrp="1"/>
          </p:cNvSpPr>
          <p:nvPr>
            <p:ph idx="1"/>
          </p:nvPr>
        </p:nvSpPr>
        <p:spPr>
          <a:xfrm>
            <a:off x="293687" y="1235075"/>
            <a:ext cx="9469437" cy="669925"/>
          </a:xfrm>
        </p:spPr>
        <p:txBody>
          <a:bodyPr/>
          <a:lstStyle/>
          <a:p>
            <a:r>
              <a:rPr lang="en-US" dirty="0" smtClean="0"/>
              <a:t>Portfolio Directionality Is Customized Across the Economic Cycle</a:t>
            </a:r>
            <a:endParaRPr lang="en-US" dirty="0"/>
          </a:p>
        </p:txBody>
      </p:sp>
      <p:sp>
        <p:nvSpPr>
          <p:cNvPr id="37" name="TextBox 36"/>
          <p:cNvSpPr txBox="1"/>
          <p:nvPr/>
        </p:nvSpPr>
        <p:spPr>
          <a:xfrm>
            <a:off x="3650069" y="2979480"/>
            <a:ext cx="1321322" cy="1384995"/>
          </a:xfrm>
          <a:prstGeom prst="rect">
            <a:avLst/>
          </a:prstGeom>
          <a:noFill/>
        </p:spPr>
        <p:txBody>
          <a:bodyPr wrap="square" lIns="0" tIns="0" rIns="0" bIns="0" rtlCol="0">
            <a:noAutofit/>
          </a:bodyPr>
          <a:lstStyle/>
          <a:p>
            <a:r>
              <a:rPr lang="en-US" sz="1400" dirty="0" smtClean="0">
                <a:solidFill>
                  <a:srgbClr val="FFFFFF"/>
                </a:solidFill>
                <a:latin typeface="Calibri"/>
              </a:rPr>
              <a:t>RECOVERY</a:t>
            </a:r>
          </a:p>
          <a:p>
            <a:pPr marL="115888" indent="-115888">
              <a:buFont typeface="Arial" panose="020B0604020202020204" pitchFamily="34" charset="0"/>
              <a:buChar char="•"/>
            </a:pPr>
            <a:r>
              <a:rPr lang="en-US" sz="1000" dirty="0">
                <a:solidFill>
                  <a:srgbClr val="FFFFFF"/>
                </a:solidFill>
                <a:latin typeface="Calibri"/>
              </a:rPr>
              <a:t>Debt Repayment</a:t>
            </a:r>
          </a:p>
          <a:p>
            <a:pPr marL="115888" indent="-115888">
              <a:buFont typeface="Arial" panose="020B0604020202020204" pitchFamily="34" charset="0"/>
              <a:buChar char="•"/>
            </a:pPr>
            <a:r>
              <a:rPr lang="en-US" sz="1000" dirty="0">
                <a:solidFill>
                  <a:srgbClr val="FFFFFF"/>
                </a:solidFill>
                <a:latin typeface="Calibri"/>
              </a:rPr>
              <a:t>Balance Sheet Repair</a:t>
            </a:r>
          </a:p>
          <a:p>
            <a:pPr marL="115888" indent="-115888">
              <a:buFont typeface="Arial" panose="020B0604020202020204" pitchFamily="34" charset="0"/>
              <a:buChar char="•"/>
            </a:pPr>
            <a:r>
              <a:rPr lang="en-US" sz="1000" dirty="0">
                <a:solidFill>
                  <a:srgbClr val="FFFFFF"/>
                </a:solidFill>
                <a:latin typeface="Calibri"/>
              </a:rPr>
              <a:t>Focus on free cash flow</a:t>
            </a:r>
          </a:p>
          <a:p>
            <a:pPr marL="115888" indent="-115888">
              <a:buFont typeface="Arial" panose="020B0604020202020204" pitchFamily="34" charset="0"/>
              <a:buChar char="•"/>
            </a:pPr>
            <a:r>
              <a:rPr lang="en-US" sz="1000" dirty="0">
                <a:solidFill>
                  <a:srgbClr val="FFFFFF"/>
                </a:solidFill>
                <a:latin typeface="Calibri"/>
              </a:rPr>
              <a:t>Asset Prices begin to recover</a:t>
            </a:r>
          </a:p>
        </p:txBody>
      </p:sp>
      <p:sp>
        <p:nvSpPr>
          <p:cNvPr id="38" name="TextBox 37"/>
          <p:cNvSpPr txBox="1"/>
          <p:nvPr/>
        </p:nvSpPr>
        <p:spPr>
          <a:xfrm>
            <a:off x="5404368" y="2979481"/>
            <a:ext cx="1345902" cy="1429610"/>
          </a:xfrm>
          <a:prstGeom prst="rect">
            <a:avLst/>
          </a:prstGeom>
          <a:noFill/>
        </p:spPr>
        <p:txBody>
          <a:bodyPr wrap="square" lIns="0" tIns="0" rIns="0" bIns="0" rtlCol="0">
            <a:noAutofit/>
          </a:bodyPr>
          <a:lstStyle/>
          <a:p>
            <a:r>
              <a:rPr lang="en-US" sz="1400" dirty="0" smtClean="0">
                <a:solidFill>
                  <a:srgbClr val="FFFFFF"/>
                </a:solidFill>
                <a:latin typeface="Calibri"/>
              </a:rPr>
              <a:t>EXPANSION</a:t>
            </a:r>
          </a:p>
          <a:p>
            <a:pPr marL="115888" indent="-115888">
              <a:buFont typeface="Arial" panose="020B0604020202020204" pitchFamily="34" charset="0"/>
              <a:buChar char="•"/>
            </a:pPr>
            <a:r>
              <a:rPr lang="en-US" sz="1000" dirty="0" smtClean="0">
                <a:solidFill>
                  <a:srgbClr val="FFFFFF"/>
                </a:solidFill>
                <a:latin typeface="Calibri"/>
              </a:rPr>
              <a:t>Strong interest coverage ratios</a:t>
            </a:r>
          </a:p>
          <a:p>
            <a:pPr marL="115888" indent="-115888">
              <a:buFont typeface="Arial" panose="020B0604020202020204" pitchFamily="34" charset="0"/>
              <a:buChar char="•"/>
            </a:pPr>
            <a:r>
              <a:rPr lang="en-US" sz="1000" dirty="0" smtClean="0">
                <a:solidFill>
                  <a:srgbClr val="FFFFFF"/>
                </a:solidFill>
                <a:latin typeface="Calibri"/>
              </a:rPr>
              <a:t>Free cash flow continues to grow</a:t>
            </a:r>
          </a:p>
          <a:p>
            <a:pPr marL="115888" indent="-115888">
              <a:buFont typeface="Arial" panose="020B0604020202020204" pitchFamily="34" charset="0"/>
              <a:buChar char="•"/>
            </a:pPr>
            <a:r>
              <a:rPr lang="en-US" sz="1000" dirty="0" smtClean="0">
                <a:solidFill>
                  <a:srgbClr val="FFFFFF"/>
                </a:solidFill>
                <a:latin typeface="Calibri"/>
              </a:rPr>
              <a:t>Leverage declines</a:t>
            </a:r>
          </a:p>
          <a:p>
            <a:pPr marL="115888" indent="-115888">
              <a:buFont typeface="Arial" panose="020B0604020202020204" pitchFamily="34" charset="0"/>
              <a:buChar char="•"/>
            </a:pPr>
            <a:r>
              <a:rPr lang="en-US" sz="1000" dirty="0" smtClean="0">
                <a:solidFill>
                  <a:srgbClr val="FFFFFF"/>
                </a:solidFill>
                <a:latin typeface="Calibri"/>
              </a:rPr>
              <a:t>Restructuring</a:t>
            </a:r>
          </a:p>
          <a:p>
            <a:pPr marL="115888" indent="-115888">
              <a:buFont typeface="Arial" panose="020B0604020202020204" pitchFamily="34" charset="0"/>
              <a:buChar char="•"/>
            </a:pPr>
            <a:r>
              <a:rPr lang="en-US" sz="1000" dirty="0" smtClean="0">
                <a:solidFill>
                  <a:srgbClr val="FFFFFF"/>
                </a:solidFill>
                <a:latin typeface="Calibri"/>
              </a:rPr>
              <a:t>Limited Defaults</a:t>
            </a:r>
          </a:p>
        </p:txBody>
      </p:sp>
      <p:sp>
        <p:nvSpPr>
          <p:cNvPr id="39" name="TextBox 38"/>
          <p:cNvSpPr txBox="1"/>
          <p:nvPr/>
        </p:nvSpPr>
        <p:spPr>
          <a:xfrm>
            <a:off x="5404368" y="4741248"/>
            <a:ext cx="1314370" cy="1384995"/>
          </a:xfrm>
          <a:prstGeom prst="rect">
            <a:avLst/>
          </a:prstGeom>
          <a:noFill/>
        </p:spPr>
        <p:txBody>
          <a:bodyPr wrap="square" lIns="0" tIns="0" rIns="0" bIns="0" rtlCol="0">
            <a:noAutofit/>
          </a:bodyPr>
          <a:lstStyle/>
          <a:p>
            <a:r>
              <a:rPr lang="en-US" sz="1400" dirty="0" smtClean="0">
                <a:solidFill>
                  <a:srgbClr val="FFFFFF"/>
                </a:solidFill>
                <a:latin typeface="Calibri"/>
              </a:rPr>
              <a:t>LATE CYCLE</a:t>
            </a:r>
          </a:p>
          <a:p>
            <a:pPr marL="115888" indent="-115888">
              <a:buFont typeface="Arial" panose="020B0604020202020204" pitchFamily="34" charset="0"/>
              <a:buChar char="•"/>
            </a:pPr>
            <a:r>
              <a:rPr lang="en-US" sz="1000" dirty="0">
                <a:solidFill>
                  <a:srgbClr val="FFFFFF"/>
                </a:solidFill>
                <a:latin typeface="Calibri"/>
              </a:rPr>
              <a:t>Speculative corporate activity</a:t>
            </a:r>
          </a:p>
          <a:p>
            <a:pPr marL="115888" indent="-115888">
              <a:buFont typeface="Arial" panose="020B0604020202020204" pitchFamily="34" charset="0"/>
              <a:buChar char="•"/>
            </a:pPr>
            <a:r>
              <a:rPr lang="en-US" sz="1000" dirty="0">
                <a:solidFill>
                  <a:srgbClr val="FFFFFF"/>
                </a:solidFill>
                <a:latin typeface="Calibri"/>
              </a:rPr>
              <a:t>Leverage increases</a:t>
            </a:r>
          </a:p>
          <a:p>
            <a:pPr marL="115888" indent="-115888">
              <a:buFont typeface="Arial" panose="020B0604020202020204" pitchFamily="34" charset="0"/>
              <a:buChar char="•"/>
            </a:pPr>
            <a:r>
              <a:rPr lang="en-US" sz="1000" dirty="0">
                <a:solidFill>
                  <a:srgbClr val="FFFFFF"/>
                </a:solidFill>
                <a:latin typeface="Calibri"/>
              </a:rPr>
              <a:t>Credit tightens</a:t>
            </a:r>
          </a:p>
          <a:p>
            <a:pPr marL="115888" indent="-115888">
              <a:buFont typeface="Arial" panose="020B0604020202020204" pitchFamily="34" charset="0"/>
              <a:buChar char="•"/>
            </a:pPr>
            <a:r>
              <a:rPr lang="en-US" sz="1000" dirty="0">
                <a:solidFill>
                  <a:srgbClr val="FFFFFF"/>
                </a:solidFill>
                <a:latin typeface="Calibri"/>
              </a:rPr>
              <a:t>Maturity extension window begins to close </a:t>
            </a:r>
          </a:p>
        </p:txBody>
      </p:sp>
      <p:sp>
        <p:nvSpPr>
          <p:cNvPr id="40" name="TextBox 39"/>
          <p:cNvSpPr txBox="1"/>
          <p:nvPr/>
        </p:nvSpPr>
        <p:spPr>
          <a:xfrm>
            <a:off x="3650070" y="4741248"/>
            <a:ext cx="1216220" cy="1231106"/>
          </a:xfrm>
          <a:prstGeom prst="rect">
            <a:avLst/>
          </a:prstGeom>
          <a:noFill/>
        </p:spPr>
        <p:txBody>
          <a:bodyPr wrap="square" lIns="0" tIns="0" rIns="0" bIns="0" rtlCol="0">
            <a:noAutofit/>
          </a:bodyPr>
          <a:lstStyle/>
          <a:p>
            <a:r>
              <a:rPr lang="en-US" sz="1400" dirty="0" smtClean="0">
                <a:solidFill>
                  <a:srgbClr val="FFFFFF"/>
                </a:solidFill>
                <a:latin typeface="Calibri"/>
              </a:rPr>
              <a:t>RECESSION</a:t>
            </a:r>
          </a:p>
          <a:p>
            <a:pPr marL="115888" indent="-115888">
              <a:buFont typeface="Arial" panose="020B0604020202020204" pitchFamily="34" charset="0"/>
              <a:buChar char="•"/>
            </a:pPr>
            <a:r>
              <a:rPr lang="en-US" sz="1000" dirty="0">
                <a:solidFill>
                  <a:srgbClr val="FFFFFF"/>
                </a:solidFill>
                <a:latin typeface="Calibri"/>
              </a:rPr>
              <a:t>Credit downturn</a:t>
            </a:r>
          </a:p>
          <a:p>
            <a:pPr marL="115888" indent="-115888">
              <a:buFont typeface="Arial" panose="020B0604020202020204" pitchFamily="34" charset="0"/>
              <a:buChar char="•"/>
            </a:pPr>
            <a:r>
              <a:rPr lang="en-US" sz="1000" dirty="0">
                <a:solidFill>
                  <a:srgbClr val="FFFFFF"/>
                </a:solidFill>
                <a:latin typeface="Calibri"/>
              </a:rPr>
              <a:t>Falling asset prices</a:t>
            </a:r>
          </a:p>
          <a:p>
            <a:pPr marL="115888" indent="-115888">
              <a:buFont typeface="Arial" panose="020B0604020202020204" pitchFamily="34" charset="0"/>
              <a:buChar char="•"/>
            </a:pPr>
            <a:r>
              <a:rPr lang="en-US" sz="1000" dirty="0">
                <a:solidFill>
                  <a:srgbClr val="FFFFFF"/>
                </a:solidFill>
                <a:latin typeface="Calibri"/>
              </a:rPr>
              <a:t>Elevated default activity </a:t>
            </a:r>
          </a:p>
          <a:p>
            <a:pPr marL="115888" indent="-115888">
              <a:buFont typeface="Arial" panose="020B0604020202020204" pitchFamily="34" charset="0"/>
              <a:buChar char="•"/>
            </a:pPr>
            <a:r>
              <a:rPr lang="en-US" sz="1000" dirty="0">
                <a:solidFill>
                  <a:srgbClr val="FFFFFF"/>
                </a:solidFill>
                <a:latin typeface="Calibri"/>
              </a:rPr>
              <a:t>Overall </a:t>
            </a:r>
            <a:r>
              <a:rPr lang="en-US" sz="1000" dirty="0" smtClean="0">
                <a:solidFill>
                  <a:srgbClr val="FFFFFF"/>
                </a:solidFill>
                <a:latin typeface="Calibri"/>
              </a:rPr>
              <a:t>market </a:t>
            </a:r>
            <a:r>
              <a:rPr lang="en-US" sz="1000" dirty="0">
                <a:solidFill>
                  <a:srgbClr val="FFFFFF"/>
                </a:solidFill>
                <a:latin typeface="Calibri"/>
              </a:rPr>
              <a:t>s</a:t>
            </a:r>
            <a:r>
              <a:rPr lang="en-US" sz="1000" dirty="0" smtClean="0">
                <a:solidFill>
                  <a:srgbClr val="FFFFFF"/>
                </a:solidFill>
                <a:latin typeface="Calibri"/>
              </a:rPr>
              <a:t>tress</a:t>
            </a:r>
            <a:endParaRPr lang="en-US" sz="1000" dirty="0">
              <a:solidFill>
                <a:srgbClr val="FFFFFF"/>
              </a:solidFill>
              <a:latin typeface="Calibri"/>
            </a:endParaRPr>
          </a:p>
        </p:txBody>
      </p:sp>
      <p:cxnSp>
        <p:nvCxnSpPr>
          <p:cNvPr id="41" name="Straight Connector 40"/>
          <p:cNvCxnSpPr/>
          <p:nvPr/>
        </p:nvCxnSpPr>
        <p:spPr>
          <a:xfrm>
            <a:off x="307975" y="4475009"/>
            <a:ext cx="9455150" cy="0"/>
          </a:xfrm>
          <a:prstGeom prst="line">
            <a:avLst/>
          </a:prstGeom>
          <a:ln w="12700">
            <a:solidFill>
              <a:schemeClr val="accent3"/>
            </a:solidFill>
            <a:prstDash val="lgDash"/>
          </a:ln>
        </p:spPr>
        <p:style>
          <a:lnRef idx="1">
            <a:schemeClr val="accent1"/>
          </a:lnRef>
          <a:fillRef idx="0">
            <a:schemeClr val="accent1"/>
          </a:fillRef>
          <a:effectRef idx="0">
            <a:schemeClr val="accent1"/>
          </a:effectRef>
          <a:fontRef idx="minor">
            <a:schemeClr val="tx1"/>
          </a:fontRef>
        </p:style>
      </p:cxnSp>
      <p:sp>
        <p:nvSpPr>
          <p:cNvPr id="42" name="TextBox 41"/>
          <p:cNvSpPr txBox="1"/>
          <p:nvPr/>
        </p:nvSpPr>
        <p:spPr>
          <a:xfrm>
            <a:off x="293688" y="3754820"/>
            <a:ext cx="1839912" cy="707886"/>
          </a:xfrm>
          <a:prstGeom prst="rect">
            <a:avLst/>
          </a:prstGeom>
          <a:noFill/>
        </p:spPr>
        <p:txBody>
          <a:bodyPr wrap="square" lIns="0" tIns="45720" rIns="0" bIns="45720" rtlCol="0" anchor="b">
            <a:noAutofit/>
          </a:bodyPr>
          <a:lstStyle/>
          <a:p>
            <a:pPr>
              <a:lnSpc>
                <a:spcPct val="110000"/>
              </a:lnSpc>
            </a:pPr>
            <a:r>
              <a:rPr lang="en-US" sz="1400" b="1" dirty="0" smtClean="0">
                <a:solidFill>
                  <a:schemeClr val="accent2"/>
                </a:solidFill>
                <a:latin typeface="Calibri"/>
              </a:rPr>
              <a:t>CREDIT POSITIVES</a:t>
            </a:r>
            <a:endParaRPr lang="en-US" sz="1400" b="1" dirty="0">
              <a:solidFill>
                <a:schemeClr val="accent2"/>
              </a:solidFill>
              <a:latin typeface="Calibri"/>
            </a:endParaRPr>
          </a:p>
        </p:txBody>
      </p:sp>
      <p:sp>
        <p:nvSpPr>
          <p:cNvPr id="43" name="TextBox 42"/>
          <p:cNvSpPr txBox="1"/>
          <p:nvPr/>
        </p:nvSpPr>
        <p:spPr>
          <a:xfrm>
            <a:off x="293689" y="4486795"/>
            <a:ext cx="1839912" cy="707886"/>
          </a:xfrm>
          <a:prstGeom prst="rect">
            <a:avLst/>
          </a:prstGeom>
          <a:noFill/>
        </p:spPr>
        <p:txBody>
          <a:bodyPr wrap="square" lIns="0" tIns="45720" rIns="0" bIns="45720" rtlCol="0">
            <a:noAutofit/>
          </a:bodyPr>
          <a:lstStyle/>
          <a:p>
            <a:pPr>
              <a:lnSpc>
                <a:spcPct val="110000"/>
              </a:lnSpc>
            </a:pPr>
            <a:r>
              <a:rPr lang="en-US" sz="1400" b="1" dirty="0" smtClean="0">
                <a:solidFill>
                  <a:schemeClr val="tx2"/>
                </a:solidFill>
                <a:latin typeface="Calibri"/>
              </a:rPr>
              <a:t>CREDIT  NEGATIVES</a:t>
            </a:r>
            <a:endParaRPr lang="en-US" sz="1400" b="1" dirty="0">
              <a:solidFill>
                <a:schemeClr val="tx2"/>
              </a:solidFill>
              <a:latin typeface="Calibri"/>
            </a:endParaRPr>
          </a:p>
        </p:txBody>
      </p:sp>
      <p:sp>
        <p:nvSpPr>
          <p:cNvPr id="46" name="TextBox 45"/>
          <p:cNvSpPr txBox="1"/>
          <p:nvPr/>
        </p:nvSpPr>
        <p:spPr>
          <a:xfrm>
            <a:off x="7639049" y="3394840"/>
            <a:ext cx="2124075" cy="594360"/>
          </a:xfrm>
          <a:prstGeom prst="rect">
            <a:avLst/>
          </a:prstGeom>
          <a:solidFill>
            <a:srgbClr val="C7732D"/>
          </a:solidFill>
          <a:ln w="15875">
            <a:noFill/>
          </a:ln>
        </p:spPr>
        <p:txBody>
          <a:bodyPr wrap="square" rtlCol="0" anchor="ctr">
            <a:noAutofit/>
          </a:bodyPr>
          <a:lstStyle/>
          <a:p>
            <a:r>
              <a:rPr lang="en-US" sz="1400" b="1" dirty="0" smtClean="0">
                <a:solidFill>
                  <a:schemeClr val="bg1"/>
                </a:solidFill>
                <a:latin typeface="Calibri"/>
              </a:rPr>
              <a:t>2Q 2015: Position in the Credit Cycle</a:t>
            </a:r>
            <a:endParaRPr lang="en-US" sz="1400" b="1" dirty="0">
              <a:solidFill>
                <a:schemeClr val="bg1"/>
              </a:solidFill>
              <a:latin typeface="Calibri"/>
            </a:endParaRPr>
          </a:p>
        </p:txBody>
      </p:sp>
      <p:cxnSp>
        <p:nvCxnSpPr>
          <p:cNvPr id="47" name="Straight Arrow Connector 46"/>
          <p:cNvCxnSpPr/>
          <p:nvPr/>
        </p:nvCxnSpPr>
        <p:spPr>
          <a:xfrm flipH="1">
            <a:off x="7362538" y="4058740"/>
            <a:ext cx="84947" cy="38020"/>
          </a:xfrm>
          <a:prstGeom prst="straightConnector1">
            <a:avLst/>
          </a:prstGeom>
          <a:ln w="44450" cap="rnd">
            <a:solidFill>
              <a:srgbClr val="C7732D"/>
            </a:solidFill>
            <a:tailEnd type="stealth" w="lg" len="lg"/>
          </a:ln>
        </p:spPr>
        <p:style>
          <a:lnRef idx="1">
            <a:schemeClr val="accent1"/>
          </a:lnRef>
          <a:fillRef idx="0">
            <a:schemeClr val="accent1"/>
          </a:fillRef>
          <a:effectRef idx="0">
            <a:schemeClr val="accent1"/>
          </a:effectRef>
          <a:fontRef idx="minor">
            <a:schemeClr val="tx1"/>
          </a:fontRef>
        </p:style>
      </p:cxnSp>
      <p:sp>
        <p:nvSpPr>
          <p:cNvPr id="17" name="TextBox 16"/>
          <p:cNvSpPr txBox="1"/>
          <p:nvPr/>
        </p:nvSpPr>
        <p:spPr>
          <a:xfrm>
            <a:off x="293688" y="1905000"/>
            <a:ext cx="2656303" cy="707886"/>
          </a:xfrm>
          <a:prstGeom prst="rect">
            <a:avLst/>
          </a:prstGeom>
          <a:noFill/>
        </p:spPr>
        <p:txBody>
          <a:bodyPr wrap="square" lIns="0" tIns="0" rIns="0" bIns="0" rtlCol="0">
            <a:noAutofit/>
          </a:bodyPr>
          <a:lstStyle/>
          <a:p>
            <a:pPr>
              <a:lnSpc>
                <a:spcPct val="110000"/>
              </a:lnSpc>
            </a:pPr>
            <a:r>
              <a:rPr lang="en-US" sz="1400" dirty="0" smtClean="0">
                <a:solidFill>
                  <a:schemeClr val="accent2"/>
                </a:solidFill>
                <a:latin typeface="Calibri"/>
              </a:rPr>
              <a:t>LONG BIAS</a:t>
            </a:r>
            <a:endParaRPr lang="en-US" sz="1400" dirty="0">
              <a:solidFill>
                <a:schemeClr val="accent2"/>
              </a:solidFill>
              <a:latin typeface="Calibri"/>
            </a:endParaRPr>
          </a:p>
        </p:txBody>
      </p:sp>
      <p:sp>
        <p:nvSpPr>
          <p:cNvPr id="18" name="TextBox 17"/>
          <p:cNvSpPr txBox="1"/>
          <p:nvPr/>
        </p:nvSpPr>
        <p:spPr>
          <a:xfrm>
            <a:off x="7106822" y="1905000"/>
            <a:ext cx="2656303" cy="707886"/>
          </a:xfrm>
          <a:prstGeom prst="rect">
            <a:avLst/>
          </a:prstGeom>
          <a:noFill/>
        </p:spPr>
        <p:txBody>
          <a:bodyPr wrap="square" lIns="0" tIns="0" rIns="0" bIns="0" rtlCol="0">
            <a:noAutofit/>
          </a:bodyPr>
          <a:lstStyle/>
          <a:p>
            <a:pPr algn="r">
              <a:lnSpc>
                <a:spcPct val="110000"/>
              </a:lnSpc>
            </a:pPr>
            <a:r>
              <a:rPr lang="en-US" sz="1400" dirty="0" smtClean="0">
                <a:solidFill>
                  <a:schemeClr val="accent2"/>
                </a:solidFill>
                <a:latin typeface="Calibri"/>
              </a:rPr>
              <a:t>LONG BIAS</a:t>
            </a:r>
            <a:endParaRPr lang="en-US" sz="1400" dirty="0">
              <a:solidFill>
                <a:schemeClr val="accent2"/>
              </a:solidFill>
              <a:latin typeface="Calibri"/>
            </a:endParaRPr>
          </a:p>
        </p:txBody>
      </p:sp>
      <p:sp>
        <p:nvSpPr>
          <p:cNvPr id="19" name="TextBox 18"/>
          <p:cNvSpPr txBox="1"/>
          <p:nvPr/>
        </p:nvSpPr>
        <p:spPr>
          <a:xfrm>
            <a:off x="7122588" y="6457890"/>
            <a:ext cx="2656303" cy="400110"/>
          </a:xfrm>
          <a:prstGeom prst="rect">
            <a:avLst/>
          </a:prstGeom>
          <a:noFill/>
        </p:spPr>
        <p:txBody>
          <a:bodyPr wrap="square" lIns="0" tIns="0" rIns="0" bIns="0" rtlCol="0" anchor="b">
            <a:noAutofit/>
          </a:bodyPr>
          <a:lstStyle/>
          <a:p>
            <a:pPr algn="r">
              <a:lnSpc>
                <a:spcPct val="110000"/>
              </a:lnSpc>
            </a:pPr>
            <a:r>
              <a:rPr lang="en-US" sz="1400" dirty="0" smtClean="0">
                <a:solidFill>
                  <a:schemeClr val="tx2"/>
                </a:solidFill>
                <a:latin typeface="Calibri"/>
              </a:rPr>
              <a:t>NEUTRAL</a:t>
            </a:r>
            <a:endParaRPr lang="en-US" sz="1400" dirty="0">
              <a:solidFill>
                <a:schemeClr val="tx2"/>
              </a:solidFill>
              <a:latin typeface="Calibri"/>
            </a:endParaRPr>
          </a:p>
        </p:txBody>
      </p:sp>
      <p:sp>
        <p:nvSpPr>
          <p:cNvPr id="20" name="TextBox 19"/>
          <p:cNvSpPr txBox="1"/>
          <p:nvPr/>
        </p:nvSpPr>
        <p:spPr>
          <a:xfrm>
            <a:off x="293688" y="6163252"/>
            <a:ext cx="2656303" cy="707886"/>
          </a:xfrm>
          <a:prstGeom prst="rect">
            <a:avLst/>
          </a:prstGeom>
          <a:noFill/>
        </p:spPr>
        <p:txBody>
          <a:bodyPr wrap="square" lIns="0" tIns="0" rIns="0" bIns="0" rtlCol="0" anchor="b">
            <a:noAutofit/>
          </a:bodyPr>
          <a:lstStyle/>
          <a:p>
            <a:pPr>
              <a:lnSpc>
                <a:spcPct val="110000"/>
              </a:lnSpc>
            </a:pPr>
            <a:r>
              <a:rPr lang="en-US" sz="1400" dirty="0" smtClean="0">
                <a:solidFill>
                  <a:schemeClr val="tx2"/>
                </a:solidFill>
                <a:latin typeface="Calibri"/>
              </a:rPr>
              <a:t>SHORT BIAS</a:t>
            </a:r>
            <a:endParaRPr lang="en-US" sz="1400" dirty="0">
              <a:solidFill>
                <a:schemeClr val="tx2"/>
              </a:solidFill>
              <a:latin typeface="Calibri"/>
            </a:endParaRPr>
          </a:p>
        </p:txBody>
      </p:sp>
      <p:sp>
        <p:nvSpPr>
          <p:cNvPr id="21" name="Text Placeholder 2"/>
          <p:cNvSpPr>
            <a:spLocks noGrp="1"/>
          </p:cNvSpPr>
          <p:nvPr>
            <p:ph type="body" sz="quarter" idx="10"/>
          </p:nvPr>
        </p:nvSpPr>
        <p:spPr>
          <a:xfrm>
            <a:off x="2895600" y="436880"/>
            <a:ext cx="6867525" cy="594360"/>
          </a:xfrm>
        </p:spPr>
        <p:txBody>
          <a:bodyPr/>
          <a:lstStyle/>
          <a:p>
            <a:r>
              <a:rPr lang="en-US" dirty="0" smtClean="0"/>
              <a:t>RELATIVE-VALUE FOCUS</a:t>
            </a:r>
            <a:endParaRPr lang="en-US" dirty="0"/>
          </a:p>
        </p:txBody>
      </p:sp>
    </p:spTree>
    <p:extLst>
      <p:ext uri="{BB962C8B-B14F-4D97-AF65-F5344CB8AC3E}">
        <p14:creationId xmlns:p14="http://schemas.microsoft.com/office/powerpoint/2010/main" val="2849702714"/>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INVESTMENT APPROACH</a:t>
            </a:r>
            <a:endParaRPr lang="en-US" dirty="0"/>
          </a:p>
        </p:txBody>
      </p:sp>
      <p:sp>
        <p:nvSpPr>
          <p:cNvPr id="9" name="Text Placeholder 2"/>
          <p:cNvSpPr>
            <a:spLocks noGrp="1"/>
          </p:cNvSpPr>
          <p:nvPr>
            <p:ph type="body" sz="quarter" idx="10"/>
          </p:nvPr>
        </p:nvSpPr>
        <p:spPr/>
        <p:txBody>
          <a:bodyPr/>
          <a:lstStyle/>
          <a:p>
            <a:r>
              <a:rPr lang="en-US" smtClean="0"/>
              <a:t>OPPORTUNITY SET</a:t>
            </a:r>
            <a:endParaRPr lang="en-US" dirty="0"/>
          </a:p>
        </p:txBody>
      </p:sp>
      <p:sp>
        <p:nvSpPr>
          <p:cNvPr id="8" name="Content Placeholder 7"/>
          <p:cNvSpPr>
            <a:spLocks noGrp="1"/>
          </p:cNvSpPr>
          <p:nvPr>
            <p:ph idx="1"/>
          </p:nvPr>
        </p:nvSpPr>
        <p:spPr>
          <a:xfrm>
            <a:off x="293687" y="1235075"/>
            <a:ext cx="9469437" cy="441325"/>
          </a:xfrm>
        </p:spPr>
        <p:txBody>
          <a:bodyPr/>
          <a:lstStyle/>
          <a:p>
            <a:r>
              <a:rPr lang="en-US" dirty="0"/>
              <a:t>Relative Value Strategy: Asset &amp; Risk Factor </a:t>
            </a:r>
            <a:r>
              <a:rPr lang="en-US" dirty="0" smtClean="0"/>
              <a:t>Allocation</a:t>
            </a:r>
            <a:endParaRPr lang="en-US" dirty="0"/>
          </a:p>
        </p:txBody>
      </p:sp>
      <p:graphicFrame>
        <p:nvGraphicFramePr>
          <p:cNvPr id="11" name="Content Placeholder 6"/>
          <p:cNvGraphicFramePr>
            <a:graphicFrameLocks/>
          </p:cNvGraphicFramePr>
          <p:nvPr>
            <p:extLst>
              <p:ext uri="{D42A27DB-BD31-4B8C-83A1-F6EECF244321}">
                <p14:modId xmlns:p14="http://schemas.microsoft.com/office/powerpoint/2010/main" val="2587397487"/>
              </p:ext>
            </p:extLst>
          </p:nvPr>
        </p:nvGraphicFramePr>
        <p:xfrm>
          <a:off x="293687" y="1572639"/>
          <a:ext cx="9469437" cy="4988943"/>
        </p:xfrm>
        <a:graphic>
          <a:graphicData uri="http://schemas.openxmlformats.org/drawingml/2006/table">
            <a:tbl>
              <a:tblPr firstRow="1" bandRow="1">
                <a:tableStyleId>{5C22544A-7EE6-4342-B048-85BDC9FD1C3A}</a:tableStyleId>
              </a:tblPr>
              <a:tblGrid>
                <a:gridCol w="1720048"/>
                <a:gridCol w="1130430"/>
                <a:gridCol w="3153893"/>
                <a:gridCol w="1155022"/>
                <a:gridCol w="1309920"/>
                <a:gridCol w="1000124"/>
              </a:tblGrid>
              <a:tr h="522153">
                <a:tc>
                  <a:txBody>
                    <a:bodyPr/>
                    <a:lstStyle/>
                    <a:p>
                      <a:pPr algn="l">
                        <a:lnSpc>
                          <a:spcPct val="110000"/>
                        </a:lnSpc>
                      </a:pPr>
                      <a:r>
                        <a:rPr lang="en-US" sz="1000" b="1" dirty="0" smtClean="0">
                          <a:solidFill>
                            <a:schemeClr val="tx1"/>
                          </a:solidFill>
                          <a:latin typeface="+mn-lt"/>
                        </a:rPr>
                        <a:t>Strategy</a:t>
                      </a:r>
                      <a:endParaRPr lang="en-US" sz="1000" b="1" dirty="0">
                        <a:solidFill>
                          <a:schemeClr val="tx1"/>
                        </a:solidFill>
                        <a:latin typeface="+mn-lt"/>
                      </a:endParaRPr>
                    </a:p>
                  </a:txBody>
                  <a:tcPr marL="27432" marT="9144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b="1" dirty="0" smtClean="0">
                          <a:solidFill>
                            <a:schemeClr val="tx1"/>
                          </a:solidFill>
                          <a:latin typeface="+mn-lt"/>
                        </a:rPr>
                        <a:t>Target</a:t>
                      </a:r>
                      <a:r>
                        <a:rPr lang="en-US" sz="1000" b="1" baseline="0" dirty="0" smtClean="0">
                          <a:solidFill>
                            <a:schemeClr val="tx1"/>
                          </a:solidFill>
                          <a:latin typeface="+mn-lt"/>
                        </a:rPr>
                        <a:t> Allocation </a:t>
                      </a:r>
                    </a:p>
                    <a:p>
                      <a:pPr algn="l">
                        <a:lnSpc>
                          <a:spcPct val="110000"/>
                        </a:lnSpc>
                      </a:pPr>
                      <a:r>
                        <a:rPr lang="en-US" sz="1000" b="1" baseline="0" dirty="0" smtClean="0">
                          <a:solidFill>
                            <a:schemeClr val="tx1"/>
                          </a:solidFill>
                          <a:latin typeface="+mn-lt"/>
                        </a:rPr>
                        <a:t>at Launch</a:t>
                      </a:r>
                      <a:endParaRPr lang="en-US" sz="1000" b="1" dirty="0">
                        <a:solidFill>
                          <a:schemeClr val="tx1"/>
                        </a:solidFill>
                        <a:latin typeface="+mn-lt"/>
                      </a:endParaRPr>
                    </a:p>
                  </a:txBody>
                  <a:tcPr marL="0" marT="9144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b="1" dirty="0" smtClean="0">
                          <a:solidFill>
                            <a:schemeClr val="tx1"/>
                          </a:solidFill>
                          <a:latin typeface="+mn-lt"/>
                        </a:rPr>
                        <a:t>Current Opportunity</a:t>
                      </a:r>
                      <a:endParaRPr lang="en-US" sz="1000" b="1" dirty="0">
                        <a:solidFill>
                          <a:schemeClr val="tx1"/>
                        </a:solidFill>
                        <a:latin typeface="+mn-lt"/>
                      </a:endParaRPr>
                    </a:p>
                  </a:txBody>
                  <a:tcPr marL="0" marT="9144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b="1" dirty="0" smtClean="0">
                          <a:solidFill>
                            <a:schemeClr val="tx1"/>
                          </a:solidFill>
                          <a:latin typeface="+mn-lt"/>
                        </a:rPr>
                        <a:t>Target</a:t>
                      </a:r>
                      <a:r>
                        <a:rPr lang="en-US" sz="1000" b="1" baseline="0" dirty="0" smtClean="0">
                          <a:solidFill>
                            <a:schemeClr val="tx1"/>
                          </a:solidFill>
                          <a:latin typeface="+mn-lt"/>
                        </a:rPr>
                        <a:t> Return </a:t>
                      </a:r>
                      <a:br>
                        <a:rPr lang="en-US" sz="1000" b="1" baseline="0" dirty="0" smtClean="0">
                          <a:solidFill>
                            <a:schemeClr val="tx1"/>
                          </a:solidFill>
                          <a:latin typeface="+mn-lt"/>
                        </a:rPr>
                      </a:br>
                      <a:r>
                        <a:rPr lang="en-US" sz="1000" b="1" baseline="0" dirty="0" smtClean="0">
                          <a:solidFill>
                            <a:schemeClr val="tx1"/>
                          </a:solidFill>
                          <a:latin typeface="+mn-lt"/>
                        </a:rPr>
                        <a:t>at Launch</a:t>
                      </a:r>
                      <a:endParaRPr lang="en-US" sz="1000" b="1" dirty="0">
                        <a:solidFill>
                          <a:schemeClr val="tx1"/>
                        </a:solidFill>
                        <a:latin typeface="+mn-lt"/>
                      </a:endParaRPr>
                    </a:p>
                  </a:txBody>
                  <a:tcPr marL="0" marT="9144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b="1" dirty="0" smtClean="0">
                          <a:solidFill>
                            <a:schemeClr val="tx1"/>
                          </a:solidFill>
                          <a:latin typeface="+mn-lt"/>
                        </a:rPr>
                        <a:t>Availability</a:t>
                      </a:r>
                      <a:r>
                        <a:rPr lang="en-US" sz="1000" b="1" baseline="0" dirty="0" smtClean="0">
                          <a:solidFill>
                            <a:schemeClr val="tx1"/>
                          </a:solidFill>
                          <a:latin typeface="+mn-lt"/>
                        </a:rPr>
                        <a:t> </a:t>
                      </a:r>
                      <a:br>
                        <a:rPr lang="en-US" sz="1000" b="1" baseline="0" dirty="0" smtClean="0">
                          <a:solidFill>
                            <a:schemeClr val="tx1"/>
                          </a:solidFill>
                          <a:latin typeface="+mn-lt"/>
                        </a:rPr>
                      </a:br>
                      <a:r>
                        <a:rPr lang="en-US" sz="1000" b="1" baseline="0" dirty="0" smtClean="0">
                          <a:solidFill>
                            <a:schemeClr val="tx1"/>
                          </a:solidFill>
                          <a:latin typeface="+mn-lt"/>
                        </a:rPr>
                        <a:t>of Shorts</a:t>
                      </a:r>
                      <a:endParaRPr lang="en-US" sz="1000" b="1" dirty="0">
                        <a:solidFill>
                          <a:schemeClr val="tx1"/>
                        </a:solidFill>
                        <a:latin typeface="+mn-lt"/>
                      </a:endParaRPr>
                    </a:p>
                  </a:txBody>
                  <a:tcPr marL="0" marT="9144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b="1" dirty="0" smtClean="0">
                          <a:solidFill>
                            <a:schemeClr val="tx1"/>
                          </a:solidFill>
                          <a:latin typeface="+mn-lt"/>
                        </a:rPr>
                        <a:t>Liquidity</a:t>
                      </a:r>
                      <a:endParaRPr lang="en-US" sz="1000" b="1" dirty="0">
                        <a:solidFill>
                          <a:schemeClr val="tx1"/>
                        </a:solidFill>
                        <a:latin typeface="+mn-lt"/>
                      </a:endParaRPr>
                    </a:p>
                  </a:txBody>
                  <a:tcPr marL="0" marT="91440" anchor="b">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noFill/>
                  </a:tcPr>
                </a:tc>
              </a:tr>
              <a:tr h="488465">
                <a:tc>
                  <a:txBody>
                    <a:bodyPr/>
                    <a:lstStyle/>
                    <a:p>
                      <a:pPr algn="l">
                        <a:lnSpc>
                          <a:spcPct val="110000"/>
                        </a:lnSpc>
                      </a:pPr>
                      <a:r>
                        <a:rPr lang="en-US" sz="1000" b="1" dirty="0" smtClean="0">
                          <a:solidFill>
                            <a:schemeClr val="tx1"/>
                          </a:solidFill>
                          <a:latin typeface="+mn-lt"/>
                        </a:rPr>
                        <a:t>CMBX Relative</a:t>
                      </a:r>
                      <a:r>
                        <a:rPr lang="en-US" sz="1000" b="1" baseline="0" dirty="0" smtClean="0">
                          <a:solidFill>
                            <a:schemeClr val="tx1"/>
                          </a:solidFill>
                          <a:latin typeface="+mn-lt"/>
                        </a:rPr>
                        <a:t> Value</a:t>
                      </a:r>
                      <a:endParaRPr lang="en-US" sz="1000" b="1" dirty="0">
                        <a:solidFill>
                          <a:schemeClr val="tx1"/>
                        </a:solidFill>
                        <a:latin typeface="+mn-lt"/>
                      </a:endParaRPr>
                    </a:p>
                  </a:txBody>
                  <a:tcPr marL="27432"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dirty="0" smtClean="0">
                          <a:solidFill>
                            <a:schemeClr val="tx1"/>
                          </a:solidFill>
                          <a:latin typeface="+mn-lt"/>
                        </a:rPr>
                        <a:t>20%</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dirty="0" smtClean="0">
                          <a:solidFill>
                            <a:schemeClr val="tx1"/>
                          </a:solidFill>
                          <a:latin typeface="+mn-lt"/>
                        </a:rPr>
                        <a:t>Price</a:t>
                      </a:r>
                      <a:r>
                        <a:rPr lang="en-US" sz="1000" baseline="0" dirty="0" smtClean="0">
                          <a:solidFill>
                            <a:schemeClr val="tx1"/>
                          </a:solidFill>
                          <a:latin typeface="+mn-lt"/>
                        </a:rPr>
                        <a:t> dislocations across vintages and capital structures.</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dirty="0" smtClean="0">
                          <a:solidFill>
                            <a:schemeClr val="tx1"/>
                          </a:solidFill>
                          <a:latin typeface="+mn-lt"/>
                        </a:rPr>
                        <a:t>10%</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dirty="0" smtClean="0">
                          <a:solidFill>
                            <a:schemeClr val="tx1"/>
                          </a:solidFill>
                          <a:latin typeface="+mn-lt"/>
                        </a:rPr>
                        <a:t>Yes</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dirty="0" smtClean="0">
                          <a:solidFill>
                            <a:schemeClr val="tx1"/>
                          </a:solidFill>
                          <a:latin typeface="+mn-lt"/>
                        </a:rPr>
                        <a:t>High</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r>
              <a:tr h="673745">
                <a:tc>
                  <a:txBody>
                    <a:bodyPr/>
                    <a:lstStyle/>
                    <a:p>
                      <a:pPr algn="l">
                        <a:lnSpc>
                          <a:spcPct val="110000"/>
                        </a:lnSpc>
                      </a:pPr>
                      <a:r>
                        <a:rPr lang="en-US" sz="1000" b="1" dirty="0" smtClean="0">
                          <a:solidFill>
                            <a:schemeClr val="tx1"/>
                          </a:solidFill>
                          <a:latin typeface="+mn-lt"/>
                        </a:rPr>
                        <a:t>Whole Loan / New Issue Mezzanine Debt</a:t>
                      </a:r>
                      <a:endParaRPr lang="en-US" sz="1000" b="1" dirty="0">
                        <a:solidFill>
                          <a:schemeClr val="tx1"/>
                        </a:solidFill>
                        <a:latin typeface="+mn-lt"/>
                      </a:endParaRPr>
                    </a:p>
                  </a:txBody>
                  <a:tcPr marL="27432"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dirty="0" smtClean="0">
                          <a:solidFill>
                            <a:schemeClr val="tx1"/>
                          </a:solidFill>
                          <a:latin typeface="+mn-lt"/>
                        </a:rPr>
                        <a:t>15%</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dirty="0" smtClean="0">
                          <a:solidFill>
                            <a:schemeClr val="tx1"/>
                          </a:solidFill>
                          <a:latin typeface="+mn-lt"/>
                        </a:rPr>
                        <a:t>Security selection through deep credit work.</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dirty="0" smtClean="0">
                          <a:solidFill>
                            <a:schemeClr val="tx1"/>
                          </a:solidFill>
                          <a:latin typeface="+mn-lt"/>
                        </a:rPr>
                        <a:t>7%</a:t>
                      </a:r>
                      <a:r>
                        <a:rPr lang="en-US" sz="1000" baseline="0" dirty="0" smtClean="0">
                          <a:solidFill>
                            <a:schemeClr val="tx1"/>
                          </a:solidFill>
                          <a:latin typeface="+mn-lt"/>
                        </a:rPr>
                        <a:t> - 9</a:t>
                      </a:r>
                      <a:r>
                        <a:rPr lang="en-US" sz="1000" dirty="0" smtClean="0">
                          <a:solidFill>
                            <a:schemeClr val="tx1"/>
                          </a:solidFill>
                          <a:latin typeface="+mn-lt"/>
                        </a:rPr>
                        <a:t>%</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dirty="0" smtClean="0">
                          <a:solidFill>
                            <a:schemeClr val="tx1"/>
                          </a:solidFill>
                          <a:latin typeface="+mn-lt"/>
                        </a:rPr>
                        <a:t>No</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dirty="0" smtClean="0">
                          <a:solidFill>
                            <a:schemeClr val="tx1"/>
                          </a:solidFill>
                          <a:latin typeface="+mn-lt"/>
                        </a:rPr>
                        <a:t>Moderate</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r>
              <a:tr h="673745">
                <a:tc>
                  <a:txBody>
                    <a:bodyPr/>
                    <a:lstStyle/>
                    <a:p>
                      <a:pPr algn="l">
                        <a:lnSpc>
                          <a:spcPct val="110000"/>
                        </a:lnSpc>
                      </a:pPr>
                      <a:r>
                        <a:rPr lang="en-US" sz="1000" b="1" dirty="0" smtClean="0">
                          <a:solidFill>
                            <a:schemeClr val="tx1"/>
                          </a:solidFill>
                          <a:latin typeface="+mn-lt"/>
                        </a:rPr>
                        <a:t>Legacy</a:t>
                      </a:r>
                      <a:r>
                        <a:rPr lang="en-US" sz="1000" b="1" baseline="0" dirty="0" smtClean="0">
                          <a:solidFill>
                            <a:schemeClr val="tx1"/>
                          </a:solidFill>
                          <a:latin typeface="+mn-lt"/>
                        </a:rPr>
                        <a:t> CMBS</a:t>
                      </a:r>
                      <a:endParaRPr lang="en-US" sz="1000" b="1" dirty="0">
                        <a:solidFill>
                          <a:schemeClr val="tx1"/>
                        </a:solidFill>
                        <a:latin typeface="+mn-lt"/>
                      </a:endParaRPr>
                    </a:p>
                  </a:txBody>
                  <a:tcPr marL="27432"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dirty="0" smtClean="0">
                          <a:solidFill>
                            <a:schemeClr val="tx1"/>
                          </a:solidFill>
                          <a:latin typeface="+mn-lt"/>
                        </a:rPr>
                        <a:t>10%</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dirty="0" smtClean="0">
                          <a:solidFill>
                            <a:schemeClr val="tx1"/>
                          </a:solidFill>
                          <a:latin typeface="+mn-lt"/>
                        </a:rPr>
                        <a:t>Select</a:t>
                      </a:r>
                      <a:r>
                        <a:rPr lang="en-US" sz="1000" baseline="0" dirty="0" smtClean="0">
                          <a:solidFill>
                            <a:schemeClr val="tx1"/>
                          </a:solidFill>
                          <a:latin typeface="+mn-lt"/>
                        </a:rPr>
                        <a:t> cash bonds provide significant opportunities </a:t>
                      </a:r>
                      <a:br>
                        <a:rPr lang="en-US" sz="1000" baseline="0" dirty="0" smtClean="0">
                          <a:solidFill>
                            <a:schemeClr val="tx1"/>
                          </a:solidFill>
                          <a:latin typeface="+mn-lt"/>
                        </a:rPr>
                      </a:br>
                      <a:r>
                        <a:rPr lang="en-US" sz="1000" baseline="0" dirty="0" smtClean="0">
                          <a:solidFill>
                            <a:schemeClr val="tx1"/>
                          </a:solidFill>
                          <a:latin typeface="+mn-lt"/>
                        </a:rPr>
                        <a:t>versus an overvalued legacy market.</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dirty="0" smtClean="0">
                          <a:solidFill>
                            <a:schemeClr val="tx1"/>
                          </a:solidFill>
                          <a:latin typeface="+mn-lt"/>
                        </a:rPr>
                        <a:t>10%</a:t>
                      </a:r>
                      <a:r>
                        <a:rPr lang="en-US" sz="1000" baseline="0" dirty="0" smtClean="0">
                          <a:solidFill>
                            <a:schemeClr val="tx1"/>
                          </a:solidFill>
                          <a:latin typeface="+mn-lt"/>
                        </a:rPr>
                        <a:t> - </a:t>
                      </a:r>
                      <a:r>
                        <a:rPr lang="en-US" sz="1000" dirty="0" smtClean="0">
                          <a:solidFill>
                            <a:schemeClr val="tx1"/>
                          </a:solidFill>
                          <a:latin typeface="+mn-lt"/>
                        </a:rPr>
                        <a:t>12%</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dirty="0" smtClean="0">
                          <a:solidFill>
                            <a:schemeClr val="tx1"/>
                          </a:solidFill>
                          <a:latin typeface="+mn-lt"/>
                        </a:rPr>
                        <a:t>Yes on select</a:t>
                      </a:r>
                      <a:r>
                        <a:rPr lang="en-US" sz="1000" baseline="0" dirty="0" smtClean="0">
                          <a:solidFill>
                            <a:schemeClr val="tx1"/>
                          </a:solidFill>
                          <a:latin typeface="+mn-lt"/>
                        </a:rPr>
                        <a:t> super </a:t>
                      </a:r>
                      <a:br>
                        <a:rPr lang="en-US" sz="1000" baseline="0" dirty="0" smtClean="0">
                          <a:solidFill>
                            <a:schemeClr val="tx1"/>
                          </a:solidFill>
                          <a:latin typeface="+mn-lt"/>
                        </a:rPr>
                      </a:br>
                      <a:r>
                        <a:rPr lang="en-US" sz="1000" baseline="0" dirty="0" smtClean="0">
                          <a:solidFill>
                            <a:schemeClr val="tx1"/>
                          </a:solidFill>
                          <a:latin typeface="+mn-lt"/>
                        </a:rPr>
                        <a:t>senior benchmarks.</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dirty="0" smtClean="0">
                          <a:solidFill>
                            <a:schemeClr val="tx1"/>
                          </a:solidFill>
                          <a:latin typeface="+mn-lt"/>
                        </a:rPr>
                        <a:t>Moderate</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r>
              <a:tr h="673745">
                <a:tc>
                  <a:txBody>
                    <a:bodyPr/>
                    <a:lstStyle/>
                    <a:p>
                      <a:pPr algn="l">
                        <a:lnSpc>
                          <a:spcPct val="110000"/>
                        </a:lnSpc>
                      </a:pPr>
                      <a:r>
                        <a:rPr lang="en-US" sz="1000" b="1" dirty="0" smtClean="0">
                          <a:solidFill>
                            <a:schemeClr val="tx1"/>
                          </a:solidFill>
                          <a:latin typeface="+mn-lt"/>
                        </a:rPr>
                        <a:t>New</a:t>
                      </a:r>
                      <a:r>
                        <a:rPr lang="en-US" sz="1000" b="1" baseline="0" dirty="0" smtClean="0">
                          <a:solidFill>
                            <a:schemeClr val="tx1"/>
                          </a:solidFill>
                          <a:latin typeface="+mn-lt"/>
                        </a:rPr>
                        <a:t> Issue CMBS</a:t>
                      </a:r>
                      <a:endParaRPr lang="en-US" sz="1000" b="1" dirty="0">
                        <a:solidFill>
                          <a:schemeClr val="tx1"/>
                        </a:solidFill>
                        <a:latin typeface="+mn-lt"/>
                      </a:endParaRPr>
                    </a:p>
                  </a:txBody>
                  <a:tcPr marL="27432"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dirty="0" smtClean="0">
                          <a:solidFill>
                            <a:schemeClr val="tx1"/>
                          </a:solidFill>
                          <a:latin typeface="+mn-lt"/>
                        </a:rPr>
                        <a:t>5%</a:t>
                      </a: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dirty="0" smtClean="0">
                          <a:solidFill>
                            <a:schemeClr val="tx1"/>
                          </a:solidFill>
                          <a:latin typeface="+mn-lt"/>
                        </a:rPr>
                        <a:t>Provide</a:t>
                      </a:r>
                      <a:r>
                        <a:rPr lang="en-US" sz="1000" baseline="0" dirty="0" smtClean="0">
                          <a:solidFill>
                            <a:schemeClr val="tx1"/>
                          </a:solidFill>
                          <a:latin typeface="+mn-lt"/>
                        </a:rPr>
                        <a:t> short-term liquidity on well structured/</a:t>
                      </a:r>
                      <a:br>
                        <a:rPr lang="en-US" sz="1000" baseline="0" dirty="0" smtClean="0">
                          <a:solidFill>
                            <a:schemeClr val="tx1"/>
                          </a:solidFill>
                          <a:latin typeface="+mn-lt"/>
                        </a:rPr>
                      </a:br>
                      <a:r>
                        <a:rPr lang="en-US" sz="1000" baseline="0" dirty="0" smtClean="0">
                          <a:solidFill>
                            <a:schemeClr val="tx1"/>
                          </a:solidFill>
                          <a:latin typeface="+mn-lt"/>
                        </a:rPr>
                        <a:t>originated CUSIPs.</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dirty="0" smtClean="0">
                          <a:solidFill>
                            <a:schemeClr val="tx1"/>
                          </a:solidFill>
                          <a:latin typeface="+mn-lt"/>
                        </a:rPr>
                        <a:t>4%</a:t>
                      </a:r>
                      <a:r>
                        <a:rPr lang="en-US" sz="1000" baseline="0" dirty="0" smtClean="0">
                          <a:solidFill>
                            <a:schemeClr val="tx1"/>
                          </a:solidFill>
                          <a:latin typeface="+mn-lt"/>
                        </a:rPr>
                        <a:t> - 6</a:t>
                      </a:r>
                      <a:r>
                        <a:rPr lang="en-US" sz="1000" dirty="0" smtClean="0">
                          <a:solidFill>
                            <a:schemeClr val="tx1"/>
                          </a:solidFill>
                          <a:latin typeface="+mn-lt"/>
                        </a:rPr>
                        <a:t>%</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dirty="0" smtClean="0">
                          <a:solidFill>
                            <a:schemeClr val="tx1"/>
                          </a:solidFill>
                          <a:latin typeface="+mn-lt"/>
                        </a:rPr>
                        <a:t>No</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dirty="0" smtClean="0">
                          <a:solidFill>
                            <a:schemeClr val="tx1"/>
                          </a:solidFill>
                          <a:latin typeface="+mn-lt"/>
                        </a:rPr>
                        <a:t>High</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r>
              <a:tr h="673745">
                <a:tc>
                  <a:txBody>
                    <a:bodyPr/>
                    <a:lstStyle/>
                    <a:p>
                      <a:pPr algn="l">
                        <a:lnSpc>
                          <a:spcPct val="110000"/>
                        </a:lnSpc>
                      </a:pPr>
                      <a:r>
                        <a:rPr lang="en-US" sz="1000" b="1" i="0" dirty="0" smtClean="0">
                          <a:solidFill>
                            <a:schemeClr val="bg1">
                              <a:lumMod val="50000"/>
                            </a:schemeClr>
                          </a:solidFill>
                          <a:latin typeface="+mn-lt"/>
                        </a:rPr>
                        <a:t>B-</a:t>
                      </a:r>
                      <a:r>
                        <a:rPr lang="en-US" sz="1000" b="1" i="0" baseline="0" dirty="0" smtClean="0">
                          <a:solidFill>
                            <a:schemeClr val="bg1">
                              <a:lumMod val="50000"/>
                            </a:schemeClr>
                          </a:solidFill>
                          <a:latin typeface="+mn-lt"/>
                        </a:rPr>
                        <a:t>Pieces, Control Mezzanine </a:t>
                      </a:r>
                      <a:br>
                        <a:rPr lang="en-US" sz="1000" b="1" i="0" baseline="0" dirty="0" smtClean="0">
                          <a:solidFill>
                            <a:schemeClr val="bg1">
                              <a:lumMod val="50000"/>
                            </a:schemeClr>
                          </a:solidFill>
                          <a:latin typeface="+mn-lt"/>
                        </a:rPr>
                      </a:br>
                      <a:r>
                        <a:rPr lang="en-US" sz="1000" b="1" i="0" baseline="0" dirty="0" smtClean="0">
                          <a:solidFill>
                            <a:schemeClr val="bg1">
                              <a:lumMod val="50000"/>
                            </a:schemeClr>
                          </a:solidFill>
                          <a:latin typeface="+mn-lt"/>
                        </a:rPr>
                        <a:t>and Origination</a:t>
                      </a:r>
                      <a:endParaRPr lang="en-US" sz="1000" b="1" i="0" dirty="0">
                        <a:solidFill>
                          <a:schemeClr val="bg1">
                            <a:lumMod val="50000"/>
                          </a:schemeClr>
                        </a:solidFill>
                        <a:latin typeface="+mn-lt"/>
                      </a:endParaRPr>
                    </a:p>
                  </a:txBody>
                  <a:tcPr marL="27432"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i="0" dirty="0" smtClean="0">
                          <a:solidFill>
                            <a:schemeClr val="bg1">
                              <a:lumMod val="50000"/>
                            </a:schemeClr>
                          </a:solidFill>
                          <a:latin typeface="+mn-lt"/>
                        </a:rPr>
                        <a:t>0%</a:t>
                      </a:r>
                      <a:endParaRPr lang="en-US" sz="1000" i="0" dirty="0">
                        <a:solidFill>
                          <a:schemeClr val="bg1">
                            <a:lumMod val="50000"/>
                          </a:schemeClr>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marL="0" marR="0" indent="0" algn="l" defTabSz="1018472" rtl="0" eaLnBrk="1" fontAlgn="auto" latinLnBrk="0" hangingPunct="1">
                        <a:lnSpc>
                          <a:spcPct val="110000"/>
                        </a:lnSpc>
                        <a:spcBef>
                          <a:spcPts val="0"/>
                        </a:spcBef>
                        <a:spcAft>
                          <a:spcPts val="0"/>
                        </a:spcAft>
                        <a:buClrTx/>
                        <a:buSzTx/>
                        <a:buFontTx/>
                        <a:buNone/>
                        <a:tabLst/>
                        <a:defRPr/>
                      </a:pPr>
                      <a:r>
                        <a:rPr lang="en-US" sz="1000" i="0" dirty="0" smtClean="0">
                          <a:solidFill>
                            <a:schemeClr val="bg1">
                              <a:lumMod val="50000"/>
                            </a:schemeClr>
                          </a:solidFill>
                          <a:latin typeface="+mn-lt"/>
                        </a:rPr>
                        <a:t>Source</a:t>
                      </a:r>
                      <a:r>
                        <a:rPr lang="en-US" sz="1000" i="0" baseline="0" dirty="0" smtClean="0">
                          <a:solidFill>
                            <a:schemeClr val="bg1">
                              <a:lumMod val="50000"/>
                            </a:schemeClr>
                          </a:solidFill>
                          <a:latin typeface="+mn-lt"/>
                        </a:rPr>
                        <a:t> transactions through strategic long-term partnerships.</a:t>
                      </a:r>
                      <a:endParaRPr lang="en-US" sz="1000" i="0" dirty="0" smtClean="0">
                        <a:solidFill>
                          <a:schemeClr val="bg1">
                            <a:lumMod val="50000"/>
                          </a:schemeClr>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i="0" dirty="0" smtClean="0">
                          <a:solidFill>
                            <a:schemeClr val="bg1">
                              <a:lumMod val="50000"/>
                            </a:schemeClr>
                          </a:solidFill>
                          <a:latin typeface="+mn-lt"/>
                        </a:rPr>
                        <a:t>Longer</a:t>
                      </a:r>
                      <a:r>
                        <a:rPr lang="en-US" sz="1000" i="0" baseline="0" dirty="0" smtClean="0">
                          <a:solidFill>
                            <a:schemeClr val="bg1">
                              <a:lumMod val="50000"/>
                            </a:schemeClr>
                          </a:solidFill>
                          <a:latin typeface="+mn-lt"/>
                        </a:rPr>
                        <a:t> Term </a:t>
                      </a:r>
                      <a:br>
                        <a:rPr lang="en-US" sz="1000" i="0" baseline="0" dirty="0" smtClean="0">
                          <a:solidFill>
                            <a:schemeClr val="bg1">
                              <a:lumMod val="50000"/>
                            </a:schemeClr>
                          </a:solidFill>
                          <a:latin typeface="+mn-lt"/>
                        </a:rPr>
                      </a:br>
                      <a:r>
                        <a:rPr lang="en-US" sz="1000" i="0" baseline="0" dirty="0" smtClean="0">
                          <a:solidFill>
                            <a:schemeClr val="bg1">
                              <a:lumMod val="50000"/>
                            </a:schemeClr>
                          </a:solidFill>
                          <a:latin typeface="+mn-lt"/>
                        </a:rPr>
                        <a:t>Capital Bucket.</a:t>
                      </a:r>
                      <a:endParaRPr lang="en-US" sz="1000" i="0" dirty="0">
                        <a:solidFill>
                          <a:schemeClr val="bg1">
                            <a:lumMod val="50000"/>
                          </a:schemeClr>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i="0" dirty="0" smtClean="0">
                          <a:solidFill>
                            <a:schemeClr val="bg1">
                              <a:lumMod val="50000"/>
                            </a:schemeClr>
                          </a:solidFill>
                          <a:latin typeface="+mn-lt"/>
                        </a:rPr>
                        <a:t>No</a:t>
                      </a:r>
                      <a:endParaRPr lang="en-US" sz="1000" i="0" dirty="0">
                        <a:solidFill>
                          <a:schemeClr val="bg1">
                            <a:lumMod val="50000"/>
                          </a:schemeClr>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c>
                  <a:txBody>
                    <a:bodyPr/>
                    <a:lstStyle/>
                    <a:p>
                      <a:pPr algn="l">
                        <a:lnSpc>
                          <a:spcPct val="110000"/>
                        </a:lnSpc>
                      </a:pPr>
                      <a:r>
                        <a:rPr lang="en-US" sz="1000" i="0" dirty="0" smtClean="0">
                          <a:solidFill>
                            <a:schemeClr val="bg1">
                              <a:lumMod val="50000"/>
                            </a:schemeClr>
                          </a:solidFill>
                          <a:latin typeface="+mn-lt"/>
                        </a:rPr>
                        <a:t>Low</a:t>
                      </a:r>
                      <a:endParaRPr lang="en-US" sz="1000" i="0" dirty="0">
                        <a:solidFill>
                          <a:schemeClr val="bg1">
                            <a:lumMod val="50000"/>
                          </a:schemeClr>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noFill/>
                      <a:prstDash val="solid"/>
                      <a:round/>
                      <a:headEnd type="none" w="med" len="med"/>
                      <a:tailEnd type="none" w="med" len="med"/>
                    </a:lnB>
                    <a:lnTlToBr w="12700" cmpd="sng">
                      <a:noFill/>
                      <a:prstDash val="solid"/>
                    </a:lnTlToBr>
                    <a:lnBlToTr w="12700" cmpd="sng">
                      <a:noFill/>
                      <a:prstDash val="solid"/>
                    </a:lnBlToTr>
                    <a:noFill/>
                  </a:tcPr>
                </a:tc>
              </a:tr>
              <a:tr h="673745">
                <a:tc>
                  <a:txBody>
                    <a:bodyPr/>
                    <a:lstStyle/>
                    <a:p>
                      <a:pPr algn="l">
                        <a:lnSpc>
                          <a:spcPct val="110000"/>
                        </a:lnSpc>
                      </a:pPr>
                      <a:r>
                        <a:rPr lang="en-US" sz="1000" b="1" dirty="0" smtClean="0">
                          <a:solidFill>
                            <a:schemeClr val="bg1"/>
                          </a:solidFill>
                          <a:latin typeface="+mn-lt"/>
                        </a:rPr>
                        <a:t>CRE Equities</a:t>
                      </a:r>
                      <a:endParaRPr lang="en-US" sz="1000" b="1" dirty="0">
                        <a:solidFill>
                          <a:schemeClr val="bg1"/>
                        </a:solidFill>
                        <a:latin typeface="+mn-lt"/>
                      </a:endParaRPr>
                    </a:p>
                  </a:txBody>
                  <a:tcPr marL="27432"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a:lnSpc>
                          <a:spcPct val="110000"/>
                        </a:lnSpc>
                      </a:pPr>
                      <a:r>
                        <a:rPr lang="en-US" sz="1000" dirty="0" smtClean="0">
                          <a:solidFill>
                            <a:schemeClr val="bg1"/>
                          </a:solidFill>
                          <a:latin typeface="+mn-lt"/>
                        </a:rPr>
                        <a:t>30%</a:t>
                      </a:r>
                      <a:endParaRPr lang="en-US" sz="1000" dirty="0">
                        <a:solidFill>
                          <a:schemeClr val="bg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marL="0" marR="0" indent="0" algn="l" defTabSz="1018472" rtl="0" eaLnBrk="1" fontAlgn="auto" latinLnBrk="0" hangingPunct="1">
                        <a:lnSpc>
                          <a:spcPct val="110000"/>
                        </a:lnSpc>
                        <a:spcBef>
                          <a:spcPts val="0"/>
                        </a:spcBef>
                        <a:spcAft>
                          <a:spcPts val="0"/>
                        </a:spcAft>
                        <a:buClrTx/>
                        <a:buSzTx/>
                        <a:buFontTx/>
                        <a:buNone/>
                        <a:tabLst/>
                        <a:defRPr/>
                      </a:pPr>
                      <a:r>
                        <a:rPr lang="en-US" sz="1000" dirty="0" smtClean="0">
                          <a:solidFill>
                            <a:schemeClr val="bg1"/>
                          </a:solidFill>
                          <a:latin typeface="+mn-lt"/>
                        </a:rPr>
                        <a:t>Relative Value in key sectors with CRE</a:t>
                      </a:r>
                      <a:r>
                        <a:rPr lang="en-US" sz="1000" baseline="0" dirty="0" smtClean="0">
                          <a:solidFill>
                            <a:schemeClr val="bg1"/>
                          </a:solidFill>
                          <a:latin typeface="+mn-lt"/>
                        </a:rPr>
                        <a:t> exposures e.g. </a:t>
                      </a:r>
                      <a:br>
                        <a:rPr lang="en-US" sz="1000" baseline="0" dirty="0" smtClean="0">
                          <a:solidFill>
                            <a:schemeClr val="bg1"/>
                          </a:solidFill>
                          <a:latin typeface="+mn-lt"/>
                        </a:rPr>
                      </a:br>
                      <a:r>
                        <a:rPr lang="en-US" sz="1000" baseline="0" dirty="0" smtClean="0">
                          <a:solidFill>
                            <a:schemeClr val="bg1"/>
                          </a:solidFill>
                          <a:latin typeface="+mn-lt"/>
                        </a:rPr>
                        <a:t>REITs, Retailers, Hotels and Homebuilders.</a:t>
                      </a:r>
                      <a:endParaRPr lang="en-US" sz="1000" dirty="0" smtClean="0">
                        <a:solidFill>
                          <a:schemeClr val="bg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a:lnSpc>
                          <a:spcPct val="110000"/>
                        </a:lnSpc>
                      </a:pPr>
                      <a:r>
                        <a:rPr lang="en-US" sz="1000" dirty="0" smtClean="0">
                          <a:solidFill>
                            <a:schemeClr val="bg1"/>
                          </a:solidFill>
                          <a:latin typeface="+mn-lt"/>
                        </a:rPr>
                        <a:t>10% - 15%</a:t>
                      </a:r>
                      <a:endParaRPr lang="en-US" sz="1000" dirty="0">
                        <a:solidFill>
                          <a:schemeClr val="bg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a:lnSpc>
                          <a:spcPct val="110000"/>
                        </a:lnSpc>
                      </a:pPr>
                      <a:r>
                        <a:rPr lang="en-US" sz="1000" dirty="0" smtClean="0">
                          <a:solidFill>
                            <a:schemeClr val="bg1"/>
                          </a:solidFill>
                          <a:latin typeface="+mn-lt"/>
                        </a:rPr>
                        <a:t>Yes</a:t>
                      </a:r>
                      <a:endParaRPr lang="en-US" sz="1000" dirty="0">
                        <a:solidFill>
                          <a:schemeClr val="bg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c>
                  <a:txBody>
                    <a:bodyPr/>
                    <a:lstStyle/>
                    <a:p>
                      <a:pPr algn="l">
                        <a:lnSpc>
                          <a:spcPct val="110000"/>
                        </a:lnSpc>
                      </a:pPr>
                      <a:r>
                        <a:rPr lang="en-US" sz="1000" dirty="0" smtClean="0">
                          <a:solidFill>
                            <a:schemeClr val="bg1"/>
                          </a:solidFill>
                          <a:latin typeface="+mn-lt"/>
                        </a:rPr>
                        <a:t>High</a:t>
                      </a:r>
                      <a:endParaRPr lang="en-US" sz="1000" dirty="0">
                        <a:solidFill>
                          <a:schemeClr val="bg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6350" cap="flat" cmpd="sng" algn="ctr">
                      <a:noFill/>
                      <a:prstDash val="solid"/>
                      <a:round/>
                      <a:headEnd type="none" w="med" len="med"/>
                      <a:tailEnd type="none" w="med" len="med"/>
                    </a:lnT>
                    <a:lnB w="12700"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rgbClr val="002060"/>
                    </a:solidFill>
                  </a:tcPr>
                </a:tc>
              </a:tr>
              <a:tr h="521347">
                <a:tc>
                  <a:txBody>
                    <a:bodyPr/>
                    <a:lstStyle/>
                    <a:p>
                      <a:pPr algn="l">
                        <a:lnSpc>
                          <a:spcPct val="110000"/>
                        </a:lnSpc>
                      </a:pPr>
                      <a:r>
                        <a:rPr lang="en-US" sz="1000" b="1" baseline="0" dirty="0" smtClean="0">
                          <a:solidFill>
                            <a:schemeClr val="tx1"/>
                          </a:solidFill>
                          <a:latin typeface="+mn-lt"/>
                        </a:rPr>
                        <a:t>CRE Corporate Debt &amp; CDS</a:t>
                      </a:r>
                      <a:endParaRPr lang="en-US" sz="1000" b="1" dirty="0">
                        <a:solidFill>
                          <a:schemeClr val="tx1"/>
                        </a:solidFill>
                        <a:latin typeface="+mn-lt"/>
                      </a:endParaRPr>
                    </a:p>
                  </a:txBody>
                  <a:tcPr marL="27432"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lnSpc>
                          <a:spcPct val="110000"/>
                        </a:lnSpc>
                      </a:pPr>
                      <a:r>
                        <a:rPr lang="en-US" sz="1000" dirty="0" smtClean="0">
                          <a:solidFill>
                            <a:schemeClr val="tx1"/>
                          </a:solidFill>
                          <a:latin typeface="+mn-lt"/>
                        </a:rPr>
                        <a:t>20%</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lnSpc>
                          <a:spcPct val="110000"/>
                        </a:lnSpc>
                      </a:pPr>
                      <a:r>
                        <a:rPr lang="en-US" sz="1000" dirty="0" smtClean="0">
                          <a:solidFill>
                            <a:schemeClr val="tx1"/>
                          </a:solidFill>
                          <a:latin typeface="+mn-lt"/>
                        </a:rPr>
                        <a:t>Price dislocations</a:t>
                      </a:r>
                      <a:r>
                        <a:rPr lang="en-US" sz="1000" baseline="0" dirty="0" smtClean="0">
                          <a:solidFill>
                            <a:schemeClr val="tx1"/>
                          </a:solidFill>
                          <a:latin typeface="+mn-lt"/>
                        </a:rPr>
                        <a:t> across CRE capital markets e.g. </a:t>
                      </a:r>
                      <a:br>
                        <a:rPr lang="en-US" sz="1000" baseline="0" dirty="0" smtClean="0">
                          <a:solidFill>
                            <a:schemeClr val="tx1"/>
                          </a:solidFill>
                          <a:latin typeface="+mn-lt"/>
                        </a:rPr>
                      </a:br>
                      <a:r>
                        <a:rPr lang="en-US" sz="1000" baseline="0" dirty="0" err="1" smtClean="0">
                          <a:solidFill>
                            <a:schemeClr val="tx1"/>
                          </a:solidFill>
                          <a:latin typeface="+mn-lt"/>
                        </a:rPr>
                        <a:t>PropCo</a:t>
                      </a:r>
                      <a:r>
                        <a:rPr lang="en-US" sz="1000" baseline="0" dirty="0" smtClean="0">
                          <a:solidFill>
                            <a:schemeClr val="tx1"/>
                          </a:solidFill>
                          <a:latin typeface="+mn-lt"/>
                        </a:rPr>
                        <a:t> Debt analyzed using CMBS fundamental tools.</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lnSpc>
                          <a:spcPct val="110000"/>
                        </a:lnSpc>
                      </a:pPr>
                      <a:r>
                        <a:rPr lang="en-US" sz="1000" dirty="0" smtClean="0">
                          <a:solidFill>
                            <a:schemeClr val="tx1"/>
                          </a:solidFill>
                          <a:latin typeface="+mn-lt"/>
                        </a:rPr>
                        <a:t>8% - 10%</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lnSpc>
                          <a:spcPct val="110000"/>
                        </a:lnSpc>
                      </a:pPr>
                      <a:r>
                        <a:rPr lang="en-US" sz="1000" dirty="0" smtClean="0">
                          <a:solidFill>
                            <a:schemeClr val="tx1"/>
                          </a:solidFill>
                          <a:latin typeface="+mn-lt"/>
                        </a:rPr>
                        <a:t>Yes on</a:t>
                      </a:r>
                      <a:r>
                        <a:rPr lang="en-US" sz="1000" baseline="0" dirty="0" smtClean="0">
                          <a:solidFill>
                            <a:schemeClr val="tx1"/>
                          </a:solidFill>
                          <a:latin typeface="+mn-lt"/>
                        </a:rPr>
                        <a:t> select corporate bonds and CDS.</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c>
                  <a:txBody>
                    <a:bodyPr/>
                    <a:lstStyle/>
                    <a:p>
                      <a:pPr algn="l">
                        <a:lnSpc>
                          <a:spcPct val="110000"/>
                        </a:lnSpc>
                      </a:pPr>
                      <a:r>
                        <a:rPr lang="en-US" sz="1000" dirty="0" smtClean="0">
                          <a:solidFill>
                            <a:schemeClr val="tx1"/>
                          </a:solidFill>
                          <a:latin typeface="+mn-lt"/>
                        </a:rPr>
                        <a:t>Moderate</a:t>
                      </a:r>
                      <a:endParaRPr lang="en-US" sz="1000" dirty="0">
                        <a:solidFill>
                          <a:schemeClr val="tx1"/>
                        </a:solidFill>
                        <a:latin typeface="+mn-lt"/>
                      </a:endParaRPr>
                    </a:p>
                  </a:txBody>
                  <a:tcPr marL="0" marT="137160" marB="137160">
                    <a:lnL w="6350" cap="flat" cmpd="sng" algn="ctr">
                      <a:noFill/>
                      <a:prstDash val="solid"/>
                      <a:round/>
                      <a:headEnd type="none" w="med" len="med"/>
                      <a:tailEnd type="none" w="med" len="med"/>
                    </a:lnL>
                    <a:lnR w="6350" cap="flat" cmpd="sng" algn="ctr">
                      <a:noFill/>
                      <a:prstDash val="solid"/>
                      <a:round/>
                      <a:headEnd type="none" w="med" len="med"/>
                      <a:tailEnd type="none" w="med" len="med"/>
                    </a:lnR>
                    <a:lnT w="12700" cap="flat" cmpd="sng" algn="ctr">
                      <a:solidFill>
                        <a:schemeClr val="bg1"/>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w="12700" cmpd="sng">
                      <a:noFill/>
                      <a:prstDash val="solid"/>
                    </a:lnTlToBr>
                    <a:lnBlToTr w="12700" cmpd="sng">
                      <a:noFill/>
                      <a:prstDash val="solid"/>
                    </a:lnBlToTr>
                    <a:solidFill>
                      <a:schemeClr val="accent1">
                        <a:lumMod val="20000"/>
                        <a:lumOff val="80000"/>
                      </a:schemeClr>
                    </a:solidFill>
                  </a:tcPr>
                </a:tc>
              </a:tr>
            </a:tbl>
          </a:graphicData>
        </a:graphic>
      </p:graphicFrame>
    </p:spTree>
    <p:extLst>
      <p:ext uri="{BB962C8B-B14F-4D97-AF65-F5344CB8AC3E}">
        <p14:creationId xmlns:p14="http://schemas.microsoft.com/office/powerpoint/2010/main" val="2382639034"/>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 name="Rectangle 20"/>
          <p:cNvSpPr/>
          <p:nvPr/>
        </p:nvSpPr>
        <p:spPr>
          <a:xfrm>
            <a:off x="322268" y="2552700"/>
            <a:ext cx="2667000" cy="25908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200" b="1" dirty="0" smtClean="0">
                <a:solidFill>
                  <a:schemeClr val="tx2"/>
                </a:solidFill>
                <a:latin typeface="+mj-lt"/>
              </a:rPr>
              <a:t>SIMON PROPERTIES/WASHINGTON </a:t>
            </a:r>
            <a:br>
              <a:rPr lang="en-US" sz="1200" b="1" dirty="0" smtClean="0">
                <a:solidFill>
                  <a:schemeClr val="tx2"/>
                </a:solidFill>
                <a:latin typeface="+mj-lt"/>
              </a:rPr>
            </a:br>
            <a:r>
              <a:rPr lang="en-US" sz="1200" b="1" dirty="0" smtClean="0">
                <a:solidFill>
                  <a:schemeClr val="tx2"/>
                </a:solidFill>
                <a:latin typeface="+mj-lt"/>
              </a:rPr>
              <a:t>PRIME SPINOFF</a:t>
            </a:r>
          </a:p>
          <a:p>
            <a:pPr marL="173038" lvl="3" indent="-173038">
              <a:lnSpc>
                <a:spcPct val="110000"/>
              </a:lnSpc>
              <a:spcBef>
                <a:spcPts val="300"/>
              </a:spcBef>
              <a:buSzPct val="80000"/>
              <a:buFont typeface="Arial" panose="020B0604020202020204" pitchFamily="34" charset="0"/>
              <a:buChar char="•"/>
            </a:pPr>
            <a:r>
              <a:rPr lang="en-US" sz="1200" dirty="0" smtClean="0">
                <a:solidFill>
                  <a:schemeClr val="tx2"/>
                </a:solidFill>
                <a:latin typeface="+mj-lt"/>
              </a:rPr>
              <a:t>In </a:t>
            </a:r>
            <a:r>
              <a:rPr lang="en-US" sz="1200" dirty="0">
                <a:solidFill>
                  <a:schemeClr val="tx2"/>
                </a:solidFill>
                <a:latin typeface="+mj-lt"/>
              </a:rPr>
              <a:t>order to maximize returns on its smaller assets, SPG spun off WPG on 5/28/14 into a separate public company.</a:t>
            </a:r>
          </a:p>
          <a:p>
            <a:pPr marL="173038" lvl="3" indent="-173038">
              <a:lnSpc>
                <a:spcPct val="110000"/>
              </a:lnSpc>
              <a:spcBef>
                <a:spcPts val="300"/>
              </a:spcBef>
              <a:buSzPct val="80000"/>
              <a:buFont typeface="Arial" panose="020B0604020202020204" pitchFamily="34" charset="0"/>
              <a:buChar char="•"/>
            </a:pPr>
            <a:r>
              <a:rPr lang="en-US" sz="1200" dirty="0">
                <a:solidFill>
                  <a:schemeClr val="tx2"/>
                </a:solidFill>
                <a:latin typeface="+mj-lt"/>
              </a:rPr>
              <a:t>WPG, following an acquisition, now operates 121 shopping centers totaling more than 68 million square feet of space.</a:t>
            </a:r>
          </a:p>
          <a:p>
            <a:pPr marL="173038" lvl="3" indent="-173038">
              <a:lnSpc>
                <a:spcPct val="110000"/>
              </a:lnSpc>
              <a:spcBef>
                <a:spcPts val="300"/>
              </a:spcBef>
              <a:buSzPct val="80000"/>
              <a:buFont typeface="Arial" panose="020B0604020202020204" pitchFamily="34" charset="0"/>
              <a:buChar char="•"/>
            </a:pPr>
            <a:r>
              <a:rPr lang="en-US" sz="1200" dirty="0">
                <a:solidFill>
                  <a:schemeClr val="tx2"/>
                </a:solidFill>
                <a:latin typeface="+mj-lt"/>
              </a:rPr>
              <a:t>In Q1 2015, WPG’s portfolio increased same-store NOI by +1%.</a:t>
            </a:r>
          </a:p>
          <a:p>
            <a:pPr marL="173038" lvl="3" indent="-173038">
              <a:lnSpc>
                <a:spcPct val="110000"/>
              </a:lnSpc>
              <a:spcBef>
                <a:spcPts val="300"/>
              </a:spcBef>
              <a:buSzPct val="80000"/>
              <a:buFont typeface="Arial" panose="020B0604020202020204" pitchFamily="34" charset="0"/>
              <a:buChar char="•"/>
            </a:pPr>
            <a:r>
              <a:rPr lang="en-US" sz="1200" dirty="0">
                <a:solidFill>
                  <a:schemeClr val="tx2"/>
                </a:solidFill>
                <a:latin typeface="+mj-lt"/>
              </a:rPr>
              <a:t>WPG faces continued technical pressure due to former SPG ownership and lack of sell-side coverage.</a:t>
            </a:r>
          </a:p>
        </p:txBody>
      </p:sp>
      <p:sp>
        <p:nvSpPr>
          <p:cNvPr id="33" name="Title 1"/>
          <p:cNvSpPr>
            <a:spLocks noGrp="1"/>
          </p:cNvSpPr>
          <p:nvPr>
            <p:ph type="title"/>
          </p:nvPr>
        </p:nvSpPr>
        <p:spPr/>
        <p:txBody>
          <a:bodyPr/>
          <a:lstStyle/>
          <a:p>
            <a:r>
              <a:rPr lang="en-US" dirty="0"/>
              <a:t>INVESTMENT PROCESS </a:t>
            </a:r>
          </a:p>
        </p:txBody>
      </p:sp>
      <p:sp>
        <p:nvSpPr>
          <p:cNvPr id="31" name="Text Placeholder 30"/>
          <p:cNvSpPr>
            <a:spLocks noGrp="1"/>
          </p:cNvSpPr>
          <p:nvPr>
            <p:ph type="body" sz="quarter" idx="10"/>
          </p:nvPr>
        </p:nvSpPr>
        <p:spPr/>
        <p:txBody>
          <a:bodyPr/>
          <a:lstStyle/>
          <a:p>
            <a:r>
              <a:rPr lang="en-US" smtClean="0"/>
              <a:t>MARKET EVENT</a:t>
            </a:r>
            <a:endParaRPr lang="en-US" dirty="0"/>
          </a:p>
        </p:txBody>
      </p:sp>
      <p:sp>
        <p:nvSpPr>
          <p:cNvPr id="49" name="Rectangle 48"/>
          <p:cNvSpPr/>
          <p:nvPr/>
        </p:nvSpPr>
        <p:spPr>
          <a:xfrm>
            <a:off x="7032708" y="1295400"/>
            <a:ext cx="2793124" cy="5715000"/>
          </a:xfrm>
          <a:prstGeom prst="rect">
            <a:avLst/>
          </a:prstGeom>
          <a:noFill/>
          <a:ln w="38100">
            <a:noFill/>
          </a:ln>
        </p:spPr>
        <p:style>
          <a:lnRef idx="2">
            <a:schemeClr val="accent1">
              <a:shade val="50000"/>
            </a:schemeClr>
          </a:lnRef>
          <a:fillRef idx="1">
            <a:schemeClr val="accent1"/>
          </a:fillRef>
          <a:effectRef idx="0">
            <a:schemeClr val="accent1"/>
          </a:effectRef>
          <a:fontRef idx="minor">
            <a:schemeClr val="lt1"/>
          </a:fontRef>
        </p:style>
        <p:txBody>
          <a:bodyPr lIns="0" tIns="0" rIns="0" bIns="0" rtlCol="0" anchor="t" anchorCtr="0"/>
          <a:lstStyle/>
          <a:p>
            <a:pPr marL="0" lvl="1">
              <a:lnSpc>
                <a:spcPct val="110000"/>
              </a:lnSpc>
              <a:spcBef>
                <a:spcPts val="1500"/>
              </a:spcBef>
            </a:pPr>
            <a:r>
              <a:rPr lang="en-US" sz="1100" b="1" dirty="0" smtClean="0">
                <a:solidFill>
                  <a:schemeClr val="accent2"/>
                </a:solidFill>
                <a:latin typeface="+mj-lt"/>
              </a:rPr>
              <a:t> EFFECT ON EQUITY MARKET</a:t>
            </a:r>
          </a:p>
          <a:p>
            <a:pPr marL="173038" lvl="3" indent="-173038">
              <a:lnSpc>
                <a:spcPct val="110000"/>
              </a:lnSpc>
              <a:spcBef>
                <a:spcPts val="300"/>
              </a:spcBef>
              <a:buSzPct val="80000"/>
              <a:buFont typeface="Arial" panose="020B0604020202020204" pitchFamily="34" charset="0"/>
              <a:buChar char="•"/>
            </a:pPr>
            <a:r>
              <a:rPr lang="en-US" sz="1100" dirty="0">
                <a:solidFill>
                  <a:schemeClr val="tx2"/>
                </a:solidFill>
                <a:latin typeface="+mj-lt"/>
              </a:rPr>
              <a:t>Since the spinoff, SPG and WPG equity have returned +7% and -36%, respectively.</a:t>
            </a:r>
          </a:p>
          <a:p>
            <a:pPr marL="173038" lvl="3" indent="-173038">
              <a:lnSpc>
                <a:spcPct val="110000"/>
              </a:lnSpc>
              <a:spcBef>
                <a:spcPts val="300"/>
              </a:spcBef>
              <a:buSzPct val="80000"/>
              <a:buFont typeface="Arial" panose="020B0604020202020204" pitchFamily="34" charset="0"/>
              <a:buChar char="•"/>
            </a:pPr>
            <a:r>
              <a:rPr lang="en-US" sz="1100" dirty="0">
                <a:solidFill>
                  <a:schemeClr val="tx2"/>
                </a:solidFill>
                <a:latin typeface="+mj-lt"/>
              </a:rPr>
              <a:t>WPG trades at an attractive 12.9x 2015 consensus estimated EBITDA - over a 30% discount to the industry </a:t>
            </a:r>
            <a:r>
              <a:rPr lang="en-US" sz="1100" dirty="0" smtClean="0">
                <a:solidFill>
                  <a:schemeClr val="tx2"/>
                </a:solidFill>
                <a:latin typeface="+mj-lt"/>
              </a:rPr>
              <a:t>average.</a:t>
            </a:r>
          </a:p>
          <a:p>
            <a:pPr marL="173038" lvl="3" indent="-173038">
              <a:lnSpc>
                <a:spcPct val="110000"/>
              </a:lnSpc>
              <a:spcBef>
                <a:spcPts val="300"/>
              </a:spcBef>
              <a:buSzPct val="80000"/>
              <a:buFont typeface="Arial" panose="020B0604020202020204" pitchFamily="34" charset="0"/>
              <a:buChar char="•"/>
            </a:pPr>
            <a:r>
              <a:rPr lang="en-US" sz="1100" dirty="0" smtClean="0">
                <a:solidFill>
                  <a:schemeClr val="tx2"/>
                </a:solidFill>
                <a:latin typeface="+mj-lt"/>
              </a:rPr>
              <a:t>WPG traded at 14.2x  EBTIDA as of </a:t>
            </a:r>
            <a:r>
              <a:rPr lang="en-US" sz="1100" dirty="0">
                <a:solidFill>
                  <a:schemeClr val="tx2"/>
                </a:solidFill>
                <a:latin typeface="+mj-lt"/>
              </a:rPr>
              <a:t>the </a:t>
            </a:r>
            <a:r>
              <a:rPr lang="en-US" sz="1100" dirty="0" smtClean="0">
                <a:solidFill>
                  <a:schemeClr val="tx2"/>
                </a:solidFill>
                <a:latin typeface="+mj-lt"/>
              </a:rPr>
              <a:t>spinoff</a:t>
            </a:r>
            <a:r>
              <a:rPr lang="en-US" sz="1100" dirty="0">
                <a:solidFill>
                  <a:schemeClr val="tx2"/>
                </a:solidFill>
                <a:latin typeface="+mj-lt"/>
              </a:rPr>
              <a:t> </a:t>
            </a:r>
            <a:r>
              <a:rPr lang="en-US" sz="1100" dirty="0" smtClean="0">
                <a:solidFill>
                  <a:schemeClr val="tx2"/>
                </a:solidFill>
                <a:latin typeface="+mj-lt"/>
              </a:rPr>
              <a:t>date.</a:t>
            </a:r>
          </a:p>
          <a:p>
            <a:pPr marL="0" lvl="1">
              <a:lnSpc>
                <a:spcPct val="110000"/>
              </a:lnSpc>
              <a:spcBef>
                <a:spcPts val="1500"/>
              </a:spcBef>
            </a:pPr>
            <a:r>
              <a:rPr lang="en-US" sz="1100" b="1" dirty="0">
                <a:solidFill>
                  <a:schemeClr val="accent2"/>
                </a:solidFill>
              </a:rPr>
              <a:t>EFFECT ON CMBS MARKET: BACM 2006-3</a:t>
            </a:r>
          </a:p>
          <a:p>
            <a:pPr marL="173038" lvl="3" indent="-173038">
              <a:lnSpc>
                <a:spcPct val="110000"/>
              </a:lnSpc>
              <a:spcBef>
                <a:spcPts val="300"/>
              </a:spcBef>
              <a:buSzPct val="80000"/>
              <a:buFont typeface="Arial" panose="020B0604020202020204" pitchFamily="34" charset="0"/>
              <a:buChar char="•"/>
            </a:pPr>
            <a:r>
              <a:rPr lang="en-US" sz="1100" dirty="0">
                <a:solidFill>
                  <a:schemeClr val="tx2"/>
                </a:solidFill>
              </a:rPr>
              <a:t>WPG operates a South Dakota mall that is 6.7% of the BACM 2006-3 CMBS trust. </a:t>
            </a:r>
          </a:p>
          <a:p>
            <a:pPr marL="173038" lvl="3" indent="-173038">
              <a:lnSpc>
                <a:spcPct val="110000"/>
              </a:lnSpc>
              <a:spcBef>
                <a:spcPts val="300"/>
              </a:spcBef>
              <a:buSzPct val="80000"/>
              <a:buFont typeface="Arial" panose="020B0604020202020204" pitchFamily="34" charset="0"/>
              <a:buChar char="•"/>
            </a:pPr>
            <a:r>
              <a:rPr lang="en-US" sz="1100" dirty="0">
                <a:solidFill>
                  <a:schemeClr val="tx2"/>
                </a:solidFill>
              </a:rPr>
              <a:t>Four months after the spinoff, the Loan was modified into an A/B structure and a 20 year lease with JCP was signed. </a:t>
            </a:r>
          </a:p>
          <a:p>
            <a:pPr marL="173038" lvl="3" indent="-173038">
              <a:lnSpc>
                <a:spcPct val="110000"/>
              </a:lnSpc>
              <a:spcBef>
                <a:spcPts val="300"/>
              </a:spcBef>
              <a:buSzPct val="80000"/>
              <a:buFont typeface="Arial" panose="020B0604020202020204" pitchFamily="34" charset="0"/>
              <a:buChar char="•"/>
            </a:pPr>
            <a:r>
              <a:rPr lang="en-US" sz="1100" dirty="0">
                <a:solidFill>
                  <a:schemeClr val="tx2"/>
                </a:solidFill>
              </a:rPr>
              <a:t>The performance of the CMBS transaction </a:t>
            </a:r>
            <a:r>
              <a:rPr lang="en-US" sz="1100" dirty="0" smtClean="0">
                <a:solidFill>
                  <a:schemeClr val="tx2"/>
                </a:solidFill>
              </a:rPr>
              <a:t/>
            </a:r>
            <a:br>
              <a:rPr lang="en-US" sz="1100" dirty="0" smtClean="0">
                <a:solidFill>
                  <a:schemeClr val="tx2"/>
                </a:solidFill>
              </a:rPr>
            </a:br>
            <a:r>
              <a:rPr lang="en-US" sz="1100" dirty="0" smtClean="0">
                <a:solidFill>
                  <a:schemeClr val="tx2"/>
                </a:solidFill>
              </a:rPr>
              <a:t>is </a:t>
            </a:r>
            <a:r>
              <a:rPr lang="en-US" sz="1100" dirty="0">
                <a:solidFill>
                  <a:schemeClr val="tx2"/>
                </a:solidFill>
              </a:rPr>
              <a:t>heavily leveraged to </a:t>
            </a:r>
            <a:r>
              <a:rPr lang="en-US" sz="1100" dirty="0" smtClean="0">
                <a:solidFill>
                  <a:schemeClr val="tx2"/>
                </a:solidFill>
              </a:rPr>
              <a:t>WPG’s </a:t>
            </a:r>
            <a:r>
              <a:rPr lang="en-US" sz="1100" dirty="0">
                <a:solidFill>
                  <a:schemeClr val="tx2"/>
                </a:solidFill>
              </a:rPr>
              <a:t>ability to turn the property around</a:t>
            </a:r>
            <a:r>
              <a:rPr lang="en-US" sz="1100" dirty="0" smtClean="0">
                <a:solidFill>
                  <a:schemeClr val="tx2"/>
                </a:solidFill>
              </a:rPr>
              <a:t>.</a:t>
            </a:r>
          </a:p>
          <a:p>
            <a:pPr marL="0" lvl="1">
              <a:lnSpc>
                <a:spcPct val="110000"/>
              </a:lnSpc>
              <a:spcBef>
                <a:spcPts val="1500"/>
              </a:spcBef>
            </a:pPr>
            <a:r>
              <a:rPr lang="en-US" sz="1100" b="1" dirty="0">
                <a:solidFill>
                  <a:schemeClr val="accent2"/>
                </a:solidFill>
              </a:rPr>
              <a:t>EFFECT ON CORPORATE DEBT MARKET</a:t>
            </a:r>
          </a:p>
          <a:p>
            <a:pPr marL="173038" lvl="3" indent="-173038">
              <a:lnSpc>
                <a:spcPct val="110000"/>
              </a:lnSpc>
              <a:spcBef>
                <a:spcPts val="300"/>
              </a:spcBef>
              <a:buSzPct val="80000"/>
              <a:buFont typeface="Arial" panose="020B0604020202020204" pitchFamily="34" charset="0"/>
              <a:buChar char="•"/>
            </a:pPr>
            <a:r>
              <a:rPr lang="en-US" sz="1100" dirty="0">
                <a:solidFill>
                  <a:schemeClr val="tx2"/>
                </a:solidFill>
              </a:rPr>
              <a:t>Following the spinoff, WPG assumed $2.3 billion of total </a:t>
            </a:r>
            <a:r>
              <a:rPr lang="en-US" sz="1100" dirty="0" smtClean="0">
                <a:solidFill>
                  <a:schemeClr val="tx2"/>
                </a:solidFill>
              </a:rPr>
              <a:t>debt.</a:t>
            </a:r>
          </a:p>
          <a:p>
            <a:pPr marL="173038" lvl="3" indent="-173038">
              <a:lnSpc>
                <a:spcPct val="110000"/>
              </a:lnSpc>
              <a:spcBef>
                <a:spcPts val="300"/>
              </a:spcBef>
              <a:buSzPct val="80000"/>
              <a:buFont typeface="Arial" panose="020B0604020202020204" pitchFamily="34" charset="0"/>
              <a:buChar char="•"/>
            </a:pPr>
            <a:r>
              <a:rPr lang="en-US" sz="1100" dirty="0" smtClean="0">
                <a:solidFill>
                  <a:schemeClr val="tx2"/>
                </a:solidFill>
              </a:rPr>
              <a:t>WPG </a:t>
            </a:r>
            <a:r>
              <a:rPr lang="en-US" sz="1100" dirty="0">
                <a:solidFill>
                  <a:schemeClr val="tx2"/>
                </a:solidFill>
              </a:rPr>
              <a:t>issued a $500 mm unsecured bond (BBB/BBB-) on 3/17/15; the bond has tightened 48 bps from </a:t>
            </a:r>
            <a:r>
              <a:rPr lang="en-US" sz="1100" dirty="0" smtClean="0">
                <a:solidFill>
                  <a:schemeClr val="tx2"/>
                </a:solidFill>
              </a:rPr>
              <a:t>its </a:t>
            </a:r>
            <a:r>
              <a:rPr lang="en-US" sz="1100" dirty="0">
                <a:solidFill>
                  <a:schemeClr val="tx2"/>
                </a:solidFill>
              </a:rPr>
              <a:t>230 bps issuance level while the equity is 18% lower over the same period.</a:t>
            </a:r>
          </a:p>
          <a:p>
            <a:pPr marL="173038" lvl="3" indent="-173038">
              <a:lnSpc>
                <a:spcPct val="110000"/>
              </a:lnSpc>
              <a:spcBef>
                <a:spcPts val="300"/>
              </a:spcBef>
              <a:buSzPct val="80000"/>
              <a:buFont typeface="Arial" panose="020B0604020202020204" pitchFamily="34" charset="0"/>
              <a:buChar char="•"/>
            </a:pPr>
            <a:r>
              <a:rPr lang="en-US" sz="1100" dirty="0">
                <a:solidFill>
                  <a:schemeClr val="tx2"/>
                </a:solidFill>
              </a:rPr>
              <a:t>No Credit Default Swap Market exists in WPG. </a:t>
            </a:r>
          </a:p>
          <a:p>
            <a:pPr marL="173038" lvl="3" indent="-173038">
              <a:lnSpc>
                <a:spcPct val="110000"/>
              </a:lnSpc>
              <a:spcBef>
                <a:spcPts val="300"/>
              </a:spcBef>
              <a:buSzPct val="80000"/>
              <a:buFont typeface="Arial" panose="020B0604020202020204" pitchFamily="34" charset="0"/>
              <a:buChar char="•"/>
            </a:pPr>
            <a:endParaRPr lang="en-US" sz="1100" dirty="0">
              <a:solidFill>
                <a:schemeClr val="tx2"/>
              </a:solidFill>
            </a:endParaRPr>
          </a:p>
          <a:p>
            <a:pPr marL="173038" lvl="3" indent="-173038">
              <a:lnSpc>
                <a:spcPct val="110000"/>
              </a:lnSpc>
              <a:spcBef>
                <a:spcPts val="300"/>
              </a:spcBef>
              <a:buSzPct val="80000"/>
              <a:buFont typeface="Arial" panose="020B0604020202020204" pitchFamily="34" charset="0"/>
              <a:buChar char="•"/>
            </a:pPr>
            <a:endParaRPr lang="en-US" sz="1100" dirty="0">
              <a:solidFill>
                <a:schemeClr val="tx2"/>
              </a:solidFill>
              <a:latin typeface="+mj-lt"/>
            </a:endParaRPr>
          </a:p>
        </p:txBody>
      </p:sp>
      <p:grpSp>
        <p:nvGrpSpPr>
          <p:cNvPr id="11" name="Group 10"/>
          <p:cNvGrpSpPr/>
          <p:nvPr/>
        </p:nvGrpSpPr>
        <p:grpSpPr>
          <a:xfrm>
            <a:off x="3200400" y="1981200"/>
            <a:ext cx="3719308" cy="3657600"/>
            <a:chOff x="3200400" y="1830421"/>
            <a:chExt cx="3719308" cy="3657600"/>
          </a:xfrm>
        </p:grpSpPr>
        <p:cxnSp>
          <p:nvCxnSpPr>
            <p:cNvPr id="34" name="Straight Connector 33"/>
            <p:cNvCxnSpPr/>
            <p:nvPr/>
          </p:nvCxnSpPr>
          <p:spPr>
            <a:xfrm>
              <a:off x="6717506" y="5093494"/>
              <a:ext cx="202202" cy="115220"/>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sp>
          <p:nvSpPr>
            <p:cNvPr id="2" name="Oval 1"/>
            <p:cNvSpPr/>
            <p:nvPr/>
          </p:nvSpPr>
          <p:spPr>
            <a:xfrm>
              <a:off x="3200400" y="1906621"/>
              <a:ext cx="3581400" cy="3581400"/>
            </a:xfrm>
            <a:prstGeom prst="ellipse">
              <a:avLst/>
            </a:prstGeom>
            <a:solidFill>
              <a:schemeClr val="accent2"/>
            </a:solidFill>
            <a:ln w="127000">
              <a:solidFill>
                <a:schemeClr val="accent2">
                  <a:lumMod val="40000"/>
                  <a:lumOff val="6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lnSpc>
                  <a:spcPct val="110000"/>
                </a:lnSpc>
              </a:pPr>
              <a:endParaRPr lang="en-US"/>
            </a:p>
          </p:txBody>
        </p:sp>
        <p:grpSp>
          <p:nvGrpSpPr>
            <p:cNvPr id="8" name="Group 7"/>
            <p:cNvGrpSpPr/>
            <p:nvPr/>
          </p:nvGrpSpPr>
          <p:grpSpPr>
            <a:xfrm>
              <a:off x="3352800" y="1830421"/>
              <a:ext cx="3291840" cy="2893107"/>
              <a:chOff x="3352800" y="1830421"/>
              <a:chExt cx="3291840" cy="2893107"/>
            </a:xfrm>
          </p:grpSpPr>
          <p:cxnSp>
            <p:nvCxnSpPr>
              <p:cNvPr id="4" name="Straight Connector 3"/>
              <p:cNvCxnSpPr/>
              <p:nvPr/>
            </p:nvCxnSpPr>
            <p:spPr>
              <a:xfrm>
                <a:off x="5780505" y="4213726"/>
                <a:ext cx="864135" cy="486525"/>
              </a:xfrm>
              <a:prstGeom prst="line">
                <a:avLst/>
              </a:prstGeom>
              <a:ln w="50800">
                <a:solidFill>
                  <a:schemeClr val="bg1"/>
                </a:solidFill>
              </a:ln>
            </p:spPr>
            <p:style>
              <a:lnRef idx="1">
                <a:schemeClr val="accent1"/>
              </a:lnRef>
              <a:fillRef idx="0">
                <a:schemeClr val="accent1"/>
              </a:fillRef>
              <a:effectRef idx="0">
                <a:schemeClr val="accent1"/>
              </a:effectRef>
              <a:fontRef idx="minor">
                <a:schemeClr val="tx1"/>
              </a:fontRef>
            </p:style>
          </p:cxnSp>
          <p:cxnSp>
            <p:nvCxnSpPr>
              <p:cNvPr id="39" name="Straight Connector 38"/>
              <p:cNvCxnSpPr/>
              <p:nvPr/>
            </p:nvCxnSpPr>
            <p:spPr>
              <a:xfrm flipV="1">
                <a:off x="3352800" y="4191000"/>
                <a:ext cx="914400" cy="532528"/>
              </a:xfrm>
              <a:prstGeom prst="line">
                <a:avLst/>
              </a:prstGeom>
              <a:ln w="53975">
                <a:solidFill>
                  <a:schemeClr val="bg1"/>
                </a:solidFill>
              </a:ln>
            </p:spPr>
            <p:style>
              <a:lnRef idx="1">
                <a:schemeClr val="accent1"/>
              </a:lnRef>
              <a:fillRef idx="0">
                <a:schemeClr val="accent1"/>
              </a:fillRef>
              <a:effectRef idx="0">
                <a:schemeClr val="accent1"/>
              </a:effectRef>
              <a:fontRef idx="minor">
                <a:schemeClr val="tx1"/>
              </a:fontRef>
            </p:style>
          </p:cxnSp>
          <p:cxnSp>
            <p:nvCxnSpPr>
              <p:cNvPr id="45" name="Straight Connector 44"/>
              <p:cNvCxnSpPr/>
              <p:nvPr/>
            </p:nvCxnSpPr>
            <p:spPr>
              <a:xfrm flipH="1" flipV="1">
                <a:off x="5020333" y="1830421"/>
                <a:ext cx="1438" cy="1080749"/>
              </a:xfrm>
              <a:prstGeom prst="line">
                <a:avLst/>
              </a:prstGeom>
              <a:ln w="53975">
                <a:solidFill>
                  <a:schemeClr val="bg1"/>
                </a:solidFill>
              </a:ln>
            </p:spPr>
            <p:style>
              <a:lnRef idx="1">
                <a:schemeClr val="accent1"/>
              </a:lnRef>
              <a:fillRef idx="0">
                <a:schemeClr val="accent1"/>
              </a:fillRef>
              <a:effectRef idx="0">
                <a:schemeClr val="accent1"/>
              </a:effectRef>
              <a:fontRef idx="minor">
                <a:schemeClr val="tx1"/>
              </a:fontRef>
            </p:style>
          </p:cxnSp>
        </p:grpSp>
        <p:sp>
          <p:nvSpPr>
            <p:cNvPr id="25" name="TextBox 24"/>
            <p:cNvSpPr txBox="1"/>
            <p:nvPr/>
          </p:nvSpPr>
          <p:spPr>
            <a:xfrm>
              <a:off x="4108965" y="2836745"/>
              <a:ext cx="1828800" cy="1828800"/>
            </a:xfrm>
            <a:prstGeom prst="ellipse">
              <a:avLst/>
            </a:prstGeom>
            <a:solidFill>
              <a:schemeClr val="tx2"/>
            </a:solidFill>
            <a:ln w="15875">
              <a:noFill/>
            </a:ln>
          </p:spPr>
          <p:txBody>
            <a:bodyPr wrap="square" rtlCol="0" anchor="ctr">
              <a:noAutofit/>
            </a:bodyPr>
            <a:lstStyle/>
            <a:p>
              <a:pPr marL="0" lvl="1" algn="ctr">
                <a:lnSpc>
                  <a:spcPct val="110000"/>
                </a:lnSpc>
                <a:spcBef>
                  <a:spcPts val="1500"/>
                </a:spcBef>
              </a:pPr>
              <a:r>
                <a:rPr lang="en-US" sz="1300" b="1" dirty="0">
                  <a:solidFill>
                    <a:schemeClr val="bg1"/>
                  </a:solidFill>
                </a:rPr>
                <a:t>SIMON PROPERTIES</a:t>
              </a:r>
              <a:r>
                <a:rPr lang="en-US" sz="1300" b="1" dirty="0" smtClean="0">
                  <a:solidFill>
                    <a:schemeClr val="bg1"/>
                  </a:solidFill>
                </a:rPr>
                <a:t>/</a:t>
              </a:r>
              <a:br>
                <a:rPr lang="en-US" sz="1300" b="1" dirty="0" smtClean="0">
                  <a:solidFill>
                    <a:schemeClr val="bg1"/>
                  </a:solidFill>
                </a:rPr>
              </a:br>
              <a:r>
                <a:rPr lang="en-US" sz="1300" b="1" dirty="0" smtClean="0">
                  <a:solidFill>
                    <a:schemeClr val="bg1"/>
                  </a:solidFill>
                </a:rPr>
                <a:t>WASHINGTON </a:t>
              </a:r>
              <a:r>
                <a:rPr lang="en-US" sz="1300" b="1" dirty="0">
                  <a:solidFill>
                    <a:schemeClr val="bg1"/>
                  </a:solidFill>
                </a:rPr>
                <a:t>PRIME SPINOFF</a:t>
              </a:r>
            </a:p>
          </p:txBody>
        </p:sp>
        <p:grpSp>
          <p:nvGrpSpPr>
            <p:cNvPr id="10" name="Group 9"/>
            <p:cNvGrpSpPr/>
            <p:nvPr/>
          </p:nvGrpSpPr>
          <p:grpSpPr>
            <a:xfrm>
              <a:off x="3949707" y="2539981"/>
              <a:ext cx="2236206" cy="2399746"/>
              <a:chOff x="3949707" y="2539981"/>
              <a:chExt cx="2236206" cy="2399746"/>
            </a:xfrm>
          </p:grpSpPr>
          <p:sp>
            <p:nvSpPr>
              <p:cNvPr id="24" name="TextBox 23"/>
              <p:cNvSpPr txBox="1"/>
              <p:nvPr/>
            </p:nvSpPr>
            <p:spPr>
              <a:xfrm rot="18294870">
                <a:off x="3670503" y="2970129"/>
                <a:ext cx="1295400" cy="678265"/>
              </a:xfrm>
              <a:prstGeom prst="rect">
                <a:avLst/>
              </a:prstGeom>
              <a:noFill/>
            </p:spPr>
            <p:txBody>
              <a:bodyPr wrap="square" lIns="0" tIns="0" rIns="0" bIns="0" rtlCol="0">
                <a:prstTxWarp prst="textArchUp">
                  <a:avLst/>
                </a:prstTxWarp>
                <a:noAutofit/>
              </a:bodyPr>
              <a:lstStyle/>
              <a:p>
                <a:pPr marL="0" lvl="1" algn="ctr">
                  <a:lnSpc>
                    <a:spcPct val="110000"/>
                  </a:lnSpc>
                  <a:spcBef>
                    <a:spcPts val="1500"/>
                  </a:spcBef>
                </a:pPr>
                <a:r>
                  <a:rPr lang="en-US" sz="1300" b="1" dirty="0" smtClean="0">
                    <a:solidFill>
                      <a:schemeClr val="bg1"/>
                    </a:solidFill>
                    <a:latin typeface="Calibri"/>
                  </a:rPr>
                  <a:t> EFFECT ON </a:t>
                </a:r>
                <a:br>
                  <a:rPr lang="en-US" sz="1300" b="1" dirty="0" smtClean="0">
                    <a:solidFill>
                      <a:schemeClr val="bg1"/>
                    </a:solidFill>
                    <a:latin typeface="Calibri"/>
                  </a:rPr>
                </a:br>
                <a:r>
                  <a:rPr lang="en-US" sz="1300" b="1" dirty="0" smtClean="0">
                    <a:solidFill>
                      <a:schemeClr val="bg1"/>
                    </a:solidFill>
                    <a:latin typeface="Calibri"/>
                  </a:rPr>
                  <a:t>EQUITY MARKET</a:t>
                </a:r>
                <a:endParaRPr lang="en-US" sz="1300" b="1" dirty="0">
                  <a:solidFill>
                    <a:schemeClr val="bg1"/>
                  </a:solidFill>
                  <a:latin typeface="Calibri"/>
                </a:endParaRPr>
              </a:p>
            </p:txBody>
          </p:sp>
          <p:sp>
            <p:nvSpPr>
              <p:cNvPr id="29" name="TextBox 28"/>
              <p:cNvSpPr txBox="1"/>
              <p:nvPr/>
            </p:nvSpPr>
            <p:spPr>
              <a:xfrm>
                <a:off x="3949707" y="3491927"/>
                <a:ext cx="2171700" cy="1447800"/>
              </a:xfrm>
              <a:prstGeom prst="rect">
                <a:avLst/>
              </a:prstGeom>
              <a:noFill/>
            </p:spPr>
            <p:txBody>
              <a:bodyPr wrap="square" lIns="0" tIns="0" rIns="0" bIns="0" rtlCol="0">
                <a:prstTxWarp prst="textArchDown">
                  <a:avLst/>
                </a:prstTxWarp>
                <a:noAutofit/>
              </a:bodyPr>
              <a:lstStyle/>
              <a:p>
                <a:pPr marL="0" lvl="1" algn="ctr">
                  <a:lnSpc>
                    <a:spcPct val="110000"/>
                  </a:lnSpc>
                  <a:spcBef>
                    <a:spcPts val="1500"/>
                  </a:spcBef>
                </a:pPr>
                <a:r>
                  <a:rPr lang="en-US" sz="1300" b="1" dirty="0" smtClean="0">
                    <a:solidFill>
                      <a:schemeClr val="bg1"/>
                    </a:solidFill>
                    <a:latin typeface="Calibri"/>
                  </a:rPr>
                  <a:t>EFFECT ON CORPORATE </a:t>
                </a:r>
                <a:br>
                  <a:rPr lang="en-US" sz="1300" b="1" dirty="0" smtClean="0">
                    <a:solidFill>
                      <a:schemeClr val="bg1"/>
                    </a:solidFill>
                    <a:latin typeface="Calibri"/>
                  </a:rPr>
                </a:br>
                <a:r>
                  <a:rPr lang="en-US" sz="1300" b="1" dirty="0" smtClean="0">
                    <a:solidFill>
                      <a:schemeClr val="bg1"/>
                    </a:solidFill>
                    <a:latin typeface="Calibri"/>
                  </a:rPr>
                  <a:t>DEBT MARKET</a:t>
                </a:r>
                <a:endParaRPr lang="en-US" sz="1300" b="1" dirty="0">
                  <a:solidFill>
                    <a:schemeClr val="bg1"/>
                  </a:solidFill>
                  <a:latin typeface="Calibri"/>
                </a:endParaRPr>
              </a:p>
            </p:txBody>
          </p:sp>
          <p:sp>
            <p:nvSpPr>
              <p:cNvPr id="27" name="TextBox 26"/>
              <p:cNvSpPr txBox="1"/>
              <p:nvPr/>
            </p:nvSpPr>
            <p:spPr>
              <a:xfrm rot="3412790">
                <a:off x="4037841" y="2668865"/>
                <a:ext cx="2276955" cy="2019188"/>
              </a:xfrm>
              <a:prstGeom prst="rect">
                <a:avLst/>
              </a:prstGeom>
              <a:noFill/>
            </p:spPr>
            <p:txBody>
              <a:bodyPr wrap="square" lIns="0" tIns="0" rIns="0" bIns="0" rtlCol="0">
                <a:prstTxWarp prst="textArchUp">
                  <a:avLst>
                    <a:gd name="adj" fmla="val 12240818"/>
                  </a:avLst>
                </a:prstTxWarp>
                <a:noAutofit/>
              </a:bodyPr>
              <a:lstStyle/>
              <a:p>
                <a:pPr marL="0" lvl="1" algn="ctr">
                  <a:lnSpc>
                    <a:spcPct val="110000"/>
                  </a:lnSpc>
                  <a:spcBef>
                    <a:spcPts val="1500"/>
                  </a:spcBef>
                </a:pPr>
                <a:r>
                  <a:rPr lang="en-US" sz="1300" b="1" dirty="0" smtClean="0">
                    <a:solidFill>
                      <a:schemeClr val="bg1"/>
                    </a:solidFill>
                    <a:latin typeface="Calibri"/>
                  </a:rPr>
                  <a:t>EFFECT ON CMBS </a:t>
                </a:r>
                <a:br>
                  <a:rPr lang="en-US" sz="1300" b="1" dirty="0" smtClean="0">
                    <a:solidFill>
                      <a:schemeClr val="bg1"/>
                    </a:solidFill>
                    <a:latin typeface="Calibri"/>
                  </a:rPr>
                </a:br>
                <a:r>
                  <a:rPr lang="en-US" sz="1300" b="1" dirty="0" smtClean="0">
                    <a:solidFill>
                      <a:schemeClr val="bg1"/>
                    </a:solidFill>
                    <a:latin typeface="Calibri"/>
                  </a:rPr>
                  <a:t>MARKET: BACM 2006-3</a:t>
                </a:r>
                <a:endParaRPr lang="en-US" sz="1300" b="1" dirty="0">
                  <a:solidFill>
                    <a:schemeClr val="bg1"/>
                  </a:solidFill>
                  <a:latin typeface="Calibri"/>
                </a:endParaRPr>
              </a:p>
            </p:txBody>
          </p:sp>
        </p:grpSp>
      </p:grpSp>
      <p:sp>
        <p:nvSpPr>
          <p:cNvPr id="19" name="Rectangle 18"/>
          <p:cNvSpPr/>
          <p:nvPr/>
        </p:nvSpPr>
        <p:spPr>
          <a:xfrm>
            <a:off x="877264" y="7349978"/>
            <a:ext cx="1824538" cy="230832"/>
          </a:xfrm>
          <a:prstGeom prst="rect">
            <a:avLst/>
          </a:prstGeom>
        </p:spPr>
        <p:txBody>
          <a:bodyPr wrap="none">
            <a:spAutoFit/>
          </a:bodyPr>
          <a:lstStyle/>
          <a:p>
            <a:r>
              <a:rPr lang="en-US" sz="900" dirty="0" smtClean="0"/>
              <a:t>Source: Bloomberg as of June 2015</a:t>
            </a:r>
            <a:endParaRPr lang="en-US" sz="900" dirty="0"/>
          </a:p>
        </p:txBody>
      </p:sp>
    </p:spTree>
    <p:extLst>
      <p:ext uri="{BB962C8B-B14F-4D97-AF65-F5344CB8AC3E}">
        <p14:creationId xmlns:p14="http://schemas.microsoft.com/office/powerpoint/2010/main" val="609974195"/>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3585" name="Rectangle 2"/>
          <p:cNvSpPr>
            <a:spLocks noGrp="1" noChangeArrowheads="1"/>
          </p:cNvSpPr>
          <p:nvPr>
            <p:ph type="title"/>
          </p:nvPr>
        </p:nvSpPr>
        <p:spPr/>
        <p:txBody>
          <a:bodyPr/>
          <a:lstStyle/>
          <a:p>
            <a:r>
              <a:rPr lang="en-US" dirty="0" smtClean="0"/>
              <a:t>BIOGRAPHIES OF INVESTMENT TEAM</a:t>
            </a:r>
            <a:endParaRPr lang="en-US" dirty="0"/>
          </a:p>
        </p:txBody>
      </p:sp>
      <p:sp>
        <p:nvSpPr>
          <p:cNvPr id="4" name="Content Placeholder 3"/>
          <p:cNvSpPr>
            <a:spLocks noGrp="1"/>
          </p:cNvSpPr>
          <p:nvPr>
            <p:ph sz="half" idx="1"/>
          </p:nvPr>
        </p:nvSpPr>
        <p:spPr/>
        <p:txBody>
          <a:bodyPr/>
          <a:lstStyle/>
          <a:p>
            <a:r>
              <a:rPr lang="en-US" dirty="0" smtClean="0"/>
              <a:t>Toby Maitland Hudson</a:t>
            </a:r>
          </a:p>
          <a:p>
            <a:pPr lvl="1"/>
            <a:r>
              <a:rPr lang="en-US" dirty="0" smtClean="0"/>
              <a:t>Head Portfolio Manager</a:t>
            </a:r>
          </a:p>
          <a:p>
            <a:pPr lvl="2"/>
            <a:r>
              <a:rPr lang="en-US" dirty="0" smtClean="0"/>
              <a:t>Mr</a:t>
            </a:r>
            <a:r>
              <a:rPr lang="en-US" dirty="0"/>
              <a:t>. Maitland Hudson joined Cello in 2015 as an established portfolio manager and business leader with 16 years of experience across structured credit and commercial real estate. Prior to Cello, he ran the real estate and CMBS businesses at Saba Capital, which from 2011 was a major presence in the structured finance market managing in excess of $500 </a:t>
            </a:r>
            <a:r>
              <a:rPr lang="en-US" dirty="0" smtClean="0"/>
              <a:t>million in CMBS bonds, </a:t>
            </a:r>
            <a:r>
              <a:rPr lang="en-US" dirty="0"/>
              <a:t>CRE mezzanine loans, and CMBX derivatives markets.  Prior to joining Saba, Mr. Maitland Hudson was an Executive Director at JPMorgan Chase &amp; Co, running the CMBS Exotics Trading Desk. In that role, Mr. Maitland Hudson was responsible for the risk management of the legacy structured real estate assets of JPMorgan in addition to the heritage Bear Stearns portfolio. Prior to the merger of JPMorgan and Bear Stearns in 2008, Mr. Maitland Hudson was a Managing Director in the Mortgage Department at Bear Stearns, where he managed the correlation trading of all residential and commercial mortgage credit derivative products. Between 2003 and 2005, Mr. Maitland Hudson was a Vice President at Credit Suisse and had several roles in corporate and mortgage credit derivatives trading and structuring both in London and New York.  He began his career at the law firm Allen &amp; Overy LLP in 1999 working on some of the first credit and equity derivatives structures. Mr. Maitland Hudson holds a Bachelor of Laws in English and French Law from King's College London, and is qualified as a Solicitor of the Supreme Court of England &amp; Wales.</a:t>
            </a:r>
          </a:p>
          <a:p>
            <a:pPr lvl="2"/>
            <a:endParaRPr lang="en-US" dirty="0"/>
          </a:p>
          <a:p>
            <a:pPr lvl="2"/>
            <a:endParaRPr lang="en-US" dirty="0"/>
          </a:p>
        </p:txBody>
      </p:sp>
      <p:sp>
        <p:nvSpPr>
          <p:cNvPr id="5" name="Content Placeholder 4"/>
          <p:cNvSpPr>
            <a:spLocks noGrp="1"/>
          </p:cNvSpPr>
          <p:nvPr>
            <p:ph sz="half" idx="2"/>
          </p:nvPr>
        </p:nvSpPr>
        <p:spPr/>
        <p:txBody>
          <a:bodyPr/>
          <a:lstStyle/>
          <a:p>
            <a:r>
              <a:rPr lang="en-US" dirty="0" smtClean="0"/>
              <a:t>Kashif Akhtar</a:t>
            </a:r>
          </a:p>
          <a:p>
            <a:pPr lvl="1"/>
            <a:r>
              <a:rPr lang="en-US" dirty="0" smtClean="0"/>
              <a:t>Portfolio Manager</a:t>
            </a:r>
          </a:p>
          <a:p>
            <a:pPr lvl="2"/>
            <a:r>
              <a:rPr lang="en-US" dirty="0" smtClean="0"/>
              <a:t>Mr</a:t>
            </a:r>
            <a:r>
              <a:rPr lang="en-US" dirty="0"/>
              <a:t>. Akhtar joined Cello in 2015 as a portfolio manager with 9 years of experience.  Prior to Cello, he worked under Mr. Maitland Hudson at Saba Capital sourcing, structuring and executing trades with a special focus on distressed credit risk in the conduit space. Prior to joining Saba in 2011, Mr. Akhtar worked in a similar capacity on the CMBS Exotics Desk at JP Morgan, where he was responsible for valuing CMBS and ABS risk and identifying investment opportunities based on both fundamental and technical analysis. Mr. Akhtar began his career at Bear Stearns in the Financial Analytics and Structured Transactions department after graduating from Williams College in 2006 with a joint bachelor’s degree with Honors in Mathematics and Physics.</a:t>
            </a:r>
          </a:p>
          <a:p>
            <a:pPr lvl="2"/>
            <a:endParaRPr lang="en-US" dirty="0" smtClean="0"/>
          </a:p>
          <a:p>
            <a:r>
              <a:rPr lang="en-US" dirty="0" smtClean="0"/>
              <a:t>Scott Grabine</a:t>
            </a:r>
          </a:p>
          <a:p>
            <a:pPr lvl="1"/>
            <a:r>
              <a:rPr lang="en-US" dirty="0" smtClean="0"/>
              <a:t>Portfolio Manager</a:t>
            </a:r>
          </a:p>
          <a:p>
            <a:pPr lvl="2"/>
            <a:r>
              <a:rPr lang="en-US" dirty="0" smtClean="0"/>
              <a:t>Mr. Grabine joined Cello in 2015 with 20 years of experience in fundamental real estate investment analysis.  Prior to Cello, he oversaw real estate analysis at Saba Capital, where he reported to Mr. Maitland Hudson. Mr. Grabine identified and pursued investments across CRE/CMBS through mortgages and mezzanine loans, in REITs, hotels, and in homebuilding companies through bank loans, corporate bonds, CDS and equities. Prior to joining Saba, Mr. Grabine was at Plainfield Asset Management from 2007 to 2010 where he managed Plainfield’s private real estate portfolio. From 1999 to 2007, Mr. Grabine was a Vice President and Senior Analyst at Shenkman Capital where he was responsible for high yield investments in real estate, hospitality, retail, and homebuilding industries. Prior to joining Shenkman, Mr. Grabine was a Manager and M&amp;A Advisor in Ernst &amp; Young’s Real Estate Group. Mr. Grabine received his BBA in accounting from the University of Massachusetts (Amherst), his MBA from Cornell University and he is qualified as a CPA.</a:t>
            </a:r>
          </a:p>
          <a:p>
            <a:endParaRPr lang="en-US" dirty="0"/>
          </a:p>
        </p:txBody>
      </p:sp>
    </p:spTree>
    <p:extLst>
      <p:ext uri="{BB962C8B-B14F-4D97-AF65-F5344CB8AC3E}">
        <p14:creationId xmlns:p14="http://schemas.microsoft.com/office/powerpoint/2010/main" val="4193276053"/>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CELLO CREDIT OPPORTUNITIES MASTER FUND</a:t>
            </a:r>
            <a:br>
              <a:rPr lang="en-US" dirty="0" smtClean="0"/>
            </a:br>
            <a:endParaRPr lang="en-US" dirty="0"/>
          </a:p>
        </p:txBody>
      </p:sp>
      <p:graphicFrame>
        <p:nvGraphicFramePr>
          <p:cNvPr id="10" name="Group 482"/>
          <p:cNvGraphicFramePr>
            <a:graphicFrameLocks noGrp="1"/>
          </p:cNvGraphicFramePr>
          <p:nvPr>
            <p:ph idx="1"/>
            <p:extLst>
              <p:ext uri="{D42A27DB-BD31-4B8C-83A1-F6EECF244321}">
                <p14:modId xmlns:p14="http://schemas.microsoft.com/office/powerpoint/2010/main" val="2964280684"/>
              </p:ext>
            </p:extLst>
          </p:nvPr>
        </p:nvGraphicFramePr>
        <p:xfrm>
          <a:off x="293688" y="1235075"/>
          <a:ext cx="9469437" cy="5129784"/>
        </p:xfrm>
        <a:graphic>
          <a:graphicData uri="http://schemas.openxmlformats.org/drawingml/2006/table">
            <a:tbl>
              <a:tblPr/>
              <a:tblGrid>
                <a:gridCol w="3285061"/>
                <a:gridCol w="3285061"/>
                <a:gridCol w="2899315"/>
              </a:tblGrid>
              <a:tr h="0">
                <a:tc>
                  <a:txBody>
                    <a:bodyPr/>
                    <a:lstStyle/>
                    <a:p>
                      <a:pPr marL="0" marR="0" lvl="0" indent="0" algn="l" defTabSz="914400" rtl="0" eaLnBrk="1" fontAlgn="base" latinLnBrk="0" hangingPunct="1">
                        <a:lnSpc>
                          <a:spcPct val="110000"/>
                        </a:lnSpc>
                        <a:spcBef>
                          <a:spcPts val="0"/>
                        </a:spcBef>
                        <a:spcAft>
                          <a:spcPts val="0"/>
                        </a:spcAft>
                        <a:buClr>
                          <a:schemeClr val="tx2"/>
                        </a:buClr>
                        <a:buSzTx/>
                        <a:buFontTx/>
                        <a:buNone/>
                        <a:tabLst/>
                      </a:pPr>
                      <a:r>
                        <a:rPr kumimoji="0" lang="en-US" sz="1100" b="1" i="0" u="none" strike="noStrike" cap="none" normalizeH="0" baseline="0" dirty="0" smtClean="0">
                          <a:ln>
                            <a:noFill/>
                          </a:ln>
                          <a:solidFill>
                            <a:schemeClr val="accent1"/>
                          </a:solidFill>
                          <a:effectLst/>
                          <a:latin typeface="+mj-lt"/>
                        </a:rPr>
                        <a:t>Investment Advisor</a:t>
                      </a:r>
                    </a:p>
                    <a:p>
                      <a:pPr marL="0" marR="0" lvl="0" indent="0" algn="l" defTabSz="914400" rtl="0" eaLnBrk="0" fontAlgn="base" latinLnBrk="0" hangingPunct="0">
                        <a:lnSpc>
                          <a:spcPct val="110000"/>
                        </a:lnSpc>
                        <a:spcBef>
                          <a:spcPts val="0"/>
                        </a:spcBef>
                        <a:spcAft>
                          <a:spcPts val="0"/>
                        </a:spcAft>
                        <a:buClr>
                          <a:schemeClr val="tx2"/>
                        </a:buClr>
                        <a:buSzTx/>
                        <a:buFontTx/>
                        <a:buNone/>
                        <a:tabLst/>
                      </a:pPr>
                      <a:r>
                        <a:rPr kumimoji="0" lang="en-US" sz="1000" b="0" i="0" u="none" strike="noStrike" kern="1200" cap="none" normalizeH="0" baseline="0" dirty="0" smtClean="0">
                          <a:ln>
                            <a:noFill/>
                          </a:ln>
                          <a:solidFill>
                            <a:schemeClr val="tx1"/>
                          </a:solidFill>
                          <a:effectLst/>
                          <a:latin typeface="+mj-lt"/>
                          <a:ea typeface="+mn-ea"/>
                          <a:cs typeface="+mn-cs"/>
                        </a:rPr>
                        <a:t>Cello Capital Management, LP</a:t>
                      </a:r>
                    </a:p>
                    <a:p>
                      <a:pPr marL="0" marR="0" lvl="0" indent="0" algn="l" defTabSz="914400" rtl="0" eaLnBrk="0" fontAlgn="base" latinLnBrk="0" hangingPunct="0">
                        <a:lnSpc>
                          <a:spcPct val="110000"/>
                        </a:lnSpc>
                        <a:spcBef>
                          <a:spcPts val="0"/>
                        </a:spcBef>
                        <a:spcAft>
                          <a:spcPts val="0"/>
                        </a:spcAft>
                        <a:buClr>
                          <a:schemeClr val="tx2"/>
                        </a:buClr>
                        <a:buSzTx/>
                        <a:buFontTx/>
                        <a:buNone/>
                        <a:tabLst/>
                      </a:pPr>
                      <a:r>
                        <a:rPr kumimoji="0" lang="en-US" sz="1000" b="0" i="0" u="none" strike="noStrike" kern="1200" cap="none" normalizeH="0" baseline="0" dirty="0" smtClean="0">
                          <a:ln>
                            <a:noFill/>
                          </a:ln>
                          <a:solidFill>
                            <a:schemeClr val="tx1"/>
                          </a:solidFill>
                          <a:effectLst/>
                          <a:latin typeface="+mj-lt"/>
                          <a:ea typeface="+mn-ea"/>
                          <a:cs typeface="+mn-cs"/>
                        </a:rPr>
                        <a:t>12 East 49</a:t>
                      </a:r>
                      <a:r>
                        <a:rPr kumimoji="0" lang="en-US" sz="1000" b="0" i="0" u="none" strike="noStrike" kern="1200" cap="none" normalizeH="0" baseline="30000" dirty="0" smtClean="0">
                          <a:ln>
                            <a:noFill/>
                          </a:ln>
                          <a:solidFill>
                            <a:schemeClr val="tx1"/>
                          </a:solidFill>
                          <a:effectLst/>
                          <a:latin typeface="+mj-lt"/>
                          <a:ea typeface="+mn-ea"/>
                          <a:cs typeface="+mn-cs"/>
                        </a:rPr>
                        <a:t>th</a:t>
                      </a:r>
                      <a:r>
                        <a:rPr kumimoji="0" lang="en-US" sz="1000" b="0" i="0" u="none" strike="noStrike" kern="1200" cap="none" normalizeH="0" baseline="0" dirty="0" smtClean="0">
                          <a:ln>
                            <a:noFill/>
                          </a:ln>
                          <a:solidFill>
                            <a:schemeClr val="tx1"/>
                          </a:solidFill>
                          <a:effectLst/>
                          <a:latin typeface="+mj-lt"/>
                          <a:ea typeface="+mn-ea"/>
                          <a:cs typeface="+mn-cs"/>
                        </a:rPr>
                        <a:t> Street, 22</a:t>
                      </a:r>
                      <a:r>
                        <a:rPr kumimoji="0" lang="en-US" sz="1000" b="0" i="0" u="none" strike="noStrike" kern="1200" cap="none" normalizeH="0" baseline="30000" dirty="0" smtClean="0">
                          <a:ln>
                            <a:noFill/>
                          </a:ln>
                          <a:solidFill>
                            <a:schemeClr val="tx1"/>
                          </a:solidFill>
                          <a:effectLst/>
                          <a:latin typeface="+mj-lt"/>
                          <a:ea typeface="+mn-ea"/>
                          <a:cs typeface="+mn-cs"/>
                        </a:rPr>
                        <a:t>nd</a:t>
                      </a:r>
                      <a:r>
                        <a:rPr kumimoji="0" lang="en-US" sz="1000" b="0" i="0" u="none" strike="noStrike" kern="1200" cap="none" normalizeH="0" baseline="0" dirty="0" smtClean="0">
                          <a:ln>
                            <a:noFill/>
                          </a:ln>
                          <a:solidFill>
                            <a:schemeClr val="tx1"/>
                          </a:solidFill>
                          <a:effectLst/>
                          <a:latin typeface="+mj-lt"/>
                          <a:ea typeface="+mn-ea"/>
                          <a:cs typeface="+mn-cs"/>
                        </a:rPr>
                        <a:t> Floor</a:t>
                      </a:r>
                    </a:p>
                    <a:p>
                      <a:pPr marL="0" marR="0" lvl="0" indent="0" algn="l" defTabSz="914400" rtl="0" eaLnBrk="0" fontAlgn="base" latinLnBrk="0" hangingPunct="0">
                        <a:lnSpc>
                          <a:spcPct val="110000"/>
                        </a:lnSpc>
                        <a:spcBef>
                          <a:spcPts val="0"/>
                        </a:spcBef>
                        <a:spcAft>
                          <a:spcPts val="0"/>
                        </a:spcAft>
                        <a:buClr>
                          <a:schemeClr val="tx2"/>
                        </a:buClr>
                        <a:buSzTx/>
                        <a:buFontTx/>
                        <a:buNone/>
                        <a:tabLst/>
                      </a:pPr>
                      <a:r>
                        <a:rPr kumimoji="0" lang="en-US" sz="1000" b="0" i="0" u="none" strike="noStrike" kern="1200" cap="none" normalizeH="0" baseline="0" dirty="0" smtClean="0">
                          <a:ln>
                            <a:noFill/>
                          </a:ln>
                          <a:solidFill>
                            <a:schemeClr val="tx1"/>
                          </a:solidFill>
                          <a:effectLst/>
                          <a:latin typeface="+mj-lt"/>
                          <a:ea typeface="+mn-ea"/>
                          <a:cs typeface="+mn-cs"/>
                        </a:rPr>
                        <a:t>New York, NY 10017</a:t>
                      </a:r>
                    </a:p>
                  </a:txBody>
                  <a:tcPr marL="0" marR="0" marT="0" marB="137160" horzOverflow="overflow">
                    <a:lnL>
                      <a:noFill/>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10000"/>
                        </a:lnSpc>
                        <a:spcBef>
                          <a:spcPts val="0"/>
                        </a:spcBef>
                        <a:spcAft>
                          <a:spcPts val="0"/>
                        </a:spcAft>
                        <a:buClr>
                          <a:schemeClr val="tx2"/>
                        </a:buClr>
                        <a:buSzTx/>
                        <a:buFontTx/>
                        <a:buNone/>
                        <a:tabLst/>
                        <a:defRPr/>
                      </a:pPr>
                      <a:r>
                        <a:rPr kumimoji="0" lang="en-US" sz="1100" b="1" i="0" u="none" strike="noStrike" kern="1200" cap="none" normalizeH="0" baseline="0" dirty="0" smtClean="0">
                          <a:ln>
                            <a:noFill/>
                          </a:ln>
                          <a:solidFill>
                            <a:schemeClr val="accent1"/>
                          </a:solidFill>
                          <a:effectLst/>
                          <a:latin typeface="+mj-lt"/>
                          <a:ea typeface="+mn-ea"/>
                          <a:cs typeface="+mn-cs"/>
                        </a:rPr>
                        <a:t>Key Principals</a:t>
                      </a:r>
                    </a:p>
                    <a:p>
                      <a:pPr marL="0" marR="0" lvl="0" indent="0" algn="l" defTabSz="914400" rtl="0" eaLnBrk="0" fontAlgn="base" latinLnBrk="0" hangingPunct="0">
                        <a:lnSpc>
                          <a:spcPct val="110000"/>
                        </a:lnSpc>
                        <a:spcBef>
                          <a:spcPts val="0"/>
                        </a:spcBef>
                        <a:spcAft>
                          <a:spcPts val="0"/>
                        </a:spcAft>
                        <a:buClr>
                          <a:schemeClr val="tx2"/>
                        </a:buClr>
                        <a:buSzTx/>
                        <a:buFont typeface="Arial" pitchFamily="34" charset="0"/>
                        <a:buNone/>
                        <a:tabLst/>
                      </a:pPr>
                      <a:r>
                        <a:rPr kumimoji="0" lang="en-US" sz="1000" b="1" i="0" u="none" strike="noStrike" kern="1200" cap="none" normalizeH="0" baseline="0" dirty="0" smtClean="0">
                          <a:ln>
                            <a:noFill/>
                          </a:ln>
                          <a:solidFill>
                            <a:schemeClr val="tx1"/>
                          </a:solidFill>
                          <a:effectLst/>
                          <a:latin typeface="+mj-lt"/>
                          <a:ea typeface="+mn-ea"/>
                          <a:cs typeface="+mn-cs"/>
                        </a:rPr>
                        <a:t>Antoine Schetritt </a:t>
                      </a:r>
                    </a:p>
                    <a:p>
                      <a:pPr marL="0" marR="0" lvl="0" indent="0" algn="l" defTabSz="914400" rtl="0" eaLnBrk="0" fontAlgn="base" latinLnBrk="0" hangingPunct="0">
                        <a:lnSpc>
                          <a:spcPct val="110000"/>
                        </a:lnSpc>
                        <a:spcBef>
                          <a:spcPts val="0"/>
                        </a:spcBef>
                        <a:spcAft>
                          <a:spcPts val="0"/>
                        </a:spcAft>
                        <a:buClr>
                          <a:schemeClr val="tx2"/>
                        </a:buClr>
                        <a:buSzTx/>
                        <a:buFont typeface="Arial" pitchFamily="34" charset="0"/>
                        <a:buNone/>
                        <a:tabLst/>
                      </a:pPr>
                      <a:r>
                        <a:rPr kumimoji="0" lang="en-US" sz="1000" b="1" i="0" u="none" strike="noStrike" kern="1200" cap="none" normalizeH="0" baseline="0" dirty="0" smtClean="0">
                          <a:ln>
                            <a:noFill/>
                          </a:ln>
                          <a:solidFill>
                            <a:schemeClr val="tx1"/>
                          </a:solidFill>
                          <a:effectLst/>
                          <a:latin typeface="+mj-lt"/>
                          <a:ea typeface="+mn-ea"/>
                          <a:cs typeface="+mn-cs"/>
                        </a:rPr>
                        <a:t>Toby Maitland Hudson</a:t>
                      </a:r>
                    </a:p>
                    <a:p>
                      <a:pPr marL="0" marR="0" lvl="0" indent="0" algn="l" defTabSz="914400" rtl="0" eaLnBrk="0" fontAlgn="base" latinLnBrk="0" hangingPunct="0">
                        <a:lnSpc>
                          <a:spcPct val="110000"/>
                        </a:lnSpc>
                        <a:spcBef>
                          <a:spcPts val="0"/>
                        </a:spcBef>
                        <a:spcAft>
                          <a:spcPts val="0"/>
                        </a:spcAft>
                        <a:buClr>
                          <a:schemeClr val="tx2"/>
                        </a:buClr>
                        <a:buSzTx/>
                        <a:buFont typeface="Arial" pitchFamily="34" charset="0"/>
                        <a:buNone/>
                        <a:tabLst/>
                        <a:defRPr/>
                      </a:pPr>
                      <a:r>
                        <a:rPr kumimoji="0" lang="en-US" sz="1000" b="1" i="0" u="none" strike="noStrike" kern="1200" cap="none" normalizeH="0" baseline="0" dirty="0" smtClean="0">
                          <a:ln>
                            <a:noFill/>
                          </a:ln>
                          <a:solidFill>
                            <a:schemeClr val="tx1"/>
                          </a:solidFill>
                          <a:effectLst/>
                          <a:latin typeface="+mj-lt"/>
                          <a:ea typeface="+mn-ea"/>
                          <a:cs typeface="+mn-cs"/>
                        </a:rPr>
                        <a:t>Kashif Akhtar</a:t>
                      </a:r>
                    </a:p>
                    <a:p>
                      <a:pPr marL="0" marR="0" lvl="0" indent="0" algn="l" defTabSz="914400" rtl="0" eaLnBrk="0" fontAlgn="base" latinLnBrk="0" hangingPunct="0">
                        <a:lnSpc>
                          <a:spcPct val="110000"/>
                        </a:lnSpc>
                        <a:spcBef>
                          <a:spcPts val="0"/>
                        </a:spcBef>
                        <a:spcAft>
                          <a:spcPts val="0"/>
                        </a:spcAft>
                        <a:buClr>
                          <a:schemeClr val="tx2"/>
                        </a:buClr>
                        <a:buSzTx/>
                        <a:buFont typeface="Arial" pitchFamily="34" charset="0"/>
                        <a:buNone/>
                        <a:tabLst/>
                        <a:defRPr/>
                      </a:pPr>
                      <a:r>
                        <a:rPr kumimoji="0" lang="en-US" sz="1000" b="1" i="0" u="none" strike="noStrike" kern="1200" cap="none" normalizeH="0" baseline="0" dirty="0" smtClean="0">
                          <a:ln>
                            <a:noFill/>
                          </a:ln>
                          <a:solidFill>
                            <a:schemeClr val="tx1"/>
                          </a:solidFill>
                          <a:effectLst/>
                          <a:latin typeface="+mj-lt"/>
                          <a:ea typeface="+mn-ea"/>
                          <a:cs typeface="+mn-cs"/>
                        </a:rPr>
                        <a:t>Scott Grabine</a:t>
                      </a:r>
                    </a:p>
                    <a:p>
                      <a:pPr marL="0" marR="0" lvl="0" indent="0" algn="l" defTabSz="914400" rtl="0" eaLnBrk="0" fontAlgn="base" latinLnBrk="0" hangingPunct="0">
                        <a:lnSpc>
                          <a:spcPct val="110000"/>
                        </a:lnSpc>
                        <a:spcBef>
                          <a:spcPts val="0"/>
                        </a:spcBef>
                        <a:spcAft>
                          <a:spcPts val="0"/>
                        </a:spcAft>
                        <a:buClr>
                          <a:schemeClr val="tx2"/>
                        </a:buClr>
                        <a:buSzTx/>
                        <a:buFont typeface="Arial" pitchFamily="34" charset="0"/>
                        <a:buNone/>
                        <a:tabLst/>
                        <a:defRPr/>
                      </a:pPr>
                      <a:r>
                        <a:rPr kumimoji="0" lang="en-US" sz="1000" b="1" i="0" u="none" strike="noStrike" kern="1200" cap="none" normalizeH="0" baseline="0" dirty="0" smtClean="0">
                          <a:ln>
                            <a:noFill/>
                          </a:ln>
                          <a:solidFill>
                            <a:schemeClr val="tx1"/>
                          </a:solidFill>
                          <a:effectLst/>
                          <a:latin typeface="+mj-lt"/>
                          <a:ea typeface="+mn-ea"/>
                          <a:cs typeface="+mn-cs"/>
                        </a:rPr>
                        <a:t>Dennis Ouma, PhD </a:t>
                      </a:r>
                    </a:p>
                    <a:p>
                      <a:pPr marL="0" marR="0" lvl="0" indent="0" algn="l" defTabSz="914400" rtl="0" eaLnBrk="0" fontAlgn="base" latinLnBrk="0" hangingPunct="0">
                        <a:lnSpc>
                          <a:spcPct val="110000"/>
                        </a:lnSpc>
                        <a:spcBef>
                          <a:spcPts val="0"/>
                        </a:spcBef>
                        <a:spcAft>
                          <a:spcPts val="0"/>
                        </a:spcAft>
                        <a:buClr>
                          <a:schemeClr val="tx2"/>
                        </a:buClr>
                        <a:buSzTx/>
                        <a:buFont typeface="Arial" pitchFamily="34" charset="0"/>
                        <a:buNone/>
                        <a:tabLst/>
                        <a:defRPr/>
                      </a:pPr>
                      <a:r>
                        <a:rPr kumimoji="0" lang="en-US" sz="1000" b="1" i="0" u="none" strike="noStrike" kern="1200" cap="none" normalizeH="0" baseline="0" dirty="0" smtClean="0">
                          <a:ln>
                            <a:noFill/>
                          </a:ln>
                          <a:solidFill>
                            <a:schemeClr val="tx1"/>
                          </a:solidFill>
                          <a:effectLst/>
                          <a:latin typeface="+mj-lt"/>
                          <a:ea typeface="+mn-ea"/>
                          <a:cs typeface="+mn-cs"/>
                        </a:rPr>
                        <a:t>Sharad Chaudhary, PhD</a:t>
                      </a:r>
                    </a:p>
                    <a:p>
                      <a:pPr marL="0" marR="0" lvl="0" indent="0" algn="l" defTabSz="914400" rtl="0" eaLnBrk="0" fontAlgn="base" latinLnBrk="0" hangingPunct="0">
                        <a:lnSpc>
                          <a:spcPct val="110000"/>
                        </a:lnSpc>
                        <a:spcBef>
                          <a:spcPts val="0"/>
                        </a:spcBef>
                        <a:spcAft>
                          <a:spcPts val="0"/>
                        </a:spcAft>
                        <a:buClr>
                          <a:schemeClr val="tx2"/>
                        </a:buClr>
                        <a:buSzTx/>
                        <a:buFont typeface="Arial" pitchFamily="34" charset="0"/>
                        <a:buNone/>
                        <a:tabLst/>
                        <a:defRPr/>
                      </a:pPr>
                      <a:r>
                        <a:rPr kumimoji="0" lang="en-US" sz="1000" b="1" i="0" u="none" strike="noStrike" kern="1200" cap="none" normalizeH="0" baseline="0" dirty="0" smtClean="0">
                          <a:ln>
                            <a:noFill/>
                          </a:ln>
                          <a:solidFill>
                            <a:schemeClr val="tx1"/>
                          </a:solidFill>
                          <a:effectLst/>
                          <a:latin typeface="+mj-lt"/>
                          <a:ea typeface="+mn-ea"/>
                          <a:cs typeface="+mn-cs"/>
                        </a:rPr>
                        <a:t>Derek Ho</a:t>
                      </a:r>
                    </a:p>
                    <a:p>
                      <a:pPr marL="0" marR="0" lvl="0" indent="0" algn="l" defTabSz="914400" rtl="0" eaLnBrk="0" fontAlgn="base" latinLnBrk="0" hangingPunct="0">
                        <a:lnSpc>
                          <a:spcPct val="110000"/>
                        </a:lnSpc>
                        <a:spcBef>
                          <a:spcPts val="0"/>
                        </a:spcBef>
                        <a:spcAft>
                          <a:spcPts val="0"/>
                        </a:spcAft>
                        <a:buClr>
                          <a:schemeClr val="tx2"/>
                        </a:buClr>
                        <a:buSzTx/>
                        <a:buFont typeface="Arial" pitchFamily="34" charset="0"/>
                        <a:buNone/>
                        <a:tabLst/>
                        <a:defRPr/>
                      </a:pPr>
                      <a:r>
                        <a:rPr kumimoji="0" lang="en-US" sz="1000" b="1" i="0" u="none" strike="noStrike" kern="1200" cap="none" normalizeH="0" baseline="0" dirty="0" smtClean="0">
                          <a:ln>
                            <a:noFill/>
                          </a:ln>
                          <a:solidFill>
                            <a:schemeClr val="tx1"/>
                          </a:solidFill>
                          <a:effectLst/>
                          <a:latin typeface="+mj-lt"/>
                          <a:ea typeface="+mn-ea"/>
                          <a:cs typeface="+mn-cs"/>
                        </a:rPr>
                        <a:t>Elizabeth Styron</a:t>
                      </a:r>
                    </a:p>
                  </a:txBody>
                  <a:tcPr marL="0" marR="0" marT="0" marB="13716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no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c>
                  <a:txBody>
                    <a:bodyPr/>
                    <a:lstStyle/>
                    <a:p>
                      <a:pPr marL="2455863" marR="0" lvl="0" indent="-2455863" algn="l" defTabSz="914400" rtl="0" eaLnBrk="0" fontAlgn="base" latinLnBrk="0" hangingPunct="0">
                        <a:lnSpc>
                          <a:spcPct val="110000"/>
                        </a:lnSpc>
                        <a:spcBef>
                          <a:spcPts val="0"/>
                        </a:spcBef>
                        <a:spcAft>
                          <a:spcPts val="0"/>
                        </a:spcAft>
                        <a:buClr>
                          <a:schemeClr val="tx2"/>
                        </a:buClr>
                        <a:buSzTx/>
                        <a:buFont typeface="Arial" pitchFamily="34" charset="0"/>
                        <a:buNone/>
                        <a:tabLst/>
                        <a:defRPr/>
                      </a:pPr>
                      <a:endParaRPr kumimoji="0" lang="en-US" sz="1100" b="1" i="0" u="none" strike="noStrike" kern="1200" cap="none" normalizeH="0" baseline="0" dirty="0" smtClean="0">
                        <a:ln>
                          <a:noFill/>
                        </a:ln>
                        <a:solidFill>
                          <a:schemeClr val="accent1"/>
                        </a:solidFill>
                        <a:effectLst/>
                        <a:latin typeface="+mj-lt"/>
                        <a:ea typeface="+mn-ea"/>
                        <a:cs typeface="+mn-cs"/>
                      </a:endParaRPr>
                    </a:p>
                    <a:p>
                      <a:pPr marL="0" marR="0" lvl="0" indent="0" algn="l" defTabSz="914400" rtl="0" eaLnBrk="0" fontAlgn="base" latinLnBrk="0" hangingPunct="0">
                        <a:lnSpc>
                          <a:spcPct val="110000"/>
                        </a:lnSpc>
                        <a:spcBef>
                          <a:spcPts val="0"/>
                        </a:spcBef>
                        <a:spcAft>
                          <a:spcPts val="0"/>
                        </a:spcAft>
                        <a:buClr>
                          <a:schemeClr val="tx2"/>
                        </a:buClr>
                        <a:buSzTx/>
                        <a:buFont typeface="Arial" pitchFamily="34" charset="0"/>
                        <a:buNone/>
                        <a:tabLst/>
                        <a:defRPr/>
                      </a:pPr>
                      <a:r>
                        <a:rPr kumimoji="0" lang="en-US" sz="1000" b="0" i="0" u="none" strike="noStrike" kern="1200" cap="none" normalizeH="0" baseline="0" dirty="0" smtClean="0">
                          <a:ln>
                            <a:noFill/>
                          </a:ln>
                          <a:solidFill>
                            <a:schemeClr val="tx1"/>
                          </a:solidFill>
                          <a:effectLst/>
                          <a:latin typeface="+mn-lt"/>
                          <a:ea typeface="+mn-ea"/>
                          <a:cs typeface="+mn-cs"/>
                        </a:rPr>
                        <a:t>Managing Partner &amp; Chief Investment Officer</a:t>
                      </a:r>
                    </a:p>
                    <a:p>
                      <a:pPr marL="0" marR="0" lvl="0" indent="0" algn="l" defTabSz="914400" rtl="0" eaLnBrk="0" fontAlgn="base" latinLnBrk="0" hangingPunct="0">
                        <a:lnSpc>
                          <a:spcPct val="110000"/>
                        </a:lnSpc>
                        <a:spcBef>
                          <a:spcPts val="0"/>
                        </a:spcBef>
                        <a:spcAft>
                          <a:spcPts val="0"/>
                        </a:spcAft>
                        <a:buClr>
                          <a:schemeClr val="tx2"/>
                        </a:buClr>
                        <a:buSzTx/>
                        <a:buFont typeface="Arial" pitchFamily="34" charset="0"/>
                        <a:buNone/>
                        <a:tabLst/>
                        <a:defRPr/>
                      </a:pPr>
                      <a:r>
                        <a:rPr kumimoji="0" lang="en-US" sz="1000" b="0" i="0" u="none" strike="noStrike" kern="1200" cap="none" normalizeH="0" baseline="0" dirty="0" smtClean="0">
                          <a:ln>
                            <a:noFill/>
                          </a:ln>
                          <a:solidFill>
                            <a:schemeClr val="tx1"/>
                          </a:solidFill>
                          <a:effectLst/>
                          <a:latin typeface="+mn-lt"/>
                          <a:ea typeface="+mn-ea"/>
                          <a:cs typeface="+mn-cs"/>
                        </a:rPr>
                        <a:t>Head Portfolio Manager</a:t>
                      </a:r>
                    </a:p>
                    <a:p>
                      <a:pPr marL="0" marR="0" lvl="0" indent="0" algn="l" defTabSz="914400" rtl="0" eaLnBrk="0" fontAlgn="base" latinLnBrk="0" hangingPunct="0">
                        <a:lnSpc>
                          <a:spcPct val="110000"/>
                        </a:lnSpc>
                        <a:spcBef>
                          <a:spcPts val="0"/>
                        </a:spcBef>
                        <a:spcAft>
                          <a:spcPts val="0"/>
                        </a:spcAft>
                        <a:buClr>
                          <a:schemeClr val="tx2"/>
                        </a:buClr>
                        <a:buSzTx/>
                        <a:buFont typeface="Arial" pitchFamily="34" charset="0"/>
                        <a:buNone/>
                        <a:tabLst/>
                        <a:defRPr/>
                      </a:pPr>
                      <a:r>
                        <a:rPr kumimoji="0" lang="en-US" sz="1000" b="0" i="0" u="none" strike="noStrike" kern="1200" cap="none" normalizeH="0" baseline="0" dirty="0" smtClean="0">
                          <a:ln>
                            <a:noFill/>
                          </a:ln>
                          <a:solidFill>
                            <a:schemeClr val="tx1"/>
                          </a:solidFill>
                          <a:effectLst/>
                          <a:latin typeface="+mn-lt"/>
                          <a:ea typeface="+mn-ea"/>
                          <a:cs typeface="+mn-cs"/>
                        </a:rPr>
                        <a:t>Portfolio Manager</a:t>
                      </a:r>
                    </a:p>
                    <a:p>
                      <a:pPr marL="0" marR="0" lvl="0" indent="0" algn="l" defTabSz="914400" rtl="0" eaLnBrk="0" fontAlgn="base" latinLnBrk="0" hangingPunct="0">
                        <a:lnSpc>
                          <a:spcPct val="110000"/>
                        </a:lnSpc>
                        <a:spcBef>
                          <a:spcPts val="0"/>
                        </a:spcBef>
                        <a:spcAft>
                          <a:spcPts val="0"/>
                        </a:spcAft>
                        <a:buClr>
                          <a:schemeClr val="tx2"/>
                        </a:buClr>
                        <a:buSzTx/>
                        <a:buFont typeface="Arial" pitchFamily="34" charset="0"/>
                        <a:buNone/>
                        <a:tabLst/>
                        <a:defRPr/>
                      </a:pPr>
                      <a:r>
                        <a:rPr kumimoji="0" lang="en-US" sz="1000" b="0" i="0" u="none" strike="noStrike" kern="1200" cap="none" normalizeH="0" baseline="0" dirty="0" smtClean="0">
                          <a:ln>
                            <a:noFill/>
                          </a:ln>
                          <a:solidFill>
                            <a:schemeClr val="tx1"/>
                          </a:solidFill>
                          <a:effectLst/>
                          <a:latin typeface="+mn-lt"/>
                          <a:ea typeface="+mn-ea"/>
                          <a:cs typeface="+mn-cs"/>
                        </a:rPr>
                        <a:t>Portfolio Manager</a:t>
                      </a:r>
                    </a:p>
                    <a:p>
                      <a:pPr marL="0" marR="0" lvl="0" indent="0" algn="l" defTabSz="914400" rtl="0" eaLnBrk="0" fontAlgn="base" latinLnBrk="0" hangingPunct="0">
                        <a:lnSpc>
                          <a:spcPct val="110000"/>
                        </a:lnSpc>
                        <a:spcBef>
                          <a:spcPts val="0"/>
                        </a:spcBef>
                        <a:spcAft>
                          <a:spcPts val="0"/>
                        </a:spcAft>
                        <a:buClr>
                          <a:schemeClr val="tx2"/>
                        </a:buClr>
                        <a:buSzTx/>
                        <a:buFont typeface="Arial" pitchFamily="34" charset="0"/>
                        <a:buNone/>
                        <a:tabLst/>
                        <a:defRPr/>
                      </a:pPr>
                      <a:r>
                        <a:rPr kumimoji="0" lang="en-US" sz="1000" b="0" i="0" u="none" strike="noStrike" kern="1200" cap="none" normalizeH="0" baseline="0" dirty="0" smtClean="0">
                          <a:ln>
                            <a:noFill/>
                          </a:ln>
                          <a:solidFill>
                            <a:schemeClr val="tx1"/>
                          </a:solidFill>
                          <a:effectLst/>
                          <a:latin typeface="+mn-lt"/>
                          <a:ea typeface="+mn-ea"/>
                          <a:cs typeface="+mn-cs"/>
                        </a:rPr>
                        <a:t>Chief Operating &amp; Compliance Officer</a:t>
                      </a:r>
                    </a:p>
                    <a:p>
                      <a:pPr marL="0" marR="0" lvl="0" indent="0" algn="l" defTabSz="914400" rtl="0" eaLnBrk="0" fontAlgn="base" latinLnBrk="0" hangingPunct="0">
                        <a:lnSpc>
                          <a:spcPct val="110000"/>
                        </a:lnSpc>
                        <a:spcBef>
                          <a:spcPts val="0"/>
                        </a:spcBef>
                        <a:spcAft>
                          <a:spcPts val="0"/>
                        </a:spcAft>
                        <a:buClr>
                          <a:schemeClr val="tx2"/>
                        </a:buClr>
                        <a:buSzTx/>
                        <a:buFont typeface="Arial" pitchFamily="34" charset="0"/>
                        <a:buNone/>
                        <a:tabLst/>
                        <a:defRPr/>
                      </a:pPr>
                      <a:r>
                        <a:rPr kumimoji="0" lang="en-US" sz="1000" b="0" i="0" u="none" strike="noStrike" kern="1200" cap="none" normalizeH="0" baseline="0" dirty="0" smtClean="0">
                          <a:ln>
                            <a:noFill/>
                          </a:ln>
                          <a:solidFill>
                            <a:schemeClr val="tx1"/>
                          </a:solidFill>
                          <a:effectLst/>
                          <a:latin typeface="+mn-lt"/>
                          <a:ea typeface="+mn-ea"/>
                          <a:cs typeface="+mn-cs"/>
                        </a:rPr>
                        <a:t>Head of Research</a:t>
                      </a:r>
                    </a:p>
                    <a:p>
                      <a:pPr marL="0" marR="0" lvl="0" indent="0" algn="l" defTabSz="914400" rtl="0" eaLnBrk="0" fontAlgn="base" latinLnBrk="0" hangingPunct="0">
                        <a:lnSpc>
                          <a:spcPct val="110000"/>
                        </a:lnSpc>
                        <a:spcBef>
                          <a:spcPts val="0"/>
                        </a:spcBef>
                        <a:spcAft>
                          <a:spcPts val="0"/>
                        </a:spcAft>
                        <a:buClr>
                          <a:schemeClr val="tx2"/>
                        </a:buClr>
                        <a:buSzTx/>
                        <a:buFont typeface="Arial" pitchFamily="34" charset="0"/>
                        <a:buNone/>
                        <a:tabLst/>
                        <a:defRPr/>
                      </a:pPr>
                      <a:r>
                        <a:rPr kumimoji="0" lang="en-US" sz="1000" b="0" i="0" u="none" strike="noStrike" kern="1200" cap="none" normalizeH="0" baseline="0" dirty="0" smtClean="0">
                          <a:ln>
                            <a:noFill/>
                          </a:ln>
                          <a:solidFill>
                            <a:schemeClr val="tx1"/>
                          </a:solidFill>
                          <a:effectLst/>
                          <a:latin typeface="+mn-lt"/>
                          <a:ea typeface="+mn-ea"/>
                          <a:cs typeface="+mn-cs"/>
                        </a:rPr>
                        <a:t>Chief Technology Officer</a:t>
                      </a:r>
                    </a:p>
                    <a:p>
                      <a:pPr marL="0" marR="0" lvl="0" indent="0" algn="l" defTabSz="914400" rtl="0" eaLnBrk="0" fontAlgn="base" latinLnBrk="0" hangingPunct="0">
                        <a:lnSpc>
                          <a:spcPct val="110000"/>
                        </a:lnSpc>
                        <a:spcBef>
                          <a:spcPts val="0"/>
                        </a:spcBef>
                        <a:spcAft>
                          <a:spcPts val="0"/>
                        </a:spcAft>
                        <a:buClr>
                          <a:schemeClr val="tx2"/>
                        </a:buClr>
                        <a:buSzTx/>
                        <a:buFont typeface="Arial" pitchFamily="34" charset="0"/>
                        <a:buNone/>
                        <a:tabLst/>
                        <a:defRPr/>
                      </a:pPr>
                      <a:r>
                        <a:rPr kumimoji="0" lang="en-US" sz="1000" b="0" i="0" u="none" strike="noStrike" kern="1200" cap="none" normalizeH="0" baseline="0" dirty="0" smtClean="0">
                          <a:ln>
                            <a:noFill/>
                          </a:ln>
                          <a:solidFill>
                            <a:schemeClr val="tx1"/>
                          </a:solidFill>
                          <a:effectLst/>
                          <a:latin typeface="+mn-lt"/>
                          <a:ea typeface="+mn-ea"/>
                          <a:cs typeface="+mn-cs"/>
                        </a:rPr>
                        <a:t>Head of Investor Relations</a:t>
                      </a:r>
                    </a:p>
                  </a:txBody>
                  <a:tcPr marL="0" marR="0" marT="0" marB="137160" horzOverflow="overflow">
                    <a:lnL w="12700" cap="flat" cmpd="sng" algn="ctr">
                      <a:noFill/>
                      <a:prstDash val="solid"/>
                      <a:round/>
                      <a:headEnd type="none" w="med" len="med"/>
                      <a:tailEnd type="none" w="med" len="med"/>
                    </a:lnL>
                    <a:lnR>
                      <a:noFill/>
                    </a:lnR>
                    <a:lnT w="6350" cap="flat" cmpd="sng" algn="ctr">
                      <a:no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r h="0">
                <a:tc>
                  <a:txBody>
                    <a:bodyPr/>
                    <a:lstStyle/>
                    <a:p>
                      <a:pPr marL="0" marR="0" lvl="0" indent="0" algn="l" defTabSz="914400" rtl="0" eaLnBrk="1" fontAlgn="base" latinLnBrk="0" hangingPunct="1">
                        <a:lnSpc>
                          <a:spcPct val="110000"/>
                        </a:lnSpc>
                        <a:spcBef>
                          <a:spcPts val="0"/>
                        </a:spcBef>
                        <a:spcAft>
                          <a:spcPts val="0"/>
                        </a:spcAft>
                        <a:buClr>
                          <a:schemeClr val="tx2"/>
                        </a:buClr>
                        <a:buSzTx/>
                        <a:buFontTx/>
                        <a:buNone/>
                        <a:tabLst/>
                        <a:defRPr/>
                      </a:pPr>
                      <a:r>
                        <a:rPr kumimoji="0" lang="en-US" sz="1100" b="1" i="0" u="none" strike="noStrike" kern="1200" cap="none" normalizeH="0" baseline="0" dirty="0" smtClean="0">
                          <a:ln>
                            <a:noFill/>
                          </a:ln>
                          <a:solidFill>
                            <a:schemeClr val="accent1"/>
                          </a:solidFill>
                          <a:effectLst/>
                          <a:latin typeface="+mj-lt"/>
                          <a:ea typeface="+mn-ea"/>
                          <a:cs typeface="+mn-cs"/>
                        </a:rPr>
                        <a:t>Team Size</a:t>
                      </a:r>
                    </a:p>
                    <a:p>
                      <a:pPr marL="0" marR="0" lvl="0" indent="0" algn="l" defTabSz="914400" rtl="0" eaLnBrk="1" fontAlgn="base" latinLnBrk="0" hangingPunct="1">
                        <a:lnSpc>
                          <a:spcPct val="110000"/>
                        </a:lnSpc>
                        <a:spcBef>
                          <a:spcPts val="0"/>
                        </a:spcBef>
                        <a:spcAft>
                          <a:spcPts val="0"/>
                        </a:spcAft>
                        <a:buClr>
                          <a:schemeClr val="tx2"/>
                        </a:buClr>
                        <a:buSzTx/>
                        <a:buFontTx/>
                        <a:buNone/>
                        <a:tabLst/>
                        <a:defRPr/>
                      </a:pPr>
                      <a:r>
                        <a:rPr kumimoji="0" lang="en-US" sz="1000" b="0" i="0" u="none" strike="noStrike" kern="1200" cap="none" normalizeH="0" baseline="0" dirty="0" smtClean="0">
                          <a:ln>
                            <a:noFill/>
                          </a:ln>
                          <a:solidFill>
                            <a:schemeClr val="tx1"/>
                          </a:solidFill>
                          <a:effectLst/>
                          <a:latin typeface="+mj-lt"/>
                          <a:ea typeface="+mn-ea"/>
                          <a:cs typeface="+mn-cs"/>
                        </a:rPr>
                        <a:t>20</a:t>
                      </a:r>
                    </a:p>
                  </a:txBody>
                  <a:tcPr marL="0" marR="0" marT="137160" marB="137160" horzOverflow="overflow">
                    <a:lnL>
                      <a:noFill/>
                    </a:lnL>
                    <a:lnR w="1270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0" fontAlgn="base" latinLnBrk="0" hangingPunct="0">
                        <a:lnSpc>
                          <a:spcPct val="110000"/>
                        </a:lnSpc>
                        <a:spcBef>
                          <a:spcPts val="0"/>
                        </a:spcBef>
                        <a:spcAft>
                          <a:spcPts val="0"/>
                        </a:spcAft>
                        <a:buClr>
                          <a:schemeClr val="tx2"/>
                        </a:buClr>
                        <a:buSzTx/>
                        <a:buFontTx/>
                        <a:buNone/>
                        <a:tabLst/>
                        <a:defRPr/>
                      </a:pPr>
                      <a:r>
                        <a:rPr kumimoji="0" lang="en-US" sz="1100" b="1" i="0" u="none" strike="noStrike" kern="1200" cap="none" normalizeH="0" baseline="0" dirty="0" smtClean="0">
                          <a:ln>
                            <a:noFill/>
                          </a:ln>
                          <a:solidFill>
                            <a:schemeClr val="accent1"/>
                          </a:solidFill>
                          <a:effectLst/>
                          <a:latin typeface="+mj-lt"/>
                          <a:ea typeface="+mn-ea"/>
                          <a:cs typeface="+mn-cs"/>
                        </a:rPr>
                        <a:t>Inception</a:t>
                      </a:r>
                    </a:p>
                    <a:p>
                      <a:pPr marL="0" marR="0" lvl="0" indent="0" algn="l" defTabSz="914400" rtl="0" eaLnBrk="0" fontAlgn="base" latinLnBrk="0" hangingPunct="0">
                        <a:lnSpc>
                          <a:spcPct val="110000"/>
                        </a:lnSpc>
                        <a:spcBef>
                          <a:spcPts val="0"/>
                        </a:spcBef>
                        <a:spcAft>
                          <a:spcPts val="0"/>
                        </a:spcAft>
                        <a:buClr>
                          <a:schemeClr val="tx2"/>
                        </a:buClr>
                        <a:buSzTx/>
                        <a:buFontTx/>
                        <a:buNone/>
                        <a:tabLst/>
                      </a:pPr>
                      <a:r>
                        <a:rPr kumimoji="0" lang="en-US" sz="1000" b="0" i="0" u="none" strike="noStrike" kern="1200" cap="none" normalizeH="0" baseline="0" dirty="0" smtClean="0">
                          <a:ln>
                            <a:noFill/>
                          </a:ln>
                          <a:solidFill>
                            <a:schemeClr val="tx1"/>
                          </a:solidFill>
                          <a:effectLst/>
                          <a:latin typeface="+mj-lt"/>
                          <a:ea typeface="+mn-ea"/>
                          <a:cs typeface="+mn-cs"/>
                        </a:rPr>
                        <a:t>Mid-2015 launch target</a:t>
                      </a:r>
                    </a:p>
                  </a:txBody>
                  <a:tcPr marL="0" marR="0" marT="137160" marB="13716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10000"/>
                        </a:lnSpc>
                        <a:spcBef>
                          <a:spcPts val="0"/>
                        </a:spcBef>
                        <a:spcAft>
                          <a:spcPts val="0"/>
                        </a:spcAft>
                        <a:buClr>
                          <a:schemeClr val="tx2"/>
                        </a:buClr>
                        <a:buSzTx/>
                        <a:buFontTx/>
                        <a:buNone/>
                        <a:tabLst/>
                        <a:defRPr/>
                      </a:pPr>
                      <a:r>
                        <a:rPr kumimoji="0" lang="en-US" sz="1100" b="1" i="0" u="none" strike="noStrike" kern="1200" cap="none" normalizeH="0" baseline="0" dirty="0" smtClean="0">
                          <a:ln>
                            <a:noFill/>
                          </a:ln>
                          <a:solidFill>
                            <a:schemeClr val="accent1"/>
                          </a:solidFill>
                          <a:effectLst/>
                          <a:latin typeface="+mj-lt"/>
                          <a:ea typeface="+mn-ea"/>
                          <a:cs typeface="+mn-cs"/>
                        </a:rPr>
                        <a:t>Firm AUM (as of May 31, 2015)</a:t>
                      </a:r>
                    </a:p>
                    <a:p>
                      <a:pPr marL="0" marR="0" lvl="0" indent="0" algn="l" defTabSz="914400" rtl="0" eaLnBrk="0" fontAlgn="base" latinLnBrk="0" hangingPunct="0">
                        <a:lnSpc>
                          <a:spcPct val="110000"/>
                        </a:lnSpc>
                        <a:spcBef>
                          <a:spcPts val="0"/>
                        </a:spcBef>
                        <a:spcAft>
                          <a:spcPts val="0"/>
                        </a:spcAft>
                        <a:buClr>
                          <a:schemeClr val="tx2"/>
                        </a:buClr>
                        <a:buSzTx/>
                        <a:buFontTx/>
                        <a:buNone/>
                        <a:tabLst/>
                        <a:defRPr/>
                      </a:pPr>
                      <a:r>
                        <a:rPr kumimoji="0" lang="en-US" sz="1000" b="0" i="0" u="none" strike="noStrike" kern="1200" cap="none" normalizeH="0" baseline="0" dirty="0" smtClean="0">
                          <a:ln>
                            <a:noFill/>
                          </a:ln>
                          <a:solidFill>
                            <a:schemeClr val="tx1"/>
                          </a:solidFill>
                          <a:effectLst/>
                          <a:latin typeface="+mn-lt"/>
                          <a:ea typeface="+mn-ea"/>
                          <a:cs typeface="+mn-cs"/>
                        </a:rPr>
                        <a:t>$488 Million</a:t>
                      </a:r>
                    </a:p>
                  </a:txBody>
                  <a:tcPr marL="0" marR="0" marT="137160" marB="137160" horzOverflow="overflow">
                    <a:lnL w="12700" cap="flat" cmpd="sng" algn="ctr">
                      <a:noFill/>
                      <a:prstDash val="solid"/>
                      <a:round/>
                      <a:headEnd type="none" w="med" len="med"/>
                      <a:tailEnd type="none" w="med" len="med"/>
                    </a:lnL>
                    <a:lnR>
                      <a:noFill/>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r h="0">
                <a:tc>
                  <a:txBody>
                    <a:bodyPr/>
                    <a:lstStyle/>
                    <a:p>
                      <a:pPr marL="0" marR="0" lvl="0" indent="0" algn="l" defTabSz="914400" rtl="0" eaLnBrk="1" fontAlgn="base" latinLnBrk="0" hangingPunct="1">
                        <a:lnSpc>
                          <a:spcPct val="110000"/>
                        </a:lnSpc>
                        <a:spcBef>
                          <a:spcPts val="0"/>
                        </a:spcBef>
                        <a:spcAft>
                          <a:spcPts val="0"/>
                        </a:spcAft>
                        <a:buClr>
                          <a:schemeClr val="tx2"/>
                        </a:buClr>
                        <a:buSzTx/>
                        <a:buFontTx/>
                        <a:buNone/>
                        <a:tabLst/>
                      </a:pPr>
                      <a:r>
                        <a:rPr kumimoji="0" lang="en-US" sz="1100" b="1" i="0" u="none" strike="noStrike" kern="1200" cap="none" normalizeH="0" baseline="0" dirty="0" smtClean="0">
                          <a:ln>
                            <a:noFill/>
                          </a:ln>
                          <a:solidFill>
                            <a:schemeClr val="accent1"/>
                          </a:solidFill>
                          <a:effectLst/>
                          <a:latin typeface="+mj-lt"/>
                          <a:ea typeface="+mn-ea"/>
                          <a:cs typeface="+mn-cs"/>
                        </a:rPr>
                        <a:t>Strategy</a:t>
                      </a:r>
                    </a:p>
                    <a:p>
                      <a:pPr marL="0" marR="0" lvl="0" indent="0" algn="l" defTabSz="914400" rtl="0" eaLnBrk="1" fontAlgn="base" latinLnBrk="0" hangingPunct="1">
                        <a:lnSpc>
                          <a:spcPct val="110000"/>
                        </a:lnSpc>
                        <a:spcBef>
                          <a:spcPts val="0"/>
                        </a:spcBef>
                        <a:spcAft>
                          <a:spcPts val="0"/>
                        </a:spcAft>
                        <a:buClr>
                          <a:schemeClr val="tx2"/>
                        </a:buClr>
                        <a:buSzTx/>
                        <a:buFontTx/>
                        <a:buNone/>
                        <a:tabLst/>
                        <a:defRPr/>
                      </a:pPr>
                      <a:r>
                        <a:rPr kumimoji="0" lang="en-US" sz="1000" b="0" i="0" u="none" strike="noStrike" kern="1200" cap="none" normalizeH="0" baseline="0" dirty="0" smtClean="0">
                          <a:ln>
                            <a:noFill/>
                          </a:ln>
                          <a:solidFill>
                            <a:schemeClr val="tx1"/>
                          </a:solidFill>
                          <a:effectLst/>
                          <a:latin typeface="+mj-lt"/>
                          <a:ea typeface="+mn-ea"/>
                          <a:cs typeface="+mn-cs"/>
                        </a:rPr>
                        <a:t>Commercial Real Estate Long Short</a:t>
                      </a:r>
                    </a:p>
                  </a:txBody>
                  <a:tcPr marL="0" marR="0" marT="137160" marB="137160" horzOverflow="overflow">
                    <a:lnL>
                      <a:noFill/>
                    </a:lnL>
                    <a:lnR w="1270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10000"/>
                        </a:lnSpc>
                        <a:spcBef>
                          <a:spcPts val="0"/>
                        </a:spcBef>
                        <a:spcAft>
                          <a:spcPts val="0"/>
                        </a:spcAft>
                        <a:buClr>
                          <a:schemeClr val="tx2"/>
                        </a:buClr>
                        <a:buSzTx/>
                        <a:buFontTx/>
                        <a:buNone/>
                        <a:tabLst/>
                        <a:defRPr/>
                      </a:pPr>
                      <a:r>
                        <a:rPr kumimoji="0" lang="en-US" sz="1100" b="1" i="0" u="none" strike="noStrike" kern="1200" cap="none" normalizeH="0" baseline="0" dirty="0" smtClean="0">
                          <a:ln>
                            <a:noFill/>
                          </a:ln>
                          <a:solidFill>
                            <a:schemeClr val="accent1"/>
                          </a:solidFill>
                          <a:effectLst/>
                          <a:latin typeface="+mj-lt"/>
                          <a:ea typeface="+mn-ea"/>
                          <a:cs typeface="+mn-cs"/>
                        </a:rPr>
                        <a:t>Structure</a:t>
                      </a:r>
                    </a:p>
                    <a:p>
                      <a:pPr marL="0" marR="0" lvl="0" indent="0" algn="l" defTabSz="914400" rtl="0" eaLnBrk="0" fontAlgn="base" latinLnBrk="0" hangingPunct="0">
                        <a:lnSpc>
                          <a:spcPct val="110000"/>
                        </a:lnSpc>
                        <a:spcBef>
                          <a:spcPts val="0"/>
                        </a:spcBef>
                        <a:spcAft>
                          <a:spcPts val="0"/>
                        </a:spcAft>
                        <a:buClr>
                          <a:schemeClr val="tx2"/>
                        </a:buClr>
                        <a:buSzTx/>
                        <a:buFontTx/>
                        <a:buNone/>
                        <a:tabLst/>
                        <a:defRPr/>
                      </a:pPr>
                      <a:r>
                        <a:rPr kumimoji="0" lang="en-US" sz="1000" b="0" i="0" u="none" strike="noStrike" kern="1200" cap="none" normalizeH="0" baseline="0" dirty="0" smtClean="0">
                          <a:ln>
                            <a:noFill/>
                          </a:ln>
                          <a:solidFill>
                            <a:schemeClr val="tx1"/>
                          </a:solidFill>
                          <a:effectLst/>
                          <a:latin typeface="+mj-lt"/>
                          <a:ea typeface="+mn-ea"/>
                          <a:cs typeface="+mn-cs"/>
                        </a:rPr>
                        <a:t>Master-Feeder</a:t>
                      </a:r>
                    </a:p>
                  </a:txBody>
                  <a:tcPr marL="0" marR="0" marT="137160" marB="13716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10000"/>
                        </a:lnSpc>
                        <a:spcBef>
                          <a:spcPts val="0"/>
                        </a:spcBef>
                        <a:spcAft>
                          <a:spcPts val="0"/>
                        </a:spcAft>
                        <a:buClr>
                          <a:schemeClr val="tx2"/>
                        </a:buClr>
                        <a:buSzTx/>
                        <a:buFontTx/>
                        <a:buNone/>
                        <a:tabLst/>
                        <a:defRPr/>
                      </a:pPr>
                      <a:r>
                        <a:rPr kumimoji="0" lang="en-US" sz="1100" b="1" i="0" u="none" strike="noStrike" kern="1200" cap="none" normalizeH="0" baseline="0" dirty="0" smtClean="0">
                          <a:ln>
                            <a:noFill/>
                          </a:ln>
                          <a:solidFill>
                            <a:schemeClr val="accent1"/>
                          </a:solidFill>
                          <a:effectLst/>
                          <a:latin typeface="+mj-lt"/>
                          <a:ea typeface="+mn-ea"/>
                          <a:cs typeface="+mn-cs"/>
                        </a:rPr>
                        <a:t>Fund AUM (as of May 31, 2015) </a:t>
                      </a:r>
                    </a:p>
                    <a:p>
                      <a:pPr marL="0" marR="0" lvl="0" indent="0" algn="l" defTabSz="914400" rtl="0" eaLnBrk="0" fontAlgn="base" latinLnBrk="0" hangingPunct="0">
                        <a:lnSpc>
                          <a:spcPct val="110000"/>
                        </a:lnSpc>
                        <a:spcBef>
                          <a:spcPts val="0"/>
                        </a:spcBef>
                        <a:spcAft>
                          <a:spcPts val="0"/>
                        </a:spcAft>
                        <a:buClr>
                          <a:schemeClr val="tx2"/>
                        </a:buClr>
                        <a:buSzTx/>
                        <a:buFontTx/>
                        <a:buNone/>
                        <a:tabLst/>
                        <a:defRPr/>
                      </a:pPr>
                      <a:r>
                        <a:rPr kumimoji="0" lang="en-US" sz="1000" b="0" i="0" u="none" strike="noStrike" kern="1200" cap="none" normalizeH="0" baseline="0" dirty="0" smtClean="0">
                          <a:ln>
                            <a:noFill/>
                          </a:ln>
                          <a:solidFill>
                            <a:schemeClr val="tx1"/>
                          </a:solidFill>
                          <a:effectLst/>
                          <a:latin typeface="+mn-lt"/>
                          <a:ea typeface="+mn-ea"/>
                          <a:cs typeface="+mn-cs"/>
                        </a:rPr>
                        <a:t>N/A</a:t>
                      </a:r>
                    </a:p>
                  </a:txBody>
                  <a:tcPr marL="0" marR="0" marT="137160" marB="137160" horzOverflow="overflow">
                    <a:lnL w="12700" cap="flat" cmpd="sng" algn="ctr">
                      <a:noFill/>
                      <a:prstDash val="solid"/>
                      <a:round/>
                      <a:headEnd type="none" w="med" len="med"/>
                      <a:tailEnd type="none" w="med" len="med"/>
                    </a:lnL>
                    <a:lnR>
                      <a:noFill/>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r h="0">
                <a:tc>
                  <a:txBody>
                    <a:bodyPr/>
                    <a:lstStyle/>
                    <a:p>
                      <a:pPr marL="0" marR="0" lvl="0" indent="0" algn="l" defTabSz="914400" rtl="0" eaLnBrk="1" fontAlgn="base" latinLnBrk="0" hangingPunct="1">
                        <a:lnSpc>
                          <a:spcPct val="110000"/>
                        </a:lnSpc>
                        <a:spcBef>
                          <a:spcPts val="0"/>
                        </a:spcBef>
                        <a:spcAft>
                          <a:spcPts val="0"/>
                        </a:spcAft>
                        <a:buClr>
                          <a:schemeClr val="tx2"/>
                        </a:buClr>
                        <a:buSzTx/>
                        <a:buFontTx/>
                        <a:buNone/>
                        <a:tabLst/>
                      </a:pPr>
                      <a:r>
                        <a:rPr kumimoji="0" lang="en-US" sz="1100" b="1" i="0" u="none" strike="noStrike" kern="1200" cap="none" normalizeH="0" baseline="0" dirty="0" smtClean="0">
                          <a:ln>
                            <a:noFill/>
                          </a:ln>
                          <a:solidFill>
                            <a:schemeClr val="accent1"/>
                          </a:solidFill>
                          <a:effectLst/>
                          <a:latin typeface="+mj-lt"/>
                          <a:ea typeface="+mn-ea"/>
                          <a:cs typeface="+mn-cs"/>
                        </a:rPr>
                        <a:t>Vehicles</a:t>
                      </a:r>
                    </a:p>
                    <a:p>
                      <a:pPr marL="0" marR="0" lvl="0" indent="0" algn="l" defTabSz="914400" rtl="0" eaLnBrk="1" fontAlgn="base" latinLnBrk="0" hangingPunct="1">
                        <a:lnSpc>
                          <a:spcPct val="110000"/>
                        </a:lnSpc>
                        <a:spcBef>
                          <a:spcPts val="0"/>
                        </a:spcBef>
                        <a:spcAft>
                          <a:spcPts val="0"/>
                        </a:spcAft>
                        <a:buClr>
                          <a:schemeClr val="tx2"/>
                        </a:buClr>
                        <a:buSzTx/>
                        <a:buFontTx/>
                        <a:buNone/>
                        <a:tabLst/>
                      </a:pPr>
                      <a:r>
                        <a:rPr lang="en-US" sz="1000" b="1" kern="1200" dirty="0" smtClean="0">
                          <a:solidFill>
                            <a:schemeClr val="tx1"/>
                          </a:solidFill>
                          <a:latin typeface="+mj-lt"/>
                          <a:ea typeface="+mn-ea"/>
                          <a:cs typeface="+mn-cs"/>
                        </a:rPr>
                        <a:t>Onshore Feeder</a:t>
                      </a:r>
                      <a:r>
                        <a:rPr lang="en-US" sz="1000" b="1" kern="1200" baseline="0" dirty="0" smtClean="0">
                          <a:solidFill>
                            <a:schemeClr val="tx1"/>
                          </a:solidFill>
                          <a:latin typeface="+mj-lt"/>
                          <a:ea typeface="+mn-ea"/>
                          <a:cs typeface="+mn-cs"/>
                        </a:rPr>
                        <a:t> </a:t>
                      </a:r>
                      <a:r>
                        <a:rPr lang="en-US" sz="1000" b="1" kern="1200" dirty="0" smtClean="0">
                          <a:solidFill>
                            <a:schemeClr val="tx1"/>
                          </a:solidFill>
                          <a:latin typeface="+mj-lt"/>
                          <a:ea typeface="+mn-ea"/>
                          <a:cs typeface="+mn-cs"/>
                        </a:rPr>
                        <a:t>Fund</a:t>
                      </a:r>
                    </a:p>
                    <a:p>
                      <a:pPr marL="0" marR="0" lvl="0" indent="0" algn="l" defTabSz="914400" rtl="0" eaLnBrk="1" fontAlgn="base" latinLnBrk="0" hangingPunct="1">
                        <a:lnSpc>
                          <a:spcPct val="110000"/>
                        </a:lnSpc>
                        <a:spcBef>
                          <a:spcPts val="0"/>
                        </a:spcBef>
                        <a:spcAft>
                          <a:spcPts val="0"/>
                        </a:spcAft>
                        <a:buClr>
                          <a:schemeClr val="tx2"/>
                        </a:buClr>
                        <a:buSzTx/>
                        <a:buFontTx/>
                        <a:buNone/>
                        <a:tabLst/>
                        <a:defRPr/>
                      </a:pPr>
                      <a:r>
                        <a:rPr lang="en-US" sz="1000" i="0" kern="1200" dirty="0" smtClean="0">
                          <a:solidFill>
                            <a:schemeClr val="tx1"/>
                          </a:solidFill>
                          <a:latin typeface="+mj-lt"/>
                          <a:ea typeface="+mn-ea"/>
                          <a:cs typeface="+mn-cs"/>
                        </a:rPr>
                        <a:t>Cello</a:t>
                      </a:r>
                      <a:r>
                        <a:rPr lang="en-US" sz="1000" i="0" kern="1200" baseline="0" dirty="0" smtClean="0">
                          <a:solidFill>
                            <a:schemeClr val="tx1"/>
                          </a:solidFill>
                          <a:latin typeface="+mj-lt"/>
                          <a:ea typeface="+mn-ea"/>
                          <a:cs typeface="+mn-cs"/>
                        </a:rPr>
                        <a:t> Credit Opportunities </a:t>
                      </a:r>
                      <a:r>
                        <a:rPr lang="en-US" sz="1000" i="0" kern="1200" dirty="0" smtClean="0">
                          <a:solidFill>
                            <a:schemeClr val="tx1"/>
                          </a:solidFill>
                          <a:latin typeface="+mj-lt"/>
                          <a:ea typeface="+mn-ea"/>
                          <a:cs typeface="+mn-cs"/>
                        </a:rPr>
                        <a:t>Domestic Fund, LP </a:t>
                      </a:r>
                    </a:p>
                  </a:txBody>
                  <a:tcPr marL="0" marR="0" marT="137160" marB="137160" horzOverflow="overflow">
                    <a:lnL>
                      <a:noFill/>
                    </a:lnL>
                    <a:lnR w="1270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c>
                  <a:txBody>
                    <a:bodyPr/>
                    <a:lstStyle/>
                    <a:p>
                      <a:pPr>
                        <a:lnSpc>
                          <a:spcPct val="110000"/>
                        </a:lnSpc>
                        <a:spcBef>
                          <a:spcPts val="0"/>
                        </a:spcBef>
                        <a:spcAft>
                          <a:spcPts val="0"/>
                        </a:spcAft>
                        <a:buFont typeface="Arial" pitchFamily="34" charset="0"/>
                        <a:buNone/>
                      </a:pPr>
                      <a:endParaRPr lang="en-US" sz="1000" kern="1200" dirty="0" smtClean="0">
                        <a:solidFill>
                          <a:schemeClr val="tx1"/>
                        </a:solidFill>
                        <a:latin typeface="+mj-lt"/>
                        <a:ea typeface="+mn-ea"/>
                        <a:cs typeface="+mn-cs"/>
                      </a:endParaRPr>
                    </a:p>
                    <a:p>
                      <a:pPr>
                        <a:lnSpc>
                          <a:spcPct val="110000"/>
                        </a:lnSpc>
                        <a:spcBef>
                          <a:spcPts val="0"/>
                        </a:spcBef>
                        <a:spcAft>
                          <a:spcPts val="0"/>
                        </a:spcAft>
                        <a:buFont typeface="Arial" pitchFamily="34" charset="0"/>
                        <a:buNone/>
                      </a:pPr>
                      <a:r>
                        <a:rPr lang="en-US" sz="1000" b="1" kern="1200" dirty="0" smtClean="0">
                          <a:solidFill>
                            <a:schemeClr val="tx1"/>
                          </a:solidFill>
                          <a:latin typeface="+mj-lt"/>
                          <a:ea typeface="+mn-ea"/>
                          <a:cs typeface="+mn-cs"/>
                        </a:rPr>
                        <a:t>Offshore</a:t>
                      </a:r>
                      <a:r>
                        <a:rPr lang="en-US" sz="1000" b="1" kern="1200" baseline="0" dirty="0" smtClean="0">
                          <a:solidFill>
                            <a:schemeClr val="tx1"/>
                          </a:solidFill>
                          <a:latin typeface="+mj-lt"/>
                          <a:ea typeface="+mn-ea"/>
                          <a:cs typeface="+mn-cs"/>
                        </a:rPr>
                        <a:t> Feeder </a:t>
                      </a:r>
                      <a:r>
                        <a:rPr lang="en-US" sz="1000" b="1" kern="1200" dirty="0" smtClean="0">
                          <a:solidFill>
                            <a:schemeClr val="tx1"/>
                          </a:solidFill>
                          <a:latin typeface="+mj-lt"/>
                          <a:ea typeface="+mn-ea"/>
                          <a:cs typeface="+mn-cs"/>
                        </a:rPr>
                        <a:t>Fund</a:t>
                      </a:r>
                    </a:p>
                    <a:p>
                      <a:pPr marL="0" marR="0" indent="0" algn="l" defTabSz="1018824" rtl="0" eaLnBrk="1" fontAlgn="auto" latinLnBrk="0" hangingPunct="1">
                        <a:lnSpc>
                          <a:spcPct val="110000"/>
                        </a:lnSpc>
                        <a:spcBef>
                          <a:spcPts val="0"/>
                        </a:spcBef>
                        <a:spcAft>
                          <a:spcPts val="0"/>
                        </a:spcAft>
                        <a:buClrTx/>
                        <a:buSzTx/>
                        <a:buFont typeface="Arial" pitchFamily="34" charset="0"/>
                        <a:buNone/>
                        <a:tabLst/>
                        <a:defRPr/>
                      </a:pPr>
                      <a:r>
                        <a:rPr lang="en-US" sz="1000" i="0" kern="1200" dirty="0" smtClean="0">
                          <a:solidFill>
                            <a:schemeClr val="tx1"/>
                          </a:solidFill>
                          <a:latin typeface="+mj-lt"/>
                          <a:ea typeface="+mn-ea"/>
                          <a:cs typeface="+mn-cs"/>
                        </a:rPr>
                        <a:t>Cello Credit</a:t>
                      </a:r>
                      <a:r>
                        <a:rPr lang="en-US" sz="1000" i="0" kern="1200" baseline="0" dirty="0" smtClean="0">
                          <a:solidFill>
                            <a:schemeClr val="tx1"/>
                          </a:solidFill>
                          <a:latin typeface="+mj-lt"/>
                          <a:ea typeface="+mn-ea"/>
                          <a:cs typeface="+mn-cs"/>
                        </a:rPr>
                        <a:t> Opportunities Offshore </a:t>
                      </a:r>
                      <a:r>
                        <a:rPr lang="en-US" sz="1000" i="0" kern="1200" dirty="0" smtClean="0">
                          <a:solidFill>
                            <a:schemeClr val="tx1"/>
                          </a:solidFill>
                          <a:latin typeface="+mj-lt"/>
                          <a:ea typeface="+mn-ea"/>
                          <a:cs typeface="+mn-cs"/>
                        </a:rPr>
                        <a:t>Fund, Ltd.</a:t>
                      </a:r>
                    </a:p>
                  </a:txBody>
                  <a:tcPr marL="0" marR="0" marT="137160" marB="13716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c>
                  <a:txBody>
                    <a:bodyPr/>
                    <a:lstStyle/>
                    <a:p>
                      <a:pPr marL="0" marR="0" indent="0" algn="l" defTabSz="1018824" rtl="0" eaLnBrk="1" fontAlgn="auto" latinLnBrk="0" hangingPunct="1">
                        <a:lnSpc>
                          <a:spcPct val="110000"/>
                        </a:lnSpc>
                        <a:spcBef>
                          <a:spcPts val="0"/>
                        </a:spcBef>
                        <a:spcAft>
                          <a:spcPts val="0"/>
                        </a:spcAft>
                        <a:buClrTx/>
                        <a:buSzTx/>
                        <a:buFontTx/>
                        <a:buNone/>
                        <a:tabLst/>
                        <a:defRPr/>
                      </a:pPr>
                      <a:r>
                        <a:rPr lang="en-US" sz="1000" kern="1200" dirty="0" smtClean="0">
                          <a:solidFill>
                            <a:schemeClr val="tx1"/>
                          </a:solidFill>
                          <a:latin typeface="+mj-lt"/>
                          <a:ea typeface="+mn-ea"/>
                          <a:cs typeface="+mn-cs"/>
                        </a:rPr>
                        <a:t> </a:t>
                      </a:r>
                    </a:p>
                    <a:p>
                      <a:pPr marL="0" marR="0" indent="0" algn="l" defTabSz="1018824" rtl="0" eaLnBrk="1" fontAlgn="auto" latinLnBrk="0" hangingPunct="1">
                        <a:lnSpc>
                          <a:spcPct val="110000"/>
                        </a:lnSpc>
                        <a:spcBef>
                          <a:spcPts val="0"/>
                        </a:spcBef>
                        <a:spcAft>
                          <a:spcPts val="0"/>
                        </a:spcAft>
                        <a:buClrTx/>
                        <a:buSzTx/>
                        <a:buFontTx/>
                        <a:buNone/>
                        <a:tabLst/>
                        <a:defRPr/>
                      </a:pPr>
                      <a:r>
                        <a:rPr lang="en-US" sz="1000" b="1" kern="1200" dirty="0" smtClean="0">
                          <a:solidFill>
                            <a:schemeClr val="tx1"/>
                          </a:solidFill>
                          <a:latin typeface="+mj-lt"/>
                          <a:ea typeface="+mn-ea"/>
                          <a:cs typeface="+mn-cs"/>
                        </a:rPr>
                        <a:t>Offshore Master Fund</a:t>
                      </a:r>
                      <a:endParaRPr kumimoji="0" lang="en-US" sz="1000" b="1" i="0" u="none" strike="noStrike" kern="1200" cap="none" normalizeH="0" baseline="0" dirty="0" smtClean="0">
                        <a:ln>
                          <a:noFill/>
                        </a:ln>
                        <a:solidFill>
                          <a:schemeClr val="tx1"/>
                        </a:solidFill>
                        <a:effectLst/>
                        <a:latin typeface="+mj-lt"/>
                        <a:ea typeface="+mn-ea"/>
                        <a:cs typeface="+mn-cs"/>
                      </a:endParaRPr>
                    </a:p>
                    <a:p>
                      <a:pPr algn="l">
                        <a:lnSpc>
                          <a:spcPct val="110000"/>
                        </a:lnSpc>
                        <a:spcBef>
                          <a:spcPts val="0"/>
                        </a:spcBef>
                        <a:spcAft>
                          <a:spcPts val="0"/>
                        </a:spcAft>
                      </a:pPr>
                      <a:r>
                        <a:rPr lang="en-US" sz="1000" i="0" kern="1200" dirty="0" smtClean="0">
                          <a:solidFill>
                            <a:schemeClr val="tx1"/>
                          </a:solidFill>
                          <a:latin typeface="+mj-lt"/>
                          <a:ea typeface="+mn-ea"/>
                          <a:cs typeface="+mn-cs"/>
                        </a:rPr>
                        <a:t>Cello Credit Opportunities Master Fund, LP</a:t>
                      </a:r>
                    </a:p>
                  </a:txBody>
                  <a:tcPr marL="0" marR="0" marT="137160" marB="13716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r h="0">
                <a:tc>
                  <a:txBody>
                    <a:bodyPr/>
                    <a:lstStyle/>
                    <a:p>
                      <a:pPr marL="0" marR="0" lvl="0" indent="0" algn="l" defTabSz="914400" rtl="0" eaLnBrk="1" fontAlgn="base" latinLnBrk="0" hangingPunct="1">
                        <a:lnSpc>
                          <a:spcPct val="110000"/>
                        </a:lnSpc>
                        <a:spcBef>
                          <a:spcPts val="0"/>
                        </a:spcBef>
                        <a:spcAft>
                          <a:spcPts val="0"/>
                        </a:spcAft>
                        <a:buClr>
                          <a:schemeClr val="tx2"/>
                        </a:buClr>
                        <a:buSzTx/>
                        <a:buFontTx/>
                        <a:buNone/>
                        <a:tabLst/>
                        <a:defRPr/>
                      </a:pPr>
                      <a:r>
                        <a:rPr kumimoji="0" lang="en-US" sz="1100" b="1" i="0" u="none" strike="noStrike" kern="1200" cap="none" normalizeH="0" baseline="0" dirty="0" smtClean="0">
                          <a:ln>
                            <a:noFill/>
                          </a:ln>
                          <a:solidFill>
                            <a:schemeClr val="accent1"/>
                          </a:solidFill>
                          <a:effectLst/>
                          <a:latin typeface="+mj-lt"/>
                          <a:ea typeface="+mn-ea"/>
                          <a:cs typeface="+mn-cs"/>
                        </a:rPr>
                        <a:t>Custodian</a:t>
                      </a:r>
                    </a:p>
                    <a:p>
                      <a:pPr marL="0" marR="0" lvl="0" indent="0" algn="l" defTabSz="914400" rtl="0" eaLnBrk="1" fontAlgn="base" latinLnBrk="0" hangingPunct="1">
                        <a:lnSpc>
                          <a:spcPct val="110000"/>
                        </a:lnSpc>
                        <a:spcBef>
                          <a:spcPts val="0"/>
                        </a:spcBef>
                        <a:spcAft>
                          <a:spcPts val="0"/>
                        </a:spcAft>
                        <a:buClr>
                          <a:schemeClr val="tx2"/>
                        </a:buClr>
                        <a:buSzTx/>
                        <a:buFontTx/>
                        <a:buNone/>
                        <a:tabLst/>
                        <a:defRPr/>
                      </a:pPr>
                      <a:r>
                        <a:rPr kumimoji="0" lang="en-US" sz="1000" b="0" i="0" u="none" strike="noStrike" kern="1200" cap="none" normalizeH="0" baseline="0" dirty="0" smtClean="0">
                          <a:ln>
                            <a:noFill/>
                          </a:ln>
                          <a:solidFill>
                            <a:schemeClr val="tx1"/>
                          </a:solidFill>
                          <a:effectLst/>
                          <a:latin typeface="+mj-lt"/>
                          <a:ea typeface="+mn-ea"/>
                          <a:cs typeface="+mn-cs"/>
                        </a:rPr>
                        <a:t>US Bank Institutional Trust </a:t>
                      </a:r>
                      <a:br>
                        <a:rPr kumimoji="0" lang="en-US" sz="1000" b="0" i="0" u="none" strike="noStrike" kern="1200" cap="none" normalizeH="0" baseline="0" dirty="0" smtClean="0">
                          <a:ln>
                            <a:noFill/>
                          </a:ln>
                          <a:solidFill>
                            <a:schemeClr val="tx1"/>
                          </a:solidFill>
                          <a:effectLst/>
                          <a:latin typeface="+mj-lt"/>
                          <a:ea typeface="+mn-ea"/>
                          <a:cs typeface="+mn-cs"/>
                        </a:rPr>
                      </a:br>
                      <a:r>
                        <a:rPr kumimoji="0" lang="en-US" sz="1000" b="0" i="0" u="none" strike="noStrike" kern="1200" cap="none" normalizeH="0" baseline="0" dirty="0" smtClean="0">
                          <a:ln>
                            <a:noFill/>
                          </a:ln>
                          <a:solidFill>
                            <a:schemeClr val="tx1"/>
                          </a:solidFill>
                          <a:effectLst/>
                          <a:latin typeface="+mj-lt"/>
                          <a:ea typeface="+mn-ea"/>
                          <a:cs typeface="+mn-cs"/>
                        </a:rPr>
                        <a:t>and Custody</a:t>
                      </a:r>
                    </a:p>
                  </a:txBody>
                  <a:tcPr marL="0" marR="0" marT="137160" marB="137160" horzOverflow="overflow">
                    <a:lnL>
                      <a:noFill/>
                    </a:lnL>
                    <a:lnR w="1270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10000"/>
                        </a:lnSpc>
                        <a:spcBef>
                          <a:spcPts val="0"/>
                        </a:spcBef>
                        <a:spcAft>
                          <a:spcPts val="0"/>
                        </a:spcAft>
                        <a:buClr>
                          <a:schemeClr val="tx2"/>
                        </a:buClr>
                        <a:buSzTx/>
                        <a:buFontTx/>
                        <a:buNone/>
                        <a:tabLst/>
                        <a:defRPr/>
                      </a:pPr>
                      <a:r>
                        <a:rPr kumimoji="0" lang="en-US" sz="1100" b="1" i="0" u="none" strike="noStrike" kern="1200" cap="none" normalizeH="0" baseline="0" dirty="0" smtClean="0">
                          <a:ln>
                            <a:noFill/>
                          </a:ln>
                          <a:solidFill>
                            <a:schemeClr val="accent1"/>
                          </a:solidFill>
                          <a:effectLst/>
                          <a:latin typeface="+mj-lt"/>
                          <a:ea typeface="+mn-ea"/>
                          <a:cs typeface="+mn-cs"/>
                        </a:rPr>
                        <a:t>Prime Broker</a:t>
                      </a:r>
                    </a:p>
                    <a:p>
                      <a:pPr marL="0" marR="0" lvl="0" indent="0" algn="l" defTabSz="914400" rtl="0" eaLnBrk="0" fontAlgn="base" latinLnBrk="0" hangingPunct="0">
                        <a:lnSpc>
                          <a:spcPct val="110000"/>
                        </a:lnSpc>
                        <a:spcBef>
                          <a:spcPts val="0"/>
                        </a:spcBef>
                        <a:spcAft>
                          <a:spcPts val="0"/>
                        </a:spcAft>
                        <a:buClr>
                          <a:schemeClr val="bg2">
                            <a:lumMod val="50000"/>
                          </a:schemeClr>
                        </a:buClr>
                        <a:buSzTx/>
                        <a:buFont typeface="Arial" pitchFamily="34" charset="0"/>
                        <a:buNone/>
                        <a:tabLst/>
                        <a:defRPr/>
                      </a:pPr>
                      <a:r>
                        <a:rPr kumimoji="0" lang="en-US" sz="1000" b="0" i="0" u="none" strike="noStrike" kern="1200" cap="none" normalizeH="0" baseline="0" dirty="0" smtClean="0">
                          <a:ln>
                            <a:noFill/>
                          </a:ln>
                          <a:solidFill>
                            <a:schemeClr val="tx1"/>
                          </a:solidFill>
                          <a:effectLst/>
                          <a:latin typeface="+mj-lt"/>
                          <a:ea typeface="+mn-ea"/>
                          <a:cs typeface="+mn-cs"/>
                        </a:rPr>
                        <a:t>[TBD]</a:t>
                      </a:r>
                    </a:p>
                  </a:txBody>
                  <a:tcPr marL="0" marR="0" marT="137160" marB="13716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10000"/>
                        </a:lnSpc>
                        <a:spcBef>
                          <a:spcPts val="0"/>
                        </a:spcBef>
                        <a:spcAft>
                          <a:spcPts val="0"/>
                        </a:spcAft>
                        <a:buClr>
                          <a:schemeClr val="tx2"/>
                        </a:buClr>
                        <a:buSzTx/>
                        <a:buFontTx/>
                        <a:buNone/>
                        <a:tabLst/>
                        <a:defRPr/>
                      </a:pPr>
                      <a:r>
                        <a:rPr kumimoji="0" lang="en-US" sz="1100" b="1" i="0" u="none" strike="noStrike" kern="1200" cap="none" normalizeH="0" baseline="0" dirty="0" smtClean="0">
                          <a:ln>
                            <a:noFill/>
                          </a:ln>
                          <a:solidFill>
                            <a:schemeClr val="accent1"/>
                          </a:solidFill>
                          <a:effectLst/>
                          <a:latin typeface="+mj-lt"/>
                          <a:ea typeface="+mn-ea"/>
                          <a:cs typeface="+mn-cs"/>
                        </a:rPr>
                        <a:t>Administrator</a:t>
                      </a:r>
                    </a:p>
                    <a:p>
                      <a:pPr marL="0" marR="0" lvl="0" indent="0" algn="l" defTabSz="914400" rtl="0" eaLnBrk="1" fontAlgn="base" latinLnBrk="0" hangingPunct="1">
                        <a:lnSpc>
                          <a:spcPct val="110000"/>
                        </a:lnSpc>
                        <a:spcBef>
                          <a:spcPts val="0"/>
                        </a:spcBef>
                        <a:spcAft>
                          <a:spcPts val="0"/>
                        </a:spcAft>
                        <a:buClr>
                          <a:schemeClr val="tx2"/>
                        </a:buClr>
                        <a:buSzTx/>
                        <a:buFontTx/>
                        <a:buNone/>
                        <a:tabLst/>
                        <a:defRPr/>
                      </a:pPr>
                      <a:r>
                        <a:rPr kumimoji="0" lang="en-US" sz="1000" b="0" i="0" u="none" strike="noStrike" kern="1200" cap="none" normalizeH="0" baseline="0" dirty="0" smtClean="0">
                          <a:ln>
                            <a:noFill/>
                          </a:ln>
                          <a:solidFill>
                            <a:schemeClr val="tx1"/>
                          </a:solidFill>
                          <a:effectLst/>
                          <a:latin typeface="+mj-lt"/>
                          <a:ea typeface="+mn-ea"/>
                          <a:cs typeface="+mn-cs"/>
                        </a:rPr>
                        <a:t>BNP Paribas Financial Services, LLC</a:t>
                      </a:r>
                    </a:p>
                  </a:txBody>
                  <a:tcPr marL="0" marR="0" marT="137160" marB="13716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r h="0">
                <a:tc>
                  <a:txBody>
                    <a:bodyPr/>
                    <a:lstStyle/>
                    <a:p>
                      <a:pPr marL="0" marR="0" lvl="0" indent="0" algn="l" defTabSz="914400" rtl="0" eaLnBrk="0" fontAlgn="base" latinLnBrk="0" hangingPunct="0">
                        <a:lnSpc>
                          <a:spcPct val="110000"/>
                        </a:lnSpc>
                        <a:spcBef>
                          <a:spcPts val="0"/>
                        </a:spcBef>
                        <a:spcAft>
                          <a:spcPts val="0"/>
                        </a:spcAft>
                        <a:buClr>
                          <a:schemeClr val="tx2"/>
                        </a:buClr>
                        <a:buSzTx/>
                        <a:buFontTx/>
                        <a:buNone/>
                        <a:tabLst/>
                        <a:defRPr/>
                      </a:pPr>
                      <a:r>
                        <a:rPr kumimoji="0" lang="en-US" sz="1100" b="1" i="0" u="none" strike="noStrike" kern="1200" cap="none" normalizeH="0" baseline="0" dirty="0" smtClean="0">
                          <a:ln>
                            <a:noFill/>
                          </a:ln>
                          <a:solidFill>
                            <a:schemeClr val="accent1"/>
                          </a:solidFill>
                          <a:effectLst/>
                          <a:latin typeface="+mj-lt"/>
                          <a:ea typeface="+mn-ea"/>
                          <a:cs typeface="+mn-cs"/>
                        </a:rPr>
                        <a:t>Auditor</a:t>
                      </a:r>
                    </a:p>
                    <a:p>
                      <a:pPr marL="0" marR="0" lvl="0" indent="0" algn="l" defTabSz="914400" rtl="0" eaLnBrk="0" fontAlgn="base" latinLnBrk="0" hangingPunct="0">
                        <a:lnSpc>
                          <a:spcPct val="110000"/>
                        </a:lnSpc>
                        <a:spcBef>
                          <a:spcPts val="0"/>
                        </a:spcBef>
                        <a:spcAft>
                          <a:spcPts val="0"/>
                        </a:spcAft>
                        <a:buClr>
                          <a:schemeClr val="tx2"/>
                        </a:buClr>
                        <a:buSzTx/>
                        <a:buFontTx/>
                        <a:buNone/>
                        <a:tabLst/>
                        <a:defRPr/>
                      </a:pPr>
                      <a:r>
                        <a:rPr kumimoji="0" lang="en-US" sz="1000" b="0" i="0" u="none" strike="noStrike" kern="1200" cap="none" normalizeH="0" baseline="0" dirty="0" smtClean="0">
                          <a:ln>
                            <a:noFill/>
                          </a:ln>
                          <a:solidFill>
                            <a:schemeClr val="tx1"/>
                          </a:solidFill>
                          <a:effectLst/>
                          <a:latin typeface="+mj-lt"/>
                          <a:ea typeface="+mn-ea"/>
                          <a:cs typeface="+mn-cs"/>
                        </a:rPr>
                        <a:t>KPMG</a:t>
                      </a:r>
                    </a:p>
                  </a:txBody>
                  <a:tcPr marL="0" marR="0" marT="137160" marB="137160" horzOverflow="overflow">
                    <a:lnL>
                      <a:noFill/>
                    </a:lnL>
                    <a:lnR w="1270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10000"/>
                        </a:lnSpc>
                        <a:spcBef>
                          <a:spcPts val="0"/>
                        </a:spcBef>
                        <a:spcAft>
                          <a:spcPts val="0"/>
                        </a:spcAft>
                        <a:buClr>
                          <a:schemeClr val="tx2"/>
                        </a:buClr>
                        <a:buSzTx/>
                        <a:buFontTx/>
                        <a:buNone/>
                        <a:tabLst/>
                        <a:defRPr/>
                      </a:pPr>
                      <a:r>
                        <a:rPr kumimoji="0" lang="en-US" sz="1100" b="1" i="0" u="none" strike="noStrike" kern="1200" cap="none" normalizeH="0" baseline="0" dirty="0" smtClean="0">
                          <a:ln>
                            <a:noFill/>
                          </a:ln>
                          <a:solidFill>
                            <a:schemeClr val="accent1"/>
                          </a:solidFill>
                          <a:effectLst/>
                          <a:latin typeface="+mj-lt"/>
                          <a:ea typeface="+mn-ea"/>
                          <a:cs typeface="+mn-cs"/>
                        </a:rPr>
                        <a:t>Legal Advisor – Onshore</a:t>
                      </a:r>
                    </a:p>
                    <a:p>
                      <a:pPr marL="0" marR="0" lvl="0" indent="0" algn="l" defTabSz="914400" rtl="0" eaLnBrk="1" fontAlgn="base" latinLnBrk="0" hangingPunct="1">
                        <a:lnSpc>
                          <a:spcPct val="110000"/>
                        </a:lnSpc>
                        <a:spcBef>
                          <a:spcPts val="0"/>
                        </a:spcBef>
                        <a:spcAft>
                          <a:spcPts val="0"/>
                        </a:spcAft>
                        <a:buClr>
                          <a:schemeClr val="tx2"/>
                        </a:buClr>
                        <a:buSzTx/>
                        <a:buFontTx/>
                        <a:buNone/>
                        <a:tabLst/>
                        <a:defRPr/>
                      </a:pPr>
                      <a:r>
                        <a:rPr kumimoji="0" lang="en-US" sz="1000" b="0" i="0" u="none" strike="noStrike" kern="1200" cap="none" normalizeH="0" baseline="0" dirty="0" smtClean="0">
                          <a:ln>
                            <a:noFill/>
                          </a:ln>
                          <a:solidFill>
                            <a:schemeClr val="tx1"/>
                          </a:solidFill>
                          <a:effectLst/>
                          <a:latin typeface="+mj-lt"/>
                          <a:ea typeface="+mn-ea"/>
                          <a:cs typeface="+mn-cs"/>
                        </a:rPr>
                        <a:t>Kleinberg, Kaplan, Wolff &amp; Cohen, P.C.</a:t>
                      </a:r>
                    </a:p>
                  </a:txBody>
                  <a:tcPr marL="0" marR="0" marT="137160" marB="13716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c>
                  <a:txBody>
                    <a:bodyPr/>
                    <a:lstStyle/>
                    <a:p>
                      <a:pPr marL="0" marR="0" lvl="0" indent="0" algn="l" defTabSz="914400" rtl="0" eaLnBrk="1" fontAlgn="base" latinLnBrk="0" hangingPunct="1">
                        <a:lnSpc>
                          <a:spcPct val="110000"/>
                        </a:lnSpc>
                        <a:spcBef>
                          <a:spcPts val="0"/>
                        </a:spcBef>
                        <a:spcAft>
                          <a:spcPts val="0"/>
                        </a:spcAft>
                        <a:buClr>
                          <a:schemeClr val="tx2"/>
                        </a:buClr>
                        <a:buSzTx/>
                        <a:buFontTx/>
                        <a:buNone/>
                        <a:tabLst/>
                        <a:defRPr/>
                      </a:pPr>
                      <a:r>
                        <a:rPr kumimoji="0" lang="en-US" sz="1100" b="1" i="0" u="none" strike="noStrike" kern="1200" cap="none" normalizeH="0" baseline="0" dirty="0" smtClean="0">
                          <a:ln>
                            <a:noFill/>
                          </a:ln>
                          <a:solidFill>
                            <a:schemeClr val="accent1"/>
                          </a:solidFill>
                          <a:effectLst/>
                          <a:latin typeface="+mj-lt"/>
                          <a:ea typeface="+mn-ea"/>
                          <a:cs typeface="+mn-cs"/>
                        </a:rPr>
                        <a:t>Legal Advisor – Offshore</a:t>
                      </a:r>
                    </a:p>
                    <a:p>
                      <a:pPr marL="0" marR="0" lvl="0" indent="0" algn="l" defTabSz="914400" rtl="0" eaLnBrk="0" fontAlgn="base" latinLnBrk="0" hangingPunct="0">
                        <a:lnSpc>
                          <a:spcPct val="110000"/>
                        </a:lnSpc>
                        <a:spcBef>
                          <a:spcPts val="0"/>
                        </a:spcBef>
                        <a:spcAft>
                          <a:spcPts val="0"/>
                        </a:spcAft>
                        <a:buClr>
                          <a:schemeClr val="tx2"/>
                        </a:buClr>
                        <a:buSzTx/>
                        <a:buFontTx/>
                        <a:buNone/>
                        <a:tabLst/>
                        <a:defRPr/>
                      </a:pPr>
                      <a:r>
                        <a:rPr kumimoji="0" lang="en-US" sz="1000" b="0" i="0" u="none" strike="noStrike" kern="1200" cap="none" normalizeH="0" baseline="0" dirty="0" smtClean="0">
                          <a:ln>
                            <a:noFill/>
                          </a:ln>
                          <a:solidFill>
                            <a:schemeClr val="tx1"/>
                          </a:solidFill>
                          <a:effectLst/>
                          <a:latin typeface="+mj-lt"/>
                          <a:ea typeface="+mn-ea"/>
                          <a:cs typeface="+mn-cs"/>
                        </a:rPr>
                        <a:t>Maples and Calder</a:t>
                      </a:r>
                    </a:p>
                  </a:txBody>
                  <a:tcPr marL="0" marR="0" marT="137160" marB="137160" horzOverflow="overflow">
                    <a:lnL w="12700" cap="flat" cmpd="sng" algn="ctr">
                      <a:noFill/>
                      <a:prstDash val="solid"/>
                      <a:round/>
                      <a:headEnd type="none" w="med" len="med"/>
                      <a:tailEnd type="none" w="med" len="med"/>
                    </a:lnL>
                    <a:lnR w="12700" cap="flat" cmpd="sng" algn="ctr">
                      <a:noFill/>
                      <a:prstDash val="solid"/>
                      <a:round/>
                      <a:headEnd type="none" w="med" len="med"/>
                      <a:tailEnd type="none" w="med" len="med"/>
                    </a:lnR>
                    <a:lnT w="6350" cap="flat" cmpd="sng" algn="ctr">
                      <a:solidFill>
                        <a:schemeClr val="accent3"/>
                      </a:solidFill>
                      <a:prstDash val="solid"/>
                      <a:round/>
                      <a:headEnd type="none" w="med" len="med"/>
                      <a:tailEnd type="none" w="med" len="med"/>
                    </a:lnT>
                    <a:lnB w="6350" cap="flat" cmpd="sng" algn="ctr">
                      <a:solidFill>
                        <a:schemeClr val="accent3"/>
                      </a:solidFill>
                      <a:prstDash val="solid"/>
                      <a:round/>
                      <a:headEnd type="none" w="med" len="med"/>
                      <a:tailEnd type="none" w="med" len="med"/>
                    </a:lnB>
                    <a:lnTlToBr>
                      <a:noFill/>
                    </a:lnTlToBr>
                    <a:lnBlToTr>
                      <a:noFill/>
                    </a:lnBlToTr>
                    <a:solidFill>
                      <a:schemeClr val="bg1"/>
                    </a:solidFill>
                  </a:tcPr>
                </a:tc>
              </a:tr>
            </a:tbl>
          </a:graphicData>
        </a:graphic>
      </p:graphicFrame>
    </p:spTree>
    <p:extLst>
      <p:ext uri="{BB962C8B-B14F-4D97-AF65-F5344CB8AC3E}">
        <p14:creationId xmlns:p14="http://schemas.microsoft.com/office/powerpoint/2010/main" val="1548605601"/>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1537" name="Rectangle 2"/>
          <p:cNvSpPr>
            <a:spLocks noGrp="1" noChangeArrowheads="1"/>
          </p:cNvSpPr>
          <p:nvPr>
            <p:ph type="title"/>
          </p:nvPr>
        </p:nvSpPr>
        <p:spPr/>
        <p:txBody>
          <a:bodyPr/>
          <a:lstStyle/>
          <a:p>
            <a:r>
              <a:rPr lang="en-US" dirty="0" smtClean="0"/>
              <a:t>CONTACT INFORMATION</a:t>
            </a:r>
            <a:endParaRPr lang="en-US" dirty="0"/>
          </a:p>
        </p:txBody>
      </p:sp>
      <p:sp>
        <p:nvSpPr>
          <p:cNvPr id="19" name="Content Placeholder 18"/>
          <p:cNvSpPr>
            <a:spLocks noGrp="1"/>
          </p:cNvSpPr>
          <p:nvPr>
            <p:ph sz="quarter" idx="13"/>
          </p:nvPr>
        </p:nvSpPr>
        <p:spPr/>
        <p:txBody>
          <a:bodyPr/>
          <a:lstStyle/>
          <a:p>
            <a:r>
              <a:rPr lang="en-US" dirty="0"/>
              <a:t>CELLO CAPITAL MANAGEMENT, LP</a:t>
            </a:r>
          </a:p>
          <a:p>
            <a:pPr lvl="2"/>
            <a:r>
              <a:rPr lang="en-US" dirty="0"/>
              <a:t>12 East 49th Street, 22nd Floor</a:t>
            </a:r>
          </a:p>
          <a:p>
            <a:pPr lvl="2"/>
            <a:r>
              <a:rPr lang="en-US" dirty="0"/>
              <a:t>New York, NY  10017</a:t>
            </a:r>
          </a:p>
          <a:p>
            <a:pPr lvl="2"/>
            <a:endParaRPr lang="en-US" dirty="0"/>
          </a:p>
          <a:p>
            <a:pPr lvl="2"/>
            <a:r>
              <a:rPr lang="en-US" dirty="0"/>
              <a:t>investorrelations@cellocapital.com</a:t>
            </a:r>
          </a:p>
          <a:p>
            <a:pPr lvl="2"/>
            <a:r>
              <a:rPr lang="en-US" dirty="0" smtClean="0"/>
              <a:t>212-624-0302</a:t>
            </a:r>
            <a:endParaRPr lang="en-US" dirty="0"/>
          </a:p>
        </p:txBody>
      </p:sp>
      <p:sp>
        <p:nvSpPr>
          <p:cNvPr id="5" name="Text Placeholder 4"/>
          <p:cNvSpPr>
            <a:spLocks noGrp="1"/>
          </p:cNvSpPr>
          <p:nvPr>
            <p:ph type="body" sz="quarter" idx="10"/>
          </p:nvPr>
        </p:nvSpPr>
        <p:spPr/>
        <p:txBody>
          <a:bodyPr/>
          <a:lstStyle/>
          <a:p>
            <a:r>
              <a:rPr lang="en-US" dirty="0" smtClean="0"/>
              <a:t>For further information, please contact</a:t>
            </a:r>
            <a:endParaRPr lang="en-US" dirty="0"/>
          </a:p>
        </p:txBody>
      </p:sp>
    </p:spTree>
    <p:extLst>
      <p:ext uri="{BB962C8B-B14F-4D97-AF65-F5344CB8AC3E}">
        <p14:creationId xmlns:p14="http://schemas.microsoft.com/office/powerpoint/2010/main" val="312706462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63521" name="Rectangle 2"/>
          <p:cNvSpPr>
            <a:spLocks noGrp="1" noChangeArrowheads="1"/>
          </p:cNvSpPr>
          <p:nvPr>
            <p:ph type="title"/>
          </p:nvPr>
        </p:nvSpPr>
        <p:spPr>
          <a:xfrm>
            <a:off x="2524287" y="268819"/>
            <a:ext cx="7280116" cy="644102"/>
          </a:xfrm>
        </p:spPr>
        <p:txBody>
          <a:bodyPr/>
          <a:lstStyle/>
          <a:p>
            <a:r>
              <a:rPr lang="en-US" dirty="0" smtClean="0"/>
              <a:t>DISCLOSURES</a:t>
            </a:r>
            <a:br>
              <a:rPr lang="en-US" dirty="0" smtClean="0"/>
            </a:br>
            <a:r>
              <a:rPr lang="en-US" sz="1200" b="0" dirty="0"/>
              <a:t>Important Notes</a:t>
            </a:r>
            <a:endParaRPr lang="en-US" sz="1200" b="0" dirty="0">
              <a:solidFill>
                <a:srgbClr val="FFFFFF"/>
              </a:solidFill>
            </a:endParaRPr>
          </a:p>
        </p:txBody>
      </p:sp>
      <p:sp>
        <p:nvSpPr>
          <p:cNvPr id="5" name="Rectangle 3"/>
          <p:cNvSpPr txBox="1">
            <a:spLocks noChangeArrowheads="1"/>
          </p:cNvSpPr>
          <p:nvPr/>
        </p:nvSpPr>
        <p:spPr bwMode="auto">
          <a:xfrm>
            <a:off x="266701" y="1414674"/>
            <a:ext cx="9525000" cy="5702405"/>
          </a:xfrm>
          <a:prstGeom prst="rect">
            <a:avLst/>
          </a:prstGeom>
          <a:noFill/>
          <a:ln w="9525">
            <a:noFill/>
            <a:miter lim="800000"/>
            <a:headEnd/>
            <a:tailEnd/>
          </a:ln>
        </p:spPr>
        <p:txBody>
          <a:bodyPr vert="horz" wrap="square" lIns="101847" tIns="50923" rIns="101847" bIns="50923" numCol="2" spcCol="274256" anchor="t" anchorCtr="0" compatLnSpc="1">
            <a:prstTxWarp prst="textNoShape">
              <a:avLst/>
            </a:prstTxWarp>
          </a:bodyPr>
          <a:lstStyle/>
          <a:p>
            <a:pPr defTabSz="914187" eaLnBrk="0" hangingPunct="0">
              <a:spcBef>
                <a:spcPct val="110000"/>
              </a:spcBef>
              <a:buClr>
                <a:schemeClr val="tx2"/>
              </a:buClr>
              <a:defRPr/>
            </a:pPr>
            <a:r>
              <a:rPr lang="en-US" sz="1100" kern="0" dirty="0">
                <a:latin typeface="+mn-lt"/>
              </a:rPr>
              <a:t>THIS DOCUMENT IS NOT AN OFFER TO SELL OR THE SOLICITATION OF AN OFFER TO BUY SHARES OF THE FUND. AN OFFERING OF INTERESTS WILL BE MADE ONLY BY MEANS OF A CONFIDENTIAL PRIVATE PLACEMENT MEMORANDUM AND ONLY TO QUALIFIED INVESTORS IN JURISDICTIONS WHERE PERMITTED BY LAW. PAST PERFORMANCE IS NO GUARANTEE OF FUTURE PERFORMANCE. </a:t>
            </a:r>
          </a:p>
          <a:p>
            <a:pPr defTabSz="914187" eaLnBrk="0" hangingPunct="0">
              <a:spcBef>
                <a:spcPct val="110000"/>
              </a:spcBef>
              <a:buClr>
                <a:schemeClr val="tx2"/>
              </a:buClr>
              <a:defRPr/>
            </a:pPr>
            <a:r>
              <a:rPr lang="en-US" sz="1100" kern="0" dirty="0">
                <a:latin typeface="+mn-lt"/>
              </a:rPr>
              <a:t>An investment in the Fund is speculative and involves a high degree of risk. The Fund will have substantial limitations on investors’ ability to redeem or transfer their shares, and no secondary market for the Fund’s shares exists or will develop. All of these risks, and other important risks, are described in detail in the Fund’s Confidential Private Placement Memorandum. Prospective investors are strongly urged to review this Confidential Private Placement Memorandum carefully and consult with their own financial, legal and tax advisors, before investing. </a:t>
            </a:r>
          </a:p>
          <a:p>
            <a:pPr defTabSz="914187" eaLnBrk="0" hangingPunct="0">
              <a:spcBef>
                <a:spcPct val="110000"/>
              </a:spcBef>
              <a:buClr>
                <a:schemeClr val="tx2"/>
              </a:buClr>
              <a:defRPr/>
            </a:pPr>
            <a:r>
              <a:rPr lang="en-US" sz="1100" kern="0" dirty="0">
                <a:latin typeface="+mn-lt"/>
              </a:rPr>
              <a:t>Portions of this document may contain commentary and/or data based on certain current assumptions by Cello Capital Management, </a:t>
            </a:r>
            <a:r>
              <a:rPr lang="en-US" sz="1100" kern="0" dirty="0" smtClean="0">
                <a:latin typeface="+mn-lt"/>
              </a:rPr>
              <a:t>LP(“</a:t>
            </a:r>
            <a:r>
              <a:rPr lang="en-US" sz="1100" kern="0" dirty="0">
                <a:latin typeface="+mn-lt"/>
              </a:rPr>
              <a:t>Cello”), which are subject to change at any time, as well as Cello's internal complex calculations. If one or more of these assumptions or calculations is incorrect, the information contained herein may unintentionally be inaccurate. </a:t>
            </a:r>
          </a:p>
          <a:p>
            <a:pPr defTabSz="914187" eaLnBrk="0" hangingPunct="0">
              <a:spcBef>
                <a:spcPct val="110000"/>
              </a:spcBef>
              <a:buClr>
                <a:schemeClr val="tx2"/>
              </a:buClr>
              <a:defRPr/>
            </a:pPr>
            <a:r>
              <a:rPr lang="en-US" sz="1100" kern="0" dirty="0">
                <a:latin typeface="+mn-lt"/>
              </a:rPr>
              <a:t>Certain information contained herein may have been obtained by Cello from third parties. While Cello believes such sources are reliable, Cello has not verified the accuracy of such information and shall not be liable for any errors in such information or for any actions taken in reliance thereon. </a:t>
            </a:r>
            <a:endParaRPr lang="en-US" sz="1100" kern="0" dirty="0" smtClean="0">
              <a:latin typeface="+mn-lt"/>
            </a:endParaRPr>
          </a:p>
          <a:p>
            <a:pPr defTabSz="914187" eaLnBrk="0" hangingPunct="0">
              <a:spcBef>
                <a:spcPct val="110000"/>
              </a:spcBef>
              <a:buClr>
                <a:schemeClr val="tx2"/>
              </a:buClr>
              <a:defRPr/>
            </a:pPr>
            <a:endParaRPr lang="en-US" sz="1100" kern="0" dirty="0"/>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also contain certain forward looking statements and projections. Such statements and projections are subject to a number of assumptions, risks and uncertainties which may cause actual results, performance or achievements to be materially different from future results, performance or achievements expressed or implied by these forward-looking statements and projections. Prospective investors are cautioned not to </a:t>
            </a:r>
            <a:r>
              <a:rPr lang="en-US" sz="1100" kern="0" dirty="0" smtClean="0">
                <a:latin typeface="+mn-lt"/>
              </a:rPr>
              <a:t>invest based </a:t>
            </a:r>
            <a:r>
              <a:rPr lang="en-US" sz="1100" kern="0" dirty="0">
                <a:latin typeface="+mn-lt"/>
              </a:rPr>
              <a:t>on these forward-looking statements and projections. </a:t>
            </a:r>
            <a:endParaRPr lang="en-US" sz="1100" kern="0" dirty="0" smtClean="0">
              <a:latin typeface="+mn-lt"/>
            </a:endParaRPr>
          </a:p>
          <a:p>
            <a:pPr defTabSz="914187" eaLnBrk="0" hangingPunct="0">
              <a:spcBef>
                <a:spcPct val="110000"/>
              </a:spcBef>
              <a:buClr>
                <a:schemeClr val="tx2"/>
              </a:buClr>
              <a:defRPr/>
            </a:pPr>
            <a:r>
              <a:rPr lang="en-US" sz="1100" kern="0" dirty="0" smtClean="0">
                <a:latin typeface="+mn-lt"/>
              </a:rPr>
              <a:t>This </a:t>
            </a:r>
            <a:r>
              <a:rPr lang="en-US" sz="1100" kern="0" dirty="0">
                <a:latin typeface="+mn-lt"/>
              </a:rPr>
              <a:t>document may contain references to certain internal Cello procedures and policies which are subject to change at any time. </a:t>
            </a:r>
          </a:p>
          <a:p>
            <a:pPr defTabSz="914187" eaLnBrk="0" hangingPunct="0">
              <a:spcBef>
                <a:spcPct val="110000"/>
              </a:spcBef>
              <a:buClr>
                <a:schemeClr val="tx2"/>
              </a:buClr>
              <a:defRPr/>
            </a:pPr>
            <a:r>
              <a:rPr lang="en-US" sz="1100" kern="0" dirty="0">
                <a:latin typeface="+mn-lt"/>
              </a:rPr>
              <a:t>No information or material contained herein may be reproduced, transmitted, displayed or commercially exploited without the prior written consent of Cello. </a:t>
            </a:r>
            <a:r>
              <a:rPr lang="en-US" sz="1100" kern="0" dirty="0" smtClean="0">
                <a:latin typeface="+mn-lt"/>
              </a:rPr>
              <a:t>All </a:t>
            </a:r>
            <a:r>
              <a:rPr lang="en-US" sz="1100" kern="0" dirty="0">
                <a:latin typeface="+mn-lt"/>
              </a:rPr>
              <a:t>rights are reserved</a:t>
            </a:r>
            <a:r>
              <a:rPr lang="en-US" sz="1100" kern="0" dirty="0" smtClean="0">
                <a:latin typeface="+mn-lt"/>
              </a:rPr>
              <a:t>.</a:t>
            </a: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smtClean="0">
              <a:latin typeface="+mn-lt"/>
            </a:endParaRPr>
          </a:p>
          <a:p>
            <a:pPr defTabSz="914187" eaLnBrk="0" hangingPunct="0">
              <a:spcBef>
                <a:spcPct val="110000"/>
              </a:spcBef>
              <a:buClr>
                <a:schemeClr val="tx2"/>
              </a:buClr>
              <a:defRPr/>
            </a:pPr>
            <a:endParaRPr lang="en-US" sz="1100" kern="0" dirty="0">
              <a:latin typeface="+mn-lt"/>
            </a:endParaRPr>
          </a:p>
          <a:p>
            <a:pPr defTabSz="914187" eaLnBrk="0" hangingPunct="0">
              <a:spcBef>
                <a:spcPct val="110000"/>
              </a:spcBef>
              <a:buClr>
                <a:schemeClr val="tx2"/>
              </a:buClr>
              <a:defRPr/>
            </a:pPr>
            <a:endParaRPr lang="en-US" sz="1100" kern="0" dirty="0">
              <a:latin typeface="+mn-lt"/>
            </a:endParaRPr>
          </a:p>
        </p:txBody>
      </p:sp>
    </p:spTree>
    <p:extLst>
      <p:ext uri="{BB962C8B-B14F-4D97-AF65-F5344CB8AC3E}">
        <p14:creationId xmlns:p14="http://schemas.microsoft.com/office/powerpoint/2010/main" val="1028916535"/>
      </p:ext>
    </p:extLst>
  </p:cSld>
  <p:clrMapOvr>
    <a:masterClrMapping/>
  </p:clrMapOvr>
  <p:timing>
    <p:tnLst>
      <p:par>
        <p:cTn id="1" dur="indefinite" restart="never" nodeType="tmRoot"/>
      </p:par>
    </p:tnLst>
  </p:timing>
</p:sld>
</file>

<file path=ppt/tags/tag1.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ags/tag2.xml><?xml version="1.0" encoding="utf-8"?>
<p:tagLst xmlns:a="http://schemas.openxmlformats.org/drawingml/2006/main" xmlns:r="http://schemas.openxmlformats.org/officeDocument/2006/relationships" xmlns:p="http://schemas.openxmlformats.org/presentationml/2006/main">
  <p:tag name="THINKCELLSHAPEDONOTDELETE" val="pstEKNiqSSUm.Pxf10hkaFg"/>
</p:tagLst>
</file>

<file path=ppt/tags/tag3.xml><?xml version="1.0" encoding="utf-8"?>
<p:tagLst xmlns:a="http://schemas.openxmlformats.org/drawingml/2006/main" xmlns:r="http://schemas.openxmlformats.org/officeDocument/2006/relationships" xmlns:p="http://schemas.openxmlformats.org/presentationml/2006/main">
  <p:tag name="THINKCELLSHAPEDONOTDELETE" val="peIyJAvTK6EOWvDOa_eKQhw"/>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pstEKNiqSSUm.Pxf10hkaFg"/>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pJEa2F8LQUEyxStrXkIqA.Q"/>
</p:tagLst>
</file>

<file path=ppt/theme/theme1.xml><?xml version="1.0" encoding="utf-8"?>
<a:theme xmlns:a="http://schemas.openxmlformats.org/drawingml/2006/main" name="Office Theme">
  <a:themeElements>
    <a:clrScheme name="Cello">
      <a:dk1>
        <a:srgbClr val="000000"/>
      </a:dk1>
      <a:lt1>
        <a:srgbClr val="FFFFFF"/>
      </a:lt1>
      <a:dk2>
        <a:srgbClr val="203353"/>
      </a:dk2>
      <a:lt2>
        <a:srgbClr val="EFEBE4"/>
      </a:lt2>
      <a:accent1>
        <a:srgbClr val="2E398A"/>
      </a:accent1>
      <a:accent2>
        <a:srgbClr val="8891D5"/>
      </a:accent2>
      <a:accent3>
        <a:srgbClr val="968880"/>
      </a:accent3>
      <a:accent4>
        <a:srgbClr val="000000"/>
      </a:accent4>
      <a:accent5>
        <a:srgbClr val="ADAEC4"/>
      </a:accent5>
      <a:accent6>
        <a:srgbClr val="7B83C1"/>
      </a:accent6>
      <a:hlink>
        <a:srgbClr val="968880"/>
      </a:hlink>
      <a:folHlink>
        <a:srgbClr val="533D2D"/>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1970</TotalTime>
  <Words>3169</Words>
  <Application>Microsoft Office PowerPoint</Application>
  <PresentationFormat>Custom</PresentationFormat>
  <Paragraphs>468</Paragraphs>
  <Slides>15</Slides>
  <Notes>6</Notes>
  <HiddenSlides>0</HiddenSlides>
  <MMClips>0</MMClips>
  <ScaleCrop>false</ScaleCrop>
  <HeadingPairs>
    <vt:vector size="4" baseType="variant">
      <vt:variant>
        <vt:lpstr>Theme</vt:lpstr>
      </vt:variant>
      <vt:variant>
        <vt:i4>1</vt:i4>
      </vt:variant>
      <vt:variant>
        <vt:lpstr>Slide Titles</vt:lpstr>
      </vt:variant>
      <vt:variant>
        <vt:i4>15</vt:i4>
      </vt:variant>
    </vt:vector>
  </HeadingPairs>
  <TitlesOfParts>
    <vt:vector size="16" baseType="lpstr">
      <vt:lpstr>Office Theme</vt:lpstr>
      <vt:lpstr>CELLO CRE MODELING FRAMEWORK</vt:lpstr>
      <vt:lpstr>EXECUTIVE SUMMARY</vt:lpstr>
      <vt:lpstr>CRE Strategy</vt:lpstr>
      <vt:lpstr>ORGANIZATION CHART </vt:lpstr>
      <vt:lpstr>PORTFOLIO MANAGEMENT TEAM EXPERIENCE</vt:lpstr>
      <vt:lpstr>INVESTMENT APPROACH</vt:lpstr>
      <vt:lpstr>CMBS Modeling RMBS Modeling vs. CMBS Modeling</vt:lpstr>
      <vt:lpstr>CMBS Modeling Commercial Mortgage Loan basics</vt:lpstr>
      <vt:lpstr>INVESTMENT APPROACH</vt:lpstr>
      <vt:lpstr>INVESTMENT APPROACH</vt:lpstr>
      <vt:lpstr>INVESTMENT PROCESS </vt:lpstr>
      <vt:lpstr>BIOGRAPHIES OF INVESTMENT TEAM</vt:lpstr>
      <vt:lpstr>CELLO CREDIT OPPORTUNITIES MASTER FUND </vt:lpstr>
      <vt:lpstr>CONTACT INFORMATION</vt:lpstr>
      <vt:lpstr>DISCLOSURES Important Notes</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Matt</dc:creator>
  <cp:lastModifiedBy>Lien Chen</cp:lastModifiedBy>
  <cp:revision>351</cp:revision>
  <cp:lastPrinted>2015-06-19T12:14:16Z</cp:lastPrinted>
  <dcterms:created xsi:type="dcterms:W3CDTF">2015-05-21T20:34:11Z</dcterms:created>
  <dcterms:modified xsi:type="dcterms:W3CDTF">2015-06-29T21:55:02Z</dcterms:modified>
</cp:coreProperties>
</file>