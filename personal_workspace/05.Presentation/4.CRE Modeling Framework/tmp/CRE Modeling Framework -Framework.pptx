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17" r:id="rId2"/>
  </p:sldIdLst>
  <p:sldSz cx="10058400" cy="7772400"/>
  <p:notesSz cx="7010400" cy="92964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DFF5EB"/>
    <a:srgbClr val="C6642E"/>
    <a:srgbClr val="F4E0D0"/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03" autoAdjust="0"/>
    <p:restoredTop sz="94660" autoAdjust="0"/>
  </p:normalViewPr>
  <p:slideViewPr>
    <p:cSldViewPr showGuides="1">
      <p:cViewPr>
        <p:scale>
          <a:sx n="125" d="100"/>
          <a:sy n="125" d="100"/>
        </p:scale>
        <p:origin x="-1020" y="-72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0" d="100"/>
          <a:sy n="80" d="100"/>
        </p:scale>
        <p:origin x="-1974" y="-78"/>
      </p:cViewPr>
      <p:guideLst>
        <p:guide orient="horz" pos="2904"/>
        <p:guide orient="horz" pos="2928"/>
        <p:guide pos="2184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6/30/2015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6/30/2015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696913"/>
            <a:ext cx="45116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9" tIns="46585" rIns="93169" bIns="4658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69" tIns="46585" rIns="93169" bIns="46585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 Modeling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Modeling</a:t>
            </a:r>
            <a:r>
              <a:rPr lang="en-US" dirty="0" smtClean="0"/>
              <a:t> framework</a:t>
            </a:r>
            <a:endParaRPr lang="en-US" dirty="0"/>
          </a:p>
        </p:txBody>
      </p:sp>
      <p:graphicFrame>
        <p:nvGraphicFramePr>
          <p:cNvPr id="47" name="Content Placeholder 4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3424600"/>
              </p:ext>
            </p:extLst>
          </p:nvPr>
        </p:nvGraphicFramePr>
        <p:xfrm>
          <a:off x="2511884" y="5143500"/>
          <a:ext cx="716551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4253"/>
                <a:gridCol w="1194253"/>
                <a:gridCol w="1194253"/>
                <a:gridCol w="1194253"/>
                <a:gridCol w="1194253"/>
                <a:gridCol w="119425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tx1"/>
                          </a:solidFill>
                        </a:rPr>
                        <a:t>AAA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tx1"/>
                          </a:solidFill>
                        </a:rPr>
                        <a:t>AA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tx1"/>
                          </a:solidFill>
                        </a:rPr>
                        <a:t>BBB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tx1"/>
                          </a:solidFill>
                        </a:rPr>
                        <a:t>BB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>
                          <a:solidFill>
                            <a:schemeClr val="tx1"/>
                          </a:solidFill>
                        </a:rPr>
                        <a:t>SUB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7162800" y="1066800"/>
            <a:ext cx="2660650" cy="3213102"/>
            <a:chOff x="1258888" y="3975100"/>
            <a:chExt cx="2660650" cy="2333625"/>
          </a:xfrm>
        </p:grpSpPr>
        <p:sp>
          <p:nvSpPr>
            <p:cNvPr id="17" name="Freeform 9"/>
            <p:cNvSpPr>
              <a:spLocks/>
            </p:cNvSpPr>
            <p:nvPr>
              <p:custDataLst>
                <p:tags r:id="rId1"/>
              </p:custDataLst>
            </p:nvPr>
          </p:nvSpPr>
          <p:spPr bwMode="blackWhite">
            <a:xfrm>
              <a:off x="1258888" y="5835650"/>
              <a:ext cx="2660650" cy="473075"/>
            </a:xfrm>
            <a:custGeom>
              <a:avLst/>
              <a:gdLst>
                <a:gd name="T0" fmla="*/ 2147483647 w 2676"/>
                <a:gd name="T1" fmla="*/ 0 h 484"/>
                <a:gd name="T2" fmla="*/ 0 w 2676"/>
                <a:gd name="T3" fmla="*/ 2147483647 h 484"/>
                <a:gd name="T4" fmla="*/ 2147483647 w 2676"/>
                <a:gd name="T5" fmla="*/ 2147483647 h 484"/>
                <a:gd name="T6" fmla="*/ 2147483647 w 2676"/>
                <a:gd name="T7" fmla="*/ 0 h 484"/>
                <a:gd name="T8" fmla="*/ 2147483647 w 2676"/>
                <a:gd name="T9" fmla="*/ 0 h 4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76"/>
                <a:gd name="T16" fmla="*/ 0 h 484"/>
                <a:gd name="T17" fmla="*/ 2676 w 2676"/>
                <a:gd name="T18" fmla="*/ 484 h 4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76" h="484">
                  <a:moveTo>
                    <a:pt x="271" y="0"/>
                  </a:moveTo>
                  <a:lnTo>
                    <a:pt x="0" y="483"/>
                  </a:lnTo>
                  <a:lnTo>
                    <a:pt x="2675" y="483"/>
                  </a:lnTo>
                  <a:lnTo>
                    <a:pt x="2404" y="0"/>
                  </a:lnTo>
                  <a:lnTo>
                    <a:pt x="271" y="0"/>
                  </a:lnTo>
                </a:path>
              </a:pathLst>
            </a:custGeom>
            <a:solidFill>
              <a:schemeClr val="accent1"/>
            </a:solidFill>
            <a:ln w="12700" cap="rnd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lIns="36000" tIns="36000" rIns="36000" bIns="36000" anchor="ctr" anchorCtr="0">
              <a:noAutofit/>
            </a:bodyPr>
            <a:lstStyle/>
            <a:p>
              <a:pPr algn="ctr"/>
              <a:r>
                <a:rPr lang="en-US" altLang="zh-CN" sz="1000" dirty="0" smtClean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2"/>
                  <a:cs typeface="Arial Unicode MS" pitchFamily="34" charset="-122"/>
                </a:rPr>
                <a:t>Loan and Property Database</a:t>
              </a:r>
              <a:endParaRPr lang="en-US" sz="1000" dirty="0">
                <a:solidFill>
                  <a:schemeClr val="bg1"/>
                </a:solidFill>
                <a:latin typeface="Calibri" panose="020F0502020204030204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8" name="Freeform 10"/>
            <p:cNvSpPr>
              <a:spLocks/>
            </p:cNvSpPr>
            <p:nvPr>
              <p:custDataLst>
                <p:tags r:id="rId2"/>
              </p:custDataLst>
            </p:nvPr>
          </p:nvSpPr>
          <p:spPr bwMode="blackWhite">
            <a:xfrm>
              <a:off x="2122488" y="3975100"/>
              <a:ext cx="935037" cy="819150"/>
            </a:xfrm>
            <a:custGeom>
              <a:avLst/>
              <a:gdLst>
                <a:gd name="T0" fmla="*/ 0 w 939"/>
                <a:gd name="T1" fmla="*/ 818174 h 839"/>
                <a:gd name="T2" fmla="*/ 1011746 w 939"/>
                <a:gd name="T3" fmla="*/ 818174 h 839"/>
                <a:gd name="T4" fmla="*/ 505873 w 939"/>
                <a:gd name="T5" fmla="*/ 0 h 839"/>
                <a:gd name="T6" fmla="*/ 0 w 939"/>
                <a:gd name="T7" fmla="*/ 818174 h 8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9"/>
                <a:gd name="T13" fmla="*/ 0 h 839"/>
                <a:gd name="T14" fmla="*/ 939 w 939"/>
                <a:gd name="T15" fmla="*/ 839 h 8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9" h="839">
                  <a:moveTo>
                    <a:pt x="0" y="838"/>
                  </a:moveTo>
                  <a:lnTo>
                    <a:pt x="938" y="838"/>
                  </a:lnTo>
                  <a:lnTo>
                    <a:pt x="469" y="0"/>
                  </a:lnTo>
                  <a:lnTo>
                    <a:pt x="0" y="838"/>
                  </a:lnTo>
                </a:path>
              </a:pathLst>
            </a:custGeom>
            <a:solidFill>
              <a:schemeClr val="accent3">
                <a:lumMod val="75000"/>
              </a:schemeClr>
            </a:solidFill>
            <a:ln w="12700" cap="rnd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lIns="36000" tIns="288000" rIns="36000" bIns="36000" anchor="ctr" anchorCtr="0">
              <a:noAutofit/>
            </a:bodyPr>
            <a:lstStyle/>
            <a:p>
              <a:pPr algn="ctr">
                <a:lnSpc>
                  <a:spcPct val="106000"/>
                </a:lnSpc>
              </a:pPr>
              <a:r>
                <a:rPr lang="en-US" altLang="zh-CN" sz="100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2"/>
                  <a:cs typeface="Arial Unicode MS" pitchFamily="34" charset="-122"/>
                </a:rPr>
                <a:t>Loan </a:t>
              </a:r>
              <a:endParaRPr lang="en-US" altLang="zh-CN" sz="1000" dirty="0" smtClean="0">
                <a:solidFill>
                  <a:schemeClr val="bg1"/>
                </a:solidFill>
                <a:latin typeface="Calibri" panose="020F0502020204030204" pitchFamily="34" charset="0"/>
                <a:ea typeface="Arial Unicode MS" pitchFamily="34" charset="-122"/>
                <a:cs typeface="Arial Unicode MS" pitchFamily="34" charset="-122"/>
              </a:endParaRPr>
            </a:p>
            <a:p>
              <a:pPr algn="ctr">
                <a:lnSpc>
                  <a:spcPct val="106000"/>
                </a:lnSpc>
              </a:pPr>
              <a:r>
                <a:rPr lang="en-US" altLang="zh-CN" sz="1000" dirty="0" smtClean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2"/>
                  <a:cs typeface="Arial Unicode MS" pitchFamily="34" charset="-122"/>
                </a:rPr>
                <a:t>Outcome </a:t>
              </a:r>
              <a:r>
                <a:rPr lang="en-US" altLang="zh-CN" sz="100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2"/>
                  <a:cs typeface="Arial Unicode MS" pitchFamily="34" charset="-122"/>
                </a:rPr>
                <a:t>Projection</a:t>
              </a:r>
            </a:p>
          </p:txBody>
        </p:sp>
        <p:sp>
          <p:nvSpPr>
            <p:cNvPr id="19" name="Freeform 11"/>
            <p:cNvSpPr>
              <a:spLocks/>
            </p:cNvSpPr>
            <p:nvPr>
              <p:custDataLst>
                <p:tags r:id="rId3"/>
              </p:custDataLst>
            </p:nvPr>
          </p:nvSpPr>
          <p:spPr bwMode="blackWhite">
            <a:xfrm>
              <a:off x="1825625" y="4794250"/>
              <a:ext cx="1527175" cy="520700"/>
            </a:xfrm>
            <a:custGeom>
              <a:avLst/>
              <a:gdLst>
                <a:gd name="T0" fmla="*/ 0 w 1536"/>
                <a:gd name="T1" fmla="*/ 519723 h 533"/>
                <a:gd name="T2" fmla="*/ 1653098 w 1536"/>
                <a:gd name="T3" fmla="*/ 519723 h 533"/>
                <a:gd name="T4" fmla="*/ 1332171 w 1536"/>
                <a:gd name="T5" fmla="*/ 0 h 533"/>
                <a:gd name="T6" fmla="*/ 322004 w 1536"/>
                <a:gd name="T7" fmla="*/ 0 h 533"/>
                <a:gd name="T8" fmla="*/ 0 w 1536"/>
                <a:gd name="T9" fmla="*/ 519723 h 5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533"/>
                <a:gd name="T17" fmla="*/ 1536 w 1536"/>
                <a:gd name="T18" fmla="*/ 533 h 5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533">
                  <a:moveTo>
                    <a:pt x="0" y="532"/>
                  </a:moveTo>
                  <a:lnTo>
                    <a:pt x="1535" y="532"/>
                  </a:lnTo>
                  <a:lnTo>
                    <a:pt x="1237" y="0"/>
                  </a:lnTo>
                  <a:lnTo>
                    <a:pt x="299" y="0"/>
                  </a:lnTo>
                  <a:lnTo>
                    <a:pt x="0" y="532"/>
                  </a:lnTo>
                </a:path>
              </a:pathLst>
            </a:custGeom>
            <a:solidFill>
              <a:schemeClr val="accent5"/>
            </a:solidFill>
            <a:ln w="12700" cap="rnd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lIns="36000" tIns="36000" rIns="36000" bIns="36000" anchor="ctr" anchorCtr="0">
              <a:noAutofit/>
            </a:bodyPr>
            <a:lstStyle/>
            <a:p>
              <a:pPr algn="ctr">
                <a:defRPr/>
              </a:pPr>
              <a:r>
                <a:rPr lang="en-US" altLang="zh-CN" sz="1000" dirty="0" smtClean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2"/>
                  <a:cs typeface="Arial Unicode MS" pitchFamily="34" charset="-122"/>
                </a:rPr>
                <a:t>CRE and Credit Model Assumptions</a:t>
              </a:r>
              <a:endParaRPr lang="en-US" sz="1000" dirty="0">
                <a:solidFill>
                  <a:schemeClr val="bg1"/>
                </a:solidFill>
                <a:latin typeface="Calibri" panose="020F0502020204030204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0" name="Freeform 12"/>
            <p:cNvSpPr>
              <a:spLocks/>
            </p:cNvSpPr>
            <p:nvPr>
              <p:custDataLst>
                <p:tags r:id="rId4"/>
              </p:custDataLst>
            </p:nvPr>
          </p:nvSpPr>
          <p:spPr bwMode="blackWhite">
            <a:xfrm>
              <a:off x="1528763" y="5313363"/>
              <a:ext cx="2120900" cy="523875"/>
            </a:xfrm>
            <a:custGeom>
              <a:avLst/>
              <a:gdLst>
                <a:gd name="T0" fmla="*/ 2147483647 w 2134"/>
                <a:gd name="T1" fmla="*/ 0 h 535"/>
                <a:gd name="T2" fmla="*/ 0 w 2134"/>
                <a:gd name="T3" fmla="*/ 2147483647 h 535"/>
                <a:gd name="T4" fmla="*/ 2147483647 w 2134"/>
                <a:gd name="T5" fmla="*/ 2147483647 h 535"/>
                <a:gd name="T6" fmla="*/ 2147483647 w 2134"/>
                <a:gd name="T7" fmla="*/ 0 h 535"/>
                <a:gd name="T8" fmla="*/ 2147483647 w 2134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34"/>
                <a:gd name="T16" fmla="*/ 0 h 535"/>
                <a:gd name="T17" fmla="*/ 2134 w 2134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34" h="535">
                  <a:moveTo>
                    <a:pt x="299" y="0"/>
                  </a:moveTo>
                  <a:lnTo>
                    <a:pt x="0" y="534"/>
                  </a:lnTo>
                  <a:lnTo>
                    <a:pt x="2133" y="534"/>
                  </a:lnTo>
                  <a:lnTo>
                    <a:pt x="1834" y="0"/>
                  </a:lnTo>
                  <a:lnTo>
                    <a:pt x="299" y="0"/>
                  </a:lnTo>
                </a:path>
              </a:pathLst>
            </a:custGeom>
            <a:solidFill>
              <a:schemeClr val="accent2"/>
            </a:solidFill>
            <a:ln w="12700" cap="rnd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lIns="36000" tIns="36000" rIns="36000" bIns="36000" anchor="ctr" anchorCtr="0">
              <a:noAutofit/>
            </a:bodyPr>
            <a:lstStyle/>
            <a:p>
              <a:pPr algn="ctr"/>
              <a:r>
                <a:rPr lang="en-US" sz="1000" dirty="0" smtClean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2"/>
                  <a:cs typeface="Arial Unicode MS" pitchFamily="34" charset="-122"/>
                </a:rPr>
                <a:t>Loan-Level Review</a:t>
              </a:r>
              <a:endParaRPr lang="en-US" sz="1000" dirty="0">
                <a:solidFill>
                  <a:schemeClr val="bg1"/>
                </a:solidFill>
                <a:latin typeface="Calibri" panose="020F0502020204030204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34" name="Isosceles Triangle 33"/>
          <p:cNvSpPr/>
          <p:nvPr/>
        </p:nvSpPr>
        <p:spPr>
          <a:xfrm rot="5400000">
            <a:off x="5762678" y="2892757"/>
            <a:ext cx="2530144" cy="2441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438400" y="1170801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CRE Model</a:t>
            </a:r>
            <a:endParaRPr lang="en-US" sz="1200" b="1" dirty="0"/>
          </a:p>
        </p:txBody>
      </p:sp>
      <p:grpSp>
        <p:nvGrpSpPr>
          <p:cNvPr id="42" name="Group 41"/>
          <p:cNvGrpSpPr/>
          <p:nvPr/>
        </p:nvGrpSpPr>
        <p:grpSpPr>
          <a:xfrm>
            <a:off x="2514600" y="1447800"/>
            <a:ext cx="4424251" cy="2917686"/>
            <a:chOff x="2743200" y="1708150"/>
            <a:chExt cx="4195651" cy="2657336"/>
          </a:xfrm>
        </p:grpSpPr>
        <p:sp>
          <p:nvSpPr>
            <p:cNvPr id="23" name="Rectangle 22"/>
            <p:cNvSpPr/>
            <p:nvPr/>
          </p:nvSpPr>
          <p:spPr>
            <a:xfrm>
              <a:off x="2743200" y="2394567"/>
              <a:ext cx="3962400" cy="64877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743200" y="3052079"/>
              <a:ext cx="3962400" cy="64679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743200" y="3707606"/>
              <a:ext cx="3962400" cy="58051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1737055"/>
              <a:ext cx="3962400" cy="64877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743200" y="1737055"/>
              <a:ext cx="4191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/>
                <a:t>Loan Outcome Projection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Outcome and loss estimates for each loan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Outcomes include: - Payoff  - term Default  - Maturity Default  - Extension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Multi-scenario analysis</a:t>
              </a:r>
              <a:endParaRPr lang="en-US" sz="10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43200" y="2393864"/>
              <a:ext cx="4191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CRE and Credit Model Assumptions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NCF growth curves and Cap Rate projections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Default triggers (e.g. DSCR levels)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Extension parameters</a:t>
              </a:r>
              <a:endParaRPr lang="en-US" sz="10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47851" y="3041150"/>
              <a:ext cx="4191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/>
                <a:t>Loan-Level Review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Quantitative process for vetting NCF inconsistencies for all loans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Qualitative underwriting review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Assign Property grades to all loans based on Location / Condition / Size</a:t>
              </a:r>
              <a:endParaRPr lang="en-US" sz="10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47851" y="3657600"/>
              <a:ext cx="4191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/>
                <a:t>Loan and Property Database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Over 600 CMBS deals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~75k properties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~58k loans</a:t>
              </a:r>
              <a:endParaRPr lang="en-US" sz="10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29200" y="2667000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Workout Periods/Costs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Other model parameters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29200" y="3907060"/>
              <a:ext cx="1676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smtClean="0"/>
                <a:t>Directly sourced from servicers and trustees 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2747851" y="1708150"/>
              <a:ext cx="395774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Isosceles Triangle 39"/>
          <p:cNvSpPr/>
          <p:nvPr/>
        </p:nvSpPr>
        <p:spPr>
          <a:xfrm rot="10800000">
            <a:off x="3657601" y="4540248"/>
            <a:ext cx="4572000" cy="1841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6824395" y="2514600"/>
            <a:ext cx="323165" cy="1066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900" dirty="0" smtClean="0">
                <a:solidFill>
                  <a:schemeClr val="bg1"/>
                </a:solidFill>
              </a:rPr>
              <a:t>Bottom-Up Analysis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128260" y="4502148"/>
            <a:ext cx="16427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Passing of Income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38400" y="4808220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Bond Cash Flow Projection</a:t>
            </a:r>
            <a:endParaRPr lang="en-US" sz="1200" b="1" dirty="0"/>
          </a:p>
        </p:txBody>
      </p:sp>
      <p:cxnSp>
        <p:nvCxnSpPr>
          <p:cNvPr id="46" name="Straight Connector 45"/>
          <p:cNvCxnSpPr/>
          <p:nvPr/>
        </p:nvCxnSpPr>
        <p:spPr>
          <a:xfrm>
            <a:off x="2506228" y="5085219"/>
            <a:ext cx="417338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10800000">
            <a:off x="3657601" y="5753100"/>
            <a:ext cx="4572000" cy="18415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2464385" y="6019800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Understanding Themes</a:t>
            </a:r>
            <a:endParaRPr lang="en-US" sz="1200" b="1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2532213" y="6296799"/>
            <a:ext cx="417338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590800" y="6400800"/>
            <a:ext cx="6962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Update</a:t>
            </a:r>
            <a:endParaRPr lang="en-US" sz="1200" dirty="0"/>
          </a:p>
        </p:txBody>
      </p:sp>
      <p:sp>
        <p:nvSpPr>
          <p:cNvPr id="54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258365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CRE model uses a bottom-up approach to analyzing commercial mortgage back securities.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The model is built on loan-level data and a forward-looking deterministic modeling framework.</a:t>
            </a:r>
            <a:endParaRPr lang="en-US" sz="1100" dirty="0" smtClean="0"/>
          </a:p>
        </p:txBody>
      </p:sp>
    </p:spTree>
    <p:extLst>
      <p:ext uri="{BB962C8B-B14F-4D97-AF65-F5344CB8AC3E}">
        <p14:creationId xmlns:p14="http://schemas.microsoft.com/office/powerpoint/2010/main" val="347081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0" grpId="0" animBg="1"/>
      <p:bldP spid="44" grpId="0"/>
      <p:bldP spid="45" grpId="0"/>
      <p:bldP spid="49" grpId="0" animBg="1"/>
      <p:bldP spid="51" grpId="0"/>
      <p:bldP spid="5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ED2H2HNpE.nhj8gtT5Ss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Fqw6ObvsE.Uv6ubMZS6Q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6ZgcsggEW9ZwhL2jcV.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pke.q3MRk.rxVEJ5Ati6A"/>
</p:tagLst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3188</TotalTime>
  <Words>162</Words>
  <Application>Microsoft Office PowerPoint</Application>
  <PresentationFormat>Custom</PresentationFormat>
  <Paragraphs>40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CRE Modeling  Modeling framework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367</cp:revision>
  <cp:lastPrinted>2015-06-19T12:14:16Z</cp:lastPrinted>
  <dcterms:created xsi:type="dcterms:W3CDTF">2015-05-21T20:34:11Z</dcterms:created>
  <dcterms:modified xsi:type="dcterms:W3CDTF">2015-06-30T18:22:55Z</dcterms:modified>
</cp:coreProperties>
</file>