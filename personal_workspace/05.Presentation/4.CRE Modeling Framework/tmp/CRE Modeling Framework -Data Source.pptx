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18" r:id="rId2"/>
  </p:sldIdLst>
  <p:sldSz cx="10058400" cy="7772400"/>
  <p:notesSz cx="7010400" cy="92964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A60"/>
    <a:srgbClr val="DFF5EB"/>
    <a:srgbClr val="C6642E"/>
    <a:srgbClr val="F4E0D0"/>
    <a:srgbClr val="C7732D"/>
    <a:srgbClr val="002060"/>
    <a:srgbClr val="2E3989"/>
    <a:srgbClr val="533D2D"/>
    <a:srgbClr val="592E8A"/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3" autoAdjust="0"/>
    <p:restoredTop sz="94660" autoAdjust="0"/>
  </p:normalViewPr>
  <p:slideViewPr>
    <p:cSldViewPr showGuides="1">
      <p:cViewPr>
        <p:scale>
          <a:sx n="150" d="100"/>
          <a:sy n="150" d="100"/>
        </p:scale>
        <p:origin x="-432" y="72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0" d="100"/>
          <a:sy n="80" d="100"/>
        </p:scale>
        <p:origin x="-1974" y="-78"/>
      </p:cViewPr>
      <p:guideLst>
        <p:guide orient="horz" pos="2904"/>
        <p:guide orient="horz" pos="2928"/>
        <p:guide pos="2184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6/30/2015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6/30/2015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696913"/>
            <a:ext cx="45116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9" tIns="46585" rIns="93169" bIns="4658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69" tIns="46585" rIns="93169" bIns="46585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 userDrawn="1"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slideLayout" Target="../slideLayouts/slideLayout14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/>
          <p:cNvSpPr/>
          <p:nvPr/>
        </p:nvSpPr>
        <p:spPr>
          <a:xfrm>
            <a:off x="2574421" y="5334000"/>
            <a:ext cx="6950579" cy="838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 rot="16200000">
            <a:off x="3475712" y="2213545"/>
            <a:ext cx="1205170" cy="25833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/>
          <a:lstStyle/>
          <a:p>
            <a:pPr algn="ctr">
              <a:defRPr/>
            </a:pPr>
            <a:endParaRPr lang="en-US" sz="10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 rot="16200000">
            <a:off x="3479458" y="863519"/>
            <a:ext cx="1205170" cy="25833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/>
          <a:lstStyle/>
          <a:p>
            <a:pPr algn="ctr">
              <a:defRPr/>
            </a:pPr>
            <a:endParaRPr lang="en-US" sz="10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 rot="16200000">
            <a:off x="7511417" y="2213287"/>
            <a:ext cx="1205170" cy="25833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/>
          <a:lstStyle/>
          <a:p>
            <a:pPr algn="ctr">
              <a:defRPr/>
            </a:pPr>
            <a:endParaRPr lang="en-US" sz="10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 rot="16200000">
            <a:off x="7511418" y="863520"/>
            <a:ext cx="1205170" cy="25833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/>
          <a:lstStyle/>
          <a:p>
            <a:pPr algn="ctr">
              <a:defRPr/>
            </a:pPr>
            <a:endParaRPr lang="en-US" sz="10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 rot="16200000">
            <a:off x="4775709" y="2213282"/>
            <a:ext cx="1205170" cy="25833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/>
          <a:lstStyle/>
          <a:p>
            <a:pPr algn="ctr">
              <a:defRPr/>
            </a:pPr>
            <a:endParaRPr lang="en-US" sz="10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 rot="16200000">
            <a:off x="4775710" y="863519"/>
            <a:ext cx="1205170" cy="25833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/>
          <a:lstStyle/>
          <a:p>
            <a:pPr algn="ctr">
              <a:defRPr/>
            </a:pPr>
            <a:endParaRPr lang="en-US" sz="10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CMBS Modeling</a:t>
            </a:r>
            <a:br>
              <a:rPr lang="en-US" dirty="0"/>
            </a:br>
            <a:r>
              <a:rPr lang="en-US" dirty="0" smtClean="0"/>
              <a:t>Data Sources</a:t>
            </a:r>
            <a:endParaRPr lang="en-US" dirty="0"/>
          </a:p>
        </p:txBody>
      </p:sp>
      <p:graphicFrame>
        <p:nvGraphicFramePr>
          <p:cNvPr id="85" name="Content Placeholder 8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7887317"/>
              </p:ext>
            </p:extLst>
          </p:nvPr>
        </p:nvGraphicFramePr>
        <p:xfrm>
          <a:off x="2574421" y="5029200"/>
          <a:ext cx="6922419" cy="2011681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2988179"/>
                <a:gridCol w="838200"/>
                <a:gridCol w="838200"/>
                <a:gridCol w="685800"/>
                <a:gridCol w="1572040"/>
              </a:tblGrid>
              <a:tr h="28738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Loan Level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Detail</a:t>
                      </a:r>
                      <a:r>
                        <a:rPr lang="en-US" sz="1000" baseline="0" dirty="0" smtClean="0"/>
                        <a:t> Info.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Historical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Comment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marL="0" marR="0" indent="0" algn="l" defTabSz="10188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/>
                        <a:t>Trepp’s</a:t>
                      </a:r>
                      <a:r>
                        <a:rPr lang="en-US" sz="1000" dirty="0" smtClean="0"/>
                        <a:t> CMBS Deal Library</a:t>
                      </a:r>
                      <a:endParaRPr 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Loan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2000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Largest CMBS DB 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87383">
                <a:tc>
                  <a:txBody>
                    <a:bodyPr/>
                    <a:lstStyle/>
                    <a:p>
                      <a:pPr marL="0" marR="0" indent="0" algn="l" defTabSz="10188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American Council of Life Insurers (ACLI)</a:t>
                      </a:r>
                      <a:endParaRPr 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Aggregate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1965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Longest History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87383">
                <a:tc>
                  <a:txBody>
                    <a:bodyPr/>
                    <a:lstStyle/>
                    <a:p>
                      <a:pPr marL="0" marR="0" indent="0" algn="l" defTabSz="10188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Federal Deposit Insurance Corporation (FDIC)</a:t>
                      </a:r>
                      <a:endParaRPr 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Loan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1992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Cover largest</a:t>
                      </a:r>
                      <a:r>
                        <a:rPr lang="en-US" sz="1000" baseline="0" dirty="0" smtClean="0"/>
                        <a:t> players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87383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National</a:t>
                      </a:r>
                      <a:r>
                        <a:rPr lang="en-US" sz="1000" baseline="0" dirty="0" smtClean="0"/>
                        <a:t> Council of Real Estate Investment Fiduciaries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Aggregate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1978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Widely</a:t>
                      </a:r>
                      <a:r>
                        <a:rPr lang="en-US" sz="1000" baseline="0" dirty="0" smtClean="0"/>
                        <a:t> Regarded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87383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CB Richard Ellis Econometric Advisors (CBRE EA)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Aggregate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1980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87383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Real</a:t>
                      </a:r>
                      <a:r>
                        <a:rPr lang="en-US" sz="1000" baseline="0" dirty="0" smtClean="0"/>
                        <a:t> Capital Analytics (RCA)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Loan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2000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Line 3"/>
          <p:cNvSpPr>
            <a:spLocks noChangeShapeType="1"/>
          </p:cNvSpPr>
          <p:nvPr/>
        </p:nvSpPr>
        <p:spPr bwMode="auto">
          <a:xfrm flipH="1">
            <a:off x="6743336" y="1293391"/>
            <a:ext cx="0" cy="3128218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stealth" w="med" len="med"/>
            <a:tailEnd type="stealth" w="med" len="med"/>
          </a:ln>
        </p:spPr>
        <p:txBody>
          <a:bodyPr wrap="none" lIns="36000" tIns="36000" rIns="36000" anchor="ctr"/>
          <a:lstStyle/>
          <a:p>
            <a:endParaRPr lang="en-US" sz="100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2786642" y="2824211"/>
            <a:ext cx="6619016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stealth" w="med" len="med"/>
            <a:tailEnd type="stealth" w="med" len="med"/>
          </a:ln>
        </p:spPr>
        <p:txBody>
          <a:bodyPr wrap="none" lIns="36000" tIns="36000" rIns="36000" anchor="ctr"/>
          <a:lstStyle/>
          <a:p>
            <a:endParaRPr lang="en-US" sz="100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2" name="Text Placeholder 12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2362200" y="2717073"/>
            <a:ext cx="424442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>
            <a:spAutoFit/>
          </a:bodyPr>
          <a:lstStyle/>
          <a:p>
            <a:pPr algn="ctr" defTabSz="1019175">
              <a:spcAft>
                <a:spcPts val="300"/>
              </a:spcAft>
            </a:pPr>
            <a:r>
              <a:rPr lang="en-US" altLang="zh-CN" sz="10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Debt</a:t>
            </a:r>
            <a:endParaRPr lang="en-US" sz="10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3" name="Text Placeholder 12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9405658" y="2717073"/>
            <a:ext cx="468757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>
            <a:spAutoFit/>
          </a:bodyPr>
          <a:lstStyle/>
          <a:p>
            <a:pPr algn="ctr" defTabSz="1019175">
              <a:spcAft>
                <a:spcPts val="300"/>
              </a:spcAft>
            </a:pPr>
            <a:r>
              <a:rPr lang="en-US" altLang="zh-CN" sz="10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Equity</a:t>
            </a:r>
            <a:endParaRPr lang="en-US" sz="10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4" name="Text Placeholder 12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533231" y="1066800"/>
            <a:ext cx="424442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>
            <a:spAutoFit/>
          </a:bodyPr>
          <a:lstStyle/>
          <a:p>
            <a:pPr algn="ctr" defTabSz="1019175">
              <a:spcAft>
                <a:spcPts val="300"/>
              </a:spcAft>
            </a:pPr>
            <a:r>
              <a:rPr lang="en-US" altLang="zh-CN" sz="10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Public</a:t>
            </a:r>
            <a:endParaRPr lang="en-US" sz="10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5" name="Text Placeholder 12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448839" y="4421609"/>
            <a:ext cx="609599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>
            <a:spAutoFit/>
          </a:bodyPr>
          <a:lstStyle/>
          <a:p>
            <a:pPr algn="ctr" defTabSz="1019175">
              <a:spcAft>
                <a:spcPts val="300"/>
              </a:spcAft>
            </a:pPr>
            <a:r>
              <a:rPr lang="en-US" altLang="zh-CN" sz="10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Private</a:t>
            </a:r>
            <a:endParaRPr lang="en-US" sz="10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6812867" y="1546236"/>
            <a:ext cx="1296249" cy="121152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/>
          <a:lstStyle/>
          <a:p>
            <a:pPr algn="ctr">
              <a:defRPr/>
            </a:pPr>
            <a:endParaRPr lang="en-US" sz="10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5373697" y="1546236"/>
            <a:ext cx="1296249" cy="121152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/>
          <a:lstStyle/>
          <a:p>
            <a:pPr algn="ctr">
              <a:defRPr/>
            </a:pPr>
            <a:endParaRPr lang="en-US" sz="10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6812867" y="2895998"/>
            <a:ext cx="1296249" cy="121152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/>
          <a:lstStyle/>
          <a:p>
            <a:pPr algn="ctr">
              <a:defRPr/>
            </a:pPr>
            <a:endParaRPr lang="en-US" sz="10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5373697" y="2895998"/>
            <a:ext cx="1296249" cy="121152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/>
          <a:lstStyle/>
          <a:p>
            <a:pPr algn="ctr">
              <a:defRPr/>
            </a:pPr>
            <a:endParaRPr lang="en-US" sz="10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31493" y="1545102"/>
            <a:ext cx="1296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ja-JP" sz="1000" dirty="0">
                <a:solidFill>
                  <a:schemeClr val="bg1"/>
                </a:solidFill>
                <a:ea typeface="Arial Unicode MS" pitchFamily="34" charset="-122"/>
                <a:cs typeface="Arial Unicode MS" pitchFamily="34" charset="-122"/>
              </a:rPr>
              <a:t>Commercial Mortgage Backed Securities (CMBS)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6753639" y="1545102"/>
            <a:ext cx="14026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ja-JP" sz="1000" dirty="0">
                <a:solidFill>
                  <a:schemeClr val="bg1"/>
                </a:solidFill>
                <a:ea typeface="Arial Unicode MS" pitchFamily="34" charset="-122"/>
                <a:cs typeface="Arial Unicode MS" pitchFamily="34" charset="-122"/>
              </a:rPr>
              <a:t>REIT Stocks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ja-JP" sz="1000" dirty="0">
                <a:solidFill>
                  <a:schemeClr val="bg1"/>
                </a:solidFill>
                <a:ea typeface="Arial Unicode MS" pitchFamily="34" charset="-122"/>
                <a:cs typeface="Arial Unicode MS" pitchFamily="34" charset="-122"/>
              </a:rPr>
              <a:t>Publicly Traded Real Estate Property Companies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ja-JP" sz="1000" dirty="0">
                <a:solidFill>
                  <a:schemeClr val="bg1"/>
                </a:solidFill>
                <a:ea typeface="Arial Unicode MS" pitchFamily="34" charset="-122"/>
                <a:cs typeface="Arial Unicode MS" pitchFamily="34" charset="-122"/>
              </a:rPr>
              <a:t>Real Estate Mutual Funds</a:t>
            </a:r>
            <a:endParaRPr lang="en-GB" altLang="ja-JP" sz="1000" dirty="0">
              <a:solidFill>
                <a:schemeClr val="bg1"/>
              </a:solidFill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333975" y="2898476"/>
            <a:ext cx="13359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ja-JP" sz="1000" dirty="0">
                <a:solidFill>
                  <a:schemeClr val="bg1"/>
                </a:solidFill>
                <a:ea typeface="Arial Unicode MS" pitchFamily="34" charset="-122"/>
                <a:cs typeface="Arial Unicode MS" pitchFamily="34" charset="-122"/>
              </a:rPr>
              <a:t>Senior Loans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ja-JP" sz="1000" dirty="0">
                <a:solidFill>
                  <a:schemeClr val="bg1"/>
                </a:solidFill>
                <a:ea typeface="Arial Unicode MS" pitchFamily="34" charset="-122"/>
                <a:cs typeface="Arial Unicode MS" pitchFamily="34" charset="-122"/>
              </a:rPr>
              <a:t>Mezzanine Debt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ja-JP" sz="1000" dirty="0">
                <a:solidFill>
                  <a:schemeClr val="bg1"/>
                </a:solidFill>
                <a:ea typeface="Arial Unicode MS" pitchFamily="34" charset="-122"/>
                <a:cs typeface="Arial Unicode MS" pitchFamily="34" charset="-122"/>
              </a:rPr>
              <a:t>Whole Loans Mortgage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4741" y="2898476"/>
            <a:ext cx="14026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chemeClr val="bg1"/>
                </a:solidFill>
                <a:ea typeface="Arial Unicode MS" pitchFamily="34" charset="-122"/>
                <a:cs typeface="Arial Unicode MS" pitchFamily="34" charset="-122"/>
              </a:rPr>
              <a:t>Open and Closed End Funds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000" dirty="0">
                <a:solidFill>
                  <a:schemeClr val="bg1"/>
                </a:solidFill>
                <a:ea typeface="Arial Unicode MS" pitchFamily="34" charset="-122"/>
                <a:cs typeface="Arial Unicode MS" pitchFamily="34" charset="-122"/>
              </a:rPr>
              <a:t>Separate Account/Direct Investments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ja-JP" sz="1000" dirty="0">
                <a:solidFill>
                  <a:schemeClr val="bg1"/>
                </a:solidFill>
                <a:ea typeface="Arial Unicode MS" pitchFamily="34" charset="-122"/>
                <a:cs typeface="Arial Unicode MS" pitchFamily="34" charset="-122"/>
              </a:rPr>
              <a:t>Non-Traded </a:t>
            </a:r>
            <a:r>
              <a:rPr lang="en-GB" altLang="ja-JP" sz="1000" dirty="0" smtClean="0">
                <a:solidFill>
                  <a:schemeClr val="bg1"/>
                </a:solidFill>
                <a:ea typeface="Arial Unicode MS" pitchFamily="34" charset="-122"/>
                <a:cs typeface="Arial Unicode MS" pitchFamily="34" charset="-122"/>
              </a:rPr>
              <a:t>REIT</a:t>
            </a:r>
            <a:endParaRPr lang="en-GB" altLang="ja-JP" sz="1000" dirty="0">
              <a:solidFill>
                <a:schemeClr val="bg1"/>
              </a:solidFill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010439" y="2898476"/>
            <a:ext cx="1447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Commercial Banks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Insurance companies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Mezzanine Lenders</a:t>
            </a:r>
            <a:endParaRPr lang="en-US" sz="1000" dirty="0"/>
          </a:p>
        </p:txBody>
      </p:sp>
      <p:sp>
        <p:nvSpPr>
          <p:cNvPr id="33" name="TextBox 32"/>
          <p:cNvSpPr txBox="1"/>
          <p:nvPr/>
        </p:nvSpPr>
        <p:spPr>
          <a:xfrm rot="16200000">
            <a:off x="4560891" y="1070850"/>
            <a:ext cx="338554" cy="128705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Securitized Lenders</a:t>
            </a:r>
            <a:endParaRPr lang="en-US" sz="1000" dirty="0"/>
          </a:p>
        </p:txBody>
      </p:sp>
      <p:sp>
        <p:nvSpPr>
          <p:cNvPr id="47" name="TextBox 46"/>
          <p:cNvSpPr txBox="1"/>
          <p:nvPr/>
        </p:nvSpPr>
        <p:spPr>
          <a:xfrm>
            <a:off x="8049039" y="1545102"/>
            <a:ext cx="1447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Institutional investors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Pension funds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Hedge Funds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Public Equity REITs</a:t>
            </a:r>
            <a:endParaRPr lang="en-US" sz="1000" dirty="0"/>
          </a:p>
        </p:txBody>
      </p:sp>
      <p:sp>
        <p:nvSpPr>
          <p:cNvPr id="48" name="TextBox 47"/>
          <p:cNvSpPr txBox="1"/>
          <p:nvPr/>
        </p:nvSpPr>
        <p:spPr>
          <a:xfrm>
            <a:off x="8049039" y="2898476"/>
            <a:ext cx="1447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Private Local Investors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Private REITs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15039" y="2898476"/>
            <a:ext cx="144076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en-US" dirty="0"/>
              <a:t>American Council of Life Insurers (ACLI)</a:t>
            </a:r>
          </a:p>
          <a:p>
            <a:r>
              <a:rPr lang="en-US" dirty="0"/>
              <a:t>Federal </a:t>
            </a:r>
            <a:r>
              <a:rPr lang="en-US" dirty="0" smtClean="0"/>
              <a:t>Deposit </a:t>
            </a:r>
            <a:r>
              <a:rPr lang="en-US" dirty="0"/>
              <a:t>Insurance Corporation (FDIC)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2732624" y="1545102"/>
            <a:ext cx="1440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en-US" dirty="0" err="1"/>
              <a:t>Trepp’s</a:t>
            </a:r>
            <a:r>
              <a:rPr lang="en-US" dirty="0"/>
              <a:t> CMBS Deal Library</a:t>
            </a:r>
            <a:endParaRPr lang="en-US" dirty="0"/>
          </a:p>
        </p:txBody>
      </p:sp>
      <p:cxnSp>
        <p:nvCxnSpPr>
          <p:cNvPr id="69" name="Straight Connector 68"/>
          <p:cNvCxnSpPr/>
          <p:nvPr/>
        </p:nvCxnSpPr>
        <p:spPr>
          <a:xfrm flipV="1">
            <a:off x="2790388" y="1516965"/>
            <a:ext cx="86721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743200" y="1277779"/>
            <a:ext cx="1220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Empirical Data</a:t>
            </a:r>
            <a:endParaRPr lang="en-US" sz="1000" b="1" dirty="0"/>
          </a:p>
        </p:txBody>
      </p:sp>
      <p:cxnSp>
        <p:nvCxnSpPr>
          <p:cNvPr id="75" name="Straight Connector 74"/>
          <p:cNvCxnSpPr/>
          <p:nvPr/>
        </p:nvCxnSpPr>
        <p:spPr>
          <a:xfrm flipV="1">
            <a:off x="4085788" y="1532577"/>
            <a:ext cx="86721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038600" y="1293391"/>
            <a:ext cx="1220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Funding Source</a:t>
            </a:r>
            <a:endParaRPr lang="en-US" sz="1000" b="1" dirty="0"/>
          </a:p>
        </p:txBody>
      </p:sp>
      <p:cxnSp>
        <p:nvCxnSpPr>
          <p:cNvPr id="77" name="Straight Connector 76"/>
          <p:cNvCxnSpPr/>
          <p:nvPr/>
        </p:nvCxnSpPr>
        <p:spPr>
          <a:xfrm flipV="1">
            <a:off x="5381188" y="1530549"/>
            <a:ext cx="86721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334000" y="1291363"/>
            <a:ext cx="1220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Product Types</a:t>
            </a:r>
            <a:endParaRPr lang="en-US" sz="1000" b="1" dirty="0"/>
          </a:p>
        </p:txBody>
      </p:sp>
      <p:sp>
        <p:nvSpPr>
          <p:cNvPr id="79" name="Pentagon 78"/>
          <p:cNvSpPr/>
          <p:nvPr/>
        </p:nvSpPr>
        <p:spPr>
          <a:xfrm>
            <a:off x="5334851" y="3822161"/>
            <a:ext cx="227749" cy="278350"/>
          </a:xfrm>
          <a:prstGeom prst="homePlat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Pentagon 79"/>
          <p:cNvSpPr/>
          <p:nvPr/>
        </p:nvSpPr>
        <p:spPr>
          <a:xfrm>
            <a:off x="5331493" y="2479409"/>
            <a:ext cx="227749" cy="278350"/>
          </a:xfrm>
          <a:prstGeom prst="homePlat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Pentagon 80"/>
          <p:cNvSpPr/>
          <p:nvPr/>
        </p:nvSpPr>
        <p:spPr>
          <a:xfrm>
            <a:off x="4038600" y="3822161"/>
            <a:ext cx="227749" cy="278350"/>
          </a:xfrm>
          <a:prstGeom prst="homePlat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Pentagon 81"/>
          <p:cNvSpPr/>
          <p:nvPr/>
        </p:nvSpPr>
        <p:spPr>
          <a:xfrm>
            <a:off x="4038600" y="2479409"/>
            <a:ext cx="227749" cy="278350"/>
          </a:xfrm>
          <a:prstGeom prst="homePlat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Pentagon 82"/>
          <p:cNvSpPr/>
          <p:nvPr/>
        </p:nvSpPr>
        <p:spPr>
          <a:xfrm rot="10800000">
            <a:off x="7925651" y="3824545"/>
            <a:ext cx="227749" cy="278350"/>
          </a:xfrm>
          <a:prstGeom prst="homePlat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Pentagon 83"/>
          <p:cNvSpPr/>
          <p:nvPr/>
        </p:nvSpPr>
        <p:spPr>
          <a:xfrm rot="10800000">
            <a:off x="7922293" y="2469093"/>
            <a:ext cx="227749" cy="278350"/>
          </a:xfrm>
          <a:prstGeom prst="homePlat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>
            <a:spLocks noChangeAspect="1" noChangeArrowheads="1"/>
          </p:cNvSpPr>
          <p:nvPr/>
        </p:nvSpPr>
        <p:spPr bwMode="gray">
          <a:xfrm>
            <a:off x="6822348" y="5379720"/>
            <a:ext cx="137160" cy="137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en-US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grpSp>
        <p:nvGrpSpPr>
          <p:cNvPr id="87" name="Group 86"/>
          <p:cNvGrpSpPr/>
          <p:nvPr>
            <p:custDataLst>
              <p:tags r:id="rId5"/>
            </p:custDataLst>
          </p:nvPr>
        </p:nvGrpSpPr>
        <p:grpSpPr>
          <a:xfrm>
            <a:off x="6822421" y="5672074"/>
            <a:ext cx="137160" cy="137160"/>
            <a:chOff x="3183626" y="4744250"/>
            <a:chExt cx="360000" cy="358709"/>
          </a:xfrm>
        </p:grpSpPr>
        <p:sp>
          <p:nvSpPr>
            <p:cNvPr id="88" name="Oval 87"/>
            <p:cNvSpPr>
              <a:spLocks noChangeAspect="1" noChangeArrowheads="1"/>
            </p:cNvSpPr>
            <p:nvPr>
              <p:custDataLst>
                <p:tags r:id="rId18"/>
              </p:custDataLst>
            </p:nvPr>
          </p:nvSpPr>
          <p:spPr bwMode="gray">
            <a:xfrm>
              <a:off x="3183626" y="4744250"/>
              <a:ext cx="360000" cy="35870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9" name="Arc 26"/>
            <p:cNvSpPr>
              <a:spLocks noChangeAspect="1"/>
            </p:cNvSpPr>
            <p:nvPr>
              <p:custDataLst>
                <p:tags r:id="rId19"/>
              </p:custDataLst>
            </p:nvPr>
          </p:nvSpPr>
          <p:spPr bwMode="gray">
            <a:xfrm>
              <a:off x="3362867" y="4744250"/>
              <a:ext cx="180759" cy="358709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grpSp>
        <p:nvGrpSpPr>
          <p:cNvPr id="90" name="Group 89"/>
          <p:cNvGrpSpPr/>
          <p:nvPr>
            <p:custDataLst>
              <p:tags r:id="rId6"/>
            </p:custDataLst>
          </p:nvPr>
        </p:nvGrpSpPr>
        <p:grpSpPr>
          <a:xfrm>
            <a:off x="6822421" y="5964428"/>
            <a:ext cx="137160" cy="137160"/>
            <a:chOff x="3183626" y="5337757"/>
            <a:chExt cx="360000" cy="360231"/>
          </a:xfrm>
        </p:grpSpPr>
        <p:sp>
          <p:nvSpPr>
            <p:cNvPr id="91" name="Oval 90"/>
            <p:cNvSpPr>
              <a:spLocks noChangeAspect="1" noChangeArrowheads="1"/>
            </p:cNvSpPr>
            <p:nvPr>
              <p:custDataLst>
                <p:tags r:id="rId16"/>
              </p:custDataLst>
            </p:nvPr>
          </p:nvSpPr>
          <p:spPr bwMode="gray">
            <a:xfrm>
              <a:off x="3183626" y="5337757"/>
              <a:ext cx="360000" cy="36023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92" name="Arc 29"/>
            <p:cNvSpPr>
              <a:spLocks noChangeAspect="1"/>
            </p:cNvSpPr>
            <p:nvPr>
              <p:custDataLst>
                <p:tags r:id="rId17"/>
              </p:custDataLst>
            </p:nvPr>
          </p:nvSpPr>
          <p:spPr bwMode="gray">
            <a:xfrm>
              <a:off x="3183626" y="5337757"/>
              <a:ext cx="360000" cy="360231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grpSp>
        <p:nvGrpSpPr>
          <p:cNvPr id="93" name="Group 92"/>
          <p:cNvGrpSpPr/>
          <p:nvPr>
            <p:custDataLst>
              <p:tags r:id="rId7"/>
            </p:custDataLst>
          </p:nvPr>
        </p:nvGrpSpPr>
        <p:grpSpPr>
          <a:xfrm>
            <a:off x="6822348" y="6256782"/>
            <a:ext cx="137160" cy="137160"/>
            <a:chOff x="3183626" y="4150742"/>
            <a:chExt cx="360000" cy="360363"/>
          </a:xfrm>
        </p:grpSpPr>
        <p:sp>
          <p:nvSpPr>
            <p:cNvPr id="94" name="Oval 93"/>
            <p:cNvSpPr>
              <a:spLocks noChangeAspect="1" noChangeArrowheads="1"/>
            </p:cNvSpPr>
            <p:nvPr>
              <p:custDataLst>
                <p:tags r:id="rId14"/>
              </p:custDataLst>
            </p:nvPr>
          </p:nvSpPr>
          <p:spPr bwMode="gray">
            <a:xfrm>
              <a:off x="3183626" y="4150742"/>
              <a:ext cx="360000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95" name="Arc 23"/>
            <p:cNvSpPr>
              <a:spLocks noChangeAspect="1"/>
            </p:cNvSpPr>
            <p:nvPr>
              <p:custDataLst>
                <p:tags r:id="rId15"/>
              </p:custDataLst>
            </p:nvPr>
          </p:nvSpPr>
          <p:spPr bwMode="gray">
            <a:xfrm>
              <a:off x="3362867" y="4150742"/>
              <a:ext cx="180759" cy="18018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grpSp>
        <p:nvGrpSpPr>
          <p:cNvPr id="96" name="Group 95"/>
          <p:cNvGrpSpPr/>
          <p:nvPr>
            <p:custDataLst>
              <p:tags r:id="rId8"/>
            </p:custDataLst>
          </p:nvPr>
        </p:nvGrpSpPr>
        <p:grpSpPr>
          <a:xfrm>
            <a:off x="6826009" y="6841490"/>
            <a:ext cx="137160" cy="137160"/>
            <a:chOff x="3183626" y="4150742"/>
            <a:chExt cx="360000" cy="360363"/>
          </a:xfrm>
        </p:grpSpPr>
        <p:sp>
          <p:nvSpPr>
            <p:cNvPr id="97" name="Oval 96"/>
            <p:cNvSpPr>
              <a:spLocks noChangeAspect="1" noChangeArrowheads="1"/>
            </p:cNvSpPr>
            <p:nvPr>
              <p:custDataLst>
                <p:tags r:id="rId12"/>
              </p:custDataLst>
            </p:nvPr>
          </p:nvSpPr>
          <p:spPr bwMode="gray">
            <a:xfrm>
              <a:off x="3183626" y="4150742"/>
              <a:ext cx="360000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98" name="Arc 23"/>
            <p:cNvSpPr>
              <a:spLocks noChangeAspect="1"/>
            </p:cNvSpPr>
            <p:nvPr>
              <p:custDataLst>
                <p:tags r:id="rId13"/>
              </p:custDataLst>
            </p:nvPr>
          </p:nvSpPr>
          <p:spPr bwMode="gray">
            <a:xfrm>
              <a:off x="3362867" y="4150742"/>
              <a:ext cx="180759" cy="18018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grpSp>
        <p:nvGrpSpPr>
          <p:cNvPr id="99" name="Group 98"/>
          <p:cNvGrpSpPr/>
          <p:nvPr>
            <p:custDataLst>
              <p:tags r:id="rId9"/>
            </p:custDataLst>
          </p:nvPr>
        </p:nvGrpSpPr>
        <p:grpSpPr>
          <a:xfrm>
            <a:off x="6822421" y="6549136"/>
            <a:ext cx="137160" cy="137160"/>
            <a:chOff x="3183626" y="4744250"/>
            <a:chExt cx="360000" cy="358709"/>
          </a:xfrm>
        </p:grpSpPr>
        <p:sp>
          <p:nvSpPr>
            <p:cNvPr id="100" name="Oval 99"/>
            <p:cNvSpPr>
              <a:spLocks noChangeAspect="1" noChangeArrowheads="1"/>
            </p:cNvSpPr>
            <p:nvPr>
              <p:custDataLst>
                <p:tags r:id="rId10"/>
              </p:custDataLst>
            </p:nvPr>
          </p:nvSpPr>
          <p:spPr bwMode="gray">
            <a:xfrm>
              <a:off x="3183626" y="4744250"/>
              <a:ext cx="360000" cy="35870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01" name="Arc 26"/>
            <p:cNvSpPr>
              <a:spLocks noChangeAspect="1"/>
            </p:cNvSpPr>
            <p:nvPr>
              <p:custDataLst>
                <p:tags r:id="rId11"/>
              </p:custDataLst>
            </p:nvPr>
          </p:nvSpPr>
          <p:spPr bwMode="gray">
            <a:xfrm>
              <a:off x="3362867" y="4744250"/>
              <a:ext cx="180759" cy="358709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cxnSp>
        <p:nvCxnSpPr>
          <p:cNvPr id="105" name="Straight Connector 104"/>
          <p:cNvCxnSpPr/>
          <p:nvPr/>
        </p:nvCxnSpPr>
        <p:spPr>
          <a:xfrm>
            <a:off x="2743200" y="4819650"/>
            <a:ext cx="6553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ontent Placeholder 8"/>
          <p:cNvSpPr txBox="1">
            <a:spLocks/>
          </p:cNvSpPr>
          <p:nvPr/>
        </p:nvSpPr>
        <p:spPr>
          <a:xfrm>
            <a:off x="4572000" y="4724400"/>
            <a:ext cx="2895600" cy="1905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 algn="l" defTabSz="1018824" rtl="0" eaLnBrk="1" latinLnBrk="0" hangingPunct="1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1018824" rtl="0" eaLnBrk="1" latinLnBrk="0" hangingPunct="1">
              <a:lnSpc>
                <a:spcPct val="110000"/>
              </a:lnSpc>
              <a:spcBef>
                <a:spcPts val="1500"/>
              </a:spcBef>
              <a:buFont typeface="Arial" panose="020B0604020202020204" pitchFamily="34" charset="0"/>
              <a:buNone/>
              <a:defRPr sz="13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88" indent="0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73038" indent="-173038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385763" indent="-206375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801767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smtClean="0"/>
              <a:t>Empirical Data Sources</a:t>
            </a:r>
            <a:endParaRPr lang="en-US" sz="1200" dirty="0"/>
          </a:p>
        </p:txBody>
      </p:sp>
      <p:sp>
        <p:nvSpPr>
          <p:cNvPr id="114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258365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In order to capture the CRE performance, we need to monitor its NOI (Cash Flow) and LTV (Property Value).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The four quadrants of real estate have different characteristics</a:t>
            </a:r>
            <a:r>
              <a:rPr lang="en-US" sz="1100" b="0" dirty="0" smtClean="0">
                <a:solidFill>
                  <a:schemeClr val="tx1"/>
                </a:solidFill>
              </a:rPr>
              <a:t> regarding data providing.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We use data sources that fully cover Public Debt sector and mainly cover Private Debt sector to achieve a projection of CRE market.</a:t>
            </a:r>
            <a:endParaRPr lang="en-US" sz="1100" dirty="0" smtClean="0"/>
          </a:p>
        </p:txBody>
      </p:sp>
    </p:spTree>
    <p:extLst>
      <p:ext uri="{BB962C8B-B14F-4D97-AF65-F5344CB8AC3E}">
        <p14:creationId xmlns:p14="http://schemas.microsoft.com/office/powerpoint/2010/main" val="106125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51" grpId="0" animBg="1"/>
      <p:bldP spid="49" grpId="0" animBg="1"/>
      <p:bldP spid="45" grpId="0" animBg="1"/>
      <p:bldP spid="46" grpId="0" animBg="1"/>
      <p:bldP spid="42" grpId="0" animBg="1"/>
      <p:bldP spid="29" grpId="0" animBg="1"/>
      <p:bldP spid="34" grpId="0"/>
      <p:bldP spid="33" grpId="0"/>
      <p:bldP spid="47" grpId="0"/>
      <p:bldP spid="48" grpId="0"/>
      <p:bldP spid="53" grpId="0"/>
      <p:bldP spid="54" grpId="0"/>
      <p:bldP spid="71" grpId="0"/>
      <p:bldP spid="76" grpId="0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6" grpId="0" animBg="1"/>
      <p:bldP spid="10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H4Npqag8ESMrCAv3xFb0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H4Npqag8ESMrCAv3xFb0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H4Npqag8ESMrCAv3xFb0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H4Npqag8ESMrCAv3xFb0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1s7k8M.U2QVq7jyo8bu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UP5ZzQzb0ao.wwh6ML.t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z9ZWjagfk6XAHcPsSCzd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z9ZWjagfk6XAHcPsSCzd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1s7k8M.U2QVq7jyo8bu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3"/>
</p:tagLst>
</file>

<file path=ppt/theme/theme1.xml><?xml version="1.0" encoding="utf-8"?>
<a:theme xmlns:a="http://schemas.openxmlformats.org/drawingml/2006/main" name="Office Theme">
  <a:themeElements>
    <a:clrScheme name="Cello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968880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3823</TotalTime>
  <Words>223</Words>
  <Application>Microsoft Office PowerPoint</Application>
  <PresentationFormat>Custom</PresentationFormat>
  <Paragraphs>63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CMBS Modeling Data Sources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Lien Chen</cp:lastModifiedBy>
  <cp:revision>374</cp:revision>
  <cp:lastPrinted>2015-06-19T12:14:16Z</cp:lastPrinted>
  <dcterms:created xsi:type="dcterms:W3CDTF">2015-05-21T20:34:11Z</dcterms:created>
  <dcterms:modified xsi:type="dcterms:W3CDTF">2015-07-01T14:03:00Z</dcterms:modified>
</cp:coreProperties>
</file>