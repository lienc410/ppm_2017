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14" r:id="rId2"/>
    <p:sldId id="315" r:id="rId3"/>
    <p:sldId id="316" r:id="rId4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 varScale="1">
        <p:scale>
          <a:sx n="123" d="100"/>
          <a:sy n="123" d="100"/>
        </p:scale>
        <p:origin x="-1086" y="-108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512820512820512E-2"/>
          <c:y val="3.4819687854085318E-2"/>
          <c:w val="0.77564102564102566"/>
          <c:h val="0.9303606242918293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delete val="1"/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-20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200309760"/>
        <c:axId val="200315648"/>
      </c:barChart>
      <c:catAx>
        <c:axId val="2003097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315648"/>
        <c:crosses val="autoZero"/>
        <c:auto val="1"/>
        <c:lblAlgn val="ctr"/>
        <c:lblOffset val="100"/>
        <c:noMultiLvlLbl val="0"/>
      </c:catAx>
      <c:valAx>
        <c:axId val="200315648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200309760"/>
        <c:crosses val="autoZero"/>
        <c:crossBetween val="between"/>
        <c:majorUnit val="0.25"/>
      </c:valAx>
      <c:spPr>
        <a:ln>
          <a:solidFill>
            <a:schemeClr val="bg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2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6/29/2015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6/29/2015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draft you sent over had this title. It doesn’t look correct?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tags" Target="../tags/tag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CMBS Modeling</a:t>
            </a:r>
            <a:br>
              <a:rPr lang="en-US" dirty="0"/>
            </a:br>
            <a:r>
              <a:rPr lang="en-US" dirty="0"/>
              <a:t>RMBS Modeling vs. CMBS </a:t>
            </a:r>
            <a:r>
              <a:rPr lang="en-US" dirty="0" smtClean="0"/>
              <a:t>Modeling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RMBS Modeling has some fundamental differences from CMBS Modeling. The differences are introduced by the securities characteristics.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differences are noticed in terms of different collateral type, collateral size, default impact</a:t>
            </a:r>
            <a:r>
              <a:rPr lang="en-US" sz="1100" b="0" dirty="0">
                <a:solidFill>
                  <a:schemeClr val="tx1"/>
                </a:solidFill>
              </a:rPr>
              <a:t>, documentation, </a:t>
            </a:r>
            <a:r>
              <a:rPr lang="en-US" sz="1100" b="0" dirty="0" smtClean="0">
                <a:solidFill>
                  <a:schemeClr val="tx1"/>
                </a:solidFill>
              </a:rPr>
              <a:t>and the </a:t>
            </a:r>
            <a:r>
              <a:rPr lang="en-US" sz="1100" b="0" dirty="0">
                <a:solidFill>
                  <a:schemeClr val="tx1"/>
                </a:solidFill>
              </a:rPr>
              <a:t>applicability of the statistical </a:t>
            </a:r>
            <a:r>
              <a:rPr lang="en-US" sz="1100" b="0" dirty="0" smtClean="0">
                <a:solidFill>
                  <a:schemeClr val="tx1"/>
                </a:solidFill>
              </a:rPr>
              <a:t>models.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75" name="Group 74"/>
          <p:cNvGrpSpPr/>
          <p:nvPr/>
        </p:nvGrpSpPr>
        <p:grpSpPr>
          <a:xfrm>
            <a:off x="3200400" y="1839330"/>
            <a:ext cx="6629400" cy="4790070"/>
            <a:chOff x="3200400" y="2057400"/>
            <a:chExt cx="6629400" cy="4572000"/>
          </a:xfrm>
        </p:grpSpPr>
        <p:sp>
          <p:nvSpPr>
            <p:cNvPr id="42" name="Rectangle 41"/>
            <p:cNvSpPr/>
            <p:nvPr/>
          </p:nvSpPr>
          <p:spPr>
            <a:xfrm>
              <a:off x="6324600" y="2057400"/>
              <a:ext cx="3505200" cy="457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200400" y="2057400"/>
              <a:ext cx="3124200" cy="4572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0" y="2133599"/>
              <a:ext cx="31242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Trend to be backed by relatively homogeneous collateral - mortgages are secured by</a:t>
              </a:r>
              <a:r>
                <a:rPr lang="en-US" sz="1100" b="1" dirty="0"/>
                <a:t> single family residences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00800" y="2134892"/>
              <a:ext cx="3429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Trend to be more heterogeneous collateral - mortgages are secured by a </a:t>
              </a:r>
              <a:r>
                <a:rPr lang="en-US" sz="1100" b="1" dirty="0"/>
                <a:t>variety of property types </a:t>
              </a:r>
              <a:r>
                <a:rPr lang="en-US" sz="1100" dirty="0"/>
                <a:t>including office, retail, multifamily, industry and hospitality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200400" y="3048000"/>
              <a:ext cx="3124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Each securitization typically contains </a:t>
              </a:r>
              <a:r>
                <a:rPr lang="en-US" sz="1100" b="1" dirty="0"/>
                <a:t>thousands of mortgages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00800" y="3049293"/>
              <a:ext cx="3429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Most securitizations contain approximately </a:t>
              </a:r>
              <a:r>
                <a:rPr lang="en-US" sz="1100" b="1" dirty="0"/>
                <a:t>15-300 mortgages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Generally the </a:t>
              </a:r>
              <a:r>
                <a:rPr lang="en-US" sz="1100" b="1" dirty="0"/>
                <a:t>top 15 </a:t>
              </a:r>
              <a:r>
                <a:rPr lang="en-US" sz="1100" dirty="0"/>
                <a:t>loans account for approximately 50% of the balance of a CMBS trust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3276600" y="2971800"/>
              <a:ext cx="640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200400" y="3953666"/>
              <a:ext cx="3124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The default of a single mortgage </a:t>
              </a:r>
              <a:r>
                <a:rPr lang="en-US" sz="1100" b="1" dirty="0"/>
                <a:t>does not tend to materially impact </a:t>
              </a:r>
              <a:r>
                <a:rPr lang="en-US" sz="1100" dirty="0"/>
                <a:t>deal performance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00800" y="3954959"/>
              <a:ext cx="34290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The default of a single mortgage can have a </a:t>
              </a:r>
              <a:r>
                <a:rPr lang="en-US" sz="1100" b="1" dirty="0"/>
                <a:t>significant impact</a:t>
              </a:r>
              <a:r>
                <a:rPr lang="en-US" sz="1100" dirty="0"/>
                <a:t> to the owners of all related CMBS tranches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3276600" y="3877466"/>
              <a:ext cx="640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3200400" y="4768139"/>
              <a:ext cx="3124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More </a:t>
              </a:r>
              <a:r>
                <a:rPr lang="en-US" sz="1100" b="1" dirty="0"/>
                <a:t>consistency</a:t>
              </a:r>
              <a:r>
                <a:rPr lang="en-US" sz="1100" dirty="0"/>
                <a:t> in loan documentation for residential mortgages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400800" y="4769432"/>
              <a:ext cx="3429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Loan documentation tends to be </a:t>
              </a:r>
              <a:r>
                <a:rPr lang="en-US" sz="1100" b="1" dirty="0"/>
                <a:t>unique</a:t>
              </a:r>
              <a:r>
                <a:rPr lang="en-US" sz="1100" dirty="0"/>
                <a:t> for each borrower/mortgage</a:t>
              </a: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3276600" y="4691939"/>
              <a:ext cx="640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200400" y="5562600"/>
              <a:ext cx="3124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Modeling is typically based on law of large numbers, applying a </a:t>
              </a:r>
              <a:r>
                <a:rPr lang="en-US" sz="1100" b="1" dirty="0"/>
                <a:t>probabilistic approach </a:t>
              </a:r>
              <a:r>
                <a:rPr lang="en-US" sz="1100" dirty="0"/>
                <a:t>to projecting performance outcome (e.g. CDR, CPR, Severities, etc.)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00800" y="5563893"/>
              <a:ext cx="34290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/>
                <a:t>Commercial real estate is </a:t>
              </a:r>
              <a:r>
                <a:rPr lang="en-US" sz="1100" b="1" dirty="0"/>
                <a:t>less amenable </a:t>
              </a:r>
              <a:r>
                <a:rPr lang="en-US" sz="1100" dirty="0"/>
                <a:t>to statistical modeling due to idiosyncratic aspects of each underlying commercial property and mortgage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3276600" y="5486400"/>
              <a:ext cx="640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200400" y="2057400"/>
              <a:ext cx="3124200" cy="0"/>
            </a:xfrm>
            <a:prstGeom prst="line">
              <a:avLst/>
            </a:prstGeom>
            <a:ln w="28575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6324600" y="2057400"/>
              <a:ext cx="350520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3200400" y="1534530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RMBS</a:t>
            </a:r>
            <a:endParaRPr lang="en-US" sz="14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6324600" y="1524000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</a:t>
            </a:r>
            <a:r>
              <a:rPr lang="en-US" sz="1400" b="1" dirty="0" smtClean="0"/>
              <a:t>MBS</a:t>
            </a:r>
            <a:endParaRPr lang="en-US" sz="1400" b="1" dirty="0"/>
          </a:p>
        </p:txBody>
      </p:sp>
      <p:sp>
        <p:nvSpPr>
          <p:cNvPr id="63" name="TextBox 62"/>
          <p:cNvSpPr txBox="1"/>
          <p:nvPr/>
        </p:nvSpPr>
        <p:spPr>
          <a:xfrm rot="16200000">
            <a:off x="2436246" y="2592955"/>
            <a:ext cx="553998" cy="8544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200" dirty="0"/>
              <a:t>Collateral</a:t>
            </a:r>
            <a:endParaRPr lang="en-US" sz="1200" dirty="0" smtClean="0"/>
          </a:p>
          <a:p>
            <a:pPr algn="r"/>
            <a:r>
              <a:rPr lang="en-US" sz="1200" dirty="0" smtClean="0"/>
              <a:t>Size</a:t>
            </a:r>
            <a:endParaRPr lang="en-US" sz="1200" dirty="0"/>
          </a:p>
        </p:txBody>
      </p:sp>
      <p:cxnSp>
        <p:nvCxnSpPr>
          <p:cNvPr id="65" name="Straight Connector 64"/>
          <p:cNvCxnSpPr/>
          <p:nvPr/>
        </p:nvCxnSpPr>
        <p:spPr>
          <a:xfrm>
            <a:off x="3140490" y="2835533"/>
            <a:ext cx="0" cy="36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 rot="16200000">
            <a:off x="2436247" y="1608419"/>
            <a:ext cx="553998" cy="8544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200" dirty="0" smtClean="0"/>
              <a:t>Collateral</a:t>
            </a:r>
          </a:p>
          <a:p>
            <a:pPr algn="r"/>
            <a:r>
              <a:rPr lang="en-US" sz="1200" dirty="0" smtClean="0"/>
              <a:t>Type</a:t>
            </a:r>
            <a:endParaRPr lang="en-US" sz="1200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3140491" y="1850997"/>
            <a:ext cx="0" cy="36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 rot="16200000">
            <a:off x="2436247" y="3562956"/>
            <a:ext cx="553998" cy="8544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200" dirty="0" smtClean="0"/>
              <a:t>Default</a:t>
            </a:r>
          </a:p>
          <a:p>
            <a:pPr algn="r"/>
            <a:r>
              <a:rPr lang="en-US" sz="1200" dirty="0" smtClean="0"/>
              <a:t>Impact</a:t>
            </a:r>
            <a:endParaRPr lang="en-US" sz="1200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3140491" y="3805534"/>
            <a:ext cx="0" cy="36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 rot="16200000">
            <a:off x="2528578" y="4417289"/>
            <a:ext cx="369332" cy="8544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200" dirty="0" smtClean="0"/>
              <a:t>Documents</a:t>
            </a:r>
            <a:endParaRPr lang="en-US" sz="1200" dirty="0"/>
          </a:p>
        </p:txBody>
      </p:sp>
      <p:cxnSp>
        <p:nvCxnSpPr>
          <p:cNvPr id="72" name="Straight Connector 71"/>
          <p:cNvCxnSpPr/>
          <p:nvPr/>
        </p:nvCxnSpPr>
        <p:spPr>
          <a:xfrm>
            <a:off x="3140489" y="4659867"/>
            <a:ext cx="0" cy="36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 rot="16200000">
            <a:off x="2419956" y="5259955"/>
            <a:ext cx="553998" cy="8544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r"/>
            <a:r>
              <a:rPr lang="en-US" sz="1200" dirty="0" smtClean="0"/>
              <a:t>Statistical</a:t>
            </a:r>
          </a:p>
          <a:p>
            <a:pPr algn="r"/>
            <a:r>
              <a:rPr lang="en-US" sz="1200" dirty="0" smtClean="0"/>
              <a:t>Modeling</a:t>
            </a:r>
            <a:endParaRPr lang="en-US" sz="1200" dirty="0"/>
          </a:p>
        </p:txBody>
      </p:sp>
      <p:cxnSp>
        <p:nvCxnSpPr>
          <p:cNvPr id="74" name="Straight Connector 73"/>
          <p:cNvCxnSpPr/>
          <p:nvPr/>
        </p:nvCxnSpPr>
        <p:spPr>
          <a:xfrm>
            <a:off x="3124200" y="5502533"/>
            <a:ext cx="0" cy="36933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3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5906453" y="1825915"/>
            <a:ext cx="3733800" cy="2186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2477453" y="1508799"/>
            <a:ext cx="27803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CMBS Modeling</a:t>
            </a:r>
            <a:br>
              <a:rPr lang="en-US" dirty="0" smtClean="0"/>
            </a:br>
            <a:r>
              <a:rPr lang="en-US" dirty="0" smtClean="0"/>
              <a:t>Commercial Mortgage Loan basics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Similar as </a:t>
            </a:r>
            <a:r>
              <a:rPr lang="en-US" sz="1100" b="0" dirty="0">
                <a:solidFill>
                  <a:schemeClr val="tx1"/>
                </a:solidFill>
              </a:rPr>
              <a:t>r</a:t>
            </a:r>
            <a:r>
              <a:rPr lang="en-US" sz="1100" b="0" dirty="0" smtClean="0">
                <a:solidFill>
                  <a:schemeClr val="tx1"/>
                </a:solidFill>
              </a:rPr>
              <a:t>esidential properties, the capital structure for a commercial property also includes mortgage part and borrower equity part. 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The risk terms inherited with commercial mortgage include Term Default Risk, Maturity Default Risk and Extension Risk.</a:t>
            </a: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3010853" y="1143000"/>
            <a:ext cx="1981200" cy="4114800"/>
            <a:chOff x="2819400" y="1582439"/>
            <a:chExt cx="1981200" cy="3935898"/>
          </a:xfrm>
        </p:grpSpPr>
        <p:graphicFrame>
          <p:nvGraphicFramePr>
            <p:cNvPr id="36" name="Chart 35"/>
            <p:cNvGraphicFramePr/>
            <p:nvPr>
              <p:custDataLst>
                <p:tags r:id="rId5"/>
              </p:custDataLst>
              <p:extLst>
                <p:ext uri="{D42A27DB-BD31-4B8C-83A1-F6EECF244321}">
                  <p14:modId xmlns:p14="http://schemas.microsoft.com/office/powerpoint/2010/main" val="489750133"/>
                </p:ext>
              </p:extLst>
            </p:nvPr>
          </p:nvGraphicFramePr>
          <p:xfrm>
            <a:off x="2819400" y="1582439"/>
            <a:ext cx="1981200" cy="39358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TextBox 2"/>
            <p:cNvSpPr txBox="1"/>
            <p:nvPr/>
          </p:nvSpPr>
          <p:spPr>
            <a:xfrm>
              <a:off x="3276600" y="3276600"/>
              <a:ext cx="914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 smtClean="0">
                  <a:solidFill>
                    <a:schemeClr val="bg1"/>
                  </a:solidFill>
                </a:rPr>
                <a:t>Mortgage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276600" y="4724400"/>
              <a:ext cx="9144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Borrower</a:t>
              </a:r>
            </a:p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Equity</a:t>
              </a:r>
              <a:endParaRPr lang="en-US" sz="11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41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010852" y="1919628"/>
            <a:ext cx="457201" cy="1041992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19050">
            <a:solidFill>
              <a:srgbClr val="002776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6" name="Freeform 14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10800000" flipH="1">
            <a:off x="3010853" y="4133961"/>
            <a:ext cx="431505" cy="819039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19050">
            <a:solidFill>
              <a:srgbClr val="002776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77453" y="3209836"/>
            <a:ext cx="1066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Total</a:t>
            </a:r>
          </a:p>
          <a:p>
            <a:pPr algn="ctr"/>
            <a:r>
              <a:rPr lang="en-US" sz="1100" dirty="0" smtClean="0"/>
              <a:t>Property</a:t>
            </a:r>
          </a:p>
          <a:p>
            <a:pPr algn="ctr"/>
            <a:r>
              <a:rPr lang="en-US" sz="1100" dirty="0" smtClean="0"/>
              <a:t>Value = 100%</a:t>
            </a:r>
            <a:endParaRPr lang="en-US" sz="1100" dirty="0"/>
          </a:p>
        </p:txBody>
      </p:sp>
      <p:sp>
        <p:nvSpPr>
          <p:cNvPr id="47" name="Freeform 5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10800000">
            <a:off x="4368380" y="3567272"/>
            <a:ext cx="457201" cy="77612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19050">
            <a:solidFill>
              <a:srgbClr val="002776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8" name="Freeform 14"/>
          <p:cNvSpPr>
            <a:spLocks/>
          </p:cNvSpPr>
          <p:nvPr>
            <p:custDataLst>
              <p:tags r:id="rId4"/>
            </p:custDataLst>
          </p:nvPr>
        </p:nvSpPr>
        <p:spPr bwMode="auto">
          <a:xfrm flipH="1">
            <a:off x="4394076" y="1907826"/>
            <a:ext cx="431505" cy="700735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19050">
            <a:solidFill>
              <a:srgbClr val="002776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94076" y="2819400"/>
            <a:ext cx="8265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Mortgage</a:t>
            </a:r>
          </a:p>
          <a:p>
            <a:pPr algn="ctr"/>
            <a:r>
              <a:rPr lang="en-US" sz="1100" dirty="0" smtClean="0"/>
              <a:t>LTV</a:t>
            </a:r>
          </a:p>
          <a:p>
            <a:pPr algn="ctr"/>
            <a:r>
              <a:rPr lang="en-US" sz="1100" dirty="0" smtClean="0"/>
              <a:t>= 80%</a:t>
            </a:r>
            <a:endParaRPr lang="en-US" sz="11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5410200" y="1726098"/>
            <a:ext cx="0" cy="3276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82653" y="1825915"/>
            <a:ext cx="3657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/>
              <a:t>Commercial mortgage have inherent risks to the lender</a:t>
            </a:r>
          </a:p>
          <a:p>
            <a:endParaRPr lang="en-US" sz="1100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 smtClean="0"/>
              <a:t>Term </a:t>
            </a:r>
            <a:r>
              <a:rPr lang="en-US" sz="1100" u="sng" dirty="0"/>
              <a:t>Default Risk</a:t>
            </a:r>
            <a:r>
              <a:rPr lang="en-US" sz="1100" dirty="0"/>
              <a:t>: </a:t>
            </a:r>
            <a:endParaRPr lang="en-US" sz="1100" dirty="0" smtClean="0"/>
          </a:p>
          <a:p>
            <a:r>
              <a:rPr lang="en-US" sz="1100" dirty="0" smtClean="0"/>
              <a:t>Borrower </a:t>
            </a:r>
            <a:r>
              <a:rPr lang="en-US" sz="1100" dirty="0"/>
              <a:t>is unable to meet its interest obligations and defaults on its mortgage before maturity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/>
              <a:t>Maturity Default</a:t>
            </a:r>
            <a:r>
              <a:rPr lang="en-US" sz="1100" dirty="0"/>
              <a:t>: </a:t>
            </a:r>
            <a:endParaRPr lang="en-US" sz="1100" dirty="0" smtClean="0"/>
          </a:p>
          <a:p>
            <a:r>
              <a:rPr lang="en-US" sz="1100" dirty="0" smtClean="0"/>
              <a:t>Borrower </a:t>
            </a:r>
            <a:r>
              <a:rPr lang="en-US" sz="1100" dirty="0"/>
              <a:t>is unable to refinance or payoff loan balance at maturity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/>
              <a:t>Extension Risk</a:t>
            </a:r>
            <a:r>
              <a:rPr lang="en-US" sz="1100" dirty="0"/>
              <a:t>: </a:t>
            </a:r>
            <a:endParaRPr lang="en-US" sz="1100" dirty="0" smtClean="0"/>
          </a:p>
          <a:p>
            <a:r>
              <a:rPr lang="en-US" sz="1100" dirty="0" smtClean="0"/>
              <a:t>Servicer/Lender </a:t>
            </a:r>
            <a:r>
              <a:rPr lang="en-US" sz="1100" dirty="0"/>
              <a:t>may extend loan </a:t>
            </a:r>
            <a:r>
              <a:rPr lang="en-US" sz="1100" dirty="0" smtClean="0"/>
              <a:t>maturity</a:t>
            </a:r>
            <a:endParaRPr lang="en-US" sz="11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563678" y="1405800"/>
            <a:ext cx="2541722" cy="205998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1200" dirty="0" smtClean="0"/>
              <a:t>Capital Structure of a Sample Property</a:t>
            </a:r>
            <a:endParaRPr lang="en-US" sz="1200" dirty="0"/>
          </a:p>
        </p:txBody>
      </p:sp>
      <p:cxnSp>
        <p:nvCxnSpPr>
          <p:cNvPr id="94" name="Straight Connector 93"/>
          <p:cNvCxnSpPr/>
          <p:nvPr/>
        </p:nvCxnSpPr>
        <p:spPr>
          <a:xfrm>
            <a:off x="5754053" y="1508799"/>
            <a:ext cx="388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ontent Placeholder 8"/>
          <p:cNvSpPr txBox="1">
            <a:spLocks/>
          </p:cNvSpPr>
          <p:nvPr/>
        </p:nvSpPr>
        <p:spPr>
          <a:xfrm>
            <a:off x="5982653" y="1413549"/>
            <a:ext cx="34290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Life Cycle of a Sample Commercial Mortgage Loan</a:t>
            </a:r>
            <a:endParaRPr lang="en-US" sz="12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5830253" y="4754880"/>
            <a:ext cx="3886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815013" y="4709160"/>
            <a:ext cx="91440" cy="9144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8344853" y="4709160"/>
            <a:ext cx="91440" cy="9144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9662160" y="4709160"/>
            <a:ext cx="91440" cy="91440"/>
          </a:xfrm>
          <a:prstGeom prst="ellips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/>
          <p:cNvSpPr/>
          <p:nvPr/>
        </p:nvSpPr>
        <p:spPr>
          <a:xfrm rot="5400000">
            <a:off x="7031874" y="3367586"/>
            <a:ext cx="155172" cy="2484120"/>
          </a:xfrm>
          <a:prstGeom prst="leftBrace">
            <a:avLst>
              <a:gd name="adj1" fmla="val 9861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Left Brace 96"/>
          <p:cNvSpPr/>
          <p:nvPr/>
        </p:nvSpPr>
        <p:spPr>
          <a:xfrm rot="5400000">
            <a:off x="8998787" y="3972338"/>
            <a:ext cx="155172" cy="1280160"/>
          </a:xfrm>
          <a:prstGeom prst="leftBrace">
            <a:avLst>
              <a:gd name="adj1" fmla="val 98611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477000" y="4323993"/>
            <a:ext cx="1220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/>
              <a:t>Term Default Risk</a:t>
            </a:r>
            <a:endParaRPr lang="en-US" sz="1050" dirty="0"/>
          </a:p>
        </p:txBody>
      </p:sp>
      <p:sp>
        <p:nvSpPr>
          <p:cNvPr id="98" name="TextBox 97"/>
          <p:cNvSpPr txBox="1"/>
          <p:nvPr/>
        </p:nvSpPr>
        <p:spPr>
          <a:xfrm>
            <a:off x="8466297" y="4323993"/>
            <a:ext cx="12201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/>
              <a:t>Extension Risk</a:t>
            </a:r>
            <a:endParaRPr lang="en-US" sz="1050" dirty="0"/>
          </a:p>
        </p:txBody>
      </p:sp>
      <p:sp>
        <p:nvSpPr>
          <p:cNvPr id="99" name="TextBox 98"/>
          <p:cNvSpPr txBox="1"/>
          <p:nvPr/>
        </p:nvSpPr>
        <p:spPr>
          <a:xfrm>
            <a:off x="7620000" y="4038600"/>
            <a:ext cx="1439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 smtClean="0"/>
              <a:t>Maturity Default Risk</a:t>
            </a:r>
            <a:endParaRPr lang="en-US" sz="1050" dirty="0"/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8390573" y="4267200"/>
            <a:ext cx="0" cy="38702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5562600" y="4800600"/>
            <a:ext cx="61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Year 0</a:t>
            </a:r>
            <a:endParaRPr 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8085535" y="4800600"/>
            <a:ext cx="61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Year 10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9296400" y="4800600"/>
            <a:ext cx="610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Year 12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5410200" y="4953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 smtClean="0">
                <a:solidFill>
                  <a:schemeClr val="accent2">
                    <a:lumMod val="75000"/>
                  </a:schemeClr>
                </a:solidFill>
              </a:rPr>
              <a:t>Original Loan Issuance</a:t>
            </a:r>
            <a:endParaRPr lang="en-US" sz="10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924800" y="4935379"/>
            <a:ext cx="914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Stated Loan Maturity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95924" y="4935379"/>
            <a:ext cx="610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Final Payoff</a:t>
            </a:r>
          </a:p>
        </p:txBody>
      </p:sp>
      <p:cxnSp>
        <p:nvCxnSpPr>
          <p:cNvPr id="107" name="Straight Connector 106"/>
          <p:cNvCxnSpPr/>
          <p:nvPr/>
        </p:nvCxnSpPr>
        <p:spPr>
          <a:xfrm>
            <a:off x="2743200" y="57340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ontent Placeholder 8"/>
          <p:cNvSpPr txBox="1">
            <a:spLocks/>
          </p:cNvSpPr>
          <p:nvPr/>
        </p:nvSpPr>
        <p:spPr>
          <a:xfrm>
            <a:off x="4876800" y="5638800"/>
            <a:ext cx="22860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Key Term Definitions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2477453" y="6019800"/>
                <a:ext cx="2385333" cy="943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1200"/>
                </a:lvl1pPr>
              </a:lstStyle>
              <a:p>
                <a:r>
                  <a:rPr lang="en-US" b="1" dirty="0"/>
                  <a:t>  </a:t>
                </a:r>
                <a:r>
                  <a:rPr lang="en-US" b="1" dirty="0" smtClean="0"/>
                  <a:t>Property </a:t>
                </a:r>
                <a:r>
                  <a:rPr lang="en-US" b="1" dirty="0"/>
                  <a:t>Value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Annual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Net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Cash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Flow</m:t>
                          </m:r>
                          <m:r>
                            <a:rPr lang="en-US">
                              <a:latin typeface="Cambria Math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NCF</m:t>
                          </m:r>
                          <m:r>
                            <a:rPr lang="en-US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Capitalization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Rate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453" y="6019800"/>
                <a:ext cx="2385333" cy="943528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5136377" y="6019800"/>
                <a:ext cx="1743298" cy="9444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200" b="1" dirty="0"/>
                  <a:t> </a:t>
                </a:r>
                <a:r>
                  <a:rPr lang="en-US" sz="1200" b="1" dirty="0" smtClean="0"/>
                  <a:t>Loan to Value (LTV)</a:t>
                </a:r>
                <a:endParaRPr lang="en-US" sz="12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Loan</m:t>
                          </m:r>
                          <m:r>
                            <a:rPr lang="en-US" sz="12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Balance</m:t>
                          </m:r>
                          <m:r>
                            <a:rPr lang="en-US" sz="1200" b="0" i="0" smtClean="0">
                              <a:latin typeface="Cambria Math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NCF</m:t>
                          </m:r>
                          <m:r>
                            <a:rPr lang="en-US" sz="1200" b="0" i="0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Property</m:t>
                          </m:r>
                          <m:r>
                            <a:rPr lang="en-US" sz="12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Value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377" y="6019800"/>
                <a:ext cx="1743298" cy="944489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7153265" y="6019800"/>
                <a:ext cx="2450158" cy="896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1200"/>
                </a:lvl1pPr>
              </a:lstStyle>
              <a:p>
                <a:r>
                  <a:rPr lang="en-US" b="1" dirty="0" smtClean="0"/>
                  <a:t>Debt Service Coverage Ratio (DSCR)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Annual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Net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Cash</m:t>
                          </m:r>
                          <m:r>
                            <a:rPr lang="en-US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Flow</m:t>
                          </m:r>
                          <m:r>
                            <a:rPr lang="en-US">
                              <a:latin typeface="Cambria Math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NCF</m:t>
                          </m:r>
                          <m:r>
                            <a:rPr lang="en-US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Annual</m:t>
                          </m:r>
                          <m:r>
                            <a:rPr lang="en-US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Debt</m:t>
                          </m:r>
                          <m:r>
                            <a:rPr lang="en-US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Service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265" y="6019800"/>
                <a:ext cx="2450158" cy="89691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Connector 112"/>
          <p:cNvCxnSpPr/>
          <p:nvPr/>
        </p:nvCxnSpPr>
        <p:spPr>
          <a:xfrm>
            <a:off x="5029200" y="60198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7086600" y="60198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34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2743200" y="1447800"/>
            <a:ext cx="65913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CMBS Modeling</a:t>
            </a:r>
            <a:br>
              <a:rPr lang="en-US" dirty="0"/>
            </a:br>
            <a:r>
              <a:rPr lang="en-US" dirty="0"/>
              <a:t>Loan outcome projection</a:t>
            </a:r>
            <a:br>
              <a:rPr lang="en-US" dirty="0"/>
            </a:br>
            <a:endParaRPr lang="en-US" dirty="0"/>
          </a:p>
        </p:txBody>
      </p:sp>
      <p:sp>
        <p:nvSpPr>
          <p:cNvPr id="118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Loan outcomes are determined by a series of DSCR and LTV tests over time.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1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A monthly test logic will be applied to each loan to determine its monthly loan outcome.</a:t>
            </a:r>
            <a:endParaRPr lang="en-US" sz="1100" dirty="0" smtClean="0"/>
          </a:p>
        </p:txBody>
      </p:sp>
      <p:sp>
        <p:nvSpPr>
          <p:cNvPr id="119" name="Rectangle 118"/>
          <p:cNvSpPr/>
          <p:nvPr/>
        </p:nvSpPr>
        <p:spPr>
          <a:xfrm>
            <a:off x="4648200" y="3352800"/>
            <a:ext cx="22860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DSCR &lt; DSCR Default Trigger?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352800" y="41910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at maturity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3352800" y="49149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LTV &lt; pay-off LTV requirement?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52800" y="5638800"/>
            <a:ext cx="1676400" cy="381000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Is Loan LTV &lt; extension LTV limit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6858000" y="5256322"/>
            <a:ext cx="1066800" cy="80591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At extension maturity is </a:t>
            </a:r>
            <a:endParaRPr lang="en-US" sz="1000" dirty="0" smtClean="0">
              <a:solidFill>
                <a:schemeClr val="tx1"/>
              </a:solidFill>
            </a:endParaRP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LTV </a:t>
            </a:r>
            <a:r>
              <a:rPr lang="en-US" sz="1000" dirty="0" smtClean="0">
                <a:solidFill>
                  <a:schemeClr val="tx1"/>
                </a:solidFill>
              </a:rPr>
              <a:t>&lt; Refinance Threshold?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/>
          <p:cNvCxnSpPr>
            <a:stCxn id="119" idx="2"/>
            <a:endCxn id="120" idx="0"/>
          </p:cNvCxnSpPr>
          <p:nvPr/>
        </p:nvCxnSpPr>
        <p:spPr>
          <a:xfrm rot="5400000">
            <a:off x="4762500" y="3162300"/>
            <a:ext cx="457200" cy="1600200"/>
          </a:xfrm>
          <a:prstGeom prst="bentConnector3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20" idx="2"/>
            <a:endCxn id="121" idx="0"/>
          </p:cNvCxnSpPr>
          <p:nvPr/>
        </p:nvCxnSpPr>
        <p:spPr>
          <a:xfrm>
            <a:off x="4191000" y="4572000"/>
            <a:ext cx="0" cy="34290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21" idx="2"/>
            <a:endCxn id="122" idx="0"/>
          </p:cNvCxnSpPr>
          <p:nvPr/>
        </p:nvCxnSpPr>
        <p:spPr>
          <a:xfrm>
            <a:off x="4191000" y="5295900"/>
            <a:ext cx="0" cy="34290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stCxn id="120" idx="3"/>
            <a:endCxn id="119" idx="3"/>
          </p:cNvCxnSpPr>
          <p:nvPr/>
        </p:nvCxnSpPr>
        <p:spPr>
          <a:xfrm flipV="1">
            <a:off x="5029200" y="3543300"/>
            <a:ext cx="1905000" cy="838200"/>
          </a:xfrm>
          <a:prstGeom prst="bentConnector3">
            <a:avLst>
              <a:gd name="adj1" fmla="val 112000"/>
            </a:avLst>
          </a:prstGeom>
          <a:ln w="12700">
            <a:solidFill>
              <a:schemeClr val="accent2">
                <a:lumMod val="50000"/>
              </a:schemeClr>
            </a:solidFill>
            <a:prstDash val="lg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5562600" y="4915333"/>
            <a:ext cx="914400" cy="381000"/>
          </a:xfrm>
          <a:prstGeom prst="ellipse">
            <a:avLst/>
          </a:prstGeom>
          <a:solidFill>
            <a:srgbClr val="DFF5EB"/>
          </a:solidFill>
          <a:ln w="12700">
            <a:solidFill>
              <a:srgbClr val="2E8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Loan pays off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5562600" y="5638800"/>
            <a:ext cx="100584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Maturity</a:t>
            </a:r>
          </a:p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Extension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8382000" y="5638800"/>
            <a:ext cx="914400" cy="381000"/>
          </a:xfrm>
          <a:prstGeom prst="ellipse">
            <a:avLst/>
          </a:prstGeom>
          <a:solidFill>
            <a:srgbClr val="DFF5EB"/>
          </a:solidFill>
          <a:ln w="12700">
            <a:solidFill>
              <a:srgbClr val="2E8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Loan pays off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24384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Term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37338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Maturity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934200" y="6515100"/>
            <a:ext cx="914400" cy="381000"/>
          </a:xfrm>
          <a:prstGeom prst="ellipse">
            <a:avLst/>
          </a:prstGeom>
          <a:solidFill>
            <a:srgbClr val="F4E0D0"/>
          </a:solidFill>
          <a:ln w="12700">
            <a:solidFill>
              <a:srgbClr val="C66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000000"/>
                </a:solidFill>
              </a:rPr>
              <a:t>Maturity Default</a:t>
            </a:r>
            <a:endParaRPr lang="en-US" sz="1000" dirty="0">
              <a:solidFill>
                <a:srgbClr val="000000"/>
              </a:solidFill>
            </a:endParaRPr>
          </a:p>
        </p:txBody>
      </p:sp>
      <p:cxnSp>
        <p:nvCxnSpPr>
          <p:cNvPr id="134" name="Straight Arrow Connector 133"/>
          <p:cNvCxnSpPr>
            <a:stCxn id="121" idx="3"/>
            <a:endCxn id="128" idx="2"/>
          </p:cNvCxnSpPr>
          <p:nvPr/>
        </p:nvCxnSpPr>
        <p:spPr>
          <a:xfrm>
            <a:off x="5029200" y="5105400"/>
            <a:ext cx="533400" cy="433"/>
          </a:xfrm>
          <a:prstGeom prst="straightConnector1">
            <a:avLst/>
          </a:prstGeom>
          <a:ln w="12700">
            <a:solidFill>
              <a:srgbClr val="2E8A60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stCxn id="122" idx="3"/>
            <a:endCxn id="129" idx="2"/>
          </p:cNvCxnSpPr>
          <p:nvPr/>
        </p:nvCxnSpPr>
        <p:spPr>
          <a:xfrm>
            <a:off x="5029200" y="5829300"/>
            <a:ext cx="533400" cy="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/>
          <p:cNvCxnSpPr>
            <a:stCxn id="119" idx="1"/>
            <a:endCxn id="131" idx="0"/>
          </p:cNvCxnSpPr>
          <p:nvPr/>
        </p:nvCxnSpPr>
        <p:spPr>
          <a:xfrm rot="10800000" flipV="1">
            <a:off x="2895600" y="3543300"/>
            <a:ext cx="1752600" cy="2971800"/>
          </a:xfrm>
          <a:prstGeom prst="bentConnector2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stCxn id="122" idx="2"/>
            <a:endCxn id="132" idx="0"/>
          </p:cNvCxnSpPr>
          <p:nvPr/>
        </p:nvCxnSpPr>
        <p:spPr>
          <a:xfrm>
            <a:off x="4191000" y="6019800"/>
            <a:ext cx="0" cy="49530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>
            <a:stCxn id="123" idx="2"/>
            <a:endCxn id="133" idx="0"/>
          </p:cNvCxnSpPr>
          <p:nvPr/>
        </p:nvCxnSpPr>
        <p:spPr>
          <a:xfrm>
            <a:off x="7391400" y="6062236"/>
            <a:ext cx="0" cy="452864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130" idx="2"/>
          </p:cNvCxnSpPr>
          <p:nvPr/>
        </p:nvCxnSpPr>
        <p:spPr>
          <a:xfrm>
            <a:off x="7924800" y="5829300"/>
            <a:ext cx="457200" cy="0"/>
          </a:xfrm>
          <a:prstGeom prst="straightConnector1">
            <a:avLst/>
          </a:prstGeom>
          <a:ln w="12700">
            <a:solidFill>
              <a:srgbClr val="2E8A60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/>
          <p:cNvCxnSpPr/>
          <p:nvPr/>
        </p:nvCxnSpPr>
        <p:spPr>
          <a:xfrm>
            <a:off x="6568440" y="5829300"/>
            <a:ext cx="289560" cy="0"/>
          </a:xfrm>
          <a:prstGeom prst="straightConnector1">
            <a:avLst/>
          </a:prstGeom>
          <a:ln w="12700">
            <a:solidFill>
              <a:srgbClr val="C6642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/>
          <p:nvPr/>
        </p:nvCxnSpPr>
        <p:spPr>
          <a:xfrm>
            <a:off x="2743200" y="13144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Content Placeholder 8"/>
          <p:cNvSpPr txBox="1">
            <a:spLocks/>
          </p:cNvSpPr>
          <p:nvPr/>
        </p:nvSpPr>
        <p:spPr>
          <a:xfrm>
            <a:off x="4876800" y="1219200"/>
            <a:ext cx="22860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Loan Outcomes</a:t>
            </a:r>
            <a:endParaRPr lang="en-US" sz="1200" dirty="0"/>
          </a:p>
        </p:txBody>
      </p:sp>
      <p:sp>
        <p:nvSpPr>
          <p:cNvPr id="144" name="TextBox 143"/>
          <p:cNvSpPr txBox="1"/>
          <p:nvPr/>
        </p:nvSpPr>
        <p:spPr>
          <a:xfrm>
            <a:off x="4495800" y="3733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5" name="TextBox 144"/>
          <p:cNvSpPr txBox="1"/>
          <p:nvPr/>
        </p:nvSpPr>
        <p:spPr>
          <a:xfrm>
            <a:off x="5485924" y="4114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6" name="TextBox 145"/>
          <p:cNvSpPr txBox="1"/>
          <p:nvPr/>
        </p:nvSpPr>
        <p:spPr>
          <a:xfrm>
            <a:off x="3733324" y="4630579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Yes</a:t>
            </a:r>
            <a:endParaRPr lang="en-US" sz="900" dirty="0"/>
          </a:p>
        </p:txBody>
      </p:sp>
      <p:sp>
        <p:nvSpPr>
          <p:cNvPr id="147" name="TextBox 146"/>
          <p:cNvSpPr txBox="1"/>
          <p:nvPr/>
        </p:nvSpPr>
        <p:spPr>
          <a:xfrm>
            <a:off x="3733324" y="53340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/>
              <a:t>No</a:t>
            </a:r>
            <a:endParaRPr lang="en-US" sz="900" dirty="0"/>
          </a:p>
        </p:txBody>
      </p:sp>
      <p:sp>
        <p:nvSpPr>
          <p:cNvPr id="148" name="TextBox 147"/>
          <p:cNvSpPr txBox="1"/>
          <p:nvPr/>
        </p:nvSpPr>
        <p:spPr>
          <a:xfrm>
            <a:off x="5029200" y="4876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2E8A60"/>
                </a:solidFill>
              </a:rPr>
              <a:t>Yes</a:t>
            </a:r>
            <a:endParaRPr lang="en-US" sz="900" dirty="0">
              <a:solidFill>
                <a:srgbClr val="2E8A6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5029200" y="55626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Yes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820501" y="5598468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2E8A60"/>
                </a:solidFill>
              </a:rPr>
              <a:t>Yes</a:t>
            </a:r>
            <a:endParaRPr lang="en-US" sz="900" dirty="0">
              <a:solidFill>
                <a:srgbClr val="2E8A60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7239000" y="6154579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No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733324" y="6019800"/>
            <a:ext cx="610076" cy="2308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No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3276600" y="3315345"/>
            <a:ext cx="610076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rgbClr val="C6642E"/>
                </a:solidFill>
              </a:rPr>
              <a:t>Yes</a:t>
            </a:r>
            <a:endParaRPr lang="en-US" sz="900" dirty="0">
              <a:solidFill>
                <a:srgbClr val="C6642E"/>
              </a:solidFill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2362200" y="6421754"/>
            <a:ext cx="5562600" cy="579120"/>
          </a:xfrm>
          <a:prstGeom prst="rect">
            <a:avLst/>
          </a:prstGeom>
          <a:noFill/>
          <a:ln>
            <a:solidFill>
              <a:srgbClr val="C6642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8610600" y="6421754"/>
            <a:ext cx="990600" cy="579120"/>
          </a:xfrm>
          <a:prstGeom prst="rect">
            <a:avLst/>
          </a:prstGeom>
          <a:solidFill>
            <a:srgbClr val="C6642E"/>
          </a:solidFill>
          <a:ln w="12700">
            <a:solidFill>
              <a:srgbClr val="C66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Loan Workout Period and Loss Calculation </a:t>
            </a:r>
            <a:endParaRPr lang="en-US" sz="1000" dirty="0"/>
          </a:p>
        </p:txBody>
      </p:sp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301023"/>
              </p:ext>
            </p:extLst>
          </p:nvPr>
        </p:nvGraphicFramePr>
        <p:xfrm>
          <a:off x="3200400" y="1524000"/>
          <a:ext cx="60198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6600"/>
                <a:gridCol w="1803400"/>
                <a:gridCol w="2209800"/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During initial term or extension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Term 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188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DSCR &lt; Default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rowSpan="3">
                  <a:txBody>
                    <a:bodyPr/>
                    <a:lstStyle/>
                    <a:p>
                      <a:r>
                        <a:rPr lang="en-US" sz="1000" dirty="0" smtClean="0"/>
                        <a:t>At</a:t>
                      </a:r>
                      <a:r>
                        <a:rPr lang="en-US" sz="1000" baseline="0" dirty="0" smtClean="0"/>
                        <a:t> original maturity</a:t>
                      </a:r>
                      <a:endParaRPr 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Pay off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&lt; pay off LTV</a:t>
                      </a:r>
                      <a:r>
                        <a:rPr lang="en-US" sz="1000" baseline="0" dirty="0" smtClean="0"/>
                        <a:t> requirement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Extension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between extension LTV bounds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 v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&gt; extension LTV limit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At extension maturity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Default</a:t>
                      </a:r>
                      <a:endParaRPr lang="en-US" sz="1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LTV &gt;</a:t>
                      </a:r>
                      <a:r>
                        <a:rPr lang="en-US" sz="1000" baseline="0" dirty="0" smtClean="0"/>
                        <a:t> Refinance Threshold</a:t>
                      </a:r>
                      <a:endParaRPr lang="en-US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58" name="Straight Connector 157"/>
          <p:cNvCxnSpPr/>
          <p:nvPr/>
        </p:nvCxnSpPr>
        <p:spPr>
          <a:xfrm>
            <a:off x="2743200" y="3105150"/>
            <a:ext cx="6553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Content Placeholder 8"/>
          <p:cNvSpPr txBox="1">
            <a:spLocks/>
          </p:cNvSpPr>
          <p:nvPr/>
        </p:nvSpPr>
        <p:spPr>
          <a:xfrm>
            <a:off x="4572000" y="3009900"/>
            <a:ext cx="2895600" cy="190500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 smtClean="0"/>
              <a:t>Default, Extension and Payoff Logic Tree</a:t>
            </a:r>
            <a:endParaRPr lang="en-US" sz="1200" dirty="0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7978140" y="6444614"/>
            <a:ext cx="579120" cy="533400"/>
          </a:xfrm>
          <a:prstGeom prst="triangle">
            <a:avLst/>
          </a:prstGeom>
          <a:solidFill>
            <a:srgbClr val="C6642E"/>
          </a:solidFill>
          <a:ln w="12700">
            <a:solidFill>
              <a:srgbClr val="C66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124200" y="1752600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/>
          <p:nvPr/>
        </p:nvCxnSpPr>
        <p:spPr>
          <a:xfrm>
            <a:off x="3124200" y="2499102"/>
            <a:ext cx="563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4800" y="6457890"/>
            <a:ext cx="685800" cy="4001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</a:rPr>
              <a:t>All </a:t>
            </a:r>
          </a:p>
          <a:p>
            <a:r>
              <a:rPr lang="en-US" sz="1000" dirty="0" smtClean="0">
                <a:solidFill>
                  <a:schemeClr val="bg1"/>
                </a:solidFill>
              </a:rPr>
              <a:t>Defaults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39000" y="3657600"/>
            <a:ext cx="13716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Loan is current, repeat process next month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52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tEKNiqSSUm.Pxf10hkaF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tEKNiqSSUm.Pxf10hka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a2F8LQUEyxStrXkIqA.Q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2913</TotalTime>
  <Words>627</Words>
  <Application>Microsoft Office PowerPoint</Application>
  <PresentationFormat>Custom</PresentationFormat>
  <Paragraphs>123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CMBS Modeling RMBS Modeling vs. CMBS Modeling</vt:lpstr>
      <vt:lpstr>CMBS Modeling Commercial Mortgage Loan basics</vt:lpstr>
      <vt:lpstr>CMBS Modeling Loan outcome projection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359</cp:revision>
  <cp:lastPrinted>2015-06-19T12:14:16Z</cp:lastPrinted>
  <dcterms:created xsi:type="dcterms:W3CDTF">2015-05-21T20:34:11Z</dcterms:created>
  <dcterms:modified xsi:type="dcterms:W3CDTF">2015-06-30T13:47:17Z</dcterms:modified>
</cp:coreProperties>
</file>