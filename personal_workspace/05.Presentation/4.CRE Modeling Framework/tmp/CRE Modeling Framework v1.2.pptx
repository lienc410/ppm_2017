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320" r:id="rId2"/>
    <p:sldId id="323" r:id="rId3"/>
    <p:sldId id="326" r:id="rId4"/>
    <p:sldId id="315" r:id="rId5"/>
    <p:sldId id="322" r:id="rId6"/>
    <p:sldId id="325" r:id="rId7"/>
    <p:sldId id="327" r:id="rId8"/>
    <p:sldId id="324" r:id="rId9"/>
    <p:sldId id="314" r:id="rId10"/>
    <p:sldId id="321" r:id="rId11"/>
    <p:sldId id="316" r:id="rId12"/>
    <p:sldId id="319" r:id="rId13"/>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 xmlns:p15="http://schemas.microsoft.com/office/powerpoint/2012/main">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p:scale>
          <a:sx n="120" d="100"/>
          <a:sy n="120" d="100"/>
        </p:scale>
        <p:origin x="-1188" y="-180"/>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james.edwards\Downloads\Pitch%20book%20tables_1%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12820512820512E-2"/>
          <c:y val="3.4819687854085318E-2"/>
          <c:w val="0.77564102564102566"/>
          <c:h val="0.93036062429182931"/>
        </c:manualLayout>
      </c:layout>
      <c:barChart>
        <c:barDir val="col"/>
        <c:grouping val="percentStacked"/>
        <c:varyColors val="0"/>
        <c:ser>
          <c:idx val="0"/>
          <c:order val="0"/>
          <c:tx>
            <c:strRef>
              <c:f>Sheet1!$B$1</c:f>
              <c:strCache>
                <c:ptCount val="1"/>
                <c:pt idx="0">
                  <c:v>A</c:v>
                </c:pt>
              </c:strCache>
            </c:strRef>
          </c:tx>
          <c:spPr>
            <a:ln>
              <a:solidFill>
                <a:schemeClr val="bg1"/>
              </a:solidFill>
            </a:ln>
          </c:spPr>
          <c:invertIfNegative val="0"/>
          <c:dLbls>
            <c:delete val="1"/>
          </c:dLbls>
          <c:cat>
            <c:numRef>
              <c:f>Sheet1!$A$2</c:f>
              <c:numCache>
                <c:formatCode>General</c:formatCode>
                <c:ptCount val="1"/>
              </c:numCache>
            </c:numRef>
          </c:cat>
          <c:val>
            <c:numRef>
              <c:f>Sheet1!$B$2</c:f>
              <c:numCache>
                <c:formatCode>General</c:formatCode>
                <c:ptCount val="1"/>
                <c:pt idx="0">
                  <c:v>80</c:v>
                </c:pt>
              </c:numCache>
            </c:numRef>
          </c:val>
        </c:ser>
        <c:ser>
          <c:idx val="1"/>
          <c:order val="1"/>
          <c:tx>
            <c:strRef>
              <c:f>Sheet1!$C$1</c:f>
              <c:strCache>
                <c:ptCount val="1"/>
                <c:pt idx="0">
                  <c:v>B</c:v>
                </c:pt>
              </c:strCache>
            </c:strRef>
          </c:tx>
          <c:spPr>
            <a:ln>
              <a:solidFill>
                <a:schemeClr val="bg1"/>
              </a:solidFill>
            </a:ln>
          </c:spPr>
          <c:invertIfNegative val="0"/>
          <c:dLbls>
            <c:delete val="1"/>
          </c:dLbls>
          <c:cat>
            <c:numRef>
              <c:f>Sheet1!$A$2</c:f>
              <c:numCache>
                <c:formatCode>General</c:formatCode>
                <c:ptCount val="1"/>
              </c:numCache>
            </c:numRef>
          </c:cat>
          <c:val>
            <c:numRef>
              <c:f>Sheet1!$C$2</c:f>
              <c:numCache>
                <c:formatCode>General</c:formatCode>
                <c:ptCount val="1"/>
                <c:pt idx="0">
                  <c:v>-20</c:v>
                </c:pt>
              </c:numCache>
            </c:numRef>
          </c:val>
        </c:ser>
        <c:dLbls>
          <c:showLegendKey val="0"/>
          <c:showVal val="1"/>
          <c:showCatName val="0"/>
          <c:showSerName val="0"/>
          <c:showPercent val="0"/>
          <c:showBubbleSize val="0"/>
        </c:dLbls>
        <c:gapWidth val="95"/>
        <c:overlap val="100"/>
        <c:axId val="207391360"/>
        <c:axId val="207399936"/>
      </c:barChart>
      <c:catAx>
        <c:axId val="207391360"/>
        <c:scaling>
          <c:orientation val="minMax"/>
        </c:scaling>
        <c:delete val="1"/>
        <c:axPos val="b"/>
        <c:numFmt formatCode="General" sourceLinked="1"/>
        <c:majorTickMark val="none"/>
        <c:minorTickMark val="none"/>
        <c:tickLblPos val="nextTo"/>
        <c:crossAx val="207399936"/>
        <c:crosses val="autoZero"/>
        <c:auto val="1"/>
        <c:lblAlgn val="ctr"/>
        <c:lblOffset val="100"/>
        <c:noMultiLvlLbl val="0"/>
      </c:catAx>
      <c:valAx>
        <c:axId val="207399936"/>
        <c:scaling>
          <c:orientation val="minMax"/>
        </c:scaling>
        <c:delete val="1"/>
        <c:axPos val="l"/>
        <c:numFmt formatCode="0%" sourceLinked="1"/>
        <c:majorTickMark val="out"/>
        <c:minorTickMark val="none"/>
        <c:tickLblPos val="nextTo"/>
        <c:crossAx val="207391360"/>
        <c:crosses val="autoZero"/>
        <c:crossBetween val="between"/>
        <c:majorUnit val="0.25"/>
      </c:valAx>
      <c:spPr>
        <a:ln>
          <a:solidFill>
            <a:schemeClr val="bg1"/>
          </a:solidFill>
        </a:ln>
      </c:spPr>
    </c:plotArea>
    <c:plotVisOnly val="1"/>
    <c:dispBlanksAs val="gap"/>
    <c:showDLblsOverMax val="0"/>
  </c:chart>
  <c:txPr>
    <a:bodyPr/>
    <a:lstStyle/>
    <a:p>
      <a:pPr>
        <a:defRPr sz="12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chemeClr val="tx1"/>
                </a:solidFill>
                <a:latin typeface="+mn-lt"/>
                <a:ea typeface="+mn-ea"/>
                <a:cs typeface="+mn-cs"/>
              </a:defRPr>
            </a:pPr>
            <a:r>
              <a:rPr lang="en-US" sz="800" b="1" dirty="0">
                <a:solidFill>
                  <a:schemeClr val="tx1"/>
                </a:solidFill>
              </a:rPr>
              <a:t>Collateral Summary</a:t>
            </a:r>
          </a:p>
        </c:rich>
      </c:tx>
      <c:layout>
        <c:manualLayout>
          <c:xMode val="edge"/>
          <c:yMode val="edge"/>
          <c:x val="0.23160889635210052"/>
          <c:y val="4.5255661077859784E-2"/>
        </c:manualLayout>
      </c:layout>
      <c:overlay val="0"/>
      <c:spPr>
        <a:noFill/>
        <a:ln>
          <a:noFill/>
        </a:ln>
        <a:effectLst/>
      </c:spPr>
    </c:title>
    <c:autoTitleDeleted val="0"/>
    <c:plotArea>
      <c:layout/>
      <c:pieChart>
        <c:varyColors val="1"/>
        <c:ser>
          <c:idx val="0"/>
          <c:order val="0"/>
          <c:tx>
            <c:strRef>
              <c:f>'[Pitch book tables_1 (2).xlsx]BACM071'!$W$10</c:f>
              <c:strCache>
                <c:ptCount val="1"/>
                <c:pt idx="0">
                  <c:v>%age</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rgbClr val="C7732D"/>
              </a:solidFill>
              <a:ln w="19050">
                <a:solidFill>
                  <a:schemeClr val="lt1"/>
                </a:solidFill>
              </a:ln>
              <a:effectLst/>
            </c:spPr>
          </c:dPt>
          <c:dPt>
            <c:idx val="3"/>
            <c:bubble3D val="0"/>
            <c:spPr>
              <a:solidFill>
                <a:srgbClr val="533D2D"/>
              </a:solidFill>
              <a:ln w="19050">
                <a:solidFill>
                  <a:schemeClr val="lt1"/>
                </a:solidFill>
              </a:ln>
              <a:effectLst/>
            </c:spPr>
          </c:dPt>
          <c:dPt>
            <c:idx val="4"/>
            <c:bubble3D val="0"/>
            <c:spPr>
              <a:solidFill>
                <a:schemeClr val="accent5"/>
              </a:solidFill>
              <a:ln w="19050">
                <a:solidFill>
                  <a:schemeClr val="lt1"/>
                </a:solidFill>
              </a:ln>
              <a:effectLst/>
            </c:spPr>
          </c:dPt>
          <c:dPt>
            <c:idx val="5"/>
            <c:bubble3D val="0"/>
            <c:spPr>
              <a:solidFill>
                <a:schemeClr val="tx2"/>
              </a:solidFill>
              <a:ln w="19050">
                <a:solidFill>
                  <a:schemeClr val="lt1"/>
                </a:solidFill>
              </a:ln>
              <a:effectLst/>
            </c:spPr>
          </c:dPt>
          <c:dPt>
            <c:idx val="6"/>
            <c:bubble3D val="0"/>
            <c:spPr>
              <a:solidFill>
                <a:srgbClr val="C8C42D"/>
              </a:solidFill>
              <a:ln w="19050">
                <a:solidFill>
                  <a:schemeClr val="lt1"/>
                </a:solidFill>
              </a:ln>
              <a:effectLst/>
            </c:spPr>
          </c:dPt>
          <c:dPt>
            <c:idx val="7"/>
            <c:bubble3D val="0"/>
            <c:spPr>
              <a:solidFill>
                <a:srgbClr val="AD273D"/>
              </a:solidFill>
              <a:ln w="19050">
                <a:solidFill>
                  <a:schemeClr val="lt1"/>
                </a:solidFill>
              </a:ln>
              <a:effectLst/>
            </c:spPr>
          </c:dPt>
          <c:dPt>
            <c:idx val="8"/>
            <c:bubble3D val="0"/>
            <c:spPr>
              <a:solidFill>
                <a:srgbClr val="00B050"/>
              </a:solidFill>
              <a:ln w="19050">
                <a:solidFill>
                  <a:schemeClr val="lt1"/>
                </a:solidFill>
              </a:ln>
              <a:effectLst/>
            </c:spPr>
          </c:dPt>
          <c:cat>
            <c:strRef>
              <c:f>'[Pitch book tables_1 (2).xlsx]BACM071'!$V$11:$V$19</c:f>
              <c:strCache>
                <c:ptCount val="9"/>
                <c:pt idx="0">
                  <c:v>Office</c:v>
                </c:pt>
                <c:pt idx="1">
                  <c:v>Retail</c:v>
                </c:pt>
                <c:pt idx="2">
                  <c:v>Multi-Family</c:v>
                </c:pt>
                <c:pt idx="3">
                  <c:v>Industrial</c:v>
                </c:pt>
                <c:pt idx="4">
                  <c:v>Self Storage</c:v>
                </c:pt>
                <c:pt idx="5">
                  <c:v>Lodging</c:v>
                </c:pt>
                <c:pt idx="6">
                  <c:v>Mobile Home</c:v>
                </c:pt>
                <c:pt idx="7">
                  <c:v>Mixed Use</c:v>
                </c:pt>
                <c:pt idx="8">
                  <c:v>Other</c:v>
                </c:pt>
              </c:strCache>
            </c:strRef>
          </c:cat>
          <c:val>
            <c:numRef>
              <c:f>'[Pitch book tables_1 (2).xlsx]BACM071'!$W$11:$W$19</c:f>
              <c:numCache>
                <c:formatCode>0%</c:formatCode>
                <c:ptCount val="9"/>
                <c:pt idx="0">
                  <c:v>0.33600000000000002</c:v>
                </c:pt>
                <c:pt idx="1">
                  <c:v>0.29699999999999999</c:v>
                </c:pt>
                <c:pt idx="2">
                  <c:v>0.14000000000000001</c:v>
                </c:pt>
                <c:pt idx="3">
                  <c:v>0.13800000000000001</c:v>
                </c:pt>
                <c:pt idx="4">
                  <c:v>3.5000000000000003E-2</c:v>
                </c:pt>
                <c:pt idx="5">
                  <c:v>2.7999999999999997E-2</c:v>
                </c:pt>
                <c:pt idx="6">
                  <c:v>0.01</c:v>
                </c:pt>
                <c:pt idx="7">
                  <c:v>9.0000000000000011E-3</c:v>
                </c:pt>
                <c:pt idx="8">
                  <c:v>6.9999999999999993E-3</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7/2/2015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7/2/2015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366"/>
            <a:fld id="{1FE077EC-684A-4FD9-A6C3-9AE90D8B81D6}" type="slidenum">
              <a:rPr lang="en-US" smtClean="0"/>
              <a:pPr defTabSz="919366"/>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5</a:t>
            </a:fld>
            <a:endParaRPr lang="en-US" dirty="0"/>
          </a:p>
        </p:txBody>
      </p:sp>
    </p:spTree>
    <p:extLst>
      <p:ext uri="{BB962C8B-B14F-4D97-AF65-F5344CB8AC3E}">
        <p14:creationId xmlns:p14="http://schemas.microsoft.com/office/powerpoint/2010/main" val="4135956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3859817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580039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7557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2"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5.xml"/><Relationship Id="rId7" Type="http://schemas.openxmlformats.org/officeDocument/2006/relationships/notesSlide" Target="../notesSlides/notesSlide3.xml"/><Relationship Id="rId12" Type="http://schemas.openxmlformats.org/officeDocument/2006/relationships/image" Target="../media/image11.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tags" Target="../tags/tag7.xml"/><Relationship Id="rId10" Type="http://schemas.openxmlformats.org/officeDocument/2006/relationships/image" Target="../media/image9.png"/><Relationship Id="rId4" Type="http://schemas.openxmlformats.org/officeDocument/2006/relationships/tags" Target="../tags/tag6.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0.png"/><Relationship Id="rId1" Type="http://schemas.openxmlformats.org/officeDocument/2006/relationships/slideLayout" Target="../slideLayouts/slideLayout1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0.png"/><Relationship Id="rId10" Type="http://schemas.openxmlformats.org/officeDocument/2006/relationships/image" Target="../media/image16.png"/><Relationship Id="rId4" Type="http://schemas.openxmlformats.org/officeDocument/2006/relationships/image" Target="../media/image100.png"/><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notesSlide" Target="../notesSlides/notesSlide7.xml"/><Relationship Id="rId7" Type="http://schemas.openxmlformats.org/officeDocument/2006/relationships/package" Target="../embeddings/Microsoft_Excel_Worksheet3.xlsx"/><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12.emf"/><Relationship Id="rId5" Type="http://schemas.openxmlformats.org/officeDocument/2006/relationships/package" Target="../embeddings/Microsoft_Excel_Worksheet2.xlsx"/><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CRE MODELING FRAMEWORK</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APPROACH</a:t>
            </a:r>
            <a:endParaRPr lang="en-US" dirty="0"/>
          </a:p>
        </p:txBody>
      </p:sp>
      <p:sp>
        <p:nvSpPr>
          <p:cNvPr id="9" name="Content Placeholder 8"/>
          <p:cNvSpPr>
            <a:spLocks noGrp="1"/>
          </p:cNvSpPr>
          <p:nvPr>
            <p:ph sz="quarter" idx="13"/>
          </p:nvPr>
        </p:nvSpPr>
        <p:spPr>
          <a:xfrm>
            <a:off x="2514600" y="1235075"/>
            <a:ext cx="7214616" cy="441325"/>
          </a:xfrm>
        </p:spPr>
        <p:txBody>
          <a:bodyPr/>
          <a:lstStyle/>
          <a:p>
            <a:r>
              <a:rPr lang="en-US" dirty="0" smtClean="0"/>
              <a:t>A Relative Value Approach is Applied Across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a:t>RELATIVE-VALUE FOCUS</a:t>
            </a:r>
          </a:p>
        </p:txBody>
      </p:sp>
      <p:sp>
        <p:nvSpPr>
          <p:cNvPr id="16" name="Content Placeholder 12"/>
          <p:cNvSpPr>
            <a:spLocks noGrp="1"/>
          </p:cNvSpPr>
          <p:nvPr>
            <p:ph idx="1"/>
          </p:nvPr>
        </p:nvSpPr>
        <p:spPr>
          <a:xfrm>
            <a:off x="293687" y="1235075"/>
            <a:ext cx="1839913" cy="5938837"/>
          </a:xfrm>
        </p:spPr>
        <p:txBody>
          <a:bodyPr/>
          <a:lstStyle/>
          <a:p>
            <a:pPr>
              <a:lnSpc>
                <a:spcPct val="100000"/>
              </a:lnSpc>
              <a:spcBef>
                <a:spcPts val="0"/>
              </a:spcBef>
            </a:pPr>
            <a:r>
              <a:rPr lang="en-US" sz="1100" b="0" dirty="0" smtClean="0">
                <a:solidFill>
                  <a:schemeClr val="tx1"/>
                </a:solidFill>
              </a:rPr>
              <a:t>Cello believes that the same fundamental factors influence valuations in CRE across Fixed Income and Equities.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investment process and proprietary infrastructure will be the same across the Portfolio.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The initial </a:t>
            </a:r>
            <a:r>
              <a:rPr lang="en-US" sz="1100" b="0" dirty="0" smtClean="0">
                <a:solidFill>
                  <a:schemeClr val="tx1"/>
                </a:solidFill>
              </a:rPr>
              <a:t>allocation is expected to be approximately 70% in Fixed Income and 30% in Equities.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17" name="Group 16"/>
          <p:cNvGrpSpPr/>
          <p:nvPr/>
        </p:nvGrpSpPr>
        <p:grpSpPr>
          <a:xfrm>
            <a:off x="4038600" y="2039934"/>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EQUITY MARKET</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 MARKET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CMBS  MARKET</a:t>
                </a:r>
                <a:endParaRPr lang="en-US" sz="1300" b="1" dirty="0">
                  <a:solidFill>
                    <a:schemeClr val="bg1"/>
                  </a:solidFill>
                  <a:latin typeface="Calibri"/>
                </a:endParaRPr>
              </a:p>
            </p:txBody>
          </p:sp>
        </p:grpSp>
      </p:grpSp>
      <p:sp>
        <p:nvSpPr>
          <p:cNvPr id="29" name="Rectangle 28"/>
          <p:cNvSpPr/>
          <p:nvPr/>
        </p:nvSpPr>
        <p:spPr>
          <a:xfrm>
            <a:off x="5443384" y="5823022"/>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300" dirty="0">
                <a:solidFill>
                  <a:schemeClr val="tx2"/>
                </a:solidFill>
              </a:rPr>
              <a:t>Unsecured Debt</a:t>
            </a:r>
          </a:p>
          <a:p>
            <a:pPr marL="171450" lvl="1" indent="-171450">
              <a:spcBef>
                <a:spcPts val="600"/>
              </a:spcBef>
              <a:buFont typeface="Arial" panose="020B0604020202020204" pitchFamily="34" charset="0"/>
              <a:buChar char="•"/>
            </a:pPr>
            <a:r>
              <a:rPr lang="en-US" sz="1300" dirty="0" err="1">
                <a:solidFill>
                  <a:schemeClr val="tx2"/>
                </a:solidFill>
              </a:rPr>
              <a:t>PropCo</a:t>
            </a:r>
            <a:r>
              <a:rPr lang="en-US" sz="1300" dirty="0">
                <a:solidFill>
                  <a:schemeClr val="tx2"/>
                </a:solidFill>
              </a:rPr>
              <a:t> Debt</a:t>
            </a:r>
          </a:p>
          <a:p>
            <a:pPr marL="171450" lvl="1" indent="-171450">
              <a:spcBef>
                <a:spcPts val="600"/>
              </a:spcBef>
              <a:buFont typeface="Arial" panose="020B0604020202020204" pitchFamily="34" charset="0"/>
              <a:buChar char="•"/>
            </a:pPr>
            <a:r>
              <a:rPr lang="en-US" sz="1300" dirty="0">
                <a:solidFill>
                  <a:schemeClr val="tx2"/>
                </a:solidFill>
              </a:rPr>
              <a:t>Corporate Loans</a:t>
            </a:r>
          </a:p>
          <a:p>
            <a:pPr marL="171450" lvl="1" indent="-171450">
              <a:spcBef>
                <a:spcPts val="600"/>
              </a:spcBef>
              <a:buFont typeface="Arial" panose="020B0604020202020204" pitchFamily="34" charset="0"/>
              <a:buChar char="•"/>
            </a:pPr>
            <a:r>
              <a:rPr lang="en-US" sz="1300" dirty="0">
                <a:solidFill>
                  <a:schemeClr val="tx2"/>
                </a:solidFill>
              </a:rPr>
              <a:t>CDS</a:t>
            </a: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latin typeface="+mj-lt"/>
            </a:endParaRPr>
          </a:p>
        </p:txBody>
      </p:sp>
      <p:sp>
        <p:nvSpPr>
          <p:cNvPr id="30" name="Rectangle 29"/>
          <p:cNvSpPr/>
          <p:nvPr/>
        </p:nvSpPr>
        <p:spPr>
          <a:xfrm>
            <a:off x="2553138" y="2350328"/>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REITs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Retail</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Other CRE Names</a:t>
            </a:r>
          </a:p>
        </p:txBody>
      </p:sp>
      <p:sp>
        <p:nvSpPr>
          <p:cNvPr id="31" name="Rectangle 30"/>
          <p:cNvSpPr/>
          <p:nvPr/>
        </p:nvSpPr>
        <p:spPr>
          <a:xfrm>
            <a:off x="7717122" y="2291594"/>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a:solidFill>
                  <a:schemeClr val="accent2"/>
                </a:solidFill>
                <a:latin typeface="+mj-lt"/>
              </a:rPr>
              <a:t>CMBS &amp; Mortgage </a:t>
            </a:r>
            <a:r>
              <a:rPr lang="en-US" sz="1400" b="1" dirty="0" smtClean="0">
                <a:solidFill>
                  <a:schemeClr val="accent2"/>
                </a:solidFill>
                <a:latin typeface="+mj-lt"/>
              </a:rPr>
              <a:t>Lending</a:t>
            </a:r>
            <a:endParaRPr lang="en-US" sz="14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CMBX</a:t>
            </a: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Cash </a:t>
            </a:r>
            <a:r>
              <a:rPr lang="en-US" sz="1300" dirty="0" smtClean="0">
                <a:solidFill>
                  <a:schemeClr val="tx2"/>
                </a:solidFill>
                <a:latin typeface="+mj-lt"/>
              </a:rPr>
              <a:t>CMBS</a:t>
            </a:r>
            <a:endParaRPr lang="en-US" sz="1300" dirty="0">
              <a:solidFill>
                <a:schemeClr val="tx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CRE Mezzanine Lending</a:t>
            </a:r>
          </a:p>
        </p:txBody>
      </p:sp>
    </p:spTree>
    <p:extLst>
      <p:ext uri="{BB962C8B-B14F-4D97-AF65-F5344CB8AC3E}">
        <p14:creationId xmlns:p14="http://schemas.microsoft.com/office/powerpoint/2010/main" val="24371533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Modeling</a:t>
            </a:r>
            <a:br>
              <a:rPr lang="en-US" dirty="0" smtClean="0"/>
            </a:br>
            <a:r>
              <a:rPr lang="en-US" dirty="0" smtClean="0"/>
              <a:t>HOLDERS OF CRE RISK: A CAPITAL MARKETS VIEW </a:t>
            </a:r>
            <a:endParaRPr lang="en-US" dirty="0"/>
          </a:p>
        </p:txBody>
      </p:sp>
      <p:sp>
        <p:nvSpPr>
          <p:cNvPr id="14" name="Text Placeholder 12"/>
          <p:cNvSpPr>
            <a:spLocks/>
          </p:cNvSpPr>
          <p:nvPr>
            <p:custDataLst>
              <p:tags r:id="rId1"/>
            </p:custDataLst>
          </p:nvPr>
        </p:nvSpPr>
        <p:spPr bwMode="auto">
          <a:xfrm>
            <a:off x="3031622" y="2800424"/>
            <a:ext cx="685800"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sz="1200" b="1" dirty="0" smtClean="0">
                <a:solidFill>
                  <a:schemeClr val="tx2"/>
                </a:solidFill>
                <a:ea typeface="Arial Unicode MS" pitchFamily="34" charset="-122"/>
                <a:cs typeface="Arial Unicode MS" pitchFamily="34" charset="-122"/>
              </a:rPr>
              <a:t>PUBLIC</a:t>
            </a:r>
            <a:endParaRPr lang="en-US" sz="1200" b="1" dirty="0">
              <a:solidFill>
                <a:schemeClr val="tx2"/>
              </a:solidFill>
              <a:ea typeface="Arial Unicode MS" pitchFamily="34" charset="-122"/>
              <a:cs typeface="Arial Unicode MS" pitchFamily="34" charset="-122"/>
            </a:endParaRPr>
          </a:p>
        </p:txBody>
      </p:sp>
      <p:sp>
        <p:nvSpPr>
          <p:cNvPr id="15" name="Text Placeholder 12"/>
          <p:cNvSpPr>
            <a:spLocks/>
          </p:cNvSpPr>
          <p:nvPr>
            <p:custDataLst>
              <p:tags r:id="rId2"/>
            </p:custDataLst>
          </p:nvPr>
        </p:nvSpPr>
        <p:spPr bwMode="auto">
          <a:xfrm>
            <a:off x="3015243" y="5012343"/>
            <a:ext cx="718557"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altLang="zh-CN" sz="1200" b="1" dirty="0" smtClean="0">
                <a:solidFill>
                  <a:schemeClr val="tx2"/>
                </a:solidFill>
                <a:ea typeface="Arial Unicode MS" pitchFamily="34" charset="-122"/>
                <a:cs typeface="Arial Unicode MS" pitchFamily="34" charset="-122"/>
              </a:rPr>
              <a:t>PRIVATE</a:t>
            </a:r>
            <a:endParaRPr lang="en-US" sz="1200" b="1" dirty="0">
              <a:solidFill>
                <a:schemeClr val="tx2"/>
              </a:solidFill>
              <a:ea typeface="Arial Unicode MS" pitchFamily="34" charset="-122"/>
              <a:cs typeface="Arial Unicode MS" pitchFamily="34" charset="-122"/>
            </a:endParaRPr>
          </a:p>
        </p:txBody>
      </p:sp>
      <p:sp>
        <p:nvSpPr>
          <p:cNvPr id="17" name="Rectangle 16"/>
          <p:cNvSpPr>
            <a:spLocks noChangeArrowheads="1"/>
          </p:cNvSpPr>
          <p:nvPr/>
        </p:nvSpPr>
        <p:spPr bwMode="auto">
          <a:xfrm>
            <a:off x="6167370" y="1927947"/>
            <a:ext cx="2094515" cy="1971546"/>
          </a:xfrm>
          <a:prstGeom prst="rect">
            <a:avLst/>
          </a:prstGeom>
          <a:solidFill>
            <a:schemeClr val="accent3">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19" name="Rectangle 18"/>
          <p:cNvSpPr>
            <a:spLocks noChangeArrowheads="1"/>
          </p:cNvSpPr>
          <p:nvPr/>
        </p:nvSpPr>
        <p:spPr bwMode="auto">
          <a:xfrm>
            <a:off x="3925285" y="1927947"/>
            <a:ext cx="2094515" cy="1971546"/>
          </a:xfrm>
          <a:prstGeom prst="rect">
            <a:avLst/>
          </a:prstGeom>
          <a:solidFill>
            <a:schemeClr val="accent1">
              <a:lumMod val="40000"/>
              <a:lumOff val="6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0" name="Rectangle 19"/>
          <p:cNvSpPr>
            <a:spLocks noChangeArrowheads="1"/>
          </p:cNvSpPr>
          <p:nvPr/>
        </p:nvSpPr>
        <p:spPr bwMode="auto">
          <a:xfrm>
            <a:off x="6167370" y="4038600"/>
            <a:ext cx="2094515" cy="1971546"/>
          </a:xfrm>
          <a:prstGeom prst="rect">
            <a:avLst/>
          </a:prstGeom>
          <a:solidFill>
            <a:schemeClr val="accent3">
              <a:lumMod val="60000"/>
              <a:lumOff val="4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1" name="Rectangle 20"/>
          <p:cNvSpPr>
            <a:spLocks noChangeArrowheads="1"/>
          </p:cNvSpPr>
          <p:nvPr/>
        </p:nvSpPr>
        <p:spPr bwMode="auto">
          <a:xfrm>
            <a:off x="3925285" y="4038600"/>
            <a:ext cx="2094515" cy="1971546"/>
          </a:xfrm>
          <a:prstGeom prst="rect">
            <a:avLst/>
          </a:prstGeom>
          <a:solidFill>
            <a:schemeClr val="accent2">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4" name="TextBox 23"/>
          <p:cNvSpPr txBox="1"/>
          <p:nvPr/>
        </p:nvSpPr>
        <p:spPr>
          <a:xfrm>
            <a:off x="3925285" y="2072019"/>
            <a:ext cx="2094515" cy="1456809"/>
          </a:xfrm>
          <a:prstGeom prst="rect">
            <a:avLst/>
          </a:prstGeom>
          <a:noFill/>
        </p:spPr>
        <p:txBody>
          <a:bodyPr wrap="square" rtlCol="0">
            <a:spAutoFit/>
          </a:bodyPr>
          <a:lstStyle/>
          <a:p>
            <a:pPr marL="171450" indent="-171450">
              <a:spcAft>
                <a:spcPts val="500"/>
              </a:spcAft>
              <a:buFont typeface="Arial" panose="020B0604020202020204" pitchFamily="34" charset="0"/>
              <a:buChar char="•"/>
            </a:pPr>
            <a:r>
              <a:rPr lang="en-GB" altLang="ja-JP" sz="1200" dirty="0">
                <a:ea typeface="Arial Unicode MS" pitchFamily="34" charset="-122"/>
                <a:cs typeface="Arial Unicode MS" pitchFamily="34" charset="-122"/>
              </a:rPr>
              <a:t>Commercial Mortgage </a:t>
            </a:r>
            <a:r>
              <a:rPr lang="en-GB" altLang="ja-JP" sz="1200" dirty="0" smtClean="0">
                <a:ea typeface="Arial Unicode MS" pitchFamily="34" charset="-122"/>
                <a:cs typeface="Arial Unicode MS" pitchFamily="34" charset="-122"/>
              </a:rPr>
              <a:t>Backed </a:t>
            </a:r>
            <a:r>
              <a:rPr lang="en-GB" altLang="ja-JP" sz="1200" dirty="0">
                <a:ea typeface="Arial Unicode MS" pitchFamily="34" charset="-122"/>
                <a:cs typeface="Arial Unicode MS" pitchFamily="34" charset="-122"/>
              </a:rPr>
              <a:t>Securities (CMBS</a:t>
            </a:r>
            <a:r>
              <a:rPr lang="en-GB" altLang="ja-JP" sz="1200" dirty="0" smtClean="0">
                <a:ea typeface="Arial Unicode MS" pitchFamily="34" charset="-122"/>
                <a:cs typeface="Arial Unicode MS" pitchFamily="34" charset="-122"/>
              </a:rPr>
              <a:t>)</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CMBX</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Corporate Loans</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CDS</a:t>
            </a:r>
            <a:endParaRPr lang="en-GB" altLang="ja-JP" sz="1200" dirty="0">
              <a:ea typeface="Arial Unicode MS" pitchFamily="34" charset="-122"/>
              <a:cs typeface="Arial Unicode MS" pitchFamily="34" charset="-122"/>
            </a:endParaRPr>
          </a:p>
          <a:p>
            <a:pPr marL="171450" indent="-171450">
              <a:buFont typeface="Arial" panose="020B0604020202020204" pitchFamily="34" charset="0"/>
              <a:buChar char="•"/>
            </a:pPr>
            <a:endParaRPr lang="en-US" sz="1200" dirty="0"/>
          </a:p>
        </p:txBody>
      </p:sp>
      <p:sp>
        <p:nvSpPr>
          <p:cNvPr id="25" name="TextBox 24"/>
          <p:cNvSpPr txBox="1"/>
          <p:nvPr/>
        </p:nvSpPr>
        <p:spPr>
          <a:xfrm>
            <a:off x="6157619" y="2072019"/>
            <a:ext cx="2114017" cy="1208023"/>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Equity REITs</a:t>
            </a:r>
          </a:p>
          <a:p>
            <a:r>
              <a:rPr lang="en-GB" altLang="ja-JP" dirty="0">
                <a:solidFill>
                  <a:schemeClr val="tx1"/>
                </a:solidFill>
              </a:rPr>
              <a:t>Public Real Estate Property Companies</a:t>
            </a:r>
          </a:p>
          <a:p>
            <a:r>
              <a:rPr lang="en-GB" altLang="ja-JP" dirty="0">
                <a:solidFill>
                  <a:schemeClr val="tx1"/>
                </a:solidFill>
              </a:rPr>
              <a:t>Real Estate Mutual Funds</a:t>
            </a:r>
          </a:p>
          <a:p>
            <a:r>
              <a:rPr lang="en-GB" altLang="ja-JP" dirty="0" smtClean="0">
                <a:solidFill>
                  <a:schemeClr val="tx1"/>
                </a:solidFill>
              </a:rPr>
              <a:t>Retail</a:t>
            </a:r>
            <a:endParaRPr lang="en-GB" altLang="ja-JP" dirty="0">
              <a:solidFill>
                <a:schemeClr val="tx1"/>
              </a:solidFill>
            </a:endParaRPr>
          </a:p>
        </p:txBody>
      </p:sp>
      <p:sp>
        <p:nvSpPr>
          <p:cNvPr id="26" name="TextBox 25"/>
          <p:cNvSpPr txBox="1"/>
          <p:nvPr/>
        </p:nvSpPr>
        <p:spPr>
          <a:xfrm>
            <a:off x="3927290" y="4181346"/>
            <a:ext cx="2090505" cy="774571"/>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Senior Loans</a:t>
            </a:r>
          </a:p>
          <a:p>
            <a:r>
              <a:rPr lang="en-GB" altLang="ja-JP" dirty="0">
                <a:solidFill>
                  <a:schemeClr val="tx1"/>
                </a:solidFill>
              </a:rPr>
              <a:t>Mezzanine Debt</a:t>
            </a:r>
          </a:p>
          <a:p>
            <a:r>
              <a:rPr lang="en-GB" altLang="ja-JP" dirty="0">
                <a:solidFill>
                  <a:schemeClr val="tx1"/>
                </a:solidFill>
              </a:rPr>
              <a:t>Mortgage Whole Loans</a:t>
            </a:r>
          </a:p>
        </p:txBody>
      </p:sp>
      <p:sp>
        <p:nvSpPr>
          <p:cNvPr id="27" name="TextBox 26"/>
          <p:cNvSpPr txBox="1"/>
          <p:nvPr/>
        </p:nvSpPr>
        <p:spPr>
          <a:xfrm>
            <a:off x="6174667" y="4181346"/>
            <a:ext cx="2079920" cy="959237"/>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US" altLang="zh-CN" dirty="0">
                <a:solidFill>
                  <a:schemeClr val="tx1"/>
                </a:solidFill>
              </a:rPr>
              <a:t>Open and Closed End Funds</a:t>
            </a:r>
          </a:p>
          <a:p>
            <a:r>
              <a:rPr lang="en-US" altLang="ja-JP" dirty="0">
                <a:solidFill>
                  <a:schemeClr val="tx1"/>
                </a:solidFill>
              </a:rPr>
              <a:t>Separate Accounts/Direct Investments</a:t>
            </a:r>
          </a:p>
          <a:p>
            <a:r>
              <a:rPr lang="en-GB" altLang="ja-JP" dirty="0">
                <a:solidFill>
                  <a:schemeClr val="tx1"/>
                </a:solidFill>
              </a:rPr>
              <a:t>Non-Traded REITs</a:t>
            </a:r>
          </a:p>
        </p:txBody>
      </p:sp>
      <p:sp>
        <p:nvSpPr>
          <p:cNvPr id="78" name="TextBox 77"/>
          <p:cNvSpPr txBox="1"/>
          <p:nvPr/>
        </p:nvSpPr>
        <p:spPr>
          <a:xfrm>
            <a:off x="4362517" y="1659714"/>
            <a:ext cx="1220051" cy="276999"/>
          </a:xfrm>
          <a:prstGeom prst="rect">
            <a:avLst/>
          </a:prstGeom>
          <a:noFill/>
        </p:spPr>
        <p:txBody>
          <a:bodyPr wrap="square" rtlCol="0">
            <a:spAutoFit/>
          </a:bodyPr>
          <a:lstStyle/>
          <a:p>
            <a:pPr algn="ctr"/>
            <a:r>
              <a:rPr lang="en-US" sz="1200" b="1" dirty="0" smtClean="0"/>
              <a:t>DEBT</a:t>
            </a:r>
            <a:endParaRPr lang="en-US" sz="1200" b="1" dirty="0"/>
          </a:p>
        </p:txBody>
      </p:sp>
      <p:sp>
        <p:nvSpPr>
          <p:cNvPr id="114" name="Content Placeholder 12"/>
          <p:cNvSpPr>
            <a:spLocks noGrp="1"/>
          </p:cNvSpPr>
          <p:nvPr>
            <p:ph idx="1"/>
          </p:nvPr>
        </p:nvSpPr>
        <p:spPr>
          <a:xfrm>
            <a:off x="293687" y="1235075"/>
            <a:ext cx="1839913" cy="4860925"/>
          </a:xfrm>
        </p:spPr>
        <p:txBody>
          <a:bodyPr/>
          <a:lstStyle/>
          <a:p>
            <a:pPr>
              <a:lnSpc>
                <a:spcPct val="100000"/>
              </a:lnSpc>
              <a:spcBef>
                <a:spcPts val="0"/>
              </a:spcBef>
            </a:pPr>
            <a:r>
              <a:rPr lang="en-US" sz="1100" b="0" dirty="0">
                <a:solidFill>
                  <a:schemeClr val="tx1"/>
                </a:solidFill>
              </a:rPr>
              <a:t>P</a:t>
            </a:r>
            <a:r>
              <a:rPr lang="en-US" sz="1100" b="0" dirty="0" smtClean="0">
                <a:solidFill>
                  <a:schemeClr val="tx1"/>
                </a:solidFill>
              </a:rPr>
              <a:t>roducts based on real estate have been developed for, and are traded in all four branches of the capital markets – </a:t>
            </a:r>
            <a:r>
              <a:rPr lang="en-US" sz="1100" dirty="0" smtClean="0">
                <a:solidFill>
                  <a:schemeClr val="tx1"/>
                </a:solidFill>
              </a:rPr>
              <a:t>Debt/Equity, Public/Private.</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asset and loan coverage of some of these </a:t>
            </a:r>
            <a:r>
              <a:rPr lang="en-US" sz="1100" b="0" dirty="0">
                <a:solidFill>
                  <a:schemeClr val="tx1"/>
                </a:solidFill>
              </a:rPr>
              <a:t>markets </a:t>
            </a:r>
            <a:r>
              <a:rPr lang="en-US" sz="1100" b="0" dirty="0" smtClean="0">
                <a:solidFill>
                  <a:schemeClr val="tx1"/>
                </a:solidFill>
              </a:rPr>
              <a:t>is comprehensive enough to provide significant insight into macro-level trends.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Cello’s </a:t>
            </a:r>
            <a:r>
              <a:rPr lang="en-US" sz="1100" b="0" dirty="0">
                <a:solidFill>
                  <a:schemeClr val="tx1"/>
                </a:solidFill>
              </a:rPr>
              <a:t>framework for CRE analysis connects valuation information across the various capital markets that price CRE </a:t>
            </a:r>
            <a:r>
              <a:rPr lang="en-US" sz="1100" b="0" dirty="0" smtClean="0">
                <a:solidFill>
                  <a:schemeClr val="tx1"/>
                </a:solidFill>
              </a:rPr>
              <a:t>risk</a:t>
            </a:r>
            <a:r>
              <a:rPr lang="en-US" sz="1100" b="0" dirty="0">
                <a:solidFill>
                  <a:schemeClr val="tx1"/>
                </a:solidFill>
              </a:rPr>
              <a:t> </a:t>
            </a:r>
            <a:r>
              <a:rPr lang="en-US" sz="1100" b="0" dirty="0" smtClean="0">
                <a:solidFill>
                  <a:schemeClr val="tx1"/>
                </a:solidFill>
              </a:rPr>
              <a:t>with the goal of identifying pricing inefficiencies that create relative value opportunities.</a:t>
            </a: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p:txBody>
      </p:sp>
      <p:sp>
        <p:nvSpPr>
          <p:cNvPr id="62" name="TextBox 61"/>
          <p:cNvSpPr txBox="1"/>
          <p:nvPr/>
        </p:nvSpPr>
        <p:spPr>
          <a:xfrm>
            <a:off x="6604602" y="1659714"/>
            <a:ext cx="1220051" cy="276999"/>
          </a:xfrm>
          <a:prstGeom prst="rect">
            <a:avLst/>
          </a:prstGeom>
          <a:noFill/>
        </p:spPr>
        <p:txBody>
          <a:bodyPr wrap="square" rtlCol="0">
            <a:spAutoFit/>
          </a:bodyPr>
          <a:lstStyle/>
          <a:p>
            <a:pPr algn="ctr"/>
            <a:r>
              <a:rPr lang="en-US" sz="1200" b="1" dirty="0" smtClean="0"/>
              <a:t>EQUITY</a:t>
            </a:r>
            <a:endParaRPr lang="en-US" sz="1200" b="1" dirty="0"/>
          </a:p>
        </p:txBody>
      </p:sp>
    </p:spTree>
    <p:extLst>
      <p:ext uri="{BB962C8B-B14F-4D97-AF65-F5344CB8AC3E}">
        <p14:creationId xmlns:p14="http://schemas.microsoft.com/office/powerpoint/2010/main" val="4218798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06453" y="1825915"/>
            <a:ext cx="3733800" cy="2186183"/>
          </a:xfrm>
          <a:prstGeom prst="rect">
            <a:avLst/>
          </a:prstGeom>
          <a:solidFill>
            <a:schemeClr val="accent6">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8" name="Straight Connector 17"/>
          <p:cNvCxnSpPr/>
          <p:nvPr/>
        </p:nvCxnSpPr>
        <p:spPr>
          <a:xfrm>
            <a:off x="2477453" y="1508799"/>
            <a:ext cx="278034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CRE Modeling</a:t>
            </a:r>
            <a:br>
              <a:rPr lang="en-US" dirty="0" smtClean="0"/>
            </a:br>
            <a:r>
              <a:rPr lang="en-US" dirty="0" smtClean="0"/>
              <a:t>COMMERCIAL PROPERTY AND Loan basics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rPr>
              <a:t>As in the case of </a:t>
            </a:r>
            <a:r>
              <a:rPr lang="en-US" sz="1100" b="0" dirty="0">
                <a:solidFill>
                  <a:schemeClr val="tx1"/>
                </a:solidFill>
              </a:rPr>
              <a:t>r</a:t>
            </a:r>
            <a:r>
              <a:rPr lang="en-US" sz="1100" b="0" dirty="0" smtClean="0">
                <a:solidFill>
                  <a:schemeClr val="tx1"/>
                </a:solidFill>
              </a:rPr>
              <a:t>esidential properties, most commercial properties are financed with mortgages.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a:t>
            </a:r>
            <a:r>
              <a:rPr lang="en-US" sz="1100" b="0" dirty="0" smtClean="0">
                <a:solidFill>
                  <a:schemeClr val="tx1"/>
                </a:solidFill>
              </a:rPr>
              <a:t>he capital structure for a commercial property also includes a mortgage part and a borrower equity part.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key </a:t>
            </a:r>
            <a:r>
              <a:rPr lang="en-US" sz="1100" dirty="0" smtClean="0">
                <a:solidFill>
                  <a:schemeClr val="tx1"/>
                </a:solidFill>
              </a:rPr>
              <a:t>credit events </a:t>
            </a:r>
            <a:r>
              <a:rPr lang="en-US" sz="1100" b="0" dirty="0" smtClean="0">
                <a:solidFill>
                  <a:schemeClr val="tx1"/>
                </a:solidFill>
              </a:rPr>
              <a:t>associated with a commercial mortgage include a Term Default, a Maturity Default and Extension Risk.</a:t>
            </a:r>
          </a:p>
          <a:p>
            <a:pPr>
              <a:lnSpc>
                <a:spcPct val="100000"/>
              </a:lnSpc>
              <a:spcBef>
                <a:spcPts val="0"/>
              </a:spcBef>
            </a:pPr>
            <a:endParaRPr lang="en-US" sz="1100" b="0" dirty="0">
              <a:solidFill>
                <a:schemeClr val="tx1"/>
              </a:solidFill>
            </a:endParaRPr>
          </a:p>
          <a:p>
            <a:pPr>
              <a:lnSpc>
                <a:spcPct val="100000"/>
              </a:lnSpc>
              <a:spcBef>
                <a:spcPts val="0"/>
              </a:spcBef>
            </a:pPr>
            <a:r>
              <a:rPr lang="en-US" sz="1100" dirty="0" smtClean="0">
                <a:solidFill>
                  <a:schemeClr val="tx1"/>
                </a:solidFill>
              </a:rPr>
              <a:t>Extension Risk</a:t>
            </a:r>
            <a:r>
              <a:rPr lang="en-US" sz="1100" b="0" dirty="0" smtClean="0">
                <a:solidFill>
                  <a:schemeClr val="tx1"/>
                </a:solidFill>
              </a:rPr>
              <a:t>: Borrowers with a mortgage that is not in default at maturity but does not meet prevailing underwriting standards will attempt to extend the loan with the lender. Loans that are extended may ultimately default. </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3010853" y="1143000"/>
            <a:ext cx="1981200" cy="4114800"/>
            <a:chOff x="2819400" y="1582439"/>
            <a:chExt cx="1981200" cy="3935898"/>
          </a:xfrm>
        </p:grpSpPr>
        <p:graphicFrame>
          <p:nvGraphicFramePr>
            <p:cNvPr id="36" name="Chart 35"/>
            <p:cNvGraphicFramePr/>
            <p:nvPr>
              <p:custDataLst>
                <p:tags r:id="rId5"/>
              </p:custDataLst>
              <p:extLst>
                <p:ext uri="{D42A27DB-BD31-4B8C-83A1-F6EECF244321}">
                  <p14:modId xmlns:p14="http://schemas.microsoft.com/office/powerpoint/2010/main" val="489750133"/>
                </p:ext>
              </p:extLst>
            </p:nvPr>
          </p:nvGraphicFramePr>
          <p:xfrm>
            <a:off x="2819400" y="1582439"/>
            <a:ext cx="1981200" cy="3935898"/>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p:cNvSpPr txBox="1"/>
            <p:nvPr/>
          </p:nvSpPr>
          <p:spPr>
            <a:xfrm>
              <a:off x="3276600" y="3276600"/>
              <a:ext cx="914400" cy="261610"/>
            </a:xfrm>
            <a:prstGeom prst="rect">
              <a:avLst/>
            </a:prstGeom>
            <a:noFill/>
          </p:spPr>
          <p:txBody>
            <a:bodyPr wrap="square" rtlCol="0">
              <a:spAutoFit/>
            </a:bodyPr>
            <a:lstStyle/>
            <a:p>
              <a:pPr algn="ctr"/>
              <a:r>
                <a:rPr lang="en-US" sz="1100" b="1" dirty="0" smtClean="0">
                  <a:solidFill>
                    <a:schemeClr val="bg1"/>
                  </a:solidFill>
                </a:rPr>
                <a:t>Mortgage</a:t>
              </a:r>
              <a:endParaRPr lang="en-US" sz="1100" b="1" dirty="0">
                <a:solidFill>
                  <a:schemeClr val="bg1"/>
                </a:solidFill>
              </a:endParaRPr>
            </a:p>
          </p:txBody>
        </p:sp>
        <p:sp>
          <p:nvSpPr>
            <p:cNvPr id="37" name="TextBox 36"/>
            <p:cNvSpPr txBox="1"/>
            <p:nvPr/>
          </p:nvSpPr>
          <p:spPr>
            <a:xfrm>
              <a:off x="3276600" y="4724400"/>
              <a:ext cx="914400" cy="430887"/>
            </a:xfrm>
            <a:prstGeom prst="rect">
              <a:avLst/>
            </a:prstGeom>
            <a:noFill/>
          </p:spPr>
          <p:txBody>
            <a:bodyPr wrap="square" rtlCol="0">
              <a:spAutoFit/>
            </a:bodyPr>
            <a:lstStyle/>
            <a:p>
              <a:pPr algn="ctr"/>
              <a:r>
                <a:rPr lang="en-US" sz="1100" b="1" dirty="0" smtClean="0">
                  <a:solidFill>
                    <a:schemeClr val="tx2"/>
                  </a:solidFill>
                </a:rPr>
                <a:t>Borrower</a:t>
              </a:r>
            </a:p>
            <a:p>
              <a:pPr algn="ctr"/>
              <a:r>
                <a:rPr lang="en-US" sz="1100" b="1" dirty="0" smtClean="0">
                  <a:solidFill>
                    <a:schemeClr val="tx2"/>
                  </a:solidFill>
                </a:rPr>
                <a:t>Equity</a:t>
              </a:r>
              <a:endParaRPr lang="en-US" sz="1100" b="1" dirty="0">
                <a:solidFill>
                  <a:schemeClr val="tx2"/>
                </a:solidFill>
              </a:endParaRPr>
            </a:p>
          </p:txBody>
        </p:sp>
      </p:grpSp>
      <p:sp>
        <p:nvSpPr>
          <p:cNvPr id="41" name="Freeform 5"/>
          <p:cNvSpPr>
            <a:spLocks/>
          </p:cNvSpPr>
          <p:nvPr>
            <p:custDataLst>
              <p:tags r:id="rId1"/>
            </p:custDataLst>
          </p:nvPr>
        </p:nvSpPr>
        <p:spPr bwMode="auto">
          <a:xfrm>
            <a:off x="3010852" y="1919628"/>
            <a:ext cx="457201" cy="1041992"/>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6" name="Freeform 14"/>
          <p:cNvSpPr>
            <a:spLocks/>
          </p:cNvSpPr>
          <p:nvPr>
            <p:custDataLst>
              <p:tags r:id="rId2"/>
            </p:custDataLst>
          </p:nvPr>
        </p:nvSpPr>
        <p:spPr bwMode="auto">
          <a:xfrm rot="10800000" flipH="1">
            <a:off x="3010853" y="4133961"/>
            <a:ext cx="431505" cy="819039"/>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8" name="TextBox 7"/>
          <p:cNvSpPr txBox="1"/>
          <p:nvPr/>
        </p:nvSpPr>
        <p:spPr>
          <a:xfrm>
            <a:off x="2477453" y="3209836"/>
            <a:ext cx="1066800" cy="600164"/>
          </a:xfrm>
          <a:prstGeom prst="rect">
            <a:avLst/>
          </a:prstGeom>
          <a:noFill/>
        </p:spPr>
        <p:txBody>
          <a:bodyPr wrap="square" rtlCol="0">
            <a:spAutoFit/>
          </a:bodyPr>
          <a:lstStyle/>
          <a:p>
            <a:pPr algn="ctr"/>
            <a:r>
              <a:rPr lang="en-US" sz="1100" dirty="0" smtClean="0"/>
              <a:t>Total</a:t>
            </a:r>
          </a:p>
          <a:p>
            <a:pPr algn="ctr"/>
            <a:r>
              <a:rPr lang="en-US" sz="1100" dirty="0" smtClean="0"/>
              <a:t>Property</a:t>
            </a:r>
          </a:p>
          <a:p>
            <a:pPr algn="ctr"/>
            <a:r>
              <a:rPr lang="en-US" sz="1100" dirty="0" smtClean="0"/>
              <a:t>Value = 100%</a:t>
            </a:r>
            <a:endParaRPr lang="en-US" sz="1100" dirty="0"/>
          </a:p>
        </p:txBody>
      </p:sp>
      <p:sp>
        <p:nvSpPr>
          <p:cNvPr id="47" name="Freeform 5"/>
          <p:cNvSpPr>
            <a:spLocks/>
          </p:cNvSpPr>
          <p:nvPr>
            <p:custDataLst>
              <p:tags r:id="rId3"/>
            </p:custDataLst>
          </p:nvPr>
        </p:nvSpPr>
        <p:spPr bwMode="auto">
          <a:xfrm rot="10800000">
            <a:off x="4368380" y="3567272"/>
            <a:ext cx="457201" cy="77612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8" name="Freeform 14"/>
          <p:cNvSpPr>
            <a:spLocks/>
          </p:cNvSpPr>
          <p:nvPr>
            <p:custDataLst>
              <p:tags r:id="rId4"/>
            </p:custDataLst>
          </p:nvPr>
        </p:nvSpPr>
        <p:spPr bwMode="auto">
          <a:xfrm flipH="1">
            <a:off x="4394076" y="1907826"/>
            <a:ext cx="431505" cy="70073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6" name="TextBox 55"/>
          <p:cNvSpPr txBox="1"/>
          <p:nvPr/>
        </p:nvSpPr>
        <p:spPr>
          <a:xfrm>
            <a:off x="4394076" y="2819400"/>
            <a:ext cx="826577" cy="600164"/>
          </a:xfrm>
          <a:prstGeom prst="rect">
            <a:avLst/>
          </a:prstGeom>
          <a:noFill/>
        </p:spPr>
        <p:txBody>
          <a:bodyPr wrap="square" rtlCol="0">
            <a:spAutoFit/>
          </a:bodyPr>
          <a:lstStyle/>
          <a:p>
            <a:pPr algn="ctr"/>
            <a:r>
              <a:rPr lang="en-US" sz="1100" dirty="0" smtClean="0"/>
              <a:t>Mortgage</a:t>
            </a:r>
          </a:p>
          <a:p>
            <a:pPr algn="ctr"/>
            <a:r>
              <a:rPr lang="en-US" sz="1100" dirty="0" smtClean="0"/>
              <a:t>LTV</a:t>
            </a:r>
          </a:p>
          <a:p>
            <a:pPr algn="ctr"/>
            <a:r>
              <a:rPr lang="en-US" sz="1100" dirty="0" smtClean="0"/>
              <a:t>= 80%</a:t>
            </a:r>
            <a:endParaRPr lang="en-US" sz="1100" dirty="0"/>
          </a:p>
        </p:txBody>
      </p:sp>
      <p:cxnSp>
        <p:nvCxnSpPr>
          <p:cNvPr id="13" name="Straight Connector 12"/>
          <p:cNvCxnSpPr/>
          <p:nvPr/>
        </p:nvCxnSpPr>
        <p:spPr>
          <a:xfrm>
            <a:off x="5410200" y="1726098"/>
            <a:ext cx="0" cy="32766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82653" y="1825915"/>
            <a:ext cx="3657600" cy="2123658"/>
          </a:xfrm>
          <a:prstGeom prst="rect">
            <a:avLst/>
          </a:prstGeom>
          <a:noFill/>
        </p:spPr>
        <p:txBody>
          <a:bodyPr wrap="square" rtlCol="0">
            <a:spAutoFit/>
          </a:bodyPr>
          <a:lstStyle/>
          <a:p>
            <a:r>
              <a:rPr lang="en-US" sz="1100" b="1" dirty="0" smtClean="0"/>
              <a:t>Credit events for Commercial mortgages</a:t>
            </a:r>
          </a:p>
          <a:p>
            <a:endParaRPr lang="en-US" sz="1100" b="1" dirty="0" smtClean="0"/>
          </a:p>
          <a:p>
            <a:pPr marL="171450" indent="-171450">
              <a:buFont typeface="Arial" panose="020B0604020202020204" pitchFamily="34" charset="0"/>
              <a:buChar char="•"/>
            </a:pPr>
            <a:r>
              <a:rPr lang="en-US" sz="1100" u="sng" dirty="0" smtClean="0"/>
              <a:t>Term </a:t>
            </a:r>
            <a:r>
              <a:rPr lang="en-US" sz="1100" u="sng" dirty="0"/>
              <a:t>Default </a:t>
            </a:r>
            <a:r>
              <a:rPr lang="en-US" sz="1100" dirty="0" smtClean="0"/>
              <a:t>: </a:t>
            </a:r>
          </a:p>
          <a:p>
            <a:r>
              <a:rPr lang="en-US" sz="1100" dirty="0" smtClean="0"/>
              <a:t>Borrower </a:t>
            </a:r>
            <a:r>
              <a:rPr lang="en-US" sz="1100" dirty="0"/>
              <a:t>is unable to </a:t>
            </a:r>
            <a:r>
              <a:rPr lang="en-US" sz="1100" dirty="0" smtClean="0"/>
              <a:t>meet </a:t>
            </a:r>
            <a:r>
              <a:rPr lang="en-US" sz="1100" dirty="0"/>
              <a:t>interest obligations and defaults on </a:t>
            </a:r>
            <a:r>
              <a:rPr lang="en-US" sz="1100" dirty="0" smtClean="0"/>
              <a:t>the </a:t>
            </a:r>
            <a:r>
              <a:rPr lang="en-US" sz="1100" dirty="0"/>
              <a:t>mortgage before maturity</a:t>
            </a:r>
          </a:p>
          <a:p>
            <a:endParaRPr lang="en-US" sz="1100" dirty="0"/>
          </a:p>
          <a:p>
            <a:pPr marL="171450" indent="-171450">
              <a:buFont typeface="Arial" panose="020B0604020202020204" pitchFamily="34" charset="0"/>
              <a:buChar char="•"/>
            </a:pPr>
            <a:r>
              <a:rPr lang="en-US" sz="1100" u="sng" dirty="0"/>
              <a:t>Maturity Default</a:t>
            </a:r>
            <a:r>
              <a:rPr lang="en-US" sz="1100" dirty="0"/>
              <a:t>: </a:t>
            </a:r>
            <a:endParaRPr lang="en-US" sz="1100" dirty="0" smtClean="0"/>
          </a:p>
          <a:p>
            <a:r>
              <a:rPr lang="en-US" sz="1100" dirty="0" smtClean="0"/>
              <a:t>Borrower </a:t>
            </a:r>
            <a:r>
              <a:rPr lang="en-US" sz="1100" dirty="0"/>
              <a:t>is unable to refinance or payoff </a:t>
            </a:r>
            <a:r>
              <a:rPr lang="en-US" sz="1100" dirty="0" smtClean="0"/>
              <a:t>the loan </a:t>
            </a:r>
            <a:r>
              <a:rPr lang="en-US" sz="1100" dirty="0"/>
              <a:t>balance at maturity</a:t>
            </a:r>
          </a:p>
          <a:p>
            <a:endParaRPr lang="en-US" sz="1100" dirty="0"/>
          </a:p>
          <a:p>
            <a:pPr marL="171450" indent="-171450">
              <a:buFont typeface="Arial" panose="020B0604020202020204" pitchFamily="34" charset="0"/>
              <a:buChar char="•"/>
            </a:pPr>
            <a:r>
              <a:rPr lang="en-US" sz="1100" u="sng" dirty="0"/>
              <a:t>Extension Risk</a:t>
            </a:r>
            <a:r>
              <a:rPr lang="en-US" sz="1100" dirty="0"/>
              <a:t>: </a:t>
            </a:r>
            <a:endParaRPr lang="en-US" sz="1100" dirty="0" smtClean="0"/>
          </a:p>
          <a:p>
            <a:r>
              <a:rPr lang="en-US" sz="1100" dirty="0" smtClean="0"/>
              <a:t>Servicer/Lender </a:t>
            </a:r>
            <a:r>
              <a:rPr lang="en-US" sz="1100" dirty="0"/>
              <a:t> </a:t>
            </a:r>
            <a:r>
              <a:rPr lang="en-US" sz="1100" dirty="0" smtClean="0"/>
              <a:t>has to extend </a:t>
            </a:r>
            <a:r>
              <a:rPr lang="en-US" sz="1100" dirty="0"/>
              <a:t>loan </a:t>
            </a:r>
            <a:r>
              <a:rPr lang="en-US" sz="1100" dirty="0" smtClean="0"/>
              <a:t>maturity</a:t>
            </a:r>
            <a:endParaRPr lang="en-US" sz="1100" dirty="0"/>
          </a:p>
        </p:txBody>
      </p:sp>
      <p:sp>
        <p:nvSpPr>
          <p:cNvPr id="9" name="Content Placeholder 8"/>
          <p:cNvSpPr>
            <a:spLocks noGrp="1"/>
          </p:cNvSpPr>
          <p:nvPr>
            <p:ph sz="quarter" idx="13"/>
          </p:nvPr>
        </p:nvSpPr>
        <p:spPr>
          <a:xfrm>
            <a:off x="2563678" y="1405800"/>
            <a:ext cx="2541722" cy="205998"/>
          </a:xfrm>
          <a:solidFill>
            <a:schemeClr val="bg1"/>
          </a:solidFill>
        </p:spPr>
        <p:txBody>
          <a:bodyPr/>
          <a:lstStyle/>
          <a:p>
            <a:pPr algn="ctr"/>
            <a:r>
              <a:rPr lang="en-US" sz="1200" dirty="0" smtClean="0"/>
              <a:t>Capital Structure of a Sample Property</a:t>
            </a:r>
            <a:endParaRPr lang="en-US" sz="1200" dirty="0"/>
          </a:p>
        </p:txBody>
      </p:sp>
      <p:cxnSp>
        <p:nvCxnSpPr>
          <p:cNvPr id="94" name="Straight Connector 93"/>
          <p:cNvCxnSpPr/>
          <p:nvPr/>
        </p:nvCxnSpPr>
        <p:spPr>
          <a:xfrm>
            <a:off x="5754053" y="1508799"/>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Content Placeholder 8"/>
          <p:cNvSpPr txBox="1">
            <a:spLocks/>
          </p:cNvSpPr>
          <p:nvPr/>
        </p:nvSpPr>
        <p:spPr>
          <a:xfrm>
            <a:off x="5982653" y="1413549"/>
            <a:ext cx="3429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Life Cycle of a Sample Commercial Mortgage Loan</a:t>
            </a:r>
            <a:endParaRPr lang="en-US" sz="1200" dirty="0"/>
          </a:p>
        </p:txBody>
      </p:sp>
      <p:cxnSp>
        <p:nvCxnSpPr>
          <p:cNvPr id="23" name="Straight Connector 22"/>
          <p:cNvCxnSpPr/>
          <p:nvPr/>
        </p:nvCxnSpPr>
        <p:spPr>
          <a:xfrm>
            <a:off x="5830253" y="475488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81501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834485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9662160"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p:cNvSpPr/>
          <p:nvPr/>
        </p:nvSpPr>
        <p:spPr>
          <a:xfrm rot="5400000">
            <a:off x="7031874" y="3367586"/>
            <a:ext cx="155172" cy="248412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p:cNvSpPr/>
          <p:nvPr/>
        </p:nvSpPr>
        <p:spPr>
          <a:xfrm rot="5400000">
            <a:off x="8998787" y="3972338"/>
            <a:ext cx="155172" cy="128016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477000" y="4323993"/>
            <a:ext cx="1220152" cy="261610"/>
          </a:xfrm>
          <a:prstGeom prst="rect">
            <a:avLst/>
          </a:prstGeom>
          <a:noFill/>
        </p:spPr>
        <p:txBody>
          <a:bodyPr wrap="square" rtlCol="0">
            <a:spAutoFit/>
          </a:bodyPr>
          <a:lstStyle/>
          <a:p>
            <a:pPr algn="ctr"/>
            <a:r>
              <a:rPr lang="en-US" sz="1050" dirty="0" smtClean="0"/>
              <a:t>Term Default Risk</a:t>
            </a:r>
            <a:endParaRPr lang="en-US" sz="1050" dirty="0"/>
          </a:p>
        </p:txBody>
      </p:sp>
      <p:sp>
        <p:nvSpPr>
          <p:cNvPr id="98" name="TextBox 97"/>
          <p:cNvSpPr txBox="1"/>
          <p:nvPr/>
        </p:nvSpPr>
        <p:spPr>
          <a:xfrm>
            <a:off x="8466297" y="4323993"/>
            <a:ext cx="1220152" cy="261610"/>
          </a:xfrm>
          <a:prstGeom prst="rect">
            <a:avLst/>
          </a:prstGeom>
          <a:noFill/>
        </p:spPr>
        <p:txBody>
          <a:bodyPr wrap="square" rtlCol="0">
            <a:spAutoFit/>
          </a:bodyPr>
          <a:lstStyle/>
          <a:p>
            <a:pPr algn="ctr"/>
            <a:r>
              <a:rPr lang="en-US" sz="1050" dirty="0" smtClean="0"/>
              <a:t>Extension Risk</a:t>
            </a:r>
            <a:endParaRPr lang="en-US" sz="1050" dirty="0"/>
          </a:p>
        </p:txBody>
      </p:sp>
      <p:sp>
        <p:nvSpPr>
          <p:cNvPr id="99" name="TextBox 98"/>
          <p:cNvSpPr txBox="1"/>
          <p:nvPr/>
        </p:nvSpPr>
        <p:spPr>
          <a:xfrm>
            <a:off x="7620000" y="4038600"/>
            <a:ext cx="1439703" cy="261610"/>
          </a:xfrm>
          <a:prstGeom prst="rect">
            <a:avLst/>
          </a:prstGeom>
          <a:noFill/>
        </p:spPr>
        <p:txBody>
          <a:bodyPr wrap="square" rtlCol="0">
            <a:spAutoFit/>
          </a:bodyPr>
          <a:lstStyle/>
          <a:p>
            <a:pPr algn="ctr"/>
            <a:r>
              <a:rPr lang="en-US" sz="1050" dirty="0" smtClean="0"/>
              <a:t>Maturity Default Risk</a:t>
            </a:r>
            <a:endParaRPr lang="en-US" sz="1050" dirty="0"/>
          </a:p>
        </p:txBody>
      </p:sp>
      <p:cxnSp>
        <p:nvCxnSpPr>
          <p:cNvPr id="100" name="Straight Arrow Connector 99"/>
          <p:cNvCxnSpPr/>
          <p:nvPr/>
        </p:nvCxnSpPr>
        <p:spPr>
          <a:xfrm>
            <a:off x="8390573" y="4267200"/>
            <a:ext cx="0" cy="38702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562600" y="4800600"/>
            <a:ext cx="610076" cy="246221"/>
          </a:xfrm>
          <a:prstGeom prst="rect">
            <a:avLst/>
          </a:prstGeom>
          <a:noFill/>
        </p:spPr>
        <p:txBody>
          <a:bodyPr wrap="square" rtlCol="0">
            <a:spAutoFit/>
          </a:bodyPr>
          <a:lstStyle/>
          <a:p>
            <a:pPr algn="ctr"/>
            <a:r>
              <a:rPr lang="en-US" sz="1000" dirty="0" smtClean="0"/>
              <a:t>Year 0</a:t>
            </a:r>
            <a:endParaRPr lang="en-US" sz="1000" dirty="0"/>
          </a:p>
        </p:txBody>
      </p:sp>
      <p:sp>
        <p:nvSpPr>
          <p:cNvPr id="102" name="TextBox 101"/>
          <p:cNvSpPr txBox="1"/>
          <p:nvPr/>
        </p:nvSpPr>
        <p:spPr>
          <a:xfrm>
            <a:off x="8085535" y="4800600"/>
            <a:ext cx="610076" cy="246221"/>
          </a:xfrm>
          <a:prstGeom prst="rect">
            <a:avLst/>
          </a:prstGeom>
          <a:noFill/>
        </p:spPr>
        <p:txBody>
          <a:bodyPr wrap="square" rtlCol="0">
            <a:spAutoFit/>
          </a:bodyPr>
          <a:lstStyle/>
          <a:p>
            <a:pPr algn="ctr"/>
            <a:r>
              <a:rPr lang="en-US" sz="1000" dirty="0" smtClean="0"/>
              <a:t>Year 10</a:t>
            </a:r>
            <a:endParaRPr lang="en-US" sz="1000" dirty="0"/>
          </a:p>
        </p:txBody>
      </p:sp>
      <p:sp>
        <p:nvSpPr>
          <p:cNvPr id="103" name="TextBox 102"/>
          <p:cNvSpPr txBox="1"/>
          <p:nvPr/>
        </p:nvSpPr>
        <p:spPr>
          <a:xfrm>
            <a:off x="9296400" y="4800600"/>
            <a:ext cx="610076" cy="246221"/>
          </a:xfrm>
          <a:prstGeom prst="rect">
            <a:avLst/>
          </a:prstGeom>
          <a:noFill/>
        </p:spPr>
        <p:txBody>
          <a:bodyPr wrap="square" rtlCol="0">
            <a:spAutoFit/>
          </a:bodyPr>
          <a:lstStyle/>
          <a:p>
            <a:pPr algn="ctr"/>
            <a:r>
              <a:rPr lang="en-US" sz="1000" dirty="0" smtClean="0"/>
              <a:t>Year 12</a:t>
            </a:r>
            <a:endParaRPr lang="en-US" sz="1000" dirty="0"/>
          </a:p>
        </p:txBody>
      </p:sp>
      <p:sp>
        <p:nvSpPr>
          <p:cNvPr id="104" name="TextBox 103"/>
          <p:cNvSpPr txBox="1"/>
          <p:nvPr/>
        </p:nvSpPr>
        <p:spPr>
          <a:xfrm>
            <a:off x="5410200" y="4953000"/>
            <a:ext cx="914400" cy="400110"/>
          </a:xfrm>
          <a:prstGeom prst="rect">
            <a:avLst/>
          </a:prstGeom>
          <a:noFill/>
        </p:spPr>
        <p:txBody>
          <a:bodyPr wrap="square" rtlCol="0">
            <a:spAutoFit/>
          </a:bodyPr>
          <a:lstStyle/>
          <a:p>
            <a:pPr algn="ctr"/>
            <a:r>
              <a:rPr lang="en-US" sz="1000" i="1" dirty="0" smtClean="0">
                <a:solidFill>
                  <a:schemeClr val="accent2">
                    <a:lumMod val="75000"/>
                  </a:schemeClr>
                </a:solidFill>
              </a:rPr>
              <a:t>Original Loan Issuance</a:t>
            </a:r>
            <a:endParaRPr lang="en-US" sz="1000" i="1" dirty="0">
              <a:solidFill>
                <a:schemeClr val="accent2">
                  <a:lumMod val="75000"/>
                </a:schemeClr>
              </a:solidFill>
            </a:endParaRPr>
          </a:p>
        </p:txBody>
      </p:sp>
      <p:sp>
        <p:nvSpPr>
          <p:cNvPr id="105" name="TextBox 104"/>
          <p:cNvSpPr txBox="1"/>
          <p:nvPr/>
        </p:nvSpPr>
        <p:spPr>
          <a:xfrm>
            <a:off x="7924800" y="4935379"/>
            <a:ext cx="914399"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Stated Loan Maturity</a:t>
            </a:r>
          </a:p>
        </p:txBody>
      </p:sp>
      <p:sp>
        <p:nvSpPr>
          <p:cNvPr id="106" name="TextBox 105"/>
          <p:cNvSpPr txBox="1"/>
          <p:nvPr/>
        </p:nvSpPr>
        <p:spPr>
          <a:xfrm>
            <a:off x="9295924" y="4935379"/>
            <a:ext cx="610076"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Final Payoff</a:t>
            </a:r>
          </a:p>
        </p:txBody>
      </p:sp>
      <p:cxnSp>
        <p:nvCxnSpPr>
          <p:cNvPr id="107" name="Straight Connector 106"/>
          <p:cNvCxnSpPr/>
          <p:nvPr/>
        </p:nvCxnSpPr>
        <p:spPr>
          <a:xfrm>
            <a:off x="2743200" y="57340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Content Placeholder 8"/>
          <p:cNvSpPr txBox="1">
            <a:spLocks/>
          </p:cNvSpPr>
          <p:nvPr/>
        </p:nvSpPr>
        <p:spPr>
          <a:xfrm>
            <a:off x="4876800" y="56388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Key Term Definitions</a:t>
            </a:r>
            <a:endParaRPr lang="en-US" sz="1200" dirty="0"/>
          </a:p>
        </p:txBody>
      </p:sp>
      <mc:AlternateContent xmlns:mc="http://schemas.openxmlformats.org/markup-compatibility/2006">
        <mc:Choice xmlns:a14="http://schemas.microsoft.com/office/drawing/2010/main" Requires="a14">
          <p:sp>
            <p:nvSpPr>
              <p:cNvPr id="109" name="TextBox 108"/>
              <p:cNvSpPr txBox="1"/>
              <p:nvPr/>
            </p:nvSpPr>
            <p:spPr>
              <a:xfrm>
                <a:off x="4405611" y="6019800"/>
                <a:ext cx="1638782" cy="876009"/>
              </a:xfrm>
              <a:prstGeom prst="rect">
                <a:avLst/>
              </a:prstGeom>
              <a:noFill/>
            </p:spPr>
            <p:txBody>
              <a:bodyPr wrap="none" rtlCol="0">
                <a:spAutoFit/>
              </a:bodyPr>
              <a:lstStyle>
                <a:defPPr>
                  <a:defRPr lang="en-US"/>
                </a:defPPr>
                <a:lvl1pPr>
                  <a:lnSpc>
                    <a:spcPct val="150000"/>
                  </a:lnSpc>
                  <a:defRPr sz="1200"/>
                </a:lvl1pPr>
              </a:lstStyle>
              <a:p>
                <a:r>
                  <a:rPr lang="en-US" b="1" dirty="0" smtClean="0"/>
                  <a:t>  Property </a:t>
                </a:r>
                <a:r>
                  <a:rPr lang="en-US" b="1" dirty="0"/>
                  <a:t>Value</a:t>
                </a:r>
              </a:p>
              <a:p>
                <a:pPr/>
                <a:r>
                  <a:rPr lang="en-US" dirty="0" smtClean="0">
                    <a:solidFill>
                      <a:schemeClr val="bg1"/>
                    </a:solidFill>
                  </a:rPr>
                  <a:t>a</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a:latin typeface="Cambria Math"/>
                          </a:rPr>
                          <m:t>Capitalization</m:t>
                        </m:r>
                        <m:r>
                          <a:rPr lang="en-US" sz="1400">
                            <a:latin typeface="Cambria Math"/>
                          </a:rPr>
                          <m:t> </m:t>
                        </m:r>
                        <m:r>
                          <m:rPr>
                            <m:sty m:val="p"/>
                          </m:rPr>
                          <a:rPr lang="en-US" sz="1400">
                            <a:latin typeface="Cambria Math"/>
                          </a:rPr>
                          <m:t>Rate</m:t>
                        </m:r>
                      </m:den>
                    </m:f>
                  </m:oMath>
                </a14:m>
                <a:endParaRPr lang="en-US" dirty="0"/>
              </a:p>
            </p:txBody>
          </p:sp>
        </mc:Choice>
        <mc:Fallback>
          <p:sp>
            <p:nvSpPr>
              <p:cNvPr id="109" name="TextBox 108"/>
              <p:cNvSpPr txBox="1">
                <a:spLocks noRot="1" noChangeAspect="1" noMove="1" noResize="1" noEditPoints="1" noAdjustHandles="1" noChangeArrowheads="1" noChangeShapeType="1" noTextEdit="1"/>
              </p:cNvSpPr>
              <p:nvPr/>
            </p:nvSpPr>
            <p:spPr>
              <a:xfrm>
                <a:off x="4405611" y="6019800"/>
                <a:ext cx="1638782" cy="876009"/>
              </a:xfrm>
              <a:prstGeom prst="rect">
                <a:avLst/>
              </a:prstGeom>
              <a:blipFill rotWithShape="1">
                <a:blip r:embed="rId9"/>
                <a:stretch>
                  <a:fillRect l="-37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 name="TextBox 109"/>
              <p:cNvSpPr txBox="1"/>
              <p:nvPr/>
            </p:nvSpPr>
            <p:spPr>
              <a:xfrm>
                <a:off x="6100870" y="6019800"/>
                <a:ext cx="1584216" cy="883703"/>
              </a:xfrm>
              <a:prstGeom prst="rect">
                <a:avLst/>
              </a:prstGeom>
              <a:noFill/>
            </p:spPr>
            <p:txBody>
              <a:bodyPr wrap="none" rtlCol="0">
                <a:spAutoFit/>
              </a:bodyPr>
              <a:lstStyle/>
              <a:p>
                <a:pPr>
                  <a:lnSpc>
                    <a:spcPct val="150000"/>
                  </a:lnSpc>
                </a:pPr>
                <a:r>
                  <a:rPr lang="en-US" sz="1200" b="1" dirty="0" smtClean="0"/>
                  <a:t> </a:t>
                </a:r>
                <a:r>
                  <a:rPr lang="en-US" sz="1200" b="1" dirty="0" smtClean="0"/>
                  <a:t>Loan to Value </a:t>
                </a:r>
                <a:endParaRPr lang="en-US" sz="1200" b="1" dirty="0" smtClean="0"/>
              </a:p>
              <a:p>
                <a:pPr>
                  <a:lnSpc>
                    <a:spcPct val="150000"/>
                  </a:lnSpc>
                </a:pPr>
                <a:r>
                  <a:rPr lang="en-US" sz="1200" b="1" dirty="0" smtClean="0"/>
                  <a:t>LTV</a:t>
                </a:r>
                <a14:m>
                  <m:oMath xmlns:m="http://schemas.openxmlformats.org/officeDocument/2006/math">
                    <m:r>
                      <a:rPr lang="en-US" sz="1400" b="1" i="0" smtClean="0">
                        <a:latin typeface="Cambria Math"/>
                      </a:rPr>
                      <m:t> </m:t>
                    </m:r>
                    <m:r>
                      <a:rPr lang="en-US" sz="1400" i="0" smtClean="0">
                        <a:latin typeface="Cambria Math"/>
                      </a:rPr>
                      <m:t>=</m:t>
                    </m:r>
                    <m:f>
                      <m:fPr>
                        <m:ctrlPr>
                          <a:rPr lang="en-US" sz="1400" i="1" smtClean="0">
                            <a:latin typeface="Cambria Math"/>
                          </a:rPr>
                        </m:ctrlPr>
                      </m:fPr>
                      <m:num>
                        <m:r>
                          <m:rPr>
                            <m:sty m:val="p"/>
                          </m:rPr>
                          <a:rPr lang="en-US" sz="1400" b="0" i="0" smtClean="0">
                            <a:latin typeface="Cambria Math"/>
                          </a:rPr>
                          <m:t>Loan</m:t>
                        </m:r>
                        <m:r>
                          <a:rPr lang="en-US" sz="1400" b="0" i="0" smtClean="0">
                            <a:latin typeface="Cambria Math"/>
                          </a:rPr>
                          <m:t> </m:t>
                        </m:r>
                        <m:r>
                          <m:rPr>
                            <m:sty m:val="p"/>
                          </m:rPr>
                          <a:rPr lang="en-US" sz="1400" b="0" i="0" smtClean="0">
                            <a:latin typeface="Cambria Math"/>
                          </a:rPr>
                          <m:t>Balance</m:t>
                        </m:r>
                      </m:num>
                      <m:den>
                        <m:r>
                          <m:rPr>
                            <m:sty m:val="p"/>
                          </m:rPr>
                          <a:rPr lang="en-US" sz="1400" b="0" i="0" smtClean="0">
                            <a:latin typeface="Cambria Math"/>
                          </a:rPr>
                          <m:t>Property</m:t>
                        </m:r>
                        <m:r>
                          <a:rPr lang="en-US" sz="1400" b="0" i="0" smtClean="0">
                            <a:latin typeface="Cambria Math"/>
                          </a:rPr>
                          <m:t> </m:t>
                        </m:r>
                        <m:r>
                          <m:rPr>
                            <m:sty m:val="p"/>
                          </m:rPr>
                          <a:rPr lang="en-US" sz="1400" b="0" i="0" smtClean="0">
                            <a:latin typeface="Cambria Math"/>
                          </a:rPr>
                          <m:t>Value</m:t>
                        </m:r>
                      </m:den>
                    </m:f>
                  </m:oMath>
                </a14:m>
                <a:endParaRPr lang="en-US" sz="1200" dirty="0"/>
              </a:p>
            </p:txBody>
          </p:sp>
        </mc:Choice>
        <mc:Fallback>
          <p:sp>
            <p:nvSpPr>
              <p:cNvPr id="110" name="TextBox 109"/>
              <p:cNvSpPr txBox="1">
                <a:spLocks noRot="1" noChangeAspect="1" noMove="1" noResize="1" noEditPoints="1" noAdjustHandles="1" noChangeArrowheads="1" noChangeShapeType="1" noTextEdit="1"/>
              </p:cNvSpPr>
              <p:nvPr/>
            </p:nvSpPr>
            <p:spPr>
              <a:xfrm>
                <a:off x="6100870" y="6019800"/>
                <a:ext cx="1584216" cy="883703"/>
              </a:xfrm>
              <a:prstGeom prst="rect">
                <a:avLst/>
              </a:prstGeom>
              <a:blipFill rotWithShape="1">
                <a:blip r:embed="rId10"/>
                <a:stretch>
                  <a:fillRect l="-3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1" name="TextBox 110"/>
              <p:cNvSpPr txBox="1"/>
              <p:nvPr/>
            </p:nvSpPr>
            <p:spPr>
              <a:xfrm>
                <a:off x="7770415" y="6019800"/>
                <a:ext cx="2059385" cy="837152"/>
              </a:xfrm>
              <a:prstGeom prst="rect">
                <a:avLst/>
              </a:prstGeom>
              <a:noFill/>
            </p:spPr>
            <p:txBody>
              <a:bodyPr wrap="square" rtlCol="0">
                <a:spAutoFit/>
              </a:bodyPr>
              <a:lstStyle>
                <a:defPPr>
                  <a:defRPr lang="en-US"/>
                </a:defPPr>
                <a:lvl1pPr>
                  <a:lnSpc>
                    <a:spcPct val="150000"/>
                  </a:lnSpc>
                  <a:defRPr sz="1200"/>
                </a:lvl1pPr>
              </a:lstStyle>
              <a:p>
                <a:r>
                  <a:rPr lang="en-US" b="1" dirty="0" smtClean="0"/>
                  <a:t>Debt Service Coverage Ratio </a:t>
                </a:r>
                <a:r>
                  <a:rPr lang="en-US" b="1" dirty="0" smtClean="0"/>
                  <a:t>DSCR</a:t>
                </a:r>
                <a:r>
                  <a:rPr lang="en-US" b="1" dirty="0" smtClean="0"/>
                  <a:t>  </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b="0" i="0" smtClean="0">
                            <a:latin typeface="Cambria Math"/>
                          </a:rPr>
                          <m:t>Annual</m:t>
                        </m:r>
                        <m:r>
                          <a:rPr lang="en-US" sz="1400" b="0" i="0" smtClean="0">
                            <a:latin typeface="Cambria Math"/>
                          </a:rPr>
                          <m:t> </m:t>
                        </m:r>
                        <m:r>
                          <m:rPr>
                            <m:sty m:val="p"/>
                          </m:rPr>
                          <a:rPr lang="en-US" sz="1400" b="0" i="0" smtClean="0">
                            <a:latin typeface="Cambria Math"/>
                          </a:rPr>
                          <m:t>Debt</m:t>
                        </m:r>
                        <m:r>
                          <a:rPr lang="en-US" sz="1400" b="0" i="0" smtClean="0">
                            <a:latin typeface="Cambria Math"/>
                          </a:rPr>
                          <m:t> </m:t>
                        </m:r>
                        <m:r>
                          <m:rPr>
                            <m:sty m:val="p"/>
                          </m:rPr>
                          <a:rPr lang="en-US" sz="1400" b="0" i="0" smtClean="0">
                            <a:latin typeface="Cambria Math"/>
                          </a:rPr>
                          <m:t>Service</m:t>
                        </m:r>
                      </m:den>
                    </m:f>
                  </m:oMath>
                </a14:m>
                <a:endParaRPr lang="en-US" dirty="0"/>
              </a:p>
            </p:txBody>
          </p:sp>
        </mc:Choice>
        <mc:Fallback>
          <p:sp>
            <p:nvSpPr>
              <p:cNvPr id="111" name="TextBox 110"/>
              <p:cNvSpPr txBox="1">
                <a:spLocks noRot="1" noChangeAspect="1" noMove="1" noResize="1" noEditPoints="1" noAdjustHandles="1" noChangeArrowheads="1" noChangeShapeType="1" noTextEdit="1"/>
              </p:cNvSpPr>
              <p:nvPr/>
            </p:nvSpPr>
            <p:spPr>
              <a:xfrm>
                <a:off x="7770415" y="6019800"/>
                <a:ext cx="2059385" cy="837152"/>
              </a:xfrm>
              <a:prstGeom prst="rect">
                <a:avLst/>
              </a:prstGeom>
              <a:blipFill rotWithShape="1">
                <a:blip r:embed="rId11"/>
                <a:stretch>
                  <a:fillRect l="-296"/>
                </a:stretch>
              </a:blipFill>
            </p:spPr>
            <p:txBody>
              <a:bodyPr/>
              <a:lstStyle/>
              <a:p>
                <a:r>
                  <a:rPr lang="en-US">
                    <a:noFill/>
                  </a:rPr>
                  <a:t> </a:t>
                </a:r>
              </a:p>
            </p:txBody>
          </p:sp>
        </mc:Fallback>
      </mc:AlternateContent>
      <p:cxnSp>
        <p:nvCxnSpPr>
          <p:cNvPr id="113" name="Straight Connector 112"/>
          <p:cNvCxnSpPr/>
          <p:nvPr/>
        </p:nvCxnSpPr>
        <p:spPr>
          <a:xfrm>
            <a:off x="6051604" y="6019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7704151" y="6019800"/>
            <a:ext cx="0" cy="8382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cxnSp>
        <p:nvCxnSpPr>
          <p:cNvPr id="45" name="Straight Connector 44"/>
          <p:cNvCxnSpPr/>
          <p:nvPr/>
        </p:nvCxnSpPr>
        <p:spPr>
          <a:xfrm>
            <a:off x="4343400" y="6019800"/>
            <a:ext cx="0" cy="8382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9" name="TextBox 48"/>
              <p:cNvSpPr txBox="1"/>
              <p:nvPr/>
            </p:nvSpPr>
            <p:spPr>
              <a:xfrm>
                <a:off x="2403933" y="6019800"/>
                <a:ext cx="1763624" cy="815608"/>
              </a:xfrm>
              <a:prstGeom prst="rect">
                <a:avLst/>
              </a:prstGeom>
              <a:noFill/>
            </p:spPr>
            <p:txBody>
              <a:bodyPr wrap="none" rtlCol="0">
                <a:spAutoFit/>
              </a:bodyPr>
              <a:lstStyle>
                <a:defPPr>
                  <a:defRPr lang="en-US"/>
                </a:defPPr>
                <a:lvl1pPr>
                  <a:lnSpc>
                    <a:spcPct val="150000"/>
                  </a:lnSpc>
                  <a:defRPr sz="1200"/>
                </a:lvl1pPr>
              </a:lstStyle>
              <a:p>
                <a:r>
                  <a:rPr lang="en-US" b="1" dirty="0" smtClean="0"/>
                  <a:t>Net Operating Income </a:t>
                </a:r>
              </a:p>
              <a:p>
                <a:r>
                  <a:rPr lang="en-US" b="1" dirty="0"/>
                  <a:t>N</a:t>
                </a:r>
                <a:r>
                  <a:rPr lang="en-US" b="1" dirty="0" smtClean="0"/>
                  <a:t>OI</a:t>
                </a:r>
                <a14:m>
                  <m:oMath xmlns:m="http://schemas.openxmlformats.org/officeDocument/2006/math">
                    <m:r>
                      <a:rPr lang="en-US" b="1" i="0" smtClean="0">
                        <a:latin typeface="Cambria Math"/>
                      </a:rPr>
                      <m:t> </m:t>
                    </m:r>
                    <m:r>
                      <a:rPr lang="en-US">
                        <a:latin typeface="Cambria Math"/>
                      </a:rPr>
                      <m:t>=</m:t>
                    </m:r>
                  </m:oMath>
                </a14:m>
                <a:r>
                  <a:rPr lang="en-US" dirty="0" smtClean="0"/>
                  <a:t> </a:t>
                </a:r>
                <a:r>
                  <a:rPr lang="en-US" sz="1100" dirty="0" smtClean="0">
                    <a:latin typeface="Cambria Math" panose="02040503050406030204" pitchFamily="18" charset="0"/>
                    <a:ea typeface="Cambria Math" panose="02040503050406030204" pitchFamily="18" charset="0"/>
                  </a:rPr>
                  <a:t>Rental Revenue </a:t>
                </a:r>
              </a:p>
              <a:p>
                <a:pPr>
                  <a:lnSpc>
                    <a:spcPct val="100000"/>
                  </a:lnSpc>
                </a:pPr>
                <a:r>
                  <a:rPr lang="en-US" sz="1100" dirty="0" smtClean="0">
                    <a:latin typeface="Cambria Math" panose="02040503050406030204" pitchFamily="18" charset="0"/>
                    <a:ea typeface="Cambria Math" panose="02040503050406030204" pitchFamily="18" charset="0"/>
                  </a:rPr>
                  <a:t>            - Operating Expense</a:t>
                </a:r>
                <a:endParaRPr lang="en-US" sz="1100" dirty="0">
                  <a:latin typeface="Cambria Math" panose="02040503050406030204" pitchFamily="18" charset="0"/>
                  <a:ea typeface="Cambria Math" panose="02040503050406030204" pitchFamily="18" charset="0"/>
                </a:endParaRPr>
              </a:p>
            </p:txBody>
          </p:sp>
        </mc:Choice>
        <mc:Fallback>
          <p:sp>
            <p:nvSpPr>
              <p:cNvPr id="49" name="TextBox 48"/>
              <p:cNvSpPr txBox="1">
                <a:spLocks noRot="1" noChangeAspect="1" noMove="1" noResize="1" noEditPoints="1" noAdjustHandles="1" noChangeArrowheads="1" noChangeShapeType="1" noTextEdit="1"/>
              </p:cNvSpPr>
              <p:nvPr/>
            </p:nvSpPr>
            <p:spPr>
              <a:xfrm>
                <a:off x="2403933" y="6019800"/>
                <a:ext cx="1763624" cy="815608"/>
              </a:xfrm>
              <a:prstGeom prst="rect">
                <a:avLst/>
              </a:prstGeom>
              <a:blipFill rotWithShape="1">
                <a:blip r:embed="rId12"/>
                <a:stretch>
                  <a:fillRect b="-3759"/>
                </a:stretch>
              </a:blipFill>
            </p:spPr>
            <p:txBody>
              <a:bodyPr/>
              <a:lstStyle/>
              <a:p>
                <a:r>
                  <a:rPr lang="en-US">
                    <a:noFill/>
                  </a:rPr>
                  <a:t> </a:t>
                </a:r>
              </a:p>
            </p:txBody>
          </p:sp>
        </mc:Fallback>
      </mc:AlternateContent>
    </p:spTree>
    <p:extLst>
      <p:ext uri="{BB962C8B-B14F-4D97-AF65-F5344CB8AC3E}">
        <p14:creationId xmlns:p14="http://schemas.microsoft.com/office/powerpoint/2010/main" val="1265340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Modeling framework: ETUDE</a:t>
            </a:r>
            <a:endParaRPr lang="en-US" dirty="0"/>
          </a:p>
        </p:txBody>
      </p:sp>
      <p:sp>
        <p:nvSpPr>
          <p:cNvPr id="35" name="TextBox 34"/>
          <p:cNvSpPr txBox="1"/>
          <p:nvPr/>
        </p:nvSpPr>
        <p:spPr>
          <a:xfrm>
            <a:off x="2438400" y="1170801"/>
            <a:ext cx="2090849" cy="276999"/>
          </a:xfrm>
          <a:prstGeom prst="rect">
            <a:avLst/>
          </a:prstGeom>
          <a:noFill/>
        </p:spPr>
        <p:txBody>
          <a:bodyPr wrap="square" rtlCol="0">
            <a:spAutoFit/>
          </a:bodyPr>
          <a:lstStyle/>
          <a:p>
            <a:r>
              <a:rPr lang="en-US" sz="1200" b="1" dirty="0" smtClean="0"/>
              <a:t>CRE Model Components</a:t>
            </a:r>
            <a:endParaRPr lang="en-US" sz="1200" b="1" dirty="0"/>
          </a:p>
        </p:txBody>
      </p:sp>
      <p:grpSp>
        <p:nvGrpSpPr>
          <p:cNvPr id="42" name="Group 41"/>
          <p:cNvGrpSpPr/>
          <p:nvPr/>
        </p:nvGrpSpPr>
        <p:grpSpPr>
          <a:xfrm>
            <a:off x="2514600" y="1447800"/>
            <a:ext cx="6934200" cy="2853657"/>
            <a:chOff x="2743200" y="1708150"/>
            <a:chExt cx="4195651" cy="2599020"/>
          </a:xfrm>
        </p:grpSpPr>
        <p:sp>
          <p:nvSpPr>
            <p:cNvPr id="23" name="Rectangle 22"/>
            <p:cNvSpPr/>
            <p:nvPr/>
          </p:nvSpPr>
          <p:spPr>
            <a:xfrm>
              <a:off x="2743200" y="2394567"/>
              <a:ext cx="3962400" cy="64877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00" dirty="0">
                <a:solidFill>
                  <a:schemeClr val="tx1"/>
                </a:solidFill>
              </a:endParaRPr>
            </a:p>
          </p:txBody>
        </p:sp>
        <p:sp>
          <p:nvSpPr>
            <p:cNvPr id="24" name="Rectangle 23"/>
            <p:cNvSpPr/>
            <p:nvPr/>
          </p:nvSpPr>
          <p:spPr>
            <a:xfrm>
              <a:off x="2743200" y="3052079"/>
              <a:ext cx="3962400" cy="64679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Rectangle 24"/>
            <p:cNvSpPr/>
            <p:nvPr/>
          </p:nvSpPr>
          <p:spPr>
            <a:xfrm>
              <a:off x="2743200" y="3707606"/>
              <a:ext cx="3962400" cy="58051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6" name="Rectangle 25"/>
            <p:cNvSpPr/>
            <p:nvPr/>
          </p:nvSpPr>
          <p:spPr>
            <a:xfrm>
              <a:off x="2743200" y="1737055"/>
              <a:ext cx="3962400" cy="6487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7" name="TextBox 26"/>
            <p:cNvSpPr txBox="1"/>
            <p:nvPr/>
          </p:nvSpPr>
          <p:spPr>
            <a:xfrm>
              <a:off x="2743200" y="1737055"/>
              <a:ext cx="4191000" cy="644720"/>
            </a:xfrm>
            <a:prstGeom prst="rect">
              <a:avLst/>
            </a:prstGeom>
            <a:noFill/>
          </p:spPr>
          <p:txBody>
            <a:bodyPr wrap="square" rtlCol="0">
              <a:spAutoFit/>
            </a:bodyPr>
            <a:lstStyle/>
            <a:p>
              <a:r>
                <a:rPr lang="en-US" sz="1000" b="1" dirty="0" smtClean="0"/>
                <a:t>Loan Cash Flow and Outcome Projection</a:t>
              </a:r>
            </a:p>
            <a:p>
              <a:pPr marL="171450" indent="-171450">
                <a:buFont typeface="Arial" panose="020B0604020202020204" pitchFamily="34" charset="0"/>
                <a:buChar char="•"/>
              </a:pPr>
              <a:r>
                <a:rPr lang="en-US" sz="1000" dirty="0" smtClean="0"/>
                <a:t>Cash flow and outcome estimates for each loan</a:t>
              </a:r>
            </a:p>
            <a:p>
              <a:pPr marL="171450" indent="-171450">
                <a:buFont typeface="Arial" panose="020B0604020202020204" pitchFamily="34" charset="0"/>
                <a:buChar char="•"/>
              </a:pPr>
              <a:r>
                <a:rPr lang="en-US" sz="1000" dirty="0" smtClean="0"/>
                <a:t>Outcomes include: Payoff/Term Default/Maturity Default /Extension</a:t>
              </a:r>
            </a:p>
            <a:p>
              <a:pPr marL="171450" indent="-171450">
                <a:buFont typeface="Arial" panose="020B0604020202020204" pitchFamily="34" charset="0"/>
                <a:buChar char="•"/>
              </a:pPr>
              <a:r>
                <a:rPr lang="en-US" sz="1000" dirty="0" smtClean="0"/>
                <a:t>Multi-scenario analysis</a:t>
              </a:r>
              <a:endParaRPr lang="en-US" sz="1000" dirty="0"/>
            </a:p>
          </p:txBody>
        </p:sp>
        <p:sp>
          <p:nvSpPr>
            <p:cNvPr id="29" name="TextBox 28"/>
            <p:cNvSpPr txBox="1"/>
            <p:nvPr/>
          </p:nvSpPr>
          <p:spPr>
            <a:xfrm>
              <a:off x="2743200" y="2393864"/>
              <a:ext cx="4191000" cy="644720"/>
            </a:xfrm>
            <a:prstGeom prst="rect">
              <a:avLst/>
            </a:prstGeom>
            <a:noFill/>
          </p:spPr>
          <p:txBody>
            <a:bodyPr wrap="square" rtlCol="0">
              <a:spAutoFit/>
            </a:bodyPr>
            <a:lstStyle/>
            <a:p>
              <a:r>
                <a:rPr lang="en-US" sz="1000" b="1" dirty="0" smtClean="0"/>
                <a:t>Model </a:t>
              </a:r>
              <a:r>
                <a:rPr lang="en-US" sz="1000" b="1" dirty="0"/>
                <a:t>Assumptions</a:t>
              </a:r>
            </a:p>
            <a:p>
              <a:pPr marL="171450" indent="-171450">
                <a:buFont typeface="Arial" panose="020B0604020202020204" pitchFamily="34" charset="0"/>
                <a:buChar char="•"/>
              </a:pPr>
              <a:r>
                <a:rPr lang="en-US" sz="1000" dirty="0" smtClean="0"/>
                <a:t>NOI growth curves and Cap Rate projections</a:t>
              </a:r>
            </a:p>
            <a:p>
              <a:pPr marL="171450" indent="-171450">
                <a:buFont typeface="Arial" panose="020B0604020202020204" pitchFamily="34" charset="0"/>
                <a:buChar char="•"/>
              </a:pPr>
              <a:r>
                <a:rPr lang="en-US" sz="1000" dirty="0" smtClean="0"/>
                <a:t>Default triggers (e.g. DSCR levels)</a:t>
              </a:r>
            </a:p>
            <a:p>
              <a:pPr marL="171450" indent="-171450">
                <a:buFont typeface="Arial" panose="020B0604020202020204" pitchFamily="34" charset="0"/>
                <a:buChar char="•"/>
              </a:pPr>
              <a:r>
                <a:rPr lang="en-US" sz="1000" dirty="0" smtClean="0"/>
                <a:t>Extension parameters</a:t>
              </a:r>
              <a:endParaRPr lang="en-US" sz="1000" dirty="0"/>
            </a:p>
          </p:txBody>
        </p:sp>
        <p:sp>
          <p:nvSpPr>
            <p:cNvPr id="30" name="TextBox 29"/>
            <p:cNvSpPr txBox="1"/>
            <p:nvPr/>
          </p:nvSpPr>
          <p:spPr>
            <a:xfrm>
              <a:off x="2747851" y="3041150"/>
              <a:ext cx="4191000" cy="644720"/>
            </a:xfrm>
            <a:prstGeom prst="rect">
              <a:avLst/>
            </a:prstGeom>
            <a:noFill/>
          </p:spPr>
          <p:txBody>
            <a:bodyPr wrap="square" rtlCol="0">
              <a:spAutoFit/>
            </a:bodyPr>
            <a:lstStyle/>
            <a:p>
              <a:r>
                <a:rPr lang="en-US" sz="1000" b="1" dirty="0" smtClean="0"/>
                <a:t>Loan-Level Review</a:t>
              </a:r>
            </a:p>
            <a:p>
              <a:pPr marL="171450" indent="-171450">
                <a:buFont typeface="Arial" panose="020B0604020202020204" pitchFamily="34" charset="0"/>
                <a:buChar char="•"/>
              </a:pPr>
              <a:r>
                <a:rPr lang="en-US" sz="1000" dirty="0"/>
                <a:t>Qualitative underwriting review for </a:t>
              </a:r>
              <a:r>
                <a:rPr lang="en-US" sz="1000" dirty="0" smtClean="0"/>
                <a:t>large loans</a:t>
              </a:r>
            </a:p>
            <a:p>
              <a:pPr marL="171450" indent="-171450">
                <a:buFont typeface="Arial" panose="020B0604020202020204" pitchFamily="34" charset="0"/>
                <a:buChar char="•"/>
              </a:pPr>
              <a:r>
                <a:rPr lang="en-US" sz="1000" dirty="0" smtClean="0"/>
                <a:t>Qualitative underwriting review for delinquent or specially serviced loans</a:t>
              </a:r>
            </a:p>
            <a:p>
              <a:pPr marL="171450" indent="-171450">
                <a:buFont typeface="Arial" panose="020B0604020202020204" pitchFamily="34" charset="0"/>
                <a:buChar char="•"/>
              </a:pPr>
              <a:r>
                <a:rPr lang="en-US" sz="1000" dirty="0" smtClean="0"/>
                <a:t>Quantitative vetting for all other loans</a:t>
              </a:r>
              <a:endParaRPr lang="en-US" sz="1000" dirty="0"/>
            </a:p>
          </p:txBody>
        </p:sp>
        <p:sp>
          <p:nvSpPr>
            <p:cNvPr id="31" name="TextBox 30"/>
            <p:cNvSpPr txBox="1"/>
            <p:nvPr/>
          </p:nvSpPr>
          <p:spPr>
            <a:xfrm>
              <a:off x="2747851" y="3657600"/>
              <a:ext cx="4191000" cy="644720"/>
            </a:xfrm>
            <a:prstGeom prst="rect">
              <a:avLst/>
            </a:prstGeom>
            <a:noFill/>
          </p:spPr>
          <p:txBody>
            <a:bodyPr wrap="square" rtlCol="0">
              <a:spAutoFit/>
            </a:bodyPr>
            <a:lstStyle/>
            <a:p>
              <a:r>
                <a:rPr lang="en-US" sz="1000" b="1" dirty="0" smtClean="0"/>
                <a:t>Loan and Property Database</a:t>
              </a:r>
            </a:p>
            <a:p>
              <a:pPr marL="171450" indent="-171450">
                <a:buFont typeface="Arial" panose="020B0604020202020204" pitchFamily="34" charset="0"/>
                <a:buChar char="•"/>
              </a:pPr>
              <a:r>
                <a:rPr lang="en-US" sz="1000" dirty="0" smtClean="0"/>
                <a:t>CMBS deals</a:t>
              </a:r>
            </a:p>
            <a:p>
              <a:pPr marL="171450" indent="-171450">
                <a:buFont typeface="Arial" panose="020B0604020202020204" pitchFamily="34" charset="0"/>
                <a:buChar char="•"/>
              </a:pPr>
              <a:r>
                <a:rPr lang="en-US" sz="1000" dirty="0" smtClean="0"/>
                <a:t>Property-level data</a:t>
              </a:r>
            </a:p>
            <a:p>
              <a:pPr marL="171450" indent="-171450">
                <a:buFont typeface="Arial" panose="020B0604020202020204" pitchFamily="34" charset="0"/>
                <a:buChar char="•"/>
              </a:pPr>
              <a:r>
                <a:rPr lang="en-US" sz="1000" dirty="0" smtClean="0"/>
                <a:t>Loan-level data</a:t>
              </a:r>
              <a:endParaRPr lang="en-US" sz="1000" dirty="0"/>
            </a:p>
          </p:txBody>
        </p:sp>
        <p:sp>
          <p:nvSpPr>
            <p:cNvPr id="32" name="TextBox 31"/>
            <p:cNvSpPr txBox="1"/>
            <p:nvPr/>
          </p:nvSpPr>
          <p:spPr>
            <a:xfrm>
              <a:off x="5029200" y="266700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Workout Periods/Costs</a:t>
              </a:r>
            </a:p>
            <a:p>
              <a:pPr marL="171450" indent="-171450">
                <a:buFont typeface="Arial" panose="020B0604020202020204" pitchFamily="34" charset="0"/>
                <a:buChar char="•"/>
              </a:pPr>
              <a:r>
                <a:rPr lang="en-US" sz="1000" dirty="0" smtClean="0"/>
                <a:t>Other model parameters</a:t>
              </a:r>
            </a:p>
          </p:txBody>
        </p:sp>
        <p:sp>
          <p:nvSpPr>
            <p:cNvPr id="33" name="TextBox 32"/>
            <p:cNvSpPr txBox="1"/>
            <p:nvPr/>
          </p:nvSpPr>
          <p:spPr>
            <a:xfrm>
              <a:off x="5029200" y="390706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Directly sourced from servicers and trustees </a:t>
              </a:r>
            </a:p>
          </p:txBody>
        </p:sp>
        <p:cxnSp>
          <p:nvCxnSpPr>
            <p:cNvPr id="37" name="Straight Connector 36"/>
            <p:cNvCxnSpPr/>
            <p:nvPr/>
          </p:nvCxnSpPr>
          <p:spPr>
            <a:xfrm>
              <a:off x="2747851" y="1708150"/>
              <a:ext cx="3957749"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0" name="Isosceles Triangle 39"/>
          <p:cNvSpPr/>
          <p:nvPr/>
        </p:nvSpPr>
        <p:spPr>
          <a:xfrm rot="10800000">
            <a:off x="3657601" y="4540247"/>
            <a:ext cx="4572000" cy="33655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128260" y="4502148"/>
            <a:ext cx="1642795" cy="230832"/>
          </a:xfrm>
          <a:prstGeom prst="rect">
            <a:avLst/>
          </a:prstGeom>
          <a:noFill/>
        </p:spPr>
        <p:txBody>
          <a:bodyPr wrap="square" rtlCol="0">
            <a:spAutoFit/>
          </a:bodyPr>
          <a:lstStyle/>
          <a:p>
            <a:pPr algn="ctr"/>
            <a:r>
              <a:rPr lang="en-US" sz="900" dirty="0" smtClean="0">
                <a:solidFill>
                  <a:schemeClr val="bg1"/>
                </a:solidFill>
              </a:rPr>
              <a:t>Loan and Property Trends</a:t>
            </a:r>
            <a:endParaRPr lang="en-US" sz="900" dirty="0">
              <a:solidFill>
                <a:schemeClr val="bg1"/>
              </a:solidFill>
            </a:endParaRPr>
          </a:p>
        </p:txBody>
      </p:sp>
      <p:sp>
        <p:nvSpPr>
          <p:cNvPr id="51" name="TextBox 50"/>
          <p:cNvSpPr txBox="1"/>
          <p:nvPr/>
        </p:nvSpPr>
        <p:spPr>
          <a:xfrm>
            <a:off x="2503340" y="4953000"/>
            <a:ext cx="2090849" cy="276999"/>
          </a:xfrm>
          <a:prstGeom prst="rect">
            <a:avLst/>
          </a:prstGeom>
          <a:noFill/>
        </p:spPr>
        <p:txBody>
          <a:bodyPr wrap="square" rtlCol="0">
            <a:spAutoFit/>
          </a:bodyPr>
          <a:lstStyle/>
          <a:p>
            <a:r>
              <a:rPr lang="en-US" sz="1200" b="1" dirty="0" smtClean="0"/>
              <a:t>Establishing Themes</a:t>
            </a:r>
            <a:endParaRPr lang="en-US" sz="1200" b="1" dirty="0"/>
          </a:p>
        </p:txBody>
      </p:sp>
      <p:cxnSp>
        <p:nvCxnSpPr>
          <p:cNvPr id="52" name="Straight Connector 51"/>
          <p:cNvCxnSpPr/>
          <p:nvPr/>
        </p:nvCxnSpPr>
        <p:spPr>
          <a:xfrm>
            <a:off x="2590800" y="5229999"/>
            <a:ext cx="417338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90799" y="5320144"/>
            <a:ext cx="6962775"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Gain insight into property- and loan-level trends that can be applied to both public and private holders of real estate</a:t>
            </a:r>
          </a:p>
          <a:p>
            <a:pPr marL="171450" indent="-171450">
              <a:buFont typeface="Arial" panose="020B0604020202020204" pitchFamily="34" charset="0"/>
              <a:buChar char="•"/>
            </a:pPr>
            <a:r>
              <a:rPr lang="en-US" sz="1200" dirty="0" smtClean="0"/>
              <a:t>The new issue commercial loan market provides substantial insight into prevailing cap rates</a:t>
            </a:r>
            <a:endParaRPr lang="en-US" sz="1200" dirty="0"/>
          </a:p>
        </p:txBody>
      </p:sp>
      <p:sp>
        <p:nvSpPr>
          <p:cNvPr id="54" name="Content Placeholder 12"/>
          <p:cNvSpPr>
            <a:spLocks noGrp="1"/>
          </p:cNvSpPr>
          <p:nvPr>
            <p:ph idx="1"/>
          </p:nvPr>
        </p:nvSpPr>
        <p:spPr>
          <a:xfrm>
            <a:off x="293687" y="1235075"/>
            <a:ext cx="1839913" cy="5013325"/>
          </a:xfrm>
        </p:spPr>
        <p:txBody>
          <a:bodyPr/>
          <a:lstStyle/>
          <a:p>
            <a:pPr>
              <a:lnSpc>
                <a:spcPct val="100000"/>
              </a:lnSpc>
              <a:spcBef>
                <a:spcPts val="0"/>
              </a:spcBef>
            </a:pPr>
            <a:r>
              <a:rPr lang="en-US" sz="1100" b="0" dirty="0" smtClean="0">
                <a:solidFill>
                  <a:schemeClr val="tx1"/>
                </a:solidFill>
              </a:rPr>
              <a:t>The hub of Cello’s Investment Process is the CRE Asset and Loan Modeling Framework – </a:t>
            </a:r>
            <a:r>
              <a:rPr lang="en-US" sz="1100" dirty="0" smtClean="0">
                <a:solidFill>
                  <a:schemeClr val="tx1"/>
                </a:solidFill>
              </a:rPr>
              <a:t>Etude</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Etude consists of 4 components:</a:t>
            </a:r>
          </a:p>
          <a:p>
            <a:pPr>
              <a:lnSpc>
                <a:spcPct val="100000"/>
              </a:lnSpc>
              <a:spcBef>
                <a:spcPts val="0"/>
              </a:spcBef>
            </a:pPr>
            <a:endParaRPr lang="en-US" sz="1100" b="0" dirty="0">
              <a:solidFill>
                <a:schemeClr val="tx1"/>
              </a:solidFill>
            </a:endParaRP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and Property Database: </a:t>
            </a:r>
            <a:r>
              <a:rPr lang="en-US" sz="1100" b="0" dirty="0" smtClean="0">
                <a:solidFill>
                  <a:schemeClr val="tx1"/>
                </a:solidFill>
              </a:rPr>
              <a:t>Source loan- and property level data from servicers and trustees who report the payment status on commercial loans that are securitized in CMBS on a monthly basis.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Loan-level Review: </a:t>
            </a:r>
            <a:r>
              <a:rPr lang="en-US" sz="1100" b="0" dirty="0" smtClean="0">
                <a:solidFill>
                  <a:schemeClr val="tx1"/>
                </a:solidFill>
              </a:rPr>
              <a:t>Detailed underwriting review for large loans (supplemented by boots-on-ground physical inspections where necessary) complemented by quantitative vetting for smaller loans.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CRE and Credit Model Assumptions: </a:t>
            </a:r>
            <a:r>
              <a:rPr lang="en-US" sz="1100" b="0" dirty="0" smtClean="0">
                <a:solidFill>
                  <a:schemeClr val="tx1"/>
                </a:solidFill>
              </a:rPr>
              <a:t>Forecast NOI and cap rates by property type.</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Outcome Projection: </a:t>
            </a:r>
            <a:r>
              <a:rPr lang="en-US" sz="1100" b="0" dirty="0" smtClean="0">
                <a:solidFill>
                  <a:schemeClr val="tx1"/>
                </a:solidFill>
              </a:rPr>
              <a:t>Project outcomes for each loan based on assumptions</a:t>
            </a:r>
          </a:p>
          <a:p>
            <a:pPr>
              <a:lnSpc>
                <a:spcPct val="100000"/>
              </a:lnSpc>
              <a:spcBef>
                <a:spcPts val="0"/>
              </a:spcBef>
            </a:pPr>
            <a:r>
              <a:rPr lang="en-US" sz="1100" dirty="0" smtClean="0">
                <a:solidFill>
                  <a:schemeClr val="tx1"/>
                </a:solidFill>
              </a:rPr>
              <a:t> </a:t>
            </a:r>
          </a:p>
          <a:p>
            <a:pPr marL="171450" indent="-171450">
              <a:lnSpc>
                <a:spcPct val="100000"/>
              </a:lnSpc>
              <a:spcBef>
                <a:spcPts val="0"/>
              </a:spcBef>
              <a:buFont typeface="Arial" panose="020B0604020202020204" pitchFamily="34" charset="0"/>
              <a:buChar char="•"/>
            </a:pPr>
            <a:endParaRPr lang="en-US" sz="1100" dirty="0" smtClean="0">
              <a:solidFill>
                <a:schemeClr val="tx1"/>
              </a:solidFill>
            </a:endParaRPr>
          </a:p>
        </p:txBody>
      </p:sp>
      <p:sp>
        <p:nvSpPr>
          <p:cNvPr id="3" name="Content Placeholder 2"/>
          <p:cNvSpPr>
            <a:spLocks noGrp="1"/>
          </p:cNvSpPr>
          <p:nvPr>
            <p:ph idx="1"/>
          </p:nvPr>
        </p:nvSpPr>
        <p:spPr>
          <a:xfrm>
            <a:off x="293687" y="1235076"/>
            <a:ext cx="1839913" cy="5165724"/>
          </a:xfrm>
        </p:spPr>
        <p:txBody>
          <a:bodyPr/>
          <a:lstStyle/>
          <a:p>
            <a:endParaRPr lang="en-US" dirty="0" smtClean="0"/>
          </a:p>
          <a:p>
            <a:endParaRPr lang="en-US" dirty="0" smtClean="0"/>
          </a:p>
          <a:p>
            <a:endParaRPr lang="en-US" b="0" dirty="0"/>
          </a:p>
        </p:txBody>
      </p:sp>
    </p:spTree>
    <p:extLst>
      <p:ext uri="{BB962C8B-B14F-4D97-AF65-F5344CB8AC3E}">
        <p14:creationId xmlns:p14="http://schemas.microsoft.com/office/powerpoint/2010/main" val="22761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p:bldP spid="51"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DATA SOURCES FOR MODELING CRE RISK </a:t>
            </a: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1321568196"/>
              </p:ext>
            </p:extLst>
          </p:nvPr>
        </p:nvGraphicFramePr>
        <p:xfrm>
          <a:off x="2574421" y="1676399"/>
          <a:ext cx="6922418" cy="5200360"/>
        </p:xfrm>
        <a:graphic>
          <a:graphicData uri="http://schemas.openxmlformats.org/drawingml/2006/table">
            <a:tbl>
              <a:tblPr firstRow="1">
                <a:tableStyleId>{3B4B98B0-60AC-42C2-AFA5-B58CD77FA1E5}</a:tableStyleId>
              </a:tblPr>
              <a:tblGrid>
                <a:gridCol w="1692779"/>
                <a:gridCol w="762000"/>
                <a:gridCol w="1447800"/>
                <a:gridCol w="1066800"/>
                <a:gridCol w="761399"/>
                <a:gridCol w="1191640"/>
              </a:tblGrid>
              <a:tr h="685801">
                <a:tc>
                  <a:txBody>
                    <a:bodyPr/>
                    <a:lstStyle/>
                    <a:p>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Data Level</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Property</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Geographic</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Historical</a:t>
                      </a:r>
                      <a:r>
                        <a:rPr lang="en-US" sz="1100" baseline="0" dirty="0" smtClean="0">
                          <a:solidFill>
                            <a:schemeClr val="bg1"/>
                          </a:solidFill>
                        </a:rPr>
                        <a:t> </a:t>
                      </a: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err="1" smtClean="0">
                          <a:solidFill>
                            <a:schemeClr val="tx1"/>
                          </a:solidFill>
                        </a:rPr>
                        <a:t>Trepp</a:t>
                      </a:r>
                      <a:r>
                        <a:rPr lang="en-US" sz="1100" b="1" dirty="0" smtClean="0">
                          <a:solidFill>
                            <a:schemeClr val="tx1"/>
                          </a:solidFill>
                        </a:rPr>
                        <a:t> CMBS Database</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CMBS Universe</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1998-</a:t>
                      </a:r>
                      <a:endParaRPr lang="en-US" sz="1100" dirty="0">
                        <a:solidFill>
                          <a:schemeClr val="tx1"/>
                        </a:solidFill>
                      </a:endParaRPr>
                    </a:p>
                  </a:txBody>
                  <a:tcPr anchor="ctr"/>
                </a:tc>
                <a:tc>
                  <a:txBody>
                    <a:bodyPr/>
                    <a:lstStyle/>
                    <a:p>
                      <a:pPr algn="ctr"/>
                      <a:r>
                        <a:rPr lang="en-US" sz="1100" dirty="0" smtClean="0"/>
                        <a:t>Largest CMBS DB </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American Council of Life Insurers (ACLI)</a:t>
                      </a: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Commercial</a:t>
                      </a:r>
                      <a:r>
                        <a:rPr lang="en-US" sz="1100" baseline="0" dirty="0" smtClean="0">
                          <a:solidFill>
                            <a:schemeClr val="tx1"/>
                          </a:solidFill>
                        </a:rPr>
                        <a:t> Mortgage Originated/Held by Insurance Companies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1965-</a:t>
                      </a:r>
                      <a:endParaRPr lang="en-US" sz="1100" dirty="0">
                        <a:solidFill>
                          <a:schemeClr val="tx1"/>
                        </a:solidFill>
                      </a:endParaRPr>
                    </a:p>
                  </a:txBody>
                  <a:tcPr anchor="ctr"/>
                </a:tc>
                <a:tc>
                  <a:txBody>
                    <a:bodyPr/>
                    <a:lstStyle/>
                    <a:p>
                      <a:pPr algn="ctr"/>
                      <a:r>
                        <a:rPr lang="en-US" sz="1100" dirty="0" smtClean="0"/>
                        <a:t>Longest History</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Federal Deposit Insurance Corporation (FDIC)</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Banks’ Loans and Leases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1992-</a:t>
                      </a:r>
                      <a:endParaRPr lang="en-US" sz="1100" dirty="0">
                        <a:solidFill>
                          <a:schemeClr val="tx1"/>
                        </a:solidFill>
                      </a:endParaRPr>
                    </a:p>
                  </a:txBody>
                  <a:tcPr anchor="ctr"/>
                </a:tc>
                <a:tc>
                  <a:txBody>
                    <a:bodyPr/>
                    <a:lstStyle/>
                    <a:p>
                      <a:pPr algn="ctr"/>
                      <a:r>
                        <a:rPr lang="en-US" sz="1100" dirty="0" smtClean="0"/>
                        <a:t>Cover largest</a:t>
                      </a:r>
                      <a:r>
                        <a:rPr lang="en-US" sz="1100" baseline="0" dirty="0" smtClean="0"/>
                        <a:t> players</a:t>
                      </a:r>
                      <a:endParaRPr lang="en-US" sz="1100" dirty="0">
                        <a:solidFill>
                          <a:schemeClr val="tx1"/>
                        </a:solidFill>
                      </a:endParaRPr>
                    </a:p>
                  </a:txBody>
                  <a:tcPr anchor="ctr"/>
                </a:tc>
              </a:tr>
              <a:tr h="906754">
                <a:tc>
                  <a:txBody>
                    <a:bodyPr/>
                    <a:lstStyle/>
                    <a:p>
                      <a:r>
                        <a:rPr lang="en-US" sz="1100" b="1" dirty="0" smtClean="0">
                          <a:solidFill>
                            <a:schemeClr val="tx1"/>
                          </a:solidFill>
                        </a:rPr>
                        <a:t>National</a:t>
                      </a:r>
                      <a:r>
                        <a:rPr lang="en-US" sz="1100" b="1" baseline="0" dirty="0" smtClean="0">
                          <a:solidFill>
                            <a:schemeClr val="tx1"/>
                          </a:solidFill>
                        </a:rPr>
                        <a:t> Council of Real Estate Investment Fiduciaries (NCREIF)</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Five Major Property Types</a:t>
                      </a:r>
                      <a:endParaRPr lang="en-US" sz="1100" dirty="0">
                        <a:solidFill>
                          <a:schemeClr val="tx1"/>
                        </a:solidFill>
                      </a:endParaRPr>
                    </a:p>
                  </a:txBody>
                  <a:tcPr anchor="ctr"/>
                </a:tc>
                <a:tc>
                  <a:txBody>
                    <a:bodyPr/>
                    <a:lstStyle/>
                    <a:p>
                      <a:pPr algn="ctr"/>
                      <a:r>
                        <a:rPr lang="en-US" sz="1100" dirty="0" smtClean="0">
                          <a:solidFill>
                            <a:schemeClr val="tx1"/>
                          </a:solidFill>
                        </a:rPr>
                        <a:t>50 Metropolitan Areas</a:t>
                      </a:r>
                      <a:endParaRPr lang="en-US" sz="1100" dirty="0">
                        <a:solidFill>
                          <a:schemeClr val="tx1"/>
                        </a:solidFill>
                      </a:endParaRPr>
                    </a:p>
                  </a:txBody>
                  <a:tcPr anchor="ctr"/>
                </a:tc>
                <a:tc>
                  <a:txBody>
                    <a:bodyPr/>
                    <a:lstStyle/>
                    <a:p>
                      <a:pPr algn="ctr"/>
                      <a:r>
                        <a:rPr lang="en-US" sz="1100" dirty="0" smtClean="0"/>
                        <a:t>1978-</a:t>
                      </a:r>
                      <a:endParaRPr lang="en-US" sz="1100" dirty="0">
                        <a:solidFill>
                          <a:schemeClr val="tx1"/>
                        </a:solidFill>
                      </a:endParaRPr>
                    </a:p>
                  </a:txBody>
                  <a:tcPr anchor="ctr"/>
                </a:tc>
                <a:tc>
                  <a:txBody>
                    <a:bodyPr/>
                    <a:lstStyle/>
                    <a:p>
                      <a:pPr algn="ctr"/>
                      <a:r>
                        <a:rPr lang="en-US" sz="1100" dirty="0" smtClean="0"/>
                        <a:t>Widely</a:t>
                      </a:r>
                      <a:r>
                        <a:rPr lang="en-US" sz="1100" baseline="0" dirty="0" smtClean="0"/>
                        <a:t> Regarded</a:t>
                      </a:r>
                      <a:endParaRPr lang="en-US" sz="1100" dirty="0">
                        <a:solidFill>
                          <a:schemeClr val="tx1"/>
                        </a:solidFill>
                      </a:endParaRPr>
                    </a:p>
                  </a:txBody>
                  <a:tcPr anchor="ctr"/>
                </a:tc>
              </a:tr>
              <a:tr h="721561">
                <a:tc>
                  <a:txBody>
                    <a:bodyPr/>
                    <a:lstStyle/>
                    <a:p>
                      <a:r>
                        <a:rPr lang="en-US" sz="1100" b="1" dirty="0" smtClean="0">
                          <a:solidFill>
                            <a:schemeClr val="tx1"/>
                          </a:solidFill>
                        </a:rPr>
                        <a:t>CB Richard Ellis Econometric Advisors (CBRE EA)</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Market Rents</a:t>
                      </a:r>
                      <a:r>
                        <a:rPr lang="en-US" sz="1100" baseline="0" dirty="0" smtClean="0">
                          <a:solidFill>
                            <a:schemeClr val="tx1"/>
                          </a:solidFill>
                        </a:rPr>
                        <a:t> and Vacancies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1980-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r h="721561">
                <a:tc>
                  <a:txBody>
                    <a:bodyPr/>
                    <a:lstStyle/>
                    <a:p>
                      <a:r>
                        <a:rPr lang="en-US" sz="1100" b="1" dirty="0" smtClean="0">
                          <a:solidFill>
                            <a:schemeClr val="tx1"/>
                          </a:solidFill>
                        </a:rPr>
                        <a:t>Real</a:t>
                      </a:r>
                      <a:r>
                        <a:rPr lang="en-US" sz="1100" b="1" baseline="0" dirty="0" smtClean="0">
                          <a:solidFill>
                            <a:schemeClr val="tx1"/>
                          </a:solidFill>
                        </a:rPr>
                        <a:t> Capital Analytics (RCA)</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Property Value </a:t>
                      </a:r>
                    </a:p>
                    <a:p>
                      <a:pPr algn="ctr"/>
                      <a:r>
                        <a:rPr lang="en-US" sz="1100" dirty="0" smtClean="0">
                          <a:solidFill>
                            <a:schemeClr val="tx1"/>
                          </a:solidFill>
                        </a:rPr>
                        <a:t>Over $5 Million</a:t>
                      </a: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2000-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bl>
          </a:graphicData>
        </a:graphic>
      </p:graphicFrame>
      <p:cxnSp>
        <p:nvCxnSpPr>
          <p:cNvPr id="105" name="Straight Connector 104"/>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Content Placeholder 8"/>
          <p:cNvSpPr txBox="1">
            <a:spLocks/>
          </p:cNvSpPr>
          <p:nvPr/>
        </p:nvSpPr>
        <p:spPr>
          <a:xfrm>
            <a:off x="4572000" y="12192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Empirical Data Sources</a:t>
            </a:r>
            <a:endParaRPr lang="en-US" sz="1200" dirty="0"/>
          </a:p>
        </p:txBody>
      </p:sp>
      <p:sp>
        <p:nvSpPr>
          <p:cNvPr id="11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There are a number of datasets available that cover different aspects of the CRE asset and loan markets.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Collectively, these datasets are used as the foundation for both model development and validation.</a:t>
            </a:r>
          </a:p>
          <a:p>
            <a:pPr>
              <a:lnSpc>
                <a:spcPct val="100000"/>
              </a:lnSpc>
              <a:spcBef>
                <a:spcPts val="0"/>
              </a:spcBef>
            </a:pPr>
            <a:endParaRPr lang="en-US" sz="1100" b="0" dirty="0">
              <a:solidFill>
                <a:schemeClr val="tx1"/>
              </a:solidFill>
            </a:endParaRPr>
          </a:p>
        </p:txBody>
      </p:sp>
      <p:cxnSp>
        <p:nvCxnSpPr>
          <p:cNvPr id="8" name="Straight Connector 7"/>
          <p:cNvCxnSpPr/>
          <p:nvPr/>
        </p:nvCxnSpPr>
        <p:spPr>
          <a:xfrm>
            <a:off x="4267200" y="1676400"/>
            <a:ext cx="0" cy="51879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3048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590800" y="38608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590800" y="4572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590800" y="54102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611948" y="6216650"/>
            <a:ext cx="6815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3045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a:t>
            </a:r>
            <a:br>
              <a:rPr lang="en-US" dirty="0"/>
            </a:br>
            <a:r>
              <a:rPr lang="en-US" dirty="0" err="1" smtClean="0"/>
              <a:t>MODELING</a:t>
            </a:r>
            <a:r>
              <a:rPr lang="en-US" dirty="0" smtClean="0"/>
              <a:t> THE EVOLUTION OF ASSET PRICES  </a:t>
            </a:r>
            <a:endParaRPr lang="en-US" dirty="0"/>
          </a:p>
        </p:txBody>
      </p:sp>
      <p:sp>
        <p:nvSpPr>
          <p:cNvPr id="3" name="Content Placeholder 2"/>
          <p:cNvSpPr>
            <a:spLocks noGrp="1"/>
          </p:cNvSpPr>
          <p:nvPr>
            <p:ph idx="1"/>
          </p:nvPr>
        </p:nvSpPr>
        <p:spPr/>
        <p:txBody>
          <a:bodyPr vert="horz" lIns="0" tIns="0" rIns="0" bIns="0" rtlCol="0" anchor="t" anchorCtr="0">
            <a:noAutofit/>
          </a:bodyPr>
          <a:lstStyle/>
          <a:p>
            <a:pPr>
              <a:lnSpc>
                <a:spcPct val="100000"/>
              </a:lnSpc>
              <a:spcBef>
                <a:spcPts val="0"/>
              </a:spcBef>
            </a:pPr>
            <a:r>
              <a:rPr lang="en-US" sz="1100" b="0" dirty="0">
                <a:solidFill>
                  <a:schemeClr val="tx1"/>
                </a:solidFill>
              </a:rPr>
              <a:t>The </a:t>
            </a:r>
            <a:r>
              <a:rPr lang="en-US" sz="1100" b="0" dirty="0" smtClean="0">
                <a:solidFill>
                  <a:schemeClr val="tx1"/>
                </a:solidFill>
              </a:rPr>
              <a:t>asset risk of a commercial property comes from both market uncertainty and idiosyncratic source.</a:t>
            </a:r>
            <a:endParaRPr lang="en-US" sz="1100" b="0" dirty="0">
              <a:solidFill>
                <a:schemeClr val="tx1"/>
              </a:solidFill>
            </a:endParaRPr>
          </a:p>
        </p:txBody>
      </p:sp>
      <p:grpSp>
        <p:nvGrpSpPr>
          <p:cNvPr id="10" name="Group 9"/>
          <p:cNvGrpSpPr/>
          <p:nvPr/>
        </p:nvGrpSpPr>
        <p:grpSpPr>
          <a:xfrm rot="16200000">
            <a:off x="3479738" y="2790365"/>
            <a:ext cx="1932905" cy="1729581"/>
            <a:chOff x="1793875" y="2565400"/>
            <a:chExt cx="5549900" cy="792163"/>
          </a:xfrm>
        </p:grpSpPr>
        <p:cxnSp>
          <p:nvCxnSpPr>
            <p:cNvPr id="7"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8"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9"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14" name="TextBox 13"/>
              <p:cNvSpPr txBox="1"/>
              <p:nvPr/>
            </p:nvSpPr>
            <p:spPr>
              <a:xfrm>
                <a:off x="5310982" y="3448079"/>
                <a:ext cx="975908" cy="349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𝐹𝑙𝑎𝑡</m:t>
                          </m:r>
                        </m:sub>
                      </m:sSub>
                    </m:oMath>
                  </m:oMathPara>
                </a14:m>
                <a:endParaRPr lang="en-US" sz="1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310982" y="3448079"/>
                <a:ext cx="975908" cy="349326"/>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310982" y="2467668"/>
                <a:ext cx="872675"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𝑈𝑝</m:t>
                          </m:r>
                        </m:sub>
                      </m:sSub>
                    </m:oMath>
                  </m:oMathPara>
                </a14:m>
                <a:endParaRPr lang="en-US" sz="1600" dirty="0"/>
              </a:p>
            </p:txBody>
          </p:sp>
        </mc:Choice>
        <mc:Fallback xmlns="">
          <p:sp>
            <p:nvSpPr>
              <p:cNvPr id="15" name="TextBox 14"/>
              <p:cNvSpPr txBox="1">
                <a:spLocks noRot="1" noChangeAspect="1" noMove="1" noResize="1" noEditPoints="1" noAdjustHandles="1" noChangeArrowheads="1" noChangeShapeType="1" noTextEdit="1"/>
              </p:cNvSpPr>
              <p:nvPr/>
            </p:nvSpPr>
            <p:spPr>
              <a:xfrm>
                <a:off x="5310982" y="2467668"/>
                <a:ext cx="872675" cy="357534"/>
              </a:xfrm>
              <a:prstGeom prst="rect">
                <a:avLst/>
              </a:prstGeom>
              <a:blipFill rotWithShape="1">
                <a:blip r:embed="rId3"/>
                <a:stretch>
                  <a:fillRect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310982" y="4495800"/>
                <a:ext cx="1085041" cy="349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𝐷𝑜𝑤𝑛</m:t>
                          </m:r>
                        </m:sub>
                      </m:sSub>
                    </m:oMath>
                  </m:oMathPara>
                </a14:m>
                <a:endParaRPr lang="en-US"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310982" y="4495800"/>
                <a:ext cx="1085041" cy="349326"/>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124200" y="3471446"/>
                <a:ext cx="36279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a:rPr>
                        <m:t>𝑃</m:t>
                      </m:r>
                    </m:oMath>
                  </m:oMathPara>
                </a14:m>
                <a:endParaRPr lang="en-US" sz="1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3124200" y="3471446"/>
                <a:ext cx="362792" cy="338554"/>
              </a:xfrm>
              <a:prstGeom prst="rect">
                <a:avLst/>
              </a:prstGeom>
              <a:blipFill rotWithShape="1">
                <a:blip r:embed="rId5"/>
                <a:stretch>
                  <a:fillRect/>
                </a:stretch>
              </a:blipFill>
            </p:spPr>
            <p:txBody>
              <a:bodyPr/>
              <a:lstStyle/>
              <a:p>
                <a:r>
                  <a:rPr lang="en-US">
                    <a:noFill/>
                  </a:rPr>
                  <a:t> </a:t>
                </a:r>
              </a:p>
            </p:txBody>
          </p:sp>
        </mc:Fallback>
      </mc:AlternateContent>
      <p:grpSp>
        <p:nvGrpSpPr>
          <p:cNvPr id="19" name="Group 18"/>
          <p:cNvGrpSpPr/>
          <p:nvPr/>
        </p:nvGrpSpPr>
        <p:grpSpPr>
          <a:xfrm rot="16200000">
            <a:off x="6235282" y="2305970"/>
            <a:ext cx="689028" cy="579342"/>
            <a:chOff x="1793875" y="2565400"/>
            <a:chExt cx="5549900" cy="792163"/>
          </a:xfrm>
        </p:grpSpPr>
        <p:cxnSp>
          <p:nvCxnSpPr>
            <p:cNvPr id="20"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21"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22"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23" name="TextBox 22"/>
              <p:cNvSpPr txBox="1"/>
              <p:nvPr/>
            </p:nvSpPr>
            <p:spPr>
              <a:xfrm>
                <a:off x="6975925" y="2057400"/>
                <a:ext cx="963405" cy="377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1</m:t>
                          </m:r>
                        </m:sup>
                      </m:sSup>
                    </m:oMath>
                  </m:oMathPara>
                </a14:m>
                <a:endParaRPr lang="en-US"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975925" y="2057400"/>
                <a:ext cx="963405" cy="377476"/>
              </a:xfrm>
              <a:prstGeom prst="rect">
                <a:avLst/>
              </a:prstGeom>
              <a:blipFill rotWithShape="1">
                <a:blip r:embed="rId6"/>
                <a:stretch>
                  <a:fillRect b="-4918"/>
                </a:stretch>
              </a:blipFill>
            </p:spPr>
            <p:txBody>
              <a:bodyPr/>
              <a:lstStyle/>
              <a:p>
                <a:r>
                  <a:rPr lang="en-US">
                    <a:noFill/>
                  </a:rPr>
                  <a:t> </a:t>
                </a:r>
              </a:p>
            </p:txBody>
          </p:sp>
        </mc:Fallback>
      </mc:AlternateContent>
      <p:grpSp>
        <p:nvGrpSpPr>
          <p:cNvPr id="35" name="Group 34"/>
          <p:cNvGrpSpPr/>
          <p:nvPr/>
        </p:nvGrpSpPr>
        <p:grpSpPr>
          <a:xfrm rot="16200000">
            <a:off x="6235282" y="3385276"/>
            <a:ext cx="689028" cy="579342"/>
            <a:chOff x="1793875" y="2565400"/>
            <a:chExt cx="5549900" cy="792163"/>
          </a:xfrm>
        </p:grpSpPr>
        <p:cxnSp>
          <p:nvCxnSpPr>
            <p:cNvPr id="36"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37"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38"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42" name="Group 41"/>
          <p:cNvGrpSpPr/>
          <p:nvPr/>
        </p:nvGrpSpPr>
        <p:grpSpPr>
          <a:xfrm rot="16200000">
            <a:off x="6235282" y="4502952"/>
            <a:ext cx="689028" cy="579342"/>
            <a:chOff x="1793875" y="2565400"/>
            <a:chExt cx="5549900" cy="792163"/>
          </a:xfrm>
        </p:grpSpPr>
        <p:cxnSp>
          <p:nvCxnSpPr>
            <p:cNvPr id="43"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44"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45"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49" name="TextBox 48"/>
              <p:cNvSpPr txBox="1"/>
              <p:nvPr/>
            </p:nvSpPr>
            <p:spPr>
              <a:xfrm>
                <a:off x="6975925" y="2376577"/>
                <a:ext cx="967764" cy="3779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2</m:t>
                          </m:r>
                        </m:sup>
                      </m:sSup>
                    </m:oMath>
                  </m:oMathPara>
                </a14:m>
                <a:endParaRPr lang="en-US" sz="1600" dirty="0"/>
              </a:p>
            </p:txBody>
          </p:sp>
        </mc:Choice>
        <mc:Fallback xmlns="">
          <p:sp>
            <p:nvSpPr>
              <p:cNvPr id="49" name="TextBox 48"/>
              <p:cNvSpPr txBox="1">
                <a:spLocks noRot="1" noChangeAspect="1" noMove="1" noResize="1" noEditPoints="1" noAdjustHandles="1" noChangeArrowheads="1" noChangeShapeType="1" noTextEdit="1"/>
              </p:cNvSpPr>
              <p:nvPr/>
            </p:nvSpPr>
            <p:spPr>
              <a:xfrm>
                <a:off x="6975925" y="2376577"/>
                <a:ext cx="967764" cy="377989"/>
              </a:xfrm>
              <a:prstGeom prst="rect">
                <a:avLst/>
              </a:prstGeom>
              <a:blipFill rotWithShape="1">
                <a:blip r:embed="rId7"/>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6975925" y="2696268"/>
                <a:ext cx="967764" cy="3779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3</m:t>
                          </m:r>
                        </m:sup>
                      </m:sSup>
                    </m:oMath>
                  </m:oMathPara>
                </a14:m>
                <a:endParaRPr lang="en-US" sz="1600" dirty="0"/>
              </a:p>
            </p:txBody>
          </p:sp>
        </mc:Choice>
        <mc:Fallback xmlns="">
          <p:sp>
            <p:nvSpPr>
              <p:cNvPr id="50" name="TextBox 49"/>
              <p:cNvSpPr txBox="1">
                <a:spLocks noRot="1" noChangeAspect="1" noMove="1" noResize="1" noEditPoints="1" noAdjustHandles="1" noChangeArrowheads="1" noChangeShapeType="1" noTextEdit="1"/>
              </p:cNvSpPr>
              <p:nvPr/>
            </p:nvSpPr>
            <p:spPr>
              <a:xfrm>
                <a:off x="6975925" y="2696268"/>
                <a:ext cx="967764" cy="377989"/>
              </a:xfrm>
              <a:prstGeom prst="rect">
                <a:avLst/>
              </a:prstGeom>
              <a:blipFill rotWithShape="1">
                <a:blip r:embed="rId8"/>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7010400" y="3163301"/>
                <a:ext cx="1066639" cy="3692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1</m:t>
                          </m:r>
                        </m:sup>
                      </m:sSup>
                    </m:oMath>
                  </m:oMathPara>
                </a14:m>
                <a:endParaRPr lang="en-US" sz="1600" dirty="0"/>
              </a:p>
            </p:txBody>
          </p:sp>
        </mc:Choice>
        <mc:Fallback xmlns="">
          <p:sp>
            <p:nvSpPr>
              <p:cNvPr id="51" name="TextBox 50"/>
              <p:cNvSpPr txBox="1">
                <a:spLocks noRot="1" noChangeAspect="1" noMove="1" noResize="1" noEditPoints="1" noAdjustHandles="1" noChangeArrowheads="1" noChangeShapeType="1" noTextEdit="1"/>
              </p:cNvSpPr>
              <p:nvPr/>
            </p:nvSpPr>
            <p:spPr>
              <a:xfrm>
                <a:off x="7010400" y="3163301"/>
                <a:ext cx="1066639" cy="369268"/>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7010400" y="3482478"/>
                <a:ext cx="1070999"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2</m:t>
                          </m:r>
                        </m:sup>
                      </m:sSup>
                    </m:oMath>
                  </m:oMathPara>
                </a14:m>
                <a:endParaRPr lang="en-US" sz="1600" dirty="0"/>
              </a:p>
            </p:txBody>
          </p:sp>
        </mc:Choice>
        <mc:Fallback xmlns="">
          <p:sp>
            <p:nvSpPr>
              <p:cNvPr id="52" name="TextBox 51"/>
              <p:cNvSpPr txBox="1">
                <a:spLocks noRot="1" noChangeAspect="1" noMove="1" noResize="1" noEditPoints="1" noAdjustHandles="1" noChangeArrowheads="1" noChangeShapeType="1" noTextEdit="1"/>
              </p:cNvSpPr>
              <p:nvPr/>
            </p:nvSpPr>
            <p:spPr>
              <a:xfrm>
                <a:off x="7010400" y="3482478"/>
                <a:ext cx="1070999" cy="36978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7010400" y="3802169"/>
                <a:ext cx="1070999"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3</m:t>
                          </m:r>
                        </m:sup>
                      </m:sSup>
                    </m:oMath>
                  </m:oMathPara>
                </a14:m>
                <a:endParaRPr lang="en-US" sz="1600" dirty="0"/>
              </a:p>
            </p:txBody>
          </p:sp>
        </mc:Choice>
        <mc:Fallback xmlns="">
          <p:sp>
            <p:nvSpPr>
              <p:cNvPr id="53" name="TextBox 52"/>
              <p:cNvSpPr txBox="1">
                <a:spLocks noRot="1" noChangeAspect="1" noMove="1" noResize="1" noEditPoints="1" noAdjustHandles="1" noChangeArrowheads="1" noChangeShapeType="1" noTextEdit="1"/>
              </p:cNvSpPr>
              <p:nvPr/>
            </p:nvSpPr>
            <p:spPr>
              <a:xfrm>
                <a:off x="7010400" y="3802169"/>
                <a:ext cx="1070999" cy="36978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7010400" y="4293601"/>
                <a:ext cx="1175771" cy="3692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1</m:t>
                          </m:r>
                        </m:sup>
                      </m:sSup>
                    </m:oMath>
                  </m:oMathPara>
                </a14:m>
                <a:endParaRPr lang="en-US" sz="1600" dirty="0"/>
              </a:p>
            </p:txBody>
          </p:sp>
        </mc:Choice>
        <mc:Fallback xmlns="">
          <p:sp>
            <p:nvSpPr>
              <p:cNvPr id="54" name="TextBox 53"/>
              <p:cNvSpPr txBox="1">
                <a:spLocks noRot="1" noChangeAspect="1" noMove="1" noResize="1" noEditPoints="1" noAdjustHandles="1" noChangeArrowheads="1" noChangeShapeType="1" noTextEdit="1"/>
              </p:cNvSpPr>
              <p:nvPr/>
            </p:nvSpPr>
            <p:spPr>
              <a:xfrm>
                <a:off x="7010400" y="4293601"/>
                <a:ext cx="1175771" cy="36926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7010400" y="4612778"/>
                <a:ext cx="1180131"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2</m:t>
                          </m:r>
                        </m:sup>
                      </m:sSup>
                    </m:oMath>
                  </m:oMathPara>
                </a14:m>
                <a:endParaRPr lang="en-US" sz="1600" dirty="0"/>
              </a:p>
            </p:txBody>
          </p:sp>
        </mc:Choice>
        <mc:Fallback xmlns="">
          <p:sp>
            <p:nvSpPr>
              <p:cNvPr id="55" name="TextBox 54"/>
              <p:cNvSpPr txBox="1">
                <a:spLocks noRot="1" noChangeAspect="1" noMove="1" noResize="1" noEditPoints="1" noAdjustHandles="1" noChangeArrowheads="1" noChangeShapeType="1" noTextEdit="1"/>
              </p:cNvSpPr>
              <p:nvPr/>
            </p:nvSpPr>
            <p:spPr>
              <a:xfrm>
                <a:off x="7010400" y="4612778"/>
                <a:ext cx="1180131" cy="369781"/>
              </a:xfrm>
              <a:prstGeom prst="rect">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7010400" y="4932469"/>
                <a:ext cx="1180131"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3</m:t>
                          </m:r>
                        </m:sup>
                      </m:sSup>
                    </m:oMath>
                  </m:oMathPara>
                </a14:m>
                <a:endParaRPr lang="en-US" sz="1600" dirty="0"/>
              </a:p>
            </p:txBody>
          </p:sp>
        </mc:Choice>
        <mc:Fallback xmlns="">
          <p:sp>
            <p:nvSpPr>
              <p:cNvPr id="56" name="TextBox 55"/>
              <p:cNvSpPr txBox="1">
                <a:spLocks noRot="1" noChangeAspect="1" noMove="1" noResize="1" noEditPoints="1" noAdjustHandles="1" noChangeArrowheads="1" noChangeShapeType="1" noTextEdit="1"/>
              </p:cNvSpPr>
              <p:nvPr/>
            </p:nvSpPr>
            <p:spPr>
              <a:xfrm>
                <a:off x="7010400" y="4932469"/>
                <a:ext cx="1180131" cy="369781"/>
              </a:xfrm>
              <a:prstGeom prst="rect">
                <a:avLst/>
              </a:prstGeom>
              <a:blipFill rotWithShape="1">
                <a:blip r:embed="rId14"/>
                <a:stretch>
                  <a:fillRect/>
                </a:stretch>
              </a:blipFill>
            </p:spPr>
            <p:txBody>
              <a:bodyPr/>
              <a:lstStyle/>
              <a:p>
                <a:r>
                  <a:rPr lang="en-US">
                    <a:noFill/>
                  </a:rPr>
                  <a:t> </a:t>
                </a:r>
              </a:p>
            </p:txBody>
          </p:sp>
        </mc:Fallback>
      </mc:AlternateContent>
      <p:sp>
        <p:nvSpPr>
          <p:cNvPr id="57" name="TextBox 56"/>
          <p:cNvSpPr txBox="1"/>
          <p:nvPr/>
        </p:nvSpPr>
        <p:spPr>
          <a:xfrm>
            <a:off x="5105400" y="5877580"/>
            <a:ext cx="1100769" cy="523220"/>
          </a:xfrm>
          <a:prstGeom prst="rect">
            <a:avLst/>
          </a:prstGeom>
          <a:noFill/>
        </p:spPr>
        <p:txBody>
          <a:bodyPr wrap="square" rtlCol="0">
            <a:spAutoFit/>
          </a:bodyPr>
          <a:lstStyle/>
          <a:p>
            <a:pPr algn="ctr"/>
            <a:r>
              <a:rPr lang="en-US" sz="1400" dirty="0" smtClean="0"/>
              <a:t>Market Uncertainty</a:t>
            </a:r>
            <a:endParaRPr lang="en-US" sz="1400" dirty="0"/>
          </a:p>
        </p:txBody>
      </p:sp>
      <p:sp>
        <p:nvSpPr>
          <p:cNvPr id="58" name="TextBox 57"/>
          <p:cNvSpPr txBox="1"/>
          <p:nvPr/>
        </p:nvSpPr>
        <p:spPr>
          <a:xfrm>
            <a:off x="6975925" y="5877580"/>
            <a:ext cx="1100769" cy="523220"/>
          </a:xfrm>
          <a:prstGeom prst="rect">
            <a:avLst/>
          </a:prstGeom>
          <a:noFill/>
        </p:spPr>
        <p:txBody>
          <a:bodyPr wrap="square" rtlCol="0">
            <a:spAutoFit/>
          </a:bodyPr>
          <a:lstStyle/>
          <a:p>
            <a:pPr algn="ctr"/>
            <a:r>
              <a:rPr lang="en-US" sz="1400" dirty="0" smtClean="0"/>
              <a:t>Individual</a:t>
            </a:r>
          </a:p>
          <a:p>
            <a:pPr algn="ctr"/>
            <a:r>
              <a:rPr lang="en-US" sz="1400" dirty="0" smtClean="0"/>
              <a:t>Dispersion</a:t>
            </a:r>
            <a:endParaRPr lang="en-US" sz="1400" dirty="0"/>
          </a:p>
        </p:txBody>
      </p:sp>
      <p:sp>
        <p:nvSpPr>
          <p:cNvPr id="60" name="Plus 59"/>
          <p:cNvSpPr/>
          <p:nvPr/>
        </p:nvSpPr>
        <p:spPr>
          <a:xfrm>
            <a:off x="6396024" y="5953780"/>
            <a:ext cx="365760" cy="365760"/>
          </a:xfrm>
          <a:prstGeom prst="mathPlus">
            <a:avLst>
              <a:gd name="adj1" fmla="val 68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Elbow Connector 61"/>
          <p:cNvCxnSpPr>
            <a:stCxn id="57" idx="0"/>
            <a:endCxn id="58" idx="0"/>
          </p:cNvCxnSpPr>
          <p:nvPr/>
        </p:nvCxnSpPr>
        <p:spPr>
          <a:xfrm rot="5400000" flipH="1" flipV="1">
            <a:off x="6591047" y="4942318"/>
            <a:ext cx="12700" cy="1870525"/>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743200" y="14287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Content Placeholder 8"/>
          <p:cNvSpPr txBox="1">
            <a:spLocks/>
          </p:cNvSpPr>
          <p:nvPr/>
        </p:nvSpPr>
        <p:spPr>
          <a:xfrm>
            <a:off x="4343400" y="1333500"/>
            <a:ext cx="3276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Asset Risk: Market and Idiosyncratic Factors</a:t>
            </a:r>
            <a:endParaRPr lang="en-US" sz="1200" dirty="0"/>
          </a:p>
        </p:txBody>
      </p:sp>
    </p:spTree>
    <p:extLst>
      <p:ext uri="{BB962C8B-B14F-4D97-AF65-F5344CB8AC3E}">
        <p14:creationId xmlns:p14="http://schemas.microsoft.com/office/powerpoint/2010/main" val="184210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96828" y="3581400"/>
            <a:ext cx="6138276" cy="3276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96828" y="1572398"/>
            <a:ext cx="6138276" cy="20090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 parameters and Assumptions</a:t>
            </a:r>
            <a:endParaRPr lang="en-US" dirty="0"/>
          </a:p>
        </p:txBody>
      </p:sp>
      <p:sp>
        <p:nvSpPr>
          <p:cNvPr id="5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 CRE model employs a forward looking model to estimate the evolution of asset loan-level outcomes.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Major model parameters include Income &amp; Property Value Drivers and Loan Outcome &amp; Loss Parameters.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For each parameter, several assumptions will be applied.</a:t>
            </a:r>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209724060"/>
              </p:ext>
            </p:extLst>
          </p:nvPr>
        </p:nvGraphicFramePr>
        <p:xfrm>
          <a:off x="3496828" y="1572399"/>
          <a:ext cx="6172200" cy="5334002"/>
        </p:xfrm>
        <a:graphic>
          <a:graphicData uri="http://schemas.openxmlformats.org/drawingml/2006/table">
            <a:tbl>
              <a:tblPr>
                <a:tableStyleId>{5C22544A-7EE6-4342-B048-85BDC9FD1C3A}</a:tableStyleId>
              </a:tblPr>
              <a:tblGrid>
                <a:gridCol w="1447800"/>
                <a:gridCol w="4724400"/>
              </a:tblGrid>
              <a:tr h="582036">
                <a:tc>
                  <a:txBody>
                    <a:bodyPr/>
                    <a:lstStyle/>
                    <a:p>
                      <a:r>
                        <a:rPr lang="en-US" sz="1050" b="1" dirty="0" smtClean="0"/>
                        <a:t>Income</a:t>
                      </a:r>
                      <a:r>
                        <a:rPr lang="en-US" sz="1050" b="1" baseline="0" dirty="0" smtClean="0"/>
                        <a:t> growth curves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MSA and property-type based projections of property-level NCF through time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Cap rates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Cap rate curves (term structure) by property type</a:t>
                      </a:r>
                    </a:p>
                    <a:p>
                      <a:pPr marL="171450" indent="-171450">
                        <a:buFont typeface="Arial" panose="020B0604020202020204" pitchFamily="34" charset="0"/>
                        <a:buChar char="•"/>
                      </a:pPr>
                      <a:r>
                        <a:rPr lang="en-US" sz="1050" dirty="0" smtClean="0"/>
                        <a:t>Adjusted by property grades to account for individual property location and quality</a:t>
                      </a:r>
                    </a:p>
                    <a:p>
                      <a:pPr marL="171450" indent="-171450">
                        <a:buFont typeface="Arial" panose="020B0604020202020204" pitchFamily="34" charset="0"/>
                        <a:buChar char="•"/>
                      </a:pPr>
                      <a:r>
                        <a:rPr lang="en-US" sz="1050" dirty="0" smtClean="0"/>
                        <a:t>Combined with income projections to determine property value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Property</a:t>
                      </a:r>
                      <a:r>
                        <a:rPr lang="en-US" sz="1050" b="1" baseline="0" dirty="0" smtClean="0"/>
                        <a:t> grades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Individually assigned grades based on location, condition and size</a:t>
                      </a:r>
                    </a:p>
                    <a:p>
                      <a:pPr marL="171450" indent="-171450">
                        <a:buFont typeface="Arial" panose="020B0604020202020204" pitchFamily="34" charset="0"/>
                        <a:buChar char="•"/>
                      </a:pPr>
                      <a:r>
                        <a:rPr lang="en-US" sz="1050" dirty="0" smtClean="0"/>
                        <a:t>Used to adjust cap rates to account for individual property quality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DSCR default trigger</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Monthly test that results in a term default if DSCR drops below a defined level</a:t>
                      </a:r>
                    </a:p>
                    <a:p>
                      <a:pPr marL="171450" indent="-171450">
                        <a:buFont typeface="Arial" panose="020B0604020202020204" pitchFamily="34" charset="0"/>
                        <a:buChar char="•"/>
                      </a:pPr>
                      <a:r>
                        <a:rPr lang="en-US" sz="1050" dirty="0" smtClean="0"/>
                        <a:t>Triggers are property type based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Loan extensions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Loans are extended at maturity if LTV falls within a defined band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Workout period</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Time to resolution after a term or maturity default</a:t>
                      </a:r>
                    </a:p>
                    <a:p>
                      <a:pPr marL="171450" indent="-171450">
                        <a:buFont typeface="Arial" panose="020B0604020202020204" pitchFamily="34" charset="0"/>
                        <a:buChar char="•"/>
                      </a:pPr>
                      <a:r>
                        <a:rPr lang="en-US" sz="1050" dirty="0" smtClean="0"/>
                        <a:t>Jurisdiction-based (by State)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Liquidation costs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Percentage of property value at liquidation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Servicer reserves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Reserves held by the servicer are used to fund debt service payment shortfalls if income drops below the DSCR threshold</a:t>
                      </a:r>
                      <a:endParaRPr lang="en-US" sz="105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38" name="TextBox 37"/>
          <p:cNvSpPr txBox="1"/>
          <p:nvPr/>
        </p:nvSpPr>
        <p:spPr>
          <a:xfrm>
            <a:off x="3429000" y="1295400"/>
            <a:ext cx="2090849" cy="276999"/>
          </a:xfrm>
          <a:prstGeom prst="rect">
            <a:avLst/>
          </a:prstGeom>
          <a:noFill/>
        </p:spPr>
        <p:txBody>
          <a:bodyPr wrap="square" rtlCol="0">
            <a:spAutoFit/>
          </a:bodyPr>
          <a:lstStyle/>
          <a:p>
            <a:r>
              <a:rPr lang="en-US" sz="1200" b="1" dirty="0" smtClean="0"/>
              <a:t>Assumption</a:t>
            </a:r>
            <a:endParaRPr lang="en-US" sz="1200" b="1" dirty="0"/>
          </a:p>
        </p:txBody>
      </p:sp>
      <p:cxnSp>
        <p:nvCxnSpPr>
          <p:cNvPr id="39" name="Straight Connector 38"/>
          <p:cNvCxnSpPr/>
          <p:nvPr/>
        </p:nvCxnSpPr>
        <p:spPr>
          <a:xfrm flipV="1">
            <a:off x="3496828" y="1572397"/>
            <a:ext cx="6138276" cy="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03084" y="1295399"/>
            <a:ext cx="2090849" cy="276999"/>
          </a:xfrm>
          <a:prstGeom prst="rect">
            <a:avLst/>
          </a:prstGeom>
          <a:noFill/>
        </p:spPr>
        <p:txBody>
          <a:bodyPr wrap="square" rtlCol="0">
            <a:spAutoFit/>
          </a:bodyPr>
          <a:lstStyle/>
          <a:p>
            <a:r>
              <a:rPr lang="en-US" sz="1200" b="1" dirty="0" smtClean="0"/>
              <a:t>Description</a:t>
            </a:r>
            <a:endParaRPr lang="en-US" sz="1200" b="1" dirty="0"/>
          </a:p>
        </p:txBody>
      </p:sp>
      <p:cxnSp>
        <p:nvCxnSpPr>
          <p:cNvPr id="13" name="Straight Connector 12"/>
          <p:cNvCxnSpPr/>
          <p:nvPr/>
        </p:nvCxnSpPr>
        <p:spPr>
          <a:xfrm>
            <a:off x="3615304" y="2057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615304" y="30480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615304" y="3581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615304" y="42672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615304" y="48006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615304" y="5486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615304" y="6096000"/>
            <a:ext cx="579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590800" y="1572400"/>
            <a:ext cx="914400" cy="2009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rot="16200000">
            <a:off x="2624438" y="2157798"/>
            <a:ext cx="923330" cy="838201"/>
          </a:xfrm>
          <a:prstGeom prst="rect">
            <a:avLst/>
          </a:prstGeom>
          <a:noFill/>
        </p:spPr>
        <p:txBody>
          <a:bodyPr vert="eaVert" wrap="square" rtlCol="0">
            <a:spAutoFit/>
          </a:bodyPr>
          <a:lstStyle/>
          <a:p>
            <a:pPr algn="ctr"/>
            <a:r>
              <a:rPr lang="en-US" sz="1200" b="1" dirty="0" smtClean="0">
                <a:solidFill>
                  <a:schemeClr val="bg1"/>
                </a:solidFill>
              </a:rPr>
              <a:t>Income and Property </a:t>
            </a:r>
          </a:p>
          <a:p>
            <a:pPr algn="ctr"/>
            <a:r>
              <a:rPr lang="en-US" sz="1200" b="1" dirty="0" smtClean="0">
                <a:solidFill>
                  <a:schemeClr val="bg1"/>
                </a:solidFill>
              </a:rPr>
              <a:t>Value Drivers</a:t>
            </a:r>
            <a:endParaRPr lang="en-US" sz="1200" b="1" dirty="0">
              <a:solidFill>
                <a:schemeClr val="bg1"/>
              </a:solidFill>
            </a:endParaRPr>
          </a:p>
        </p:txBody>
      </p:sp>
      <p:sp>
        <p:nvSpPr>
          <p:cNvPr id="59" name="Rectangle 58"/>
          <p:cNvSpPr/>
          <p:nvPr/>
        </p:nvSpPr>
        <p:spPr>
          <a:xfrm>
            <a:off x="2590800" y="3581400"/>
            <a:ext cx="914400" cy="3276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Loan Outcome and Loss Parameters</a:t>
            </a:r>
            <a:endParaRPr lang="en-US" sz="1200" b="1" dirty="0"/>
          </a:p>
        </p:txBody>
      </p:sp>
    </p:spTree>
    <p:extLst>
      <p:ext uri="{BB962C8B-B14F-4D97-AF65-F5344CB8AC3E}">
        <p14:creationId xmlns:p14="http://schemas.microsoft.com/office/powerpoint/2010/main" val="376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RESIDENTIAL LOANS VERSUS COMMERCIAL LOANS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There are some fundamental differences between modeling credit events for residential loans versus commercial loans.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smaller population of commercial mortgages, heterogeneity of the underlying properties/loans, and the potential for large single loans to have an outsized impact on the returns of a securitization (“concentration risk”) all lead to a modeling process that combines qualitative and quantitative measures.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42" name="Rectangle 41"/>
          <p:cNvSpPr/>
          <p:nvPr/>
        </p:nvSpPr>
        <p:spPr>
          <a:xfrm>
            <a:off x="6324600" y="1405658"/>
            <a:ext cx="3505200" cy="5718930"/>
          </a:xfrm>
          <a:prstGeom prst="rect">
            <a:avLst/>
          </a:prstGeom>
          <a:solidFill>
            <a:schemeClr val="accent6">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p:cNvSpPr/>
          <p:nvPr/>
        </p:nvSpPr>
        <p:spPr>
          <a:xfrm>
            <a:off x="3200400" y="1405658"/>
            <a:ext cx="3124200" cy="5718930"/>
          </a:xfrm>
          <a:prstGeom prst="rect">
            <a:avLst/>
          </a:prstGeom>
          <a:solidFill>
            <a:schemeClr val="accent3">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TextBox 6"/>
          <p:cNvSpPr txBox="1"/>
          <p:nvPr/>
        </p:nvSpPr>
        <p:spPr>
          <a:xfrm>
            <a:off x="3200400" y="1485491"/>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R</a:t>
            </a:r>
            <a:r>
              <a:rPr lang="en-US" sz="1100" dirty="0" smtClean="0"/>
              <a:t>elatively </a:t>
            </a:r>
            <a:r>
              <a:rPr lang="en-US" sz="1100" dirty="0"/>
              <a:t>homogeneous collateral - mortgages are secured by</a:t>
            </a:r>
            <a:r>
              <a:rPr lang="en-US" sz="1100" b="1" dirty="0"/>
              <a:t> single family residences</a:t>
            </a:r>
          </a:p>
        </p:txBody>
      </p:sp>
      <p:sp>
        <p:nvSpPr>
          <p:cNvPr id="33" name="TextBox 32"/>
          <p:cNvSpPr txBox="1"/>
          <p:nvPr/>
        </p:nvSpPr>
        <p:spPr>
          <a:xfrm>
            <a:off x="6400800" y="1486846"/>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M</a:t>
            </a:r>
            <a:r>
              <a:rPr lang="en-US" sz="1100" dirty="0" smtClean="0"/>
              <a:t>ore </a:t>
            </a:r>
            <a:r>
              <a:rPr lang="en-US" sz="1100" dirty="0"/>
              <a:t>heterogeneous collateral - mortgages are secured by a </a:t>
            </a:r>
            <a:r>
              <a:rPr lang="en-US" sz="1100" b="1" dirty="0"/>
              <a:t>variety of property types </a:t>
            </a:r>
            <a:r>
              <a:rPr lang="en-US" sz="1100" dirty="0"/>
              <a:t>including office, retail, multifamily, industry and hospitality</a:t>
            </a:r>
          </a:p>
        </p:txBody>
      </p:sp>
      <p:sp>
        <p:nvSpPr>
          <p:cNvPr id="34" name="TextBox 33"/>
          <p:cNvSpPr txBox="1"/>
          <p:nvPr/>
        </p:nvSpPr>
        <p:spPr>
          <a:xfrm>
            <a:off x="3200400" y="2214907"/>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Each </a:t>
            </a:r>
            <a:r>
              <a:rPr lang="en-US" sz="1100" dirty="0" smtClean="0"/>
              <a:t>RMBS securitization </a:t>
            </a:r>
            <a:r>
              <a:rPr lang="en-US" sz="1100" dirty="0"/>
              <a:t>typically contains </a:t>
            </a:r>
            <a:r>
              <a:rPr lang="en-US" sz="1100" b="1" dirty="0"/>
              <a:t>thousands of mortgages</a:t>
            </a:r>
          </a:p>
        </p:txBody>
      </p:sp>
      <p:sp>
        <p:nvSpPr>
          <p:cNvPr id="35" name="TextBox 34"/>
          <p:cNvSpPr txBox="1"/>
          <p:nvPr/>
        </p:nvSpPr>
        <p:spPr>
          <a:xfrm>
            <a:off x="6400800" y="2216261"/>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Most </a:t>
            </a:r>
            <a:r>
              <a:rPr lang="en-US" sz="1100" dirty="0" smtClean="0"/>
              <a:t>CMBS securitizations </a:t>
            </a:r>
            <a:r>
              <a:rPr lang="en-US" sz="1100" dirty="0"/>
              <a:t>contain approximately </a:t>
            </a:r>
            <a:r>
              <a:rPr lang="en-US" sz="1100" b="1" dirty="0"/>
              <a:t>15-300 mortgages</a:t>
            </a:r>
          </a:p>
          <a:p>
            <a:pPr marL="171450" indent="-171450">
              <a:buFont typeface="Arial" panose="020B0604020202020204" pitchFamily="34" charset="0"/>
              <a:buChar char="•"/>
            </a:pPr>
            <a:r>
              <a:rPr lang="en-US" sz="1100" dirty="0"/>
              <a:t>Generally the </a:t>
            </a:r>
            <a:r>
              <a:rPr lang="en-US" sz="1100" b="1" dirty="0"/>
              <a:t>top 15 </a:t>
            </a:r>
            <a:r>
              <a:rPr lang="en-US" sz="1100" dirty="0"/>
              <a:t>loans account for approximately 50% of the balance of a CMBS trust</a:t>
            </a:r>
          </a:p>
        </p:txBody>
      </p:sp>
      <p:cxnSp>
        <p:nvCxnSpPr>
          <p:cNvPr id="11" name="Straight Connector 10"/>
          <p:cNvCxnSpPr/>
          <p:nvPr/>
        </p:nvCxnSpPr>
        <p:spPr>
          <a:xfrm>
            <a:off x="3276600" y="2135072"/>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185693" y="4860084"/>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a:t>
            </a:r>
            <a:r>
              <a:rPr lang="en-US" sz="1100" b="1" dirty="0" smtClean="0"/>
              <a:t>rarely </a:t>
            </a:r>
            <a:r>
              <a:rPr lang="en-US" sz="1100" b="1" dirty="0"/>
              <a:t>materially </a:t>
            </a:r>
            <a:r>
              <a:rPr lang="en-US" sz="1100" b="1" dirty="0" smtClean="0"/>
              <a:t>impacts </a:t>
            </a:r>
            <a:r>
              <a:rPr lang="en-US" sz="1100" dirty="0"/>
              <a:t>deal performance</a:t>
            </a:r>
          </a:p>
        </p:txBody>
      </p:sp>
      <p:sp>
        <p:nvSpPr>
          <p:cNvPr id="44" name="TextBox 43"/>
          <p:cNvSpPr txBox="1"/>
          <p:nvPr/>
        </p:nvSpPr>
        <p:spPr>
          <a:xfrm>
            <a:off x="6386093" y="4861439"/>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can have a </a:t>
            </a:r>
            <a:r>
              <a:rPr lang="en-US" sz="1100" b="1" dirty="0"/>
              <a:t>significant impact</a:t>
            </a:r>
            <a:r>
              <a:rPr lang="en-US" sz="1100" dirty="0"/>
              <a:t> </a:t>
            </a:r>
            <a:r>
              <a:rPr lang="en-US" sz="1100" dirty="0" smtClean="0"/>
              <a:t>on </a:t>
            </a:r>
            <a:r>
              <a:rPr lang="en-US" sz="1100" dirty="0"/>
              <a:t>the owners of all related CMBS tranches</a:t>
            </a:r>
          </a:p>
        </p:txBody>
      </p:sp>
      <p:cxnSp>
        <p:nvCxnSpPr>
          <p:cNvPr id="45" name="Straight Connector 44"/>
          <p:cNvCxnSpPr/>
          <p:nvPr/>
        </p:nvCxnSpPr>
        <p:spPr>
          <a:xfrm>
            <a:off x="3261893" y="4780249"/>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185693" y="5642435"/>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Greater </a:t>
            </a:r>
            <a:r>
              <a:rPr lang="en-US" sz="1100" b="1" dirty="0"/>
              <a:t>consistency</a:t>
            </a:r>
            <a:r>
              <a:rPr lang="en-US" sz="1100" dirty="0"/>
              <a:t> in loan documentation for residential mortgages</a:t>
            </a:r>
          </a:p>
        </p:txBody>
      </p:sp>
      <p:sp>
        <p:nvSpPr>
          <p:cNvPr id="50" name="TextBox 49"/>
          <p:cNvSpPr txBox="1"/>
          <p:nvPr/>
        </p:nvSpPr>
        <p:spPr>
          <a:xfrm>
            <a:off x="6386093" y="5643789"/>
            <a:ext cx="3429000" cy="451439"/>
          </a:xfrm>
          <a:prstGeom prst="rect">
            <a:avLst/>
          </a:prstGeom>
          <a:noFill/>
        </p:spPr>
        <p:txBody>
          <a:bodyPr wrap="square" rtlCol="0">
            <a:spAutoFit/>
          </a:bodyPr>
          <a:lstStyle/>
          <a:p>
            <a:pPr marL="171450" indent="-171450">
              <a:buFont typeface="Arial" panose="020B0604020202020204" pitchFamily="34" charset="0"/>
              <a:buChar char="•"/>
            </a:pPr>
            <a:r>
              <a:rPr lang="en-US" sz="1100" dirty="0"/>
              <a:t>Loan documentation tends to be </a:t>
            </a:r>
            <a:r>
              <a:rPr lang="en-US" sz="1100" b="1" dirty="0"/>
              <a:t>unique</a:t>
            </a:r>
            <a:r>
              <a:rPr lang="en-US" sz="1100" dirty="0"/>
              <a:t> for each borrower/mortgage</a:t>
            </a:r>
          </a:p>
        </p:txBody>
      </p:sp>
      <p:cxnSp>
        <p:nvCxnSpPr>
          <p:cNvPr id="51" name="Straight Connector 50"/>
          <p:cNvCxnSpPr/>
          <p:nvPr/>
        </p:nvCxnSpPr>
        <p:spPr>
          <a:xfrm>
            <a:off x="3261893" y="55626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185693" y="6355147"/>
            <a:ext cx="31242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Modeling is typically based on </a:t>
            </a:r>
            <a:r>
              <a:rPr lang="en-US" sz="1100" dirty="0" smtClean="0"/>
              <a:t>the law </a:t>
            </a:r>
            <a:r>
              <a:rPr lang="en-US" sz="1100" dirty="0"/>
              <a:t>of large numbers, applying a </a:t>
            </a:r>
            <a:r>
              <a:rPr lang="en-US" sz="1100" b="1" dirty="0"/>
              <a:t>probabilistic approach </a:t>
            </a:r>
            <a:r>
              <a:rPr lang="en-US" sz="1100" dirty="0"/>
              <a:t>to projecting performance outcome (e.g. CDR, CPR, Severities, etc.)</a:t>
            </a:r>
          </a:p>
        </p:txBody>
      </p:sp>
      <p:sp>
        <p:nvSpPr>
          <p:cNvPr id="53" name="TextBox 52"/>
          <p:cNvSpPr txBox="1"/>
          <p:nvPr/>
        </p:nvSpPr>
        <p:spPr>
          <a:xfrm>
            <a:off x="6386093" y="6356502"/>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Commercial real estate is </a:t>
            </a:r>
            <a:r>
              <a:rPr lang="en-US" sz="1100" b="1" dirty="0"/>
              <a:t>less amenable </a:t>
            </a:r>
            <a:r>
              <a:rPr lang="en-US" sz="1100" dirty="0"/>
              <a:t>to statistical modeling due to </a:t>
            </a:r>
            <a:r>
              <a:rPr lang="en-US" sz="1100" dirty="0" smtClean="0"/>
              <a:t>the idiosyncratic </a:t>
            </a:r>
            <a:r>
              <a:rPr lang="en-US" sz="1100" dirty="0"/>
              <a:t>aspects of each underlying commercial property and mortgage</a:t>
            </a:r>
          </a:p>
        </p:txBody>
      </p:sp>
      <p:cxnSp>
        <p:nvCxnSpPr>
          <p:cNvPr id="54" name="Straight Connector 53"/>
          <p:cNvCxnSpPr/>
          <p:nvPr/>
        </p:nvCxnSpPr>
        <p:spPr>
          <a:xfrm>
            <a:off x="3261893" y="6275313"/>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1405658"/>
            <a:ext cx="31242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55" name="Straight Connector 54"/>
          <p:cNvCxnSpPr/>
          <p:nvPr/>
        </p:nvCxnSpPr>
        <p:spPr>
          <a:xfrm>
            <a:off x="6324600" y="1405658"/>
            <a:ext cx="35052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sp>
        <p:nvSpPr>
          <p:cNvPr id="57" name="TextBox 56"/>
          <p:cNvSpPr txBox="1"/>
          <p:nvPr/>
        </p:nvSpPr>
        <p:spPr>
          <a:xfrm>
            <a:off x="3200400" y="1100858"/>
            <a:ext cx="1752600" cy="307777"/>
          </a:xfrm>
          <a:prstGeom prst="rect">
            <a:avLst/>
          </a:prstGeom>
          <a:noFill/>
        </p:spPr>
        <p:txBody>
          <a:bodyPr wrap="square" rtlCol="0">
            <a:spAutoFit/>
          </a:bodyPr>
          <a:lstStyle/>
          <a:p>
            <a:r>
              <a:rPr lang="en-US" sz="1400" b="1" dirty="0" smtClean="0"/>
              <a:t>RESIDENTIAL LOANS</a:t>
            </a:r>
            <a:endParaRPr lang="en-US" sz="1400" b="1" dirty="0"/>
          </a:p>
        </p:txBody>
      </p:sp>
      <p:sp>
        <p:nvSpPr>
          <p:cNvPr id="58" name="TextBox 57"/>
          <p:cNvSpPr txBox="1"/>
          <p:nvPr/>
        </p:nvSpPr>
        <p:spPr>
          <a:xfrm>
            <a:off x="6324600" y="1090328"/>
            <a:ext cx="1790700" cy="307777"/>
          </a:xfrm>
          <a:prstGeom prst="rect">
            <a:avLst/>
          </a:prstGeom>
          <a:noFill/>
        </p:spPr>
        <p:txBody>
          <a:bodyPr wrap="square" rtlCol="0">
            <a:spAutoFit/>
          </a:bodyPr>
          <a:lstStyle/>
          <a:p>
            <a:r>
              <a:rPr lang="en-US" sz="1400" b="1" dirty="0" smtClean="0"/>
              <a:t>COMMERCIAL LOANS</a:t>
            </a:r>
            <a:endParaRPr lang="en-US" sz="1400" b="1" dirty="0"/>
          </a:p>
        </p:txBody>
      </p:sp>
      <p:sp>
        <p:nvSpPr>
          <p:cNvPr id="63" name="TextBox 62"/>
          <p:cNvSpPr txBox="1"/>
          <p:nvPr/>
        </p:nvSpPr>
        <p:spPr>
          <a:xfrm rot="16200000">
            <a:off x="2436246" y="1930683"/>
            <a:ext cx="553998" cy="854489"/>
          </a:xfrm>
          <a:prstGeom prst="rect">
            <a:avLst/>
          </a:prstGeom>
          <a:noFill/>
        </p:spPr>
        <p:txBody>
          <a:bodyPr vert="eaVert" wrap="square" rtlCol="0">
            <a:spAutoFit/>
          </a:bodyPr>
          <a:lstStyle/>
          <a:p>
            <a:pPr algn="r"/>
            <a:r>
              <a:rPr lang="en-US" sz="1200" dirty="0"/>
              <a:t>Collateral</a:t>
            </a:r>
            <a:endParaRPr lang="en-US" sz="1200" dirty="0" smtClean="0"/>
          </a:p>
          <a:p>
            <a:pPr algn="r"/>
            <a:r>
              <a:rPr lang="en-US" sz="1200" dirty="0" smtClean="0"/>
              <a:t>Size</a:t>
            </a:r>
            <a:endParaRPr lang="en-US" sz="1200" dirty="0"/>
          </a:p>
        </p:txBody>
      </p:sp>
      <p:cxnSp>
        <p:nvCxnSpPr>
          <p:cNvPr id="65" name="Straight Connector 64"/>
          <p:cNvCxnSpPr/>
          <p:nvPr/>
        </p:nvCxnSpPr>
        <p:spPr>
          <a:xfrm>
            <a:off x="3140490" y="217326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2436247" y="1174747"/>
            <a:ext cx="553998" cy="854489"/>
          </a:xfrm>
          <a:prstGeom prst="rect">
            <a:avLst/>
          </a:prstGeom>
          <a:noFill/>
        </p:spPr>
        <p:txBody>
          <a:bodyPr vert="eaVert" wrap="square" rtlCol="0">
            <a:spAutoFit/>
          </a:bodyPr>
          <a:lstStyle/>
          <a:p>
            <a:pPr algn="r"/>
            <a:r>
              <a:rPr lang="en-US" sz="1200" dirty="0" smtClean="0"/>
              <a:t>Collateral</a:t>
            </a:r>
          </a:p>
          <a:p>
            <a:pPr algn="r"/>
            <a:r>
              <a:rPr lang="en-US" sz="1200" dirty="0" smtClean="0"/>
              <a:t>Type</a:t>
            </a:r>
            <a:endParaRPr lang="en-US" sz="1200" dirty="0"/>
          </a:p>
        </p:txBody>
      </p:sp>
      <p:cxnSp>
        <p:nvCxnSpPr>
          <p:cNvPr id="67" name="Straight Connector 66"/>
          <p:cNvCxnSpPr/>
          <p:nvPr/>
        </p:nvCxnSpPr>
        <p:spPr>
          <a:xfrm>
            <a:off x="3140491" y="1417325"/>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rot="16200000">
            <a:off x="2421540" y="4596998"/>
            <a:ext cx="553998" cy="854489"/>
          </a:xfrm>
          <a:prstGeom prst="rect">
            <a:avLst/>
          </a:prstGeom>
          <a:noFill/>
        </p:spPr>
        <p:txBody>
          <a:bodyPr vert="eaVert" wrap="square" rtlCol="0">
            <a:spAutoFit/>
          </a:bodyPr>
          <a:lstStyle/>
          <a:p>
            <a:pPr algn="r"/>
            <a:r>
              <a:rPr lang="en-US" sz="1200" dirty="0" smtClean="0"/>
              <a:t>Default</a:t>
            </a:r>
          </a:p>
          <a:p>
            <a:pPr algn="r"/>
            <a:r>
              <a:rPr lang="en-US" sz="1200" dirty="0" smtClean="0"/>
              <a:t>Impact</a:t>
            </a:r>
            <a:endParaRPr lang="en-US" sz="1200" dirty="0"/>
          </a:p>
        </p:txBody>
      </p:sp>
      <p:cxnSp>
        <p:nvCxnSpPr>
          <p:cNvPr id="70" name="Straight Connector 69"/>
          <p:cNvCxnSpPr/>
          <p:nvPr/>
        </p:nvCxnSpPr>
        <p:spPr>
          <a:xfrm>
            <a:off x="3125784" y="4839576"/>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rot="16200000">
            <a:off x="2513871" y="5380361"/>
            <a:ext cx="369332" cy="854489"/>
          </a:xfrm>
          <a:prstGeom prst="rect">
            <a:avLst/>
          </a:prstGeom>
          <a:noFill/>
        </p:spPr>
        <p:txBody>
          <a:bodyPr vert="eaVert" wrap="square" rtlCol="0">
            <a:spAutoFit/>
          </a:bodyPr>
          <a:lstStyle/>
          <a:p>
            <a:pPr algn="r"/>
            <a:r>
              <a:rPr lang="en-US" sz="1200" dirty="0" smtClean="0"/>
              <a:t>Documents</a:t>
            </a:r>
            <a:endParaRPr lang="en-US" sz="1200" dirty="0"/>
          </a:p>
        </p:txBody>
      </p:sp>
      <p:cxnSp>
        <p:nvCxnSpPr>
          <p:cNvPr id="72" name="Straight Connector 71"/>
          <p:cNvCxnSpPr/>
          <p:nvPr/>
        </p:nvCxnSpPr>
        <p:spPr>
          <a:xfrm>
            <a:off x="3125782" y="5622939"/>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rot="16200000">
            <a:off x="2405249" y="6103385"/>
            <a:ext cx="553998" cy="854489"/>
          </a:xfrm>
          <a:prstGeom prst="rect">
            <a:avLst/>
          </a:prstGeom>
          <a:noFill/>
        </p:spPr>
        <p:txBody>
          <a:bodyPr vert="eaVert" wrap="square" rtlCol="0">
            <a:spAutoFit/>
          </a:bodyPr>
          <a:lstStyle/>
          <a:p>
            <a:pPr algn="r"/>
            <a:r>
              <a:rPr lang="en-US" sz="1200" dirty="0" smtClean="0"/>
              <a:t>Statistical</a:t>
            </a:r>
          </a:p>
          <a:p>
            <a:pPr algn="r"/>
            <a:r>
              <a:rPr lang="en-US" sz="1200" dirty="0" smtClean="0"/>
              <a:t>Modeling</a:t>
            </a:r>
            <a:endParaRPr lang="en-US" sz="1200" dirty="0"/>
          </a:p>
        </p:txBody>
      </p:sp>
      <p:cxnSp>
        <p:nvCxnSpPr>
          <p:cNvPr id="74" name="Straight Connector 73"/>
          <p:cNvCxnSpPr/>
          <p:nvPr/>
        </p:nvCxnSpPr>
        <p:spPr>
          <a:xfrm>
            <a:off x="3109493" y="634596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7" name="TextBox 36"/>
          <p:cNvSpPr txBox="1"/>
          <p:nvPr/>
        </p:nvSpPr>
        <p:spPr>
          <a:xfrm>
            <a:off x="3218482" y="3095909"/>
            <a:ext cx="31242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Primarily fixed-rate </a:t>
            </a:r>
            <a:r>
              <a:rPr lang="en-US" sz="1100" b="1" dirty="0" smtClean="0"/>
              <a:t>level-payment</a:t>
            </a:r>
            <a:r>
              <a:rPr lang="en-US" sz="1100" dirty="0" smtClean="0"/>
              <a:t> mortgages.</a:t>
            </a:r>
            <a:endParaRPr lang="en-US" sz="1100" dirty="0"/>
          </a:p>
        </p:txBody>
      </p:sp>
      <p:sp>
        <p:nvSpPr>
          <p:cNvPr id="38" name="TextBox 37"/>
          <p:cNvSpPr txBox="1"/>
          <p:nvPr/>
        </p:nvSpPr>
        <p:spPr>
          <a:xfrm>
            <a:off x="6418882" y="309726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Usually a partially amortized </a:t>
            </a:r>
            <a:r>
              <a:rPr lang="en-US" sz="1100" b="1" dirty="0" smtClean="0"/>
              <a:t>balloon </a:t>
            </a:r>
            <a:r>
              <a:rPr lang="en-US" sz="1100" dirty="0" smtClean="0"/>
              <a:t>mortgage with 25 to 30 year amortization of principal and 5 to 10 year maturity.</a:t>
            </a:r>
            <a:endParaRPr lang="en-US" sz="1100" dirty="0"/>
          </a:p>
        </p:txBody>
      </p:sp>
      <p:cxnSp>
        <p:nvCxnSpPr>
          <p:cNvPr id="39" name="Straight Connector 38"/>
          <p:cNvCxnSpPr/>
          <p:nvPr/>
        </p:nvCxnSpPr>
        <p:spPr>
          <a:xfrm>
            <a:off x="3294682" y="3016074"/>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218482" y="3949230"/>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Substantial because of the </a:t>
            </a:r>
            <a:r>
              <a:rPr lang="en-US" sz="1100" b="1" dirty="0" smtClean="0"/>
              <a:t>absence of prepayment penalties</a:t>
            </a:r>
            <a:r>
              <a:rPr lang="en-US" sz="1100" dirty="0" smtClean="0"/>
              <a:t>.</a:t>
            </a:r>
            <a:endParaRPr lang="en-US" sz="1100" dirty="0"/>
          </a:p>
        </p:txBody>
      </p:sp>
      <p:sp>
        <p:nvSpPr>
          <p:cNvPr id="41" name="TextBox 40"/>
          <p:cNvSpPr txBox="1"/>
          <p:nvPr/>
        </p:nvSpPr>
        <p:spPr>
          <a:xfrm>
            <a:off x="6418882" y="395058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b="1" dirty="0" smtClean="0"/>
              <a:t>Minimal impact </a:t>
            </a:r>
            <a:r>
              <a:rPr lang="en-US" sz="1100" dirty="0" smtClean="0"/>
              <a:t>because of stringent prepayment penalties including lock-outs, points, yield maintenance, and defeasance.</a:t>
            </a:r>
            <a:endParaRPr lang="en-US" sz="1100" dirty="0"/>
          </a:p>
        </p:txBody>
      </p:sp>
      <p:cxnSp>
        <p:nvCxnSpPr>
          <p:cNvPr id="46" name="Straight Connector 45"/>
          <p:cNvCxnSpPr/>
          <p:nvPr/>
        </p:nvCxnSpPr>
        <p:spPr>
          <a:xfrm>
            <a:off x="3294682" y="3869395"/>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rot="16200000">
            <a:off x="2454329" y="2832823"/>
            <a:ext cx="553998" cy="854489"/>
          </a:xfrm>
          <a:prstGeom prst="rect">
            <a:avLst/>
          </a:prstGeom>
          <a:noFill/>
        </p:spPr>
        <p:txBody>
          <a:bodyPr vert="eaVert" wrap="square" rtlCol="0">
            <a:spAutoFit/>
          </a:bodyPr>
          <a:lstStyle/>
          <a:p>
            <a:pPr algn="r"/>
            <a:r>
              <a:rPr lang="en-US" sz="1200" dirty="0" smtClean="0"/>
              <a:t>Loan</a:t>
            </a:r>
          </a:p>
          <a:p>
            <a:pPr algn="r"/>
            <a:r>
              <a:rPr lang="en-US" sz="1200" dirty="0" smtClean="0"/>
              <a:t>Type</a:t>
            </a:r>
            <a:endParaRPr lang="en-US" sz="1200" dirty="0"/>
          </a:p>
        </p:txBody>
      </p:sp>
      <p:cxnSp>
        <p:nvCxnSpPr>
          <p:cNvPr id="56" name="Straight Connector 55"/>
          <p:cNvCxnSpPr/>
          <p:nvPr/>
        </p:nvCxnSpPr>
        <p:spPr>
          <a:xfrm>
            <a:off x="3158573" y="307540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rot="16200000">
            <a:off x="2454327" y="3687156"/>
            <a:ext cx="553998" cy="854489"/>
          </a:xfrm>
          <a:prstGeom prst="rect">
            <a:avLst/>
          </a:prstGeom>
          <a:noFill/>
        </p:spPr>
        <p:txBody>
          <a:bodyPr vert="eaVert" wrap="square" rtlCol="0">
            <a:spAutoFit/>
          </a:bodyPr>
          <a:lstStyle/>
          <a:p>
            <a:pPr algn="r"/>
            <a:r>
              <a:rPr lang="en-US" sz="1200" dirty="0" smtClean="0"/>
              <a:t>Prepayment</a:t>
            </a:r>
          </a:p>
          <a:p>
            <a:pPr algn="r"/>
            <a:r>
              <a:rPr lang="en-US" sz="1200" dirty="0" smtClean="0"/>
              <a:t>Impact</a:t>
            </a:r>
            <a:endParaRPr lang="en-US" sz="1200" dirty="0"/>
          </a:p>
        </p:txBody>
      </p:sp>
      <p:cxnSp>
        <p:nvCxnSpPr>
          <p:cNvPr id="60" name="Straight Connector 59"/>
          <p:cNvCxnSpPr/>
          <p:nvPr/>
        </p:nvCxnSpPr>
        <p:spPr>
          <a:xfrm>
            <a:off x="3158571" y="3929734"/>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7318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743200" y="1447800"/>
            <a:ext cx="6591300" cy="13716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p:txBody>
          <a:bodyPr/>
          <a:lstStyle/>
          <a:p>
            <a:r>
              <a:rPr lang="en-US" dirty="0" smtClean="0"/>
              <a:t>CRE </a:t>
            </a:r>
            <a:r>
              <a:rPr lang="en-US" dirty="0"/>
              <a:t>Modeling</a:t>
            </a:r>
            <a:br>
              <a:rPr lang="en-US" dirty="0"/>
            </a:br>
            <a:r>
              <a:rPr lang="en-US" dirty="0" smtClean="0"/>
              <a:t>FORECASTING Loan </a:t>
            </a:r>
            <a:r>
              <a:rPr lang="en-US" dirty="0" err="1" smtClean="0"/>
              <a:t>outcomeS</a:t>
            </a:r>
            <a:r>
              <a:rPr lang="en-US" dirty="0"/>
              <a:t/>
            </a:r>
            <a:br>
              <a:rPr lang="en-US" dirty="0"/>
            </a:br>
            <a:endParaRPr lang="en-US" dirty="0"/>
          </a:p>
        </p:txBody>
      </p:sp>
      <p:sp>
        <p:nvSpPr>
          <p:cNvPr id="118" name="Content Placeholder 12"/>
          <p:cNvSpPr>
            <a:spLocks noGrp="1"/>
          </p:cNvSpPr>
          <p:nvPr>
            <p:ph idx="1"/>
          </p:nvPr>
        </p:nvSpPr>
        <p:spPr>
          <a:xfrm>
            <a:off x="293687" y="1235075"/>
            <a:ext cx="1839913" cy="5150336"/>
          </a:xfrm>
        </p:spPr>
        <p:txBody>
          <a:bodyPr/>
          <a:lstStyle/>
          <a:p>
            <a:pPr>
              <a:lnSpc>
                <a:spcPct val="100000"/>
              </a:lnSpc>
              <a:spcBef>
                <a:spcPts val="0"/>
              </a:spcBef>
            </a:pPr>
            <a:r>
              <a:rPr lang="en-US" sz="1100" b="0" dirty="0" smtClean="0">
                <a:solidFill>
                  <a:schemeClr val="tx1"/>
                </a:solidFill>
              </a:rPr>
              <a:t>Outcomes for CRE loans are triggered by the financial condition of the collateral.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two standard triggers that play a significant role in determining loan outcomes are:</a:t>
            </a:r>
          </a:p>
          <a:p>
            <a:pPr>
              <a:lnSpc>
                <a:spcPct val="100000"/>
              </a:lnSpc>
              <a:spcBef>
                <a:spcPts val="0"/>
              </a:spcBef>
            </a:pPr>
            <a:endParaRPr lang="en-US" sz="1100" b="0" dirty="0">
              <a:solidFill>
                <a:schemeClr val="tx1"/>
              </a:solidFill>
            </a:endParaRPr>
          </a:p>
          <a:p>
            <a:pPr marL="228600" indent="-228600">
              <a:lnSpc>
                <a:spcPct val="100000"/>
              </a:lnSpc>
              <a:spcBef>
                <a:spcPts val="0"/>
              </a:spcBef>
              <a:buAutoNum type="arabicParenBoth"/>
            </a:pPr>
            <a:r>
              <a:rPr lang="en-US" sz="1100" b="0" dirty="0" smtClean="0">
                <a:solidFill>
                  <a:schemeClr val="tx1"/>
                </a:solidFill>
              </a:rPr>
              <a:t>Whether the DSCR &lt; 1.0 </a:t>
            </a:r>
          </a:p>
          <a:p>
            <a:pPr marL="228600" indent="-228600">
              <a:lnSpc>
                <a:spcPct val="100000"/>
              </a:lnSpc>
              <a:spcBef>
                <a:spcPts val="0"/>
              </a:spcBef>
              <a:buAutoNum type="arabicParenBoth"/>
            </a:pPr>
            <a:r>
              <a:rPr lang="en-US" sz="1100" b="0" dirty="0" smtClean="0">
                <a:solidFill>
                  <a:schemeClr val="tx1"/>
                </a:solidFill>
              </a:rPr>
              <a:t>Whether the LTV &gt; 100%</a:t>
            </a: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A credit or default event for a CRE loan is </a:t>
            </a:r>
            <a:r>
              <a:rPr lang="en-US" sz="1100" dirty="0" smtClean="0">
                <a:solidFill>
                  <a:schemeClr val="tx1"/>
                </a:solidFill>
              </a:rPr>
              <a:t>doubly triggered </a:t>
            </a:r>
            <a:r>
              <a:rPr lang="en-US" sz="1100" b="0" dirty="0" smtClean="0">
                <a:solidFill>
                  <a:schemeClr val="tx1"/>
                </a:solidFill>
              </a:rPr>
              <a:t>by: (1) The NOI falling below the total debt service and (2) The property market value falling below the total outstanding loan balance.</a:t>
            </a:r>
          </a:p>
          <a:p>
            <a:pPr>
              <a:lnSpc>
                <a:spcPct val="100000"/>
              </a:lnSpc>
              <a:spcBef>
                <a:spcPts val="0"/>
              </a:spcBef>
            </a:pPr>
            <a:endParaRPr lang="en-US" sz="1100" b="0" dirty="0">
              <a:solidFill>
                <a:schemeClr val="tx1"/>
              </a:solidFill>
            </a:endParaRPr>
          </a:p>
        </p:txBody>
      </p:sp>
      <p:sp>
        <p:nvSpPr>
          <p:cNvPr id="119" name="Rectangle 118"/>
          <p:cNvSpPr/>
          <p:nvPr/>
        </p:nvSpPr>
        <p:spPr>
          <a:xfrm>
            <a:off x="4648200" y="3352800"/>
            <a:ext cx="22860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DSCR &lt; DSCR Default Trigger?</a:t>
            </a:r>
            <a:endParaRPr lang="en-US" sz="1000" dirty="0">
              <a:solidFill>
                <a:schemeClr val="tx1"/>
              </a:solidFill>
            </a:endParaRPr>
          </a:p>
        </p:txBody>
      </p:sp>
      <p:sp>
        <p:nvSpPr>
          <p:cNvPr id="120" name="Rectangle 119"/>
          <p:cNvSpPr/>
          <p:nvPr/>
        </p:nvSpPr>
        <p:spPr>
          <a:xfrm>
            <a:off x="3352800" y="41910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at maturity?</a:t>
            </a:r>
            <a:endParaRPr lang="en-US" sz="1000" dirty="0">
              <a:solidFill>
                <a:schemeClr val="tx1"/>
              </a:solidFill>
            </a:endParaRPr>
          </a:p>
        </p:txBody>
      </p:sp>
      <p:sp>
        <p:nvSpPr>
          <p:cNvPr id="121" name="Rectangle 120"/>
          <p:cNvSpPr/>
          <p:nvPr/>
        </p:nvSpPr>
        <p:spPr>
          <a:xfrm>
            <a:off x="3352800" y="49149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pay-off LTV requirement?</a:t>
            </a:r>
          </a:p>
        </p:txBody>
      </p:sp>
      <p:sp>
        <p:nvSpPr>
          <p:cNvPr id="122" name="Rectangle 121"/>
          <p:cNvSpPr/>
          <p:nvPr/>
        </p:nvSpPr>
        <p:spPr>
          <a:xfrm>
            <a:off x="3352800" y="56388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extension LTV limit?</a:t>
            </a:r>
            <a:endParaRPr lang="en-US" sz="1000" dirty="0">
              <a:solidFill>
                <a:schemeClr val="tx1"/>
              </a:solidFill>
            </a:endParaRPr>
          </a:p>
        </p:txBody>
      </p:sp>
      <p:sp>
        <p:nvSpPr>
          <p:cNvPr id="123" name="Rectangle 122"/>
          <p:cNvSpPr/>
          <p:nvPr/>
        </p:nvSpPr>
        <p:spPr>
          <a:xfrm>
            <a:off x="6858000" y="5256322"/>
            <a:ext cx="1066800" cy="805914"/>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At extension maturity is </a:t>
            </a:r>
          </a:p>
          <a:p>
            <a:pPr algn="ctr"/>
            <a:r>
              <a:rPr lang="en-US" sz="1000" dirty="0" smtClean="0">
                <a:solidFill>
                  <a:schemeClr val="tx1"/>
                </a:solidFill>
              </a:rPr>
              <a:t>LTV &lt; Refinance Threshold?</a:t>
            </a:r>
            <a:endParaRPr lang="en-US" sz="1000" dirty="0">
              <a:solidFill>
                <a:schemeClr val="tx1"/>
              </a:solidFill>
            </a:endParaRPr>
          </a:p>
        </p:txBody>
      </p:sp>
      <p:cxnSp>
        <p:nvCxnSpPr>
          <p:cNvPr id="124" name="Elbow Connector 123"/>
          <p:cNvCxnSpPr>
            <a:stCxn id="119" idx="2"/>
            <a:endCxn id="120" idx="0"/>
          </p:cNvCxnSpPr>
          <p:nvPr/>
        </p:nvCxnSpPr>
        <p:spPr>
          <a:xfrm rot="5400000">
            <a:off x="4762500" y="3162300"/>
            <a:ext cx="457200" cy="1600200"/>
          </a:xfrm>
          <a:prstGeom prst="bentConnector3">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a:stCxn id="120" idx="2"/>
            <a:endCxn id="121" idx="0"/>
          </p:cNvCxnSpPr>
          <p:nvPr/>
        </p:nvCxnSpPr>
        <p:spPr>
          <a:xfrm>
            <a:off x="4191000" y="45720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121" idx="2"/>
            <a:endCxn id="122" idx="0"/>
          </p:cNvCxnSpPr>
          <p:nvPr/>
        </p:nvCxnSpPr>
        <p:spPr>
          <a:xfrm>
            <a:off x="4191000" y="52959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Elbow Connector 126"/>
          <p:cNvCxnSpPr>
            <a:stCxn id="120" idx="3"/>
            <a:endCxn id="119" idx="3"/>
          </p:cNvCxnSpPr>
          <p:nvPr/>
        </p:nvCxnSpPr>
        <p:spPr>
          <a:xfrm flipV="1">
            <a:off x="5029200" y="3543300"/>
            <a:ext cx="1905000" cy="838200"/>
          </a:xfrm>
          <a:prstGeom prst="bentConnector3">
            <a:avLst>
              <a:gd name="adj1" fmla="val 112000"/>
            </a:avLst>
          </a:prstGeom>
          <a:ln w="12700">
            <a:solidFill>
              <a:schemeClr val="accent2">
                <a:lumMod val="50000"/>
              </a:schemeClr>
            </a:solidFill>
            <a:prstDash val="lg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5562600" y="4915333"/>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29" name="Oval 128"/>
          <p:cNvSpPr/>
          <p:nvPr/>
        </p:nvSpPr>
        <p:spPr>
          <a:xfrm>
            <a:off x="5562600" y="5638800"/>
            <a:ext cx="100584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Maturity</a:t>
            </a:r>
          </a:p>
          <a:p>
            <a:pPr algn="ctr"/>
            <a:r>
              <a:rPr lang="en-US" sz="1000" dirty="0" smtClean="0">
                <a:solidFill>
                  <a:schemeClr val="tx1"/>
                </a:solidFill>
              </a:rPr>
              <a:t>Extension</a:t>
            </a:r>
            <a:endParaRPr lang="en-US" sz="1000" dirty="0">
              <a:solidFill>
                <a:schemeClr val="tx1"/>
              </a:solidFill>
            </a:endParaRPr>
          </a:p>
        </p:txBody>
      </p:sp>
      <p:sp>
        <p:nvSpPr>
          <p:cNvPr id="130" name="Oval 129"/>
          <p:cNvSpPr/>
          <p:nvPr/>
        </p:nvSpPr>
        <p:spPr>
          <a:xfrm>
            <a:off x="8382000" y="5638800"/>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31" name="Oval 130"/>
          <p:cNvSpPr/>
          <p:nvPr/>
        </p:nvSpPr>
        <p:spPr>
          <a:xfrm>
            <a:off x="24384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Term Default</a:t>
            </a:r>
            <a:endParaRPr lang="en-US" sz="1000" dirty="0">
              <a:solidFill>
                <a:srgbClr val="000000"/>
              </a:solidFill>
            </a:endParaRPr>
          </a:p>
        </p:txBody>
      </p:sp>
      <p:sp>
        <p:nvSpPr>
          <p:cNvPr id="132" name="Oval 131"/>
          <p:cNvSpPr/>
          <p:nvPr/>
        </p:nvSpPr>
        <p:spPr>
          <a:xfrm>
            <a:off x="37338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sp>
        <p:nvSpPr>
          <p:cNvPr id="133" name="Oval 132"/>
          <p:cNvSpPr/>
          <p:nvPr/>
        </p:nvSpPr>
        <p:spPr>
          <a:xfrm>
            <a:off x="69342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cxnSp>
        <p:nvCxnSpPr>
          <p:cNvPr id="134" name="Straight Arrow Connector 133"/>
          <p:cNvCxnSpPr>
            <a:stCxn id="121" idx="3"/>
            <a:endCxn id="128" idx="2"/>
          </p:cNvCxnSpPr>
          <p:nvPr/>
        </p:nvCxnSpPr>
        <p:spPr>
          <a:xfrm>
            <a:off x="5029200" y="5105400"/>
            <a:ext cx="533400" cy="433"/>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22" idx="3"/>
            <a:endCxn id="129" idx="2"/>
          </p:cNvCxnSpPr>
          <p:nvPr/>
        </p:nvCxnSpPr>
        <p:spPr>
          <a:xfrm>
            <a:off x="5029200" y="5829300"/>
            <a:ext cx="53340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6" name="Elbow Connector 135"/>
          <p:cNvCxnSpPr>
            <a:stCxn id="119" idx="1"/>
            <a:endCxn id="131" idx="0"/>
          </p:cNvCxnSpPr>
          <p:nvPr/>
        </p:nvCxnSpPr>
        <p:spPr>
          <a:xfrm rot="10800000" flipV="1">
            <a:off x="2895600" y="3543300"/>
            <a:ext cx="1752600" cy="2971800"/>
          </a:xfrm>
          <a:prstGeom prst="bentConnector2">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22" idx="2"/>
            <a:endCxn id="132" idx="0"/>
          </p:cNvCxnSpPr>
          <p:nvPr/>
        </p:nvCxnSpPr>
        <p:spPr>
          <a:xfrm>
            <a:off x="4191000" y="6019800"/>
            <a:ext cx="0" cy="49530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123" idx="2"/>
            <a:endCxn id="133" idx="0"/>
          </p:cNvCxnSpPr>
          <p:nvPr/>
        </p:nvCxnSpPr>
        <p:spPr>
          <a:xfrm>
            <a:off x="7391400" y="6062236"/>
            <a:ext cx="0" cy="452864"/>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9" name="Straight Arrow Connector 138"/>
          <p:cNvCxnSpPr>
            <a:endCxn id="130" idx="2"/>
          </p:cNvCxnSpPr>
          <p:nvPr/>
        </p:nvCxnSpPr>
        <p:spPr>
          <a:xfrm>
            <a:off x="7924800" y="5829300"/>
            <a:ext cx="457200" cy="0"/>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p:cNvCxnSpPr/>
          <p:nvPr/>
        </p:nvCxnSpPr>
        <p:spPr>
          <a:xfrm>
            <a:off x="6568440" y="5829300"/>
            <a:ext cx="28956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Content Placeholder 8"/>
          <p:cNvSpPr txBox="1">
            <a:spLocks/>
          </p:cNvSpPr>
          <p:nvPr/>
        </p:nvSpPr>
        <p:spPr>
          <a:xfrm>
            <a:off x="4876800" y="12192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Potential Loan Outcomes</a:t>
            </a:r>
            <a:endParaRPr lang="en-US" sz="1200" dirty="0"/>
          </a:p>
        </p:txBody>
      </p:sp>
      <p:sp>
        <p:nvSpPr>
          <p:cNvPr id="144" name="TextBox 143"/>
          <p:cNvSpPr txBox="1"/>
          <p:nvPr/>
        </p:nvSpPr>
        <p:spPr>
          <a:xfrm>
            <a:off x="4495800" y="3733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5" name="TextBox 144"/>
          <p:cNvSpPr txBox="1"/>
          <p:nvPr/>
        </p:nvSpPr>
        <p:spPr>
          <a:xfrm>
            <a:off x="5485924" y="4114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6" name="TextBox 145"/>
          <p:cNvSpPr txBox="1"/>
          <p:nvPr/>
        </p:nvSpPr>
        <p:spPr>
          <a:xfrm>
            <a:off x="3733324" y="4630579"/>
            <a:ext cx="610076" cy="230832"/>
          </a:xfrm>
          <a:prstGeom prst="rect">
            <a:avLst/>
          </a:prstGeom>
          <a:noFill/>
          <a:ln w="12700">
            <a:noFill/>
          </a:ln>
          <a:effectLst/>
        </p:spPr>
        <p:txBody>
          <a:bodyPr wrap="square" rtlCol="0">
            <a:spAutoFit/>
          </a:bodyPr>
          <a:lstStyle/>
          <a:p>
            <a:pPr algn="ctr"/>
            <a:r>
              <a:rPr lang="en-US" sz="900" dirty="0" smtClean="0"/>
              <a:t>Yes</a:t>
            </a:r>
            <a:endParaRPr lang="en-US" sz="900" dirty="0"/>
          </a:p>
        </p:txBody>
      </p:sp>
      <p:sp>
        <p:nvSpPr>
          <p:cNvPr id="147" name="TextBox 146"/>
          <p:cNvSpPr txBox="1"/>
          <p:nvPr/>
        </p:nvSpPr>
        <p:spPr>
          <a:xfrm>
            <a:off x="3733324" y="53340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8" name="TextBox 147"/>
          <p:cNvSpPr txBox="1"/>
          <p:nvPr/>
        </p:nvSpPr>
        <p:spPr>
          <a:xfrm>
            <a:off x="5029200" y="4876800"/>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49" name="TextBox 148"/>
          <p:cNvSpPr txBox="1"/>
          <p:nvPr/>
        </p:nvSpPr>
        <p:spPr>
          <a:xfrm>
            <a:off x="5029200" y="55626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0" name="TextBox 149"/>
          <p:cNvSpPr txBox="1"/>
          <p:nvPr/>
        </p:nvSpPr>
        <p:spPr>
          <a:xfrm>
            <a:off x="7820501" y="5598468"/>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51" name="TextBox 150"/>
          <p:cNvSpPr txBox="1"/>
          <p:nvPr/>
        </p:nvSpPr>
        <p:spPr>
          <a:xfrm>
            <a:off x="7239000" y="6154579"/>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2" name="TextBox 151"/>
          <p:cNvSpPr txBox="1"/>
          <p:nvPr/>
        </p:nvSpPr>
        <p:spPr>
          <a:xfrm>
            <a:off x="3733324" y="60198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3" name="TextBox 152"/>
          <p:cNvSpPr txBox="1"/>
          <p:nvPr/>
        </p:nvSpPr>
        <p:spPr>
          <a:xfrm>
            <a:off x="3276600" y="3315345"/>
            <a:ext cx="610076" cy="230832"/>
          </a:xfrm>
          <a:prstGeom prst="rect">
            <a:avLst/>
          </a:prstGeom>
          <a:noFill/>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4" name="Rectangle 153"/>
          <p:cNvSpPr/>
          <p:nvPr/>
        </p:nvSpPr>
        <p:spPr>
          <a:xfrm>
            <a:off x="2362200" y="6421754"/>
            <a:ext cx="5562600" cy="579120"/>
          </a:xfrm>
          <a:prstGeom prst="rect">
            <a:avLst/>
          </a:prstGeom>
          <a:noFill/>
          <a:ln>
            <a:solidFill>
              <a:srgbClr val="C6642E"/>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Rectangle 155"/>
          <p:cNvSpPr/>
          <p:nvPr/>
        </p:nvSpPr>
        <p:spPr>
          <a:xfrm>
            <a:off x="8610600" y="6421754"/>
            <a:ext cx="990600" cy="579120"/>
          </a:xfrm>
          <a:prstGeom prst="rect">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Loan Workout Period and Loss Calculation </a:t>
            </a:r>
            <a:endParaRPr lang="en-US" sz="1000" dirty="0"/>
          </a:p>
        </p:txBody>
      </p:sp>
      <p:graphicFrame>
        <p:nvGraphicFramePr>
          <p:cNvPr id="157" name="Table 156"/>
          <p:cNvGraphicFramePr>
            <a:graphicFrameLocks noGrp="1"/>
          </p:cNvGraphicFramePr>
          <p:nvPr>
            <p:extLst>
              <p:ext uri="{D42A27DB-BD31-4B8C-83A1-F6EECF244321}">
                <p14:modId xmlns:p14="http://schemas.microsoft.com/office/powerpoint/2010/main" val="771973588"/>
              </p:ext>
            </p:extLst>
          </p:nvPr>
        </p:nvGraphicFramePr>
        <p:xfrm>
          <a:off x="3200400" y="1524000"/>
          <a:ext cx="6019800" cy="1219200"/>
        </p:xfrm>
        <a:graphic>
          <a:graphicData uri="http://schemas.openxmlformats.org/drawingml/2006/table">
            <a:tbl>
              <a:tblPr>
                <a:tableStyleId>{5C22544A-7EE6-4342-B048-85BDC9FD1C3A}</a:tableStyleId>
              </a:tblPr>
              <a:tblGrid>
                <a:gridCol w="2006600"/>
                <a:gridCol w="1803400"/>
                <a:gridCol w="2209800"/>
              </a:tblGrid>
              <a:tr h="182880">
                <a:tc>
                  <a:txBody>
                    <a:bodyPr/>
                    <a:lstStyle/>
                    <a:p>
                      <a:r>
                        <a:rPr lang="en-US" sz="1000" dirty="0" smtClean="0"/>
                        <a:t>During initial term or extension</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Term 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000" dirty="0" smtClean="0"/>
                        <a:t>DSCR &lt; DSCR</a:t>
                      </a:r>
                      <a:r>
                        <a:rPr lang="en-US" sz="1000" baseline="0" dirty="0" smtClean="0"/>
                        <a:t> Default Trigger</a:t>
                      </a:r>
                      <a:endParaRPr lang="en-US" sz="1000" dirty="0" smtClean="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rowSpan="3">
                  <a:txBody>
                    <a:bodyPr/>
                    <a:lstStyle/>
                    <a:p>
                      <a:r>
                        <a:rPr lang="en-US" sz="1000" dirty="0" smtClean="0"/>
                        <a:t>At</a:t>
                      </a:r>
                      <a:r>
                        <a:rPr lang="en-US" sz="1000" baseline="0" dirty="0" smtClean="0"/>
                        <a:t> original maturity</a:t>
                      </a:r>
                      <a:endParaRPr lang="en-US"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Pay off</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&lt; pay off LTV</a:t>
                      </a:r>
                      <a:r>
                        <a:rPr lang="en-US" sz="1000" baseline="0" dirty="0" smtClean="0"/>
                        <a:t> requirement</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182880">
                <a:tc vMerge="1">
                  <a:txBody>
                    <a:bodyPr/>
                    <a:lstStyle/>
                    <a:p>
                      <a:endParaRPr lang="en-US" sz="1000"/>
                    </a:p>
                  </a:txBody>
                  <a:tcPr/>
                </a:tc>
                <a:tc>
                  <a:txBody>
                    <a:bodyPr/>
                    <a:lstStyle/>
                    <a:p>
                      <a:r>
                        <a:rPr lang="en-US" sz="1000" b="1" dirty="0" smtClean="0"/>
                        <a:t>Extension</a:t>
                      </a:r>
                      <a:endParaRPr lang="en-US" sz="1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00" dirty="0" smtClean="0"/>
                        <a:t>LTV between extension LTV bounds</a:t>
                      </a:r>
                      <a:endParaRPr lang="en-US"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82880">
                <a:tc vMerge="1">
                  <a:txBody>
                    <a:bodyPr/>
                    <a:lstStyle/>
                    <a:p>
                      <a:endParaRPr lang="en-US" sz="1000" dirty="0"/>
                    </a:p>
                  </a:txBody>
                  <a:tcPr/>
                </a:tc>
                <a:tc>
                  <a:txBody>
                    <a:bodyPr/>
                    <a:lstStyle/>
                    <a:p>
                      <a:r>
                        <a:rPr lang="en-US" sz="1000" b="1" dirty="0" smtClean="0"/>
                        <a:t>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smtClean="0"/>
                        <a:t>LTV &gt; extension LTV limit</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a:txBody>
                    <a:bodyPr/>
                    <a:lstStyle/>
                    <a:p>
                      <a:r>
                        <a:rPr lang="en-US" sz="1000" dirty="0" smtClean="0"/>
                        <a:t>At extension maturity</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b="1" dirty="0" smtClean="0"/>
                        <a:t>Default</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&gt;</a:t>
                      </a:r>
                      <a:r>
                        <a:rPr lang="en-US" sz="1000" baseline="0" dirty="0" smtClean="0"/>
                        <a:t> Refinance Threshold</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cxnSp>
        <p:nvCxnSpPr>
          <p:cNvPr id="158" name="Straight Connector 157"/>
          <p:cNvCxnSpPr/>
          <p:nvPr/>
        </p:nvCxnSpPr>
        <p:spPr>
          <a:xfrm>
            <a:off x="2743200" y="31051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59" name="Content Placeholder 8"/>
          <p:cNvSpPr txBox="1">
            <a:spLocks/>
          </p:cNvSpPr>
          <p:nvPr/>
        </p:nvSpPr>
        <p:spPr>
          <a:xfrm>
            <a:off x="4572000" y="30099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Default, Extension and Payoff Logic Tree</a:t>
            </a:r>
            <a:endParaRPr lang="en-US" sz="1200" dirty="0"/>
          </a:p>
        </p:txBody>
      </p:sp>
      <p:sp>
        <p:nvSpPr>
          <p:cNvPr id="14" name="Isosceles Triangle 13"/>
          <p:cNvSpPr/>
          <p:nvPr/>
        </p:nvSpPr>
        <p:spPr>
          <a:xfrm rot="5400000">
            <a:off x="7978140" y="6444614"/>
            <a:ext cx="579120" cy="533400"/>
          </a:xfrm>
          <a:prstGeom prst="triangle">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p:cNvCxnSpPr/>
          <p:nvPr/>
        </p:nvCxnSpPr>
        <p:spPr>
          <a:xfrm>
            <a:off x="3124200" y="1752600"/>
            <a:ext cx="563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3124200" y="2499102"/>
            <a:ext cx="56388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924800" y="6457890"/>
            <a:ext cx="685800" cy="400110"/>
          </a:xfrm>
          <a:prstGeom prst="rect">
            <a:avLst/>
          </a:prstGeom>
          <a:noFill/>
          <a:ln w="12700">
            <a:noFill/>
          </a:ln>
        </p:spPr>
        <p:txBody>
          <a:bodyPr wrap="square" rtlCol="0">
            <a:spAutoFit/>
          </a:bodyPr>
          <a:lstStyle/>
          <a:p>
            <a:r>
              <a:rPr lang="en-US" sz="1000" dirty="0" smtClean="0">
                <a:solidFill>
                  <a:schemeClr val="bg1"/>
                </a:solidFill>
              </a:rPr>
              <a:t>All </a:t>
            </a:r>
          </a:p>
          <a:p>
            <a:r>
              <a:rPr lang="en-US" sz="1000" dirty="0" smtClean="0">
                <a:solidFill>
                  <a:schemeClr val="bg1"/>
                </a:solidFill>
              </a:rPr>
              <a:t>Defaults</a:t>
            </a:r>
            <a:endParaRPr lang="en-US" sz="1000" dirty="0">
              <a:solidFill>
                <a:schemeClr val="bg1"/>
              </a:solidFill>
            </a:endParaRPr>
          </a:p>
        </p:txBody>
      </p:sp>
      <p:sp>
        <p:nvSpPr>
          <p:cNvPr id="43" name="TextBox 42"/>
          <p:cNvSpPr txBox="1"/>
          <p:nvPr/>
        </p:nvSpPr>
        <p:spPr>
          <a:xfrm>
            <a:off x="7239000" y="3657600"/>
            <a:ext cx="1371600" cy="400110"/>
          </a:xfrm>
          <a:prstGeom prst="rect">
            <a:avLst/>
          </a:prstGeom>
          <a:noFill/>
          <a:ln w="12700">
            <a:noFill/>
          </a:ln>
        </p:spPr>
        <p:txBody>
          <a:bodyPr wrap="square" rtlCol="0">
            <a:spAutoFit/>
          </a:bodyPr>
          <a:lstStyle/>
          <a:p>
            <a:r>
              <a:rPr lang="en-US" sz="1000" dirty="0" smtClean="0"/>
              <a:t>Loan is current, repeat process next month</a:t>
            </a:r>
            <a:endParaRPr lang="en-US" sz="1000" dirty="0"/>
          </a:p>
        </p:txBody>
      </p:sp>
      <p:sp>
        <p:nvSpPr>
          <p:cNvPr id="49" name="Rectangle 48"/>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33591460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LARGE LOAN ANALYSIS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a:solidFill>
                  <a:srgbClr val="FFFFFF"/>
                </a:solidFill>
                <a:latin typeface="Calibri" pitchFamily="34" charset="0"/>
              </a:rPr>
              <a:t>EXAMPLE </a:t>
            </a:r>
            <a:r>
              <a:rPr lang="en-US" sz="1300" b="1" dirty="0" smtClean="0">
                <a:solidFill>
                  <a:srgbClr val="FFFFFF"/>
                </a:solidFill>
                <a:latin typeface="Calibri" pitchFamily="34" charset="0"/>
              </a:rPr>
              <a:t>BOND WITH CELLO CREDIT MODEL SCENARIO ANALYSIS</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graphicFrame>
        <p:nvGraphicFramePr>
          <p:cNvPr id="9" name="Chart 8"/>
          <p:cNvGraphicFramePr>
            <a:graphicFrameLocks/>
          </p:cNvGraphicFramePr>
          <p:nvPr>
            <p:extLst>
              <p:ext uri="{D42A27DB-BD31-4B8C-83A1-F6EECF244321}">
                <p14:modId xmlns:p14="http://schemas.microsoft.com/office/powerpoint/2010/main" val="2350193307"/>
              </p:ext>
            </p:extLst>
          </p:nvPr>
        </p:nvGraphicFramePr>
        <p:xfrm>
          <a:off x="7348398" y="4954771"/>
          <a:ext cx="2450426" cy="2245023"/>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9"/>
          <p:cNvSpPr>
            <a:spLocks noChangeArrowheads="1"/>
          </p:cNvSpPr>
          <p:nvPr/>
        </p:nvSpPr>
        <p:spPr bwMode="auto">
          <a:xfrm>
            <a:off x="197200" y="1125896"/>
            <a:ext cx="2084832" cy="5504331"/>
          </a:xfrm>
          <a:prstGeom prst="rect">
            <a:avLst/>
          </a:prstGeom>
          <a:noFill/>
          <a:ln w="9525">
            <a:noFill/>
            <a:miter lim="800000"/>
            <a:headEnd/>
            <a:tailEnd/>
          </a:ln>
          <a:effectLst/>
        </p:spPr>
        <p:txBody>
          <a:bodyPr wrap="square" lIns="101858" tIns="50929" rIns="101858" bIns="50929">
            <a:spAutoFit/>
          </a:bodyPr>
          <a:lstStyle/>
          <a:p>
            <a:endParaRPr lang="en-US" sz="1300" dirty="0">
              <a:solidFill>
                <a:srgbClr val="000000"/>
              </a:solidFill>
              <a:latin typeface="+mn-lt"/>
            </a:endParaRPr>
          </a:p>
          <a:p>
            <a:r>
              <a:rPr lang="en-US" sz="1300" b="1" dirty="0">
                <a:solidFill>
                  <a:srgbClr val="000000"/>
                </a:solidFill>
                <a:latin typeface="+mn-lt"/>
              </a:rPr>
              <a:t>Largest Loan </a:t>
            </a:r>
            <a:r>
              <a:rPr lang="en-US" sz="1300" b="1" dirty="0" smtClean="0">
                <a:solidFill>
                  <a:srgbClr val="000000"/>
                </a:solidFill>
                <a:latin typeface="+mn-lt"/>
              </a:rPr>
              <a:t>Analysis</a:t>
            </a:r>
            <a:endParaRPr lang="en-US" sz="1300" b="1" dirty="0">
              <a:solidFill>
                <a:srgbClr val="000000"/>
              </a:solidFill>
              <a:latin typeface="+mn-lt"/>
            </a:endParaRPr>
          </a:p>
          <a:p>
            <a:endParaRPr lang="en-US" sz="1300" dirty="0">
              <a:solidFill>
                <a:srgbClr val="000000"/>
              </a:solidFill>
              <a:latin typeface="+mn-lt"/>
            </a:endParaRPr>
          </a:p>
          <a:p>
            <a:r>
              <a:rPr lang="en-US" sz="1300" dirty="0" smtClean="0">
                <a:solidFill>
                  <a:srgbClr val="000000"/>
                </a:solidFill>
                <a:latin typeface="+mn-lt"/>
              </a:rPr>
              <a:t>The loan </a:t>
            </a:r>
            <a:r>
              <a:rPr lang="en-US" sz="1300" dirty="0">
                <a:solidFill>
                  <a:srgbClr val="000000"/>
                </a:solidFill>
                <a:latin typeface="+mn-lt"/>
              </a:rPr>
              <a:t>is currently 18% of the </a:t>
            </a:r>
            <a:r>
              <a:rPr lang="en-US" sz="1300" dirty="0" smtClean="0">
                <a:solidFill>
                  <a:srgbClr val="000000"/>
                </a:solidFill>
                <a:latin typeface="+mn-lt"/>
              </a:rPr>
              <a:t>trust. </a:t>
            </a:r>
          </a:p>
          <a:p>
            <a:endParaRPr lang="en-US" sz="1300" dirty="0" smtClean="0">
              <a:solidFill>
                <a:srgbClr val="000000"/>
              </a:solidFill>
              <a:latin typeface="+mn-lt"/>
            </a:endParaRPr>
          </a:p>
          <a:p>
            <a:r>
              <a:rPr lang="en-US" sz="1300" dirty="0" smtClean="0">
                <a:solidFill>
                  <a:srgbClr val="000000"/>
                </a:solidFill>
                <a:latin typeface="+mn-lt"/>
              </a:rPr>
              <a:t>Collateral </a:t>
            </a:r>
            <a:r>
              <a:rPr lang="en-US" sz="1300" dirty="0">
                <a:solidFill>
                  <a:srgbClr val="000000"/>
                </a:solidFill>
                <a:latin typeface="+mn-lt"/>
              </a:rPr>
              <a:t>consists of 8 individual office buildings (2.6 million square feet) with an aggregate occupancy of 53% as of March 31, </a:t>
            </a:r>
            <a:r>
              <a:rPr lang="en-US" sz="1300" dirty="0" smtClean="0">
                <a:solidFill>
                  <a:srgbClr val="000000"/>
                </a:solidFill>
                <a:latin typeface="+mn-lt"/>
              </a:rPr>
              <a:t>2015 which form </a:t>
            </a:r>
            <a:r>
              <a:rPr lang="en-US" sz="1300" dirty="0">
                <a:solidFill>
                  <a:srgbClr val="000000"/>
                </a:solidFill>
                <a:latin typeface="+mn-lt"/>
              </a:rPr>
              <a:t>p</a:t>
            </a:r>
            <a:r>
              <a:rPr lang="en-US" sz="1300" dirty="0" smtClean="0">
                <a:solidFill>
                  <a:srgbClr val="000000"/>
                </a:solidFill>
                <a:latin typeface="+mn-lt"/>
              </a:rPr>
              <a:t>art </a:t>
            </a:r>
            <a:r>
              <a:rPr lang="en-US" sz="1300" dirty="0">
                <a:solidFill>
                  <a:srgbClr val="000000"/>
                </a:solidFill>
                <a:latin typeface="+mn-lt"/>
              </a:rPr>
              <a:t>of a 100 acre, master planned, mixed use corporate park located in Metro Washington </a:t>
            </a:r>
            <a:r>
              <a:rPr lang="en-US" sz="1300" dirty="0" smtClean="0">
                <a:solidFill>
                  <a:srgbClr val="000000"/>
                </a:solidFill>
                <a:latin typeface="+mn-lt"/>
              </a:rPr>
              <a:t>D.C. </a:t>
            </a:r>
          </a:p>
          <a:p>
            <a:endParaRPr lang="en-US" sz="1300" dirty="0" smtClean="0">
              <a:solidFill>
                <a:srgbClr val="000000"/>
              </a:solidFill>
              <a:latin typeface="+mn-lt"/>
            </a:endParaRPr>
          </a:p>
          <a:p>
            <a:r>
              <a:rPr lang="en-US" sz="1300" dirty="0" smtClean="0">
                <a:solidFill>
                  <a:srgbClr val="000000"/>
                </a:solidFill>
                <a:latin typeface="+mn-lt"/>
              </a:rPr>
              <a:t>Loan was modified in 2013 with an A/B Structure under which the Sponsor is contributing equity.</a:t>
            </a:r>
          </a:p>
          <a:p>
            <a:endParaRPr lang="en-US" sz="1300" dirty="0" smtClean="0">
              <a:solidFill>
                <a:srgbClr val="000000"/>
              </a:solidFill>
              <a:latin typeface="+mn-lt"/>
            </a:endParaRPr>
          </a:p>
          <a:p>
            <a:r>
              <a:rPr lang="en-US" sz="1300" dirty="0" smtClean="0">
                <a:solidFill>
                  <a:srgbClr val="000000"/>
                </a:solidFill>
                <a:latin typeface="+mn-lt"/>
              </a:rPr>
              <a:t>Cello sees potential B Note returns creating upside on the example bond.</a:t>
            </a:r>
          </a:p>
          <a:p>
            <a:pPr marL="285750" indent="-285750">
              <a:buFont typeface="Arial" panose="020B0604020202020204" pitchFamily="34" charset="0"/>
              <a:buChar char="•"/>
            </a:pPr>
            <a:endParaRPr lang="en-US" sz="1300" dirty="0">
              <a:solidFill>
                <a:srgbClr val="000000"/>
              </a:solidFill>
              <a:latin typeface="+mn-lt"/>
            </a:endParaRPr>
          </a:p>
          <a:p>
            <a:endParaRPr lang="en-US" sz="1300" dirty="0">
              <a:solidFill>
                <a:srgbClr val="000000"/>
              </a:solidFill>
              <a:latin typeface="+mn-lt"/>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4290466949"/>
              </p:ext>
            </p:extLst>
          </p:nvPr>
        </p:nvGraphicFramePr>
        <p:xfrm>
          <a:off x="3025627" y="2146286"/>
          <a:ext cx="6370339" cy="2863161"/>
        </p:xfrm>
        <a:graphic>
          <a:graphicData uri="http://schemas.openxmlformats.org/presentationml/2006/ole">
            <mc:AlternateContent xmlns:mc="http://schemas.openxmlformats.org/markup-compatibility/2006">
              <mc:Choice xmlns:v="urn:schemas-microsoft-com:vml" Requires="v">
                <p:oleObj spid="_x0000_s1192" name="Worksheet" r:id="rId5" imgW="7819892" imgH="3514657" progId="Excel.Sheet.12">
                  <p:embed/>
                </p:oleObj>
              </mc:Choice>
              <mc:Fallback>
                <p:oleObj name="Worksheet" r:id="rId5" imgW="7819892" imgH="3514657" progId="Excel.Sheet.12">
                  <p:embed/>
                  <p:pic>
                    <p:nvPicPr>
                      <p:cNvPr id="0" name=""/>
                      <p:cNvPicPr/>
                      <p:nvPr/>
                    </p:nvPicPr>
                    <p:blipFill>
                      <a:blip r:embed="rId6"/>
                      <a:stretch>
                        <a:fillRect/>
                      </a:stretch>
                    </p:blipFill>
                    <p:spPr>
                      <a:xfrm>
                        <a:off x="3025627" y="2146286"/>
                        <a:ext cx="6370339" cy="2863161"/>
                      </a:xfrm>
                      <a:prstGeom prst="rect">
                        <a:avLst/>
                      </a:prstGeom>
                    </p:spPr>
                  </p:pic>
                </p:oleObj>
              </mc:Fallback>
            </mc:AlternateContent>
          </a:graphicData>
        </a:graphic>
      </p:graphicFrame>
      <p:sp>
        <p:nvSpPr>
          <p:cNvPr id="12" name="TextBox 11"/>
          <p:cNvSpPr txBox="1"/>
          <p:nvPr/>
        </p:nvSpPr>
        <p:spPr>
          <a:xfrm>
            <a:off x="914400" y="7322820"/>
            <a:ext cx="4244069" cy="200055"/>
          </a:xfrm>
          <a:prstGeom prst="rect">
            <a:avLst/>
          </a:prstGeom>
          <a:noFill/>
        </p:spPr>
        <p:txBody>
          <a:bodyPr wrap="square" rtlCol="0">
            <a:spAutoFit/>
          </a:bodyPr>
          <a:lstStyle/>
          <a:p>
            <a:r>
              <a:rPr lang="en-US" sz="700" dirty="0">
                <a:latin typeface="+mn-lt"/>
              </a:rPr>
              <a:t>Source: </a:t>
            </a:r>
            <a:r>
              <a:rPr lang="en-US" sz="700" dirty="0" err="1">
                <a:latin typeface="+mn-lt"/>
              </a:rPr>
              <a:t>CoStar</a:t>
            </a:r>
            <a:r>
              <a:rPr lang="en-US" sz="700" dirty="0">
                <a:latin typeface="+mn-lt"/>
              </a:rPr>
              <a:t>/</a:t>
            </a:r>
            <a:r>
              <a:rPr lang="en-US" sz="700" dirty="0" err="1">
                <a:latin typeface="+mn-lt"/>
              </a:rPr>
              <a:t>Trepp</a:t>
            </a:r>
            <a:r>
              <a:rPr lang="en-US" sz="700" dirty="0">
                <a:latin typeface="+mn-lt"/>
              </a:rPr>
              <a:t>/Bloomberg and Cello as of March 31, 2015</a:t>
            </a:r>
          </a:p>
        </p:txBody>
      </p:sp>
      <p:graphicFrame>
        <p:nvGraphicFramePr>
          <p:cNvPr id="5" name="Object 4"/>
          <p:cNvGraphicFramePr>
            <a:graphicFrameLocks noChangeAspect="1"/>
          </p:cNvGraphicFramePr>
          <p:nvPr>
            <p:extLst>
              <p:ext uri="{D42A27DB-BD31-4B8C-83A1-F6EECF244321}">
                <p14:modId xmlns:p14="http://schemas.microsoft.com/office/powerpoint/2010/main" val="4210174597"/>
              </p:ext>
            </p:extLst>
          </p:nvPr>
        </p:nvGraphicFramePr>
        <p:xfrm>
          <a:off x="3025627" y="5057356"/>
          <a:ext cx="4379688" cy="2086744"/>
        </p:xfrm>
        <a:graphic>
          <a:graphicData uri="http://schemas.openxmlformats.org/presentationml/2006/ole">
            <mc:AlternateContent xmlns:mc="http://schemas.openxmlformats.org/markup-compatibility/2006">
              <mc:Choice xmlns:v="urn:schemas-microsoft-com:vml" Requires="v">
                <p:oleObj spid="_x0000_s1193" name="Worksheet" r:id="rId7" imgW="5057722" imgH="2409757" progId="Excel.Sheet.12">
                  <p:embed/>
                </p:oleObj>
              </mc:Choice>
              <mc:Fallback>
                <p:oleObj name="Worksheet" r:id="rId7" imgW="5057722" imgH="2409757" progId="Excel.Sheet.12">
                  <p:embed/>
                  <p:pic>
                    <p:nvPicPr>
                      <p:cNvPr id="0" name=""/>
                      <p:cNvPicPr/>
                      <p:nvPr/>
                    </p:nvPicPr>
                    <p:blipFill>
                      <a:blip r:embed="rId8"/>
                      <a:stretch>
                        <a:fillRect/>
                      </a:stretch>
                    </p:blipFill>
                    <p:spPr>
                      <a:xfrm>
                        <a:off x="3025627" y="5057356"/>
                        <a:ext cx="4379688" cy="2086744"/>
                      </a:xfrm>
                      <a:prstGeom prst="rect">
                        <a:avLst/>
                      </a:prstGeom>
                    </p:spPr>
                  </p:pic>
                </p:oleObj>
              </mc:Fallback>
            </mc:AlternateContent>
          </a:graphicData>
        </a:graphic>
      </p:graphicFrame>
    </p:spTree>
    <p:extLst>
      <p:ext uri="{BB962C8B-B14F-4D97-AF65-F5344CB8AC3E}">
        <p14:creationId xmlns:p14="http://schemas.microsoft.com/office/powerpoint/2010/main" val="10622410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PROPERTY INSPECTIONS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smtClean="0">
                <a:solidFill>
                  <a:srgbClr val="FFFFFF"/>
                </a:solidFill>
                <a:latin typeface="Calibri" pitchFamily="34" charset="0"/>
              </a:rPr>
              <a:t>PHYSICAL DUE DILLIGENCE OF PROPERTY</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
        <p:nvSpPr>
          <p:cNvPr id="6" name="Rectangle 9"/>
          <p:cNvSpPr>
            <a:spLocks noChangeArrowheads="1"/>
          </p:cNvSpPr>
          <p:nvPr/>
        </p:nvSpPr>
        <p:spPr bwMode="auto">
          <a:xfrm>
            <a:off x="155575" y="1339679"/>
            <a:ext cx="2084832" cy="5362113"/>
          </a:xfrm>
          <a:prstGeom prst="rect">
            <a:avLst/>
          </a:prstGeom>
          <a:noFill/>
          <a:ln w="9525">
            <a:noFill/>
            <a:miter lim="800000"/>
            <a:headEnd/>
            <a:tailEnd/>
          </a:ln>
          <a:effectLst/>
        </p:spPr>
        <p:txBody>
          <a:bodyPr wrap="square" lIns="101858" tIns="50929" rIns="101858" bIns="50929">
            <a:spAutoFit/>
          </a:bodyPr>
          <a:lstStyle/>
          <a:p>
            <a:pPr>
              <a:lnSpc>
                <a:spcPct val="110000"/>
              </a:lnSpc>
              <a:spcBef>
                <a:spcPct val="77000"/>
              </a:spcBef>
              <a:buClr>
                <a:srgbClr val="000000"/>
              </a:buClr>
            </a:pPr>
            <a:r>
              <a:rPr lang="en-US" sz="1300" dirty="0" smtClean="0">
                <a:latin typeface="Calibri"/>
              </a:rPr>
              <a:t>The Skyline Portfolio was a key transaction valuation component of the Bond example presented on page 17 and would be the subject of physical Cello due diligence prior to an investment.</a:t>
            </a:r>
          </a:p>
          <a:p>
            <a:pPr>
              <a:lnSpc>
                <a:spcPct val="110000"/>
              </a:lnSpc>
              <a:spcBef>
                <a:spcPct val="77000"/>
              </a:spcBef>
              <a:buClr>
                <a:srgbClr val="000000"/>
              </a:buClr>
            </a:pPr>
            <a:r>
              <a:rPr lang="en-US" sz="1300" dirty="0" smtClean="0">
                <a:latin typeface="Calibri"/>
              </a:rPr>
              <a:t>Cello has a relationship with a Dallas-based Special Servicer; a partnership we use for portions of the Due Diligence process.</a:t>
            </a:r>
            <a:endParaRPr lang="en-US" sz="1300" dirty="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r>
              <a:rPr lang="en-US" sz="1300" dirty="0" smtClean="0">
                <a:latin typeface="Calibri"/>
              </a:rPr>
              <a:t>  </a:t>
            </a:r>
          </a:p>
          <a:p>
            <a:pPr>
              <a:lnSpc>
                <a:spcPct val="110000"/>
              </a:lnSpc>
              <a:spcBef>
                <a:spcPct val="77000"/>
              </a:spcBef>
              <a:buClr>
                <a:srgbClr val="000000"/>
              </a:buClr>
            </a:pPr>
            <a:endParaRPr lang="en-US" sz="1300" dirty="0">
              <a:solidFill>
                <a:srgbClr val="C00000"/>
              </a:solidFill>
              <a:latin typeface="Calibri"/>
            </a:endParaRPr>
          </a:p>
          <a:p>
            <a:pPr>
              <a:lnSpc>
                <a:spcPct val="110000"/>
              </a:lnSpc>
              <a:spcBef>
                <a:spcPct val="77000"/>
              </a:spcBef>
              <a:buClr>
                <a:srgbClr val="000000"/>
              </a:buClr>
            </a:pPr>
            <a:endParaRPr lang="en-US" sz="1300" dirty="0" smtClean="0">
              <a:solidFill>
                <a:srgbClr val="C00000"/>
              </a:solidFill>
              <a:latin typeface="Calibri"/>
            </a:endParaRPr>
          </a:p>
          <a:p>
            <a:pPr>
              <a:lnSpc>
                <a:spcPct val="110000"/>
              </a:lnSpc>
              <a:spcBef>
                <a:spcPct val="77000"/>
              </a:spcBef>
              <a:buClr>
                <a:srgbClr val="000000"/>
              </a:buClr>
            </a:pPr>
            <a:endParaRPr lang="en-US" sz="1300" dirty="0">
              <a:solidFill>
                <a:srgbClr val="C00000"/>
              </a:solidFill>
              <a:latin typeface="Calibri"/>
            </a:endParaRPr>
          </a:p>
        </p:txBody>
      </p:sp>
      <p:pic>
        <p:nvPicPr>
          <p:cNvPr id="5" name="Picture 4"/>
          <p:cNvPicPr>
            <a:picLocks noChangeAspect="1"/>
          </p:cNvPicPr>
          <p:nvPr/>
        </p:nvPicPr>
        <p:blipFill>
          <a:blip r:embed="rId3"/>
          <a:stretch>
            <a:fillRect/>
          </a:stretch>
        </p:blipFill>
        <p:spPr>
          <a:xfrm>
            <a:off x="2760160" y="2218157"/>
            <a:ext cx="6657549" cy="4670498"/>
          </a:xfrm>
          <a:prstGeom prst="rect">
            <a:avLst/>
          </a:prstGeom>
        </p:spPr>
      </p:pic>
    </p:spTree>
    <p:extLst>
      <p:ext uri="{BB962C8B-B14F-4D97-AF65-F5344CB8AC3E}">
        <p14:creationId xmlns:p14="http://schemas.microsoft.com/office/powerpoint/2010/main" val="25047251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JEa2F8LQUEyxStrXkIqA.Q"/>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4635</TotalTime>
  <Words>1961</Words>
  <Application>Microsoft Office PowerPoint</Application>
  <PresentationFormat>Custom</PresentationFormat>
  <Paragraphs>368</Paragraphs>
  <Slides>12</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Office Theme</vt:lpstr>
      <vt:lpstr>Worksheet</vt:lpstr>
      <vt:lpstr>CELLO CRE MODELING FRAMEWORK</vt:lpstr>
      <vt:lpstr>INVESTMENT APPROACH</vt:lpstr>
      <vt:lpstr>CRE Modeling HOLDERS OF CRE RISK: A CAPITAL MARKETS VIEW </vt:lpstr>
      <vt:lpstr>CRE Modeling COMMERCIAL PROPERTY AND Loan basics</vt:lpstr>
      <vt:lpstr>CRE Modeling  CRE Modeling framework: ETUDE</vt:lpstr>
      <vt:lpstr>CRE Modeling DATA SOURCES FOR MODELING CRE RISK </vt:lpstr>
      <vt:lpstr>CRE Modeling MODELING THE EVOLUTION OF ASSET PRICES  </vt:lpstr>
      <vt:lpstr>CRE Modeling  CRE model parameters and Assumptions</vt:lpstr>
      <vt:lpstr>CRE Modeling RESIDENTIAL LOANS VERSUS COMMERCIAL LOANS</vt:lpstr>
      <vt:lpstr>CRE Modeling FORECASTING Loan outcomeS </vt:lpstr>
      <vt:lpstr>CRE MODELING  LARGE LOAN ANALYSIS</vt:lpstr>
      <vt:lpstr>CRE MODELING  PROPERTY INSPECTIONS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426</cp:revision>
  <cp:lastPrinted>2015-07-01T14:24:56Z</cp:lastPrinted>
  <dcterms:created xsi:type="dcterms:W3CDTF">2015-05-21T20:34:11Z</dcterms:created>
  <dcterms:modified xsi:type="dcterms:W3CDTF">2015-07-02T14:05:34Z</dcterms:modified>
</cp:coreProperties>
</file>