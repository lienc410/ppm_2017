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17" r:id="rId2"/>
    <p:sldId id="318" r:id="rId3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020" y="-42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 Modeling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Modeling</a:t>
            </a:r>
            <a:r>
              <a:rPr lang="en-US" dirty="0" smtClean="0"/>
              <a:t> framework</a:t>
            </a:r>
            <a:endParaRPr lang="en-US" dirty="0"/>
          </a:p>
        </p:txBody>
      </p:sp>
      <p:graphicFrame>
        <p:nvGraphicFramePr>
          <p:cNvPr id="47" name="Content Placeholder 4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424600"/>
              </p:ext>
            </p:extLst>
          </p:nvPr>
        </p:nvGraphicFramePr>
        <p:xfrm>
          <a:off x="2511884" y="5143500"/>
          <a:ext cx="71655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253"/>
                <a:gridCol w="1194253"/>
                <a:gridCol w="1194253"/>
                <a:gridCol w="1194253"/>
                <a:gridCol w="1194253"/>
                <a:gridCol w="119425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AAA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BBB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BB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SUB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7162800" y="1066800"/>
            <a:ext cx="2660650" cy="3213102"/>
            <a:chOff x="1258888" y="3975100"/>
            <a:chExt cx="2660650" cy="2333625"/>
          </a:xfrm>
        </p:grpSpPr>
        <p:sp>
          <p:nvSpPr>
            <p:cNvPr id="17" name="Freeform 9"/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1258888" y="5835650"/>
              <a:ext cx="2660650" cy="473075"/>
            </a:xfrm>
            <a:custGeom>
              <a:avLst/>
              <a:gdLst>
                <a:gd name="T0" fmla="*/ 2147483647 w 2676"/>
                <a:gd name="T1" fmla="*/ 0 h 484"/>
                <a:gd name="T2" fmla="*/ 0 w 2676"/>
                <a:gd name="T3" fmla="*/ 2147483647 h 484"/>
                <a:gd name="T4" fmla="*/ 2147483647 w 2676"/>
                <a:gd name="T5" fmla="*/ 2147483647 h 484"/>
                <a:gd name="T6" fmla="*/ 2147483647 w 2676"/>
                <a:gd name="T7" fmla="*/ 0 h 484"/>
                <a:gd name="T8" fmla="*/ 2147483647 w 2676"/>
                <a:gd name="T9" fmla="*/ 0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6"/>
                <a:gd name="T16" fmla="*/ 0 h 484"/>
                <a:gd name="T17" fmla="*/ 2676 w 2676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6" h="484">
                  <a:moveTo>
                    <a:pt x="271" y="0"/>
                  </a:moveTo>
                  <a:lnTo>
                    <a:pt x="0" y="483"/>
                  </a:lnTo>
                  <a:lnTo>
                    <a:pt x="2675" y="483"/>
                  </a:lnTo>
                  <a:lnTo>
                    <a:pt x="2404" y="0"/>
                  </a:lnTo>
                  <a:lnTo>
                    <a:pt x="271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/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 and Property Database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Freeform 10"/>
            <p:cNvSpPr>
              <a:spLocks/>
            </p:cNvSpPr>
            <p:nvPr>
              <p:custDataLst>
                <p:tags r:id="rId2"/>
              </p:custDataLst>
            </p:nvPr>
          </p:nvSpPr>
          <p:spPr bwMode="blackWhite">
            <a:xfrm>
              <a:off x="2122488" y="3975100"/>
              <a:ext cx="935037" cy="819150"/>
            </a:xfrm>
            <a:custGeom>
              <a:avLst/>
              <a:gdLst>
                <a:gd name="T0" fmla="*/ 0 w 939"/>
                <a:gd name="T1" fmla="*/ 818174 h 839"/>
                <a:gd name="T2" fmla="*/ 1011746 w 939"/>
                <a:gd name="T3" fmla="*/ 818174 h 839"/>
                <a:gd name="T4" fmla="*/ 505873 w 939"/>
                <a:gd name="T5" fmla="*/ 0 h 839"/>
                <a:gd name="T6" fmla="*/ 0 w 939"/>
                <a:gd name="T7" fmla="*/ 818174 h 8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9"/>
                <a:gd name="T13" fmla="*/ 0 h 839"/>
                <a:gd name="T14" fmla="*/ 939 w 939"/>
                <a:gd name="T15" fmla="*/ 839 h 8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9" h="839">
                  <a:moveTo>
                    <a:pt x="0" y="838"/>
                  </a:moveTo>
                  <a:lnTo>
                    <a:pt x="938" y="838"/>
                  </a:lnTo>
                  <a:lnTo>
                    <a:pt x="469" y="0"/>
                  </a:lnTo>
                  <a:lnTo>
                    <a:pt x="0" y="838"/>
                  </a:lnTo>
                </a:path>
              </a:pathLst>
            </a:custGeom>
            <a:solidFill>
              <a:schemeClr val="accent3">
                <a:lumMod val="75000"/>
              </a:schemeClr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288000" rIns="36000" bIns="36000" anchor="ctr" anchorCtr="0">
              <a:noAutofit/>
            </a:bodyPr>
            <a:lstStyle/>
            <a:p>
              <a:pPr algn="ctr">
                <a:lnSpc>
                  <a:spcPct val="106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 </a:t>
              </a:r>
              <a:endParaRPr lang="en-US" altLang="zh-CN" sz="1000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  <a:p>
              <a:pPr algn="ctr">
                <a:lnSpc>
                  <a:spcPct val="106000"/>
                </a:lnSpc>
              </a:pPr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Outcome </a:t>
              </a:r>
              <a:r>
                <a:rPr lang="en-US" altLang="zh-CN" sz="10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Projection</a:t>
              </a:r>
            </a:p>
          </p:txBody>
        </p:sp>
        <p:sp>
          <p:nvSpPr>
            <p:cNvPr id="19" name="Freeform 11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1825625" y="4794250"/>
              <a:ext cx="1527175" cy="520700"/>
            </a:xfrm>
            <a:custGeom>
              <a:avLst/>
              <a:gdLst>
                <a:gd name="T0" fmla="*/ 0 w 1536"/>
                <a:gd name="T1" fmla="*/ 519723 h 533"/>
                <a:gd name="T2" fmla="*/ 1653098 w 1536"/>
                <a:gd name="T3" fmla="*/ 519723 h 533"/>
                <a:gd name="T4" fmla="*/ 1332171 w 1536"/>
                <a:gd name="T5" fmla="*/ 0 h 533"/>
                <a:gd name="T6" fmla="*/ 322004 w 1536"/>
                <a:gd name="T7" fmla="*/ 0 h 533"/>
                <a:gd name="T8" fmla="*/ 0 w 1536"/>
                <a:gd name="T9" fmla="*/ 519723 h 5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533"/>
                <a:gd name="T17" fmla="*/ 1536 w 1536"/>
                <a:gd name="T18" fmla="*/ 533 h 5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533">
                  <a:moveTo>
                    <a:pt x="0" y="532"/>
                  </a:moveTo>
                  <a:lnTo>
                    <a:pt x="1535" y="532"/>
                  </a:lnTo>
                  <a:lnTo>
                    <a:pt x="1237" y="0"/>
                  </a:lnTo>
                  <a:lnTo>
                    <a:pt x="299" y="0"/>
                  </a:lnTo>
                  <a:lnTo>
                    <a:pt x="0" y="532"/>
                  </a:lnTo>
                </a:path>
              </a:pathLst>
            </a:custGeom>
            <a:solidFill>
              <a:schemeClr val="accent5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>
                <a:defRPr/>
              </a:pPr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CRE and Credit Model Assumptions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Freeform 12"/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1528763" y="5313363"/>
              <a:ext cx="2120900" cy="523875"/>
            </a:xfrm>
            <a:custGeom>
              <a:avLst/>
              <a:gdLst>
                <a:gd name="T0" fmla="*/ 2147483647 w 2134"/>
                <a:gd name="T1" fmla="*/ 0 h 535"/>
                <a:gd name="T2" fmla="*/ 0 w 2134"/>
                <a:gd name="T3" fmla="*/ 2147483647 h 535"/>
                <a:gd name="T4" fmla="*/ 2147483647 w 2134"/>
                <a:gd name="T5" fmla="*/ 2147483647 h 535"/>
                <a:gd name="T6" fmla="*/ 2147483647 w 2134"/>
                <a:gd name="T7" fmla="*/ 0 h 535"/>
                <a:gd name="T8" fmla="*/ 2147483647 w 2134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34"/>
                <a:gd name="T16" fmla="*/ 0 h 535"/>
                <a:gd name="T17" fmla="*/ 2134 w 2134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34" h="535">
                  <a:moveTo>
                    <a:pt x="299" y="0"/>
                  </a:moveTo>
                  <a:lnTo>
                    <a:pt x="0" y="534"/>
                  </a:lnTo>
                  <a:lnTo>
                    <a:pt x="2133" y="534"/>
                  </a:lnTo>
                  <a:lnTo>
                    <a:pt x="1834" y="0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Loan-Level Review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34" name="Isosceles Triangle 33"/>
          <p:cNvSpPr/>
          <p:nvPr/>
        </p:nvSpPr>
        <p:spPr>
          <a:xfrm rot="5400000">
            <a:off x="5762678" y="2892757"/>
            <a:ext cx="2530144" cy="2441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438400" y="1170801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CRE Model</a:t>
            </a:r>
            <a:endParaRPr lang="en-US" sz="12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2514600" y="1447800"/>
            <a:ext cx="4424251" cy="2917686"/>
            <a:chOff x="2743200" y="1708150"/>
            <a:chExt cx="4195651" cy="2657336"/>
          </a:xfrm>
        </p:grpSpPr>
        <p:sp>
          <p:nvSpPr>
            <p:cNvPr id="23" name="Rectangle 22"/>
            <p:cNvSpPr/>
            <p:nvPr/>
          </p:nvSpPr>
          <p:spPr>
            <a:xfrm>
              <a:off x="2743200" y="2394567"/>
              <a:ext cx="3962400" cy="6487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43200" y="3052079"/>
              <a:ext cx="3962400" cy="6467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43200" y="3707606"/>
              <a:ext cx="3962400" cy="5805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1737055"/>
              <a:ext cx="3962400" cy="6487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743200" y="1737055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 Outcome Projection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Outcome and loss estimates for each loan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Outcomes include: - Payoff  - term Default  - Maturity Default  - Extension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Multi-scenario analysis</a:t>
              </a:r>
              <a:endParaRPr lang="en-US" sz="1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43200" y="2393864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CRE and Credit Model Assumptions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NCF growth curves and Cap Rate projections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Default triggers (e.g. DSCR levels)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Extension parameters</a:t>
              </a:r>
              <a:endParaRPr lang="en-US" sz="1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47851" y="3041150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Loan-Level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Quantitative process for vetting NCF inconsistencies for all loans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Qualitative underwriting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Assign Property grades to all loans based on Location / Condition / Size</a:t>
              </a:r>
              <a:endParaRPr lang="en-US" sz="1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7851" y="3657600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 and Property Database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Over 600 CMBS deals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~75k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~58k loans</a:t>
              </a:r>
              <a:endParaRPr lang="en-US" sz="10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29200" y="266700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Workout Periods/Costs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Other model parameters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29200" y="390706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Directly sourced from servicers and trustees 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747851" y="1708150"/>
              <a:ext cx="395774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Isosceles Triangle 39"/>
          <p:cNvSpPr/>
          <p:nvPr/>
        </p:nvSpPr>
        <p:spPr>
          <a:xfrm rot="10800000">
            <a:off x="3657601" y="4540248"/>
            <a:ext cx="4572000" cy="1841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824395" y="2514600"/>
            <a:ext cx="323165" cy="1066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</a:rPr>
              <a:t>Bottom-Up Analysis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28260" y="4502148"/>
            <a:ext cx="1642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Passing of Income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38400" y="480822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Bond Cash Flow Projection</a:t>
            </a:r>
            <a:endParaRPr lang="en-US" sz="1200" b="1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2506228" y="5085219"/>
            <a:ext cx="4173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0800000">
            <a:off x="3657601" y="5753100"/>
            <a:ext cx="4572000" cy="1841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464385" y="601980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Understanding Themes</a:t>
            </a:r>
            <a:endParaRPr lang="en-US" sz="1200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2532213" y="6296799"/>
            <a:ext cx="4173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90800" y="6400800"/>
            <a:ext cx="6962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Update</a:t>
            </a:r>
            <a:endParaRPr lang="en-US" sz="1200" dirty="0"/>
          </a:p>
        </p:txBody>
      </p:sp>
      <p:sp>
        <p:nvSpPr>
          <p:cNvPr id="54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CRE model uses a bottom-up approach to analyzing commercial mortgage back securities.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model is built on loan-level data and a forward-looking deterministic modeling framework.</a:t>
            </a:r>
            <a:endParaRPr 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34708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 animBg="1"/>
      <p:bldP spid="44" grpId="0"/>
      <p:bldP spid="45" grpId="0"/>
      <p:bldP spid="49" grpId="0" animBg="1"/>
      <p:bldP spid="51" grpId="0"/>
      <p:bldP spid="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96828" y="3581400"/>
            <a:ext cx="6138276" cy="3276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96828" y="1572398"/>
            <a:ext cx="6138276" cy="20090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 Modeling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model parameters and Assumptions</a:t>
            </a:r>
            <a:endParaRPr lang="en-US" dirty="0"/>
          </a:p>
        </p:txBody>
      </p:sp>
      <p:sp>
        <p:nvSpPr>
          <p:cNvPr id="54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CRE model employs a forward looking deterministic model to estimate loan-level outcomes.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Major model parameters include Income &amp; Property Value Drivers and Loan Outcome &amp; Loss Parameters.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For each parameter, several assumptions will be applied.</a:t>
            </a:r>
            <a:endParaRPr lang="en-US" sz="11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521774"/>
              </p:ext>
            </p:extLst>
          </p:nvPr>
        </p:nvGraphicFramePr>
        <p:xfrm>
          <a:off x="3496828" y="1572399"/>
          <a:ext cx="6172200" cy="53340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/>
                <a:gridCol w="4724400"/>
              </a:tblGrid>
              <a:tr h="582036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Income</a:t>
                      </a:r>
                      <a:r>
                        <a:rPr lang="en-US" sz="1050" b="1" baseline="0" dirty="0" smtClean="0"/>
                        <a:t> growth curves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 smtClean="0"/>
                        <a:t>MSA and property-type based projections of property-level NCF through time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1094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Cap rates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Cap rate curves (term structure) by property type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Adjusted by property grades to account for individual property location and quality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Combined with income projections to determine property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1902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Property</a:t>
                      </a:r>
                      <a:r>
                        <a:rPr lang="en-US" sz="1050" b="1" baseline="0" dirty="0" smtClean="0"/>
                        <a:t> grades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Individually assigned grades based on location, condition and size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Used to adjust cap rates to account for individual property quality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1902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DSCR default trigger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Monthly test that results in a term default if DSCR drops below a defined level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Triggers are property type based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82036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Loan extensions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 smtClean="0"/>
                        <a:t>Loans are extended at maturity if LTV falls within a defined band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1902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Workout period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Time to resolution after a term or maturity default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smtClean="0"/>
                        <a:t>Jurisdiction-based (by State)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82036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Liquidation costs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 smtClean="0"/>
                        <a:t>Percentage of property value at liquidation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1094">
                <a:tc>
                  <a:txBody>
                    <a:bodyPr/>
                    <a:lstStyle/>
                    <a:p>
                      <a:r>
                        <a:rPr lang="en-US" sz="1050" b="1" dirty="0" smtClean="0"/>
                        <a:t>Servicer reserves</a:t>
                      </a:r>
                      <a:endParaRPr lang="en-US" sz="105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 smtClean="0"/>
                        <a:t>Reserves held by the servicer are used to fund debt service payment shortfalls if income drops below the DSCR threshold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429000" y="129540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Assumption</a:t>
            </a:r>
            <a:endParaRPr lang="en-US" sz="1200" b="1" dirty="0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496828" y="1572397"/>
            <a:ext cx="6138276" cy="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03084" y="1295399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Description</a:t>
            </a:r>
            <a:endParaRPr lang="en-US" sz="1200" b="1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615304" y="20574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3615304" y="30480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615304" y="35814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615304" y="42672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615304" y="48006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615304" y="54864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615304" y="6096000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90800" y="1572400"/>
            <a:ext cx="914400" cy="2009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2624438" y="2157798"/>
            <a:ext cx="923330" cy="8382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Income and Property </a:t>
            </a:r>
          </a:p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Value Drivers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590800" y="3581400"/>
            <a:ext cx="914400" cy="3276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/>
              <a:t>Loan Outcome and Loss Parameters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667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ED2H2HNpE.nhj8gtT5Ss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qw6ObvsE.Uv6ubMZS6Q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6ZgcsggEW9ZwhL2jcV.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ke.q3MRk.rxVEJ5Ati6A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3240</TotalTime>
  <Words>366</Words>
  <Application>Microsoft Office PowerPoint</Application>
  <PresentationFormat>Custom</PresentationFormat>
  <Paragraphs>72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CRE Modeling  Modeling framework</vt:lpstr>
      <vt:lpstr>CRE Modeling  model parameters and Assumptions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372</cp:revision>
  <cp:lastPrinted>2015-06-19T12:14:16Z</cp:lastPrinted>
  <dcterms:created xsi:type="dcterms:W3CDTF">2015-05-21T20:34:11Z</dcterms:created>
  <dcterms:modified xsi:type="dcterms:W3CDTF">2015-06-30T19:15:25Z</dcterms:modified>
</cp:coreProperties>
</file>