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18" r:id="rId2"/>
  </p:sldIdLst>
  <p:sldSz cx="10058400" cy="7772400"/>
  <p:notesSz cx="7010400" cy="92964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A60"/>
    <a:srgbClr val="DFF5EB"/>
    <a:srgbClr val="C6642E"/>
    <a:srgbClr val="F4E0D0"/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1020" y="-54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0" d="100"/>
          <a:sy n="80" d="100"/>
        </p:scale>
        <p:origin x="-1974" y="-78"/>
      </p:cViewPr>
      <p:guideLst>
        <p:guide orient="horz" pos="2904"/>
        <p:guide orient="horz" pos="2928"/>
        <p:guide pos="2184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829571937719168E-2"/>
          <c:y val="3.9546124331371904E-2"/>
          <c:w val="0.89610526181121308"/>
          <c:h val="0.748454464820976"/>
        </c:manualLayout>
      </c:layout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Baseline Scenario</c:v>
                </c:pt>
              </c:strCache>
            </c:strRef>
          </c:tx>
          <c:marker>
            <c:symbol val="none"/>
          </c:marker>
          <c:cat>
            <c:numRef>
              <c:f>Sheet1!$B$2:$B$69</c:f>
              <c:numCache>
                <c:formatCode>General</c:formatCode>
                <c:ptCount val="6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</c:numCache>
            </c:numRef>
          </c:cat>
          <c:val>
            <c:numRef>
              <c:f>Sheet1!$C$2:$C$69</c:f>
              <c:numCache>
                <c:formatCode>0.0</c:formatCode>
                <c:ptCount val="68"/>
                <c:pt idx="0">
                  <c:v>139.5</c:v>
                </c:pt>
                <c:pt idx="1">
                  <c:v>138.6</c:v>
                </c:pt>
                <c:pt idx="2">
                  <c:v>141</c:v>
                </c:pt>
                <c:pt idx="3">
                  <c:v>135.6</c:v>
                </c:pt>
                <c:pt idx="4">
                  <c:v>137.4</c:v>
                </c:pt>
                <c:pt idx="5">
                  <c:v>135.80000000000001</c:v>
                </c:pt>
                <c:pt idx="6">
                  <c:v>138.69999999999999</c:v>
                </c:pt>
                <c:pt idx="7">
                  <c:v>142.5</c:v>
                </c:pt>
                <c:pt idx="8">
                  <c:v>147.9</c:v>
                </c:pt>
                <c:pt idx="9">
                  <c:v>149.19999999999999</c:v>
                </c:pt>
                <c:pt idx="10">
                  <c:v>147.30000000000001</c:v>
                </c:pt>
                <c:pt idx="11">
                  <c:v>145.69999999999999</c:v>
                </c:pt>
                <c:pt idx="12">
                  <c:v>152.9</c:v>
                </c:pt>
                <c:pt idx="13">
                  <c:v>160.4</c:v>
                </c:pt>
                <c:pt idx="14">
                  <c:v>171.8</c:v>
                </c:pt>
                <c:pt idx="15">
                  <c:v>175.8</c:v>
                </c:pt>
                <c:pt idx="16">
                  <c:v>175.8</c:v>
                </c:pt>
                <c:pt idx="17">
                  <c:v>182.3</c:v>
                </c:pt>
                <c:pt idx="18">
                  <c:v>187.1</c:v>
                </c:pt>
                <c:pt idx="19">
                  <c:v>195.4</c:v>
                </c:pt>
                <c:pt idx="20">
                  <c:v>200</c:v>
                </c:pt>
                <c:pt idx="21">
                  <c:v>209</c:v>
                </c:pt>
                <c:pt idx="22">
                  <c:v>218.6</c:v>
                </c:pt>
                <c:pt idx="23">
                  <c:v>217.3</c:v>
                </c:pt>
                <c:pt idx="24">
                  <c:v>227.1</c:v>
                </c:pt>
                <c:pt idx="25">
                  <c:v>236.4</c:v>
                </c:pt>
                <c:pt idx="26">
                  <c:v>249.1</c:v>
                </c:pt>
                <c:pt idx="27">
                  <c:v>251.5</c:v>
                </c:pt>
                <c:pt idx="28">
                  <c:v>239.9</c:v>
                </c:pt>
                <c:pt idx="29">
                  <c:v>223.9</c:v>
                </c:pt>
                <c:pt idx="30">
                  <c:v>233.4</c:v>
                </c:pt>
                <c:pt idx="31">
                  <c:v>222.5</c:v>
                </c:pt>
                <c:pt idx="32">
                  <c:v>208.9</c:v>
                </c:pt>
                <c:pt idx="33">
                  <c:v>178.5</c:v>
                </c:pt>
                <c:pt idx="34">
                  <c:v>154</c:v>
                </c:pt>
                <c:pt idx="35">
                  <c:v>155.19999999999999</c:v>
                </c:pt>
                <c:pt idx="36">
                  <c:v>149.80000000000001</c:v>
                </c:pt>
                <c:pt idx="37">
                  <c:v>164.5</c:v>
                </c:pt>
                <c:pt idx="38">
                  <c:v>166.9</c:v>
                </c:pt>
                <c:pt idx="39">
                  <c:v>172.7</c:v>
                </c:pt>
                <c:pt idx="40">
                  <c:v>179.6</c:v>
                </c:pt>
                <c:pt idx="41">
                  <c:v>177</c:v>
                </c:pt>
                <c:pt idx="42">
                  <c:v>177</c:v>
                </c:pt>
                <c:pt idx="43">
                  <c:v>188.4</c:v>
                </c:pt>
                <c:pt idx="44">
                  <c:v>188.2</c:v>
                </c:pt>
                <c:pt idx="45">
                  <c:v>189.4</c:v>
                </c:pt>
                <c:pt idx="46">
                  <c:v>196.6</c:v>
                </c:pt>
                <c:pt idx="47">
                  <c:v>198.3</c:v>
                </c:pt>
                <c:pt idx="48">
                  <c:v>203.2</c:v>
                </c:pt>
                <c:pt idx="49">
                  <c:v>212.4</c:v>
                </c:pt>
                <c:pt idx="50">
                  <c:v>222.8</c:v>
                </c:pt>
                <c:pt idx="51">
                  <c:v>229.2</c:v>
                </c:pt>
                <c:pt idx="52">
                  <c:v>227.6</c:v>
                </c:pt>
                <c:pt idx="53">
                  <c:v>233</c:v>
                </c:pt>
                <c:pt idx="54">
                  <c:v>236</c:v>
                </c:pt>
                <c:pt idx="55">
                  <c:v>238.9</c:v>
                </c:pt>
                <c:pt idx="56">
                  <c:v>241.9</c:v>
                </c:pt>
                <c:pt idx="57">
                  <c:v>245</c:v>
                </c:pt>
                <c:pt idx="58">
                  <c:v>248.1</c:v>
                </c:pt>
                <c:pt idx="59">
                  <c:v>251.2</c:v>
                </c:pt>
                <c:pt idx="60">
                  <c:v>253.1</c:v>
                </c:pt>
                <c:pt idx="61">
                  <c:v>255</c:v>
                </c:pt>
                <c:pt idx="62">
                  <c:v>256.89999999999998</c:v>
                </c:pt>
                <c:pt idx="63">
                  <c:v>258.8</c:v>
                </c:pt>
                <c:pt idx="64">
                  <c:v>260.8</c:v>
                </c:pt>
                <c:pt idx="65">
                  <c:v>262.7</c:v>
                </c:pt>
                <c:pt idx="66">
                  <c:v>264.7</c:v>
                </c:pt>
                <c:pt idx="67">
                  <c:v>266.7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Adverse Scenario</c:v>
                </c:pt>
              </c:strCache>
            </c:strRef>
          </c:tx>
          <c:marker>
            <c:symbol val="none"/>
          </c:marker>
          <c:cat>
            <c:numRef>
              <c:f>Sheet1!$B$2:$B$69</c:f>
              <c:numCache>
                <c:formatCode>General</c:formatCode>
                <c:ptCount val="6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</c:numCache>
            </c:numRef>
          </c:cat>
          <c:val>
            <c:numRef>
              <c:f>Sheet1!$D$2:$D$69</c:f>
              <c:numCache>
                <c:formatCode>0.0</c:formatCode>
                <c:ptCount val="68"/>
                <c:pt idx="0">
                  <c:v>139.5</c:v>
                </c:pt>
                <c:pt idx="1">
                  <c:v>138.6</c:v>
                </c:pt>
                <c:pt idx="2">
                  <c:v>141</c:v>
                </c:pt>
                <c:pt idx="3">
                  <c:v>135.6</c:v>
                </c:pt>
                <c:pt idx="4">
                  <c:v>137.4</c:v>
                </c:pt>
                <c:pt idx="5">
                  <c:v>135.80000000000001</c:v>
                </c:pt>
                <c:pt idx="6">
                  <c:v>138.69999999999999</c:v>
                </c:pt>
                <c:pt idx="7">
                  <c:v>142.5</c:v>
                </c:pt>
                <c:pt idx="8">
                  <c:v>147.9</c:v>
                </c:pt>
                <c:pt idx="9">
                  <c:v>149.19999999999999</c:v>
                </c:pt>
                <c:pt idx="10">
                  <c:v>147.30000000000001</c:v>
                </c:pt>
                <c:pt idx="11">
                  <c:v>145.69999999999999</c:v>
                </c:pt>
                <c:pt idx="12">
                  <c:v>152.9</c:v>
                </c:pt>
                <c:pt idx="13">
                  <c:v>160.4</c:v>
                </c:pt>
                <c:pt idx="14">
                  <c:v>171.8</c:v>
                </c:pt>
                <c:pt idx="15">
                  <c:v>175.8</c:v>
                </c:pt>
                <c:pt idx="16">
                  <c:v>175.8</c:v>
                </c:pt>
                <c:pt idx="17">
                  <c:v>182.3</c:v>
                </c:pt>
                <c:pt idx="18">
                  <c:v>187.1</c:v>
                </c:pt>
                <c:pt idx="19">
                  <c:v>195.4</c:v>
                </c:pt>
                <c:pt idx="20">
                  <c:v>200</c:v>
                </c:pt>
                <c:pt idx="21">
                  <c:v>209</c:v>
                </c:pt>
                <c:pt idx="22">
                  <c:v>218.6</c:v>
                </c:pt>
                <c:pt idx="23">
                  <c:v>217.3</c:v>
                </c:pt>
                <c:pt idx="24">
                  <c:v>227.1</c:v>
                </c:pt>
                <c:pt idx="25">
                  <c:v>236.4</c:v>
                </c:pt>
                <c:pt idx="26">
                  <c:v>249.1</c:v>
                </c:pt>
                <c:pt idx="27">
                  <c:v>251.5</c:v>
                </c:pt>
                <c:pt idx="28">
                  <c:v>239.9</c:v>
                </c:pt>
                <c:pt idx="29">
                  <c:v>223.9</c:v>
                </c:pt>
                <c:pt idx="30">
                  <c:v>233.4</c:v>
                </c:pt>
                <c:pt idx="31">
                  <c:v>222.5</c:v>
                </c:pt>
                <c:pt idx="32">
                  <c:v>208.9</c:v>
                </c:pt>
                <c:pt idx="33">
                  <c:v>178.5</c:v>
                </c:pt>
                <c:pt idx="34">
                  <c:v>154</c:v>
                </c:pt>
                <c:pt idx="35">
                  <c:v>155.19999999999999</c:v>
                </c:pt>
                <c:pt idx="36">
                  <c:v>149.80000000000001</c:v>
                </c:pt>
                <c:pt idx="37">
                  <c:v>164.5</c:v>
                </c:pt>
                <c:pt idx="38">
                  <c:v>166.9</c:v>
                </c:pt>
                <c:pt idx="39">
                  <c:v>172.7</c:v>
                </c:pt>
                <c:pt idx="40">
                  <c:v>179.6</c:v>
                </c:pt>
                <c:pt idx="41">
                  <c:v>177</c:v>
                </c:pt>
                <c:pt idx="42">
                  <c:v>177</c:v>
                </c:pt>
                <c:pt idx="43">
                  <c:v>188.4</c:v>
                </c:pt>
                <c:pt idx="44">
                  <c:v>188.2</c:v>
                </c:pt>
                <c:pt idx="45">
                  <c:v>189.4</c:v>
                </c:pt>
                <c:pt idx="46">
                  <c:v>196.6</c:v>
                </c:pt>
                <c:pt idx="47">
                  <c:v>198.3</c:v>
                </c:pt>
                <c:pt idx="48">
                  <c:v>203.2</c:v>
                </c:pt>
                <c:pt idx="49">
                  <c:v>212.4</c:v>
                </c:pt>
                <c:pt idx="50">
                  <c:v>222.8</c:v>
                </c:pt>
                <c:pt idx="51">
                  <c:v>229.2</c:v>
                </c:pt>
                <c:pt idx="52">
                  <c:v>227.6</c:v>
                </c:pt>
                <c:pt idx="53">
                  <c:v>233</c:v>
                </c:pt>
                <c:pt idx="54">
                  <c:v>236</c:v>
                </c:pt>
                <c:pt idx="55">
                  <c:v>238.9</c:v>
                </c:pt>
                <c:pt idx="56">
                  <c:v>235.3</c:v>
                </c:pt>
                <c:pt idx="57">
                  <c:v>228.1</c:v>
                </c:pt>
                <c:pt idx="58">
                  <c:v>220.8</c:v>
                </c:pt>
                <c:pt idx="59">
                  <c:v>214.8</c:v>
                </c:pt>
                <c:pt idx="60">
                  <c:v>207.7</c:v>
                </c:pt>
                <c:pt idx="61">
                  <c:v>202.9</c:v>
                </c:pt>
                <c:pt idx="62">
                  <c:v>199.6</c:v>
                </c:pt>
                <c:pt idx="63">
                  <c:v>197.7</c:v>
                </c:pt>
                <c:pt idx="64">
                  <c:v>196.6</c:v>
                </c:pt>
                <c:pt idx="65">
                  <c:v>196.5</c:v>
                </c:pt>
                <c:pt idx="66">
                  <c:v>196.6</c:v>
                </c:pt>
                <c:pt idx="67">
                  <c:v>197.1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Sheet1!$E$1</c:f>
              <c:strCache>
                <c:ptCount val="1"/>
                <c:pt idx="0">
                  <c:v>Severely Adverse Scenario</c:v>
                </c:pt>
              </c:strCache>
            </c:strRef>
          </c:tx>
          <c:marker>
            <c:symbol val="none"/>
          </c:marker>
          <c:cat>
            <c:numRef>
              <c:f>Sheet1!$B$2:$B$69</c:f>
              <c:numCache>
                <c:formatCode>General</c:formatCode>
                <c:ptCount val="68"/>
                <c:pt idx="0">
                  <c:v>2001</c:v>
                </c:pt>
                <c:pt idx="1">
                  <c:v>2001</c:v>
                </c:pt>
                <c:pt idx="2">
                  <c:v>2001</c:v>
                </c:pt>
                <c:pt idx="3">
                  <c:v>2001</c:v>
                </c:pt>
                <c:pt idx="4">
                  <c:v>2002</c:v>
                </c:pt>
                <c:pt idx="5">
                  <c:v>2002</c:v>
                </c:pt>
                <c:pt idx="6">
                  <c:v>2002</c:v>
                </c:pt>
                <c:pt idx="7">
                  <c:v>2002</c:v>
                </c:pt>
                <c:pt idx="8">
                  <c:v>2003</c:v>
                </c:pt>
                <c:pt idx="9">
                  <c:v>2003</c:v>
                </c:pt>
                <c:pt idx="10">
                  <c:v>2003</c:v>
                </c:pt>
                <c:pt idx="11">
                  <c:v>2003</c:v>
                </c:pt>
                <c:pt idx="12">
                  <c:v>2004</c:v>
                </c:pt>
                <c:pt idx="13">
                  <c:v>2004</c:v>
                </c:pt>
                <c:pt idx="14">
                  <c:v>2004</c:v>
                </c:pt>
                <c:pt idx="15">
                  <c:v>2004</c:v>
                </c:pt>
                <c:pt idx="16">
                  <c:v>2005</c:v>
                </c:pt>
                <c:pt idx="17">
                  <c:v>2005</c:v>
                </c:pt>
                <c:pt idx="18">
                  <c:v>2005</c:v>
                </c:pt>
                <c:pt idx="19">
                  <c:v>2005</c:v>
                </c:pt>
                <c:pt idx="20">
                  <c:v>2006</c:v>
                </c:pt>
                <c:pt idx="21">
                  <c:v>2006</c:v>
                </c:pt>
                <c:pt idx="22">
                  <c:v>2006</c:v>
                </c:pt>
                <c:pt idx="23">
                  <c:v>2006</c:v>
                </c:pt>
                <c:pt idx="24">
                  <c:v>2007</c:v>
                </c:pt>
                <c:pt idx="25">
                  <c:v>2007</c:v>
                </c:pt>
                <c:pt idx="26">
                  <c:v>2007</c:v>
                </c:pt>
                <c:pt idx="27">
                  <c:v>2007</c:v>
                </c:pt>
                <c:pt idx="28">
                  <c:v>2008</c:v>
                </c:pt>
                <c:pt idx="29">
                  <c:v>2008</c:v>
                </c:pt>
                <c:pt idx="30">
                  <c:v>2008</c:v>
                </c:pt>
                <c:pt idx="31">
                  <c:v>2008</c:v>
                </c:pt>
                <c:pt idx="32">
                  <c:v>2009</c:v>
                </c:pt>
                <c:pt idx="33">
                  <c:v>2009</c:v>
                </c:pt>
                <c:pt idx="34">
                  <c:v>2009</c:v>
                </c:pt>
                <c:pt idx="35">
                  <c:v>2009</c:v>
                </c:pt>
                <c:pt idx="36">
                  <c:v>2010</c:v>
                </c:pt>
                <c:pt idx="37">
                  <c:v>2010</c:v>
                </c:pt>
                <c:pt idx="38">
                  <c:v>2010</c:v>
                </c:pt>
                <c:pt idx="39">
                  <c:v>2010</c:v>
                </c:pt>
                <c:pt idx="40">
                  <c:v>2011</c:v>
                </c:pt>
                <c:pt idx="41">
                  <c:v>2011</c:v>
                </c:pt>
                <c:pt idx="42">
                  <c:v>2011</c:v>
                </c:pt>
                <c:pt idx="43">
                  <c:v>2011</c:v>
                </c:pt>
                <c:pt idx="44">
                  <c:v>2012</c:v>
                </c:pt>
                <c:pt idx="45">
                  <c:v>2012</c:v>
                </c:pt>
                <c:pt idx="46">
                  <c:v>2012</c:v>
                </c:pt>
                <c:pt idx="47">
                  <c:v>2012</c:v>
                </c:pt>
                <c:pt idx="48">
                  <c:v>2013</c:v>
                </c:pt>
                <c:pt idx="49">
                  <c:v>2013</c:v>
                </c:pt>
                <c:pt idx="50">
                  <c:v>2013</c:v>
                </c:pt>
                <c:pt idx="51">
                  <c:v>2013</c:v>
                </c:pt>
                <c:pt idx="52">
                  <c:v>2014</c:v>
                </c:pt>
                <c:pt idx="53">
                  <c:v>2014</c:v>
                </c:pt>
                <c:pt idx="54">
                  <c:v>2014</c:v>
                </c:pt>
                <c:pt idx="55">
                  <c:v>2014</c:v>
                </c:pt>
                <c:pt idx="56">
                  <c:v>2015</c:v>
                </c:pt>
                <c:pt idx="57">
                  <c:v>2015</c:v>
                </c:pt>
                <c:pt idx="58">
                  <c:v>2015</c:v>
                </c:pt>
                <c:pt idx="59">
                  <c:v>2015</c:v>
                </c:pt>
                <c:pt idx="60">
                  <c:v>2016</c:v>
                </c:pt>
                <c:pt idx="61">
                  <c:v>2016</c:v>
                </c:pt>
                <c:pt idx="62">
                  <c:v>2016</c:v>
                </c:pt>
                <c:pt idx="63">
                  <c:v>2016</c:v>
                </c:pt>
                <c:pt idx="64">
                  <c:v>2017</c:v>
                </c:pt>
                <c:pt idx="65">
                  <c:v>2017</c:v>
                </c:pt>
                <c:pt idx="66">
                  <c:v>2017</c:v>
                </c:pt>
                <c:pt idx="67">
                  <c:v>2017</c:v>
                </c:pt>
              </c:numCache>
            </c:numRef>
          </c:cat>
          <c:val>
            <c:numRef>
              <c:f>Sheet1!$E$2:$E$69</c:f>
              <c:numCache>
                <c:formatCode>0.0</c:formatCode>
                <c:ptCount val="68"/>
                <c:pt idx="0">
                  <c:v>139.5</c:v>
                </c:pt>
                <c:pt idx="1">
                  <c:v>138.6</c:v>
                </c:pt>
                <c:pt idx="2">
                  <c:v>141</c:v>
                </c:pt>
                <c:pt idx="3">
                  <c:v>135.6</c:v>
                </c:pt>
                <c:pt idx="4">
                  <c:v>137.4</c:v>
                </c:pt>
                <c:pt idx="5">
                  <c:v>135.80000000000001</c:v>
                </c:pt>
                <c:pt idx="6">
                  <c:v>138.69999999999999</c:v>
                </c:pt>
                <c:pt idx="7">
                  <c:v>142.5</c:v>
                </c:pt>
                <c:pt idx="8">
                  <c:v>147.9</c:v>
                </c:pt>
                <c:pt idx="9">
                  <c:v>149.19999999999999</c:v>
                </c:pt>
                <c:pt idx="10">
                  <c:v>147.30000000000001</c:v>
                </c:pt>
                <c:pt idx="11">
                  <c:v>145.69999999999999</c:v>
                </c:pt>
                <c:pt idx="12">
                  <c:v>152.9</c:v>
                </c:pt>
                <c:pt idx="13">
                  <c:v>160.4</c:v>
                </c:pt>
                <c:pt idx="14">
                  <c:v>171.8</c:v>
                </c:pt>
                <c:pt idx="15">
                  <c:v>175.8</c:v>
                </c:pt>
                <c:pt idx="16">
                  <c:v>175.8</c:v>
                </c:pt>
                <c:pt idx="17">
                  <c:v>182.3</c:v>
                </c:pt>
                <c:pt idx="18">
                  <c:v>187.1</c:v>
                </c:pt>
                <c:pt idx="19">
                  <c:v>195.4</c:v>
                </c:pt>
                <c:pt idx="20">
                  <c:v>200</c:v>
                </c:pt>
                <c:pt idx="21">
                  <c:v>209</c:v>
                </c:pt>
                <c:pt idx="22">
                  <c:v>218.6</c:v>
                </c:pt>
                <c:pt idx="23">
                  <c:v>217.3</c:v>
                </c:pt>
                <c:pt idx="24">
                  <c:v>227.1</c:v>
                </c:pt>
                <c:pt idx="25">
                  <c:v>236.4</c:v>
                </c:pt>
                <c:pt idx="26">
                  <c:v>249.1</c:v>
                </c:pt>
                <c:pt idx="27">
                  <c:v>251.5</c:v>
                </c:pt>
                <c:pt idx="28">
                  <c:v>239.9</c:v>
                </c:pt>
                <c:pt idx="29">
                  <c:v>223.9</c:v>
                </c:pt>
                <c:pt idx="30">
                  <c:v>233.4</c:v>
                </c:pt>
                <c:pt idx="31">
                  <c:v>222.5</c:v>
                </c:pt>
                <c:pt idx="32">
                  <c:v>208.9</c:v>
                </c:pt>
                <c:pt idx="33">
                  <c:v>178.5</c:v>
                </c:pt>
                <c:pt idx="34">
                  <c:v>154</c:v>
                </c:pt>
                <c:pt idx="35">
                  <c:v>155.19999999999999</c:v>
                </c:pt>
                <c:pt idx="36">
                  <c:v>149.80000000000001</c:v>
                </c:pt>
                <c:pt idx="37">
                  <c:v>164.5</c:v>
                </c:pt>
                <c:pt idx="38">
                  <c:v>166.9</c:v>
                </c:pt>
                <c:pt idx="39">
                  <c:v>172.7</c:v>
                </c:pt>
                <c:pt idx="40">
                  <c:v>179.6</c:v>
                </c:pt>
                <c:pt idx="41">
                  <c:v>177</c:v>
                </c:pt>
                <c:pt idx="42">
                  <c:v>177</c:v>
                </c:pt>
                <c:pt idx="43">
                  <c:v>188.4</c:v>
                </c:pt>
                <c:pt idx="44">
                  <c:v>188.2</c:v>
                </c:pt>
                <c:pt idx="45">
                  <c:v>189.4</c:v>
                </c:pt>
                <c:pt idx="46">
                  <c:v>196.6</c:v>
                </c:pt>
                <c:pt idx="47">
                  <c:v>198.3</c:v>
                </c:pt>
                <c:pt idx="48">
                  <c:v>203.2</c:v>
                </c:pt>
                <c:pt idx="49">
                  <c:v>212.4</c:v>
                </c:pt>
                <c:pt idx="50">
                  <c:v>222.8</c:v>
                </c:pt>
                <c:pt idx="51">
                  <c:v>229.2</c:v>
                </c:pt>
                <c:pt idx="52">
                  <c:v>227.6</c:v>
                </c:pt>
                <c:pt idx="53">
                  <c:v>233</c:v>
                </c:pt>
                <c:pt idx="54">
                  <c:v>236</c:v>
                </c:pt>
                <c:pt idx="55">
                  <c:v>238.9</c:v>
                </c:pt>
                <c:pt idx="56">
                  <c:v>230.2</c:v>
                </c:pt>
                <c:pt idx="57">
                  <c:v>213.6</c:v>
                </c:pt>
                <c:pt idx="58">
                  <c:v>195.1</c:v>
                </c:pt>
                <c:pt idx="59">
                  <c:v>177.6</c:v>
                </c:pt>
                <c:pt idx="60">
                  <c:v>164.4</c:v>
                </c:pt>
                <c:pt idx="61">
                  <c:v>157.4</c:v>
                </c:pt>
                <c:pt idx="62">
                  <c:v>154.4</c:v>
                </c:pt>
                <c:pt idx="63">
                  <c:v>154.6</c:v>
                </c:pt>
                <c:pt idx="64">
                  <c:v>156.1</c:v>
                </c:pt>
                <c:pt idx="65">
                  <c:v>159.6</c:v>
                </c:pt>
                <c:pt idx="66">
                  <c:v>164</c:v>
                </c:pt>
                <c:pt idx="67">
                  <c:v>169.1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455872"/>
        <c:axId val="199806336"/>
      </c:lineChart>
      <c:catAx>
        <c:axId val="197455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99806336"/>
        <c:crosses val="autoZero"/>
        <c:auto val="1"/>
        <c:lblAlgn val="ctr"/>
        <c:lblOffset val="100"/>
        <c:tickLblSkip val="4"/>
        <c:tickMarkSkip val="4"/>
        <c:noMultiLvlLbl val="0"/>
      </c:catAx>
      <c:valAx>
        <c:axId val="199806336"/>
        <c:scaling>
          <c:orientation val="minMax"/>
          <c:min val="100"/>
        </c:scaling>
        <c:delete val="0"/>
        <c:axPos val="l"/>
        <c:numFmt formatCode="0" sourceLinked="0"/>
        <c:majorTickMark val="out"/>
        <c:minorTickMark val="none"/>
        <c:tickLblPos val="nextTo"/>
        <c:spPr>
          <a:ln>
            <a:solidFill>
              <a:schemeClr val="tx2"/>
            </a:solidFill>
          </a:ln>
        </c:spPr>
        <c:crossAx val="197455872"/>
        <c:crosses val="autoZero"/>
        <c:crossBetween val="midCat"/>
        <c:majorUnit val="50"/>
      </c:valAx>
      <c:spPr>
        <a:ln>
          <a:solidFill>
            <a:schemeClr val="tx2"/>
          </a:solidFill>
        </a:ln>
      </c:spPr>
    </c:plotArea>
    <c:legend>
      <c:legendPos val="b"/>
      <c:layout>
        <c:manualLayout>
          <c:xMode val="edge"/>
          <c:yMode val="edge"/>
          <c:x val="9.2672761323024141E-2"/>
          <c:y val="0.89052660732503397"/>
          <c:w val="0.81465433676643362"/>
          <c:h val="8.4097717686306819E-2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002776"/>
          </a:solidFill>
          <a:latin typeface="Arial Unicode MS" pitchFamily="34" charset="-122"/>
          <a:ea typeface="Arial Unicode MS" pitchFamily="34" charset="-122"/>
          <a:cs typeface="Arial Unicode MS" pitchFamily="34" charset="-122"/>
        </a:defRPr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7/2/2015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7/2/2015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9363" y="696913"/>
            <a:ext cx="45116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69" tIns="46585" rIns="93169" bIns="4658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69" tIns="46585" rIns="93169" bIns="46585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69" tIns="46585" rIns="93169" bIns="46585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172450" y="1676400"/>
            <a:ext cx="1143000" cy="23088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CMBS Modeling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114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2583659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100" b="0" dirty="0" smtClean="0">
                <a:solidFill>
                  <a:schemeClr val="tx1"/>
                </a:solidFill>
              </a:rPr>
              <a:t>In order to</a:t>
            </a:r>
            <a:endParaRPr lang="en-US" sz="1100" dirty="0" smtClean="0"/>
          </a:p>
        </p:txBody>
      </p:sp>
      <p:graphicFrame>
        <p:nvGraphicFramePr>
          <p:cNvPr id="63" name="Chart 62"/>
          <p:cNvGraphicFramePr/>
          <p:nvPr>
            <p:extLst>
              <p:ext uri="{D42A27DB-BD31-4B8C-83A1-F6EECF244321}">
                <p14:modId xmlns:p14="http://schemas.microsoft.com/office/powerpoint/2010/main" val="3856321821"/>
              </p:ext>
            </p:extLst>
          </p:nvPr>
        </p:nvGraphicFramePr>
        <p:xfrm>
          <a:off x="2438400" y="1536632"/>
          <a:ext cx="7113007" cy="31090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5" name="Straight Connector 4"/>
          <p:cNvCxnSpPr/>
          <p:nvPr/>
        </p:nvCxnSpPr>
        <p:spPr>
          <a:xfrm>
            <a:off x="2971800" y="2377440"/>
            <a:ext cx="63246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296400" y="2237601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chemeClr val="accent1"/>
                </a:solidFill>
              </a:rPr>
              <a:t>239</a:t>
            </a: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48400" y="4645670"/>
            <a:ext cx="3581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i="1" dirty="0" smtClean="0"/>
              <a:t>* The shaded area are projections</a:t>
            </a:r>
            <a:endParaRPr lang="en-US" sz="1050" i="1" dirty="0"/>
          </a:p>
        </p:txBody>
      </p:sp>
      <p:cxnSp>
        <p:nvCxnSpPr>
          <p:cNvPr id="70" name="Straight Connector 69"/>
          <p:cNvCxnSpPr/>
          <p:nvPr/>
        </p:nvCxnSpPr>
        <p:spPr>
          <a:xfrm>
            <a:off x="2971800" y="1283931"/>
            <a:ext cx="63150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Content Placeholder 8"/>
          <p:cNvSpPr txBox="1">
            <a:spLocks/>
          </p:cNvSpPr>
          <p:nvPr/>
        </p:nvSpPr>
        <p:spPr>
          <a:xfrm>
            <a:off x="4343400" y="1143000"/>
            <a:ext cx="3581400" cy="327582"/>
          </a:xfrm>
          <a:prstGeom prst="rect">
            <a:avLst/>
          </a:prstGeom>
          <a:solidFill>
            <a:schemeClr val="bg1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1018824" rtl="0" eaLnBrk="1" latinLnBrk="0" hangingPunct="1">
              <a:lnSpc>
                <a:spcPct val="110000"/>
              </a:lnSpc>
              <a:spcBef>
                <a:spcPts val="1800"/>
              </a:spcBef>
              <a:buFont typeface="Arial" panose="020B0604020202020204" pitchFamily="34" charset="0"/>
              <a:buNone/>
              <a:defRPr sz="1400" b="1" kern="120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0" indent="0" algn="l" defTabSz="1018824" rtl="0" eaLnBrk="1" latinLnBrk="0" hangingPunct="1">
              <a:lnSpc>
                <a:spcPct val="110000"/>
              </a:lnSpc>
              <a:spcBef>
                <a:spcPts val="1500"/>
              </a:spcBef>
              <a:buFont typeface="Arial" panose="020B0604020202020204" pitchFamily="34" charset="0"/>
              <a:buNone/>
              <a:defRPr sz="13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588" indent="0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None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73038" indent="-173038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SzPct val="80000"/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385763" indent="-206375" algn="l" defTabSz="1018824" rtl="0" eaLnBrk="1" latinLnBrk="0" hangingPunct="1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–"/>
              <a:defRPr sz="13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801767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311180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820592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330004" indent="-254706" algn="l" defTabSz="1018824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Commercial </a:t>
            </a:r>
            <a:r>
              <a:rPr lang="en-US" dirty="0"/>
              <a:t>Real Estate Price </a:t>
            </a:r>
            <a:r>
              <a:rPr lang="en-US" dirty="0" smtClean="0"/>
              <a:t>Index</a:t>
            </a: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892723"/>
              </p:ext>
            </p:extLst>
          </p:nvPr>
        </p:nvGraphicFramePr>
        <p:xfrm>
          <a:off x="3048000" y="5160150"/>
          <a:ext cx="6488128" cy="5548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5508"/>
                <a:gridCol w="405508"/>
                <a:gridCol w="405508"/>
                <a:gridCol w="405508"/>
                <a:gridCol w="405508"/>
                <a:gridCol w="405508"/>
                <a:gridCol w="405508"/>
                <a:gridCol w="405508"/>
                <a:gridCol w="405508"/>
                <a:gridCol w="405508"/>
                <a:gridCol w="405508"/>
                <a:gridCol w="405508"/>
                <a:gridCol w="405508"/>
                <a:gridCol w="405508"/>
                <a:gridCol w="405508"/>
                <a:gridCol w="405508"/>
              </a:tblGrid>
              <a:tr h="184950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2001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2008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2010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 dirty="0">
                          <a:effectLst/>
                        </a:rPr>
                        <a:t>2014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8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Q4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8495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effectLst/>
                        </a:rPr>
                        <a:t>140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141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136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240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233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223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effectLst/>
                        </a:rPr>
                        <a:t>150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233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236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u="none" strike="noStrike" dirty="0">
                          <a:effectLst/>
                        </a:rPr>
                        <a:t>239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247" marR="9247" marT="9247" marB="0" anchor="b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648219"/>
              </p:ext>
            </p:extLst>
          </p:nvPr>
        </p:nvGraphicFramePr>
        <p:xfrm>
          <a:off x="4632960" y="6019800"/>
          <a:ext cx="4930140" cy="952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0845"/>
                <a:gridCol w="410845"/>
                <a:gridCol w="410845"/>
                <a:gridCol w="410845"/>
                <a:gridCol w="410845"/>
                <a:gridCol w="410845"/>
                <a:gridCol w="410845"/>
                <a:gridCol w="410845"/>
                <a:gridCol w="410845"/>
                <a:gridCol w="410845"/>
                <a:gridCol w="410845"/>
                <a:gridCol w="410845"/>
              </a:tblGrid>
              <a:tr h="190500">
                <a:tc gridSpan="4">
                  <a:txBody>
                    <a:bodyPr/>
                    <a:lstStyle/>
                    <a:p>
                      <a:pPr marL="0" algn="ctr" defTabSz="1018824" rtl="0" eaLnBrk="1" fontAlgn="ctr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2015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algn="ctr" defTabSz="1018824" rtl="0" eaLnBrk="1" fontAlgn="ctr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2016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algn="ctr" defTabSz="1018824" rtl="0" eaLnBrk="1" fontAlgn="ctr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2017</a:t>
                      </a: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0500"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Q4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Q4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Q1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Q2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Q3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18824" rtl="0" eaLnBrk="1" fontAlgn="b" latinLnBrk="0" hangingPunct="1"/>
                      <a:r>
                        <a:rPr lang="en-US" sz="11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Q4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242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253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257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261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263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265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267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235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228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215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200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230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214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164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157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156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160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effectLst/>
                        </a:rPr>
                        <a:t>164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effectLst/>
                        </a:rPr>
                        <a:t>169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5054440"/>
              </p:ext>
            </p:extLst>
          </p:nvPr>
        </p:nvGraphicFramePr>
        <p:xfrm>
          <a:off x="3048000" y="6400800"/>
          <a:ext cx="1600200" cy="571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Baseline Scenario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Adverse Scenario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Severely Adverse Scenario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124200" y="3581194"/>
            <a:ext cx="60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accent1"/>
                </a:solidFill>
              </a:rPr>
              <a:t>Lowest: 136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81600" y="1874520"/>
            <a:ext cx="6096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accent1"/>
                </a:solidFill>
              </a:rPr>
              <a:t>Highest:</a:t>
            </a:r>
          </a:p>
          <a:p>
            <a:pPr algn="ctr"/>
            <a:r>
              <a:rPr lang="en-US" sz="900" dirty="0" smtClean="0">
                <a:solidFill>
                  <a:schemeClr val="accent1"/>
                </a:solidFill>
              </a:rPr>
              <a:t>240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943600" y="3452472"/>
            <a:ext cx="8048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 smtClean="0">
                <a:solidFill>
                  <a:schemeClr val="accent1"/>
                </a:solidFill>
              </a:rPr>
              <a:t>Period Low:</a:t>
            </a:r>
          </a:p>
          <a:p>
            <a:pPr algn="ctr"/>
            <a:r>
              <a:rPr lang="en-US" sz="900" dirty="0" smtClean="0">
                <a:solidFill>
                  <a:schemeClr val="accent1"/>
                </a:solidFill>
              </a:rPr>
              <a:t>150</a:t>
            </a:r>
            <a:endParaRPr lang="en-US" sz="900" dirty="0">
              <a:solidFill>
                <a:schemeClr val="accent1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4783014"/>
              </p:ext>
            </p:extLst>
          </p:nvPr>
        </p:nvGraphicFramePr>
        <p:xfrm>
          <a:off x="3048000" y="6019800"/>
          <a:ext cx="1600200" cy="38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/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11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cxnSp>
        <p:nvCxnSpPr>
          <p:cNvPr id="17" name="Straight Connector 16"/>
          <p:cNvCxnSpPr/>
          <p:nvPr/>
        </p:nvCxnSpPr>
        <p:spPr>
          <a:xfrm flipH="1">
            <a:off x="9063038" y="2377440"/>
            <a:ext cx="0" cy="489585"/>
          </a:xfrm>
          <a:prstGeom prst="line">
            <a:avLst/>
          </a:prstGeom>
          <a:ln w="19050">
            <a:solidFill>
              <a:schemeClr val="accent1">
                <a:lumMod val="60000"/>
                <a:lumOff val="4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 rot="16200000">
            <a:off x="8925603" y="2738093"/>
            <a:ext cx="323165" cy="4286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900" dirty="0" smtClean="0">
                <a:solidFill>
                  <a:schemeClr val="accent2">
                    <a:lumMod val="75000"/>
                  </a:schemeClr>
                </a:solidFill>
              </a:rPr>
              <a:t>-17.7%</a:t>
            </a:r>
            <a:endParaRPr lang="en-US" sz="900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8882067" y="2369823"/>
            <a:ext cx="0" cy="982977"/>
          </a:xfrm>
          <a:prstGeom prst="line">
            <a:avLst/>
          </a:prstGeom>
          <a:ln w="19050">
            <a:solidFill>
              <a:schemeClr val="accent3">
                <a:lumMod val="75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rot="16200000">
            <a:off x="8720484" y="3238160"/>
            <a:ext cx="323165" cy="4286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900" dirty="0" smtClean="0">
                <a:solidFill>
                  <a:schemeClr val="accent3">
                    <a:lumMod val="75000"/>
                  </a:schemeClr>
                </a:solidFill>
              </a:rPr>
              <a:t>-35.3%</a:t>
            </a:r>
            <a:endParaRPr lang="en-US" sz="9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34" name="Straight Connector 33"/>
          <p:cNvCxnSpPr/>
          <p:nvPr/>
        </p:nvCxnSpPr>
        <p:spPr>
          <a:xfrm>
            <a:off x="9286875" y="2057400"/>
            <a:ext cx="0" cy="304800"/>
          </a:xfrm>
          <a:prstGeom prst="line">
            <a:avLst/>
          </a:prstGeom>
          <a:ln w="1905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16200000">
            <a:off x="8989564" y="1992331"/>
            <a:ext cx="323165" cy="44290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sz="900" dirty="0" smtClean="0">
                <a:solidFill>
                  <a:schemeClr val="accent1"/>
                </a:solidFill>
              </a:rPr>
              <a:t>11.6%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 rot="10800000">
            <a:off x="2610167" y="5105400"/>
            <a:ext cx="369332" cy="6096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/>
              <a:t>Actual</a:t>
            </a:r>
            <a:endParaRPr lang="en-US" sz="1200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2979499" y="5181600"/>
            <a:ext cx="0" cy="5334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 rot="10800000">
            <a:off x="2610167" y="6019800"/>
            <a:ext cx="369332" cy="9144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lang="en-US" sz="1200" dirty="0" smtClean="0"/>
              <a:t>Projection</a:t>
            </a:r>
            <a:endParaRPr lang="en-US" sz="1200" dirty="0"/>
          </a:p>
        </p:txBody>
      </p:sp>
      <p:cxnSp>
        <p:nvCxnSpPr>
          <p:cNvPr id="43" name="Straight Connector 42"/>
          <p:cNvCxnSpPr/>
          <p:nvPr/>
        </p:nvCxnSpPr>
        <p:spPr>
          <a:xfrm flipV="1">
            <a:off x="2979499" y="6019800"/>
            <a:ext cx="0" cy="91440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1251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3893</TotalTime>
  <Words>131</Words>
  <Application>Microsoft Office PowerPoint</Application>
  <PresentationFormat>Custom</PresentationFormat>
  <Paragraphs>105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CMBS Modeling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382</cp:revision>
  <cp:lastPrinted>2015-06-19T12:14:16Z</cp:lastPrinted>
  <dcterms:created xsi:type="dcterms:W3CDTF">2015-05-21T20:34:11Z</dcterms:created>
  <dcterms:modified xsi:type="dcterms:W3CDTF">2015-07-02T23:03:13Z</dcterms:modified>
</cp:coreProperties>
</file>