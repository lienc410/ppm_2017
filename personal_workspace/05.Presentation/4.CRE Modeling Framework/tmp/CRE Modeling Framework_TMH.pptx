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320" r:id="rId2"/>
    <p:sldId id="323" r:id="rId3"/>
    <p:sldId id="326" r:id="rId4"/>
    <p:sldId id="327" r:id="rId5"/>
    <p:sldId id="322" r:id="rId6"/>
    <p:sldId id="325" r:id="rId7"/>
    <p:sldId id="324" r:id="rId8"/>
    <p:sldId id="328" r:id="rId9"/>
    <p:sldId id="332" r:id="rId10"/>
    <p:sldId id="331" r:id="rId11"/>
    <p:sldId id="329" r:id="rId12"/>
    <p:sldId id="330" r:id="rId13"/>
  </p:sldIdLst>
  <p:sldSz cx="10058400" cy="7772400"/>
  <p:notesSz cx="7010400" cy="92964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p15="http://schemas.microsoft.com/office/powerpoint/2012/main" xmlns="">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E3989"/>
    <a:srgbClr val="C7732D"/>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3" autoAdjust="0"/>
    <p:restoredTop sz="94660" autoAdjust="0"/>
  </p:normalViewPr>
  <p:slideViewPr>
    <p:cSldViewPr showGuides="1">
      <p:cViewPr>
        <p:scale>
          <a:sx n="120" d="100"/>
          <a:sy n="120" d="100"/>
        </p:scale>
        <p:origin x="-1494" y="-396"/>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61" d="100"/>
          <a:sy n="61" d="100"/>
        </p:scale>
        <p:origin x="-2382" y="-78"/>
      </p:cViewPr>
      <p:guideLst>
        <p:guide orient="horz" pos="2904"/>
        <p:guide orient="horz" pos="2928"/>
        <p:guide pos="2184"/>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829571937719168E-2"/>
          <c:y val="3.9546124331371904E-2"/>
          <c:w val="0.89610526181121308"/>
          <c:h val="0.748454464820976"/>
        </c:manualLayout>
      </c:layout>
      <c:lineChart>
        <c:grouping val="standard"/>
        <c:varyColors val="0"/>
        <c:ser>
          <c:idx val="0"/>
          <c:order val="0"/>
          <c:tx>
            <c:strRef>
              <c:f>Sheet1!$C$1</c:f>
              <c:strCache>
                <c:ptCount val="1"/>
                <c:pt idx="0">
                  <c:v>Baseline Scenario</c:v>
                </c:pt>
              </c:strCache>
            </c:strRef>
          </c:tx>
          <c:marker>
            <c:symbol val="none"/>
          </c:marker>
          <c:cat>
            <c:numRef>
              <c:f>Sheet1!$B$2:$B$69</c:f>
              <c:numCache>
                <c:formatCode>General</c:formatCode>
                <c:ptCount val="68"/>
                <c:pt idx="0">
                  <c:v>2001</c:v>
                </c:pt>
                <c:pt idx="1">
                  <c:v>2001</c:v>
                </c:pt>
                <c:pt idx="2">
                  <c:v>2001</c:v>
                </c:pt>
                <c:pt idx="3">
                  <c:v>2001</c:v>
                </c:pt>
                <c:pt idx="4">
                  <c:v>2002</c:v>
                </c:pt>
                <c:pt idx="5">
                  <c:v>2002</c:v>
                </c:pt>
                <c:pt idx="6">
                  <c:v>2002</c:v>
                </c:pt>
                <c:pt idx="7">
                  <c:v>2002</c:v>
                </c:pt>
                <c:pt idx="8">
                  <c:v>2003</c:v>
                </c:pt>
                <c:pt idx="9">
                  <c:v>2003</c:v>
                </c:pt>
                <c:pt idx="10">
                  <c:v>2003</c:v>
                </c:pt>
                <c:pt idx="11">
                  <c:v>2003</c:v>
                </c:pt>
                <c:pt idx="12">
                  <c:v>2004</c:v>
                </c:pt>
                <c:pt idx="13">
                  <c:v>2004</c:v>
                </c:pt>
                <c:pt idx="14">
                  <c:v>2004</c:v>
                </c:pt>
                <c:pt idx="15">
                  <c:v>2004</c:v>
                </c:pt>
                <c:pt idx="16">
                  <c:v>2005</c:v>
                </c:pt>
                <c:pt idx="17">
                  <c:v>2005</c:v>
                </c:pt>
                <c:pt idx="18">
                  <c:v>2005</c:v>
                </c:pt>
                <c:pt idx="19">
                  <c:v>2005</c:v>
                </c:pt>
                <c:pt idx="20">
                  <c:v>2006</c:v>
                </c:pt>
                <c:pt idx="21">
                  <c:v>2006</c:v>
                </c:pt>
                <c:pt idx="22">
                  <c:v>2006</c:v>
                </c:pt>
                <c:pt idx="23">
                  <c:v>2006</c:v>
                </c:pt>
                <c:pt idx="24">
                  <c:v>2007</c:v>
                </c:pt>
                <c:pt idx="25">
                  <c:v>2007</c:v>
                </c:pt>
                <c:pt idx="26">
                  <c:v>2007</c:v>
                </c:pt>
                <c:pt idx="27">
                  <c:v>2007</c:v>
                </c:pt>
                <c:pt idx="28">
                  <c:v>2008</c:v>
                </c:pt>
                <c:pt idx="29">
                  <c:v>2008</c:v>
                </c:pt>
                <c:pt idx="30">
                  <c:v>2008</c:v>
                </c:pt>
                <c:pt idx="31">
                  <c:v>2008</c:v>
                </c:pt>
                <c:pt idx="32">
                  <c:v>2009</c:v>
                </c:pt>
                <c:pt idx="33">
                  <c:v>2009</c:v>
                </c:pt>
                <c:pt idx="34">
                  <c:v>2009</c:v>
                </c:pt>
                <c:pt idx="35">
                  <c:v>2009</c:v>
                </c:pt>
                <c:pt idx="36">
                  <c:v>2010</c:v>
                </c:pt>
                <c:pt idx="37">
                  <c:v>2010</c:v>
                </c:pt>
                <c:pt idx="38">
                  <c:v>2010</c:v>
                </c:pt>
                <c:pt idx="39">
                  <c:v>2010</c:v>
                </c:pt>
                <c:pt idx="40">
                  <c:v>2011</c:v>
                </c:pt>
                <c:pt idx="41">
                  <c:v>2011</c:v>
                </c:pt>
                <c:pt idx="42">
                  <c:v>2011</c:v>
                </c:pt>
                <c:pt idx="43">
                  <c:v>2011</c:v>
                </c:pt>
                <c:pt idx="44">
                  <c:v>2012</c:v>
                </c:pt>
                <c:pt idx="45">
                  <c:v>2012</c:v>
                </c:pt>
                <c:pt idx="46">
                  <c:v>2012</c:v>
                </c:pt>
                <c:pt idx="47">
                  <c:v>2012</c:v>
                </c:pt>
                <c:pt idx="48">
                  <c:v>2013</c:v>
                </c:pt>
                <c:pt idx="49">
                  <c:v>2013</c:v>
                </c:pt>
                <c:pt idx="50">
                  <c:v>2013</c:v>
                </c:pt>
                <c:pt idx="51">
                  <c:v>2013</c:v>
                </c:pt>
                <c:pt idx="52">
                  <c:v>2014</c:v>
                </c:pt>
                <c:pt idx="53">
                  <c:v>2014</c:v>
                </c:pt>
                <c:pt idx="54">
                  <c:v>2014</c:v>
                </c:pt>
                <c:pt idx="55">
                  <c:v>2014</c:v>
                </c:pt>
                <c:pt idx="56">
                  <c:v>2015</c:v>
                </c:pt>
                <c:pt idx="57">
                  <c:v>2015</c:v>
                </c:pt>
                <c:pt idx="58">
                  <c:v>2015</c:v>
                </c:pt>
                <c:pt idx="59">
                  <c:v>2015</c:v>
                </c:pt>
                <c:pt idx="60">
                  <c:v>2016</c:v>
                </c:pt>
                <c:pt idx="61">
                  <c:v>2016</c:v>
                </c:pt>
                <c:pt idx="62">
                  <c:v>2016</c:v>
                </c:pt>
                <c:pt idx="63">
                  <c:v>2016</c:v>
                </c:pt>
                <c:pt idx="64">
                  <c:v>2017</c:v>
                </c:pt>
                <c:pt idx="65">
                  <c:v>2017</c:v>
                </c:pt>
                <c:pt idx="66">
                  <c:v>2017</c:v>
                </c:pt>
                <c:pt idx="67">
                  <c:v>2017</c:v>
                </c:pt>
              </c:numCache>
            </c:numRef>
          </c:cat>
          <c:val>
            <c:numRef>
              <c:f>Sheet1!$C$2:$C$69</c:f>
              <c:numCache>
                <c:formatCode>0.0</c:formatCode>
                <c:ptCount val="68"/>
                <c:pt idx="0">
                  <c:v>139.5</c:v>
                </c:pt>
                <c:pt idx="1">
                  <c:v>138.6</c:v>
                </c:pt>
                <c:pt idx="2">
                  <c:v>141</c:v>
                </c:pt>
                <c:pt idx="3">
                  <c:v>135.6</c:v>
                </c:pt>
                <c:pt idx="4">
                  <c:v>137.4</c:v>
                </c:pt>
                <c:pt idx="5">
                  <c:v>135.80000000000001</c:v>
                </c:pt>
                <c:pt idx="6">
                  <c:v>138.69999999999999</c:v>
                </c:pt>
                <c:pt idx="7">
                  <c:v>142.5</c:v>
                </c:pt>
                <c:pt idx="8">
                  <c:v>147.9</c:v>
                </c:pt>
                <c:pt idx="9">
                  <c:v>149.19999999999999</c:v>
                </c:pt>
                <c:pt idx="10">
                  <c:v>147.30000000000001</c:v>
                </c:pt>
                <c:pt idx="11">
                  <c:v>145.69999999999999</c:v>
                </c:pt>
                <c:pt idx="12">
                  <c:v>152.9</c:v>
                </c:pt>
                <c:pt idx="13">
                  <c:v>160.4</c:v>
                </c:pt>
                <c:pt idx="14">
                  <c:v>171.8</c:v>
                </c:pt>
                <c:pt idx="15">
                  <c:v>175.8</c:v>
                </c:pt>
                <c:pt idx="16">
                  <c:v>175.8</c:v>
                </c:pt>
                <c:pt idx="17">
                  <c:v>182.3</c:v>
                </c:pt>
                <c:pt idx="18">
                  <c:v>187.1</c:v>
                </c:pt>
                <c:pt idx="19">
                  <c:v>195.4</c:v>
                </c:pt>
                <c:pt idx="20">
                  <c:v>200</c:v>
                </c:pt>
                <c:pt idx="21">
                  <c:v>209</c:v>
                </c:pt>
                <c:pt idx="22">
                  <c:v>218.6</c:v>
                </c:pt>
                <c:pt idx="23">
                  <c:v>217.3</c:v>
                </c:pt>
                <c:pt idx="24">
                  <c:v>227.1</c:v>
                </c:pt>
                <c:pt idx="25">
                  <c:v>236.4</c:v>
                </c:pt>
                <c:pt idx="26">
                  <c:v>249.1</c:v>
                </c:pt>
                <c:pt idx="27">
                  <c:v>251.5</c:v>
                </c:pt>
                <c:pt idx="28">
                  <c:v>239.9</c:v>
                </c:pt>
                <c:pt idx="29">
                  <c:v>223.9</c:v>
                </c:pt>
                <c:pt idx="30">
                  <c:v>233.4</c:v>
                </c:pt>
                <c:pt idx="31">
                  <c:v>222.5</c:v>
                </c:pt>
                <c:pt idx="32">
                  <c:v>208.9</c:v>
                </c:pt>
                <c:pt idx="33">
                  <c:v>178.5</c:v>
                </c:pt>
                <c:pt idx="34">
                  <c:v>154</c:v>
                </c:pt>
                <c:pt idx="35">
                  <c:v>155.19999999999999</c:v>
                </c:pt>
                <c:pt idx="36">
                  <c:v>149.80000000000001</c:v>
                </c:pt>
                <c:pt idx="37">
                  <c:v>164.5</c:v>
                </c:pt>
                <c:pt idx="38">
                  <c:v>166.9</c:v>
                </c:pt>
                <c:pt idx="39">
                  <c:v>172.7</c:v>
                </c:pt>
                <c:pt idx="40">
                  <c:v>179.6</c:v>
                </c:pt>
                <c:pt idx="41">
                  <c:v>177</c:v>
                </c:pt>
                <c:pt idx="42">
                  <c:v>177</c:v>
                </c:pt>
                <c:pt idx="43">
                  <c:v>188.4</c:v>
                </c:pt>
                <c:pt idx="44">
                  <c:v>188.2</c:v>
                </c:pt>
                <c:pt idx="45">
                  <c:v>189.4</c:v>
                </c:pt>
                <c:pt idx="46">
                  <c:v>196.6</c:v>
                </c:pt>
                <c:pt idx="47">
                  <c:v>198.3</c:v>
                </c:pt>
                <c:pt idx="48">
                  <c:v>203.2</c:v>
                </c:pt>
                <c:pt idx="49">
                  <c:v>212.4</c:v>
                </c:pt>
                <c:pt idx="50">
                  <c:v>222.8</c:v>
                </c:pt>
                <c:pt idx="51">
                  <c:v>229.2</c:v>
                </c:pt>
                <c:pt idx="52">
                  <c:v>227.6</c:v>
                </c:pt>
                <c:pt idx="53">
                  <c:v>233</c:v>
                </c:pt>
                <c:pt idx="54">
                  <c:v>236</c:v>
                </c:pt>
                <c:pt idx="55">
                  <c:v>238.9</c:v>
                </c:pt>
                <c:pt idx="56">
                  <c:v>241.9</c:v>
                </c:pt>
                <c:pt idx="57">
                  <c:v>245</c:v>
                </c:pt>
                <c:pt idx="58">
                  <c:v>248.1</c:v>
                </c:pt>
                <c:pt idx="59">
                  <c:v>251.2</c:v>
                </c:pt>
                <c:pt idx="60">
                  <c:v>253.1</c:v>
                </c:pt>
                <c:pt idx="61">
                  <c:v>255</c:v>
                </c:pt>
                <c:pt idx="62">
                  <c:v>256.89999999999998</c:v>
                </c:pt>
                <c:pt idx="63">
                  <c:v>258.8</c:v>
                </c:pt>
                <c:pt idx="64">
                  <c:v>260.8</c:v>
                </c:pt>
                <c:pt idx="65">
                  <c:v>262.7</c:v>
                </c:pt>
                <c:pt idx="66">
                  <c:v>264.7</c:v>
                </c:pt>
                <c:pt idx="67">
                  <c:v>266.7</c:v>
                </c:pt>
              </c:numCache>
            </c:numRef>
          </c:val>
          <c:smooth val="0"/>
        </c:ser>
        <c:ser>
          <c:idx val="1"/>
          <c:order val="1"/>
          <c:tx>
            <c:strRef>
              <c:f>Sheet1!$D$1</c:f>
              <c:strCache>
                <c:ptCount val="1"/>
                <c:pt idx="0">
                  <c:v>Adverse Scenario</c:v>
                </c:pt>
              </c:strCache>
            </c:strRef>
          </c:tx>
          <c:marker>
            <c:symbol val="none"/>
          </c:marker>
          <c:cat>
            <c:numRef>
              <c:f>Sheet1!$B$2:$B$69</c:f>
              <c:numCache>
                <c:formatCode>General</c:formatCode>
                <c:ptCount val="68"/>
                <c:pt idx="0">
                  <c:v>2001</c:v>
                </c:pt>
                <c:pt idx="1">
                  <c:v>2001</c:v>
                </c:pt>
                <c:pt idx="2">
                  <c:v>2001</c:v>
                </c:pt>
                <c:pt idx="3">
                  <c:v>2001</c:v>
                </c:pt>
                <c:pt idx="4">
                  <c:v>2002</c:v>
                </c:pt>
                <c:pt idx="5">
                  <c:v>2002</c:v>
                </c:pt>
                <c:pt idx="6">
                  <c:v>2002</c:v>
                </c:pt>
                <c:pt idx="7">
                  <c:v>2002</c:v>
                </c:pt>
                <c:pt idx="8">
                  <c:v>2003</c:v>
                </c:pt>
                <c:pt idx="9">
                  <c:v>2003</c:v>
                </c:pt>
                <c:pt idx="10">
                  <c:v>2003</c:v>
                </c:pt>
                <c:pt idx="11">
                  <c:v>2003</c:v>
                </c:pt>
                <c:pt idx="12">
                  <c:v>2004</c:v>
                </c:pt>
                <c:pt idx="13">
                  <c:v>2004</c:v>
                </c:pt>
                <c:pt idx="14">
                  <c:v>2004</c:v>
                </c:pt>
                <c:pt idx="15">
                  <c:v>2004</c:v>
                </c:pt>
                <c:pt idx="16">
                  <c:v>2005</c:v>
                </c:pt>
                <c:pt idx="17">
                  <c:v>2005</c:v>
                </c:pt>
                <c:pt idx="18">
                  <c:v>2005</c:v>
                </c:pt>
                <c:pt idx="19">
                  <c:v>2005</c:v>
                </c:pt>
                <c:pt idx="20">
                  <c:v>2006</c:v>
                </c:pt>
                <c:pt idx="21">
                  <c:v>2006</c:v>
                </c:pt>
                <c:pt idx="22">
                  <c:v>2006</c:v>
                </c:pt>
                <c:pt idx="23">
                  <c:v>2006</c:v>
                </c:pt>
                <c:pt idx="24">
                  <c:v>2007</c:v>
                </c:pt>
                <c:pt idx="25">
                  <c:v>2007</c:v>
                </c:pt>
                <c:pt idx="26">
                  <c:v>2007</c:v>
                </c:pt>
                <c:pt idx="27">
                  <c:v>2007</c:v>
                </c:pt>
                <c:pt idx="28">
                  <c:v>2008</c:v>
                </c:pt>
                <c:pt idx="29">
                  <c:v>2008</c:v>
                </c:pt>
                <c:pt idx="30">
                  <c:v>2008</c:v>
                </c:pt>
                <c:pt idx="31">
                  <c:v>2008</c:v>
                </c:pt>
                <c:pt idx="32">
                  <c:v>2009</c:v>
                </c:pt>
                <c:pt idx="33">
                  <c:v>2009</c:v>
                </c:pt>
                <c:pt idx="34">
                  <c:v>2009</c:v>
                </c:pt>
                <c:pt idx="35">
                  <c:v>2009</c:v>
                </c:pt>
                <c:pt idx="36">
                  <c:v>2010</c:v>
                </c:pt>
                <c:pt idx="37">
                  <c:v>2010</c:v>
                </c:pt>
                <c:pt idx="38">
                  <c:v>2010</c:v>
                </c:pt>
                <c:pt idx="39">
                  <c:v>2010</c:v>
                </c:pt>
                <c:pt idx="40">
                  <c:v>2011</c:v>
                </c:pt>
                <c:pt idx="41">
                  <c:v>2011</c:v>
                </c:pt>
                <c:pt idx="42">
                  <c:v>2011</c:v>
                </c:pt>
                <c:pt idx="43">
                  <c:v>2011</c:v>
                </c:pt>
                <c:pt idx="44">
                  <c:v>2012</c:v>
                </c:pt>
                <c:pt idx="45">
                  <c:v>2012</c:v>
                </c:pt>
                <c:pt idx="46">
                  <c:v>2012</c:v>
                </c:pt>
                <c:pt idx="47">
                  <c:v>2012</c:v>
                </c:pt>
                <c:pt idx="48">
                  <c:v>2013</c:v>
                </c:pt>
                <c:pt idx="49">
                  <c:v>2013</c:v>
                </c:pt>
                <c:pt idx="50">
                  <c:v>2013</c:v>
                </c:pt>
                <c:pt idx="51">
                  <c:v>2013</c:v>
                </c:pt>
                <c:pt idx="52">
                  <c:v>2014</c:v>
                </c:pt>
                <c:pt idx="53">
                  <c:v>2014</c:v>
                </c:pt>
                <c:pt idx="54">
                  <c:v>2014</c:v>
                </c:pt>
                <c:pt idx="55">
                  <c:v>2014</c:v>
                </c:pt>
                <c:pt idx="56">
                  <c:v>2015</c:v>
                </c:pt>
                <c:pt idx="57">
                  <c:v>2015</c:v>
                </c:pt>
                <c:pt idx="58">
                  <c:v>2015</c:v>
                </c:pt>
                <c:pt idx="59">
                  <c:v>2015</c:v>
                </c:pt>
                <c:pt idx="60">
                  <c:v>2016</c:v>
                </c:pt>
                <c:pt idx="61">
                  <c:v>2016</c:v>
                </c:pt>
                <c:pt idx="62">
                  <c:v>2016</c:v>
                </c:pt>
                <c:pt idx="63">
                  <c:v>2016</c:v>
                </c:pt>
                <c:pt idx="64">
                  <c:v>2017</c:v>
                </c:pt>
                <c:pt idx="65">
                  <c:v>2017</c:v>
                </c:pt>
                <c:pt idx="66">
                  <c:v>2017</c:v>
                </c:pt>
                <c:pt idx="67">
                  <c:v>2017</c:v>
                </c:pt>
              </c:numCache>
            </c:numRef>
          </c:cat>
          <c:val>
            <c:numRef>
              <c:f>Sheet1!$D$2:$D$69</c:f>
              <c:numCache>
                <c:formatCode>0.0</c:formatCode>
                <c:ptCount val="68"/>
                <c:pt idx="0">
                  <c:v>139.5</c:v>
                </c:pt>
                <c:pt idx="1">
                  <c:v>138.6</c:v>
                </c:pt>
                <c:pt idx="2">
                  <c:v>141</c:v>
                </c:pt>
                <c:pt idx="3">
                  <c:v>135.6</c:v>
                </c:pt>
                <c:pt idx="4">
                  <c:v>137.4</c:v>
                </c:pt>
                <c:pt idx="5">
                  <c:v>135.80000000000001</c:v>
                </c:pt>
                <c:pt idx="6">
                  <c:v>138.69999999999999</c:v>
                </c:pt>
                <c:pt idx="7">
                  <c:v>142.5</c:v>
                </c:pt>
                <c:pt idx="8">
                  <c:v>147.9</c:v>
                </c:pt>
                <c:pt idx="9">
                  <c:v>149.19999999999999</c:v>
                </c:pt>
                <c:pt idx="10">
                  <c:v>147.30000000000001</c:v>
                </c:pt>
                <c:pt idx="11">
                  <c:v>145.69999999999999</c:v>
                </c:pt>
                <c:pt idx="12">
                  <c:v>152.9</c:v>
                </c:pt>
                <c:pt idx="13">
                  <c:v>160.4</c:v>
                </c:pt>
                <c:pt idx="14">
                  <c:v>171.8</c:v>
                </c:pt>
                <c:pt idx="15">
                  <c:v>175.8</c:v>
                </c:pt>
                <c:pt idx="16">
                  <c:v>175.8</c:v>
                </c:pt>
                <c:pt idx="17">
                  <c:v>182.3</c:v>
                </c:pt>
                <c:pt idx="18">
                  <c:v>187.1</c:v>
                </c:pt>
                <c:pt idx="19">
                  <c:v>195.4</c:v>
                </c:pt>
                <c:pt idx="20">
                  <c:v>200</c:v>
                </c:pt>
                <c:pt idx="21">
                  <c:v>209</c:v>
                </c:pt>
                <c:pt idx="22">
                  <c:v>218.6</c:v>
                </c:pt>
                <c:pt idx="23">
                  <c:v>217.3</c:v>
                </c:pt>
                <c:pt idx="24">
                  <c:v>227.1</c:v>
                </c:pt>
                <c:pt idx="25">
                  <c:v>236.4</c:v>
                </c:pt>
                <c:pt idx="26">
                  <c:v>249.1</c:v>
                </c:pt>
                <c:pt idx="27">
                  <c:v>251.5</c:v>
                </c:pt>
                <c:pt idx="28">
                  <c:v>239.9</c:v>
                </c:pt>
                <c:pt idx="29">
                  <c:v>223.9</c:v>
                </c:pt>
                <c:pt idx="30">
                  <c:v>233.4</c:v>
                </c:pt>
                <c:pt idx="31">
                  <c:v>222.5</c:v>
                </c:pt>
                <c:pt idx="32">
                  <c:v>208.9</c:v>
                </c:pt>
                <c:pt idx="33">
                  <c:v>178.5</c:v>
                </c:pt>
                <c:pt idx="34">
                  <c:v>154</c:v>
                </c:pt>
                <c:pt idx="35">
                  <c:v>155.19999999999999</c:v>
                </c:pt>
                <c:pt idx="36">
                  <c:v>149.80000000000001</c:v>
                </c:pt>
                <c:pt idx="37">
                  <c:v>164.5</c:v>
                </c:pt>
                <c:pt idx="38">
                  <c:v>166.9</c:v>
                </c:pt>
                <c:pt idx="39">
                  <c:v>172.7</c:v>
                </c:pt>
                <c:pt idx="40">
                  <c:v>179.6</c:v>
                </c:pt>
                <c:pt idx="41">
                  <c:v>177</c:v>
                </c:pt>
                <c:pt idx="42">
                  <c:v>177</c:v>
                </c:pt>
                <c:pt idx="43">
                  <c:v>188.4</c:v>
                </c:pt>
                <c:pt idx="44">
                  <c:v>188.2</c:v>
                </c:pt>
                <c:pt idx="45">
                  <c:v>189.4</c:v>
                </c:pt>
                <c:pt idx="46">
                  <c:v>196.6</c:v>
                </c:pt>
                <c:pt idx="47">
                  <c:v>198.3</c:v>
                </c:pt>
                <c:pt idx="48">
                  <c:v>203.2</c:v>
                </c:pt>
                <c:pt idx="49">
                  <c:v>212.4</c:v>
                </c:pt>
                <c:pt idx="50">
                  <c:v>222.8</c:v>
                </c:pt>
                <c:pt idx="51">
                  <c:v>229.2</c:v>
                </c:pt>
                <c:pt idx="52">
                  <c:v>227.6</c:v>
                </c:pt>
                <c:pt idx="53">
                  <c:v>233</c:v>
                </c:pt>
                <c:pt idx="54">
                  <c:v>236</c:v>
                </c:pt>
                <c:pt idx="55">
                  <c:v>238.9</c:v>
                </c:pt>
                <c:pt idx="56">
                  <c:v>235.3</c:v>
                </c:pt>
                <c:pt idx="57">
                  <c:v>228.1</c:v>
                </c:pt>
                <c:pt idx="58">
                  <c:v>220.8</c:v>
                </c:pt>
                <c:pt idx="59">
                  <c:v>214.8</c:v>
                </c:pt>
                <c:pt idx="60">
                  <c:v>207.7</c:v>
                </c:pt>
                <c:pt idx="61">
                  <c:v>202.9</c:v>
                </c:pt>
                <c:pt idx="62">
                  <c:v>199.6</c:v>
                </c:pt>
                <c:pt idx="63">
                  <c:v>197.7</c:v>
                </c:pt>
                <c:pt idx="64">
                  <c:v>196.6</c:v>
                </c:pt>
                <c:pt idx="65">
                  <c:v>196.5</c:v>
                </c:pt>
                <c:pt idx="66">
                  <c:v>196.6</c:v>
                </c:pt>
                <c:pt idx="67">
                  <c:v>197.1</c:v>
                </c:pt>
              </c:numCache>
            </c:numRef>
          </c:val>
          <c:smooth val="0"/>
        </c:ser>
        <c:ser>
          <c:idx val="2"/>
          <c:order val="2"/>
          <c:tx>
            <c:strRef>
              <c:f>Sheet1!$E$1</c:f>
              <c:strCache>
                <c:ptCount val="1"/>
                <c:pt idx="0">
                  <c:v>Severely Adverse Scenario</c:v>
                </c:pt>
              </c:strCache>
            </c:strRef>
          </c:tx>
          <c:marker>
            <c:symbol val="none"/>
          </c:marker>
          <c:cat>
            <c:numRef>
              <c:f>Sheet1!$B$2:$B$69</c:f>
              <c:numCache>
                <c:formatCode>General</c:formatCode>
                <c:ptCount val="68"/>
                <c:pt idx="0">
                  <c:v>2001</c:v>
                </c:pt>
                <c:pt idx="1">
                  <c:v>2001</c:v>
                </c:pt>
                <c:pt idx="2">
                  <c:v>2001</c:v>
                </c:pt>
                <c:pt idx="3">
                  <c:v>2001</c:v>
                </c:pt>
                <c:pt idx="4">
                  <c:v>2002</c:v>
                </c:pt>
                <c:pt idx="5">
                  <c:v>2002</c:v>
                </c:pt>
                <c:pt idx="6">
                  <c:v>2002</c:v>
                </c:pt>
                <c:pt idx="7">
                  <c:v>2002</c:v>
                </c:pt>
                <c:pt idx="8">
                  <c:v>2003</c:v>
                </c:pt>
                <c:pt idx="9">
                  <c:v>2003</c:v>
                </c:pt>
                <c:pt idx="10">
                  <c:v>2003</c:v>
                </c:pt>
                <c:pt idx="11">
                  <c:v>2003</c:v>
                </c:pt>
                <c:pt idx="12">
                  <c:v>2004</c:v>
                </c:pt>
                <c:pt idx="13">
                  <c:v>2004</c:v>
                </c:pt>
                <c:pt idx="14">
                  <c:v>2004</c:v>
                </c:pt>
                <c:pt idx="15">
                  <c:v>2004</c:v>
                </c:pt>
                <c:pt idx="16">
                  <c:v>2005</c:v>
                </c:pt>
                <c:pt idx="17">
                  <c:v>2005</c:v>
                </c:pt>
                <c:pt idx="18">
                  <c:v>2005</c:v>
                </c:pt>
                <c:pt idx="19">
                  <c:v>2005</c:v>
                </c:pt>
                <c:pt idx="20">
                  <c:v>2006</c:v>
                </c:pt>
                <c:pt idx="21">
                  <c:v>2006</c:v>
                </c:pt>
                <c:pt idx="22">
                  <c:v>2006</c:v>
                </c:pt>
                <c:pt idx="23">
                  <c:v>2006</c:v>
                </c:pt>
                <c:pt idx="24">
                  <c:v>2007</c:v>
                </c:pt>
                <c:pt idx="25">
                  <c:v>2007</c:v>
                </c:pt>
                <c:pt idx="26">
                  <c:v>2007</c:v>
                </c:pt>
                <c:pt idx="27">
                  <c:v>2007</c:v>
                </c:pt>
                <c:pt idx="28">
                  <c:v>2008</c:v>
                </c:pt>
                <c:pt idx="29">
                  <c:v>2008</c:v>
                </c:pt>
                <c:pt idx="30">
                  <c:v>2008</c:v>
                </c:pt>
                <c:pt idx="31">
                  <c:v>2008</c:v>
                </c:pt>
                <c:pt idx="32">
                  <c:v>2009</c:v>
                </c:pt>
                <c:pt idx="33">
                  <c:v>2009</c:v>
                </c:pt>
                <c:pt idx="34">
                  <c:v>2009</c:v>
                </c:pt>
                <c:pt idx="35">
                  <c:v>2009</c:v>
                </c:pt>
                <c:pt idx="36">
                  <c:v>2010</c:v>
                </c:pt>
                <c:pt idx="37">
                  <c:v>2010</c:v>
                </c:pt>
                <c:pt idx="38">
                  <c:v>2010</c:v>
                </c:pt>
                <c:pt idx="39">
                  <c:v>2010</c:v>
                </c:pt>
                <c:pt idx="40">
                  <c:v>2011</c:v>
                </c:pt>
                <c:pt idx="41">
                  <c:v>2011</c:v>
                </c:pt>
                <c:pt idx="42">
                  <c:v>2011</c:v>
                </c:pt>
                <c:pt idx="43">
                  <c:v>2011</c:v>
                </c:pt>
                <c:pt idx="44">
                  <c:v>2012</c:v>
                </c:pt>
                <c:pt idx="45">
                  <c:v>2012</c:v>
                </c:pt>
                <c:pt idx="46">
                  <c:v>2012</c:v>
                </c:pt>
                <c:pt idx="47">
                  <c:v>2012</c:v>
                </c:pt>
                <c:pt idx="48">
                  <c:v>2013</c:v>
                </c:pt>
                <c:pt idx="49">
                  <c:v>2013</c:v>
                </c:pt>
                <c:pt idx="50">
                  <c:v>2013</c:v>
                </c:pt>
                <c:pt idx="51">
                  <c:v>2013</c:v>
                </c:pt>
                <c:pt idx="52">
                  <c:v>2014</c:v>
                </c:pt>
                <c:pt idx="53">
                  <c:v>2014</c:v>
                </c:pt>
                <c:pt idx="54">
                  <c:v>2014</c:v>
                </c:pt>
                <c:pt idx="55">
                  <c:v>2014</c:v>
                </c:pt>
                <c:pt idx="56">
                  <c:v>2015</c:v>
                </c:pt>
                <c:pt idx="57">
                  <c:v>2015</c:v>
                </c:pt>
                <c:pt idx="58">
                  <c:v>2015</c:v>
                </c:pt>
                <c:pt idx="59">
                  <c:v>2015</c:v>
                </c:pt>
                <c:pt idx="60">
                  <c:v>2016</c:v>
                </c:pt>
                <c:pt idx="61">
                  <c:v>2016</c:v>
                </c:pt>
                <c:pt idx="62">
                  <c:v>2016</c:v>
                </c:pt>
                <c:pt idx="63">
                  <c:v>2016</c:v>
                </c:pt>
                <c:pt idx="64">
                  <c:v>2017</c:v>
                </c:pt>
                <c:pt idx="65">
                  <c:v>2017</c:v>
                </c:pt>
                <c:pt idx="66">
                  <c:v>2017</c:v>
                </c:pt>
                <c:pt idx="67">
                  <c:v>2017</c:v>
                </c:pt>
              </c:numCache>
            </c:numRef>
          </c:cat>
          <c:val>
            <c:numRef>
              <c:f>Sheet1!$E$2:$E$69</c:f>
              <c:numCache>
                <c:formatCode>0.0</c:formatCode>
                <c:ptCount val="68"/>
                <c:pt idx="0">
                  <c:v>139.5</c:v>
                </c:pt>
                <c:pt idx="1">
                  <c:v>138.6</c:v>
                </c:pt>
                <c:pt idx="2">
                  <c:v>141</c:v>
                </c:pt>
                <c:pt idx="3">
                  <c:v>135.6</c:v>
                </c:pt>
                <c:pt idx="4">
                  <c:v>137.4</c:v>
                </c:pt>
                <c:pt idx="5">
                  <c:v>135.80000000000001</c:v>
                </c:pt>
                <c:pt idx="6">
                  <c:v>138.69999999999999</c:v>
                </c:pt>
                <c:pt idx="7">
                  <c:v>142.5</c:v>
                </c:pt>
                <c:pt idx="8">
                  <c:v>147.9</c:v>
                </c:pt>
                <c:pt idx="9">
                  <c:v>149.19999999999999</c:v>
                </c:pt>
                <c:pt idx="10">
                  <c:v>147.30000000000001</c:v>
                </c:pt>
                <c:pt idx="11">
                  <c:v>145.69999999999999</c:v>
                </c:pt>
                <c:pt idx="12">
                  <c:v>152.9</c:v>
                </c:pt>
                <c:pt idx="13">
                  <c:v>160.4</c:v>
                </c:pt>
                <c:pt idx="14">
                  <c:v>171.8</c:v>
                </c:pt>
                <c:pt idx="15">
                  <c:v>175.8</c:v>
                </c:pt>
                <c:pt idx="16">
                  <c:v>175.8</c:v>
                </c:pt>
                <c:pt idx="17">
                  <c:v>182.3</c:v>
                </c:pt>
                <c:pt idx="18">
                  <c:v>187.1</c:v>
                </c:pt>
                <c:pt idx="19">
                  <c:v>195.4</c:v>
                </c:pt>
                <c:pt idx="20">
                  <c:v>200</c:v>
                </c:pt>
                <c:pt idx="21">
                  <c:v>209</c:v>
                </c:pt>
                <c:pt idx="22">
                  <c:v>218.6</c:v>
                </c:pt>
                <c:pt idx="23">
                  <c:v>217.3</c:v>
                </c:pt>
                <c:pt idx="24">
                  <c:v>227.1</c:v>
                </c:pt>
                <c:pt idx="25">
                  <c:v>236.4</c:v>
                </c:pt>
                <c:pt idx="26">
                  <c:v>249.1</c:v>
                </c:pt>
                <c:pt idx="27">
                  <c:v>251.5</c:v>
                </c:pt>
                <c:pt idx="28">
                  <c:v>239.9</c:v>
                </c:pt>
                <c:pt idx="29">
                  <c:v>223.9</c:v>
                </c:pt>
                <c:pt idx="30">
                  <c:v>233.4</c:v>
                </c:pt>
                <c:pt idx="31">
                  <c:v>222.5</c:v>
                </c:pt>
                <c:pt idx="32">
                  <c:v>208.9</c:v>
                </c:pt>
                <c:pt idx="33">
                  <c:v>178.5</c:v>
                </c:pt>
                <c:pt idx="34">
                  <c:v>154</c:v>
                </c:pt>
                <c:pt idx="35">
                  <c:v>155.19999999999999</c:v>
                </c:pt>
                <c:pt idx="36">
                  <c:v>149.80000000000001</c:v>
                </c:pt>
                <c:pt idx="37">
                  <c:v>164.5</c:v>
                </c:pt>
                <c:pt idx="38">
                  <c:v>166.9</c:v>
                </c:pt>
                <c:pt idx="39">
                  <c:v>172.7</c:v>
                </c:pt>
                <c:pt idx="40">
                  <c:v>179.6</c:v>
                </c:pt>
                <c:pt idx="41">
                  <c:v>177</c:v>
                </c:pt>
                <c:pt idx="42">
                  <c:v>177</c:v>
                </c:pt>
                <c:pt idx="43">
                  <c:v>188.4</c:v>
                </c:pt>
                <c:pt idx="44">
                  <c:v>188.2</c:v>
                </c:pt>
                <c:pt idx="45">
                  <c:v>189.4</c:v>
                </c:pt>
                <c:pt idx="46">
                  <c:v>196.6</c:v>
                </c:pt>
                <c:pt idx="47">
                  <c:v>198.3</c:v>
                </c:pt>
                <c:pt idx="48">
                  <c:v>203.2</c:v>
                </c:pt>
                <c:pt idx="49">
                  <c:v>212.4</c:v>
                </c:pt>
                <c:pt idx="50">
                  <c:v>222.8</c:v>
                </c:pt>
                <c:pt idx="51">
                  <c:v>229.2</c:v>
                </c:pt>
                <c:pt idx="52">
                  <c:v>227.6</c:v>
                </c:pt>
                <c:pt idx="53">
                  <c:v>233</c:v>
                </c:pt>
                <c:pt idx="54">
                  <c:v>236</c:v>
                </c:pt>
                <c:pt idx="55">
                  <c:v>238.9</c:v>
                </c:pt>
                <c:pt idx="56">
                  <c:v>230.2</c:v>
                </c:pt>
                <c:pt idx="57">
                  <c:v>213.6</c:v>
                </c:pt>
                <c:pt idx="58">
                  <c:v>195.1</c:v>
                </c:pt>
                <c:pt idx="59">
                  <c:v>177.6</c:v>
                </c:pt>
                <c:pt idx="60">
                  <c:v>164.4</c:v>
                </c:pt>
                <c:pt idx="61">
                  <c:v>157.4</c:v>
                </c:pt>
                <c:pt idx="62">
                  <c:v>154.4</c:v>
                </c:pt>
                <c:pt idx="63">
                  <c:v>154.6</c:v>
                </c:pt>
                <c:pt idx="64">
                  <c:v>156.1</c:v>
                </c:pt>
                <c:pt idx="65">
                  <c:v>159.6</c:v>
                </c:pt>
                <c:pt idx="66">
                  <c:v>164</c:v>
                </c:pt>
                <c:pt idx="67">
                  <c:v>169.1</c:v>
                </c:pt>
              </c:numCache>
            </c:numRef>
          </c:val>
          <c:smooth val="0"/>
        </c:ser>
        <c:dLbls>
          <c:showLegendKey val="0"/>
          <c:showVal val="0"/>
          <c:showCatName val="0"/>
          <c:showSerName val="0"/>
          <c:showPercent val="0"/>
          <c:showBubbleSize val="0"/>
        </c:dLbls>
        <c:marker val="1"/>
        <c:smooth val="0"/>
        <c:axId val="110655744"/>
        <c:axId val="110669824"/>
      </c:lineChart>
      <c:catAx>
        <c:axId val="110655744"/>
        <c:scaling>
          <c:orientation val="minMax"/>
        </c:scaling>
        <c:delete val="0"/>
        <c:axPos val="b"/>
        <c:numFmt formatCode="General" sourceLinked="1"/>
        <c:majorTickMark val="out"/>
        <c:minorTickMark val="none"/>
        <c:tickLblPos val="nextTo"/>
        <c:spPr>
          <a:ln>
            <a:solidFill>
              <a:schemeClr val="tx2"/>
            </a:solidFill>
          </a:ln>
        </c:spPr>
        <c:crossAx val="110669824"/>
        <c:crosses val="autoZero"/>
        <c:auto val="1"/>
        <c:lblAlgn val="ctr"/>
        <c:lblOffset val="100"/>
        <c:tickLblSkip val="4"/>
        <c:tickMarkSkip val="4"/>
        <c:noMultiLvlLbl val="0"/>
      </c:catAx>
      <c:valAx>
        <c:axId val="110669824"/>
        <c:scaling>
          <c:orientation val="minMax"/>
          <c:min val="100"/>
        </c:scaling>
        <c:delete val="0"/>
        <c:axPos val="l"/>
        <c:numFmt formatCode="0" sourceLinked="0"/>
        <c:majorTickMark val="out"/>
        <c:minorTickMark val="none"/>
        <c:tickLblPos val="nextTo"/>
        <c:spPr>
          <a:ln>
            <a:solidFill>
              <a:schemeClr val="tx2"/>
            </a:solidFill>
          </a:ln>
        </c:spPr>
        <c:crossAx val="110655744"/>
        <c:crosses val="autoZero"/>
        <c:crossBetween val="midCat"/>
        <c:majorUnit val="50"/>
      </c:valAx>
      <c:spPr>
        <a:ln>
          <a:solidFill>
            <a:schemeClr val="tx2"/>
          </a:solidFill>
        </a:ln>
      </c:spPr>
    </c:plotArea>
    <c:legend>
      <c:legendPos val="b"/>
      <c:layout>
        <c:manualLayout>
          <c:xMode val="edge"/>
          <c:yMode val="edge"/>
          <c:x val="9.2672761323024141E-2"/>
          <c:y val="0.89052660732503397"/>
          <c:w val="0.81465433676643362"/>
          <c:h val="8.4097717686306819E-2"/>
        </c:manualLayout>
      </c:layout>
      <c:overlay val="0"/>
    </c:legend>
    <c:plotVisOnly val="1"/>
    <c:dispBlanksAs val="gap"/>
    <c:showDLblsOverMax val="0"/>
  </c:chart>
  <c:txPr>
    <a:bodyPr/>
    <a:lstStyle/>
    <a:p>
      <a:pPr>
        <a:defRPr sz="1100">
          <a:solidFill>
            <a:srgbClr val="002776"/>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12820512820512E-2"/>
          <c:y val="3.4819687854085318E-2"/>
          <c:w val="0.77564102564102566"/>
          <c:h val="0.93036062429182931"/>
        </c:manualLayout>
      </c:layout>
      <c:barChart>
        <c:barDir val="col"/>
        <c:grouping val="percentStacked"/>
        <c:varyColors val="0"/>
        <c:ser>
          <c:idx val="0"/>
          <c:order val="0"/>
          <c:tx>
            <c:strRef>
              <c:f>Sheet1!$B$1</c:f>
              <c:strCache>
                <c:ptCount val="1"/>
                <c:pt idx="0">
                  <c:v>A</c:v>
                </c:pt>
              </c:strCache>
            </c:strRef>
          </c:tx>
          <c:spPr>
            <a:ln>
              <a:solidFill>
                <a:schemeClr val="bg1"/>
              </a:solidFill>
            </a:ln>
          </c:spPr>
          <c:invertIfNegative val="0"/>
          <c:dLbls>
            <c:delete val="1"/>
          </c:dLbls>
          <c:cat>
            <c:numRef>
              <c:f>Sheet1!$A$2</c:f>
              <c:numCache>
                <c:formatCode>General</c:formatCode>
                <c:ptCount val="1"/>
              </c:numCache>
            </c:numRef>
          </c:cat>
          <c:val>
            <c:numRef>
              <c:f>Sheet1!$B$2</c:f>
              <c:numCache>
                <c:formatCode>General</c:formatCode>
                <c:ptCount val="1"/>
                <c:pt idx="0">
                  <c:v>80</c:v>
                </c:pt>
              </c:numCache>
            </c:numRef>
          </c:val>
        </c:ser>
        <c:ser>
          <c:idx val="1"/>
          <c:order val="1"/>
          <c:tx>
            <c:strRef>
              <c:f>Sheet1!$C$1</c:f>
              <c:strCache>
                <c:ptCount val="1"/>
                <c:pt idx="0">
                  <c:v>B</c:v>
                </c:pt>
              </c:strCache>
            </c:strRef>
          </c:tx>
          <c:spPr>
            <a:ln>
              <a:solidFill>
                <a:schemeClr val="bg1"/>
              </a:solidFill>
            </a:ln>
          </c:spPr>
          <c:invertIfNegative val="0"/>
          <c:dLbls>
            <c:delete val="1"/>
          </c:dLbls>
          <c:cat>
            <c:numRef>
              <c:f>Sheet1!$A$2</c:f>
              <c:numCache>
                <c:formatCode>General</c:formatCode>
                <c:ptCount val="1"/>
              </c:numCache>
            </c:numRef>
          </c:cat>
          <c:val>
            <c:numRef>
              <c:f>Sheet1!$C$2</c:f>
              <c:numCache>
                <c:formatCode>General</c:formatCode>
                <c:ptCount val="1"/>
                <c:pt idx="0">
                  <c:v>-20</c:v>
                </c:pt>
              </c:numCache>
            </c:numRef>
          </c:val>
        </c:ser>
        <c:dLbls>
          <c:showLegendKey val="0"/>
          <c:showVal val="1"/>
          <c:showCatName val="0"/>
          <c:showSerName val="0"/>
          <c:showPercent val="0"/>
          <c:showBubbleSize val="0"/>
        </c:dLbls>
        <c:gapWidth val="95"/>
        <c:overlap val="100"/>
        <c:axId val="110451328"/>
        <c:axId val="110457216"/>
      </c:barChart>
      <c:catAx>
        <c:axId val="110451328"/>
        <c:scaling>
          <c:orientation val="minMax"/>
        </c:scaling>
        <c:delete val="1"/>
        <c:axPos val="b"/>
        <c:numFmt formatCode="General" sourceLinked="1"/>
        <c:majorTickMark val="none"/>
        <c:minorTickMark val="none"/>
        <c:tickLblPos val="nextTo"/>
        <c:crossAx val="110457216"/>
        <c:crosses val="autoZero"/>
        <c:auto val="1"/>
        <c:lblAlgn val="ctr"/>
        <c:lblOffset val="100"/>
        <c:noMultiLvlLbl val="0"/>
      </c:catAx>
      <c:valAx>
        <c:axId val="110457216"/>
        <c:scaling>
          <c:orientation val="minMax"/>
        </c:scaling>
        <c:delete val="1"/>
        <c:axPos val="l"/>
        <c:numFmt formatCode="0%" sourceLinked="1"/>
        <c:majorTickMark val="out"/>
        <c:minorTickMark val="none"/>
        <c:tickLblPos val="nextTo"/>
        <c:crossAx val="110451328"/>
        <c:crosses val="autoZero"/>
        <c:crossBetween val="between"/>
        <c:majorUnit val="0.25"/>
      </c:valAx>
      <c:spPr>
        <a:ln>
          <a:solidFill>
            <a:schemeClr val="bg1"/>
          </a:solidFill>
        </a:ln>
      </c:spPr>
    </c:plotArea>
    <c:plotVisOnly val="1"/>
    <c:dispBlanksAs val="gap"/>
    <c:showDLblsOverMax val="0"/>
  </c:chart>
  <c:txPr>
    <a:bodyPr/>
    <a:lstStyle/>
    <a:p>
      <a:pPr>
        <a:defRPr sz="1200">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61" tIns="46581" rIns="93161" bIns="46581"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61" tIns="46581" rIns="93161" bIns="46581" rtlCol="0"/>
          <a:lstStyle>
            <a:lvl1pPr algn="r">
              <a:defRPr sz="1200"/>
            </a:lvl1pPr>
          </a:lstStyle>
          <a:p>
            <a:fld id="{CD69C154-8DB3-4790-A359-7790FFBF8C47}" type="datetimeFigureOut">
              <a:rPr lang="en-US" smtClean="0"/>
              <a:t>7/20/2015</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61" tIns="46581" rIns="93161" bIns="46581"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61" tIns="46581" rIns="93161" bIns="46581"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61" tIns="46581" rIns="93161" bIns="46581"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61" tIns="46581" rIns="93161" bIns="46581" rtlCol="0"/>
          <a:lstStyle>
            <a:lvl1pPr algn="r">
              <a:defRPr sz="1200"/>
            </a:lvl1pPr>
          </a:lstStyle>
          <a:p>
            <a:fld id="{D94E0677-78E7-4F29-8DEE-AA9328514842}" type="datetimeFigureOut">
              <a:rPr lang="en-US" smtClean="0"/>
              <a:t>7/20/2015</a:t>
            </a:fld>
            <a:endParaRPr lang="en-US" dirty="0"/>
          </a:p>
        </p:txBody>
      </p:sp>
      <p:sp>
        <p:nvSpPr>
          <p:cNvPr id="4" name="Slide Image Placeholder 3"/>
          <p:cNvSpPr>
            <a:spLocks noGrp="1" noRot="1" noChangeAspect="1"/>
          </p:cNvSpPr>
          <p:nvPr>
            <p:ph type="sldImg" idx="2"/>
          </p:nvPr>
        </p:nvSpPr>
        <p:spPr>
          <a:xfrm>
            <a:off x="1249363" y="696913"/>
            <a:ext cx="4511675" cy="3486150"/>
          </a:xfrm>
          <a:prstGeom prst="rect">
            <a:avLst/>
          </a:prstGeom>
          <a:noFill/>
          <a:ln w="12700">
            <a:solidFill>
              <a:prstClr val="black"/>
            </a:solidFill>
          </a:ln>
        </p:spPr>
        <p:txBody>
          <a:bodyPr vert="horz" lIns="93161" tIns="46581" rIns="93161" bIns="46581"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61" tIns="46581" rIns="93161" bIns="46581"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61" tIns="46581" rIns="93161" bIns="46581"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61" tIns="46581" rIns="93161" bIns="46581"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28008"/>
            <a:fld id="{1FE077EC-684A-4FD9-A6C3-9AE90D8B81D6}" type="slidenum">
              <a:rPr lang="en-US" smtClean="0"/>
              <a:pPr defTabSz="92800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698500"/>
            <a:ext cx="4511675" cy="3486150"/>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3</a:t>
            </a:fld>
            <a:endParaRPr lang="en-US" dirty="0"/>
          </a:p>
        </p:txBody>
      </p:sp>
    </p:spTree>
    <p:extLst>
      <p:ext uri="{BB962C8B-B14F-4D97-AF65-F5344CB8AC3E}">
        <p14:creationId xmlns:p14="http://schemas.microsoft.com/office/powerpoint/2010/main" val="905891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4</a:t>
            </a:fld>
            <a:endParaRPr lang="en-US" dirty="0"/>
          </a:p>
        </p:txBody>
      </p:sp>
    </p:spTree>
    <p:extLst>
      <p:ext uri="{BB962C8B-B14F-4D97-AF65-F5344CB8AC3E}">
        <p14:creationId xmlns:p14="http://schemas.microsoft.com/office/powerpoint/2010/main" val="379497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5</a:t>
            </a:fld>
            <a:endParaRPr lang="en-US" dirty="0"/>
          </a:p>
        </p:txBody>
      </p:sp>
    </p:spTree>
    <p:extLst>
      <p:ext uri="{BB962C8B-B14F-4D97-AF65-F5344CB8AC3E}">
        <p14:creationId xmlns:p14="http://schemas.microsoft.com/office/powerpoint/2010/main" val="4135956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698500"/>
            <a:ext cx="4511675" cy="3486150"/>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9</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698500"/>
            <a:ext cx="4511675" cy="34861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10</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698500"/>
            <a:ext cx="4511675" cy="34861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11</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698500"/>
            <a:ext cx="4511675" cy="3486150"/>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9"/>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tags" Target="../tags/tag5.xml"/><Relationship Id="rId7" Type="http://schemas.openxmlformats.org/officeDocument/2006/relationships/notesSlide" Target="../notesSlides/notesSlide8.xml"/><Relationship Id="rId12" Type="http://schemas.openxmlformats.org/officeDocument/2006/relationships/image" Target="../media/image11.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14.xml"/><Relationship Id="rId11" Type="http://schemas.openxmlformats.org/officeDocument/2006/relationships/image" Target="../media/image10.png"/><Relationship Id="rId5" Type="http://schemas.openxmlformats.org/officeDocument/2006/relationships/tags" Target="../tags/tag7.xml"/><Relationship Id="rId10" Type="http://schemas.openxmlformats.org/officeDocument/2006/relationships/image" Target="../media/image9.png"/><Relationship Id="rId4" Type="http://schemas.openxmlformats.org/officeDocument/2006/relationships/tags" Target="../tags/tag6.xml"/><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CELLO CRE MODELING FRAMEWORK</a:t>
            </a:r>
            <a:endParaRPr lang="en-US" dirty="0"/>
          </a:p>
        </p:txBody>
      </p:sp>
      <p:sp>
        <p:nvSpPr>
          <p:cNvPr id="6" name="Subtitle 5"/>
          <p:cNvSpPr>
            <a:spLocks noGrp="1"/>
          </p:cNvSpPr>
          <p:nvPr>
            <p:ph type="subTitle" idx="1"/>
          </p:nvPr>
        </p:nvSpPr>
        <p:spPr/>
        <p:txBody>
          <a:bodyPr/>
          <a:lstStyle/>
          <a:p>
            <a:r>
              <a:rPr lang="en-US" dirty="0" smtClean="0"/>
              <a:t>July 2015</a:t>
            </a:r>
            <a:endParaRPr lang="en-US" dirty="0"/>
          </a:p>
        </p:txBody>
      </p:sp>
    </p:spTree>
    <p:extLst>
      <p:ext uri="{BB962C8B-B14F-4D97-AF65-F5344CB8AC3E}">
        <p14:creationId xmlns:p14="http://schemas.microsoft.com/office/powerpoint/2010/main" val="26460373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APPROACH</a:t>
            </a:r>
            <a:endParaRPr lang="en-US" dirty="0"/>
          </a:p>
        </p:txBody>
      </p:sp>
      <p:sp>
        <p:nvSpPr>
          <p:cNvPr id="9" name="Content Placeholder 8"/>
          <p:cNvSpPr>
            <a:spLocks noGrp="1"/>
          </p:cNvSpPr>
          <p:nvPr>
            <p:ph sz="quarter" idx="13"/>
          </p:nvPr>
        </p:nvSpPr>
        <p:spPr>
          <a:xfrm>
            <a:off x="2514600" y="1235075"/>
            <a:ext cx="7214616" cy="441325"/>
          </a:xfrm>
        </p:spPr>
        <p:txBody>
          <a:bodyPr/>
          <a:lstStyle/>
          <a:p>
            <a:r>
              <a:rPr lang="en-US" dirty="0" smtClean="0"/>
              <a:t>A Relative Value Approach is Applied Across the Portfolio   </a:t>
            </a:r>
            <a:endParaRPr lang="en-US" dirty="0"/>
          </a:p>
        </p:txBody>
      </p:sp>
      <p:sp>
        <p:nvSpPr>
          <p:cNvPr id="10" name="Text Placeholder 2"/>
          <p:cNvSpPr>
            <a:spLocks noGrp="1"/>
          </p:cNvSpPr>
          <p:nvPr>
            <p:ph type="body" sz="quarter" idx="10"/>
          </p:nvPr>
        </p:nvSpPr>
        <p:spPr>
          <a:xfrm>
            <a:off x="2895600" y="436880"/>
            <a:ext cx="6867525" cy="594360"/>
          </a:xfrm>
        </p:spPr>
        <p:txBody>
          <a:bodyPr/>
          <a:lstStyle/>
          <a:p>
            <a:r>
              <a:rPr lang="en-US" dirty="0"/>
              <a:t>RELATIVE-VALUE FOCUS</a:t>
            </a:r>
          </a:p>
        </p:txBody>
      </p:sp>
      <p:sp>
        <p:nvSpPr>
          <p:cNvPr id="16" name="Content Placeholder 12"/>
          <p:cNvSpPr>
            <a:spLocks noGrp="1"/>
          </p:cNvSpPr>
          <p:nvPr>
            <p:ph idx="1"/>
          </p:nvPr>
        </p:nvSpPr>
        <p:spPr>
          <a:xfrm>
            <a:off x="293687" y="1235075"/>
            <a:ext cx="1839913" cy="5938837"/>
          </a:xfrm>
        </p:spPr>
        <p:txBody>
          <a:bodyPr/>
          <a:lstStyle/>
          <a:p>
            <a:pPr>
              <a:lnSpc>
                <a:spcPct val="100000"/>
              </a:lnSpc>
              <a:spcBef>
                <a:spcPts val="0"/>
              </a:spcBef>
            </a:pPr>
            <a:r>
              <a:rPr lang="en-US" sz="1100" b="0" dirty="0" smtClean="0">
                <a:solidFill>
                  <a:schemeClr val="tx1"/>
                </a:solidFill>
              </a:rPr>
              <a:t>Cello believes that the same fundamental factors influence valuations in CRE across Fixed Income and Equities.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Cello will develop a proprietary CRE infrastructure to track and forecast real estate fundamentals. This framework is asset-class agnostic and will applied in a consistent way across different instruments.</a:t>
            </a: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17" name="Group 16"/>
          <p:cNvGrpSpPr/>
          <p:nvPr/>
        </p:nvGrpSpPr>
        <p:grpSpPr>
          <a:xfrm>
            <a:off x="4038600" y="2039934"/>
            <a:ext cx="3719308" cy="3657600"/>
            <a:chOff x="3200400" y="1830421"/>
            <a:chExt cx="3719308" cy="3657600"/>
          </a:xfrm>
        </p:grpSpPr>
        <p:cxnSp>
          <p:nvCxnSpPr>
            <p:cNvPr id="18" name="Straight Connector 17"/>
            <p:cNvCxnSpPr/>
            <p:nvPr/>
          </p:nvCxnSpPr>
          <p:spPr>
            <a:xfrm>
              <a:off x="6717506" y="5093494"/>
              <a:ext cx="202202" cy="11522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200400" y="1906621"/>
              <a:ext cx="3581400" cy="3581400"/>
            </a:xfrm>
            <a:prstGeom prst="ellipse">
              <a:avLst/>
            </a:prstGeom>
            <a:solidFill>
              <a:schemeClr val="accent2"/>
            </a:solidFill>
            <a:ln w="1270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US"/>
            </a:p>
          </p:txBody>
        </p:sp>
        <p:grpSp>
          <p:nvGrpSpPr>
            <p:cNvPr id="20" name="Group 19"/>
            <p:cNvGrpSpPr/>
            <p:nvPr/>
          </p:nvGrpSpPr>
          <p:grpSpPr>
            <a:xfrm>
              <a:off x="3352800" y="1830421"/>
              <a:ext cx="3291840" cy="2893107"/>
              <a:chOff x="3352800" y="1830421"/>
              <a:chExt cx="3291840" cy="2893107"/>
            </a:xfrm>
          </p:grpSpPr>
          <p:cxnSp>
            <p:nvCxnSpPr>
              <p:cNvPr id="26" name="Straight Connector 25"/>
              <p:cNvCxnSpPr/>
              <p:nvPr/>
            </p:nvCxnSpPr>
            <p:spPr>
              <a:xfrm>
                <a:off x="5780505" y="4213726"/>
                <a:ext cx="864135" cy="48652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3352800" y="4191000"/>
                <a:ext cx="914400" cy="532528"/>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5020333" y="1830421"/>
                <a:ext cx="1438" cy="1080749"/>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4137660" y="2836745"/>
              <a:ext cx="1828800" cy="1828800"/>
            </a:xfrm>
            <a:prstGeom prst="ellipse">
              <a:avLst/>
            </a:prstGeom>
            <a:solidFill>
              <a:schemeClr val="tx2"/>
            </a:solidFill>
            <a:ln w="15875">
              <a:noFill/>
            </a:ln>
          </p:spPr>
          <p:txBody>
            <a:bodyPr wrap="square" rtlCol="0" anchor="ctr">
              <a:noAutofit/>
            </a:bodyPr>
            <a:lstStyle/>
            <a:p>
              <a:pPr marL="0" lvl="1" algn="ctr">
                <a:lnSpc>
                  <a:spcPct val="110000"/>
                </a:lnSpc>
                <a:spcBef>
                  <a:spcPts val="1500"/>
                </a:spcBef>
              </a:pPr>
              <a:r>
                <a:rPr lang="en-US" sz="1300" b="1" dirty="0" smtClean="0">
                  <a:solidFill>
                    <a:schemeClr val="bg1"/>
                  </a:solidFill>
                </a:rPr>
                <a:t>CRE INVESTMENT PROCESS</a:t>
              </a:r>
            </a:p>
          </p:txBody>
        </p:sp>
        <p:grpSp>
          <p:nvGrpSpPr>
            <p:cNvPr id="22" name="Group 21"/>
            <p:cNvGrpSpPr/>
            <p:nvPr/>
          </p:nvGrpSpPr>
          <p:grpSpPr>
            <a:xfrm>
              <a:off x="3772090" y="2507481"/>
              <a:ext cx="2648804" cy="2363936"/>
              <a:chOff x="3772090" y="2507481"/>
              <a:chExt cx="2648804" cy="2363936"/>
            </a:xfrm>
          </p:grpSpPr>
          <p:sp>
            <p:nvSpPr>
              <p:cNvPr id="23" name="TextBox 22"/>
              <p:cNvSpPr txBox="1"/>
              <p:nvPr/>
            </p:nvSpPr>
            <p:spPr>
              <a:xfrm rot="18294870">
                <a:off x="3463523" y="2944529"/>
                <a:ext cx="1295400" cy="678265"/>
              </a:xfrm>
              <a:prstGeom prst="rect">
                <a:avLst/>
              </a:prstGeom>
              <a:noFill/>
            </p:spPr>
            <p:txBody>
              <a:bodyPr wrap="square" lIns="0" tIns="0" rIns="0" bIns="0" rtlCol="0">
                <a:prstTxWarp prst="textArchUp">
                  <a:avLst/>
                </a:prstTxWarp>
                <a:noAutofit/>
              </a:bodyPr>
              <a:lstStyle/>
              <a:p>
                <a:pPr marL="0" lvl="1" algn="ctr">
                  <a:lnSpc>
                    <a:spcPct val="110000"/>
                  </a:lnSpc>
                  <a:spcBef>
                    <a:spcPts val="1500"/>
                  </a:spcBef>
                </a:pPr>
                <a:r>
                  <a:rPr lang="en-US" sz="1300" b="1" dirty="0" smtClean="0">
                    <a:solidFill>
                      <a:schemeClr val="bg1"/>
                    </a:solidFill>
                    <a:latin typeface="Calibri"/>
                  </a:rPr>
                  <a:t>  </a:t>
                </a:r>
                <a:br>
                  <a:rPr lang="en-US" sz="1300" b="1" dirty="0" smtClean="0">
                    <a:solidFill>
                      <a:schemeClr val="bg1"/>
                    </a:solidFill>
                    <a:latin typeface="Calibri"/>
                  </a:rPr>
                </a:br>
                <a:r>
                  <a:rPr lang="en-US" sz="1300" b="1" dirty="0" smtClean="0">
                    <a:solidFill>
                      <a:schemeClr val="bg1"/>
                    </a:solidFill>
                    <a:latin typeface="Calibri"/>
                  </a:rPr>
                  <a:t>EQUITIES</a:t>
                </a:r>
                <a:endParaRPr lang="en-US" sz="1300" b="1" dirty="0">
                  <a:solidFill>
                    <a:schemeClr val="bg1"/>
                  </a:solidFill>
                  <a:latin typeface="Calibri"/>
                </a:endParaRPr>
              </a:p>
            </p:txBody>
          </p:sp>
          <p:sp>
            <p:nvSpPr>
              <p:cNvPr id="24" name="TextBox 23"/>
              <p:cNvSpPr txBox="1"/>
              <p:nvPr/>
            </p:nvSpPr>
            <p:spPr>
              <a:xfrm>
                <a:off x="3953811" y="3423617"/>
                <a:ext cx="2171700" cy="1447800"/>
              </a:xfrm>
              <a:prstGeom prst="rect">
                <a:avLst/>
              </a:prstGeom>
              <a:noFill/>
            </p:spPr>
            <p:txBody>
              <a:bodyPr wrap="square" lIns="0" tIns="0" rIns="0" bIns="0" rtlCol="0">
                <a:prstTxWarp prst="textArchDown">
                  <a:avLst/>
                </a:prstTxWarp>
                <a:noAutofit/>
              </a:bodyPr>
              <a:lstStyle/>
              <a:p>
                <a:pPr marL="0" lvl="1" algn="ctr">
                  <a:lnSpc>
                    <a:spcPct val="110000"/>
                  </a:lnSpc>
                  <a:spcBef>
                    <a:spcPts val="1500"/>
                  </a:spcBef>
                </a:pPr>
                <a:r>
                  <a:rPr lang="en-US" sz="1300" b="1" dirty="0" smtClean="0">
                    <a:solidFill>
                      <a:schemeClr val="bg1"/>
                    </a:solidFill>
                    <a:latin typeface="Calibri"/>
                  </a:rPr>
                  <a:t>CORPORATE </a:t>
                </a:r>
                <a:br>
                  <a:rPr lang="en-US" sz="1300" b="1" dirty="0" smtClean="0">
                    <a:solidFill>
                      <a:schemeClr val="bg1"/>
                    </a:solidFill>
                    <a:latin typeface="Calibri"/>
                  </a:rPr>
                </a:br>
                <a:r>
                  <a:rPr lang="en-US" sz="1300" b="1" dirty="0" smtClean="0">
                    <a:solidFill>
                      <a:schemeClr val="bg1"/>
                    </a:solidFill>
                    <a:latin typeface="Calibri"/>
                  </a:rPr>
                  <a:t>DEBT</a:t>
                </a:r>
                <a:endParaRPr lang="en-US" sz="1300" b="1" dirty="0">
                  <a:solidFill>
                    <a:schemeClr val="bg1"/>
                  </a:solidFill>
                  <a:latin typeface="Calibri"/>
                </a:endParaRPr>
              </a:p>
            </p:txBody>
          </p:sp>
          <p:sp>
            <p:nvSpPr>
              <p:cNvPr id="25" name="TextBox 24"/>
              <p:cNvSpPr txBox="1"/>
              <p:nvPr/>
            </p:nvSpPr>
            <p:spPr>
              <a:xfrm rot="3412790">
                <a:off x="4272822" y="2636365"/>
                <a:ext cx="2276955" cy="2019188"/>
              </a:xfrm>
              <a:prstGeom prst="rect">
                <a:avLst/>
              </a:prstGeom>
              <a:noFill/>
            </p:spPr>
            <p:txBody>
              <a:bodyPr wrap="square" lIns="0" tIns="0" rIns="0" bIns="0" rtlCol="0">
                <a:prstTxWarp prst="textArchUp">
                  <a:avLst>
                    <a:gd name="adj" fmla="val 12240818"/>
                  </a:avLst>
                </a:prstTxWarp>
                <a:noAutofit/>
              </a:bodyPr>
              <a:lstStyle/>
              <a:p>
                <a:pPr marL="0" lvl="1" algn="ctr">
                  <a:lnSpc>
                    <a:spcPct val="110000"/>
                  </a:lnSpc>
                  <a:spcBef>
                    <a:spcPts val="1500"/>
                  </a:spcBef>
                </a:pPr>
                <a:r>
                  <a:rPr lang="en-US" sz="1300" b="1" dirty="0" smtClean="0">
                    <a:solidFill>
                      <a:schemeClr val="bg1"/>
                    </a:solidFill>
                    <a:latin typeface="Calibri"/>
                  </a:rPr>
                  <a:t>STRUCTURED FINANCE</a:t>
                </a:r>
                <a:endParaRPr lang="en-US" sz="1300" b="1" dirty="0">
                  <a:solidFill>
                    <a:schemeClr val="bg1"/>
                  </a:solidFill>
                  <a:latin typeface="Calibri"/>
                </a:endParaRPr>
              </a:p>
            </p:txBody>
          </p:sp>
        </p:grpSp>
      </p:grpSp>
      <p:sp>
        <p:nvSpPr>
          <p:cNvPr id="29" name="Rectangle 28"/>
          <p:cNvSpPr/>
          <p:nvPr/>
        </p:nvSpPr>
        <p:spPr>
          <a:xfrm>
            <a:off x="5443384" y="5823022"/>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Corporate CRE</a:t>
            </a:r>
          </a:p>
          <a:p>
            <a:pPr marL="171450" lvl="1" indent="-171450">
              <a:spcBef>
                <a:spcPts val="600"/>
              </a:spcBef>
              <a:buFont typeface="Arial" panose="020B0604020202020204" pitchFamily="34" charset="0"/>
              <a:buChar char="•"/>
            </a:pPr>
            <a:r>
              <a:rPr lang="en-US" sz="1300" dirty="0">
                <a:solidFill>
                  <a:schemeClr val="tx2"/>
                </a:solidFill>
              </a:rPr>
              <a:t>Unsecured Debt</a:t>
            </a:r>
          </a:p>
          <a:p>
            <a:pPr marL="171450" lvl="1" indent="-171450">
              <a:spcBef>
                <a:spcPts val="600"/>
              </a:spcBef>
              <a:buFont typeface="Arial" panose="020B0604020202020204" pitchFamily="34" charset="0"/>
              <a:buChar char="•"/>
            </a:pPr>
            <a:r>
              <a:rPr lang="en-US" sz="1300" dirty="0" err="1">
                <a:solidFill>
                  <a:schemeClr val="tx2"/>
                </a:solidFill>
              </a:rPr>
              <a:t>PropCo</a:t>
            </a:r>
            <a:r>
              <a:rPr lang="en-US" sz="1300" dirty="0">
                <a:solidFill>
                  <a:schemeClr val="tx2"/>
                </a:solidFill>
              </a:rPr>
              <a:t> Debt</a:t>
            </a:r>
          </a:p>
          <a:p>
            <a:pPr marL="171450" lvl="1" indent="-171450">
              <a:spcBef>
                <a:spcPts val="600"/>
              </a:spcBef>
              <a:buFont typeface="Arial" panose="020B0604020202020204" pitchFamily="34" charset="0"/>
              <a:buChar char="•"/>
            </a:pPr>
            <a:r>
              <a:rPr lang="en-US" sz="1300" dirty="0">
                <a:solidFill>
                  <a:schemeClr val="tx2"/>
                </a:solidFill>
              </a:rPr>
              <a:t>Corporate Loans</a:t>
            </a:r>
          </a:p>
          <a:p>
            <a:pPr marL="171450" lvl="1" indent="-171450">
              <a:spcBef>
                <a:spcPts val="600"/>
              </a:spcBef>
              <a:buFont typeface="Arial" panose="020B0604020202020204" pitchFamily="34" charset="0"/>
              <a:buChar char="•"/>
            </a:pPr>
            <a:r>
              <a:rPr lang="en-US" sz="1300" dirty="0">
                <a:solidFill>
                  <a:schemeClr val="tx2"/>
                </a:solidFill>
              </a:rPr>
              <a:t>CDS</a:t>
            </a: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endParaRP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latin typeface="+mj-lt"/>
            </a:endParaRPr>
          </a:p>
        </p:txBody>
      </p:sp>
      <p:sp>
        <p:nvSpPr>
          <p:cNvPr id="30" name="Rectangle 29"/>
          <p:cNvSpPr/>
          <p:nvPr/>
        </p:nvSpPr>
        <p:spPr>
          <a:xfrm>
            <a:off x="2553138" y="2350328"/>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CRE Equities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REITs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Retail</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Other CRE Names</a:t>
            </a:r>
          </a:p>
        </p:txBody>
      </p:sp>
      <p:sp>
        <p:nvSpPr>
          <p:cNvPr id="31" name="Rectangle 30"/>
          <p:cNvSpPr/>
          <p:nvPr/>
        </p:nvSpPr>
        <p:spPr>
          <a:xfrm>
            <a:off x="7717122" y="2291594"/>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a:solidFill>
                  <a:schemeClr val="accent2"/>
                </a:solidFill>
                <a:latin typeface="+mj-lt"/>
              </a:rPr>
              <a:t>CMBS &amp; Mortgage </a:t>
            </a:r>
            <a:r>
              <a:rPr lang="en-US" sz="1400" b="1" dirty="0" smtClean="0">
                <a:solidFill>
                  <a:schemeClr val="accent2"/>
                </a:solidFill>
                <a:latin typeface="+mj-lt"/>
              </a:rPr>
              <a:t>Lending</a:t>
            </a:r>
            <a:endParaRPr lang="en-US" sz="1400" b="1" dirty="0">
              <a:solidFill>
                <a:schemeClr val="accent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CMBX</a:t>
            </a: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Cash </a:t>
            </a:r>
            <a:r>
              <a:rPr lang="en-US" sz="1300" dirty="0" smtClean="0">
                <a:solidFill>
                  <a:schemeClr val="tx2"/>
                </a:solidFill>
                <a:latin typeface="+mj-lt"/>
              </a:rPr>
              <a:t>CMBS</a:t>
            </a:r>
            <a:endParaRPr lang="en-US" sz="1300" dirty="0">
              <a:solidFill>
                <a:schemeClr val="tx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CRE Mezzanine Lending</a:t>
            </a:r>
          </a:p>
        </p:txBody>
      </p:sp>
    </p:spTree>
    <p:extLst>
      <p:ext uri="{BB962C8B-B14F-4D97-AF65-F5344CB8AC3E}">
        <p14:creationId xmlns:p14="http://schemas.microsoft.com/office/powerpoint/2010/main" val="24371533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 Modeling</a:t>
            </a:r>
            <a:br>
              <a:rPr lang="en-US" dirty="0" smtClean="0"/>
            </a:br>
            <a:r>
              <a:rPr lang="en-US" dirty="0" smtClean="0"/>
              <a:t>HOLDERS OF CRE RISK: A CAPITAL MARKETS VIEW </a:t>
            </a:r>
            <a:endParaRPr lang="en-US" dirty="0"/>
          </a:p>
        </p:txBody>
      </p:sp>
      <p:sp>
        <p:nvSpPr>
          <p:cNvPr id="14" name="Text Placeholder 12"/>
          <p:cNvSpPr>
            <a:spLocks/>
          </p:cNvSpPr>
          <p:nvPr>
            <p:custDataLst>
              <p:tags r:id="rId1"/>
            </p:custDataLst>
          </p:nvPr>
        </p:nvSpPr>
        <p:spPr bwMode="auto">
          <a:xfrm>
            <a:off x="3031622" y="2800424"/>
            <a:ext cx="685800"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sz="1200" b="1" dirty="0" smtClean="0">
                <a:solidFill>
                  <a:schemeClr val="tx2"/>
                </a:solidFill>
                <a:ea typeface="Arial Unicode MS" pitchFamily="34" charset="-122"/>
                <a:cs typeface="Arial Unicode MS" pitchFamily="34" charset="-122"/>
              </a:rPr>
              <a:t>PUBLIC</a:t>
            </a:r>
            <a:endParaRPr lang="en-US" sz="1200" b="1" dirty="0">
              <a:solidFill>
                <a:schemeClr val="tx2"/>
              </a:solidFill>
              <a:ea typeface="Arial Unicode MS" pitchFamily="34" charset="-122"/>
              <a:cs typeface="Arial Unicode MS" pitchFamily="34" charset="-122"/>
            </a:endParaRPr>
          </a:p>
        </p:txBody>
      </p:sp>
      <p:sp>
        <p:nvSpPr>
          <p:cNvPr id="15" name="Text Placeholder 12"/>
          <p:cNvSpPr>
            <a:spLocks/>
          </p:cNvSpPr>
          <p:nvPr>
            <p:custDataLst>
              <p:tags r:id="rId2"/>
            </p:custDataLst>
          </p:nvPr>
        </p:nvSpPr>
        <p:spPr bwMode="auto">
          <a:xfrm>
            <a:off x="3015243" y="5012343"/>
            <a:ext cx="718557"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altLang="zh-CN" sz="1200" b="1" dirty="0" smtClean="0">
                <a:solidFill>
                  <a:schemeClr val="tx2"/>
                </a:solidFill>
                <a:ea typeface="Arial Unicode MS" pitchFamily="34" charset="-122"/>
                <a:cs typeface="Arial Unicode MS" pitchFamily="34" charset="-122"/>
              </a:rPr>
              <a:t>PRIVATE</a:t>
            </a:r>
            <a:endParaRPr lang="en-US" sz="1200" b="1" dirty="0">
              <a:solidFill>
                <a:schemeClr val="tx2"/>
              </a:solidFill>
              <a:ea typeface="Arial Unicode MS" pitchFamily="34" charset="-122"/>
              <a:cs typeface="Arial Unicode MS" pitchFamily="34" charset="-122"/>
            </a:endParaRPr>
          </a:p>
        </p:txBody>
      </p:sp>
      <p:sp>
        <p:nvSpPr>
          <p:cNvPr id="17" name="Rectangle 16"/>
          <p:cNvSpPr>
            <a:spLocks noChangeArrowheads="1"/>
          </p:cNvSpPr>
          <p:nvPr/>
        </p:nvSpPr>
        <p:spPr bwMode="auto">
          <a:xfrm>
            <a:off x="6167370" y="1927947"/>
            <a:ext cx="2094515" cy="1971546"/>
          </a:xfrm>
          <a:prstGeom prst="rect">
            <a:avLst/>
          </a:prstGeom>
          <a:solidFill>
            <a:schemeClr val="accent3">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19" name="Rectangle 18"/>
          <p:cNvSpPr>
            <a:spLocks noChangeArrowheads="1"/>
          </p:cNvSpPr>
          <p:nvPr/>
        </p:nvSpPr>
        <p:spPr bwMode="auto">
          <a:xfrm>
            <a:off x="3925285" y="1927947"/>
            <a:ext cx="2094515" cy="1971546"/>
          </a:xfrm>
          <a:prstGeom prst="rect">
            <a:avLst/>
          </a:prstGeom>
          <a:solidFill>
            <a:schemeClr val="accent1">
              <a:lumMod val="40000"/>
              <a:lumOff val="6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0" name="Rectangle 19"/>
          <p:cNvSpPr>
            <a:spLocks noChangeArrowheads="1"/>
          </p:cNvSpPr>
          <p:nvPr/>
        </p:nvSpPr>
        <p:spPr bwMode="auto">
          <a:xfrm>
            <a:off x="6167370" y="4038600"/>
            <a:ext cx="2094515" cy="1971546"/>
          </a:xfrm>
          <a:prstGeom prst="rect">
            <a:avLst/>
          </a:prstGeom>
          <a:solidFill>
            <a:schemeClr val="accent3">
              <a:lumMod val="60000"/>
              <a:lumOff val="4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1" name="Rectangle 20"/>
          <p:cNvSpPr>
            <a:spLocks noChangeArrowheads="1"/>
          </p:cNvSpPr>
          <p:nvPr/>
        </p:nvSpPr>
        <p:spPr bwMode="auto">
          <a:xfrm>
            <a:off x="3925285" y="4038600"/>
            <a:ext cx="2094515" cy="1971546"/>
          </a:xfrm>
          <a:prstGeom prst="rect">
            <a:avLst/>
          </a:prstGeom>
          <a:solidFill>
            <a:schemeClr val="accent2">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4" name="TextBox 23"/>
          <p:cNvSpPr txBox="1"/>
          <p:nvPr/>
        </p:nvSpPr>
        <p:spPr>
          <a:xfrm>
            <a:off x="3925285" y="2072019"/>
            <a:ext cx="2094515" cy="1456809"/>
          </a:xfrm>
          <a:prstGeom prst="rect">
            <a:avLst/>
          </a:prstGeom>
          <a:noFill/>
        </p:spPr>
        <p:txBody>
          <a:bodyPr wrap="square" rtlCol="0">
            <a:spAutoFit/>
          </a:bodyPr>
          <a:lstStyle/>
          <a:p>
            <a:pPr marL="171450" indent="-171450">
              <a:spcAft>
                <a:spcPts val="500"/>
              </a:spcAft>
              <a:buFont typeface="Arial" panose="020B0604020202020204" pitchFamily="34" charset="0"/>
              <a:buChar char="•"/>
            </a:pPr>
            <a:r>
              <a:rPr lang="en-GB" altLang="ja-JP" sz="1200" dirty="0">
                <a:ea typeface="Arial Unicode MS" pitchFamily="34" charset="-122"/>
                <a:cs typeface="Arial Unicode MS" pitchFamily="34" charset="-122"/>
              </a:rPr>
              <a:t>Commercial Mortgage </a:t>
            </a:r>
            <a:r>
              <a:rPr lang="en-GB" altLang="ja-JP" sz="1200" dirty="0" smtClean="0">
                <a:ea typeface="Arial Unicode MS" pitchFamily="34" charset="-122"/>
                <a:cs typeface="Arial Unicode MS" pitchFamily="34" charset="-122"/>
              </a:rPr>
              <a:t>Backed </a:t>
            </a:r>
            <a:r>
              <a:rPr lang="en-GB" altLang="ja-JP" sz="1200" dirty="0">
                <a:ea typeface="Arial Unicode MS" pitchFamily="34" charset="-122"/>
                <a:cs typeface="Arial Unicode MS" pitchFamily="34" charset="-122"/>
              </a:rPr>
              <a:t>Securities (CMBS</a:t>
            </a:r>
            <a:r>
              <a:rPr lang="en-GB" altLang="ja-JP" sz="1200" dirty="0" smtClean="0">
                <a:ea typeface="Arial Unicode MS" pitchFamily="34" charset="-122"/>
                <a:cs typeface="Arial Unicode MS" pitchFamily="34" charset="-122"/>
              </a:rPr>
              <a:t>)</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CMBX</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Corporate Loans</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CDS</a:t>
            </a:r>
            <a:endParaRPr lang="en-GB" altLang="ja-JP" sz="1200" dirty="0">
              <a:ea typeface="Arial Unicode MS" pitchFamily="34" charset="-122"/>
              <a:cs typeface="Arial Unicode MS" pitchFamily="34" charset="-122"/>
            </a:endParaRPr>
          </a:p>
          <a:p>
            <a:pPr marL="171450" indent="-171450">
              <a:buFont typeface="Arial" panose="020B0604020202020204" pitchFamily="34" charset="0"/>
              <a:buChar char="•"/>
            </a:pPr>
            <a:endParaRPr lang="en-US" sz="1200" dirty="0"/>
          </a:p>
        </p:txBody>
      </p:sp>
      <p:sp>
        <p:nvSpPr>
          <p:cNvPr id="25" name="TextBox 24"/>
          <p:cNvSpPr txBox="1"/>
          <p:nvPr/>
        </p:nvSpPr>
        <p:spPr>
          <a:xfrm>
            <a:off x="6157619" y="2072019"/>
            <a:ext cx="2114017" cy="1208023"/>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Equity REITs</a:t>
            </a:r>
          </a:p>
          <a:p>
            <a:r>
              <a:rPr lang="en-GB" altLang="ja-JP" dirty="0">
                <a:solidFill>
                  <a:schemeClr val="tx1"/>
                </a:solidFill>
              </a:rPr>
              <a:t>Public Real Estate Property Companies</a:t>
            </a:r>
          </a:p>
          <a:p>
            <a:r>
              <a:rPr lang="en-GB" altLang="ja-JP" dirty="0">
                <a:solidFill>
                  <a:schemeClr val="tx1"/>
                </a:solidFill>
              </a:rPr>
              <a:t>Real Estate Mutual Funds</a:t>
            </a:r>
          </a:p>
          <a:p>
            <a:r>
              <a:rPr lang="en-GB" altLang="ja-JP" dirty="0" smtClean="0">
                <a:solidFill>
                  <a:schemeClr val="tx1"/>
                </a:solidFill>
              </a:rPr>
              <a:t>Retail</a:t>
            </a:r>
            <a:endParaRPr lang="en-GB" altLang="ja-JP" dirty="0">
              <a:solidFill>
                <a:schemeClr val="tx1"/>
              </a:solidFill>
            </a:endParaRPr>
          </a:p>
        </p:txBody>
      </p:sp>
      <p:sp>
        <p:nvSpPr>
          <p:cNvPr id="26" name="TextBox 25"/>
          <p:cNvSpPr txBox="1"/>
          <p:nvPr/>
        </p:nvSpPr>
        <p:spPr>
          <a:xfrm>
            <a:off x="3927290" y="4181346"/>
            <a:ext cx="2090505" cy="774571"/>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Senior Loans</a:t>
            </a:r>
          </a:p>
          <a:p>
            <a:r>
              <a:rPr lang="en-GB" altLang="ja-JP" dirty="0">
                <a:solidFill>
                  <a:schemeClr val="tx1"/>
                </a:solidFill>
              </a:rPr>
              <a:t>Mezzanine Debt</a:t>
            </a:r>
          </a:p>
          <a:p>
            <a:r>
              <a:rPr lang="en-GB" altLang="ja-JP" dirty="0">
                <a:solidFill>
                  <a:schemeClr val="tx1"/>
                </a:solidFill>
              </a:rPr>
              <a:t>Mortgage Whole Loans</a:t>
            </a:r>
          </a:p>
        </p:txBody>
      </p:sp>
      <p:sp>
        <p:nvSpPr>
          <p:cNvPr id="27" name="TextBox 26"/>
          <p:cNvSpPr txBox="1"/>
          <p:nvPr/>
        </p:nvSpPr>
        <p:spPr>
          <a:xfrm>
            <a:off x="6174667" y="4181346"/>
            <a:ext cx="2079920" cy="959237"/>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US" altLang="zh-CN" dirty="0">
                <a:solidFill>
                  <a:schemeClr val="tx1"/>
                </a:solidFill>
              </a:rPr>
              <a:t>Open and Closed End Funds</a:t>
            </a:r>
          </a:p>
          <a:p>
            <a:r>
              <a:rPr lang="en-US" altLang="ja-JP" dirty="0">
                <a:solidFill>
                  <a:schemeClr val="tx1"/>
                </a:solidFill>
              </a:rPr>
              <a:t>Separate Accounts/Direct </a:t>
            </a:r>
            <a:r>
              <a:rPr lang="en-US" altLang="ja-JP" dirty="0" smtClean="0">
                <a:solidFill>
                  <a:schemeClr val="tx1"/>
                </a:solidFill>
              </a:rPr>
              <a:t>Investments</a:t>
            </a:r>
            <a:r>
              <a:rPr lang="en-US" altLang="ja-JP" baseline="30000" dirty="0" smtClean="0">
                <a:solidFill>
                  <a:schemeClr val="tx1"/>
                </a:solidFill>
              </a:rPr>
              <a:t>1</a:t>
            </a:r>
            <a:endParaRPr lang="en-US" altLang="ja-JP" baseline="30000" dirty="0">
              <a:solidFill>
                <a:schemeClr val="tx1"/>
              </a:solidFill>
            </a:endParaRPr>
          </a:p>
          <a:p>
            <a:r>
              <a:rPr lang="en-GB" altLang="ja-JP" dirty="0">
                <a:solidFill>
                  <a:schemeClr val="tx1"/>
                </a:solidFill>
              </a:rPr>
              <a:t>Non-Traded REITs</a:t>
            </a:r>
          </a:p>
        </p:txBody>
      </p:sp>
      <p:sp>
        <p:nvSpPr>
          <p:cNvPr id="78" name="TextBox 77"/>
          <p:cNvSpPr txBox="1"/>
          <p:nvPr/>
        </p:nvSpPr>
        <p:spPr>
          <a:xfrm>
            <a:off x="4362517" y="1659714"/>
            <a:ext cx="1220051" cy="276999"/>
          </a:xfrm>
          <a:prstGeom prst="rect">
            <a:avLst/>
          </a:prstGeom>
          <a:noFill/>
        </p:spPr>
        <p:txBody>
          <a:bodyPr wrap="square" rtlCol="0">
            <a:spAutoFit/>
          </a:bodyPr>
          <a:lstStyle/>
          <a:p>
            <a:pPr algn="ctr"/>
            <a:r>
              <a:rPr lang="en-US" sz="1200" b="1" dirty="0" smtClean="0"/>
              <a:t>DEBT</a:t>
            </a:r>
            <a:endParaRPr lang="en-US" sz="1200" b="1" dirty="0"/>
          </a:p>
        </p:txBody>
      </p:sp>
      <p:sp>
        <p:nvSpPr>
          <p:cNvPr id="114" name="Content Placeholder 12"/>
          <p:cNvSpPr>
            <a:spLocks noGrp="1"/>
          </p:cNvSpPr>
          <p:nvPr>
            <p:ph idx="1"/>
          </p:nvPr>
        </p:nvSpPr>
        <p:spPr>
          <a:xfrm>
            <a:off x="293687" y="1235075"/>
            <a:ext cx="1839913" cy="5241925"/>
          </a:xfrm>
        </p:spPr>
        <p:txBody>
          <a:bodyPr/>
          <a:lstStyle/>
          <a:p>
            <a:pPr>
              <a:lnSpc>
                <a:spcPct val="100000"/>
              </a:lnSpc>
              <a:spcBef>
                <a:spcPts val="0"/>
              </a:spcBef>
            </a:pPr>
            <a:r>
              <a:rPr lang="en-US" sz="1100" b="0" dirty="0">
                <a:solidFill>
                  <a:schemeClr val="tx1"/>
                </a:solidFill>
              </a:rPr>
              <a:t>P</a:t>
            </a:r>
            <a:r>
              <a:rPr lang="en-US" sz="1100" b="0" dirty="0" smtClean="0">
                <a:solidFill>
                  <a:schemeClr val="tx1"/>
                </a:solidFill>
              </a:rPr>
              <a:t>roducts based on real estate have been developed for, and are traded in all four branches of the capital markets – </a:t>
            </a:r>
            <a:r>
              <a:rPr lang="en-US" sz="1100" dirty="0" smtClean="0">
                <a:solidFill>
                  <a:schemeClr val="tx1"/>
                </a:solidFill>
              </a:rPr>
              <a:t>Debt/Equity, Public/Private.</a:t>
            </a:r>
            <a:r>
              <a:rPr lang="en-US" sz="1100" b="0" dirty="0" smtClean="0">
                <a:solidFill>
                  <a:schemeClr val="tx1"/>
                </a:solidFill>
              </a:rPr>
              <a:t>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asset and loan coverage of some of these </a:t>
            </a:r>
            <a:r>
              <a:rPr lang="en-US" sz="1100" b="0" dirty="0">
                <a:solidFill>
                  <a:schemeClr val="tx1"/>
                </a:solidFill>
              </a:rPr>
              <a:t>markets </a:t>
            </a:r>
            <a:r>
              <a:rPr lang="en-US" sz="1100" b="0" dirty="0" smtClean="0">
                <a:solidFill>
                  <a:schemeClr val="tx1"/>
                </a:solidFill>
              </a:rPr>
              <a:t>is comprehensive enough to provide significant insight into macro-level trends.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Unique characteristics of individual properties and securities linked to these properties, different forms of economic interest in commercial real estate (direct/indirect, public/private) and the varying preferences of investors create significant </a:t>
            </a:r>
            <a:r>
              <a:rPr lang="en-US" sz="1100" dirty="0" smtClean="0">
                <a:solidFill>
                  <a:schemeClr val="tx1"/>
                </a:solidFill>
              </a:rPr>
              <a:t>market segmentation</a:t>
            </a:r>
            <a:r>
              <a:rPr lang="en-US" sz="1100" b="0" dirty="0" smtClean="0">
                <a:solidFill>
                  <a:schemeClr val="tx1"/>
                </a:solidFill>
              </a:rPr>
              <a:t>.  </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Cello’s </a:t>
            </a:r>
            <a:r>
              <a:rPr lang="en-US" sz="1100" b="0" dirty="0">
                <a:solidFill>
                  <a:schemeClr val="tx1"/>
                </a:solidFill>
              </a:rPr>
              <a:t>framework for CRE analysis connects valuation information across the various capital markets that price CRE </a:t>
            </a:r>
            <a:r>
              <a:rPr lang="en-US" sz="1100" b="0" dirty="0" smtClean="0">
                <a:solidFill>
                  <a:schemeClr val="tx1"/>
                </a:solidFill>
              </a:rPr>
              <a:t>risk</a:t>
            </a:r>
            <a:r>
              <a:rPr lang="en-US" sz="1100" b="0" dirty="0">
                <a:solidFill>
                  <a:schemeClr val="tx1"/>
                </a:solidFill>
              </a:rPr>
              <a:t> </a:t>
            </a:r>
            <a:r>
              <a:rPr lang="en-US" sz="1100" b="0" dirty="0" smtClean="0">
                <a:solidFill>
                  <a:schemeClr val="tx1"/>
                </a:solidFill>
              </a:rPr>
              <a:t>to  real estate fundamentals with the goal of identifying pricing inefficiencies that create relative value opportunities.</a:t>
            </a: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p:txBody>
      </p:sp>
      <p:sp>
        <p:nvSpPr>
          <p:cNvPr id="62" name="TextBox 61"/>
          <p:cNvSpPr txBox="1"/>
          <p:nvPr/>
        </p:nvSpPr>
        <p:spPr>
          <a:xfrm>
            <a:off x="6604602" y="1659714"/>
            <a:ext cx="1220051" cy="276999"/>
          </a:xfrm>
          <a:prstGeom prst="rect">
            <a:avLst/>
          </a:prstGeom>
          <a:noFill/>
        </p:spPr>
        <p:txBody>
          <a:bodyPr wrap="square" rtlCol="0">
            <a:spAutoFit/>
          </a:bodyPr>
          <a:lstStyle/>
          <a:p>
            <a:pPr algn="ctr"/>
            <a:r>
              <a:rPr lang="en-US" sz="1200" b="1" dirty="0" smtClean="0"/>
              <a:t>EQUITY</a:t>
            </a:r>
            <a:endParaRPr lang="en-US" sz="1200" b="1" dirty="0"/>
          </a:p>
        </p:txBody>
      </p:sp>
      <p:sp>
        <p:nvSpPr>
          <p:cNvPr id="16" name="Rectangle 15"/>
          <p:cNvSpPr/>
          <p:nvPr/>
        </p:nvSpPr>
        <p:spPr>
          <a:xfrm>
            <a:off x="877264" y="7349978"/>
            <a:ext cx="7842211" cy="230832"/>
          </a:xfrm>
          <a:prstGeom prst="rect">
            <a:avLst/>
          </a:prstGeom>
        </p:spPr>
        <p:txBody>
          <a:bodyPr wrap="none">
            <a:spAutoFit/>
          </a:bodyPr>
          <a:lstStyle/>
          <a:p>
            <a:r>
              <a:rPr lang="en-US" sz="900" baseline="30000" dirty="0" smtClean="0"/>
              <a:t>1</a:t>
            </a:r>
            <a:r>
              <a:rPr lang="en-US" sz="900" dirty="0" smtClean="0"/>
              <a:t>Direct investment in real estate involves purchasing a property outright and assuming operating control over rent policy and collection, maintenance, and growth.</a:t>
            </a:r>
            <a:endParaRPr lang="en-US" sz="900" dirty="0"/>
          </a:p>
        </p:txBody>
      </p:sp>
    </p:spTree>
    <p:extLst>
      <p:ext uri="{BB962C8B-B14F-4D97-AF65-F5344CB8AC3E}">
        <p14:creationId xmlns:p14="http://schemas.microsoft.com/office/powerpoint/2010/main" val="42187986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a:t>
            </a:r>
            <a:br>
              <a:rPr lang="en-US" dirty="0"/>
            </a:br>
            <a:r>
              <a:rPr lang="en-US" dirty="0" smtClean="0"/>
              <a:t>IDIOSYNCRATIC RISKS CAN PLAY A SIGNIFICANT ROLE IN CRE  </a:t>
            </a:r>
            <a:endParaRPr lang="en-US" dirty="0"/>
          </a:p>
        </p:txBody>
      </p:sp>
      <p:sp>
        <p:nvSpPr>
          <p:cNvPr id="3" name="Content Placeholder 2"/>
          <p:cNvSpPr>
            <a:spLocks noGrp="1"/>
          </p:cNvSpPr>
          <p:nvPr>
            <p:ph idx="1"/>
          </p:nvPr>
        </p:nvSpPr>
        <p:spPr/>
        <p:txBody>
          <a:bodyPr vert="horz" lIns="0" tIns="0" rIns="0" bIns="0" rtlCol="0" anchor="t" anchorCtr="0">
            <a:noAutofit/>
          </a:bodyPr>
          <a:lstStyle/>
          <a:p>
            <a:pPr>
              <a:lnSpc>
                <a:spcPct val="100000"/>
              </a:lnSpc>
              <a:spcBef>
                <a:spcPts val="0"/>
              </a:spcBef>
            </a:pPr>
            <a:r>
              <a:rPr lang="en-US" sz="1100" b="0" dirty="0" smtClean="0">
                <a:solidFill>
                  <a:schemeClr val="tx1"/>
                </a:solidFill>
              </a:rPr>
              <a:t>The value of commercial real estate is affected by geographic, demographic, urban and local economic factors as well as the overall state of the economy.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Like other asset classes, the asset risk of a commercial property comes from both </a:t>
            </a:r>
            <a:r>
              <a:rPr lang="en-US" sz="1100" dirty="0" smtClean="0">
                <a:solidFill>
                  <a:schemeClr val="tx1"/>
                </a:solidFill>
              </a:rPr>
              <a:t>market uncertainty </a:t>
            </a:r>
            <a:r>
              <a:rPr lang="en-US" sz="1100" b="0" dirty="0" smtClean="0">
                <a:solidFill>
                  <a:schemeClr val="tx1"/>
                </a:solidFill>
              </a:rPr>
              <a:t>and from </a:t>
            </a:r>
            <a:r>
              <a:rPr lang="en-US" sz="1100" dirty="0" smtClean="0">
                <a:solidFill>
                  <a:schemeClr val="tx1"/>
                </a:solidFill>
              </a:rPr>
              <a:t>idiosyncratic sources</a:t>
            </a:r>
            <a:r>
              <a:rPr lang="en-US" sz="1100" b="0" dirty="0" smtClean="0">
                <a:solidFill>
                  <a:schemeClr val="tx1"/>
                </a:solidFill>
              </a:rPr>
              <a:t>.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More than other asset classes, idiosyncratic risk can play a very significant role because of the local nature of real estate.</a:t>
            </a:r>
            <a:endParaRPr lang="en-US" sz="1100" b="0" dirty="0">
              <a:solidFill>
                <a:schemeClr val="tx1"/>
              </a:solidFill>
            </a:endParaRPr>
          </a:p>
        </p:txBody>
      </p:sp>
      <p:grpSp>
        <p:nvGrpSpPr>
          <p:cNvPr id="10" name="Group 9"/>
          <p:cNvGrpSpPr/>
          <p:nvPr/>
        </p:nvGrpSpPr>
        <p:grpSpPr>
          <a:xfrm rot="16200000">
            <a:off x="3479738" y="2790365"/>
            <a:ext cx="1932905" cy="1729581"/>
            <a:chOff x="1793875" y="2565400"/>
            <a:chExt cx="5549900" cy="792163"/>
          </a:xfrm>
        </p:grpSpPr>
        <p:cxnSp>
          <p:nvCxnSpPr>
            <p:cNvPr id="7"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8"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9"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p:grpSp>
        <p:nvGrpSpPr>
          <p:cNvPr id="19" name="Group 18"/>
          <p:cNvGrpSpPr/>
          <p:nvPr/>
        </p:nvGrpSpPr>
        <p:grpSpPr>
          <a:xfrm rot="16200000">
            <a:off x="6235282" y="2305970"/>
            <a:ext cx="689028" cy="579342"/>
            <a:chOff x="1793875" y="2565400"/>
            <a:chExt cx="5549900" cy="792163"/>
          </a:xfrm>
        </p:grpSpPr>
        <p:cxnSp>
          <p:nvCxnSpPr>
            <p:cNvPr id="20"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21"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22"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p:grpSp>
        <p:nvGrpSpPr>
          <p:cNvPr id="35" name="Group 34"/>
          <p:cNvGrpSpPr/>
          <p:nvPr/>
        </p:nvGrpSpPr>
        <p:grpSpPr>
          <a:xfrm rot="16200000">
            <a:off x="6235282" y="3385276"/>
            <a:ext cx="689028" cy="579342"/>
            <a:chOff x="1793875" y="2565400"/>
            <a:chExt cx="5549900" cy="792163"/>
          </a:xfrm>
        </p:grpSpPr>
        <p:cxnSp>
          <p:nvCxnSpPr>
            <p:cNvPr id="36"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37"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38"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p:grpSp>
        <p:nvGrpSpPr>
          <p:cNvPr id="42" name="Group 41"/>
          <p:cNvGrpSpPr/>
          <p:nvPr/>
        </p:nvGrpSpPr>
        <p:grpSpPr>
          <a:xfrm rot="16200000">
            <a:off x="6235282" y="4502952"/>
            <a:ext cx="689028" cy="579342"/>
            <a:chOff x="1793875" y="2565400"/>
            <a:chExt cx="5549900" cy="792163"/>
          </a:xfrm>
        </p:grpSpPr>
        <p:cxnSp>
          <p:nvCxnSpPr>
            <p:cNvPr id="43"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44"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45"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p:sp>
        <p:nvSpPr>
          <p:cNvPr id="57" name="TextBox 56"/>
          <p:cNvSpPr txBox="1"/>
          <p:nvPr/>
        </p:nvSpPr>
        <p:spPr>
          <a:xfrm>
            <a:off x="5105400" y="5877580"/>
            <a:ext cx="1100769" cy="523220"/>
          </a:xfrm>
          <a:prstGeom prst="rect">
            <a:avLst/>
          </a:prstGeom>
          <a:noFill/>
        </p:spPr>
        <p:txBody>
          <a:bodyPr wrap="square" rtlCol="0">
            <a:spAutoFit/>
          </a:bodyPr>
          <a:lstStyle/>
          <a:p>
            <a:pPr algn="ctr"/>
            <a:r>
              <a:rPr lang="en-US" sz="1400" dirty="0" smtClean="0"/>
              <a:t>Market Uncertainty</a:t>
            </a:r>
            <a:endParaRPr lang="en-US" sz="1400" dirty="0"/>
          </a:p>
        </p:txBody>
      </p:sp>
      <p:sp>
        <p:nvSpPr>
          <p:cNvPr id="58" name="TextBox 57"/>
          <p:cNvSpPr txBox="1"/>
          <p:nvPr/>
        </p:nvSpPr>
        <p:spPr>
          <a:xfrm>
            <a:off x="6975925" y="5877580"/>
            <a:ext cx="1100769" cy="523220"/>
          </a:xfrm>
          <a:prstGeom prst="rect">
            <a:avLst/>
          </a:prstGeom>
          <a:noFill/>
        </p:spPr>
        <p:txBody>
          <a:bodyPr wrap="square" rtlCol="0">
            <a:spAutoFit/>
          </a:bodyPr>
          <a:lstStyle/>
          <a:p>
            <a:pPr algn="ctr"/>
            <a:r>
              <a:rPr lang="en-US" sz="1400" dirty="0" smtClean="0"/>
              <a:t>Individual</a:t>
            </a:r>
          </a:p>
          <a:p>
            <a:pPr algn="ctr"/>
            <a:r>
              <a:rPr lang="en-US" sz="1400" dirty="0" smtClean="0"/>
              <a:t>Dispersion</a:t>
            </a:r>
            <a:endParaRPr lang="en-US" sz="1400" dirty="0"/>
          </a:p>
        </p:txBody>
      </p:sp>
      <p:sp>
        <p:nvSpPr>
          <p:cNvPr id="60" name="Plus 59"/>
          <p:cNvSpPr/>
          <p:nvPr/>
        </p:nvSpPr>
        <p:spPr>
          <a:xfrm>
            <a:off x="6396024" y="5953780"/>
            <a:ext cx="365760" cy="365760"/>
          </a:xfrm>
          <a:prstGeom prst="mathPlus">
            <a:avLst>
              <a:gd name="adj1" fmla="val 68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Elbow Connector 61"/>
          <p:cNvCxnSpPr>
            <a:stCxn id="57" idx="0"/>
            <a:endCxn id="58" idx="0"/>
          </p:cNvCxnSpPr>
          <p:nvPr/>
        </p:nvCxnSpPr>
        <p:spPr>
          <a:xfrm rot="5400000" flipH="1" flipV="1">
            <a:off x="6591047" y="4942318"/>
            <a:ext cx="12700" cy="1870525"/>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2743200" y="14287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64" name="Content Placeholder 8"/>
          <p:cNvSpPr txBox="1">
            <a:spLocks/>
          </p:cNvSpPr>
          <p:nvPr/>
        </p:nvSpPr>
        <p:spPr>
          <a:xfrm>
            <a:off x="4343400" y="1333500"/>
            <a:ext cx="3276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Asset Risk: Market and Idiosyncratic Factors</a:t>
            </a:r>
            <a:endParaRPr lang="en-US" sz="1200" dirty="0"/>
          </a:p>
        </p:txBody>
      </p:sp>
      <mc:AlternateContent xmlns:mc="http://schemas.openxmlformats.org/markup-compatibility/2006" xmlns:a14="http://schemas.microsoft.com/office/drawing/2010/main">
        <mc:Choice Requires="a14">
          <p:sp>
            <p:nvSpPr>
              <p:cNvPr id="11" name="Rectangle 10"/>
              <p:cNvSpPr/>
              <p:nvPr/>
            </p:nvSpPr>
            <p:spPr>
              <a:xfrm>
                <a:off x="2438400" y="3415986"/>
                <a:ext cx="1063625" cy="3493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600" i="1">
                              <a:latin typeface="Cambria Math"/>
                            </a:rPr>
                          </m:ctrlPr>
                        </m:sSubSupPr>
                        <m:e>
                          <m:r>
                            <a:rPr lang="en-US" sz="1600" i="1">
                              <a:latin typeface="Cambria Math"/>
                            </a:rPr>
                            <m:t>𝑁𝑂𝐼</m:t>
                          </m:r>
                        </m:e>
                        <m:sub>
                          <m:r>
                            <a:rPr lang="en-US" sz="1600" i="1">
                              <a:latin typeface="Cambria Math"/>
                            </a:rPr>
                            <m:t>𝐴𝑠𝑠𝑒𝑡</m:t>
                          </m:r>
                          <m:r>
                            <a:rPr lang="en-US" sz="1600">
                              <a:latin typeface="Cambria Math"/>
                            </a:rPr>
                            <m:t>,</m:t>
                          </m:r>
                          <m:r>
                            <a:rPr lang="en-US" sz="1600" i="1">
                              <a:latin typeface="Cambria Math"/>
                            </a:rPr>
                            <m:t>𝑡</m:t>
                          </m:r>
                        </m:sub>
                        <m:sup/>
                      </m:sSubSup>
                    </m:oMath>
                  </m:oMathPara>
                </a14:m>
                <a:endParaRPr lang="en-US" sz="1600" dirty="0"/>
              </a:p>
            </p:txBody>
          </p:sp>
        </mc:Choice>
        <mc:Fallback xmlns="">
          <p:sp>
            <p:nvSpPr>
              <p:cNvPr id="11" name="Rectangle 10"/>
              <p:cNvSpPr>
                <a:spLocks noRot="1" noChangeAspect="1" noMove="1" noResize="1" noEditPoints="1" noAdjustHandles="1" noChangeArrowheads="1" noChangeShapeType="1" noTextEdit="1"/>
              </p:cNvSpPr>
              <p:nvPr/>
            </p:nvSpPr>
            <p:spPr>
              <a:xfrm>
                <a:off x="2438400" y="3415986"/>
                <a:ext cx="1063625" cy="349326"/>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5274144" y="2408094"/>
                <a:ext cx="969047" cy="4084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600" i="1" smtClean="0">
                              <a:latin typeface="Cambria Math"/>
                            </a:rPr>
                          </m:ctrlPr>
                        </m:sSubSupPr>
                        <m:e>
                          <m:r>
                            <a:rPr lang="en-US" sz="1600" i="1">
                              <a:latin typeface="Cambria Math"/>
                            </a:rPr>
                            <m:t>𝑁𝑂𝐼</m:t>
                          </m:r>
                        </m:e>
                        <m:sub>
                          <m:r>
                            <a:rPr lang="en-US" sz="1600" i="1">
                              <a:latin typeface="Cambria Math"/>
                            </a:rPr>
                            <m:t>𝑀𝑘𝑡</m:t>
                          </m:r>
                          <m:r>
                            <a:rPr lang="en-US" sz="1600" i="1">
                              <a:latin typeface="Cambria Math"/>
                            </a:rPr>
                            <m:t>,</m:t>
                          </m:r>
                          <m:r>
                            <a:rPr lang="en-US" sz="1600" i="1">
                              <a:latin typeface="Cambria Math"/>
                            </a:rPr>
                            <m:t>𝑡</m:t>
                          </m:r>
                        </m:sub>
                        <m:sup>
                          <m:r>
                            <a:rPr lang="en-US" sz="1600" i="1" smtClean="0">
                              <a:latin typeface="Cambria Math"/>
                            </a:rPr>
                            <m:t>𝑈</m:t>
                          </m:r>
                          <m:r>
                            <a:rPr lang="en-US" sz="1600" i="1">
                              <a:latin typeface="Cambria Math"/>
                            </a:rPr>
                            <m:t>𝑝</m:t>
                          </m:r>
                        </m:sup>
                      </m:sSubSup>
                    </m:oMath>
                  </m:oMathPara>
                </a14:m>
                <a:endParaRPr lang="en-US" sz="1600" dirty="0"/>
              </a:p>
            </p:txBody>
          </p:sp>
        </mc:Choice>
        <mc:Fallback xmlns="">
          <p:sp>
            <p:nvSpPr>
              <p:cNvPr id="12" name="Rectangle 11"/>
              <p:cNvSpPr>
                <a:spLocks noRot="1" noChangeAspect="1" noMove="1" noResize="1" noEditPoints="1" noAdjustHandles="1" noChangeArrowheads="1" noChangeShapeType="1" noTextEdit="1"/>
              </p:cNvSpPr>
              <p:nvPr/>
            </p:nvSpPr>
            <p:spPr>
              <a:xfrm>
                <a:off x="5274144" y="2408094"/>
                <a:ext cx="969047" cy="408445"/>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5274144" y="3502788"/>
                <a:ext cx="969047" cy="3829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600" i="1" smtClean="0">
                              <a:latin typeface="Cambria Math"/>
                            </a:rPr>
                          </m:ctrlPr>
                        </m:sSubSupPr>
                        <m:e>
                          <m:r>
                            <a:rPr lang="en-US" sz="1600" i="1">
                              <a:latin typeface="Cambria Math"/>
                            </a:rPr>
                            <m:t>𝑁𝑂𝐼</m:t>
                          </m:r>
                        </m:e>
                        <m:sub>
                          <m:r>
                            <a:rPr lang="en-US" sz="1600" i="1">
                              <a:latin typeface="Cambria Math"/>
                            </a:rPr>
                            <m:t>𝑀𝑘𝑡</m:t>
                          </m:r>
                          <m:r>
                            <a:rPr lang="en-US" sz="1600" i="1">
                              <a:latin typeface="Cambria Math"/>
                            </a:rPr>
                            <m:t>,</m:t>
                          </m:r>
                          <m:r>
                            <a:rPr lang="en-US" sz="1600" i="1">
                              <a:latin typeface="Cambria Math"/>
                            </a:rPr>
                            <m:t>𝑡</m:t>
                          </m:r>
                        </m:sub>
                        <m:sup>
                          <m:r>
                            <a:rPr lang="en-US" sz="1600" i="1" smtClean="0">
                              <a:latin typeface="Cambria Math"/>
                            </a:rPr>
                            <m:t>𝐹</m:t>
                          </m:r>
                          <m:r>
                            <a:rPr lang="en-US" sz="1600" i="1">
                              <a:latin typeface="Cambria Math"/>
                            </a:rPr>
                            <m:t>𝑙𝑎𝑡</m:t>
                          </m:r>
                        </m:sup>
                      </m:sSubSup>
                    </m:oMath>
                  </m:oMathPara>
                </a14:m>
                <a:endParaRPr lang="en-US" sz="1600" dirty="0"/>
              </a:p>
            </p:txBody>
          </p:sp>
        </mc:Choice>
        <mc:Fallback xmlns="">
          <p:sp>
            <p:nvSpPr>
              <p:cNvPr id="13" name="Rectangle 12"/>
              <p:cNvSpPr>
                <a:spLocks noRot="1" noChangeAspect="1" noMove="1" noResize="1" noEditPoints="1" noAdjustHandles="1" noChangeArrowheads="1" noChangeShapeType="1" noTextEdit="1"/>
              </p:cNvSpPr>
              <p:nvPr/>
            </p:nvSpPr>
            <p:spPr>
              <a:xfrm>
                <a:off x="5274144" y="3502788"/>
                <a:ext cx="969047" cy="382925"/>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5257800" y="4503261"/>
                <a:ext cx="989886" cy="3782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600" i="1">
                              <a:latin typeface="Cambria Math"/>
                            </a:rPr>
                          </m:ctrlPr>
                        </m:sSubSupPr>
                        <m:e>
                          <m:r>
                            <a:rPr lang="en-US" sz="1600" i="1">
                              <a:latin typeface="Cambria Math"/>
                            </a:rPr>
                            <m:t>𝑁𝑂𝐼</m:t>
                          </m:r>
                        </m:e>
                        <m:sub>
                          <m:r>
                            <a:rPr lang="en-US" sz="1600" i="1">
                              <a:latin typeface="Cambria Math"/>
                            </a:rPr>
                            <m:t>𝑀𝑘𝑡</m:t>
                          </m:r>
                          <m:r>
                            <a:rPr lang="en-US" sz="1600" i="1">
                              <a:latin typeface="Cambria Math"/>
                            </a:rPr>
                            <m:t>,</m:t>
                          </m:r>
                          <m:r>
                            <a:rPr lang="en-US" sz="1600" i="1">
                              <a:latin typeface="Cambria Math"/>
                            </a:rPr>
                            <m:t>𝑡</m:t>
                          </m:r>
                        </m:sub>
                        <m:sup>
                          <m:r>
                            <a:rPr lang="en-US" sz="1600" i="1">
                              <a:latin typeface="Cambria Math"/>
                            </a:rPr>
                            <m:t>𝐷𝑜𝑤𝑛</m:t>
                          </m:r>
                        </m:sup>
                      </m:sSubSup>
                    </m:oMath>
                  </m:oMathPara>
                </a14:m>
                <a:endParaRPr lang="en-US" sz="1600" dirty="0"/>
              </a:p>
            </p:txBody>
          </p:sp>
        </mc:Choice>
        <mc:Fallback xmlns="">
          <p:sp>
            <p:nvSpPr>
              <p:cNvPr id="17" name="Rectangle 16"/>
              <p:cNvSpPr>
                <a:spLocks noRot="1" noChangeAspect="1" noMove="1" noResize="1" noEditPoints="1" noAdjustHandles="1" noChangeArrowheads="1" noChangeShapeType="1" noTextEdit="1"/>
              </p:cNvSpPr>
              <p:nvPr/>
            </p:nvSpPr>
            <p:spPr>
              <a:xfrm>
                <a:off x="5257800" y="4503261"/>
                <a:ext cx="989886" cy="378245"/>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6998521" y="5029200"/>
                <a:ext cx="926279" cy="3508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𝐷𝑜𝑤𝑛</m:t>
                          </m:r>
                        </m:sup>
                      </m:sSubSup>
                    </m:oMath>
                  </m:oMathPara>
                </a14:m>
                <a:endParaRPr lang="en-US" sz="1400" dirty="0"/>
              </a:p>
            </p:txBody>
          </p:sp>
        </mc:Choice>
        <mc:Fallback xmlns="">
          <p:sp>
            <p:nvSpPr>
              <p:cNvPr id="25" name="Rectangle 24"/>
              <p:cNvSpPr>
                <a:spLocks noRot="1" noChangeAspect="1" noMove="1" noResize="1" noEditPoints="1" noAdjustHandles="1" noChangeArrowheads="1" noChangeShapeType="1" noTextEdit="1"/>
              </p:cNvSpPr>
              <p:nvPr/>
            </p:nvSpPr>
            <p:spPr>
              <a:xfrm>
                <a:off x="6998521" y="5029200"/>
                <a:ext cx="926279" cy="350802"/>
              </a:xfrm>
              <a:prstGeom prst="rect">
                <a:avLst/>
              </a:prstGeom>
              <a:blipFill rotWithShape="1">
                <a:blip r:embed="rId7"/>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6998964" y="4649880"/>
                <a:ext cx="926279" cy="3549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𝐹𝑙𝑎𝑡</m:t>
                          </m:r>
                        </m:sup>
                      </m:sSubSup>
                    </m:oMath>
                  </m:oMathPara>
                </a14:m>
                <a:endParaRPr lang="en-US" sz="1400" dirty="0"/>
              </a:p>
            </p:txBody>
          </p:sp>
        </mc:Choice>
        <mc:Fallback xmlns="">
          <p:sp>
            <p:nvSpPr>
              <p:cNvPr id="26" name="Rectangle 25"/>
              <p:cNvSpPr>
                <a:spLocks noRot="1" noChangeAspect="1" noMove="1" noResize="1" noEditPoints="1" noAdjustHandles="1" noChangeArrowheads="1" noChangeShapeType="1" noTextEdit="1"/>
              </p:cNvSpPr>
              <p:nvPr/>
            </p:nvSpPr>
            <p:spPr>
              <a:xfrm>
                <a:off x="6998964" y="4649880"/>
                <a:ext cx="926279" cy="354969"/>
              </a:xfrm>
              <a:prstGeom prst="rect">
                <a:avLst/>
              </a:prstGeom>
              <a:blipFill rotWithShape="1">
                <a:blip r:embed="rId8"/>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6998964" y="4291053"/>
                <a:ext cx="926279" cy="3765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𝑈𝑝</m:t>
                          </m:r>
                        </m:sup>
                      </m:sSubSup>
                    </m:oMath>
                  </m:oMathPara>
                </a14:m>
                <a:endParaRPr lang="en-US" sz="1400" dirty="0"/>
              </a:p>
            </p:txBody>
          </p:sp>
        </mc:Choice>
        <mc:Fallback xmlns="">
          <p:sp>
            <p:nvSpPr>
              <p:cNvPr id="27" name="Rectangle 26"/>
              <p:cNvSpPr>
                <a:spLocks noRot="1" noChangeAspect="1" noMove="1" noResize="1" noEditPoints="1" noAdjustHandles="1" noChangeArrowheads="1" noChangeShapeType="1" noTextEdit="1"/>
              </p:cNvSpPr>
              <p:nvPr/>
            </p:nvSpPr>
            <p:spPr>
              <a:xfrm>
                <a:off x="6998964" y="4291053"/>
                <a:ext cx="926279" cy="376578"/>
              </a:xfrm>
              <a:prstGeom prst="rect">
                <a:avLst/>
              </a:prstGeom>
              <a:blipFill rotWithShape="1">
                <a:blip r:embed="rId9"/>
                <a:stretch>
                  <a:fillRect b="-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Rectangle 58"/>
              <p:cNvSpPr/>
              <p:nvPr/>
            </p:nvSpPr>
            <p:spPr>
              <a:xfrm>
                <a:off x="6967833" y="3886200"/>
                <a:ext cx="926279" cy="3508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𝐷𝑜𝑤𝑛</m:t>
                          </m:r>
                        </m:sup>
                      </m:sSubSup>
                    </m:oMath>
                  </m:oMathPara>
                </a14:m>
                <a:endParaRPr lang="en-US" sz="1400" dirty="0"/>
              </a:p>
            </p:txBody>
          </p:sp>
        </mc:Choice>
        <mc:Fallback xmlns="">
          <p:sp>
            <p:nvSpPr>
              <p:cNvPr id="59" name="Rectangle 58"/>
              <p:cNvSpPr>
                <a:spLocks noRot="1" noChangeAspect="1" noMove="1" noResize="1" noEditPoints="1" noAdjustHandles="1" noChangeArrowheads="1" noChangeShapeType="1" noTextEdit="1"/>
              </p:cNvSpPr>
              <p:nvPr/>
            </p:nvSpPr>
            <p:spPr>
              <a:xfrm>
                <a:off x="6967833" y="3886200"/>
                <a:ext cx="926279" cy="350802"/>
              </a:xfrm>
              <a:prstGeom prst="rect">
                <a:avLst/>
              </a:prstGeom>
              <a:blipFill rotWithShape="1">
                <a:blip r:embed="rId10"/>
                <a:stretch>
                  <a:fillRect b="-35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p:cNvSpPr/>
              <p:nvPr/>
            </p:nvSpPr>
            <p:spPr>
              <a:xfrm>
                <a:off x="6967833" y="3531103"/>
                <a:ext cx="926279" cy="3549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𝐹𝑙𝑎𝑡</m:t>
                          </m:r>
                        </m:sup>
                      </m:sSubSup>
                    </m:oMath>
                  </m:oMathPara>
                </a14:m>
                <a:endParaRPr lang="en-US" sz="1400" dirty="0"/>
              </a:p>
            </p:txBody>
          </p:sp>
        </mc:Choice>
        <mc:Fallback xmlns="">
          <p:sp>
            <p:nvSpPr>
              <p:cNvPr id="61" name="Rectangle 60"/>
              <p:cNvSpPr>
                <a:spLocks noRot="1" noChangeAspect="1" noMove="1" noResize="1" noEditPoints="1" noAdjustHandles="1" noChangeArrowheads="1" noChangeShapeType="1" noTextEdit="1"/>
              </p:cNvSpPr>
              <p:nvPr/>
            </p:nvSpPr>
            <p:spPr>
              <a:xfrm>
                <a:off x="6967833" y="3531103"/>
                <a:ext cx="926279" cy="354969"/>
              </a:xfrm>
              <a:prstGeom prst="rect">
                <a:avLst/>
              </a:prstGeom>
              <a:blipFill rotWithShape="1">
                <a:blip r:embed="rId11"/>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6967833" y="3204822"/>
                <a:ext cx="926279" cy="3765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𝑈𝑝</m:t>
                          </m:r>
                        </m:sup>
                      </m:sSubSup>
                    </m:oMath>
                  </m:oMathPara>
                </a14:m>
                <a:endParaRPr lang="en-US" sz="1400" dirty="0"/>
              </a:p>
            </p:txBody>
          </p:sp>
        </mc:Choice>
        <mc:Fallback xmlns="">
          <p:sp>
            <p:nvSpPr>
              <p:cNvPr id="65" name="Rectangle 64"/>
              <p:cNvSpPr>
                <a:spLocks noRot="1" noChangeAspect="1" noMove="1" noResize="1" noEditPoints="1" noAdjustHandles="1" noChangeArrowheads="1" noChangeShapeType="1" noTextEdit="1"/>
              </p:cNvSpPr>
              <p:nvPr/>
            </p:nvSpPr>
            <p:spPr>
              <a:xfrm>
                <a:off x="6967833" y="3204822"/>
                <a:ext cx="926279" cy="376578"/>
              </a:xfrm>
              <a:prstGeom prst="rect">
                <a:avLst/>
              </a:prstGeom>
              <a:blipFill rotWithShape="1">
                <a:blip r:embed="rId9"/>
                <a:stretch>
                  <a:fillRect b="-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Rectangle 65"/>
              <p:cNvSpPr/>
              <p:nvPr/>
            </p:nvSpPr>
            <p:spPr>
              <a:xfrm>
                <a:off x="6967833" y="2743200"/>
                <a:ext cx="926279" cy="3508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𝐷𝑜𝑤𝑛</m:t>
                          </m:r>
                        </m:sup>
                      </m:sSubSup>
                    </m:oMath>
                  </m:oMathPara>
                </a14:m>
                <a:endParaRPr lang="en-US" sz="1400" dirty="0"/>
              </a:p>
            </p:txBody>
          </p:sp>
        </mc:Choice>
        <mc:Fallback xmlns="">
          <p:sp>
            <p:nvSpPr>
              <p:cNvPr id="66" name="Rectangle 65"/>
              <p:cNvSpPr>
                <a:spLocks noRot="1" noChangeAspect="1" noMove="1" noResize="1" noEditPoints="1" noAdjustHandles="1" noChangeArrowheads="1" noChangeShapeType="1" noTextEdit="1"/>
              </p:cNvSpPr>
              <p:nvPr/>
            </p:nvSpPr>
            <p:spPr>
              <a:xfrm>
                <a:off x="6967833" y="2743200"/>
                <a:ext cx="926279" cy="350802"/>
              </a:xfrm>
              <a:prstGeom prst="rect">
                <a:avLst/>
              </a:prstGeom>
              <a:blipFill rotWithShape="1">
                <a:blip r:embed="rId7"/>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p:cNvSpPr/>
              <p:nvPr/>
            </p:nvSpPr>
            <p:spPr>
              <a:xfrm>
                <a:off x="6967833" y="2394004"/>
                <a:ext cx="926279" cy="3549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𝐹𝑙𝑎𝑡</m:t>
                          </m:r>
                        </m:sup>
                      </m:sSubSup>
                    </m:oMath>
                  </m:oMathPara>
                </a14:m>
                <a:endParaRPr lang="en-US" sz="1400" dirty="0"/>
              </a:p>
            </p:txBody>
          </p:sp>
        </mc:Choice>
        <mc:Fallback xmlns="">
          <p:sp>
            <p:nvSpPr>
              <p:cNvPr id="67" name="Rectangle 66"/>
              <p:cNvSpPr>
                <a:spLocks noRot="1" noChangeAspect="1" noMove="1" noResize="1" noEditPoints="1" noAdjustHandles="1" noChangeArrowheads="1" noChangeShapeType="1" noTextEdit="1"/>
              </p:cNvSpPr>
              <p:nvPr/>
            </p:nvSpPr>
            <p:spPr>
              <a:xfrm>
                <a:off x="6967833" y="2394004"/>
                <a:ext cx="926279" cy="354969"/>
              </a:xfrm>
              <a:prstGeom prst="rect">
                <a:avLst/>
              </a:prstGeom>
              <a:blipFill rotWithShape="1">
                <a:blip r:embed="rId8"/>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967833" y="2061822"/>
                <a:ext cx="926279" cy="3765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𝑈𝑝</m:t>
                          </m:r>
                        </m:sup>
                      </m:sSubSup>
                    </m:oMath>
                  </m:oMathPara>
                </a14:m>
                <a:endParaRPr lang="en-US" sz="1400" dirty="0"/>
              </a:p>
            </p:txBody>
          </p:sp>
        </mc:Choice>
        <mc:Fallback xmlns="">
          <p:sp>
            <p:nvSpPr>
              <p:cNvPr id="68" name="Rectangle 67"/>
              <p:cNvSpPr>
                <a:spLocks noRot="1" noChangeAspect="1" noMove="1" noResize="1" noEditPoints="1" noAdjustHandles="1" noChangeArrowheads="1" noChangeShapeType="1" noTextEdit="1"/>
              </p:cNvSpPr>
              <p:nvPr/>
            </p:nvSpPr>
            <p:spPr>
              <a:xfrm>
                <a:off x="6967833" y="2061822"/>
                <a:ext cx="926279" cy="376578"/>
              </a:xfrm>
              <a:prstGeom prst="rect">
                <a:avLst/>
              </a:prstGeom>
              <a:blipFill rotWithShape="1">
                <a:blip r:embed="rId12"/>
                <a:stretch>
                  <a:fillRect b="-3226"/>
                </a:stretch>
              </a:blipFill>
            </p:spPr>
            <p:txBody>
              <a:bodyPr/>
              <a:lstStyle/>
              <a:p>
                <a:r>
                  <a:rPr lang="en-US">
                    <a:noFill/>
                  </a:rPr>
                  <a:t> </a:t>
                </a:r>
              </a:p>
            </p:txBody>
          </p:sp>
        </mc:Fallback>
      </mc:AlternateContent>
    </p:spTree>
    <p:extLst>
      <p:ext uri="{BB962C8B-B14F-4D97-AF65-F5344CB8AC3E}">
        <p14:creationId xmlns:p14="http://schemas.microsoft.com/office/powerpoint/2010/main" val="184210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CRE Modeling framework: ETUDE</a:t>
            </a:r>
            <a:endParaRPr lang="en-US" dirty="0"/>
          </a:p>
        </p:txBody>
      </p:sp>
      <p:sp>
        <p:nvSpPr>
          <p:cNvPr id="35" name="TextBox 34"/>
          <p:cNvSpPr txBox="1"/>
          <p:nvPr/>
        </p:nvSpPr>
        <p:spPr>
          <a:xfrm>
            <a:off x="2438400" y="1170801"/>
            <a:ext cx="2090849" cy="276999"/>
          </a:xfrm>
          <a:prstGeom prst="rect">
            <a:avLst/>
          </a:prstGeom>
          <a:noFill/>
        </p:spPr>
        <p:txBody>
          <a:bodyPr wrap="square" rtlCol="0">
            <a:spAutoFit/>
          </a:bodyPr>
          <a:lstStyle/>
          <a:p>
            <a:r>
              <a:rPr lang="en-US" sz="1200" b="1" dirty="0" smtClean="0"/>
              <a:t>Etude Components</a:t>
            </a:r>
            <a:endParaRPr lang="en-US" sz="1200" b="1" dirty="0"/>
          </a:p>
        </p:txBody>
      </p:sp>
      <p:grpSp>
        <p:nvGrpSpPr>
          <p:cNvPr id="42" name="Group 41"/>
          <p:cNvGrpSpPr/>
          <p:nvPr/>
        </p:nvGrpSpPr>
        <p:grpSpPr>
          <a:xfrm>
            <a:off x="2514600" y="1447800"/>
            <a:ext cx="6934200" cy="2848332"/>
            <a:chOff x="2743200" y="1708150"/>
            <a:chExt cx="4195651" cy="2594170"/>
          </a:xfrm>
        </p:grpSpPr>
        <p:sp>
          <p:nvSpPr>
            <p:cNvPr id="23" name="Rectangle 22"/>
            <p:cNvSpPr/>
            <p:nvPr/>
          </p:nvSpPr>
          <p:spPr>
            <a:xfrm>
              <a:off x="2743200" y="2394567"/>
              <a:ext cx="3962400" cy="648778"/>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00" dirty="0">
                <a:solidFill>
                  <a:schemeClr val="tx1"/>
                </a:solidFill>
              </a:endParaRPr>
            </a:p>
          </p:txBody>
        </p:sp>
        <p:sp>
          <p:nvSpPr>
            <p:cNvPr id="24" name="Rectangle 23"/>
            <p:cNvSpPr/>
            <p:nvPr/>
          </p:nvSpPr>
          <p:spPr>
            <a:xfrm>
              <a:off x="2743200" y="3052079"/>
              <a:ext cx="3962400" cy="64679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5" name="Rectangle 24"/>
            <p:cNvSpPr/>
            <p:nvPr/>
          </p:nvSpPr>
          <p:spPr>
            <a:xfrm>
              <a:off x="2743200" y="3707606"/>
              <a:ext cx="3962400" cy="58051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6" name="Rectangle 25"/>
            <p:cNvSpPr/>
            <p:nvPr/>
          </p:nvSpPr>
          <p:spPr>
            <a:xfrm>
              <a:off x="2743200" y="1737055"/>
              <a:ext cx="3962400" cy="64877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27" name="TextBox 26"/>
            <p:cNvSpPr txBox="1"/>
            <p:nvPr/>
          </p:nvSpPr>
          <p:spPr>
            <a:xfrm>
              <a:off x="2743200" y="1737055"/>
              <a:ext cx="4191000" cy="644720"/>
            </a:xfrm>
            <a:prstGeom prst="rect">
              <a:avLst/>
            </a:prstGeom>
            <a:noFill/>
          </p:spPr>
          <p:txBody>
            <a:bodyPr wrap="square" rtlCol="0">
              <a:spAutoFit/>
            </a:bodyPr>
            <a:lstStyle/>
            <a:p>
              <a:r>
                <a:rPr lang="en-US" sz="1000" b="1" dirty="0" smtClean="0"/>
                <a:t>Property, Loan and Securities Database</a:t>
              </a:r>
            </a:p>
            <a:p>
              <a:pPr marL="171450" indent="-171450">
                <a:buFont typeface="Arial" panose="020B0604020202020204" pitchFamily="34" charset="0"/>
                <a:buChar char="•"/>
              </a:pPr>
              <a:r>
                <a:rPr lang="en-US" sz="1000" dirty="0" smtClean="0"/>
                <a:t>Property-level data</a:t>
              </a:r>
            </a:p>
            <a:p>
              <a:pPr marL="171450" indent="-171450">
                <a:buFont typeface="Arial" panose="020B0604020202020204" pitchFamily="34" charset="0"/>
                <a:buChar char="•"/>
              </a:pPr>
              <a:r>
                <a:rPr lang="en-US" sz="1000" dirty="0" smtClean="0"/>
                <a:t>Loan-level data</a:t>
              </a:r>
            </a:p>
            <a:p>
              <a:pPr marL="171450" indent="-171450">
                <a:buFont typeface="Arial" panose="020B0604020202020204" pitchFamily="34" charset="0"/>
                <a:buChar char="•"/>
              </a:pPr>
              <a:r>
                <a:rPr lang="en-US" sz="1000" dirty="0" smtClean="0"/>
                <a:t>CMBS Deals</a:t>
              </a:r>
              <a:endParaRPr lang="en-US" sz="1000" dirty="0"/>
            </a:p>
          </p:txBody>
        </p:sp>
        <p:sp>
          <p:nvSpPr>
            <p:cNvPr id="29" name="TextBox 28"/>
            <p:cNvSpPr txBox="1"/>
            <p:nvPr/>
          </p:nvSpPr>
          <p:spPr>
            <a:xfrm>
              <a:off x="2743200" y="2393864"/>
              <a:ext cx="4191000" cy="644720"/>
            </a:xfrm>
            <a:prstGeom prst="rect">
              <a:avLst/>
            </a:prstGeom>
            <a:noFill/>
          </p:spPr>
          <p:txBody>
            <a:bodyPr wrap="square" rtlCol="0">
              <a:spAutoFit/>
            </a:bodyPr>
            <a:lstStyle/>
            <a:p>
              <a:r>
                <a:rPr lang="en-US" sz="1000" b="1" dirty="0" smtClean="0"/>
                <a:t>Property and Loan-Level Reviews</a:t>
              </a:r>
              <a:endParaRPr lang="en-US" sz="1000" b="1" dirty="0"/>
            </a:p>
            <a:p>
              <a:pPr marL="171450" indent="-171450">
                <a:buFont typeface="Arial" panose="020B0604020202020204" pitchFamily="34" charset="0"/>
                <a:buChar char="•"/>
              </a:pPr>
              <a:r>
                <a:rPr lang="en-US" sz="1000" dirty="0" smtClean="0"/>
                <a:t>Property conditions: Financials &amp; Physical Inspections (where appropriate)</a:t>
              </a:r>
            </a:p>
            <a:p>
              <a:pPr marL="171450" indent="-171450">
                <a:buFont typeface="Arial" panose="020B0604020202020204" pitchFamily="34" charset="0"/>
                <a:buChar char="•"/>
              </a:pPr>
              <a:r>
                <a:rPr lang="en-US" sz="1000" dirty="0" smtClean="0"/>
                <a:t>Qualitative underwriting review for large, delinquent, or special serviced loans</a:t>
              </a:r>
            </a:p>
            <a:p>
              <a:pPr marL="171450" indent="-171450">
                <a:buFont typeface="Arial" panose="020B0604020202020204" pitchFamily="34" charset="0"/>
                <a:buChar char="•"/>
              </a:pPr>
              <a:r>
                <a:rPr lang="en-US" sz="1000" dirty="0" smtClean="0"/>
                <a:t>Quantitative vetting for all other loans</a:t>
              </a:r>
              <a:endParaRPr lang="en-US" sz="1000" dirty="0"/>
            </a:p>
          </p:txBody>
        </p:sp>
        <p:sp>
          <p:nvSpPr>
            <p:cNvPr id="30" name="TextBox 29"/>
            <p:cNvSpPr txBox="1"/>
            <p:nvPr/>
          </p:nvSpPr>
          <p:spPr>
            <a:xfrm>
              <a:off x="2747851" y="3041150"/>
              <a:ext cx="4191000" cy="644720"/>
            </a:xfrm>
            <a:prstGeom prst="rect">
              <a:avLst/>
            </a:prstGeom>
            <a:noFill/>
          </p:spPr>
          <p:txBody>
            <a:bodyPr wrap="square" rtlCol="0">
              <a:spAutoFit/>
            </a:bodyPr>
            <a:lstStyle/>
            <a:p>
              <a:r>
                <a:rPr lang="en-US" sz="1000" b="1" dirty="0" smtClean="0"/>
                <a:t>Model Assumptions</a:t>
              </a:r>
            </a:p>
            <a:p>
              <a:pPr marL="171450" indent="-171450">
                <a:buFont typeface="Arial" panose="020B0604020202020204" pitchFamily="34" charset="0"/>
                <a:buChar char="•"/>
              </a:pPr>
              <a:r>
                <a:rPr lang="en-US" sz="1000" dirty="0" smtClean="0"/>
                <a:t>NOI and Cap rate forecasts</a:t>
              </a:r>
            </a:p>
            <a:p>
              <a:pPr marL="171450" indent="-171450">
                <a:buFont typeface="Arial" panose="020B0604020202020204" pitchFamily="34" charset="0"/>
                <a:buChar char="•"/>
              </a:pPr>
              <a:r>
                <a:rPr lang="en-US" sz="1000" dirty="0" smtClean="0"/>
                <a:t>Default triggers (e.g. DSCR levels)</a:t>
              </a:r>
            </a:p>
            <a:p>
              <a:pPr marL="171450" indent="-171450">
                <a:buFont typeface="Arial" panose="020B0604020202020204" pitchFamily="34" charset="0"/>
                <a:buChar char="•"/>
              </a:pPr>
              <a:r>
                <a:rPr lang="en-US" sz="1000" dirty="0" smtClean="0"/>
                <a:t>Extension parameters</a:t>
              </a:r>
              <a:endParaRPr lang="en-US" sz="1000" dirty="0"/>
            </a:p>
          </p:txBody>
        </p:sp>
        <p:sp>
          <p:nvSpPr>
            <p:cNvPr id="31" name="TextBox 30"/>
            <p:cNvSpPr txBox="1"/>
            <p:nvPr/>
          </p:nvSpPr>
          <p:spPr>
            <a:xfrm>
              <a:off x="2747851" y="3657600"/>
              <a:ext cx="4191000" cy="644720"/>
            </a:xfrm>
            <a:prstGeom prst="rect">
              <a:avLst/>
            </a:prstGeom>
            <a:noFill/>
          </p:spPr>
          <p:txBody>
            <a:bodyPr wrap="square" rtlCol="0">
              <a:spAutoFit/>
            </a:bodyPr>
            <a:lstStyle/>
            <a:p>
              <a:r>
                <a:rPr lang="en-US" sz="1000" b="1" dirty="0" smtClean="0"/>
                <a:t>Loan Cash Flow and Outcome Projections</a:t>
              </a:r>
            </a:p>
            <a:p>
              <a:pPr marL="171450" indent="-171450">
                <a:buFont typeface="Arial" panose="020B0604020202020204" pitchFamily="34" charset="0"/>
                <a:buChar char="•"/>
              </a:pPr>
              <a:r>
                <a:rPr lang="en-US" sz="1000" dirty="0" smtClean="0"/>
                <a:t>Cash flow and outcome estimates for each loan</a:t>
              </a:r>
            </a:p>
            <a:p>
              <a:pPr marL="171450" indent="-171450">
                <a:buFont typeface="Arial" panose="020B0604020202020204" pitchFamily="34" charset="0"/>
                <a:buChar char="•"/>
              </a:pPr>
              <a:r>
                <a:rPr lang="en-US" sz="1000" dirty="0" smtClean="0"/>
                <a:t>Outcomes include: Payoff/Term Default/Maturity Default/Extension</a:t>
              </a:r>
            </a:p>
            <a:p>
              <a:pPr marL="171450" indent="-171450">
                <a:buFont typeface="Arial" panose="020B0604020202020204" pitchFamily="34" charset="0"/>
                <a:buChar char="•"/>
              </a:pPr>
              <a:r>
                <a:rPr lang="en-US" sz="1000" dirty="0" smtClean="0"/>
                <a:t>Scenario analysis</a:t>
              </a:r>
              <a:endParaRPr lang="en-US" sz="1000" dirty="0"/>
            </a:p>
          </p:txBody>
        </p:sp>
        <p:sp>
          <p:nvSpPr>
            <p:cNvPr id="32" name="TextBox 31"/>
            <p:cNvSpPr txBox="1"/>
            <p:nvPr/>
          </p:nvSpPr>
          <p:spPr>
            <a:xfrm>
              <a:off x="4956291" y="3282056"/>
              <a:ext cx="1676400"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smtClean="0"/>
                <a:t>Workout Periods/Costs</a:t>
              </a:r>
            </a:p>
            <a:p>
              <a:pPr marL="171450" indent="-171450">
                <a:buFont typeface="Arial" panose="020B0604020202020204" pitchFamily="34" charset="0"/>
                <a:buChar char="•"/>
              </a:pPr>
              <a:r>
                <a:rPr lang="en-US" sz="1000" dirty="0" smtClean="0"/>
                <a:t>Other model parameters</a:t>
              </a:r>
            </a:p>
          </p:txBody>
        </p:sp>
        <p:cxnSp>
          <p:nvCxnSpPr>
            <p:cNvPr id="37" name="Straight Connector 36"/>
            <p:cNvCxnSpPr/>
            <p:nvPr/>
          </p:nvCxnSpPr>
          <p:spPr>
            <a:xfrm>
              <a:off x="2747851" y="1708150"/>
              <a:ext cx="3957749"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40" name="Isosceles Triangle 39"/>
          <p:cNvSpPr/>
          <p:nvPr/>
        </p:nvSpPr>
        <p:spPr>
          <a:xfrm rot="10800000">
            <a:off x="3657601" y="4540247"/>
            <a:ext cx="4572000" cy="33655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5128260" y="4502148"/>
            <a:ext cx="1642795" cy="230832"/>
          </a:xfrm>
          <a:prstGeom prst="rect">
            <a:avLst/>
          </a:prstGeom>
          <a:noFill/>
        </p:spPr>
        <p:txBody>
          <a:bodyPr wrap="square" rtlCol="0">
            <a:spAutoFit/>
          </a:bodyPr>
          <a:lstStyle/>
          <a:p>
            <a:pPr algn="ctr"/>
            <a:r>
              <a:rPr lang="en-US" sz="900" dirty="0" smtClean="0">
                <a:solidFill>
                  <a:schemeClr val="bg1"/>
                </a:solidFill>
              </a:rPr>
              <a:t>Property and Loan Trends</a:t>
            </a:r>
            <a:endParaRPr lang="en-US" sz="900" dirty="0">
              <a:solidFill>
                <a:schemeClr val="bg1"/>
              </a:solidFill>
            </a:endParaRPr>
          </a:p>
        </p:txBody>
      </p:sp>
      <p:sp>
        <p:nvSpPr>
          <p:cNvPr id="51" name="TextBox 50"/>
          <p:cNvSpPr txBox="1"/>
          <p:nvPr/>
        </p:nvSpPr>
        <p:spPr>
          <a:xfrm>
            <a:off x="2503340" y="4953000"/>
            <a:ext cx="2090849" cy="276999"/>
          </a:xfrm>
          <a:prstGeom prst="rect">
            <a:avLst/>
          </a:prstGeom>
          <a:noFill/>
        </p:spPr>
        <p:txBody>
          <a:bodyPr wrap="square" rtlCol="0">
            <a:spAutoFit/>
          </a:bodyPr>
          <a:lstStyle/>
          <a:p>
            <a:r>
              <a:rPr lang="en-US" sz="1200" b="1" dirty="0" smtClean="0"/>
              <a:t>Establishing Themes</a:t>
            </a:r>
            <a:endParaRPr lang="en-US" sz="1200" b="1" dirty="0"/>
          </a:p>
        </p:txBody>
      </p:sp>
      <p:cxnSp>
        <p:nvCxnSpPr>
          <p:cNvPr id="52" name="Straight Connector 51"/>
          <p:cNvCxnSpPr/>
          <p:nvPr/>
        </p:nvCxnSpPr>
        <p:spPr>
          <a:xfrm>
            <a:off x="2590800" y="5229999"/>
            <a:ext cx="417338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590799" y="5320144"/>
            <a:ext cx="6962775" cy="1200329"/>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Gain insight into property- and loan-level trends that can be applied to both public and private holders of real estate</a:t>
            </a:r>
          </a:p>
          <a:p>
            <a:pPr marL="171450" indent="-171450">
              <a:buFont typeface="Arial" panose="020B0604020202020204" pitchFamily="34" charset="0"/>
              <a:buChar char="•"/>
            </a:pPr>
            <a:r>
              <a:rPr lang="en-US" sz="1200" dirty="0" smtClean="0"/>
              <a:t>Develop scenario forecasts for the evolution of NOI, Cap Rates, Rents, and Vacancies</a:t>
            </a:r>
          </a:p>
          <a:p>
            <a:pPr marL="171450" indent="-171450">
              <a:buFont typeface="Arial" panose="020B0604020202020204" pitchFamily="34" charset="0"/>
              <a:buChar char="•"/>
            </a:pPr>
            <a:r>
              <a:rPr lang="en-US" sz="1200" dirty="0" smtClean="0"/>
              <a:t>The Investment Process is not totally subordinate to history and incorporates market expectations into the decision-making process  </a:t>
            </a:r>
          </a:p>
          <a:p>
            <a:pPr marL="171450" indent="-171450">
              <a:buFont typeface="Arial" panose="020B0604020202020204" pitchFamily="34" charset="0"/>
              <a:buChar char="•"/>
            </a:pPr>
            <a:endParaRPr lang="en-US" sz="1200" dirty="0"/>
          </a:p>
        </p:txBody>
      </p:sp>
      <p:sp>
        <p:nvSpPr>
          <p:cNvPr id="54" name="Content Placeholder 12"/>
          <p:cNvSpPr>
            <a:spLocks noGrp="1"/>
          </p:cNvSpPr>
          <p:nvPr>
            <p:ph idx="1"/>
          </p:nvPr>
        </p:nvSpPr>
        <p:spPr>
          <a:xfrm>
            <a:off x="293687" y="1235075"/>
            <a:ext cx="1839913" cy="5013325"/>
          </a:xfrm>
        </p:spPr>
        <p:txBody>
          <a:bodyPr/>
          <a:lstStyle/>
          <a:p>
            <a:pPr>
              <a:lnSpc>
                <a:spcPct val="100000"/>
              </a:lnSpc>
              <a:spcBef>
                <a:spcPts val="0"/>
              </a:spcBef>
            </a:pPr>
            <a:r>
              <a:rPr lang="en-US" sz="1100" b="0" dirty="0" smtClean="0">
                <a:solidFill>
                  <a:schemeClr val="tx1"/>
                </a:solidFill>
              </a:rPr>
              <a:t>The hub of Cello’s Investment Process is the CRE Asset and Loan Modeling Framework – </a:t>
            </a:r>
            <a:r>
              <a:rPr lang="en-US" sz="1100" dirty="0" smtClean="0">
                <a:solidFill>
                  <a:schemeClr val="tx1"/>
                </a:solidFill>
              </a:rPr>
              <a:t>Etude</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framework provides a systematic way to track and forecast property- and loan-level metrics at a micro- and macro-level.</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outputs of this framework provide a foundation for the detailed credit work needed to address idiosyncratic issues. </a:t>
            </a:r>
          </a:p>
          <a:p>
            <a:pPr>
              <a:lnSpc>
                <a:spcPct val="100000"/>
              </a:lnSpc>
              <a:spcBef>
                <a:spcPts val="0"/>
              </a:spcBef>
            </a:pPr>
            <a:r>
              <a:rPr lang="en-US" sz="1100" dirty="0" smtClean="0">
                <a:solidFill>
                  <a:schemeClr val="tx1"/>
                </a:solidFill>
              </a:rPr>
              <a:t> </a:t>
            </a:r>
          </a:p>
          <a:p>
            <a:pPr marL="171450" indent="-171450">
              <a:lnSpc>
                <a:spcPct val="100000"/>
              </a:lnSpc>
              <a:spcBef>
                <a:spcPts val="0"/>
              </a:spcBef>
              <a:buFont typeface="Arial" panose="020B0604020202020204" pitchFamily="34" charset="0"/>
              <a:buChar char="•"/>
            </a:pPr>
            <a:endParaRPr lang="en-US" sz="1100" dirty="0" smtClean="0">
              <a:solidFill>
                <a:schemeClr val="tx1"/>
              </a:solidFill>
            </a:endParaRPr>
          </a:p>
        </p:txBody>
      </p:sp>
      <p:sp>
        <p:nvSpPr>
          <p:cNvPr id="3" name="Content Placeholder 2"/>
          <p:cNvSpPr>
            <a:spLocks noGrp="1"/>
          </p:cNvSpPr>
          <p:nvPr>
            <p:ph idx="1"/>
          </p:nvPr>
        </p:nvSpPr>
        <p:spPr>
          <a:xfrm>
            <a:off x="293687" y="1235076"/>
            <a:ext cx="1839913" cy="5089524"/>
          </a:xfrm>
        </p:spPr>
        <p:txBody>
          <a:bodyPr/>
          <a:lstStyle/>
          <a:p>
            <a:endParaRPr lang="en-US" dirty="0" smtClean="0"/>
          </a:p>
          <a:p>
            <a:endParaRPr lang="en-US" dirty="0" smtClean="0"/>
          </a:p>
          <a:p>
            <a:endParaRPr lang="en-US" b="0" dirty="0"/>
          </a:p>
        </p:txBody>
      </p:sp>
    </p:spTree>
    <p:extLst>
      <p:ext uri="{BB962C8B-B14F-4D97-AF65-F5344CB8AC3E}">
        <p14:creationId xmlns:p14="http://schemas.microsoft.com/office/powerpoint/2010/main" val="227616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4" grpId="0"/>
      <p:bldP spid="51"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241800" y="2368550"/>
            <a:ext cx="5257800" cy="4495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CRE </a:t>
            </a:r>
            <a:r>
              <a:rPr lang="en-US" dirty="0"/>
              <a:t>Modeling</a:t>
            </a:r>
            <a:br>
              <a:rPr lang="en-US" dirty="0"/>
            </a:br>
            <a:r>
              <a:rPr lang="en-US" dirty="0" smtClean="0"/>
              <a:t>DATA SOURCES FOR MODELING CRE RISK </a:t>
            </a:r>
            <a:endParaRPr lang="en-US" dirty="0"/>
          </a:p>
        </p:txBody>
      </p:sp>
      <p:graphicFrame>
        <p:nvGraphicFramePr>
          <p:cNvPr id="85" name="Content Placeholder 84"/>
          <p:cNvGraphicFramePr>
            <a:graphicFrameLocks noGrp="1"/>
          </p:cNvGraphicFramePr>
          <p:nvPr>
            <p:ph idx="1"/>
            <p:extLst>
              <p:ext uri="{D42A27DB-BD31-4B8C-83A1-F6EECF244321}">
                <p14:modId xmlns:p14="http://schemas.microsoft.com/office/powerpoint/2010/main" val="2664100278"/>
              </p:ext>
            </p:extLst>
          </p:nvPr>
        </p:nvGraphicFramePr>
        <p:xfrm>
          <a:off x="2574421" y="1676399"/>
          <a:ext cx="6922418" cy="5281238"/>
        </p:xfrm>
        <a:graphic>
          <a:graphicData uri="http://schemas.openxmlformats.org/drawingml/2006/table">
            <a:tbl>
              <a:tblPr firstRow="1">
                <a:tableStyleId>{3B4B98B0-60AC-42C2-AFA5-B58CD77FA1E5}</a:tableStyleId>
              </a:tblPr>
              <a:tblGrid>
                <a:gridCol w="1692779"/>
                <a:gridCol w="762000"/>
                <a:gridCol w="1447800"/>
                <a:gridCol w="1066800"/>
                <a:gridCol w="761399"/>
                <a:gridCol w="1191640"/>
              </a:tblGrid>
              <a:tr h="685801">
                <a:tc>
                  <a:txBody>
                    <a:bodyPr/>
                    <a:lstStyle/>
                    <a:p>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Data Level</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Property</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Geographic</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Historical</a:t>
                      </a:r>
                      <a:r>
                        <a:rPr lang="en-US" sz="1100" baseline="0" dirty="0" smtClean="0">
                          <a:solidFill>
                            <a:schemeClr val="bg1"/>
                          </a:solidFill>
                        </a:rPr>
                        <a:t> </a:t>
                      </a: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Comments</a:t>
                      </a:r>
                      <a:endParaRPr lang="en-US" sz="1100" dirty="0">
                        <a:solidFill>
                          <a:schemeClr val="bg1"/>
                        </a:solidFill>
                      </a:endParaRPr>
                    </a:p>
                  </a:txBody>
                  <a:tcPr anchor="ctr">
                    <a:solidFill>
                      <a:schemeClr val="accent2">
                        <a:lumMod val="50000"/>
                      </a:schemeClr>
                    </a:solidFill>
                  </a:tcP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err="1" smtClean="0">
                          <a:solidFill>
                            <a:schemeClr val="tx1"/>
                          </a:solidFill>
                        </a:rPr>
                        <a:t>Trepp</a:t>
                      </a:r>
                      <a:r>
                        <a:rPr lang="en-US" sz="1100" b="1" dirty="0" smtClean="0">
                          <a:solidFill>
                            <a:schemeClr val="tx1"/>
                          </a:solidFill>
                        </a:rPr>
                        <a:t> CMBS Database</a:t>
                      </a: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Financed</a:t>
                      </a:r>
                      <a:r>
                        <a:rPr lang="en-US" sz="1100" baseline="0" dirty="0" smtClean="0">
                          <a:solidFill>
                            <a:schemeClr val="tx1"/>
                          </a:solidFill>
                        </a:rPr>
                        <a:t> through CMBS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1998-</a:t>
                      </a:r>
                      <a:endParaRPr lang="en-US" sz="1100" dirty="0">
                        <a:solidFill>
                          <a:schemeClr val="tx1"/>
                        </a:solidFill>
                      </a:endParaRPr>
                    </a:p>
                  </a:txBody>
                  <a:tcPr anchor="ctr"/>
                </a:tc>
                <a:tc>
                  <a:txBody>
                    <a:bodyPr/>
                    <a:lstStyle/>
                    <a:p>
                      <a:pPr algn="l"/>
                      <a:r>
                        <a:rPr lang="en-US" sz="1100" dirty="0" smtClean="0"/>
                        <a:t>Comprehensive</a:t>
                      </a:r>
                      <a:r>
                        <a:rPr lang="en-US" sz="1100" baseline="0" dirty="0" smtClean="0"/>
                        <a:t> source for modeling loan outcomes</a:t>
                      </a:r>
                      <a:r>
                        <a:rPr lang="en-US" sz="1100" dirty="0" smtClean="0"/>
                        <a:t> </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American Council of Life Insurers (ACLI)</a:t>
                      </a: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Commercial</a:t>
                      </a:r>
                      <a:r>
                        <a:rPr lang="en-US" sz="1100" baseline="0" dirty="0" smtClean="0">
                          <a:solidFill>
                            <a:schemeClr val="tx1"/>
                          </a:solidFill>
                        </a:rPr>
                        <a:t> Mortgages Originated/Held by Insurance Companies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1965-</a:t>
                      </a:r>
                      <a:endParaRPr lang="en-US" sz="1100" dirty="0">
                        <a:solidFill>
                          <a:schemeClr val="tx1"/>
                        </a:solidFill>
                      </a:endParaRPr>
                    </a:p>
                  </a:txBody>
                  <a:tcPr anchor="ctr"/>
                </a:tc>
                <a:tc>
                  <a:txBody>
                    <a:bodyPr/>
                    <a:lstStyle/>
                    <a:p>
                      <a:pPr algn="ctr"/>
                      <a:r>
                        <a:rPr lang="en-US" sz="1100" dirty="0" smtClean="0"/>
                        <a:t>Longest History</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Federal Deposit Insurance Corporation (FDIC)</a:t>
                      </a: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Financed</a:t>
                      </a:r>
                      <a:r>
                        <a:rPr lang="en-US" sz="1100" baseline="0" dirty="0" smtClean="0">
                          <a:solidFill>
                            <a:schemeClr val="tx1"/>
                          </a:solidFill>
                        </a:rPr>
                        <a:t> through commercial bank</a:t>
                      </a:r>
                      <a:r>
                        <a:rPr lang="en-US" sz="1100" dirty="0" smtClean="0">
                          <a:solidFill>
                            <a:schemeClr val="tx1"/>
                          </a:solidFill>
                        </a:rPr>
                        <a:t> Loans and Leases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1992-</a:t>
                      </a:r>
                      <a:endParaRPr lang="en-US" sz="1100" dirty="0">
                        <a:solidFill>
                          <a:schemeClr val="tx1"/>
                        </a:solidFill>
                      </a:endParaRPr>
                    </a:p>
                  </a:txBody>
                  <a:tcPr anchor="ctr"/>
                </a:tc>
                <a:tc>
                  <a:txBody>
                    <a:bodyPr/>
                    <a:lstStyle/>
                    <a:p>
                      <a:pPr algn="ctr"/>
                      <a:r>
                        <a:rPr lang="en-US" sz="1100" dirty="0" smtClean="0"/>
                        <a:t>Covers largest</a:t>
                      </a:r>
                      <a:r>
                        <a:rPr lang="en-US" sz="1100" baseline="0" dirty="0" smtClean="0"/>
                        <a:t> commercial RE lenders</a:t>
                      </a:r>
                      <a:endParaRPr lang="en-US" sz="1100" dirty="0">
                        <a:solidFill>
                          <a:schemeClr val="tx1"/>
                        </a:solidFill>
                      </a:endParaRPr>
                    </a:p>
                  </a:txBody>
                  <a:tcPr anchor="ctr"/>
                </a:tc>
              </a:tr>
              <a:tr h="906754">
                <a:tc>
                  <a:txBody>
                    <a:bodyPr/>
                    <a:lstStyle/>
                    <a:p>
                      <a:r>
                        <a:rPr lang="en-US" sz="1100" b="1" dirty="0" smtClean="0">
                          <a:solidFill>
                            <a:schemeClr val="tx1"/>
                          </a:solidFill>
                        </a:rPr>
                        <a:t>National</a:t>
                      </a:r>
                      <a:r>
                        <a:rPr lang="en-US" sz="1100" b="1" baseline="0" dirty="0" smtClean="0">
                          <a:solidFill>
                            <a:schemeClr val="tx1"/>
                          </a:solidFill>
                        </a:rPr>
                        <a:t> Council of Real Estate Investment Fiduciaries (NCREIF)</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Five Major Property Types</a:t>
                      </a:r>
                      <a:endParaRPr lang="en-US" sz="1100" dirty="0">
                        <a:solidFill>
                          <a:schemeClr val="tx1"/>
                        </a:solidFill>
                      </a:endParaRPr>
                    </a:p>
                  </a:txBody>
                  <a:tcPr anchor="ctr"/>
                </a:tc>
                <a:tc>
                  <a:txBody>
                    <a:bodyPr/>
                    <a:lstStyle/>
                    <a:p>
                      <a:pPr algn="ctr"/>
                      <a:r>
                        <a:rPr lang="en-US" sz="1100" dirty="0" smtClean="0">
                          <a:solidFill>
                            <a:schemeClr val="tx1"/>
                          </a:solidFill>
                        </a:rPr>
                        <a:t>50 Metropolitan Areas</a:t>
                      </a:r>
                      <a:endParaRPr lang="en-US" sz="1100" dirty="0">
                        <a:solidFill>
                          <a:schemeClr val="tx1"/>
                        </a:solidFill>
                      </a:endParaRPr>
                    </a:p>
                  </a:txBody>
                  <a:tcPr anchor="ctr"/>
                </a:tc>
                <a:tc>
                  <a:txBody>
                    <a:bodyPr/>
                    <a:lstStyle/>
                    <a:p>
                      <a:pPr algn="ctr"/>
                      <a:r>
                        <a:rPr lang="en-US" sz="1100" dirty="0" smtClean="0"/>
                        <a:t>1978-</a:t>
                      </a:r>
                      <a:endParaRPr lang="en-US" sz="1100" dirty="0">
                        <a:solidFill>
                          <a:schemeClr val="tx1"/>
                        </a:solidFill>
                      </a:endParaRPr>
                    </a:p>
                  </a:txBody>
                  <a:tcPr anchor="ctr"/>
                </a:tc>
                <a:tc>
                  <a:txBody>
                    <a:bodyPr/>
                    <a:lstStyle/>
                    <a:p>
                      <a:pPr algn="ctr"/>
                      <a:r>
                        <a:rPr lang="en-US" sz="1100" dirty="0" smtClean="0">
                          <a:solidFill>
                            <a:schemeClr val="tx1"/>
                          </a:solidFill>
                        </a:rPr>
                        <a:t>Market</a:t>
                      </a:r>
                      <a:r>
                        <a:rPr lang="en-US" sz="1100" baseline="0" dirty="0" smtClean="0">
                          <a:solidFill>
                            <a:schemeClr val="tx1"/>
                          </a:solidFill>
                        </a:rPr>
                        <a:t> benchmark</a:t>
                      </a:r>
                      <a:endParaRPr lang="en-US" sz="1100" dirty="0">
                        <a:solidFill>
                          <a:schemeClr val="tx1"/>
                        </a:solidFill>
                      </a:endParaRPr>
                    </a:p>
                  </a:txBody>
                  <a:tcPr anchor="ctr"/>
                </a:tc>
              </a:tr>
              <a:tr h="721561">
                <a:tc>
                  <a:txBody>
                    <a:bodyPr/>
                    <a:lstStyle/>
                    <a:p>
                      <a:r>
                        <a:rPr lang="en-US" sz="1100" b="1" dirty="0" smtClean="0">
                          <a:solidFill>
                            <a:schemeClr val="tx1"/>
                          </a:solidFill>
                        </a:rPr>
                        <a:t>Property</a:t>
                      </a:r>
                      <a:r>
                        <a:rPr lang="en-US" sz="1100" b="1" baseline="0" dirty="0" smtClean="0">
                          <a:solidFill>
                            <a:schemeClr val="tx1"/>
                          </a:solidFill>
                        </a:rPr>
                        <a:t> and Portfolio Research </a:t>
                      </a:r>
                      <a:r>
                        <a:rPr lang="en-US" sz="1100" b="1" dirty="0" smtClean="0">
                          <a:solidFill>
                            <a:schemeClr val="tx1"/>
                          </a:solidFill>
                        </a:rPr>
                        <a:t>(PPR) Analytics</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All</a:t>
                      </a:r>
                      <a:r>
                        <a:rPr lang="en-US" sz="1100" baseline="0" dirty="0" smtClean="0">
                          <a:solidFill>
                            <a:schemeClr val="tx1"/>
                          </a:solidFill>
                        </a:rPr>
                        <a:t> major property types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1980-</a:t>
                      </a:r>
                      <a:endParaRPr lang="en-US" sz="1100" dirty="0">
                        <a:solidFill>
                          <a:schemeClr val="tx1"/>
                        </a:solidFill>
                      </a:endParaRPr>
                    </a:p>
                  </a:txBody>
                  <a:tcPr anchor="ctr"/>
                </a:tc>
                <a:tc>
                  <a:txBody>
                    <a:bodyPr/>
                    <a:lstStyle/>
                    <a:p>
                      <a:pPr algn="ctr"/>
                      <a:r>
                        <a:rPr lang="en-US" sz="1100" dirty="0" smtClean="0">
                          <a:solidFill>
                            <a:schemeClr val="tx1"/>
                          </a:solidFill>
                        </a:rPr>
                        <a:t>CRE forecasts</a:t>
                      </a:r>
                      <a:r>
                        <a:rPr lang="en-US" sz="1100" baseline="0" dirty="0" smtClean="0">
                          <a:solidFill>
                            <a:schemeClr val="tx1"/>
                          </a:solidFill>
                        </a:rPr>
                        <a:t> by property and geography</a:t>
                      </a:r>
                      <a:endParaRPr lang="en-US" sz="1100" dirty="0">
                        <a:solidFill>
                          <a:schemeClr val="tx1"/>
                        </a:solidFill>
                      </a:endParaRPr>
                    </a:p>
                  </a:txBody>
                  <a:tcPr anchor="ctr"/>
                </a:tc>
              </a:tr>
              <a:tr h="721561">
                <a:tc>
                  <a:txBody>
                    <a:bodyPr/>
                    <a:lstStyle/>
                    <a:p>
                      <a:r>
                        <a:rPr lang="en-US" sz="1100" b="1" dirty="0" smtClean="0">
                          <a:solidFill>
                            <a:schemeClr val="tx1"/>
                          </a:solidFill>
                        </a:rPr>
                        <a:t>Real</a:t>
                      </a:r>
                      <a:r>
                        <a:rPr lang="en-US" sz="1100" b="1" baseline="0" dirty="0" smtClean="0">
                          <a:solidFill>
                            <a:schemeClr val="tx1"/>
                          </a:solidFill>
                        </a:rPr>
                        <a:t> Capital Analytics (RCA)</a:t>
                      </a:r>
                      <a:endParaRPr lang="en-US" sz="1100" b="1" dirty="0">
                        <a:solidFill>
                          <a:schemeClr val="tx1"/>
                        </a:solidFill>
                      </a:endParaRPr>
                    </a:p>
                  </a:txBody>
                  <a:tcPr anchor="ct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Property Values </a:t>
                      </a:r>
                    </a:p>
                    <a:p>
                      <a:pPr algn="ctr"/>
                      <a:r>
                        <a:rPr lang="en-US" sz="1100" dirty="0" smtClean="0">
                          <a:solidFill>
                            <a:schemeClr val="tx1"/>
                          </a:solidFill>
                        </a:rPr>
                        <a:t>Over $5 Million</a:t>
                      </a: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2000-</a:t>
                      </a:r>
                      <a:endParaRPr lang="en-US" sz="1100" dirty="0">
                        <a:solidFill>
                          <a:schemeClr val="tx1"/>
                        </a:solidFill>
                      </a:endParaRPr>
                    </a:p>
                  </a:txBody>
                  <a:tcPr anchor="ctr"/>
                </a:tc>
                <a:tc>
                  <a:txBody>
                    <a:bodyPr/>
                    <a:lstStyle/>
                    <a:p>
                      <a:pPr algn="ctr"/>
                      <a:r>
                        <a:rPr lang="en-US" sz="1100" dirty="0" smtClean="0">
                          <a:solidFill>
                            <a:schemeClr val="tx1"/>
                          </a:solidFill>
                        </a:rPr>
                        <a:t>Historical data only</a:t>
                      </a:r>
                      <a:endParaRPr lang="en-US" sz="1100" dirty="0">
                        <a:solidFill>
                          <a:schemeClr val="tx1"/>
                        </a:solidFill>
                      </a:endParaRPr>
                    </a:p>
                  </a:txBody>
                  <a:tcPr anchor="ctr"/>
                </a:tc>
              </a:tr>
            </a:tbl>
          </a:graphicData>
        </a:graphic>
      </p:graphicFrame>
      <p:cxnSp>
        <p:nvCxnSpPr>
          <p:cNvPr id="105" name="Straight Connector 104"/>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6" name="Content Placeholder 8"/>
          <p:cNvSpPr txBox="1">
            <a:spLocks/>
          </p:cNvSpPr>
          <p:nvPr/>
        </p:nvSpPr>
        <p:spPr>
          <a:xfrm>
            <a:off x="4572000" y="12192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Empirical Data Sources</a:t>
            </a:r>
            <a:endParaRPr lang="en-US" sz="1200" dirty="0"/>
          </a:p>
        </p:txBody>
      </p:sp>
      <p:sp>
        <p:nvSpPr>
          <p:cNvPr id="11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There are a number of datasets available that cover different aspects of the CRE asset and loan markets.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Collectively, these datasets are used as the foundation for both model development and validation.</a:t>
            </a:r>
          </a:p>
          <a:p>
            <a:pPr>
              <a:lnSpc>
                <a:spcPct val="100000"/>
              </a:lnSpc>
              <a:spcBef>
                <a:spcPts val="0"/>
              </a:spcBef>
            </a:pPr>
            <a:endParaRPr lang="en-US" sz="1100" b="0" dirty="0">
              <a:solidFill>
                <a:schemeClr val="tx1"/>
              </a:solidFill>
            </a:endParaRPr>
          </a:p>
        </p:txBody>
      </p:sp>
      <p:cxnSp>
        <p:nvCxnSpPr>
          <p:cNvPr id="8" name="Straight Connector 7"/>
          <p:cNvCxnSpPr/>
          <p:nvPr/>
        </p:nvCxnSpPr>
        <p:spPr>
          <a:xfrm>
            <a:off x="4267200" y="1676400"/>
            <a:ext cx="0" cy="51879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590800" y="3082456"/>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590800" y="38608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590800" y="45720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590800" y="54102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611948" y="6216650"/>
            <a:ext cx="681570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3045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496828" y="3581400"/>
            <a:ext cx="6138276" cy="32766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496828" y="1572398"/>
            <a:ext cx="6138276" cy="20090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CRE model parameters and Assumptions</a:t>
            </a:r>
            <a:endParaRPr lang="en-US" dirty="0"/>
          </a:p>
        </p:txBody>
      </p:sp>
      <p:sp>
        <p:nvSpPr>
          <p:cNvPr id="5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The CRE model forecasts the evolution of asset and loan metrics based on historical relationships, adjustments for idiosyncratic characteristics, and research insights.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major model parameters include Income &amp; Property Value Drivers and Loan Outcome &amp; Loss Parameters.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For each parameter, several assumptions will be applied.</a:t>
            </a:r>
            <a:endParaRPr lang="en-US" sz="1100" dirty="0" smtClean="0"/>
          </a:p>
        </p:txBody>
      </p:sp>
      <p:graphicFrame>
        <p:nvGraphicFramePr>
          <p:cNvPr id="6" name="Table 5"/>
          <p:cNvGraphicFramePr>
            <a:graphicFrameLocks noGrp="1"/>
          </p:cNvGraphicFramePr>
          <p:nvPr>
            <p:extLst>
              <p:ext uri="{D42A27DB-BD31-4B8C-83A1-F6EECF244321}">
                <p14:modId xmlns:p14="http://schemas.microsoft.com/office/powerpoint/2010/main" val="2435422756"/>
              </p:ext>
            </p:extLst>
          </p:nvPr>
        </p:nvGraphicFramePr>
        <p:xfrm>
          <a:off x="3496828" y="1572399"/>
          <a:ext cx="6172200" cy="5334002"/>
        </p:xfrm>
        <a:graphic>
          <a:graphicData uri="http://schemas.openxmlformats.org/drawingml/2006/table">
            <a:tbl>
              <a:tblPr>
                <a:tableStyleId>{5C22544A-7EE6-4342-B048-85BDC9FD1C3A}</a:tableStyleId>
              </a:tblPr>
              <a:tblGrid>
                <a:gridCol w="1447800"/>
                <a:gridCol w="4724400"/>
              </a:tblGrid>
              <a:tr h="582036">
                <a:tc>
                  <a:txBody>
                    <a:bodyPr/>
                    <a:lstStyle/>
                    <a:p>
                      <a:r>
                        <a:rPr lang="en-US" sz="1050" b="1" dirty="0" smtClean="0"/>
                        <a:t>Income</a:t>
                      </a:r>
                      <a:r>
                        <a:rPr lang="en-US" sz="1050" b="1" baseline="0" dirty="0" smtClean="0"/>
                        <a:t> growth curves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MSA and property-type based projections of property-level NOI over time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Cap rates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Cap rate curves by property type</a:t>
                      </a:r>
                    </a:p>
                    <a:p>
                      <a:pPr marL="171450" indent="-171450">
                        <a:buFont typeface="Arial" panose="020B0604020202020204" pitchFamily="34" charset="0"/>
                        <a:buChar char="•"/>
                      </a:pPr>
                      <a:r>
                        <a:rPr lang="en-US" sz="1050" dirty="0" smtClean="0"/>
                        <a:t>Adjusted by property grades to account for individual property location and quality</a:t>
                      </a:r>
                    </a:p>
                    <a:p>
                      <a:pPr marL="171450" indent="-171450">
                        <a:buFont typeface="Arial" panose="020B0604020202020204" pitchFamily="34" charset="0"/>
                        <a:buChar char="•"/>
                      </a:pPr>
                      <a:r>
                        <a:rPr lang="en-US" sz="1050" dirty="0" smtClean="0"/>
                        <a:t>Combined with income projections to determine property value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Property</a:t>
                      </a:r>
                      <a:r>
                        <a:rPr lang="en-US" sz="1050" b="1" baseline="0" dirty="0" smtClean="0"/>
                        <a:t> grades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Individually assigned grades based on location, condition and size</a:t>
                      </a:r>
                    </a:p>
                    <a:p>
                      <a:pPr marL="171450" indent="-171450">
                        <a:buFont typeface="Arial" panose="020B0604020202020204" pitchFamily="34" charset="0"/>
                        <a:buChar char="•"/>
                      </a:pPr>
                      <a:r>
                        <a:rPr lang="en-US" sz="1050" dirty="0" smtClean="0"/>
                        <a:t>Used to adjust cap rates to account for individual property quality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DSCR default trigger</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Monthly test that results in a term default if DSCR drops below a defined level</a:t>
                      </a:r>
                    </a:p>
                    <a:p>
                      <a:pPr marL="171450" indent="-171450">
                        <a:buFont typeface="Arial" panose="020B0604020202020204" pitchFamily="34" charset="0"/>
                        <a:buChar char="•"/>
                      </a:pPr>
                      <a:r>
                        <a:rPr lang="en-US" sz="1050" dirty="0" smtClean="0"/>
                        <a:t>Triggers are property type based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Loan extensions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Loans are extended at maturity if LTV falls within a defined band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Workout period</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Time to resolution after a term or maturity default</a:t>
                      </a:r>
                    </a:p>
                    <a:p>
                      <a:pPr marL="171450" indent="-171450">
                        <a:buFont typeface="Arial" panose="020B0604020202020204" pitchFamily="34" charset="0"/>
                        <a:buChar char="•"/>
                      </a:pPr>
                      <a:r>
                        <a:rPr lang="en-US" sz="1050" dirty="0" smtClean="0"/>
                        <a:t>Jurisdiction-based (by State)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Liquidation costs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Percentage of property value at liquidation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Servicer reserves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Reserves held by the servicer are used to fund debt service payment shortfalls if income drops below the DSCR threshold</a:t>
                      </a:r>
                      <a:endParaRPr lang="en-US" sz="105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38" name="TextBox 37"/>
          <p:cNvSpPr txBox="1"/>
          <p:nvPr/>
        </p:nvSpPr>
        <p:spPr>
          <a:xfrm>
            <a:off x="3429000" y="1295400"/>
            <a:ext cx="2090849" cy="276999"/>
          </a:xfrm>
          <a:prstGeom prst="rect">
            <a:avLst/>
          </a:prstGeom>
          <a:noFill/>
        </p:spPr>
        <p:txBody>
          <a:bodyPr wrap="square" rtlCol="0">
            <a:spAutoFit/>
          </a:bodyPr>
          <a:lstStyle/>
          <a:p>
            <a:r>
              <a:rPr lang="en-US" sz="1200" b="1" dirty="0" smtClean="0"/>
              <a:t>Assumption</a:t>
            </a:r>
            <a:endParaRPr lang="en-US" sz="1200" b="1" dirty="0"/>
          </a:p>
        </p:txBody>
      </p:sp>
      <p:cxnSp>
        <p:nvCxnSpPr>
          <p:cNvPr id="39" name="Straight Connector 38"/>
          <p:cNvCxnSpPr/>
          <p:nvPr/>
        </p:nvCxnSpPr>
        <p:spPr>
          <a:xfrm flipV="1">
            <a:off x="3496828" y="1572397"/>
            <a:ext cx="6138276" cy="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903084" y="1295399"/>
            <a:ext cx="2090849" cy="276999"/>
          </a:xfrm>
          <a:prstGeom prst="rect">
            <a:avLst/>
          </a:prstGeom>
          <a:noFill/>
        </p:spPr>
        <p:txBody>
          <a:bodyPr wrap="square" rtlCol="0">
            <a:spAutoFit/>
          </a:bodyPr>
          <a:lstStyle/>
          <a:p>
            <a:r>
              <a:rPr lang="en-US" sz="1200" b="1" dirty="0" smtClean="0"/>
              <a:t>Description</a:t>
            </a:r>
            <a:endParaRPr lang="en-US" sz="1200" b="1" dirty="0"/>
          </a:p>
        </p:txBody>
      </p:sp>
      <p:cxnSp>
        <p:nvCxnSpPr>
          <p:cNvPr id="13" name="Straight Connector 12"/>
          <p:cNvCxnSpPr/>
          <p:nvPr/>
        </p:nvCxnSpPr>
        <p:spPr>
          <a:xfrm>
            <a:off x="3615304" y="2057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615304" y="30480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3615304" y="3581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615304" y="42672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615304" y="48006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615304" y="5486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3615304" y="6096000"/>
            <a:ext cx="5791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590800" y="1572400"/>
            <a:ext cx="914400" cy="2009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rot="16200000">
            <a:off x="2716771" y="2157798"/>
            <a:ext cx="738664" cy="838201"/>
          </a:xfrm>
          <a:prstGeom prst="rect">
            <a:avLst/>
          </a:prstGeom>
          <a:noFill/>
        </p:spPr>
        <p:txBody>
          <a:bodyPr vert="eaVert" wrap="square" rtlCol="0">
            <a:spAutoFit/>
          </a:bodyPr>
          <a:lstStyle/>
          <a:p>
            <a:pPr algn="ctr"/>
            <a:r>
              <a:rPr lang="en-US" sz="1200" b="1" dirty="0" smtClean="0">
                <a:solidFill>
                  <a:schemeClr val="bg1"/>
                </a:solidFill>
              </a:rPr>
              <a:t> Property </a:t>
            </a:r>
          </a:p>
          <a:p>
            <a:pPr algn="ctr"/>
            <a:r>
              <a:rPr lang="en-US" sz="1200" b="1" dirty="0" smtClean="0">
                <a:solidFill>
                  <a:schemeClr val="bg1"/>
                </a:solidFill>
              </a:rPr>
              <a:t>Value Drivers</a:t>
            </a:r>
            <a:endParaRPr lang="en-US" sz="1200" b="1" dirty="0">
              <a:solidFill>
                <a:schemeClr val="bg1"/>
              </a:solidFill>
            </a:endParaRPr>
          </a:p>
        </p:txBody>
      </p:sp>
      <p:sp>
        <p:nvSpPr>
          <p:cNvPr id="59" name="Rectangle 58"/>
          <p:cNvSpPr/>
          <p:nvPr/>
        </p:nvSpPr>
        <p:spPr>
          <a:xfrm>
            <a:off x="2590800" y="3581400"/>
            <a:ext cx="914400" cy="3276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Loan Outcome Parameters</a:t>
            </a:r>
            <a:endParaRPr lang="en-US" sz="1200" b="1" dirty="0"/>
          </a:p>
        </p:txBody>
      </p:sp>
    </p:spTree>
    <p:extLst>
      <p:ext uri="{BB962C8B-B14F-4D97-AF65-F5344CB8AC3E}">
        <p14:creationId xmlns:p14="http://schemas.microsoft.com/office/powerpoint/2010/main" val="376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172450" y="1676400"/>
            <a:ext cx="1143000" cy="230886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CRE Modeling</a:t>
            </a:r>
            <a:br>
              <a:rPr lang="en-US" dirty="0" smtClean="0"/>
            </a:br>
            <a:r>
              <a:rPr lang="en-US" dirty="0" smtClean="0"/>
              <a:t>ETUDE FRAMEWORK, SCENARIO ANALYSIS &amp; OUTPUTS </a:t>
            </a:r>
            <a:br>
              <a:rPr lang="en-US" dirty="0" smtClean="0"/>
            </a:br>
            <a:endParaRPr lang="en-US" dirty="0"/>
          </a:p>
        </p:txBody>
      </p:sp>
      <p:sp>
        <p:nvSpPr>
          <p:cNvPr id="114" name="Content Placeholder 12"/>
          <p:cNvSpPr>
            <a:spLocks noGrp="1"/>
          </p:cNvSpPr>
          <p:nvPr>
            <p:ph idx="1"/>
          </p:nvPr>
        </p:nvSpPr>
        <p:spPr>
          <a:xfrm>
            <a:off x="293687" y="1235075"/>
            <a:ext cx="1839913" cy="5241925"/>
          </a:xfrm>
        </p:spPr>
        <p:txBody>
          <a:bodyPr/>
          <a:lstStyle/>
          <a:p>
            <a:pPr>
              <a:lnSpc>
                <a:spcPct val="100000"/>
              </a:lnSpc>
              <a:spcBef>
                <a:spcPts val="0"/>
              </a:spcBef>
            </a:pPr>
            <a:r>
              <a:rPr lang="en-US" sz="1100" b="0" dirty="0" smtClean="0">
                <a:solidFill>
                  <a:schemeClr val="tx1"/>
                </a:solidFill>
              </a:rPr>
              <a:t>Etude provides a framework for asking “what-if” questions and examining the effects on credit risks of any changes in model parameters/inputs.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Etude allows for the input of forward looking macroeconomic and market outlook scenarios that can be either direct user inputs or obtained from third-party forecasts (Federal Reserve, Moody’s Economy.com, PPR etc.) </a:t>
            </a: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Etude will generate short term (1 year), medium term (2-5 year) and long term (5+ year) forecasts of (</a:t>
            </a:r>
            <a:r>
              <a:rPr lang="en-US" sz="1100" b="0" dirty="0" err="1" smtClean="0">
                <a:solidFill>
                  <a:schemeClr val="tx1"/>
                </a:solidFill>
              </a:rPr>
              <a:t>i</a:t>
            </a:r>
            <a:r>
              <a:rPr lang="en-US" sz="1100" b="0" dirty="0" smtClean="0">
                <a:solidFill>
                  <a:schemeClr val="tx1"/>
                </a:solidFill>
              </a:rPr>
              <a:t>) NOI and (ii) Cap Rates across approximately 200 Core-Based Statistical Areas for all major CRE property types across three scenarios: Base, Adverse and Severely </a:t>
            </a:r>
            <a:r>
              <a:rPr lang="en-US" sz="1100" b="0" dirty="0">
                <a:solidFill>
                  <a:schemeClr val="tx1"/>
                </a:solidFill>
              </a:rPr>
              <a:t>A</a:t>
            </a:r>
            <a:r>
              <a:rPr lang="en-US" sz="1100" b="0" dirty="0" smtClean="0">
                <a:solidFill>
                  <a:schemeClr val="tx1"/>
                </a:solidFill>
              </a:rPr>
              <a:t>dverse.</a:t>
            </a:r>
          </a:p>
          <a:p>
            <a:pPr>
              <a:lnSpc>
                <a:spcPct val="100000"/>
              </a:lnSpc>
              <a:spcBef>
                <a:spcPts val="0"/>
              </a:spcBef>
            </a:pPr>
            <a:endParaRPr lang="en-US" sz="1100" b="0" dirty="0">
              <a:solidFill>
                <a:schemeClr val="tx1"/>
              </a:solidFill>
            </a:endParaRPr>
          </a:p>
        </p:txBody>
      </p:sp>
      <p:graphicFrame>
        <p:nvGraphicFramePr>
          <p:cNvPr id="63" name="Chart 62"/>
          <p:cNvGraphicFramePr/>
          <p:nvPr>
            <p:extLst>
              <p:ext uri="{D42A27DB-BD31-4B8C-83A1-F6EECF244321}">
                <p14:modId xmlns:p14="http://schemas.microsoft.com/office/powerpoint/2010/main" val="3873006655"/>
              </p:ext>
            </p:extLst>
          </p:nvPr>
        </p:nvGraphicFramePr>
        <p:xfrm>
          <a:off x="2438400" y="1536632"/>
          <a:ext cx="7113007" cy="3109038"/>
        </p:xfrm>
        <a:graphic>
          <a:graphicData uri="http://schemas.openxmlformats.org/drawingml/2006/chart">
            <c:chart xmlns:c="http://schemas.openxmlformats.org/drawingml/2006/chart" xmlns:r="http://schemas.openxmlformats.org/officeDocument/2006/relationships" r:id="rId2"/>
          </a:graphicData>
        </a:graphic>
      </p:graphicFrame>
      <p:cxnSp>
        <p:nvCxnSpPr>
          <p:cNvPr id="5" name="Straight Connector 4"/>
          <p:cNvCxnSpPr/>
          <p:nvPr/>
        </p:nvCxnSpPr>
        <p:spPr>
          <a:xfrm>
            <a:off x="2971800" y="2377440"/>
            <a:ext cx="63246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296400" y="2237601"/>
            <a:ext cx="533400" cy="276999"/>
          </a:xfrm>
          <a:prstGeom prst="rect">
            <a:avLst/>
          </a:prstGeom>
          <a:noFill/>
        </p:spPr>
        <p:txBody>
          <a:bodyPr wrap="square" rtlCol="0">
            <a:spAutoFit/>
          </a:bodyPr>
          <a:lstStyle/>
          <a:p>
            <a:r>
              <a:rPr lang="en-US" sz="1200" dirty="0" smtClean="0">
                <a:solidFill>
                  <a:schemeClr val="accent1"/>
                </a:solidFill>
              </a:rPr>
              <a:t>239</a:t>
            </a:r>
            <a:endParaRPr lang="en-US" sz="1200" dirty="0">
              <a:solidFill>
                <a:schemeClr val="accent1"/>
              </a:solidFill>
            </a:endParaRPr>
          </a:p>
        </p:txBody>
      </p:sp>
      <p:sp>
        <p:nvSpPr>
          <p:cNvPr id="10" name="TextBox 9"/>
          <p:cNvSpPr txBox="1"/>
          <p:nvPr/>
        </p:nvSpPr>
        <p:spPr>
          <a:xfrm>
            <a:off x="6248400" y="4645670"/>
            <a:ext cx="3581400" cy="261610"/>
          </a:xfrm>
          <a:prstGeom prst="rect">
            <a:avLst/>
          </a:prstGeom>
          <a:noFill/>
        </p:spPr>
        <p:txBody>
          <a:bodyPr wrap="square" rtlCol="0">
            <a:spAutoFit/>
          </a:bodyPr>
          <a:lstStyle/>
          <a:p>
            <a:r>
              <a:rPr lang="en-US" sz="1050" i="1" dirty="0" smtClean="0"/>
              <a:t>* The shaded area corresponds to forecasts</a:t>
            </a:r>
            <a:endParaRPr lang="en-US" sz="1050" i="1" dirty="0"/>
          </a:p>
        </p:txBody>
      </p:sp>
      <p:cxnSp>
        <p:nvCxnSpPr>
          <p:cNvPr id="70" name="Straight Connector 69"/>
          <p:cNvCxnSpPr/>
          <p:nvPr/>
        </p:nvCxnSpPr>
        <p:spPr>
          <a:xfrm>
            <a:off x="2971800" y="1283931"/>
            <a:ext cx="6315075" cy="0"/>
          </a:xfrm>
          <a:prstGeom prst="line">
            <a:avLst/>
          </a:prstGeom>
        </p:spPr>
        <p:style>
          <a:lnRef idx="1">
            <a:schemeClr val="accent1"/>
          </a:lnRef>
          <a:fillRef idx="0">
            <a:schemeClr val="accent1"/>
          </a:fillRef>
          <a:effectRef idx="0">
            <a:schemeClr val="accent1"/>
          </a:effectRef>
          <a:fontRef idx="minor">
            <a:schemeClr val="tx1"/>
          </a:fontRef>
        </p:style>
      </p:cxnSp>
      <p:sp>
        <p:nvSpPr>
          <p:cNvPr id="72" name="Content Placeholder 8"/>
          <p:cNvSpPr txBox="1">
            <a:spLocks/>
          </p:cNvSpPr>
          <p:nvPr/>
        </p:nvSpPr>
        <p:spPr>
          <a:xfrm>
            <a:off x="4343400" y="1143000"/>
            <a:ext cx="3581400" cy="327582"/>
          </a:xfrm>
          <a:prstGeom prst="rect">
            <a:avLst/>
          </a:prstGeom>
          <a:solidFill>
            <a:schemeClr val="bg1"/>
          </a:solidFill>
        </p:spPr>
        <p:txBody>
          <a:bodyPr vert="horz" lIns="0" tIns="0" rIns="0" bIns="0" rtlCol="0" anchor="ctr"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dirty="0" smtClean="0"/>
              <a:t>Commercial </a:t>
            </a:r>
            <a:r>
              <a:rPr lang="en-US" dirty="0"/>
              <a:t>Real Estate Price </a:t>
            </a:r>
            <a:r>
              <a:rPr lang="en-US" dirty="0" smtClean="0"/>
              <a:t>Index</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959153669"/>
              </p:ext>
            </p:extLst>
          </p:nvPr>
        </p:nvGraphicFramePr>
        <p:xfrm>
          <a:off x="3048000" y="5160150"/>
          <a:ext cx="6488128" cy="554850"/>
        </p:xfrm>
        <a:graphic>
          <a:graphicData uri="http://schemas.openxmlformats.org/drawingml/2006/table">
            <a:tbl>
              <a:tblPr>
                <a:tableStyleId>{5C22544A-7EE6-4342-B048-85BDC9FD1C3A}</a:tableStyleId>
              </a:tblPr>
              <a:tblGrid>
                <a:gridCol w="405508"/>
                <a:gridCol w="405508"/>
                <a:gridCol w="405508"/>
                <a:gridCol w="405508"/>
                <a:gridCol w="405508"/>
                <a:gridCol w="405508"/>
                <a:gridCol w="405508"/>
                <a:gridCol w="405508"/>
                <a:gridCol w="405508"/>
                <a:gridCol w="405508"/>
                <a:gridCol w="405508"/>
                <a:gridCol w="405508"/>
                <a:gridCol w="405508"/>
                <a:gridCol w="405508"/>
                <a:gridCol w="405508"/>
                <a:gridCol w="405508"/>
              </a:tblGrid>
              <a:tr h="184950">
                <a:tc gridSpan="4">
                  <a:txBody>
                    <a:bodyPr/>
                    <a:lstStyle/>
                    <a:p>
                      <a:pPr algn="ctr" fontAlgn="ctr"/>
                      <a:r>
                        <a:rPr lang="en-US" sz="1100" u="none" strike="noStrike" dirty="0">
                          <a:effectLst/>
                        </a:rPr>
                        <a:t>2001</a:t>
                      </a:r>
                      <a:endParaRPr lang="en-US" sz="1100" b="0" i="0" u="none" strike="noStrike" dirty="0">
                        <a:solidFill>
                          <a:srgbClr val="000000"/>
                        </a:solidFill>
                        <a:effectLst/>
                        <a:latin typeface="Calibri"/>
                      </a:endParaRPr>
                    </a:p>
                  </a:txBody>
                  <a:tcPr marL="9247" marR="9247" marT="9247" marB="0" anchor="ctr">
                    <a:solidFill>
                      <a:schemeClr val="accent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en-US" sz="1100" u="none" strike="noStrike" dirty="0">
                          <a:effectLst/>
                        </a:rPr>
                        <a:t>2008</a:t>
                      </a:r>
                      <a:endParaRPr lang="en-US" sz="1100" b="0" i="0" u="none" strike="noStrike" dirty="0">
                        <a:solidFill>
                          <a:srgbClr val="000000"/>
                        </a:solidFill>
                        <a:effectLst/>
                        <a:latin typeface="Calibri"/>
                      </a:endParaRPr>
                    </a:p>
                  </a:txBody>
                  <a:tcPr marL="9247" marR="9247" marT="9247" marB="0" anchor="ctr">
                    <a:solidFill>
                      <a:schemeClr val="accent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en-US" sz="1100" u="none" strike="noStrike" dirty="0">
                          <a:effectLst/>
                        </a:rPr>
                        <a:t>2010</a:t>
                      </a:r>
                      <a:endParaRPr lang="en-US" sz="1100" b="0" i="0" u="none" strike="noStrike" dirty="0">
                        <a:solidFill>
                          <a:srgbClr val="000000"/>
                        </a:solidFill>
                        <a:effectLst/>
                        <a:latin typeface="Calibri"/>
                      </a:endParaRPr>
                    </a:p>
                  </a:txBody>
                  <a:tcPr marL="9247" marR="9247" marT="9247" marB="0" anchor="ctr">
                    <a:solidFill>
                      <a:schemeClr val="accent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en-US" sz="1100" u="none" strike="noStrike" dirty="0">
                          <a:effectLst/>
                        </a:rPr>
                        <a:t>2014</a:t>
                      </a:r>
                      <a:endParaRPr lang="en-US" sz="1100" b="0" i="0" u="none" strike="noStrike" dirty="0">
                        <a:solidFill>
                          <a:srgbClr val="000000"/>
                        </a:solidFill>
                        <a:effectLst/>
                        <a:latin typeface="Calibri"/>
                      </a:endParaRPr>
                    </a:p>
                  </a:txBody>
                  <a:tcPr marL="9247" marR="9247" marT="9247" marB="0" anchor="ctr">
                    <a:solidFill>
                      <a:schemeClr val="accent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184950">
                <a:tc>
                  <a:txBody>
                    <a:bodyPr/>
                    <a:lstStyle/>
                    <a:p>
                      <a:pPr algn="ctr" fontAlgn="b"/>
                      <a:r>
                        <a:rPr lang="en-US" sz="1100" u="none" strike="noStrike" dirty="0">
                          <a:effectLst/>
                        </a:rPr>
                        <a:t>Q1</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Q2</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Q3</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Q4</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Q1</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Q2</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Q3</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Q4</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Q1</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Q2</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Q3</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Q4</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Q1</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Q2</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Q3</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Q4</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r>
              <a:tr h="184950">
                <a:tc>
                  <a:txBody>
                    <a:bodyPr/>
                    <a:lstStyle/>
                    <a:p>
                      <a:pPr algn="ctr" fontAlgn="b"/>
                      <a:r>
                        <a:rPr lang="en-US" sz="1100" b="0" u="none" strike="noStrike" dirty="0">
                          <a:effectLst/>
                        </a:rPr>
                        <a:t>140</a:t>
                      </a:r>
                      <a:endParaRPr lang="en-US" sz="1100" b="0" i="0" u="none" strike="noStrike" dirty="0">
                        <a:solidFill>
                          <a:srgbClr val="000000"/>
                        </a:solidFill>
                        <a:effectLst/>
                        <a:latin typeface="Calibri"/>
                      </a:endParaRPr>
                    </a:p>
                  </a:txBody>
                  <a:tcPr marL="9247" marR="9247" marT="9247" marB="0" anchor="b"/>
                </a:tc>
                <a:tc>
                  <a:txBody>
                    <a:bodyPr/>
                    <a:lstStyle/>
                    <a:p>
                      <a:pPr algn="ctr" fontAlgn="b"/>
                      <a:r>
                        <a:rPr lang="en-US" sz="1100" u="none" strike="noStrike">
                          <a:effectLst/>
                        </a:rPr>
                        <a:t>139</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dirty="0">
                          <a:effectLst/>
                        </a:rPr>
                        <a:t>141</a:t>
                      </a:r>
                      <a:endParaRPr lang="en-US" sz="1100" b="0" i="0" u="none" strike="noStrike" dirty="0">
                        <a:solidFill>
                          <a:srgbClr val="000000"/>
                        </a:solidFill>
                        <a:effectLst/>
                        <a:latin typeface="Calibri"/>
                      </a:endParaRPr>
                    </a:p>
                  </a:txBody>
                  <a:tcPr marL="9247" marR="9247" marT="9247" marB="0" anchor="b"/>
                </a:tc>
                <a:tc>
                  <a:txBody>
                    <a:bodyPr/>
                    <a:lstStyle/>
                    <a:p>
                      <a:pPr algn="ctr" fontAlgn="b"/>
                      <a:r>
                        <a:rPr lang="en-US" sz="1100" b="1" u="none" strike="noStrike" dirty="0">
                          <a:effectLst/>
                        </a:rPr>
                        <a:t>136</a:t>
                      </a:r>
                      <a:endParaRPr lang="en-US" sz="1100" b="1" i="0" u="none" strike="noStrike" dirty="0">
                        <a:solidFill>
                          <a:srgbClr val="000000"/>
                        </a:solidFill>
                        <a:effectLst/>
                        <a:latin typeface="Calibri"/>
                      </a:endParaRPr>
                    </a:p>
                  </a:txBody>
                  <a:tcPr marL="9247" marR="9247" marT="9247" marB="0" anchor="b"/>
                </a:tc>
                <a:tc>
                  <a:txBody>
                    <a:bodyPr/>
                    <a:lstStyle/>
                    <a:p>
                      <a:pPr algn="ctr" fontAlgn="b"/>
                      <a:r>
                        <a:rPr lang="en-US" sz="1100" b="1" u="none" strike="noStrike" dirty="0">
                          <a:effectLst/>
                        </a:rPr>
                        <a:t>240</a:t>
                      </a:r>
                      <a:endParaRPr lang="en-US" sz="1100" b="1" i="0" u="none" strike="noStrike" dirty="0">
                        <a:solidFill>
                          <a:srgbClr val="000000"/>
                        </a:solidFill>
                        <a:effectLst/>
                        <a:latin typeface="Calibri"/>
                      </a:endParaRPr>
                    </a:p>
                  </a:txBody>
                  <a:tcPr marL="9247" marR="9247" marT="9247" marB="0" anchor="b"/>
                </a:tc>
                <a:tc>
                  <a:txBody>
                    <a:bodyPr/>
                    <a:lstStyle/>
                    <a:p>
                      <a:pPr algn="ctr" fontAlgn="b"/>
                      <a:r>
                        <a:rPr lang="en-US" sz="1100" u="none" strike="noStrike">
                          <a:effectLst/>
                        </a:rPr>
                        <a:t>224</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dirty="0">
                          <a:effectLst/>
                        </a:rPr>
                        <a:t>233</a:t>
                      </a:r>
                      <a:endParaRPr lang="en-US" sz="1100" b="0" i="0" u="none" strike="noStrike" dirty="0">
                        <a:solidFill>
                          <a:srgbClr val="000000"/>
                        </a:solidFill>
                        <a:effectLst/>
                        <a:latin typeface="Calibri"/>
                      </a:endParaRPr>
                    </a:p>
                  </a:txBody>
                  <a:tcPr marL="9247" marR="9247" marT="9247" marB="0" anchor="b"/>
                </a:tc>
                <a:tc>
                  <a:txBody>
                    <a:bodyPr/>
                    <a:lstStyle/>
                    <a:p>
                      <a:pPr algn="ctr" fontAlgn="b"/>
                      <a:r>
                        <a:rPr lang="en-US" sz="1100" u="none" strike="noStrike" dirty="0">
                          <a:effectLst/>
                        </a:rPr>
                        <a:t>223</a:t>
                      </a:r>
                      <a:endParaRPr lang="en-US" sz="1100" b="0" i="0" u="none" strike="noStrike" dirty="0">
                        <a:solidFill>
                          <a:srgbClr val="000000"/>
                        </a:solidFill>
                        <a:effectLst/>
                        <a:latin typeface="Calibri"/>
                      </a:endParaRPr>
                    </a:p>
                  </a:txBody>
                  <a:tcPr marL="9247" marR="9247" marT="9247" marB="0" anchor="b"/>
                </a:tc>
                <a:tc>
                  <a:txBody>
                    <a:bodyPr/>
                    <a:lstStyle/>
                    <a:p>
                      <a:pPr algn="ctr" fontAlgn="b"/>
                      <a:r>
                        <a:rPr lang="en-US" sz="1100" b="1" u="none" strike="noStrike" dirty="0">
                          <a:effectLst/>
                        </a:rPr>
                        <a:t>150</a:t>
                      </a:r>
                      <a:endParaRPr lang="en-US" sz="1100" b="1" i="0" u="none" strike="noStrike" dirty="0">
                        <a:solidFill>
                          <a:srgbClr val="000000"/>
                        </a:solidFill>
                        <a:effectLst/>
                        <a:latin typeface="Calibri"/>
                      </a:endParaRPr>
                    </a:p>
                  </a:txBody>
                  <a:tcPr marL="9247" marR="9247" marT="9247" marB="0" anchor="b"/>
                </a:tc>
                <a:tc>
                  <a:txBody>
                    <a:bodyPr/>
                    <a:lstStyle/>
                    <a:p>
                      <a:pPr algn="ctr" fontAlgn="b"/>
                      <a:r>
                        <a:rPr lang="en-US" sz="1100" u="none" strike="noStrike">
                          <a:effectLst/>
                        </a:rPr>
                        <a:t>165</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a:effectLst/>
                        </a:rPr>
                        <a:t>167</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a:effectLst/>
                        </a:rPr>
                        <a:t>173</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a:effectLst/>
                        </a:rPr>
                        <a:t>228</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a:effectLst/>
                        </a:rPr>
                        <a:t>233</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a:effectLst/>
                        </a:rPr>
                        <a:t>236</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b="0" u="none" strike="noStrike" dirty="0">
                          <a:effectLst/>
                        </a:rPr>
                        <a:t>239</a:t>
                      </a:r>
                      <a:endParaRPr lang="en-US" sz="1100" b="0" i="0" u="none" strike="noStrike" dirty="0">
                        <a:solidFill>
                          <a:srgbClr val="000000"/>
                        </a:solidFill>
                        <a:effectLst/>
                        <a:latin typeface="Calibri"/>
                      </a:endParaRPr>
                    </a:p>
                  </a:txBody>
                  <a:tcPr marL="9247" marR="9247" marT="9247" marB="0" anchor="b"/>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999126371"/>
              </p:ext>
            </p:extLst>
          </p:nvPr>
        </p:nvGraphicFramePr>
        <p:xfrm>
          <a:off x="4632960" y="6019800"/>
          <a:ext cx="4930140" cy="952500"/>
        </p:xfrm>
        <a:graphic>
          <a:graphicData uri="http://schemas.openxmlformats.org/drawingml/2006/table">
            <a:tbl>
              <a:tblPr>
                <a:tableStyleId>{5C22544A-7EE6-4342-B048-85BDC9FD1C3A}</a:tableStyleId>
              </a:tblPr>
              <a:tblGrid>
                <a:gridCol w="410845"/>
                <a:gridCol w="410845"/>
                <a:gridCol w="410845"/>
                <a:gridCol w="410845"/>
                <a:gridCol w="410845"/>
                <a:gridCol w="410845"/>
                <a:gridCol w="410845"/>
                <a:gridCol w="410845"/>
                <a:gridCol w="410845"/>
                <a:gridCol w="410845"/>
                <a:gridCol w="410845"/>
                <a:gridCol w="410845"/>
              </a:tblGrid>
              <a:tr h="190500">
                <a:tc gridSpan="4">
                  <a:txBody>
                    <a:bodyPr/>
                    <a:lstStyle/>
                    <a:p>
                      <a:pPr marL="0" algn="ctr" defTabSz="1018824" rtl="0" eaLnBrk="1" fontAlgn="ctr" latinLnBrk="0" hangingPunct="1"/>
                      <a:r>
                        <a:rPr lang="en-US" sz="1100" u="none" strike="noStrike" kern="1200" dirty="0">
                          <a:solidFill>
                            <a:schemeClr val="dk1"/>
                          </a:solidFill>
                          <a:effectLst/>
                          <a:latin typeface="+mn-lt"/>
                          <a:ea typeface="+mn-ea"/>
                          <a:cs typeface="+mn-cs"/>
                        </a:rPr>
                        <a:t>2015</a:t>
                      </a:r>
                    </a:p>
                  </a:txBody>
                  <a:tcPr marL="9525" marR="9525" marT="9525" marB="0" anchor="ctr">
                    <a:solidFill>
                      <a:schemeClr val="accent6">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algn="ctr" defTabSz="1018824" rtl="0" eaLnBrk="1" fontAlgn="ctr" latinLnBrk="0" hangingPunct="1"/>
                      <a:r>
                        <a:rPr lang="en-US" sz="1100" u="none" strike="noStrike" kern="1200" dirty="0">
                          <a:solidFill>
                            <a:schemeClr val="dk1"/>
                          </a:solidFill>
                          <a:effectLst/>
                          <a:latin typeface="+mn-lt"/>
                          <a:ea typeface="+mn-ea"/>
                          <a:cs typeface="+mn-cs"/>
                        </a:rPr>
                        <a:t>2016</a:t>
                      </a:r>
                    </a:p>
                  </a:txBody>
                  <a:tcPr marL="9525" marR="9525" marT="9525" marB="0" anchor="ctr">
                    <a:solidFill>
                      <a:schemeClr val="accent6">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algn="ctr" defTabSz="1018824" rtl="0" eaLnBrk="1" fontAlgn="ctr" latinLnBrk="0" hangingPunct="1"/>
                      <a:r>
                        <a:rPr lang="en-US" sz="1100" u="none" strike="noStrike" kern="1200" dirty="0">
                          <a:solidFill>
                            <a:schemeClr val="dk1"/>
                          </a:solidFill>
                          <a:effectLst/>
                          <a:latin typeface="+mn-lt"/>
                          <a:ea typeface="+mn-ea"/>
                          <a:cs typeface="+mn-cs"/>
                        </a:rPr>
                        <a:t>2017</a:t>
                      </a:r>
                    </a:p>
                  </a:txBody>
                  <a:tcPr marL="9525" marR="9525" marT="9525" marB="0" anchor="ctr">
                    <a:solidFill>
                      <a:schemeClr val="accent6">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190500">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Q1</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Q2</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Q3</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Q4</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Q1</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Q2</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Q3</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Q4</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Q1</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Q2</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Q3</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Q4</a:t>
                      </a:r>
                    </a:p>
                  </a:txBody>
                  <a:tcPr marL="9525" marR="9525" marT="9525" marB="0" anchor="b">
                    <a:solidFill>
                      <a:schemeClr val="accent2">
                        <a:lumMod val="20000"/>
                        <a:lumOff val="80000"/>
                      </a:schemeClr>
                    </a:solidFill>
                  </a:tcPr>
                </a:tc>
              </a:tr>
              <a:tr h="190500">
                <a:tc>
                  <a:txBody>
                    <a:bodyPr/>
                    <a:lstStyle/>
                    <a:p>
                      <a:pPr algn="ctr" fontAlgn="b"/>
                      <a:r>
                        <a:rPr lang="en-US" sz="1100" u="none" strike="noStrike" dirty="0">
                          <a:effectLst/>
                        </a:rPr>
                        <a:t>242</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245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248</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251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253</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255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257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259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261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263</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265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267</a:t>
                      </a:r>
                      <a:endParaRPr lang="en-US" sz="1100" b="0" i="0" u="none" strike="noStrike">
                        <a:solidFill>
                          <a:srgbClr val="000000"/>
                        </a:solidFill>
                        <a:effectLst/>
                        <a:latin typeface="Calibri"/>
                      </a:endParaRPr>
                    </a:p>
                  </a:txBody>
                  <a:tcPr marL="9525" marR="9525" marT="9525" marB="0" anchor="b"/>
                </a:tc>
              </a:tr>
              <a:tr h="190500">
                <a:tc>
                  <a:txBody>
                    <a:bodyPr/>
                    <a:lstStyle/>
                    <a:p>
                      <a:pPr algn="ctr" fontAlgn="b"/>
                      <a:r>
                        <a:rPr lang="en-US" sz="1100" u="none" strike="noStrike" dirty="0">
                          <a:effectLst/>
                        </a:rPr>
                        <a:t>235</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228</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221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215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208</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203</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200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198</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197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197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197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197</a:t>
                      </a:r>
                      <a:endParaRPr lang="en-US" sz="1100" b="0" i="0" u="none" strike="noStrike">
                        <a:solidFill>
                          <a:srgbClr val="000000"/>
                        </a:solidFill>
                        <a:effectLst/>
                        <a:latin typeface="Calibri"/>
                      </a:endParaRPr>
                    </a:p>
                  </a:txBody>
                  <a:tcPr marL="9525" marR="9525" marT="9525" marB="0" anchor="b"/>
                </a:tc>
              </a:tr>
              <a:tr h="190500">
                <a:tc>
                  <a:txBody>
                    <a:bodyPr/>
                    <a:lstStyle/>
                    <a:p>
                      <a:pPr algn="ctr" fontAlgn="b"/>
                      <a:r>
                        <a:rPr lang="en-US" sz="1100" u="none" strike="noStrike" dirty="0">
                          <a:effectLst/>
                        </a:rPr>
                        <a:t>230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214</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195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178</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164</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157</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154</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155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156</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160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164</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169</a:t>
                      </a:r>
                      <a:endParaRPr lang="en-US" sz="1100" b="0" i="0" u="none" strike="noStrike" dirty="0">
                        <a:solidFill>
                          <a:srgbClr val="000000"/>
                        </a:solidFill>
                        <a:effectLst/>
                        <a:latin typeface="Calibri"/>
                      </a:endParaRPr>
                    </a:p>
                  </a:txBody>
                  <a:tcPr marL="9525" marR="9525" marT="9525" marB="0" anchor="b"/>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779372155"/>
              </p:ext>
            </p:extLst>
          </p:nvPr>
        </p:nvGraphicFramePr>
        <p:xfrm>
          <a:off x="3048000" y="6400800"/>
          <a:ext cx="1600200" cy="571500"/>
        </p:xfrm>
        <a:graphic>
          <a:graphicData uri="http://schemas.openxmlformats.org/drawingml/2006/table">
            <a:tbl>
              <a:tblPr>
                <a:tableStyleId>{5C22544A-7EE6-4342-B048-85BDC9FD1C3A}</a:tableStyleId>
              </a:tblPr>
              <a:tblGrid>
                <a:gridCol w="1600200"/>
              </a:tblGrid>
              <a:tr h="190500">
                <a:tc>
                  <a:txBody>
                    <a:bodyPr/>
                    <a:lstStyle/>
                    <a:p>
                      <a:pPr algn="ctr" fontAlgn="ctr"/>
                      <a:r>
                        <a:rPr lang="en-US" sz="1100" b="1" i="0" u="none" strike="noStrike" dirty="0" smtClean="0">
                          <a:solidFill>
                            <a:srgbClr val="000000"/>
                          </a:solidFill>
                          <a:effectLst/>
                          <a:latin typeface="Calibri"/>
                        </a:rPr>
                        <a:t>Baseline Scenario</a:t>
                      </a:r>
                      <a:endParaRPr lang="en-US" sz="1100" b="1" i="0" u="none" strike="noStrike" dirty="0">
                        <a:solidFill>
                          <a:srgbClr val="000000"/>
                        </a:solidFill>
                        <a:effectLst/>
                        <a:latin typeface="Calibri"/>
                      </a:endParaRPr>
                    </a:p>
                  </a:txBody>
                  <a:tcPr marL="9525" marR="9525" marT="9525" marB="0" anchor="ctr"/>
                </a:tc>
              </a:tr>
              <a:tr h="190500">
                <a:tc>
                  <a:txBody>
                    <a:bodyPr/>
                    <a:lstStyle/>
                    <a:p>
                      <a:pPr algn="ctr" fontAlgn="ctr"/>
                      <a:r>
                        <a:rPr lang="en-US" sz="1100" b="1" i="0" u="none" strike="noStrike" dirty="0" smtClean="0">
                          <a:solidFill>
                            <a:srgbClr val="000000"/>
                          </a:solidFill>
                          <a:effectLst/>
                          <a:latin typeface="Calibri"/>
                        </a:rPr>
                        <a:t>Adverse Scenario</a:t>
                      </a:r>
                      <a:endParaRPr lang="en-US" sz="1100" b="1" i="0" u="none" strike="noStrike" dirty="0">
                        <a:solidFill>
                          <a:srgbClr val="000000"/>
                        </a:solidFill>
                        <a:effectLst/>
                        <a:latin typeface="Calibri"/>
                      </a:endParaRPr>
                    </a:p>
                  </a:txBody>
                  <a:tcPr marL="9525" marR="9525" marT="9525" marB="0" anchor="ctr"/>
                </a:tc>
              </a:tr>
              <a:tr h="190500">
                <a:tc>
                  <a:txBody>
                    <a:bodyPr/>
                    <a:lstStyle/>
                    <a:p>
                      <a:pPr algn="ctr" fontAlgn="ctr"/>
                      <a:r>
                        <a:rPr lang="en-US" sz="1100" b="1" i="0" u="none" strike="noStrike" dirty="0" smtClean="0">
                          <a:solidFill>
                            <a:srgbClr val="000000"/>
                          </a:solidFill>
                          <a:effectLst/>
                          <a:latin typeface="Calibri"/>
                        </a:rPr>
                        <a:t>Severely Adverse Scenario</a:t>
                      </a:r>
                      <a:endParaRPr lang="en-US" sz="1100" b="1" i="0" u="none" strike="noStrike" dirty="0">
                        <a:solidFill>
                          <a:srgbClr val="000000"/>
                        </a:solidFill>
                        <a:effectLst/>
                        <a:latin typeface="Calibri"/>
                      </a:endParaRPr>
                    </a:p>
                  </a:txBody>
                  <a:tcPr marL="9525" marR="9525" marT="9525" marB="0" anchor="ctr"/>
                </a:tc>
              </a:tr>
            </a:tbl>
          </a:graphicData>
        </a:graphic>
      </p:graphicFrame>
      <p:sp>
        <p:nvSpPr>
          <p:cNvPr id="12" name="TextBox 11"/>
          <p:cNvSpPr txBox="1"/>
          <p:nvPr/>
        </p:nvSpPr>
        <p:spPr>
          <a:xfrm>
            <a:off x="3124200" y="3581194"/>
            <a:ext cx="609600" cy="369332"/>
          </a:xfrm>
          <a:prstGeom prst="rect">
            <a:avLst/>
          </a:prstGeom>
          <a:noFill/>
        </p:spPr>
        <p:txBody>
          <a:bodyPr wrap="square" rtlCol="0">
            <a:spAutoFit/>
          </a:bodyPr>
          <a:lstStyle/>
          <a:p>
            <a:pPr algn="ctr"/>
            <a:r>
              <a:rPr lang="en-US" sz="900" dirty="0" smtClean="0">
                <a:solidFill>
                  <a:schemeClr val="accent1"/>
                </a:solidFill>
              </a:rPr>
              <a:t>Lowest: 136</a:t>
            </a:r>
            <a:endParaRPr lang="en-US" sz="900" dirty="0">
              <a:solidFill>
                <a:schemeClr val="accent1"/>
              </a:solidFill>
            </a:endParaRPr>
          </a:p>
        </p:txBody>
      </p:sp>
      <p:sp>
        <p:nvSpPr>
          <p:cNvPr id="21" name="TextBox 20"/>
          <p:cNvSpPr txBox="1"/>
          <p:nvPr/>
        </p:nvSpPr>
        <p:spPr>
          <a:xfrm>
            <a:off x="5181600" y="1874520"/>
            <a:ext cx="609600" cy="369332"/>
          </a:xfrm>
          <a:prstGeom prst="rect">
            <a:avLst/>
          </a:prstGeom>
          <a:noFill/>
          <a:ln>
            <a:noFill/>
          </a:ln>
        </p:spPr>
        <p:txBody>
          <a:bodyPr wrap="square" rtlCol="0">
            <a:spAutoFit/>
          </a:bodyPr>
          <a:lstStyle/>
          <a:p>
            <a:pPr algn="ctr"/>
            <a:r>
              <a:rPr lang="en-US" sz="900" dirty="0" smtClean="0">
                <a:solidFill>
                  <a:schemeClr val="accent1"/>
                </a:solidFill>
              </a:rPr>
              <a:t>Highest:</a:t>
            </a:r>
          </a:p>
          <a:p>
            <a:pPr algn="ctr"/>
            <a:r>
              <a:rPr lang="en-US" sz="900" dirty="0" smtClean="0">
                <a:solidFill>
                  <a:schemeClr val="accent1"/>
                </a:solidFill>
              </a:rPr>
              <a:t>240</a:t>
            </a:r>
            <a:endParaRPr lang="en-US" sz="900" dirty="0">
              <a:solidFill>
                <a:schemeClr val="accent1"/>
              </a:solidFill>
            </a:endParaRPr>
          </a:p>
        </p:txBody>
      </p:sp>
      <p:sp>
        <p:nvSpPr>
          <p:cNvPr id="24" name="TextBox 23"/>
          <p:cNvSpPr txBox="1"/>
          <p:nvPr/>
        </p:nvSpPr>
        <p:spPr>
          <a:xfrm>
            <a:off x="5943600" y="3452472"/>
            <a:ext cx="804863" cy="369332"/>
          </a:xfrm>
          <a:prstGeom prst="rect">
            <a:avLst/>
          </a:prstGeom>
          <a:noFill/>
        </p:spPr>
        <p:txBody>
          <a:bodyPr wrap="square" rtlCol="0">
            <a:spAutoFit/>
          </a:bodyPr>
          <a:lstStyle/>
          <a:p>
            <a:pPr algn="ctr"/>
            <a:r>
              <a:rPr lang="en-US" sz="900" dirty="0" smtClean="0">
                <a:solidFill>
                  <a:schemeClr val="accent1"/>
                </a:solidFill>
              </a:rPr>
              <a:t>Period Low:</a:t>
            </a:r>
          </a:p>
          <a:p>
            <a:pPr algn="ctr"/>
            <a:r>
              <a:rPr lang="en-US" sz="900" dirty="0" smtClean="0">
                <a:solidFill>
                  <a:schemeClr val="accent1"/>
                </a:solidFill>
              </a:rPr>
              <a:t>150</a:t>
            </a:r>
            <a:endParaRPr lang="en-US" sz="900" dirty="0">
              <a:solidFill>
                <a:schemeClr val="accent1"/>
              </a:solidFill>
            </a:endParaRPr>
          </a:p>
        </p:txBody>
      </p:sp>
      <p:graphicFrame>
        <p:nvGraphicFramePr>
          <p:cNvPr id="15" name="Table 14"/>
          <p:cNvGraphicFramePr>
            <a:graphicFrameLocks noGrp="1"/>
          </p:cNvGraphicFramePr>
          <p:nvPr>
            <p:extLst>
              <p:ext uri="{D42A27DB-BD31-4B8C-83A1-F6EECF244321}">
                <p14:modId xmlns:p14="http://schemas.microsoft.com/office/powerpoint/2010/main" val="2339327385"/>
              </p:ext>
            </p:extLst>
          </p:nvPr>
        </p:nvGraphicFramePr>
        <p:xfrm>
          <a:off x="3048000" y="6019800"/>
          <a:ext cx="1600200" cy="381000"/>
        </p:xfrm>
        <a:graphic>
          <a:graphicData uri="http://schemas.openxmlformats.org/drawingml/2006/table">
            <a:tbl>
              <a:tblPr>
                <a:tableStyleId>{5C22544A-7EE6-4342-B048-85BDC9FD1C3A}</a:tableStyleId>
              </a:tblPr>
              <a:tblGrid>
                <a:gridCol w="1600200"/>
              </a:tblGrid>
              <a:tr h="190500">
                <a:tc>
                  <a:txBody>
                    <a:bodyPr/>
                    <a:lstStyle/>
                    <a:p>
                      <a:pPr algn="ctr" fontAlgn="ctr"/>
                      <a:endParaRPr lang="en-US" sz="1100" u="none" strike="noStrike" kern="1200" dirty="0">
                        <a:solidFill>
                          <a:schemeClr val="dk1"/>
                        </a:solidFill>
                        <a:effectLst/>
                        <a:latin typeface="+mn-lt"/>
                        <a:ea typeface="+mn-ea"/>
                        <a:cs typeface="+mn-cs"/>
                      </a:endParaRPr>
                    </a:p>
                  </a:txBody>
                  <a:tcPr marL="9525" marR="9525" marT="9525" marB="0" anchor="ctr">
                    <a:solidFill>
                      <a:schemeClr val="accent6">
                        <a:lumMod val="40000"/>
                        <a:lumOff val="60000"/>
                      </a:schemeClr>
                    </a:solidFill>
                  </a:tcPr>
                </a:tc>
              </a:tr>
              <a:tr h="190500">
                <a:tc>
                  <a:txBody>
                    <a:bodyPr/>
                    <a:lstStyle/>
                    <a:p>
                      <a:pPr algn="ctr" fontAlgn="ctr"/>
                      <a:endParaRPr lang="en-US" sz="1100" b="1" i="0" u="none" strike="noStrike" dirty="0">
                        <a:solidFill>
                          <a:srgbClr val="000000"/>
                        </a:solidFill>
                        <a:effectLst/>
                        <a:latin typeface="Calibri"/>
                      </a:endParaRPr>
                    </a:p>
                  </a:txBody>
                  <a:tcPr marL="9525" marR="9525" marT="9525" marB="0" anchor="ctr">
                    <a:solidFill>
                      <a:schemeClr val="accent2">
                        <a:lumMod val="20000"/>
                        <a:lumOff val="80000"/>
                      </a:schemeClr>
                    </a:solidFill>
                  </a:tcPr>
                </a:tc>
              </a:tr>
            </a:tbl>
          </a:graphicData>
        </a:graphic>
      </p:graphicFrame>
      <p:cxnSp>
        <p:nvCxnSpPr>
          <p:cNvPr id="17" name="Straight Connector 16"/>
          <p:cNvCxnSpPr/>
          <p:nvPr/>
        </p:nvCxnSpPr>
        <p:spPr>
          <a:xfrm flipH="1">
            <a:off x="9063038" y="2377440"/>
            <a:ext cx="0" cy="489585"/>
          </a:xfrm>
          <a:prstGeom prst="line">
            <a:avLst/>
          </a:prstGeom>
          <a:ln w="19050">
            <a:solidFill>
              <a:schemeClr val="accent1">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rot="16200000">
            <a:off x="8925603" y="2738093"/>
            <a:ext cx="323165" cy="428625"/>
          </a:xfrm>
          <a:prstGeom prst="rect">
            <a:avLst/>
          </a:prstGeom>
          <a:noFill/>
        </p:spPr>
        <p:txBody>
          <a:bodyPr vert="eaVert" wrap="square" rtlCol="0">
            <a:spAutoFit/>
          </a:bodyPr>
          <a:lstStyle/>
          <a:p>
            <a:r>
              <a:rPr lang="en-US" sz="900" dirty="0" smtClean="0">
                <a:solidFill>
                  <a:schemeClr val="accent2">
                    <a:lumMod val="75000"/>
                  </a:schemeClr>
                </a:solidFill>
              </a:rPr>
              <a:t>-17.7%</a:t>
            </a:r>
            <a:endParaRPr lang="en-US" sz="900" dirty="0">
              <a:solidFill>
                <a:schemeClr val="accent2">
                  <a:lumMod val="75000"/>
                </a:schemeClr>
              </a:solidFill>
            </a:endParaRPr>
          </a:p>
        </p:txBody>
      </p:sp>
      <p:cxnSp>
        <p:nvCxnSpPr>
          <p:cNvPr id="31" name="Straight Connector 30"/>
          <p:cNvCxnSpPr/>
          <p:nvPr/>
        </p:nvCxnSpPr>
        <p:spPr>
          <a:xfrm>
            <a:off x="8882067" y="2369823"/>
            <a:ext cx="0" cy="982977"/>
          </a:xfrm>
          <a:prstGeom prst="line">
            <a:avLst/>
          </a:prstGeom>
          <a:ln w="19050">
            <a:solidFill>
              <a:schemeClr val="accent3">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rot="16200000">
            <a:off x="8720484" y="3238160"/>
            <a:ext cx="323165" cy="428625"/>
          </a:xfrm>
          <a:prstGeom prst="rect">
            <a:avLst/>
          </a:prstGeom>
          <a:noFill/>
        </p:spPr>
        <p:txBody>
          <a:bodyPr vert="eaVert" wrap="square" rtlCol="0">
            <a:spAutoFit/>
          </a:bodyPr>
          <a:lstStyle/>
          <a:p>
            <a:r>
              <a:rPr lang="en-US" sz="900" dirty="0" smtClean="0">
                <a:solidFill>
                  <a:schemeClr val="accent3">
                    <a:lumMod val="75000"/>
                  </a:schemeClr>
                </a:solidFill>
              </a:rPr>
              <a:t>-35.3%</a:t>
            </a:r>
            <a:endParaRPr lang="en-US" sz="900" dirty="0">
              <a:solidFill>
                <a:schemeClr val="accent3">
                  <a:lumMod val="75000"/>
                </a:schemeClr>
              </a:solidFill>
            </a:endParaRPr>
          </a:p>
        </p:txBody>
      </p:sp>
      <p:cxnSp>
        <p:nvCxnSpPr>
          <p:cNvPr id="34" name="Straight Connector 33"/>
          <p:cNvCxnSpPr/>
          <p:nvPr/>
        </p:nvCxnSpPr>
        <p:spPr>
          <a:xfrm>
            <a:off x="9286875" y="2057400"/>
            <a:ext cx="0" cy="304800"/>
          </a:xfrm>
          <a:prstGeom prst="line">
            <a:avLst/>
          </a:prstGeom>
          <a:ln w="190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rot="16200000">
            <a:off x="8989564" y="1992331"/>
            <a:ext cx="323165" cy="442906"/>
          </a:xfrm>
          <a:prstGeom prst="rect">
            <a:avLst/>
          </a:prstGeom>
          <a:noFill/>
        </p:spPr>
        <p:txBody>
          <a:bodyPr vert="eaVert" wrap="square" rtlCol="0">
            <a:spAutoFit/>
          </a:bodyPr>
          <a:lstStyle/>
          <a:p>
            <a:r>
              <a:rPr lang="en-US" sz="900" dirty="0" smtClean="0">
                <a:solidFill>
                  <a:schemeClr val="accent1"/>
                </a:solidFill>
              </a:rPr>
              <a:t>11.6%</a:t>
            </a:r>
            <a:endParaRPr lang="en-US" sz="900" dirty="0">
              <a:solidFill>
                <a:schemeClr val="accent1"/>
              </a:solidFill>
            </a:endParaRPr>
          </a:p>
        </p:txBody>
      </p:sp>
      <p:sp>
        <p:nvSpPr>
          <p:cNvPr id="30" name="TextBox 29"/>
          <p:cNvSpPr txBox="1"/>
          <p:nvPr/>
        </p:nvSpPr>
        <p:spPr>
          <a:xfrm rot="10800000">
            <a:off x="2610167" y="5105400"/>
            <a:ext cx="369332" cy="609600"/>
          </a:xfrm>
          <a:prstGeom prst="rect">
            <a:avLst/>
          </a:prstGeom>
          <a:noFill/>
        </p:spPr>
        <p:txBody>
          <a:bodyPr vert="eaVert" wrap="square" rtlCol="0">
            <a:spAutoFit/>
          </a:bodyPr>
          <a:lstStyle/>
          <a:p>
            <a:pPr algn="ctr"/>
            <a:r>
              <a:rPr lang="en-US" sz="1200" dirty="0" smtClean="0"/>
              <a:t>Actual</a:t>
            </a:r>
            <a:endParaRPr lang="en-US" sz="1200" dirty="0"/>
          </a:p>
        </p:txBody>
      </p:sp>
      <p:cxnSp>
        <p:nvCxnSpPr>
          <p:cNvPr id="35" name="Straight Connector 34"/>
          <p:cNvCxnSpPr/>
          <p:nvPr/>
        </p:nvCxnSpPr>
        <p:spPr>
          <a:xfrm>
            <a:off x="2979499" y="5181600"/>
            <a:ext cx="0" cy="5334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rot="10800000">
            <a:off x="2610167" y="6019800"/>
            <a:ext cx="369332" cy="914400"/>
          </a:xfrm>
          <a:prstGeom prst="rect">
            <a:avLst/>
          </a:prstGeom>
          <a:noFill/>
        </p:spPr>
        <p:txBody>
          <a:bodyPr vert="eaVert" wrap="square" rtlCol="0">
            <a:spAutoFit/>
          </a:bodyPr>
          <a:lstStyle/>
          <a:p>
            <a:pPr algn="ctr"/>
            <a:r>
              <a:rPr lang="en-US" sz="1200" dirty="0" smtClean="0"/>
              <a:t>Projection</a:t>
            </a:r>
            <a:endParaRPr lang="en-US" sz="1200" dirty="0"/>
          </a:p>
        </p:txBody>
      </p:sp>
      <p:cxnSp>
        <p:nvCxnSpPr>
          <p:cNvPr id="43" name="Straight Connector 42"/>
          <p:cNvCxnSpPr/>
          <p:nvPr/>
        </p:nvCxnSpPr>
        <p:spPr>
          <a:xfrm flipV="1">
            <a:off x="2979499" y="6019800"/>
            <a:ext cx="0" cy="9144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914400" y="7322820"/>
            <a:ext cx="4244069" cy="200055"/>
          </a:xfrm>
          <a:prstGeom prst="rect">
            <a:avLst/>
          </a:prstGeom>
          <a:noFill/>
        </p:spPr>
        <p:txBody>
          <a:bodyPr wrap="square" rtlCol="0">
            <a:spAutoFit/>
          </a:bodyPr>
          <a:lstStyle/>
          <a:p>
            <a:r>
              <a:rPr lang="en-US" sz="700" dirty="0">
                <a:latin typeface="+mn-lt"/>
              </a:rPr>
              <a:t>Source: </a:t>
            </a:r>
            <a:r>
              <a:rPr lang="en-US" sz="700" dirty="0" smtClean="0"/>
              <a:t>Federal Reserve CCAR 2015 Supervisory Scenarios</a:t>
            </a:r>
            <a:endParaRPr lang="en-US" sz="700" dirty="0">
              <a:latin typeface="+mn-lt"/>
            </a:endParaRPr>
          </a:p>
        </p:txBody>
      </p:sp>
    </p:spTree>
    <p:extLst>
      <p:ext uri="{BB962C8B-B14F-4D97-AF65-F5344CB8AC3E}">
        <p14:creationId xmlns:p14="http://schemas.microsoft.com/office/powerpoint/2010/main" val="1893407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ETUDE OUTPUTS</a:t>
            </a:r>
            <a:endParaRPr lang="en-US" dirty="0"/>
          </a:p>
        </p:txBody>
      </p:sp>
      <p:sp>
        <p:nvSpPr>
          <p:cNvPr id="9" name="Content Placeholder 8"/>
          <p:cNvSpPr>
            <a:spLocks noGrp="1"/>
          </p:cNvSpPr>
          <p:nvPr>
            <p:ph sz="quarter" idx="13"/>
          </p:nvPr>
        </p:nvSpPr>
        <p:spPr>
          <a:xfrm>
            <a:off x="838200" y="928218"/>
            <a:ext cx="7214616" cy="441325"/>
          </a:xfrm>
        </p:spPr>
        <p:txBody>
          <a:bodyPr/>
          <a:lstStyle/>
          <a:p>
            <a:r>
              <a:rPr lang="en-US" dirty="0" smtClean="0"/>
              <a:t>Etude is used seamlessly across all parts of the Portfolio   </a:t>
            </a:r>
            <a:endParaRPr lang="en-US" dirty="0"/>
          </a:p>
        </p:txBody>
      </p:sp>
      <p:sp>
        <p:nvSpPr>
          <p:cNvPr id="10" name="Text Placeholder 2"/>
          <p:cNvSpPr>
            <a:spLocks noGrp="1"/>
          </p:cNvSpPr>
          <p:nvPr>
            <p:ph type="body" sz="quarter" idx="10"/>
          </p:nvPr>
        </p:nvSpPr>
        <p:spPr>
          <a:xfrm>
            <a:off x="2895600" y="436880"/>
            <a:ext cx="6867525" cy="594360"/>
          </a:xfrm>
        </p:spPr>
        <p:txBody>
          <a:bodyPr/>
          <a:lstStyle/>
          <a:p>
            <a:r>
              <a:rPr lang="en-US" dirty="0" smtClean="0"/>
              <a:t>HARMONIZED modelling APPROACH ACROSS PORTFOLIO </a:t>
            </a:r>
            <a:endParaRPr lang="en-US" dirty="0"/>
          </a:p>
        </p:txBody>
      </p:sp>
      <p:grpSp>
        <p:nvGrpSpPr>
          <p:cNvPr id="17" name="Group 16"/>
          <p:cNvGrpSpPr/>
          <p:nvPr/>
        </p:nvGrpSpPr>
        <p:grpSpPr>
          <a:xfrm>
            <a:off x="3278779" y="1434538"/>
            <a:ext cx="3719308" cy="3657600"/>
            <a:chOff x="3200400" y="1830421"/>
            <a:chExt cx="3719308" cy="3657600"/>
          </a:xfrm>
        </p:grpSpPr>
        <p:cxnSp>
          <p:nvCxnSpPr>
            <p:cNvPr id="18" name="Straight Connector 17"/>
            <p:cNvCxnSpPr/>
            <p:nvPr/>
          </p:nvCxnSpPr>
          <p:spPr>
            <a:xfrm>
              <a:off x="6717506" y="5093494"/>
              <a:ext cx="202202" cy="11522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200400" y="1906621"/>
              <a:ext cx="3581400" cy="3581400"/>
            </a:xfrm>
            <a:prstGeom prst="ellipse">
              <a:avLst/>
            </a:prstGeom>
            <a:solidFill>
              <a:schemeClr val="accent2"/>
            </a:solidFill>
            <a:ln w="1270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US"/>
            </a:p>
          </p:txBody>
        </p:sp>
        <p:grpSp>
          <p:nvGrpSpPr>
            <p:cNvPr id="20" name="Group 19"/>
            <p:cNvGrpSpPr/>
            <p:nvPr/>
          </p:nvGrpSpPr>
          <p:grpSpPr>
            <a:xfrm>
              <a:off x="3352800" y="1830421"/>
              <a:ext cx="3291840" cy="2893107"/>
              <a:chOff x="3352800" y="1830421"/>
              <a:chExt cx="3291840" cy="2893107"/>
            </a:xfrm>
          </p:grpSpPr>
          <p:cxnSp>
            <p:nvCxnSpPr>
              <p:cNvPr id="26" name="Straight Connector 25"/>
              <p:cNvCxnSpPr/>
              <p:nvPr/>
            </p:nvCxnSpPr>
            <p:spPr>
              <a:xfrm>
                <a:off x="5780505" y="4213726"/>
                <a:ext cx="864135" cy="48652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3352800" y="4191000"/>
                <a:ext cx="914400" cy="532528"/>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5020333" y="1830421"/>
                <a:ext cx="1438" cy="1080749"/>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4137660" y="2836745"/>
              <a:ext cx="1828800" cy="1828800"/>
            </a:xfrm>
            <a:prstGeom prst="ellipse">
              <a:avLst/>
            </a:prstGeom>
            <a:solidFill>
              <a:schemeClr val="tx2"/>
            </a:solidFill>
            <a:ln w="15875">
              <a:noFill/>
            </a:ln>
          </p:spPr>
          <p:txBody>
            <a:bodyPr wrap="square" rtlCol="0" anchor="ctr">
              <a:noAutofit/>
            </a:bodyPr>
            <a:lstStyle/>
            <a:p>
              <a:pPr marL="0" lvl="1" algn="ctr">
                <a:lnSpc>
                  <a:spcPct val="110000"/>
                </a:lnSpc>
                <a:spcBef>
                  <a:spcPts val="1500"/>
                </a:spcBef>
              </a:pPr>
              <a:r>
                <a:rPr lang="en-US" sz="1300" b="1" dirty="0" smtClean="0">
                  <a:solidFill>
                    <a:schemeClr val="bg1"/>
                  </a:solidFill>
                </a:rPr>
                <a:t>CRE INVESTMENT PROCESS</a:t>
              </a:r>
            </a:p>
          </p:txBody>
        </p:sp>
        <p:grpSp>
          <p:nvGrpSpPr>
            <p:cNvPr id="22" name="Group 21"/>
            <p:cNvGrpSpPr/>
            <p:nvPr/>
          </p:nvGrpSpPr>
          <p:grpSpPr>
            <a:xfrm>
              <a:off x="3772090" y="2507481"/>
              <a:ext cx="2648804" cy="2363936"/>
              <a:chOff x="3772090" y="2507481"/>
              <a:chExt cx="2648804" cy="2363936"/>
            </a:xfrm>
          </p:grpSpPr>
          <p:sp>
            <p:nvSpPr>
              <p:cNvPr id="23" name="TextBox 22"/>
              <p:cNvSpPr txBox="1"/>
              <p:nvPr/>
            </p:nvSpPr>
            <p:spPr>
              <a:xfrm rot="18294870">
                <a:off x="3463523" y="2944529"/>
                <a:ext cx="1295400" cy="678265"/>
              </a:xfrm>
              <a:prstGeom prst="rect">
                <a:avLst/>
              </a:prstGeom>
              <a:noFill/>
            </p:spPr>
            <p:txBody>
              <a:bodyPr wrap="square" lIns="0" tIns="0" rIns="0" bIns="0" rtlCol="0">
                <a:prstTxWarp prst="textArchUp">
                  <a:avLst/>
                </a:prstTxWarp>
                <a:noAutofit/>
              </a:bodyPr>
              <a:lstStyle/>
              <a:p>
                <a:pPr marL="0" lvl="1" algn="ctr">
                  <a:lnSpc>
                    <a:spcPct val="110000"/>
                  </a:lnSpc>
                  <a:spcBef>
                    <a:spcPts val="1500"/>
                  </a:spcBef>
                </a:pPr>
                <a:r>
                  <a:rPr lang="en-US" sz="1300" b="1" dirty="0" smtClean="0">
                    <a:solidFill>
                      <a:schemeClr val="bg1"/>
                    </a:solidFill>
                    <a:latin typeface="Calibri"/>
                  </a:rPr>
                  <a:t>  </a:t>
                </a:r>
                <a:br>
                  <a:rPr lang="en-US" sz="1300" b="1" dirty="0" smtClean="0">
                    <a:solidFill>
                      <a:schemeClr val="bg1"/>
                    </a:solidFill>
                    <a:latin typeface="Calibri"/>
                  </a:rPr>
                </a:br>
                <a:r>
                  <a:rPr lang="en-US" sz="1300" b="1" dirty="0" smtClean="0">
                    <a:solidFill>
                      <a:schemeClr val="bg1"/>
                    </a:solidFill>
                    <a:latin typeface="Calibri"/>
                  </a:rPr>
                  <a:t>EQUITIES</a:t>
                </a:r>
                <a:endParaRPr lang="en-US" sz="1300" b="1" dirty="0">
                  <a:solidFill>
                    <a:schemeClr val="bg1"/>
                  </a:solidFill>
                  <a:latin typeface="Calibri"/>
                </a:endParaRPr>
              </a:p>
            </p:txBody>
          </p:sp>
          <p:sp>
            <p:nvSpPr>
              <p:cNvPr id="24" name="TextBox 23"/>
              <p:cNvSpPr txBox="1"/>
              <p:nvPr/>
            </p:nvSpPr>
            <p:spPr>
              <a:xfrm>
                <a:off x="3953811" y="3423617"/>
                <a:ext cx="2171700" cy="1447800"/>
              </a:xfrm>
              <a:prstGeom prst="rect">
                <a:avLst/>
              </a:prstGeom>
              <a:noFill/>
            </p:spPr>
            <p:txBody>
              <a:bodyPr wrap="square" lIns="0" tIns="0" rIns="0" bIns="0" rtlCol="0">
                <a:prstTxWarp prst="textArchDown">
                  <a:avLst/>
                </a:prstTxWarp>
                <a:noAutofit/>
              </a:bodyPr>
              <a:lstStyle/>
              <a:p>
                <a:pPr marL="0" lvl="1" algn="ctr">
                  <a:lnSpc>
                    <a:spcPct val="110000"/>
                  </a:lnSpc>
                  <a:spcBef>
                    <a:spcPts val="1500"/>
                  </a:spcBef>
                </a:pPr>
                <a:r>
                  <a:rPr lang="en-US" sz="1300" b="1" dirty="0" smtClean="0">
                    <a:solidFill>
                      <a:schemeClr val="bg1"/>
                    </a:solidFill>
                    <a:latin typeface="Calibri"/>
                  </a:rPr>
                  <a:t>CORPORATE </a:t>
                </a:r>
                <a:br>
                  <a:rPr lang="en-US" sz="1300" b="1" dirty="0" smtClean="0">
                    <a:solidFill>
                      <a:schemeClr val="bg1"/>
                    </a:solidFill>
                    <a:latin typeface="Calibri"/>
                  </a:rPr>
                </a:br>
                <a:r>
                  <a:rPr lang="en-US" sz="1300" b="1" dirty="0" smtClean="0">
                    <a:solidFill>
                      <a:schemeClr val="bg1"/>
                    </a:solidFill>
                    <a:latin typeface="Calibri"/>
                  </a:rPr>
                  <a:t>DEBT</a:t>
                </a:r>
                <a:endParaRPr lang="en-US" sz="1300" b="1" dirty="0">
                  <a:solidFill>
                    <a:schemeClr val="bg1"/>
                  </a:solidFill>
                  <a:latin typeface="Calibri"/>
                </a:endParaRPr>
              </a:p>
            </p:txBody>
          </p:sp>
          <p:sp>
            <p:nvSpPr>
              <p:cNvPr id="25" name="TextBox 24"/>
              <p:cNvSpPr txBox="1"/>
              <p:nvPr/>
            </p:nvSpPr>
            <p:spPr>
              <a:xfrm rot="3412790">
                <a:off x="4272822" y="2636365"/>
                <a:ext cx="2276955" cy="2019188"/>
              </a:xfrm>
              <a:prstGeom prst="rect">
                <a:avLst/>
              </a:prstGeom>
              <a:noFill/>
            </p:spPr>
            <p:txBody>
              <a:bodyPr wrap="square" lIns="0" tIns="0" rIns="0" bIns="0" rtlCol="0">
                <a:prstTxWarp prst="textArchUp">
                  <a:avLst>
                    <a:gd name="adj" fmla="val 12240818"/>
                  </a:avLst>
                </a:prstTxWarp>
                <a:noAutofit/>
              </a:bodyPr>
              <a:lstStyle/>
              <a:p>
                <a:pPr marL="0" lvl="1" algn="ctr">
                  <a:lnSpc>
                    <a:spcPct val="110000"/>
                  </a:lnSpc>
                  <a:spcBef>
                    <a:spcPts val="1500"/>
                  </a:spcBef>
                </a:pPr>
                <a:r>
                  <a:rPr lang="en-US" sz="1300" b="1" dirty="0" smtClean="0">
                    <a:solidFill>
                      <a:schemeClr val="bg1"/>
                    </a:solidFill>
                    <a:latin typeface="Calibri"/>
                  </a:rPr>
                  <a:t>STRUCTURED FINANCE</a:t>
                </a:r>
                <a:endParaRPr lang="en-US" sz="1300" b="1" dirty="0">
                  <a:solidFill>
                    <a:schemeClr val="bg1"/>
                  </a:solidFill>
                  <a:latin typeface="Calibri"/>
                </a:endParaRPr>
              </a:p>
            </p:txBody>
          </p:sp>
        </p:grpSp>
      </p:grpSp>
      <p:sp>
        <p:nvSpPr>
          <p:cNvPr id="29" name="Rectangle 28"/>
          <p:cNvSpPr/>
          <p:nvPr/>
        </p:nvSpPr>
        <p:spPr>
          <a:xfrm>
            <a:off x="2819400" y="5334000"/>
            <a:ext cx="4325568"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200" b="1" dirty="0" smtClean="0">
                <a:solidFill>
                  <a:schemeClr val="accent2"/>
                </a:solidFill>
                <a:latin typeface="+mj-lt"/>
              </a:rPr>
              <a:t>Corporate CRE</a:t>
            </a:r>
          </a:p>
          <a:p>
            <a:pPr marL="171450" lvl="1" indent="-171450">
              <a:spcBef>
                <a:spcPts val="600"/>
              </a:spcBef>
              <a:buFont typeface="Arial" panose="020B0604020202020204" pitchFamily="34" charset="0"/>
              <a:buChar char="•"/>
            </a:pPr>
            <a:r>
              <a:rPr lang="en-US" sz="1200" dirty="0" smtClean="0">
                <a:solidFill>
                  <a:schemeClr val="tx2"/>
                </a:solidFill>
              </a:rPr>
              <a:t>Given an underlying risk, a property-related risk is mapped to and NOI/Cap Rate Forecast.</a:t>
            </a:r>
          </a:p>
          <a:p>
            <a:pPr marL="171450" lvl="1" indent="-171450">
              <a:spcBef>
                <a:spcPts val="600"/>
              </a:spcBef>
              <a:buFont typeface="Arial" panose="020B0604020202020204" pitchFamily="34" charset="0"/>
              <a:buChar char="•"/>
            </a:pPr>
            <a:r>
              <a:rPr lang="en-US" sz="1200" dirty="0" smtClean="0">
                <a:solidFill>
                  <a:schemeClr val="tx2"/>
                </a:solidFill>
              </a:rPr>
              <a:t>Debt instruments are valued with same Econometric Scenario Analysis overlay.</a:t>
            </a:r>
          </a:p>
          <a:p>
            <a:pPr marL="171450" lvl="1" indent="-171450">
              <a:spcBef>
                <a:spcPts val="600"/>
              </a:spcBef>
              <a:buFont typeface="Arial" panose="020B0604020202020204" pitchFamily="34" charset="0"/>
              <a:buChar char="•"/>
            </a:pPr>
            <a:r>
              <a:rPr lang="en-US" sz="1200" dirty="0" smtClean="0">
                <a:solidFill>
                  <a:schemeClr val="tx2"/>
                </a:solidFill>
              </a:rPr>
              <a:t>Adjustments needed for specific structures: ex basis between Bond/Loan and CDS.</a:t>
            </a:r>
            <a:endParaRPr lang="en-US" sz="1200" dirty="0">
              <a:solidFill>
                <a:schemeClr val="tx2"/>
              </a:solidFill>
            </a:endParaRPr>
          </a:p>
          <a:p>
            <a:pPr marL="173038" lvl="3" indent="-173038" algn="ctr">
              <a:lnSpc>
                <a:spcPct val="110000"/>
              </a:lnSpc>
              <a:spcBef>
                <a:spcPts val="300"/>
              </a:spcBef>
              <a:buSzPct val="80000"/>
              <a:buFont typeface="Arial" panose="020B0604020202020204" pitchFamily="34" charset="0"/>
              <a:buChar char="•"/>
            </a:pPr>
            <a:endParaRPr lang="en-US" sz="1200" dirty="0">
              <a:solidFill>
                <a:schemeClr val="tx2"/>
              </a:solidFill>
            </a:endParaRPr>
          </a:p>
          <a:p>
            <a:pPr marL="173038" lvl="3" indent="-173038" algn="ctr">
              <a:lnSpc>
                <a:spcPct val="110000"/>
              </a:lnSpc>
              <a:spcBef>
                <a:spcPts val="300"/>
              </a:spcBef>
              <a:buSzPct val="80000"/>
              <a:buFont typeface="Arial" panose="020B0604020202020204" pitchFamily="34" charset="0"/>
              <a:buChar char="•"/>
            </a:pPr>
            <a:endParaRPr lang="en-US" sz="1200" dirty="0">
              <a:solidFill>
                <a:schemeClr val="tx2"/>
              </a:solidFill>
              <a:latin typeface="+mj-lt"/>
            </a:endParaRPr>
          </a:p>
        </p:txBody>
      </p:sp>
      <p:sp>
        <p:nvSpPr>
          <p:cNvPr id="31" name="Rectangle 30"/>
          <p:cNvSpPr/>
          <p:nvPr/>
        </p:nvSpPr>
        <p:spPr>
          <a:xfrm>
            <a:off x="7086600" y="1101327"/>
            <a:ext cx="2743200"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200" b="1" dirty="0">
                <a:solidFill>
                  <a:schemeClr val="accent2"/>
                </a:solidFill>
                <a:latin typeface="+mj-lt"/>
              </a:rPr>
              <a:t>CMBS &amp; Mortgage </a:t>
            </a:r>
            <a:r>
              <a:rPr lang="en-US" sz="1200" b="1" dirty="0" smtClean="0">
                <a:solidFill>
                  <a:schemeClr val="accent2"/>
                </a:solidFill>
                <a:latin typeface="+mj-lt"/>
              </a:rPr>
              <a:t>Lending</a:t>
            </a:r>
            <a:endParaRPr lang="en-US" sz="1200" b="1" dirty="0">
              <a:solidFill>
                <a:schemeClr val="accent2"/>
              </a:solidFill>
              <a:latin typeface="+mj-lt"/>
            </a:endParaRPr>
          </a:p>
          <a:p>
            <a:pPr marL="173038" lvl="3" indent="-173038">
              <a:spcBef>
                <a:spcPts val="600"/>
              </a:spcBef>
              <a:buSzPct val="80000"/>
              <a:buFont typeface="Arial" panose="020B0604020202020204" pitchFamily="34" charset="0"/>
              <a:buChar char="•"/>
            </a:pPr>
            <a:r>
              <a:rPr lang="en-US" sz="1200" dirty="0" smtClean="0">
                <a:solidFill>
                  <a:schemeClr val="tx2"/>
                </a:solidFill>
                <a:latin typeface="+mj-lt"/>
              </a:rPr>
              <a:t>Given a Loan, each property is mapped to an NOI/Cap Rate Forecast that corresponds to lowest possible level of aggregation by Property Type or Geography (CBSA).</a:t>
            </a:r>
          </a:p>
          <a:p>
            <a:pPr marL="173038" lvl="3" indent="-173038">
              <a:spcBef>
                <a:spcPts val="600"/>
              </a:spcBef>
              <a:buSzPct val="80000"/>
              <a:buFont typeface="Arial" panose="020B0604020202020204" pitchFamily="34" charset="0"/>
              <a:buChar char="•"/>
            </a:pPr>
            <a:r>
              <a:rPr lang="en-US" sz="1200" dirty="0" smtClean="0">
                <a:solidFill>
                  <a:schemeClr val="tx2"/>
                </a:solidFill>
                <a:latin typeface="+mj-lt"/>
              </a:rPr>
              <a:t>Forecasts are uploaded to </a:t>
            </a:r>
            <a:r>
              <a:rPr lang="en-US" sz="1200" dirty="0" err="1" smtClean="0">
                <a:solidFill>
                  <a:schemeClr val="tx2"/>
                </a:solidFill>
                <a:latin typeface="+mj-lt"/>
              </a:rPr>
              <a:t>Trepp</a:t>
            </a:r>
            <a:r>
              <a:rPr lang="en-US" sz="1200" dirty="0" smtClean="0">
                <a:solidFill>
                  <a:schemeClr val="tx2"/>
                </a:solidFill>
                <a:latin typeface="+mj-lt"/>
              </a:rPr>
              <a:t> and used to generate Loan-level cash-flows across the Econometric Scenarios.</a:t>
            </a:r>
          </a:p>
          <a:p>
            <a:pPr marL="173038" lvl="3" indent="-173038">
              <a:spcBef>
                <a:spcPts val="600"/>
              </a:spcBef>
              <a:buSzPct val="80000"/>
              <a:buFont typeface="Arial" panose="020B0604020202020204" pitchFamily="34" charset="0"/>
              <a:buChar char="•"/>
            </a:pPr>
            <a:r>
              <a:rPr lang="en-US" sz="1200" dirty="0" smtClean="0">
                <a:solidFill>
                  <a:schemeClr val="tx2"/>
                </a:solidFill>
                <a:latin typeface="+mj-lt"/>
              </a:rPr>
              <a:t>NOI/Cap Rate Forecasts activate LTV and DSCR triggers that lead to Defaults and Expected Losses (see Appendix at Page [X]).</a:t>
            </a:r>
          </a:p>
          <a:p>
            <a:pPr marL="173038" lvl="3" indent="-173038">
              <a:spcBef>
                <a:spcPts val="600"/>
              </a:spcBef>
              <a:buSzPct val="80000"/>
              <a:buFont typeface="Arial" panose="020B0604020202020204" pitchFamily="34" charset="0"/>
              <a:buChar char="•"/>
            </a:pPr>
            <a:r>
              <a:rPr lang="en-US" sz="1200" dirty="0" smtClean="0">
                <a:solidFill>
                  <a:schemeClr val="tx2"/>
                </a:solidFill>
                <a:latin typeface="+mj-lt"/>
              </a:rPr>
              <a:t>Idiosyncratic risks in large loans are individually modelled as adjustments to Forecasts.</a:t>
            </a:r>
          </a:p>
          <a:p>
            <a:pPr marL="173038" lvl="3" indent="-173038">
              <a:spcBef>
                <a:spcPts val="600"/>
              </a:spcBef>
              <a:buSzPct val="80000"/>
              <a:buFont typeface="Arial" panose="020B0604020202020204" pitchFamily="34" charset="0"/>
              <a:buChar char="•"/>
            </a:pPr>
            <a:r>
              <a:rPr lang="en-US" sz="1200" dirty="0" smtClean="0">
                <a:solidFill>
                  <a:schemeClr val="tx2"/>
                </a:solidFill>
                <a:latin typeface="+mj-lt"/>
              </a:rPr>
              <a:t>Loan-level Forecasts are pooled to generate loss-adjusted yields at a given market price.</a:t>
            </a:r>
            <a:endParaRPr lang="en-US" sz="1200" dirty="0">
              <a:solidFill>
                <a:schemeClr val="tx2"/>
              </a:solidFill>
              <a:latin typeface="+mj-lt"/>
            </a:endParaRPr>
          </a:p>
        </p:txBody>
      </p:sp>
      <p:sp>
        <p:nvSpPr>
          <p:cNvPr id="3" name="Rectangle 2"/>
          <p:cNvSpPr/>
          <p:nvPr/>
        </p:nvSpPr>
        <p:spPr>
          <a:xfrm>
            <a:off x="2057400" y="1133131"/>
            <a:ext cx="457200" cy="61376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228600" y="1369543"/>
            <a:ext cx="2759331"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200" b="1" dirty="0" smtClean="0">
                <a:solidFill>
                  <a:schemeClr val="accent2"/>
                </a:solidFill>
                <a:latin typeface="+mj-lt"/>
              </a:rPr>
              <a:t>CRE Equities</a:t>
            </a:r>
          </a:p>
          <a:p>
            <a:pPr marL="173038" lvl="3" indent="-173038">
              <a:spcBef>
                <a:spcPts val="600"/>
              </a:spcBef>
              <a:buSzPct val="80000"/>
              <a:buFont typeface="Arial" panose="020B0604020202020204" pitchFamily="34" charset="0"/>
              <a:buChar char="•"/>
            </a:pPr>
            <a:r>
              <a:rPr lang="en-US" sz="1200" dirty="0" smtClean="0">
                <a:solidFill>
                  <a:schemeClr val="tx2"/>
                </a:solidFill>
                <a:latin typeface="+mj-lt"/>
              </a:rPr>
              <a:t>Each property in a REIT mapped to an NOI/Cap Rate Forecast.</a:t>
            </a:r>
          </a:p>
          <a:p>
            <a:pPr marL="173038" lvl="3" indent="-173038">
              <a:spcBef>
                <a:spcPts val="600"/>
              </a:spcBef>
              <a:buSzPct val="80000"/>
              <a:buFont typeface="Arial" panose="020B0604020202020204" pitchFamily="34" charset="0"/>
              <a:buChar char="•"/>
            </a:pPr>
            <a:r>
              <a:rPr lang="en-US" sz="1200" dirty="0" smtClean="0">
                <a:solidFill>
                  <a:schemeClr val="tx2"/>
                </a:solidFill>
                <a:latin typeface="+mj-lt"/>
              </a:rPr>
              <a:t>NOI/Cap Rate Forecasts used to generate EBITDA Forecasts under the Econometric Scenarios.</a:t>
            </a:r>
          </a:p>
          <a:p>
            <a:pPr marL="173038" lvl="3" indent="-173038">
              <a:spcBef>
                <a:spcPts val="600"/>
              </a:spcBef>
              <a:buSzPct val="80000"/>
              <a:buFont typeface="Arial" panose="020B0604020202020204" pitchFamily="34" charset="0"/>
              <a:buChar char="•"/>
            </a:pPr>
            <a:r>
              <a:rPr lang="en-US" sz="1200" dirty="0" smtClean="0">
                <a:solidFill>
                  <a:schemeClr val="tx2"/>
                </a:solidFill>
                <a:latin typeface="+mj-lt"/>
              </a:rPr>
              <a:t>EBITDA Forecasts are used as a baseline for generating an Enterprise Value.</a:t>
            </a:r>
          </a:p>
          <a:p>
            <a:pPr marL="173038" lvl="3" indent="-173038">
              <a:spcBef>
                <a:spcPts val="600"/>
              </a:spcBef>
              <a:buSzPct val="80000"/>
              <a:buFont typeface="Arial" panose="020B0604020202020204" pitchFamily="34" charset="0"/>
              <a:buChar char="•"/>
            </a:pPr>
            <a:r>
              <a:rPr lang="en-US" sz="1200" dirty="0" smtClean="0">
                <a:solidFill>
                  <a:schemeClr val="tx2"/>
                </a:solidFill>
                <a:latin typeface="+mj-lt"/>
              </a:rPr>
              <a:t>Idiosyncratic risks of the company’s capital structure, portfolio, management etc. taken into account as adjustments to Forecasts in the same manner as Large Loan analysis is used in Structured Finance (see Appendix at Page [X]).</a:t>
            </a:r>
          </a:p>
          <a:p>
            <a:pPr marL="173038" lvl="3" indent="-173038">
              <a:spcBef>
                <a:spcPts val="600"/>
              </a:spcBef>
              <a:buSzPct val="80000"/>
              <a:buFont typeface="Arial" panose="020B0604020202020204" pitchFamily="34" charset="0"/>
              <a:buChar char="•"/>
            </a:pPr>
            <a:r>
              <a:rPr lang="en-US" sz="1200" dirty="0" smtClean="0">
                <a:solidFill>
                  <a:schemeClr val="tx2"/>
                </a:solidFill>
                <a:latin typeface="+mj-lt"/>
              </a:rPr>
              <a:t>Same property-level approach used in other Equities sectors.</a:t>
            </a:r>
          </a:p>
        </p:txBody>
      </p:sp>
    </p:spTree>
    <p:extLst>
      <p:ext uri="{BB962C8B-B14F-4D97-AF65-F5344CB8AC3E}">
        <p14:creationId xmlns:p14="http://schemas.microsoft.com/office/powerpoint/2010/main" val="5947967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APPENDIX - CRE </a:t>
            </a:r>
            <a:r>
              <a:rPr lang="en-US" dirty="0"/>
              <a:t>Modeling</a:t>
            </a:r>
            <a:br>
              <a:rPr lang="en-US" dirty="0"/>
            </a:br>
            <a:r>
              <a:rPr lang="en-US" dirty="0" smtClean="0"/>
              <a:t>RESIDENTIAL LOANS VERSUS COMMERCIAL LOANS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There are some fundamental differences between modeling credit events for residential loans versus commercial loans.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smaller population of commercial mortgages, heterogeneity of the underlying properties/loans, and the potential for large single loans to have an outsized impact on the returns of a securitization (“concentration risk”) all lead to a modeling process that combines qualitative and quantitative measures.</a:t>
            </a: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42" name="Rectangle 41"/>
          <p:cNvSpPr/>
          <p:nvPr/>
        </p:nvSpPr>
        <p:spPr>
          <a:xfrm>
            <a:off x="6324600" y="1405658"/>
            <a:ext cx="3505200" cy="5718930"/>
          </a:xfrm>
          <a:prstGeom prst="rect">
            <a:avLst/>
          </a:prstGeom>
          <a:solidFill>
            <a:schemeClr val="accent6">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Rectangle 11"/>
          <p:cNvSpPr/>
          <p:nvPr/>
        </p:nvSpPr>
        <p:spPr>
          <a:xfrm>
            <a:off x="3200400" y="1405658"/>
            <a:ext cx="3124200" cy="5718930"/>
          </a:xfrm>
          <a:prstGeom prst="rect">
            <a:avLst/>
          </a:prstGeom>
          <a:solidFill>
            <a:schemeClr val="accent3">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 name="TextBox 6"/>
          <p:cNvSpPr txBox="1"/>
          <p:nvPr/>
        </p:nvSpPr>
        <p:spPr>
          <a:xfrm>
            <a:off x="3200400" y="1485491"/>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R</a:t>
            </a:r>
            <a:r>
              <a:rPr lang="en-US" sz="1100" dirty="0" smtClean="0"/>
              <a:t>elatively </a:t>
            </a:r>
            <a:r>
              <a:rPr lang="en-US" sz="1100" dirty="0"/>
              <a:t>homogeneous collateral - mortgages are secured by</a:t>
            </a:r>
            <a:r>
              <a:rPr lang="en-US" sz="1100" b="1" dirty="0"/>
              <a:t> single family residences</a:t>
            </a:r>
          </a:p>
        </p:txBody>
      </p:sp>
      <p:sp>
        <p:nvSpPr>
          <p:cNvPr id="33" name="TextBox 32"/>
          <p:cNvSpPr txBox="1"/>
          <p:nvPr/>
        </p:nvSpPr>
        <p:spPr>
          <a:xfrm>
            <a:off x="6400800" y="1486846"/>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M</a:t>
            </a:r>
            <a:r>
              <a:rPr lang="en-US" sz="1100" dirty="0" smtClean="0"/>
              <a:t>ore </a:t>
            </a:r>
            <a:r>
              <a:rPr lang="en-US" sz="1100" dirty="0"/>
              <a:t>heterogeneous collateral - mortgages are secured by a </a:t>
            </a:r>
            <a:r>
              <a:rPr lang="en-US" sz="1100" b="1" dirty="0"/>
              <a:t>variety of property types </a:t>
            </a:r>
            <a:r>
              <a:rPr lang="en-US" sz="1100" dirty="0"/>
              <a:t>including office, retail, multifamily, industry and hospitality</a:t>
            </a:r>
          </a:p>
        </p:txBody>
      </p:sp>
      <p:sp>
        <p:nvSpPr>
          <p:cNvPr id="34" name="TextBox 33"/>
          <p:cNvSpPr txBox="1"/>
          <p:nvPr/>
        </p:nvSpPr>
        <p:spPr>
          <a:xfrm>
            <a:off x="3200400" y="2214907"/>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Each </a:t>
            </a:r>
            <a:r>
              <a:rPr lang="en-US" sz="1100" dirty="0" smtClean="0"/>
              <a:t>RMBS securitization </a:t>
            </a:r>
            <a:r>
              <a:rPr lang="en-US" sz="1100" dirty="0"/>
              <a:t>typically contains </a:t>
            </a:r>
            <a:r>
              <a:rPr lang="en-US" sz="1100" b="1" dirty="0"/>
              <a:t>thousands of mortgages</a:t>
            </a:r>
          </a:p>
        </p:txBody>
      </p:sp>
      <p:sp>
        <p:nvSpPr>
          <p:cNvPr id="35" name="TextBox 34"/>
          <p:cNvSpPr txBox="1"/>
          <p:nvPr/>
        </p:nvSpPr>
        <p:spPr>
          <a:xfrm>
            <a:off x="6400800" y="2216261"/>
            <a:ext cx="34290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Most </a:t>
            </a:r>
            <a:r>
              <a:rPr lang="en-US" sz="1100" dirty="0" smtClean="0"/>
              <a:t>CMBS securitizations </a:t>
            </a:r>
            <a:r>
              <a:rPr lang="en-US" sz="1100" dirty="0"/>
              <a:t>contain approximately </a:t>
            </a:r>
            <a:r>
              <a:rPr lang="en-US" sz="1100" b="1" dirty="0"/>
              <a:t>15-300 mortgages</a:t>
            </a:r>
          </a:p>
          <a:p>
            <a:pPr marL="171450" indent="-171450">
              <a:buFont typeface="Arial" panose="020B0604020202020204" pitchFamily="34" charset="0"/>
              <a:buChar char="•"/>
            </a:pPr>
            <a:r>
              <a:rPr lang="en-US" sz="1100" dirty="0"/>
              <a:t>Generally the </a:t>
            </a:r>
            <a:r>
              <a:rPr lang="en-US" sz="1100" b="1" dirty="0"/>
              <a:t>top 15 </a:t>
            </a:r>
            <a:r>
              <a:rPr lang="en-US" sz="1100" dirty="0"/>
              <a:t>loans account for approximately 50% of the balance of a CMBS trust</a:t>
            </a:r>
          </a:p>
        </p:txBody>
      </p:sp>
      <p:cxnSp>
        <p:nvCxnSpPr>
          <p:cNvPr id="11" name="Straight Connector 10"/>
          <p:cNvCxnSpPr/>
          <p:nvPr/>
        </p:nvCxnSpPr>
        <p:spPr>
          <a:xfrm>
            <a:off x="3276600" y="2135072"/>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185693" y="4860084"/>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a:t>
            </a:r>
            <a:r>
              <a:rPr lang="en-US" sz="1100" b="1" dirty="0" smtClean="0"/>
              <a:t>does not </a:t>
            </a:r>
            <a:r>
              <a:rPr lang="en-US" sz="1100" b="1" dirty="0"/>
              <a:t>materially </a:t>
            </a:r>
            <a:r>
              <a:rPr lang="en-US" sz="1100" b="1" dirty="0" smtClean="0"/>
              <a:t>impact </a:t>
            </a:r>
            <a:r>
              <a:rPr lang="en-US" sz="1100" dirty="0"/>
              <a:t>deal performance</a:t>
            </a:r>
          </a:p>
        </p:txBody>
      </p:sp>
      <p:sp>
        <p:nvSpPr>
          <p:cNvPr id="44" name="TextBox 43"/>
          <p:cNvSpPr txBox="1"/>
          <p:nvPr/>
        </p:nvSpPr>
        <p:spPr>
          <a:xfrm>
            <a:off x="6386093" y="4861439"/>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can have a </a:t>
            </a:r>
            <a:r>
              <a:rPr lang="en-US" sz="1100" b="1" dirty="0"/>
              <a:t>significant impact</a:t>
            </a:r>
            <a:r>
              <a:rPr lang="en-US" sz="1100" dirty="0"/>
              <a:t> </a:t>
            </a:r>
            <a:r>
              <a:rPr lang="en-US" sz="1100" dirty="0" smtClean="0"/>
              <a:t>on </a:t>
            </a:r>
            <a:r>
              <a:rPr lang="en-US" sz="1100" dirty="0"/>
              <a:t>the owners of all related CMBS tranches</a:t>
            </a:r>
          </a:p>
        </p:txBody>
      </p:sp>
      <p:cxnSp>
        <p:nvCxnSpPr>
          <p:cNvPr id="45" name="Straight Connector 44"/>
          <p:cNvCxnSpPr/>
          <p:nvPr/>
        </p:nvCxnSpPr>
        <p:spPr>
          <a:xfrm>
            <a:off x="3261893" y="4780249"/>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185693" y="5642435"/>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Greater </a:t>
            </a:r>
            <a:r>
              <a:rPr lang="en-US" sz="1100" b="1" dirty="0"/>
              <a:t>consistency</a:t>
            </a:r>
            <a:r>
              <a:rPr lang="en-US" sz="1100" dirty="0"/>
              <a:t> in loan documentation for residential mortgages</a:t>
            </a:r>
          </a:p>
        </p:txBody>
      </p:sp>
      <p:sp>
        <p:nvSpPr>
          <p:cNvPr id="50" name="TextBox 49"/>
          <p:cNvSpPr txBox="1"/>
          <p:nvPr/>
        </p:nvSpPr>
        <p:spPr>
          <a:xfrm>
            <a:off x="6386093" y="5643789"/>
            <a:ext cx="3429000" cy="451439"/>
          </a:xfrm>
          <a:prstGeom prst="rect">
            <a:avLst/>
          </a:prstGeom>
          <a:noFill/>
        </p:spPr>
        <p:txBody>
          <a:bodyPr wrap="square" rtlCol="0">
            <a:spAutoFit/>
          </a:bodyPr>
          <a:lstStyle/>
          <a:p>
            <a:pPr marL="171450" indent="-171450">
              <a:buFont typeface="Arial" panose="020B0604020202020204" pitchFamily="34" charset="0"/>
              <a:buChar char="•"/>
            </a:pPr>
            <a:r>
              <a:rPr lang="en-US" sz="1100" dirty="0"/>
              <a:t>Loan documentation tends to be </a:t>
            </a:r>
            <a:r>
              <a:rPr lang="en-US" sz="1100" b="1" dirty="0"/>
              <a:t>unique</a:t>
            </a:r>
            <a:r>
              <a:rPr lang="en-US" sz="1100" dirty="0"/>
              <a:t> for each borrower/mortgage</a:t>
            </a:r>
          </a:p>
        </p:txBody>
      </p:sp>
      <p:cxnSp>
        <p:nvCxnSpPr>
          <p:cNvPr id="51" name="Straight Connector 50"/>
          <p:cNvCxnSpPr/>
          <p:nvPr/>
        </p:nvCxnSpPr>
        <p:spPr>
          <a:xfrm>
            <a:off x="3261893" y="5562600"/>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185693" y="6355147"/>
            <a:ext cx="31242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Modeling is typically based on </a:t>
            </a:r>
            <a:r>
              <a:rPr lang="en-US" sz="1100" dirty="0" smtClean="0"/>
              <a:t>the law </a:t>
            </a:r>
            <a:r>
              <a:rPr lang="en-US" sz="1100" dirty="0"/>
              <a:t>of large numbers, applying a </a:t>
            </a:r>
            <a:r>
              <a:rPr lang="en-US" sz="1100" b="1" dirty="0"/>
              <a:t>probabilistic approach </a:t>
            </a:r>
            <a:r>
              <a:rPr lang="en-US" sz="1100" dirty="0"/>
              <a:t>to projecting performance outcome (e.g. CDR, CPR, Severities, etc.)</a:t>
            </a:r>
          </a:p>
        </p:txBody>
      </p:sp>
      <p:sp>
        <p:nvSpPr>
          <p:cNvPr id="53" name="TextBox 52"/>
          <p:cNvSpPr txBox="1"/>
          <p:nvPr/>
        </p:nvSpPr>
        <p:spPr>
          <a:xfrm>
            <a:off x="6386093" y="6356502"/>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Commercial real estate is </a:t>
            </a:r>
            <a:r>
              <a:rPr lang="en-US" sz="1100" b="1" dirty="0"/>
              <a:t>less amenable </a:t>
            </a:r>
            <a:r>
              <a:rPr lang="en-US" sz="1100" dirty="0"/>
              <a:t>to statistical modeling due to </a:t>
            </a:r>
            <a:r>
              <a:rPr lang="en-US" sz="1100" dirty="0" smtClean="0"/>
              <a:t>the idiosyncratic </a:t>
            </a:r>
            <a:r>
              <a:rPr lang="en-US" sz="1100" dirty="0"/>
              <a:t>aspects of each underlying commercial property and mortgage</a:t>
            </a:r>
          </a:p>
        </p:txBody>
      </p:sp>
      <p:cxnSp>
        <p:nvCxnSpPr>
          <p:cNvPr id="54" name="Straight Connector 53"/>
          <p:cNvCxnSpPr/>
          <p:nvPr/>
        </p:nvCxnSpPr>
        <p:spPr>
          <a:xfrm>
            <a:off x="3261893" y="6275313"/>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200400" y="1405658"/>
            <a:ext cx="3124200" cy="0"/>
          </a:xfrm>
          <a:prstGeom prst="line">
            <a:avLst/>
          </a:prstGeom>
          <a:ln w="28575"/>
        </p:spPr>
        <p:style>
          <a:lnRef idx="1">
            <a:schemeClr val="accent3"/>
          </a:lnRef>
          <a:fillRef idx="0">
            <a:schemeClr val="accent3"/>
          </a:fillRef>
          <a:effectRef idx="0">
            <a:schemeClr val="accent3"/>
          </a:effectRef>
          <a:fontRef idx="minor">
            <a:schemeClr val="tx1"/>
          </a:fontRef>
        </p:style>
      </p:cxnSp>
      <p:cxnSp>
        <p:nvCxnSpPr>
          <p:cNvPr id="55" name="Straight Connector 54"/>
          <p:cNvCxnSpPr/>
          <p:nvPr/>
        </p:nvCxnSpPr>
        <p:spPr>
          <a:xfrm>
            <a:off x="6324600" y="1405658"/>
            <a:ext cx="3505200" cy="0"/>
          </a:xfrm>
          <a:prstGeom prst="line">
            <a:avLst/>
          </a:prstGeom>
          <a:ln w="28575">
            <a:solidFill>
              <a:schemeClr val="accent1"/>
            </a:solidFill>
          </a:ln>
        </p:spPr>
        <p:style>
          <a:lnRef idx="1">
            <a:schemeClr val="accent3"/>
          </a:lnRef>
          <a:fillRef idx="0">
            <a:schemeClr val="accent3"/>
          </a:fillRef>
          <a:effectRef idx="0">
            <a:schemeClr val="accent3"/>
          </a:effectRef>
          <a:fontRef idx="minor">
            <a:schemeClr val="tx1"/>
          </a:fontRef>
        </p:style>
      </p:cxnSp>
      <p:sp>
        <p:nvSpPr>
          <p:cNvPr id="57" name="TextBox 56"/>
          <p:cNvSpPr txBox="1"/>
          <p:nvPr/>
        </p:nvSpPr>
        <p:spPr>
          <a:xfrm>
            <a:off x="3200400" y="1100858"/>
            <a:ext cx="1752600" cy="307777"/>
          </a:xfrm>
          <a:prstGeom prst="rect">
            <a:avLst/>
          </a:prstGeom>
          <a:noFill/>
        </p:spPr>
        <p:txBody>
          <a:bodyPr wrap="square" rtlCol="0">
            <a:spAutoFit/>
          </a:bodyPr>
          <a:lstStyle/>
          <a:p>
            <a:r>
              <a:rPr lang="en-US" sz="1400" b="1" dirty="0" smtClean="0"/>
              <a:t>RESIDENTIAL LOANS</a:t>
            </a:r>
            <a:endParaRPr lang="en-US" sz="1400" b="1" dirty="0"/>
          </a:p>
        </p:txBody>
      </p:sp>
      <p:sp>
        <p:nvSpPr>
          <p:cNvPr id="58" name="TextBox 57"/>
          <p:cNvSpPr txBox="1"/>
          <p:nvPr/>
        </p:nvSpPr>
        <p:spPr>
          <a:xfrm>
            <a:off x="6324600" y="1090328"/>
            <a:ext cx="1790700" cy="307777"/>
          </a:xfrm>
          <a:prstGeom prst="rect">
            <a:avLst/>
          </a:prstGeom>
          <a:noFill/>
        </p:spPr>
        <p:txBody>
          <a:bodyPr wrap="square" rtlCol="0">
            <a:spAutoFit/>
          </a:bodyPr>
          <a:lstStyle/>
          <a:p>
            <a:r>
              <a:rPr lang="en-US" sz="1400" b="1" dirty="0" smtClean="0"/>
              <a:t>COMMERCIAL LOANS</a:t>
            </a:r>
            <a:endParaRPr lang="en-US" sz="1400" b="1" dirty="0"/>
          </a:p>
        </p:txBody>
      </p:sp>
      <p:sp>
        <p:nvSpPr>
          <p:cNvPr id="63" name="TextBox 62"/>
          <p:cNvSpPr txBox="1"/>
          <p:nvPr/>
        </p:nvSpPr>
        <p:spPr>
          <a:xfrm rot="16200000">
            <a:off x="2436246" y="1930683"/>
            <a:ext cx="553998" cy="854489"/>
          </a:xfrm>
          <a:prstGeom prst="rect">
            <a:avLst/>
          </a:prstGeom>
          <a:noFill/>
        </p:spPr>
        <p:txBody>
          <a:bodyPr vert="eaVert" wrap="square" rtlCol="0">
            <a:spAutoFit/>
          </a:bodyPr>
          <a:lstStyle/>
          <a:p>
            <a:pPr algn="r"/>
            <a:r>
              <a:rPr lang="en-US" sz="1200" dirty="0"/>
              <a:t>Collateral</a:t>
            </a:r>
            <a:endParaRPr lang="en-US" sz="1200" dirty="0" smtClean="0"/>
          </a:p>
          <a:p>
            <a:pPr algn="r"/>
            <a:r>
              <a:rPr lang="en-US" sz="1200" dirty="0" smtClean="0"/>
              <a:t>Size</a:t>
            </a:r>
            <a:endParaRPr lang="en-US" sz="1200" dirty="0"/>
          </a:p>
        </p:txBody>
      </p:sp>
      <p:cxnSp>
        <p:nvCxnSpPr>
          <p:cNvPr id="65" name="Straight Connector 64"/>
          <p:cNvCxnSpPr/>
          <p:nvPr/>
        </p:nvCxnSpPr>
        <p:spPr>
          <a:xfrm>
            <a:off x="3140490" y="217326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rot="16200000">
            <a:off x="2436247" y="1174747"/>
            <a:ext cx="553998" cy="854489"/>
          </a:xfrm>
          <a:prstGeom prst="rect">
            <a:avLst/>
          </a:prstGeom>
          <a:noFill/>
        </p:spPr>
        <p:txBody>
          <a:bodyPr vert="eaVert" wrap="square" rtlCol="0">
            <a:spAutoFit/>
          </a:bodyPr>
          <a:lstStyle/>
          <a:p>
            <a:pPr algn="r"/>
            <a:r>
              <a:rPr lang="en-US" sz="1200" dirty="0" smtClean="0"/>
              <a:t>Collateral</a:t>
            </a:r>
          </a:p>
          <a:p>
            <a:pPr algn="r"/>
            <a:r>
              <a:rPr lang="en-US" sz="1200" dirty="0" smtClean="0"/>
              <a:t>Type</a:t>
            </a:r>
            <a:endParaRPr lang="en-US" sz="1200" dirty="0"/>
          </a:p>
        </p:txBody>
      </p:sp>
      <p:cxnSp>
        <p:nvCxnSpPr>
          <p:cNvPr id="67" name="Straight Connector 66"/>
          <p:cNvCxnSpPr/>
          <p:nvPr/>
        </p:nvCxnSpPr>
        <p:spPr>
          <a:xfrm>
            <a:off x="3140491" y="1417325"/>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rot="16200000">
            <a:off x="2421540" y="4596998"/>
            <a:ext cx="553998" cy="854489"/>
          </a:xfrm>
          <a:prstGeom prst="rect">
            <a:avLst/>
          </a:prstGeom>
          <a:noFill/>
        </p:spPr>
        <p:txBody>
          <a:bodyPr vert="eaVert" wrap="square" rtlCol="0">
            <a:spAutoFit/>
          </a:bodyPr>
          <a:lstStyle/>
          <a:p>
            <a:pPr algn="r"/>
            <a:r>
              <a:rPr lang="en-US" sz="1200" dirty="0" smtClean="0"/>
              <a:t>Default</a:t>
            </a:r>
          </a:p>
          <a:p>
            <a:pPr algn="r"/>
            <a:r>
              <a:rPr lang="en-US" sz="1200" dirty="0" smtClean="0"/>
              <a:t>Impact</a:t>
            </a:r>
            <a:endParaRPr lang="en-US" sz="1200" dirty="0"/>
          </a:p>
        </p:txBody>
      </p:sp>
      <p:cxnSp>
        <p:nvCxnSpPr>
          <p:cNvPr id="70" name="Straight Connector 69"/>
          <p:cNvCxnSpPr/>
          <p:nvPr/>
        </p:nvCxnSpPr>
        <p:spPr>
          <a:xfrm>
            <a:off x="3125784" y="4839576"/>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rot="16200000">
            <a:off x="2513871" y="5380361"/>
            <a:ext cx="369332" cy="854489"/>
          </a:xfrm>
          <a:prstGeom prst="rect">
            <a:avLst/>
          </a:prstGeom>
          <a:noFill/>
        </p:spPr>
        <p:txBody>
          <a:bodyPr vert="eaVert" wrap="square" rtlCol="0">
            <a:spAutoFit/>
          </a:bodyPr>
          <a:lstStyle/>
          <a:p>
            <a:pPr algn="r"/>
            <a:r>
              <a:rPr lang="en-US" sz="1200" dirty="0" smtClean="0"/>
              <a:t>Documents</a:t>
            </a:r>
            <a:endParaRPr lang="en-US" sz="1200" dirty="0"/>
          </a:p>
        </p:txBody>
      </p:sp>
      <p:cxnSp>
        <p:nvCxnSpPr>
          <p:cNvPr id="72" name="Straight Connector 71"/>
          <p:cNvCxnSpPr/>
          <p:nvPr/>
        </p:nvCxnSpPr>
        <p:spPr>
          <a:xfrm>
            <a:off x="3125782" y="5622939"/>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rot="16200000">
            <a:off x="2405249" y="6103385"/>
            <a:ext cx="553998" cy="854489"/>
          </a:xfrm>
          <a:prstGeom prst="rect">
            <a:avLst/>
          </a:prstGeom>
          <a:noFill/>
        </p:spPr>
        <p:txBody>
          <a:bodyPr vert="eaVert" wrap="square" rtlCol="0">
            <a:spAutoFit/>
          </a:bodyPr>
          <a:lstStyle/>
          <a:p>
            <a:pPr algn="r"/>
            <a:r>
              <a:rPr lang="en-US" sz="1200" dirty="0" smtClean="0"/>
              <a:t>Statistical</a:t>
            </a:r>
          </a:p>
          <a:p>
            <a:pPr algn="r"/>
            <a:r>
              <a:rPr lang="en-US" sz="1200" dirty="0" smtClean="0"/>
              <a:t>Modeling</a:t>
            </a:r>
            <a:endParaRPr lang="en-US" sz="1200" dirty="0"/>
          </a:p>
        </p:txBody>
      </p:sp>
      <p:cxnSp>
        <p:nvCxnSpPr>
          <p:cNvPr id="74" name="Straight Connector 73"/>
          <p:cNvCxnSpPr/>
          <p:nvPr/>
        </p:nvCxnSpPr>
        <p:spPr>
          <a:xfrm>
            <a:off x="3109493" y="6345963"/>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37" name="TextBox 36"/>
          <p:cNvSpPr txBox="1"/>
          <p:nvPr/>
        </p:nvSpPr>
        <p:spPr>
          <a:xfrm>
            <a:off x="3218482" y="3095909"/>
            <a:ext cx="31242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Primarily fixed-rate </a:t>
            </a:r>
            <a:r>
              <a:rPr lang="en-US" sz="1100" b="1" dirty="0" smtClean="0"/>
              <a:t>level-payment</a:t>
            </a:r>
            <a:r>
              <a:rPr lang="en-US" sz="1100" dirty="0" smtClean="0"/>
              <a:t> mortgages.</a:t>
            </a:r>
            <a:endParaRPr lang="en-US" sz="1100" dirty="0"/>
          </a:p>
        </p:txBody>
      </p:sp>
      <p:sp>
        <p:nvSpPr>
          <p:cNvPr id="38" name="TextBox 37"/>
          <p:cNvSpPr txBox="1"/>
          <p:nvPr/>
        </p:nvSpPr>
        <p:spPr>
          <a:xfrm>
            <a:off x="6418882" y="309726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Usually a partially amortized </a:t>
            </a:r>
            <a:r>
              <a:rPr lang="en-US" sz="1100" b="1" dirty="0" smtClean="0"/>
              <a:t>balloon </a:t>
            </a:r>
            <a:r>
              <a:rPr lang="en-US" sz="1100" dirty="0" smtClean="0"/>
              <a:t>mortgage with 25 to 30 year amortization of principal and 5 to 10 year maturity.</a:t>
            </a:r>
            <a:endParaRPr lang="en-US" sz="1100" dirty="0"/>
          </a:p>
        </p:txBody>
      </p:sp>
      <p:cxnSp>
        <p:nvCxnSpPr>
          <p:cNvPr id="39" name="Straight Connector 38"/>
          <p:cNvCxnSpPr/>
          <p:nvPr/>
        </p:nvCxnSpPr>
        <p:spPr>
          <a:xfrm>
            <a:off x="3294682" y="3016074"/>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218482" y="3949230"/>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Substantial because of the </a:t>
            </a:r>
            <a:r>
              <a:rPr lang="en-US" sz="1100" b="1" dirty="0" smtClean="0"/>
              <a:t>absence of prepayment penalties</a:t>
            </a:r>
            <a:r>
              <a:rPr lang="en-US" sz="1100" dirty="0" smtClean="0"/>
              <a:t>.</a:t>
            </a:r>
            <a:endParaRPr lang="en-US" sz="1100" dirty="0"/>
          </a:p>
        </p:txBody>
      </p:sp>
      <p:sp>
        <p:nvSpPr>
          <p:cNvPr id="41" name="TextBox 40"/>
          <p:cNvSpPr txBox="1"/>
          <p:nvPr/>
        </p:nvSpPr>
        <p:spPr>
          <a:xfrm>
            <a:off x="6418882" y="395058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b="1" dirty="0" smtClean="0"/>
              <a:t>Lower impact </a:t>
            </a:r>
            <a:r>
              <a:rPr lang="en-US" sz="1100" dirty="0" smtClean="0"/>
              <a:t>because of stringent prepayment penalties including lock-outs, points, yield maintenance, and defeasance.</a:t>
            </a:r>
            <a:endParaRPr lang="en-US" sz="1100" dirty="0"/>
          </a:p>
        </p:txBody>
      </p:sp>
      <p:cxnSp>
        <p:nvCxnSpPr>
          <p:cNvPr id="46" name="Straight Connector 45"/>
          <p:cNvCxnSpPr/>
          <p:nvPr/>
        </p:nvCxnSpPr>
        <p:spPr>
          <a:xfrm>
            <a:off x="3294682" y="3869395"/>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rot="16200000">
            <a:off x="2454329" y="2832823"/>
            <a:ext cx="553998" cy="854489"/>
          </a:xfrm>
          <a:prstGeom prst="rect">
            <a:avLst/>
          </a:prstGeom>
          <a:noFill/>
        </p:spPr>
        <p:txBody>
          <a:bodyPr vert="eaVert" wrap="square" rtlCol="0">
            <a:spAutoFit/>
          </a:bodyPr>
          <a:lstStyle/>
          <a:p>
            <a:pPr algn="r"/>
            <a:r>
              <a:rPr lang="en-US" sz="1200" dirty="0" smtClean="0"/>
              <a:t>Loan</a:t>
            </a:r>
          </a:p>
          <a:p>
            <a:pPr algn="r"/>
            <a:r>
              <a:rPr lang="en-US" sz="1200" dirty="0" smtClean="0"/>
              <a:t>Type</a:t>
            </a:r>
            <a:endParaRPr lang="en-US" sz="1200" dirty="0"/>
          </a:p>
        </p:txBody>
      </p:sp>
      <p:cxnSp>
        <p:nvCxnSpPr>
          <p:cNvPr id="56" name="Straight Connector 55"/>
          <p:cNvCxnSpPr/>
          <p:nvPr/>
        </p:nvCxnSpPr>
        <p:spPr>
          <a:xfrm>
            <a:off x="3158573" y="307540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rot="16200000">
            <a:off x="2454327" y="3687156"/>
            <a:ext cx="553998" cy="854489"/>
          </a:xfrm>
          <a:prstGeom prst="rect">
            <a:avLst/>
          </a:prstGeom>
          <a:noFill/>
        </p:spPr>
        <p:txBody>
          <a:bodyPr vert="eaVert" wrap="square" rtlCol="0">
            <a:spAutoFit/>
          </a:bodyPr>
          <a:lstStyle/>
          <a:p>
            <a:pPr algn="r"/>
            <a:r>
              <a:rPr lang="en-US" sz="1200" dirty="0" smtClean="0"/>
              <a:t>Prepayment</a:t>
            </a:r>
          </a:p>
          <a:p>
            <a:pPr algn="r"/>
            <a:r>
              <a:rPr lang="en-US" sz="1200" dirty="0" smtClean="0"/>
              <a:t>Impact</a:t>
            </a:r>
            <a:endParaRPr lang="en-US" sz="1200" dirty="0"/>
          </a:p>
        </p:txBody>
      </p:sp>
      <p:cxnSp>
        <p:nvCxnSpPr>
          <p:cNvPr id="60" name="Straight Connector 59"/>
          <p:cNvCxnSpPr/>
          <p:nvPr/>
        </p:nvCxnSpPr>
        <p:spPr>
          <a:xfrm>
            <a:off x="3158571" y="3929734"/>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8841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906453" y="1825915"/>
            <a:ext cx="3733800" cy="2186183"/>
          </a:xfrm>
          <a:prstGeom prst="rect">
            <a:avLst/>
          </a:prstGeom>
          <a:solidFill>
            <a:schemeClr val="accent6">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18" name="Straight Connector 17"/>
          <p:cNvCxnSpPr/>
          <p:nvPr/>
        </p:nvCxnSpPr>
        <p:spPr>
          <a:xfrm>
            <a:off x="2477453" y="1508799"/>
            <a:ext cx="2780347"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APPENDIX - CRE Modeling</a:t>
            </a:r>
            <a:br>
              <a:rPr lang="en-US" dirty="0" smtClean="0"/>
            </a:br>
            <a:r>
              <a:rPr lang="en-US" dirty="0" smtClean="0"/>
              <a:t>COMMERCIAL PROPERTY AND Loan basics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rPr>
              <a:t>As in the case of </a:t>
            </a:r>
            <a:r>
              <a:rPr lang="en-US" sz="1100" b="0" dirty="0">
                <a:solidFill>
                  <a:schemeClr val="tx1"/>
                </a:solidFill>
              </a:rPr>
              <a:t>r</a:t>
            </a:r>
            <a:r>
              <a:rPr lang="en-US" sz="1100" b="0" dirty="0" smtClean="0">
                <a:solidFill>
                  <a:schemeClr val="tx1"/>
                </a:solidFill>
              </a:rPr>
              <a:t>esidential properties, most commercial properties are financed with mortgages.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most important metrics of a property’s financial condition are its </a:t>
            </a:r>
            <a:r>
              <a:rPr lang="en-US" sz="1100" dirty="0" smtClean="0">
                <a:solidFill>
                  <a:schemeClr val="tx1"/>
                </a:solidFill>
              </a:rPr>
              <a:t>Net Operating Income </a:t>
            </a:r>
            <a:r>
              <a:rPr lang="en-US" sz="1100" b="0" dirty="0" smtClean="0">
                <a:solidFill>
                  <a:schemeClr val="tx1"/>
                </a:solidFill>
              </a:rPr>
              <a:t>(NOI), its </a:t>
            </a:r>
            <a:r>
              <a:rPr lang="en-US" sz="1100" dirty="0" smtClean="0">
                <a:solidFill>
                  <a:schemeClr val="tx1"/>
                </a:solidFill>
              </a:rPr>
              <a:t>Debt Service Coverage Ratio</a:t>
            </a:r>
            <a:r>
              <a:rPr lang="en-US" sz="1100" b="0" dirty="0" smtClean="0">
                <a:solidFill>
                  <a:schemeClr val="tx1"/>
                </a:solidFill>
              </a:rPr>
              <a:t> (DSCR), and its Loan-to-value Ratio (LTV). </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The key </a:t>
            </a:r>
            <a:r>
              <a:rPr lang="en-US" sz="1100" dirty="0" smtClean="0">
                <a:solidFill>
                  <a:schemeClr val="tx1"/>
                </a:solidFill>
              </a:rPr>
              <a:t>credit events </a:t>
            </a:r>
            <a:r>
              <a:rPr lang="en-US" sz="1100" b="0" dirty="0" smtClean="0">
                <a:solidFill>
                  <a:schemeClr val="tx1"/>
                </a:solidFill>
              </a:rPr>
              <a:t>associated with a commercial mortgage include a </a:t>
            </a:r>
            <a:r>
              <a:rPr lang="en-US" sz="1100" dirty="0" smtClean="0">
                <a:solidFill>
                  <a:schemeClr val="tx1"/>
                </a:solidFill>
              </a:rPr>
              <a:t>Term</a:t>
            </a:r>
            <a:r>
              <a:rPr lang="en-US" sz="1100" b="0" dirty="0" smtClean="0">
                <a:solidFill>
                  <a:schemeClr val="tx1"/>
                </a:solidFill>
              </a:rPr>
              <a:t> </a:t>
            </a:r>
            <a:r>
              <a:rPr lang="en-US" sz="1100" dirty="0" smtClean="0">
                <a:solidFill>
                  <a:schemeClr val="tx1"/>
                </a:solidFill>
              </a:rPr>
              <a:t>Default</a:t>
            </a:r>
            <a:r>
              <a:rPr lang="en-US" sz="1100" b="0" dirty="0" smtClean="0">
                <a:solidFill>
                  <a:schemeClr val="tx1"/>
                </a:solidFill>
              </a:rPr>
              <a:t>, a </a:t>
            </a:r>
            <a:r>
              <a:rPr lang="en-US" sz="1100" dirty="0" smtClean="0">
                <a:solidFill>
                  <a:schemeClr val="tx1"/>
                </a:solidFill>
              </a:rPr>
              <a:t>Maturity Default </a:t>
            </a:r>
            <a:r>
              <a:rPr lang="en-US" sz="1100" b="0" dirty="0" smtClean="0">
                <a:solidFill>
                  <a:schemeClr val="tx1"/>
                </a:solidFill>
              </a:rPr>
              <a:t>and </a:t>
            </a:r>
            <a:r>
              <a:rPr lang="en-US" sz="1100" dirty="0" smtClean="0">
                <a:solidFill>
                  <a:schemeClr val="tx1"/>
                </a:solidFill>
              </a:rPr>
              <a:t>Extension Risk</a:t>
            </a:r>
            <a:r>
              <a:rPr lang="en-US" sz="1100" b="0" dirty="0" smtClean="0">
                <a:solidFill>
                  <a:schemeClr val="tx1"/>
                </a:solidFill>
              </a:rPr>
              <a:t>.</a:t>
            </a:r>
          </a:p>
          <a:p>
            <a:pPr>
              <a:lnSpc>
                <a:spcPct val="100000"/>
              </a:lnSpc>
              <a:spcBef>
                <a:spcPts val="0"/>
              </a:spcBef>
            </a:pPr>
            <a:endParaRPr lang="en-US" sz="1100" b="0" dirty="0">
              <a:solidFill>
                <a:schemeClr val="tx1"/>
              </a:solidFill>
            </a:endParaRPr>
          </a:p>
          <a:p>
            <a:pPr>
              <a:lnSpc>
                <a:spcPct val="100000"/>
              </a:lnSpc>
              <a:spcBef>
                <a:spcPts val="0"/>
              </a:spcBef>
            </a:pPr>
            <a:r>
              <a:rPr lang="en-US" sz="1100" dirty="0" smtClean="0">
                <a:solidFill>
                  <a:schemeClr val="tx1"/>
                </a:solidFill>
              </a:rPr>
              <a:t>Extension Risk</a:t>
            </a:r>
            <a:r>
              <a:rPr lang="en-US" sz="1100" b="0" dirty="0" smtClean="0">
                <a:solidFill>
                  <a:schemeClr val="tx1"/>
                </a:solidFill>
              </a:rPr>
              <a:t>: Borrowers with a mortgage that is not in default at maturity but does not meet prevailing underwriting standards will attempt to extend the loan with the lender. Loans that are extended may ultimately default. </a:t>
            </a: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3010853" y="1143000"/>
            <a:ext cx="1981200" cy="4114800"/>
            <a:chOff x="2819400" y="1582439"/>
            <a:chExt cx="1981200" cy="3935898"/>
          </a:xfrm>
        </p:grpSpPr>
        <p:graphicFrame>
          <p:nvGraphicFramePr>
            <p:cNvPr id="36" name="Chart 35"/>
            <p:cNvGraphicFramePr/>
            <p:nvPr>
              <p:custDataLst>
                <p:tags r:id="rId5"/>
              </p:custDataLst>
              <p:extLst>
                <p:ext uri="{D42A27DB-BD31-4B8C-83A1-F6EECF244321}">
                  <p14:modId xmlns:p14="http://schemas.microsoft.com/office/powerpoint/2010/main" val="1014783429"/>
                </p:ext>
              </p:extLst>
            </p:nvPr>
          </p:nvGraphicFramePr>
          <p:xfrm>
            <a:off x="2819400" y="1582439"/>
            <a:ext cx="1981200" cy="3935898"/>
          </p:xfrm>
          <a:graphic>
            <a:graphicData uri="http://schemas.openxmlformats.org/drawingml/2006/chart">
              <c:chart xmlns:c="http://schemas.openxmlformats.org/drawingml/2006/chart" xmlns:r="http://schemas.openxmlformats.org/officeDocument/2006/relationships" r:id="rId8"/>
            </a:graphicData>
          </a:graphic>
        </p:graphicFrame>
        <p:sp>
          <p:nvSpPr>
            <p:cNvPr id="3" name="TextBox 2"/>
            <p:cNvSpPr txBox="1"/>
            <p:nvPr/>
          </p:nvSpPr>
          <p:spPr>
            <a:xfrm>
              <a:off x="3276600" y="3276600"/>
              <a:ext cx="914400" cy="261610"/>
            </a:xfrm>
            <a:prstGeom prst="rect">
              <a:avLst/>
            </a:prstGeom>
            <a:noFill/>
          </p:spPr>
          <p:txBody>
            <a:bodyPr wrap="square" rtlCol="0">
              <a:spAutoFit/>
            </a:bodyPr>
            <a:lstStyle/>
            <a:p>
              <a:pPr algn="ctr"/>
              <a:r>
                <a:rPr lang="en-US" sz="1100" b="1" dirty="0" smtClean="0">
                  <a:solidFill>
                    <a:schemeClr val="bg1"/>
                  </a:solidFill>
                </a:rPr>
                <a:t>Mortgage</a:t>
              </a:r>
              <a:endParaRPr lang="en-US" sz="1100" b="1" dirty="0">
                <a:solidFill>
                  <a:schemeClr val="bg1"/>
                </a:solidFill>
              </a:endParaRPr>
            </a:p>
          </p:txBody>
        </p:sp>
        <p:sp>
          <p:nvSpPr>
            <p:cNvPr id="37" name="TextBox 36"/>
            <p:cNvSpPr txBox="1"/>
            <p:nvPr/>
          </p:nvSpPr>
          <p:spPr>
            <a:xfrm>
              <a:off x="3276600" y="4724400"/>
              <a:ext cx="914400" cy="430887"/>
            </a:xfrm>
            <a:prstGeom prst="rect">
              <a:avLst/>
            </a:prstGeom>
            <a:noFill/>
          </p:spPr>
          <p:txBody>
            <a:bodyPr wrap="square" rtlCol="0">
              <a:spAutoFit/>
            </a:bodyPr>
            <a:lstStyle/>
            <a:p>
              <a:pPr algn="ctr"/>
              <a:r>
                <a:rPr lang="en-US" sz="1100" b="1" dirty="0" smtClean="0">
                  <a:solidFill>
                    <a:schemeClr val="tx2"/>
                  </a:solidFill>
                </a:rPr>
                <a:t>Borrower</a:t>
              </a:r>
            </a:p>
            <a:p>
              <a:pPr algn="ctr"/>
              <a:r>
                <a:rPr lang="en-US" sz="1100" b="1" dirty="0" smtClean="0">
                  <a:solidFill>
                    <a:schemeClr val="tx2"/>
                  </a:solidFill>
                </a:rPr>
                <a:t>Equity</a:t>
              </a:r>
              <a:endParaRPr lang="en-US" sz="1100" b="1" dirty="0">
                <a:solidFill>
                  <a:schemeClr val="tx2"/>
                </a:solidFill>
              </a:endParaRPr>
            </a:p>
          </p:txBody>
        </p:sp>
      </p:grpSp>
      <p:sp>
        <p:nvSpPr>
          <p:cNvPr id="41" name="Freeform 5"/>
          <p:cNvSpPr>
            <a:spLocks/>
          </p:cNvSpPr>
          <p:nvPr>
            <p:custDataLst>
              <p:tags r:id="rId1"/>
            </p:custDataLst>
          </p:nvPr>
        </p:nvSpPr>
        <p:spPr bwMode="auto">
          <a:xfrm>
            <a:off x="3010852" y="1919628"/>
            <a:ext cx="457201" cy="1041992"/>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6" name="Freeform 14"/>
          <p:cNvSpPr>
            <a:spLocks/>
          </p:cNvSpPr>
          <p:nvPr>
            <p:custDataLst>
              <p:tags r:id="rId2"/>
            </p:custDataLst>
          </p:nvPr>
        </p:nvSpPr>
        <p:spPr bwMode="auto">
          <a:xfrm rot="10800000" flipH="1">
            <a:off x="3010853" y="4133961"/>
            <a:ext cx="431505" cy="819039"/>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8" name="TextBox 7"/>
          <p:cNvSpPr txBox="1"/>
          <p:nvPr/>
        </p:nvSpPr>
        <p:spPr>
          <a:xfrm>
            <a:off x="2477453" y="3209836"/>
            <a:ext cx="1066800" cy="600164"/>
          </a:xfrm>
          <a:prstGeom prst="rect">
            <a:avLst/>
          </a:prstGeom>
          <a:noFill/>
        </p:spPr>
        <p:txBody>
          <a:bodyPr wrap="square" rtlCol="0">
            <a:spAutoFit/>
          </a:bodyPr>
          <a:lstStyle/>
          <a:p>
            <a:pPr algn="ctr"/>
            <a:r>
              <a:rPr lang="en-US" sz="1100" dirty="0" smtClean="0"/>
              <a:t>Total</a:t>
            </a:r>
          </a:p>
          <a:p>
            <a:pPr algn="ctr"/>
            <a:r>
              <a:rPr lang="en-US" sz="1100" dirty="0" smtClean="0"/>
              <a:t>Property</a:t>
            </a:r>
          </a:p>
          <a:p>
            <a:pPr algn="ctr"/>
            <a:r>
              <a:rPr lang="en-US" sz="1100" dirty="0" smtClean="0"/>
              <a:t>Value = 100%</a:t>
            </a:r>
            <a:endParaRPr lang="en-US" sz="1100" dirty="0"/>
          </a:p>
        </p:txBody>
      </p:sp>
      <p:sp>
        <p:nvSpPr>
          <p:cNvPr id="47" name="Freeform 5"/>
          <p:cNvSpPr>
            <a:spLocks/>
          </p:cNvSpPr>
          <p:nvPr>
            <p:custDataLst>
              <p:tags r:id="rId3"/>
            </p:custDataLst>
          </p:nvPr>
        </p:nvSpPr>
        <p:spPr bwMode="auto">
          <a:xfrm rot="10800000">
            <a:off x="4368380" y="3567272"/>
            <a:ext cx="457201" cy="77612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8" name="Freeform 14"/>
          <p:cNvSpPr>
            <a:spLocks/>
          </p:cNvSpPr>
          <p:nvPr>
            <p:custDataLst>
              <p:tags r:id="rId4"/>
            </p:custDataLst>
          </p:nvPr>
        </p:nvSpPr>
        <p:spPr bwMode="auto">
          <a:xfrm flipH="1">
            <a:off x="4394076" y="1907826"/>
            <a:ext cx="431505" cy="700735"/>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56" name="TextBox 55"/>
          <p:cNvSpPr txBox="1"/>
          <p:nvPr/>
        </p:nvSpPr>
        <p:spPr>
          <a:xfrm>
            <a:off x="4394076" y="2819400"/>
            <a:ext cx="826577" cy="600164"/>
          </a:xfrm>
          <a:prstGeom prst="rect">
            <a:avLst/>
          </a:prstGeom>
          <a:noFill/>
        </p:spPr>
        <p:txBody>
          <a:bodyPr wrap="square" rtlCol="0">
            <a:spAutoFit/>
          </a:bodyPr>
          <a:lstStyle/>
          <a:p>
            <a:pPr algn="ctr"/>
            <a:r>
              <a:rPr lang="en-US" sz="1100" dirty="0" smtClean="0"/>
              <a:t>Mortgage</a:t>
            </a:r>
          </a:p>
          <a:p>
            <a:pPr algn="ctr"/>
            <a:r>
              <a:rPr lang="en-US" sz="1100" dirty="0" smtClean="0"/>
              <a:t>LTV</a:t>
            </a:r>
          </a:p>
          <a:p>
            <a:pPr algn="ctr"/>
            <a:r>
              <a:rPr lang="en-US" sz="1100" dirty="0" smtClean="0"/>
              <a:t>= 75%</a:t>
            </a:r>
            <a:endParaRPr lang="en-US" sz="1100" dirty="0"/>
          </a:p>
        </p:txBody>
      </p:sp>
      <p:cxnSp>
        <p:nvCxnSpPr>
          <p:cNvPr id="13" name="Straight Connector 12"/>
          <p:cNvCxnSpPr/>
          <p:nvPr/>
        </p:nvCxnSpPr>
        <p:spPr>
          <a:xfrm>
            <a:off x="5410200" y="1726098"/>
            <a:ext cx="0" cy="32766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982653" y="1825915"/>
            <a:ext cx="3657600" cy="2123658"/>
          </a:xfrm>
          <a:prstGeom prst="rect">
            <a:avLst/>
          </a:prstGeom>
          <a:noFill/>
        </p:spPr>
        <p:txBody>
          <a:bodyPr wrap="square" rtlCol="0">
            <a:spAutoFit/>
          </a:bodyPr>
          <a:lstStyle/>
          <a:p>
            <a:r>
              <a:rPr lang="en-US" sz="1100" b="1" dirty="0" smtClean="0"/>
              <a:t>Credit events for Commercial mortgages</a:t>
            </a:r>
          </a:p>
          <a:p>
            <a:endParaRPr lang="en-US" sz="1100" b="1" dirty="0" smtClean="0"/>
          </a:p>
          <a:p>
            <a:pPr marL="171450" indent="-171450">
              <a:buFont typeface="Arial" panose="020B0604020202020204" pitchFamily="34" charset="0"/>
              <a:buChar char="•"/>
            </a:pPr>
            <a:r>
              <a:rPr lang="en-US" sz="1100" u="sng" dirty="0" smtClean="0"/>
              <a:t>Term </a:t>
            </a:r>
            <a:r>
              <a:rPr lang="en-US" sz="1100" u="sng" dirty="0"/>
              <a:t>Default </a:t>
            </a:r>
            <a:r>
              <a:rPr lang="en-US" sz="1100" dirty="0" smtClean="0"/>
              <a:t>: </a:t>
            </a:r>
          </a:p>
          <a:p>
            <a:r>
              <a:rPr lang="en-US" sz="1100" dirty="0" smtClean="0"/>
              <a:t>Borrower </a:t>
            </a:r>
            <a:r>
              <a:rPr lang="en-US" sz="1100" dirty="0"/>
              <a:t>is unable to </a:t>
            </a:r>
            <a:r>
              <a:rPr lang="en-US" sz="1100" dirty="0" smtClean="0"/>
              <a:t>meet </a:t>
            </a:r>
            <a:r>
              <a:rPr lang="en-US" sz="1100" dirty="0"/>
              <a:t>interest obligations and defaults on </a:t>
            </a:r>
            <a:r>
              <a:rPr lang="en-US" sz="1100" dirty="0" smtClean="0"/>
              <a:t>the </a:t>
            </a:r>
            <a:r>
              <a:rPr lang="en-US" sz="1100" dirty="0"/>
              <a:t>mortgage before maturity</a:t>
            </a:r>
          </a:p>
          <a:p>
            <a:endParaRPr lang="en-US" sz="1100" dirty="0"/>
          </a:p>
          <a:p>
            <a:pPr marL="171450" indent="-171450">
              <a:buFont typeface="Arial" panose="020B0604020202020204" pitchFamily="34" charset="0"/>
              <a:buChar char="•"/>
            </a:pPr>
            <a:r>
              <a:rPr lang="en-US" sz="1100" u="sng" dirty="0"/>
              <a:t>Maturity Default</a:t>
            </a:r>
            <a:r>
              <a:rPr lang="en-US" sz="1100" dirty="0"/>
              <a:t>: </a:t>
            </a:r>
            <a:endParaRPr lang="en-US" sz="1100" dirty="0" smtClean="0"/>
          </a:p>
          <a:p>
            <a:r>
              <a:rPr lang="en-US" sz="1100" dirty="0" smtClean="0"/>
              <a:t>Borrower </a:t>
            </a:r>
            <a:r>
              <a:rPr lang="en-US" sz="1100" dirty="0"/>
              <a:t>is unable to refinance or payoff </a:t>
            </a:r>
            <a:r>
              <a:rPr lang="en-US" sz="1100" dirty="0" smtClean="0"/>
              <a:t>the loan </a:t>
            </a:r>
            <a:r>
              <a:rPr lang="en-US" sz="1100" dirty="0"/>
              <a:t>balance at maturity</a:t>
            </a:r>
          </a:p>
          <a:p>
            <a:endParaRPr lang="en-US" sz="1100" dirty="0"/>
          </a:p>
          <a:p>
            <a:pPr marL="171450" indent="-171450">
              <a:buFont typeface="Arial" panose="020B0604020202020204" pitchFamily="34" charset="0"/>
              <a:buChar char="•"/>
            </a:pPr>
            <a:r>
              <a:rPr lang="en-US" sz="1100" u="sng" dirty="0"/>
              <a:t>Extension Risk</a:t>
            </a:r>
            <a:r>
              <a:rPr lang="en-US" sz="1100" dirty="0"/>
              <a:t>: </a:t>
            </a:r>
            <a:endParaRPr lang="en-US" sz="1100" dirty="0" smtClean="0"/>
          </a:p>
          <a:p>
            <a:r>
              <a:rPr lang="en-US" sz="1100" dirty="0" smtClean="0"/>
              <a:t>Servicer/Lender </a:t>
            </a:r>
            <a:r>
              <a:rPr lang="en-US" sz="1100" dirty="0"/>
              <a:t> </a:t>
            </a:r>
            <a:r>
              <a:rPr lang="en-US" sz="1100" dirty="0" smtClean="0"/>
              <a:t>has to extend </a:t>
            </a:r>
            <a:r>
              <a:rPr lang="en-US" sz="1100" dirty="0"/>
              <a:t>loan </a:t>
            </a:r>
            <a:r>
              <a:rPr lang="en-US" sz="1100" dirty="0" smtClean="0"/>
              <a:t>maturity</a:t>
            </a:r>
            <a:endParaRPr lang="en-US" sz="1100" dirty="0"/>
          </a:p>
        </p:txBody>
      </p:sp>
      <p:sp>
        <p:nvSpPr>
          <p:cNvPr id="9" name="Content Placeholder 8"/>
          <p:cNvSpPr>
            <a:spLocks noGrp="1"/>
          </p:cNvSpPr>
          <p:nvPr>
            <p:ph sz="quarter" idx="13"/>
          </p:nvPr>
        </p:nvSpPr>
        <p:spPr>
          <a:xfrm>
            <a:off x="2563678" y="1405800"/>
            <a:ext cx="2541722" cy="205998"/>
          </a:xfrm>
          <a:solidFill>
            <a:schemeClr val="bg1"/>
          </a:solidFill>
        </p:spPr>
        <p:txBody>
          <a:bodyPr/>
          <a:lstStyle/>
          <a:p>
            <a:pPr algn="ctr"/>
            <a:r>
              <a:rPr lang="en-US" sz="1200" dirty="0" smtClean="0"/>
              <a:t>Capital Structure of a Sample Property</a:t>
            </a:r>
            <a:endParaRPr lang="en-US" sz="1200" dirty="0"/>
          </a:p>
        </p:txBody>
      </p:sp>
      <p:cxnSp>
        <p:nvCxnSpPr>
          <p:cNvPr id="94" name="Straight Connector 93"/>
          <p:cNvCxnSpPr/>
          <p:nvPr/>
        </p:nvCxnSpPr>
        <p:spPr>
          <a:xfrm>
            <a:off x="5754053" y="1508799"/>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Content Placeholder 8"/>
          <p:cNvSpPr txBox="1">
            <a:spLocks/>
          </p:cNvSpPr>
          <p:nvPr/>
        </p:nvSpPr>
        <p:spPr>
          <a:xfrm>
            <a:off x="5982653" y="1413549"/>
            <a:ext cx="3429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Life Cycle of a Sample Commercial Mortgage Loan</a:t>
            </a:r>
            <a:endParaRPr lang="en-US" sz="1200" dirty="0"/>
          </a:p>
        </p:txBody>
      </p:sp>
      <p:cxnSp>
        <p:nvCxnSpPr>
          <p:cNvPr id="23" name="Straight Connector 22"/>
          <p:cNvCxnSpPr/>
          <p:nvPr/>
        </p:nvCxnSpPr>
        <p:spPr>
          <a:xfrm>
            <a:off x="5830253" y="4754880"/>
            <a:ext cx="3886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581501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834485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9662160"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eft Brace 24"/>
          <p:cNvSpPr/>
          <p:nvPr/>
        </p:nvSpPr>
        <p:spPr>
          <a:xfrm rot="5400000">
            <a:off x="7031874" y="3367586"/>
            <a:ext cx="155172" cy="248412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7" name="Left Brace 96"/>
          <p:cNvSpPr/>
          <p:nvPr/>
        </p:nvSpPr>
        <p:spPr>
          <a:xfrm rot="5400000">
            <a:off x="8998787" y="3972338"/>
            <a:ext cx="155172" cy="128016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6477000" y="4323993"/>
            <a:ext cx="1220152" cy="261610"/>
          </a:xfrm>
          <a:prstGeom prst="rect">
            <a:avLst/>
          </a:prstGeom>
          <a:noFill/>
        </p:spPr>
        <p:txBody>
          <a:bodyPr wrap="square" rtlCol="0">
            <a:spAutoFit/>
          </a:bodyPr>
          <a:lstStyle/>
          <a:p>
            <a:pPr algn="ctr"/>
            <a:r>
              <a:rPr lang="en-US" sz="1050" dirty="0" smtClean="0"/>
              <a:t>Term Default Risk</a:t>
            </a:r>
            <a:endParaRPr lang="en-US" sz="1050" dirty="0"/>
          </a:p>
        </p:txBody>
      </p:sp>
      <p:sp>
        <p:nvSpPr>
          <p:cNvPr id="98" name="TextBox 97"/>
          <p:cNvSpPr txBox="1"/>
          <p:nvPr/>
        </p:nvSpPr>
        <p:spPr>
          <a:xfrm>
            <a:off x="8466297" y="4323993"/>
            <a:ext cx="1220152" cy="261610"/>
          </a:xfrm>
          <a:prstGeom prst="rect">
            <a:avLst/>
          </a:prstGeom>
          <a:noFill/>
        </p:spPr>
        <p:txBody>
          <a:bodyPr wrap="square" rtlCol="0">
            <a:spAutoFit/>
          </a:bodyPr>
          <a:lstStyle/>
          <a:p>
            <a:pPr algn="ctr"/>
            <a:r>
              <a:rPr lang="en-US" sz="1050" dirty="0" smtClean="0"/>
              <a:t>Extension Risk</a:t>
            </a:r>
            <a:endParaRPr lang="en-US" sz="1050" dirty="0"/>
          </a:p>
        </p:txBody>
      </p:sp>
      <p:sp>
        <p:nvSpPr>
          <p:cNvPr id="99" name="TextBox 98"/>
          <p:cNvSpPr txBox="1"/>
          <p:nvPr/>
        </p:nvSpPr>
        <p:spPr>
          <a:xfrm>
            <a:off x="7620000" y="4038600"/>
            <a:ext cx="1439703" cy="261610"/>
          </a:xfrm>
          <a:prstGeom prst="rect">
            <a:avLst/>
          </a:prstGeom>
          <a:noFill/>
        </p:spPr>
        <p:txBody>
          <a:bodyPr wrap="square" rtlCol="0">
            <a:spAutoFit/>
          </a:bodyPr>
          <a:lstStyle/>
          <a:p>
            <a:pPr algn="ctr"/>
            <a:r>
              <a:rPr lang="en-US" sz="1050" dirty="0" smtClean="0"/>
              <a:t>Maturity Default Risk</a:t>
            </a:r>
            <a:endParaRPr lang="en-US" sz="1050" dirty="0"/>
          </a:p>
        </p:txBody>
      </p:sp>
      <p:cxnSp>
        <p:nvCxnSpPr>
          <p:cNvPr id="100" name="Straight Arrow Connector 99"/>
          <p:cNvCxnSpPr/>
          <p:nvPr/>
        </p:nvCxnSpPr>
        <p:spPr>
          <a:xfrm>
            <a:off x="8390573" y="4267200"/>
            <a:ext cx="0" cy="387022"/>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5562600" y="4800600"/>
            <a:ext cx="610076" cy="246221"/>
          </a:xfrm>
          <a:prstGeom prst="rect">
            <a:avLst/>
          </a:prstGeom>
          <a:noFill/>
        </p:spPr>
        <p:txBody>
          <a:bodyPr wrap="square" rtlCol="0">
            <a:spAutoFit/>
          </a:bodyPr>
          <a:lstStyle/>
          <a:p>
            <a:pPr algn="ctr"/>
            <a:r>
              <a:rPr lang="en-US" sz="1000" dirty="0" smtClean="0"/>
              <a:t>Year 0</a:t>
            </a:r>
            <a:endParaRPr lang="en-US" sz="1000" dirty="0"/>
          </a:p>
        </p:txBody>
      </p:sp>
      <p:sp>
        <p:nvSpPr>
          <p:cNvPr id="102" name="TextBox 101"/>
          <p:cNvSpPr txBox="1"/>
          <p:nvPr/>
        </p:nvSpPr>
        <p:spPr>
          <a:xfrm>
            <a:off x="8085535" y="4800600"/>
            <a:ext cx="610076" cy="246221"/>
          </a:xfrm>
          <a:prstGeom prst="rect">
            <a:avLst/>
          </a:prstGeom>
          <a:noFill/>
        </p:spPr>
        <p:txBody>
          <a:bodyPr wrap="square" rtlCol="0">
            <a:spAutoFit/>
          </a:bodyPr>
          <a:lstStyle/>
          <a:p>
            <a:pPr algn="ctr"/>
            <a:r>
              <a:rPr lang="en-US" sz="1000" dirty="0" smtClean="0"/>
              <a:t>Year 10</a:t>
            </a:r>
            <a:endParaRPr lang="en-US" sz="1000" dirty="0"/>
          </a:p>
        </p:txBody>
      </p:sp>
      <p:sp>
        <p:nvSpPr>
          <p:cNvPr id="103" name="TextBox 102"/>
          <p:cNvSpPr txBox="1"/>
          <p:nvPr/>
        </p:nvSpPr>
        <p:spPr>
          <a:xfrm>
            <a:off x="9296400" y="4800600"/>
            <a:ext cx="610076" cy="246221"/>
          </a:xfrm>
          <a:prstGeom prst="rect">
            <a:avLst/>
          </a:prstGeom>
          <a:noFill/>
        </p:spPr>
        <p:txBody>
          <a:bodyPr wrap="square" rtlCol="0">
            <a:spAutoFit/>
          </a:bodyPr>
          <a:lstStyle/>
          <a:p>
            <a:pPr algn="ctr"/>
            <a:r>
              <a:rPr lang="en-US" sz="1000" dirty="0" smtClean="0"/>
              <a:t>Year 12</a:t>
            </a:r>
            <a:endParaRPr lang="en-US" sz="1000" dirty="0"/>
          </a:p>
        </p:txBody>
      </p:sp>
      <p:sp>
        <p:nvSpPr>
          <p:cNvPr id="104" name="TextBox 103"/>
          <p:cNvSpPr txBox="1"/>
          <p:nvPr/>
        </p:nvSpPr>
        <p:spPr>
          <a:xfrm>
            <a:off x="5410200" y="4953000"/>
            <a:ext cx="914400" cy="400110"/>
          </a:xfrm>
          <a:prstGeom prst="rect">
            <a:avLst/>
          </a:prstGeom>
          <a:noFill/>
        </p:spPr>
        <p:txBody>
          <a:bodyPr wrap="square" rtlCol="0">
            <a:spAutoFit/>
          </a:bodyPr>
          <a:lstStyle/>
          <a:p>
            <a:pPr algn="ctr"/>
            <a:r>
              <a:rPr lang="en-US" sz="1000" i="1" dirty="0" smtClean="0">
                <a:solidFill>
                  <a:schemeClr val="accent2">
                    <a:lumMod val="75000"/>
                  </a:schemeClr>
                </a:solidFill>
              </a:rPr>
              <a:t>Original Loan Issuance</a:t>
            </a:r>
            <a:endParaRPr lang="en-US" sz="1000" i="1" dirty="0">
              <a:solidFill>
                <a:schemeClr val="accent2">
                  <a:lumMod val="75000"/>
                </a:schemeClr>
              </a:solidFill>
            </a:endParaRPr>
          </a:p>
        </p:txBody>
      </p:sp>
      <p:sp>
        <p:nvSpPr>
          <p:cNvPr id="105" name="TextBox 104"/>
          <p:cNvSpPr txBox="1"/>
          <p:nvPr/>
        </p:nvSpPr>
        <p:spPr>
          <a:xfrm>
            <a:off x="7924800" y="4935379"/>
            <a:ext cx="914399"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Stated Loan Maturity</a:t>
            </a:r>
          </a:p>
        </p:txBody>
      </p:sp>
      <p:sp>
        <p:nvSpPr>
          <p:cNvPr id="106" name="TextBox 105"/>
          <p:cNvSpPr txBox="1"/>
          <p:nvPr/>
        </p:nvSpPr>
        <p:spPr>
          <a:xfrm>
            <a:off x="9295924" y="4935379"/>
            <a:ext cx="610076"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Final Payoff</a:t>
            </a:r>
          </a:p>
        </p:txBody>
      </p:sp>
      <p:cxnSp>
        <p:nvCxnSpPr>
          <p:cNvPr id="107" name="Straight Connector 106"/>
          <p:cNvCxnSpPr/>
          <p:nvPr/>
        </p:nvCxnSpPr>
        <p:spPr>
          <a:xfrm>
            <a:off x="2743200" y="57340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8" name="Content Placeholder 8"/>
          <p:cNvSpPr txBox="1">
            <a:spLocks/>
          </p:cNvSpPr>
          <p:nvPr/>
        </p:nvSpPr>
        <p:spPr>
          <a:xfrm>
            <a:off x="4876800" y="56388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Key Term Definitions</a:t>
            </a:r>
            <a:endParaRPr lang="en-US" sz="1200" dirty="0"/>
          </a:p>
        </p:txBody>
      </p:sp>
      <mc:AlternateContent xmlns:mc="http://schemas.openxmlformats.org/markup-compatibility/2006" xmlns:a14="http://schemas.microsoft.com/office/drawing/2010/main">
        <mc:Choice Requires="a14">
          <p:sp>
            <p:nvSpPr>
              <p:cNvPr id="109" name="TextBox 108"/>
              <p:cNvSpPr txBox="1"/>
              <p:nvPr/>
            </p:nvSpPr>
            <p:spPr>
              <a:xfrm>
                <a:off x="4405611" y="6019800"/>
                <a:ext cx="1638782" cy="876009"/>
              </a:xfrm>
              <a:prstGeom prst="rect">
                <a:avLst/>
              </a:prstGeom>
              <a:noFill/>
            </p:spPr>
            <p:txBody>
              <a:bodyPr wrap="none" rtlCol="0">
                <a:spAutoFit/>
              </a:bodyPr>
              <a:lstStyle>
                <a:defPPr>
                  <a:defRPr lang="en-US"/>
                </a:defPPr>
                <a:lvl1pPr>
                  <a:lnSpc>
                    <a:spcPct val="150000"/>
                  </a:lnSpc>
                  <a:defRPr sz="1200"/>
                </a:lvl1pPr>
              </a:lstStyle>
              <a:p>
                <a:r>
                  <a:rPr lang="en-US" b="1" dirty="0" smtClean="0"/>
                  <a:t>  Property </a:t>
                </a:r>
                <a:r>
                  <a:rPr lang="en-US" b="1" dirty="0"/>
                  <a:t>Value</a:t>
                </a:r>
              </a:p>
              <a:p>
                <a:r>
                  <a:rPr lang="en-US" dirty="0" smtClean="0">
                    <a:solidFill>
                      <a:schemeClr val="bg1"/>
                    </a:solidFill>
                  </a:rPr>
                  <a:t>a</a:t>
                </a:r>
                <a14:m>
                  <m:oMath xmlns:m="http://schemas.openxmlformats.org/officeDocument/2006/math">
                    <m:r>
                      <a:rPr lang="en-US" sz="1400">
                        <a:latin typeface="Cambria Math"/>
                      </a:rPr>
                      <m:t>=</m:t>
                    </m:r>
                    <m:f>
                      <m:fPr>
                        <m:ctrlPr>
                          <a:rPr lang="en-US" sz="1400" i="1">
                            <a:latin typeface="Cambria Math"/>
                          </a:rPr>
                        </m:ctrlPr>
                      </m:fPr>
                      <m:num>
                        <m:r>
                          <m:rPr>
                            <m:sty m:val="p"/>
                          </m:rPr>
                          <a:rPr lang="en-US" sz="1400">
                            <a:latin typeface="Cambria Math"/>
                          </a:rPr>
                          <m:t>NOI</m:t>
                        </m:r>
                      </m:num>
                      <m:den>
                        <m:r>
                          <m:rPr>
                            <m:sty m:val="p"/>
                          </m:rPr>
                          <a:rPr lang="en-US" sz="1400">
                            <a:latin typeface="Cambria Math"/>
                          </a:rPr>
                          <m:t>Capitalization</m:t>
                        </m:r>
                        <m:r>
                          <a:rPr lang="en-US" sz="1400">
                            <a:latin typeface="Cambria Math"/>
                          </a:rPr>
                          <m:t> </m:t>
                        </m:r>
                        <m:r>
                          <m:rPr>
                            <m:sty m:val="p"/>
                          </m:rPr>
                          <a:rPr lang="en-US" sz="1400">
                            <a:latin typeface="Cambria Math"/>
                          </a:rPr>
                          <m:t>Rate</m:t>
                        </m:r>
                      </m:den>
                    </m:f>
                  </m:oMath>
                </a14:m>
                <a:endParaRPr lang="en-US" dirty="0"/>
              </a:p>
            </p:txBody>
          </p:sp>
        </mc:Choice>
        <mc:Fallback xmlns="">
          <p:sp>
            <p:nvSpPr>
              <p:cNvPr id="109" name="TextBox 108"/>
              <p:cNvSpPr txBox="1">
                <a:spLocks noRot="1" noChangeAspect="1" noMove="1" noResize="1" noEditPoints="1" noAdjustHandles="1" noChangeArrowheads="1" noChangeShapeType="1" noTextEdit="1"/>
              </p:cNvSpPr>
              <p:nvPr/>
            </p:nvSpPr>
            <p:spPr>
              <a:xfrm>
                <a:off x="4405611" y="6019800"/>
                <a:ext cx="1638782" cy="876009"/>
              </a:xfrm>
              <a:prstGeom prst="rect">
                <a:avLst/>
              </a:prstGeom>
              <a:blipFill rotWithShape="1">
                <a:blip r:embed="rId9"/>
                <a:stretch>
                  <a:fillRect l="-3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6100870" y="6019800"/>
                <a:ext cx="1584216" cy="883703"/>
              </a:xfrm>
              <a:prstGeom prst="rect">
                <a:avLst/>
              </a:prstGeom>
              <a:noFill/>
            </p:spPr>
            <p:txBody>
              <a:bodyPr wrap="none" rtlCol="0">
                <a:spAutoFit/>
              </a:bodyPr>
              <a:lstStyle/>
              <a:p>
                <a:pPr>
                  <a:lnSpc>
                    <a:spcPct val="150000"/>
                  </a:lnSpc>
                </a:pPr>
                <a:r>
                  <a:rPr lang="en-US" sz="1200" b="1" dirty="0" smtClean="0"/>
                  <a:t> Loan to Value </a:t>
                </a:r>
              </a:p>
              <a:p>
                <a:pPr>
                  <a:lnSpc>
                    <a:spcPct val="150000"/>
                  </a:lnSpc>
                </a:pPr>
                <a:r>
                  <a:rPr lang="en-US" sz="1200" b="1" dirty="0" smtClean="0"/>
                  <a:t>LTV</a:t>
                </a:r>
                <a14:m>
                  <m:oMath xmlns:m="http://schemas.openxmlformats.org/officeDocument/2006/math">
                    <m:r>
                      <a:rPr lang="en-US" sz="1400" b="1" i="0" smtClean="0">
                        <a:latin typeface="Cambria Math"/>
                      </a:rPr>
                      <m:t> </m:t>
                    </m:r>
                    <m:r>
                      <a:rPr lang="en-US" sz="1400" i="0" smtClean="0">
                        <a:latin typeface="Cambria Math"/>
                      </a:rPr>
                      <m:t>=</m:t>
                    </m:r>
                    <m:f>
                      <m:fPr>
                        <m:ctrlPr>
                          <a:rPr lang="en-US" sz="1400" i="1" smtClean="0">
                            <a:latin typeface="Cambria Math"/>
                          </a:rPr>
                        </m:ctrlPr>
                      </m:fPr>
                      <m:num>
                        <m:r>
                          <m:rPr>
                            <m:sty m:val="p"/>
                          </m:rPr>
                          <a:rPr lang="en-US" sz="1400" b="0" i="0" smtClean="0">
                            <a:latin typeface="Cambria Math"/>
                          </a:rPr>
                          <m:t>Loan</m:t>
                        </m:r>
                        <m:r>
                          <a:rPr lang="en-US" sz="1400" b="0" i="0" smtClean="0">
                            <a:latin typeface="Cambria Math"/>
                          </a:rPr>
                          <m:t> </m:t>
                        </m:r>
                        <m:r>
                          <m:rPr>
                            <m:sty m:val="p"/>
                          </m:rPr>
                          <a:rPr lang="en-US" sz="1400" b="0" i="0" smtClean="0">
                            <a:latin typeface="Cambria Math"/>
                          </a:rPr>
                          <m:t>Balance</m:t>
                        </m:r>
                      </m:num>
                      <m:den>
                        <m:r>
                          <m:rPr>
                            <m:sty m:val="p"/>
                          </m:rPr>
                          <a:rPr lang="en-US" sz="1400" b="0" i="0" smtClean="0">
                            <a:latin typeface="Cambria Math"/>
                          </a:rPr>
                          <m:t>Property</m:t>
                        </m:r>
                        <m:r>
                          <a:rPr lang="en-US" sz="1400" b="0" i="0" smtClean="0">
                            <a:latin typeface="Cambria Math"/>
                          </a:rPr>
                          <m:t> </m:t>
                        </m:r>
                        <m:r>
                          <m:rPr>
                            <m:sty m:val="p"/>
                          </m:rPr>
                          <a:rPr lang="en-US" sz="1400" b="0" i="0" smtClean="0">
                            <a:latin typeface="Cambria Math"/>
                          </a:rPr>
                          <m:t>Value</m:t>
                        </m:r>
                      </m:den>
                    </m:f>
                  </m:oMath>
                </a14:m>
                <a:endParaRPr lang="en-US" sz="12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6100870" y="6019800"/>
                <a:ext cx="1584216" cy="883703"/>
              </a:xfrm>
              <a:prstGeom prst="rect">
                <a:avLst/>
              </a:prstGeom>
              <a:blipFill rotWithShape="1">
                <a:blip r:embed="rId10"/>
                <a:stretch>
                  <a:fillRect l="-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7770415" y="6019800"/>
                <a:ext cx="2059385" cy="837152"/>
              </a:xfrm>
              <a:prstGeom prst="rect">
                <a:avLst/>
              </a:prstGeom>
              <a:noFill/>
            </p:spPr>
            <p:txBody>
              <a:bodyPr wrap="square" rtlCol="0">
                <a:spAutoFit/>
              </a:bodyPr>
              <a:lstStyle>
                <a:defPPr>
                  <a:defRPr lang="en-US"/>
                </a:defPPr>
                <a:lvl1pPr>
                  <a:lnSpc>
                    <a:spcPct val="150000"/>
                  </a:lnSpc>
                  <a:defRPr sz="1200"/>
                </a:lvl1pPr>
              </a:lstStyle>
              <a:p>
                <a:r>
                  <a:rPr lang="en-US" b="1" dirty="0" smtClean="0"/>
                  <a:t>Debt Service Coverage Ratio DSCR  </a:t>
                </a:r>
                <a14:m>
                  <m:oMath xmlns:m="http://schemas.openxmlformats.org/officeDocument/2006/math">
                    <m:r>
                      <a:rPr lang="en-US" sz="1400">
                        <a:latin typeface="Cambria Math"/>
                      </a:rPr>
                      <m:t>=</m:t>
                    </m:r>
                    <m:f>
                      <m:fPr>
                        <m:ctrlPr>
                          <a:rPr lang="en-US" sz="1400" i="1">
                            <a:latin typeface="Cambria Math"/>
                          </a:rPr>
                        </m:ctrlPr>
                      </m:fPr>
                      <m:num>
                        <m:r>
                          <m:rPr>
                            <m:sty m:val="p"/>
                          </m:rPr>
                          <a:rPr lang="en-US" sz="1400">
                            <a:latin typeface="Cambria Math"/>
                          </a:rPr>
                          <m:t>NOI</m:t>
                        </m:r>
                      </m:num>
                      <m:den>
                        <m:r>
                          <m:rPr>
                            <m:sty m:val="p"/>
                          </m:rPr>
                          <a:rPr lang="en-US" sz="1400" b="0" i="0" smtClean="0">
                            <a:latin typeface="Cambria Math"/>
                          </a:rPr>
                          <m:t>Annual</m:t>
                        </m:r>
                        <m:r>
                          <a:rPr lang="en-US" sz="1400" b="0" i="0" smtClean="0">
                            <a:latin typeface="Cambria Math"/>
                          </a:rPr>
                          <m:t> </m:t>
                        </m:r>
                        <m:r>
                          <m:rPr>
                            <m:sty m:val="p"/>
                          </m:rPr>
                          <a:rPr lang="en-US" sz="1400" b="0" i="0" smtClean="0">
                            <a:latin typeface="Cambria Math"/>
                          </a:rPr>
                          <m:t>Debt</m:t>
                        </m:r>
                        <m:r>
                          <a:rPr lang="en-US" sz="1400" b="0" i="0" smtClean="0">
                            <a:latin typeface="Cambria Math"/>
                          </a:rPr>
                          <m:t> </m:t>
                        </m:r>
                        <m:r>
                          <m:rPr>
                            <m:sty m:val="p"/>
                          </m:rPr>
                          <a:rPr lang="en-US" sz="1400" b="0" i="0" smtClean="0">
                            <a:latin typeface="Cambria Math"/>
                          </a:rPr>
                          <m:t>Service</m:t>
                        </m:r>
                      </m:den>
                    </m:f>
                  </m:oMath>
                </a14:m>
                <a:endParaRPr lang="en-US" dirty="0"/>
              </a:p>
            </p:txBody>
          </p:sp>
        </mc:Choice>
        <mc:Fallback xmlns="">
          <p:sp>
            <p:nvSpPr>
              <p:cNvPr id="111" name="TextBox 110"/>
              <p:cNvSpPr txBox="1">
                <a:spLocks noRot="1" noChangeAspect="1" noMove="1" noResize="1" noEditPoints="1" noAdjustHandles="1" noChangeArrowheads="1" noChangeShapeType="1" noTextEdit="1"/>
              </p:cNvSpPr>
              <p:nvPr/>
            </p:nvSpPr>
            <p:spPr>
              <a:xfrm>
                <a:off x="7770415" y="6019800"/>
                <a:ext cx="2059385" cy="837152"/>
              </a:xfrm>
              <a:prstGeom prst="rect">
                <a:avLst/>
              </a:prstGeom>
              <a:blipFill rotWithShape="1">
                <a:blip r:embed="rId11"/>
                <a:stretch>
                  <a:fillRect l="-296"/>
                </a:stretch>
              </a:blipFill>
            </p:spPr>
            <p:txBody>
              <a:bodyPr/>
              <a:lstStyle/>
              <a:p>
                <a:r>
                  <a:rPr lang="en-US">
                    <a:noFill/>
                  </a:rPr>
                  <a:t> </a:t>
                </a:r>
              </a:p>
            </p:txBody>
          </p:sp>
        </mc:Fallback>
      </mc:AlternateContent>
      <p:cxnSp>
        <p:nvCxnSpPr>
          <p:cNvPr id="113" name="Straight Connector 112"/>
          <p:cNvCxnSpPr/>
          <p:nvPr/>
        </p:nvCxnSpPr>
        <p:spPr>
          <a:xfrm>
            <a:off x="6051604" y="6019800"/>
            <a:ext cx="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7704151" y="6019800"/>
            <a:ext cx="0" cy="838200"/>
          </a:xfrm>
          <a:prstGeom prst="line">
            <a:avLst/>
          </a:prstGeom>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cxnSp>
        <p:nvCxnSpPr>
          <p:cNvPr id="45" name="Straight Connector 44"/>
          <p:cNvCxnSpPr/>
          <p:nvPr/>
        </p:nvCxnSpPr>
        <p:spPr>
          <a:xfrm>
            <a:off x="4343400" y="6019800"/>
            <a:ext cx="0" cy="8382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a:off x="2403933" y="6019800"/>
                <a:ext cx="1763624" cy="815608"/>
              </a:xfrm>
              <a:prstGeom prst="rect">
                <a:avLst/>
              </a:prstGeom>
              <a:noFill/>
            </p:spPr>
            <p:txBody>
              <a:bodyPr wrap="none" rtlCol="0">
                <a:spAutoFit/>
              </a:bodyPr>
              <a:lstStyle>
                <a:defPPr>
                  <a:defRPr lang="en-US"/>
                </a:defPPr>
                <a:lvl1pPr>
                  <a:lnSpc>
                    <a:spcPct val="150000"/>
                  </a:lnSpc>
                  <a:defRPr sz="1200"/>
                </a:lvl1pPr>
              </a:lstStyle>
              <a:p>
                <a:r>
                  <a:rPr lang="en-US" b="1" dirty="0" smtClean="0"/>
                  <a:t>Net Operating Income </a:t>
                </a:r>
              </a:p>
              <a:p>
                <a:r>
                  <a:rPr lang="en-US" b="1" dirty="0"/>
                  <a:t>N</a:t>
                </a:r>
                <a:r>
                  <a:rPr lang="en-US" b="1" dirty="0" smtClean="0"/>
                  <a:t>OI</a:t>
                </a:r>
                <a14:m>
                  <m:oMath xmlns:m="http://schemas.openxmlformats.org/officeDocument/2006/math">
                    <m:r>
                      <a:rPr lang="en-US" b="1" i="0" smtClean="0">
                        <a:latin typeface="Cambria Math"/>
                      </a:rPr>
                      <m:t> </m:t>
                    </m:r>
                    <m:r>
                      <a:rPr lang="en-US">
                        <a:latin typeface="Cambria Math"/>
                      </a:rPr>
                      <m:t>=</m:t>
                    </m:r>
                  </m:oMath>
                </a14:m>
                <a:r>
                  <a:rPr lang="en-US" dirty="0" smtClean="0"/>
                  <a:t> </a:t>
                </a:r>
                <a:r>
                  <a:rPr lang="en-US" sz="1100" dirty="0" smtClean="0">
                    <a:latin typeface="Cambria Math" panose="02040503050406030204" pitchFamily="18" charset="0"/>
                    <a:ea typeface="Cambria Math" panose="02040503050406030204" pitchFamily="18" charset="0"/>
                  </a:rPr>
                  <a:t>Rental Revenue </a:t>
                </a:r>
              </a:p>
              <a:p>
                <a:pPr>
                  <a:lnSpc>
                    <a:spcPct val="100000"/>
                  </a:lnSpc>
                </a:pPr>
                <a:r>
                  <a:rPr lang="en-US" sz="1100" dirty="0" smtClean="0">
                    <a:latin typeface="Cambria Math" panose="02040503050406030204" pitchFamily="18" charset="0"/>
                    <a:ea typeface="Cambria Math" panose="02040503050406030204" pitchFamily="18" charset="0"/>
                  </a:rPr>
                  <a:t>            - Operating Expense</a:t>
                </a:r>
                <a:endParaRPr lang="en-US" sz="1100" dirty="0">
                  <a:latin typeface="Cambria Math" panose="02040503050406030204" pitchFamily="18" charset="0"/>
                  <a:ea typeface="Cambria Math" panose="02040503050406030204" pitchFamily="18" charset="0"/>
                </a:endParaRPr>
              </a:p>
            </p:txBody>
          </p:sp>
        </mc:Choice>
        <mc:Fallback xmlns="">
          <p:sp>
            <p:nvSpPr>
              <p:cNvPr id="49" name="TextBox 48"/>
              <p:cNvSpPr txBox="1">
                <a:spLocks noRot="1" noChangeAspect="1" noMove="1" noResize="1" noEditPoints="1" noAdjustHandles="1" noChangeArrowheads="1" noChangeShapeType="1" noTextEdit="1"/>
              </p:cNvSpPr>
              <p:nvPr/>
            </p:nvSpPr>
            <p:spPr>
              <a:xfrm>
                <a:off x="2403933" y="6019800"/>
                <a:ext cx="1763624" cy="815608"/>
              </a:xfrm>
              <a:prstGeom prst="rect">
                <a:avLst/>
              </a:prstGeom>
              <a:blipFill rotWithShape="1">
                <a:blip r:embed="rId12"/>
                <a:stretch>
                  <a:fillRect b="-3759"/>
                </a:stretch>
              </a:blipFill>
            </p:spPr>
            <p:txBody>
              <a:bodyPr/>
              <a:lstStyle/>
              <a:p>
                <a:r>
                  <a:rPr lang="en-US">
                    <a:noFill/>
                  </a:rPr>
                  <a:t> </a:t>
                </a:r>
              </a:p>
            </p:txBody>
          </p:sp>
        </mc:Fallback>
      </mc:AlternateContent>
    </p:spTree>
    <p:extLst>
      <p:ext uri="{BB962C8B-B14F-4D97-AF65-F5344CB8AC3E}">
        <p14:creationId xmlns:p14="http://schemas.microsoft.com/office/powerpoint/2010/main" val="29838735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2743200" y="1447800"/>
            <a:ext cx="6591300" cy="13716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p:txBody>
          <a:bodyPr/>
          <a:lstStyle/>
          <a:p>
            <a:r>
              <a:rPr lang="en-US" dirty="0" smtClean="0"/>
              <a:t>APPENDIX - CRE </a:t>
            </a:r>
            <a:r>
              <a:rPr lang="en-US" dirty="0"/>
              <a:t>Modeling</a:t>
            </a:r>
            <a:br>
              <a:rPr lang="en-US" dirty="0"/>
            </a:br>
            <a:r>
              <a:rPr lang="en-US" dirty="0" smtClean="0"/>
              <a:t>FORECASTING Loan </a:t>
            </a:r>
            <a:r>
              <a:rPr lang="en-US" dirty="0" err="1" smtClean="0"/>
              <a:t>outcomeS</a:t>
            </a:r>
            <a:r>
              <a:rPr lang="en-US" dirty="0"/>
              <a:t/>
            </a:r>
            <a:br>
              <a:rPr lang="en-US" dirty="0"/>
            </a:br>
            <a:endParaRPr lang="en-US" dirty="0"/>
          </a:p>
        </p:txBody>
      </p:sp>
      <p:sp>
        <p:nvSpPr>
          <p:cNvPr id="118" name="Content Placeholder 12"/>
          <p:cNvSpPr>
            <a:spLocks noGrp="1"/>
          </p:cNvSpPr>
          <p:nvPr>
            <p:ph idx="1"/>
          </p:nvPr>
        </p:nvSpPr>
        <p:spPr>
          <a:xfrm>
            <a:off x="293687" y="1235075"/>
            <a:ext cx="1839913" cy="5150336"/>
          </a:xfrm>
        </p:spPr>
        <p:txBody>
          <a:bodyPr/>
          <a:lstStyle/>
          <a:p>
            <a:pPr>
              <a:lnSpc>
                <a:spcPct val="100000"/>
              </a:lnSpc>
              <a:spcBef>
                <a:spcPts val="0"/>
              </a:spcBef>
            </a:pPr>
            <a:r>
              <a:rPr lang="en-US" sz="1100" b="0" dirty="0" smtClean="0">
                <a:solidFill>
                  <a:schemeClr val="tx1"/>
                </a:solidFill>
              </a:rPr>
              <a:t>Outcomes for CRE loans are triggered by the financial condition of the collateral.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two standard triggers that play a significant role in determining loan outcomes are:</a:t>
            </a:r>
          </a:p>
          <a:p>
            <a:pPr>
              <a:lnSpc>
                <a:spcPct val="100000"/>
              </a:lnSpc>
              <a:spcBef>
                <a:spcPts val="0"/>
              </a:spcBef>
            </a:pPr>
            <a:endParaRPr lang="en-US" sz="1100" b="0" dirty="0">
              <a:solidFill>
                <a:schemeClr val="tx1"/>
              </a:solidFill>
            </a:endParaRPr>
          </a:p>
          <a:p>
            <a:pPr marL="228600" indent="-228600">
              <a:lnSpc>
                <a:spcPct val="100000"/>
              </a:lnSpc>
              <a:spcBef>
                <a:spcPts val="0"/>
              </a:spcBef>
              <a:buAutoNum type="arabicParenBoth"/>
            </a:pPr>
            <a:r>
              <a:rPr lang="en-US" sz="1100" b="0" dirty="0" smtClean="0">
                <a:solidFill>
                  <a:schemeClr val="tx1"/>
                </a:solidFill>
              </a:rPr>
              <a:t>Whether the DSCR &lt; 1.0 </a:t>
            </a:r>
          </a:p>
          <a:p>
            <a:pPr marL="228600" indent="-228600">
              <a:lnSpc>
                <a:spcPct val="100000"/>
              </a:lnSpc>
              <a:spcBef>
                <a:spcPts val="0"/>
              </a:spcBef>
              <a:buAutoNum type="arabicParenBoth"/>
            </a:pPr>
            <a:r>
              <a:rPr lang="en-US" sz="1100" b="0" dirty="0" smtClean="0">
                <a:solidFill>
                  <a:schemeClr val="tx1"/>
                </a:solidFill>
              </a:rPr>
              <a:t>Whether the LTV &gt; 100%</a:t>
            </a: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A credit or default event for a CRE loan is </a:t>
            </a:r>
            <a:r>
              <a:rPr lang="en-US" sz="1100" dirty="0" smtClean="0">
                <a:solidFill>
                  <a:schemeClr val="tx1"/>
                </a:solidFill>
              </a:rPr>
              <a:t>doubly triggered </a:t>
            </a:r>
            <a:r>
              <a:rPr lang="en-US" sz="1100" b="0" dirty="0" smtClean="0">
                <a:solidFill>
                  <a:schemeClr val="tx1"/>
                </a:solidFill>
              </a:rPr>
              <a:t>by: (1) The NOI falling below the total debt service and (2) The property market value falling below the total outstanding loan balance.</a:t>
            </a:r>
          </a:p>
          <a:p>
            <a:pPr>
              <a:lnSpc>
                <a:spcPct val="100000"/>
              </a:lnSpc>
              <a:spcBef>
                <a:spcPts val="0"/>
              </a:spcBef>
            </a:pPr>
            <a:endParaRPr lang="en-US" sz="1100" b="0" dirty="0">
              <a:solidFill>
                <a:schemeClr val="tx1"/>
              </a:solidFill>
            </a:endParaRPr>
          </a:p>
        </p:txBody>
      </p:sp>
      <p:sp>
        <p:nvSpPr>
          <p:cNvPr id="119" name="Rectangle 118"/>
          <p:cNvSpPr/>
          <p:nvPr/>
        </p:nvSpPr>
        <p:spPr>
          <a:xfrm>
            <a:off x="4648200" y="3352800"/>
            <a:ext cx="22860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DSCR &lt; DSCR Default Trigger?</a:t>
            </a:r>
            <a:endParaRPr lang="en-US" sz="1000" dirty="0">
              <a:solidFill>
                <a:schemeClr val="tx1"/>
              </a:solidFill>
            </a:endParaRPr>
          </a:p>
        </p:txBody>
      </p:sp>
      <p:sp>
        <p:nvSpPr>
          <p:cNvPr id="120" name="Rectangle 119"/>
          <p:cNvSpPr/>
          <p:nvPr/>
        </p:nvSpPr>
        <p:spPr>
          <a:xfrm>
            <a:off x="3352800" y="41910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at maturity?</a:t>
            </a:r>
            <a:endParaRPr lang="en-US" sz="1000" dirty="0">
              <a:solidFill>
                <a:schemeClr val="tx1"/>
              </a:solidFill>
            </a:endParaRPr>
          </a:p>
        </p:txBody>
      </p:sp>
      <p:sp>
        <p:nvSpPr>
          <p:cNvPr id="121" name="Rectangle 120"/>
          <p:cNvSpPr/>
          <p:nvPr/>
        </p:nvSpPr>
        <p:spPr>
          <a:xfrm>
            <a:off x="3352800" y="49149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pay-off LTV requirement?</a:t>
            </a:r>
          </a:p>
        </p:txBody>
      </p:sp>
      <p:sp>
        <p:nvSpPr>
          <p:cNvPr id="122" name="Rectangle 121"/>
          <p:cNvSpPr/>
          <p:nvPr/>
        </p:nvSpPr>
        <p:spPr>
          <a:xfrm>
            <a:off x="3352800" y="56388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extension LTV limit?</a:t>
            </a:r>
            <a:endParaRPr lang="en-US" sz="1000" dirty="0">
              <a:solidFill>
                <a:schemeClr val="tx1"/>
              </a:solidFill>
            </a:endParaRPr>
          </a:p>
        </p:txBody>
      </p:sp>
      <p:sp>
        <p:nvSpPr>
          <p:cNvPr id="123" name="Rectangle 122"/>
          <p:cNvSpPr/>
          <p:nvPr/>
        </p:nvSpPr>
        <p:spPr>
          <a:xfrm>
            <a:off x="6858000" y="5256322"/>
            <a:ext cx="1066800" cy="805914"/>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At extension maturity is </a:t>
            </a:r>
          </a:p>
          <a:p>
            <a:pPr algn="ctr"/>
            <a:r>
              <a:rPr lang="en-US" sz="1000" dirty="0" smtClean="0">
                <a:solidFill>
                  <a:schemeClr val="tx1"/>
                </a:solidFill>
              </a:rPr>
              <a:t>LTV &lt; Refinance Threshold?</a:t>
            </a:r>
            <a:endParaRPr lang="en-US" sz="1000" dirty="0">
              <a:solidFill>
                <a:schemeClr val="tx1"/>
              </a:solidFill>
            </a:endParaRPr>
          </a:p>
        </p:txBody>
      </p:sp>
      <p:cxnSp>
        <p:nvCxnSpPr>
          <p:cNvPr id="124" name="Elbow Connector 123"/>
          <p:cNvCxnSpPr>
            <a:stCxn id="119" idx="2"/>
            <a:endCxn id="120" idx="0"/>
          </p:cNvCxnSpPr>
          <p:nvPr/>
        </p:nvCxnSpPr>
        <p:spPr>
          <a:xfrm rot="5400000">
            <a:off x="4762500" y="3162300"/>
            <a:ext cx="457200" cy="1600200"/>
          </a:xfrm>
          <a:prstGeom prst="bentConnector3">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5" name="Straight Connector 124"/>
          <p:cNvCxnSpPr>
            <a:stCxn id="120" idx="2"/>
            <a:endCxn id="121" idx="0"/>
          </p:cNvCxnSpPr>
          <p:nvPr/>
        </p:nvCxnSpPr>
        <p:spPr>
          <a:xfrm>
            <a:off x="4191000" y="45720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p:cNvCxnSpPr>
            <a:stCxn id="121" idx="2"/>
            <a:endCxn id="122" idx="0"/>
          </p:cNvCxnSpPr>
          <p:nvPr/>
        </p:nvCxnSpPr>
        <p:spPr>
          <a:xfrm>
            <a:off x="4191000" y="52959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Elbow Connector 126"/>
          <p:cNvCxnSpPr>
            <a:stCxn id="120" idx="3"/>
            <a:endCxn id="119" idx="3"/>
          </p:cNvCxnSpPr>
          <p:nvPr/>
        </p:nvCxnSpPr>
        <p:spPr>
          <a:xfrm flipV="1">
            <a:off x="5029200" y="3543300"/>
            <a:ext cx="1905000" cy="838200"/>
          </a:xfrm>
          <a:prstGeom prst="bentConnector3">
            <a:avLst>
              <a:gd name="adj1" fmla="val 112000"/>
            </a:avLst>
          </a:prstGeom>
          <a:ln w="12700">
            <a:solidFill>
              <a:schemeClr val="accent2">
                <a:lumMod val="50000"/>
              </a:schemeClr>
            </a:solidFill>
            <a:prstDash val="lgDash"/>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5562600" y="4915333"/>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29" name="Oval 128"/>
          <p:cNvSpPr/>
          <p:nvPr/>
        </p:nvSpPr>
        <p:spPr>
          <a:xfrm>
            <a:off x="5562600" y="5638800"/>
            <a:ext cx="100584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Maturity</a:t>
            </a:r>
          </a:p>
          <a:p>
            <a:pPr algn="ctr"/>
            <a:r>
              <a:rPr lang="en-US" sz="1000" dirty="0" smtClean="0">
                <a:solidFill>
                  <a:schemeClr val="tx1"/>
                </a:solidFill>
              </a:rPr>
              <a:t>Extension</a:t>
            </a:r>
            <a:endParaRPr lang="en-US" sz="1000" dirty="0">
              <a:solidFill>
                <a:schemeClr val="tx1"/>
              </a:solidFill>
            </a:endParaRPr>
          </a:p>
        </p:txBody>
      </p:sp>
      <p:sp>
        <p:nvSpPr>
          <p:cNvPr id="130" name="Oval 129"/>
          <p:cNvSpPr/>
          <p:nvPr/>
        </p:nvSpPr>
        <p:spPr>
          <a:xfrm>
            <a:off x="8382000" y="5638800"/>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31" name="Oval 130"/>
          <p:cNvSpPr/>
          <p:nvPr/>
        </p:nvSpPr>
        <p:spPr>
          <a:xfrm>
            <a:off x="24384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Term Default</a:t>
            </a:r>
            <a:endParaRPr lang="en-US" sz="1000" dirty="0">
              <a:solidFill>
                <a:srgbClr val="000000"/>
              </a:solidFill>
            </a:endParaRPr>
          </a:p>
        </p:txBody>
      </p:sp>
      <p:sp>
        <p:nvSpPr>
          <p:cNvPr id="132" name="Oval 131"/>
          <p:cNvSpPr/>
          <p:nvPr/>
        </p:nvSpPr>
        <p:spPr>
          <a:xfrm>
            <a:off x="37338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sp>
        <p:nvSpPr>
          <p:cNvPr id="133" name="Oval 132"/>
          <p:cNvSpPr/>
          <p:nvPr/>
        </p:nvSpPr>
        <p:spPr>
          <a:xfrm>
            <a:off x="69342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cxnSp>
        <p:nvCxnSpPr>
          <p:cNvPr id="134" name="Straight Arrow Connector 133"/>
          <p:cNvCxnSpPr>
            <a:stCxn id="121" idx="3"/>
            <a:endCxn id="128" idx="2"/>
          </p:cNvCxnSpPr>
          <p:nvPr/>
        </p:nvCxnSpPr>
        <p:spPr>
          <a:xfrm>
            <a:off x="5029200" y="5105400"/>
            <a:ext cx="533400" cy="433"/>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5" name="Straight Arrow Connector 134"/>
          <p:cNvCxnSpPr>
            <a:stCxn id="122" idx="3"/>
            <a:endCxn id="129" idx="2"/>
          </p:cNvCxnSpPr>
          <p:nvPr/>
        </p:nvCxnSpPr>
        <p:spPr>
          <a:xfrm>
            <a:off x="5029200" y="5829300"/>
            <a:ext cx="53340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6" name="Elbow Connector 135"/>
          <p:cNvCxnSpPr>
            <a:stCxn id="119" idx="1"/>
            <a:endCxn id="131" idx="0"/>
          </p:cNvCxnSpPr>
          <p:nvPr/>
        </p:nvCxnSpPr>
        <p:spPr>
          <a:xfrm rot="10800000" flipV="1">
            <a:off x="2895600" y="3543300"/>
            <a:ext cx="1752600" cy="2971800"/>
          </a:xfrm>
          <a:prstGeom prst="bentConnector2">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p:cNvCxnSpPr>
            <a:stCxn id="122" idx="2"/>
            <a:endCxn id="132" idx="0"/>
          </p:cNvCxnSpPr>
          <p:nvPr/>
        </p:nvCxnSpPr>
        <p:spPr>
          <a:xfrm>
            <a:off x="4191000" y="6019800"/>
            <a:ext cx="0" cy="49530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8" name="Straight Arrow Connector 137"/>
          <p:cNvCxnSpPr>
            <a:stCxn id="123" idx="2"/>
            <a:endCxn id="133" idx="0"/>
          </p:cNvCxnSpPr>
          <p:nvPr/>
        </p:nvCxnSpPr>
        <p:spPr>
          <a:xfrm>
            <a:off x="7391400" y="6062236"/>
            <a:ext cx="0" cy="452864"/>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9" name="Straight Arrow Connector 138"/>
          <p:cNvCxnSpPr>
            <a:endCxn id="130" idx="2"/>
          </p:cNvCxnSpPr>
          <p:nvPr/>
        </p:nvCxnSpPr>
        <p:spPr>
          <a:xfrm>
            <a:off x="7924800" y="5829300"/>
            <a:ext cx="457200" cy="0"/>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p:cNvCxnSpPr/>
          <p:nvPr/>
        </p:nvCxnSpPr>
        <p:spPr>
          <a:xfrm>
            <a:off x="6568440" y="5829300"/>
            <a:ext cx="28956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1" name="Straight Connector 140"/>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2" name="Content Placeholder 8"/>
          <p:cNvSpPr txBox="1">
            <a:spLocks/>
          </p:cNvSpPr>
          <p:nvPr/>
        </p:nvSpPr>
        <p:spPr>
          <a:xfrm>
            <a:off x="4876800" y="12192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Potential Loan Outcomes</a:t>
            </a:r>
            <a:endParaRPr lang="en-US" sz="1200" dirty="0"/>
          </a:p>
        </p:txBody>
      </p:sp>
      <p:sp>
        <p:nvSpPr>
          <p:cNvPr id="144" name="TextBox 143"/>
          <p:cNvSpPr txBox="1"/>
          <p:nvPr/>
        </p:nvSpPr>
        <p:spPr>
          <a:xfrm>
            <a:off x="4495800" y="3733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5" name="TextBox 144"/>
          <p:cNvSpPr txBox="1"/>
          <p:nvPr/>
        </p:nvSpPr>
        <p:spPr>
          <a:xfrm>
            <a:off x="5485924" y="4114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6" name="TextBox 145"/>
          <p:cNvSpPr txBox="1"/>
          <p:nvPr/>
        </p:nvSpPr>
        <p:spPr>
          <a:xfrm>
            <a:off x="3733324" y="4630579"/>
            <a:ext cx="610076" cy="230832"/>
          </a:xfrm>
          <a:prstGeom prst="rect">
            <a:avLst/>
          </a:prstGeom>
          <a:noFill/>
          <a:ln w="12700">
            <a:noFill/>
          </a:ln>
          <a:effectLst/>
        </p:spPr>
        <p:txBody>
          <a:bodyPr wrap="square" rtlCol="0">
            <a:spAutoFit/>
          </a:bodyPr>
          <a:lstStyle/>
          <a:p>
            <a:pPr algn="ctr"/>
            <a:r>
              <a:rPr lang="en-US" sz="900" dirty="0" smtClean="0"/>
              <a:t>Yes</a:t>
            </a:r>
            <a:endParaRPr lang="en-US" sz="900" dirty="0"/>
          </a:p>
        </p:txBody>
      </p:sp>
      <p:sp>
        <p:nvSpPr>
          <p:cNvPr id="147" name="TextBox 146"/>
          <p:cNvSpPr txBox="1"/>
          <p:nvPr/>
        </p:nvSpPr>
        <p:spPr>
          <a:xfrm>
            <a:off x="3733324" y="53340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8" name="TextBox 147"/>
          <p:cNvSpPr txBox="1"/>
          <p:nvPr/>
        </p:nvSpPr>
        <p:spPr>
          <a:xfrm>
            <a:off x="5029200" y="4876800"/>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49" name="TextBox 148"/>
          <p:cNvSpPr txBox="1"/>
          <p:nvPr/>
        </p:nvSpPr>
        <p:spPr>
          <a:xfrm>
            <a:off x="5029200" y="55626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0" name="TextBox 149"/>
          <p:cNvSpPr txBox="1"/>
          <p:nvPr/>
        </p:nvSpPr>
        <p:spPr>
          <a:xfrm>
            <a:off x="7820501" y="5598468"/>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51" name="TextBox 150"/>
          <p:cNvSpPr txBox="1"/>
          <p:nvPr/>
        </p:nvSpPr>
        <p:spPr>
          <a:xfrm>
            <a:off x="7239000" y="6154579"/>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2" name="TextBox 151"/>
          <p:cNvSpPr txBox="1"/>
          <p:nvPr/>
        </p:nvSpPr>
        <p:spPr>
          <a:xfrm>
            <a:off x="3733324" y="60198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3" name="TextBox 152"/>
          <p:cNvSpPr txBox="1"/>
          <p:nvPr/>
        </p:nvSpPr>
        <p:spPr>
          <a:xfrm>
            <a:off x="3276600" y="3315345"/>
            <a:ext cx="610076" cy="230832"/>
          </a:xfrm>
          <a:prstGeom prst="rect">
            <a:avLst/>
          </a:prstGeom>
          <a:noFill/>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4" name="Rectangle 153"/>
          <p:cNvSpPr/>
          <p:nvPr/>
        </p:nvSpPr>
        <p:spPr>
          <a:xfrm>
            <a:off x="2362200" y="6421754"/>
            <a:ext cx="5562600" cy="579120"/>
          </a:xfrm>
          <a:prstGeom prst="rect">
            <a:avLst/>
          </a:prstGeom>
          <a:noFill/>
          <a:ln>
            <a:solidFill>
              <a:srgbClr val="C6642E"/>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6" name="Rectangle 155"/>
          <p:cNvSpPr/>
          <p:nvPr/>
        </p:nvSpPr>
        <p:spPr>
          <a:xfrm>
            <a:off x="8610600" y="6421754"/>
            <a:ext cx="990600" cy="579120"/>
          </a:xfrm>
          <a:prstGeom prst="rect">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Loan Workout Period and Loss Calculation </a:t>
            </a:r>
            <a:endParaRPr lang="en-US" sz="1000" dirty="0"/>
          </a:p>
        </p:txBody>
      </p:sp>
      <p:graphicFrame>
        <p:nvGraphicFramePr>
          <p:cNvPr id="157" name="Table 156"/>
          <p:cNvGraphicFramePr>
            <a:graphicFrameLocks noGrp="1"/>
          </p:cNvGraphicFramePr>
          <p:nvPr>
            <p:extLst>
              <p:ext uri="{D42A27DB-BD31-4B8C-83A1-F6EECF244321}">
                <p14:modId xmlns:p14="http://schemas.microsoft.com/office/powerpoint/2010/main" val="4068204941"/>
              </p:ext>
            </p:extLst>
          </p:nvPr>
        </p:nvGraphicFramePr>
        <p:xfrm>
          <a:off x="3200400" y="1524000"/>
          <a:ext cx="6019800" cy="1219200"/>
        </p:xfrm>
        <a:graphic>
          <a:graphicData uri="http://schemas.openxmlformats.org/drawingml/2006/table">
            <a:tbl>
              <a:tblPr>
                <a:tableStyleId>{5C22544A-7EE6-4342-B048-85BDC9FD1C3A}</a:tableStyleId>
              </a:tblPr>
              <a:tblGrid>
                <a:gridCol w="2006600"/>
                <a:gridCol w="1803400"/>
                <a:gridCol w="2209800"/>
              </a:tblGrid>
              <a:tr h="182880">
                <a:tc>
                  <a:txBody>
                    <a:bodyPr/>
                    <a:lstStyle/>
                    <a:p>
                      <a:r>
                        <a:rPr lang="en-US" sz="1000" dirty="0" smtClean="0"/>
                        <a:t>During initial term or extension</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Term 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000" dirty="0" smtClean="0"/>
                        <a:t>DSCR &lt; DSCR</a:t>
                      </a:r>
                      <a:r>
                        <a:rPr lang="en-US" sz="1000" baseline="0" dirty="0" smtClean="0"/>
                        <a:t> Default Trigger</a:t>
                      </a:r>
                      <a:endParaRPr lang="en-US" sz="1000" dirty="0" smtClean="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rowSpan="3">
                  <a:txBody>
                    <a:bodyPr/>
                    <a:lstStyle/>
                    <a:p>
                      <a:r>
                        <a:rPr lang="en-US" sz="1000" dirty="0" smtClean="0"/>
                        <a:t>At</a:t>
                      </a:r>
                      <a:r>
                        <a:rPr lang="en-US" sz="1000" baseline="0" dirty="0" smtClean="0"/>
                        <a:t> original maturity</a:t>
                      </a:r>
                      <a:endParaRPr lang="en-US"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Pay off</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&lt; pay off LTV</a:t>
                      </a:r>
                      <a:r>
                        <a:rPr lang="en-US" sz="1000" baseline="0" dirty="0" smtClean="0"/>
                        <a:t> requirement</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r h="182880">
                <a:tc vMerge="1">
                  <a:txBody>
                    <a:bodyPr/>
                    <a:lstStyle/>
                    <a:p>
                      <a:endParaRPr lang="en-US" sz="1000"/>
                    </a:p>
                  </a:txBody>
                  <a:tcPr/>
                </a:tc>
                <a:tc>
                  <a:txBody>
                    <a:bodyPr/>
                    <a:lstStyle/>
                    <a:p>
                      <a:r>
                        <a:rPr lang="en-US" sz="1000" b="1" dirty="0" smtClean="0"/>
                        <a:t>Extension</a:t>
                      </a:r>
                      <a:endParaRPr lang="en-US" sz="10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000" dirty="0" smtClean="0"/>
                        <a:t>LTV between extension LTV bounds</a:t>
                      </a:r>
                      <a:endParaRPr lang="en-US"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182880">
                <a:tc vMerge="1">
                  <a:txBody>
                    <a:bodyPr/>
                    <a:lstStyle/>
                    <a:p>
                      <a:endParaRPr lang="en-US" sz="1000" dirty="0"/>
                    </a:p>
                  </a:txBody>
                  <a:tcPr/>
                </a:tc>
                <a:tc>
                  <a:txBody>
                    <a:bodyPr/>
                    <a:lstStyle/>
                    <a:p>
                      <a:r>
                        <a:rPr lang="en-US" sz="1000" b="1" dirty="0" smtClean="0"/>
                        <a:t>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smtClean="0"/>
                        <a:t>LTV &gt; extension LTV limit</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a:txBody>
                    <a:bodyPr/>
                    <a:lstStyle/>
                    <a:p>
                      <a:r>
                        <a:rPr lang="en-US" sz="1000" dirty="0" smtClean="0"/>
                        <a:t>At extension maturity</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b="1" dirty="0" smtClean="0"/>
                        <a:t>Default</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&gt;</a:t>
                      </a:r>
                      <a:r>
                        <a:rPr lang="en-US" sz="1000" baseline="0" dirty="0" smtClean="0"/>
                        <a:t> Refinance Threshold</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cxnSp>
        <p:nvCxnSpPr>
          <p:cNvPr id="158" name="Straight Connector 157"/>
          <p:cNvCxnSpPr/>
          <p:nvPr/>
        </p:nvCxnSpPr>
        <p:spPr>
          <a:xfrm>
            <a:off x="2743200" y="31051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59" name="Content Placeholder 8"/>
          <p:cNvSpPr txBox="1">
            <a:spLocks/>
          </p:cNvSpPr>
          <p:nvPr/>
        </p:nvSpPr>
        <p:spPr>
          <a:xfrm>
            <a:off x="4572000" y="30099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Default, Extension and Payoff Logic Tree</a:t>
            </a:r>
            <a:endParaRPr lang="en-US" sz="1200" dirty="0"/>
          </a:p>
        </p:txBody>
      </p:sp>
      <p:sp>
        <p:nvSpPr>
          <p:cNvPr id="14" name="Isosceles Triangle 13"/>
          <p:cNvSpPr/>
          <p:nvPr/>
        </p:nvSpPr>
        <p:spPr>
          <a:xfrm rot="5400000">
            <a:off x="7978140" y="6444614"/>
            <a:ext cx="579120" cy="533400"/>
          </a:xfrm>
          <a:prstGeom prst="triangle">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p:cNvCxnSpPr/>
          <p:nvPr/>
        </p:nvCxnSpPr>
        <p:spPr>
          <a:xfrm>
            <a:off x="3124200" y="1752600"/>
            <a:ext cx="5638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3124200" y="2499102"/>
            <a:ext cx="56388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7924800" y="6457890"/>
            <a:ext cx="685800" cy="400110"/>
          </a:xfrm>
          <a:prstGeom prst="rect">
            <a:avLst/>
          </a:prstGeom>
          <a:noFill/>
          <a:ln w="12700">
            <a:noFill/>
          </a:ln>
        </p:spPr>
        <p:txBody>
          <a:bodyPr wrap="square" rtlCol="0">
            <a:spAutoFit/>
          </a:bodyPr>
          <a:lstStyle/>
          <a:p>
            <a:r>
              <a:rPr lang="en-US" sz="1000" dirty="0" smtClean="0">
                <a:solidFill>
                  <a:schemeClr val="bg1"/>
                </a:solidFill>
              </a:rPr>
              <a:t>All </a:t>
            </a:r>
          </a:p>
          <a:p>
            <a:r>
              <a:rPr lang="en-US" sz="1000" dirty="0" smtClean="0">
                <a:solidFill>
                  <a:schemeClr val="bg1"/>
                </a:solidFill>
              </a:rPr>
              <a:t>Defaults</a:t>
            </a:r>
            <a:endParaRPr lang="en-US" sz="1000" dirty="0">
              <a:solidFill>
                <a:schemeClr val="bg1"/>
              </a:solidFill>
            </a:endParaRPr>
          </a:p>
        </p:txBody>
      </p:sp>
      <p:sp>
        <p:nvSpPr>
          <p:cNvPr id="43" name="TextBox 42"/>
          <p:cNvSpPr txBox="1"/>
          <p:nvPr/>
        </p:nvSpPr>
        <p:spPr>
          <a:xfrm>
            <a:off x="7239000" y="3657600"/>
            <a:ext cx="1371600" cy="400110"/>
          </a:xfrm>
          <a:prstGeom prst="rect">
            <a:avLst/>
          </a:prstGeom>
          <a:noFill/>
          <a:ln w="12700">
            <a:noFill/>
          </a:ln>
        </p:spPr>
        <p:txBody>
          <a:bodyPr wrap="square" rtlCol="0">
            <a:spAutoFit/>
          </a:bodyPr>
          <a:lstStyle/>
          <a:p>
            <a:r>
              <a:rPr lang="en-US" sz="1000" dirty="0" smtClean="0"/>
              <a:t>Loan is current, repeat process next month</a:t>
            </a:r>
            <a:endParaRPr lang="en-US" sz="1000" dirty="0"/>
          </a:p>
        </p:txBody>
      </p:sp>
      <p:sp>
        <p:nvSpPr>
          <p:cNvPr id="49" name="Rectangle 48"/>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Tree>
    <p:extLst>
      <p:ext uri="{BB962C8B-B14F-4D97-AF65-F5344CB8AC3E}">
        <p14:creationId xmlns:p14="http://schemas.microsoft.com/office/powerpoint/2010/main" val="414371299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JEa2F8LQUEyxStrXkIqA.Q"/>
</p:tagLst>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6094</TotalTime>
  <Words>2422</Words>
  <Application>Microsoft Office PowerPoint</Application>
  <PresentationFormat>Custom</PresentationFormat>
  <Paragraphs>483</Paragraphs>
  <Slides>12</Slides>
  <Notes>9</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CELLO CRE MODELING FRAMEWORK</vt:lpstr>
      <vt:lpstr>INVESTMENT APPROACH</vt:lpstr>
      <vt:lpstr>CRE Modeling HOLDERS OF CRE RISK: A CAPITAL MARKETS VIEW </vt:lpstr>
      <vt:lpstr>CRE Modeling IDIOSYNCRATIC RISKS CAN PLAY A SIGNIFICANT ROLE IN CRE  </vt:lpstr>
      <vt:lpstr>CRE Modeling  CRE Modeling framework: ETUDE</vt:lpstr>
      <vt:lpstr>CRE Modeling DATA SOURCES FOR MODELING CRE RISK </vt:lpstr>
      <vt:lpstr>CRE Modeling  CRE model parameters and Assumptions</vt:lpstr>
      <vt:lpstr>CRE Modeling ETUDE FRAMEWORK, SCENARIO ANALYSIS &amp; OUTPUTS  </vt:lpstr>
      <vt:lpstr>ETUDE OUTPUTS</vt:lpstr>
      <vt:lpstr>APPENDIX - CRE Modeling RESIDENTIAL LOANS VERSUS COMMERCIAL LOANS</vt:lpstr>
      <vt:lpstr>APPENDIX - CRE Modeling COMMERCIAL PROPERTY AND Loan basics</vt:lpstr>
      <vt:lpstr>APPENDIX - CRE Modeling FORECASTING Loan outcomeS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Lien Chen</cp:lastModifiedBy>
  <cp:revision>489</cp:revision>
  <cp:lastPrinted>2015-07-20T13:59:22Z</cp:lastPrinted>
  <dcterms:created xsi:type="dcterms:W3CDTF">2015-05-21T20:34:11Z</dcterms:created>
  <dcterms:modified xsi:type="dcterms:W3CDTF">2015-07-20T15:02:34Z</dcterms:modified>
</cp:coreProperties>
</file>