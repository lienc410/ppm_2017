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3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6" d="100"/>
          <a:sy n="136" d="100"/>
        </p:scale>
        <p:origin x="-498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49FF7-43E7-4976-AC82-2132FB70BC1D}" type="datetimeFigureOut">
              <a:rPr lang="en-US" smtClean="0"/>
              <a:t>6/22/2016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DB94-5952-4C29-8391-3CB8F66F2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278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49FF7-43E7-4976-AC82-2132FB70BC1D}" type="datetimeFigureOut">
              <a:rPr lang="en-US" smtClean="0"/>
              <a:t>6/22/2016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DB94-5952-4C29-8391-3CB8F66F2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82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49FF7-43E7-4976-AC82-2132FB70BC1D}" type="datetimeFigureOut">
              <a:rPr lang="en-US" smtClean="0"/>
              <a:t>6/22/2016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DB94-5952-4C29-8391-3CB8F66F2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51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49FF7-43E7-4976-AC82-2132FB70BC1D}" type="datetimeFigureOut">
              <a:rPr lang="en-US" smtClean="0"/>
              <a:t>6/22/2016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DB94-5952-4C29-8391-3CB8F66F2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938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49FF7-43E7-4976-AC82-2132FB70BC1D}" type="datetimeFigureOut">
              <a:rPr lang="en-US" smtClean="0"/>
              <a:t>6/22/2016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DB94-5952-4C29-8391-3CB8F66F2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93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49FF7-43E7-4976-AC82-2132FB70BC1D}" type="datetimeFigureOut">
              <a:rPr lang="en-US" smtClean="0"/>
              <a:t>6/22/2016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DB94-5952-4C29-8391-3CB8F66F2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21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49FF7-43E7-4976-AC82-2132FB70BC1D}" type="datetimeFigureOut">
              <a:rPr lang="en-US" smtClean="0"/>
              <a:t>6/22/2016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DB94-5952-4C29-8391-3CB8F66F2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286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49FF7-43E7-4976-AC82-2132FB70BC1D}" type="datetimeFigureOut">
              <a:rPr lang="en-US" smtClean="0"/>
              <a:t>6/22/2016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DB94-5952-4C29-8391-3CB8F66F2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40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49FF7-43E7-4976-AC82-2132FB70BC1D}" type="datetimeFigureOut">
              <a:rPr lang="en-US" smtClean="0"/>
              <a:t>6/22/2016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DB94-5952-4C29-8391-3CB8F66F2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463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49FF7-43E7-4976-AC82-2132FB70BC1D}" type="datetimeFigureOut">
              <a:rPr lang="en-US" smtClean="0"/>
              <a:t>6/22/2016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DB94-5952-4C29-8391-3CB8F66F2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62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49FF7-43E7-4976-AC82-2132FB70BC1D}" type="datetimeFigureOut">
              <a:rPr lang="en-US" smtClean="0"/>
              <a:t>6/22/2016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DB94-5952-4C29-8391-3CB8F66F2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51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49FF7-43E7-4976-AC82-2132FB70BC1D}" type="datetimeFigureOut">
              <a:rPr lang="en-US" smtClean="0"/>
              <a:t>6/22/2016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DDB94-5952-4C29-8391-3CB8F66F2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98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0610" y="3306807"/>
            <a:ext cx="6839317" cy="101846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1184180" y="3248854"/>
            <a:ext cx="201168" cy="203689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en-US" sz="1000" b="1" dirty="0">
              <a:solidFill>
                <a:schemeClr val="bg2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2028320" y="3248854"/>
            <a:ext cx="201168" cy="203689"/>
          </a:xfrm>
          <a:prstGeom prst="ellipse">
            <a:avLst/>
          </a:prstGeom>
          <a:solidFill>
            <a:schemeClr val="bg2"/>
          </a:solidFill>
          <a:ln w="38100">
            <a:solidFill>
              <a:srgbClr val="2E39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en-US" sz="1000" b="1" dirty="0">
              <a:solidFill>
                <a:schemeClr val="bg2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2872460" y="3248854"/>
            <a:ext cx="201168" cy="203689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en-US" sz="1000" b="1" dirty="0">
              <a:solidFill>
                <a:schemeClr val="bg2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3716600" y="3248854"/>
            <a:ext cx="201168" cy="203689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en-US" sz="1000" b="1" dirty="0">
              <a:solidFill>
                <a:schemeClr val="bg2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4560740" y="3248854"/>
            <a:ext cx="201168" cy="203689"/>
          </a:xfrm>
          <a:prstGeom prst="ellipse">
            <a:avLst/>
          </a:prstGeom>
          <a:solidFill>
            <a:schemeClr val="bg2"/>
          </a:solidFill>
          <a:ln w="38100">
            <a:solidFill>
              <a:srgbClr val="2E39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en-US" sz="1000" b="1" dirty="0">
              <a:solidFill>
                <a:schemeClr val="bg2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404880" y="3248854"/>
            <a:ext cx="201168" cy="203689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en-US" sz="1000" b="1" dirty="0">
              <a:solidFill>
                <a:schemeClr val="bg2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249018" y="3248854"/>
            <a:ext cx="201168" cy="203689"/>
          </a:xfrm>
          <a:prstGeom prst="ellipse">
            <a:avLst/>
          </a:prstGeom>
          <a:solidFill>
            <a:schemeClr val="bg2"/>
          </a:solidFill>
          <a:ln w="38100">
            <a:solidFill>
              <a:srgbClr val="2E39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en-US" sz="1000" b="1" dirty="0">
              <a:solidFill>
                <a:schemeClr val="bg2"/>
              </a:solidFill>
            </a:endParaRPr>
          </a:p>
        </p:txBody>
      </p:sp>
      <p:sp>
        <p:nvSpPr>
          <p:cNvPr id="16" name="Isosceles Triangle 15"/>
          <p:cNvSpPr/>
          <p:nvPr/>
        </p:nvSpPr>
        <p:spPr>
          <a:xfrm flipV="1">
            <a:off x="2071220" y="3487289"/>
            <a:ext cx="132843" cy="138989"/>
          </a:xfrm>
          <a:prstGeom prst="triangle">
            <a:avLst/>
          </a:prstGeom>
          <a:solidFill>
            <a:srgbClr val="2E398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7" name="Isosceles Triangle 16"/>
          <p:cNvSpPr/>
          <p:nvPr/>
        </p:nvSpPr>
        <p:spPr>
          <a:xfrm flipV="1">
            <a:off x="4606540" y="3487289"/>
            <a:ext cx="132843" cy="138989"/>
          </a:xfrm>
          <a:prstGeom prst="triangle">
            <a:avLst/>
          </a:prstGeom>
          <a:solidFill>
            <a:srgbClr val="2E398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8" name="Isosceles Triangle 17"/>
          <p:cNvSpPr/>
          <p:nvPr/>
        </p:nvSpPr>
        <p:spPr>
          <a:xfrm flipV="1">
            <a:off x="6297163" y="3487289"/>
            <a:ext cx="132843" cy="138989"/>
          </a:xfrm>
          <a:prstGeom prst="triangle">
            <a:avLst/>
          </a:prstGeom>
          <a:solidFill>
            <a:srgbClr val="2E398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85071" y="2996048"/>
            <a:ext cx="599386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dirty="0" smtClean="0">
                <a:solidFill>
                  <a:srgbClr val="313131"/>
                </a:solidFill>
              </a:rPr>
              <a:t>12/1</a:t>
            </a:r>
            <a:endParaRPr lang="en-US" sz="1000" dirty="0">
              <a:solidFill>
                <a:srgbClr val="31313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76400" y="3651357"/>
            <a:ext cx="91439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2E398A"/>
                </a:solidFill>
              </a:rPr>
              <a:t>Most Recent Index</a:t>
            </a:r>
            <a:endParaRPr lang="en-US" sz="1200" dirty="0" smtClean="0">
              <a:solidFill>
                <a:srgbClr val="2E398A"/>
              </a:solidFill>
            </a:endParaRPr>
          </a:p>
        </p:txBody>
      </p:sp>
      <p:sp>
        <p:nvSpPr>
          <p:cNvPr id="38" name="Oval 37"/>
          <p:cNvSpPr/>
          <p:nvPr/>
        </p:nvSpPr>
        <p:spPr>
          <a:xfrm>
            <a:off x="7080155" y="3248853"/>
            <a:ext cx="201168" cy="203689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en-US" sz="1000" b="1" dirty="0">
              <a:solidFill>
                <a:schemeClr val="bg2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7924293" y="3248853"/>
            <a:ext cx="201168" cy="203689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en-US" sz="1000" b="1" dirty="0">
              <a:solidFill>
                <a:schemeClr val="bg2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040155" y="2996048"/>
            <a:ext cx="599386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dirty="0" smtClean="0">
                <a:solidFill>
                  <a:srgbClr val="313131"/>
                </a:solidFill>
              </a:rPr>
              <a:t>2/15</a:t>
            </a:r>
            <a:endParaRPr lang="en-US" sz="1000" dirty="0">
              <a:solidFill>
                <a:srgbClr val="31313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670099" y="2996048"/>
            <a:ext cx="599386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dirty="0">
                <a:solidFill>
                  <a:srgbClr val="313131"/>
                </a:solidFill>
              </a:rPr>
              <a:t>1</a:t>
            </a:r>
            <a:r>
              <a:rPr lang="en-US" sz="1000" dirty="0" smtClean="0">
                <a:solidFill>
                  <a:srgbClr val="313131"/>
                </a:solidFill>
              </a:rPr>
              <a:t>/1</a:t>
            </a:r>
            <a:endParaRPr lang="en-US" sz="1000" dirty="0">
              <a:solidFill>
                <a:srgbClr val="31313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512613" y="2996048"/>
            <a:ext cx="599386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dirty="0" smtClean="0">
                <a:solidFill>
                  <a:srgbClr val="313131"/>
                </a:solidFill>
              </a:rPr>
              <a:t>1/15</a:t>
            </a:r>
            <a:endParaRPr lang="en-US" sz="1000" dirty="0">
              <a:solidFill>
                <a:srgbClr val="313131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355127" y="2996048"/>
            <a:ext cx="599386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dirty="0" smtClean="0">
                <a:solidFill>
                  <a:srgbClr val="313131"/>
                </a:solidFill>
              </a:rPr>
              <a:t>2/1</a:t>
            </a:r>
            <a:endParaRPr lang="en-US" sz="1000" dirty="0">
              <a:solidFill>
                <a:srgbClr val="31313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197641" y="2996048"/>
            <a:ext cx="599386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dirty="0" smtClean="0">
                <a:solidFill>
                  <a:srgbClr val="313131"/>
                </a:solidFill>
              </a:rPr>
              <a:t>2/15</a:t>
            </a:r>
            <a:endParaRPr lang="en-US" sz="1000" dirty="0">
              <a:solidFill>
                <a:srgbClr val="31313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827585" y="2996048"/>
            <a:ext cx="599386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dirty="0" smtClean="0">
                <a:solidFill>
                  <a:srgbClr val="313131"/>
                </a:solidFill>
              </a:rPr>
              <a:t>12/15</a:t>
            </a:r>
            <a:endParaRPr lang="en-US" sz="1000" dirty="0">
              <a:solidFill>
                <a:srgbClr val="313131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882669" y="2996048"/>
            <a:ext cx="599386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dirty="0">
                <a:solidFill>
                  <a:srgbClr val="313131"/>
                </a:solidFill>
              </a:rPr>
              <a:t>3</a:t>
            </a:r>
            <a:r>
              <a:rPr lang="en-US" sz="1000" dirty="0" smtClean="0">
                <a:solidFill>
                  <a:srgbClr val="313131"/>
                </a:solidFill>
              </a:rPr>
              <a:t>/1</a:t>
            </a:r>
            <a:endParaRPr lang="en-US" sz="1000" dirty="0">
              <a:solidFill>
                <a:srgbClr val="31313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725184" y="2996048"/>
            <a:ext cx="599386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dirty="0" smtClean="0">
                <a:solidFill>
                  <a:srgbClr val="313131"/>
                </a:solidFill>
              </a:rPr>
              <a:t>3</a:t>
            </a:r>
            <a:r>
              <a:rPr lang="en-US" sz="1000" dirty="0" smtClean="0">
                <a:solidFill>
                  <a:srgbClr val="313131"/>
                </a:solidFill>
              </a:rPr>
              <a:t>/15</a:t>
            </a:r>
            <a:endParaRPr lang="en-US" sz="1000" dirty="0">
              <a:solidFill>
                <a:srgbClr val="31313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215761" y="3651357"/>
            <a:ext cx="91439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2E398A"/>
                </a:solidFill>
              </a:rPr>
              <a:t>Most Recent Index</a:t>
            </a:r>
            <a:endParaRPr lang="en-US" sz="1200" dirty="0" smtClean="0">
              <a:solidFill>
                <a:srgbClr val="2E398A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892402" y="3651357"/>
            <a:ext cx="91439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2E398A"/>
                </a:solidFill>
              </a:rPr>
              <a:t>Payment Change Date</a:t>
            </a:r>
            <a:endParaRPr lang="en-US" sz="1200" dirty="0" smtClean="0">
              <a:solidFill>
                <a:srgbClr val="2E398A"/>
              </a:solidFill>
            </a:endParaRPr>
          </a:p>
        </p:txBody>
      </p:sp>
      <p:sp>
        <p:nvSpPr>
          <p:cNvPr id="58" name="Freeform 26"/>
          <p:cNvSpPr>
            <a:spLocks/>
          </p:cNvSpPr>
          <p:nvPr/>
        </p:nvSpPr>
        <p:spPr bwMode="auto">
          <a:xfrm>
            <a:off x="2114786" y="2789392"/>
            <a:ext cx="2558175" cy="152400"/>
          </a:xfrm>
          <a:custGeom>
            <a:avLst/>
            <a:gdLst>
              <a:gd name="T0" fmla="*/ 0 w 4490"/>
              <a:gd name="T1" fmla="*/ 2147483647 h 91"/>
              <a:gd name="T2" fmla="*/ 0 w 4490"/>
              <a:gd name="T3" fmla="*/ 0 h 91"/>
              <a:gd name="T4" fmla="*/ 2147483647 w 4490"/>
              <a:gd name="T5" fmla="*/ 0 h 91"/>
              <a:gd name="T6" fmla="*/ 2147483647 w 4490"/>
              <a:gd name="T7" fmla="*/ 2147483647 h 91"/>
              <a:gd name="T8" fmla="*/ 0 60000 65536"/>
              <a:gd name="T9" fmla="*/ 0 60000 65536"/>
              <a:gd name="T10" fmla="*/ 0 60000 65536"/>
              <a:gd name="T11" fmla="*/ 0 60000 65536"/>
              <a:gd name="T12" fmla="*/ 0 w 4490"/>
              <a:gd name="T13" fmla="*/ 0 h 91"/>
              <a:gd name="T14" fmla="*/ 4490 w 4490"/>
              <a:gd name="T15" fmla="*/ 91 h 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90" h="91">
                <a:moveTo>
                  <a:pt x="0" y="91"/>
                </a:moveTo>
                <a:lnTo>
                  <a:pt x="0" y="0"/>
                </a:lnTo>
                <a:lnTo>
                  <a:pt x="4490" y="0"/>
                </a:lnTo>
                <a:lnTo>
                  <a:pt x="4490" y="91"/>
                </a:lnTo>
              </a:path>
            </a:pathLst>
          </a:custGeom>
          <a:noFill/>
          <a:ln w="19050">
            <a:solidFill>
              <a:srgbClr val="2E398A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>
              <a:defRPr/>
            </a:pPr>
            <a:endParaRPr lang="en-US" b="1" dirty="0">
              <a:solidFill>
                <a:srgbClr val="575757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114787" y="2558534"/>
            <a:ext cx="254003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2E398A"/>
                </a:solidFill>
              </a:rPr>
              <a:t>45 Day Lookback</a:t>
            </a:r>
            <a:endParaRPr lang="en-US" sz="1200" b="1" dirty="0" smtClean="0">
              <a:solidFill>
                <a:srgbClr val="2E398A"/>
              </a:solidFill>
            </a:endParaRPr>
          </a:p>
        </p:txBody>
      </p:sp>
      <p:sp>
        <p:nvSpPr>
          <p:cNvPr id="60" name="Freeform 26"/>
          <p:cNvSpPr>
            <a:spLocks/>
          </p:cNvSpPr>
          <p:nvPr/>
        </p:nvSpPr>
        <p:spPr bwMode="auto">
          <a:xfrm rot="10800000">
            <a:off x="4672960" y="4024762"/>
            <a:ext cx="1690623" cy="152400"/>
          </a:xfrm>
          <a:custGeom>
            <a:avLst/>
            <a:gdLst>
              <a:gd name="T0" fmla="*/ 0 w 4490"/>
              <a:gd name="T1" fmla="*/ 2147483647 h 91"/>
              <a:gd name="T2" fmla="*/ 0 w 4490"/>
              <a:gd name="T3" fmla="*/ 0 h 91"/>
              <a:gd name="T4" fmla="*/ 2147483647 w 4490"/>
              <a:gd name="T5" fmla="*/ 0 h 91"/>
              <a:gd name="T6" fmla="*/ 2147483647 w 4490"/>
              <a:gd name="T7" fmla="*/ 2147483647 h 91"/>
              <a:gd name="T8" fmla="*/ 0 60000 65536"/>
              <a:gd name="T9" fmla="*/ 0 60000 65536"/>
              <a:gd name="T10" fmla="*/ 0 60000 65536"/>
              <a:gd name="T11" fmla="*/ 0 60000 65536"/>
              <a:gd name="T12" fmla="*/ 0 w 4490"/>
              <a:gd name="T13" fmla="*/ 0 h 91"/>
              <a:gd name="T14" fmla="*/ 4490 w 4490"/>
              <a:gd name="T15" fmla="*/ 91 h 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90" h="91">
                <a:moveTo>
                  <a:pt x="0" y="91"/>
                </a:moveTo>
                <a:lnTo>
                  <a:pt x="0" y="0"/>
                </a:lnTo>
                <a:lnTo>
                  <a:pt x="4490" y="0"/>
                </a:lnTo>
                <a:lnTo>
                  <a:pt x="4490" y="91"/>
                </a:lnTo>
              </a:path>
            </a:pathLst>
          </a:custGeom>
          <a:noFill/>
          <a:ln w="19050">
            <a:solidFill>
              <a:srgbClr val="2E398A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>
              <a:defRPr/>
            </a:pPr>
            <a:endParaRPr lang="en-US" b="1" dirty="0">
              <a:solidFill>
                <a:srgbClr val="575757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672961" y="4202668"/>
            <a:ext cx="169062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2E398A"/>
                </a:solidFill>
              </a:rPr>
              <a:t>New note rate is </a:t>
            </a:r>
          </a:p>
          <a:p>
            <a:pPr algn="ctr"/>
            <a:r>
              <a:rPr lang="en-US" sz="1200" dirty="0" smtClean="0">
                <a:solidFill>
                  <a:srgbClr val="2E398A"/>
                </a:solidFill>
              </a:rPr>
              <a:t>effective starting 2/1</a:t>
            </a:r>
            <a:endParaRPr lang="en-US" sz="1200" dirty="0" smtClean="0">
              <a:solidFill>
                <a:srgbClr val="2E398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212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28</Words>
  <Application>Microsoft Office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Lien Chen</dc:creator>
  <cp:lastModifiedBy>Lien Chen</cp:lastModifiedBy>
  <cp:revision>3</cp:revision>
  <dcterms:created xsi:type="dcterms:W3CDTF">2016-06-22T19:41:50Z</dcterms:created>
  <dcterms:modified xsi:type="dcterms:W3CDTF">2016-06-22T20:10:49Z</dcterms:modified>
</cp:coreProperties>
</file>