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18"/>
  </p:notesMasterIdLst>
  <p:handoutMasterIdLst>
    <p:handoutMasterId r:id="rId19"/>
  </p:handoutMasterIdLst>
  <p:sldIdLst>
    <p:sldId id="631" r:id="rId16"/>
    <p:sldId id="632" r:id="rId17"/>
  </p:sldIdLst>
  <p:sldSz cx="10058400" cy="7772400"/>
  <p:notesSz cx="6934200" cy="9220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D6E3"/>
    <a:srgbClr val="968880"/>
    <a:srgbClr val="2E8A60"/>
    <a:srgbClr val="8C2B18"/>
    <a:srgbClr val="AD275C"/>
    <a:srgbClr val="2E398A"/>
    <a:srgbClr val="C3EBD9"/>
    <a:srgbClr val="CDD1EF"/>
    <a:srgbClr val="996633"/>
    <a:srgbClr val="533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1695" autoAdjust="0"/>
    <p:restoredTop sz="95014" autoAdjust="0"/>
  </p:normalViewPr>
  <p:slideViewPr>
    <p:cSldViewPr snapToGrid="0" snapToObjects="1">
      <p:cViewPr varScale="1">
        <p:scale>
          <a:sx n="127" d="100"/>
          <a:sy n="127" d="100"/>
        </p:scale>
        <p:origin x="-282" y="-96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273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05"/>
        <p:guide pos="218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Slow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invertIfNegative val="0"/>
          <c:dLbls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</c:dLbls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2000</c:v>
                </c:pt>
                <c:pt idx="1">
                  <c:v>1600</c:v>
                </c:pt>
                <c:pt idx="2">
                  <c:v>1280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</c:spPr>
          <c:invertIfNegative val="0"/>
          <c:dLbls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</c:dLbls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4000</c:v>
                </c:pt>
                <c:pt idx="1">
                  <c:v>2000</c:v>
                </c:pt>
                <c:pt idx="2">
                  <c:v>1000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Fast</c:v>
                </c:pt>
              </c:strCache>
            </c:strRef>
          </c:tx>
          <c:spPr>
            <a:solidFill>
              <a:schemeClr val="accent1"/>
            </a:solidFill>
          </c:spPr>
          <c:invertIfNegative val="0"/>
          <c:dLbls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</c:dLbls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4000</c:v>
                </c:pt>
                <c:pt idx="1">
                  <c:v>1000</c:v>
                </c:pt>
                <c:pt idx="2">
                  <c:v>250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67569280"/>
        <c:axId val="167570816"/>
      </c:barChart>
      <c:catAx>
        <c:axId val="167569280"/>
        <c:scaling>
          <c:orientation val="minMax"/>
        </c:scaling>
        <c:delete val="0"/>
        <c:axPos val="b"/>
        <c:majorTickMark val="out"/>
        <c:minorTickMark val="none"/>
        <c:tickLblPos val="nextTo"/>
        <c:crossAx val="167570816"/>
        <c:crosses val="autoZero"/>
        <c:auto val="1"/>
        <c:lblAlgn val="ctr"/>
        <c:lblOffset val="100"/>
        <c:noMultiLvlLbl val="0"/>
      </c:catAx>
      <c:valAx>
        <c:axId val="167570816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crossAx val="16756928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1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Fast</c:v>
                </c:pt>
              </c:strCache>
            </c:strRef>
          </c:tx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mtClean="0"/>
                      <a:t>4,000</a:t>
                    </a:r>
                  </a:p>
                  <a:p>
                    <a:r>
                      <a:rPr lang="en-US" smtClean="0"/>
                      <a:t>40%</a:t>
                    </a:r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</c:spPr>
          </c:dPt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mtClean="0"/>
                      <a:t>4,000</a:t>
                    </a:r>
                  </a:p>
                  <a:p>
                    <a:r>
                      <a:rPr lang="en-US" smtClean="0"/>
                      <a:t>40%</a:t>
                    </a:r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4000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Slow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mtClean="0"/>
                      <a:t>2,000</a:t>
                    </a:r>
                  </a:p>
                  <a:p>
                    <a:r>
                      <a:rPr lang="en-US" smtClean="0"/>
                      <a:t>20%</a:t>
                    </a:r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2000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322624"/>
        <c:axId val="3330048"/>
      </c:barChart>
      <c:catAx>
        <c:axId val="3322624"/>
        <c:scaling>
          <c:orientation val="minMax"/>
        </c:scaling>
        <c:delete val="1"/>
        <c:axPos val="b"/>
        <c:majorTickMark val="out"/>
        <c:minorTickMark val="none"/>
        <c:tickLblPos val="nextTo"/>
        <c:crossAx val="3330048"/>
        <c:crosses val="autoZero"/>
        <c:auto val="1"/>
        <c:lblAlgn val="ctr"/>
        <c:lblOffset val="100"/>
        <c:noMultiLvlLbl val="0"/>
      </c:catAx>
      <c:valAx>
        <c:axId val="333004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332262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Fast</c:v>
                </c:pt>
              </c:strCache>
            </c:strRef>
          </c:tx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mtClean="0"/>
                      <a:t>1,000</a:t>
                    </a:r>
                  </a:p>
                  <a:p>
                    <a:r>
                      <a:rPr lang="en-US" smtClean="0"/>
                      <a:t>22%</a:t>
                    </a:r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mtClean="0"/>
                      <a:t>2,000</a:t>
                    </a:r>
                  </a:p>
                  <a:p>
                    <a:r>
                      <a:rPr lang="en-US" smtClean="0"/>
                      <a:t>43%</a:t>
                    </a:r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Slow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mtClean="0"/>
                      <a:t>1,600</a:t>
                    </a:r>
                  </a:p>
                  <a:p>
                    <a:r>
                      <a:rPr lang="en-US" smtClean="0"/>
                      <a:t>35%</a:t>
                    </a:r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1600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22135680"/>
        <c:axId val="122366208"/>
      </c:barChart>
      <c:catAx>
        <c:axId val="122135680"/>
        <c:scaling>
          <c:orientation val="minMax"/>
        </c:scaling>
        <c:delete val="1"/>
        <c:axPos val="b"/>
        <c:majorTickMark val="out"/>
        <c:minorTickMark val="none"/>
        <c:tickLblPos val="nextTo"/>
        <c:crossAx val="122366208"/>
        <c:crosses val="autoZero"/>
        <c:auto val="1"/>
        <c:lblAlgn val="ctr"/>
        <c:lblOffset val="100"/>
        <c:noMultiLvlLbl val="0"/>
      </c:catAx>
      <c:valAx>
        <c:axId val="12236620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2213568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Fast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9.9942164731771314E-3"/>
                </c:manualLayout>
              </c:layout>
              <c:tx>
                <c:rich>
                  <a:bodyPr/>
                  <a:lstStyle/>
                  <a:p>
                    <a:r>
                      <a:rPr lang="en-US" dirty="0" smtClean="0"/>
                      <a:t>250</a:t>
                    </a:r>
                  </a:p>
                  <a:p>
                    <a:r>
                      <a:rPr lang="en-US" dirty="0" smtClean="0"/>
                      <a:t>18%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mtClean="0"/>
                      <a:t>1,000</a:t>
                    </a:r>
                  </a:p>
                  <a:p>
                    <a:r>
                      <a:rPr lang="en-US" smtClean="0"/>
                      <a:t>36%</a:t>
                    </a:r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1000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Slow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</c:spPr>
          <c:invertIfNegative val="0"/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 smtClean="0"/>
                      <a:t>1,280</a:t>
                    </a:r>
                  </a:p>
                  <a:p>
                    <a:r>
                      <a:rPr lang="en-US" smtClean="0"/>
                      <a:t>46%</a:t>
                    </a:r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1280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55882624"/>
        <c:axId val="187635200"/>
      </c:barChart>
      <c:catAx>
        <c:axId val="155882624"/>
        <c:scaling>
          <c:orientation val="minMax"/>
        </c:scaling>
        <c:delete val="1"/>
        <c:axPos val="b"/>
        <c:majorTickMark val="out"/>
        <c:minorTickMark val="none"/>
        <c:tickLblPos val="nextTo"/>
        <c:crossAx val="187635200"/>
        <c:crosses val="autoZero"/>
        <c:auto val="1"/>
        <c:lblAlgn val="ctr"/>
        <c:lblOffset val="100"/>
        <c:noMultiLvlLbl val="0"/>
      </c:catAx>
      <c:valAx>
        <c:axId val="18763520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5588262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81" y="6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30313" y="692150"/>
            <a:ext cx="4473575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9" y="4380236"/>
            <a:ext cx="5546725" cy="4147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81" y="8758882"/>
            <a:ext cx="3005138" cy="459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64" tIns="45781" rIns="91564" bIns="45781" numCol="1" anchor="b" anchorCtr="0" compatLnSpc="1">
            <a:prstTxWarp prst="textNoShape">
              <a:avLst/>
            </a:prstTxWarp>
          </a:bodyPr>
          <a:lstStyle>
            <a:lvl1pPr algn="r" defTabSz="912925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Burnout</a:t>
            </a:r>
            <a:endParaRPr lang="en-US" dirty="0">
              <a:latin typeface="+mn-lt"/>
            </a:endParaRPr>
          </a:p>
        </p:txBody>
      </p:sp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546807331"/>
              </p:ext>
            </p:extLst>
          </p:nvPr>
        </p:nvGraphicFramePr>
        <p:xfrm>
          <a:off x="1623934" y="2805241"/>
          <a:ext cx="6705600" cy="4105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" name="Right Arrow 18"/>
          <p:cNvSpPr/>
          <p:nvPr/>
        </p:nvSpPr>
        <p:spPr>
          <a:xfrm>
            <a:off x="3939914" y="4729395"/>
            <a:ext cx="307299" cy="35226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/>
          <p:cNvSpPr/>
          <p:nvPr/>
        </p:nvSpPr>
        <p:spPr>
          <a:xfrm>
            <a:off x="6011055" y="4729394"/>
            <a:ext cx="307299" cy="35226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548427"/>
              </p:ext>
            </p:extLst>
          </p:nvPr>
        </p:nvGraphicFramePr>
        <p:xfrm>
          <a:off x="2428406" y="1411837"/>
          <a:ext cx="535149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830"/>
                <a:gridCol w="1783830"/>
                <a:gridCol w="178383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Fast</a:t>
                      </a:r>
                      <a:endParaRPr lang="en-US" sz="1200" dirty="0"/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accent1"/>
                          </a:solidFill>
                        </a:rPr>
                        <a:t>Medium</a:t>
                      </a:r>
                      <a:endParaRPr lang="en-US" sz="12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accent1"/>
                          </a:solidFill>
                        </a:rPr>
                        <a:t>Slow</a:t>
                      </a:r>
                      <a:endParaRPr lang="en-US" sz="12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75%</a:t>
                      </a:r>
                      <a:endParaRPr lang="en-US" sz="1200" dirty="0"/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20%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25" name="Straight Connector 24"/>
          <p:cNvCxnSpPr/>
          <p:nvPr/>
        </p:nvCxnSpPr>
        <p:spPr>
          <a:xfrm flipV="1">
            <a:off x="2885611" y="1240276"/>
            <a:ext cx="435464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25056" y="1101777"/>
            <a:ext cx="259329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Borrower Prepayment Rate (% CPR)</a:t>
            </a:r>
            <a:endParaRPr lang="en-US" sz="1200" b="1" dirty="0">
              <a:latin typeface="+mn-lt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 flipV="1">
            <a:off x="2885611" y="2719303"/>
            <a:ext cx="4354642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156022" y="2580804"/>
            <a:ext cx="1622686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Borrower Distribution</a:t>
            </a:r>
            <a:endParaRPr lang="en-US" sz="1200" b="1" dirty="0">
              <a:latin typeface="+mn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91259" y="6854938"/>
            <a:ext cx="25708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i="1" dirty="0" smtClean="0">
                <a:latin typeface="+mn-lt"/>
              </a:rPr>
              <a:t>Pool Prepayment Rate = 58% CPR</a:t>
            </a:r>
            <a:endParaRPr lang="en-US" sz="1000" i="1" dirty="0">
              <a:latin typeface="+mn-l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939914" y="6854938"/>
            <a:ext cx="25708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i="1" dirty="0" smtClean="0">
                <a:latin typeface="+mn-lt"/>
              </a:rPr>
              <a:t>= 49% CPR</a:t>
            </a:r>
            <a:endParaRPr lang="en-US" sz="1000" i="1" dirty="0">
              <a:latin typeface="+mn-lt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54846" y="6854938"/>
            <a:ext cx="25708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i="1" dirty="0" smtClean="0">
                <a:latin typeface="+mn-lt"/>
              </a:rPr>
              <a:t>= 45% CPR</a:t>
            </a:r>
            <a:endParaRPr lang="en-US" sz="1000" i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0826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7587" y="219672"/>
            <a:ext cx="6806130" cy="677966"/>
          </a:xfrm>
        </p:spPr>
        <p:txBody>
          <a:bodyPr/>
          <a:lstStyle/>
          <a:p>
            <a:r>
              <a:rPr lang="en-US" sz="1600" dirty="0" smtClean="0">
                <a:latin typeface="+mn-lt"/>
              </a:rPr>
              <a:t>Burnout</a:t>
            </a:r>
            <a:endParaRPr lang="en-US" dirty="0">
              <a:latin typeface="+mn-lt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745336"/>
              </p:ext>
            </p:extLst>
          </p:nvPr>
        </p:nvGraphicFramePr>
        <p:xfrm>
          <a:off x="2428406" y="1299412"/>
          <a:ext cx="535149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830"/>
                <a:gridCol w="1783830"/>
                <a:gridCol w="178383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Fast</a:t>
                      </a:r>
                      <a:endParaRPr lang="en-US" sz="1200" dirty="0"/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accent1"/>
                          </a:solidFill>
                        </a:rPr>
                        <a:t>Medium</a:t>
                      </a:r>
                      <a:endParaRPr lang="en-US" sz="12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>
                          <a:solidFill>
                            <a:schemeClr val="accent1"/>
                          </a:solidFill>
                        </a:rPr>
                        <a:t>Slow</a:t>
                      </a:r>
                      <a:endParaRPr lang="en-US" sz="12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75%</a:t>
                      </a:r>
                      <a:endParaRPr lang="en-US" sz="1200" dirty="0"/>
                    </a:p>
                  </a:txBody>
                  <a:tcPr anchor="ctr"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50%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20%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725056" y="989352"/>
            <a:ext cx="259329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Borrower Prepayment Rate (% CPR)</a:t>
            </a:r>
            <a:endParaRPr lang="en-US" sz="1200" b="1" dirty="0">
              <a:latin typeface="+mn-lt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2646774758"/>
              </p:ext>
            </p:extLst>
          </p:nvPr>
        </p:nvGraphicFramePr>
        <p:xfrm>
          <a:off x="886918" y="2209640"/>
          <a:ext cx="8409482" cy="1605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/>
          <p:cNvGraphicFramePr/>
          <p:nvPr>
            <p:extLst>
              <p:ext uri="{D42A27DB-BD31-4B8C-83A1-F6EECF244321}">
                <p14:modId xmlns:p14="http://schemas.microsoft.com/office/powerpoint/2010/main" val="1414083473"/>
              </p:ext>
            </p:extLst>
          </p:nvPr>
        </p:nvGraphicFramePr>
        <p:xfrm>
          <a:off x="886918" y="3798599"/>
          <a:ext cx="8409482" cy="16303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3619923915"/>
              </p:ext>
            </p:extLst>
          </p:nvPr>
        </p:nvGraphicFramePr>
        <p:xfrm>
          <a:off x="886918" y="5547447"/>
          <a:ext cx="8409482" cy="15953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725056" y="2318479"/>
            <a:ext cx="257081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Borrower Distribution For Year 1</a:t>
            </a:r>
            <a:endParaRPr lang="en-US" sz="1200" b="1" dirty="0">
              <a:latin typeface="+mn-l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25056" y="4105894"/>
            <a:ext cx="257081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Borrower Distribution For Year 2</a:t>
            </a:r>
            <a:endParaRPr lang="en-US" sz="1200" b="1" dirty="0">
              <a:latin typeface="+mn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25056" y="5640045"/>
            <a:ext cx="2570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+mn-lt"/>
              </a:rPr>
              <a:t>Borrower Distribution For Year 3</a:t>
            </a:r>
            <a:endParaRPr lang="en-US" sz="1200" b="1" dirty="0">
              <a:latin typeface="+mn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65030" y="3660099"/>
            <a:ext cx="25708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>
                <a:latin typeface="+mn-lt"/>
              </a:rPr>
              <a:t>Pool Prepayment Rate = 58% CPR</a:t>
            </a:r>
            <a:endParaRPr lang="en-US" sz="1000" dirty="0">
              <a:latin typeface="+mn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65030" y="5301226"/>
            <a:ext cx="25708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>
                <a:latin typeface="+mn-lt"/>
              </a:rPr>
              <a:t>Pool Prepayment Rate = 49% CPR</a:t>
            </a:r>
            <a:endParaRPr lang="en-US" sz="1000" dirty="0"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25055" y="6967237"/>
            <a:ext cx="25708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>
                <a:latin typeface="+mn-lt"/>
              </a:rPr>
              <a:t>Pool Prepayment Rate = 45% CPR</a:t>
            </a:r>
            <a:endParaRPr lang="en-US" sz="1000" dirty="0">
              <a:latin typeface="+mn-lt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383436" y="2617963"/>
            <a:ext cx="539646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2413416" y="4380076"/>
            <a:ext cx="539646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413416" y="5880822"/>
            <a:ext cx="539646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418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91024</TotalTime>
  <Words>112</Words>
  <Application>Microsoft Office PowerPoint</Application>
  <PresentationFormat>Custom</PresentationFormat>
  <Paragraphs>44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2</vt:i4>
      </vt:variant>
    </vt:vector>
  </HeadingPairs>
  <TitlesOfParts>
    <vt:vector size="17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Burnout</vt:lpstr>
      <vt:lpstr>Burnout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Lien Chen</cp:lastModifiedBy>
  <cp:revision>2149</cp:revision>
  <cp:lastPrinted>2016-03-29T19:25:13Z</cp:lastPrinted>
  <dcterms:created xsi:type="dcterms:W3CDTF">2011-07-07T12:37:32Z</dcterms:created>
  <dcterms:modified xsi:type="dcterms:W3CDTF">2016-06-17T19:24:15Z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