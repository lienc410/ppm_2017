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4"/>
  </p:notesMasterIdLst>
  <p:handoutMasterIdLst>
    <p:handoutMasterId r:id="rId25"/>
  </p:handoutMasterIdLst>
  <p:sldIdLst>
    <p:sldId id="606" r:id="rId16"/>
    <p:sldId id="607" r:id="rId17"/>
    <p:sldId id="608" r:id="rId18"/>
    <p:sldId id="609" r:id="rId19"/>
    <p:sldId id="610" r:id="rId20"/>
    <p:sldId id="611" r:id="rId21"/>
    <p:sldId id="612" r:id="rId22"/>
    <p:sldId id="613" r:id="rId23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46" d="100"/>
          <a:sy n="146" d="100"/>
        </p:scale>
        <p:origin x="-156" y="-90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Current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569782"/>
              </p:ext>
            </p:extLst>
          </p:nvPr>
        </p:nvGraphicFramePr>
        <p:xfrm>
          <a:off x="442912" y="2089150"/>
          <a:ext cx="4110038" cy="296672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OWNER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89320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origPMI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1.83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124450" y="1104900"/>
            <a:ext cx="471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Step 1: Find the right version of MIGC document based on loan origination date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1231"/>
            <a:ext cx="2400306" cy="382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5581649"/>
            <a:ext cx="2408328" cy="161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781" y="1751231"/>
            <a:ext cx="686893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Rectangle 38"/>
          <p:cNvSpPr/>
          <p:nvPr/>
        </p:nvSpPr>
        <p:spPr>
          <a:xfrm>
            <a:off x="8904780" y="1761390"/>
            <a:ext cx="686893" cy="7804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Current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766950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Step 2: Find the MI premium based on loan info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1231"/>
            <a:ext cx="2400306" cy="382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5581649"/>
            <a:ext cx="2408328" cy="161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781" y="1751231"/>
            <a:ext cx="686893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391400" y="2654300"/>
            <a:ext cx="450850" cy="158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34074" y="6311900"/>
            <a:ext cx="1200153" cy="1587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34074" y="6007100"/>
            <a:ext cx="1200153" cy="1587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9106" y="5105400"/>
            <a:ext cx="4719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As LTV greater than the largest number in the table, we assigned the max number (or a number of 1000 bps) to the base MI.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2202180" y="5844064"/>
            <a:ext cx="636559" cy="3217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1" y="6319520"/>
            <a:ext cx="3893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We will have a PMI of </a:t>
            </a:r>
            <a:r>
              <a:rPr lang="en-US" sz="1400" b="1" dirty="0" smtClean="0">
                <a:latin typeface="+mn-lt"/>
              </a:rPr>
              <a:t>110 bps </a:t>
            </a:r>
            <a:r>
              <a:rPr lang="en-US" sz="1400" dirty="0" smtClean="0">
                <a:latin typeface="+mn-lt"/>
              </a:rPr>
              <a:t>for the loan.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040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Current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42479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79106" y="5105400"/>
            <a:ext cx="4719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As LTV greater than the largest number in the table, we assigned the max number (or a number of 1000 bps) to the base MI.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2202180" y="5844064"/>
            <a:ext cx="636559" cy="32178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1" y="6319520"/>
            <a:ext cx="3893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We will have a PMI of </a:t>
            </a:r>
            <a:r>
              <a:rPr lang="en-US" sz="1400" b="1" dirty="0" smtClean="0">
                <a:latin typeface="+mn-lt"/>
              </a:rPr>
              <a:t>110 bps </a:t>
            </a:r>
            <a:r>
              <a:rPr lang="en-US" sz="1400" dirty="0" smtClean="0">
                <a:latin typeface="+mn-lt"/>
              </a:rPr>
              <a:t>for the loan.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7" name="Isosceles Triangle 6"/>
          <p:cNvSpPr/>
          <p:nvPr/>
        </p:nvSpPr>
        <p:spPr>
          <a:xfrm rot="5400000">
            <a:off x="4429388" y="3725545"/>
            <a:ext cx="1697990" cy="220980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728480" y="2058670"/>
            <a:ext cx="4037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110 bps </a:t>
            </a:r>
            <a:r>
              <a:rPr lang="en-US" sz="1400" dirty="0" smtClean="0">
                <a:latin typeface="+mn-lt"/>
              </a:rPr>
              <a:t>is miss leading, as the HARP loan borrowers pay no MI or carry over their MI from previous loan.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7252479" y="2723039"/>
            <a:ext cx="636559" cy="32178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728480" y="3140710"/>
            <a:ext cx="4037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We need to find out what’s the MI HARP borrowers were paying before they refinance.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28480" y="4155460"/>
            <a:ext cx="4037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Problem:</a:t>
            </a:r>
          </a:p>
          <a:p>
            <a:r>
              <a:rPr lang="en-US" sz="1400" dirty="0" smtClean="0">
                <a:latin typeface="+mn-lt"/>
              </a:rPr>
              <a:t>We don’t have information for their previous loan.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7252479" y="3760629"/>
            <a:ext cx="636559" cy="32178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728480" y="5315784"/>
            <a:ext cx="40372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Passible solution:</a:t>
            </a:r>
          </a:p>
          <a:p>
            <a:r>
              <a:rPr lang="en-US" sz="1400" dirty="0" smtClean="0">
                <a:latin typeface="+mn-lt"/>
              </a:rPr>
              <a:t>One information we can use is the </a:t>
            </a:r>
            <a:r>
              <a:rPr lang="en-US" sz="1400" dirty="0" err="1" smtClean="0">
                <a:latin typeface="+mn-lt"/>
              </a:rPr>
              <a:t>pctMtgIns</a:t>
            </a:r>
            <a:r>
              <a:rPr lang="en-US" sz="1400" dirty="0" smtClean="0">
                <a:latin typeface="+mn-lt"/>
              </a:rPr>
              <a:t> which is the MI coverage level.</a:t>
            </a:r>
          </a:p>
          <a:p>
            <a:r>
              <a:rPr lang="en-US" sz="1400" dirty="0">
                <a:latin typeface="+mn-lt"/>
              </a:rPr>
              <a:t>We could use </a:t>
            </a:r>
            <a:r>
              <a:rPr lang="en-US" sz="1400" dirty="0" smtClean="0">
                <a:latin typeface="+mn-lt"/>
              </a:rPr>
              <a:t>the coverage level to look up MI rates from MGIC documents before 2009/06.</a:t>
            </a:r>
            <a:endParaRPr lang="en-US" sz="1400" dirty="0">
              <a:latin typeface="+mn-lt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7252478" y="4920953"/>
            <a:ext cx="636559" cy="32178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7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Update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062998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124450" y="1104900"/>
            <a:ext cx="471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Step 1: Find the historical version of MIGC document before June 2009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34" y="1751231"/>
            <a:ext cx="2883128" cy="3937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831" y="5791946"/>
            <a:ext cx="2935333" cy="135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284" y="1804530"/>
            <a:ext cx="1254506" cy="42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503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Update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916976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Step 2: Look up the MI coverage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34" y="1751231"/>
            <a:ext cx="2883128" cy="3937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831" y="5791946"/>
            <a:ext cx="2935333" cy="135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284" y="1804530"/>
            <a:ext cx="1254506" cy="42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79106" y="5105400"/>
            <a:ext cx="4719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Problem:</a:t>
            </a:r>
          </a:p>
          <a:p>
            <a:r>
              <a:rPr lang="en-US" sz="1400" dirty="0" smtClean="0">
                <a:latin typeface="+mn-lt"/>
              </a:rPr>
              <a:t>We have 20% MI coverage for each of the LTV buckets</a:t>
            </a:r>
            <a:endParaRPr lang="en-US" sz="1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03816" y="3176813"/>
            <a:ext cx="1182681" cy="2391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03817" y="3977640"/>
            <a:ext cx="1182681" cy="1436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503817" y="4931230"/>
            <a:ext cx="1182681" cy="1436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7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Update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332556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Step 2: Look up the MI coverage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34" y="1751231"/>
            <a:ext cx="2883128" cy="3937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831" y="5791946"/>
            <a:ext cx="2935333" cy="135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284" y="1804530"/>
            <a:ext cx="1254506" cy="42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79106" y="5105400"/>
            <a:ext cx="4719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Problem:</a:t>
            </a:r>
          </a:p>
          <a:p>
            <a:r>
              <a:rPr lang="en-US" sz="1400" dirty="0" smtClean="0">
                <a:latin typeface="+mn-lt"/>
              </a:rPr>
              <a:t>We have 20% MI coverage for each of the LTV buckets</a:t>
            </a:r>
            <a:endParaRPr lang="en-US" sz="1400" dirty="0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03817" y="3977640"/>
            <a:ext cx="1182681" cy="1436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99564" y="5926970"/>
            <a:ext cx="4719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Solution:</a:t>
            </a:r>
          </a:p>
          <a:p>
            <a:r>
              <a:rPr lang="en-US" sz="1400" dirty="0" smtClean="0">
                <a:latin typeface="+mn-lt"/>
              </a:rPr>
              <a:t>Check the LTV distribution of loans with MI coverage of 20%. Choose the LTV bucket with </a:t>
            </a:r>
            <a:r>
              <a:rPr lang="en-US" sz="1400" dirty="0">
                <a:latin typeface="+mn-lt"/>
              </a:rPr>
              <a:t>the majority of loans </a:t>
            </a:r>
            <a:r>
              <a:rPr lang="en-US" sz="1400" dirty="0" smtClean="0">
                <a:latin typeface="+mn-lt"/>
              </a:rPr>
              <a:t>fall in.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004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Update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16714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Step 2: Look up the MI coverage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34" y="1751231"/>
            <a:ext cx="2883128" cy="3937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831" y="5791946"/>
            <a:ext cx="2935333" cy="135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284" y="1804530"/>
            <a:ext cx="1254506" cy="42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503817" y="3977640"/>
            <a:ext cx="1182681" cy="1436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9106" y="5105400"/>
            <a:ext cx="4719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From the historical MI document, we assign 52 MI to the example loan, instead of 110 bps.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2202180" y="5844064"/>
            <a:ext cx="636559" cy="32178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56261" y="6319520"/>
            <a:ext cx="3893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Makes the incentive 58 bps lower.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425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 suggested MI coverage look up table</a:t>
            </a:r>
            <a:endParaRPr lang="en-US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6913" y="1075912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Step 2: Look up the MI coverage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97" y="1722243"/>
            <a:ext cx="2883128" cy="3937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94" y="5762958"/>
            <a:ext cx="2935333" cy="135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747" y="1775542"/>
            <a:ext cx="1254506" cy="42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808617"/>
              </p:ext>
            </p:extLst>
          </p:nvPr>
        </p:nvGraphicFramePr>
        <p:xfrm>
          <a:off x="5747656" y="2199279"/>
          <a:ext cx="3823062" cy="3357270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274354"/>
                <a:gridCol w="1274354"/>
                <a:gridCol w="1274354"/>
              </a:tblGrid>
              <a:tr h="3730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MI From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To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MI Premium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6" name="Isosceles Triangle 15"/>
          <p:cNvSpPr/>
          <p:nvPr/>
        </p:nvSpPr>
        <p:spPr>
          <a:xfrm rot="5400000">
            <a:off x="4429388" y="3725545"/>
            <a:ext cx="1697990" cy="220980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2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87197</TotalTime>
  <Words>541</Words>
  <Application>Microsoft Office PowerPoint</Application>
  <PresentationFormat>Custom</PresentationFormat>
  <Paragraphs>175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Current MI Calculation</vt:lpstr>
      <vt:lpstr>Current MI Calculation</vt:lpstr>
      <vt:lpstr>Current MI Calculation</vt:lpstr>
      <vt:lpstr>Update MI Calculation</vt:lpstr>
      <vt:lpstr>Update MI Calculation</vt:lpstr>
      <vt:lpstr>Update MI Calculation</vt:lpstr>
      <vt:lpstr>Update MI Calculation</vt:lpstr>
      <vt:lpstr>A suggested MI coverage look up table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2056</cp:revision>
  <cp:lastPrinted>2014-08-14T21:45:56Z</cp:lastPrinted>
  <dcterms:created xsi:type="dcterms:W3CDTF">2011-07-07T12:37:32Z</dcterms:created>
  <dcterms:modified xsi:type="dcterms:W3CDTF">2016-03-14T19:46:47Z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