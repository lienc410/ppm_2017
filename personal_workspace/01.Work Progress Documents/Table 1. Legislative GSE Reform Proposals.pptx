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80" d="100"/>
          <a:sy n="180" d="100"/>
        </p:scale>
        <p:origin x="-156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BFE7606-CC3F-4C2E-9597-30EC0815C45C}" type="datetimeFigureOut">
              <a:rPr lang="en-US" smtClean="0"/>
              <a:t>6/23/2016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3921504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FE7606-CC3F-4C2E-9597-30EC0815C45C}" type="datetimeFigureOut">
              <a:rPr lang="en-US" smtClean="0"/>
              <a:t>6/23/2016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2719487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BFE7606-CC3F-4C2E-9597-30EC0815C45C}" type="datetimeFigureOut">
              <a:rPr lang="en-US" smtClean="0"/>
              <a:t>6/23/2016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909258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FE7606-CC3F-4C2E-9597-30EC0815C45C}" type="datetimeFigureOut">
              <a:rPr lang="en-US" smtClean="0"/>
              <a:t>6/23/2016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248607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BFE7606-CC3F-4C2E-9597-30EC0815C45C}" type="datetimeFigureOut">
              <a:rPr lang="en-US" smtClean="0"/>
              <a:t>6/23/2016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4071617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FE7606-CC3F-4C2E-9597-30EC0815C45C}" type="datetimeFigureOut">
              <a:rPr lang="en-US" smtClean="0"/>
              <a:t>6/23/2016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373965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FE7606-CC3F-4C2E-9597-30EC0815C45C}" type="datetimeFigureOut">
              <a:rPr lang="en-US" smtClean="0"/>
              <a:t>6/23/2016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57469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FE7606-CC3F-4C2E-9597-30EC0815C45C}" type="datetimeFigureOut">
              <a:rPr lang="en-US" smtClean="0"/>
              <a:t>6/23/2016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1315263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FE7606-CC3F-4C2E-9597-30EC0815C45C}" type="datetimeFigureOut">
              <a:rPr lang="en-US" smtClean="0"/>
              <a:t>6/23/2016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132883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FE7606-CC3F-4C2E-9597-30EC0815C45C}" type="datetimeFigureOut">
              <a:rPr lang="en-US" smtClean="0"/>
              <a:t>6/23/2016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2632555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FE7606-CC3F-4C2E-9597-30EC0815C45C}" type="datetimeFigureOut">
              <a:rPr lang="en-US" smtClean="0"/>
              <a:t>6/23/2016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772B4-22A7-4BDA-94B5-22055B621B24}" type="slidenum">
              <a:rPr lang="en-US" smtClean="0"/>
              <a:t>‹#›</a:t>
            </a:fld>
            <a:endParaRPr lang="en-US"/>
          </a:p>
        </p:txBody>
      </p:sp>
    </p:spTree>
    <p:extLst>
      <p:ext uri="{BB962C8B-B14F-4D97-AF65-F5344CB8AC3E}">
        <p14:creationId xmlns:p14="http://schemas.microsoft.com/office/powerpoint/2010/main" val="845260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FE7606-CC3F-4C2E-9597-30EC0815C45C}" type="datetimeFigureOut">
              <a:rPr lang="en-US" smtClean="0"/>
              <a:t>6/23/2016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772B4-22A7-4BDA-94B5-22055B621B24}" type="slidenum">
              <a:rPr lang="en-US" smtClean="0"/>
              <a:t>‹#›</a:t>
            </a:fld>
            <a:endParaRPr lang="en-US"/>
          </a:p>
        </p:txBody>
      </p:sp>
    </p:spTree>
    <p:extLst>
      <p:ext uri="{BB962C8B-B14F-4D97-AF65-F5344CB8AC3E}">
        <p14:creationId xmlns:p14="http://schemas.microsoft.com/office/powerpoint/2010/main" val="39831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198787732"/>
              </p:ext>
            </p:extLst>
          </p:nvPr>
        </p:nvGraphicFramePr>
        <p:xfrm>
          <a:off x="685800" y="1600200"/>
          <a:ext cx="8077200" cy="4013200"/>
        </p:xfrm>
        <a:graphic>
          <a:graphicData uri="http://schemas.openxmlformats.org/drawingml/2006/table">
            <a:tbl>
              <a:tblPr firstRow="1" bandRow="1">
                <a:tableStyleId>{6E25E649-3F16-4E02-A733-19D2CDBF48F0}</a:tableStyleId>
              </a:tblPr>
              <a:tblGrid>
                <a:gridCol w="1295400"/>
                <a:gridCol w="3390900"/>
                <a:gridCol w="3390900"/>
              </a:tblGrid>
              <a:tr h="370840">
                <a:tc>
                  <a:txBody>
                    <a:bodyPr/>
                    <a:lstStyle/>
                    <a:p>
                      <a:endParaRPr lang="en-US" sz="800" dirty="0"/>
                    </a:p>
                  </a:txBody>
                  <a:tcPr/>
                </a:tc>
                <a:tc>
                  <a:txBody>
                    <a:bodyPr/>
                    <a:lstStyle/>
                    <a:p>
                      <a:pPr algn="ctr"/>
                      <a:r>
                        <a:rPr lang="en-US" sz="800" dirty="0" smtClean="0"/>
                        <a:t>H.R. 2767 Protecting American Taxpayers and Homeowners Act of 2013</a:t>
                      </a:r>
                    </a:p>
                    <a:p>
                      <a:pPr algn="ctr"/>
                      <a:r>
                        <a:rPr lang="en-US" sz="800" dirty="0" smtClean="0"/>
                        <a:t>(PATH Act)</a:t>
                      </a:r>
                      <a:endParaRPr lang="en-US" sz="800" dirty="0"/>
                    </a:p>
                  </a:txBody>
                  <a:tcPr/>
                </a:tc>
                <a:tc>
                  <a:txBody>
                    <a:bodyPr/>
                    <a:lstStyle/>
                    <a:p>
                      <a:pPr algn="ctr"/>
                      <a:r>
                        <a:rPr lang="en-US" sz="800" dirty="0" smtClean="0"/>
                        <a:t>S. 1217 Housing Finance Reform and Taxpayer Protection Act of 2014</a:t>
                      </a:r>
                    </a:p>
                    <a:p>
                      <a:pPr algn="ctr"/>
                      <a:r>
                        <a:rPr lang="en-US" sz="800" dirty="0" smtClean="0"/>
                        <a:t>(Corker-Warner Bill, amended as Johnson-Crapo Bill)</a:t>
                      </a:r>
                      <a:endParaRPr lang="en-US" sz="800" dirty="0"/>
                    </a:p>
                  </a:txBody>
                  <a:tcPr/>
                </a:tc>
              </a:tr>
              <a:tr h="370840">
                <a:tc>
                  <a:txBody>
                    <a:bodyPr/>
                    <a:lstStyle/>
                    <a:p>
                      <a:r>
                        <a:rPr lang="en-US" sz="800" dirty="0" smtClean="0"/>
                        <a:t>Overall objective</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dirty="0" smtClean="0"/>
                        <a:t>End federal control of and privatize the housing finance system</a:t>
                      </a:r>
                    </a:p>
                  </a:txBody>
                  <a:tcPr anchor="ctr"/>
                </a:tc>
                <a:tc>
                  <a:txBody>
                    <a:bodyPr/>
                    <a:lstStyle/>
                    <a:p>
                      <a:r>
                        <a:rPr lang="en-US" sz="800" dirty="0" smtClean="0"/>
                        <a:t>A reduced, explicit role for federal government paid for by mortgage borrowers</a:t>
                      </a:r>
                    </a:p>
                  </a:txBody>
                  <a:tcPr anchor="ctr"/>
                </a:tc>
              </a:tr>
              <a:tr h="370840">
                <a:tc>
                  <a:txBody>
                    <a:bodyPr/>
                    <a:lstStyle/>
                    <a:p>
                      <a:r>
                        <a:rPr lang="en-US" sz="800" dirty="0" smtClean="0"/>
                        <a:t>Ultimate GSE footprint</a:t>
                      </a:r>
                      <a:endParaRPr lang="en-US" sz="800" dirty="0"/>
                    </a:p>
                  </a:txBody>
                  <a:tcPr anchor="ctr"/>
                </a:tc>
                <a:tc>
                  <a:txBody>
                    <a:bodyPr/>
                    <a:lstStyle/>
                    <a:p>
                      <a:r>
                        <a:rPr lang="en-US" sz="800" dirty="0" smtClean="0"/>
                        <a:t>Full phase-out of the GSEs within five years</a:t>
                      </a:r>
                      <a:endParaRPr lang="en-US" sz="800" dirty="0"/>
                    </a:p>
                  </a:txBody>
                  <a:tcPr anchor="ctr"/>
                </a:tc>
                <a:tc>
                  <a:txBody>
                    <a:bodyPr/>
                    <a:lstStyle/>
                    <a:p>
                      <a:r>
                        <a:rPr lang="en-US" sz="800" dirty="0" smtClean="0"/>
                        <a:t>Complete wind-down over five years</a:t>
                      </a:r>
                      <a:endParaRPr lang="en-US" sz="800" dirty="0"/>
                    </a:p>
                  </a:txBody>
                  <a:tcPr anchor="ctr"/>
                </a:tc>
              </a:tr>
              <a:tr h="370840">
                <a:tc>
                  <a:txBody>
                    <a:bodyPr/>
                    <a:lstStyle/>
                    <a:p>
                      <a:r>
                        <a:rPr lang="en-US" sz="800" dirty="0" smtClean="0"/>
                        <a:t>Path for GSE portfolio</a:t>
                      </a:r>
                      <a:endParaRPr lang="en-US" sz="800" dirty="0"/>
                    </a:p>
                  </a:txBody>
                  <a:tcPr anchor="ctr"/>
                </a:tc>
                <a:tc>
                  <a:txBody>
                    <a:bodyPr/>
                    <a:lstStyle/>
                    <a:p>
                      <a:r>
                        <a:rPr lang="en-US" sz="800" dirty="0" smtClean="0"/>
                        <a:t>GSEs put into receivership and their assets sold off</a:t>
                      </a:r>
                      <a:endParaRPr lang="en-US" sz="800" dirty="0"/>
                    </a:p>
                  </a:txBody>
                  <a:tcPr anchor="ctr"/>
                </a:tc>
                <a:tc>
                  <a:txBody>
                    <a:bodyPr/>
                    <a:lstStyle/>
                    <a:p>
                      <a:r>
                        <a:rPr lang="en-US" sz="800" dirty="0" smtClean="0"/>
                        <a:t>Cease issuance of new guarantees and other new business within five years after enactment, reduce portfolio at a rate of 15 percent per year in the interim</a:t>
                      </a:r>
                      <a:endParaRPr lang="en-US" sz="800" dirty="0"/>
                    </a:p>
                  </a:txBody>
                  <a:tcPr anchor="ctr"/>
                </a:tc>
              </a:tr>
              <a:tr h="370840">
                <a:tc>
                  <a:txBody>
                    <a:bodyPr/>
                    <a:lstStyle/>
                    <a:p>
                      <a:r>
                        <a:rPr lang="en-US" sz="800" dirty="0" smtClean="0"/>
                        <a:t>Risk sharing</a:t>
                      </a:r>
                      <a:endParaRPr lang="en-US" sz="800" dirty="0"/>
                    </a:p>
                  </a:txBody>
                  <a:tcPr anchor="ctr"/>
                </a:tc>
                <a:tc>
                  <a:txBody>
                    <a:bodyPr/>
                    <a:lstStyle/>
                    <a:p>
                      <a:r>
                        <a:rPr lang="en-US" sz="800" dirty="0" smtClean="0"/>
                        <a:t>Private sector bears full risk</a:t>
                      </a:r>
                      <a:endParaRPr lang="en-US" sz="800" dirty="0"/>
                    </a:p>
                  </a:txBody>
                  <a:tcPr anchor="ctr"/>
                </a:tc>
                <a:tc>
                  <a:txBody>
                    <a:bodyPr/>
                    <a:lstStyle/>
                    <a:p>
                      <a:r>
                        <a:rPr lang="en-US" sz="800" dirty="0" smtClean="0"/>
                        <a:t>Government backstop for catastrophic losses for MBS that meet statutory qualifications to be provided by a new entity—Federal Mortgage Insurance Corporation (FMIC), first-loss position no less than 10 percent</a:t>
                      </a:r>
                      <a:endParaRPr lang="en-US" sz="800" dirty="0"/>
                    </a:p>
                  </a:txBody>
                  <a:tcPr anchor="ctr"/>
                </a:tc>
              </a:tr>
              <a:tr h="370840">
                <a:tc>
                  <a:txBody>
                    <a:bodyPr/>
                    <a:lstStyle/>
                    <a:p>
                      <a:r>
                        <a:rPr lang="en-US" sz="800" dirty="0" smtClean="0"/>
                        <a:t>Infrastructure and role for a public utility</a:t>
                      </a:r>
                      <a:endParaRPr lang="en-US" sz="800" dirty="0"/>
                    </a:p>
                  </a:txBody>
                  <a:tcPr anchor="ctr"/>
                </a:tc>
                <a:tc>
                  <a:txBody>
                    <a:bodyPr/>
                    <a:lstStyle/>
                    <a:p>
                      <a:r>
                        <a:rPr lang="en-US" sz="800" dirty="0" smtClean="0"/>
                        <a:t>FHFA to establish and supervise the National Mortgage Market Utility – a nongovernment, nonprofit entity that develops standards for servicing, pooling, and securitizing and operates a securitization platform</a:t>
                      </a:r>
                      <a:endParaRPr lang="en-US" sz="800" dirty="0"/>
                    </a:p>
                  </a:txBody>
                  <a:tcPr anchor="ctr"/>
                </a:tc>
                <a:tc>
                  <a:txBody>
                    <a:bodyPr/>
                    <a:lstStyle/>
                    <a:p>
                      <a:r>
                        <a:rPr lang="en-US" sz="800" dirty="0" smtClean="0"/>
                        <a:t>FMIC to develop risk sharing mechanisms, oversee and supervise the Common Securitization Platform, and set standards for approved market Participants</a:t>
                      </a:r>
                      <a:endParaRPr lang="en-US" sz="800" dirty="0"/>
                    </a:p>
                  </a:txBody>
                  <a:tcPr anchor="ctr"/>
                </a:tc>
              </a:tr>
              <a:tr h="370840">
                <a:tc>
                  <a:txBody>
                    <a:bodyPr/>
                    <a:lstStyle/>
                    <a:p>
                      <a:r>
                        <a:rPr lang="en-US" sz="800" dirty="0" smtClean="0"/>
                        <a:t>Rules on private sector activity</a:t>
                      </a:r>
                      <a:endParaRPr lang="en-US" sz="800" dirty="0"/>
                    </a:p>
                  </a:txBody>
                  <a:tcPr anchor="ctr"/>
                </a:tc>
                <a:tc>
                  <a:txBody>
                    <a:bodyPr/>
                    <a:lstStyle/>
                    <a:p>
                      <a:r>
                        <a:rPr lang="en-US" sz="800" dirty="0" smtClean="0"/>
                        <a:t>Establish rules and regulations for a covered bond market place, risk retention rules repealed, increased disclosure to investors, improved processes for investors to establish the right to act on a security, gradually reduced conforming loan limits, requirements for approved issuers, aggregators, and servicers</a:t>
                      </a:r>
                      <a:endParaRPr lang="en-US" sz="800" dirty="0"/>
                    </a:p>
                  </a:txBody>
                  <a:tcPr anchor="ctr"/>
                </a:tc>
                <a:tc>
                  <a:txBody>
                    <a:bodyPr/>
                    <a:lstStyle/>
                    <a:p>
                      <a:r>
                        <a:rPr lang="en-US" sz="800" dirty="0" smtClean="0"/>
                        <a:t>Specified criteria for "covered securities" and "eligible mortgages", conforming loan limits remain the same (FMIC has no power on these limits), requirements for approved guarantors, issuers, aggregators, servicers, and insurers, FMIC to establish and capitalize a mutually owned</a:t>
                      </a:r>
                    </a:p>
                    <a:p>
                      <a:r>
                        <a:rPr lang="en-US" sz="800" dirty="0" smtClean="0"/>
                        <a:t>company to facilitate access to secondary market by smaller Lenders</a:t>
                      </a:r>
                      <a:endParaRPr lang="en-US" sz="800" dirty="0"/>
                    </a:p>
                  </a:txBody>
                  <a:tcPr anchor="ctr"/>
                </a:tc>
              </a:tr>
              <a:tr h="370840">
                <a:tc>
                  <a:txBody>
                    <a:bodyPr/>
                    <a:lstStyle/>
                    <a:p>
                      <a:r>
                        <a:rPr lang="en-US" sz="800" dirty="0" smtClean="0"/>
                        <a:t>Social goals</a:t>
                      </a:r>
                      <a:endParaRPr lang="en-US" sz="800" dirty="0"/>
                    </a:p>
                  </a:txBody>
                  <a:tcPr anchor="ctr"/>
                </a:tc>
                <a:tc>
                  <a:txBody>
                    <a:bodyPr/>
                    <a:lstStyle/>
                    <a:p>
                      <a:r>
                        <a:rPr lang="en-US" sz="800" dirty="0" smtClean="0"/>
                        <a:t>Limited to FHA and VA/RHS loans, FHA guarantee subject to tighter rules</a:t>
                      </a:r>
                      <a:endParaRPr lang="en-US" sz="800" dirty="0"/>
                    </a:p>
                  </a:txBody>
                  <a:tcPr anchor="ctr"/>
                </a:tc>
                <a:tc>
                  <a:txBody>
                    <a:bodyPr/>
                    <a:lstStyle/>
                    <a:p>
                      <a:r>
                        <a:rPr lang="en-US" sz="800" dirty="0" smtClean="0"/>
                        <a:t>Housing Trust Fund, Capital Magnet Fund, and Market Access Fund supported by fees on outstanding securities (average 10 basis points), FMIC to support the primary markets to ensure access to mortgage Credit</a:t>
                      </a:r>
                      <a:endParaRPr lang="en-US" sz="800" dirty="0"/>
                    </a:p>
                  </a:txBody>
                  <a:tcPr anchor="ctr"/>
                </a:tc>
              </a:tr>
              <a:tr h="370840">
                <a:tc>
                  <a:txBody>
                    <a:bodyPr/>
                    <a:lstStyle/>
                    <a:p>
                      <a:r>
                        <a:rPr lang="en-US" sz="800" dirty="0" smtClean="0"/>
                        <a:t>Other government role (e.g., liquidity safety net)</a:t>
                      </a:r>
                      <a:endParaRPr lang="en-US" sz="800" dirty="0"/>
                    </a:p>
                  </a:txBody>
                  <a:tcPr anchor="ctr"/>
                </a:tc>
                <a:tc>
                  <a:txBody>
                    <a:bodyPr/>
                    <a:lstStyle/>
                    <a:p>
                      <a:r>
                        <a:rPr lang="en-US" sz="800" dirty="0" smtClean="0"/>
                        <a:t>FHLBs' mandate for community investment eliminated</a:t>
                      </a:r>
                      <a:endParaRPr lang="en-US" sz="800" dirty="0"/>
                    </a:p>
                  </a:txBody>
                  <a:tcPr anchor="ctr"/>
                </a:tc>
                <a:tc>
                  <a:txBody>
                    <a:bodyPr/>
                    <a:lstStyle/>
                    <a:p>
                      <a:r>
                        <a:rPr lang="en-US" sz="800" dirty="0" smtClean="0"/>
                        <a:t>FHLB supervision transferred from FHFA to FMIC</a:t>
                      </a:r>
                      <a:endParaRPr lang="en-US" sz="800" dirty="0"/>
                    </a:p>
                  </a:txBody>
                  <a:tcPr anchor="ctr"/>
                </a:tc>
              </a:tr>
            </a:tbl>
          </a:graphicData>
        </a:graphic>
      </p:graphicFrame>
      <p:sp>
        <p:nvSpPr>
          <p:cNvPr id="5" name="TextBox 4"/>
          <p:cNvSpPr txBox="1"/>
          <p:nvPr/>
        </p:nvSpPr>
        <p:spPr>
          <a:xfrm>
            <a:off x="2362200" y="1245630"/>
            <a:ext cx="4419600" cy="307777"/>
          </a:xfrm>
          <a:prstGeom prst="rect">
            <a:avLst/>
          </a:prstGeom>
          <a:noFill/>
        </p:spPr>
        <p:txBody>
          <a:bodyPr wrap="square" rtlCol="0">
            <a:spAutoFit/>
          </a:bodyPr>
          <a:lstStyle/>
          <a:p>
            <a:pPr algn="ctr"/>
            <a:r>
              <a:rPr lang="en-US" sz="1400" dirty="0" smtClean="0"/>
              <a:t>Table 1. Legislative GSE Reform Proposals</a:t>
            </a:r>
            <a:endParaRPr lang="en-US" sz="1400" dirty="0"/>
          </a:p>
        </p:txBody>
      </p:sp>
    </p:spTree>
    <p:extLst>
      <p:ext uri="{BB962C8B-B14F-4D97-AF65-F5344CB8AC3E}">
        <p14:creationId xmlns:p14="http://schemas.microsoft.com/office/powerpoint/2010/main" val="514856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412</Words>
  <Application>Microsoft Office PowerPoint</Application>
  <PresentationFormat>On-screen Show (4:3)</PresentationFormat>
  <Paragraphs>30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Lien Chen</dc:creator>
  <cp:lastModifiedBy>Lien Chen</cp:lastModifiedBy>
  <cp:revision>2</cp:revision>
  <dcterms:created xsi:type="dcterms:W3CDTF">2016-06-23T20:22:50Z</dcterms:created>
  <dcterms:modified xsi:type="dcterms:W3CDTF">2016-06-23T20:39:24Z</dcterms:modified>
</cp:coreProperties>
</file>