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5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0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99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21030-8CA8-49C5-B1AC-310260DF05FF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8FB95-5D03-4628-9268-225DB073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3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8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0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0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3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76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8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9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8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9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10800"/>
            <a:ext cx="8388000" cy="4536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113" y="6407835"/>
            <a:ext cx="7559473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971996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81368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F4BFD-551F-4DB6-92BF-93BF2A1D86C3}" type="datetimeFigureOut">
              <a:rPr lang="en-US" smtClean="0"/>
              <a:t>4/18/2016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量化金融专业职业发展指</a:t>
            </a:r>
            <a:r>
              <a:rPr lang="zh-CN" altLang="en-US" dirty="0" smtClean="0"/>
              <a:t>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91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讲</a:t>
            </a:r>
            <a:r>
              <a:rPr lang="zh-CN" altLang="en-US" sz="3000" dirty="0" smtClean="0">
                <a:solidFill>
                  <a:srgbClr val="81BC00"/>
                </a:solidFill>
              </a:rPr>
              <a:t>师个人背景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b="0" dirty="0" smtClean="0">
                <a:solidFill>
                  <a:srgbClr val="575757"/>
                </a:solidFill>
              </a:rPr>
              <a:t>教育经历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1992496"/>
            <a:ext cx="5486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哥伦比亚大学</a:t>
            </a:r>
            <a:r>
              <a:rPr lang="en-US" altLang="zh-CN" dirty="0" smtClean="0"/>
              <a:t>	</a:t>
            </a:r>
            <a:r>
              <a:rPr lang="zh-CN" altLang="en-US" dirty="0" smtClean="0"/>
              <a:t>金融数学专业</a:t>
            </a:r>
            <a:r>
              <a:rPr lang="en-US" altLang="zh-CN" dirty="0" smtClean="0"/>
              <a:t>	</a:t>
            </a:r>
            <a:r>
              <a:rPr lang="zh-CN" altLang="en-US" dirty="0" smtClean="0"/>
              <a:t>硕士</a:t>
            </a:r>
            <a:endParaRPr lang="en-US" altLang="zh-CN" dirty="0" smtClean="0"/>
          </a:p>
          <a:p>
            <a:endParaRPr lang="en-US" dirty="0"/>
          </a:p>
          <a:p>
            <a:r>
              <a:rPr lang="zh-CN" altLang="en-US" dirty="0" smtClean="0"/>
              <a:t>中科院研究生院</a:t>
            </a:r>
            <a:r>
              <a:rPr lang="en-US" altLang="zh-CN" dirty="0" smtClean="0"/>
              <a:t>	</a:t>
            </a:r>
            <a:r>
              <a:rPr lang="zh-CN" altLang="en-US" dirty="0" smtClean="0"/>
              <a:t>计算机专业</a:t>
            </a:r>
            <a:r>
              <a:rPr lang="en-US" altLang="zh-CN" dirty="0" smtClean="0"/>
              <a:t>	</a:t>
            </a:r>
            <a:r>
              <a:rPr lang="zh-CN" altLang="en-US" dirty="0" smtClean="0"/>
              <a:t>硕士</a:t>
            </a:r>
            <a:endParaRPr lang="en-US" altLang="zh-CN" dirty="0" smtClean="0"/>
          </a:p>
          <a:p>
            <a:endParaRPr lang="en-US" dirty="0"/>
          </a:p>
          <a:p>
            <a:r>
              <a:rPr lang="zh-CN" altLang="en-US" dirty="0" smtClean="0"/>
              <a:t>重庆大学</a:t>
            </a:r>
            <a:r>
              <a:rPr lang="en-US" altLang="zh-CN" dirty="0" smtClean="0"/>
              <a:t>	</a:t>
            </a:r>
            <a:r>
              <a:rPr lang="zh-CN" altLang="en-US" dirty="0" smtClean="0"/>
              <a:t>电子工程专业</a:t>
            </a:r>
            <a:r>
              <a:rPr lang="en-US" altLang="zh-CN" dirty="0" smtClean="0"/>
              <a:t>	</a:t>
            </a:r>
            <a:r>
              <a:rPr lang="zh-CN" altLang="en-US" dirty="0" smtClean="0"/>
              <a:t>本科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5722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讲</a:t>
            </a:r>
            <a:r>
              <a:rPr lang="zh-CN" altLang="en-US" sz="3000" dirty="0" smtClean="0">
                <a:solidFill>
                  <a:srgbClr val="81BC00"/>
                </a:solidFill>
              </a:rPr>
              <a:t>师个人背景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>
                <a:solidFill>
                  <a:srgbClr val="575757"/>
                </a:solidFill>
              </a:rPr>
              <a:t>工</a:t>
            </a:r>
            <a:r>
              <a:rPr lang="zh-CN" altLang="en-US" sz="3000" dirty="0" smtClean="0">
                <a:solidFill>
                  <a:srgbClr val="575757"/>
                </a:solidFill>
              </a:rPr>
              <a:t>作经历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600200"/>
            <a:ext cx="7543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/>
              <a:t>实习经历</a:t>
            </a:r>
            <a:endParaRPr lang="en-US" altLang="zh-CN" b="1" dirty="0" smtClean="0"/>
          </a:p>
          <a:p>
            <a:endParaRPr lang="en-US" altLang="zh-CN" dirty="0"/>
          </a:p>
          <a:p>
            <a:r>
              <a:rPr lang="zh-CN" altLang="en-US" dirty="0" smtClean="0"/>
              <a:t>对冲基金</a:t>
            </a:r>
            <a:r>
              <a:rPr lang="en-US" altLang="zh-CN" dirty="0" smtClean="0"/>
              <a:t>		</a:t>
            </a:r>
            <a:r>
              <a:rPr lang="zh-CN" altLang="en-US" dirty="0" smtClean="0"/>
              <a:t>股票研究部</a:t>
            </a:r>
            <a:r>
              <a:rPr lang="en-US" altLang="zh-CN" dirty="0" smtClean="0"/>
              <a:t>	 Quantitative Research</a:t>
            </a:r>
          </a:p>
          <a:p>
            <a:r>
              <a:rPr lang="en-US" altLang="zh-CN" dirty="0"/>
              <a:t>	</a:t>
            </a:r>
            <a:r>
              <a:rPr lang="en-US" altLang="zh-CN" dirty="0" smtClean="0"/>
              <a:t>				(</a:t>
            </a:r>
            <a:r>
              <a:rPr lang="zh-CN" altLang="en-US" dirty="0"/>
              <a:t>趋势跟踪模</a:t>
            </a:r>
            <a:r>
              <a:rPr lang="zh-CN" altLang="en-US" dirty="0" smtClean="0"/>
              <a:t>型，期权对冲</a:t>
            </a:r>
            <a:r>
              <a:rPr lang="en-US" altLang="zh-CN" dirty="0" smtClean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中型</a:t>
            </a:r>
            <a:r>
              <a:rPr lang="zh-CN" altLang="en-US" dirty="0" smtClean="0"/>
              <a:t>资产管理公司</a:t>
            </a:r>
            <a:r>
              <a:rPr lang="en-US" altLang="zh-CN" dirty="0" smtClean="0"/>
              <a:t>	</a:t>
            </a:r>
            <a:r>
              <a:rPr lang="zh-CN" altLang="en-US" dirty="0" smtClean="0"/>
              <a:t>投资管理部</a:t>
            </a:r>
            <a:r>
              <a:rPr lang="en-US" altLang="zh-CN" dirty="0" smtClean="0"/>
              <a:t>	Portfolio</a:t>
            </a:r>
            <a:r>
              <a:rPr lang="zh-CN" altLang="en-US" dirty="0" smtClean="0"/>
              <a:t> </a:t>
            </a:r>
            <a:r>
              <a:rPr lang="en-US" altLang="zh-CN" dirty="0" smtClean="0"/>
              <a:t>Management</a:t>
            </a:r>
          </a:p>
          <a:p>
            <a:r>
              <a:rPr lang="en-US" altLang="zh-CN" dirty="0"/>
              <a:t>	</a:t>
            </a:r>
            <a:r>
              <a:rPr lang="en-US" altLang="zh-CN" dirty="0" smtClean="0"/>
              <a:t>				(</a:t>
            </a:r>
            <a:r>
              <a:rPr lang="zh-CN" altLang="en-US" dirty="0" smtClean="0"/>
              <a:t>资产组合优化模型</a:t>
            </a:r>
            <a:r>
              <a:rPr lang="en-US" altLang="zh-CN" dirty="0" smtClean="0"/>
              <a:t>)	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对冲基金</a:t>
            </a:r>
            <a:r>
              <a:rPr lang="en-US" altLang="zh-CN" dirty="0" smtClean="0"/>
              <a:t>		</a:t>
            </a:r>
            <a:r>
              <a:rPr lang="zh-CN" altLang="en-US" dirty="0" smtClean="0"/>
              <a:t>固定收益部</a:t>
            </a:r>
            <a:r>
              <a:rPr lang="en-US" altLang="zh-CN" dirty="0" smtClean="0"/>
              <a:t>	Quantitative Research</a:t>
            </a:r>
          </a:p>
          <a:p>
            <a:r>
              <a:rPr lang="en-US" altLang="zh-CN" dirty="0"/>
              <a:t>	</a:t>
            </a:r>
            <a:r>
              <a:rPr lang="en-US" altLang="zh-CN" dirty="0" smtClean="0"/>
              <a:t>				(</a:t>
            </a:r>
            <a:r>
              <a:rPr lang="zh-CN" altLang="en-US" dirty="0" smtClean="0"/>
              <a:t>结构化债券定价</a:t>
            </a:r>
            <a:r>
              <a:rPr lang="en-US" altLang="zh-CN" dirty="0" smtClean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379" y="4800600"/>
            <a:ext cx="754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/>
              <a:t>现工作</a:t>
            </a:r>
            <a:endParaRPr lang="en-US" altLang="zh-CN" b="1" dirty="0" smtClean="0"/>
          </a:p>
          <a:p>
            <a:endParaRPr lang="en-US" altLang="zh-CN" dirty="0"/>
          </a:p>
          <a:p>
            <a:r>
              <a:rPr lang="zh-CN" altLang="en-US" dirty="0" smtClean="0"/>
              <a:t>对冲基金</a:t>
            </a:r>
            <a:r>
              <a:rPr lang="en-US" altLang="zh-CN" dirty="0" smtClean="0"/>
              <a:t>		</a:t>
            </a:r>
            <a:r>
              <a:rPr lang="zh-CN" altLang="en-US" dirty="0" smtClean="0"/>
              <a:t>研究部</a:t>
            </a:r>
            <a:r>
              <a:rPr lang="en-US" altLang="zh-CN" dirty="0" smtClean="0"/>
              <a:t>		Quantitative Research</a:t>
            </a:r>
          </a:p>
          <a:p>
            <a:r>
              <a:rPr lang="en-US" altLang="zh-CN" dirty="0"/>
              <a:t>	</a:t>
            </a:r>
            <a:r>
              <a:rPr lang="en-US" altLang="zh-CN" dirty="0" smtClean="0"/>
              <a:t>				(</a:t>
            </a:r>
            <a:r>
              <a:rPr lang="zh-CN" altLang="en-US" dirty="0" smtClean="0"/>
              <a:t>结构化债券定价</a:t>
            </a:r>
            <a:r>
              <a:rPr lang="en-US" altLang="zh-CN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62714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量化</a:t>
            </a:r>
            <a:r>
              <a:rPr lang="zh-CN" altLang="en-US" sz="3000" dirty="0" smtClean="0">
                <a:solidFill>
                  <a:srgbClr val="81BC00"/>
                </a:solidFill>
              </a:rPr>
              <a:t>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什么是</a:t>
            </a:r>
            <a:r>
              <a:rPr lang="zh-CN" altLang="en-US" sz="3000" dirty="0">
                <a:solidFill>
                  <a:srgbClr val="575757"/>
                </a:solidFill>
              </a:rPr>
              <a:t>量</a:t>
            </a:r>
            <a:r>
              <a:rPr lang="zh-CN" altLang="en-US" sz="3000" dirty="0" smtClean="0">
                <a:solidFill>
                  <a:srgbClr val="575757"/>
                </a:solidFill>
              </a:rPr>
              <a:t>化金融（计量金融学、数学金融学）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25827" y="1600200"/>
            <a:ext cx="6629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维基百科上</a:t>
            </a:r>
            <a:r>
              <a:rPr lang="zh-CN" altLang="en-US" b="1" dirty="0" smtClean="0">
                <a:solidFill>
                  <a:schemeClr val="tx2"/>
                </a:solidFill>
              </a:rPr>
              <a:t>对</a:t>
            </a:r>
            <a:r>
              <a:rPr lang="zh-CN" altLang="en-US" b="1" dirty="0">
                <a:solidFill>
                  <a:schemeClr val="tx2"/>
                </a:solidFill>
              </a:rPr>
              <a:t>量化</a:t>
            </a:r>
            <a:r>
              <a:rPr lang="zh-CN" altLang="en-US" b="1" dirty="0" smtClean="0">
                <a:solidFill>
                  <a:schemeClr val="tx2"/>
                </a:solidFill>
              </a:rPr>
              <a:t>金</a:t>
            </a:r>
            <a:r>
              <a:rPr lang="zh-CN" altLang="en-US" b="1" dirty="0">
                <a:solidFill>
                  <a:schemeClr val="tx2"/>
                </a:solidFill>
              </a:rPr>
              <a:t>融的解</a:t>
            </a:r>
            <a:r>
              <a:rPr lang="zh-CN" altLang="en-US" b="1" dirty="0" smtClean="0">
                <a:solidFill>
                  <a:schemeClr val="tx2"/>
                </a:solidFill>
              </a:rPr>
              <a:t>释：</a:t>
            </a:r>
            <a:endParaRPr lang="en-US" altLang="zh-CN" b="1" dirty="0" smtClean="0">
              <a:solidFill>
                <a:schemeClr val="tx2"/>
              </a:solidFill>
            </a:endParaRPr>
          </a:p>
          <a:p>
            <a:endParaRPr lang="en-US" altLang="zh-CN" dirty="0" smtClean="0"/>
          </a:p>
          <a:p>
            <a:r>
              <a:rPr lang="zh-CN" altLang="en-US" dirty="0"/>
              <a:t>量化</a:t>
            </a:r>
            <a:r>
              <a:rPr lang="zh-CN" altLang="en-US" dirty="0" smtClean="0"/>
              <a:t>数学又称计量金融学、数学金融学，是专为金融市场而设的一门应用数学。</a:t>
            </a:r>
            <a:endParaRPr lang="en-US" altLang="zh-CN" dirty="0"/>
          </a:p>
          <a:p>
            <a:r>
              <a:rPr lang="zh-CN" altLang="en-US" dirty="0" smtClean="0"/>
              <a:t>计量金融本义上与金融经济学的范畴有密切的关系，然而前者所涉及的领域比较狭隘，理念也比后者抽象。一般而言，若金融经济学家研究一所企业当前股价的结构性原因，计量金融学家所做的便是</a:t>
            </a:r>
            <a:r>
              <a:rPr lang="zh-CN" altLang="en-US" u="sng" dirty="0" smtClean="0"/>
              <a:t>利用当前股价作参考，以金融数学理论为基础去计算并取得相关衍生工具的公平价格（应值价格），以及风险估算。</a:t>
            </a:r>
            <a:endParaRPr lang="en-US" altLang="zh-CN" u="sng" dirty="0" smtClean="0"/>
          </a:p>
        </p:txBody>
      </p:sp>
      <p:sp>
        <p:nvSpPr>
          <p:cNvPr id="7" name="Down Arrow 6"/>
          <p:cNvSpPr/>
          <p:nvPr/>
        </p:nvSpPr>
        <p:spPr>
          <a:xfrm>
            <a:off x="4038600" y="4267200"/>
            <a:ext cx="1219200" cy="38100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863811" y="4670854"/>
            <a:ext cx="662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</a:rPr>
              <a:t>更直接些的解释：</a:t>
            </a:r>
            <a:endParaRPr lang="en-US" altLang="zh-CN" b="1" dirty="0" smtClean="0">
              <a:solidFill>
                <a:schemeClr val="tx2"/>
              </a:solidFill>
            </a:endParaRPr>
          </a:p>
          <a:p>
            <a:endParaRPr lang="en-US" altLang="zh-CN" b="1" dirty="0" smtClean="0">
              <a:solidFill>
                <a:schemeClr val="tx2"/>
              </a:solidFill>
            </a:endParaRPr>
          </a:p>
          <a:p>
            <a:r>
              <a:rPr lang="zh-CN" altLang="en-US" dirty="0"/>
              <a:t>数量金融是将一系列数</a:t>
            </a:r>
            <a:r>
              <a:rPr lang="zh-CN" altLang="en-US" dirty="0" smtClean="0"/>
              <a:t>学</a:t>
            </a:r>
            <a:r>
              <a:rPr lang="en-US" altLang="zh-CN" dirty="0" smtClean="0"/>
              <a:t>/</a:t>
            </a:r>
            <a:r>
              <a:rPr lang="zh-CN" altLang="en-US" dirty="0" smtClean="0"/>
              <a:t>统</a:t>
            </a:r>
            <a:r>
              <a:rPr lang="zh-CN" altLang="en-US" dirty="0"/>
              <a:t>计</a:t>
            </a:r>
            <a:r>
              <a:rPr lang="zh-CN" altLang="en-US" dirty="0" smtClean="0"/>
              <a:t>学方</a:t>
            </a:r>
            <a:r>
              <a:rPr lang="zh-CN" altLang="en-US" dirty="0"/>
              <a:t>法引入金融市场进行研究的学科。而数量金融（或者叫金融工程）目前</a:t>
            </a:r>
            <a:r>
              <a:rPr lang="zh-CN" altLang="en-US" dirty="0" smtClean="0"/>
              <a:t>在主</a:t>
            </a:r>
            <a:r>
              <a:rPr lang="zh-CN" altLang="en-US" dirty="0"/>
              <a:t>要</a:t>
            </a:r>
            <a:r>
              <a:rPr lang="zh-CN" altLang="en-US" dirty="0" smtClean="0"/>
              <a:t>有四大</a:t>
            </a:r>
            <a:r>
              <a:rPr lang="zh-CN" altLang="en-US" dirty="0"/>
              <a:t>发展方向：</a:t>
            </a:r>
            <a:r>
              <a:rPr lang="zh-CN" altLang="en-US" u="sng" dirty="0"/>
              <a:t>交易策略研究</a:t>
            </a:r>
            <a:r>
              <a:rPr lang="zh-CN" altLang="en-US" dirty="0"/>
              <a:t>、</a:t>
            </a:r>
            <a:r>
              <a:rPr lang="zh-CN" altLang="en-US" u="sng" dirty="0"/>
              <a:t>衍生品定价与对冲</a:t>
            </a:r>
            <a:r>
              <a:rPr lang="zh-CN" altLang="en-US" dirty="0"/>
              <a:t>、</a:t>
            </a:r>
            <a:r>
              <a:rPr lang="zh-CN" altLang="en-US" u="sng" dirty="0"/>
              <a:t>风险管</a:t>
            </a:r>
            <a:r>
              <a:rPr lang="zh-CN" altLang="en-US" u="sng" dirty="0" smtClean="0"/>
              <a:t>理</a:t>
            </a:r>
            <a:r>
              <a:rPr lang="zh-CN" altLang="en-US" dirty="0" smtClean="0"/>
              <a:t>、</a:t>
            </a:r>
            <a:r>
              <a:rPr lang="zh-CN" altLang="en-US" u="sng" dirty="0"/>
              <a:t>高频交易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585761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量化</a:t>
            </a:r>
            <a:r>
              <a:rPr lang="zh-CN" altLang="en-US" sz="3000" dirty="0" smtClean="0">
                <a:solidFill>
                  <a:srgbClr val="81BC00"/>
                </a:solidFill>
              </a:rPr>
              <a:t>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1.</a:t>
            </a:r>
            <a:r>
              <a:rPr lang="zh-CN" altLang="en-US" sz="3000" dirty="0" smtClean="0">
                <a:solidFill>
                  <a:srgbClr val="575757"/>
                </a:solidFill>
              </a:rPr>
              <a:t>交易策略研究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25827" y="1600200"/>
            <a:ext cx="6629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包括选股，择时，套利。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选股</a:t>
            </a:r>
            <a:r>
              <a:rPr lang="en-US" altLang="zh-CN" dirty="0" smtClean="0"/>
              <a:t>: </a:t>
            </a:r>
            <a:r>
              <a:rPr lang="zh-CN" altLang="en-US" dirty="0" smtClean="0"/>
              <a:t>以</a:t>
            </a:r>
            <a:r>
              <a:rPr lang="en-US" altLang="zh-CN" dirty="0" smtClean="0"/>
              <a:t>α</a:t>
            </a:r>
            <a:r>
              <a:rPr lang="zh-CN" altLang="en-US" dirty="0" smtClean="0"/>
              <a:t>与</a:t>
            </a:r>
            <a:r>
              <a:rPr lang="en-US" altLang="zh-CN" dirty="0" smtClean="0"/>
              <a:t>β</a:t>
            </a:r>
            <a:r>
              <a:rPr lang="zh-CN" altLang="en-US" dirty="0" smtClean="0"/>
              <a:t>策略为主</a:t>
            </a:r>
            <a:endParaRPr lang="en-US" altLang="zh-CN" dirty="0" smtClean="0"/>
          </a:p>
          <a:p>
            <a:r>
              <a:rPr lang="zh-CN" altLang="en-US" dirty="0" smtClean="0"/>
              <a:t>择时</a:t>
            </a:r>
            <a:r>
              <a:rPr lang="en-US" altLang="zh-CN" dirty="0" smtClean="0"/>
              <a:t>: </a:t>
            </a:r>
            <a:r>
              <a:rPr lang="zh-CN" altLang="en-US" dirty="0" smtClean="0"/>
              <a:t>目前流行机器学习的手段进行择时建模，诸如</a:t>
            </a:r>
            <a:r>
              <a:rPr lang="en-US" altLang="zh-CN" dirty="0" smtClean="0"/>
              <a:t>SVM</a:t>
            </a:r>
            <a:r>
              <a:rPr lang="zh-CN" altLang="en-US" dirty="0" smtClean="0"/>
              <a:t>、神经网络</a:t>
            </a:r>
            <a:endParaRPr lang="en-US" altLang="zh-CN" dirty="0" smtClean="0"/>
          </a:p>
          <a:p>
            <a:r>
              <a:rPr lang="zh-CN" altLang="en-US" dirty="0"/>
              <a:t>套利</a:t>
            </a:r>
            <a:r>
              <a:rPr lang="en-US" altLang="zh-CN" dirty="0" smtClean="0"/>
              <a:t>:</a:t>
            </a:r>
            <a:r>
              <a:rPr lang="zh-CN" altLang="en-US" dirty="0" smtClean="0"/>
              <a:t> 采用统计套利等策略进行金融产品交易</a:t>
            </a:r>
            <a:endParaRPr lang="en-US" altLang="zh-CN" dirty="0" smtClean="0"/>
          </a:p>
          <a:p>
            <a:r>
              <a:rPr lang="zh-CN" altLang="en-US" dirty="0" smtClean="0"/>
              <a:t>同时由于国内期权交易日趋活跃，现在的交易策略研究有偏向期权交易策略的趋势。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目前该工作多见于公募基金的指数量化部、券商与期货公司的研究部（金融工程组）、自营部（量化交易）、资产管理部（子公司）等。</a:t>
            </a:r>
            <a:br>
              <a:rPr lang="zh-CN" altLang="en-US" dirty="0" smtClean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19613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2.</a:t>
            </a:r>
            <a:r>
              <a:rPr lang="zh-CN" altLang="en-US" sz="3000" dirty="0" smtClean="0">
                <a:solidFill>
                  <a:srgbClr val="575757"/>
                </a:solidFill>
              </a:rPr>
              <a:t>衍生品定价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25827" y="2209800"/>
            <a:ext cx="662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指的是场外（内）期权的定价以及套</a:t>
            </a:r>
            <a:r>
              <a:rPr lang="zh-CN" altLang="en-US" dirty="0" smtClean="0"/>
              <a:t>利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多</a:t>
            </a:r>
            <a:r>
              <a:rPr lang="zh-CN" altLang="en-US" dirty="0"/>
              <a:t>见于公募基金指数量化部、券商的柜台市场部（</a:t>
            </a:r>
            <a:r>
              <a:rPr lang="en-US" altLang="zh-CN" dirty="0"/>
              <a:t>OTC</a:t>
            </a:r>
            <a:r>
              <a:rPr lang="zh-CN" altLang="en-US" dirty="0"/>
              <a:t>产品）、权益与衍生品投资部、资产管理部（子公司）、机构销售部、期货公司研究部，负责场外期权的定价</a:t>
            </a:r>
            <a:r>
              <a:rPr lang="zh-CN" altLang="en-US" dirty="0" smtClean="0"/>
              <a:t>。</a:t>
            </a:r>
            <a:br>
              <a:rPr lang="zh-CN" altLang="en-US" dirty="0" smtClean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8502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3.</a:t>
            </a:r>
            <a:r>
              <a:rPr lang="zh-CN" altLang="en-US" sz="3000" dirty="0" smtClean="0">
                <a:solidFill>
                  <a:srgbClr val="575757"/>
                </a:solidFill>
              </a:rPr>
              <a:t> 风险管理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25827" y="2209800"/>
            <a:ext cx="662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涉及</a:t>
            </a:r>
            <a:r>
              <a:rPr lang="en-US" altLang="zh-CN" dirty="0" smtClean="0"/>
              <a:t>market risk, credit risk, model risk</a:t>
            </a:r>
            <a:r>
              <a:rPr lang="zh-CN" altLang="en-US" dirty="0" smtClean="0"/>
              <a:t>等分支。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通常需要较好的资产组合头寸管理知识以及衍生品对冲的知识，</a:t>
            </a:r>
            <a:r>
              <a:rPr lang="en-US" altLang="zh-CN" dirty="0" smtClean="0"/>
              <a:t>delta hedge, gamma hedge</a:t>
            </a:r>
            <a:r>
              <a:rPr lang="zh-CN" altLang="en-US" dirty="0" smtClean="0"/>
              <a:t>等自然必不可少。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多见于券商的风控部门。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27784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</a:t>
            </a:r>
            <a:r>
              <a:rPr lang="zh-CN" altLang="en-US" sz="3000" dirty="0" smtClean="0">
                <a:solidFill>
                  <a:srgbClr val="575757"/>
                </a:solidFill>
              </a:rPr>
              <a:t>高频交易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25827" y="2209800"/>
            <a:ext cx="6629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相对金融知识，更需要扎实的计算机系统构建能力。</a:t>
            </a:r>
            <a:endParaRPr lang="en-US" altLang="zh-CN" dirty="0" smtClean="0"/>
          </a:p>
          <a:p>
            <a:r>
              <a:rPr lang="zh-CN" altLang="en-US" dirty="0"/>
              <a:t>网</a:t>
            </a:r>
            <a:r>
              <a:rPr lang="zh-CN" altLang="en-US" dirty="0" smtClean="0"/>
              <a:t>络线路，通信协议，业务逻辑，内核使用率优化，快速存储技术等。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核心的业务逻辑的处</a:t>
            </a:r>
            <a:r>
              <a:rPr lang="zh-CN" altLang="en-US" dirty="0" smtClean="0"/>
              <a:t>理用</a:t>
            </a:r>
            <a:r>
              <a:rPr lang="zh-CN" altLang="en-US" dirty="0"/>
              <a:t>到一些数学建</a:t>
            </a:r>
            <a:r>
              <a:rPr lang="zh-CN" altLang="en-US" dirty="0" smtClean="0"/>
              <a:t>模，但通常并不复杂。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就业多在投行的高频交易部门（</a:t>
            </a:r>
            <a:r>
              <a:rPr lang="en-US" altLang="zh-CN" dirty="0" smtClean="0"/>
              <a:t>market</a:t>
            </a:r>
            <a:r>
              <a:rPr lang="zh-CN" altLang="en-US" dirty="0" smtClean="0"/>
              <a:t> </a:t>
            </a:r>
            <a:r>
              <a:rPr lang="en-US" altLang="zh-CN" dirty="0" smtClean="0"/>
              <a:t>making</a:t>
            </a:r>
            <a:r>
              <a:rPr lang="zh-CN" altLang="en-US" dirty="0" smtClean="0"/>
              <a:t>），专著高频交易的基金公司等。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0204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</a:t>
            </a:r>
            <a:r>
              <a:rPr lang="zh-CN" altLang="en-US" sz="3000" dirty="0" smtClean="0">
                <a:solidFill>
                  <a:srgbClr val="575757"/>
                </a:solidFill>
              </a:rPr>
              <a:t>高频交易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25827" y="2209800"/>
            <a:ext cx="6629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相对金融知识，更需要扎实的计算机系统构建能力。</a:t>
            </a:r>
            <a:endParaRPr lang="en-US" altLang="zh-CN" dirty="0" smtClean="0"/>
          </a:p>
          <a:p>
            <a:r>
              <a:rPr lang="zh-CN" altLang="en-US" dirty="0"/>
              <a:t>网</a:t>
            </a:r>
            <a:r>
              <a:rPr lang="zh-CN" altLang="en-US" dirty="0" smtClean="0"/>
              <a:t>络线路，通信协议，业务逻辑，内核使用率优化，快速存储技术等。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核心的业务逻辑的处</a:t>
            </a:r>
            <a:r>
              <a:rPr lang="zh-CN" altLang="en-US" dirty="0" smtClean="0"/>
              <a:t>理用</a:t>
            </a:r>
            <a:r>
              <a:rPr lang="zh-CN" altLang="en-US" dirty="0"/>
              <a:t>到一些数学建</a:t>
            </a:r>
            <a:r>
              <a:rPr lang="zh-CN" altLang="en-US" dirty="0" smtClean="0"/>
              <a:t>模，但通常并不复杂。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就业多在投行的高频交易部门（</a:t>
            </a:r>
            <a:r>
              <a:rPr lang="en-US" altLang="zh-CN" dirty="0" smtClean="0"/>
              <a:t>market</a:t>
            </a:r>
            <a:r>
              <a:rPr lang="zh-CN" altLang="en-US" dirty="0" smtClean="0"/>
              <a:t> </a:t>
            </a:r>
            <a:r>
              <a:rPr lang="en-US" altLang="zh-CN" dirty="0" smtClean="0"/>
              <a:t>making</a:t>
            </a:r>
            <a:r>
              <a:rPr lang="zh-CN" altLang="en-US" dirty="0" smtClean="0"/>
              <a:t>），专著高频交易的基金公司等。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40376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830859" y="1143000"/>
            <a:ext cx="65614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1.</a:t>
            </a:r>
            <a:r>
              <a:rPr lang="zh-CN" altLang="en-US" dirty="0" smtClean="0"/>
              <a:t> </a:t>
            </a:r>
            <a:r>
              <a:rPr lang="en-US" altLang="zh-CN" dirty="0" smtClean="0"/>
              <a:t>Quant</a:t>
            </a:r>
            <a:r>
              <a:rPr lang="zh-CN" altLang="en-US" dirty="0" smtClean="0"/>
              <a:t>是做什么的？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2.</a:t>
            </a:r>
            <a:r>
              <a:rPr lang="zh-CN" altLang="en-US" dirty="0" smtClean="0"/>
              <a:t>有哪几种</a:t>
            </a:r>
            <a:r>
              <a:rPr lang="en-US" altLang="zh-CN" dirty="0" smtClean="0"/>
              <a:t>Quant </a:t>
            </a:r>
            <a:r>
              <a:rPr lang="en-US" dirty="0" smtClean="0"/>
              <a:t>？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3.</a:t>
            </a:r>
            <a:r>
              <a:rPr lang="zh-CN" altLang="en-US" dirty="0" smtClean="0"/>
              <a:t> </a:t>
            </a:r>
            <a:r>
              <a:rPr lang="en-US" altLang="zh-CN" dirty="0" smtClean="0"/>
              <a:t>Quant</a:t>
            </a:r>
            <a:r>
              <a:rPr lang="zh-CN" altLang="en-US" dirty="0" smtClean="0"/>
              <a:t>工作的领域？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4.</a:t>
            </a:r>
            <a:r>
              <a:rPr lang="zh-CN" altLang="en-US" dirty="0" smtClean="0"/>
              <a:t> </a:t>
            </a:r>
            <a:r>
              <a:rPr lang="en-US" altLang="zh-CN" dirty="0" smtClean="0"/>
              <a:t>Quant</a:t>
            </a:r>
            <a:r>
              <a:rPr lang="zh-CN" altLang="en-US" dirty="0" smtClean="0"/>
              <a:t>一般在哪些公司工作？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5.</a:t>
            </a:r>
            <a:r>
              <a:rPr lang="zh-CN" altLang="en-US" dirty="0" smtClean="0"/>
              <a:t>成为一个</a:t>
            </a:r>
            <a:r>
              <a:rPr lang="en-US" altLang="zh-CN" dirty="0" smtClean="0"/>
              <a:t>Quant</a:t>
            </a:r>
            <a:r>
              <a:rPr lang="zh-CN" altLang="en-US" dirty="0" smtClean="0"/>
              <a:t>需要哪些知识</a:t>
            </a:r>
            <a:r>
              <a:rPr lang="en-US" altLang="zh-CN" dirty="0" smtClean="0"/>
              <a:t>?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6</a:t>
            </a:r>
            <a:r>
              <a:rPr lang="en-US" altLang="zh-CN" dirty="0" smtClean="0"/>
              <a:t>. Quant</a:t>
            </a:r>
            <a:r>
              <a:rPr lang="zh-CN" altLang="en-US" dirty="0" smtClean="0"/>
              <a:t>需要什么编程能力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7. </a:t>
            </a:r>
            <a:r>
              <a:rPr lang="zh-CN" altLang="en-US" dirty="0" smtClean="0"/>
              <a:t>收入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8</a:t>
            </a:r>
            <a:r>
              <a:rPr lang="en-US" altLang="zh-CN" dirty="0" smtClean="0"/>
              <a:t>. </a:t>
            </a:r>
            <a:r>
              <a:rPr lang="zh-CN" altLang="en-US" dirty="0"/>
              <a:t>工</a:t>
            </a:r>
            <a:r>
              <a:rPr lang="zh-CN" altLang="en-US" dirty="0" smtClean="0"/>
              <a:t>作时间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029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1.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是做什么的？</a:t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25827" y="2209800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Q</a:t>
            </a:r>
            <a:r>
              <a:rPr lang="en-US" dirty="0" smtClean="0"/>
              <a:t>uant</a:t>
            </a:r>
            <a:r>
              <a:rPr lang="zh-CN" altLang="en-US" dirty="0"/>
              <a:t>的工作就是设计并实现金融的数学模型（主要采用计算机编程），包括衍生物定价，风险估价或预测市场行为等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07582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2.</a:t>
            </a:r>
            <a:r>
              <a:rPr lang="zh-CN" altLang="en-US" sz="3000" dirty="0" smtClean="0">
                <a:solidFill>
                  <a:srgbClr val="575757"/>
                </a:solidFill>
              </a:rPr>
              <a:t>有哪几种</a:t>
            </a:r>
            <a:r>
              <a:rPr lang="en-US" altLang="zh-CN" sz="3000" dirty="0" smtClean="0">
                <a:solidFill>
                  <a:srgbClr val="575757"/>
                </a:solidFill>
              </a:rPr>
              <a:t>Quant </a:t>
            </a:r>
            <a:r>
              <a:rPr lang="zh-CN" altLang="en-US" sz="3000" dirty="0" smtClean="0">
                <a:solidFill>
                  <a:srgbClr val="575757"/>
                </a:solidFill>
              </a:rPr>
              <a:t>？</a:t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/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01113" y="1600200"/>
            <a:ext cx="6629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a. desk </a:t>
            </a:r>
            <a:r>
              <a:rPr lang="en-US" sz="1400" b="1" dirty="0"/>
              <a:t>quant </a:t>
            </a:r>
            <a:endParaRPr lang="en-US" sz="1400" b="1" dirty="0" smtClean="0"/>
          </a:p>
          <a:p>
            <a:r>
              <a:rPr lang="en-US" sz="1400" dirty="0" smtClean="0"/>
              <a:t>desk </a:t>
            </a:r>
            <a:r>
              <a:rPr lang="en-US" sz="1400" dirty="0"/>
              <a:t>quant </a:t>
            </a:r>
            <a:r>
              <a:rPr lang="zh-CN" altLang="en-US" sz="1400" dirty="0"/>
              <a:t>开发直接被交易员使用的价格模型</a:t>
            </a:r>
            <a:r>
              <a:rPr lang="en-US" sz="1400" dirty="0"/>
              <a:t>. </a:t>
            </a:r>
            <a:r>
              <a:rPr lang="zh-CN" altLang="en-US" sz="1400" dirty="0"/>
              <a:t>优势是接近交易中所遇到的</a:t>
            </a:r>
            <a:r>
              <a:rPr lang="en-US" sz="1400" dirty="0"/>
              <a:t>money</a:t>
            </a:r>
            <a:r>
              <a:rPr lang="zh-CN" altLang="en-US" sz="1400" dirty="0"/>
              <a:t>和机会</a:t>
            </a:r>
            <a:r>
              <a:rPr lang="en-US" sz="1400" dirty="0"/>
              <a:t>. </a:t>
            </a:r>
            <a:r>
              <a:rPr lang="zh-CN" altLang="en-US" sz="1400" dirty="0"/>
              <a:t>劣势是压力很大</a:t>
            </a:r>
            <a:r>
              <a:rPr lang="en-US" sz="1400" dirty="0"/>
              <a:t>. </a:t>
            </a:r>
          </a:p>
          <a:p>
            <a:r>
              <a:rPr lang="en-US" sz="1400" b="1" dirty="0"/>
              <a:t>b. Model validating quant </a:t>
            </a:r>
            <a:endParaRPr lang="en-US" sz="1400" b="1" dirty="0" smtClean="0"/>
          </a:p>
          <a:p>
            <a:r>
              <a:rPr lang="en-US" sz="1400" dirty="0" smtClean="0"/>
              <a:t>model </a:t>
            </a:r>
            <a:r>
              <a:rPr lang="en-US" sz="1400" dirty="0"/>
              <a:t>validating quant </a:t>
            </a:r>
            <a:r>
              <a:rPr lang="zh-CN" altLang="en-US" sz="1400" dirty="0"/>
              <a:t>独立开发价格模型</a:t>
            </a:r>
            <a:r>
              <a:rPr lang="en-US" sz="1400" dirty="0"/>
              <a:t>,</a:t>
            </a:r>
            <a:r>
              <a:rPr lang="zh-CN" altLang="en-US" sz="1400" dirty="0"/>
              <a:t>不过是为了确定</a:t>
            </a:r>
            <a:r>
              <a:rPr lang="en-US" sz="1400" dirty="0"/>
              <a:t>desk quant</a:t>
            </a:r>
            <a:r>
              <a:rPr lang="zh-CN" altLang="en-US" sz="1400" dirty="0"/>
              <a:t>开发的模型的正确性</a:t>
            </a:r>
            <a:r>
              <a:rPr lang="en-US" sz="1400" dirty="0"/>
              <a:t>. </a:t>
            </a:r>
            <a:r>
              <a:rPr lang="zh-CN" altLang="en-US" sz="1400" dirty="0"/>
              <a:t>优势是更轻松</a:t>
            </a:r>
            <a:r>
              <a:rPr lang="en-US" sz="1400" dirty="0"/>
              <a:t>,</a:t>
            </a:r>
            <a:r>
              <a:rPr lang="zh-CN" altLang="en-US" sz="1400" dirty="0"/>
              <a:t>压力比较小</a:t>
            </a:r>
            <a:r>
              <a:rPr lang="en-US" sz="1400" dirty="0"/>
              <a:t>. </a:t>
            </a:r>
            <a:r>
              <a:rPr lang="zh-CN" altLang="en-US" sz="1400" dirty="0"/>
              <a:t>劣势是这种小组会比较没有作为而且远离</a:t>
            </a:r>
            <a:r>
              <a:rPr lang="en-US" sz="1400" dirty="0"/>
              <a:t>money. </a:t>
            </a:r>
          </a:p>
          <a:p>
            <a:r>
              <a:rPr lang="en-US" sz="1400" b="1" dirty="0" smtClean="0"/>
              <a:t>c</a:t>
            </a:r>
            <a:r>
              <a:rPr lang="en-US" sz="1400" b="1" dirty="0"/>
              <a:t>. Research quant </a:t>
            </a:r>
            <a:endParaRPr lang="en-US" sz="1400" b="1" dirty="0" smtClean="0"/>
          </a:p>
          <a:p>
            <a:r>
              <a:rPr lang="en-US" sz="1400" dirty="0" smtClean="0"/>
              <a:t>Research </a:t>
            </a:r>
            <a:r>
              <a:rPr lang="en-US" sz="1400" dirty="0"/>
              <a:t>quant </a:t>
            </a:r>
            <a:r>
              <a:rPr lang="zh-CN" altLang="en-US" sz="1400" dirty="0"/>
              <a:t>尝试发明新的价格公式和模型</a:t>
            </a:r>
            <a:r>
              <a:rPr lang="en-US" sz="1400" dirty="0" smtClean="0"/>
              <a:t>,. </a:t>
            </a:r>
            <a:r>
              <a:rPr lang="zh-CN" altLang="en-US" sz="1400" dirty="0"/>
              <a:t>优势是比较有趣</a:t>
            </a:r>
            <a:r>
              <a:rPr lang="en-US" sz="1400" dirty="0"/>
              <a:t>(</a:t>
            </a:r>
            <a:r>
              <a:rPr lang="zh-CN" altLang="en-US" sz="1400" dirty="0"/>
              <a:t>对喜欢这些人来说</a:t>
            </a:r>
            <a:r>
              <a:rPr lang="en-US" sz="1400" dirty="0"/>
              <a:t>),</a:t>
            </a:r>
            <a:r>
              <a:rPr lang="zh-CN" altLang="en-US" sz="1400" dirty="0"/>
              <a:t>而且你学到很多东西</a:t>
            </a:r>
            <a:r>
              <a:rPr lang="en-US" sz="1400" dirty="0"/>
              <a:t>. </a:t>
            </a:r>
            <a:endParaRPr lang="en-US" sz="1400" dirty="0" smtClean="0"/>
          </a:p>
          <a:p>
            <a:r>
              <a:rPr lang="en-US" sz="1400" b="1" dirty="0" smtClean="0"/>
              <a:t>d</a:t>
            </a:r>
            <a:r>
              <a:rPr lang="en-US" sz="1400" b="1" dirty="0"/>
              <a:t>. quant developer </a:t>
            </a:r>
            <a:endParaRPr lang="en-US" sz="1400" b="1" dirty="0" smtClean="0"/>
          </a:p>
          <a:p>
            <a:r>
              <a:rPr lang="zh-CN" altLang="en-US" sz="1400" dirty="0" smtClean="0"/>
              <a:t>负责程序开发的的工程师</a:t>
            </a:r>
            <a:r>
              <a:rPr lang="en-US" sz="1400" dirty="0" smtClean="0"/>
              <a:t>,</a:t>
            </a:r>
            <a:r>
              <a:rPr lang="zh-CN" altLang="en-US" sz="1400" dirty="0"/>
              <a:t>但收入很不错而且很容易找到工作</a:t>
            </a:r>
            <a:r>
              <a:rPr lang="en-US" sz="1400" dirty="0"/>
              <a:t>. </a:t>
            </a:r>
            <a:r>
              <a:rPr lang="zh-CN" altLang="en-US" sz="1400" dirty="0"/>
              <a:t>这种工作变化很大</a:t>
            </a:r>
            <a:r>
              <a:rPr lang="en-US" sz="1400" dirty="0"/>
              <a:t>. </a:t>
            </a:r>
            <a:r>
              <a:rPr lang="zh-CN" altLang="en-US" sz="1400" dirty="0"/>
              <a:t>它可能是一直在写代码</a:t>
            </a:r>
            <a:r>
              <a:rPr lang="en-US" sz="1400" dirty="0"/>
              <a:t>,</a:t>
            </a:r>
            <a:r>
              <a:rPr lang="zh-CN" altLang="en-US" sz="1400" dirty="0"/>
              <a:t>或者调试其他人的大型系统</a:t>
            </a:r>
            <a:r>
              <a:rPr lang="en-US" sz="1400" dirty="0"/>
              <a:t>. </a:t>
            </a:r>
            <a:endParaRPr lang="en-US" sz="1400" dirty="0" smtClean="0"/>
          </a:p>
          <a:p>
            <a:r>
              <a:rPr lang="en-US" sz="1400" b="1" dirty="0" smtClean="0"/>
              <a:t>e</a:t>
            </a:r>
            <a:r>
              <a:rPr lang="en-US" sz="1400" b="1" dirty="0"/>
              <a:t>. Statistical arbitrage quant </a:t>
            </a:r>
            <a:endParaRPr lang="en-US" sz="1400" b="1" dirty="0" smtClean="0"/>
          </a:p>
          <a:p>
            <a:r>
              <a:rPr lang="en-US" sz="1400" dirty="0" smtClean="0"/>
              <a:t>Statistical </a:t>
            </a:r>
            <a:r>
              <a:rPr lang="en-US" sz="1400" dirty="0"/>
              <a:t>arbitrage quant </a:t>
            </a:r>
            <a:r>
              <a:rPr lang="zh-CN" altLang="en-US" sz="1400" dirty="0"/>
              <a:t>在数据中寻找自动交易系统的模式</a:t>
            </a:r>
            <a:r>
              <a:rPr lang="en-US" sz="1400" dirty="0"/>
              <a:t>(</a:t>
            </a:r>
            <a:r>
              <a:rPr lang="zh-CN" altLang="en-US" sz="1400" dirty="0"/>
              <a:t>就是套利系统</a:t>
            </a:r>
            <a:r>
              <a:rPr lang="en-US" sz="1400" dirty="0"/>
              <a:t>). </a:t>
            </a:r>
            <a:r>
              <a:rPr lang="zh-CN" altLang="en-US" sz="1400" dirty="0"/>
              <a:t>这种技术比起衍生物定价的技术有很大的不同</a:t>
            </a:r>
            <a:r>
              <a:rPr lang="en-US" sz="1400" dirty="0"/>
              <a:t>, </a:t>
            </a:r>
            <a:r>
              <a:rPr lang="zh-CN" altLang="en-US" sz="1400" dirty="0"/>
              <a:t>它主要用在对冲基金里</a:t>
            </a:r>
            <a:r>
              <a:rPr lang="en-US" sz="1400" dirty="0"/>
              <a:t>. </a:t>
            </a:r>
            <a:r>
              <a:rPr lang="zh-CN" altLang="en-US" sz="1400" dirty="0"/>
              <a:t>而且这种位置的回报是极不稳定的</a:t>
            </a:r>
            <a:r>
              <a:rPr lang="en-US" sz="1400" dirty="0" smtClean="0"/>
              <a:t>.</a:t>
            </a:r>
            <a:endParaRPr lang="en-US" sz="1400" dirty="0"/>
          </a:p>
          <a:p>
            <a:r>
              <a:rPr lang="en-US" sz="1400" b="1" dirty="0"/>
              <a:t> d. capital quant capital quant </a:t>
            </a:r>
            <a:endParaRPr lang="en-US" sz="1400" b="1" dirty="0" smtClean="0"/>
          </a:p>
          <a:p>
            <a:r>
              <a:rPr lang="zh-CN" altLang="en-US" sz="1400" dirty="0" smtClean="0"/>
              <a:t>建</a:t>
            </a:r>
            <a:r>
              <a:rPr lang="zh-CN" altLang="en-US" sz="1400" dirty="0"/>
              <a:t>立银行的信用和资本模型</a:t>
            </a:r>
            <a:r>
              <a:rPr lang="en-US" sz="1400" dirty="0"/>
              <a:t>. </a:t>
            </a:r>
            <a:r>
              <a:rPr lang="zh-CN" altLang="en-US" sz="1400" dirty="0"/>
              <a:t>相比衍生物定价相关的工作</a:t>
            </a:r>
            <a:r>
              <a:rPr lang="en-US" sz="1400" dirty="0"/>
              <a:t>,</a:t>
            </a:r>
            <a:r>
              <a:rPr lang="zh-CN" altLang="en-US" sz="1400" dirty="0"/>
              <a:t>它没有那么吸引人</a:t>
            </a:r>
            <a:r>
              <a:rPr lang="en-US" sz="1400" dirty="0"/>
              <a:t>,</a:t>
            </a:r>
            <a:r>
              <a:rPr lang="zh-CN" altLang="en-US" sz="1400" dirty="0"/>
              <a:t>但是随着巴塞尔</a:t>
            </a:r>
            <a:r>
              <a:rPr lang="en-US" sz="1400" dirty="0"/>
              <a:t>II</a:t>
            </a:r>
            <a:r>
              <a:rPr lang="zh-CN" altLang="en-US" sz="1400" dirty="0"/>
              <a:t>银行协议的到来</a:t>
            </a:r>
            <a:r>
              <a:rPr lang="en-US" sz="1400" dirty="0"/>
              <a:t>,</a:t>
            </a:r>
            <a:r>
              <a:rPr lang="zh-CN" altLang="en-US" sz="1400" dirty="0"/>
              <a:t>它变的越来越重要</a:t>
            </a:r>
            <a:r>
              <a:rPr lang="en-US" sz="1400" dirty="0"/>
              <a:t>. </a:t>
            </a:r>
            <a:r>
              <a:rPr lang="zh-CN" altLang="en-US" sz="1400" dirty="0"/>
              <a:t>你会得到不错的收入</a:t>
            </a:r>
            <a:r>
              <a:rPr lang="en-US" sz="1400" dirty="0"/>
              <a:t>(</a:t>
            </a:r>
            <a:r>
              <a:rPr lang="zh-CN" altLang="en-US" sz="1400" dirty="0"/>
              <a:t>但不会很多</a:t>
            </a:r>
            <a:r>
              <a:rPr lang="en-US" sz="1400" dirty="0"/>
              <a:t>),</a:t>
            </a:r>
            <a:r>
              <a:rPr lang="zh-CN" altLang="en-US" sz="1400" dirty="0"/>
              <a:t>更少的压力和更少的工作时间</a:t>
            </a:r>
            <a:r>
              <a:rPr lang="en-US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782295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3.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工作的领域？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01113" y="1600200"/>
            <a:ext cx="66294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a.FX</a:t>
            </a:r>
            <a:r>
              <a:rPr lang="en-US" sz="1400" b="1" dirty="0"/>
              <a:t> </a:t>
            </a:r>
            <a:endParaRPr lang="en-US" sz="1400" b="1" dirty="0" smtClean="0"/>
          </a:p>
          <a:p>
            <a:r>
              <a:rPr lang="en-US" sz="1400" dirty="0" smtClean="0"/>
              <a:t>FX</a:t>
            </a:r>
            <a:r>
              <a:rPr lang="zh-CN" altLang="en-US" sz="1400" dirty="0"/>
              <a:t>就是外汇交易的简写</a:t>
            </a:r>
            <a:r>
              <a:rPr lang="en-US" sz="1400" dirty="0"/>
              <a:t>. </a:t>
            </a:r>
            <a:r>
              <a:rPr lang="zh-CN" altLang="en-US" sz="1400" dirty="0"/>
              <a:t>合同趋向于短期</a:t>
            </a:r>
            <a:r>
              <a:rPr lang="en-US" sz="1400" dirty="0"/>
              <a:t>,</a:t>
            </a:r>
            <a:r>
              <a:rPr lang="zh-CN" altLang="en-US" sz="1400" dirty="0"/>
              <a:t>大量的金额和简单的规</a:t>
            </a:r>
            <a:r>
              <a:rPr lang="zh-CN" altLang="en-US" sz="1400" dirty="0" smtClean="0"/>
              <a:t>定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 err="1"/>
              <a:t>b.Equities</a:t>
            </a:r>
            <a:r>
              <a:rPr lang="en-US" sz="1400" b="1" dirty="0"/>
              <a:t> </a:t>
            </a:r>
            <a:endParaRPr lang="en-US" sz="1400" b="1" dirty="0" smtClean="0"/>
          </a:p>
          <a:p>
            <a:r>
              <a:rPr lang="en-US" sz="1400" dirty="0" smtClean="0"/>
              <a:t>Equities</a:t>
            </a:r>
            <a:r>
              <a:rPr lang="zh-CN" altLang="en-US" sz="1400" dirty="0"/>
              <a:t>的意思是股票和指数的期权</a:t>
            </a:r>
            <a:r>
              <a:rPr lang="en-US" sz="1400" dirty="0"/>
              <a:t>. </a:t>
            </a:r>
            <a:r>
              <a:rPr lang="zh-CN" altLang="en-US" sz="1400" dirty="0"/>
              <a:t>技术偏向于偏微分方程</a:t>
            </a:r>
            <a:r>
              <a:rPr lang="en-US" sz="1400" dirty="0"/>
              <a:t>(</a:t>
            </a:r>
            <a:r>
              <a:rPr lang="en-US" sz="1400" dirty="0" smtClean="0"/>
              <a:t>PDE)</a:t>
            </a:r>
            <a:r>
              <a:rPr lang="zh-CN" altLang="en-US" sz="1400" dirty="0" smtClean="0"/>
              <a:t>和统计套利</a:t>
            </a:r>
            <a:r>
              <a:rPr lang="en-US" sz="1400" dirty="0" smtClean="0"/>
              <a:t>. </a:t>
            </a:r>
          </a:p>
          <a:p>
            <a:endParaRPr lang="en-US" sz="1400" dirty="0"/>
          </a:p>
          <a:p>
            <a:r>
              <a:rPr lang="en-US" sz="1400" b="1" dirty="0" err="1"/>
              <a:t>c.Fixed</a:t>
            </a:r>
            <a:r>
              <a:rPr lang="en-US" sz="1400" b="1" dirty="0"/>
              <a:t> income </a:t>
            </a:r>
            <a:endParaRPr lang="en-US" sz="1400" b="1" dirty="0" smtClean="0"/>
          </a:p>
          <a:p>
            <a:r>
              <a:rPr lang="en-US" sz="1400" dirty="0" smtClean="0"/>
              <a:t>Fixed </a:t>
            </a:r>
            <a:r>
              <a:rPr lang="en-US" sz="1400" dirty="0"/>
              <a:t>income</a:t>
            </a:r>
            <a:r>
              <a:rPr lang="zh-CN" altLang="en-US" sz="1400" dirty="0"/>
              <a:t>的意思是基于利息的衍生物</a:t>
            </a:r>
            <a:r>
              <a:rPr lang="en-US" sz="1400" dirty="0"/>
              <a:t>. </a:t>
            </a:r>
            <a:r>
              <a:rPr lang="zh-CN" altLang="en-US" sz="1400" dirty="0"/>
              <a:t>这从市值上来说可能是最大的市场</a:t>
            </a:r>
            <a:r>
              <a:rPr lang="en-US" sz="1400" dirty="0"/>
              <a:t>. </a:t>
            </a:r>
            <a:r>
              <a:rPr lang="zh-CN" altLang="en-US" sz="1400" dirty="0"/>
              <a:t>他用到的数学会更加复杂因为从根本上来说他是多维的</a:t>
            </a:r>
            <a:r>
              <a:rPr lang="en-US" sz="1400" dirty="0"/>
              <a:t>. </a:t>
            </a:r>
            <a:r>
              <a:rPr lang="zh-CN" altLang="en-US" sz="1400" dirty="0"/>
              <a:t>技术上的技巧会用的很多</a:t>
            </a:r>
            <a:r>
              <a:rPr lang="en-US" sz="1400" dirty="0"/>
              <a:t>. 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b="1" dirty="0" err="1"/>
              <a:t>d.Credit</a:t>
            </a:r>
            <a:r>
              <a:rPr lang="en-US" sz="1400" b="1" dirty="0"/>
              <a:t> derivatives </a:t>
            </a:r>
            <a:endParaRPr lang="en-US" sz="1400" b="1" dirty="0" smtClean="0"/>
          </a:p>
          <a:p>
            <a:r>
              <a:rPr lang="en-US" sz="1400" dirty="0" smtClean="0"/>
              <a:t>Credit </a:t>
            </a:r>
            <a:r>
              <a:rPr lang="en-US" sz="1400" dirty="0"/>
              <a:t>derivatives</a:t>
            </a:r>
            <a:r>
              <a:rPr lang="zh-CN" altLang="en-US" sz="1400" dirty="0"/>
              <a:t>是建立在那些公司债</a:t>
            </a:r>
            <a:r>
              <a:rPr lang="zh-CN" altLang="en-US" sz="1400" dirty="0" smtClean="0"/>
              <a:t>务的</a:t>
            </a:r>
            <a:r>
              <a:rPr lang="zh-CN" altLang="en-US" sz="1400" dirty="0"/>
              <a:t>衍生产</a:t>
            </a:r>
            <a:r>
              <a:rPr lang="zh-CN" altLang="en-US" sz="1400" dirty="0" smtClean="0"/>
              <a:t>品</a:t>
            </a:r>
            <a:r>
              <a:rPr lang="en-US" altLang="zh-CN" sz="1400" dirty="0" smtClean="0"/>
              <a:t>. </a:t>
            </a:r>
            <a:r>
              <a:rPr lang="zh-CN" altLang="en-US" sz="1400" dirty="0"/>
              <a:t>结构</a:t>
            </a:r>
            <a:r>
              <a:rPr lang="zh-CN" altLang="en-US" sz="1400" dirty="0" smtClean="0"/>
              <a:t>化债券</a:t>
            </a:r>
            <a:r>
              <a:rPr lang="en-US" altLang="zh-CN" sz="1400" dirty="0" smtClean="0"/>
              <a:t>, ABS MBS</a:t>
            </a:r>
            <a:r>
              <a:rPr lang="zh-CN" altLang="en-US" sz="1400" dirty="0" smtClean="0"/>
              <a:t>等</a:t>
            </a:r>
            <a:r>
              <a:rPr lang="en-US" altLang="zh-CN" sz="1400" dirty="0" smtClean="0"/>
              <a:t>.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b="1" dirty="0" smtClean="0"/>
              <a:t> </a:t>
            </a:r>
            <a:r>
              <a:rPr lang="en-US" sz="1400" b="1" dirty="0" err="1"/>
              <a:t>e.Commodities</a:t>
            </a:r>
            <a:r>
              <a:rPr lang="en-US" sz="1400" b="1" dirty="0"/>
              <a:t> </a:t>
            </a:r>
            <a:endParaRPr lang="en-US" sz="1400" b="1" dirty="0" smtClean="0"/>
          </a:p>
          <a:p>
            <a:r>
              <a:rPr lang="en-US" sz="1400" dirty="0" smtClean="0"/>
              <a:t>Commodities</a:t>
            </a:r>
            <a:r>
              <a:rPr lang="zh-CN" altLang="en-US" sz="1400" dirty="0"/>
              <a:t>因为最近几</a:t>
            </a:r>
            <a:r>
              <a:rPr lang="zh-CN" altLang="en-US" sz="1400" dirty="0" smtClean="0"/>
              <a:t>年</a:t>
            </a:r>
            <a:r>
              <a:rPr lang="zh-CN" altLang="en-US" sz="1400" dirty="0"/>
              <a:t>石</a:t>
            </a:r>
            <a:r>
              <a:rPr lang="zh-CN" altLang="en-US" sz="1400" dirty="0" smtClean="0"/>
              <a:t>油黄金价格的发福波动</a:t>
            </a:r>
            <a:r>
              <a:rPr lang="en-US" sz="1400" dirty="0" smtClean="0"/>
              <a:t>,</a:t>
            </a:r>
            <a:r>
              <a:rPr lang="zh-CN" altLang="en-US" sz="1400" dirty="0"/>
              <a:t>也成为一个发展迅速的领域</a:t>
            </a:r>
            <a:r>
              <a:rPr lang="en-US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710202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一般在哪些公司工作？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01113" y="1600200"/>
            <a:ext cx="66294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</a:t>
            </a:r>
            <a:r>
              <a:rPr lang="en-US" sz="1400" dirty="0" smtClean="0"/>
              <a:t>. </a:t>
            </a:r>
            <a:r>
              <a:rPr lang="zh-CN" altLang="en-US" sz="1400" dirty="0" smtClean="0"/>
              <a:t>投</a:t>
            </a:r>
            <a:r>
              <a:rPr lang="zh-CN" altLang="en-US" sz="1400" dirty="0"/>
              <a:t>行</a:t>
            </a:r>
            <a:r>
              <a:rPr lang="en-US" sz="1400" dirty="0"/>
              <a:t> (</a:t>
            </a:r>
            <a:r>
              <a:rPr lang="zh-CN" altLang="en-US" sz="1400" dirty="0"/>
              <a:t>高</a:t>
            </a:r>
            <a:r>
              <a:rPr lang="zh-CN" altLang="en-US" sz="1400" dirty="0" smtClean="0"/>
              <a:t>盛</a:t>
            </a:r>
            <a:r>
              <a:rPr lang="en-US" sz="1400" dirty="0" smtClean="0"/>
              <a:t>, MS, JPM) </a:t>
            </a:r>
          </a:p>
          <a:p>
            <a:r>
              <a:rPr lang="zh-CN" altLang="en-US" sz="1400" dirty="0" smtClean="0"/>
              <a:t>投行需要大量的工作时间但工资很高</a:t>
            </a:r>
            <a:r>
              <a:rPr lang="en-US" sz="1400" dirty="0" smtClean="0"/>
              <a:t>. </a:t>
            </a:r>
            <a:r>
              <a:rPr lang="zh-CN" altLang="en-US" sz="1400" dirty="0" smtClean="0"/>
              <a:t>公司</a:t>
            </a:r>
            <a:r>
              <a:rPr lang="en-US" altLang="zh-CN" sz="1400" dirty="0" smtClean="0"/>
              <a:t>big</a:t>
            </a:r>
            <a:r>
              <a:rPr lang="zh-CN" altLang="en-US" sz="1400" dirty="0" smtClean="0"/>
              <a:t> </a:t>
            </a:r>
            <a:r>
              <a:rPr lang="en-US" altLang="zh-CN" sz="1400" dirty="0" smtClean="0"/>
              <a:t>name</a:t>
            </a:r>
            <a:r>
              <a:rPr lang="zh-CN" altLang="en-US" sz="1400" dirty="0" smtClean="0"/>
              <a:t>，适合职业发展起步，接受更全面的职业化训练，同时增添简历分量。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dirty="0" smtClean="0"/>
              <a:t>b.</a:t>
            </a:r>
            <a:r>
              <a:rPr lang="zh-CN" altLang="en-US" sz="1400" dirty="0"/>
              <a:t>对冲基金</a:t>
            </a:r>
            <a:r>
              <a:rPr lang="en-US" sz="1400" dirty="0"/>
              <a:t> (Citadel Group) </a:t>
            </a:r>
            <a:endParaRPr lang="en-US" sz="1400" dirty="0" smtClean="0"/>
          </a:p>
          <a:p>
            <a:r>
              <a:rPr lang="zh-CN" altLang="en-US" sz="1400" dirty="0" smtClean="0"/>
              <a:t>对</a:t>
            </a:r>
            <a:r>
              <a:rPr lang="zh-CN" altLang="en-US" sz="1400" dirty="0"/>
              <a:t>冲基金需要大量的工作时间和内容</a:t>
            </a:r>
            <a:r>
              <a:rPr lang="en-US" sz="1400" dirty="0" smtClean="0"/>
              <a:t>,</a:t>
            </a:r>
            <a:r>
              <a:rPr lang="zh-CN" altLang="en-US" sz="1400" dirty="0" smtClean="0"/>
              <a:t> 公司相对银行规模较小</a:t>
            </a:r>
            <a:r>
              <a:rPr lang="en-US" sz="1400" dirty="0" smtClean="0"/>
              <a:t>.</a:t>
            </a:r>
            <a:r>
              <a:rPr lang="zh-CN" altLang="en-US" sz="1400" dirty="0" smtClean="0"/>
              <a:t> 可以更贴近业务，所开发的策略会直接影响基金的</a:t>
            </a:r>
            <a:r>
              <a:rPr lang="en-US" altLang="zh-CN" sz="1400" dirty="0" smtClean="0"/>
              <a:t>PNL</a:t>
            </a:r>
            <a:r>
              <a:rPr lang="zh-CN" altLang="en-US" sz="1400" dirty="0" smtClean="0"/>
              <a:t>。</a:t>
            </a:r>
            <a:r>
              <a:rPr lang="en-US" sz="1400" dirty="0" smtClean="0"/>
              <a:t> </a:t>
            </a:r>
          </a:p>
          <a:p>
            <a:endParaRPr lang="en-US" sz="1400" dirty="0" smtClean="0"/>
          </a:p>
          <a:p>
            <a:r>
              <a:rPr lang="en-US" sz="1400" dirty="0"/>
              <a:t>c</a:t>
            </a:r>
            <a:r>
              <a:rPr lang="en-US" sz="1400" dirty="0" smtClean="0"/>
              <a:t>.</a:t>
            </a:r>
            <a:r>
              <a:rPr lang="zh-CN" altLang="en-US" sz="1400" dirty="0" smtClean="0"/>
              <a:t>商业银行</a:t>
            </a:r>
            <a:r>
              <a:rPr lang="en-US" sz="1400" dirty="0" smtClean="0"/>
              <a:t> (HSBC, RBS) </a:t>
            </a:r>
          </a:p>
          <a:p>
            <a:r>
              <a:rPr lang="zh-CN" altLang="en-US" sz="1400" dirty="0" smtClean="0"/>
              <a:t>商业银行的</a:t>
            </a:r>
            <a:r>
              <a:rPr lang="en-US" altLang="zh-CN" sz="1400" dirty="0" smtClean="0"/>
              <a:t>quant</a:t>
            </a:r>
            <a:r>
              <a:rPr lang="zh-CN" altLang="en-US" sz="1400" dirty="0" smtClean="0"/>
              <a:t>工作大多侧重风控和合规部门，工作会比较稳定</a:t>
            </a:r>
            <a:r>
              <a:rPr lang="en-US" sz="1400" dirty="0" smtClean="0"/>
              <a:t>. 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d.</a:t>
            </a:r>
            <a:r>
              <a:rPr lang="zh-CN" altLang="en-US" sz="1400" dirty="0"/>
              <a:t>会计公司 </a:t>
            </a:r>
            <a:endParaRPr lang="en-US" altLang="zh-CN" sz="1400" dirty="0" smtClean="0"/>
          </a:p>
          <a:p>
            <a:r>
              <a:rPr lang="zh-CN" altLang="en-US" sz="1400" dirty="0" smtClean="0"/>
              <a:t>大</a:t>
            </a:r>
            <a:r>
              <a:rPr lang="zh-CN" altLang="en-US" sz="1400" dirty="0"/>
              <a:t>型会计公司会有自己的顾问</a:t>
            </a:r>
            <a:r>
              <a:rPr lang="en-US" sz="1400" dirty="0"/>
              <a:t>quant</a:t>
            </a:r>
            <a:r>
              <a:rPr lang="zh-CN" altLang="en-US" sz="1400" dirty="0"/>
              <a:t>团</a:t>
            </a:r>
            <a:r>
              <a:rPr lang="zh-CN" altLang="en-US" sz="1400" dirty="0" smtClean="0"/>
              <a:t>队</a:t>
            </a:r>
            <a:r>
              <a:rPr lang="en-US" altLang="zh-CN" sz="1400" dirty="0" smtClean="0"/>
              <a:t>. </a:t>
            </a:r>
            <a:r>
              <a:rPr lang="zh-CN" altLang="en-US" sz="1400" dirty="0" smtClean="0"/>
              <a:t>主</a:t>
            </a:r>
            <a:r>
              <a:rPr lang="zh-CN" altLang="en-US" sz="1400" dirty="0"/>
              <a:t>要的劣势在于你远离具体的行为和决策</a:t>
            </a:r>
            <a:r>
              <a:rPr lang="en-US" sz="1400" dirty="0" smtClean="0"/>
              <a:t>,</a:t>
            </a:r>
            <a:r>
              <a:rPr lang="zh-CN" altLang="en-US" sz="1400" dirty="0" smtClean="0"/>
              <a:t> 距离产生利润的金融交易较远</a:t>
            </a:r>
            <a:r>
              <a:rPr lang="en-US" sz="1400" dirty="0" smtClean="0"/>
              <a:t>. </a:t>
            </a:r>
          </a:p>
          <a:p>
            <a:endParaRPr lang="en-US" sz="1400" dirty="0"/>
          </a:p>
          <a:p>
            <a:r>
              <a:rPr lang="en-US" sz="1400" dirty="0"/>
              <a:t>e.</a:t>
            </a:r>
            <a:r>
              <a:rPr lang="zh-CN" altLang="en-US" sz="1400" dirty="0"/>
              <a:t>软件公司 </a:t>
            </a:r>
            <a:endParaRPr lang="en-US" altLang="zh-CN" sz="1400" dirty="0" smtClean="0"/>
          </a:p>
          <a:p>
            <a:r>
              <a:rPr lang="zh-CN" altLang="en-US" sz="1400" dirty="0" smtClean="0"/>
              <a:t>外</a:t>
            </a:r>
            <a:r>
              <a:rPr lang="zh-CN" altLang="en-US" sz="1400" dirty="0"/>
              <a:t>包</a:t>
            </a:r>
            <a:r>
              <a:rPr lang="en-US" sz="1400" dirty="0"/>
              <a:t>quant</a:t>
            </a:r>
            <a:r>
              <a:rPr lang="zh-CN" altLang="en-US" sz="1400" dirty="0"/>
              <a:t>模型变得越来越流行</a:t>
            </a:r>
            <a:r>
              <a:rPr lang="en-US" sz="1400" dirty="0"/>
              <a:t>. </a:t>
            </a:r>
            <a:r>
              <a:rPr lang="zh-CN" altLang="en-US" sz="1400" dirty="0"/>
              <a:t>所以你去软件公司也是一个选择</a:t>
            </a:r>
            <a:r>
              <a:rPr lang="en-US" sz="1400" dirty="0"/>
              <a:t>. </a:t>
            </a:r>
            <a:r>
              <a:rPr lang="zh-CN" altLang="en-US" sz="1400" dirty="0"/>
              <a:t>劣势和会计公司比较类似</a:t>
            </a:r>
            <a:r>
              <a:rPr lang="en-US" sz="1400" dirty="0"/>
              <a:t>. </a:t>
            </a:r>
            <a:r>
              <a:rPr lang="zh-CN" altLang="en-US" sz="1400" dirty="0" smtClean="0"/>
              <a:t>另一类</a:t>
            </a:r>
            <a:r>
              <a:rPr lang="en-US" altLang="zh-CN" sz="1400" dirty="0" smtClean="0"/>
              <a:t>IT</a:t>
            </a:r>
            <a:r>
              <a:rPr lang="zh-CN" altLang="en-US" sz="1400" dirty="0" smtClean="0"/>
              <a:t>公司是类似</a:t>
            </a:r>
            <a:r>
              <a:rPr lang="en-US" altLang="zh-CN" sz="1400" dirty="0" smtClean="0"/>
              <a:t>Bloomberg</a:t>
            </a:r>
            <a:r>
              <a:rPr lang="zh-CN" altLang="en-US" sz="1400" dirty="0" smtClean="0"/>
              <a:t>的信息服务商，新员工的薪资水平较投资银行更高。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534856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830859" y="2020163"/>
            <a:ext cx="65614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5.</a:t>
            </a:r>
            <a:r>
              <a:rPr lang="zh-CN" altLang="en-US" dirty="0" smtClean="0"/>
              <a:t>成为一个</a:t>
            </a:r>
            <a:r>
              <a:rPr lang="en-US" altLang="zh-CN" dirty="0" smtClean="0"/>
              <a:t>Quant</a:t>
            </a:r>
            <a:r>
              <a:rPr lang="zh-CN" altLang="en-US" dirty="0" smtClean="0"/>
              <a:t>需要哪些知识</a:t>
            </a:r>
            <a:r>
              <a:rPr lang="en-US" altLang="zh-CN" dirty="0" smtClean="0"/>
              <a:t>?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6</a:t>
            </a:r>
            <a:r>
              <a:rPr lang="en-US" altLang="zh-CN" dirty="0" smtClean="0"/>
              <a:t>. Quant</a:t>
            </a:r>
            <a:r>
              <a:rPr lang="zh-CN" altLang="en-US" dirty="0" smtClean="0"/>
              <a:t>需要什么编程能力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7. </a:t>
            </a:r>
            <a:r>
              <a:rPr lang="zh-CN" altLang="en-US" dirty="0" smtClean="0"/>
              <a:t>收入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8</a:t>
            </a:r>
            <a:r>
              <a:rPr lang="en-US" altLang="zh-CN" dirty="0" smtClean="0"/>
              <a:t>. </a:t>
            </a:r>
            <a:r>
              <a:rPr lang="zh-CN" altLang="en-US" dirty="0"/>
              <a:t>工</a:t>
            </a:r>
            <a:r>
              <a:rPr lang="zh-CN" altLang="en-US" dirty="0" smtClean="0"/>
              <a:t>作时间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* 简要回答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5484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针对大学期间的准备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01113" y="1600200"/>
            <a:ext cx="6629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a. </a:t>
            </a:r>
            <a:r>
              <a:rPr lang="zh-CN" altLang="en-US" dirty="0" smtClean="0"/>
              <a:t>实习</a:t>
            </a:r>
            <a:endParaRPr lang="en-US" altLang="zh-CN" dirty="0" smtClean="0"/>
          </a:p>
          <a:p>
            <a:r>
              <a:rPr lang="zh-CN" altLang="en-US" dirty="0" smtClean="0"/>
              <a:t>应届毕业生的简历相似度很高，课程相同，</a:t>
            </a:r>
            <a:r>
              <a:rPr lang="en-US" altLang="zh-CN" dirty="0" smtClean="0"/>
              <a:t>GPA</a:t>
            </a:r>
            <a:r>
              <a:rPr lang="zh-CN" altLang="en-US" dirty="0" smtClean="0"/>
              <a:t>类似，独特且相关的实习经历是通过简历筛选的重点</a:t>
            </a:r>
            <a:endParaRPr lang="en-US" altLang="zh-CN" dirty="0" smtClean="0"/>
          </a:p>
          <a:p>
            <a:endParaRPr lang="en-US" dirty="0"/>
          </a:p>
          <a:p>
            <a:r>
              <a:rPr lang="en-US" dirty="0" smtClean="0"/>
              <a:t>b. </a:t>
            </a:r>
            <a:r>
              <a:rPr lang="zh-CN" altLang="en-US" dirty="0"/>
              <a:t>专</a:t>
            </a:r>
            <a:r>
              <a:rPr lang="zh-CN" altLang="en-US" dirty="0" smtClean="0"/>
              <a:t>业证书</a:t>
            </a:r>
            <a:endParaRPr lang="en-US" altLang="zh-CN" dirty="0" smtClean="0"/>
          </a:p>
          <a:p>
            <a:r>
              <a:rPr lang="en-US" altLang="zh-CN" dirty="0" smtClean="0"/>
              <a:t>FRM</a:t>
            </a:r>
            <a:r>
              <a:rPr lang="zh-CN" altLang="en-US" dirty="0" smtClean="0"/>
              <a:t>  </a:t>
            </a:r>
            <a:r>
              <a:rPr lang="en-US" altLang="zh-CN" dirty="0" smtClean="0"/>
              <a:t>CFA</a:t>
            </a:r>
          </a:p>
          <a:p>
            <a:endParaRPr lang="en-US" dirty="0"/>
          </a:p>
          <a:p>
            <a:r>
              <a:rPr lang="en-US" dirty="0" smtClean="0"/>
              <a:t>c. </a:t>
            </a:r>
            <a:r>
              <a:rPr lang="zh-CN" altLang="en-US" dirty="0" smtClean="0"/>
              <a:t>在到达美国前准备好求职简历与求职信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577810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了解美国求职的时间表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01113" y="1600200"/>
            <a:ext cx="6629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假设</a:t>
            </a:r>
            <a:r>
              <a:rPr lang="en-US" altLang="zh-CN" dirty="0" smtClean="0"/>
              <a:t>2017</a:t>
            </a:r>
            <a:r>
              <a:rPr lang="zh-CN" altLang="en-US" dirty="0" smtClean="0"/>
              <a:t>年</a:t>
            </a:r>
            <a:r>
              <a:rPr lang="en-US" altLang="zh-CN" dirty="0" smtClean="0"/>
              <a:t>8</a:t>
            </a:r>
            <a:r>
              <a:rPr lang="zh-CN" altLang="en-US" dirty="0" smtClean="0"/>
              <a:t>月到达美国</a:t>
            </a:r>
            <a:endParaRPr lang="en-US" altLang="zh-CN" dirty="0" smtClean="0"/>
          </a:p>
          <a:p>
            <a:r>
              <a:rPr lang="en-US" altLang="zh-CN" dirty="0" smtClean="0"/>
              <a:t>2017.9</a:t>
            </a:r>
            <a:r>
              <a:rPr lang="zh-CN" altLang="en-US" dirty="0" smtClean="0"/>
              <a:t> </a:t>
            </a:r>
            <a:r>
              <a:rPr lang="en-US" altLang="zh-CN" dirty="0" smtClean="0"/>
              <a:t>	</a:t>
            </a:r>
            <a:r>
              <a:rPr lang="zh-CN" altLang="en-US" dirty="0" smtClean="0"/>
              <a:t>硕士项目开学</a:t>
            </a:r>
            <a:endParaRPr lang="en-US" altLang="zh-CN" dirty="0" smtClean="0"/>
          </a:p>
          <a:p>
            <a:r>
              <a:rPr lang="en-US" dirty="0"/>
              <a:t>	</a:t>
            </a:r>
            <a:r>
              <a:rPr lang="zh-CN" altLang="en-US" dirty="0" smtClean="0"/>
              <a:t>投资银行校园宣讲</a:t>
            </a:r>
            <a:endParaRPr lang="en-US" altLang="zh-CN" dirty="0" smtClean="0"/>
          </a:p>
          <a:p>
            <a:r>
              <a:rPr lang="en-US" altLang="zh-CN" dirty="0" smtClean="0"/>
              <a:t>2017.10	</a:t>
            </a:r>
            <a:r>
              <a:rPr lang="zh-CN" altLang="en-US" dirty="0" smtClean="0"/>
              <a:t>北美投资银行简历投递</a:t>
            </a:r>
            <a:endParaRPr lang="en-US" altLang="zh-CN" dirty="0" smtClean="0"/>
          </a:p>
          <a:p>
            <a:r>
              <a:rPr lang="en-US" altLang="zh-CN" dirty="0" smtClean="0"/>
              <a:t>2017.11	</a:t>
            </a:r>
            <a:r>
              <a:rPr lang="zh-CN" altLang="en-US" dirty="0" smtClean="0"/>
              <a:t>北美投资银行第一轮面试</a:t>
            </a:r>
            <a:endParaRPr lang="en-US" altLang="zh-CN" dirty="0" smtClean="0"/>
          </a:p>
          <a:p>
            <a:r>
              <a:rPr lang="en-US" dirty="0"/>
              <a:t>	</a:t>
            </a:r>
            <a:r>
              <a:rPr lang="zh-CN" altLang="en-US" dirty="0" smtClean="0"/>
              <a:t>香港投资银行简历投递</a:t>
            </a:r>
            <a:endParaRPr lang="en-US" altLang="zh-CN" dirty="0" smtClean="0"/>
          </a:p>
          <a:p>
            <a:r>
              <a:rPr lang="en-US" dirty="0" smtClean="0"/>
              <a:t>2017.12	</a:t>
            </a:r>
            <a:r>
              <a:rPr lang="zh-CN" altLang="en-US" dirty="0" smtClean="0"/>
              <a:t>北美投资银行第二轮面试</a:t>
            </a:r>
            <a:r>
              <a:rPr lang="en-US" altLang="zh-CN" dirty="0" smtClean="0"/>
              <a:t>/super</a:t>
            </a:r>
            <a:r>
              <a:rPr lang="zh-CN" altLang="en-US" dirty="0" smtClean="0"/>
              <a:t> </a:t>
            </a:r>
            <a:r>
              <a:rPr lang="en-US" altLang="zh-CN" dirty="0" smtClean="0"/>
              <a:t>day</a:t>
            </a:r>
          </a:p>
          <a:p>
            <a:r>
              <a:rPr lang="en-US" dirty="0" smtClean="0"/>
              <a:t>	</a:t>
            </a:r>
            <a:r>
              <a:rPr lang="zh-CN" altLang="en-US" dirty="0" smtClean="0"/>
              <a:t>香港投资银行第一轮面试</a:t>
            </a:r>
            <a:endParaRPr lang="en-US" altLang="zh-CN" dirty="0" smtClean="0"/>
          </a:p>
          <a:p>
            <a:r>
              <a:rPr lang="en-US" dirty="0" smtClean="0"/>
              <a:t>2018.1	</a:t>
            </a:r>
            <a:r>
              <a:rPr lang="zh-CN" altLang="en-US" dirty="0" smtClean="0"/>
              <a:t>北美投资银行</a:t>
            </a:r>
            <a:r>
              <a:rPr lang="en-US" altLang="zh-CN" dirty="0" smtClean="0"/>
              <a:t>offer</a:t>
            </a:r>
          </a:p>
          <a:p>
            <a:r>
              <a:rPr lang="en-US" dirty="0" smtClean="0"/>
              <a:t>	</a:t>
            </a:r>
            <a:r>
              <a:rPr lang="zh-CN" altLang="en-US" dirty="0" smtClean="0"/>
              <a:t>香港投资银行第二轮面试</a:t>
            </a:r>
            <a:r>
              <a:rPr lang="en-US" altLang="zh-CN" dirty="0" smtClean="0"/>
              <a:t>/super</a:t>
            </a:r>
            <a:r>
              <a:rPr lang="zh-CN" altLang="en-US" dirty="0" smtClean="0"/>
              <a:t> </a:t>
            </a:r>
            <a:r>
              <a:rPr lang="en-US" altLang="zh-CN" dirty="0" smtClean="0"/>
              <a:t>day</a:t>
            </a:r>
          </a:p>
          <a:p>
            <a:r>
              <a:rPr lang="en-US" dirty="0" smtClean="0"/>
              <a:t>	</a:t>
            </a:r>
            <a:r>
              <a:rPr lang="zh-CN" altLang="en-US" dirty="0"/>
              <a:t>期</a:t>
            </a:r>
            <a:r>
              <a:rPr lang="zh-CN" altLang="en-US" dirty="0" smtClean="0"/>
              <a:t>末</a:t>
            </a:r>
            <a:r>
              <a:rPr lang="zh-CN" altLang="en-US" dirty="0"/>
              <a:t>考</a:t>
            </a:r>
            <a:r>
              <a:rPr lang="zh-CN" altLang="en-US" dirty="0" smtClean="0"/>
              <a:t>试 </a:t>
            </a:r>
            <a:r>
              <a:rPr lang="en-US" altLang="zh-CN" dirty="0" smtClean="0"/>
              <a:t>/ </a:t>
            </a:r>
            <a:r>
              <a:rPr lang="zh-CN" altLang="en-US" dirty="0" smtClean="0"/>
              <a:t>寒假</a:t>
            </a:r>
            <a:endParaRPr lang="en-US" altLang="zh-CN" dirty="0" smtClean="0"/>
          </a:p>
          <a:p>
            <a:r>
              <a:rPr lang="en-US" dirty="0" smtClean="0"/>
              <a:t>2018.</a:t>
            </a:r>
            <a:r>
              <a:rPr lang="en-US" altLang="zh-CN" dirty="0" smtClean="0"/>
              <a:t>2</a:t>
            </a:r>
            <a:r>
              <a:rPr lang="en-US" altLang="zh-CN" dirty="0"/>
              <a:t>	</a:t>
            </a:r>
            <a:r>
              <a:rPr lang="zh-CN" altLang="en-US" dirty="0" smtClean="0"/>
              <a:t>香港投资银行</a:t>
            </a:r>
            <a:r>
              <a:rPr lang="en-US" altLang="zh-CN" dirty="0" smtClean="0"/>
              <a:t>offer</a:t>
            </a:r>
          </a:p>
          <a:p>
            <a:r>
              <a:rPr lang="en-US" dirty="0"/>
              <a:t>	</a:t>
            </a:r>
            <a:r>
              <a:rPr lang="en-US" dirty="0" smtClean="0"/>
              <a:t>(</a:t>
            </a:r>
            <a:r>
              <a:rPr lang="zh-CN" altLang="en-US" dirty="0" smtClean="0"/>
              <a:t>截至此时</a:t>
            </a:r>
            <a:r>
              <a:rPr lang="en-US" altLang="zh-CN" dirty="0" smtClean="0"/>
              <a:t>70%</a:t>
            </a:r>
            <a:r>
              <a:rPr lang="zh-CN" altLang="en-US" dirty="0" smtClean="0"/>
              <a:t> 暑期实习机会结果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80039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如何有效寻找暑期实习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01113" y="2118858"/>
            <a:ext cx="662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LcPeriod"/>
            </a:pPr>
            <a:r>
              <a:rPr lang="zh-CN" altLang="en-US" dirty="0" smtClean="0"/>
              <a:t>使用学校就业服务中心的资源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AutoNum type="alphaLcPeriod"/>
            </a:pPr>
            <a:r>
              <a:rPr lang="zh-CN" altLang="en-US" dirty="0" smtClean="0"/>
              <a:t>通过校</a:t>
            </a:r>
            <a:r>
              <a:rPr lang="zh-CN" altLang="en-US" dirty="0"/>
              <a:t>友网</a:t>
            </a:r>
            <a:r>
              <a:rPr lang="zh-CN" altLang="en-US" dirty="0" smtClean="0"/>
              <a:t>络积极联系行业内校友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AutoNum type="alphaLcPeriod"/>
            </a:pPr>
            <a:r>
              <a:rPr lang="zh-CN" altLang="en-US" dirty="0"/>
              <a:t>通</a:t>
            </a:r>
            <a:r>
              <a:rPr lang="zh-CN" altLang="en-US" dirty="0" smtClean="0"/>
              <a:t>过</a:t>
            </a:r>
            <a:r>
              <a:rPr lang="en-US" altLang="zh-CN" dirty="0" err="1" smtClean="0"/>
              <a:t>linkedIn</a:t>
            </a:r>
            <a:r>
              <a:rPr lang="zh-CN" altLang="en-US" dirty="0" smtClean="0"/>
              <a:t>等求职社交网站联系</a:t>
            </a:r>
            <a:r>
              <a:rPr lang="en-US" altLang="zh-CN" dirty="0" smtClean="0"/>
              <a:t>HR</a:t>
            </a:r>
            <a:r>
              <a:rPr lang="zh-CN" altLang="en-US" dirty="0" smtClean="0"/>
              <a:t>及相关从业人员，创造了解公司的机会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490977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美国工作签证及移民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01113" y="2118858"/>
            <a:ext cx="66294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a. </a:t>
            </a:r>
            <a:r>
              <a:rPr lang="zh-CN" altLang="en-US" dirty="0" smtClean="0"/>
              <a:t>在校期间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	CPT / OPT</a:t>
            </a:r>
            <a:r>
              <a:rPr lang="zh-CN" altLang="en-US" dirty="0" smtClean="0"/>
              <a:t>的选择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b. </a:t>
            </a:r>
            <a:r>
              <a:rPr lang="zh-CN" altLang="en-US" dirty="0" smtClean="0"/>
              <a:t>毕业后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smtClean="0"/>
              <a:t>OPT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smtClean="0"/>
              <a:t>STEM</a:t>
            </a:r>
            <a:r>
              <a:rPr lang="zh-CN" altLang="en-US" dirty="0" smtClean="0"/>
              <a:t> 的重要性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smtClean="0"/>
              <a:t>H1b</a:t>
            </a:r>
            <a:r>
              <a:rPr lang="zh-CN" altLang="en-US" dirty="0" smtClean="0"/>
              <a:t>签证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smtClean="0"/>
              <a:t>EB2</a:t>
            </a:r>
            <a:r>
              <a:rPr lang="zh-CN" altLang="en-US" dirty="0" smtClean="0"/>
              <a:t>绿卡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6720348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附：推荐书单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762000"/>
            <a:ext cx="80772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数学</a:t>
            </a:r>
          </a:p>
          <a:p>
            <a:r>
              <a:rPr lang="en-US" altLang="zh-CN" sz="1200" dirty="0" smtClean="0"/>
              <a:t>《</a:t>
            </a:r>
            <a:r>
              <a:rPr lang="zh-CN" altLang="en-US" sz="1200" dirty="0" smtClean="0"/>
              <a:t>傅立叶分析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实分析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复分析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 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动态资产定价理论：第</a:t>
            </a:r>
            <a:r>
              <a:rPr lang="en-US" altLang="zh-CN" sz="1200" dirty="0" smtClean="0"/>
              <a:t>3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Darrell </a:t>
            </a:r>
            <a:r>
              <a:rPr lang="en-US" sz="1200" dirty="0" err="1" smtClean="0"/>
              <a:t>Duffie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套利数学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Freddy </a:t>
            </a:r>
            <a:r>
              <a:rPr lang="en-US" sz="1200" dirty="0" err="1" smtClean="0"/>
              <a:t>Delbaen</a:t>
            </a:r>
            <a:r>
              <a:rPr lang="en-US" sz="1200" dirty="0" smtClean="0"/>
              <a:t>, Walter </a:t>
            </a:r>
            <a:r>
              <a:rPr lang="en-US" sz="1200" dirty="0" err="1" smtClean="0"/>
              <a:t>Schachermayer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初等概率论：第</a:t>
            </a:r>
            <a:r>
              <a:rPr lang="en-US" altLang="zh-CN" sz="1200" dirty="0" smtClean="0"/>
              <a:t>4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Kai Lai Chung，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概率和鞅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err="1" smtClean="0"/>
              <a:t>Williams.D</a:t>
            </a:r>
            <a:r>
              <a:rPr lang="en-US" sz="1200" dirty="0" smtClean="0"/>
              <a:t>.，</a:t>
            </a:r>
            <a:r>
              <a:rPr lang="zh-CN" altLang="en-US" sz="1200" dirty="0" smtClean="0"/>
              <a:t>世界图书出版社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en-US" sz="1200" dirty="0" smtClean="0"/>
              <a:t>Introduction to Stochastic Integration》， </a:t>
            </a:r>
            <a:r>
              <a:rPr lang="en-US" sz="1200" dirty="0" err="1" smtClean="0"/>
              <a:t>H.Kuo</a:t>
            </a:r>
            <a:r>
              <a:rPr lang="en-US" sz="1200" dirty="0" smtClean="0"/>
              <a:t> 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概率论和随机过程：第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Leonid </a:t>
            </a:r>
            <a:r>
              <a:rPr lang="en-US" sz="1200" dirty="0" err="1" smtClean="0"/>
              <a:t>B.Koralov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线性代数与矩阵论：第二版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，许以超，高等教育出版社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实变函数与泛函分析（上下册）：第二版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，夏道行高等教育出版社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应用概率论：第二版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，孙荣恒，科学出版社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应用数理统计：第二版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，孙荣恒，科学出版社</a:t>
            </a:r>
            <a:endParaRPr lang="en-US" altLang="zh-CN" sz="1200" dirty="0" smtClean="0"/>
          </a:p>
          <a:p>
            <a:r>
              <a:rPr lang="zh-CN" altLang="en-US" sz="1200" dirty="0" smtClean="0"/>
              <a:t>金融</a:t>
            </a:r>
          </a:p>
          <a:p>
            <a:r>
              <a:rPr lang="en-US" altLang="zh-CN" sz="1200" dirty="0" smtClean="0"/>
              <a:t>《</a:t>
            </a:r>
            <a:r>
              <a:rPr lang="en-US" sz="1200" dirty="0" smtClean="0"/>
              <a:t>Options, Futures and other Derivatives：9th Edition》，John Hull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投资学：第</a:t>
            </a:r>
            <a:r>
              <a:rPr lang="en-US" altLang="zh-CN" sz="1200" dirty="0" smtClean="0"/>
              <a:t>9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err="1" smtClean="0"/>
              <a:t>Zvi</a:t>
            </a:r>
            <a:r>
              <a:rPr lang="en-US" sz="1200" dirty="0" smtClean="0"/>
              <a:t> </a:t>
            </a:r>
            <a:r>
              <a:rPr lang="en-US" sz="1200" dirty="0" err="1" smtClean="0"/>
              <a:t>Bodie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风险管理与金融机构：第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John Hull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固定收益证券手册：第</a:t>
            </a:r>
            <a:r>
              <a:rPr lang="en-US" altLang="zh-CN" sz="1200" dirty="0" smtClean="0"/>
              <a:t>7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Frank </a:t>
            </a:r>
            <a:r>
              <a:rPr lang="en-US" sz="1200" dirty="0" err="1" smtClean="0"/>
              <a:t>Fabozzi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《Statistical Arbitrage》，Andrew Pole</a:t>
            </a:r>
            <a:br>
              <a:rPr lang="en-US" sz="1200" dirty="0" smtClean="0"/>
            </a:br>
            <a:r>
              <a:rPr lang="en-US" sz="1200" dirty="0" smtClean="0"/>
              <a:t>《Stochastic Calculus for Finance I &amp; II》，Shreve</a:t>
            </a:r>
            <a:br>
              <a:rPr lang="en-US" sz="1200" dirty="0" smtClean="0"/>
            </a:br>
            <a:r>
              <a:rPr lang="en-US" sz="1200" dirty="0" smtClean="0"/>
              <a:t>《Mathematical Models of Financial Derivatives》，</a:t>
            </a:r>
            <a:r>
              <a:rPr lang="zh-CN" altLang="en-US" sz="1200" dirty="0" smtClean="0"/>
              <a:t>郭宇权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en-US" sz="1200" dirty="0" smtClean="0"/>
              <a:t>Dynamic Assets Pricing Theory》，Darrell </a:t>
            </a:r>
            <a:r>
              <a:rPr lang="en-US" sz="1200" dirty="0" err="1" smtClean="0"/>
              <a:t>Duffie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《Exotic Options：2nd Edition》，Peter Zhang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金融工程中的蒙特卡罗方法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Paul </a:t>
            </a:r>
            <a:r>
              <a:rPr lang="en-US" sz="1200" dirty="0" err="1" smtClean="0"/>
              <a:t>Glasserman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《The Volatility Surface》，Jim </a:t>
            </a:r>
            <a:r>
              <a:rPr lang="en-US" sz="1200" dirty="0" err="1" smtClean="0"/>
              <a:t>Gatheral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《Volatility Trading》，Sinclair</a:t>
            </a:r>
            <a:br>
              <a:rPr lang="en-US" sz="1200" dirty="0" smtClean="0"/>
            </a:br>
            <a:r>
              <a:rPr lang="en-US" sz="1200" dirty="0" smtClean="0"/>
              <a:t>《Option Volatility and Pricing》，Sheldon </a:t>
            </a:r>
            <a:r>
              <a:rPr lang="en-US" sz="1200" dirty="0" err="1" smtClean="0"/>
              <a:t>Natenberg</a:t>
            </a:r>
            <a:endParaRPr lang="en-US" sz="1200" dirty="0" smtClean="0"/>
          </a:p>
          <a:p>
            <a:r>
              <a:rPr lang="zh-CN" altLang="en-US" sz="1200" dirty="0" smtClean="0"/>
              <a:t>编程</a:t>
            </a:r>
          </a:p>
          <a:p>
            <a:r>
              <a:rPr lang="en-US" altLang="zh-CN" sz="1200" dirty="0" smtClean="0"/>
              <a:t>《</a:t>
            </a:r>
            <a:r>
              <a:rPr lang="en-US" sz="1200" dirty="0" smtClean="0"/>
              <a:t>C++ Primer </a:t>
            </a:r>
            <a:r>
              <a:rPr lang="zh-CN" altLang="en-US" sz="1200" dirty="0" smtClean="0"/>
              <a:t>第</a:t>
            </a:r>
            <a:r>
              <a:rPr lang="en-US" altLang="zh-CN" sz="1200" dirty="0" smtClean="0"/>
              <a:t>5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Stanley </a:t>
            </a:r>
            <a:r>
              <a:rPr lang="en-US" sz="1200" dirty="0" err="1" smtClean="0"/>
              <a:t>B.Lippman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量化投资：以</a:t>
            </a:r>
            <a:r>
              <a:rPr lang="en-US" sz="1200" dirty="0" smtClean="0"/>
              <a:t>MATLAB</a:t>
            </a:r>
            <a:r>
              <a:rPr lang="zh-CN" altLang="en-US" sz="1200" dirty="0" smtClean="0"/>
              <a:t>为工具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，李洋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1573521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</TotalTime>
  <Words>2256</Words>
  <Application>Microsoft Office PowerPoint</Application>
  <PresentationFormat>On-screen Show (4:3)</PresentationFormat>
  <Paragraphs>203</Paragraphs>
  <Slides>20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量化金融专业职业发展指导</vt:lpstr>
      <vt:lpstr>讲师个人背景  教育经历</vt:lpstr>
      <vt:lpstr>讲师个人背景  工作经历</vt:lpstr>
      <vt:lpstr>量化金融行业概况 什么是量化金融（计量金融学、数学金融学）</vt:lpstr>
      <vt:lpstr>量化金融行业概况 1.交易策略研究</vt:lpstr>
      <vt:lpstr>量化金融行业概况 2.衍生品定价</vt:lpstr>
      <vt:lpstr>量化金融行业概况 3. 风险管理</vt:lpstr>
      <vt:lpstr>量化金融行业概况 4.高频交易</vt:lpstr>
      <vt:lpstr>量化金融行业概况 4.高频交易</vt:lpstr>
      <vt:lpstr>Quant的职业发展  </vt:lpstr>
      <vt:lpstr>Quant的职业发展  1. Quant是做什么的？ </vt:lpstr>
      <vt:lpstr>Quant的职业发展  2.有哪几种Quant ？  </vt:lpstr>
      <vt:lpstr>Quant的职业发展  3. Quant工作的领域？</vt:lpstr>
      <vt:lpstr>Quant的职业发展  4. Quant一般在哪些公司工作？</vt:lpstr>
      <vt:lpstr>Quant的职业发展  </vt:lpstr>
      <vt:lpstr>就业准备 针对大学期间的准备</vt:lpstr>
      <vt:lpstr>就业准备 了解美国求职的时间表</vt:lpstr>
      <vt:lpstr>就业准备 如何有效寻找暑期实习</vt:lpstr>
      <vt:lpstr>美国工作签证及移民 </vt:lpstr>
      <vt:lpstr>附：推荐书单 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Lien Chen</dc:creator>
  <cp:lastModifiedBy>Lien Chen</cp:lastModifiedBy>
  <cp:revision>19</cp:revision>
  <dcterms:created xsi:type="dcterms:W3CDTF">2016-04-18T14:34:02Z</dcterms:created>
  <dcterms:modified xsi:type="dcterms:W3CDTF">2016-04-18T20:52:12Z</dcterms:modified>
</cp:coreProperties>
</file>