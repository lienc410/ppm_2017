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82" r:id="rId2"/>
    <p:sldId id="295" r:id="rId3"/>
    <p:sldId id="296" r:id="rId4"/>
    <p:sldId id="288" r:id="rId5"/>
    <p:sldId id="264" r:id="rId6"/>
    <p:sldId id="265" r:id="rId7"/>
    <p:sldId id="266" r:id="rId8"/>
    <p:sldId id="267" r:id="rId9"/>
    <p:sldId id="289" r:id="rId10"/>
    <p:sldId id="269" r:id="rId11"/>
    <p:sldId id="290" r:id="rId12"/>
    <p:sldId id="271" r:id="rId13"/>
    <p:sldId id="272" r:id="rId14"/>
    <p:sldId id="273" r:id="rId15"/>
    <p:sldId id="291" r:id="rId16"/>
    <p:sldId id="292" r:id="rId17"/>
    <p:sldId id="29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334" y="-17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A1DE"/>
              </a:solidFill>
            </c:spPr>
          </c:dPt>
          <c:dPt>
            <c:idx val="1"/>
            <c:bubble3D val="0"/>
            <c:spPr>
              <a:solidFill>
                <a:srgbClr val="575757"/>
              </a:solidFill>
            </c:spPr>
          </c:dPt>
          <c:dPt>
            <c:idx val="2"/>
            <c:bubble3D val="0"/>
            <c:spPr>
              <a:solidFill>
                <a:srgbClr val="8C8C8C"/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1030-8CA8-49C5-B1AC-310260DF05FF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8FB95-5D03-4628-9268-225DB073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8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10800"/>
            <a:ext cx="8388000" cy="453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136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622411"/>
            <a:ext cx="8388000" cy="4536504"/>
          </a:xfr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4pPr>
            <a:lvl5pPr marL="441325" indent="-176213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485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F4BFD-551F-4DB6-92BF-93BF2A1D86C3}" type="datetimeFigureOut">
              <a:rPr lang="en-US" smtClean="0"/>
              <a:t>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d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5658"/>
            <a:ext cx="3925773" cy="5712343"/>
          </a:xfrm>
          <a:prstGeom prst="rect">
            <a:avLst/>
          </a:prstGeom>
        </p:spPr>
      </p:pic>
      <p:sp>
        <p:nvSpPr>
          <p:cNvPr id="121873" name="Rectangle 1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>
                <a:solidFill>
                  <a:schemeClr val="tx2"/>
                </a:solidFill>
              </a:rPr>
              <a:t>量化金融专业职业发展指导</a:t>
            </a:r>
            <a:r>
              <a:rPr lang="en-GB" sz="2800" dirty="0">
                <a:solidFill>
                  <a:schemeClr val="tx2"/>
                </a:solidFill>
              </a:rPr>
              <a:t/>
            </a:r>
            <a:br>
              <a:rPr lang="en-GB" sz="2800" dirty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21874" name="Rectangle 18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2017 - 01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6307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19199" y="1622411"/>
            <a:ext cx="7538913" cy="4536504"/>
          </a:xfrm>
        </p:spPr>
        <p:txBody>
          <a:bodyPr>
            <a:norm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 smtClean="0"/>
              <a:t>量</a:t>
            </a:r>
            <a:r>
              <a:rPr lang="zh-CN" altLang="en-US" dirty="0"/>
              <a:t>化金融行业概</a:t>
            </a:r>
            <a:r>
              <a:rPr lang="zh-CN" altLang="en-US" dirty="0" smtClean="0"/>
              <a:t>况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Quant</a:t>
            </a:r>
            <a:r>
              <a:rPr lang="zh-CN" altLang="en-US" dirty="0"/>
              <a:t>的职业发</a:t>
            </a:r>
            <a:r>
              <a:rPr lang="zh-CN" altLang="en-US" dirty="0" smtClean="0"/>
              <a:t>展</a:t>
            </a:r>
            <a:r>
              <a:rPr lang="zh-CN" altLang="en-US" dirty="0"/>
              <a:t>方向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就业准</a:t>
            </a:r>
            <a:r>
              <a:rPr lang="zh-CN" altLang="en-US" dirty="0" smtClean="0"/>
              <a:t>备</a:t>
            </a:r>
            <a:r>
              <a:rPr lang="zh-CN" altLang="en-US" dirty="0"/>
              <a:t/>
            </a:r>
            <a:br>
              <a:rPr lang="zh-CN" altLang="en-US" dirty="0"/>
            </a:b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887229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Contents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1871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</a:t>
            </a:r>
            <a:r>
              <a:rPr lang="zh-CN" altLang="en-US" sz="3000" dirty="0">
                <a:solidFill>
                  <a:srgbClr val="81BC00"/>
                </a:solidFill>
              </a:rPr>
              <a:t>就业前景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3</a:t>
            </a:fld>
            <a:endParaRPr lang="en-GB" dirty="0"/>
          </a:p>
        </p:txBody>
      </p:sp>
      <p:grpSp>
        <p:nvGrpSpPr>
          <p:cNvPr id="1506" name="Group 1505"/>
          <p:cNvGrpSpPr/>
          <p:nvPr/>
        </p:nvGrpSpPr>
        <p:grpSpPr>
          <a:xfrm>
            <a:off x="877409" y="832409"/>
            <a:ext cx="3283782" cy="3109391"/>
            <a:chOff x="4366299" y="1990724"/>
            <a:chExt cx="4168777" cy="3828214"/>
          </a:xfrm>
          <a:solidFill>
            <a:srgbClr val="00A1DE"/>
          </a:solidFill>
        </p:grpSpPr>
        <p:sp>
          <p:nvSpPr>
            <p:cNvPr id="1507" name="Line 3"/>
            <p:cNvSpPr>
              <a:spLocks noChangeShapeType="1"/>
            </p:cNvSpPr>
            <p:nvPr/>
          </p:nvSpPr>
          <p:spPr bwMode="gray">
            <a:xfrm>
              <a:off x="6414661" y="5232311"/>
              <a:ext cx="82893" cy="14228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8" name="Freeform 8"/>
            <p:cNvSpPr>
              <a:spLocks/>
            </p:cNvSpPr>
            <p:nvPr/>
          </p:nvSpPr>
          <p:spPr bwMode="gray">
            <a:xfrm>
              <a:off x="6055096" y="2034633"/>
              <a:ext cx="1854886" cy="1836853"/>
            </a:xfrm>
            <a:custGeom>
              <a:avLst/>
              <a:gdLst/>
              <a:ahLst/>
              <a:cxnLst>
                <a:cxn ang="0">
                  <a:pos x="131" y="1244"/>
                </a:cxn>
                <a:cxn ang="0">
                  <a:pos x="482" y="1293"/>
                </a:cxn>
                <a:cxn ang="0">
                  <a:pos x="692" y="1331"/>
                </a:cxn>
                <a:cxn ang="0">
                  <a:pos x="1131" y="1203"/>
                </a:cxn>
                <a:cxn ang="0">
                  <a:pos x="1275" y="1067"/>
                </a:cxn>
                <a:cxn ang="0">
                  <a:pos x="1280" y="927"/>
                </a:cxn>
                <a:cxn ang="0">
                  <a:pos x="1506" y="859"/>
                </a:cxn>
                <a:cxn ang="0">
                  <a:pos x="1636" y="770"/>
                </a:cxn>
                <a:cxn ang="0">
                  <a:pos x="1888" y="699"/>
                </a:cxn>
                <a:cxn ang="0">
                  <a:pos x="1793" y="574"/>
                </a:cxn>
                <a:cxn ang="0">
                  <a:pos x="1697" y="607"/>
                </a:cxn>
                <a:cxn ang="0">
                  <a:pos x="1561" y="630"/>
                </a:cxn>
                <a:cxn ang="0">
                  <a:pos x="1557" y="413"/>
                </a:cxn>
                <a:cxn ang="0">
                  <a:pos x="1773" y="343"/>
                </a:cxn>
                <a:cxn ang="0">
                  <a:pos x="1793" y="185"/>
                </a:cxn>
                <a:cxn ang="0">
                  <a:pos x="1804" y="92"/>
                </a:cxn>
                <a:cxn ang="0">
                  <a:pos x="1872" y="0"/>
                </a:cxn>
                <a:cxn ang="0">
                  <a:pos x="1872" y="92"/>
                </a:cxn>
                <a:cxn ang="0">
                  <a:pos x="1948" y="66"/>
                </a:cxn>
                <a:cxn ang="0">
                  <a:pos x="1996" y="161"/>
                </a:cxn>
                <a:cxn ang="0">
                  <a:pos x="2140" y="175"/>
                </a:cxn>
                <a:cxn ang="0">
                  <a:pos x="2219" y="145"/>
                </a:cxn>
                <a:cxn ang="0">
                  <a:pos x="2263" y="244"/>
                </a:cxn>
                <a:cxn ang="0">
                  <a:pos x="2231" y="379"/>
                </a:cxn>
                <a:cxn ang="0">
                  <a:pos x="2223" y="485"/>
                </a:cxn>
                <a:cxn ang="0">
                  <a:pos x="2099" y="571"/>
                </a:cxn>
                <a:cxn ang="0">
                  <a:pos x="2223" y="590"/>
                </a:cxn>
                <a:cxn ang="0">
                  <a:pos x="2191" y="636"/>
                </a:cxn>
                <a:cxn ang="0">
                  <a:pos x="2103" y="735"/>
                </a:cxn>
                <a:cxn ang="0">
                  <a:pos x="2127" y="811"/>
                </a:cxn>
                <a:cxn ang="0">
                  <a:pos x="2219" y="853"/>
                </a:cxn>
                <a:cxn ang="0">
                  <a:pos x="2319" y="976"/>
                </a:cxn>
                <a:cxn ang="0">
                  <a:pos x="1996" y="1125"/>
                </a:cxn>
                <a:cxn ang="0">
                  <a:pos x="1967" y="1207"/>
                </a:cxn>
                <a:cxn ang="0">
                  <a:pos x="1861" y="1216"/>
                </a:cxn>
                <a:cxn ang="0">
                  <a:pos x="1793" y="1120"/>
                </a:cxn>
                <a:cxn ang="0">
                  <a:pos x="1740" y="1209"/>
                </a:cxn>
                <a:cxn ang="0">
                  <a:pos x="1593" y="1241"/>
                </a:cxn>
                <a:cxn ang="0">
                  <a:pos x="1489" y="1286"/>
                </a:cxn>
                <a:cxn ang="0">
                  <a:pos x="1362" y="1392"/>
                </a:cxn>
                <a:cxn ang="0">
                  <a:pos x="1183" y="1508"/>
                </a:cxn>
                <a:cxn ang="0">
                  <a:pos x="1103" y="1581"/>
                </a:cxn>
                <a:cxn ang="0">
                  <a:pos x="880" y="1648"/>
                </a:cxn>
                <a:cxn ang="0">
                  <a:pos x="876" y="1521"/>
                </a:cxn>
                <a:cxn ang="0">
                  <a:pos x="796" y="1623"/>
                </a:cxn>
                <a:cxn ang="0">
                  <a:pos x="654" y="1741"/>
                </a:cxn>
                <a:cxn ang="0">
                  <a:pos x="583" y="1661"/>
                </a:cxn>
                <a:cxn ang="0">
                  <a:pos x="644" y="1587"/>
                </a:cxn>
                <a:cxn ang="0">
                  <a:pos x="410" y="1610"/>
                </a:cxn>
                <a:cxn ang="0">
                  <a:pos x="234" y="1491"/>
                </a:cxn>
                <a:cxn ang="0">
                  <a:pos x="272" y="1433"/>
                </a:cxn>
                <a:cxn ang="0">
                  <a:pos x="72" y="1461"/>
                </a:cxn>
                <a:cxn ang="0">
                  <a:pos x="0" y="1224"/>
                </a:cxn>
              </a:cxnLst>
              <a:rect l="0" t="0" r="r" b="b"/>
              <a:pathLst>
                <a:path w="2320" h="1742">
                  <a:moveTo>
                    <a:pt x="0" y="1224"/>
                  </a:moveTo>
                  <a:lnTo>
                    <a:pt x="131" y="1244"/>
                  </a:lnTo>
                  <a:lnTo>
                    <a:pt x="387" y="1238"/>
                  </a:lnTo>
                  <a:lnTo>
                    <a:pt x="482" y="1293"/>
                  </a:lnTo>
                  <a:lnTo>
                    <a:pt x="632" y="1300"/>
                  </a:lnTo>
                  <a:lnTo>
                    <a:pt x="692" y="1331"/>
                  </a:lnTo>
                  <a:lnTo>
                    <a:pt x="753" y="1270"/>
                  </a:lnTo>
                  <a:lnTo>
                    <a:pt x="1131" y="1203"/>
                  </a:lnTo>
                  <a:lnTo>
                    <a:pt x="1192" y="1125"/>
                  </a:lnTo>
                  <a:lnTo>
                    <a:pt x="1275" y="1067"/>
                  </a:lnTo>
                  <a:lnTo>
                    <a:pt x="1234" y="988"/>
                  </a:lnTo>
                  <a:lnTo>
                    <a:pt x="1280" y="927"/>
                  </a:lnTo>
                  <a:lnTo>
                    <a:pt x="1444" y="945"/>
                  </a:lnTo>
                  <a:lnTo>
                    <a:pt x="1506" y="859"/>
                  </a:lnTo>
                  <a:lnTo>
                    <a:pt x="1617" y="823"/>
                  </a:lnTo>
                  <a:lnTo>
                    <a:pt x="1636" y="770"/>
                  </a:lnTo>
                  <a:lnTo>
                    <a:pt x="1728" y="729"/>
                  </a:lnTo>
                  <a:lnTo>
                    <a:pt x="1888" y="699"/>
                  </a:lnTo>
                  <a:lnTo>
                    <a:pt x="1900" y="657"/>
                  </a:lnTo>
                  <a:lnTo>
                    <a:pt x="1793" y="574"/>
                  </a:lnTo>
                  <a:lnTo>
                    <a:pt x="1689" y="581"/>
                  </a:lnTo>
                  <a:lnTo>
                    <a:pt x="1697" y="607"/>
                  </a:lnTo>
                  <a:lnTo>
                    <a:pt x="1614" y="607"/>
                  </a:lnTo>
                  <a:lnTo>
                    <a:pt x="1561" y="630"/>
                  </a:lnTo>
                  <a:lnTo>
                    <a:pt x="1521" y="567"/>
                  </a:lnTo>
                  <a:lnTo>
                    <a:pt x="1557" y="413"/>
                  </a:lnTo>
                  <a:lnTo>
                    <a:pt x="1668" y="413"/>
                  </a:lnTo>
                  <a:lnTo>
                    <a:pt x="1773" y="343"/>
                  </a:lnTo>
                  <a:lnTo>
                    <a:pt x="1769" y="280"/>
                  </a:lnTo>
                  <a:lnTo>
                    <a:pt x="1793" y="185"/>
                  </a:lnTo>
                  <a:lnTo>
                    <a:pt x="1836" y="138"/>
                  </a:lnTo>
                  <a:lnTo>
                    <a:pt x="1804" y="92"/>
                  </a:lnTo>
                  <a:lnTo>
                    <a:pt x="1800" y="19"/>
                  </a:lnTo>
                  <a:lnTo>
                    <a:pt x="1872" y="0"/>
                  </a:lnTo>
                  <a:lnTo>
                    <a:pt x="1895" y="39"/>
                  </a:lnTo>
                  <a:lnTo>
                    <a:pt x="1872" y="92"/>
                  </a:lnTo>
                  <a:lnTo>
                    <a:pt x="1920" y="99"/>
                  </a:lnTo>
                  <a:lnTo>
                    <a:pt x="1948" y="66"/>
                  </a:lnTo>
                  <a:lnTo>
                    <a:pt x="1976" y="76"/>
                  </a:lnTo>
                  <a:lnTo>
                    <a:pt x="1996" y="161"/>
                  </a:lnTo>
                  <a:lnTo>
                    <a:pt x="2039" y="171"/>
                  </a:lnTo>
                  <a:lnTo>
                    <a:pt x="2140" y="175"/>
                  </a:lnTo>
                  <a:lnTo>
                    <a:pt x="2171" y="122"/>
                  </a:lnTo>
                  <a:lnTo>
                    <a:pt x="2219" y="145"/>
                  </a:lnTo>
                  <a:lnTo>
                    <a:pt x="2307" y="161"/>
                  </a:lnTo>
                  <a:lnTo>
                    <a:pt x="2263" y="244"/>
                  </a:lnTo>
                  <a:lnTo>
                    <a:pt x="2258" y="366"/>
                  </a:lnTo>
                  <a:lnTo>
                    <a:pt x="2231" y="379"/>
                  </a:lnTo>
                  <a:lnTo>
                    <a:pt x="2238" y="465"/>
                  </a:lnTo>
                  <a:lnTo>
                    <a:pt x="2223" y="485"/>
                  </a:lnTo>
                  <a:lnTo>
                    <a:pt x="2168" y="455"/>
                  </a:lnTo>
                  <a:lnTo>
                    <a:pt x="2099" y="571"/>
                  </a:lnTo>
                  <a:lnTo>
                    <a:pt x="2159" y="600"/>
                  </a:lnTo>
                  <a:lnTo>
                    <a:pt x="2223" y="590"/>
                  </a:lnTo>
                  <a:lnTo>
                    <a:pt x="2231" y="623"/>
                  </a:lnTo>
                  <a:lnTo>
                    <a:pt x="2191" y="636"/>
                  </a:lnTo>
                  <a:lnTo>
                    <a:pt x="2159" y="742"/>
                  </a:lnTo>
                  <a:lnTo>
                    <a:pt x="2103" y="735"/>
                  </a:lnTo>
                  <a:lnTo>
                    <a:pt x="2083" y="748"/>
                  </a:lnTo>
                  <a:lnTo>
                    <a:pt x="2127" y="811"/>
                  </a:lnTo>
                  <a:lnTo>
                    <a:pt x="2179" y="888"/>
                  </a:lnTo>
                  <a:lnTo>
                    <a:pt x="2219" y="853"/>
                  </a:lnTo>
                  <a:lnTo>
                    <a:pt x="2307" y="902"/>
                  </a:lnTo>
                  <a:lnTo>
                    <a:pt x="2319" y="976"/>
                  </a:lnTo>
                  <a:lnTo>
                    <a:pt x="2043" y="1145"/>
                  </a:lnTo>
                  <a:lnTo>
                    <a:pt x="1996" y="1125"/>
                  </a:lnTo>
                  <a:lnTo>
                    <a:pt x="1948" y="1125"/>
                  </a:lnTo>
                  <a:lnTo>
                    <a:pt x="1967" y="1207"/>
                  </a:lnTo>
                  <a:lnTo>
                    <a:pt x="1943" y="1237"/>
                  </a:lnTo>
                  <a:lnTo>
                    <a:pt x="1861" y="1216"/>
                  </a:lnTo>
                  <a:lnTo>
                    <a:pt x="1864" y="1145"/>
                  </a:lnTo>
                  <a:lnTo>
                    <a:pt x="1793" y="1120"/>
                  </a:lnTo>
                  <a:lnTo>
                    <a:pt x="1737" y="1151"/>
                  </a:lnTo>
                  <a:lnTo>
                    <a:pt x="1740" y="1209"/>
                  </a:lnTo>
                  <a:lnTo>
                    <a:pt x="1657" y="1207"/>
                  </a:lnTo>
                  <a:lnTo>
                    <a:pt x="1593" y="1241"/>
                  </a:lnTo>
                  <a:lnTo>
                    <a:pt x="1533" y="1213"/>
                  </a:lnTo>
                  <a:lnTo>
                    <a:pt x="1489" y="1286"/>
                  </a:lnTo>
                  <a:lnTo>
                    <a:pt x="1513" y="1359"/>
                  </a:lnTo>
                  <a:lnTo>
                    <a:pt x="1362" y="1392"/>
                  </a:lnTo>
                  <a:lnTo>
                    <a:pt x="1258" y="1514"/>
                  </a:lnTo>
                  <a:lnTo>
                    <a:pt x="1183" y="1508"/>
                  </a:lnTo>
                  <a:lnTo>
                    <a:pt x="1139" y="1571"/>
                  </a:lnTo>
                  <a:lnTo>
                    <a:pt x="1103" y="1581"/>
                  </a:lnTo>
                  <a:lnTo>
                    <a:pt x="1015" y="1690"/>
                  </a:lnTo>
                  <a:lnTo>
                    <a:pt x="880" y="1648"/>
                  </a:lnTo>
                  <a:lnTo>
                    <a:pt x="886" y="1592"/>
                  </a:lnTo>
                  <a:lnTo>
                    <a:pt x="876" y="1521"/>
                  </a:lnTo>
                  <a:lnTo>
                    <a:pt x="808" y="1544"/>
                  </a:lnTo>
                  <a:lnTo>
                    <a:pt x="796" y="1623"/>
                  </a:lnTo>
                  <a:lnTo>
                    <a:pt x="720" y="1736"/>
                  </a:lnTo>
                  <a:lnTo>
                    <a:pt x="654" y="1741"/>
                  </a:lnTo>
                  <a:lnTo>
                    <a:pt x="590" y="1729"/>
                  </a:lnTo>
                  <a:lnTo>
                    <a:pt x="583" y="1661"/>
                  </a:lnTo>
                  <a:lnTo>
                    <a:pt x="627" y="1639"/>
                  </a:lnTo>
                  <a:lnTo>
                    <a:pt x="644" y="1587"/>
                  </a:lnTo>
                  <a:lnTo>
                    <a:pt x="572" y="1553"/>
                  </a:lnTo>
                  <a:lnTo>
                    <a:pt x="410" y="1610"/>
                  </a:lnTo>
                  <a:lnTo>
                    <a:pt x="317" y="1554"/>
                  </a:lnTo>
                  <a:lnTo>
                    <a:pt x="234" y="1491"/>
                  </a:lnTo>
                  <a:lnTo>
                    <a:pt x="284" y="1470"/>
                  </a:lnTo>
                  <a:lnTo>
                    <a:pt x="272" y="1433"/>
                  </a:lnTo>
                  <a:lnTo>
                    <a:pt x="134" y="1418"/>
                  </a:lnTo>
                  <a:lnTo>
                    <a:pt x="72" y="1461"/>
                  </a:lnTo>
                  <a:lnTo>
                    <a:pt x="11" y="1359"/>
                  </a:lnTo>
                  <a:lnTo>
                    <a:pt x="0" y="122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9" name="Freeform 9"/>
            <p:cNvSpPr>
              <a:spLocks/>
            </p:cNvSpPr>
            <p:nvPr/>
          </p:nvSpPr>
          <p:spPr bwMode="gray">
            <a:xfrm>
              <a:off x="7546809" y="1990724"/>
              <a:ext cx="988267" cy="908513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146" y="0"/>
                </a:cxn>
                <a:cxn ang="0">
                  <a:pos x="358" y="16"/>
                </a:cxn>
                <a:cxn ang="0">
                  <a:pos x="426" y="168"/>
                </a:cxn>
                <a:cxn ang="0">
                  <a:pos x="513" y="225"/>
                </a:cxn>
                <a:cxn ang="0">
                  <a:pos x="597" y="303"/>
                </a:cxn>
                <a:cxn ang="0">
                  <a:pos x="748" y="303"/>
                </a:cxn>
                <a:cxn ang="0">
                  <a:pos x="817" y="327"/>
                </a:cxn>
                <a:cxn ang="0">
                  <a:pos x="868" y="370"/>
                </a:cxn>
                <a:cxn ang="0">
                  <a:pos x="919" y="449"/>
                </a:cxn>
                <a:cxn ang="0">
                  <a:pos x="1019" y="418"/>
                </a:cxn>
                <a:cxn ang="0">
                  <a:pos x="1056" y="350"/>
                </a:cxn>
                <a:cxn ang="0">
                  <a:pos x="1190" y="297"/>
                </a:cxn>
                <a:cxn ang="0">
                  <a:pos x="1234" y="376"/>
                </a:cxn>
                <a:cxn ang="0">
                  <a:pos x="1214" y="462"/>
                </a:cxn>
                <a:cxn ang="0">
                  <a:pos x="1195" y="521"/>
                </a:cxn>
                <a:cxn ang="0">
                  <a:pos x="1202" y="653"/>
                </a:cxn>
                <a:cxn ang="0">
                  <a:pos x="1103" y="653"/>
                </a:cxn>
                <a:cxn ang="0">
                  <a:pos x="1023" y="716"/>
                </a:cxn>
                <a:cxn ang="0">
                  <a:pos x="1095" y="861"/>
                </a:cxn>
                <a:cxn ang="0">
                  <a:pos x="968" y="818"/>
                </a:cxn>
                <a:cxn ang="0">
                  <a:pos x="912" y="857"/>
                </a:cxn>
                <a:cxn ang="0">
                  <a:pos x="834" y="805"/>
                </a:cxn>
                <a:cxn ang="0">
                  <a:pos x="768" y="803"/>
                </a:cxn>
                <a:cxn ang="0">
                  <a:pos x="773" y="845"/>
                </a:cxn>
                <a:cxn ang="0">
                  <a:pos x="669" y="771"/>
                </a:cxn>
                <a:cxn ang="0">
                  <a:pos x="604" y="781"/>
                </a:cxn>
                <a:cxn ang="0">
                  <a:pos x="539" y="765"/>
                </a:cxn>
                <a:cxn ang="0">
                  <a:pos x="481" y="784"/>
                </a:cxn>
                <a:cxn ang="0">
                  <a:pos x="308" y="746"/>
                </a:cxn>
                <a:cxn ang="0">
                  <a:pos x="326" y="680"/>
                </a:cxn>
                <a:cxn ang="0">
                  <a:pos x="361" y="669"/>
                </a:cxn>
                <a:cxn ang="0">
                  <a:pos x="349" y="635"/>
                </a:cxn>
                <a:cxn ang="0">
                  <a:pos x="299" y="657"/>
                </a:cxn>
                <a:cxn ang="0">
                  <a:pos x="227" y="612"/>
                </a:cxn>
                <a:cxn ang="0">
                  <a:pos x="301" y="494"/>
                </a:cxn>
                <a:cxn ang="0">
                  <a:pos x="360" y="517"/>
                </a:cxn>
                <a:cxn ang="0">
                  <a:pos x="361" y="424"/>
                </a:cxn>
                <a:cxn ang="0">
                  <a:pos x="392" y="401"/>
                </a:cxn>
                <a:cxn ang="0">
                  <a:pos x="389" y="292"/>
                </a:cxn>
                <a:cxn ang="0">
                  <a:pos x="437" y="211"/>
                </a:cxn>
                <a:cxn ang="0">
                  <a:pos x="358" y="203"/>
                </a:cxn>
                <a:cxn ang="0">
                  <a:pos x="316" y="175"/>
                </a:cxn>
                <a:cxn ang="0">
                  <a:pos x="275" y="225"/>
                </a:cxn>
                <a:cxn ang="0">
                  <a:pos x="190" y="221"/>
                </a:cxn>
                <a:cxn ang="0">
                  <a:pos x="134" y="208"/>
                </a:cxn>
                <a:cxn ang="0">
                  <a:pos x="115" y="122"/>
                </a:cxn>
                <a:cxn ang="0">
                  <a:pos x="79" y="115"/>
                </a:cxn>
                <a:cxn ang="0">
                  <a:pos x="65" y="152"/>
                </a:cxn>
                <a:cxn ang="0">
                  <a:pos x="2" y="138"/>
                </a:cxn>
                <a:cxn ang="0">
                  <a:pos x="34" y="82"/>
                </a:cxn>
                <a:cxn ang="0">
                  <a:pos x="0" y="49"/>
                </a:cxn>
              </a:cxnLst>
              <a:rect l="0" t="0" r="r" b="b"/>
              <a:pathLst>
                <a:path w="1235" h="862">
                  <a:moveTo>
                    <a:pt x="0" y="49"/>
                  </a:moveTo>
                  <a:lnTo>
                    <a:pt x="146" y="0"/>
                  </a:lnTo>
                  <a:lnTo>
                    <a:pt x="358" y="16"/>
                  </a:lnTo>
                  <a:lnTo>
                    <a:pt x="426" y="168"/>
                  </a:lnTo>
                  <a:lnTo>
                    <a:pt x="513" y="225"/>
                  </a:lnTo>
                  <a:lnTo>
                    <a:pt x="597" y="303"/>
                  </a:lnTo>
                  <a:lnTo>
                    <a:pt x="748" y="303"/>
                  </a:lnTo>
                  <a:lnTo>
                    <a:pt x="817" y="327"/>
                  </a:lnTo>
                  <a:lnTo>
                    <a:pt x="868" y="370"/>
                  </a:lnTo>
                  <a:lnTo>
                    <a:pt x="919" y="449"/>
                  </a:lnTo>
                  <a:lnTo>
                    <a:pt x="1019" y="418"/>
                  </a:lnTo>
                  <a:lnTo>
                    <a:pt x="1056" y="350"/>
                  </a:lnTo>
                  <a:lnTo>
                    <a:pt x="1190" y="297"/>
                  </a:lnTo>
                  <a:lnTo>
                    <a:pt x="1234" y="376"/>
                  </a:lnTo>
                  <a:lnTo>
                    <a:pt x="1214" y="462"/>
                  </a:lnTo>
                  <a:lnTo>
                    <a:pt x="1195" y="521"/>
                  </a:lnTo>
                  <a:lnTo>
                    <a:pt x="1202" y="653"/>
                  </a:lnTo>
                  <a:lnTo>
                    <a:pt x="1103" y="653"/>
                  </a:lnTo>
                  <a:lnTo>
                    <a:pt x="1023" y="716"/>
                  </a:lnTo>
                  <a:lnTo>
                    <a:pt x="1095" y="861"/>
                  </a:lnTo>
                  <a:lnTo>
                    <a:pt x="968" y="818"/>
                  </a:lnTo>
                  <a:lnTo>
                    <a:pt x="912" y="857"/>
                  </a:lnTo>
                  <a:lnTo>
                    <a:pt x="834" y="805"/>
                  </a:lnTo>
                  <a:lnTo>
                    <a:pt x="768" y="803"/>
                  </a:lnTo>
                  <a:lnTo>
                    <a:pt x="773" y="845"/>
                  </a:lnTo>
                  <a:lnTo>
                    <a:pt x="669" y="771"/>
                  </a:lnTo>
                  <a:lnTo>
                    <a:pt x="604" y="781"/>
                  </a:lnTo>
                  <a:lnTo>
                    <a:pt x="539" y="765"/>
                  </a:lnTo>
                  <a:lnTo>
                    <a:pt x="481" y="784"/>
                  </a:lnTo>
                  <a:lnTo>
                    <a:pt x="308" y="746"/>
                  </a:lnTo>
                  <a:lnTo>
                    <a:pt x="326" y="680"/>
                  </a:lnTo>
                  <a:lnTo>
                    <a:pt x="361" y="669"/>
                  </a:lnTo>
                  <a:lnTo>
                    <a:pt x="349" y="635"/>
                  </a:lnTo>
                  <a:lnTo>
                    <a:pt x="299" y="657"/>
                  </a:lnTo>
                  <a:lnTo>
                    <a:pt x="227" y="612"/>
                  </a:lnTo>
                  <a:lnTo>
                    <a:pt x="301" y="494"/>
                  </a:lnTo>
                  <a:lnTo>
                    <a:pt x="360" y="517"/>
                  </a:lnTo>
                  <a:lnTo>
                    <a:pt x="361" y="424"/>
                  </a:lnTo>
                  <a:lnTo>
                    <a:pt x="392" y="401"/>
                  </a:lnTo>
                  <a:lnTo>
                    <a:pt x="389" y="292"/>
                  </a:lnTo>
                  <a:lnTo>
                    <a:pt x="437" y="211"/>
                  </a:lnTo>
                  <a:lnTo>
                    <a:pt x="358" y="203"/>
                  </a:lnTo>
                  <a:lnTo>
                    <a:pt x="316" y="175"/>
                  </a:lnTo>
                  <a:lnTo>
                    <a:pt x="275" y="225"/>
                  </a:lnTo>
                  <a:lnTo>
                    <a:pt x="190" y="221"/>
                  </a:lnTo>
                  <a:lnTo>
                    <a:pt x="134" y="208"/>
                  </a:lnTo>
                  <a:lnTo>
                    <a:pt x="115" y="122"/>
                  </a:lnTo>
                  <a:lnTo>
                    <a:pt x="79" y="115"/>
                  </a:lnTo>
                  <a:lnTo>
                    <a:pt x="65" y="152"/>
                  </a:lnTo>
                  <a:lnTo>
                    <a:pt x="2" y="138"/>
                  </a:lnTo>
                  <a:lnTo>
                    <a:pt x="34" y="82"/>
                  </a:lnTo>
                  <a:lnTo>
                    <a:pt x="0" y="4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0" name="Freeform 10"/>
            <p:cNvSpPr>
              <a:spLocks/>
            </p:cNvSpPr>
            <p:nvPr/>
          </p:nvSpPr>
          <p:spPr bwMode="gray">
            <a:xfrm>
              <a:off x="4366299" y="2610839"/>
              <a:ext cx="1669721" cy="1425164"/>
            </a:xfrm>
            <a:custGeom>
              <a:avLst/>
              <a:gdLst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7"/>
                <a:gd name="connsiteX1" fmla="*/ 2062 w 2088"/>
                <a:gd name="connsiteY1" fmla="*/ 621 h 1377"/>
                <a:gd name="connsiteX2" fmla="*/ 2032 w 2088"/>
                <a:gd name="connsiteY2" fmla="*/ 547 h 1377"/>
                <a:gd name="connsiteX3" fmla="*/ 1876 w 2088"/>
                <a:gd name="connsiteY3" fmla="*/ 478 h 1377"/>
                <a:gd name="connsiteX4" fmla="*/ 1769 w 2088"/>
                <a:gd name="connsiteY4" fmla="*/ 478 h 1377"/>
                <a:gd name="connsiteX5" fmla="*/ 1640 w 2088"/>
                <a:gd name="connsiteY5" fmla="*/ 437 h 1377"/>
                <a:gd name="connsiteX6" fmla="*/ 1685 w 2088"/>
                <a:gd name="connsiteY6" fmla="*/ 297 h 1377"/>
                <a:gd name="connsiteX7" fmla="*/ 1583 w 2088"/>
                <a:gd name="connsiteY7" fmla="*/ 154 h 1377"/>
                <a:gd name="connsiteX8" fmla="*/ 1513 w 2088"/>
                <a:gd name="connsiteY8" fmla="*/ 150 h 1377"/>
                <a:gd name="connsiteX9" fmla="*/ 1441 w 2088"/>
                <a:gd name="connsiteY9" fmla="*/ 66 h 1377"/>
                <a:gd name="connsiteX10" fmla="*/ 1433 w 2088"/>
                <a:gd name="connsiteY10" fmla="*/ 7 h 1377"/>
                <a:gd name="connsiteX11" fmla="*/ 1362 w 2088"/>
                <a:gd name="connsiteY11" fmla="*/ 0 h 1377"/>
                <a:gd name="connsiteX12" fmla="*/ 1335 w 2088"/>
                <a:gd name="connsiteY12" fmla="*/ 70 h 1377"/>
                <a:gd name="connsiteX13" fmla="*/ 1241 w 2088"/>
                <a:gd name="connsiteY13" fmla="*/ 88 h 1377"/>
                <a:gd name="connsiteX14" fmla="*/ 1246 w 2088"/>
                <a:gd name="connsiteY14" fmla="*/ 183 h 1377"/>
                <a:gd name="connsiteX15" fmla="*/ 1172 w 2088"/>
                <a:gd name="connsiteY15" fmla="*/ 227 h 1377"/>
                <a:gd name="connsiteX16" fmla="*/ 1117 w 2088"/>
                <a:gd name="connsiteY16" fmla="*/ 183 h 1377"/>
                <a:gd name="connsiteX17" fmla="*/ 1015 w 2088"/>
                <a:gd name="connsiteY17" fmla="*/ 169 h 1377"/>
                <a:gd name="connsiteX18" fmla="*/ 926 w 2088"/>
                <a:gd name="connsiteY18" fmla="*/ 316 h 1377"/>
                <a:gd name="connsiteX19" fmla="*/ 926 w 2088"/>
                <a:gd name="connsiteY19" fmla="*/ 353 h 1377"/>
                <a:gd name="connsiteX20" fmla="*/ 896 w 2088"/>
                <a:gd name="connsiteY20" fmla="*/ 363 h 1377"/>
                <a:gd name="connsiteX21" fmla="*/ 842 w 2088"/>
                <a:gd name="connsiteY21" fmla="*/ 331 h 1377"/>
                <a:gd name="connsiteX22" fmla="*/ 736 w 2088"/>
                <a:gd name="connsiteY22" fmla="*/ 327 h 1377"/>
                <a:gd name="connsiteX23" fmla="*/ 692 w 2088"/>
                <a:gd name="connsiteY23" fmla="*/ 363 h 1377"/>
                <a:gd name="connsiteX24" fmla="*/ 732 w 2088"/>
                <a:gd name="connsiteY24" fmla="*/ 386 h 1377"/>
                <a:gd name="connsiteX25" fmla="*/ 749 w 2088"/>
                <a:gd name="connsiteY25" fmla="*/ 539 h 1377"/>
                <a:gd name="connsiteX26" fmla="*/ 665 w 2088"/>
                <a:gd name="connsiteY26" fmla="*/ 581 h 1377"/>
                <a:gd name="connsiteX27" fmla="*/ 657 w 2088"/>
                <a:gd name="connsiteY27" fmla="*/ 643 h 1377"/>
                <a:gd name="connsiteX28" fmla="*/ 532 w 2088"/>
                <a:gd name="connsiteY28" fmla="*/ 668 h 1377"/>
                <a:gd name="connsiteX29" fmla="*/ 448 w 2088"/>
                <a:gd name="connsiteY29" fmla="*/ 702 h 1377"/>
                <a:gd name="connsiteX30" fmla="*/ 328 w 2088"/>
                <a:gd name="connsiteY30" fmla="*/ 695 h 1377"/>
                <a:gd name="connsiteX31" fmla="*/ 283 w 2088"/>
                <a:gd name="connsiteY31" fmla="*/ 745 h 1377"/>
                <a:gd name="connsiteX32" fmla="*/ 231 w 2088"/>
                <a:gd name="connsiteY32" fmla="*/ 735 h 1377"/>
                <a:gd name="connsiteX33" fmla="*/ 182 w 2088"/>
                <a:gd name="connsiteY33" fmla="*/ 705 h 1377"/>
                <a:gd name="connsiteX34" fmla="*/ 88 w 2088"/>
                <a:gd name="connsiteY34" fmla="*/ 735 h 1377"/>
                <a:gd name="connsiteX35" fmla="*/ 0 w 2088"/>
                <a:gd name="connsiteY35" fmla="*/ 793 h 1377"/>
                <a:gd name="connsiteX36" fmla="*/ 9 w 2088"/>
                <a:gd name="connsiteY36" fmla="*/ 892 h 1377"/>
                <a:gd name="connsiteX37" fmla="*/ 66 w 2088"/>
                <a:gd name="connsiteY37" fmla="*/ 903 h 1377"/>
                <a:gd name="connsiteX38" fmla="*/ 79 w 2088"/>
                <a:gd name="connsiteY38" fmla="*/ 1021 h 1377"/>
                <a:gd name="connsiteX39" fmla="*/ 27 w 2088"/>
                <a:gd name="connsiteY39" fmla="*/ 1021 h 1377"/>
                <a:gd name="connsiteX40" fmla="*/ 27 w 2088"/>
                <a:gd name="connsiteY40" fmla="*/ 1055 h 1377"/>
                <a:gd name="connsiteX41" fmla="*/ 124 w 2088"/>
                <a:gd name="connsiteY41" fmla="*/ 1106 h 1377"/>
                <a:gd name="connsiteX42" fmla="*/ 115 w 2088"/>
                <a:gd name="connsiteY42" fmla="*/ 1176 h 1377"/>
                <a:gd name="connsiteX43" fmla="*/ 277 w 2088"/>
                <a:gd name="connsiteY43" fmla="*/ 1248 h 1377"/>
                <a:gd name="connsiteX44" fmla="*/ 281 w 2088"/>
                <a:gd name="connsiteY44" fmla="*/ 1253 h 1377"/>
                <a:gd name="connsiteX45" fmla="*/ 286 w 2088"/>
                <a:gd name="connsiteY45" fmla="*/ 1320 h 1377"/>
                <a:gd name="connsiteX46" fmla="*/ 295 w 2088"/>
                <a:gd name="connsiteY46" fmla="*/ 1377 h 1377"/>
                <a:gd name="connsiteX47" fmla="*/ 371 w 2088"/>
                <a:gd name="connsiteY47" fmla="*/ 1325 h 1377"/>
                <a:gd name="connsiteX48" fmla="*/ 510 w 2088"/>
                <a:gd name="connsiteY48" fmla="*/ 1269 h 1377"/>
                <a:gd name="connsiteX49" fmla="*/ 669 w 2088"/>
                <a:gd name="connsiteY49" fmla="*/ 1301 h 1377"/>
                <a:gd name="connsiteX50" fmla="*/ 746 w 2088"/>
                <a:gd name="connsiteY50" fmla="*/ 1277 h 1377"/>
                <a:gd name="connsiteX51" fmla="*/ 876 w 2088"/>
                <a:gd name="connsiteY51" fmla="*/ 1352 h 1377"/>
                <a:gd name="connsiteX52" fmla="*/ 973 w 2088"/>
                <a:gd name="connsiteY52" fmla="*/ 1303 h 1377"/>
                <a:gd name="connsiteX53" fmla="*/ 1265 w 2088"/>
                <a:gd name="connsiteY53" fmla="*/ 1253 h 1377"/>
                <a:gd name="connsiteX54" fmla="*/ 1383 w 2088"/>
                <a:gd name="connsiteY54" fmla="*/ 1274 h 1377"/>
                <a:gd name="connsiteX55" fmla="*/ 1519 w 2088"/>
                <a:gd name="connsiteY55" fmla="*/ 1277 h 1377"/>
                <a:gd name="connsiteX56" fmla="*/ 1501 w 2088"/>
                <a:gd name="connsiteY56" fmla="*/ 1266 h 1377"/>
                <a:gd name="connsiteX57" fmla="*/ 1524 w 2088"/>
                <a:gd name="connsiteY57" fmla="*/ 1210 h 1377"/>
                <a:gd name="connsiteX58" fmla="*/ 1501 w 2088"/>
                <a:gd name="connsiteY58" fmla="*/ 1159 h 1377"/>
                <a:gd name="connsiteX59" fmla="*/ 1516 w 2088"/>
                <a:gd name="connsiteY59" fmla="*/ 1082 h 1377"/>
                <a:gd name="connsiteX60" fmla="*/ 1821 w 2088"/>
                <a:gd name="connsiteY60" fmla="*/ 1012 h 1377"/>
                <a:gd name="connsiteX61" fmla="*/ 1813 w 2088"/>
                <a:gd name="connsiteY61" fmla="*/ 891 h 1377"/>
                <a:gd name="connsiteX62" fmla="*/ 1899 w 2088"/>
                <a:gd name="connsiteY62" fmla="*/ 863 h 1377"/>
                <a:gd name="connsiteX63" fmla="*/ 1942 w 2088"/>
                <a:gd name="connsiteY63" fmla="*/ 795 h 1377"/>
                <a:gd name="connsiteX64" fmla="*/ 2051 w 2088"/>
                <a:gd name="connsiteY64" fmla="*/ 760 h 1377"/>
                <a:gd name="connsiteX65" fmla="*/ 2088 w 2088"/>
                <a:gd name="connsiteY65" fmla="*/ 696 h 1377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088" h="1352">
                  <a:moveTo>
                    <a:pt x="2088" y="696"/>
                  </a:moveTo>
                  <a:cubicBezTo>
                    <a:pt x="2079" y="671"/>
                    <a:pt x="2071" y="646"/>
                    <a:pt x="2062" y="621"/>
                  </a:cubicBezTo>
                  <a:cubicBezTo>
                    <a:pt x="2052" y="596"/>
                    <a:pt x="2042" y="572"/>
                    <a:pt x="2032" y="547"/>
                  </a:cubicBezTo>
                  <a:lnTo>
                    <a:pt x="1876" y="478"/>
                  </a:lnTo>
                  <a:lnTo>
                    <a:pt x="1769" y="478"/>
                  </a:lnTo>
                  <a:lnTo>
                    <a:pt x="1640" y="437"/>
                  </a:lnTo>
                  <a:cubicBezTo>
                    <a:pt x="1655" y="390"/>
                    <a:pt x="1670" y="344"/>
                    <a:pt x="1685" y="297"/>
                  </a:cubicBezTo>
                  <a:lnTo>
                    <a:pt x="1583" y="154"/>
                  </a:lnTo>
                  <a:cubicBezTo>
                    <a:pt x="1560" y="153"/>
                    <a:pt x="1536" y="151"/>
                    <a:pt x="1513" y="150"/>
                  </a:cubicBezTo>
                  <a:lnTo>
                    <a:pt x="1441" y="66"/>
                  </a:lnTo>
                  <a:cubicBezTo>
                    <a:pt x="1438" y="46"/>
                    <a:pt x="1436" y="27"/>
                    <a:pt x="1433" y="7"/>
                  </a:cubicBezTo>
                  <a:cubicBezTo>
                    <a:pt x="1409" y="5"/>
                    <a:pt x="1386" y="2"/>
                    <a:pt x="1362" y="0"/>
                  </a:cubicBezTo>
                  <a:cubicBezTo>
                    <a:pt x="1353" y="23"/>
                    <a:pt x="1344" y="47"/>
                    <a:pt x="1335" y="70"/>
                  </a:cubicBezTo>
                  <a:lnTo>
                    <a:pt x="1241" y="88"/>
                  </a:lnTo>
                  <a:cubicBezTo>
                    <a:pt x="1243" y="120"/>
                    <a:pt x="1244" y="151"/>
                    <a:pt x="1246" y="183"/>
                  </a:cubicBezTo>
                  <a:lnTo>
                    <a:pt x="1172" y="227"/>
                  </a:lnTo>
                  <a:cubicBezTo>
                    <a:pt x="1154" y="212"/>
                    <a:pt x="1135" y="198"/>
                    <a:pt x="1117" y="183"/>
                  </a:cubicBezTo>
                  <a:lnTo>
                    <a:pt x="1015" y="169"/>
                  </a:lnTo>
                  <a:cubicBezTo>
                    <a:pt x="985" y="218"/>
                    <a:pt x="956" y="267"/>
                    <a:pt x="926" y="316"/>
                  </a:cubicBezTo>
                  <a:lnTo>
                    <a:pt x="926" y="353"/>
                  </a:lnTo>
                  <a:cubicBezTo>
                    <a:pt x="916" y="356"/>
                    <a:pt x="906" y="360"/>
                    <a:pt x="896" y="363"/>
                  </a:cubicBezTo>
                  <a:cubicBezTo>
                    <a:pt x="878" y="352"/>
                    <a:pt x="860" y="342"/>
                    <a:pt x="842" y="331"/>
                  </a:cubicBezTo>
                  <a:lnTo>
                    <a:pt x="736" y="327"/>
                  </a:lnTo>
                  <a:cubicBezTo>
                    <a:pt x="721" y="339"/>
                    <a:pt x="707" y="351"/>
                    <a:pt x="692" y="363"/>
                  </a:cubicBezTo>
                  <a:cubicBezTo>
                    <a:pt x="705" y="371"/>
                    <a:pt x="719" y="378"/>
                    <a:pt x="732" y="386"/>
                  </a:cubicBezTo>
                  <a:cubicBezTo>
                    <a:pt x="738" y="437"/>
                    <a:pt x="743" y="488"/>
                    <a:pt x="749" y="539"/>
                  </a:cubicBezTo>
                  <a:lnTo>
                    <a:pt x="665" y="581"/>
                  </a:lnTo>
                  <a:cubicBezTo>
                    <a:pt x="662" y="602"/>
                    <a:pt x="660" y="622"/>
                    <a:pt x="657" y="643"/>
                  </a:cubicBezTo>
                  <a:lnTo>
                    <a:pt x="532" y="668"/>
                  </a:lnTo>
                  <a:cubicBezTo>
                    <a:pt x="504" y="679"/>
                    <a:pt x="476" y="691"/>
                    <a:pt x="448" y="702"/>
                  </a:cubicBezTo>
                  <a:lnTo>
                    <a:pt x="328" y="695"/>
                  </a:lnTo>
                  <a:cubicBezTo>
                    <a:pt x="313" y="712"/>
                    <a:pt x="298" y="728"/>
                    <a:pt x="283" y="745"/>
                  </a:cubicBezTo>
                  <a:cubicBezTo>
                    <a:pt x="266" y="742"/>
                    <a:pt x="248" y="738"/>
                    <a:pt x="231" y="735"/>
                  </a:cubicBezTo>
                  <a:cubicBezTo>
                    <a:pt x="215" y="725"/>
                    <a:pt x="198" y="715"/>
                    <a:pt x="182" y="705"/>
                  </a:cubicBezTo>
                  <a:lnTo>
                    <a:pt x="88" y="735"/>
                  </a:lnTo>
                  <a:lnTo>
                    <a:pt x="0" y="793"/>
                  </a:lnTo>
                  <a:lnTo>
                    <a:pt x="9" y="892"/>
                  </a:lnTo>
                  <a:cubicBezTo>
                    <a:pt x="28" y="896"/>
                    <a:pt x="47" y="899"/>
                    <a:pt x="66" y="903"/>
                  </a:cubicBezTo>
                  <a:cubicBezTo>
                    <a:pt x="70" y="942"/>
                    <a:pt x="75" y="982"/>
                    <a:pt x="79" y="1021"/>
                  </a:cubicBezTo>
                  <a:lnTo>
                    <a:pt x="27" y="1021"/>
                  </a:lnTo>
                  <a:lnTo>
                    <a:pt x="27" y="1055"/>
                  </a:lnTo>
                  <a:lnTo>
                    <a:pt x="124" y="1106"/>
                  </a:lnTo>
                  <a:cubicBezTo>
                    <a:pt x="121" y="1129"/>
                    <a:pt x="118" y="1153"/>
                    <a:pt x="115" y="1176"/>
                  </a:cubicBezTo>
                  <a:lnTo>
                    <a:pt x="277" y="1248"/>
                  </a:lnTo>
                  <a:cubicBezTo>
                    <a:pt x="278" y="1250"/>
                    <a:pt x="280" y="1251"/>
                    <a:pt x="281" y="1253"/>
                  </a:cubicBezTo>
                  <a:cubicBezTo>
                    <a:pt x="283" y="1275"/>
                    <a:pt x="284" y="1298"/>
                    <a:pt x="286" y="1320"/>
                  </a:cubicBezTo>
                  <a:cubicBezTo>
                    <a:pt x="288" y="1332"/>
                    <a:pt x="313" y="1276"/>
                    <a:pt x="295" y="1327"/>
                  </a:cubicBezTo>
                  <a:cubicBezTo>
                    <a:pt x="321" y="1316"/>
                    <a:pt x="335" y="1335"/>
                    <a:pt x="371" y="1325"/>
                  </a:cubicBezTo>
                  <a:cubicBezTo>
                    <a:pt x="404" y="1306"/>
                    <a:pt x="477" y="1288"/>
                    <a:pt x="510" y="1269"/>
                  </a:cubicBezTo>
                  <a:lnTo>
                    <a:pt x="669" y="1301"/>
                  </a:lnTo>
                  <a:lnTo>
                    <a:pt x="746" y="1277"/>
                  </a:lnTo>
                  <a:lnTo>
                    <a:pt x="876" y="1352"/>
                  </a:lnTo>
                  <a:lnTo>
                    <a:pt x="973" y="1303"/>
                  </a:lnTo>
                  <a:lnTo>
                    <a:pt x="1265" y="1253"/>
                  </a:lnTo>
                  <a:lnTo>
                    <a:pt x="1383" y="1274"/>
                  </a:lnTo>
                  <a:cubicBezTo>
                    <a:pt x="1428" y="1292"/>
                    <a:pt x="1474" y="1259"/>
                    <a:pt x="1519" y="1277"/>
                  </a:cubicBezTo>
                  <a:cubicBezTo>
                    <a:pt x="1469" y="1235"/>
                    <a:pt x="1494" y="1286"/>
                    <a:pt x="1501" y="1266"/>
                  </a:cubicBezTo>
                  <a:cubicBezTo>
                    <a:pt x="1509" y="1247"/>
                    <a:pt x="1516" y="1229"/>
                    <a:pt x="1524" y="1210"/>
                  </a:cubicBezTo>
                  <a:cubicBezTo>
                    <a:pt x="1516" y="1193"/>
                    <a:pt x="1509" y="1176"/>
                    <a:pt x="1501" y="1159"/>
                  </a:cubicBezTo>
                  <a:cubicBezTo>
                    <a:pt x="1506" y="1133"/>
                    <a:pt x="1511" y="1108"/>
                    <a:pt x="1516" y="1082"/>
                  </a:cubicBezTo>
                  <a:lnTo>
                    <a:pt x="1821" y="1012"/>
                  </a:lnTo>
                  <a:cubicBezTo>
                    <a:pt x="1818" y="972"/>
                    <a:pt x="1816" y="931"/>
                    <a:pt x="1813" y="891"/>
                  </a:cubicBezTo>
                  <a:cubicBezTo>
                    <a:pt x="1842" y="882"/>
                    <a:pt x="1870" y="872"/>
                    <a:pt x="1899" y="863"/>
                  </a:cubicBezTo>
                  <a:cubicBezTo>
                    <a:pt x="1913" y="840"/>
                    <a:pt x="1928" y="818"/>
                    <a:pt x="1942" y="795"/>
                  </a:cubicBezTo>
                  <a:cubicBezTo>
                    <a:pt x="1978" y="783"/>
                    <a:pt x="2015" y="772"/>
                    <a:pt x="2051" y="760"/>
                  </a:cubicBezTo>
                  <a:cubicBezTo>
                    <a:pt x="2063" y="739"/>
                    <a:pt x="2076" y="717"/>
                    <a:pt x="2088" y="696"/>
                  </a:cubicBez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1" name="Freeform 11"/>
            <p:cNvSpPr>
              <a:spLocks/>
            </p:cNvSpPr>
            <p:nvPr/>
          </p:nvSpPr>
          <p:spPr bwMode="gray">
            <a:xfrm>
              <a:off x="4519944" y="3882954"/>
              <a:ext cx="1685868" cy="952830"/>
            </a:xfrm>
            <a:custGeom>
              <a:avLst/>
              <a:gdLst/>
              <a:ahLst/>
              <a:cxnLst>
                <a:cxn ang="0">
                  <a:pos x="2111" y="812"/>
                </a:cxn>
                <a:cxn ang="0">
                  <a:pos x="2093" y="659"/>
                </a:cxn>
                <a:cxn ang="0">
                  <a:pos x="1983" y="441"/>
                </a:cxn>
                <a:cxn ang="0">
                  <a:pos x="1879" y="430"/>
                </a:cxn>
                <a:cxn ang="0">
                  <a:pos x="1849" y="500"/>
                </a:cxn>
                <a:cxn ang="0">
                  <a:pos x="1727" y="494"/>
                </a:cxn>
                <a:cxn ang="0">
                  <a:pos x="1662" y="414"/>
                </a:cxn>
                <a:cxn ang="0">
                  <a:pos x="1475" y="397"/>
                </a:cxn>
                <a:cxn ang="0">
                  <a:pos x="1235" y="327"/>
                </a:cxn>
                <a:cxn ang="0">
                  <a:pos x="1167" y="191"/>
                </a:cxn>
                <a:cxn ang="0">
                  <a:pos x="1203" y="170"/>
                </a:cxn>
                <a:cxn ang="0">
                  <a:pos x="1217" y="96"/>
                </a:cxn>
                <a:cxn ang="0">
                  <a:pos x="1185" y="24"/>
                </a:cxn>
                <a:cxn ang="0">
                  <a:pos x="1064" y="5"/>
                </a:cxn>
                <a:cxn ang="0">
                  <a:pos x="775" y="57"/>
                </a:cxn>
                <a:cxn ang="0">
                  <a:pos x="684" y="104"/>
                </a:cxn>
                <a:cxn ang="0">
                  <a:pos x="554" y="32"/>
                </a:cxn>
                <a:cxn ang="0">
                  <a:pos x="403" y="43"/>
                </a:cxn>
                <a:cxn ang="0">
                  <a:pos x="288" y="0"/>
                </a:cxn>
                <a:cxn ang="0">
                  <a:pos x="173" y="91"/>
                </a:cxn>
                <a:cxn ang="0">
                  <a:pos x="91" y="83"/>
                </a:cxn>
                <a:cxn ang="0">
                  <a:pos x="88" y="157"/>
                </a:cxn>
                <a:cxn ang="0">
                  <a:pos x="115" y="240"/>
                </a:cxn>
                <a:cxn ang="0">
                  <a:pos x="82" y="264"/>
                </a:cxn>
                <a:cxn ang="0">
                  <a:pos x="34" y="211"/>
                </a:cxn>
                <a:cxn ang="0">
                  <a:pos x="0" y="245"/>
                </a:cxn>
                <a:cxn ang="0">
                  <a:pos x="24" y="303"/>
                </a:cxn>
                <a:cxn ang="0">
                  <a:pos x="22" y="381"/>
                </a:cxn>
                <a:cxn ang="0">
                  <a:pos x="93" y="414"/>
                </a:cxn>
                <a:cxn ang="0">
                  <a:pos x="159" y="484"/>
                </a:cxn>
                <a:cxn ang="0">
                  <a:pos x="235" y="499"/>
                </a:cxn>
                <a:cxn ang="0">
                  <a:pos x="270" y="528"/>
                </a:cxn>
                <a:cxn ang="0">
                  <a:pos x="292" y="513"/>
                </a:cxn>
                <a:cxn ang="0">
                  <a:pos x="448" y="616"/>
                </a:cxn>
                <a:cxn ang="0">
                  <a:pos x="470" y="671"/>
                </a:cxn>
                <a:cxn ang="0">
                  <a:pos x="514" y="646"/>
                </a:cxn>
                <a:cxn ang="0">
                  <a:pos x="523" y="712"/>
                </a:cxn>
                <a:cxn ang="0">
                  <a:pos x="621" y="730"/>
                </a:cxn>
                <a:cxn ang="0">
                  <a:pos x="696" y="807"/>
                </a:cxn>
                <a:cxn ang="0">
                  <a:pos x="788" y="799"/>
                </a:cxn>
                <a:cxn ang="0">
                  <a:pos x="839" y="836"/>
                </a:cxn>
                <a:cxn ang="0">
                  <a:pos x="976" y="836"/>
                </a:cxn>
                <a:cxn ang="0">
                  <a:pos x="1011" y="881"/>
                </a:cxn>
                <a:cxn ang="0">
                  <a:pos x="1108" y="814"/>
                </a:cxn>
                <a:cxn ang="0">
                  <a:pos x="1207" y="814"/>
                </a:cxn>
                <a:cxn ang="0">
                  <a:pos x="1278" y="841"/>
                </a:cxn>
                <a:cxn ang="0">
                  <a:pos x="1308" y="873"/>
                </a:cxn>
                <a:cxn ang="0">
                  <a:pos x="1414" y="866"/>
                </a:cxn>
                <a:cxn ang="0">
                  <a:pos x="1455" y="807"/>
                </a:cxn>
                <a:cxn ang="0">
                  <a:pos x="1527" y="807"/>
                </a:cxn>
                <a:cxn ang="0">
                  <a:pos x="1645" y="749"/>
                </a:cxn>
                <a:cxn ang="0">
                  <a:pos x="1717" y="767"/>
                </a:cxn>
                <a:cxn ang="0">
                  <a:pos x="1769" y="742"/>
                </a:cxn>
                <a:cxn ang="0">
                  <a:pos x="1810" y="749"/>
                </a:cxn>
                <a:cxn ang="0">
                  <a:pos x="1810" y="836"/>
                </a:cxn>
                <a:cxn ang="0">
                  <a:pos x="1894" y="855"/>
                </a:cxn>
                <a:cxn ang="0">
                  <a:pos x="1911" y="825"/>
                </a:cxn>
                <a:cxn ang="0">
                  <a:pos x="1983" y="851"/>
                </a:cxn>
                <a:cxn ang="0">
                  <a:pos x="2033" y="903"/>
                </a:cxn>
                <a:cxn ang="0">
                  <a:pos x="2050" y="831"/>
                </a:cxn>
                <a:cxn ang="0">
                  <a:pos x="2111" y="812"/>
                </a:cxn>
              </a:cxnLst>
              <a:rect l="0" t="0" r="r" b="b"/>
              <a:pathLst>
                <a:path w="2111" h="903">
                  <a:moveTo>
                    <a:pt x="2111" y="812"/>
                  </a:moveTo>
                  <a:lnTo>
                    <a:pt x="2093" y="659"/>
                  </a:lnTo>
                  <a:lnTo>
                    <a:pt x="1983" y="441"/>
                  </a:lnTo>
                  <a:lnTo>
                    <a:pt x="1879" y="430"/>
                  </a:lnTo>
                  <a:lnTo>
                    <a:pt x="1849" y="500"/>
                  </a:lnTo>
                  <a:lnTo>
                    <a:pt x="1727" y="494"/>
                  </a:lnTo>
                  <a:lnTo>
                    <a:pt x="1662" y="414"/>
                  </a:lnTo>
                  <a:lnTo>
                    <a:pt x="1475" y="397"/>
                  </a:lnTo>
                  <a:lnTo>
                    <a:pt x="1235" y="327"/>
                  </a:lnTo>
                  <a:lnTo>
                    <a:pt x="1167" y="191"/>
                  </a:lnTo>
                  <a:lnTo>
                    <a:pt x="1203" y="170"/>
                  </a:lnTo>
                  <a:lnTo>
                    <a:pt x="1217" y="96"/>
                  </a:lnTo>
                  <a:lnTo>
                    <a:pt x="1185" y="24"/>
                  </a:lnTo>
                  <a:lnTo>
                    <a:pt x="1064" y="5"/>
                  </a:lnTo>
                  <a:lnTo>
                    <a:pt x="775" y="57"/>
                  </a:lnTo>
                  <a:lnTo>
                    <a:pt x="684" y="104"/>
                  </a:lnTo>
                  <a:lnTo>
                    <a:pt x="554" y="32"/>
                  </a:lnTo>
                  <a:lnTo>
                    <a:pt x="403" y="43"/>
                  </a:lnTo>
                  <a:lnTo>
                    <a:pt x="288" y="0"/>
                  </a:lnTo>
                  <a:lnTo>
                    <a:pt x="173" y="91"/>
                  </a:lnTo>
                  <a:lnTo>
                    <a:pt x="91" y="83"/>
                  </a:lnTo>
                  <a:lnTo>
                    <a:pt x="88" y="157"/>
                  </a:lnTo>
                  <a:lnTo>
                    <a:pt x="115" y="240"/>
                  </a:lnTo>
                  <a:lnTo>
                    <a:pt x="82" y="264"/>
                  </a:lnTo>
                  <a:lnTo>
                    <a:pt x="34" y="211"/>
                  </a:lnTo>
                  <a:lnTo>
                    <a:pt x="0" y="245"/>
                  </a:lnTo>
                  <a:lnTo>
                    <a:pt x="24" y="303"/>
                  </a:lnTo>
                  <a:lnTo>
                    <a:pt x="22" y="381"/>
                  </a:lnTo>
                  <a:lnTo>
                    <a:pt x="93" y="414"/>
                  </a:lnTo>
                  <a:lnTo>
                    <a:pt x="159" y="484"/>
                  </a:lnTo>
                  <a:lnTo>
                    <a:pt x="235" y="499"/>
                  </a:lnTo>
                  <a:lnTo>
                    <a:pt x="270" y="528"/>
                  </a:lnTo>
                  <a:lnTo>
                    <a:pt x="292" y="513"/>
                  </a:lnTo>
                  <a:lnTo>
                    <a:pt x="448" y="616"/>
                  </a:lnTo>
                  <a:lnTo>
                    <a:pt x="470" y="671"/>
                  </a:lnTo>
                  <a:lnTo>
                    <a:pt x="514" y="646"/>
                  </a:lnTo>
                  <a:lnTo>
                    <a:pt x="523" y="712"/>
                  </a:lnTo>
                  <a:lnTo>
                    <a:pt x="621" y="730"/>
                  </a:lnTo>
                  <a:lnTo>
                    <a:pt x="696" y="807"/>
                  </a:lnTo>
                  <a:lnTo>
                    <a:pt x="788" y="799"/>
                  </a:lnTo>
                  <a:lnTo>
                    <a:pt x="839" y="836"/>
                  </a:lnTo>
                  <a:lnTo>
                    <a:pt x="976" y="836"/>
                  </a:lnTo>
                  <a:lnTo>
                    <a:pt x="1011" y="881"/>
                  </a:lnTo>
                  <a:lnTo>
                    <a:pt x="1108" y="814"/>
                  </a:lnTo>
                  <a:lnTo>
                    <a:pt x="1207" y="814"/>
                  </a:lnTo>
                  <a:lnTo>
                    <a:pt x="1278" y="841"/>
                  </a:lnTo>
                  <a:lnTo>
                    <a:pt x="1308" y="873"/>
                  </a:lnTo>
                  <a:lnTo>
                    <a:pt x="1414" y="866"/>
                  </a:lnTo>
                  <a:lnTo>
                    <a:pt x="1455" y="807"/>
                  </a:lnTo>
                  <a:lnTo>
                    <a:pt x="1527" y="807"/>
                  </a:lnTo>
                  <a:lnTo>
                    <a:pt x="1645" y="749"/>
                  </a:lnTo>
                  <a:lnTo>
                    <a:pt x="1717" y="767"/>
                  </a:lnTo>
                  <a:lnTo>
                    <a:pt x="1769" y="742"/>
                  </a:lnTo>
                  <a:lnTo>
                    <a:pt x="1810" y="749"/>
                  </a:lnTo>
                  <a:lnTo>
                    <a:pt x="1810" y="836"/>
                  </a:lnTo>
                  <a:lnTo>
                    <a:pt x="1894" y="855"/>
                  </a:lnTo>
                  <a:lnTo>
                    <a:pt x="1911" y="825"/>
                  </a:lnTo>
                  <a:lnTo>
                    <a:pt x="1983" y="851"/>
                  </a:lnTo>
                  <a:lnTo>
                    <a:pt x="2033" y="903"/>
                  </a:lnTo>
                  <a:lnTo>
                    <a:pt x="2050" y="831"/>
                  </a:lnTo>
                  <a:lnTo>
                    <a:pt x="2111" y="8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2" name="Freeform 12"/>
            <p:cNvSpPr>
              <a:spLocks/>
            </p:cNvSpPr>
            <p:nvPr/>
          </p:nvSpPr>
          <p:spPr bwMode="gray">
            <a:xfrm>
              <a:off x="5782219" y="3311150"/>
              <a:ext cx="1163556" cy="1016975"/>
            </a:xfrm>
            <a:custGeom>
              <a:avLst/>
              <a:gdLst/>
              <a:ahLst/>
              <a:cxnLst>
                <a:cxn ang="0">
                  <a:pos x="76" y="356"/>
                </a:cxn>
                <a:cxn ang="0">
                  <a:pos x="296" y="370"/>
                </a:cxn>
                <a:cxn ang="0">
                  <a:pos x="493" y="401"/>
                </a:cxn>
                <a:cxn ang="0">
                  <a:pos x="584" y="445"/>
                </a:cxn>
                <a:cxn ang="0">
                  <a:pos x="756" y="478"/>
                </a:cxn>
                <a:cxn ang="0">
                  <a:pos x="829" y="615"/>
                </a:cxn>
                <a:cxn ang="0">
                  <a:pos x="761" y="796"/>
                </a:cxn>
                <a:cxn ang="0">
                  <a:pos x="672" y="822"/>
                </a:cxn>
                <a:cxn ang="0">
                  <a:pos x="818" y="840"/>
                </a:cxn>
                <a:cxn ang="0">
                  <a:pos x="965" y="910"/>
                </a:cxn>
                <a:cxn ang="0">
                  <a:pos x="1031" y="963"/>
                </a:cxn>
                <a:cxn ang="0">
                  <a:pos x="1142" y="937"/>
                </a:cxn>
                <a:cxn ang="0">
                  <a:pos x="1162" y="883"/>
                </a:cxn>
                <a:cxn ang="0">
                  <a:pos x="1235" y="798"/>
                </a:cxn>
                <a:cxn ang="0">
                  <a:pos x="1259" y="721"/>
                </a:cxn>
                <a:cxn ang="0">
                  <a:pos x="1359" y="704"/>
                </a:cxn>
                <a:cxn ang="0">
                  <a:pos x="1424" y="690"/>
                </a:cxn>
                <a:cxn ang="0">
                  <a:pos x="1434" y="619"/>
                </a:cxn>
                <a:cxn ang="0">
                  <a:pos x="1320" y="538"/>
                </a:cxn>
                <a:cxn ang="0">
                  <a:pos x="1203" y="553"/>
                </a:cxn>
                <a:cxn ang="0">
                  <a:pos x="1257" y="617"/>
                </a:cxn>
                <a:cxn ang="0">
                  <a:pos x="1215" y="659"/>
                </a:cxn>
                <a:cxn ang="0">
                  <a:pos x="1103" y="662"/>
                </a:cxn>
                <a:cxn ang="0">
                  <a:pos x="993" y="505"/>
                </a:cxn>
                <a:cxn ang="0">
                  <a:pos x="930" y="433"/>
                </a:cxn>
                <a:cxn ang="0">
                  <a:pos x="985" y="357"/>
                </a:cxn>
                <a:cxn ang="0">
                  <a:pos x="749" y="383"/>
                </a:cxn>
                <a:cxn ang="0">
                  <a:pos x="577" y="267"/>
                </a:cxn>
                <a:cxn ang="0">
                  <a:pos x="623" y="201"/>
                </a:cxn>
                <a:cxn ang="0">
                  <a:pos x="424" y="219"/>
                </a:cxn>
                <a:cxn ang="0">
                  <a:pos x="338" y="0"/>
                </a:cxn>
                <a:cxn ang="0">
                  <a:pos x="239" y="84"/>
                </a:cxn>
                <a:cxn ang="0">
                  <a:pos x="87" y="189"/>
                </a:cxn>
                <a:cxn ang="0">
                  <a:pos x="6" y="342"/>
                </a:cxn>
              </a:cxnLst>
              <a:rect l="0" t="0" r="r" b="b"/>
              <a:pathLst>
                <a:path w="1435" h="965">
                  <a:moveTo>
                    <a:pt x="6" y="342"/>
                  </a:moveTo>
                  <a:lnTo>
                    <a:pt x="76" y="356"/>
                  </a:lnTo>
                  <a:lnTo>
                    <a:pt x="203" y="395"/>
                  </a:lnTo>
                  <a:lnTo>
                    <a:pt x="296" y="370"/>
                  </a:lnTo>
                  <a:lnTo>
                    <a:pt x="429" y="365"/>
                  </a:lnTo>
                  <a:lnTo>
                    <a:pt x="493" y="401"/>
                  </a:lnTo>
                  <a:lnTo>
                    <a:pt x="595" y="392"/>
                  </a:lnTo>
                  <a:lnTo>
                    <a:pt x="584" y="445"/>
                  </a:lnTo>
                  <a:lnTo>
                    <a:pt x="710" y="517"/>
                  </a:lnTo>
                  <a:lnTo>
                    <a:pt x="756" y="478"/>
                  </a:lnTo>
                  <a:lnTo>
                    <a:pt x="812" y="553"/>
                  </a:lnTo>
                  <a:lnTo>
                    <a:pt x="829" y="615"/>
                  </a:lnTo>
                  <a:lnTo>
                    <a:pt x="867" y="653"/>
                  </a:lnTo>
                  <a:lnTo>
                    <a:pt x="761" y="796"/>
                  </a:lnTo>
                  <a:lnTo>
                    <a:pt x="706" y="796"/>
                  </a:lnTo>
                  <a:lnTo>
                    <a:pt x="672" y="822"/>
                  </a:lnTo>
                  <a:lnTo>
                    <a:pt x="809" y="897"/>
                  </a:lnTo>
                  <a:lnTo>
                    <a:pt x="818" y="840"/>
                  </a:lnTo>
                  <a:lnTo>
                    <a:pt x="887" y="832"/>
                  </a:lnTo>
                  <a:lnTo>
                    <a:pt x="965" y="910"/>
                  </a:lnTo>
                  <a:lnTo>
                    <a:pt x="1020" y="917"/>
                  </a:lnTo>
                  <a:lnTo>
                    <a:pt x="1031" y="963"/>
                  </a:lnTo>
                  <a:lnTo>
                    <a:pt x="1140" y="964"/>
                  </a:lnTo>
                  <a:lnTo>
                    <a:pt x="1142" y="937"/>
                  </a:lnTo>
                  <a:lnTo>
                    <a:pt x="1186" y="946"/>
                  </a:lnTo>
                  <a:lnTo>
                    <a:pt x="1162" y="883"/>
                  </a:lnTo>
                  <a:lnTo>
                    <a:pt x="1224" y="869"/>
                  </a:lnTo>
                  <a:lnTo>
                    <a:pt x="1235" y="798"/>
                  </a:lnTo>
                  <a:lnTo>
                    <a:pt x="1213" y="781"/>
                  </a:lnTo>
                  <a:lnTo>
                    <a:pt x="1259" y="721"/>
                  </a:lnTo>
                  <a:lnTo>
                    <a:pt x="1322" y="734"/>
                  </a:lnTo>
                  <a:lnTo>
                    <a:pt x="1359" y="704"/>
                  </a:lnTo>
                  <a:lnTo>
                    <a:pt x="1401" y="706"/>
                  </a:lnTo>
                  <a:lnTo>
                    <a:pt x="1424" y="690"/>
                  </a:lnTo>
                  <a:lnTo>
                    <a:pt x="1413" y="654"/>
                  </a:lnTo>
                  <a:lnTo>
                    <a:pt x="1434" y="619"/>
                  </a:lnTo>
                  <a:lnTo>
                    <a:pt x="1414" y="563"/>
                  </a:lnTo>
                  <a:lnTo>
                    <a:pt x="1320" y="538"/>
                  </a:lnTo>
                  <a:lnTo>
                    <a:pt x="1235" y="525"/>
                  </a:lnTo>
                  <a:lnTo>
                    <a:pt x="1203" y="553"/>
                  </a:lnTo>
                  <a:lnTo>
                    <a:pt x="1198" y="610"/>
                  </a:lnTo>
                  <a:lnTo>
                    <a:pt x="1257" y="617"/>
                  </a:lnTo>
                  <a:lnTo>
                    <a:pt x="1257" y="655"/>
                  </a:lnTo>
                  <a:lnTo>
                    <a:pt x="1215" y="659"/>
                  </a:lnTo>
                  <a:lnTo>
                    <a:pt x="1210" y="690"/>
                  </a:lnTo>
                  <a:lnTo>
                    <a:pt x="1103" y="662"/>
                  </a:lnTo>
                  <a:lnTo>
                    <a:pt x="1105" y="571"/>
                  </a:lnTo>
                  <a:lnTo>
                    <a:pt x="993" y="505"/>
                  </a:lnTo>
                  <a:lnTo>
                    <a:pt x="933" y="498"/>
                  </a:lnTo>
                  <a:lnTo>
                    <a:pt x="930" y="433"/>
                  </a:lnTo>
                  <a:lnTo>
                    <a:pt x="975" y="414"/>
                  </a:lnTo>
                  <a:lnTo>
                    <a:pt x="985" y="357"/>
                  </a:lnTo>
                  <a:lnTo>
                    <a:pt x="914" y="326"/>
                  </a:lnTo>
                  <a:lnTo>
                    <a:pt x="749" y="383"/>
                  </a:lnTo>
                  <a:lnTo>
                    <a:pt x="666" y="323"/>
                  </a:lnTo>
                  <a:lnTo>
                    <a:pt x="577" y="267"/>
                  </a:lnTo>
                  <a:lnTo>
                    <a:pt x="636" y="251"/>
                  </a:lnTo>
                  <a:lnTo>
                    <a:pt x="623" y="201"/>
                  </a:lnTo>
                  <a:lnTo>
                    <a:pt x="469" y="178"/>
                  </a:lnTo>
                  <a:lnTo>
                    <a:pt x="424" y="219"/>
                  </a:lnTo>
                  <a:lnTo>
                    <a:pt x="358" y="130"/>
                  </a:lnTo>
                  <a:lnTo>
                    <a:pt x="338" y="0"/>
                  </a:lnTo>
                  <a:lnTo>
                    <a:pt x="275" y="24"/>
                  </a:lnTo>
                  <a:lnTo>
                    <a:pt x="239" y="84"/>
                  </a:lnTo>
                  <a:lnTo>
                    <a:pt x="132" y="118"/>
                  </a:lnTo>
                  <a:lnTo>
                    <a:pt x="87" y="189"/>
                  </a:lnTo>
                  <a:lnTo>
                    <a:pt x="0" y="212"/>
                  </a:lnTo>
                  <a:lnTo>
                    <a:pt x="6" y="34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3" name="Freeform 13"/>
            <p:cNvSpPr>
              <a:spLocks/>
            </p:cNvSpPr>
            <p:nvPr/>
          </p:nvSpPr>
          <p:spPr bwMode="gray">
            <a:xfrm>
              <a:off x="5423164" y="3647429"/>
              <a:ext cx="1062550" cy="787222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76" y="298"/>
                </a:cxn>
                <a:cxn ang="0">
                  <a:pos x="155" y="236"/>
                </a:cxn>
                <a:cxn ang="0">
                  <a:pos x="198" y="206"/>
                </a:cxn>
                <a:cxn ang="0">
                  <a:pos x="144" y="148"/>
                </a:cxn>
                <a:cxn ang="0">
                  <a:pos x="164" y="69"/>
                </a:cxn>
                <a:cxn ang="0">
                  <a:pos x="465" y="0"/>
                </a:cxn>
                <a:cxn ang="0">
                  <a:pos x="530" y="4"/>
                </a:cxn>
                <a:cxn ang="0">
                  <a:pos x="662" y="60"/>
                </a:cxn>
                <a:cxn ang="0">
                  <a:pos x="754" y="32"/>
                </a:cxn>
                <a:cxn ang="0">
                  <a:pos x="894" y="27"/>
                </a:cxn>
                <a:cxn ang="0">
                  <a:pos x="956" y="64"/>
                </a:cxn>
                <a:cxn ang="0">
                  <a:pos x="1054" y="57"/>
                </a:cxn>
                <a:cxn ang="0">
                  <a:pos x="1043" y="108"/>
                </a:cxn>
                <a:cxn ang="0">
                  <a:pos x="1175" y="177"/>
                </a:cxn>
                <a:cxn ang="0">
                  <a:pos x="1217" y="138"/>
                </a:cxn>
                <a:cxn ang="0">
                  <a:pos x="1272" y="211"/>
                </a:cxn>
                <a:cxn ang="0">
                  <a:pos x="1289" y="279"/>
                </a:cxn>
                <a:cxn ang="0">
                  <a:pos x="1329" y="317"/>
                </a:cxn>
                <a:cxn ang="0">
                  <a:pos x="1225" y="461"/>
                </a:cxn>
                <a:cxn ang="0">
                  <a:pos x="1168" y="459"/>
                </a:cxn>
                <a:cxn ang="0">
                  <a:pos x="1138" y="489"/>
                </a:cxn>
                <a:cxn ang="0">
                  <a:pos x="1273" y="559"/>
                </a:cxn>
                <a:cxn ang="0">
                  <a:pos x="1270" y="593"/>
                </a:cxn>
                <a:cxn ang="0">
                  <a:pos x="1174" y="597"/>
                </a:cxn>
                <a:cxn ang="0">
                  <a:pos x="1151" y="647"/>
                </a:cxn>
                <a:cxn ang="0">
                  <a:pos x="1098" y="648"/>
                </a:cxn>
                <a:cxn ang="0">
                  <a:pos x="1050" y="603"/>
                </a:cxn>
                <a:cxn ang="0">
                  <a:pos x="821" y="608"/>
                </a:cxn>
                <a:cxn ang="0">
                  <a:pos x="782" y="679"/>
                </a:cxn>
                <a:cxn ang="0">
                  <a:pos x="734" y="679"/>
                </a:cxn>
                <a:cxn ang="0">
                  <a:pos x="694" y="742"/>
                </a:cxn>
                <a:cxn ang="0">
                  <a:pos x="574" y="745"/>
                </a:cxn>
                <a:cxn ang="0">
                  <a:pos x="496" y="655"/>
                </a:cxn>
                <a:cxn ang="0">
                  <a:pos x="322" y="642"/>
                </a:cxn>
                <a:cxn ang="0">
                  <a:pos x="71" y="572"/>
                </a:cxn>
                <a:cxn ang="0">
                  <a:pos x="0" y="429"/>
                </a:cxn>
                <a:cxn ang="0">
                  <a:pos x="43" y="401"/>
                </a:cxn>
                <a:cxn ang="0">
                  <a:pos x="53" y="331"/>
                </a:cxn>
                <a:cxn ang="0">
                  <a:pos x="23" y="260"/>
                </a:cxn>
              </a:cxnLst>
              <a:rect l="0" t="0" r="r" b="b"/>
              <a:pathLst>
                <a:path w="1330" h="746">
                  <a:moveTo>
                    <a:pt x="23" y="260"/>
                  </a:moveTo>
                  <a:lnTo>
                    <a:pt x="176" y="298"/>
                  </a:lnTo>
                  <a:lnTo>
                    <a:pt x="155" y="236"/>
                  </a:lnTo>
                  <a:lnTo>
                    <a:pt x="198" y="206"/>
                  </a:lnTo>
                  <a:lnTo>
                    <a:pt x="144" y="148"/>
                  </a:lnTo>
                  <a:lnTo>
                    <a:pt x="164" y="69"/>
                  </a:lnTo>
                  <a:lnTo>
                    <a:pt x="465" y="0"/>
                  </a:lnTo>
                  <a:lnTo>
                    <a:pt x="530" y="4"/>
                  </a:lnTo>
                  <a:lnTo>
                    <a:pt x="662" y="60"/>
                  </a:lnTo>
                  <a:lnTo>
                    <a:pt x="754" y="32"/>
                  </a:lnTo>
                  <a:lnTo>
                    <a:pt x="894" y="27"/>
                  </a:lnTo>
                  <a:lnTo>
                    <a:pt x="956" y="64"/>
                  </a:lnTo>
                  <a:lnTo>
                    <a:pt x="1054" y="57"/>
                  </a:lnTo>
                  <a:lnTo>
                    <a:pt x="1043" y="108"/>
                  </a:lnTo>
                  <a:lnTo>
                    <a:pt x="1175" y="177"/>
                  </a:lnTo>
                  <a:lnTo>
                    <a:pt x="1217" y="138"/>
                  </a:lnTo>
                  <a:lnTo>
                    <a:pt x="1272" y="211"/>
                  </a:lnTo>
                  <a:lnTo>
                    <a:pt x="1289" y="279"/>
                  </a:lnTo>
                  <a:lnTo>
                    <a:pt x="1329" y="317"/>
                  </a:lnTo>
                  <a:lnTo>
                    <a:pt x="1225" y="461"/>
                  </a:lnTo>
                  <a:lnTo>
                    <a:pt x="1168" y="459"/>
                  </a:lnTo>
                  <a:lnTo>
                    <a:pt x="1138" y="489"/>
                  </a:lnTo>
                  <a:lnTo>
                    <a:pt x="1273" y="559"/>
                  </a:lnTo>
                  <a:lnTo>
                    <a:pt x="1270" y="593"/>
                  </a:lnTo>
                  <a:lnTo>
                    <a:pt x="1174" y="597"/>
                  </a:lnTo>
                  <a:lnTo>
                    <a:pt x="1151" y="647"/>
                  </a:lnTo>
                  <a:lnTo>
                    <a:pt x="1098" y="648"/>
                  </a:lnTo>
                  <a:lnTo>
                    <a:pt x="1050" y="603"/>
                  </a:lnTo>
                  <a:lnTo>
                    <a:pt x="821" y="608"/>
                  </a:lnTo>
                  <a:lnTo>
                    <a:pt x="782" y="679"/>
                  </a:lnTo>
                  <a:lnTo>
                    <a:pt x="734" y="679"/>
                  </a:lnTo>
                  <a:lnTo>
                    <a:pt x="694" y="742"/>
                  </a:lnTo>
                  <a:lnTo>
                    <a:pt x="574" y="745"/>
                  </a:lnTo>
                  <a:lnTo>
                    <a:pt x="496" y="655"/>
                  </a:lnTo>
                  <a:lnTo>
                    <a:pt x="322" y="642"/>
                  </a:lnTo>
                  <a:lnTo>
                    <a:pt x="71" y="572"/>
                  </a:lnTo>
                  <a:lnTo>
                    <a:pt x="0" y="429"/>
                  </a:lnTo>
                  <a:lnTo>
                    <a:pt x="43" y="401"/>
                  </a:lnTo>
                  <a:lnTo>
                    <a:pt x="53" y="331"/>
                  </a:lnTo>
                  <a:lnTo>
                    <a:pt x="23" y="26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4" name="Freeform 14"/>
            <p:cNvSpPr>
              <a:spLocks/>
            </p:cNvSpPr>
            <p:nvPr/>
          </p:nvSpPr>
          <p:spPr bwMode="gray">
            <a:xfrm>
              <a:off x="6038569" y="4173351"/>
              <a:ext cx="1060129" cy="845536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7" y="103"/>
                </a:cxn>
                <a:cxn ang="0">
                  <a:pos x="267" y="105"/>
                </a:cxn>
                <a:cxn ang="0">
                  <a:pos x="310" y="148"/>
                </a:cxn>
                <a:cxn ang="0">
                  <a:pos x="366" y="151"/>
                </a:cxn>
                <a:cxn ang="0">
                  <a:pos x="391" y="99"/>
                </a:cxn>
                <a:cxn ang="0">
                  <a:pos x="483" y="96"/>
                </a:cxn>
                <a:cxn ang="0">
                  <a:pos x="491" y="7"/>
                </a:cxn>
                <a:cxn ang="0">
                  <a:pos x="570" y="0"/>
                </a:cxn>
                <a:cxn ang="0">
                  <a:pos x="642" y="79"/>
                </a:cxn>
                <a:cxn ang="0">
                  <a:pos x="702" y="86"/>
                </a:cxn>
                <a:cxn ang="0">
                  <a:pos x="710" y="131"/>
                </a:cxn>
                <a:cxn ang="0">
                  <a:pos x="815" y="133"/>
                </a:cxn>
                <a:cxn ang="0">
                  <a:pos x="822" y="107"/>
                </a:cxn>
                <a:cxn ang="0">
                  <a:pos x="857" y="115"/>
                </a:cxn>
                <a:cxn ang="0">
                  <a:pos x="974" y="131"/>
                </a:cxn>
                <a:cxn ang="0">
                  <a:pos x="1039" y="158"/>
                </a:cxn>
                <a:cxn ang="0">
                  <a:pos x="1112" y="148"/>
                </a:cxn>
                <a:cxn ang="0">
                  <a:pos x="1169" y="179"/>
                </a:cxn>
                <a:cxn ang="0">
                  <a:pos x="1239" y="187"/>
                </a:cxn>
                <a:cxn ang="0">
                  <a:pos x="1272" y="210"/>
                </a:cxn>
                <a:cxn ang="0">
                  <a:pos x="1265" y="279"/>
                </a:cxn>
                <a:cxn ang="0">
                  <a:pos x="1146" y="313"/>
                </a:cxn>
                <a:cxn ang="0">
                  <a:pos x="1154" y="396"/>
                </a:cxn>
                <a:cxn ang="0">
                  <a:pos x="1229" y="432"/>
                </a:cxn>
                <a:cxn ang="0">
                  <a:pos x="1224" y="538"/>
                </a:cxn>
                <a:cxn ang="0">
                  <a:pos x="1165" y="538"/>
                </a:cxn>
                <a:cxn ang="0">
                  <a:pos x="1121" y="474"/>
                </a:cxn>
                <a:cxn ang="0">
                  <a:pos x="1045" y="471"/>
                </a:cxn>
                <a:cxn ang="0">
                  <a:pos x="963" y="539"/>
                </a:cxn>
                <a:cxn ang="0">
                  <a:pos x="908" y="526"/>
                </a:cxn>
                <a:cxn ang="0">
                  <a:pos x="865" y="550"/>
                </a:cxn>
                <a:cxn ang="0">
                  <a:pos x="906" y="591"/>
                </a:cxn>
                <a:cxn ang="0">
                  <a:pos x="908" y="628"/>
                </a:cxn>
                <a:cxn ang="0">
                  <a:pos x="820" y="620"/>
                </a:cxn>
                <a:cxn ang="0">
                  <a:pos x="826" y="594"/>
                </a:cxn>
                <a:cxn ang="0">
                  <a:pos x="745" y="596"/>
                </a:cxn>
                <a:cxn ang="0">
                  <a:pos x="721" y="550"/>
                </a:cxn>
                <a:cxn ang="0">
                  <a:pos x="676" y="547"/>
                </a:cxn>
                <a:cxn ang="0">
                  <a:pos x="640" y="572"/>
                </a:cxn>
                <a:cxn ang="0">
                  <a:pos x="647" y="623"/>
                </a:cxn>
                <a:cxn ang="0">
                  <a:pos x="571" y="677"/>
                </a:cxn>
                <a:cxn ang="0">
                  <a:pos x="575" y="754"/>
                </a:cxn>
                <a:cxn ang="0">
                  <a:pos x="442" y="801"/>
                </a:cxn>
                <a:cxn ang="0">
                  <a:pos x="342" y="638"/>
                </a:cxn>
                <a:cxn ang="0">
                  <a:pos x="203" y="550"/>
                </a:cxn>
                <a:cxn ang="0">
                  <a:pos x="171" y="552"/>
                </a:cxn>
                <a:cxn ang="0">
                  <a:pos x="144" y="401"/>
                </a:cxn>
                <a:cxn ang="0">
                  <a:pos x="44" y="185"/>
                </a:cxn>
                <a:cxn ang="0">
                  <a:pos x="0" y="180"/>
                </a:cxn>
              </a:cxnLst>
              <a:rect l="0" t="0" r="r" b="b"/>
              <a:pathLst>
                <a:path w="1273" h="802">
                  <a:moveTo>
                    <a:pt x="0" y="180"/>
                  </a:moveTo>
                  <a:lnTo>
                    <a:pt x="27" y="103"/>
                  </a:lnTo>
                  <a:lnTo>
                    <a:pt x="267" y="105"/>
                  </a:lnTo>
                  <a:lnTo>
                    <a:pt x="310" y="148"/>
                  </a:lnTo>
                  <a:lnTo>
                    <a:pt x="366" y="151"/>
                  </a:lnTo>
                  <a:lnTo>
                    <a:pt x="391" y="99"/>
                  </a:lnTo>
                  <a:lnTo>
                    <a:pt x="483" y="96"/>
                  </a:lnTo>
                  <a:lnTo>
                    <a:pt x="491" y="7"/>
                  </a:lnTo>
                  <a:lnTo>
                    <a:pt x="570" y="0"/>
                  </a:lnTo>
                  <a:lnTo>
                    <a:pt x="642" y="79"/>
                  </a:lnTo>
                  <a:lnTo>
                    <a:pt x="702" y="86"/>
                  </a:lnTo>
                  <a:lnTo>
                    <a:pt x="710" y="131"/>
                  </a:lnTo>
                  <a:lnTo>
                    <a:pt x="815" y="133"/>
                  </a:lnTo>
                  <a:lnTo>
                    <a:pt x="822" y="107"/>
                  </a:lnTo>
                  <a:lnTo>
                    <a:pt x="857" y="115"/>
                  </a:lnTo>
                  <a:lnTo>
                    <a:pt x="974" y="131"/>
                  </a:lnTo>
                  <a:lnTo>
                    <a:pt x="1039" y="158"/>
                  </a:lnTo>
                  <a:lnTo>
                    <a:pt x="1112" y="148"/>
                  </a:lnTo>
                  <a:lnTo>
                    <a:pt x="1169" y="179"/>
                  </a:lnTo>
                  <a:lnTo>
                    <a:pt x="1239" y="187"/>
                  </a:lnTo>
                  <a:lnTo>
                    <a:pt x="1272" y="210"/>
                  </a:lnTo>
                  <a:lnTo>
                    <a:pt x="1265" y="279"/>
                  </a:lnTo>
                  <a:lnTo>
                    <a:pt x="1146" y="313"/>
                  </a:lnTo>
                  <a:lnTo>
                    <a:pt x="1154" y="396"/>
                  </a:lnTo>
                  <a:lnTo>
                    <a:pt x="1229" y="432"/>
                  </a:lnTo>
                  <a:lnTo>
                    <a:pt x="1224" y="538"/>
                  </a:lnTo>
                  <a:lnTo>
                    <a:pt x="1165" y="538"/>
                  </a:lnTo>
                  <a:lnTo>
                    <a:pt x="1121" y="474"/>
                  </a:lnTo>
                  <a:lnTo>
                    <a:pt x="1045" y="471"/>
                  </a:lnTo>
                  <a:lnTo>
                    <a:pt x="963" y="539"/>
                  </a:lnTo>
                  <a:lnTo>
                    <a:pt x="908" y="526"/>
                  </a:lnTo>
                  <a:lnTo>
                    <a:pt x="865" y="550"/>
                  </a:lnTo>
                  <a:lnTo>
                    <a:pt x="906" y="591"/>
                  </a:lnTo>
                  <a:lnTo>
                    <a:pt x="908" y="628"/>
                  </a:lnTo>
                  <a:lnTo>
                    <a:pt x="820" y="620"/>
                  </a:lnTo>
                  <a:lnTo>
                    <a:pt x="826" y="594"/>
                  </a:lnTo>
                  <a:lnTo>
                    <a:pt x="745" y="596"/>
                  </a:lnTo>
                  <a:lnTo>
                    <a:pt x="721" y="550"/>
                  </a:lnTo>
                  <a:lnTo>
                    <a:pt x="676" y="547"/>
                  </a:lnTo>
                  <a:lnTo>
                    <a:pt x="640" y="572"/>
                  </a:lnTo>
                  <a:lnTo>
                    <a:pt x="647" y="623"/>
                  </a:lnTo>
                  <a:lnTo>
                    <a:pt x="571" y="677"/>
                  </a:lnTo>
                  <a:lnTo>
                    <a:pt x="575" y="754"/>
                  </a:lnTo>
                  <a:lnTo>
                    <a:pt x="442" y="801"/>
                  </a:lnTo>
                  <a:lnTo>
                    <a:pt x="342" y="638"/>
                  </a:lnTo>
                  <a:lnTo>
                    <a:pt x="203" y="550"/>
                  </a:lnTo>
                  <a:lnTo>
                    <a:pt x="171" y="552"/>
                  </a:lnTo>
                  <a:lnTo>
                    <a:pt x="144" y="401"/>
                  </a:lnTo>
                  <a:lnTo>
                    <a:pt x="44" y="185"/>
                  </a:lnTo>
                  <a:lnTo>
                    <a:pt x="0" y="1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5" name="Freeform 15"/>
            <p:cNvSpPr>
              <a:spLocks/>
            </p:cNvSpPr>
            <p:nvPr/>
          </p:nvSpPr>
          <p:spPr bwMode="gray">
            <a:xfrm>
              <a:off x="6056762" y="4744816"/>
              <a:ext cx="767576" cy="810548"/>
            </a:xfrm>
            <a:custGeom>
              <a:avLst/>
              <a:gdLst/>
              <a:ahLst/>
              <a:cxnLst>
                <a:cxn ang="0">
                  <a:pos x="106" y="107"/>
                </a:cxn>
                <a:cxn ang="0">
                  <a:pos x="134" y="296"/>
                </a:cxn>
                <a:cxn ang="0">
                  <a:pos x="57" y="338"/>
                </a:cxn>
                <a:cxn ang="0">
                  <a:pos x="0" y="399"/>
                </a:cxn>
                <a:cxn ang="0">
                  <a:pos x="23" y="482"/>
                </a:cxn>
                <a:cxn ang="0">
                  <a:pos x="140" y="487"/>
                </a:cxn>
                <a:cxn ang="0">
                  <a:pos x="158" y="563"/>
                </a:cxn>
                <a:cxn ang="0">
                  <a:pos x="224" y="574"/>
                </a:cxn>
                <a:cxn ang="0">
                  <a:pos x="201" y="659"/>
                </a:cxn>
                <a:cxn ang="0">
                  <a:pos x="267" y="692"/>
                </a:cxn>
                <a:cxn ang="0">
                  <a:pos x="307" y="733"/>
                </a:cxn>
                <a:cxn ang="0">
                  <a:pos x="397" y="717"/>
                </a:cxn>
                <a:cxn ang="0">
                  <a:pos x="417" y="767"/>
                </a:cxn>
                <a:cxn ang="0">
                  <a:pos x="493" y="768"/>
                </a:cxn>
                <a:cxn ang="0">
                  <a:pos x="482" y="644"/>
                </a:cxn>
                <a:cxn ang="0">
                  <a:pos x="538" y="640"/>
                </a:cxn>
                <a:cxn ang="0">
                  <a:pos x="563" y="614"/>
                </a:cxn>
                <a:cxn ang="0">
                  <a:pos x="634" y="629"/>
                </a:cxn>
                <a:cxn ang="0">
                  <a:pos x="735" y="610"/>
                </a:cxn>
                <a:cxn ang="0">
                  <a:pos x="798" y="592"/>
                </a:cxn>
                <a:cxn ang="0">
                  <a:pos x="831" y="548"/>
                </a:cxn>
                <a:cxn ang="0">
                  <a:pos x="911" y="533"/>
                </a:cxn>
                <a:cxn ang="0">
                  <a:pos x="911" y="503"/>
                </a:cxn>
                <a:cxn ang="0">
                  <a:pos x="960" y="504"/>
                </a:cxn>
                <a:cxn ang="0">
                  <a:pos x="939" y="443"/>
                </a:cxn>
                <a:cxn ang="0">
                  <a:pos x="860" y="445"/>
                </a:cxn>
                <a:cxn ang="0">
                  <a:pos x="780" y="423"/>
                </a:cxn>
                <a:cxn ang="0">
                  <a:pos x="772" y="382"/>
                </a:cxn>
                <a:cxn ang="0">
                  <a:pos x="776" y="328"/>
                </a:cxn>
                <a:cxn ang="0">
                  <a:pos x="749" y="289"/>
                </a:cxn>
                <a:cxn ang="0">
                  <a:pos x="754" y="211"/>
                </a:cxn>
                <a:cxn ang="0">
                  <a:pos x="662" y="204"/>
                </a:cxn>
                <a:cxn ang="0">
                  <a:pos x="660" y="149"/>
                </a:cxn>
                <a:cxn ang="0">
                  <a:pos x="753" y="137"/>
                </a:cxn>
                <a:cxn ang="0">
                  <a:pos x="753" y="50"/>
                </a:cxn>
                <a:cxn ang="0">
                  <a:pos x="730" y="11"/>
                </a:cxn>
                <a:cxn ang="0">
                  <a:pos x="680" y="0"/>
                </a:cxn>
                <a:cxn ang="0">
                  <a:pos x="649" y="28"/>
                </a:cxn>
                <a:cxn ang="0">
                  <a:pos x="651" y="77"/>
                </a:cxn>
                <a:cxn ang="0">
                  <a:pos x="581" y="134"/>
                </a:cxn>
                <a:cxn ang="0">
                  <a:pos x="574" y="215"/>
                </a:cxn>
                <a:cxn ang="0">
                  <a:pos x="453" y="259"/>
                </a:cxn>
                <a:cxn ang="0">
                  <a:pos x="350" y="94"/>
                </a:cxn>
                <a:cxn ang="0">
                  <a:pos x="224" y="4"/>
                </a:cxn>
                <a:cxn ang="0">
                  <a:pos x="179" y="2"/>
                </a:cxn>
                <a:cxn ang="0">
                  <a:pos x="116" y="26"/>
                </a:cxn>
                <a:cxn ang="0">
                  <a:pos x="115" y="29"/>
                </a:cxn>
                <a:cxn ang="0">
                  <a:pos x="115" y="38"/>
                </a:cxn>
                <a:cxn ang="0">
                  <a:pos x="112" y="51"/>
                </a:cxn>
                <a:cxn ang="0">
                  <a:pos x="110" y="66"/>
                </a:cxn>
                <a:cxn ang="0">
                  <a:pos x="108" y="81"/>
                </a:cxn>
                <a:cxn ang="0">
                  <a:pos x="107" y="94"/>
                </a:cxn>
                <a:cxn ang="0">
                  <a:pos x="106" y="103"/>
                </a:cxn>
                <a:cxn ang="0">
                  <a:pos x="106" y="107"/>
                </a:cxn>
              </a:cxnLst>
              <a:rect l="0" t="0" r="r" b="b"/>
              <a:pathLst>
                <a:path w="961" h="769">
                  <a:moveTo>
                    <a:pt x="106" y="107"/>
                  </a:moveTo>
                  <a:lnTo>
                    <a:pt x="134" y="296"/>
                  </a:lnTo>
                  <a:lnTo>
                    <a:pt x="57" y="338"/>
                  </a:lnTo>
                  <a:lnTo>
                    <a:pt x="0" y="399"/>
                  </a:lnTo>
                  <a:lnTo>
                    <a:pt x="23" y="482"/>
                  </a:lnTo>
                  <a:lnTo>
                    <a:pt x="140" y="487"/>
                  </a:lnTo>
                  <a:lnTo>
                    <a:pt x="158" y="563"/>
                  </a:lnTo>
                  <a:lnTo>
                    <a:pt x="224" y="574"/>
                  </a:lnTo>
                  <a:lnTo>
                    <a:pt x="201" y="659"/>
                  </a:lnTo>
                  <a:lnTo>
                    <a:pt x="267" y="692"/>
                  </a:lnTo>
                  <a:lnTo>
                    <a:pt x="307" y="733"/>
                  </a:lnTo>
                  <a:lnTo>
                    <a:pt x="397" y="717"/>
                  </a:lnTo>
                  <a:lnTo>
                    <a:pt x="417" y="767"/>
                  </a:lnTo>
                  <a:lnTo>
                    <a:pt x="493" y="768"/>
                  </a:lnTo>
                  <a:lnTo>
                    <a:pt x="482" y="644"/>
                  </a:lnTo>
                  <a:lnTo>
                    <a:pt x="538" y="640"/>
                  </a:lnTo>
                  <a:lnTo>
                    <a:pt x="563" y="614"/>
                  </a:lnTo>
                  <a:lnTo>
                    <a:pt x="634" y="629"/>
                  </a:lnTo>
                  <a:lnTo>
                    <a:pt x="735" y="610"/>
                  </a:lnTo>
                  <a:lnTo>
                    <a:pt x="798" y="592"/>
                  </a:lnTo>
                  <a:lnTo>
                    <a:pt x="831" y="548"/>
                  </a:lnTo>
                  <a:lnTo>
                    <a:pt x="911" y="533"/>
                  </a:lnTo>
                  <a:lnTo>
                    <a:pt x="911" y="503"/>
                  </a:lnTo>
                  <a:lnTo>
                    <a:pt x="960" y="504"/>
                  </a:lnTo>
                  <a:lnTo>
                    <a:pt x="939" y="443"/>
                  </a:lnTo>
                  <a:lnTo>
                    <a:pt x="860" y="445"/>
                  </a:lnTo>
                  <a:lnTo>
                    <a:pt x="780" y="423"/>
                  </a:lnTo>
                  <a:lnTo>
                    <a:pt x="772" y="382"/>
                  </a:lnTo>
                  <a:lnTo>
                    <a:pt x="776" y="328"/>
                  </a:lnTo>
                  <a:lnTo>
                    <a:pt x="749" y="289"/>
                  </a:lnTo>
                  <a:lnTo>
                    <a:pt x="754" y="211"/>
                  </a:lnTo>
                  <a:lnTo>
                    <a:pt x="662" y="204"/>
                  </a:lnTo>
                  <a:lnTo>
                    <a:pt x="660" y="149"/>
                  </a:lnTo>
                  <a:lnTo>
                    <a:pt x="753" y="137"/>
                  </a:lnTo>
                  <a:lnTo>
                    <a:pt x="753" y="50"/>
                  </a:lnTo>
                  <a:lnTo>
                    <a:pt x="730" y="11"/>
                  </a:lnTo>
                  <a:lnTo>
                    <a:pt x="680" y="0"/>
                  </a:lnTo>
                  <a:lnTo>
                    <a:pt x="649" y="28"/>
                  </a:lnTo>
                  <a:lnTo>
                    <a:pt x="651" y="77"/>
                  </a:lnTo>
                  <a:lnTo>
                    <a:pt x="581" y="134"/>
                  </a:lnTo>
                  <a:lnTo>
                    <a:pt x="574" y="215"/>
                  </a:lnTo>
                  <a:lnTo>
                    <a:pt x="453" y="259"/>
                  </a:lnTo>
                  <a:lnTo>
                    <a:pt x="350" y="94"/>
                  </a:lnTo>
                  <a:lnTo>
                    <a:pt x="224" y="4"/>
                  </a:lnTo>
                  <a:lnTo>
                    <a:pt x="179" y="2"/>
                  </a:lnTo>
                  <a:lnTo>
                    <a:pt x="116" y="26"/>
                  </a:lnTo>
                  <a:lnTo>
                    <a:pt x="115" y="29"/>
                  </a:lnTo>
                  <a:lnTo>
                    <a:pt x="115" y="38"/>
                  </a:lnTo>
                  <a:lnTo>
                    <a:pt x="112" y="51"/>
                  </a:lnTo>
                  <a:lnTo>
                    <a:pt x="110" y="66"/>
                  </a:lnTo>
                  <a:lnTo>
                    <a:pt x="108" y="81"/>
                  </a:lnTo>
                  <a:lnTo>
                    <a:pt x="107" y="94"/>
                  </a:lnTo>
                  <a:lnTo>
                    <a:pt x="106" y="103"/>
                  </a:lnTo>
                  <a:lnTo>
                    <a:pt x="106" y="10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6" name="Freeform 16"/>
            <p:cNvSpPr>
              <a:spLocks noChangeAspect="1"/>
            </p:cNvSpPr>
            <p:nvPr/>
          </p:nvSpPr>
          <p:spPr bwMode="gray">
            <a:xfrm>
              <a:off x="6600542" y="3614260"/>
              <a:ext cx="258568" cy="435736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59" y="214"/>
                </a:cxn>
                <a:cxn ang="0">
                  <a:pos x="124" y="95"/>
                </a:cxn>
                <a:cxn ang="0">
                  <a:pos x="148" y="10"/>
                </a:cxn>
                <a:cxn ang="0">
                  <a:pos x="224" y="0"/>
                </a:cxn>
                <a:cxn ang="0">
                  <a:pos x="236" y="76"/>
                </a:cxn>
                <a:cxn ang="0">
                  <a:pos x="227" y="129"/>
                </a:cxn>
                <a:cxn ang="0">
                  <a:pos x="360" y="166"/>
                </a:cxn>
                <a:cxn ang="0">
                  <a:pos x="320" y="249"/>
                </a:cxn>
                <a:cxn ang="0">
                  <a:pos x="242" y="234"/>
                </a:cxn>
                <a:cxn ang="0">
                  <a:pos x="214" y="261"/>
                </a:cxn>
                <a:cxn ang="0">
                  <a:pos x="216" y="314"/>
                </a:cxn>
                <a:cxn ang="0">
                  <a:pos x="263" y="323"/>
                </a:cxn>
                <a:cxn ang="0">
                  <a:pos x="264" y="365"/>
                </a:cxn>
                <a:cxn ang="0">
                  <a:pos x="220" y="370"/>
                </a:cxn>
                <a:cxn ang="0">
                  <a:pos x="222" y="401"/>
                </a:cxn>
                <a:cxn ang="0">
                  <a:pos x="97" y="374"/>
                </a:cxn>
                <a:cxn ang="0">
                  <a:pos x="104" y="280"/>
                </a:cxn>
                <a:cxn ang="0">
                  <a:pos x="0" y="216"/>
                </a:cxn>
              </a:cxnLst>
              <a:rect l="0" t="0" r="r" b="b"/>
              <a:pathLst>
                <a:path w="361" h="402">
                  <a:moveTo>
                    <a:pt x="0" y="216"/>
                  </a:moveTo>
                  <a:lnTo>
                    <a:pt x="59" y="214"/>
                  </a:lnTo>
                  <a:lnTo>
                    <a:pt x="124" y="95"/>
                  </a:lnTo>
                  <a:lnTo>
                    <a:pt x="148" y="10"/>
                  </a:lnTo>
                  <a:lnTo>
                    <a:pt x="224" y="0"/>
                  </a:lnTo>
                  <a:lnTo>
                    <a:pt x="236" y="76"/>
                  </a:lnTo>
                  <a:lnTo>
                    <a:pt x="227" y="129"/>
                  </a:lnTo>
                  <a:lnTo>
                    <a:pt x="360" y="166"/>
                  </a:lnTo>
                  <a:lnTo>
                    <a:pt x="320" y="249"/>
                  </a:lnTo>
                  <a:lnTo>
                    <a:pt x="242" y="234"/>
                  </a:lnTo>
                  <a:lnTo>
                    <a:pt x="214" y="261"/>
                  </a:lnTo>
                  <a:lnTo>
                    <a:pt x="216" y="314"/>
                  </a:lnTo>
                  <a:lnTo>
                    <a:pt x="263" y="323"/>
                  </a:lnTo>
                  <a:lnTo>
                    <a:pt x="264" y="365"/>
                  </a:lnTo>
                  <a:lnTo>
                    <a:pt x="220" y="370"/>
                  </a:lnTo>
                  <a:lnTo>
                    <a:pt x="222" y="401"/>
                  </a:lnTo>
                  <a:lnTo>
                    <a:pt x="97" y="374"/>
                  </a:lnTo>
                  <a:lnTo>
                    <a:pt x="104" y="280"/>
                  </a:lnTo>
                  <a:lnTo>
                    <a:pt x="0" y="2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7" name="Freeform 17"/>
            <p:cNvSpPr>
              <a:spLocks/>
            </p:cNvSpPr>
            <p:nvPr/>
          </p:nvSpPr>
          <p:spPr bwMode="gray">
            <a:xfrm>
              <a:off x="7023985" y="3458437"/>
              <a:ext cx="301432" cy="637942"/>
            </a:xfrm>
            <a:custGeom>
              <a:avLst/>
              <a:gdLst/>
              <a:ahLst/>
              <a:cxnLst>
                <a:cxn ang="0">
                  <a:pos x="289" y="0"/>
                </a:cxn>
                <a:cxn ang="0">
                  <a:pos x="359" y="33"/>
                </a:cxn>
                <a:cxn ang="0">
                  <a:pos x="374" y="91"/>
                </a:cxn>
                <a:cxn ang="0">
                  <a:pos x="294" y="191"/>
                </a:cxn>
                <a:cxn ang="0">
                  <a:pos x="288" y="241"/>
                </a:cxn>
                <a:cxn ang="0">
                  <a:pos x="348" y="271"/>
                </a:cxn>
                <a:cxn ang="0">
                  <a:pos x="352" y="333"/>
                </a:cxn>
                <a:cxn ang="0">
                  <a:pos x="305" y="384"/>
                </a:cxn>
                <a:cxn ang="0">
                  <a:pos x="345" y="431"/>
                </a:cxn>
                <a:cxn ang="0">
                  <a:pos x="324" y="499"/>
                </a:cxn>
                <a:cxn ang="0">
                  <a:pos x="183" y="527"/>
                </a:cxn>
                <a:cxn ang="0">
                  <a:pos x="149" y="587"/>
                </a:cxn>
                <a:cxn ang="0">
                  <a:pos x="51" y="603"/>
                </a:cxn>
                <a:cxn ang="0">
                  <a:pos x="60" y="514"/>
                </a:cxn>
                <a:cxn ang="0">
                  <a:pos x="0" y="466"/>
                </a:cxn>
                <a:cxn ang="0">
                  <a:pos x="6" y="359"/>
                </a:cxn>
                <a:cxn ang="0">
                  <a:pos x="39" y="333"/>
                </a:cxn>
                <a:cxn ang="0">
                  <a:pos x="11" y="245"/>
                </a:cxn>
                <a:cxn ang="0">
                  <a:pos x="39" y="155"/>
                </a:cxn>
                <a:cxn ang="0">
                  <a:pos x="145" y="33"/>
                </a:cxn>
                <a:cxn ang="0">
                  <a:pos x="289" y="0"/>
                </a:cxn>
              </a:cxnLst>
              <a:rect l="0" t="0" r="r" b="b"/>
              <a:pathLst>
                <a:path w="375" h="604">
                  <a:moveTo>
                    <a:pt x="289" y="0"/>
                  </a:moveTo>
                  <a:lnTo>
                    <a:pt x="359" y="33"/>
                  </a:lnTo>
                  <a:lnTo>
                    <a:pt x="374" y="91"/>
                  </a:lnTo>
                  <a:lnTo>
                    <a:pt x="294" y="191"/>
                  </a:lnTo>
                  <a:lnTo>
                    <a:pt x="288" y="241"/>
                  </a:lnTo>
                  <a:lnTo>
                    <a:pt x="348" y="271"/>
                  </a:lnTo>
                  <a:lnTo>
                    <a:pt x="352" y="333"/>
                  </a:lnTo>
                  <a:lnTo>
                    <a:pt x="305" y="384"/>
                  </a:lnTo>
                  <a:lnTo>
                    <a:pt x="345" y="431"/>
                  </a:lnTo>
                  <a:lnTo>
                    <a:pt x="324" y="499"/>
                  </a:lnTo>
                  <a:lnTo>
                    <a:pt x="183" y="527"/>
                  </a:lnTo>
                  <a:lnTo>
                    <a:pt x="149" y="587"/>
                  </a:lnTo>
                  <a:lnTo>
                    <a:pt x="51" y="603"/>
                  </a:lnTo>
                  <a:lnTo>
                    <a:pt x="60" y="514"/>
                  </a:lnTo>
                  <a:lnTo>
                    <a:pt x="0" y="466"/>
                  </a:lnTo>
                  <a:lnTo>
                    <a:pt x="6" y="359"/>
                  </a:lnTo>
                  <a:lnTo>
                    <a:pt x="39" y="333"/>
                  </a:lnTo>
                  <a:lnTo>
                    <a:pt x="11" y="245"/>
                  </a:lnTo>
                  <a:lnTo>
                    <a:pt x="39" y="155"/>
                  </a:lnTo>
                  <a:lnTo>
                    <a:pt x="145" y="33"/>
                  </a:lnTo>
                  <a:lnTo>
                    <a:pt x="289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8" name="Freeform 18"/>
            <p:cNvSpPr>
              <a:spLocks/>
            </p:cNvSpPr>
            <p:nvPr/>
          </p:nvSpPr>
          <p:spPr bwMode="gray">
            <a:xfrm>
              <a:off x="7607472" y="3063046"/>
              <a:ext cx="512435" cy="499157"/>
            </a:xfrm>
            <a:custGeom>
              <a:avLst/>
              <a:gdLst/>
              <a:ahLst/>
              <a:cxnLst>
                <a:cxn ang="0">
                  <a:pos x="641" y="171"/>
                </a:cxn>
                <a:cxn ang="0">
                  <a:pos x="524" y="296"/>
                </a:cxn>
                <a:cxn ang="0">
                  <a:pos x="369" y="378"/>
                </a:cxn>
                <a:cxn ang="0">
                  <a:pos x="292" y="470"/>
                </a:cxn>
                <a:cxn ang="0">
                  <a:pos x="252" y="452"/>
                </a:cxn>
                <a:cxn ang="0">
                  <a:pos x="276" y="401"/>
                </a:cxn>
                <a:cxn ang="0">
                  <a:pos x="249" y="364"/>
                </a:cxn>
                <a:cxn ang="0">
                  <a:pos x="288" y="265"/>
                </a:cxn>
                <a:cxn ang="0">
                  <a:pos x="237" y="246"/>
                </a:cxn>
                <a:cxn ang="0">
                  <a:pos x="126" y="345"/>
                </a:cxn>
                <a:cxn ang="0">
                  <a:pos x="33" y="321"/>
                </a:cxn>
                <a:cxn ang="0">
                  <a:pos x="0" y="268"/>
                </a:cxn>
                <a:cxn ang="0">
                  <a:pos x="18" y="238"/>
                </a:cxn>
                <a:cxn ang="0">
                  <a:pos x="0" y="152"/>
                </a:cxn>
                <a:cxn ang="0">
                  <a:pos x="56" y="149"/>
                </a:cxn>
                <a:cxn ang="0">
                  <a:pos x="96" y="174"/>
                </a:cxn>
                <a:cxn ang="0">
                  <a:pos x="361" y="7"/>
                </a:cxn>
                <a:cxn ang="0">
                  <a:pos x="486" y="0"/>
                </a:cxn>
                <a:cxn ang="0">
                  <a:pos x="540" y="60"/>
                </a:cxn>
                <a:cxn ang="0">
                  <a:pos x="542" y="129"/>
                </a:cxn>
                <a:cxn ang="0">
                  <a:pos x="591" y="132"/>
                </a:cxn>
                <a:cxn ang="0">
                  <a:pos x="641" y="171"/>
                </a:cxn>
              </a:cxnLst>
              <a:rect l="0" t="0" r="r" b="b"/>
              <a:pathLst>
                <a:path w="642" h="471">
                  <a:moveTo>
                    <a:pt x="641" y="171"/>
                  </a:moveTo>
                  <a:lnTo>
                    <a:pt x="524" y="296"/>
                  </a:lnTo>
                  <a:lnTo>
                    <a:pt x="369" y="378"/>
                  </a:lnTo>
                  <a:lnTo>
                    <a:pt x="292" y="470"/>
                  </a:lnTo>
                  <a:lnTo>
                    <a:pt x="252" y="452"/>
                  </a:lnTo>
                  <a:lnTo>
                    <a:pt x="276" y="401"/>
                  </a:lnTo>
                  <a:lnTo>
                    <a:pt x="249" y="364"/>
                  </a:lnTo>
                  <a:lnTo>
                    <a:pt x="288" y="265"/>
                  </a:lnTo>
                  <a:lnTo>
                    <a:pt x="237" y="246"/>
                  </a:lnTo>
                  <a:lnTo>
                    <a:pt x="126" y="345"/>
                  </a:lnTo>
                  <a:lnTo>
                    <a:pt x="33" y="321"/>
                  </a:lnTo>
                  <a:lnTo>
                    <a:pt x="0" y="268"/>
                  </a:lnTo>
                  <a:lnTo>
                    <a:pt x="18" y="238"/>
                  </a:lnTo>
                  <a:lnTo>
                    <a:pt x="0" y="152"/>
                  </a:lnTo>
                  <a:lnTo>
                    <a:pt x="56" y="149"/>
                  </a:lnTo>
                  <a:lnTo>
                    <a:pt x="96" y="174"/>
                  </a:lnTo>
                  <a:lnTo>
                    <a:pt x="361" y="7"/>
                  </a:lnTo>
                  <a:lnTo>
                    <a:pt x="486" y="0"/>
                  </a:lnTo>
                  <a:lnTo>
                    <a:pt x="540" y="60"/>
                  </a:lnTo>
                  <a:lnTo>
                    <a:pt x="542" y="129"/>
                  </a:lnTo>
                  <a:lnTo>
                    <a:pt x="591" y="132"/>
                  </a:lnTo>
                  <a:lnTo>
                    <a:pt x="641" y="17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9" name="Freeform 19"/>
            <p:cNvSpPr>
              <a:spLocks/>
            </p:cNvSpPr>
            <p:nvPr/>
          </p:nvSpPr>
          <p:spPr bwMode="gray">
            <a:xfrm>
              <a:off x="7241392" y="3208858"/>
              <a:ext cx="467220" cy="714914"/>
            </a:xfrm>
            <a:custGeom>
              <a:avLst/>
              <a:gdLst/>
              <a:ahLst/>
              <a:cxnLst>
                <a:cxn ang="0">
                  <a:pos x="498" y="179"/>
                </a:cxn>
                <a:cxn ang="0">
                  <a:pos x="456" y="124"/>
                </a:cxn>
                <a:cxn ang="0">
                  <a:pos x="381" y="96"/>
                </a:cxn>
                <a:cxn ang="0">
                  <a:pos x="381" y="26"/>
                </a:cxn>
                <a:cxn ang="0">
                  <a:pos x="305" y="0"/>
                </a:cxn>
                <a:cxn ang="0">
                  <a:pos x="247" y="33"/>
                </a:cxn>
                <a:cxn ang="0">
                  <a:pos x="248" y="95"/>
                </a:cxn>
                <a:cxn ang="0">
                  <a:pos x="164" y="93"/>
                </a:cxn>
                <a:cxn ang="0">
                  <a:pos x="104" y="123"/>
                </a:cxn>
                <a:cxn ang="0">
                  <a:pos x="37" y="101"/>
                </a:cxn>
                <a:cxn ang="0">
                  <a:pos x="0" y="174"/>
                </a:cxn>
                <a:cxn ang="0">
                  <a:pos x="15" y="246"/>
                </a:cxn>
                <a:cxn ang="0">
                  <a:pos x="88" y="283"/>
                </a:cxn>
                <a:cxn ang="0">
                  <a:pos x="103" y="336"/>
                </a:cxn>
                <a:cxn ang="0">
                  <a:pos x="15" y="434"/>
                </a:cxn>
                <a:cxn ang="0">
                  <a:pos x="16" y="488"/>
                </a:cxn>
                <a:cxn ang="0">
                  <a:pos x="73" y="519"/>
                </a:cxn>
                <a:cxn ang="0">
                  <a:pos x="73" y="572"/>
                </a:cxn>
                <a:cxn ang="0">
                  <a:pos x="33" y="628"/>
                </a:cxn>
                <a:cxn ang="0">
                  <a:pos x="73" y="677"/>
                </a:cxn>
                <a:cxn ang="0">
                  <a:pos x="164" y="677"/>
                </a:cxn>
                <a:cxn ang="0">
                  <a:pos x="213" y="647"/>
                </a:cxn>
                <a:cxn ang="0">
                  <a:pos x="222" y="585"/>
                </a:cxn>
                <a:cxn ang="0">
                  <a:pos x="254" y="546"/>
                </a:cxn>
                <a:cxn ang="0">
                  <a:pos x="297" y="503"/>
                </a:cxn>
                <a:cxn ang="0">
                  <a:pos x="349" y="503"/>
                </a:cxn>
                <a:cxn ang="0">
                  <a:pos x="426" y="449"/>
                </a:cxn>
                <a:cxn ang="0">
                  <a:pos x="383" y="382"/>
                </a:cxn>
                <a:cxn ang="0">
                  <a:pos x="405" y="325"/>
                </a:cxn>
                <a:cxn ang="0">
                  <a:pos x="460" y="329"/>
                </a:cxn>
                <a:cxn ang="0">
                  <a:pos x="536" y="310"/>
                </a:cxn>
                <a:cxn ang="0">
                  <a:pos x="585" y="201"/>
                </a:cxn>
                <a:cxn ang="0">
                  <a:pos x="498" y="179"/>
                </a:cxn>
              </a:cxnLst>
              <a:rect l="0" t="0" r="r" b="b"/>
              <a:pathLst>
                <a:path w="586" h="678">
                  <a:moveTo>
                    <a:pt x="498" y="179"/>
                  </a:moveTo>
                  <a:lnTo>
                    <a:pt x="456" y="124"/>
                  </a:lnTo>
                  <a:lnTo>
                    <a:pt x="381" y="96"/>
                  </a:lnTo>
                  <a:lnTo>
                    <a:pt x="381" y="26"/>
                  </a:lnTo>
                  <a:lnTo>
                    <a:pt x="305" y="0"/>
                  </a:lnTo>
                  <a:lnTo>
                    <a:pt x="247" y="33"/>
                  </a:lnTo>
                  <a:lnTo>
                    <a:pt x="248" y="95"/>
                  </a:lnTo>
                  <a:lnTo>
                    <a:pt x="164" y="93"/>
                  </a:lnTo>
                  <a:lnTo>
                    <a:pt x="104" y="123"/>
                  </a:lnTo>
                  <a:lnTo>
                    <a:pt x="37" y="101"/>
                  </a:lnTo>
                  <a:lnTo>
                    <a:pt x="0" y="174"/>
                  </a:lnTo>
                  <a:lnTo>
                    <a:pt x="15" y="246"/>
                  </a:lnTo>
                  <a:lnTo>
                    <a:pt x="88" y="283"/>
                  </a:lnTo>
                  <a:lnTo>
                    <a:pt x="103" y="336"/>
                  </a:lnTo>
                  <a:lnTo>
                    <a:pt x="15" y="434"/>
                  </a:lnTo>
                  <a:lnTo>
                    <a:pt x="16" y="488"/>
                  </a:lnTo>
                  <a:lnTo>
                    <a:pt x="73" y="519"/>
                  </a:lnTo>
                  <a:lnTo>
                    <a:pt x="73" y="572"/>
                  </a:lnTo>
                  <a:lnTo>
                    <a:pt x="33" y="628"/>
                  </a:lnTo>
                  <a:lnTo>
                    <a:pt x="73" y="677"/>
                  </a:lnTo>
                  <a:lnTo>
                    <a:pt x="164" y="677"/>
                  </a:lnTo>
                  <a:lnTo>
                    <a:pt x="213" y="647"/>
                  </a:lnTo>
                  <a:lnTo>
                    <a:pt x="222" y="585"/>
                  </a:lnTo>
                  <a:lnTo>
                    <a:pt x="254" y="546"/>
                  </a:lnTo>
                  <a:lnTo>
                    <a:pt x="297" y="503"/>
                  </a:lnTo>
                  <a:lnTo>
                    <a:pt x="349" y="503"/>
                  </a:lnTo>
                  <a:lnTo>
                    <a:pt x="426" y="449"/>
                  </a:lnTo>
                  <a:lnTo>
                    <a:pt x="383" y="382"/>
                  </a:lnTo>
                  <a:lnTo>
                    <a:pt x="405" y="325"/>
                  </a:lnTo>
                  <a:lnTo>
                    <a:pt x="460" y="329"/>
                  </a:lnTo>
                  <a:lnTo>
                    <a:pt x="536" y="310"/>
                  </a:lnTo>
                  <a:lnTo>
                    <a:pt x="585" y="201"/>
                  </a:lnTo>
                  <a:lnTo>
                    <a:pt x="498" y="17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0" name="Freeform 20"/>
            <p:cNvSpPr>
              <a:spLocks/>
            </p:cNvSpPr>
            <p:nvPr/>
          </p:nvSpPr>
          <p:spPr bwMode="gray">
            <a:xfrm>
              <a:off x="7723739" y="2771511"/>
              <a:ext cx="701907" cy="468835"/>
            </a:xfrm>
            <a:custGeom>
              <a:avLst/>
              <a:gdLst/>
              <a:ahLst/>
              <a:cxnLst>
                <a:cxn ang="0">
                  <a:pos x="878" y="119"/>
                </a:cxn>
                <a:cxn ang="0">
                  <a:pos x="748" y="73"/>
                </a:cxn>
                <a:cxn ang="0">
                  <a:pos x="691" y="112"/>
                </a:cxn>
                <a:cxn ang="0">
                  <a:pos x="607" y="60"/>
                </a:cxn>
                <a:cxn ang="0">
                  <a:pos x="544" y="52"/>
                </a:cxn>
                <a:cxn ang="0">
                  <a:pos x="544" y="96"/>
                </a:cxn>
                <a:cxn ang="0">
                  <a:pos x="449" y="23"/>
                </a:cxn>
                <a:cxn ang="0">
                  <a:pos x="393" y="30"/>
                </a:cxn>
                <a:cxn ang="0">
                  <a:pos x="324" y="20"/>
                </a:cxn>
                <a:cxn ang="0">
                  <a:pos x="265" y="39"/>
                </a:cxn>
                <a:cxn ang="0">
                  <a:pos x="94" y="0"/>
                </a:cxn>
                <a:cxn ang="0">
                  <a:pos x="78" y="46"/>
                </a:cxn>
                <a:cxn ang="0">
                  <a:pos x="27" y="37"/>
                </a:cxn>
                <a:cxn ang="0">
                  <a:pos x="0" y="50"/>
                </a:cxn>
                <a:cxn ang="0">
                  <a:pos x="102" y="200"/>
                </a:cxn>
                <a:cxn ang="0">
                  <a:pos x="130" y="163"/>
                </a:cxn>
                <a:cxn ang="0">
                  <a:pos x="218" y="209"/>
                </a:cxn>
                <a:cxn ang="0">
                  <a:pos x="230" y="280"/>
                </a:cxn>
                <a:cxn ang="0">
                  <a:pos x="355" y="273"/>
                </a:cxn>
                <a:cxn ang="0">
                  <a:pos x="399" y="342"/>
                </a:cxn>
                <a:cxn ang="0">
                  <a:pos x="404" y="407"/>
                </a:cxn>
                <a:cxn ang="0">
                  <a:pos x="455" y="410"/>
                </a:cxn>
                <a:cxn ang="0">
                  <a:pos x="505" y="443"/>
                </a:cxn>
                <a:cxn ang="0">
                  <a:pos x="530" y="352"/>
                </a:cxn>
                <a:cxn ang="0">
                  <a:pos x="622" y="377"/>
                </a:cxn>
                <a:cxn ang="0">
                  <a:pos x="699" y="358"/>
                </a:cxn>
                <a:cxn ang="0">
                  <a:pos x="657" y="292"/>
                </a:cxn>
                <a:cxn ang="0">
                  <a:pos x="717" y="289"/>
                </a:cxn>
                <a:cxn ang="0">
                  <a:pos x="773" y="244"/>
                </a:cxn>
                <a:cxn ang="0">
                  <a:pos x="771" y="181"/>
                </a:cxn>
                <a:cxn ang="0">
                  <a:pos x="838" y="179"/>
                </a:cxn>
                <a:cxn ang="0">
                  <a:pos x="878" y="119"/>
                </a:cxn>
              </a:cxnLst>
              <a:rect l="0" t="0" r="r" b="b"/>
              <a:pathLst>
                <a:path w="879" h="444">
                  <a:moveTo>
                    <a:pt x="878" y="119"/>
                  </a:moveTo>
                  <a:lnTo>
                    <a:pt x="748" y="73"/>
                  </a:lnTo>
                  <a:lnTo>
                    <a:pt x="691" y="112"/>
                  </a:lnTo>
                  <a:lnTo>
                    <a:pt x="607" y="60"/>
                  </a:lnTo>
                  <a:lnTo>
                    <a:pt x="544" y="52"/>
                  </a:lnTo>
                  <a:lnTo>
                    <a:pt x="544" y="96"/>
                  </a:lnTo>
                  <a:lnTo>
                    <a:pt x="449" y="23"/>
                  </a:lnTo>
                  <a:lnTo>
                    <a:pt x="393" y="30"/>
                  </a:lnTo>
                  <a:lnTo>
                    <a:pt x="324" y="20"/>
                  </a:lnTo>
                  <a:lnTo>
                    <a:pt x="265" y="39"/>
                  </a:lnTo>
                  <a:lnTo>
                    <a:pt x="94" y="0"/>
                  </a:lnTo>
                  <a:lnTo>
                    <a:pt x="78" y="46"/>
                  </a:lnTo>
                  <a:lnTo>
                    <a:pt x="27" y="37"/>
                  </a:lnTo>
                  <a:lnTo>
                    <a:pt x="0" y="50"/>
                  </a:lnTo>
                  <a:lnTo>
                    <a:pt x="102" y="200"/>
                  </a:lnTo>
                  <a:lnTo>
                    <a:pt x="130" y="163"/>
                  </a:lnTo>
                  <a:lnTo>
                    <a:pt x="218" y="209"/>
                  </a:lnTo>
                  <a:lnTo>
                    <a:pt x="230" y="280"/>
                  </a:lnTo>
                  <a:lnTo>
                    <a:pt x="355" y="273"/>
                  </a:lnTo>
                  <a:lnTo>
                    <a:pt x="399" y="342"/>
                  </a:lnTo>
                  <a:lnTo>
                    <a:pt x="404" y="407"/>
                  </a:lnTo>
                  <a:lnTo>
                    <a:pt x="455" y="410"/>
                  </a:lnTo>
                  <a:lnTo>
                    <a:pt x="505" y="443"/>
                  </a:lnTo>
                  <a:lnTo>
                    <a:pt x="530" y="352"/>
                  </a:lnTo>
                  <a:lnTo>
                    <a:pt x="622" y="377"/>
                  </a:lnTo>
                  <a:lnTo>
                    <a:pt x="699" y="358"/>
                  </a:lnTo>
                  <a:lnTo>
                    <a:pt x="657" y="292"/>
                  </a:lnTo>
                  <a:lnTo>
                    <a:pt x="717" y="289"/>
                  </a:lnTo>
                  <a:lnTo>
                    <a:pt x="773" y="244"/>
                  </a:lnTo>
                  <a:lnTo>
                    <a:pt x="771" y="181"/>
                  </a:lnTo>
                  <a:lnTo>
                    <a:pt x="838" y="179"/>
                  </a:lnTo>
                  <a:lnTo>
                    <a:pt x="878" y="1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1" name="Freeform 21"/>
            <p:cNvSpPr>
              <a:spLocks/>
            </p:cNvSpPr>
            <p:nvPr/>
          </p:nvSpPr>
          <p:spPr bwMode="gray">
            <a:xfrm>
              <a:off x="6692345" y="3599759"/>
              <a:ext cx="465423" cy="784890"/>
            </a:xfrm>
            <a:custGeom>
              <a:avLst/>
              <a:gdLst/>
              <a:ahLst/>
              <a:cxnLst>
                <a:cxn ang="0">
                  <a:pos x="24" y="669"/>
                </a:cxn>
                <a:cxn ang="0">
                  <a:pos x="144" y="688"/>
                </a:cxn>
                <a:cxn ang="0">
                  <a:pos x="209" y="712"/>
                </a:cxn>
                <a:cxn ang="0">
                  <a:pos x="284" y="705"/>
                </a:cxn>
                <a:cxn ang="0">
                  <a:pos x="337" y="736"/>
                </a:cxn>
                <a:cxn ang="0">
                  <a:pos x="404" y="742"/>
                </a:cxn>
                <a:cxn ang="0">
                  <a:pos x="422" y="639"/>
                </a:cxn>
                <a:cxn ang="0">
                  <a:pos x="371" y="582"/>
                </a:cxn>
                <a:cxn ang="0">
                  <a:pos x="526" y="600"/>
                </a:cxn>
                <a:cxn ang="0">
                  <a:pos x="520" y="551"/>
                </a:cxn>
                <a:cxn ang="0">
                  <a:pos x="461" y="455"/>
                </a:cxn>
                <a:cxn ang="0">
                  <a:pos x="464" y="370"/>
                </a:cxn>
                <a:cxn ang="0">
                  <a:pos x="411" y="313"/>
                </a:cxn>
                <a:cxn ang="0">
                  <a:pos x="410" y="215"/>
                </a:cxn>
                <a:cxn ang="0">
                  <a:pos x="454" y="190"/>
                </a:cxn>
                <a:cxn ang="0">
                  <a:pos x="415" y="103"/>
                </a:cxn>
                <a:cxn ang="0">
                  <a:pos x="449" y="11"/>
                </a:cxn>
                <a:cxn ang="0">
                  <a:pos x="366" y="0"/>
                </a:cxn>
                <a:cxn ang="0">
                  <a:pos x="321" y="67"/>
                </a:cxn>
                <a:cxn ang="0">
                  <a:pos x="283" y="72"/>
                </a:cxn>
                <a:cxn ang="0">
                  <a:pos x="194" y="186"/>
                </a:cxn>
                <a:cxn ang="0">
                  <a:pos x="157" y="262"/>
                </a:cxn>
                <a:cxn ang="0">
                  <a:pos x="253" y="288"/>
                </a:cxn>
                <a:cxn ang="0">
                  <a:pos x="275" y="342"/>
                </a:cxn>
                <a:cxn ang="0">
                  <a:pos x="251" y="380"/>
                </a:cxn>
                <a:cxn ang="0">
                  <a:pos x="264" y="411"/>
                </a:cxn>
                <a:cxn ang="0">
                  <a:pos x="237" y="423"/>
                </a:cxn>
                <a:cxn ang="0">
                  <a:pos x="201" y="423"/>
                </a:cxn>
                <a:cxn ang="0">
                  <a:pos x="166" y="455"/>
                </a:cxn>
                <a:cxn ang="0">
                  <a:pos x="101" y="441"/>
                </a:cxn>
                <a:cxn ang="0">
                  <a:pos x="54" y="507"/>
                </a:cxn>
                <a:cxn ang="0">
                  <a:pos x="76" y="520"/>
                </a:cxn>
                <a:cxn ang="0">
                  <a:pos x="63" y="591"/>
                </a:cxn>
                <a:cxn ang="0">
                  <a:pos x="0" y="606"/>
                </a:cxn>
                <a:cxn ang="0">
                  <a:pos x="24" y="669"/>
                </a:cxn>
              </a:cxnLst>
              <a:rect l="0" t="0" r="r" b="b"/>
              <a:pathLst>
                <a:path w="527" h="743">
                  <a:moveTo>
                    <a:pt x="24" y="669"/>
                  </a:moveTo>
                  <a:lnTo>
                    <a:pt x="144" y="688"/>
                  </a:lnTo>
                  <a:lnTo>
                    <a:pt x="209" y="712"/>
                  </a:lnTo>
                  <a:lnTo>
                    <a:pt x="284" y="705"/>
                  </a:lnTo>
                  <a:lnTo>
                    <a:pt x="337" y="736"/>
                  </a:lnTo>
                  <a:lnTo>
                    <a:pt x="404" y="742"/>
                  </a:lnTo>
                  <a:lnTo>
                    <a:pt x="422" y="639"/>
                  </a:lnTo>
                  <a:lnTo>
                    <a:pt x="371" y="582"/>
                  </a:lnTo>
                  <a:lnTo>
                    <a:pt x="526" y="600"/>
                  </a:lnTo>
                  <a:lnTo>
                    <a:pt x="520" y="551"/>
                  </a:lnTo>
                  <a:lnTo>
                    <a:pt x="461" y="455"/>
                  </a:lnTo>
                  <a:lnTo>
                    <a:pt x="464" y="370"/>
                  </a:lnTo>
                  <a:lnTo>
                    <a:pt x="411" y="313"/>
                  </a:lnTo>
                  <a:lnTo>
                    <a:pt x="410" y="215"/>
                  </a:lnTo>
                  <a:lnTo>
                    <a:pt x="454" y="190"/>
                  </a:lnTo>
                  <a:lnTo>
                    <a:pt x="415" y="103"/>
                  </a:lnTo>
                  <a:lnTo>
                    <a:pt x="449" y="11"/>
                  </a:lnTo>
                  <a:lnTo>
                    <a:pt x="366" y="0"/>
                  </a:lnTo>
                  <a:lnTo>
                    <a:pt x="321" y="67"/>
                  </a:lnTo>
                  <a:lnTo>
                    <a:pt x="283" y="72"/>
                  </a:lnTo>
                  <a:lnTo>
                    <a:pt x="194" y="186"/>
                  </a:lnTo>
                  <a:lnTo>
                    <a:pt x="157" y="262"/>
                  </a:lnTo>
                  <a:lnTo>
                    <a:pt x="253" y="288"/>
                  </a:lnTo>
                  <a:lnTo>
                    <a:pt x="275" y="342"/>
                  </a:lnTo>
                  <a:lnTo>
                    <a:pt x="251" y="380"/>
                  </a:lnTo>
                  <a:lnTo>
                    <a:pt x="264" y="411"/>
                  </a:lnTo>
                  <a:lnTo>
                    <a:pt x="237" y="423"/>
                  </a:lnTo>
                  <a:lnTo>
                    <a:pt x="201" y="423"/>
                  </a:lnTo>
                  <a:lnTo>
                    <a:pt x="166" y="455"/>
                  </a:lnTo>
                  <a:lnTo>
                    <a:pt x="101" y="441"/>
                  </a:lnTo>
                  <a:lnTo>
                    <a:pt x="54" y="507"/>
                  </a:lnTo>
                  <a:lnTo>
                    <a:pt x="76" y="520"/>
                  </a:lnTo>
                  <a:lnTo>
                    <a:pt x="63" y="591"/>
                  </a:lnTo>
                  <a:lnTo>
                    <a:pt x="0" y="606"/>
                  </a:lnTo>
                  <a:lnTo>
                    <a:pt x="24" y="66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2" name="Freeform 24"/>
            <p:cNvSpPr>
              <a:spLocks/>
            </p:cNvSpPr>
            <p:nvPr/>
          </p:nvSpPr>
          <p:spPr bwMode="gray">
            <a:xfrm>
              <a:off x="7415956" y="3650868"/>
              <a:ext cx="543655" cy="377867"/>
            </a:xfrm>
            <a:custGeom>
              <a:avLst/>
              <a:gdLst/>
              <a:ahLst/>
              <a:cxnLst>
                <a:cxn ang="0">
                  <a:pos x="215" y="20"/>
                </a:cxn>
                <a:cxn ang="0">
                  <a:pos x="291" y="14"/>
                </a:cxn>
                <a:cxn ang="0">
                  <a:pos x="316" y="69"/>
                </a:cxn>
                <a:cxn ang="0">
                  <a:pos x="400" y="93"/>
                </a:cxn>
                <a:cxn ang="0">
                  <a:pos x="471" y="0"/>
                </a:cxn>
                <a:cxn ang="0">
                  <a:pos x="552" y="20"/>
                </a:cxn>
                <a:cxn ang="0">
                  <a:pos x="665" y="11"/>
                </a:cxn>
                <a:cxn ang="0">
                  <a:pos x="680" y="63"/>
                </a:cxn>
                <a:cxn ang="0">
                  <a:pos x="558" y="154"/>
                </a:cxn>
                <a:cxn ang="0">
                  <a:pos x="501" y="154"/>
                </a:cxn>
                <a:cxn ang="0">
                  <a:pos x="486" y="224"/>
                </a:cxn>
                <a:cxn ang="0">
                  <a:pos x="424" y="287"/>
                </a:cxn>
                <a:cxn ang="0">
                  <a:pos x="375" y="330"/>
                </a:cxn>
                <a:cxn ang="0">
                  <a:pos x="289" y="329"/>
                </a:cxn>
                <a:cxn ang="0">
                  <a:pos x="243" y="352"/>
                </a:cxn>
                <a:cxn ang="0">
                  <a:pos x="203" y="334"/>
                </a:cxn>
                <a:cxn ang="0">
                  <a:pos x="130" y="344"/>
                </a:cxn>
                <a:cxn ang="0">
                  <a:pos x="66" y="359"/>
                </a:cxn>
                <a:cxn ang="0">
                  <a:pos x="11" y="322"/>
                </a:cxn>
                <a:cxn ang="0">
                  <a:pos x="60" y="257"/>
                </a:cxn>
                <a:cxn ang="0">
                  <a:pos x="0" y="217"/>
                </a:cxn>
                <a:cxn ang="0">
                  <a:pos x="10" y="152"/>
                </a:cxn>
                <a:cxn ang="0">
                  <a:pos x="42" y="119"/>
                </a:cxn>
                <a:cxn ang="0">
                  <a:pos x="88" y="73"/>
                </a:cxn>
                <a:cxn ang="0">
                  <a:pos x="141" y="67"/>
                </a:cxn>
                <a:cxn ang="0">
                  <a:pos x="215" y="20"/>
                </a:cxn>
              </a:cxnLst>
              <a:rect l="0" t="0" r="r" b="b"/>
              <a:pathLst>
                <a:path w="681" h="360">
                  <a:moveTo>
                    <a:pt x="215" y="20"/>
                  </a:moveTo>
                  <a:lnTo>
                    <a:pt x="291" y="14"/>
                  </a:lnTo>
                  <a:lnTo>
                    <a:pt x="316" y="69"/>
                  </a:lnTo>
                  <a:lnTo>
                    <a:pt x="400" y="93"/>
                  </a:lnTo>
                  <a:lnTo>
                    <a:pt x="471" y="0"/>
                  </a:lnTo>
                  <a:lnTo>
                    <a:pt x="552" y="20"/>
                  </a:lnTo>
                  <a:lnTo>
                    <a:pt x="665" y="11"/>
                  </a:lnTo>
                  <a:lnTo>
                    <a:pt x="680" y="63"/>
                  </a:lnTo>
                  <a:lnTo>
                    <a:pt x="558" y="154"/>
                  </a:lnTo>
                  <a:lnTo>
                    <a:pt x="501" y="154"/>
                  </a:lnTo>
                  <a:lnTo>
                    <a:pt x="486" y="224"/>
                  </a:lnTo>
                  <a:lnTo>
                    <a:pt x="424" y="287"/>
                  </a:lnTo>
                  <a:lnTo>
                    <a:pt x="375" y="330"/>
                  </a:lnTo>
                  <a:lnTo>
                    <a:pt x="289" y="329"/>
                  </a:lnTo>
                  <a:lnTo>
                    <a:pt x="243" y="352"/>
                  </a:lnTo>
                  <a:lnTo>
                    <a:pt x="203" y="334"/>
                  </a:lnTo>
                  <a:lnTo>
                    <a:pt x="130" y="344"/>
                  </a:lnTo>
                  <a:lnTo>
                    <a:pt x="66" y="359"/>
                  </a:lnTo>
                  <a:lnTo>
                    <a:pt x="11" y="322"/>
                  </a:lnTo>
                  <a:lnTo>
                    <a:pt x="60" y="257"/>
                  </a:lnTo>
                  <a:lnTo>
                    <a:pt x="0" y="217"/>
                  </a:lnTo>
                  <a:lnTo>
                    <a:pt x="10" y="152"/>
                  </a:lnTo>
                  <a:lnTo>
                    <a:pt x="42" y="119"/>
                  </a:lnTo>
                  <a:lnTo>
                    <a:pt x="88" y="73"/>
                  </a:lnTo>
                  <a:lnTo>
                    <a:pt x="141" y="67"/>
                  </a:lnTo>
                  <a:lnTo>
                    <a:pt x="215" y="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3" name="Freeform 25"/>
            <p:cNvSpPr>
              <a:spLocks/>
            </p:cNvSpPr>
            <p:nvPr/>
          </p:nvSpPr>
          <p:spPr bwMode="gray">
            <a:xfrm>
              <a:off x="7075660" y="3873624"/>
              <a:ext cx="490904" cy="485162"/>
            </a:xfrm>
            <a:custGeom>
              <a:avLst/>
              <a:gdLst/>
              <a:ahLst/>
              <a:cxnLst>
                <a:cxn ang="0">
                  <a:pos x="287" y="29"/>
                </a:cxn>
                <a:cxn ang="0">
                  <a:pos x="379" y="27"/>
                </a:cxn>
                <a:cxn ang="0">
                  <a:pos x="430" y="0"/>
                </a:cxn>
                <a:cxn ang="0">
                  <a:pos x="489" y="33"/>
                </a:cxn>
                <a:cxn ang="0">
                  <a:pos x="441" y="101"/>
                </a:cxn>
                <a:cxn ang="0">
                  <a:pos x="486" y="134"/>
                </a:cxn>
                <a:cxn ang="0">
                  <a:pos x="562" y="122"/>
                </a:cxn>
                <a:cxn ang="0">
                  <a:pos x="616" y="185"/>
                </a:cxn>
                <a:cxn ang="0">
                  <a:pos x="585" y="239"/>
                </a:cxn>
                <a:cxn ang="0">
                  <a:pos x="511" y="218"/>
                </a:cxn>
                <a:cxn ang="0">
                  <a:pos x="510" y="272"/>
                </a:cxn>
                <a:cxn ang="0">
                  <a:pos x="491" y="303"/>
                </a:cxn>
                <a:cxn ang="0">
                  <a:pos x="527" y="363"/>
                </a:cxn>
                <a:cxn ang="0">
                  <a:pos x="574" y="341"/>
                </a:cxn>
                <a:cxn ang="0">
                  <a:pos x="612" y="409"/>
                </a:cxn>
                <a:cxn ang="0">
                  <a:pos x="544" y="458"/>
                </a:cxn>
                <a:cxn ang="0">
                  <a:pos x="394" y="442"/>
                </a:cxn>
                <a:cxn ang="0">
                  <a:pos x="341" y="400"/>
                </a:cxn>
                <a:cxn ang="0">
                  <a:pos x="185" y="396"/>
                </a:cxn>
                <a:cxn ang="0">
                  <a:pos x="68" y="336"/>
                </a:cxn>
                <a:cxn ang="0">
                  <a:pos x="60" y="291"/>
                </a:cxn>
                <a:cxn ang="0">
                  <a:pos x="0" y="195"/>
                </a:cxn>
                <a:cxn ang="0">
                  <a:pos x="89" y="185"/>
                </a:cxn>
                <a:cxn ang="0">
                  <a:pos x="133" y="122"/>
                </a:cxn>
                <a:cxn ang="0">
                  <a:pos x="270" y="96"/>
                </a:cxn>
                <a:cxn ang="0">
                  <a:pos x="287" y="29"/>
                </a:cxn>
              </a:cxnLst>
              <a:rect l="0" t="0" r="r" b="b"/>
              <a:pathLst>
                <a:path w="617" h="459">
                  <a:moveTo>
                    <a:pt x="287" y="29"/>
                  </a:moveTo>
                  <a:lnTo>
                    <a:pt x="379" y="27"/>
                  </a:lnTo>
                  <a:lnTo>
                    <a:pt x="430" y="0"/>
                  </a:lnTo>
                  <a:lnTo>
                    <a:pt x="489" y="33"/>
                  </a:lnTo>
                  <a:lnTo>
                    <a:pt x="441" y="101"/>
                  </a:lnTo>
                  <a:lnTo>
                    <a:pt x="486" y="134"/>
                  </a:lnTo>
                  <a:lnTo>
                    <a:pt x="562" y="122"/>
                  </a:lnTo>
                  <a:lnTo>
                    <a:pt x="616" y="185"/>
                  </a:lnTo>
                  <a:lnTo>
                    <a:pt x="585" y="239"/>
                  </a:lnTo>
                  <a:lnTo>
                    <a:pt x="511" y="218"/>
                  </a:lnTo>
                  <a:lnTo>
                    <a:pt x="510" y="272"/>
                  </a:lnTo>
                  <a:lnTo>
                    <a:pt x="491" y="303"/>
                  </a:lnTo>
                  <a:lnTo>
                    <a:pt x="527" y="363"/>
                  </a:lnTo>
                  <a:lnTo>
                    <a:pt x="574" y="341"/>
                  </a:lnTo>
                  <a:lnTo>
                    <a:pt x="612" y="409"/>
                  </a:lnTo>
                  <a:lnTo>
                    <a:pt x="544" y="458"/>
                  </a:lnTo>
                  <a:lnTo>
                    <a:pt x="394" y="442"/>
                  </a:lnTo>
                  <a:lnTo>
                    <a:pt x="341" y="400"/>
                  </a:lnTo>
                  <a:lnTo>
                    <a:pt x="185" y="396"/>
                  </a:lnTo>
                  <a:lnTo>
                    <a:pt x="68" y="336"/>
                  </a:lnTo>
                  <a:lnTo>
                    <a:pt x="60" y="291"/>
                  </a:lnTo>
                  <a:lnTo>
                    <a:pt x="0" y="195"/>
                  </a:lnTo>
                  <a:lnTo>
                    <a:pt x="89" y="185"/>
                  </a:lnTo>
                  <a:lnTo>
                    <a:pt x="133" y="122"/>
                  </a:lnTo>
                  <a:lnTo>
                    <a:pt x="270" y="96"/>
                  </a:lnTo>
                  <a:lnTo>
                    <a:pt x="287" y="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4" name="Freeform 26"/>
            <p:cNvSpPr>
              <a:spLocks/>
            </p:cNvSpPr>
            <p:nvPr/>
          </p:nvSpPr>
          <p:spPr bwMode="gray">
            <a:xfrm>
              <a:off x="7519523" y="3953319"/>
              <a:ext cx="507052" cy="398859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71" y="49"/>
                </a:cxn>
                <a:cxn ang="0">
                  <a:pos x="115" y="68"/>
                </a:cxn>
                <a:cxn ang="0">
                  <a:pos x="153" y="43"/>
                </a:cxn>
                <a:cxn ang="0">
                  <a:pos x="243" y="44"/>
                </a:cxn>
                <a:cxn ang="0">
                  <a:pos x="293" y="0"/>
                </a:cxn>
                <a:cxn ang="0">
                  <a:pos x="396" y="44"/>
                </a:cxn>
                <a:cxn ang="0">
                  <a:pos x="446" y="80"/>
                </a:cxn>
                <a:cxn ang="0">
                  <a:pos x="529" y="215"/>
                </a:cxn>
                <a:cxn ang="0">
                  <a:pos x="624" y="247"/>
                </a:cxn>
                <a:cxn ang="0">
                  <a:pos x="568" y="277"/>
                </a:cxn>
                <a:cxn ang="0">
                  <a:pos x="634" y="298"/>
                </a:cxn>
                <a:cxn ang="0">
                  <a:pos x="567" y="331"/>
                </a:cxn>
                <a:cxn ang="0">
                  <a:pos x="508" y="379"/>
                </a:cxn>
                <a:cxn ang="0">
                  <a:pos x="429" y="365"/>
                </a:cxn>
                <a:cxn ang="0">
                  <a:pos x="337" y="376"/>
                </a:cxn>
                <a:cxn ang="0">
                  <a:pos x="327" y="322"/>
                </a:cxn>
                <a:cxn ang="0">
                  <a:pos x="293" y="269"/>
                </a:cxn>
                <a:cxn ang="0">
                  <a:pos x="286" y="231"/>
                </a:cxn>
                <a:cxn ang="0">
                  <a:pos x="220" y="203"/>
                </a:cxn>
                <a:cxn ang="0">
                  <a:pos x="236" y="165"/>
                </a:cxn>
                <a:cxn ang="0">
                  <a:pos x="210" y="131"/>
                </a:cxn>
                <a:cxn ang="0">
                  <a:pos x="117" y="145"/>
                </a:cxn>
                <a:cxn ang="0">
                  <a:pos x="55" y="126"/>
                </a:cxn>
                <a:cxn ang="0">
                  <a:pos x="0" y="57"/>
                </a:cxn>
              </a:cxnLst>
              <a:rect l="0" t="0" r="r" b="b"/>
              <a:pathLst>
                <a:path w="635" h="380">
                  <a:moveTo>
                    <a:pt x="0" y="57"/>
                  </a:moveTo>
                  <a:lnTo>
                    <a:pt x="71" y="49"/>
                  </a:lnTo>
                  <a:lnTo>
                    <a:pt x="115" y="68"/>
                  </a:lnTo>
                  <a:lnTo>
                    <a:pt x="153" y="43"/>
                  </a:lnTo>
                  <a:lnTo>
                    <a:pt x="243" y="44"/>
                  </a:lnTo>
                  <a:lnTo>
                    <a:pt x="293" y="0"/>
                  </a:lnTo>
                  <a:lnTo>
                    <a:pt x="396" y="44"/>
                  </a:lnTo>
                  <a:lnTo>
                    <a:pt x="446" y="80"/>
                  </a:lnTo>
                  <a:lnTo>
                    <a:pt x="529" y="215"/>
                  </a:lnTo>
                  <a:lnTo>
                    <a:pt x="624" y="247"/>
                  </a:lnTo>
                  <a:lnTo>
                    <a:pt x="568" y="277"/>
                  </a:lnTo>
                  <a:lnTo>
                    <a:pt x="634" y="298"/>
                  </a:lnTo>
                  <a:lnTo>
                    <a:pt x="567" y="331"/>
                  </a:lnTo>
                  <a:lnTo>
                    <a:pt x="508" y="379"/>
                  </a:lnTo>
                  <a:lnTo>
                    <a:pt x="429" y="365"/>
                  </a:lnTo>
                  <a:lnTo>
                    <a:pt x="337" y="376"/>
                  </a:lnTo>
                  <a:lnTo>
                    <a:pt x="327" y="322"/>
                  </a:lnTo>
                  <a:lnTo>
                    <a:pt x="293" y="269"/>
                  </a:lnTo>
                  <a:lnTo>
                    <a:pt x="286" y="231"/>
                  </a:lnTo>
                  <a:lnTo>
                    <a:pt x="220" y="203"/>
                  </a:lnTo>
                  <a:lnTo>
                    <a:pt x="236" y="165"/>
                  </a:lnTo>
                  <a:lnTo>
                    <a:pt x="210" y="131"/>
                  </a:lnTo>
                  <a:lnTo>
                    <a:pt x="117" y="145"/>
                  </a:lnTo>
                  <a:lnTo>
                    <a:pt x="55" y="126"/>
                  </a:lnTo>
                  <a:lnTo>
                    <a:pt x="0" y="5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5" name="Freeform 27"/>
            <p:cNvSpPr>
              <a:spLocks/>
            </p:cNvSpPr>
            <p:nvPr/>
          </p:nvSpPr>
          <p:spPr bwMode="gray">
            <a:xfrm>
              <a:off x="7764811" y="4251490"/>
              <a:ext cx="328346" cy="465335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259" y="33"/>
                </a:cxn>
                <a:cxn ang="0">
                  <a:pos x="200" y="81"/>
                </a:cxn>
                <a:cxn ang="0">
                  <a:pos x="118" y="70"/>
                </a:cxn>
                <a:cxn ang="0">
                  <a:pos x="98" y="143"/>
                </a:cxn>
                <a:cxn ang="0">
                  <a:pos x="44" y="157"/>
                </a:cxn>
                <a:cxn ang="0">
                  <a:pos x="0" y="256"/>
                </a:cxn>
                <a:cxn ang="0">
                  <a:pos x="32" y="373"/>
                </a:cxn>
                <a:cxn ang="0">
                  <a:pos x="88" y="382"/>
                </a:cxn>
                <a:cxn ang="0">
                  <a:pos x="133" y="440"/>
                </a:cxn>
                <a:cxn ang="0">
                  <a:pos x="179" y="437"/>
                </a:cxn>
                <a:cxn ang="0">
                  <a:pos x="210" y="416"/>
                </a:cxn>
                <a:cxn ang="0">
                  <a:pos x="293" y="422"/>
                </a:cxn>
                <a:cxn ang="0">
                  <a:pos x="335" y="332"/>
                </a:cxn>
                <a:cxn ang="0">
                  <a:pos x="391" y="315"/>
                </a:cxn>
                <a:cxn ang="0">
                  <a:pos x="366" y="231"/>
                </a:cxn>
                <a:cxn ang="0">
                  <a:pos x="409" y="203"/>
                </a:cxn>
                <a:cxn ang="0">
                  <a:pos x="396" y="156"/>
                </a:cxn>
                <a:cxn ang="0">
                  <a:pos x="252" y="121"/>
                </a:cxn>
                <a:cxn ang="0">
                  <a:pos x="360" y="63"/>
                </a:cxn>
                <a:cxn ang="0">
                  <a:pos x="328" y="0"/>
                </a:cxn>
              </a:cxnLst>
              <a:rect l="0" t="0" r="r" b="b"/>
              <a:pathLst>
                <a:path w="410" h="441">
                  <a:moveTo>
                    <a:pt x="328" y="0"/>
                  </a:moveTo>
                  <a:lnTo>
                    <a:pt x="259" y="33"/>
                  </a:lnTo>
                  <a:lnTo>
                    <a:pt x="200" y="81"/>
                  </a:lnTo>
                  <a:lnTo>
                    <a:pt x="118" y="70"/>
                  </a:lnTo>
                  <a:lnTo>
                    <a:pt x="98" y="143"/>
                  </a:lnTo>
                  <a:lnTo>
                    <a:pt x="44" y="157"/>
                  </a:lnTo>
                  <a:lnTo>
                    <a:pt x="0" y="256"/>
                  </a:lnTo>
                  <a:lnTo>
                    <a:pt x="32" y="373"/>
                  </a:lnTo>
                  <a:lnTo>
                    <a:pt x="88" y="382"/>
                  </a:lnTo>
                  <a:lnTo>
                    <a:pt x="133" y="440"/>
                  </a:lnTo>
                  <a:lnTo>
                    <a:pt x="179" y="437"/>
                  </a:lnTo>
                  <a:lnTo>
                    <a:pt x="210" y="416"/>
                  </a:lnTo>
                  <a:lnTo>
                    <a:pt x="293" y="422"/>
                  </a:lnTo>
                  <a:lnTo>
                    <a:pt x="335" y="332"/>
                  </a:lnTo>
                  <a:lnTo>
                    <a:pt x="391" y="315"/>
                  </a:lnTo>
                  <a:lnTo>
                    <a:pt x="366" y="231"/>
                  </a:lnTo>
                  <a:lnTo>
                    <a:pt x="409" y="203"/>
                  </a:lnTo>
                  <a:lnTo>
                    <a:pt x="396" y="156"/>
                  </a:lnTo>
                  <a:lnTo>
                    <a:pt x="252" y="121"/>
                  </a:lnTo>
                  <a:lnTo>
                    <a:pt x="360" y="63"/>
                  </a:lnTo>
                  <a:lnTo>
                    <a:pt x="32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6" name="Freeform 28"/>
            <p:cNvSpPr>
              <a:spLocks/>
            </p:cNvSpPr>
            <p:nvPr/>
          </p:nvSpPr>
          <p:spPr bwMode="gray">
            <a:xfrm>
              <a:off x="7465697" y="4076747"/>
              <a:ext cx="396168" cy="454840"/>
            </a:xfrm>
            <a:custGeom>
              <a:avLst/>
              <a:gdLst/>
              <a:ahLst/>
              <a:cxnLst>
                <a:cxn ang="0">
                  <a:pos x="119" y="2"/>
                </a:cxn>
                <a:cxn ang="0">
                  <a:pos x="181" y="17"/>
                </a:cxn>
                <a:cxn ang="0">
                  <a:pos x="285" y="0"/>
                </a:cxn>
                <a:cxn ang="0">
                  <a:pos x="303" y="40"/>
                </a:cxn>
                <a:cxn ang="0">
                  <a:pos x="289" y="80"/>
                </a:cxn>
                <a:cxn ang="0">
                  <a:pos x="353" y="104"/>
                </a:cxn>
                <a:cxn ang="0">
                  <a:pos x="358" y="144"/>
                </a:cxn>
                <a:cxn ang="0">
                  <a:pos x="395" y="201"/>
                </a:cxn>
                <a:cxn ang="0">
                  <a:pos x="407" y="246"/>
                </a:cxn>
                <a:cxn ang="0">
                  <a:pos x="492" y="241"/>
                </a:cxn>
                <a:cxn ang="0">
                  <a:pos x="469" y="316"/>
                </a:cxn>
                <a:cxn ang="0">
                  <a:pos x="410" y="330"/>
                </a:cxn>
                <a:cxn ang="0">
                  <a:pos x="373" y="430"/>
                </a:cxn>
                <a:cxn ang="0">
                  <a:pos x="318" y="430"/>
                </a:cxn>
                <a:cxn ang="0">
                  <a:pos x="286" y="403"/>
                </a:cxn>
                <a:cxn ang="0">
                  <a:pos x="234" y="425"/>
                </a:cxn>
                <a:cxn ang="0">
                  <a:pos x="192" y="395"/>
                </a:cxn>
                <a:cxn ang="0">
                  <a:pos x="158" y="405"/>
                </a:cxn>
                <a:cxn ang="0">
                  <a:pos x="111" y="350"/>
                </a:cxn>
                <a:cxn ang="0">
                  <a:pos x="113" y="296"/>
                </a:cxn>
                <a:cxn ang="0">
                  <a:pos x="51" y="271"/>
                </a:cxn>
                <a:cxn ang="0">
                  <a:pos x="112" y="222"/>
                </a:cxn>
                <a:cxn ang="0">
                  <a:pos x="79" y="159"/>
                </a:cxn>
                <a:cxn ang="0">
                  <a:pos x="37" y="175"/>
                </a:cxn>
                <a:cxn ang="0">
                  <a:pos x="0" y="116"/>
                </a:cxn>
                <a:cxn ang="0">
                  <a:pos x="12" y="88"/>
                </a:cxn>
                <a:cxn ang="0">
                  <a:pos x="19" y="29"/>
                </a:cxn>
                <a:cxn ang="0">
                  <a:pos x="91" y="49"/>
                </a:cxn>
                <a:cxn ang="0">
                  <a:pos x="119" y="2"/>
                </a:cxn>
              </a:cxnLst>
              <a:rect l="0" t="0" r="r" b="b"/>
              <a:pathLst>
                <a:path w="493" h="431">
                  <a:moveTo>
                    <a:pt x="119" y="2"/>
                  </a:moveTo>
                  <a:lnTo>
                    <a:pt x="181" y="17"/>
                  </a:lnTo>
                  <a:lnTo>
                    <a:pt x="285" y="0"/>
                  </a:lnTo>
                  <a:lnTo>
                    <a:pt x="303" y="40"/>
                  </a:lnTo>
                  <a:lnTo>
                    <a:pt x="289" y="80"/>
                  </a:lnTo>
                  <a:lnTo>
                    <a:pt x="353" y="104"/>
                  </a:lnTo>
                  <a:lnTo>
                    <a:pt x="358" y="144"/>
                  </a:lnTo>
                  <a:lnTo>
                    <a:pt x="395" y="201"/>
                  </a:lnTo>
                  <a:lnTo>
                    <a:pt x="407" y="246"/>
                  </a:lnTo>
                  <a:lnTo>
                    <a:pt x="492" y="241"/>
                  </a:lnTo>
                  <a:lnTo>
                    <a:pt x="469" y="316"/>
                  </a:lnTo>
                  <a:lnTo>
                    <a:pt x="410" y="330"/>
                  </a:lnTo>
                  <a:lnTo>
                    <a:pt x="373" y="430"/>
                  </a:lnTo>
                  <a:lnTo>
                    <a:pt x="318" y="430"/>
                  </a:lnTo>
                  <a:lnTo>
                    <a:pt x="286" y="403"/>
                  </a:lnTo>
                  <a:lnTo>
                    <a:pt x="234" y="425"/>
                  </a:lnTo>
                  <a:lnTo>
                    <a:pt x="192" y="395"/>
                  </a:lnTo>
                  <a:lnTo>
                    <a:pt x="158" y="405"/>
                  </a:lnTo>
                  <a:lnTo>
                    <a:pt x="111" y="350"/>
                  </a:lnTo>
                  <a:lnTo>
                    <a:pt x="113" y="296"/>
                  </a:lnTo>
                  <a:lnTo>
                    <a:pt x="51" y="271"/>
                  </a:lnTo>
                  <a:lnTo>
                    <a:pt x="112" y="222"/>
                  </a:lnTo>
                  <a:lnTo>
                    <a:pt x="79" y="159"/>
                  </a:lnTo>
                  <a:lnTo>
                    <a:pt x="37" y="175"/>
                  </a:lnTo>
                  <a:lnTo>
                    <a:pt x="0" y="116"/>
                  </a:lnTo>
                  <a:lnTo>
                    <a:pt x="12" y="88"/>
                  </a:lnTo>
                  <a:lnTo>
                    <a:pt x="19" y="29"/>
                  </a:lnTo>
                  <a:lnTo>
                    <a:pt x="91" y="49"/>
                  </a:lnTo>
                  <a:lnTo>
                    <a:pt x="119" y="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7" name="Freeform 29"/>
            <p:cNvSpPr>
              <a:spLocks/>
            </p:cNvSpPr>
            <p:nvPr/>
          </p:nvSpPr>
          <p:spPr bwMode="gray">
            <a:xfrm>
              <a:off x="6976994" y="4222334"/>
              <a:ext cx="635161" cy="43268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213" y="12"/>
                </a:cxn>
                <a:cxn ang="0">
                  <a:pos x="331" y="73"/>
                </a:cxn>
                <a:cxn ang="0">
                  <a:pos x="481" y="76"/>
                </a:cxn>
                <a:cxn ang="0">
                  <a:pos x="541" y="118"/>
                </a:cxn>
                <a:cxn ang="0">
                  <a:pos x="687" y="133"/>
                </a:cxn>
                <a:cxn ang="0">
                  <a:pos x="750" y="159"/>
                </a:cxn>
                <a:cxn ang="0">
                  <a:pos x="746" y="211"/>
                </a:cxn>
                <a:cxn ang="0">
                  <a:pos x="794" y="265"/>
                </a:cxn>
                <a:cxn ang="0">
                  <a:pos x="700" y="296"/>
                </a:cxn>
                <a:cxn ang="0">
                  <a:pos x="592" y="366"/>
                </a:cxn>
                <a:cxn ang="0">
                  <a:pos x="525" y="314"/>
                </a:cxn>
                <a:cxn ang="0">
                  <a:pos x="474" y="350"/>
                </a:cxn>
                <a:cxn ang="0">
                  <a:pos x="441" y="335"/>
                </a:cxn>
                <a:cxn ang="0">
                  <a:pos x="398" y="351"/>
                </a:cxn>
                <a:cxn ang="0">
                  <a:pos x="359" y="326"/>
                </a:cxn>
                <a:cxn ang="0">
                  <a:pos x="238" y="323"/>
                </a:cxn>
                <a:cxn ang="0">
                  <a:pos x="198" y="385"/>
                </a:cxn>
                <a:cxn ang="0">
                  <a:pos x="147" y="363"/>
                </a:cxn>
                <a:cxn ang="0">
                  <a:pos x="87" y="407"/>
                </a:cxn>
                <a:cxn ang="0">
                  <a:pos x="10" y="367"/>
                </a:cxn>
                <a:cxn ang="0">
                  <a:pos x="0" y="285"/>
                </a:cxn>
                <a:cxn ang="0">
                  <a:pos x="117" y="249"/>
                </a:cxn>
                <a:cxn ang="0">
                  <a:pos x="128" y="188"/>
                </a:cxn>
                <a:cxn ang="0">
                  <a:pos x="86" y="156"/>
                </a:cxn>
                <a:cxn ang="0">
                  <a:pos x="111" y="59"/>
                </a:cxn>
                <a:cxn ang="0">
                  <a:pos x="56" y="0"/>
                </a:cxn>
              </a:cxnLst>
              <a:rect l="0" t="0" r="r" b="b"/>
              <a:pathLst>
                <a:path w="795" h="408">
                  <a:moveTo>
                    <a:pt x="56" y="0"/>
                  </a:moveTo>
                  <a:lnTo>
                    <a:pt x="213" y="12"/>
                  </a:lnTo>
                  <a:lnTo>
                    <a:pt x="331" y="73"/>
                  </a:lnTo>
                  <a:lnTo>
                    <a:pt x="481" y="76"/>
                  </a:lnTo>
                  <a:lnTo>
                    <a:pt x="541" y="118"/>
                  </a:lnTo>
                  <a:lnTo>
                    <a:pt x="687" y="133"/>
                  </a:lnTo>
                  <a:lnTo>
                    <a:pt x="750" y="159"/>
                  </a:lnTo>
                  <a:lnTo>
                    <a:pt x="746" y="211"/>
                  </a:lnTo>
                  <a:lnTo>
                    <a:pt x="794" y="265"/>
                  </a:lnTo>
                  <a:lnTo>
                    <a:pt x="700" y="296"/>
                  </a:lnTo>
                  <a:lnTo>
                    <a:pt x="592" y="366"/>
                  </a:lnTo>
                  <a:lnTo>
                    <a:pt x="525" y="314"/>
                  </a:lnTo>
                  <a:lnTo>
                    <a:pt x="474" y="350"/>
                  </a:lnTo>
                  <a:lnTo>
                    <a:pt x="441" y="335"/>
                  </a:lnTo>
                  <a:lnTo>
                    <a:pt x="398" y="351"/>
                  </a:lnTo>
                  <a:lnTo>
                    <a:pt x="359" y="326"/>
                  </a:lnTo>
                  <a:lnTo>
                    <a:pt x="238" y="323"/>
                  </a:lnTo>
                  <a:lnTo>
                    <a:pt x="198" y="385"/>
                  </a:lnTo>
                  <a:lnTo>
                    <a:pt x="147" y="363"/>
                  </a:lnTo>
                  <a:lnTo>
                    <a:pt x="87" y="407"/>
                  </a:lnTo>
                  <a:lnTo>
                    <a:pt x="10" y="367"/>
                  </a:lnTo>
                  <a:lnTo>
                    <a:pt x="0" y="285"/>
                  </a:lnTo>
                  <a:lnTo>
                    <a:pt x="117" y="249"/>
                  </a:lnTo>
                  <a:lnTo>
                    <a:pt x="128" y="188"/>
                  </a:lnTo>
                  <a:lnTo>
                    <a:pt x="86" y="156"/>
                  </a:lnTo>
                  <a:lnTo>
                    <a:pt x="111" y="59"/>
                  </a:lnTo>
                  <a:lnTo>
                    <a:pt x="56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8" name="Freeform 30"/>
            <p:cNvSpPr>
              <a:spLocks/>
            </p:cNvSpPr>
            <p:nvPr/>
          </p:nvSpPr>
          <p:spPr bwMode="gray">
            <a:xfrm>
              <a:off x="6592099" y="4671343"/>
              <a:ext cx="522124" cy="489828"/>
            </a:xfrm>
            <a:custGeom>
              <a:avLst/>
              <a:gdLst/>
              <a:ahLst/>
              <a:cxnLst>
                <a:cxn ang="0">
                  <a:pos x="93" y="129"/>
                </a:cxn>
                <a:cxn ang="0">
                  <a:pos x="88" y="208"/>
                </a:cxn>
                <a:cxn ang="0">
                  <a:pos x="0" y="216"/>
                </a:cxn>
                <a:cxn ang="0">
                  <a:pos x="0" y="285"/>
                </a:cxn>
                <a:cxn ang="0">
                  <a:pos x="84" y="292"/>
                </a:cxn>
                <a:cxn ang="0">
                  <a:pos x="73" y="358"/>
                </a:cxn>
                <a:cxn ang="0">
                  <a:pos x="111" y="404"/>
                </a:cxn>
                <a:cxn ang="0">
                  <a:pos x="101" y="464"/>
                </a:cxn>
                <a:cxn ang="0">
                  <a:pos x="189" y="428"/>
                </a:cxn>
                <a:cxn ang="0">
                  <a:pos x="281" y="452"/>
                </a:cxn>
                <a:cxn ang="0">
                  <a:pos x="281" y="418"/>
                </a:cxn>
                <a:cxn ang="0">
                  <a:pos x="381" y="366"/>
                </a:cxn>
                <a:cxn ang="0">
                  <a:pos x="469" y="392"/>
                </a:cxn>
                <a:cxn ang="0">
                  <a:pos x="506" y="364"/>
                </a:cxn>
                <a:cxn ang="0">
                  <a:pos x="568" y="360"/>
                </a:cxn>
                <a:cxn ang="0">
                  <a:pos x="602" y="317"/>
                </a:cxn>
                <a:cxn ang="0">
                  <a:pos x="653" y="302"/>
                </a:cxn>
                <a:cxn ang="0">
                  <a:pos x="625" y="246"/>
                </a:cxn>
                <a:cxn ang="0">
                  <a:pos x="635" y="194"/>
                </a:cxn>
                <a:cxn ang="0">
                  <a:pos x="560" y="199"/>
                </a:cxn>
                <a:cxn ang="0">
                  <a:pos x="602" y="156"/>
                </a:cxn>
                <a:cxn ang="0">
                  <a:pos x="565" y="65"/>
                </a:cxn>
                <a:cxn ang="0">
                  <a:pos x="519" y="69"/>
                </a:cxn>
                <a:cxn ang="0">
                  <a:pos x="476" y="2"/>
                </a:cxn>
                <a:cxn ang="0">
                  <a:pos x="386" y="0"/>
                </a:cxn>
                <a:cxn ang="0">
                  <a:pos x="309" y="71"/>
                </a:cxn>
                <a:cxn ang="0">
                  <a:pos x="252" y="53"/>
                </a:cxn>
                <a:cxn ang="0">
                  <a:pos x="203" y="84"/>
                </a:cxn>
                <a:cxn ang="0">
                  <a:pos x="258" y="126"/>
                </a:cxn>
                <a:cxn ang="0">
                  <a:pos x="250" y="158"/>
                </a:cxn>
                <a:cxn ang="0">
                  <a:pos x="174" y="151"/>
                </a:cxn>
                <a:cxn ang="0">
                  <a:pos x="173" y="124"/>
                </a:cxn>
                <a:cxn ang="0">
                  <a:pos x="169" y="124"/>
                </a:cxn>
                <a:cxn ang="0">
                  <a:pos x="161" y="124"/>
                </a:cxn>
                <a:cxn ang="0">
                  <a:pos x="149" y="125"/>
                </a:cxn>
                <a:cxn ang="0">
                  <a:pos x="134" y="125"/>
                </a:cxn>
                <a:cxn ang="0">
                  <a:pos x="119" y="126"/>
                </a:cxn>
                <a:cxn ang="0">
                  <a:pos x="107" y="127"/>
                </a:cxn>
                <a:cxn ang="0">
                  <a:pos x="97" y="128"/>
                </a:cxn>
                <a:cxn ang="0">
                  <a:pos x="93" y="129"/>
                </a:cxn>
              </a:cxnLst>
              <a:rect l="0" t="0" r="r" b="b"/>
              <a:pathLst>
                <a:path w="654" h="465">
                  <a:moveTo>
                    <a:pt x="93" y="129"/>
                  </a:moveTo>
                  <a:lnTo>
                    <a:pt x="88" y="208"/>
                  </a:lnTo>
                  <a:lnTo>
                    <a:pt x="0" y="216"/>
                  </a:lnTo>
                  <a:lnTo>
                    <a:pt x="0" y="285"/>
                  </a:lnTo>
                  <a:lnTo>
                    <a:pt x="84" y="292"/>
                  </a:lnTo>
                  <a:lnTo>
                    <a:pt x="73" y="358"/>
                  </a:lnTo>
                  <a:lnTo>
                    <a:pt x="111" y="404"/>
                  </a:lnTo>
                  <a:lnTo>
                    <a:pt x="101" y="464"/>
                  </a:lnTo>
                  <a:lnTo>
                    <a:pt x="189" y="428"/>
                  </a:lnTo>
                  <a:lnTo>
                    <a:pt x="281" y="452"/>
                  </a:lnTo>
                  <a:lnTo>
                    <a:pt x="281" y="418"/>
                  </a:lnTo>
                  <a:lnTo>
                    <a:pt x="381" y="366"/>
                  </a:lnTo>
                  <a:lnTo>
                    <a:pt x="469" y="392"/>
                  </a:lnTo>
                  <a:lnTo>
                    <a:pt x="506" y="364"/>
                  </a:lnTo>
                  <a:lnTo>
                    <a:pt x="568" y="360"/>
                  </a:lnTo>
                  <a:lnTo>
                    <a:pt x="602" y="317"/>
                  </a:lnTo>
                  <a:lnTo>
                    <a:pt x="653" y="302"/>
                  </a:lnTo>
                  <a:lnTo>
                    <a:pt x="625" y="246"/>
                  </a:lnTo>
                  <a:lnTo>
                    <a:pt x="635" y="194"/>
                  </a:lnTo>
                  <a:lnTo>
                    <a:pt x="560" y="199"/>
                  </a:lnTo>
                  <a:lnTo>
                    <a:pt x="602" y="156"/>
                  </a:lnTo>
                  <a:lnTo>
                    <a:pt x="565" y="65"/>
                  </a:lnTo>
                  <a:lnTo>
                    <a:pt x="519" y="69"/>
                  </a:lnTo>
                  <a:lnTo>
                    <a:pt x="476" y="2"/>
                  </a:lnTo>
                  <a:lnTo>
                    <a:pt x="386" y="0"/>
                  </a:lnTo>
                  <a:lnTo>
                    <a:pt x="309" y="71"/>
                  </a:lnTo>
                  <a:lnTo>
                    <a:pt x="252" y="53"/>
                  </a:lnTo>
                  <a:lnTo>
                    <a:pt x="203" y="84"/>
                  </a:lnTo>
                  <a:lnTo>
                    <a:pt x="258" y="126"/>
                  </a:lnTo>
                  <a:lnTo>
                    <a:pt x="250" y="158"/>
                  </a:lnTo>
                  <a:lnTo>
                    <a:pt x="174" y="151"/>
                  </a:lnTo>
                  <a:lnTo>
                    <a:pt x="173" y="124"/>
                  </a:lnTo>
                  <a:lnTo>
                    <a:pt x="169" y="124"/>
                  </a:lnTo>
                  <a:lnTo>
                    <a:pt x="161" y="124"/>
                  </a:lnTo>
                  <a:lnTo>
                    <a:pt x="149" y="125"/>
                  </a:lnTo>
                  <a:lnTo>
                    <a:pt x="134" y="125"/>
                  </a:lnTo>
                  <a:lnTo>
                    <a:pt x="119" y="126"/>
                  </a:lnTo>
                  <a:lnTo>
                    <a:pt x="107" y="127"/>
                  </a:lnTo>
                  <a:lnTo>
                    <a:pt x="97" y="128"/>
                  </a:lnTo>
                  <a:lnTo>
                    <a:pt x="93" y="1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9" name="Freeform 31"/>
            <p:cNvSpPr>
              <a:spLocks/>
            </p:cNvSpPr>
            <p:nvPr/>
          </p:nvSpPr>
          <p:spPr bwMode="gray">
            <a:xfrm>
              <a:off x="7991799" y="4969904"/>
              <a:ext cx="159328" cy="391862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69" y="23"/>
                </a:cxn>
                <a:cxn ang="0">
                  <a:pos x="10" y="132"/>
                </a:cxn>
                <a:cxn ang="0">
                  <a:pos x="12" y="177"/>
                </a:cxn>
                <a:cxn ang="0">
                  <a:pos x="35" y="175"/>
                </a:cxn>
                <a:cxn ang="0">
                  <a:pos x="39" y="213"/>
                </a:cxn>
                <a:cxn ang="0">
                  <a:pos x="0" y="219"/>
                </a:cxn>
                <a:cxn ang="0">
                  <a:pos x="16" y="271"/>
                </a:cxn>
                <a:cxn ang="0">
                  <a:pos x="41" y="277"/>
                </a:cxn>
                <a:cxn ang="0">
                  <a:pos x="85" y="371"/>
                </a:cxn>
                <a:cxn ang="0">
                  <a:pos x="111" y="371"/>
                </a:cxn>
                <a:cxn ang="0">
                  <a:pos x="131" y="322"/>
                </a:cxn>
                <a:cxn ang="0">
                  <a:pos x="123" y="268"/>
                </a:cxn>
                <a:cxn ang="0">
                  <a:pos x="149" y="262"/>
                </a:cxn>
                <a:cxn ang="0">
                  <a:pos x="143" y="232"/>
                </a:cxn>
                <a:cxn ang="0">
                  <a:pos x="166" y="211"/>
                </a:cxn>
                <a:cxn ang="0">
                  <a:pos x="159" y="89"/>
                </a:cxn>
                <a:cxn ang="0">
                  <a:pos x="189" y="78"/>
                </a:cxn>
                <a:cxn ang="0">
                  <a:pos x="198" y="40"/>
                </a:cxn>
                <a:cxn ang="0">
                  <a:pos x="143" y="0"/>
                </a:cxn>
              </a:cxnLst>
              <a:rect l="0" t="0" r="r" b="b"/>
              <a:pathLst>
                <a:path w="199" h="372">
                  <a:moveTo>
                    <a:pt x="143" y="0"/>
                  </a:moveTo>
                  <a:lnTo>
                    <a:pt x="69" y="23"/>
                  </a:lnTo>
                  <a:lnTo>
                    <a:pt x="10" y="132"/>
                  </a:lnTo>
                  <a:lnTo>
                    <a:pt x="12" y="177"/>
                  </a:lnTo>
                  <a:lnTo>
                    <a:pt x="35" y="175"/>
                  </a:lnTo>
                  <a:lnTo>
                    <a:pt x="39" y="213"/>
                  </a:lnTo>
                  <a:lnTo>
                    <a:pt x="0" y="219"/>
                  </a:lnTo>
                  <a:lnTo>
                    <a:pt x="16" y="271"/>
                  </a:lnTo>
                  <a:lnTo>
                    <a:pt x="41" y="277"/>
                  </a:lnTo>
                  <a:lnTo>
                    <a:pt x="85" y="371"/>
                  </a:lnTo>
                  <a:lnTo>
                    <a:pt x="111" y="371"/>
                  </a:lnTo>
                  <a:lnTo>
                    <a:pt x="131" y="322"/>
                  </a:lnTo>
                  <a:lnTo>
                    <a:pt x="123" y="268"/>
                  </a:lnTo>
                  <a:lnTo>
                    <a:pt x="149" y="262"/>
                  </a:lnTo>
                  <a:lnTo>
                    <a:pt x="143" y="232"/>
                  </a:lnTo>
                  <a:lnTo>
                    <a:pt x="166" y="211"/>
                  </a:lnTo>
                  <a:lnTo>
                    <a:pt x="159" y="89"/>
                  </a:lnTo>
                  <a:lnTo>
                    <a:pt x="189" y="78"/>
                  </a:lnTo>
                  <a:lnTo>
                    <a:pt x="198" y="40"/>
                  </a:lnTo>
                  <a:lnTo>
                    <a:pt x="143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0" name="Freeform 32"/>
            <p:cNvSpPr>
              <a:spLocks/>
            </p:cNvSpPr>
            <p:nvPr/>
          </p:nvSpPr>
          <p:spPr bwMode="gray">
            <a:xfrm>
              <a:off x="7011067" y="4560548"/>
              <a:ext cx="465067" cy="558636"/>
            </a:xfrm>
            <a:custGeom>
              <a:avLst/>
              <a:gdLst/>
              <a:ahLst/>
              <a:cxnLst>
                <a:cxn ang="0">
                  <a:pos x="11" y="191"/>
                </a:cxn>
                <a:cxn ang="0">
                  <a:pos x="23" y="92"/>
                </a:cxn>
                <a:cxn ang="0">
                  <a:pos x="81" y="51"/>
                </a:cxn>
                <a:cxn ang="0">
                  <a:pos x="137" y="69"/>
                </a:cxn>
                <a:cxn ang="0">
                  <a:pos x="173" y="3"/>
                </a:cxn>
                <a:cxn ang="0">
                  <a:pos x="300" y="9"/>
                </a:cxn>
                <a:cxn ang="0">
                  <a:pos x="331" y="36"/>
                </a:cxn>
                <a:cxn ang="0">
                  <a:pos x="377" y="11"/>
                </a:cxn>
                <a:cxn ang="0">
                  <a:pos x="406" y="38"/>
                </a:cxn>
                <a:cxn ang="0">
                  <a:pos x="465" y="0"/>
                </a:cxn>
                <a:cxn ang="0">
                  <a:pos x="528" y="51"/>
                </a:cxn>
                <a:cxn ang="0">
                  <a:pos x="510" y="120"/>
                </a:cxn>
                <a:cxn ang="0">
                  <a:pos x="551" y="172"/>
                </a:cxn>
                <a:cxn ang="0">
                  <a:pos x="510" y="214"/>
                </a:cxn>
                <a:cxn ang="0">
                  <a:pos x="541" y="309"/>
                </a:cxn>
                <a:cxn ang="0">
                  <a:pos x="580" y="324"/>
                </a:cxn>
                <a:cxn ang="0">
                  <a:pos x="582" y="446"/>
                </a:cxn>
                <a:cxn ang="0">
                  <a:pos x="464" y="441"/>
                </a:cxn>
                <a:cxn ang="0">
                  <a:pos x="458" y="482"/>
                </a:cxn>
                <a:cxn ang="0">
                  <a:pos x="388" y="487"/>
                </a:cxn>
                <a:cxn ang="0">
                  <a:pos x="377" y="529"/>
                </a:cxn>
                <a:cxn ang="0">
                  <a:pos x="246" y="506"/>
                </a:cxn>
                <a:cxn ang="0">
                  <a:pos x="298" y="431"/>
                </a:cxn>
                <a:cxn ang="0">
                  <a:pos x="243" y="386"/>
                </a:cxn>
                <a:cxn ang="0">
                  <a:pos x="178" y="412"/>
                </a:cxn>
                <a:cxn ang="0">
                  <a:pos x="145" y="392"/>
                </a:cxn>
                <a:cxn ang="0">
                  <a:pos x="90" y="424"/>
                </a:cxn>
                <a:cxn ang="0">
                  <a:pos x="67" y="378"/>
                </a:cxn>
                <a:cxn ang="0">
                  <a:pos x="76" y="325"/>
                </a:cxn>
                <a:cxn ang="0">
                  <a:pos x="0" y="328"/>
                </a:cxn>
                <a:cxn ang="0">
                  <a:pos x="48" y="287"/>
                </a:cxn>
                <a:cxn ang="0">
                  <a:pos x="11" y="191"/>
                </a:cxn>
              </a:cxnLst>
              <a:rect l="0" t="0" r="r" b="b"/>
              <a:pathLst>
                <a:path w="583" h="530">
                  <a:moveTo>
                    <a:pt x="11" y="191"/>
                  </a:moveTo>
                  <a:lnTo>
                    <a:pt x="23" y="92"/>
                  </a:lnTo>
                  <a:lnTo>
                    <a:pt x="81" y="51"/>
                  </a:lnTo>
                  <a:lnTo>
                    <a:pt x="137" y="69"/>
                  </a:lnTo>
                  <a:lnTo>
                    <a:pt x="173" y="3"/>
                  </a:lnTo>
                  <a:lnTo>
                    <a:pt x="300" y="9"/>
                  </a:lnTo>
                  <a:lnTo>
                    <a:pt x="331" y="36"/>
                  </a:lnTo>
                  <a:lnTo>
                    <a:pt x="377" y="11"/>
                  </a:lnTo>
                  <a:lnTo>
                    <a:pt x="406" y="38"/>
                  </a:lnTo>
                  <a:lnTo>
                    <a:pt x="465" y="0"/>
                  </a:lnTo>
                  <a:lnTo>
                    <a:pt x="528" y="51"/>
                  </a:lnTo>
                  <a:lnTo>
                    <a:pt x="510" y="120"/>
                  </a:lnTo>
                  <a:lnTo>
                    <a:pt x="551" y="172"/>
                  </a:lnTo>
                  <a:lnTo>
                    <a:pt x="510" y="214"/>
                  </a:lnTo>
                  <a:lnTo>
                    <a:pt x="541" y="309"/>
                  </a:lnTo>
                  <a:lnTo>
                    <a:pt x="580" y="324"/>
                  </a:lnTo>
                  <a:lnTo>
                    <a:pt x="582" y="446"/>
                  </a:lnTo>
                  <a:lnTo>
                    <a:pt x="464" y="441"/>
                  </a:lnTo>
                  <a:lnTo>
                    <a:pt x="458" y="482"/>
                  </a:lnTo>
                  <a:lnTo>
                    <a:pt x="388" y="487"/>
                  </a:lnTo>
                  <a:lnTo>
                    <a:pt x="377" y="529"/>
                  </a:lnTo>
                  <a:lnTo>
                    <a:pt x="246" y="506"/>
                  </a:lnTo>
                  <a:lnTo>
                    <a:pt x="298" y="431"/>
                  </a:lnTo>
                  <a:lnTo>
                    <a:pt x="243" y="386"/>
                  </a:lnTo>
                  <a:lnTo>
                    <a:pt x="178" y="412"/>
                  </a:lnTo>
                  <a:lnTo>
                    <a:pt x="145" y="392"/>
                  </a:lnTo>
                  <a:lnTo>
                    <a:pt x="90" y="424"/>
                  </a:lnTo>
                  <a:lnTo>
                    <a:pt x="67" y="378"/>
                  </a:lnTo>
                  <a:lnTo>
                    <a:pt x="76" y="325"/>
                  </a:lnTo>
                  <a:lnTo>
                    <a:pt x="0" y="328"/>
                  </a:lnTo>
                  <a:lnTo>
                    <a:pt x="48" y="287"/>
                  </a:lnTo>
                  <a:lnTo>
                    <a:pt x="11" y="19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1" name="Freeform 33"/>
            <p:cNvSpPr>
              <a:spLocks/>
            </p:cNvSpPr>
            <p:nvPr/>
          </p:nvSpPr>
          <p:spPr bwMode="gray">
            <a:xfrm>
              <a:off x="7421984" y="4483166"/>
              <a:ext cx="385403" cy="616949"/>
            </a:xfrm>
            <a:custGeom>
              <a:avLst/>
              <a:gdLst/>
              <a:ahLst/>
              <a:cxnLst>
                <a:cxn ang="0">
                  <a:pos x="17" y="105"/>
                </a:cxn>
                <a:cxn ang="0">
                  <a:pos x="1" y="170"/>
                </a:cxn>
                <a:cxn ang="0">
                  <a:pos x="40" y="229"/>
                </a:cxn>
                <a:cxn ang="0">
                  <a:pos x="0" y="269"/>
                </a:cxn>
                <a:cxn ang="0">
                  <a:pos x="28" y="364"/>
                </a:cxn>
                <a:cxn ang="0">
                  <a:pos x="66" y="383"/>
                </a:cxn>
                <a:cxn ang="0">
                  <a:pos x="72" y="496"/>
                </a:cxn>
                <a:cxn ang="0">
                  <a:pos x="163" y="496"/>
                </a:cxn>
                <a:cxn ang="0">
                  <a:pos x="123" y="566"/>
                </a:cxn>
                <a:cxn ang="0">
                  <a:pos x="288" y="549"/>
                </a:cxn>
                <a:cxn ang="0">
                  <a:pos x="298" y="433"/>
                </a:cxn>
                <a:cxn ang="0">
                  <a:pos x="334" y="368"/>
                </a:cxn>
                <a:cxn ang="0">
                  <a:pos x="320" y="309"/>
                </a:cxn>
                <a:cxn ang="0">
                  <a:pos x="379" y="280"/>
                </a:cxn>
                <a:cxn ang="0">
                  <a:pos x="381" y="195"/>
                </a:cxn>
                <a:cxn ang="0">
                  <a:pos x="441" y="189"/>
                </a:cxn>
                <a:cxn ang="0">
                  <a:pos x="484" y="155"/>
                </a:cxn>
                <a:cxn ang="0">
                  <a:pos x="442" y="33"/>
                </a:cxn>
                <a:cxn ang="0">
                  <a:pos x="387" y="36"/>
                </a:cxn>
                <a:cxn ang="0">
                  <a:pos x="353" y="5"/>
                </a:cxn>
                <a:cxn ang="0">
                  <a:pos x="302" y="32"/>
                </a:cxn>
                <a:cxn ang="0">
                  <a:pos x="264" y="0"/>
                </a:cxn>
                <a:cxn ang="0">
                  <a:pos x="224" y="8"/>
                </a:cxn>
                <a:cxn ang="0">
                  <a:pos x="142" y="30"/>
                </a:cxn>
                <a:cxn ang="0">
                  <a:pos x="141" y="30"/>
                </a:cxn>
                <a:cxn ang="0">
                  <a:pos x="136" y="32"/>
                </a:cxn>
                <a:cxn ang="0">
                  <a:pos x="130" y="36"/>
                </a:cxn>
                <a:cxn ang="0">
                  <a:pos x="122" y="41"/>
                </a:cxn>
                <a:cxn ang="0">
                  <a:pos x="112" y="46"/>
                </a:cxn>
                <a:cxn ang="0">
                  <a:pos x="101" y="53"/>
                </a:cxn>
                <a:cxn ang="0">
                  <a:pos x="90" y="59"/>
                </a:cxn>
                <a:cxn ang="0">
                  <a:pos x="78" y="66"/>
                </a:cxn>
                <a:cxn ang="0">
                  <a:pos x="66" y="74"/>
                </a:cxn>
                <a:cxn ang="0">
                  <a:pos x="55" y="80"/>
                </a:cxn>
                <a:cxn ang="0">
                  <a:pos x="44" y="86"/>
                </a:cxn>
                <a:cxn ang="0">
                  <a:pos x="35" y="92"/>
                </a:cxn>
                <a:cxn ang="0">
                  <a:pos x="28" y="97"/>
                </a:cxn>
                <a:cxn ang="0">
                  <a:pos x="21" y="101"/>
                </a:cxn>
                <a:cxn ang="0">
                  <a:pos x="18" y="104"/>
                </a:cxn>
                <a:cxn ang="0">
                  <a:pos x="17" y="105"/>
                </a:cxn>
              </a:cxnLst>
              <a:rect l="0" t="0" r="r" b="b"/>
              <a:pathLst>
                <a:path w="485" h="567">
                  <a:moveTo>
                    <a:pt x="17" y="105"/>
                  </a:moveTo>
                  <a:lnTo>
                    <a:pt x="1" y="170"/>
                  </a:lnTo>
                  <a:lnTo>
                    <a:pt x="40" y="229"/>
                  </a:lnTo>
                  <a:lnTo>
                    <a:pt x="0" y="269"/>
                  </a:lnTo>
                  <a:lnTo>
                    <a:pt x="28" y="364"/>
                  </a:lnTo>
                  <a:lnTo>
                    <a:pt x="66" y="383"/>
                  </a:lnTo>
                  <a:lnTo>
                    <a:pt x="72" y="496"/>
                  </a:lnTo>
                  <a:lnTo>
                    <a:pt x="163" y="496"/>
                  </a:lnTo>
                  <a:lnTo>
                    <a:pt x="123" y="566"/>
                  </a:lnTo>
                  <a:lnTo>
                    <a:pt x="288" y="549"/>
                  </a:lnTo>
                  <a:lnTo>
                    <a:pt x="298" y="433"/>
                  </a:lnTo>
                  <a:lnTo>
                    <a:pt x="334" y="368"/>
                  </a:lnTo>
                  <a:lnTo>
                    <a:pt x="320" y="309"/>
                  </a:lnTo>
                  <a:lnTo>
                    <a:pt x="379" y="280"/>
                  </a:lnTo>
                  <a:lnTo>
                    <a:pt x="381" y="195"/>
                  </a:lnTo>
                  <a:lnTo>
                    <a:pt x="441" y="189"/>
                  </a:lnTo>
                  <a:lnTo>
                    <a:pt x="484" y="155"/>
                  </a:lnTo>
                  <a:lnTo>
                    <a:pt x="442" y="33"/>
                  </a:lnTo>
                  <a:lnTo>
                    <a:pt x="387" y="36"/>
                  </a:lnTo>
                  <a:lnTo>
                    <a:pt x="353" y="5"/>
                  </a:lnTo>
                  <a:lnTo>
                    <a:pt x="302" y="32"/>
                  </a:lnTo>
                  <a:lnTo>
                    <a:pt x="264" y="0"/>
                  </a:lnTo>
                  <a:lnTo>
                    <a:pt x="224" y="8"/>
                  </a:lnTo>
                  <a:lnTo>
                    <a:pt x="142" y="30"/>
                  </a:lnTo>
                  <a:lnTo>
                    <a:pt x="141" y="30"/>
                  </a:lnTo>
                  <a:lnTo>
                    <a:pt x="136" y="32"/>
                  </a:lnTo>
                  <a:lnTo>
                    <a:pt x="130" y="36"/>
                  </a:lnTo>
                  <a:lnTo>
                    <a:pt x="122" y="41"/>
                  </a:lnTo>
                  <a:lnTo>
                    <a:pt x="112" y="46"/>
                  </a:lnTo>
                  <a:lnTo>
                    <a:pt x="101" y="53"/>
                  </a:lnTo>
                  <a:lnTo>
                    <a:pt x="90" y="59"/>
                  </a:lnTo>
                  <a:lnTo>
                    <a:pt x="78" y="66"/>
                  </a:lnTo>
                  <a:lnTo>
                    <a:pt x="66" y="74"/>
                  </a:lnTo>
                  <a:lnTo>
                    <a:pt x="55" y="80"/>
                  </a:lnTo>
                  <a:lnTo>
                    <a:pt x="44" y="86"/>
                  </a:lnTo>
                  <a:lnTo>
                    <a:pt x="35" y="92"/>
                  </a:lnTo>
                  <a:lnTo>
                    <a:pt x="28" y="97"/>
                  </a:lnTo>
                  <a:lnTo>
                    <a:pt x="21" y="101"/>
                  </a:lnTo>
                  <a:lnTo>
                    <a:pt x="18" y="104"/>
                  </a:lnTo>
                  <a:lnTo>
                    <a:pt x="17" y="10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2" name="Freeform 34"/>
            <p:cNvSpPr>
              <a:spLocks/>
            </p:cNvSpPr>
            <p:nvPr/>
          </p:nvSpPr>
          <p:spPr bwMode="gray">
            <a:xfrm>
              <a:off x="7648381" y="4646850"/>
              <a:ext cx="370331" cy="504989"/>
            </a:xfrm>
            <a:custGeom>
              <a:avLst/>
              <a:gdLst/>
              <a:ahLst/>
              <a:cxnLst>
                <a:cxn ang="0">
                  <a:pos x="463" y="46"/>
                </a:cxn>
                <a:cxn ang="0">
                  <a:pos x="432" y="123"/>
                </a:cxn>
                <a:cxn ang="0">
                  <a:pos x="354" y="111"/>
                </a:cxn>
                <a:cxn ang="0">
                  <a:pos x="393" y="164"/>
                </a:cxn>
                <a:cxn ang="0">
                  <a:pos x="393" y="256"/>
                </a:cxn>
                <a:cxn ang="0">
                  <a:pos x="363" y="287"/>
                </a:cxn>
                <a:cxn ang="0">
                  <a:pos x="319" y="352"/>
                </a:cxn>
                <a:cxn ang="0">
                  <a:pos x="225" y="359"/>
                </a:cxn>
                <a:cxn ang="0">
                  <a:pos x="266" y="405"/>
                </a:cxn>
                <a:cxn ang="0">
                  <a:pos x="160" y="477"/>
                </a:cxn>
                <a:cxn ang="0">
                  <a:pos x="95" y="378"/>
                </a:cxn>
                <a:cxn ang="0">
                  <a:pos x="6" y="365"/>
                </a:cxn>
                <a:cxn ang="0">
                  <a:pos x="0" y="281"/>
                </a:cxn>
                <a:cxn ang="0">
                  <a:pos x="55" y="222"/>
                </a:cxn>
                <a:cxn ang="0">
                  <a:pos x="17" y="163"/>
                </a:cxn>
                <a:cxn ang="0">
                  <a:pos x="94" y="131"/>
                </a:cxn>
                <a:cxn ang="0">
                  <a:pos x="94" y="46"/>
                </a:cxn>
                <a:cxn ang="0">
                  <a:pos x="164" y="42"/>
                </a:cxn>
                <a:cxn ang="0">
                  <a:pos x="194" y="0"/>
                </a:cxn>
                <a:cxn ang="0">
                  <a:pos x="249" y="13"/>
                </a:cxn>
                <a:cxn ang="0">
                  <a:pos x="291" y="69"/>
                </a:cxn>
                <a:cxn ang="0">
                  <a:pos x="336" y="72"/>
                </a:cxn>
                <a:cxn ang="0">
                  <a:pos x="358" y="51"/>
                </a:cxn>
                <a:cxn ang="0">
                  <a:pos x="463" y="46"/>
                </a:cxn>
              </a:cxnLst>
              <a:rect l="0" t="0" r="r" b="b"/>
              <a:pathLst>
                <a:path w="464" h="478">
                  <a:moveTo>
                    <a:pt x="463" y="46"/>
                  </a:moveTo>
                  <a:lnTo>
                    <a:pt x="432" y="123"/>
                  </a:lnTo>
                  <a:lnTo>
                    <a:pt x="354" y="111"/>
                  </a:lnTo>
                  <a:lnTo>
                    <a:pt x="393" y="164"/>
                  </a:lnTo>
                  <a:lnTo>
                    <a:pt x="393" y="256"/>
                  </a:lnTo>
                  <a:lnTo>
                    <a:pt x="363" y="287"/>
                  </a:lnTo>
                  <a:lnTo>
                    <a:pt x="319" y="352"/>
                  </a:lnTo>
                  <a:lnTo>
                    <a:pt x="225" y="359"/>
                  </a:lnTo>
                  <a:lnTo>
                    <a:pt x="266" y="405"/>
                  </a:lnTo>
                  <a:lnTo>
                    <a:pt x="160" y="477"/>
                  </a:lnTo>
                  <a:lnTo>
                    <a:pt x="95" y="378"/>
                  </a:lnTo>
                  <a:lnTo>
                    <a:pt x="6" y="365"/>
                  </a:lnTo>
                  <a:lnTo>
                    <a:pt x="0" y="281"/>
                  </a:lnTo>
                  <a:lnTo>
                    <a:pt x="55" y="222"/>
                  </a:lnTo>
                  <a:lnTo>
                    <a:pt x="17" y="163"/>
                  </a:lnTo>
                  <a:lnTo>
                    <a:pt x="94" y="131"/>
                  </a:lnTo>
                  <a:lnTo>
                    <a:pt x="94" y="46"/>
                  </a:lnTo>
                  <a:lnTo>
                    <a:pt x="164" y="42"/>
                  </a:lnTo>
                  <a:lnTo>
                    <a:pt x="194" y="0"/>
                  </a:lnTo>
                  <a:lnTo>
                    <a:pt x="249" y="13"/>
                  </a:lnTo>
                  <a:lnTo>
                    <a:pt x="291" y="69"/>
                  </a:lnTo>
                  <a:lnTo>
                    <a:pt x="336" y="72"/>
                  </a:lnTo>
                  <a:lnTo>
                    <a:pt x="358" y="51"/>
                  </a:lnTo>
                  <a:lnTo>
                    <a:pt x="463" y="4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3" name="Freeform 35"/>
            <p:cNvSpPr>
              <a:spLocks/>
            </p:cNvSpPr>
            <p:nvPr/>
          </p:nvSpPr>
          <p:spPr bwMode="gray">
            <a:xfrm>
              <a:off x="7146711" y="4981566"/>
              <a:ext cx="621165" cy="602954"/>
            </a:xfrm>
            <a:custGeom>
              <a:avLst/>
              <a:gdLst/>
              <a:ahLst/>
              <a:cxnLst>
                <a:cxn ang="0">
                  <a:pos x="778" y="135"/>
                </a:cxn>
                <a:cxn ang="0">
                  <a:pos x="721" y="33"/>
                </a:cxn>
                <a:cxn ang="0">
                  <a:pos x="626" y="26"/>
                </a:cxn>
                <a:cxn ang="0">
                  <a:pos x="615" y="60"/>
                </a:cxn>
                <a:cxn ang="0">
                  <a:pos x="468" y="79"/>
                </a:cxn>
                <a:cxn ang="0">
                  <a:pos x="507" y="4"/>
                </a:cxn>
                <a:cxn ang="0">
                  <a:pos x="411" y="8"/>
                </a:cxn>
                <a:cxn ang="0">
                  <a:pos x="296" y="0"/>
                </a:cxn>
                <a:cxn ang="0">
                  <a:pos x="287" y="47"/>
                </a:cxn>
                <a:cxn ang="0">
                  <a:pos x="212" y="58"/>
                </a:cxn>
                <a:cxn ang="0">
                  <a:pos x="183" y="85"/>
                </a:cxn>
                <a:cxn ang="0">
                  <a:pos x="215" y="150"/>
                </a:cxn>
                <a:cxn ang="0">
                  <a:pos x="146" y="217"/>
                </a:cxn>
                <a:cxn ang="0">
                  <a:pos x="145" y="294"/>
                </a:cxn>
                <a:cxn ang="0">
                  <a:pos x="70" y="343"/>
                </a:cxn>
                <a:cxn ang="0">
                  <a:pos x="70" y="385"/>
                </a:cxn>
                <a:cxn ang="0">
                  <a:pos x="0" y="454"/>
                </a:cxn>
                <a:cxn ang="0">
                  <a:pos x="10" y="511"/>
                </a:cxn>
                <a:cxn ang="0">
                  <a:pos x="30" y="559"/>
                </a:cxn>
                <a:cxn ang="0">
                  <a:pos x="80" y="570"/>
                </a:cxn>
                <a:cxn ang="0">
                  <a:pos x="104" y="536"/>
                </a:cxn>
                <a:cxn ang="0">
                  <a:pos x="90" y="469"/>
                </a:cxn>
                <a:cxn ang="0">
                  <a:pos x="229" y="396"/>
                </a:cxn>
                <a:cxn ang="0">
                  <a:pos x="312" y="388"/>
                </a:cxn>
                <a:cxn ang="0">
                  <a:pos x="400" y="341"/>
                </a:cxn>
                <a:cxn ang="0">
                  <a:pos x="382" y="276"/>
                </a:cxn>
                <a:cxn ang="0">
                  <a:pos x="451" y="253"/>
                </a:cxn>
                <a:cxn ang="0">
                  <a:pos x="485" y="326"/>
                </a:cxn>
                <a:cxn ang="0">
                  <a:pos x="579" y="324"/>
                </a:cxn>
                <a:cxn ang="0">
                  <a:pos x="529" y="276"/>
                </a:cxn>
                <a:cxn ang="0">
                  <a:pos x="721" y="212"/>
                </a:cxn>
                <a:cxn ang="0">
                  <a:pos x="778" y="135"/>
                </a:cxn>
              </a:cxnLst>
              <a:rect l="0" t="0" r="r" b="b"/>
              <a:pathLst>
                <a:path w="779" h="571">
                  <a:moveTo>
                    <a:pt x="778" y="135"/>
                  </a:moveTo>
                  <a:lnTo>
                    <a:pt x="721" y="33"/>
                  </a:lnTo>
                  <a:lnTo>
                    <a:pt x="626" y="26"/>
                  </a:lnTo>
                  <a:lnTo>
                    <a:pt x="615" y="60"/>
                  </a:lnTo>
                  <a:lnTo>
                    <a:pt x="468" y="79"/>
                  </a:lnTo>
                  <a:lnTo>
                    <a:pt x="507" y="4"/>
                  </a:lnTo>
                  <a:lnTo>
                    <a:pt x="411" y="8"/>
                  </a:lnTo>
                  <a:lnTo>
                    <a:pt x="296" y="0"/>
                  </a:lnTo>
                  <a:lnTo>
                    <a:pt x="287" y="47"/>
                  </a:lnTo>
                  <a:lnTo>
                    <a:pt x="212" y="58"/>
                  </a:lnTo>
                  <a:lnTo>
                    <a:pt x="183" y="85"/>
                  </a:lnTo>
                  <a:lnTo>
                    <a:pt x="215" y="150"/>
                  </a:lnTo>
                  <a:lnTo>
                    <a:pt x="146" y="217"/>
                  </a:lnTo>
                  <a:lnTo>
                    <a:pt x="145" y="294"/>
                  </a:lnTo>
                  <a:lnTo>
                    <a:pt x="70" y="343"/>
                  </a:lnTo>
                  <a:lnTo>
                    <a:pt x="70" y="385"/>
                  </a:lnTo>
                  <a:lnTo>
                    <a:pt x="0" y="454"/>
                  </a:lnTo>
                  <a:lnTo>
                    <a:pt x="10" y="511"/>
                  </a:lnTo>
                  <a:lnTo>
                    <a:pt x="30" y="559"/>
                  </a:lnTo>
                  <a:lnTo>
                    <a:pt x="80" y="570"/>
                  </a:lnTo>
                  <a:lnTo>
                    <a:pt x="104" y="536"/>
                  </a:lnTo>
                  <a:lnTo>
                    <a:pt x="90" y="469"/>
                  </a:lnTo>
                  <a:lnTo>
                    <a:pt x="229" y="396"/>
                  </a:lnTo>
                  <a:lnTo>
                    <a:pt x="312" y="388"/>
                  </a:lnTo>
                  <a:lnTo>
                    <a:pt x="400" y="341"/>
                  </a:lnTo>
                  <a:lnTo>
                    <a:pt x="382" y="276"/>
                  </a:lnTo>
                  <a:lnTo>
                    <a:pt x="451" y="253"/>
                  </a:lnTo>
                  <a:lnTo>
                    <a:pt x="485" y="326"/>
                  </a:lnTo>
                  <a:lnTo>
                    <a:pt x="579" y="324"/>
                  </a:lnTo>
                  <a:lnTo>
                    <a:pt x="529" y="276"/>
                  </a:lnTo>
                  <a:lnTo>
                    <a:pt x="721" y="212"/>
                  </a:lnTo>
                  <a:lnTo>
                    <a:pt x="778" y="13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4" name="Freeform 36"/>
            <p:cNvSpPr>
              <a:spLocks/>
            </p:cNvSpPr>
            <p:nvPr/>
          </p:nvSpPr>
          <p:spPr bwMode="gray">
            <a:xfrm>
              <a:off x="7059511" y="5598515"/>
              <a:ext cx="201314" cy="220423"/>
            </a:xfrm>
            <a:custGeom>
              <a:avLst/>
              <a:gdLst/>
              <a:ahLst/>
              <a:cxnLst>
                <a:cxn ang="0">
                  <a:pos x="177" y="19"/>
                </a:cxn>
                <a:cxn ang="0">
                  <a:pos x="209" y="0"/>
                </a:cxn>
                <a:cxn ang="0">
                  <a:pos x="245" y="12"/>
                </a:cxn>
                <a:cxn ang="0">
                  <a:pos x="252" y="65"/>
                </a:cxn>
                <a:cxn ang="0">
                  <a:pos x="219" y="93"/>
                </a:cxn>
                <a:cxn ang="0">
                  <a:pos x="210" y="125"/>
                </a:cxn>
                <a:cxn ang="0">
                  <a:pos x="210" y="149"/>
                </a:cxn>
                <a:cxn ang="0">
                  <a:pos x="159" y="181"/>
                </a:cxn>
                <a:cxn ang="0">
                  <a:pos x="138" y="209"/>
                </a:cxn>
                <a:cxn ang="0">
                  <a:pos x="47" y="189"/>
                </a:cxn>
                <a:cxn ang="0">
                  <a:pos x="10" y="151"/>
                </a:cxn>
                <a:cxn ang="0">
                  <a:pos x="0" y="80"/>
                </a:cxn>
                <a:cxn ang="0">
                  <a:pos x="44" y="60"/>
                </a:cxn>
                <a:cxn ang="0">
                  <a:pos x="73" y="32"/>
                </a:cxn>
                <a:cxn ang="0">
                  <a:pos x="177" y="19"/>
                </a:cxn>
              </a:cxnLst>
              <a:rect l="0" t="0" r="r" b="b"/>
              <a:pathLst>
                <a:path w="253" h="210">
                  <a:moveTo>
                    <a:pt x="177" y="19"/>
                  </a:moveTo>
                  <a:lnTo>
                    <a:pt x="209" y="0"/>
                  </a:lnTo>
                  <a:lnTo>
                    <a:pt x="245" y="12"/>
                  </a:lnTo>
                  <a:lnTo>
                    <a:pt x="252" y="65"/>
                  </a:lnTo>
                  <a:lnTo>
                    <a:pt x="219" y="93"/>
                  </a:lnTo>
                  <a:lnTo>
                    <a:pt x="210" y="125"/>
                  </a:lnTo>
                  <a:lnTo>
                    <a:pt x="210" y="149"/>
                  </a:lnTo>
                  <a:lnTo>
                    <a:pt x="159" y="181"/>
                  </a:lnTo>
                  <a:lnTo>
                    <a:pt x="138" y="209"/>
                  </a:lnTo>
                  <a:lnTo>
                    <a:pt x="47" y="189"/>
                  </a:lnTo>
                  <a:lnTo>
                    <a:pt x="10" y="151"/>
                  </a:lnTo>
                  <a:lnTo>
                    <a:pt x="0" y="80"/>
                  </a:lnTo>
                  <a:lnTo>
                    <a:pt x="44" y="60"/>
                  </a:lnTo>
                  <a:lnTo>
                    <a:pt x="73" y="32"/>
                  </a:lnTo>
                  <a:lnTo>
                    <a:pt x="177" y="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5" name="Freeform 37"/>
            <p:cNvSpPr>
              <a:spLocks/>
            </p:cNvSpPr>
            <p:nvPr/>
          </p:nvSpPr>
          <p:spPr bwMode="gray">
            <a:xfrm>
              <a:off x="6657261" y="4934507"/>
              <a:ext cx="669610" cy="538810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67" y="172"/>
                </a:cxn>
                <a:cxn ang="0">
                  <a:pos x="170" y="200"/>
                </a:cxn>
                <a:cxn ang="0">
                  <a:pos x="169" y="163"/>
                </a:cxn>
                <a:cxn ang="0">
                  <a:pos x="266" y="112"/>
                </a:cxn>
                <a:cxn ang="0">
                  <a:pos x="357" y="135"/>
                </a:cxn>
                <a:cxn ang="0">
                  <a:pos x="396" y="106"/>
                </a:cxn>
                <a:cxn ang="0">
                  <a:pos x="450" y="106"/>
                </a:cxn>
                <a:cxn ang="0">
                  <a:pos x="484" y="63"/>
                </a:cxn>
                <a:cxn ang="0">
                  <a:pos x="525" y="47"/>
                </a:cxn>
                <a:cxn ang="0">
                  <a:pos x="584" y="8"/>
                </a:cxn>
                <a:cxn ang="0">
                  <a:pos x="624" y="30"/>
                </a:cxn>
                <a:cxn ang="0">
                  <a:pos x="690" y="0"/>
                </a:cxn>
                <a:cxn ang="0">
                  <a:pos x="740" y="49"/>
                </a:cxn>
                <a:cxn ang="0">
                  <a:pos x="696" y="125"/>
                </a:cxn>
                <a:cxn ang="0">
                  <a:pos x="815" y="146"/>
                </a:cxn>
                <a:cxn ang="0">
                  <a:pos x="838" y="202"/>
                </a:cxn>
                <a:cxn ang="0">
                  <a:pos x="770" y="267"/>
                </a:cxn>
                <a:cxn ang="0">
                  <a:pos x="760" y="352"/>
                </a:cxn>
                <a:cxn ang="0">
                  <a:pos x="678" y="395"/>
                </a:cxn>
                <a:cxn ang="0">
                  <a:pos x="696" y="440"/>
                </a:cxn>
                <a:cxn ang="0">
                  <a:pos x="606" y="510"/>
                </a:cxn>
                <a:cxn ang="0">
                  <a:pos x="537" y="508"/>
                </a:cxn>
                <a:cxn ang="0">
                  <a:pos x="465" y="468"/>
                </a:cxn>
                <a:cxn ang="0">
                  <a:pos x="384" y="508"/>
                </a:cxn>
                <a:cxn ang="0">
                  <a:pos x="272" y="472"/>
                </a:cxn>
                <a:cxn ang="0">
                  <a:pos x="259" y="382"/>
                </a:cxn>
                <a:cxn ang="0">
                  <a:pos x="178" y="376"/>
                </a:cxn>
                <a:cxn ang="0">
                  <a:pos x="137" y="354"/>
                </a:cxn>
                <a:cxn ang="0">
                  <a:pos x="132" y="322"/>
                </a:cxn>
                <a:cxn ang="0">
                  <a:pos x="184" y="322"/>
                </a:cxn>
                <a:cxn ang="0">
                  <a:pos x="166" y="269"/>
                </a:cxn>
                <a:cxn ang="0">
                  <a:pos x="86" y="269"/>
                </a:cxn>
                <a:cxn ang="0">
                  <a:pos x="0" y="247"/>
                </a:cxn>
                <a:cxn ang="0">
                  <a:pos x="0" y="206"/>
                </a:cxn>
              </a:cxnLst>
              <a:rect l="0" t="0" r="r" b="b"/>
              <a:pathLst>
                <a:path w="839" h="511">
                  <a:moveTo>
                    <a:pt x="0" y="206"/>
                  </a:moveTo>
                  <a:lnTo>
                    <a:pt x="67" y="172"/>
                  </a:lnTo>
                  <a:lnTo>
                    <a:pt x="170" y="200"/>
                  </a:lnTo>
                  <a:lnTo>
                    <a:pt x="169" y="163"/>
                  </a:lnTo>
                  <a:lnTo>
                    <a:pt x="266" y="112"/>
                  </a:lnTo>
                  <a:lnTo>
                    <a:pt x="357" y="135"/>
                  </a:lnTo>
                  <a:lnTo>
                    <a:pt x="396" y="106"/>
                  </a:lnTo>
                  <a:lnTo>
                    <a:pt x="450" y="106"/>
                  </a:lnTo>
                  <a:lnTo>
                    <a:pt x="484" y="63"/>
                  </a:lnTo>
                  <a:lnTo>
                    <a:pt x="525" y="47"/>
                  </a:lnTo>
                  <a:lnTo>
                    <a:pt x="584" y="8"/>
                  </a:lnTo>
                  <a:lnTo>
                    <a:pt x="624" y="30"/>
                  </a:lnTo>
                  <a:lnTo>
                    <a:pt x="690" y="0"/>
                  </a:lnTo>
                  <a:lnTo>
                    <a:pt x="740" y="49"/>
                  </a:lnTo>
                  <a:lnTo>
                    <a:pt x="696" y="125"/>
                  </a:lnTo>
                  <a:lnTo>
                    <a:pt x="815" y="146"/>
                  </a:lnTo>
                  <a:lnTo>
                    <a:pt x="838" y="202"/>
                  </a:lnTo>
                  <a:lnTo>
                    <a:pt x="770" y="267"/>
                  </a:lnTo>
                  <a:lnTo>
                    <a:pt x="760" y="352"/>
                  </a:lnTo>
                  <a:lnTo>
                    <a:pt x="678" y="395"/>
                  </a:lnTo>
                  <a:lnTo>
                    <a:pt x="696" y="440"/>
                  </a:lnTo>
                  <a:lnTo>
                    <a:pt x="606" y="510"/>
                  </a:lnTo>
                  <a:lnTo>
                    <a:pt x="537" y="508"/>
                  </a:lnTo>
                  <a:lnTo>
                    <a:pt x="465" y="468"/>
                  </a:lnTo>
                  <a:lnTo>
                    <a:pt x="384" y="508"/>
                  </a:lnTo>
                  <a:lnTo>
                    <a:pt x="272" y="472"/>
                  </a:lnTo>
                  <a:lnTo>
                    <a:pt x="259" y="382"/>
                  </a:lnTo>
                  <a:lnTo>
                    <a:pt x="178" y="376"/>
                  </a:lnTo>
                  <a:lnTo>
                    <a:pt x="137" y="354"/>
                  </a:lnTo>
                  <a:lnTo>
                    <a:pt x="132" y="322"/>
                  </a:lnTo>
                  <a:lnTo>
                    <a:pt x="184" y="322"/>
                  </a:lnTo>
                  <a:lnTo>
                    <a:pt x="166" y="269"/>
                  </a:lnTo>
                  <a:lnTo>
                    <a:pt x="86" y="269"/>
                  </a:lnTo>
                  <a:lnTo>
                    <a:pt x="0" y="247"/>
                  </a:lnTo>
                  <a:lnTo>
                    <a:pt x="0" y="20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6" name="Line 38"/>
            <p:cNvSpPr>
              <a:spLocks noChangeShapeType="1"/>
            </p:cNvSpPr>
            <p:nvPr/>
          </p:nvSpPr>
          <p:spPr bwMode="gray">
            <a:xfrm>
              <a:off x="7022909" y="3671861"/>
              <a:ext cx="1077" cy="233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1537" name="Group 56"/>
          <p:cNvGrpSpPr>
            <a:grpSpLocks/>
          </p:cNvGrpSpPr>
          <p:nvPr/>
        </p:nvGrpSpPr>
        <p:grpSpPr bwMode="gray">
          <a:xfrm>
            <a:off x="5190020" y="1124973"/>
            <a:ext cx="3362619" cy="2274989"/>
            <a:chOff x="1757363" y="1860550"/>
            <a:chExt cx="6414459" cy="3873500"/>
          </a:xfrm>
          <a:solidFill>
            <a:srgbClr val="92D050"/>
          </a:solidFill>
        </p:grpSpPr>
        <p:sp>
          <p:nvSpPr>
            <p:cNvPr id="1538" name="Freeform 1537"/>
            <p:cNvSpPr>
              <a:spLocks/>
            </p:cNvSpPr>
            <p:nvPr/>
          </p:nvSpPr>
          <p:spPr bwMode="gray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39" name="Freeform 1538"/>
            <p:cNvSpPr>
              <a:spLocks/>
            </p:cNvSpPr>
            <p:nvPr/>
          </p:nvSpPr>
          <p:spPr bwMode="gray">
            <a:xfrm>
              <a:off x="371265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0" name="Freeform 1539"/>
            <p:cNvSpPr>
              <a:spLocks/>
            </p:cNvSpPr>
            <p:nvPr/>
          </p:nvSpPr>
          <p:spPr bwMode="gray">
            <a:xfrm>
              <a:off x="5275857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1" name="Freeform 1540"/>
            <p:cNvSpPr>
              <a:spLocks/>
            </p:cNvSpPr>
            <p:nvPr/>
          </p:nvSpPr>
          <p:spPr bwMode="gray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2" name="Freeform 1541"/>
            <p:cNvSpPr>
              <a:spLocks/>
            </p:cNvSpPr>
            <p:nvPr/>
          </p:nvSpPr>
          <p:spPr bwMode="gray">
            <a:xfrm>
              <a:off x="4857972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3" name="Freeform 1542"/>
            <p:cNvSpPr>
              <a:spLocks/>
            </p:cNvSpPr>
            <p:nvPr/>
          </p:nvSpPr>
          <p:spPr bwMode="gray">
            <a:xfrm>
              <a:off x="5401395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4" name="Freeform 1543"/>
            <p:cNvSpPr>
              <a:spLocks/>
            </p:cNvSpPr>
            <p:nvPr/>
          </p:nvSpPr>
          <p:spPr bwMode="gray">
            <a:xfrm>
              <a:off x="5647311" y="2333625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5" name="Freeform 1544"/>
            <p:cNvSpPr>
              <a:spLocks/>
            </p:cNvSpPr>
            <p:nvPr/>
          </p:nvSpPr>
          <p:spPr bwMode="gray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6" name="Freeform 1545"/>
            <p:cNvSpPr>
              <a:spLocks/>
            </p:cNvSpPr>
            <p:nvPr/>
          </p:nvSpPr>
          <p:spPr bwMode="gray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7" name="Freeform 1546"/>
            <p:cNvSpPr>
              <a:spLocks/>
            </p:cNvSpPr>
            <p:nvPr/>
          </p:nvSpPr>
          <p:spPr bwMode="gray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8" name="Freeform 1547"/>
            <p:cNvSpPr>
              <a:spLocks/>
            </p:cNvSpPr>
            <p:nvPr/>
          </p:nvSpPr>
          <p:spPr bwMode="gray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9" name="Freeform 1548"/>
            <p:cNvSpPr>
              <a:spLocks/>
            </p:cNvSpPr>
            <p:nvPr/>
          </p:nvSpPr>
          <p:spPr bwMode="gray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0" name="Freeform 1549"/>
            <p:cNvSpPr>
              <a:spLocks/>
            </p:cNvSpPr>
            <p:nvPr/>
          </p:nvSpPr>
          <p:spPr bwMode="gray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1" name="Freeform 1550"/>
            <p:cNvSpPr>
              <a:spLocks/>
            </p:cNvSpPr>
            <p:nvPr/>
          </p:nvSpPr>
          <p:spPr bwMode="gray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2" name="Freeform 1551"/>
            <p:cNvSpPr>
              <a:spLocks/>
            </p:cNvSpPr>
            <p:nvPr/>
          </p:nvSpPr>
          <p:spPr bwMode="gray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3" name="Freeform 1552"/>
            <p:cNvSpPr>
              <a:spLocks/>
            </p:cNvSpPr>
            <p:nvPr/>
          </p:nvSpPr>
          <p:spPr bwMode="gray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4" name="Freeform 1553"/>
            <p:cNvSpPr>
              <a:spLocks/>
            </p:cNvSpPr>
            <p:nvPr/>
          </p:nvSpPr>
          <p:spPr bwMode="gray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5" name="Freeform 1554"/>
            <p:cNvSpPr>
              <a:spLocks/>
            </p:cNvSpPr>
            <p:nvPr/>
          </p:nvSpPr>
          <p:spPr bwMode="gray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6" name="Freeform 1555"/>
            <p:cNvSpPr>
              <a:spLocks/>
            </p:cNvSpPr>
            <p:nvPr/>
          </p:nvSpPr>
          <p:spPr bwMode="gray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7" name="Freeform 1556"/>
            <p:cNvSpPr>
              <a:spLocks/>
            </p:cNvSpPr>
            <p:nvPr/>
          </p:nvSpPr>
          <p:spPr bwMode="gray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8" name="Freeform 1557"/>
            <p:cNvSpPr>
              <a:spLocks/>
            </p:cNvSpPr>
            <p:nvPr/>
          </p:nvSpPr>
          <p:spPr bwMode="gray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9" name="Freeform 1558"/>
            <p:cNvSpPr>
              <a:spLocks/>
            </p:cNvSpPr>
            <p:nvPr/>
          </p:nvSpPr>
          <p:spPr bwMode="gray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0" name="Freeform 1559"/>
            <p:cNvSpPr>
              <a:spLocks/>
            </p:cNvSpPr>
            <p:nvPr/>
          </p:nvSpPr>
          <p:spPr bwMode="gray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grpSp>
          <p:nvGrpSpPr>
            <p:cNvPr id="1561" name="Group 1560"/>
            <p:cNvGrpSpPr>
              <a:grpSpLocks/>
            </p:cNvGrpSpPr>
            <p:nvPr/>
          </p:nvGrpSpPr>
          <p:grpSpPr bwMode="gray">
            <a:xfrm>
              <a:off x="2199623" y="2176830"/>
              <a:ext cx="5701788" cy="2675059"/>
              <a:chOff x="1657" y="1277"/>
              <a:chExt cx="2764" cy="1404"/>
            </a:xfrm>
            <a:grpFill/>
          </p:grpSpPr>
          <p:sp>
            <p:nvSpPr>
              <p:cNvPr id="1574" name="Freeform 28"/>
              <p:cNvSpPr>
                <a:spLocks/>
              </p:cNvSpPr>
              <p:nvPr/>
            </p:nvSpPr>
            <p:spPr bwMode="gray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5" name="Freeform 29"/>
              <p:cNvSpPr>
                <a:spLocks/>
              </p:cNvSpPr>
              <p:nvPr/>
            </p:nvSpPr>
            <p:spPr bwMode="gray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6" name="Freeform 30"/>
              <p:cNvSpPr>
                <a:spLocks/>
              </p:cNvSpPr>
              <p:nvPr/>
            </p:nvSpPr>
            <p:spPr bwMode="gray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7" name="Freeform 31"/>
              <p:cNvSpPr>
                <a:spLocks/>
              </p:cNvSpPr>
              <p:nvPr/>
            </p:nvSpPr>
            <p:spPr bwMode="gray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8" name="Freeform 32"/>
              <p:cNvSpPr>
                <a:spLocks/>
              </p:cNvSpPr>
              <p:nvPr/>
            </p:nvSpPr>
            <p:spPr bwMode="gray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9" name="Freeform 33"/>
              <p:cNvSpPr>
                <a:spLocks/>
              </p:cNvSpPr>
              <p:nvPr/>
            </p:nvSpPr>
            <p:spPr bwMode="gray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0" name="Freeform 34"/>
              <p:cNvSpPr>
                <a:spLocks/>
              </p:cNvSpPr>
              <p:nvPr/>
            </p:nvSpPr>
            <p:spPr bwMode="gray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1" name="Freeform 35"/>
              <p:cNvSpPr>
                <a:spLocks/>
              </p:cNvSpPr>
              <p:nvPr/>
            </p:nvSpPr>
            <p:spPr bwMode="gray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2" name="Freeform 36"/>
              <p:cNvSpPr>
                <a:spLocks/>
              </p:cNvSpPr>
              <p:nvPr/>
            </p:nvSpPr>
            <p:spPr bwMode="gray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3" name="Freeform 37"/>
              <p:cNvSpPr>
                <a:spLocks/>
              </p:cNvSpPr>
              <p:nvPr/>
            </p:nvSpPr>
            <p:spPr bwMode="gray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4" name="Freeform 38"/>
              <p:cNvSpPr>
                <a:spLocks/>
              </p:cNvSpPr>
              <p:nvPr/>
            </p:nvSpPr>
            <p:spPr bwMode="gray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5" name="Freeform 39"/>
              <p:cNvSpPr>
                <a:spLocks/>
              </p:cNvSpPr>
              <p:nvPr/>
            </p:nvSpPr>
            <p:spPr bwMode="gray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6" name="Freeform 40"/>
              <p:cNvSpPr>
                <a:spLocks/>
              </p:cNvSpPr>
              <p:nvPr/>
            </p:nvSpPr>
            <p:spPr bwMode="gray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7" name="Freeform 41"/>
              <p:cNvSpPr>
                <a:spLocks/>
              </p:cNvSpPr>
              <p:nvPr/>
            </p:nvSpPr>
            <p:spPr bwMode="gray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8" name="Freeform 42"/>
              <p:cNvSpPr>
                <a:spLocks/>
              </p:cNvSpPr>
              <p:nvPr/>
            </p:nvSpPr>
            <p:spPr bwMode="gray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9" name="Freeform 43"/>
              <p:cNvSpPr>
                <a:spLocks/>
              </p:cNvSpPr>
              <p:nvPr/>
            </p:nvSpPr>
            <p:spPr bwMode="gray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62" name="Freeform 44"/>
            <p:cNvSpPr>
              <a:spLocks/>
            </p:cNvSpPr>
            <p:nvPr/>
          </p:nvSpPr>
          <p:spPr bwMode="gray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3" name="Freeform 45"/>
            <p:cNvSpPr>
              <a:spLocks/>
            </p:cNvSpPr>
            <p:nvPr/>
          </p:nvSpPr>
          <p:spPr bwMode="gray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4" name="Freeform 46"/>
            <p:cNvSpPr>
              <a:spLocks/>
            </p:cNvSpPr>
            <p:nvPr/>
          </p:nvSpPr>
          <p:spPr bwMode="gray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5" name="Freeform 47"/>
            <p:cNvSpPr>
              <a:spLocks/>
            </p:cNvSpPr>
            <p:nvPr/>
          </p:nvSpPr>
          <p:spPr bwMode="gray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6" name="Freeform 48"/>
            <p:cNvSpPr>
              <a:spLocks/>
            </p:cNvSpPr>
            <p:nvPr/>
          </p:nvSpPr>
          <p:spPr bwMode="gray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7" name="Freeform 49"/>
            <p:cNvSpPr>
              <a:spLocks/>
            </p:cNvSpPr>
            <p:nvPr/>
          </p:nvSpPr>
          <p:spPr bwMode="gray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8" name="Freeform 50"/>
            <p:cNvSpPr>
              <a:spLocks/>
            </p:cNvSpPr>
            <p:nvPr/>
          </p:nvSpPr>
          <p:spPr bwMode="gray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9" name="Freeform 51"/>
            <p:cNvSpPr>
              <a:spLocks/>
            </p:cNvSpPr>
            <p:nvPr/>
          </p:nvSpPr>
          <p:spPr bwMode="gray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0" name="Freeform 52"/>
            <p:cNvSpPr>
              <a:spLocks/>
            </p:cNvSpPr>
            <p:nvPr/>
          </p:nvSpPr>
          <p:spPr bwMode="gray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1" name="Freeform 53"/>
            <p:cNvSpPr>
              <a:spLocks/>
            </p:cNvSpPr>
            <p:nvPr/>
          </p:nvSpPr>
          <p:spPr bwMode="gray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2" name="Freeform 54"/>
            <p:cNvSpPr>
              <a:spLocks/>
            </p:cNvSpPr>
            <p:nvPr/>
          </p:nvSpPr>
          <p:spPr bwMode="gray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3" name="Freeform 55"/>
            <p:cNvSpPr>
              <a:spLocks/>
            </p:cNvSpPr>
            <p:nvPr/>
          </p:nvSpPr>
          <p:spPr bwMode="gray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90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95944" y="4114800"/>
            <a:ext cx="2274888" cy="758825"/>
          </a:xfrm>
          <a:prstGeom prst="rect">
            <a:avLst/>
          </a:prstGeom>
          <a:solidFill>
            <a:srgbClr val="00A1DE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</a:pPr>
            <a:r>
              <a:rPr lang="zh-CN" altLang="en-US" sz="1400" dirty="0">
                <a:solidFill>
                  <a:schemeClr val="bg1"/>
                </a:solidFill>
                <a:ea typeface="ＭＳ Ｐゴシック" pitchFamily="50" charset="-128"/>
              </a:rPr>
              <a:t>中国大陆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21657" y="4114800"/>
            <a:ext cx="2274887" cy="758825"/>
          </a:xfrm>
          <a:prstGeom prst="rect">
            <a:avLst/>
          </a:prstGeom>
          <a:solidFill>
            <a:srgbClr val="575757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香港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70232" y="4117975"/>
            <a:ext cx="2273300" cy="75565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北美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409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竞争激</a:t>
            </a:r>
            <a:r>
              <a:rPr lang="zh-CN" altLang="en-US" dirty="0" smtClean="0"/>
              <a:t>烈</a:t>
            </a:r>
            <a:endParaRPr lang="en-US" altLang="zh-CN" dirty="0" smtClean="0"/>
          </a:p>
          <a:p>
            <a:r>
              <a:rPr lang="en-US" altLang="zh-CN" dirty="0" smtClean="0"/>
              <a:t>$70-150K</a:t>
            </a:r>
            <a:endParaRPr lang="en-US" dirty="0"/>
          </a:p>
        </p:txBody>
      </p:sp>
      <p:sp>
        <p:nvSpPr>
          <p:cNvPr id="1594" name="TextBox 1593"/>
          <p:cNvSpPr txBox="1"/>
          <p:nvPr/>
        </p:nvSpPr>
        <p:spPr>
          <a:xfrm>
            <a:off x="3406096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行业起步阶段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择较少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</a:t>
            </a:r>
            <a:r>
              <a:rPr lang="zh-CN" altLang="en-US" dirty="0"/>
              <a:t>较小</a:t>
            </a:r>
            <a:endParaRPr lang="en-US" altLang="zh-CN" dirty="0" smtClean="0"/>
          </a:p>
          <a:p>
            <a:r>
              <a:rPr lang="zh-CN" altLang="en-US" dirty="0"/>
              <a:t>￥</a:t>
            </a:r>
            <a:r>
              <a:rPr lang="en-US" altLang="zh-CN" dirty="0" smtClean="0"/>
              <a:t>70-150K</a:t>
            </a:r>
            <a:endParaRPr lang="en-US" dirty="0"/>
          </a:p>
        </p:txBody>
      </p:sp>
      <p:sp>
        <p:nvSpPr>
          <p:cNvPr id="1595" name="TextBox 1594"/>
          <p:cNvSpPr txBox="1"/>
          <p:nvPr/>
        </p:nvSpPr>
        <p:spPr>
          <a:xfrm>
            <a:off x="5921657" y="4873624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行业较成熟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争相对较小</a:t>
            </a:r>
            <a:endParaRPr lang="en-US" altLang="zh-CN" dirty="0" smtClean="0"/>
          </a:p>
          <a:p>
            <a:r>
              <a:rPr lang="en-US" altLang="zh-CN" dirty="0" smtClean="0"/>
              <a:t>HK$ 500-700K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023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  <a:t/>
            </a:r>
            <a:b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</a:b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什么是</a:t>
            </a:r>
            <a:r>
              <a:rPr lang="zh-CN" altLang="en-US" sz="3000" dirty="0">
                <a:solidFill>
                  <a:srgbClr val="575757"/>
                </a:solidFill>
                <a:latin typeface="+mn-lt"/>
                <a:ea typeface="+mn-ea"/>
              </a:rPr>
              <a:t>量</a:t>
            </a: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化金融（计量金融学、数学金融学）</a:t>
            </a:r>
            <a:endParaRPr lang="en-US" sz="3000" b="0" dirty="0" smtClean="0">
              <a:solidFill>
                <a:srgbClr val="575757"/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1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>
            <a:off x="1218411" y="2800529"/>
            <a:ext cx="3838575" cy="1619071"/>
          </a:xfrm>
          <a:custGeom>
            <a:avLst/>
            <a:gdLst>
              <a:gd name="T0" fmla="*/ 2147483647 w 1934"/>
              <a:gd name="T1" fmla="*/ 2147483647 h 1970"/>
              <a:gd name="T2" fmla="*/ 0 w 1934"/>
              <a:gd name="T3" fmla="*/ 2147483647 h 1970"/>
              <a:gd name="T4" fmla="*/ 0 w 1934"/>
              <a:gd name="T5" fmla="*/ 0 h 1970"/>
              <a:gd name="T6" fmla="*/ 2147483647 w 1934"/>
              <a:gd name="T7" fmla="*/ 0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2147483647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2147483647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1518" y="1969"/>
                </a:moveTo>
                <a:lnTo>
                  <a:pt x="0" y="1969"/>
                </a:lnTo>
                <a:lnTo>
                  <a:pt x="0" y="0"/>
                </a:lnTo>
                <a:lnTo>
                  <a:pt x="1699" y="0"/>
                </a:lnTo>
                <a:lnTo>
                  <a:pt x="1648" y="525"/>
                </a:lnTo>
                <a:lnTo>
                  <a:pt x="1734" y="525"/>
                </a:lnTo>
                <a:lnTo>
                  <a:pt x="1734" y="276"/>
                </a:lnTo>
                <a:lnTo>
                  <a:pt x="1933" y="703"/>
                </a:lnTo>
                <a:lnTo>
                  <a:pt x="1734" y="1104"/>
                </a:lnTo>
                <a:lnTo>
                  <a:pt x="1734" y="855"/>
                </a:lnTo>
                <a:lnTo>
                  <a:pt x="1622" y="855"/>
                </a:lnTo>
                <a:lnTo>
                  <a:pt x="1596" y="1104"/>
                </a:lnTo>
                <a:lnTo>
                  <a:pt x="1596" y="864"/>
                </a:lnTo>
                <a:lnTo>
                  <a:pt x="1397" y="1256"/>
                </a:lnTo>
                <a:lnTo>
                  <a:pt x="1556" y="1597"/>
                </a:lnTo>
                <a:lnTo>
                  <a:pt x="1518" y="1969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B4B4B4"/>
            </a:solidFill>
            <a:round/>
            <a:headEnd/>
            <a:tailEnd/>
          </a:ln>
        </p:spPr>
        <p:txBody>
          <a:bodyPr wrap="square" lIns="91440" tIns="182880" rIns="118800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rgbClr val="313131"/>
                </a:solidFill>
              </a:rPr>
              <a:t>金融学</a:t>
            </a:r>
            <a:endParaRPr lang="en-US" altLang="zh-CN" sz="1400" dirty="0" smtClean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/>
              <a:t>一般而言，若金融经济学家研究一所企业当前股价的结构性原因</a:t>
            </a:r>
            <a:endParaRPr lang="en-US" sz="1400" dirty="0" smtClean="0">
              <a:solidFill>
                <a:srgbClr val="313131"/>
              </a:solidFill>
            </a:endParaRPr>
          </a:p>
        </p:txBody>
      </p:sp>
      <p:sp>
        <p:nvSpPr>
          <p:cNvPr id="12" name="Freeform 3"/>
          <p:cNvSpPr>
            <a:spLocks/>
          </p:cNvSpPr>
          <p:nvPr>
            <p:custDataLst>
              <p:tags r:id="rId2"/>
            </p:custDataLst>
          </p:nvPr>
        </p:nvSpPr>
        <p:spPr bwMode="blackWhite">
          <a:xfrm>
            <a:off x="3971319" y="2800529"/>
            <a:ext cx="3840163" cy="1619071"/>
          </a:xfrm>
          <a:custGeom>
            <a:avLst/>
            <a:gdLst>
              <a:gd name="T0" fmla="*/ 2147483647 w 1934"/>
              <a:gd name="T1" fmla="*/ 0 h 1970"/>
              <a:gd name="T2" fmla="*/ 2147483647 w 1934"/>
              <a:gd name="T3" fmla="*/ 0 h 1970"/>
              <a:gd name="T4" fmla="*/ 2147483647 w 1934"/>
              <a:gd name="T5" fmla="*/ 2147483647 h 1970"/>
              <a:gd name="T6" fmla="*/ 2147483647 w 1934"/>
              <a:gd name="T7" fmla="*/ 2147483647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0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0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414" y="0"/>
                </a:moveTo>
                <a:lnTo>
                  <a:pt x="1933" y="0"/>
                </a:lnTo>
                <a:lnTo>
                  <a:pt x="1933" y="1969"/>
                </a:lnTo>
                <a:lnTo>
                  <a:pt x="241" y="1969"/>
                </a:lnTo>
                <a:lnTo>
                  <a:pt x="284" y="1434"/>
                </a:lnTo>
                <a:lnTo>
                  <a:pt x="198" y="1434"/>
                </a:lnTo>
                <a:lnTo>
                  <a:pt x="198" y="1683"/>
                </a:lnTo>
                <a:lnTo>
                  <a:pt x="0" y="1265"/>
                </a:lnTo>
                <a:lnTo>
                  <a:pt x="198" y="864"/>
                </a:lnTo>
                <a:lnTo>
                  <a:pt x="198" y="1113"/>
                </a:lnTo>
                <a:lnTo>
                  <a:pt x="310" y="1113"/>
                </a:lnTo>
                <a:lnTo>
                  <a:pt x="345" y="864"/>
                </a:lnTo>
                <a:lnTo>
                  <a:pt x="336" y="1095"/>
                </a:lnTo>
                <a:lnTo>
                  <a:pt x="535" y="694"/>
                </a:lnTo>
                <a:lnTo>
                  <a:pt x="379" y="374"/>
                </a:lnTo>
                <a:lnTo>
                  <a:pt x="414" y="0"/>
                </a:lnTo>
              </a:path>
            </a:pathLst>
          </a:custGeom>
          <a:solidFill>
            <a:srgbClr val="81BC00"/>
          </a:solidFill>
          <a:ln w="12700" cap="rnd">
            <a:noFill/>
            <a:round/>
            <a:headEnd/>
            <a:tailEnd/>
          </a:ln>
        </p:spPr>
        <p:txBody>
          <a:bodyPr wrap="square" lIns="1116000" tIns="91440" rIns="9144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chemeClr val="bg1"/>
                </a:solidFill>
              </a:rPr>
              <a:t>量化金融学</a:t>
            </a:r>
            <a:endParaRPr lang="en-US" altLang="zh-CN" sz="1400" dirty="0" smtClean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利用当前股价作参考，以金融数学理论为基础去计算并取得相关衍生工具的公平价格（应值价格），以及风险估算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8411" y="16002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维基百科上</a:t>
            </a:r>
            <a:r>
              <a:rPr lang="zh-CN" altLang="en-US" b="1" dirty="0" smtClean="0">
                <a:solidFill>
                  <a:schemeClr val="tx2"/>
                </a:solidFill>
              </a:rPr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量化</a:t>
            </a:r>
            <a:r>
              <a:rPr lang="zh-CN" altLang="en-US" b="1" dirty="0" smtClean="0">
                <a:solidFill>
                  <a:schemeClr val="tx2"/>
                </a:solidFill>
              </a:rPr>
              <a:t>金</a:t>
            </a:r>
            <a:r>
              <a:rPr lang="zh-CN" altLang="en-US" b="1" dirty="0">
                <a:solidFill>
                  <a:schemeClr val="tx2"/>
                </a:solidFill>
              </a:rPr>
              <a:t>融的解</a:t>
            </a:r>
            <a:r>
              <a:rPr lang="zh-CN" altLang="en-US" b="1" dirty="0" smtClean="0">
                <a:solidFill>
                  <a:schemeClr val="tx2"/>
                </a:solidFill>
              </a:rPr>
              <a:t>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量化</a:t>
            </a:r>
            <a:r>
              <a:rPr lang="zh-CN" altLang="en-US" dirty="0" smtClean="0"/>
              <a:t>数学又称计量金融学、数学金融学，是专为金融市场而设的一门应用数学。</a:t>
            </a: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1231111" y="48006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更直接些的解释：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b="1" dirty="0" smtClean="0">
              <a:solidFill>
                <a:schemeClr val="tx2"/>
              </a:solidFill>
            </a:endParaRPr>
          </a:p>
          <a:p>
            <a:r>
              <a:rPr lang="zh-CN" altLang="en-US" dirty="0"/>
              <a:t>数量金融是将一系列数</a:t>
            </a:r>
            <a:r>
              <a:rPr lang="zh-CN" altLang="en-US" dirty="0" smtClean="0"/>
              <a:t>学</a:t>
            </a:r>
            <a:r>
              <a:rPr lang="en-US" altLang="zh-CN" dirty="0" smtClean="0"/>
              <a:t>/</a:t>
            </a:r>
            <a:r>
              <a:rPr lang="zh-CN" altLang="en-US" dirty="0" smtClean="0"/>
              <a:t>统</a:t>
            </a:r>
            <a:r>
              <a:rPr lang="zh-CN" altLang="en-US" dirty="0"/>
              <a:t>计</a:t>
            </a:r>
            <a:r>
              <a:rPr lang="zh-CN" altLang="en-US" dirty="0" smtClean="0"/>
              <a:t>学方</a:t>
            </a:r>
            <a:r>
              <a:rPr lang="zh-CN" altLang="en-US" dirty="0"/>
              <a:t>法引入金融市场进行研究的学科。而数量金融（或者叫金融工程）目前</a:t>
            </a:r>
            <a:r>
              <a:rPr lang="zh-CN" altLang="en-US" dirty="0" smtClean="0"/>
              <a:t>在主</a:t>
            </a:r>
            <a:r>
              <a:rPr lang="zh-CN" altLang="en-US" dirty="0"/>
              <a:t>要</a:t>
            </a:r>
            <a:r>
              <a:rPr lang="zh-CN" altLang="en-US" dirty="0" smtClean="0"/>
              <a:t>有四大</a:t>
            </a:r>
            <a:r>
              <a:rPr lang="zh-CN" altLang="en-US" dirty="0"/>
              <a:t>发展方向：</a:t>
            </a:r>
            <a:r>
              <a:rPr lang="zh-CN" altLang="en-US" u="sng" dirty="0"/>
              <a:t>交易策略研究</a:t>
            </a:r>
            <a:r>
              <a:rPr lang="zh-CN" altLang="en-US" dirty="0"/>
              <a:t>、</a:t>
            </a:r>
            <a:r>
              <a:rPr lang="zh-CN" altLang="en-US" u="sng" dirty="0"/>
              <a:t>衍生品定价与对冲</a:t>
            </a:r>
            <a:r>
              <a:rPr lang="zh-CN" altLang="en-US" dirty="0"/>
              <a:t>、</a:t>
            </a:r>
            <a:r>
              <a:rPr lang="zh-CN" altLang="en-US" u="sng" dirty="0"/>
              <a:t>风险管</a:t>
            </a:r>
            <a:r>
              <a:rPr lang="zh-CN" altLang="en-US" u="sng" dirty="0" smtClean="0"/>
              <a:t>理</a:t>
            </a:r>
            <a:r>
              <a:rPr lang="zh-CN" altLang="en-US" dirty="0" smtClean="0"/>
              <a:t>、</a:t>
            </a:r>
            <a:r>
              <a:rPr lang="zh-CN" altLang="en-US" u="sng" dirty="0"/>
              <a:t>高频交易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022623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</a:t>
            </a:r>
            <a:r>
              <a:rPr lang="zh-CN" altLang="en-US" sz="3000" dirty="0" smtClean="0">
                <a:solidFill>
                  <a:srgbClr val="575757"/>
                </a:solidFill>
              </a:rPr>
              <a:t>交易策略研究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08180" y="2377334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包括选股，择时，套利。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选股</a:t>
            </a:r>
            <a:r>
              <a:rPr lang="en-US" altLang="zh-CN" dirty="0" smtClean="0"/>
              <a:t>: </a:t>
            </a:r>
            <a:r>
              <a:rPr lang="zh-CN" altLang="en-US" dirty="0" smtClean="0"/>
              <a:t>以</a:t>
            </a:r>
            <a:r>
              <a:rPr lang="en-US" altLang="zh-CN" dirty="0" smtClean="0"/>
              <a:t>α</a:t>
            </a:r>
            <a:r>
              <a:rPr lang="zh-CN" altLang="en-US" dirty="0" smtClean="0"/>
              <a:t>与</a:t>
            </a:r>
            <a:r>
              <a:rPr lang="en-US" altLang="zh-CN" dirty="0" smtClean="0"/>
              <a:t>β</a:t>
            </a:r>
            <a:r>
              <a:rPr lang="zh-CN" altLang="en-US" dirty="0" smtClean="0"/>
              <a:t>策略为主</a:t>
            </a:r>
            <a:endParaRPr lang="en-US" altLang="zh-CN" dirty="0" smtClean="0"/>
          </a:p>
          <a:p>
            <a:r>
              <a:rPr lang="zh-CN" altLang="en-US" dirty="0" smtClean="0"/>
              <a:t>择时</a:t>
            </a:r>
            <a:r>
              <a:rPr lang="en-US" altLang="zh-CN" dirty="0" smtClean="0"/>
              <a:t>: </a:t>
            </a:r>
            <a:r>
              <a:rPr lang="zh-CN" altLang="en-US" dirty="0" smtClean="0"/>
              <a:t>目前流行机器学习的手段进行择时建模，诸如</a:t>
            </a:r>
            <a:r>
              <a:rPr lang="en-US" altLang="zh-CN" dirty="0" smtClean="0"/>
              <a:t>SVM</a:t>
            </a:r>
            <a:r>
              <a:rPr lang="zh-CN" altLang="en-US" dirty="0" smtClean="0"/>
              <a:t>、神经网络</a:t>
            </a:r>
            <a:endParaRPr lang="en-US" altLang="zh-CN" dirty="0" smtClean="0"/>
          </a:p>
          <a:p>
            <a:r>
              <a:rPr lang="zh-CN" altLang="en-US" dirty="0"/>
              <a:t>套利</a:t>
            </a:r>
            <a:r>
              <a:rPr lang="en-US" altLang="zh-CN" dirty="0" smtClean="0"/>
              <a:t>:</a:t>
            </a:r>
            <a:r>
              <a:rPr lang="zh-CN" altLang="en-US" dirty="0" smtClean="0"/>
              <a:t> 采用统计套利等策略进行金融产品交易</a:t>
            </a:r>
            <a:endParaRPr lang="en-US" altLang="zh-CN" dirty="0" smtClean="0"/>
          </a:p>
          <a:p>
            <a:r>
              <a:rPr lang="zh-CN" altLang="en-US" dirty="0" smtClean="0"/>
              <a:t>同时由于国内期权交易日趋活跃，现在的交易策略研究有偏向期权交易策略的趋势。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8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696774" y="4800600"/>
            <a:ext cx="5698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公募基金的指数量化部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券商与期货公司的研究部（金融工程组）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自营部（量化交易）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资产管理部（子公司）</a:t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7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1961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衍生品定价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563518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场</a:t>
            </a:r>
            <a:r>
              <a:rPr lang="zh-CN" altLang="en-US" dirty="0"/>
              <a:t>外（内）期权的定价以及套</a:t>
            </a:r>
            <a:r>
              <a:rPr lang="zh-CN" altLang="en-US" dirty="0" smtClean="0"/>
              <a:t>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62000" y="4087769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公</a:t>
            </a:r>
            <a:r>
              <a:rPr lang="zh-CN" altLang="en-US" dirty="0"/>
              <a:t>募基金指数量化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</a:t>
            </a:r>
            <a:r>
              <a:rPr lang="zh-CN" altLang="en-US" dirty="0"/>
              <a:t>商的柜台市场部（</a:t>
            </a:r>
            <a:r>
              <a:rPr lang="en-US" altLang="zh-CN" dirty="0"/>
              <a:t>OTC</a:t>
            </a:r>
            <a:r>
              <a:rPr lang="zh-CN" altLang="en-US" dirty="0"/>
              <a:t>产品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权</a:t>
            </a:r>
            <a:r>
              <a:rPr lang="zh-CN" altLang="en-US" dirty="0"/>
              <a:t>益与衍生品投资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</a:t>
            </a:r>
            <a:r>
              <a:rPr lang="zh-CN" altLang="en-US" dirty="0"/>
              <a:t>产管理部（子公司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机</a:t>
            </a:r>
            <a:r>
              <a:rPr lang="zh-CN" altLang="en-US" dirty="0"/>
              <a:t>构销售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期</a:t>
            </a:r>
            <a:r>
              <a:rPr lang="zh-CN" altLang="en-US" dirty="0"/>
              <a:t>货公司研究</a:t>
            </a:r>
            <a:r>
              <a:rPr lang="zh-CN" altLang="en-US" dirty="0" smtClean="0"/>
              <a:t>部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50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</a:t>
            </a:r>
            <a:r>
              <a:rPr lang="zh-CN" altLang="en-US" sz="3000" dirty="0" smtClean="0">
                <a:solidFill>
                  <a:srgbClr val="575757"/>
                </a:solidFill>
              </a:rPr>
              <a:t> 风险管理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552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涉及</a:t>
            </a:r>
            <a:r>
              <a:rPr lang="en-US" altLang="zh-CN" dirty="0" smtClean="0"/>
              <a:t>market risk, credit risk, model risk</a:t>
            </a:r>
            <a:r>
              <a:rPr lang="zh-CN" altLang="en-US" dirty="0" smtClean="0"/>
              <a:t>等分支。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通常需要较好的资产组合头寸管理知识以及衍生品对冲的知识，</a:t>
            </a:r>
            <a:r>
              <a:rPr lang="en-US" altLang="zh-CN" dirty="0" smtClean="0"/>
              <a:t>delta hedge, gamma hedge</a:t>
            </a:r>
            <a:r>
              <a:rPr lang="zh-CN" altLang="en-US" dirty="0" smtClean="0"/>
              <a:t>等自然必不可少。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981200" y="51304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多见于券商的风控部门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77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62200" y="2438400"/>
            <a:ext cx="6212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852371" y="5048596"/>
            <a:ext cx="454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专著高频交易的基金公司等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02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3" y="181778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313131"/>
                </a:solidFill>
              </a:rPr>
              <a:t>Quant</a:t>
            </a:r>
            <a:r>
              <a:rPr lang="zh-CN" altLang="en-US" sz="2000" b="1" dirty="0" smtClean="0">
                <a:solidFill>
                  <a:srgbClr val="313131"/>
                </a:solidFill>
              </a:rPr>
              <a:t> 是做什么的？</a:t>
            </a:r>
            <a:endParaRPr lang="en-US" sz="2000" b="1" dirty="0">
              <a:solidFill>
                <a:srgbClr val="31313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70964" y="2752875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bg2"/>
                </a:solidFill>
              </a:rPr>
              <a:t>有哪几种</a:t>
            </a:r>
            <a:r>
              <a:rPr lang="en-US" altLang="zh-CN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？</a:t>
            </a: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70962" y="362245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工作的领域？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0961" y="453595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一般在哪些公司工作？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70964" y="540159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需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要哪些技能？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591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是做什么的？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219200" y="1508760"/>
            <a:ext cx="7467600" cy="4771585"/>
            <a:chOff x="1219200" y="1338627"/>
            <a:chExt cx="7467600" cy="4771585"/>
          </a:xfrm>
        </p:grpSpPr>
        <p:grpSp>
          <p:nvGrpSpPr>
            <p:cNvPr id="7" name="Group 6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25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rgbClr val="72C7E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7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8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166" y="1663510"/>
              <a:ext cx="611888" cy="566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Half Frame 13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76166" y="2282095"/>
              <a:ext cx="3410634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dirty="0">
                  <a:solidFill>
                    <a:srgbClr val="00A1DE"/>
                  </a:solidFill>
                </a:rPr>
                <a:t>Quant</a:t>
              </a:r>
              <a:r>
                <a:rPr lang="zh-CN" altLang="en-US" sz="2400" b="1" dirty="0">
                  <a:solidFill>
                    <a:srgbClr val="00A1DE"/>
                  </a:solidFill>
                </a:rPr>
                <a:t>的工作就是设计并实现金融的数学模型</a:t>
              </a:r>
              <a:endParaRPr lang="en-US" sz="2400" dirty="0">
                <a:solidFill>
                  <a:srgbClr val="00A1DE"/>
                </a:solidFill>
              </a:endParaRPr>
            </a:p>
          </p:txBody>
        </p:sp>
        <p:sp>
          <p:nvSpPr>
            <p:cNvPr id="18" name="Half Frame 17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5002216"/>
              <a:ext cx="2637317" cy="11079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衍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生物定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风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险估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预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测市场行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为</a:t>
              </a:r>
              <a:endParaRPr lang="en-US" sz="2400" dirty="0">
                <a:solidFill>
                  <a:srgbClr val="81BC00"/>
                </a:solidFill>
              </a:endParaRPr>
            </a:p>
          </p:txBody>
        </p:sp>
        <p:pic>
          <p:nvPicPr>
            <p:cNvPr id="24" name="Picture 5" descr="C:\Users\kknight\Desktop\green global 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977" y="4352868"/>
              <a:ext cx="500063" cy="500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0758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有哪几种</a:t>
            </a:r>
            <a:r>
              <a:rPr lang="en-US" altLang="zh-CN" sz="3000" dirty="0" smtClean="0">
                <a:solidFill>
                  <a:srgbClr val="575757"/>
                </a:solidFill>
              </a:rPr>
              <a:t>Quant </a:t>
            </a:r>
            <a:r>
              <a:rPr lang="zh-CN" altLang="en-US" sz="3000" dirty="0" smtClean="0">
                <a:solidFill>
                  <a:srgbClr val="575757"/>
                </a:solidFill>
              </a:rPr>
              <a:t>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/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25" name="Isosceles Triangle 9"/>
          <p:cNvSpPr/>
          <p:nvPr/>
        </p:nvSpPr>
        <p:spPr>
          <a:xfrm rot="7286374" flipV="1">
            <a:off x="4369943" y="2267970"/>
            <a:ext cx="177064" cy="546662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6" name="Isosceles Triangle 9"/>
          <p:cNvSpPr/>
          <p:nvPr/>
        </p:nvSpPr>
        <p:spPr>
          <a:xfrm rot="2891513">
            <a:off x="4807007" y="2208749"/>
            <a:ext cx="175131" cy="614285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298496"/>
              <a:gd name="connsiteY0" fmla="*/ 931740 h 1046998"/>
              <a:gd name="connsiteX1" fmla="*/ 137860 w 298496"/>
              <a:gd name="connsiteY1" fmla="*/ 0 h 1046998"/>
              <a:gd name="connsiteX2" fmla="*/ 270650 w 298496"/>
              <a:gd name="connsiteY2" fmla="*/ 1046997 h 1046998"/>
              <a:gd name="connsiteX3" fmla="*/ 0 w 298496"/>
              <a:gd name="connsiteY3" fmla="*/ 931740 h 104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96" h="1046998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0897" y="804997"/>
                  <a:pt x="270650" y="1046997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7" name="Isosceles Triangle 9"/>
          <p:cNvSpPr/>
          <p:nvPr/>
        </p:nvSpPr>
        <p:spPr>
          <a:xfrm rot="3443184">
            <a:off x="5060704" y="28770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8" name="Isosceles Triangle 9"/>
          <p:cNvSpPr/>
          <p:nvPr/>
        </p:nvSpPr>
        <p:spPr>
          <a:xfrm rot="16570907">
            <a:off x="4107551" y="30049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9" name="Isosceles Triangle 9"/>
          <p:cNvSpPr/>
          <p:nvPr/>
        </p:nvSpPr>
        <p:spPr>
          <a:xfrm rot="3443184">
            <a:off x="5053400" y="39819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0" name="Isosceles Triangle 9"/>
          <p:cNvSpPr/>
          <p:nvPr/>
        </p:nvSpPr>
        <p:spPr>
          <a:xfrm rot="16570907">
            <a:off x="4100247" y="41098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1" name="Isosceles Triangle 7"/>
          <p:cNvSpPr/>
          <p:nvPr/>
        </p:nvSpPr>
        <p:spPr>
          <a:xfrm>
            <a:off x="4387335" y="2134235"/>
            <a:ext cx="642305" cy="4266565"/>
          </a:xfrm>
          <a:custGeom>
            <a:avLst/>
            <a:gdLst>
              <a:gd name="connsiteX0" fmla="*/ 0 w 571817"/>
              <a:gd name="connsiteY0" fmla="*/ 3832225 h 3832225"/>
              <a:gd name="connsiteX1" fmla="*/ 285909 w 571817"/>
              <a:gd name="connsiteY1" fmla="*/ 0 h 3832225"/>
              <a:gd name="connsiteX2" fmla="*/ 571817 w 571817"/>
              <a:gd name="connsiteY2" fmla="*/ 3832225 h 3832225"/>
              <a:gd name="connsiteX3" fmla="*/ 0 w 571817"/>
              <a:gd name="connsiteY3" fmla="*/ 3832225 h 3832225"/>
              <a:gd name="connsiteX0" fmla="*/ 0 w 571817"/>
              <a:gd name="connsiteY0" fmla="*/ 4152265 h 4152265"/>
              <a:gd name="connsiteX1" fmla="*/ 316389 w 571817"/>
              <a:gd name="connsiteY1" fmla="*/ 0 h 4152265"/>
              <a:gd name="connsiteX2" fmla="*/ 571817 w 571817"/>
              <a:gd name="connsiteY2" fmla="*/ 4152265 h 4152265"/>
              <a:gd name="connsiteX3" fmla="*/ 0 w 571817"/>
              <a:gd name="connsiteY3" fmla="*/ 4152265 h 4152265"/>
              <a:gd name="connsiteX0" fmla="*/ 0 w 571817"/>
              <a:gd name="connsiteY0" fmla="*/ 4266565 h 4266565"/>
              <a:gd name="connsiteX1" fmla="*/ 202089 w 571817"/>
              <a:gd name="connsiteY1" fmla="*/ 0 h 4266565"/>
              <a:gd name="connsiteX2" fmla="*/ 571817 w 571817"/>
              <a:gd name="connsiteY2" fmla="*/ 4266565 h 4266565"/>
              <a:gd name="connsiteX3" fmla="*/ 0 w 571817"/>
              <a:gd name="connsiteY3" fmla="*/ 4266565 h 4266565"/>
              <a:gd name="connsiteX0" fmla="*/ 0 w 618752"/>
              <a:gd name="connsiteY0" fmla="*/ 4266565 h 4266565"/>
              <a:gd name="connsiteX1" fmla="*/ 202089 w 618752"/>
              <a:gd name="connsiteY1" fmla="*/ 0 h 4266565"/>
              <a:gd name="connsiteX2" fmla="*/ 571817 w 618752"/>
              <a:gd name="connsiteY2" fmla="*/ 4266565 h 4266565"/>
              <a:gd name="connsiteX3" fmla="*/ 0 w 618752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305" h="4266565">
                <a:moveTo>
                  <a:pt x="0" y="4266565"/>
                </a:moveTo>
                <a:cubicBezTo>
                  <a:pt x="326443" y="3126317"/>
                  <a:pt x="416666" y="1498388"/>
                  <a:pt x="202089" y="0"/>
                </a:cubicBezTo>
                <a:cubicBezTo>
                  <a:pt x="546312" y="1437428"/>
                  <a:pt x="760994" y="2730077"/>
                  <a:pt x="571817" y="4266565"/>
                </a:cubicBezTo>
                <a:lnTo>
                  <a:pt x="0" y="4266565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148473" y="3807559"/>
            <a:ext cx="1939280" cy="1939280"/>
          </a:xfrm>
          <a:prstGeom prst="ellipse">
            <a:avLst/>
          </a:prstGeom>
          <a:solidFill>
            <a:srgbClr val="B4B4B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17453" y="3220819"/>
            <a:ext cx="1939280" cy="1939280"/>
          </a:xfrm>
          <a:prstGeom prst="ellipse">
            <a:avLst/>
          </a:prstGeom>
          <a:solidFill>
            <a:srgbClr val="8C8C8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03932" y="1842403"/>
            <a:ext cx="1754553" cy="1754553"/>
          </a:xfrm>
          <a:prstGeom prst="ellipse">
            <a:avLst/>
          </a:prstGeom>
          <a:solidFill>
            <a:srgbClr val="575757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32782" y="2343542"/>
            <a:ext cx="1754553" cy="1754553"/>
          </a:xfrm>
          <a:prstGeom prst="ellipse">
            <a:avLst/>
          </a:prstGeom>
          <a:solidFill>
            <a:srgbClr val="DCDC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189360" y="1128416"/>
            <a:ext cx="1427974" cy="1427974"/>
          </a:xfrm>
          <a:prstGeom prst="ellipse">
            <a:avLst/>
          </a:prstGeom>
          <a:solidFill>
            <a:srgbClr val="00A1D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389945" y="1093262"/>
            <a:ext cx="1427974" cy="1427974"/>
          </a:xfrm>
          <a:prstGeom prst="ellipse">
            <a:avLst/>
          </a:prstGeom>
          <a:solidFill>
            <a:srgbClr val="00277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05972" y="2897653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313131"/>
                </a:solidFill>
              </a:rPr>
              <a:t>Research </a:t>
            </a:r>
            <a:r>
              <a:rPr lang="en-US" sz="1200" b="1" dirty="0" smtClean="0">
                <a:solidFill>
                  <a:srgbClr val="313131"/>
                </a:solidFill>
              </a:rPr>
              <a:t>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尝试发明新的价格公式和模型</a:t>
            </a:r>
            <a:endParaRPr lang="en-US" sz="1200" b="1" dirty="0">
              <a:solidFill>
                <a:srgbClr val="31313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38594" y="4314865"/>
            <a:ext cx="1606464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/>
              <a:t>Statistical </a:t>
            </a:r>
            <a:r>
              <a:rPr lang="en-US" sz="1200" b="1" dirty="0" smtClean="0"/>
              <a:t>Arbitrage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寻找自动交易系统的模式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5172588" y="2444138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Quant Developer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负责程序开发的的工程师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83861" y="3886200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Capital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建立银行的信用和资本模型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85456" y="1519237"/>
            <a:ext cx="956157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 dirty="0" smtClean="0">
                <a:solidFill>
                  <a:schemeClr val="bg1"/>
                </a:solidFill>
              </a:rPr>
              <a:t>Desk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开发直接被交易员使用的价格模型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432" y="1390946"/>
            <a:ext cx="1112909" cy="100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chemeClr val="bg1"/>
                </a:solidFill>
              </a:rPr>
              <a:t>Model </a:t>
            </a:r>
            <a:r>
              <a:rPr lang="en-US" sz="1200" b="1" dirty="0" smtClean="0">
                <a:solidFill>
                  <a:schemeClr val="bg1"/>
                </a:solidFill>
              </a:rPr>
              <a:t>Validating Quant 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确定</a:t>
            </a:r>
            <a:r>
              <a:rPr lang="en-US" sz="1200" dirty="0">
                <a:solidFill>
                  <a:schemeClr val="bg1"/>
                </a:solidFill>
              </a:rPr>
              <a:t>desk quant</a:t>
            </a:r>
            <a:r>
              <a:rPr lang="zh-CN" altLang="en-US" sz="1200" dirty="0">
                <a:solidFill>
                  <a:schemeClr val="bg1"/>
                </a:solidFill>
              </a:rPr>
              <a:t>开发的模型的正确性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9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工作的领域？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2098687" y="1376361"/>
            <a:ext cx="5054281" cy="833437"/>
            <a:chOff x="393700" y="1376363"/>
            <a:chExt cx="5054281" cy="833437"/>
          </a:xfrm>
        </p:grpSpPr>
        <p:sp>
          <p:nvSpPr>
            <p:cNvPr id="7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98687" y="2401092"/>
            <a:ext cx="5054281" cy="833437"/>
            <a:chOff x="393700" y="2392363"/>
            <a:chExt cx="5054281" cy="833437"/>
          </a:xfrm>
        </p:grpSpPr>
        <p:sp>
          <p:nvSpPr>
            <p:cNvPr id="10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98687" y="3425823"/>
            <a:ext cx="5054281" cy="833437"/>
            <a:chOff x="393700" y="3421063"/>
            <a:chExt cx="5054281" cy="833437"/>
          </a:xfrm>
        </p:grpSpPr>
        <p:sp>
          <p:nvSpPr>
            <p:cNvPr id="13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E9F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098687" y="4450554"/>
            <a:ext cx="5054281" cy="833437"/>
            <a:chOff x="393700" y="4481513"/>
            <a:chExt cx="5054281" cy="833437"/>
          </a:xfrm>
        </p:grpSpPr>
        <p:sp>
          <p:nvSpPr>
            <p:cNvPr id="16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98687" y="5475286"/>
            <a:ext cx="5054281" cy="833437"/>
            <a:chOff x="393700" y="5475288"/>
            <a:chExt cx="5054281" cy="833437"/>
          </a:xfrm>
        </p:grpSpPr>
        <p:sp>
          <p:nvSpPr>
            <p:cNvPr id="19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81237" y="1389061"/>
            <a:ext cx="631825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FX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237" y="2449003"/>
            <a:ext cx="14763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Equities 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81237" y="349040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Fixed income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81237" y="451275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Credit derivatives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1237" y="5685972"/>
            <a:ext cx="17811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Commodities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31" name="Half Frame 30"/>
          <p:cNvSpPr/>
          <p:nvPr/>
        </p:nvSpPr>
        <p:spPr>
          <a:xfrm rot="8142470">
            <a:off x="4455887" y="166439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70888" y="1516079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FX</a:t>
            </a:r>
            <a:r>
              <a:rPr lang="zh-CN" altLang="en-US" sz="1200" dirty="0">
                <a:solidFill>
                  <a:schemeClr val="tx2"/>
                </a:solidFill>
              </a:rPr>
              <a:t>就是外汇交易的简写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合同趋向于短期</a:t>
            </a:r>
            <a:r>
              <a:rPr lang="en-US" altLang="zh-CN" sz="1200" dirty="0">
                <a:solidFill>
                  <a:schemeClr val="tx2"/>
                </a:solidFill>
              </a:rPr>
              <a:t>,</a:t>
            </a:r>
            <a:r>
              <a:rPr lang="zh-CN" altLang="en-US" sz="1200" dirty="0">
                <a:solidFill>
                  <a:schemeClr val="tx2"/>
                </a:solidFill>
              </a:rPr>
              <a:t>大量的金额和简单的规定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3" name="Half Frame 32"/>
          <p:cNvSpPr/>
          <p:nvPr/>
        </p:nvSpPr>
        <p:spPr>
          <a:xfrm rot="8142470">
            <a:off x="4455887" y="26891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0888" y="2520786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股票和指数的期权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技术偏向于偏微分方程</a:t>
            </a:r>
            <a:r>
              <a:rPr lang="en-US" altLang="zh-CN" sz="1200" dirty="0">
                <a:solidFill>
                  <a:schemeClr val="tx2"/>
                </a:solidFill>
              </a:rPr>
              <a:t>(PDE)</a:t>
            </a:r>
            <a:r>
              <a:rPr lang="zh-CN" altLang="en-US" sz="1200" dirty="0">
                <a:solidFill>
                  <a:schemeClr val="tx2"/>
                </a:solidFill>
              </a:rPr>
              <a:t>和统计套利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5" name="Half Frame 34"/>
          <p:cNvSpPr/>
          <p:nvPr/>
        </p:nvSpPr>
        <p:spPr>
          <a:xfrm rot="8142470">
            <a:off x="4455887" y="3713857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70888" y="3452336"/>
            <a:ext cx="194584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Fixed income</a:t>
            </a:r>
            <a:r>
              <a:rPr lang="zh-CN" altLang="en-US" sz="1200" dirty="0">
                <a:solidFill>
                  <a:schemeClr val="tx2"/>
                </a:solidFill>
              </a:rPr>
              <a:t>的意思是基于利息的衍生物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这从市值上来说可能是最大的市场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他用到的数学会更加复</a:t>
            </a:r>
            <a:r>
              <a:rPr lang="zh-CN" altLang="en-US" sz="1200" dirty="0" smtClean="0">
                <a:solidFill>
                  <a:schemeClr val="tx2"/>
                </a:solidFill>
              </a:rPr>
              <a:t>杂</a:t>
            </a:r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37" name="Half Frame 36"/>
          <p:cNvSpPr/>
          <p:nvPr/>
        </p:nvSpPr>
        <p:spPr>
          <a:xfrm rot="8142470">
            <a:off x="4455887" y="473858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870887" y="4672087"/>
            <a:ext cx="194584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公司债务的衍生产品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结构化债券</a:t>
            </a:r>
            <a:r>
              <a:rPr lang="en-US" altLang="zh-CN" sz="1200" dirty="0">
                <a:solidFill>
                  <a:schemeClr val="bg2"/>
                </a:solidFill>
              </a:rPr>
              <a:t>, ABS MBS</a:t>
            </a:r>
            <a:r>
              <a:rPr lang="zh-CN" altLang="en-US" sz="1200" dirty="0">
                <a:solidFill>
                  <a:schemeClr val="bg2"/>
                </a:solidFill>
              </a:rPr>
              <a:t>等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9" name="Half Frame 38"/>
          <p:cNvSpPr/>
          <p:nvPr/>
        </p:nvSpPr>
        <p:spPr>
          <a:xfrm rot="8142470">
            <a:off x="4455887" y="57633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70888" y="5594980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</a:rPr>
              <a:t>Commodities</a:t>
            </a:r>
            <a:r>
              <a:rPr lang="zh-CN" altLang="en-US" sz="1200" dirty="0">
                <a:solidFill>
                  <a:schemeClr val="bg2"/>
                </a:solidFill>
              </a:rPr>
              <a:t>因为最近几年石油黄金价格的发福波动</a:t>
            </a:r>
            <a:r>
              <a:rPr lang="en-US" altLang="zh-CN" sz="1200" dirty="0">
                <a:solidFill>
                  <a:schemeClr val="bg2"/>
                </a:solidFill>
              </a:rPr>
              <a:t>,</a:t>
            </a:r>
            <a:r>
              <a:rPr lang="zh-CN" altLang="en-US" sz="1200" dirty="0">
                <a:solidFill>
                  <a:schemeClr val="bg2"/>
                </a:solidFill>
              </a:rPr>
              <a:t>也成为一个发展迅速的领域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020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一般在哪些公司工作？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4" y="1672210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rgbClr val="313131"/>
                </a:solidFill>
              </a:rPr>
              <a:t>投行 </a:t>
            </a:r>
            <a:r>
              <a:rPr lang="en-US" altLang="zh-CN" sz="1200" b="1" dirty="0">
                <a:solidFill>
                  <a:srgbClr val="313131"/>
                </a:solidFill>
              </a:rPr>
              <a:t>(</a:t>
            </a:r>
            <a:r>
              <a:rPr lang="zh-CN" altLang="en-US" sz="1200" b="1" dirty="0">
                <a:solidFill>
                  <a:srgbClr val="313131"/>
                </a:solidFill>
              </a:rPr>
              <a:t>高盛</a:t>
            </a:r>
            <a:r>
              <a:rPr lang="en-US" altLang="zh-CN" sz="1200" b="1" dirty="0">
                <a:solidFill>
                  <a:srgbClr val="313131"/>
                </a:solidFill>
              </a:rPr>
              <a:t>, MS, JPM)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rgbClr val="313131"/>
                </a:solidFill>
              </a:rPr>
              <a:t>投行需要大量的工作时间但工资很高</a:t>
            </a:r>
            <a:r>
              <a:rPr lang="en-US" altLang="zh-CN" sz="1200" dirty="0">
                <a:solidFill>
                  <a:srgbClr val="313131"/>
                </a:solidFill>
              </a:rPr>
              <a:t>. </a:t>
            </a:r>
            <a:r>
              <a:rPr lang="zh-CN" altLang="en-US" sz="1200" dirty="0">
                <a:solidFill>
                  <a:srgbClr val="313131"/>
                </a:solidFill>
              </a:rPr>
              <a:t>公司</a:t>
            </a:r>
            <a:r>
              <a:rPr lang="en-US" altLang="zh-CN" sz="1200" dirty="0">
                <a:solidFill>
                  <a:srgbClr val="313131"/>
                </a:solidFill>
              </a:rPr>
              <a:t>big name</a:t>
            </a:r>
            <a:r>
              <a:rPr lang="zh-CN" altLang="en-US" sz="1200" dirty="0">
                <a:solidFill>
                  <a:srgbClr val="313131"/>
                </a:solidFill>
              </a:rPr>
              <a:t>，适合职业发展起步，接受更全面的职业化训练，同时增添简历分量。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0964" y="2569775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对冲基金 </a:t>
            </a:r>
            <a:r>
              <a:rPr lang="en-US" altLang="zh-CN" sz="1200" b="1" dirty="0">
                <a:solidFill>
                  <a:schemeClr val="bg2"/>
                </a:solidFill>
              </a:rPr>
              <a:t>(Citadel Group)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对冲基金需要大量的工作时间和内容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公司相对银行规模较小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可以更贴近业务，所开发的策略会直接影响基金的</a:t>
            </a:r>
            <a:r>
              <a:rPr lang="en-US" altLang="zh-CN" sz="1200" dirty="0">
                <a:solidFill>
                  <a:schemeClr val="bg2"/>
                </a:solidFill>
              </a:rPr>
              <a:t>PNL</a:t>
            </a:r>
            <a:r>
              <a:rPr lang="zh-CN" altLang="en-US" sz="1200" dirty="0">
                <a:solidFill>
                  <a:schemeClr val="bg2"/>
                </a:solidFill>
              </a:rPr>
              <a:t>。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0964" y="3465183"/>
            <a:ext cx="635571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商业银行 </a:t>
            </a:r>
            <a:r>
              <a:rPr lang="en-US" altLang="zh-CN" sz="1200" b="1" dirty="0">
                <a:solidFill>
                  <a:schemeClr val="bg2"/>
                </a:solidFill>
              </a:rPr>
              <a:t>(HSBC, RBS)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商业银行的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工作大多侧重风控和合规部门，工作会比较稳定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0964" y="4382064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会计公司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大型会计公司会有自己的顾问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团队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主要的劣势在于你远离具体的行为和决策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距离产生利润的金融交易较远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0964" y="5279797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软件公司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外包</a:t>
            </a:r>
            <a:r>
              <a:rPr lang="en-US" altLang="zh-CN" sz="1200" dirty="0">
                <a:solidFill>
                  <a:schemeClr val="bg1"/>
                </a:solidFill>
              </a:rPr>
              <a:t>quant</a:t>
            </a:r>
            <a:r>
              <a:rPr lang="zh-CN" altLang="en-US" sz="1200" dirty="0">
                <a:solidFill>
                  <a:schemeClr val="bg1"/>
                </a:solidFill>
              </a:rPr>
              <a:t>模型变得越来越流行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所以你去软件公司也是一个选择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劣势和会计公司比较类似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另一类</a:t>
            </a:r>
            <a:r>
              <a:rPr lang="en-US" altLang="zh-CN" sz="1200" dirty="0">
                <a:solidFill>
                  <a:schemeClr val="bg1"/>
                </a:solidFill>
              </a:rPr>
              <a:t>IT</a:t>
            </a:r>
            <a:r>
              <a:rPr lang="zh-CN" altLang="en-US" sz="1200" dirty="0">
                <a:solidFill>
                  <a:schemeClr val="bg1"/>
                </a:solidFill>
              </a:rPr>
              <a:t>公司是类似</a:t>
            </a:r>
            <a:r>
              <a:rPr lang="en-US" altLang="zh-CN" sz="1200" dirty="0">
                <a:solidFill>
                  <a:schemeClr val="bg1"/>
                </a:solidFill>
              </a:rPr>
              <a:t>Bloomberg</a:t>
            </a:r>
            <a:r>
              <a:rPr lang="zh-CN" altLang="en-US" sz="1200" dirty="0">
                <a:solidFill>
                  <a:schemeClr val="bg1"/>
                </a:solidFill>
              </a:rPr>
              <a:t>的信息服务商，新员工的薪资水平较投资银行更高。</a:t>
            </a:r>
          </a:p>
        </p:txBody>
      </p:sp>
    </p:spTree>
    <p:extLst>
      <p:ext uri="{BB962C8B-B14F-4D97-AF65-F5344CB8AC3E}">
        <p14:creationId xmlns:p14="http://schemas.microsoft.com/office/powerpoint/2010/main" val="65348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altLang="zh-CN" sz="3000" b="0" dirty="0" smtClean="0">
                <a:solidFill>
                  <a:srgbClr val="81BC00"/>
                </a:solidFill>
              </a:rPr>
              <a:t/>
            </a:r>
            <a:br>
              <a:rPr lang="en-US" altLang="zh-CN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5. </a:t>
            </a:r>
            <a:r>
              <a:rPr lang="zh-CN" altLang="en-US" sz="3000" dirty="0">
                <a:solidFill>
                  <a:srgbClr val="575757"/>
                </a:solidFill>
              </a:rPr>
              <a:t>成为一个</a:t>
            </a:r>
            <a:r>
              <a:rPr lang="en-US" altLang="zh-CN" sz="3000" dirty="0">
                <a:solidFill>
                  <a:srgbClr val="575757"/>
                </a:solidFill>
              </a:rPr>
              <a:t>Quant</a:t>
            </a:r>
            <a:r>
              <a:rPr lang="zh-CN" altLang="en-US" sz="3000" dirty="0">
                <a:solidFill>
                  <a:srgbClr val="575757"/>
                </a:solidFill>
              </a:rPr>
              <a:t>需要哪些</a:t>
            </a:r>
            <a:r>
              <a:rPr lang="zh-CN" altLang="en-US" sz="3000" dirty="0" smtClean="0">
                <a:solidFill>
                  <a:srgbClr val="575757"/>
                </a:solidFill>
              </a:rPr>
              <a:t>知？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5867400" y="1481136"/>
            <a:ext cx="2376488" cy="2217737"/>
            <a:chOff x="6188075" y="1481137"/>
            <a:chExt cx="2376488" cy="2217737"/>
          </a:xfrm>
        </p:grpSpPr>
        <p:sp>
          <p:nvSpPr>
            <p:cNvPr id="49" name="Freeform 12"/>
            <p:cNvSpPr>
              <a:spLocks/>
            </p:cNvSpPr>
            <p:nvPr/>
          </p:nvSpPr>
          <p:spPr bwMode="blackWhite">
            <a:xfrm>
              <a:off x="6365875" y="148113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solidFill>
              <a:srgbClr val="00B0F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blackWhite">
            <a:xfrm>
              <a:off x="6188075" y="230981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solidFill>
              <a:srgbClr val="DCDCDC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1" name="Freeform 14"/>
            <p:cNvSpPr>
              <a:spLocks/>
            </p:cNvSpPr>
            <p:nvPr/>
          </p:nvSpPr>
          <p:spPr bwMode="blackWhite">
            <a:xfrm>
              <a:off x="7554913" y="190182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solidFill>
              <a:srgbClr val="81BC0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2" name="Rectangle 33"/>
            <p:cNvSpPr>
              <a:spLocks noChangeArrowheads="1"/>
            </p:cNvSpPr>
            <p:nvPr/>
          </p:nvSpPr>
          <p:spPr bwMode="blackWhite">
            <a:xfrm>
              <a:off x="7148511" y="1678465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数学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  <p:sp>
          <p:nvSpPr>
            <p:cNvPr id="53" name="Rectangle 37"/>
            <p:cNvSpPr>
              <a:spLocks noChangeArrowheads="1"/>
            </p:cNvSpPr>
            <p:nvPr/>
          </p:nvSpPr>
          <p:spPr bwMode="blackWhite">
            <a:xfrm>
              <a:off x="8044208" y="27222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chemeClr val="bg1"/>
                  </a:solidFill>
                </a:rPr>
                <a:t>金融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38"/>
            <p:cNvSpPr>
              <a:spLocks noChangeArrowheads="1"/>
            </p:cNvSpPr>
            <p:nvPr/>
          </p:nvSpPr>
          <p:spPr bwMode="blackWhite">
            <a:xfrm>
              <a:off x="6660206" y="29508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编程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85800" y="1295400"/>
            <a:ext cx="807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数学</a:t>
            </a:r>
          </a:p>
          <a:p>
            <a:r>
              <a:rPr lang="en-US" altLang="zh-CN" sz="1200" dirty="0" smtClean="0"/>
              <a:t>《</a:t>
            </a:r>
            <a:r>
              <a:rPr lang="zh-CN" altLang="en-US" sz="1200" dirty="0" smtClean="0"/>
              <a:t>傅立叶分析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复分析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 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动态资产定价理论：第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套利数学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Freddy </a:t>
            </a:r>
            <a:r>
              <a:rPr lang="en-US" sz="1200" dirty="0" err="1" smtClean="0"/>
              <a:t>Delbaen</a:t>
            </a:r>
            <a:r>
              <a:rPr lang="en-US" sz="1200" dirty="0" smtClean="0"/>
              <a:t>, Walter </a:t>
            </a:r>
            <a:r>
              <a:rPr lang="en-US" sz="1200" dirty="0" err="1" smtClean="0"/>
              <a:t>Schachermayer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初等概率论：第</a:t>
            </a:r>
            <a:r>
              <a:rPr lang="en-US" altLang="zh-CN" sz="1200" dirty="0" smtClean="0"/>
              <a:t>4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Kai Lai Chung，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概率和鞅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Williams.D</a:t>
            </a:r>
            <a:r>
              <a:rPr lang="en-US" sz="1200" dirty="0" smtClean="0"/>
              <a:t>.，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Introduction to Stochastic Integration》， </a:t>
            </a:r>
            <a:r>
              <a:rPr lang="en-US" sz="1200" dirty="0" err="1" smtClean="0"/>
              <a:t>H.Kuo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概率论和随机过程：第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Leonid </a:t>
            </a:r>
            <a:r>
              <a:rPr lang="en-US" sz="1200" dirty="0" err="1" smtClean="0"/>
              <a:t>B.Koralov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线性代数与矩阵论：第二版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，许以超，高等教育出版社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应用概率论：第二版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br>
              <a:rPr lang="zh-CN" altLang="en-US" sz="1200" dirty="0" smtClean="0"/>
            </a:br>
            <a:r>
              <a:rPr lang="zh-CN" altLang="en-US" sz="1200" b="1" dirty="0" smtClean="0"/>
              <a:t>金融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Options, Futures and other Derivatives：9th Edition》，John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投资学：第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Zvi</a:t>
            </a:r>
            <a:r>
              <a:rPr lang="en-US" sz="1200" dirty="0" smtClean="0"/>
              <a:t> </a:t>
            </a:r>
            <a:r>
              <a:rPr lang="en-US" sz="1200" dirty="0" err="1" smtClean="0"/>
              <a:t>Bodie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风险管理与金融机构：第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固定收益证券手册：第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Frank </a:t>
            </a:r>
            <a:r>
              <a:rPr lang="en-US" sz="1200" dirty="0" err="1" smtClean="0"/>
              <a:t>Fabozzi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《Statistical Arbitrage》，Andrew Pole</a:t>
            </a:r>
            <a:br>
              <a:rPr lang="en-US" sz="1200" dirty="0" smtClean="0"/>
            </a:br>
            <a:r>
              <a:rPr lang="en-US" sz="1200" dirty="0" smtClean="0"/>
              <a:t>《Stochastic Calculus for Finance I &amp; II》，Shreve</a:t>
            </a:r>
            <a:br>
              <a:rPr lang="en-US" sz="1200" dirty="0" smtClean="0"/>
            </a:br>
            <a:r>
              <a:rPr lang="en-US" sz="1200" dirty="0" smtClean="0"/>
              <a:t>《Mathematical Models of Financial Derivatives》，</a:t>
            </a:r>
            <a:r>
              <a:rPr lang="zh-CN" altLang="en-US" sz="1200" dirty="0" smtClean="0"/>
              <a:t>郭宇权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Dynamic Assets Pricing Theory》，Darrell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金融工程中的蒙特卡罗方法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Paul </a:t>
            </a:r>
            <a:r>
              <a:rPr lang="en-US" sz="1200" dirty="0" err="1" smtClean="0"/>
              <a:t>Glasserman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《The Volatility Surface》，Jim </a:t>
            </a:r>
            <a:r>
              <a:rPr lang="en-US" sz="1200" dirty="0" err="1" smtClean="0"/>
              <a:t>Gatheral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《Volatility Trading》，Sinclair</a:t>
            </a:r>
            <a:br>
              <a:rPr lang="en-US" sz="1200" dirty="0" smtClean="0"/>
            </a:br>
            <a:r>
              <a:rPr lang="en-US" sz="1200" dirty="0" smtClean="0"/>
              <a:t>《Option Volatility and Pricing》，Sheldon </a:t>
            </a:r>
            <a:r>
              <a:rPr lang="en-US" sz="1200" dirty="0" err="1" smtClean="0"/>
              <a:t>Natenberg</a:t>
            </a:r>
            <a:endParaRPr lang="en-US" sz="1200" dirty="0" smtClean="0"/>
          </a:p>
          <a:p>
            <a:r>
              <a:rPr lang="zh-CN" altLang="en-US" sz="1200" b="1" dirty="0" smtClean="0"/>
              <a:t>编程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C++ Primer </a:t>
            </a:r>
            <a:r>
              <a:rPr lang="zh-CN" altLang="en-US" sz="1200" dirty="0" smtClean="0"/>
              <a:t>第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Stanley </a:t>
            </a:r>
            <a:r>
              <a:rPr lang="en-US" sz="1200" dirty="0" err="1" smtClean="0"/>
              <a:t>B.Lippman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量化投资：以</a:t>
            </a:r>
            <a:r>
              <a:rPr lang="en-US" sz="1200" dirty="0" smtClean="0"/>
              <a:t>MATLAB</a:t>
            </a:r>
            <a:r>
              <a:rPr lang="zh-CN" altLang="en-US" sz="1200" dirty="0" smtClean="0"/>
              <a:t>为工具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，李洋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236548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针对大学期间的准备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15</a:t>
            </a:fld>
            <a:endParaRPr lang="en-GB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6074336"/>
              </p:ext>
            </p:extLst>
          </p:nvPr>
        </p:nvGraphicFramePr>
        <p:xfrm>
          <a:off x="2815671" y="2961949"/>
          <a:ext cx="3512024" cy="2640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6"/>
          <p:cNvGrpSpPr>
            <a:grpSpLocks noChangeAspect="1"/>
          </p:cNvGrpSpPr>
          <p:nvPr/>
        </p:nvGrpSpPr>
        <p:grpSpPr>
          <a:xfrm rot="18900000">
            <a:off x="4160203" y="2554391"/>
            <a:ext cx="822960" cy="822960"/>
            <a:chOff x="7606853" y="246063"/>
            <a:chExt cx="896937" cy="896937"/>
          </a:xfrm>
          <a:solidFill>
            <a:srgbClr val="DCDCDC"/>
          </a:solidFill>
        </p:grpSpPr>
        <p:sp>
          <p:nvSpPr>
            <p:cNvPr id="8" name="Teardrop 7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8C8C8C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597" y="2874431"/>
            <a:ext cx="260819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 rot="11700000">
            <a:off x="3074324" y="4520351"/>
            <a:ext cx="822960" cy="822960"/>
            <a:chOff x="7606853" y="246063"/>
            <a:chExt cx="896937" cy="896937"/>
          </a:xfrm>
          <a:solidFill>
            <a:srgbClr val="575757">
              <a:alpha val="50196"/>
            </a:srgbClr>
          </a:solidFill>
        </p:grpSpPr>
        <p:sp>
          <p:nvSpPr>
            <p:cNvPr id="12" name="Teardrop 11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575757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436" y="4850066"/>
            <a:ext cx="401617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>
            <a:grpSpLocks noChangeAspect="1"/>
          </p:cNvGrpSpPr>
          <p:nvPr/>
        </p:nvGrpSpPr>
        <p:grpSpPr>
          <a:xfrm rot="4776862">
            <a:off x="5206052" y="4572743"/>
            <a:ext cx="822960" cy="822960"/>
            <a:chOff x="7606853" y="246063"/>
            <a:chExt cx="896937" cy="896937"/>
          </a:xfrm>
          <a:solidFill>
            <a:srgbClr val="72C7E7"/>
          </a:solidFill>
        </p:grpSpPr>
        <p:sp>
          <p:nvSpPr>
            <p:cNvPr id="16" name="Teardrop 15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00A1DE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11" y="4850066"/>
            <a:ext cx="303041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2981845" y="1303417"/>
            <a:ext cx="3362325" cy="1097280"/>
          </a:xfrm>
          <a:prstGeom prst="roundRect">
            <a:avLst>
              <a:gd name="adj" fmla="val 10178"/>
            </a:avLst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707" y="1405781"/>
            <a:ext cx="3146601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实习</a:t>
            </a:r>
          </a:p>
          <a:p>
            <a:pPr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应届毕业生的简历相似度很高，课程相同，</a:t>
            </a:r>
            <a:r>
              <a:rPr lang="en-US" altLang="zh-CN" sz="1200" dirty="0">
                <a:solidFill>
                  <a:schemeClr val="bg1"/>
                </a:solidFill>
              </a:rPr>
              <a:t>GPA</a:t>
            </a:r>
            <a:r>
              <a:rPr lang="zh-CN" altLang="en-US" sz="1200" dirty="0">
                <a:solidFill>
                  <a:schemeClr val="bg1"/>
                </a:solidFill>
              </a:rPr>
              <a:t>类似，独特且相关的实习经历是通过简历筛选的重点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830" y="5029200"/>
            <a:ext cx="2571539" cy="1371600"/>
          </a:xfrm>
          <a:prstGeom prst="roundRect">
            <a:avLst>
              <a:gd name="adj" fmla="val 10178"/>
            </a:avLst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5967" y="5145614"/>
            <a:ext cx="2351533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专业证书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FRM  Financial Risk Manager</a:t>
            </a:r>
            <a:endParaRPr lang="en-US" sz="1200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CFA</a:t>
            </a:r>
            <a:r>
              <a:rPr lang="zh-CN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Chartered Financial Analyst	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8831" y="5029200"/>
            <a:ext cx="2650674" cy="1371600"/>
          </a:xfrm>
          <a:prstGeom prst="roundRect">
            <a:avLst>
              <a:gd name="adj" fmla="val 10178"/>
            </a:avLst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09798" y="5176391"/>
            <a:ext cx="240874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 smtClean="0">
                <a:solidFill>
                  <a:schemeClr val="bg1"/>
                </a:solidFill>
              </a:rPr>
              <a:t>提早准备</a:t>
            </a:r>
            <a:endParaRPr lang="en-US" altLang="zh-CN" sz="1200" b="1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bg1"/>
                </a:solidFill>
              </a:rPr>
              <a:t>在</a:t>
            </a:r>
            <a:r>
              <a:rPr lang="zh-CN" altLang="en-US" sz="1200" dirty="0">
                <a:solidFill>
                  <a:schemeClr val="bg1"/>
                </a:solidFill>
              </a:rPr>
              <a:t>到达美国前准备好求职简历与求职信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9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如何有效寻找暑期实习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16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755899" y="1508760"/>
            <a:ext cx="5638551" cy="5017770"/>
            <a:chOff x="1755899" y="1327468"/>
            <a:chExt cx="5638551" cy="5017770"/>
          </a:xfrm>
        </p:grpSpPr>
        <p:sp>
          <p:nvSpPr>
            <p:cNvPr id="7" name="Rounded Rectangle 23"/>
            <p:cNvSpPr/>
            <p:nvPr/>
          </p:nvSpPr>
          <p:spPr>
            <a:xfrm>
              <a:off x="4575175" y="3916591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BDD203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8" name="Rounded Rectangle 23"/>
            <p:cNvSpPr/>
            <p:nvPr/>
          </p:nvSpPr>
          <p:spPr>
            <a:xfrm>
              <a:off x="4575175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0" name="Rounded Rectangle 23"/>
            <p:cNvSpPr/>
            <p:nvPr/>
          </p:nvSpPr>
          <p:spPr>
            <a:xfrm flipH="1">
              <a:off x="1755900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2776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247" y="2874139"/>
              <a:ext cx="731520" cy="7315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712" y="2874139"/>
              <a:ext cx="731520" cy="73152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2699450" y="2869267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通过校友网络积极联系行业内校友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18569" y="4247744"/>
              <a:ext cx="1619116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This is dummy text it is not here to be read. This is dummy </a:t>
              </a:r>
              <a:r>
                <a:rPr lang="en-US" sz="1100" dirty="0" smtClean="0">
                  <a:solidFill>
                    <a:schemeClr val="bg1"/>
                  </a:solidFill>
                </a:rPr>
                <a:t>text.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6971" y="3019108"/>
              <a:ext cx="183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chemeClr val="bg1"/>
                  </a:solidFill>
                </a:rPr>
                <a:t>通过</a:t>
              </a:r>
              <a:r>
                <a:rPr lang="en-US" sz="2000" dirty="0" err="1">
                  <a:solidFill>
                    <a:schemeClr val="bg1"/>
                  </a:solidFill>
                </a:rPr>
                <a:t>linkedIn</a:t>
              </a:r>
              <a:r>
                <a:rPr lang="zh-CN" altLang="en-US" sz="2000" dirty="0">
                  <a:solidFill>
                    <a:schemeClr val="bg1"/>
                  </a:solidFill>
                </a:rPr>
                <a:t>等求职社交网站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12670" y="4268255"/>
              <a:ext cx="164211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与从业者</a:t>
              </a:r>
              <a:endParaRPr lang="en-US" altLang="zh-CN" sz="2000" dirty="0" smtClean="0">
                <a:solidFill>
                  <a:schemeClr val="bg1"/>
                </a:solidFill>
              </a:endParaRPr>
            </a:p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取得联系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8" name="Rounded Rectangle 23"/>
            <p:cNvSpPr/>
            <p:nvPr/>
          </p:nvSpPr>
          <p:spPr>
            <a:xfrm flipH="1">
              <a:off x="1755899" y="1327468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8C8C8C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99450" y="1609858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使用学校就业服务中心的资源</a:t>
              </a:r>
            </a:p>
          </p:txBody>
        </p:sp>
        <p:pic>
          <p:nvPicPr>
            <p:cNvPr id="20" name="Picture 19" descr="33.emf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2004766" y="1609858"/>
              <a:ext cx="588968" cy="545742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6716966" y="4270369"/>
              <a:ext cx="514936" cy="522541"/>
              <a:chOff x="7775298" y="4300210"/>
              <a:chExt cx="340038" cy="345060"/>
            </a:xfrm>
          </p:grpSpPr>
          <p:pic>
            <p:nvPicPr>
              <p:cNvPr id="22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2024" y="4300210"/>
                <a:ext cx="231650" cy="226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5298" y="4529287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67128">
                <a:off x="7899965" y="4509191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6859" y="4435799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548121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743200"/>
            <a:ext cx="7538913" cy="609600"/>
          </a:xfrm>
        </p:spPr>
        <p:txBody>
          <a:bodyPr>
            <a:noAutofit/>
          </a:bodyPr>
          <a:lstStyle/>
          <a:p>
            <a:pPr marL="0" lvl="1" indent="0" algn="ctr">
              <a:spcBef>
                <a:spcPts val="1800"/>
              </a:spcBef>
              <a:buNone/>
            </a:pPr>
            <a:r>
              <a:rPr lang="en-US" altLang="zh-CN" sz="4000" dirty="0" smtClean="0"/>
              <a:t>Thank You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967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ToHIAxeUCN409zUPYAy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lDkolMcUKGgzeSx1HD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143N_eBf0ehaw0dhb2zw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DS9h7DZN0G3q8RFX9VYQ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svafSJW0CLJCHMAKvKd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1666</Words>
  <Application>Microsoft Office PowerPoint</Application>
  <PresentationFormat>On-screen Show (4:3)</PresentationFormat>
  <Paragraphs>196</Paragraphs>
  <Slides>17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量化金融专业职业发展指导 </vt:lpstr>
      <vt:lpstr>Contents</vt:lpstr>
      <vt:lpstr>量化金融行业就业前景 </vt:lpstr>
      <vt:lpstr>量化金融行业概况 什么是量化金融（计量金融学、数学金融学）</vt:lpstr>
      <vt:lpstr>量化金融行业概况 1.交易策略研究</vt:lpstr>
      <vt:lpstr>量化金融行业概况 2.衍生品定价</vt:lpstr>
      <vt:lpstr>量化金融行业概况 3. 风险管理</vt:lpstr>
      <vt:lpstr>量化金融行业概况 4.高频交易</vt:lpstr>
      <vt:lpstr>Quant的职业发展  </vt:lpstr>
      <vt:lpstr>Quant的职业发展  1. Quant是做什么的？ </vt:lpstr>
      <vt:lpstr>Quant的职业发展  2.有哪几种Quant ？  </vt:lpstr>
      <vt:lpstr>Quant的职业发展  3. Quant工作的领域？</vt:lpstr>
      <vt:lpstr>Quant的职业发展  4. Quant一般在哪些公司工作？</vt:lpstr>
      <vt:lpstr>Quant的职业发展 5. 成为一个Quant需要哪些知？  </vt:lpstr>
      <vt:lpstr>就业准备 针对大学期间的准备</vt:lpstr>
      <vt:lpstr>就业准备 如何有效寻找暑期实习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40</cp:revision>
  <dcterms:created xsi:type="dcterms:W3CDTF">2016-04-18T14:34:02Z</dcterms:created>
  <dcterms:modified xsi:type="dcterms:W3CDTF">2018-02-05T15:09:50Z</dcterms:modified>
</cp:coreProperties>
</file>