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3"/>
  </p:notesMasterIdLst>
  <p:sldIdLst>
    <p:sldId id="282" r:id="rId2"/>
    <p:sldId id="295" r:id="rId3"/>
    <p:sldId id="285" r:id="rId4"/>
    <p:sldId id="287" r:id="rId5"/>
    <p:sldId id="296" r:id="rId6"/>
    <p:sldId id="288" r:id="rId7"/>
    <p:sldId id="264" r:id="rId8"/>
    <p:sldId id="265" r:id="rId9"/>
    <p:sldId id="266" r:id="rId10"/>
    <p:sldId id="267" r:id="rId11"/>
    <p:sldId id="289" r:id="rId12"/>
    <p:sldId id="269" r:id="rId13"/>
    <p:sldId id="290" r:id="rId14"/>
    <p:sldId id="271" r:id="rId15"/>
    <p:sldId id="272" r:id="rId16"/>
    <p:sldId id="273" r:id="rId17"/>
    <p:sldId id="291" r:id="rId18"/>
    <p:sldId id="275" r:id="rId19"/>
    <p:sldId id="292" r:id="rId20"/>
    <p:sldId id="294" r:id="rId21"/>
    <p:sldId id="297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2208" y="-14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00A1DE"/>
              </a:solidFill>
            </c:spPr>
          </c:dPt>
          <c:dPt>
            <c:idx val="1"/>
            <c:bubble3D val="0"/>
            <c:spPr>
              <a:solidFill>
                <a:srgbClr val="575757"/>
              </a:solidFill>
            </c:spPr>
          </c:dPt>
          <c:dPt>
            <c:idx val="2"/>
            <c:bubble3D val="0"/>
            <c:spPr>
              <a:solidFill>
                <a:srgbClr val="8C8C8C"/>
              </a:solidFill>
            </c:spPr>
          </c:dPt>
          <c:dPt>
            <c:idx val="3"/>
            <c:bubble3D val="0"/>
            <c:spPr>
              <a:solidFill>
                <a:schemeClr val="bg1">
                  <a:lumMod val="75000"/>
                </a:schemeClr>
              </a:solidFill>
            </c:spPr>
          </c:dPt>
          <c:cat>
            <c:strRef>
              <c:f>Sheet1!$A$2:$A$4</c:f>
              <c:strCache>
                <c:ptCount val="3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0.3</c:v>
                </c:pt>
                <c:pt idx="1">
                  <c:v>0.3</c:v>
                </c:pt>
                <c:pt idx="2">
                  <c:v>0.3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5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521030-8CA8-49C5-B1AC-310260DF05FF}" type="datetimeFigureOut">
              <a:rPr lang="en-US" smtClean="0"/>
              <a:t>4/28/2016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28FB95-5D03-4628-9268-225DB07392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735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0407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0407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0407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0407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0407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0407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0407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0407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0407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0407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0407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0407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0407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0407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0407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0407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0407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0407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F4BFD-551F-4DB6-92BF-93BF2A1D86C3}" type="datetimeFigureOut">
              <a:rPr lang="en-US" smtClean="0"/>
              <a:t>4/28/2016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2652-73EC-4C2F-AE41-3A427EE57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488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F4BFD-551F-4DB6-92BF-93BF2A1D86C3}" type="datetimeFigureOut">
              <a:rPr lang="en-US" smtClean="0"/>
              <a:t>4/28/2016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2652-73EC-4C2F-AE41-3A427EE57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706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F4BFD-551F-4DB6-92BF-93BF2A1D86C3}" type="datetimeFigureOut">
              <a:rPr lang="en-US" smtClean="0"/>
              <a:t>4/28/2016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2652-73EC-4C2F-AE41-3A427EE57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602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F4BFD-551F-4DB6-92BF-93BF2A1D86C3}" type="datetimeFigureOut">
              <a:rPr lang="en-US" smtClean="0"/>
              <a:t>4/28/2016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2652-73EC-4C2F-AE41-3A427EE57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332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F4BFD-551F-4DB6-92BF-93BF2A1D86C3}" type="datetimeFigureOut">
              <a:rPr lang="en-US" smtClean="0"/>
              <a:t>4/28/2016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2652-73EC-4C2F-AE41-3A427EE57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976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F4BFD-551F-4DB6-92BF-93BF2A1D86C3}" type="datetimeFigureOut">
              <a:rPr lang="en-US" smtClean="0"/>
              <a:t>4/28/2016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2652-73EC-4C2F-AE41-3A427EE57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384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F4BFD-551F-4DB6-92BF-93BF2A1D86C3}" type="datetimeFigureOut">
              <a:rPr lang="en-US" smtClean="0"/>
              <a:t>4/28/2016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2652-73EC-4C2F-AE41-3A427EE57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7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F4BFD-551F-4DB6-92BF-93BF2A1D86C3}" type="datetimeFigureOut">
              <a:rPr lang="en-US" smtClean="0"/>
              <a:t>4/28/2016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2652-73EC-4C2F-AE41-3A427EE57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690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F4BFD-551F-4DB6-92BF-93BF2A1D86C3}" type="datetimeFigureOut">
              <a:rPr lang="en-US" smtClean="0"/>
              <a:t>4/28/2016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2652-73EC-4C2F-AE41-3A427EE57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09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F4BFD-551F-4DB6-92BF-93BF2A1D86C3}" type="datetimeFigureOut">
              <a:rPr lang="en-US" smtClean="0"/>
              <a:t>4/28/2016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2652-73EC-4C2F-AE41-3A427EE57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887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F4BFD-551F-4DB6-92BF-93BF2A1D86C3}" type="datetimeFigureOut">
              <a:rPr lang="en-US" smtClean="0"/>
              <a:t>4/28/2016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2652-73EC-4C2F-AE41-3A427EE57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6958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370113" y="765175"/>
            <a:ext cx="8388000" cy="969282"/>
          </a:xfrm>
        </p:spPr>
        <p:txBody>
          <a:bodyPr>
            <a:normAutofit/>
          </a:bodyPr>
          <a:lstStyle>
            <a:lvl1pPr marL="0" indent="0">
              <a:buNone/>
              <a:defRPr sz="3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370113" y="295683"/>
            <a:ext cx="8388000" cy="46949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4"/>
          </p:nvPr>
        </p:nvSpPr>
        <p:spPr>
          <a:xfrm>
            <a:off x="370800" y="1810800"/>
            <a:ext cx="8388000" cy="4536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0113" y="6407835"/>
            <a:ext cx="7559473" cy="252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800" b="0">
                <a:solidFill>
                  <a:srgbClr val="8C8C8C"/>
                </a:solidFill>
              </a:defRPr>
            </a:lvl1pPr>
          </a:lstStyle>
          <a:p>
            <a:r>
              <a:rPr lang="en-GB" smtClean="0"/>
              <a:t>Member Firms and DTTL: Insert appropriate copyright (Go Header &amp; Footer to edit this text)</a:t>
            </a:r>
            <a:endParaRPr lang="en-GB" dirty="0"/>
          </a:p>
        </p:txBody>
      </p:sp>
      <p:sp>
        <p:nvSpPr>
          <p:cNvPr id="6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7971996" y="6407835"/>
            <a:ext cx="792088" cy="252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800" b="0">
                <a:solidFill>
                  <a:srgbClr val="8C8C8C"/>
                </a:solidFill>
              </a:defRPr>
            </a:lvl1pPr>
          </a:lstStyle>
          <a:p>
            <a:fld id="{95CC1D26-A9BD-4BDE-BDD9-08EDBAE9686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4813682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ntents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0113" y="1622411"/>
            <a:ext cx="8388000" cy="4536504"/>
          </a:xfrm>
        </p:spPr>
        <p:txBody>
          <a:bodyPr>
            <a:normAutofit/>
          </a:bodyPr>
          <a:lstStyle>
            <a:lvl1pPr marL="0" indent="0">
              <a:spcBef>
                <a:spcPts val="1800"/>
              </a:spcBef>
              <a:spcAft>
                <a:spcPts val="0"/>
              </a:spcAft>
              <a:buNone/>
              <a:defRPr sz="2000" b="0">
                <a:solidFill>
                  <a:schemeClr val="bg1"/>
                </a:solidFill>
              </a:defRPr>
            </a:lvl1pPr>
            <a:lvl2pPr marL="268288" indent="-268288"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•"/>
              <a:tabLst/>
              <a:defRPr sz="2000" b="0">
                <a:solidFill>
                  <a:schemeClr val="bg1"/>
                </a:solidFill>
              </a:defRPr>
            </a:lvl2pPr>
            <a:lvl3pPr marL="274638" indent="-274638"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•"/>
              <a:defRPr sz="2000" b="0">
                <a:solidFill>
                  <a:schemeClr val="bg1"/>
                </a:solidFill>
              </a:defRPr>
            </a:lvl3pPr>
            <a:lvl4pPr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•"/>
              <a:defRPr sz="2000" b="0">
                <a:solidFill>
                  <a:schemeClr val="bg1"/>
                </a:solidFill>
              </a:defRPr>
            </a:lvl4pPr>
            <a:lvl5pPr marL="441325" indent="-176213"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•"/>
              <a:defRPr sz="2000" b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16" name="Title Placeholder 1"/>
          <p:cNvSpPr>
            <a:spLocks noGrp="1"/>
          </p:cNvSpPr>
          <p:nvPr>
            <p:ph type="title"/>
          </p:nvPr>
        </p:nvSpPr>
        <p:spPr>
          <a:xfrm>
            <a:off x="370113" y="179571"/>
            <a:ext cx="8388000" cy="144141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>
              <a:defRPr sz="4500">
                <a:solidFill>
                  <a:schemeClr val="accent3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19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7971996" y="6407835"/>
            <a:ext cx="792088" cy="252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800" b="0">
                <a:solidFill>
                  <a:schemeClr val="bg1"/>
                </a:solidFill>
              </a:defRPr>
            </a:lvl1pPr>
          </a:lstStyle>
          <a:p>
            <a:fld id="{95CC1D26-A9BD-4BDE-BDD9-08EDBAE9686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0113" y="6407835"/>
            <a:ext cx="7559473" cy="252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800" b="0">
                <a:solidFill>
                  <a:schemeClr val="bg1"/>
                </a:solidFill>
              </a:defRPr>
            </a:lvl1pPr>
          </a:lstStyle>
          <a:p>
            <a:r>
              <a:rPr lang="en-GB" smtClean="0"/>
              <a:t>Member Firms and DTTL: Insert appropriate copyright (Go Header &amp; Footer to edit this text)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8848532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2F4BFD-551F-4DB6-92BF-93BF2A1D86C3}" type="datetimeFigureOut">
              <a:rPr lang="en-US" smtClean="0"/>
              <a:t>4/28/2016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F82652-73EC-4C2F-AE41-3A427EE57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44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4" Type="http://schemas.openxmlformats.org/officeDocument/2006/relationships/notesSlide" Target="../notesSlides/notesSlide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7.e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emf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lue di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145658"/>
            <a:ext cx="3925773" cy="5712343"/>
          </a:xfrm>
          <a:prstGeom prst="rect">
            <a:avLst/>
          </a:prstGeom>
        </p:spPr>
      </p:pic>
      <p:sp>
        <p:nvSpPr>
          <p:cNvPr id="121873" name="Rectangle 17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2800" dirty="0">
                <a:solidFill>
                  <a:schemeClr val="tx2"/>
                </a:solidFill>
              </a:rPr>
              <a:t>量化金融专业职业发展指导</a:t>
            </a:r>
            <a:r>
              <a:rPr lang="en-GB" sz="2800" dirty="0">
                <a:solidFill>
                  <a:schemeClr val="tx2"/>
                </a:solidFill>
              </a:rPr>
              <a:t/>
            </a:r>
            <a:br>
              <a:rPr lang="en-GB" sz="2800" dirty="0">
                <a:solidFill>
                  <a:schemeClr val="tx2"/>
                </a:solidFill>
              </a:rPr>
            </a:br>
            <a:endParaRPr lang="en-US" sz="2800" dirty="0">
              <a:solidFill>
                <a:schemeClr val="tx2"/>
              </a:solidFill>
            </a:endParaRPr>
          </a:p>
        </p:txBody>
      </p:sp>
      <p:sp>
        <p:nvSpPr>
          <p:cNvPr id="121874" name="Rectangle 18"/>
          <p:cNvSpPr>
            <a:spLocks noGrp="1"/>
          </p:cNvSpPr>
          <p:nvPr>
            <p:ph type="subTitle" idx="1"/>
          </p:nvPr>
        </p:nvSpPr>
        <p:spPr>
          <a:xfrm>
            <a:off x="685800" y="2971800"/>
            <a:ext cx="6400800" cy="1752600"/>
          </a:xfrm>
        </p:spPr>
        <p:txBody>
          <a:bodyPr>
            <a:normAutofit/>
          </a:bodyPr>
          <a:lstStyle/>
          <a:p>
            <a:pPr algn="l"/>
            <a:r>
              <a:rPr lang="en-US" sz="1800" dirty="0" smtClean="0"/>
              <a:t>2016 - 04</a:t>
            </a: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3663079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219199" y="1622411"/>
            <a:ext cx="7538913" cy="4536504"/>
          </a:xfrm>
        </p:spPr>
        <p:txBody>
          <a:bodyPr>
            <a:normAutofit/>
          </a:bodyPr>
          <a:lstStyle/>
          <a:p>
            <a:pPr marL="0" lvl="1" indent="0">
              <a:spcBef>
                <a:spcPts val="1800"/>
              </a:spcBef>
              <a:buNone/>
            </a:pPr>
            <a:r>
              <a:rPr lang="zh-CN" altLang="en-US" dirty="0"/>
              <a:t>讲师个人背</a:t>
            </a:r>
            <a:r>
              <a:rPr lang="zh-CN" altLang="en-US" dirty="0" smtClean="0"/>
              <a:t>景</a:t>
            </a:r>
            <a:endParaRPr lang="en-US" altLang="zh-CN" dirty="0" smtClean="0"/>
          </a:p>
          <a:p>
            <a:pPr marL="0" lvl="1" indent="0">
              <a:spcBef>
                <a:spcPts val="1800"/>
              </a:spcBef>
              <a:buNone/>
            </a:pPr>
            <a:r>
              <a:rPr lang="zh-CN" altLang="en-US" dirty="0"/>
              <a:t>量化金融行业概</a:t>
            </a:r>
            <a:r>
              <a:rPr lang="zh-CN" altLang="en-US" dirty="0" smtClean="0"/>
              <a:t>况</a:t>
            </a:r>
            <a:endParaRPr lang="en-US" altLang="zh-CN" dirty="0" smtClean="0"/>
          </a:p>
          <a:p>
            <a:pPr marL="0" lvl="1" indent="0">
              <a:spcBef>
                <a:spcPts val="1800"/>
              </a:spcBef>
              <a:buNone/>
            </a:pPr>
            <a:r>
              <a:rPr lang="en-US" dirty="0"/>
              <a:t>Quant</a:t>
            </a:r>
            <a:r>
              <a:rPr lang="zh-CN" altLang="en-US" dirty="0"/>
              <a:t>的职业发</a:t>
            </a:r>
            <a:r>
              <a:rPr lang="zh-CN" altLang="en-US" dirty="0" smtClean="0"/>
              <a:t>展</a:t>
            </a:r>
            <a:endParaRPr lang="en-US" altLang="zh-CN" dirty="0" smtClean="0"/>
          </a:p>
          <a:p>
            <a:pPr marL="0" lvl="1" indent="0">
              <a:spcBef>
                <a:spcPts val="1800"/>
              </a:spcBef>
              <a:buNone/>
            </a:pPr>
            <a:r>
              <a:rPr lang="zh-CN" altLang="en-US" dirty="0"/>
              <a:t>就业准</a:t>
            </a:r>
            <a:r>
              <a:rPr lang="zh-CN" altLang="en-US" dirty="0" smtClean="0"/>
              <a:t>备</a:t>
            </a:r>
            <a:endParaRPr lang="en-US" altLang="zh-CN" dirty="0" smtClean="0"/>
          </a:p>
          <a:p>
            <a:pPr marL="0" lvl="1" indent="0">
              <a:spcBef>
                <a:spcPts val="1800"/>
              </a:spcBef>
              <a:buNone/>
            </a:pPr>
            <a:r>
              <a:rPr lang="zh-CN" altLang="en-US" dirty="0"/>
              <a:t>美国工作签证及移民</a:t>
            </a:r>
            <a:br>
              <a:rPr lang="zh-CN" altLang="en-US" dirty="0"/>
            </a:b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370113" y="179571"/>
            <a:ext cx="8388000" cy="887229"/>
          </a:xfrm>
        </p:spPr>
        <p:txBody>
          <a:bodyPr>
            <a:normAutofit/>
          </a:bodyPr>
          <a:lstStyle/>
          <a:p>
            <a:r>
              <a:rPr lang="en-US" sz="3000" dirty="0" smtClean="0"/>
              <a:t>Contents</a:t>
            </a:r>
            <a:endParaRPr lang="en-US" sz="3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618719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sz="3000" dirty="0">
                <a:solidFill>
                  <a:srgbClr val="81BC00"/>
                </a:solidFill>
              </a:rPr>
              <a:t>讲</a:t>
            </a:r>
            <a:r>
              <a:rPr lang="zh-CN" altLang="en-US" sz="3000" dirty="0" smtClean="0">
                <a:solidFill>
                  <a:srgbClr val="81BC00"/>
                </a:solidFill>
              </a:rPr>
              <a:t>师个人背景</a:t>
            </a:r>
            <a:r>
              <a:rPr lang="en-US" sz="3000" b="0" dirty="0" smtClean="0">
                <a:solidFill>
                  <a:srgbClr val="81BC00"/>
                </a:solidFill>
              </a:rPr>
              <a:t> </a:t>
            </a:r>
            <a:br>
              <a:rPr lang="en-US" sz="3000" b="0" dirty="0" smtClean="0">
                <a:solidFill>
                  <a:srgbClr val="81BC00"/>
                </a:solidFill>
              </a:rPr>
            </a:br>
            <a:r>
              <a:rPr lang="zh-CN" altLang="en-US" sz="3000" b="0" dirty="0" smtClean="0">
                <a:solidFill>
                  <a:srgbClr val="575757"/>
                </a:solidFill>
              </a:rPr>
              <a:t>教育经历</a:t>
            </a:r>
            <a:endParaRPr lang="en-US" sz="3000" b="0" dirty="0" smtClean="0">
              <a:solidFill>
                <a:srgbClr val="575757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6" name="Freeform 5"/>
          <p:cNvSpPr/>
          <p:nvPr/>
        </p:nvSpPr>
        <p:spPr>
          <a:xfrm>
            <a:off x="2978130" y="2081930"/>
            <a:ext cx="1135380" cy="1874520"/>
          </a:xfrm>
          <a:custGeom>
            <a:avLst/>
            <a:gdLst>
              <a:gd name="connsiteX0" fmla="*/ 403860 w 1135380"/>
              <a:gd name="connsiteY0" fmla="*/ 0 h 1790700"/>
              <a:gd name="connsiteX1" fmla="*/ 403860 w 1135380"/>
              <a:gd name="connsiteY1" fmla="*/ 0 h 1790700"/>
              <a:gd name="connsiteX2" fmla="*/ 0 w 1135380"/>
              <a:gd name="connsiteY2" fmla="*/ 1744980 h 1790700"/>
              <a:gd name="connsiteX3" fmla="*/ 777240 w 1135380"/>
              <a:gd name="connsiteY3" fmla="*/ 1790700 h 1790700"/>
              <a:gd name="connsiteX4" fmla="*/ 1135380 w 1135380"/>
              <a:gd name="connsiteY4" fmla="*/ 15240 h 1790700"/>
              <a:gd name="connsiteX5" fmla="*/ 403860 w 1135380"/>
              <a:gd name="connsiteY5" fmla="*/ 0 h 1790700"/>
              <a:gd name="connsiteX0" fmla="*/ 403860 w 1135380"/>
              <a:gd name="connsiteY0" fmla="*/ 0 h 1874520"/>
              <a:gd name="connsiteX1" fmla="*/ 403860 w 1135380"/>
              <a:gd name="connsiteY1" fmla="*/ 0 h 1874520"/>
              <a:gd name="connsiteX2" fmla="*/ 0 w 1135380"/>
              <a:gd name="connsiteY2" fmla="*/ 1744980 h 1874520"/>
              <a:gd name="connsiteX3" fmla="*/ 670560 w 1135380"/>
              <a:gd name="connsiteY3" fmla="*/ 1874520 h 1874520"/>
              <a:gd name="connsiteX4" fmla="*/ 1135380 w 1135380"/>
              <a:gd name="connsiteY4" fmla="*/ 15240 h 1874520"/>
              <a:gd name="connsiteX5" fmla="*/ 403860 w 1135380"/>
              <a:gd name="connsiteY5" fmla="*/ 0 h 1874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35380" h="1874520">
                <a:moveTo>
                  <a:pt x="403860" y="0"/>
                </a:moveTo>
                <a:lnTo>
                  <a:pt x="403860" y="0"/>
                </a:lnTo>
                <a:lnTo>
                  <a:pt x="0" y="1744980"/>
                </a:lnTo>
                <a:lnTo>
                  <a:pt x="670560" y="1874520"/>
                </a:lnTo>
                <a:lnTo>
                  <a:pt x="1135380" y="15240"/>
                </a:lnTo>
                <a:lnTo>
                  <a:pt x="403860" y="0"/>
                </a:lnTo>
                <a:close/>
              </a:path>
            </a:pathLst>
          </a:custGeom>
          <a:solidFill>
            <a:srgbClr val="72C7E7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2868908" y="2748680"/>
            <a:ext cx="782003" cy="1212532"/>
          </a:xfrm>
          <a:custGeom>
            <a:avLst/>
            <a:gdLst>
              <a:gd name="connsiteX0" fmla="*/ 266700 w 731520"/>
              <a:gd name="connsiteY0" fmla="*/ 0 h 1196340"/>
              <a:gd name="connsiteX1" fmla="*/ 731520 w 731520"/>
              <a:gd name="connsiteY1" fmla="*/ 1196340 h 1196340"/>
              <a:gd name="connsiteX2" fmla="*/ 0 w 731520"/>
              <a:gd name="connsiteY2" fmla="*/ 1196340 h 1196340"/>
              <a:gd name="connsiteX3" fmla="*/ 266700 w 731520"/>
              <a:gd name="connsiteY3" fmla="*/ 0 h 1196340"/>
              <a:gd name="connsiteX0" fmla="*/ 266700 w 739140"/>
              <a:gd name="connsiteY0" fmla="*/ 0 h 1226820"/>
              <a:gd name="connsiteX1" fmla="*/ 739140 w 739140"/>
              <a:gd name="connsiteY1" fmla="*/ 1226820 h 1226820"/>
              <a:gd name="connsiteX2" fmla="*/ 0 w 739140"/>
              <a:gd name="connsiteY2" fmla="*/ 1196340 h 1226820"/>
              <a:gd name="connsiteX3" fmla="*/ 266700 w 739140"/>
              <a:gd name="connsiteY3" fmla="*/ 0 h 1226820"/>
              <a:gd name="connsiteX0" fmla="*/ 266700 w 753428"/>
              <a:gd name="connsiteY0" fmla="*/ 0 h 1241107"/>
              <a:gd name="connsiteX1" fmla="*/ 753428 w 753428"/>
              <a:gd name="connsiteY1" fmla="*/ 1241107 h 1241107"/>
              <a:gd name="connsiteX2" fmla="*/ 0 w 753428"/>
              <a:gd name="connsiteY2" fmla="*/ 1196340 h 1241107"/>
              <a:gd name="connsiteX3" fmla="*/ 266700 w 753428"/>
              <a:gd name="connsiteY3" fmla="*/ 0 h 1241107"/>
              <a:gd name="connsiteX0" fmla="*/ 266700 w 758190"/>
              <a:gd name="connsiteY0" fmla="*/ 0 h 1226819"/>
              <a:gd name="connsiteX1" fmla="*/ 758190 w 758190"/>
              <a:gd name="connsiteY1" fmla="*/ 1226819 h 1226819"/>
              <a:gd name="connsiteX2" fmla="*/ 0 w 758190"/>
              <a:gd name="connsiteY2" fmla="*/ 1196340 h 1226819"/>
              <a:gd name="connsiteX3" fmla="*/ 266700 w 758190"/>
              <a:gd name="connsiteY3" fmla="*/ 0 h 1226819"/>
              <a:gd name="connsiteX0" fmla="*/ 278607 w 758190"/>
              <a:gd name="connsiteY0" fmla="*/ 0 h 1212532"/>
              <a:gd name="connsiteX1" fmla="*/ 758190 w 758190"/>
              <a:gd name="connsiteY1" fmla="*/ 1212532 h 1212532"/>
              <a:gd name="connsiteX2" fmla="*/ 0 w 758190"/>
              <a:gd name="connsiteY2" fmla="*/ 1182053 h 1212532"/>
              <a:gd name="connsiteX3" fmla="*/ 278607 w 758190"/>
              <a:gd name="connsiteY3" fmla="*/ 0 h 1212532"/>
              <a:gd name="connsiteX0" fmla="*/ 302420 w 782003"/>
              <a:gd name="connsiteY0" fmla="*/ 0 h 1212532"/>
              <a:gd name="connsiteX1" fmla="*/ 782003 w 782003"/>
              <a:gd name="connsiteY1" fmla="*/ 1212532 h 1212532"/>
              <a:gd name="connsiteX2" fmla="*/ 0 w 782003"/>
              <a:gd name="connsiteY2" fmla="*/ 1184434 h 1212532"/>
              <a:gd name="connsiteX3" fmla="*/ 302420 w 782003"/>
              <a:gd name="connsiteY3" fmla="*/ 0 h 1212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2003" h="1212532">
                <a:moveTo>
                  <a:pt x="302420" y="0"/>
                </a:moveTo>
                <a:lnTo>
                  <a:pt x="782003" y="1212532"/>
                </a:lnTo>
                <a:lnTo>
                  <a:pt x="0" y="1184434"/>
                </a:lnTo>
                <a:lnTo>
                  <a:pt x="302420" y="0"/>
                </a:lnTo>
                <a:close/>
              </a:path>
            </a:pathLst>
          </a:custGeom>
          <a:solidFill>
            <a:srgbClr val="00277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2036108" y="2735820"/>
            <a:ext cx="1135380" cy="1874520"/>
          </a:xfrm>
          <a:custGeom>
            <a:avLst/>
            <a:gdLst>
              <a:gd name="connsiteX0" fmla="*/ 403860 w 1135380"/>
              <a:gd name="connsiteY0" fmla="*/ 0 h 1790700"/>
              <a:gd name="connsiteX1" fmla="*/ 403860 w 1135380"/>
              <a:gd name="connsiteY1" fmla="*/ 0 h 1790700"/>
              <a:gd name="connsiteX2" fmla="*/ 0 w 1135380"/>
              <a:gd name="connsiteY2" fmla="*/ 1744980 h 1790700"/>
              <a:gd name="connsiteX3" fmla="*/ 777240 w 1135380"/>
              <a:gd name="connsiteY3" fmla="*/ 1790700 h 1790700"/>
              <a:gd name="connsiteX4" fmla="*/ 1135380 w 1135380"/>
              <a:gd name="connsiteY4" fmla="*/ 15240 h 1790700"/>
              <a:gd name="connsiteX5" fmla="*/ 403860 w 1135380"/>
              <a:gd name="connsiteY5" fmla="*/ 0 h 1790700"/>
              <a:gd name="connsiteX0" fmla="*/ 403860 w 1135380"/>
              <a:gd name="connsiteY0" fmla="*/ 0 h 1874520"/>
              <a:gd name="connsiteX1" fmla="*/ 403860 w 1135380"/>
              <a:gd name="connsiteY1" fmla="*/ 0 h 1874520"/>
              <a:gd name="connsiteX2" fmla="*/ 0 w 1135380"/>
              <a:gd name="connsiteY2" fmla="*/ 1744980 h 1874520"/>
              <a:gd name="connsiteX3" fmla="*/ 670560 w 1135380"/>
              <a:gd name="connsiteY3" fmla="*/ 1874520 h 1874520"/>
              <a:gd name="connsiteX4" fmla="*/ 1135380 w 1135380"/>
              <a:gd name="connsiteY4" fmla="*/ 15240 h 1874520"/>
              <a:gd name="connsiteX5" fmla="*/ 403860 w 1135380"/>
              <a:gd name="connsiteY5" fmla="*/ 0 h 1874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35380" h="1874520">
                <a:moveTo>
                  <a:pt x="403860" y="0"/>
                </a:moveTo>
                <a:lnTo>
                  <a:pt x="403860" y="0"/>
                </a:lnTo>
                <a:lnTo>
                  <a:pt x="0" y="1744980"/>
                </a:lnTo>
                <a:lnTo>
                  <a:pt x="670560" y="1874520"/>
                </a:lnTo>
                <a:lnTo>
                  <a:pt x="1135380" y="15240"/>
                </a:lnTo>
                <a:lnTo>
                  <a:pt x="403860" y="0"/>
                </a:lnTo>
                <a:close/>
              </a:path>
            </a:pathLst>
          </a:custGeom>
          <a:solidFill>
            <a:srgbClr val="00A1DE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12" name="Freeform 11"/>
          <p:cNvSpPr/>
          <p:nvPr/>
        </p:nvSpPr>
        <p:spPr>
          <a:xfrm>
            <a:off x="1908609" y="3413476"/>
            <a:ext cx="782003" cy="1212532"/>
          </a:xfrm>
          <a:custGeom>
            <a:avLst/>
            <a:gdLst>
              <a:gd name="connsiteX0" fmla="*/ 266700 w 731520"/>
              <a:gd name="connsiteY0" fmla="*/ 0 h 1196340"/>
              <a:gd name="connsiteX1" fmla="*/ 731520 w 731520"/>
              <a:gd name="connsiteY1" fmla="*/ 1196340 h 1196340"/>
              <a:gd name="connsiteX2" fmla="*/ 0 w 731520"/>
              <a:gd name="connsiteY2" fmla="*/ 1196340 h 1196340"/>
              <a:gd name="connsiteX3" fmla="*/ 266700 w 731520"/>
              <a:gd name="connsiteY3" fmla="*/ 0 h 1196340"/>
              <a:gd name="connsiteX0" fmla="*/ 266700 w 739140"/>
              <a:gd name="connsiteY0" fmla="*/ 0 h 1226820"/>
              <a:gd name="connsiteX1" fmla="*/ 739140 w 739140"/>
              <a:gd name="connsiteY1" fmla="*/ 1226820 h 1226820"/>
              <a:gd name="connsiteX2" fmla="*/ 0 w 739140"/>
              <a:gd name="connsiteY2" fmla="*/ 1196340 h 1226820"/>
              <a:gd name="connsiteX3" fmla="*/ 266700 w 739140"/>
              <a:gd name="connsiteY3" fmla="*/ 0 h 1226820"/>
              <a:gd name="connsiteX0" fmla="*/ 266700 w 753428"/>
              <a:gd name="connsiteY0" fmla="*/ 0 h 1241107"/>
              <a:gd name="connsiteX1" fmla="*/ 753428 w 753428"/>
              <a:gd name="connsiteY1" fmla="*/ 1241107 h 1241107"/>
              <a:gd name="connsiteX2" fmla="*/ 0 w 753428"/>
              <a:gd name="connsiteY2" fmla="*/ 1196340 h 1241107"/>
              <a:gd name="connsiteX3" fmla="*/ 266700 w 753428"/>
              <a:gd name="connsiteY3" fmla="*/ 0 h 1241107"/>
              <a:gd name="connsiteX0" fmla="*/ 266700 w 758190"/>
              <a:gd name="connsiteY0" fmla="*/ 0 h 1226819"/>
              <a:gd name="connsiteX1" fmla="*/ 758190 w 758190"/>
              <a:gd name="connsiteY1" fmla="*/ 1226819 h 1226819"/>
              <a:gd name="connsiteX2" fmla="*/ 0 w 758190"/>
              <a:gd name="connsiteY2" fmla="*/ 1196340 h 1226819"/>
              <a:gd name="connsiteX3" fmla="*/ 266700 w 758190"/>
              <a:gd name="connsiteY3" fmla="*/ 0 h 1226819"/>
              <a:gd name="connsiteX0" fmla="*/ 278607 w 758190"/>
              <a:gd name="connsiteY0" fmla="*/ 0 h 1212532"/>
              <a:gd name="connsiteX1" fmla="*/ 758190 w 758190"/>
              <a:gd name="connsiteY1" fmla="*/ 1212532 h 1212532"/>
              <a:gd name="connsiteX2" fmla="*/ 0 w 758190"/>
              <a:gd name="connsiteY2" fmla="*/ 1182053 h 1212532"/>
              <a:gd name="connsiteX3" fmla="*/ 278607 w 758190"/>
              <a:gd name="connsiteY3" fmla="*/ 0 h 1212532"/>
              <a:gd name="connsiteX0" fmla="*/ 302420 w 782003"/>
              <a:gd name="connsiteY0" fmla="*/ 0 h 1212532"/>
              <a:gd name="connsiteX1" fmla="*/ 782003 w 782003"/>
              <a:gd name="connsiteY1" fmla="*/ 1212532 h 1212532"/>
              <a:gd name="connsiteX2" fmla="*/ 0 w 782003"/>
              <a:gd name="connsiteY2" fmla="*/ 1184434 h 1212532"/>
              <a:gd name="connsiteX3" fmla="*/ 302420 w 782003"/>
              <a:gd name="connsiteY3" fmla="*/ 0 h 1212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2003" h="1212532">
                <a:moveTo>
                  <a:pt x="302420" y="0"/>
                </a:moveTo>
                <a:lnTo>
                  <a:pt x="782003" y="1212532"/>
                </a:lnTo>
                <a:lnTo>
                  <a:pt x="0" y="1184434"/>
                </a:lnTo>
                <a:lnTo>
                  <a:pt x="302420" y="0"/>
                </a:lnTo>
                <a:close/>
              </a:path>
            </a:pathLst>
          </a:custGeom>
          <a:solidFill>
            <a:srgbClr val="575757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13" name="Freeform 12"/>
          <p:cNvSpPr/>
          <p:nvPr/>
        </p:nvSpPr>
        <p:spPr>
          <a:xfrm>
            <a:off x="1078031" y="3398711"/>
            <a:ext cx="1135380" cy="1790700"/>
          </a:xfrm>
          <a:custGeom>
            <a:avLst/>
            <a:gdLst>
              <a:gd name="connsiteX0" fmla="*/ 403860 w 1135380"/>
              <a:gd name="connsiteY0" fmla="*/ 0 h 1790700"/>
              <a:gd name="connsiteX1" fmla="*/ 403860 w 1135380"/>
              <a:gd name="connsiteY1" fmla="*/ 0 h 1790700"/>
              <a:gd name="connsiteX2" fmla="*/ 0 w 1135380"/>
              <a:gd name="connsiteY2" fmla="*/ 1744980 h 1790700"/>
              <a:gd name="connsiteX3" fmla="*/ 777240 w 1135380"/>
              <a:gd name="connsiteY3" fmla="*/ 1790700 h 1790700"/>
              <a:gd name="connsiteX4" fmla="*/ 1135380 w 1135380"/>
              <a:gd name="connsiteY4" fmla="*/ 15240 h 1790700"/>
              <a:gd name="connsiteX5" fmla="*/ 403860 w 1135380"/>
              <a:gd name="connsiteY5" fmla="*/ 0 h 1790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35380" h="1790700">
                <a:moveTo>
                  <a:pt x="403860" y="0"/>
                </a:moveTo>
                <a:lnTo>
                  <a:pt x="403860" y="0"/>
                </a:lnTo>
                <a:lnTo>
                  <a:pt x="0" y="1744980"/>
                </a:lnTo>
                <a:lnTo>
                  <a:pt x="777240" y="1790700"/>
                </a:lnTo>
                <a:lnTo>
                  <a:pt x="1135380" y="15240"/>
                </a:lnTo>
                <a:lnTo>
                  <a:pt x="403860" y="0"/>
                </a:lnTo>
                <a:close/>
              </a:path>
            </a:pathLst>
          </a:custGeom>
          <a:solidFill>
            <a:srgbClr val="B4B4B4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grpSp>
        <p:nvGrpSpPr>
          <p:cNvPr id="14" name="Group 13"/>
          <p:cNvGrpSpPr>
            <a:grpSpLocks noChangeAspect="1"/>
          </p:cNvGrpSpPr>
          <p:nvPr/>
        </p:nvGrpSpPr>
        <p:grpSpPr>
          <a:xfrm>
            <a:off x="3339266" y="2432451"/>
            <a:ext cx="463909" cy="463909"/>
            <a:chOff x="2751968" y="3355168"/>
            <a:chExt cx="365760" cy="365760"/>
          </a:xfrm>
        </p:grpSpPr>
        <p:sp>
          <p:nvSpPr>
            <p:cNvPr id="15" name="Oval 14"/>
            <p:cNvSpPr/>
            <p:nvPr/>
          </p:nvSpPr>
          <p:spPr>
            <a:xfrm>
              <a:off x="2751968" y="3355168"/>
              <a:ext cx="365760" cy="365760"/>
            </a:xfrm>
            <a:prstGeom prst="ellipse">
              <a:avLst/>
            </a:prstGeom>
            <a:solidFill>
              <a:srgbClr val="72C7E7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6" name="Freeform 15"/>
            <p:cNvSpPr/>
            <p:nvPr/>
          </p:nvSpPr>
          <p:spPr>
            <a:xfrm rot="19236591">
              <a:off x="2809402" y="3390723"/>
              <a:ext cx="274320" cy="274320"/>
            </a:xfrm>
            <a:custGeom>
              <a:avLst/>
              <a:gdLst>
                <a:gd name="connsiteX0" fmla="*/ 869950 w 1073150"/>
                <a:gd name="connsiteY0" fmla="*/ 523875 h 1187450"/>
                <a:gd name="connsiteX1" fmla="*/ 796925 w 1073150"/>
                <a:gd name="connsiteY1" fmla="*/ 434975 h 1187450"/>
                <a:gd name="connsiteX2" fmla="*/ 749300 w 1073150"/>
                <a:gd name="connsiteY2" fmla="*/ 365125 h 1187450"/>
                <a:gd name="connsiteX3" fmla="*/ 666750 w 1073150"/>
                <a:gd name="connsiteY3" fmla="*/ 257175 h 1187450"/>
                <a:gd name="connsiteX4" fmla="*/ 615950 w 1073150"/>
                <a:gd name="connsiteY4" fmla="*/ 184150 h 1187450"/>
                <a:gd name="connsiteX5" fmla="*/ 504825 w 1073150"/>
                <a:gd name="connsiteY5" fmla="*/ 41275 h 1187450"/>
                <a:gd name="connsiteX6" fmla="*/ 428625 w 1073150"/>
                <a:gd name="connsiteY6" fmla="*/ 0 h 1187450"/>
                <a:gd name="connsiteX7" fmla="*/ 377825 w 1073150"/>
                <a:gd name="connsiteY7" fmla="*/ 3175 h 1187450"/>
                <a:gd name="connsiteX8" fmla="*/ 539750 w 1073150"/>
                <a:gd name="connsiteY8" fmla="*/ 384175 h 1187450"/>
                <a:gd name="connsiteX9" fmla="*/ 482600 w 1073150"/>
                <a:gd name="connsiteY9" fmla="*/ 542925 h 1187450"/>
                <a:gd name="connsiteX10" fmla="*/ 215900 w 1073150"/>
                <a:gd name="connsiteY10" fmla="*/ 552450 h 1187450"/>
                <a:gd name="connsiteX11" fmla="*/ 85725 w 1073150"/>
                <a:gd name="connsiteY11" fmla="*/ 393700 h 1187450"/>
                <a:gd name="connsiteX12" fmla="*/ 0 w 1073150"/>
                <a:gd name="connsiteY12" fmla="*/ 374650 h 1187450"/>
                <a:gd name="connsiteX13" fmla="*/ 53975 w 1073150"/>
                <a:gd name="connsiteY13" fmla="*/ 568325 h 1187450"/>
                <a:gd name="connsiteX14" fmla="*/ 50800 w 1073150"/>
                <a:gd name="connsiteY14" fmla="*/ 619125 h 1187450"/>
                <a:gd name="connsiteX15" fmla="*/ 9525 w 1073150"/>
                <a:gd name="connsiteY15" fmla="*/ 806450 h 1187450"/>
                <a:gd name="connsiteX16" fmla="*/ 88900 w 1073150"/>
                <a:gd name="connsiteY16" fmla="*/ 796925 h 1187450"/>
                <a:gd name="connsiteX17" fmla="*/ 212725 w 1073150"/>
                <a:gd name="connsiteY17" fmla="*/ 615950 h 1187450"/>
                <a:gd name="connsiteX18" fmla="*/ 460375 w 1073150"/>
                <a:gd name="connsiteY18" fmla="*/ 638175 h 1187450"/>
                <a:gd name="connsiteX19" fmla="*/ 536575 w 1073150"/>
                <a:gd name="connsiteY19" fmla="*/ 822325 h 1187450"/>
                <a:gd name="connsiteX20" fmla="*/ 390525 w 1073150"/>
                <a:gd name="connsiteY20" fmla="*/ 1187450 h 1187450"/>
                <a:gd name="connsiteX21" fmla="*/ 536575 w 1073150"/>
                <a:gd name="connsiteY21" fmla="*/ 1111250 h 1187450"/>
                <a:gd name="connsiteX22" fmla="*/ 612775 w 1073150"/>
                <a:gd name="connsiteY22" fmla="*/ 996950 h 1187450"/>
                <a:gd name="connsiteX23" fmla="*/ 663575 w 1073150"/>
                <a:gd name="connsiteY23" fmla="*/ 930275 h 1187450"/>
                <a:gd name="connsiteX24" fmla="*/ 746125 w 1073150"/>
                <a:gd name="connsiteY24" fmla="*/ 815975 h 1187450"/>
                <a:gd name="connsiteX25" fmla="*/ 803275 w 1073150"/>
                <a:gd name="connsiteY25" fmla="*/ 749300 h 1187450"/>
                <a:gd name="connsiteX26" fmla="*/ 869950 w 1073150"/>
                <a:gd name="connsiteY26" fmla="*/ 650875 h 1187450"/>
                <a:gd name="connsiteX27" fmla="*/ 1069975 w 1073150"/>
                <a:gd name="connsiteY27" fmla="*/ 641350 h 1187450"/>
                <a:gd name="connsiteX28" fmla="*/ 1073150 w 1073150"/>
                <a:gd name="connsiteY28" fmla="*/ 542925 h 1187450"/>
                <a:gd name="connsiteX29" fmla="*/ 869950 w 1073150"/>
                <a:gd name="connsiteY29" fmla="*/ 523875 h 1187450"/>
                <a:gd name="connsiteX0" fmla="*/ 869950 w 1174048"/>
                <a:gd name="connsiteY0" fmla="*/ 523875 h 1187450"/>
                <a:gd name="connsiteX1" fmla="*/ 796925 w 1174048"/>
                <a:gd name="connsiteY1" fmla="*/ 434975 h 1187450"/>
                <a:gd name="connsiteX2" fmla="*/ 749300 w 1174048"/>
                <a:gd name="connsiteY2" fmla="*/ 365125 h 1187450"/>
                <a:gd name="connsiteX3" fmla="*/ 666750 w 1174048"/>
                <a:gd name="connsiteY3" fmla="*/ 257175 h 1187450"/>
                <a:gd name="connsiteX4" fmla="*/ 615950 w 1174048"/>
                <a:gd name="connsiteY4" fmla="*/ 184150 h 1187450"/>
                <a:gd name="connsiteX5" fmla="*/ 504825 w 1174048"/>
                <a:gd name="connsiteY5" fmla="*/ 41275 h 1187450"/>
                <a:gd name="connsiteX6" fmla="*/ 428625 w 1174048"/>
                <a:gd name="connsiteY6" fmla="*/ 0 h 1187450"/>
                <a:gd name="connsiteX7" fmla="*/ 377825 w 1174048"/>
                <a:gd name="connsiteY7" fmla="*/ 3175 h 1187450"/>
                <a:gd name="connsiteX8" fmla="*/ 539750 w 1174048"/>
                <a:gd name="connsiteY8" fmla="*/ 384175 h 1187450"/>
                <a:gd name="connsiteX9" fmla="*/ 482600 w 1174048"/>
                <a:gd name="connsiteY9" fmla="*/ 542925 h 1187450"/>
                <a:gd name="connsiteX10" fmla="*/ 215900 w 1174048"/>
                <a:gd name="connsiteY10" fmla="*/ 552450 h 1187450"/>
                <a:gd name="connsiteX11" fmla="*/ 85725 w 1174048"/>
                <a:gd name="connsiteY11" fmla="*/ 393700 h 1187450"/>
                <a:gd name="connsiteX12" fmla="*/ 0 w 1174048"/>
                <a:gd name="connsiteY12" fmla="*/ 374650 h 1187450"/>
                <a:gd name="connsiteX13" fmla="*/ 53975 w 1174048"/>
                <a:gd name="connsiteY13" fmla="*/ 568325 h 1187450"/>
                <a:gd name="connsiteX14" fmla="*/ 50800 w 1174048"/>
                <a:gd name="connsiteY14" fmla="*/ 619125 h 1187450"/>
                <a:gd name="connsiteX15" fmla="*/ 9525 w 1174048"/>
                <a:gd name="connsiteY15" fmla="*/ 806450 h 1187450"/>
                <a:gd name="connsiteX16" fmla="*/ 88900 w 1174048"/>
                <a:gd name="connsiteY16" fmla="*/ 796925 h 1187450"/>
                <a:gd name="connsiteX17" fmla="*/ 212725 w 1174048"/>
                <a:gd name="connsiteY17" fmla="*/ 615950 h 1187450"/>
                <a:gd name="connsiteX18" fmla="*/ 460375 w 1174048"/>
                <a:gd name="connsiteY18" fmla="*/ 638175 h 1187450"/>
                <a:gd name="connsiteX19" fmla="*/ 536575 w 1174048"/>
                <a:gd name="connsiteY19" fmla="*/ 822325 h 1187450"/>
                <a:gd name="connsiteX20" fmla="*/ 390525 w 1174048"/>
                <a:gd name="connsiteY20" fmla="*/ 1187450 h 1187450"/>
                <a:gd name="connsiteX21" fmla="*/ 536575 w 1174048"/>
                <a:gd name="connsiteY21" fmla="*/ 1111250 h 1187450"/>
                <a:gd name="connsiteX22" fmla="*/ 612775 w 1174048"/>
                <a:gd name="connsiteY22" fmla="*/ 996950 h 1187450"/>
                <a:gd name="connsiteX23" fmla="*/ 663575 w 1174048"/>
                <a:gd name="connsiteY23" fmla="*/ 930275 h 1187450"/>
                <a:gd name="connsiteX24" fmla="*/ 746125 w 1174048"/>
                <a:gd name="connsiteY24" fmla="*/ 815975 h 1187450"/>
                <a:gd name="connsiteX25" fmla="*/ 803275 w 1174048"/>
                <a:gd name="connsiteY25" fmla="*/ 749300 h 1187450"/>
                <a:gd name="connsiteX26" fmla="*/ 869950 w 1174048"/>
                <a:gd name="connsiteY26" fmla="*/ 650875 h 1187450"/>
                <a:gd name="connsiteX27" fmla="*/ 1069975 w 1174048"/>
                <a:gd name="connsiteY27" fmla="*/ 641350 h 1187450"/>
                <a:gd name="connsiteX28" fmla="*/ 1073150 w 1174048"/>
                <a:gd name="connsiteY28" fmla="*/ 542925 h 1187450"/>
                <a:gd name="connsiteX29" fmla="*/ 869950 w 1174048"/>
                <a:gd name="connsiteY29" fmla="*/ 523875 h 1187450"/>
                <a:gd name="connsiteX0" fmla="*/ 869950 w 1203659"/>
                <a:gd name="connsiteY0" fmla="*/ 523875 h 1187450"/>
                <a:gd name="connsiteX1" fmla="*/ 796925 w 1203659"/>
                <a:gd name="connsiteY1" fmla="*/ 434975 h 1187450"/>
                <a:gd name="connsiteX2" fmla="*/ 749300 w 1203659"/>
                <a:gd name="connsiteY2" fmla="*/ 365125 h 1187450"/>
                <a:gd name="connsiteX3" fmla="*/ 666750 w 1203659"/>
                <a:gd name="connsiteY3" fmla="*/ 257175 h 1187450"/>
                <a:gd name="connsiteX4" fmla="*/ 615950 w 1203659"/>
                <a:gd name="connsiteY4" fmla="*/ 184150 h 1187450"/>
                <a:gd name="connsiteX5" fmla="*/ 504825 w 1203659"/>
                <a:gd name="connsiteY5" fmla="*/ 41275 h 1187450"/>
                <a:gd name="connsiteX6" fmla="*/ 428625 w 1203659"/>
                <a:gd name="connsiteY6" fmla="*/ 0 h 1187450"/>
                <a:gd name="connsiteX7" fmla="*/ 377825 w 1203659"/>
                <a:gd name="connsiteY7" fmla="*/ 3175 h 1187450"/>
                <a:gd name="connsiteX8" fmla="*/ 539750 w 1203659"/>
                <a:gd name="connsiteY8" fmla="*/ 384175 h 1187450"/>
                <a:gd name="connsiteX9" fmla="*/ 482600 w 1203659"/>
                <a:gd name="connsiteY9" fmla="*/ 542925 h 1187450"/>
                <a:gd name="connsiteX10" fmla="*/ 215900 w 1203659"/>
                <a:gd name="connsiteY10" fmla="*/ 552450 h 1187450"/>
                <a:gd name="connsiteX11" fmla="*/ 85725 w 1203659"/>
                <a:gd name="connsiteY11" fmla="*/ 393700 h 1187450"/>
                <a:gd name="connsiteX12" fmla="*/ 0 w 1203659"/>
                <a:gd name="connsiteY12" fmla="*/ 374650 h 1187450"/>
                <a:gd name="connsiteX13" fmla="*/ 53975 w 1203659"/>
                <a:gd name="connsiteY13" fmla="*/ 568325 h 1187450"/>
                <a:gd name="connsiteX14" fmla="*/ 50800 w 1203659"/>
                <a:gd name="connsiteY14" fmla="*/ 619125 h 1187450"/>
                <a:gd name="connsiteX15" fmla="*/ 9525 w 1203659"/>
                <a:gd name="connsiteY15" fmla="*/ 806450 h 1187450"/>
                <a:gd name="connsiteX16" fmla="*/ 88900 w 1203659"/>
                <a:gd name="connsiteY16" fmla="*/ 796925 h 1187450"/>
                <a:gd name="connsiteX17" fmla="*/ 212725 w 1203659"/>
                <a:gd name="connsiteY17" fmla="*/ 615950 h 1187450"/>
                <a:gd name="connsiteX18" fmla="*/ 460375 w 1203659"/>
                <a:gd name="connsiteY18" fmla="*/ 638175 h 1187450"/>
                <a:gd name="connsiteX19" fmla="*/ 536575 w 1203659"/>
                <a:gd name="connsiteY19" fmla="*/ 822325 h 1187450"/>
                <a:gd name="connsiteX20" fmla="*/ 390525 w 1203659"/>
                <a:gd name="connsiteY20" fmla="*/ 1187450 h 1187450"/>
                <a:gd name="connsiteX21" fmla="*/ 536575 w 1203659"/>
                <a:gd name="connsiteY21" fmla="*/ 1111250 h 1187450"/>
                <a:gd name="connsiteX22" fmla="*/ 612775 w 1203659"/>
                <a:gd name="connsiteY22" fmla="*/ 996950 h 1187450"/>
                <a:gd name="connsiteX23" fmla="*/ 663575 w 1203659"/>
                <a:gd name="connsiteY23" fmla="*/ 930275 h 1187450"/>
                <a:gd name="connsiteX24" fmla="*/ 746125 w 1203659"/>
                <a:gd name="connsiteY24" fmla="*/ 815975 h 1187450"/>
                <a:gd name="connsiteX25" fmla="*/ 803275 w 1203659"/>
                <a:gd name="connsiteY25" fmla="*/ 749300 h 1187450"/>
                <a:gd name="connsiteX26" fmla="*/ 869950 w 1203659"/>
                <a:gd name="connsiteY26" fmla="*/ 650875 h 1187450"/>
                <a:gd name="connsiteX27" fmla="*/ 1069975 w 1203659"/>
                <a:gd name="connsiteY27" fmla="*/ 641350 h 1187450"/>
                <a:gd name="connsiteX28" fmla="*/ 1073150 w 1203659"/>
                <a:gd name="connsiteY28" fmla="*/ 542925 h 1187450"/>
                <a:gd name="connsiteX29" fmla="*/ 869950 w 1203659"/>
                <a:gd name="connsiteY29" fmla="*/ 523875 h 1187450"/>
                <a:gd name="connsiteX0" fmla="*/ 869950 w 1205003"/>
                <a:gd name="connsiteY0" fmla="*/ 523875 h 1187450"/>
                <a:gd name="connsiteX1" fmla="*/ 796925 w 1205003"/>
                <a:gd name="connsiteY1" fmla="*/ 434975 h 1187450"/>
                <a:gd name="connsiteX2" fmla="*/ 749300 w 1205003"/>
                <a:gd name="connsiteY2" fmla="*/ 365125 h 1187450"/>
                <a:gd name="connsiteX3" fmla="*/ 666750 w 1205003"/>
                <a:gd name="connsiteY3" fmla="*/ 257175 h 1187450"/>
                <a:gd name="connsiteX4" fmla="*/ 615950 w 1205003"/>
                <a:gd name="connsiteY4" fmla="*/ 184150 h 1187450"/>
                <a:gd name="connsiteX5" fmla="*/ 504825 w 1205003"/>
                <a:gd name="connsiteY5" fmla="*/ 41275 h 1187450"/>
                <a:gd name="connsiteX6" fmla="*/ 428625 w 1205003"/>
                <a:gd name="connsiteY6" fmla="*/ 0 h 1187450"/>
                <a:gd name="connsiteX7" fmla="*/ 377825 w 1205003"/>
                <a:gd name="connsiteY7" fmla="*/ 3175 h 1187450"/>
                <a:gd name="connsiteX8" fmla="*/ 539750 w 1205003"/>
                <a:gd name="connsiteY8" fmla="*/ 384175 h 1187450"/>
                <a:gd name="connsiteX9" fmla="*/ 482600 w 1205003"/>
                <a:gd name="connsiteY9" fmla="*/ 542925 h 1187450"/>
                <a:gd name="connsiteX10" fmla="*/ 215900 w 1205003"/>
                <a:gd name="connsiteY10" fmla="*/ 552450 h 1187450"/>
                <a:gd name="connsiteX11" fmla="*/ 85725 w 1205003"/>
                <a:gd name="connsiteY11" fmla="*/ 393700 h 1187450"/>
                <a:gd name="connsiteX12" fmla="*/ 0 w 1205003"/>
                <a:gd name="connsiteY12" fmla="*/ 374650 h 1187450"/>
                <a:gd name="connsiteX13" fmla="*/ 53975 w 1205003"/>
                <a:gd name="connsiteY13" fmla="*/ 568325 h 1187450"/>
                <a:gd name="connsiteX14" fmla="*/ 50800 w 1205003"/>
                <a:gd name="connsiteY14" fmla="*/ 619125 h 1187450"/>
                <a:gd name="connsiteX15" fmla="*/ 9525 w 1205003"/>
                <a:gd name="connsiteY15" fmla="*/ 806450 h 1187450"/>
                <a:gd name="connsiteX16" fmla="*/ 88900 w 1205003"/>
                <a:gd name="connsiteY16" fmla="*/ 796925 h 1187450"/>
                <a:gd name="connsiteX17" fmla="*/ 212725 w 1205003"/>
                <a:gd name="connsiteY17" fmla="*/ 615950 h 1187450"/>
                <a:gd name="connsiteX18" fmla="*/ 460375 w 1205003"/>
                <a:gd name="connsiteY18" fmla="*/ 638175 h 1187450"/>
                <a:gd name="connsiteX19" fmla="*/ 536575 w 1205003"/>
                <a:gd name="connsiteY19" fmla="*/ 822325 h 1187450"/>
                <a:gd name="connsiteX20" fmla="*/ 390525 w 1205003"/>
                <a:gd name="connsiteY20" fmla="*/ 1187450 h 1187450"/>
                <a:gd name="connsiteX21" fmla="*/ 536575 w 1205003"/>
                <a:gd name="connsiteY21" fmla="*/ 1111250 h 1187450"/>
                <a:gd name="connsiteX22" fmla="*/ 612775 w 1205003"/>
                <a:gd name="connsiteY22" fmla="*/ 996950 h 1187450"/>
                <a:gd name="connsiteX23" fmla="*/ 663575 w 1205003"/>
                <a:gd name="connsiteY23" fmla="*/ 930275 h 1187450"/>
                <a:gd name="connsiteX24" fmla="*/ 746125 w 1205003"/>
                <a:gd name="connsiteY24" fmla="*/ 815975 h 1187450"/>
                <a:gd name="connsiteX25" fmla="*/ 803275 w 1205003"/>
                <a:gd name="connsiteY25" fmla="*/ 749300 h 1187450"/>
                <a:gd name="connsiteX26" fmla="*/ 869950 w 1205003"/>
                <a:gd name="connsiteY26" fmla="*/ 650875 h 1187450"/>
                <a:gd name="connsiteX27" fmla="*/ 1069975 w 1205003"/>
                <a:gd name="connsiteY27" fmla="*/ 641350 h 1187450"/>
                <a:gd name="connsiteX28" fmla="*/ 1073150 w 1205003"/>
                <a:gd name="connsiteY28" fmla="*/ 542925 h 1187450"/>
                <a:gd name="connsiteX29" fmla="*/ 869950 w 1205003"/>
                <a:gd name="connsiteY29" fmla="*/ 523875 h 1187450"/>
                <a:gd name="connsiteX0" fmla="*/ 869950 w 1205003"/>
                <a:gd name="connsiteY0" fmla="*/ 523875 h 1187450"/>
                <a:gd name="connsiteX1" fmla="*/ 796925 w 1205003"/>
                <a:gd name="connsiteY1" fmla="*/ 434975 h 1187450"/>
                <a:gd name="connsiteX2" fmla="*/ 749300 w 1205003"/>
                <a:gd name="connsiteY2" fmla="*/ 365125 h 1187450"/>
                <a:gd name="connsiteX3" fmla="*/ 666750 w 1205003"/>
                <a:gd name="connsiteY3" fmla="*/ 257175 h 1187450"/>
                <a:gd name="connsiteX4" fmla="*/ 615950 w 1205003"/>
                <a:gd name="connsiteY4" fmla="*/ 184150 h 1187450"/>
                <a:gd name="connsiteX5" fmla="*/ 504825 w 1205003"/>
                <a:gd name="connsiteY5" fmla="*/ 41275 h 1187450"/>
                <a:gd name="connsiteX6" fmla="*/ 428625 w 1205003"/>
                <a:gd name="connsiteY6" fmla="*/ 0 h 1187450"/>
                <a:gd name="connsiteX7" fmla="*/ 377825 w 1205003"/>
                <a:gd name="connsiteY7" fmla="*/ 3175 h 1187450"/>
                <a:gd name="connsiteX8" fmla="*/ 539750 w 1205003"/>
                <a:gd name="connsiteY8" fmla="*/ 384175 h 1187450"/>
                <a:gd name="connsiteX9" fmla="*/ 482600 w 1205003"/>
                <a:gd name="connsiteY9" fmla="*/ 542925 h 1187450"/>
                <a:gd name="connsiteX10" fmla="*/ 215900 w 1205003"/>
                <a:gd name="connsiteY10" fmla="*/ 552450 h 1187450"/>
                <a:gd name="connsiteX11" fmla="*/ 85725 w 1205003"/>
                <a:gd name="connsiteY11" fmla="*/ 393700 h 1187450"/>
                <a:gd name="connsiteX12" fmla="*/ 0 w 1205003"/>
                <a:gd name="connsiteY12" fmla="*/ 374650 h 1187450"/>
                <a:gd name="connsiteX13" fmla="*/ 53975 w 1205003"/>
                <a:gd name="connsiteY13" fmla="*/ 568325 h 1187450"/>
                <a:gd name="connsiteX14" fmla="*/ 50800 w 1205003"/>
                <a:gd name="connsiteY14" fmla="*/ 619125 h 1187450"/>
                <a:gd name="connsiteX15" fmla="*/ 9525 w 1205003"/>
                <a:gd name="connsiteY15" fmla="*/ 806450 h 1187450"/>
                <a:gd name="connsiteX16" fmla="*/ 88900 w 1205003"/>
                <a:gd name="connsiteY16" fmla="*/ 796925 h 1187450"/>
                <a:gd name="connsiteX17" fmla="*/ 212725 w 1205003"/>
                <a:gd name="connsiteY17" fmla="*/ 615950 h 1187450"/>
                <a:gd name="connsiteX18" fmla="*/ 460375 w 1205003"/>
                <a:gd name="connsiteY18" fmla="*/ 638175 h 1187450"/>
                <a:gd name="connsiteX19" fmla="*/ 536575 w 1205003"/>
                <a:gd name="connsiteY19" fmla="*/ 822325 h 1187450"/>
                <a:gd name="connsiteX20" fmla="*/ 390525 w 1205003"/>
                <a:gd name="connsiteY20" fmla="*/ 1187450 h 1187450"/>
                <a:gd name="connsiteX21" fmla="*/ 536575 w 1205003"/>
                <a:gd name="connsiteY21" fmla="*/ 1111250 h 1187450"/>
                <a:gd name="connsiteX22" fmla="*/ 612775 w 1205003"/>
                <a:gd name="connsiteY22" fmla="*/ 996950 h 1187450"/>
                <a:gd name="connsiteX23" fmla="*/ 663575 w 1205003"/>
                <a:gd name="connsiteY23" fmla="*/ 930275 h 1187450"/>
                <a:gd name="connsiteX24" fmla="*/ 746125 w 1205003"/>
                <a:gd name="connsiteY24" fmla="*/ 815975 h 1187450"/>
                <a:gd name="connsiteX25" fmla="*/ 803275 w 1205003"/>
                <a:gd name="connsiteY25" fmla="*/ 749300 h 1187450"/>
                <a:gd name="connsiteX26" fmla="*/ 869950 w 1205003"/>
                <a:gd name="connsiteY26" fmla="*/ 650875 h 1187450"/>
                <a:gd name="connsiteX27" fmla="*/ 1069975 w 1205003"/>
                <a:gd name="connsiteY27" fmla="*/ 641350 h 1187450"/>
                <a:gd name="connsiteX28" fmla="*/ 1073150 w 1205003"/>
                <a:gd name="connsiteY28" fmla="*/ 542925 h 1187450"/>
                <a:gd name="connsiteX29" fmla="*/ 869950 w 1205003"/>
                <a:gd name="connsiteY29" fmla="*/ 523875 h 1187450"/>
                <a:gd name="connsiteX0" fmla="*/ 869950 w 1205003"/>
                <a:gd name="connsiteY0" fmla="*/ 523875 h 1187450"/>
                <a:gd name="connsiteX1" fmla="*/ 796925 w 1205003"/>
                <a:gd name="connsiteY1" fmla="*/ 434975 h 1187450"/>
                <a:gd name="connsiteX2" fmla="*/ 749300 w 1205003"/>
                <a:gd name="connsiteY2" fmla="*/ 365125 h 1187450"/>
                <a:gd name="connsiteX3" fmla="*/ 666750 w 1205003"/>
                <a:gd name="connsiteY3" fmla="*/ 257175 h 1187450"/>
                <a:gd name="connsiteX4" fmla="*/ 615950 w 1205003"/>
                <a:gd name="connsiteY4" fmla="*/ 184150 h 1187450"/>
                <a:gd name="connsiteX5" fmla="*/ 504825 w 1205003"/>
                <a:gd name="connsiteY5" fmla="*/ 41275 h 1187450"/>
                <a:gd name="connsiteX6" fmla="*/ 428625 w 1205003"/>
                <a:gd name="connsiteY6" fmla="*/ 0 h 1187450"/>
                <a:gd name="connsiteX7" fmla="*/ 377825 w 1205003"/>
                <a:gd name="connsiteY7" fmla="*/ 3175 h 1187450"/>
                <a:gd name="connsiteX8" fmla="*/ 539750 w 1205003"/>
                <a:gd name="connsiteY8" fmla="*/ 384175 h 1187450"/>
                <a:gd name="connsiteX9" fmla="*/ 482600 w 1205003"/>
                <a:gd name="connsiteY9" fmla="*/ 542925 h 1187450"/>
                <a:gd name="connsiteX10" fmla="*/ 215900 w 1205003"/>
                <a:gd name="connsiteY10" fmla="*/ 552450 h 1187450"/>
                <a:gd name="connsiteX11" fmla="*/ 85725 w 1205003"/>
                <a:gd name="connsiteY11" fmla="*/ 393700 h 1187450"/>
                <a:gd name="connsiteX12" fmla="*/ 0 w 1205003"/>
                <a:gd name="connsiteY12" fmla="*/ 374650 h 1187450"/>
                <a:gd name="connsiteX13" fmla="*/ 53975 w 1205003"/>
                <a:gd name="connsiteY13" fmla="*/ 568325 h 1187450"/>
                <a:gd name="connsiteX14" fmla="*/ 50800 w 1205003"/>
                <a:gd name="connsiteY14" fmla="*/ 619125 h 1187450"/>
                <a:gd name="connsiteX15" fmla="*/ 9525 w 1205003"/>
                <a:gd name="connsiteY15" fmla="*/ 806450 h 1187450"/>
                <a:gd name="connsiteX16" fmla="*/ 88900 w 1205003"/>
                <a:gd name="connsiteY16" fmla="*/ 796925 h 1187450"/>
                <a:gd name="connsiteX17" fmla="*/ 212725 w 1205003"/>
                <a:gd name="connsiteY17" fmla="*/ 615950 h 1187450"/>
                <a:gd name="connsiteX18" fmla="*/ 460375 w 1205003"/>
                <a:gd name="connsiteY18" fmla="*/ 638175 h 1187450"/>
                <a:gd name="connsiteX19" fmla="*/ 536575 w 1205003"/>
                <a:gd name="connsiteY19" fmla="*/ 822325 h 1187450"/>
                <a:gd name="connsiteX20" fmla="*/ 390525 w 1205003"/>
                <a:gd name="connsiteY20" fmla="*/ 1187450 h 1187450"/>
                <a:gd name="connsiteX21" fmla="*/ 536575 w 1205003"/>
                <a:gd name="connsiteY21" fmla="*/ 1111250 h 1187450"/>
                <a:gd name="connsiteX22" fmla="*/ 612775 w 1205003"/>
                <a:gd name="connsiteY22" fmla="*/ 996950 h 1187450"/>
                <a:gd name="connsiteX23" fmla="*/ 663575 w 1205003"/>
                <a:gd name="connsiteY23" fmla="*/ 930275 h 1187450"/>
                <a:gd name="connsiteX24" fmla="*/ 746125 w 1205003"/>
                <a:gd name="connsiteY24" fmla="*/ 815975 h 1187450"/>
                <a:gd name="connsiteX25" fmla="*/ 803275 w 1205003"/>
                <a:gd name="connsiteY25" fmla="*/ 749300 h 1187450"/>
                <a:gd name="connsiteX26" fmla="*/ 869950 w 1205003"/>
                <a:gd name="connsiteY26" fmla="*/ 650875 h 1187450"/>
                <a:gd name="connsiteX27" fmla="*/ 1069975 w 1205003"/>
                <a:gd name="connsiteY27" fmla="*/ 641350 h 1187450"/>
                <a:gd name="connsiteX28" fmla="*/ 1073150 w 1205003"/>
                <a:gd name="connsiteY28" fmla="*/ 542925 h 1187450"/>
                <a:gd name="connsiteX29" fmla="*/ 869950 w 1205003"/>
                <a:gd name="connsiteY29" fmla="*/ 523875 h 1187450"/>
                <a:gd name="connsiteX0" fmla="*/ 869950 w 1205003"/>
                <a:gd name="connsiteY0" fmla="*/ 523875 h 1187450"/>
                <a:gd name="connsiteX1" fmla="*/ 796925 w 1205003"/>
                <a:gd name="connsiteY1" fmla="*/ 434975 h 1187450"/>
                <a:gd name="connsiteX2" fmla="*/ 749300 w 1205003"/>
                <a:gd name="connsiteY2" fmla="*/ 365125 h 1187450"/>
                <a:gd name="connsiteX3" fmla="*/ 666750 w 1205003"/>
                <a:gd name="connsiteY3" fmla="*/ 257175 h 1187450"/>
                <a:gd name="connsiteX4" fmla="*/ 615950 w 1205003"/>
                <a:gd name="connsiteY4" fmla="*/ 184150 h 1187450"/>
                <a:gd name="connsiteX5" fmla="*/ 504825 w 1205003"/>
                <a:gd name="connsiteY5" fmla="*/ 41275 h 1187450"/>
                <a:gd name="connsiteX6" fmla="*/ 428625 w 1205003"/>
                <a:gd name="connsiteY6" fmla="*/ 0 h 1187450"/>
                <a:gd name="connsiteX7" fmla="*/ 377825 w 1205003"/>
                <a:gd name="connsiteY7" fmla="*/ 3175 h 1187450"/>
                <a:gd name="connsiteX8" fmla="*/ 539750 w 1205003"/>
                <a:gd name="connsiteY8" fmla="*/ 384175 h 1187450"/>
                <a:gd name="connsiteX9" fmla="*/ 482600 w 1205003"/>
                <a:gd name="connsiteY9" fmla="*/ 542925 h 1187450"/>
                <a:gd name="connsiteX10" fmla="*/ 215900 w 1205003"/>
                <a:gd name="connsiteY10" fmla="*/ 552450 h 1187450"/>
                <a:gd name="connsiteX11" fmla="*/ 85725 w 1205003"/>
                <a:gd name="connsiteY11" fmla="*/ 393700 h 1187450"/>
                <a:gd name="connsiteX12" fmla="*/ 0 w 1205003"/>
                <a:gd name="connsiteY12" fmla="*/ 374650 h 1187450"/>
                <a:gd name="connsiteX13" fmla="*/ 53975 w 1205003"/>
                <a:gd name="connsiteY13" fmla="*/ 568325 h 1187450"/>
                <a:gd name="connsiteX14" fmla="*/ 50800 w 1205003"/>
                <a:gd name="connsiteY14" fmla="*/ 619125 h 1187450"/>
                <a:gd name="connsiteX15" fmla="*/ 9525 w 1205003"/>
                <a:gd name="connsiteY15" fmla="*/ 806450 h 1187450"/>
                <a:gd name="connsiteX16" fmla="*/ 88900 w 1205003"/>
                <a:gd name="connsiteY16" fmla="*/ 796925 h 1187450"/>
                <a:gd name="connsiteX17" fmla="*/ 212725 w 1205003"/>
                <a:gd name="connsiteY17" fmla="*/ 615950 h 1187450"/>
                <a:gd name="connsiteX18" fmla="*/ 460375 w 1205003"/>
                <a:gd name="connsiteY18" fmla="*/ 638175 h 1187450"/>
                <a:gd name="connsiteX19" fmla="*/ 536575 w 1205003"/>
                <a:gd name="connsiteY19" fmla="*/ 822325 h 1187450"/>
                <a:gd name="connsiteX20" fmla="*/ 390525 w 1205003"/>
                <a:gd name="connsiteY20" fmla="*/ 1187450 h 1187450"/>
                <a:gd name="connsiteX21" fmla="*/ 536575 w 1205003"/>
                <a:gd name="connsiteY21" fmla="*/ 1111250 h 1187450"/>
                <a:gd name="connsiteX22" fmla="*/ 612775 w 1205003"/>
                <a:gd name="connsiteY22" fmla="*/ 996950 h 1187450"/>
                <a:gd name="connsiteX23" fmla="*/ 663575 w 1205003"/>
                <a:gd name="connsiteY23" fmla="*/ 930275 h 1187450"/>
                <a:gd name="connsiteX24" fmla="*/ 746125 w 1205003"/>
                <a:gd name="connsiteY24" fmla="*/ 815975 h 1187450"/>
                <a:gd name="connsiteX25" fmla="*/ 803275 w 1205003"/>
                <a:gd name="connsiteY25" fmla="*/ 749300 h 1187450"/>
                <a:gd name="connsiteX26" fmla="*/ 869950 w 1205003"/>
                <a:gd name="connsiteY26" fmla="*/ 650875 h 1187450"/>
                <a:gd name="connsiteX27" fmla="*/ 1069975 w 1205003"/>
                <a:gd name="connsiteY27" fmla="*/ 641350 h 1187450"/>
                <a:gd name="connsiteX28" fmla="*/ 1073150 w 1205003"/>
                <a:gd name="connsiteY28" fmla="*/ 542925 h 1187450"/>
                <a:gd name="connsiteX29" fmla="*/ 869950 w 1205003"/>
                <a:gd name="connsiteY29" fmla="*/ 523875 h 1187450"/>
                <a:gd name="connsiteX0" fmla="*/ 869950 w 1205003"/>
                <a:gd name="connsiteY0" fmla="*/ 523875 h 1187450"/>
                <a:gd name="connsiteX1" fmla="*/ 796925 w 1205003"/>
                <a:gd name="connsiteY1" fmla="*/ 434975 h 1187450"/>
                <a:gd name="connsiteX2" fmla="*/ 749300 w 1205003"/>
                <a:gd name="connsiteY2" fmla="*/ 365125 h 1187450"/>
                <a:gd name="connsiteX3" fmla="*/ 666750 w 1205003"/>
                <a:gd name="connsiteY3" fmla="*/ 257175 h 1187450"/>
                <a:gd name="connsiteX4" fmla="*/ 615950 w 1205003"/>
                <a:gd name="connsiteY4" fmla="*/ 184150 h 1187450"/>
                <a:gd name="connsiteX5" fmla="*/ 504825 w 1205003"/>
                <a:gd name="connsiteY5" fmla="*/ 41275 h 1187450"/>
                <a:gd name="connsiteX6" fmla="*/ 428625 w 1205003"/>
                <a:gd name="connsiteY6" fmla="*/ 0 h 1187450"/>
                <a:gd name="connsiteX7" fmla="*/ 377825 w 1205003"/>
                <a:gd name="connsiteY7" fmla="*/ 3175 h 1187450"/>
                <a:gd name="connsiteX8" fmla="*/ 539750 w 1205003"/>
                <a:gd name="connsiteY8" fmla="*/ 384175 h 1187450"/>
                <a:gd name="connsiteX9" fmla="*/ 482600 w 1205003"/>
                <a:gd name="connsiteY9" fmla="*/ 542925 h 1187450"/>
                <a:gd name="connsiteX10" fmla="*/ 215900 w 1205003"/>
                <a:gd name="connsiteY10" fmla="*/ 552450 h 1187450"/>
                <a:gd name="connsiteX11" fmla="*/ 85725 w 1205003"/>
                <a:gd name="connsiteY11" fmla="*/ 393700 h 1187450"/>
                <a:gd name="connsiteX12" fmla="*/ 0 w 1205003"/>
                <a:gd name="connsiteY12" fmla="*/ 374650 h 1187450"/>
                <a:gd name="connsiteX13" fmla="*/ 53975 w 1205003"/>
                <a:gd name="connsiteY13" fmla="*/ 568325 h 1187450"/>
                <a:gd name="connsiteX14" fmla="*/ 50800 w 1205003"/>
                <a:gd name="connsiteY14" fmla="*/ 619125 h 1187450"/>
                <a:gd name="connsiteX15" fmla="*/ 9525 w 1205003"/>
                <a:gd name="connsiteY15" fmla="*/ 806450 h 1187450"/>
                <a:gd name="connsiteX16" fmla="*/ 88900 w 1205003"/>
                <a:gd name="connsiteY16" fmla="*/ 796925 h 1187450"/>
                <a:gd name="connsiteX17" fmla="*/ 212725 w 1205003"/>
                <a:gd name="connsiteY17" fmla="*/ 615950 h 1187450"/>
                <a:gd name="connsiteX18" fmla="*/ 460375 w 1205003"/>
                <a:gd name="connsiteY18" fmla="*/ 638175 h 1187450"/>
                <a:gd name="connsiteX19" fmla="*/ 536575 w 1205003"/>
                <a:gd name="connsiteY19" fmla="*/ 822325 h 1187450"/>
                <a:gd name="connsiteX20" fmla="*/ 390525 w 1205003"/>
                <a:gd name="connsiteY20" fmla="*/ 1187450 h 1187450"/>
                <a:gd name="connsiteX21" fmla="*/ 536575 w 1205003"/>
                <a:gd name="connsiteY21" fmla="*/ 1111250 h 1187450"/>
                <a:gd name="connsiteX22" fmla="*/ 612775 w 1205003"/>
                <a:gd name="connsiteY22" fmla="*/ 996950 h 1187450"/>
                <a:gd name="connsiteX23" fmla="*/ 663575 w 1205003"/>
                <a:gd name="connsiteY23" fmla="*/ 930275 h 1187450"/>
                <a:gd name="connsiteX24" fmla="*/ 746125 w 1205003"/>
                <a:gd name="connsiteY24" fmla="*/ 815975 h 1187450"/>
                <a:gd name="connsiteX25" fmla="*/ 803275 w 1205003"/>
                <a:gd name="connsiteY25" fmla="*/ 749300 h 1187450"/>
                <a:gd name="connsiteX26" fmla="*/ 869950 w 1205003"/>
                <a:gd name="connsiteY26" fmla="*/ 650875 h 1187450"/>
                <a:gd name="connsiteX27" fmla="*/ 1069975 w 1205003"/>
                <a:gd name="connsiteY27" fmla="*/ 641350 h 1187450"/>
                <a:gd name="connsiteX28" fmla="*/ 1073150 w 1205003"/>
                <a:gd name="connsiteY28" fmla="*/ 542925 h 1187450"/>
                <a:gd name="connsiteX29" fmla="*/ 869950 w 1205003"/>
                <a:gd name="connsiteY29" fmla="*/ 523875 h 1187450"/>
                <a:gd name="connsiteX0" fmla="*/ 869950 w 1205003"/>
                <a:gd name="connsiteY0" fmla="*/ 523875 h 1187450"/>
                <a:gd name="connsiteX1" fmla="*/ 796925 w 1205003"/>
                <a:gd name="connsiteY1" fmla="*/ 434975 h 1187450"/>
                <a:gd name="connsiteX2" fmla="*/ 749300 w 1205003"/>
                <a:gd name="connsiteY2" fmla="*/ 365125 h 1187450"/>
                <a:gd name="connsiteX3" fmla="*/ 666750 w 1205003"/>
                <a:gd name="connsiteY3" fmla="*/ 257175 h 1187450"/>
                <a:gd name="connsiteX4" fmla="*/ 615950 w 1205003"/>
                <a:gd name="connsiteY4" fmla="*/ 184150 h 1187450"/>
                <a:gd name="connsiteX5" fmla="*/ 504825 w 1205003"/>
                <a:gd name="connsiteY5" fmla="*/ 41275 h 1187450"/>
                <a:gd name="connsiteX6" fmla="*/ 428625 w 1205003"/>
                <a:gd name="connsiteY6" fmla="*/ 0 h 1187450"/>
                <a:gd name="connsiteX7" fmla="*/ 377825 w 1205003"/>
                <a:gd name="connsiteY7" fmla="*/ 3175 h 1187450"/>
                <a:gd name="connsiteX8" fmla="*/ 539750 w 1205003"/>
                <a:gd name="connsiteY8" fmla="*/ 384175 h 1187450"/>
                <a:gd name="connsiteX9" fmla="*/ 482600 w 1205003"/>
                <a:gd name="connsiteY9" fmla="*/ 542925 h 1187450"/>
                <a:gd name="connsiteX10" fmla="*/ 215900 w 1205003"/>
                <a:gd name="connsiteY10" fmla="*/ 552450 h 1187450"/>
                <a:gd name="connsiteX11" fmla="*/ 85725 w 1205003"/>
                <a:gd name="connsiteY11" fmla="*/ 393700 h 1187450"/>
                <a:gd name="connsiteX12" fmla="*/ 0 w 1205003"/>
                <a:gd name="connsiteY12" fmla="*/ 374650 h 1187450"/>
                <a:gd name="connsiteX13" fmla="*/ 53975 w 1205003"/>
                <a:gd name="connsiteY13" fmla="*/ 568325 h 1187450"/>
                <a:gd name="connsiteX14" fmla="*/ 50800 w 1205003"/>
                <a:gd name="connsiteY14" fmla="*/ 619125 h 1187450"/>
                <a:gd name="connsiteX15" fmla="*/ 9525 w 1205003"/>
                <a:gd name="connsiteY15" fmla="*/ 806450 h 1187450"/>
                <a:gd name="connsiteX16" fmla="*/ 88900 w 1205003"/>
                <a:gd name="connsiteY16" fmla="*/ 796925 h 1187450"/>
                <a:gd name="connsiteX17" fmla="*/ 212725 w 1205003"/>
                <a:gd name="connsiteY17" fmla="*/ 615950 h 1187450"/>
                <a:gd name="connsiteX18" fmla="*/ 460375 w 1205003"/>
                <a:gd name="connsiteY18" fmla="*/ 638175 h 1187450"/>
                <a:gd name="connsiteX19" fmla="*/ 536575 w 1205003"/>
                <a:gd name="connsiteY19" fmla="*/ 822325 h 1187450"/>
                <a:gd name="connsiteX20" fmla="*/ 390525 w 1205003"/>
                <a:gd name="connsiteY20" fmla="*/ 1187450 h 1187450"/>
                <a:gd name="connsiteX21" fmla="*/ 536575 w 1205003"/>
                <a:gd name="connsiteY21" fmla="*/ 1111250 h 1187450"/>
                <a:gd name="connsiteX22" fmla="*/ 612775 w 1205003"/>
                <a:gd name="connsiteY22" fmla="*/ 996950 h 1187450"/>
                <a:gd name="connsiteX23" fmla="*/ 663575 w 1205003"/>
                <a:gd name="connsiteY23" fmla="*/ 930275 h 1187450"/>
                <a:gd name="connsiteX24" fmla="*/ 746125 w 1205003"/>
                <a:gd name="connsiteY24" fmla="*/ 815975 h 1187450"/>
                <a:gd name="connsiteX25" fmla="*/ 803275 w 1205003"/>
                <a:gd name="connsiteY25" fmla="*/ 749300 h 1187450"/>
                <a:gd name="connsiteX26" fmla="*/ 869950 w 1205003"/>
                <a:gd name="connsiteY26" fmla="*/ 650875 h 1187450"/>
                <a:gd name="connsiteX27" fmla="*/ 1069975 w 1205003"/>
                <a:gd name="connsiteY27" fmla="*/ 641350 h 1187450"/>
                <a:gd name="connsiteX28" fmla="*/ 1073150 w 1205003"/>
                <a:gd name="connsiteY28" fmla="*/ 542925 h 1187450"/>
                <a:gd name="connsiteX29" fmla="*/ 869950 w 1205003"/>
                <a:gd name="connsiteY29" fmla="*/ 523875 h 1187450"/>
                <a:gd name="connsiteX0" fmla="*/ 869950 w 1205003"/>
                <a:gd name="connsiteY0" fmla="*/ 523875 h 1187450"/>
                <a:gd name="connsiteX1" fmla="*/ 796925 w 1205003"/>
                <a:gd name="connsiteY1" fmla="*/ 434975 h 1187450"/>
                <a:gd name="connsiteX2" fmla="*/ 749300 w 1205003"/>
                <a:gd name="connsiteY2" fmla="*/ 365125 h 1187450"/>
                <a:gd name="connsiteX3" fmla="*/ 666750 w 1205003"/>
                <a:gd name="connsiteY3" fmla="*/ 257175 h 1187450"/>
                <a:gd name="connsiteX4" fmla="*/ 615950 w 1205003"/>
                <a:gd name="connsiteY4" fmla="*/ 184150 h 1187450"/>
                <a:gd name="connsiteX5" fmla="*/ 504825 w 1205003"/>
                <a:gd name="connsiteY5" fmla="*/ 41275 h 1187450"/>
                <a:gd name="connsiteX6" fmla="*/ 428625 w 1205003"/>
                <a:gd name="connsiteY6" fmla="*/ 0 h 1187450"/>
                <a:gd name="connsiteX7" fmla="*/ 377825 w 1205003"/>
                <a:gd name="connsiteY7" fmla="*/ 3175 h 1187450"/>
                <a:gd name="connsiteX8" fmla="*/ 539750 w 1205003"/>
                <a:gd name="connsiteY8" fmla="*/ 384175 h 1187450"/>
                <a:gd name="connsiteX9" fmla="*/ 482600 w 1205003"/>
                <a:gd name="connsiteY9" fmla="*/ 542925 h 1187450"/>
                <a:gd name="connsiteX10" fmla="*/ 215900 w 1205003"/>
                <a:gd name="connsiteY10" fmla="*/ 552450 h 1187450"/>
                <a:gd name="connsiteX11" fmla="*/ 85725 w 1205003"/>
                <a:gd name="connsiteY11" fmla="*/ 393700 h 1187450"/>
                <a:gd name="connsiteX12" fmla="*/ 0 w 1205003"/>
                <a:gd name="connsiteY12" fmla="*/ 374650 h 1187450"/>
                <a:gd name="connsiteX13" fmla="*/ 53975 w 1205003"/>
                <a:gd name="connsiteY13" fmla="*/ 568325 h 1187450"/>
                <a:gd name="connsiteX14" fmla="*/ 50800 w 1205003"/>
                <a:gd name="connsiteY14" fmla="*/ 619125 h 1187450"/>
                <a:gd name="connsiteX15" fmla="*/ 9525 w 1205003"/>
                <a:gd name="connsiteY15" fmla="*/ 806450 h 1187450"/>
                <a:gd name="connsiteX16" fmla="*/ 88900 w 1205003"/>
                <a:gd name="connsiteY16" fmla="*/ 796925 h 1187450"/>
                <a:gd name="connsiteX17" fmla="*/ 212725 w 1205003"/>
                <a:gd name="connsiteY17" fmla="*/ 615950 h 1187450"/>
                <a:gd name="connsiteX18" fmla="*/ 460375 w 1205003"/>
                <a:gd name="connsiteY18" fmla="*/ 638175 h 1187450"/>
                <a:gd name="connsiteX19" fmla="*/ 536575 w 1205003"/>
                <a:gd name="connsiteY19" fmla="*/ 822325 h 1187450"/>
                <a:gd name="connsiteX20" fmla="*/ 390525 w 1205003"/>
                <a:gd name="connsiteY20" fmla="*/ 1187450 h 1187450"/>
                <a:gd name="connsiteX21" fmla="*/ 536575 w 1205003"/>
                <a:gd name="connsiteY21" fmla="*/ 1111250 h 1187450"/>
                <a:gd name="connsiteX22" fmla="*/ 612775 w 1205003"/>
                <a:gd name="connsiteY22" fmla="*/ 996950 h 1187450"/>
                <a:gd name="connsiteX23" fmla="*/ 663575 w 1205003"/>
                <a:gd name="connsiteY23" fmla="*/ 930275 h 1187450"/>
                <a:gd name="connsiteX24" fmla="*/ 746125 w 1205003"/>
                <a:gd name="connsiteY24" fmla="*/ 815975 h 1187450"/>
                <a:gd name="connsiteX25" fmla="*/ 803275 w 1205003"/>
                <a:gd name="connsiteY25" fmla="*/ 749300 h 1187450"/>
                <a:gd name="connsiteX26" fmla="*/ 869950 w 1205003"/>
                <a:gd name="connsiteY26" fmla="*/ 650875 h 1187450"/>
                <a:gd name="connsiteX27" fmla="*/ 1069975 w 1205003"/>
                <a:gd name="connsiteY27" fmla="*/ 641350 h 1187450"/>
                <a:gd name="connsiteX28" fmla="*/ 1073150 w 1205003"/>
                <a:gd name="connsiteY28" fmla="*/ 542925 h 1187450"/>
                <a:gd name="connsiteX29" fmla="*/ 869950 w 1205003"/>
                <a:gd name="connsiteY29" fmla="*/ 523875 h 1187450"/>
                <a:gd name="connsiteX0" fmla="*/ 869950 w 1205003"/>
                <a:gd name="connsiteY0" fmla="*/ 523875 h 1187450"/>
                <a:gd name="connsiteX1" fmla="*/ 796925 w 1205003"/>
                <a:gd name="connsiteY1" fmla="*/ 434975 h 1187450"/>
                <a:gd name="connsiteX2" fmla="*/ 749300 w 1205003"/>
                <a:gd name="connsiteY2" fmla="*/ 365125 h 1187450"/>
                <a:gd name="connsiteX3" fmla="*/ 666750 w 1205003"/>
                <a:gd name="connsiteY3" fmla="*/ 257175 h 1187450"/>
                <a:gd name="connsiteX4" fmla="*/ 615950 w 1205003"/>
                <a:gd name="connsiteY4" fmla="*/ 184150 h 1187450"/>
                <a:gd name="connsiteX5" fmla="*/ 504825 w 1205003"/>
                <a:gd name="connsiteY5" fmla="*/ 41275 h 1187450"/>
                <a:gd name="connsiteX6" fmla="*/ 428625 w 1205003"/>
                <a:gd name="connsiteY6" fmla="*/ 0 h 1187450"/>
                <a:gd name="connsiteX7" fmla="*/ 377825 w 1205003"/>
                <a:gd name="connsiteY7" fmla="*/ 3175 h 1187450"/>
                <a:gd name="connsiteX8" fmla="*/ 539750 w 1205003"/>
                <a:gd name="connsiteY8" fmla="*/ 384175 h 1187450"/>
                <a:gd name="connsiteX9" fmla="*/ 482600 w 1205003"/>
                <a:gd name="connsiteY9" fmla="*/ 542925 h 1187450"/>
                <a:gd name="connsiteX10" fmla="*/ 215900 w 1205003"/>
                <a:gd name="connsiteY10" fmla="*/ 552450 h 1187450"/>
                <a:gd name="connsiteX11" fmla="*/ 85725 w 1205003"/>
                <a:gd name="connsiteY11" fmla="*/ 393700 h 1187450"/>
                <a:gd name="connsiteX12" fmla="*/ 0 w 1205003"/>
                <a:gd name="connsiteY12" fmla="*/ 374650 h 1187450"/>
                <a:gd name="connsiteX13" fmla="*/ 53975 w 1205003"/>
                <a:gd name="connsiteY13" fmla="*/ 568325 h 1187450"/>
                <a:gd name="connsiteX14" fmla="*/ 50800 w 1205003"/>
                <a:gd name="connsiteY14" fmla="*/ 619125 h 1187450"/>
                <a:gd name="connsiteX15" fmla="*/ 9525 w 1205003"/>
                <a:gd name="connsiteY15" fmla="*/ 806450 h 1187450"/>
                <a:gd name="connsiteX16" fmla="*/ 88900 w 1205003"/>
                <a:gd name="connsiteY16" fmla="*/ 796925 h 1187450"/>
                <a:gd name="connsiteX17" fmla="*/ 212725 w 1205003"/>
                <a:gd name="connsiteY17" fmla="*/ 615950 h 1187450"/>
                <a:gd name="connsiteX18" fmla="*/ 460375 w 1205003"/>
                <a:gd name="connsiteY18" fmla="*/ 638175 h 1187450"/>
                <a:gd name="connsiteX19" fmla="*/ 536575 w 1205003"/>
                <a:gd name="connsiteY19" fmla="*/ 822325 h 1187450"/>
                <a:gd name="connsiteX20" fmla="*/ 390525 w 1205003"/>
                <a:gd name="connsiteY20" fmla="*/ 1187450 h 1187450"/>
                <a:gd name="connsiteX21" fmla="*/ 536575 w 1205003"/>
                <a:gd name="connsiteY21" fmla="*/ 1111250 h 1187450"/>
                <a:gd name="connsiteX22" fmla="*/ 612775 w 1205003"/>
                <a:gd name="connsiteY22" fmla="*/ 996950 h 1187450"/>
                <a:gd name="connsiteX23" fmla="*/ 663575 w 1205003"/>
                <a:gd name="connsiteY23" fmla="*/ 930275 h 1187450"/>
                <a:gd name="connsiteX24" fmla="*/ 746125 w 1205003"/>
                <a:gd name="connsiteY24" fmla="*/ 815975 h 1187450"/>
                <a:gd name="connsiteX25" fmla="*/ 803275 w 1205003"/>
                <a:gd name="connsiteY25" fmla="*/ 749300 h 1187450"/>
                <a:gd name="connsiteX26" fmla="*/ 869950 w 1205003"/>
                <a:gd name="connsiteY26" fmla="*/ 650875 h 1187450"/>
                <a:gd name="connsiteX27" fmla="*/ 1069975 w 1205003"/>
                <a:gd name="connsiteY27" fmla="*/ 641350 h 1187450"/>
                <a:gd name="connsiteX28" fmla="*/ 1073150 w 1205003"/>
                <a:gd name="connsiteY28" fmla="*/ 542925 h 1187450"/>
                <a:gd name="connsiteX29" fmla="*/ 869950 w 1205003"/>
                <a:gd name="connsiteY29" fmla="*/ 523875 h 1187450"/>
                <a:gd name="connsiteX0" fmla="*/ 869950 w 1205003"/>
                <a:gd name="connsiteY0" fmla="*/ 523875 h 1187450"/>
                <a:gd name="connsiteX1" fmla="*/ 796925 w 1205003"/>
                <a:gd name="connsiteY1" fmla="*/ 434975 h 1187450"/>
                <a:gd name="connsiteX2" fmla="*/ 749300 w 1205003"/>
                <a:gd name="connsiteY2" fmla="*/ 365125 h 1187450"/>
                <a:gd name="connsiteX3" fmla="*/ 666750 w 1205003"/>
                <a:gd name="connsiteY3" fmla="*/ 257175 h 1187450"/>
                <a:gd name="connsiteX4" fmla="*/ 615950 w 1205003"/>
                <a:gd name="connsiteY4" fmla="*/ 184150 h 1187450"/>
                <a:gd name="connsiteX5" fmla="*/ 504825 w 1205003"/>
                <a:gd name="connsiteY5" fmla="*/ 41275 h 1187450"/>
                <a:gd name="connsiteX6" fmla="*/ 428625 w 1205003"/>
                <a:gd name="connsiteY6" fmla="*/ 0 h 1187450"/>
                <a:gd name="connsiteX7" fmla="*/ 377825 w 1205003"/>
                <a:gd name="connsiteY7" fmla="*/ 3175 h 1187450"/>
                <a:gd name="connsiteX8" fmla="*/ 539750 w 1205003"/>
                <a:gd name="connsiteY8" fmla="*/ 384175 h 1187450"/>
                <a:gd name="connsiteX9" fmla="*/ 482600 w 1205003"/>
                <a:gd name="connsiteY9" fmla="*/ 542925 h 1187450"/>
                <a:gd name="connsiteX10" fmla="*/ 215900 w 1205003"/>
                <a:gd name="connsiteY10" fmla="*/ 552450 h 1187450"/>
                <a:gd name="connsiteX11" fmla="*/ 85725 w 1205003"/>
                <a:gd name="connsiteY11" fmla="*/ 393700 h 1187450"/>
                <a:gd name="connsiteX12" fmla="*/ 0 w 1205003"/>
                <a:gd name="connsiteY12" fmla="*/ 374650 h 1187450"/>
                <a:gd name="connsiteX13" fmla="*/ 53975 w 1205003"/>
                <a:gd name="connsiteY13" fmla="*/ 568325 h 1187450"/>
                <a:gd name="connsiteX14" fmla="*/ 50800 w 1205003"/>
                <a:gd name="connsiteY14" fmla="*/ 619125 h 1187450"/>
                <a:gd name="connsiteX15" fmla="*/ 9525 w 1205003"/>
                <a:gd name="connsiteY15" fmla="*/ 806450 h 1187450"/>
                <a:gd name="connsiteX16" fmla="*/ 88900 w 1205003"/>
                <a:gd name="connsiteY16" fmla="*/ 796925 h 1187450"/>
                <a:gd name="connsiteX17" fmla="*/ 212725 w 1205003"/>
                <a:gd name="connsiteY17" fmla="*/ 615950 h 1187450"/>
                <a:gd name="connsiteX18" fmla="*/ 460375 w 1205003"/>
                <a:gd name="connsiteY18" fmla="*/ 638175 h 1187450"/>
                <a:gd name="connsiteX19" fmla="*/ 536575 w 1205003"/>
                <a:gd name="connsiteY19" fmla="*/ 822325 h 1187450"/>
                <a:gd name="connsiteX20" fmla="*/ 390525 w 1205003"/>
                <a:gd name="connsiteY20" fmla="*/ 1187450 h 1187450"/>
                <a:gd name="connsiteX21" fmla="*/ 536575 w 1205003"/>
                <a:gd name="connsiteY21" fmla="*/ 1111250 h 1187450"/>
                <a:gd name="connsiteX22" fmla="*/ 612775 w 1205003"/>
                <a:gd name="connsiteY22" fmla="*/ 996950 h 1187450"/>
                <a:gd name="connsiteX23" fmla="*/ 663575 w 1205003"/>
                <a:gd name="connsiteY23" fmla="*/ 930275 h 1187450"/>
                <a:gd name="connsiteX24" fmla="*/ 746125 w 1205003"/>
                <a:gd name="connsiteY24" fmla="*/ 815975 h 1187450"/>
                <a:gd name="connsiteX25" fmla="*/ 803275 w 1205003"/>
                <a:gd name="connsiteY25" fmla="*/ 749300 h 1187450"/>
                <a:gd name="connsiteX26" fmla="*/ 869950 w 1205003"/>
                <a:gd name="connsiteY26" fmla="*/ 650875 h 1187450"/>
                <a:gd name="connsiteX27" fmla="*/ 1069975 w 1205003"/>
                <a:gd name="connsiteY27" fmla="*/ 641350 h 1187450"/>
                <a:gd name="connsiteX28" fmla="*/ 1073150 w 1205003"/>
                <a:gd name="connsiteY28" fmla="*/ 542925 h 1187450"/>
                <a:gd name="connsiteX29" fmla="*/ 869950 w 1205003"/>
                <a:gd name="connsiteY29" fmla="*/ 523875 h 1187450"/>
                <a:gd name="connsiteX0" fmla="*/ 869950 w 1205003"/>
                <a:gd name="connsiteY0" fmla="*/ 523875 h 1187450"/>
                <a:gd name="connsiteX1" fmla="*/ 796925 w 1205003"/>
                <a:gd name="connsiteY1" fmla="*/ 434975 h 1187450"/>
                <a:gd name="connsiteX2" fmla="*/ 749300 w 1205003"/>
                <a:gd name="connsiteY2" fmla="*/ 365125 h 1187450"/>
                <a:gd name="connsiteX3" fmla="*/ 666750 w 1205003"/>
                <a:gd name="connsiteY3" fmla="*/ 257175 h 1187450"/>
                <a:gd name="connsiteX4" fmla="*/ 615950 w 1205003"/>
                <a:gd name="connsiteY4" fmla="*/ 184150 h 1187450"/>
                <a:gd name="connsiteX5" fmla="*/ 504825 w 1205003"/>
                <a:gd name="connsiteY5" fmla="*/ 41275 h 1187450"/>
                <a:gd name="connsiteX6" fmla="*/ 428625 w 1205003"/>
                <a:gd name="connsiteY6" fmla="*/ 0 h 1187450"/>
                <a:gd name="connsiteX7" fmla="*/ 377825 w 1205003"/>
                <a:gd name="connsiteY7" fmla="*/ 3175 h 1187450"/>
                <a:gd name="connsiteX8" fmla="*/ 539750 w 1205003"/>
                <a:gd name="connsiteY8" fmla="*/ 384175 h 1187450"/>
                <a:gd name="connsiteX9" fmla="*/ 482600 w 1205003"/>
                <a:gd name="connsiteY9" fmla="*/ 542925 h 1187450"/>
                <a:gd name="connsiteX10" fmla="*/ 215900 w 1205003"/>
                <a:gd name="connsiteY10" fmla="*/ 552450 h 1187450"/>
                <a:gd name="connsiteX11" fmla="*/ 85725 w 1205003"/>
                <a:gd name="connsiteY11" fmla="*/ 393700 h 1187450"/>
                <a:gd name="connsiteX12" fmla="*/ 0 w 1205003"/>
                <a:gd name="connsiteY12" fmla="*/ 374650 h 1187450"/>
                <a:gd name="connsiteX13" fmla="*/ 53975 w 1205003"/>
                <a:gd name="connsiteY13" fmla="*/ 568325 h 1187450"/>
                <a:gd name="connsiteX14" fmla="*/ 50800 w 1205003"/>
                <a:gd name="connsiteY14" fmla="*/ 619125 h 1187450"/>
                <a:gd name="connsiteX15" fmla="*/ 9525 w 1205003"/>
                <a:gd name="connsiteY15" fmla="*/ 806450 h 1187450"/>
                <a:gd name="connsiteX16" fmla="*/ 88900 w 1205003"/>
                <a:gd name="connsiteY16" fmla="*/ 796925 h 1187450"/>
                <a:gd name="connsiteX17" fmla="*/ 212725 w 1205003"/>
                <a:gd name="connsiteY17" fmla="*/ 615950 h 1187450"/>
                <a:gd name="connsiteX18" fmla="*/ 460375 w 1205003"/>
                <a:gd name="connsiteY18" fmla="*/ 638175 h 1187450"/>
                <a:gd name="connsiteX19" fmla="*/ 536575 w 1205003"/>
                <a:gd name="connsiteY19" fmla="*/ 822325 h 1187450"/>
                <a:gd name="connsiteX20" fmla="*/ 390525 w 1205003"/>
                <a:gd name="connsiteY20" fmla="*/ 1187450 h 1187450"/>
                <a:gd name="connsiteX21" fmla="*/ 536575 w 1205003"/>
                <a:gd name="connsiteY21" fmla="*/ 1111250 h 1187450"/>
                <a:gd name="connsiteX22" fmla="*/ 612775 w 1205003"/>
                <a:gd name="connsiteY22" fmla="*/ 996950 h 1187450"/>
                <a:gd name="connsiteX23" fmla="*/ 663575 w 1205003"/>
                <a:gd name="connsiteY23" fmla="*/ 930275 h 1187450"/>
                <a:gd name="connsiteX24" fmla="*/ 746125 w 1205003"/>
                <a:gd name="connsiteY24" fmla="*/ 815975 h 1187450"/>
                <a:gd name="connsiteX25" fmla="*/ 803275 w 1205003"/>
                <a:gd name="connsiteY25" fmla="*/ 749300 h 1187450"/>
                <a:gd name="connsiteX26" fmla="*/ 869950 w 1205003"/>
                <a:gd name="connsiteY26" fmla="*/ 650875 h 1187450"/>
                <a:gd name="connsiteX27" fmla="*/ 1069975 w 1205003"/>
                <a:gd name="connsiteY27" fmla="*/ 641350 h 1187450"/>
                <a:gd name="connsiteX28" fmla="*/ 1073150 w 1205003"/>
                <a:gd name="connsiteY28" fmla="*/ 542925 h 1187450"/>
                <a:gd name="connsiteX29" fmla="*/ 869950 w 1205003"/>
                <a:gd name="connsiteY29" fmla="*/ 523875 h 1187450"/>
                <a:gd name="connsiteX0" fmla="*/ 869950 w 1205003"/>
                <a:gd name="connsiteY0" fmla="*/ 523875 h 1187450"/>
                <a:gd name="connsiteX1" fmla="*/ 796925 w 1205003"/>
                <a:gd name="connsiteY1" fmla="*/ 434975 h 1187450"/>
                <a:gd name="connsiteX2" fmla="*/ 749300 w 1205003"/>
                <a:gd name="connsiteY2" fmla="*/ 365125 h 1187450"/>
                <a:gd name="connsiteX3" fmla="*/ 666750 w 1205003"/>
                <a:gd name="connsiteY3" fmla="*/ 257175 h 1187450"/>
                <a:gd name="connsiteX4" fmla="*/ 615950 w 1205003"/>
                <a:gd name="connsiteY4" fmla="*/ 184150 h 1187450"/>
                <a:gd name="connsiteX5" fmla="*/ 504825 w 1205003"/>
                <a:gd name="connsiteY5" fmla="*/ 41275 h 1187450"/>
                <a:gd name="connsiteX6" fmla="*/ 428625 w 1205003"/>
                <a:gd name="connsiteY6" fmla="*/ 0 h 1187450"/>
                <a:gd name="connsiteX7" fmla="*/ 377825 w 1205003"/>
                <a:gd name="connsiteY7" fmla="*/ 3175 h 1187450"/>
                <a:gd name="connsiteX8" fmla="*/ 539750 w 1205003"/>
                <a:gd name="connsiteY8" fmla="*/ 384175 h 1187450"/>
                <a:gd name="connsiteX9" fmla="*/ 482600 w 1205003"/>
                <a:gd name="connsiteY9" fmla="*/ 542925 h 1187450"/>
                <a:gd name="connsiteX10" fmla="*/ 215900 w 1205003"/>
                <a:gd name="connsiteY10" fmla="*/ 552450 h 1187450"/>
                <a:gd name="connsiteX11" fmla="*/ 85725 w 1205003"/>
                <a:gd name="connsiteY11" fmla="*/ 393700 h 1187450"/>
                <a:gd name="connsiteX12" fmla="*/ 0 w 1205003"/>
                <a:gd name="connsiteY12" fmla="*/ 374650 h 1187450"/>
                <a:gd name="connsiteX13" fmla="*/ 53975 w 1205003"/>
                <a:gd name="connsiteY13" fmla="*/ 568325 h 1187450"/>
                <a:gd name="connsiteX14" fmla="*/ 50800 w 1205003"/>
                <a:gd name="connsiteY14" fmla="*/ 619125 h 1187450"/>
                <a:gd name="connsiteX15" fmla="*/ 9525 w 1205003"/>
                <a:gd name="connsiteY15" fmla="*/ 806450 h 1187450"/>
                <a:gd name="connsiteX16" fmla="*/ 88900 w 1205003"/>
                <a:gd name="connsiteY16" fmla="*/ 796925 h 1187450"/>
                <a:gd name="connsiteX17" fmla="*/ 212725 w 1205003"/>
                <a:gd name="connsiteY17" fmla="*/ 615950 h 1187450"/>
                <a:gd name="connsiteX18" fmla="*/ 460375 w 1205003"/>
                <a:gd name="connsiteY18" fmla="*/ 638175 h 1187450"/>
                <a:gd name="connsiteX19" fmla="*/ 536575 w 1205003"/>
                <a:gd name="connsiteY19" fmla="*/ 822325 h 1187450"/>
                <a:gd name="connsiteX20" fmla="*/ 390525 w 1205003"/>
                <a:gd name="connsiteY20" fmla="*/ 1187450 h 1187450"/>
                <a:gd name="connsiteX21" fmla="*/ 536575 w 1205003"/>
                <a:gd name="connsiteY21" fmla="*/ 1111250 h 1187450"/>
                <a:gd name="connsiteX22" fmla="*/ 612775 w 1205003"/>
                <a:gd name="connsiteY22" fmla="*/ 996950 h 1187450"/>
                <a:gd name="connsiteX23" fmla="*/ 663575 w 1205003"/>
                <a:gd name="connsiteY23" fmla="*/ 930275 h 1187450"/>
                <a:gd name="connsiteX24" fmla="*/ 746125 w 1205003"/>
                <a:gd name="connsiteY24" fmla="*/ 815975 h 1187450"/>
                <a:gd name="connsiteX25" fmla="*/ 803275 w 1205003"/>
                <a:gd name="connsiteY25" fmla="*/ 749300 h 1187450"/>
                <a:gd name="connsiteX26" fmla="*/ 869950 w 1205003"/>
                <a:gd name="connsiteY26" fmla="*/ 650875 h 1187450"/>
                <a:gd name="connsiteX27" fmla="*/ 1069975 w 1205003"/>
                <a:gd name="connsiteY27" fmla="*/ 641350 h 1187450"/>
                <a:gd name="connsiteX28" fmla="*/ 1073150 w 1205003"/>
                <a:gd name="connsiteY28" fmla="*/ 542925 h 1187450"/>
                <a:gd name="connsiteX29" fmla="*/ 869950 w 1205003"/>
                <a:gd name="connsiteY29" fmla="*/ 523875 h 1187450"/>
                <a:gd name="connsiteX0" fmla="*/ 869950 w 1205003"/>
                <a:gd name="connsiteY0" fmla="*/ 523875 h 1187450"/>
                <a:gd name="connsiteX1" fmla="*/ 796925 w 1205003"/>
                <a:gd name="connsiteY1" fmla="*/ 434975 h 1187450"/>
                <a:gd name="connsiteX2" fmla="*/ 749300 w 1205003"/>
                <a:gd name="connsiteY2" fmla="*/ 365125 h 1187450"/>
                <a:gd name="connsiteX3" fmla="*/ 666750 w 1205003"/>
                <a:gd name="connsiteY3" fmla="*/ 257175 h 1187450"/>
                <a:gd name="connsiteX4" fmla="*/ 615950 w 1205003"/>
                <a:gd name="connsiteY4" fmla="*/ 184150 h 1187450"/>
                <a:gd name="connsiteX5" fmla="*/ 504825 w 1205003"/>
                <a:gd name="connsiteY5" fmla="*/ 41275 h 1187450"/>
                <a:gd name="connsiteX6" fmla="*/ 428625 w 1205003"/>
                <a:gd name="connsiteY6" fmla="*/ 0 h 1187450"/>
                <a:gd name="connsiteX7" fmla="*/ 377825 w 1205003"/>
                <a:gd name="connsiteY7" fmla="*/ 3175 h 1187450"/>
                <a:gd name="connsiteX8" fmla="*/ 539750 w 1205003"/>
                <a:gd name="connsiteY8" fmla="*/ 384175 h 1187450"/>
                <a:gd name="connsiteX9" fmla="*/ 482600 w 1205003"/>
                <a:gd name="connsiteY9" fmla="*/ 542925 h 1187450"/>
                <a:gd name="connsiteX10" fmla="*/ 215900 w 1205003"/>
                <a:gd name="connsiteY10" fmla="*/ 552450 h 1187450"/>
                <a:gd name="connsiteX11" fmla="*/ 85725 w 1205003"/>
                <a:gd name="connsiteY11" fmla="*/ 393700 h 1187450"/>
                <a:gd name="connsiteX12" fmla="*/ 0 w 1205003"/>
                <a:gd name="connsiteY12" fmla="*/ 374650 h 1187450"/>
                <a:gd name="connsiteX13" fmla="*/ 53975 w 1205003"/>
                <a:gd name="connsiteY13" fmla="*/ 568325 h 1187450"/>
                <a:gd name="connsiteX14" fmla="*/ 50800 w 1205003"/>
                <a:gd name="connsiteY14" fmla="*/ 619125 h 1187450"/>
                <a:gd name="connsiteX15" fmla="*/ 9525 w 1205003"/>
                <a:gd name="connsiteY15" fmla="*/ 806450 h 1187450"/>
                <a:gd name="connsiteX16" fmla="*/ 88900 w 1205003"/>
                <a:gd name="connsiteY16" fmla="*/ 796925 h 1187450"/>
                <a:gd name="connsiteX17" fmla="*/ 212725 w 1205003"/>
                <a:gd name="connsiteY17" fmla="*/ 615950 h 1187450"/>
                <a:gd name="connsiteX18" fmla="*/ 460375 w 1205003"/>
                <a:gd name="connsiteY18" fmla="*/ 638175 h 1187450"/>
                <a:gd name="connsiteX19" fmla="*/ 536575 w 1205003"/>
                <a:gd name="connsiteY19" fmla="*/ 822325 h 1187450"/>
                <a:gd name="connsiteX20" fmla="*/ 390525 w 1205003"/>
                <a:gd name="connsiteY20" fmla="*/ 1187450 h 1187450"/>
                <a:gd name="connsiteX21" fmla="*/ 536575 w 1205003"/>
                <a:gd name="connsiteY21" fmla="*/ 1111250 h 1187450"/>
                <a:gd name="connsiteX22" fmla="*/ 612775 w 1205003"/>
                <a:gd name="connsiteY22" fmla="*/ 996950 h 1187450"/>
                <a:gd name="connsiteX23" fmla="*/ 663575 w 1205003"/>
                <a:gd name="connsiteY23" fmla="*/ 930275 h 1187450"/>
                <a:gd name="connsiteX24" fmla="*/ 746125 w 1205003"/>
                <a:gd name="connsiteY24" fmla="*/ 815975 h 1187450"/>
                <a:gd name="connsiteX25" fmla="*/ 803275 w 1205003"/>
                <a:gd name="connsiteY25" fmla="*/ 749300 h 1187450"/>
                <a:gd name="connsiteX26" fmla="*/ 869950 w 1205003"/>
                <a:gd name="connsiteY26" fmla="*/ 650875 h 1187450"/>
                <a:gd name="connsiteX27" fmla="*/ 1069975 w 1205003"/>
                <a:gd name="connsiteY27" fmla="*/ 641350 h 1187450"/>
                <a:gd name="connsiteX28" fmla="*/ 1073150 w 1205003"/>
                <a:gd name="connsiteY28" fmla="*/ 542925 h 1187450"/>
                <a:gd name="connsiteX29" fmla="*/ 869950 w 1205003"/>
                <a:gd name="connsiteY29" fmla="*/ 523875 h 1187450"/>
                <a:gd name="connsiteX0" fmla="*/ 869950 w 1205003"/>
                <a:gd name="connsiteY0" fmla="*/ 523875 h 1187450"/>
                <a:gd name="connsiteX1" fmla="*/ 796925 w 1205003"/>
                <a:gd name="connsiteY1" fmla="*/ 434975 h 1187450"/>
                <a:gd name="connsiteX2" fmla="*/ 749300 w 1205003"/>
                <a:gd name="connsiteY2" fmla="*/ 365125 h 1187450"/>
                <a:gd name="connsiteX3" fmla="*/ 666750 w 1205003"/>
                <a:gd name="connsiteY3" fmla="*/ 257175 h 1187450"/>
                <a:gd name="connsiteX4" fmla="*/ 615950 w 1205003"/>
                <a:gd name="connsiteY4" fmla="*/ 184150 h 1187450"/>
                <a:gd name="connsiteX5" fmla="*/ 504825 w 1205003"/>
                <a:gd name="connsiteY5" fmla="*/ 41275 h 1187450"/>
                <a:gd name="connsiteX6" fmla="*/ 428625 w 1205003"/>
                <a:gd name="connsiteY6" fmla="*/ 0 h 1187450"/>
                <a:gd name="connsiteX7" fmla="*/ 377825 w 1205003"/>
                <a:gd name="connsiteY7" fmla="*/ 3175 h 1187450"/>
                <a:gd name="connsiteX8" fmla="*/ 539750 w 1205003"/>
                <a:gd name="connsiteY8" fmla="*/ 384175 h 1187450"/>
                <a:gd name="connsiteX9" fmla="*/ 482600 w 1205003"/>
                <a:gd name="connsiteY9" fmla="*/ 542925 h 1187450"/>
                <a:gd name="connsiteX10" fmla="*/ 215900 w 1205003"/>
                <a:gd name="connsiteY10" fmla="*/ 552450 h 1187450"/>
                <a:gd name="connsiteX11" fmla="*/ 85725 w 1205003"/>
                <a:gd name="connsiteY11" fmla="*/ 393700 h 1187450"/>
                <a:gd name="connsiteX12" fmla="*/ 0 w 1205003"/>
                <a:gd name="connsiteY12" fmla="*/ 374650 h 1187450"/>
                <a:gd name="connsiteX13" fmla="*/ 53975 w 1205003"/>
                <a:gd name="connsiteY13" fmla="*/ 568325 h 1187450"/>
                <a:gd name="connsiteX14" fmla="*/ 50800 w 1205003"/>
                <a:gd name="connsiteY14" fmla="*/ 619125 h 1187450"/>
                <a:gd name="connsiteX15" fmla="*/ 9525 w 1205003"/>
                <a:gd name="connsiteY15" fmla="*/ 806450 h 1187450"/>
                <a:gd name="connsiteX16" fmla="*/ 88900 w 1205003"/>
                <a:gd name="connsiteY16" fmla="*/ 796925 h 1187450"/>
                <a:gd name="connsiteX17" fmla="*/ 212725 w 1205003"/>
                <a:gd name="connsiteY17" fmla="*/ 615950 h 1187450"/>
                <a:gd name="connsiteX18" fmla="*/ 460375 w 1205003"/>
                <a:gd name="connsiteY18" fmla="*/ 638175 h 1187450"/>
                <a:gd name="connsiteX19" fmla="*/ 536575 w 1205003"/>
                <a:gd name="connsiteY19" fmla="*/ 822325 h 1187450"/>
                <a:gd name="connsiteX20" fmla="*/ 390525 w 1205003"/>
                <a:gd name="connsiteY20" fmla="*/ 1187450 h 1187450"/>
                <a:gd name="connsiteX21" fmla="*/ 536575 w 1205003"/>
                <a:gd name="connsiteY21" fmla="*/ 1111250 h 1187450"/>
                <a:gd name="connsiteX22" fmla="*/ 612775 w 1205003"/>
                <a:gd name="connsiteY22" fmla="*/ 996950 h 1187450"/>
                <a:gd name="connsiteX23" fmla="*/ 663575 w 1205003"/>
                <a:gd name="connsiteY23" fmla="*/ 930275 h 1187450"/>
                <a:gd name="connsiteX24" fmla="*/ 746125 w 1205003"/>
                <a:gd name="connsiteY24" fmla="*/ 815975 h 1187450"/>
                <a:gd name="connsiteX25" fmla="*/ 803275 w 1205003"/>
                <a:gd name="connsiteY25" fmla="*/ 749300 h 1187450"/>
                <a:gd name="connsiteX26" fmla="*/ 869950 w 1205003"/>
                <a:gd name="connsiteY26" fmla="*/ 650875 h 1187450"/>
                <a:gd name="connsiteX27" fmla="*/ 1069975 w 1205003"/>
                <a:gd name="connsiteY27" fmla="*/ 641350 h 1187450"/>
                <a:gd name="connsiteX28" fmla="*/ 1073150 w 1205003"/>
                <a:gd name="connsiteY28" fmla="*/ 542925 h 1187450"/>
                <a:gd name="connsiteX29" fmla="*/ 869950 w 1205003"/>
                <a:gd name="connsiteY29" fmla="*/ 523875 h 1187450"/>
                <a:gd name="connsiteX0" fmla="*/ 869950 w 1205003"/>
                <a:gd name="connsiteY0" fmla="*/ 523875 h 1187450"/>
                <a:gd name="connsiteX1" fmla="*/ 796925 w 1205003"/>
                <a:gd name="connsiteY1" fmla="*/ 434975 h 1187450"/>
                <a:gd name="connsiteX2" fmla="*/ 749300 w 1205003"/>
                <a:gd name="connsiteY2" fmla="*/ 365125 h 1187450"/>
                <a:gd name="connsiteX3" fmla="*/ 666750 w 1205003"/>
                <a:gd name="connsiteY3" fmla="*/ 257175 h 1187450"/>
                <a:gd name="connsiteX4" fmla="*/ 615950 w 1205003"/>
                <a:gd name="connsiteY4" fmla="*/ 184150 h 1187450"/>
                <a:gd name="connsiteX5" fmla="*/ 504825 w 1205003"/>
                <a:gd name="connsiteY5" fmla="*/ 41275 h 1187450"/>
                <a:gd name="connsiteX6" fmla="*/ 428625 w 1205003"/>
                <a:gd name="connsiteY6" fmla="*/ 0 h 1187450"/>
                <a:gd name="connsiteX7" fmla="*/ 377825 w 1205003"/>
                <a:gd name="connsiteY7" fmla="*/ 3175 h 1187450"/>
                <a:gd name="connsiteX8" fmla="*/ 539750 w 1205003"/>
                <a:gd name="connsiteY8" fmla="*/ 384175 h 1187450"/>
                <a:gd name="connsiteX9" fmla="*/ 482600 w 1205003"/>
                <a:gd name="connsiteY9" fmla="*/ 542925 h 1187450"/>
                <a:gd name="connsiteX10" fmla="*/ 215900 w 1205003"/>
                <a:gd name="connsiteY10" fmla="*/ 552450 h 1187450"/>
                <a:gd name="connsiteX11" fmla="*/ 85725 w 1205003"/>
                <a:gd name="connsiteY11" fmla="*/ 393700 h 1187450"/>
                <a:gd name="connsiteX12" fmla="*/ 0 w 1205003"/>
                <a:gd name="connsiteY12" fmla="*/ 374650 h 1187450"/>
                <a:gd name="connsiteX13" fmla="*/ 53975 w 1205003"/>
                <a:gd name="connsiteY13" fmla="*/ 568325 h 1187450"/>
                <a:gd name="connsiteX14" fmla="*/ 50800 w 1205003"/>
                <a:gd name="connsiteY14" fmla="*/ 619125 h 1187450"/>
                <a:gd name="connsiteX15" fmla="*/ 9525 w 1205003"/>
                <a:gd name="connsiteY15" fmla="*/ 806450 h 1187450"/>
                <a:gd name="connsiteX16" fmla="*/ 88900 w 1205003"/>
                <a:gd name="connsiteY16" fmla="*/ 796925 h 1187450"/>
                <a:gd name="connsiteX17" fmla="*/ 212725 w 1205003"/>
                <a:gd name="connsiteY17" fmla="*/ 615950 h 1187450"/>
                <a:gd name="connsiteX18" fmla="*/ 460375 w 1205003"/>
                <a:gd name="connsiteY18" fmla="*/ 638175 h 1187450"/>
                <a:gd name="connsiteX19" fmla="*/ 536575 w 1205003"/>
                <a:gd name="connsiteY19" fmla="*/ 822325 h 1187450"/>
                <a:gd name="connsiteX20" fmla="*/ 390525 w 1205003"/>
                <a:gd name="connsiteY20" fmla="*/ 1187450 h 1187450"/>
                <a:gd name="connsiteX21" fmla="*/ 536575 w 1205003"/>
                <a:gd name="connsiteY21" fmla="*/ 1111250 h 1187450"/>
                <a:gd name="connsiteX22" fmla="*/ 612775 w 1205003"/>
                <a:gd name="connsiteY22" fmla="*/ 996950 h 1187450"/>
                <a:gd name="connsiteX23" fmla="*/ 663575 w 1205003"/>
                <a:gd name="connsiteY23" fmla="*/ 930275 h 1187450"/>
                <a:gd name="connsiteX24" fmla="*/ 746125 w 1205003"/>
                <a:gd name="connsiteY24" fmla="*/ 815975 h 1187450"/>
                <a:gd name="connsiteX25" fmla="*/ 803275 w 1205003"/>
                <a:gd name="connsiteY25" fmla="*/ 749300 h 1187450"/>
                <a:gd name="connsiteX26" fmla="*/ 869950 w 1205003"/>
                <a:gd name="connsiteY26" fmla="*/ 650875 h 1187450"/>
                <a:gd name="connsiteX27" fmla="*/ 1069975 w 1205003"/>
                <a:gd name="connsiteY27" fmla="*/ 641350 h 1187450"/>
                <a:gd name="connsiteX28" fmla="*/ 1073150 w 1205003"/>
                <a:gd name="connsiteY28" fmla="*/ 542925 h 1187450"/>
                <a:gd name="connsiteX29" fmla="*/ 869950 w 1205003"/>
                <a:gd name="connsiteY29" fmla="*/ 523875 h 1187450"/>
                <a:gd name="connsiteX0" fmla="*/ 869950 w 1205003"/>
                <a:gd name="connsiteY0" fmla="*/ 523875 h 1187450"/>
                <a:gd name="connsiteX1" fmla="*/ 796925 w 1205003"/>
                <a:gd name="connsiteY1" fmla="*/ 434975 h 1187450"/>
                <a:gd name="connsiteX2" fmla="*/ 749300 w 1205003"/>
                <a:gd name="connsiteY2" fmla="*/ 365125 h 1187450"/>
                <a:gd name="connsiteX3" fmla="*/ 666750 w 1205003"/>
                <a:gd name="connsiteY3" fmla="*/ 257175 h 1187450"/>
                <a:gd name="connsiteX4" fmla="*/ 615950 w 1205003"/>
                <a:gd name="connsiteY4" fmla="*/ 184150 h 1187450"/>
                <a:gd name="connsiteX5" fmla="*/ 504825 w 1205003"/>
                <a:gd name="connsiteY5" fmla="*/ 41275 h 1187450"/>
                <a:gd name="connsiteX6" fmla="*/ 428625 w 1205003"/>
                <a:gd name="connsiteY6" fmla="*/ 0 h 1187450"/>
                <a:gd name="connsiteX7" fmla="*/ 377825 w 1205003"/>
                <a:gd name="connsiteY7" fmla="*/ 3175 h 1187450"/>
                <a:gd name="connsiteX8" fmla="*/ 539750 w 1205003"/>
                <a:gd name="connsiteY8" fmla="*/ 384175 h 1187450"/>
                <a:gd name="connsiteX9" fmla="*/ 482600 w 1205003"/>
                <a:gd name="connsiteY9" fmla="*/ 542925 h 1187450"/>
                <a:gd name="connsiteX10" fmla="*/ 215900 w 1205003"/>
                <a:gd name="connsiteY10" fmla="*/ 552450 h 1187450"/>
                <a:gd name="connsiteX11" fmla="*/ 85725 w 1205003"/>
                <a:gd name="connsiteY11" fmla="*/ 393700 h 1187450"/>
                <a:gd name="connsiteX12" fmla="*/ 0 w 1205003"/>
                <a:gd name="connsiteY12" fmla="*/ 374650 h 1187450"/>
                <a:gd name="connsiteX13" fmla="*/ 53975 w 1205003"/>
                <a:gd name="connsiteY13" fmla="*/ 568325 h 1187450"/>
                <a:gd name="connsiteX14" fmla="*/ 50800 w 1205003"/>
                <a:gd name="connsiteY14" fmla="*/ 619125 h 1187450"/>
                <a:gd name="connsiteX15" fmla="*/ 9525 w 1205003"/>
                <a:gd name="connsiteY15" fmla="*/ 806450 h 1187450"/>
                <a:gd name="connsiteX16" fmla="*/ 88900 w 1205003"/>
                <a:gd name="connsiteY16" fmla="*/ 796925 h 1187450"/>
                <a:gd name="connsiteX17" fmla="*/ 212725 w 1205003"/>
                <a:gd name="connsiteY17" fmla="*/ 615950 h 1187450"/>
                <a:gd name="connsiteX18" fmla="*/ 460375 w 1205003"/>
                <a:gd name="connsiteY18" fmla="*/ 638175 h 1187450"/>
                <a:gd name="connsiteX19" fmla="*/ 536575 w 1205003"/>
                <a:gd name="connsiteY19" fmla="*/ 822325 h 1187450"/>
                <a:gd name="connsiteX20" fmla="*/ 390525 w 1205003"/>
                <a:gd name="connsiteY20" fmla="*/ 1187450 h 1187450"/>
                <a:gd name="connsiteX21" fmla="*/ 536575 w 1205003"/>
                <a:gd name="connsiteY21" fmla="*/ 1111250 h 1187450"/>
                <a:gd name="connsiteX22" fmla="*/ 612775 w 1205003"/>
                <a:gd name="connsiteY22" fmla="*/ 996950 h 1187450"/>
                <a:gd name="connsiteX23" fmla="*/ 663575 w 1205003"/>
                <a:gd name="connsiteY23" fmla="*/ 930275 h 1187450"/>
                <a:gd name="connsiteX24" fmla="*/ 746125 w 1205003"/>
                <a:gd name="connsiteY24" fmla="*/ 815975 h 1187450"/>
                <a:gd name="connsiteX25" fmla="*/ 803275 w 1205003"/>
                <a:gd name="connsiteY25" fmla="*/ 749300 h 1187450"/>
                <a:gd name="connsiteX26" fmla="*/ 869950 w 1205003"/>
                <a:gd name="connsiteY26" fmla="*/ 650875 h 1187450"/>
                <a:gd name="connsiteX27" fmla="*/ 1069975 w 1205003"/>
                <a:gd name="connsiteY27" fmla="*/ 641350 h 1187450"/>
                <a:gd name="connsiteX28" fmla="*/ 1073150 w 1205003"/>
                <a:gd name="connsiteY28" fmla="*/ 542925 h 1187450"/>
                <a:gd name="connsiteX29" fmla="*/ 869950 w 1205003"/>
                <a:gd name="connsiteY29" fmla="*/ 523875 h 1187450"/>
                <a:gd name="connsiteX0" fmla="*/ 869950 w 1205003"/>
                <a:gd name="connsiteY0" fmla="*/ 523875 h 1187450"/>
                <a:gd name="connsiteX1" fmla="*/ 796925 w 1205003"/>
                <a:gd name="connsiteY1" fmla="*/ 434975 h 1187450"/>
                <a:gd name="connsiteX2" fmla="*/ 749300 w 1205003"/>
                <a:gd name="connsiteY2" fmla="*/ 365125 h 1187450"/>
                <a:gd name="connsiteX3" fmla="*/ 666750 w 1205003"/>
                <a:gd name="connsiteY3" fmla="*/ 257175 h 1187450"/>
                <a:gd name="connsiteX4" fmla="*/ 615950 w 1205003"/>
                <a:gd name="connsiteY4" fmla="*/ 184150 h 1187450"/>
                <a:gd name="connsiteX5" fmla="*/ 504825 w 1205003"/>
                <a:gd name="connsiteY5" fmla="*/ 41275 h 1187450"/>
                <a:gd name="connsiteX6" fmla="*/ 428625 w 1205003"/>
                <a:gd name="connsiteY6" fmla="*/ 0 h 1187450"/>
                <a:gd name="connsiteX7" fmla="*/ 377825 w 1205003"/>
                <a:gd name="connsiteY7" fmla="*/ 3175 h 1187450"/>
                <a:gd name="connsiteX8" fmla="*/ 539750 w 1205003"/>
                <a:gd name="connsiteY8" fmla="*/ 384175 h 1187450"/>
                <a:gd name="connsiteX9" fmla="*/ 482600 w 1205003"/>
                <a:gd name="connsiteY9" fmla="*/ 542925 h 1187450"/>
                <a:gd name="connsiteX10" fmla="*/ 215900 w 1205003"/>
                <a:gd name="connsiteY10" fmla="*/ 552450 h 1187450"/>
                <a:gd name="connsiteX11" fmla="*/ 85725 w 1205003"/>
                <a:gd name="connsiteY11" fmla="*/ 393700 h 1187450"/>
                <a:gd name="connsiteX12" fmla="*/ 0 w 1205003"/>
                <a:gd name="connsiteY12" fmla="*/ 374650 h 1187450"/>
                <a:gd name="connsiteX13" fmla="*/ 53975 w 1205003"/>
                <a:gd name="connsiteY13" fmla="*/ 568325 h 1187450"/>
                <a:gd name="connsiteX14" fmla="*/ 50800 w 1205003"/>
                <a:gd name="connsiteY14" fmla="*/ 619125 h 1187450"/>
                <a:gd name="connsiteX15" fmla="*/ 9525 w 1205003"/>
                <a:gd name="connsiteY15" fmla="*/ 806450 h 1187450"/>
                <a:gd name="connsiteX16" fmla="*/ 88900 w 1205003"/>
                <a:gd name="connsiteY16" fmla="*/ 796925 h 1187450"/>
                <a:gd name="connsiteX17" fmla="*/ 215900 w 1205003"/>
                <a:gd name="connsiteY17" fmla="*/ 635000 h 1187450"/>
                <a:gd name="connsiteX18" fmla="*/ 460375 w 1205003"/>
                <a:gd name="connsiteY18" fmla="*/ 638175 h 1187450"/>
                <a:gd name="connsiteX19" fmla="*/ 536575 w 1205003"/>
                <a:gd name="connsiteY19" fmla="*/ 822325 h 1187450"/>
                <a:gd name="connsiteX20" fmla="*/ 390525 w 1205003"/>
                <a:gd name="connsiteY20" fmla="*/ 1187450 h 1187450"/>
                <a:gd name="connsiteX21" fmla="*/ 536575 w 1205003"/>
                <a:gd name="connsiteY21" fmla="*/ 1111250 h 1187450"/>
                <a:gd name="connsiteX22" fmla="*/ 612775 w 1205003"/>
                <a:gd name="connsiteY22" fmla="*/ 996950 h 1187450"/>
                <a:gd name="connsiteX23" fmla="*/ 663575 w 1205003"/>
                <a:gd name="connsiteY23" fmla="*/ 930275 h 1187450"/>
                <a:gd name="connsiteX24" fmla="*/ 746125 w 1205003"/>
                <a:gd name="connsiteY24" fmla="*/ 815975 h 1187450"/>
                <a:gd name="connsiteX25" fmla="*/ 803275 w 1205003"/>
                <a:gd name="connsiteY25" fmla="*/ 749300 h 1187450"/>
                <a:gd name="connsiteX26" fmla="*/ 869950 w 1205003"/>
                <a:gd name="connsiteY26" fmla="*/ 650875 h 1187450"/>
                <a:gd name="connsiteX27" fmla="*/ 1069975 w 1205003"/>
                <a:gd name="connsiteY27" fmla="*/ 641350 h 1187450"/>
                <a:gd name="connsiteX28" fmla="*/ 1073150 w 1205003"/>
                <a:gd name="connsiteY28" fmla="*/ 542925 h 1187450"/>
                <a:gd name="connsiteX29" fmla="*/ 869950 w 1205003"/>
                <a:gd name="connsiteY29" fmla="*/ 523875 h 1187450"/>
                <a:gd name="connsiteX0" fmla="*/ 869950 w 1205003"/>
                <a:gd name="connsiteY0" fmla="*/ 523875 h 1187450"/>
                <a:gd name="connsiteX1" fmla="*/ 796925 w 1205003"/>
                <a:gd name="connsiteY1" fmla="*/ 434975 h 1187450"/>
                <a:gd name="connsiteX2" fmla="*/ 749300 w 1205003"/>
                <a:gd name="connsiteY2" fmla="*/ 365125 h 1187450"/>
                <a:gd name="connsiteX3" fmla="*/ 666750 w 1205003"/>
                <a:gd name="connsiteY3" fmla="*/ 257175 h 1187450"/>
                <a:gd name="connsiteX4" fmla="*/ 615950 w 1205003"/>
                <a:gd name="connsiteY4" fmla="*/ 184150 h 1187450"/>
                <a:gd name="connsiteX5" fmla="*/ 504825 w 1205003"/>
                <a:gd name="connsiteY5" fmla="*/ 41275 h 1187450"/>
                <a:gd name="connsiteX6" fmla="*/ 428625 w 1205003"/>
                <a:gd name="connsiteY6" fmla="*/ 0 h 1187450"/>
                <a:gd name="connsiteX7" fmla="*/ 377825 w 1205003"/>
                <a:gd name="connsiteY7" fmla="*/ 3175 h 1187450"/>
                <a:gd name="connsiteX8" fmla="*/ 539750 w 1205003"/>
                <a:gd name="connsiteY8" fmla="*/ 384175 h 1187450"/>
                <a:gd name="connsiteX9" fmla="*/ 482600 w 1205003"/>
                <a:gd name="connsiteY9" fmla="*/ 542925 h 1187450"/>
                <a:gd name="connsiteX10" fmla="*/ 215900 w 1205003"/>
                <a:gd name="connsiteY10" fmla="*/ 552450 h 1187450"/>
                <a:gd name="connsiteX11" fmla="*/ 85725 w 1205003"/>
                <a:gd name="connsiteY11" fmla="*/ 393700 h 1187450"/>
                <a:gd name="connsiteX12" fmla="*/ 0 w 1205003"/>
                <a:gd name="connsiteY12" fmla="*/ 374650 h 1187450"/>
                <a:gd name="connsiteX13" fmla="*/ 53975 w 1205003"/>
                <a:gd name="connsiteY13" fmla="*/ 568325 h 1187450"/>
                <a:gd name="connsiteX14" fmla="*/ 50800 w 1205003"/>
                <a:gd name="connsiteY14" fmla="*/ 619125 h 1187450"/>
                <a:gd name="connsiteX15" fmla="*/ 9525 w 1205003"/>
                <a:gd name="connsiteY15" fmla="*/ 806450 h 1187450"/>
                <a:gd name="connsiteX16" fmla="*/ 88900 w 1205003"/>
                <a:gd name="connsiteY16" fmla="*/ 796925 h 1187450"/>
                <a:gd name="connsiteX17" fmla="*/ 215900 w 1205003"/>
                <a:gd name="connsiteY17" fmla="*/ 635000 h 1187450"/>
                <a:gd name="connsiteX18" fmla="*/ 460375 w 1205003"/>
                <a:gd name="connsiteY18" fmla="*/ 638175 h 1187450"/>
                <a:gd name="connsiteX19" fmla="*/ 536575 w 1205003"/>
                <a:gd name="connsiteY19" fmla="*/ 822325 h 1187450"/>
                <a:gd name="connsiteX20" fmla="*/ 390525 w 1205003"/>
                <a:gd name="connsiteY20" fmla="*/ 1187450 h 1187450"/>
                <a:gd name="connsiteX21" fmla="*/ 536575 w 1205003"/>
                <a:gd name="connsiteY21" fmla="*/ 1111250 h 1187450"/>
                <a:gd name="connsiteX22" fmla="*/ 612775 w 1205003"/>
                <a:gd name="connsiteY22" fmla="*/ 996950 h 1187450"/>
                <a:gd name="connsiteX23" fmla="*/ 663575 w 1205003"/>
                <a:gd name="connsiteY23" fmla="*/ 930275 h 1187450"/>
                <a:gd name="connsiteX24" fmla="*/ 746125 w 1205003"/>
                <a:gd name="connsiteY24" fmla="*/ 815975 h 1187450"/>
                <a:gd name="connsiteX25" fmla="*/ 803275 w 1205003"/>
                <a:gd name="connsiteY25" fmla="*/ 749300 h 1187450"/>
                <a:gd name="connsiteX26" fmla="*/ 869950 w 1205003"/>
                <a:gd name="connsiteY26" fmla="*/ 650875 h 1187450"/>
                <a:gd name="connsiteX27" fmla="*/ 1069975 w 1205003"/>
                <a:gd name="connsiteY27" fmla="*/ 641350 h 1187450"/>
                <a:gd name="connsiteX28" fmla="*/ 1073150 w 1205003"/>
                <a:gd name="connsiteY28" fmla="*/ 542925 h 1187450"/>
                <a:gd name="connsiteX29" fmla="*/ 869950 w 1205003"/>
                <a:gd name="connsiteY29" fmla="*/ 523875 h 1187450"/>
                <a:gd name="connsiteX0" fmla="*/ 869950 w 1205003"/>
                <a:gd name="connsiteY0" fmla="*/ 523875 h 1187450"/>
                <a:gd name="connsiteX1" fmla="*/ 796925 w 1205003"/>
                <a:gd name="connsiteY1" fmla="*/ 434975 h 1187450"/>
                <a:gd name="connsiteX2" fmla="*/ 749300 w 1205003"/>
                <a:gd name="connsiteY2" fmla="*/ 365125 h 1187450"/>
                <a:gd name="connsiteX3" fmla="*/ 666750 w 1205003"/>
                <a:gd name="connsiteY3" fmla="*/ 257175 h 1187450"/>
                <a:gd name="connsiteX4" fmla="*/ 615950 w 1205003"/>
                <a:gd name="connsiteY4" fmla="*/ 184150 h 1187450"/>
                <a:gd name="connsiteX5" fmla="*/ 504825 w 1205003"/>
                <a:gd name="connsiteY5" fmla="*/ 41275 h 1187450"/>
                <a:gd name="connsiteX6" fmla="*/ 428625 w 1205003"/>
                <a:gd name="connsiteY6" fmla="*/ 0 h 1187450"/>
                <a:gd name="connsiteX7" fmla="*/ 377825 w 1205003"/>
                <a:gd name="connsiteY7" fmla="*/ 3175 h 1187450"/>
                <a:gd name="connsiteX8" fmla="*/ 539750 w 1205003"/>
                <a:gd name="connsiteY8" fmla="*/ 384175 h 1187450"/>
                <a:gd name="connsiteX9" fmla="*/ 482600 w 1205003"/>
                <a:gd name="connsiteY9" fmla="*/ 542925 h 1187450"/>
                <a:gd name="connsiteX10" fmla="*/ 215900 w 1205003"/>
                <a:gd name="connsiteY10" fmla="*/ 552450 h 1187450"/>
                <a:gd name="connsiteX11" fmla="*/ 85725 w 1205003"/>
                <a:gd name="connsiteY11" fmla="*/ 393700 h 1187450"/>
                <a:gd name="connsiteX12" fmla="*/ 0 w 1205003"/>
                <a:gd name="connsiteY12" fmla="*/ 374650 h 1187450"/>
                <a:gd name="connsiteX13" fmla="*/ 53975 w 1205003"/>
                <a:gd name="connsiteY13" fmla="*/ 568325 h 1187450"/>
                <a:gd name="connsiteX14" fmla="*/ 50800 w 1205003"/>
                <a:gd name="connsiteY14" fmla="*/ 619125 h 1187450"/>
                <a:gd name="connsiteX15" fmla="*/ 9525 w 1205003"/>
                <a:gd name="connsiteY15" fmla="*/ 806450 h 1187450"/>
                <a:gd name="connsiteX16" fmla="*/ 88900 w 1205003"/>
                <a:gd name="connsiteY16" fmla="*/ 796925 h 1187450"/>
                <a:gd name="connsiteX17" fmla="*/ 215900 w 1205003"/>
                <a:gd name="connsiteY17" fmla="*/ 635000 h 1187450"/>
                <a:gd name="connsiteX18" fmla="*/ 460375 w 1205003"/>
                <a:gd name="connsiteY18" fmla="*/ 638175 h 1187450"/>
                <a:gd name="connsiteX19" fmla="*/ 536575 w 1205003"/>
                <a:gd name="connsiteY19" fmla="*/ 822325 h 1187450"/>
                <a:gd name="connsiteX20" fmla="*/ 390525 w 1205003"/>
                <a:gd name="connsiteY20" fmla="*/ 1187450 h 1187450"/>
                <a:gd name="connsiteX21" fmla="*/ 536575 w 1205003"/>
                <a:gd name="connsiteY21" fmla="*/ 1111250 h 1187450"/>
                <a:gd name="connsiteX22" fmla="*/ 612775 w 1205003"/>
                <a:gd name="connsiteY22" fmla="*/ 996950 h 1187450"/>
                <a:gd name="connsiteX23" fmla="*/ 663575 w 1205003"/>
                <a:gd name="connsiteY23" fmla="*/ 930275 h 1187450"/>
                <a:gd name="connsiteX24" fmla="*/ 746125 w 1205003"/>
                <a:gd name="connsiteY24" fmla="*/ 815975 h 1187450"/>
                <a:gd name="connsiteX25" fmla="*/ 803275 w 1205003"/>
                <a:gd name="connsiteY25" fmla="*/ 749300 h 1187450"/>
                <a:gd name="connsiteX26" fmla="*/ 869950 w 1205003"/>
                <a:gd name="connsiteY26" fmla="*/ 650875 h 1187450"/>
                <a:gd name="connsiteX27" fmla="*/ 1069975 w 1205003"/>
                <a:gd name="connsiteY27" fmla="*/ 641350 h 1187450"/>
                <a:gd name="connsiteX28" fmla="*/ 1073150 w 1205003"/>
                <a:gd name="connsiteY28" fmla="*/ 542925 h 1187450"/>
                <a:gd name="connsiteX29" fmla="*/ 869950 w 1205003"/>
                <a:gd name="connsiteY29" fmla="*/ 523875 h 1187450"/>
                <a:gd name="connsiteX0" fmla="*/ 869950 w 1205003"/>
                <a:gd name="connsiteY0" fmla="*/ 523875 h 1187450"/>
                <a:gd name="connsiteX1" fmla="*/ 796925 w 1205003"/>
                <a:gd name="connsiteY1" fmla="*/ 434975 h 1187450"/>
                <a:gd name="connsiteX2" fmla="*/ 749300 w 1205003"/>
                <a:gd name="connsiteY2" fmla="*/ 365125 h 1187450"/>
                <a:gd name="connsiteX3" fmla="*/ 666750 w 1205003"/>
                <a:gd name="connsiteY3" fmla="*/ 257175 h 1187450"/>
                <a:gd name="connsiteX4" fmla="*/ 615950 w 1205003"/>
                <a:gd name="connsiteY4" fmla="*/ 184150 h 1187450"/>
                <a:gd name="connsiteX5" fmla="*/ 504825 w 1205003"/>
                <a:gd name="connsiteY5" fmla="*/ 41275 h 1187450"/>
                <a:gd name="connsiteX6" fmla="*/ 428625 w 1205003"/>
                <a:gd name="connsiteY6" fmla="*/ 0 h 1187450"/>
                <a:gd name="connsiteX7" fmla="*/ 377825 w 1205003"/>
                <a:gd name="connsiteY7" fmla="*/ 3175 h 1187450"/>
                <a:gd name="connsiteX8" fmla="*/ 539750 w 1205003"/>
                <a:gd name="connsiteY8" fmla="*/ 384175 h 1187450"/>
                <a:gd name="connsiteX9" fmla="*/ 482600 w 1205003"/>
                <a:gd name="connsiteY9" fmla="*/ 542925 h 1187450"/>
                <a:gd name="connsiteX10" fmla="*/ 215900 w 1205003"/>
                <a:gd name="connsiteY10" fmla="*/ 552450 h 1187450"/>
                <a:gd name="connsiteX11" fmla="*/ 85725 w 1205003"/>
                <a:gd name="connsiteY11" fmla="*/ 393700 h 1187450"/>
                <a:gd name="connsiteX12" fmla="*/ 0 w 1205003"/>
                <a:gd name="connsiteY12" fmla="*/ 374650 h 1187450"/>
                <a:gd name="connsiteX13" fmla="*/ 53975 w 1205003"/>
                <a:gd name="connsiteY13" fmla="*/ 568325 h 1187450"/>
                <a:gd name="connsiteX14" fmla="*/ 50800 w 1205003"/>
                <a:gd name="connsiteY14" fmla="*/ 619125 h 1187450"/>
                <a:gd name="connsiteX15" fmla="*/ 9525 w 1205003"/>
                <a:gd name="connsiteY15" fmla="*/ 806450 h 1187450"/>
                <a:gd name="connsiteX16" fmla="*/ 88900 w 1205003"/>
                <a:gd name="connsiteY16" fmla="*/ 796925 h 1187450"/>
                <a:gd name="connsiteX17" fmla="*/ 215900 w 1205003"/>
                <a:gd name="connsiteY17" fmla="*/ 635000 h 1187450"/>
                <a:gd name="connsiteX18" fmla="*/ 460375 w 1205003"/>
                <a:gd name="connsiteY18" fmla="*/ 638175 h 1187450"/>
                <a:gd name="connsiteX19" fmla="*/ 536575 w 1205003"/>
                <a:gd name="connsiteY19" fmla="*/ 822325 h 1187450"/>
                <a:gd name="connsiteX20" fmla="*/ 390525 w 1205003"/>
                <a:gd name="connsiteY20" fmla="*/ 1187450 h 1187450"/>
                <a:gd name="connsiteX21" fmla="*/ 536575 w 1205003"/>
                <a:gd name="connsiteY21" fmla="*/ 1111250 h 1187450"/>
                <a:gd name="connsiteX22" fmla="*/ 612775 w 1205003"/>
                <a:gd name="connsiteY22" fmla="*/ 996950 h 1187450"/>
                <a:gd name="connsiteX23" fmla="*/ 663575 w 1205003"/>
                <a:gd name="connsiteY23" fmla="*/ 930275 h 1187450"/>
                <a:gd name="connsiteX24" fmla="*/ 746125 w 1205003"/>
                <a:gd name="connsiteY24" fmla="*/ 815975 h 1187450"/>
                <a:gd name="connsiteX25" fmla="*/ 803275 w 1205003"/>
                <a:gd name="connsiteY25" fmla="*/ 749300 h 1187450"/>
                <a:gd name="connsiteX26" fmla="*/ 869950 w 1205003"/>
                <a:gd name="connsiteY26" fmla="*/ 650875 h 1187450"/>
                <a:gd name="connsiteX27" fmla="*/ 1069975 w 1205003"/>
                <a:gd name="connsiteY27" fmla="*/ 641350 h 1187450"/>
                <a:gd name="connsiteX28" fmla="*/ 1073150 w 1205003"/>
                <a:gd name="connsiteY28" fmla="*/ 542925 h 1187450"/>
                <a:gd name="connsiteX29" fmla="*/ 869950 w 1205003"/>
                <a:gd name="connsiteY29" fmla="*/ 523875 h 1187450"/>
                <a:gd name="connsiteX0" fmla="*/ 869950 w 1205003"/>
                <a:gd name="connsiteY0" fmla="*/ 523875 h 1187450"/>
                <a:gd name="connsiteX1" fmla="*/ 796925 w 1205003"/>
                <a:gd name="connsiteY1" fmla="*/ 434975 h 1187450"/>
                <a:gd name="connsiteX2" fmla="*/ 749300 w 1205003"/>
                <a:gd name="connsiteY2" fmla="*/ 365125 h 1187450"/>
                <a:gd name="connsiteX3" fmla="*/ 666750 w 1205003"/>
                <a:gd name="connsiteY3" fmla="*/ 257175 h 1187450"/>
                <a:gd name="connsiteX4" fmla="*/ 615950 w 1205003"/>
                <a:gd name="connsiteY4" fmla="*/ 184150 h 1187450"/>
                <a:gd name="connsiteX5" fmla="*/ 504825 w 1205003"/>
                <a:gd name="connsiteY5" fmla="*/ 41275 h 1187450"/>
                <a:gd name="connsiteX6" fmla="*/ 428625 w 1205003"/>
                <a:gd name="connsiteY6" fmla="*/ 0 h 1187450"/>
                <a:gd name="connsiteX7" fmla="*/ 377825 w 1205003"/>
                <a:gd name="connsiteY7" fmla="*/ 3175 h 1187450"/>
                <a:gd name="connsiteX8" fmla="*/ 539750 w 1205003"/>
                <a:gd name="connsiteY8" fmla="*/ 384175 h 1187450"/>
                <a:gd name="connsiteX9" fmla="*/ 482600 w 1205003"/>
                <a:gd name="connsiteY9" fmla="*/ 542925 h 1187450"/>
                <a:gd name="connsiteX10" fmla="*/ 215900 w 1205003"/>
                <a:gd name="connsiteY10" fmla="*/ 552450 h 1187450"/>
                <a:gd name="connsiteX11" fmla="*/ 85725 w 1205003"/>
                <a:gd name="connsiteY11" fmla="*/ 393700 h 1187450"/>
                <a:gd name="connsiteX12" fmla="*/ 0 w 1205003"/>
                <a:gd name="connsiteY12" fmla="*/ 374650 h 1187450"/>
                <a:gd name="connsiteX13" fmla="*/ 53975 w 1205003"/>
                <a:gd name="connsiteY13" fmla="*/ 568325 h 1187450"/>
                <a:gd name="connsiteX14" fmla="*/ 50800 w 1205003"/>
                <a:gd name="connsiteY14" fmla="*/ 619125 h 1187450"/>
                <a:gd name="connsiteX15" fmla="*/ 9525 w 1205003"/>
                <a:gd name="connsiteY15" fmla="*/ 806450 h 1187450"/>
                <a:gd name="connsiteX16" fmla="*/ 88900 w 1205003"/>
                <a:gd name="connsiteY16" fmla="*/ 796925 h 1187450"/>
                <a:gd name="connsiteX17" fmla="*/ 215900 w 1205003"/>
                <a:gd name="connsiteY17" fmla="*/ 635000 h 1187450"/>
                <a:gd name="connsiteX18" fmla="*/ 460375 w 1205003"/>
                <a:gd name="connsiteY18" fmla="*/ 638175 h 1187450"/>
                <a:gd name="connsiteX19" fmla="*/ 536575 w 1205003"/>
                <a:gd name="connsiteY19" fmla="*/ 822325 h 1187450"/>
                <a:gd name="connsiteX20" fmla="*/ 390525 w 1205003"/>
                <a:gd name="connsiteY20" fmla="*/ 1187450 h 1187450"/>
                <a:gd name="connsiteX21" fmla="*/ 536575 w 1205003"/>
                <a:gd name="connsiteY21" fmla="*/ 1111250 h 1187450"/>
                <a:gd name="connsiteX22" fmla="*/ 612775 w 1205003"/>
                <a:gd name="connsiteY22" fmla="*/ 996950 h 1187450"/>
                <a:gd name="connsiteX23" fmla="*/ 663575 w 1205003"/>
                <a:gd name="connsiteY23" fmla="*/ 930275 h 1187450"/>
                <a:gd name="connsiteX24" fmla="*/ 746125 w 1205003"/>
                <a:gd name="connsiteY24" fmla="*/ 815975 h 1187450"/>
                <a:gd name="connsiteX25" fmla="*/ 803275 w 1205003"/>
                <a:gd name="connsiteY25" fmla="*/ 749300 h 1187450"/>
                <a:gd name="connsiteX26" fmla="*/ 869950 w 1205003"/>
                <a:gd name="connsiteY26" fmla="*/ 650875 h 1187450"/>
                <a:gd name="connsiteX27" fmla="*/ 1069975 w 1205003"/>
                <a:gd name="connsiteY27" fmla="*/ 641350 h 1187450"/>
                <a:gd name="connsiteX28" fmla="*/ 1073150 w 1205003"/>
                <a:gd name="connsiteY28" fmla="*/ 542925 h 1187450"/>
                <a:gd name="connsiteX29" fmla="*/ 869950 w 1205003"/>
                <a:gd name="connsiteY29" fmla="*/ 523875 h 1187450"/>
                <a:gd name="connsiteX0" fmla="*/ 869950 w 1205003"/>
                <a:gd name="connsiteY0" fmla="*/ 523875 h 1187450"/>
                <a:gd name="connsiteX1" fmla="*/ 796925 w 1205003"/>
                <a:gd name="connsiteY1" fmla="*/ 434975 h 1187450"/>
                <a:gd name="connsiteX2" fmla="*/ 749300 w 1205003"/>
                <a:gd name="connsiteY2" fmla="*/ 365125 h 1187450"/>
                <a:gd name="connsiteX3" fmla="*/ 666750 w 1205003"/>
                <a:gd name="connsiteY3" fmla="*/ 257175 h 1187450"/>
                <a:gd name="connsiteX4" fmla="*/ 615950 w 1205003"/>
                <a:gd name="connsiteY4" fmla="*/ 184150 h 1187450"/>
                <a:gd name="connsiteX5" fmla="*/ 504825 w 1205003"/>
                <a:gd name="connsiteY5" fmla="*/ 41275 h 1187450"/>
                <a:gd name="connsiteX6" fmla="*/ 428625 w 1205003"/>
                <a:gd name="connsiteY6" fmla="*/ 0 h 1187450"/>
                <a:gd name="connsiteX7" fmla="*/ 377825 w 1205003"/>
                <a:gd name="connsiteY7" fmla="*/ 3175 h 1187450"/>
                <a:gd name="connsiteX8" fmla="*/ 539750 w 1205003"/>
                <a:gd name="connsiteY8" fmla="*/ 384175 h 1187450"/>
                <a:gd name="connsiteX9" fmla="*/ 482600 w 1205003"/>
                <a:gd name="connsiteY9" fmla="*/ 542925 h 1187450"/>
                <a:gd name="connsiteX10" fmla="*/ 215900 w 1205003"/>
                <a:gd name="connsiteY10" fmla="*/ 552450 h 1187450"/>
                <a:gd name="connsiteX11" fmla="*/ 85725 w 1205003"/>
                <a:gd name="connsiteY11" fmla="*/ 393700 h 1187450"/>
                <a:gd name="connsiteX12" fmla="*/ 0 w 1205003"/>
                <a:gd name="connsiteY12" fmla="*/ 374650 h 1187450"/>
                <a:gd name="connsiteX13" fmla="*/ 53975 w 1205003"/>
                <a:gd name="connsiteY13" fmla="*/ 568325 h 1187450"/>
                <a:gd name="connsiteX14" fmla="*/ 50800 w 1205003"/>
                <a:gd name="connsiteY14" fmla="*/ 619125 h 1187450"/>
                <a:gd name="connsiteX15" fmla="*/ 9525 w 1205003"/>
                <a:gd name="connsiteY15" fmla="*/ 806450 h 1187450"/>
                <a:gd name="connsiteX16" fmla="*/ 88900 w 1205003"/>
                <a:gd name="connsiteY16" fmla="*/ 796925 h 1187450"/>
                <a:gd name="connsiteX17" fmla="*/ 215900 w 1205003"/>
                <a:gd name="connsiteY17" fmla="*/ 635000 h 1187450"/>
                <a:gd name="connsiteX18" fmla="*/ 460375 w 1205003"/>
                <a:gd name="connsiteY18" fmla="*/ 638175 h 1187450"/>
                <a:gd name="connsiteX19" fmla="*/ 536575 w 1205003"/>
                <a:gd name="connsiteY19" fmla="*/ 822325 h 1187450"/>
                <a:gd name="connsiteX20" fmla="*/ 390525 w 1205003"/>
                <a:gd name="connsiteY20" fmla="*/ 1187450 h 1187450"/>
                <a:gd name="connsiteX21" fmla="*/ 536575 w 1205003"/>
                <a:gd name="connsiteY21" fmla="*/ 1111250 h 1187450"/>
                <a:gd name="connsiteX22" fmla="*/ 612775 w 1205003"/>
                <a:gd name="connsiteY22" fmla="*/ 996950 h 1187450"/>
                <a:gd name="connsiteX23" fmla="*/ 663575 w 1205003"/>
                <a:gd name="connsiteY23" fmla="*/ 930275 h 1187450"/>
                <a:gd name="connsiteX24" fmla="*/ 746125 w 1205003"/>
                <a:gd name="connsiteY24" fmla="*/ 815975 h 1187450"/>
                <a:gd name="connsiteX25" fmla="*/ 803275 w 1205003"/>
                <a:gd name="connsiteY25" fmla="*/ 749300 h 1187450"/>
                <a:gd name="connsiteX26" fmla="*/ 869950 w 1205003"/>
                <a:gd name="connsiteY26" fmla="*/ 650875 h 1187450"/>
                <a:gd name="connsiteX27" fmla="*/ 1069975 w 1205003"/>
                <a:gd name="connsiteY27" fmla="*/ 641350 h 1187450"/>
                <a:gd name="connsiteX28" fmla="*/ 1073150 w 1205003"/>
                <a:gd name="connsiteY28" fmla="*/ 542925 h 1187450"/>
                <a:gd name="connsiteX29" fmla="*/ 869950 w 1205003"/>
                <a:gd name="connsiteY29" fmla="*/ 523875 h 1187450"/>
                <a:gd name="connsiteX0" fmla="*/ 869950 w 1205003"/>
                <a:gd name="connsiteY0" fmla="*/ 523875 h 1187450"/>
                <a:gd name="connsiteX1" fmla="*/ 796925 w 1205003"/>
                <a:gd name="connsiteY1" fmla="*/ 434975 h 1187450"/>
                <a:gd name="connsiteX2" fmla="*/ 749300 w 1205003"/>
                <a:gd name="connsiteY2" fmla="*/ 365125 h 1187450"/>
                <a:gd name="connsiteX3" fmla="*/ 666750 w 1205003"/>
                <a:gd name="connsiteY3" fmla="*/ 257175 h 1187450"/>
                <a:gd name="connsiteX4" fmla="*/ 615950 w 1205003"/>
                <a:gd name="connsiteY4" fmla="*/ 184150 h 1187450"/>
                <a:gd name="connsiteX5" fmla="*/ 504825 w 1205003"/>
                <a:gd name="connsiteY5" fmla="*/ 41275 h 1187450"/>
                <a:gd name="connsiteX6" fmla="*/ 428625 w 1205003"/>
                <a:gd name="connsiteY6" fmla="*/ 0 h 1187450"/>
                <a:gd name="connsiteX7" fmla="*/ 377825 w 1205003"/>
                <a:gd name="connsiteY7" fmla="*/ 3175 h 1187450"/>
                <a:gd name="connsiteX8" fmla="*/ 539750 w 1205003"/>
                <a:gd name="connsiteY8" fmla="*/ 384175 h 1187450"/>
                <a:gd name="connsiteX9" fmla="*/ 482600 w 1205003"/>
                <a:gd name="connsiteY9" fmla="*/ 542925 h 1187450"/>
                <a:gd name="connsiteX10" fmla="*/ 215900 w 1205003"/>
                <a:gd name="connsiteY10" fmla="*/ 552450 h 1187450"/>
                <a:gd name="connsiteX11" fmla="*/ 85725 w 1205003"/>
                <a:gd name="connsiteY11" fmla="*/ 393700 h 1187450"/>
                <a:gd name="connsiteX12" fmla="*/ 0 w 1205003"/>
                <a:gd name="connsiteY12" fmla="*/ 374650 h 1187450"/>
                <a:gd name="connsiteX13" fmla="*/ 53975 w 1205003"/>
                <a:gd name="connsiteY13" fmla="*/ 568325 h 1187450"/>
                <a:gd name="connsiteX14" fmla="*/ 50800 w 1205003"/>
                <a:gd name="connsiteY14" fmla="*/ 619125 h 1187450"/>
                <a:gd name="connsiteX15" fmla="*/ 9525 w 1205003"/>
                <a:gd name="connsiteY15" fmla="*/ 806450 h 1187450"/>
                <a:gd name="connsiteX16" fmla="*/ 88900 w 1205003"/>
                <a:gd name="connsiteY16" fmla="*/ 796925 h 1187450"/>
                <a:gd name="connsiteX17" fmla="*/ 215900 w 1205003"/>
                <a:gd name="connsiteY17" fmla="*/ 635000 h 1187450"/>
                <a:gd name="connsiteX18" fmla="*/ 460375 w 1205003"/>
                <a:gd name="connsiteY18" fmla="*/ 638175 h 1187450"/>
                <a:gd name="connsiteX19" fmla="*/ 536575 w 1205003"/>
                <a:gd name="connsiteY19" fmla="*/ 822325 h 1187450"/>
                <a:gd name="connsiteX20" fmla="*/ 390525 w 1205003"/>
                <a:gd name="connsiteY20" fmla="*/ 1187450 h 1187450"/>
                <a:gd name="connsiteX21" fmla="*/ 536575 w 1205003"/>
                <a:gd name="connsiteY21" fmla="*/ 1111250 h 1187450"/>
                <a:gd name="connsiteX22" fmla="*/ 612775 w 1205003"/>
                <a:gd name="connsiteY22" fmla="*/ 996950 h 1187450"/>
                <a:gd name="connsiteX23" fmla="*/ 663575 w 1205003"/>
                <a:gd name="connsiteY23" fmla="*/ 930275 h 1187450"/>
                <a:gd name="connsiteX24" fmla="*/ 746125 w 1205003"/>
                <a:gd name="connsiteY24" fmla="*/ 815975 h 1187450"/>
                <a:gd name="connsiteX25" fmla="*/ 803275 w 1205003"/>
                <a:gd name="connsiteY25" fmla="*/ 749300 h 1187450"/>
                <a:gd name="connsiteX26" fmla="*/ 869950 w 1205003"/>
                <a:gd name="connsiteY26" fmla="*/ 650875 h 1187450"/>
                <a:gd name="connsiteX27" fmla="*/ 1069975 w 1205003"/>
                <a:gd name="connsiteY27" fmla="*/ 641350 h 1187450"/>
                <a:gd name="connsiteX28" fmla="*/ 1073150 w 1205003"/>
                <a:gd name="connsiteY28" fmla="*/ 542925 h 1187450"/>
                <a:gd name="connsiteX29" fmla="*/ 869950 w 1205003"/>
                <a:gd name="connsiteY29" fmla="*/ 523875 h 1187450"/>
                <a:gd name="connsiteX0" fmla="*/ 869950 w 1205003"/>
                <a:gd name="connsiteY0" fmla="*/ 523875 h 1187450"/>
                <a:gd name="connsiteX1" fmla="*/ 796925 w 1205003"/>
                <a:gd name="connsiteY1" fmla="*/ 434975 h 1187450"/>
                <a:gd name="connsiteX2" fmla="*/ 749300 w 1205003"/>
                <a:gd name="connsiteY2" fmla="*/ 365125 h 1187450"/>
                <a:gd name="connsiteX3" fmla="*/ 666750 w 1205003"/>
                <a:gd name="connsiteY3" fmla="*/ 257175 h 1187450"/>
                <a:gd name="connsiteX4" fmla="*/ 615950 w 1205003"/>
                <a:gd name="connsiteY4" fmla="*/ 184150 h 1187450"/>
                <a:gd name="connsiteX5" fmla="*/ 504825 w 1205003"/>
                <a:gd name="connsiteY5" fmla="*/ 41275 h 1187450"/>
                <a:gd name="connsiteX6" fmla="*/ 428625 w 1205003"/>
                <a:gd name="connsiteY6" fmla="*/ 0 h 1187450"/>
                <a:gd name="connsiteX7" fmla="*/ 377825 w 1205003"/>
                <a:gd name="connsiteY7" fmla="*/ 3175 h 1187450"/>
                <a:gd name="connsiteX8" fmla="*/ 539750 w 1205003"/>
                <a:gd name="connsiteY8" fmla="*/ 384175 h 1187450"/>
                <a:gd name="connsiteX9" fmla="*/ 482600 w 1205003"/>
                <a:gd name="connsiteY9" fmla="*/ 542925 h 1187450"/>
                <a:gd name="connsiteX10" fmla="*/ 215900 w 1205003"/>
                <a:gd name="connsiteY10" fmla="*/ 552450 h 1187450"/>
                <a:gd name="connsiteX11" fmla="*/ 85725 w 1205003"/>
                <a:gd name="connsiteY11" fmla="*/ 393700 h 1187450"/>
                <a:gd name="connsiteX12" fmla="*/ 0 w 1205003"/>
                <a:gd name="connsiteY12" fmla="*/ 374650 h 1187450"/>
                <a:gd name="connsiteX13" fmla="*/ 53975 w 1205003"/>
                <a:gd name="connsiteY13" fmla="*/ 568325 h 1187450"/>
                <a:gd name="connsiteX14" fmla="*/ 50800 w 1205003"/>
                <a:gd name="connsiteY14" fmla="*/ 619125 h 1187450"/>
                <a:gd name="connsiteX15" fmla="*/ 9525 w 1205003"/>
                <a:gd name="connsiteY15" fmla="*/ 806450 h 1187450"/>
                <a:gd name="connsiteX16" fmla="*/ 88900 w 1205003"/>
                <a:gd name="connsiteY16" fmla="*/ 796925 h 1187450"/>
                <a:gd name="connsiteX17" fmla="*/ 215900 w 1205003"/>
                <a:gd name="connsiteY17" fmla="*/ 635000 h 1187450"/>
                <a:gd name="connsiteX18" fmla="*/ 460375 w 1205003"/>
                <a:gd name="connsiteY18" fmla="*/ 638175 h 1187450"/>
                <a:gd name="connsiteX19" fmla="*/ 536575 w 1205003"/>
                <a:gd name="connsiteY19" fmla="*/ 822325 h 1187450"/>
                <a:gd name="connsiteX20" fmla="*/ 390525 w 1205003"/>
                <a:gd name="connsiteY20" fmla="*/ 1187450 h 1187450"/>
                <a:gd name="connsiteX21" fmla="*/ 536575 w 1205003"/>
                <a:gd name="connsiteY21" fmla="*/ 1111250 h 1187450"/>
                <a:gd name="connsiteX22" fmla="*/ 612775 w 1205003"/>
                <a:gd name="connsiteY22" fmla="*/ 996950 h 1187450"/>
                <a:gd name="connsiteX23" fmla="*/ 663575 w 1205003"/>
                <a:gd name="connsiteY23" fmla="*/ 930275 h 1187450"/>
                <a:gd name="connsiteX24" fmla="*/ 746125 w 1205003"/>
                <a:gd name="connsiteY24" fmla="*/ 815975 h 1187450"/>
                <a:gd name="connsiteX25" fmla="*/ 803275 w 1205003"/>
                <a:gd name="connsiteY25" fmla="*/ 749300 h 1187450"/>
                <a:gd name="connsiteX26" fmla="*/ 869950 w 1205003"/>
                <a:gd name="connsiteY26" fmla="*/ 650875 h 1187450"/>
                <a:gd name="connsiteX27" fmla="*/ 1069975 w 1205003"/>
                <a:gd name="connsiteY27" fmla="*/ 641350 h 1187450"/>
                <a:gd name="connsiteX28" fmla="*/ 1073150 w 1205003"/>
                <a:gd name="connsiteY28" fmla="*/ 542925 h 1187450"/>
                <a:gd name="connsiteX29" fmla="*/ 869950 w 1205003"/>
                <a:gd name="connsiteY29" fmla="*/ 523875 h 1187450"/>
                <a:gd name="connsiteX0" fmla="*/ 869950 w 1205003"/>
                <a:gd name="connsiteY0" fmla="*/ 523875 h 1187450"/>
                <a:gd name="connsiteX1" fmla="*/ 796925 w 1205003"/>
                <a:gd name="connsiteY1" fmla="*/ 434975 h 1187450"/>
                <a:gd name="connsiteX2" fmla="*/ 749300 w 1205003"/>
                <a:gd name="connsiteY2" fmla="*/ 365125 h 1187450"/>
                <a:gd name="connsiteX3" fmla="*/ 666750 w 1205003"/>
                <a:gd name="connsiteY3" fmla="*/ 257175 h 1187450"/>
                <a:gd name="connsiteX4" fmla="*/ 615950 w 1205003"/>
                <a:gd name="connsiteY4" fmla="*/ 184150 h 1187450"/>
                <a:gd name="connsiteX5" fmla="*/ 504825 w 1205003"/>
                <a:gd name="connsiteY5" fmla="*/ 41275 h 1187450"/>
                <a:gd name="connsiteX6" fmla="*/ 428625 w 1205003"/>
                <a:gd name="connsiteY6" fmla="*/ 0 h 1187450"/>
                <a:gd name="connsiteX7" fmla="*/ 377825 w 1205003"/>
                <a:gd name="connsiteY7" fmla="*/ 3175 h 1187450"/>
                <a:gd name="connsiteX8" fmla="*/ 539750 w 1205003"/>
                <a:gd name="connsiteY8" fmla="*/ 384175 h 1187450"/>
                <a:gd name="connsiteX9" fmla="*/ 482600 w 1205003"/>
                <a:gd name="connsiteY9" fmla="*/ 542925 h 1187450"/>
                <a:gd name="connsiteX10" fmla="*/ 215900 w 1205003"/>
                <a:gd name="connsiteY10" fmla="*/ 552450 h 1187450"/>
                <a:gd name="connsiteX11" fmla="*/ 85725 w 1205003"/>
                <a:gd name="connsiteY11" fmla="*/ 393700 h 1187450"/>
                <a:gd name="connsiteX12" fmla="*/ 0 w 1205003"/>
                <a:gd name="connsiteY12" fmla="*/ 374650 h 1187450"/>
                <a:gd name="connsiteX13" fmla="*/ 53975 w 1205003"/>
                <a:gd name="connsiteY13" fmla="*/ 568325 h 1187450"/>
                <a:gd name="connsiteX14" fmla="*/ 50800 w 1205003"/>
                <a:gd name="connsiteY14" fmla="*/ 619125 h 1187450"/>
                <a:gd name="connsiteX15" fmla="*/ 9525 w 1205003"/>
                <a:gd name="connsiteY15" fmla="*/ 806450 h 1187450"/>
                <a:gd name="connsiteX16" fmla="*/ 88900 w 1205003"/>
                <a:gd name="connsiteY16" fmla="*/ 796925 h 1187450"/>
                <a:gd name="connsiteX17" fmla="*/ 215900 w 1205003"/>
                <a:gd name="connsiteY17" fmla="*/ 635000 h 1187450"/>
                <a:gd name="connsiteX18" fmla="*/ 460375 w 1205003"/>
                <a:gd name="connsiteY18" fmla="*/ 638175 h 1187450"/>
                <a:gd name="connsiteX19" fmla="*/ 536575 w 1205003"/>
                <a:gd name="connsiteY19" fmla="*/ 822325 h 1187450"/>
                <a:gd name="connsiteX20" fmla="*/ 390525 w 1205003"/>
                <a:gd name="connsiteY20" fmla="*/ 1187450 h 1187450"/>
                <a:gd name="connsiteX21" fmla="*/ 536575 w 1205003"/>
                <a:gd name="connsiteY21" fmla="*/ 1111250 h 1187450"/>
                <a:gd name="connsiteX22" fmla="*/ 612775 w 1205003"/>
                <a:gd name="connsiteY22" fmla="*/ 996950 h 1187450"/>
                <a:gd name="connsiteX23" fmla="*/ 663575 w 1205003"/>
                <a:gd name="connsiteY23" fmla="*/ 930275 h 1187450"/>
                <a:gd name="connsiteX24" fmla="*/ 746125 w 1205003"/>
                <a:gd name="connsiteY24" fmla="*/ 815975 h 1187450"/>
                <a:gd name="connsiteX25" fmla="*/ 803275 w 1205003"/>
                <a:gd name="connsiteY25" fmla="*/ 749300 h 1187450"/>
                <a:gd name="connsiteX26" fmla="*/ 869950 w 1205003"/>
                <a:gd name="connsiteY26" fmla="*/ 650875 h 1187450"/>
                <a:gd name="connsiteX27" fmla="*/ 1069975 w 1205003"/>
                <a:gd name="connsiteY27" fmla="*/ 641350 h 1187450"/>
                <a:gd name="connsiteX28" fmla="*/ 1073150 w 1205003"/>
                <a:gd name="connsiteY28" fmla="*/ 542925 h 1187450"/>
                <a:gd name="connsiteX29" fmla="*/ 869950 w 1205003"/>
                <a:gd name="connsiteY29" fmla="*/ 523875 h 1187450"/>
                <a:gd name="connsiteX0" fmla="*/ 869950 w 1205003"/>
                <a:gd name="connsiteY0" fmla="*/ 523875 h 1187450"/>
                <a:gd name="connsiteX1" fmla="*/ 796925 w 1205003"/>
                <a:gd name="connsiteY1" fmla="*/ 434975 h 1187450"/>
                <a:gd name="connsiteX2" fmla="*/ 749300 w 1205003"/>
                <a:gd name="connsiteY2" fmla="*/ 365125 h 1187450"/>
                <a:gd name="connsiteX3" fmla="*/ 666750 w 1205003"/>
                <a:gd name="connsiteY3" fmla="*/ 257175 h 1187450"/>
                <a:gd name="connsiteX4" fmla="*/ 615950 w 1205003"/>
                <a:gd name="connsiteY4" fmla="*/ 184150 h 1187450"/>
                <a:gd name="connsiteX5" fmla="*/ 504825 w 1205003"/>
                <a:gd name="connsiteY5" fmla="*/ 41275 h 1187450"/>
                <a:gd name="connsiteX6" fmla="*/ 428625 w 1205003"/>
                <a:gd name="connsiteY6" fmla="*/ 0 h 1187450"/>
                <a:gd name="connsiteX7" fmla="*/ 377825 w 1205003"/>
                <a:gd name="connsiteY7" fmla="*/ 3175 h 1187450"/>
                <a:gd name="connsiteX8" fmla="*/ 539750 w 1205003"/>
                <a:gd name="connsiteY8" fmla="*/ 384175 h 1187450"/>
                <a:gd name="connsiteX9" fmla="*/ 482600 w 1205003"/>
                <a:gd name="connsiteY9" fmla="*/ 542925 h 1187450"/>
                <a:gd name="connsiteX10" fmla="*/ 215900 w 1205003"/>
                <a:gd name="connsiteY10" fmla="*/ 552450 h 1187450"/>
                <a:gd name="connsiteX11" fmla="*/ 85725 w 1205003"/>
                <a:gd name="connsiteY11" fmla="*/ 393700 h 1187450"/>
                <a:gd name="connsiteX12" fmla="*/ 0 w 1205003"/>
                <a:gd name="connsiteY12" fmla="*/ 374650 h 1187450"/>
                <a:gd name="connsiteX13" fmla="*/ 53975 w 1205003"/>
                <a:gd name="connsiteY13" fmla="*/ 568325 h 1187450"/>
                <a:gd name="connsiteX14" fmla="*/ 50800 w 1205003"/>
                <a:gd name="connsiteY14" fmla="*/ 619125 h 1187450"/>
                <a:gd name="connsiteX15" fmla="*/ 9525 w 1205003"/>
                <a:gd name="connsiteY15" fmla="*/ 806450 h 1187450"/>
                <a:gd name="connsiteX16" fmla="*/ 88900 w 1205003"/>
                <a:gd name="connsiteY16" fmla="*/ 796925 h 1187450"/>
                <a:gd name="connsiteX17" fmla="*/ 215900 w 1205003"/>
                <a:gd name="connsiteY17" fmla="*/ 635000 h 1187450"/>
                <a:gd name="connsiteX18" fmla="*/ 460375 w 1205003"/>
                <a:gd name="connsiteY18" fmla="*/ 638175 h 1187450"/>
                <a:gd name="connsiteX19" fmla="*/ 536575 w 1205003"/>
                <a:gd name="connsiteY19" fmla="*/ 822325 h 1187450"/>
                <a:gd name="connsiteX20" fmla="*/ 390525 w 1205003"/>
                <a:gd name="connsiteY20" fmla="*/ 1187450 h 1187450"/>
                <a:gd name="connsiteX21" fmla="*/ 536575 w 1205003"/>
                <a:gd name="connsiteY21" fmla="*/ 1111250 h 1187450"/>
                <a:gd name="connsiteX22" fmla="*/ 612775 w 1205003"/>
                <a:gd name="connsiteY22" fmla="*/ 996950 h 1187450"/>
                <a:gd name="connsiteX23" fmla="*/ 663575 w 1205003"/>
                <a:gd name="connsiteY23" fmla="*/ 930275 h 1187450"/>
                <a:gd name="connsiteX24" fmla="*/ 746125 w 1205003"/>
                <a:gd name="connsiteY24" fmla="*/ 815975 h 1187450"/>
                <a:gd name="connsiteX25" fmla="*/ 803275 w 1205003"/>
                <a:gd name="connsiteY25" fmla="*/ 749300 h 1187450"/>
                <a:gd name="connsiteX26" fmla="*/ 869950 w 1205003"/>
                <a:gd name="connsiteY26" fmla="*/ 650875 h 1187450"/>
                <a:gd name="connsiteX27" fmla="*/ 1069975 w 1205003"/>
                <a:gd name="connsiteY27" fmla="*/ 641350 h 1187450"/>
                <a:gd name="connsiteX28" fmla="*/ 1073150 w 1205003"/>
                <a:gd name="connsiteY28" fmla="*/ 542925 h 1187450"/>
                <a:gd name="connsiteX29" fmla="*/ 869950 w 1205003"/>
                <a:gd name="connsiteY29" fmla="*/ 523875 h 1187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205003" h="1187450">
                  <a:moveTo>
                    <a:pt x="869950" y="523875"/>
                  </a:moveTo>
                  <a:lnTo>
                    <a:pt x="796925" y="434975"/>
                  </a:lnTo>
                  <a:cubicBezTo>
                    <a:pt x="869950" y="383117"/>
                    <a:pt x="784225" y="353483"/>
                    <a:pt x="749300" y="365125"/>
                  </a:cubicBezTo>
                  <a:lnTo>
                    <a:pt x="666750" y="257175"/>
                  </a:lnTo>
                  <a:cubicBezTo>
                    <a:pt x="729192" y="201083"/>
                    <a:pt x="693208" y="183092"/>
                    <a:pt x="615950" y="184150"/>
                  </a:cubicBezTo>
                  <a:lnTo>
                    <a:pt x="504825" y="41275"/>
                  </a:lnTo>
                  <a:cubicBezTo>
                    <a:pt x="466725" y="5292"/>
                    <a:pt x="454025" y="13758"/>
                    <a:pt x="428625" y="0"/>
                  </a:cubicBezTo>
                  <a:lnTo>
                    <a:pt x="377825" y="3175"/>
                  </a:lnTo>
                  <a:lnTo>
                    <a:pt x="539750" y="384175"/>
                  </a:lnTo>
                  <a:cubicBezTo>
                    <a:pt x="552450" y="443442"/>
                    <a:pt x="622300" y="515408"/>
                    <a:pt x="482600" y="542925"/>
                  </a:cubicBezTo>
                  <a:lnTo>
                    <a:pt x="215900" y="552450"/>
                  </a:lnTo>
                  <a:lnTo>
                    <a:pt x="85725" y="393700"/>
                  </a:lnTo>
                  <a:lnTo>
                    <a:pt x="0" y="374650"/>
                  </a:lnTo>
                  <a:lnTo>
                    <a:pt x="53975" y="568325"/>
                  </a:lnTo>
                  <a:cubicBezTo>
                    <a:pt x="14817" y="582083"/>
                    <a:pt x="4233" y="599017"/>
                    <a:pt x="50800" y="619125"/>
                  </a:cubicBezTo>
                  <a:lnTo>
                    <a:pt x="9525" y="806450"/>
                  </a:lnTo>
                  <a:lnTo>
                    <a:pt x="88900" y="796925"/>
                  </a:lnTo>
                  <a:lnTo>
                    <a:pt x="215900" y="635000"/>
                  </a:lnTo>
                  <a:lnTo>
                    <a:pt x="460375" y="638175"/>
                  </a:lnTo>
                  <a:cubicBezTo>
                    <a:pt x="565150" y="670983"/>
                    <a:pt x="603250" y="646642"/>
                    <a:pt x="536575" y="822325"/>
                  </a:cubicBezTo>
                  <a:lnTo>
                    <a:pt x="390525" y="1187450"/>
                  </a:lnTo>
                  <a:cubicBezTo>
                    <a:pt x="439208" y="1162050"/>
                    <a:pt x="452967" y="1231900"/>
                    <a:pt x="536575" y="1111250"/>
                  </a:cubicBezTo>
                  <a:lnTo>
                    <a:pt x="612775" y="996950"/>
                  </a:lnTo>
                  <a:cubicBezTo>
                    <a:pt x="721783" y="1003300"/>
                    <a:pt x="710142" y="955675"/>
                    <a:pt x="663575" y="930275"/>
                  </a:cubicBezTo>
                  <a:lnTo>
                    <a:pt x="746125" y="815975"/>
                  </a:lnTo>
                  <a:cubicBezTo>
                    <a:pt x="838200" y="822325"/>
                    <a:pt x="841375" y="800100"/>
                    <a:pt x="803275" y="749300"/>
                  </a:cubicBezTo>
                  <a:lnTo>
                    <a:pt x="869950" y="650875"/>
                  </a:lnTo>
                  <a:cubicBezTo>
                    <a:pt x="936625" y="647700"/>
                    <a:pt x="987425" y="663575"/>
                    <a:pt x="1069975" y="641350"/>
                  </a:cubicBezTo>
                  <a:cubicBezTo>
                    <a:pt x="1305983" y="605367"/>
                    <a:pt x="1183217" y="569383"/>
                    <a:pt x="1073150" y="542925"/>
                  </a:cubicBezTo>
                  <a:cubicBezTo>
                    <a:pt x="992717" y="527050"/>
                    <a:pt x="909108" y="542925"/>
                    <a:pt x="869950" y="523875"/>
                  </a:cubicBezTo>
                  <a:close/>
                </a:path>
              </a:pathLst>
            </a:custGeom>
            <a:solidFill>
              <a:schemeClr val="bg2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pic>
        <p:nvPicPr>
          <p:cNvPr id="17" name="Picture 1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4668" y="3234820"/>
            <a:ext cx="438260" cy="438260"/>
          </a:xfrm>
          <a:prstGeom prst="rect">
            <a:avLst/>
          </a:prstGeom>
        </p:spPr>
      </p:pic>
      <p:grpSp>
        <p:nvGrpSpPr>
          <p:cNvPr id="18" name="Group 17"/>
          <p:cNvGrpSpPr>
            <a:grpSpLocks noChangeAspect="1"/>
          </p:cNvGrpSpPr>
          <p:nvPr/>
        </p:nvGrpSpPr>
        <p:grpSpPr>
          <a:xfrm>
            <a:off x="1989074" y="4695244"/>
            <a:ext cx="706551" cy="365760"/>
            <a:chOff x="5300347" y="3553971"/>
            <a:chExt cx="2780174" cy="1439210"/>
          </a:xfrm>
        </p:grpSpPr>
        <p:sp>
          <p:nvSpPr>
            <p:cNvPr id="19" name="Right Arrow 1"/>
            <p:cNvSpPr/>
            <p:nvPr/>
          </p:nvSpPr>
          <p:spPr>
            <a:xfrm>
              <a:off x="5300347" y="3553971"/>
              <a:ext cx="2780174" cy="1439210"/>
            </a:xfrm>
            <a:custGeom>
              <a:avLst/>
              <a:gdLst>
                <a:gd name="connsiteX0" fmla="*/ 0 w 3994150"/>
                <a:gd name="connsiteY0" fmla="*/ 546497 h 2185987"/>
                <a:gd name="connsiteX1" fmla="*/ 2901157 w 3994150"/>
                <a:gd name="connsiteY1" fmla="*/ 54649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0 w 3994150"/>
                <a:gd name="connsiteY7" fmla="*/ 546497 h 2185987"/>
                <a:gd name="connsiteX0" fmla="*/ 0 w 3994150"/>
                <a:gd name="connsiteY0" fmla="*/ 546497 h 2185987"/>
                <a:gd name="connsiteX1" fmla="*/ 2908777 w 3994150"/>
                <a:gd name="connsiteY1" fmla="*/ 27979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0 w 3994150"/>
                <a:gd name="connsiteY7" fmla="*/ 546497 h 2185987"/>
                <a:gd name="connsiteX0" fmla="*/ 0 w 3994150"/>
                <a:gd name="connsiteY0" fmla="*/ 54649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0 w 3994150"/>
                <a:gd name="connsiteY7" fmla="*/ 546497 h 2185987"/>
                <a:gd name="connsiteX0" fmla="*/ 0 w 3994150"/>
                <a:gd name="connsiteY0" fmla="*/ 32551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0 w 3994150"/>
                <a:gd name="connsiteY7" fmla="*/ 325517 h 2185987"/>
                <a:gd name="connsiteX0" fmla="*/ 7620 w 3994150"/>
                <a:gd name="connsiteY0" fmla="*/ 25693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7620 w 3994150"/>
                <a:gd name="connsiteY7" fmla="*/ 256937 h 2185987"/>
                <a:gd name="connsiteX0" fmla="*/ 7620 w 3994150"/>
                <a:gd name="connsiteY0" fmla="*/ 25693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8777 w 3994150"/>
                <a:gd name="connsiteY5" fmla="*/ 1067990 h 2185987"/>
                <a:gd name="connsiteX6" fmla="*/ 0 w 3994150"/>
                <a:gd name="connsiteY6" fmla="*/ 1639490 h 2185987"/>
                <a:gd name="connsiteX7" fmla="*/ 7620 w 3994150"/>
                <a:gd name="connsiteY7" fmla="*/ 256937 h 2185987"/>
                <a:gd name="connsiteX0" fmla="*/ 7620 w 3994150"/>
                <a:gd name="connsiteY0" fmla="*/ 25693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8777 w 3994150"/>
                <a:gd name="connsiteY5" fmla="*/ 1067990 h 2185987"/>
                <a:gd name="connsiteX6" fmla="*/ 0 w 3994150"/>
                <a:gd name="connsiteY6" fmla="*/ 1075610 h 2185987"/>
                <a:gd name="connsiteX7" fmla="*/ 7620 w 3994150"/>
                <a:gd name="connsiteY7" fmla="*/ 256937 h 2185987"/>
                <a:gd name="connsiteX0" fmla="*/ 0 w 4268470"/>
                <a:gd name="connsiteY0" fmla="*/ 249317 h 2185987"/>
                <a:gd name="connsiteX1" fmla="*/ 3175477 w 4268470"/>
                <a:gd name="connsiteY1" fmla="*/ 272177 h 2185987"/>
                <a:gd name="connsiteX2" fmla="*/ 3175477 w 4268470"/>
                <a:gd name="connsiteY2" fmla="*/ 0 h 2185987"/>
                <a:gd name="connsiteX3" fmla="*/ 4268470 w 4268470"/>
                <a:gd name="connsiteY3" fmla="*/ 1092994 h 2185987"/>
                <a:gd name="connsiteX4" fmla="*/ 3175477 w 4268470"/>
                <a:gd name="connsiteY4" fmla="*/ 2185987 h 2185987"/>
                <a:gd name="connsiteX5" fmla="*/ 3183097 w 4268470"/>
                <a:gd name="connsiteY5" fmla="*/ 1067990 h 2185987"/>
                <a:gd name="connsiteX6" fmla="*/ 274320 w 4268470"/>
                <a:gd name="connsiteY6" fmla="*/ 1075610 h 2185987"/>
                <a:gd name="connsiteX7" fmla="*/ 0 w 4268470"/>
                <a:gd name="connsiteY7" fmla="*/ 249317 h 2185987"/>
                <a:gd name="connsiteX0" fmla="*/ 0 w 4222750"/>
                <a:gd name="connsiteY0" fmla="*/ 272177 h 2185987"/>
                <a:gd name="connsiteX1" fmla="*/ 3129757 w 4222750"/>
                <a:gd name="connsiteY1" fmla="*/ 272177 h 2185987"/>
                <a:gd name="connsiteX2" fmla="*/ 3129757 w 4222750"/>
                <a:gd name="connsiteY2" fmla="*/ 0 h 2185987"/>
                <a:gd name="connsiteX3" fmla="*/ 4222750 w 4222750"/>
                <a:gd name="connsiteY3" fmla="*/ 1092994 h 2185987"/>
                <a:gd name="connsiteX4" fmla="*/ 3129757 w 4222750"/>
                <a:gd name="connsiteY4" fmla="*/ 2185987 h 2185987"/>
                <a:gd name="connsiteX5" fmla="*/ 3137377 w 4222750"/>
                <a:gd name="connsiteY5" fmla="*/ 1067990 h 2185987"/>
                <a:gd name="connsiteX6" fmla="*/ 228600 w 4222750"/>
                <a:gd name="connsiteY6" fmla="*/ 1075610 h 2185987"/>
                <a:gd name="connsiteX7" fmla="*/ 0 w 4222750"/>
                <a:gd name="connsiteY7" fmla="*/ 272177 h 2185987"/>
                <a:gd name="connsiteX0" fmla="*/ 0 w 4222750"/>
                <a:gd name="connsiteY0" fmla="*/ 272177 h 2185987"/>
                <a:gd name="connsiteX1" fmla="*/ 3129757 w 4222750"/>
                <a:gd name="connsiteY1" fmla="*/ 272177 h 2185987"/>
                <a:gd name="connsiteX2" fmla="*/ 3129757 w 4222750"/>
                <a:gd name="connsiteY2" fmla="*/ 0 h 2185987"/>
                <a:gd name="connsiteX3" fmla="*/ 4222750 w 4222750"/>
                <a:gd name="connsiteY3" fmla="*/ 1092994 h 2185987"/>
                <a:gd name="connsiteX4" fmla="*/ 3129757 w 4222750"/>
                <a:gd name="connsiteY4" fmla="*/ 2185987 h 2185987"/>
                <a:gd name="connsiteX5" fmla="*/ 3137377 w 4222750"/>
                <a:gd name="connsiteY5" fmla="*/ 1067990 h 2185987"/>
                <a:gd name="connsiteX6" fmla="*/ 1219200 w 4222750"/>
                <a:gd name="connsiteY6" fmla="*/ 1067990 h 2185987"/>
                <a:gd name="connsiteX7" fmla="*/ 0 w 4222750"/>
                <a:gd name="connsiteY7" fmla="*/ 272177 h 2185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22750" h="2185987">
                  <a:moveTo>
                    <a:pt x="0" y="272177"/>
                  </a:moveTo>
                  <a:lnTo>
                    <a:pt x="3129757" y="272177"/>
                  </a:lnTo>
                  <a:lnTo>
                    <a:pt x="3129757" y="0"/>
                  </a:lnTo>
                  <a:lnTo>
                    <a:pt x="4222750" y="1092994"/>
                  </a:lnTo>
                  <a:lnTo>
                    <a:pt x="3129757" y="2185987"/>
                  </a:lnTo>
                  <a:lnTo>
                    <a:pt x="3137377" y="1067990"/>
                  </a:lnTo>
                  <a:lnTo>
                    <a:pt x="1219200" y="1067990"/>
                  </a:lnTo>
                  <a:lnTo>
                    <a:pt x="0" y="272177"/>
                  </a:lnTo>
                  <a:close/>
                </a:path>
              </a:pathLst>
            </a:custGeom>
            <a:solidFill>
              <a:srgbClr val="72C7E7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20" name="Right Arrow 1"/>
            <p:cNvSpPr/>
            <p:nvPr/>
          </p:nvSpPr>
          <p:spPr>
            <a:xfrm rot="10800000" flipH="1" flipV="1">
              <a:off x="7362885" y="4257114"/>
              <a:ext cx="712619" cy="736067"/>
            </a:xfrm>
            <a:custGeom>
              <a:avLst/>
              <a:gdLst>
                <a:gd name="connsiteX0" fmla="*/ 0 w 3994150"/>
                <a:gd name="connsiteY0" fmla="*/ 546497 h 2185987"/>
                <a:gd name="connsiteX1" fmla="*/ 2901157 w 3994150"/>
                <a:gd name="connsiteY1" fmla="*/ 54649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0 w 3994150"/>
                <a:gd name="connsiteY7" fmla="*/ 546497 h 2185987"/>
                <a:gd name="connsiteX0" fmla="*/ 0 w 3994150"/>
                <a:gd name="connsiteY0" fmla="*/ 546497 h 2185987"/>
                <a:gd name="connsiteX1" fmla="*/ 2908777 w 3994150"/>
                <a:gd name="connsiteY1" fmla="*/ 27979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0 w 3994150"/>
                <a:gd name="connsiteY7" fmla="*/ 546497 h 2185987"/>
                <a:gd name="connsiteX0" fmla="*/ 0 w 3994150"/>
                <a:gd name="connsiteY0" fmla="*/ 54649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0 w 3994150"/>
                <a:gd name="connsiteY7" fmla="*/ 546497 h 2185987"/>
                <a:gd name="connsiteX0" fmla="*/ 0 w 3994150"/>
                <a:gd name="connsiteY0" fmla="*/ 32551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0 w 3994150"/>
                <a:gd name="connsiteY7" fmla="*/ 325517 h 2185987"/>
                <a:gd name="connsiteX0" fmla="*/ 7620 w 3994150"/>
                <a:gd name="connsiteY0" fmla="*/ 25693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7620 w 3994150"/>
                <a:gd name="connsiteY7" fmla="*/ 256937 h 2185987"/>
                <a:gd name="connsiteX0" fmla="*/ 7620 w 3994150"/>
                <a:gd name="connsiteY0" fmla="*/ 25693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8777 w 3994150"/>
                <a:gd name="connsiteY5" fmla="*/ 1067990 h 2185987"/>
                <a:gd name="connsiteX6" fmla="*/ 0 w 3994150"/>
                <a:gd name="connsiteY6" fmla="*/ 1639490 h 2185987"/>
                <a:gd name="connsiteX7" fmla="*/ 7620 w 3994150"/>
                <a:gd name="connsiteY7" fmla="*/ 256937 h 2185987"/>
                <a:gd name="connsiteX0" fmla="*/ 7620 w 3994150"/>
                <a:gd name="connsiteY0" fmla="*/ 25693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8777 w 3994150"/>
                <a:gd name="connsiteY5" fmla="*/ 1067990 h 2185987"/>
                <a:gd name="connsiteX6" fmla="*/ 0 w 3994150"/>
                <a:gd name="connsiteY6" fmla="*/ 1075610 h 2185987"/>
                <a:gd name="connsiteX7" fmla="*/ 7620 w 3994150"/>
                <a:gd name="connsiteY7" fmla="*/ 256937 h 2185987"/>
                <a:gd name="connsiteX0" fmla="*/ 0 w 4268470"/>
                <a:gd name="connsiteY0" fmla="*/ 249317 h 2185987"/>
                <a:gd name="connsiteX1" fmla="*/ 3175477 w 4268470"/>
                <a:gd name="connsiteY1" fmla="*/ 272177 h 2185987"/>
                <a:gd name="connsiteX2" fmla="*/ 3175477 w 4268470"/>
                <a:gd name="connsiteY2" fmla="*/ 0 h 2185987"/>
                <a:gd name="connsiteX3" fmla="*/ 4268470 w 4268470"/>
                <a:gd name="connsiteY3" fmla="*/ 1092994 h 2185987"/>
                <a:gd name="connsiteX4" fmla="*/ 3175477 w 4268470"/>
                <a:gd name="connsiteY4" fmla="*/ 2185987 h 2185987"/>
                <a:gd name="connsiteX5" fmla="*/ 3183097 w 4268470"/>
                <a:gd name="connsiteY5" fmla="*/ 1067990 h 2185987"/>
                <a:gd name="connsiteX6" fmla="*/ 274320 w 4268470"/>
                <a:gd name="connsiteY6" fmla="*/ 1075610 h 2185987"/>
                <a:gd name="connsiteX7" fmla="*/ 0 w 4268470"/>
                <a:gd name="connsiteY7" fmla="*/ 249317 h 2185987"/>
                <a:gd name="connsiteX0" fmla="*/ 0 w 4222750"/>
                <a:gd name="connsiteY0" fmla="*/ 272177 h 2185987"/>
                <a:gd name="connsiteX1" fmla="*/ 3129757 w 4222750"/>
                <a:gd name="connsiteY1" fmla="*/ 272177 h 2185987"/>
                <a:gd name="connsiteX2" fmla="*/ 3129757 w 4222750"/>
                <a:gd name="connsiteY2" fmla="*/ 0 h 2185987"/>
                <a:gd name="connsiteX3" fmla="*/ 4222750 w 4222750"/>
                <a:gd name="connsiteY3" fmla="*/ 1092994 h 2185987"/>
                <a:gd name="connsiteX4" fmla="*/ 3129757 w 4222750"/>
                <a:gd name="connsiteY4" fmla="*/ 2185987 h 2185987"/>
                <a:gd name="connsiteX5" fmla="*/ 3137377 w 4222750"/>
                <a:gd name="connsiteY5" fmla="*/ 1067990 h 2185987"/>
                <a:gd name="connsiteX6" fmla="*/ 228600 w 4222750"/>
                <a:gd name="connsiteY6" fmla="*/ 1075610 h 2185987"/>
                <a:gd name="connsiteX7" fmla="*/ 0 w 4222750"/>
                <a:gd name="connsiteY7" fmla="*/ 272177 h 2185987"/>
                <a:gd name="connsiteX0" fmla="*/ 0 w 4222750"/>
                <a:gd name="connsiteY0" fmla="*/ 272177 h 2185987"/>
                <a:gd name="connsiteX1" fmla="*/ 3129757 w 4222750"/>
                <a:gd name="connsiteY1" fmla="*/ 272177 h 2185987"/>
                <a:gd name="connsiteX2" fmla="*/ 3129757 w 4222750"/>
                <a:gd name="connsiteY2" fmla="*/ 0 h 2185987"/>
                <a:gd name="connsiteX3" fmla="*/ 4222750 w 4222750"/>
                <a:gd name="connsiteY3" fmla="*/ 1092994 h 2185987"/>
                <a:gd name="connsiteX4" fmla="*/ 3129757 w 4222750"/>
                <a:gd name="connsiteY4" fmla="*/ 2185987 h 2185987"/>
                <a:gd name="connsiteX5" fmla="*/ 3137377 w 4222750"/>
                <a:gd name="connsiteY5" fmla="*/ 1067990 h 2185987"/>
                <a:gd name="connsiteX6" fmla="*/ 1219200 w 4222750"/>
                <a:gd name="connsiteY6" fmla="*/ 1067990 h 2185987"/>
                <a:gd name="connsiteX7" fmla="*/ 0 w 4222750"/>
                <a:gd name="connsiteY7" fmla="*/ 272177 h 2185987"/>
                <a:gd name="connsiteX0" fmla="*/ 0 w 3003550"/>
                <a:gd name="connsiteY0" fmla="*/ 1067990 h 2185987"/>
                <a:gd name="connsiteX1" fmla="*/ 1910557 w 3003550"/>
                <a:gd name="connsiteY1" fmla="*/ 272177 h 2185987"/>
                <a:gd name="connsiteX2" fmla="*/ 1910557 w 3003550"/>
                <a:gd name="connsiteY2" fmla="*/ 0 h 2185987"/>
                <a:gd name="connsiteX3" fmla="*/ 3003550 w 3003550"/>
                <a:gd name="connsiteY3" fmla="*/ 1092994 h 2185987"/>
                <a:gd name="connsiteX4" fmla="*/ 1910557 w 3003550"/>
                <a:gd name="connsiteY4" fmla="*/ 2185987 h 2185987"/>
                <a:gd name="connsiteX5" fmla="*/ 1918177 w 3003550"/>
                <a:gd name="connsiteY5" fmla="*/ 1067990 h 2185987"/>
                <a:gd name="connsiteX6" fmla="*/ 0 w 3003550"/>
                <a:gd name="connsiteY6" fmla="*/ 1067990 h 2185987"/>
                <a:gd name="connsiteX0" fmla="*/ 7620 w 1092993"/>
                <a:gd name="connsiteY0" fmla="*/ 1067990 h 2185987"/>
                <a:gd name="connsiteX1" fmla="*/ 0 w 1092993"/>
                <a:gd name="connsiteY1" fmla="*/ 272177 h 2185987"/>
                <a:gd name="connsiteX2" fmla="*/ 0 w 1092993"/>
                <a:gd name="connsiteY2" fmla="*/ 0 h 2185987"/>
                <a:gd name="connsiteX3" fmla="*/ 1092993 w 1092993"/>
                <a:gd name="connsiteY3" fmla="*/ 1092994 h 2185987"/>
                <a:gd name="connsiteX4" fmla="*/ 0 w 1092993"/>
                <a:gd name="connsiteY4" fmla="*/ 2185987 h 2185987"/>
                <a:gd name="connsiteX5" fmla="*/ 7620 w 1092993"/>
                <a:gd name="connsiteY5" fmla="*/ 1067990 h 2185987"/>
                <a:gd name="connsiteX0" fmla="*/ 7620 w 1092993"/>
                <a:gd name="connsiteY0" fmla="*/ 1067990 h 2185987"/>
                <a:gd name="connsiteX1" fmla="*/ 0 w 1092993"/>
                <a:gd name="connsiteY1" fmla="*/ 0 h 2185987"/>
                <a:gd name="connsiteX2" fmla="*/ 1092993 w 1092993"/>
                <a:gd name="connsiteY2" fmla="*/ 1092994 h 2185987"/>
                <a:gd name="connsiteX3" fmla="*/ 0 w 1092993"/>
                <a:gd name="connsiteY3" fmla="*/ 2185987 h 2185987"/>
                <a:gd name="connsiteX4" fmla="*/ 7620 w 1092993"/>
                <a:gd name="connsiteY4" fmla="*/ 1067990 h 2185987"/>
                <a:gd name="connsiteX0" fmla="*/ 7620 w 1092993"/>
                <a:gd name="connsiteY0" fmla="*/ 0 h 1117997"/>
                <a:gd name="connsiteX1" fmla="*/ 1092993 w 1092993"/>
                <a:gd name="connsiteY1" fmla="*/ 25004 h 1117997"/>
                <a:gd name="connsiteX2" fmla="*/ 0 w 1092993"/>
                <a:gd name="connsiteY2" fmla="*/ 1117997 h 1117997"/>
                <a:gd name="connsiteX3" fmla="*/ 7620 w 1092993"/>
                <a:gd name="connsiteY3" fmla="*/ 0 h 111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2993" h="1117997">
                  <a:moveTo>
                    <a:pt x="7620" y="0"/>
                  </a:moveTo>
                  <a:lnTo>
                    <a:pt x="1092993" y="25004"/>
                  </a:lnTo>
                  <a:lnTo>
                    <a:pt x="0" y="1117997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chemeClr val="tx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sp>
        <p:nvSpPr>
          <p:cNvPr id="21" name="Rectangle 20"/>
          <p:cNvSpPr/>
          <p:nvPr/>
        </p:nvSpPr>
        <p:spPr>
          <a:xfrm>
            <a:off x="4719393" y="3312350"/>
            <a:ext cx="2341949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1400" dirty="0"/>
              <a:t>哥伦比亚大学</a:t>
            </a:r>
            <a:r>
              <a:rPr lang="en-US" sz="1400" dirty="0" smtClean="0">
                <a:solidFill>
                  <a:srgbClr val="313131"/>
                </a:solidFill>
              </a:rPr>
              <a:t/>
            </a:r>
            <a:br>
              <a:rPr lang="en-US" sz="1400" dirty="0" smtClean="0">
                <a:solidFill>
                  <a:srgbClr val="313131"/>
                </a:solidFill>
              </a:rPr>
            </a:br>
            <a:r>
              <a:rPr lang="zh-CN" altLang="en-US" sz="1400" dirty="0"/>
              <a:t>金融数学专</a:t>
            </a:r>
            <a:r>
              <a:rPr lang="zh-CN" altLang="en-US" sz="1400" dirty="0" smtClean="0"/>
              <a:t>业</a:t>
            </a:r>
            <a:r>
              <a:rPr lang="en-US" altLang="zh-CN" sz="1400" dirty="0"/>
              <a:t>	</a:t>
            </a:r>
            <a:r>
              <a:rPr lang="zh-CN" altLang="en-US" sz="1400" dirty="0" smtClean="0">
                <a:solidFill>
                  <a:srgbClr val="313131"/>
                </a:solidFill>
              </a:rPr>
              <a:t>硕</a:t>
            </a:r>
            <a:r>
              <a:rPr lang="zh-CN" altLang="en-US" sz="1400" dirty="0">
                <a:solidFill>
                  <a:srgbClr val="313131"/>
                </a:solidFill>
              </a:rPr>
              <a:t>士</a:t>
            </a:r>
            <a:endParaRPr lang="en-US" sz="1400" dirty="0">
              <a:solidFill>
                <a:srgbClr val="31313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869789" y="4046518"/>
            <a:ext cx="2402726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1400" dirty="0" smtClean="0">
                <a:solidFill>
                  <a:srgbClr val="313131"/>
                </a:solidFill>
              </a:rPr>
              <a:t>中科院研究生院</a:t>
            </a:r>
            <a:r>
              <a:rPr lang="en-US" sz="1400" dirty="0" smtClean="0">
                <a:solidFill>
                  <a:srgbClr val="313131"/>
                </a:solidFill>
              </a:rPr>
              <a:t/>
            </a:r>
            <a:br>
              <a:rPr lang="en-US" sz="1400" dirty="0" smtClean="0">
                <a:solidFill>
                  <a:srgbClr val="313131"/>
                </a:solidFill>
              </a:rPr>
            </a:br>
            <a:r>
              <a:rPr lang="zh-CN" altLang="en-US" sz="1400" dirty="0" smtClean="0">
                <a:solidFill>
                  <a:srgbClr val="313131"/>
                </a:solidFill>
              </a:rPr>
              <a:t>计算机专业</a:t>
            </a:r>
            <a:r>
              <a:rPr lang="en-US" altLang="zh-CN" sz="1400" dirty="0">
                <a:solidFill>
                  <a:srgbClr val="313131"/>
                </a:solidFill>
              </a:rPr>
              <a:t>	</a:t>
            </a:r>
            <a:r>
              <a:rPr lang="en-US" altLang="zh-CN" sz="1400" dirty="0" smtClean="0">
                <a:solidFill>
                  <a:srgbClr val="313131"/>
                </a:solidFill>
              </a:rPr>
              <a:t>	</a:t>
            </a:r>
            <a:r>
              <a:rPr lang="zh-CN" altLang="en-US" sz="1400" dirty="0" smtClean="0">
                <a:solidFill>
                  <a:srgbClr val="313131"/>
                </a:solidFill>
              </a:rPr>
              <a:t>硕</a:t>
            </a:r>
            <a:r>
              <a:rPr lang="zh-CN" altLang="en-US" sz="1400" dirty="0">
                <a:solidFill>
                  <a:srgbClr val="313131"/>
                </a:solidFill>
              </a:rPr>
              <a:t>士</a:t>
            </a:r>
            <a:endParaRPr lang="en-US" sz="1100" dirty="0">
              <a:solidFill>
                <a:srgbClr val="313131"/>
              </a:solidFill>
            </a:endParaRPr>
          </a:p>
        </p:txBody>
      </p:sp>
      <p:grpSp>
        <p:nvGrpSpPr>
          <p:cNvPr id="28" name="Group 27"/>
          <p:cNvGrpSpPr>
            <a:grpSpLocks noChangeAspect="1"/>
          </p:cNvGrpSpPr>
          <p:nvPr/>
        </p:nvGrpSpPr>
        <p:grpSpPr>
          <a:xfrm>
            <a:off x="2927794" y="4021130"/>
            <a:ext cx="706551" cy="365760"/>
            <a:chOff x="5300347" y="3553971"/>
            <a:chExt cx="2780174" cy="1439210"/>
          </a:xfrm>
        </p:grpSpPr>
        <p:sp>
          <p:nvSpPr>
            <p:cNvPr id="29" name="Right Arrow 1"/>
            <p:cNvSpPr/>
            <p:nvPr/>
          </p:nvSpPr>
          <p:spPr>
            <a:xfrm>
              <a:off x="5300347" y="3553971"/>
              <a:ext cx="2780174" cy="1439210"/>
            </a:xfrm>
            <a:custGeom>
              <a:avLst/>
              <a:gdLst>
                <a:gd name="connsiteX0" fmla="*/ 0 w 3994150"/>
                <a:gd name="connsiteY0" fmla="*/ 546497 h 2185987"/>
                <a:gd name="connsiteX1" fmla="*/ 2901157 w 3994150"/>
                <a:gd name="connsiteY1" fmla="*/ 54649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0 w 3994150"/>
                <a:gd name="connsiteY7" fmla="*/ 546497 h 2185987"/>
                <a:gd name="connsiteX0" fmla="*/ 0 w 3994150"/>
                <a:gd name="connsiteY0" fmla="*/ 546497 h 2185987"/>
                <a:gd name="connsiteX1" fmla="*/ 2908777 w 3994150"/>
                <a:gd name="connsiteY1" fmla="*/ 27979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0 w 3994150"/>
                <a:gd name="connsiteY7" fmla="*/ 546497 h 2185987"/>
                <a:gd name="connsiteX0" fmla="*/ 0 w 3994150"/>
                <a:gd name="connsiteY0" fmla="*/ 54649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0 w 3994150"/>
                <a:gd name="connsiteY7" fmla="*/ 546497 h 2185987"/>
                <a:gd name="connsiteX0" fmla="*/ 0 w 3994150"/>
                <a:gd name="connsiteY0" fmla="*/ 32551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0 w 3994150"/>
                <a:gd name="connsiteY7" fmla="*/ 325517 h 2185987"/>
                <a:gd name="connsiteX0" fmla="*/ 7620 w 3994150"/>
                <a:gd name="connsiteY0" fmla="*/ 25693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7620 w 3994150"/>
                <a:gd name="connsiteY7" fmla="*/ 256937 h 2185987"/>
                <a:gd name="connsiteX0" fmla="*/ 7620 w 3994150"/>
                <a:gd name="connsiteY0" fmla="*/ 25693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8777 w 3994150"/>
                <a:gd name="connsiteY5" fmla="*/ 1067990 h 2185987"/>
                <a:gd name="connsiteX6" fmla="*/ 0 w 3994150"/>
                <a:gd name="connsiteY6" fmla="*/ 1639490 h 2185987"/>
                <a:gd name="connsiteX7" fmla="*/ 7620 w 3994150"/>
                <a:gd name="connsiteY7" fmla="*/ 256937 h 2185987"/>
                <a:gd name="connsiteX0" fmla="*/ 7620 w 3994150"/>
                <a:gd name="connsiteY0" fmla="*/ 25693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8777 w 3994150"/>
                <a:gd name="connsiteY5" fmla="*/ 1067990 h 2185987"/>
                <a:gd name="connsiteX6" fmla="*/ 0 w 3994150"/>
                <a:gd name="connsiteY6" fmla="*/ 1075610 h 2185987"/>
                <a:gd name="connsiteX7" fmla="*/ 7620 w 3994150"/>
                <a:gd name="connsiteY7" fmla="*/ 256937 h 2185987"/>
                <a:gd name="connsiteX0" fmla="*/ 0 w 4268470"/>
                <a:gd name="connsiteY0" fmla="*/ 249317 h 2185987"/>
                <a:gd name="connsiteX1" fmla="*/ 3175477 w 4268470"/>
                <a:gd name="connsiteY1" fmla="*/ 272177 h 2185987"/>
                <a:gd name="connsiteX2" fmla="*/ 3175477 w 4268470"/>
                <a:gd name="connsiteY2" fmla="*/ 0 h 2185987"/>
                <a:gd name="connsiteX3" fmla="*/ 4268470 w 4268470"/>
                <a:gd name="connsiteY3" fmla="*/ 1092994 h 2185987"/>
                <a:gd name="connsiteX4" fmla="*/ 3175477 w 4268470"/>
                <a:gd name="connsiteY4" fmla="*/ 2185987 h 2185987"/>
                <a:gd name="connsiteX5" fmla="*/ 3183097 w 4268470"/>
                <a:gd name="connsiteY5" fmla="*/ 1067990 h 2185987"/>
                <a:gd name="connsiteX6" fmla="*/ 274320 w 4268470"/>
                <a:gd name="connsiteY6" fmla="*/ 1075610 h 2185987"/>
                <a:gd name="connsiteX7" fmla="*/ 0 w 4268470"/>
                <a:gd name="connsiteY7" fmla="*/ 249317 h 2185987"/>
                <a:gd name="connsiteX0" fmla="*/ 0 w 4222750"/>
                <a:gd name="connsiteY0" fmla="*/ 272177 h 2185987"/>
                <a:gd name="connsiteX1" fmla="*/ 3129757 w 4222750"/>
                <a:gd name="connsiteY1" fmla="*/ 272177 h 2185987"/>
                <a:gd name="connsiteX2" fmla="*/ 3129757 w 4222750"/>
                <a:gd name="connsiteY2" fmla="*/ 0 h 2185987"/>
                <a:gd name="connsiteX3" fmla="*/ 4222750 w 4222750"/>
                <a:gd name="connsiteY3" fmla="*/ 1092994 h 2185987"/>
                <a:gd name="connsiteX4" fmla="*/ 3129757 w 4222750"/>
                <a:gd name="connsiteY4" fmla="*/ 2185987 h 2185987"/>
                <a:gd name="connsiteX5" fmla="*/ 3137377 w 4222750"/>
                <a:gd name="connsiteY5" fmla="*/ 1067990 h 2185987"/>
                <a:gd name="connsiteX6" fmla="*/ 228600 w 4222750"/>
                <a:gd name="connsiteY6" fmla="*/ 1075610 h 2185987"/>
                <a:gd name="connsiteX7" fmla="*/ 0 w 4222750"/>
                <a:gd name="connsiteY7" fmla="*/ 272177 h 2185987"/>
                <a:gd name="connsiteX0" fmla="*/ 0 w 4222750"/>
                <a:gd name="connsiteY0" fmla="*/ 272177 h 2185987"/>
                <a:gd name="connsiteX1" fmla="*/ 3129757 w 4222750"/>
                <a:gd name="connsiteY1" fmla="*/ 272177 h 2185987"/>
                <a:gd name="connsiteX2" fmla="*/ 3129757 w 4222750"/>
                <a:gd name="connsiteY2" fmla="*/ 0 h 2185987"/>
                <a:gd name="connsiteX3" fmla="*/ 4222750 w 4222750"/>
                <a:gd name="connsiteY3" fmla="*/ 1092994 h 2185987"/>
                <a:gd name="connsiteX4" fmla="*/ 3129757 w 4222750"/>
                <a:gd name="connsiteY4" fmla="*/ 2185987 h 2185987"/>
                <a:gd name="connsiteX5" fmla="*/ 3137377 w 4222750"/>
                <a:gd name="connsiteY5" fmla="*/ 1067990 h 2185987"/>
                <a:gd name="connsiteX6" fmla="*/ 1219200 w 4222750"/>
                <a:gd name="connsiteY6" fmla="*/ 1067990 h 2185987"/>
                <a:gd name="connsiteX7" fmla="*/ 0 w 4222750"/>
                <a:gd name="connsiteY7" fmla="*/ 272177 h 2185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22750" h="2185987">
                  <a:moveTo>
                    <a:pt x="0" y="272177"/>
                  </a:moveTo>
                  <a:lnTo>
                    <a:pt x="3129757" y="272177"/>
                  </a:lnTo>
                  <a:lnTo>
                    <a:pt x="3129757" y="0"/>
                  </a:lnTo>
                  <a:lnTo>
                    <a:pt x="4222750" y="1092994"/>
                  </a:lnTo>
                  <a:lnTo>
                    <a:pt x="3129757" y="2185987"/>
                  </a:lnTo>
                  <a:lnTo>
                    <a:pt x="3137377" y="1067990"/>
                  </a:lnTo>
                  <a:lnTo>
                    <a:pt x="1219200" y="1067990"/>
                  </a:lnTo>
                  <a:lnTo>
                    <a:pt x="0" y="272177"/>
                  </a:lnTo>
                  <a:close/>
                </a:path>
              </a:pathLst>
            </a:custGeom>
            <a:solidFill>
              <a:srgbClr val="72C7E7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30" name="Right Arrow 1"/>
            <p:cNvSpPr/>
            <p:nvPr/>
          </p:nvSpPr>
          <p:spPr>
            <a:xfrm rot="10800000" flipH="1" flipV="1">
              <a:off x="7362885" y="4257114"/>
              <a:ext cx="712619" cy="736067"/>
            </a:xfrm>
            <a:custGeom>
              <a:avLst/>
              <a:gdLst>
                <a:gd name="connsiteX0" fmla="*/ 0 w 3994150"/>
                <a:gd name="connsiteY0" fmla="*/ 546497 h 2185987"/>
                <a:gd name="connsiteX1" fmla="*/ 2901157 w 3994150"/>
                <a:gd name="connsiteY1" fmla="*/ 54649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0 w 3994150"/>
                <a:gd name="connsiteY7" fmla="*/ 546497 h 2185987"/>
                <a:gd name="connsiteX0" fmla="*/ 0 w 3994150"/>
                <a:gd name="connsiteY0" fmla="*/ 546497 h 2185987"/>
                <a:gd name="connsiteX1" fmla="*/ 2908777 w 3994150"/>
                <a:gd name="connsiteY1" fmla="*/ 27979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0 w 3994150"/>
                <a:gd name="connsiteY7" fmla="*/ 546497 h 2185987"/>
                <a:gd name="connsiteX0" fmla="*/ 0 w 3994150"/>
                <a:gd name="connsiteY0" fmla="*/ 54649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0 w 3994150"/>
                <a:gd name="connsiteY7" fmla="*/ 546497 h 2185987"/>
                <a:gd name="connsiteX0" fmla="*/ 0 w 3994150"/>
                <a:gd name="connsiteY0" fmla="*/ 32551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0 w 3994150"/>
                <a:gd name="connsiteY7" fmla="*/ 325517 h 2185987"/>
                <a:gd name="connsiteX0" fmla="*/ 7620 w 3994150"/>
                <a:gd name="connsiteY0" fmla="*/ 25693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7620 w 3994150"/>
                <a:gd name="connsiteY7" fmla="*/ 256937 h 2185987"/>
                <a:gd name="connsiteX0" fmla="*/ 7620 w 3994150"/>
                <a:gd name="connsiteY0" fmla="*/ 25693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8777 w 3994150"/>
                <a:gd name="connsiteY5" fmla="*/ 1067990 h 2185987"/>
                <a:gd name="connsiteX6" fmla="*/ 0 w 3994150"/>
                <a:gd name="connsiteY6" fmla="*/ 1639490 h 2185987"/>
                <a:gd name="connsiteX7" fmla="*/ 7620 w 3994150"/>
                <a:gd name="connsiteY7" fmla="*/ 256937 h 2185987"/>
                <a:gd name="connsiteX0" fmla="*/ 7620 w 3994150"/>
                <a:gd name="connsiteY0" fmla="*/ 25693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8777 w 3994150"/>
                <a:gd name="connsiteY5" fmla="*/ 1067990 h 2185987"/>
                <a:gd name="connsiteX6" fmla="*/ 0 w 3994150"/>
                <a:gd name="connsiteY6" fmla="*/ 1075610 h 2185987"/>
                <a:gd name="connsiteX7" fmla="*/ 7620 w 3994150"/>
                <a:gd name="connsiteY7" fmla="*/ 256937 h 2185987"/>
                <a:gd name="connsiteX0" fmla="*/ 0 w 4268470"/>
                <a:gd name="connsiteY0" fmla="*/ 249317 h 2185987"/>
                <a:gd name="connsiteX1" fmla="*/ 3175477 w 4268470"/>
                <a:gd name="connsiteY1" fmla="*/ 272177 h 2185987"/>
                <a:gd name="connsiteX2" fmla="*/ 3175477 w 4268470"/>
                <a:gd name="connsiteY2" fmla="*/ 0 h 2185987"/>
                <a:gd name="connsiteX3" fmla="*/ 4268470 w 4268470"/>
                <a:gd name="connsiteY3" fmla="*/ 1092994 h 2185987"/>
                <a:gd name="connsiteX4" fmla="*/ 3175477 w 4268470"/>
                <a:gd name="connsiteY4" fmla="*/ 2185987 h 2185987"/>
                <a:gd name="connsiteX5" fmla="*/ 3183097 w 4268470"/>
                <a:gd name="connsiteY5" fmla="*/ 1067990 h 2185987"/>
                <a:gd name="connsiteX6" fmla="*/ 274320 w 4268470"/>
                <a:gd name="connsiteY6" fmla="*/ 1075610 h 2185987"/>
                <a:gd name="connsiteX7" fmla="*/ 0 w 4268470"/>
                <a:gd name="connsiteY7" fmla="*/ 249317 h 2185987"/>
                <a:gd name="connsiteX0" fmla="*/ 0 w 4222750"/>
                <a:gd name="connsiteY0" fmla="*/ 272177 h 2185987"/>
                <a:gd name="connsiteX1" fmla="*/ 3129757 w 4222750"/>
                <a:gd name="connsiteY1" fmla="*/ 272177 h 2185987"/>
                <a:gd name="connsiteX2" fmla="*/ 3129757 w 4222750"/>
                <a:gd name="connsiteY2" fmla="*/ 0 h 2185987"/>
                <a:gd name="connsiteX3" fmla="*/ 4222750 w 4222750"/>
                <a:gd name="connsiteY3" fmla="*/ 1092994 h 2185987"/>
                <a:gd name="connsiteX4" fmla="*/ 3129757 w 4222750"/>
                <a:gd name="connsiteY4" fmla="*/ 2185987 h 2185987"/>
                <a:gd name="connsiteX5" fmla="*/ 3137377 w 4222750"/>
                <a:gd name="connsiteY5" fmla="*/ 1067990 h 2185987"/>
                <a:gd name="connsiteX6" fmla="*/ 228600 w 4222750"/>
                <a:gd name="connsiteY6" fmla="*/ 1075610 h 2185987"/>
                <a:gd name="connsiteX7" fmla="*/ 0 w 4222750"/>
                <a:gd name="connsiteY7" fmla="*/ 272177 h 2185987"/>
                <a:gd name="connsiteX0" fmla="*/ 0 w 4222750"/>
                <a:gd name="connsiteY0" fmla="*/ 272177 h 2185987"/>
                <a:gd name="connsiteX1" fmla="*/ 3129757 w 4222750"/>
                <a:gd name="connsiteY1" fmla="*/ 272177 h 2185987"/>
                <a:gd name="connsiteX2" fmla="*/ 3129757 w 4222750"/>
                <a:gd name="connsiteY2" fmla="*/ 0 h 2185987"/>
                <a:gd name="connsiteX3" fmla="*/ 4222750 w 4222750"/>
                <a:gd name="connsiteY3" fmla="*/ 1092994 h 2185987"/>
                <a:gd name="connsiteX4" fmla="*/ 3129757 w 4222750"/>
                <a:gd name="connsiteY4" fmla="*/ 2185987 h 2185987"/>
                <a:gd name="connsiteX5" fmla="*/ 3137377 w 4222750"/>
                <a:gd name="connsiteY5" fmla="*/ 1067990 h 2185987"/>
                <a:gd name="connsiteX6" fmla="*/ 1219200 w 4222750"/>
                <a:gd name="connsiteY6" fmla="*/ 1067990 h 2185987"/>
                <a:gd name="connsiteX7" fmla="*/ 0 w 4222750"/>
                <a:gd name="connsiteY7" fmla="*/ 272177 h 2185987"/>
                <a:gd name="connsiteX0" fmla="*/ 0 w 3003550"/>
                <a:gd name="connsiteY0" fmla="*/ 1067990 h 2185987"/>
                <a:gd name="connsiteX1" fmla="*/ 1910557 w 3003550"/>
                <a:gd name="connsiteY1" fmla="*/ 272177 h 2185987"/>
                <a:gd name="connsiteX2" fmla="*/ 1910557 w 3003550"/>
                <a:gd name="connsiteY2" fmla="*/ 0 h 2185987"/>
                <a:gd name="connsiteX3" fmla="*/ 3003550 w 3003550"/>
                <a:gd name="connsiteY3" fmla="*/ 1092994 h 2185987"/>
                <a:gd name="connsiteX4" fmla="*/ 1910557 w 3003550"/>
                <a:gd name="connsiteY4" fmla="*/ 2185987 h 2185987"/>
                <a:gd name="connsiteX5" fmla="*/ 1918177 w 3003550"/>
                <a:gd name="connsiteY5" fmla="*/ 1067990 h 2185987"/>
                <a:gd name="connsiteX6" fmla="*/ 0 w 3003550"/>
                <a:gd name="connsiteY6" fmla="*/ 1067990 h 2185987"/>
                <a:gd name="connsiteX0" fmla="*/ 7620 w 1092993"/>
                <a:gd name="connsiteY0" fmla="*/ 1067990 h 2185987"/>
                <a:gd name="connsiteX1" fmla="*/ 0 w 1092993"/>
                <a:gd name="connsiteY1" fmla="*/ 272177 h 2185987"/>
                <a:gd name="connsiteX2" fmla="*/ 0 w 1092993"/>
                <a:gd name="connsiteY2" fmla="*/ 0 h 2185987"/>
                <a:gd name="connsiteX3" fmla="*/ 1092993 w 1092993"/>
                <a:gd name="connsiteY3" fmla="*/ 1092994 h 2185987"/>
                <a:gd name="connsiteX4" fmla="*/ 0 w 1092993"/>
                <a:gd name="connsiteY4" fmla="*/ 2185987 h 2185987"/>
                <a:gd name="connsiteX5" fmla="*/ 7620 w 1092993"/>
                <a:gd name="connsiteY5" fmla="*/ 1067990 h 2185987"/>
                <a:gd name="connsiteX0" fmla="*/ 7620 w 1092993"/>
                <a:gd name="connsiteY0" fmla="*/ 1067990 h 2185987"/>
                <a:gd name="connsiteX1" fmla="*/ 0 w 1092993"/>
                <a:gd name="connsiteY1" fmla="*/ 0 h 2185987"/>
                <a:gd name="connsiteX2" fmla="*/ 1092993 w 1092993"/>
                <a:gd name="connsiteY2" fmla="*/ 1092994 h 2185987"/>
                <a:gd name="connsiteX3" fmla="*/ 0 w 1092993"/>
                <a:gd name="connsiteY3" fmla="*/ 2185987 h 2185987"/>
                <a:gd name="connsiteX4" fmla="*/ 7620 w 1092993"/>
                <a:gd name="connsiteY4" fmla="*/ 1067990 h 2185987"/>
                <a:gd name="connsiteX0" fmla="*/ 7620 w 1092993"/>
                <a:gd name="connsiteY0" fmla="*/ 0 h 1117997"/>
                <a:gd name="connsiteX1" fmla="*/ 1092993 w 1092993"/>
                <a:gd name="connsiteY1" fmla="*/ 25004 h 1117997"/>
                <a:gd name="connsiteX2" fmla="*/ 0 w 1092993"/>
                <a:gd name="connsiteY2" fmla="*/ 1117997 h 1117997"/>
                <a:gd name="connsiteX3" fmla="*/ 7620 w 1092993"/>
                <a:gd name="connsiteY3" fmla="*/ 0 h 111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2993" h="1117997">
                  <a:moveTo>
                    <a:pt x="7620" y="0"/>
                  </a:moveTo>
                  <a:lnTo>
                    <a:pt x="1092993" y="25004"/>
                  </a:lnTo>
                  <a:lnTo>
                    <a:pt x="0" y="1117997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chemeClr val="tx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grpSp>
        <p:nvGrpSpPr>
          <p:cNvPr id="31" name="Group 30"/>
          <p:cNvGrpSpPr>
            <a:grpSpLocks noChangeAspect="1"/>
          </p:cNvGrpSpPr>
          <p:nvPr/>
        </p:nvGrpSpPr>
        <p:grpSpPr>
          <a:xfrm>
            <a:off x="3937471" y="3269754"/>
            <a:ext cx="706551" cy="365760"/>
            <a:chOff x="5300347" y="3553971"/>
            <a:chExt cx="2780174" cy="1439210"/>
          </a:xfrm>
        </p:grpSpPr>
        <p:sp>
          <p:nvSpPr>
            <p:cNvPr id="32" name="Right Arrow 1"/>
            <p:cNvSpPr/>
            <p:nvPr/>
          </p:nvSpPr>
          <p:spPr>
            <a:xfrm>
              <a:off x="5300347" y="3553971"/>
              <a:ext cx="2780174" cy="1439210"/>
            </a:xfrm>
            <a:custGeom>
              <a:avLst/>
              <a:gdLst>
                <a:gd name="connsiteX0" fmla="*/ 0 w 3994150"/>
                <a:gd name="connsiteY0" fmla="*/ 546497 h 2185987"/>
                <a:gd name="connsiteX1" fmla="*/ 2901157 w 3994150"/>
                <a:gd name="connsiteY1" fmla="*/ 54649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0 w 3994150"/>
                <a:gd name="connsiteY7" fmla="*/ 546497 h 2185987"/>
                <a:gd name="connsiteX0" fmla="*/ 0 w 3994150"/>
                <a:gd name="connsiteY0" fmla="*/ 546497 h 2185987"/>
                <a:gd name="connsiteX1" fmla="*/ 2908777 w 3994150"/>
                <a:gd name="connsiteY1" fmla="*/ 27979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0 w 3994150"/>
                <a:gd name="connsiteY7" fmla="*/ 546497 h 2185987"/>
                <a:gd name="connsiteX0" fmla="*/ 0 w 3994150"/>
                <a:gd name="connsiteY0" fmla="*/ 54649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0 w 3994150"/>
                <a:gd name="connsiteY7" fmla="*/ 546497 h 2185987"/>
                <a:gd name="connsiteX0" fmla="*/ 0 w 3994150"/>
                <a:gd name="connsiteY0" fmla="*/ 32551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0 w 3994150"/>
                <a:gd name="connsiteY7" fmla="*/ 325517 h 2185987"/>
                <a:gd name="connsiteX0" fmla="*/ 7620 w 3994150"/>
                <a:gd name="connsiteY0" fmla="*/ 25693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7620 w 3994150"/>
                <a:gd name="connsiteY7" fmla="*/ 256937 h 2185987"/>
                <a:gd name="connsiteX0" fmla="*/ 7620 w 3994150"/>
                <a:gd name="connsiteY0" fmla="*/ 25693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8777 w 3994150"/>
                <a:gd name="connsiteY5" fmla="*/ 1067990 h 2185987"/>
                <a:gd name="connsiteX6" fmla="*/ 0 w 3994150"/>
                <a:gd name="connsiteY6" fmla="*/ 1639490 h 2185987"/>
                <a:gd name="connsiteX7" fmla="*/ 7620 w 3994150"/>
                <a:gd name="connsiteY7" fmla="*/ 256937 h 2185987"/>
                <a:gd name="connsiteX0" fmla="*/ 7620 w 3994150"/>
                <a:gd name="connsiteY0" fmla="*/ 25693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8777 w 3994150"/>
                <a:gd name="connsiteY5" fmla="*/ 1067990 h 2185987"/>
                <a:gd name="connsiteX6" fmla="*/ 0 w 3994150"/>
                <a:gd name="connsiteY6" fmla="*/ 1075610 h 2185987"/>
                <a:gd name="connsiteX7" fmla="*/ 7620 w 3994150"/>
                <a:gd name="connsiteY7" fmla="*/ 256937 h 2185987"/>
                <a:gd name="connsiteX0" fmla="*/ 0 w 4268470"/>
                <a:gd name="connsiteY0" fmla="*/ 249317 h 2185987"/>
                <a:gd name="connsiteX1" fmla="*/ 3175477 w 4268470"/>
                <a:gd name="connsiteY1" fmla="*/ 272177 h 2185987"/>
                <a:gd name="connsiteX2" fmla="*/ 3175477 w 4268470"/>
                <a:gd name="connsiteY2" fmla="*/ 0 h 2185987"/>
                <a:gd name="connsiteX3" fmla="*/ 4268470 w 4268470"/>
                <a:gd name="connsiteY3" fmla="*/ 1092994 h 2185987"/>
                <a:gd name="connsiteX4" fmla="*/ 3175477 w 4268470"/>
                <a:gd name="connsiteY4" fmla="*/ 2185987 h 2185987"/>
                <a:gd name="connsiteX5" fmla="*/ 3183097 w 4268470"/>
                <a:gd name="connsiteY5" fmla="*/ 1067990 h 2185987"/>
                <a:gd name="connsiteX6" fmla="*/ 274320 w 4268470"/>
                <a:gd name="connsiteY6" fmla="*/ 1075610 h 2185987"/>
                <a:gd name="connsiteX7" fmla="*/ 0 w 4268470"/>
                <a:gd name="connsiteY7" fmla="*/ 249317 h 2185987"/>
                <a:gd name="connsiteX0" fmla="*/ 0 w 4222750"/>
                <a:gd name="connsiteY0" fmla="*/ 272177 h 2185987"/>
                <a:gd name="connsiteX1" fmla="*/ 3129757 w 4222750"/>
                <a:gd name="connsiteY1" fmla="*/ 272177 h 2185987"/>
                <a:gd name="connsiteX2" fmla="*/ 3129757 w 4222750"/>
                <a:gd name="connsiteY2" fmla="*/ 0 h 2185987"/>
                <a:gd name="connsiteX3" fmla="*/ 4222750 w 4222750"/>
                <a:gd name="connsiteY3" fmla="*/ 1092994 h 2185987"/>
                <a:gd name="connsiteX4" fmla="*/ 3129757 w 4222750"/>
                <a:gd name="connsiteY4" fmla="*/ 2185987 h 2185987"/>
                <a:gd name="connsiteX5" fmla="*/ 3137377 w 4222750"/>
                <a:gd name="connsiteY5" fmla="*/ 1067990 h 2185987"/>
                <a:gd name="connsiteX6" fmla="*/ 228600 w 4222750"/>
                <a:gd name="connsiteY6" fmla="*/ 1075610 h 2185987"/>
                <a:gd name="connsiteX7" fmla="*/ 0 w 4222750"/>
                <a:gd name="connsiteY7" fmla="*/ 272177 h 2185987"/>
                <a:gd name="connsiteX0" fmla="*/ 0 w 4222750"/>
                <a:gd name="connsiteY0" fmla="*/ 272177 h 2185987"/>
                <a:gd name="connsiteX1" fmla="*/ 3129757 w 4222750"/>
                <a:gd name="connsiteY1" fmla="*/ 272177 h 2185987"/>
                <a:gd name="connsiteX2" fmla="*/ 3129757 w 4222750"/>
                <a:gd name="connsiteY2" fmla="*/ 0 h 2185987"/>
                <a:gd name="connsiteX3" fmla="*/ 4222750 w 4222750"/>
                <a:gd name="connsiteY3" fmla="*/ 1092994 h 2185987"/>
                <a:gd name="connsiteX4" fmla="*/ 3129757 w 4222750"/>
                <a:gd name="connsiteY4" fmla="*/ 2185987 h 2185987"/>
                <a:gd name="connsiteX5" fmla="*/ 3137377 w 4222750"/>
                <a:gd name="connsiteY5" fmla="*/ 1067990 h 2185987"/>
                <a:gd name="connsiteX6" fmla="*/ 1219200 w 4222750"/>
                <a:gd name="connsiteY6" fmla="*/ 1067990 h 2185987"/>
                <a:gd name="connsiteX7" fmla="*/ 0 w 4222750"/>
                <a:gd name="connsiteY7" fmla="*/ 272177 h 2185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22750" h="2185987">
                  <a:moveTo>
                    <a:pt x="0" y="272177"/>
                  </a:moveTo>
                  <a:lnTo>
                    <a:pt x="3129757" y="272177"/>
                  </a:lnTo>
                  <a:lnTo>
                    <a:pt x="3129757" y="0"/>
                  </a:lnTo>
                  <a:lnTo>
                    <a:pt x="4222750" y="1092994"/>
                  </a:lnTo>
                  <a:lnTo>
                    <a:pt x="3129757" y="2185987"/>
                  </a:lnTo>
                  <a:lnTo>
                    <a:pt x="3137377" y="1067990"/>
                  </a:lnTo>
                  <a:lnTo>
                    <a:pt x="1219200" y="1067990"/>
                  </a:lnTo>
                  <a:lnTo>
                    <a:pt x="0" y="272177"/>
                  </a:lnTo>
                  <a:close/>
                </a:path>
              </a:pathLst>
            </a:custGeom>
            <a:solidFill>
              <a:srgbClr val="72C7E7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33" name="Right Arrow 1"/>
            <p:cNvSpPr/>
            <p:nvPr/>
          </p:nvSpPr>
          <p:spPr>
            <a:xfrm rot="10800000" flipH="1" flipV="1">
              <a:off x="7362885" y="4257114"/>
              <a:ext cx="712619" cy="736067"/>
            </a:xfrm>
            <a:custGeom>
              <a:avLst/>
              <a:gdLst>
                <a:gd name="connsiteX0" fmla="*/ 0 w 3994150"/>
                <a:gd name="connsiteY0" fmla="*/ 546497 h 2185987"/>
                <a:gd name="connsiteX1" fmla="*/ 2901157 w 3994150"/>
                <a:gd name="connsiteY1" fmla="*/ 54649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0 w 3994150"/>
                <a:gd name="connsiteY7" fmla="*/ 546497 h 2185987"/>
                <a:gd name="connsiteX0" fmla="*/ 0 w 3994150"/>
                <a:gd name="connsiteY0" fmla="*/ 546497 h 2185987"/>
                <a:gd name="connsiteX1" fmla="*/ 2908777 w 3994150"/>
                <a:gd name="connsiteY1" fmla="*/ 27979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0 w 3994150"/>
                <a:gd name="connsiteY7" fmla="*/ 546497 h 2185987"/>
                <a:gd name="connsiteX0" fmla="*/ 0 w 3994150"/>
                <a:gd name="connsiteY0" fmla="*/ 54649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0 w 3994150"/>
                <a:gd name="connsiteY7" fmla="*/ 546497 h 2185987"/>
                <a:gd name="connsiteX0" fmla="*/ 0 w 3994150"/>
                <a:gd name="connsiteY0" fmla="*/ 32551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0 w 3994150"/>
                <a:gd name="connsiteY7" fmla="*/ 325517 h 2185987"/>
                <a:gd name="connsiteX0" fmla="*/ 7620 w 3994150"/>
                <a:gd name="connsiteY0" fmla="*/ 25693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7620 w 3994150"/>
                <a:gd name="connsiteY7" fmla="*/ 256937 h 2185987"/>
                <a:gd name="connsiteX0" fmla="*/ 7620 w 3994150"/>
                <a:gd name="connsiteY0" fmla="*/ 25693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8777 w 3994150"/>
                <a:gd name="connsiteY5" fmla="*/ 1067990 h 2185987"/>
                <a:gd name="connsiteX6" fmla="*/ 0 w 3994150"/>
                <a:gd name="connsiteY6" fmla="*/ 1639490 h 2185987"/>
                <a:gd name="connsiteX7" fmla="*/ 7620 w 3994150"/>
                <a:gd name="connsiteY7" fmla="*/ 256937 h 2185987"/>
                <a:gd name="connsiteX0" fmla="*/ 7620 w 3994150"/>
                <a:gd name="connsiteY0" fmla="*/ 25693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8777 w 3994150"/>
                <a:gd name="connsiteY5" fmla="*/ 1067990 h 2185987"/>
                <a:gd name="connsiteX6" fmla="*/ 0 w 3994150"/>
                <a:gd name="connsiteY6" fmla="*/ 1075610 h 2185987"/>
                <a:gd name="connsiteX7" fmla="*/ 7620 w 3994150"/>
                <a:gd name="connsiteY7" fmla="*/ 256937 h 2185987"/>
                <a:gd name="connsiteX0" fmla="*/ 0 w 4268470"/>
                <a:gd name="connsiteY0" fmla="*/ 249317 h 2185987"/>
                <a:gd name="connsiteX1" fmla="*/ 3175477 w 4268470"/>
                <a:gd name="connsiteY1" fmla="*/ 272177 h 2185987"/>
                <a:gd name="connsiteX2" fmla="*/ 3175477 w 4268470"/>
                <a:gd name="connsiteY2" fmla="*/ 0 h 2185987"/>
                <a:gd name="connsiteX3" fmla="*/ 4268470 w 4268470"/>
                <a:gd name="connsiteY3" fmla="*/ 1092994 h 2185987"/>
                <a:gd name="connsiteX4" fmla="*/ 3175477 w 4268470"/>
                <a:gd name="connsiteY4" fmla="*/ 2185987 h 2185987"/>
                <a:gd name="connsiteX5" fmla="*/ 3183097 w 4268470"/>
                <a:gd name="connsiteY5" fmla="*/ 1067990 h 2185987"/>
                <a:gd name="connsiteX6" fmla="*/ 274320 w 4268470"/>
                <a:gd name="connsiteY6" fmla="*/ 1075610 h 2185987"/>
                <a:gd name="connsiteX7" fmla="*/ 0 w 4268470"/>
                <a:gd name="connsiteY7" fmla="*/ 249317 h 2185987"/>
                <a:gd name="connsiteX0" fmla="*/ 0 w 4222750"/>
                <a:gd name="connsiteY0" fmla="*/ 272177 h 2185987"/>
                <a:gd name="connsiteX1" fmla="*/ 3129757 w 4222750"/>
                <a:gd name="connsiteY1" fmla="*/ 272177 h 2185987"/>
                <a:gd name="connsiteX2" fmla="*/ 3129757 w 4222750"/>
                <a:gd name="connsiteY2" fmla="*/ 0 h 2185987"/>
                <a:gd name="connsiteX3" fmla="*/ 4222750 w 4222750"/>
                <a:gd name="connsiteY3" fmla="*/ 1092994 h 2185987"/>
                <a:gd name="connsiteX4" fmla="*/ 3129757 w 4222750"/>
                <a:gd name="connsiteY4" fmla="*/ 2185987 h 2185987"/>
                <a:gd name="connsiteX5" fmla="*/ 3137377 w 4222750"/>
                <a:gd name="connsiteY5" fmla="*/ 1067990 h 2185987"/>
                <a:gd name="connsiteX6" fmla="*/ 228600 w 4222750"/>
                <a:gd name="connsiteY6" fmla="*/ 1075610 h 2185987"/>
                <a:gd name="connsiteX7" fmla="*/ 0 w 4222750"/>
                <a:gd name="connsiteY7" fmla="*/ 272177 h 2185987"/>
                <a:gd name="connsiteX0" fmla="*/ 0 w 4222750"/>
                <a:gd name="connsiteY0" fmla="*/ 272177 h 2185987"/>
                <a:gd name="connsiteX1" fmla="*/ 3129757 w 4222750"/>
                <a:gd name="connsiteY1" fmla="*/ 272177 h 2185987"/>
                <a:gd name="connsiteX2" fmla="*/ 3129757 w 4222750"/>
                <a:gd name="connsiteY2" fmla="*/ 0 h 2185987"/>
                <a:gd name="connsiteX3" fmla="*/ 4222750 w 4222750"/>
                <a:gd name="connsiteY3" fmla="*/ 1092994 h 2185987"/>
                <a:gd name="connsiteX4" fmla="*/ 3129757 w 4222750"/>
                <a:gd name="connsiteY4" fmla="*/ 2185987 h 2185987"/>
                <a:gd name="connsiteX5" fmla="*/ 3137377 w 4222750"/>
                <a:gd name="connsiteY5" fmla="*/ 1067990 h 2185987"/>
                <a:gd name="connsiteX6" fmla="*/ 1219200 w 4222750"/>
                <a:gd name="connsiteY6" fmla="*/ 1067990 h 2185987"/>
                <a:gd name="connsiteX7" fmla="*/ 0 w 4222750"/>
                <a:gd name="connsiteY7" fmla="*/ 272177 h 2185987"/>
                <a:gd name="connsiteX0" fmla="*/ 0 w 3003550"/>
                <a:gd name="connsiteY0" fmla="*/ 1067990 h 2185987"/>
                <a:gd name="connsiteX1" fmla="*/ 1910557 w 3003550"/>
                <a:gd name="connsiteY1" fmla="*/ 272177 h 2185987"/>
                <a:gd name="connsiteX2" fmla="*/ 1910557 w 3003550"/>
                <a:gd name="connsiteY2" fmla="*/ 0 h 2185987"/>
                <a:gd name="connsiteX3" fmla="*/ 3003550 w 3003550"/>
                <a:gd name="connsiteY3" fmla="*/ 1092994 h 2185987"/>
                <a:gd name="connsiteX4" fmla="*/ 1910557 w 3003550"/>
                <a:gd name="connsiteY4" fmla="*/ 2185987 h 2185987"/>
                <a:gd name="connsiteX5" fmla="*/ 1918177 w 3003550"/>
                <a:gd name="connsiteY5" fmla="*/ 1067990 h 2185987"/>
                <a:gd name="connsiteX6" fmla="*/ 0 w 3003550"/>
                <a:gd name="connsiteY6" fmla="*/ 1067990 h 2185987"/>
                <a:gd name="connsiteX0" fmla="*/ 7620 w 1092993"/>
                <a:gd name="connsiteY0" fmla="*/ 1067990 h 2185987"/>
                <a:gd name="connsiteX1" fmla="*/ 0 w 1092993"/>
                <a:gd name="connsiteY1" fmla="*/ 272177 h 2185987"/>
                <a:gd name="connsiteX2" fmla="*/ 0 w 1092993"/>
                <a:gd name="connsiteY2" fmla="*/ 0 h 2185987"/>
                <a:gd name="connsiteX3" fmla="*/ 1092993 w 1092993"/>
                <a:gd name="connsiteY3" fmla="*/ 1092994 h 2185987"/>
                <a:gd name="connsiteX4" fmla="*/ 0 w 1092993"/>
                <a:gd name="connsiteY4" fmla="*/ 2185987 h 2185987"/>
                <a:gd name="connsiteX5" fmla="*/ 7620 w 1092993"/>
                <a:gd name="connsiteY5" fmla="*/ 1067990 h 2185987"/>
                <a:gd name="connsiteX0" fmla="*/ 7620 w 1092993"/>
                <a:gd name="connsiteY0" fmla="*/ 1067990 h 2185987"/>
                <a:gd name="connsiteX1" fmla="*/ 0 w 1092993"/>
                <a:gd name="connsiteY1" fmla="*/ 0 h 2185987"/>
                <a:gd name="connsiteX2" fmla="*/ 1092993 w 1092993"/>
                <a:gd name="connsiteY2" fmla="*/ 1092994 h 2185987"/>
                <a:gd name="connsiteX3" fmla="*/ 0 w 1092993"/>
                <a:gd name="connsiteY3" fmla="*/ 2185987 h 2185987"/>
                <a:gd name="connsiteX4" fmla="*/ 7620 w 1092993"/>
                <a:gd name="connsiteY4" fmla="*/ 1067990 h 2185987"/>
                <a:gd name="connsiteX0" fmla="*/ 7620 w 1092993"/>
                <a:gd name="connsiteY0" fmla="*/ 0 h 1117997"/>
                <a:gd name="connsiteX1" fmla="*/ 1092993 w 1092993"/>
                <a:gd name="connsiteY1" fmla="*/ 25004 h 1117997"/>
                <a:gd name="connsiteX2" fmla="*/ 0 w 1092993"/>
                <a:gd name="connsiteY2" fmla="*/ 1117997 h 1117997"/>
                <a:gd name="connsiteX3" fmla="*/ 7620 w 1092993"/>
                <a:gd name="connsiteY3" fmla="*/ 0 h 111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2993" h="1117997">
                  <a:moveTo>
                    <a:pt x="7620" y="0"/>
                  </a:moveTo>
                  <a:lnTo>
                    <a:pt x="1092993" y="25004"/>
                  </a:lnTo>
                  <a:lnTo>
                    <a:pt x="0" y="1117997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chemeClr val="tx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1491976" y="2786391"/>
            <a:ext cx="691028" cy="81136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US" sz="4800" b="1" dirty="0" smtClean="0">
                <a:solidFill>
                  <a:srgbClr val="B4B4B4"/>
                </a:solidFill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74658" y="2119313"/>
            <a:ext cx="691028" cy="81136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A1DE"/>
                </a:solidFill>
              </a:rPr>
              <a:t>2</a:t>
            </a:r>
            <a:endParaRPr lang="en-US" sz="4800" b="1" dirty="0" smtClean="0">
              <a:solidFill>
                <a:srgbClr val="00A1DE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397081" y="1467610"/>
            <a:ext cx="691028" cy="81136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US" sz="4800" b="1" dirty="0">
                <a:solidFill>
                  <a:srgbClr val="72C7E7"/>
                </a:solidFill>
              </a:rPr>
              <a:t>3</a:t>
            </a:r>
            <a:endParaRPr lang="en-US" sz="4800" b="1" dirty="0" smtClean="0">
              <a:solidFill>
                <a:srgbClr val="72C7E7"/>
              </a:solidFill>
            </a:endParaRPr>
          </a:p>
        </p:txBody>
      </p:sp>
      <p:grpSp>
        <p:nvGrpSpPr>
          <p:cNvPr id="38" name="Group 37"/>
          <p:cNvGrpSpPr/>
          <p:nvPr/>
        </p:nvGrpSpPr>
        <p:grpSpPr>
          <a:xfrm>
            <a:off x="1456514" y="3985626"/>
            <a:ext cx="398330" cy="404212"/>
            <a:chOff x="7775298" y="4300210"/>
            <a:chExt cx="340038" cy="345060"/>
          </a:xfrm>
        </p:grpSpPr>
        <p:pic>
          <p:nvPicPr>
            <p:cNvPr id="39" name="Picture 3" descr="C:\Users\kknight\Desktop\cog icon.pn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82024" y="4300210"/>
              <a:ext cx="231650" cy="22677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0" name="Picture 3" descr="C:\Users\kknight\Desktop\cog icon.png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75298" y="4529287"/>
              <a:ext cx="118477" cy="1159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" name="Picture 3" descr="C:\Users\kknight\Desktop\cog icon.png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767128">
              <a:off x="7899965" y="4509191"/>
              <a:ext cx="118477" cy="1159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" name="Picture 3" descr="C:\Users\kknight\Desktop\cog icon.png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96859" y="4435799"/>
              <a:ext cx="118477" cy="1159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5" name="Rectangle 44"/>
          <p:cNvSpPr/>
          <p:nvPr/>
        </p:nvSpPr>
        <p:spPr>
          <a:xfrm>
            <a:off x="3164754" y="4695244"/>
            <a:ext cx="2402726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1400" dirty="0">
                <a:solidFill>
                  <a:srgbClr val="313131"/>
                </a:solidFill>
              </a:rPr>
              <a:t>重庆大学</a:t>
            </a:r>
            <a:r>
              <a:rPr lang="en-US" sz="1400" dirty="0" smtClean="0">
                <a:solidFill>
                  <a:srgbClr val="313131"/>
                </a:solidFill>
              </a:rPr>
              <a:t/>
            </a:r>
            <a:br>
              <a:rPr lang="en-US" sz="1400" dirty="0" smtClean="0">
                <a:solidFill>
                  <a:srgbClr val="313131"/>
                </a:solidFill>
              </a:rPr>
            </a:br>
            <a:r>
              <a:rPr lang="zh-CN" altLang="en-US" sz="1400" dirty="0" smtClean="0">
                <a:solidFill>
                  <a:srgbClr val="313131"/>
                </a:solidFill>
              </a:rPr>
              <a:t>电子工程专业</a:t>
            </a:r>
            <a:r>
              <a:rPr lang="en-US" altLang="zh-CN" sz="1400" dirty="0" smtClean="0">
                <a:solidFill>
                  <a:srgbClr val="313131"/>
                </a:solidFill>
              </a:rPr>
              <a:t>	</a:t>
            </a:r>
            <a:r>
              <a:rPr lang="zh-CN" altLang="en-US" sz="1400" dirty="0" smtClean="0">
                <a:solidFill>
                  <a:srgbClr val="313131"/>
                </a:solidFill>
              </a:rPr>
              <a:t>本科</a:t>
            </a:r>
            <a:endParaRPr lang="en-US" sz="1100" dirty="0">
              <a:solidFill>
                <a:srgbClr val="3131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086126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sz="3000" dirty="0">
                <a:solidFill>
                  <a:srgbClr val="81BC00"/>
                </a:solidFill>
              </a:rPr>
              <a:t>讲</a:t>
            </a:r>
            <a:r>
              <a:rPr lang="zh-CN" altLang="en-US" sz="3000" dirty="0" smtClean="0">
                <a:solidFill>
                  <a:srgbClr val="81BC00"/>
                </a:solidFill>
              </a:rPr>
              <a:t>师个人背景</a:t>
            </a:r>
            <a:r>
              <a:rPr lang="en-US" sz="3000" b="0" dirty="0" smtClean="0">
                <a:solidFill>
                  <a:srgbClr val="81BC00"/>
                </a:solidFill>
              </a:rPr>
              <a:t> </a:t>
            </a:r>
            <a:br>
              <a:rPr lang="en-US" sz="3000" b="0" dirty="0" smtClean="0">
                <a:solidFill>
                  <a:srgbClr val="81BC00"/>
                </a:solidFill>
              </a:rPr>
            </a:br>
            <a:r>
              <a:rPr lang="zh-CN" altLang="en-US" sz="3000" dirty="0">
                <a:solidFill>
                  <a:srgbClr val="575757"/>
                </a:solidFill>
              </a:rPr>
              <a:t>工</a:t>
            </a:r>
            <a:r>
              <a:rPr lang="zh-CN" altLang="en-US" sz="3000" dirty="0" smtClean="0">
                <a:solidFill>
                  <a:srgbClr val="575757"/>
                </a:solidFill>
              </a:rPr>
              <a:t>作经历</a:t>
            </a:r>
            <a:endParaRPr lang="en-US" sz="3000" b="0" dirty="0" smtClean="0">
              <a:solidFill>
                <a:srgbClr val="575757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4</a:t>
            </a:fld>
            <a:endParaRPr lang="en-GB" dirty="0"/>
          </a:p>
        </p:txBody>
      </p:sp>
      <p:grpSp>
        <p:nvGrpSpPr>
          <p:cNvPr id="7" name="Group 6"/>
          <p:cNvGrpSpPr/>
          <p:nvPr/>
        </p:nvGrpSpPr>
        <p:grpSpPr>
          <a:xfrm>
            <a:off x="685800" y="1566510"/>
            <a:ext cx="1512168" cy="3092012"/>
            <a:chOff x="2392362" y="2609093"/>
            <a:chExt cx="1512168" cy="3092012"/>
          </a:xfrm>
        </p:grpSpPr>
        <p:sp>
          <p:nvSpPr>
            <p:cNvPr id="8" name="Diagonal Stripe 7"/>
            <p:cNvSpPr/>
            <p:nvPr/>
          </p:nvSpPr>
          <p:spPr>
            <a:xfrm>
              <a:off x="2392362" y="4188937"/>
              <a:ext cx="1512168" cy="1512168"/>
            </a:xfrm>
            <a:prstGeom prst="diagStripe">
              <a:avLst/>
            </a:prstGeom>
            <a:solidFill>
              <a:schemeClr val="bg2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9" name="Diagonal Stripe 8"/>
            <p:cNvSpPr/>
            <p:nvPr/>
          </p:nvSpPr>
          <p:spPr>
            <a:xfrm flipV="1">
              <a:off x="2392362" y="2609093"/>
              <a:ext cx="1512168" cy="1512168"/>
            </a:xfrm>
            <a:prstGeom prst="diagStripe">
              <a:avLst/>
            </a:prstGeom>
            <a:solidFill>
              <a:schemeClr val="bg2">
                <a:lumMod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no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4724400" y="1566510"/>
            <a:ext cx="1512168" cy="3092012"/>
            <a:chOff x="3796619" y="2609093"/>
            <a:chExt cx="1512168" cy="3092012"/>
          </a:xfrm>
        </p:grpSpPr>
        <p:sp>
          <p:nvSpPr>
            <p:cNvPr id="11" name="Diagonal Stripe 10"/>
            <p:cNvSpPr/>
            <p:nvPr/>
          </p:nvSpPr>
          <p:spPr>
            <a:xfrm>
              <a:off x="3796619" y="4188937"/>
              <a:ext cx="1512168" cy="1512168"/>
            </a:xfrm>
            <a:prstGeom prst="diagStripe">
              <a:avLst/>
            </a:prstGeom>
            <a:solidFill>
              <a:srgbClr val="002776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2" name="Diagonal Stripe 11"/>
            <p:cNvSpPr/>
            <p:nvPr/>
          </p:nvSpPr>
          <p:spPr>
            <a:xfrm flipV="1">
              <a:off x="3796619" y="2609093"/>
              <a:ext cx="1512168" cy="1512168"/>
            </a:xfrm>
            <a:prstGeom prst="diagStripe">
              <a:avLst/>
            </a:prstGeom>
            <a:solidFill>
              <a:srgbClr val="72C7E7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sp>
        <p:nvSpPr>
          <p:cNvPr id="13" name="Rectangle 12"/>
          <p:cNvSpPr/>
          <p:nvPr/>
        </p:nvSpPr>
        <p:spPr>
          <a:xfrm>
            <a:off x="1729039" y="3639256"/>
            <a:ext cx="3300161" cy="25391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200" b="1" dirty="0">
                <a:solidFill>
                  <a:srgbClr val="575757"/>
                </a:solidFill>
              </a:rPr>
              <a:t>对冲基金	</a:t>
            </a:r>
            <a:endParaRPr lang="en-US" altLang="zh-CN" sz="1200" b="1" dirty="0" smtClean="0">
              <a:solidFill>
                <a:srgbClr val="575757"/>
              </a:solidFill>
            </a:endParaRPr>
          </a:p>
          <a:p>
            <a:pPr>
              <a:spcAft>
                <a:spcPts val="600"/>
              </a:spcAft>
            </a:pPr>
            <a:r>
              <a:rPr lang="zh-CN" altLang="en-US" sz="1200" dirty="0" smtClean="0">
                <a:solidFill>
                  <a:srgbClr val="575757"/>
                </a:solidFill>
              </a:rPr>
              <a:t>股</a:t>
            </a:r>
            <a:r>
              <a:rPr lang="zh-CN" altLang="en-US" sz="1200" dirty="0">
                <a:solidFill>
                  <a:srgbClr val="575757"/>
                </a:solidFill>
              </a:rPr>
              <a:t>票研究部	 </a:t>
            </a:r>
            <a:r>
              <a:rPr lang="en-US" sz="1200" dirty="0">
                <a:solidFill>
                  <a:srgbClr val="575757"/>
                </a:solidFill>
              </a:rPr>
              <a:t>Quantitative Research</a:t>
            </a:r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575757"/>
                </a:solidFill>
              </a:rPr>
              <a:t>	</a:t>
            </a:r>
            <a:r>
              <a:rPr lang="en-US" sz="1200" dirty="0" smtClean="0">
                <a:solidFill>
                  <a:srgbClr val="575757"/>
                </a:solidFill>
              </a:rPr>
              <a:t>(</a:t>
            </a:r>
            <a:r>
              <a:rPr lang="zh-CN" altLang="en-US" sz="1200" dirty="0">
                <a:solidFill>
                  <a:srgbClr val="575757"/>
                </a:solidFill>
              </a:rPr>
              <a:t>趋势跟踪模型，期权对冲</a:t>
            </a:r>
            <a:r>
              <a:rPr lang="en-US" altLang="zh-CN" sz="1200" dirty="0" smtClean="0">
                <a:solidFill>
                  <a:srgbClr val="575757"/>
                </a:solidFill>
              </a:rPr>
              <a:t>)</a:t>
            </a:r>
            <a:endParaRPr lang="en-US" altLang="zh-CN" sz="1200" dirty="0">
              <a:solidFill>
                <a:srgbClr val="575757"/>
              </a:solidFill>
            </a:endParaRP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200" b="1" dirty="0">
                <a:solidFill>
                  <a:srgbClr val="575757"/>
                </a:solidFill>
              </a:rPr>
              <a:t>中型资产管理公</a:t>
            </a:r>
            <a:r>
              <a:rPr lang="zh-CN" altLang="en-US" sz="1200" b="1" dirty="0" smtClean="0">
                <a:solidFill>
                  <a:srgbClr val="575757"/>
                </a:solidFill>
              </a:rPr>
              <a:t>司</a:t>
            </a:r>
            <a:endParaRPr lang="en-US" altLang="zh-CN" sz="1200" b="1" dirty="0" smtClean="0">
              <a:solidFill>
                <a:srgbClr val="575757"/>
              </a:solidFill>
            </a:endParaRPr>
          </a:p>
          <a:p>
            <a:pPr>
              <a:spcAft>
                <a:spcPts val="600"/>
              </a:spcAft>
            </a:pPr>
            <a:r>
              <a:rPr lang="zh-CN" altLang="en-US" sz="1200" dirty="0" smtClean="0">
                <a:solidFill>
                  <a:srgbClr val="575757"/>
                </a:solidFill>
              </a:rPr>
              <a:t>投</a:t>
            </a:r>
            <a:r>
              <a:rPr lang="zh-CN" altLang="en-US" sz="1200" dirty="0">
                <a:solidFill>
                  <a:srgbClr val="575757"/>
                </a:solidFill>
              </a:rPr>
              <a:t>资管理部	</a:t>
            </a:r>
            <a:r>
              <a:rPr lang="en-US" sz="1200" dirty="0">
                <a:solidFill>
                  <a:srgbClr val="575757"/>
                </a:solidFill>
              </a:rPr>
              <a:t>Portfolio Management</a:t>
            </a:r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575757"/>
                </a:solidFill>
              </a:rPr>
              <a:t>	</a:t>
            </a:r>
            <a:r>
              <a:rPr lang="en-US" sz="1200" dirty="0" smtClean="0">
                <a:solidFill>
                  <a:srgbClr val="575757"/>
                </a:solidFill>
              </a:rPr>
              <a:t>(</a:t>
            </a:r>
            <a:r>
              <a:rPr lang="zh-CN" altLang="en-US" sz="1200" dirty="0">
                <a:solidFill>
                  <a:srgbClr val="575757"/>
                </a:solidFill>
              </a:rPr>
              <a:t>资产组合优化模型</a:t>
            </a:r>
            <a:r>
              <a:rPr lang="en-US" altLang="zh-CN" sz="1200" dirty="0">
                <a:solidFill>
                  <a:srgbClr val="575757"/>
                </a:solidFill>
              </a:rPr>
              <a:t>)</a:t>
            </a:r>
            <a:r>
              <a:rPr lang="en-US" altLang="zh-CN" sz="1200" b="1" dirty="0">
                <a:solidFill>
                  <a:srgbClr val="575757"/>
                </a:solidFill>
              </a:rPr>
              <a:t>	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200" b="1" dirty="0">
                <a:solidFill>
                  <a:srgbClr val="575757"/>
                </a:solidFill>
              </a:rPr>
              <a:t>对冲基金		</a:t>
            </a:r>
            <a:endParaRPr lang="en-US" altLang="zh-CN" sz="1200" b="1" dirty="0" smtClean="0">
              <a:solidFill>
                <a:srgbClr val="575757"/>
              </a:solidFill>
            </a:endParaRPr>
          </a:p>
          <a:p>
            <a:pPr>
              <a:spcAft>
                <a:spcPts val="600"/>
              </a:spcAft>
            </a:pPr>
            <a:r>
              <a:rPr lang="zh-CN" altLang="en-US" sz="1200" dirty="0" smtClean="0">
                <a:solidFill>
                  <a:srgbClr val="575757"/>
                </a:solidFill>
              </a:rPr>
              <a:t>固</a:t>
            </a:r>
            <a:r>
              <a:rPr lang="zh-CN" altLang="en-US" sz="1200" dirty="0">
                <a:solidFill>
                  <a:srgbClr val="575757"/>
                </a:solidFill>
              </a:rPr>
              <a:t>定收益部	</a:t>
            </a:r>
            <a:r>
              <a:rPr lang="en-US" sz="1200" dirty="0">
                <a:solidFill>
                  <a:srgbClr val="575757"/>
                </a:solidFill>
              </a:rPr>
              <a:t>Quantitative Research</a:t>
            </a:r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575757"/>
                </a:solidFill>
              </a:rPr>
              <a:t>	</a:t>
            </a:r>
            <a:r>
              <a:rPr lang="en-US" sz="1200" dirty="0" smtClean="0">
                <a:solidFill>
                  <a:srgbClr val="575757"/>
                </a:solidFill>
              </a:rPr>
              <a:t>(</a:t>
            </a:r>
            <a:r>
              <a:rPr lang="zh-CN" altLang="en-US" sz="1200" dirty="0">
                <a:solidFill>
                  <a:srgbClr val="575757"/>
                </a:solidFill>
              </a:rPr>
              <a:t>结构化债券定价</a:t>
            </a:r>
            <a:r>
              <a:rPr lang="en-US" altLang="zh-CN" sz="1200" dirty="0">
                <a:solidFill>
                  <a:srgbClr val="575757"/>
                </a:solidFill>
              </a:rPr>
              <a:t>)</a:t>
            </a:r>
          </a:p>
          <a:p>
            <a:pPr>
              <a:spcAft>
                <a:spcPts val="600"/>
              </a:spcAft>
            </a:pPr>
            <a:r>
              <a:rPr lang="en-US" sz="1200" dirty="0" smtClean="0">
                <a:solidFill>
                  <a:srgbClr val="575757"/>
                </a:solidFill>
              </a:rPr>
              <a:t>. </a:t>
            </a:r>
            <a:endParaRPr lang="en-US" sz="1200" dirty="0">
              <a:solidFill>
                <a:srgbClr val="575757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838718" y="3651308"/>
            <a:ext cx="2848082" cy="7078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200" b="1" dirty="0">
                <a:solidFill>
                  <a:schemeClr val="accent1"/>
                </a:solidFill>
              </a:rPr>
              <a:t>对冲基金	</a:t>
            </a:r>
            <a:endParaRPr lang="en-US" altLang="zh-CN" sz="1200" b="1" dirty="0" smtClean="0">
              <a:solidFill>
                <a:schemeClr val="accent1"/>
              </a:solidFill>
            </a:endParaRPr>
          </a:p>
          <a:p>
            <a:pPr>
              <a:spcAft>
                <a:spcPts val="600"/>
              </a:spcAft>
            </a:pPr>
            <a:r>
              <a:rPr lang="zh-CN" altLang="en-US" sz="1200" dirty="0" smtClean="0">
                <a:solidFill>
                  <a:schemeClr val="accent1"/>
                </a:solidFill>
              </a:rPr>
              <a:t>研</a:t>
            </a:r>
            <a:r>
              <a:rPr lang="zh-CN" altLang="en-US" sz="1200" dirty="0">
                <a:solidFill>
                  <a:schemeClr val="accent1"/>
                </a:solidFill>
              </a:rPr>
              <a:t>究部	</a:t>
            </a:r>
            <a:r>
              <a:rPr lang="en-US" sz="1200" dirty="0" smtClean="0">
                <a:solidFill>
                  <a:schemeClr val="accent1"/>
                </a:solidFill>
              </a:rPr>
              <a:t>Quantitative </a:t>
            </a:r>
            <a:r>
              <a:rPr lang="en-US" sz="1200" dirty="0">
                <a:solidFill>
                  <a:schemeClr val="accent1"/>
                </a:solidFill>
              </a:rPr>
              <a:t>Research</a:t>
            </a:r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chemeClr val="accent1"/>
                </a:solidFill>
              </a:rPr>
              <a:t>	</a:t>
            </a:r>
            <a:r>
              <a:rPr lang="en-US" sz="1200" dirty="0" smtClean="0">
                <a:solidFill>
                  <a:schemeClr val="accent1"/>
                </a:solidFill>
              </a:rPr>
              <a:t>(</a:t>
            </a:r>
            <a:r>
              <a:rPr lang="zh-CN" altLang="en-US" sz="1200" dirty="0">
                <a:solidFill>
                  <a:schemeClr val="accent1"/>
                </a:solidFill>
              </a:rPr>
              <a:t>结构化债券定价</a:t>
            </a:r>
            <a:r>
              <a:rPr lang="en-US" altLang="zh-CN" sz="1200" dirty="0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06125" y="2602553"/>
            <a:ext cx="1993032" cy="442035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zh-CN" altLang="en-US" sz="2400" b="1" dirty="0">
                <a:solidFill>
                  <a:srgbClr val="575757"/>
                </a:solidFill>
              </a:rPr>
              <a:t>实习经历</a:t>
            </a:r>
            <a:endParaRPr lang="en-US" sz="2400" b="1" dirty="0" smtClean="0">
              <a:solidFill>
                <a:srgbClr val="575757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10198" y="2602553"/>
            <a:ext cx="1462202" cy="442035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</a:rPr>
              <a:t>现工作</a:t>
            </a:r>
            <a:endParaRPr lang="en-US" sz="2400" b="1" dirty="0" smtClean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257061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sz="3000" dirty="0" smtClean="0">
                <a:solidFill>
                  <a:srgbClr val="81BC00"/>
                </a:solidFill>
              </a:rPr>
              <a:t>量化金融行</a:t>
            </a:r>
            <a:r>
              <a:rPr lang="zh-CN" altLang="en-US" sz="3000" dirty="0" smtClean="0">
                <a:solidFill>
                  <a:srgbClr val="81BC00"/>
                </a:solidFill>
              </a:rPr>
              <a:t>业</a:t>
            </a:r>
            <a:r>
              <a:rPr lang="zh-CN" altLang="en-US" sz="3000" dirty="0">
                <a:solidFill>
                  <a:srgbClr val="81BC00"/>
                </a:solidFill>
              </a:rPr>
              <a:t>就业前景</a:t>
            </a:r>
            <a:r>
              <a:rPr lang="en-US" sz="3000" b="0" dirty="0" smtClean="0">
                <a:solidFill>
                  <a:srgbClr val="81BC00"/>
                </a:solidFill>
              </a:rPr>
              <a:t/>
            </a:r>
            <a:br>
              <a:rPr lang="en-US" sz="3000" b="0" dirty="0" smtClean="0">
                <a:solidFill>
                  <a:srgbClr val="81BC00"/>
                </a:solidFill>
              </a:rPr>
            </a:br>
            <a:endParaRPr lang="en-US" sz="3000" b="0" dirty="0" smtClean="0">
              <a:solidFill>
                <a:srgbClr val="575757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5</a:t>
            </a:fld>
            <a:endParaRPr lang="en-GB" dirty="0"/>
          </a:p>
        </p:txBody>
      </p:sp>
      <p:grpSp>
        <p:nvGrpSpPr>
          <p:cNvPr id="1506" name="Group 1505"/>
          <p:cNvGrpSpPr/>
          <p:nvPr/>
        </p:nvGrpSpPr>
        <p:grpSpPr>
          <a:xfrm>
            <a:off x="877409" y="832409"/>
            <a:ext cx="3283782" cy="3109391"/>
            <a:chOff x="4366299" y="1990724"/>
            <a:chExt cx="4168777" cy="3828214"/>
          </a:xfrm>
          <a:solidFill>
            <a:srgbClr val="00A1DE"/>
          </a:solidFill>
        </p:grpSpPr>
        <p:sp>
          <p:nvSpPr>
            <p:cNvPr id="1507" name="Line 3"/>
            <p:cNvSpPr>
              <a:spLocks noChangeShapeType="1"/>
            </p:cNvSpPr>
            <p:nvPr/>
          </p:nvSpPr>
          <p:spPr bwMode="gray">
            <a:xfrm>
              <a:off x="6414661" y="5232311"/>
              <a:ext cx="82893" cy="142283"/>
            </a:xfrm>
            <a:prstGeom prst="line">
              <a:avLst/>
            </a:prstGeom>
            <a:grpFill/>
            <a:ln w="1270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08" name="Freeform 8"/>
            <p:cNvSpPr>
              <a:spLocks/>
            </p:cNvSpPr>
            <p:nvPr/>
          </p:nvSpPr>
          <p:spPr bwMode="gray">
            <a:xfrm>
              <a:off x="6055096" y="2034633"/>
              <a:ext cx="1854886" cy="1836853"/>
            </a:xfrm>
            <a:custGeom>
              <a:avLst/>
              <a:gdLst/>
              <a:ahLst/>
              <a:cxnLst>
                <a:cxn ang="0">
                  <a:pos x="131" y="1244"/>
                </a:cxn>
                <a:cxn ang="0">
                  <a:pos x="482" y="1293"/>
                </a:cxn>
                <a:cxn ang="0">
                  <a:pos x="692" y="1331"/>
                </a:cxn>
                <a:cxn ang="0">
                  <a:pos x="1131" y="1203"/>
                </a:cxn>
                <a:cxn ang="0">
                  <a:pos x="1275" y="1067"/>
                </a:cxn>
                <a:cxn ang="0">
                  <a:pos x="1280" y="927"/>
                </a:cxn>
                <a:cxn ang="0">
                  <a:pos x="1506" y="859"/>
                </a:cxn>
                <a:cxn ang="0">
                  <a:pos x="1636" y="770"/>
                </a:cxn>
                <a:cxn ang="0">
                  <a:pos x="1888" y="699"/>
                </a:cxn>
                <a:cxn ang="0">
                  <a:pos x="1793" y="574"/>
                </a:cxn>
                <a:cxn ang="0">
                  <a:pos x="1697" y="607"/>
                </a:cxn>
                <a:cxn ang="0">
                  <a:pos x="1561" y="630"/>
                </a:cxn>
                <a:cxn ang="0">
                  <a:pos x="1557" y="413"/>
                </a:cxn>
                <a:cxn ang="0">
                  <a:pos x="1773" y="343"/>
                </a:cxn>
                <a:cxn ang="0">
                  <a:pos x="1793" y="185"/>
                </a:cxn>
                <a:cxn ang="0">
                  <a:pos x="1804" y="92"/>
                </a:cxn>
                <a:cxn ang="0">
                  <a:pos x="1872" y="0"/>
                </a:cxn>
                <a:cxn ang="0">
                  <a:pos x="1872" y="92"/>
                </a:cxn>
                <a:cxn ang="0">
                  <a:pos x="1948" y="66"/>
                </a:cxn>
                <a:cxn ang="0">
                  <a:pos x="1996" y="161"/>
                </a:cxn>
                <a:cxn ang="0">
                  <a:pos x="2140" y="175"/>
                </a:cxn>
                <a:cxn ang="0">
                  <a:pos x="2219" y="145"/>
                </a:cxn>
                <a:cxn ang="0">
                  <a:pos x="2263" y="244"/>
                </a:cxn>
                <a:cxn ang="0">
                  <a:pos x="2231" y="379"/>
                </a:cxn>
                <a:cxn ang="0">
                  <a:pos x="2223" y="485"/>
                </a:cxn>
                <a:cxn ang="0">
                  <a:pos x="2099" y="571"/>
                </a:cxn>
                <a:cxn ang="0">
                  <a:pos x="2223" y="590"/>
                </a:cxn>
                <a:cxn ang="0">
                  <a:pos x="2191" y="636"/>
                </a:cxn>
                <a:cxn ang="0">
                  <a:pos x="2103" y="735"/>
                </a:cxn>
                <a:cxn ang="0">
                  <a:pos x="2127" y="811"/>
                </a:cxn>
                <a:cxn ang="0">
                  <a:pos x="2219" y="853"/>
                </a:cxn>
                <a:cxn ang="0">
                  <a:pos x="2319" y="976"/>
                </a:cxn>
                <a:cxn ang="0">
                  <a:pos x="1996" y="1125"/>
                </a:cxn>
                <a:cxn ang="0">
                  <a:pos x="1967" y="1207"/>
                </a:cxn>
                <a:cxn ang="0">
                  <a:pos x="1861" y="1216"/>
                </a:cxn>
                <a:cxn ang="0">
                  <a:pos x="1793" y="1120"/>
                </a:cxn>
                <a:cxn ang="0">
                  <a:pos x="1740" y="1209"/>
                </a:cxn>
                <a:cxn ang="0">
                  <a:pos x="1593" y="1241"/>
                </a:cxn>
                <a:cxn ang="0">
                  <a:pos x="1489" y="1286"/>
                </a:cxn>
                <a:cxn ang="0">
                  <a:pos x="1362" y="1392"/>
                </a:cxn>
                <a:cxn ang="0">
                  <a:pos x="1183" y="1508"/>
                </a:cxn>
                <a:cxn ang="0">
                  <a:pos x="1103" y="1581"/>
                </a:cxn>
                <a:cxn ang="0">
                  <a:pos x="880" y="1648"/>
                </a:cxn>
                <a:cxn ang="0">
                  <a:pos x="876" y="1521"/>
                </a:cxn>
                <a:cxn ang="0">
                  <a:pos x="796" y="1623"/>
                </a:cxn>
                <a:cxn ang="0">
                  <a:pos x="654" y="1741"/>
                </a:cxn>
                <a:cxn ang="0">
                  <a:pos x="583" y="1661"/>
                </a:cxn>
                <a:cxn ang="0">
                  <a:pos x="644" y="1587"/>
                </a:cxn>
                <a:cxn ang="0">
                  <a:pos x="410" y="1610"/>
                </a:cxn>
                <a:cxn ang="0">
                  <a:pos x="234" y="1491"/>
                </a:cxn>
                <a:cxn ang="0">
                  <a:pos x="272" y="1433"/>
                </a:cxn>
                <a:cxn ang="0">
                  <a:pos x="72" y="1461"/>
                </a:cxn>
                <a:cxn ang="0">
                  <a:pos x="0" y="1224"/>
                </a:cxn>
              </a:cxnLst>
              <a:rect l="0" t="0" r="r" b="b"/>
              <a:pathLst>
                <a:path w="2320" h="1742">
                  <a:moveTo>
                    <a:pt x="0" y="1224"/>
                  </a:moveTo>
                  <a:lnTo>
                    <a:pt x="131" y="1244"/>
                  </a:lnTo>
                  <a:lnTo>
                    <a:pt x="387" y="1238"/>
                  </a:lnTo>
                  <a:lnTo>
                    <a:pt x="482" y="1293"/>
                  </a:lnTo>
                  <a:lnTo>
                    <a:pt x="632" y="1300"/>
                  </a:lnTo>
                  <a:lnTo>
                    <a:pt x="692" y="1331"/>
                  </a:lnTo>
                  <a:lnTo>
                    <a:pt x="753" y="1270"/>
                  </a:lnTo>
                  <a:lnTo>
                    <a:pt x="1131" y="1203"/>
                  </a:lnTo>
                  <a:lnTo>
                    <a:pt x="1192" y="1125"/>
                  </a:lnTo>
                  <a:lnTo>
                    <a:pt x="1275" y="1067"/>
                  </a:lnTo>
                  <a:lnTo>
                    <a:pt x="1234" y="988"/>
                  </a:lnTo>
                  <a:lnTo>
                    <a:pt x="1280" y="927"/>
                  </a:lnTo>
                  <a:lnTo>
                    <a:pt x="1444" y="945"/>
                  </a:lnTo>
                  <a:lnTo>
                    <a:pt x="1506" y="859"/>
                  </a:lnTo>
                  <a:lnTo>
                    <a:pt x="1617" y="823"/>
                  </a:lnTo>
                  <a:lnTo>
                    <a:pt x="1636" y="770"/>
                  </a:lnTo>
                  <a:lnTo>
                    <a:pt x="1728" y="729"/>
                  </a:lnTo>
                  <a:lnTo>
                    <a:pt x="1888" y="699"/>
                  </a:lnTo>
                  <a:lnTo>
                    <a:pt x="1900" y="657"/>
                  </a:lnTo>
                  <a:lnTo>
                    <a:pt x="1793" y="574"/>
                  </a:lnTo>
                  <a:lnTo>
                    <a:pt x="1689" y="581"/>
                  </a:lnTo>
                  <a:lnTo>
                    <a:pt x="1697" y="607"/>
                  </a:lnTo>
                  <a:lnTo>
                    <a:pt x="1614" y="607"/>
                  </a:lnTo>
                  <a:lnTo>
                    <a:pt x="1561" y="630"/>
                  </a:lnTo>
                  <a:lnTo>
                    <a:pt x="1521" y="567"/>
                  </a:lnTo>
                  <a:lnTo>
                    <a:pt x="1557" y="413"/>
                  </a:lnTo>
                  <a:lnTo>
                    <a:pt x="1668" y="413"/>
                  </a:lnTo>
                  <a:lnTo>
                    <a:pt x="1773" y="343"/>
                  </a:lnTo>
                  <a:lnTo>
                    <a:pt x="1769" y="280"/>
                  </a:lnTo>
                  <a:lnTo>
                    <a:pt x="1793" y="185"/>
                  </a:lnTo>
                  <a:lnTo>
                    <a:pt x="1836" y="138"/>
                  </a:lnTo>
                  <a:lnTo>
                    <a:pt x="1804" y="92"/>
                  </a:lnTo>
                  <a:lnTo>
                    <a:pt x="1800" y="19"/>
                  </a:lnTo>
                  <a:lnTo>
                    <a:pt x="1872" y="0"/>
                  </a:lnTo>
                  <a:lnTo>
                    <a:pt x="1895" y="39"/>
                  </a:lnTo>
                  <a:lnTo>
                    <a:pt x="1872" y="92"/>
                  </a:lnTo>
                  <a:lnTo>
                    <a:pt x="1920" y="99"/>
                  </a:lnTo>
                  <a:lnTo>
                    <a:pt x="1948" y="66"/>
                  </a:lnTo>
                  <a:lnTo>
                    <a:pt x="1976" y="76"/>
                  </a:lnTo>
                  <a:lnTo>
                    <a:pt x="1996" y="161"/>
                  </a:lnTo>
                  <a:lnTo>
                    <a:pt x="2039" y="171"/>
                  </a:lnTo>
                  <a:lnTo>
                    <a:pt x="2140" y="175"/>
                  </a:lnTo>
                  <a:lnTo>
                    <a:pt x="2171" y="122"/>
                  </a:lnTo>
                  <a:lnTo>
                    <a:pt x="2219" y="145"/>
                  </a:lnTo>
                  <a:lnTo>
                    <a:pt x="2307" y="161"/>
                  </a:lnTo>
                  <a:lnTo>
                    <a:pt x="2263" y="244"/>
                  </a:lnTo>
                  <a:lnTo>
                    <a:pt x="2258" y="366"/>
                  </a:lnTo>
                  <a:lnTo>
                    <a:pt x="2231" y="379"/>
                  </a:lnTo>
                  <a:lnTo>
                    <a:pt x="2238" y="465"/>
                  </a:lnTo>
                  <a:lnTo>
                    <a:pt x="2223" y="485"/>
                  </a:lnTo>
                  <a:lnTo>
                    <a:pt x="2168" y="455"/>
                  </a:lnTo>
                  <a:lnTo>
                    <a:pt x="2099" y="571"/>
                  </a:lnTo>
                  <a:lnTo>
                    <a:pt x="2159" y="600"/>
                  </a:lnTo>
                  <a:lnTo>
                    <a:pt x="2223" y="590"/>
                  </a:lnTo>
                  <a:lnTo>
                    <a:pt x="2231" y="623"/>
                  </a:lnTo>
                  <a:lnTo>
                    <a:pt x="2191" y="636"/>
                  </a:lnTo>
                  <a:lnTo>
                    <a:pt x="2159" y="742"/>
                  </a:lnTo>
                  <a:lnTo>
                    <a:pt x="2103" y="735"/>
                  </a:lnTo>
                  <a:lnTo>
                    <a:pt x="2083" y="748"/>
                  </a:lnTo>
                  <a:lnTo>
                    <a:pt x="2127" y="811"/>
                  </a:lnTo>
                  <a:lnTo>
                    <a:pt x="2179" y="888"/>
                  </a:lnTo>
                  <a:lnTo>
                    <a:pt x="2219" y="853"/>
                  </a:lnTo>
                  <a:lnTo>
                    <a:pt x="2307" y="902"/>
                  </a:lnTo>
                  <a:lnTo>
                    <a:pt x="2319" y="976"/>
                  </a:lnTo>
                  <a:lnTo>
                    <a:pt x="2043" y="1145"/>
                  </a:lnTo>
                  <a:lnTo>
                    <a:pt x="1996" y="1125"/>
                  </a:lnTo>
                  <a:lnTo>
                    <a:pt x="1948" y="1125"/>
                  </a:lnTo>
                  <a:lnTo>
                    <a:pt x="1967" y="1207"/>
                  </a:lnTo>
                  <a:lnTo>
                    <a:pt x="1943" y="1237"/>
                  </a:lnTo>
                  <a:lnTo>
                    <a:pt x="1861" y="1216"/>
                  </a:lnTo>
                  <a:lnTo>
                    <a:pt x="1864" y="1145"/>
                  </a:lnTo>
                  <a:lnTo>
                    <a:pt x="1793" y="1120"/>
                  </a:lnTo>
                  <a:lnTo>
                    <a:pt x="1737" y="1151"/>
                  </a:lnTo>
                  <a:lnTo>
                    <a:pt x="1740" y="1209"/>
                  </a:lnTo>
                  <a:lnTo>
                    <a:pt x="1657" y="1207"/>
                  </a:lnTo>
                  <a:lnTo>
                    <a:pt x="1593" y="1241"/>
                  </a:lnTo>
                  <a:lnTo>
                    <a:pt x="1533" y="1213"/>
                  </a:lnTo>
                  <a:lnTo>
                    <a:pt x="1489" y="1286"/>
                  </a:lnTo>
                  <a:lnTo>
                    <a:pt x="1513" y="1359"/>
                  </a:lnTo>
                  <a:lnTo>
                    <a:pt x="1362" y="1392"/>
                  </a:lnTo>
                  <a:lnTo>
                    <a:pt x="1258" y="1514"/>
                  </a:lnTo>
                  <a:lnTo>
                    <a:pt x="1183" y="1508"/>
                  </a:lnTo>
                  <a:lnTo>
                    <a:pt x="1139" y="1571"/>
                  </a:lnTo>
                  <a:lnTo>
                    <a:pt x="1103" y="1581"/>
                  </a:lnTo>
                  <a:lnTo>
                    <a:pt x="1015" y="1690"/>
                  </a:lnTo>
                  <a:lnTo>
                    <a:pt x="880" y="1648"/>
                  </a:lnTo>
                  <a:lnTo>
                    <a:pt x="886" y="1592"/>
                  </a:lnTo>
                  <a:lnTo>
                    <a:pt x="876" y="1521"/>
                  </a:lnTo>
                  <a:lnTo>
                    <a:pt x="808" y="1544"/>
                  </a:lnTo>
                  <a:lnTo>
                    <a:pt x="796" y="1623"/>
                  </a:lnTo>
                  <a:lnTo>
                    <a:pt x="720" y="1736"/>
                  </a:lnTo>
                  <a:lnTo>
                    <a:pt x="654" y="1741"/>
                  </a:lnTo>
                  <a:lnTo>
                    <a:pt x="590" y="1729"/>
                  </a:lnTo>
                  <a:lnTo>
                    <a:pt x="583" y="1661"/>
                  </a:lnTo>
                  <a:lnTo>
                    <a:pt x="627" y="1639"/>
                  </a:lnTo>
                  <a:lnTo>
                    <a:pt x="644" y="1587"/>
                  </a:lnTo>
                  <a:lnTo>
                    <a:pt x="572" y="1553"/>
                  </a:lnTo>
                  <a:lnTo>
                    <a:pt x="410" y="1610"/>
                  </a:lnTo>
                  <a:lnTo>
                    <a:pt x="317" y="1554"/>
                  </a:lnTo>
                  <a:lnTo>
                    <a:pt x="234" y="1491"/>
                  </a:lnTo>
                  <a:lnTo>
                    <a:pt x="284" y="1470"/>
                  </a:lnTo>
                  <a:lnTo>
                    <a:pt x="272" y="1433"/>
                  </a:lnTo>
                  <a:lnTo>
                    <a:pt x="134" y="1418"/>
                  </a:lnTo>
                  <a:lnTo>
                    <a:pt x="72" y="1461"/>
                  </a:lnTo>
                  <a:lnTo>
                    <a:pt x="11" y="1359"/>
                  </a:lnTo>
                  <a:lnTo>
                    <a:pt x="0" y="1224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09" name="Freeform 9"/>
            <p:cNvSpPr>
              <a:spLocks/>
            </p:cNvSpPr>
            <p:nvPr/>
          </p:nvSpPr>
          <p:spPr bwMode="gray">
            <a:xfrm>
              <a:off x="7546809" y="1990724"/>
              <a:ext cx="988267" cy="908513"/>
            </a:xfrm>
            <a:custGeom>
              <a:avLst/>
              <a:gdLst/>
              <a:ahLst/>
              <a:cxnLst>
                <a:cxn ang="0">
                  <a:pos x="0" y="49"/>
                </a:cxn>
                <a:cxn ang="0">
                  <a:pos x="146" y="0"/>
                </a:cxn>
                <a:cxn ang="0">
                  <a:pos x="358" y="16"/>
                </a:cxn>
                <a:cxn ang="0">
                  <a:pos x="426" y="168"/>
                </a:cxn>
                <a:cxn ang="0">
                  <a:pos x="513" y="225"/>
                </a:cxn>
                <a:cxn ang="0">
                  <a:pos x="597" y="303"/>
                </a:cxn>
                <a:cxn ang="0">
                  <a:pos x="748" y="303"/>
                </a:cxn>
                <a:cxn ang="0">
                  <a:pos x="817" y="327"/>
                </a:cxn>
                <a:cxn ang="0">
                  <a:pos x="868" y="370"/>
                </a:cxn>
                <a:cxn ang="0">
                  <a:pos x="919" y="449"/>
                </a:cxn>
                <a:cxn ang="0">
                  <a:pos x="1019" y="418"/>
                </a:cxn>
                <a:cxn ang="0">
                  <a:pos x="1056" y="350"/>
                </a:cxn>
                <a:cxn ang="0">
                  <a:pos x="1190" y="297"/>
                </a:cxn>
                <a:cxn ang="0">
                  <a:pos x="1234" y="376"/>
                </a:cxn>
                <a:cxn ang="0">
                  <a:pos x="1214" y="462"/>
                </a:cxn>
                <a:cxn ang="0">
                  <a:pos x="1195" y="521"/>
                </a:cxn>
                <a:cxn ang="0">
                  <a:pos x="1202" y="653"/>
                </a:cxn>
                <a:cxn ang="0">
                  <a:pos x="1103" y="653"/>
                </a:cxn>
                <a:cxn ang="0">
                  <a:pos x="1023" y="716"/>
                </a:cxn>
                <a:cxn ang="0">
                  <a:pos x="1095" y="861"/>
                </a:cxn>
                <a:cxn ang="0">
                  <a:pos x="968" y="818"/>
                </a:cxn>
                <a:cxn ang="0">
                  <a:pos x="912" y="857"/>
                </a:cxn>
                <a:cxn ang="0">
                  <a:pos x="834" y="805"/>
                </a:cxn>
                <a:cxn ang="0">
                  <a:pos x="768" y="803"/>
                </a:cxn>
                <a:cxn ang="0">
                  <a:pos x="773" y="845"/>
                </a:cxn>
                <a:cxn ang="0">
                  <a:pos x="669" y="771"/>
                </a:cxn>
                <a:cxn ang="0">
                  <a:pos x="604" y="781"/>
                </a:cxn>
                <a:cxn ang="0">
                  <a:pos x="539" y="765"/>
                </a:cxn>
                <a:cxn ang="0">
                  <a:pos x="481" y="784"/>
                </a:cxn>
                <a:cxn ang="0">
                  <a:pos x="308" y="746"/>
                </a:cxn>
                <a:cxn ang="0">
                  <a:pos x="326" y="680"/>
                </a:cxn>
                <a:cxn ang="0">
                  <a:pos x="361" y="669"/>
                </a:cxn>
                <a:cxn ang="0">
                  <a:pos x="349" y="635"/>
                </a:cxn>
                <a:cxn ang="0">
                  <a:pos x="299" y="657"/>
                </a:cxn>
                <a:cxn ang="0">
                  <a:pos x="227" y="612"/>
                </a:cxn>
                <a:cxn ang="0">
                  <a:pos x="301" y="494"/>
                </a:cxn>
                <a:cxn ang="0">
                  <a:pos x="360" y="517"/>
                </a:cxn>
                <a:cxn ang="0">
                  <a:pos x="361" y="424"/>
                </a:cxn>
                <a:cxn ang="0">
                  <a:pos x="392" y="401"/>
                </a:cxn>
                <a:cxn ang="0">
                  <a:pos x="389" y="292"/>
                </a:cxn>
                <a:cxn ang="0">
                  <a:pos x="437" y="211"/>
                </a:cxn>
                <a:cxn ang="0">
                  <a:pos x="358" y="203"/>
                </a:cxn>
                <a:cxn ang="0">
                  <a:pos x="316" y="175"/>
                </a:cxn>
                <a:cxn ang="0">
                  <a:pos x="275" y="225"/>
                </a:cxn>
                <a:cxn ang="0">
                  <a:pos x="190" y="221"/>
                </a:cxn>
                <a:cxn ang="0">
                  <a:pos x="134" y="208"/>
                </a:cxn>
                <a:cxn ang="0">
                  <a:pos x="115" y="122"/>
                </a:cxn>
                <a:cxn ang="0">
                  <a:pos x="79" y="115"/>
                </a:cxn>
                <a:cxn ang="0">
                  <a:pos x="65" y="152"/>
                </a:cxn>
                <a:cxn ang="0">
                  <a:pos x="2" y="138"/>
                </a:cxn>
                <a:cxn ang="0">
                  <a:pos x="34" y="82"/>
                </a:cxn>
                <a:cxn ang="0">
                  <a:pos x="0" y="49"/>
                </a:cxn>
              </a:cxnLst>
              <a:rect l="0" t="0" r="r" b="b"/>
              <a:pathLst>
                <a:path w="1235" h="862">
                  <a:moveTo>
                    <a:pt x="0" y="49"/>
                  </a:moveTo>
                  <a:lnTo>
                    <a:pt x="146" y="0"/>
                  </a:lnTo>
                  <a:lnTo>
                    <a:pt x="358" y="16"/>
                  </a:lnTo>
                  <a:lnTo>
                    <a:pt x="426" y="168"/>
                  </a:lnTo>
                  <a:lnTo>
                    <a:pt x="513" y="225"/>
                  </a:lnTo>
                  <a:lnTo>
                    <a:pt x="597" y="303"/>
                  </a:lnTo>
                  <a:lnTo>
                    <a:pt x="748" y="303"/>
                  </a:lnTo>
                  <a:lnTo>
                    <a:pt x="817" y="327"/>
                  </a:lnTo>
                  <a:lnTo>
                    <a:pt x="868" y="370"/>
                  </a:lnTo>
                  <a:lnTo>
                    <a:pt x="919" y="449"/>
                  </a:lnTo>
                  <a:lnTo>
                    <a:pt x="1019" y="418"/>
                  </a:lnTo>
                  <a:lnTo>
                    <a:pt x="1056" y="350"/>
                  </a:lnTo>
                  <a:lnTo>
                    <a:pt x="1190" y="297"/>
                  </a:lnTo>
                  <a:lnTo>
                    <a:pt x="1234" y="376"/>
                  </a:lnTo>
                  <a:lnTo>
                    <a:pt x="1214" y="462"/>
                  </a:lnTo>
                  <a:lnTo>
                    <a:pt x="1195" y="521"/>
                  </a:lnTo>
                  <a:lnTo>
                    <a:pt x="1202" y="653"/>
                  </a:lnTo>
                  <a:lnTo>
                    <a:pt x="1103" y="653"/>
                  </a:lnTo>
                  <a:lnTo>
                    <a:pt x="1023" y="716"/>
                  </a:lnTo>
                  <a:lnTo>
                    <a:pt x="1095" y="861"/>
                  </a:lnTo>
                  <a:lnTo>
                    <a:pt x="968" y="818"/>
                  </a:lnTo>
                  <a:lnTo>
                    <a:pt x="912" y="857"/>
                  </a:lnTo>
                  <a:lnTo>
                    <a:pt x="834" y="805"/>
                  </a:lnTo>
                  <a:lnTo>
                    <a:pt x="768" y="803"/>
                  </a:lnTo>
                  <a:lnTo>
                    <a:pt x="773" y="845"/>
                  </a:lnTo>
                  <a:lnTo>
                    <a:pt x="669" y="771"/>
                  </a:lnTo>
                  <a:lnTo>
                    <a:pt x="604" y="781"/>
                  </a:lnTo>
                  <a:lnTo>
                    <a:pt x="539" y="765"/>
                  </a:lnTo>
                  <a:lnTo>
                    <a:pt x="481" y="784"/>
                  </a:lnTo>
                  <a:lnTo>
                    <a:pt x="308" y="746"/>
                  </a:lnTo>
                  <a:lnTo>
                    <a:pt x="326" y="680"/>
                  </a:lnTo>
                  <a:lnTo>
                    <a:pt x="361" y="669"/>
                  </a:lnTo>
                  <a:lnTo>
                    <a:pt x="349" y="635"/>
                  </a:lnTo>
                  <a:lnTo>
                    <a:pt x="299" y="657"/>
                  </a:lnTo>
                  <a:lnTo>
                    <a:pt x="227" y="612"/>
                  </a:lnTo>
                  <a:lnTo>
                    <a:pt x="301" y="494"/>
                  </a:lnTo>
                  <a:lnTo>
                    <a:pt x="360" y="517"/>
                  </a:lnTo>
                  <a:lnTo>
                    <a:pt x="361" y="424"/>
                  </a:lnTo>
                  <a:lnTo>
                    <a:pt x="392" y="401"/>
                  </a:lnTo>
                  <a:lnTo>
                    <a:pt x="389" y="292"/>
                  </a:lnTo>
                  <a:lnTo>
                    <a:pt x="437" y="211"/>
                  </a:lnTo>
                  <a:lnTo>
                    <a:pt x="358" y="203"/>
                  </a:lnTo>
                  <a:lnTo>
                    <a:pt x="316" y="175"/>
                  </a:lnTo>
                  <a:lnTo>
                    <a:pt x="275" y="225"/>
                  </a:lnTo>
                  <a:lnTo>
                    <a:pt x="190" y="221"/>
                  </a:lnTo>
                  <a:lnTo>
                    <a:pt x="134" y="208"/>
                  </a:lnTo>
                  <a:lnTo>
                    <a:pt x="115" y="122"/>
                  </a:lnTo>
                  <a:lnTo>
                    <a:pt x="79" y="115"/>
                  </a:lnTo>
                  <a:lnTo>
                    <a:pt x="65" y="152"/>
                  </a:lnTo>
                  <a:lnTo>
                    <a:pt x="2" y="138"/>
                  </a:lnTo>
                  <a:lnTo>
                    <a:pt x="34" y="82"/>
                  </a:lnTo>
                  <a:lnTo>
                    <a:pt x="0" y="49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10" name="Freeform 10"/>
            <p:cNvSpPr>
              <a:spLocks/>
            </p:cNvSpPr>
            <p:nvPr/>
          </p:nvSpPr>
          <p:spPr bwMode="gray">
            <a:xfrm>
              <a:off x="4366299" y="2610839"/>
              <a:ext cx="1669721" cy="1425164"/>
            </a:xfrm>
            <a:custGeom>
              <a:avLst/>
              <a:gdLst>
                <a:gd name="connsiteX0" fmla="*/ 2088 w 2088"/>
                <a:gd name="connsiteY0" fmla="*/ 696 h 1352"/>
                <a:gd name="connsiteX1" fmla="*/ 2062 w 2088"/>
                <a:gd name="connsiteY1" fmla="*/ 621 h 1352"/>
                <a:gd name="connsiteX2" fmla="*/ 2032 w 2088"/>
                <a:gd name="connsiteY2" fmla="*/ 547 h 1352"/>
                <a:gd name="connsiteX3" fmla="*/ 1876 w 2088"/>
                <a:gd name="connsiteY3" fmla="*/ 478 h 1352"/>
                <a:gd name="connsiteX4" fmla="*/ 1769 w 2088"/>
                <a:gd name="connsiteY4" fmla="*/ 478 h 1352"/>
                <a:gd name="connsiteX5" fmla="*/ 1640 w 2088"/>
                <a:gd name="connsiteY5" fmla="*/ 437 h 1352"/>
                <a:gd name="connsiteX6" fmla="*/ 1685 w 2088"/>
                <a:gd name="connsiteY6" fmla="*/ 297 h 1352"/>
                <a:gd name="connsiteX7" fmla="*/ 1583 w 2088"/>
                <a:gd name="connsiteY7" fmla="*/ 154 h 1352"/>
                <a:gd name="connsiteX8" fmla="*/ 1513 w 2088"/>
                <a:gd name="connsiteY8" fmla="*/ 150 h 1352"/>
                <a:gd name="connsiteX9" fmla="*/ 1441 w 2088"/>
                <a:gd name="connsiteY9" fmla="*/ 66 h 1352"/>
                <a:gd name="connsiteX10" fmla="*/ 1433 w 2088"/>
                <a:gd name="connsiteY10" fmla="*/ 7 h 1352"/>
                <a:gd name="connsiteX11" fmla="*/ 1362 w 2088"/>
                <a:gd name="connsiteY11" fmla="*/ 0 h 1352"/>
                <a:gd name="connsiteX12" fmla="*/ 1335 w 2088"/>
                <a:gd name="connsiteY12" fmla="*/ 70 h 1352"/>
                <a:gd name="connsiteX13" fmla="*/ 1241 w 2088"/>
                <a:gd name="connsiteY13" fmla="*/ 88 h 1352"/>
                <a:gd name="connsiteX14" fmla="*/ 1246 w 2088"/>
                <a:gd name="connsiteY14" fmla="*/ 183 h 1352"/>
                <a:gd name="connsiteX15" fmla="*/ 1172 w 2088"/>
                <a:gd name="connsiteY15" fmla="*/ 227 h 1352"/>
                <a:gd name="connsiteX16" fmla="*/ 1117 w 2088"/>
                <a:gd name="connsiteY16" fmla="*/ 183 h 1352"/>
                <a:gd name="connsiteX17" fmla="*/ 1015 w 2088"/>
                <a:gd name="connsiteY17" fmla="*/ 169 h 1352"/>
                <a:gd name="connsiteX18" fmla="*/ 926 w 2088"/>
                <a:gd name="connsiteY18" fmla="*/ 316 h 1352"/>
                <a:gd name="connsiteX19" fmla="*/ 926 w 2088"/>
                <a:gd name="connsiteY19" fmla="*/ 353 h 1352"/>
                <a:gd name="connsiteX20" fmla="*/ 896 w 2088"/>
                <a:gd name="connsiteY20" fmla="*/ 363 h 1352"/>
                <a:gd name="connsiteX21" fmla="*/ 842 w 2088"/>
                <a:gd name="connsiteY21" fmla="*/ 331 h 1352"/>
                <a:gd name="connsiteX22" fmla="*/ 736 w 2088"/>
                <a:gd name="connsiteY22" fmla="*/ 327 h 1352"/>
                <a:gd name="connsiteX23" fmla="*/ 692 w 2088"/>
                <a:gd name="connsiteY23" fmla="*/ 363 h 1352"/>
                <a:gd name="connsiteX24" fmla="*/ 732 w 2088"/>
                <a:gd name="connsiteY24" fmla="*/ 386 h 1352"/>
                <a:gd name="connsiteX25" fmla="*/ 749 w 2088"/>
                <a:gd name="connsiteY25" fmla="*/ 539 h 1352"/>
                <a:gd name="connsiteX26" fmla="*/ 665 w 2088"/>
                <a:gd name="connsiteY26" fmla="*/ 581 h 1352"/>
                <a:gd name="connsiteX27" fmla="*/ 657 w 2088"/>
                <a:gd name="connsiteY27" fmla="*/ 643 h 1352"/>
                <a:gd name="connsiteX28" fmla="*/ 532 w 2088"/>
                <a:gd name="connsiteY28" fmla="*/ 668 h 1352"/>
                <a:gd name="connsiteX29" fmla="*/ 448 w 2088"/>
                <a:gd name="connsiteY29" fmla="*/ 702 h 1352"/>
                <a:gd name="connsiteX30" fmla="*/ 328 w 2088"/>
                <a:gd name="connsiteY30" fmla="*/ 695 h 1352"/>
                <a:gd name="connsiteX31" fmla="*/ 283 w 2088"/>
                <a:gd name="connsiteY31" fmla="*/ 745 h 1352"/>
                <a:gd name="connsiteX32" fmla="*/ 231 w 2088"/>
                <a:gd name="connsiteY32" fmla="*/ 735 h 1352"/>
                <a:gd name="connsiteX33" fmla="*/ 182 w 2088"/>
                <a:gd name="connsiteY33" fmla="*/ 705 h 1352"/>
                <a:gd name="connsiteX34" fmla="*/ 88 w 2088"/>
                <a:gd name="connsiteY34" fmla="*/ 735 h 1352"/>
                <a:gd name="connsiteX35" fmla="*/ 0 w 2088"/>
                <a:gd name="connsiteY35" fmla="*/ 793 h 1352"/>
                <a:gd name="connsiteX36" fmla="*/ 9 w 2088"/>
                <a:gd name="connsiteY36" fmla="*/ 892 h 1352"/>
                <a:gd name="connsiteX37" fmla="*/ 66 w 2088"/>
                <a:gd name="connsiteY37" fmla="*/ 903 h 1352"/>
                <a:gd name="connsiteX38" fmla="*/ 79 w 2088"/>
                <a:gd name="connsiteY38" fmla="*/ 1021 h 1352"/>
                <a:gd name="connsiteX39" fmla="*/ 27 w 2088"/>
                <a:gd name="connsiteY39" fmla="*/ 1021 h 1352"/>
                <a:gd name="connsiteX40" fmla="*/ 27 w 2088"/>
                <a:gd name="connsiteY40" fmla="*/ 1055 h 1352"/>
                <a:gd name="connsiteX41" fmla="*/ 124 w 2088"/>
                <a:gd name="connsiteY41" fmla="*/ 1106 h 1352"/>
                <a:gd name="connsiteX42" fmla="*/ 115 w 2088"/>
                <a:gd name="connsiteY42" fmla="*/ 1176 h 1352"/>
                <a:gd name="connsiteX43" fmla="*/ 277 w 2088"/>
                <a:gd name="connsiteY43" fmla="*/ 1248 h 1352"/>
                <a:gd name="connsiteX44" fmla="*/ 281 w 2088"/>
                <a:gd name="connsiteY44" fmla="*/ 1253 h 1352"/>
                <a:gd name="connsiteX45" fmla="*/ 286 w 2088"/>
                <a:gd name="connsiteY45" fmla="*/ 1320 h 1352"/>
                <a:gd name="connsiteX46" fmla="*/ 411 w 2088"/>
                <a:gd name="connsiteY46" fmla="*/ 1325 h 1352"/>
                <a:gd name="connsiteX47" fmla="*/ 510 w 2088"/>
                <a:gd name="connsiteY47" fmla="*/ 1269 h 1352"/>
                <a:gd name="connsiteX48" fmla="*/ 669 w 2088"/>
                <a:gd name="connsiteY48" fmla="*/ 1301 h 1352"/>
                <a:gd name="connsiteX49" fmla="*/ 746 w 2088"/>
                <a:gd name="connsiteY49" fmla="*/ 1277 h 1352"/>
                <a:gd name="connsiteX50" fmla="*/ 876 w 2088"/>
                <a:gd name="connsiteY50" fmla="*/ 1352 h 1352"/>
                <a:gd name="connsiteX51" fmla="*/ 973 w 2088"/>
                <a:gd name="connsiteY51" fmla="*/ 1303 h 1352"/>
                <a:gd name="connsiteX52" fmla="*/ 1265 w 2088"/>
                <a:gd name="connsiteY52" fmla="*/ 1253 h 1352"/>
                <a:gd name="connsiteX53" fmla="*/ 1383 w 2088"/>
                <a:gd name="connsiteY53" fmla="*/ 1274 h 1352"/>
                <a:gd name="connsiteX54" fmla="*/ 1519 w 2088"/>
                <a:gd name="connsiteY54" fmla="*/ 1277 h 1352"/>
                <a:gd name="connsiteX55" fmla="*/ 1541 w 2088"/>
                <a:gd name="connsiteY55" fmla="*/ 1266 h 1352"/>
                <a:gd name="connsiteX56" fmla="*/ 1564 w 2088"/>
                <a:gd name="connsiteY56" fmla="*/ 1210 h 1352"/>
                <a:gd name="connsiteX57" fmla="*/ 1501 w 2088"/>
                <a:gd name="connsiteY57" fmla="*/ 1159 h 1352"/>
                <a:gd name="connsiteX58" fmla="*/ 1516 w 2088"/>
                <a:gd name="connsiteY58" fmla="*/ 1082 h 1352"/>
                <a:gd name="connsiteX59" fmla="*/ 1821 w 2088"/>
                <a:gd name="connsiteY59" fmla="*/ 1012 h 1352"/>
                <a:gd name="connsiteX60" fmla="*/ 1813 w 2088"/>
                <a:gd name="connsiteY60" fmla="*/ 891 h 1352"/>
                <a:gd name="connsiteX61" fmla="*/ 1899 w 2088"/>
                <a:gd name="connsiteY61" fmla="*/ 863 h 1352"/>
                <a:gd name="connsiteX62" fmla="*/ 1942 w 2088"/>
                <a:gd name="connsiteY62" fmla="*/ 795 h 1352"/>
                <a:gd name="connsiteX63" fmla="*/ 2051 w 2088"/>
                <a:gd name="connsiteY63" fmla="*/ 760 h 1352"/>
                <a:gd name="connsiteX64" fmla="*/ 2088 w 2088"/>
                <a:gd name="connsiteY64" fmla="*/ 696 h 1352"/>
                <a:gd name="connsiteX0" fmla="*/ 2088 w 2088"/>
                <a:gd name="connsiteY0" fmla="*/ 696 h 1352"/>
                <a:gd name="connsiteX1" fmla="*/ 2062 w 2088"/>
                <a:gd name="connsiteY1" fmla="*/ 621 h 1352"/>
                <a:gd name="connsiteX2" fmla="*/ 2032 w 2088"/>
                <a:gd name="connsiteY2" fmla="*/ 547 h 1352"/>
                <a:gd name="connsiteX3" fmla="*/ 1876 w 2088"/>
                <a:gd name="connsiteY3" fmla="*/ 478 h 1352"/>
                <a:gd name="connsiteX4" fmla="*/ 1769 w 2088"/>
                <a:gd name="connsiteY4" fmla="*/ 478 h 1352"/>
                <a:gd name="connsiteX5" fmla="*/ 1640 w 2088"/>
                <a:gd name="connsiteY5" fmla="*/ 437 h 1352"/>
                <a:gd name="connsiteX6" fmla="*/ 1685 w 2088"/>
                <a:gd name="connsiteY6" fmla="*/ 297 h 1352"/>
                <a:gd name="connsiteX7" fmla="*/ 1583 w 2088"/>
                <a:gd name="connsiteY7" fmla="*/ 154 h 1352"/>
                <a:gd name="connsiteX8" fmla="*/ 1513 w 2088"/>
                <a:gd name="connsiteY8" fmla="*/ 150 h 1352"/>
                <a:gd name="connsiteX9" fmla="*/ 1441 w 2088"/>
                <a:gd name="connsiteY9" fmla="*/ 66 h 1352"/>
                <a:gd name="connsiteX10" fmla="*/ 1433 w 2088"/>
                <a:gd name="connsiteY10" fmla="*/ 7 h 1352"/>
                <a:gd name="connsiteX11" fmla="*/ 1362 w 2088"/>
                <a:gd name="connsiteY11" fmla="*/ 0 h 1352"/>
                <a:gd name="connsiteX12" fmla="*/ 1335 w 2088"/>
                <a:gd name="connsiteY12" fmla="*/ 70 h 1352"/>
                <a:gd name="connsiteX13" fmla="*/ 1241 w 2088"/>
                <a:gd name="connsiteY13" fmla="*/ 88 h 1352"/>
                <a:gd name="connsiteX14" fmla="*/ 1246 w 2088"/>
                <a:gd name="connsiteY14" fmla="*/ 183 h 1352"/>
                <a:gd name="connsiteX15" fmla="*/ 1172 w 2088"/>
                <a:gd name="connsiteY15" fmla="*/ 227 h 1352"/>
                <a:gd name="connsiteX16" fmla="*/ 1117 w 2088"/>
                <a:gd name="connsiteY16" fmla="*/ 183 h 1352"/>
                <a:gd name="connsiteX17" fmla="*/ 1015 w 2088"/>
                <a:gd name="connsiteY17" fmla="*/ 169 h 1352"/>
                <a:gd name="connsiteX18" fmla="*/ 926 w 2088"/>
                <a:gd name="connsiteY18" fmla="*/ 316 h 1352"/>
                <a:gd name="connsiteX19" fmla="*/ 926 w 2088"/>
                <a:gd name="connsiteY19" fmla="*/ 353 h 1352"/>
                <a:gd name="connsiteX20" fmla="*/ 896 w 2088"/>
                <a:gd name="connsiteY20" fmla="*/ 363 h 1352"/>
                <a:gd name="connsiteX21" fmla="*/ 842 w 2088"/>
                <a:gd name="connsiteY21" fmla="*/ 331 h 1352"/>
                <a:gd name="connsiteX22" fmla="*/ 736 w 2088"/>
                <a:gd name="connsiteY22" fmla="*/ 327 h 1352"/>
                <a:gd name="connsiteX23" fmla="*/ 692 w 2088"/>
                <a:gd name="connsiteY23" fmla="*/ 363 h 1352"/>
                <a:gd name="connsiteX24" fmla="*/ 732 w 2088"/>
                <a:gd name="connsiteY24" fmla="*/ 386 h 1352"/>
                <a:gd name="connsiteX25" fmla="*/ 749 w 2088"/>
                <a:gd name="connsiteY25" fmla="*/ 539 h 1352"/>
                <a:gd name="connsiteX26" fmla="*/ 665 w 2088"/>
                <a:gd name="connsiteY26" fmla="*/ 581 h 1352"/>
                <a:gd name="connsiteX27" fmla="*/ 657 w 2088"/>
                <a:gd name="connsiteY27" fmla="*/ 643 h 1352"/>
                <a:gd name="connsiteX28" fmla="*/ 532 w 2088"/>
                <a:gd name="connsiteY28" fmla="*/ 668 h 1352"/>
                <a:gd name="connsiteX29" fmla="*/ 448 w 2088"/>
                <a:gd name="connsiteY29" fmla="*/ 702 h 1352"/>
                <a:gd name="connsiteX30" fmla="*/ 328 w 2088"/>
                <a:gd name="connsiteY30" fmla="*/ 695 h 1352"/>
                <a:gd name="connsiteX31" fmla="*/ 283 w 2088"/>
                <a:gd name="connsiteY31" fmla="*/ 745 h 1352"/>
                <a:gd name="connsiteX32" fmla="*/ 231 w 2088"/>
                <a:gd name="connsiteY32" fmla="*/ 735 h 1352"/>
                <a:gd name="connsiteX33" fmla="*/ 182 w 2088"/>
                <a:gd name="connsiteY33" fmla="*/ 705 h 1352"/>
                <a:gd name="connsiteX34" fmla="*/ 88 w 2088"/>
                <a:gd name="connsiteY34" fmla="*/ 735 h 1352"/>
                <a:gd name="connsiteX35" fmla="*/ 0 w 2088"/>
                <a:gd name="connsiteY35" fmla="*/ 793 h 1352"/>
                <a:gd name="connsiteX36" fmla="*/ 9 w 2088"/>
                <a:gd name="connsiteY36" fmla="*/ 892 h 1352"/>
                <a:gd name="connsiteX37" fmla="*/ 66 w 2088"/>
                <a:gd name="connsiteY37" fmla="*/ 903 h 1352"/>
                <a:gd name="connsiteX38" fmla="*/ 79 w 2088"/>
                <a:gd name="connsiteY38" fmla="*/ 1021 h 1352"/>
                <a:gd name="connsiteX39" fmla="*/ 27 w 2088"/>
                <a:gd name="connsiteY39" fmla="*/ 1021 h 1352"/>
                <a:gd name="connsiteX40" fmla="*/ 27 w 2088"/>
                <a:gd name="connsiteY40" fmla="*/ 1055 h 1352"/>
                <a:gd name="connsiteX41" fmla="*/ 124 w 2088"/>
                <a:gd name="connsiteY41" fmla="*/ 1106 h 1352"/>
                <a:gd name="connsiteX42" fmla="*/ 115 w 2088"/>
                <a:gd name="connsiteY42" fmla="*/ 1176 h 1352"/>
                <a:gd name="connsiteX43" fmla="*/ 277 w 2088"/>
                <a:gd name="connsiteY43" fmla="*/ 1248 h 1352"/>
                <a:gd name="connsiteX44" fmla="*/ 281 w 2088"/>
                <a:gd name="connsiteY44" fmla="*/ 1253 h 1352"/>
                <a:gd name="connsiteX45" fmla="*/ 286 w 2088"/>
                <a:gd name="connsiteY45" fmla="*/ 1320 h 1352"/>
                <a:gd name="connsiteX46" fmla="*/ 411 w 2088"/>
                <a:gd name="connsiteY46" fmla="*/ 1325 h 1352"/>
                <a:gd name="connsiteX47" fmla="*/ 510 w 2088"/>
                <a:gd name="connsiteY47" fmla="*/ 1269 h 1352"/>
                <a:gd name="connsiteX48" fmla="*/ 669 w 2088"/>
                <a:gd name="connsiteY48" fmla="*/ 1301 h 1352"/>
                <a:gd name="connsiteX49" fmla="*/ 746 w 2088"/>
                <a:gd name="connsiteY49" fmla="*/ 1277 h 1352"/>
                <a:gd name="connsiteX50" fmla="*/ 876 w 2088"/>
                <a:gd name="connsiteY50" fmla="*/ 1352 h 1352"/>
                <a:gd name="connsiteX51" fmla="*/ 973 w 2088"/>
                <a:gd name="connsiteY51" fmla="*/ 1303 h 1352"/>
                <a:gd name="connsiteX52" fmla="*/ 1265 w 2088"/>
                <a:gd name="connsiteY52" fmla="*/ 1253 h 1352"/>
                <a:gd name="connsiteX53" fmla="*/ 1383 w 2088"/>
                <a:gd name="connsiteY53" fmla="*/ 1274 h 1352"/>
                <a:gd name="connsiteX54" fmla="*/ 1519 w 2088"/>
                <a:gd name="connsiteY54" fmla="*/ 1277 h 1352"/>
                <a:gd name="connsiteX55" fmla="*/ 1541 w 2088"/>
                <a:gd name="connsiteY55" fmla="*/ 1266 h 1352"/>
                <a:gd name="connsiteX56" fmla="*/ 1564 w 2088"/>
                <a:gd name="connsiteY56" fmla="*/ 1210 h 1352"/>
                <a:gd name="connsiteX57" fmla="*/ 1501 w 2088"/>
                <a:gd name="connsiteY57" fmla="*/ 1159 h 1352"/>
                <a:gd name="connsiteX58" fmla="*/ 1516 w 2088"/>
                <a:gd name="connsiteY58" fmla="*/ 1082 h 1352"/>
                <a:gd name="connsiteX59" fmla="*/ 1821 w 2088"/>
                <a:gd name="connsiteY59" fmla="*/ 1012 h 1352"/>
                <a:gd name="connsiteX60" fmla="*/ 1813 w 2088"/>
                <a:gd name="connsiteY60" fmla="*/ 891 h 1352"/>
                <a:gd name="connsiteX61" fmla="*/ 1899 w 2088"/>
                <a:gd name="connsiteY61" fmla="*/ 863 h 1352"/>
                <a:gd name="connsiteX62" fmla="*/ 1942 w 2088"/>
                <a:gd name="connsiteY62" fmla="*/ 795 h 1352"/>
                <a:gd name="connsiteX63" fmla="*/ 2051 w 2088"/>
                <a:gd name="connsiteY63" fmla="*/ 760 h 1352"/>
                <a:gd name="connsiteX64" fmla="*/ 2088 w 2088"/>
                <a:gd name="connsiteY64" fmla="*/ 696 h 1352"/>
                <a:gd name="connsiteX0" fmla="*/ 2088 w 2088"/>
                <a:gd name="connsiteY0" fmla="*/ 696 h 1352"/>
                <a:gd name="connsiteX1" fmla="*/ 2062 w 2088"/>
                <a:gd name="connsiteY1" fmla="*/ 621 h 1352"/>
                <a:gd name="connsiteX2" fmla="*/ 2032 w 2088"/>
                <a:gd name="connsiteY2" fmla="*/ 547 h 1352"/>
                <a:gd name="connsiteX3" fmla="*/ 1876 w 2088"/>
                <a:gd name="connsiteY3" fmla="*/ 478 h 1352"/>
                <a:gd name="connsiteX4" fmla="*/ 1769 w 2088"/>
                <a:gd name="connsiteY4" fmla="*/ 478 h 1352"/>
                <a:gd name="connsiteX5" fmla="*/ 1640 w 2088"/>
                <a:gd name="connsiteY5" fmla="*/ 437 h 1352"/>
                <a:gd name="connsiteX6" fmla="*/ 1685 w 2088"/>
                <a:gd name="connsiteY6" fmla="*/ 297 h 1352"/>
                <a:gd name="connsiteX7" fmla="*/ 1583 w 2088"/>
                <a:gd name="connsiteY7" fmla="*/ 154 h 1352"/>
                <a:gd name="connsiteX8" fmla="*/ 1513 w 2088"/>
                <a:gd name="connsiteY8" fmla="*/ 150 h 1352"/>
                <a:gd name="connsiteX9" fmla="*/ 1441 w 2088"/>
                <a:gd name="connsiteY9" fmla="*/ 66 h 1352"/>
                <a:gd name="connsiteX10" fmla="*/ 1433 w 2088"/>
                <a:gd name="connsiteY10" fmla="*/ 7 h 1352"/>
                <a:gd name="connsiteX11" fmla="*/ 1362 w 2088"/>
                <a:gd name="connsiteY11" fmla="*/ 0 h 1352"/>
                <a:gd name="connsiteX12" fmla="*/ 1335 w 2088"/>
                <a:gd name="connsiteY12" fmla="*/ 70 h 1352"/>
                <a:gd name="connsiteX13" fmla="*/ 1241 w 2088"/>
                <a:gd name="connsiteY13" fmla="*/ 88 h 1352"/>
                <a:gd name="connsiteX14" fmla="*/ 1246 w 2088"/>
                <a:gd name="connsiteY14" fmla="*/ 183 h 1352"/>
                <a:gd name="connsiteX15" fmla="*/ 1172 w 2088"/>
                <a:gd name="connsiteY15" fmla="*/ 227 h 1352"/>
                <a:gd name="connsiteX16" fmla="*/ 1117 w 2088"/>
                <a:gd name="connsiteY16" fmla="*/ 183 h 1352"/>
                <a:gd name="connsiteX17" fmla="*/ 1015 w 2088"/>
                <a:gd name="connsiteY17" fmla="*/ 169 h 1352"/>
                <a:gd name="connsiteX18" fmla="*/ 926 w 2088"/>
                <a:gd name="connsiteY18" fmla="*/ 316 h 1352"/>
                <a:gd name="connsiteX19" fmla="*/ 926 w 2088"/>
                <a:gd name="connsiteY19" fmla="*/ 353 h 1352"/>
                <a:gd name="connsiteX20" fmla="*/ 896 w 2088"/>
                <a:gd name="connsiteY20" fmla="*/ 363 h 1352"/>
                <a:gd name="connsiteX21" fmla="*/ 842 w 2088"/>
                <a:gd name="connsiteY21" fmla="*/ 331 h 1352"/>
                <a:gd name="connsiteX22" fmla="*/ 736 w 2088"/>
                <a:gd name="connsiteY22" fmla="*/ 327 h 1352"/>
                <a:gd name="connsiteX23" fmla="*/ 692 w 2088"/>
                <a:gd name="connsiteY23" fmla="*/ 363 h 1352"/>
                <a:gd name="connsiteX24" fmla="*/ 732 w 2088"/>
                <a:gd name="connsiteY24" fmla="*/ 386 h 1352"/>
                <a:gd name="connsiteX25" fmla="*/ 749 w 2088"/>
                <a:gd name="connsiteY25" fmla="*/ 539 h 1352"/>
                <a:gd name="connsiteX26" fmla="*/ 665 w 2088"/>
                <a:gd name="connsiteY26" fmla="*/ 581 h 1352"/>
                <a:gd name="connsiteX27" fmla="*/ 657 w 2088"/>
                <a:gd name="connsiteY27" fmla="*/ 643 h 1352"/>
                <a:gd name="connsiteX28" fmla="*/ 532 w 2088"/>
                <a:gd name="connsiteY28" fmla="*/ 668 h 1352"/>
                <a:gd name="connsiteX29" fmla="*/ 448 w 2088"/>
                <a:gd name="connsiteY29" fmla="*/ 702 h 1352"/>
                <a:gd name="connsiteX30" fmla="*/ 328 w 2088"/>
                <a:gd name="connsiteY30" fmla="*/ 695 h 1352"/>
                <a:gd name="connsiteX31" fmla="*/ 283 w 2088"/>
                <a:gd name="connsiteY31" fmla="*/ 745 h 1352"/>
                <a:gd name="connsiteX32" fmla="*/ 231 w 2088"/>
                <a:gd name="connsiteY32" fmla="*/ 735 h 1352"/>
                <a:gd name="connsiteX33" fmla="*/ 182 w 2088"/>
                <a:gd name="connsiteY33" fmla="*/ 705 h 1352"/>
                <a:gd name="connsiteX34" fmla="*/ 88 w 2088"/>
                <a:gd name="connsiteY34" fmla="*/ 735 h 1352"/>
                <a:gd name="connsiteX35" fmla="*/ 0 w 2088"/>
                <a:gd name="connsiteY35" fmla="*/ 793 h 1352"/>
                <a:gd name="connsiteX36" fmla="*/ 9 w 2088"/>
                <a:gd name="connsiteY36" fmla="*/ 892 h 1352"/>
                <a:gd name="connsiteX37" fmla="*/ 66 w 2088"/>
                <a:gd name="connsiteY37" fmla="*/ 903 h 1352"/>
                <a:gd name="connsiteX38" fmla="*/ 79 w 2088"/>
                <a:gd name="connsiteY38" fmla="*/ 1021 h 1352"/>
                <a:gd name="connsiteX39" fmla="*/ 27 w 2088"/>
                <a:gd name="connsiteY39" fmla="*/ 1021 h 1352"/>
                <a:gd name="connsiteX40" fmla="*/ 27 w 2088"/>
                <a:gd name="connsiteY40" fmla="*/ 1055 h 1352"/>
                <a:gd name="connsiteX41" fmla="*/ 124 w 2088"/>
                <a:gd name="connsiteY41" fmla="*/ 1106 h 1352"/>
                <a:gd name="connsiteX42" fmla="*/ 115 w 2088"/>
                <a:gd name="connsiteY42" fmla="*/ 1176 h 1352"/>
                <a:gd name="connsiteX43" fmla="*/ 277 w 2088"/>
                <a:gd name="connsiteY43" fmla="*/ 1248 h 1352"/>
                <a:gd name="connsiteX44" fmla="*/ 281 w 2088"/>
                <a:gd name="connsiteY44" fmla="*/ 1253 h 1352"/>
                <a:gd name="connsiteX45" fmla="*/ 286 w 2088"/>
                <a:gd name="connsiteY45" fmla="*/ 1320 h 1352"/>
                <a:gd name="connsiteX46" fmla="*/ 411 w 2088"/>
                <a:gd name="connsiteY46" fmla="*/ 1325 h 1352"/>
                <a:gd name="connsiteX47" fmla="*/ 510 w 2088"/>
                <a:gd name="connsiteY47" fmla="*/ 1269 h 1352"/>
                <a:gd name="connsiteX48" fmla="*/ 669 w 2088"/>
                <a:gd name="connsiteY48" fmla="*/ 1301 h 1352"/>
                <a:gd name="connsiteX49" fmla="*/ 746 w 2088"/>
                <a:gd name="connsiteY49" fmla="*/ 1277 h 1352"/>
                <a:gd name="connsiteX50" fmla="*/ 876 w 2088"/>
                <a:gd name="connsiteY50" fmla="*/ 1352 h 1352"/>
                <a:gd name="connsiteX51" fmla="*/ 973 w 2088"/>
                <a:gd name="connsiteY51" fmla="*/ 1303 h 1352"/>
                <a:gd name="connsiteX52" fmla="*/ 1265 w 2088"/>
                <a:gd name="connsiteY52" fmla="*/ 1253 h 1352"/>
                <a:gd name="connsiteX53" fmla="*/ 1383 w 2088"/>
                <a:gd name="connsiteY53" fmla="*/ 1274 h 1352"/>
                <a:gd name="connsiteX54" fmla="*/ 1519 w 2088"/>
                <a:gd name="connsiteY54" fmla="*/ 1277 h 1352"/>
                <a:gd name="connsiteX55" fmla="*/ 1541 w 2088"/>
                <a:gd name="connsiteY55" fmla="*/ 1266 h 1352"/>
                <a:gd name="connsiteX56" fmla="*/ 1524 w 2088"/>
                <a:gd name="connsiteY56" fmla="*/ 1210 h 1352"/>
                <a:gd name="connsiteX57" fmla="*/ 1501 w 2088"/>
                <a:gd name="connsiteY57" fmla="*/ 1159 h 1352"/>
                <a:gd name="connsiteX58" fmla="*/ 1516 w 2088"/>
                <a:gd name="connsiteY58" fmla="*/ 1082 h 1352"/>
                <a:gd name="connsiteX59" fmla="*/ 1821 w 2088"/>
                <a:gd name="connsiteY59" fmla="*/ 1012 h 1352"/>
                <a:gd name="connsiteX60" fmla="*/ 1813 w 2088"/>
                <a:gd name="connsiteY60" fmla="*/ 891 h 1352"/>
                <a:gd name="connsiteX61" fmla="*/ 1899 w 2088"/>
                <a:gd name="connsiteY61" fmla="*/ 863 h 1352"/>
                <a:gd name="connsiteX62" fmla="*/ 1942 w 2088"/>
                <a:gd name="connsiteY62" fmla="*/ 795 h 1352"/>
                <a:gd name="connsiteX63" fmla="*/ 2051 w 2088"/>
                <a:gd name="connsiteY63" fmla="*/ 760 h 1352"/>
                <a:gd name="connsiteX64" fmla="*/ 2088 w 2088"/>
                <a:gd name="connsiteY64" fmla="*/ 696 h 1352"/>
                <a:gd name="connsiteX0" fmla="*/ 2088 w 2088"/>
                <a:gd name="connsiteY0" fmla="*/ 696 h 1352"/>
                <a:gd name="connsiteX1" fmla="*/ 2062 w 2088"/>
                <a:gd name="connsiteY1" fmla="*/ 621 h 1352"/>
                <a:gd name="connsiteX2" fmla="*/ 2032 w 2088"/>
                <a:gd name="connsiteY2" fmla="*/ 547 h 1352"/>
                <a:gd name="connsiteX3" fmla="*/ 1876 w 2088"/>
                <a:gd name="connsiteY3" fmla="*/ 478 h 1352"/>
                <a:gd name="connsiteX4" fmla="*/ 1769 w 2088"/>
                <a:gd name="connsiteY4" fmla="*/ 478 h 1352"/>
                <a:gd name="connsiteX5" fmla="*/ 1640 w 2088"/>
                <a:gd name="connsiteY5" fmla="*/ 437 h 1352"/>
                <a:gd name="connsiteX6" fmla="*/ 1685 w 2088"/>
                <a:gd name="connsiteY6" fmla="*/ 297 h 1352"/>
                <a:gd name="connsiteX7" fmla="*/ 1583 w 2088"/>
                <a:gd name="connsiteY7" fmla="*/ 154 h 1352"/>
                <a:gd name="connsiteX8" fmla="*/ 1513 w 2088"/>
                <a:gd name="connsiteY8" fmla="*/ 150 h 1352"/>
                <a:gd name="connsiteX9" fmla="*/ 1441 w 2088"/>
                <a:gd name="connsiteY9" fmla="*/ 66 h 1352"/>
                <a:gd name="connsiteX10" fmla="*/ 1433 w 2088"/>
                <a:gd name="connsiteY10" fmla="*/ 7 h 1352"/>
                <a:gd name="connsiteX11" fmla="*/ 1362 w 2088"/>
                <a:gd name="connsiteY11" fmla="*/ 0 h 1352"/>
                <a:gd name="connsiteX12" fmla="*/ 1335 w 2088"/>
                <a:gd name="connsiteY12" fmla="*/ 70 h 1352"/>
                <a:gd name="connsiteX13" fmla="*/ 1241 w 2088"/>
                <a:gd name="connsiteY13" fmla="*/ 88 h 1352"/>
                <a:gd name="connsiteX14" fmla="*/ 1246 w 2088"/>
                <a:gd name="connsiteY14" fmla="*/ 183 h 1352"/>
                <a:gd name="connsiteX15" fmla="*/ 1172 w 2088"/>
                <a:gd name="connsiteY15" fmla="*/ 227 h 1352"/>
                <a:gd name="connsiteX16" fmla="*/ 1117 w 2088"/>
                <a:gd name="connsiteY16" fmla="*/ 183 h 1352"/>
                <a:gd name="connsiteX17" fmla="*/ 1015 w 2088"/>
                <a:gd name="connsiteY17" fmla="*/ 169 h 1352"/>
                <a:gd name="connsiteX18" fmla="*/ 926 w 2088"/>
                <a:gd name="connsiteY18" fmla="*/ 316 h 1352"/>
                <a:gd name="connsiteX19" fmla="*/ 926 w 2088"/>
                <a:gd name="connsiteY19" fmla="*/ 353 h 1352"/>
                <a:gd name="connsiteX20" fmla="*/ 896 w 2088"/>
                <a:gd name="connsiteY20" fmla="*/ 363 h 1352"/>
                <a:gd name="connsiteX21" fmla="*/ 842 w 2088"/>
                <a:gd name="connsiteY21" fmla="*/ 331 h 1352"/>
                <a:gd name="connsiteX22" fmla="*/ 736 w 2088"/>
                <a:gd name="connsiteY22" fmla="*/ 327 h 1352"/>
                <a:gd name="connsiteX23" fmla="*/ 692 w 2088"/>
                <a:gd name="connsiteY23" fmla="*/ 363 h 1352"/>
                <a:gd name="connsiteX24" fmla="*/ 732 w 2088"/>
                <a:gd name="connsiteY24" fmla="*/ 386 h 1352"/>
                <a:gd name="connsiteX25" fmla="*/ 749 w 2088"/>
                <a:gd name="connsiteY25" fmla="*/ 539 h 1352"/>
                <a:gd name="connsiteX26" fmla="*/ 665 w 2088"/>
                <a:gd name="connsiteY26" fmla="*/ 581 h 1352"/>
                <a:gd name="connsiteX27" fmla="*/ 657 w 2088"/>
                <a:gd name="connsiteY27" fmla="*/ 643 h 1352"/>
                <a:gd name="connsiteX28" fmla="*/ 532 w 2088"/>
                <a:gd name="connsiteY28" fmla="*/ 668 h 1352"/>
                <a:gd name="connsiteX29" fmla="*/ 448 w 2088"/>
                <a:gd name="connsiteY29" fmla="*/ 702 h 1352"/>
                <a:gd name="connsiteX30" fmla="*/ 328 w 2088"/>
                <a:gd name="connsiteY30" fmla="*/ 695 h 1352"/>
                <a:gd name="connsiteX31" fmla="*/ 283 w 2088"/>
                <a:gd name="connsiteY31" fmla="*/ 745 h 1352"/>
                <a:gd name="connsiteX32" fmla="*/ 231 w 2088"/>
                <a:gd name="connsiteY32" fmla="*/ 735 h 1352"/>
                <a:gd name="connsiteX33" fmla="*/ 182 w 2088"/>
                <a:gd name="connsiteY33" fmla="*/ 705 h 1352"/>
                <a:gd name="connsiteX34" fmla="*/ 88 w 2088"/>
                <a:gd name="connsiteY34" fmla="*/ 735 h 1352"/>
                <a:gd name="connsiteX35" fmla="*/ 0 w 2088"/>
                <a:gd name="connsiteY35" fmla="*/ 793 h 1352"/>
                <a:gd name="connsiteX36" fmla="*/ 9 w 2088"/>
                <a:gd name="connsiteY36" fmla="*/ 892 h 1352"/>
                <a:gd name="connsiteX37" fmla="*/ 66 w 2088"/>
                <a:gd name="connsiteY37" fmla="*/ 903 h 1352"/>
                <a:gd name="connsiteX38" fmla="*/ 79 w 2088"/>
                <a:gd name="connsiteY38" fmla="*/ 1021 h 1352"/>
                <a:gd name="connsiteX39" fmla="*/ 27 w 2088"/>
                <a:gd name="connsiteY39" fmla="*/ 1021 h 1352"/>
                <a:gd name="connsiteX40" fmla="*/ 27 w 2088"/>
                <a:gd name="connsiteY40" fmla="*/ 1055 h 1352"/>
                <a:gd name="connsiteX41" fmla="*/ 124 w 2088"/>
                <a:gd name="connsiteY41" fmla="*/ 1106 h 1352"/>
                <a:gd name="connsiteX42" fmla="*/ 115 w 2088"/>
                <a:gd name="connsiteY42" fmla="*/ 1176 h 1352"/>
                <a:gd name="connsiteX43" fmla="*/ 277 w 2088"/>
                <a:gd name="connsiteY43" fmla="*/ 1248 h 1352"/>
                <a:gd name="connsiteX44" fmla="*/ 281 w 2088"/>
                <a:gd name="connsiteY44" fmla="*/ 1253 h 1352"/>
                <a:gd name="connsiteX45" fmla="*/ 286 w 2088"/>
                <a:gd name="connsiteY45" fmla="*/ 1320 h 1352"/>
                <a:gd name="connsiteX46" fmla="*/ 411 w 2088"/>
                <a:gd name="connsiteY46" fmla="*/ 1325 h 1352"/>
                <a:gd name="connsiteX47" fmla="*/ 510 w 2088"/>
                <a:gd name="connsiteY47" fmla="*/ 1269 h 1352"/>
                <a:gd name="connsiteX48" fmla="*/ 669 w 2088"/>
                <a:gd name="connsiteY48" fmla="*/ 1301 h 1352"/>
                <a:gd name="connsiteX49" fmla="*/ 746 w 2088"/>
                <a:gd name="connsiteY49" fmla="*/ 1277 h 1352"/>
                <a:gd name="connsiteX50" fmla="*/ 876 w 2088"/>
                <a:gd name="connsiteY50" fmla="*/ 1352 h 1352"/>
                <a:gd name="connsiteX51" fmla="*/ 973 w 2088"/>
                <a:gd name="connsiteY51" fmla="*/ 1303 h 1352"/>
                <a:gd name="connsiteX52" fmla="*/ 1265 w 2088"/>
                <a:gd name="connsiteY52" fmla="*/ 1253 h 1352"/>
                <a:gd name="connsiteX53" fmla="*/ 1383 w 2088"/>
                <a:gd name="connsiteY53" fmla="*/ 1274 h 1352"/>
                <a:gd name="connsiteX54" fmla="*/ 1519 w 2088"/>
                <a:gd name="connsiteY54" fmla="*/ 1277 h 1352"/>
                <a:gd name="connsiteX55" fmla="*/ 1501 w 2088"/>
                <a:gd name="connsiteY55" fmla="*/ 1266 h 1352"/>
                <a:gd name="connsiteX56" fmla="*/ 1524 w 2088"/>
                <a:gd name="connsiteY56" fmla="*/ 1210 h 1352"/>
                <a:gd name="connsiteX57" fmla="*/ 1501 w 2088"/>
                <a:gd name="connsiteY57" fmla="*/ 1159 h 1352"/>
                <a:gd name="connsiteX58" fmla="*/ 1516 w 2088"/>
                <a:gd name="connsiteY58" fmla="*/ 1082 h 1352"/>
                <a:gd name="connsiteX59" fmla="*/ 1821 w 2088"/>
                <a:gd name="connsiteY59" fmla="*/ 1012 h 1352"/>
                <a:gd name="connsiteX60" fmla="*/ 1813 w 2088"/>
                <a:gd name="connsiteY60" fmla="*/ 891 h 1352"/>
                <a:gd name="connsiteX61" fmla="*/ 1899 w 2088"/>
                <a:gd name="connsiteY61" fmla="*/ 863 h 1352"/>
                <a:gd name="connsiteX62" fmla="*/ 1942 w 2088"/>
                <a:gd name="connsiteY62" fmla="*/ 795 h 1352"/>
                <a:gd name="connsiteX63" fmla="*/ 2051 w 2088"/>
                <a:gd name="connsiteY63" fmla="*/ 760 h 1352"/>
                <a:gd name="connsiteX64" fmla="*/ 2088 w 2088"/>
                <a:gd name="connsiteY64" fmla="*/ 696 h 1352"/>
                <a:gd name="connsiteX0" fmla="*/ 2088 w 2088"/>
                <a:gd name="connsiteY0" fmla="*/ 696 h 1352"/>
                <a:gd name="connsiteX1" fmla="*/ 2062 w 2088"/>
                <a:gd name="connsiteY1" fmla="*/ 621 h 1352"/>
                <a:gd name="connsiteX2" fmla="*/ 2032 w 2088"/>
                <a:gd name="connsiteY2" fmla="*/ 547 h 1352"/>
                <a:gd name="connsiteX3" fmla="*/ 1876 w 2088"/>
                <a:gd name="connsiteY3" fmla="*/ 478 h 1352"/>
                <a:gd name="connsiteX4" fmla="*/ 1769 w 2088"/>
                <a:gd name="connsiteY4" fmla="*/ 478 h 1352"/>
                <a:gd name="connsiteX5" fmla="*/ 1640 w 2088"/>
                <a:gd name="connsiteY5" fmla="*/ 437 h 1352"/>
                <a:gd name="connsiteX6" fmla="*/ 1685 w 2088"/>
                <a:gd name="connsiteY6" fmla="*/ 297 h 1352"/>
                <a:gd name="connsiteX7" fmla="*/ 1583 w 2088"/>
                <a:gd name="connsiteY7" fmla="*/ 154 h 1352"/>
                <a:gd name="connsiteX8" fmla="*/ 1513 w 2088"/>
                <a:gd name="connsiteY8" fmla="*/ 150 h 1352"/>
                <a:gd name="connsiteX9" fmla="*/ 1441 w 2088"/>
                <a:gd name="connsiteY9" fmla="*/ 66 h 1352"/>
                <a:gd name="connsiteX10" fmla="*/ 1433 w 2088"/>
                <a:gd name="connsiteY10" fmla="*/ 7 h 1352"/>
                <a:gd name="connsiteX11" fmla="*/ 1362 w 2088"/>
                <a:gd name="connsiteY11" fmla="*/ 0 h 1352"/>
                <a:gd name="connsiteX12" fmla="*/ 1335 w 2088"/>
                <a:gd name="connsiteY12" fmla="*/ 70 h 1352"/>
                <a:gd name="connsiteX13" fmla="*/ 1241 w 2088"/>
                <a:gd name="connsiteY13" fmla="*/ 88 h 1352"/>
                <a:gd name="connsiteX14" fmla="*/ 1246 w 2088"/>
                <a:gd name="connsiteY14" fmla="*/ 183 h 1352"/>
                <a:gd name="connsiteX15" fmla="*/ 1172 w 2088"/>
                <a:gd name="connsiteY15" fmla="*/ 227 h 1352"/>
                <a:gd name="connsiteX16" fmla="*/ 1117 w 2088"/>
                <a:gd name="connsiteY16" fmla="*/ 183 h 1352"/>
                <a:gd name="connsiteX17" fmla="*/ 1015 w 2088"/>
                <a:gd name="connsiteY17" fmla="*/ 169 h 1352"/>
                <a:gd name="connsiteX18" fmla="*/ 926 w 2088"/>
                <a:gd name="connsiteY18" fmla="*/ 316 h 1352"/>
                <a:gd name="connsiteX19" fmla="*/ 926 w 2088"/>
                <a:gd name="connsiteY19" fmla="*/ 353 h 1352"/>
                <a:gd name="connsiteX20" fmla="*/ 896 w 2088"/>
                <a:gd name="connsiteY20" fmla="*/ 363 h 1352"/>
                <a:gd name="connsiteX21" fmla="*/ 842 w 2088"/>
                <a:gd name="connsiteY21" fmla="*/ 331 h 1352"/>
                <a:gd name="connsiteX22" fmla="*/ 736 w 2088"/>
                <a:gd name="connsiteY22" fmla="*/ 327 h 1352"/>
                <a:gd name="connsiteX23" fmla="*/ 692 w 2088"/>
                <a:gd name="connsiteY23" fmla="*/ 363 h 1352"/>
                <a:gd name="connsiteX24" fmla="*/ 732 w 2088"/>
                <a:gd name="connsiteY24" fmla="*/ 386 h 1352"/>
                <a:gd name="connsiteX25" fmla="*/ 749 w 2088"/>
                <a:gd name="connsiteY25" fmla="*/ 539 h 1352"/>
                <a:gd name="connsiteX26" fmla="*/ 665 w 2088"/>
                <a:gd name="connsiteY26" fmla="*/ 581 h 1352"/>
                <a:gd name="connsiteX27" fmla="*/ 657 w 2088"/>
                <a:gd name="connsiteY27" fmla="*/ 643 h 1352"/>
                <a:gd name="connsiteX28" fmla="*/ 532 w 2088"/>
                <a:gd name="connsiteY28" fmla="*/ 668 h 1352"/>
                <a:gd name="connsiteX29" fmla="*/ 448 w 2088"/>
                <a:gd name="connsiteY29" fmla="*/ 702 h 1352"/>
                <a:gd name="connsiteX30" fmla="*/ 328 w 2088"/>
                <a:gd name="connsiteY30" fmla="*/ 695 h 1352"/>
                <a:gd name="connsiteX31" fmla="*/ 283 w 2088"/>
                <a:gd name="connsiteY31" fmla="*/ 745 h 1352"/>
                <a:gd name="connsiteX32" fmla="*/ 231 w 2088"/>
                <a:gd name="connsiteY32" fmla="*/ 735 h 1352"/>
                <a:gd name="connsiteX33" fmla="*/ 182 w 2088"/>
                <a:gd name="connsiteY33" fmla="*/ 705 h 1352"/>
                <a:gd name="connsiteX34" fmla="*/ 88 w 2088"/>
                <a:gd name="connsiteY34" fmla="*/ 735 h 1352"/>
                <a:gd name="connsiteX35" fmla="*/ 0 w 2088"/>
                <a:gd name="connsiteY35" fmla="*/ 793 h 1352"/>
                <a:gd name="connsiteX36" fmla="*/ 9 w 2088"/>
                <a:gd name="connsiteY36" fmla="*/ 892 h 1352"/>
                <a:gd name="connsiteX37" fmla="*/ 66 w 2088"/>
                <a:gd name="connsiteY37" fmla="*/ 903 h 1352"/>
                <a:gd name="connsiteX38" fmla="*/ 79 w 2088"/>
                <a:gd name="connsiteY38" fmla="*/ 1021 h 1352"/>
                <a:gd name="connsiteX39" fmla="*/ 27 w 2088"/>
                <a:gd name="connsiteY39" fmla="*/ 1021 h 1352"/>
                <a:gd name="connsiteX40" fmla="*/ 27 w 2088"/>
                <a:gd name="connsiteY40" fmla="*/ 1055 h 1352"/>
                <a:gd name="connsiteX41" fmla="*/ 124 w 2088"/>
                <a:gd name="connsiteY41" fmla="*/ 1106 h 1352"/>
                <a:gd name="connsiteX42" fmla="*/ 115 w 2088"/>
                <a:gd name="connsiteY42" fmla="*/ 1176 h 1352"/>
                <a:gd name="connsiteX43" fmla="*/ 277 w 2088"/>
                <a:gd name="connsiteY43" fmla="*/ 1248 h 1352"/>
                <a:gd name="connsiteX44" fmla="*/ 281 w 2088"/>
                <a:gd name="connsiteY44" fmla="*/ 1253 h 1352"/>
                <a:gd name="connsiteX45" fmla="*/ 286 w 2088"/>
                <a:gd name="connsiteY45" fmla="*/ 1320 h 1352"/>
                <a:gd name="connsiteX46" fmla="*/ 411 w 2088"/>
                <a:gd name="connsiteY46" fmla="*/ 1325 h 1352"/>
                <a:gd name="connsiteX47" fmla="*/ 510 w 2088"/>
                <a:gd name="connsiteY47" fmla="*/ 1269 h 1352"/>
                <a:gd name="connsiteX48" fmla="*/ 669 w 2088"/>
                <a:gd name="connsiteY48" fmla="*/ 1301 h 1352"/>
                <a:gd name="connsiteX49" fmla="*/ 746 w 2088"/>
                <a:gd name="connsiteY49" fmla="*/ 1277 h 1352"/>
                <a:gd name="connsiteX50" fmla="*/ 876 w 2088"/>
                <a:gd name="connsiteY50" fmla="*/ 1352 h 1352"/>
                <a:gd name="connsiteX51" fmla="*/ 973 w 2088"/>
                <a:gd name="connsiteY51" fmla="*/ 1303 h 1352"/>
                <a:gd name="connsiteX52" fmla="*/ 1265 w 2088"/>
                <a:gd name="connsiteY52" fmla="*/ 1253 h 1352"/>
                <a:gd name="connsiteX53" fmla="*/ 1383 w 2088"/>
                <a:gd name="connsiteY53" fmla="*/ 1274 h 1352"/>
                <a:gd name="connsiteX54" fmla="*/ 1519 w 2088"/>
                <a:gd name="connsiteY54" fmla="*/ 1277 h 1352"/>
                <a:gd name="connsiteX55" fmla="*/ 1501 w 2088"/>
                <a:gd name="connsiteY55" fmla="*/ 1266 h 1352"/>
                <a:gd name="connsiteX56" fmla="*/ 1524 w 2088"/>
                <a:gd name="connsiteY56" fmla="*/ 1210 h 1352"/>
                <a:gd name="connsiteX57" fmla="*/ 1501 w 2088"/>
                <a:gd name="connsiteY57" fmla="*/ 1159 h 1352"/>
                <a:gd name="connsiteX58" fmla="*/ 1516 w 2088"/>
                <a:gd name="connsiteY58" fmla="*/ 1082 h 1352"/>
                <a:gd name="connsiteX59" fmla="*/ 1821 w 2088"/>
                <a:gd name="connsiteY59" fmla="*/ 1012 h 1352"/>
                <a:gd name="connsiteX60" fmla="*/ 1813 w 2088"/>
                <a:gd name="connsiteY60" fmla="*/ 891 h 1352"/>
                <a:gd name="connsiteX61" fmla="*/ 1899 w 2088"/>
                <a:gd name="connsiteY61" fmla="*/ 863 h 1352"/>
                <a:gd name="connsiteX62" fmla="*/ 1942 w 2088"/>
                <a:gd name="connsiteY62" fmla="*/ 795 h 1352"/>
                <a:gd name="connsiteX63" fmla="*/ 2051 w 2088"/>
                <a:gd name="connsiteY63" fmla="*/ 760 h 1352"/>
                <a:gd name="connsiteX64" fmla="*/ 2088 w 2088"/>
                <a:gd name="connsiteY64" fmla="*/ 696 h 1352"/>
                <a:gd name="connsiteX0" fmla="*/ 2088 w 2088"/>
                <a:gd name="connsiteY0" fmla="*/ 696 h 1352"/>
                <a:gd name="connsiteX1" fmla="*/ 2062 w 2088"/>
                <a:gd name="connsiteY1" fmla="*/ 621 h 1352"/>
                <a:gd name="connsiteX2" fmla="*/ 2032 w 2088"/>
                <a:gd name="connsiteY2" fmla="*/ 547 h 1352"/>
                <a:gd name="connsiteX3" fmla="*/ 1876 w 2088"/>
                <a:gd name="connsiteY3" fmla="*/ 478 h 1352"/>
                <a:gd name="connsiteX4" fmla="*/ 1769 w 2088"/>
                <a:gd name="connsiteY4" fmla="*/ 478 h 1352"/>
                <a:gd name="connsiteX5" fmla="*/ 1640 w 2088"/>
                <a:gd name="connsiteY5" fmla="*/ 437 h 1352"/>
                <a:gd name="connsiteX6" fmla="*/ 1685 w 2088"/>
                <a:gd name="connsiteY6" fmla="*/ 297 h 1352"/>
                <a:gd name="connsiteX7" fmla="*/ 1583 w 2088"/>
                <a:gd name="connsiteY7" fmla="*/ 154 h 1352"/>
                <a:gd name="connsiteX8" fmla="*/ 1513 w 2088"/>
                <a:gd name="connsiteY8" fmla="*/ 150 h 1352"/>
                <a:gd name="connsiteX9" fmla="*/ 1441 w 2088"/>
                <a:gd name="connsiteY9" fmla="*/ 66 h 1352"/>
                <a:gd name="connsiteX10" fmla="*/ 1433 w 2088"/>
                <a:gd name="connsiteY10" fmla="*/ 7 h 1352"/>
                <a:gd name="connsiteX11" fmla="*/ 1362 w 2088"/>
                <a:gd name="connsiteY11" fmla="*/ 0 h 1352"/>
                <a:gd name="connsiteX12" fmla="*/ 1335 w 2088"/>
                <a:gd name="connsiteY12" fmla="*/ 70 h 1352"/>
                <a:gd name="connsiteX13" fmla="*/ 1241 w 2088"/>
                <a:gd name="connsiteY13" fmla="*/ 88 h 1352"/>
                <a:gd name="connsiteX14" fmla="*/ 1246 w 2088"/>
                <a:gd name="connsiteY14" fmla="*/ 183 h 1352"/>
                <a:gd name="connsiteX15" fmla="*/ 1172 w 2088"/>
                <a:gd name="connsiteY15" fmla="*/ 227 h 1352"/>
                <a:gd name="connsiteX16" fmla="*/ 1117 w 2088"/>
                <a:gd name="connsiteY16" fmla="*/ 183 h 1352"/>
                <a:gd name="connsiteX17" fmla="*/ 1015 w 2088"/>
                <a:gd name="connsiteY17" fmla="*/ 169 h 1352"/>
                <a:gd name="connsiteX18" fmla="*/ 926 w 2088"/>
                <a:gd name="connsiteY18" fmla="*/ 316 h 1352"/>
                <a:gd name="connsiteX19" fmla="*/ 926 w 2088"/>
                <a:gd name="connsiteY19" fmla="*/ 353 h 1352"/>
                <a:gd name="connsiteX20" fmla="*/ 896 w 2088"/>
                <a:gd name="connsiteY20" fmla="*/ 363 h 1352"/>
                <a:gd name="connsiteX21" fmla="*/ 842 w 2088"/>
                <a:gd name="connsiteY21" fmla="*/ 331 h 1352"/>
                <a:gd name="connsiteX22" fmla="*/ 736 w 2088"/>
                <a:gd name="connsiteY22" fmla="*/ 327 h 1352"/>
                <a:gd name="connsiteX23" fmla="*/ 692 w 2088"/>
                <a:gd name="connsiteY23" fmla="*/ 363 h 1352"/>
                <a:gd name="connsiteX24" fmla="*/ 732 w 2088"/>
                <a:gd name="connsiteY24" fmla="*/ 386 h 1352"/>
                <a:gd name="connsiteX25" fmla="*/ 749 w 2088"/>
                <a:gd name="connsiteY25" fmla="*/ 539 h 1352"/>
                <a:gd name="connsiteX26" fmla="*/ 665 w 2088"/>
                <a:gd name="connsiteY26" fmla="*/ 581 h 1352"/>
                <a:gd name="connsiteX27" fmla="*/ 657 w 2088"/>
                <a:gd name="connsiteY27" fmla="*/ 643 h 1352"/>
                <a:gd name="connsiteX28" fmla="*/ 532 w 2088"/>
                <a:gd name="connsiteY28" fmla="*/ 668 h 1352"/>
                <a:gd name="connsiteX29" fmla="*/ 448 w 2088"/>
                <a:gd name="connsiteY29" fmla="*/ 702 h 1352"/>
                <a:gd name="connsiteX30" fmla="*/ 328 w 2088"/>
                <a:gd name="connsiteY30" fmla="*/ 695 h 1352"/>
                <a:gd name="connsiteX31" fmla="*/ 283 w 2088"/>
                <a:gd name="connsiteY31" fmla="*/ 745 h 1352"/>
                <a:gd name="connsiteX32" fmla="*/ 231 w 2088"/>
                <a:gd name="connsiteY32" fmla="*/ 735 h 1352"/>
                <a:gd name="connsiteX33" fmla="*/ 182 w 2088"/>
                <a:gd name="connsiteY33" fmla="*/ 705 h 1352"/>
                <a:gd name="connsiteX34" fmla="*/ 88 w 2088"/>
                <a:gd name="connsiteY34" fmla="*/ 735 h 1352"/>
                <a:gd name="connsiteX35" fmla="*/ 0 w 2088"/>
                <a:gd name="connsiteY35" fmla="*/ 793 h 1352"/>
                <a:gd name="connsiteX36" fmla="*/ 9 w 2088"/>
                <a:gd name="connsiteY36" fmla="*/ 892 h 1352"/>
                <a:gd name="connsiteX37" fmla="*/ 66 w 2088"/>
                <a:gd name="connsiteY37" fmla="*/ 903 h 1352"/>
                <a:gd name="connsiteX38" fmla="*/ 79 w 2088"/>
                <a:gd name="connsiteY38" fmla="*/ 1021 h 1352"/>
                <a:gd name="connsiteX39" fmla="*/ 27 w 2088"/>
                <a:gd name="connsiteY39" fmla="*/ 1021 h 1352"/>
                <a:gd name="connsiteX40" fmla="*/ 27 w 2088"/>
                <a:gd name="connsiteY40" fmla="*/ 1055 h 1352"/>
                <a:gd name="connsiteX41" fmla="*/ 124 w 2088"/>
                <a:gd name="connsiteY41" fmla="*/ 1106 h 1352"/>
                <a:gd name="connsiteX42" fmla="*/ 115 w 2088"/>
                <a:gd name="connsiteY42" fmla="*/ 1176 h 1352"/>
                <a:gd name="connsiteX43" fmla="*/ 277 w 2088"/>
                <a:gd name="connsiteY43" fmla="*/ 1248 h 1352"/>
                <a:gd name="connsiteX44" fmla="*/ 281 w 2088"/>
                <a:gd name="connsiteY44" fmla="*/ 1253 h 1352"/>
                <a:gd name="connsiteX45" fmla="*/ 286 w 2088"/>
                <a:gd name="connsiteY45" fmla="*/ 1320 h 1352"/>
                <a:gd name="connsiteX46" fmla="*/ 411 w 2088"/>
                <a:gd name="connsiteY46" fmla="*/ 1325 h 1352"/>
                <a:gd name="connsiteX47" fmla="*/ 510 w 2088"/>
                <a:gd name="connsiteY47" fmla="*/ 1269 h 1352"/>
                <a:gd name="connsiteX48" fmla="*/ 669 w 2088"/>
                <a:gd name="connsiteY48" fmla="*/ 1301 h 1352"/>
                <a:gd name="connsiteX49" fmla="*/ 746 w 2088"/>
                <a:gd name="connsiteY49" fmla="*/ 1277 h 1352"/>
                <a:gd name="connsiteX50" fmla="*/ 876 w 2088"/>
                <a:gd name="connsiteY50" fmla="*/ 1352 h 1352"/>
                <a:gd name="connsiteX51" fmla="*/ 973 w 2088"/>
                <a:gd name="connsiteY51" fmla="*/ 1303 h 1352"/>
                <a:gd name="connsiteX52" fmla="*/ 1265 w 2088"/>
                <a:gd name="connsiteY52" fmla="*/ 1253 h 1352"/>
                <a:gd name="connsiteX53" fmla="*/ 1383 w 2088"/>
                <a:gd name="connsiteY53" fmla="*/ 1274 h 1352"/>
                <a:gd name="connsiteX54" fmla="*/ 1519 w 2088"/>
                <a:gd name="connsiteY54" fmla="*/ 1277 h 1352"/>
                <a:gd name="connsiteX55" fmla="*/ 1501 w 2088"/>
                <a:gd name="connsiteY55" fmla="*/ 1266 h 1352"/>
                <a:gd name="connsiteX56" fmla="*/ 1524 w 2088"/>
                <a:gd name="connsiteY56" fmla="*/ 1210 h 1352"/>
                <a:gd name="connsiteX57" fmla="*/ 1501 w 2088"/>
                <a:gd name="connsiteY57" fmla="*/ 1159 h 1352"/>
                <a:gd name="connsiteX58" fmla="*/ 1516 w 2088"/>
                <a:gd name="connsiteY58" fmla="*/ 1082 h 1352"/>
                <a:gd name="connsiteX59" fmla="*/ 1821 w 2088"/>
                <a:gd name="connsiteY59" fmla="*/ 1012 h 1352"/>
                <a:gd name="connsiteX60" fmla="*/ 1813 w 2088"/>
                <a:gd name="connsiteY60" fmla="*/ 891 h 1352"/>
                <a:gd name="connsiteX61" fmla="*/ 1899 w 2088"/>
                <a:gd name="connsiteY61" fmla="*/ 863 h 1352"/>
                <a:gd name="connsiteX62" fmla="*/ 1942 w 2088"/>
                <a:gd name="connsiteY62" fmla="*/ 795 h 1352"/>
                <a:gd name="connsiteX63" fmla="*/ 2051 w 2088"/>
                <a:gd name="connsiteY63" fmla="*/ 760 h 1352"/>
                <a:gd name="connsiteX64" fmla="*/ 2088 w 2088"/>
                <a:gd name="connsiteY64" fmla="*/ 696 h 1352"/>
                <a:gd name="connsiteX0" fmla="*/ 2088 w 2088"/>
                <a:gd name="connsiteY0" fmla="*/ 696 h 1352"/>
                <a:gd name="connsiteX1" fmla="*/ 2062 w 2088"/>
                <a:gd name="connsiteY1" fmla="*/ 621 h 1352"/>
                <a:gd name="connsiteX2" fmla="*/ 2032 w 2088"/>
                <a:gd name="connsiteY2" fmla="*/ 547 h 1352"/>
                <a:gd name="connsiteX3" fmla="*/ 1876 w 2088"/>
                <a:gd name="connsiteY3" fmla="*/ 478 h 1352"/>
                <a:gd name="connsiteX4" fmla="*/ 1769 w 2088"/>
                <a:gd name="connsiteY4" fmla="*/ 478 h 1352"/>
                <a:gd name="connsiteX5" fmla="*/ 1640 w 2088"/>
                <a:gd name="connsiteY5" fmla="*/ 437 h 1352"/>
                <a:gd name="connsiteX6" fmla="*/ 1685 w 2088"/>
                <a:gd name="connsiteY6" fmla="*/ 297 h 1352"/>
                <a:gd name="connsiteX7" fmla="*/ 1583 w 2088"/>
                <a:gd name="connsiteY7" fmla="*/ 154 h 1352"/>
                <a:gd name="connsiteX8" fmla="*/ 1513 w 2088"/>
                <a:gd name="connsiteY8" fmla="*/ 150 h 1352"/>
                <a:gd name="connsiteX9" fmla="*/ 1441 w 2088"/>
                <a:gd name="connsiteY9" fmla="*/ 66 h 1352"/>
                <a:gd name="connsiteX10" fmla="*/ 1433 w 2088"/>
                <a:gd name="connsiteY10" fmla="*/ 7 h 1352"/>
                <a:gd name="connsiteX11" fmla="*/ 1362 w 2088"/>
                <a:gd name="connsiteY11" fmla="*/ 0 h 1352"/>
                <a:gd name="connsiteX12" fmla="*/ 1335 w 2088"/>
                <a:gd name="connsiteY12" fmla="*/ 70 h 1352"/>
                <a:gd name="connsiteX13" fmla="*/ 1241 w 2088"/>
                <a:gd name="connsiteY13" fmla="*/ 88 h 1352"/>
                <a:gd name="connsiteX14" fmla="*/ 1246 w 2088"/>
                <a:gd name="connsiteY14" fmla="*/ 183 h 1352"/>
                <a:gd name="connsiteX15" fmla="*/ 1172 w 2088"/>
                <a:gd name="connsiteY15" fmla="*/ 227 h 1352"/>
                <a:gd name="connsiteX16" fmla="*/ 1117 w 2088"/>
                <a:gd name="connsiteY16" fmla="*/ 183 h 1352"/>
                <a:gd name="connsiteX17" fmla="*/ 1015 w 2088"/>
                <a:gd name="connsiteY17" fmla="*/ 169 h 1352"/>
                <a:gd name="connsiteX18" fmla="*/ 926 w 2088"/>
                <a:gd name="connsiteY18" fmla="*/ 316 h 1352"/>
                <a:gd name="connsiteX19" fmla="*/ 926 w 2088"/>
                <a:gd name="connsiteY19" fmla="*/ 353 h 1352"/>
                <a:gd name="connsiteX20" fmla="*/ 896 w 2088"/>
                <a:gd name="connsiteY20" fmla="*/ 363 h 1352"/>
                <a:gd name="connsiteX21" fmla="*/ 842 w 2088"/>
                <a:gd name="connsiteY21" fmla="*/ 331 h 1352"/>
                <a:gd name="connsiteX22" fmla="*/ 736 w 2088"/>
                <a:gd name="connsiteY22" fmla="*/ 327 h 1352"/>
                <a:gd name="connsiteX23" fmla="*/ 692 w 2088"/>
                <a:gd name="connsiteY23" fmla="*/ 363 h 1352"/>
                <a:gd name="connsiteX24" fmla="*/ 732 w 2088"/>
                <a:gd name="connsiteY24" fmla="*/ 386 h 1352"/>
                <a:gd name="connsiteX25" fmla="*/ 749 w 2088"/>
                <a:gd name="connsiteY25" fmla="*/ 539 h 1352"/>
                <a:gd name="connsiteX26" fmla="*/ 665 w 2088"/>
                <a:gd name="connsiteY26" fmla="*/ 581 h 1352"/>
                <a:gd name="connsiteX27" fmla="*/ 657 w 2088"/>
                <a:gd name="connsiteY27" fmla="*/ 643 h 1352"/>
                <a:gd name="connsiteX28" fmla="*/ 532 w 2088"/>
                <a:gd name="connsiteY28" fmla="*/ 668 h 1352"/>
                <a:gd name="connsiteX29" fmla="*/ 448 w 2088"/>
                <a:gd name="connsiteY29" fmla="*/ 702 h 1352"/>
                <a:gd name="connsiteX30" fmla="*/ 328 w 2088"/>
                <a:gd name="connsiteY30" fmla="*/ 695 h 1352"/>
                <a:gd name="connsiteX31" fmla="*/ 283 w 2088"/>
                <a:gd name="connsiteY31" fmla="*/ 745 h 1352"/>
                <a:gd name="connsiteX32" fmla="*/ 231 w 2088"/>
                <a:gd name="connsiteY32" fmla="*/ 735 h 1352"/>
                <a:gd name="connsiteX33" fmla="*/ 182 w 2088"/>
                <a:gd name="connsiteY33" fmla="*/ 705 h 1352"/>
                <a:gd name="connsiteX34" fmla="*/ 88 w 2088"/>
                <a:gd name="connsiteY34" fmla="*/ 735 h 1352"/>
                <a:gd name="connsiteX35" fmla="*/ 0 w 2088"/>
                <a:gd name="connsiteY35" fmla="*/ 793 h 1352"/>
                <a:gd name="connsiteX36" fmla="*/ 9 w 2088"/>
                <a:gd name="connsiteY36" fmla="*/ 892 h 1352"/>
                <a:gd name="connsiteX37" fmla="*/ 66 w 2088"/>
                <a:gd name="connsiteY37" fmla="*/ 903 h 1352"/>
                <a:gd name="connsiteX38" fmla="*/ 79 w 2088"/>
                <a:gd name="connsiteY38" fmla="*/ 1021 h 1352"/>
                <a:gd name="connsiteX39" fmla="*/ 27 w 2088"/>
                <a:gd name="connsiteY39" fmla="*/ 1021 h 1352"/>
                <a:gd name="connsiteX40" fmla="*/ 27 w 2088"/>
                <a:gd name="connsiteY40" fmla="*/ 1055 h 1352"/>
                <a:gd name="connsiteX41" fmla="*/ 124 w 2088"/>
                <a:gd name="connsiteY41" fmla="*/ 1106 h 1352"/>
                <a:gd name="connsiteX42" fmla="*/ 115 w 2088"/>
                <a:gd name="connsiteY42" fmla="*/ 1176 h 1352"/>
                <a:gd name="connsiteX43" fmla="*/ 277 w 2088"/>
                <a:gd name="connsiteY43" fmla="*/ 1248 h 1352"/>
                <a:gd name="connsiteX44" fmla="*/ 281 w 2088"/>
                <a:gd name="connsiteY44" fmla="*/ 1253 h 1352"/>
                <a:gd name="connsiteX45" fmla="*/ 286 w 2088"/>
                <a:gd name="connsiteY45" fmla="*/ 1320 h 1352"/>
                <a:gd name="connsiteX46" fmla="*/ 411 w 2088"/>
                <a:gd name="connsiteY46" fmla="*/ 1325 h 1352"/>
                <a:gd name="connsiteX47" fmla="*/ 510 w 2088"/>
                <a:gd name="connsiteY47" fmla="*/ 1269 h 1352"/>
                <a:gd name="connsiteX48" fmla="*/ 669 w 2088"/>
                <a:gd name="connsiteY48" fmla="*/ 1301 h 1352"/>
                <a:gd name="connsiteX49" fmla="*/ 746 w 2088"/>
                <a:gd name="connsiteY49" fmla="*/ 1277 h 1352"/>
                <a:gd name="connsiteX50" fmla="*/ 876 w 2088"/>
                <a:gd name="connsiteY50" fmla="*/ 1352 h 1352"/>
                <a:gd name="connsiteX51" fmla="*/ 973 w 2088"/>
                <a:gd name="connsiteY51" fmla="*/ 1303 h 1352"/>
                <a:gd name="connsiteX52" fmla="*/ 1265 w 2088"/>
                <a:gd name="connsiteY52" fmla="*/ 1253 h 1352"/>
                <a:gd name="connsiteX53" fmla="*/ 1383 w 2088"/>
                <a:gd name="connsiteY53" fmla="*/ 1274 h 1352"/>
                <a:gd name="connsiteX54" fmla="*/ 1519 w 2088"/>
                <a:gd name="connsiteY54" fmla="*/ 1277 h 1352"/>
                <a:gd name="connsiteX55" fmla="*/ 1501 w 2088"/>
                <a:gd name="connsiteY55" fmla="*/ 1266 h 1352"/>
                <a:gd name="connsiteX56" fmla="*/ 1524 w 2088"/>
                <a:gd name="connsiteY56" fmla="*/ 1210 h 1352"/>
                <a:gd name="connsiteX57" fmla="*/ 1501 w 2088"/>
                <a:gd name="connsiteY57" fmla="*/ 1159 h 1352"/>
                <a:gd name="connsiteX58" fmla="*/ 1516 w 2088"/>
                <a:gd name="connsiteY58" fmla="*/ 1082 h 1352"/>
                <a:gd name="connsiteX59" fmla="*/ 1821 w 2088"/>
                <a:gd name="connsiteY59" fmla="*/ 1012 h 1352"/>
                <a:gd name="connsiteX60" fmla="*/ 1813 w 2088"/>
                <a:gd name="connsiteY60" fmla="*/ 891 h 1352"/>
                <a:gd name="connsiteX61" fmla="*/ 1899 w 2088"/>
                <a:gd name="connsiteY61" fmla="*/ 863 h 1352"/>
                <a:gd name="connsiteX62" fmla="*/ 1942 w 2088"/>
                <a:gd name="connsiteY62" fmla="*/ 795 h 1352"/>
                <a:gd name="connsiteX63" fmla="*/ 2051 w 2088"/>
                <a:gd name="connsiteY63" fmla="*/ 760 h 1352"/>
                <a:gd name="connsiteX64" fmla="*/ 2088 w 2088"/>
                <a:gd name="connsiteY64" fmla="*/ 696 h 1352"/>
                <a:gd name="connsiteX0" fmla="*/ 2088 w 2088"/>
                <a:gd name="connsiteY0" fmla="*/ 696 h 1352"/>
                <a:gd name="connsiteX1" fmla="*/ 2062 w 2088"/>
                <a:gd name="connsiteY1" fmla="*/ 621 h 1352"/>
                <a:gd name="connsiteX2" fmla="*/ 2032 w 2088"/>
                <a:gd name="connsiteY2" fmla="*/ 547 h 1352"/>
                <a:gd name="connsiteX3" fmla="*/ 1876 w 2088"/>
                <a:gd name="connsiteY3" fmla="*/ 478 h 1352"/>
                <a:gd name="connsiteX4" fmla="*/ 1769 w 2088"/>
                <a:gd name="connsiteY4" fmla="*/ 478 h 1352"/>
                <a:gd name="connsiteX5" fmla="*/ 1640 w 2088"/>
                <a:gd name="connsiteY5" fmla="*/ 437 h 1352"/>
                <a:gd name="connsiteX6" fmla="*/ 1685 w 2088"/>
                <a:gd name="connsiteY6" fmla="*/ 297 h 1352"/>
                <a:gd name="connsiteX7" fmla="*/ 1583 w 2088"/>
                <a:gd name="connsiteY7" fmla="*/ 154 h 1352"/>
                <a:gd name="connsiteX8" fmla="*/ 1513 w 2088"/>
                <a:gd name="connsiteY8" fmla="*/ 150 h 1352"/>
                <a:gd name="connsiteX9" fmla="*/ 1441 w 2088"/>
                <a:gd name="connsiteY9" fmla="*/ 66 h 1352"/>
                <a:gd name="connsiteX10" fmla="*/ 1433 w 2088"/>
                <a:gd name="connsiteY10" fmla="*/ 7 h 1352"/>
                <a:gd name="connsiteX11" fmla="*/ 1362 w 2088"/>
                <a:gd name="connsiteY11" fmla="*/ 0 h 1352"/>
                <a:gd name="connsiteX12" fmla="*/ 1335 w 2088"/>
                <a:gd name="connsiteY12" fmla="*/ 70 h 1352"/>
                <a:gd name="connsiteX13" fmla="*/ 1241 w 2088"/>
                <a:gd name="connsiteY13" fmla="*/ 88 h 1352"/>
                <a:gd name="connsiteX14" fmla="*/ 1246 w 2088"/>
                <a:gd name="connsiteY14" fmla="*/ 183 h 1352"/>
                <a:gd name="connsiteX15" fmla="*/ 1172 w 2088"/>
                <a:gd name="connsiteY15" fmla="*/ 227 h 1352"/>
                <a:gd name="connsiteX16" fmla="*/ 1117 w 2088"/>
                <a:gd name="connsiteY16" fmla="*/ 183 h 1352"/>
                <a:gd name="connsiteX17" fmla="*/ 1015 w 2088"/>
                <a:gd name="connsiteY17" fmla="*/ 169 h 1352"/>
                <a:gd name="connsiteX18" fmla="*/ 926 w 2088"/>
                <a:gd name="connsiteY18" fmla="*/ 316 h 1352"/>
                <a:gd name="connsiteX19" fmla="*/ 926 w 2088"/>
                <a:gd name="connsiteY19" fmla="*/ 353 h 1352"/>
                <a:gd name="connsiteX20" fmla="*/ 896 w 2088"/>
                <a:gd name="connsiteY20" fmla="*/ 363 h 1352"/>
                <a:gd name="connsiteX21" fmla="*/ 842 w 2088"/>
                <a:gd name="connsiteY21" fmla="*/ 331 h 1352"/>
                <a:gd name="connsiteX22" fmla="*/ 736 w 2088"/>
                <a:gd name="connsiteY22" fmla="*/ 327 h 1352"/>
                <a:gd name="connsiteX23" fmla="*/ 692 w 2088"/>
                <a:gd name="connsiteY23" fmla="*/ 363 h 1352"/>
                <a:gd name="connsiteX24" fmla="*/ 732 w 2088"/>
                <a:gd name="connsiteY24" fmla="*/ 386 h 1352"/>
                <a:gd name="connsiteX25" fmla="*/ 749 w 2088"/>
                <a:gd name="connsiteY25" fmla="*/ 539 h 1352"/>
                <a:gd name="connsiteX26" fmla="*/ 665 w 2088"/>
                <a:gd name="connsiteY26" fmla="*/ 581 h 1352"/>
                <a:gd name="connsiteX27" fmla="*/ 657 w 2088"/>
                <a:gd name="connsiteY27" fmla="*/ 643 h 1352"/>
                <a:gd name="connsiteX28" fmla="*/ 532 w 2088"/>
                <a:gd name="connsiteY28" fmla="*/ 668 h 1352"/>
                <a:gd name="connsiteX29" fmla="*/ 448 w 2088"/>
                <a:gd name="connsiteY29" fmla="*/ 702 h 1352"/>
                <a:gd name="connsiteX30" fmla="*/ 328 w 2088"/>
                <a:gd name="connsiteY30" fmla="*/ 695 h 1352"/>
                <a:gd name="connsiteX31" fmla="*/ 283 w 2088"/>
                <a:gd name="connsiteY31" fmla="*/ 745 h 1352"/>
                <a:gd name="connsiteX32" fmla="*/ 231 w 2088"/>
                <a:gd name="connsiteY32" fmla="*/ 735 h 1352"/>
                <a:gd name="connsiteX33" fmla="*/ 182 w 2088"/>
                <a:gd name="connsiteY33" fmla="*/ 705 h 1352"/>
                <a:gd name="connsiteX34" fmla="*/ 88 w 2088"/>
                <a:gd name="connsiteY34" fmla="*/ 735 h 1352"/>
                <a:gd name="connsiteX35" fmla="*/ 0 w 2088"/>
                <a:gd name="connsiteY35" fmla="*/ 793 h 1352"/>
                <a:gd name="connsiteX36" fmla="*/ 9 w 2088"/>
                <a:gd name="connsiteY36" fmla="*/ 892 h 1352"/>
                <a:gd name="connsiteX37" fmla="*/ 66 w 2088"/>
                <a:gd name="connsiteY37" fmla="*/ 903 h 1352"/>
                <a:gd name="connsiteX38" fmla="*/ 79 w 2088"/>
                <a:gd name="connsiteY38" fmla="*/ 1021 h 1352"/>
                <a:gd name="connsiteX39" fmla="*/ 27 w 2088"/>
                <a:gd name="connsiteY39" fmla="*/ 1021 h 1352"/>
                <a:gd name="connsiteX40" fmla="*/ 27 w 2088"/>
                <a:gd name="connsiteY40" fmla="*/ 1055 h 1352"/>
                <a:gd name="connsiteX41" fmla="*/ 124 w 2088"/>
                <a:gd name="connsiteY41" fmla="*/ 1106 h 1352"/>
                <a:gd name="connsiteX42" fmla="*/ 115 w 2088"/>
                <a:gd name="connsiteY42" fmla="*/ 1176 h 1352"/>
                <a:gd name="connsiteX43" fmla="*/ 277 w 2088"/>
                <a:gd name="connsiteY43" fmla="*/ 1248 h 1352"/>
                <a:gd name="connsiteX44" fmla="*/ 281 w 2088"/>
                <a:gd name="connsiteY44" fmla="*/ 1253 h 1352"/>
                <a:gd name="connsiteX45" fmla="*/ 286 w 2088"/>
                <a:gd name="connsiteY45" fmla="*/ 1320 h 1352"/>
                <a:gd name="connsiteX46" fmla="*/ 371 w 2088"/>
                <a:gd name="connsiteY46" fmla="*/ 1325 h 1352"/>
                <a:gd name="connsiteX47" fmla="*/ 510 w 2088"/>
                <a:gd name="connsiteY47" fmla="*/ 1269 h 1352"/>
                <a:gd name="connsiteX48" fmla="*/ 669 w 2088"/>
                <a:gd name="connsiteY48" fmla="*/ 1301 h 1352"/>
                <a:gd name="connsiteX49" fmla="*/ 746 w 2088"/>
                <a:gd name="connsiteY49" fmla="*/ 1277 h 1352"/>
                <a:gd name="connsiteX50" fmla="*/ 876 w 2088"/>
                <a:gd name="connsiteY50" fmla="*/ 1352 h 1352"/>
                <a:gd name="connsiteX51" fmla="*/ 973 w 2088"/>
                <a:gd name="connsiteY51" fmla="*/ 1303 h 1352"/>
                <a:gd name="connsiteX52" fmla="*/ 1265 w 2088"/>
                <a:gd name="connsiteY52" fmla="*/ 1253 h 1352"/>
                <a:gd name="connsiteX53" fmla="*/ 1383 w 2088"/>
                <a:gd name="connsiteY53" fmla="*/ 1274 h 1352"/>
                <a:gd name="connsiteX54" fmla="*/ 1519 w 2088"/>
                <a:gd name="connsiteY54" fmla="*/ 1277 h 1352"/>
                <a:gd name="connsiteX55" fmla="*/ 1501 w 2088"/>
                <a:gd name="connsiteY55" fmla="*/ 1266 h 1352"/>
                <a:gd name="connsiteX56" fmla="*/ 1524 w 2088"/>
                <a:gd name="connsiteY56" fmla="*/ 1210 h 1352"/>
                <a:gd name="connsiteX57" fmla="*/ 1501 w 2088"/>
                <a:gd name="connsiteY57" fmla="*/ 1159 h 1352"/>
                <a:gd name="connsiteX58" fmla="*/ 1516 w 2088"/>
                <a:gd name="connsiteY58" fmla="*/ 1082 h 1352"/>
                <a:gd name="connsiteX59" fmla="*/ 1821 w 2088"/>
                <a:gd name="connsiteY59" fmla="*/ 1012 h 1352"/>
                <a:gd name="connsiteX60" fmla="*/ 1813 w 2088"/>
                <a:gd name="connsiteY60" fmla="*/ 891 h 1352"/>
                <a:gd name="connsiteX61" fmla="*/ 1899 w 2088"/>
                <a:gd name="connsiteY61" fmla="*/ 863 h 1352"/>
                <a:gd name="connsiteX62" fmla="*/ 1942 w 2088"/>
                <a:gd name="connsiteY62" fmla="*/ 795 h 1352"/>
                <a:gd name="connsiteX63" fmla="*/ 2051 w 2088"/>
                <a:gd name="connsiteY63" fmla="*/ 760 h 1352"/>
                <a:gd name="connsiteX64" fmla="*/ 2088 w 2088"/>
                <a:gd name="connsiteY64" fmla="*/ 696 h 1352"/>
                <a:gd name="connsiteX0" fmla="*/ 2088 w 2088"/>
                <a:gd name="connsiteY0" fmla="*/ 696 h 1352"/>
                <a:gd name="connsiteX1" fmla="*/ 2062 w 2088"/>
                <a:gd name="connsiteY1" fmla="*/ 621 h 1352"/>
                <a:gd name="connsiteX2" fmla="*/ 2032 w 2088"/>
                <a:gd name="connsiteY2" fmla="*/ 547 h 1352"/>
                <a:gd name="connsiteX3" fmla="*/ 1876 w 2088"/>
                <a:gd name="connsiteY3" fmla="*/ 478 h 1352"/>
                <a:gd name="connsiteX4" fmla="*/ 1769 w 2088"/>
                <a:gd name="connsiteY4" fmla="*/ 478 h 1352"/>
                <a:gd name="connsiteX5" fmla="*/ 1640 w 2088"/>
                <a:gd name="connsiteY5" fmla="*/ 437 h 1352"/>
                <a:gd name="connsiteX6" fmla="*/ 1685 w 2088"/>
                <a:gd name="connsiteY6" fmla="*/ 297 h 1352"/>
                <a:gd name="connsiteX7" fmla="*/ 1583 w 2088"/>
                <a:gd name="connsiteY7" fmla="*/ 154 h 1352"/>
                <a:gd name="connsiteX8" fmla="*/ 1513 w 2088"/>
                <a:gd name="connsiteY8" fmla="*/ 150 h 1352"/>
                <a:gd name="connsiteX9" fmla="*/ 1441 w 2088"/>
                <a:gd name="connsiteY9" fmla="*/ 66 h 1352"/>
                <a:gd name="connsiteX10" fmla="*/ 1433 w 2088"/>
                <a:gd name="connsiteY10" fmla="*/ 7 h 1352"/>
                <a:gd name="connsiteX11" fmla="*/ 1362 w 2088"/>
                <a:gd name="connsiteY11" fmla="*/ 0 h 1352"/>
                <a:gd name="connsiteX12" fmla="*/ 1335 w 2088"/>
                <a:gd name="connsiteY12" fmla="*/ 70 h 1352"/>
                <a:gd name="connsiteX13" fmla="*/ 1241 w 2088"/>
                <a:gd name="connsiteY13" fmla="*/ 88 h 1352"/>
                <a:gd name="connsiteX14" fmla="*/ 1246 w 2088"/>
                <a:gd name="connsiteY14" fmla="*/ 183 h 1352"/>
                <a:gd name="connsiteX15" fmla="*/ 1172 w 2088"/>
                <a:gd name="connsiteY15" fmla="*/ 227 h 1352"/>
                <a:gd name="connsiteX16" fmla="*/ 1117 w 2088"/>
                <a:gd name="connsiteY16" fmla="*/ 183 h 1352"/>
                <a:gd name="connsiteX17" fmla="*/ 1015 w 2088"/>
                <a:gd name="connsiteY17" fmla="*/ 169 h 1352"/>
                <a:gd name="connsiteX18" fmla="*/ 926 w 2088"/>
                <a:gd name="connsiteY18" fmla="*/ 316 h 1352"/>
                <a:gd name="connsiteX19" fmla="*/ 926 w 2088"/>
                <a:gd name="connsiteY19" fmla="*/ 353 h 1352"/>
                <a:gd name="connsiteX20" fmla="*/ 896 w 2088"/>
                <a:gd name="connsiteY20" fmla="*/ 363 h 1352"/>
                <a:gd name="connsiteX21" fmla="*/ 842 w 2088"/>
                <a:gd name="connsiteY21" fmla="*/ 331 h 1352"/>
                <a:gd name="connsiteX22" fmla="*/ 736 w 2088"/>
                <a:gd name="connsiteY22" fmla="*/ 327 h 1352"/>
                <a:gd name="connsiteX23" fmla="*/ 692 w 2088"/>
                <a:gd name="connsiteY23" fmla="*/ 363 h 1352"/>
                <a:gd name="connsiteX24" fmla="*/ 732 w 2088"/>
                <a:gd name="connsiteY24" fmla="*/ 386 h 1352"/>
                <a:gd name="connsiteX25" fmla="*/ 749 w 2088"/>
                <a:gd name="connsiteY25" fmla="*/ 539 h 1352"/>
                <a:gd name="connsiteX26" fmla="*/ 665 w 2088"/>
                <a:gd name="connsiteY26" fmla="*/ 581 h 1352"/>
                <a:gd name="connsiteX27" fmla="*/ 657 w 2088"/>
                <a:gd name="connsiteY27" fmla="*/ 643 h 1352"/>
                <a:gd name="connsiteX28" fmla="*/ 532 w 2088"/>
                <a:gd name="connsiteY28" fmla="*/ 668 h 1352"/>
                <a:gd name="connsiteX29" fmla="*/ 448 w 2088"/>
                <a:gd name="connsiteY29" fmla="*/ 702 h 1352"/>
                <a:gd name="connsiteX30" fmla="*/ 328 w 2088"/>
                <a:gd name="connsiteY30" fmla="*/ 695 h 1352"/>
                <a:gd name="connsiteX31" fmla="*/ 283 w 2088"/>
                <a:gd name="connsiteY31" fmla="*/ 745 h 1352"/>
                <a:gd name="connsiteX32" fmla="*/ 231 w 2088"/>
                <a:gd name="connsiteY32" fmla="*/ 735 h 1352"/>
                <a:gd name="connsiteX33" fmla="*/ 182 w 2088"/>
                <a:gd name="connsiteY33" fmla="*/ 705 h 1352"/>
                <a:gd name="connsiteX34" fmla="*/ 88 w 2088"/>
                <a:gd name="connsiteY34" fmla="*/ 735 h 1352"/>
                <a:gd name="connsiteX35" fmla="*/ 0 w 2088"/>
                <a:gd name="connsiteY35" fmla="*/ 793 h 1352"/>
                <a:gd name="connsiteX36" fmla="*/ 9 w 2088"/>
                <a:gd name="connsiteY36" fmla="*/ 892 h 1352"/>
                <a:gd name="connsiteX37" fmla="*/ 66 w 2088"/>
                <a:gd name="connsiteY37" fmla="*/ 903 h 1352"/>
                <a:gd name="connsiteX38" fmla="*/ 79 w 2088"/>
                <a:gd name="connsiteY38" fmla="*/ 1021 h 1352"/>
                <a:gd name="connsiteX39" fmla="*/ 27 w 2088"/>
                <a:gd name="connsiteY39" fmla="*/ 1021 h 1352"/>
                <a:gd name="connsiteX40" fmla="*/ 27 w 2088"/>
                <a:gd name="connsiteY40" fmla="*/ 1055 h 1352"/>
                <a:gd name="connsiteX41" fmla="*/ 124 w 2088"/>
                <a:gd name="connsiteY41" fmla="*/ 1106 h 1352"/>
                <a:gd name="connsiteX42" fmla="*/ 115 w 2088"/>
                <a:gd name="connsiteY42" fmla="*/ 1176 h 1352"/>
                <a:gd name="connsiteX43" fmla="*/ 277 w 2088"/>
                <a:gd name="connsiteY43" fmla="*/ 1248 h 1352"/>
                <a:gd name="connsiteX44" fmla="*/ 281 w 2088"/>
                <a:gd name="connsiteY44" fmla="*/ 1253 h 1352"/>
                <a:gd name="connsiteX45" fmla="*/ 286 w 2088"/>
                <a:gd name="connsiteY45" fmla="*/ 1320 h 1352"/>
                <a:gd name="connsiteX46" fmla="*/ 371 w 2088"/>
                <a:gd name="connsiteY46" fmla="*/ 1325 h 1352"/>
                <a:gd name="connsiteX47" fmla="*/ 510 w 2088"/>
                <a:gd name="connsiteY47" fmla="*/ 1269 h 1352"/>
                <a:gd name="connsiteX48" fmla="*/ 669 w 2088"/>
                <a:gd name="connsiteY48" fmla="*/ 1301 h 1352"/>
                <a:gd name="connsiteX49" fmla="*/ 746 w 2088"/>
                <a:gd name="connsiteY49" fmla="*/ 1277 h 1352"/>
                <a:gd name="connsiteX50" fmla="*/ 876 w 2088"/>
                <a:gd name="connsiteY50" fmla="*/ 1352 h 1352"/>
                <a:gd name="connsiteX51" fmla="*/ 973 w 2088"/>
                <a:gd name="connsiteY51" fmla="*/ 1303 h 1352"/>
                <a:gd name="connsiteX52" fmla="*/ 1265 w 2088"/>
                <a:gd name="connsiteY52" fmla="*/ 1253 h 1352"/>
                <a:gd name="connsiteX53" fmla="*/ 1383 w 2088"/>
                <a:gd name="connsiteY53" fmla="*/ 1274 h 1352"/>
                <a:gd name="connsiteX54" fmla="*/ 1519 w 2088"/>
                <a:gd name="connsiteY54" fmla="*/ 1277 h 1352"/>
                <a:gd name="connsiteX55" fmla="*/ 1501 w 2088"/>
                <a:gd name="connsiteY55" fmla="*/ 1266 h 1352"/>
                <a:gd name="connsiteX56" fmla="*/ 1524 w 2088"/>
                <a:gd name="connsiteY56" fmla="*/ 1210 h 1352"/>
                <a:gd name="connsiteX57" fmla="*/ 1501 w 2088"/>
                <a:gd name="connsiteY57" fmla="*/ 1159 h 1352"/>
                <a:gd name="connsiteX58" fmla="*/ 1516 w 2088"/>
                <a:gd name="connsiteY58" fmla="*/ 1082 h 1352"/>
                <a:gd name="connsiteX59" fmla="*/ 1821 w 2088"/>
                <a:gd name="connsiteY59" fmla="*/ 1012 h 1352"/>
                <a:gd name="connsiteX60" fmla="*/ 1813 w 2088"/>
                <a:gd name="connsiteY60" fmla="*/ 891 h 1352"/>
                <a:gd name="connsiteX61" fmla="*/ 1899 w 2088"/>
                <a:gd name="connsiteY61" fmla="*/ 863 h 1352"/>
                <a:gd name="connsiteX62" fmla="*/ 1942 w 2088"/>
                <a:gd name="connsiteY62" fmla="*/ 795 h 1352"/>
                <a:gd name="connsiteX63" fmla="*/ 2051 w 2088"/>
                <a:gd name="connsiteY63" fmla="*/ 760 h 1352"/>
                <a:gd name="connsiteX64" fmla="*/ 2088 w 2088"/>
                <a:gd name="connsiteY64" fmla="*/ 696 h 1352"/>
                <a:gd name="connsiteX0" fmla="*/ 2088 w 2088"/>
                <a:gd name="connsiteY0" fmla="*/ 696 h 1378"/>
                <a:gd name="connsiteX1" fmla="*/ 2062 w 2088"/>
                <a:gd name="connsiteY1" fmla="*/ 621 h 1378"/>
                <a:gd name="connsiteX2" fmla="*/ 2032 w 2088"/>
                <a:gd name="connsiteY2" fmla="*/ 547 h 1378"/>
                <a:gd name="connsiteX3" fmla="*/ 1876 w 2088"/>
                <a:gd name="connsiteY3" fmla="*/ 478 h 1378"/>
                <a:gd name="connsiteX4" fmla="*/ 1769 w 2088"/>
                <a:gd name="connsiteY4" fmla="*/ 478 h 1378"/>
                <a:gd name="connsiteX5" fmla="*/ 1640 w 2088"/>
                <a:gd name="connsiteY5" fmla="*/ 437 h 1378"/>
                <a:gd name="connsiteX6" fmla="*/ 1685 w 2088"/>
                <a:gd name="connsiteY6" fmla="*/ 297 h 1378"/>
                <a:gd name="connsiteX7" fmla="*/ 1583 w 2088"/>
                <a:gd name="connsiteY7" fmla="*/ 154 h 1378"/>
                <a:gd name="connsiteX8" fmla="*/ 1513 w 2088"/>
                <a:gd name="connsiteY8" fmla="*/ 150 h 1378"/>
                <a:gd name="connsiteX9" fmla="*/ 1441 w 2088"/>
                <a:gd name="connsiteY9" fmla="*/ 66 h 1378"/>
                <a:gd name="connsiteX10" fmla="*/ 1433 w 2088"/>
                <a:gd name="connsiteY10" fmla="*/ 7 h 1378"/>
                <a:gd name="connsiteX11" fmla="*/ 1362 w 2088"/>
                <a:gd name="connsiteY11" fmla="*/ 0 h 1378"/>
                <a:gd name="connsiteX12" fmla="*/ 1335 w 2088"/>
                <a:gd name="connsiteY12" fmla="*/ 70 h 1378"/>
                <a:gd name="connsiteX13" fmla="*/ 1241 w 2088"/>
                <a:gd name="connsiteY13" fmla="*/ 88 h 1378"/>
                <a:gd name="connsiteX14" fmla="*/ 1246 w 2088"/>
                <a:gd name="connsiteY14" fmla="*/ 183 h 1378"/>
                <a:gd name="connsiteX15" fmla="*/ 1172 w 2088"/>
                <a:gd name="connsiteY15" fmla="*/ 227 h 1378"/>
                <a:gd name="connsiteX16" fmla="*/ 1117 w 2088"/>
                <a:gd name="connsiteY16" fmla="*/ 183 h 1378"/>
                <a:gd name="connsiteX17" fmla="*/ 1015 w 2088"/>
                <a:gd name="connsiteY17" fmla="*/ 169 h 1378"/>
                <a:gd name="connsiteX18" fmla="*/ 926 w 2088"/>
                <a:gd name="connsiteY18" fmla="*/ 316 h 1378"/>
                <a:gd name="connsiteX19" fmla="*/ 926 w 2088"/>
                <a:gd name="connsiteY19" fmla="*/ 353 h 1378"/>
                <a:gd name="connsiteX20" fmla="*/ 896 w 2088"/>
                <a:gd name="connsiteY20" fmla="*/ 363 h 1378"/>
                <a:gd name="connsiteX21" fmla="*/ 842 w 2088"/>
                <a:gd name="connsiteY21" fmla="*/ 331 h 1378"/>
                <a:gd name="connsiteX22" fmla="*/ 736 w 2088"/>
                <a:gd name="connsiteY22" fmla="*/ 327 h 1378"/>
                <a:gd name="connsiteX23" fmla="*/ 692 w 2088"/>
                <a:gd name="connsiteY23" fmla="*/ 363 h 1378"/>
                <a:gd name="connsiteX24" fmla="*/ 732 w 2088"/>
                <a:gd name="connsiteY24" fmla="*/ 386 h 1378"/>
                <a:gd name="connsiteX25" fmla="*/ 749 w 2088"/>
                <a:gd name="connsiteY25" fmla="*/ 539 h 1378"/>
                <a:gd name="connsiteX26" fmla="*/ 665 w 2088"/>
                <a:gd name="connsiteY26" fmla="*/ 581 h 1378"/>
                <a:gd name="connsiteX27" fmla="*/ 657 w 2088"/>
                <a:gd name="connsiteY27" fmla="*/ 643 h 1378"/>
                <a:gd name="connsiteX28" fmla="*/ 532 w 2088"/>
                <a:gd name="connsiteY28" fmla="*/ 668 h 1378"/>
                <a:gd name="connsiteX29" fmla="*/ 448 w 2088"/>
                <a:gd name="connsiteY29" fmla="*/ 702 h 1378"/>
                <a:gd name="connsiteX30" fmla="*/ 328 w 2088"/>
                <a:gd name="connsiteY30" fmla="*/ 695 h 1378"/>
                <a:gd name="connsiteX31" fmla="*/ 283 w 2088"/>
                <a:gd name="connsiteY31" fmla="*/ 745 h 1378"/>
                <a:gd name="connsiteX32" fmla="*/ 231 w 2088"/>
                <a:gd name="connsiteY32" fmla="*/ 735 h 1378"/>
                <a:gd name="connsiteX33" fmla="*/ 182 w 2088"/>
                <a:gd name="connsiteY33" fmla="*/ 705 h 1378"/>
                <a:gd name="connsiteX34" fmla="*/ 88 w 2088"/>
                <a:gd name="connsiteY34" fmla="*/ 735 h 1378"/>
                <a:gd name="connsiteX35" fmla="*/ 0 w 2088"/>
                <a:gd name="connsiteY35" fmla="*/ 793 h 1378"/>
                <a:gd name="connsiteX36" fmla="*/ 9 w 2088"/>
                <a:gd name="connsiteY36" fmla="*/ 892 h 1378"/>
                <a:gd name="connsiteX37" fmla="*/ 66 w 2088"/>
                <a:gd name="connsiteY37" fmla="*/ 903 h 1378"/>
                <a:gd name="connsiteX38" fmla="*/ 79 w 2088"/>
                <a:gd name="connsiteY38" fmla="*/ 1021 h 1378"/>
                <a:gd name="connsiteX39" fmla="*/ 27 w 2088"/>
                <a:gd name="connsiteY39" fmla="*/ 1021 h 1378"/>
                <a:gd name="connsiteX40" fmla="*/ 27 w 2088"/>
                <a:gd name="connsiteY40" fmla="*/ 1055 h 1378"/>
                <a:gd name="connsiteX41" fmla="*/ 124 w 2088"/>
                <a:gd name="connsiteY41" fmla="*/ 1106 h 1378"/>
                <a:gd name="connsiteX42" fmla="*/ 115 w 2088"/>
                <a:gd name="connsiteY42" fmla="*/ 1176 h 1378"/>
                <a:gd name="connsiteX43" fmla="*/ 277 w 2088"/>
                <a:gd name="connsiteY43" fmla="*/ 1248 h 1378"/>
                <a:gd name="connsiteX44" fmla="*/ 281 w 2088"/>
                <a:gd name="connsiteY44" fmla="*/ 1253 h 1378"/>
                <a:gd name="connsiteX45" fmla="*/ 286 w 2088"/>
                <a:gd name="connsiteY45" fmla="*/ 1320 h 1378"/>
                <a:gd name="connsiteX46" fmla="*/ 295 w 2088"/>
                <a:gd name="connsiteY46" fmla="*/ 1377 h 1378"/>
                <a:gd name="connsiteX47" fmla="*/ 371 w 2088"/>
                <a:gd name="connsiteY47" fmla="*/ 1325 h 1378"/>
                <a:gd name="connsiteX48" fmla="*/ 510 w 2088"/>
                <a:gd name="connsiteY48" fmla="*/ 1269 h 1378"/>
                <a:gd name="connsiteX49" fmla="*/ 669 w 2088"/>
                <a:gd name="connsiteY49" fmla="*/ 1301 h 1378"/>
                <a:gd name="connsiteX50" fmla="*/ 746 w 2088"/>
                <a:gd name="connsiteY50" fmla="*/ 1277 h 1378"/>
                <a:gd name="connsiteX51" fmla="*/ 876 w 2088"/>
                <a:gd name="connsiteY51" fmla="*/ 1352 h 1378"/>
                <a:gd name="connsiteX52" fmla="*/ 973 w 2088"/>
                <a:gd name="connsiteY52" fmla="*/ 1303 h 1378"/>
                <a:gd name="connsiteX53" fmla="*/ 1265 w 2088"/>
                <a:gd name="connsiteY53" fmla="*/ 1253 h 1378"/>
                <a:gd name="connsiteX54" fmla="*/ 1383 w 2088"/>
                <a:gd name="connsiteY54" fmla="*/ 1274 h 1378"/>
                <a:gd name="connsiteX55" fmla="*/ 1519 w 2088"/>
                <a:gd name="connsiteY55" fmla="*/ 1277 h 1378"/>
                <a:gd name="connsiteX56" fmla="*/ 1501 w 2088"/>
                <a:gd name="connsiteY56" fmla="*/ 1266 h 1378"/>
                <a:gd name="connsiteX57" fmla="*/ 1524 w 2088"/>
                <a:gd name="connsiteY57" fmla="*/ 1210 h 1378"/>
                <a:gd name="connsiteX58" fmla="*/ 1501 w 2088"/>
                <a:gd name="connsiteY58" fmla="*/ 1159 h 1378"/>
                <a:gd name="connsiteX59" fmla="*/ 1516 w 2088"/>
                <a:gd name="connsiteY59" fmla="*/ 1082 h 1378"/>
                <a:gd name="connsiteX60" fmla="*/ 1821 w 2088"/>
                <a:gd name="connsiteY60" fmla="*/ 1012 h 1378"/>
                <a:gd name="connsiteX61" fmla="*/ 1813 w 2088"/>
                <a:gd name="connsiteY61" fmla="*/ 891 h 1378"/>
                <a:gd name="connsiteX62" fmla="*/ 1899 w 2088"/>
                <a:gd name="connsiteY62" fmla="*/ 863 h 1378"/>
                <a:gd name="connsiteX63" fmla="*/ 1942 w 2088"/>
                <a:gd name="connsiteY63" fmla="*/ 795 h 1378"/>
                <a:gd name="connsiteX64" fmla="*/ 2051 w 2088"/>
                <a:gd name="connsiteY64" fmla="*/ 760 h 1378"/>
                <a:gd name="connsiteX65" fmla="*/ 2088 w 2088"/>
                <a:gd name="connsiteY65" fmla="*/ 696 h 1378"/>
                <a:gd name="connsiteX0" fmla="*/ 2088 w 2088"/>
                <a:gd name="connsiteY0" fmla="*/ 696 h 1378"/>
                <a:gd name="connsiteX1" fmla="*/ 2062 w 2088"/>
                <a:gd name="connsiteY1" fmla="*/ 621 h 1378"/>
                <a:gd name="connsiteX2" fmla="*/ 2032 w 2088"/>
                <a:gd name="connsiteY2" fmla="*/ 547 h 1378"/>
                <a:gd name="connsiteX3" fmla="*/ 1876 w 2088"/>
                <a:gd name="connsiteY3" fmla="*/ 478 h 1378"/>
                <a:gd name="connsiteX4" fmla="*/ 1769 w 2088"/>
                <a:gd name="connsiteY4" fmla="*/ 478 h 1378"/>
                <a:gd name="connsiteX5" fmla="*/ 1640 w 2088"/>
                <a:gd name="connsiteY5" fmla="*/ 437 h 1378"/>
                <a:gd name="connsiteX6" fmla="*/ 1685 w 2088"/>
                <a:gd name="connsiteY6" fmla="*/ 297 h 1378"/>
                <a:gd name="connsiteX7" fmla="*/ 1583 w 2088"/>
                <a:gd name="connsiteY7" fmla="*/ 154 h 1378"/>
                <a:gd name="connsiteX8" fmla="*/ 1513 w 2088"/>
                <a:gd name="connsiteY8" fmla="*/ 150 h 1378"/>
                <a:gd name="connsiteX9" fmla="*/ 1441 w 2088"/>
                <a:gd name="connsiteY9" fmla="*/ 66 h 1378"/>
                <a:gd name="connsiteX10" fmla="*/ 1433 w 2088"/>
                <a:gd name="connsiteY10" fmla="*/ 7 h 1378"/>
                <a:gd name="connsiteX11" fmla="*/ 1362 w 2088"/>
                <a:gd name="connsiteY11" fmla="*/ 0 h 1378"/>
                <a:gd name="connsiteX12" fmla="*/ 1335 w 2088"/>
                <a:gd name="connsiteY12" fmla="*/ 70 h 1378"/>
                <a:gd name="connsiteX13" fmla="*/ 1241 w 2088"/>
                <a:gd name="connsiteY13" fmla="*/ 88 h 1378"/>
                <a:gd name="connsiteX14" fmla="*/ 1246 w 2088"/>
                <a:gd name="connsiteY14" fmla="*/ 183 h 1378"/>
                <a:gd name="connsiteX15" fmla="*/ 1172 w 2088"/>
                <a:gd name="connsiteY15" fmla="*/ 227 h 1378"/>
                <a:gd name="connsiteX16" fmla="*/ 1117 w 2088"/>
                <a:gd name="connsiteY16" fmla="*/ 183 h 1378"/>
                <a:gd name="connsiteX17" fmla="*/ 1015 w 2088"/>
                <a:gd name="connsiteY17" fmla="*/ 169 h 1378"/>
                <a:gd name="connsiteX18" fmla="*/ 926 w 2088"/>
                <a:gd name="connsiteY18" fmla="*/ 316 h 1378"/>
                <a:gd name="connsiteX19" fmla="*/ 926 w 2088"/>
                <a:gd name="connsiteY19" fmla="*/ 353 h 1378"/>
                <a:gd name="connsiteX20" fmla="*/ 896 w 2088"/>
                <a:gd name="connsiteY20" fmla="*/ 363 h 1378"/>
                <a:gd name="connsiteX21" fmla="*/ 842 w 2088"/>
                <a:gd name="connsiteY21" fmla="*/ 331 h 1378"/>
                <a:gd name="connsiteX22" fmla="*/ 736 w 2088"/>
                <a:gd name="connsiteY22" fmla="*/ 327 h 1378"/>
                <a:gd name="connsiteX23" fmla="*/ 692 w 2088"/>
                <a:gd name="connsiteY23" fmla="*/ 363 h 1378"/>
                <a:gd name="connsiteX24" fmla="*/ 732 w 2088"/>
                <a:gd name="connsiteY24" fmla="*/ 386 h 1378"/>
                <a:gd name="connsiteX25" fmla="*/ 749 w 2088"/>
                <a:gd name="connsiteY25" fmla="*/ 539 h 1378"/>
                <a:gd name="connsiteX26" fmla="*/ 665 w 2088"/>
                <a:gd name="connsiteY26" fmla="*/ 581 h 1378"/>
                <a:gd name="connsiteX27" fmla="*/ 657 w 2088"/>
                <a:gd name="connsiteY27" fmla="*/ 643 h 1378"/>
                <a:gd name="connsiteX28" fmla="*/ 532 w 2088"/>
                <a:gd name="connsiteY28" fmla="*/ 668 h 1378"/>
                <a:gd name="connsiteX29" fmla="*/ 448 w 2088"/>
                <a:gd name="connsiteY29" fmla="*/ 702 h 1378"/>
                <a:gd name="connsiteX30" fmla="*/ 328 w 2088"/>
                <a:gd name="connsiteY30" fmla="*/ 695 h 1378"/>
                <a:gd name="connsiteX31" fmla="*/ 283 w 2088"/>
                <a:gd name="connsiteY31" fmla="*/ 745 h 1378"/>
                <a:gd name="connsiteX32" fmla="*/ 231 w 2088"/>
                <a:gd name="connsiteY32" fmla="*/ 735 h 1378"/>
                <a:gd name="connsiteX33" fmla="*/ 182 w 2088"/>
                <a:gd name="connsiteY33" fmla="*/ 705 h 1378"/>
                <a:gd name="connsiteX34" fmla="*/ 88 w 2088"/>
                <a:gd name="connsiteY34" fmla="*/ 735 h 1378"/>
                <a:gd name="connsiteX35" fmla="*/ 0 w 2088"/>
                <a:gd name="connsiteY35" fmla="*/ 793 h 1378"/>
                <a:gd name="connsiteX36" fmla="*/ 9 w 2088"/>
                <a:gd name="connsiteY36" fmla="*/ 892 h 1378"/>
                <a:gd name="connsiteX37" fmla="*/ 66 w 2088"/>
                <a:gd name="connsiteY37" fmla="*/ 903 h 1378"/>
                <a:gd name="connsiteX38" fmla="*/ 79 w 2088"/>
                <a:gd name="connsiteY38" fmla="*/ 1021 h 1378"/>
                <a:gd name="connsiteX39" fmla="*/ 27 w 2088"/>
                <a:gd name="connsiteY39" fmla="*/ 1021 h 1378"/>
                <a:gd name="connsiteX40" fmla="*/ 27 w 2088"/>
                <a:gd name="connsiteY40" fmla="*/ 1055 h 1378"/>
                <a:gd name="connsiteX41" fmla="*/ 124 w 2088"/>
                <a:gd name="connsiteY41" fmla="*/ 1106 h 1378"/>
                <a:gd name="connsiteX42" fmla="*/ 115 w 2088"/>
                <a:gd name="connsiteY42" fmla="*/ 1176 h 1378"/>
                <a:gd name="connsiteX43" fmla="*/ 277 w 2088"/>
                <a:gd name="connsiteY43" fmla="*/ 1248 h 1378"/>
                <a:gd name="connsiteX44" fmla="*/ 281 w 2088"/>
                <a:gd name="connsiteY44" fmla="*/ 1253 h 1378"/>
                <a:gd name="connsiteX45" fmla="*/ 286 w 2088"/>
                <a:gd name="connsiteY45" fmla="*/ 1320 h 1378"/>
                <a:gd name="connsiteX46" fmla="*/ 295 w 2088"/>
                <a:gd name="connsiteY46" fmla="*/ 1377 h 1378"/>
                <a:gd name="connsiteX47" fmla="*/ 371 w 2088"/>
                <a:gd name="connsiteY47" fmla="*/ 1325 h 1378"/>
                <a:gd name="connsiteX48" fmla="*/ 510 w 2088"/>
                <a:gd name="connsiteY48" fmla="*/ 1269 h 1378"/>
                <a:gd name="connsiteX49" fmla="*/ 669 w 2088"/>
                <a:gd name="connsiteY49" fmla="*/ 1301 h 1378"/>
                <a:gd name="connsiteX50" fmla="*/ 746 w 2088"/>
                <a:gd name="connsiteY50" fmla="*/ 1277 h 1378"/>
                <a:gd name="connsiteX51" fmla="*/ 876 w 2088"/>
                <a:gd name="connsiteY51" fmla="*/ 1352 h 1378"/>
                <a:gd name="connsiteX52" fmla="*/ 973 w 2088"/>
                <a:gd name="connsiteY52" fmla="*/ 1303 h 1378"/>
                <a:gd name="connsiteX53" fmla="*/ 1265 w 2088"/>
                <a:gd name="connsiteY53" fmla="*/ 1253 h 1378"/>
                <a:gd name="connsiteX54" fmla="*/ 1383 w 2088"/>
                <a:gd name="connsiteY54" fmla="*/ 1274 h 1378"/>
                <a:gd name="connsiteX55" fmla="*/ 1519 w 2088"/>
                <a:gd name="connsiteY55" fmla="*/ 1277 h 1378"/>
                <a:gd name="connsiteX56" fmla="*/ 1501 w 2088"/>
                <a:gd name="connsiteY56" fmla="*/ 1266 h 1378"/>
                <a:gd name="connsiteX57" fmla="*/ 1524 w 2088"/>
                <a:gd name="connsiteY57" fmla="*/ 1210 h 1378"/>
                <a:gd name="connsiteX58" fmla="*/ 1501 w 2088"/>
                <a:gd name="connsiteY58" fmla="*/ 1159 h 1378"/>
                <a:gd name="connsiteX59" fmla="*/ 1516 w 2088"/>
                <a:gd name="connsiteY59" fmla="*/ 1082 h 1378"/>
                <a:gd name="connsiteX60" fmla="*/ 1821 w 2088"/>
                <a:gd name="connsiteY60" fmla="*/ 1012 h 1378"/>
                <a:gd name="connsiteX61" fmla="*/ 1813 w 2088"/>
                <a:gd name="connsiteY61" fmla="*/ 891 h 1378"/>
                <a:gd name="connsiteX62" fmla="*/ 1899 w 2088"/>
                <a:gd name="connsiteY62" fmla="*/ 863 h 1378"/>
                <a:gd name="connsiteX63" fmla="*/ 1942 w 2088"/>
                <a:gd name="connsiteY63" fmla="*/ 795 h 1378"/>
                <a:gd name="connsiteX64" fmla="*/ 2051 w 2088"/>
                <a:gd name="connsiteY64" fmla="*/ 760 h 1378"/>
                <a:gd name="connsiteX65" fmla="*/ 2088 w 2088"/>
                <a:gd name="connsiteY65" fmla="*/ 696 h 1378"/>
                <a:gd name="connsiteX0" fmla="*/ 2088 w 2088"/>
                <a:gd name="connsiteY0" fmla="*/ 696 h 1377"/>
                <a:gd name="connsiteX1" fmla="*/ 2062 w 2088"/>
                <a:gd name="connsiteY1" fmla="*/ 621 h 1377"/>
                <a:gd name="connsiteX2" fmla="*/ 2032 w 2088"/>
                <a:gd name="connsiteY2" fmla="*/ 547 h 1377"/>
                <a:gd name="connsiteX3" fmla="*/ 1876 w 2088"/>
                <a:gd name="connsiteY3" fmla="*/ 478 h 1377"/>
                <a:gd name="connsiteX4" fmla="*/ 1769 w 2088"/>
                <a:gd name="connsiteY4" fmla="*/ 478 h 1377"/>
                <a:gd name="connsiteX5" fmla="*/ 1640 w 2088"/>
                <a:gd name="connsiteY5" fmla="*/ 437 h 1377"/>
                <a:gd name="connsiteX6" fmla="*/ 1685 w 2088"/>
                <a:gd name="connsiteY6" fmla="*/ 297 h 1377"/>
                <a:gd name="connsiteX7" fmla="*/ 1583 w 2088"/>
                <a:gd name="connsiteY7" fmla="*/ 154 h 1377"/>
                <a:gd name="connsiteX8" fmla="*/ 1513 w 2088"/>
                <a:gd name="connsiteY8" fmla="*/ 150 h 1377"/>
                <a:gd name="connsiteX9" fmla="*/ 1441 w 2088"/>
                <a:gd name="connsiteY9" fmla="*/ 66 h 1377"/>
                <a:gd name="connsiteX10" fmla="*/ 1433 w 2088"/>
                <a:gd name="connsiteY10" fmla="*/ 7 h 1377"/>
                <a:gd name="connsiteX11" fmla="*/ 1362 w 2088"/>
                <a:gd name="connsiteY11" fmla="*/ 0 h 1377"/>
                <a:gd name="connsiteX12" fmla="*/ 1335 w 2088"/>
                <a:gd name="connsiteY12" fmla="*/ 70 h 1377"/>
                <a:gd name="connsiteX13" fmla="*/ 1241 w 2088"/>
                <a:gd name="connsiteY13" fmla="*/ 88 h 1377"/>
                <a:gd name="connsiteX14" fmla="*/ 1246 w 2088"/>
                <a:gd name="connsiteY14" fmla="*/ 183 h 1377"/>
                <a:gd name="connsiteX15" fmla="*/ 1172 w 2088"/>
                <a:gd name="connsiteY15" fmla="*/ 227 h 1377"/>
                <a:gd name="connsiteX16" fmla="*/ 1117 w 2088"/>
                <a:gd name="connsiteY16" fmla="*/ 183 h 1377"/>
                <a:gd name="connsiteX17" fmla="*/ 1015 w 2088"/>
                <a:gd name="connsiteY17" fmla="*/ 169 h 1377"/>
                <a:gd name="connsiteX18" fmla="*/ 926 w 2088"/>
                <a:gd name="connsiteY18" fmla="*/ 316 h 1377"/>
                <a:gd name="connsiteX19" fmla="*/ 926 w 2088"/>
                <a:gd name="connsiteY19" fmla="*/ 353 h 1377"/>
                <a:gd name="connsiteX20" fmla="*/ 896 w 2088"/>
                <a:gd name="connsiteY20" fmla="*/ 363 h 1377"/>
                <a:gd name="connsiteX21" fmla="*/ 842 w 2088"/>
                <a:gd name="connsiteY21" fmla="*/ 331 h 1377"/>
                <a:gd name="connsiteX22" fmla="*/ 736 w 2088"/>
                <a:gd name="connsiteY22" fmla="*/ 327 h 1377"/>
                <a:gd name="connsiteX23" fmla="*/ 692 w 2088"/>
                <a:gd name="connsiteY23" fmla="*/ 363 h 1377"/>
                <a:gd name="connsiteX24" fmla="*/ 732 w 2088"/>
                <a:gd name="connsiteY24" fmla="*/ 386 h 1377"/>
                <a:gd name="connsiteX25" fmla="*/ 749 w 2088"/>
                <a:gd name="connsiteY25" fmla="*/ 539 h 1377"/>
                <a:gd name="connsiteX26" fmla="*/ 665 w 2088"/>
                <a:gd name="connsiteY26" fmla="*/ 581 h 1377"/>
                <a:gd name="connsiteX27" fmla="*/ 657 w 2088"/>
                <a:gd name="connsiteY27" fmla="*/ 643 h 1377"/>
                <a:gd name="connsiteX28" fmla="*/ 532 w 2088"/>
                <a:gd name="connsiteY28" fmla="*/ 668 h 1377"/>
                <a:gd name="connsiteX29" fmla="*/ 448 w 2088"/>
                <a:gd name="connsiteY29" fmla="*/ 702 h 1377"/>
                <a:gd name="connsiteX30" fmla="*/ 328 w 2088"/>
                <a:gd name="connsiteY30" fmla="*/ 695 h 1377"/>
                <a:gd name="connsiteX31" fmla="*/ 283 w 2088"/>
                <a:gd name="connsiteY31" fmla="*/ 745 h 1377"/>
                <a:gd name="connsiteX32" fmla="*/ 231 w 2088"/>
                <a:gd name="connsiteY32" fmla="*/ 735 h 1377"/>
                <a:gd name="connsiteX33" fmla="*/ 182 w 2088"/>
                <a:gd name="connsiteY33" fmla="*/ 705 h 1377"/>
                <a:gd name="connsiteX34" fmla="*/ 88 w 2088"/>
                <a:gd name="connsiteY34" fmla="*/ 735 h 1377"/>
                <a:gd name="connsiteX35" fmla="*/ 0 w 2088"/>
                <a:gd name="connsiteY35" fmla="*/ 793 h 1377"/>
                <a:gd name="connsiteX36" fmla="*/ 9 w 2088"/>
                <a:gd name="connsiteY36" fmla="*/ 892 h 1377"/>
                <a:gd name="connsiteX37" fmla="*/ 66 w 2088"/>
                <a:gd name="connsiteY37" fmla="*/ 903 h 1377"/>
                <a:gd name="connsiteX38" fmla="*/ 79 w 2088"/>
                <a:gd name="connsiteY38" fmla="*/ 1021 h 1377"/>
                <a:gd name="connsiteX39" fmla="*/ 27 w 2088"/>
                <a:gd name="connsiteY39" fmla="*/ 1021 h 1377"/>
                <a:gd name="connsiteX40" fmla="*/ 27 w 2088"/>
                <a:gd name="connsiteY40" fmla="*/ 1055 h 1377"/>
                <a:gd name="connsiteX41" fmla="*/ 124 w 2088"/>
                <a:gd name="connsiteY41" fmla="*/ 1106 h 1377"/>
                <a:gd name="connsiteX42" fmla="*/ 115 w 2088"/>
                <a:gd name="connsiteY42" fmla="*/ 1176 h 1377"/>
                <a:gd name="connsiteX43" fmla="*/ 277 w 2088"/>
                <a:gd name="connsiteY43" fmla="*/ 1248 h 1377"/>
                <a:gd name="connsiteX44" fmla="*/ 281 w 2088"/>
                <a:gd name="connsiteY44" fmla="*/ 1253 h 1377"/>
                <a:gd name="connsiteX45" fmla="*/ 286 w 2088"/>
                <a:gd name="connsiteY45" fmla="*/ 1320 h 1377"/>
                <a:gd name="connsiteX46" fmla="*/ 295 w 2088"/>
                <a:gd name="connsiteY46" fmla="*/ 1377 h 1377"/>
                <a:gd name="connsiteX47" fmla="*/ 371 w 2088"/>
                <a:gd name="connsiteY47" fmla="*/ 1325 h 1377"/>
                <a:gd name="connsiteX48" fmla="*/ 510 w 2088"/>
                <a:gd name="connsiteY48" fmla="*/ 1269 h 1377"/>
                <a:gd name="connsiteX49" fmla="*/ 669 w 2088"/>
                <a:gd name="connsiteY49" fmla="*/ 1301 h 1377"/>
                <a:gd name="connsiteX50" fmla="*/ 746 w 2088"/>
                <a:gd name="connsiteY50" fmla="*/ 1277 h 1377"/>
                <a:gd name="connsiteX51" fmla="*/ 876 w 2088"/>
                <a:gd name="connsiteY51" fmla="*/ 1352 h 1377"/>
                <a:gd name="connsiteX52" fmla="*/ 973 w 2088"/>
                <a:gd name="connsiteY52" fmla="*/ 1303 h 1377"/>
                <a:gd name="connsiteX53" fmla="*/ 1265 w 2088"/>
                <a:gd name="connsiteY53" fmla="*/ 1253 h 1377"/>
                <a:gd name="connsiteX54" fmla="*/ 1383 w 2088"/>
                <a:gd name="connsiteY54" fmla="*/ 1274 h 1377"/>
                <a:gd name="connsiteX55" fmla="*/ 1519 w 2088"/>
                <a:gd name="connsiteY55" fmla="*/ 1277 h 1377"/>
                <a:gd name="connsiteX56" fmla="*/ 1501 w 2088"/>
                <a:gd name="connsiteY56" fmla="*/ 1266 h 1377"/>
                <a:gd name="connsiteX57" fmla="*/ 1524 w 2088"/>
                <a:gd name="connsiteY57" fmla="*/ 1210 h 1377"/>
                <a:gd name="connsiteX58" fmla="*/ 1501 w 2088"/>
                <a:gd name="connsiteY58" fmla="*/ 1159 h 1377"/>
                <a:gd name="connsiteX59" fmla="*/ 1516 w 2088"/>
                <a:gd name="connsiteY59" fmla="*/ 1082 h 1377"/>
                <a:gd name="connsiteX60" fmla="*/ 1821 w 2088"/>
                <a:gd name="connsiteY60" fmla="*/ 1012 h 1377"/>
                <a:gd name="connsiteX61" fmla="*/ 1813 w 2088"/>
                <a:gd name="connsiteY61" fmla="*/ 891 h 1377"/>
                <a:gd name="connsiteX62" fmla="*/ 1899 w 2088"/>
                <a:gd name="connsiteY62" fmla="*/ 863 h 1377"/>
                <a:gd name="connsiteX63" fmla="*/ 1942 w 2088"/>
                <a:gd name="connsiteY63" fmla="*/ 795 h 1377"/>
                <a:gd name="connsiteX64" fmla="*/ 2051 w 2088"/>
                <a:gd name="connsiteY64" fmla="*/ 760 h 1377"/>
                <a:gd name="connsiteX65" fmla="*/ 2088 w 2088"/>
                <a:gd name="connsiteY65" fmla="*/ 696 h 1377"/>
                <a:gd name="connsiteX0" fmla="*/ 2088 w 2088"/>
                <a:gd name="connsiteY0" fmla="*/ 696 h 1352"/>
                <a:gd name="connsiteX1" fmla="*/ 2062 w 2088"/>
                <a:gd name="connsiteY1" fmla="*/ 621 h 1352"/>
                <a:gd name="connsiteX2" fmla="*/ 2032 w 2088"/>
                <a:gd name="connsiteY2" fmla="*/ 547 h 1352"/>
                <a:gd name="connsiteX3" fmla="*/ 1876 w 2088"/>
                <a:gd name="connsiteY3" fmla="*/ 478 h 1352"/>
                <a:gd name="connsiteX4" fmla="*/ 1769 w 2088"/>
                <a:gd name="connsiteY4" fmla="*/ 478 h 1352"/>
                <a:gd name="connsiteX5" fmla="*/ 1640 w 2088"/>
                <a:gd name="connsiteY5" fmla="*/ 437 h 1352"/>
                <a:gd name="connsiteX6" fmla="*/ 1685 w 2088"/>
                <a:gd name="connsiteY6" fmla="*/ 297 h 1352"/>
                <a:gd name="connsiteX7" fmla="*/ 1583 w 2088"/>
                <a:gd name="connsiteY7" fmla="*/ 154 h 1352"/>
                <a:gd name="connsiteX8" fmla="*/ 1513 w 2088"/>
                <a:gd name="connsiteY8" fmla="*/ 150 h 1352"/>
                <a:gd name="connsiteX9" fmla="*/ 1441 w 2088"/>
                <a:gd name="connsiteY9" fmla="*/ 66 h 1352"/>
                <a:gd name="connsiteX10" fmla="*/ 1433 w 2088"/>
                <a:gd name="connsiteY10" fmla="*/ 7 h 1352"/>
                <a:gd name="connsiteX11" fmla="*/ 1362 w 2088"/>
                <a:gd name="connsiteY11" fmla="*/ 0 h 1352"/>
                <a:gd name="connsiteX12" fmla="*/ 1335 w 2088"/>
                <a:gd name="connsiteY12" fmla="*/ 70 h 1352"/>
                <a:gd name="connsiteX13" fmla="*/ 1241 w 2088"/>
                <a:gd name="connsiteY13" fmla="*/ 88 h 1352"/>
                <a:gd name="connsiteX14" fmla="*/ 1246 w 2088"/>
                <a:gd name="connsiteY14" fmla="*/ 183 h 1352"/>
                <a:gd name="connsiteX15" fmla="*/ 1172 w 2088"/>
                <a:gd name="connsiteY15" fmla="*/ 227 h 1352"/>
                <a:gd name="connsiteX16" fmla="*/ 1117 w 2088"/>
                <a:gd name="connsiteY16" fmla="*/ 183 h 1352"/>
                <a:gd name="connsiteX17" fmla="*/ 1015 w 2088"/>
                <a:gd name="connsiteY17" fmla="*/ 169 h 1352"/>
                <a:gd name="connsiteX18" fmla="*/ 926 w 2088"/>
                <a:gd name="connsiteY18" fmla="*/ 316 h 1352"/>
                <a:gd name="connsiteX19" fmla="*/ 926 w 2088"/>
                <a:gd name="connsiteY19" fmla="*/ 353 h 1352"/>
                <a:gd name="connsiteX20" fmla="*/ 896 w 2088"/>
                <a:gd name="connsiteY20" fmla="*/ 363 h 1352"/>
                <a:gd name="connsiteX21" fmla="*/ 842 w 2088"/>
                <a:gd name="connsiteY21" fmla="*/ 331 h 1352"/>
                <a:gd name="connsiteX22" fmla="*/ 736 w 2088"/>
                <a:gd name="connsiteY22" fmla="*/ 327 h 1352"/>
                <a:gd name="connsiteX23" fmla="*/ 692 w 2088"/>
                <a:gd name="connsiteY23" fmla="*/ 363 h 1352"/>
                <a:gd name="connsiteX24" fmla="*/ 732 w 2088"/>
                <a:gd name="connsiteY24" fmla="*/ 386 h 1352"/>
                <a:gd name="connsiteX25" fmla="*/ 749 w 2088"/>
                <a:gd name="connsiteY25" fmla="*/ 539 h 1352"/>
                <a:gd name="connsiteX26" fmla="*/ 665 w 2088"/>
                <a:gd name="connsiteY26" fmla="*/ 581 h 1352"/>
                <a:gd name="connsiteX27" fmla="*/ 657 w 2088"/>
                <a:gd name="connsiteY27" fmla="*/ 643 h 1352"/>
                <a:gd name="connsiteX28" fmla="*/ 532 w 2088"/>
                <a:gd name="connsiteY28" fmla="*/ 668 h 1352"/>
                <a:gd name="connsiteX29" fmla="*/ 448 w 2088"/>
                <a:gd name="connsiteY29" fmla="*/ 702 h 1352"/>
                <a:gd name="connsiteX30" fmla="*/ 328 w 2088"/>
                <a:gd name="connsiteY30" fmla="*/ 695 h 1352"/>
                <a:gd name="connsiteX31" fmla="*/ 283 w 2088"/>
                <a:gd name="connsiteY31" fmla="*/ 745 h 1352"/>
                <a:gd name="connsiteX32" fmla="*/ 231 w 2088"/>
                <a:gd name="connsiteY32" fmla="*/ 735 h 1352"/>
                <a:gd name="connsiteX33" fmla="*/ 182 w 2088"/>
                <a:gd name="connsiteY33" fmla="*/ 705 h 1352"/>
                <a:gd name="connsiteX34" fmla="*/ 88 w 2088"/>
                <a:gd name="connsiteY34" fmla="*/ 735 h 1352"/>
                <a:gd name="connsiteX35" fmla="*/ 0 w 2088"/>
                <a:gd name="connsiteY35" fmla="*/ 793 h 1352"/>
                <a:gd name="connsiteX36" fmla="*/ 9 w 2088"/>
                <a:gd name="connsiteY36" fmla="*/ 892 h 1352"/>
                <a:gd name="connsiteX37" fmla="*/ 66 w 2088"/>
                <a:gd name="connsiteY37" fmla="*/ 903 h 1352"/>
                <a:gd name="connsiteX38" fmla="*/ 79 w 2088"/>
                <a:gd name="connsiteY38" fmla="*/ 1021 h 1352"/>
                <a:gd name="connsiteX39" fmla="*/ 27 w 2088"/>
                <a:gd name="connsiteY39" fmla="*/ 1021 h 1352"/>
                <a:gd name="connsiteX40" fmla="*/ 27 w 2088"/>
                <a:gd name="connsiteY40" fmla="*/ 1055 h 1352"/>
                <a:gd name="connsiteX41" fmla="*/ 124 w 2088"/>
                <a:gd name="connsiteY41" fmla="*/ 1106 h 1352"/>
                <a:gd name="connsiteX42" fmla="*/ 115 w 2088"/>
                <a:gd name="connsiteY42" fmla="*/ 1176 h 1352"/>
                <a:gd name="connsiteX43" fmla="*/ 277 w 2088"/>
                <a:gd name="connsiteY43" fmla="*/ 1248 h 1352"/>
                <a:gd name="connsiteX44" fmla="*/ 281 w 2088"/>
                <a:gd name="connsiteY44" fmla="*/ 1253 h 1352"/>
                <a:gd name="connsiteX45" fmla="*/ 286 w 2088"/>
                <a:gd name="connsiteY45" fmla="*/ 1320 h 1352"/>
                <a:gd name="connsiteX46" fmla="*/ 295 w 2088"/>
                <a:gd name="connsiteY46" fmla="*/ 1327 h 1352"/>
                <a:gd name="connsiteX47" fmla="*/ 371 w 2088"/>
                <a:gd name="connsiteY47" fmla="*/ 1325 h 1352"/>
                <a:gd name="connsiteX48" fmla="*/ 510 w 2088"/>
                <a:gd name="connsiteY48" fmla="*/ 1269 h 1352"/>
                <a:gd name="connsiteX49" fmla="*/ 669 w 2088"/>
                <a:gd name="connsiteY49" fmla="*/ 1301 h 1352"/>
                <a:gd name="connsiteX50" fmla="*/ 746 w 2088"/>
                <a:gd name="connsiteY50" fmla="*/ 1277 h 1352"/>
                <a:gd name="connsiteX51" fmla="*/ 876 w 2088"/>
                <a:gd name="connsiteY51" fmla="*/ 1352 h 1352"/>
                <a:gd name="connsiteX52" fmla="*/ 973 w 2088"/>
                <a:gd name="connsiteY52" fmla="*/ 1303 h 1352"/>
                <a:gd name="connsiteX53" fmla="*/ 1265 w 2088"/>
                <a:gd name="connsiteY53" fmla="*/ 1253 h 1352"/>
                <a:gd name="connsiteX54" fmla="*/ 1383 w 2088"/>
                <a:gd name="connsiteY54" fmla="*/ 1274 h 1352"/>
                <a:gd name="connsiteX55" fmla="*/ 1519 w 2088"/>
                <a:gd name="connsiteY55" fmla="*/ 1277 h 1352"/>
                <a:gd name="connsiteX56" fmla="*/ 1501 w 2088"/>
                <a:gd name="connsiteY56" fmla="*/ 1266 h 1352"/>
                <a:gd name="connsiteX57" fmla="*/ 1524 w 2088"/>
                <a:gd name="connsiteY57" fmla="*/ 1210 h 1352"/>
                <a:gd name="connsiteX58" fmla="*/ 1501 w 2088"/>
                <a:gd name="connsiteY58" fmla="*/ 1159 h 1352"/>
                <a:gd name="connsiteX59" fmla="*/ 1516 w 2088"/>
                <a:gd name="connsiteY59" fmla="*/ 1082 h 1352"/>
                <a:gd name="connsiteX60" fmla="*/ 1821 w 2088"/>
                <a:gd name="connsiteY60" fmla="*/ 1012 h 1352"/>
                <a:gd name="connsiteX61" fmla="*/ 1813 w 2088"/>
                <a:gd name="connsiteY61" fmla="*/ 891 h 1352"/>
                <a:gd name="connsiteX62" fmla="*/ 1899 w 2088"/>
                <a:gd name="connsiteY62" fmla="*/ 863 h 1352"/>
                <a:gd name="connsiteX63" fmla="*/ 1942 w 2088"/>
                <a:gd name="connsiteY63" fmla="*/ 795 h 1352"/>
                <a:gd name="connsiteX64" fmla="*/ 2051 w 2088"/>
                <a:gd name="connsiteY64" fmla="*/ 760 h 1352"/>
                <a:gd name="connsiteX65" fmla="*/ 2088 w 2088"/>
                <a:gd name="connsiteY65" fmla="*/ 696 h 1352"/>
                <a:gd name="connsiteX0" fmla="*/ 2088 w 2088"/>
                <a:gd name="connsiteY0" fmla="*/ 696 h 1352"/>
                <a:gd name="connsiteX1" fmla="*/ 2062 w 2088"/>
                <a:gd name="connsiteY1" fmla="*/ 621 h 1352"/>
                <a:gd name="connsiteX2" fmla="*/ 2032 w 2088"/>
                <a:gd name="connsiteY2" fmla="*/ 547 h 1352"/>
                <a:gd name="connsiteX3" fmla="*/ 1876 w 2088"/>
                <a:gd name="connsiteY3" fmla="*/ 478 h 1352"/>
                <a:gd name="connsiteX4" fmla="*/ 1769 w 2088"/>
                <a:gd name="connsiteY4" fmla="*/ 478 h 1352"/>
                <a:gd name="connsiteX5" fmla="*/ 1640 w 2088"/>
                <a:gd name="connsiteY5" fmla="*/ 437 h 1352"/>
                <a:gd name="connsiteX6" fmla="*/ 1685 w 2088"/>
                <a:gd name="connsiteY6" fmla="*/ 297 h 1352"/>
                <a:gd name="connsiteX7" fmla="*/ 1583 w 2088"/>
                <a:gd name="connsiteY7" fmla="*/ 154 h 1352"/>
                <a:gd name="connsiteX8" fmla="*/ 1513 w 2088"/>
                <a:gd name="connsiteY8" fmla="*/ 150 h 1352"/>
                <a:gd name="connsiteX9" fmla="*/ 1441 w 2088"/>
                <a:gd name="connsiteY9" fmla="*/ 66 h 1352"/>
                <a:gd name="connsiteX10" fmla="*/ 1433 w 2088"/>
                <a:gd name="connsiteY10" fmla="*/ 7 h 1352"/>
                <a:gd name="connsiteX11" fmla="*/ 1362 w 2088"/>
                <a:gd name="connsiteY11" fmla="*/ 0 h 1352"/>
                <a:gd name="connsiteX12" fmla="*/ 1335 w 2088"/>
                <a:gd name="connsiteY12" fmla="*/ 70 h 1352"/>
                <a:gd name="connsiteX13" fmla="*/ 1241 w 2088"/>
                <a:gd name="connsiteY13" fmla="*/ 88 h 1352"/>
                <a:gd name="connsiteX14" fmla="*/ 1246 w 2088"/>
                <a:gd name="connsiteY14" fmla="*/ 183 h 1352"/>
                <a:gd name="connsiteX15" fmla="*/ 1172 w 2088"/>
                <a:gd name="connsiteY15" fmla="*/ 227 h 1352"/>
                <a:gd name="connsiteX16" fmla="*/ 1117 w 2088"/>
                <a:gd name="connsiteY16" fmla="*/ 183 h 1352"/>
                <a:gd name="connsiteX17" fmla="*/ 1015 w 2088"/>
                <a:gd name="connsiteY17" fmla="*/ 169 h 1352"/>
                <a:gd name="connsiteX18" fmla="*/ 926 w 2088"/>
                <a:gd name="connsiteY18" fmla="*/ 316 h 1352"/>
                <a:gd name="connsiteX19" fmla="*/ 926 w 2088"/>
                <a:gd name="connsiteY19" fmla="*/ 353 h 1352"/>
                <a:gd name="connsiteX20" fmla="*/ 896 w 2088"/>
                <a:gd name="connsiteY20" fmla="*/ 363 h 1352"/>
                <a:gd name="connsiteX21" fmla="*/ 842 w 2088"/>
                <a:gd name="connsiteY21" fmla="*/ 331 h 1352"/>
                <a:gd name="connsiteX22" fmla="*/ 736 w 2088"/>
                <a:gd name="connsiteY22" fmla="*/ 327 h 1352"/>
                <a:gd name="connsiteX23" fmla="*/ 692 w 2088"/>
                <a:gd name="connsiteY23" fmla="*/ 363 h 1352"/>
                <a:gd name="connsiteX24" fmla="*/ 732 w 2088"/>
                <a:gd name="connsiteY24" fmla="*/ 386 h 1352"/>
                <a:gd name="connsiteX25" fmla="*/ 749 w 2088"/>
                <a:gd name="connsiteY25" fmla="*/ 539 h 1352"/>
                <a:gd name="connsiteX26" fmla="*/ 665 w 2088"/>
                <a:gd name="connsiteY26" fmla="*/ 581 h 1352"/>
                <a:gd name="connsiteX27" fmla="*/ 657 w 2088"/>
                <a:gd name="connsiteY27" fmla="*/ 643 h 1352"/>
                <a:gd name="connsiteX28" fmla="*/ 532 w 2088"/>
                <a:gd name="connsiteY28" fmla="*/ 668 h 1352"/>
                <a:gd name="connsiteX29" fmla="*/ 448 w 2088"/>
                <a:gd name="connsiteY29" fmla="*/ 702 h 1352"/>
                <a:gd name="connsiteX30" fmla="*/ 328 w 2088"/>
                <a:gd name="connsiteY30" fmla="*/ 695 h 1352"/>
                <a:gd name="connsiteX31" fmla="*/ 283 w 2088"/>
                <a:gd name="connsiteY31" fmla="*/ 745 h 1352"/>
                <a:gd name="connsiteX32" fmla="*/ 231 w 2088"/>
                <a:gd name="connsiteY32" fmla="*/ 735 h 1352"/>
                <a:gd name="connsiteX33" fmla="*/ 182 w 2088"/>
                <a:gd name="connsiteY33" fmla="*/ 705 h 1352"/>
                <a:gd name="connsiteX34" fmla="*/ 88 w 2088"/>
                <a:gd name="connsiteY34" fmla="*/ 735 h 1352"/>
                <a:gd name="connsiteX35" fmla="*/ 0 w 2088"/>
                <a:gd name="connsiteY35" fmla="*/ 793 h 1352"/>
                <a:gd name="connsiteX36" fmla="*/ 9 w 2088"/>
                <a:gd name="connsiteY36" fmla="*/ 892 h 1352"/>
                <a:gd name="connsiteX37" fmla="*/ 66 w 2088"/>
                <a:gd name="connsiteY37" fmla="*/ 903 h 1352"/>
                <a:gd name="connsiteX38" fmla="*/ 79 w 2088"/>
                <a:gd name="connsiteY38" fmla="*/ 1021 h 1352"/>
                <a:gd name="connsiteX39" fmla="*/ 27 w 2088"/>
                <a:gd name="connsiteY39" fmla="*/ 1021 h 1352"/>
                <a:gd name="connsiteX40" fmla="*/ 27 w 2088"/>
                <a:gd name="connsiteY40" fmla="*/ 1055 h 1352"/>
                <a:gd name="connsiteX41" fmla="*/ 124 w 2088"/>
                <a:gd name="connsiteY41" fmla="*/ 1106 h 1352"/>
                <a:gd name="connsiteX42" fmla="*/ 115 w 2088"/>
                <a:gd name="connsiteY42" fmla="*/ 1176 h 1352"/>
                <a:gd name="connsiteX43" fmla="*/ 277 w 2088"/>
                <a:gd name="connsiteY43" fmla="*/ 1248 h 1352"/>
                <a:gd name="connsiteX44" fmla="*/ 281 w 2088"/>
                <a:gd name="connsiteY44" fmla="*/ 1253 h 1352"/>
                <a:gd name="connsiteX45" fmla="*/ 286 w 2088"/>
                <a:gd name="connsiteY45" fmla="*/ 1320 h 1352"/>
                <a:gd name="connsiteX46" fmla="*/ 295 w 2088"/>
                <a:gd name="connsiteY46" fmla="*/ 1327 h 1352"/>
                <a:gd name="connsiteX47" fmla="*/ 371 w 2088"/>
                <a:gd name="connsiteY47" fmla="*/ 1325 h 1352"/>
                <a:gd name="connsiteX48" fmla="*/ 510 w 2088"/>
                <a:gd name="connsiteY48" fmla="*/ 1269 h 1352"/>
                <a:gd name="connsiteX49" fmla="*/ 669 w 2088"/>
                <a:gd name="connsiteY49" fmla="*/ 1301 h 1352"/>
                <a:gd name="connsiteX50" fmla="*/ 746 w 2088"/>
                <a:gd name="connsiteY50" fmla="*/ 1277 h 1352"/>
                <a:gd name="connsiteX51" fmla="*/ 876 w 2088"/>
                <a:gd name="connsiteY51" fmla="*/ 1352 h 1352"/>
                <a:gd name="connsiteX52" fmla="*/ 973 w 2088"/>
                <a:gd name="connsiteY52" fmla="*/ 1303 h 1352"/>
                <a:gd name="connsiteX53" fmla="*/ 1265 w 2088"/>
                <a:gd name="connsiteY53" fmla="*/ 1253 h 1352"/>
                <a:gd name="connsiteX54" fmla="*/ 1383 w 2088"/>
                <a:gd name="connsiteY54" fmla="*/ 1274 h 1352"/>
                <a:gd name="connsiteX55" fmla="*/ 1519 w 2088"/>
                <a:gd name="connsiteY55" fmla="*/ 1277 h 1352"/>
                <a:gd name="connsiteX56" fmla="*/ 1501 w 2088"/>
                <a:gd name="connsiteY56" fmla="*/ 1266 h 1352"/>
                <a:gd name="connsiteX57" fmla="*/ 1524 w 2088"/>
                <a:gd name="connsiteY57" fmla="*/ 1210 h 1352"/>
                <a:gd name="connsiteX58" fmla="*/ 1501 w 2088"/>
                <a:gd name="connsiteY58" fmla="*/ 1159 h 1352"/>
                <a:gd name="connsiteX59" fmla="*/ 1516 w 2088"/>
                <a:gd name="connsiteY59" fmla="*/ 1082 h 1352"/>
                <a:gd name="connsiteX60" fmla="*/ 1821 w 2088"/>
                <a:gd name="connsiteY60" fmla="*/ 1012 h 1352"/>
                <a:gd name="connsiteX61" fmla="*/ 1813 w 2088"/>
                <a:gd name="connsiteY61" fmla="*/ 891 h 1352"/>
                <a:gd name="connsiteX62" fmla="*/ 1899 w 2088"/>
                <a:gd name="connsiteY62" fmla="*/ 863 h 1352"/>
                <a:gd name="connsiteX63" fmla="*/ 1942 w 2088"/>
                <a:gd name="connsiteY63" fmla="*/ 795 h 1352"/>
                <a:gd name="connsiteX64" fmla="*/ 2051 w 2088"/>
                <a:gd name="connsiteY64" fmla="*/ 760 h 1352"/>
                <a:gd name="connsiteX65" fmla="*/ 2088 w 2088"/>
                <a:gd name="connsiteY65" fmla="*/ 696 h 1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2088" h="1352">
                  <a:moveTo>
                    <a:pt x="2088" y="696"/>
                  </a:moveTo>
                  <a:cubicBezTo>
                    <a:pt x="2079" y="671"/>
                    <a:pt x="2071" y="646"/>
                    <a:pt x="2062" y="621"/>
                  </a:cubicBezTo>
                  <a:cubicBezTo>
                    <a:pt x="2052" y="596"/>
                    <a:pt x="2042" y="572"/>
                    <a:pt x="2032" y="547"/>
                  </a:cubicBezTo>
                  <a:lnTo>
                    <a:pt x="1876" y="478"/>
                  </a:lnTo>
                  <a:lnTo>
                    <a:pt x="1769" y="478"/>
                  </a:lnTo>
                  <a:lnTo>
                    <a:pt x="1640" y="437"/>
                  </a:lnTo>
                  <a:cubicBezTo>
                    <a:pt x="1655" y="390"/>
                    <a:pt x="1670" y="344"/>
                    <a:pt x="1685" y="297"/>
                  </a:cubicBezTo>
                  <a:lnTo>
                    <a:pt x="1583" y="154"/>
                  </a:lnTo>
                  <a:cubicBezTo>
                    <a:pt x="1560" y="153"/>
                    <a:pt x="1536" y="151"/>
                    <a:pt x="1513" y="150"/>
                  </a:cubicBezTo>
                  <a:lnTo>
                    <a:pt x="1441" y="66"/>
                  </a:lnTo>
                  <a:cubicBezTo>
                    <a:pt x="1438" y="46"/>
                    <a:pt x="1436" y="27"/>
                    <a:pt x="1433" y="7"/>
                  </a:cubicBezTo>
                  <a:cubicBezTo>
                    <a:pt x="1409" y="5"/>
                    <a:pt x="1386" y="2"/>
                    <a:pt x="1362" y="0"/>
                  </a:cubicBezTo>
                  <a:cubicBezTo>
                    <a:pt x="1353" y="23"/>
                    <a:pt x="1344" y="47"/>
                    <a:pt x="1335" y="70"/>
                  </a:cubicBezTo>
                  <a:lnTo>
                    <a:pt x="1241" y="88"/>
                  </a:lnTo>
                  <a:cubicBezTo>
                    <a:pt x="1243" y="120"/>
                    <a:pt x="1244" y="151"/>
                    <a:pt x="1246" y="183"/>
                  </a:cubicBezTo>
                  <a:lnTo>
                    <a:pt x="1172" y="227"/>
                  </a:lnTo>
                  <a:cubicBezTo>
                    <a:pt x="1154" y="212"/>
                    <a:pt x="1135" y="198"/>
                    <a:pt x="1117" y="183"/>
                  </a:cubicBezTo>
                  <a:lnTo>
                    <a:pt x="1015" y="169"/>
                  </a:lnTo>
                  <a:cubicBezTo>
                    <a:pt x="985" y="218"/>
                    <a:pt x="956" y="267"/>
                    <a:pt x="926" y="316"/>
                  </a:cubicBezTo>
                  <a:lnTo>
                    <a:pt x="926" y="353"/>
                  </a:lnTo>
                  <a:cubicBezTo>
                    <a:pt x="916" y="356"/>
                    <a:pt x="906" y="360"/>
                    <a:pt x="896" y="363"/>
                  </a:cubicBezTo>
                  <a:cubicBezTo>
                    <a:pt x="878" y="352"/>
                    <a:pt x="860" y="342"/>
                    <a:pt x="842" y="331"/>
                  </a:cubicBezTo>
                  <a:lnTo>
                    <a:pt x="736" y="327"/>
                  </a:lnTo>
                  <a:cubicBezTo>
                    <a:pt x="721" y="339"/>
                    <a:pt x="707" y="351"/>
                    <a:pt x="692" y="363"/>
                  </a:cubicBezTo>
                  <a:cubicBezTo>
                    <a:pt x="705" y="371"/>
                    <a:pt x="719" y="378"/>
                    <a:pt x="732" y="386"/>
                  </a:cubicBezTo>
                  <a:cubicBezTo>
                    <a:pt x="738" y="437"/>
                    <a:pt x="743" y="488"/>
                    <a:pt x="749" y="539"/>
                  </a:cubicBezTo>
                  <a:lnTo>
                    <a:pt x="665" y="581"/>
                  </a:lnTo>
                  <a:cubicBezTo>
                    <a:pt x="662" y="602"/>
                    <a:pt x="660" y="622"/>
                    <a:pt x="657" y="643"/>
                  </a:cubicBezTo>
                  <a:lnTo>
                    <a:pt x="532" y="668"/>
                  </a:lnTo>
                  <a:cubicBezTo>
                    <a:pt x="504" y="679"/>
                    <a:pt x="476" y="691"/>
                    <a:pt x="448" y="702"/>
                  </a:cubicBezTo>
                  <a:lnTo>
                    <a:pt x="328" y="695"/>
                  </a:lnTo>
                  <a:cubicBezTo>
                    <a:pt x="313" y="712"/>
                    <a:pt x="298" y="728"/>
                    <a:pt x="283" y="745"/>
                  </a:cubicBezTo>
                  <a:cubicBezTo>
                    <a:pt x="266" y="742"/>
                    <a:pt x="248" y="738"/>
                    <a:pt x="231" y="735"/>
                  </a:cubicBezTo>
                  <a:cubicBezTo>
                    <a:pt x="215" y="725"/>
                    <a:pt x="198" y="715"/>
                    <a:pt x="182" y="705"/>
                  </a:cubicBezTo>
                  <a:lnTo>
                    <a:pt x="88" y="735"/>
                  </a:lnTo>
                  <a:lnTo>
                    <a:pt x="0" y="793"/>
                  </a:lnTo>
                  <a:lnTo>
                    <a:pt x="9" y="892"/>
                  </a:lnTo>
                  <a:cubicBezTo>
                    <a:pt x="28" y="896"/>
                    <a:pt x="47" y="899"/>
                    <a:pt x="66" y="903"/>
                  </a:cubicBezTo>
                  <a:cubicBezTo>
                    <a:pt x="70" y="942"/>
                    <a:pt x="75" y="982"/>
                    <a:pt x="79" y="1021"/>
                  </a:cubicBezTo>
                  <a:lnTo>
                    <a:pt x="27" y="1021"/>
                  </a:lnTo>
                  <a:lnTo>
                    <a:pt x="27" y="1055"/>
                  </a:lnTo>
                  <a:lnTo>
                    <a:pt x="124" y="1106"/>
                  </a:lnTo>
                  <a:cubicBezTo>
                    <a:pt x="121" y="1129"/>
                    <a:pt x="118" y="1153"/>
                    <a:pt x="115" y="1176"/>
                  </a:cubicBezTo>
                  <a:lnTo>
                    <a:pt x="277" y="1248"/>
                  </a:lnTo>
                  <a:cubicBezTo>
                    <a:pt x="278" y="1250"/>
                    <a:pt x="280" y="1251"/>
                    <a:pt x="281" y="1253"/>
                  </a:cubicBezTo>
                  <a:cubicBezTo>
                    <a:pt x="283" y="1275"/>
                    <a:pt x="284" y="1298"/>
                    <a:pt x="286" y="1320"/>
                  </a:cubicBezTo>
                  <a:cubicBezTo>
                    <a:pt x="288" y="1332"/>
                    <a:pt x="313" y="1276"/>
                    <a:pt x="295" y="1327"/>
                  </a:cubicBezTo>
                  <a:cubicBezTo>
                    <a:pt x="321" y="1316"/>
                    <a:pt x="335" y="1335"/>
                    <a:pt x="371" y="1325"/>
                  </a:cubicBezTo>
                  <a:cubicBezTo>
                    <a:pt x="404" y="1306"/>
                    <a:pt x="477" y="1288"/>
                    <a:pt x="510" y="1269"/>
                  </a:cubicBezTo>
                  <a:lnTo>
                    <a:pt x="669" y="1301"/>
                  </a:lnTo>
                  <a:lnTo>
                    <a:pt x="746" y="1277"/>
                  </a:lnTo>
                  <a:lnTo>
                    <a:pt x="876" y="1352"/>
                  </a:lnTo>
                  <a:lnTo>
                    <a:pt x="973" y="1303"/>
                  </a:lnTo>
                  <a:lnTo>
                    <a:pt x="1265" y="1253"/>
                  </a:lnTo>
                  <a:lnTo>
                    <a:pt x="1383" y="1274"/>
                  </a:lnTo>
                  <a:cubicBezTo>
                    <a:pt x="1428" y="1292"/>
                    <a:pt x="1474" y="1259"/>
                    <a:pt x="1519" y="1277"/>
                  </a:cubicBezTo>
                  <a:cubicBezTo>
                    <a:pt x="1469" y="1235"/>
                    <a:pt x="1494" y="1286"/>
                    <a:pt x="1501" y="1266"/>
                  </a:cubicBezTo>
                  <a:cubicBezTo>
                    <a:pt x="1509" y="1247"/>
                    <a:pt x="1516" y="1229"/>
                    <a:pt x="1524" y="1210"/>
                  </a:cubicBezTo>
                  <a:cubicBezTo>
                    <a:pt x="1516" y="1193"/>
                    <a:pt x="1509" y="1176"/>
                    <a:pt x="1501" y="1159"/>
                  </a:cubicBezTo>
                  <a:cubicBezTo>
                    <a:pt x="1506" y="1133"/>
                    <a:pt x="1511" y="1108"/>
                    <a:pt x="1516" y="1082"/>
                  </a:cubicBezTo>
                  <a:lnTo>
                    <a:pt x="1821" y="1012"/>
                  </a:lnTo>
                  <a:cubicBezTo>
                    <a:pt x="1818" y="972"/>
                    <a:pt x="1816" y="931"/>
                    <a:pt x="1813" y="891"/>
                  </a:cubicBezTo>
                  <a:cubicBezTo>
                    <a:pt x="1842" y="882"/>
                    <a:pt x="1870" y="872"/>
                    <a:pt x="1899" y="863"/>
                  </a:cubicBezTo>
                  <a:cubicBezTo>
                    <a:pt x="1913" y="840"/>
                    <a:pt x="1928" y="818"/>
                    <a:pt x="1942" y="795"/>
                  </a:cubicBezTo>
                  <a:cubicBezTo>
                    <a:pt x="1978" y="783"/>
                    <a:pt x="2015" y="772"/>
                    <a:pt x="2051" y="760"/>
                  </a:cubicBezTo>
                  <a:cubicBezTo>
                    <a:pt x="2063" y="739"/>
                    <a:pt x="2076" y="717"/>
                    <a:pt x="2088" y="696"/>
                  </a:cubicBez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11" name="Freeform 11"/>
            <p:cNvSpPr>
              <a:spLocks/>
            </p:cNvSpPr>
            <p:nvPr/>
          </p:nvSpPr>
          <p:spPr bwMode="gray">
            <a:xfrm>
              <a:off x="4519944" y="3882954"/>
              <a:ext cx="1685868" cy="952830"/>
            </a:xfrm>
            <a:custGeom>
              <a:avLst/>
              <a:gdLst/>
              <a:ahLst/>
              <a:cxnLst>
                <a:cxn ang="0">
                  <a:pos x="2111" y="812"/>
                </a:cxn>
                <a:cxn ang="0">
                  <a:pos x="2093" y="659"/>
                </a:cxn>
                <a:cxn ang="0">
                  <a:pos x="1983" y="441"/>
                </a:cxn>
                <a:cxn ang="0">
                  <a:pos x="1879" y="430"/>
                </a:cxn>
                <a:cxn ang="0">
                  <a:pos x="1849" y="500"/>
                </a:cxn>
                <a:cxn ang="0">
                  <a:pos x="1727" y="494"/>
                </a:cxn>
                <a:cxn ang="0">
                  <a:pos x="1662" y="414"/>
                </a:cxn>
                <a:cxn ang="0">
                  <a:pos x="1475" y="397"/>
                </a:cxn>
                <a:cxn ang="0">
                  <a:pos x="1235" y="327"/>
                </a:cxn>
                <a:cxn ang="0">
                  <a:pos x="1167" y="191"/>
                </a:cxn>
                <a:cxn ang="0">
                  <a:pos x="1203" y="170"/>
                </a:cxn>
                <a:cxn ang="0">
                  <a:pos x="1217" y="96"/>
                </a:cxn>
                <a:cxn ang="0">
                  <a:pos x="1185" y="24"/>
                </a:cxn>
                <a:cxn ang="0">
                  <a:pos x="1064" y="5"/>
                </a:cxn>
                <a:cxn ang="0">
                  <a:pos x="775" y="57"/>
                </a:cxn>
                <a:cxn ang="0">
                  <a:pos x="684" y="104"/>
                </a:cxn>
                <a:cxn ang="0">
                  <a:pos x="554" y="32"/>
                </a:cxn>
                <a:cxn ang="0">
                  <a:pos x="403" y="43"/>
                </a:cxn>
                <a:cxn ang="0">
                  <a:pos x="288" y="0"/>
                </a:cxn>
                <a:cxn ang="0">
                  <a:pos x="173" y="91"/>
                </a:cxn>
                <a:cxn ang="0">
                  <a:pos x="91" y="83"/>
                </a:cxn>
                <a:cxn ang="0">
                  <a:pos x="88" y="157"/>
                </a:cxn>
                <a:cxn ang="0">
                  <a:pos x="115" y="240"/>
                </a:cxn>
                <a:cxn ang="0">
                  <a:pos x="82" y="264"/>
                </a:cxn>
                <a:cxn ang="0">
                  <a:pos x="34" y="211"/>
                </a:cxn>
                <a:cxn ang="0">
                  <a:pos x="0" y="245"/>
                </a:cxn>
                <a:cxn ang="0">
                  <a:pos x="24" y="303"/>
                </a:cxn>
                <a:cxn ang="0">
                  <a:pos x="22" y="381"/>
                </a:cxn>
                <a:cxn ang="0">
                  <a:pos x="93" y="414"/>
                </a:cxn>
                <a:cxn ang="0">
                  <a:pos x="159" y="484"/>
                </a:cxn>
                <a:cxn ang="0">
                  <a:pos x="235" y="499"/>
                </a:cxn>
                <a:cxn ang="0">
                  <a:pos x="270" y="528"/>
                </a:cxn>
                <a:cxn ang="0">
                  <a:pos x="292" y="513"/>
                </a:cxn>
                <a:cxn ang="0">
                  <a:pos x="448" y="616"/>
                </a:cxn>
                <a:cxn ang="0">
                  <a:pos x="470" y="671"/>
                </a:cxn>
                <a:cxn ang="0">
                  <a:pos x="514" y="646"/>
                </a:cxn>
                <a:cxn ang="0">
                  <a:pos x="523" y="712"/>
                </a:cxn>
                <a:cxn ang="0">
                  <a:pos x="621" y="730"/>
                </a:cxn>
                <a:cxn ang="0">
                  <a:pos x="696" y="807"/>
                </a:cxn>
                <a:cxn ang="0">
                  <a:pos x="788" y="799"/>
                </a:cxn>
                <a:cxn ang="0">
                  <a:pos x="839" y="836"/>
                </a:cxn>
                <a:cxn ang="0">
                  <a:pos x="976" y="836"/>
                </a:cxn>
                <a:cxn ang="0">
                  <a:pos x="1011" y="881"/>
                </a:cxn>
                <a:cxn ang="0">
                  <a:pos x="1108" y="814"/>
                </a:cxn>
                <a:cxn ang="0">
                  <a:pos x="1207" y="814"/>
                </a:cxn>
                <a:cxn ang="0">
                  <a:pos x="1278" y="841"/>
                </a:cxn>
                <a:cxn ang="0">
                  <a:pos x="1308" y="873"/>
                </a:cxn>
                <a:cxn ang="0">
                  <a:pos x="1414" y="866"/>
                </a:cxn>
                <a:cxn ang="0">
                  <a:pos x="1455" y="807"/>
                </a:cxn>
                <a:cxn ang="0">
                  <a:pos x="1527" y="807"/>
                </a:cxn>
                <a:cxn ang="0">
                  <a:pos x="1645" y="749"/>
                </a:cxn>
                <a:cxn ang="0">
                  <a:pos x="1717" y="767"/>
                </a:cxn>
                <a:cxn ang="0">
                  <a:pos x="1769" y="742"/>
                </a:cxn>
                <a:cxn ang="0">
                  <a:pos x="1810" y="749"/>
                </a:cxn>
                <a:cxn ang="0">
                  <a:pos x="1810" y="836"/>
                </a:cxn>
                <a:cxn ang="0">
                  <a:pos x="1894" y="855"/>
                </a:cxn>
                <a:cxn ang="0">
                  <a:pos x="1911" y="825"/>
                </a:cxn>
                <a:cxn ang="0">
                  <a:pos x="1983" y="851"/>
                </a:cxn>
                <a:cxn ang="0">
                  <a:pos x="2033" y="903"/>
                </a:cxn>
                <a:cxn ang="0">
                  <a:pos x="2050" y="831"/>
                </a:cxn>
                <a:cxn ang="0">
                  <a:pos x="2111" y="812"/>
                </a:cxn>
              </a:cxnLst>
              <a:rect l="0" t="0" r="r" b="b"/>
              <a:pathLst>
                <a:path w="2111" h="903">
                  <a:moveTo>
                    <a:pt x="2111" y="812"/>
                  </a:moveTo>
                  <a:lnTo>
                    <a:pt x="2093" y="659"/>
                  </a:lnTo>
                  <a:lnTo>
                    <a:pt x="1983" y="441"/>
                  </a:lnTo>
                  <a:lnTo>
                    <a:pt x="1879" y="430"/>
                  </a:lnTo>
                  <a:lnTo>
                    <a:pt x="1849" y="500"/>
                  </a:lnTo>
                  <a:lnTo>
                    <a:pt x="1727" y="494"/>
                  </a:lnTo>
                  <a:lnTo>
                    <a:pt x="1662" y="414"/>
                  </a:lnTo>
                  <a:lnTo>
                    <a:pt x="1475" y="397"/>
                  </a:lnTo>
                  <a:lnTo>
                    <a:pt x="1235" y="327"/>
                  </a:lnTo>
                  <a:lnTo>
                    <a:pt x="1167" y="191"/>
                  </a:lnTo>
                  <a:lnTo>
                    <a:pt x="1203" y="170"/>
                  </a:lnTo>
                  <a:lnTo>
                    <a:pt x="1217" y="96"/>
                  </a:lnTo>
                  <a:lnTo>
                    <a:pt x="1185" y="24"/>
                  </a:lnTo>
                  <a:lnTo>
                    <a:pt x="1064" y="5"/>
                  </a:lnTo>
                  <a:lnTo>
                    <a:pt x="775" y="57"/>
                  </a:lnTo>
                  <a:lnTo>
                    <a:pt x="684" y="104"/>
                  </a:lnTo>
                  <a:lnTo>
                    <a:pt x="554" y="32"/>
                  </a:lnTo>
                  <a:lnTo>
                    <a:pt x="403" y="43"/>
                  </a:lnTo>
                  <a:lnTo>
                    <a:pt x="288" y="0"/>
                  </a:lnTo>
                  <a:lnTo>
                    <a:pt x="173" y="91"/>
                  </a:lnTo>
                  <a:lnTo>
                    <a:pt x="91" y="83"/>
                  </a:lnTo>
                  <a:lnTo>
                    <a:pt x="88" y="157"/>
                  </a:lnTo>
                  <a:lnTo>
                    <a:pt x="115" y="240"/>
                  </a:lnTo>
                  <a:lnTo>
                    <a:pt x="82" y="264"/>
                  </a:lnTo>
                  <a:lnTo>
                    <a:pt x="34" y="211"/>
                  </a:lnTo>
                  <a:lnTo>
                    <a:pt x="0" y="245"/>
                  </a:lnTo>
                  <a:lnTo>
                    <a:pt x="24" y="303"/>
                  </a:lnTo>
                  <a:lnTo>
                    <a:pt x="22" y="381"/>
                  </a:lnTo>
                  <a:lnTo>
                    <a:pt x="93" y="414"/>
                  </a:lnTo>
                  <a:lnTo>
                    <a:pt x="159" y="484"/>
                  </a:lnTo>
                  <a:lnTo>
                    <a:pt x="235" y="499"/>
                  </a:lnTo>
                  <a:lnTo>
                    <a:pt x="270" y="528"/>
                  </a:lnTo>
                  <a:lnTo>
                    <a:pt x="292" y="513"/>
                  </a:lnTo>
                  <a:lnTo>
                    <a:pt x="448" y="616"/>
                  </a:lnTo>
                  <a:lnTo>
                    <a:pt x="470" y="671"/>
                  </a:lnTo>
                  <a:lnTo>
                    <a:pt x="514" y="646"/>
                  </a:lnTo>
                  <a:lnTo>
                    <a:pt x="523" y="712"/>
                  </a:lnTo>
                  <a:lnTo>
                    <a:pt x="621" y="730"/>
                  </a:lnTo>
                  <a:lnTo>
                    <a:pt x="696" y="807"/>
                  </a:lnTo>
                  <a:lnTo>
                    <a:pt x="788" y="799"/>
                  </a:lnTo>
                  <a:lnTo>
                    <a:pt x="839" y="836"/>
                  </a:lnTo>
                  <a:lnTo>
                    <a:pt x="976" y="836"/>
                  </a:lnTo>
                  <a:lnTo>
                    <a:pt x="1011" y="881"/>
                  </a:lnTo>
                  <a:lnTo>
                    <a:pt x="1108" y="814"/>
                  </a:lnTo>
                  <a:lnTo>
                    <a:pt x="1207" y="814"/>
                  </a:lnTo>
                  <a:lnTo>
                    <a:pt x="1278" y="841"/>
                  </a:lnTo>
                  <a:lnTo>
                    <a:pt x="1308" y="873"/>
                  </a:lnTo>
                  <a:lnTo>
                    <a:pt x="1414" y="866"/>
                  </a:lnTo>
                  <a:lnTo>
                    <a:pt x="1455" y="807"/>
                  </a:lnTo>
                  <a:lnTo>
                    <a:pt x="1527" y="807"/>
                  </a:lnTo>
                  <a:lnTo>
                    <a:pt x="1645" y="749"/>
                  </a:lnTo>
                  <a:lnTo>
                    <a:pt x="1717" y="767"/>
                  </a:lnTo>
                  <a:lnTo>
                    <a:pt x="1769" y="742"/>
                  </a:lnTo>
                  <a:lnTo>
                    <a:pt x="1810" y="749"/>
                  </a:lnTo>
                  <a:lnTo>
                    <a:pt x="1810" y="836"/>
                  </a:lnTo>
                  <a:lnTo>
                    <a:pt x="1894" y="855"/>
                  </a:lnTo>
                  <a:lnTo>
                    <a:pt x="1911" y="825"/>
                  </a:lnTo>
                  <a:lnTo>
                    <a:pt x="1983" y="851"/>
                  </a:lnTo>
                  <a:lnTo>
                    <a:pt x="2033" y="903"/>
                  </a:lnTo>
                  <a:lnTo>
                    <a:pt x="2050" y="831"/>
                  </a:lnTo>
                  <a:lnTo>
                    <a:pt x="2111" y="812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12" name="Freeform 12"/>
            <p:cNvSpPr>
              <a:spLocks/>
            </p:cNvSpPr>
            <p:nvPr/>
          </p:nvSpPr>
          <p:spPr bwMode="gray">
            <a:xfrm>
              <a:off x="5782219" y="3311150"/>
              <a:ext cx="1163556" cy="1016975"/>
            </a:xfrm>
            <a:custGeom>
              <a:avLst/>
              <a:gdLst/>
              <a:ahLst/>
              <a:cxnLst>
                <a:cxn ang="0">
                  <a:pos x="76" y="356"/>
                </a:cxn>
                <a:cxn ang="0">
                  <a:pos x="296" y="370"/>
                </a:cxn>
                <a:cxn ang="0">
                  <a:pos x="493" y="401"/>
                </a:cxn>
                <a:cxn ang="0">
                  <a:pos x="584" y="445"/>
                </a:cxn>
                <a:cxn ang="0">
                  <a:pos x="756" y="478"/>
                </a:cxn>
                <a:cxn ang="0">
                  <a:pos x="829" y="615"/>
                </a:cxn>
                <a:cxn ang="0">
                  <a:pos x="761" y="796"/>
                </a:cxn>
                <a:cxn ang="0">
                  <a:pos x="672" y="822"/>
                </a:cxn>
                <a:cxn ang="0">
                  <a:pos x="818" y="840"/>
                </a:cxn>
                <a:cxn ang="0">
                  <a:pos x="965" y="910"/>
                </a:cxn>
                <a:cxn ang="0">
                  <a:pos x="1031" y="963"/>
                </a:cxn>
                <a:cxn ang="0">
                  <a:pos x="1142" y="937"/>
                </a:cxn>
                <a:cxn ang="0">
                  <a:pos x="1162" y="883"/>
                </a:cxn>
                <a:cxn ang="0">
                  <a:pos x="1235" y="798"/>
                </a:cxn>
                <a:cxn ang="0">
                  <a:pos x="1259" y="721"/>
                </a:cxn>
                <a:cxn ang="0">
                  <a:pos x="1359" y="704"/>
                </a:cxn>
                <a:cxn ang="0">
                  <a:pos x="1424" y="690"/>
                </a:cxn>
                <a:cxn ang="0">
                  <a:pos x="1434" y="619"/>
                </a:cxn>
                <a:cxn ang="0">
                  <a:pos x="1320" y="538"/>
                </a:cxn>
                <a:cxn ang="0">
                  <a:pos x="1203" y="553"/>
                </a:cxn>
                <a:cxn ang="0">
                  <a:pos x="1257" y="617"/>
                </a:cxn>
                <a:cxn ang="0">
                  <a:pos x="1215" y="659"/>
                </a:cxn>
                <a:cxn ang="0">
                  <a:pos x="1103" y="662"/>
                </a:cxn>
                <a:cxn ang="0">
                  <a:pos x="993" y="505"/>
                </a:cxn>
                <a:cxn ang="0">
                  <a:pos x="930" y="433"/>
                </a:cxn>
                <a:cxn ang="0">
                  <a:pos x="985" y="357"/>
                </a:cxn>
                <a:cxn ang="0">
                  <a:pos x="749" y="383"/>
                </a:cxn>
                <a:cxn ang="0">
                  <a:pos x="577" y="267"/>
                </a:cxn>
                <a:cxn ang="0">
                  <a:pos x="623" y="201"/>
                </a:cxn>
                <a:cxn ang="0">
                  <a:pos x="424" y="219"/>
                </a:cxn>
                <a:cxn ang="0">
                  <a:pos x="338" y="0"/>
                </a:cxn>
                <a:cxn ang="0">
                  <a:pos x="239" y="84"/>
                </a:cxn>
                <a:cxn ang="0">
                  <a:pos x="87" y="189"/>
                </a:cxn>
                <a:cxn ang="0">
                  <a:pos x="6" y="342"/>
                </a:cxn>
              </a:cxnLst>
              <a:rect l="0" t="0" r="r" b="b"/>
              <a:pathLst>
                <a:path w="1435" h="965">
                  <a:moveTo>
                    <a:pt x="6" y="342"/>
                  </a:moveTo>
                  <a:lnTo>
                    <a:pt x="76" y="356"/>
                  </a:lnTo>
                  <a:lnTo>
                    <a:pt x="203" y="395"/>
                  </a:lnTo>
                  <a:lnTo>
                    <a:pt x="296" y="370"/>
                  </a:lnTo>
                  <a:lnTo>
                    <a:pt x="429" y="365"/>
                  </a:lnTo>
                  <a:lnTo>
                    <a:pt x="493" y="401"/>
                  </a:lnTo>
                  <a:lnTo>
                    <a:pt x="595" y="392"/>
                  </a:lnTo>
                  <a:lnTo>
                    <a:pt x="584" y="445"/>
                  </a:lnTo>
                  <a:lnTo>
                    <a:pt x="710" y="517"/>
                  </a:lnTo>
                  <a:lnTo>
                    <a:pt x="756" y="478"/>
                  </a:lnTo>
                  <a:lnTo>
                    <a:pt x="812" y="553"/>
                  </a:lnTo>
                  <a:lnTo>
                    <a:pt x="829" y="615"/>
                  </a:lnTo>
                  <a:lnTo>
                    <a:pt x="867" y="653"/>
                  </a:lnTo>
                  <a:lnTo>
                    <a:pt x="761" y="796"/>
                  </a:lnTo>
                  <a:lnTo>
                    <a:pt x="706" y="796"/>
                  </a:lnTo>
                  <a:lnTo>
                    <a:pt x="672" y="822"/>
                  </a:lnTo>
                  <a:lnTo>
                    <a:pt x="809" y="897"/>
                  </a:lnTo>
                  <a:lnTo>
                    <a:pt x="818" y="840"/>
                  </a:lnTo>
                  <a:lnTo>
                    <a:pt x="887" y="832"/>
                  </a:lnTo>
                  <a:lnTo>
                    <a:pt x="965" y="910"/>
                  </a:lnTo>
                  <a:lnTo>
                    <a:pt x="1020" y="917"/>
                  </a:lnTo>
                  <a:lnTo>
                    <a:pt x="1031" y="963"/>
                  </a:lnTo>
                  <a:lnTo>
                    <a:pt x="1140" y="964"/>
                  </a:lnTo>
                  <a:lnTo>
                    <a:pt x="1142" y="937"/>
                  </a:lnTo>
                  <a:lnTo>
                    <a:pt x="1186" y="946"/>
                  </a:lnTo>
                  <a:lnTo>
                    <a:pt x="1162" y="883"/>
                  </a:lnTo>
                  <a:lnTo>
                    <a:pt x="1224" y="869"/>
                  </a:lnTo>
                  <a:lnTo>
                    <a:pt x="1235" y="798"/>
                  </a:lnTo>
                  <a:lnTo>
                    <a:pt x="1213" y="781"/>
                  </a:lnTo>
                  <a:lnTo>
                    <a:pt x="1259" y="721"/>
                  </a:lnTo>
                  <a:lnTo>
                    <a:pt x="1322" y="734"/>
                  </a:lnTo>
                  <a:lnTo>
                    <a:pt x="1359" y="704"/>
                  </a:lnTo>
                  <a:lnTo>
                    <a:pt x="1401" y="706"/>
                  </a:lnTo>
                  <a:lnTo>
                    <a:pt x="1424" y="690"/>
                  </a:lnTo>
                  <a:lnTo>
                    <a:pt x="1413" y="654"/>
                  </a:lnTo>
                  <a:lnTo>
                    <a:pt x="1434" y="619"/>
                  </a:lnTo>
                  <a:lnTo>
                    <a:pt x="1414" y="563"/>
                  </a:lnTo>
                  <a:lnTo>
                    <a:pt x="1320" y="538"/>
                  </a:lnTo>
                  <a:lnTo>
                    <a:pt x="1235" y="525"/>
                  </a:lnTo>
                  <a:lnTo>
                    <a:pt x="1203" y="553"/>
                  </a:lnTo>
                  <a:lnTo>
                    <a:pt x="1198" y="610"/>
                  </a:lnTo>
                  <a:lnTo>
                    <a:pt x="1257" y="617"/>
                  </a:lnTo>
                  <a:lnTo>
                    <a:pt x="1257" y="655"/>
                  </a:lnTo>
                  <a:lnTo>
                    <a:pt x="1215" y="659"/>
                  </a:lnTo>
                  <a:lnTo>
                    <a:pt x="1210" y="690"/>
                  </a:lnTo>
                  <a:lnTo>
                    <a:pt x="1103" y="662"/>
                  </a:lnTo>
                  <a:lnTo>
                    <a:pt x="1105" y="571"/>
                  </a:lnTo>
                  <a:lnTo>
                    <a:pt x="993" y="505"/>
                  </a:lnTo>
                  <a:lnTo>
                    <a:pt x="933" y="498"/>
                  </a:lnTo>
                  <a:lnTo>
                    <a:pt x="930" y="433"/>
                  </a:lnTo>
                  <a:lnTo>
                    <a:pt x="975" y="414"/>
                  </a:lnTo>
                  <a:lnTo>
                    <a:pt x="985" y="357"/>
                  </a:lnTo>
                  <a:lnTo>
                    <a:pt x="914" y="326"/>
                  </a:lnTo>
                  <a:lnTo>
                    <a:pt x="749" y="383"/>
                  </a:lnTo>
                  <a:lnTo>
                    <a:pt x="666" y="323"/>
                  </a:lnTo>
                  <a:lnTo>
                    <a:pt x="577" y="267"/>
                  </a:lnTo>
                  <a:lnTo>
                    <a:pt x="636" y="251"/>
                  </a:lnTo>
                  <a:lnTo>
                    <a:pt x="623" y="201"/>
                  </a:lnTo>
                  <a:lnTo>
                    <a:pt x="469" y="178"/>
                  </a:lnTo>
                  <a:lnTo>
                    <a:pt x="424" y="219"/>
                  </a:lnTo>
                  <a:lnTo>
                    <a:pt x="358" y="130"/>
                  </a:lnTo>
                  <a:lnTo>
                    <a:pt x="338" y="0"/>
                  </a:lnTo>
                  <a:lnTo>
                    <a:pt x="275" y="24"/>
                  </a:lnTo>
                  <a:lnTo>
                    <a:pt x="239" y="84"/>
                  </a:lnTo>
                  <a:lnTo>
                    <a:pt x="132" y="118"/>
                  </a:lnTo>
                  <a:lnTo>
                    <a:pt x="87" y="189"/>
                  </a:lnTo>
                  <a:lnTo>
                    <a:pt x="0" y="212"/>
                  </a:lnTo>
                  <a:lnTo>
                    <a:pt x="6" y="342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13" name="Freeform 13"/>
            <p:cNvSpPr>
              <a:spLocks/>
            </p:cNvSpPr>
            <p:nvPr/>
          </p:nvSpPr>
          <p:spPr bwMode="gray">
            <a:xfrm>
              <a:off x="5423164" y="3647429"/>
              <a:ext cx="1062550" cy="787222"/>
            </a:xfrm>
            <a:custGeom>
              <a:avLst/>
              <a:gdLst/>
              <a:ahLst/>
              <a:cxnLst>
                <a:cxn ang="0">
                  <a:pos x="23" y="260"/>
                </a:cxn>
                <a:cxn ang="0">
                  <a:pos x="176" y="298"/>
                </a:cxn>
                <a:cxn ang="0">
                  <a:pos x="155" y="236"/>
                </a:cxn>
                <a:cxn ang="0">
                  <a:pos x="198" y="206"/>
                </a:cxn>
                <a:cxn ang="0">
                  <a:pos x="144" y="148"/>
                </a:cxn>
                <a:cxn ang="0">
                  <a:pos x="164" y="69"/>
                </a:cxn>
                <a:cxn ang="0">
                  <a:pos x="465" y="0"/>
                </a:cxn>
                <a:cxn ang="0">
                  <a:pos x="530" y="4"/>
                </a:cxn>
                <a:cxn ang="0">
                  <a:pos x="662" y="60"/>
                </a:cxn>
                <a:cxn ang="0">
                  <a:pos x="754" y="32"/>
                </a:cxn>
                <a:cxn ang="0">
                  <a:pos x="894" y="27"/>
                </a:cxn>
                <a:cxn ang="0">
                  <a:pos x="956" y="64"/>
                </a:cxn>
                <a:cxn ang="0">
                  <a:pos x="1054" y="57"/>
                </a:cxn>
                <a:cxn ang="0">
                  <a:pos x="1043" y="108"/>
                </a:cxn>
                <a:cxn ang="0">
                  <a:pos x="1175" y="177"/>
                </a:cxn>
                <a:cxn ang="0">
                  <a:pos x="1217" y="138"/>
                </a:cxn>
                <a:cxn ang="0">
                  <a:pos x="1272" y="211"/>
                </a:cxn>
                <a:cxn ang="0">
                  <a:pos x="1289" y="279"/>
                </a:cxn>
                <a:cxn ang="0">
                  <a:pos x="1329" y="317"/>
                </a:cxn>
                <a:cxn ang="0">
                  <a:pos x="1225" y="461"/>
                </a:cxn>
                <a:cxn ang="0">
                  <a:pos x="1168" y="459"/>
                </a:cxn>
                <a:cxn ang="0">
                  <a:pos x="1138" y="489"/>
                </a:cxn>
                <a:cxn ang="0">
                  <a:pos x="1273" y="559"/>
                </a:cxn>
                <a:cxn ang="0">
                  <a:pos x="1270" y="593"/>
                </a:cxn>
                <a:cxn ang="0">
                  <a:pos x="1174" y="597"/>
                </a:cxn>
                <a:cxn ang="0">
                  <a:pos x="1151" y="647"/>
                </a:cxn>
                <a:cxn ang="0">
                  <a:pos x="1098" y="648"/>
                </a:cxn>
                <a:cxn ang="0">
                  <a:pos x="1050" y="603"/>
                </a:cxn>
                <a:cxn ang="0">
                  <a:pos x="821" y="608"/>
                </a:cxn>
                <a:cxn ang="0">
                  <a:pos x="782" y="679"/>
                </a:cxn>
                <a:cxn ang="0">
                  <a:pos x="734" y="679"/>
                </a:cxn>
                <a:cxn ang="0">
                  <a:pos x="694" y="742"/>
                </a:cxn>
                <a:cxn ang="0">
                  <a:pos x="574" y="745"/>
                </a:cxn>
                <a:cxn ang="0">
                  <a:pos x="496" y="655"/>
                </a:cxn>
                <a:cxn ang="0">
                  <a:pos x="322" y="642"/>
                </a:cxn>
                <a:cxn ang="0">
                  <a:pos x="71" y="572"/>
                </a:cxn>
                <a:cxn ang="0">
                  <a:pos x="0" y="429"/>
                </a:cxn>
                <a:cxn ang="0">
                  <a:pos x="43" y="401"/>
                </a:cxn>
                <a:cxn ang="0">
                  <a:pos x="53" y="331"/>
                </a:cxn>
                <a:cxn ang="0">
                  <a:pos x="23" y="260"/>
                </a:cxn>
              </a:cxnLst>
              <a:rect l="0" t="0" r="r" b="b"/>
              <a:pathLst>
                <a:path w="1330" h="746">
                  <a:moveTo>
                    <a:pt x="23" y="260"/>
                  </a:moveTo>
                  <a:lnTo>
                    <a:pt x="176" y="298"/>
                  </a:lnTo>
                  <a:lnTo>
                    <a:pt x="155" y="236"/>
                  </a:lnTo>
                  <a:lnTo>
                    <a:pt x="198" y="206"/>
                  </a:lnTo>
                  <a:lnTo>
                    <a:pt x="144" y="148"/>
                  </a:lnTo>
                  <a:lnTo>
                    <a:pt x="164" y="69"/>
                  </a:lnTo>
                  <a:lnTo>
                    <a:pt x="465" y="0"/>
                  </a:lnTo>
                  <a:lnTo>
                    <a:pt x="530" y="4"/>
                  </a:lnTo>
                  <a:lnTo>
                    <a:pt x="662" y="60"/>
                  </a:lnTo>
                  <a:lnTo>
                    <a:pt x="754" y="32"/>
                  </a:lnTo>
                  <a:lnTo>
                    <a:pt x="894" y="27"/>
                  </a:lnTo>
                  <a:lnTo>
                    <a:pt x="956" y="64"/>
                  </a:lnTo>
                  <a:lnTo>
                    <a:pt x="1054" y="57"/>
                  </a:lnTo>
                  <a:lnTo>
                    <a:pt x="1043" y="108"/>
                  </a:lnTo>
                  <a:lnTo>
                    <a:pt x="1175" y="177"/>
                  </a:lnTo>
                  <a:lnTo>
                    <a:pt x="1217" y="138"/>
                  </a:lnTo>
                  <a:lnTo>
                    <a:pt x="1272" y="211"/>
                  </a:lnTo>
                  <a:lnTo>
                    <a:pt x="1289" y="279"/>
                  </a:lnTo>
                  <a:lnTo>
                    <a:pt x="1329" y="317"/>
                  </a:lnTo>
                  <a:lnTo>
                    <a:pt x="1225" y="461"/>
                  </a:lnTo>
                  <a:lnTo>
                    <a:pt x="1168" y="459"/>
                  </a:lnTo>
                  <a:lnTo>
                    <a:pt x="1138" y="489"/>
                  </a:lnTo>
                  <a:lnTo>
                    <a:pt x="1273" y="559"/>
                  </a:lnTo>
                  <a:lnTo>
                    <a:pt x="1270" y="593"/>
                  </a:lnTo>
                  <a:lnTo>
                    <a:pt x="1174" y="597"/>
                  </a:lnTo>
                  <a:lnTo>
                    <a:pt x="1151" y="647"/>
                  </a:lnTo>
                  <a:lnTo>
                    <a:pt x="1098" y="648"/>
                  </a:lnTo>
                  <a:lnTo>
                    <a:pt x="1050" y="603"/>
                  </a:lnTo>
                  <a:lnTo>
                    <a:pt x="821" y="608"/>
                  </a:lnTo>
                  <a:lnTo>
                    <a:pt x="782" y="679"/>
                  </a:lnTo>
                  <a:lnTo>
                    <a:pt x="734" y="679"/>
                  </a:lnTo>
                  <a:lnTo>
                    <a:pt x="694" y="742"/>
                  </a:lnTo>
                  <a:lnTo>
                    <a:pt x="574" y="745"/>
                  </a:lnTo>
                  <a:lnTo>
                    <a:pt x="496" y="655"/>
                  </a:lnTo>
                  <a:lnTo>
                    <a:pt x="322" y="642"/>
                  </a:lnTo>
                  <a:lnTo>
                    <a:pt x="71" y="572"/>
                  </a:lnTo>
                  <a:lnTo>
                    <a:pt x="0" y="429"/>
                  </a:lnTo>
                  <a:lnTo>
                    <a:pt x="43" y="401"/>
                  </a:lnTo>
                  <a:lnTo>
                    <a:pt x="53" y="331"/>
                  </a:lnTo>
                  <a:lnTo>
                    <a:pt x="23" y="260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14" name="Freeform 14"/>
            <p:cNvSpPr>
              <a:spLocks/>
            </p:cNvSpPr>
            <p:nvPr/>
          </p:nvSpPr>
          <p:spPr bwMode="gray">
            <a:xfrm>
              <a:off x="6038569" y="4173351"/>
              <a:ext cx="1060129" cy="845536"/>
            </a:xfrm>
            <a:custGeom>
              <a:avLst/>
              <a:gdLst/>
              <a:ahLst/>
              <a:cxnLst>
                <a:cxn ang="0">
                  <a:pos x="0" y="180"/>
                </a:cxn>
                <a:cxn ang="0">
                  <a:pos x="27" y="103"/>
                </a:cxn>
                <a:cxn ang="0">
                  <a:pos x="267" y="105"/>
                </a:cxn>
                <a:cxn ang="0">
                  <a:pos x="310" y="148"/>
                </a:cxn>
                <a:cxn ang="0">
                  <a:pos x="366" y="151"/>
                </a:cxn>
                <a:cxn ang="0">
                  <a:pos x="391" y="99"/>
                </a:cxn>
                <a:cxn ang="0">
                  <a:pos x="483" y="96"/>
                </a:cxn>
                <a:cxn ang="0">
                  <a:pos x="491" y="7"/>
                </a:cxn>
                <a:cxn ang="0">
                  <a:pos x="570" y="0"/>
                </a:cxn>
                <a:cxn ang="0">
                  <a:pos x="642" y="79"/>
                </a:cxn>
                <a:cxn ang="0">
                  <a:pos x="702" y="86"/>
                </a:cxn>
                <a:cxn ang="0">
                  <a:pos x="710" y="131"/>
                </a:cxn>
                <a:cxn ang="0">
                  <a:pos x="815" y="133"/>
                </a:cxn>
                <a:cxn ang="0">
                  <a:pos x="822" y="107"/>
                </a:cxn>
                <a:cxn ang="0">
                  <a:pos x="857" y="115"/>
                </a:cxn>
                <a:cxn ang="0">
                  <a:pos x="974" y="131"/>
                </a:cxn>
                <a:cxn ang="0">
                  <a:pos x="1039" y="158"/>
                </a:cxn>
                <a:cxn ang="0">
                  <a:pos x="1112" y="148"/>
                </a:cxn>
                <a:cxn ang="0">
                  <a:pos x="1169" y="179"/>
                </a:cxn>
                <a:cxn ang="0">
                  <a:pos x="1239" y="187"/>
                </a:cxn>
                <a:cxn ang="0">
                  <a:pos x="1272" y="210"/>
                </a:cxn>
                <a:cxn ang="0">
                  <a:pos x="1265" y="279"/>
                </a:cxn>
                <a:cxn ang="0">
                  <a:pos x="1146" y="313"/>
                </a:cxn>
                <a:cxn ang="0">
                  <a:pos x="1154" y="396"/>
                </a:cxn>
                <a:cxn ang="0">
                  <a:pos x="1229" y="432"/>
                </a:cxn>
                <a:cxn ang="0">
                  <a:pos x="1224" y="538"/>
                </a:cxn>
                <a:cxn ang="0">
                  <a:pos x="1165" y="538"/>
                </a:cxn>
                <a:cxn ang="0">
                  <a:pos x="1121" y="474"/>
                </a:cxn>
                <a:cxn ang="0">
                  <a:pos x="1045" y="471"/>
                </a:cxn>
                <a:cxn ang="0">
                  <a:pos x="963" y="539"/>
                </a:cxn>
                <a:cxn ang="0">
                  <a:pos x="908" y="526"/>
                </a:cxn>
                <a:cxn ang="0">
                  <a:pos x="865" y="550"/>
                </a:cxn>
                <a:cxn ang="0">
                  <a:pos x="906" y="591"/>
                </a:cxn>
                <a:cxn ang="0">
                  <a:pos x="908" y="628"/>
                </a:cxn>
                <a:cxn ang="0">
                  <a:pos x="820" y="620"/>
                </a:cxn>
                <a:cxn ang="0">
                  <a:pos x="826" y="594"/>
                </a:cxn>
                <a:cxn ang="0">
                  <a:pos x="745" y="596"/>
                </a:cxn>
                <a:cxn ang="0">
                  <a:pos x="721" y="550"/>
                </a:cxn>
                <a:cxn ang="0">
                  <a:pos x="676" y="547"/>
                </a:cxn>
                <a:cxn ang="0">
                  <a:pos x="640" y="572"/>
                </a:cxn>
                <a:cxn ang="0">
                  <a:pos x="647" y="623"/>
                </a:cxn>
                <a:cxn ang="0">
                  <a:pos x="571" y="677"/>
                </a:cxn>
                <a:cxn ang="0">
                  <a:pos x="575" y="754"/>
                </a:cxn>
                <a:cxn ang="0">
                  <a:pos x="442" y="801"/>
                </a:cxn>
                <a:cxn ang="0">
                  <a:pos x="342" y="638"/>
                </a:cxn>
                <a:cxn ang="0">
                  <a:pos x="203" y="550"/>
                </a:cxn>
                <a:cxn ang="0">
                  <a:pos x="171" y="552"/>
                </a:cxn>
                <a:cxn ang="0">
                  <a:pos x="144" y="401"/>
                </a:cxn>
                <a:cxn ang="0">
                  <a:pos x="44" y="185"/>
                </a:cxn>
                <a:cxn ang="0">
                  <a:pos x="0" y="180"/>
                </a:cxn>
              </a:cxnLst>
              <a:rect l="0" t="0" r="r" b="b"/>
              <a:pathLst>
                <a:path w="1273" h="802">
                  <a:moveTo>
                    <a:pt x="0" y="180"/>
                  </a:moveTo>
                  <a:lnTo>
                    <a:pt x="27" y="103"/>
                  </a:lnTo>
                  <a:lnTo>
                    <a:pt x="267" y="105"/>
                  </a:lnTo>
                  <a:lnTo>
                    <a:pt x="310" y="148"/>
                  </a:lnTo>
                  <a:lnTo>
                    <a:pt x="366" y="151"/>
                  </a:lnTo>
                  <a:lnTo>
                    <a:pt x="391" y="99"/>
                  </a:lnTo>
                  <a:lnTo>
                    <a:pt x="483" y="96"/>
                  </a:lnTo>
                  <a:lnTo>
                    <a:pt x="491" y="7"/>
                  </a:lnTo>
                  <a:lnTo>
                    <a:pt x="570" y="0"/>
                  </a:lnTo>
                  <a:lnTo>
                    <a:pt x="642" y="79"/>
                  </a:lnTo>
                  <a:lnTo>
                    <a:pt x="702" y="86"/>
                  </a:lnTo>
                  <a:lnTo>
                    <a:pt x="710" y="131"/>
                  </a:lnTo>
                  <a:lnTo>
                    <a:pt x="815" y="133"/>
                  </a:lnTo>
                  <a:lnTo>
                    <a:pt x="822" y="107"/>
                  </a:lnTo>
                  <a:lnTo>
                    <a:pt x="857" y="115"/>
                  </a:lnTo>
                  <a:lnTo>
                    <a:pt x="974" y="131"/>
                  </a:lnTo>
                  <a:lnTo>
                    <a:pt x="1039" y="158"/>
                  </a:lnTo>
                  <a:lnTo>
                    <a:pt x="1112" y="148"/>
                  </a:lnTo>
                  <a:lnTo>
                    <a:pt x="1169" y="179"/>
                  </a:lnTo>
                  <a:lnTo>
                    <a:pt x="1239" y="187"/>
                  </a:lnTo>
                  <a:lnTo>
                    <a:pt x="1272" y="210"/>
                  </a:lnTo>
                  <a:lnTo>
                    <a:pt x="1265" y="279"/>
                  </a:lnTo>
                  <a:lnTo>
                    <a:pt x="1146" y="313"/>
                  </a:lnTo>
                  <a:lnTo>
                    <a:pt x="1154" y="396"/>
                  </a:lnTo>
                  <a:lnTo>
                    <a:pt x="1229" y="432"/>
                  </a:lnTo>
                  <a:lnTo>
                    <a:pt x="1224" y="538"/>
                  </a:lnTo>
                  <a:lnTo>
                    <a:pt x="1165" y="538"/>
                  </a:lnTo>
                  <a:lnTo>
                    <a:pt x="1121" y="474"/>
                  </a:lnTo>
                  <a:lnTo>
                    <a:pt x="1045" y="471"/>
                  </a:lnTo>
                  <a:lnTo>
                    <a:pt x="963" y="539"/>
                  </a:lnTo>
                  <a:lnTo>
                    <a:pt x="908" y="526"/>
                  </a:lnTo>
                  <a:lnTo>
                    <a:pt x="865" y="550"/>
                  </a:lnTo>
                  <a:lnTo>
                    <a:pt x="906" y="591"/>
                  </a:lnTo>
                  <a:lnTo>
                    <a:pt x="908" y="628"/>
                  </a:lnTo>
                  <a:lnTo>
                    <a:pt x="820" y="620"/>
                  </a:lnTo>
                  <a:lnTo>
                    <a:pt x="826" y="594"/>
                  </a:lnTo>
                  <a:lnTo>
                    <a:pt x="745" y="596"/>
                  </a:lnTo>
                  <a:lnTo>
                    <a:pt x="721" y="550"/>
                  </a:lnTo>
                  <a:lnTo>
                    <a:pt x="676" y="547"/>
                  </a:lnTo>
                  <a:lnTo>
                    <a:pt x="640" y="572"/>
                  </a:lnTo>
                  <a:lnTo>
                    <a:pt x="647" y="623"/>
                  </a:lnTo>
                  <a:lnTo>
                    <a:pt x="571" y="677"/>
                  </a:lnTo>
                  <a:lnTo>
                    <a:pt x="575" y="754"/>
                  </a:lnTo>
                  <a:lnTo>
                    <a:pt x="442" y="801"/>
                  </a:lnTo>
                  <a:lnTo>
                    <a:pt x="342" y="638"/>
                  </a:lnTo>
                  <a:lnTo>
                    <a:pt x="203" y="550"/>
                  </a:lnTo>
                  <a:lnTo>
                    <a:pt x="171" y="552"/>
                  </a:lnTo>
                  <a:lnTo>
                    <a:pt x="144" y="401"/>
                  </a:lnTo>
                  <a:lnTo>
                    <a:pt x="44" y="185"/>
                  </a:lnTo>
                  <a:lnTo>
                    <a:pt x="0" y="180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15" name="Freeform 15"/>
            <p:cNvSpPr>
              <a:spLocks/>
            </p:cNvSpPr>
            <p:nvPr/>
          </p:nvSpPr>
          <p:spPr bwMode="gray">
            <a:xfrm>
              <a:off x="6056762" y="4744816"/>
              <a:ext cx="767576" cy="810548"/>
            </a:xfrm>
            <a:custGeom>
              <a:avLst/>
              <a:gdLst/>
              <a:ahLst/>
              <a:cxnLst>
                <a:cxn ang="0">
                  <a:pos x="106" y="107"/>
                </a:cxn>
                <a:cxn ang="0">
                  <a:pos x="134" y="296"/>
                </a:cxn>
                <a:cxn ang="0">
                  <a:pos x="57" y="338"/>
                </a:cxn>
                <a:cxn ang="0">
                  <a:pos x="0" y="399"/>
                </a:cxn>
                <a:cxn ang="0">
                  <a:pos x="23" y="482"/>
                </a:cxn>
                <a:cxn ang="0">
                  <a:pos x="140" y="487"/>
                </a:cxn>
                <a:cxn ang="0">
                  <a:pos x="158" y="563"/>
                </a:cxn>
                <a:cxn ang="0">
                  <a:pos x="224" y="574"/>
                </a:cxn>
                <a:cxn ang="0">
                  <a:pos x="201" y="659"/>
                </a:cxn>
                <a:cxn ang="0">
                  <a:pos x="267" y="692"/>
                </a:cxn>
                <a:cxn ang="0">
                  <a:pos x="307" y="733"/>
                </a:cxn>
                <a:cxn ang="0">
                  <a:pos x="397" y="717"/>
                </a:cxn>
                <a:cxn ang="0">
                  <a:pos x="417" y="767"/>
                </a:cxn>
                <a:cxn ang="0">
                  <a:pos x="493" y="768"/>
                </a:cxn>
                <a:cxn ang="0">
                  <a:pos x="482" y="644"/>
                </a:cxn>
                <a:cxn ang="0">
                  <a:pos x="538" y="640"/>
                </a:cxn>
                <a:cxn ang="0">
                  <a:pos x="563" y="614"/>
                </a:cxn>
                <a:cxn ang="0">
                  <a:pos x="634" y="629"/>
                </a:cxn>
                <a:cxn ang="0">
                  <a:pos x="735" y="610"/>
                </a:cxn>
                <a:cxn ang="0">
                  <a:pos x="798" y="592"/>
                </a:cxn>
                <a:cxn ang="0">
                  <a:pos x="831" y="548"/>
                </a:cxn>
                <a:cxn ang="0">
                  <a:pos x="911" y="533"/>
                </a:cxn>
                <a:cxn ang="0">
                  <a:pos x="911" y="503"/>
                </a:cxn>
                <a:cxn ang="0">
                  <a:pos x="960" y="504"/>
                </a:cxn>
                <a:cxn ang="0">
                  <a:pos x="939" y="443"/>
                </a:cxn>
                <a:cxn ang="0">
                  <a:pos x="860" y="445"/>
                </a:cxn>
                <a:cxn ang="0">
                  <a:pos x="780" y="423"/>
                </a:cxn>
                <a:cxn ang="0">
                  <a:pos x="772" y="382"/>
                </a:cxn>
                <a:cxn ang="0">
                  <a:pos x="776" y="328"/>
                </a:cxn>
                <a:cxn ang="0">
                  <a:pos x="749" y="289"/>
                </a:cxn>
                <a:cxn ang="0">
                  <a:pos x="754" y="211"/>
                </a:cxn>
                <a:cxn ang="0">
                  <a:pos x="662" y="204"/>
                </a:cxn>
                <a:cxn ang="0">
                  <a:pos x="660" y="149"/>
                </a:cxn>
                <a:cxn ang="0">
                  <a:pos x="753" y="137"/>
                </a:cxn>
                <a:cxn ang="0">
                  <a:pos x="753" y="50"/>
                </a:cxn>
                <a:cxn ang="0">
                  <a:pos x="730" y="11"/>
                </a:cxn>
                <a:cxn ang="0">
                  <a:pos x="680" y="0"/>
                </a:cxn>
                <a:cxn ang="0">
                  <a:pos x="649" y="28"/>
                </a:cxn>
                <a:cxn ang="0">
                  <a:pos x="651" y="77"/>
                </a:cxn>
                <a:cxn ang="0">
                  <a:pos x="581" y="134"/>
                </a:cxn>
                <a:cxn ang="0">
                  <a:pos x="574" y="215"/>
                </a:cxn>
                <a:cxn ang="0">
                  <a:pos x="453" y="259"/>
                </a:cxn>
                <a:cxn ang="0">
                  <a:pos x="350" y="94"/>
                </a:cxn>
                <a:cxn ang="0">
                  <a:pos x="224" y="4"/>
                </a:cxn>
                <a:cxn ang="0">
                  <a:pos x="179" y="2"/>
                </a:cxn>
                <a:cxn ang="0">
                  <a:pos x="116" y="26"/>
                </a:cxn>
                <a:cxn ang="0">
                  <a:pos x="115" y="29"/>
                </a:cxn>
                <a:cxn ang="0">
                  <a:pos x="115" y="38"/>
                </a:cxn>
                <a:cxn ang="0">
                  <a:pos x="112" y="51"/>
                </a:cxn>
                <a:cxn ang="0">
                  <a:pos x="110" y="66"/>
                </a:cxn>
                <a:cxn ang="0">
                  <a:pos x="108" y="81"/>
                </a:cxn>
                <a:cxn ang="0">
                  <a:pos x="107" y="94"/>
                </a:cxn>
                <a:cxn ang="0">
                  <a:pos x="106" y="103"/>
                </a:cxn>
                <a:cxn ang="0">
                  <a:pos x="106" y="107"/>
                </a:cxn>
              </a:cxnLst>
              <a:rect l="0" t="0" r="r" b="b"/>
              <a:pathLst>
                <a:path w="961" h="769">
                  <a:moveTo>
                    <a:pt x="106" y="107"/>
                  </a:moveTo>
                  <a:lnTo>
                    <a:pt x="134" y="296"/>
                  </a:lnTo>
                  <a:lnTo>
                    <a:pt x="57" y="338"/>
                  </a:lnTo>
                  <a:lnTo>
                    <a:pt x="0" y="399"/>
                  </a:lnTo>
                  <a:lnTo>
                    <a:pt x="23" y="482"/>
                  </a:lnTo>
                  <a:lnTo>
                    <a:pt x="140" y="487"/>
                  </a:lnTo>
                  <a:lnTo>
                    <a:pt x="158" y="563"/>
                  </a:lnTo>
                  <a:lnTo>
                    <a:pt x="224" y="574"/>
                  </a:lnTo>
                  <a:lnTo>
                    <a:pt x="201" y="659"/>
                  </a:lnTo>
                  <a:lnTo>
                    <a:pt x="267" y="692"/>
                  </a:lnTo>
                  <a:lnTo>
                    <a:pt x="307" y="733"/>
                  </a:lnTo>
                  <a:lnTo>
                    <a:pt x="397" y="717"/>
                  </a:lnTo>
                  <a:lnTo>
                    <a:pt x="417" y="767"/>
                  </a:lnTo>
                  <a:lnTo>
                    <a:pt x="493" y="768"/>
                  </a:lnTo>
                  <a:lnTo>
                    <a:pt x="482" y="644"/>
                  </a:lnTo>
                  <a:lnTo>
                    <a:pt x="538" y="640"/>
                  </a:lnTo>
                  <a:lnTo>
                    <a:pt x="563" y="614"/>
                  </a:lnTo>
                  <a:lnTo>
                    <a:pt x="634" y="629"/>
                  </a:lnTo>
                  <a:lnTo>
                    <a:pt x="735" y="610"/>
                  </a:lnTo>
                  <a:lnTo>
                    <a:pt x="798" y="592"/>
                  </a:lnTo>
                  <a:lnTo>
                    <a:pt x="831" y="548"/>
                  </a:lnTo>
                  <a:lnTo>
                    <a:pt x="911" y="533"/>
                  </a:lnTo>
                  <a:lnTo>
                    <a:pt x="911" y="503"/>
                  </a:lnTo>
                  <a:lnTo>
                    <a:pt x="960" y="504"/>
                  </a:lnTo>
                  <a:lnTo>
                    <a:pt x="939" y="443"/>
                  </a:lnTo>
                  <a:lnTo>
                    <a:pt x="860" y="445"/>
                  </a:lnTo>
                  <a:lnTo>
                    <a:pt x="780" y="423"/>
                  </a:lnTo>
                  <a:lnTo>
                    <a:pt x="772" y="382"/>
                  </a:lnTo>
                  <a:lnTo>
                    <a:pt x="776" y="328"/>
                  </a:lnTo>
                  <a:lnTo>
                    <a:pt x="749" y="289"/>
                  </a:lnTo>
                  <a:lnTo>
                    <a:pt x="754" y="211"/>
                  </a:lnTo>
                  <a:lnTo>
                    <a:pt x="662" y="204"/>
                  </a:lnTo>
                  <a:lnTo>
                    <a:pt x="660" y="149"/>
                  </a:lnTo>
                  <a:lnTo>
                    <a:pt x="753" y="137"/>
                  </a:lnTo>
                  <a:lnTo>
                    <a:pt x="753" y="50"/>
                  </a:lnTo>
                  <a:lnTo>
                    <a:pt x="730" y="11"/>
                  </a:lnTo>
                  <a:lnTo>
                    <a:pt x="680" y="0"/>
                  </a:lnTo>
                  <a:lnTo>
                    <a:pt x="649" y="28"/>
                  </a:lnTo>
                  <a:lnTo>
                    <a:pt x="651" y="77"/>
                  </a:lnTo>
                  <a:lnTo>
                    <a:pt x="581" y="134"/>
                  </a:lnTo>
                  <a:lnTo>
                    <a:pt x="574" y="215"/>
                  </a:lnTo>
                  <a:lnTo>
                    <a:pt x="453" y="259"/>
                  </a:lnTo>
                  <a:lnTo>
                    <a:pt x="350" y="94"/>
                  </a:lnTo>
                  <a:lnTo>
                    <a:pt x="224" y="4"/>
                  </a:lnTo>
                  <a:lnTo>
                    <a:pt x="179" y="2"/>
                  </a:lnTo>
                  <a:lnTo>
                    <a:pt x="116" y="26"/>
                  </a:lnTo>
                  <a:lnTo>
                    <a:pt x="115" y="29"/>
                  </a:lnTo>
                  <a:lnTo>
                    <a:pt x="115" y="38"/>
                  </a:lnTo>
                  <a:lnTo>
                    <a:pt x="112" y="51"/>
                  </a:lnTo>
                  <a:lnTo>
                    <a:pt x="110" y="66"/>
                  </a:lnTo>
                  <a:lnTo>
                    <a:pt x="108" y="81"/>
                  </a:lnTo>
                  <a:lnTo>
                    <a:pt x="107" y="94"/>
                  </a:lnTo>
                  <a:lnTo>
                    <a:pt x="106" y="103"/>
                  </a:lnTo>
                  <a:lnTo>
                    <a:pt x="106" y="107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16" name="Freeform 16"/>
            <p:cNvSpPr>
              <a:spLocks noChangeAspect="1"/>
            </p:cNvSpPr>
            <p:nvPr/>
          </p:nvSpPr>
          <p:spPr bwMode="gray">
            <a:xfrm>
              <a:off x="6600542" y="3614260"/>
              <a:ext cx="258568" cy="435736"/>
            </a:xfrm>
            <a:custGeom>
              <a:avLst/>
              <a:gdLst/>
              <a:ahLst/>
              <a:cxnLst>
                <a:cxn ang="0">
                  <a:pos x="0" y="216"/>
                </a:cxn>
                <a:cxn ang="0">
                  <a:pos x="59" y="214"/>
                </a:cxn>
                <a:cxn ang="0">
                  <a:pos x="124" y="95"/>
                </a:cxn>
                <a:cxn ang="0">
                  <a:pos x="148" y="10"/>
                </a:cxn>
                <a:cxn ang="0">
                  <a:pos x="224" y="0"/>
                </a:cxn>
                <a:cxn ang="0">
                  <a:pos x="236" y="76"/>
                </a:cxn>
                <a:cxn ang="0">
                  <a:pos x="227" y="129"/>
                </a:cxn>
                <a:cxn ang="0">
                  <a:pos x="360" y="166"/>
                </a:cxn>
                <a:cxn ang="0">
                  <a:pos x="320" y="249"/>
                </a:cxn>
                <a:cxn ang="0">
                  <a:pos x="242" y="234"/>
                </a:cxn>
                <a:cxn ang="0">
                  <a:pos x="214" y="261"/>
                </a:cxn>
                <a:cxn ang="0">
                  <a:pos x="216" y="314"/>
                </a:cxn>
                <a:cxn ang="0">
                  <a:pos x="263" y="323"/>
                </a:cxn>
                <a:cxn ang="0">
                  <a:pos x="264" y="365"/>
                </a:cxn>
                <a:cxn ang="0">
                  <a:pos x="220" y="370"/>
                </a:cxn>
                <a:cxn ang="0">
                  <a:pos x="222" y="401"/>
                </a:cxn>
                <a:cxn ang="0">
                  <a:pos x="97" y="374"/>
                </a:cxn>
                <a:cxn ang="0">
                  <a:pos x="104" y="280"/>
                </a:cxn>
                <a:cxn ang="0">
                  <a:pos x="0" y="216"/>
                </a:cxn>
              </a:cxnLst>
              <a:rect l="0" t="0" r="r" b="b"/>
              <a:pathLst>
                <a:path w="361" h="402">
                  <a:moveTo>
                    <a:pt x="0" y="216"/>
                  </a:moveTo>
                  <a:lnTo>
                    <a:pt x="59" y="214"/>
                  </a:lnTo>
                  <a:lnTo>
                    <a:pt x="124" y="95"/>
                  </a:lnTo>
                  <a:lnTo>
                    <a:pt x="148" y="10"/>
                  </a:lnTo>
                  <a:lnTo>
                    <a:pt x="224" y="0"/>
                  </a:lnTo>
                  <a:lnTo>
                    <a:pt x="236" y="76"/>
                  </a:lnTo>
                  <a:lnTo>
                    <a:pt x="227" y="129"/>
                  </a:lnTo>
                  <a:lnTo>
                    <a:pt x="360" y="166"/>
                  </a:lnTo>
                  <a:lnTo>
                    <a:pt x="320" y="249"/>
                  </a:lnTo>
                  <a:lnTo>
                    <a:pt x="242" y="234"/>
                  </a:lnTo>
                  <a:lnTo>
                    <a:pt x="214" y="261"/>
                  </a:lnTo>
                  <a:lnTo>
                    <a:pt x="216" y="314"/>
                  </a:lnTo>
                  <a:lnTo>
                    <a:pt x="263" y="323"/>
                  </a:lnTo>
                  <a:lnTo>
                    <a:pt x="264" y="365"/>
                  </a:lnTo>
                  <a:lnTo>
                    <a:pt x="220" y="370"/>
                  </a:lnTo>
                  <a:lnTo>
                    <a:pt x="222" y="401"/>
                  </a:lnTo>
                  <a:lnTo>
                    <a:pt x="97" y="374"/>
                  </a:lnTo>
                  <a:lnTo>
                    <a:pt x="104" y="280"/>
                  </a:lnTo>
                  <a:lnTo>
                    <a:pt x="0" y="216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17" name="Freeform 17"/>
            <p:cNvSpPr>
              <a:spLocks/>
            </p:cNvSpPr>
            <p:nvPr/>
          </p:nvSpPr>
          <p:spPr bwMode="gray">
            <a:xfrm>
              <a:off x="7023985" y="3458437"/>
              <a:ext cx="301432" cy="637942"/>
            </a:xfrm>
            <a:custGeom>
              <a:avLst/>
              <a:gdLst/>
              <a:ahLst/>
              <a:cxnLst>
                <a:cxn ang="0">
                  <a:pos x="289" y="0"/>
                </a:cxn>
                <a:cxn ang="0">
                  <a:pos x="359" y="33"/>
                </a:cxn>
                <a:cxn ang="0">
                  <a:pos x="374" y="91"/>
                </a:cxn>
                <a:cxn ang="0">
                  <a:pos x="294" y="191"/>
                </a:cxn>
                <a:cxn ang="0">
                  <a:pos x="288" y="241"/>
                </a:cxn>
                <a:cxn ang="0">
                  <a:pos x="348" y="271"/>
                </a:cxn>
                <a:cxn ang="0">
                  <a:pos x="352" y="333"/>
                </a:cxn>
                <a:cxn ang="0">
                  <a:pos x="305" y="384"/>
                </a:cxn>
                <a:cxn ang="0">
                  <a:pos x="345" y="431"/>
                </a:cxn>
                <a:cxn ang="0">
                  <a:pos x="324" y="499"/>
                </a:cxn>
                <a:cxn ang="0">
                  <a:pos x="183" y="527"/>
                </a:cxn>
                <a:cxn ang="0">
                  <a:pos x="149" y="587"/>
                </a:cxn>
                <a:cxn ang="0">
                  <a:pos x="51" y="603"/>
                </a:cxn>
                <a:cxn ang="0">
                  <a:pos x="60" y="514"/>
                </a:cxn>
                <a:cxn ang="0">
                  <a:pos x="0" y="466"/>
                </a:cxn>
                <a:cxn ang="0">
                  <a:pos x="6" y="359"/>
                </a:cxn>
                <a:cxn ang="0">
                  <a:pos x="39" y="333"/>
                </a:cxn>
                <a:cxn ang="0">
                  <a:pos x="11" y="245"/>
                </a:cxn>
                <a:cxn ang="0">
                  <a:pos x="39" y="155"/>
                </a:cxn>
                <a:cxn ang="0">
                  <a:pos x="145" y="33"/>
                </a:cxn>
                <a:cxn ang="0">
                  <a:pos x="289" y="0"/>
                </a:cxn>
              </a:cxnLst>
              <a:rect l="0" t="0" r="r" b="b"/>
              <a:pathLst>
                <a:path w="375" h="604">
                  <a:moveTo>
                    <a:pt x="289" y="0"/>
                  </a:moveTo>
                  <a:lnTo>
                    <a:pt x="359" y="33"/>
                  </a:lnTo>
                  <a:lnTo>
                    <a:pt x="374" y="91"/>
                  </a:lnTo>
                  <a:lnTo>
                    <a:pt x="294" y="191"/>
                  </a:lnTo>
                  <a:lnTo>
                    <a:pt x="288" y="241"/>
                  </a:lnTo>
                  <a:lnTo>
                    <a:pt x="348" y="271"/>
                  </a:lnTo>
                  <a:lnTo>
                    <a:pt x="352" y="333"/>
                  </a:lnTo>
                  <a:lnTo>
                    <a:pt x="305" y="384"/>
                  </a:lnTo>
                  <a:lnTo>
                    <a:pt x="345" y="431"/>
                  </a:lnTo>
                  <a:lnTo>
                    <a:pt x="324" y="499"/>
                  </a:lnTo>
                  <a:lnTo>
                    <a:pt x="183" y="527"/>
                  </a:lnTo>
                  <a:lnTo>
                    <a:pt x="149" y="587"/>
                  </a:lnTo>
                  <a:lnTo>
                    <a:pt x="51" y="603"/>
                  </a:lnTo>
                  <a:lnTo>
                    <a:pt x="60" y="514"/>
                  </a:lnTo>
                  <a:lnTo>
                    <a:pt x="0" y="466"/>
                  </a:lnTo>
                  <a:lnTo>
                    <a:pt x="6" y="359"/>
                  </a:lnTo>
                  <a:lnTo>
                    <a:pt x="39" y="333"/>
                  </a:lnTo>
                  <a:lnTo>
                    <a:pt x="11" y="245"/>
                  </a:lnTo>
                  <a:lnTo>
                    <a:pt x="39" y="155"/>
                  </a:lnTo>
                  <a:lnTo>
                    <a:pt x="145" y="33"/>
                  </a:lnTo>
                  <a:lnTo>
                    <a:pt x="289" y="0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18" name="Freeform 18"/>
            <p:cNvSpPr>
              <a:spLocks/>
            </p:cNvSpPr>
            <p:nvPr/>
          </p:nvSpPr>
          <p:spPr bwMode="gray">
            <a:xfrm>
              <a:off x="7607472" y="3063046"/>
              <a:ext cx="512435" cy="499157"/>
            </a:xfrm>
            <a:custGeom>
              <a:avLst/>
              <a:gdLst/>
              <a:ahLst/>
              <a:cxnLst>
                <a:cxn ang="0">
                  <a:pos x="641" y="171"/>
                </a:cxn>
                <a:cxn ang="0">
                  <a:pos x="524" y="296"/>
                </a:cxn>
                <a:cxn ang="0">
                  <a:pos x="369" y="378"/>
                </a:cxn>
                <a:cxn ang="0">
                  <a:pos x="292" y="470"/>
                </a:cxn>
                <a:cxn ang="0">
                  <a:pos x="252" y="452"/>
                </a:cxn>
                <a:cxn ang="0">
                  <a:pos x="276" y="401"/>
                </a:cxn>
                <a:cxn ang="0">
                  <a:pos x="249" y="364"/>
                </a:cxn>
                <a:cxn ang="0">
                  <a:pos x="288" y="265"/>
                </a:cxn>
                <a:cxn ang="0">
                  <a:pos x="237" y="246"/>
                </a:cxn>
                <a:cxn ang="0">
                  <a:pos x="126" y="345"/>
                </a:cxn>
                <a:cxn ang="0">
                  <a:pos x="33" y="321"/>
                </a:cxn>
                <a:cxn ang="0">
                  <a:pos x="0" y="268"/>
                </a:cxn>
                <a:cxn ang="0">
                  <a:pos x="18" y="238"/>
                </a:cxn>
                <a:cxn ang="0">
                  <a:pos x="0" y="152"/>
                </a:cxn>
                <a:cxn ang="0">
                  <a:pos x="56" y="149"/>
                </a:cxn>
                <a:cxn ang="0">
                  <a:pos x="96" y="174"/>
                </a:cxn>
                <a:cxn ang="0">
                  <a:pos x="361" y="7"/>
                </a:cxn>
                <a:cxn ang="0">
                  <a:pos x="486" y="0"/>
                </a:cxn>
                <a:cxn ang="0">
                  <a:pos x="540" y="60"/>
                </a:cxn>
                <a:cxn ang="0">
                  <a:pos x="542" y="129"/>
                </a:cxn>
                <a:cxn ang="0">
                  <a:pos x="591" y="132"/>
                </a:cxn>
                <a:cxn ang="0">
                  <a:pos x="641" y="171"/>
                </a:cxn>
              </a:cxnLst>
              <a:rect l="0" t="0" r="r" b="b"/>
              <a:pathLst>
                <a:path w="642" h="471">
                  <a:moveTo>
                    <a:pt x="641" y="171"/>
                  </a:moveTo>
                  <a:lnTo>
                    <a:pt x="524" y="296"/>
                  </a:lnTo>
                  <a:lnTo>
                    <a:pt x="369" y="378"/>
                  </a:lnTo>
                  <a:lnTo>
                    <a:pt x="292" y="470"/>
                  </a:lnTo>
                  <a:lnTo>
                    <a:pt x="252" y="452"/>
                  </a:lnTo>
                  <a:lnTo>
                    <a:pt x="276" y="401"/>
                  </a:lnTo>
                  <a:lnTo>
                    <a:pt x="249" y="364"/>
                  </a:lnTo>
                  <a:lnTo>
                    <a:pt x="288" y="265"/>
                  </a:lnTo>
                  <a:lnTo>
                    <a:pt x="237" y="246"/>
                  </a:lnTo>
                  <a:lnTo>
                    <a:pt x="126" y="345"/>
                  </a:lnTo>
                  <a:lnTo>
                    <a:pt x="33" y="321"/>
                  </a:lnTo>
                  <a:lnTo>
                    <a:pt x="0" y="268"/>
                  </a:lnTo>
                  <a:lnTo>
                    <a:pt x="18" y="238"/>
                  </a:lnTo>
                  <a:lnTo>
                    <a:pt x="0" y="152"/>
                  </a:lnTo>
                  <a:lnTo>
                    <a:pt x="56" y="149"/>
                  </a:lnTo>
                  <a:lnTo>
                    <a:pt x="96" y="174"/>
                  </a:lnTo>
                  <a:lnTo>
                    <a:pt x="361" y="7"/>
                  </a:lnTo>
                  <a:lnTo>
                    <a:pt x="486" y="0"/>
                  </a:lnTo>
                  <a:lnTo>
                    <a:pt x="540" y="60"/>
                  </a:lnTo>
                  <a:lnTo>
                    <a:pt x="542" y="129"/>
                  </a:lnTo>
                  <a:lnTo>
                    <a:pt x="591" y="132"/>
                  </a:lnTo>
                  <a:lnTo>
                    <a:pt x="641" y="171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19" name="Freeform 19"/>
            <p:cNvSpPr>
              <a:spLocks/>
            </p:cNvSpPr>
            <p:nvPr/>
          </p:nvSpPr>
          <p:spPr bwMode="gray">
            <a:xfrm>
              <a:off x="7241392" y="3208858"/>
              <a:ext cx="467220" cy="714914"/>
            </a:xfrm>
            <a:custGeom>
              <a:avLst/>
              <a:gdLst/>
              <a:ahLst/>
              <a:cxnLst>
                <a:cxn ang="0">
                  <a:pos x="498" y="179"/>
                </a:cxn>
                <a:cxn ang="0">
                  <a:pos x="456" y="124"/>
                </a:cxn>
                <a:cxn ang="0">
                  <a:pos x="381" y="96"/>
                </a:cxn>
                <a:cxn ang="0">
                  <a:pos x="381" y="26"/>
                </a:cxn>
                <a:cxn ang="0">
                  <a:pos x="305" y="0"/>
                </a:cxn>
                <a:cxn ang="0">
                  <a:pos x="247" y="33"/>
                </a:cxn>
                <a:cxn ang="0">
                  <a:pos x="248" y="95"/>
                </a:cxn>
                <a:cxn ang="0">
                  <a:pos x="164" y="93"/>
                </a:cxn>
                <a:cxn ang="0">
                  <a:pos x="104" y="123"/>
                </a:cxn>
                <a:cxn ang="0">
                  <a:pos x="37" y="101"/>
                </a:cxn>
                <a:cxn ang="0">
                  <a:pos x="0" y="174"/>
                </a:cxn>
                <a:cxn ang="0">
                  <a:pos x="15" y="246"/>
                </a:cxn>
                <a:cxn ang="0">
                  <a:pos x="88" y="283"/>
                </a:cxn>
                <a:cxn ang="0">
                  <a:pos x="103" y="336"/>
                </a:cxn>
                <a:cxn ang="0">
                  <a:pos x="15" y="434"/>
                </a:cxn>
                <a:cxn ang="0">
                  <a:pos x="16" y="488"/>
                </a:cxn>
                <a:cxn ang="0">
                  <a:pos x="73" y="519"/>
                </a:cxn>
                <a:cxn ang="0">
                  <a:pos x="73" y="572"/>
                </a:cxn>
                <a:cxn ang="0">
                  <a:pos x="33" y="628"/>
                </a:cxn>
                <a:cxn ang="0">
                  <a:pos x="73" y="677"/>
                </a:cxn>
                <a:cxn ang="0">
                  <a:pos x="164" y="677"/>
                </a:cxn>
                <a:cxn ang="0">
                  <a:pos x="213" y="647"/>
                </a:cxn>
                <a:cxn ang="0">
                  <a:pos x="222" y="585"/>
                </a:cxn>
                <a:cxn ang="0">
                  <a:pos x="254" y="546"/>
                </a:cxn>
                <a:cxn ang="0">
                  <a:pos x="297" y="503"/>
                </a:cxn>
                <a:cxn ang="0">
                  <a:pos x="349" y="503"/>
                </a:cxn>
                <a:cxn ang="0">
                  <a:pos x="426" y="449"/>
                </a:cxn>
                <a:cxn ang="0">
                  <a:pos x="383" y="382"/>
                </a:cxn>
                <a:cxn ang="0">
                  <a:pos x="405" y="325"/>
                </a:cxn>
                <a:cxn ang="0">
                  <a:pos x="460" y="329"/>
                </a:cxn>
                <a:cxn ang="0">
                  <a:pos x="536" y="310"/>
                </a:cxn>
                <a:cxn ang="0">
                  <a:pos x="585" y="201"/>
                </a:cxn>
                <a:cxn ang="0">
                  <a:pos x="498" y="179"/>
                </a:cxn>
              </a:cxnLst>
              <a:rect l="0" t="0" r="r" b="b"/>
              <a:pathLst>
                <a:path w="586" h="678">
                  <a:moveTo>
                    <a:pt x="498" y="179"/>
                  </a:moveTo>
                  <a:lnTo>
                    <a:pt x="456" y="124"/>
                  </a:lnTo>
                  <a:lnTo>
                    <a:pt x="381" y="96"/>
                  </a:lnTo>
                  <a:lnTo>
                    <a:pt x="381" y="26"/>
                  </a:lnTo>
                  <a:lnTo>
                    <a:pt x="305" y="0"/>
                  </a:lnTo>
                  <a:lnTo>
                    <a:pt x="247" y="33"/>
                  </a:lnTo>
                  <a:lnTo>
                    <a:pt x="248" y="95"/>
                  </a:lnTo>
                  <a:lnTo>
                    <a:pt x="164" y="93"/>
                  </a:lnTo>
                  <a:lnTo>
                    <a:pt x="104" y="123"/>
                  </a:lnTo>
                  <a:lnTo>
                    <a:pt x="37" y="101"/>
                  </a:lnTo>
                  <a:lnTo>
                    <a:pt x="0" y="174"/>
                  </a:lnTo>
                  <a:lnTo>
                    <a:pt x="15" y="246"/>
                  </a:lnTo>
                  <a:lnTo>
                    <a:pt x="88" y="283"/>
                  </a:lnTo>
                  <a:lnTo>
                    <a:pt x="103" y="336"/>
                  </a:lnTo>
                  <a:lnTo>
                    <a:pt x="15" y="434"/>
                  </a:lnTo>
                  <a:lnTo>
                    <a:pt x="16" y="488"/>
                  </a:lnTo>
                  <a:lnTo>
                    <a:pt x="73" y="519"/>
                  </a:lnTo>
                  <a:lnTo>
                    <a:pt x="73" y="572"/>
                  </a:lnTo>
                  <a:lnTo>
                    <a:pt x="33" y="628"/>
                  </a:lnTo>
                  <a:lnTo>
                    <a:pt x="73" y="677"/>
                  </a:lnTo>
                  <a:lnTo>
                    <a:pt x="164" y="677"/>
                  </a:lnTo>
                  <a:lnTo>
                    <a:pt x="213" y="647"/>
                  </a:lnTo>
                  <a:lnTo>
                    <a:pt x="222" y="585"/>
                  </a:lnTo>
                  <a:lnTo>
                    <a:pt x="254" y="546"/>
                  </a:lnTo>
                  <a:lnTo>
                    <a:pt x="297" y="503"/>
                  </a:lnTo>
                  <a:lnTo>
                    <a:pt x="349" y="503"/>
                  </a:lnTo>
                  <a:lnTo>
                    <a:pt x="426" y="449"/>
                  </a:lnTo>
                  <a:lnTo>
                    <a:pt x="383" y="382"/>
                  </a:lnTo>
                  <a:lnTo>
                    <a:pt x="405" y="325"/>
                  </a:lnTo>
                  <a:lnTo>
                    <a:pt x="460" y="329"/>
                  </a:lnTo>
                  <a:lnTo>
                    <a:pt x="536" y="310"/>
                  </a:lnTo>
                  <a:lnTo>
                    <a:pt x="585" y="201"/>
                  </a:lnTo>
                  <a:lnTo>
                    <a:pt x="498" y="179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</a:pPr>
              <a:endParaRPr lang="en-US" sz="1200">
                <a:solidFill>
                  <a:srgbClr val="000000"/>
                </a:solidFill>
              </a:endParaRPr>
            </a:p>
          </p:txBody>
        </p:sp>
        <p:sp>
          <p:nvSpPr>
            <p:cNvPr id="1520" name="Freeform 20"/>
            <p:cNvSpPr>
              <a:spLocks/>
            </p:cNvSpPr>
            <p:nvPr/>
          </p:nvSpPr>
          <p:spPr bwMode="gray">
            <a:xfrm>
              <a:off x="7723739" y="2771511"/>
              <a:ext cx="701907" cy="468835"/>
            </a:xfrm>
            <a:custGeom>
              <a:avLst/>
              <a:gdLst/>
              <a:ahLst/>
              <a:cxnLst>
                <a:cxn ang="0">
                  <a:pos x="878" y="119"/>
                </a:cxn>
                <a:cxn ang="0">
                  <a:pos x="748" y="73"/>
                </a:cxn>
                <a:cxn ang="0">
                  <a:pos x="691" y="112"/>
                </a:cxn>
                <a:cxn ang="0">
                  <a:pos x="607" y="60"/>
                </a:cxn>
                <a:cxn ang="0">
                  <a:pos x="544" y="52"/>
                </a:cxn>
                <a:cxn ang="0">
                  <a:pos x="544" y="96"/>
                </a:cxn>
                <a:cxn ang="0">
                  <a:pos x="449" y="23"/>
                </a:cxn>
                <a:cxn ang="0">
                  <a:pos x="393" y="30"/>
                </a:cxn>
                <a:cxn ang="0">
                  <a:pos x="324" y="20"/>
                </a:cxn>
                <a:cxn ang="0">
                  <a:pos x="265" y="39"/>
                </a:cxn>
                <a:cxn ang="0">
                  <a:pos x="94" y="0"/>
                </a:cxn>
                <a:cxn ang="0">
                  <a:pos x="78" y="46"/>
                </a:cxn>
                <a:cxn ang="0">
                  <a:pos x="27" y="37"/>
                </a:cxn>
                <a:cxn ang="0">
                  <a:pos x="0" y="50"/>
                </a:cxn>
                <a:cxn ang="0">
                  <a:pos x="102" y="200"/>
                </a:cxn>
                <a:cxn ang="0">
                  <a:pos x="130" y="163"/>
                </a:cxn>
                <a:cxn ang="0">
                  <a:pos x="218" y="209"/>
                </a:cxn>
                <a:cxn ang="0">
                  <a:pos x="230" y="280"/>
                </a:cxn>
                <a:cxn ang="0">
                  <a:pos x="355" y="273"/>
                </a:cxn>
                <a:cxn ang="0">
                  <a:pos x="399" y="342"/>
                </a:cxn>
                <a:cxn ang="0">
                  <a:pos x="404" y="407"/>
                </a:cxn>
                <a:cxn ang="0">
                  <a:pos x="455" y="410"/>
                </a:cxn>
                <a:cxn ang="0">
                  <a:pos x="505" y="443"/>
                </a:cxn>
                <a:cxn ang="0">
                  <a:pos x="530" y="352"/>
                </a:cxn>
                <a:cxn ang="0">
                  <a:pos x="622" y="377"/>
                </a:cxn>
                <a:cxn ang="0">
                  <a:pos x="699" y="358"/>
                </a:cxn>
                <a:cxn ang="0">
                  <a:pos x="657" y="292"/>
                </a:cxn>
                <a:cxn ang="0">
                  <a:pos x="717" y="289"/>
                </a:cxn>
                <a:cxn ang="0">
                  <a:pos x="773" y="244"/>
                </a:cxn>
                <a:cxn ang="0">
                  <a:pos x="771" y="181"/>
                </a:cxn>
                <a:cxn ang="0">
                  <a:pos x="838" y="179"/>
                </a:cxn>
                <a:cxn ang="0">
                  <a:pos x="878" y="119"/>
                </a:cxn>
              </a:cxnLst>
              <a:rect l="0" t="0" r="r" b="b"/>
              <a:pathLst>
                <a:path w="879" h="444">
                  <a:moveTo>
                    <a:pt x="878" y="119"/>
                  </a:moveTo>
                  <a:lnTo>
                    <a:pt x="748" y="73"/>
                  </a:lnTo>
                  <a:lnTo>
                    <a:pt x="691" y="112"/>
                  </a:lnTo>
                  <a:lnTo>
                    <a:pt x="607" y="60"/>
                  </a:lnTo>
                  <a:lnTo>
                    <a:pt x="544" y="52"/>
                  </a:lnTo>
                  <a:lnTo>
                    <a:pt x="544" y="96"/>
                  </a:lnTo>
                  <a:lnTo>
                    <a:pt x="449" y="23"/>
                  </a:lnTo>
                  <a:lnTo>
                    <a:pt x="393" y="30"/>
                  </a:lnTo>
                  <a:lnTo>
                    <a:pt x="324" y="20"/>
                  </a:lnTo>
                  <a:lnTo>
                    <a:pt x="265" y="39"/>
                  </a:lnTo>
                  <a:lnTo>
                    <a:pt x="94" y="0"/>
                  </a:lnTo>
                  <a:lnTo>
                    <a:pt x="78" y="46"/>
                  </a:lnTo>
                  <a:lnTo>
                    <a:pt x="27" y="37"/>
                  </a:lnTo>
                  <a:lnTo>
                    <a:pt x="0" y="50"/>
                  </a:lnTo>
                  <a:lnTo>
                    <a:pt x="102" y="200"/>
                  </a:lnTo>
                  <a:lnTo>
                    <a:pt x="130" y="163"/>
                  </a:lnTo>
                  <a:lnTo>
                    <a:pt x="218" y="209"/>
                  </a:lnTo>
                  <a:lnTo>
                    <a:pt x="230" y="280"/>
                  </a:lnTo>
                  <a:lnTo>
                    <a:pt x="355" y="273"/>
                  </a:lnTo>
                  <a:lnTo>
                    <a:pt x="399" y="342"/>
                  </a:lnTo>
                  <a:lnTo>
                    <a:pt x="404" y="407"/>
                  </a:lnTo>
                  <a:lnTo>
                    <a:pt x="455" y="410"/>
                  </a:lnTo>
                  <a:lnTo>
                    <a:pt x="505" y="443"/>
                  </a:lnTo>
                  <a:lnTo>
                    <a:pt x="530" y="352"/>
                  </a:lnTo>
                  <a:lnTo>
                    <a:pt x="622" y="377"/>
                  </a:lnTo>
                  <a:lnTo>
                    <a:pt x="699" y="358"/>
                  </a:lnTo>
                  <a:lnTo>
                    <a:pt x="657" y="292"/>
                  </a:lnTo>
                  <a:lnTo>
                    <a:pt x="717" y="289"/>
                  </a:lnTo>
                  <a:lnTo>
                    <a:pt x="773" y="244"/>
                  </a:lnTo>
                  <a:lnTo>
                    <a:pt x="771" y="181"/>
                  </a:lnTo>
                  <a:lnTo>
                    <a:pt x="838" y="179"/>
                  </a:lnTo>
                  <a:lnTo>
                    <a:pt x="878" y="119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21" name="Freeform 21"/>
            <p:cNvSpPr>
              <a:spLocks/>
            </p:cNvSpPr>
            <p:nvPr/>
          </p:nvSpPr>
          <p:spPr bwMode="gray">
            <a:xfrm>
              <a:off x="6692345" y="3599759"/>
              <a:ext cx="465423" cy="784890"/>
            </a:xfrm>
            <a:custGeom>
              <a:avLst/>
              <a:gdLst/>
              <a:ahLst/>
              <a:cxnLst>
                <a:cxn ang="0">
                  <a:pos x="24" y="669"/>
                </a:cxn>
                <a:cxn ang="0">
                  <a:pos x="144" y="688"/>
                </a:cxn>
                <a:cxn ang="0">
                  <a:pos x="209" y="712"/>
                </a:cxn>
                <a:cxn ang="0">
                  <a:pos x="284" y="705"/>
                </a:cxn>
                <a:cxn ang="0">
                  <a:pos x="337" y="736"/>
                </a:cxn>
                <a:cxn ang="0">
                  <a:pos x="404" y="742"/>
                </a:cxn>
                <a:cxn ang="0">
                  <a:pos x="422" y="639"/>
                </a:cxn>
                <a:cxn ang="0">
                  <a:pos x="371" y="582"/>
                </a:cxn>
                <a:cxn ang="0">
                  <a:pos x="526" y="600"/>
                </a:cxn>
                <a:cxn ang="0">
                  <a:pos x="520" y="551"/>
                </a:cxn>
                <a:cxn ang="0">
                  <a:pos x="461" y="455"/>
                </a:cxn>
                <a:cxn ang="0">
                  <a:pos x="464" y="370"/>
                </a:cxn>
                <a:cxn ang="0">
                  <a:pos x="411" y="313"/>
                </a:cxn>
                <a:cxn ang="0">
                  <a:pos x="410" y="215"/>
                </a:cxn>
                <a:cxn ang="0">
                  <a:pos x="454" y="190"/>
                </a:cxn>
                <a:cxn ang="0">
                  <a:pos x="415" y="103"/>
                </a:cxn>
                <a:cxn ang="0">
                  <a:pos x="449" y="11"/>
                </a:cxn>
                <a:cxn ang="0">
                  <a:pos x="366" y="0"/>
                </a:cxn>
                <a:cxn ang="0">
                  <a:pos x="321" y="67"/>
                </a:cxn>
                <a:cxn ang="0">
                  <a:pos x="283" y="72"/>
                </a:cxn>
                <a:cxn ang="0">
                  <a:pos x="194" y="186"/>
                </a:cxn>
                <a:cxn ang="0">
                  <a:pos x="157" y="262"/>
                </a:cxn>
                <a:cxn ang="0">
                  <a:pos x="253" y="288"/>
                </a:cxn>
                <a:cxn ang="0">
                  <a:pos x="275" y="342"/>
                </a:cxn>
                <a:cxn ang="0">
                  <a:pos x="251" y="380"/>
                </a:cxn>
                <a:cxn ang="0">
                  <a:pos x="264" y="411"/>
                </a:cxn>
                <a:cxn ang="0">
                  <a:pos x="237" y="423"/>
                </a:cxn>
                <a:cxn ang="0">
                  <a:pos x="201" y="423"/>
                </a:cxn>
                <a:cxn ang="0">
                  <a:pos x="166" y="455"/>
                </a:cxn>
                <a:cxn ang="0">
                  <a:pos x="101" y="441"/>
                </a:cxn>
                <a:cxn ang="0">
                  <a:pos x="54" y="507"/>
                </a:cxn>
                <a:cxn ang="0">
                  <a:pos x="76" y="520"/>
                </a:cxn>
                <a:cxn ang="0">
                  <a:pos x="63" y="591"/>
                </a:cxn>
                <a:cxn ang="0">
                  <a:pos x="0" y="606"/>
                </a:cxn>
                <a:cxn ang="0">
                  <a:pos x="24" y="669"/>
                </a:cxn>
              </a:cxnLst>
              <a:rect l="0" t="0" r="r" b="b"/>
              <a:pathLst>
                <a:path w="527" h="743">
                  <a:moveTo>
                    <a:pt x="24" y="669"/>
                  </a:moveTo>
                  <a:lnTo>
                    <a:pt x="144" y="688"/>
                  </a:lnTo>
                  <a:lnTo>
                    <a:pt x="209" y="712"/>
                  </a:lnTo>
                  <a:lnTo>
                    <a:pt x="284" y="705"/>
                  </a:lnTo>
                  <a:lnTo>
                    <a:pt x="337" y="736"/>
                  </a:lnTo>
                  <a:lnTo>
                    <a:pt x="404" y="742"/>
                  </a:lnTo>
                  <a:lnTo>
                    <a:pt x="422" y="639"/>
                  </a:lnTo>
                  <a:lnTo>
                    <a:pt x="371" y="582"/>
                  </a:lnTo>
                  <a:lnTo>
                    <a:pt x="526" y="600"/>
                  </a:lnTo>
                  <a:lnTo>
                    <a:pt x="520" y="551"/>
                  </a:lnTo>
                  <a:lnTo>
                    <a:pt x="461" y="455"/>
                  </a:lnTo>
                  <a:lnTo>
                    <a:pt x="464" y="370"/>
                  </a:lnTo>
                  <a:lnTo>
                    <a:pt x="411" y="313"/>
                  </a:lnTo>
                  <a:lnTo>
                    <a:pt x="410" y="215"/>
                  </a:lnTo>
                  <a:lnTo>
                    <a:pt x="454" y="190"/>
                  </a:lnTo>
                  <a:lnTo>
                    <a:pt x="415" y="103"/>
                  </a:lnTo>
                  <a:lnTo>
                    <a:pt x="449" y="11"/>
                  </a:lnTo>
                  <a:lnTo>
                    <a:pt x="366" y="0"/>
                  </a:lnTo>
                  <a:lnTo>
                    <a:pt x="321" y="67"/>
                  </a:lnTo>
                  <a:lnTo>
                    <a:pt x="283" y="72"/>
                  </a:lnTo>
                  <a:lnTo>
                    <a:pt x="194" y="186"/>
                  </a:lnTo>
                  <a:lnTo>
                    <a:pt x="157" y="262"/>
                  </a:lnTo>
                  <a:lnTo>
                    <a:pt x="253" y="288"/>
                  </a:lnTo>
                  <a:lnTo>
                    <a:pt x="275" y="342"/>
                  </a:lnTo>
                  <a:lnTo>
                    <a:pt x="251" y="380"/>
                  </a:lnTo>
                  <a:lnTo>
                    <a:pt x="264" y="411"/>
                  </a:lnTo>
                  <a:lnTo>
                    <a:pt x="237" y="423"/>
                  </a:lnTo>
                  <a:lnTo>
                    <a:pt x="201" y="423"/>
                  </a:lnTo>
                  <a:lnTo>
                    <a:pt x="166" y="455"/>
                  </a:lnTo>
                  <a:lnTo>
                    <a:pt x="101" y="441"/>
                  </a:lnTo>
                  <a:lnTo>
                    <a:pt x="54" y="507"/>
                  </a:lnTo>
                  <a:lnTo>
                    <a:pt x="76" y="520"/>
                  </a:lnTo>
                  <a:lnTo>
                    <a:pt x="63" y="591"/>
                  </a:lnTo>
                  <a:lnTo>
                    <a:pt x="0" y="606"/>
                  </a:lnTo>
                  <a:lnTo>
                    <a:pt x="24" y="669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22" name="Freeform 24"/>
            <p:cNvSpPr>
              <a:spLocks/>
            </p:cNvSpPr>
            <p:nvPr/>
          </p:nvSpPr>
          <p:spPr bwMode="gray">
            <a:xfrm>
              <a:off x="7415956" y="3650868"/>
              <a:ext cx="543655" cy="377867"/>
            </a:xfrm>
            <a:custGeom>
              <a:avLst/>
              <a:gdLst/>
              <a:ahLst/>
              <a:cxnLst>
                <a:cxn ang="0">
                  <a:pos x="215" y="20"/>
                </a:cxn>
                <a:cxn ang="0">
                  <a:pos x="291" y="14"/>
                </a:cxn>
                <a:cxn ang="0">
                  <a:pos x="316" y="69"/>
                </a:cxn>
                <a:cxn ang="0">
                  <a:pos x="400" y="93"/>
                </a:cxn>
                <a:cxn ang="0">
                  <a:pos x="471" y="0"/>
                </a:cxn>
                <a:cxn ang="0">
                  <a:pos x="552" y="20"/>
                </a:cxn>
                <a:cxn ang="0">
                  <a:pos x="665" y="11"/>
                </a:cxn>
                <a:cxn ang="0">
                  <a:pos x="680" y="63"/>
                </a:cxn>
                <a:cxn ang="0">
                  <a:pos x="558" y="154"/>
                </a:cxn>
                <a:cxn ang="0">
                  <a:pos x="501" y="154"/>
                </a:cxn>
                <a:cxn ang="0">
                  <a:pos x="486" y="224"/>
                </a:cxn>
                <a:cxn ang="0">
                  <a:pos x="424" y="287"/>
                </a:cxn>
                <a:cxn ang="0">
                  <a:pos x="375" y="330"/>
                </a:cxn>
                <a:cxn ang="0">
                  <a:pos x="289" y="329"/>
                </a:cxn>
                <a:cxn ang="0">
                  <a:pos x="243" y="352"/>
                </a:cxn>
                <a:cxn ang="0">
                  <a:pos x="203" y="334"/>
                </a:cxn>
                <a:cxn ang="0">
                  <a:pos x="130" y="344"/>
                </a:cxn>
                <a:cxn ang="0">
                  <a:pos x="66" y="359"/>
                </a:cxn>
                <a:cxn ang="0">
                  <a:pos x="11" y="322"/>
                </a:cxn>
                <a:cxn ang="0">
                  <a:pos x="60" y="257"/>
                </a:cxn>
                <a:cxn ang="0">
                  <a:pos x="0" y="217"/>
                </a:cxn>
                <a:cxn ang="0">
                  <a:pos x="10" y="152"/>
                </a:cxn>
                <a:cxn ang="0">
                  <a:pos x="42" y="119"/>
                </a:cxn>
                <a:cxn ang="0">
                  <a:pos x="88" y="73"/>
                </a:cxn>
                <a:cxn ang="0">
                  <a:pos x="141" y="67"/>
                </a:cxn>
                <a:cxn ang="0">
                  <a:pos x="215" y="20"/>
                </a:cxn>
              </a:cxnLst>
              <a:rect l="0" t="0" r="r" b="b"/>
              <a:pathLst>
                <a:path w="681" h="360">
                  <a:moveTo>
                    <a:pt x="215" y="20"/>
                  </a:moveTo>
                  <a:lnTo>
                    <a:pt x="291" y="14"/>
                  </a:lnTo>
                  <a:lnTo>
                    <a:pt x="316" y="69"/>
                  </a:lnTo>
                  <a:lnTo>
                    <a:pt x="400" y="93"/>
                  </a:lnTo>
                  <a:lnTo>
                    <a:pt x="471" y="0"/>
                  </a:lnTo>
                  <a:lnTo>
                    <a:pt x="552" y="20"/>
                  </a:lnTo>
                  <a:lnTo>
                    <a:pt x="665" y="11"/>
                  </a:lnTo>
                  <a:lnTo>
                    <a:pt x="680" y="63"/>
                  </a:lnTo>
                  <a:lnTo>
                    <a:pt x="558" y="154"/>
                  </a:lnTo>
                  <a:lnTo>
                    <a:pt x="501" y="154"/>
                  </a:lnTo>
                  <a:lnTo>
                    <a:pt x="486" y="224"/>
                  </a:lnTo>
                  <a:lnTo>
                    <a:pt x="424" y="287"/>
                  </a:lnTo>
                  <a:lnTo>
                    <a:pt x="375" y="330"/>
                  </a:lnTo>
                  <a:lnTo>
                    <a:pt x="289" y="329"/>
                  </a:lnTo>
                  <a:lnTo>
                    <a:pt x="243" y="352"/>
                  </a:lnTo>
                  <a:lnTo>
                    <a:pt x="203" y="334"/>
                  </a:lnTo>
                  <a:lnTo>
                    <a:pt x="130" y="344"/>
                  </a:lnTo>
                  <a:lnTo>
                    <a:pt x="66" y="359"/>
                  </a:lnTo>
                  <a:lnTo>
                    <a:pt x="11" y="322"/>
                  </a:lnTo>
                  <a:lnTo>
                    <a:pt x="60" y="257"/>
                  </a:lnTo>
                  <a:lnTo>
                    <a:pt x="0" y="217"/>
                  </a:lnTo>
                  <a:lnTo>
                    <a:pt x="10" y="152"/>
                  </a:lnTo>
                  <a:lnTo>
                    <a:pt x="42" y="119"/>
                  </a:lnTo>
                  <a:lnTo>
                    <a:pt x="88" y="73"/>
                  </a:lnTo>
                  <a:lnTo>
                    <a:pt x="141" y="67"/>
                  </a:lnTo>
                  <a:lnTo>
                    <a:pt x="215" y="20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23" name="Freeform 25"/>
            <p:cNvSpPr>
              <a:spLocks/>
            </p:cNvSpPr>
            <p:nvPr/>
          </p:nvSpPr>
          <p:spPr bwMode="gray">
            <a:xfrm>
              <a:off x="7075660" y="3873624"/>
              <a:ext cx="490904" cy="485162"/>
            </a:xfrm>
            <a:custGeom>
              <a:avLst/>
              <a:gdLst/>
              <a:ahLst/>
              <a:cxnLst>
                <a:cxn ang="0">
                  <a:pos x="287" y="29"/>
                </a:cxn>
                <a:cxn ang="0">
                  <a:pos x="379" y="27"/>
                </a:cxn>
                <a:cxn ang="0">
                  <a:pos x="430" y="0"/>
                </a:cxn>
                <a:cxn ang="0">
                  <a:pos x="489" y="33"/>
                </a:cxn>
                <a:cxn ang="0">
                  <a:pos x="441" y="101"/>
                </a:cxn>
                <a:cxn ang="0">
                  <a:pos x="486" y="134"/>
                </a:cxn>
                <a:cxn ang="0">
                  <a:pos x="562" y="122"/>
                </a:cxn>
                <a:cxn ang="0">
                  <a:pos x="616" y="185"/>
                </a:cxn>
                <a:cxn ang="0">
                  <a:pos x="585" y="239"/>
                </a:cxn>
                <a:cxn ang="0">
                  <a:pos x="511" y="218"/>
                </a:cxn>
                <a:cxn ang="0">
                  <a:pos x="510" y="272"/>
                </a:cxn>
                <a:cxn ang="0">
                  <a:pos x="491" y="303"/>
                </a:cxn>
                <a:cxn ang="0">
                  <a:pos x="527" y="363"/>
                </a:cxn>
                <a:cxn ang="0">
                  <a:pos x="574" y="341"/>
                </a:cxn>
                <a:cxn ang="0">
                  <a:pos x="612" y="409"/>
                </a:cxn>
                <a:cxn ang="0">
                  <a:pos x="544" y="458"/>
                </a:cxn>
                <a:cxn ang="0">
                  <a:pos x="394" y="442"/>
                </a:cxn>
                <a:cxn ang="0">
                  <a:pos x="341" y="400"/>
                </a:cxn>
                <a:cxn ang="0">
                  <a:pos x="185" y="396"/>
                </a:cxn>
                <a:cxn ang="0">
                  <a:pos x="68" y="336"/>
                </a:cxn>
                <a:cxn ang="0">
                  <a:pos x="60" y="291"/>
                </a:cxn>
                <a:cxn ang="0">
                  <a:pos x="0" y="195"/>
                </a:cxn>
                <a:cxn ang="0">
                  <a:pos x="89" y="185"/>
                </a:cxn>
                <a:cxn ang="0">
                  <a:pos x="133" y="122"/>
                </a:cxn>
                <a:cxn ang="0">
                  <a:pos x="270" y="96"/>
                </a:cxn>
                <a:cxn ang="0">
                  <a:pos x="287" y="29"/>
                </a:cxn>
              </a:cxnLst>
              <a:rect l="0" t="0" r="r" b="b"/>
              <a:pathLst>
                <a:path w="617" h="459">
                  <a:moveTo>
                    <a:pt x="287" y="29"/>
                  </a:moveTo>
                  <a:lnTo>
                    <a:pt x="379" y="27"/>
                  </a:lnTo>
                  <a:lnTo>
                    <a:pt x="430" y="0"/>
                  </a:lnTo>
                  <a:lnTo>
                    <a:pt x="489" y="33"/>
                  </a:lnTo>
                  <a:lnTo>
                    <a:pt x="441" y="101"/>
                  </a:lnTo>
                  <a:lnTo>
                    <a:pt x="486" y="134"/>
                  </a:lnTo>
                  <a:lnTo>
                    <a:pt x="562" y="122"/>
                  </a:lnTo>
                  <a:lnTo>
                    <a:pt x="616" y="185"/>
                  </a:lnTo>
                  <a:lnTo>
                    <a:pt x="585" y="239"/>
                  </a:lnTo>
                  <a:lnTo>
                    <a:pt x="511" y="218"/>
                  </a:lnTo>
                  <a:lnTo>
                    <a:pt x="510" y="272"/>
                  </a:lnTo>
                  <a:lnTo>
                    <a:pt x="491" y="303"/>
                  </a:lnTo>
                  <a:lnTo>
                    <a:pt x="527" y="363"/>
                  </a:lnTo>
                  <a:lnTo>
                    <a:pt x="574" y="341"/>
                  </a:lnTo>
                  <a:lnTo>
                    <a:pt x="612" y="409"/>
                  </a:lnTo>
                  <a:lnTo>
                    <a:pt x="544" y="458"/>
                  </a:lnTo>
                  <a:lnTo>
                    <a:pt x="394" y="442"/>
                  </a:lnTo>
                  <a:lnTo>
                    <a:pt x="341" y="400"/>
                  </a:lnTo>
                  <a:lnTo>
                    <a:pt x="185" y="396"/>
                  </a:lnTo>
                  <a:lnTo>
                    <a:pt x="68" y="336"/>
                  </a:lnTo>
                  <a:lnTo>
                    <a:pt x="60" y="291"/>
                  </a:lnTo>
                  <a:lnTo>
                    <a:pt x="0" y="195"/>
                  </a:lnTo>
                  <a:lnTo>
                    <a:pt x="89" y="185"/>
                  </a:lnTo>
                  <a:lnTo>
                    <a:pt x="133" y="122"/>
                  </a:lnTo>
                  <a:lnTo>
                    <a:pt x="270" y="96"/>
                  </a:lnTo>
                  <a:lnTo>
                    <a:pt x="287" y="29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24" name="Freeform 26"/>
            <p:cNvSpPr>
              <a:spLocks/>
            </p:cNvSpPr>
            <p:nvPr/>
          </p:nvSpPr>
          <p:spPr bwMode="gray">
            <a:xfrm>
              <a:off x="7519523" y="3953319"/>
              <a:ext cx="507052" cy="398859"/>
            </a:xfrm>
            <a:custGeom>
              <a:avLst/>
              <a:gdLst/>
              <a:ahLst/>
              <a:cxnLst>
                <a:cxn ang="0">
                  <a:pos x="0" y="57"/>
                </a:cxn>
                <a:cxn ang="0">
                  <a:pos x="71" y="49"/>
                </a:cxn>
                <a:cxn ang="0">
                  <a:pos x="115" y="68"/>
                </a:cxn>
                <a:cxn ang="0">
                  <a:pos x="153" y="43"/>
                </a:cxn>
                <a:cxn ang="0">
                  <a:pos x="243" y="44"/>
                </a:cxn>
                <a:cxn ang="0">
                  <a:pos x="293" y="0"/>
                </a:cxn>
                <a:cxn ang="0">
                  <a:pos x="396" y="44"/>
                </a:cxn>
                <a:cxn ang="0">
                  <a:pos x="446" y="80"/>
                </a:cxn>
                <a:cxn ang="0">
                  <a:pos x="529" y="215"/>
                </a:cxn>
                <a:cxn ang="0">
                  <a:pos x="624" y="247"/>
                </a:cxn>
                <a:cxn ang="0">
                  <a:pos x="568" y="277"/>
                </a:cxn>
                <a:cxn ang="0">
                  <a:pos x="634" y="298"/>
                </a:cxn>
                <a:cxn ang="0">
                  <a:pos x="567" y="331"/>
                </a:cxn>
                <a:cxn ang="0">
                  <a:pos x="508" y="379"/>
                </a:cxn>
                <a:cxn ang="0">
                  <a:pos x="429" y="365"/>
                </a:cxn>
                <a:cxn ang="0">
                  <a:pos x="337" y="376"/>
                </a:cxn>
                <a:cxn ang="0">
                  <a:pos x="327" y="322"/>
                </a:cxn>
                <a:cxn ang="0">
                  <a:pos x="293" y="269"/>
                </a:cxn>
                <a:cxn ang="0">
                  <a:pos x="286" y="231"/>
                </a:cxn>
                <a:cxn ang="0">
                  <a:pos x="220" y="203"/>
                </a:cxn>
                <a:cxn ang="0">
                  <a:pos x="236" y="165"/>
                </a:cxn>
                <a:cxn ang="0">
                  <a:pos x="210" y="131"/>
                </a:cxn>
                <a:cxn ang="0">
                  <a:pos x="117" y="145"/>
                </a:cxn>
                <a:cxn ang="0">
                  <a:pos x="55" y="126"/>
                </a:cxn>
                <a:cxn ang="0">
                  <a:pos x="0" y="57"/>
                </a:cxn>
              </a:cxnLst>
              <a:rect l="0" t="0" r="r" b="b"/>
              <a:pathLst>
                <a:path w="635" h="380">
                  <a:moveTo>
                    <a:pt x="0" y="57"/>
                  </a:moveTo>
                  <a:lnTo>
                    <a:pt x="71" y="49"/>
                  </a:lnTo>
                  <a:lnTo>
                    <a:pt x="115" y="68"/>
                  </a:lnTo>
                  <a:lnTo>
                    <a:pt x="153" y="43"/>
                  </a:lnTo>
                  <a:lnTo>
                    <a:pt x="243" y="44"/>
                  </a:lnTo>
                  <a:lnTo>
                    <a:pt x="293" y="0"/>
                  </a:lnTo>
                  <a:lnTo>
                    <a:pt x="396" y="44"/>
                  </a:lnTo>
                  <a:lnTo>
                    <a:pt x="446" y="80"/>
                  </a:lnTo>
                  <a:lnTo>
                    <a:pt x="529" y="215"/>
                  </a:lnTo>
                  <a:lnTo>
                    <a:pt x="624" y="247"/>
                  </a:lnTo>
                  <a:lnTo>
                    <a:pt x="568" y="277"/>
                  </a:lnTo>
                  <a:lnTo>
                    <a:pt x="634" y="298"/>
                  </a:lnTo>
                  <a:lnTo>
                    <a:pt x="567" y="331"/>
                  </a:lnTo>
                  <a:lnTo>
                    <a:pt x="508" y="379"/>
                  </a:lnTo>
                  <a:lnTo>
                    <a:pt x="429" y="365"/>
                  </a:lnTo>
                  <a:lnTo>
                    <a:pt x="337" y="376"/>
                  </a:lnTo>
                  <a:lnTo>
                    <a:pt x="327" y="322"/>
                  </a:lnTo>
                  <a:lnTo>
                    <a:pt x="293" y="269"/>
                  </a:lnTo>
                  <a:lnTo>
                    <a:pt x="286" y="231"/>
                  </a:lnTo>
                  <a:lnTo>
                    <a:pt x="220" y="203"/>
                  </a:lnTo>
                  <a:lnTo>
                    <a:pt x="236" y="165"/>
                  </a:lnTo>
                  <a:lnTo>
                    <a:pt x="210" y="131"/>
                  </a:lnTo>
                  <a:lnTo>
                    <a:pt x="117" y="145"/>
                  </a:lnTo>
                  <a:lnTo>
                    <a:pt x="55" y="126"/>
                  </a:lnTo>
                  <a:lnTo>
                    <a:pt x="0" y="57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25" name="Freeform 27"/>
            <p:cNvSpPr>
              <a:spLocks/>
            </p:cNvSpPr>
            <p:nvPr/>
          </p:nvSpPr>
          <p:spPr bwMode="gray">
            <a:xfrm>
              <a:off x="7764811" y="4251490"/>
              <a:ext cx="328346" cy="465335"/>
            </a:xfrm>
            <a:custGeom>
              <a:avLst/>
              <a:gdLst/>
              <a:ahLst/>
              <a:cxnLst>
                <a:cxn ang="0">
                  <a:pos x="328" y="0"/>
                </a:cxn>
                <a:cxn ang="0">
                  <a:pos x="259" y="33"/>
                </a:cxn>
                <a:cxn ang="0">
                  <a:pos x="200" y="81"/>
                </a:cxn>
                <a:cxn ang="0">
                  <a:pos x="118" y="70"/>
                </a:cxn>
                <a:cxn ang="0">
                  <a:pos x="98" y="143"/>
                </a:cxn>
                <a:cxn ang="0">
                  <a:pos x="44" y="157"/>
                </a:cxn>
                <a:cxn ang="0">
                  <a:pos x="0" y="256"/>
                </a:cxn>
                <a:cxn ang="0">
                  <a:pos x="32" y="373"/>
                </a:cxn>
                <a:cxn ang="0">
                  <a:pos x="88" y="382"/>
                </a:cxn>
                <a:cxn ang="0">
                  <a:pos x="133" y="440"/>
                </a:cxn>
                <a:cxn ang="0">
                  <a:pos x="179" y="437"/>
                </a:cxn>
                <a:cxn ang="0">
                  <a:pos x="210" y="416"/>
                </a:cxn>
                <a:cxn ang="0">
                  <a:pos x="293" y="422"/>
                </a:cxn>
                <a:cxn ang="0">
                  <a:pos x="335" y="332"/>
                </a:cxn>
                <a:cxn ang="0">
                  <a:pos x="391" y="315"/>
                </a:cxn>
                <a:cxn ang="0">
                  <a:pos x="366" y="231"/>
                </a:cxn>
                <a:cxn ang="0">
                  <a:pos x="409" y="203"/>
                </a:cxn>
                <a:cxn ang="0">
                  <a:pos x="396" y="156"/>
                </a:cxn>
                <a:cxn ang="0">
                  <a:pos x="252" y="121"/>
                </a:cxn>
                <a:cxn ang="0">
                  <a:pos x="360" y="63"/>
                </a:cxn>
                <a:cxn ang="0">
                  <a:pos x="328" y="0"/>
                </a:cxn>
              </a:cxnLst>
              <a:rect l="0" t="0" r="r" b="b"/>
              <a:pathLst>
                <a:path w="410" h="441">
                  <a:moveTo>
                    <a:pt x="328" y="0"/>
                  </a:moveTo>
                  <a:lnTo>
                    <a:pt x="259" y="33"/>
                  </a:lnTo>
                  <a:lnTo>
                    <a:pt x="200" y="81"/>
                  </a:lnTo>
                  <a:lnTo>
                    <a:pt x="118" y="70"/>
                  </a:lnTo>
                  <a:lnTo>
                    <a:pt x="98" y="143"/>
                  </a:lnTo>
                  <a:lnTo>
                    <a:pt x="44" y="157"/>
                  </a:lnTo>
                  <a:lnTo>
                    <a:pt x="0" y="256"/>
                  </a:lnTo>
                  <a:lnTo>
                    <a:pt x="32" y="373"/>
                  </a:lnTo>
                  <a:lnTo>
                    <a:pt x="88" y="382"/>
                  </a:lnTo>
                  <a:lnTo>
                    <a:pt x="133" y="440"/>
                  </a:lnTo>
                  <a:lnTo>
                    <a:pt x="179" y="437"/>
                  </a:lnTo>
                  <a:lnTo>
                    <a:pt x="210" y="416"/>
                  </a:lnTo>
                  <a:lnTo>
                    <a:pt x="293" y="422"/>
                  </a:lnTo>
                  <a:lnTo>
                    <a:pt x="335" y="332"/>
                  </a:lnTo>
                  <a:lnTo>
                    <a:pt x="391" y="315"/>
                  </a:lnTo>
                  <a:lnTo>
                    <a:pt x="366" y="231"/>
                  </a:lnTo>
                  <a:lnTo>
                    <a:pt x="409" y="203"/>
                  </a:lnTo>
                  <a:lnTo>
                    <a:pt x="396" y="156"/>
                  </a:lnTo>
                  <a:lnTo>
                    <a:pt x="252" y="121"/>
                  </a:lnTo>
                  <a:lnTo>
                    <a:pt x="360" y="63"/>
                  </a:lnTo>
                  <a:lnTo>
                    <a:pt x="328" y="0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26" name="Freeform 28"/>
            <p:cNvSpPr>
              <a:spLocks/>
            </p:cNvSpPr>
            <p:nvPr/>
          </p:nvSpPr>
          <p:spPr bwMode="gray">
            <a:xfrm>
              <a:off x="7465697" y="4076747"/>
              <a:ext cx="396168" cy="454840"/>
            </a:xfrm>
            <a:custGeom>
              <a:avLst/>
              <a:gdLst/>
              <a:ahLst/>
              <a:cxnLst>
                <a:cxn ang="0">
                  <a:pos x="119" y="2"/>
                </a:cxn>
                <a:cxn ang="0">
                  <a:pos x="181" y="17"/>
                </a:cxn>
                <a:cxn ang="0">
                  <a:pos x="285" y="0"/>
                </a:cxn>
                <a:cxn ang="0">
                  <a:pos x="303" y="40"/>
                </a:cxn>
                <a:cxn ang="0">
                  <a:pos x="289" y="80"/>
                </a:cxn>
                <a:cxn ang="0">
                  <a:pos x="353" y="104"/>
                </a:cxn>
                <a:cxn ang="0">
                  <a:pos x="358" y="144"/>
                </a:cxn>
                <a:cxn ang="0">
                  <a:pos x="395" y="201"/>
                </a:cxn>
                <a:cxn ang="0">
                  <a:pos x="407" y="246"/>
                </a:cxn>
                <a:cxn ang="0">
                  <a:pos x="492" y="241"/>
                </a:cxn>
                <a:cxn ang="0">
                  <a:pos x="469" y="316"/>
                </a:cxn>
                <a:cxn ang="0">
                  <a:pos x="410" y="330"/>
                </a:cxn>
                <a:cxn ang="0">
                  <a:pos x="373" y="430"/>
                </a:cxn>
                <a:cxn ang="0">
                  <a:pos x="318" y="430"/>
                </a:cxn>
                <a:cxn ang="0">
                  <a:pos x="286" y="403"/>
                </a:cxn>
                <a:cxn ang="0">
                  <a:pos x="234" y="425"/>
                </a:cxn>
                <a:cxn ang="0">
                  <a:pos x="192" y="395"/>
                </a:cxn>
                <a:cxn ang="0">
                  <a:pos x="158" y="405"/>
                </a:cxn>
                <a:cxn ang="0">
                  <a:pos x="111" y="350"/>
                </a:cxn>
                <a:cxn ang="0">
                  <a:pos x="113" y="296"/>
                </a:cxn>
                <a:cxn ang="0">
                  <a:pos x="51" y="271"/>
                </a:cxn>
                <a:cxn ang="0">
                  <a:pos x="112" y="222"/>
                </a:cxn>
                <a:cxn ang="0">
                  <a:pos x="79" y="159"/>
                </a:cxn>
                <a:cxn ang="0">
                  <a:pos x="37" y="175"/>
                </a:cxn>
                <a:cxn ang="0">
                  <a:pos x="0" y="116"/>
                </a:cxn>
                <a:cxn ang="0">
                  <a:pos x="12" y="88"/>
                </a:cxn>
                <a:cxn ang="0">
                  <a:pos x="19" y="29"/>
                </a:cxn>
                <a:cxn ang="0">
                  <a:pos x="91" y="49"/>
                </a:cxn>
                <a:cxn ang="0">
                  <a:pos x="119" y="2"/>
                </a:cxn>
              </a:cxnLst>
              <a:rect l="0" t="0" r="r" b="b"/>
              <a:pathLst>
                <a:path w="493" h="431">
                  <a:moveTo>
                    <a:pt x="119" y="2"/>
                  </a:moveTo>
                  <a:lnTo>
                    <a:pt x="181" y="17"/>
                  </a:lnTo>
                  <a:lnTo>
                    <a:pt x="285" y="0"/>
                  </a:lnTo>
                  <a:lnTo>
                    <a:pt x="303" y="40"/>
                  </a:lnTo>
                  <a:lnTo>
                    <a:pt x="289" y="80"/>
                  </a:lnTo>
                  <a:lnTo>
                    <a:pt x="353" y="104"/>
                  </a:lnTo>
                  <a:lnTo>
                    <a:pt x="358" y="144"/>
                  </a:lnTo>
                  <a:lnTo>
                    <a:pt x="395" y="201"/>
                  </a:lnTo>
                  <a:lnTo>
                    <a:pt x="407" y="246"/>
                  </a:lnTo>
                  <a:lnTo>
                    <a:pt x="492" y="241"/>
                  </a:lnTo>
                  <a:lnTo>
                    <a:pt x="469" y="316"/>
                  </a:lnTo>
                  <a:lnTo>
                    <a:pt x="410" y="330"/>
                  </a:lnTo>
                  <a:lnTo>
                    <a:pt x="373" y="430"/>
                  </a:lnTo>
                  <a:lnTo>
                    <a:pt x="318" y="430"/>
                  </a:lnTo>
                  <a:lnTo>
                    <a:pt x="286" y="403"/>
                  </a:lnTo>
                  <a:lnTo>
                    <a:pt x="234" y="425"/>
                  </a:lnTo>
                  <a:lnTo>
                    <a:pt x="192" y="395"/>
                  </a:lnTo>
                  <a:lnTo>
                    <a:pt x="158" y="405"/>
                  </a:lnTo>
                  <a:lnTo>
                    <a:pt x="111" y="350"/>
                  </a:lnTo>
                  <a:lnTo>
                    <a:pt x="113" y="296"/>
                  </a:lnTo>
                  <a:lnTo>
                    <a:pt x="51" y="271"/>
                  </a:lnTo>
                  <a:lnTo>
                    <a:pt x="112" y="222"/>
                  </a:lnTo>
                  <a:lnTo>
                    <a:pt x="79" y="159"/>
                  </a:lnTo>
                  <a:lnTo>
                    <a:pt x="37" y="175"/>
                  </a:lnTo>
                  <a:lnTo>
                    <a:pt x="0" y="116"/>
                  </a:lnTo>
                  <a:lnTo>
                    <a:pt x="12" y="88"/>
                  </a:lnTo>
                  <a:lnTo>
                    <a:pt x="19" y="29"/>
                  </a:lnTo>
                  <a:lnTo>
                    <a:pt x="91" y="49"/>
                  </a:lnTo>
                  <a:lnTo>
                    <a:pt x="119" y="2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</a:pPr>
              <a:endParaRPr lang="en-US" sz="1200">
                <a:solidFill>
                  <a:srgbClr val="000000"/>
                </a:solidFill>
              </a:endParaRPr>
            </a:p>
          </p:txBody>
        </p:sp>
        <p:sp>
          <p:nvSpPr>
            <p:cNvPr id="1527" name="Freeform 29"/>
            <p:cNvSpPr>
              <a:spLocks/>
            </p:cNvSpPr>
            <p:nvPr/>
          </p:nvSpPr>
          <p:spPr bwMode="gray">
            <a:xfrm>
              <a:off x="6976994" y="4222334"/>
              <a:ext cx="635161" cy="432681"/>
            </a:xfrm>
            <a:custGeom>
              <a:avLst/>
              <a:gdLst/>
              <a:ahLst/>
              <a:cxnLst>
                <a:cxn ang="0">
                  <a:pos x="56" y="0"/>
                </a:cxn>
                <a:cxn ang="0">
                  <a:pos x="213" y="12"/>
                </a:cxn>
                <a:cxn ang="0">
                  <a:pos x="331" y="73"/>
                </a:cxn>
                <a:cxn ang="0">
                  <a:pos x="481" y="76"/>
                </a:cxn>
                <a:cxn ang="0">
                  <a:pos x="541" y="118"/>
                </a:cxn>
                <a:cxn ang="0">
                  <a:pos x="687" y="133"/>
                </a:cxn>
                <a:cxn ang="0">
                  <a:pos x="750" y="159"/>
                </a:cxn>
                <a:cxn ang="0">
                  <a:pos x="746" y="211"/>
                </a:cxn>
                <a:cxn ang="0">
                  <a:pos x="794" y="265"/>
                </a:cxn>
                <a:cxn ang="0">
                  <a:pos x="700" y="296"/>
                </a:cxn>
                <a:cxn ang="0">
                  <a:pos x="592" y="366"/>
                </a:cxn>
                <a:cxn ang="0">
                  <a:pos x="525" y="314"/>
                </a:cxn>
                <a:cxn ang="0">
                  <a:pos x="474" y="350"/>
                </a:cxn>
                <a:cxn ang="0">
                  <a:pos x="441" y="335"/>
                </a:cxn>
                <a:cxn ang="0">
                  <a:pos x="398" y="351"/>
                </a:cxn>
                <a:cxn ang="0">
                  <a:pos x="359" y="326"/>
                </a:cxn>
                <a:cxn ang="0">
                  <a:pos x="238" y="323"/>
                </a:cxn>
                <a:cxn ang="0">
                  <a:pos x="198" y="385"/>
                </a:cxn>
                <a:cxn ang="0">
                  <a:pos x="147" y="363"/>
                </a:cxn>
                <a:cxn ang="0">
                  <a:pos x="87" y="407"/>
                </a:cxn>
                <a:cxn ang="0">
                  <a:pos x="10" y="367"/>
                </a:cxn>
                <a:cxn ang="0">
                  <a:pos x="0" y="285"/>
                </a:cxn>
                <a:cxn ang="0">
                  <a:pos x="117" y="249"/>
                </a:cxn>
                <a:cxn ang="0">
                  <a:pos x="128" y="188"/>
                </a:cxn>
                <a:cxn ang="0">
                  <a:pos x="86" y="156"/>
                </a:cxn>
                <a:cxn ang="0">
                  <a:pos x="111" y="59"/>
                </a:cxn>
                <a:cxn ang="0">
                  <a:pos x="56" y="0"/>
                </a:cxn>
              </a:cxnLst>
              <a:rect l="0" t="0" r="r" b="b"/>
              <a:pathLst>
                <a:path w="795" h="408">
                  <a:moveTo>
                    <a:pt x="56" y="0"/>
                  </a:moveTo>
                  <a:lnTo>
                    <a:pt x="213" y="12"/>
                  </a:lnTo>
                  <a:lnTo>
                    <a:pt x="331" y="73"/>
                  </a:lnTo>
                  <a:lnTo>
                    <a:pt x="481" y="76"/>
                  </a:lnTo>
                  <a:lnTo>
                    <a:pt x="541" y="118"/>
                  </a:lnTo>
                  <a:lnTo>
                    <a:pt x="687" y="133"/>
                  </a:lnTo>
                  <a:lnTo>
                    <a:pt x="750" y="159"/>
                  </a:lnTo>
                  <a:lnTo>
                    <a:pt x="746" y="211"/>
                  </a:lnTo>
                  <a:lnTo>
                    <a:pt x="794" y="265"/>
                  </a:lnTo>
                  <a:lnTo>
                    <a:pt x="700" y="296"/>
                  </a:lnTo>
                  <a:lnTo>
                    <a:pt x="592" y="366"/>
                  </a:lnTo>
                  <a:lnTo>
                    <a:pt x="525" y="314"/>
                  </a:lnTo>
                  <a:lnTo>
                    <a:pt x="474" y="350"/>
                  </a:lnTo>
                  <a:lnTo>
                    <a:pt x="441" y="335"/>
                  </a:lnTo>
                  <a:lnTo>
                    <a:pt x="398" y="351"/>
                  </a:lnTo>
                  <a:lnTo>
                    <a:pt x="359" y="326"/>
                  </a:lnTo>
                  <a:lnTo>
                    <a:pt x="238" y="323"/>
                  </a:lnTo>
                  <a:lnTo>
                    <a:pt x="198" y="385"/>
                  </a:lnTo>
                  <a:lnTo>
                    <a:pt x="147" y="363"/>
                  </a:lnTo>
                  <a:lnTo>
                    <a:pt x="87" y="407"/>
                  </a:lnTo>
                  <a:lnTo>
                    <a:pt x="10" y="367"/>
                  </a:lnTo>
                  <a:lnTo>
                    <a:pt x="0" y="285"/>
                  </a:lnTo>
                  <a:lnTo>
                    <a:pt x="117" y="249"/>
                  </a:lnTo>
                  <a:lnTo>
                    <a:pt x="128" y="188"/>
                  </a:lnTo>
                  <a:lnTo>
                    <a:pt x="86" y="156"/>
                  </a:lnTo>
                  <a:lnTo>
                    <a:pt x="111" y="59"/>
                  </a:lnTo>
                  <a:lnTo>
                    <a:pt x="56" y="0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28" name="Freeform 30"/>
            <p:cNvSpPr>
              <a:spLocks/>
            </p:cNvSpPr>
            <p:nvPr/>
          </p:nvSpPr>
          <p:spPr bwMode="gray">
            <a:xfrm>
              <a:off x="6592099" y="4671343"/>
              <a:ext cx="522124" cy="489828"/>
            </a:xfrm>
            <a:custGeom>
              <a:avLst/>
              <a:gdLst/>
              <a:ahLst/>
              <a:cxnLst>
                <a:cxn ang="0">
                  <a:pos x="93" y="129"/>
                </a:cxn>
                <a:cxn ang="0">
                  <a:pos x="88" y="208"/>
                </a:cxn>
                <a:cxn ang="0">
                  <a:pos x="0" y="216"/>
                </a:cxn>
                <a:cxn ang="0">
                  <a:pos x="0" y="285"/>
                </a:cxn>
                <a:cxn ang="0">
                  <a:pos x="84" y="292"/>
                </a:cxn>
                <a:cxn ang="0">
                  <a:pos x="73" y="358"/>
                </a:cxn>
                <a:cxn ang="0">
                  <a:pos x="111" y="404"/>
                </a:cxn>
                <a:cxn ang="0">
                  <a:pos x="101" y="464"/>
                </a:cxn>
                <a:cxn ang="0">
                  <a:pos x="189" y="428"/>
                </a:cxn>
                <a:cxn ang="0">
                  <a:pos x="281" y="452"/>
                </a:cxn>
                <a:cxn ang="0">
                  <a:pos x="281" y="418"/>
                </a:cxn>
                <a:cxn ang="0">
                  <a:pos x="381" y="366"/>
                </a:cxn>
                <a:cxn ang="0">
                  <a:pos x="469" y="392"/>
                </a:cxn>
                <a:cxn ang="0">
                  <a:pos x="506" y="364"/>
                </a:cxn>
                <a:cxn ang="0">
                  <a:pos x="568" y="360"/>
                </a:cxn>
                <a:cxn ang="0">
                  <a:pos x="602" y="317"/>
                </a:cxn>
                <a:cxn ang="0">
                  <a:pos x="653" y="302"/>
                </a:cxn>
                <a:cxn ang="0">
                  <a:pos x="625" y="246"/>
                </a:cxn>
                <a:cxn ang="0">
                  <a:pos x="635" y="194"/>
                </a:cxn>
                <a:cxn ang="0">
                  <a:pos x="560" y="199"/>
                </a:cxn>
                <a:cxn ang="0">
                  <a:pos x="602" y="156"/>
                </a:cxn>
                <a:cxn ang="0">
                  <a:pos x="565" y="65"/>
                </a:cxn>
                <a:cxn ang="0">
                  <a:pos x="519" y="69"/>
                </a:cxn>
                <a:cxn ang="0">
                  <a:pos x="476" y="2"/>
                </a:cxn>
                <a:cxn ang="0">
                  <a:pos x="386" y="0"/>
                </a:cxn>
                <a:cxn ang="0">
                  <a:pos x="309" y="71"/>
                </a:cxn>
                <a:cxn ang="0">
                  <a:pos x="252" y="53"/>
                </a:cxn>
                <a:cxn ang="0">
                  <a:pos x="203" y="84"/>
                </a:cxn>
                <a:cxn ang="0">
                  <a:pos x="258" y="126"/>
                </a:cxn>
                <a:cxn ang="0">
                  <a:pos x="250" y="158"/>
                </a:cxn>
                <a:cxn ang="0">
                  <a:pos x="174" y="151"/>
                </a:cxn>
                <a:cxn ang="0">
                  <a:pos x="173" y="124"/>
                </a:cxn>
                <a:cxn ang="0">
                  <a:pos x="169" y="124"/>
                </a:cxn>
                <a:cxn ang="0">
                  <a:pos x="161" y="124"/>
                </a:cxn>
                <a:cxn ang="0">
                  <a:pos x="149" y="125"/>
                </a:cxn>
                <a:cxn ang="0">
                  <a:pos x="134" y="125"/>
                </a:cxn>
                <a:cxn ang="0">
                  <a:pos x="119" y="126"/>
                </a:cxn>
                <a:cxn ang="0">
                  <a:pos x="107" y="127"/>
                </a:cxn>
                <a:cxn ang="0">
                  <a:pos x="97" y="128"/>
                </a:cxn>
                <a:cxn ang="0">
                  <a:pos x="93" y="129"/>
                </a:cxn>
              </a:cxnLst>
              <a:rect l="0" t="0" r="r" b="b"/>
              <a:pathLst>
                <a:path w="654" h="465">
                  <a:moveTo>
                    <a:pt x="93" y="129"/>
                  </a:moveTo>
                  <a:lnTo>
                    <a:pt x="88" y="208"/>
                  </a:lnTo>
                  <a:lnTo>
                    <a:pt x="0" y="216"/>
                  </a:lnTo>
                  <a:lnTo>
                    <a:pt x="0" y="285"/>
                  </a:lnTo>
                  <a:lnTo>
                    <a:pt x="84" y="292"/>
                  </a:lnTo>
                  <a:lnTo>
                    <a:pt x="73" y="358"/>
                  </a:lnTo>
                  <a:lnTo>
                    <a:pt x="111" y="404"/>
                  </a:lnTo>
                  <a:lnTo>
                    <a:pt x="101" y="464"/>
                  </a:lnTo>
                  <a:lnTo>
                    <a:pt x="189" y="428"/>
                  </a:lnTo>
                  <a:lnTo>
                    <a:pt x="281" y="452"/>
                  </a:lnTo>
                  <a:lnTo>
                    <a:pt x="281" y="418"/>
                  </a:lnTo>
                  <a:lnTo>
                    <a:pt x="381" y="366"/>
                  </a:lnTo>
                  <a:lnTo>
                    <a:pt x="469" y="392"/>
                  </a:lnTo>
                  <a:lnTo>
                    <a:pt x="506" y="364"/>
                  </a:lnTo>
                  <a:lnTo>
                    <a:pt x="568" y="360"/>
                  </a:lnTo>
                  <a:lnTo>
                    <a:pt x="602" y="317"/>
                  </a:lnTo>
                  <a:lnTo>
                    <a:pt x="653" y="302"/>
                  </a:lnTo>
                  <a:lnTo>
                    <a:pt x="625" y="246"/>
                  </a:lnTo>
                  <a:lnTo>
                    <a:pt x="635" y="194"/>
                  </a:lnTo>
                  <a:lnTo>
                    <a:pt x="560" y="199"/>
                  </a:lnTo>
                  <a:lnTo>
                    <a:pt x="602" y="156"/>
                  </a:lnTo>
                  <a:lnTo>
                    <a:pt x="565" y="65"/>
                  </a:lnTo>
                  <a:lnTo>
                    <a:pt x="519" y="69"/>
                  </a:lnTo>
                  <a:lnTo>
                    <a:pt x="476" y="2"/>
                  </a:lnTo>
                  <a:lnTo>
                    <a:pt x="386" y="0"/>
                  </a:lnTo>
                  <a:lnTo>
                    <a:pt x="309" y="71"/>
                  </a:lnTo>
                  <a:lnTo>
                    <a:pt x="252" y="53"/>
                  </a:lnTo>
                  <a:lnTo>
                    <a:pt x="203" y="84"/>
                  </a:lnTo>
                  <a:lnTo>
                    <a:pt x="258" y="126"/>
                  </a:lnTo>
                  <a:lnTo>
                    <a:pt x="250" y="158"/>
                  </a:lnTo>
                  <a:lnTo>
                    <a:pt x="174" y="151"/>
                  </a:lnTo>
                  <a:lnTo>
                    <a:pt x="173" y="124"/>
                  </a:lnTo>
                  <a:lnTo>
                    <a:pt x="169" y="124"/>
                  </a:lnTo>
                  <a:lnTo>
                    <a:pt x="161" y="124"/>
                  </a:lnTo>
                  <a:lnTo>
                    <a:pt x="149" y="125"/>
                  </a:lnTo>
                  <a:lnTo>
                    <a:pt x="134" y="125"/>
                  </a:lnTo>
                  <a:lnTo>
                    <a:pt x="119" y="126"/>
                  </a:lnTo>
                  <a:lnTo>
                    <a:pt x="107" y="127"/>
                  </a:lnTo>
                  <a:lnTo>
                    <a:pt x="97" y="128"/>
                  </a:lnTo>
                  <a:lnTo>
                    <a:pt x="93" y="129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29" name="Freeform 31"/>
            <p:cNvSpPr>
              <a:spLocks/>
            </p:cNvSpPr>
            <p:nvPr/>
          </p:nvSpPr>
          <p:spPr bwMode="gray">
            <a:xfrm>
              <a:off x="7991799" y="4969904"/>
              <a:ext cx="159328" cy="391862"/>
            </a:xfrm>
            <a:custGeom>
              <a:avLst/>
              <a:gdLst/>
              <a:ahLst/>
              <a:cxnLst>
                <a:cxn ang="0">
                  <a:pos x="143" y="0"/>
                </a:cxn>
                <a:cxn ang="0">
                  <a:pos x="69" y="23"/>
                </a:cxn>
                <a:cxn ang="0">
                  <a:pos x="10" y="132"/>
                </a:cxn>
                <a:cxn ang="0">
                  <a:pos x="12" y="177"/>
                </a:cxn>
                <a:cxn ang="0">
                  <a:pos x="35" y="175"/>
                </a:cxn>
                <a:cxn ang="0">
                  <a:pos x="39" y="213"/>
                </a:cxn>
                <a:cxn ang="0">
                  <a:pos x="0" y="219"/>
                </a:cxn>
                <a:cxn ang="0">
                  <a:pos x="16" y="271"/>
                </a:cxn>
                <a:cxn ang="0">
                  <a:pos x="41" y="277"/>
                </a:cxn>
                <a:cxn ang="0">
                  <a:pos x="85" y="371"/>
                </a:cxn>
                <a:cxn ang="0">
                  <a:pos x="111" y="371"/>
                </a:cxn>
                <a:cxn ang="0">
                  <a:pos x="131" y="322"/>
                </a:cxn>
                <a:cxn ang="0">
                  <a:pos x="123" y="268"/>
                </a:cxn>
                <a:cxn ang="0">
                  <a:pos x="149" y="262"/>
                </a:cxn>
                <a:cxn ang="0">
                  <a:pos x="143" y="232"/>
                </a:cxn>
                <a:cxn ang="0">
                  <a:pos x="166" y="211"/>
                </a:cxn>
                <a:cxn ang="0">
                  <a:pos x="159" y="89"/>
                </a:cxn>
                <a:cxn ang="0">
                  <a:pos x="189" y="78"/>
                </a:cxn>
                <a:cxn ang="0">
                  <a:pos x="198" y="40"/>
                </a:cxn>
                <a:cxn ang="0">
                  <a:pos x="143" y="0"/>
                </a:cxn>
              </a:cxnLst>
              <a:rect l="0" t="0" r="r" b="b"/>
              <a:pathLst>
                <a:path w="199" h="372">
                  <a:moveTo>
                    <a:pt x="143" y="0"/>
                  </a:moveTo>
                  <a:lnTo>
                    <a:pt x="69" y="23"/>
                  </a:lnTo>
                  <a:lnTo>
                    <a:pt x="10" y="132"/>
                  </a:lnTo>
                  <a:lnTo>
                    <a:pt x="12" y="177"/>
                  </a:lnTo>
                  <a:lnTo>
                    <a:pt x="35" y="175"/>
                  </a:lnTo>
                  <a:lnTo>
                    <a:pt x="39" y="213"/>
                  </a:lnTo>
                  <a:lnTo>
                    <a:pt x="0" y="219"/>
                  </a:lnTo>
                  <a:lnTo>
                    <a:pt x="16" y="271"/>
                  </a:lnTo>
                  <a:lnTo>
                    <a:pt x="41" y="277"/>
                  </a:lnTo>
                  <a:lnTo>
                    <a:pt x="85" y="371"/>
                  </a:lnTo>
                  <a:lnTo>
                    <a:pt x="111" y="371"/>
                  </a:lnTo>
                  <a:lnTo>
                    <a:pt x="131" y="322"/>
                  </a:lnTo>
                  <a:lnTo>
                    <a:pt x="123" y="268"/>
                  </a:lnTo>
                  <a:lnTo>
                    <a:pt x="149" y="262"/>
                  </a:lnTo>
                  <a:lnTo>
                    <a:pt x="143" y="232"/>
                  </a:lnTo>
                  <a:lnTo>
                    <a:pt x="166" y="211"/>
                  </a:lnTo>
                  <a:lnTo>
                    <a:pt x="159" y="89"/>
                  </a:lnTo>
                  <a:lnTo>
                    <a:pt x="189" y="78"/>
                  </a:lnTo>
                  <a:lnTo>
                    <a:pt x="198" y="40"/>
                  </a:lnTo>
                  <a:lnTo>
                    <a:pt x="143" y="0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30" name="Freeform 32"/>
            <p:cNvSpPr>
              <a:spLocks/>
            </p:cNvSpPr>
            <p:nvPr/>
          </p:nvSpPr>
          <p:spPr bwMode="gray">
            <a:xfrm>
              <a:off x="7011067" y="4560548"/>
              <a:ext cx="465067" cy="558636"/>
            </a:xfrm>
            <a:custGeom>
              <a:avLst/>
              <a:gdLst/>
              <a:ahLst/>
              <a:cxnLst>
                <a:cxn ang="0">
                  <a:pos x="11" y="191"/>
                </a:cxn>
                <a:cxn ang="0">
                  <a:pos x="23" y="92"/>
                </a:cxn>
                <a:cxn ang="0">
                  <a:pos x="81" y="51"/>
                </a:cxn>
                <a:cxn ang="0">
                  <a:pos x="137" y="69"/>
                </a:cxn>
                <a:cxn ang="0">
                  <a:pos x="173" y="3"/>
                </a:cxn>
                <a:cxn ang="0">
                  <a:pos x="300" y="9"/>
                </a:cxn>
                <a:cxn ang="0">
                  <a:pos x="331" y="36"/>
                </a:cxn>
                <a:cxn ang="0">
                  <a:pos x="377" y="11"/>
                </a:cxn>
                <a:cxn ang="0">
                  <a:pos x="406" y="38"/>
                </a:cxn>
                <a:cxn ang="0">
                  <a:pos x="465" y="0"/>
                </a:cxn>
                <a:cxn ang="0">
                  <a:pos x="528" y="51"/>
                </a:cxn>
                <a:cxn ang="0">
                  <a:pos x="510" y="120"/>
                </a:cxn>
                <a:cxn ang="0">
                  <a:pos x="551" y="172"/>
                </a:cxn>
                <a:cxn ang="0">
                  <a:pos x="510" y="214"/>
                </a:cxn>
                <a:cxn ang="0">
                  <a:pos x="541" y="309"/>
                </a:cxn>
                <a:cxn ang="0">
                  <a:pos x="580" y="324"/>
                </a:cxn>
                <a:cxn ang="0">
                  <a:pos x="582" y="446"/>
                </a:cxn>
                <a:cxn ang="0">
                  <a:pos x="464" y="441"/>
                </a:cxn>
                <a:cxn ang="0">
                  <a:pos x="458" y="482"/>
                </a:cxn>
                <a:cxn ang="0">
                  <a:pos x="388" y="487"/>
                </a:cxn>
                <a:cxn ang="0">
                  <a:pos x="377" y="529"/>
                </a:cxn>
                <a:cxn ang="0">
                  <a:pos x="246" y="506"/>
                </a:cxn>
                <a:cxn ang="0">
                  <a:pos x="298" y="431"/>
                </a:cxn>
                <a:cxn ang="0">
                  <a:pos x="243" y="386"/>
                </a:cxn>
                <a:cxn ang="0">
                  <a:pos x="178" y="412"/>
                </a:cxn>
                <a:cxn ang="0">
                  <a:pos x="145" y="392"/>
                </a:cxn>
                <a:cxn ang="0">
                  <a:pos x="90" y="424"/>
                </a:cxn>
                <a:cxn ang="0">
                  <a:pos x="67" y="378"/>
                </a:cxn>
                <a:cxn ang="0">
                  <a:pos x="76" y="325"/>
                </a:cxn>
                <a:cxn ang="0">
                  <a:pos x="0" y="328"/>
                </a:cxn>
                <a:cxn ang="0">
                  <a:pos x="48" y="287"/>
                </a:cxn>
                <a:cxn ang="0">
                  <a:pos x="11" y="191"/>
                </a:cxn>
              </a:cxnLst>
              <a:rect l="0" t="0" r="r" b="b"/>
              <a:pathLst>
                <a:path w="583" h="530">
                  <a:moveTo>
                    <a:pt x="11" y="191"/>
                  </a:moveTo>
                  <a:lnTo>
                    <a:pt x="23" y="92"/>
                  </a:lnTo>
                  <a:lnTo>
                    <a:pt x="81" y="51"/>
                  </a:lnTo>
                  <a:lnTo>
                    <a:pt x="137" y="69"/>
                  </a:lnTo>
                  <a:lnTo>
                    <a:pt x="173" y="3"/>
                  </a:lnTo>
                  <a:lnTo>
                    <a:pt x="300" y="9"/>
                  </a:lnTo>
                  <a:lnTo>
                    <a:pt x="331" y="36"/>
                  </a:lnTo>
                  <a:lnTo>
                    <a:pt x="377" y="11"/>
                  </a:lnTo>
                  <a:lnTo>
                    <a:pt x="406" y="38"/>
                  </a:lnTo>
                  <a:lnTo>
                    <a:pt x="465" y="0"/>
                  </a:lnTo>
                  <a:lnTo>
                    <a:pt x="528" y="51"/>
                  </a:lnTo>
                  <a:lnTo>
                    <a:pt x="510" y="120"/>
                  </a:lnTo>
                  <a:lnTo>
                    <a:pt x="551" y="172"/>
                  </a:lnTo>
                  <a:lnTo>
                    <a:pt x="510" y="214"/>
                  </a:lnTo>
                  <a:lnTo>
                    <a:pt x="541" y="309"/>
                  </a:lnTo>
                  <a:lnTo>
                    <a:pt x="580" y="324"/>
                  </a:lnTo>
                  <a:lnTo>
                    <a:pt x="582" y="446"/>
                  </a:lnTo>
                  <a:lnTo>
                    <a:pt x="464" y="441"/>
                  </a:lnTo>
                  <a:lnTo>
                    <a:pt x="458" y="482"/>
                  </a:lnTo>
                  <a:lnTo>
                    <a:pt x="388" y="487"/>
                  </a:lnTo>
                  <a:lnTo>
                    <a:pt x="377" y="529"/>
                  </a:lnTo>
                  <a:lnTo>
                    <a:pt x="246" y="506"/>
                  </a:lnTo>
                  <a:lnTo>
                    <a:pt x="298" y="431"/>
                  </a:lnTo>
                  <a:lnTo>
                    <a:pt x="243" y="386"/>
                  </a:lnTo>
                  <a:lnTo>
                    <a:pt x="178" y="412"/>
                  </a:lnTo>
                  <a:lnTo>
                    <a:pt x="145" y="392"/>
                  </a:lnTo>
                  <a:lnTo>
                    <a:pt x="90" y="424"/>
                  </a:lnTo>
                  <a:lnTo>
                    <a:pt x="67" y="378"/>
                  </a:lnTo>
                  <a:lnTo>
                    <a:pt x="76" y="325"/>
                  </a:lnTo>
                  <a:lnTo>
                    <a:pt x="0" y="328"/>
                  </a:lnTo>
                  <a:lnTo>
                    <a:pt x="48" y="287"/>
                  </a:lnTo>
                  <a:lnTo>
                    <a:pt x="11" y="191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31" name="Freeform 33"/>
            <p:cNvSpPr>
              <a:spLocks/>
            </p:cNvSpPr>
            <p:nvPr/>
          </p:nvSpPr>
          <p:spPr bwMode="gray">
            <a:xfrm>
              <a:off x="7421984" y="4483166"/>
              <a:ext cx="385403" cy="616949"/>
            </a:xfrm>
            <a:custGeom>
              <a:avLst/>
              <a:gdLst/>
              <a:ahLst/>
              <a:cxnLst>
                <a:cxn ang="0">
                  <a:pos x="17" y="105"/>
                </a:cxn>
                <a:cxn ang="0">
                  <a:pos x="1" y="170"/>
                </a:cxn>
                <a:cxn ang="0">
                  <a:pos x="40" y="229"/>
                </a:cxn>
                <a:cxn ang="0">
                  <a:pos x="0" y="269"/>
                </a:cxn>
                <a:cxn ang="0">
                  <a:pos x="28" y="364"/>
                </a:cxn>
                <a:cxn ang="0">
                  <a:pos x="66" y="383"/>
                </a:cxn>
                <a:cxn ang="0">
                  <a:pos x="72" y="496"/>
                </a:cxn>
                <a:cxn ang="0">
                  <a:pos x="163" y="496"/>
                </a:cxn>
                <a:cxn ang="0">
                  <a:pos x="123" y="566"/>
                </a:cxn>
                <a:cxn ang="0">
                  <a:pos x="288" y="549"/>
                </a:cxn>
                <a:cxn ang="0">
                  <a:pos x="298" y="433"/>
                </a:cxn>
                <a:cxn ang="0">
                  <a:pos x="334" y="368"/>
                </a:cxn>
                <a:cxn ang="0">
                  <a:pos x="320" y="309"/>
                </a:cxn>
                <a:cxn ang="0">
                  <a:pos x="379" y="280"/>
                </a:cxn>
                <a:cxn ang="0">
                  <a:pos x="381" y="195"/>
                </a:cxn>
                <a:cxn ang="0">
                  <a:pos x="441" y="189"/>
                </a:cxn>
                <a:cxn ang="0">
                  <a:pos x="484" y="155"/>
                </a:cxn>
                <a:cxn ang="0">
                  <a:pos x="442" y="33"/>
                </a:cxn>
                <a:cxn ang="0">
                  <a:pos x="387" y="36"/>
                </a:cxn>
                <a:cxn ang="0">
                  <a:pos x="353" y="5"/>
                </a:cxn>
                <a:cxn ang="0">
                  <a:pos x="302" y="32"/>
                </a:cxn>
                <a:cxn ang="0">
                  <a:pos x="264" y="0"/>
                </a:cxn>
                <a:cxn ang="0">
                  <a:pos x="224" y="8"/>
                </a:cxn>
                <a:cxn ang="0">
                  <a:pos x="142" y="30"/>
                </a:cxn>
                <a:cxn ang="0">
                  <a:pos x="141" y="30"/>
                </a:cxn>
                <a:cxn ang="0">
                  <a:pos x="136" y="32"/>
                </a:cxn>
                <a:cxn ang="0">
                  <a:pos x="130" y="36"/>
                </a:cxn>
                <a:cxn ang="0">
                  <a:pos x="122" y="41"/>
                </a:cxn>
                <a:cxn ang="0">
                  <a:pos x="112" y="46"/>
                </a:cxn>
                <a:cxn ang="0">
                  <a:pos x="101" y="53"/>
                </a:cxn>
                <a:cxn ang="0">
                  <a:pos x="90" y="59"/>
                </a:cxn>
                <a:cxn ang="0">
                  <a:pos x="78" y="66"/>
                </a:cxn>
                <a:cxn ang="0">
                  <a:pos x="66" y="74"/>
                </a:cxn>
                <a:cxn ang="0">
                  <a:pos x="55" y="80"/>
                </a:cxn>
                <a:cxn ang="0">
                  <a:pos x="44" y="86"/>
                </a:cxn>
                <a:cxn ang="0">
                  <a:pos x="35" y="92"/>
                </a:cxn>
                <a:cxn ang="0">
                  <a:pos x="28" y="97"/>
                </a:cxn>
                <a:cxn ang="0">
                  <a:pos x="21" y="101"/>
                </a:cxn>
                <a:cxn ang="0">
                  <a:pos x="18" y="104"/>
                </a:cxn>
                <a:cxn ang="0">
                  <a:pos x="17" y="105"/>
                </a:cxn>
              </a:cxnLst>
              <a:rect l="0" t="0" r="r" b="b"/>
              <a:pathLst>
                <a:path w="485" h="567">
                  <a:moveTo>
                    <a:pt x="17" y="105"/>
                  </a:moveTo>
                  <a:lnTo>
                    <a:pt x="1" y="170"/>
                  </a:lnTo>
                  <a:lnTo>
                    <a:pt x="40" y="229"/>
                  </a:lnTo>
                  <a:lnTo>
                    <a:pt x="0" y="269"/>
                  </a:lnTo>
                  <a:lnTo>
                    <a:pt x="28" y="364"/>
                  </a:lnTo>
                  <a:lnTo>
                    <a:pt x="66" y="383"/>
                  </a:lnTo>
                  <a:lnTo>
                    <a:pt x="72" y="496"/>
                  </a:lnTo>
                  <a:lnTo>
                    <a:pt x="163" y="496"/>
                  </a:lnTo>
                  <a:lnTo>
                    <a:pt x="123" y="566"/>
                  </a:lnTo>
                  <a:lnTo>
                    <a:pt x="288" y="549"/>
                  </a:lnTo>
                  <a:lnTo>
                    <a:pt x="298" y="433"/>
                  </a:lnTo>
                  <a:lnTo>
                    <a:pt x="334" y="368"/>
                  </a:lnTo>
                  <a:lnTo>
                    <a:pt x="320" y="309"/>
                  </a:lnTo>
                  <a:lnTo>
                    <a:pt x="379" y="280"/>
                  </a:lnTo>
                  <a:lnTo>
                    <a:pt x="381" y="195"/>
                  </a:lnTo>
                  <a:lnTo>
                    <a:pt x="441" y="189"/>
                  </a:lnTo>
                  <a:lnTo>
                    <a:pt x="484" y="155"/>
                  </a:lnTo>
                  <a:lnTo>
                    <a:pt x="442" y="33"/>
                  </a:lnTo>
                  <a:lnTo>
                    <a:pt x="387" y="36"/>
                  </a:lnTo>
                  <a:lnTo>
                    <a:pt x="353" y="5"/>
                  </a:lnTo>
                  <a:lnTo>
                    <a:pt x="302" y="32"/>
                  </a:lnTo>
                  <a:lnTo>
                    <a:pt x="264" y="0"/>
                  </a:lnTo>
                  <a:lnTo>
                    <a:pt x="224" y="8"/>
                  </a:lnTo>
                  <a:lnTo>
                    <a:pt x="142" y="30"/>
                  </a:lnTo>
                  <a:lnTo>
                    <a:pt x="141" y="30"/>
                  </a:lnTo>
                  <a:lnTo>
                    <a:pt x="136" y="32"/>
                  </a:lnTo>
                  <a:lnTo>
                    <a:pt x="130" y="36"/>
                  </a:lnTo>
                  <a:lnTo>
                    <a:pt x="122" y="41"/>
                  </a:lnTo>
                  <a:lnTo>
                    <a:pt x="112" y="46"/>
                  </a:lnTo>
                  <a:lnTo>
                    <a:pt x="101" y="53"/>
                  </a:lnTo>
                  <a:lnTo>
                    <a:pt x="90" y="59"/>
                  </a:lnTo>
                  <a:lnTo>
                    <a:pt x="78" y="66"/>
                  </a:lnTo>
                  <a:lnTo>
                    <a:pt x="66" y="74"/>
                  </a:lnTo>
                  <a:lnTo>
                    <a:pt x="55" y="80"/>
                  </a:lnTo>
                  <a:lnTo>
                    <a:pt x="44" y="86"/>
                  </a:lnTo>
                  <a:lnTo>
                    <a:pt x="35" y="92"/>
                  </a:lnTo>
                  <a:lnTo>
                    <a:pt x="28" y="97"/>
                  </a:lnTo>
                  <a:lnTo>
                    <a:pt x="21" y="101"/>
                  </a:lnTo>
                  <a:lnTo>
                    <a:pt x="18" y="104"/>
                  </a:lnTo>
                  <a:lnTo>
                    <a:pt x="17" y="105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32" name="Freeform 34"/>
            <p:cNvSpPr>
              <a:spLocks/>
            </p:cNvSpPr>
            <p:nvPr/>
          </p:nvSpPr>
          <p:spPr bwMode="gray">
            <a:xfrm>
              <a:off x="7648381" y="4646850"/>
              <a:ext cx="370331" cy="504989"/>
            </a:xfrm>
            <a:custGeom>
              <a:avLst/>
              <a:gdLst/>
              <a:ahLst/>
              <a:cxnLst>
                <a:cxn ang="0">
                  <a:pos x="463" y="46"/>
                </a:cxn>
                <a:cxn ang="0">
                  <a:pos x="432" y="123"/>
                </a:cxn>
                <a:cxn ang="0">
                  <a:pos x="354" y="111"/>
                </a:cxn>
                <a:cxn ang="0">
                  <a:pos x="393" y="164"/>
                </a:cxn>
                <a:cxn ang="0">
                  <a:pos x="393" y="256"/>
                </a:cxn>
                <a:cxn ang="0">
                  <a:pos x="363" y="287"/>
                </a:cxn>
                <a:cxn ang="0">
                  <a:pos x="319" y="352"/>
                </a:cxn>
                <a:cxn ang="0">
                  <a:pos x="225" y="359"/>
                </a:cxn>
                <a:cxn ang="0">
                  <a:pos x="266" y="405"/>
                </a:cxn>
                <a:cxn ang="0">
                  <a:pos x="160" y="477"/>
                </a:cxn>
                <a:cxn ang="0">
                  <a:pos x="95" y="378"/>
                </a:cxn>
                <a:cxn ang="0">
                  <a:pos x="6" y="365"/>
                </a:cxn>
                <a:cxn ang="0">
                  <a:pos x="0" y="281"/>
                </a:cxn>
                <a:cxn ang="0">
                  <a:pos x="55" y="222"/>
                </a:cxn>
                <a:cxn ang="0">
                  <a:pos x="17" y="163"/>
                </a:cxn>
                <a:cxn ang="0">
                  <a:pos x="94" y="131"/>
                </a:cxn>
                <a:cxn ang="0">
                  <a:pos x="94" y="46"/>
                </a:cxn>
                <a:cxn ang="0">
                  <a:pos x="164" y="42"/>
                </a:cxn>
                <a:cxn ang="0">
                  <a:pos x="194" y="0"/>
                </a:cxn>
                <a:cxn ang="0">
                  <a:pos x="249" y="13"/>
                </a:cxn>
                <a:cxn ang="0">
                  <a:pos x="291" y="69"/>
                </a:cxn>
                <a:cxn ang="0">
                  <a:pos x="336" y="72"/>
                </a:cxn>
                <a:cxn ang="0">
                  <a:pos x="358" y="51"/>
                </a:cxn>
                <a:cxn ang="0">
                  <a:pos x="463" y="46"/>
                </a:cxn>
              </a:cxnLst>
              <a:rect l="0" t="0" r="r" b="b"/>
              <a:pathLst>
                <a:path w="464" h="478">
                  <a:moveTo>
                    <a:pt x="463" y="46"/>
                  </a:moveTo>
                  <a:lnTo>
                    <a:pt x="432" y="123"/>
                  </a:lnTo>
                  <a:lnTo>
                    <a:pt x="354" y="111"/>
                  </a:lnTo>
                  <a:lnTo>
                    <a:pt x="393" y="164"/>
                  </a:lnTo>
                  <a:lnTo>
                    <a:pt x="393" y="256"/>
                  </a:lnTo>
                  <a:lnTo>
                    <a:pt x="363" y="287"/>
                  </a:lnTo>
                  <a:lnTo>
                    <a:pt x="319" y="352"/>
                  </a:lnTo>
                  <a:lnTo>
                    <a:pt x="225" y="359"/>
                  </a:lnTo>
                  <a:lnTo>
                    <a:pt x="266" y="405"/>
                  </a:lnTo>
                  <a:lnTo>
                    <a:pt x="160" y="477"/>
                  </a:lnTo>
                  <a:lnTo>
                    <a:pt x="95" y="378"/>
                  </a:lnTo>
                  <a:lnTo>
                    <a:pt x="6" y="365"/>
                  </a:lnTo>
                  <a:lnTo>
                    <a:pt x="0" y="281"/>
                  </a:lnTo>
                  <a:lnTo>
                    <a:pt x="55" y="222"/>
                  </a:lnTo>
                  <a:lnTo>
                    <a:pt x="17" y="163"/>
                  </a:lnTo>
                  <a:lnTo>
                    <a:pt x="94" y="131"/>
                  </a:lnTo>
                  <a:lnTo>
                    <a:pt x="94" y="46"/>
                  </a:lnTo>
                  <a:lnTo>
                    <a:pt x="164" y="42"/>
                  </a:lnTo>
                  <a:lnTo>
                    <a:pt x="194" y="0"/>
                  </a:lnTo>
                  <a:lnTo>
                    <a:pt x="249" y="13"/>
                  </a:lnTo>
                  <a:lnTo>
                    <a:pt x="291" y="69"/>
                  </a:lnTo>
                  <a:lnTo>
                    <a:pt x="336" y="72"/>
                  </a:lnTo>
                  <a:lnTo>
                    <a:pt x="358" y="51"/>
                  </a:lnTo>
                  <a:lnTo>
                    <a:pt x="463" y="46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33" name="Freeform 35"/>
            <p:cNvSpPr>
              <a:spLocks/>
            </p:cNvSpPr>
            <p:nvPr/>
          </p:nvSpPr>
          <p:spPr bwMode="gray">
            <a:xfrm>
              <a:off x="7146711" y="4981566"/>
              <a:ext cx="621165" cy="602954"/>
            </a:xfrm>
            <a:custGeom>
              <a:avLst/>
              <a:gdLst/>
              <a:ahLst/>
              <a:cxnLst>
                <a:cxn ang="0">
                  <a:pos x="778" y="135"/>
                </a:cxn>
                <a:cxn ang="0">
                  <a:pos x="721" y="33"/>
                </a:cxn>
                <a:cxn ang="0">
                  <a:pos x="626" y="26"/>
                </a:cxn>
                <a:cxn ang="0">
                  <a:pos x="615" y="60"/>
                </a:cxn>
                <a:cxn ang="0">
                  <a:pos x="468" y="79"/>
                </a:cxn>
                <a:cxn ang="0">
                  <a:pos x="507" y="4"/>
                </a:cxn>
                <a:cxn ang="0">
                  <a:pos x="411" y="8"/>
                </a:cxn>
                <a:cxn ang="0">
                  <a:pos x="296" y="0"/>
                </a:cxn>
                <a:cxn ang="0">
                  <a:pos x="287" y="47"/>
                </a:cxn>
                <a:cxn ang="0">
                  <a:pos x="212" y="58"/>
                </a:cxn>
                <a:cxn ang="0">
                  <a:pos x="183" y="85"/>
                </a:cxn>
                <a:cxn ang="0">
                  <a:pos x="215" y="150"/>
                </a:cxn>
                <a:cxn ang="0">
                  <a:pos x="146" y="217"/>
                </a:cxn>
                <a:cxn ang="0">
                  <a:pos x="145" y="294"/>
                </a:cxn>
                <a:cxn ang="0">
                  <a:pos x="70" y="343"/>
                </a:cxn>
                <a:cxn ang="0">
                  <a:pos x="70" y="385"/>
                </a:cxn>
                <a:cxn ang="0">
                  <a:pos x="0" y="454"/>
                </a:cxn>
                <a:cxn ang="0">
                  <a:pos x="10" y="511"/>
                </a:cxn>
                <a:cxn ang="0">
                  <a:pos x="30" y="559"/>
                </a:cxn>
                <a:cxn ang="0">
                  <a:pos x="80" y="570"/>
                </a:cxn>
                <a:cxn ang="0">
                  <a:pos x="104" y="536"/>
                </a:cxn>
                <a:cxn ang="0">
                  <a:pos x="90" y="469"/>
                </a:cxn>
                <a:cxn ang="0">
                  <a:pos x="229" y="396"/>
                </a:cxn>
                <a:cxn ang="0">
                  <a:pos x="312" y="388"/>
                </a:cxn>
                <a:cxn ang="0">
                  <a:pos x="400" y="341"/>
                </a:cxn>
                <a:cxn ang="0">
                  <a:pos x="382" y="276"/>
                </a:cxn>
                <a:cxn ang="0">
                  <a:pos x="451" y="253"/>
                </a:cxn>
                <a:cxn ang="0">
                  <a:pos x="485" y="326"/>
                </a:cxn>
                <a:cxn ang="0">
                  <a:pos x="579" y="324"/>
                </a:cxn>
                <a:cxn ang="0">
                  <a:pos x="529" y="276"/>
                </a:cxn>
                <a:cxn ang="0">
                  <a:pos x="721" y="212"/>
                </a:cxn>
                <a:cxn ang="0">
                  <a:pos x="778" y="135"/>
                </a:cxn>
              </a:cxnLst>
              <a:rect l="0" t="0" r="r" b="b"/>
              <a:pathLst>
                <a:path w="779" h="571">
                  <a:moveTo>
                    <a:pt x="778" y="135"/>
                  </a:moveTo>
                  <a:lnTo>
                    <a:pt x="721" y="33"/>
                  </a:lnTo>
                  <a:lnTo>
                    <a:pt x="626" y="26"/>
                  </a:lnTo>
                  <a:lnTo>
                    <a:pt x="615" y="60"/>
                  </a:lnTo>
                  <a:lnTo>
                    <a:pt x="468" y="79"/>
                  </a:lnTo>
                  <a:lnTo>
                    <a:pt x="507" y="4"/>
                  </a:lnTo>
                  <a:lnTo>
                    <a:pt x="411" y="8"/>
                  </a:lnTo>
                  <a:lnTo>
                    <a:pt x="296" y="0"/>
                  </a:lnTo>
                  <a:lnTo>
                    <a:pt x="287" y="47"/>
                  </a:lnTo>
                  <a:lnTo>
                    <a:pt x="212" y="58"/>
                  </a:lnTo>
                  <a:lnTo>
                    <a:pt x="183" y="85"/>
                  </a:lnTo>
                  <a:lnTo>
                    <a:pt x="215" y="150"/>
                  </a:lnTo>
                  <a:lnTo>
                    <a:pt x="146" y="217"/>
                  </a:lnTo>
                  <a:lnTo>
                    <a:pt x="145" y="294"/>
                  </a:lnTo>
                  <a:lnTo>
                    <a:pt x="70" y="343"/>
                  </a:lnTo>
                  <a:lnTo>
                    <a:pt x="70" y="385"/>
                  </a:lnTo>
                  <a:lnTo>
                    <a:pt x="0" y="454"/>
                  </a:lnTo>
                  <a:lnTo>
                    <a:pt x="10" y="511"/>
                  </a:lnTo>
                  <a:lnTo>
                    <a:pt x="30" y="559"/>
                  </a:lnTo>
                  <a:lnTo>
                    <a:pt x="80" y="570"/>
                  </a:lnTo>
                  <a:lnTo>
                    <a:pt x="104" y="536"/>
                  </a:lnTo>
                  <a:lnTo>
                    <a:pt x="90" y="469"/>
                  </a:lnTo>
                  <a:lnTo>
                    <a:pt x="229" y="396"/>
                  </a:lnTo>
                  <a:lnTo>
                    <a:pt x="312" y="388"/>
                  </a:lnTo>
                  <a:lnTo>
                    <a:pt x="400" y="341"/>
                  </a:lnTo>
                  <a:lnTo>
                    <a:pt x="382" y="276"/>
                  </a:lnTo>
                  <a:lnTo>
                    <a:pt x="451" y="253"/>
                  </a:lnTo>
                  <a:lnTo>
                    <a:pt x="485" y="326"/>
                  </a:lnTo>
                  <a:lnTo>
                    <a:pt x="579" y="324"/>
                  </a:lnTo>
                  <a:lnTo>
                    <a:pt x="529" y="276"/>
                  </a:lnTo>
                  <a:lnTo>
                    <a:pt x="721" y="212"/>
                  </a:lnTo>
                  <a:lnTo>
                    <a:pt x="778" y="135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34" name="Freeform 36"/>
            <p:cNvSpPr>
              <a:spLocks/>
            </p:cNvSpPr>
            <p:nvPr/>
          </p:nvSpPr>
          <p:spPr bwMode="gray">
            <a:xfrm>
              <a:off x="7059511" y="5598515"/>
              <a:ext cx="201314" cy="220423"/>
            </a:xfrm>
            <a:custGeom>
              <a:avLst/>
              <a:gdLst/>
              <a:ahLst/>
              <a:cxnLst>
                <a:cxn ang="0">
                  <a:pos x="177" y="19"/>
                </a:cxn>
                <a:cxn ang="0">
                  <a:pos x="209" y="0"/>
                </a:cxn>
                <a:cxn ang="0">
                  <a:pos x="245" y="12"/>
                </a:cxn>
                <a:cxn ang="0">
                  <a:pos x="252" y="65"/>
                </a:cxn>
                <a:cxn ang="0">
                  <a:pos x="219" y="93"/>
                </a:cxn>
                <a:cxn ang="0">
                  <a:pos x="210" y="125"/>
                </a:cxn>
                <a:cxn ang="0">
                  <a:pos x="210" y="149"/>
                </a:cxn>
                <a:cxn ang="0">
                  <a:pos x="159" y="181"/>
                </a:cxn>
                <a:cxn ang="0">
                  <a:pos x="138" y="209"/>
                </a:cxn>
                <a:cxn ang="0">
                  <a:pos x="47" y="189"/>
                </a:cxn>
                <a:cxn ang="0">
                  <a:pos x="10" y="151"/>
                </a:cxn>
                <a:cxn ang="0">
                  <a:pos x="0" y="80"/>
                </a:cxn>
                <a:cxn ang="0">
                  <a:pos x="44" y="60"/>
                </a:cxn>
                <a:cxn ang="0">
                  <a:pos x="73" y="32"/>
                </a:cxn>
                <a:cxn ang="0">
                  <a:pos x="177" y="19"/>
                </a:cxn>
              </a:cxnLst>
              <a:rect l="0" t="0" r="r" b="b"/>
              <a:pathLst>
                <a:path w="253" h="210">
                  <a:moveTo>
                    <a:pt x="177" y="19"/>
                  </a:moveTo>
                  <a:lnTo>
                    <a:pt x="209" y="0"/>
                  </a:lnTo>
                  <a:lnTo>
                    <a:pt x="245" y="12"/>
                  </a:lnTo>
                  <a:lnTo>
                    <a:pt x="252" y="65"/>
                  </a:lnTo>
                  <a:lnTo>
                    <a:pt x="219" y="93"/>
                  </a:lnTo>
                  <a:lnTo>
                    <a:pt x="210" y="125"/>
                  </a:lnTo>
                  <a:lnTo>
                    <a:pt x="210" y="149"/>
                  </a:lnTo>
                  <a:lnTo>
                    <a:pt x="159" y="181"/>
                  </a:lnTo>
                  <a:lnTo>
                    <a:pt x="138" y="209"/>
                  </a:lnTo>
                  <a:lnTo>
                    <a:pt x="47" y="189"/>
                  </a:lnTo>
                  <a:lnTo>
                    <a:pt x="10" y="151"/>
                  </a:lnTo>
                  <a:lnTo>
                    <a:pt x="0" y="80"/>
                  </a:lnTo>
                  <a:lnTo>
                    <a:pt x="44" y="60"/>
                  </a:lnTo>
                  <a:lnTo>
                    <a:pt x="73" y="32"/>
                  </a:lnTo>
                  <a:lnTo>
                    <a:pt x="177" y="19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35" name="Freeform 37"/>
            <p:cNvSpPr>
              <a:spLocks/>
            </p:cNvSpPr>
            <p:nvPr/>
          </p:nvSpPr>
          <p:spPr bwMode="gray">
            <a:xfrm>
              <a:off x="6657261" y="4934507"/>
              <a:ext cx="669610" cy="538810"/>
            </a:xfrm>
            <a:custGeom>
              <a:avLst/>
              <a:gdLst/>
              <a:ahLst/>
              <a:cxnLst>
                <a:cxn ang="0">
                  <a:pos x="0" y="206"/>
                </a:cxn>
                <a:cxn ang="0">
                  <a:pos x="67" y="172"/>
                </a:cxn>
                <a:cxn ang="0">
                  <a:pos x="170" y="200"/>
                </a:cxn>
                <a:cxn ang="0">
                  <a:pos x="169" y="163"/>
                </a:cxn>
                <a:cxn ang="0">
                  <a:pos x="266" y="112"/>
                </a:cxn>
                <a:cxn ang="0">
                  <a:pos x="357" y="135"/>
                </a:cxn>
                <a:cxn ang="0">
                  <a:pos x="396" y="106"/>
                </a:cxn>
                <a:cxn ang="0">
                  <a:pos x="450" y="106"/>
                </a:cxn>
                <a:cxn ang="0">
                  <a:pos x="484" y="63"/>
                </a:cxn>
                <a:cxn ang="0">
                  <a:pos x="525" y="47"/>
                </a:cxn>
                <a:cxn ang="0">
                  <a:pos x="584" y="8"/>
                </a:cxn>
                <a:cxn ang="0">
                  <a:pos x="624" y="30"/>
                </a:cxn>
                <a:cxn ang="0">
                  <a:pos x="690" y="0"/>
                </a:cxn>
                <a:cxn ang="0">
                  <a:pos x="740" y="49"/>
                </a:cxn>
                <a:cxn ang="0">
                  <a:pos x="696" y="125"/>
                </a:cxn>
                <a:cxn ang="0">
                  <a:pos x="815" y="146"/>
                </a:cxn>
                <a:cxn ang="0">
                  <a:pos x="838" y="202"/>
                </a:cxn>
                <a:cxn ang="0">
                  <a:pos x="770" y="267"/>
                </a:cxn>
                <a:cxn ang="0">
                  <a:pos x="760" y="352"/>
                </a:cxn>
                <a:cxn ang="0">
                  <a:pos x="678" y="395"/>
                </a:cxn>
                <a:cxn ang="0">
                  <a:pos x="696" y="440"/>
                </a:cxn>
                <a:cxn ang="0">
                  <a:pos x="606" y="510"/>
                </a:cxn>
                <a:cxn ang="0">
                  <a:pos x="537" y="508"/>
                </a:cxn>
                <a:cxn ang="0">
                  <a:pos x="465" y="468"/>
                </a:cxn>
                <a:cxn ang="0">
                  <a:pos x="384" y="508"/>
                </a:cxn>
                <a:cxn ang="0">
                  <a:pos x="272" y="472"/>
                </a:cxn>
                <a:cxn ang="0">
                  <a:pos x="259" y="382"/>
                </a:cxn>
                <a:cxn ang="0">
                  <a:pos x="178" y="376"/>
                </a:cxn>
                <a:cxn ang="0">
                  <a:pos x="137" y="354"/>
                </a:cxn>
                <a:cxn ang="0">
                  <a:pos x="132" y="322"/>
                </a:cxn>
                <a:cxn ang="0">
                  <a:pos x="184" y="322"/>
                </a:cxn>
                <a:cxn ang="0">
                  <a:pos x="166" y="269"/>
                </a:cxn>
                <a:cxn ang="0">
                  <a:pos x="86" y="269"/>
                </a:cxn>
                <a:cxn ang="0">
                  <a:pos x="0" y="247"/>
                </a:cxn>
                <a:cxn ang="0">
                  <a:pos x="0" y="206"/>
                </a:cxn>
              </a:cxnLst>
              <a:rect l="0" t="0" r="r" b="b"/>
              <a:pathLst>
                <a:path w="839" h="511">
                  <a:moveTo>
                    <a:pt x="0" y="206"/>
                  </a:moveTo>
                  <a:lnTo>
                    <a:pt x="67" y="172"/>
                  </a:lnTo>
                  <a:lnTo>
                    <a:pt x="170" y="200"/>
                  </a:lnTo>
                  <a:lnTo>
                    <a:pt x="169" y="163"/>
                  </a:lnTo>
                  <a:lnTo>
                    <a:pt x="266" y="112"/>
                  </a:lnTo>
                  <a:lnTo>
                    <a:pt x="357" y="135"/>
                  </a:lnTo>
                  <a:lnTo>
                    <a:pt x="396" y="106"/>
                  </a:lnTo>
                  <a:lnTo>
                    <a:pt x="450" y="106"/>
                  </a:lnTo>
                  <a:lnTo>
                    <a:pt x="484" y="63"/>
                  </a:lnTo>
                  <a:lnTo>
                    <a:pt x="525" y="47"/>
                  </a:lnTo>
                  <a:lnTo>
                    <a:pt x="584" y="8"/>
                  </a:lnTo>
                  <a:lnTo>
                    <a:pt x="624" y="30"/>
                  </a:lnTo>
                  <a:lnTo>
                    <a:pt x="690" y="0"/>
                  </a:lnTo>
                  <a:lnTo>
                    <a:pt x="740" y="49"/>
                  </a:lnTo>
                  <a:lnTo>
                    <a:pt x="696" y="125"/>
                  </a:lnTo>
                  <a:lnTo>
                    <a:pt x="815" y="146"/>
                  </a:lnTo>
                  <a:lnTo>
                    <a:pt x="838" y="202"/>
                  </a:lnTo>
                  <a:lnTo>
                    <a:pt x="770" y="267"/>
                  </a:lnTo>
                  <a:lnTo>
                    <a:pt x="760" y="352"/>
                  </a:lnTo>
                  <a:lnTo>
                    <a:pt x="678" y="395"/>
                  </a:lnTo>
                  <a:lnTo>
                    <a:pt x="696" y="440"/>
                  </a:lnTo>
                  <a:lnTo>
                    <a:pt x="606" y="510"/>
                  </a:lnTo>
                  <a:lnTo>
                    <a:pt x="537" y="508"/>
                  </a:lnTo>
                  <a:lnTo>
                    <a:pt x="465" y="468"/>
                  </a:lnTo>
                  <a:lnTo>
                    <a:pt x="384" y="508"/>
                  </a:lnTo>
                  <a:lnTo>
                    <a:pt x="272" y="472"/>
                  </a:lnTo>
                  <a:lnTo>
                    <a:pt x="259" y="382"/>
                  </a:lnTo>
                  <a:lnTo>
                    <a:pt x="178" y="376"/>
                  </a:lnTo>
                  <a:lnTo>
                    <a:pt x="137" y="354"/>
                  </a:lnTo>
                  <a:lnTo>
                    <a:pt x="132" y="322"/>
                  </a:lnTo>
                  <a:lnTo>
                    <a:pt x="184" y="322"/>
                  </a:lnTo>
                  <a:lnTo>
                    <a:pt x="166" y="269"/>
                  </a:lnTo>
                  <a:lnTo>
                    <a:pt x="86" y="269"/>
                  </a:lnTo>
                  <a:lnTo>
                    <a:pt x="0" y="247"/>
                  </a:lnTo>
                  <a:lnTo>
                    <a:pt x="0" y="206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36" name="Line 38"/>
            <p:cNvSpPr>
              <a:spLocks noChangeShapeType="1"/>
            </p:cNvSpPr>
            <p:nvPr/>
          </p:nvSpPr>
          <p:spPr bwMode="gray">
            <a:xfrm>
              <a:off x="7022909" y="3671861"/>
              <a:ext cx="1077" cy="2333"/>
            </a:xfrm>
            <a:prstGeom prst="line">
              <a:avLst/>
            </a:prstGeom>
            <a:grpFill/>
            <a:ln w="1270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</p:grpSp>
      <p:grpSp>
        <p:nvGrpSpPr>
          <p:cNvPr id="1537" name="Group 56"/>
          <p:cNvGrpSpPr>
            <a:grpSpLocks/>
          </p:cNvGrpSpPr>
          <p:nvPr/>
        </p:nvGrpSpPr>
        <p:grpSpPr bwMode="gray">
          <a:xfrm>
            <a:off x="5190020" y="1124973"/>
            <a:ext cx="3362619" cy="2274989"/>
            <a:chOff x="1757363" y="1860550"/>
            <a:chExt cx="6414459" cy="3873500"/>
          </a:xfrm>
          <a:solidFill>
            <a:srgbClr val="92D050"/>
          </a:solidFill>
        </p:grpSpPr>
        <p:sp>
          <p:nvSpPr>
            <p:cNvPr id="1538" name="Freeform 1537"/>
            <p:cNvSpPr>
              <a:spLocks/>
            </p:cNvSpPr>
            <p:nvPr/>
          </p:nvSpPr>
          <p:spPr bwMode="gray">
            <a:xfrm>
              <a:off x="7697186" y="1860550"/>
              <a:ext cx="474636" cy="717550"/>
            </a:xfrm>
            <a:custGeom>
              <a:avLst/>
              <a:gdLst>
                <a:gd name="T0" fmla="*/ 74 w 230"/>
                <a:gd name="T1" fmla="*/ 12 h 377"/>
                <a:gd name="T2" fmla="*/ 28 w 230"/>
                <a:gd name="T3" fmla="*/ 81 h 377"/>
                <a:gd name="T4" fmla="*/ 49 w 230"/>
                <a:gd name="T5" fmla="*/ 107 h 377"/>
                <a:gd name="T6" fmla="*/ 28 w 230"/>
                <a:gd name="T7" fmla="*/ 139 h 377"/>
                <a:gd name="T8" fmla="*/ 41 w 230"/>
                <a:gd name="T9" fmla="*/ 149 h 377"/>
                <a:gd name="T10" fmla="*/ 31 w 230"/>
                <a:gd name="T11" fmla="*/ 171 h 377"/>
                <a:gd name="T12" fmla="*/ 31 w 230"/>
                <a:gd name="T13" fmla="*/ 206 h 377"/>
                <a:gd name="T14" fmla="*/ 0 w 230"/>
                <a:gd name="T15" fmla="*/ 219 h 377"/>
                <a:gd name="T16" fmla="*/ 13 w 230"/>
                <a:gd name="T17" fmla="*/ 229 h 377"/>
                <a:gd name="T18" fmla="*/ 79 w 230"/>
                <a:gd name="T19" fmla="*/ 361 h 377"/>
                <a:gd name="T20" fmla="*/ 131 w 230"/>
                <a:gd name="T21" fmla="*/ 377 h 377"/>
                <a:gd name="T22" fmla="*/ 128 w 230"/>
                <a:gd name="T23" fmla="*/ 350 h 377"/>
                <a:gd name="T24" fmla="*/ 154 w 230"/>
                <a:gd name="T25" fmla="*/ 329 h 377"/>
                <a:gd name="T26" fmla="*/ 144 w 230"/>
                <a:gd name="T27" fmla="*/ 307 h 377"/>
                <a:gd name="T28" fmla="*/ 210 w 230"/>
                <a:gd name="T29" fmla="*/ 280 h 377"/>
                <a:gd name="T30" fmla="*/ 212 w 230"/>
                <a:gd name="T31" fmla="*/ 243 h 377"/>
                <a:gd name="T32" fmla="*/ 250 w 230"/>
                <a:gd name="T33" fmla="*/ 241 h 377"/>
                <a:gd name="T34" fmla="*/ 280 w 230"/>
                <a:gd name="T35" fmla="*/ 213 h 377"/>
                <a:gd name="T36" fmla="*/ 316 w 230"/>
                <a:gd name="T37" fmla="*/ 194 h 377"/>
                <a:gd name="T38" fmla="*/ 316 w 230"/>
                <a:gd name="T39" fmla="*/ 171 h 377"/>
                <a:gd name="T40" fmla="*/ 266 w 230"/>
                <a:gd name="T41" fmla="*/ 163 h 377"/>
                <a:gd name="T42" fmla="*/ 257 w 230"/>
                <a:gd name="T43" fmla="*/ 138 h 377"/>
                <a:gd name="T44" fmla="*/ 207 w 230"/>
                <a:gd name="T45" fmla="*/ 134 h 377"/>
                <a:gd name="T46" fmla="*/ 168 w 230"/>
                <a:gd name="T47" fmla="*/ 22 h 377"/>
                <a:gd name="T48" fmla="*/ 148 w 230"/>
                <a:gd name="T49" fmla="*/ 0 h 377"/>
                <a:gd name="T50" fmla="*/ 99 w 230"/>
                <a:gd name="T51" fmla="*/ 9 h 377"/>
                <a:gd name="T52" fmla="*/ 90 w 230"/>
                <a:gd name="T53" fmla="*/ 20 h 377"/>
                <a:gd name="T54" fmla="*/ 74 w 230"/>
                <a:gd name="T55" fmla="*/ 12 h 377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230"/>
                <a:gd name="T85" fmla="*/ 0 h 377"/>
                <a:gd name="T86" fmla="*/ 230 w 230"/>
                <a:gd name="T87" fmla="*/ 377 h 377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230" h="377">
                  <a:moveTo>
                    <a:pt x="54" y="12"/>
                  </a:moveTo>
                  <a:lnTo>
                    <a:pt x="20" y="81"/>
                  </a:lnTo>
                  <a:lnTo>
                    <a:pt x="36" y="107"/>
                  </a:lnTo>
                  <a:lnTo>
                    <a:pt x="20" y="139"/>
                  </a:lnTo>
                  <a:lnTo>
                    <a:pt x="30" y="149"/>
                  </a:lnTo>
                  <a:lnTo>
                    <a:pt x="23" y="171"/>
                  </a:lnTo>
                  <a:lnTo>
                    <a:pt x="23" y="206"/>
                  </a:lnTo>
                  <a:lnTo>
                    <a:pt x="0" y="219"/>
                  </a:lnTo>
                  <a:lnTo>
                    <a:pt x="9" y="229"/>
                  </a:lnTo>
                  <a:lnTo>
                    <a:pt x="57" y="361"/>
                  </a:lnTo>
                  <a:lnTo>
                    <a:pt x="95" y="377"/>
                  </a:lnTo>
                  <a:lnTo>
                    <a:pt x="93" y="350"/>
                  </a:lnTo>
                  <a:lnTo>
                    <a:pt x="112" y="329"/>
                  </a:lnTo>
                  <a:lnTo>
                    <a:pt x="105" y="307"/>
                  </a:lnTo>
                  <a:lnTo>
                    <a:pt x="152" y="280"/>
                  </a:lnTo>
                  <a:lnTo>
                    <a:pt x="154" y="243"/>
                  </a:lnTo>
                  <a:lnTo>
                    <a:pt x="182" y="241"/>
                  </a:lnTo>
                  <a:lnTo>
                    <a:pt x="204" y="213"/>
                  </a:lnTo>
                  <a:lnTo>
                    <a:pt x="230" y="194"/>
                  </a:lnTo>
                  <a:lnTo>
                    <a:pt x="230" y="171"/>
                  </a:lnTo>
                  <a:lnTo>
                    <a:pt x="194" y="163"/>
                  </a:lnTo>
                  <a:lnTo>
                    <a:pt x="187" y="138"/>
                  </a:lnTo>
                  <a:lnTo>
                    <a:pt x="151" y="134"/>
                  </a:lnTo>
                  <a:lnTo>
                    <a:pt x="122" y="22"/>
                  </a:lnTo>
                  <a:lnTo>
                    <a:pt x="108" y="0"/>
                  </a:lnTo>
                  <a:lnTo>
                    <a:pt x="72" y="9"/>
                  </a:lnTo>
                  <a:lnTo>
                    <a:pt x="66" y="20"/>
                  </a:lnTo>
                  <a:lnTo>
                    <a:pt x="54" y="12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39" name="Freeform 1538"/>
            <p:cNvSpPr>
              <a:spLocks/>
            </p:cNvSpPr>
            <p:nvPr/>
          </p:nvSpPr>
          <p:spPr bwMode="gray">
            <a:xfrm>
              <a:off x="3712656" y="4129088"/>
              <a:ext cx="1745489" cy="1604962"/>
            </a:xfrm>
            <a:custGeom>
              <a:avLst/>
              <a:gdLst>
                <a:gd name="T0" fmla="*/ 337 w 846"/>
                <a:gd name="T1" fmla="*/ 0 h 842"/>
                <a:gd name="T2" fmla="*/ 594 w 846"/>
                <a:gd name="T3" fmla="*/ 7 h 842"/>
                <a:gd name="T4" fmla="*/ 594 w 846"/>
                <a:gd name="T5" fmla="*/ 160 h 842"/>
                <a:gd name="T6" fmla="*/ 724 w 846"/>
                <a:gd name="T7" fmla="*/ 202 h 842"/>
                <a:gd name="T8" fmla="*/ 761 w 846"/>
                <a:gd name="T9" fmla="*/ 188 h 842"/>
                <a:gd name="T10" fmla="*/ 847 w 846"/>
                <a:gd name="T11" fmla="*/ 221 h 842"/>
                <a:gd name="T12" fmla="*/ 897 w 846"/>
                <a:gd name="T13" fmla="*/ 219 h 842"/>
                <a:gd name="T14" fmla="*/ 996 w 846"/>
                <a:gd name="T15" fmla="*/ 186 h 842"/>
                <a:gd name="T16" fmla="*/ 1054 w 846"/>
                <a:gd name="T17" fmla="*/ 218 h 842"/>
                <a:gd name="T18" fmla="*/ 1103 w 846"/>
                <a:gd name="T19" fmla="*/ 226 h 842"/>
                <a:gd name="T20" fmla="*/ 1103 w 846"/>
                <a:gd name="T21" fmla="*/ 350 h 842"/>
                <a:gd name="T22" fmla="*/ 1163 w 846"/>
                <a:gd name="T23" fmla="*/ 428 h 842"/>
                <a:gd name="T24" fmla="*/ 1149 w 846"/>
                <a:gd name="T25" fmla="*/ 534 h 842"/>
                <a:gd name="T26" fmla="*/ 1086 w 846"/>
                <a:gd name="T27" fmla="*/ 576 h 842"/>
                <a:gd name="T28" fmla="*/ 1073 w 846"/>
                <a:gd name="T29" fmla="*/ 537 h 842"/>
                <a:gd name="T30" fmla="*/ 1054 w 846"/>
                <a:gd name="T31" fmla="*/ 555 h 842"/>
                <a:gd name="T32" fmla="*/ 1068 w 846"/>
                <a:gd name="T33" fmla="*/ 580 h 842"/>
                <a:gd name="T34" fmla="*/ 955 w 846"/>
                <a:gd name="T35" fmla="*/ 643 h 842"/>
                <a:gd name="T36" fmla="*/ 927 w 846"/>
                <a:gd name="T37" fmla="*/ 647 h 842"/>
                <a:gd name="T38" fmla="*/ 868 w 846"/>
                <a:gd name="T39" fmla="*/ 678 h 842"/>
                <a:gd name="T40" fmla="*/ 868 w 846"/>
                <a:gd name="T41" fmla="*/ 696 h 842"/>
                <a:gd name="T42" fmla="*/ 850 w 846"/>
                <a:gd name="T43" fmla="*/ 700 h 842"/>
                <a:gd name="T44" fmla="*/ 864 w 846"/>
                <a:gd name="T45" fmla="*/ 721 h 842"/>
                <a:gd name="T46" fmla="*/ 833 w 846"/>
                <a:gd name="T47" fmla="*/ 752 h 842"/>
                <a:gd name="T48" fmla="*/ 850 w 846"/>
                <a:gd name="T49" fmla="*/ 798 h 842"/>
                <a:gd name="T50" fmla="*/ 868 w 846"/>
                <a:gd name="T51" fmla="*/ 814 h 842"/>
                <a:gd name="T52" fmla="*/ 864 w 846"/>
                <a:gd name="T53" fmla="*/ 842 h 842"/>
                <a:gd name="T54" fmla="*/ 819 w 846"/>
                <a:gd name="T55" fmla="*/ 842 h 842"/>
                <a:gd name="T56" fmla="*/ 780 w 846"/>
                <a:gd name="T57" fmla="*/ 828 h 842"/>
                <a:gd name="T58" fmla="*/ 751 w 846"/>
                <a:gd name="T59" fmla="*/ 831 h 842"/>
                <a:gd name="T60" fmla="*/ 662 w 846"/>
                <a:gd name="T61" fmla="*/ 807 h 842"/>
                <a:gd name="T62" fmla="*/ 620 w 846"/>
                <a:gd name="T63" fmla="*/ 710 h 842"/>
                <a:gd name="T64" fmla="*/ 558 w 846"/>
                <a:gd name="T65" fmla="*/ 664 h 842"/>
                <a:gd name="T66" fmla="*/ 501 w 846"/>
                <a:gd name="T67" fmla="*/ 580 h 842"/>
                <a:gd name="T68" fmla="*/ 477 w 846"/>
                <a:gd name="T69" fmla="*/ 571 h 842"/>
                <a:gd name="T70" fmla="*/ 447 w 846"/>
                <a:gd name="T71" fmla="*/ 550 h 842"/>
                <a:gd name="T72" fmla="*/ 417 w 846"/>
                <a:gd name="T73" fmla="*/ 550 h 842"/>
                <a:gd name="T74" fmla="*/ 374 w 846"/>
                <a:gd name="T75" fmla="*/ 543 h 842"/>
                <a:gd name="T76" fmla="*/ 341 w 846"/>
                <a:gd name="T77" fmla="*/ 550 h 842"/>
                <a:gd name="T78" fmla="*/ 319 w 846"/>
                <a:gd name="T79" fmla="*/ 593 h 842"/>
                <a:gd name="T80" fmla="*/ 285 w 846"/>
                <a:gd name="T81" fmla="*/ 600 h 842"/>
                <a:gd name="T82" fmla="*/ 211 w 846"/>
                <a:gd name="T83" fmla="*/ 567 h 842"/>
                <a:gd name="T84" fmla="*/ 167 w 846"/>
                <a:gd name="T85" fmla="*/ 527 h 842"/>
                <a:gd name="T86" fmla="*/ 159 w 846"/>
                <a:gd name="T87" fmla="*/ 479 h 842"/>
                <a:gd name="T88" fmla="*/ 128 w 846"/>
                <a:gd name="T89" fmla="*/ 446 h 842"/>
                <a:gd name="T90" fmla="*/ 53 w 846"/>
                <a:gd name="T91" fmla="*/ 400 h 842"/>
                <a:gd name="T92" fmla="*/ 0 w 846"/>
                <a:gd name="T93" fmla="*/ 352 h 842"/>
                <a:gd name="T94" fmla="*/ 0 w 846"/>
                <a:gd name="T95" fmla="*/ 332 h 842"/>
                <a:gd name="T96" fmla="*/ 176 w 846"/>
                <a:gd name="T97" fmla="*/ 333 h 842"/>
                <a:gd name="T98" fmla="*/ 319 w 846"/>
                <a:gd name="T99" fmla="*/ 342 h 842"/>
                <a:gd name="T100" fmla="*/ 337 w 846"/>
                <a:gd name="T101" fmla="*/ 0 h 84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846"/>
                <a:gd name="T154" fmla="*/ 0 h 842"/>
                <a:gd name="T155" fmla="*/ 846 w 846"/>
                <a:gd name="T156" fmla="*/ 842 h 842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846" h="842">
                  <a:moveTo>
                    <a:pt x="245" y="0"/>
                  </a:moveTo>
                  <a:lnTo>
                    <a:pt x="432" y="7"/>
                  </a:lnTo>
                  <a:lnTo>
                    <a:pt x="432" y="160"/>
                  </a:lnTo>
                  <a:lnTo>
                    <a:pt x="527" y="202"/>
                  </a:lnTo>
                  <a:lnTo>
                    <a:pt x="553" y="188"/>
                  </a:lnTo>
                  <a:lnTo>
                    <a:pt x="616" y="221"/>
                  </a:lnTo>
                  <a:lnTo>
                    <a:pt x="653" y="219"/>
                  </a:lnTo>
                  <a:lnTo>
                    <a:pt x="725" y="186"/>
                  </a:lnTo>
                  <a:lnTo>
                    <a:pt x="767" y="218"/>
                  </a:lnTo>
                  <a:lnTo>
                    <a:pt x="803" y="226"/>
                  </a:lnTo>
                  <a:lnTo>
                    <a:pt x="803" y="350"/>
                  </a:lnTo>
                  <a:lnTo>
                    <a:pt x="846" y="428"/>
                  </a:lnTo>
                  <a:lnTo>
                    <a:pt x="836" y="534"/>
                  </a:lnTo>
                  <a:lnTo>
                    <a:pt x="790" y="576"/>
                  </a:lnTo>
                  <a:lnTo>
                    <a:pt x="780" y="537"/>
                  </a:lnTo>
                  <a:lnTo>
                    <a:pt x="767" y="555"/>
                  </a:lnTo>
                  <a:lnTo>
                    <a:pt x="777" y="580"/>
                  </a:lnTo>
                  <a:lnTo>
                    <a:pt x="695" y="643"/>
                  </a:lnTo>
                  <a:lnTo>
                    <a:pt x="675" y="647"/>
                  </a:lnTo>
                  <a:lnTo>
                    <a:pt x="632" y="678"/>
                  </a:lnTo>
                  <a:lnTo>
                    <a:pt x="632" y="696"/>
                  </a:lnTo>
                  <a:lnTo>
                    <a:pt x="619" y="700"/>
                  </a:lnTo>
                  <a:lnTo>
                    <a:pt x="629" y="721"/>
                  </a:lnTo>
                  <a:lnTo>
                    <a:pt x="606" y="752"/>
                  </a:lnTo>
                  <a:lnTo>
                    <a:pt x="619" y="798"/>
                  </a:lnTo>
                  <a:lnTo>
                    <a:pt x="632" y="814"/>
                  </a:lnTo>
                  <a:lnTo>
                    <a:pt x="629" y="842"/>
                  </a:lnTo>
                  <a:lnTo>
                    <a:pt x="596" y="842"/>
                  </a:lnTo>
                  <a:lnTo>
                    <a:pt x="567" y="828"/>
                  </a:lnTo>
                  <a:lnTo>
                    <a:pt x="547" y="831"/>
                  </a:lnTo>
                  <a:lnTo>
                    <a:pt x="481" y="807"/>
                  </a:lnTo>
                  <a:lnTo>
                    <a:pt x="452" y="710"/>
                  </a:lnTo>
                  <a:lnTo>
                    <a:pt x="406" y="664"/>
                  </a:lnTo>
                  <a:lnTo>
                    <a:pt x="365" y="580"/>
                  </a:lnTo>
                  <a:lnTo>
                    <a:pt x="347" y="571"/>
                  </a:lnTo>
                  <a:lnTo>
                    <a:pt x="325" y="550"/>
                  </a:lnTo>
                  <a:lnTo>
                    <a:pt x="304" y="550"/>
                  </a:lnTo>
                  <a:lnTo>
                    <a:pt x="272" y="543"/>
                  </a:lnTo>
                  <a:lnTo>
                    <a:pt x="248" y="550"/>
                  </a:lnTo>
                  <a:lnTo>
                    <a:pt x="232" y="593"/>
                  </a:lnTo>
                  <a:lnTo>
                    <a:pt x="207" y="600"/>
                  </a:lnTo>
                  <a:lnTo>
                    <a:pt x="153" y="567"/>
                  </a:lnTo>
                  <a:lnTo>
                    <a:pt x="121" y="527"/>
                  </a:lnTo>
                  <a:lnTo>
                    <a:pt x="116" y="479"/>
                  </a:lnTo>
                  <a:lnTo>
                    <a:pt x="93" y="446"/>
                  </a:lnTo>
                  <a:lnTo>
                    <a:pt x="39" y="400"/>
                  </a:lnTo>
                  <a:lnTo>
                    <a:pt x="0" y="352"/>
                  </a:lnTo>
                  <a:lnTo>
                    <a:pt x="0" y="332"/>
                  </a:lnTo>
                  <a:lnTo>
                    <a:pt x="128" y="333"/>
                  </a:lnTo>
                  <a:lnTo>
                    <a:pt x="232" y="342"/>
                  </a:lnTo>
                  <a:lnTo>
                    <a:pt x="245" y="0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40" name="Freeform 1539"/>
            <p:cNvSpPr>
              <a:spLocks/>
            </p:cNvSpPr>
            <p:nvPr/>
          </p:nvSpPr>
          <p:spPr bwMode="gray">
            <a:xfrm>
              <a:off x="5275857" y="4062413"/>
              <a:ext cx="607053" cy="561975"/>
            </a:xfrm>
            <a:custGeom>
              <a:avLst/>
              <a:gdLst>
                <a:gd name="T0" fmla="*/ 0 w 294"/>
                <a:gd name="T1" fmla="*/ 27 h 295"/>
                <a:gd name="T2" fmla="*/ 162 w 294"/>
                <a:gd name="T3" fmla="*/ 12 h 295"/>
                <a:gd name="T4" fmla="*/ 359 w 294"/>
                <a:gd name="T5" fmla="*/ 0 h 295"/>
                <a:gd name="T6" fmla="*/ 348 w 294"/>
                <a:gd name="T7" fmla="*/ 39 h 295"/>
                <a:gd name="T8" fmla="*/ 392 w 294"/>
                <a:gd name="T9" fmla="*/ 30 h 295"/>
                <a:gd name="T10" fmla="*/ 407 w 294"/>
                <a:gd name="T11" fmla="*/ 56 h 295"/>
                <a:gd name="T12" fmla="*/ 362 w 294"/>
                <a:gd name="T13" fmla="*/ 80 h 295"/>
                <a:gd name="T14" fmla="*/ 373 w 294"/>
                <a:gd name="T15" fmla="*/ 121 h 295"/>
                <a:gd name="T16" fmla="*/ 327 w 294"/>
                <a:gd name="T17" fmla="*/ 189 h 295"/>
                <a:gd name="T18" fmla="*/ 291 w 294"/>
                <a:gd name="T19" fmla="*/ 231 h 295"/>
                <a:gd name="T20" fmla="*/ 310 w 294"/>
                <a:gd name="T21" fmla="*/ 285 h 295"/>
                <a:gd name="T22" fmla="*/ 60 w 294"/>
                <a:gd name="T23" fmla="*/ 295 h 295"/>
                <a:gd name="T24" fmla="*/ 59 w 294"/>
                <a:gd name="T25" fmla="*/ 262 h 295"/>
                <a:gd name="T26" fmla="*/ 10 w 294"/>
                <a:gd name="T27" fmla="*/ 255 h 295"/>
                <a:gd name="T28" fmla="*/ 10 w 294"/>
                <a:gd name="T29" fmla="*/ 80 h 295"/>
                <a:gd name="T30" fmla="*/ 0 w 294"/>
                <a:gd name="T31" fmla="*/ 27 h 29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94"/>
                <a:gd name="T49" fmla="*/ 0 h 295"/>
                <a:gd name="T50" fmla="*/ 294 w 294"/>
                <a:gd name="T51" fmla="*/ 295 h 295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94" h="295">
                  <a:moveTo>
                    <a:pt x="0" y="27"/>
                  </a:moveTo>
                  <a:lnTo>
                    <a:pt x="116" y="12"/>
                  </a:lnTo>
                  <a:lnTo>
                    <a:pt x="259" y="0"/>
                  </a:lnTo>
                  <a:lnTo>
                    <a:pt x="252" y="39"/>
                  </a:lnTo>
                  <a:lnTo>
                    <a:pt x="283" y="30"/>
                  </a:lnTo>
                  <a:lnTo>
                    <a:pt x="294" y="56"/>
                  </a:lnTo>
                  <a:lnTo>
                    <a:pt x="262" y="80"/>
                  </a:lnTo>
                  <a:lnTo>
                    <a:pt x="269" y="121"/>
                  </a:lnTo>
                  <a:lnTo>
                    <a:pt x="235" y="189"/>
                  </a:lnTo>
                  <a:lnTo>
                    <a:pt x="210" y="231"/>
                  </a:lnTo>
                  <a:lnTo>
                    <a:pt x="224" y="285"/>
                  </a:lnTo>
                  <a:lnTo>
                    <a:pt x="43" y="295"/>
                  </a:lnTo>
                  <a:lnTo>
                    <a:pt x="42" y="262"/>
                  </a:lnTo>
                  <a:lnTo>
                    <a:pt x="6" y="255"/>
                  </a:lnTo>
                  <a:lnTo>
                    <a:pt x="6" y="80"/>
                  </a:lnTo>
                  <a:lnTo>
                    <a:pt x="0" y="27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41" name="Freeform 1540"/>
            <p:cNvSpPr>
              <a:spLocks/>
            </p:cNvSpPr>
            <p:nvPr/>
          </p:nvSpPr>
          <p:spPr bwMode="gray">
            <a:xfrm>
              <a:off x="5354963" y="4603750"/>
              <a:ext cx="741189" cy="588963"/>
            </a:xfrm>
            <a:custGeom>
              <a:avLst/>
              <a:gdLst>
                <a:gd name="T0" fmla="*/ 0 w 359"/>
                <a:gd name="T1" fmla="*/ 7 h 309"/>
                <a:gd name="T2" fmla="*/ 247 w 359"/>
                <a:gd name="T3" fmla="*/ 0 h 309"/>
                <a:gd name="T4" fmla="*/ 291 w 359"/>
                <a:gd name="T5" fmla="*/ 64 h 309"/>
                <a:gd name="T6" fmla="*/ 254 w 359"/>
                <a:gd name="T7" fmla="*/ 139 h 309"/>
                <a:gd name="T8" fmla="*/ 242 w 359"/>
                <a:gd name="T9" fmla="*/ 173 h 309"/>
                <a:gd name="T10" fmla="*/ 407 w 359"/>
                <a:gd name="T11" fmla="*/ 159 h 309"/>
                <a:gd name="T12" fmla="*/ 417 w 359"/>
                <a:gd name="T13" fmla="*/ 208 h 309"/>
                <a:gd name="T14" fmla="*/ 367 w 359"/>
                <a:gd name="T15" fmla="*/ 204 h 309"/>
                <a:gd name="T16" fmla="*/ 346 w 359"/>
                <a:gd name="T17" fmla="*/ 225 h 309"/>
                <a:gd name="T18" fmla="*/ 369 w 359"/>
                <a:gd name="T19" fmla="*/ 239 h 309"/>
                <a:gd name="T20" fmla="*/ 416 w 359"/>
                <a:gd name="T21" fmla="*/ 222 h 309"/>
                <a:gd name="T22" fmla="*/ 417 w 359"/>
                <a:gd name="T23" fmla="*/ 246 h 309"/>
                <a:gd name="T24" fmla="*/ 444 w 359"/>
                <a:gd name="T25" fmla="*/ 226 h 309"/>
                <a:gd name="T26" fmla="*/ 463 w 359"/>
                <a:gd name="T27" fmla="*/ 226 h 309"/>
                <a:gd name="T28" fmla="*/ 441 w 359"/>
                <a:gd name="T29" fmla="*/ 267 h 309"/>
                <a:gd name="T30" fmla="*/ 482 w 359"/>
                <a:gd name="T31" fmla="*/ 274 h 309"/>
                <a:gd name="T32" fmla="*/ 495 w 359"/>
                <a:gd name="T33" fmla="*/ 297 h 309"/>
                <a:gd name="T34" fmla="*/ 476 w 359"/>
                <a:gd name="T35" fmla="*/ 304 h 309"/>
                <a:gd name="T36" fmla="*/ 451 w 359"/>
                <a:gd name="T37" fmla="*/ 289 h 309"/>
                <a:gd name="T38" fmla="*/ 402 w 359"/>
                <a:gd name="T39" fmla="*/ 279 h 309"/>
                <a:gd name="T40" fmla="*/ 412 w 359"/>
                <a:gd name="T41" fmla="*/ 306 h 309"/>
                <a:gd name="T42" fmla="*/ 390 w 359"/>
                <a:gd name="T43" fmla="*/ 309 h 309"/>
                <a:gd name="T44" fmla="*/ 368 w 359"/>
                <a:gd name="T45" fmla="*/ 285 h 309"/>
                <a:gd name="T46" fmla="*/ 356 w 359"/>
                <a:gd name="T47" fmla="*/ 300 h 309"/>
                <a:gd name="T48" fmla="*/ 284 w 359"/>
                <a:gd name="T49" fmla="*/ 300 h 309"/>
                <a:gd name="T50" fmla="*/ 284 w 359"/>
                <a:gd name="T51" fmla="*/ 285 h 309"/>
                <a:gd name="T52" fmla="*/ 258 w 359"/>
                <a:gd name="T53" fmla="*/ 267 h 309"/>
                <a:gd name="T54" fmla="*/ 202 w 359"/>
                <a:gd name="T55" fmla="*/ 265 h 309"/>
                <a:gd name="T56" fmla="*/ 248 w 359"/>
                <a:gd name="T57" fmla="*/ 285 h 309"/>
                <a:gd name="T58" fmla="*/ 184 w 359"/>
                <a:gd name="T59" fmla="*/ 295 h 309"/>
                <a:gd name="T60" fmla="*/ 86 w 359"/>
                <a:gd name="T61" fmla="*/ 281 h 309"/>
                <a:gd name="T62" fmla="*/ 48 w 359"/>
                <a:gd name="T63" fmla="*/ 285 h 309"/>
                <a:gd name="T64" fmla="*/ 62 w 359"/>
                <a:gd name="T65" fmla="*/ 181 h 309"/>
                <a:gd name="T66" fmla="*/ 1 w 359"/>
                <a:gd name="T67" fmla="*/ 99 h 309"/>
                <a:gd name="T68" fmla="*/ 0 w 359"/>
                <a:gd name="T69" fmla="*/ 7 h 309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359"/>
                <a:gd name="T106" fmla="*/ 0 h 309"/>
                <a:gd name="T107" fmla="*/ 359 w 359"/>
                <a:gd name="T108" fmla="*/ 309 h 309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359" h="309">
                  <a:moveTo>
                    <a:pt x="0" y="7"/>
                  </a:moveTo>
                  <a:lnTo>
                    <a:pt x="179" y="0"/>
                  </a:lnTo>
                  <a:lnTo>
                    <a:pt x="211" y="64"/>
                  </a:lnTo>
                  <a:lnTo>
                    <a:pt x="184" y="139"/>
                  </a:lnTo>
                  <a:lnTo>
                    <a:pt x="175" y="173"/>
                  </a:lnTo>
                  <a:lnTo>
                    <a:pt x="295" y="159"/>
                  </a:lnTo>
                  <a:lnTo>
                    <a:pt x="303" y="208"/>
                  </a:lnTo>
                  <a:lnTo>
                    <a:pt x="267" y="204"/>
                  </a:lnTo>
                  <a:lnTo>
                    <a:pt x="250" y="225"/>
                  </a:lnTo>
                  <a:lnTo>
                    <a:pt x="269" y="239"/>
                  </a:lnTo>
                  <a:lnTo>
                    <a:pt x="302" y="222"/>
                  </a:lnTo>
                  <a:lnTo>
                    <a:pt x="303" y="246"/>
                  </a:lnTo>
                  <a:lnTo>
                    <a:pt x="322" y="226"/>
                  </a:lnTo>
                  <a:lnTo>
                    <a:pt x="336" y="226"/>
                  </a:lnTo>
                  <a:lnTo>
                    <a:pt x="320" y="267"/>
                  </a:lnTo>
                  <a:lnTo>
                    <a:pt x="350" y="274"/>
                  </a:lnTo>
                  <a:lnTo>
                    <a:pt x="359" y="297"/>
                  </a:lnTo>
                  <a:lnTo>
                    <a:pt x="345" y="304"/>
                  </a:lnTo>
                  <a:lnTo>
                    <a:pt x="327" y="289"/>
                  </a:lnTo>
                  <a:lnTo>
                    <a:pt x="292" y="279"/>
                  </a:lnTo>
                  <a:lnTo>
                    <a:pt x="299" y="306"/>
                  </a:lnTo>
                  <a:lnTo>
                    <a:pt x="282" y="309"/>
                  </a:lnTo>
                  <a:lnTo>
                    <a:pt x="268" y="285"/>
                  </a:lnTo>
                  <a:lnTo>
                    <a:pt x="259" y="300"/>
                  </a:lnTo>
                  <a:lnTo>
                    <a:pt x="206" y="300"/>
                  </a:lnTo>
                  <a:lnTo>
                    <a:pt x="206" y="285"/>
                  </a:lnTo>
                  <a:lnTo>
                    <a:pt x="187" y="267"/>
                  </a:lnTo>
                  <a:lnTo>
                    <a:pt x="147" y="265"/>
                  </a:lnTo>
                  <a:lnTo>
                    <a:pt x="180" y="285"/>
                  </a:lnTo>
                  <a:lnTo>
                    <a:pt x="134" y="295"/>
                  </a:lnTo>
                  <a:lnTo>
                    <a:pt x="62" y="281"/>
                  </a:lnTo>
                  <a:lnTo>
                    <a:pt x="35" y="285"/>
                  </a:lnTo>
                  <a:lnTo>
                    <a:pt x="45" y="181"/>
                  </a:lnTo>
                  <a:lnTo>
                    <a:pt x="1" y="99"/>
                  </a:lnTo>
                  <a:lnTo>
                    <a:pt x="0" y="7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42" name="Freeform 1541"/>
            <p:cNvSpPr>
              <a:spLocks/>
            </p:cNvSpPr>
            <p:nvPr/>
          </p:nvSpPr>
          <p:spPr bwMode="gray">
            <a:xfrm>
              <a:off x="4857972" y="2117725"/>
              <a:ext cx="825453" cy="923925"/>
            </a:xfrm>
            <a:custGeom>
              <a:avLst/>
              <a:gdLst>
                <a:gd name="T0" fmla="*/ 0 w 400"/>
                <a:gd name="T1" fmla="*/ 38 h 485"/>
                <a:gd name="T2" fmla="*/ 144 w 400"/>
                <a:gd name="T3" fmla="*/ 38 h 485"/>
                <a:gd name="T4" fmla="*/ 143 w 400"/>
                <a:gd name="T5" fmla="*/ 0 h 485"/>
                <a:gd name="T6" fmla="*/ 172 w 400"/>
                <a:gd name="T7" fmla="*/ 11 h 485"/>
                <a:gd name="T8" fmla="*/ 181 w 400"/>
                <a:gd name="T9" fmla="*/ 40 h 485"/>
                <a:gd name="T10" fmla="*/ 248 w 400"/>
                <a:gd name="T11" fmla="*/ 72 h 485"/>
                <a:gd name="T12" fmla="*/ 268 w 400"/>
                <a:gd name="T13" fmla="*/ 58 h 485"/>
                <a:gd name="T14" fmla="*/ 311 w 400"/>
                <a:gd name="T15" fmla="*/ 58 h 485"/>
                <a:gd name="T16" fmla="*/ 342 w 400"/>
                <a:gd name="T17" fmla="*/ 86 h 485"/>
                <a:gd name="T18" fmla="*/ 364 w 400"/>
                <a:gd name="T19" fmla="*/ 76 h 485"/>
                <a:gd name="T20" fmla="*/ 422 w 400"/>
                <a:gd name="T21" fmla="*/ 87 h 485"/>
                <a:gd name="T22" fmla="*/ 444 w 400"/>
                <a:gd name="T23" fmla="*/ 66 h 485"/>
                <a:gd name="T24" fmla="*/ 482 w 400"/>
                <a:gd name="T25" fmla="*/ 83 h 485"/>
                <a:gd name="T26" fmla="*/ 550 w 400"/>
                <a:gd name="T27" fmla="*/ 80 h 485"/>
                <a:gd name="T28" fmla="*/ 439 w 400"/>
                <a:gd name="T29" fmla="*/ 140 h 485"/>
                <a:gd name="T30" fmla="*/ 385 w 400"/>
                <a:gd name="T31" fmla="*/ 193 h 485"/>
                <a:gd name="T32" fmla="*/ 396 w 400"/>
                <a:gd name="T33" fmla="*/ 269 h 485"/>
                <a:gd name="T34" fmla="*/ 358 w 400"/>
                <a:gd name="T35" fmla="*/ 301 h 485"/>
                <a:gd name="T36" fmla="*/ 372 w 400"/>
                <a:gd name="T37" fmla="*/ 324 h 485"/>
                <a:gd name="T38" fmla="*/ 372 w 400"/>
                <a:gd name="T39" fmla="*/ 380 h 485"/>
                <a:gd name="T40" fmla="*/ 411 w 400"/>
                <a:gd name="T41" fmla="*/ 380 h 485"/>
                <a:gd name="T42" fmla="*/ 467 w 400"/>
                <a:gd name="T43" fmla="*/ 421 h 485"/>
                <a:gd name="T44" fmla="*/ 488 w 400"/>
                <a:gd name="T45" fmla="*/ 471 h 485"/>
                <a:gd name="T46" fmla="*/ 101 w 400"/>
                <a:gd name="T47" fmla="*/ 485 h 485"/>
                <a:gd name="T48" fmla="*/ 102 w 400"/>
                <a:gd name="T49" fmla="*/ 351 h 485"/>
                <a:gd name="T50" fmla="*/ 67 w 400"/>
                <a:gd name="T51" fmla="*/ 321 h 485"/>
                <a:gd name="T52" fmla="*/ 80 w 400"/>
                <a:gd name="T53" fmla="*/ 286 h 485"/>
                <a:gd name="T54" fmla="*/ 90 w 400"/>
                <a:gd name="T55" fmla="*/ 266 h 485"/>
                <a:gd name="T56" fmla="*/ 67 w 400"/>
                <a:gd name="T57" fmla="*/ 173 h 485"/>
                <a:gd name="T58" fmla="*/ 34 w 400"/>
                <a:gd name="T59" fmla="*/ 112 h 485"/>
                <a:gd name="T60" fmla="*/ 0 w 400"/>
                <a:gd name="T61" fmla="*/ 38 h 485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w 400"/>
                <a:gd name="T94" fmla="*/ 0 h 485"/>
                <a:gd name="T95" fmla="*/ 400 w 400"/>
                <a:gd name="T96" fmla="*/ 485 h 485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T93" t="T94" r="T95" b="T96"/>
              <a:pathLst>
                <a:path w="400" h="485">
                  <a:moveTo>
                    <a:pt x="0" y="38"/>
                  </a:moveTo>
                  <a:lnTo>
                    <a:pt x="105" y="38"/>
                  </a:lnTo>
                  <a:lnTo>
                    <a:pt x="104" y="0"/>
                  </a:lnTo>
                  <a:lnTo>
                    <a:pt x="126" y="11"/>
                  </a:lnTo>
                  <a:lnTo>
                    <a:pt x="131" y="40"/>
                  </a:lnTo>
                  <a:lnTo>
                    <a:pt x="181" y="72"/>
                  </a:lnTo>
                  <a:lnTo>
                    <a:pt x="196" y="58"/>
                  </a:lnTo>
                  <a:lnTo>
                    <a:pt x="226" y="58"/>
                  </a:lnTo>
                  <a:lnTo>
                    <a:pt x="249" y="86"/>
                  </a:lnTo>
                  <a:lnTo>
                    <a:pt x="264" y="76"/>
                  </a:lnTo>
                  <a:lnTo>
                    <a:pt x="308" y="87"/>
                  </a:lnTo>
                  <a:lnTo>
                    <a:pt x="323" y="66"/>
                  </a:lnTo>
                  <a:lnTo>
                    <a:pt x="351" y="83"/>
                  </a:lnTo>
                  <a:lnTo>
                    <a:pt x="400" y="80"/>
                  </a:lnTo>
                  <a:lnTo>
                    <a:pt x="320" y="140"/>
                  </a:lnTo>
                  <a:lnTo>
                    <a:pt x="281" y="193"/>
                  </a:lnTo>
                  <a:lnTo>
                    <a:pt x="288" y="269"/>
                  </a:lnTo>
                  <a:lnTo>
                    <a:pt x="261" y="301"/>
                  </a:lnTo>
                  <a:lnTo>
                    <a:pt x="272" y="324"/>
                  </a:lnTo>
                  <a:lnTo>
                    <a:pt x="272" y="380"/>
                  </a:lnTo>
                  <a:lnTo>
                    <a:pt x="299" y="380"/>
                  </a:lnTo>
                  <a:lnTo>
                    <a:pt x="340" y="421"/>
                  </a:lnTo>
                  <a:lnTo>
                    <a:pt x="356" y="471"/>
                  </a:lnTo>
                  <a:lnTo>
                    <a:pt x="73" y="485"/>
                  </a:lnTo>
                  <a:lnTo>
                    <a:pt x="74" y="351"/>
                  </a:lnTo>
                  <a:lnTo>
                    <a:pt x="49" y="321"/>
                  </a:lnTo>
                  <a:lnTo>
                    <a:pt x="58" y="286"/>
                  </a:lnTo>
                  <a:lnTo>
                    <a:pt x="66" y="266"/>
                  </a:lnTo>
                  <a:lnTo>
                    <a:pt x="49" y="173"/>
                  </a:lnTo>
                  <a:lnTo>
                    <a:pt x="25" y="112"/>
                  </a:lnTo>
                  <a:lnTo>
                    <a:pt x="0" y="38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43" name="Freeform 1542"/>
            <p:cNvSpPr>
              <a:spLocks/>
            </p:cNvSpPr>
            <p:nvPr/>
          </p:nvSpPr>
          <p:spPr bwMode="gray">
            <a:xfrm>
              <a:off x="5401395" y="2435225"/>
              <a:ext cx="627688" cy="728663"/>
            </a:xfrm>
            <a:custGeom>
              <a:avLst/>
              <a:gdLst>
                <a:gd name="T0" fmla="*/ 30 w 304"/>
                <a:gd name="T1" fmla="*/ 26 h 382"/>
                <a:gd name="T2" fmla="*/ 62 w 304"/>
                <a:gd name="T3" fmla="*/ 23 h 382"/>
                <a:gd name="T4" fmla="*/ 89 w 304"/>
                <a:gd name="T5" fmla="*/ 23 h 382"/>
                <a:gd name="T6" fmla="*/ 108 w 304"/>
                <a:gd name="T7" fmla="*/ 0 h 382"/>
                <a:gd name="T8" fmla="*/ 120 w 304"/>
                <a:gd name="T9" fmla="*/ 28 h 382"/>
                <a:gd name="T10" fmla="*/ 167 w 304"/>
                <a:gd name="T11" fmla="*/ 28 h 382"/>
                <a:gd name="T12" fmla="*/ 189 w 304"/>
                <a:gd name="T13" fmla="*/ 54 h 382"/>
                <a:gd name="T14" fmla="*/ 237 w 304"/>
                <a:gd name="T15" fmla="*/ 47 h 382"/>
                <a:gd name="T16" fmla="*/ 268 w 304"/>
                <a:gd name="T17" fmla="*/ 64 h 382"/>
                <a:gd name="T18" fmla="*/ 327 w 304"/>
                <a:gd name="T19" fmla="*/ 75 h 382"/>
                <a:gd name="T20" fmla="*/ 338 w 304"/>
                <a:gd name="T21" fmla="*/ 95 h 382"/>
                <a:gd name="T22" fmla="*/ 368 w 304"/>
                <a:gd name="T23" fmla="*/ 97 h 382"/>
                <a:gd name="T24" fmla="*/ 357 w 304"/>
                <a:gd name="T25" fmla="*/ 117 h 382"/>
                <a:gd name="T26" fmla="*/ 369 w 304"/>
                <a:gd name="T27" fmla="*/ 139 h 382"/>
                <a:gd name="T28" fmla="*/ 351 w 304"/>
                <a:gd name="T29" fmla="*/ 167 h 382"/>
                <a:gd name="T30" fmla="*/ 365 w 304"/>
                <a:gd name="T31" fmla="*/ 173 h 382"/>
                <a:gd name="T32" fmla="*/ 397 w 304"/>
                <a:gd name="T33" fmla="*/ 142 h 382"/>
                <a:gd name="T34" fmla="*/ 396 w 304"/>
                <a:gd name="T35" fmla="*/ 132 h 382"/>
                <a:gd name="T36" fmla="*/ 407 w 304"/>
                <a:gd name="T37" fmla="*/ 127 h 382"/>
                <a:gd name="T38" fmla="*/ 417 w 304"/>
                <a:gd name="T39" fmla="*/ 142 h 382"/>
                <a:gd name="T40" fmla="*/ 390 w 304"/>
                <a:gd name="T41" fmla="*/ 164 h 382"/>
                <a:gd name="T42" fmla="*/ 382 w 304"/>
                <a:gd name="T43" fmla="*/ 212 h 382"/>
                <a:gd name="T44" fmla="*/ 382 w 304"/>
                <a:gd name="T45" fmla="*/ 293 h 382"/>
                <a:gd name="T46" fmla="*/ 397 w 304"/>
                <a:gd name="T47" fmla="*/ 307 h 382"/>
                <a:gd name="T48" fmla="*/ 389 w 304"/>
                <a:gd name="T49" fmla="*/ 358 h 382"/>
                <a:gd name="T50" fmla="*/ 194 w 304"/>
                <a:gd name="T51" fmla="*/ 382 h 382"/>
                <a:gd name="T52" fmla="*/ 143 w 304"/>
                <a:gd name="T53" fmla="*/ 359 h 382"/>
                <a:gd name="T54" fmla="*/ 153 w 304"/>
                <a:gd name="T55" fmla="*/ 328 h 382"/>
                <a:gd name="T56" fmla="*/ 129 w 304"/>
                <a:gd name="T57" fmla="*/ 295 h 382"/>
                <a:gd name="T58" fmla="*/ 108 w 304"/>
                <a:gd name="T59" fmla="*/ 254 h 382"/>
                <a:gd name="T60" fmla="*/ 52 w 304"/>
                <a:gd name="T61" fmla="*/ 213 h 382"/>
                <a:gd name="T62" fmla="*/ 17 w 304"/>
                <a:gd name="T63" fmla="*/ 213 h 382"/>
                <a:gd name="T64" fmla="*/ 17 w 304"/>
                <a:gd name="T65" fmla="*/ 157 h 382"/>
                <a:gd name="T66" fmla="*/ 0 w 304"/>
                <a:gd name="T67" fmla="*/ 135 h 382"/>
                <a:gd name="T68" fmla="*/ 38 w 304"/>
                <a:gd name="T69" fmla="*/ 102 h 382"/>
                <a:gd name="T70" fmla="*/ 30 w 304"/>
                <a:gd name="T71" fmla="*/ 26 h 38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304"/>
                <a:gd name="T109" fmla="*/ 0 h 382"/>
                <a:gd name="T110" fmla="*/ 304 w 304"/>
                <a:gd name="T111" fmla="*/ 382 h 382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304" h="382">
                  <a:moveTo>
                    <a:pt x="22" y="26"/>
                  </a:moveTo>
                  <a:lnTo>
                    <a:pt x="45" y="23"/>
                  </a:lnTo>
                  <a:lnTo>
                    <a:pt x="65" y="23"/>
                  </a:lnTo>
                  <a:lnTo>
                    <a:pt x="79" y="0"/>
                  </a:lnTo>
                  <a:lnTo>
                    <a:pt x="88" y="28"/>
                  </a:lnTo>
                  <a:lnTo>
                    <a:pt x="121" y="28"/>
                  </a:lnTo>
                  <a:lnTo>
                    <a:pt x="139" y="54"/>
                  </a:lnTo>
                  <a:lnTo>
                    <a:pt x="173" y="47"/>
                  </a:lnTo>
                  <a:lnTo>
                    <a:pt x="196" y="64"/>
                  </a:lnTo>
                  <a:lnTo>
                    <a:pt x="238" y="75"/>
                  </a:lnTo>
                  <a:lnTo>
                    <a:pt x="246" y="95"/>
                  </a:lnTo>
                  <a:lnTo>
                    <a:pt x="268" y="97"/>
                  </a:lnTo>
                  <a:lnTo>
                    <a:pt x="261" y="117"/>
                  </a:lnTo>
                  <a:lnTo>
                    <a:pt x="269" y="139"/>
                  </a:lnTo>
                  <a:lnTo>
                    <a:pt x="255" y="167"/>
                  </a:lnTo>
                  <a:lnTo>
                    <a:pt x="265" y="173"/>
                  </a:lnTo>
                  <a:lnTo>
                    <a:pt x="289" y="142"/>
                  </a:lnTo>
                  <a:lnTo>
                    <a:pt x="288" y="132"/>
                  </a:lnTo>
                  <a:lnTo>
                    <a:pt x="297" y="127"/>
                  </a:lnTo>
                  <a:lnTo>
                    <a:pt x="304" y="142"/>
                  </a:lnTo>
                  <a:lnTo>
                    <a:pt x="285" y="164"/>
                  </a:lnTo>
                  <a:lnTo>
                    <a:pt x="278" y="212"/>
                  </a:lnTo>
                  <a:lnTo>
                    <a:pt x="278" y="293"/>
                  </a:lnTo>
                  <a:lnTo>
                    <a:pt x="289" y="307"/>
                  </a:lnTo>
                  <a:lnTo>
                    <a:pt x="284" y="358"/>
                  </a:lnTo>
                  <a:lnTo>
                    <a:pt x="140" y="382"/>
                  </a:lnTo>
                  <a:lnTo>
                    <a:pt x="104" y="359"/>
                  </a:lnTo>
                  <a:lnTo>
                    <a:pt x="111" y="328"/>
                  </a:lnTo>
                  <a:lnTo>
                    <a:pt x="94" y="295"/>
                  </a:lnTo>
                  <a:lnTo>
                    <a:pt x="79" y="254"/>
                  </a:lnTo>
                  <a:lnTo>
                    <a:pt x="38" y="213"/>
                  </a:lnTo>
                  <a:lnTo>
                    <a:pt x="13" y="213"/>
                  </a:lnTo>
                  <a:lnTo>
                    <a:pt x="13" y="157"/>
                  </a:lnTo>
                  <a:lnTo>
                    <a:pt x="0" y="135"/>
                  </a:lnTo>
                  <a:lnTo>
                    <a:pt x="28" y="102"/>
                  </a:lnTo>
                  <a:lnTo>
                    <a:pt x="22" y="26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44" name="Freeform 1543"/>
            <p:cNvSpPr>
              <a:spLocks/>
            </p:cNvSpPr>
            <p:nvPr/>
          </p:nvSpPr>
          <p:spPr bwMode="gray">
            <a:xfrm>
              <a:off x="5647311" y="2333625"/>
              <a:ext cx="677559" cy="288925"/>
            </a:xfrm>
            <a:custGeom>
              <a:avLst/>
              <a:gdLst>
                <a:gd name="T0" fmla="*/ 0 w 327"/>
                <a:gd name="T1" fmla="*/ 84 h 152"/>
                <a:gd name="T2" fmla="*/ 101 w 327"/>
                <a:gd name="T3" fmla="*/ 0 h 152"/>
                <a:gd name="T4" fmla="*/ 84 w 327"/>
                <a:gd name="T5" fmla="*/ 34 h 152"/>
                <a:gd name="T6" fmla="*/ 98 w 327"/>
                <a:gd name="T7" fmla="*/ 45 h 152"/>
                <a:gd name="T8" fmla="*/ 129 w 327"/>
                <a:gd name="T9" fmla="*/ 31 h 152"/>
                <a:gd name="T10" fmla="*/ 198 w 327"/>
                <a:gd name="T11" fmla="*/ 52 h 152"/>
                <a:gd name="T12" fmla="*/ 229 w 327"/>
                <a:gd name="T13" fmla="*/ 34 h 152"/>
                <a:gd name="T14" fmla="*/ 325 w 327"/>
                <a:gd name="T15" fmla="*/ 25 h 152"/>
                <a:gd name="T16" fmla="*/ 342 w 327"/>
                <a:gd name="T17" fmla="*/ 46 h 152"/>
                <a:gd name="T18" fmla="*/ 377 w 327"/>
                <a:gd name="T19" fmla="*/ 41 h 152"/>
                <a:gd name="T20" fmla="*/ 451 w 327"/>
                <a:gd name="T21" fmla="*/ 64 h 152"/>
                <a:gd name="T22" fmla="*/ 454 w 327"/>
                <a:gd name="T23" fmla="*/ 80 h 152"/>
                <a:gd name="T24" fmla="*/ 376 w 327"/>
                <a:gd name="T25" fmla="*/ 94 h 152"/>
                <a:gd name="T26" fmla="*/ 355 w 327"/>
                <a:gd name="T27" fmla="*/ 84 h 152"/>
                <a:gd name="T28" fmla="*/ 315 w 327"/>
                <a:gd name="T29" fmla="*/ 87 h 152"/>
                <a:gd name="T30" fmla="*/ 270 w 327"/>
                <a:gd name="T31" fmla="*/ 108 h 152"/>
                <a:gd name="T32" fmla="*/ 248 w 327"/>
                <a:gd name="T33" fmla="*/ 109 h 152"/>
                <a:gd name="T34" fmla="*/ 230 w 327"/>
                <a:gd name="T35" fmla="*/ 94 h 152"/>
                <a:gd name="T36" fmla="*/ 206 w 327"/>
                <a:gd name="T37" fmla="*/ 151 h 152"/>
                <a:gd name="T38" fmla="*/ 177 w 327"/>
                <a:gd name="T39" fmla="*/ 152 h 152"/>
                <a:gd name="T40" fmla="*/ 164 w 327"/>
                <a:gd name="T41" fmla="*/ 129 h 152"/>
                <a:gd name="T42" fmla="*/ 102 w 327"/>
                <a:gd name="T43" fmla="*/ 119 h 152"/>
                <a:gd name="T44" fmla="*/ 75 w 327"/>
                <a:gd name="T45" fmla="*/ 102 h 152"/>
                <a:gd name="T46" fmla="*/ 26 w 327"/>
                <a:gd name="T47" fmla="*/ 108 h 152"/>
                <a:gd name="T48" fmla="*/ 0 w 327"/>
                <a:gd name="T49" fmla="*/ 84 h 152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327"/>
                <a:gd name="T76" fmla="*/ 0 h 152"/>
                <a:gd name="T77" fmla="*/ 327 w 327"/>
                <a:gd name="T78" fmla="*/ 152 h 152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327" h="152">
                  <a:moveTo>
                    <a:pt x="0" y="84"/>
                  </a:moveTo>
                  <a:lnTo>
                    <a:pt x="73" y="0"/>
                  </a:lnTo>
                  <a:lnTo>
                    <a:pt x="60" y="34"/>
                  </a:lnTo>
                  <a:lnTo>
                    <a:pt x="70" y="45"/>
                  </a:lnTo>
                  <a:lnTo>
                    <a:pt x="93" y="31"/>
                  </a:lnTo>
                  <a:lnTo>
                    <a:pt x="143" y="52"/>
                  </a:lnTo>
                  <a:lnTo>
                    <a:pt x="165" y="34"/>
                  </a:lnTo>
                  <a:lnTo>
                    <a:pt x="233" y="25"/>
                  </a:lnTo>
                  <a:lnTo>
                    <a:pt x="246" y="46"/>
                  </a:lnTo>
                  <a:lnTo>
                    <a:pt x="272" y="41"/>
                  </a:lnTo>
                  <a:lnTo>
                    <a:pt x="324" y="64"/>
                  </a:lnTo>
                  <a:lnTo>
                    <a:pt x="327" y="80"/>
                  </a:lnTo>
                  <a:lnTo>
                    <a:pt x="271" y="94"/>
                  </a:lnTo>
                  <a:lnTo>
                    <a:pt x="255" y="84"/>
                  </a:lnTo>
                  <a:lnTo>
                    <a:pt x="227" y="87"/>
                  </a:lnTo>
                  <a:lnTo>
                    <a:pt x="194" y="108"/>
                  </a:lnTo>
                  <a:lnTo>
                    <a:pt x="178" y="109"/>
                  </a:lnTo>
                  <a:lnTo>
                    <a:pt x="166" y="94"/>
                  </a:lnTo>
                  <a:lnTo>
                    <a:pt x="148" y="151"/>
                  </a:lnTo>
                  <a:lnTo>
                    <a:pt x="127" y="152"/>
                  </a:lnTo>
                  <a:lnTo>
                    <a:pt x="118" y="129"/>
                  </a:lnTo>
                  <a:lnTo>
                    <a:pt x="74" y="119"/>
                  </a:lnTo>
                  <a:lnTo>
                    <a:pt x="54" y="102"/>
                  </a:lnTo>
                  <a:lnTo>
                    <a:pt x="18" y="108"/>
                  </a:lnTo>
                  <a:lnTo>
                    <a:pt x="0" y="84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45" name="Freeform 1544"/>
            <p:cNvSpPr>
              <a:spLocks/>
            </p:cNvSpPr>
            <p:nvPr/>
          </p:nvSpPr>
          <p:spPr bwMode="gray">
            <a:xfrm>
              <a:off x="6096152" y="2536825"/>
              <a:ext cx="481514" cy="649288"/>
            </a:xfrm>
            <a:custGeom>
              <a:avLst/>
              <a:gdLst>
                <a:gd name="T0" fmla="*/ 81 w 234"/>
                <a:gd name="T1" fmla="*/ 14 h 341"/>
                <a:gd name="T2" fmla="*/ 91 w 234"/>
                <a:gd name="T3" fmla="*/ 35 h 341"/>
                <a:gd name="T4" fmla="*/ 69 w 234"/>
                <a:gd name="T5" fmla="*/ 48 h 341"/>
                <a:gd name="T6" fmla="*/ 68 w 234"/>
                <a:gd name="T7" fmla="*/ 102 h 341"/>
                <a:gd name="T8" fmla="*/ 56 w 234"/>
                <a:gd name="T9" fmla="*/ 67 h 341"/>
                <a:gd name="T10" fmla="*/ 11 w 234"/>
                <a:gd name="T11" fmla="*/ 101 h 341"/>
                <a:gd name="T12" fmla="*/ 0 w 234"/>
                <a:gd name="T13" fmla="*/ 199 h 341"/>
                <a:gd name="T14" fmla="*/ 29 w 234"/>
                <a:gd name="T15" fmla="*/ 247 h 341"/>
                <a:gd name="T16" fmla="*/ 32 w 234"/>
                <a:gd name="T17" fmla="*/ 272 h 341"/>
                <a:gd name="T18" fmla="*/ 34 w 234"/>
                <a:gd name="T19" fmla="*/ 292 h 341"/>
                <a:gd name="T20" fmla="*/ 32 w 234"/>
                <a:gd name="T21" fmla="*/ 309 h 341"/>
                <a:gd name="T22" fmla="*/ 27 w 234"/>
                <a:gd name="T23" fmla="*/ 341 h 341"/>
                <a:gd name="T24" fmla="*/ 152 w 234"/>
                <a:gd name="T25" fmla="*/ 335 h 341"/>
                <a:gd name="T26" fmla="*/ 318 w 234"/>
                <a:gd name="T27" fmla="*/ 323 h 341"/>
                <a:gd name="T28" fmla="*/ 289 w 234"/>
                <a:gd name="T29" fmla="*/ 316 h 341"/>
                <a:gd name="T30" fmla="*/ 271 w 234"/>
                <a:gd name="T31" fmla="*/ 299 h 341"/>
                <a:gd name="T32" fmla="*/ 297 w 234"/>
                <a:gd name="T33" fmla="*/ 283 h 341"/>
                <a:gd name="T34" fmla="*/ 297 w 234"/>
                <a:gd name="T35" fmla="*/ 265 h 341"/>
                <a:gd name="T36" fmla="*/ 284 w 234"/>
                <a:gd name="T37" fmla="*/ 248 h 341"/>
                <a:gd name="T38" fmla="*/ 297 w 234"/>
                <a:gd name="T39" fmla="*/ 236 h 341"/>
                <a:gd name="T40" fmla="*/ 320 w 234"/>
                <a:gd name="T41" fmla="*/ 238 h 341"/>
                <a:gd name="T42" fmla="*/ 315 w 234"/>
                <a:gd name="T43" fmla="*/ 191 h 341"/>
                <a:gd name="T44" fmla="*/ 308 w 234"/>
                <a:gd name="T45" fmla="*/ 162 h 341"/>
                <a:gd name="T46" fmla="*/ 296 w 234"/>
                <a:gd name="T47" fmla="*/ 145 h 341"/>
                <a:gd name="T48" fmla="*/ 282 w 234"/>
                <a:gd name="T49" fmla="*/ 134 h 341"/>
                <a:gd name="T50" fmla="*/ 262 w 234"/>
                <a:gd name="T51" fmla="*/ 131 h 341"/>
                <a:gd name="T52" fmla="*/ 242 w 234"/>
                <a:gd name="T53" fmla="*/ 131 h 341"/>
                <a:gd name="T54" fmla="*/ 219 w 234"/>
                <a:gd name="T55" fmla="*/ 153 h 341"/>
                <a:gd name="T56" fmla="*/ 207 w 234"/>
                <a:gd name="T57" fmla="*/ 160 h 341"/>
                <a:gd name="T58" fmla="*/ 199 w 234"/>
                <a:gd name="T59" fmla="*/ 162 h 341"/>
                <a:gd name="T60" fmla="*/ 187 w 234"/>
                <a:gd name="T61" fmla="*/ 159 h 341"/>
                <a:gd name="T62" fmla="*/ 185 w 234"/>
                <a:gd name="T63" fmla="*/ 148 h 341"/>
                <a:gd name="T64" fmla="*/ 187 w 234"/>
                <a:gd name="T65" fmla="*/ 141 h 341"/>
                <a:gd name="T66" fmla="*/ 198 w 234"/>
                <a:gd name="T67" fmla="*/ 134 h 341"/>
                <a:gd name="T68" fmla="*/ 205 w 234"/>
                <a:gd name="T69" fmla="*/ 131 h 341"/>
                <a:gd name="T70" fmla="*/ 215 w 234"/>
                <a:gd name="T71" fmla="*/ 129 h 341"/>
                <a:gd name="T72" fmla="*/ 215 w 234"/>
                <a:gd name="T73" fmla="*/ 117 h 341"/>
                <a:gd name="T74" fmla="*/ 239 w 234"/>
                <a:gd name="T75" fmla="*/ 102 h 341"/>
                <a:gd name="T76" fmla="*/ 215 w 234"/>
                <a:gd name="T77" fmla="*/ 58 h 341"/>
                <a:gd name="T78" fmla="*/ 215 w 234"/>
                <a:gd name="T79" fmla="*/ 37 h 341"/>
                <a:gd name="T80" fmla="*/ 174 w 234"/>
                <a:gd name="T81" fmla="*/ 28 h 341"/>
                <a:gd name="T82" fmla="*/ 116 w 234"/>
                <a:gd name="T83" fmla="*/ 0 h 341"/>
                <a:gd name="T84" fmla="*/ 81 w 234"/>
                <a:gd name="T85" fmla="*/ 14 h 341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34"/>
                <a:gd name="T130" fmla="*/ 0 h 341"/>
                <a:gd name="T131" fmla="*/ 234 w 234"/>
                <a:gd name="T132" fmla="*/ 341 h 341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34" h="341">
                  <a:moveTo>
                    <a:pt x="59" y="14"/>
                  </a:moveTo>
                  <a:lnTo>
                    <a:pt x="67" y="35"/>
                  </a:lnTo>
                  <a:lnTo>
                    <a:pt x="51" y="48"/>
                  </a:lnTo>
                  <a:lnTo>
                    <a:pt x="50" y="102"/>
                  </a:lnTo>
                  <a:lnTo>
                    <a:pt x="41" y="67"/>
                  </a:lnTo>
                  <a:lnTo>
                    <a:pt x="7" y="101"/>
                  </a:lnTo>
                  <a:lnTo>
                    <a:pt x="0" y="199"/>
                  </a:lnTo>
                  <a:lnTo>
                    <a:pt x="21" y="247"/>
                  </a:lnTo>
                  <a:lnTo>
                    <a:pt x="24" y="272"/>
                  </a:lnTo>
                  <a:lnTo>
                    <a:pt x="25" y="292"/>
                  </a:lnTo>
                  <a:lnTo>
                    <a:pt x="24" y="309"/>
                  </a:lnTo>
                  <a:lnTo>
                    <a:pt x="19" y="341"/>
                  </a:lnTo>
                  <a:lnTo>
                    <a:pt x="111" y="335"/>
                  </a:lnTo>
                  <a:lnTo>
                    <a:pt x="233" y="323"/>
                  </a:lnTo>
                  <a:lnTo>
                    <a:pt x="211" y="316"/>
                  </a:lnTo>
                  <a:lnTo>
                    <a:pt x="199" y="299"/>
                  </a:lnTo>
                  <a:lnTo>
                    <a:pt x="217" y="283"/>
                  </a:lnTo>
                  <a:lnTo>
                    <a:pt x="217" y="265"/>
                  </a:lnTo>
                  <a:lnTo>
                    <a:pt x="208" y="248"/>
                  </a:lnTo>
                  <a:lnTo>
                    <a:pt x="217" y="236"/>
                  </a:lnTo>
                  <a:lnTo>
                    <a:pt x="234" y="238"/>
                  </a:lnTo>
                  <a:lnTo>
                    <a:pt x="230" y="191"/>
                  </a:lnTo>
                  <a:lnTo>
                    <a:pt x="226" y="162"/>
                  </a:lnTo>
                  <a:lnTo>
                    <a:pt x="216" y="145"/>
                  </a:lnTo>
                  <a:lnTo>
                    <a:pt x="206" y="134"/>
                  </a:lnTo>
                  <a:lnTo>
                    <a:pt x="191" y="131"/>
                  </a:lnTo>
                  <a:lnTo>
                    <a:pt x="177" y="131"/>
                  </a:lnTo>
                  <a:lnTo>
                    <a:pt x="161" y="153"/>
                  </a:lnTo>
                  <a:lnTo>
                    <a:pt x="152" y="160"/>
                  </a:lnTo>
                  <a:lnTo>
                    <a:pt x="145" y="162"/>
                  </a:lnTo>
                  <a:lnTo>
                    <a:pt x="137" y="159"/>
                  </a:lnTo>
                  <a:lnTo>
                    <a:pt x="135" y="148"/>
                  </a:lnTo>
                  <a:lnTo>
                    <a:pt x="137" y="141"/>
                  </a:lnTo>
                  <a:lnTo>
                    <a:pt x="144" y="134"/>
                  </a:lnTo>
                  <a:lnTo>
                    <a:pt x="151" y="131"/>
                  </a:lnTo>
                  <a:lnTo>
                    <a:pt x="157" y="129"/>
                  </a:lnTo>
                  <a:lnTo>
                    <a:pt x="157" y="117"/>
                  </a:lnTo>
                  <a:lnTo>
                    <a:pt x="175" y="102"/>
                  </a:lnTo>
                  <a:lnTo>
                    <a:pt x="157" y="58"/>
                  </a:lnTo>
                  <a:lnTo>
                    <a:pt x="157" y="37"/>
                  </a:lnTo>
                  <a:lnTo>
                    <a:pt x="128" y="28"/>
                  </a:lnTo>
                  <a:lnTo>
                    <a:pt x="85" y="0"/>
                  </a:lnTo>
                  <a:lnTo>
                    <a:pt x="59" y="14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46" name="Freeform 1545"/>
            <p:cNvSpPr>
              <a:spLocks/>
            </p:cNvSpPr>
            <p:nvPr/>
          </p:nvSpPr>
          <p:spPr bwMode="gray">
            <a:xfrm>
              <a:off x="6710082" y="4090988"/>
              <a:ext cx="619090" cy="485775"/>
            </a:xfrm>
            <a:custGeom>
              <a:avLst/>
              <a:gdLst>
                <a:gd name="T0" fmla="*/ 15 w 300"/>
                <a:gd name="T1" fmla="*/ 46 h 255"/>
                <a:gd name="T2" fmla="*/ 48 w 300"/>
                <a:gd name="T3" fmla="*/ 21 h 255"/>
                <a:gd name="T4" fmla="*/ 171 w 300"/>
                <a:gd name="T5" fmla="*/ 0 h 255"/>
                <a:gd name="T6" fmla="*/ 210 w 300"/>
                <a:gd name="T7" fmla="*/ 14 h 255"/>
                <a:gd name="T8" fmla="*/ 288 w 300"/>
                <a:gd name="T9" fmla="*/ 4 h 255"/>
                <a:gd name="T10" fmla="*/ 353 w 300"/>
                <a:gd name="T11" fmla="*/ 40 h 255"/>
                <a:gd name="T12" fmla="*/ 413 w 300"/>
                <a:gd name="T13" fmla="*/ 68 h 255"/>
                <a:gd name="T14" fmla="*/ 380 w 300"/>
                <a:gd name="T15" fmla="*/ 145 h 255"/>
                <a:gd name="T16" fmla="*/ 331 w 300"/>
                <a:gd name="T17" fmla="*/ 183 h 255"/>
                <a:gd name="T18" fmla="*/ 276 w 300"/>
                <a:gd name="T19" fmla="*/ 195 h 255"/>
                <a:gd name="T20" fmla="*/ 286 w 300"/>
                <a:gd name="T21" fmla="*/ 226 h 255"/>
                <a:gd name="T22" fmla="*/ 253 w 300"/>
                <a:gd name="T23" fmla="*/ 255 h 255"/>
                <a:gd name="T24" fmla="*/ 192 w 300"/>
                <a:gd name="T25" fmla="*/ 183 h 255"/>
                <a:gd name="T26" fmla="*/ 28 w 300"/>
                <a:gd name="T27" fmla="*/ 68 h 255"/>
                <a:gd name="T28" fmla="*/ 0 w 300"/>
                <a:gd name="T29" fmla="*/ 68 h 255"/>
                <a:gd name="T30" fmla="*/ 15 w 300"/>
                <a:gd name="T31" fmla="*/ 46 h 25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300"/>
                <a:gd name="T49" fmla="*/ 0 h 255"/>
                <a:gd name="T50" fmla="*/ 300 w 300"/>
                <a:gd name="T51" fmla="*/ 255 h 255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300" h="255">
                  <a:moveTo>
                    <a:pt x="11" y="46"/>
                  </a:moveTo>
                  <a:lnTo>
                    <a:pt x="35" y="21"/>
                  </a:lnTo>
                  <a:lnTo>
                    <a:pt x="125" y="0"/>
                  </a:lnTo>
                  <a:lnTo>
                    <a:pt x="152" y="14"/>
                  </a:lnTo>
                  <a:lnTo>
                    <a:pt x="210" y="4"/>
                  </a:lnTo>
                  <a:lnTo>
                    <a:pt x="257" y="40"/>
                  </a:lnTo>
                  <a:lnTo>
                    <a:pt x="300" y="68"/>
                  </a:lnTo>
                  <a:lnTo>
                    <a:pt x="276" y="145"/>
                  </a:lnTo>
                  <a:lnTo>
                    <a:pt x="240" y="183"/>
                  </a:lnTo>
                  <a:lnTo>
                    <a:pt x="200" y="195"/>
                  </a:lnTo>
                  <a:lnTo>
                    <a:pt x="208" y="226"/>
                  </a:lnTo>
                  <a:lnTo>
                    <a:pt x="184" y="255"/>
                  </a:lnTo>
                  <a:lnTo>
                    <a:pt x="138" y="183"/>
                  </a:lnTo>
                  <a:lnTo>
                    <a:pt x="20" y="68"/>
                  </a:lnTo>
                  <a:lnTo>
                    <a:pt x="0" y="68"/>
                  </a:lnTo>
                  <a:lnTo>
                    <a:pt x="11" y="46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47" name="Freeform 1546"/>
            <p:cNvSpPr>
              <a:spLocks/>
            </p:cNvSpPr>
            <p:nvPr/>
          </p:nvSpPr>
          <p:spPr bwMode="gray">
            <a:xfrm>
              <a:off x="6630976" y="3375025"/>
              <a:ext cx="932074" cy="576263"/>
            </a:xfrm>
            <a:custGeom>
              <a:avLst/>
              <a:gdLst>
                <a:gd name="T0" fmla="*/ 102 w 452"/>
                <a:gd name="T1" fmla="*/ 211 h 302"/>
                <a:gd name="T2" fmla="*/ 83 w 452"/>
                <a:gd name="T3" fmla="*/ 242 h 302"/>
                <a:gd name="T4" fmla="*/ 57 w 452"/>
                <a:gd name="T5" fmla="*/ 250 h 302"/>
                <a:gd name="T6" fmla="*/ 56 w 452"/>
                <a:gd name="T7" fmla="*/ 270 h 302"/>
                <a:gd name="T8" fmla="*/ 2 w 452"/>
                <a:gd name="T9" fmla="*/ 286 h 302"/>
                <a:gd name="T10" fmla="*/ 0 w 452"/>
                <a:gd name="T11" fmla="*/ 302 h 302"/>
                <a:gd name="T12" fmla="*/ 146 w 452"/>
                <a:gd name="T13" fmla="*/ 282 h 302"/>
                <a:gd name="T14" fmla="*/ 414 w 452"/>
                <a:gd name="T15" fmla="*/ 238 h 302"/>
                <a:gd name="T16" fmla="*/ 619 w 452"/>
                <a:gd name="T17" fmla="*/ 200 h 302"/>
                <a:gd name="T18" fmla="*/ 619 w 452"/>
                <a:gd name="T19" fmla="*/ 169 h 302"/>
                <a:gd name="T20" fmla="*/ 597 w 452"/>
                <a:gd name="T21" fmla="*/ 160 h 302"/>
                <a:gd name="T22" fmla="*/ 578 w 452"/>
                <a:gd name="T23" fmla="*/ 175 h 302"/>
                <a:gd name="T24" fmla="*/ 568 w 452"/>
                <a:gd name="T25" fmla="*/ 134 h 302"/>
                <a:gd name="T26" fmla="*/ 578 w 452"/>
                <a:gd name="T27" fmla="*/ 97 h 302"/>
                <a:gd name="T28" fmla="*/ 501 w 452"/>
                <a:gd name="T29" fmla="*/ 70 h 302"/>
                <a:gd name="T30" fmla="*/ 449 w 452"/>
                <a:gd name="T31" fmla="*/ 77 h 302"/>
                <a:gd name="T32" fmla="*/ 448 w 452"/>
                <a:gd name="T33" fmla="*/ 21 h 302"/>
                <a:gd name="T34" fmla="*/ 396 w 452"/>
                <a:gd name="T35" fmla="*/ 0 h 302"/>
                <a:gd name="T36" fmla="*/ 354 w 452"/>
                <a:gd name="T37" fmla="*/ 13 h 302"/>
                <a:gd name="T38" fmla="*/ 326 w 452"/>
                <a:gd name="T39" fmla="*/ 66 h 302"/>
                <a:gd name="T40" fmla="*/ 278 w 452"/>
                <a:gd name="T41" fmla="*/ 87 h 302"/>
                <a:gd name="T42" fmla="*/ 259 w 452"/>
                <a:gd name="T43" fmla="*/ 170 h 302"/>
                <a:gd name="T44" fmla="*/ 182 w 452"/>
                <a:gd name="T45" fmla="*/ 211 h 302"/>
                <a:gd name="T46" fmla="*/ 118 w 452"/>
                <a:gd name="T47" fmla="*/ 228 h 302"/>
                <a:gd name="T48" fmla="*/ 102 w 452"/>
                <a:gd name="T49" fmla="*/ 211 h 302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452"/>
                <a:gd name="T76" fmla="*/ 0 h 302"/>
                <a:gd name="T77" fmla="*/ 452 w 452"/>
                <a:gd name="T78" fmla="*/ 302 h 302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452" h="302">
                  <a:moveTo>
                    <a:pt x="74" y="211"/>
                  </a:moveTo>
                  <a:lnTo>
                    <a:pt x="61" y="242"/>
                  </a:lnTo>
                  <a:lnTo>
                    <a:pt x="42" y="250"/>
                  </a:lnTo>
                  <a:lnTo>
                    <a:pt x="41" y="270"/>
                  </a:lnTo>
                  <a:lnTo>
                    <a:pt x="2" y="286"/>
                  </a:lnTo>
                  <a:lnTo>
                    <a:pt x="0" y="302"/>
                  </a:lnTo>
                  <a:lnTo>
                    <a:pt x="107" y="282"/>
                  </a:lnTo>
                  <a:lnTo>
                    <a:pt x="302" y="238"/>
                  </a:lnTo>
                  <a:lnTo>
                    <a:pt x="452" y="200"/>
                  </a:lnTo>
                  <a:lnTo>
                    <a:pt x="452" y="169"/>
                  </a:lnTo>
                  <a:lnTo>
                    <a:pt x="435" y="160"/>
                  </a:lnTo>
                  <a:lnTo>
                    <a:pt x="422" y="175"/>
                  </a:lnTo>
                  <a:lnTo>
                    <a:pt x="414" y="134"/>
                  </a:lnTo>
                  <a:lnTo>
                    <a:pt x="422" y="97"/>
                  </a:lnTo>
                  <a:lnTo>
                    <a:pt x="366" y="70"/>
                  </a:lnTo>
                  <a:lnTo>
                    <a:pt x="328" y="77"/>
                  </a:lnTo>
                  <a:lnTo>
                    <a:pt x="327" y="21"/>
                  </a:lnTo>
                  <a:lnTo>
                    <a:pt x="288" y="0"/>
                  </a:lnTo>
                  <a:lnTo>
                    <a:pt x="258" y="13"/>
                  </a:lnTo>
                  <a:lnTo>
                    <a:pt x="238" y="66"/>
                  </a:lnTo>
                  <a:lnTo>
                    <a:pt x="203" y="87"/>
                  </a:lnTo>
                  <a:lnTo>
                    <a:pt x="189" y="170"/>
                  </a:lnTo>
                  <a:lnTo>
                    <a:pt x="132" y="211"/>
                  </a:lnTo>
                  <a:lnTo>
                    <a:pt x="86" y="228"/>
                  </a:lnTo>
                  <a:lnTo>
                    <a:pt x="74" y="211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48" name="Freeform 1547"/>
            <p:cNvSpPr>
              <a:spLocks/>
            </p:cNvSpPr>
            <p:nvPr/>
          </p:nvSpPr>
          <p:spPr bwMode="gray">
            <a:xfrm>
              <a:off x="6813264" y="2908300"/>
              <a:ext cx="715393" cy="466725"/>
            </a:xfrm>
            <a:custGeom>
              <a:avLst/>
              <a:gdLst>
                <a:gd name="T0" fmla="*/ 44 w 347"/>
                <a:gd name="T1" fmla="*/ 36 h 245"/>
                <a:gd name="T2" fmla="*/ 0 w 347"/>
                <a:gd name="T3" fmla="*/ 68 h 245"/>
                <a:gd name="T4" fmla="*/ 26 w 347"/>
                <a:gd name="T5" fmla="*/ 187 h 245"/>
                <a:gd name="T6" fmla="*/ 44 w 347"/>
                <a:gd name="T7" fmla="*/ 245 h 245"/>
                <a:gd name="T8" fmla="*/ 126 w 347"/>
                <a:gd name="T9" fmla="*/ 240 h 245"/>
                <a:gd name="T10" fmla="*/ 427 w 347"/>
                <a:gd name="T11" fmla="*/ 195 h 245"/>
                <a:gd name="T12" fmla="*/ 448 w 347"/>
                <a:gd name="T13" fmla="*/ 188 h 245"/>
                <a:gd name="T14" fmla="*/ 478 w 347"/>
                <a:gd name="T15" fmla="*/ 133 h 245"/>
                <a:gd name="T16" fmla="*/ 432 w 347"/>
                <a:gd name="T17" fmla="*/ 103 h 245"/>
                <a:gd name="T18" fmla="*/ 458 w 347"/>
                <a:gd name="T19" fmla="*/ 32 h 245"/>
                <a:gd name="T20" fmla="*/ 424 w 347"/>
                <a:gd name="T21" fmla="*/ 25 h 245"/>
                <a:gd name="T22" fmla="*/ 424 w 347"/>
                <a:gd name="T23" fmla="*/ 7 h 245"/>
                <a:gd name="T24" fmla="*/ 409 w 347"/>
                <a:gd name="T25" fmla="*/ 0 h 245"/>
                <a:gd name="T26" fmla="*/ 59 w 347"/>
                <a:gd name="T27" fmla="*/ 51 h 245"/>
                <a:gd name="T28" fmla="*/ 44 w 347"/>
                <a:gd name="T29" fmla="*/ 36 h 24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347"/>
                <a:gd name="T46" fmla="*/ 0 h 245"/>
                <a:gd name="T47" fmla="*/ 347 w 347"/>
                <a:gd name="T48" fmla="*/ 245 h 245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347" h="245">
                  <a:moveTo>
                    <a:pt x="32" y="36"/>
                  </a:moveTo>
                  <a:lnTo>
                    <a:pt x="0" y="68"/>
                  </a:lnTo>
                  <a:lnTo>
                    <a:pt x="18" y="187"/>
                  </a:lnTo>
                  <a:lnTo>
                    <a:pt x="32" y="245"/>
                  </a:lnTo>
                  <a:lnTo>
                    <a:pt x="91" y="240"/>
                  </a:lnTo>
                  <a:lnTo>
                    <a:pt x="310" y="195"/>
                  </a:lnTo>
                  <a:lnTo>
                    <a:pt x="325" y="188"/>
                  </a:lnTo>
                  <a:lnTo>
                    <a:pt x="347" y="133"/>
                  </a:lnTo>
                  <a:lnTo>
                    <a:pt x="314" y="103"/>
                  </a:lnTo>
                  <a:lnTo>
                    <a:pt x="332" y="32"/>
                  </a:lnTo>
                  <a:lnTo>
                    <a:pt x="307" y="25"/>
                  </a:lnTo>
                  <a:lnTo>
                    <a:pt x="307" y="7"/>
                  </a:lnTo>
                  <a:lnTo>
                    <a:pt x="296" y="0"/>
                  </a:lnTo>
                  <a:lnTo>
                    <a:pt x="42" y="51"/>
                  </a:lnTo>
                  <a:lnTo>
                    <a:pt x="32" y="36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49" name="Freeform 1548"/>
            <p:cNvSpPr>
              <a:spLocks/>
            </p:cNvSpPr>
            <p:nvPr/>
          </p:nvSpPr>
          <p:spPr bwMode="gray">
            <a:xfrm>
              <a:off x="6990393" y="3279775"/>
              <a:ext cx="608772" cy="249238"/>
            </a:xfrm>
            <a:custGeom>
              <a:avLst/>
              <a:gdLst>
                <a:gd name="T0" fmla="*/ 0 w 295"/>
                <a:gd name="T1" fmla="*/ 45 h 131"/>
                <a:gd name="T2" fmla="*/ 305 w 295"/>
                <a:gd name="T3" fmla="*/ 0 h 131"/>
                <a:gd name="T4" fmla="*/ 356 w 295"/>
                <a:gd name="T5" fmla="*/ 90 h 131"/>
                <a:gd name="T6" fmla="*/ 407 w 295"/>
                <a:gd name="T7" fmla="*/ 80 h 131"/>
                <a:gd name="T8" fmla="*/ 408 w 295"/>
                <a:gd name="T9" fmla="*/ 125 h 131"/>
                <a:gd name="T10" fmla="*/ 364 w 295"/>
                <a:gd name="T11" fmla="*/ 131 h 131"/>
                <a:gd name="T12" fmla="*/ 329 w 295"/>
                <a:gd name="T13" fmla="*/ 102 h 131"/>
                <a:gd name="T14" fmla="*/ 305 w 295"/>
                <a:gd name="T15" fmla="*/ 66 h 131"/>
                <a:gd name="T16" fmla="*/ 299 w 295"/>
                <a:gd name="T17" fmla="*/ 17 h 131"/>
                <a:gd name="T18" fmla="*/ 281 w 295"/>
                <a:gd name="T19" fmla="*/ 42 h 131"/>
                <a:gd name="T20" fmla="*/ 304 w 295"/>
                <a:gd name="T21" fmla="*/ 116 h 131"/>
                <a:gd name="T22" fmla="*/ 213 w 295"/>
                <a:gd name="T23" fmla="*/ 126 h 131"/>
                <a:gd name="T24" fmla="*/ 210 w 295"/>
                <a:gd name="T25" fmla="*/ 72 h 131"/>
                <a:gd name="T26" fmla="*/ 154 w 295"/>
                <a:gd name="T27" fmla="*/ 49 h 131"/>
                <a:gd name="T28" fmla="*/ 110 w 295"/>
                <a:gd name="T29" fmla="*/ 43 h 131"/>
                <a:gd name="T30" fmla="*/ 12 w 295"/>
                <a:gd name="T31" fmla="*/ 80 h 131"/>
                <a:gd name="T32" fmla="*/ 0 w 295"/>
                <a:gd name="T33" fmla="*/ 45 h 13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295"/>
                <a:gd name="T52" fmla="*/ 0 h 131"/>
                <a:gd name="T53" fmla="*/ 295 w 295"/>
                <a:gd name="T54" fmla="*/ 131 h 13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295" h="131">
                  <a:moveTo>
                    <a:pt x="0" y="45"/>
                  </a:moveTo>
                  <a:lnTo>
                    <a:pt x="220" y="0"/>
                  </a:lnTo>
                  <a:lnTo>
                    <a:pt x="256" y="90"/>
                  </a:lnTo>
                  <a:lnTo>
                    <a:pt x="294" y="80"/>
                  </a:lnTo>
                  <a:lnTo>
                    <a:pt x="295" y="125"/>
                  </a:lnTo>
                  <a:lnTo>
                    <a:pt x="264" y="131"/>
                  </a:lnTo>
                  <a:lnTo>
                    <a:pt x="237" y="102"/>
                  </a:lnTo>
                  <a:lnTo>
                    <a:pt x="220" y="66"/>
                  </a:lnTo>
                  <a:lnTo>
                    <a:pt x="216" y="17"/>
                  </a:lnTo>
                  <a:lnTo>
                    <a:pt x="203" y="42"/>
                  </a:lnTo>
                  <a:lnTo>
                    <a:pt x="219" y="116"/>
                  </a:lnTo>
                  <a:lnTo>
                    <a:pt x="154" y="126"/>
                  </a:lnTo>
                  <a:lnTo>
                    <a:pt x="152" y="72"/>
                  </a:lnTo>
                  <a:lnTo>
                    <a:pt x="112" y="49"/>
                  </a:lnTo>
                  <a:lnTo>
                    <a:pt x="79" y="43"/>
                  </a:lnTo>
                  <a:lnTo>
                    <a:pt x="8" y="80"/>
                  </a:lnTo>
                  <a:lnTo>
                    <a:pt x="0" y="45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50" name="Freeform 1549"/>
            <p:cNvSpPr>
              <a:spLocks/>
            </p:cNvSpPr>
            <p:nvPr/>
          </p:nvSpPr>
          <p:spPr bwMode="gray">
            <a:xfrm>
              <a:off x="2912997" y="2052638"/>
              <a:ext cx="1251937" cy="776287"/>
            </a:xfrm>
            <a:custGeom>
              <a:avLst/>
              <a:gdLst>
                <a:gd name="T0" fmla="*/ 14 w 607"/>
                <a:gd name="T1" fmla="*/ 0 h 407"/>
                <a:gd name="T2" fmla="*/ 179 w 607"/>
                <a:gd name="T3" fmla="*/ 17 h 407"/>
                <a:gd name="T4" fmla="*/ 278 w 607"/>
                <a:gd name="T5" fmla="*/ 27 h 407"/>
                <a:gd name="T6" fmla="*/ 407 w 607"/>
                <a:gd name="T7" fmla="*/ 38 h 407"/>
                <a:gd name="T8" fmla="*/ 527 w 607"/>
                <a:gd name="T9" fmla="*/ 47 h 407"/>
                <a:gd name="T10" fmla="*/ 736 w 607"/>
                <a:gd name="T11" fmla="*/ 59 h 407"/>
                <a:gd name="T12" fmla="*/ 833 w 607"/>
                <a:gd name="T13" fmla="*/ 65 h 407"/>
                <a:gd name="T14" fmla="*/ 830 w 607"/>
                <a:gd name="T15" fmla="*/ 396 h 407"/>
                <a:gd name="T16" fmla="*/ 319 w 607"/>
                <a:gd name="T17" fmla="*/ 362 h 407"/>
                <a:gd name="T18" fmla="*/ 311 w 607"/>
                <a:gd name="T19" fmla="*/ 407 h 407"/>
                <a:gd name="T20" fmla="*/ 289 w 607"/>
                <a:gd name="T21" fmla="*/ 386 h 407"/>
                <a:gd name="T22" fmla="*/ 245 w 607"/>
                <a:gd name="T23" fmla="*/ 389 h 407"/>
                <a:gd name="T24" fmla="*/ 175 w 607"/>
                <a:gd name="T25" fmla="*/ 398 h 407"/>
                <a:gd name="T26" fmla="*/ 166 w 607"/>
                <a:gd name="T27" fmla="*/ 340 h 407"/>
                <a:gd name="T28" fmla="*/ 86 w 607"/>
                <a:gd name="T29" fmla="*/ 294 h 407"/>
                <a:gd name="T30" fmla="*/ 96 w 607"/>
                <a:gd name="T31" fmla="*/ 251 h 407"/>
                <a:gd name="T32" fmla="*/ 104 w 607"/>
                <a:gd name="T33" fmla="*/ 215 h 407"/>
                <a:gd name="T34" fmla="*/ 0 w 607"/>
                <a:gd name="T35" fmla="*/ 101 h 407"/>
                <a:gd name="T36" fmla="*/ 14 w 607"/>
                <a:gd name="T37" fmla="*/ 0 h 40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607"/>
                <a:gd name="T58" fmla="*/ 0 h 407"/>
                <a:gd name="T59" fmla="*/ 607 w 607"/>
                <a:gd name="T60" fmla="*/ 407 h 407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607" h="407">
                  <a:moveTo>
                    <a:pt x="10" y="0"/>
                  </a:moveTo>
                  <a:lnTo>
                    <a:pt x="129" y="17"/>
                  </a:lnTo>
                  <a:lnTo>
                    <a:pt x="202" y="27"/>
                  </a:lnTo>
                  <a:lnTo>
                    <a:pt x="297" y="38"/>
                  </a:lnTo>
                  <a:lnTo>
                    <a:pt x="384" y="47"/>
                  </a:lnTo>
                  <a:lnTo>
                    <a:pt x="536" y="59"/>
                  </a:lnTo>
                  <a:lnTo>
                    <a:pt x="607" y="65"/>
                  </a:lnTo>
                  <a:lnTo>
                    <a:pt x="605" y="396"/>
                  </a:lnTo>
                  <a:lnTo>
                    <a:pt x="233" y="362"/>
                  </a:lnTo>
                  <a:lnTo>
                    <a:pt x="226" y="407"/>
                  </a:lnTo>
                  <a:lnTo>
                    <a:pt x="211" y="386"/>
                  </a:lnTo>
                  <a:lnTo>
                    <a:pt x="178" y="389"/>
                  </a:lnTo>
                  <a:lnTo>
                    <a:pt x="128" y="398"/>
                  </a:lnTo>
                  <a:lnTo>
                    <a:pt x="120" y="340"/>
                  </a:lnTo>
                  <a:lnTo>
                    <a:pt x="62" y="294"/>
                  </a:lnTo>
                  <a:lnTo>
                    <a:pt x="70" y="251"/>
                  </a:lnTo>
                  <a:lnTo>
                    <a:pt x="76" y="215"/>
                  </a:lnTo>
                  <a:lnTo>
                    <a:pt x="0" y="101"/>
                  </a:lnTo>
                  <a:lnTo>
                    <a:pt x="10" y="0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51" name="Freeform 1550"/>
            <p:cNvSpPr>
              <a:spLocks/>
            </p:cNvSpPr>
            <p:nvPr/>
          </p:nvSpPr>
          <p:spPr bwMode="gray">
            <a:xfrm>
              <a:off x="5102169" y="3459163"/>
              <a:ext cx="832332" cy="679450"/>
            </a:xfrm>
            <a:custGeom>
              <a:avLst/>
              <a:gdLst>
                <a:gd name="T0" fmla="*/ 0 w 403"/>
                <a:gd name="T1" fmla="*/ 12 h 357"/>
                <a:gd name="T2" fmla="*/ 241 w 403"/>
                <a:gd name="T3" fmla="*/ 0 h 357"/>
                <a:gd name="T4" fmla="*/ 294 w 403"/>
                <a:gd name="T5" fmla="*/ 0 h 357"/>
                <a:gd name="T6" fmla="*/ 331 w 403"/>
                <a:gd name="T7" fmla="*/ 11 h 357"/>
                <a:gd name="T8" fmla="*/ 312 w 403"/>
                <a:gd name="T9" fmla="*/ 42 h 357"/>
                <a:gd name="T10" fmla="*/ 382 w 403"/>
                <a:gd name="T11" fmla="*/ 92 h 357"/>
                <a:gd name="T12" fmla="*/ 404 w 403"/>
                <a:gd name="T13" fmla="*/ 135 h 357"/>
                <a:gd name="T14" fmla="*/ 446 w 403"/>
                <a:gd name="T15" fmla="*/ 124 h 357"/>
                <a:gd name="T16" fmla="*/ 445 w 403"/>
                <a:gd name="T17" fmla="*/ 184 h 357"/>
                <a:gd name="T18" fmla="*/ 486 w 403"/>
                <a:gd name="T19" fmla="*/ 202 h 357"/>
                <a:gd name="T20" fmla="*/ 505 w 403"/>
                <a:gd name="T21" fmla="*/ 254 h 357"/>
                <a:gd name="T22" fmla="*/ 537 w 403"/>
                <a:gd name="T23" fmla="*/ 259 h 357"/>
                <a:gd name="T24" fmla="*/ 553 w 403"/>
                <a:gd name="T25" fmla="*/ 281 h 357"/>
                <a:gd name="T26" fmla="*/ 515 w 403"/>
                <a:gd name="T27" fmla="*/ 312 h 357"/>
                <a:gd name="T28" fmla="*/ 503 w 403"/>
                <a:gd name="T29" fmla="*/ 347 h 357"/>
                <a:gd name="T30" fmla="*/ 449 w 403"/>
                <a:gd name="T31" fmla="*/ 357 h 357"/>
                <a:gd name="T32" fmla="*/ 463 w 403"/>
                <a:gd name="T33" fmla="*/ 318 h 357"/>
                <a:gd name="T34" fmla="*/ 256 w 403"/>
                <a:gd name="T35" fmla="*/ 332 h 357"/>
                <a:gd name="T36" fmla="*/ 108 w 403"/>
                <a:gd name="T37" fmla="*/ 346 h 357"/>
                <a:gd name="T38" fmla="*/ 98 w 403"/>
                <a:gd name="T39" fmla="*/ 309 h 357"/>
                <a:gd name="T40" fmla="*/ 89 w 403"/>
                <a:gd name="T41" fmla="*/ 194 h 357"/>
                <a:gd name="T42" fmla="*/ 88 w 403"/>
                <a:gd name="T43" fmla="*/ 132 h 357"/>
                <a:gd name="T44" fmla="*/ 38 w 403"/>
                <a:gd name="T45" fmla="*/ 104 h 357"/>
                <a:gd name="T46" fmla="*/ 56 w 403"/>
                <a:gd name="T47" fmla="*/ 78 h 357"/>
                <a:gd name="T48" fmla="*/ 31 w 403"/>
                <a:gd name="T49" fmla="*/ 64 h 357"/>
                <a:gd name="T50" fmla="*/ 0 w 403"/>
                <a:gd name="T51" fmla="*/ 12 h 357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403"/>
                <a:gd name="T79" fmla="*/ 0 h 357"/>
                <a:gd name="T80" fmla="*/ 403 w 403"/>
                <a:gd name="T81" fmla="*/ 357 h 357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403" h="357">
                  <a:moveTo>
                    <a:pt x="0" y="12"/>
                  </a:moveTo>
                  <a:lnTo>
                    <a:pt x="176" y="0"/>
                  </a:lnTo>
                  <a:lnTo>
                    <a:pt x="214" y="0"/>
                  </a:lnTo>
                  <a:lnTo>
                    <a:pt x="242" y="11"/>
                  </a:lnTo>
                  <a:lnTo>
                    <a:pt x="227" y="42"/>
                  </a:lnTo>
                  <a:lnTo>
                    <a:pt x="278" y="92"/>
                  </a:lnTo>
                  <a:lnTo>
                    <a:pt x="295" y="135"/>
                  </a:lnTo>
                  <a:lnTo>
                    <a:pt x="325" y="124"/>
                  </a:lnTo>
                  <a:lnTo>
                    <a:pt x="324" y="184"/>
                  </a:lnTo>
                  <a:lnTo>
                    <a:pt x="355" y="202"/>
                  </a:lnTo>
                  <a:lnTo>
                    <a:pt x="369" y="254"/>
                  </a:lnTo>
                  <a:lnTo>
                    <a:pt x="391" y="259"/>
                  </a:lnTo>
                  <a:lnTo>
                    <a:pt x="403" y="281"/>
                  </a:lnTo>
                  <a:lnTo>
                    <a:pt x="376" y="312"/>
                  </a:lnTo>
                  <a:lnTo>
                    <a:pt x="367" y="347"/>
                  </a:lnTo>
                  <a:lnTo>
                    <a:pt x="328" y="357"/>
                  </a:lnTo>
                  <a:lnTo>
                    <a:pt x="338" y="318"/>
                  </a:lnTo>
                  <a:lnTo>
                    <a:pt x="187" y="332"/>
                  </a:lnTo>
                  <a:lnTo>
                    <a:pt x="79" y="346"/>
                  </a:lnTo>
                  <a:lnTo>
                    <a:pt x="72" y="309"/>
                  </a:lnTo>
                  <a:lnTo>
                    <a:pt x="65" y="194"/>
                  </a:lnTo>
                  <a:lnTo>
                    <a:pt x="64" y="132"/>
                  </a:lnTo>
                  <a:lnTo>
                    <a:pt x="28" y="104"/>
                  </a:lnTo>
                  <a:lnTo>
                    <a:pt x="41" y="78"/>
                  </a:lnTo>
                  <a:lnTo>
                    <a:pt x="23" y="64"/>
                  </a:lnTo>
                  <a:lnTo>
                    <a:pt x="0" y="12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52" name="Freeform 1551"/>
            <p:cNvSpPr>
              <a:spLocks/>
            </p:cNvSpPr>
            <p:nvPr/>
          </p:nvSpPr>
          <p:spPr bwMode="gray">
            <a:xfrm>
              <a:off x="6013606" y="3173413"/>
              <a:ext cx="405848" cy="663575"/>
            </a:xfrm>
            <a:custGeom>
              <a:avLst/>
              <a:gdLst>
                <a:gd name="T0" fmla="*/ 0 w 197"/>
                <a:gd name="T1" fmla="*/ 25 h 348"/>
                <a:gd name="T2" fmla="*/ 31 w 197"/>
                <a:gd name="T3" fmla="*/ 38 h 348"/>
                <a:gd name="T4" fmla="*/ 62 w 197"/>
                <a:gd name="T5" fmla="*/ 35 h 348"/>
                <a:gd name="T6" fmla="*/ 72 w 197"/>
                <a:gd name="T7" fmla="*/ 28 h 348"/>
                <a:gd name="T8" fmla="*/ 80 w 197"/>
                <a:gd name="T9" fmla="*/ 7 h 348"/>
                <a:gd name="T10" fmla="*/ 208 w 197"/>
                <a:gd name="T11" fmla="*/ 0 h 348"/>
                <a:gd name="T12" fmla="*/ 269 w 197"/>
                <a:gd name="T13" fmla="*/ 246 h 348"/>
                <a:gd name="T14" fmla="*/ 265 w 197"/>
                <a:gd name="T15" fmla="*/ 243 h 348"/>
                <a:gd name="T16" fmla="*/ 219 w 197"/>
                <a:gd name="T17" fmla="*/ 257 h 348"/>
                <a:gd name="T18" fmla="*/ 188 w 197"/>
                <a:gd name="T19" fmla="*/ 323 h 348"/>
                <a:gd name="T20" fmla="*/ 142 w 197"/>
                <a:gd name="T21" fmla="*/ 314 h 348"/>
                <a:gd name="T22" fmla="*/ 89 w 197"/>
                <a:gd name="T23" fmla="*/ 339 h 348"/>
                <a:gd name="T24" fmla="*/ 17 w 197"/>
                <a:gd name="T25" fmla="*/ 348 h 348"/>
                <a:gd name="T26" fmla="*/ 49 w 197"/>
                <a:gd name="T27" fmla="*/ 283 h 348"/>
                <a:gd name="T28" fmla="*/ 35 w 197"/>
                <a:gd name="T29" fmla="*/ 247 h 348"/>
                <a:gd name="T30" fmla="*/ 0 w 197"/>
                <a:gd name="T31" fmla="*/ 25 h 34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97"/>
                <a:gd name="T49" fmla="*/ 0 h 348"/>
                <a:gd name="T50" fmla="*/ 197 w 197"/>
                <a:gd name="T51" fmla="*/ 348 h 348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97" h="348">
                  <a:moveTo>
                    <a:pt x="0" y="25"/>
                  </a:moveTo>
                  <a:lnTo>
                    <a:pt x="23" y="38"/>
                  </a:lnTo>
                  <a:lnTo>
                    <a:pt x="45" y="35"/>
                  </a:lnTo>
                  <a:lnTo>
                    <a:pt x="53" y="28"/>
                  </a:lnTo>
                  <a:lnTo>
                    <a:pt x="58" y="7"/>
                  </a:lnTo>
                  <a:lnTo>
                    <a:pt x="153" y="0"/>
                  </a:lnTo>
                  <a:lnTo>
                    <a:pt x="197" y="246"/>
                  </a:lnTo>
                  <a:lnTo>
                    <a:pt x="194" y="243"/>
                  </a:lnTo>
                  <a:lnTo>
                    <a:pt x="161" y="257"/>
                  </a:lnTo>
                  <a:lnTo>
                    <a:pt x="138" y="323"/>
                  </a:lnTo>
                  <a:lnTo>
                    <a:pt x="104" y="314"/>
                  </a:lnTo>
                  <a:lnTo>
                    <a:pt x="65" y="339"/>
                  </a:lnTo>
                  <a:lnTo>
                    <a:pt x="13" y="348"/>
                  </a:lnTo>
                  <a:lnTo>
                    <a:pt x="36" y="283"/>
                  </a:lnTo>
                  <a:lnTo>
                    <a:pt x="26" y="247"/>
                  </a:lnTo>
                  <a:lnTo>
                    <a:pt x="0" y="25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53" name="Freeform 1552"/>
            <p:cNvSpPr>
              <a:spLocks/>
            </p:cNvSpPr>
            <p:nvPr/>
          </p:nvSpPr>
          <p:spPr bwMode="gray">
            <a:xfrm>
              <a:off x="6328310" y="3038475"/>
              <a:ext cx="522787" cy="598488"/>
            </a:xfrm>
            <a:custGeom>
              <a:avLst/>
              <a:gdLst>
                <a:gd name="T0" fmla="*/ 0 w 253"/>
                <a:gd name="T1" fmla="*/ 71 h 314"/>
                <a:gd name="T2" fmla="*/ 156 w 253"/>
                <a:gd name="T3" fmla="*/ 59 h 314"/>
                <a:gd name="T4" fmla="*/ 188 w 253"/>
                <a:gd name="T5" fmla="*/ 64 h 314"/>
                <a:gd name="T6" fmla="*/ 264 w 253"/>
                <a:gd name="T7" fmla="*/ 37 h 314"/>
                <a:gd name="T8" fmla="*/ 280 w 253"/>
                <a:gd name="T9" fmla="*/ 12 h 314"/>
                <a:gd name="T10" fmla="*/ 325 w 253"/>
                <a:gd name="T11" fmla="*/ 0 h 314"/>
                <a:gd name="T12" fmla="*/ 349 w 253"/>
                <a:gd name="T13" fmla="*/ 119 h 314"/>
                <a:gd name="T14" fmla="*/ 330 w 253"/>
                <a:gd name="T15" fmla="*/ 132 h 314"/>
                <a:gd name="T16" fmla="*/ 335 w 253"/>
                <a:gd name="T17" fmla="*/ 214 h 314"/>
                <a:gd name="T18" fmla="*/ 300 w 253"/>
                <a:gd name="T19" fmla="*/ 221 h 314"/>
                <a:gd name="T20" fmla="*/ 280 w 253"/>
                <a:gd name="T21" fmla="*/ 267 h 314"/>
                <a:gd name="T22" fmla="*/ 253 w 253"/>
                <a:gd name="T23" fmla="*/ 261 h 314"/>
                <a:gd name="T24" fmla="*/ 245 w 253"/>
                <a:gd name="T25" fmla="*/ 314 h 314"/>
                <a:gd name="T26" fmla="*/ 204 w 253"/>
                <a:gd name="T27" fmla="*/ 292 h 314"/>
                <a:gd name="T28" fmla="*/ 128 w 253"/>
                <a:gd name="T29" fmla="*/ 306 h 314"/>
                <a:gd name="T30" fmla="*/ 95 w 253"/>
                <a:gd name="T31" fmla="*/ 286 h 314"/>
                <a:gd name="T32" fmla="*/ 52 w 253"/>
                <a:gd name="T33" fmla="*/ 285 h 314"/>
                <a:gd name="T34" fmla="*/ 29 w 253"/>
                <a:gd name="T35" fmla="*/ 197 h 314"/>
                <a:gd name="T36" fmla="*/ 0 w 253"/>
                <a:gd name="T37" fmla="*/ 71 h 314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253"/>
                <a:gd name="T58" fmla="*/ 0 h 314"/>
                <a:gd name="T59" fmla="*/ 253 w 253"/>
                <a:gd name="T60" fmla="*/ 314 h 314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253" h="314">
                  <a:moveTo>
                    <a:pt x="0" y="71"/>
                  </a:moveTo>
                  <a:lnTo>
                    <a:pt x="114" y="59"/>
                  </a:lnTo>
                  <a:lnTo>
                    <a:pt x="138" y="64"/>
                  </a:lnTo>
                  <a:lnTo>
                    <a:pt x="192" y="37"/>
                  </a:lnTo>
                  <a:lnTo>
                    <a:pt x="204" y="12"/>
                  </a:lnTo>
                  <a:lnTo>
                    <a:pt x="236" y="0"/>
                  </a:lnTo>
                  <a:lnTo>
                    <a:pt x="253" y="119"/>
                  </a:lnTo>
                  <a:lnTo>
                    <a:pt x="240" y="132"/>
                  </a:lnTo>
                  <a:lnTo>
                    <a:pt x="243" y="214"/>
                  </a:lnTo>
                  <a:lnTo>
                    <a:pt x="218" y="221"/>
                  </a:lnTo>
                  <a:lnTo>
                    <a:pt x="204" y="267"/>
                  </a:lnTo>
                  <a:lnTo>
                    <a:pt x="184" y="261"/>
                  </a:lnTo>
                  <a:lnTo>
                    <a:pt x="178" y="314"/>
                  </a:lnTo>
                  <a:lnTo>
                    <a:pt x="149" y="292"/>
                  </a:lnTo>
                  <a:lnTo>
                    <a:pt x="93" y="306"/>
                  </a:lnTo>
                  <a:lnTo>
                    <a:pt x="69" y="286"/>
                  </a:lnTo>
                  <a:lnTo>
                    <a:pt x="38" y="285"/>
                  </a:lnTo>
                  <a:lnTo>
                    <a:pt x="21" y="197"/>
                  </a:lnTo>
                  <a:lnTo>
                    <a:pt x="0" y="71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54" name="Freeform 1553"/>
            <p:cNvSpPr>
              <a:spLocks/>
            </p:cNvSpPr>
            <p:nvPr/>
          </p:nvSpPr>
          <p:spPr bwMode="gray">
            <a:xfrm>
              <a:off x="5865713" y="3579813"/>
              <a:ext cx="918317" cy="506412"/>
            </a:xfrm>
            <a:custGeom>
              <a:avLst/>
              <a:gdLst>
                <a:gd name="T0" fmla="*/ 0 w 445"/>
                <a:gd name="T1" fmla="*/ 266 h 266"/>
                <a:gd name="T2" fmla="*/ 149 w 445"/>
                <a:gd name="T3" fmla="*/ 249 h 266"/>
                <a:gd name="T4" fmla="*/ 149 w 445"/>
                <a:gd name="T5" fmla="*/ 237 h 266"/>
                <a:gd name="T6" fmla="*/ 509 w 445"/>
                <a:gd name="T7" fmla="*/ 199 h 266"/>
                <a:gd name="T8" fmla="*/ 516 w 445"/>
                <a:gd name="T9" fmla="*/ 179 h 266"/>
                <a:gd name="T10" fmla="*/ 566 w 445"/>
                <a:gd name="T11" fmla="*/ 163 h 266"/>
                <a:gd name="T12" fmla="*/ 575 w 445"/>
                <a:gd name="T13" fmla="*/ 142 h 266"/>
                <a:gd name="T14" fmla="*/ 596 w 445"/>
                <a:gd name="T15" fmla="*/ 135 h 266"/>
                <a:gd name="T16" fmla="*/ 612 w 445"/>
                <a:gd name="T17" fmla="*/ 103 h 266"/>
                <a:gd name="T18" fmla="*/ 563 w 445"/>
                <a:gd name="T19" fmla="*/ 72 h 266"/>
                <a:gd name="T20" fmla="*/ 555 w 445"/>
                <a:gd name="T21" fmla="*/ 29 h 266"/>
                <a:gd name="T22" fmla="*/ 516 w 445"/>
                <a:gd name="T23" fmla="*/ 8 h 266"/>
                <a:gd name="T24" fmla="*/ 434 w 445"/>
                <a:gd name="T25" fmla="*/ 20 h 266"/>
                <a:gd name="T26" fmla="*/ 398 w 445"/>
                <a:gd name="T27" fmla="*/ 1 h 266"/>
                <a:gd name="T28" fmla="*/ 363 w 445"/>
                <a:gd name="T29" fmla="*/ 0 h 266"/>
                <a:gd name="T30" fmla="*/ 368 w 445"/>
                <a:gd name="T31" fmla="*/ 29 h 266"/>
                <a:gd name="T32" fmla="*/ 320 w 445"/>
                <a:gd name="T33" fmla="*/ 44 h 266"/>
                <a:gd name="T34" fmla="*/ 286 w 445"/>
                <a:gd name="T35" fmla="*/ 110 h 266"/>
                <a:gd name="T36" fmla="*/ 242 w 445"/>
                <a:gd name="T37" fmla="*/ 100 h 266"/>
                <a:gd name="T38" fmla="*/ 186 w 445"/>
                <a:gd name="T39" fmla="*/ 124 h 266"/>
                <a:gd name="T40" fmla="*/ 117 w 445"/>
                <a:gd name="T41" fmla="*/ 134 h 266"/>
                <a:gd name="T42" fmla="*/ 117 w 445"/>
                <a:gd name="T43" fmla="*/ 171 h 266"/>
                <a:gd name="T44" fmla="*/ 82 w 445"/>
                <a:gd name="T45" fmla="*/ 170 h 266"/>
                <a:gd name="T46" fmla="*/ 83 w 445"/>
                <a:gd name="T47" fmla="*/ 203 h 266"/>
                <a:gd name="T48" fmla="*/ 48 w 445"/>
                <a:gd name="T49" fmla="*/ 190 h 266"/>
                <a:gd name="T50" fmla="*/ 28 w 445"/>
                <a:gd name="T51" fmla="*/ 196 h 266"/>
                <a:gd name="T52" fmla="*/ 45 w 445"/>
                <a:gd name="T53" fmla="*/ 218 h 266"/>
                <a:gd name="T54" fmla="*/ 5 w 445"/>
                <a:gd name="T55" fmla="*/ 248 h 266"/>
                <a:gd name="T56" fmla="*/ 0 w 445"/>
                <a:gd name="T57" fmla="*/ 266 h 26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445"/>
                <a:gd name="T88" fmla="*/ 0 h 266"/>
                <a:gd name="T89" fmla="*/ 445 w 445"/>
                <a:gd name="T90" fmla="*/ 266 h 26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445" h="266">
                  <a:moveTo>
                    <a:pt x="0" y="266"/>
                  </a:moveTo>
                  <a:lnTo>
                    <a:pt x="108" y="249"/>
                  </a:lnTo>
                  <a:lnTo>
                    <a:pt x="108" y="237"/>
                  </a:lnTo>
                  <a:lnTo>
                    <a:pt x="370" y="199"/>
                  </a:lnTo>
                  <a:lnTo>
                    <a:pt x="374" y="179"/>
                  </a:lnTo>
                  <a:lnTo>
                    <a:pt x="412" y="163"/>
                  </a:lnTo>
                  <a:lnTo>
                    <a:pt x="417" y="142"/>
                  </a:lnTo>
                  <a:lnTo>
                    <a:pt x="433" y="135"/>
                  </a:lnTo>
                  <a:lnTo>
                    <a:pt x="445" y="103"/>
                  </a:lnTo>
                  <a:lnTo>
                    <a:pt x="409" y="72"/>
                  </a:lnTo>
                  <a:lnTo>
                    <a:pt x="403" y="29"/>
                  </a:lnTo>
                  <a:lnTo>
                    <a:pt x="374" y="8"/>
                  </a:lnTo>
                  <a:lnTo>
                    <a:pt x="316" y="20"/>
                  </a:lnTo>
                  <a:lnTo>
                    <a:pt x="289" y="1"/>
                  </a:lnTo>
                  <a:lnTo>
                    <a:pt x="263" y="0"/>
                  </a:lnTo>
                  <a:lnTo>
                    <a:pt x="268" y="29"/>
                  </a:lnTo>
                  <a:lnTo>
                    <a:pt x="232" y="44"/>
                  </a:lnTo>
                  <a:lnTo>
                    <a:pt x="208" y="110"/>
                  </a:lnTo>
                  <a:lnTo>
                    <a:pt x="175" y="100"/>
                  </a:lnTo>
                  <a:lnTo>
                    <a:pt x="136" y="124"/>
                  </a:lnTo>
                  <a:lnTo>
                    <a:pt x="85" y="134"/>
                  </a:lnTo>
                  <a:lnTo>
                    <a:pt x="85" y="171"/>
                  </a:lnTo>
                  <a:lnTo>
                    <a:pt x="60" y="170"/>
                  </a:lnTo>
                  <a:lnTo>
                    <a:pt x="61" y="203"/>
                  </a:lnTo>
                  <a:lnTo>
                    <a:pt x="35" y="190"/>
                  </a:lnTo>
                  <a:lnTo>
                    <a:pt x="20" y="196"/>
                  </a:lnTo>
                  <a:lnTo>
                    <a:pt x="33" y="218"/>
                  </a:lnTo>
                  <a:lnTo>
                    <a:pt x="5" y="248"/>
                  </a:lnTo>
                  <a:lnTo>
                    <a:pt x="0" y="266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55" name="Freeform 1554"/>
            <p:cNvSpPr>
              <a:spLocks/>
            </p:cNvSpPr>
            <p:nvPr/>
          </p:nvSpPr>
          <p:spPr bwMode="gray">
            <a:xfrm>
              <a:off x="5802084" y="3905250"/>
              <a:ext cx="1059332" cy="384175"/>
            </a:xfrm>
            <a:custGeom>
              <a:avLst/>
              <a:gdLst>
                <a:gd name="T0" fmla="*/ 43 w 513"/>
                <a:gd name="T1" fmla="*/ 92 h 202"/>
                <a:gd name="T2" fmla="*/ 43 w 513"/>
                <a:gd name="T3" fmla="*/ 96 h 202"/>
                <a:gd name="T4" fmla="*/ 30 w 513"/>
                <a:gd name="T5" fmla="*/ 115 h 202"/>
                <a:gd name="T6" fmla="*/ 44 w 513"/>
                <a:gd name="T7" fmla="*/ 140 h 202"/>
                <a:gd name="T8" fmla="*/ 0 w 513"/>
                <a:gd name="T9" fmla="*/ 163 h 202"/>
                <a:gd name="T10" fmla="*/ 11 w 513"/>
                <a:gd name="T11" fmla="*/ 202 h 202"/>
                <a:gd name="T12" fmla="*/ 196 w 513"/>
                <a:gd name="T13" fmla="*/ 190 h 202"/>
                <a:gd name="T14" fmla="*/ 415 w 513"/>
                <a:gd name="T15" fmla="*/ 170 h 202"/>
                <a:gd name="T16" fmla="*/ 527 w 513"/>
                <a:gd name="T17" fmla="*/ 154 h 202"/>
                <a:gd name="T18" fmla="*/ 548 w 513"/>
                <a:gd name="T19" fmla="*/ 103 h 202"/>
                <a:gd name="T20" fmla="*/ 589 w 513"/>
                <a:gd name="T21" fmla="*/ 100 h 202"/>
                <a:gd name="T22" fmla="*/ 709 w 513"/>
                <a:gd name="T23" fmla="*/ 0 h 202"/>
                <a:gd name="T24" fmla="*/ 552 w 513"/>
                <a:gd name="T25" fmla="*/ 25 h 202"/>
                <a:gd name="T26" fmla="*/ 185 w 513"/>
                <a:gd name="T27" fmla="*/ 66 h 202"/>
                <a:gd name="T28" fmla="*/ 188 w 513"/>
                <a:gd name="T29" fmla="*/ 78 h 202"/>
                <a:gd name="T30" fmla="*/ 43 w 513"/>
                <a:gd name="T31" fmla="*/ 92 h 20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513"/>
                <a:gd name="T49" fmla="*/ 0 h 202"/>
                <a:gd name="T50" fmla="*/ 513 w 513"/>
                <a:gd name="T51" fmla="*/ 202 h 202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513" h="202">
                  <a:moveTo>
                    <a:pt x="31" y="92"/>
                  </a:moveTo>
                  <a:lnTo>
                    <a:pt x="31" y="96"/>
                  </a:lnTo>
                  <a:lnTo>
                    <a:pt x="22" y="115"/>
                  </a:lnTo>
                  <a:lnTo>
                    <a:pt x="32" y="140"/>
                  </a:lnTo>
                  <a:lnTo>
                    <a:pt x="0" y="163"/>
                  </a:lnTo>
                  <a:lnTo>
                    <a:pt x="7" y="202"/>
                  </a:lnTo>
                  <a:lnTo>
                    <a:pt x="142" y="190"/>
                  </a:lnTo>
                  <a:lnTo>
                    <a:pt x="301" y="170"/>
                  </a:lnTo>
                  <a:lnTo>
                    <a:pt x="381" y="154"/>
                  </a:lnTo>
                  <a:lnTo>
                    <a:pt x="398" y="103"/>
                  </a:lnTo>
                  <a:lnTo>
                    <a:pt x="426" y="100"/>
                  </a:lnTo>
                  <a:lnTo>
                    <a:pt x="513" y="0"/>
                  </a:lnTo>
                  <a:lnTo>
                    <a:pt x="400" y="25"/>
                  </a:lnTo>
                  <a:lnTo>
                    <a:pt x="135" y="66"/>
                  </a:lnTo>
                  <a:lnTo>
                    <a:pt x="137" y="78"/>
                  </a:lnTo>
                  <a:lnTo>
                    <a:pt x="31" y="92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56" name="Freeform 1555"/>
            <p:cNvSpPr>
              <a:spLocks/>
            </p:cNvSpPr>
            <p:nvPr/>
          </p:nvSpPr>
          <p:spPr bwMode="gray">
            <a:xfrm>
              <a:off x="6269840" y="4787900"/>
              <a:ext cx="1159074" cy="777875"/>
            </a:xfrm>
            <a:custGeom>
              <a:avLst/>
              <a:gdLst>
                <a:gd name="T0" fmla="*/ 0 w 561"/>
                <a:gd name="T1" fmla="*/ 39 h 409"/>
                <a:gd name="T2" fmla="*/ 212 w 561"/>
                <a:gd name="T3" fmla="*/ 23 h 409"/>
                <a:gd name="T4" fmla="*/ 234 w 561"/>
                <a:gd name="T5" fmla="*/ 50 h 409"/>
                <a:gd name="T6" fmla="*/ 463 w 561"/>
                <a:gd name="T7" fmla="*/ 23 h 409"/>
                <a:gd name="T8" fmla="*/ 502 w 561"/>
                <a:gd name="T9" fmla="*/ 45 h 409"/>
                <a:gd name="T10" fmla="*/ 502 w 561"/>
                <a:gd name="T11" fmla="*/ 3 h 409"/>
                <a:gd name="T12" fmla="*/ 500 w 561"/>
                <a:gd name="T13" fmla="*/ 0 h 409"/>
                <a:gd name="T14" fmla="*/ 545 w 561"/>
                <a:gd name="T15" fmla="*/ 2 h 409"/>
                <a:gd name="T16" fmla="*/ 593 w 561"/>
                <a:gd name="T17" fmla="*/ 65 h 409"/>
                <a:gd name="T18" fmla="*/ 670 w 561"/>
                <a:gd name="T19" fmla="*/ 151 h 409"/>
                <a:gd name="T20" fmla="*/ 709 w 561"/>
                <a:gd name="T21" fmla="*/ 225 h 409"/>
                <a:gd name="T22" fmla="*/ 763 w 561"/>
                <a:gd name="T23" fmla="*/ 277 h 409"/>
                <a:gd name="T24" fmla="*/ 774 w 561"/>
                <a:gd name="T25" fmla="*/ 352 h 409"/>
                <a:gd name="T26" fmla="*/ 756 w 561"/>
                <a:gd name="T27" fmla="*/ 397 h 409"/>
                <a:gd name="T28" fmla="*/ 674 w 561"/>
                <a:gd name="T29" fmla="*/ 409 h 409"/>
                <a:gd name="T30" fmla="*/ 660 w 561"/>
                <a:gd name="T31" fmla="*/ 390 h 409"/>
                <a:gd name="T32" fmla="*/ 604 w 561"/>
                <a:gd name="T33" fmla="*/ 363 h 409"/>
                <a:gd name="T34" fmla="*/ 586 w 561"/>
                <a:gd name="T35" fmla="*/ 335 h 409"/>
                <a:gd name="T36" fmla="*/ 571 w 561"/>
                <a:gd name="T37" fmla="*/ 324 h 409"/>
                <a:gd name="T38" fmla="*/ 561 w 561"/>
                <a:gd name="T39" fmla="*/ 298 h 409"/>
                <a:gd name="T40" fmla="*/ 547 w 561"/>
                <a:gd name="T41" fmla="*/ 305 h 409"/>
                <a:gd name="T42" fmla="*/ 502 w 561"/>
                <a:gd name="T43" fmla="*/ 271 h 409"/>
                <a:gd name="T44" fmla="*/ 514 w 561"/>
                <a:gd name="T45" fmla="*/ 239 h 409"/>
                <a:gd name="T46" fmla="*/ 502 w 561"/>
                <a:gd name="T47" fmla="*/ 222 h 409"/>
                <a:gd name="T48" fmla="*/ 489 w 561"/>
                <a:gd name="T49" fmla="*/ 228 h 409"/>
                <a:gd name="T50" fmla="*/ 490 w 561"/>
                <a:gd name="T51" fmla="*/ 246 h 409"/>
                <a:gd name="T52" fmla="*/ 475 w 561"/>
                <a:gd name="T53" fmla="*/ 222 h 409"/>
                <a:gd name="T54" fmla="*/ 476 w 561"/>
                <a:gd name="T55" fmla="*/ 164 h 409"/>
                <a:gd name="T56" fmla="*/ 448 w 561"/>
                <a:gd name="T57" fmla="*/ 130 h 409"/>
                <a:gd name="T58" fmla="*/ 376 w 561"/>
                <a:gd name="T59" fmla="*/ 102 h 409"/>
                <a:gd name="T60" fmla="*/ 339 w 561"/>
                <a:gd name="T61" fmla="*/ 70 h 409"/>
                <a:gd name="T62" fmla="*/ 298 w 561"/>
                <a:gd name="T63" fmla="*/ 67 h 409"/>
                <a:gd name="T64" fmla="*/ 282 w 561"/>
                <a:gd name="T65" fmla="*/ 87 h 409"/>
                <a:gd name="T66" fmla="*/ 222 w 561"/>
                <a:gd name="T67" fmla="*/ 101 h 409"/>
                <a:gd name="T68" fmla="*/ 185 w 561"/>
                <a:gd name="T69" fmla="*/ 87 h 409"/>
                <a:gd name="T70" fmla="*/ 168 w 561"/>
                <a:gd name="T71" fmla="*/ 65 h 409"/>
                <a:gd name="T72" fmla="*/ 55 w 561"/>
                <a:gd name="T73" fmla="*/ 84 h 409"/>
                <a:gd name="T74" fmla="*/ 31 w 561"/>
                <a:gd name="T75" fmla="*/ 69 h 409"/>
                <a:gd name="T76" fmla="*/ 4 w 561"/>
                <a:gd name="T77" fmla="*/ 85 h 409"/>
                <a:gd name="T78" fmla="*/ 0 w 561"/>
                <a:gd name="T79" fmla="*/ 39 h 409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561"/>
                <a:gd name="T121" fmla="*/ 0 h 409"/>
                <a:gd name="T122" fmla="*/ 561 w 561"/>
                <a:gd name="T123" fmla="*/ 409 h 409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561" h="409">
                  <a:moveTo>
                    <a:pt x="0" y="39"/>
                  </a:moveTo>
                  <a:lnTo>
                    <a:pt x="154" y="23"/>
                  </a:lnTo>
                  <a:lnTo>
                    <a:pt x="170" y="50"/>
                  </a:lnTo>
                  <a:lnTo>
                    <a:pt x="336" y="23"/>
                  </a:lnTo>
                  <a:lnTo>
                    <a:pt x="364" y="45"/>
                  </a:lnTo>
                  <a:lnTo>
                    <a:pt x="364" y="3"/>
                  </a:lnTo>
                  <a:lnTo>
                    <a:pt x="362" y="0"/>
                  </a:lnTo>
                  <a:lnTo>
                    <a:pt x="395" y="2"/>
                  </a:lnTo>
                  <a:lnTo>
                    <a:pt x="430" y="65"/>
                  </a:lnTo>
                  <a:lnTo>
                    <a:pt x="485" y="151"/>
                  </a:lnTo>
                  <a:lnTo>
                    <a:pt x="513" y="225"/>
                  </a:lnTo>
                  <a:lnTo>
                    <a:pt x="554" y="277"/>
                  </a:lnTo>
                  <a:lnTo>
                    <a:pt x="561" y="352"/>
                  </a:lnTo>
                  <a:lnTo>
                    <a:pt x="548" y="397"/>
                  </a:lnTo>
                  <a:lnTo>
                    <a:pt x="489" y="409"/>
                  </a:lnTo>
                  <a:lnTo>
                    <a:pt x="479" y="390"/>
                  </a:lnTo>
                  <a:lnTo>
                    <a:pt x="437" y="363"/>
                  </a:lnTo>
                  <a:lnTo>
                    <a:pt x="424" y="335"/>
                  </a:lnTo>
                  <a:lnTo>
                    <a:pt x="413" y="324"/>
                  </a:lnTo>
                  <a:lnTo>
                    <a:pt x="407" y="298"/>
                  </a:lnTo>
                  <a:lnTo>
                    <a:pt x="397" y="305"/>
                  </a:lnTo>
                  <a:lnTo>
                    <a:pt x="364" y="271"/>
                  </a:lnTo>
                  <a:lnTo>
                    <a:pt x="372" y="239"/>
                  </a:lnTo>
                  <a:lnTo>
                    <a:pt x="364" y="222"/>
                  </a:lnTo>
                  <a:lnTo>
                    <a:pt x="354" y="228"/>
                  </a:lnTo>
                  <a:lnTo>
                    <a:pt x="355" y="246"/>
                  </a:lnTo>
                  <a:lnTo>
                    <a:pt x="344" y="222"/>
                  </a:lnTo>
                  <a:lnTo>
                    <a:pt x="345" y="164"/>
                  </a:lnTo>
                  <a:lnTo>
                    <a:pt x="325" y="130"/>
                  </a:lnTo>
                  <a:lnTo>
                    <a:pt x="272" y="102"/>
                  </a:lnTo>
                  <a:lnTo>
                    <a:pt x="246" y="70"/>
                  </a:lnTo>
                  <a:lnTo>
                    <a:pt x="216" y="67"/>
                  </a:lnTo>
                  <a:lnTo>
                    <a:pt x="204" y="87"/>
                  </a:lnTo>
                  <a:lnTo>
                    <a:pt x="161" y="101"/>
                  </a:lnTo>
                  <a:lnTo>
                    <a:pt x="135" y="87"/>
                  </a:lnTo>
                  <a:lnTo>
                    <a:pt x="122" y="65"/>
                  </a:lnTo>
                  <a:lnTo>
                    <a:pt x="40" y="84"/>
                  </a:lnTo>
                  <a:lnTo>
                    <a:pt x="23" y="69"/>
                  </a:lnTo>
                  <a:lnTo>
                    <a:pt x="4" y="85"/>
                  </a:lnTo>
                  <a:lnTo>
                    <a:pt x="0" y="39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57" name="Freeform 1556"/>
            <p:cNvSpPr>
              <a:spLocks/>
            </p:cNvSpPr>
            <p:nvPr/>
          </p:nvSpPr>
          <p:spPr bwMode="gray">
            <a:xfrm>
              <a:off x="6696324" y="3260725"/>
              <a:ext cx="529666" cy="549275"/>
            </a:xfrm>
            <a:custGeom>
              <a:avLst/>
              <a:gdLst>
                <a:gd name="T0" fmla="*/ 36 w 256"/>
                <a:gd name="T1" fmla="*/ 150 h 288"/>
                <a:gd name="T2" fmla="*/ 10 w 256"/>
                <a:gd name="T3" fmla="*/ 144 h 288"/>
                <a:gd name="T4" fmla="*/ 0 w 256"/>
                <a:gd name="T5" fmla="*/ 190 h 288"/>
                <a:gd name="T6" fmla="*/ 10 w 256"/>
                <a:gd name="T7" fmla="*/ 239 h 288"/>
                <a:gd name="T8" fmla="*/ 60 w 256"/>
                <a:gd name="T9" fmla="*/ 271 h 288"/>
                <a:gd name="T10" fmla="*/ 72 w 256"/>
                <a:gd name="T11" fmla="*/ 288 h 288"/>
                <a:gd name="T12" fmla="*/ 138 w 256"/>
                <a:gd name="T13" fmla="*/ 271 h 288"/>
                <a:gd name="T14" fmla="*/ 215 w 256"/>
                <a:gd name="T15" fmla="*/ 233 h 288"/>
                <a:gd name="T16" fmla="*/ 238 w 256"/>
                <a:gd name="T17" fmla="*/ 148 h 288"/>
                <a:gd name="T18" fmla="*/ 288 w 256"/>
                <a:gd name="T19" fmla="*/ 126 h 288"/>
                <a:gd name="T20" fmla="*/ 316 w 256"/>
                <a:gd name="T21" fmla="*/ 74 h 288"/>
                <a:gd name="T22" fmla="*/ 356 w 256"/>
                <a:gd name="T23" fmla="*/ 60 h 288"/>
                <a:gd name="T24" fmla="*/ 303 w 256"/>
                <a:gd name="T25" fmla="*/ 53 h 288"/>
                <a:gd name="T26" fmla="*/ 214 w 256"/>
                <a:gd name="T27" fmla="*/ 90 h 288"/>
                <a:gd name="T28" fmla="*/ 200 w 256"/>
                <a:gd name="T29" fmla="*/ 54 h 288"/>
                <a:gd name="T30" fmla="*/ 123 w 256"/>
                <a:gd name="T31" fmla="*/ 57 h 288"/>
                <a:gd name="T32" fmla="*/ 104 w 256"/>
                <a:gd name="T33" fmla="*/ 0 h 288"/>
                <a:gd name="T34" fmla="*/ 85 w 256"/>
                <a:gd name="T35" fmla="*/ 15 h 288"/>
                <a:gd name="T36" fmla="*/ 91 w 256"/>
                <a:gd name="T37" fmla="*/ 97 h 288"/>
                <a:gd name="T38" fmla="*/ 55 w 256"/>
                <a:gd name="T39" fmla="*/ 104 h 288"/>
                <a:gd name="T40" fmla="*/ 36 w 256"/>
                <a:gd name="T41" fmla="*/ 150 h 288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256"/>
                <a:gd name="T64" fmla="*/ 0 h 288"/>
                <a:gd name="T65" fmla="*/ 256 w 256"/>
                <a:gd name="T66" fmla="*/ 288 h 288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256" h="288">
                  <a:moveTo>
                    <a:pt x="26" y="150"/>
                  </a:moveTo>
                  <a:lnTo>
                    <a:pt x="6" y="144"/>
                  </a:lnTo>
                  <a:lnTo>
                    <a:pt x="0" y="190"/>
                  </a:lnTo>
                  <a:lnTo>
                    <a:pt x="6" y="239"/>
                  </a:lnTo>
                  <a:lnTo>
                    <a:pt x="43" y="271"/>
                  </a:lnTo>
                  <a:lnTo>
                    <a:pt x="52" y="288"/>
                  </a:lnTo>
                  <a:lnTo>
                    <a:pt x="99" y="271"/>
                  </a:lnTo>
                  <a:lnTo>
                    <a:pt x="155" y="233"/>
                  </a:lnTo>
                  <a:lnTo>
                    <a:pt x="171" y="148"/>
                  </a:lnTo>
                  <a:lnTo>
                    <a:pt x="207" y="126"/>
                  </a:lnTo>
                  <a:lnTo>
                    <a:pt x="227" y="74"/>
                  </a:lnTo>
                  <a:lnTo>
                    <a:pt x="256" y="60"/>
                  </a:lnTo>
                  <a:lnTo>
                    <a:pt x="218" y="53"/>
                  </a:lnTo>
                  <a:lnTo>
                    <a:pt x="154" y="90"/>
                  </a:lnTo>
                  <a:lnTo>
                    <a:pt x="144" y="54"/>
                  </a:lnTo>
                  <a:lnTo>
                    <a:pt x="88" y="57"/>
                  </a:lnTo>
                  <a:lnTo>
                    <a:pt x="75" y="0"/>
                  </a:lnTo>
                  <a:lnTo>
                    <a:pt x="61" y="15"/>
                  </a:lnTo>
                  <a:lnTo>
                    <a:pt x="65" y="97"/>
                  </a:lnTo>
                  <a:lnTo>
                    <a:pt x="40" y="104"/>
                  </a:lnTo>
                  <a:lnTo>
                    <a:pt x="26" y="150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58" name="Freeform 1557"/>
            <p:cNvSpPr>
              <a:spLocks/>
            </p:cNvSpPr>
            <p:nvPr/>
          </p:nvSpPr>
          <p:spPr bwMode="gray">
            <a:xfrm>
              <a:off x="7492543" y="2346325"/>
              <a:ext cx="208082" cy="384175"/>
            </a:xfrm>
            <a:custGeom>
              <a:avLst/>
              <a:gdLst>
                <a:gd name="T0" fmla="*/ 0 w 101"/>
                <a:gd name="T1" fmla="*/ 21 h 202"/>
                <a:gd name="T2" fmla="*/ 100 w 101"/>
                <a:gd name="T3" fmla="*/ 0 h 202"/>
                <a:gd name="T4" fmla="*/ 137 w 101"/>
                <a:gd name="T5" fmla="*/ 55 h 202"/>
                <a:gd name="T6" fmla="*/ 118 w 101"/>
                <a:gd name="T7" fmla="*/ 70 h 202"/>
                <a:gd name="T8" fmla="*/ 126 w 101"/>
                <a:gd name="T9" fmla="*/ 192 h 202"/>
                <a:gd name="T10" fmla="*/ 68 w 101"/>
                <a:gd name="T11" fmla="*/ 202 h 202"/>
                <a:gd name="T12" fmla="*/ 39 w 101"/>
                <a:gd name="T13" fmla="*/ 152 h 202"/>
                <a:gd name="T14" fmla="*/ 38 w 101"/>
                <a:gd name="T15" fmla="*/ 92 h 202"/>
                <a:gd name="T16" fmla="*/ 13 w 101"/>
                <a:gd name="T17" fmla="*/ 74 h 202"/>
                <a:gd name="T18" fmla="*/ 0 w 101"/>
                <a:gd name="T19" fmla="*/ 21 h 20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01"/>
                <a:gd name="T31" fmla="*/ 0 h 202"/>
                <a:gd name="T32" fmla="*/ 101 w 101"/>
                <a:gd name="T33" fmla="*/ 202 h 202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01" h="202">
                  <a:moveTo>
                    <a:pt x="0" y="21"/>
                  </a:moveTo>
                  <a:lnTo>
                    <a:pt x="74" y="0"/>
                  </a:lnTo>
                  <a:lnTo>
                    <a:pt x="101" y="55"/>
                  </a:lnTo>
                  <a:lnTo>
                    <a:pt x="87" y="70"/>
                  </a:lnTo>
                  <a:lnTo>
                    <a:pt x="93" y="192"/>
                  </a:lnTo>
                  <a:lnTo>
                    <a:pt x="50" y="202"/>
                  </a:lnTo>
                  <a:lnTo>
                    <a:pt x="29" y="152"/>
                  </a:lnTo>
                  <a:lnTo>
                    <a:pt x="28" y="92"/>
                  </a:lnTo>
                  <a:lnTo>
                    <a:pt x="9" y="74"/>
                  </a:lnTo>
                  <a:lnTo>
                    <a:pt x="0" y="21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59" name="Freeform 1558"/>
            <p:cNvSpPr>
              <a:spLocks/>
            </p:cNvSpPr>
            <p:nvPr/>
          </p:nvSpPr>
          <p:spPr bwMode="gray">
            <a:xfrm>
              <a:off x="7592286" y="2647950"/>
              <a:ext cx="445400" cy="201613"/>
            </a:xfrm>
            <a:custGeom>
              <a:avLst/>
              <a:gdLst>
                <a:gd name="T0" fmla="*/ 0 w 216"/>
                <a:gd name="T1" fmla="*/ 42 h 106"/>
                <a:gd name="T2" fmla="*/ 152 w 216"/>
                <a:gd name="T3" fmla="*/ 13 h 106"/>
                <a:gd name="T4" fmla="*/ 169 w 216"/>
                <a:gd name="T5" fmla="*/ 14 h 106"/>
                <a:gd name="T6" fmla="*/ 187 w 216"/>
                <a:gd name="T7" fmla="*/ 0 h 106"/>
                <a:gd name="T8" fmla="*/ 203 w 216"/>
                <a:gd name="T9" fmla="*/ 7 h 106"/>
                <a:gd name="T10" fmla="*/ 184 w 216"/>
                <a:gd name="T11" fmla="*/ 37 h 106"/>
                <a:gd name="T12" fmla="*/ 216 w 216"/>
                <a:gd name="T13" fmla="*/ 35 h 106"/>
                <a:gd name="T14" fmla="*/ 234 w 216"/>
                <a:gd name="T15" fmla="*/ 59 h 106"/>
                <a:gd name="T16" fmla="*/ 257 w 216"/>
                <a:gd name="T17" fmla="*/ 61 h 106"/>
                <a:gd name="T18" fmla="*/ 271 w 216"/>
                <a:gd name="T19" fmla="*/ 57 h 106"/>
                <a:gd name="T20" fmla="*/ 271 w 216"/>
                <a:gd name="T21" fmla="*/ 44 h 106"/>
                <a:gd name="T22" fmla="*/ 245 w 216"/>
                <a:gd name="T23" fmla="*/ 28 h 106"/>
                <a:gd name="T24" fmla="*/ 264 w 216"/>
                <a:gd name="T25" fmla="*/ 27 h 106"/>
                <a:gd name="T26" fmla="*/ 297 w 216"/>
                <a:gd name="T27" fmla="*/ 62 h 106"/>
                <a:gd name="T28" fmla="*/ 265 w 216"/>
                <a:gd name="T29" fmla="*/ 83 h 106"/>
                <a:gd name="T30" fmla="*/ 230 w 216"/>
                <a:gd name="T31" fmla="*/ 73 h 106"/>
                <a:gd name="T32" fmla="*/ 209 w 216"/>
                <a:gd name="T33" fmla="*/ 98 h 106"/>
                <a:gd name="T34" fmla="*/ 164 w 216"/>
                <a:gd name="T35" fmla="*/ 73 h 106"/>
                <a:gd name="T36" fmla="*/ 13 w 216"/>
                <a:gd name="T37" fmla="*/ 106 h 106"/>
                <a:gd name="T38" fmla="*/ 0 w 216"/>
                <a:gd name="T39" fmla="*/ 42 h 10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216"/>
                <a:gd name="T61" fmla="*/ 0 h 106"/>
                <a:gd name="T62" fmla="*/ 216 w 216"/>
                <a:gd name="T63" fmla="*/ 106 h 10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216" h="106">
                  <a:moveTo>
                    <a:pt x="0" y="42"/>
                  </a:moveTo>
                  <a:lnTo>
                    <a:pt x="110" y="13"/>
                  </a:lnTo>
                  <a:lnTo>
                    <a:pt x="123" y="14"/>
                  </a:lnTo>
                  <a:lnTo>
                    <a:pt x="137" y="0"/>
                  </a:lnTo>
                  <a:lnTo>
                    <a:pt x="148" y="7"/>
                  </a:lnTo>
                  <a:lnTo>
                    <a:pt x="134" y="37"/>
                  </a:lnTo>
                  <a:lnTo>
                    <a:pt x="157" y="35"/>
                  </a:lnTo>
                  <a:lnTo>
                    <a:pt x="170" y="59"/>
                  </a:lnTo>
                  <a:lnTo>
                    <a:pt x="186" y="61"/>
                  </a:lnTo>
                  <a:lnTo>
                    <a:pt x="197" y="57"/>
                  </a:lnTo>
                  <a:lnTo>
                    <a:pt x="197" y="44"/>
                  </a:lnTo>
                  <a:lnTo>
                    <a:pt x="178" y="28"/>
                  </a:lnTo>
                  <a:lnTo>
                    <a:pt x="192" y="27"/>
                  </a:lnTo>
                  <a:lnTo>
                    <a:pt x="216" y="62"/>
                  </a:lnTo>
                  <a:lnTo>
                    <a:pt x="193" y="83"/>
                  </a:lnTo>
                  <a:lnTo>
                    <a:pt x="167" y="73"/>
                  </a:lnTo>
                  <a:lnTo>
                    <a:pt x="151" y="98"/>
                  </a:lnTo>
                  <a:lnTo>
                    <a:pt x="118" y="73"/>
                  </a:lnTo>
                  <a:lnTo>
                    <a:pt x="9" y="106"/>
                  </a:lnTo>
                  <a:lnTo>
                    <a:pt x="0" y="42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60" name="Freeform 1559"/>
            <p:cNvSpPr>
              <a:spLocks/>
            </p:cNvSpPr>
            <p:nvPr/>
          </p:nvSpPr>
          <p:spPr bwMode="gray">
            <a:xfrm>
              <a:off x="7643876" y="2271713"/>
              <a:ext cx="245916" cy="434975"/>
            </a:xfrm>
            <a:custGeom>
              <a:avLst/>
              <a:gdLst>
                <a:gd name="T0" fmla="*/ 34 w 119"/>
                <a:gd name="T1" fmla="*/ 0 h 228"/>
                <a:gd name="T2" fmla="*/ 0 w 119"/>
                <a:gd name="T3" fmla="*/ 40 h 228"/>
                <a:gd name="T4" fmla="*/ 37 w 119"/>
                <a:gd name="T5" fmla="*/ 93 h 228"/>
                <a:gd name="T6" fmla="*/ 15 w 119"/>
                <a:gd name="T7" fmla="*/ 107 h 228"/>
                <a:gd name="T8" fmla="*/ 24 w 119"/>
                <a:gd name="T9" fmla="*/ 228 h 228"/>
                <a:gd name="T10" fmla="*/ 116 w 119"/>
                <a:gd name="T11" fmla="*/ 211 h 228"/>
                <a:gd name="T12" fmla="*/ 141 w 119"/>
                <a:gd name="T13" fmla="*/ 211 h 228"/>
                <a:gd name="T14" fmla="*/ 154 w 119"/>
                <a:gd name="T15" fmla="*/ 198 h 228"/>
                <a:gd name="T16" fmla="*/ 154 w 119"/>
                <a:gd name="T17" fmla="*/ 176 h 228"/>
                <a:gd name="T18" fmla="*/ 165 w 119"/>
                <a:gd name="T19" fmla="*/ 161 h 228"/>
                <a:gd name="T20" fmla="*/ 113 w 119"/>
                <a:gd name="T21" fmla="*/ 144 h 228"/>
                <a:gd name="T22" fmla="*/ 47 w 119"/>
                <a:gd name="T23" fmla="*/ 11 h 228"/>
                <a:gd name="T24" fmla="*/ 34 w 119"/>
                <a:gd name="T25" fmla="*/ 0 h 22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19"/>
                <a:gd name="T40" fmla="*/ 0 h 228"/>
                <a:gd name="T41" fmla="*/ 119 w 119"/>
                <a:gd name="T42" fmla="*/ 228 h 22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19" h="228">
                  <a:moveTo>
                    <a:pt x="25" y="0"/>
                  </a:moveTo>
                  <a:lnTo>
                    <a:pt x="0" y="40"/>
                  </a:lnTo>
                  <a:lnTo>
                    <a:pt x="27" y="93"/>
                  </a:lnTo>
                  <a:lnTo>
                    <a:pt x="11" y="107"/>
                  </a:lnTo>
                  <a:lnTo>
                    <a:pt x="17" y="228"/>
                  </a:lnTo>
                  <a:lnTo>
                    <a:pt x="84" y="211"/>
                  </a:lnTo>
                  <a:lnTo>
                    <a:pt x="102" y="211"/>
                  </a:lnTo>
                  <a:lnTo>
                    <a:pt x="112" y="198"/>
                  </a:lnTo>
                  <a:lnTo>
                    <a:pt x="112" y="176"/>
                  </a:lnTo>
                  <a:lnTo>
                    <a:pt x="119" y="161"/>
                  </a:lnTo>
                  <a:lnTo>
                    <a:pt x="82" y="144"/>
                  </a:lnTo>
                  <a:lnTo>
                    <a:pt x="34" y="11"/>
                  </a:lnTo>
                  <a:lnTo>
                    <a:pt x="25" y="0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grpSp>
          <p:nvGrpSpPr>
            <p:cNvPr id="1561" name="Group 1560"/>
            <p:cNvGrpSpPr>
              <a:grpSpLocks/>
            </p:cNvGrpSpPr>
            <p:nvPr/>
          </p:nvGrpSpPr>
          <p:grpSpPr bwMode="gray">
            <a:xfrm>
              <a:off x="2199623" y="2176830"/>
              <a:ext cx="5701788" cy="2675059"/>
              <a:chOff x="1657" y="1277"/>
              <a:chExt cx="2764" cy="1404"/>
            </a:xfrm>
            <a:grpFill/>
          </p:grpSpPr>
          <p:sp>
            <p:nvSpPr>
              <p:cNvPr id="1574" name="Freeform 28"/>
              <p:cNvSpPr>
                <a:spLocks/>
              </p:cNvSpPr>
              <p:nvPr/>
            </p:nvSpPr>
            <p:spPr bwMode="gray">
              <a:xfrm>
                <a:off x="1657" y="1722"/>
                <a:ext cx="388" cy="629"/>
              </a:xfrm>
              <a:custGeom>
                <a:avLst/>
                <a:gdLst>
                  <a:gd name="T0" fmla="*/ 50 w 388"/>
                  <a:gd name="T1" fmla="*/ 0 h 629"/>
                  <a:gd name="T2" fmla="*/ 0 w 388"/>
                  <a:gd name="T3" fmla="*/ 250 h 629"/>
                  <a:gd name="T4" fmla="*/ 264 w 388"/>
                  <a:gd name="T5" fmla="*/ 629 h 629"/>
                  <a:gd name="T6" fmla="*/ 281 w 388"/>
                  <a:gd name="T7" fmla="*/ 613 h 629"/>
                  <a:gd name="T8" fmla="*/ 279 w 388"/>
                  <a:gd name="T9" fmla="*/ 538 h 629"/>
                  <a:gd name="T10" fmla="*/ 312 w 388"/>
                  <a:gd name="T11" fmla="*/ 544 h 629"/>
                  <a:gd name="T12" fmla="*/ 346 w 388"/>
                  <a:gd name="T13" fmla="*/ 313 h 629"/>
                  <a:gd name="T14" fmla="*/ 369 w 388"/>
                  <a:gd name="T15" fmla="*/ 157 h 629"/>
                  <a:gd name="T16" fmla="*/ 376 w 388"/>
                  <a:gd name="T17" fmla="*/ 110 h 629"/>
                  <a:gd name="T18" fmla="*/ 388 w 388"/>
                  <a:gd name="T19" fmla="*/ 67 h 629"/>
                  <a:gd name="T20" fmla="*/ 214 w 388"/>
                  <a:gd name="T21" fmla="*/ 38 h 629"/>
                  <a:gd name="T22" fmla="*/ 50 w 388"/>
                  <a:gd name="T23" fmla="*/ 0 h 629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388"/>
                  <a:gd name="T37" fmla="*/ 0 h 629"/>
                  <a:gd name="T38" fmla="*/ 388 w 388"/>
                  <a:gd name="T39" fmla="*/ 629 h 629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388" h="629">
                    <a:moveTo>
                      <a:pt x="50" y="0"/>
                    </a:moveTo>
                    <a:lnTo>
                      <a:pt x="0" y="250"/>
                    </a:lnTo>
                    <a:lnTo>
                      <a:pt x="264" y="629"/>
                    </a:lnTo>
                    <a:lnTo>
                      <a:pt x="281" y="613"/>
                    </a:lnTo>
                    <a:lnTo>
                      <a:pt x="279" y="538"/>
                    </a:lnTo>
                    <a:lnTo>
                      <a:pt x="312" y="544"/>
                    </a:lnTo>
                    <a:lnTo>
                      <a:pt x="346" y="313"/>
                    </a:lnTo>
                    <a:lnTo>
                      <a:pt x="369" y="157"/>
                    </a:lnTo>
                    <a:lnTo>
                      <a:pt x="376" y="110"/>
                    </a:lnTo>
                    <a:lnTo>
                      <a:pt x="388" y="67"/>
                    </a:lnTo>
                    <a:lnTo>
                      <a:pt x="214" y="38"/>
                    </a:lnTo>
                    <a:lnTo>
                      <a:pt x="50" y="0"/>
                    </a:lnTo>
                    <a:close/>
                  </a:path>
                </a:pathLst>
              </a:custGeom>
              <a:grpFill/>
              <a:ln w="12700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75" name="Freeform 29"/>
              <p:cNvSpPr>
                <a:spLocks/>
              </p:cNvSpPr>
              <p:nvPr/>
            </p:nvSpPr>
            <p:spPr bwMode="gray">
              <a:xfrm>
                <a:off x="1978" y="1791"/>
                <a:ext cx="324" cy="449"/>
              </a:xfrm>
              <a:custGeom>
                <a:avLst/>
                <a:gdLst>
                  <a:gd name="T0" fmla="*/ 60 w 324"/>
                  <a:gd name="T1" fmla="*/ 0 h 449"/>
                  <a:gd name="T2" fmla="*/ 219 w 324"/>
                  <a:gd name="T3" fmla="*/ 23 h 449"/>
                  <a:gd name="T4" fmla="*/ 208 w 324"/>
                  <a:gd name="T5" fmla="*/ 109 h 449"/>
                  <a:gd name="T6" fmla="*/ 324 w 324"/>
                  <a:gd name="T7" fmla="*/ 121 h 449"/>
                  <a:gd name="T8" fmla="*/ 292 w 324"/>
                  <a:gd name="T9" fmla="*/ 449 h 449"/>
                  <a:gd name="T10" fmla="*/ 0 w 324"/>
                  <a:gd name="T11" fmla="*/ 415 h 449"/>
                  <a:gd name="T12" fmla="*/ 30 w 324"/>
                  <a:gd name="T13" fmla="*/ 205 h 449"/>
                  <a:gd name="T14" fmla="*/ 60 w 324"/>
                  <a:gd name="T15" fmla="*/ 0 h 44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324"/>
                  <a:gd name="T25" fmla="*/ 0 h 449"/>
                  <a:gd name="T26" fmla="*/ 324 w 324"/>
                  <a:gd name="T27" fmla="*/ 449 h 449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324" h="449">
                    <a:moveTo>
                      <a:pt x="60" y="0"/>
                    </a:moveTo>
                    <a:lnTo>
                      <a:pt x="219" y="23"/>
                    </a:lnTo>
                    <a:lnTo>
                      <a:pt x="208" y="109"/>
                    </a:lnTo>
                    <a:lnTo>
                      <a:pt x="324" y="121"/>
                    </a:lnTo>
                    <a:lnTo>
                      <a:pt x="292" y="449"/>
                    </a:lnTo>
                    <a:lnTo>
                      <a:pt x="0" y="415"/>
                    </a:lnTo>
                    <a:lnTo>
                      <a:pt x="30" y="205"/>
                    </a:lnTo>
                    <a:lnTo>
                      <a:pt x="60" y="0"/>
                    </a:lnTo>
                    <a:close/>
                  </a:path>
                </a:pathLst>
              </a:custGeom>
              <a:grpFill/>
              <a:ln w="12700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76" name="Freeform 30"/>
              <p:cNvSpPr>
                <a:spLocks/>
              </p:cNvSpPr>
              <p:nvPr/>
            </p:nvSpPr>
            <p:spPr bwMode="gray">
              <a:xfrm>
                <a:off x="2183" y="1571"/>
                <a:ext cx="415" cy="365"/>
              </a:xfrm>
              <a:custGeom>
                <a:avLst/>
                <a:gdLst>
                  <a:gd name="T0" fmla="*/ 40 w 415"/>
                  <a:gd name="T1" fmla="*/ 0 h 365"/>
                  <a:gd name="T2" fmla="*/ 25 w 415"/>
                  <a:gd name="T3" fmla="*/ 136 h 365"/>
                  <a:gd name="T4" fmla="*/ 0 w 415"/>
                  <a:gd name="T5" fmla="*/ 331 h 365"/>
                  <a:gd name="T6" fmla="*/ 120 w 415"/>
                  <a:gd name="T7" fmla="*/ 342 h 365"/>
                  <a:gd name="T8" fmla="*/ 401 w 415"/>
                  <a:gd name="T9" fmla="*/ 365 h 365"/>
                  <a:gd name="T10" fmla="*/ 415 w 415"/>
                  <a:gd name="T11" fmla="*/ 37 h 365"/>
                  <a:gd name="T12" fmla="*/ 40 w 415"/>
                  <a:gd name="T13" fmla="*/ 0 h 36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15"/>
                  <a:gd name="T22" fmla="*/ 0 h 365"/>
                  <a:gd name="T23" fmla="*/ 415 w 415"/>
                  <a:gd name="T24" fmla="*/ 365 h 36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15" h="365">
                    <a:moveTo>
                      <a:pt x="40" y="0"/>
                    </a:moveTo>
                    <a:lnTo>
                      <a:pt x="25" y="136"/>
                    </a:lnTo>
                    <a:lnTo>
                      <a:pt x="0" y="331"/>
                    </a:lnTo>
                    <a:lnTo>
                      <a:pt x="120" y="342"/>
                    </a:lnTo>
                    <a:lnTo>
                      <a:pt x="401" y="365"/>
                    </a:lnTo>
                    <a:lnTo>
                      <a:pt x="415" y="37"/>
                    </a:lnTo>
                    <a:lnTo>
                      <a:pt x="40" y="0"/>
                    </a:lnTo>
                    <a:close/>
                  </a:path>
                </a:pathLst>
              </a:custGeom>
              <a:grpFill/>
              <a:ln w="12700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77" name="Freeform 31"/>
              <p:cNvSpPr>
                <a:spLocks/>
              </p:cNvSpPr>
              <p:nvPr/>
            </p:nvSpPr>
            <p:spPr bwMode="gray">
              <a:xfrm>
                <a:off x="2267" y="1912"/>
                <a:ext cx="433" cy="347"/>
              </a:xfrm>
              <a:custGeom>
                <a:avLst/>
                <a:gdLst>
                  <a:gd name="T0" fmla="*/ 36 w 433"/>
                  <a:gd name="T1" fmla="*/ 0 h 347"/>
                  <a:gd name="T2" fmla="*/ 14 w 433"/>
                  <a:gd name="T3" fmla="*/ 208 h 347"/>
                  <a:gd name="T4" fmla="*/ 0 w 433"/>
                  <a:gd name="T5" fmla="*/ 328 h 347"/>
                  <a:gd name="T6" fmla="*/ 216 w 433"/>
                  <a:gd name="T7" fmla="*/ 339 h 347"/>
                  <a:gd name="T8" fmla="*/ 423 w 433"/>
                  <a:gd name="T9" fmla="*/ 347 h 347"/>
                  <a:gd name="T10" fmla="*/ 430 w 433"/>
                  <a:gd name="T11" fmla="*/ 184 h 347"/>
                  <a:gd name="T12" fmla="*/ 433 w 433"/>
                  <a:gd name="T13" fmla="*/ 26 h 347"/>
                  <a:gd name="T14" fmla="*/ 315 w 433"/>
                  <a:gd name="T15" fmla="*/ 23 h 347"/>
                  <a:gd name="T16" fmla="*/ 36 w 433"/>
                  <a:gd name="T17" fmla="*/ 0 h 34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433"/>
                  <a:gd name="T28" fmla="*/ 0 h 347"/>
                  <a:gd name="T29" fmla="*/ 433 w 433"/>
                  <a:gd name="T30" fmla="*/ 347 h 347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433" h="347">
                    <a:moveTo>
                      <a:pt x="36" y="0"/>
                    </a:moveTo>
                    <a:lnTo>
                      <a:pt x="14" y="208"/>
                    </a:lnTo>
                    <a:lnTo>
                      <a:pt x="0" y="328"/>
                    </a:lnTo>
                    <a:lnTo>
                      <a:pt x="216" y="339"/>
                    </a:lnTo>
                    <a:lnTo>
                      <a:pt x="423" y="347"/>
                    </a:lnTo>
                    <a:lnTo>
                      <a:pt x="430" y="184"/>
                    </a:lnTo>
                    <a:lnTo>
                      <a:pt x="433" y="26"/>
                    </a:lnTo>
                    <a:lnTo>
                      <a:pt x="315" y="23"/>
                    </a:lnTo>
                    <a:lnTo>
                      <a:pt x="36" y="0"/>
                    </a:lnTo>
                    <a:close/>
                  </a:path>
                </a:pathLst>
              </a:custGeom>
              <a:grpFill/>
              <a:ln w="12700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78" name="Freeform 32"/>
              <p:cNvSpPr>
                <a:spLocks/>
              </p:cNvSpPr>
              <p:nvPr/>
            </p:nvSpPr>
            <p:spPr bwMode="gray">
              <a:xfrm>
                <a:off x="1877" y="2203"/>
                <a:ext cx="393" cy="469"/>
              </a:xfrm>
              <a:custGeom>
                <a:avLst/>
                <a:gdLst>
                  <a:gd name="T0" fmla="*/ 100 w 393"/>
                  <a:gd name="T1" fmla="*/ 0 h 469"/>
                  <a:gd name="T2" fmla="*/ 92 w 393"/>
                  <a:gd name="T3" fmla="*/ 61 h 469"/>
                  <a:gd name="T4" fmla="*/ 58 w 393"/>
                  <a:gd name="T5" fmla="*/ 54 h 469"/>
                  <a:gd name="T6" fmla="*/ 61 w 393"/>
                  <a:gd name="T7" fmla="*/ 133 h 469"/>
                  <a:gd name="T8" fmla="*/ 44 w 393"/>
                  <a:gd name="T9" fmla="*/ 148 h 469"/>
                  <a:gd name="T10" fmla="*/ 68 w 393"/>
                  <a:gd name="T11" fmla="*/ 197 h 469"/>
                  <a:gd name="T12" fmla="*/ 44 w 393"/>
                  <a:gd name="T13" fmla="*/ 218 h 469"/>
                  <a:gd name="T14" fmla="*/ 31 w 393"/>
                  <a:gd name="T15" fmla="*/ 253 h 469"/>
                  <a:gd name="T16" fmla="*/ 12 w 393"/>
                  <a:gd name="T17" fmla="*/ 287 h 469"/>
                  <a:gd name="T18" fmla="*/ 26 w 393"/>
                  <a:gd name="T19" fmla="*/ 307 h 469"/>
                  <a:gd name="T20" fmla="*/ 3 w 393"/>
                  <a:gd name="T21" fmla="*/ 315 h 469"/>
                  <a:gd name="T22" fmla="*/ 0 w 393"/>
                  <a:gd name="T23" fmla="*/ 347 h 469"/>
                  <a:gd name="T24" fmla="*/ 221 w 393"/>
                  <a:gd name="T25" fmla="*/ 467 h 469"/>
                  <a:gd name="T26" fmla="*/ 346 w 393"/>
                  <a:gd name="T27" fmla="*/ 469 h 469"/>
                  <a:gd name="T28" fmla="*/ 393 w 393"/>
                  <a:gd name="T29" fmla="*/ 37 h 469"/>
                  <a:gd name="T30" fmla="*/ 100 w 393"/>
                  <a:gd name="T31" fmla="*/ 0 h 469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393"/>
                  <a:gd name="T49" fmla="*/ 0 h 469"/>
                  <a:gd name="T50" fmla="*/ 393 w 393"/>
                  <a:gd name="T51" fmla="*/ 469 h 469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393" h="469">
                    <a:moveTo>
                      <a:pt x="100" y="0"/>
                    </a:moveTo>
                    <a:lnTo>
                      <a:pt x="92" y="61"/>
                    </a:lnTo>
                    <a:lnTo>
                      <a:pt x="58" y="54"/>
                    </a:lnTo>
                    <a:lnTo>
                      <a:pt x="61" y="133"/>
                    </a:lnTo>
                    <a:lnTo>
                      <a:pt x="44" y="148"/>
                    </a:lnTo>
                    <a:lnTo>
                      <a:pt x="68" y="197"/>
                    </a:lnTo>
                    <a:lnTo>
                      <a:pt x="44" y="218"/>
                    </a:lnTo>
                    <a:lnTo>
                      <a:pt x="31" y="253"/>
                    </a:lnTo>
                    <a:lnTo>
                      <a:pt x="12" y="287"/>
                    </a:lnTo>
                    <a:lnTo>
                      <a:pt x="26" y="307"/>
                    </a:lnTo>
                    <a:lnTo>
                      <a:pt x="3" y="315"/>
                    </a:lnTo>
                    <a:lnTo>
                      <a:pt x="0" y="347"/>
                    </a:lnTo>
                    <a:lnTo>
                      <a:pt x="221" y="467"/>
                    </a:lnTo>
                    <a:lnTo>
                      <a:pt x="346" y="469"/>
                    </a:lnTo>
                    <a:lnTo>
                      <a:pt x="393" y="37"/>
                    </a:lnTo>
                    <a:lnTo>
                      <a:pt x="100" y="0"/>
                    </a:lnTo>
                    <a:close/>
                  </a:path>
                </a:pathLst>
              </a:custGeom>
              <a:grpFill/>
              <a:ln w="12700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79" name="Freeform 33"/>
              <p:cNvSpPr>
                <a:spLocks/>
              </p:cNvSpPr>
              <p:nvPr/>
            </p:nvSpPr>
            <p:spPr bwMode="gray">
              <a:xfrm>
                <a:off x="2220" y="2236"/>
                <a:ext cx="417" cy="445"/>
              </a:xfrm>
              <a:custGeom>
                <a:avLst/>
                <a:gdLst>
                  <a:gd name="T0" fmla="*/ 50 w 417"/>
                  <a:gd name="T1" fmla="*/ 0 h 445"/>
                  <a:gd name="T2" fmla="*/ 417 w 417"/>
                  <a:gd name="T3" fmla="*/ 18 h 445"/>
                  <a:gd name="T4" fmla="*/ 399 w 417"/>
                  <a:gd name="T5" fmla="*/ 411 h 445"/>
                  <a:gd name="T6" fmla="*/ 280 w 417"/>
                  <a:gd name="T7" fmla="*/ 403 h 445"/>
                  <a:gd name="T8" fmla="*/ 168 w 417"/>
                  <a:gd name="T9" fmla="*/ 400 h 445"/>
                  <a:gd name="T10" fmla="*/ 168 w 417"/>
                  <a:gd name="T11" fmla="*/ 415 h 445"/>
                  <a:gd name="T12" fmla="*/ 75 w 417"/>
                  <a:gd name="T13" fmla="*/ 415 h 445"/>
                  <a:gd name="T14" fmla="*/ 70 w 417"/>
                  <a:gd name="T15" fmla="*/ 445 h 445"/>
                  <a:gd name="T16" fmla="*/ 0 w 417"/>
                  <a:gd name="T17" fmla="*/ 435 h 445"/>
                  <a:gd name="T18" fmla="*/ 39 w 417"/>
                  <a:gd name="T19" fmla="*/ 102 h 445"/>
                  <a:gd name="T20" fmla="*/ 50 w 417"/>
                  <a:gd name="T21" fmla="*/ 0 h 44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417"/>
                  <a:gd name="T34" fmla="*/ 0 h 445"/>
                  <a:gd name="T35" fmla="*/ 417 w 417"/>
                  <a:gd name="T36" fmla="*/ 445 h 445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417" h="445">
                    <a:moveTo>
                      <a:pt x="50" y="0"/>
                    </a:moveTo>
                    <a:lnTo>
                      <a:pt x="417" y="18"/>
                    </a:lnTo>
                    <a:lnTo>
                      <a:pt x="399" y="411"/>
                    </a:lnTo>
                    <a:lnTo>
                      <a:pt x="280" y="403"/>
                    </a:lnTo>
                    <a:lnTo>
                      <a:pt x="168" y="400"/>
                    </a:lnTo>
                    <a:lnTo>
                      <a:pt x="168" y="415"/>
                    </a:lnTo>
                    <a:lnTo>
                      <a:pt x="75" y="415"/>
                    </a:lnTo>
                    <a:lnTo>
                      <a:pt x="70" y="445"/>
                    </a:lnTo>
                    <a:lnTo>
                      <a:pt x="0" y="435"/>
                    </a:lnTo>
                    <a:lnTo>
                      <a:pt x="39" y="102"/>
                    </a:lnTo>
                    <a:lnTo>
                      <a:pt x="50" y="0"/>
                    </a:lnTo>
                    <a:close/>
                  </a:path>
                </a:pathLst>
              </a:custGeom>
              <a:grpFill/>
              <a:ln w="12700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80" name="Freeform 34"/>
              <p:cNvSpPr>
                <a:spLocks/>
              </p:cNvSpPr>
              <p:nvPr/>
            </p:nvSpPr>
            <p:spPr bwMode="gray">
              <a:xfrm>
                <a:off x="2599" y="1277"/>
                <a:ext cx="407" cy="256"/>
              </a:xfrm>
              <a:custGeom>
                <a:avLst/>
                <a:gdLst>
                  <a:gd name="T0" fmla="*/ 1 w 407"/>
                  <a:gd name="T1" fmla="*/ 0 h 256"/>
                  <a:gd name="T2" fmla="*/ 342 w 407"/>
                  <a:gd name="T3" fmla="*/ 8 h 256"/>
                  <a:gd name="T4" fmla="*/ 367 w 407"/>
                  <a:gd name="T5" fmla="*/ 83 h 256"/>
                  <a:gd name="T6" fmla="*/ 391 w 407"/>
                  <a:gd name="T7" fmla="*/ 141 h 256"/>
                  <a:gd name="T8" fmla="*/ 407 w 407"/>
                  <a:gd name="T9" fmla="*/ 235 h 256"/>
                  <a:gd name="T10" fmla="*/ 397 w 407"/>
                  <a:gd name="T11" fmla="*/ 256 h 256"/>
                  <a:gd name="T12" fmla="*/ 272 w 407"/>
                  <a:gd name="T13" fmla="*/ 253 h 256"/>
                  <a:gd name="T14" fmla="*/ 0 w 407"/>
                  <a:gd name="T15" fmla="*/ 248 h 256"/>
                  <a:gd name="T16" fmla="*/ 1 w 407"/>
                  <a:gd name="T17" fmla="*/ 0 h 25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407"/>
                  <a:gd name="T28" fmla="*/ 0 h 256"/>
                  <a:gd name="T29" fmla="*/ 407 w 407"/>
                  <a:gd name="T30" fmla="*/ 256 h 25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407" h="256">
                    <a:moveTo>
                      <a:pt x="1" y="0"/>
                    </a:moveTo>
                    <a:lnTo>
                      <a:pt x="342" y="8"/>
                    </a:lnTo>
                    <a:lnTo>
                      <a:pt x="367" y="83"/>
                    </a:lnTo>
                    <a:lnTo>
                      <a:pt x="391" y="141"/>
                    </a:lnTo>
                    <a:lnTo>
                      <a:pt x="407" y="235"/>
                    </a:lnTo>
                    <a:lnTo>
                      <a:pt x="397" y="256"/>
                    </a:lnTo>
                    <a:lnTo>
                      <a:pt x="272" y="253"/>
                    </a:lnTo>
                    <a:lnTo>
                      <a:pt x="0" y="248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12700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81" name="Freeform 35"/>
              <p:cNvSpPr>
                <a:spLocks/>
              </p:cNvSpPr>
              <p:nvPr/>
            </p:nvSpPr>
            <p:spPr bwMode="gray">
              <a:xfrm>
                <a:off x="2588" y="1524"/>
                <a:ext cx="428" cy="300"/>
              </a:xfrm>
              <a:custGeom>
                <a:avLst/>
                <a:gdLst>
                  <a:gd name="T0" fmla="*/ 8 w 428"/>
                  <a:gd name="T1" fmla="*/ 0 h 300"/>
                  <a:gd name="T2" fmla="*/ 7 w 428"/>
                  <a:gd name="T3" fmla="*/ 116 h 300"/>
                  <a:gd name="T4" fmla="*/ 0 w 428"/>
                  <a:gd name="T5" fmla="*/ 252 h 300"/>
                  <a:gd name="T6" fmla="*/ 311 w 428"/>
                  <a:gd name="T7" fmla="*/ 257 h 300"/>
                  <a:gd name="T8" fmla="*/ 344 w 428"/>
                  <a:gd name="T9" fmla="*/ 276 h 300"/>
                  <a:gd name="T10" fmla="*/ 367 w 428"/>
                  <a:gd name="T11" fmla="*/ 250 h 300"/>
                  <a:gd name="T12" fmla="*/ 428 w 428"/>
                  <a:gd name="T13" fmla="*/ 300 h 300"/>
                  <a:gd name="T14" fmla="*/ 419 w 428"/>
                  <a:gd name="T15" fmla="*/ 248 h 300"/>
                  <a:gd name="T16" fmla="*/ 425 w 428"/>
                  <a:gd name="T17" fmla="*/ 208 h 300"/>
                  <a:gd name="T18" fmla="*/ 428 w 428"/>
                  <a:gd name="T19" fmla="*/ 71 h 300"/>
                  <a:gd name="T20" fmla="*/ 401 w 428"/>
                  <a:gd name="T21" fmla="*/ 42 h 300"/>
                  <a:gd name="T22" fmla="*/ 412 w 428"/>
                  <a:gd name="T23" fmla="*/ 4 h 300"/>
                  <a:gd name="T24" fmla="*/ 208 w 428"/>
                  <a:gd name="T25" fmla="*/ 3 h 300"/>
                  <a:gd name="T26" fmla="*/ 8 w 428"/>
                  <a:gd name="T27" fmla="*/ 0 h 300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428"/>
                  <a:gd name="T43" fmla="*/ 0 h 300"/>
                  <a:gd name="T44" fmla="*/ 428 w 428"/>
                  <a:gd name="T45" fmla="*/ 300 h 300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428" h="300">
                    <a:moveTo>
                      <a:pt x="8" y="0"/>
                    </a:moveTo>
                    <a:lnTo>
                      <a:pt x="7" y="116"/>
                    </a:lnTo>
                    <a:lnTo>
                      <a:pt x="0" y="252"/>
                    </a:lnTo>
                    <a:lnTo>
                      <a:pt x="311" y="257"/>
                    </a:lnTo>
                    <a:lnTo>
                      <a:pt x="344" y="276"/>
                    </a:lnTo>
                    <a:lnTo>
                      <a:pt x="367" y="250"/>
                    </a:lnTo>
                    <a:lnTo>
                      <a:pt x="428" y="300"/>
                    </a:lnTo>
                    <a:lnTo>
                      <a:pt x="419" y="248"/>
                    </a:lnTo>
                    <a:lnTo>
                      <a:pt x="425" y="208"/>
                    </a:lnTo>
                    <a:lnTo>
                      <a:pt x="428" y="71"/>
                    </a:lnTo>
                    <a:lnTo>
                      <a:pt x="401" y="42"/>
                    </a:lnTo>
                    <a:lnTo>
                      <a:pt x="412" y="4"/>
                    </a:lnTo>
                    <a:lnTo>
                      <a:pt x="208" y="3"/>
                    </a:lnTo>
                    <a:lnTo>
                      <a:pt x="8" y="0"/>
                    </a:lnTo>
                    <a:close/>
                  </a:path>
                </a:pathLst>
              </a:custGeom>
              <a:grpFill/>
              <a:ln w="12700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82" name="Freeform 36"/>
              <p:cNvSpPr>
                <a:spLocks/>
              </p:cNvSpPr>
              <p:nvPr/>
            </p:nvSpPr>
            <p:spPr bwMode="gray">
              <a:xfrm>
                <a:off x="2582" y="1773"/>
                <a:ext cx="510" cy="247"/>
              </a:xfrm>
              <a:custGeom>
                <a:avLst/>
                <a:gdLst>
                  <a:gd name="T0" fmla="*/ 5 w 510"/>
                  <a:gd name="T1" fmla="*/ 0 h 247"/>
                  <a:gd name="T2" fmla="*/ 0 w 510"/>
                  <a:gd name="T3" fmla="*/ 163 h 247"/>
                  <a:gd name="T4" fmla="*/ 115 w 510"/>
                  <a:gd name="T5" fmla="*/ 167 h 247"/>
                  <a:gd name="T6" fmla="*/ 114 w 510"/>
                  <a:gd name="T7" fmla="*/ 247 h 247"/>
                  <a:gd name="T8" fmla="*/ 269 w 510"/>
                  <a:gd name="T9" fmla="*/ 245 h 247"/>
                  <a:gd name="T10" fmla="*/ 408 w 510"/>
                  <a:gd name="T11" fmla="*/ 242 h 247"/>
                  <a:gd name="T12" fmla="*/ 510 w 510"/>
                  <a:gd name="T13" fmla="*/ 245 h 247"/>
                  <a:gd name="T14" fmla="*/ 478 w 510"/>
                  <a:gd name="T15" fmla="*/ 175 h 247"/>
                  <a:gd name="T16" fmla="*/ 456 w 510"/>
                  <a:gd name="T17" fmla="*/ 110 h 247"/>
                  <a:gd name="T18" fmla="*/ 432 w 510"/>
                  <a:gd name="T19" fmla="*/ 43 h 247"/>
                  <a:gd name="T20" fmla="*/ 374 w 510"/>
                  <a:gd name="T21" fmla="*/ 1 h 247"/>
                  <a:gd name="T22" fmla="*/ 348 w 510"/>
                  <a:gd name="T23" fmla="*/ 26 h 247"/>
                  <a:gd name="T24" fmla="*/ 316 w 510"/>
                  <a:gd name="T25" fmla="*/ 8 h 247"/>
                  <a:gd name="T26" fmla="*/ 177 w 510"/>
                  <a:gd name="T27" fmla="*/ 3 h 247"/>
                  <a:gd name="T28" fmla="*/ 5 w 510"/>
                  <a:gd name="T29" fmla="*/ 0 h 24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10"/>
                  <a:gd name="T46" fmla="*/ 0 h 247"/>
                  <a:gd name="T47" fmla="*/ 510 w 510"/>
                  <a:gd name="T48" fmla="*/ 247 h 24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10" h="247">
                    <a:moveTo>
                      <a:pt x="5" y="0"/>
                    </a:moveTo>
                    <a:lnTo>
                      <a:pt x="0" y="163"/>
                    </a:lnTo>
                    <a:lnTo>
                      <a:pt x="115" y="167"/>
                    </a:lnTo>
                    <a:lnTo>
                      <a:pt x="114" y="247"/>
                    </a:lnTo>
                    <a:lnTo>
                      <a:pt x="269" y="245"/>
                    </a:lnTo>
                    <a:lnTo>
                      <a:pt x="408" y="242"/>
                    </a:lnTo>
                    <a:lnTo>
                      <a:pt x="510" y="245"/>
                    </a:lnTo>
                    <a:lnTo>
                      <a:pt x="478" y="175"/>
                    </a:lnTo>
                    <a:lnTo>
                      <a:pt x="456" y="110"/>
                    </a:lnTo>
                    <a:lnTo>
                      <a:pt x="432" y="43"/>
                    </a:lnTo>
                    <a:lnTo>
                      <a:pt x="374" y="1"/>
                    </a:lnTo>
                    <a:lnTo>
                      <a:pt x="348" y="26"/>
                    </a:lnTo>
                    <a:lnTo>
                      <a:pt x="316" y="8"/>
                    </a:lnTo>
                    <a:lnTo>
                      <a:pt x="177" y="3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 w="12700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83" name="Freeform 37"/>
              <p:cNvSpPr>
                <a:spLocks/>
              </p:cNvSpPr>
              <p:nvPr/>
            </p:nvSpPr>
            <p:spPr bwMode="gray">
              <a:xfrm>
                <a:off x="2690" y="2014"/>
                <a:ext cx="449" cy="246"/>
              </a:xfrm>
              <a:custGeom>
                <a:avLst/>
                <a:gdLst>
                  <a:gd name="T0" fmla="*/ 5 w 449"/>
                  <a:gd name="T1" fmla="*/ 2 h 246"/>
                  <a:gd name="T2" fmla="*/ 3 w 449"/>
                  <a:gd name="T3" fmla="*/ 143 h 246"/>
                  <a:gd name="T4" fmla="*/ 0 w 449"/>
                  <a:gd name="T5" fmla="*/ 243 h 246"/>
                  <a:gd name="T6" fmla="*/ 449 w 449"/>
                  <a:gd name="T7" fmla="*/ 246 h 246"/>
                  <a:gd name="T8" fmla="*/ 440 w 449"/>
                  <a:gd name="T9" fmla="*/ 118 h 246"/>
                  <a:gd name="T10" fmla="*/ 440 w 449"/>
                  <a:gd name="T11" fmla="*/ 69 h 246"/>
                  <a:gd name="T12" fmla="*/ 404 w 449"/>
                  <a:gd name="T13" fmla="*/ 40 h 246"/>
                  <a:gd name="T14" fmla="*/ 415 w 449"/>
                  <a:gd name="T15" fmla="*/ 14 h 246"/>
                  <a:gd name="T16" fmla="*/ 399 w 449"/>
                  <a:gd name="T17" fmla="*/ 0 h 246"/>
                  <a:gd name="T18" fmla="*/ 196 w 449"/>
                  <a:gd name="T19" fmla="*/ 2 h 246"/>
                  <a:gd name="T20" fmla="*/ 5 w 449"/>
                  <a:gd name="T21" fmla="*/ 2 h 24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449"/>
                  <a:gd name="T34" fmla="*/ 0 h 246"/>
                  <a:gd name="T35" fmla="*/ 449 w 449"/>
                  <a:gd name="T36" fmla="*/ 246 h 24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449" h="246">
                    <a:moveTo>
                      <a:pt x="5" y="2"/>
                    </a:moveTo>
                    <a:lnTo>
                      <a:pt x="3" y="143"/>
                    </a:lnTo>
                    <a:lnTo>
                      <a:pt x="0" y="243"/>
                    </a:lnTo>
                    <a:lnTo>
                      <a:pt x="449" y="246"/>
                    </a:lnTo>
                    <a:lnTo>
                      <a:pt x="440" y="118"/>
                    </a:lnTo>
                    <a:lnTo>
                      <a:pt x="440" y="69"/>
                    </a:lnTo>
                    <a:lnTo>
                      <a:pt x="404" y="40"/>
                    </a:lnTo>
                    <a:lnTo>
                      <a:pt x="415" y="14"/>
                    </a:lnTo>
                    <a:lnTo>
                      <a:pt x="399" y="0"/>
                    </a:lnTo>
                    <a:lnTo>
                      <a:pt x="196" y="2"/>
                    </a:lnTo>
                    <a:lnTo>
                      <a:pt x="5" y="2"/>
                    </a:lnTo>
                    <a:close/>
                  </a:path>
                </a:pathLst>
              </a:custGeom>
              <a:grpFill/>
              <a:ln w="12700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84" name="Freeform 38"/>
              <p:cNvSpPr>
                <a:spLocks/>
              </p:cNvSpPr>
              <p:nvPr/>
            </p:nvSpPr>
            <p:spPr bwMode="gray">
              <a:xfrm>
                <a:off x="2630" y="2254"/>
                <a:ext cx="523" cy="270"/>
              </a:xfrm>
              <a:custGeom>
                <a:avLst/>
                <a:gdLst>
                  <a:gd name="T0" fmla="*/ 3 w 523"/>
                  <a:gd name="T1" fmla="*/ 0 h 270"/>
                  <a:gd name="T2" fmla="*/ 0 w 523"/>
                  <a:gd name="T3" fmla="*/ 48 h 270"/>
                  <a:gd name="T4" fmla="*/ 186 w 523"/>
                  <a:gd name="T5" fmla="*/ 55 h 270"/>
                  <a:gd name="T6" fmla="*/ 187 w 523"/>
                  <a:gd name="T7" fmla="*/ 209 h 270"/>
                  <a:gd name="T8" fmla="*/ 282 w 523"/>
                  <a:gd name="T9" fmla="*/ 251 h 270"/>
                  <a:gd name="T10" fmla="*/ 308 w 523"/>
                  <a:gd name="T11" fmla="*/ 236 h 270"/>
                  <a:gd name="T12" fmla="*/ 369 w 523"/>
                  <a:gd name="T13" fmla="*/ 270 h 270"/>
                  <a:gd name="T14" fmla="*/ 408 w 523"/>
                  <a:gd name="T15" fmla="*/ 269 h 270"/>
                  <a:gd name="T16" fmla="*/ 480 w 523"/>
                  <a:gd name="T17" fmla="*/ 236 h 270"/>
                  <a:gd name="T18" fmla="*/ 523 w 523"/>
                  <a:gd name="T19" fmla="*/ 268 h 270"/>
                  <a:gd name="T20" fmla="*/ 523 w 523"/>
                  <a:gd name="T21" fmla="*/ 101 h 270"/>
                  <a:gd name="T22" fmla="*/ 510 w 523"/>
                  <a:gd name="T23" fmla="*/ 3 h 270"/>
                  <a:gd name="T24" fmla="*/ 3 w 523"/>
                  <a:gd name="T25" fmla="*/ 0 h 270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523"/>
                  <a:gd name="T40" fmla="*/ 0 h 270"/>
                  <a:gd name="T41" fmla="*/ 523 w 523"/>
                  <a:gd name="T42" fmla="*/ 270 h 270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523" h="270">
                    <a:moveTo>
                      <a:pt x="3" y="0"/>
                    </a:moveTo>
                    <a:lnTo>
                      <a:pt x="0" y="48"/>
                    </a:lnTo>
                    <a:lnTo>
                      <a:pt x="186" y="55"/>
                    </a:lnTo>
                    <a:lnTo>
                      <a:pt x="187" y="209"/>
                    </a:lnTo>
                    <a:lnTo>
                      <a:pt x="282" y="251"/>
                    </a:lnTo>
                    <a:lnTo>
                      <a:pt x="308" y="236"/>
                    </a:lnTo>
                    <a:lnTo>
                      <a:pt x="369" y="270"/>
                    </a:lnTo>
                    <a:lnTo>
                      <a:pt x="408" y="269"/>
                    </a:lnTo>
                    <a:lnTo>
                      <a:pt x="480" y="236"/>
                    </a:lnTo>
                    <a:lnTo>
                      <a:pt x="523" y="268"/>
                    </a:lnTo>
                    <a:lnTo>
                      <a:pt x="523" y="101"/>
                    </a:lnTo>
                    <a:lnTo>
                      <a:pt x="510" y="3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12700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85" name="Freeform 39"/>
              <p:cNvSpPr>
                <a:spLocks/>
              </p:cNvSpPr>
              <p:nvPr/>
            </p:nvSpPr>
            <p:spPr bwMode="gray">
              <a:xfrm>
                <a:off x="3006" y="1715"/>
                <a:ext cx="354" cy="247"/>
              </a:xfrm>
              <a:custGeom>
                <a:avLst/>
                <a:gdLst>
                  <a:gd name="T0" fmla="*/ 6 w 354"/>
                  <a:gd name="T1" fmla="*/ 13 h 247"/>
                  <a:gd name="T2" fmla="*/ 0 w 354"/>
                  <a:gd name="T3" fmla="*/ 57 h 247"/>
                  <a:gd name="T4" fmla="*/ 8 w 354"/>
                  <a:gd name="T5" fmla="*/ 103 h 247"/>
                  <a:gd name="T6" fmla="*/ 41 w 354"/>
                  <a:gd name="T7" fmla="*/ 197 h 247"/>
                  <a:gd name="T8" fmla="*/ 59 w 354"/>
                  <a:gd name="T9" fmla="*/ 247 h 247"/>
                  <a:gd name="T10" fmla="*/ 267 w 354"/>
                  <a:gd name="T11" fmla="*/ 235 h 247"/>
                  <a:gd name="T12" fmla="*/ 301 w 354"/>
                  <a:gd name="T13" fmla="*/ 247 h 247"/>
                  <a:gd name="T14" fmla="*/ 322 w 354"/>
                  <a:gd name="T15" fmla="*/ 199 h 247"/>
                  <a:gd name="T16" fmla="*/ 314 w 354"/>
                  <a:gd name="T17" fmla="*/ 165 h 247"/>
                  <a:gd name="T18" fmla="*/ 349 w 354"/>
                  <a:gd name="T19" fmla="*/ 158 h 247"/>
                  <a:gd name="T20" fmla="*/ 354 w 354"/>
                  <a:gd name="T21" fmla="*/ 104 h 247"/>
                  <a:gd name="T22" fmla="*/ 333 w 354"/>
                  <a:gd name="T23" fmla="*/ 80 h 247"/>
                  <a:gd name="T24" fmla="*/ 297 w 354"/>
                  <a:gd name="T25" fmla="*/ 57 h 247"/>
                  <a:gd name="T26" fmla="*/ 304 w 354"/>
                  <a:gd name="T27" fmla="*/ 24 h 247"/>
                  <a:gd name="T28" fmla="*/ 289 w 354"/>
                  <a:gd name="T29" fmla="*/ 0 h 247"/>
                  <a:gd name="T30" fmla="*/ 211 w 354"/>
                  <a:gd name="T31" fmla="*/ 4 h 247"/>
                  <a:gd name="T32" fmla="*/ 133 w 354"/>
                  <a:gd name="T33" fmla="*/ 7 h 247"/>
                  <a:gd name="T34" fmla="*/ 6 w 354"/>
                  <a:gd name="T35" fmla="*/ 13 h 24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354"/>
                  <a:gd name="T55" fmla="*/ 0 h 247"/>
                  <a:gd name="T56" fmla="*/ 354 w 354"/>
                  <a:gd name="T57" fmla="*/ 247 h 247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354" h="247">
                    <a:moveTo>
                      <a:pt x="6" y="13"/>
                    </a:moveTo>
                    <a:lnTo>
                      <a:pt x="0" y="57"/>
                    </a:lnTo>
                    <a:lnTo>
                      <a:pt x="8" y="103"/>
                    </a:lnTo>
                    <a:lnTo>
                      <a:pt x="41" y="197"/>
                    </a:lnTo>
                    <a:lnTo>
                      <a:pt x="59" y="247"/>
                    </a:lnTo>
                    <a:lnTo>
                      <a:pt x="267" y="235"/>
                    </a:lnTo>
                    <a:lnTo>
                      <a:pt x="301" y="247"/>
                    </a:lnTo>
                    <a:lnTo>
                      <a:pt x="322" y="199"/>
                    </a:lnTo>
                    <a:lnTo>
                      <a:pt x="314" y="165"/>
                    </a:lnTo>
                    <a:lnTo>
                      <a:pt x="349" y="158"/>
                    </a:lnTo>
                    <a:lnTo>
                      <a:pt x="354" y="104"/>
                    </a:lnTo>
                    <a:lnTo>
                      <a:pt x="333" y="80"/>
                    </a:lnTo>
                    <a:lnTo>
                      <a:pt x="297" y="57"/>
                    </a:lnTo>
                    <a:lnTo>
                      <a:pt x="304" y="24"/>
                    </a:lnTo>
                    <a:lnTo>
                      <a:pt x="289" y="0"/>
                    </a:lnTo>
                    <a:lnTo>
                      <a:pt x="211" y="4"/>
                    </a:lnTo>
                    <a:lnTo>
                      <a:pt x="133" y="7"/>
                    </a:lnTo>
                    <a:lnTo>
                      <a:pt x="6" y="13"/>
                    </a:lnTo>
                    <a:close/>
                  </a:path>
                </a:pathLst>
              </a:custGeom>
              <a:grpFill/>
              <a:ln w="12700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86" name="Freeform 40"/>
              <p:cNvSpPr>
                <a:spLocks/>
              </p:cNvSpPr>
              <p:nvPr/>
            </p:nvSpPr>
            <p:spPr bwMode="gray">
              <a:xfrm>
                <a:off x="3290" y="1768"/>
                <a:ext cx="253" cy="451"/>
              </a:xfrm>
              <a:custGeom>
                <a:avLst/>
                <a:gdLst>
                  <a:gd name="T0" fmla="*/ 47 w 253"/>
                  <a:gd name="T1" fmla="*/ 26 h 451"/>
                  <a:gd name="T2" fmla="*/ 192 w 253"/>
                  <a:gd name="T3" fmla="*/ 0 h 451"/>
                  <a:gd name="T4" fmla="*/ 215 w 253"/>
                  <a:gd name="T5" fmla="*/ 56 h 451"/>
                  <a:gd name="T6" fmla="*/ 245 w 253"/>
                  <a:gd name="T7" fmla="*/ 286 h 451"/>
                  <a:gd name="T8" fmla="*/ 253 w 253"/>
                  <a:gd name="T9" fmla="*/ 317 h 451"/>
                  <a:gd name="T10" fmla="*/ 230 w 253"/>
                  <a:gd name="T11" fmla="*/ 378 h 451"/>
                  <a:gd name="T12" fmla="*/ 230 w 253"/>
                  <a:gd name="T13" fmla="*/ 420 h 451"/>
                  <a:gd name="T14" fmla="*/ 204 w 253"/>
                  <a:gd name="T15" fmla="*/ 415 h 451"/>
                  <a:gd name="T16" fmla="*/ 205 w 253"/>
                  <a:gd name="T17" fmla="*/ 451 h 451"/>
                  <a:gd name="T18" fmla="*/ 178 w 253"/>
                  <a:gd name="T19" fmla="*/ 436 h 451"/>
                  <a:gd name="T20" fmla="*/ 164 w 253"/>
                  <a:gd name="T21" fmla="*/ 441 h 451"/>
                  <a:gd name="T22" fmla="*/ 143 w 253"/>
                  <a:gd name="T23" fmla="*/ 438 h 451"/>
                  <a:gd name="T24" fmla="*/ 128 w 253"/>
                  <a:gd name="T25" fmla="*/ 384 h 451"/>
                  <a:gd name="T26" fmla="*/ 98 w 253"/>
                  <a:gd name="T27" fmla="*/ 367 h 451"/>
                  <a:gd name="T28" fmla="*/ 98 w 253"/>
                  <a:gd name="T29" fmla="*/ 309 h 451"/>
                  <a:gd name="T30" fmla="*/ 69 w 253"/>
                  <a:gd name="T31" fmla="*/ 317 h 451"/>
                  <a:gd name="T32" fmla="*/ 52 w 253"/>
                  <a:gd name="T33" fmla="*/ 274 h 451"/>
                  <a:gd name="T34" fmla="*/ 0 w 253"/>
                  <a:gd name="T35" fmla="*/ 225 h 451"/>
                  <a:gd name="T36" fmla="*/ 38 w 253"/>
                  <a:gd name="T37" fmla="*/ 147 h 451"/>
                  <a:gd name="T38" fmla="*/ 27 w 253"/>
                  <a:gd name="T39" fmla="*/ 111 h 451"/>
                  <a:gd name="T40" fmla="*/ 65 w 253"/>
                  <a:gd name="T41" fmla="*/ 104 h 451"/>
                  <a:gd name="T42" fmla="*/ 69 w 253"/>
                  <a:gd name="T43" fmla="*/ 53 h 451"/>
                  <a:gd name="T44" fmla="*/ 47 w 253"/>
                  <a:gd name="T45" fmla="*/ 26 h 451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253"/>
                  <a:gd name="T70" fmla="*/ 0 h 451"/>
                  <a:gd name="T71" fmla="*/ 253 w 253"/>
                  <a:gd name="T72" fmla="*/ 451 h 451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253" h="451">
                    <a:moveTo>
                      <a:pt x="47" y="26"/>
                    </a:moveTo>
                    <a:lnTo>
                      <a:pt x="192" y="0"/>
                    </a:lnTo>
                    <a:lnTo>
                      <a:pt x="215" y="56"/>
                    </a:lnTo>
                    <a:lnTo>
                      <a:pt x="245" y="286"/>
                    </a:lnTo>
                    <a:lnTo>
                      <a:pt x="253" y="317"/>
                    </a:lnTo>
                    <a:lnTo>
                      <a:pt x="230" y="378"/>
                    </a:lnTo>
                    <a:lnTo>
                      <a:pt x="230" y="420"/>
                    </a:lnTo>
                    <a:lnTo>
                      <a:pt x="204" y="415"/>
                    </a:lnTo>
                    <a:lnTo>
                      <a:pt x="205" y="451"/>
                    </a:lnTo>
                    <a:lnTo>
                      <a:pt x="178" y="436"/>
                    </a:lnTo>
                    <a:lnTo>
                      <a:pt x="164" y="441"/>
                    </a:lnTo>
                    <a:lnTo>
                      <a:pt x="143" y="438"/>
                    </a:lnTo>
                    <a:lnTo>
                      <a:pt x="128" y="384"/>
                    </a:lnTo>
                    <a:lnTo>
                      <a:pt x="98" y="367"/>
                    </a:lnTo>
                    <a:lnTo>
                      <a:pt x="98" y="309"/>
                    </a:lnTo>
                    <a:lnTo>
                      <a:pt x="69" y="317"/>
                    </a:lnTo>
                    <a:lnTo>
                      <a:pt x="52" y="274"/>
                    </a:lnTo>
                    <a:lnTo>
                      <a:pt x="0" y="225"/>
                    </a:lnTo>
                    <a:lnTo>
                      <a:pt x="38" y="147"/>
                    </a:lnTo>
                    <a:lnTo>
                      <a:pt x="27" y="111"/>
                    </a:lnTo>
                    <a:lnTo>
                      <a:pt x="65" y="104"/>
                    </a:lnTo>
                    <a:lnTo>
                      <a:pt x="69" y="53"/>
                    </a:lnTo>
                    <a:lnTo>
                      <a:pt x="47" y="26"/>
                    </a:lnTo>
                    <a:close/>
                  </a:path>
                </a:pathLst>
              </a:custGeom>
              <a:grpFill/>
              <a:ln w="12700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87" name="Freeform 41"/>
              <p:cNvSpPr>
                <a:spLocks/>
              </p:cNvSpPr>
              <p:nvPr/>
            </p:nvSpPr>
            <p:spPr bwMode="gray">
              <a:xfrm>
                <a:off x="4206" y="1689"/>
                <a:ext cx="92" cy="196"/>
              </a:xfrm>
              <a:custGeom>
                <a:avLst/>
                <a:gdLst>
                  <a:gd name="T0" fmla="*/ 17 w 92"/>
                  <a:gd name="T1" fmla="*/ 2 h 196"/>
                  <a:gd name="T2" fmla="*/ 39 w 92"/>
                  <a:gd name="T3" fmla="*/ 0 h 196"/>
                  <a:gd name="T4" fmla="*/ 82 w 92"/>
                  <a:gd name="T5" fmla="*/ 30 h 196"/>
                  <a:gd name="T6" fmla="*/ 76 w 92"/>
                  <a:gd name="T7" fmla="*/ 53 h 196"/>
                  <a:gd name="T8" fmla="*/ 91 w 92"/>
                  <a:gd name="T9" fmla="*/ 69 h 196"/>
                  <a:gd name="T10" fmla="*/ 92 w 92"/>
                  <a:gd name="T11" fmla="*/ 160 h 196"/>
                  <a:gd name="T12" fmla="*/ 77 w 92"/>
                  <a:gd name="T13" fmla="*/ 196 h 196"/>
                  <a:gd name="T14" fmla="*/ 59 w 92"/>
                  <a:gd name="T15" fmla="*/ 183 h 196"/>
                  <a:gd name="T16" fmla="*/ 41 w 92"/>
                  <a:gd name="T17" fmla="*/ 182 h 196"/>
                  <a:gd name="T18" fmla="*/ 9 w 92"/>
                  <a:gd name="T19" fmla="*/ 163 h 196"/>
                  <a:gd name="T20" fmla="*/ 33 w 92"/>
                  <a:gd name="T21" fmla="*/ 105 h 196"/>
                  <a:gd name="T22" fmla="*/ 0 w 92"/>
                  <a:gd name="T23" fmla="*/ 75 h 196"/>
                  <a:gd name="T24" fmla="*/ 17 w 92"/>
                  <a:gd name="T25" fmla="*/ 2 h 19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92"/>
                  <a:gd name="T40" fmla="*/ 0 h 196"/>
                  <a:gd name="T41" fmla="*/ 92 w 92"/>
                  <a:gd name="T42" fmla="*/ 196 h 19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92" h="196">
                    <a:moveTo>
                      <a:pt x="17" y="2"/>
                    </a:moveTo>
                    <a:lnTo>
                      <a:pt x="39" y="0"/>
                    </a:lnTo>
                    <a:lnTo>
                      <a:pt x="82" y="30"/>
                    </a:lnTo>
                    <a:lnTo>
                      <a:pt x="76" y="53"/>
                    </a:lnTo>
                    <a:lnTo>
                      <a:pt x="91" y="69"/>
                    </a:lnTo>
                    <a:lnTo>
                      <a:pt x="92" y="160"/>
                    </a:lnTo>
                    <a:lnTo>
                      <a:pt x="77" y="196"/>
                    </a:lnTo>
                    <a:lnTo>
                      <a:pt x="59" y="183"/>
                    </a:lnTo>
                    <a:lnTo>
                      <a:pt x="41" y="182"/>
                    </a:lnTo>
                    <a:lnTo>
                      <a:pt x="9" y="163"/>
                    </a:lnTo>
                    <a:lnTo>
                      <a:pt x="33" y="105"/>
                    </a:lnTo>
                    <a:lnTo>
                      <a:pt x="0" y="75"/>
                    </a:lnTo>
                    <a:lnTo>
                      <a:pt x="17" y="2"/>
                    </a:lnTo>
                    <a:close/>
                  </a:path>
                </a:pathLst>
              </a:custGeom>
              <a:grpFill/>
              <a:ln w="12700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88" name="Freeform 42"/>
              <p:cNvSpPr>
                <a:spLocks/>
              </p:cNvSpPr>
              <p:nvPr/>
            </p:nvSpPr>
            <p:spPr bwMode="gray">
              <a:xfrm>
                <a:off x="4277" y="1604"/>
                <a:ext cx="113" cy="93"/>
              </a:xfrm>
              <a:custGeom>
                <a:avLst/>
                <a:gdLst>
                  <a:gd name="T0" fmla="*/ 0 w 113"/>
                  <a:gd name="T1" fmla="*/ 23 h 93"/>
                  <a:gd name="T2" fmla="*/ 87 w 113"/>
                  <a:gd name="T3" fmla="*/ 0 h 93"/>
                  <a:gd name="T4" fmla="*/ 113 w 113"/>
                  <a:gd name="T5" fmla="*/ 42 h 93"/>
                  <a:gd name="T6" fmla="*/ 98 w 113"/>
                  <a:gd name="T7" fmla="*/ 61 h 93"/>
                  <a:gd name="T8" fmla="*/ 70 w 113"/>
                  <a:gd name="T9" fmla="*/ 54 h 93"/>
                  <a:gd name="T10" fmla="*/ 28 w 113"/>
                  <a:gd name="T11" fmla="*/ 93 h 93"/>
                  <a:gd name="T12" fmla="*/ 5 w 113"/>
                  <a:gd name="T13" fmla="*/ 73 h 93"/>
                  <a:gd name="T14" fmla="*/ 0 w 113"/>
                  <a:gd name="T15" fmla="*/ 23 h 9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13"/>
                  <a:gd name="T25" fmla="*/ 0 h 93"/>
                  <a:gd name="T26" fmla="*/ 113 w 113"/>
                  <a:gd name="T27" fmla="*/ 93 h 93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13" h="93">
                    <a:moveTo>
                      <a:pt x="0" y="23"/>
                    </a:moveTo>
                    <a:lnTo>
                      <a:pt x="87" y="0"/>
                    </a:lnTo>
                    <a:lnTo>
                      <a:pt x="113" y="42"/>
                    </a:lnTo>
                    <a:lnTo>
                      <a:pt x="98" y="61"/>
                    </a:lnTo>
                    <a:lnTo>
                      <a:pt x="70" y="54"/>
                    </a:lnTo>
                    <a:lnTo>
                      <a:pt x="28" y="93"/>
                    </a:lnTo>
                    <a:lnTo>
                      <a:pt x="5" y="73"/>
                    </a:lnTo>
                    <a:lnTo>
                      <a:pt x="0" y="23"/>
                    </a:lnTo>
                    <a:close/>
                  </a:path>
                </a:pathLst>
              </a:custGeom>
              <a:grpFill/>
              <a:ln w="12700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89" name="Freeform 43"/>
              <p:cNvSpPr>
                <a:spLocks/>
              </p:cNvSpPr>
              <p:nvPr/>
            </p:nvSpPr>
            <p:spPr bwMode="gray">
              <a:xfrm>
                <a:off x="4364" y="1595"/>
                <a:ext cx="57" cy="51"/>
              </a:xfrm>
              <a:custGeom>
                <a:avLst/>
                <a:gdLst>
                  <a:gd name="T0" fmla="*/ 0 w 57"/>
                  <a:gd name="T1" fmla="*/ 9 h 51"/>
                  <a:gd name="T2" fmla="*/ 24 w 57"/>
                  <a:gd name="T3" fmla="*/ 0 h 51"/>
                  <a:gd name="T4" fmla="*/ 57 w 57"/>
                  <a:gd name="T5" fmla="*/ 26 h 51"/>
                  <a:gd name="T6" fmla="*/ 50 w 57"/>
                  <a:gd name="T7" fmla="*/ 33 h 51"/>
                  <a:gd name="T8" fmla="*/ 34 w 57"/>
                  <a:gd name="T9" fmla="*/ 33 h 51"/>
                  <a:gd name="T10" fmla="*/ 26 w 57"/>
                  <a:gd name="T11" fmla="*/ 51 h 51"/>
                  <a:gd name="T12" fmla="*/ 0 w 57"/>
                  <a:gd name="T13" fmla="*/ 9 h 5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7"/>
                  <a:gd name="T22" fmla="*/ 0 h 51"/>
                  <a:gd name="T23" fmla="*/ 57 w 57"/>
                  <a:gd name="T24" fmla="*/ 51 h 5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7" h="51">
                    <a:moveTo>
                      <a:pt x="0" y="9"/>
                    </a:moveTo>
                    <a:lnTo>
                      <a:pt x="24" y="0"/>
                    </a:lnTo>
                    <a:lnTo>
                      <a:pt x="57" y="26"/>
                    </a:lnTo>
                    <a:lnTo>
                      <a:pt x="50" y="33"/>
                    </a:lnTo>
                    <a:lnTo>
                      <a:pt x="34" y="33"/>
                    </a:lnTo>
                    <a:lnTo>
                      <a:pt x="26" y="51"/>
                    </a:lnTo>
                    <a:lnTo>
                      <a:pt x="0" y="9"/>
                    </a:lnTo>
                    <a:close/>
                  </a:path>
                </a:pathLst>
              </a:custGeom>
              <a:grpFill/>
              <a:ln w="12700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1562" name="Freeform 44"/>
            <p:cNvSpPr>
              <a:spLocks/>
            </p:cNvSpPr>
            <p:nvPr/>
          </p:nvSpPr>
          <p:spPr bwMode="gray">
            <a:xfrm>
              <a:off x="2030795" y="1914525"/>
              <a:ext cx="801377" cy="584200"/>
            </a:xfrm>
            <a:custGeom>
              <a:avLst/>
              <a:gdLst>
                <a:gd name="T0" fmla="*/ 134 w 389"/>
                <a:gd name="T1" fmla="*/ 0 h 307"/>
                <a:gd name="T2" fmla="*/ 245 w 389"/>
                <a:gd name="T3" fmla="*/ 24 h 307"/>
                <a:gd name="T4" fmla="*/ 328 w 389"/>
                <a:gd name="T5" fmla="*/ 39 h 307"/>
                <a:gd name="T6" fmla="*/ 369 w 389"/>
                <a:gd name="T7" fmla="*/ 46 h 307"/>
                <a:gd name="T8" fmla="*/ 411 w 389"/>
                <a:gd name="T9" fmla="*/ 51 h 307"/>
                <a:gd name="T10" fmla="*/ 466 w 389"/>
                <a:gd name="T11" fmla="*/ 59 h 307"/>
                <a:gd name="T12" fmla="*/ 535 w 389"/>
                <a:gd name="T13" fmla="*/ 68 h 307"/>
                <a:gd name="T14" fmla="*/ 489 w 389"/>
                <a:gd name="T15" fmla="*/ 307 h 307"/>
                <a:gd name="T16" fmla="*/ 282 w 389"/>
                <a:gd name="T17" fmla="*/ 273 h 307"/>
                <a:gd name="T18" fmla="*/ 255 w 389"/>
                <a:gd name="T19" fmla="*/ 288 h 307"/>
                <a:gd name="T20" fmla="*/ 216 w 389"/>
                <a:gd name="T21" fmla="*/ 265 h 307"/>
                <a:gd name="T22" fmla="*/ 184 w 389"/>
                <a:gd name="T23" fmla="*/ 288 h 307"/>
                <a:gd name="T24" fmla="*/ 154 w 389"/>
                <a:gd name="T25" fmla="*/ 268 h 307"/>
                <a:gd name="T26" fmla="*/ 68 w 389"/>
                <a:gd name="T27" fmla="*/ 265 h 307"/>
                <a:gd name="T28" fmla="*/ 81 w 389"/>
                <a:gd name="T29" fmla="*/ 226 h 307"/>
                <a:gd name="T30" fmla="*/ 18 w 389"/>
                <a:gd name="T31" fmla="*/ 222 h 307"/>
                <a:gd name="T32" fmla="*/ 13 w 389"/>
                <a:gd name="T33" fmla="*/ 200 h 307"/>
                <a:gd name="T34" fmla="*/ 25 w 389"/>
                <a:gd name="T35" fmla="*/ 177 h 307"/>
                <a:gd name="T36" fmla="*/ 11 w 389"/>
                <a:gd name="T37" fmla="*/ 155 h 307"/>
                <a:gd name="T38" fmla="*/ 12 w 389"/>
                <a:gd name="T39" fmla="*/ 96 h 307"/>
                <a:gd name="T40" fmla="*/ 0 w 389"/>
                <a:gd name="T41" fmla="*/ 50 h 307"/>
                <a:gd name="T42" fmla="*/ 5 w 389"/>
                <a:gd name="T43" fmla="*/ 32 h 307"/>
                <a:gd name="T44" fmla="*/ 34 w 389"/>
                <a:gd name="T45" fmla="*/ 39 h 307"/>
                <a:gd name="T46" fmla="*/ 63 w 389"/>
                <a:gd name="T47" fmla="*/ 66 h 307"/>
                <a:gd name="T48" fmla="*/ 115 w 389"/>
                <a:gd name="T49" fmla="*/ 72 h 307"/>
                <a:gd name="T50" fmla="*/ 129 w 389"/>
                <a:gd name="T51" fmla="*/ 94 h 307"/>
                <a:gd name="T52" fmla="*/ 103 w 389"/>
                <a:gd name="T53" fmla="*/ 94 h 307"/>
                <a:gd name="T54" fmla="*/ 100 w 389"/>
                <a:gd name="T55" fmla="*/ 113 h 307"/>
                <a:gd name="T56" fmla="*/ 115 w 389"/>
                <a:gd name="T57" fmla="*/ 115 h 307"/>
                <a:gd name="T58" fmla="*/ 120 w 389"/>
                <a:gd name="T59" fmla="*/ 134 h 307"/>
                <a:gd name="T60" fmla="*/ 89 w 389"/>
                <a:gd name="T61" fmla="*/ 148 h 307"/>
                <a:gd name="T62" fmla="*/ 89 w 389"/>
                <a:gd name="T63" fmla="*/ 161 h 307"/>
                <a:gd name="T64" fmla="*/ 124 w 389"/>
                <a:gd name="T65" fmla="*/ 161 h 307"/>
                <a:gd name="T66" fmla="*/ 134 w 389"/>
                <a:gd name="T67" fmla="*/ 128 h 307"/>
                <a:gd name="T68" fmla="*/ 162 w 389"/>
                <a:gd name="T69" fmla="*/ 108 h 307"/>
                <a:gd name="T70" fmla="*/ 129 w 389"/>
                <a:gd name="T71" fmla="*/ 57 h 307"/>
                <a:gd name="T72" fmla="*/ 150 w 389"/>
                <a:gd name="T73" fmla="*/ 40 h 307"/>
                <a:gd name="T74" fmla="*/ 134 w 389"/>
                <a:gd name="T75" fmla="*/ 0 h 307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389"/>
                <a:gd name="T115" fmla="*/ 0 h 307"/>
                <a:gd name="T116" fmla="*/ 389 w 389"/>
                <a:gd name="T117" fmla="*/ 307 h 307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389" h="307">
                  <a:moveTo>
                    <a:pt x="98" y="0"/>
                  </a:moveTo>
                  <a:lnTo>
                    <a:pt x="178" y="24"/>
                  </a:lnTo>
                  <a:lnTo>
                    <a:pt x="239" y="39"/>
                  </a:lnTo>
                  <a:lnTo>
                    <a:pt x="269" y="46"/>
                  </a:lnTo>
                  <a:lnTo>
                    <a:pt x="299" y="51"/>
                  </a:lnTo>
                  <a:lnTo>
                    <a:pt x="340" y="59"/>
                  </a:lnTo>
                  <a:lnTo>
                    <a:pt x="389" y="68"/>
                  </a:lnTo>
                  <a:lnTo>
                    <a:pt x="357" y="307"/>
                  </a:lnTo>
                  <a:lnTo>
                    <a:pt x="206" y="273"/>
                  </a:lnTo>
                  <a:lnTo>
                    <a:pt x="186" y="288"/>
                  </a:lnTo>
                  <a:lnTo>
                    <a:pt x="158" y="265"/>
                  </a:lnTo>
                  <a:lnTo>
                    <a:pt x="134" y="288"/>
                  </a:lnTo>
                  <a:lnTo>
                    <a:pt x="112" y="268"/>
                  </a:lnTo>
                  <a:lnTo>
                    <a:pt x="50" y="265"/>
                  </a:lnTo>
                  <a:lnTo>
                    <a:pt x="59" y="226"/>
                  </a:lnTo>
                  <a:lnTo>
                    <a:pt x="14" y="222"/>
                  </a:lnTo>
                  <a:lnTo>
                    <a:pt x="9" y="200"/>
                  </a:lnTo>
                  <a:lnTo>
                    <a:pt x="18" y="177"/>
                  </a:lnTo>
                  <a:lnTo>
                    <a:pt x="7" y="155"/>
                  </a:lnTo>
                  <a:lnTo>
                    <a:pt x="8" y="96"/>
                  </a:lnTo>
                  <a:lnTo>
                    <a:pt x="0" y="50"/>
                  </a:lnTo>
                  <a:lnTo>
                    <a:pt x="5" y="32"/>
                  </a:lnTo>
                  <a:lnTo>
                    <a:pt x="25" y="39"/>
                  </a:lnTo>
                  <a:lnTo>
                    <a:pt x="46" y="66"/>
                  </a:lnTo>
                  <a:lnTo>
                    <a:pt x="84" y="72"/>
                  </a:lnTo>
                  <a:lnTo>
                    <a:pt x="94" y="94"/>
                  </a:lnTo>
                  <a:lnTo>
                    <a:pt x="75" y="94"/>
                  </a:lnTo>
                  <a:lnTo>
                    <a:pt x="73" y="113"/>
                  </a:lnTo>
                  <a:lnTo>
                    <a:pt x="84" y="115"/>
                  </a:lnTo>
                  <a:lnTo>
                    <a:pt x="88" y="134"/>
                  </a:lnTo>
                  <a:lnTo>
                    <a:pt x="65" y="148"/>
                  </a:lnTo>
                  <a:lnTo>
                    <a:pt x="65" y="161"/>
                  </a:lnTo>
                  <a:lnTo>
                    <a:pt x="91" y="161"/>
                  </a:lnTo>
                  <a:lnTo>
                    <a:pt x="98" y="128"/>
                  </a:lnTo>
                  <a:lnTo>
                    <a:pt x="118" y="108"/>
                  </a:lnTo>
                  <a:lnTo>
                    <a:pt x="94" y="57"/>
                  </a:lnTo>
                  <a:lnTo>
                    <a:pt x="109" y="40"/>
                  </a:lnTo>
                  <a:lnTo>
                    <a:pt x="98" y="0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63" name="Freeform 45"/>
            <p:cNvSpPr>
              <a:spLocks/>
            </p:cNvSpPr>
            <p:nvPr/>
          </p:nvSpPr>
          <p:spPr bwMode="gray">
            <a:xfrm>
              <a:off x="1839908" y="2336800"/>
              <a:ext cx="1002582" cy="760413"/>
            </a:xfrm>
            <a:custGeom>
              <a:avLst/>
              <a:gdLst>
                <a:gd name="T0" fmla="*/ 147 w 485"/>
                <a:gd name="T1" fmla="*/ 0 h 399"/>
                <a:gd name="T2" fmla="*/ 127 w 485"/>
                <a:gd name="T3" fmla="*/ 9 h 399"/>
                <a:gd name="T4" fmla="*/ 115 w 485"/>
                <a:gd name="T5" fmla="*/ 44 h 399"/>
                <a:gd name="T6" fmla="*/ 102 w 485"/>
                <a:gd name="T7" fmla="*/ 73 h 399"/>
                <a:gd name="T8" fmla="*/ 94 w 485"/>
                <a:gd name="T9" fmla="*/ 97 h 399"/>
                <a:gd name="T10" fmla="*/ 81 w 485"/>
                <a:gd name="T11" fmla="*/ 123 h 399"/>
                <a:gd name="T12" fmla="*/ 67 w 485"/>
                <a:gd name="T13" fmla="*/ 149 h 399"/>
                <a:gd name="T14" fmla="*/ 50 w 485"/>
                <a:gd name="T15" fmla="*/ 177 h 399"/>
                <a:gd name="T16" fmla="*/ 26 w 485"/>
                <a:gd name="T17" fmla="*/ 210 h 399"/>
                <a:gd name="T18" fmla="*/ 0 w 485"/>
                <a:gd name="T19" fmla="*/ 241 h 399"/>
                <a:gd name="T20" fmla="*/ 0 w 485"/>
                <a:gd name="T21" fmla="*/ 311 h 399"/>
                <a:gd name="T22" fmla="*/ 376 w 485"/>
                <a:gd name="T23" fmla="*/ 371 h 399"/>
                <a:gd name="T24" fmla="*/ 552 w 485"/>
                <a:gd name="T25" fmla="*/ 399 h 399"/>
                <a:gd name="T26" fmla="*/ 587 w 485"/>
                <a:gd name="T27" fmla="*/ 260 h 399"/>
                <a:gd name="T28" fmla="*/ 610 w 485"/>
                <a:gd name="T29" fmla="*/ 249 h 399"/>
                <a:gd name="T30" fmla="*/ 588 w 485"/>
                <a:gd name="T31" fmla="*/ 218 h 399"/>
                <a:gd name="T32" fmla="*/ 600 w 485"/>
                <a:gd name="T33" fmla="*/ 186 h 399"/>
                <a:gd name="T34" fmla="*/ 670 w 485"/>
                <a:gd name="T35" fmla="*/ 133 h 399"/>
                <a:gd name="T36" fmla="*/ 621 w 485"/>
                <a:gd name="T37" fmla="*/ 85 h 399"/>
                <a:gd name="T38" fmla="*/ 412 w 485"/>
                <a:gd name="T39" fmla="*/ 51 h 399"/>
                <a:gd name="T40" fmla="*/ 386 w 485"/>
                <a:gd name="T41" fmla="*/ 65 h 399"/>
                <a:gd name="T42" fmla="*/ 346 w 485"/>
                <a:gd name="T43" fmla="*/ 42 h 399"/>
                <a:gd name="T44" fmla="*/ 312 w 485"/>
                <a:gd name="T45" fmla="*/ 66 h 399"/>
                <a:gd name="T46" fmla="*/ 281 w 485"/>
                <a:gd name="T47" fmla="*/ 42 h 399"/>
                <a:gd name="T48" fmla="*/ 197 w 485"/>
                <a:gd name="T49" fmla="*/ 43 h 399"/>
                <a:gd name="T50" fmla="*/ 209 w 485"/>
                <a:gd name="T51" fmla="*/ 4 h 399"/>
                <a:gd name="T52" fmla="*/ 147 w 485"/>
                <a:gd name="T53" fmla="*/ 0 h 399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485"/>
                <a:gd name="T82" fmla="*/ 0 h 399"/>
                <a:gd name="T83" fmla="*/ 485 w 485"/>
                <a:gd name="T84" fmla="*/ 399 h 399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485" h="399">
                  <a:moveTo>
                    <a:pt x="106" y="0"/>
                  </a:moveTo>
                  <a:lnTo>
                    <a:pt x="92" y="9"/>
                  </a:lnTo>
                  <a:lnTo>
                    <a:pt x="83" y="44"/>
                  </a:lnTo>
                  <a:lnTo>
                    <a:pt x="74" y="73"/>
                  </a:lnTo>
                  <a:lnTo>
                    <a:pt x="68" y="97"/>
                  </a:lnTo>
                  <a:lnTo>
                    <a:pt x="59" y="123"/>
                  </a:lnTo>
                  <a:lnTo>
                    <a:pt x="49" y="149"/>
                  </a:lnTo>
                  <a:lnTo>
                    <a:pt x="36" y="177"/>
                  </a:lnTo>
                  <a:lnTo>
                    <a:pt x="18" y="210"/>
                  </a:lnTo>
                  <a:lnTo>
                    <a:pt x="0" y="241"/>
                  </a:lnTo>
                  <a:lnTo>
                    <a:pt x="0" y="311"/>
                  </a:lnTo>
                  <a:lnTo>
                    <a:pt x="272" y="371"/>
                  </a:lnTo>
                  <a:lnTo>
                    <a:pt x="398" y="399"/>
                  </a:lnTo>
                  <a:lnTo>
                    <a:pt x="424" y="260"/>
                  </a:lnTo>
                  <a:lnTo>
                    <a:pt x="441" y="249"/>
                  </a:lnTo>
                  <a:lnTo>
                    <a:pt x="425" y="218"/>
                  </a:lnTo>
                  <a:lnTo>
                    <a:pt x="433" y="186"/>
                  </a:lnTo>
                  <a:lnTo>
                    <a:pt x="485" y="133"/>
                  </a:lnTo>
                  <a:lnTo>
                    <a:pt x="449" y="85"/>
                  </a:lnTo>
                  <a:lnTo>
                    <a:pt x="298" y="51"/>
                  </a:lnTo>
                  <a:lnTo>
                    <a:pt x="278" y="65"/>
                  </a:lnTo>
                  <a:lnTo>
                    <a:pt x="250" y="42"/>
                  </a:lnTo>
                  <a:lnTo>
                    <a:pt x="226" y="66"/>
                  </a:lnTo>
                  <a:lnTo>
                    <a:pt x="203" y="42"/>
                  </a:lnTo>
                  <a:lnTo>
                    <a:pt x="143" y="43"/>
                  </a:lnTo>
                  <a:lnTo>
                    <a:pt x="151" y="4"/>
                  </a:lnTo>
                  <a:lnTo>
                    <a:pt x="106" y="0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64" name="Freeform 46"/>
            <p:cNvSpPr>
              <a:spLocks/>
            </p:cNvSpPr>
            <p:nvPr/>
          </p:nvSpPr>
          <p:spPr bwMode="gray">
            <a:xfrm>
              <a:off x="1757363" y="2925763"/>
              <a:ext cx="1057612" cy="1619250"/>
            </a:xfrm>
            <a:custGeom>
              <a:avLst/>
              <a:gdLst>
                <a:gd name="T0" fmla="*/ 55 w 512"/>
                <a:gd name="T1" fmla="*/ 0 h 850"/>
                <a:gd name="T2" fmla="*/ 379 w 512"/>
                <a:gd name="T3" fmla="*/ 50 h 850"/>
                <a:gd name="T4" fmla="*/ 308 w 512"/>
                <a:gd name="T5" fmla="*/ 300 h 850"/>
                <a:gd name="T6" fmla="*/ 673 w 512"/>
                <a:gd name="T7" fmla="*/ 681 h 850"/>
                <a:gd name="T8" fmla="*/ 708 w 512"/>
                <a:gd name="T9" fmla="*/ 730 h 850"/>
                <a:gd name="T10" fmla="*/ 672 w 512"/>
                <a:gd name="T11" fmla="*/ 753 h 850"/>
                <a:gd name="T12" fmla="*/ 651 w 512"/>
                <a:gd name="T13" fmla="*/ 795 h 850"/>
                <a:gd name="T14" fmla="*/ 628 w 512"/>
                <a:gd name="T15" fmla="*/ 820 h 850"/>
                <a:gd name="T16" fmla="*/ 653 w 512"/>
                <a:gd name="T17" fmla="*/ 842 h 850"/>
                <a:gd name="T18" fmla="*/ 612 w 512"/>
                <a:gd name="T19" fmla="*/ 850 h 850"/>
                <a:gd name="T20" fmla="*/ 398 w 512"/>
                <a:gd name="T21" fmla="*/ 844 h 850"/>
                <a:gd name="T22" fmla="*/ 384 w 512"/>
                <a:gd name="T23" fmla="*/ 794 h 850"/>
                <a:gd name="T24" fmla="*/ 348 w 512"/>
                <a:gd name="T25" fmla="*/ 758 h 850"/>
                <a:gd name="T26" fmla="*/ 320 w 512"/>
                <a:gd name="T27" fmla="*/ 745 h 850"/>
                <a:gd name="T28" fmla="*/ 313 w 512"/>
                <a:gd name="T29" fmla="*/ 719 h 850"/>
                <a:gd name="T30" fmla="*/ 291 w 512"/>
                <a:gd name="T31" fmla="*/ 705 h 850"/>
                <a:gd name="T32" fmla="*/ 268 w 512"/>
                <a:gd name="T33" fmla="*/ 687 h 850"/>
                <a:gd name="T34" fmla="*/ 260 w 512"/>
                <a:gd name="T35" fmla="*/ 667 h 850"/>
                <a:gd name="T36" fmla="*/ 240 w 512"/>
                <a:gd name="T37" fmla="*/ 654 h 850"/>
                <a:gd name="T38" fmla="*/ 207 w 512"/>
                <a:gd name="T39" fmla="*/ 661 h 850"/>
                <a:gd name="T40" fmla="*/ 168 w 512"/>
                <a:gd name="T41" fmla="*/ 651 h 850"/>
                <a:gd name="T42" fmla="*/ 168 w 512"/>
                <a:gd name="T43" fmla="*/ 640 h 850"/>
                <a:gd name="T44" fmla="*/ 167 w 512"/>
                <a:gd name="T45" fmla="*/ 617 h 850"/>
                <a:gd name="T46" fmla="*/ 152 w 512"/>
                <a:gd name="T47" fmla="*/ 591 h 850"/>
                <a:gd name="T48" fmla="*/ 151 w 512"/>
                <a:gd name="T49" fmla="*/ 570 h 850"/>
                <a:gd name="T50" fmla="*/ 134 w 512"/>
                <a:gd name="T51" fmla="*/ 551 h 850"/>
                <a:gd name="T52" fmla="*/ 138 w 512"/>
                <a:gd name="T53" fmla="*/ 533 h 850"/>
                <a:gd name="T54" fmla="*/ 92 w 512"/>
                <a:gd name="T55" fmla="*/ 490 h 850"/>
                <a:gd name="T56" fmla="*/ 92 w 512"/>
                <a:gd name="T57" fmla="*/ 465 h 850"/>
                <a:gd name="T58" fmla="*/ 115 w 512"/>
                <a:gd name="T59" fmla="*/ 456 h 850"/>
                <a:gd name="T60" fmla="*/ 115 w 512"/>
                <a:gd name="T61" fmla="*/ 440 h 850"/>
                <a:gd name="T62" fmla="*/ 92 w 512"/>
                <a:gd name="T63" fmla="*/ 436 h 850"/>
                <a:gd name="T64" fmla="*/ 80 w 512"/>
                <a:gd name="T65" fmla="*/ 412 h 850"/>
                <a:gd name="T66" fmla="*/ 69 w 512"/>
                <a:gd name="T67" fmla="*/ 371 h 850"/>
                <a:gd name="T68" fmla="*/ 103 w 512"/>
                <a:gd name="T69" fmla="*/ 393 h 850"/>
                <a:gd name="T70" fmla="*/ 89 w 512"/>
                <a:gd name="T71" fmla="*/ 364 h 850"/>
                <a:gd name="T72" fmla="*/ 115 w 512"/>
                <a:gd name="T73" fmla="*/ 364 h 850"/>
                <a:gd name="T74" fmla="*/ 115 w 512"/>
                <a:gd name="T75" fmla="*/ 343 h 850"/>
                <a:gd name="T76" fmla="*/ 89 w 512"/>
                <a:gd name="T77" fmla="*/ 329 h 850"/>
                <a:gd name="T78" fmla="*/ 78 w 512"/>
                <a:gd name="T79" fmla="*/ 349 h 850"/>
                <a:gd name="T80" fmla="*/ 55 w 512"/>
                <a:gd name="T81" fmla="*/ 342 h 850"/>
                <a:gd name="T82" fmla="*/ 11 w 512"/>
                <a:gd name="T83" fmla="*/ 246 h 850"/>
                <a:gd name="T84" fmla="*/ 22 w 512"/>
                <a:gd name="T85" fmla="*/ 178 h 850"/>
                <a:gd name="T86" fmla="*/ 0 w 512"/>
                <a:gd name="T87" fmla="*/ 139 h 850"/>
                <a:gd name="T88" fmla="*/ 12 w 512"/>
                <a:gd name="T89" fmla="*/ 110 h 850"/>
                <a:gd name="T90" fmla="*/ 33 w 512"/>
                <a:gd name="T91" fmla="*/ 104 h 850"/>
                <a:gd name="T92" fmla="*/ 55 w 512"/>
                <a:gd name="T93" fmla="*/ 57 h 850"/>
                <a:gd name="T94" fmla="*/ 55 w 512"/>
                <a:gd name="T95" fmla="*/ 0 h 85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512"/>
                <a:gd name="T145" fmla="*/ 0 h 850"/>
                <a:gd name="T146" fmla="*/ 512 w 512"/>
                <a:gd name="T147" fmla="*/ 850 h 85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512" h="850">
                  <a:moveTo>
                    <a:pt x="40" y="0"/>
                  </a:moveTo>
                  <a:lnTo>
                    <a:pt x="275" y="50"/>
                  </a:lnTo>
                  <a:lnTo>
                    <a:pt x="223" y="300"/>
                  </a:lnTo>
                  <a:lnTo>
                    <a:pt x="488" y="681"/>
                  </a:lnTo>
                  <a:lnTo>
                    <a:pt x="512" y="730"/>
                  </a:lnTo>
                  <a:lnTo>
                    <a:pt x="487" y="753"/>
                  </a:lnTo>
                  <a:lnTo>
                    <a:pt x="471" y="795"/>
                  </a:lnTo>
                  <a:lnTo>
                    <a:pt x="455" y="820"/>
                  </a:lnTo>
                  <a:lnTo>
                    <a:pt x="472" y="842"/>
                  </a:lnTo>
                  <a:lnTo>
                    <a:pt x="444" y="850"/>
                  </a:lnTo>
                  <a:lnTo>
                    <a:pt x="289" y="844"/>
                  </a:lnTo>
                  <a:lnTo>
                    <a:pt x="279" y="794"/>
                  </a:lnTo>
                  <a:lnTo>
                    <a:pt x="252" y="758"/>
                  </a:lnTo>
                  <a:lnTo>
                    <a:pt x="232" y="745"/>
                  </a:lnTo>
                  <a:lnTo>
                    <a:pt x="227" y="719"/>
                  </a:lnTo>
                  <a:lnTo>
                    <a:pt x="210" y="705"/>
                  </a:lnTo>
                  <a:lnTo>
                    <a:pt x="194" y="687"/>
                  </a:lnTo>
                  <a:lnTo>
                    <a:pt x="188" y="667"/>
                  </a:lnTo>
                  <a:lnTo>
                    <a:pt x="173" y="654"/>
                  </a:lnTo>
                  <a:lnTo>
                    <a:pt x="149" y="661"/>
                  </a:lnTo>
                  <a:lnTo>
                    <a:pt x="122" y="651"/>
                  </a:lnTo>
                  <a:lnTo>
                    <a:pt x="122" y="640"/>
                  </a:lnTo>
                  <a:lnTo>
                    <a:pt x="121" y="617"/>
                  </a:lnTo>
                  <a:lnTo>
                    <a:pt x="110" y="591"/>
                  </a:lnTo>
                  <a:lnTo>
                    <a:pt x="109" y="570"/>
                  </a:lnTo>
                  <a:lnTo>
                    <a:pt x="97" y="551"/>
                  </a:lnTo>
                  <a:lnTo>
                    <a:pt x="100" y="533"/>
                  </a:lnTo>
                  <a:lnTo>
                    <a:pt x="66" y="490"/>
                  </a:lnTo>
                  <a:lnTo>
                    <a:pt x="66" y="465"/>
                  </a:lnTo>
                  <a:lnTo>
                    <a:pt x="83" y="456"/>
                  </a:lnTo>
                  <a:lnTo>
                    <a:pt x="83" y="440"/>
                  </a:lnTo>
                  <a:lnTo>
                    <a:pt x="66" y="436"/>
                  </a:lnTo>
                  <a:lnTo>
                    <a:pt x="58" y="412"/>
                  </a:lnTo>
                  <a:lnTo>
                    <a:pt x="50" y="371"/>
                  </a:lnTo>
                  <a:lnTo>
                    <a:pt x="75" y="393"/>
                  </a:lnTo>
                  <a:lnTo>
                    <a:pt x="65" y="364"/>
                  </a:lnTo>
                  <a:lnTo>
                    <a:pt x="83" y="364"/>
                  </a:lnTo>
                  <a:lnTo>
                    <a:pt x="83" y="343"/>
                  </a:lnTo>
                  <a:lnTo>
                    <a:pt x="65" y="329"/>
                  </a:lnTo>
                  <a:lnTo>
                    <a:pt x="56" y="349"/>
                  </a:lnTo>
                  <a:lnTo>
                    <a:pt x="40" y="342"/>
                  </a:lnTo>
                  <a:lnTo>
                    <a:pt x="7" y="246"/>
                  </a:lnTo>
                  <a:lnTo>
                    <a:pt x="16" y="178"/>
                  </a:lnTo>
                  <a:lnTo>
                    <a:pt x="0" y="139"/>
                  </a:lnTo>
                  <a:lnTo>
                    <a:pt x="8" y="110"/>
                  </a:lnTo>
                  <a:lnTo>
                    <a:pt x="24" y="104"/>
                  </a:lnTo>
                  <a:lnTo>
                    <a:pt x="40" y="57"/>
                  </a:lnTo>
                  <a:lnTo>
                    <a:pt x="40" y="0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65" name="Freeform 47"/>
            <p:cNvSpPr>
              <a:spLocks/>
            </p:cNvSpPr>
            <p:nvPr/>
          </p:nvSpPr>
          <p:spPr bwMode="gray">
            <a:xfrm>
              <a:off x="2658483" y="2041525"/>
              <a:ext cx="722272" cy="1158875"/>
            </a:xfrm>
            <a:custGeom>
              <a:avLst/>
              <a:gdLst>
                <a:gd name="T0" fmla="*/ 117 w 349"/>
                <a:gd name="T1" fmla="*/ 0 h 608"/>
                <a:gd name="T2" fmla="*/ 72 w 349"/>
                <a:gd name="T3" fmla="*/ 238 h 608"/>
                <a:gd name="T4" fmla="*/ 118 w 349"/>
                <a:gd name="T5" fmla="*/ 288 h 608"/>
                <a:gd name="T6" fmla="*/ 47 w 349"/>
                <a:gd name="T7" fmla="*/ 341 h 608"/>
                <a:gd name="T8" fmla="*/ 37 w 349"/>
                <a:gd name="T9" fmla="*/ 378 h 608"/>
                <a:gd name="T10" fmla="*/ 58 w 349"/>
                <a:gd name="T11" fmla="*/ 404 h 608"/>
                <a:gd name="T12" fmla="*/ 37 w 349"/>
                <a:gd name="T13" fmla="*/ 416 h 608"/>
                <a:gd name="T14" fmla="*/ 0 w 349"/>
                <a:gd name="T15" fmla="*/ 554 h 608"/>
                <a:gd name="T16" fmla="*/ 230 w 349"/>
                <a:gd name="T17" fmla="*/ 586 h 608"/>
                <a:gd name="T18" fmla="*/ 451 w 349"/>
                <a:gd name="T19" fmla="*/ 608 h 608"/>
                <a:gd name="T20" fmla="*/ 472 w 349"/>
                <a:gd name="T21" fmla="*/ 482 h 608"/>
                <a:gd name="T22" fmla="*/ 485 w 349"/>
                <a:gd name="T23" fmla="*/ 413 h 608"/>
                <a:gd name="T24" fmla="*/ 464 w 349"/>
                <a:gd name="T25" fmla="*/ 388 h 608"/>
                <a:gd name="T26" fmla="*/ 414 w 349"/>
                <a:gd name="T27" fmla="*/ 395 h 608"/>
                <a:gd name="T28" fmla="*/ 346 w 349"/>
                <a:gd name="T29" fmla="*/ 401 h 608"/>
                <a:gd name="T30" fmla="*/ 338 w 349"/>
                <a:gd name="T31" fmla="*/ 345 h 608"/>
                <a:gd name="T32" fmla="*/ 257 w 349"/>
                <a:gd name="T33" fmla="*/ 299 h 608"/>
                <a:gd name="T34" fmla="*/ 268 w 349"/>
                <a:gd name="T35" fmla="*/ 270 h 608"/>
                <a:gd name="T36" fmla="*/ 275 w 349"/>
                <a:gd name="T37" fmla="*/ 218 h 608"/>
                <a:gd name="T38" fmla="*/ 175 w 349"/>
                <a:gd name="T39" fmla="*/ 106 h 608"/>
                <a:gd name="T40" fmla="*/ 188 w 349"/>
                <a:gd name="T41" fmla="*/ 7 h 608"/>
                <a:gd name="T42" fmla="*/ 117 w 349"/>
                <a:gd name="T43" fmla="*/ 0 h 608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349"/>
                <a:gd name="T67" fmla="*/ 0 h 608"/>
                <a:gd name="T68" fmla="*/ 349 w 349"/>
                <a:gd name="T69" fmla="*/ 608 h 608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349" h="608">
                  <a:moveTo>
                    <a:pt x="84" y="0"/>
                  </a:moveTo>
                  <a:lnTo>
                    <a:pt x="52" y="238"/>
                  </a:lnTo>
                  <a:lnTo>
                    <a:pt x="85" y="288"/>
                  </a:lnTo>
                  <a:lnTo>
                    <a:pt x="34" y="341"/>
                  </a:lnTo>
                  <a:lnTo>
                    <a:pt x="27" y="378"/>
                  </a:lnTo>
                  <a:lnTo>
                    <a:pt x="41" y="404"/>
                  </a:lnTo>
                  <a:lnTo>
                    <a:pt x="27" y="416"/>
                  </a:lnTo>
                  <a:lnTo>
                    <a:pt x="0" y="554"/>
                  </a:lnTo>
                  <a:lnTo>
                    <a:pt x="166" y="586"/>
                  </a:lnTo>
                  <a:lnTo>
                    <a:pt x="324" y="608"/>
                  </a:lnTo>
                  <a:lnTo>
                    <a:pt x="340" y="482"/>
                  </a:lnTo>
                  <a:lnTo>
                    <a:pt x="349" y="413"/>
                  </a:lnTo>
                  <a:lnTo>
                    <a:pt x="333" y="388"/>
                  </a:lnTo>
                  <a:lnTo>
                    <a:pt x="297" y="395"/>
                  </a:lnTo>
                  <a:lnTo>
                    <a:pt x="250" y="401"/>
                  </a:lnTo>
                  <a:lnTo>
                    <a:pt x="242" y="345"/>
                  </a:lnTo>
                  <a:lnTo>
                    <a:pt x="185" y="299"/>
                  </a:lnTo>
                  <a:lnTo>
                    <a:pt x="192" y="270"/>
                  </a:lnTo>
                  <a:lnTo>
                    <a:pt x="198" y="218"/>
                  </a:lnTo>
                  <a:lnTo>
                    <a:pt x="125" y="106"/>
                  </a:lnTo>
                  <a:lnTo>
                    <a:pt x="134" y="7"/>
                  </a:lnTo>
                  <a:lnTo>
                    <a:pt x="84" y="0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66" name="Freeform 48"/>
            <p:cNvSpPr>
              <a:spLocks/>
            </p:cNvSpPr>
            <p:nvPr/>
          </p:nvSpPr>
          <p:spPr bwMode="gray">
            <a:xfrm>
              <a:off x="5698902" y="4259263"/>
              <a:ext cx="433363" cy="750887"/>
            </a:xfrm>
            <a:custGeom>
              <a:avLst/>
              <a:gdLst>
                <a:gd name="T0" fmla="*/ 81 w 210"/>
                <a:gd name="T1" fmla="*/ 13 h 394"/>
                <a:gd name="T2" fmla="*/ 37 w 210"/>
                <a:gd name="T3" fmla="*/ 80 h 394"/>
                <a:gd name="T4" fmla="*/ 0 w 210"/>
                <a:gd name="T5" fmla="*/ 124 h 394"/>
                <a:gd name="T6" fmla="*/ 13 w 210"/>
                <a:gd name="T7" fmla="*/ 175 h 394"/>
                <a:gd name="T8" fmla="*/ 57 w 210"/>
                <a:gd name="T9" fmla="*/ 246 h 394"/>
                <a:gd name="T10" fmla="*/ 23 w 210"/>
                <a:gd name="T11" fmla="*/ 318 h 394"/>
                <a:gd name="T12" fmla="*/ 6 w 210"/>
                <a:gd name="T13" fmla="*/ 355 h 394"/>
                <a:gd name="T14" fmla="*/ 174 w 210"/>
                <a:gd name="T15" fmla="*/ 340 h 394"/>
                <a:gd name="T16" fmla="*/ 184 w 210"/>
                <a:gd name="T17" fmla="*/ 388 h 394"/>
                <a:gd name="T18" fmla="*/ 217 w 210"/>
                <a:gd name="T19" fmla="*/ 394 h 394"/>
                <a:gd name="T20" fmla="*/ 225 w 210"/>
                <a:gd name="T21" fmla="*/ 369 h 394"/>
                <a:gd name="T22" fmla="*/ 286 w 210"/>
                <a:gd name="T23" fmla="*/ 362 h 394"/>
                <a:gd name="T24" fmla="*/ 272 w 210"/>
                <a:gd name="T25" fmla="*/ 282 h 394"/>
                <a:gd name="T26" fmla="*/ 270 w 210"/>
                <a:gd name="T27" fmla="*/ 0 h 394"/>
                <a:gd name="T28" fmla="*/ 81 w 210"/>
                <a:gd name="T29" fmla="*/ 13 h 39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10"/>
                <a:gd name="T46" fmla="*/ 0 h 394"/>
                <a:gd name="T47" fmla="*/ 210 w 210"/>
                <a:gd name="T48" fmla="*/ 394 h 39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10" h="394">
                  <a:moveTo>
                    <a:pt x="59" y="13"/>
                  </a:moveTo>
                  <a:lnTo>
                    <a:pt x="27" y="80"/>
                  </a:lnTo>
                  <a:lnTo>
                    <a:pt x="0" y="124"/>
                  </a:lnTo>
                  <a:lnTo>
                    <a:pt x="9" y="175"/>
                  </a:lnTo>
                  <a:lnTo>
                    <a:pt x="42" y="246"/>
                  </a:lnTo>
                  <a:lnTo>
                    <a:pt x="17" y="318"/>
                  </a:lnTo>
                  <a:lnTo>
                    <a:pt x="6" y="355"/>
                  </a:lnTo>
                  <a:lnTo>
                    <a:pt x="128" y="340"/>
                  </a:lnTo>
                  <a:lnTo>
                    <a:pt x="134" y="388"/>
                  </a:lnTo>
                  <a:lnTo>
                    <a:pt x="159" y="394"/>
                  </a:lnTo>
                  <a:lnTo>
                    <a:pt x="165" y="369"/>
                  </a:lnTo>
                  <a:lnTo>
                    <a:pt x="210" y="362"/>
                  </a:lnTo>
                  <a:lnTo>
                    <a:pt x="200" y="282"/>
                  </a:lnTo>
                  <a:lnTo>
                    <a:pt x="198" y="0"/>
                  </a:lnTo>
                  <a:lnTo>
                    <a:pt x="59" y="13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67" name="Freeform 49"/>
            <p:cNvSpPr>
              <a:spLocks/>
            </p:cNvSpPr>
            <p:nvPr/>
          </p:nvSpPr>
          <p:spPr bwMode="gray">
            <a:xfrm>
              <a:off x="6104750" y="4222750"/>
              <a:ext cx="490113" cy="758825"/>
            </a:xfrm>
            <a:custGeom>
              <a:avLst/>
              <a:gdLst>
                <a:gd name="T0" fmla="*/ 0 w 237"/>
                <a:gd name="T1" fmla="*/ 20 h 398"/>
                <a:gd name="T2" fmla="*/ 213 w 237"/>
                <a:gd name="T3" fmla="*/ 0 h 398"/>
                <a:gd name="T4" fmla="*/ 281 w 237"/>
                <a:gd name="T5" fmla="*/ 184 h 398"/>
                <a:gd name="T6" fmla="*/ 329 w 237"/>
                <a:gd name="T7" fmla="*/ 213 h 398"/>
                <a:gd name="T8" fmla="*/ 291 w 237"/>
                <a:gd name="T9" fmla="*/ 267 h 398"/>
                <a:gd name="T10" fmla="*/ 326 w 237"/>
                <a:gd name="T11" fmla="*/ 319 h 398"/>
                <a:gd name="T12" fmla="*/ 110 w 237"/>
                <a:gd name="T13" fmla="*/ 338 h 398"/>
                <a:gd name="T14" fmla="*/ 117 w 237"/>
                <a:gd name="T15" fmla="*/ 383 h 398"/>
                <a:gd name="T16" fmla="*/ 86 w 237"/>
                <a:gd name="T17" fmla="*/ 398 h 398"/>
                <a:gd name="T18" fmla="*/ 61 w 237"/>
                <a:gd name="T19" fmla="*/ 341 h 398"/>
                <a:gd name="T20" fmla="*/ 46 w 237"/>
                <a:gd name="T21" fmla="*/ 387 h 398"/>
                <a:gd name="T22" fmla="*/ 17 w 237"/>
                <a:gd name="T23" fmla="*/ 383 h 398"/>
                <a:gd name="T24" fmla="*/ 11 w 237"/>
                <a:gd name="T25" fmla="*/ 337 h 398"/>
                <a:gd name="T26" fmla="*/ 1 w 237"/>
                <a:gd name="T27" fmla="*/ 297 h 398"/>
                <a:gd name="T28" fmla="*/ 0 w 237"/>
                <a:gd name="T29" fmla="*/ 20 h 39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37"/>
                <a:gd name="T46" fmla="*/ 0 h 398"/>
                <a:gd name="T47" fmla="*/ 237 w 237"/>
                <a:gd name="T48" fmla="*/ 398 h 398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37" h="398">
                  <a:moveTo>
                    <a:pt x="0" y="20"/>
                  </a:moveTo>
                  <a:lnTo>
                    <a:pt x="154" y="0"/>
                  </a:lnTo>
                  <a:lnTo>
                    <a:pt x="203" y="184"/>
                  </a:lnTo>
                  <a:lnTo>
                    <a:pt x="237" y="213"/>
                  </a:lnTo>
                  <a:lnTo>
                    <a:pt x="210" y="267"/>
                  </a:lnTo>
                  <a:lnTo>
                    <a:pt x="236" y="319"/>
                  </a:lnTo>
                  <a:lnTo>
                    <a:pt x="79" y="338"/>
                  </a:lnTo>
                  <a:lnTo>
                    <a:pt x="85" y="383"/>
                  </a:lnTo>
                  <a:lnTo>
                    <a:pt x="62" y="398"/>
                  </a:lnTo>
                  <a:lnTo>
                    <a:pt x="44" y="341"/>
                  </a:lnTo>
                  <a:lnTo>
                    <a:pt x="33" y="387"/>
                  </a:lnTo>
                  <a:lnTo>
                    <a:pt x="13" y="383"/>
                  </a:lnTo>
                  <a:lnTo>
                    <a:pt x="7" y="337"/>
                  </a:lnTo>
                  <a:lnTo>
                    <a:pt x="1" y="297"/>
                  </a:lnTo>
                  <a:lnTo>
                    <a:pt x="0" y="20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68" name="Freeform 50"/>
            <p:cNvSpPr>
              <a:spLocks/>
            </p:cNvSpPr>
            <p:nvPr/>
          </p:nvSpPr>
          <p:spPr bwMode="gray">
            <a:xfrm>
              <a:off x="6422894" y="4184650"/>
              <a:ext cx="679279" cy="698500"/>
            </a:xfrm>
            <a:custGeom>
              <a:avLst/>
              <a:gdLst>
                <a:gd name="T0" fmla="*/ 0 w 328"/>
                <a:gd name="T1" fmla="*/ 23 h 366"/>
                <a:gd name="T2" fmla="*/ 4 w 328"/>
                <a:gd name="T3" fmla="*/ 23 h 366"/>
                <a:gd name="T4" fmla="*/ 111 w 328"/>
                <a:gd name="T5" fmla="*/ 7 h 366"/>
                <a:gd name="T6" fmla="*/ 206 w 328"/>
                <a:gd name="T7" fmla="*/ 0 h 366"/>
                <a:gd name="T8" fmla="*/ 192 w 328"/>
                <a:gd name="T9" fmla="*/ 19 h 366"/>
                <a:gd name="T10" fmla="*/ 221 w 328"/>
                <a:gd name="T11" fmla="*/ 19 h 366"/>
                <a:gd name="T12" fmla="*/ 384 w 328"/>
                <a:gd name="T13" fmla="*/ 132 h 366"/>
                <a:gd name="T14" fmla="*/ 446 w 328"/>
                <a:gd name="T15" fmla="*/ 205 h 366"/>
                <a:gd name="T16" fmla="*/ 455 w 328"/>
                <a:gd name="T17" fmla="*/ 254 h 366"/>
                <a:gd name="T18" fmla="*/ 434 w 328"/>
                <a:gd name="T19" fmla="*/ 266 h 366"/>
                <a:gd name="T20" fmla="*/ 446 w 328"/>
                <a:gd name="T21" fmla="*/ 316 h 366"/>
                <a:gd name="T22" fmla="*/ 402 w 328"/>
                <a:gd name="T23" fmla="*/ 318 h 366"/>
                <a:gd name="T24" fmla="*/ 402 w 328"/>
                <a:gd name="T25" fmla="*/ 360 h 366"/>
                <a:gd name="T26" fmla="*/ 364 w 328"/>
                <a:gd name="T27" fmla="*/ 339 h 366"/>
                <a:gd name="T28" fmla="*/ 130 w 328"/>
                <a:gd name="T29" fmla="*/ 366 h 366"/>
                <a:gd name="T30" fmla="*/ 78 w 328"/>
                <a:gd name="T31" fmla="*/ 287 h 366"/>
                <a:gd name="T32" fmla="*/ 115 w 328"/>
                <a:gd name="T33" fmla="*/ 233 h 366"/>
                <a:gd name="T34" fmla="*/ 65 w 328"/>
                <a:gd name="T35" fmla="*/ 206 h 366"/>
                <a:gd name="T36" fmla="*/ 0 w 328"/>
                <a:gd name="T37" fmla="*/ 23 h 36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328"/>
                <a:gd name="T58" fmla="*/ 0 h 366"/>
                <a:gd name="T59" fmla="*/ 328 w 328"/>
                <a:gd name="T60" fmla="*/ 366 h 36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328" h="366">
                  <a:moveTo>
                    <a:pt x="0" y="23"/>
                  </a:moveTo>
                  <a:lnTo>
                    <a:pt x="4" y="23"/>
                  </a:lnTo>
                  <a:lnTo>
                    <a:pt x="80" y="7"/>
                  </a:lnTo>
                  <a:lnTo>
                    <a:pt x="148" y="0"/>
                  </a:lnTo>
                  <a:lnTo>
                    <a:pt x="138" y="19"/>
                  </a:lnTo>
                  <a:lnTo>
                    <a:pt x="159" y="19"/>
                  </a:lnTo>
                  <a:lnTo>
                    <a:pt x="276" y="132"/>
                  </a:lnTo>
                  <a:lnTo>
                    <a:pt x="322" y="205"/>
                  </a:lnTo>
                  <a:lnTo>
                    <a:pt x="328" y="254"/>
                  </a:lnTo>
                  <a:lnTo>
                    <a:pt x="313" y="266"/>
                  </a:lnTo>
                  <a:lnTo>
                    <a:pt x="322" y="316"/>
                  </a:lnTo>
                  <a:lnTo>
                    <a:pt x="289" y="318"/>
                  </a:lnTo>
                  <a:lnTo>
                    <a:pt x="289" y="360"/>
                  </a:lnTo>
                  <a:lnTo>
                    <a:pt x="263" y="339"/>
                  </a:lnTo>
                  <a:lnTo>
                    <a:pt x="94" y="366"/>
                  </a:lnTo>
                  <a:lnTo>
                    <a:pt x="56" y="287"/>
                  </a:lnTo>
                  <a:lnTo>
                    <a:pt x="83" y="233"/>
                  </a:lnTo>
                  <a:lnTo>
                    <a:pt x="47" y="206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69" name="Freeform 51"/>
            <p:cNvSpPr>
              <a:spLocks/>
            </p:cNvSpPr>
            <p:nvPr/>
          </p:nvSpPr>
          <p:spPr bwMode="gray">
            <a:xfrm>
              <a:off x="6587984" y="3757613"/>
              <a:ext cx="1064490" cy="463550"/>
            </a:xfrm>
            <a:custGeom>
              <a:avLst/>
              <a:gdLst>
                <a:gd name="T0" fmla="*/ 25 w 516"/>
                <a:gd name="T1" fmla="*/ 180 h 243"/>
                <a:gd name="T2" fmla="*/ 0 w 516"/>
                <a:gd name="T3" fmla="*/ 231 h 243"/>
                <a:gd name="T4" fmla="*/ 93 w 516"/>
                <a:gd name="T5" fmla="*/ 224 h 243"/>
                <a:gd name="T6" fmla="*/ 128 w 516"/>
                <a:gd name="T7" fmla="*/ 201 h 243"/>
                <a:gd name="T8" fmla="*/ 253 w 516"/>
                <a:gd name="T9" fmla="*/ 175 h 243"/>
                <a:gd name="T10" fmla="*/ 287 w 516"/>
                <a:gd name="T11" fmla="*/ 189 h 243"/>
                <a:gd name="T12" fmla="*/ 369 w 516"/>
                <a:gd name="T13" fmla="*/ 180 h 243"/>
                <a:gd name="T14" fmla="*/ 369 w 516"/>
                <a:gd name="T15" fmla="*/ 183 h 243"/>
                <a:gd name="T16" fmla="*/ 494 w 516"/>
                <a:gd name="T17" fmla="*/ 243 h 243"/>
                <a:gd name="T18" fmla="*/ 565 w 516"/>
                <a:gd name="T19" fmla="*/ 226 h 243"/>
                <a:gd name="T20" fmla="*/ 608 w 516"/>
                <a:gd name="T21" fmla="*/ 159 h 243"/>
                <a:gd name="T22" fmla="*/ 677 w 516"/>
                <a:gd name="T23" fmla="*/ 140 h 243"/>
                <a:gd name="T24" fmla="*/ 711 w 516"/>
                <a:gd name="T25" fmla="*/ 90 h 243"/>
                <a:gd name="T26" fmla="*/ 708 w 516"/>
                <a:gd name="T27" fmla="*/ 30 h 243"/>
                <a:gd name="T28" fmla="*/ 701 w 516"/>
                <a:gd name="T29" fmla="*/ 80 h 243"/>
                <a:gd name="T30" fmla="*/ 661 w 516"/>
                <a:gd name="T31" fmla="*/ 122 h 243"/>
                <a:gd name="T32" fmla="*/ 646 w 516"/>
                <a:gd name="T33" fmla="*/ 119 h 243"/>
                <a:gd name="T34" fmla="*/ 594 w 516"/>
                <a:gd name="T35" fmla="*/ 130 h 243"/>
                <a:gd name="T36" fmla="*/ 594 w 516"/>
                <a:gd name="T37" fmla="*/ 116 h 243"/>
                <a:gd name="T38" fmla="*/ 646 w 516"/>
                <a:gd name="T39" fmla="*/ 102 h 243"/>
                <a:gd name="T40" fmla="*/ 597 w 516"/>
                <a:gd name="T41" fmla="*/ 97 h 243"/>
                <a:gd name="T42" fmla="*/ 652 w 516"/>
                <a:gd name="T43" fmla="*/ 85 h 243"/>
                <a:gd name="T44" fmla="*/ 674 w 516"/>
                <a:gd name="T45" fmla="*/ 92 h 243"/>
                <a:gd name="T46" fmla="*/ 685 w 516"/>
                <a:gd name="T47" fmla="*/ 45 h 243"/>
                <a:gd name="T48" fmla="*/ 672 w 516"/>
                <a:gd name="T49" fmla="*/ 34 h 243"/>
                <a:gd name="T50" fmla="*/ 607 w 516"/>
                <a:gd name="T51" fmla="*/ 53 h 243"/>
                <a:gd name="T52" fmla="*/ 608 w 516"/>
                <a:gd name="T53" fmla="*/ 25 h 243"/>
                <a:gd name="T54" fmla="*/ 635 w 516"/>
                <a:gd name="T55" fmla="*/ 32 h 243"/>
                <a:gd name="T56" fmla="*/ 672 w 516"/>
                <a:gd name="T57" fmla="*/ 10 h 243"/>
                <a:gd name="T58" fmla="*/ 651 w 516"/>
                <a:gd name="T59" fmla="*/ 0 h 243"/>
                <a:gd name="T60" fmla="*/ 438 w 516"/>
                <a:gd name="T61" fmla="*/ 37 h 243"/>
                <a:gd name="T62" fmla="*/ 179 w 516"/>
                <a:gd name="T63" fmla="*/ 79 h 243"/>
                <a:gd name="T64" fmla="*/ 60 w 516"/>
                <a:gd name="T65" fmla="*/ 179 h 243"/>
                <a:gd name="T66" fmla="*/ 25 w 516"/>
                <a:gd name="T67" fmla="*/ 180 h 24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16"/>
                <a:gd name="T103" fmla="*/ 0 h 243"/>
                <a:gd name="T104" fmla="*/ 516 w 516"/>
                <a:gd name="T105" fmla="*/ 243 h 24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16" h="243">
                  <a:moveTo>
                    <a:pt x="18" y="180"/>
                  </a:moveTo>
                  <a:lnTo>
                    <a:pt x="0" y="231"/>
                  </a:lnTo>
                  <a:lnTo>
                    <a:pt x="67" y="224"/>
                  </a:lnTo>
                  <a:lnTo>
                    <a:pt x="93" y="201"/>
                  </a:lnTo>
                  <a:lnTo>
                    <a:pt x="184" y="175"/>
                  </a:lnTo>
                  <a:lnTo>
                    <a:pt x="209" y="189"/>
                  </a:lnTo>
                  <a:lnTo>
                    <a:pt x="269" y="180"/>
                  </a:lnTo>
                  <a:lnTo>
                    <a:pt x="269" y="183"/>
                  </a:lnTo>
                  <a:lnTo>
                    <a:pt x="359" y="243"/>
                  </a:lnTo>
                  <a:lnTo>
                    <a:pt x="411" y="226"/>
                  </a:lnTo>
                  <a:lnTo>
                    <a:pt x="441" y="159"/>
                  </a:lnTo>
                  <a:lnTo>
                    <a:pt x="492" y="140"/>
                  </a:lnTo>
                  <a:lnTo>
                    <a:pt x="516" y="90"/>
                  </a:lnTo>
                  <a:lnTo>
                    <a:pt x="515" y="30"/>
                  </a:lnTo>
                  <a:lnTo>
                    <a:pt x="509" y="80"/>
                  </a:lnTo>
                  <a:lnTo>
                    <a:pt x="480" y="122"/>
                  </a:lnTo>
                  <a:lnTo>
                    <a:pt x="469" y="119"/>
                  </a:lnTo>
                  <a:lnTo>
                    <a:pt x="431" y="130"/>
                  </a:lnTo>
                  <a:lnTo>
                    <a:pt x="431" y="116"/>
                  </a:lnTo>
                  <a:lnTo>
                    <a:pt x="469" y="102"/>
                  </a:lnTo>
                  <a:lnTo>
                    <a:pt x="434" y="97"/>
                  </a:lnTo>
                  <a:lnTo>
                    <a:pt x="474" y="85"/>
                  </a:lnTo>
                  <a:lnTo>
                    <a:pt x="489" y="92"/>
                  </a:lnTo>
                  <a:lnTo>
                    <a:pt x="497" y="45"/>
                  </a:lnTo>
                  <a:lnTo>
                    <a:pt x="487" y="34"/>
                  </a:lnTo>
                  <a:lnTo>
                    <a:pt x="440" y="53"/>
                  </a:lnTo>
                  <a:lnTo>
                    <a:pt x="441" y="25"/>
                  </a:lnTo>
                  <a:lnTo>
                    <a:pt x="461" y="32"/>
                  </a:lnTo>
                  <a:lnTo>
                    <a:pt x="487" y="10"/>
                  </a:lnTo>
                  <a:lnTo>
                    <a:pt x="473" y="0"/>
                  </a:lnTo>
                  <a:lnTo>
                    <a:pt x="318" y="37"/>
                  </a:lnTo>
                  <a:lnTo>
                    <a:pt x="129" y="79"/>
                  </a:lnTo>
                  <a:lnTo>
                    <a:pt x="43" y="179"/>
                  </a:lnTo>
                  <a:lnTo>
                    <a:pt x="18" y="180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70" name="Freeform 52"/>
            <p:cNvSpPr>
              <a:spLocks/>
            </p:cNvSpPr>
            <p:nvPr/>
          </p:nvSpPr>
          <p:spPr bwMode="gray">
            <a:xfrm>
              <a:off x="7449550" y="3270250"/>
              <a:ext cx="147894" cy="182563"/>
            </a:xfrm>
            <a:custGeom>
              <a:avLst/>
              <a:gdLst>
                <a:gd name="T0" fmla="*/ 0 w 72"/>
                <a:gd name="T1" fmla="*/ 5 h 96"/>
                <a:gd name="T2" fmla="*/ 20 w 72"/>
                <a:gd name="T3" fmla="*/ 0 h 96"/>
                <a:gd name="T4" fmla="*/ 66 w 72"/>
                <a:gd name="T5" fmla="*/ 21 h 96"/>
                <a:gd name="T6" fmla="*/ 66 w 72"/>
                <a:gd name="T7" fmla="*/ 42 h 96"/>
                <a:gd name="T8" fmla="*/ 97 w 72"/>
                <a:gd name="T9" fmla="*/ 57 h 96"/>
                <a:gd name="T10" fmla="*/ 99 w 72"/>
                <a:gd name="T11" fmla="*/ 85 h 96"/>
                <a:gd name="T12" fmla="*/ 48 w 72"/>
                <a:gd name="T13" fmla="*/ 96 h 96"/>
                <a:gd name="T14" fmla="*/ 0 w 72"/>
                <a:gd name="T15" fmla="*/ 5 h 9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72"/>
                <a:gd name="T25" fmla="*/ 0 h 96"/>
                <a:gd name="T26" fmla="*/ 72 w 72"/>
                <a:gd name="T27" fmla="*/ 96 h 9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72" h="96">
                  <a:moveTo>
                    <a:pt x="0" y="5"/>
                  </a:moveTo>
                  <a:lnTo>
                    <a:pt x="15" y="0"/>
                  </a:lnTo>
                  <a:lnTo>
                    <a:pt x="48" y="21"/>
                  </a:lnTo>
                  <a:lnTo>
                    <a:pt x="48" y="42"/>
                  </a:lnTo>
                  <a:lnTo>
                    <a:pt x="71" y="57"/>
                  </a:lnTo>
                  <a:lnTo>
                    <a:pt x="72" y="85"/>
                  </a:lnTo>
                  <a:lnTo>
                    <a:pt x="35" y="96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71" name="Freeform 53"/>
            <p:cNvSpPr>
              <a:spLocks/>
            </p:cNvSpPr>
            <p:nvPr/>
          </p:nvSpPr>
          <p:spPr bwMode="gray">
            <a:xfrm>
              <a:off x="6873453" y="2382838"/>
              <a:ext cx="792778" cy="639762"/>
            </a:xfrm>
            <a:custGeom>
              <a:avLst/>
              <a:gdLst>
                <a:gd name="T0" fmla="*/ 40 w 384"/>
                <a:gd name="T1" fmla="*/ 226 h 336"/>
                <a:gd name="T2" fmla="*/ 92 w 384"/>
                <a:gd name="T3" fmla="*/ 206 h 336"/>
                <a:gd name="T4" fmla="*/ 158 w 384"/>
                <a:gd name="T5" fmla="*/ 201 h 336"/>
                <a:gd name="T6" fmla="*/ 177 w 384"/>
                <a:gd name="T7" fmla="*/ 183 h 336"/>
                <a:gd name="T8" fmla="*/ 198 w 384"/>
                <a:gd name="T9" fmla="*/ 181 h 336"/>
                <a:gd name="T10" fmla="*/ 212 w 384"/>
                <a:gd name="T11" fmla="*/ 162 h 336"/>
                <a:gd name="T12" fmla="*/ 235 w 384"/>
                <a:gd name="T13" fmla="*/ 155 h 336"/>
                <a:gd name="T14" fmla="*/ 225 w 384"/>
                <a:gd name="T15" fmla="*/ 120 h 336"/>
                <a:gd name="T16" fmla="*/ 211 w 384"/>
                <a:gd name="T17" fmla="*/ 111 h 336"/>
                <a:gd name="T18" fmla="*/ 240 w 384"/>
                <a:gd name="T19" fmla="*/ 82 h 336"/>
                <a:gd name="T20" fmla="*/ 258 w 384"/>
                <a:gd name="T21" fmla="*/ 82 h 336"/>
                <a:gd name="T22" fmla="*/ 320 w 384"/>
                <a:gd name="T23" fmla="*/ 22 h 336"/>
                <a:gd name="T24" fmla="*/ 414 w 384"/>
                <a:gd name="T25" fmla="*/ 0 h 336"/>
                <a:gd name="T26" fmla="*/ 425 w 384"/>
                <a:gd name="T27" fmla="*/ 56 h 336"/>
                <a:gd name="T28" fmla="*/ 430 w 384"/>
                <a:gd name="T29" fmla="*/ 54 h 336"/>
                <a:gd name="T30" fmla="*/ 452 w 384"/>
                <a:gd name="T31" fmla="*/ 74 h 336"/>
                <a:gd name="T32" fmla="*/ 453 w 384"/>
                <a:gd name="T33" fmla="*/ 132 h 336"/>
                <a:gd name="T34" fmla="*/ 482 w 384"/>
                <a:gd name="T35" fmla="*/ 179 h 336"/>
                <a:gd name="T36" fmla="*/ 493 w 384"/>
                <a:gd name="T37" fmla="*/ 240 h 336"/>
                <a:gd name="T38" fmla="*/ 495 w 384"/>
                <a:gd name="T39" fmla="*/ 293 h 336"/>
                <a:gd name="T40" fmla="*/ 530 w 384"/>
                <a:gd name="T41" fmla="*/ 310 h 336"/>
                <a:gd name="T42" fmla="*/ 505 w 384"/>
                <a:gd name="T43" fmla="*/ 336 h 336"/>
                <a:gd name="T44" fmla="*/ 444 w 384"/>
                <a:gd name="T45" fmla="*/ 306 h 336"/>
                <a:gd name="T46" fmla="*/ 412 w 384"/>
                <a:gd name="T47" fmla="*/ 308 h 336"/>
                <a:gd name="T48" fmla="*/ 380 w 384"/>
                <a:gd name="T49" fmla="*/ 301 h 336"/>
                <a:gd name="T50" fmla="*/ 381 w 384"/>
                <a:gd name="T51" fmla="*/ 283 h 336"/>
                <a:gd name="T52" fmla="*/ 362 w 384"/>
                <a:gd name="T53" fmla="*/ 277 h 336"/>
                <a:gd name="T54" fmla="*/ 15 w 384"/>
                <a:gd name="T55" fmla="*/ 329 h 336"/>
                <a:gd name="T56" fmla="*/ 0 w 384"/>
                <a:gd name="T57" fmla="*/ 314 h 336"/>
                <a:gd name="T58" fmla="*/ 52 w 384"/>
                <a:gd name="T59" fmla="*/ 254 h 336"/>
                <a:gd name="T60" fmla="*/ 40 w 384"/>
                <a:gd name="T61" fmla="*/ 226 h 3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w 384"/>
                <a:gd name="T94" fmla="*/ 0 h 336"/>
                <a:gd name="T95" fmla="*/ 384 w 384"/>
                <a:gd name="T96" fmla="*/ 336 h 3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T93" t="T94" r="T95" b="T96"/>
              <a:pathLst>
                <a:path w="384" h="336">
                  <a:moveTo>
                    <a:pt x="29" y="226"/>
                  </a:moveTo>
                  <a:lnTo>
                    <a:pt x="66" y="206"/>
                  </a:lnTo>
                  <a:lnTo>
                    <a:pt x="115" y="201"/>
                  </a:lnTo>
                  <a:lnTo>
                    <a:pt x="127" y="183"/>
                  </a:lnTo>
                  <a:lnTo>
                    <a:pt x="144" y="181"/>
                  </a:lnTo>
                  <a:lnTo>
                    <a:pt x="154" y="162"/>
                  </a:lnTo>
                  <a:lnTo>
                    <a:pt x="171" y="155"/>
                  </a:lnTo>
                  <a:lnTo>
                    <a:pt x="163" y="120"/>
                  </a:lnTo>
                  <a:lnTo>
                    <a:pt x="153" y="111"/>
                  </a:lnTo>
                  <a:lnTo>
                    <a:pt x="174" y="82"/>
                  </a:lnTo>
                  <a:lnTo>
                    <a:pt x="187" y="82"/>
                  </a:lnTo>
                  <a:lnTo>
                    <a:pt x="232" y="22"/>
                  </a:lnTo>
                  <a:lnTo>
                    <a:pt x="301" y="0"/>
                  </a:lnTo>
                  <a:lnTo>
                    <a:pt x="308" y="56"/>
                  </a:lnTo>
                  <a:lnTo>
                    <a:pt x="312" y="54"/>
                  </a:lnTo>
                  <a:lnTo>
                    <a:pt x="328" y="74"/>
                  </a:lnTo>
                  <a:lnTo>
                    <a:pt x="329" y="132"/>
                  </a:lnTo>
                  <a:lnTo>
                    <a:pt x="350" y="179"/>
                  </a:lnTo>
                  <a:lnTo>
                    <a:pt x="358" y="240"/>
                  </a:lnTo>
                  <a:lnTo>
                    <a:pt x="360" y="293"/>
                  </a:lnTo>
                  <a:lnTo>
                    <a:pt x="384" y="310"/>
                  </a:lnTo>
                  <a:lnTo>
                    <a:pt x="366" y="336"/>
                  </a:lnTo>
                  <a:lnTo>
                    <a:pt x="322" y="306"/>
                  </a:lnTo>
                  <a:lnTo>
                    <a:pt x="299" y="308"/>
                  </a:lnTo>
                  <a:lnTo>
                    <a:pt x="276" y="301"/>
                  </a:lnTo>
                  <a:lnTo>
                    <a:pt x="277" y="283"/>
                  </a:lnTo>
                  <a:lnTo>
                    <a:pt x="262" y="277"/>
                  </a:lnTo>
                  <a:lnTo>
                    <a:pt x="11" y="329"/>
                  </a:lnTo>
                  <a:lnTo>
                    <a:pt x="0" y="314"/>
                  </a:lnTo>
                  <a:lnTo>
                    <a:pt x="38" y="254"/>
                  </a:lnTo>
                  <a:lnTo>
                    <a:pt x="29" y="226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72" name="Freeform 54"/>
            <p:cNvSpPr>
              <a:spLocks/>
            </p:cNvSpPr>
            <p:nvPr/>
          </p:nvSpPr>
          <p:spPr bwMode="gray">
            <a:xfrm>
              <a:off x="7647316" y="2919413"/>
              <a:ext cx="230439" cy="138112"/>
            </a:xfrm>
            <a:custGeom>
              <a:avLst/>
              <a:gdLst>
                <a:gd name="T0" fmla="*/ 0 w 112"/>
                <a:gd name="T1" fmla="*/ 53 h 72"/>
                <a:gd name="T2" fmla="*/ 63 w 112"/>
                <a:gd name="T3" fmla="*/ 30 h 72"/>
                <a:gd name="T4" fmla="*/ 124 w 112"/>
                <a:gd name="T5" fmla="*/ 0 h 72"/>
                <a:gd name="T6" fmla="*/ 135 w 112"/>
                <a:gd name="T7" fmla="*/ 1 h 72"/>
                <a:gd name="T8" fmla="*/ 153 w 112"/>
                <a:gd name="T9" fmla="*/ 3 h 72"/>
                <a:gd name="T10" fmla="*/ 92 w 112"/>
                <a:gd name="T11" fmla="*/ 40 h 72"/>
                <a:gd name="T12" fmla="*/ 17 w 112"/>
                <a:gd name="T13" fmla="*/ 72 h 72"/>
                <a:gd name="T14" fmla="*/ 0 w 112"/>
                <a:gd name="T15" fmla="*/ 53 h 7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12"/>
                <a:gd name="T25" fmla="*/ 0 h 72"/>
                <a:gd name="T26" fmla="*/ 112 w 112"/>
                <a:gd name="T27" fmla="*/ 72 h 72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12" h="72">
                  <a:moveTo>
                    <a:pt x="0" y="53"/>
                  </a:moveTo>
                  <a:lnTo>
                    <a:pt x="46" y="30"/>
                  </a:lnTo>
                  <a:lnTo>
                    <a:pt x="91" y="0"/>
                  </a:lnTo>
                  <a:lnTo>
                    <a:pt x="99" y="1"/>
                  </a:lnTo>
                  <a:lnTo>
                    <a:pt x="112" y="3"/>
                  </a:lnTo>
                  <a:lnTo>
                    <a:pt x="68" y="40"/>
                  </a:lnTo>
                  <a:lnTo>
                    <a:pt x="13" y="72"/>
                  </a:lnTo>
                  <a:lnTo>
                    <a:pt x="0" y="53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73" name="Freeform 55"/>
            <p:cNvSpPr>
              <a:spLocks/>
            </p:cNvSpPr>
            <p:nvPr/>
          </p:nvSpPr>
          <p:spPr bwMode="gray">
            <a:xfrm>
              <a:off x="7535535" y="3517900"/>
              <a:ext cx="63629" cy="109538"/>
            </a:xfrm>
            <a:custGeom>
              <a:avLst/>
              <a:gdLst>
                <a:gd name="T0" fmla="*/ 0 w 31"/>
                <a:gd name="T1" fmla="*/ 5 h 57"/>
                <a:gd name="T2" fmla="*/ 45 w 31"/>
                <a:gd name="T3" fmla="*/ 0 h 57"/>
                <a:gd name="T4" fmla="*/ 20 w 31"/>
                <a:gd name="T5" fmla="*/ 57 h 57"/>
                <a:gd name="T6" fmla="*/ 2 w 31"/>
                <a:gd name="T7" fmla="*/ 55 h 57"/>
                <a:gd name="T8" fmla="*/ 0 w 31"/>
                <a:gd name="T9" fmla="*/ 5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1"/>
                <a:gd name="T16" fmla="*/ 0 h 57"/>
                <a:gd name="T17" fmla="*/ 31 w 31"/>
                <a:gd name="T18" fmla="*/ 57 h 5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1" h="57">
                  <a:moveTo>
                    <a:pt x="0" y="5"/>
                  </a:moveTo>
                  <a:lnTo>
                    <a:pt x="31" y="0"/>
                  </a:lnTo>
                  <a:lnTo>
                    <a:pt x="14" y="57"/>
                  </a:lnTo>
                  <a:lnTo>
                    <a:pt x="2" y="5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590" name="Rectangle 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395944" y="4114800"/>
            <a:ext cx="2274888" cy="758825"/>
          </a:xfrm>
          <a:prstGeom prst="rect">
            <a:avLst/>
          </a:prstGeom>
          <a:solidFill>
            <a:srgbClr val="00A1DE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algn="ctr" defTabSz="865188">
              <a:lnSpc>
                <a:spcPct val="95000"/>
              </a:lnSpc>
            </a:pPr>
            <a:r>
              <a:rPr lang="zh-CN" altLang="en-US" sz="1400" dirty="0">
                <a:solidFill>
                  <a:schemeClr val="bg1"/>
                </a:solidFill>
                <a:ea typeface="ＭＳ Ｐゴシック" pitchFamily="50" charset="-128"/>
              </a:rPr>
              <a:t>中国大陆</a:t>
            </a:r>
            <a:endParaRPr lang="en-US" sz="1400" dirty="0">
              <a:solidFill>
                <a:schemeClr val="bg1"/>
              </a:solidFill>
              <a:ea typeface="ＭＳ Ｐゴシック" pitchFamily="50" charset="-128"/>
            </a:endParaRPr>
          </a:p>
        </p:txBody>
      </p:sp>
      <p:sp>
        <p:nvSpPr>
          <p:cNvPr id="1591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921657" y="4114800"/>
            <a:ext cx="2274887" cy="758825"/>
          </a:xfrm>
          <a:prstGeom prst="rect">
            <a:avLst/>
          </a:prstGeom>
          <a:solidFill>
            <a:srgbClr val="575757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algn="ctr" defTabSz="865188">
              <a:lnSpc>
                <a:spcPct val="95000"/>
              </a:lnSpc>
              <a:defRPr/>
            </a:pPr>
            <a:r>
              <a:rPr lang="zh-CN" altLang="en-US" sz="1400" dirty="0" smtClean="0">
                <a:solidFill>
                  <a:schemeClr val="bg1"/>
                </a:solidFill>
                <a:ea typeface="ＭＳ Ｐゴシック" pitchFamily="50" charset="-128"/>
              </a:rPr>
              <a:t>香港</a:t>
            </a:r>
            <a:endParaRPr lang="en-US" sz="1400" dirty="0">
              <a:solidFill>
                <a:schemeClr val="bg1"/>
              </a:solidFill>
              <a:ea typeface="ＭＳ Ｐゴシック" pitchFamily="50" charset="-128"/>
            </a:endParaRPr>
          </a:p>
        </p:txBody>
      </p:sp>
      <p:sp>
        <p:nvSpPr>
          <p:cNvPr id="1592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870232" y="4117975"/>
            <a:ext cx="2273300" cy="755650"/>
          </a:xfrm>
          <a:prstGeom prst="rect">
            <a:avLst/>
          </a:prstGeom>
          <a:solidFill>
            <a:srgbClr val="92D050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algn="ctr" defTabSz="865188">
              <a:lnSpc>
                <a:spcPct val="95000"/>
              </a:lnSpc>
              <a:defRPr/>
            </a:pPr>
            <a:r>
              <a:rPr lang="zh-CN" altLang="en-US" sz="1400" dirty="0" smtClean="0">
                <a:solidFill>
                  <a:schemeClr val="bg1"/>
                </a:solidFill>
                <a:ea typeface="ＭＳ Ｐゴシック" pitchFamily="50" charset="-128"/>
              </a:rPr>
              <a:t>北美</a:t>
            </a:r>
            <a:endParaRPr lang="en-US" sz="1400" dirty="0">
              <a:solidFill>
                <a:schemeClr val="bg1"/>
              </a:solidFill>
              <a:ea typeface="ＭＳ Ｐゴシック" pitchFamily="50" charset="-128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77409" y="4873625"/>
            <a:ext cx="22647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行业成熟</a:t>
            </a:r>
            <a:endParaRPr lang="en-US" altLang="zh-CN" dirty="0" smtClean="0"/>
          </a:p>
          <a:p>
            <a:r>
              <a:rPr lang="zh-CN" altLang="en-US" dirty="0"/>
              <a:t>选</a:t>
            </a:r>
            <a:r>
              <a:rPr lang="zh-CN" altLang="en-US" dirty="0" smtClean="0"/>
              <a:t>择较多</a:t>
            </a:r>
            <a:endParaRPr lang="en-US" altLang="zh-CN" dirty="0" smtClean="0"/>
          </a:p>
          <a:p>
            <a:r>
              <a:rPr lang="zh-CN" altLang="en-US" dirty="0"/>
              <a:t>竞争激</a:t>
            </a:r>
            <a:r>
              <a:rPr lang="zh-CN" altLang="en-US" dirty="0" smtClean="0"/>
              <a:t>烈</a:t>
            </a:r>
            <a:endParaRPr lang="en-US" altLang="zh-CN" dirty="0" smtClean="0"/>
          </a:p>
          <a:p>
            <a:r>
              <a:rPr lang="en-US" altLang="zh-CN" dirty="0" smtClean="0"/>
              <a:t>$70-150K</a:t>
            </a:r>
            <a:endParaRPr lang="en-US" dirty="0"/>
          </a:p>
        </p:txBody>
      </p:sp>
      <p:sp>
        <p:nvSpPr>
          <p:cNvPr id="1594" name="TextBox 1593"/>
          <p:cNvSpPr txBox="1"/>
          <p:nvPr/>
        </p:nvSpPr>
        <p:spPr>
          <a:xfrm>
            <a:off x="3406096" y="4873625"/>
            <a:ext cx="22647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行业起步阶段</a:t>
            </a:r>
            <a:endParaRPr lang="en-US" altLang="zh-CN" dirty="0" smtClean="0"/>
          </a:p>
          <a:p>
            <a:r>
              <a:rPr lang="zh-CN" altLang="en-US" dirty="0"/>
              <a:t>选</a:t>
            </a:r>
            <a:r>
              <a:rPr lang="zh-CN" altLang="en-US" dirty="0" smtClean="0"/>
              <a:t>择较少</a:t>
            </a:r>
            <a:endParaRPr lang="en-US" altLang="zh-CN" dirty="0" smtClean="0"/>
          </a:p>
          <a:p>
            <a:r>
              <a:rPr lang="zh-CN" altLang="en-US" dirty="0"/>
              <a:t>竞</a:t>
            </a:r>
            <a:r>
              <a:rPr lang="zh-CN" altLang="en-US" dirty="0" smtClean="0"/>
              <a:t>争</a:t>
            </a:r>
            <a:r>
              <a:rPr lang="zh-CN" altLang="en-US" dirty="0"/>
              <a:t>较小</a:t>
            </a:r>
            <a:endParaRPr lang="en-US" altLang="zh-CN" dirty="0" smtClean="0"/>
          </a:p>
          <a:p>
            <a:r>
              <a:rPr lang="zh-CN" altLang="en-US" dirty="0"/>
              <a:t>￥</a:t>
            </a:r>
            <a:r>
              <a:rPr lang="en-US" altLang="zh-CN" dirty="0" smtClean="0"/>
              <a:t>70-150K</a:t>
            </a:r>
            <a:endParaRPr lang="en-US" dirty="0"/>
          </a:p>
        </p:txBody>
      </p:sp>
      <p:sp>
        <p:nvSpPr>
          <p:cNvPr id="1595" name="TextBox 1594"/>
          <p:cNvSpPr txBox="1"/>
          <p:nvPr/>
        </p:nvSpPr>
        <p:spPr>
          <a:xfrm>
            <a:off x="5921657" y="4873624"/>
            <a:ext cx="22647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行业较成熟</a:t>
            </a:r>
            <a:endParaRPr lang="en-US" altLang="zh-CN" dirty="0" smtClean="0"/>
          </a:p>
          <a:p>
            <a:r>
              <a:rPr lang="zh-CN" altLang="en-US" dirty="0"/>
              <a:t>选</a:t>
            </a:r>
            <a:r>
              <a:rPr lang="zh-CN" altLang="en-US" dirty="0" smtClean="0"/>
              <a:t>择较多</a:t>
            </a:r>
            <a:endParaRPr lang="en-US" altLang="zh-CN" dirty="0" smtClean="0"/>
          </a:p>
          <a:p>
            <a:r>
              <a:rPr lang="zh-CN" altLang="en-US" dirty="0"/>
              <a:t>竞</a:t>
            </a:r>
            <a:r>
              <a:rPr lang="zh-CN" altLang="en-US" dirty="0" smtClean="0"/>
              <a:t>争相对较小</a:t>
            </a:r>
            <a:endParaRPr lang="en-US" altLang="zh-CN" dirty="0" smtClean="0"/>
          </a:p>
          <a:p>
            <a:r>
              <a:rPr lang="en-US" altLang="zh-CN" dirty="0" smtClean="0"/>
              <a:t>HK$ 500-700K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760236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sz="3000" dirty="0">
                <a:solidFill>
                  <a:srgbClr val="81BC00"/>
                </a:solidFill>
                <a:latin typeface="+mn-lt"/>
                <a:ea typeface="+mn-ea"/>
              </a:rPr>
              <a:t>量化</a:t>
            </a:r>
            <a:r>
              <a:rPr lang="zh-CN" altLang="en-US" sz="3000" dirty="0" smtClean="0">
                <a:solidFill>
                  <a:srgbClr val="81BC00"/>
                </a:solidFill>
                <a:latin typeface="+mn-lt"/>
                <a:ea typeface="+mn-ea"/>
              </a:rPr>
              <a:t>金</a:t>
            </a:r>
            <a:r>
              <a:rPr lang="zh-CN" altLang="en-US" sz="3000" dirty="0">
                <a:solidFill>
                  <a:srgbClr val="81BC00"/>
                </a:solidFill>
                <a:latin typeface="+mn-lt"/>
                <a:ea typeface="+mn-ea"/>
              </a:rPr>
              <a:t>融行</a:t>
            </a:r>
            <a:r>
              <a:rPr lang="zh-CN" altLang="en-US" sz="3000" dirty="0" smtClean="0">
                <a:solidFill>
                  <a:srgbClr val="81BC00"/>
                </a:solidFill>
                <a:latin typeface="+mn-lt"/>
                <a:ea typeface="+mn-ea"/>
              </a:rPr>
              <a:t>业概况</a:t>
            </a:r>
            <a:r>
              <a:rPr lang="en-US" sz="3000" b="0" dirty="0" smtClean="0">
                <a:solidFill>
                  <a:srgbClr val="81BC00"/>
                </a:solidFill>
                <a:latin typeface="+mn-lt"/>
                <a:ea typeface="+mn-ea"/>
              </a:rPr>
              <a:t/>
            </a:r>
            <a:br>
              <a:rPr lang="en-US" sz="3000" b="0" dirty="0" smtClean="0">
                <a:solidFill>
                  <a:srgbClr val="81BC00"/>
                </a:solidFill>
                <a:latin typeface="+mn-lt"/>
                <a:ea typeface="+mn-ea"/>
              </a:rPr>
            </a:br>
            <a:r>
              <a:rPr lang="zh-CN" altLang="en-US" sz="3000" dirty="0" smtClean="0">
                <a:solidFill>
                  <a:srgbClr val="575757"/>
                </a:solidFill>
                <a:latin typeface="+mn-lt"/>
                <a:ea typeface="+mn-ea"/>
              </a:rPr>
              <a:t>什么是</a:t>
            </a:r>
            <a:r>
              <a:rPr lang="zh-CN" altLang="en-US" sz="3000" dirty="0">
                <a:solidFill>
                  <a:srgbClr val="575757"/>
                </a:solidFill>
                <a:latin typeface="+mn-lt"/>
                <a:ea typeface="+mn-ea"/>
              </a:rPr>
              <a:t>量</a:t>
            </a:r>
            <a:r>
              <a:rPr lang="zh-CN" altLang="en-US" sz="3000" dirty="0" smtClean="0">
                <a:solidFill>
                  <a:srgbClr val="575757"/>
                </a:solidFill>
                <a:latin typeface="+mn-lt"/>
                <a:ea typeface="+mn-ea"/>
              </a:rPr>
              <a:t>化金融（计量金融学、数学金融学）</a:t>
            </a:r>
            <a:endParaRPr lang="en-US" sz="3000" b="0" dirty="0" smtClean="0">
              <a:solidFill>
                <a:srgbClr val="575757"/>
              </a:solidFill>
              <a:latin typeface="+mn-lt"/>
              <a:ea typeface="+mn-ea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11" name="Freeform 2"/>
          <p:cNvSpPr>
            <a:spLocks/>
          </p:cNvSpPr>
          <p:nvPr>
            <p:custDataLst>
              <p:tags r:id="rId1"/>
            </p:custDataLst>
          </p:nvPr>
        </p:nvSpPr>
        <p:spPr bwMode="blackWhite">
          <a:xfrm>
            <a:off x="1218411" y="2800529"/>
            <a:ext cx="3838575" cy="1619071"/>
          </a:xfrm>
          <a:custGeom>
            <a:avLst/>
            <a:gdLst>
              <a:gd name="T0" fmla="*/ 2147483647 w 1934"/>
              <a:gd name="T1" fmla="*/ 2147483647 h 1970"/>
              <a:gd name="T2" fmla="*/ 0 w 1934"/>
              <a:gd name="T3" fmla="*/ 2147483647 h 1970"/>
              <a:gd name="T4" fmla="*/ 0 w 1934"/>
              <a:gd name="T5" fmla="*/ 0 h 1970"/>
              <a:gd name="T6" fmla="*/ 2147483647 w 1934"/>
              <a:gd name="T7" fmla="*/ 0 h 1970"/>
              <a:gd name="T8" fmla="*/ 2147483647 w 1934"/>
              <a:gd name="T9" fmla="*/ 2147483647 h 1970"/>
              <a:gd name="T10" fmla="*/ 2147483647 w 1934"/>
              <a:gd name="T11" fmla="*/ 2147483647 h 1970"/>
              <a:gd name="T12" fmla="*/ 2147483647 w 1934"/>
              <a:gd name="T13" fmla="*/ 2147483647 h 1970"/>
              <a:gd name="T14" fmla="*/ 2147483647 w 1934"/>
              <a:gd name="T15" fmla="*/ 2147483647 h 1970"/>
              <a:gd name="T16" fmla="*/ 2147483647 w 1934"/>
              <a:gd name="T17" fmla="*/ 2147483647 h 1970"/>
              <a:gd name="T18" fmla="*/ 2147483647 w 1934"/>
              <a:gd name="T19" fmla="*/ 2147483647 h 1970"/>
              <a:gd name="T20" fmla="*/ 2147483647 w 1934"/>
              <a:gd name="T21" fmla="*/ 2147483647 h 1970"/>
              <a:gd name="T22" fmla="*/ 2147483647 w 1934"/>
              <a:gd name="T23" fmla="*/ 2147483647 h 1970"/>
              <a:gd name="T24" fmla="*/ 2147483647 w 1934"/>
              <a:gd name="T25" fmla="*/ 2147483647 h 1970"/>
              <a:gd name="T26" fmla="*/ 2147483647 w 1934"/>
              <a:gd name="T27" fmla="*/ 2147483647 h 1970"/>
              <a:gd name="T28" fmla="*/ 2147483647 w 1934"/>
              <a:gd name="T29" fmla="*/ 2147483647 h 1970"/>
              <a:gd name="T30" fmla="*/ 2147483647 w 1934"/>
              <a:gd name="T31" fmla="*/ 2147483647 h 1970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934"/>
              <a:gd name="T49" fmla="*/ 0 h 1970"/>
              <a:gd name="T50" fmla="*/ 1934 w 1934"/>
              <a:gd name="T51" fmla="*/ 1970 h 1970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934" h="1970">
                <a:moveTo>
                  <a:pt x="1518" y="1969"/>
                </a:moveTo>
                <a:lnTo>
                  <a:pt x="0" y="1969"/>
                </a:lnTo>
                <a:lnTo>
                  <a:pt x="0" y="0"/>
                </a:lnTo>
                <a:lnTo>
                  <a:pt x="1699" y="0"/>
                </a:lnTo>
                <a:lnTo>
                  <a:pt x="1648" y="525"/>
                </a:lnTo>
                <a:lnTo>
                  <a:pt x="1734" y="525"/>
                </a:lnTo>
                <a:lnTo>
                  <a:pt x="1734" y="276"/>
                </a:lnTo>
                <a:lnTo>
                  <a:pt x="1933" y="703"/>
                </a:lnTo>
                <a:lnTo>
                  <a:pt x="1734" y="1104"/>
                </a:lnTo>
                <a:lnTo>
                  <a:pt x="1734" y="855"/>
                </a:lnTo>
                <a:lnTo>
                  <a:pt x="1622" y="855"/>
                </a:lnTo>
                <a:lnTo>
                  <a:pt x="1596" y="1104"/>
                </a:lnTo>
                <a:lnTo>
                  <a:pt x="1596" y="864"/>
                </a:lnTo>
                <a:lnTo>
                  <a:pt x="1397" y="1256"/>
                </a:lnTo>
                <a:lnTo>
                  <a:pt x="1556" y="1597"/>
                </a:lnTo>
                <a:lnTo>
                  <a:pt x="1518" y="1969"/>
                </a:lnTo>
              </a:path>
            </a:pathLst>
          </a:custGeom>
          <a:solidFill>
            <a:schemeClr val="bg1"/>
          </a:solidFill>
          <a:ln w="12700" cap="rnd">
            <a:solidFill>
              <a:srgbClr val="B4B4B4"/>
            </a:solidFill>
            <a:round/>
            <a:headEnd/>
            <a:tailEnd/>
          </a:ln>
        </p:spPr>
        <p:txBody>
          <a:bodyPr wrap="square" lIns="91440" tIns="182880" rIns="1188000" bIns="36000"/>
          <a:lstStyle/>
          <a:p>
            <a:pPr lvl="0" defTabSz="957263">
              <a:spcBef>
                <a:spcPts val="600"/>
              </a:spcBef>
            </a:pPr>
            <a:r>
              <a:rPr lang="zh-CN" altLang="en-US" sz="1400" dirty="0" smtClean="0">
                <a:solidFill>
                  <a:srgbClr val="313131"/>
                </a:solidFill>
              </a:rPr>
              <a:t>金融学</a:t>
            </a:r>
            <a:endParaRPr lang="en-US" altLang="zh-CN" sz="1400" dirty="0" smtClean="0">
              <a:solidFill>
                <a:srgbClr val="313131"/>
              </a:solidFill>
            </a:endParaRPr>
          </a:p>
          <a:p>
            <a:pPr lvl="0" defTabSz="957263">
              <a:spcBef>
                <a:spcPts val="600"/>
              </a:spcBef>
            </a:pPr>
            <a:endParaRPr lang="en-US" sz="1400" dirty="0">
              <a:solidFill>
                <a:srgbClr val="313131"/>
              </a:solidFill>
            </a:endParaRPr>
          </a:p>
          <a:p>
            <a:pPr lvl="0" defTabSz="957263">
              <a:spcBef>
                <a:spcPts val="600"/>
              </a:spcBef>
            </a:pPr>
            <a:r>
              <a:rPr lang="zh-CN" altLang="en-US" sz="1400" dirty="0"/>
              <a:t>一般而言，若金融经济学家研究一所企业当前股价的结构性原因</a:t>
            </a:r>
            <a:endParaRPr lang="en-US" sz="1400" dirty="0" smtClean="0">
              <a:solidFill>
                <a:srgbClr val="313131"/>
              </a:solidFill>
            </a:endParaRPr>
          </a:p>
        </p:txBody>
      </p:sp>
      <p:sp>
        <p:nvSpPr>
          <p:cNvPr id="12" name="Freeform 3"/>
          <p:cNvSpPr>
            <a:spLocks/>
          </p:cNvSpPr>
          <p:nvPr>
            <p:custDataLst>
              <p:tags r:id="rId2"/>
            </p:custDataLst>
          </p:nvPr>
        </p:nvSpPr>
        <p:spPr bwMode="blackWhite">
          <a:xfrm>
            <a:off x="3971319" y="2800529"/>
            <a:ext cx="3840163" cy="1619071"/>
          </a:xfrm>
          <a:custGeom>
            <a:avLst/>
            <a:gdLst>
              <a:gd name="T0" fmla="*/ 2147483647 w 1934"/>
              <a:gd name="T1" fmla="*/ 0 h 1970"/>
              <a:gd name="T2" fmla="*/ 2147483647 w 1934"/>
              <a:gd name="T3" fmla="*/ 0 h 1970"/>
              <a:gd name="T4" fmla="*/ 2147483647 w 1934"/>
              <a:gd name="T5" fmla="*/ 2147483647 h 1970"/>
              <a:gd name="T6" fmla="*/ 2147483647 w 1934"/>
              <a:gd name="T7" fmla="*/ 2147483647 h 1970"/>
              <a:gd name="T8" fmla="*/ 2147483647 w 1934"/>
              <a:gd name="T9" fmla="*/ 2147483647 h 1970"/>
              <a:gd name="T10" fmla="*/ 2147483647 w 1934"/>
              <a:gd name="T11" fmla="*/ 2147483647 h 1970"/>
              <a:gd name="T12" fmla="*/ 2147483647 w 1934"/>
              <a:gd name="T13" fmla="*/ 2147483647 h 1970"/>
              <a:gd name="T14" fmla="*/ 0 w 1934"/>
              <a:gd name="T15" fmla="*/ 2147483647 h 1970"/>
              <a:gd name="T16" fmla="*/ 2147483647 w 1934"/>
              <a:gd name="T17" fmla="*/ 2147483647 h 1970"/>
              <a:gd name="T18" fmla="*/ 2147483647 w 1934"/>
              <a:gd name="T19" fmla="*/ 2147483647 h 1970"/>
              <a:gd name="T20" fmla="*/ 2147483647 w 1934"/>
              <a:gd name="T21" fmla="*/ 2147483647 h 1970"/>
              <a:gd name="T22" fmla="*/ 2147483647 w 1934"/>
              <a:gd name="T23" fmla="*/ 2147483647 h 1970"/>
              <a:gd name="T24" fmla="*/ 2147483647 w 1934"/>
              <a:gd name="T25" fmla="*/ 2147483647 h 1970"/>
              <a:gd name="T26" fmla="*/ 2147483647 w 1934"/>
              <a:gd name="T27" fmla="*/ 2147483647 h 1970"/>
              <a:gd name="T28" fmla="*/ 2147483647 w 1934"/>
              <a:gd name="T29" fmla="*/ 2147483647 h 1970"/>
              <a:gd name="T30" fmla="*/ 2147483647 w 1934"/>
              <a:gd name="T31" fmla="*/ 0 h 1970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934"/>
              <a:gd name="T49" fmla="*/ 0 h 1970"/>
              <a:gd name="T50" fmla="*/ 1934 w 1934"/>
              <a:gd name="T51" fmla="*/ 1970 h 1970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934" h="1970">
                <a:moveTo>
                  <a:pt x="414" y="0"/>
                </a:moveTo>
                <a:lnTo>
                  <a:pt x="1933" y="0"/>
                </a:lnTo>
                <a:lnTo>
                  <a:pt x="1933" y="1969"/>
                </a:lnTo>
                <a:lnTo>
                  <a:pt x="241" y="1969"/>
                </a:lnTo>
                <a:lnTo>
                  <a:pt x="284" y="1434"/>
                </a:lnTo>
                <a:lnTo>
                  <a:pt x="198" y="1434"/>
                </a:lnTo>
                <a:lnTo>
                  <a:pt x="198" y="1683"/>
                </a:lnTo>
                <a:lnTo>
                  <a:pt x="0" y="1265"/>
                </a:lnTo>
                <a:lnTo>
                  <a:pt x="198" y="864"/>
                </a:lnTo>
                <a:lnTo>
                  <a:pt x="198" y="1113"/>
                </a:lnTo>
                <a:lnTo>
                  <a:pt x="310" y="1113"/>
                </a:lnTo>
                <a:lnTo>
                  <a:pt x="345" y="864"/>
                </a:lnTo>
                <a:lnTo>
                  <a:pt x="336" y="1095"/>
                </a:lnTo>
                <a:lnTo>
                  <a:pt x="535" y="694"/>
                </a:lnTo>
                <a:lnTo>
                  <a:pt x="379" y="374"/>
                </a:lnTo>
                <a:lnTo>
                  <a:pt x="414" y="0"/>
                </a:lnTo>
              </a:path>
            </a:pathLst>
          </a:custGeom>
          <a:solidFill>
            <a:srgbClr val="81BC00"/>
          </a:solidFill>
          <a:ln w="12700" cap="rnd">
            <a:noFill/>
            <a:round/>
            <a:headEnd/>
            <a:tailEnd/>
          </a:ln>
        </p:spPr>
        <p:txBody>
          <a:bodyPr wrap="square" lIns="1116000" tIns="91440" rIns="91440" bIns="36000"/>
          <a:lstStyle/>
          <a:p>
            <a:pPr lvl="0" defTabSz="957263">
              <a:spcBef>
                <a:spcPts val="600"/>
              </a:spcBef>
            </a:pPr>
            <a:r>
              <a:rPr lang="zh-CN" altLang="en-US" sz="1400" dirty="0" smtClean="0">
                <a:solidFill>
                  <a:schemeClr val="bg1"/>
                </a:solidFill>
              </a:rPr>
              <a:t>量化金融学</a:t>
            </a:r>
            <a:endParaRPr lang="en-US" altLang="zh-CN" sz="1400" dirty="0" smtClean="0">
              <a:solidFill>
                <a:schemeClr val="bg1"/>
              </a:solidFill>
            </a:endParaRPr>
          </a:p>
          <a:p>
            <a:pPr lvl="0" defTabSz="957263">
              <a:spcBef>
                <a:spcPts val="600"/>
              </a:spcBef>
            </a:pPr>
            <a:endParaRPr lang="en-US" sz="1400" dirty="0">
              <a:solidFill>
                <a:schemeClr val="bg1"/>
              </a:solidFill>
            </a:endParaRPr>
          </a:p>
          <a:p>
            <a:pPr lvl="0" defTabSz="957263">
              <a:spcBef>
                <a:spcPts val="600"/>
              </a:spcBef>
            </a:pPr>
            <a:r>
              <a:rPr lang="zh-CN" altLang="en-US" sz="1400" dirty="0">
                <a:solidFill>
                  <a:schemeClr val="bg1"/>
                </a:solidFill>
              </a:rPr>
              <a:t>利用当前股价作参考，以金融数学理论为基础去计算并取得相关衍生工具的公平价格（应值价格），以及风险估算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218411" y="1600200"/>
            <a:ext cx="6629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tx2"/>
                </a:solidFill>
              </a:rPr>
              <a:t>维基百科上</a:t>
            </a:r>
            <a:r>
              <a:rPr lang="zh-CN" altLang="en-US" b="1" dirty="0" smtClean="0">
                <a:solidFill>
                  <a:schemeClr val="tx2"/>
                </a:solidFill>
              </a:rPr>
              <a:t>对</a:t>
            </a:r>
            <a:r>
              <a:rPr lang="zh-CN" altLang="en-US" b="1" dirty="0">
                <a:solidFill>
                  <a:schemeClr val="tx2"/>
                </a:solidFill>
              </a:rPr>
              <a:t>量化</a:t>
            </a:r>
            <a:r>
              <a:rPr lang="zh-CN" altLang="en-US" b="1" dirty="0" smtClean="0">
                <a:solidFill>
                  <a:schemeClr val="tx2"/>
                </a:solidFill>
              </a:rPr>
              <a:t>金</a:t>
            </a:r>
            <a:r>
              <a:rPr lang="zh-CN" altLang="en-US" b="1" dirty="0">
                <a:solidFill>
                  <a:schemeClr val="tx2"/>
                </a:solidFill>
              </a:rPr>
              <a:t>融的解</a:t>
            </a:r>
            <a:r>
              <a:rPr lang="zh-CN" altLang="en-US" b="1" dirty="0" smtClean="0">
                <a:solidFill>
                  <a:schemeClr val="tx2"/>
                </a:solidFill>
              </a:rPr>
              <a:t>释：</a:t>
            </a:r>
            <a:endParaRPr lang="en-US" altLang="zh-CN" b="1" dirty="0" smtClean="0">
              <a:solidFill>
                <a:schemeClr val="tx2"/>
              </a:solidFill>
            </a:endParaRPr>
          </a:p>
          <a:p>
            <a:endParaRPr lang="en-US" altLang="zh-CN" dirty="0" smtClean="0"/>
          </a:p>
          <a:p>
            <a:r>
              <a:rPr lang="zh-CN" altLang="en-US" dirty="0"/>
              <a:t>量化</a:t>
            </a:r>
            <a:r>
              <a:rPr lang="zh-CN" altLang="en-US" dirty="0" smtClean="0"/>
              <a:t>数学又称计量金融学、数学金融学，是专为金融市场而设的一门应用数学。</a:t>
            </a:r>
            <a:endParaRPr lang="en-US" altLang="zh-CN" dirty="0"/>
          </a:p>
        </p:txBody>
      </p:sp>
      <p:sp>
        <p:nvSpPr>
          <p:cNvPr id="14" name="TextBox 13"/>
          <p:cNvSpPr txBox="1"/>
          <p:nvPr/>
        </p:nvSpPr>
        <p:spPr>
          <a:xfrm>
            <a:off x="1231111" y="4800600"/>
            <a:ext cx="6629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tx2"/>
                </a:solidFill>
              </a:rPr>
              <a:t>更直接些的解释：</a:t>
            </a:r>
            <a:endParaRPr lang="en-US" altLang="zh-CN" b="1" dirty="0" smtClean="0">
              <a:solidFill>
                <a:schemeClr val="tx2"/>
              </a:solidFill>
            </a:endParaRPr>
          </a:p>
          <a:p>
            <a:endParaRPr lang="en-US" altLang="zh-CN" b="1" dirty="0" smtClean="0">
              <a:solidFill>
                <a:schemeClr val="tx2"/>
              </a:solidFill>
            </a:endParaRPr>
          </a:p>
          <a:p>
            <a:r>
              <a:rPr lang="zh-CN" altLang="en-US" dirty="0"/>
              <a:t>数量金融是将一系列数</a:t>
            </a:r>
            <a:r>
              <a:rPr lang="zh-CN" altLang="en-US" dirty="0" smtClean="0"/>
              <a:t>学</a:t>
            </a:r>
            <a:r>
              <a:rPr lang="en-US" altLang="zh-CN" dirty="0" smtClean="0"/>
              <a:t>/</a:t>
            </a:r>
            <a:r>
              <a:rPr lang="zh-CN" altLang="en-US" dirty="0" smtClean="0"/>
              <a:t>统</a:t>
            </a:r>
            <a:r>
              <a:rPr lang="zh-CN" altLang="en-US" dirty="0"/>
              <a:t>计</a:t>
            </a:r>
            <a:r>
              <a:rPr lang="zh-CN" altLang="en-US" dirty="0" smtClean="0"/>
              <a:t>学方</a:t>
            </a:r>
            <a:r>
              <a:rPr lang="zh-CN" altLang="en-US" dirty="0"/>
              <a:t>法引入金融市场进行研究的学科。而数量金融（或者叫金融工程）目前</a:t>
            </a:r>
            <a:r>
              <a:rPr lang="zh-CN" altLang="en-US" dirty="0" smtClean="0"/>
              <a:t>在主</a:t>
            </a:r>
            <a:r>
              <a:rPr lang="zh-CN" altLang="en-US" dirty="0"/>
              <a:t>要</a:t>
            </a:r>
            <a:r>
              <a:rPr lang="zh-CN" altLang="en-US" dirty="0" smtClean="0"/>
              <a:t>有四大</a:t>
            </a:r>
            <a:r>
              <a:rPr lang="zh-CN" altLang="en-US" dirty="0"/>
              <a:t>发展方向：</a:t>
            </a:r>
            <a:r>
              <a:rPr lang="zh-CN" altLang="en-US" u="sng" dirty="0"/>
              <a:t>交易策略研究</a:t>
            </a:r>
            <a:r>
              <a:rPr lang="zh-CN" altLang="en-US" dirty="0"/>
              <a:t>、</a:t>
            </a:r>
            <a:r>
              <a:rPr lang="zh-CN" altLang="en-US" u="sng" dirty="0"/>
              <a:t>衍生品定价与对冲</a:t>
            </a:r>
            <a:r>
              <a:rPr lang="zh-CN" altLang="en-US" dirty="0"/>
              <a:t>、</a:t>
            </a:r>
            <a:r>
              <a:rPr lang="zh-CN" altLang="en-US" u="sng" dirty="0"/>
              <a:t>风险管</a:t>
            </a:r>
            <a:r>
              <a:rPr lang="zh-CN" altLang="en-US" u="sng" dirty="0" smtClean="0"/>
              <a:t>理</a:t>
            </a:r>
            <a:r>
              <a:rPr lang="zh-CN" altLang="en-US" dirty="0" smtClean="0"/>
              <a:t>、</a:t>
            </a:r>
            <a:r>
              <a:rPr lang="zh-CN" altLang="en-US" u="sng" dirty="0"/>
              <a:t>高频交易</a:t>
            </a:r>
            <a:r>
              <a:rPr lang="zh-CN" altLang="en-US" dirty="0" smtClean="0"/>
              <a:t>。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80226233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sz="3000" dirty="0">
                <a:solidFill>
                  <a:srgbClr val="81BC00"/>
                </a:solidFill>
              </a:rPr>
              <a:t>量化</a:t>
            </a:r>
            <a:r>
              <a:rPr lang="zh-CN" altLang="en-US" sz="3000" dirty="0" smtClean="0">
                <a:solidFill>
                  <a:srgbClr val="81BC00"/>
                </a:solidFill>
              </a:rPr>
              <a:t>金</a:t>
            </a:r>
            <a:r>
              <a:rPr lang="zh-CN" altLang="en-US" sz="3000" dirty="0">
                <a:solidFill>
                  <a:srgbClr val="81BC00"/>
                </a:solidFill>
              </a:rPr>
              <a:t>融行</a:t>
            </a:r>
            <a:r>
              <a:rPr lang="zh-CN" altLang="en-US" sz="3000" dirty="0" smtClean="0">
                <a:solidFill>
                  <a:srgbClr val="81BC00"/>
                </a:solidFill>
              </a:rPr>
              <a:t>业概况</a:t>
            </a:r>
            <a:r>
              <a:rPr lang="en-US" sz="3000" b="0" dirty="0" smtClean="0">
                <a:solidFill>
                  <a:srgbClr val="81BC00"/>
                </a:solidFill>
              </a:rPr>
              <a:t/>
            </a:r>
            <a:br>
              <a:rPr lang="en-US" sz="3000" b="0" dirty="0" smtClean="0">
                <a:solidFill>
                  <a:srgbClr val="81BC00"/>
                </a:solidFill>
              </a:rPr>
            </a:br>
            <a:r>
              <a:rPr lang="en-US" altLang="zh-CN" sz="3000" dirty="0" smtClean="0">
                <a:solidFill>
                  <a:srgbClr val="575757"/>
                </a:solidFill>
              </a:rPr>
              <a:t>1.</a:t>
            </a:r>
            <a:r>
              <a:rPr lang="zh-CN" altLang="en-US" sz="3000" dirty="0" smtClean="0">
                <a:solidFill>
                  <a:srgbClr val="575757"/>
                </a:solidFill>
              </a:rPr>
              <a:t>交易策略研究</a:t>
            </a:r>
            <a:endParaRPr lang="en-US" sz="3000" b="0" dirty="0" smtClean="0">
              <a:solidFill>
                <a:srgbClr val="575757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7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2408180" y="2377334"/>
            <a:ext cx="5715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包括选股，择时，套利。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选股</a:t>
            </a:r>
            <a:r>
              <a:rPr lang="en-US" altLang="zh-CN" dirty="0" smtClean="0"/>
              <a:t>: </a:t>
            </a:r>
            <a:r>
              <a:rPr lang="zh-CN" altLang="en-US" dirty="0" smtClean="0"/>
              <a:t>以</a:t>
            </a:r>
            <a:r>
              <a:rPr lang="en-US" altLang="zh-CN" dirty="0" smtClean="0"/>
              <a:t>α</a:t>
            </a:r>
            <a:r>
              <a:rPr lang="zh-CN" altLang="en-US" dirty="0" smtClean="0"/>
              <a:t>与</a:t>
            </a:r>
            <a:r>
              <a:rPr lang="en-US" altLang="zh-CN" dirty="0" smtClean="0"/>
              <a:t>β</a:t>
            </a:r>
            <a:r>
              <a:rPr lang="zh-CN" altLang="en-US" dirty="0" smtClean="0"/>
              <a:t>策略为主</a:t>
            </a:r>
            <a:endParaRPr lang="en-US" altLang="zh-CN" dirty="0" smtClean="0"/>
          </a:p>
          <a:p>
            <a:r>
              <a:rPr lang="zh-CN" altLang="en-US" dirty="0" smtClean="0"/>
              <a:t>择时</a:t>
            </a:r>
            <a:r>
              <a:rPr lang="en-US" altLang="zh-CN" dirty="0" smtClean="0"/>
              <a:t>: </a:t>
            </a:r>
            <a:r>
              <a:rPr lang="zh-CN" altLang="en-US" dirty="0" smtClean="0"/>
              <a:t>目前流行机器学习的手段进行择时建模，诸如</a:t>
            </a:r>
            <a:r>
              <a:rPr lang="en-US" altLang="zh-CN" dirty="0" smtClean="0"/>
              <a:t>SVM</a:t>
            </a:r>
            <a:r>
              <a:rPr lang="zh-CN" altLang="en-US" dirty="0" smtClean="0"/>
              <a:t>、神经网络</a:t>
            </a:r>
            <a:endParaRPr lang="en-US" altLang="zh-CN" dirty="0" smtClean="0"/>
          </a:p>
          <a:p>
            <a:r>
              <a:rPr lang="zh-CN" altLang="en-US" dirty="0"/>
              <a:t>套利</a:t>
            </a:r>
            <a:r>
              <a:rPr lang="en-US" altLang="zh-CN" dirty="0" smtClean="0"/>
              <a:t>:</a:t>
            </a:r>
            <a:r>
              <a:rPr lang="zh-CN" altLang="en-US" dirty="0" smtClean="0"/>
              <a:t> 采用统计套利等策略进行金融产品交易</a:t>
            </a:r>
            <a:endParaRPr lang="en-US" altLang="zh-CN" dirty="0" smtClean="0"/>
          </a:p>
          <a:p>
            <a:r>
              <a:rPr lang="zh-CN" altLang="en-US" dirty="0" smtClean="0"/>
              <a:t>同时由于国内期权交易日趋活跃，现在的交易策略研究有偏向期权交易策略的趋势。</a:t>
            </a:r>
            <a:endParaRPr lang="zh-CN" alt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534765" y="1352021"/>
            <a:ext cx="1867584" cy="1642565"/>
            <a:chOff x="5913697" y="276170"/>
            <a:chExt cx="2264070" cy="1955571"/>
          </a:xfrm>
        </p:grpSpPr>
        <p:sp>
          <p:nvSpPr>
            <p:cNvPr id="8" name="Teardrop 18"/>
            <p:cNvSpPr/>
            <p:nvPr/>
          </p:nvSpPr>
          <p:spPr>
            <a:xfrm rot="2822534">
              <a:off x="6067946" y="121921"/>
              <a:ext cx="1955571" cy="2264070"/>
            </a:xfrm>
            <a:custGeom>
              <a:avLst/>
              <a:gdLst>
                <a:gd name="connsiteX0" fmla="*/ 0 w 1623290"/>
                <a:gd name="connsiteY0" fmla="*/ 811645 h 1623290"/>
                <a:gd name="connsiteX1" fmla="*/ 811645 w 1623290"/>
                <a:gd name="connsiteY1" fmla="*/ 0 h 1623290"/>
                <a:gd name="connsiteX2" fmla="*/ 1623290 w 1623290"/>
                <a:gd name="connsiteY2" fmla="*/ 0 h 1623290"/>
                <a:gd name="connsiteX3" fmla="*/ 1623290 w 1623290"/>
                <a:gd name="connsiteY3" fmla="*/ 811645 h 1623290"/>
                <a:gd name="connsiteX4" fmla="*/ 811645 w 1623290"/>
                <a:gd name="connsiteY4" fmla="*/ 1623290 h 1623290"/>
                <a:gd name="connsiteX5" fmla="*/ 0 w 1623290"/>
                <a:gd name="connsiteY5" fmla="*/ 811645 h 1623290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23290" h="1879369">
                  <a:moveTo>
                    <a:pt x="0" y="1067724"/>
                  </a:moveTo>
                  <a:cubicBezTo>
                    <a:pt x="0" y="619465"/>
                    <a:pt x="363386" y="256079"/>
                    <a:pt x="811645" y="256079"/>
                  </a:cubicBezTo>
                  <a:cubicBezTo>
                    <a:pt x="1036654" y="236998"/>
                    <a:pt x="1124489" y="290098"/>
                    <a:pt x="1401946" y="0"/>
                  </a:cubicBezTo>
                  <a:cubicBezTo>
                    <a:pt x="1581936" y="528102"/>
                    <a:pt x="1623290" y="797176"/>
                    <a:pt x="1623290" y="1067724"/>
                  </a:cubicBezTo>
                  <a:cubicBezTo>
                    <a:pt x="1623290" y="1515983"/>
                    <a:pt x="1259904" y="1879369"/>
                    <a:pt x="811645" y="1879369"/>
                  </a:cubicBezTo>
                  <a:cubicBezTo>
                    <a:pt x="363386" y="1879369"/>
                    <a:pt x="0" y="1515983"/>
                    <a:pt x="0" y="1067724"/>
                  </a:cubicBezTo>
                  <a:close/>
                </a:path>
              </a:pathLst>
            </a:custGeom>
            <a:solidFill>
              <a:srgbClr val="00A1D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grpSp>
          <p:nvGrpSpPr>
            <p:cNvPr id="2" name="Group 1"/>
            <p:cNvGrpSpPr/>
            <p:nvPr/>
          </p:nvGrpSpPr>
          <p:grpSpPr>
            <a:xfrm>
              <a:off x="6023836" y="586600"/>
              <a:ext cx="1757444" cy="1581549"/>
              <a:chOff x="6023836" y="586600"/>
              <a:chExt cx="1757444" cy="1581549"/>
            </a:xfrm>
          </p:grpSpPr>
          <p:sp>
            <p:nvSpPr>
              <p:cNvPr id="9" name="Rectangle 8"/>
              <p:cNvSpPr/>
              <p:nvPr/>
            </p:nvSpPr>
            <p:spPr>
              <a:xfrm>
                <a:off x="6680065" y="786039"/>
                <a:ext cx="1101215" cy="1025993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r>
                  <a:rPr lang="zh-CN" altLang="en-US" sz="2800" dirty="0" smtClean="0">
                    <a:solidFill>
                      <a:schemeClr val="bg2"/>
                    </a:solidFill>
                  </a:rPr>
                  <a:t>工作内容</a:t>
                </a:r>
                <a:endParaRPr lang="en-US" sz="2800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6023836" y="729577"/>
                <a:ext cx="689491" cy="1088366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r>
                  <a:rPr lang="en-US" altLang="zh-CN" sz="6600" dirty="0">
                    <a:solidFill>
                      <a:schemeClr val="bg2"/>
                    </a:solidFill>
                  </a:rPr>
                  <a:t>1</a:t>
                </a:r>
                <a:endParaRPr lang="en-US" sz="6600" dirty="0" smtClean="0">
                  <a:solidFill>
                    <a:schemeClr val="bg2"/>
                  </a:solidFill>
                </a:endParaRPr>
              </a:p>
            </p:txBody>
          </p:sp>
          <p:cxnSp>
            <p:nvCxnSpPr>
              <p:cNvPr id="11" name="Straight Connector 10"/>
              <p:cNvCxnSpPr/>
              <p:nvPr/>
            </p:nvCxnSpPr>
            <p:spPr>
              <a:xfrm>
                <a:off x="6601495" y="586600"/>
                <a:ext cx="0" cy="1581549"/>
              </a:xfrm>
              <a:prstGeom prst="line">
                <a:avLst/>
              </a:prstGeom>
              <a:ln w="6350">
                <a:solidFill>
                  <a:schemeClr val="bg2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" name="TextBox 12"/>
          <p:cNvSpPr txBox="1"/>
          <p:nvPr/>
        </p:nvSpPr>
        <p:spPr>
          <a:xfrm>
            <a:off x="696774" y="4800600"/>
            <a:ext cx="569898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en-US" altLang="zh-CN" dirty="0"/>
          </a:p>
          <a:p>
            <a:pPr algn="r"/>
            <a:r>
              <a:rPr lang="zh-CN" altLang="en-US" dirty="0" smtClean="0"/>
              <a:t>公募基金的指数量化部</a:t>
            </a:r>
            <a:endParaRPr lang="en-US" altLang="zh-CN" dirty="0" smtClean="0"/>
          </a:p>
          <a:p>
            <a:pPr algn="r"/>
            <a:r>
              <a:rPr lang="zh-CN" altLang="en-US" dirty="0" smtClean="0"/>
              <a:t>券商与期货公司的研究部（金融工程组）</a:t>
            </a:r>
            <a:endParaRPr lang="en-US" altLang="zh-CN" dirty="0" smtClean="0"/>
          </a:p>
          <a:p>
            <a:pPr algn="r"/>
            <a:r>
              <a:rPr lang="zh-CN" altLang="en-US" dirty="0" smtClean="0"/>
              <a:t>自营部（量化交易）</a:t>
            </a:r>
            <a:endParaRPr lang="en-US" altLang="zh-CN" dirty="0" smtClean="0"/>
          </a:p>
          <a:p>
            <a:pPr algn="r"/>
            <a:r>
              <a:rPr lang="zh-CN" altLang="en-US" dirty="0" smtClean="0"/>
              <a:t>资产管理部（子公司）</a:t>
            </a:r>
            <a:br>
              <a:rPr lang="zh-CN" altLang="en-US" dirty="0" smtClean="0"/>
            </a:br>
            <a:endParaRPr lang="zh-CN" altLang="en-US" dirty="0"/>
          </a:p>
        </p:txBody>
      </p:sp>
      <p:grpSp>
        <p:nvGrpSpPr>
          <p:cNvPr id="12" name="Group 11"/>
          <p:cNvGrpSpPr/>
          <p:nvPr/>
        </p:nvGrpSpPr>
        <p:grpSpPr>
          <a:xfrm>
            <a:off x="6646396" y="4635422"/>
            <a:ext cx="1677646" cy="1461482"/>
            <a:chOff x="4723154" y="1099817"/>
            <a:chExt cx="1985755" cy="1715180"/>
          </a:xfrm>
        </p:grpSpPr>
        <p:sp>
          <p:nvSpPr>
            <p:cNvPr id="17" name="Teardrop 18"/>
            <p:cNvSpPr/>
            <p:nvPr/>
          </p:nvSpPr>
          <p:spPr>
            <a:xfrm rot="17963130" flipH="1">
              <a:off x="4858442" y="964529"/>
              <a:ext cx="1715180" cy="1985755"/>
            </a:xfrm>
            <a:custGeom>
              <a:avLst/>
              <a:gdLst>
                <a:gd name="connsiteX0" fmla="*/ 0 w 1623290"/>
                <a:gd name="connsiteY0" fmla="*/ 811645 h 1623290"/>
                <a:gd name="connsiteX1" fmla="*/ 811645 w 1623290"/>
                <a:gd name="connsiteY1" fmla="*/ 0 h 1623290"/>
                <a:gd name="connsiteX2" fmla="*/ 1623290 w 1623290"/>
                <a:gd name="connsiteY2" fmla="*/ 0 h 1623290"/>
                <a:gd name="connsiteX3" fmla="*/ 1623290 w 1623290"/>
                <a:gd name="connsiteY3" fmla="*/ 811645 h 1623290"/>
                <a:gd name="connsiteX4" fmla="*/ 811645 w 1623290"/>
                <a:gd name="connsiteY4" fmla="*/ 1623290 h 1623290"/>
                <a:gd name="connsiteX5" fmla="*/ 0 w 1623290"/>
                <a:gd name="connsiteY5" fmla="*/ 811645 h 1623290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23290" h="1879369">
                  <a:moveTo>
                    <a:pt x="0" y="1067724"/>
                  </a:moveTo>
                  <a:cubicBezTo>
                    <a:pt x="0" y="619465"/>
                    <a:pt x="363386" y="256079"/>
                    <a:pt x="811645" y="256079"/>
                  </a:cubicBezTo>
                  <a:cubicBezTo>
                    <a:pt x="1036654" y="236998"/>
                    <a:pt x="1124489" y="290098"/>
                    <a:pt x="1401946" y="0"/>
                  </a:cubicBezTo>
                  <a:cubicBezTo>
                    <a:pt x="1581936" y="528102"/>
                    <a:pt x="1623290" y="797176"/>
                    <a:pt x="1623290" y="1067724"/>
                  </a:cubicBezTo>
                  <a:cubicBezTo>
                    <a:pt x="1623290" y="1515983"/>
                    <a:pt x="1259904" y="1879369"/>
                    <a:pt x="811645" y="1879369"/>
                  </a:cubicBezTo>
                  <a:cubicBezTo>
                    <a:pt x="363386" y="1879369"/>
                    <a:pt x="0" y="1515983"/>
                    <a:pt x="0" y="1067724"/>
                  </a:cubicBezTo>
                  <a:close/>
                </a:path>
              </a:pathLst>
            </a:custGeom>
            <a:solidFill>
              <a:srgbClr val="8C8C8C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5621179" y="1486526"/>
              <a:ext cx="950896" cy="101136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zh-CN" altLang="en-US" sz="2800" dirty="0" smtClean="0">
                  <a:solidFill>
                    <a:schemeClr val="bg2"/>
                  </a:solidFill>
                </a:rPr>
                <a:t>工作机遇</a:t>
              </a:r>
              <a:endParaRPr lang="en-US" sz="2800" dirty="0">
                <a:solidFill>
                  <a:schemeClr val="bg2"/>
                </a:solidFill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020571" y="1575120"/>
              <a:ext cx="689491" cy="1060573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r>
                <a:rPr lang="en-US" altLang="zh-CN" sz="5400" dirty="0">
                  <a:solidFill>
                    <a:schemeClr val="bg2"/>
                  </a:solidFill>
                </a:rPr>
                <a:t>2</a:t>
              </a:r>
              <a:endParaRPr lang="en-US" sz="5400" dirty="0" smtClean="0">
                <a:solidFill>
                  <a:schemeClr val="bg2"/>
                </a:solidFill>
              </a:endParaRPr>
            </a:p>
          </p:txBody>
        </p:sp>
        <p:cxnSp>
          <p:nvCxnSpPr>
            <p:cNvPr id="20" name="Straight Connector 19"/>
            <p:cNvCxnSpPr/>
            <p:nvPr/>
          </p:nvCxnSpPr>
          <p:spPr>
            <a:xfrm>
              <a:off x="5550923" y="1475122"/>
              <a:ext cx="0" cy="1240466"/>
            </a:xfrm>
            <a:prstGeom prst="line">
              <a:avLst/>
            </a:prstGeom>
            <a:ln w="6350">
              <a:solidFill>
                <a:schemeClr val="bg2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5196139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sz="3000" dirty="0" smtClean="0">
                <a:solidFill>
                  <a:srgbClr val="81BC00"/>
                </a:solidFill>
              </a:rPr>
              <a:t>量化金</a:t>
            </a:r>
            <a:r>
              <a:rPr lang="zh-CN" altLang="en-US" sz="3000" dirty="0">
                <a:solidFill>
                  <a:srgbClr val="81BC00"/>
                </a:solidFill>
              </a:rPr>
              <a:t>融行</a:t>
            </a:r>
            <a:r>
              <a:rPr lang="zh-CN" altLang="en-US" sz="3000" dirty="0" smtClean="0">
                <a:solidFill>
                  <a:srgbClr val="81BC00"/>
                </a:solidFill>
              </a:rPr>
              <a:t>业概况</a:t>
            </a:r>
            <a:r>
              <a:rPr lang="en-US" sz="3000" b="0" dirty="0" smtClean="0">
                <a:solidFill>
                  <a:srgbClr val="81BC00"/>
                </a:solidFill>
              </a:rPr>
              <a:t/>
            </a:r>
            <a:br>
              <a:rPr lang="en-US" sz="3000" b="0" dirty="0" smtClean="0">
                <a:solidFill>
                  <a:srgbClr val="81BC00"/>
                </a:solidFill>
              </a:rPr>
            </a:br>
            <a:r>
              <a:rPr lang="en-US" altLang="zh-CN" sz="3000" dirty="0" smtClean="0">
                <a:solidFill>
                  <a:srgbClr val="575757"/>
                </a:solidFill>
              </a:rPr>
              <a:t>2.</a:t>
            </a:r>
            <a:r>
              <a:rPr lang="zh-CN" altLang="en-US" sz="3000" dirty="0" smtClean="0">
                <a:solidFill>
                  <a:srgbClr val="575757"/>
                </a:solidFill>
              </a:rPr>
              <a:t>衍生品定价</a:t>
            </a:r>
            <a:endParaRPr lang="en-US" sz="3000" b="0" dirty="0" smtClean="0">
              <a:solidFill>
                <a:srgbClr val="575757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8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2209800" y="2563518"/>
            <a:ext cx="6629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场</a:t>
            </a:r>
            <a:r>
              <a:rPr lang="zh-CN" altLang="en-US" dirty="0"/>
              <a:t>外（内）期权的定价以及套</a:t>
            </a:r>
            <a:r>
              <a:rPr lang="zh-CN" altLang="en-US" dirty="0" smtClean="0"/>
              <a:t>利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/>
            </a:r>
            <a:br>
              <a:rPr lang="zh-CN" altLang="en-US" dirty="0" smtClean="0"/>
            </a:br>
            <a:endParaRPr lang="zh-CN" altLang="en-US" dirty="0"/>
          </a:p>
        </p:txBody>
      </p:sp>
      <p:grpSp>
        <p:nvGrpSpPr>
          <p:cNvPr id="6" name="Group 5"/>
          <p:cNvGrpSpPr/>
          <p:nvPr/>
        </p:nvGrpSpPr>
        <p:grpSpPr>
          <a:xfrm>
            <a:off x="534765" y="1352021"/>
            <a:ext cx="1867584" cy="1642565"/>
            <a:chOff x="5913697" y="276170"/>
            <a:chExt cx="2264070" cy="1955571"/>
          </a:xfrm>
        </p:grpSpPr>
        <p:sp>
          <p:nvSpPr>
            <p:cNvPr id="7" name="Teardrop 18"/>
            <p:cNvSpPr/>
            <p:nvPr/>
          </p:nvSpPr>
          <p:spPr>
            <a:xfrm rot="2822534">
              <a:off x="6067946" y="121921"/>
              <a:ext cx="1955571" cy="2264070"/>
            </a:xfrm>
            <a:custGeom>
              <a:avLst/>
              <a:gdLst>
                <a:gd name="connsiteX0" fmla="*/ 0 w 1623290"/>
                <a:gd name="connsiteY0" fmla="*/ 811645 h 1623290"/>
                <a:gd name="connsiteX1" fmla="*/ 811645 w 1623290"/>
                <a:gd name="connsiteY1" fmla="*/ 0 h 1623290"/>
                <a:gd name="connsiteX2" fmla="*/ 1623290 w 1623290"/>
                <a:gd name="connsiteY2" fmla="*/ 0 h 1623290"/>
                <a:gd name="connsiteX3" fmla="*/ 1623290 w 1623290"/>
                <a:gd name="connsiteY3" fmla="*/ 811645 h 1623290"/>
                <a:gd name="connsiteX4" fmla="*/ 811645 w 1623290"/>
                <a:gd name="connsiteY4" fmla="*/ 1623290 h 1623290"/>
                <a:gd name="connsiteX5" fmla="*/ 0 w 1623290"/>
                <a:gd name="connsiteY5" fmla="*/ 811645 h 1623290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23290" h="1879369">
                  <a:moveTo>
                    <a:pt x="0" y="1067724"/>
                  </a:moveTo>
                  <a:cubicBezTo>
                    <a:pt x="0" y="619465"/>
                    <a:pt x="363386" y="256079"/>
                    <a:pt x="811645" y="256079"/>
                  </a:cubicBezTo>
                  <a:cubicBezTo>
                    <a:pt x="1036654" y="236998"/>
                    <a:pt x="1124489" y="290098"/>
                    <a:pt x="1401946" y="0"/>
                  </a:cubicBezTo>
                  <a:cubicBezTo>
                    <a:pt x="1581936" y="528102"/>
                    <a:pt x="1623290" y="797176"/>
                    <a:pt x="1623290" y="1067724"/>
                  </a:cubicBezTo>
                  <a:cubicBezTo>
                    <a:pt x="1623290" y="1515983"/>
                    <a:pt x="1259904" y="1879369"/>
                    <a:pt x="811645" y="1879369"/>
                  </a:cubicBezTo>
                  <a:cubicBezTo>
                    <a:pt x="363386" y="1879369"/>
                    <a:pt x="0" y="1515983"/>
                    <a:pt x="0" y="1067724"/>
                  </a:cubicBezTo>
                  <a:close/>
                </a:path>
              </a:pathLst>
            </a:custGeom>
            <a:solidFill>
              <a:srgbClr val="00A1D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grpSp>
          <p:nvGrpSpPr>
            <p:cNvPr id="8" name="Group 7"/>
            <p:cNvGrpSpPr/>
            <p:nvPr/>
          </p:nvGrpSpPr>
          <p:grpSpPr>
            <a:xfrm>
              <a:off x="6023836" y="586600"/>
              <a:ext cx="1757444" cy="1581549"/>
              <a:chOff x="6023836" y="586600"/>
              <a:chExt cx="1757444" cy="1581549"/>
            </a:xfrm>
          </p:grpSpPr>
          <p:sp>
            <p:nvSpPr>
              <p:cNvPr id="9" name="Rectangle 8"/>
              <p:cNvSpPr/>
              <p:nvPr/>
            </p:nvSpPr>
            <p:spPr>
              <a:xfrm>
                <a:off x="6680065" y="786039"/>
                <a:ext cx="1101215" cy="1025993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r>
                  <a:rPr lang="zh-CN" altLang="en-US" sz="2800" dirty="0" smtClean="0">
                    <a:solidFill>
                      <a:schemeClr val="bg2"/>
                    </a:solidFill>
                  </a:rPr>
                  <a:t>工作内容</a:t>
                </a:r>
                <a:endParaRPr lang="en-US" sz="2800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6023836" y="729577"/>
                <a:ext cx="689491" cy="1088366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r>
                  <a:rPr lang="en-US" altLang="zh-CN" sz="6600" dirty="0">
                    <a:solidFill>
                      <a:schemeClr val="bg2"/>
                    </a:solidFill>
                  </a:rPr>
                  <a:t>1</a:t>
                </a:r>
                <a:endParaRPr lang="en-US" sz="6600" dirty="0" smtClean="0">
                  <a:solidFill>
                    <a:schemeClr val="bg2"/>
                  </a:solidFill>
                </a:endParaRPr>
              </a:p>
            </p:txBody>
          </p:sp>
          <p:cxnSp>
            <p:nvCxnSpPr>
              <p:cNvPr id="11" name="Straight Connector 10"/>
              <p:cNvCxnSpPr/>
              <p:nvPr/>
            </p:nvCxnSpPr>
            <p:spPr>
              <a:xfrm>
                <a:off x="6601495" y="586600"/>
                <a:ext cx="0" cy="1581549"/>
              </a:xfrm>
              <a:prstGeom prst="line">
                <a:avLst/>
              </a:prstGeom>
              <a:ln w="6350">
                <a:solidFill>
                  <a:schemeClr val="bg2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" name="Group 11"/>
          <p:cNvGrpSpPr/>
          <p:nvPr/>
        </p:nvGrpSpPr>
        <p:grpSpPr>
          <a:xfrm>
            <a:off x="6646396" y="4635422"/>
            <a:ext cx="1677646" cy="1461482"/>
            <a:chOff x="4723154" y="1099817"/>
            <a:chExt cx="1985755" cy="1715180"/>
          </a:xfrm>
        </p:grpSpPr>
        <p:sp>
          <p:nvSpPr>
            <p:cNvPr id="13" name="Teardrop 18"/>
            <p:cNvSpPr/>
            <p:nvPr/>
          </p:nvSpPr>
          <p:spPr>
            <a:xfrm rot="17963130" flipH="1">
              <a:off x="4858442" y="964529"/>
              <a:ext cx="1715180" cy="1985755"/>
            </a:xfrm>
            <a:custGeom>
              <a:avLst/>
              <a:gdLst>
                <a:gd name="connsiteX0" fmla="*/ 0 w 1623290"/>
                <a:gd name="connsiteY0" fmla="*/ 811645 h 1623290"/>
                <a:gd name="connsiteX1" fmla="*/ 811645 w 1623290"/>
                <a:gd name="connsiteY1" fmla="*/ 0 h 1623290"/>
                <a:gd name="connsiteX2" fmla="*/ 1623290 w 1623290"/>
                <a:gd name="connsiteY2" fmla="*/ 0 h 1623290"/>
                <a:gd name="connsiteX3" fmla="*/ 1623290 w 1623290"/>
                <a:gd name="connsiteY3" fmla="*/ 811645 h 1623290"/>
                <a:gd name="connsiteX4" fmla="*/ 811645 w 1623290"/>
                <a:gd name="connsiteY4" fmla="*/ 1623290 h 1623290"/>
                <a:gd name="connsiteX5" fmla="*/ 0 w 1623290"/>
                <a:gd name="connsiteY5" fmla="*/ 811645 h 1623290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23290" h="1879369">
                  <a:moveTo>
                    <a:pt x="0" y="1067724"/>
                  </a:moveTo>
                  <a:cubicBezTo>
                    <a:pt x="0" y="619465"/>
                    <a:pt x="363386" y="256079"/>
                    <a:pt x="811645" y="256079"/>
                  </a:cubicBezTo>
                  <a:cubicBezTo>
                    <a:pt x="1036654" y="236998"/>
                    <a:pt x="1124489" y="290098"/>
                    <a:pt x="1401946" y="0"/>
                  </a:cubicBezTo>
                  <a:cubicBezTo>
                    <a:pt x="1581936" y="528102"/>
                    <a:pt x="1623290" y="797176"/>
                    <a:pt x="1623290" y="1067724"/>
                  </a:cubicBezTo>
                  <a:cubicBezTo>
                    <a:pt x="1623290" y="1515983"/>
                    <a:pt x="1259904" y="1879369"/>
                    <a:pt x="811645" y="1879369"/>
                  </a:cubicBezTo>
                  <a:cubicBezTo>
                    <a:pt x="363386" y="1879369"/>
                    <a:pt x="0" y="1515983"/>
                    <a:pt x="0" y="1067724"/>
                  </a:cubicBezTo>
                  <a:close/>
                </a:path>
              </a:pathLst>
            </a:custGeom>
            <a:solidFill>
              <a:srgbClr val="8C8C8C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621179" y="1486526"/>
              <a:ext cx="950896" cy="101136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zh-CN" altLang="en-US" sz="2800" dirty="0" smtClean="0">
                  <a:solidFill>
                    <a:schemeClr val="bg2"/>
                  </a:solidFill>
                </a:rPr>
                <a:t>工作机遇</a:t>
              </a:r>
              <a:endParaRPr lang="en-US" sz="2800" dirty="0">
                <a:solidFill>
                  <a:schemeClr val="bg2"/>
                </a:solidFill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020571" y="1575120"/>
              <a:ext cx="689491" cy="1060573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r>
                <a:rPr lang="en-US" altLang="zh-CN" sz="5400" dirty="0">
                  <a:solidFill>
                    <a:schemeClr val="bg2"/>
                  </a:solidFill>
                </a:rPr>
                <a:t>2</a:t>
              </a:r>
              <a:endParaRPr lang="en-US" sz="5400" dirty="0" smtClean="0">
                <a:solidFill>
                  <a:schemeClr val="bg2"/>
                </a:solidFill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>
              <a:off x="5550923" y="1475122"/>
              <a:ext cx="0" cy="1240466"/>
            </a:xfrm>
            <a:prstGeom prst="line">
              <a:avLst/>
            </a:prstGeom>
            <a:ln w="6350">
              <a:solidFill>
                <a:schemeClr val="bg2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/>
          <p:cNvSpPr txBox="1"/>
          <p:nvPr/>
        </p:nvSpPr>
        <p:spPr>
          <a:xfrm>
            <a:off x="762000" y="4087769"/>
            <a:ext cx="54864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dirty="0" smtClean="0"/>
              <a:t>公</a:t>
            </a:r>
            <a:r>
              <a:rPr lang="zh-CN" altLang="en-US" dirty="0"/>
              <a:t>募基金指数量化</a:t>
            </a:r>
            <a:r>
              <a:rPr lang="zh-CN" altLang="en-US" dirty="0" smtClean="0"/>
              <a:t>部</a:t>
            </a:r>
            <a:endParaRPr lang="en-US" altLang="zh-CN" dirty="0" smtClean="0"/>
          </a:p>
          <a:p>
            <a:pPr algn="r"/>
            <a:r>
              <a:rPr lang="zh-CN" altLang="en-US" dirty="0" smtClean="0"/>
              <a:t>券</a:t>
            </a:r>
            <a:r>
              <a:rPr lang="zh-CN" altLang="en-US" dirty="0"/>
              <a:t>商的柜台市场部（</a:t>
            </a:r>
            <a:r>
              <a:rPr lang="en-US" altLang="zh-CN" dirty="0"/>
              <a:t>OTC</a:t>
            </a:r>
            <a:r>
              <a:rPr lang="zh-CN" altLang="en-US" dirty="0"/>
              <a:t>产品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algn="r"/>
            <a:r>
              <a:rPr lang="zh-CN" altLang="en-US" dirty="0" smtClean="0"/>
              <a:t>权</a:t>
            </a:r>
            <a:r>
              <a:rPr lang="zh-CN" altLang="en-US" dirty="0"/>
              <a:t>益与衍生品投资</a:t>
            </a:r>
            <a:r>
              <a:rPr lang="zh-CN" altLang="en-US" dirty="0" smtClean="0"/>
              <a:t>部</a:t>
            </a:r>
            <a:endParaRPr lang="en-US" altLang="zh-CN" dirty="0" smtClean="0"/>
          </a:p>
          <a:p>
            <a:pPr algn="r"/>
            <a:r>
              <a:rPr lang="zh-CN" altLang="en-US" dirty="0" smtClean="0"/>
              <a:t>资</a:t>
            </a:r>
            <a:r>
              <a:rPr lang="zh-CN" altLang="en-US" dirty="0"/>
              <a:t>产管理部（子公司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algn="r"/>
            <a:r>
              <a:rPr lang="zh-CN" altLang="en-US" dirty="0" smtClean="0"/>
              <a:t>机</a:t>
            </a:r>
            <a:r>
              <a:rPr lang="zh-CN" altLang="en-US" dirty="0"/>
              <a:t>构销售</a:t>
            </a:r>
            <a:r>
              <a:rPr lang="zh-CN" altLang="en-US" dirty="0" smtClean="0"/>
              <a:t>部</a:t>
            </a:r>
            <a:endParaRPr lang="en-US" altLang="zh-CN" dirty="0" smtClean="0"/>
          </a:p>
          <a:p>
            <a:pPr algn="r"/>
            <a:r>
              <a:rPr lang="zh-CN" altLang="en-US" dirty="0" smtClean="0"/>
              <a:t>期</a:t>
            </a:r>
            <a:r>
              <a:rPr lang="zh-CN" altLang="en-US" dirty="0"/>
              <a:t>货公司研究</a:t>
            </a:r>
            <a:r>
              <a:rPr lang="zh-CN" altLang="en-US" dirty="0" smtClean="0"/>
              <a:t>部</a:t>
            </a:r>
            <a:br>
              <a:rPr lang="zh-CN" altLang="en-US" dirty="0" smtClean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4885029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sz="3000" dirty="0" smtClean="0">
                <a:solidFill>
                  <a:srgbClr val="81BC00"/>
                </a:solidFill>
              </a:rPr>
              <a:t>量化金融行业概况</a:t>
            </a:r>
            <a:r>
              <a:rPr lang="en-US" sz="3000" b="0" dirty="0" smtClean="0">
                <a:solidFill>
                  <a:srgbClr val="81BC00"/>
                </a:solidFill>
              </a:rPr>
              <a:t/>
            </a:r>
            <a:br>
              <a:rPr lang="en-US" sz="3000" b="0" dirty="0" smtClean="0">
                <a:solidFill>
                  <a:srgbClr val="81BC00"/>
                </a:solidFill>
              </a:rPr>
            </a:br>
            <a:r>
              <a:rPr lang="en-US" altLang="zh-CN" sz="3000" dirty="0" smtClean="0">
                <a:solidFill>
                  <a:srgbClr val="575757"/>
                </a:solidFill>
              </a:rPr>
              <a:t>3.</a:t>
            </a:r>
            <a:r>
              <a:rPr lang="zh-CN" altLang="en-US" sz="3000" dirty="0" smtClean="0">
                <a:solidFill>
                  <a:srgbClr val="575757"/>
                </a:solidFill>
              </a:rPr>
              <a:t> 风险管理</a:t>
            </a:r>
            <a:endParaRPr lang="en-US" sz="3000" b="0" dirty="0" smtClean="0">
              <a:solidFill>
                <a:srgbClr val="575757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9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2286000" y="2514600"/>
            <a:ext cx="55207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涉及</a:t>
            </a:r>
            <a:r>
              <a:rPr lang="en-US" altLang="zh-CN" dirty="0" smtClean="0"/>
              <a:t>market risk, credit risk, model risk</a:t>
            </a:r>
            <a:r>
              <a:rPr lang="zh-CN" altLang="en-US" dirty="0" smtClean="0"/>
              <a:t>等分支。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通常需要较好的资产组合头寸管理知识以及衍生品对冲的知识，</a:t>
            </a:r>
            <a:r>
              <a:rPr lang="en-US" altLang="zh-CN" dirty="0" smtClean="0"/>
              <a:t>delta hedge, gamma hedge</a:t>
            </a:r>
            <a:r>
              <a:rPr lang="zh-CN" altLang="en-US" dirty="0" smtClean="0"/>
              <a:t>等自然必不可少。</a:t>
            </a:r>
            <a:endParaRPr lang="en-US" altLang="zh-CN" dirty="0" smtClean="0"/>
          </a:p>
        </p:txBody>
      </p:sp>
      <p:grpSp>
        <p:nvGrpSpPr>
          <p:cNvPr id="6" name="Group 5"/>
          <p:cNvGrpSpPr/>
          <p:nvPr/>
        </p:nvGrpSpPr>
        <p:grpSpPr>
          <a:xfrm>
            <a:off x="534765" y="1352021"/>
            <a:ext cx="1867584" cy="1642565"/>
            <a:chOff x="5913697" y="276170"/>
            <a:chExt cx="2264070" cy="1955571"/>
          </a:xfrm>
        </p:grpSpPr>
        <p:sp>
          <p:nvSpPr>
            <p:cNvPr id="7" name="Teardrop 18"/>
            <p:cNvSpPr/>
            <p:nvPr/>
          </p:nvSpPr>
          <p:spPr>
            <a:xfrm rot="2822534">
              <a:off x="6067946" y="121921"/>
              <a:ext cx="1955571" cy="2264070"/>
            </a:xfrm>
            <a:custGeom>
              <a:avLst/>
              <a:gdLst>
                <a:gd name="connsiteX0" fmla="*/ 0 w 1623290"/>
                <a:gd name="connsiteY0" fmla="*/ 811645 h 1623290"/>
                <a:gd name="connsiteX1" fmla="*/ 811645 w 1623290"/>
                <a:gd name="connsiteY1" fmla="*/ 0 h 1623290"/>
                <a:gd name="connsiteX2" fmla="*/ 1623290 w 1623290"/>
                <a:gd name="connsiteY2" fmla="*/ 0 h 1623290"/>
                <a:gd name="connsiteX3" fmla="*/ 1623290 w 1623290"/>
                <a:gd name="connsiteY3" fmla="*/ 811645 h 1623290"/>
                <a:gd name="connsiteX4" fmla="*/ 811645 w 1623290"/>
                <a:gd name="connsiteY4" fmla="*/ 1623290 h 1623290"/>
                <a:gd name="connsiteX5" fmla="*/ 0 w 1623290"/>
                <a:gd name="connsiteY5" fmla="*/ 811645 h 1623290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23290" h="1879369">
                  <a:moveTo>
                    <a:pt x="0" y="1067724"/>
                  </a:moveTo>
                  <a:cubicBezTo>
                    <a:pt x="0" y="619465"/>
                    <a:pt x="363386" y="256079"/>
                    <a:pt x="811645" y="256079"/>
                  </a:cubicBezTo>
                  <a:cubicBezTo>
                    <a:pt x="1036654" y="236998"/>
                    <a:pt x="1124489" y="290098"/>
                    <a:pt x="1401946" y="0"/>
                  </a:cubicBezTo>
                  <a:cubicBezTo>
                    <a:pt x="1581936" y="528102"/>
                    <a:pt x="1623290" y="797176"/>
                    <a:pt x="1623290" y="1067724"/>
                  </a:cubicBezTo>
                  <a:cubicBezTo>
                    <a:pt x="1623290" y="1515983"/>
                    <a:pt x="1259904" y="1879369"/>
                    <a:pt x="811645" y="1879369"/>
                  </a:cubicBezTo>
                  <a:cubicBezTo>
                    <a:pt x="363386" y="1879369"/>
                    <a:pt x="0" y="1515983"/>
                    <a:pt x="0" y="1067724"/>
                  </a:cubicBezTo>
                  <a:close/>
                </a:path>
              </a:pathLst>
            </a:custGeom>
            <a:solidFill>
              <a:srgbClr val="00A1D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grpSp>
          <p:nvGrpSpPr>
            <p:cNvPr id="8" name="Group 7"/>
            <p:cNvGrpSpPr/>
            <p:nvPr/>
          </p:nvGrpSpPr>
          <p:grpSpPr>
            <a:xfrm>
              <a:off x="6023836" y="586600"/>
              <a:ext cx="1757444" cy="1581549"/>
              <a:chOff x="6023836" y="586600"/>
              <a:chExt cx="1757444" cy="1581549"/>
            </a:xfrm>
          </p:grpSpPr>
          <p:sp>
            <p:nvSpPr>
              <p:cNvPr id="9" name="Rectangle 8"/>
              <p:cNvSpPr/>
              <p:nvPr/>
            </p:nvSpPr>
            <p:spPr>
              <a:xfrm>
                <a:off x="6680065" y="786039"/>
                <a:ext cx="1101215" cy="1025993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r>
                  <a:rPr lang="zh-CN" altLang="en-US" sz="2800" dirty="0" smtClean="0">
                    <a:solidFill>
                      <a:schemeClr val="bg2"/>
                    </a:solidFill>
                  </a:rPr>
                  <a:t>工作内容</a:t>
                </a:r>
                <a:endParaRPr lang="en-US" sz="2800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6023836" y="729577"/>
                <a:ext cx="689491" cy="1088366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r>
                  <a:rPr lang="en-US" altLang="zh-CN" sz="6600" dirty="0">
                    <a:solidFill>
                      <a:schemeClr val="bg2"/>
                    </a:solidFill>
                  </a:rPr>
                  <a:t>1</a:t>
                </a:r>
                <a:endParaRPr lang="en-US" sz="6600" dirty="0" smtClean="0">
                  <a:solidFill>
                    <a:schemeClr val="bg2"/>
                  </a:solidFill>
                </a:endParaRPr>
              </a:p>
            </p:txBody>
          </p:sp>
          <p:cxnSp>
            <p:nvCxnSpPr>
              <p:cNvPr id="11" name="Straight Connector 10"/>
              <p:cNvCxnSpPr/>
              <p:nvPr/>
            </p:nvCxnSpPr>
            <p:spPr>
              <a:xfrm>
                <a:off x="6601495" y="586600"/>
                <a:ext cx="0" cy="1581549"/>
              </a:xfrm>
              <a:prstGeom prst="line">
                <a:avLst/>
              </a:prstGeom>
              <a:ln w="6350">
                <a:solidFill>
                  <a:schemeClr val="bg2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" name="Group 11"/>
          <p:cNvGrpSpPr/>
          <p:nvPr/>
        </p:nvGrpSpPr>
        <p:grpSpPr>
          <a:xfrm>
            <a:off x="6646396" y="4635422"/>
            <a:ext cx="1677646" cy="1461482"/>
            <a:chOff x="4723154" y="1099817"/>
            <a:chExt cx="1985755" cy="1715180"/>
          </a:xfrm>
        </p:grpSpPr>
        <p:sp>
          <p:nvSpPr>
            <p:cNvPr id="13" name="Teardrop 18"/>
            <p:cNvSpPr/>
            <p:nvPr/>
          </p:nvSpPr>
          <p:spPr>
            <a:xfrm rot="17963130" flipH="1">
              <a:off x="4858442" y="964529"/>
              <a:ext cx="1715180" cy="1985755"/>
            </a:xfrm>
            <a:custGeom>
              <a:avLst/>
              <a:gdLst>
                <a:gd name="connsiteX0" fmla="*/ 0 w 1623290"/>
                <a:gd name="connsiteY0" fmla="*/ 811645 h 1623290"/>
                <a:gd name="connsiteX1" fmla="*/ 811645 w 1623290"/>
                <a:gd name="connsiteY1" fmla="*/ 0 h 1623290"/>
                <a:gd name="connsiteX2" fmla="*/ 1623290 w 1623290"/>
                <a:gd name="connsiteY2" fmla="*/ 0 h 1623290"/>
                <a:gd name="connsiteX3" fmla="*/ 1623290 w 1623290"/>
                <a:gd name="connsiteY3" fmla="*/ 811645 h 1623290"/>
                <a:gd name="connsiteX4" fmla="*/ 811645 w 1623290"/>
                <a:gd name="connsiteY4" fmla="*/ 1623290 h 1623290"/>
                <a:gd name="connsiteX5" fmla="*/ 0 w 1623290"/>
                <a:gd name="connsiteY5" fmla="*/ 811645 h 1623290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23290" h="1879369">
                  <a:moveTo>
                    <a:pt x="0" y="1067724"/>
                  </a:moveTo>
                  <a:cubicBezTo>
                    <a:pt x="0" y="619465"/>
                    <a:pt x="363386" y="256079"/>
                    <a:pt x="811645" y="256079"/>
                  </a:cubicBezTo>
                  <a:cubicBezTo>
                    <a:pt x="1036654" y="236998"/>
                    <a:pt x="1124489" y="290098"/>
                    <a:pt x="1401946" y="0"/>
                  </a:cubicBezTo>
                  <a:cubicBezTo>
                    <a:pt x="1581936" y="528102"/>
                    <a:pt x="1623290" y="797176"/>
                    <a:pt x="1623290" y="1067724"/>
                  </a:cubicBezTo>
                  <a:cubicBezTo>
                    <a:pt x="1623290" y="1515983"/>
                    <a:pt x="1259904" y="1879369"/>
                    <a:pt x="811645" y="1879369"/>
                  </a:cubicBezTo>
                  <a:cubicBezTo>
                    <a:pt x="363386" y="1879369"/>
                    <a:pt x="0" y="1515983"/>
                    <a:pt x="0" y="1067724"/>
                  </a:cubicBezTo>
                  <a:close/>
                </a:path>
              </a:pathLst>
            </a:custGeom>
            <a:solidFill>
              <a:srgbClr val="8C8C8C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621179" y="1486526"/>
              <a:ext cx="950896" cy="101136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zh-CN" altLang="en-US" sz="2800" dirty="0" smtClean="0">
                  <a:solidFill>
                    <a:schemeClr val="bg2"/>
                  </a:solidFill>
                </a:rPr>
                <a:t>工作机遇</a:t>
              </a:r>
              <a:endParaRPr lang="en-US" sz="2800" dirty="0">
                <a:solidFill>
                  <a:schemeClr val="bg2"/>
                </a:solidFill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020571" y="1575120"/>
              <a:ext cx="689491" cy="1060573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r>
                <a:rPr lang="en-US" altLang="zh-CN" sz="5400" dirty="0">
                  <a:solidFill>
                    <a:schemeClr val="bg2"/>
                  </a:solidFill>
                </a:rPr>
                <a:t>2</a:t>
              </a:r>
              <a:endParaRPr lang="en-US" sz="5400" dirty="0" smtClean="0">
                <a:solidFill>
                  <a:schemeClr val="bg2"/>
                </a:solidFill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>
              <a:off x="5550923" y="1475122"/>
              <a:ext cx="0" cy="1240466"/>
            </a:xfrm>
            <a:prstGeom prst="line">
              <a:avLst/>
            </a:prstGeom>
            <a:ln w="6350">
              <a:solidFill>
                <a:schemeClr val="bg2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/>
          <p:cNvSpPr txBox="1"/>
          <p:nvPr/>
        </p:nvSpPr>
        <p:spPr>
          <a:xfrm>
            <a:off x="1981200" y="5130447"/>
            <a:ext cx="434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dirty="0" smtClean="0"/>
              <a:t>多见于券商的风控部门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7277843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sz="3000" dirty="0" smtClean="0">
                <a:solidFill>
                  <a:srgbClr val="81BC00"/>
                </a:solidFill>
              </a:rPr>
              <a:t>量化金融行业概况</a:t>
            </a:r>
            <a:r>
              <a:rPr lang="en-US" sz="3000" b="0" dirty="0" smtClean="0">
                <a:solidFill>
                  <a:srgbClr val="81BC00"/>
                </a:solidFill>
              </a:rPr>
              <a:t/>
            </a:r>
            <a:br>
              <a:rPr lang="en-US" sz="3000" b="0" dirty="0" smtClean="0">
                <a:solidFill>
                  <a:srgbClr val="81BC00"/>
                </a:solidFill>
              </a:rPr>
            </a:br>
            <a:r>
              <a:rPr lang="en-US" altLang="zh-CN" sz="3000" dirty="0" smtClean="0">
                <a:solidFill>
                  <a:srgbClr val="575757"/>
                </a:solidFill>
              </a:rPr>
              <a:t>4.</a:t>
            </a:r>
            <a:r>
              <a:rPr lang="zh-CN" altLang="en-US" sz="3000" dirty="0" smtClean="0">
                <a:solidFill>
                  <a:srgbClr val="575757"/>
                </a:solidFill>
              </a:rPr>
              <a:t>高频交易</a:t>
            </a:r>
            <a:endParaRPr lang="en-US" sz="3000" b="0" dirty="0" smtClean="0">
              <a:solidFill>
                <a:srgbClr val="575757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10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2362200" y="2438400"/>
            <a:ext cx="62124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相对金融知识，更需要扎实的计算机系统构建能力。</a:t>
            </a:r>
            <a:endParaRPr lang="en-US" altLang="zh-CN" dirty="0" smtClean="0"/>
          </a:p>
          <a:p>
            <a:r>
              <a:rPr lang="zh-CN" altLang="en-US" dirty="0"/>
              <a:t>网</a:t>
            </a:r>
            <a:r>
              <a:rPr lang="zh-CN" altLang="en-US" dirty="0" smtClean="0"/>
              <a:t>络线路，通信协议，业务逻辑，内核使用率优化，快速存储技术等。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/>
              <a:t>核心的业务逻辑的处</a:t>
            </a:r>
            <a:r>
              <a:rPr lang="zh-CN" altLang="en-US" dirty="0" smtClean="0"/>
              <a:t>理用</a:t>
            </a:r>
            <a:r>
              <a:rPr lang="zh-CN" altLang="en-US" dirty="0"/>
              <a:t>到一些数学建</a:t>
            </a:r>
            <a:r>
              <a:rPr lang="zh-CN" altLang="en-US" dirty="0" smtClean="0"/>
              <a:t>模，但通常并不复杂。</a:t>
            </a:r>
            <a:endParaRPr lang="en-US" altLang="zh-CN" dirty="0" smtClean="0"/>
          </a:p>
        </p:txBody>
      </p:sp>
      <p:grpSp>
        <p:nvGrpSpPr>
          <p:cNvPr id="6" name="Group 5"/>
          <p:cNvGrpSpPr/>
          <p:nvPr/>
        </p:nvGrpSpPr>
        <p:grpSpPr>
          <a:xfrm>
            <a:off x="534765" y="1352021"/>
            <a:ext cx="1867584" cy="1642565"/>
            <a:chOff x="5913697" y="276170"/>
            <a:chExt cx="2264070" cy="1955571"/>
          </a:xfrm>
        </p:grpSpPr>
        <p:sp>
          <p:nvSpPr>
            <p:cNvPr id="7" name="Teardrop 18"/>
            <p:cNvSpPr/>
            <p:nvPr/>
          </p:nvSpPr>
          <p:spPr>
            <a:xfrm rot="2822534">
              <a:off x="6067946" y="121921"/>
              <a:ext cx="1955571" cy="2264070"/>
            </a:xfrm>
            <a:custGeom>
              <a:avLst/>
              <a:gdLst>
                <a:gd name="connsiteX0" fmla="*/ 0 w 1623290"/>
                <a:gd name="connsiteY0" fmla="*/ 811645 h 1623290"/>
                <a:gd name="connsiteX1" fmla="*/ 811645 w 1623290"/>
                <a:gd name="connsiteY1" fmla="*/ 0 h 1623290"/>
                <a:gd name="connsiteX2" fmla="*/ 1623290 w 1623290"/>
                <a:gd name="connsiteY2" fmla="*/ 0 h 1623290"/>
                <a:gd name="connsiteX3" fmla="*/ 1623290 w 1623290"/>
                <a:gd name="connsiteY3" fmla="*/ 811645 h 1623290"/>
                <a:gd name="connsiteX4" fmla="*/ 811645 w 1623290"/>
                <a:gd name="connsiteY4" fmla="*/ 1623290 h 1623290"/>
                <a:gd name="connsiteX5" fmla="*/ 0 w 1623290"/>
                <a:gd name="connsiteY5" fmla="*/ 811645 h 1623290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23290" h="1879369">
                  <a:moveTo>
                    <a:pt x="0" y="1067724"/>
                  </a:moveTo>
                  <a:cubicBezTo>
                    <a:pt x="0" y="619465"/>
                    <a:pt x="363386" y="256079"/>
                    <a:pt x="811645" y="256079"/>
                  </a:cubicBezTo>
                  <a:cubicBezTo>
                    <a:pt x="1036654" y="236998"/>
                    <a:pt x="1124489" y="290098"/>
                    <a:pt x="1401946" y="0"/>
                  </a:cubicBezTo>
                  <a:cubicBezTo>
                    <a:pt x="1581936" y="528102"/>
                    <a:pt x="1623290" y="797176"/>
                    <a:pt x="1623290" y="1067724"/>
                  </a:cubicBezTo>
                  <a:cubicBezTo>
                    <a:pt x="1623290" y="1515983"/>
                    <a:pt x="1259904" y="1879369"/>
                    <a:pt x="811645" y="1879369"/>
                  </a:cubicBezTo>
                  <a:cubicBezTo>
                    <a:pt x="363386" y="1879369"/>
                    <a:pt x="0" y="1515983"/>
                    <a:pt x="0" y="1067724"/>
                  </a:cubicBezTo>
                  <a:close/>
                </a:path>
              </a:pathLst>
            </a:custGeom>
            <a:solidFill>
              <a:srgbClr val="00A1D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grpSp>
          <p:nvGrpSpPr>
            <p:cNvPr id="8" name="Group 7"/>
            <p:cNvGrpSpPr/>
            <p:nvPr/>
          </p:nvGrpSpPr>
          <p:grpSpPr>
            <a:xfrm>
              <a:off x="6023836" y="586600"/>
              <a:ext cx="1757444" cy="1581549"/>
              <a:chOff x="6023836" y="586600"/>
              <a:chExt cx="1757444" cy="1581549"/>
            </a:xfrm>
          </p:grpSpPr>
          <p:sp>
            <p:nvSpPr>
              <p:cNvPr id="9" name="Rectangle 8"/>
              <p:cNvSpPr/>
              <p:nvPr/>
            </p:nvSpPr>
            <p:spPr>
              <a:xfrm>
                <a:off x="6680065" y="786039"/>
                <a:ext cx="1101215" cy="1025993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r>
                  <a:rPr lang="zh-CN" altLang="en-US" sz="2800" dirty="0" smtClean="0">
                    <a:solidFill>
                      <a:schemeClr val="bg2"/>
                    </a:solidFill>
                  </a:rPr>
                  <a:t>工作内容</a:t>
                </a:r>
                <a:endParaRPr lang="en-US" sz="2800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6023836" y="729577"/>
                <a:ext cx="689491" cy="1088366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r>
                  <a:rPr lang="en-US" altLang="zh-CN" sz="6600" dirty="0">
                    <a:solidFill>
                      <a:schemeClr val="bg2"/>
                    </a:solidFill>
                  </a:rPr>
                  <a:t>1</a:t>
                </a:r>
                <a:endParaRPr lang="en-US" sz="6600" dirty="0" smtClean="0">
                  <a:solidFill>
                    <a:schemeClr val="bg2"/>
                  </a:solidFill>
                </a:endParaRPr>
              </a:p>
            </p:txBody>
          </p:sp>
          <p:cxnSp>
            <p:nvCxnSpPr>
              <p:cNvPr id="11" name="Straight Connector 10"/>
              <p:cNvCxnSpPr/>
              <p:nvPr/>
            </p:nvCxnSpPr>
            <p:spPr>
              <a:xfrm>
                <a:off x="6601495" y="586600"/>
                <a:ext cx="0" cy="1581549"/>
              </a:xfrm>
              <a:prstGeom prst="line">
                <a:avLst/>
              </a:prstGeom>
              <a:ln w="6350">
                <a:solidFill>
                  <a:schemeClr val="bg2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" name="Group 11"/>
          <p:cNvGrpSpPr/>
          <p:nvPr/>
        </p:nvGrpSpPr>
        <p:grpSpPr>
          <a:xfrm>
            <a:off x="6646396" y="4635422"/>
            <a:ext cx="1677646" cy="1461482"/>
            <a:chOff x="4723154" y="1099817"/>
            <a:chExt cx="1985755" cy="1715180"/>
          </a:xfrm>
        </p:grpSpPr>
        <p:sp>
          <p:nvSpPr>
            <p:cNvPr id="13" name="Teardrop 18"/>
            <p:cNvSpPr/>
            <p:nvPr/>
          </p:nvSpPr>
          <p:spPr>
            <a:xfrm rot="17963130" flipH="1">
              <a:off x="4858442" y="964529"/>
              <a:ext cx="1715180" cy="1985755"/>
            </a:xfrm>
            <a:custGeom>
              <a:avLst/>
              <a:gdLst>
                <a:gd name="connsiteX0" fmla="*/ 0 w 1623290"/>
                <a:gd name="connsiteY0" fmla="*/ 811645 h 1623290"/>
                <a:gd name="connsiteX1" fmla="*/ 811645 w 1623290"/>
                <a:gd name="connsiteY1" fmla="*/ 0 h 1623290"/>
                <a:gd name="connsiteX2" fmla="*/ 1623290 w 1623290"/>
                <a:gd name="connsiteY2" fmla="*/ 0 h 1623290"/>
                <a:gd name="connsiteX3" fmla="*/ 1623290 w 1623290"/>
                <a:gd name="connsiteY3" fmla="*/ 811645 h 1623290"/>
                <a:gd name="connsiteX4" fmla="*/ 811645 w 1623290"/>
                <a:gd name="connsiteY4" fmla="*/ 1623290 h 1623290"/>
                <a:gd name="connsiteX5" fmla="*/ 0 w 1623290"/>
                <a:gd name="connsiteY5" fmla="*/ 811645 h 1623290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23290" h="1879369">
                  <a:moveTo>
                    <a:pt x="0" y="1067724"/>
                  </a:moveTo>
                  <a:cubicBezTo>
                    <a:pt x="0" y="619465"/>
                    <a:pt x="363386" y="256079"/>
                    <a:pt x="811645" y="256079"/>
                  </a:cubicBezTo>
                  <a:cubicBezTo>
                    <a:pt x="1036654" y="236998"/>
                    <a:pt x="1124489" y="290098"/>
                    <a:pt x="1401946" y="0"/>
                  </a:cubicBezTo>
                  <a:cubicBezTo>
                    <a:pt x="1581936" y="528102"/>
                    <a:pt x="1623290" y="797176"/>
                    <a:pt x="1623290" y="1067724"/>
                  </a:cubicBezTo>
                  <a:cubicBezTo>
                    <a:pt x="1623290" y="1515983"/>
                    <a:pt x="1259904" y="1879369"/>
                    <a:pt x="811645" y="1879369"/>
                  </a:cubicBezTo>
                  <a:cubicBezTo>
                    <a:pt x="363386" y="1879369"/>
                    <a:pt x="0" y="1515983"/>
                    <a:pt x="0" y="1067724"/>
                  </a:cubicBezTo>
                  <a:close/>
                </a:path>
              </a:pathLst>
            </a:custGeom>
            <a:solidFill>
              <a:srgbClr val="8C8C8C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621179" y="1486526"/>
              <a:ext cx="950896" cy="101136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zh-CN" altLang="en-US" sz="2800" dirty="0" smtClean="0">
                  <a:solidFill>
                    <a:schemeClr val="bg2"/>
                  </a:solidFill>
                </a:rPr>
                <a:t>工作机遇</a:t>
              </a:r>
              <a:endParaRPr lang="en-US" sz="2800" dirty="0">
                <a:solidFill>
                  <a:schemeClr val="bg2"/>
                </a:solidFill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020571" y="1575120"/>
              <a:ext cx="689491" cy="1060573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r>
                <a:rPr lang="en-US" altLang="zh-CN" sz="5400" dirty="0">
                  <a:solidFill>
                    <a:schemeClr val="bg2"/>
                  </a:solidFill>
                </a:rPr>
                <a:t>2</a:t>
              </a:r>
              <a:endParaRPr lang="en-US" sz="5400" dirty="0" smtClean="0">
                <a:solidFill>
                  <a:schemeClr val="bg2"/>
                </a:solidFill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>
              <a:off x="5550923" y="1475122"/>
              <a:ext cx="0" cy="1240466"/>
            </a:xfrm>
            <a:prstGeom prst="line">
              <a:avLst/>
            </a:prstGeom>
            <a:ln w="6350">
              <a:solidFill>
                <a:schemeClr val="bg2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/>
          <p:cNvSpPr txBox="1"/>
          <p:nvPr/>
        </p:nvSpPr>
        <p:spPr>
          <a:xfrm>
            <a:off x="1852371" y="5048596"/>
            <a:ext cx="4543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dirty="0" smtClean="0"/>
              <a:t>投行的高频交易部门（</a:t>
            </a:r>
            <a:r>
              <a:rPr lang="en-US" altLang="zh-CN" dirty="0" smtClean="0"/>
              <a:t>market</a:t>
            </a:r>
            <a:r>
              <a:rPr lang="zh-CN" altLang="en-US" dirty="0" smtClean="0"/>
              <a:t> </a:t>
            </a:r>
            <a:r>
              <a:rPr lang="en-US" altLang="zh-CN" dirty="0" smtClean="0"/>
              <a:t>making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algn="r"/>
            <a:r>
              <a:rPr lang="zh-CN" altLang="en-US" dirty="0" smtClean="0"/>
              <a:t>专著高频交易的基金公司等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3802045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000" b="0" dirty="0" smtClean="0">
                <a:solidFill>
                  <a:srgbClr val="81BC00"/>
                </a:solidFill>
              </a:rPr>
              <a:t>Quant</a:t>
            </a:r>
            <a:r>
              <a:rPr lang="zh-CN" altLang="en-US" sz="3000" b="0" dirty="0" smtClean="0">
                <a:solidFill>
                  <a:srgbClr val="81BC00"/>
                </a:solidFill>
              </a:rPr>
              <a:t>的职业发展</a:t>
            </a:r>
            <a:r>
              <a:rPr lang="en-US" sz="3000" b="0" dirty="0" smtClean="0">
                <a:solidFill>
                  <a:srgbClr val="81BC00"/>
                </a:solidFill>
              </a:rPr>
              <a:t> </a:t>
            </a:r>
            <a:br>
              <a:rPr lang="en-US" sz="3000" b="0" dirty="0" smtClean="0">
                <a:solidFill>
                  <a:srgbClr val="81BC00"/>
                </a:solidFill>
              </a:rPr>
            </a:br>
            <a:endParaRPr lang="en-US" sz="3000" b="0" dirty="0" smtClean="0">
              <a:solidFill>
                <a:srgbClr val="575757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11</a:t>
            </a:fld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393700" y="1745615"/>
            <a:ext cx="1317942" cy="693420"/>
          </a:xfrm>
          <a:prstGeom prst="rect">
            <a:avLst/>
          </a:prstGeom>
          <a:solidFill>
            <a:srgbClr val="DCDCDC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93700" y="2660015"/>
            <a:ext cx="1317942" cy="693420"/>
          </a:xfrm>
          <a:prstGeom prst="rect">
            <a:avLst/>
          </a:prstGeom>
          <a:solidFill>
            <a:srgbClr val="00A1DE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93700" y="3559175"/>
            <a:ext cx="1317942" cy="693420"/>
          </a:xfrm>
          <a:prstGeom prst="rect">
            <a:avLst/>
          </a:prstGeom>
          <a:solidFill>
            <a:srgbClr val="575757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93700" y="4473575"/>
            <a:ext cx="1317942" cy="693420"/>
          </a:xfrm>
          <a:prstGeom prst="rect">
            <a:avLst/>
          </a:prstGeom>
          <a:solidFill>
            <a:srgbClr val="81BC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93700" y="5375911"/>
            <a:ext cx="1317942" cy="693420"/>
          </a:xfrm>
          <a:prstGeom prst="rect">
            <a:avLst/>
          </a:prstGeom>
          <a:solidFill>
            <a:srgbClr val="8C8C8C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11" name="Isosceles Triangle 10"/>
          <p:cNvSpPr/>
          <p:nvPr/>
        </p:nvSpPr>
        <p:spPr>
          <a:xfrm rot="16200000">
            <a:off x="1333342" y="3874293"/>
            <a:ext cx="246381" cy="510222"/>
          </a:xfrm>
          <a:prstGeom prst="triangle">
            <a:avLst/>
          </a:prstGeom>
          <a:solidFill>
            <a:srgbClr val="31313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12" name="Round Same Side Corner Rectangle 11"/>
          <p:cNvSpPr/>
          <p:nvPr/>
        </p:nvSpPr>
        <p:spPr>
          <a:xfrm rot="5400000">
            <a:off x="4298157" y="343059"/>
            <a:ext cx="673101" cy="6866575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575757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0" dirty="0" err="1" smtClean="0"/>
          </a:p>
        </p:txBody>
      </p:sp>
      <p:sp>
        <p:nvSpPr>
          <p:cNvPr id="13" name="Isosceles Triangle 12"/>
          <p:cNvSpPr/>
          <p:nvPr/>
        </p:nvSpPr>
        <p:spPr>
          <a:xfrm rot="16200000">
            <a:off x="1319056" y="4774407"/>
            <a:ext cx="274956" cy="510222"/>
          </a:xfrm>
          <a:prstGeom prst="triangle">
            <a:avLst/>
          </a:prstGeom>
          <a:solidFill>
            <a:srgbClr val="3C8A2E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14" name="Round Same Side Corner Rectangle 13"/>
          <p:cNvSpPr/>
          <p:nvPr/>
        </p:nvSpPr>
        <p:spPr>
          <a:xfrm rot="5400000">
            <a:off x="4298157" y="1245394"/>
            <a:ext cx="673101" cy="6866575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1BC00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0" dirty="0" err="1" smtClean="0"/>
          </a:p>
        </p:txBody>
      </p:sp>
      <p:sp>
        <p:nvSpPr>
          <p:cNvPr id="15" name="Isosceles Triangle 14"/>
          <p:cNvSpPr/>
          <p:nvPr/>
        </p:nvSpPr>
        <p:spPr>
          <a:xfrm rot="16200000">
            <a:off x="1319052" y="5671983"/>
            <a:ext cx="274956" cy="510222"/>
          </a:xfrm>
          <a:prstGeom prst="triangle">
            <a:avLst/>
          </a:prstGeom>
          <a:solidFill>
            <a:srgbClr val="575757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16" name="Round Same Side Corner Rectangle 15"/>
          <p:cNvSpPr/>
          <p:nvPr/>
        </p:nvSpPr>
        <p:spPr>
          <a:xfrm rot="5400000">
            <a:off x="4298157" y="2147729"/>
            <a:ext cx="673101" cy="6866575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C8C8C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0" dirty="0" err="1" smtClean="0"/>
          </a:p>
        </p:txBody>
      </p:sp>
      <p:sp>
        <p:nvSpPr>
          <p:cNvPr id="17" name="Isosceles Triangle 16"/>
          <p:cNvSpPr/>
          <p:nvPr/>
        </p:nvSpPr>
        <p:spPr>
          <a:xfrm rot="16200000">
            <a:off x="1333343" y="2975133"/>
            <a:ext cx="246381" cy="510222"/>
          </a:xfrm>
          <a:prstGeom prst="triangle">
            <a:avLst/>
          </a:prstGeom>
          <a:solidFill>
            <a:srgbClr val="0079A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18" name="Round Same Side Corner Rectangle 17"/>
          <p:cNvSpPr/>
          <p:nvPr/>
        </p:nvSpPr>
        <p:spPr>
          <a:xfrm rot="5400000">
            <a:off x="4298157" y="-559276"/>
            <a:ext cx="673101" cy="6866575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A1DE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0" dirty="0" err="1" smtClean="0"/>
          </a:p>
        </p:txBody>
      </p:sp>
      <p:sp>
        <p:nvSpPr>
          <p:cNvPr id="19" name="Isosceles Triangle 18"/>
          <p:cNvSpPr/>
          <p:nvPr/>
        </p:nvSpPr>
        <p:spPr>
          <a:xfrm rot="16200000">
            <a:off x="1333344" y="2060733"/>
            <a:ext cx="246381" cy="510222"/>
          </a:xfrm>
          <a:prstGeom prst="triangle">
            <a:avLst/>
          </a:prstGeom>
          <a:solidFill>
            <a:srgbClr val="575757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20" name="Round Same Side Corner Rectangle 19"/>
          <p:cNvSpPr/>
          <p:nvPr/>
        </p:nvSpPr>
        <p:spPr>
          <a:xfrm rot="5400000">
            <a:off x="4298157" y="-1461611"/>
            <a:ext cx="673101" cy="6866575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CDCDC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0" dirty="0" err="1" smtClean="0"/>
          </a:p>
        </p:txBody>
      </p:sp>
      <p:sp>
        <p:nvSpPr>
          <p:cNvPr id="21" name="TextBox 20"/>
          <p:cNvSpPr txBox="1"/>
          <p:nvPr/>
        </p:nvSpPr>
        <p:spPr>
          <a:xfrm>
            <a:off x="452586" y="1672591"/>
            <a:ext cx="691028" cy="81136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US" sz="4800" b="1" dirty="0" smtClean="0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586" y="2601041"/>
            <a:ext cx="691028" cy="81136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US" sz="4800" b="1" dirty="0" smtClean="0">
                <a:solidFill>
                  <a:schemeClr val="bg2"/>
                </a:solidFill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586" y="3500201"/>
            <a:ext cx="691028" cy="81136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US" sz="4800" b="1" dirty="0" smtClean="0">
                <a:solidFill>
                  <a:schemeClr val="bg2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586" y="4414601"/>
            <a:ext cx="691028" cy="81136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US" sz="4800" b="1" dirty="0" smtClean="0">
                <a:solidFill>
                  <a:schemeClr val="bg2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586" y="5312575"/>
            <a:ext cx="691028" cy="81136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US" sz="4800" b="1" dirty="0" smtClean="0">
                <a:solidFill>
                  <a:schemeClr val="bg2"/>
                </a:solidFill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70963" y="1817788"/>
            <a:ext cx="6355715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2000" b="1" dirty="0" smtClean="0">
                <a:solidFill>
                  <a:srgbClr val="313131"/>
                </a:solidFill>
              </a:rPr>
              <a:t>Quant</a:t>
            </a:r>
            <a:r>
              <a:rPr lang="zh-CN" altLang="en-US" sz="2000" b="1" dirty="0" smtClean="0">
                <a:solidFill>
                  <a:srgbClr val="313131"/>
                </a:solidFill>
              </a:rPr>
              <a:t> 是做什么的？</a:t>
            </a:r>
            <a:endParaRPr lang="en-US" sz="2000" b="1" dirty="0">
              <a:solidFill>
                <a:srgbClr val="313131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370964" y="2752875"/>
            <a:ext cx="6355715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2000" b="1" dirty="0" smtClean="0">
                <a:solidFill>
                  <a:schemeClr val="bg2"/>
                </a:solidFill>
              </a:rPr>
              <a:t>有哪几种</a:t>
            </a:r>
            <a:r>
              <a:rPr lang="en-US" altLang="zh-CN" sz="2000" b="1" dirty="0" smtClean="0">
                <a:solidFill>
                  <a:schemeClr val="bg2"/>
                </a:solidFill>
              </a:rPr>
              <a:t>Quant</a:t>
            </a:r>
            <a:r>
              <a:rPr lang="zh-CN" altLang="en-US" sz="2000" b="1" dirty="0" smtClean="0">
                <a:solidFill>
                  <a:schemeClr val="bg2"/>
                </a:solidFill>
              </a:rPr>
              <a:t>？</a:t>
            </a:r>
            <a:endParaRPr lang="en-US" sz="2000" b="1" dirty="0">
              <a:solidFill>
                <a:schemeClr val="bg2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370962" y="3622458"/>
            <a:ext cx="6355715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lang="en-US" sz="2000" b="1" dirty="0">
                <a:solidFill>
                  <a:schemeClr val="bg2"/>
                </a:solidFill>
              </a:rPr>
              <a:t>Quant</a:t>
            </a:r>
            <a:r>
              <a:rPr lang="zh-CN" altLang="en-US" sz="2000" b="1" dirty="0">
                <a:solidFill>
                  <a:schemeClr val="bg2"/>
                </a:solidFill>
              </a:rPr>
              <a:t>工作的领域？</a:t>
            </a:r>
            <a:endParaRPr lang="en-US" sz="2000" dirty="0">
              <a:solidFill>
                <a:schemeClr val="bg2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370961" y="4535952"/>
            <a:ext cx="6355715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lang="en-US" sz="2000" b="1" dirty="0">
                <a:solidFill>
                  <a:schemeClr val="bg2"/>
                </a:solidFill>
              </a:rPr>
              <a:t>Quant</a:t>
            </a:r>
            <a:r>
              <a:rPr lang="zh-CN" altLang="en-US" sz="2000" b="1" dirty="0">
                <a:solidFill>
                  <a:schemeClr val="bg2"/>
                </a:solidFill>
              </a:rPr>
              <a:t>一般在哪些公司工作？</a:t>
            </a:r>
            <a:endParaRPr lang="en-US" sz="2000" dirty="0">
              <a:solidFill>
                <a:schemeClr val="bg2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1370964" y="5401592"/>
            <a:ext cx="6355715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lang="en-US" sz="2000" b="1" dirty="0" smtClean="0">
                <a:solidFill>
                  <a:schemeClr val="bg2"/>
                </a:solidFill>
              </a:rPr>
              <a:t>Quant</a:t>
            </a:r>
            <a:r>
              <a:rPr lang="zh-CN" altLang="en-US" sz="2000" b="1" dirty="0">
                <a:solidFill>
                  <a:schemeClr val="bg2"/>
                </a:solidFill>
              </a:rPr>
              <a:t>需</a:t>
            </a:r>
            <a:r>
              <a:rPr lang="zh-CN" altLang="en-US" sz="2000" b="1" dirty="0" smtClean="0">
                <a:solidFill>
                  <a:schemeClr val="bg2"/>
                </a:solidFill>
              </a:rPr>
              <a:t>要哪些技能？</a:t>
            </a:r>
            <a:endParaRPr lang="en-US" sz="20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365917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000" b="0" dirty="0" smtClean="0">
                <a:solidFill>
                  <a:srgbClr val="81BC00"/>
                </a:solidFill>
              </a:rPr>
              <a:t>Quant</a:t>
            </a:r>
            <a:r>
              <a:rPr lang="zh-CN" altLang="en-US" sz="3000" b="0" dirty="0" smtClean="0">
                <a:solidFill>
                  <a:srgbClr val="81BC00"/>
                </a:solidFill>
              </a:rPr>
              <a:t>的职业发展</a:t>
            </a:r>
            <a:r>
              <a:rPr lang="en-US" sz="3000" b="0" dirty="0" smtClean="0">
                <a:solidFill>
                  <a:srgbClr val="81BC00"/>
                </a:solidFill>
              </a:rPr>
              <a:t> </a:t>
            </a:r>
            <a:br>
              <a:rPr lang="en-US" sz="3000" b="0" dirty="0" smtClean="0">
                <a:solidFill>
                  <a:srgbClr val="81BC00"/>
                </a:solidFill>
              </a:rPr>
            </a:br>
            <a:r>
              <a:rPr lang="en-US" altLang="zh-CN" sz="3000" dirty="0" smtClean="0">
                <a:solidFill>
                  <a:srgbClr val="575757"/>
                </a:solidFill>
              </a:rPr>
              <a:t>1. Quant</a:t>
            </a:r>
            <a:r>
              <a:rPr lang="zh-CN" altLang="en-US" sz="3000" dirty="0" smtClean="0">
                <a:solidFill>
                  <a:srgbClr val="575757"/>
                </a:solidFill>
              </a:rPr>
              <a:t>是做什么的？</a:t>
            </a:r>
            <a:br>
              <a:rPr lang="zh-CN" altLang="en-US" sz="3000" dirty="0" smtClean="0">
                <a:solidFill>
                  <a:srgbClr val="575757"/>
                </a:solidFill>
              </a:rPr>
            </a:br>
            <a:endParaRPr lang="en-US" sz="3000" b="0" dirty="0" smtClean="0">
              <a:solidFill>
                <a:srgbClr val="575757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12</a:t>
            </a:fld>
            <a:endParaRPr lang="en-GB" dirty="0"/>
          </a:p>
        </p:txBody>
      </p:sp>
      <p:grpSp>
        <p:nvGrpSpPr>
          <p:cNvPr id="6" name="Group 5"/>
          <p:cNvGrpSpPr/>
          <p:nvPr/>
        </p:nvGrpSpPr>
        <p:grpSpPr>
          <a:xfrm>
            <a:off x="1219200" y="1508760"/>
            <a:ext cx="7467600" cy="4771585"/>
            <a:chOff x="1219200" y="1338627"/>
            <a:chExt cx="7467600" cy="4771585"/>
          </a:xfrm>
        </p:grpSpPr>
        <p:grpSp>
          <p:nvGrpSpPr>
            <p:cNvPr id="7" name="Group 6"/>
            <p:cNvGrpSpPr/>
            <p:nvPr/>
          </p:nvGrpSpPr>
          <p:grpSpPr>
            <a:xfrm>
              <a:off x="1912695" y="1338627"/>
              <a:ext cx="3405787" cy="3092192"/>
              <a:chOff x="2545080" y="892802"/>
              <a:chExt cx="3405787" cy="3092192"/>
            </a:xfrm>
          </p:grpSpPr>
          <p:sp>
            <p:nvSpPr>
              <p:cNvPr id="25" name="Rectangle 7"/>
              <p:cNvSpPr/>
              <p:nvPr/>
            </p:nvSpPr>
            <p:spPr>
              <a:xfrm rot="3173193">
                <a:off x="3380815" y="2112002"/>
                <a:ext cx="2865120" cy="426720"/>
              </a:xfrm>
              <a:custGeom>
                <a:avLst/>
                <a:gdLst>
                  <a:gd name="connsiteX0" fmla="*/ 0 w 2865120"/>
                  <a:gd name="connsiteY0" fmla="*/ 0 h 426720"/>
                  <a:gd name="connsiteX1" fmla="*/ 2865120 w 2865120"/>
                  <a:gd name="connsiteY1" fmla="*/ 0 h 426720"/>
                  <a:gd name="connsiteX2" fmla="*/ 2865120 w 2865120"/>
                  <a:gd name="connsiteY2" fmla="*/ 426720 h 426720"/>
                  <a:gd name="connsiteX3" fmla="*/ 0 w 2865120"/>
                  <a:gd name="connsiteY3" fmla="*/ 426720 h 426720"/>
                  <a:gd name="connsiteX4" fmla="*/ 0 w 2865120"/>
                  <a:gd name="connsiteY4" fmla="*/ 0 h 426720"/>
                  <a:gd name="connsiteX0" fmla="*/ 0 w 2865120"/>
                  <a:gd name="connsiteY0" fmla="*/ 0 h 426720"/>
                  <a:gd name="connsiteX1" fmla="*/ 2865120 w 2865120"/>
                  <a:gd name="connsiteY1" fmla="*/ 0 h 426720"/>
                  <a:gd name="connsiteX2" fmla="*/ 2865120 w 2865120"/>
                  <a:gd name="connsiteY2" fmla="*/ 426720 h 426720"/>
                  <a:gd name="connsiteX3" fmla="*/ 251466 w 2865120"/>
                  <a:gd name="connsiteY3" fmla="*/ 425884 h 426720"/>
                  <a:gd name="connsiteX4" fmla="*/ 0 w 2865120"/>
                  <a:gd name="connsiteY4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65120" h="426720">
                    <a:moveTo>
                      <a:pt x="0" y="0"/>
                    </a:moveTo>
                    <a:lnTo>
                      <a:pt x="2865120" y="0"/>
                    </a:lnTo>
                    <a:lnTo>
                      <a:pt x="2865120" y="426720"/>
                    </a:lnTo>
                    <a:lnTo>
                      <a:pt x="251466" y="4258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A1DE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>
                <a:noAutofit/>
              </a:bodyPr>
              <a:lstStyle/>
              <a:p>
                <a:pPr algn="ctr"/>
                <a:endParaRPr lang="en-US" sz="1400" dirty="0" err="1" smtClean="0">
                  <a:solidFill>
                    <a:schemeClr val="tx2"/>
                  </a:solidFill>
                </a:endParaRPr>
              </a:p>
            </p:txBody>
          </p:sp>
          <p:sp>
            <p:nvSpPr>
              <p:cNvPr id="26" name="Rectangle 9"/>
              <p:cNvSpPr/>
              <p:nvPr/>
            </p:nvSpPr>
            <p:spPr>
              <a:xfrm rot="17989464">
                <a:off x="2197800" y="2133482"/>
                <a:ext cx="2811657" cy="429008"/>
              </a:xfrm>
              <a:custGeom>
                <a:avLst/>
                <a:gdLst>
                  <a:gd name="connsiteX0" fmla="*/ 0 w 2865120"/>
                  <a:gd name="connsiteY0" fmla="*/ 0 h 426720"/>
                  <a:gd name="connsiteX1" fmla="*/ 2865120 w 2865120"/>
                  <a:gd name="connsiteY1" fmla="*/ 0 h 426720"/>
                  <a:gd name="connsiteX2" fmla="*/ 2865120 w 2865120"/>
                  <a:gd name="connsiteY2" fmla="*/ 426720 h 426720"/>
                  <a:gd name="connsiteX3" fmla="*/ 0 w 2865120"/>
                  <a:gd name="connsiteY3" fmla="*/ 426720 h 426720"/>
                  <a:gd name="connsiteX4" fmla="*/ 0 w 2865120"/>
                  <a:gd name="connsiteY4" fmla="*/ 0 h 426720"/>
                  <a:gd name="connsiteX0" fmla="*/ 0 w 2865120"/>
                  <a:gd name="connsiteY0" fmla="*/ 0 h 426720"/>
                  <a:gd name="connsiteX1" fmla="*/ 2865120 w 2865120"/>
                  <a:gd name="connsiteY1" fmla="*/ 0 h 426720"/>
                  <a:gd name="connsiteX2" fmla="*/ 2621134 w 2865120"/>
                  <a:gd name="connsiteY2" fmla="*/ 412882 h 426720"/>
                  <a:gd name="connsiteX3" fmla="*/ 0 w 2865120"/>
                  <a:gd name="connsiteY3" fmla="*/ 426720 h 426720"/>
                  <a:gd name="connsiteX4" fmla="*/ 0 w 2865120"/>
                  <a:gd name="connsiteY4" fmla="*/ 0 h 426720"/>
                  <a:gd name="connsiteX0" fmla="*/ 0 w 2865120"/>
                  <a:gd name="connsiteY0" fmla="*/ 0 h 426720"/>
                  <a:gd name="connsiteX1" fmla="*/ 2865120 w 2865120"/>
                  <a:gd name="connsiteY1" fmla="*/ 0 h 426720"/>
                  <a:gd name="connsiteX2" fmla="*/ 2629397 w 2865120"/>
                  <a:gd name="connsiteY2" fmla="*/ 408146 h 426720"/>
                  <a:gd name="connsiteX3" fmla="*/ 0 w 2865120"/>
                  <a:gd name="connsiteY3" fmla="*/ 426720 h 426720"/>
                  <a:gd name="connsiteX4" fmla="*/ 0 w 2865120"/>
                  <a:gd name="connsiteY4" fmla="*/ 0 h 426720"/>
                  <a:gd name="connsiteX0" fmla="*/ 0 w 2865120"/>
                  <a:gd name="connsiteY0" fmla="*/ 0 h 426720"/>
                  <a:gd name="connsiteX1" fmla="*/ 2865120 w 2865120"/>
                  <a:gd name="connsiteY1" fmla="*/ 0 h 426720"/>
                  <a:gd name="connsiteX2" fmla="*/ 2627911 w 2865120"/>
                  <a:gd name="connsiteY2" fmla="*/ 400765 h 426720"/>
                  <a:gd name="connsiteX3" fmla="*/ 0 w 2865120"/>
                  <a:gd name="connsiteY3" fmla="*/ 426720 h 426720"/>
                  <a:gd name="connsiteX4" fmla="*/ 0 w 2865120"/>
                  <a:gd name="connsiteY4" fmla="*/ 0 h 426720"/>
                  <a:gd name="connsiteX0" fmla="*/ 0 w 2832921"/>
                  <a:gd name="connsiteY0" fmla="*/ 3499 h 430219"/>
                  <a:gd name="connsiteX1" fmla="*/ 2832921 w 2832921"/>
                  <a:gd name="connsiteY1" fmla="*/ 0 h 430219"/>
                  <a:gd name="connsiteX2" fmla="*/ 2627911 w 2832921"/>
                  <a:gd name="connsiteY2" fmla="*/ 404264 h 430219"/>
                  <a:gd name="connsiteX3" fmla="*/ 0 w 2832921"/>
                  <a:gd name="connsiteY3" fmla="*/ 430219 h 430219"/>
                  <a:gd name="connsiteX4" fmla="*/ 0 w 2832921"/>
                  <a:gd name="connsiteY4" fmla="*/ 3499 h 430219"/>
                  <a:gd name="connsiteX0" fmla="*/ 0 w 2832921"/>
                  <a:gd name="connsiteY0" fmla="*/ 3499 h 430219"/>
                  <a:gd name="connsiteX1" fmla="*/ 2832921 w 2832921"/>
                  <a:gd name="connsiteY1" fmla="*/ 0 h 430219"/>
                  <a:gd name="connsiteX2" fmla="*/ 2620823 w 2832921"/>
                  <a:gd name="connsiteY2" fmla="*/ 404668 h 430219"/>
                  <a:gd name="connsiteX3" fmla="*/ 0 w 2832921"/>
                  <a:gd name="connsiteY3" fmla="*/ 430219 h 430219"/>
                  <a:gd name="connsiteX4" fmla="*/ 0 w 2832921"/>
                  <a:gd name="connsiteY4" fmla="*/ 3499 h 430219"/>
                  <a:gd name="connsiteX0" fmla="*/ 0 w 2811657"/>
                  <a:gd name="connsiteY0" fmla="*/ 2288 h 429008"/>
                  <a:gd name="connsiteX1" fmla="*/ 2811657 w 2811657"/>
                  <a:gd name="connsiteY1" fmla="*/ 0 h 429008"/>
                  <a:gd name="connsiteX2" fmla="*/ 2620823 w 2811657"/>
                  <a:gd name="connsiteY2" fmla="*/ 403457 h 429008"/>
                  <a:gd name="connsiteX3" fmla="*/ 0 w 2811657"/>
                  <a:gd name="connsiteY3" fmla="*/ 429008 h 429008"/>
                  <a:gd name="connsiteX4" fmla="*/ 0 w 2811657"/>
                  <a:gd name="connsiteY4" fmla="*/ 2288 h 4290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11657" h="429008">
                    <a:moveTo>
                      <a:pt x="0" y="2288"/>
                    </a:moveTo>
                    <a:lnTo>
                      <a:pt x="2811657" y="0"/>
                    </a:lnTo>
                    <a:lnTo>
                      <a:pt x="2620823" y="403457"/>
                    </a:lnTo>
                    <a:lnTo>
                      <a:pt x="0" y="429008"/>
                    </a:lnTo>
                    <a:lnTo>
                      <a:pt x="0" y="2288"/>
                    </a:lnTo>
                    <a:close/>
                  </a:path>
                </a:pathLst>
              </a:custGeom>
              <a:solidFill>
                <a:srgbClr val="72C7E7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>
                <a:noAutofit/>
              </a:bodyPr>
              <a:lstStyle/>
              <a:p>
                <a:pPr algn="ctr"/>
                <a:endParaRPr lang="en-US" sz="1400" dirty="0" err="1" smtClean="0">
                  <a:solidFill>
                    <a:schemeClr val="tx2"/>
                  </a:solidFill>
                </a:endParaRPr>
              </a:p>
            </p:txBody>
          </p:sp>
          <p:sp>
            <p:nvSpPr>
              <p:cNvPr id="27" name="Rectangle 5"/>
              <p:cNvSpPr/>
              <p:nvPr/>
            </p:nvSpPr>
            <p:spPr>
              <a:xfrm>
                <a:off x="2545080" y="3337561"/>
                <a:ext cx="3121343" cy="431483"/>
              </a:xfrm>
              <a:custGeom>
                <a:avLst/>
                <a:gdLst>
                  <a:gd name="connsiteX0" fmla="*/ 0 w 3040380"/>
                  <a:gd name="connsiteY0" fmla="*/ 0 h 426720"/>
                  <a:gd name="connsiteX1" fmla="*/ 3040380 w 3040380"/>
                  <a:gd name="connsiteY1" fmla="*/ 0 h 426720"/>
                  <a:gd name="connsiteX2" fmla="*/ 3040380 w 3040380"/>
                  <a:gd name="connsiteY2" fmla="*/ 426720 h 426720"/>
                  <a:gd name="connsiteX3" fmla="*/ 0 w 3040380"/>
                  <a:gd name="connsiteY3" fmla="*/ 426720 h 426720"/>
                  <a:gd name="connsiteX4" fmla="*/ 0 w 3040380"/>
                  <a:gd name="connsiteY4" fmla="*/ 0 h 426720"/>
                  <a:gd name="connsiteX0" fmla="*/ 228600 w 3040380"/>
                  <a:gd name="connsiteY0" fmla="*/ 7620 h 426720"/>
                  <a:gd name="connsiteX1" fmla="*/ 3040380 w 3040380"/>
                  <a:gd name="connsiteY1" fmla="*/ 0 h 426720"/>
                  <a:gd name="connsiteX2" fmla="*/ 3040380 w 3040380"/>
                  <a:gd name="connsiteY2" fmla="*/ 426720 h 426720"/>
                  <a:gd name="connsiteX3" fmla="*/ 0 w 3040380"/>
                  <a:gd name="connsiteY3" fmla="*/ 426720 h 426720"/>
                  <a:gd name="connsiteX4" fmla="*/ 228600 w 3040380"/>
                  <a:gd name="connsiteY4" fmla="*/ 7620 h 426720"/>
                  <a:gd name="connsiteX0" fmla="*/ 247650 w 3040380"/>
                  <a:gd name="connsiteY0" fmla="*/ 2858 h 426720"/>
                  <a:gd name="connsiteX1" fmla="*/ 3040380 w 3040380"/>
                  <a:gd name="connsiteY1" fmla="*/ 0 h 426720"/>
                  <a:gd name="connsiteX2" fmla="*/ 3040380 w 3040380"/>
                  <a:gd name="connsiteY2" fmla="*/ 426720 h 426720"/>
                  <a:gd name="connsiteX3" fmla="*/ 0 w 3040380"/>
                  <a:gd name="connsiteY3" fmla="*/ 426720 h 426720"/>
                  <a:gd name="connsiteX4" fmla="*/ 247650 w 3040380"/>
                  <a:gd name="connsiteY4" fmla="*/ 2858 h 426720"/>
                  <a:gd name="connsiteX0" fmla="*/ 245269 w 3040380"/>
                  <a:gd name="connsiteY0" fmla="*/ 477 h 426720"/>
                  <a:gd name="connsiteX1" fmla="*/ 3040380 w 3040380"/>
                  <a:gd name="connsiteY1" fmla="*/ 0 h 426720"/>
                  <a:gd name="connsiteX2" fmla="*/ 3040380 w 3040380"/>
                  <a:gd name="connsiteY2" fmla="*/ 426720 h 426720"/>
                  <a:gd name="connsiteX3" fmla="*/ 0 w 3040380"/>
                  <a:gd name="connsiteY3" fmla="*/ 426720 h 426720"/>
                  <a:gd name="connsiteX4" fmla="*/ 245269 w 3040380"/>
                  <a:gd name="connsiteY4" fmla="*/ 477 h 426720"/>
                  <a:gd name="connsiteX0" fmla="*/ 245269 w 3121343"/>
                  <a:gd name="connsiteY0" fmla="*/ 477 h 431483"/>
                  <a:gd name="connsiteX1" fmla="*/ 3040380 w 3121343"/>
                  <a:gd name="connsiteY1" fmla="*/ 0 h 431483"/>
                  <a:gd name="connsiteX2" fmla="*/ 3121343 w 3121343"/>
                  <a:gd name="connsiteY2" fmla="*/ 431483 h 431483"/>
                  <a:gd name="connsiteX3" fmla="*/ 0 w 3121343"/>
                  <a:gd name="connsiteY3" fmla="*/ 426720 h 431483"/>
                  <a:gd name="connsiteX4" fmla="*/ 245269 w 3121343"/>
                  <a:gd name="connsiteY4" fmla="*/ 477 h 431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21343" h="431483">
                    <a:moveTo>
                      <a:pt x="245269" y="477"/>
                    </a:moveTo>
                    <a:lnTo>
                      <a:pt x="3040380" y="0"/>
                    </a:lnTo>
                    <a:lnTo>
                      <a:pt x="3121343" y="431483"/>
                    </a:lnTo>
                    <a:lnTo>
                      <a:pt x="0" y="426720"/>
                    </a:lnTo>
                    <a:lnTo>
                      <a:pt x="245269" y="477"/>
                    </a:lnTo>
                    <a:close/>
                  </a:path>
                </a:pathLst>
              </a:custGeom>
              <a:solidFill>
                <a:srgbClr val="002776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>
                <a:noAutofit/>
              </a:bodyPr>
              <a:lstStyle/>
              <a:p>
                <a:pPr algn="ctr"/>
                <a:endParaRPr lang="en-US" sz="1400" dirty="0" err="1" smtClean="0">
                  <a:solidFill>
                    <a:schemeClr val="tx2"/>
                  </a:solidFill>
                </a:endParaRPr>
              </a:p>
            </p:txBody>
          </p:sp>
          <p:sp>
            <p:nvSpPr>
              <p:cNvPr id="28" name="Rectangle 7"/>
              <p:cNvSpPr/>
              <p:nvPr/>
            </p:nvSpPr>
            <p:spPr>
              <a:xfrm rot="3173193">
                <a:off x="5290448" y="3324575"/>
                <a:ext cx="886915" cy="433923"/>
              </a:xfrm>
              <a:custGeom>
                <a:avLst/>
                <a:gdLst>
                  <a:gd name="connsiteX0" fmla="*/ 0 w 2865120"/>
                  <a:gd name="connsiteY0" fmla="*/ 0 h 426720"/>
                  <a:gd name="connsiteX1" fmla="*/ 2865120 w 2865120"/>
                  <a:gd name="connsiteY1" fmla="*/ 0 h 426720"/>
                  <a:gd name="connsiteX2" fmla="*/ 2865120 w 2865120"/>
                  <a:gd name="connsiteY2" fmla="*/ 426720 h 426720"/>
                  <a:gd name="connsiteX3" fmla="*/ 0 w 2865120"/>
                  <a:gd name="connsiteY3" fmla="*/ 426720 h 426720"/>
                  <a:gd name="connsiteX4" fmla="*/ 0 w 2865120"/>
                  <a:gd name="connsiteY4" fmla="*/ 0 h 426720"/>
                  <a:gd name="connsiteX0" fmla="*/ 0 w 2865120"/>
                  <a:gd name="connsiteY0" fmla="*/ 0 h 426720"/>
                  <a:gd name="connsiteX1" fmla="*/ 2865120 w 2865120"/>
                  <a:gd name="connsiteY1" fmla="*/ 0 h 426720"/>
                  <a:gd name="connsiteX2" fmla="*/ 2865120 w 2865120"/>
                  <a:gd name="connsiteY2" fmla="*/ 426720 h 426720"/>
                  <a:gd name="connsiteX3" fmla="*/ 251466 w 2865120"/>
                  <a:gd name="connsiteY3" fmla="*/ 425884 h 426720"/>
                  <a:gd name="connsiteX4" fmla="*/ 0 w 2865120"/>
                  <a:gd name="connsiteY4" fmla="*/ 0 h 426720"/>
                  <a:gd name="connsiteX0" fmla="*/ 0 w 4498063"/>
                  <a:gd name="connsiteY0" fmla="*/ 7203 h 433923"/>
                  <a:gd name="connsiteX1" fmla="*/ 4498064 w 4498063"/>
                  <a:gd name="connsiteY1" fmla="*/ 0 h 433923"/>
                  <a:gd name="connsiteX2" fmla="*/ 2865120 w 4498063"/>
                  <a:gd name="connsiteY2" fmla="*/ 433923 h 433923"/>
                  <a:gd name="connsiteX3" fmla="*/ 251466 w 4498063"/>
                  <a:gd name="connsiteY3" fmla="*/ 433087 h 433923"/>
                  <a:gd name="connsiteX4" fmla="*/ 0 w 4498063"/>
                  <a:gd name="connsiteY4" fmla="*/ 7203 h 433923"/>
                  <a:gd name="connsiteX0" fmla="*/ 0 w 4498063"/>
                  <a:gd name="connsiteY0" fmla="*/ 7203 h 433923"/>
                  <a:gd name="connsiteX1" fmla="*/ 4498064 w 4498063"/>
                  <a:gd name="connsiteY1" fmla="*/ 0 h 433923"/>
                  <a:gd name="connsiteX2" fmla="*/ 2865120 w 4498063"/>
                  <a:gd name="connsiteY2" fmla="*/ 433923 h 433923"/>
                  <a:gd name="connsiteX3" fmla="*/ 96864 w 4498063"/>
                  <a:gd name="connsiteY3" fmla="*/ 433910 h 433923"/>
                  <a:gd name="connsiteX4" fmla="*/ 0 w 4498063"/>
                  <a:gd name="connsiteY4" fmla="*/ 7203 h 433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498063" h="433923">
                    <a:moveTo>
                      <a:pt x="0" y="7203"/>
                    </a:moveTo>
                    <a:lnTo>
                      <a:pt x="4498064" y="0"/>
                    </a:lnTo>
                    <a:lnTo>
                      <a:pt x="2865120" y="433923"/>
                    </a:lnTo>
                    <a:lnTo>
                      <a:pt x="96864" y="433910"/>
                    </a:lnTo>
                    <a:lnTo>
                      <a:pt x="0" y="7203"/>
                    </a:lnTo>
                    <a:close/>
                  </a:path>
                </a:pathLst>
              </a:custGeom>
              <a:solidFill>
                <a:srgbClr val="00A1DE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>
                <a:noAutofit/>
              </a:bodyPr>
              <a:lstStyle/>
              <a:p>
                <a:pPr algn="ctr"/>
                <a:endParaRPr lang="en-US" sz="1400" dirty="0" err="1" smtClean="0">
                  <a:solidFill>
                    <a:schemeClr val="tx2"/>
                  </a:solidFill>
                </a:endParaRPr>
              </a:p>
            </p:txBody>
          </p:sp>
        </p:grpSp>
        <p:sp>
          <p:nvSpPr>
            <p:cNvPr id="8" name="Rectangle 7"/>
            <p:cNvSpPr/>
            <p:nvPr/>
          </p:nvSpPr>
          <p:spPr>
            <a:xfrm rot="18426807" flipV="1">
              <a:off x="4020712" y="4429549"/>
              <a:ext cx="2865120" cy="426720"/>
            </a:xfrm>
            <a:custGeom>
              <a:avLst/>
              <a:gdLst>
                <a:gd name="connsiteX0" fmla="*/ 0 w 2865120"/>
                <a:gd name="connsiteY0" fmla="*/ 0 h 426720"/>
                <a:gd name="connsiteX1" fmla="*/ 2865120 w 2865120"/>
                <a:gd name="connsiteY1" fmla="*/ 0 h 426720"/>
                <a:gd name="connsiteX2" fmla="*/ 2865120 w 2865120"/>
                <a:gd name="connsiteY2" fmla="*/ 426720 h 426720"/>
                <a:gd name="connsiteX3" fmla="*/ 0 w 2865120"/>
                <a:gd name="connsiteY3" fmla="*/ 426720 h 426720"/>
                <a:gd name="connsiteX4" fmla="*/ 0 w 2865120"/>
                <a:gd name="connsiteY4" fmla="*/ 0 h 426720"/>
                <a:gd name="connsiteX0" fmla="*/ 0 w 2865120"/>
                <a:gd name="connsiteY0" fmla="*/ 0 h 426720"/>
                <a:gd name="connsiteX1" fmla="*/ 2865120 w 2865120"/>
                <a:gd name="connsiteY1" fmla="*/ 0 h 426720"/>
                <a:gd name="connsiteX2" fmla="*/ 2865120 w 2865120"/>
                <a:gd name="connsiteY2" fmla="*/ 426720 h 426720"/>
                <a:gd name="connsiteX3" fmla="*/ 251466 w 2865120"/>
                <a:gd name="connsiteY3" fmla="*/ 425884 h 426720"/>
                <a:gd name="connsiteX4" fmla="*/ 0 w 2865120"/>
                <a:gd name="connsiteY4" fmla="*/ 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5120" h="426720">
                  <a:moveTo>
                    <a:pt x="0" y="0"/>
                  </a:moveTo>
                  <a:lnTo>
                    <a:pt x="2865120" y="0"/>
                  </a:lnTo>
                  <a:lnTo>
                    <a:pt x="2865120" y="426720"/>
                  </a:lnTo>
                  <a:lnTo>
                    <a:pt x="251466" y="4258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1BC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no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 rot="3610536" flipV="1">
              <a:off x="2837697" y="4405781"/>
              <a:ext cx="2811657" cy="429008"/>
            </a:xfrm>
            <a:custGeom>
              <a:avLst/>
              <a:gdLst>
                <a:gd name="connsiteX0" fmla="*/ 0 w 2865120"/>
                <a:gd name="connsiteY0" fmla="*/ 0 h 426720"/>
                <a:gd name="connsiteX1" fmla="*/ 2865120 w 2865120"/>
                <a:gd name="connsiteY1" fmla="*/ 0 h 426720"/>
                <a:gd name="connsiteX2" fmla="*/ 2865120 w 2865120"/>
                <a:gd name="connsiteY2" fmla="*/ 426720 h 426720"/>
                <a:gd name="connsiteX3" fmla="*/ 0 w 2865120"/>
                <a:gd name="connsiteY3" fmla="*/ 426720 h 426720"/>
                <a:gd name="connsiteX4" fmla="*/ 0 w 2865120"/>
                <a:gd name="connsiteY4" fmla="*/ 0 h 426720"/>
                <a:gd name="connsiteX0" fmla="*/ 0 w 2865120"/>
                <a:gd name="connsiteY0" fmla="*/ 0 h 426720"/>
                <a:gd name="connsiteX1" fmla="*/ 2865120 w 2865120"/>
                <a:gd name="connsiteY1" fmla="*/ 0 h 426720"/>
                <a:gd name="connsiteX2" fmla="*/ 2621134 w 2865120"/>
                <a:gd name="connsiteY2" fmla="*/ 412882 h 426720"/>
                <a:gd name="connsiteX3" fmla="*/ 0 w 2865120"/>
                <a:gd name="connsiteY3" fmla="*/ 426720 h 426720"/>
                <a:gd name="connsiteX4" fmla="*/ 0 w 2865120"/>
                <a:gd name="connsiteY4" fmla="*/ 0 h 426720"/>
                <a:gd name="connsiteX0" fmla="*/ 0 w 2865120"/>
                <a:gd name="connsiteY0" fmla="*/ 0 h 426720"/>
                <a:gd name="connsiteX1" fmla="*/ 2865120 w 2865120"/>
                <a:gd name="connsiteY1" fmla="*/ 0 h 426720"/>
                <a:gd name="connsiteX2" fmla="*/ 2629397 w 2865120"/>
                <a:gd name="connsiteY2" fmla="*/ 408146 h 426720"/>
                <a:gd name="connsiteX3" fmla="*/ 0 w 2865120"/>
                <a:gd name="connsiteY3" fmla="*/ 426720 h 426720"/>
                <a:gd name="connsiteX4" fmla="*/ 0 w 2865120"/>
                <a:gd name="connsiteY4" fmla="*/ 0 h 426720"/>
                <a:gd name="connsiteX0" fmla="*/ 0 w 2865120"/>
                <a:gd name="connsiteY0" fmla="*/ 0 h 426720"/>
                <a:gd name="connsiteX1" fmla="*/ 2865120 w 2865120"/>
                <a:gd name="connsiteY1" fmla="*/ 0 h 426720"/>
                <a:gd name="connsiteX2" fmla="*/ 2627911 w 2865120"/>
                <a:gd name="connsiteY2" fmla="*/ 400765 h 426720"/>
                <a:gd name="connsiteX3" fmla="*/ 0 w 2865120"/>
                <a:gd name="connsiteY3" fmla="*/ 426720 h 426720"/>
                <a:gd name="connsiteX4" fmla="*/ 0 w 2865120"/>
                <a:gd name="connsiteY4" fmla="*/ 0 h 426720"/>
                <a:gd name="connsiteX0" fmla="*/ 0 w 2832921"/>
                <a:gd name="connsiteY0" fmla="*/ 3499 h 430219"/>
                <a:gd name="connsiteX1" fmla="*/ 2832921 w 2832921"/>
                <a:gd name="connsiteY1" fmla="*/ 0 h 430219"/>
                <a:gd name="connsiteX2" fmla="*/ 2627911 w 2832921"/>
                <a:gd name="connsiteY2" fmla="*/ 404264 h 430219"/>
                <a:gd name="connsiteX3" fmla="*/ 0 w 2832921"/>
                <a:gd name="connsiteY3" fmla="*/ 430219 h 430219"/>
                <a:gd name="connsiteX4" fmla="*/ 0 w 2832921"/>
                <a:gd name="connsiteY4" fmla="*/ 3499 h 430219"/>
                <a:gd name="connsiteX0" fmla="*/ 0 w 2832921"/>
                <a:gd name="connsiteY0" fmla="*/ 3499 h 430219"/>
                <a:gd name="connsiteX1" fmla="*/ 2832921 w 2832921"/>
                <a:gd name="connsiteY1" fmla="*/ 0 h 430219"/>
                <a:gd name="connsiteX2" fmla="*/ 2620823 w 2832921"/>
                <a:gd name="connsiteY2" fmla="*/ 404668 h 430219"/>
                <a:gd name="connsiteX3" fmla="*/ 0 w 2832921"/>
                <a:gd name="connsiteY3" fmla="*/ 430219 h 430219"/>
                <a:gd name="connsiteX4" fmla="*/ 0 w 2832921"/>
                <a:gd name="connsiteY4" fmla="*/ 3499 h 430219"/>
                <a:gd name="connsiteX0" fmla="*/ 0 w 2811657"/>
                <a:gd name="connsiteY0" fmla="*/ 2288 h 429008"/>
                <a:gd name="connsiteX1" fmla="*/ 2811657 w 2811657"/>
                <a:gd name="connsiteY1" fmla="*/ 0 h 429008"/>
                <a:gd name="connsiteX2" fmla="*/ 2620823 w 2811657"/>
                <a:gd name="connsiteY2" fmla="*/ 403457 h 429008"/>
                <a:gd name="connsiteX3" fmla="*/ 0 w 2811657"/>
                <a:gd name="connsiteY3" fmla="*/ 429008 h 429008"/>
                <a:gd name="connsiteX4" fmla="*/ 0 w 2811657"/>
                <a:gd name="connsiteY4" fmla="*/ 2288 h 429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11657" h="429008">
                  <a:moveTo>
                    <a:pt x="0" y="2288"/>
                  </a:moveTo>
                  <a:lnTo>
                    <a:pt x="2811657" y="0"/>
                  </a:lnTo>
                  <a:lnTo>
                    <a:pt x="2620823" y="403457"/>
                  </a:lnTo>
                  <a:lnTo>
                    <a:pt x="0" y="429008"/>
                  </a:lnTo>
                  <a:lnTo>
                    <a:pt x="0" y="2288"/>
                  </a:lnTo>
                  <a:close/>
                </a:path>
              </a:pathLst>
            </a:custGeom>
            <a:solidFill>
              <a:srgbClr val="BDD203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no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0" name="Rectangle 5"/>
            <p:cNvSpPr/>
            <p:nvPr/>
          </p:nvSpPr>
          <p:spPr>
            <a:xfrm flipV="1">
              <a:off x="3184977" y="3199227"/>
              <a:ext cx="3121343" cy="431483"/>
            </a:xfrm>
            <a:custGeom>
              <a:avLst/>
              <a:gdLst>
                <a:gd name="connsiteX0" fmla="*/ 0 w 3040380"/>
                <a:gd name="connsiteY0" fmla="*/ 0 h 426720"/>
                <a:gd name="connsiteX1" fmla="*/ 3040380 w 3040380"/>
                <a:gd name="connsiteY1" fmla="*/ 0 h 426720"/>
                <a:gd name="connsiteX2" fmla="*/ 3040380 w 3040380"/>
                <a:gd name="connsiteY2" fmla="*/ 426720 h 426720"/>
                <a:gd name="connsiteX3" fmla="*/ 0 w 3040380"/>
                <a:gd name="connsiteY3" fmla="*/ 426720 h 426720"/>
                <a:gd name="connsiteX4" fmla="*/ 0 w 3040380"/>
                <a:gd name="connsiteY4" fmla="*/ 0 h 426720"/>
                <a:gd name="connsiteX0" fmla="*/ 228600 w 3040380"/>
                <a:gd name="connsiteY0" fmla="*/ 7620 h 426720"/>
                <a:gd name="connsiteX1" fmla="*/ 3040380 w 3040380"/>
                <a:gd name="connsiteY1" fmla="*/ 0 h 426720"/>
                <a:gd name="connsiteX2" fmla="*/ 3040380 w 3040380"/>
                <a:gd name="connsiteY2" fmla="*/ 426720 h 426720"/>
                <a:gd name="connsiteX3" fmla="*/ 0 w 3040380"/>
                <a:gd name="connsiteY3" fmla="*/ 426720 h 426720"/>
                <a:gd name="connsiteX4" fmla="*/ 228600 w 3040380"/>
                <a:gd name="connsiteY4" fmla="*/ 7620 h 426720"/>
                <a:gd name="connsiteX0" fmla="*/ 247650 w 3040380"/>
                <a:gd name="connsiteY0" fmla="*/ 2858 h 426720"/>
                <a:gd name="connsiteX1" fmla="*/ 3040380 w 3040380"/>
                <a:gd name="connsiteY1" fmla="*/ 0 h 426720"/>
                <a:gd name="connsiteX2" fmla="*/ 3040380 w 3040380"/>
                <a:gd name="connsiteY2" fmla="*/ 426720 h 426720"/>
                <a:gd name="connsiteX3" fmla="*/ 0 w 3040380"/>
                <a:gd name="connsiteY3" fmla="*/ 426720 h 426720"/>
                <a:gd name="connsiteX4" fmla="*/ 247650 w 3040380"/>
                <a:gd name="connsiteY4" fmla="*/ 2858 h 426720"/>
                <a:gd name="connsiteX0" fmla="*/ 245269 w 3040380"/>
                <a:gd name="connsiteY0" fmla="*/ 477 h 426720"/>
                <a:gd name="connsiteX1" fmla="*/ 3040380 w 3040380"/>
                <a:gd name="connsiteY1" fmla="*/ 0 h 426720"/>
                <a:gd name="connsiteX2" fmla="*/ 3040380 w 3040380"/>
                <a:gd name="connsiteY2" fmla="*/ 426720 h 426720"/>
                <a:gd name="connsiteX3" fmla="*/ 0 w 3040380"/>
                <a:gd name="connsiteY3" fmla="*/ 426720 h 426720"/>
                <a:gd name="connsiteX4" fmla="*/ 245269 w 3040380"/>
                <a:gd name="connsiteY4" fmla="*/ 477 h 426720"/>
                <a:gd name="connsiteX0" fmla="*/ 245269 w 3121343"/>
                <a:gd name="connsiteY0" fmla="*/ 477 h 431483"/>
                <a:gd name="connsiteX1" fmla="*/ 3040380 w 3121343"/>
                <a:gd name="connsiteY1" fmla="*/ 0 h 431483"/>
                <a:gd name="connsiteX2" fmla="*/ 3121343 w 3121343"/>
                <a:gd name="connsiteY2" fmla="*/ 431483 h 431483"/>
                <a:gd name="connsiteX3" fmla="*/ 0 w 3121343"/>
                <a:gd name="connsiteY3" fmla="*/ 426720 h 431483"/>
                <a:gd name="connsiteX4" fmla="*/ 245269 w 3121343"/>
                <a:gd name="connsiteY4" fmla="*/ 477 h 431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21343" h="431483">
                  <a:moveTo>
                    <a:pt x="245269" y="477"/>
                  </a:moveTo>
                  <a:lnTo>
                    <a:pt x="3040380" y="0"/>
                  </a:lnTo>
                  <a:lnTo>
                    <a:pt x="3121343" y="431483"/>
                  </a:lnTo>
                  <a:lnTo>
                    <a:pt x="0" y="426720"/>
                  </a:lnTo>
                  <a:lnTo>
                    <a:pt x="245269" y="477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no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1" name="Rectangle 7"/>
            <p:cNvSpPr/>
            <p:nvPr/>
          </p:nvSpPr>
          <p:spPr>
            <a:xfrm rot="18426807" flipV="1">
              <a:off x="5930345" y="3209773"/>
              <a:ext cx="886915" cy="433923"/>
            </a:xfrm>
            <a:custGeom>
              <a:avLst/>
              <a:gdLst>
                <a:gd name="connsiteX0" fmla="*/ 0 w 2865120"/>
                <a:gd name="connsiteY0" fmla="*/ 0 h 426720"/>
                <a:gd name="connsiteX1" fmla="*/ 2865120 w 2865120"/>
                <a:gd name="connsiteY1" fmla="*/ 0 h 426720"/>
                <a:gd name="connsiteX2" fmla="*/ 2865120 w 2865120"/>
                <a:gd name="connsiteY2" fmla="*/ 426720 h 426720"/>
                <a:gd name="connsiteX3" fmla="*/ 0 w 2865120"/>
                <a:gd name="connsiteY3" fmla="*/ 426720 h 426720"/>
                <a:gd name="connsiteX4" fmla="*/ 0 w 2865120"/>
                <a:gd name="connsiteY4" fmla="*/ 0 h 426720"/>
                <a:gd name="connsiteX0" fmla="*/ 0 w 2865120"/>
                <a:gd name="connsiteY0" fmla="*/ 0 h 426720"/>
                <a:gd name="connsiteX1" fmla="*/ 2865120 w 2865120"/>
                <a:gd name="connsiteY1" fmla="*/ 0 h 426720"/>
                <a:gd name="connsiteX2" fmla="*/ 2865120 w 2865120"/>
                <a:gd name="connsiteY2" fmla="*/ 426720 h 426720"/>
                <a:gd name="connsiteX3" fmla="*/ 251466 w 2865120"/>
                <a:gd name="connsiteY3" fmla="*/ 425884 h 426720"/>
                <a:gd name="connsiteX4" fmla="*/ 0 w 2865120"/>
                <a:gd name="connsiteY4" fmla="*/ 0 h 426720"/>
                <a:gd name="connsiteX0" fmla="*/ 0 w 4498063"/>
                <a:gd name="connsiteY0" fmla="*/ 7203 h 433923"/>
                <a:gd name="connsiteX1" fmla="*/ 4498064 w 4498063"/>
                <a:gd name="connsiteY1" fmla="*/ 0 h 433923"/>
                <a:gd name="connsiteX2" fmla="*/ 2865120 w 4498063"/>
                <a:gd name="connsiteY2" fmla="*/ 433923 h 433923"/>
                <a:gd name="connsiteX3" fmla="*/ 251466 w 4498063"/>
                <a:gd name="connsiteY3" fmla="*/ 433087 h 433923"/>
                <a:gd name="connsiteX4" fmla="*/ 0 w 4498063"/>
                <a:gd name="connsiteY4" fmla="*/ 7203 h 433923"/>
                <a:gd name="connsiteX0" fmla="*/ 0 w 4498063"/>
                <a:gd name="connsiteY0" fmla="*/ 7203 h 433923"/>
                <a:gd name="connsiteX1" fmla="*/ 4498064 w 4498063"/>
                <a:gd name="connsiteY1" fmla="*/ 0 h 433923"/>
                <a:gd name="connsiteX2" fmla="*/ 2865120 w 4498063"/>
                <a:gd name="connsiteY2" fmla="*/ 433923 h 433923"/>
                <a:gd name="connsiteX3" fmla="*/ 96864 w 4498063"/>
                <a:gd name="connsiteY3" fmla="*/ 433910 h 433923"/>
                <a:gd name="connsiteX4" fmla="*/ 0 w 4498063"/>
                <a:gd name="connsiteY4" fmla="*/ 7203 h 433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8063" h="433923">
                  <a:moveTo>
                    <a:pt x="0" y="7203"/>
                  </a:moveTo>
                  <a:lnTo>
                    <a:pt x="4498064" y="0"/>
                  </a:lnTo>
                  <a:lnTo>
                    <a:pt x="2865120" y="433923"/>
                  </a:lnTo>
                  <a:lnTo>
                    <a:pt x="96864" y="433910"/>
                  </a:lnTo>
                  <a:lnTo>
                    <a:pt x="0" y="7203"/>
                  </a:lnTo>
                  <a:close/>
                </a:path>
              </a:pathLst>
            </a:custGeom>
            <a:solidFill>
              <a:srgbClr val="81BC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no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2" name="Rectangle 5"/>
            <p:cNvSpPr/>
            <p:nvPr/>
          </p:nvSpPr>
          <p:spPr>
            <a:xfrm>
              <a:off x="2464656" y="3783386"/>
              <a:ext cx="1828800" cy="431483"/>
            </a:xfrm>
            <a:custGeom>
              <a:avLst/>
              <a:gdLst>
                <a:gd name="connsiteX0" fmla="*/ 0 w 3040380"/>
                <a:gd name="connsiteY0" fmla="*/ 0 h 426720"/>
                <a:gd name="connsiteX1" fmla="*/ 3040380 w 3040380"/>
                <a:gd name="connsiteY1" fmla="*/ 0 h 426720"/>
                <a:gd name="connsiteX2" fmla="*/ 3040380 w 3040380"/>
                <a:gd name="connsiteY2" fmla="*/ 426720 h 426720"/>
                <a:gd name="connsiteX3" fmla="*/ 0 w 3040380"/>
                <a:gd name="connsiteY3" fmla="*/ 426720 h 426720"/>
                <a:gd name="connsiteX4" fmla="*/ 0 w 3040380"/>
                <a:gd name="connsiteY4" fmla="*/ 0 h 426720"/>
                <a:gd name="connsiteX0" fmla="*/ 228600 w 3040380"/>
                <a:gd name="connsiteY0" fmla="*/ 7620 h 426720"/>
                <a:gd name="connsiteX1" fmla="*/ 3040380 w 3040380"/>
                <a:gd name="connsiteY1" fmla="*/ 0 h 426720"/>
                <a:gd name="connsiteX2" fmla="*/ 3040380 w 3040380"/>
                <a:gd name="connsiteY2" fmla="*/ 426720 h 426720"/>
                <a:gd name="connsiteX3" fmla="*/ 0 w 3040380"/>
                <a:gd name="connsiteY3" fmla="*/ 426720 h 426720"/>
                <a:gd name="connsiteX4" fmla="*/ 228600 w 3040380"/>
                <a:gd name="connsiteY4" fmla="*/ 7620 h 426720"/>
                <a:gd name="connsiteX0" fmla="*/ 247650 w 3040380"/>
                <a:gd name="connsiteY0" fmla="*/ 2858 h 426720"/>
                <a:gd name="connsiteX1" fmla="*/ 3040380 w 3040380"/>
                <a:gd name="connsiteY1" fmla="*/ 0 h 426720"/>
                <a:gd name="connsiteX2" fmla="*/ 3040380 w 3040380"/>
                <a:gd name="connsiteY2" fmla="*/ 426720 h 426720"/>
                <a:gd name="connsiteX3" fmla="*/ 0 w 3040380"/>
                <a:gd name="connsiteY3" fmla="*/ 426720 h 426720"/>
                <a:gd name="connsiteX4" fmla="*/ 247650 w 3040380"/>
                <a:gd name="connsiteY4" fmla="*/ 2858 h 426720"/>
                <a:gd name="connsiteX0" fmla="*/ 245269 w 3040380"/>
                <a:gd name="connsiteY0" fmla="*/ 477 h 426720"/>
                <a:gd name="connsiteX1" fmla="*/ 3040380 w 3040380"/>
                <a:gd name="connsiteY1" fmla="*/ 0 h 426720"/>
                <a:gd name="connsiteX2" fmla="*/ 3040380 w 3040380"/>
                <a:gd name="connsiteY2" fmla="*/ 426720 h 426720"/>
                <a:gd name="connsiteX3" fmla="*/ 0 w 3040380"/>
                <a:gd name="connsiteY3" fmla="*/ 426720 h 426720"/>
                <a:gd name="connsiteX4" fmla="*/ 245269 w 3040380"/>
                <a:gd name="connsiteY4" fmla="*/ 477 h 426720"/>
                <a:gd name="connsiteX0" fmla="*/ 245269 w 3121343"/>
                <a:gd name="connsiteY0" fmla="*/ 477 h 431483"/>
                <a:gd name="connsiteX1" fmla="*/ 3040380 w 3121343"/>
                <a:gd name="connsiteY1" fmla="*/ 0 h 431483"/>
                <a:gd name="connsiteX2" fmla="*/ 3121343 w 3121343"/>
                <a:gd name="connsiteY2" fmla="*/ 431483 h 431483"/>
                <a:gd name="connsiteX3" fmla="*/ 0 w 3121343"/>
                <a:gd name="connsiteY3" fmla="*/ 426720 h 431483"/>
                <a:gd name="connsiteX4" fmla="*/ 245269 w 3121343"/>
                <a:gd name="connsiteY4" fmla="*/ 477 h 431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21343" h="431483">
                  <a:moveTo>
                    <a:pt x="245269" y="477"/>
                  </a:moveTo>
                  <a:lnTo>
                    <a:pt x="3040380" y="0"/>
                  </a:lnTo>
                  <a:lnTo>
                    <a:pt x="3121343" y="431483"/>
                  </a:lnTo>
                  <a:lnTo>
                    <a:pt x="0" y="426720"/>
                  </a:lnTo>
                  <a:lnTo>
                    <a:pt x="245269" y="477"/>
                  </a:lnTo>
                  <a:close/>
                </a:path>
              </a:pathLst>
            </a:custGeom>
            <a:solidFill>
              <a:srgbClr val="002776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no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pic>
          <p:nvPicPr>
            <p:cNvPr id="13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6166" y="1663510"/>
              <a:ext cx="611888" cy="5668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4" name="Half Frame 13"/>
            <p:cNvSpPr/>
            <p:nvPr/>
          </p:nvSpPr>
          <p:spPr>
            <a:xfrm rot="8142470">
              <a:off x="4810095" y="2382553"/>
              <a:ext cx="234950" cy="257369"/>
            </a:xfrm>
            <a:prstGeom prst="halfFrame">
              <a:avLst>
                <a:gd name="adj1" fmla="val 26576"/>
                <a:gd name="adj2" fmla="val 25856"/>
              </a:avLst>
            </a:prstGeom>
            <a:solidFill>
              <a:srgbClr val="00A1D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5276166" y="2282095"/>
              <a:ext cx="3410634" cy="738664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sz="2400" b="1" dirty="0">
                  <a:solidFill>
                    <a:srgbClr val="00A1DE"/>
                  </a:solidFill>
                </a:rPr>
                <a:t>Quant</a:t>
              </a:r>
              <a:r>
                <a:rPr lang="zh-CN" altLang="en-US" sz="2400" b="1" dirty="0">
                  <a:solidFill>
                    <a:srgbClr val="00A1DE"/>
                  </a:solidFill>
                </a:rPr>
                <a:t>的工作就是设计并实现金融的数学模型</a:t>
              </a:r>
              <a:endParaRPr lang="en-US" sz="2400" dirty="0">
                <a:solidFill>
                  <a:srgbClr val="00A1DE"/>
                </a:solidFill>
              </a:endParaRPr>
            </a:p>
          </p:txBody>
        </p:sp>
        <p:sp>
          <p:nvSpPr>
            <p:cNvPr id="18" name="Half Frame 17"/>
            <p:cNvSpPr/>
            <p:nvPr/>
          </p:nvSpPr>
          <p:spPr>
            <a:xfrm rot="8142470">
              <a:off x="2679818" y="4570571"/>
              <a:ext cx="234950" cy="288147"/>
            </a:xfrm>
            <a:prstGeom prst="halfFrame">
              <a:avLst>
                <a:gd name="adj1" fmla="val 26576"/>
                <a:gd name="adj2" fmla="val 25856"/>
              </a:avLst>
            </a:prstGeom>
            <a:solidFill>
              <a:srgbClr val="81BC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accent2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219200" y="5002216"/>
              <a:ext cx="2637317" cy="1107996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r"/>
              <a:r>
                <a:rPr lang="zh-CN" altLang="en-US" sz="2400" b="1" dirty="0" smtClean="0">
                  <a:solidFill>
                    <a:srgbClr val="81BC00"/>
                  </a:solidFill>
                </a:rPr>
                <a:t>衍</a:t>
              </a:r>
              <a:r>
                <a:rPr lang="zh-CN" altLang="en-US" sz="2400" b="1" dirty="0">
                  <a:solidFill>
                    <a:srgbClr val="81BC00"/>
                  </a:solidFill>
                </a:rPr>
                <a:t>生物定</a:t>
              </a:r>
              <a:r>
                <a:rPr lang="zh-CN" altLang="en-US" sz="2400" b="1" dirty="0" smtClean="0">
                  <a:solidFill>
                    <a:srgbClr val="81BC00"/>
                  </a:solidFill>
                </a:rPr>
                <a:t>价</a:t>
              </a:r>
              <a:endParaRPr lang="en-US" altLang="zh-CN" sz="2400" b="1" dirty="0" smtClean="0">
                <a:solidFill>
                  <a:srgbClr val="81BC00"/>
                </a:solidFill>
              </a:endParaRPr>
            </a:p>
            <a:p>
              <a:pPr algn="r"/>
              <a:r>
                <a:rPr lang="zh-CN" altLang="en-US" sz="2400" b="1" dirty="0" smtClean="0">
                  <a:solidFill>
                    <a:srgbClr val="81BC00"/>
                  </a:solidFill>
                </a:rPr>
                <a:t>风</a:t>
              </a:r>
              <a:r>
                <a:rPr lang="zh-CN" altLang="en-US" sz="2400" b="1" dirty="0">
                  <a:solidFill>
                    <a:srgbClr val="81BC00"/>
                  </a:solidFill>
                </a:rPr>
                <a:t>险估</a:t>
              </a:r>
              <a:r>
                <a:rPr lang="zh-CN" altLang="en-US" sz="2400" b="1" dirty="0" smtClean="0">
                  <a:solidFill>
                    <a:srgbClr val="81BC00"/>
                  </a:solidFill>
                </a:rPr>
                <a:t>价</a:t>
              </a:r>
              <a:endParaRPr lang="en-US" altLang="zh-CN" sz="2400" b="1" dirty="0" smtClean="0">
                <a:solidFill>
                  <a:srgbClr val="81BC00"/>
                </a:solidFill>
              </a:endParaRPr>
            </a:p>
            <a:p>
              <a:pPr algn="r"/>
              <a:r>
                <a:rPr lang="zh-CN" altLang="en-US" sz="2400" b="1" dirty="0" smtClean="0">
                  <a:solidFill>
                    <a:srgbClr val="81BC00"/>
                  </a:solidFill>
                </a:rPr>
                <a:t>预</a:t>
              </a:r>
              <a:r>
                <a:rPr lang="zh-CN" altLang="en-US" sz="2400" b="1" dirty="0">
                  <a:solidFill>
                    <a:srgbClr val="81BC00"/>
                  </a:solidFill>
                </a:rPr>
                <a:t>测市场行</a:t>
              </a:r>
              <a:r>
                <a:rPr lang="zh-CN" altLang="en-US" sz="2400" b="1" dirty="0" smtClean="0">
                  <a:solidFill>
                    <a:srgbClr val="81BC00"/>
                  </a:solidFill>
                </a:rPr>
                <a:t>为</a:t>
              </a:r>
              <a:endParaRPr lang="en-US" sz="2400" dirty="0">
                <a:solidFill>
                  <a:srgbClr val="81BC00"/>
                </a:solidFill>
              </a:endParaRPr>
            </a:p>
          </p:txBody>
        </p:sp>
        <p:pic>
          <p:nvPicPr>
            <p:cNvPr id="24" name="Picture 5" descr="C:\Users\kknight\Desktop\green global icon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84977" y="4352868"/>
              <a:ext cx="500063" cy="5000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22075827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000" b="0" dirty="0" smtClean="0">
                <a:solidFill>
                  <a:srgbClr val="81BC00"/>
                </a:solidFill>
              </a:rPr>
              <a:t>Quant</a:t>
            </a:r>
            <a:r>
              <a:rPr lang="zh-CN" altLang="en-US" sz="3000" b="0" dirty="0" smtClean="0">
                <a:solidFill>
                  <a:srgbClr val="81BC00"/>
                </a:solidFill>
              </a:rPr>
              <a:t>的职业发展</a:t>
            </a:r>
            <a:r>
              <a:rPr lang="en-US" sz="3000" b="0" dirty="0" smtClean="0">
                <a:solidFill>
                  <a:srgbClr val="81BC00"/>
                </a:solidFill>
              </a:rPr>
              <a:t> </a:t>
            </a:r>
            <a:br>
              <a:rPr lang="en-US" sz="3000" b="0" dirty="0" smtClean="0">
                <a:solidFill>
                  <a:srgbClr val="81BC00"/>
                </a:solidFill>
              </a:rPr>
            </a:br>
            <a:r>
              <a:rPr lang="en-US" altLang="zh-CN" sz="3000" dirty="0" smtClean="0">
                <a:solidFill>
                  <a:srgbClr val="575757"/>
                </a:solidFill>
              </a:rPr>
              <a:t>2.</a:t>
            </a:r>
            <a:r>
              <a:rPr lang="zh-CN" altLang="en-US" sz="3000" dirty="0" smtClean="0">
                <a:solidFill>
                  <a:srgbClr val="575757"/>
                </a:solidFill>
              </a:rPr>
              <a:t>有哪几种</a:t>
            </a:r>
            <a:r>
              <a:rPr lang="en-US" altLang="zh-CN" sz="3000" dirty="0" smtClean="0">
                <a:solidFill>
                  <a:srgbClr val="575757"/>
                </a:solidFill>
              </a:rPr>
              <a:t>Quant </a:t>
            </a:r>
            <a:r>
              <a:rPr lang="zh-CN" altLang="en-US" sz="3000" dirty="0" smtClean="0">
                <a:solidFill>
                  <a:srgbClr val="575757"/>
                </a:solidFill>
              </a:rPr>
              <a:t>？</a:t>
            </a:r>
            <a:br>
              <a:rPr lang="zh-CN" altLang="en-US" sz="3000" dirty="0" smtClean="0">
                <a:solidFill>
                  <a:srgbClr val="575757"/>
                </a:solidFill>
              </a:rPr>
            </a:br>
            <a:r>
              <a:rPr lang="zh-CN" altLang="en-US" sz="3000" dirty="0" smtClean="0">
                <a:solidFill>
                  <a:srgbClr val="575757"/>
                </a:solidFill>
              </a:rPr>
              <a:t/>
            </a:r>
            <a:br>
              <a:rPr lang="zh-CN" altLang="en-US" sz="3000" dirty="0" smtClean="0">
                <a:solidFill>
                  <a:srgbClr val="575757"/>
                </a:solidFill>
              </a:rPr>
            </a:br>
            <a:endParaRPr lang="en-US" sz="3000" b="0" dirty="0" smtClean="0">
              <a:solidFill>
                <a:srgbClr val="575757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13</a:t>
            </a:fld>
            <a:endParaRPr lang="en-GB" dirty="0"/>
          </a:p>
        </p:txBody>
      </p:sp>
      <p:sp>
        <p:nvSpPr>
          <p:cNvPr id="25" name="Isosceles Triangle 9"/>
          <p:cNvSpPr/>
          <p:nvPr/>
        </p:nvSpPr>
        <p:spPr>
          <a:xfrm rot="7286374" flipV="1">
            <a:off x="4369943" y="2267970"/>
            <a:ext cx="177064" cy="546662"/>
          </a:xfrm>
          <a:custGeom>
            <a:avLst/>
            <a:gdLst>
              <a:gd name="connsiteX0" fmla="*/ 0 w 275720"/>
              <a:gd name="connsiteY0" fmla="*/ 931740 h 931740"/>
              <a:gd name="connsiteX1" fmla="*/ 137860 w 275720"/>
              <a:gd name="connsiteY1" fmla="*/ 0 h 931740"/>
              <a:gd name="connsiteX2" fmla="*/ 275720 w 275720"/>
              <a:gd name="connsiteY2" fmla="*/ 931740 h 931740"/>
              <a:gd name="connsiteX3" fmla="*/ 0 w 275720"/>
              <a:gd name="connsiteY3" fmla="*/ 931740 h 931740"/>
              <a:gd name="connsiteX0" fmla="*/ 0 w 275720"/>
              <a:gd name="connsiteY0" fmla="*/ 931740 h 931740"/>
              <a:gd name="connsiteX1" fmla="*/ 137860 w 275720"/>
              <a:gd name="connsiteY1" fmla="*/ 0 h 931740"/>
              <a:gd name="connsiteX2" fmla="*/ 275720 w 275720"/>
              <a:gd name="connsiteY2" fmla="*/ 931740 h 931740"/>
              <a:gd name="connsiteX3" fmla="*/ 0 w 275720"/>
              <a:gd name="connsiteY3" fmla="*/ 931740 h 931740"/>
              <a:gd name="connsiteX0" fmla="*/ 0 w 275720"/>
              <a:gd name="connsiteY0" fmla="*/ 931740 h 931740"/>
              <a:gd name="connsiteX1" fmla="*/ 137860 w 275720"/>
              <a:gd name="connsiteY1" fmla="*/ 0 h 931740"/>
              <a:gd name="connsiteX2" fmla="*/ 275720 w 275720"/>
              <a:gd name="connsiteY2" fmla="*/ 931740 h 931740"/>
              <a:gd name="connsiteX3" fmla="*/ 0 w 275720"/>
              <a:gd name="connsiteY3" fmla="*/ 931740 h 931740"/>
              <a:gd name="connsiteX0" fmla="*/ 0 w 301791"/>
              <a:gd name="connsiteY0" fmla="*/ 931740 h 931740"/>
              <a:gd name="connsiteX1" fmla="*/ 137860 w 301791"/>
              <a:gd name="connsiteY1" fmla="*/ 0 h 931740"/>
              <a:gd name="connsiteX2" fmla="*/ 275720 w 301791"/>
              <a:gd name="connsiteY2" fmla="*/ 931740 h 931740"/>
              <a:gd name="connsiteX3" fmla="*/ 0 w 301791"/>
              <a:gd name="connsiteY3" fmla="*/ 931740 h 931740"/>
              <a:gd name="connsiteX0" fmla="*/ 0 w 301791"/>
              <a:gd name="connsiteY0" fmla="*/ 931740 h 931740"/>
              <a:gd name="connsiteX1" fmla="*/ 137860 w 301791"/>
              <a:gd name="connsiteY1" fmla="*/ 0 h 931740"/>
              <a:gd name="connsiteX2" fmla="*/ 275720 w 301791"/>
              <a:gd name="connsiteY2" fmla="*/ 931740 h 931740"/>
              <a:gd name="connsiteX3" fmla="*/ 0 w 301791"/>
              <a:gd name="connsiteY3" fmla="*/ 931740 h 931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1791" h="931740">
                <a:moveTo>
                  <a:pt x="0" y="931740"/>
                </a:moveTo>
                <a:cubicBezTo>
                  <a:pt x="122153" y="644020"/>
                  <a:pt x="168107" y="440120"/>
                  <a:pt x="137860" y="0"/>
                </a:cubicBezTo>
                <a:cubicBezTo>
                  <a:pt x="351453" y="310580"/>
                  <a:pt x="305967" y="689740"/>
                  <a:pt x="275720" y="931740"/>
                </a:cubicBezTo>
                <a:lnTo>
                  <a:pt x="0" y="931740"/>
                </a:lnTo>
                <a:close/>
              </a:path>
            </a:pathLst>
          </a:custGeom>
          <a:solidFill>
            <a:srgbClr val="31313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26" name="Isosceles Triangle 9"/>
          <p:cNvSpPr/>
          <p:nvPr/>
        </p:nvSpPr>
        <p:spPr>
          <a:xfrm rot="2891513">
            <a:off x="4807007" y="2208749"/>
            <a:ext cx="175131" cy="614285"/>
          </a:xfrm>
          <a:custGeom>
            <a:avLst/>
            <a:gdLst>
              <a:gd name="connsiteX0" fmla="*/ 0 w 275720"/>
              <a:gd name="connsiteY0" fmla="*/ 931740 h 931740"/>
              <a:gd name="connsiteX1" fmla="*/ 137860 w 275720"/>
              <a:gd name="connsiteY1" fmla="*/ 0 h 931740"/>
              <a:gd name="connsiteX2" fmla="*/ 275720 w 275720"/>
              <a:gd name="connsiteY2" fmla="*/ 931740 h 931740"/>
              <a:gd name="connsiteX3" fmla="*/ 0 w 275720"/>
              <a:gd name="connsiteY3" fmla="*/ 931740 h 931740"/>
              <a:gd name="connsiteX0" fmla="*/ 0 w 275720"/>
              <a:gd name="connsiteY0" fmla="*/ 931740 h 931740"/>
              <a:gd name="connsiteX1" fmla="*/ 137860 w 275720"/>
              <a:gd name="connsiteY1" fmla="*/ 0 h 931740"/>
              <a:gd name="connsiteX2" fmla="*/ 275720 w 275720"/>
              <a:gd name="connsiteY2" fmla="*/ 931740 h 931740"/>
              <a:gd name="connsiteX3" fmla="*/ 0 w 275720"/>
              <a:gd name="connsiteY3" fmla="*/ 931740 h 931740"/>
              <a:gd name="connsiteX0" fmla="*/ 0 w 275720"/>
              <a:gd name="connsiteY0" fmla="*/ 931740 h 931740"/>
              <a:gd name="connsiteX1" fmla="*/ 137860 w 275720"/>
              <a:gd name="connsiteY1" fmla="*/ 0 h 931740"/>
              <a:gd name="connsiteX2" fmla="*/ 275720 w 275720"/>
              <a:gd name="connsiteY2" fmla="*/ 931740 h 931740"/>
              <a:gd name="connsiteX3" fmla="*/ 0 w 275720"/>
              <a:gd name="connsiteY3" fmla="*/ 931740 h 931740"/>
              <a:gd name="connsiteX0" fmla="*/ 0 w 301791"/>
              <a:gd name="connsiteY0" fmla="*/ 931740 h 931740"/>
              <a:gd name="connsiteX1" fmla="*/ 137860 w 301791"/>
              <a:gd name="connsiteY1" fmla="*/ 0 h 931740"/>
              <a:gd name="connsiteX2" fmla="*/ 275720 w 301791"/>
              <a:gd name="connsiteY2" fmla="*/ 931740 h 931740"/>
              <a:gd name="connsiteX3" fmla="*/ 0 w 301791"/>
              <a:gd name="connsiteY3" fmla="*/ 931740 h 931740"/>
              <a:gd name="connsiteX0" fmla="*/ 0 w 301791"/>
              <a:gd name="connsiteY0" fmla="*/ 931740 h 931740"/>
              <a:gd name="connsiteX1" fmla="*/ 137860 w 301791"/>
              <a:gd name="connsiteY1" fmla="*/ 0 h 931740"/>
              <a:gd name="connsiteX2" fmla="*/ 275720 w 301791"/>
              <a:gd name="connsiteY2" fmla="*/ 931740 h 931740"/>
              <a:gd name="connsiteX3" fmla="*/ 0 w 301791"/>
              <a:gd name="connsiteY3" fmla="*/ 931740 h 931740"/>
              <a:gd name="connsiteX0" fmla="*/ 0 w 298496"/>
              <a:gd name="connsiteY0" fmla="*/ 931740 h 1046998"/>
              <a:gd name="connsiteX1" fmla="*/ 137860 w 298496"/>
              <a:gd name="connsiteY1" fmla="*/ 0 h 1046998"/>
              <a:gd name="connsiteX2" fmla="*/ 270650 w 298496"/>
              <a:gd name="connsiteY2" fmla="*/ 1046997 h 1046998"/>
              <a:gd name="connsiteX3" fmla="*/ 0 w 298496"/>
              <a:gd name="connsiteY3" fmla="*/ 931740 h 104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8496" h="1046998">
                <a:moveTo>
                  <a:pt x="0" y="931740"/>
                </a:moveTo>
                <a:cubicBezTo>
                  <a:pt x="122153" y="644020"/>
                  <a:pt x="168107" y="440120"/>
                  <a:pt x="137860" y="0"/>
                </a:cubicBezTo>
                <a:cubicBezTo>
                  <a:pt x="351453" y="310580"/>
                  <a:pt x="300897" y="804997"/>
                  <a:pt x="270650" y="1046997"/>
                </a:cubicBezTo>
                <a:lnTo>
                  <a:pt x="0" y="931740"/>
                </a:lnTo>
                <a:close/>
              </a:path>
            </a:pathLst>
          </a:custGeom>
          <a:solidFill>
            <a:srgbClr val="31313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27" name="Isosceles Triangle 9"/>
          <p:cNvSpPr/>
          <p:nvPr/>
        </p:nvSpPr>
        <p:spPr>
          <a:xfrm rot="3443184">
            <a:off x="5060704" y="2877030"/>
            <a:ext cx="301791" cy="931740"/>
          </a:xfrm>
          <a:custGeom>
            <a:avLst/>
            <a:gdLst>
              <a:gd name="connsiteX0" fmla="*/ 0 w 275720"/>
              <a:gd name="connsiteY0" fmla="*/ 931740 h 931740"/>
              <a:gd name="connsiteX1" fmla="*/ 137860 w 275720"/>
              <a:gd name="connsiteY1" fmla="*/ 0 h 931740"/>
              <a:gd name="connsiteX2" fmla="*/ 275720 w 275720"/>
              <a:gd name="connsiteY2" fmla="*/ 931740 h 931740"/>
              <a:gd name="connsiteX3" fmla="*/ 0 w 275720"/>
              <a:gd name="connsiteY3" fmla="*/ 931740 h 931740"/>
              <a:gd name="connsiteX0" fmla="*/ 0 w 275720"/>
              <a:gd name="connsiteY0" fmla="*/ 931740 h 931740"/>
              <a:gd name="connsiteX1" fmla="*/ 137860 w 275720"/>
              <a:gd name="connsiteY1" fmla="*/ 0 h 931740"/>
              <a:gd name="connsiteX2" fmla="*/ 275720 w 275720"/>
              <a:gd name="connsiteY2" fmla="*/ 931740 h 931740"/>
              <a:gd name="connsiteX3" fmla="*/ 0 w 275720"/>
              <a:gd name="connsiteY3" fmla="*/ 931740 h 931740"/>
              <a:gd name="connsiteX0" fmla="*/ 0 w 275720"/>
              <a:gd name="connsiteY0" fmla="*/ 931740 h 931740"/>
              <a:gd name="connsiteX1" fmla="*/ 137860 w 275720"/>
              <a:gd name="connsiteY1" fmla="*/ 0 h 931740"/>
              <a:gd name="connsiteX2" fmla="*/ 275720 w 275720"/>
              <a:gd name="connsiteY2" fmla="*/ 931740 h 931740"/>
              <a:gd name="connsiteX3" fmla="*/ 0 w 275720"/>
              <a:gd name="connsiteY3" fmla="*/ 931740 h 931740"/>
              <a:gd name="connsiteX0" fmla="*/ 0 w 301791"/>
              <a:gd name="connsiteY0" fmla="*/ 931740 h 931740"/>
              <a:gd name="connsiteX1" fmla="*/ 137860 w 301791"/>
              <a:gd name="connsiteY1" fmla="*/ 0 h 931740"/>
              <a:gd name="connsiteX2" fmla="*/ 275720 w 301791"/>
              <a:gd name="connsiteY2" fmla="*/ 931740 h 931740"/>
              <a:gd name="connsiteX3" fmla="*/ 0 w 301791"/>
              <a:gd name="connsiteY3" fmla="*/ 931740 h 931740"/>
              <a:gd name="connsiteX0" fmla="*/ 0 w 301791"/>
              <a:gd name="connsiteY0" fmla="*/ 931740 h 931740"/>
              <a:gd name="connsiteX1" fmla="*/ 137860 w 301791"/>
              <a:gd name="connsiteY1" fmla="*/ 0 h 931740"/>
              <a:gd name="connsiteX2" fmla="*/ 275720 w 301791"/>
              <a:gd name="connsiteY2" fmla="*/ 931740 h 931740"/>
              <a:gd name="connsiteX3" fmla="*/ 0 w 301791"/>
              <a:gd name="connsiteY3" fmla="*/ 931740 h 931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1791" h="931740">
                <a:moveTo>
                  <a:pt x="0" y="931740"/>
                </a:moveTo>
                <a:cubicBezTo>
                  <a:pt x="122153" y="644020"/>
                  <a:pt x="168107" y="440120"/>
                  <a:pt x="137860" y="0"/>
                </a:cubicBezTo>
                <a:cubicBezTo>
                  <a:pt x="351453" y="310580"/>
                  <a:pt x="305967" y="689740"/>
                  <a:pt x="275720" y="931740"/>
                </a:cubicBezTo>
                <a:lnTo>
                  <a:pt x="0" y="931740"/>
                </a:lnTo>
                <a:close/>
              </a:path>
            </a:pathLst>
          </a:custGeom>
          <a:solidFill>
            <a:srgbClr val="31313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28" name="Isosceles Triangle 9"/>
          <p:cNvSpPr/>
          <p:nvPr/>
        </p:nvSpPr>
        <p:spPr>
          <a:xfrm rot="16570907">
            <a:off x="4107551" y="3004939"/>
            <a:ext cx="301791" cy="931740"/>
          </a:xfrm>
          <a:custGeom>
            <a:avLst/>
            <a:gdLst>
              <a:gd name="connsiteX0" fmla="*/ 0 w 275720"/>
              <a:gd name="connsiteY0" fmla="*/ 931740 h 931740"/>
              <a:gd name="connsiteX1" fmla="*/ 137860 w 275720"/>
              <a:gd name="connsiteY1" fmla="*/ 0 h 931740"/>
              <a:gd name="connsiteX2" fmla="*/ 275720 w 275720"/>
              <a:gd name="connsiteY2" fmla="*/ 931740 h 931740"/>
              <a:gd name="connsiteX3" fmla="*/ 0 w 275720"/>
              <a:gd name="connsiteY3" fmla="*/ 931740 h 931740"/>
              <a:gd name="connsiteX0" fmla="*/ 0 w 275720"/>
              <a:gd name="connsiteY0" fmla="*/ 931740 h 931740"/>
              <a:gd name="connsiteX1" fmla="*/ 137860 w 275720"/>
              <a:gd name="connsiteY1" fmla="*/ 0 h 931740"/>
              <a:gd name="connsiteX2" fmla="*/ 275720 w 275720"/>
              <a:gd name="connsiteY2" fmla="*/ 931740 h 931740"/>
              <a:gd name="connsiteX3" fmla="*/ 0 w 275720"/>
              <a:gd name="connsiteY3" fmla="*/ 931740 h 931740"/>
              <a:gd name="connsiteX0" fmla="*/ 0 w 275720"/>
              <a:gd name="connsiteY0" fmla="*/ 931740 h 931740"/>
              <a:gd name="connsiteX1" fmla="*/ 137860 w 275720"/>
              <a:gd name="connsiteY1" fmla="*/ 0 h 931740"/>
              <a:gd name="connsiteX2" fmla="*/ 275720 w 275720"/>
              <a:gd name="connsiteY2" fmla="*/ 931740 h 931740"/>
              <a:gd name="connsiteX3" fmla="*/ 0 w 275720"/>
              <a:gd name="connsiteY3" fmla="*/ 931740 h 931740"/>
              <a:gd name="connsiteX0" fmla="*/ 0 w 301791"/>
              <a:gd name="connsiteY0" fmla="*/ 931740 h 931740"/>
              <a:gd name="connsiteX1" fmla="*/ 137860 w 301791"/>
              <a:gd name="connsiteY1" fmla="*/ 0 h 931740"/>
              <a:gd name="connsiteX2" fmla="*/ 275720 w 301791"/>
              <a:gd name="connsiteY2" fmla="*/ 931740 h 931740"/>
              <a:gd name="connsiteX3" fmla="*/ 0 w 301791"/>
              <a:gd name="connsiteY3" fmla="*/ 931740 h 931740"/>
              <a:gd name="connsiteX0" fmla="*/ 0 w 301791"/>
              <a:gd name="connsiteY0" fmla="*/ 931740 h 931740"/>
              <a:gd name="connsiteX1" fmla="*/ 137860 w 301791"/>
              <a:gd name="connsiteY1" fmla="*/ 0 h 931740"/>
              <a:gd name="connsiteX2" fmla="*/ 275720 w 301791"/>
              <a:gd name="connsiteY2" fmla="*/ 931740 h 931740"/>
              <a:gd name="connsiteX3" fmla="*/ 0 w 301791"/>
              <a:gd name="connsiteY3" fmla="*/ 931740 h 931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1791" h="931740">
                <a:moveTo>
                  <a:pt x="0" y="931740"/>
                </a:moveTo>
                <a:cubicBezTo>
                  <a:pt x="122153" y="644020"/>
                  <a:pt x="168107" y="440120"/>
                  <a:pt x="137860" y="0"/>
                </a:cubicBezTo>
                <a:cubicBezTo>
                  <a:pt x="351453" y="310580"/>
                  <a:pt x="305967" y="689740"/>
                  <a:pt x="275720" y="931740"/>
                </a:cubicBezTo>
                <a:lnTo>
                  <a:pt x="0" y="931740"/>
                </a:lnTo>
                <a:close/>
              </a:path>
            </a:pathLst>
          </a:custGeom>
          <a:solidFill>
            <a:srgbClr val="31313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29" name="Isosceles Triangle 9"/>
          <p:cNvSpPr/>
          <p:nvPr/>
        </p:nvSpPr>
        <p:spPr>
          <a:xfrm rot="3443184">
            <a:off x="5053400" y="3981930"/>
            <a:ext cx="301791" cy="931740"/>
          </a:xfrm>
          <a:custGeom>
            <a:avLst/>
            <a:gdLst>
              <a:gd name="connsiteX0" fmla="*/ 0 w 275720"/>
              <a:gd name="connsiteY0" fmla="*/ 931740 h 931740"/>
              <a:gd name="connsiteX1" fmla="*/ 137860 w 275720"/>
              <a:gd name="connsiteY1" fmla="*/ 0 h 931740"/>
              <a:gd name="connsiteX2" fmla="*/ 275720 w 275720"/>
              <a:gd name="connsiteY2" fmla="*/ 931740 h 931740"/>
              <a:gd name="connsiteX3" fmla="*/ 0 w 275720"/>
              <a:gd name="connsiteY3" fmla="*/ 931740 h 931740"/>
              <a:gd name="connsiteX0" fmla="*/ 0 w 275720"/>
              <a:gd name="connsiteY0" fmla="*/ 931740 h 931740"/>
              <a:gd name="connsiteX1" fmla="*/ 137860 w 275720"/>
              <a:gd name="connsiteY1" fmla="*/ 0 h 931740"/>
              <a:gd name="connsiteX2" fmla="*/ 275720 w 275720"/>
              <a:gd name="connsiteY2" fmla="*/ 931740 h 931740"/>
              <a:gd name="connsiteX3" fmla="*/ 0 w 275720"/>
              <a:gd name="connsiteY3" fmla="*/ 931740 h 931740"/>
              <a:gd name="connsiteX0" fmla="*/ 0 w 275720"/>
              <a:gd name="connsiteY0" fmla="*/ 931740 h 931740"/>
              <a:gd name="connsiteX1" fmla="*/ 137860 w 275720"/>
              <a:gd name="connsiteY1" fmla="*/ 0 h 931740"/>
              <a:gd name="connsiteX2" fmla="*/ 275720 w 275720"/>
              <a:gd name="connsiteY2" fmla="*/ 931740 h 931740"/>
              <a:gd name="connsiteX3" fmla="*/ 0 w 275720"/>
              <a:gd name="connsiteY3" fmla="*/ 931740 h 931740"/>
              <a:gd name="connsiteX0" fmla="*/ 0 w 301791"/>
              <a:gd name="connsiteY0" fmla="*/ 931740 h 931740"/>
              <a:gd name="connsiteX1" fmla="*/ 137860 w 301791"/>
              <a:gd name="connsiteY1" fmla="*/ 0 h 931740"/>
              <a:gd name="connsiteX2" fmla="*/ 275720 w 301791"/>
              <a:gd name="connsiteY2" fmla="*/ 931740 h 931740"/>
              <a:gd name="connsiteX3" fmla="*/ 0 w 301791"/>
              <a:gd name="connsiteY3" fmla="*/ 931740 h 931740"/>
              <a:gd name="connsiteX0" fmla="*/ 0 w 301791"/>
              <a:gd name="connsiteY0" fmla="*/ 931740 h 931740"/>
              <a:gd name="connsiteX1" fmla="*/ 137860 w 301791"/>
              <a:gd name="connsiteY1" fmla="*/ 0 h 931740"/>
              <a:gd name="connsiteX2" fmla="*/ 275720 w 301791"/>
              <a:gd name="connsiteY2" fmla="*/ 931740 h 931740"/>
              <a:gd name="connsiteX3" fmla="*/ 0 w 301791"/>
              <a:gd name="connsiteY3" fmla="*/ 931740 h 931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1791" h="931740">
                <a:moveTo>
                  <a:pt x="0" y="931740"/>
                </a:moveTo>
                <a:cubicBezTo>
                  <a:pt x="122153" y="644020"/>
                  <a:pt x="168107" y="440120"/>
                  <a:pt x="137860" y="0"/>
                </a:cubicBezTo>
                <a:cubicBezTo>
                  <a:pt x="351453" y="310580"/>
                  <a:pt x="305967" y="689740"/>
                  <a:pt x="275720" y="931740"/>
                </a:cubicBezTo>
                <a:lnTo>
                  <a:pt x="0" y="931740"/>
                </a:lnTo>
                <a:close/>
              </a:path>
            </a:pathLst>
          </a:custGeom>
          <a:solidFill>
            <a:srgbClr val="31313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30" name="Isosceles Triangle 9"/>
          <p:cNvSpPr/>
          <p:nvPr/>
        </p:nvSpPr>
        <p:spPr>
          <a:xfrm rot="16570907">
            <a:off x="4100247" y="4109839"/>
            <a:ext cx="301791" cy="931740"/>
          </a:xfrm>
          <a:custGeom>
            <a:avLst/>
            <a:gdLst>
              <a:gd name="connsiteX0" fmla="*/ 0 w 275720"/>
              <a:gd name="connsiteY0" fmla="*/ 931740 h 931740"/>
              <a:gd name="connsiteX1" fmla="*/ 137860 w 275720"/>
              <a:gd name="connsiteY1" fmla="*/ 0 h 931740"/>
              <a:gd name="connsiteX2" fmla="*/ 275720 w 275720"/>
              <a:gd name="connsiteY2" fmla="*/ 931740 h 931740"/>
              <a:gd name="connsiteX3" fmla="*/ 0 w 275720"/>
              <a:gd name="connsiteY3" fmla="*/ 931740 h 931740"/>
              <a:gd name="connsiteX0" fmla="*/ 0 w 275720"/>
              <a:gd name="connsiteY0" fmla="*/ 931740 h 931740"/>
              <a:gd name="connsiteX1" fmla="*/ 137860 w 275720"/>
              <a:gd name="connsiteY1" fmla="*/ 0 h 931740"/>
              <a:gd name="connsiteX2" fmla="*/ 275720 w 275720"/>
              <a:gd name="connsiteY2" fmla="*/ 931740 h 931740"/>
              <a:gd name="connsiteX3" fmla="*/ 0 w 275720"/>
              <a:gd name="connsiteY3" fmla="*/ 931740 h 931740"/>
              <a:gd name="connsiteX0" fmla="*/ 0 w 275720"/>
              <a:gd name="connsiteY0" fmla="*/ 931740 h 931740"/>
              <a:gd name="connsiteX1" fmla="*/ 137860 w 275720"/>
              <a:gd name="connsiteY1" fmla="*/ 0 h 931740"/>
              <a:gd name="connsiteX2" fmla="*/ 275720 w 275720"/>
              <a:gd name="connsiteY2" fmla="*/ 931740 h 931740"/>
              <a:gd name="connsiteX3" fmla="*/ 0 w 275720"/>
              <a:gd name="connsiteY3" fmla="*/ 931740 h 931740"/>
              <a:gd name="connsiteX0" fmla="*/ 0 w 301791"/>
              <a:gd name="connsiteY0" fmla="*/ 931740 h 931740"/>
              <a:gd name="connsiteX1" fmla="*/ 137860 w 301791"/>
              <a:gd name="connsiteY1" fmla="*/ 0 h 931740"/>
              <a:gd name="connsiteX2" fmla="*/ 275720 w 301791"/>
              <a:gd name="connsiteY2" fmla="*/ 931740 h 931740"/>
              <a:gd name="connsiteX3" fmla="*/ 0 w 301791"/>
              <a:gd name="connsiteY3" fmla="*/ 931740 h 931740"/>
              <a:gd name="connsiteX0" fmla="*/ 0 w 301791"/>
              <a:gd name="connsiteY0" fmla="*/ 931740 h 931740"/>
              <a:gd name="connsiteX1" fmla="*/ 137860 w 301791"/>
              <a:gd name="connsiteY1" fmla="*/ 0 h 931740"/>
              <a:gd name="connsiteX2" fmla="*/ 275720 w 301791"/>
              <a:gd name="connsiteY2" fmla="*/ 931740 h 931740"/>
              <a:gd name="connsiteX3" fmla="*/ 0 w 301791"/>
              <a:gd name="connsiteY3" fmla="*/ 931740 h 931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1791" h="931740">
                <a:moveTo>
                  <a:pt x="0" y="931740"/>
                </a:moveTo>
                <a:cubicBezTo>
                  <a:pt x="122153" y="644020"/>
                  <a:pt x="168107" y="440120"/>
                  <a:pt x="137860" y="0"/>
                </a:cubicBezTo>
                <a:cubicBezTo>
                  <a:pt x="351453" y="310580"/>
                  <a:pt x="305967" y="689740"/>
                  <a:pt x="275720" y="931740"/>
                </a:cubicBezTo>
                <a:lnTo>
                  <a:pt x="0" y="931740"/>
                </a:lnTo>
                <a:close/>
              </a:path>
            </a:pathLst>
          </a:custGeom>
          <a:solidFill>
            <a:srgbClr val="31313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31" name="Isosceles Triangle 7"/>
          <p:cNvSpPr/>
          <p:nvPr/>
        </p:nvSpPr>
        <p:spPr>
          <a:xfrm>
            <a:off x="4387335" y="2134235"/>
            <a:ext cx="642305" cy="4266565"/>
          </a:xfrm>
          <a:custGeom>
            <a:avLst/>
            <a:gdLst>
              <a:gd name="connsiteX0" fmla="*/ 0 w 571817"/>
              <a:gd name="connsiteY0" fmla="*/ 3832225 h 3832225"/>
              <a:gd name="connsiteX1" fmla="*/ 285909 w 571817"/>
              <a:gd name="connsiteY1" fmla="*/ 0 h 3832225"/>
              <a:gd name="connsiteX2" fmla="*/ 571817 w 571817"/>
              <a:gd name="connsiteY2" fmla="*/ 3832225 h 3832225"/>
              <a:gd name="connsiteX3" fmla="*/ 0 w 571817"/>
              <a:gd name="connsiteY3" fmla="*/ 3832225 h 3832225"/>
              <a:gd name="connsiteX0" fmla="*/ 0 w 571817"/>
              <a:gd name="connsiteY0" fmla="*/ 4152265 h 4152265"/>
              <a:gd name="connsiteX1" fmla="*/ 316389 w 571817"/>
              <a:gd name="connsiteY1" fmla="*/ 0 h 4152265"/>
              <a:gd name="connsiteX2" fmla="*/ 571817 w 571817"/>
              <a:gd name="connsiteY2" fmla="*/ 4152265 h 4152265"/>
              <a:gd name="connsiteX3" fmla="*/ 0 w 571817"/>
              <a:gd name="connsiteY3" fmla="*/ 4152265 h 4152265"/>
              <a:gd name="connsiteX0" fmla="*/ 0 w 571817"/>
              <a:gd name="connsiteY0" fmla="*/ 4266565 h 4266565"/>
              <a:gd name="connsiteX1" fmla="*/ 202089 w 571817"/>
              <a:gd name="connsiteY1" fmla="*/ 0 h 4266565"/>
              <a:gd name="connsiteX2" fmla="*/ 571817 w 571817"/>
              <a:gd name="connsiteY2" fmla="*/ 4266565 h 4266565"/>
              <a:gd name="connsiteX3" fmla="*/ 0 w 571817"/>
              <a:gd name="connsiteY3" fmla="*/ 4266565 h 4266565"/>
              <a:gd name="connsiteX0" fmla="*/ 0 w 618752"/>
              <a:gd name="connsiteY0" fmla="*/ 4266565 h 4266565"/>
              <a:gd name="connsiteX1" fmla="*/ 202089 w 618752"/>
              <a:gd name="connsiteY1" fmla="*/ 0 h 4266565"/>
              <a:gd name="connsiteX2" fmla="*/ 571817 w 618752"/>
              <a:gd name="connsiteY2" fmla="*/ 4266565 h 4266565"/>
              <a:gd name="connsiteX3" fmla="*/ 0 w 618752"/>
              <a:gd name="connsiteY3" fmla="*/ 4266565 h 4266565"/>
              <a:gd name="connsiteX0" fmla="*/ 0 w 642305"/>
              <a:gd name="connsiteY0" fmla="*/ 4266565 h 4266565"/>
              <a:gd name="connsiteX1" fmla="*/ 202089 w 642305"/>
              <a:gd name="connsiteY1" fmla="*/ 0 h 4266565"/>
              <a:gd name="connsiteX2" fmla="*/ 571817 w 642305"/>
              <a:gd name="connsiteY2" fmla="*/ 4266565 h 4266565"/>
              <a:gd name="connsiteX3" fmla="*/ 0 w 642305"/>
              <a:gd name="connsiteY3" fmla="*/ 4266565 h 4266565"/>
              <a:gd name="connsiteX0" fmla="*/ 0 w 642305"/>
              <a:gd name="connsiteY0" fmla="*/ 4266565 h 4266565"/>
              <a:gd name="connsiteX1" fmla="*/ 202089 w 642305"/>
              <a:gd name="connsiteY1" fmla="*/ 0 h 4266565"/>
              <a:gd name="connsiteX2" fmla="*/ 571817 w 642305"/>
              <a:gd name="connsiteY2" fmla="*/ 4266565 h 4266565"/>
              <a:gd name="connsiteX3" fmla="*/ 0 w 642305"/>
              <a:gd name="connsiteY3" fmla="*/ 4266565 h 4266565"/>
              <a:gd name="connsiteX0" fmla="*/ 0 w 642305"/>
              <a:gd name="connsiteY0" fmla="*/ 4266565 h 4266565"/>
              <a:gd name="connsiteX1" fmla="*/ 202089 w 642305"/>
              <a:gd name="connsiteY1" fmla="*/ 0 h 4266565"/>
              <a:gd name="connsiteX2" fmla="*/ 571817 w 642305"/>
              <a:gd name="connsiteY2" fmla="*/ 4266565 h 4266565"/>
              <a:gd name="connsiteX3" fmla="*/ 0 w 642305"/>
              <a:gd name="connsiteY3" fmla="*/ 4266565 h 42665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305" h="4266565">
                <a:moveTo>
                  <a:pt x="0" y="4266565"/>
                </a:moveTo>
                <a:cubicBezTo>
                  <a:pt x="326443" y="3126317"/>
                  <a:pt x="416666" y="1498388"/>
                  <a:pt x="202089" y="0"/>
                </a:cubicBezTo>
                <a:cubicBezTo>
                  <a:pt x="546312" y="1437428"/>
                  <a:pt x="760994" y="2730077"/>
                  <a:pt x="571817" y="4266565"/>
                </a:cubicBezTo>
                <a:lnTo>
                  <a:pt x="0" y="4266565"/>
                </a:lnTo>
                <a:close/>
              </a:path>
            </a:pathLst>
          </a:custGeom>
          <a:solidFill>
            <a:srgbClr val="31313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32" name="Oval 31"/>
          <p:cNvSpPr/>
          <p:nvPr/>
        </p:nvSpPr>
        <p:spPr>
          <a:xfrm>
            <a:off x="2148473" y="3807559"/>
            <a:ext cx="1939280" cy="1939280"/>
          </a:xfrm>
          <a:prstGeom prst="ellipse">
            <a:avLst/>
          </a:prstGeom>
          <a:solidFill>
            <a:srgbClr val="B4B4B4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5417453" y="3220819"/>
            <a:ext cx="1939280" cy="1939280"/>
          </a:xfrm>
          <a:prstGeom prst="ellipse">
            <a:avLst/>
          </a:prstGeom>
          <a:solidFill>
            <a:srgbClr val="8C8C8C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34" name="Oval 33"/>
          <p:cNvSpPr/>
          <p:nvPr/>
        </p:nvSpPr>
        <p:spPr>
          <a:xfrm>
            <a:off x="5103932" y="1842403"/>
            <a:ext cx="1754553" cy="1754553"/>
          </a:xfrm>
          <a:prstGeom prst="ellipse">
            <a:avLst/>
          </a:prstGeom>
          <a:solidFill>
            <a:srgbClr val="575757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2632782" y="2343542"/>
            <a:ext cx="1754553" cy="1754553"/>
          </a:xfrm>
          <a:prstGeom prst="ellipse">
            <a:avLst/>
          </a:prstGeom>
          <a:solidFill>
            <a:srgbClr val="DCDCDC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36" name="Oval 35"/>
          <p:cNvSpPr/>
          <p:nvPr/>
        </p:nvSpPr>
        <p:spPr>
          <a:xfrm>
            <a:off x="3189360" y="1128416"/>
            <a:ext cx="1427974" cy="1427974"/>
          </a:xfrm>
          <a:prstGeom prst="ellipse">
            <a:avLst/>
          </a:prstGeom>
          <a:solidFill>
            <a:srgbClr val="00A1DE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4389945" y="1093262"/>
            <a:ext cx="1427974" cy="1427974"/>
          </a:xfrm>
          <a:prstGeom prst="ellipse">
            <a:avLst/>
          </a:prstGeom>
          <a:solidFill>
            <a:srgbClr val="002776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2705972" y="2897653"/>
            <a:ext cx="1606464" cy="6309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1200" b="1" dirty="0">
                <a:solidFill>
                  <a:srgbClr val="313131"/>
                </a:solidFill>
              </a:rPr>
              <a:t>Research </a:t>
            </a:r>
            <a:r>
              <a:rPr lang="en-US" sz="1200" b="1" dirty="0" smtClean="0">
                <a:solidFill>
                  <a:srgbClr val="313131"/>
                </a:solidFill>
              </a:rPr>
              <a:t>Quant</a:t>
            </a:r>
          </a:p>
          <a:p>
            <a:pPr algn="ctr">
              <a:spcAft>
                <a:spcPts val="600"/>
              </a:spcAft>
            </a:pPr>
            <a:r>
              <a:rPr lang="zh-CN" altLang="en-US" sz="1200" dirty="0"/>
              <a:t>尝试发明新的价格公式和模型</a:t>
            </a:r>
            <a:endParaRPr lang="en-US" sz="1200" b="1" dirty="0">
              <a:solidFill>
                <a:srgbClr val="313131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2338594" y="4314865"/>
            <a:ext cx="1606464" cy="8156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1200" b="1" dirty="0"/>
              <a:t>Statistical </a:t>
            </a:r>
            <a:r>
              <a:rPr lang="en-US" sz="1200" b="1" dirty="0" smtClean="0"/>
              <a:t>Arbitrage Quant</a:t>
            </a:r>
          </a:p>
          <a:p>
            <a:pPr algn="ctr">
              <a:spcAft>
                <a:spcPts val="600"/>
              </a:spcAft>
            </a:pPr>
            <a:r>
              <a:rPr lang="zh-CN" altLang="en-US" sz="1200" dirty="0"/>
              <a:t>寻找自动交易系统的模式</a:t>
            </a:r>
            <a:r>
              <a:rPr lang="en-US" sz="1200" dirty="0" smtClean="0"/>
              <a:t> </a:t>
            </a:r>
            <a:endParaRPr lang="en-US" sz="1200" dirty="0"/>
          </a:p>
        </p:txBody>
      </p:sp>
      <p:sp>
        <p:nvSpPr>
          <p:cNvPr id="40" name="Rectangle 39"/>
          <p:cNvSpPr/>
          <p:nvPr/>
        </p:nvSpPr>
        <p:spPr>
          <a:xfrm>
            <a:off x="5172588" y="2444138"/>
            <a:ext cx="1606464" cy="6309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1200" b="1" dirty="0" smtClean="0">
                <a:solidFill>
                  <a:schemeClr val="bg1"/>
                </a:solidFill>
              </a:rPr>
              <a:t>Quant Developer</a:t>
            </a:r>
          </a:p>
          <a:p>
            <a:pPr algn="ctr">
              <a:spcAft>
                <a:spcPts val="600"/>
              </a:spcAft>
            </a:pPr>
            <a:r>
              <a:rPr lang="zh-CN" altLang="en-US" sz="1200" dirty="0">
                <a:solidFill>
                  <a:schemeClr val="bg1"/>
                </a:solidFill>
              </a:rPr>
              <a:t>负责程序开发的的工程师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5583861" y="3886200"/>
            <a:ext cx="1606464" cy="6309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1200" b="1" dirty="0" smtClean="0">
                <a:solidFill>
                  <a:schemeClr val="bg1"/>
                </a:solidFill>
              </a:rPr>
              <a:t>Capital Quant</a:t>
            </a:r>
          </a:p>
          <a:p>
            <a:pPr algn="ctr">
              <a:spcAft>
                <a:spcPts val="600"/>
              </a:spcAft>
            </a:pPr>
            <a:r>
              <a:rPr lang="zh-CN" altLang="en-US" sz="1200" dirty="0">
                <a:solidFill>
                  <a:schemeClr val="bg1"/>
                </a:solidFill>
              </a:rPr>
              <a:t>建立银行的信用和资本模型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3385456" y="1519237"/>
            <a:ext cx="956157" cy="8156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altLang="zh-CN" sz="1200" b="1" dirty="0" smtClean="0">
                <a:solidFill>
                  <a:schemeClr val="bg1"/>
                </a:solidFill>
              </a:rPr>
              <a:t>Desk Quant</a:t>
            </a:r>
          </a:p>
          <a:p>
            <a:pPr algn="ctr">
              <a:spcAft>
                <a:spcPts val="600"/>
              </a:spcAft>
            </a:pPr>
            <a:r>
              <a:rPr lang="zh-CN" altLang="en-US" sz="1200" dirty="0">
                <a:solidFill>
                  <a:schemeClr val="bg1"/>
                </a:solidFill>
              </a:rPr>
              <a:t>开发直接被交易员使用的价格模型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4572432" y="1390946"/>
            <a:ext cx="1112909" cy="100027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1200" b="1" dirty="0">
                <a:solidFill>
                  <a:schemeClr val="bg1"/>
                </a:solidFill>
              </a:rPr>
              <a:t>Model </a:t>
            </a:r>
            <a:r>
              <a:rPr lang="en-US" sz="1200" b="1" dirty="0" smtClean="0">
                <a:solidFill>
                  <a:schemeClr val="bg1"/>
                </a:solidFill>
              </a:rPr>
              <a:t>Validating Quant </a:t>
            </a:r>
          </a:p>
          <a:p>
            <a:pPr algn="ctr">
              <a:spcAft>
                <a:spcPts val="600"/>
              </a:spcAft>
            </a:pPr>
            <a:r>
              <a:rPr lang="zh-CN" altLang="en-US" sz="1200" dirty="0">
                <a:solidFill>
                  <a:schemeClr val="bg1"/>
                </a:solidFill>
              </a:rPr>
              <a:t>确定</a:t>
            </a:r>
            <a:r>
              <a:rPr lang="en-US" sz="1200" dirty="0">
                <a:solidFill>
                  <a:schemeClr val="bg1"/>
                </a:solidFill>
              </a:rPr>
              <a:t>desk quant</a:t>
            </a:r>
            <a:r>
              <a:rPr lang="zh-CN" altLang="en-US" sz="1200" dirty="0">
                <a:solidFill>
                  <a:schemeClr val="bg1"/>
                </a:solidFill>
              </a:rPr>
              <a:t>开发的模型的正确性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943929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000" b="0" dirty="0" smtClean="0">
                <a:solidFill>
                  <a:srgbClr val="81BC00"/>
                </a:solidFill>
              </a:rPr>
              <a:t>Quant</a:t>
            </a:r>
            <a:r>
              <a:rPr lang="zh-CN" altLang="en-US" sz="3000" b="0" dirty="0" smtClean="0">
                <a:solidFill>
                  <a:srgbClr val="81BC00"/>
                </a:solidFill>
              </a:rPr>
              <a:t>的职业发展</a:t>
            </a:r>
            <a:r>
              <a:rPr lang="en-US" sz="3000" b="0" dirty="0" smtClean="0">
                <a:solidFill>
                  <a:srgbClr val="81BC00"/>
                </a:solidFill>
              </a:rPr>
              <a:t> </a:t>
            </a:r>
            <a:br>
              <a:rPr lang="en-US" sz="3000" b="0" dirty="0" smtClean="0">
                <a:solidFill>
                  <a:srgbClr val="81BC00"/>
                </a:solidFill>
              </a:rPr>
            </a:br>
            <a:r>
              <a:rPr lang="en-US" altLang="zh-CN" sz="3000" dirty="0" smtClean="0">
                <a:solidFill>
                  <a:srgbClr val="575757"/>
                </a:solidFill>
              </a:rPr>
              <a:t>3. Quant</a:t>
            </a:r>
            <a:r>
              <a:rPr lang="zh-CN" altLang="en-US" sz="3000" dirty="0" smtClean="0">
                <a:solidFill>
                  <a:srgbClr val="575757"/>
                </a:solidFill>
              </a:rPr>
              <a:t>工作的领域？</a:t>
            </a:r>
            <a:endParaRPr lang="en-US" sz="3000" b="0" dirty="0" smtClean="0">
              <a:solidFill>
                <a:srgbClr val="575757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14</a:t>
            </a:fld>
            <a:endParaRPr lang="en-GB" dirty="0"/>
          </a:p>
        </p:txBody>
      </p:sp>
      <p:grpSp>
        <p:nvGrpSpPr>
          <p:cNvPr id="6" name="Group 5"/>
          <p:cNvGrpSpPr/>
          <p:nvPr/>
        </p:nvGrpSpPr>
        <p:grpSpPr>
          <a:xfrm>
            <a:off x="2098687" y="1376361"/>
            <a:ext cx="5054281" cy="833437"/>
            <a:chOff x="393700" y="1376363"/>
            <a:chExt cx="5054281" cy="833437"/>
          </a:xfrm>
        </p:grpSpPr>
        <p:sp>
          <p:nvSpPr>
            <p:cNvPr id="7" name="Pentagon 9"/>
            <p:cNvSpPr/>
            <p:nvPr/>
          </p:nvSpPr>
          <p:spPr>
            <a:xfrm>
              <a:off x="393700" y="1376363"/>
              <a:ext cx="1998662" cy="833437"/>
            </a:xfrm>
            <a:custGeom>
              <a:avLst/>
              <a:gdLst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98662" h="833437">
                  <a:moveTo>
                    <a:pt x="0" y="0"/>
                  </a:moveTo>
                  <a:lnTo>
                    <a:pt x="1330487" y="0"/>
                  </a:lnTo>
                  <a:cubicBezTo>
                    <a:pt x="1576072" y="9366"/>
                    <a:pt x="1768317" y="453073"/>
                    <a:pt x="1998662" y="416719"/>
                  </a:cubicBezTo>
                  <a:cubicBezTo>
                    <a:pt x="1775937" y="555625"/>
                    <a:pt x="1614172" y="793591"/>
                    <a:pt x="1330487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D203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8" name="Pentagon 12"/>
            <p:cNvSpPr/>
            <p:nvPr/>
          </p:nvSpPr>
          <p:spPr>
            <a:xfrm flipH="1">
              <a:off x="2111387" y="1376363"/>
              <a:ext cx="3336594" cy="833437"/>
            </a:xfrm>
            <a:custGeom>
              <a:avLst/>
              <a:gdLst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34548"/>
                <a:gd name="connsiteY0" fmla="*/ 0 h 833437"/>
                <a:gd name="connsiteX1" fmla="*/ 2433159 w 3234548"/>
                <a:gd name="connsiteY1" fmla="*/ 0 h 833437"/>
                <a:gd name="connsiteX2" fmla="*/ 3215640 w 3234548"/>
                <a:gd name="connsiteY2" fmla="*/ 531019 h 833437"/>
                <a:gd name="connsiteX3" fmla="*/ 2946082 w 3234548"/>
                <a:gd name="connsiteY3" fmla="*/ 668337 h 833437"/>
                <a:gd name="connsiteX4" fmla="*/ 2433159 w 3234548"/>
                <a:gd name="connsiteY4" fmla="*/ 833437 h 833437"/>
                <a:gd name="connsiteX5" fmla="*/ 0 w 3234548"/>
                <a:gd name="connsiteY5" fmla="*/ 833437 h 833437"/>
                <a:gd name="connsiteX6" fmla="*/ 0 w 3234548"/>
                <a:gd name="connsiteY6" fmla="*/ 0 h 833437"/>
                <a:gd name="connsiteX0" fmla="*/ 0 w 3243981"/>
                <a:gd name="connsiteY0" fmla="*/ 0 h 833437"/>
                <a:gd name="connsiteX1" fmla="*/ 2433159 w 3243981"/>
                <a:gd name="connsiteY1" fmla="*/ 0 h 833437"/>
                <a:gd name="connsiteX2" fmla="*/ 3215640 w 3243981"/>
                <a:gd name="connsiteY2" fmla="*/ 531019 h 833437"/>
                <a:gd name="connsiteX3" fmla="*/ 3047682 w 3243981"/>
                <a:gd name="connsiteY3" fmla="*/ 528637 h 833437"/>
                <a:gd name="connsiteX4" fmla="*/ 2433159 w 3243981"/>
                <a:gd name="connsiteY4" fmla="*/ 833437 h 833437"/>
                <a:gd name="connsiteX5" fmla="*/ 0 w 3243981"/>
                <a:gd name="connsiteY5" fmla="*/ 833437 h 833437"/>
                <a:gd name="connsiteX6" fmla="*/ 0 w 3243981"/>
                <a:gd name="connsiteY6" fmla="*/ 0 h 833437"/>
                <a:gd name="connsiteX0" fmla="*/ 0 w 3233439"/>
                <a:gd name="connsiteY0" fmla="*/ 0 h 833437"/>
                <a:gd name="connsiteX1" fmla="*/ 2433159 w 3233439"/>
                <a:gd name="connsiteY1" fmla="*/ 0 h 833437"/>
                <a:gd name="connsiteX2" fmla="*/ 3215640 w 3233439"/>
                <a:gd name="connsiteY2" fmla="*/ 531019 h 833437"/>
                <a:gd name="connsiteX3" fmla="*/ 3047682 w 3233439"/>
                <a:gd name="connsiteY3" fmla="*/ 528637 h 833437"/>
                <a:gd name="connsiteX4" fmla="*/ 2433159 w 3233439"/>
                <a:gd name="connsiteY4" fmla="*/ 833437 h 833437"/>
                <a:gd name="connsiteX5" fmla="*/ 0 w 3233439"/>
                <a:gd name="connsiteY5" fmla="*/ 833437 h 833437"/>
                <a:gd name="connsiteX6" fmla="*/ 0 w 3233439"/>
                <a:gd name="connsiteY6" fmla="*/ 0 h 833437"/>
                <a:gd name="connsiteX0" fmla="*/ 0 w 3215999"/>
                <a:gd name="connsiteY0" fmla="*/ 0 h 833437"/>
                <a:gd name="connsiteX1" fmla="*/ 2433159 w 3215999"/>
                <a:gd name="connsiteY1" fmla="*/ 0 h 833437"/>
                <a:gd name="connsiteX2" fmla="*/ 3215640 w 3215999"/>
                <a:gd name="connsiteY2" fmla="*/ 531019 h 833437"/>
                <a:gd name="connsiteX3" fmla="*/ 3047682 w 3215999"/>
                <a:gd name="connsiteY3" fmla="*/ 528637 h 833437"/>
                <a:gd name="connsiteX4" fmla="*/ 2433159 w 3215999"/>
                <a:gd name="connsiteY4" fmla="*/ 833437 h 833437"/>
                <a:gd name="connsiteX5" fmla="*/ 0 w 3215999"/>
                <a:gd name="connsiteY5" fmla="*/ 833437 h 833437"/>
                <a:gd name="connsiteX6" fmla="*/ 0 w 3215999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9"/>
                <a:gd name="connsiteY0" fmla="*/ 0 h 833437"/>
                <a:gd name="connsiteX1" fmla="*/ 2433159 w 3336509"/>
                <a:gd name="connsiteY1" fmla="*/ 0 h 833437"/>
                <a:gd name="connsiteX2" fmla="*/ 3336290 w 3336509"/>
                <a:gd name="connsiteY2" fmla="*/ 632619 h 833437"/>
                <a:gd name="connsiteX3" fmla="*/ 3054032 w 3336509"/>
                <a:gd name="connsiteY3" fmla="*/ 522287 h 833437"/>
                <a:gd name="connsiteX4" fmla="*/ 2433159 w 3336509"/>
                <a:gd name="connsiteY4" fmla="*/ 833437 h 833437"/>
                <a:gd name="connsiteX5" fmla="*/ 0 w 3336509"/>
                <a:gd name="connsiteY5" fmla="*/ 833437 h 833437"/>
                <a:gd name="connsiteX6" fmla="*/ 0 w 3336509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36594" h="833437">
                  <a:moveTo>
                    <a:pt x="0" y="0"/>
                  </a:moveTo>
                  <a:lnTo>
                    <a:pt x="2433159" y="0"/>
                  </a:lnTo>
                  <a:cubicBezTo>
                    <a:pt x="2941106" y="69056"/>
                    <a:pt x="2897159" y="308900"/>
                    <a:pt x="3047681" y="414337"/>
                  </a:cubicBezTo>
                  <a:cubicBezTo>
                    <a:pt x="3198203" y="519774"/>
                    <a:pt x="3271732" y="592403"/>
                    <a:pt x="3336290" y="645319"/>
                  </a:cubicBezTo>
                  <a:cubicBezTo>
                    <a:pt x="3345577" y="667809"/>
                    <a:pt x="3139996" y="500459"/>
                    <a:pt x="3054032" y="522287"/>
                  </a:cubicBezTo>
                  <a:cubicBezTo>
                    <a:pt x="2783919" y="598090"/>
                    <a:pt x="2924173" y="805920"/>
                    <a:pt x="2433159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1BC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2098687" y="2401092"/>
            <a:ext cx="5054281" cy="833437"/>
            <a:chOff x="393700" y="2392363"/>
            <a:chExt cx="5054281" cy="833437"/>
          </a:xfrm>
        </p:grpSpPr>
        <p:sp>
          <p:nvSpPr>
            <p:cNvPr id="10" name="Pentagon 9"/>
            <p:cNvSpPr/>
            <p:nvPr/>
          </p:nvSpPr>
          <p:spPr>
            <a:xfrm>
              <a:off x="393700" y="2392363"/>
              <a:ext cx="1998662" cy="833437"/>
            </a:xfrm>
            <a:custGeom>
              <a:avLst/>
              <a:gdLst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98662" h="833437">
                  <a:moveTo>
                    <a:pt x="0" y="0"/>
                  </a:moveTo>
                  <a:lnTo>
                    <a:pt x="1330487" y="0"/>
                  </a:lnTo>
                  <a:cubicBezTo>
                    <a:pt x="1576072" y="9366"/>
                    <a:pt x="1768317" y="453073"/>
                    <a:pt x="1998662" y="416719"/>
                  </a:cubicBezTo>
                  <a:cubicBezTo>
                    <a:pt x="1775937" y="555625"/>
                    <a:pt x="1614172" y="793591"/>
                    <a:pt x="1330487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2C7E7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1" name="Pentagon 12"/>
            <p:cNvSpPr/>
            <p:nvPr/>
          </p:nvSpPr>
          <p:spPr>
            <a:xfrm flipH="1">
              <a:off x="2111387" y="2392363"/>
              <a:ext cx="3336594" cy="833437"/>
            </a:xfrm>
            <a:custGeom>
              <a:avLst/>
              <a:gdLst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34548"/>
                <a:gd name="connsiteY0" fmla="*/ 0 h 833437"/>
                <a:gd name="connsiteX1" fmla="*/ 2433159 w 3234548"/>
                <a:gd name="connsiteY1" fmla="*/ 0 h 833437"/>
                <a:gd name="connsiteX2" fmla="*/ 3215640 w 3234548"/>
                <a:gd name="connsiteY2" fmla="*/ 531019 h 833437"/>
                <a:gd name="connsiteX3" fmla="*/ 2946082 w 3234548"/>
                <a:gd name="connsiteY3" fmla="*/ 668337 h 833437"/>
                <a:gd name="connsiteX4" fmla="*/ 2433159 w 3234548"/>
                <a:gd name="connsiteY4" fmla="*/ 833437 h 833437"/>
                <a:gd name="connsiteX5" fmla="*/ 0 w 3234548"/>
                <a:gd name="connsiteY5" fmla="*/ 833437 h 833437"/>
                <a:gd name="connsiteX6" fmla="*/ 0 w 3234548"/>
                <a:gd name="connsiteY6" fmla="*/ 0 h 833437"/>
                <a:gd name="connsiteX0" fmla="*/ 0 w 3243981"/>
                <a:gd name="connsiteY0" fmla="*/ 0 h 833437"/>
                <a:gd name="connsiteX1" fmla="*/ 2433159 w 3243981"/>
                <a:gd name="connsiteY1" fmla="*/ 0 h 833437"/>
                <a:gd name="connsiteX2" fmla="*/ 3215640 w 3243981"/>
                <a:gd name="connsiteY2" fmla="*/ 531019 h 833437"/>
                <a:gd name="connsiteX3" fmla="*/ 3047682 w 3243981"/>
                <a:gd name="connsiteY3" fmla="*/ 528637 h 833437"/>
                <a:gd name="connsiteX4" fmla="*/ 2433159 w 3243981"/>
                <a:gd name="connsiteY4" fmla="*/ 833437 h 833437"/>
                <a:gd name="connsiteX5" fmla="*/ 0 w 3243981"/>
                <a:gd name="connsiteY5" fmla="*/ 833437 h 833437"/>
                <a:gd name="connsiteX6" fmla="*/ 0 w 3243981"/>
                <a:gd name="connsiteY6" fmla="*/ 0 h 833437"/>
                <a:gd name="connsiteX0" fmla="*/ 0 w 3233439"/>
                <a:gd name="connsiteY0" fmla="*/ 0 h 833437"/>
                <a:gd name="connsiteX1" fmla="*/ 2433159 w 3233439"/>
                <a:gd name="connsiteY1" fmla="*/ 0 h 833437"/>
                <a:gd name="connsiteX2" fmla="*/ 3215640 w 3233439"/>
                <a:gd name="connsiteY2" fmla="*/ 531019 h 833437"/>
                <a:gd name="connsiteX3" fmla="*/ 3047682 w 3233439"/>
                <a:gd name="connsiteY3" fmla="*/ 528637 h 833437"/>
                <a:gd name="connsiteX4" fmla="*/ 2433159 w 3233439"/>
                <a:gd name="connsiteY4" fmla="*/ 833437 h 833437"/>
                <a:gd name="connsiteX5" fmla="*/ 0 w 3233439"/>
                <a:gd name="connsiteY5" fmla="*/ 833437 h 833437"/>
                <a:gd name="connsiteX6" fmla="*/ 0 w 3233439"/>
                <a:gd name="connsiteY6" fmla="*/ 0 h 833437"/>
                <a:gd name="connsiteX0" fmla="*/ 0 w 3215999"/>
                <a:gd name="connsiteY0" fmla="*/ 0 h 833437"/>
                <a:gd name="connsiteX1" fmla="*/ 2433159 w 3215999"/>
                <a:gd name="connsiteY1" fmla="*/ 0 h 833437"/>
                <a:gd name="connsiteX2" fmla="*/ 3215640 w 3215999"/>
                <a:gd name="connsiteY2" fmla="*/ 531019 h 833437"/>
                <a:gd name="connsiteX3" fmla="*/ 3047682 w 3215999"/>
                <a:gd name="connsiteY3" fmla="*/ 528637 h 833437"/>
                <a:gd name="connsiteX4" fmla="*/ 2433159 w 3215999"/>
                <a:gd name="connsiteY4" fmla="*/ 833437 h 833437"/>
                <a:gd name="connsiteX5" fmla="*/ 0 w 3215999"/>
                <a:gd name="connsiteY5" fmla="*/ 833437 h 833437"/>
                <a:gd name="connsiteX6" fmla="*/ 0 w 3215999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9"/>
                <a:gd name="connsiteY0" fmla="*/ 0 h 833437"/>
                <a:gd name="connsiteX1" fmla="*/ 2433159 w 3336509"/>
                <a:gd name="connsiteY1" fmla="*/ 0 h 833437"/>
                <a:gd name="connsiteX2" fmla="*/ 3336290 w 3336509"/>
                <a:gd name="connsiteY2" fmla="*/ 632619 h 833437"/>
                <a:gd name="connsiteX3" fmla="*/ 3054032 w 3336509"/>
                <a:gd name="connsiteY3" fmla="*/ 522287 h 833437"/>
                <a:gd name="connsiteX4" fmla="*/ 2433159 w 3336509"/>
                <a:gd name="connsiteY4" fmla="*/ 833437 h 833437"/>
                <a:gd name="connsiteX5" fmla="*/ 0 w 3336509"/>
                <a:gd name="connsiteY5" fmla="*/ 833437 h 833437"/>
                <a:gd name="connsiteX6" fmla="*/ 0 w 3336509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36594" h="833437">
                  <a:moveTo>
                    <a:pt x="0" y="0"/>
                  </a:moveTo>
                  <a:lnTo>
                    <a:pt x="2433159" y="0"/>
                  </a:lnTo>
                  <a:cubicBezTo>
                    <a:pt x="2941106" y="69056"/>
                    <a:pt x="2897159" y="308900"/>
                    <a:pt x="3047681" y="414337"/>
                  </a:cubicBezTo>
                  <a:cubicBezTo>
                    <a:pt x="3198203" y="519774"/>
                    <a:pt x="3271732" y="592403"/>
                    <a:pt x="3336290" y="645319"/>
                  </a:cubicBezTo>
                  <a:cubicBezTo>
                    <a:pt x="3345577" y="667809"/>
                    <a:pt x="3139996" y="500459"/>
                    <a:pt x="3054032" y="522287"/>
                  </a:cubicBezTo>
                  <a:cubicBezTo>
                    <a:pt x="2783919" y="598090"/>
                    <a:pt x="2924173" y="805920"/>
                    <a:pt x="2433159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1D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2098687" y="3425823"/>
            <a:ext cx="5054281" cy="833437"/>
            <a:chOff x="393700" y="3421063"/>
            <a:chExt cx="5054281" cy="833437"/>
          </a:xfrm>
        </p:grpSpPr>
        <p:sp>
          <p:nvSpPr>
            <p:cNvPr id="13" name="Pentagon 9"/>
            <p:cNvSpPr/>
            <p:nvPr/>
          </p:nvSpPr>
          <p:spPr>
            <a:xfrm>
              <a:off x="393700" y="3421063"/>
              <a:ext cx="1998662" cy="833437"/>
            </a:xfrm>
            <a:custGeom>
              <a:avLst/>
              <a:gdLst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98662" h="833437">
                  <a:moveTo>
                    <a:pt x="0" y="0"/>
                  </a:moveTo>
                  <a:lnTo>
                    <a:pt x="1330487" y="0"/>
                  </a:lnTo>
                  <a:cubicBezTo>
                    <a:pt x="1576072" y="9366"/>
                    <a:pt x="1768317" y="453073"/>
                    <a:pt x="1998662" y="416719"/>
                  </a:cubicBezTo>
                  <a:cubicBezTo>
                    <a:pt x="1775937" y="555625"/>
                    <a:pt x="1614172" y="793591"/>
                    <a:pt x="1330487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7E9F5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4" name="Pentagon 12"/>
            <p:cNvSpPr/>
            <p:nvPr/>
          </p:nvSpPr>
          <p:spPr>
            <a:xfrm flipH="1">
              <a:off x="2111387" y="3421063"/>
              <a:ext cx="3336594" cy="833437"/>
            </a:xfrm>
            <a:custGeom>
              <a:avLst/>
              <a:gdLst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34548"/>
                <a:gd name="connsiteY0" fmla="*/ 0 h 833437"/>
                <a:gd name="connsiteX1" fmla="*/ 2433159 w 3234548"/>
                <a:gd name="connsiteY1" fmla="*/ 0 h 833437"/>
                <a:gd name="connsiteX2" fmla="*/ 3215640 w 3234548"/>
                <a:gd name="connsiteY2" fmla="*/ 531019 h 833437"/>
                <a:gd name="connsiteX3" fmla="*/ 2946082 w 3234548"/>
                <a:gd name="connsiteY3" fmla="*/ 668337 h 833437"/>
                <a:gd name="connsiteX4" fmla="*/ 2433159 w 3234548"/>
                <a:gd name="connsiteY4" fmla="*/ 833437 h 833437"/>
                <a:gd name="connsiteX5" fmla="*/ 0 w 3234548"/>
                <a:gd name="connsiteY5" fmla="*/ 833437 h 833437"/>
                <a:gd name="connsiteX6" fmla="*/ 0 w 3234548"/>
                <a:gd name="connsiteY6" fmla="*/ 0 h 833437"/>
                <a:gd name="connsiteX0" fmla="*/ 0 w 3243981"/>
                <a:gd name="connsiteY0" fmla="*/ 0 h 833437"/>
                <a:gd name="connsiteX1" fmla="*/ 2433159 w 3243981"/>
                <a:gd name="connsiteY1" fmla="*/ 0 h 833437"/>
                <a:gd name="connsiteX2" fmla="*/ 3215640 w 3243981"/>
                <a:gd name="connsiteY2" fmla="*/ 531019 h 833437"/>
                <a:gd name="connsiteX3" fmla="*/ 3047682 w 3243981"/>
                <a:gd name="connsiteY3" fmla="*/ 528637 h 833437"/>
                <a:gd name="connsiteX4" fmla="*/ 2433159 w 3243981"/>
                <a:gd name="connsiteY4" fmla="*/ 833437 h 833437"/>
                <a:gd name="connsiteX5" fmla="*/ 0 w 3243981"/>
                <a:gd name="connsiteY5" fmla="*/ 833437 h 833437"/>
                <a:gd name="connsiteX6" fmla="*/ 0 w 3243981"/>
                <a:gd name="connsiteY6" fmla="*/ 0 h 833437"/>
                <a:gd name="connsiteX0" fmla="*/ 0 w 3233439"/>
                <a:gd name="connsiteY0" fmla="*/ 0 h 833437"/>
                <a:gd name="connsiteX1" fmla="*/ 2433159 w 3233439"/>
                <a:gd name="connsiteY1" fmla="*/ 0 h 833437"/>
                <a:gd name="connsiteX2" fmla="*/ 3215640 w 3233439"/>
                <a:gd name="connsiteY2" fmla="*/ 531019 h 833437"/>
                <a:gd name="connsiteX3" fmla="*/ 3047682 w 3233439"/>
                <a:gd name="connsiteY3" fmla="*/ 528637 h 833437"/>
                <a:gd name="connsiteX4" fmla="*/ 2433159 w 3233439"/>
                <a:gd name="connsiteY4" fmla="*/ 833437 h 833437"/>
                <a:gd name="connsiteX5" fmla="*/ 0 w 3233439"/>
                <a:gd name="connsiteY5" fmla="*/ 833437 h 833437"/>
                <a:gd name="connsiteX6" fmla="*/ 0 w 3233439"/>
                <a:gd name="connsiteY6" fmla="*/ 0 h 833437"/>
                <a:gd name="connsiteX0" fmla="*/ 0 w 3215999"/>
                <a:gd name="connsiteY0" fmla="*/ 0 h 833437"/>
                <a:gd name="connsiteX1" fmla="*/ 2433159 w 3215999"/>
                <a:gd name="connsiteY1" fmla="*/ 0 h 833437"/>
                <a:gd name="connsiteX2" fmla="*/ 3215640 w 3215999"/>
                <a:gd name="connsiteY2" fmla="*/ 531019 h 833437"/>
                <a:gd name="connsiteX3" fmla="*/ 3047682 w 3215999"/>
                <a:gd name="connsiteY3" fmla="*/ 528637 h 833437"/>
                <a:gd name="connsiteX4" fmla="*/ 2433159 w 3215999"/>
                <a:gd name="connsiteY4" fmla="*/ 833437 h 833437"/>
                <a:gd name="connsiteX5" fmla="*/ 0 w 3215999"/>
                <a:gd name="connsiteY5" fmla="*/ 833437 h 833437"/>
                <a:gd name="connsiteX6" fmla="*/ 0 w 3215999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9"/>
                <a:gd name="connsiteY0" fmla="*/ 0 h 833437"/>
                <a:gd name="connsiteX1" fmla="*/ 2433159 w 3336509"/>
                <a:gd name="connsiteY1" fmla="*/ 0 h 833437"/>
                <a:gd name="connsiteX2" fmla="*/ 3336290 w 3336509"/>
                <a:gd name="connsiteY2" fmla="*/ 632619 h 833437"/>
                <a:gd name="connsiteX3" fmla="*/ 3054032 w 3336509"/>
                <a:gd name="connsiteY3" fmla="*/ 522287 h 833437"/>
                <a:gd name="connsiteX4" fmla="*/ 2433159 w 3336509"/>
                <a:gd name="connsiteY4" fmla="*/ 833437 h 833437"/>
                <a:gd name="connsiteX5" fmla="*/ 0 w 3336509"/>
                <a:gd name="connsiteY5" fmla="*/ 833437 h 833437"/>
                <a:gd name="connsiteX6" fmla="*/ 0 w 3336509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36594" h="833437">
                  <a:moveTo>
                    <a:pt x="0" y="0"/>
                  </a:moveTo>
                  <a:lnTo>
                    <a:pt x="2433159" y="0"/>
                  </a:lnTo>
                  <a:cubicBezTo>
                    <a:pt x="2941106" y="69056"/>
                    <a:pt x="2897159" y="308900"/>
                    <a:pt x="3047681" y="414337"/>
                  </a:cubicBezTo>
                  <a:cubicBezTo>
                    <a:pt x="3198203" y="519774"/>
                    <a:pt x="3271732" y="592403"/>
                    <a:pt x="3336290" y="645319"/>
                  </a:cubicBezTo>
                  <a:cubicBezTo>
                    <a:pt x="3345577" y="667809"/>
                    <a:pt x="3139996" y="500459"/>
                    <a:pt x="3054032" y="522287"/>
                  </a:cubicBezTo>
                  <a:cubicBezTo>
                    <a:pt x="2783919" y="598090"/>
                    <a:pt x="2924173" y="805920"/>
                    <a:pt x="2433159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2C7E7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2098687" y="4450554"/>
            <a:ext cx="5054281" cy="833437"/>
            <a:chOff x="393700" y="4481513"/>
            <a:chExt cx="5054281" cy="833437"/>
          </a:xfrm>
        </p:grpSpPr>
        <p:sp>
          <p:nvSpPr>
            <p:cNvPr id="16" name="Pentagon 9"/>
            <p:cNvSpPr/>
            <p:nvPr/>
          </p:nvSpPr>
          <p:spPr>
            <a:xfrm>
              <a:off x="393700" y="4481513"/>
              <a:ext cx="1998662" cy="833437"/>
            </a:xfrm>
            <a:custGeom>
              <a:avLst/>
              <a:gdLst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98662" h="833437">
                  <a:moveTo>
                    <a:pt x="0" y="0"/>
                  </a:moveTo>
                  <a:lnTo>
                    <a:pt x="1330487" y="0"/>
                  </a:lnTo>
                  <a:cubicBezTo>
                    <a:pt x="1576072" y="9366"/>
                    <a:pt x="1768317" y="453073"/>
                    <a:pt x="1998662" y="416719"/>
                  </a:cubicBezTo>
                  <a:cubicBezTo>
                    <a:pt x="1775937" y="555625"/>
                    <a:pt x="1614172" y="793591"/>
                    <a:pt x="1330487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C8C8C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7" name="Pentagon 12"/>
            <p:cNvSpPr/>
            <p:nvPr/>
          </p:nvSpPr>
          <p:spPr>
            <a:xfrm flipH="1">
              <a:off x="2111387" y="4481513"/>
              <a:ext cx="3336594" cy="833437"/>
            </a:xfrm>
            <a:custGeom>
              <a:avLst/>
              <a:gdLst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34548"/>
                <a:gd name="connsiteY0" fmla="*/ 0 h 833437"/>
                <a:gd name="connsiteX1" fmla="*/ 2433159 w 3234548"/>
                <a:gd name="connsiteY1" fmla="*/ 0 h 833437"/>
                <a:gd name="connsiteX2" fmla="*/ 3215640 w 3234548"/>
                <a:gd name="connsiteY2" fmla="*/ 531019 h 833437"/>
                <a:gd name="connsiteX3" fmla="*/ 2946082 w 3234548"/>
                <a:gd name="connsiteY3" fmla="*/ 668337 h 833437"/>
                <a:gd name="connsiteX4" fmla="*/ 2433159 w 3234548"/>
                <a:gd name="connsiteY4" fmla="*/ 833437 h 833437"/>
                <a:gd name="connsiteX5" fmla="*/ 0 w 3234548"/>
                <a:gd name="connsiteY5" fmla="*/ 833437 h 833437"/>
                <a:gd name="connsiteX6" fmla="*/ 0 w 3234548"/>
                <a:gd name="connsiteY6" fmla="*/ 0 h 833437"/>
                <a:gd name="connsiteX0" fmla="*/ 0 w 3243981"/>
                <a:gd name="connsiteY0" fmla="*/ 0 h 833437"/>
                <a:gd name="connsiteX1" fmla="*/ 2433159 w 3243981"/>
                <a:gd name="connsiteY1" fmla="*/ 0 h 833437"/>
                <a:gd name="connsiteX2" fmla="*/ 3215640 w 3243981"/>
                <a:gd name="connsiteY2" fmla="*/ 531019 h 833437"/>
                <a:gd name="connsiteX3" fmla="*/ 3047682 w 3243981"/>
                <a:gd name="connsiteY3" fmla="*/ 528637 h 833437"/>
                <a:gd name="connsiteX4" fmla="*/ 2433159 w 3243981"/>
                <a:gd name="connsiteY4" fmla="*/ 833437 h 833437"/>
                <a:gd name="connsiteX5" fmla="*/ 0 w 3243981"/>
                <a:gd name="connsiteY5" fmla="*/ 833437 h 833437"/>
                <a:gd name="connsiteX6" fmla="*/ 0 w 3243981"/>
                <a:gd name="connsiteY6" fmla="*/ 0 h 833437"/>
                <a:gd name="connsiteX0" fmla="*/ 0 w 3233439"/>
                <a:gd name="connsiteY0" fmla="*/ 0 h 833437"/>
                <a:gd name="connsiteX1" fmla="*/ 2433159 w 3233439"/>
                <a:gd name="connsiteY1" fmla="*/ 0 h 833437"/>
                <a:gd name="connsiteX2" fmla="*/ 3215640 w 3233439"/>
                <a:gd name="connsiteY2" fmla="*/ 531019 h 833437"/>
                <a:gd name="connsiteX3" fmla="*/ 3047682 w 3233439"/>
                <a:gd name="connsiteY3" fmla="*/ 528637 h 833437"/>
                <a:gd name="connsiteX4" fmla="*/ 2433159 w 3233439"/>
                <a:gd name="connsiteY4" fmla="*/ 833437 h 833437"/>
                <a:gd name="connsiteX5" fmla="*/ 0 w 3233439"/>
                <a:gd name="connsiteY5" fmla="*/ 833437 h 833437"/>
                <a:gd name="connsiteX6" fmla="*/ 0 w 3233439"/>
                <a:gd name="connsiteY6" fmla="*/ 0 h 833437"/>
                <a:gd name="connsiteX0" fmla="*/ 0 w 3215999"/>
                <a:gd name="connsiteY0" fmla="*/ 0 h 833437"/>
                <a:gd name="connsiteX1" fmla="*/ 2433159 w 3215999"/>
                <a:gd name="connsiteY1" fmla="*/ 0 h 833437"/>
                <a:gd name="connsiteX2" fmla="*/ 3215640 w 3215999"/>
                <a:gd name="connsiteY2" fmla="*/ 531019 h 833437"/>
                <a:gd name="connsiteX3" fmla="*/ 3047682 w 3215999"/>
                <a:gd name="connsiteY3" fmla="*/ 528637 h 833437"/>
                <a:gd name="connsiteX4" fmla="*/ 2433159 w 3215999"/>
                <a:gd name="connsiteY4" fmla="*/ 833437 h 833437"/>
                <a:gd name="connsiteX5" fmla="*/ 0 w 3215999"/>
                <a:gd name="connsiteY5" fmla="*/ 833437 h 833437"/>
                <a:gd name="connsiteX6" fmla="*/ 0 w 3215999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9"/>
                <a:gd name="connsiteY0" fmla="*/ 0 h 833437"/>
                <a:gd name="connsiteX1" fmla="*/ 2433159 w 3336509"/>
                <a:gd name="connsiteY1" fmla="*/ 0 h 833437"/>
                <a:gd name="connsiteX2" fmla="*/ 3336290 w 3336509"/>
                <a:gd name="connsiteY2" fmla="*/ 632619 h 833437"/>
                <a:gd name="connsiteX3" fmla="*/ 3054032 w 3336509"/>
                <a:gd name="connsiteY3" fmla="*/ 522287 h 833437"/>
                <a:gd name="connsiteX4" fmla="*/ 2433159 w 3336509"/>
                <a:gd name="connsiteY4" fmla="*/ 833437 h 833437"/>
                <a:gd name="connsiteX5" fmla="*/ 0 w 3336509"/>
                <a:gd name="connsiteY5" fmla="*/ 833437 h 833437"/>
                <a:gd name="connsiteX6" fmla="*/ 0 w 3336509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36594" h="833437">
                  <a:moveTo>
                    <a:pt x="0" y="0"/>
                  </a:moveTo>
                  <a:lnTo>
                    <a:pt x="2433159" y="0"/>
                  </a:lnTo>
                  <a:cubicBezTo>
                    <a:pt x="2941106" y="69056"/>
                    <a:pt x="2897159" y="308900"/>
                    <a:pt x="3047681" y="414337"/>
                  </a:cubicBezTo>
                  <a:cubicBezTo>
                    <a:pt x="3198203" y="519774"/>
                    <a:pt x="3271732" y="592403"/>
                    <a:pt x="3336290" y="645319"/>
                  </a:cubicBezTo>
                  <a:cubicBezTo>
                    <a:pt x="3345577" y="667809"/>
                    <a:pt x="3139996" y="500459"/>
                    <a:pt x="3054032" y="522287"/>
                  </a:cubicBezTo>
                  <a:cubicBezTo>
                    <a:pt x="2783919" y="598090"/>
                    <a:pt x="2924173" y="805920"/>
                    <a:pt x="2433159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1313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2098687" y="5475286"/>
            <a:ext cx="5054281" cy="833437"/>
            <a:chOff x="393700" y="5475288"/>
            <a:chExt cx="5054281" cy="833437"/>
          </a:xfrm>
        </p:grpSpPr>
        <p:sp>
          <p:nvSpPr>
            <p:cNvPr id="19" name="Pentagon 9"/>
            <p:cNvSpPr/>
            <p:nvPr/>
          </p:nvSpPr>
          <p:spPr>
            <a:xfrm>
              <a:off x="393700" y="5475288"/>
              <a:ext cx="1998662" cy="833437"/>
            </a:xfrm>
            <a:custGeom>
              <a:avLst/>
              <a:gdLst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98662" h="833437">
                  <a:moveTo>
                    <a:pt x="0" y="0"/>
                  </a:moveTo>
                  <a:lnTo>
                    <a:pt x="1330487" y="0"/>
                  </a:lnTo>
                  <a:cubicBezTo>
                    <a:pt x="1576072" y="9366"/>
                    <a:pt x="1768317" y="453073"/>
                    <a:pt x="1998662" y="416719"/>
                  </a:cubicBezTo>
                  <a:cubicBezTo>
                    <a:pt x="1775937" y="555625"/>
                    <a:pt x="1614172" y="793591"/>
                    <a:pt x="1330487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B4B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20" name="Pentagon 12"/>
            <p:cNvSpPr/>
            <p:nvPr/>
          </p:nvSpPr>
          <p:spPr>
            <a:xfrm flipH="1">
              <a:off x="2111387" y="5475288"/>
              <a:ext cx="3336594" cy="833437"/>
            </a:xfrm>
            <a:custGeom>
              <a:avLst/>
              <a:gdLst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34548"/>
                <a:gd name="connsiteY0" fmla="*/ 0 h 833437"/>
                <a:gd name="connsiteX1" fmla="*/ 2433159 w 3234548"/>
                <a:gd name="connsiteY1" fmla="*/ 0 h 833437"/>
                <a:gd name="connsiteX2" fmla="*/ 3215640 w 3234548"/>
                <a:gd name="connsiteY2" fmla="*/ 531019 h 833437"/>
                <a:gd name="connsiteX3" fmla="*/ 2946082 w 3234548"/>
                <a:gd name="connsiteY3" fmla="*/ 668337 h 833437"/>
                <a:gd name="connsiteX4" fmla="*/ 2433159 w 3234548"/>
                <a:gd name="connsiteY4" fmla="*/ 833437 h 833437"/>
                <a:gd name="connsiteX5" fmla="*/ 0 w 3234548"/>
                <a:gd name="connsiteY5" fmla="*/ 833437 h 833437"/>
                <a:gd name="connsiteX6" fmla="*/ 0 w 3234548"/>
                <a:gd name="connsiteY6" fmla="*/ 0 h 833437"/>
                <a:gd name="connsiteX0" fmla="*/ 0 w 3243981"/>
                <a:gd name="connsiteY0" fmla="*/ 0 h 833437"/>
                <a:gd name="connsiteX1" fmla="*/ 2433159 w 3243981"/>
                <a:gd name="connsiteY1" fmla="*/ 0 h 833437"/>
                <a:gd name="connsiteX2" fmla="*/ 3215640 w 3243981"/>
                <a:gd name="connsiteY2" fmla="*/ 531019 h 833437"/>
                <a:gd name="connsiteX3" fmla="*/ 3047682 w 3243981"/>
                <a:gd name="connsiteY3" fmla="*/ 528637 h 833437"/>
                <a:gd name="connsiteX4" fmla="*/ 2433159 w 3243981"/>
                <a:gd name="connsiteY4" fmla="*/ 833437 h 833437"/>
                <a:gd name="connsiteX5" fmla="*/ 0 w 3243981"/>
                <a:gd name="connsiteY5" fmla="*/ 833437 h 833437"/>
                <a:gd name="connsiteX6" fmla="*/ 0 w 3243981"/>
                <a:gd name="connsiteY6" fmla="*/ 0 h 833437"/>
                <a:gd name="connsiteX0" fmla="*/ 0 w 3233439"/>
                <a:gd name="connsiteY0" fmla="*/ 0 h 833437"/>
                <a:gd name="connsiteX1" fmla="*/ 2433159 w 3233439"/>
                <a:gd name="connsiteY1" fmla="*/ 0 h 833437"/>
                <a:gd name="connsiteX2" fmla="*/ 3215640 w 3233439"/>
                <a:gd name="connsiteY2" fmla="*/ 531019 h 833437"/>
                <a:gd name="connsiteX3" fmla="*/ 3047682 w 3233439"/>
                <a:gd name="connsiteY3" fmla="*/ 528637 h 833437"/>
                <a:gd name="connsiteX4" fmla="*/ 2433159 w 3233439"/>
                <a:gd name="connsiteY4" fmla="*/ 833437 h 833437"/>
                <a:gd name="connsiteX5" fmla="*/ 0 w 3233439"/>
                <a:gd name="connsiteY5" fmla="*/ 833437 h 833437"/>
                <a:gd name="connsiteX6" fmla="*/ 0 w 3233439"/>
                <a:gd name="connsiteY6" fmla="*/ 0 h 833437"/>
                <a:gd name="connsiteX0" fmla="*/ 0 w 3215999"/>
                <a:gd name="connsiteY0" fmla="*/ 0 h 833437"/>
                <a:gd name="connsiteX1" fmla="*/ 2433159 w 3215999"/>
                <a:gd name="connsiteY1" fmla="*/ 0 h 833437"/>
                <a:gd name="connsiteX2" fmla="*/ 3215640 w 3215999"/>
                <a:gd name="connsiteY2" fmla="*/ 531019 h 833437"/>
                <a:gd name="connsiteX3" fmla="*/ 3047682 w 3215999"/>
                <a:gd name="connsiteY3" fmla="*/ 528637 h 833437"/>
                <a:gd name="connsiteX4" fmla="*/ 2433159 w 3215999"/>
                <a:gd name="connsiteY4" fmla="*/ 833437 h 833437"/>
                <a:gd name="connsiteX5" fmla="*/ 0 w 3215999"/>
                <a:gd name="connsiteY5" fmla="*/ 833437 h 833437"/>
                <a:gd name="connsiteX6" fmla="*/ 0 w 3215999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9"/>
                <a:gd name="connsiteY0" fmla="*/ 0 h 833437"/>
                <a:gd name="connsiteX1" fmla="*/ 2433159 w 3336509"/>
                <a:gd name="connsiteY1" fmla="*/ 0 h 833437"/>
                <a:gd name="connsiteX2" fmla="*/ 3336290 w 3336509"/>
                <a:gd name="connsiteY2" fmla="*/ 632619 h 833437"/>
                <a:gd name="connsiteX3" fmla="*/ 3054032 w 3336509"/>
                <a:gd name="connsiteY3" fmla="*/ 522287 h 833437"/>
                <a:gd name="connsiteX4" fmla="*/ 2433159 w 3336509"/>
                <a:gd name="connsiteY4" fmla="*/ 833437 h 833437"/>
                <a:gd name="connsiteX5" fmla="*/ 0 w 3336509"/>
                <a:gd name="connsiteY5" fmla="*/ 833437 h 833437"/>
                <a:gd name="connsiteX6" fmla="*/ 0 w 3336509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36594" h="833437">
                  <a:moveTo>
                    <a:pt x="0" y="0"/>
                  </a:moveTo>
                  <a:lnTo>
                    <a:pt x="2433159" y="0"/>
                  </a:lnTo>
                  <a:cubicBezTo>
                    <a:pt x="2941106" y="69056"/>
                    <a:pt x="2897159" y="308900"/>
                    <a:pt x="3047681" y="414337"/>
                  </a:cubicBezTo>
                  <a:cubicBezTo>
                    <a:pt x="3198203" y="519774"/>
                    <a:pt x="3271732" y="592403"/>
                    <a:pt x="3336290" y="645319"/>
                  </a:cubicBezTo>
                  <a:cubicBezTo>
                    <a:pt x="3345577" y="667809"/>
                    <a:pt x="3139996" y="500459"/>
                    <a:pt x="3054032" y="522287"/>
                  </a:cubicBezTo>
                  <a:cubicBezTo>
                    <a:pt x="2783919" y="598090"/>
                    <a:pt x="2924173" y="805920"/>
                    <a:pt x="2433159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2181237" y="1389061"/>
            <a:ext cx="631825" cy="442035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sz="2400" dirty="0" smtClean="0">
                <a:solidFill>
                  <a:schemeClr val="tx2"/>
                </a:solidFill>
              </a:rPr>
              <a:t>FX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81237" y="2449003"/>
            <a:ext cx="1476363" cy="442035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Equities </a:t>
            </a:r>
            <a:endParaRPr lang="en-US" sz="2400" dirty="0" smtClean="0">
              <a:solidFill>
                <a:schemeClr val="tx2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181237" y="3490403"/>
            <a:ext cx="1476363" cy="81136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Fixed income</a:t>
            </a:r>
            <a:endParaRPr lang="en-US" sz="2400" dirty="0" smtClean="0">
              <a:solidFill>
                <a:schemeClr val="tx2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181237" y="4512753"/>
            <a:ext cx="1476363" cy="81136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sz="2400" dirty="0">
                <a:solidFill>
                  <a:schemeClr val="bg2"/>
                </a:solidFill>
              </a:rPr>
              <a:t>Credit derivatives </a:t>
            </a:r>
            <a:endParaRPr lang="en-US" sz="2400" dirty="0" smtClean="0">
              <a:solidFill>
                <a:schemeClr val="bg2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181237" y="5685972"/>
            <a:ext cx="1781163" cy="442035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sz="2400" dirty="0">
                <a:solidFill>
                  <a:schemeClr val="bg2"/>
                </a:solidFill>
              </a:rPr>
              <a:t>Commodities </a:t>
            </a:r>
            <a:endParaRPr lang="en-US" sz="2400" dirty="0" smtClean="0">
              <a:solidFill>
                <a:schemeClr val="bg2"/>
              </a:solidFill>
            </a:endParaRPr>
          </a:p>
        </p:txBody>
      </p:sp>
      <p:sp>
        <p:nvSpPr>
          <p:cNvPr id="31" name="Half Frame 30"/>
          <p:cNvSpPr/>
          <p:nvPr/>
        </p:nvSpPr>
        <p:spPr>
          <a:xfrm rot="8142470">
            <a:off x="4455887" y="1664394"/>
            <a:ext cx="234950" cy="257369"/>
          </a:xfrm>
          <a:prstGeom prst="halfFrame">
            <a:avLst>
              <a:gd name="adj1" fmla="val 26576"/>
              <a:gd name="adj2" fmla="val 25856"/>
            </a:avLst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870888" y="1516079"/>
            <a:ext cx="1945849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FX</a:t>
            </a:r>
            <a:r>
              <a:rPr lang="zh-CN" altLang="en-US" sz="1200" dirty="0">
                <a:solidFill>
                  <a:schemeClr val="tx2"/>
                </a:solidFill>
              </a:rPr>
              <a:t>就是外汇交易的简写</a:t>
            </a:r>
            <a:r>
              <a:rPr lang="en-US" altLang="zh-CN" sz="1200" dirty="0">
                <a:solidFill>
                  <a:schemeClr val="tx2"/>
                </a:solidFill>
              </a:rPr>
              <a:t>. </a:t>
            </a:r>
            <a:r>
              <a:rPr lang="zh-CN" altLang="en-US" sz="1200" dirty="0">
                <a:solidFill>
                  <a:schemeClr val="tx2"/>
                </a:solidFill>
              </a:rPr>
              <a:t>合同趋向于短期</a:t>
            </a:r>
            <a:r>
              <a:rPr lang="en-US" altLang="zh-CN" sz="1200" dirty="0">
                <a:solidFill>
                  <a:schemeClr val="tx2"/>
                </a:solidFill>
              </a:rPr>
              <a:t>,</a:t>
            </a:r>
            <a:r>
              <a:rPr lang="zh-CN" altLang="en-US" sz="1200" dirty="0">
                <a:solidFill>
                  <a:schemeClr val="tx2"/>
                </a:solidFill>
              </a:rPr>
              <a:t>大量的金额和简单的规定</a:t>
            </a:r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33" name="Half Frame 32"/>
          <p:cNvSpPr/>
          <p:nvPr/>
        </p:nvSpPr>
        <p:spPr>
          <a:xfrm rot="8142470">
            <a:off x="4455887" y="2689126"/>
            <a:ext cx="234950" cy="257369"/>
          </a:xfrm>
          <a:prstGeom prst="halfFrame">
            <a:avLst>
              <a:gd name="adj1" fmla="val 26576"/>
              <a:gd name="adj2" fmla="val 25856"/>
            </a:avLst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870888" y="2520786"/>
            <a:ext cx="1945849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zh-CN" altLang="en-US" sz="1200" dirty="0">
                <a:solidFill>
                  <a:schemeClr val="tx2"/>
                </a:solidFill>
              </a:rPr>
              <a:t>股票和指数的期权</a:t>
            </a:r>
            <a:r>
              <a:rPr lang="en-US" altLang="zh-CN" sz="1200" dirty="0">
                <a:solidFill>
                  <a:schemeClr val="tx2"/>
                </a:solidFill>
              </a:rPr>
              <a:t>. </a:t>
            </a:r>
            <a:r>
              <a:rPr lang="zh-CN" altLang="en-US" sz="1200" dirty="0">
                <a:solidFill>
                  <a:schemeClr val="tx2"/>
                </a:solidFill>
              </a:rPr>
              <a:t>技术偏向于偏微分方程</a:t>
            </a:r>
            <a:r>
              <a:rPr lang="en-US" altLang="zh-CN" sz="1200" dirty="0">
                <a:solidFill>
                  <a:schemeClr val="tx2"/>
                </a:solidFill>
              </a:rPr>
              <a:t>(PDE)</a:t>
            </a:r>
            <a:r>
              <a:rPr lang="zh-CN" altLang="en-US" sz="1200" dirty="0">
                <a:solidFill>
                  <a:schemeClr val="tx2"/>
                </a:solidFill>
              </a:rPr>
              <a:t>和统计套利</a:t>
            </a:r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35" name="Half Frame 34"/>
          <p:cNvSpPr/>
          <p:nvPr/>
        </p:nvSpPr>
        <p:spPr>
          <a:xfrm rot="8142470">
            <a:off x="4455887" y="3713857"/>
            <a:ext cx="234950" cy="257369"/>
          </a:xfrm>
          <a:prstGeom prst="halfFrame">
            <a:avLst>
              <a:gd name="adj1" fmla="val 26576"/>
              <a:gd name="adj2" fmla="val 25856"/>
            </a:avLst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4870888" y="3452336"/>
            <a:ext cx="1945849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Fixed income</a:t>
            </a:r>
            <a:r>
              <a:rPr lang="zh-CN" altLang="en-US" sz="1200" dirty="0">
                <a:solidFill>
                  <a:schemeClr val="tx2"/>
                </a:solidFill>
              </a:rPr>
              <a:t>的意思是基于利息的衍生物</a:t>
            </a:r>
            <a:r>
              <a:rPr lang="en-US" altLang="zh-CN" sz="1200" dirty="0">
                <a:solidFill>
                  <a:schemeClr val="tx2"/>
                </a:solidFill>
              </a:rPr>
              <a:t>. </a:t>
            </a:r>
            <a:r>
              <a:rPr lang="zh-CN" altLang="en-US" sz="1200" dirty="0">
                <a:solidFill>
                  <a:schemeClr val="tx2"/>
                </a:solidFill>
              </a:rPr>
              <a:t>这从市值上来说可能是最大的市场</a:t>
            </a:r>
            <a:r>
              <a:rPr lang="en-US" altLang="zh-CN" sz="1200" dirty="0">
                <a:solidFill>
                  <a:schemeClr val="tx2"/>
                </a:solidFill>
              </a:rPr>
              <a:t>. </a:t>
            </a:r>
            <a:r>
              <a:rPr lang="zh-CN" altLang="en-US" sz="1200" dirty="0">
                <a:solidFill>
                  <a:schemeClr val="tx2"/>
                </a:solidFill>
              </a:rPr>
              <a:t>他用到的数学会更加复</a:t>
            </a:r>
            <a:r>
              <a:rPr lang="zh-CN" altLang="en-US" sz="1200" dirty="0" smtClean="0">
                <a:solidFill>
                  <a:schemeClr val="tx2"/>
                </a:solidFill>
              </a:rPr>
              <a:t>杂</a:t>
            </a:r>
            <a:endParaRPr lang="en-US" altLang="zh-CN" sz="1200" dirty="0">
              <a:solidFill>
                <a:schemeClr val="tx2"/>
              </a:solidFill>
            </a:endParaRPr>
          </a:p>
        </p:txBody>
      </p:sp>
      <p:sp>
        <p:nvSpPr>
          <p:cNvPr id="37" name="Half Frame 36"/>
          <p:cNvSpPr/>
          <p:nvPr/>
        </p:nvSpPr>
        <p:spPr>
          <a:xfrm rot="8142470">
            <a:off x="4455887" y="4738588"/>
            <a:ext cx="234950" cy="257369"/>
          </a:xfrm>
          <a:prstGeom prst="halfFrame">
            <a:avLst>
              <a:gd name="adj1" fmla="val 26576"/>
              <a:gd name="adj2" fmla="val 25856"/>
            </a:avLst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4870887" y="4672087"/>
            <a:ext cx="1945849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zh-CN" altLang="en-US" sz="1200" dirty="0">
                <a:solidFill>
                  <a:schemeClr val="bg2"/>
                </a:solidFill>
              </a:rPr>
              <a:t>公司债务的衍生产品</a:t>
            </a:r>
            <a:r>
              <a:rPr lang="en-US" altLang="zh-CN" sz="1200" dirty="0">
                <a:solidFill>
                  <a:schemeClr val="bg2"/>
                </a:solidFill>
              </a:rPr>
              <a:t>. </a:t>
            </a:r>
            <a:r>
              <a:rPr lang="zh-CN" altLang="en-US" sz="1200" dirty="0">
                <a:solidFill>
                  <a:schemeClr val="bg2"/>
                </a:solidFill>
              </a:rPr>
              <a:t>结构化债券</a:t>
            </a:r>
            <a:r>
              <a:rPr lang="en-US" altLang="zh-CN" sz="1200" dirty="0">
                <a:solidFill>
                  <a:schemeClr val="bg2"/>
                </a:solidFill>
              </a:rPr>
              <a:t>, ABS MBS</a:t>
            </a:r>
            <a:r>
              <a:rPr lang="zh-CN" altLang="en-US" sz="1200" dirty="0">
                <a:solidFill>
                  <a:schemeClr val="bg2"/>
                </a:solidFill>
              </a:rPr>
              <a:t>等</a:t>
            </a:r>
            <a:endParaRPr lang="en-US" sz="1200" dirty="0">
              <a:solidFill>
                <a:schemeClr val="bg2"/>
              </a:solidFill>
            </a:endParaRPr>
          </a:p>
        </p:txBody>
      </p:sp>
      <p:sp>
        <p:nvSpPr>
          <p:cNvPr id="39" name="Half Frame 38"/>
          <p:cNvSpPr/>
          <p:nvPr/>
        </p:nvSpPr>
        <p:spPr>
          <a:xfrm rot="8142470">
            <a:off x="4455887" y="5763320"/>
            <a:ext cx="234950" cy="257369"/>
          </a:xfrm>
          <a:prstGeom prst="halfFrame">
            <a:avLst>
              <a:gd name="adj1" fmla="val 26576"/>
              <a:gd name="adj2" fmla="val 25856"/>
            </a:avLst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4870888" y="5594980"/>
            <a:ext cx="1945849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altLang="zh-CN" sz="1200" dirty="0">
                <a:solidFill>
                  <a:schemeClr val="bg2"/>
                </a:solidFill>
              </a:rPr>
              <a:t>Commodities</a:t>
            </a:r>
            <a:r>
              <a:rPr lang="zh-CN" altLang="en-US" sz="1200" dirty="0">
                <a:solidFill>
                  <a:schemeClr val="bg2"/>
                </a:solidFill>
              </a:rPr>
              <a:t>因为最近几年石油黄金价格的发福波动</a:t>
            </a:r>
            <a:r>
              <a:rPr lang="en-US" altLang="zh-CN" sz="1200" dirty="0">
                <a:solidFill>
                  <a:schemeClr val="bg2"/>
                </a:solidFill>
              </a:rPr>
              <a:t>,</a:t>
            </a:r>
            <a:r>
              <a:rPr lang="zh-CN" altLang="en-US" sz="1200" dirty="0">
                <a:solidFill>
                  <a:schemeClr val="bg2"/>
                </a:solidFill>
              </a:rPr>
              <a:t>也成为一个发展迅速的领域</a:t>
            </a:r>
            <a:endParaRPr lang="en-US" sz="12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102023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000" b="0" dirty="0" smtClean="0">
                <a:solidFill>
                  <a:srgbClr val="81BC00"/>
                </a:solidFill>
              </a:rPr>
              <a:t>Quant</a:t>
            </a:r>
            <a:r>
              <a:rPr lang="zh-CN" altLang="en-US" sz="3000" b="0" dirty="0" smtClean="0">
                <a:solidFill>
                  <a:srgbClr val="81BC00"/>
                </a:solidFill>
              </a:rPr>
              <a:t>的职业发展</a:t>
            </a:r>
            <a:r>
              <a:rPr lang="en-US" sz="3000" b="0" dirty="0" smtClean="0">
                <a:solidFill>
                  <a:srgbClr val="81BC00"/>
                </a:solidFill>
              </a:rPr>
              <a:t> </a:t>
            </a:r>
            <a:br>
              <a:rPr lang="en-US" sz="3000" b="0" dirty="0" smtClean="0">
                <a:solidFill>
                  <a:srgbClr val="81BC00"/>
                </a:solidFill>
              </a:rPr>
            </a:br>
            <a:r>
              <a:rPr lang="en-US" altLang="zh-CN" sz="3000" dirty="0" smtClean="0">
                <a:solidFill>
                  <a:srgbClr val="575757"/>
                </a:solidFill>
              </a:rPr>
              <a:t>4. Quant</a:t>
            </a:r>
            <a:r>
              <a:rPr lang="zh-CN" altLang="en-US" sz="3000" dirty="0" smtClean="0">
                <a:solidFill>
                  <a:srgbClr val="575757"/>
                </a:solidFill>
              </a:rPr>
              <a:t>一般在哪些公司工作？</a:t>
            </a:r>
            <a:endParaRPr lang="en-US" sz="3000" b="0" dirty="0" smtClean="0">
              <a:solidFill>
                <a:srgbClr val="575757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15</a:t>
            </a:fld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393700" y="1745615"/>
            <a:ext cx="1317942" cy="693420"/>
          </a:xfrm>
          <a:prstGeom prst="rect">
            <a:avLst/>
          </a:prstGeom>
          <a:solidFill>
            <a:srgbClr val="DCDCDC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93700" y="2660015"/>
            <a:ext cx="1317942" cy="693420"/>
          </a:xfrm>
          <a:prstGeom prst="rect">
            <a:avLst/>
          </a:prstGeom>
          <a:solidFill>
            <a:srgbClr val="00A1DE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93700" y="3559175"/>
            <a:ext cx="1317942" cy="693420"/>
          </a:xfrm>
          <a:prstGeom prst="rect">
            <a:avLst/>
          </a:prstGeom>
          <a:solidFill>
            <a:srgbClr val="575757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93700" y="4473575"/>
            <a:ext cx="1317942" cy="693420"/>
          </a:xfrm>
          <a:prstGeom prst="rect">
            <a:avLst/>
          </a:prstGeom>
          <a:solidFill>
            <a:srgbClr val="81BC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93700" y="5375911"/>
            <a:ext cx="1317942" cy="693420"/>
          </a:xfrm>
          <a:prstGeom prst="rect">
            <a:avLst/>
          </a:prstGeom>
          <a:solidFill>
            <a:srgbClr val="8C8C8C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11" name="Isosceles Triangle 10"/>
          <p:cNvSpPr/>
          <p:nvPr/>
        </p:nvSpPr>
        <p:spPr>
          <a:xfrm rot="16200000">
            <a:off x="1333342" y="3874293"/>
            <a:ext cx="246381" cy="510222"/>
          </a:xfrm>
          <a:prstGeom prst="triangle">
            <a:avLst/>
          </a:prstGeom>
          <a:solidFill>
            <a:srgbClr val="31313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12" name="Round Same Side Corner Rectangle 11"/>
          <p:cNvSpPr/>
          <p:nvPr/>
        </p:nvSpPr>
        <p:spPr>
          <a:xfrm rot="5400000">
            <a:off x="4298157" y="343059"/>
            <a:ext cx="673101" cy="6866575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575757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0" dirty="0" err="1" smtClean="0"/>
          </a:p>
        </p:txBody>
      </p:sp>
      <p:sp>
        <p:nvSpPr>
          <p:cNvPr id="13" name="Isosceles Triangle 12"/>
          <p:cNvSpPr/>
          <p:nvPr/>
        </p:nvSpPr>
        <p:spPr>
          <a:xfrm rot="16200000">
            <a:off x="1319056" y="4774407"/>
            <a:ext cx="274956" cy="510222"/>
          </a:xfrm>
          <a:prstGeom prst="triangle">
            <a:avLst/>
          </a:prstGeom>
          <a:solidFill>
            <a:srgbClr val="3C8A2E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14" name="Round Same Side Corner Rectangle 13"/>
          <p:cNvSpPr/>
          <p:nvPr/>
        </p:nvSpPr>
        <p:spPr>
          <a:xfrm rot="5400000">
            <a:off x="4298157" y="1245394"/>
            <a:ext cx="673101" cy="6866575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1BC00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0" dirty="0" err="1" smtClean="0"/>
          </a:p>
        </p:txBody>
      </p:sp>
      <p:sp>
        <p:nvSpPr>
          <p:cNvPr id="15" name="Isosceles Triangle 14"/>
          <p:cNvSpPr/>
          <p:nvPr/>
        </p:nvSpPr>
        <p:spPr>
          <a:xfrm rot="16200000">
            <a:off x="1319052" y="5671983"/>
            <a:ext cx="274956" cy="510222"/>
          </a:xfrm>
          <a:prstGeom prst="triangle">
            <a:avLst/>
          </a:prstGeom>
          <a:solidFill>
            <a:srgbClr val="575757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16" name="Round Same Side Corner Rectangle 15"/>
          <p:cNvSpPr/>
          <p:nvPr/>
        </p:nvSpPr>
        <p:spPr>
          <a:xfrm rot="5400000">
            <a:off x="4298157" y="2147729"/>
            <a:ext cx="673101" cy="6866575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C8C8C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0" dirty="0" err="1" smtClean="0"/>
          </a:p>
        </p:txBody>
      </p:sp>
      <p:sp>
        <p:nvSpPr>
          <p:cNvPr id="17" name="Isosceles Triangle 16"/>
          <p:cNvSpPr/>
          <p:nvPr/>
        </p:nvSpPr>
        <p:spPr>
          <a:xfrm rot="16200000">
            <a:off x="1333343" y="2975133"/>
            <a:ext cx="246381" cy="510222"/>
          </a:xfrm>
          <a:prstGeom prst="triangle">
            <a:avLst/>
          </a:prstGeom>
          <a:solidFill>
            <a:srgbClr val="0079A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18" name="Round Same Side Corner Rectangle 17"/>
          <p:cNvSpPr/>
          <p:nvPr/>
        </p:nvSpPr>
        <p:spPr>
          <a:xfrm rot="5400000">
            <a:off x="4298157" y="-559276"/>
            <a:ext cx="673101" cy="6866575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A1DE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0" dirty="0" err="1" smtClean="0"/>
          </a:p>
        </p:txBody>
      </p:sp>
      <p:sp>
        <p:nvSpPr>
          <p:cNvPr id="19" name="Isosceles Triangle 18"/>
          <p:cNvSpPr/>
          <p:nvPr/>
        </p:nvSpPr>
        <p:spPr>
          <a:xfrm rot="16200000">
            <a:off x="1333344" y="2060733"/>
            <a:ext cx="246381" cy="510222"/>
          </a:xfrm>
          <a:prstGeom prst="triangle">
            <a:avLst/>
          </a:prstGeom>
          <a:solidFill>
            <a:srgbClr val="575757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20" name="Round Same Side Corner Rectangle 19"/>
          <p:cNvSpPr/>
          <p:nvPr/>
        </p:nvSpPr>
        <p:spPr>
          <a:xfrm rot="5400000">
            <a:off x="4298157" y="-1461611"/>
            <a:ext cx="673101" cy="6866575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CDCDC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0" dirty="0" err="1" smtClean="0"/>
          </a:p>
        </p:txBody>
      </p:sp>
      <p:sp>
        <p:nvSpPr>
          <p:cNvPr id="21" name="TextBox 20"/>
          <p:cNvSpPr txBox="1"/>
          <p:nvPr/>
        </p:nvSpPr>
        <p:spPr>
          <a:xfrm>
            <a:off x="452586" y="1672591"/>
            <a:ext cx="691028" cy="81136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US" sz="48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586" y="2601041"/>
            <a:ext cx="691028" cy="81136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US" sz="4800" b="1" dirty="0" smtClean="0">
                <a:solidFill>
                  <a:schemeClr val="bg2"/>
                </a:solidFill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586" y="3500201"/>
            <a:ext cx="691028" cy="81136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US" sz="4800" b="1" dirty="0" smtClean="0">
                <a:solidFill>
                  <a:schemeClr val="bg2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586" y="4414601"/>
            <a:ext cx="691028" cy="81136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US" sz="4800" b="1" dirty="0" smtClean="0">
                <a:solidFill>
                  <a:schemeClr val="bg2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586" y="5312575"/>
            <a:ext cx="691028" cy="81136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US" sz="4800" b="1" dirty="0" smtClean="0">
                <a:solidFill>
                  <a:schemeClr val="bg2"/>
                </a:solidFill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70964" y="1672210"/>
            <a:ext cx="6355715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1200" b="1" dirty="0">
                <a:solidFill>
                  <a:srgbClr val="313131"/>
                </a:solidFill>
              </a:rPr>
              <a:t>投行 </a:t>
            </a:r>
            <a:r>
              <a:rPr lang="en-US" altLang="zh-CN" sz="1200" b="1" dirty="0">
                <a:solidFill>
                  <a:srgbClr val="313131"/>
                </a:solidFill>
              </a:rPr>
              <a:t>(</a:t>
            </a:r>
            <a:r>
              <a:rPr lang="zh-CN" altLang="en-US" sz="1200" b="1" dirty="0">
                <a:solidFill>
                  <a:srgbClr val="313131"/>
                </a:solidFill>
              </a:rPr>
              <a:t>高盛</a:t>
            </a:r>
            <a:r>
              <a:rPr lang="en-US" altLang="zh-CN" sz="1200" b="1" dirty="0">
                <a:solidFill>
                  <a:srgbClr val="313131"/>
                </a:solidFill>
              </a:rPr>
              <a:t>, MS, JPM) </a:t>
            </a:r>
          </a:p>
          <a:p>
            <a:pPr>
              <a:spcAft>
                <a:spcPts val="0"/>
              </a:spcAft>
            </a:pPr>
            <a:r>
              <a:rPr lang="zh-CN" altLang="en-US" sz="1200" dirty="0">
                <a:solidFill>
                  <a:srgbClr val="313131"/>
                </a:solidFill>
              </a:rPr>
              <a:t>投行需要大量的工作时间但工资很高</a:t>
            </a:r>
            <a:r>
              <a:rPr lang="en-US" altLang="zh-CN" sz="1200" dirty="0">
                <a:solidFill>
                  <a:srgbClr val="313131"/>
                </a:solidFill>
              </a:rPr>
              <a:t>. </a:t>
            </a:r>
            <a:r>
              <a:rPr lang="zh-CN" altLang="en-US" sz="1200" dirty="0">
                <a:solidFill>
                  <a:srgbClr val="313131"/>
                </a:solidFill>
              </a:rPr>
              <a:t>公司</a:t>
            </a:r>
            <a:r>
              <a:rPr lang="en-US" altLang="zh-CN" sz="1200" dirty="0">
                <a:solidFill>
                  <a:srgbClr val="313131"/>
                </a:solidFill>
              </a:rPr>
              <a:t>big name</a:t>
            </a:r>
            <a:r>
              <a:rPr lang="zh-CN" altLang="en-US" sz="1200" dirty="0">
                <a:solidFill>
                  <a:srgbClr val="313131"/>
                </a:solidFill>
              </a:rPr>
              <a:t>，适合职业发展起步，接受更全面的职业化训练，同时增添简历分量。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70964" y="2569775"/>
            <a:ext cx="6355715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1200" b="1" dirty="0">
                <a:solidFill>
                  <a:schemeClr val="bg2"/>
                </a:solidFill>
              </a:rPr>
              <a:t>对冲基金 </a:t>
            </a:r>
            <a:r>
              <a:rPr lang="en-US" altLang="zh-CN" sz="1200" b="1" dirty="0">
                <a:solidFill>
                  <a:schemeClr val="bg2"/>
                </a:solidFill>
              </a:rPr>
              <a:t>(Citadel Group) </a:t>
            </a:r>
          </a:p>
          <a:p>
            <a:pPr>
              <a:spcAft>
                <a:spcPts val="0"/>
              </a:spcAft>
            </a:pPr>
            <a:r>
              <a:rPr lang="zh-CN" altLang="en-US" sz="1200" dirty="0">
                <a:solidFill>
                  <a:schemeClr val="bg2"/>
                </a:solidFill>
              </a:rPr>
              <a:t>对冲基金需要大量的工作时间和内容</a:t>
            </a:r>
            <a:r>
              <a:rPr lang="en-US" altLang="zh-CN" sz="1200" dirty="0">
                <a:solidFill>
                  <a:schemeClr val="bg2"/>
                </a:solidFill>
              </a:rPr>
              <a:t>, </a:t>
            </a:r>
            <a:r>
              <a:rPr lang="zh-CN" altLang="en-US" sz="1200" dirty="0">
                <a:solidFill>
                  <a:schemeClr val="bg2"/>
                </a:solidFill>
              </a:rPr>
              <a:t>公司相对银行规模较小</a:t>
            </a:r>
            <a:r>
              <a:rPr lang="en-US" altLang="zh-CN" sz="1200" dirty="0">
                <a:solidFill>
                  <a:schemeClr val="bg2"/>
                </a:solidFill>
              </a:rPr>
              <a:t>. </a:t>
            </a:r>
            <a:r>
              <a:rPr lang="zh-CN" altLang="en-US" sz="1200" dirty="0">
                <a:solidFill>
                  <a:schemeClr val="bg2"/>
                </a:solidFill>
              </a:rPr>
              <a:t>可以更贴近业务，所开发的策略会直接影响基金的</a:t>
            </a:r>
            <a:r>
              <a:rPr lang="en-US" altLang="zh-CN" sz="1200" dirty="0">
                <a:solidFill>
                  <a:schemeClr val="bg2"/>
                </a:solidFill>
              </a:rPr>
              <a:t>PNL</a:t>
            </a:r>
            <a:r>
              <a:rPr lang="zh-CN" altLang="en-US" sz="1200" dirty="0">
                <a:solidFill>
                  <a:schemeClr val="bg2"/>
                </a:solidFill>
              </a:rPr>
              <a:t>。 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70964" y="3465183"/>
            <a:ext cx="6355715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1200" b="1" dirty="0">
                <a:solidFill>
                  <a:schemeClr val="bg2"/>
                </a:solidFill>
              </a:rPr>
              <a:t>商业银行 </a:t>
            </a:r>
            <a:r>
              <a:rPr lang="en-US" altLang="zh-CN" sz="1200" b="1" dirty="0">
                <a:solidFill>
                  <a:schemeClr val="bg2"/>
                </a:solidFill>
              </a:rPr>
              <a:t>(HSBC, RBS) </a:t>
            </a:r>
          </a:p>
          <a:p>
            <a:pPr>
              <a:spcAft>
                <a:spcPts val="0"/>
              </a:spcAft>
            </a:pPr>
            <a:r>
              <a:rPr lang="zh-CN" altLang="en-US" sz="1200" dirty="0">
                <a:solidFill>
                  <a:schemeClr val="bg2"/>
                </a:solidFill>
              </a:rPr>
              <a:t>商业银行的</a:t>
            </a:r>
            <a:r>
              <a:rPr lang="en-US" altLang="zh-CN" sz="1200" dirty="0">
                <a:solidFill>
                  <a:schemeClr val="bg2"/>
                </a:solidFill>
              </a:rPr>
              <a:t>quant</a:t>
            </a:r>
            <a:r>
              <a:rPr lang="zh-CN" altLang="en-US" sz="1200" dirty="0">
                <a:solidFill>
                  <a:schemeClr val="bg2"/>
                </a:solidFill>
              </a:rPr>
              <a:t>工作大多侧重风控和合规部门，工作会比较稳定</a:t>
            </a:r>
            <a:r>
              <a:rPr lang="en-US" altLang="zh-CN" sz="1200" dirty="0">
                <a:solidFill>
                  <a:schemeClr val="bg2"/>
                </a:solidFill>
              </a:rPr>
              <a:t>. 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70964" y="4382064"/>
            <a:ext cx="6355715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1200" b="1" dirty="0">
                <a:solidFill>
                  <a:schemeClr val="bg2"/>
                </a:solidFill>
              </a:rPr>
              <a:t>会计公司 </a:t>
            </a:r>
          </a:p>
          <a:p>
            <a:pPr>
              <a:spcAft>
                <a:spcPts val="0"/>
              </a:spcAft>
            </a:pPr>
            <a:r>
              <a:rPr lang="zh-CN" altLang="en-US" sz="1200" dirty="0">
                <a:solidFill>
                  <a:schemeClr val="bg2"/>
                </a:solidFill>
              </a:rPr>
              <a:t>大型会计公司会有自己的顾问</a:t>
            </a:r>
            <a:r>
              <a:rPr lang="en-US" altLang="zh-CN" sz="1200" dirty="0">
                <a:solidFill>
                  <a:schemeClr val="bg2"/>
                </a:solidFill>
              </a:rPr>
              <a:t>quant</a:t>
            </a:r>
            <a:r>
              <a:rPr lang="zh-CN" altLang="en-US" sz="1200" dirty="0">
                <a:solidFill>
                  <a:schemeClr val="bg2"/>
                </a:solidFill>
              </a:rPr>
              <a:t>团队</a:t>
            </a:r>
            <a:r>
              <a:rPr lang="en-US" altLang="zh-CN" sz="1200" dirty="0">
                <a:solidFill>
                  <a:schemeClr val="bg2"/>
                </a:solidFill>
              </a:rPr>
              <a:t>. </a:t>
            </a:r>
            <a:r>
              <a:rPr lang="zh-CN" altLang="en-US" sz="1200" dirty="0">
                <a:solidFill>
                  <a:schemeClr val="bg2"/>
                </a:solidFill>
              </a:rPr>
              <a:t>主要的劣势在于你远离具体的行为和决策</a:t>
            </a:r>
            <a:r>
              <a:rPr lang="en-US" altLang="zh-CN" sz="1200" dirty="0">
                <a:solidFill>
                  <a:schemeClr val="bg2"/>
                </a:solidFill>
              </a:rPr>
              <a:t>, </a:t>
            </a:r>
            <a:r>
              <a:rPr lang="zh-CN" altLang="en-US" sz="1200" dirty="0">
                <a:solidFill>
                  <a:schemeClr val="bg2"/>
                </a:solidFill>
              </a:rPr>
              <a:t>距离产生利润的金融交易较远</a:t>
            </a:r>
            <a:r>
              <a:rPr lang="en-US" altLang="zh-CN" sz="1200" dirty="0">
                <a:solidFill>
                  <a:schemeClr val="bg2"/>
                </a:solidFill>
              </a:rPr>
              <a:t>. 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70964" y="5279797"/>
            <a:ext cx="6355715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1200" b="1" dirty="0">
                <a:solidFill>
                  <a:schemeClr val="bg1"/>
                </a:solidFill>
              </a:rPr>
              <a:t>软件公司 </a:t>
            </a:r>
          </a:p>
          <a:p>
            <a:pPr>
              <a:spcAft>
                <a:spcPts val="0"/>
              </a:spcAft>
            </a:pPr>
            <a:r>
              <a:rPr lang="zh-CN" altLang="en-US" sz="1200" dirty="0">
                <a:solidFill>
                  <a:schemeClr val="bg1"/>
                </a:solidFill>
              </a:rPr>
              <a:t>外包</a:t>
            </a:r>
            <a:r>
              <a:rPr lang="en-US" altLang="zh-CN" sz="1200" dirty="0">
                <a:solidFill>
                  <a:schemeClr val="bg1"/>
                </a:solidFill>
              </a:rPr>
              <a:t>quant</a:t>
            </a:r>
            <a:r>
              <a:rPr lang="zh-CN" altLang="en-US" sz="1200" dirty="0">
                <a:solidFill>
                  <a:schemeClr val="bg1"/>
                </a:solidFill>
              </a:rPr>
              <a:t>模型变得越来越流行</a:t>
            </a:r>
            <a:r>
              <a:rPr lang="en-US" altLang="zh-CN" sz="1200" dirty="0">
                <a:solidFill>
                  <a:schemeClr val="bg1"/>
                </a:solidFill>
              </a:rPr>
              <a:t>. </a:t>
            </a:r>
            <a:r>
              <a:rPr lang="zh-CN" altLang="en-US" sz="1200" dirty="0">
                <a:solidFill>
                  <a:schemeClr val="bg1"/>
                </a:solidFill>
              </a:rPr>
              <a:t>所以你去软件公司也是一个选择</a:t>
            </a:r>
            <a:r>
              <a:rPr lang="en-US" altLang="zh-CN" sz="1200" dirty="0">
                <a:solidFill>
                  <a:schemeClr val="bg1"/>
                </a:solidFill>
              </a:rPr>
              <a:t>. </a:t>
            </a:r>
            <a:r>
              <a:rPr lang="zh-CN" altLang="en-US" sz="1200" dirty="0">
                <a:solidFill>
                  <a:schemeClr val="bg1"/>
                </a:solidFill>
              </a:rPr>
              <a:t>劣势和会计公司比较类似</a:t>
            </a:r>
            <a:r>
              <a:rPr lang="en-US" altLang="zh-CN" sz="1200" dirty="0">
                <a:solidFill>
                  <a:schemeClr val="bg1"/>
                </a:solidFill>
              </a:rPr>
              <a:t>. </a:t>
            </a:r>
            <a:r>
              <a:rPr lang="zh-CN" altLang="en-US" sz="1200" dirty="0">
                <a:solidFill>
                  <a:schemeClr val="bg1"/>
                </a:solidFill>
              </a:rPr>
              <a:t>另一类</a:t>
            </a:r>
            <a:r>
              <a:rPr lang="en-US" altLang="zh-CN" sz="1200" dirty="0">
                <a:solidFill>
                  <a:schemeClr val="bg1"/>
                </a:solidFill>
              </a:rPr>
              <a:t>IT</a:t>
            </a:r>
            <a:r>
              <a:rPr lang="zh-CN" altLang="en-US" sz="1200" dirty="0">
                <a:solidFill>
                  <a:schemeClr val="bg1"/>
                </a:solidFill>
              </a:rPr>
              <a:t>公司是类似</a:t>
            </a:r>
            <a:r>
              <a:rPr lang="en-US" altLang="zh-CN" sz="1200" dirty="0">
                <a:solidFill>
                  <a:schemeClr val="bg1"/>
                </a:solidFill>
              </a:rPr>
              <a:t>Bloomberg</a:t>
            </a:r>
            <a:r>
              <a:rPr lang="zh-CN" altLang="en-US" sz="1200" dirty="0">
                <a:solidFill>
                  <a:schemeClr val="bg1"/>
                </a:solidFill>
              </a:rPr>
              <a:t>的信息服务商，新员工的薪资水平较投资银行更高。</a:t>
            </a:r>
          </a:p>
        </p:txBody>
      </p:sp>
    </p:spTree>
    <p:extLst>
      <p:ext uri="{BB962C8B-B14F-4D97-AF65-F5344CB8AC3E}">
        <p14:creationId xmlns:p14="http://schemas.microsoft.com/office/powerpoint/2010/main" val="65348568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000" b="0" dirty="0" smtClean="0">
                <a:solidFill>
                  <a:srgbClr val="81BC00"/>
                </a:solidFill>
              </a:rPr>
              <a:t>Quant</a:t>
            </a:r>
            <a:r>
              <a:rPr lang="zh-CN" altLang="en-US" sz="3000" b="0" dirty="0" smtClean="0">
                <a:solidFill>
                  <a:srgbClr val="81BC00"/>
                </a:solidFill>
              </a:rPr>
              <a:t>的职业发展</a:t>
            </a:r>
            <a:r>
              <a:rPr lang="en-US" altLang="zh-CN" sz="3000" b="0" dirty="0" smtClean="0">
                <a:solidFill>
                  <a:srgbClr val="81BC00"/>
                </a:solidFill>
              </a:rPr>
              <a:t/>
            </a:r>
            <a:br>
              <a:rPr lang="en-US" altLang="zh-CN" sz="3000" b="0" dirty="0" smtClean="0">
                <a:solidFill>
                  <a:srgbClr val="81BC00"/>
                </a:solidFill>
              </a:rPr>
            </a:br>
            <a:r>
              <a:rPr lang="en-US" altLang="zh-CN" sz="3000" dirty="0" smtClean="0">
                <a:solidFill>
                  <a:srgbClr val="575757"/>
                </a:solidFill>
              </a:rPr>
              <a:t>5. </a:t>
            </a:r>
            <a:r>
              <a:rPr lang="zh-CN" altLang="en-US" sz="3000" dirty="0">
                <a:solidFill>
                  <a:srgbClr val="575757"/>
                </a:solidFill>
              </a:rPr>
              <a:t>成为一个</a:t>
            </a:r>
            <a:r>
              <a:rPr lang="en-US" altLang="zh-CN" sz="3000" dirty="0">
                <a:solidFill>
                  <a:srgbClr val="575757"/>
                </a:solidFill>
              </a:rPr>
              <a:t>Quant</a:t>
            </a:r>
            <a:r>
              <a:rPr lang="zh-CN" altLang="en-US" sz="3000" dirty="0">
                <a:solidFill>
                  <a:srgbClr val="575757"/>
                </a:solidFill>
              </a:rPr>
              <a:t>需要哪些</a:t>
            </a:r>
            <a:r>
              <a:rPr lang="zh-CN" altLang="en-US" sz="3000" dirty="0" smtClean="0">
                <a:solidFill>
                  <a:srgbClr val="575757"/>
                </a:solidFill>
              </a:rPr>
              <a:t>知？</a:t>
            </a:r>
            <a:r>
              <a:rPr lang="en-US" sz="3000" b="0" dirty="0" smtClean="0">
                <a:solidFill>
                  <a:srgbClr val="81BC00"/>
                </a:solidFill>
              </a:rPr>
              <a:t> </a:t>
            </a:r>
            <a:br>
              <a:rPr lang="en-US" sz="3000" b="0" dirty="0" smtClean="0">
                <a:solidFill>
                  <a:srgbClr val="81BC00"/>
                </a:solidFill>
              </a:rPr>
            </a:br>
            <a:endParaRPr lang="en-US" sz="3000" b="0" dirty="0" smtClean="0">
              <a:solidFill>
                <a:srgbClr val="575757"/>
              </a:solidFill>
            </a:endParaRPr>
          </a:p>
        </p:txBody>
      </p:sp>
      <p:grpSp>
        <p:nvGrpSpPr>
          <p:cNvPr id="48" name="Group 47"/>
          <p:cNvGrpSpPr/>
          <p:nvPr/>
        </p:nvGrpSpPr>
        <p:grpSpPr>
          <a:xfrm>
            <a:off x="5867400" y="1481136"/>
            <a:ext cx="2376488" cy="2217737"/>
            <a:chOff x="6188075" y="1481137"/>
            <a:chExt cx="2376488" cy="2217737"/>
          </a:xfrm>
        </p:grpSpPr>
        <p:sp>
          <p:nvSpPr>
            <p:cNvPr id="49" name="Freeform 12"/>
            <p:cNvSpPr>
              <a:spLocks/>
            </p:cNvSpPr>
            <p:nvPr/>
          </p:nvSpPr>
          <p:spPr bwMode="blackWhite">
            <a:xfrm>
              <a:off x="6365875" y="1481137"/>
              <a:ext cx="1976438" cy="939800"/>
            </a:xfrm>
            <a:custGeom>
              <a:avLst/>
              <a:gdLst>
                <a:gd name="T0" fmla="*/ 2147483647 w 1553"/>
                <a:gd name="T1" fmla="*/ 2147483647 h 753"/>
                <a:gd name="T2" fmla="*/ 2147483647 w 1553"/>
                <a:gd name="T3" fmla="*/ 2147483647 h 753"/>
                <a:gd name="T4" fmla="*/ 2147483647 w 1553"/>
                <a:gd name="T5" fmla="*/ 2147483647 h 753"/>
                <a:gd name="T6" fmla="*/ 2147483647 w 1553"/>
                <a:gd name="T7" fmla="*/ 2147483647 h 753"/>
                <a:gd name="T8" fmla="*/ 2147483647 w 1553"/>
                <a:gd name="T9" fmla="*/ 2147483647 h 753"/>
                <a:gd name="T10" fmla="*/ 2147483647 w 1553"/>
                <a:gd name="T11" fmla="*/ 2147483647 h 753"/>
                <a:gd name="T12" fmla="*/ 2147483647 w 1553"/>
                <a:gd name="T13" fmla="*/ 2147483647 h 753"/>
                <a:gd name="T14" fmla="*/ 2147483647 w 1553"/>
                <a:gd name="T15" fmla="*/ 2147483647 h 753"/>
                <a:gd name="T16" fmla="*/ 2147483647 w 1553"/>
                <a:gd name="T17" fmla="*/ 2147483647 h 753"/>
                <a:gd name="T18" fmla="*/ 2147483647 w 1553"/>
                <a:gd name="T19" fmla="*/ 2147483647 h 753"/>
                <a:gd name="T20" fmla="*/ 2147483647 w 1553"/>
                <a:gd name="T21" fmla="*/ 2147483647 h 753"/>
                <a:gd name="T22" fmla="*/ 2147483647 w 1553"/>
                <a:gd name="T23" fmla="*/ 2147483647 h 753"/>
                <a:gd name="T24" fmla="*/ 2147483647 w 1553"/>
                <a:gd name="T25" fmla="*/ 2147483647 h 753"/>
                <a:gd name="T26" fmla="*/ 2147483647 w 1553"/>
                <a:gd name="T27" fmla="*/ 0 h 753"/>
                <a:gd name="T28" fmla="*/ 2147483647 w 1553"/>
                <a:gd name="T29" fmla="*/ 2147483647 h 753"/>
                <a:gd name="T30" fmla="*/ 2147483647 w 1553"/>
                <a:gd name="T31" fmla="*/ 2147483647 h 753"/>
                <a:gd name="T32" fmla="*/ 2147483647 w 1553"/>
                <a:gd name="T33" fmla="*/ 2147483647 h 753"/>
                <a:gd name="T34" fmla="*/ 2147483647 w 1553"/>
                <a:gd name="T35" fmla="*/ 2147483647 h 753"/>
                <a:gd name="T36" fmla="*/ 2147483647 w 1553"/>
                <a:gd name="T37" fmla="*/ 2147483647 h 753"/>
                <a:gd name="T38" fmla="*/ 2147483647 w 1553"/>
                <a:gd name="T39" fmla="*/ 2147483647 h 753"/>
                <a:gd name="T40" fmla="*/ 2147483647 w 1553"/>
                <a:gd name="T41" fmla="*/ 2147483647 h 753"/>
                <a:gd name="T42" fmla="*/ 2147483647 w 1553"/>
                <a:gd name="T43" fmla="*/ 2147483647 h 753"/>
                <a:gd name="T44" fmla="*/ 2147483647 w 1553"/>
                <a:gd name="T45" fmla="*/ 2147483647 h 753"/>
                <a:gd name="T46" fmla="*/ 2147483647 w 1553"/>
                <a:gd name="T47" fmla="*/ 2147483647 h 753"/>
                <a:gd name="T48" fmla="*/ 2147483647 w 1553"/>
                <a:gd name="T49" fmla="*/ 2147483647 h 753"/>
                <a:gd name="T50" fmla="*/ 2147483647 w 1553"/>
                <a:gd name="T51" fmla="*/ 2147483647 h 753"/>
                <a:gd name="T52" fmla="*/ 2147483647 w 1553"/>
                <a:gd name="T53" fmla="*/ 2147483647 h 753"/>
                <a:gd name="T54" fmla="*/ 2147483647 w 1553"/>
                <a:gd name="T55" fmla="*/ 2147483647 h 753"/>
                <a:gd name="T56" fmla="*/ 2147483647 w 1553"/>
                <a:gd name="T57" fmla="*/ 2147483647 h 753"/>
                <a:gd name="T58" fmla="*/ 2147483647 w 1553"/>
                <a:gd name="T59" fmla="*/ 2147483647 h 753"/>
                <a:gd name="T60" fmla="*/ 2147483647 w 1553"/>
                <a:gd name="T61" fmla="*/ 2147483647 h 753"/>
                <a:gd name="T62" fmla="*/ 2147483647 w 1553"/>
                <a:gd name="T63" fmla="*/ 2147483647 h 753"/>
                <a:gd name="T64" fmla="*/ 2147483647 w 1553"/>
                <a:gd name="T65" fmla="*/ 2147483647 h 753"/>
                <a:gd name="T66" fmla="*/ 0 w 1553"/>
                <a:gd name="T67" fmla="*/ 2147483647 h 753"/>
                <a:gd name="T68" fmla="*/ 2147483647 w 1553"/>
                <a:gd name="T69" fmla="*/ 2147483647 h 753"/>
                <a:gd name="T70" fmla="*/ 2147483647 w 1553"/>
                <a:gd name="T71" fmla="*/ 2147483647 h 753"/>
                <a:gd name="T72" fmla="*/ 2147483647 w 1553"/>
                <a:gd name="T73" fmla="*/ 2147483647 h 753"/>
                <a:gd name="T74" fmla="*/ 2147483647 w 1553"/>
                <a:gd name="T75" fmla="*/ 2147483647 h 753"/>
                <a:gd name="T76" fmla="*/ 2147483647 w 1553"/>
                <a:gd name="T77" fmla="*/ 2147483647 h 753"/>
                <a:gd name="T78" fmla="*/ 2147483647 w 1553"/>
                <a:gd name="T79" fmla="*/ 2147483647 h 753"/>
                <a:gd name="T80" fmla="*/ 2147483647 w 1553"/>
                <a:gd name="T81" fmla="*/ 2147483647 h 753"/>
                <a:gd name="T82" fmla="*/ 2147483647 w 1553"/>
                <a:gd name="T83" fmla="*/ 2147483647 h 753"/>
                <a:gd name="T84" fmla="*/ 2147483647 w 1553"/>
                <a:gd name="T85" fmla="*/ 2147483647 h 753"/>
                <a:gd name="T86" fmla="*/ 2147483647 w 1553"/>
                <a:gd name="T87" fmla="*/ 2147483647 h 753"/>
                <a:gd name="T88" fmla="*/ 2147483647 w 1553"/>
                <a:gd name="T89" fmla="*/ 2147483647 h 753"/>
                <a:gd name="T90" fmla="*/ 2147483647 w 1553"/>
                <a:gd name="T91" fmla="*/ 2147483647 h 753"/>
                <a:gd name="T92" fmla="*/ 2147483647 w 1553"/>
                <a:gd name="T93" fmla="*/ 2147483647 h 753"/>
                <a:gd name="T94" fmla="*/ 2147483647 w 1553"/>
                <a:gd name="T95" fmla="*/ 2147483647 h 753"/>
                <a:gd name="T96" fmla="*/ 2147483647 w 1553"/>
                <a:gd name="T97" fmla="*/ 2147483647 h 753"/>
                <a:gd name="T98" fmla="*/ 2147483647 w 1553"/>
                <a:gd name="T99" fmla="*/ 2147483647 h 753"/>
                <a:gd name="T100" fmla="*/ 2147483647 w 1553"/>
                <a:gd name="T101" fmla="*/ 2147483647 h 753"/>
                <a:gd name="T102" fmla="*/ 2147483647 w 1553"/>
                <a:gd name="T103" fmla="*/ 2147483647 h 753"/>
                <a:gd name="T104" fmla="*/ 2147483647 w 1553"/>
                <a:gd name="T105" fmla="*/ 2147483647 h 753"/>
                <a:gd name="T106" fmla="*/ 2147483647 w 1553"/>
                <a:gd name="T107" fmla="*/ 2147483647 h 753"/>
                <a:gd name="T108" fmla="*/ 2147483647 w 1553"/>
                <a:gd name="T109" fmla="*/ 2147483647 h 753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1553"/>
                <a:gd name="T166" fmla="*/ 0 h 753"/>
                <a:gd name="T167" fmla="*/ 1553 w 1553"/>
                <a:gd name="T168" fmla="*/ 753 h 753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1553" h="753">
                  <a:moveTo>
                    <a:pt x="983" y="584"/>
                  </a:moveTo>
                  <a:lnTo>
                    <a:pt x="1417" y="541"/>
                  </a:lnTo>
                  <a:lnTo>
                    <a:pt x="1552" y="150"/>
                  </a:lnTo>
                  <a:lnTo>
                    <a:pt x="1447" y="227"/>
                  </a:lnTo>
                  <a:lnTo>
                    <a:pt x="1398" y="186"/>
                  </a:lnTo>
                  <a:lnTo>
                    <a:pt x="1347" y="149"/>
                  </a:lnTo>
                  <a:lnTo>
                    <a:pt x="1294" y="116"/>
                  </a:lnTo>
                  <a:lnTo>
                    <a:pt x="1238" y="87"/>
                  </a:lnTo>
                  <a:lnTo>
                    <a:pt x="1181" y="61"/>
                  </a:lnTo>
                  <a:lnTo>
                    <a:pt x="1122" y="41"/>
                  </a:lnTo>
                  <a:lnTo>
                    <a:pt x="1060" y="23"/>
                  </a:lnTo>
                  <a:lnTo>
                    <a:pt x="999" y="12"/>
                  </a:lnTo>
                  <a:lnTo>
                    <a:pt x="936" y="4"/>
                  </a:lnTo>
                  <a:lnTo>
                    <a:pt x="873" y="0"/>
                  </a:lnTo>
                  <a:lnTo>
                    <a:pt x="810" y="2"/>
                  </a:lnTo>
                  <a:lnTo>
                    <a:pt x="748" y="8"/>
                  </a:lnTo>
                  <a:lnTo>
                    <a:pt x="685" y="19"/>
                  </a:lnTo>
                  <a:lnTo>
                    <a:pt x="624" y="34"/>
                  </a:lnTo>
                  <a:lnTo>
                    <a:pt x="564" y="53"/>
                  </a:lnTo>
                  <a:lnTo>
                    <a:pt x="506" y="76"/>
                  </a:lnTo>
                  <a:lnTo>
                    <a:pt x="449" y="104"/>
                  </a:lnTo>
                  <a:lnTo>
                    <a:pt x="395" y="137"/>
                  </a:lnTo>
                  <a:lnTo>
                    <a:pt x="342" y="172"/>
                  </a:lnTo>
                  <a:lnTo>
                    <a:pt x="294" y="212"/>
                  </a:lnTo>
                  <a:lnTo>
                    <a:pt x="248" y="254"/>
                  </a:lnTo>
                  <a:lnTo>
                    <a:pt x="205" y="301"/>
                  </a:lnTo>
                  <a:lnTo>
                    <a:pt x="165" y="350"/>
                  </a:lnTo>
                  <a:lnTo>
                    <a:pt x="130" y="401"/>
                  </a:lnTo>
                  <a:lnTo>
                    <a:pt x="98" y="456"/>
                  </a:lnTo>
                  <a:lnTo>
                    <a:pt x="71" y="512"/>
                  </a:lnTo>
                  <a:lnTo>
                    <a:pt x="46" y="570"/>
                  </a:lnTo>
                  <a:lnTo>
                    <a:pt x="27" y="631"/>
                  </a:lnTo>
                  <a:lnTo>
                    <a:pt x="11" y="692"/>
                  </a:lnTo>
                  <a:lnTo>
                    <a:pt x="0" y="752"/>
                  </a:lnTo>
                  <a:lnTo>
                    <a:pt x="222" y="608"/>
                  </a:lnTo>
                  <a:lnTo>
                    <a:pt x="440" y="749"/>
                  </a:lnTo>
                  <a:lnTo>
                    <a:pt x="455" y="710"/>
                  </a:lnTo>
                  <a:lnTo>
                    <a:pt x="474" y="670"/>
                  </a:lnTo>
                  <a:lnTo>
                    <a:pt x="498" y="632"/>
                  </a:lnTo>
                  <a:lnTo>
                    <a:pt x="525" y="596"/>
                  </a:lnTo>
                  <a:lnTo>
                    <a:pt x="556" y="563"/>
                  </a:lnTo>
                  <a:lnTo>
                    <a:pt x="589" y="533"/>
                  </a:lnTo>
                  <a:lnTo>
                    <a:pt x="626" y="507"/>
                  </a:lnTo>
                  <a:lnTo>
                    <a:pt x="665" y="485"/>
                  </a:lnTo>
                  <a:lnTo>
                    <a:pt x="706" y="467"/>
                  </a:lnTo>
                  <a:lnTo>
                    <a:pt x="749" y="453"/>
                  </a:lnTo>
                  <a:lnTo>
                    <a:pt x="793" y="443"/>
                  </a:lnTo>
                  <a:lnTo>
                    <a:pt x="837" y="438"/>
                  </a:lnTo>
                  <a:lnTo>
                    <a:pt x="882" y="438"/>
                  </a:lnTo>
                  <a:lnTo>
                    <a:pt x="927" y="442"/>
                  </a:lnTo>
                  <a:lnTo>
                    <a:pt x="971" y="450"/>
                  </a:lnTo>
                  <a:lnTo>
                    <a:pt x="1014" y="464"/>
                  </a:lnTo>
                  <a:lnTo>
                    <a:pt x="1055" y="480"/>
                  </a:lnTo>
                  <a:lnTo>
                    <a:pt x="1095" y="502"/>
                  </a:lnTo>
                  <a:lnTo>
                    <a:pt x="983" y="584"/>
                  </a:lnTo>
                </a:path>
              </a:pathLst>
            </a:custGeom>
            <a:solidFill>
              <a:srgbClr val="00B0F0"/>
            </a:solidFill>
            <a:ln w="12700" cap="rnd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>
                <a:solidFill>
                  <a:schemeClr val="bg1"/>
                </a:solidFill>
              </a:endParaRPr>
            </a:p>
          </p:txBody>
        </p:sp>
        <p:sp>
          <p:nvSpPr>
            <p:cNvPr id="50" name="Freeform 13"/>
            <p:cNvSpPr>
              <a:spLocks/>
            </p:cNvSpPr>
            <p:nvPr/>
          </p:nvSpPr>
          <p:spPr bwMode="blackWhite">
            <a:xfrm>
              <a:off x="6188075" y="2309812"/>
              <a:ext cx="1554163" cy="1336675"/>
            </a:xfrm>
            <a:custGeom>
              <a:avLst/>
              <a:gdLst>
                <a:gd name="T0" fmla="*/ 1552890 w 1221"/>
                <a:gd name="T1" fmla="*/ 1300481 h 1071"/>
                <a:gd name="T2" fmla="*/ 1275406 w 1221"/>
                <a:gd name="T3" fmla="*/ 1057109 h 1071"/>
                <a:gd name="T4" fmla="*/ 1375963 w 1221"/>
                <a:gd name="T5" fmla="*/ 786279 h 1071"/>
                <a:gd name="T6" fmla="*/ 1321230 w 1221"/>
                <a:gd name="T7" fmla="*/ 792520 h 1071"/>
                <a:gd name="T8" fmla="*/ 1265223 w 1221"/>
                <a:gd name="T9" fmla="*/ 793768 h 1071"/>
                <a:gd name="T10" fmla="*/ 1209218 w 1221"/>
                <a:gd name="T11" fmla="*/ 791272 h 1071"/>
                <a:gd name="T12" fmla="*/ 1153212 w 1221"/>
                <a:gd name="T13" fmla="*/ 781287 h 1071"/>
                <a:gd name="T14" fmla="*/ 1101024 w 1221"/>
                <a:gd name="T15" fmla="*/ 766310 h 1071"/>
                <a:gd name="T16" fmla="*/ 1047564 w 1221"/>
                <a:gd name="T17" fmla="*/ 747589 h 1071"/>
                <a:gd name="T18" fmla="*/ 997923 w 1221"/>
                <a:gd name="T19" fmla="*/ 722628 h 1071"/>
                <a:gd name="T20" fmla="*/ 950827 w 1221"/>
                <a:gd name="T21" fmla="*/ 693923 h 1071"/>
                <a:gd name="T22" fmla="*/ 907550 w 1221"/>
                <a:gd name="T23" fmla="*/ 658977 h 1071"/>
                <a:gd name="T24" fmla="*/ 868091 w 1221"/>
                <a:gd name="T25" fmla="*/ 619039 h 1071"/>
                <a:gd name="T26" fmla="*/ 831178 w 1221"/>
                <a:gd name="T27" fmla="*/ 577853 h 1071"/>
                <a:gd name="T28" fmla="*/ 800629 w 1221"/>
                <a:gd name="T29" fmla="*/ 532923 h 1071"/>
                <a:gd name="T30" fmla="*/ 775172 w 1221"/>
                <a:gd name="T31" fmla="*/ 486744 h 1071"/>
                <a:gd name="T32" fmla="*/ 756079 w 1221"/>
                <a:gd name="T33" fmla="*/ 439318 h 1071"/>
                <a:gd name="T34" fmla="*/ 739532 w 1221"/>
                <a:gd name="T35" fmla="*/ 391892 h 1071"/>
                <a:gd name="T36" fmla="*/ 729349 w 1221"/>
                <a:gd name="T37" fmla="*/ 340721 h 1071"/>
                <a:gd name="T38" fmla="*/ 722985 w 1221"/>
                <a:gd name="T39" fmla="*/ 289550 h 1071"/>
                <a:gd name="T40" fmla="*/ 906277 w 1221"/>
                <a:gd name="T41" fmla="*/ 289550 h 1071"/>
                <a:gd name="T42" fmla="*/ 468413 w 1221"/>
                <a:gd name="T43" fmla="*/ 0 h 1071"/>
                <a:gd name="T44" fmla="*/ 0 w 1221"/>
                <a:gd name="T45" fmla="*/ 293295 h 1071"/>
                <a:gd name="T46" fmla="*/ 170563 w 1221"/>
                <a:gd name="T47" fmla="*/ 292047 h 1071"/>
                <a:gd name="T48" fmla="*/ 176928 w 1221"/>
                <a:gd name="T49" fmla="*/ 369427 h 1071"/>
                <a:gd name="T50" fmla="*/ 188383 w 1221"/>
                <a:gd name="T51" fmla="*/ 446806 h 1071"/>
                <a:gd name="T52" fmla="*/ 204931 w 1221"/>
                <a:gd name="T53" fmla="*/ 522938 h 1071"/>
                <a:gd name="T54" fmla="*/ 226569 w 1221"/>
                <a:gd name="T55" fmla="*/ 597822 h 1071"/>
                <a:gd name="T56" fmla="*/ 254572 w 1221"/>
                <a:gd name="T57" fmla="*/ 671458 h 1071"/>
                <a:gd name="T58" fmla="*/ 288939 w 1221"/>
                <a:gd name="T59" fmla="*/ 742597 h 1071"/>
                <a:gd name="T60" fmla="*/ 327125 w 1221"/>
                <a:gd name="T61" fmla="*/ 811241 h 1071"/>
                <a:gd name="T62" fmla="*/ 370402 w 1221"/>
                <a:gd name="T63" fmla="*/ 876140 h 1071"/>
                <a:gd name="T64" fmla="*/ 417498 w 1221"/>
                <a:gd name="T65" fmla="*/ 937295 h 1071"/>
                <a:gd name="T66" fmla="*/ 469686 w 1221"/>
                <a:gd name="T67" fmla="*/ 994706 h 1071"/>
                <a:gd name="T68" fmla="*/ 525691 w 1221"/>
                <a:gd name="T69" fmla="*/ 1049620 h 1071"/>
                <a:gd name="T70" fmla="*/ 584243 w 1221"/>
                <a:gd name="T71" fmla="*/ 1100791 h 1071"/>
                <a:gd name="T72" fmla="*/ 647886 w 1221"/>
                <a:gd name="T73" fmla="*/ 1146969 h 1071"/>
                <a:gd name="T74" fmla="*/ 715348 w 1221"/>
                <a:gd name="T75" fmla="*/ 1186907 h 1071"/>
                <a:gd name="T76" fmla="*/ 785355 w 1221"/>
                <a:gd name="T77" fmla="*/ 1224349 h 1071"/>
                <a:gd name="T78" fmla="*/ 856635 w 1221"/>
                <a:gd name="T79" fmla="*/ 1256799 h 1071"/>
                <a:gd name="T80" fmla="*/ 931734 w 1221"/>
                <a:gd name="T81" fmla="*/ 1281760 h 1071"/>
                <a:gd name="T82" fmla="*/ 1006833 w 1221"/>
                <a:gd name="T83" fmla="*/ 1304225 h 1071"/>
                <a:gd name="T84" fmla="*/ 1084477 w 1221"/>
                <a:gd name="T85" fmla="*/ 1319202 h 1071"/>
                <a:gd name="T86" fmla="*/ 1162122 w 1221"/>
                <a:gd name="T87" fmla="*/ 1331683 h 1071"/>
                <a:gd name="T88" fmla="*/ 1241039 w 1221"/>
                <a:gd name="T89" fmla="*/ 1335427 h 1071"/>
                <a:gd name="T90" fmla="*/ 1319957 w 1221"/>
                <a:gd name="T91" fmla="*/ 1335427 h 1071"/>
                <a:gd name="T92" fmla="*/ 1397601 w 1221"/>
                <a:gd name="T93" fmla="*/ 1330435 h 1071"/>
                <a:gd name="T94" fmla="*/ 1476519 w 1221"/>
                <a:gd name="T95" fmla="*/ 1317954 h 1071"/>
                <a:gd name="T96" fmla="*/ 1552890 w 1221"/>
                <a:gd name="T97" fmla="*/ 1300481 h 107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221"/>
                <a:gd name="T148" fmla="*/ 0 h 1071"/>
                <a:gd name="T149" fmla="*/ 1221 w 1221"/>
                <a:gd name="T150" fmla="*/ 1071 h 1071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221" h="1071">
                  <a:moveTo>
                    <a:pt x="1220" y="1042"/>
                  </a:moveTo>
                  <a:lnTo>
                    <a:pt x="1002" y="847"/>
                  </a:lnTo>
                  <a:lnTo>
                    <a:pt x="1081" y="630"/>
                  </a:lnTo>
                  <a:lnTo>
                    <a:pt x="1038" y="635"/>
                  </a:lnTo>
                  <a:lnTo>
                    <a:pt x="994" y="636"/>
                  </a:lnTo>
                  <a:lnTo>
                    <a:pt x="950" y="634"/>
                  </a:lnTo>
                  <a:lnTo>
                    <a:pt x="906" y="626"/>
                  </a:lnTo>
                  <a:lnTo>
                    <a:pt x="865" y="614"/>
                  </a:lnTo>
                  <a:lnTo>
                    <a:pt x="823" y="599"/>
                  </a:lnTo>
                  <a:lnTo>
                    <a:pt x="784" y="579"/>
                  </a:lnTo>
                  <a:lnTo>
                    <a:pt x="747" y="556"/>
                  </a:lnTo>
                  <a:lnTo>
                    <a:pt x="713" y="528"/>
                  </a:lnTo>
                  <a:lnTo>
                    <a:pt x="682" y="496"/>
                  </a:lnTo>
                  <a:lnTo>
                    <a:pt x="653" y="463"/>
                  </a:lnTo>
                  <a:lnTo>
                    <a:pt x="629" y="427"/>
                  </a:lnTo>
                  <a:lnTo>
                    <a:pt x="609" y="390"/>
                  </a:lnTo>
                  <a:lnTo>
                    <a:pt x="594" y="352"/>
                  </a:lnTo>
                  <a:lnTo>
                    <a:pt x="581" y="314"/>
                  </a:lnTo>
                  <a:lnTo>
                    <a:pt x="573" y="273"/>
                  </a:lnTo>
                  <a:lnTo>
                    <a:pt x="568" y="232"/>
                  </a:lnTo>
                  <a:lnTo>
                    <a:pt x="712" y="232"/>
                  </a:lnTo>
                  <a:lnTo>
                    <a:pt x="368" y="0"/>
                  </a:lnTo>
                  <a:lnTo>
                    <a:pt x="0" y="235"/>
                  </a:lnTo>
                  <a:lnTo>
                    <a:pt x="134" y="234"/>
                  </a:lnTo>
                  <a:lnTo>
                    <a:pt x="139" y="296"/>
                  </a:lnTo>
                  <a:lnTo>
                    <a:pt x="148" y="358"/>
                  </a:lnTo>
                  <a:lnTo>
                    <a:pt x="161" y="419"/>
                  </a:lnTo>
                  <a:lnTo>
                    <a:pt x="178" y="479"/>
                  </a:lnTo>
                  <a:lnTo>
                    <a:pt x="200" y="538"/>
                  </a:lnTo>
                  <a:lnTo>
                    <a:pt x="227" y="595"/>
                  </a:lnTo>
                  <a:lnTo>
                    <a:pt x="257" y="650"/>
                  </a:lnTo>
                  <a:lnTo>
                    <a:pt x="291" y="702"/>
                  </a:lnTo>
                  <a:lnTo>
                    <a:pt x="328" y="751"/>
                  </a:lnTo>
                  <a:lnTo>
                    <a:pt x="369" y="797"/>
                  </a:lnTo>
                  <a:lnTo>
                    <a:pt x="413" y="841"/>
                  </a:lnTo>
                  <a:lnTo>
                    <a:pt x="459" y="882"/>
                  </a:lnTo>
                  <a:lnTo>
                    <a:pt x="509" y="919"/>
                  </a:lnTo>
                  <a:lnTo>
                    <a:pt x="562" y="951"/>
                  </a:lnTo>
                  <a:lnTo>
                    <a:pt x="617" y="981"/>
                  </a:lnTo>
                  <a:lnTo>
                    <a:pt x="673" y="1007"/>
                  </a:lnTo>
                  <a:lnTo>
                    <a:pt x="732" y="1027"/>
                  </a:lnTo>
                  <a:lnTo>
                    <a:pt x="791" y="1045"/>
                  </a:lnTo>
                  <a:lnTo>
                    <a:pt x="852" y="1057"/>
                  </a:lnTo>
                  <a:lnTo>
                    <a:pt x="913" y="1067"/>
                  </a:lnTo>
                  <a:lnTo>
                    <a:pt x="975" y="1070"/>
                  </a:lnTo>
                  <a:lnTo>
                    <a:pt x="1037" y="1070"/>
                  </a:lnTo>
                  <a:lnTo>
                    <a:pt x="1098" y="1066"/>
                  </a:lnTo>
                  <a:lnTo>
                    <a:pt x="1160" y="1056"/>
                  </a:lnTo>
                  <a:lnTo>
                    <a:pt x="1220" y="1042"/>
                  </a:lnTo>
                </a:path>
              </a:pathLst>
            </a:custGeom>
            <a:solidFill>
              <a:srgbClr val="DCDCDC"/>
            </a:solidFill>
            <a:ln w="12700" cap="rnd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1400">
                <a:solidFill>
                  <a:schemeClr val="bg1"/>
                </a:solidFill>
              </a:endParaRPr>
            </a:p>
          </p:txBody>
        </p:sp>
        <p:sp>
          <p:nvSpPr>
            <p:cNvPr id="51" name="Freeform 14"/>
            <p:cNvSpPr>
              <a:spLocks/>
            </p:cNvSpPr>
            <p:nvPr/>
          </p:nvSpPr>
          <p:spPr bwMode="blackWhite">
            <a:xfrm>
              <a:off x="7554913" y="1901824"/>
              <a:ext cx="1009650" cy="1797050"/>
            </a:xfrm>
            <a:custGeom>
              <a:avLst/>
              <a:gdLst>
                <a:gd name="T0" fmla="*/ 2147483647 w 793"/>
                <a:gd name="T1" fmla="*/ 2147483647 h 1440"/>
                <a:gd name="T2" fmla="*/ 2147483647 w 793"/>
                <a:gd name="T3" fmla="*/ 2147483647 h 1440"/>
                <a:gd name="T4" fmla="*/ 2147483647 w 793"/>
                <a:gd name="T5" fmla="*/ 2147483647 h 1440"/>
                <a:gd name="T6" fmla="*/ 2147483647 w 793"/>
                <a:gd name="T7" fmla="*/ 2147483647 h 1440"/>
                <a:gd name="T8" fmla="*/ 2147483647 w 793"/>
                <a:gd name="T9" fmla="*/ 2147483647 h 1440"/>
                <a:gd name="T10" fmla="*/ 2147483647 w 793"/>
                <a:gd name="T11" fmla="*/ 2147483647 h 1440"/>
                <a:gd name="T12" fmla="*/ 2147483647 w 793"/>
                <a:gd name="T13" fmla="*/ 2147483647 h 1440"/>
                <a:gd name="T14" fmla="*/ 2147483647 w 793"/>
                <a:gd name="T15" fmla="*/ 2147483647 h 1440"/>
                <a:gd name="T16" fmla="*/ 2147483647 w 793"/>
                <a:gd name="T17" fmla="*/ 2147483647 h 1440"/>
                <a:gd name="T18" fmla="*/ 2147483647 w 793"/>
                <a:gd name="T19" fmla="*/ 2147483647 h 1440"/>
                <a:gd name="T20" fmla="*/ 2147483647 w 793"/>
                <a:gd name="T21" fmla="*/ 2147483647 h 1440"/>
                <a:gd name="T22" fmla="*/ 2147483647 w 793"/>
                <a:gd name="T23" fmla="*/ 2147483647 h 1440"/>
                <a:gd name="T24" fmla="*/ 2147483647 w 793"/>
                <a:gd name="T25" fmla="*/ 2147483647 h 1440"/>
                <a:gd name="T26" fmla="*/ 2147483647 w 793"/>
                <a:gd name="T27" fmla="*/ 2147483647 h 1440"/>
                <a:gd name="T28" fmla="*/ 2147483647 w 793"/>
                <a:gd name="T29" fmla="*/ 2147483647 h 1440"/>
                <a:gd name="T30" fmla="*/ 2147483647 w 793"/>
                <a:gd name="T31" fmla="*/ 2147483647 h 1440"/>
                <a:gd name="T32" fmla="*/ 2147483647 w 793"/>
                <a:gd name="T33" fmla="*/ 2147483647 h 1440"/>
                <a:gd name="T34" fmla="*/ 2147483647 w 793"/>
                <a:gd name="T35" fmla="*/ 2147483647 h 1440"/>
                <a:gd name="T36" fmla="*/ 2147483647 w 793"/>
                <a:gd name="T37" fmla="*/ 2147483647 h 1440"/>
                <a:gd name="T38" fmla="*/ 2147483647 w 793"/>
                <a:gd name="T39" fmla="*/ 2147483647 h 1440"/>
                <a:gd name="T40" fmla="*/ 2147483647 w 793"/>
                <a:gd name="T41" fmla="*/ 2147483647 h 1440"/>
                <a:gd name="T42" fmla="*/ 2147483647 w 793"/>
                <a:gd name="T43" fmla="*/ 2147483647 h 1440"/>
                <a:gd name="T44" fmla="*/ 2147483647 w 793"/>
                <a:gd name="T45" fmla="*/ 2147483647 h 1440"/>
                <a:gd name="T46" fmla="*/ 2147483647 w 793"/>
                <a:gd name="T47" fmla="*/ 2147483647 h 1440"/>
                <a:gd name="T48" fmla="*/ 2147483647 w 793"/>
                <a:gd name="T49" fmla="*/ 2147483647 h 1440"/>
                <a:gd name="T50" fmla="*/ 2147483647 w 793"/>
                <a:gd name="T51" fmla="*/ 2147483647 h 1440"/>
                <a:gd name="T52" fmla="*/ 2147483647 w 793"/>
                <a:gd name="T53" fmla="*/ 0 h 1440"/>
                <a:gd name="T54" fmla="*/ 2147483647 w 793"/>
                <a:gd name="T55" fmla="*/ 2147483647 h 1440"/>
                <a:gd name="T56" fmla="*/ 2147483647 w 793"/>
                <a:gd name="T57" fmla="*/ 2147483647 h 1440"/>
                <a:gd name="T58" fmla="*/ 2147483647 w 793"/>
                <a:gd name="T59" fmla="*/ 2147483647 h 1440"/>
                <a:gd name="T60" fmla="*/ 2147483647 w 793"/>
                <a:gd name="T61" fmla="*/ 2147483647 h 1440"/>
                <a:gd name="T62" fmla="*/ 2147483647 w 793"/>
                <a:gd name="T63" fmla="*/ 2147483647 h 1440"/>
                <a:gd name="T64" fmla="*/ 2147483647 w 793"/>
                <a:gd name="T65" fmla="*/ 2147483647 h 1440"/>
                <a:gd name="T66" fmla="*/ 2147483647 w 793"/>
                <a:gd name="T67" fmla="*/ 2147483647 h 1440"/>
                <a:gd name="T68" fmla="*/ 2147483647 w 793"/>
                <a:gd name="T69" fmla="*/ 2147483647 h 1440"/>
                <a:gd name="T70" fmla="*/ 2147483647 w 793"/>
                <a:gd name="T71" fmla="*/ 2147483647 h 1440"/>
                <a:gd name="T72" fmla="*/ 2147483647 w 793"/>
                <a:gd name="T73" fmla="*/ 2147483647 h 1440"/>
                <a:gd name="T74" fmla="*/ 2147483647 w 793"/>
                <a:gd name="T75" fmla="*/ 2147483647 h 1440"/>
                <a:gd name="T76" fmla="*/ 2147483647 w 793"/>
                <a:gd name="T77" fmla="*/ 2147483647 h 1440"/>
                <a:gd name="T78" fmla="*/ 2147483647 w 793"/>
                <a:gd name="T79" fmla="*/ 2147483647 h 1440"/>
                <a:gd name="T80" fmla="*/ 2147483647 w 793"/>
                <a:gd name="T81" fmla="*/ 2147483647 h 1440"/>
                <a:gd name="T82" fmla="*/ 2147483647 w 793"/>
                <a:gd name="T83" fmla="*/ 2147483647 h 1440"/>
                <a:gd name="T84" fmla="*/ 2147483647 w 793"/>
                <a:gd name="T85" fmla="*/ 2147483647 h 1440"/>
                <a:gd name="T86" fmla="*/ 2147483647 w 793"/>
                <a:gd name="T87" fmla="*/ 2147483647 h 1440"/>
                <a:gd name="T88" fmla="*/ 2147483647 w 793"/>
                <a:gd name="T89" fmla="*/ 2147483647 h 1440"/>
                <a:gd name="T90" fmla="*/ 2147483647 w 793"/>
                <a:gd name="T91" fmla="*/ 2147483647 h 1440"/>
                <a:gd name="T92" fmla="*/ 0 w 793"/>
                <a:gd name="T93" fmla="*/ 2147483647 h 1440"/>
                <a:gd name="T94" fmla="*/ 2147483647 w 793"/>
                <a:gd name="T95" fmla="*/ 2147483647 h 1440"/>
                <a:gd name="T96" fmla="*/ 2147483647 w 793"/>
                <a:gd name="T97" fmla="*/ 2147483647 h 1440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793"/>
                <a:gd name="T148" fmla="*/ 0 h 1440"/>
                <a:gd name="T149" fmla="*/ 793 w 793"/>
                <a:gd name="T150" fmla="*/ 1440 h 1440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793" h="1440">
                  <a:moveTo>
                    <a:pt x="286" y="1316"/>
                  </a:moveTo>
                  <a:lnTo>
                    <a:pt x="340" y="1290"/>
                  </a:lnTo>
                  <a:lnTo>
                    <a:pt x="392" y="1260"/>
                  </a:lnTo>
                  <a:lnTo>
                    <a:pt x="442" y="1225"/>
                  </a:lnTo>
                  <a:lnTo>
                    <a:pt x="490" y="1187"/>
                  </a:lnTo>
                  <a:lnTo>
                    <a:pt x="535" y="1146"/>
                  </a:lnTo>
                  <a:lnTo>
                    <a:pt x="576" y="1102"/>
                  </a:lnTo>
                  <a:lnTo>
                    <a:pt x="616" y="1055"/>
                  </a:lnTo>
                  <a:lnTo>
                    <a:pt x="650" y="1005"/>
                  </a:lnTo>
                  <a:lnTo>
                    <a:pt x="682" y="953"/>
                  </a:lnTo>
                  <a:lnTo>
                    <a:pt x="709" y="900"/>
                  </a:lnTo>
                  <a:lnTo>
                    <a:pt x="734" y="844"/>
                  </a:lnTo>
                  <a:lnTo>
                    <a:pt x="753" y="786"/>
                  </a:lnTo>
                  <a:lnTo>
                    <a:pt x="770" y="727"/>
                  </a:lnTo>
                  <a:lnTo>
                    <a:pt x="781" y="668"/>
                  </a:lnTo>
                  <a:lnTo>
                    <a:pt x="789" y="608"/>
                  </a:lnTo>
                  <a:lnTo>
                    <a:pt x="792" y="547"/>
                  </a:lnTo>
                  <a:lnTo>
                    <a:pt x="790" y="487"/>
                  </a:lnTo>
                  <a:lnTo>
                    <a:pt x="786" y="427"/>
                  </a:lnTo>
                  <a:lnTo>
                    <a:pt x="775" y="367"/>
                  </a:lnTo>
                  <a:lnTo>
                    <a:pt x="762" y="308"/>
                  </a:lnTo>
                  <a:lnTo>
                    <a:pt x="744" y="249"/>
                  </a:lnTo>
                  <a:lnTo>
                    <a:pt x="722" y="193"/>
                  </a:lnTo>
                  <a:lnTo>
                    <a:pt x="697" y="137"/>
                  </a:lnTo>
                  <a:lnTo>
                    <a:pt x="667" y="84"/>
                  </a:lnTo>
                  <a:lnTo>
                    <a:pt x="639" y="41"/>
                  </a:lnTo>
                  <a:lnTo>
                    <a:pt x="609" y="0"/>
                  </a:lnTo>
                  <a:lnTo>
                    <a:pt x="521" y="247"/>
                  </a:lnTo>
                  <a:lnTo>
                    <a:pt x="277" y="280"/>
                  </a:lnTo>
                  <a:lnTo>
                    <a:pt x="294" y="308"/>
                  </a:lnTo>
                  <a:lnTo>
                    <a:pt x="316" y="347"/>
                  </a:lnTo>
                  <a:lnTo>
                    <a:pt x="332" y="389"/>
                  </a:lnTo>
                  <a:lnTo>
                    <a:pt x="345" y="431"/>
                  </a:lnTo>
                  <a:lnTo>
                    <a:pt x="353" y="475"/>
                  </a:lnTo>
                  <a:lnTo>
                    <a:pt x="357" y="519"/>
                  </a:lnTo>
                  <a:lnTo>
                    <a:pt x="355" y="564"/>
                  </a:lnTo>
                  <a:lnTo>
                    <a:pt x="350" y="608"/>
                  </a:lnTo>
                  <a:lnTo>
                    <a:pt x="339" y="652"/>
                  </a:lnTo>
                  <a:lnTo>
                    <a:pt x="325" y="694"/>
                  </a:lnTo>
                  <a:lnTo>
                    <a:pt x="306" y="734"/>
                  </a:lnTo>
                  <a:lnTo>
                    <a:pt x="284" y="772"/>
                  </a:lnTo>
                  <a:lnTo>
                    <a:pt x="257" y="808"/>
                  </a:lnTo>
                  <a:lnTo>
                    <a:pt x="227" y="841"/>
                  </a:lnTo>
                  <a:lnTo>
                    <a:pt x="193" y="871"/>
                  </a:lnTo>
                  <a:lnTo>
                    <a:pt x="156" y="896"/>
                  </a:lnTo>
                  <a:lnTo>
                    <a:pt x="113" y="761"/>
                  </a:lnTo>
                  <a:lnTo>
                    <a:pt x="0" y="1169"/>
                  </a:lnTo>
                  <a:lnTo>
                    <a:pt x="321" y="1439"/>
                  </a:lnTo>
                  <a:lnTo>
                    <a:pt x="286" y="1316"/>
                  </a:lnTo>
                </a:path>
              </a:pathLst>
            </a:custGeom>
            <a:solidFill>
              <a:srgbClr val="81BC00"/>
            </a:solidFill>
            <a:ln w="12700" cap="rnd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>
                <a:solidFill>
                  <a:schemeClr val="bg1"/>
                </a:solidFill>
              </a:endParaRPr>
            </a:p>
          </p:txBody>
        </p:sp>
        <p:sp>
          <p:nvSpPr>
            <p:cNvPr id="52" name="Rectangle 33"/>
            <p:cNvSpPr>
              <a:spLocks noChangeArrowheads="1"/>
            </p:cNvSpPr>
            <p:nvPr/>
          </p:nvSpPr>
          <p:spPr bwMode="blackWhite">
            <a:xfrm>
              <a:off x="7148511" y="1678465"/>
              <a:ext cx="359073" cy="20467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0" tIns="0" rIns="0" bIns="0" anchor="ctr" anchorCtr="1">
              <a:spAutoFit/>
            </a:bodyPr>
            <a:lstStyle/>
            <a:p>
              <a:pPr algn="ctr" defTabSz="787400" eaLnBrk="1" hangingPunct="1">
                <a:lnSpc>
                  <a:spcPct val="95000"/>
                </a:lnSpc>
                <a:spcBef>
                  <a:spcPct val="80000"/>
                </a:spcBef>
                <a:buClr>
                  <a:schemeClr val="tx1"/>
                </a:buClr>
                <a:buFont typeface="Wingdings 2" pitchFamily="18" charset="2"/>
                <a:buNone/>
              </a:pPr>
              <a:r>
                <a:rPr lang="zh-CN" altLang="en-US" sz="1400" dirty="0" smtClean="0">
                  <a:solidFill>
                    <a:srgbClr val="313131"/>
                  </a:solidFill>
                </a:rPr>
                <a:t>数学</a:t>
              </a:r>
              <a:endParaRPr lang="en-US" sz="1400" dirty="0">
                <a:solidFill>
                  <a:srgbClr val="313131"/>
                </a:solidFill>
              </a:endParaRPr>
            </a:p>
          </p:txBody>
        </p:sp>
        <p:sp>
          <p:nvSpPr>
            <p:cNvPr id="53" name="Rectangle 37"/>
            <p:cNvSpPr>
              <a:spLocks noChangeArrowheads="1"/>
            </p:cNvSpPr>
            <p:nvPr/>
          </p:nvSpPr>
          <p:spPr bwMode="blackWhite">
            <a:xfrm>
              <a:off x="8044208" y="2722230"/>
              <a:ext cx="359073" cy="20467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0" tIns="0" rIns="0" bIns="0" anchor="ctr" anchorCtr="1">
              <a:spAutoFit/>
            </a:bodyPr>
            <a:lstStyle/>
            <a:p>
              <a:pPr algn="ctr" defTabSz="787400" eaLnBrk="1" hangingPunct="1">
                <a:lnSpc>
                  <a:spcPct val="95000"/>
                </a:lnSpc>
                <a:spcBef>
                  <a:spcPct val="80000"/>
                </a:spcBef>
                <a:buClr>
                  <a:schemeClr val="tx1"/>
                </a:buClr>
                <a:buFont typeface="Wingdings 2" pitchFamily="18" charset="2"/>
                <a:buNone/>
              </a:pPr>
              <a:r>
                <a:rPr lang="zh-CN" altLang="en-US" sz="1400" dirty="0" smtClean="0">
                  <a:solidFill>
                    <a:schemeClr val="bg1"/>
                  </a:solidFill>
                </a:rPr>
                <a:t>金融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54" name="Rectangle 38"/>
            <p:cNvSpPr>
              <a:spLocks noChangeArrowheads="1"/>
            </p:cNvSpPr>
            <p:nvPr/>
          </p:nvSpPr>
          <p:spPr bwMode="blackWhite">
            <a:xfrm>
              <a:off x="6660206" y="2950830"/>
              <a:ext cx="359073" cy="20467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0" tIns="0" rIns="0" bIns="0" anchor="ctr" anchorCtr="1">
              <a:spAutoFit/>
            </a:bodyPr>
            <a:lstStyle/>
            <a:p>
              <a:pPr algn="ctr" defTabSz="787400" eaLnBrk="1" hangingPunct="1">
                <a:lnSpc>
                  <a:spcPct val="95000"/>
                </a:lnSpc>
                <a:spcBef>
                  <a:spcPct val="80000"/>
                </a:spcBef>
                <a:buClr>
                  <a:schemeClr val="tx1"/>
                </a:buClr>
                <a:buFont typeface="Wingdings 2" pitchFamily="18" charset="2"/>
                <a:buNone/>
              </a:pPr>
              <a:r>
                <a:rPr lang="zh-CN" altLang="en-US" sz="1400" dirty="0" smtClean="0">
                  <a:solidFill>
                    <a:srgbClr val="313131"/>
                  </a:solidFill>
                </a:rPr>
                <a:t>编程</a:t>
              </a:r>
              <a:endParaRPr lang="en-US" sz="1400" dirty="0">
                <a:solidFill>
                  <a:srgbClr val="313131"/>
                </a:solidFill>
              </a:endParaRPr>
            </a:p>
          </p:txBody>
        </p:sp>
      </p:grpSp>
      <p:sp>
        <p:nvSpPr>
          <p:cNvPr id="55" name="TextBox 54"/>
          <p:cNvSpPr txBox="1"/>
          <p:nvPr/>
        </p:nvSpPr>
        <p:spPr>
          <a:xfrm>
            <a:off x="685800" y="1295400"/>
            <a:ext cx="8077200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 smtClean="0"/>
              <a:t>数学</a:t>
            </a:r>
          </a:p>
          <a:p>
            <a:r>
              <a:rPr lang="en-US" altLang="zh-CN" sz="1200" dirty="0" smtClean="0"/>
              <a:t>《</a:t>
            </a:r>
            <a:r>
              <a:rPr lang="zh-CN" altLang="en-US" sz="1200" dirty="0" smtClean="0"/>
              <a:t>傅立叶分析</a:t>
            </a:r>
            <a:r>
              <a:rPr lang="en-US" altLang="zh-CN" sz="1200" dirty="0" smtClean="0"/>
              <a:t>》</a:t>
            </a:r>
            <a:r>
              <a:rPr lang="zh-CN" altLang="en-US" sz="1200" dirty="0" smtClean="0"/>
              <a:t>，</a:t>
            </a:r>
            <a:r>
              <a:rPr lang="en-US" sz="1200" dirty="0" smtClean="0"/>
              <a:t>Elias M. Stein &amp; Rami </a:t>
            </a:r>
            <a:r>
              <a:rPr lang="en-US" sz="1200" dirty="0" err="1" smtClean="0"/>
              <a:t>Shakarchi</a:t>
            </a:r>
            <a:r>
              <a:rPr lang="en-US" sz="1200" dirty="0" smtClean="0"/>
              <a:t>，</a:t>
            </a:r>
            <a:r>
              <a:rPr lang="zh-CN" altLang="en-US" sz="1200" dirty="0" smtClean="0"/>
              <a:t>世界图书出版公司</a:t>
            </a:r>
            <a:br>
              <a:rPr lang="zh-CN" altLang="en-US" sz="1200" dirty="0" smtClean="0"/>
            </a:br>
            <a:r>
              <a:rPr lang="en-US" altLang="zh-CN" sz="1200" dirty="0" smtClean="0"/>
              <a:t>《</a:t>
            </a:r>
            <a:r>
              <a:rPr lang="zh-CN" altLang="en-US" sz="1200" dirty="0" smtClean="0"/>
              <a:t>实分析</a:t>
            </a:r>
            <a:r>
              <a:rPr lang="en-US" altLang="zh-CN" sz="1200" dirty="0" smtClean="0"/>
              <a:t>》</a:t>
            </a:r>
            <a:r>
              <a:rPr lang="zh-CN" altLang="en-US" sz="1200" dirty="0" smtClean="0"/>
              <a:t>，</a:t>
            </a:r>
            <a:r>
              <a:rPr lang="en-US" sz="1200" dirty="0" smtClean="0"/>
              <a:t>Elias M. Stein &amp; Rami </a:t>
            </a:r>
            <a:r>
              <a:rPr lang="en-US" sz="1200" dirty="0" err="1" smtClean="0"/>
              <a:t>Shakarchi</a:t>
            </a:r>
            <a:r>
              <a:rPr lang="en-US" sz="1200" dirty="0" smtClean="0"/>
              <a:t>，</a:t>
            </a:r>
            <a:r>
              <a:rPr lang="zh-CN" altLang="en-US" sz="1200" dirty="0" smtClean="0"/>
              <a:t>世界图书出版公司</a:t>
            </a:r>
            <a:br>
              <a:rPr lang="zh-CN" altLang="en-US" sz="1200" dirty="0" smtClean="0"/>
            </a:br>
            <a:r>
              <a:rPr lang="en-US" altLang="zh-CN" sz="1200" dirty="0" smtClean="0"/>
              <a:t>《</a:t>
            </a:r>
            <a:r>
              <a:rPr lang="zh-CN" altLang="en-US" sz="1200" dirty="0" smtClean="0"/>
              <a:t>复分析</a:t>
            </a:r>
            <a:r>
              <a:rPr lang="en-US" altLang="zh-CN" sz="1200" dirty="0" smtClean="0"/>
              <a:t>》</a:t>
            </a:r>
            <a:r>
              <a:rPr lang="zh-CN" altLang="en-US" sz="1200" dirty="0" smtClean="0"/>
              <a:t>，</a:t>
            </a:r>
            <a:r>
              <a:rPr lang="en-US" sz="1200" dirty="0" smtClean="0"/>
              <a:t>Elias M. Stein &amp; Rami </a:t>
            </a:r>
            <a:r>
              <a:rPr lang="en-US" sz="1200" dirty="0" err="1" smtClean="0"/>
              <a:t>Shakarchi</a:t>
            </a:r>
            <a:r>
              <a:rPr lang="en-US" sz="1200" dirty="0" smtClean="0"/>
              <a:t>，</a:t>
            </a:r>
            <a:r>
              <a:rPr lang="zh-CN" altLang="en-US" sz="1200" dirty="0" smtClean="0"/>
              <a:t>世界图书出版公司 </a:t>
            </a:r>
            <a:br>
              <a:rPr lang="zh-CN" altLang="en-US" sz="1200" dirty="0" smtClean="0"/>
            </a:br>
            <a:r>
              <a:rPr lang="en-US" altLang="zh-CN" sz="1200" dirty="0" smtClean="0"/>
              <a:t>《</a:t>
            </a:r>
            <a:r>
              <a:rPr lang="zh-CN" altLang="en-US" sz="1200" dirty="0" smtClean="0"/>
              <a:t>动态资产定价理论：第</a:t>
            </a:r>
            <a:r>
              <a:rPr lang="en-US" altLang="zh-CN" sz="1200" dirty="0" smtClean="0"/>
              <a:t>3</a:t>
            </a:r>
            <a:r>
              <a:rPr lang="zh-CN" altLang="en-US" sz="1200" dirty="0" smtClean="0"/>
              <a:t>版</a:t>
            </a:r>
            <a:r>
              <a:rPr lang="en-US" altLang="zh-CN" sz="1200" dirty="0" smtClean="0"/>
              <a:t>》</a:t>
            </a:r>
            <a:r>
              <a:rPr lang="zh-CN" altLang="en-US" sz="1200" dirty="0" smtClean="0"/>
              <a:t>，</a:t>
            </a:r>
            <a:r>
              <a:rPr lang="en-US" sz="1200" dirty="0" smtClean="0"/>
              <a:t>Darrell </a:t>
            </a:r>
            <a:r>
              <a:rPr lang="en-US" sz="1200" dirty="0" err="1" smtClean="0"/>
              <a:t>Duffie</a:t>
            </a:r>
            <a:r>
              <a:rPr lang="en-US" sz="1200" dirty="0" smtClean="0"/>
              <a:t>，</a:t>
            </a:r>
            <a:r>
              <a:rPr lang="zh-CN" altLang="en-US" sz="1200" dirty="0" smtClean="0"/>
              <a:t>世界图书出版公司</a:t>
            </a:r>
            <a:br>
              <a:rPr lang="zh-CN" altLang="en-US" sz="1200" dirty="0" smtClean="0"/>
            </a:br>
            <a:r>
              <a:rPr lang="en-US" altLang="zh-CN" sz="1200" dirty="0" smtClean="0"/>
              <a:t>《</a:t>
            </a:r>
            <a:r>
              <a:rPr lang="zh-CN" altLang="en-US" sz="1200" dirty="0" smtClean="0"/>
              <a:t>套利数学</a:t>
            </a:r>
            <a:r>
              <a:rPr lang="en-US" altLang="zh-CN" sz="1200" dirty="0" smtClean="0"/>
              <a:t>》</a:t>
            </a:r>
            <a:r>
              <a:rPr lang="zh-CN" altLang="en-US" sz="1200" dirty="0" smtClean="0"/>
              <a:t>，</a:t>
            </a:r>
            <a:r>
              <a:rPr lang="en-US" sz="1200" dirty="0" smtClean="0"/>
              <a:t>Freddy </a:t>
            </a:r>
            <a:r>
              <a:rPr lang="en-US" sz="1200" dirty="0" err="1" smtClean="0"/>
              <a:t>Delbaen</a:t>
            </a:r>
            <a:r>
              <a:rPr lang="en-US" sz="1200" dirty="0" smtClean="0"/>
              <a:t>, Walter </a:t>
            </a:r>
            <a:r>
              <a:rPr lang="en-US" sz="1200" dirty="0" err="1" smtClean="0"/>
              <a:t>Schachermayer</a:t>
            </a:r>
            <a:r>
              <a:rPr lang="en-US" sz="1200" dirty="0" smtClean="0"/>
              <a:t>，</a:t>
            </a:r>
            <a:r>
              <a:rPr lang="zh-CN" altLang="en-US" sz="1200" dirty="0" smtClean="0"/>
              <a:t>世界图书出版公司</a:t>
            </a:r>
            <a:br>
              <a:rPr lang="zh-CN" altLang="en-US" sz="1200" dirty="0" smtClean="0"/>
            </a:br>
            <a:r>
              <a:rPr lang="en-US" altLang="zh-CN" sz="1200" dirty="0" smtClean="0"/>
              <a:t>《</a:t>
            </a:r>
            <a:r>
              <a:rPr lang="zh-CN" altLang="en-US" sz="1200" dirty="0" smtClean="0"/>
              <a:t>初等概率论：第</a:t>
            </a:r>
            <a:r>
              <a:rPr lang="en-US" altLang="zh-CN" sz="1200" dirty="0" smtClean="0"/>
              <a:t>4</a:t>
            </a:r>
            <a:r>
              <a:rPr lang="zh-CN" altLang="en-US" sz="1200" dirty="0" smtClean="0"/>
              <a:t>版</a:t>
            </a:r>
            <a:r>
              <a:rPr lang="en-US" altLang="zh-CN" sz="1200" dirty="0" smtClean="0"/>
              <a:t>》</a:t>
            </a:r>
            <a:r>
              <a:rPr lang="zh-CN" altLang="en-US" sz="1200" dirty="0" smtClean="0"/>
              <a:t>，</a:t>
            </a:r>
            <a:r>
              <a:rPr lang="en-US" sz="1200" dirty="0" smtClean="0"/>
              <a:t>Kai Lai Chung，</a:t>
            </a:r>
            <a:r>
              <a:rPr lang="zh-CN" altLang="en-US" sz="1200" dirty="0" smtClean="0"/>
              <a:t>世界图书出版公司</a:t>
            </a:r>
            <a:br>
              <a:rPr lang="zh-CN" altLang="en-US" sz="1200" dirty="0" smtClean="0"/>
            </a:br>
            <a:r>
              <a:rPr lang="en-US" altLang="zh-CN" sz="1200" dirty="0" smtClean="0"/>
              <a:t>《</a:t>
            </a:r>
            <a:r>
              <a:rPr lang="zh-CN" altLang="en-US" sz="1200" dirty="0" smtClean="0"/>
              <a:t>概率和鞅</a:t>
            </a:r>
            <a:r>
              <a:rPr lang="en-US" altLang="zh-CN" sz="1200" dirty="0" smtClean="0"/>
              <a:t>》</a:t>
            </a:r>
            <a:r>
              <a:rPr lang="zh-CN" altLang="en-US" sz="1200" dirty="0" smtClean="0"/>
              <a:t>，</a:t>
            </a:r>
            <a:r>
              <a:rPr lang="en-US" sz="1200" dirty="0" err="1" smtClean="0"/>
              <a:t>Williams.D</a:t>
            </a:r>
            <a:r>
              <a:rPr lang="en-US" sz="1200" dirty="0" smtClean="0"/>
              <a:t>.，</a:t>
            </a:r>
            <a:r>
              <a:rPr lang="zh-CN" altLang="en-US" sz="1200" dirty="0" smtClean="0"/>
              <a:t>世界图书出版社</a:t>
            </a:r>
            <a:br>
              <a:rPr lang="zh-CN" altLang="en-US" sz="1200" dirty="0" smtClean="0"/>
            </a:br>
            <a:r>
              <a:rPr lang="en-US" altLang="zh-CN" sz="1200" dirty="0" smtClean="0"/>
              <a:t>《</a:t>
            </a:r>
            <a:r>
              <a:rPr lang="en-US" sz="1200" dirty="0" smtClean="0"/>
              <a:t>Introduction to Stochastic Integration》， </a:t>
            </a:r>
            <a:r>
              <a:rPr lang="en-US" sz="1200" dirty="0" err="1" smtClean="0"/>
              <a:t>H.Kuo</a:t>
            </a:r>
            <a:r>
              <a:rPr lang="en-US" sz="1200" dirty="0" smtClean="0"/>
              <a:t> </a:t>
            </a:r>
            <a:br>
              <a:rPr lang="en-US" sz="1200" dirty="0" smtClean="0"/>
            </a:br>
            <a:r>
              <a:rPr lang="en-US" sz="1200" dirty="0" smtClean="0"/>
              <a:t>《</a:t>
            </a:r>
            <a:r>
              <a:rPr lang="zh-CN" altLang="en-US" sz="1200" dirty="0" smtClean="0"/>
              <a:t>概率论和随机过程：第</a:t>
            </a:r>
            <a:r>
              <a:rPr lang="en-US" altLang="zh-CN" sz="1200" dirty="0" smtClean="0"/>
              <a:t>2</a:t>
            </a:r>
            <a:r>
              <a:rPr lang="zh-CN" altLang="en-US" sz="1200" dirty="0" smtClean="0"/>
              <a:t>版</a:t>
            </a:r>
            <a:r>
              <a:rPr lang="en-US" altLang="zh-CN" sz="1200" dirty="0" smtClean="0"/>
              <a:t>》</a:t>
            </a:r>
            <a:r>
              <a:rPr lang="zh-CN" altLang="en-US" sz="1200" dirty="0" smtClean="0"/>
              <a:t>，</a:t>
            </a:r>
            <a:r>
              <a:rPr lang="en-US" sz="1200" dirty="0" smtClean="0"/>
              <a:t>Leonid </a:t>
            </a:r>
            <a:r>
              <a:rPr lang="en-US" sz="1200" dirty="0" err="1" smtClean="0"/>
              <a:t>B.Koralov</a:t>
            </a:r>
            <a:r>
              <a:rPr lang="en-US" sz="1200" dirty="0" smtClean="0"/>
              <a:t>，</a:t>
            </a:r>
            <a:r>
              <a:rPr lang="zh-CN" altLang="en-US" sz="1200" dirty="0" smtClean="0"/>
              <a:t>世界图书出版社</a:t>
            </a:r>
            <a:br>
              <a:rPr lang="zh-CN" altLang="en-US" sz="1200" dirty="0" smtClean="0"/>
            </a:br>
            <a:r>
              <a:rPr lang="en-US" altLang="zh-CN" sz="1200" dirty="0" smtClean="0"/>
              <a:t>《</a:t>
            </a:r>
            <a:r>
              <a:rPr lang="zh-CN" altLang="en-US" sz="1200" dirty="0" smtClean="0"/>
              <a:t>线性代数与矩阵论：第二版</a:t>
            </a:r>
            <a:r>
              <a:rPr lang="en-US" altLang="zh-CN" sz="1200" dirty="0" smtClean="0"/>
              <a:t>》</a:t>
            </a:r>
            <a:r>
              <a:rPr lang="zh-CN" altLang="en-US" sz="1200" dirty="0" smtClean="0"/>
              <a:t>，许以超，高等教育出版社</a:t>
            </a:r>
            <a:br>
              <a:rPr lang="zh-CN" altLang="en-US" sz="1200" dirty="0" smtClean="0"/>
            </a:br>
            <a:r>
              <a:rPr lang="en-US" altLang="zh-CN" sz="1200" dirty="0" smtClean="0"/>
              <a:t>《</a:t>
            </a:r>
            <a:r>
              <a:rPr lang="zh-CN" altLang="en-US" sz="1200" dirty="0" smtClean="0"/>
              <a:t>应用概率论：第二版</a:t>
            </a:r>
            <a:r>
              <a:rPr lang="en-US" altLang="zh-CN" sz="1200" dirty="0" smtClean="0"/>
              <a:t>》</a:t>
            </a:r>
            <a:r>
              <a:rPr lang="zh-CN" altLang="en-US" sz="1200" dirty="0" smtClean="0"/>
              <a:t>，孙荣恒，科学出版社</a:t>
            </a:r>
            <a:br>
              <a:rPr lang="zh-CN" altLang="en-US" sz="1200" dirty="0" smtClean="0"/>
            </a:br>
            <a:r>
              <a:rPr lang="zh-CN" altLang="en-US" sz="1200" b="1" dirty="0" smtClean="0"/>
              <a:t>金融</a:t>
            </a:r>
          </a:p>
          <a:p>
            <a:r>
              <a:rPr lang="en-US" altLang="zh-CN" sz="1200" dirty="0" smtClean="0"/>
              <a:t>《</a:t>
            </a:r>
            <a:r>
              <a:rPr lang="en-US" sz="1200" dirty="0" smtClean="0"/>
              <a:t>Options, Futures and other Derivatives：9th Edition》，John Hull</a:t>
            </a:r>
            <a:br>
              <a:rPr lang="en-US" sz="1200" dirty="0" smtClean="0"/>
            </a:br>
            <a:r>
              <a:rPr lang="en-US" sz="1200" dirty="0" smtClean="0"/>
              <a:t>《</a:t>
            </a:r>
            <a:r>
              <a:rPr lang="zh-CN" altLang="en-US" sz="1200" dirty="0" smtClean="0"/>
              <a:t>投资学：第</a:t>
            </a:r>
            <a:r>
              <a:rPr lang="en-US" altLang="zh-CN" sz="1200" dirty="0" smtClean="0"/>
              <a:t>9</a:t>
            </a:r>
            <a:r>
              <a:rPr lang="zh-CN" altLang="en-US" sz="1200" dirty="0" smtClean="0"/>
              <a:t>版</a:t>
            </a:r>
            <a:r>
              <a:rPr lang="en-US" altLang="zh-CN" sz="1200" dirty="0" smtClean="0"/>
              <a:t>》</a:t>
            </a:r>
            <a:r>
              <a:rPr lang="zh-CN" altLang="en-US" sz="1200" dirty="0" smtClean="0"/>
              <a:t>，</a:t>
            </a:r>
            <a:r>
              <a:rPr lang="en-US" sz="1200" dirty="0" err="1" smtClean="0"/>
              <a:t>Zvi</a:t>
            </a:r>
            <a:r>
              <a:rPr lang="en-US" sz="1200" dirty="0" smtClean="0"/>
              <a:t> </a:t>
            </a:r>
            <a:r>
              <a:rPr lang="en-US" sz="1200" dirty="0" err="1" smtClean="0"/>
              <a:t>Bodie</a:t>
            </a:r>
            <a:r>
              <a:rPr lang="en-US" sz="1200" dirty="0" smtClean="0"/>
              <a:t/>
            </a:r>
            <a:br>
              <a:rPr lang="en-US" sz="1200" dirty="0" smtClean="0"/>
            </a:br>
            <a:r>
              <a:rPr lang="en-US" sz="1200" dirty="0" smtClean="0"/>
              <a:t>《</a:t>
            </a:r>
            <a:r>
              <a:rPr lang="zh-CN" altLang="en-US" sz="1200" dirty="0" smtClean="0"/>
              <a:t>风险管理与金融机构：第</a:t>
            </a:r>
            <a:r>
              <a:rPr lang="en-US" altLang="zh-CN" sz="1200" dirty="0" smtClean="0"/>
              <a:t>2</a:t>
            </a:r>
            <a:r>
              <a:rPr lang="zh-CN" altLang="en-US" sz="1200" dirty="0" smtClean="0"/>
              <a:t>版</a:t>
            </a:r>
            <a:r>
              <a:rPr lang="en-US" altLang="zh-CN" sz="1200" dirty="0" smtClean="0"/>
              <a:t>》</a:t>
            </a:r>
            <a:r>
              <a:rPr lang="zh-CN" altLang="en-US" sz="1200" dirty="0" smtClean="0"/>
              <a:t>，</a:t>
            </a:r>
            <a:r>
              <a:rPr lang="en-US" sz="1200" dirty="0" smtClean="0"/>
              <a:t>John Hull</a:t>
            </a:r>
            <a:br>
              <a:rPr lang="en-US" sz="1200" dirty="0" smtClean="0"/>
            </a:br>
            <a:r>
              <a:rPr lang="en-US" sz="1200" dirty="0" smtClean="0"/>
              <a:t>《</a:t>
            </a:r>
            <a:r>
              <a:rPr lang="zh-CN" altLang="en-US" sz="1200" dirty="0" smtClean="0"/>
              <a:t>固定收益证券手册：第</a:t>
            </a:r>
            <a:r>
              <a:rPr lang="en-US" altLang="zh-CN" sz="1200" dirty="0" smtClean="0"/>
              <a:t>7</a:t>
            </a:r>
            <a:r>
              <a:rPr lang="zh-CN" altLang="en-US" sz="1200" dirty="0" smtClean="0"/>
              <a:t>版</a:t>
            </a:r>
            <a:r>
              <a:rPr lang="en-US" altLang="zh-CN" sz="1200" dirty="0" smtClean="0"/>
              <a:t>》</a:t>
            </a:r>
            <a:r>
              <a:rPr lang="zh-CN" altLang="en-US" sz="1200" dirty="0" smtClean="0"/>
              <a:t>，</a:t>
            </a:r>
            <a:r>
              <a:rPr lang="en-US" sz="1200" dirty="0" smtClean="0"/>
              <a:t>Frank </a:t>
            </a:r>
            <a:r>
              <a:rPr lang="en-US" sz="1200" dirty="0" err="1" smtClean="0"/>
              <a:t>Fabozzi</a:t>
            </a:r>
            <a:r>
              <a:rPr lang="en-US" sz="1200" dirty="0" smtClean="0"/>
              <a:t/>
            </a:r>
            <a:br>
              <a:rPr lang="en-US" sz="1200" dirty="0" smtClean="0"/>
            </a:br>
            <a:r>
              <a:rPr lang="en-US" sz="1200" dirty="0" smtClean="0"/>
              <a:t>《Statistical Arbitrage》，Andrew Pole</a:t>
            </a:r>
            <a:br>
              <a:rPr lang="en-US" sz="1200" dirty="0" smtClean="0"/>
            </a:br>
            <a:r>
              <a:rPr lang="en-US" sz="1200" dirty="0" smtClean="0"/>
              <a:t>《Stochastic Calculus for Finance I &amp; II》，Shreve</a:t>
            </a:r>
            <a:br>
              <a:rPr lang="en-US" sz="1200" dirty="0" smtClean="0"/>
            </a:br>
            <a:r>
              <a:rPr lang="en-US" sz="1200" dirty="0" smtClean="0"/>
              <a:t>《Mathematical Models of Financial Derivatives》，</a:t>
            </a:r>
            <a:r>
              <a:rPr lang="zh-CN" altLang="en-US" sz="1200" dirty="0" smtClean="0"/>
              <a:t>郭宇权</a:t>
            </a:r>
            <a:br>
              <a:rPr lang="zh-CN" altLang="en-US" sz="1200" dirty="0" smtClean="0"/>
            </a:br>
            <a:r>
              <a:rPr lang="en-US" altLang="zh-CN" sz="1200" dirty="0" smtClean="0"/>
              <a:t>《</a:t>
            </a:r>
            <a:r>
              <a:rPr lang="en-US" sz="1200" dirty="0" smtClean="0"/>
              <a:t>Dynamic Assets Pricing Theory》，Darrell </a:t>
            </a:r>
            <a:r>
              <a:rPr lang="en-US" sz="1200" dirty="0" err="1" smtClean="0"/>
              <a:t>Duffie</a:t>
            </a:r>
            <a:r>
              <a:rPr lang="en-US" sz="1200" dirty="0" smtClean="0"/>
              <a:t/>
            </a:r>
            <a:br>
              <a:rPr lang="en-US" sz="1200" dirty="0" smtClean="0"/>
            </a:br>
            <a:r>
              <a:rPr lang="en-US" sz="1200" dirty="0" smtClean="0"/>
              <a:t>《</a:t>
            </a:r>
            <a:r>
              <a:rPr lang="zh-CN" altLang="en-US" sz="1200" dirty="0" smtClean="0"/>
              <a:t>金融工程中的蒙特卡罗方法</a:t>
            </a:r>
            <a:r>
              <a:rPr lang="en-US" altLang="zh-CN" sz="1200" dirty="0" smtClean="0"/>
              <a:t>》</a:t>
            </a:r>
            <a:r>
              <a:rPr lang="zh-CN" altLang="en-US" sz="1200" dirty="0" smtClean="0"/>
              <a:t>，</a:t>
            </a:r>
            <a:r>
              <a:rPr lang="en-US" sz="1200" dirty="0" smtClean="0"/>
              <a:t>Paul </a:t>
            </a:r>
            <a:r>
              <a:rPr lang="en-US" sz="1200" dirty="0" err="1" smtClean="0"/>
              <a:t>Glasserman</a:t>
            </a:r>
            <a:r>
              <a:rPr lang="en-US" sz="1200" dirty="0" smtClean="0"/>
              <a:t/>
            </a:r>
            <a:br>
              <a:rPr lang="en-US" sz="1200" dirty="0" smtClean="0"/>
            </a:br>
            <a:r>
              <a:rPr lang="en-US" sz="1200" dirty="0" smtClean="0"/>
              <a:t>《The Volatility Surface》，Jim </a:t>
            </a:r>
            <a:r>
              <a:rPr lang="en-US" sz="1200" dirty="0" err="1" smtClean="0"/>
              <a:t>Gatheral</a:t>
            </a:r>
            <a:r>
              <a:rPr lang="en-US" sz="1200" dirty="0" smtClean="0"/>
              <a:t/>
            </a:r>
            <a:br>
              <a:rPr lang="en-US" sz="1200" dirty="0" smtClean="0"/>
            </a:br>
            <a:r>
              <a:rPr lang="en-US" sz="1200" dirty="0" smtClean="0"/>
              <a:t>《Volatility Trading》，Sinclair</a:t>
            </a:r>
            <a:br>
              <a:rPr lang="en-US" sz="1200" dirty="0" smtClean="0"/>
            </a:br>
            <a:r>
              <a:rPr lang="en-US" sz="1200" dirty="0" smtClean="0"/>
              <a:t>《Option Volatility and Pricing》，Sheldon </a:t>
            </a:r>
            <a:r>
              <a:rPr lang="en-US" sz="1200" dirty="0" err="1" smtClean="0"/>
              <a:t>Natenberg</a:t>
            </a:r>
            <a:endParaRPr lang="en-US" sz="1200" dirty="0" smtClean="0"/>
          </a:p>
          <a:p>
            <a:r>
              <a:rPr lang="zh-CN" altLang="en-US" sz="1200" b="1" dirty="0" smtClean="0"/>
              <a:t>编程</a:t>
            </a:r>
          </a:p>
          <a:p>
            <a:r>
              <a:rPr lang="en-US" altLang="zh-CN" sz="1200" dirty="0" smtClean="0"/>
              <a:t>《</a:t>
            </a:r>
            <a:r>
              <a:rPr lang="en-US" sz="1200" dirty="0" smtClean="0"/>
              <a:t>C++ Primer </a:t>
            </a:r>
            <a:r>
              <a:rPr lang="zh-CN" altLang="en-US" sz="1200" dirty="0" smtClean="0"/>
              <a:t>第</a:t>
            </a:r>
            <a:r>
              <a:rPr lang="en-US" altLang="zh-CN" sz="1200" dirty="0" smtClean="0"/>
              <a:t>5</a:t>
            </a:r>
            <a:r>
              <a:rPr lang="zh-CN" altLang="en-US" sz="1200" dirty="0" smtClean="0"/>
              <a:t>版</a:t>
            </a:r>
            <a:r>
              <a:rPr lang="en-US" altLang="zh-CN" sz="1200" dirty="0" smtClean="0"/>
              <a:t>》</a:t>
            </a:r>
            <a:r>
              <a:rPr lang="zh-CN" altLang="en-US" sz="1200" dirty="0" smtClean="0"/>
              <a:t>，</a:t>
            </a:r>
            <a:r>
              <a:rPr lang="en-US" sz="1200" dirty="0" smtClean="0"/>
              <a:t>Stanley </a:t>
            </a:r>
            <a:r>
              <a:rPr lang="en-US" sz="1200" dirty="0" err="1" smtClean="0"/>
              <a:t>B.Lippman</a:t>
            </a:r>
            <a:r>
              <a:rPr lang="en-US" sz="1200" dirty="0" smtClean="0"/>
              <a:t/>
            </a:r>
            <a:br>
              <a:rPr lang="en-US" sz="1200" dirty="0" smtClean="0"/>
            </a:br>
            <a:r>
              <a:rPr lang="en-US" sz="1200" dirty="0" smtClean="0"/>
              <a:t>《</a:t>
            </a:r>
            <a:r>
              <a:rPr lang="zh-CN" altLang="en-US" sz="1200" dirty="0" smtClean="0"/>
              <a:t>量化投资：以</a:t>
            </a:r>
            <a:r>
              <a:rPr lang="en-US" sz="1200" dirty="0" smtClean="0"/>
              <a:t>MATLAB</a:t>
            </a:r>
            <a:r>
              <a:rPr lang="zh-CN" altLang="en-US" sz="1200" dirty="0" smtClean="0"/>
              <a:t>为工具</a:t>
            </a:r>
            <a:r>
              <a:rPr lang="en-US" altLang="zh-CN" sz="1200" dirty="0" smtClean="0"/>
              <a:t>》</a:t>
            </a:r>
            <a:r>
              <a:rPr lang="zh-CN" altLang="en-US" sz="1200" dirty="0" smtClean="0"/>
              <a:t>，李洋</a:t>
            </a:r>
            <a:endParaRPr lang="en-US" altLang="zh-CN" sz="1200" dirty="0"/>
          </a:p>
        </p:txBody>
      </p:sp>
    </p:spTree>
    <p:extLst>
      <p:ext uri="{BB962C8B-B14F-4D97-AF65-F5344CB8AC3E}">
        <p14:creationId xmlns:p14="http://schemas.microsoft.com/office/powerpoint/2010/main" val="323654846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sz="3000" dirty="0" smtClean="0">
                <a:solidFill>
                  <a:srgbClr val="81BC00"/>
                </a:solidFill>
              </a:rPr>
              <a:t>就</a:t>
            </a:r>
            <a:r>
              <a:rPr lang="zh-CN" altLang="en-US" sz="3000" dirty="0">
                <a:solidFill>
                  <a:srgbClr val="81BC00"/>
                </a:solidFill>
              </a:rPr>
              <a:t>业准</a:t>
            </a:r>
            <a:r>
              <a:rPr lang="zh-CN" altLang="en-US" sz="3000" dirty="0" smtClean="0">
                <a:solidFill>
                  <a:srgbClr val="81BC00"/>
                </a:solidFill>
              </a:rPr>
              <a:t>备</a:t>
            </a:r>
            <a:r>
              <a:rPr lang="en-US" sz="3000" b="0" dirty="0" smtClean="0">
                <a:solidFill>
                  <a:srgbClr val="81BC00"/>
                </a:solidFill>
              </a:rPr>
              <a:t/>
            </a:r>
            <a:br>
              <a:rPr lang="en-US" sz="3000" b="0" dirty="0" smtClean="0">
                <a:solidFill>
                  <a:srgbClr val="81BC00"/>
                </a:solidFill>
              </a:rPr>
            </a:br>
            <a:r>
              <a:rPr lang="zh-CN" altLang="en-US" sz="3000" dirty="0" smtClean="0">
                <a:solidFill>
                  <a:srgbClr val="575757"/>
                </a:solidFill>
              </a:rPr>
              <a:t>针对大学期间的准备</a:t>
            </a:r>
            <a:endParaRPr lang="en-US" sz="3000" b="0" dirty="0" smtClean="0">
              <a:solidFill>
                <a:srgbClr val="575757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17</a:t>
            </a:fld>
            <a:endParaRPr lang="en-GB" dirty="0"/>
          </a:p>
        </p:txBody>
      </p:sp>
      <p:graphicFrame>
        <p:nvGraphicFramePr>
          <p:cNvPr id="6" name="Chart 5"/>
          <p:cNvGraphicFramePr/>
          <p:nvPr>
            <p:extLst>
              <p:ext uri="{D42A27DB-BD31-4B8C-83A1-F6EECF244321}">
                <p14:modId xmlns:p14="http://schemas.microsoft.com/office/powerpoint/2010/main" val="76074336"/>
              </p:ext>
            </p:extLst>
          </p:nvPr>
        </p:nvGraphicFramePr>
        <p:xfrm>
          <a:off x="2815671" y="2961949"/>
          <a:ext cx="3512024" cy="26409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7" name="Group 6"/>
          <p:cNvGrpSpPr>
            <a:grpSpLocks noChangeAspect="1"/>
          </p:cNvGrpSpPr>
          <p:nvPr/>
        </p:nvGrpSpPr>
        <p:grpSpPr>
          <a:xfrm rot="18900000">
            <a:off x="4160203" y="2554391"/>
            <a:ext cx="822960" cy="822960"/>
            <a:chOff x="7606853" y="246063"/>
            <a:chExt cx="896937" cy="896937"/>
          </a:xfrm>
          <a:solidFill>
            <a:srgbClr val="DCDCDC"/>
          </a:solidFill>
        </p:grpSpPr>
        <p:sp>
          <p:nvSpPr>
            <p:cNvPr id="8" name="Teardrop 7"/>
            <p:cNvSpPr/>
            <p:nvPr/>
          </p:nvSpPr>
          <p:spPr>
            <a:xfrm>
              <a:off x="7606853" y="246063"/>
              <a:ext cx="896937" cy="896937"/>
            </a:xfrm>
            <a:prstGeom prst="teardrop">
              <a:avLst/>
            </a:prstGeom>
            <a:grp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7647293" y="280458"/>
              <a:ext cx="822602" cy="822602"/>
            </a:xfrm>
            <a:prstGeom prst="ellipse">
              <a:avLst/>
            </a:prstGeom>
            <a:solidFill>
              <a:srgbClr val="8C8C8C"/>
            </a:solidFill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pic>
        <p:nvPicPr>
          <p:cNvPr id="10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1597" y="2874431"/>
            <a:ext cx="260819" cy="182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1" name="Group 10"/>
          <p:cNvGrpSpPr>
            <a:grpSpLocks noChangeAspect="1"/>
          </p:cNvGrpSpPr>
          <p:nvPr/>
        </p:nvGrpSpPr>
        <p:grpSpPr>
          <a:xfrm rot="11700000">
            <a:off x="3074324" y="4520351"/>
            <a:ext cx="822960" cy="822960"/>
            <a:chOff x="7606853" y="246063"/>
            <a:chExt cx="896937" cy="896937"/>
          </a:xfrm>
          <a:solidFill>
            <a:srgbClr val="575757">
              <a:alpha val="50196"/>
            </a:srgbClr>
          </a:solidFill>
        </p:grpSpPr>
        <p:sp>
          <p:nvSpPr>
            <p:cNvPr id="12" name="Teardrop 11"/>
            <p:cNvSpPr/>
            <p:nvPr/>
          </p:nvSpPr>
          <p:spPr>
            <a:xfrm>
              <a:off x="7606853" y="246063"/>
              <a:ext cx="896937" cy="896937"/>
            </a:xfrm>
            <a:prstGeom prst="teardrop">
              <a:avLst/>
            </a:prstGeom>
            <a:grp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" name="Oval 12"/>
            <p:cNvSpPr/>
            <p:nvPr/>
          </p:nvSpPr>
          <p:spPr>
            <a:xfrm>
              <a:off x="7647293" y="280458"/>
              <a:ext cx="822602" cy="822602"/>
            </a:xfrm>
            <a:prstGeom prst="ellipse">
              <a:avLst/>
            </a:prstGeom>
            <a:solidFill>
              <a:srgbClr val="575757"/>
            </a:solidFill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pic>
        <p:nvPicPr>
          <p:cNvPr id="14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1436" y="4850066"/>
            <a:ext cx="401617" cy="182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5" name="Group 14"/>
          <p:cNvGrpSpPr>
            <a:grpSpLocks noChangeAspect="1"/>
          </p:cNvGrpSpPr>
          <p:nvPr/>
        </p:nvGrpSpPr>
        <p:grpSpPr>
          <a:xfrm rot="4776862">
            <a:off x="5206052" y="4572743"/>
            <a:ext cx="822960" cy="822960"/>
            <a:chOff x="7606853" y="246063"/>
            <a:chExt cx="896937" cy="896937"/>
          </a:xfrm>
          <a:solidFill>
            <a:srgbClr val="72C7E7"/>
          </a:solidFill>
        </p:grpSpPr>
        <p:sp>
          <p:nvSpPr>
            <p:cNvPr id="16" name="Teardrop 15"/>
            <p:cNvSpPr/>
            <p:nvPr/>
          </p:nvSpPr>
          <p:spPr>
            <a:xfrm>
              <a:off x="7606853" y="246063"/>
              <a:ext cx="896937" cy="896937"/>
            </a:xfrm>
            <a:prstGeom prst="teardrop">
              <a:avLst/>
            </a:prstGeom>
            <a:grp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" name="Oval 16"/>
            <p:cNvSpPr/>
            <p:nvPr/>
          </p:nvSpPr>
          <p:spPr>
            <a:xfrm>
              <a:off x="7647293" y="280458"/>
              <a:ext cx="822602" cy="822602"/>
            </a:xfrm>
            <a:prstGeom prst="ellipse">
              <a:avLst/>
            </a:prstGeom>
            <a:solidFill>
              <a:srgbClr val="00A1DE"/>
            </a:solidFill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pic>
        <p:nvPicPr>
          <p:cNvPr id="18" name="Picture 7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6011" y="4850066"/>
            <a:ext cx="303041" cy="274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" name="Rounded Rectangle 18"/>
          <p:cNvSpPr/>
          <p:nvPr/>
        </p:nvSpPr>
        <p:spPr>
          <a:xfrm>
            <a:off x="2981845" y="1303417"/>
            <a:ext cx="3362325" cy="1097280"/>
          </a:xfrm>
          <a:prstGeom prst="roundRect">
            <a:avLst>
              <a:gd name="adj" fmla="val 10178"/>
            </a:avLst>
          </a:prstGeom>
          <a:solidFill>
            <a:srgbClr val="8C8C8C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089707" y="1405781"/>
            <a:ext cx="3146601" cy="8156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1200" b="1" dirty="0">
                <a:solidFill>
                  <a:schemeClr val="bg1"/>
                </a:solidFill>
              </a:rPr>
              <a:t>实习</a:t>
            </a:r>
          </a:p>
          <a:p>
            <a:pPr>
              <a:spcAft>
                <a:spcPts val="600"/>
              </a:spcAft>
            </a:pPr>
            <a:r>
              <a:rPr lang="zh-CN" altLang="en-US" sz="1200" dirty="0">
                <a:solidFill>
                  <a:schemeClr val="bg1"/>
                </a:solidFill>
              </a:rPr>
              <a:t>应届毕业生的简历相似度很高，课程相同，</a:t>
            </a:r>
            <a:r>
              <a:rPr lang="en-US" altLang="zh-CN" sz="1200" dirty="0">
                <a:solidFill>
                  <a:schemeClr val="bg1"/>
                </a:solidFill>
              </a:rPr>
              <a:t>GPA</a:t>
            </a:r>
            <a:r>
              <a:rPr lang="zh-CN" altLang="en-US" sz="1200" dirty="0">
                <a:solidFill>
                  <a:schemeClr val="bg1"/>
                </a:solidFill>
              </a:rPr>
              <a:t>类似，独特且相关的实习经历是通过简历筛选的重点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7830" y="5029200"/>
            <a:ext cx="2571539" cy="1371600"/>
          </a:xfrm>
          <a:prstGeom prst="roundRect">
            <a:avLst>
              <a:gd name="adj" fmla="val 10178"/>
            </a:avLst>
          </a:prstGeom>
          <a:solidFill>
            <a:srgbClr val="575757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05967" y="5145614"/>
            <a:ext cx="2351533" cy="11541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1200" b="1" dirty="0">
                <a:solidFill>
                  <a:schemeClr val="bg1"/>
                </a:solidFill>
              </a:rPr>
              <a:t>专业证书</a:t>
            </a:r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</a:rPr>
              <a:t>FRM  Financial Risk Manager</a:t>
            </a:r>
            <a:endParaRPr lang="en-US" sz="1200" dirty="0" smtClean="0">
              <a:solidFill>
                <a:schemeClr val="bg1"/>
              </a:solidFill>
            </a:endParaRPr>
          </a:p>
          <a:p>
            <a:pPr>
              <a:spcAft>
                <a:spcPts val="600"/>
              </a:spcAft>
            </a:pPr>
            <a:r>
              <a:rPr lang="en-US" sz="1200" dirty="0" smtClean="0">
                <a:solidFill>
                  <a:schemeClr val="bg1"/>
                </a:solidFill>
              </a:rPr>
              <a:t>CFA</a:t>
            </a:r>
            <a:r>
              <a:rPr lang="zh-CN" altLang="en-US" sz="1200" dirty="0" smtClean="0">
                <a:solidFill>
                  <a:schemeClr val="bg1"/>
                </a:solidFill>
              </a:rPr>
              <a:t> </a:t>
            </a:r>
            <a:r>
              <a:rPr lang="en-US" altLang="zh-CN" sz="1200" dirty="0">
                <a:solidFill>
                  <a:schemeClr val="bg1"/>
                </a:solidFill>
              </a:rPr>
              <a:t>Chartered Financial Analyst	</a:t>
            </a:r>
            <a:endParaRPr lang="en-US" sz="1200" dirty="0">
              <a:solidFill>
                <a:schemeClr val="bg1"/>
              </a:solidFill>
            </a:endParaRPr>
          </a:p>
          <a:p>
            <a:pPr>
              <a:spcAft>
                <a:spcPts val="600"/>
              </a:spcAft>
            </a:pPr>
            <a:r>
              <a:rPr lang="en-US" sz="1200" dirty="0" smtClean="0">
                <a:solidFill>
                  <a:schemeClr val="bg1"/>
                </a:solidFill>
              </a:rPr>
              <a:t> 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088831" y="5029200"/>
            <a:ext cx="2650674" cy="1371600"/>
          </a:xfrm>
          <a:prstGeom prst="roundRect">
            <a:avLst>
              <a:gd name="adj" fmla="val 10178"/>
            </a:avLst>
          </a:prstGeom>
          <a:solidFill>
            <a:srgbClr val="00A1DE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209798" y="5176391"/>
            <a:ext cx="2408741" cy="6309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1200" b="1" dirty="0" smtClean="0">
                <a:solidFill>
                  <a:schemeClr val="bg1"/>
                </a:solidFill>
              </a:rPr>
              <a:t>提早准备</a:t>
            </a:r>
            <a:endParaRPr lang="en-US" altLang="zh-CN" sz="1200" b="1" dirty="0" smtClean="0">
              <a:solidFill>
                <a:schemeClr val="bg1"/>
              </a:solidFill>
            </a:endParaRPr>
          </a:p>
          <a:p>
            <a:pPr>
              <a:spcAft>
                <a:spcPts val="600"/>
              </a:spcAft>
            </a:pPr>
            <a:r>
              <a:rPr lang="zh-CN" altLang="en-US" sz="1200" dirty="0" smtClean="0">
                <a:solidFill>
                  <a:schemeClr val="bg1"/>
                </a:solidFill>
              </a:rPr>
              <a:t>在</a:t>
            </a:r>
            <a:r>
              <a:rPr lang="zh-CN" altLang="en-US" sz="1200" dirty="0">
                <a:solidFill>
                  <a:schemeClr val="bg1"/>
                </a:solidFill>
              </a:rPr>
              <a:t>到达美国前准备好求职简历与求职信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13988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sz="3000" dirty="0" smtClean="0">
                <a:solidFill>
                  <a:srgbClr val="81BC00"/>
                </a:solidFill>
              </a:rPr>
              <a:t>就</a:t>
            </a:r>
            <a:r>
              <a:rPr lang="zh-CN" altLang="en-US" sz="3000" dirty="0">
                <a:solidFill>
                  <a:srgbClr val="81BC00"/>
                </a:solidFill>
              </a:rPr>
              <a:t>业准</a:t>
            </a:r>
            <a:r>
              <a:rPr lang="zh-CN" altLang="en-US" sz="3000" dirty="0" smtClean="0">
                <a:solidFill>
                  <a:srgbClr val="81BC00"/>
                </a:solidFill>
              </a:rPr>
              <a:t>备</a:t>
            </a:r>
            <a:r>
              <a:rPr lang="en-US" sz="3000" b="0" dirty="0" smtClean="0">
                <a:solidFill>
                  <a:srgbClr val="81BC00"/>
                </a:solidFill>
              </a:rPr>
              <a:t/>
            </a:r>
            <a:br>
              <a:rPr lang="en-US" sz="3000" b="0" dirty="0" smtClean="0">
                <a:solidFill>
                  <a:srgbClr val="81BC00"/>
                </a:solidFill>
              </a:rPr>
            </a:br>
            <a:r>
              <a:rPr lang="zh-CN" altLang="en-US" sz="3000" dirty="0" smtClean="0">
                <a:solidFill>
                  <a:srgbClr val="575757"/>
                </a:solidFill>
              </a:rPr>
              <a:t>了解美国求职的时间表</a:t>
            </a:r>
            <a:endParaRPr lang="en-US" sz="3000" b="0" dirty="0" smtClean="0">
              <a:solidFill>
                <a:srgbClr val="575757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18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2082113" y="1600200"/>
            <a:ext cx="66294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假设</a:t>
            </a:r>
            <a:r>
              <a:rPr lang="en-US" altLang="zh-CN" dirty="0" smtClean="0"/>
              <a:t>2017</a:t>
            </a:r>
            <a:r>
              <a:rPr lang="zh-CN" altLang="en-US" dirty="0" smtClean="0"/>
              <a:t>年</a:t>
            </a:r>
            <a:r>
              <a:rPr lang="en-US" altLang="zh-CN" dirty="0" smtClean="0"/>
              <a:t>8</a:t>
            </a:r>
            <a:r>
              <a:rPr lang="zh-CN" altLang="en-US" dirty="0" smtClean="0"/>
              <a:t>月到达美国</a:t>
            </a:r>
            <a:endParaRPr lang="en-US" altLang="zh-CN" dirty="0" smtClean="0"/>
          </a:p>
          <a:p>
            <a:r>
              <a:rPr lang="en-US" altLang="zh-CN" dirty="0" smtClean="0"/>
              <a:t>2017.9</a:t>
            </a:r>
            <a:r>
              <a:rPr lang="zh-CN" altLang="en-US" dirty="0" smtClean="0"/>
              <a:t> </a:t>
            </a:r>
            <a:r>
              <a:rPr lang="en-US" altLang="zh-CN" dirty="0" smtClean="0"/>
              <a:t>	</a:t>
            </a:r>
            <a:r>
              <a:rPr lang="zh-CN" altLang="en-US" dirty="0" smtClean="0"/>
              <a:t>硕士项目开学</a:t>
            </a:r>
            <a:endParaRPr lang="en-US" altLang="zh-CN" dirty="0" smtClean="0"/>
          </a:p>
          <a:p>
            <a:r>
              <a:rPr lang="en-US" dirty="0"/>
              <a:t>	</a:t>
            </a:r>
            <a:r>
              <a:rPr lang="zh-CN" altLang="en-US" dirty="0" smtClean="0"/>
              <a:t>投资银行校园宣讲</a:t>
            </a:r>
            <a:endParaRPr lang="en-US" altLang="zh-CN" dirty="0" smtClean="0"/>
          </a:p>
          <a:p>
            <a:r>
              <a:rPr lang="en-US" altLang="zh-CN" dirty="0" smtClean="0"/>
              <a:t>2017.10	</a:t>
            </a:r>
            <a:r>
              <a:rPr lang="zh-CN" altLang="en-US" dirty="0" smtClean="0"/>
              <a:t>北美投资银行简历投递</a:t>
            </a:r>
            <a:endParaRPr lang="en-US" altLang="zh-CN" dirty="0" smtClean="0"/>
          </a:p>
          <a:p>
            <a:r>
              <a:rPr lang="en-US" altLang="zh-CN" dirty="0" smtClean="0"/>
              <a:t>2017.11	</a:t>
            </a:r>
            <a:r>
              <a:rPr lang="zh-CN" altLang="en-US" dirty="0" smtClean="0"/>
              <a:t>北美投资银行第一轮面试</a:t>
            </a:r>
            <a:endParaRPr lang="en-US" altLang="zh-CN" dirty="0" smtClean="0"/>
          </a:p>
          <a:p>
            <a:r>
              <a:rPr lang="en-US" dirty="0"/>
              <a:t>	</a:t>
            </a:r>
            <a:r>
              <a:rPr lang="zh-CN" altLang="en-US" dirty="0" smtClean="0"/>
              <a:t>香港投资银行简历投递</a:t>
            </a:r>
            <a:endParaRPr lang="en-US" altLang="zh-CN" dirty="0" smtClean="0"/>
          </a:p>
          <a:p>
            <a:r>
              <a:rPr lang="en-US" dirty="0" smtClean="0"/>
              <a:t>2017.12	</a:t>
            </a:r>
            <a:r>
              <a:rPr lang="zh-CN" altLang="en-US" dirty="0" smtClean="0"/>
              <a:t>北美投资银行第二轮面试</a:t>
            </a:r>
            <a:r>
              <a:rPr lang="en-US" altLang="zh-CN" dirty="0" smtClean="0"/>
              <a:t>/super</a:t>
            </a:r>
            <a:r>
              <a:rPr lang="zh-CN" altLang="en-US" dirty="0" smtClean="0"/>
              <a:t> </a:t>
            </a:r>
            <a:r>
              <a:rPr lang="en-US" altLang="zh-CN" dirty="0" smtClean="0"/>
              <a:t>day</a:t>
            </a:r>
          </a:p>
          <a:p>
            <a:r>
              <a:rPr lang="en-US" dirty="0" smtClean="0"/>
              <a:t>	</a:t>
            </a:r>
            <a:r>
              <a:rPr lang="zh-CN" altLang="en-US" dirty="0" smtClean="0"/>
              <a:t>香港投资银行第一轮面试</a:t>
            </a:r>
            <a:endParaRPr lang="en-US" altLang="zh-CN" dirty="0" smtClean="0"/>
          </a:p>
          <a:p>
            <a:r>
              <a:rPr lang="en-US" dirty="0" smtClean="0"/>
              <a:t>2018.1	</a:t>
            </a:r>
            <a:r>
              <a:rPr lang="zh-CN" altLang="en-US" dirty="0" smtClean="0"/>
              <a:t>北美投资银行</a:t>
            </a:r>
            <a:r>
              <a:rPr lang="en-US" altLang="zh-CN" dirty="0" smtClean="0"/>
              <a:t>offer</a:t>
            </a:r>
          </a:p>
          <a:p>
            <a:r>
              <a:rPr lang="en-US" dirty="0" smtClean="0"/>
              <a:t>	</a:t>
            </a:r>
            <a:r>
              <a:rPr lang="zh-CN" altLang="en-US" dirty="0" smtClean="0"/>
              <a:t>香港投资银行第二轮面试</a:t>
            </a:r>
            <a:r>
              <a:rPr lang="en-US" altLang="zh-CN" dirty="0" smtClean="0"/>
              <a:t>/super</a:t>
            </a:r>
            <a:r>
              <a:rPr lang="zh-CN" altLang="en-US" dirty="0" smtClean="0"/>
              <a:t> </a:t>
            </a:r>
            <a:r>
              <a:rPr lang="en-US" altLang="zh-CN" dirty="0" smtClean="0"/>
              <a:t>day</a:t>
            </a:r>
          </a:p>
          <a:p>
            <a:r>
              <a:rPr lang="en-US" dirty="0" smtClean="0"/>
              <a:t>	</a:t>
            </a:r>
            <a:r>
              <a:rPr lang="zh-CN" altLang="en-US" dirty="0"/>
              <a:t>期</a:t>
            </a:r>
            <a:r>
              <a:rPr lang="zh-CN" altLang="en-US" dirty="0" smtClean="0"/>
              <a:t>末</a:t>
            </a:r>
            <a:r>
              <a:rPr lang="zh-CN" altLang="en-US" dirty="0"/>
              <a:t>考</a:t>
            </a:r>
            <a:r>
              <a:rPr lang="zh-CN" altLang="en-US" dirty="0" smtClean="0"/>
              <a:t>试 </a:t>
            </a:r>
            <a:r>
              <a:rPr lang="en-US" altLang="zh-CN" dirty="0" smtClean="0"/>
              <a:t>/ </a:t>
            </a:r>
            <a:r>
              <a:rPr lang="zh-CN" altLang="en-US" dirty="0" smtClean="0"/>
              <a:t>寒假</a:t>
            </a:r>
            <a:endParaRPr lang="en-US" altLang="zh-CN" dirty="0" smtClean="0"/>
          </a:p>
          <a:p>
            <a:r>
              <a:rPr lang="en-US" dirty="0" smtClean="0"/>
              <a:t>2018.</a:t>
            </a:r>
            <a:r>
              <a:rPr lang="en-US" altLang="zh-CN" dirty="0" smtClean="0"/>
              <a:t>2</a:t>
            </a:r>
            <a:r>
              <a:rPr lang="en-US" altLang="zh-CN" dirty="0"/>
              <a:t>	</a:t>
            </a:r>
            <a:r>
              <a:rPr lang="zh-CN" altLang="en-US" dirty="0" smtClean="0"/>
              <a:t>香港投资银行</a:t>
            </a:r>
            <a:r>
              <a:rPr lang="en-US" altLang="zh-CN" dirty="0" smtClean="0"/>
              <a:t>offer</a:t>
            </a:r>
          </a:p>
          <a:p>
            <a:r>
              <a:rPr lang="en-US" dirty="0"/>
              <a:t>	</a:t>
            </a:r>
            <a:r>
              <a:rPr lang="en-US" dirty="0" smtClean="0"/>
              <a:t>(</a:t>
            </a:r>
            <a:r>
              <a:rPr lang="zh-CN" altLang="en-US" dirty="0" smtClean="0"/>
              <a:t>截至此时</a:t>
            </a:r>
            <a:r>
              <a:rPr lang="en-US" altLang="zh-CN" dirty="0" smtClean="0"/>
              <a:t>70%</a:t>
            </a:r>
            <a:r>
              <a:rPr lang="zh-CN" altLang="en-US" dirty="0" smtClean="0"/>
              <a:t> 暑期实习机会结果</a:t>
            </a:r>
            <a:r>
              <a:rPr lang="en-US" dirty="0" smtClean="0"/>
              <a:t>)</a:t>
            </a:r>
          </a:p>
        </p:txBody>
      </p:sp>
      <p:sp>
        <p:nvSpPr>
          <p:cNvPr id="2" name="Down Arrow 1"/>
          <p:cNvSpPr/>
          <p:nvPr/>
        </p:nvSpPr>
        <p:spPr>
          <a:xfrm>
            <a:off x="1143000" y="1676400"/>
            <a:ext cx="762000" cy="3276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293167" y="1676400"/>
            <a:ext cx="461665" cy="29718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dirty="0" smtClean="0">
                <a:solidFill>
                  <a:schemeClr val="bg1"/>
                </a:solidFill>
              </a:rPr>
              <a:t>5</a:t>
            </a:r>
            <a:r>
              <a:rPr lang="zh-CN" altLang="en-US" dirty="0" smtClean="0">
                <a:solidFill>
                  <a:schemeClr val="bg1"/>
                </a:solidFill>
              </a:rPr>
              <a:t> </a:t>
            </a:r>
            <a:r>
              <a:rPr lang="en-US" altLang="zh-CN" dirty="0" smtClean="0">
                <a:solidFill>
                  <a:schemeClr val="bg1"/>
                </a:solidFill>
              </a:rPr>
              <a:t>month to get summer intern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800396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sz="3000" dirty="0" smtClean="0">
                <a:solidFill>
                  <a:srgbClr val="81BC00"/>
                </a:solidFill>
              </a:rPr>
              <a:t>就</a:t>
            </a:r>
            <a:r>
              <a:rPr lang="zh-CN" altLang="en-US" sz="3000" dirty="0">
                <a:solidFill>
                  <a:srgbClr val="81BC00"/>
                </a:solidFill>
              </a:rPr>
              <a:t>业准</a:t>
            </a:r>
            <a:r>
              <a:rPr lang="zh-CN" altLang="en-US" sz="3000" dirty="0" smtClean="0">
                <a:solidFill>
                  <a:srgbClr val="81BC00"/>
                </a:solidFill>
              </a:rPr>
              <a:t>备</a:t>
            </a:r>
            <a:r>
              <a:rPr lang="en-US" sz="3000" b="0" dirty="0" smtClean="0">
                <a:solidFill>
                  <a:srgbClr val="81BC00"/>
                </a:solidFill>
              </a:rPr>
              <a:t/>
            </a:r>
            <a:br>
              <a:rPr lang="en-US" sz="3000" b="0" dirty="0" smtClean="0">
                <a:solidFill>
                  <a:srgbClr val="81BC00"/>
                </a:solidFill>
              </a:rPr>
            </a:br>
            <a:r>
              <a:rPr lang="zh-CN" altLang="en-US" sz="3000" dirty="0" smtClean="0">
                <a:solidFill>
                  <a:srgbClr val="575757"/>
                </a:solidFill>
              </a:rPr>
              <a:t>如何有效寻找暑期实习</a:t>
            </a:r>
            <a:endParaRPr lang="en-US" sz="3000" b="0" dirty="0" smtClean="0">
              <a:solidFill>
                <a:srgbClr val="575757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19</a:t>
            </a:fld>
            <a:endParaRPr lang="en-GB" dirty="0"/>
          </a:p>
        </p:txBody>
      </p:sp>
      <p:grpSp>
        <p:nvGrpSpPr>
          <p:cNvPr id="6" name="Group 5"/>
          <p:cNvGrpSpPr/>
          <p:nvPr/>
        </p:nvGrpSpPr>
        <p:grpSpPr>
          <a:xfrm>
            <a:off x="1755899" y="1508760"/>
            <a:ext cx="5638551" cy="5017770"/>
            <a:chOff x="1755899" y="1327468"/>
            <a:chExt cx="5638551" cy="5017770"/>
          </a:xfrm>
        </p:grpSpPr>
        <p:sp>
          <p:nvSpPr>
            <p:cNvPr id="7" name="Rounded Rectangle 23"/>
            <p:cNvSpPr/>
            <p:nvPr/>
          </p:nvSpPr>
          <p:spPr>
            <a:xfrm>
              <a:off x="4575175" y="3916591"/>
              <a:ext cx="2819275" cy="2428647"/>
            </a:xfrm>
            <a:custGeom>
              <a:avLst/>
              <a:gdLst>
                <a:gd name="connsiteX0" fmla="*/ 0 w 2487168"/>
                <a:gd name="connsiteY0" fmla="*/ 632765 h 1265530"/>
                <a:gd name="connsiteX1" fmla="*/ 632765 w 2487168"/>
                <a:gd name="connsiteY1" fmla="*/ 0 h 1265530"/>
                <a:gd name="connsiteX2" fmla="*/ 1854403 w 2487168"/>
                <a:gd name="connsiteY2" fmla="*/ 0 h 1265530"/>
                <a:gd name="connsiteX3" fmla="*/ 2487168 w 2487168"/>
                <a:gd name="connsiteY3" fmla="*/ 632765 h 1265530"/>
                <a:gd name="connsiteX4" fmla="*/ 2487168 w 2487168"/>
                <a:gd name="connsiteY4" fmla="*/ 632765 h 1265530"/>
                <a:gd name="connsiteX5" fmla="*/ 1854403 w 2487168"/>
                <a:gd name="connsiteY5" fmla="*/ 1265530 h 1265530"/>
                <a:gd name="connsiteX6" fmla="*/ 632765 w 2487168"/>
                <a:gd name="connsiteY6" fmla="*/ 1265530 h 1265530"/>
                <a:gd name="connsiteX7" fmla="*/ 0 w 2487168"/>
                <a:gd name="connsiteY7" fmla="*/ 632765 h 1265530"/>
                <a:gd name="connsiteX0" fmla="*/ 10095 w 2497263"/>
                <a:gd name="connsiteY0" fmla="*/ 632765 h 1265530"/>
                <a:gd name="connsiteX1" fmla="*/ 642860 w 2497263"/>
                <a:gd name="connsiteY1" fmla="*/ 0 h 1265530"/>
                <a:gd name="connsiteX2" fmla="*/ 1864498 w 2497263"/>
                <a:gd name="connsiteY2" fmla="*/ 0 h 1265530"/>
                <a:gd name="connsiteX3" fmla="*/ 2497263 w 2497263"/>
                <a:gd name="connsiteY3" fmla="*/ 632765 h 1265530"/>
                <a:gd name="connsiteX4" fmla="*/ 2497263 w 2497263"/>
                <a:gd name="connsiteY4" fmla="*/ 632765 h 1265530"/>
                <a:gd name="connsiteX5" fmla="*/ 1864498 w 2497263"/>
                <a:gd name="connsiteY5" fmla="*/ 1265530 h 1265530"/>
                <a:gd name="connsiteX6" fmla="*/ 642860 w 2497263"/>
                <a:gd name="connsiteY6" fmla="*/ 1265530 h 1265530"/>
                <a:gd name="connsiteX7" fmla="*/ 280757 w 2497263"/>
                <a:gd name="connsiteY7" fmla="*/ 1163117 h 1265530"/>
                <a:gd name="connsiteX8" fmla="*/ 10095 w 2497263"/>
                <a:gd name="connsiteY8" fmla="*/ 632765 h 1265530"/>
                <a:gd name="connsiteX0" fmla="*/ 34828 w 2521996"/>
                <a:gd name="connsiteY0" fmla="*/ 632765 h 2216530"/>
                <a:gd name="connsiteX1" fmla="*/ 667593 w 2521996"/>
                <a:gd name="connsiteY1" fmla="*/ 0 h 2216530"/>
                <a:gd name="connsiteX2" fmla="*/ 1889231 w 2521996"/>
                <a:gd name="connsiteY2" fmla="*/ 0 h 2216530"/>
                <a:gd name="connsiteX3" fmla="*/ 2521996 w 2521996"/>
                <a:gd name="connsiteY3" fmla="*/ 632765 h 2216530"/>
                <a:gd name="connsiteX4" fmla="*/ 2521996 w 2521996"/>
                <a:gd name="connsiteY4" fmla="*/ 632765 h 2216530"/>
                <a:gd name="connsiteX5" fmla="*/ 1889231 w 2521996"/>
                <a:gd name="connsiteY5" fmla="*/ 1265530 h 2216530"/>
                <a:gd name="connsiteX6" fmla="*/ 667593 w 2521996"/>
                <a:gd name="connsiteY6" fmla="*/ 1265530 h 2216530"/>
                <a:gd name="connsiteX7" fmla="*/ 144556 w 2521996"/>
                <a:gd name="connsiteY7" fmla="*/ 2209191 h 2216530"/>
                <a:gd name="connsiteX8" fmla="*/ 34828 w 2521996"/>
                <a:gd name="connsiteY8" fmla="*/ 632765 h 2216530"/>
                <a:gd name="connsiteX0" fmla="*/ 38917 w 2526085"/>
                <a:gd name="connsiteY0" fmla="*/ 632765 h 2420235"/>
                <a:gd name="connsiteX1" fmla="*/ 671682 w 2526085"/>
                <a:gd name="connsiteY1" fmla="*/ 0 h 2420235"/>
                <a:gd name="connsiteX2" fmla="*/ 1893320 w 2526085"/>
                <a:gd name="connsiteY2" fmla="*/ 0 h 2420235"/>
                <a:gd name="connsiteX3" fmla="*/ 2526085 w 2526085"/>
                <a:gd name="connsiteY3" fmla="*/ 632765 h 2420235"/>
                <a:gd name="connsiteX4" fmla="*/ 2526085 w 2526085"/>
                <a:gd name="connsiteY4" fmla="*/ 632765 h 2420235"/>
                <a:gd name="connsiteX5" fmla="*/ 1893320 w 2526085"/>
                <a:gd name="connsiteY5" fmla="*/ 1265530 h 2420235"/>
                <a:gd name="connsiteX6" fmla="*/ 671682 w 2526085"/>
                <a:gd name="connsiteY6" fmla="*/ 1265530 h 2420235"/>
                <a:gd name="connsiteX7" fmla="*/ 134015 w 2526085"/>
                <a:gd name="connsiteY7" fmla="*/ 2414017 h 2420235"/>
                <a:gd name="connsiteX8" fmla="*/ 38917 w 2526085"/>
                <a:gd name="connsiteY8" fmla="*/ 632765 h 2420235"/>
                <a:gd name="connsiteX0" fmla="*/ 38917 w 2526085"/>
                <a:gd name="connsiteY0" fmla="*/ 632765 h 2414017"/>
                <a:gd name="connsiteX1" fmla="*/ 671682 w 2526085"/>
                <a:gd name="connsiteY1" fmla="*/ 0 h 2414017"/>
                <a:gd name="connsiteX2" fmla="*/ 1893320 w 2526085"/>
                <a:gd name="connsiteY2" fmla="*/ 0 h 2414017"/>
                <a:gd name="connsiteX3" fmla="*/ 2526085 w 2526085"/>
                <a:gd name="connsiteY3" fmla="*/ 632765 h 2414017"/>
                <a:gd name="connsiteX4" fmla="*/ 2526085 w 2526085"/>
                <a:gd name="connsiteY4" fmla="*/ 632765 h 2414017"/>
                <a:gd name="connsiteX5" fmla="*/ 1893320 w 2526085"/>
                <a:gd name="connsiteY5" fmla="*/ 1265530 h 2414017"/>
                <a:gd name="connsiteX6" fmla="*/ 671682 w 2526085"/>
                <a:gd name="connsiteY6" fmla="*/ 1265530 h 2414017"/>
                <a:gd name="connsiteX7" fmla="*/ 134015 w 2526085"/>
                <a:gd name="connsiteY7" fmla="*/ 2414017 h 2414017"/>
                <a:gd name="connsiteX8" fmla="*/ 38917 w 2526085"/>
                <a:gd name="connsiteY8" fmla="*/ 632765 h 2414017"/>
                <a:gd name="connsiteX0" fmla="*/ 38917 w 2526085"/>
                <a:gd name="connsiteY0" fmla="*/ 632765 h 2414017"/>
                <a:gd name="connsiteX1" fmla="*/ 671682 w 2526085"/>
                <a:gd name="connsiteY1" fmla="*/ 0 h 2414017"/>
                <a:gd name="connsiteX2" fmla="*/ 1893320 w 2526085"/>
                <a:gd name="connsiteY2" fmla="*/ 0 h 2414017"/>
                <a:gd name="connsiteX3" fmla="*/ 2526085 w 2526085"/>
                <a:gd name="connsiteY3" fmla="*/ 632765 h 2414017"/>
                <a:gd name="connsiteX4" fmla="*/ 2526085 w 2526085"/>
                <a:gd name="connsiteY4" fmla="*/ 632765 h 2414017"/>
                <a:gd name="connsiteX5" fmla="*/ 1893320 w 2526085"/>
                <a:gd name="connsiteY5" fmla="*/ 1265530 h 2414017"/>
                <a:gd name="connsiteX6" fmla="*/ 671682 w 2526085"/>
                <a:gd name="connsiteY6" fmla="*/ 1265530 h 2414017"/>
                <a:gd name="connsiteX7" fmla="*/ 134015 w 2526085"/>
                <a:gd name="connsiteY7" fmla="*/ 2414017 h 2414017"/>
                <a:gd name="connsiteX8" fmla="*/ 38917 w 2526085"/>
                <a:gd name="connsiteY8" fmla="*/ 632765 h 2414017"/>
                <a:gd name="connsiteX0" fmla="*/ 38917 w 2526085"/>
                <a:gd name="connsiteY0" fmla="*/ 632765 h 2414017"/>
                <a:gd name="connsiteX1" fmla="*/ 671682 w 2526085"/>
                <a:gd name="connsiteY1" fmla="*/ 0 h 2414017"/>
                <a:gd name="connsiteX2" fmla="*/ 1893320 w 2526085"/>
                <a:gd name="connsiteY2" fmla="*/ 0 h 2414017"/>
                <a:gd name="connsiteX3" fmla="*/ 2526085 w 2526085"/>
                <a:gd name="connsiteY3" fmla="*/ 632765 h 2414017"/>
                <a:gd name="connsiteX4" fmla="*/ 2526085 w 2526085"/>
                <a:gd name="connsiteY4" fmla="*/ 632765 h 2414017"/>
                <a:gd name="connsiteX5" fmla="*/ 1893320 w 2526085"/>
                <a:gd name="connsiteY5" fmla="*/ 1265530 h 2414017"/>
                <a:gd name="connsiteX6" fmla="*/ 671682 w 2526085"/>
                <a:gd name="connsiteY6" fmla="*/ 1265530 h 2414017"/>
                <a:gd name="connsiteX7" fmla="*/ 134015 w 2526085"/>
                <a:gd name="connsiteY7" fmla="*/ 2414017 h 2414017"/>
                <a:gd name="connsiteX8" fmla="*/ 38917 w 2526085"/>
                <a:gd name="connsiteY8" fmla="*/ 632765 h 2414017"/>
                <a:gd name="connsiteX0" fmla="*/ 101443 w 2588611"/>
                <a:gd name="connsiteY0" fmla="*/ 632765 h 2428647"/>
                <a:gd name="connsiteX1" fmla="*/ 734208 w 2588611"/>
                <a:gd name="connsiteY1" fmla="*/ 0 h 2428647"/>
                <a:gd name="connsiteX2" fmla="*/ 1955846 w 2588611"/>
                <a:gd name="connsiteY2" fmla="*/ 0 h 2428647"/>
                <a:gd name="connsiteX3" fmla="*/ 2588611 w 2588611"/>
                <a:gd name="connsiteY3" fmla="*/ 632765 h 2428647"/>
                <a:gd name="connsiteX4" fmla="*/ 2588611 w 2588611"/>
                <a:gd name="connsiteY4" fmla="*/ 632765 h 2428647"/>
                <a:gd name="connsiteX5" fmla="*/ 1955846 w 2588611"/>
                <a:gd name="connsiteY5" fmla="*/ 1265530 h 2428647"/>
                <a:gd name="connsiteX6" fmla="*/ 734208 w 2588611"/>
                <a:gd name="connsiteY6" fmla="*/ 1265530 h 2428647"/>
                <a:gd name="connsiteX7" fmla="*/ 65084 w 2588611"/>
                <a:gd name="connsiteY7" fmla="*/ 2428647 h 2428647"/>
                <a:gd name="connsiteX8" fmla="*/ 101443 w 2588611"/>
                <a:gd name="connsiteY8" fmla="*/ 632765 h 2428647"/>
                <a:gd name="connsiteX0" fmla="*/ 63322 w 2550490"/>
                <a:gd name="connsiteY0" fmla="*/ 632765 h 2428647"/>
                <a:gd name="connsiteX1" fmla="*/ 696087 w 2550490"/>
                <a:gd name="connsiteY1" fmla="*/ 0 h 2428647"/>
                <a:gd name="connsiteX2" fmla="*/ 1917725 w 2550490"/>
                <a:gd name="connsiteY2" fmla="*/ 0 h 2428647"/>
                <a:gd name="connsiteX3" fmla="*/ 2550490 w 2550490"/>
                <a:gd name="connsiteY3" fmla="*/ 632765 h 2428647"/>
                <a:gd name="connsiteX4" fmla="*/ 2550490 w 2550490"/>
                <a:gd name="connsiteY4" fmla="*/ 632765 h 2428647"/>
                <a:gd name="connsiteX5" fmla="*/ 1917725 w 2550490"/>
                <a:gd name="connsiteY5" fmla="*/ 1265530 h 2428647"/>
                <a:gd name="connsiteX6" fmla="*/ 696087 w 2550490"/>
                <a:gd name="connsiteY6" fmla="*/ 1265530 h 2428647"/>
                <a:gd name="connsiteX7" fmla="*/ 26963 w 2550490"/>
                <a:gd name="connsiteY7" fmla="*/ 2428647 h 2428647"/>
                <a:gd name="connsiteX8" fmla="*/ 63322 w 2550490"/>
                <a:gd name="connsiteY8" fmla="*/ 632765 h 2428647"/>
                <a:gd name="connsiteX0" fmla="*/ 63322 w 2550490"/>
                <a:gd name="connsiteY0" fmla="*/ 632765 h 2428647"/>
                <a:gd name="connsiteX1" fmla="*/ 696087 w 2550490"/>
                <a:gd name="connsiteY1" fmla="*/ 0 h 2428647"/>
                <a:gd name="connsiteX2" fmla="*/ 1917725 w 2550490"/>
                <a:gd name="connsiteY2" fmla="*/ 0 h 2428647"/>
                <a:gd name="connsiteX3" fmla="*/ 2550490 w 2550490"/>
                <a:gd name="connsiteY3" fmla="*/ 632765 h 2428647"/>
                <a:gd name="connsiteX4" fmla="*/ 2550490 w 2550490"/>
                <a:gd name="connsiteY4" fmla="*/ 632765 h 2428647"/>
                <a:gd name="connsiteX5" fmla="*/ 1917725 w 2550490"/>
                <a:gd name="connsiteY5" fmla="*/ 1265530 h 2428647"/>
                <a:gd name="connsiteX6" fmla="*/ 696087 w 2550490"/>
                <a:gd name="connsiteY6" fmla="*/ 1265530 h 2428647"/>
                <a:gd name="connsiteX7" fmla="*/ 26963 w 2550490"/>
                <a:gd name="connsiteY7" fmla="*/ 2428647 h 2428647"/>
                <a:gd name="connsiteX8" fmla="*/ 63322 w 2550490"/>
                <a:gd name="connsiteY8" fmla="*/ 632765 h 2428647"/>
                <a:gd name="connsiteX0" fmla="*/ 48615 w 2581792"/>
                <a:gd name="connsiteY0" fmla="*/ 683972 h 2428647"/>
                <a:gd name="connsiteX1" fmla="*/ 727389 w 2581792"/>
                <a:gd name="connsiteY1" fmla="*/ 0 h 2428647"/>
                <a:gd name="connsiteX2" fmla="*/ 1949027 w 2581792"/>
                <a:gd name="connsiteY2" fmla="*/ 0 h 2428647"/>
                <a:gd name="connsiteX3" fmla="*/ 2581792 w 2581792"/>
                <a:gd name="connsiteY3" fmla="*/ 632765 h 2428647"/>
                <a:gd name="connsiteX4" fmla="*/ 2581792 w 2581792"/>
                <a:gd name="connsiteY4" fmla="*/ 632765 h 2428647"/>
                <a:gd name="connsiteX5" fmla="*/ 1949027 w 2581792"/>
                <a:gd name="connsiteY5" fmla="*/ 1265530 h 2428647"/>
                <a:gd name="connsiteX6" fmla="*/ 727389 w 2581792"/>
                <a:gd name="connsiteY6" fmla="*/ 1265530 h 2428647"/>
                <a:gd name="connsiteX7" fmla="*/ 58265 w 2581792"/>
                <a:gd name="connsiteY7" fmla="*/ 2428647 h 2428647"/>
                <a:gd name="connsiteX8" fmla="*/ 48615 w 2581792"/>
                <a:gd name="connsiteY8" fmla="*/ 683972 h 2428647"/>
                <a:gd name="connsiteX0" fmla="*/ 1 w 2533178"/>
                <a:gd name="connsiteY0" fmla="*/ 683972 h 2428647"/>
                <a:gd name="connsiteX1" fmla="*/ 678775 w 2533178"/>
                <a:gd name="connsiteY1" fmla="*/ 0 h 2428647"/>
                <a:gd name="connsiteX2" fmla="*/ 1900413 w 2533178"/>
                <a:gd name="connsiteY2" fmla="*/ 0 h 2428647"/>
                <a:gd name="connsiteX3" fmla="*/ 2533178 w 2533178"/>
                <a:gd name="connsiteY3" fmla="*/ 632765 h 2428647"/>
                <a:gd name="connsiteX4" fmla="*/ 2533178 w 2533178"/>
                <a:gd name="connsiteY4" fmla="*/ 632765 h 2428647"/>
                <a:gd name="connsiteX5" fmla="*/ 1900413 w 2533178"/>
                <a:gd name="connsiteY5" fmla="*/ 1265530 h 2428647"/>
                <a:gd name="connsiteX6" fmla="*/ 678775 w 2533178"/>
                <a:gd name="connsiteY6" fmla="*/ 1265530 h 2428647"/>
                <a:gd name="connsiteX7" fmla="*/ 9651 w 2533178"/>
                <a:gd name="connsiteY7" fmla="*/ 2428647 h 2428647"/>
                <a:gd name="connsiteX8" fmla="*/ 1 w 2533178"/>
                <a:gd name="connsiteY8" fmla="*/ 683972 h 2428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33178" h="2428647">
                  <a:moveTo>
                    <a:pt x="1" y="683972"/>
                  </a:moveTo>
                  <a:cubicBezTo>
                    <a:pt x="-216" y="191416"/>
                    <a:pt x="307363" y="21946"/>
                    <a:pt x="678775" y="0"/>
                  </a:cubicBezTo>
                  <a:lnTo>
                    <a:pt x="1900413" y="0"/>
                  </a:lnTo>
                  <a:cubicBezTo>
                    <a:pt x="2249879" y="0"/>
                    <a:pt x="2533178" y="283299"/>
                    <a:pt x="2533178" y="632765"/>
                  </a:cubicBezTo>
                  <a:lnTo>
                    <a:pt x="2533178" y="632765"/>
                  </a:lnTo>
                  <a:cubicBezTo>
                    <a:pt x="2533178" y="982231"/>
                    <a:pt x="2249879" y="1265530"/>
                    <a:pt x="1900413" y="1265530"/>
                  </a:cubicBezTo>
                  <a:lnTo>
                    <a:pt x="678775" y="1265530"/>
                  </a:lnTo>
                  <a:cubicBezTo>
                    <a:pt x="414818" y="1248461"/>
                    <a:pt x="58709" y="1751382"/>
                    <a:pt x="9651" y="2428647"/>
                  </a:cubicBezTo>
                  <a:cubicBezTo>
                    <a:pt x="2783" y="2250034"/>
                    <a:pt x="218" y="1176528"/>
                    <a:pt x="1" y="683972"/>
                  </a:cubicBezTo>
                  <a:close/>
                </a:path>
              </a:pathLst>
            </a:custGeom>
            <a:solidFill>
              <a:srgbClr val="BDD203"/>
            </a:solidFill>
            <a:ln w="1270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b="0" dirty="0" err="1" smtClean="0"/>
            </a:p>
          </p:txBody>
        </p:sp>
        <p:sp>
          <p:nvSpPr>
            <p:cNvPr id="8" name="Rounded Rectangle 23"/>
            <p:cNvSpPr/>
            <p:nvPr/>
          </p:nvSpPr>
          <p:spPr>
            <a:xfrm>
              <a:off x="4575175" y="2629116"/>
              <a:ext cx="2819275" cy="2428647"/>
            </a:xfrm>
            <a:custGeom>
              <a:avLst/>
              <a:gdLst>
                <a:gd name="connsiteX0" fmla="*/ 0 w 2487168"/>
                <a:gd name="connsiteY0" fmla="*/ 632765 h 1265530"/>
                <a:gd name="connsiteX1" fmla="*/ 632765 w 2487168"/>
                <a:gd name="connsiteY1" fmla="*/ 0 h 1265530"/>
                <a:gd name="connsiteX2" fmla="*/ 1854403 w 2487168"/>
                <a:gd name="connsiteY2" fmla="*/ 0 h 1265530"/>
                <a:gd name="connsiteX3" fmla="*/ 2487168 w 2487168"/>
                <a:gd name="connsiteY3" fmla="*/ 632765 h 1265530"/>
                <a:gd name="connsiteX4" fmla="*/ 2487168 w 2487168"/>
                <a:gd name="connsiteY4" fmla="*/ 632765 h 1265530"/>
                <a:gd name="connsiteX5" fmla="*/ 1854403 w 2487168"/>
                <a:gd name="connsiteY5" fmla="*/ 1265530 h 1265530"/>
                <a:gd name="connsiteX6" fmla="*/ 632765 w 2487168"/>
                <a:gd name="connsiteY6" fmla="*/ 1265530 h 1265530"/>
                <a:gd name="connsiteX7" fmla="*/ 0 w 2487168"/>
                <a:gd name="connsiteY7" fmla="*/ 632765 h 1265530"/>
                <a:gd name="connsiteX0" fmla="*/ 10095 w 2497263"/>
                <a:gd name="connsiteY0" fmla="*/ 632765 h 1265530"/>
                <a:gd name="connsiteX1" fmla="*/ 642860 w 2497263"/>
                <a:gd name="connsiteY1" fmla="*/ 0 h 1265530"/>
                <a:gd name="connsiteX2" fmla="*/ 1864498 w 2497263"/>
                <a:gd name="connsiteY2" fmla="*/ 0 h 1265530"/>
                <a:gd name="connsiteX3" fmla="*/ 2497263 w 2497263"/>
                <a:gd name="connsiteY3" fmla="*/ 632765 h 1265530"/>
                <a:gd name="connsiteX4" fmla="*/ 2497263 w 2497263"/>
                <a:gd name="connsiteY4" fmla="*/ 632765 h 1265530"/>
                <a:gd name="connsiteX5" fmla="*/ 1864498 w 2497263"/>
                <a:gd name="connsiteY5" fmla="*/ 1265530 h 1265530"/>
                <a:gd name="connsiteX6" fmla="*/ 642860 w 2497263"/>
                <a:gd name="connsiteY6" fmla="*/ 1265530 h 1265530"/>
                <a:gd name="connsiteX7" fmla="*/ 280757 w 2497263"/>
                <a:gd name="connsiteY7" fmla="*/ 1163117 h 1265530"/>
                <a:gd name="connsiteX8" fmla="*/ 10095 w 2497263"/>
                <a:gd name="connsiteY8" fmla="*/ 632765 h 1265530"/>
                <a:gd name="connsiteX0" fmla="*/ 34828 w 2521996"/>
                <a:gd name="connsiteY0" fmla="*/ 632765 h 2216530"/>
                <a:gd name="connsiteX1" fmla="*/ 667593 w 2521996"/>
                <a:gd name="connsiteY1" fmla="*/ 0 h 2216530"/>
                <a:gd name="connsiteX2" fmla="*/ 1889231 w 2521996"/>
                <a:gd name="connsiteY2" fmla="*/ 0 h 2216530"/>
                <a:gd name="connsiteX3" fmla="*/ 2521996 w 2521996"/>
                <a:gd name="connsiteY3" fmla="*/ 632765 h 2216530"/>
                <a:gd name="connsiteX4" fmla="*/ 2521996 w 2521996"/>
                <a:gd name="connsiteY4" fmla="*/ 632765 h 2216530"/>
                <a:gd name="connsiteX5" fmla="*/ 1889231 w 2521996"/>
                <a:gd name="connsiteY5" fmla="*/ 1265530 h 2216530"/>
                <a:gd name="connsiteX6" fmla="*/ 667593 w 2521996"/>
                <a:gd name="connsiteY6" fmla="*/ 1265530 h 2216530"/>
                <a:gd name="connsiteX7" fmla="*/ 144556 w 2521996"/>
                <a:gd name="connsiteY7" fmla="*/ 2209191 h 2216530"/>
                <a:gd name="connsiteX8" fmla="*/ 34828 w 2521996"/>
                <a:gd name="connsiteY8" fmla="*/ 632765 h 2216530"/>
                <a:gd name="connsiteX0" fmla="*/ 38917 w 2526085"/>
                <a:gd name="connsiteY0" fmla="*/ 632765 h 2420235"/>
                <a:gd name="connsiteX1" fmla="*/ 671682 w 2526085"/>
                <a:gd name="connsiteY1" fmla="*/ 0 h 2420235"/>
                <a:gd name="connsiteX2" fmla="*/ 1893320 w 2526085"/>
                <a:gd name="connsiteY2" fmla="*/ 0 h 2420235"/>
                <a:gd name="connsiteX3" fmla="*/ 2526085 w 2526085"/>
                <a:gd name="connsiteY3" fmla="*/ 632765 h 2420235"/>
                <a:gd name="connsiteX4" fmla="*/ 2526085 w 2526085"/>
                <a:gd name="connsiteY4" fmla="*/ 632765 h 2420235"/>
                <a:gd name="connsiteX5" fmla="*/ 1893320 w 2526085"/>
                <a:gd name="connsiteY5" fmla="*/ 1265530 h 2420235"/>
                <a:gd name="connsiteX6" fmla="*/ 671682 w 2526085"/>
                <a:gd name="connsiteY6" fmla="*/ 1265530 h 2420235"/>
                <a:gd name="connsiteX7" fmla="*/ 134015 w 2526085"/>
                <a:gd name="connsiteY7" fmla="*/ 2414017 h 2420235"/>
                <a:gd name="connsiteX8" fmla="*/ 38917 w 2526085"/>
                <a:gd name="connsiteY8" fmla="*/ 632765 h 2420235"/>
                <a:gd name="connsiteX0" fmla="*/ 38917 w 2526085"/>
                <a:gd name="connsiteY0" fmla="*/ 632765 h 2414017"/>
                <a:gd name="connsiteX1" fmla="*/ 671682 w 2526085"/>
                <a:gd name="connsiteY1" fmla="*/ 0 h 2414017"/>
                <a:gd name="connsiteX2" fmla="*/ 1893320 w 2526085"/>
                <a:gd name="connsiteY2" fmla="*/ 0 h 2414017"/>
                <a:gd name="connsiteX3" fmla="*/ 2526085 w 2526085"/>
                <a:gd name="connsiteY3" fmla="*/ 632765 h 2414017"/>
                <a:gd name="connsiteX4" fmla="*/ 2526085 w 2526085"/>
                <a:gd name="connsiteY4" fmla="*/ 632765 h 2414017"/>
                <a:gd name="connsiteX5" fmla="*/ 1893320 w 2526085"/>
                <a:gd name="connsiteY5" fmla="*/ 1265530 h 2414017"/>
                <a:gd name="connsiteX6" fmla="*/ 671682 w 2526085"/>
                <a:gd name="connsiteY6" fmla="*/ 1265530 h 2414017"/>
                <a:gd name="connsiteX7" fmla="*/ 134015 w 2526085"/>
                <a:gd name="connsiteY7" fmla="*/ 2414017 h 2414017"/>
                <a:gd name="connsiteX8" fmla="*/ 38917 w 2526085"/>
                <a:gd name="connsiteY8" fmla="*/ 632765 h 2414017"/>
                <a:gd name="connsiteX0" fmla="*/ 38917 w 2526085"/>
                <a:gd name="connsiteY0" fmla="*/ 632765 h 2414017"/>
                <a:gd name="connsiteX1" fmla="*/ 671682 w 2526085"/>
                <a:gd name="connsiteY1" fmla="*/ 0 h 2414017"/>
                <a:gd name="connsiteX2" fmla="*/ 1893320 w 2526085"/>
                <a:gd name="connsiteY2" fmla="*/ 0 h 2414017"/>
                <a:gd name="connsiteX3" fmla="*/ 2526085 w 2526085"/>
                <a:gd name="connsiteY3" fmla="*/ 632765 h 2414017"/>
                <a:gd name="connsiteX4" fmla="*/ 2526085 w 2526085"/>
                <a:gd name="connsiteY4" fmla="*/ 632765 h 2414017"/>
                <a:gd name="connsiteX5" fmla="*/ 1893320 w 2526085"/>
                <a:gd name="connsiteY5" fmla="*/ 1265530 h 2414017"/>
                <a:gd name="connsiteX6" fmla="*/ 671682 w 2526085"/>
                <a:gd name="connsiteY6" fmla="*/ 1265530 h 2414017"/>
                <a:gd name="connsiteX7" fmla="*/ 134015 w 2526085"/>
                <a:gd name="connsiteY7" fmla="*/ 2414017 h 2414017"/>
                <a:gd name="connsiteX8" fmla="*/ 38917 w 2526085"/>
                <a:gd name="connsiteY8" fmla="*/ 632765 h 2414017"/>
                <a:gd name="connsiteX0" fmla="*/ 38917 w 2526085"/>
                <a:gd name="connsiteY0" fmla="*/ 632765 h 2414017"/>
                <a:gd name="connsiteX1" fmla="*/ 671682 w 2526085"/>
                <a:gd name="connsiteY1" fmla="*/ 0 h 2414017"/>
                <a:gd name="connsiteX2" fmla="*/ 1893320 w 2526085"/>
                <a:gd name="connsiteY2" fmla="*/ 0 h 2414017"/>
                <a:gd name="connsiteX3" fmla="*/ 2526085 w 2526085"/>
                <a:gd name="connsiteY3" fmla="*/ 632765 h 2414017"/>
                <a:gd name="connsiteX4" fmla="*/ 2526085 w 2526085"/>
                <a:gd name="connsiteY4" fmla="*/ 632765 h 2414017"/>
                <a:gd name="connsiteX5" fmla="*/ 1893320 w 2526085"/>
                <a:gd name="connsiteY5" fmla="*/ 1265530 h 2414017"/>
                <a:gd name="connsiteX6" fmla="*/ 671682 w 2526085"/>
                <a:gd name="connsiteY6" fmla="*/ 1265530 h 2414017"/>
                <a:gd name="connsiteX7" fmla="*/ 134015 w 2526085"/>
                <a:gd name="connsiteY7" fmla="*/ 2414017 h 2414017"/>
                <a:gd name="connsiteX8" fmla="*/ 38917 w 2526085"/>
                <a:gd name="connsiteY8" fmla="*/ 632765 h 2414017"/>
                <a:gd name="connsiteX0" fmla="*/ 101443 w 2588611"/>
                <a:gd name="connsiteY0" fmla="*/ 632765 h 2428647"/>
                <a:gd name="connsiteX1" fmla="*/ 734208 w 2588611"/>
                <a:gd name="connsiteY1" fmla="*/ 0 h 2428647"/>
                <a:gd name="connsiteX2" fmla="*/ 1955846 w 2588611"/>
                <a:gd name="connsiteY2" fmla="*/ 0 h 2428647"/>
                <a:gd name="connsiteX3" fmla="*/ 2588611 w 2588611"/>
                <a:gd name="connsiteY3" fmla="*/ 632765 h 2428647"/>
                <a:gd name="connsiteX4" fmla="*/ 2588611 w 2588611"/>
                <a:gd name="connsiteY4" fmla="*/ 632765 h 2428647"/>
                <a:gd name="connsiteX5" fmla="*/ 1955846 w 2588611"/>
                <a:gd name="connsiteY5" fmla="*/ 1265530 h 2428647"/>
                <a:gd name="connsiteX6" fmla="*/ 734208 w 2588611"/>
                <a:gd name="connsiteY6" fmla="*/ 1265530 h 2428647"/>
                <a:gd name="connsiteX7" fmla="*/ 65084 w 2588611"/>
                <a:gd name="connsiteY7" fmla="*/ 2428647 h 2428647"/>
                <a:gd name="connsiteX8" fmla="*/ 101443 w 2588611"/>
                <a:gd name="connsiteY8" fmla="*/ 632765 h 2428647"/>
                <a:gd name="connsiteX0" fmla="*/ 63322 w 2550490"/>
                <a:gd name="connsiteY0" fmla="*/ 632765 h 2428647"/>
                <a:gd name="connsiteX1" fmla="*/ 696087 w 2550490"/>
                <a:gd name="connsiteY1" fmla="*/ 0 h 2428647"/>
                <a:gd name="connsiteX2" fmla="*/ 1917725 w 2550490"/>
                <a:gd name="connsiteY2" fmla="*/ 0 h 2428647"/>
                <a:gd name="connsiteX3" fmla="*/ 2550490 w 2550490"/>
                <a:gd name="connsiteY3" fmla="*/ 632765 h 2428647"/>
                <a:gd name="connsiteX4" fmla="*/ 2550490 w 2550490"/>
                <a:gd name="connsiteY4" fmla="*/ 632765 h 2428647"/>
                <a:gd name="connsiteX5" fmla="*/ 1917725 w 2550490"/>
                <a:gd name="connsiteY5" fmla="*/ 1265530 h 2428647"/>
                <a:gd name="connsiteX6" fmla="*/ 696087 w 2550490"/>
                <a:gd name="connsiteY6" fmla="*/ 1265530 h 2428647"/>
                <a:gd name="connsiteX7" fmla="*/ 26963 w 2550490"/>
                <a:gd name="connsiteY7" fmla="*/ 2428647 h 2428647"/>
                <a:gd name="connsiteX8" fmla="*/ 63322 w 2550490"/>
                <a:gd name="connsiteY8" fmla="*/ 632765 h 2428647"/>
                <a:gd name="connsiteX0" fmla="*/ 63322 w 2550490"/>
                <a:gd name="connsiteY0" fmla="*/ 632765 h 2428647"/>
                <a:gd name="connsiteX1" fmla="*/ 696087 w 2550490"/>
                <a:gd name="connsiteY1" fmla="*/ 0 h 2428647"/>
                <a:gd name="connsiteX2" fmla="*/ 1917725 w 2550490"/>
                <a:gd name="connsiteY2" fmla="*/ 0 h 2428647"/>
                <a:gd name="connsiteX3" fmla="*/ 2550490 w 2550490"/>
                <a:gd name="connsiteY3" fmla="*/ 632765 h 2428647"/>
                <a:gd name="connsiteX4" fmla="*/ 2550490 w 2550490"/>
                <a:gd name="connsiteY4" fmla="*/ 632765 h 2428647"/>
                <a:gd name="connsiteX5" fmla="*/ 1917725 w 2550490"/>
                <a:gd name="connsiteY5" fmla="*/ 1265530 h 2428647"/>
                <a:gd name="connsiteX6" fmla="*/ 696087 w 2550490"/>
                <a:gd name="connsiteY6" fmla="*/ 1265530 h 2428647"/>
                <a:gd name="connsiteX7" fmla="*/ 26963 w 2550490"/>
                <a:gd name="connsiteY7" fmla="*/ 2428647 h 2428647"/>
                <a:gd name="connsiteX8" fmla="*/ 63322 w 2550490"/>
                <a:gd name="connsiteY8" fmla="*/ 632765 h 2428647"/>
                <a:gd name="connsiteX0" fmla="*/ 48615 w 2581792"/>
                <a:gd name="connsiteY0" fmla="*/ 683972 h 2428647"/>
                <a:gd name="connsiteX1" fmla="*/ 727389 w 2581792"/>
                <a:gd name="connsiteY1" fmla="*/ 0 h 2428647"/>
                <a:gd name="connsiteX2" fmla="*/ 1949027 w 2581792"/>
                <a:gd name="connsiteY2" fmla="*/ 0 h 2428647"/>
                <a:gd name="connsiteX3" fmla="*/ 2581792 w 2581792"/>
                <a:gd name="connsiteY3" fmla="*/ 632765 h 2428647"/>
                <a:gd name="connsiteX4" fmla="*/ 2581792 w 2581792"/>
                <a:gd name="connsiteY4" fmla="*/ 632765 h 2428647"/>
                <a:gd name="connsiteX5" fmla="*/ 1949027 w 2581792"/>
                <a:gd name="connsiteY5" fmla="*/ 1265530 h 2428647"/>
                <a:gd name="connsiteX6" fmla="*/ 727389 w 2581792"/>
                <a:gd name="connsiteY6" fmla="*/ 1265530 h 2428647"/>
                <a:gd name="connsiteX7" fmla="*/ 58265 w 2581792"/>
                <a:gd name="connsiteY7" fmla="*/ 2428647 h 2428647"/>
                <a:gd name="connsiteX8" fmla="*/ 48615 w 2581792"/>
                <a:gd name="connsiteY8" fmla="*/ 683972 h 2428647"/>
                <a:gd name="connsiteX0" fmla="*/ 1 w 2533178"/>
                <a:gd name="connsiteY0" fmla="*/ 683972 h 2428647"/>
                <a:gd name="connsiteX1" fmla="*/ 678775 w 2533178"/>
                <a:gd name="connsiteY1" fmla="*/ 0 h 2428647"/>
                <a:gd name="connsiteX2" fmla="*/ 1900413 w 2533178"/>
                <a:gd name="connsiteY2" fmla="*/ 0 h 2428647"/>
                <a:gd name="connsiteX3" fmla="*/ 2533178 w 2533178"/>
                <a:gd name="connsiteY3" fmla="*/ 632765 h 2428647"/>
                <a:gd name="connsiteX4" fmla="*/ 2533178 w 2533178"/>
                <a:gd name="connsiteY4" fmla="*/ 632765 h 2428647"/>
                <a:gd name="connsiteX5" fmla="*/ 1900413 w 2533178"/>
                <a:gd name="connsiteY5" fmla="*/ 1265530 h 2428647"/>
                <a:gd name="connsiteX6" fmla="*/ 678775 w 2533178"/>
                <a:gd name="connsiteY6" fmla="*/ 1265530 h 2428647"/>
                <a:gd name="connsiteX7" fmla="*/ 9651 w 2533178"/>
                <a:gd name="connsiteY7" fmla="*/ 2428647 h 2428647"/>
                <a:gd name="connsiteX8" fmla="*/ 1 w 2533178"/>
                <a:gd name="connsiteY8" fmla="*/ 683972 h 2428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33178" h="2428647">
                  <a:moveTo>
                    <a:pt x="1" y="683972"/>
                  </a:moveTo>
                  <a:cubicBezTo>
                    <a:pt x="-216" y="191416"/>
                    <a:pt x="307363" y="21946"/>
                    <a:pt x="678775" y="0"/>
                  </a:cubicBezTo>
                  <a:lnTo>
                    <a:pt x="1900413" y="0"/>
                  </a:lnTo>
                  <a:cubicBezTo>
                    <a:pt x="2249879" y="0"/>
                    <a:pt x="2533178" y="283299"/>
                    <a:pt x="2533178" y="632765"/>
                  </a:cubicBezTo>
                  <a:lnTo>
                    <a:pt x="2533178" y="632765"/>
                  </a:lnTo>
                  <a:cubicBezTo>
                    <a:pt x="2533178" y="982231"/>
                    <a:pt x="2249879" y="1265530"/>
                    <a:pt x="1900413" y="1265530"/>
                  </a:cubicBezTo>
                  <a:lnTo>
                    <a:pt x="678775" y="1265530"/>
                  </a:lnTo>
                  <a:cubicBezTo>
                    <a:pt x="414818" y="1248461"/>
                    <a:pt x="58709" y="1751382"/>
                    <a:pt x="9651" y="2428647"/>
                  </a:cubicBezTo>
                  <a:cubicBezTo>
                    <a:pt x="2783" y="2250034"/>
                    <a:pt x="218" y="1176528"/>
                    <a:pt x="1" y="683972"/>
                  </a:cubicBezTo>
                  <a:close/>
                </a:path>
              </a:pathLst>
            </a:custGeom>
            <a:solidFill>
              <a:srgbClr val="00A1DE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b="0" dirty="0" err="1" smtClean="0"/>
            </a:p>
          </p:txBody>
        </p:sp>
        <p:sp>
          <p:nvSpPr>
            <p:cNvPr id="10" name="Rounded Rectangle 23"/>
            <p:cNvSpPr/>
            <p:nvPr/>
          </p:nvSpPr>
          <p:spPr>
            <a:xfrm flipH="1">
              <a:off x="1755900" y="2629116"/>
              <a:ext cx="2819275" cy="2428647"/>
            </a:xfrm>
            <a:custGeom>
              <a:avLst/>
              <a:gdLst>
                <a:gd name="connsiteX0" fmla="*/ 0 w 2487168"/>
                <a:gd name="connsiteY0" fmla="*/ 632765 h 1265530"/>
                <a:gd name="connsiteX1" fmla="*/ 632765 w 2487168"/>
                <a:gd name="connsiteY1" fmla="*/ 0 h 1265530"/>
                <a:gd name="connsiteX2" fmla="*/ 1854403 w 2487168"/>
                <a:gd name="connsiteY2" fmla="*/ 0 h 1265530"/>
                <a:gd name="connsiteX3" fmla="*/ 2487168 w 2487168"/>
                <a:gd name="connsiteY3" fmla="*/ 632765 h 1265530"/>
                <a:gd name="connsiteX4" fmla="*/ 2487168 w 2487168"/>
                <a:gd name="connsiteY4" fmla="*/ 632765 h 1265530"/>
                <a:gd name="connsiteX5" fmla="*/ 1854403 w 2487168"/>
                <a:gd name="connsiteY5" fmla="*/ 1265530 h 1265530"/>
                <a:gd name="connsiteX6" fmla="*/ 632765 w 2487168"/>
                <a:gd name="connsiteY6" fmla="*/ 1265530 h 1265530"/>
                <a:gd name="connsiteX7" fmla="*/ 0 w 2487168"/>
                <a:gd name="connsiteY7" fmla="*/ 632765 h 1265530"/>
                <a:gd name="connsiteX0" fmla="*/ 10095 w 2497263"/>
                <a:gd name="connsiteY0" fmla="*/ 632765 h 1265530"/>
                <a:gd name="connsiteX1" fmla="*/ 642860 w 2497263"/>
                <a:gd name="connsiteY1" fmla="*/ 0 h 1265530"/>
                <a:gd name="connsiteX2" fmla="*/ 1864498 w 2497263"/>
                <a:gd name="connsiteY2" fmla="*/ 0 h 1265530"/>
                <a:gd name="connsiteX3" fmla="*/ 2497263 w 2497263"/>
                <a:gd name="connsiteY3" fmla="*/ 632765 h 1265530"/>
                <a:gd name="connsiteX4" fmla="*/ 2497263 w 2497263"/>
                <a:gd name="connsiteY4" fmla="*/ 632765 h 1265530"/>
                <a:gd name="connsiteX5" fmla="*/ 1864498 w 2497263"/>
                <a:gd name="connsiteY5" fmla="*/ 1265530 h 1265530"/>
                <a:gd name="connsiteX6" fmla="*/ 642860 w 2497263"/>
                <a:gd name="connsiteY6" fmla="*/ 1265530 h 1265530"/>
                <a:gd name="connsiteX7" fmla="*/ 280757 w 2497263"/>
                <a:gd name="connsiteY7" fmla="*/ 1163117 h 1265530"/>
                <a:gd name="connsiteX8" fmla="*/ 10095 w 2497263"/>
                <a:gd name="connsiteY8" fmla="*/ 632765 h 1265530"/>
                <a:gd name="connsiteX0" fmla="*/ 34828 w 2521996"/>
                <a:gd name="connsiteY0" fmla="*/ 632765 h 2216530"/>
                <a:gd name="connsiteX1" fmla="*/ 667593 w 2521996"/>
                <a:gd name="connsiteY1" fmla="*/ 0 h 2216530"/>
                <a:gd name="connsiteX2" fmla="*/ 1889231 w 2521996"/>
                <a:gd name="connsiteY2" fmla="*/ 0 h 2216530"/>
                <a:gd name="connsiteX3" fmla="*/ 2521996 w 2521996"/>
                <a:gd name="connsiteY3" fmla="*/ 632765 h 2216530"/>
                <a:gd name="connsiteX4" fmla="*/ 2521996 w 2521996"/>
                <a:gd name="connsiteY4" fmla="*/ 632765 h 2216530"/>
                <a:gd name="connsiteX5" fmla="*/ 1889231 w 2521996"/>
                <a:gd name="connsiteY5" fmla="*/ 1265530 h 2216530"/>
                <a:gd name="connsiteX6" fmla="*/ 667593 w 2521996"/>
                <a:gd name="connsiteY6" fmla="*/ 1265530 h 2216530"/>
                <a:gd name="connsiteX7" fmla="*/ 144556 w 2521996"/>
                <a:gd name="connsiteY7" fmla="*/ 2209191 h 2216530"/>
                <a:gd name="connsiteX8" fmla="*/ 34828 w 2521996"/>
                <a:gd name="connsiteY8" fmla="*/ 632765 h 2216530"/>
                <a:gd name="connsiteX0" fmla="*/ 38917 w 2526085"/>
                <a:gd name="connsiteY0" fmla="*/ 632765 h 2420235"/>
                <a:gd name="connsiteX1" fmla="*/ 671682 w 2526085"/>
                <a:gd name="connsiteY1" fmla="*/ 0 h 2420235"/>
                <a:gd name="connsiteX2" fmla="*/ 1893320 w 2526085"/>
                <a:gd name="connsiteY2" fmla="*/ 0 h 2420235"/>
                <a:gd name="connsiteX3" fmla="*/ 2526085 w 2526085"/>
                <a:gd name="connsiteY3" fmla="*/ 632765 h 2420235"/>
                <a:gd name="connsiteX4" fmla="*/ 2526085 w 2526085"/>
                <a:gd name="connsiteY4" fmla="*/ 632765 h 2420235"/>
                <a:gd name="connsiteX5" fmla="*/ 1893320 w 2526085"/>
                <a:gd name="connsiteY5" fmla="*/ 1265530 h 2420235"/>
                <a:gd name="connsiteX6" fmla="*/ 671682 w 2526085"/>
                <a:gd name="connsiteY6" fmla="*/ 1265530 h 2420235"/>
                <a:gd name="connsiteX7" fmla="*/ 134015 w 2526085"/>
                <a:gd name="connsiteY7" fmla="*/ 2414017 h 2420235"/>
                <a:gd name="connsiteX8" fmla="*/ 38917 w 2526085"/>
                <a:gd name="connsiteY8" fmla="*/ 632765 h 2420235"/>
                <a:gd name="connsiteX0" fmla="*/ 38917 w 2526085"/>
                <a:gd name="connsiteY0" fmla="*/ 632765 h 2414017"/>
                <a:gd name="connsiteX1" fmla="*/ 671682 w 2526085"/>
                <a:gd name="connsiteY1" fmla="*/ 0 h 2414017"/>
                <a:gd name="connsiteX2" fmla="*/ 1893320 w 2526085"/>
                <a:gd name="connsiteY2" fmla="*/ 0 h 2414017"/>
                <a:gd name="connsiteX3" fmla="*/ 2526085 w 2526085"/>
                <a:gd name="connsiteY3" fmla="*/ 632765 h 2414017"/>
                <a:gd name="connsiteX4" fmla="*/ 2526085 w 2526085"/>
                <a:gd name="connsiteY4" fmla="*/ 632765 h 2414017"/>
                <a:gd name="connsiteX5" fmla="*/ 1893320 w 2526085"/>
                <a:gd name="connsiteY5" fmla="*/ 1265530 h 2414017"/>
                <a:gd name="connsiteX6" fmla="*/ 671682 w 2526085"/>
                <a:gd name="connsiteY6" fmla="*/ 1265530 h 2414017"/>
                <a:gd name="connsiteX7" fmla="*/ 134015 w 2526085"/>
                <a:gd name="connsiteY7" fmla="*/ 2414017 h 2414017"/>
                <a:gd name="connsiteX8" fmla="*/ 38917 w 2526085"/>
                <a:gd name="connsiteY8" fmla="*/ 632765 h 2414017"/>
                <a:gd name="connsiteX0" fmla="*/ 38917 w 2526085"/>
                <a:gd name="connsiteY0" fmla="*/ 632765 h 2414017"/>
                <a:gd name="connsiteX1" fmla="*/ 671682 w 2526085"/>
                <a:gd name="connsiteY1" fmla="*/ 0 h 2414017"/>
                <a:gd name="connsiteX2" fmla="*/ 1893320 w 2526085"/>
                <a:gd name="connsiteY2" fmla="*/ 0 h 2414017"/>
                <a:gd name="connsiteX3" fmla="*/ 2526085 w 2526085"/>
                <a:gd name="connsiteY3" fmla="*/ 632765 h 2414017"/>
                <a:gd name="connsiteX4" fmla="*/ 2526085 w 2526085"/>
                <a:gd name="connsiteY4" fmla="*/ 632765 h 2414017"/>
                <a:gd name="connsiteX5" fmla="*/ 1893320 w 2526085"/>
                <a:gd name="connsiteY5" fmla="*/ 1265530 h 2414017"/>
                <a:gd name="connsiteX6" fmla="*/ 671682 w 2526085"/>
                <a:gd name="connsiteY6" fmla="*/ 1265530 h 2414017"/>
                <a:gd name="connsiteX7" fmla="*/ 134015 w 2526085"/>
                <a:gd name="connsiteY7" fmla="*/ 2414017 h 2414017"/>
                <a:gd name="connsiteX8" fmla="*/ 38917 w 2526085"/>
                <a:gd name="connsiteY8" fmla="*/ 632765 h 2414017"/>
                <a:gd name="connsiteX0" fmla="*/ 38917 w 2526085"/>
                <a:gd name="connsiteY0" fmla="*/ 632765 h 2414017"/>
                <a:gd name="connsiteX1" fmla="*/ 671682 w 2526085"/>
                <a:gd name="connsiteY1" fmla="*/ 0 h 2414017"/>
                <a:gd name="connsiteX2" fmla="*/ 1893320 w 2526085"/>
                <a:gd name="connsiteY2" fmla="*/ 0 h 2414017"/>
                <a:gd name="connsiteX3" fmla="*/ 2526085 w 2526085"/>
                <a:gd name="connsiteY3" fmla="*/ 632765 h 2414017"/>
                <a:gd name="connsiteX4" fmla="*/ 2526085 w 2526085"/>
                <a:gd name="connsiteY4" fmla="*/ 632765 h 2414017"/>
                <a:gd name="connsiteX5" fmla="*/ 1893320 w 2526085"/>
                <a:gd name="connsiteY5" fmla="*/ 1265530 h 2414017"/>
                <a:gd name="connsiteX6" fmla="*/ 671682 w 2526085"/>
                <a:gd name="connsiteY6" fmla="*/ 1265530 h 2414017"/>
                <a:gd name="connsiteX7" fmla="*/ 134015 w 2526085"/>
                <a:gd name="connsiteY7" fmla="*/ 2414017 h 2414017"/>
                <a:gd name="connsiteX8" fmla="*/ 38917 w 2526085"/>
                <a:gd name="connsiteY8" fmla="*/ 632765 h 2414017"/>
                <a:gd name="connsiteX0" fmla="*/ 101443 w 2588611"/>
                <a:gd name="connsiteY0" fmla="*/ 632765 h 2428647"/>
                <a:gd name="connsiteX1" fmla="*/ 734208 w 2588611"/>
                <a:gd name="connsiteY1" fmla="*/ 0 h 2428647"/>
                <a:gd name="connsiteX2" fmla="*/ 1955846 w 2588611"/>
                <a:gd name="connsiteY2" fmla="*/ 0 h 2428647"/>
                <a:gd name="connsiteX3" fmla="*/ 2588611 w 2588611"/>
                <a:gd name="connsiteY3" fmla="*/ 632765 h 2428647"/>
                <a:gd name="connsiteX4" fmla="*/ 2588611 w 2588611"/>
                <a:gd name="connsiteY4" fmla="*/ 632765 h 2428647"/>
                <a:gd name="connsiteX5" fmla="*/ 1955846 w 2588611"/>
                <a:gd name="connsiteY5" fmla="*/ 1265530 h 2428647"/>
                <a:gd name="connsiteX6" fmla="*/ 734208 w 2588611"/>
                <a:gd name="connsiteY6" fmla="*/ 1265530 h 2428647"/>
                <a:gd name="connsiteX7" fmla="*/ 65084 w 2588611"/>
                <a:gd name="connsiteY7" fmla="*/ 2428647 h 2428647"/>
                <a:gd name="connsiteX8" fmla="*/ 101443 w 2588611"/>
                <a:gd name="connsiteY8" fmla="*/ 632765 h 2428647"/>
                <a:gd name="connsiteX0" fmla="*/ 63322 w 2550490"/>
                <a:gd name="connsiteY0" fmla="*/ 632765 h 2428647"/>
                <a:gd name="connsiteX1" fmla="*/ 696087 w 2550490"/>
                <a:gd name="connsiteY1" fmla="*/ 0 h 2428647"/>
                <a:gd name="connsiteX2" fmla="*/ 1917725 w 2550490"/>
                <a:gd name="connsiteY2" fmla="*/ 0 h 2428647"/>
                <a:gd name="connsiteX3" fmla="*/ 2550490 w 2550490"/>
                <a:gd name="connsiteY3" fmla="*/ 632765 h 2428647"/>
                <a:gd name="connsiteX4" fmla="*/ 2550490 w 2550490"/>
                <a:gd name="connsiteY4" fmla="*/ 632765 h 2428647"/>
                <a:gd name="connsiteX5" fmla="*/ 1917725 w 2550490"/>
                <a:gd name="connsiteY5" fmla="*/ 1265530 h 2428647"/>
                <a:gd name="connsiteX6" fmla="*/ 696087 w 2550490"/>
                <a:gd name="connsiteY6" fmla="*/ 1265530 h 2428647"/>
                <a:gd name="connsiteX7" fmla="*/ 26963 w 2550490"/>
                <a:gd name="connsiteY7" fmla="*/ 2428647 h 2428647"/>
                <a:gd name="connsiteX8" fmla="*/ 63322 w 2550490"/>
                <a:gd name="connsiteY8" fmla="*/ 632765 h 2428647"/>
                <a:gd name="connsiteX0" fmla="*/ 63322 w 2550490"/>
                <a:gd name="connsiteY0" fmla="*/ 632765 h 2428647"/>
                <a:gd name="connsiteX1" fmla="*/ 696087 w 2550490"/>
                <a:gd name="connsiteY1" fmla="*/ 0 h 2428647"/>
                <a:gd name="connsiteX2" fmla="*/ 1917725 w 2550490"/>
                <a:gd name="connsiteY2" fmla="*/ 0 h 2428647"/>
                <a:gd name="connsiteX3" fmla="*/ 2550490 w 2550490"/>
                <a:gd name="connsiteY3" fmla="*/ 632765 h 2428647"/>
                <a:gd name="connsiteX4" fmla="*/ 2550490 w 2550490"/>
                <a:gd name="connsiteY4" fmla="*/ 632765 h 2428647"/>
                <a:gd name="connsiteX5" fmla="*/ 1917725 w 2550490"/>
                <a:gd name="connsiteY5" fmla="*/ 1265530 h 2428647"/>
                <a:gd name="connsiteX6" fmla="*/ 696087 w 2550490"/>
                <a:gd name="connsiteY6" fmla="*/ 1265530 h 2428647"/>
                <a:gd name="connsiteX7" fmla="*/ 26963 w 2550490"/>
                <a:gd name="connsiteY7" fmla="*/ 2428647 h 2428647"/>
                <a:gd name="connsiteX8" fmla="*/ 63322 w 2550490"/>
                <a:gd name="connsiteY8" fmla="*/ 632765 h 2428647"/>
                <a:gd name="connsiteX0" fmla="*/ 48615 w 2581792"/>
                <a:gd name="connsiteY0" fmla="*/ 683972 h 2428647"/>
                <a:gd name="connsiteX1" fmla="*/ 727389 w 2581792"/>
                <a:gd name="connsiteY1" fmla="*/ 0 h 2428647"/>
                <a:gd name="connsiteX2" fmla="*/ 1949027 w 2581792"/>
                <a:gd name="connsiteY2" fmla="*/ 0 h 2428647"/>
                <a:gd name="connsiteX3" fmla="*/ 2581792 w 2581792"/>
                <a:gd name="connsiteY3" fmla="*/ 632765 h 2428647"/>
                <a:gd name="connsiteX4" fmla="*/ 2581792 w 2581792"/>
                <a:gd name="connsiteY4" fmla="*/ 632765 h 2428647"/>
                <a:gd name="connsiteX5" fmla="*/ 1949027 w 2581792"/>
                <a:gd name="connsiteY5" fmla="*/ 1265530 h 2428647"/>
                <a:gd name="connsiteX6" fmla="*/ 727389 w 2581792"/>
                <a:gd name="connsiteY6" fmla="*/ 1265530 h 2428647"/>
                <a:gd name="connsiteX7" fmla="*/ 58265 w 2581792"/>
                <a:gd name="connsiteY7" fmla="*/ 2428647 h 2428647"/>
                <a:gd name="connsiteX8" fmla="*/ 48615 w 2581792"/>
                <a:gd name="connsiteY8" fmla="*/ 683972 h 2428647"/>
                <a:gd name="connsiteX0" fmla="*/ 1 w 2533178"/>
                <a:gd name="connsiteY0" fmla="*/ 683972 h 2428647"/>
                <a:gd name="connsiteX1" fmla="*/ 678775 w 2533178"/>
                <a:gd name="connsiteY1" fmla="*/ 0 h 2428647"/>
                <a:gd name="connsiteX2" fmla="*/ 1900413 w 2533178"/>
                <a:gd name="connsiteY2" fmla="*/ 0 h 2428647"/>
                <a:gd name="connsiteX3" fmla="*/ 2533178 w 2533178"/>
                <a:gd name="connsiteY3" fmla="*/ 632765 h 2428647"/>
                <a:gd name="connsiteX4" fmla="*/ 2533178 w 2533178"/>
                <a:gd name="connsiteY4" fmla="*/ 632765 h 2428647"/>
                <a:gd name="connsiteX5" fmla="*/ 1900413 w 2533178"/>
                <a:gd name="connsiteY5" fmla="*/ 1265530 h 2428647"/>
                <a:gd name="connsiteX6" fmla="*/ 678775 w 2533178"/>
                <a:gd name="connsiteY6" fmla="*/ 1265530 h 2428647"/>
                <a:gd name="connsiteX7" fmla="*/ 9651 w 2533178"/>
                <a:gd name="connsiteY7" fmla="*/ 2428647 h 2428647"/>
                <a:gd name="connsiteX8" fmla="*/ 1 w 2533178"/>
                <a:gd name="connsiteY8" fmla="*/ 683972 h 2428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33178" h="2428647">
                  <a:moveTo>
                    <a:pt x="1" y="683972"/>
                  </a:moveTo>
                  <a:cubicBezTo>
                    <a:pt x="-216" y="191416"/>
                    <a:pt x="307363" y="21946"/>
                    <a:pt x="678775" y="0"/>
                  </a:cubicBezTo>
                  <a:lnTo>
                    <a:pt x="1900413" y="0"/>
                  </a:lnTo>
                  <a:cubicBezTo>
                    <a:pt x="2249879" y="0"/>
                    <a:pt x="2533178" y="283299"/>
                    <a:pt x="2533178" y="632765"/>
                  </a:cubicBezTo>
                  <a:lnTo>
                    <a:pt x="2533178" y="632765"/>
                  </a:lnTo>
                  <a:cubicBezTo>
                    <a:pt x="2533178" y="982231"/>
                    <a:pt x="2249879" y="1265530"/>
                    <a:pt x="1900413" y="1265530"/>
                  </a:cubicBezTo>
                  <a:lnTo>
                    <a:pt x="678775" y="1265530"/>
                  </a:lnTo>
                  <a:cubicBezTo>
                    <a:pt x="414818" y="1248461"/>
                    <a:pt x="58709" y="1751382"/>
                    <a:pt x="9651" y="2428647"/>
                  </a:cubicBezTo>
                  <a:cubicBezTo>
                    <a:pt x="2783" y="2250034"/>
                    <a:pt x="218" y="1176528"/>
                    <a:pt x="1" y="683972"/>
                  </a:cubicBezTo>
                  <a:close/>
                </a:path>
              </a:pathLst>
            </a:custGeom>
            <a:solidFill>
              <a:srgbClr val="002776"/>
            </a:solidFill>
            <a:ln w="1270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b="0" dirty="0" err="1" smtClean="0"/>
            </a:p>
          </p:txBody>
        </p:sp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77247" y="2874139"/>
              <a:ext cx="731520" cy="731520"/>
            </a:xfrm>
            <a:prstGeom prst="rect">
              <a:avLst/>
            </a:prstGeom>
          </p:spPr>
        </p:pic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29712" y="2874139"/>
              <a:ext cx="731520" cy="731520"/>
            </a:xfrm>
            <a:prstGeom prst="rect">
              <a:avLst/>
            </a:prstGeom>
          </p:spPr>
        </p:pic>
        <p:sp>
          <p:nvSpPr>
            <p:cNvPr id="14" name="Rectangle 13"/>
            <p:cNvSpPr/>
            <p:nvPr/>
          </p:nvSpPr>
          <p:spPr>
            <a:xfrm>
              <a:off x="2699450" y="2869267"/>
              <a:ext cx="1527588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000" dirty="0">
                  <a:solidFill>
                    <a:schemeClr val="bg1"/>
                  </a:solidFill>
                </a:rPr>
                <a:t>通过校友网络积极联系行业内校友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718569" y="4247744"/>
              <a:ext cx="1619116" cy="6001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</a:rPr>
                <a:t>This is dummy text it is not here to be read. This is dummy </a:t>
              </a:r>
              <a:r>
                <a:rPr lang="en-US" sz="1100" dirty="0" smtClean="0">
                  <a:solidFill>
                    <a:schemeClr val="bg1"/>
                  </a:solidFill>
                </a:rPr>
                <a:t>text.</a:t>
              </a:r>
              <a:endParaRPr lang="en-US" sz="1100" dirty="0">
                <a:solidFill>
                  <a:schemeClr val="bg1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4726971" y="3019108"/>
              <a:ext cx="1832458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zh-CN" altLang="en-US" sz="2000" dirty="0">
                  <a:solidFill>
                    <a:schemeClr val="bg1"/>
                  </a:solidFill>
                </a:rPr>
                <a:t>通过</a:t>
              </a:r>
              <a:r>
                <a:rPr lang="en-US" sz="2000" dirty="0" err="1">
                  <a:solidFill>
                    <a:schemeClr val="bg1"/>
                  </a:solidFill>
                </a:rPr>
                <a:t>linkedIn</a:t>
              </a:r>
              <a:r>
                <a:rPr lang="zh-CN" altLang="en-US" sz="2000" dirty="0">
                  <a:solidFill>
                    <a:schemeClr val="bg1"/>
                  </a:solidFill>
                </a:rPr>
                <a:t>等求职社交网站</a:t>
              </a:r>
              <a:endParaRPr 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4912670" y="4268255"/>
              <a:ext cx="1642110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zh-CN" altLang="en-US" sz="2000" dirty="0" smtClean="0">
                  <a:solidFill>
                    <a:schemeClr val="bg1"/>
                  </a:solidFill>
                </a:rPr>
                <a:t>与从业者</a:t>
              </a:r>
              <a:endParaRPr lang="en-US" altLang="zh-CN" sz="2000" dirty="0" smtClean="0">
                <a:solidFill>
                  <a:schemeClr val="bg1"/>
                </a:solidFill>
              </a:endParaRPr>
            </a:p>
            <a:p>
              <a:pPr algn="r"/>
              <a:r>
                <a:rPr lang="zh-CN" altLang="en-US" sz="2000" dirty="0" smtClean="0">
                  <a:solidFill>
                    <a:schemeClr val="bg1"/>
                  </a:solidFill>
                </a:rPr>
                <a:t>取得联系</a:t>
              </a:r>
              <a:endParaRPr 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18" name="Rounded Rectangle 23"/>
            <p:cNvSpPr/>
            <p:nvPr/>
          </p:nvSpPr>
          <p:spPr>
            <a:xfrm flipH="1">
              <a:off x="1755899" y="1327468"/>
              <a:ext cx="2819275" cy="2428647"/>
            </a:xfrm>
            <a:custGeom>
              <a:avLst/>
              <a:gdLst>
                <a:gd name="connsiteX0" fmla="*/ 0 w 2487168"/>
                <a:gd name="connsiteY0" fmla="*/ 632765 h 1265530"/>
                <a:gd name="connsiteX1" fmla="*/ 632765 w 2487168"/>
                <a:gd name="connsiteY1" fmla="*/ 0 h 1265530"/>
                <a:gd name="connsiteX2" fmla="*/ 1854403 w 2487168"/>
                <a:gd name="connsiteY2" fmla="*/ 0 h 1265530"/>
                <a:gd name="connsiteX3" fmla="*/ 2487168 w 2487168"/>
                <a:gd name="connsiteY3" fmla="*/ 632765 h 1265530"/>
                <a:gd name="connsiteX4" fmla="*/ 2487168 w 2487168"/>
                <a:gd name="connsiteY4" fmla="*/ 632765 h 1265530"/>
                <a:gd name="connsiteX5" fmla="*/ 1854403 w 2487168"/>
                <a:gd name="connsiteY5" fmla="*/ 1265530 h 1265530"/>
                <a:gd name="connsiteX6" fmla="*/ 632765 w 2487168"/>
                <a:gd name="connsiteY6" fmla="*/ 1265530 h 1265530"/>
                <a:gd name="connsiteX7" fmla="*/ 0 w 2487168"/>
                <a:gd name="connsiteY7" fmla="*/ 632765 h 1265530"/>
                <a:gd name="connsiteX0" fmla="*/ 10095 w 2497263"/>
                <a:gd name="connsiteY0" fmla="*/ 632765 h 1265530"/>
                <a:gd name="connsiteX1" fmla="*/ 642860 w 2497263"/>
                <a:gd name="connsiteY1" fmla="*/ 0 h 1265530"/>
                <a:gd name="connsiteX2" fmla="*/ 1864498 w 2497263"/>
                <a:gd name="connsiteY2" fmla="*/ 0 h 1265530"/>
                <a:gd name="connsiteX3" fmla="*/ 2497263 w 2497263"/>
                <a:gd name="connsiteY3" fmla="*/ 632765 h 1265530"/>
                <a:gd name="connsiteX4" fmla="*/ 2497263 w 2497263"/>
                <a:gd name="connsiteY4" fmla="*/ 632765 h 1265530"/>
                <a:gd name="connsiteX5" fmla="*/ 1864498 w 2497263"/>
                <a:gd name="connsiteY5" fmla="*/ 1265530 h 1265530"/>
                <a:gd name="connsiteX6" fmla="*/ 642860 w 2497263"/>
                <a:gd name="connsiteY6" fmla="*/ 1265530 h 1265530"/>
                <a:gd name="connsiteX7" fmla="*/ 280757 w 2497263"/>
                <a:gd name="connsiteY7" fmla="*/ 1163117 h 1265530"/>
                <a:gd name="connsiteX8" fmla="*/ 10095 w 2497263"/>
                <a:gd name="connsiteY8" fmla="*/ 632765 h 1265530"/>
                <a:gd name="connsiteX0" fmla="*/ 34828 w 2521996"/>
                <a:gd name="connsiteY0" fmla="*/ 632765 h 2216530"/>
                <a:gd name="connsiteX1" fmla="*/ 667593 w 2521996"/>
                <a:gd name="connsiteY1" fmla="*/ 0 h 2216530"/>
                <a:gd name="connsiteX2" fmla="*/ 1889231 w 2521996"/>
                <a:gd name="connsiteY2" fmla="*/ 0 h 2216530"/>
                <a:gd name="connsiteX3" fmla="*/ 2521996 w 2521996"/>
                <a:gd name="connsiteY3" fmla="*/ 632765 h 2216530"/>
                <a:gd name="connsiteX4" fmla="*/ 2521996 w 2521996"/>
                <a:gd name="connsiteY4" fmla="*/ 632765 h 2216530"/>
                <a:gd name="connsiteX5" fmla="*/ 1889231 w 2521996"/>
                <a:gd name="connsiteY5" fmla="*/ 1265530 h 2216530"/>
                <a:gd name="connsiteX6" fmla="*/ 667593 w 2521996"/>
                <a:gd name="connsiteY6" fmla="*/ 1265530 h 2216530"/>
                <a:gd name="connsiteX7" fmla="*/ 144556 w 2521996"/>
                <a:gd name="connsiteY7" fmla="*/ 2209191 h 2216530"/>
                <a:gd name="connsiteX8" fmla="*/ 34828 w 2521996"/>
                <a:gd name="connsiteY8" fmla="*/ 632765 h 2216530"/>
                <a:gd name="connsiteX0" fmla="*/ 38917 w 2526085"/>
                <a:gd name="connsiteY0" fmla="*/ 632765 h 2420235"/>
                <a:gd name="connsiteX1" fmla="*/ 671682 w 2526085"/>
                <a:gd name="connsiteY1" fmla="*/ 0 h 2420235"/>
                <a:gd name="connsiteX2" fmla="*/ 1893320 w 2526085"/>
                <a:gd name="connsiteY2" fmla="*/ 0 h 2420235"/>
                <a:gd name="connsiteX3" fmla="*/ 2526085 w 2526085"/>
                <a:gd name="connsiteY3" fmla="*/ 632765 h 2420235"/>
                <a:gd name="connsiteX4" fmla="*/ 2526085 w 2526085"/>
                <a:gd name="connsiteY4" fmla="*/ 632765 h 2420235"/>
                <a:gd name="connsiteX5" fmla="*/ 1893320 w 2526085"/>
                <a:gd name="connsiteY5" fmla="*/ 1265530 h 2420235"/>
                <a:gd name="connsiteX6" fmla="*/ 671682 w 2526085"/>
                <a:gd name="connsiteY6" fmla="*/ 1265530 h 2420235"/>
                <a:gd name="connsiteX7" fmla="*/ 134015 w 2526085"/>
                <a:gd name="connsiteY7" fmla="*/ 2414017 h 2420235"/>
                <a:gd name="connsiteX8" fmla="*/ 38917 w 2526085"/>
                <a:gd name="connsiteY8" fmla="*/ 632765 h 2420235"/>
                <a:gd name="connsiteX0" fmla="*/ 38917 w 2526085"/>
                <a:gd name="connsiteY0" fmla="*/ 632765 h 2414017"/>
                <a:gd name="connsiteX1" fmla="*/ 671682 w 2526085"/>
                <a:gd name="connsiteY1" fmla="*/ 0 h 2414017"/>
                <a:gd name="connsiteX2" fmla="*/ 1893320 w 2526085"/>
                <a:gd name="connsiteY2" fmla="*/ 0 h 2414017"/>
                <a:gd name="connsiteX3" fmla="*/ 2526085 w 2526085"/>
                <a:gd name="connsiteY3" fmla="*/ 632765 h 2414017"/>
                <a:gd name="connsiteX4" fmla="*/ 2526085 w 2526085"/>
                <a:gd name="connsiteY4" fmla="*/ 632765 h 2414017"/>
                <a:gd name="connsiteX5" fmla="*/ 1893320 w 2526085"/>
                <a:gd name="connsiteY5" fmla="*/ 1265530 h 2414017"/>
                <a:gd name="connsiteX6" fmla="*/ 671682 w 2526085"/>
                <a:gd name="connsiteY6" fmla="*/ 1265530 h 2414017"/>
                <a:gd name="connsiteX7" fmla="*/ 134015 w 2526085"/>
                <a:gd name="connsiteY7" fmla="*/ 2414017 h 2414017"/>
                <a:gd name="connsiteX8" fmla="*/ 38917 w 2526085"/>
                <a:gd name="connsiteY8" fmla="*/ 632765 h 2414017"/>
                <a:gd name="connsiteX0" fmla="*/ 38917 w 2526085"/>
                <a:gd name="connsiteY0" fmla="*/ 632765 h 2414017"/>
                <a:gd name="connsiteX1" fmla="*/ 671682 w 2526085"/>
                <a:gd name="connsiteY1" fmla="*/ 0 h 2414017"/>
                <a:gd name="connsiteX2" fmla="*/ 1893320 w 2526085"/>
                <a:gd name="connsiteY2" fmla="*/ 0 h 2414017"/>
                <a:gd name="connsiteX3" fmla="*/ 2526085 w 2526085"/>
                <a:gd name="connsiteY3" fmla="*/ 632765 h 2414017"/>
                <a:gd name="connsiteX4" fmla="*/ 2526085 w 2526085"/>
                <a:gd name="connsiteY4" fmla="*/ 632765 h 2414017"/>
                <a:gd name="connsiteX5" fmla="*/ 1893320 w 2526085"/>
                <a:gd name="connsiteY5" fmla="*/ 1265530 h 2414017"/>
                <a:gd name="connsiteX6" fmla="*/ 671682 w 2526085"/>
                <a:gd name="connsiteY6" fmla="*/ 1265530 h 2414017"/>
                <a:gd name="connsiteX7" fmla="*/ 134015 w 2526085"/>
                <a:gd name="connsiteY7" fmla="*/ 2414017 h 2414017"/>
                <a:gd name="connsiteX8" fmla="*/ 38917 w 2526085"/>
                <a:gd name="connsiteY8" fmla="*/ 632765 h 2414017"/>
                <a:gd name="connsiteX0" fmla="*/ 38917 w 2526085"/>
                <a:gd name="connsiteY0" fmla="*/ 632765 h 2414017"/>
                <a:gd name="connsiteX1" fmla="*/ 671682 w 2526085"/>
                <a:gd name="connsiteY1" fmla="*/ 0 h 2414017"/>
                <a:gd name="connsiteX2" fmla="*/ 1893320 w 2526085"/>
                <a:gd name="connsiteY2" fmla="*/ 0 h 2414017"/>
                <a:gd name="connsiteX3" fmla="*/ 2526085 w 2526085"/>
                <a:gd name="connsiteY3" fmla="*/ 632765 h 2414017"/>
                <a:gd name="connsiteX4" fmla="*/ 2526085 w 2526085"/>
                <a:gd name="connsiteY4" fmla="*/ 632765 h 2414017"/>
                <a:gd name="connsiteX5" fmla="*/ 1893320 w 2526085"/>
                <a:gd name="connsiteY5" fmla="*/ 1265530 h 2414017"/>
                <a:gd name="connsiteX6" fmla="*/ 671682 w 2526085"/>
                <a:gd name="connsiteY6" fmla="*/ 1265530 h 2414017"/>
                <a:gd name="connsiteX7" fmla="*/ 134015 w 2526085"/>
                <a:gd name="connsiteY7" fmla="*/ 2414017 h 2414017"/>
                <a:gd name="connsiteX8" fmla="*/ 38917 w 2526085"/>
                <a:gd name="connsiteY8" fmla="*/ 632765 h 2414017"/>
                <a:gd name="connsiteX0" fmla="*/ 101443 w 2588611"/>
                <a:gd name="connsiteY0" fmla="*/ 632765 h 2428647"/>
                <a:gd name="connsiteX1" fmla="*/ 734208 w 2588611"/>
                <a:gd name="connsiteY1" fmla="*/ 0 h 2428647"/>
                <a:gd name="connsiteX2" fmla="*/ 1955846 w 2588611"/>
                <a:gd name="connsiteY2" fmla="*/ 0 h 2428647"/>
                <a:gd name="connsiteX3" fmla="*/ 2588611 w 2588611"/>
                <a:gd name="connsiteY3" fmla="*/ 632765 h 2428647"/>
                <a:gd name="connsiteX4" fmla="*/ 2588611 w 2588611"/>
                <a:gd name="connsiteY4" fmla="*/ 632765 h 2428647"/>
                <a:gd name="connsiteX5" fmla="*/ 1955846 w 2588611"/>
                <a:gd name="connsiteY5" fmla="*/ 1265530 h 2428647"/>
                <a:gd name="connsiteX6" fmla="*/ 734208 w 2588611"/>
                <a:gd name="connsiteY6" fmla="*/ 1265530 h 2428647"/>
                <a:gd name="connsiteX7" fmla="*/ 65084 w 2588611"/>
                <a:gd name="connsiteY7" fmla="*/ 2428647 h 2428647"/>
                <a:gd name="connsiteX8" fmla="*/ 101443 w 2588611"/>
                <a:gd name="connsiteY8" fmla="*/ 632765 h 2428647"/>
                <a:gd name="connsiteX0" fmla="*/ 63322 w 2550490"/>
                <a:gd name="connsiteY0" fmla="*/ 632765 h 2428647"/>
                <a:gd name="connsiteX1" fmla="*/ 696087 w 2550490"/>
                <a:gd name="connsiteY1" fmla="*/ 0 h 2428647"/>
                <a:gd name="connsiteX2" fmla="*/ 1917725 w 2550490"/>
                <a:gd name="connsiteY2" fmla="*/ 0 h 2428647"/>
                <a:gd name="connsiteX3" fmla="*/ 2550490 w 2550490"/>
                <a:gd name="connsiteY3" fmla="*/ 632765 h 2428647"/>
                <a:gd name="connsiteX4" fmla="*/ 2550490 w 2550490"/>
                <a:gd name="connsiteY4" fmla="*/ 632765 h 2428647"/>
                <a:gd name="connsiteX5" fmla="*/ 1917725 w 2550490"/>
                <a:gd name="connsiteY5" fmla="*/ 1265530 h 2428647"/>
                <a:gd name="connsiteX6" fmla="*/ 696087 w 2550490"/>
                <a:gd name="connsiteY6" fmla="*/ 1265530 h 2428647"/>
                <a:gd name="connsiteX7" fmla="*/ 26963 w 2550490"/>
                <a:gd name="connsiteY7" fmla="*/ 2428647 h 2428647"/>
                <a:gd name="connsiteX8" fmla="*/ 63322 w 2550490"/>
                <a:gd name="connsiteY8" fmla="*/ 632765 h 2428647"/>
                <a:gd name="connsiteX0" fmla="*/ 63322 w 2550490"/>
                <a:gd name="connsiteY0" fmla="*/ 632765 h 2428647"/>
                <a:gd name="connsiteX1" fmla="*/ 696087 w 2550490"/>
                <a:gd name="connsiteY1" fmla="*/ 0 h 2428647"/>
                <a:gd name="connsiteX2" fmla="*/ 1917725 w 2550490"/>
                <a:gd name="connsiteY2" fmla="*/ 0 h 2428647"/>
                <a:gd name="connsiteX3" fmla="*/ 2550490 w 2550490"/>
                <a:gd name="connsiteY3" fmla="*/ 632765 h 2428647"/>
                <a:gd name="connsiteX4" fmla="*/ 2550490 w 2550490"/>
                <a:gd name="connsiteY4" fmla="*/ 632765 h 2428647"/>
                <a:gd name="connsiteX5" fmla="*/ 1917725 w 2550490"/>
                <a:gd name="connsiteY5" fmla="*/ 1265530 h 2428647"/>
                <a:gd name="connsiteX6" fmla="*/ 696087 w 2550490"/>
                <a:gd name="connsiteY6" fmla="*/ 1265530 h 2428647"/>
                <a:gd name="connsiteX7" fmla="*/ 26963 w 2550490"/>
                <a:gd name="connsiteY7" fmla="*/ 2428647 h 2428647"/>
                <a:gd name="connsiteX8" fmla="*/ 63322 w 2550490"/>
                <a:gd name="connsiteY8" fmla="*/ 632765 h 2428647"/>
                <a:gd name="connsiteX0" fmla="*/ 48615 w 2581792"/>
                <a:gd name="connsiteY0" fmla="*/ 683972 h 2428647"/>
                <a:gd name="connsiteX1" fmla="*/ 727389 w 2581792"/>
                <a:gd name="connsiteY1" fmla="*/ 0 h 2428647"/>
                <a:gd name="connsiteX2" fmla="*/ 1949027 w 2581792"/>
                <a:gd name="connsiteY2" fmla="*/ 0 h 2428647"/>
                <a:gd name="connsiteX3" fmla="*/ 2581792 w 2581792"/>
                <a:gd name="connsiteY3" fmla="*/ 632765 h 2428647"/>
                <a:gd name="connsiteX4" fmla="*/ 2581792 w 2581792"/>
                <a:gd name="connsiteY4" fmla="*/ 632765 h 2428647"/>
                <a:gd name="connsiteX5" fmla="*/ 1949027 w 2581792"/>
                <a:gd name="connsiteY5" fmla="*/ 1265530 h 2428647"/>
                <a:gd name="connsiteX6" fmla="*/ 727389 w 2581792"/>
                <a:gd name="connsiteY6" fmla="*/ 1265530 h 2428647"/>
                <a:gd name="connsiteX7" fmla="*/ 58265 w 2581792"/>
                <a:gd name="connsiteY7" fmla="*/ 2428647 h 2428647"/>
                <a:gd name="connsiteX8" fmla="*/ 48615 w 2581792"/>
                <a:gd name="connsiteY8" fmla="*/ 683972 h 2428647"/>
                <a:gd name="connsiteX0" fmla="*/ 1 w 2533178"/>
                <a:gd name="connsiteY0" fmla="*/ 683972 h 2428647"/>
                <a:gd name="connsiteX1" fmla="*/ 678775 w 2533178"/>
                <a:gd name="connsiteY1" fmla="*/ 0 h 2428647"/>
                <a:gd name="connsiteX2" fmla="*/ 1900413 w 2533178"/>
                <a:gd name="connsiteY2" fmla="*/ 0 h 2428647"/>
                <a:gd name="connsiteX3" fmla="*/ 2533178 w 2533178"/>
                <a:gd name="connsiteY3" fmla="*/ 632765 h 2428647"/>
                <a:gd name="connsiteX4" fmla="*/ 2533178 w 2533178"/>
                <a:gd name="connsiteY4" fmla="*/ 632765 h 2428647"/>
                <a:gd name="connsiteX5" fmla="*/ 1900413 w 2533178"/>
                <a:gd name="connsiteY5" fmla="*/ 1265530 h 2428647"/>
                <a:gd name="connsiteX6" fmla="*/ 678775 w 2533178"/>
                <a:gd name="connsiteY6" fmla="*/ 1265530 h 2428647"/>
                <a:gd name="connsiteX7" fmla="*/ 9651 w 2533178"/>
                <a:gd name="connsiteY7" fmla="*/ 2428647 h 2428647"/>
                <a:gd name="connsiteX8" fmla="*/ 1 w 2533178"/>
                <a:gd name="connsiteY8" fmla="*/ 683972 h 2428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33178" h="2428647">
                  <a:moveTo>
                    <a:pt x="1" y="683972"/>
                  </a:moveTo>
                  <a:cubicBezTo>
                    <a:pt x="-216" y="191416"/>
                    <a:pt x="307363" y="21946"/>
                    <a:pt x="678775" y="0"/>
                  </a:cubicBezTo>
                  <a:lnTo>
                    <a:pt x="1900413" y="0"/>
                  </a:lnTo>
                  <a:cubicBezTo>
                    <a:pt x="2249879" y="0"/>
                    <a:pt x="2533178" y="283299"/>
                    <a:pt x="2533178" y="632765"/>
                  </a:cubicBezTo>
                  <a:lnTo>
                    <a:pt x="2533178" y="632765"/>
                  </a:lnTo>
                  <a:cubicBezTo>
                    <a:pt x="2533178" y="982231"/>
                    <a:pt x="2249879" y="1265530"/>
                    <a:pt x="1900413" y="1265530"/>
                  </a:cubicBezTo>
                  <a:lnTo>
                    <a:pt x="678775" y="1265530"/>
                  </a:lnTo>
                  <a:cubicBezTo>
                    <a:pt x="414818" y="1248461"/>
                    <a:pt x="58709" y="1751382"/>
                    <a:pt x="9651" y="2428647"/>
                  </a:cubicBezTo>
                  <a:cubicBezTo>
                    <a:pt x="2783" y="2250034"/>
                    <a:pt x="218" y="1176528"/>
                    <a:pt x="1" y="683972"/>
                  </a:cubicBezTo>
                  <a:close/>
                </a:path>
              </a:pathLst>
            </a:custGeom>
            <a:solidFill>
              <a:srgbClr val="8C8C8C"/>
            </a:solidFill>
            <a:ln w="1270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b="0" dirty="0" err="1" smtClean="0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2699450" y="1609858"/>
              <a:ext cx="1527588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000" dirty="0">
                  <a:solidFill>
                    <a:schemeClr val="bg1"/>
                  </a:solidFill>
                </a:rPr>
                <a:t>使用学校就业服务中心的资源</a:t>
              </a:r>
            </a:p>
          </p:txBody>
        </p:sp>
        <p:pic>
          <p:nvPicPr>
            <p:cNvPr id="20" name="Picture 19" descr="33.emf"/>
            <p:cNvPicPr>
              <a:picLocks noChangeAspect="1"/>
            </p:cNvPicPr>
            <p:nvPr/>
          </p:nvPicPr>
          <p:blipFill>
            <a:blip r:embed="rId5">
              <a:biLevel thresh="25000"/>
            </a:blip>
            <a:stretch>
              <a:fillRect/>
            </a:stretch>
          </p:blipFill>
          <p:spPr>
            <a:xfrm>
              <a:off x="2004766" y="1609858"/>
              <a:ext cx="588968" cy="545742"/>
            </a:xfrm>
            <a:prstGeom prst="rect">
              <a:avLst/>
            </a:prstGeom>
          </p:spPr>
        </p:pic>
        <p:grpSp>
          <p:nvGrpSpPr>
            <p:cNvPr id="21" name="Group 20"/>
            <p:cNvGrpSpPr/>
            <p:nvPr/>
          </p:nvGrpSpPr>
          <p:grpSpPr>
            <a:xfrm>
              <a:off x="6716966" y="4270369"/>
              <a:ext cx="514936" cy="522541"/>
              <a:chOff x="7775298" y="4300210"/>
              <a:chExt cx="340038" cy="345060"/>
            </a:xfrm>
          </p:grpSpPr>
          <p:pic>
            <p:nvPicPr>
              <p:cNvPr id="22" name="Picture 3" descr="C:\Users\kknight\Desktop\cog icon.png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82024" y="4300210"/>
                <a:ext cx="231650" cy="22677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3" name="Picture 3" descr="C:\Users\kknight\Desktop\cog icon.png"/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75298" y="4529287"/>
                <a:ext cx="118477" cy="11598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4" name="Picture 3" descr="C:\Users\kknight\Desktop\cog icon.png"/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767128">
                <a:off x="7899965" y="4509191"/>
                <a:ext cx="118477" cy="11598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5" name="Picture 3" descr="C:\Users\kknight\Desktop\cog icon.png"/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96859" y="4435799"/>
                <a:ext cx="118477" cy="11598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295481213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sz="3000" dirty="0" smtClean="0">
                <a:solidFill>
                  <a:srgbClr val="81BC00"/>
                </a:solidFill>
              </a:rPr>
              <a:t>美国工作签证及移民</a:t>
            </a:r>
            <a:r>
              <a:rPr lang="en-US" sz="3000" b="0" dirty="0" smtClean="0">
                <a:solidFill>
                  <a:srgbClr val="81BC00"/>
                </a:solidFill>
              </a:rPr>
              <a:t/>
            </a:r>
            <a:br>
              <a:rPr lang="en-US" sz="3000" b="0" dirty="0" smtClean="0">
                <a:solidFill>
                  <a:srgbClr val="81BC00"/>
                </a:solidFill>
              </a:rPr>
            </a:br>
            <a:endParaRPr lang="en-US" sz="3000" b="0" dirty="0" smtClean="0">
              <a:solidFill>
                <a:srgbClr val="575757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20</a:t>
            </a:fld>
            <a:endParaRPr lang="en-GB" dirty="0"/>
          </a:p>
        </p:txBody>
      </p:sp>
      <p:grpSp>
        <p:nvGrpSpPr>
          <p:cNvPr id="6" name="Group 5"/>
          <p:cNvGrpSpPr/>
          <p:nvPr/>
        </p:nvGrpSpPr>
        <p:grpSpPr>
          <a:xfrm>
            <a:off x="685800" y="1566510"/>
            <a:ext cx="1512168" cy="3092012"/>
            <a:chOff x="2392362" y="2609093"/>
            <a:chExt cx="1512168" cy="3092012"/>
          </a:xfrm>
        </p:grpSpPr>
        <p:sp>
          <p:nvSpPr>
            <p:cNvPr id="7" name="Diagonal Stripe 6"/>
            <p:cNvSpPr/>
            <p:nvPr/>
          </p:nvSpPr>
          <p:spPr>
            <a:xfrm>
              <a:off x="2392362" y="4188937"/>
              <a:ext cx="1512168" cy="1512168"/>
            </a:xfrm>
            <a:prstGeom prst="diagStripe">
              <a:avLst/>
            </a:prstGeom>
            <a:solidFill>
              <a:schemeClr val="bg2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8" name="Diagonal Stripe 7"/>
            <p:cNvSpPr/>
            <p:nvPr/>
          </p:nvSpPr>
          <p:spPr>
            <a:xfrm flipV="1">
              <a:off x="2392362" y="2609093"/>
              <a:ext cx="1512168" cy="1512168"/>
            </a:xfrm>
            <a:prstGeom prst="diagStripe">
              <a:avLst/>
            </a:prstGeom>
            <a:solidFill>
              <a:schemeClr val="bg2">
                <a:lumMod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no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4724400" y="1566510"/>
            <a:ext cx="1512168" cy="3092012"/>
            <a:chOff x="3796619" y="2609093"/>
            <a:chExt cx="1512168" cy="3092012"/>
          </a:xfrm>
        </p:grpSpPr>
        <p:sp>
          <p:nvSpPr>
            <p:cNvPr id="10" name="Diagonal Stripe 9"/>
            <p:cNvSpPr/>
            <p:nvPr/>
          </p:nvSpPr>
          <p:spPr>
            <a:xfrm>
              <a:off x="3796619" y="4188937"/>
              <a:ext cx="1512168" cy="1512168"/>
            </a:xfrm>
            <a:prstGeom prst="diagStripe">
              <a:avLst/>
            </a:prstGeom>
            <a:solidFill>
              <a:srgbClr val="002776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1" name="Diagonal Stripe 10"/>
            <p:cNvSpPr/>
            <p:nvPr/>
          </p:nvSpPr>
          <p:spPr>
            <a:xfrm flipV="1">
              <a:off x="3796619" y="2609093"/>
              <a:ext cx="1512168" cy="1512168"/>
            </a:xfrm>
            <a:prstGeom prst="diagStripe">
              <a:avLst/>
            </a:prstGeom>
            <a:solidFill>
              <a:srgbClr val="72C7E7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sp>
        <p:nvSpPr>
          <p:cNvPr id="12" name="Rectangle 11"/>
          <p:cNvSpPr/>
          <p:nvPr/>
        </p:nvSpPr>
        <p:spPr>
          <a:xfrm>
            <a:off x="2206125" y="3639256"/>
            <a:ext cx="3300161" cy="4462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200" b="1" dirty="0">
                <a:solidFill>
                  <a:srgbClr val="575757"/>
                </a:solidFill>
              </a:rPr>
              <a:t>CPT / OPT</a:t>
            </a:r>
            <a:r>
              <a:rPr lang="zh-CN" altLang="en-US" sz="1200" b="1" dirty="0">
                <a:solidFill>
                  <a:srgbClr val="575757"/>
                </a:solidFill>
              </a:rPr>
              <a:t>的选择</a:t>
            </a:r>
          </a:p>
          <a:p>
            <a:pPr>
              <a:spcAft>
                <a:spcPts val="600"/>
              </a:spcAft>
            </a:pPr>
            <a:r>
              <a:rPr lang="en-US" sz="1200" dirty="0" smtClean="0">
                <a:solidFill>
                  <a:srgbClr val="575757"/>
                </a:solidFill>
              </a:rPr>
              <a:t>. </a:t>
            </a:r>
            <a:endParaRPr lang="en-US" sz="1200" dirty="0">
              <a:solidFill>
                <a:srgbClr val="575757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236568" y="3651308"/>
            <a:ext cx="2450232" cy="9694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200" b="1" dirty="0">
                <a:solidFill>
                  <a:schemeClr val="accent1"/>
                </a:solidFill>
              </a:rPr>
              <a:t>OPT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200" b="1" dirty="0" smtClean="0">
                <a:solidFill>
                  <a:schemeClr val="accent1"/>
                </a:solidFill>
              </a:rPr>
              <a:t>STEM </a:t>
            </a:r>
            <a:r>
              <a:rPr lang="zh-CN" altLang="en-US" sz="1200" b="1" dirty="0">
                <a:solidFill>
                  <a:schemeClr val="accent1"/>
                </a:solidFill>
              </a:rPr>
              <a:t>的重要性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200" b="1" dirty="0" smtClean="0">
                <a:solidFill>
                  <a:schemeClr val="accent1"/>
                </a:solidFill>
              </a:rPr>
              <a:t>H1b</a:t>
            </a:r>
            <a:r>
              <a:rPr lang="zh-CN" altLang="en-US" sz="1200" b="1" dirty="0">
                <a:solidFill>
                  <a:schemeClr val="accent1"/>
                </a:solidFill>
              </a:rPr>
              <a:t>签证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200" b="1" dirty="0" smtClean="0">
                <a:solidFill>
                  <a:schemeClr val="accent1"/>
                </a:solidFill>
              </a:rPr>
              <a:t>EB2</a:t>
            </a:r>
            <a:r>
              <a:rPr lang="zh-CN" altLang="en-US" sz="1200" b="1" dirty="0">
                <a:solidFill>
                  <a:schemeClr val="accent1"/>
                </a:solidFill>
              </a:rPr>
              <a:t>绿卡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06125" y="2602553"/>
            <a:ext cx="1993032" cy="442035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zh-CN" altLang="en-US" sz="2400" b="1" dirty="0" smtClean="0">
                <a:solidFill>
                  <a:srgbClr val="575757"/>
                </a:solidFill>
              </a:rPr>
              <a:t>在校期间</a:t>
            </a:r>
            <a:endParaRPr lang="en-US" sz="2400" b="1" dirty="0" smtClean="0">
              <a:solidFill>
                <a:srgbClr val="575757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10198" y="2602553"/>
            <a:ext cx="1462202" cy="442035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zh-CN" altLang="en-US" sz="2400" b="1" dirty="0" smtClean="0">
                <a:solidFill>
                  <a:schemeClr val="accent1"/>
                </a:solidFill>
              </a:rPr>
              <a:t>毕业后</a:t>
            </a:r>
            <a:endParaRPr lang="en-US" sz="2400" b="1" dirty="0" smtClean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65947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200" y="2743200"/>
            <a:ext cx="7538913" cy="609600"/>
          </a:xfrm>
        </p:spPr>
        <p:txBody>
          <a:bodyPr>
            <a:noAutofit/>
          </a:bodyPr>
          <a:lstStyle/>
          <a:p>
            <a:pPr marL="0" lvl="1" indent="0" algn="ctr">
              <a:spcBef>
                <a:spcPts val="1800"/>
              </a:spcBef>
              <a:buNone/>
            </a:pPr>
            <a:r>
              <a:rPr lang="en-US" altLang="zh-CN" sz="4000" dirty="0" smtClean="0"/>
              <a:t>Thank You</a:t>
            </a:r>
            <a:r>
              <a:rPr lang="zh-CN" altLang="en-US" sz="4000" dirty="0"/>
              <a:t/>
            </a:r>
            <a:br>
              <a:rPr lang="zh-CN" altLang="en-US" sz="4000" dirty="0"/>
            </a:br>
            <a:endParaRPr lang="en-US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21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1967299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fToHIAxeUCN409zUPYAyA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hlDkolMcUKGgzeSx1HDx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143N_eBf0ehaw0dhb2zw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DS9h7DZN0G3q8RFX9VYQg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gsvafSJW0CLJCHMAKvKdw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506</TotalTime>
  <Words>1790</Words>
  <Application>Microsoft Office PowerPoint</Application>
  <PresentationFormat>On-screen Show (4:3)</PresentationFormat>
  <Paragraphs>253</Paragraphs>
  <Slides>21</Slides>
  <Notes>18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量化金融专业职业发展指导 </vt:lpstr>
      <vt:lpstr>Contents</vt:lpstr>
      <vt:lpstr>讲师个人背景  教育经历</vt:lpstr>
      <vt:lpstr>讲师个人背景  工作经历</vt:lpstr>
      <vt:lpstr>量化金融行业就业前景 </vt:lpstr>
      <vt:lpstr>量化金融行业概况 什么是量化金融（计量金融学、数学金融学）</vt:lpstr>
      <vt:lpstr>量化金融行业概况 1.交易策略研究</vt:lpstr>
      <vt:lpstr>量化金融行业概况 2.衍生品定价</vt:lpstr>
      <vt:lpstr>量化金融行业概况 3. 风险管理</vt:lpstr>
      <vt:lpstr>量化金融行业概况 4.高频交易</vt:lpstr>
      <vt:lpstr>Quant的职业发展  </vt:lpstr>
      <vt:lpstr>Quant的职业发展  1. Quant是做什么的？ </vt:lpstr>
      <vt:lpstr>Quant的职业发展  2.有哪几种Quant ？  </vt:lpstr>
      <vt:lpstr>Quant的职业发展  3. Quant工作的领域？</vt:lpstr>
      <vt:lpstr>Quant的职业发展  4. Quant一般在哪些公司工作？</vt:lpstr>
      <vt:lpstr>Quant的职业发展 5. 成为一个Quant需要哪些知？  </vt:lpstr>
      <vt:lpstr>就业准备 针对大学期间的准备</vt:lpstr>
      <vt:lpstr>就业准备 了解美国求职的时间表</vt:lpstr>
      <vt:lpstr>就业准备 如何有效寻找暑期实习</vt:lpstr>
      <vt:lpstr>美国工作签证及移民 </vt:lpstr>
      <vt:lpstr>PowerPoint Presentation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Lien Chen</dc:creator>
  <cp:lastModifiedBy>Lien Chen</cp:lastModifiedBy>
  <cp:revision>35</cp:revision>
  <dcterms:created xsi:type="dcterms:W3CDTF">2016-04-18T14:34:02Z</dcterms:created>
  <dcterms:modified xsi:type="dcterms:W3CDTF">2016-04-28T21:56:31Z</dcterms:modified>
</cp:coreProperties>
</file>