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8"/>
  </p:notesMasterIdLst>
  <p:handoutMasterIdLst>
    <p:handoutMasterId r:id="rId19"/>
  </p:handoutMasterIdLst>
  <p:sldIdLst>
    <p:sldId id="632" r:id="rId16"/>
    <p:sldId id="633" r:id="rId17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38" d="100"/>
          <a:sy n="138" d="100"/>
        </p:scale>
        <p:origin x="-102" y="-16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Refi%20Universe%20as%20Function%20of%20Mtg%20Rate%20-%202018%20vs%202017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800" b="0" i="0" u="none" strike="noStrike" baseline="0" dirty="0" smtClean="0">
                <a:effectLst/>
              </a:rPr>
              <a:t>Refinanceable Universe As Function Of Mortgage Rates </a:t>
            </a:r>
            <a:endParaRPr lang="en-US" dirty="0"/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Sheet2!$C$1</c:f>
              <c:strCache>
                <c:ptCount val="1"/>
                <c:pt idx="0">
                  <c:v>4/10/2018</c:v>
                </c:pt>
              </c:strCache>
            </c:strRef>
          </c:tx>
          <c:marker>
            <c:symbol val="none"/>
          </c:marker>
          <c:dPt>
            <c:idx val="7"/>
            <c:marker>
              <c:symbol val="circle"/>
              <c:size val="6"/>
              <c:spPr>
                <a:solidFill>
                  <a:schemeClr val="accent1"/>
                </a:solidFill>
              </c:spPr>
            </c:marker>
            <c:bubble3D val="0"/>
          </c:dPt>
          <c:dLbls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Apr.2018</a:t>
                    </a:r>
                    <a:r>
                      <a:rPr lang="en-US" baseline="0"/>
                      <a:t>, </a:t>
                    </a:r>
                    <a:r>
                      <a:rPr lang="en-US"/>
                      <a:t>4.30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t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numRef>
              <c:f>Sheet2!$B$2:$B$26</c:f>
              <c:numCache>
                <c:formatCode>0.00</c:formatCode>
                <c:ptCount val="25"/>
                <c:pt idx="0">
                  <c:v>2.9</c:v>
                </c:pt>
                <c:pt idx="1">
                  <c:v>3</c:v>
                </c:pt>
                <c:pt idx="2">
                  <c:v>3.1</c:v>
                </c:pt>
                <c:pt idx="3">
                  <c:v>3.2</c:v>
                </c:pt>
                <c:pt idx="4">
                  <c:v>3.3</c:v>
                </c:pt>
                <c:pt idx="5">
                  <c:v>3.4</c:v>
                </c:pt>
                <c:pt idx="6">
                  <c:v>3.5</c:v>
                </c:pt>
                <c:pt idx="7">
                  <c:v>3.6</c:v>
                </c:pt>
                <c:pt idx="8">
                  <c:v>3.7</c:v>
                </c:pt>
                <c:pt idx="9">
                  <c:v>3.8</c:v>
                </c:pt>
                <c:pt idx="10">
                  <c:v>3.9</c:v>
                </c:pt>
                <c:pt idx="11">
                  <c:v>4</c:v>
                </c:pt>
                <c:pt idx="12">
                  <c:v>4.0999999999999996</c:v>
                </c:pt>
                <c:pt idx="13">
                  <c:v>4.2</c:v>
                </c:pt>
                <c:pt idx="14">
                  <c:v>4.3</c:v>
                </c:pt>
                <c:pt idx="15">
                  <c:v>4.4000000000000004</c:v>
                </c:pt>
                <c:pt idx="16">
                  <c:v>4.5</c:v>
                </c:pt>
                <c:pt idx="17">
                  <c:v>4.5999999999999996</c:v>
                </c:pt>
                <c:pt idx="18">
                  <c:v>4.7</c:v>
                </c:pt>
                <c:pt idx="19">
                  <c:v>4.8</c:v>
                </c:pt>
                <c:pt idx="20">
                  <c:v>4.9000000000000004</c:v>
                </c:pt>
                <c:pt idx="21">
                  <c:v>5</c:v>
                </c:pt>
                <c:pt idx="22">
                  <c:v>5.0999999999999996</c:v>
                </c:pt>
                <c:pt idx="23">
                  <c:v>5.2</c:v>
                </c:pt>
                <c:pt idx="24">
                  <c:v>5.3</c:v>
                </c:pt>
              </c:numCache>
            </c:numRef>
          </c:cat>
          <c:val>
            <c:numRef>
              <c:f>Sheet2!$C$2:$C$26</c:f>
              <c:numCache>
                <c:formatCode>General</c:formatCode>
                <c:ptCount val="25"/>
                <c:pt idx="4" formatCode="0%">
                  <c:v>0.22707508816960154</c:v>
                </c:pt>
                <c:pt idx="6" formatCode="0%">
                  <c:v>0.14694385458793083</c:v>
                </c:pt>
                <c:pt idx="8" formatCode="0%">
                  <c:v>9.8638526733580215E-3</c:v>
                </c:pt>
                <c:pt idx="10" formatCode="0%">
                  <c:v>1.3596940266462001E-3</c:v>
                </c:pt>
                <c:pt idx="12" formatCode="0%">
                  <c:v>1.7514767292555912E-4</c:v>
                </c:pt>
                <c:pt idx="14" formatCode="0%">
                  <c:v>0</c:v>
                </c:pt>
                <c:pt idx="16" formatCode="0%">
                  <c:v>0</c:v>
                </c:pt>
                <c:pt idx="18" formatCode="0%">
                  <c:v>0</c:v>
                </c:pt>
                <c:pt idx="20" formatCode="0%">
                  <c:v>0</c:v>
                </c:pt>
                <c:pt idx="22" formatCode="0%">
                  <c:v>0</c:v>
                </c:pt>
                <c:pt idx="24" formatCode="0%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Sheet2!$D$1</c:f>
              <c:strCache>
                <c:ptCount val="1"/>
                <c:pt idx="0">
                  <c:v>1/10/2018</c:v>
                </c:pt>
              </c:strCache>
            </c:strRef>
          </c:tx>
          <c:marker>
            <c:symbol val="none"/>
          </c:marker>
          <c:dPt>
            <c:idx val="5"/>
            <c:marker>
              <c:symbol val="circle"/>
              <c:size val="6"/>
              <c:spPr>
                <a:solidFill>
                  <a:srgbClr val="C00000"/>
                </a:solidFill>
              </c:spPr>
            </c:marker>
            <c:bubble3D val="0"/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Jan 2018, 3.94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t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numRef>
              <c:f>Sheet2!$B$2:$B$26</c:f>
              <c:numCache>
                <c:formatCode>0.00</c:formatCode>
                <c:ptCount val="25"/>
                <c:pt idx="0">
                  <c:v>2.9</c:v>
                </c:pt>
                <c:pt idx="1">
                  <c:v>3</c:v>
                </c:pt>
                <c:pt idx="2">
                  <c:v>3.1</c:v>
                </c:pt>
                <c:pt idx="3">
                  <c:v>3.2</c:v>
                </c:pt>
                <c:pt idx="4">
                  <c:v>3.3</c:v>
                </c:pt>
                <c:pt idx="5">
                  <c:v>3.4</c:v>
                </c:pt>
                <c:pt idx="6">
                  <c:v>3.5</c:v>
                </c:pt>
                <c:pt idx="7">
                  <c:v>3.6</c:v>
                </c:pt>
                <c:pt idx="8">
                  <c:v>3.7</c:v>
                </c:pt>
                <c:pt idx="9">
                  <c:v>3.8</c:v>
                </c:pt>
                <c:pt idx="10">
                  <c:v>3.9</c:v>
                </c:pt>
                <c:pt idx="11">
                  <c:v>4</c:v>
                </c:pt>
                <c:pt idx="12">
                  <c:v>4.0999999999999996</c:v>
                </c:pt>
                <c:pt idx="13">
                  <c:v>4.2</c:v>
                </c:pt>
                <c:pt idx="14">
                  <c:v>4.3</c:v>
                </c:pt>
                <c:pt idx="15">
                  <c:v>4.4000000000000004</c:v>
                </c:pt>
                <c:pt idx="16">
                  <c:v>4.5</c:v>
                </c:pt>
                <c:pt idx="17">
                  <c:v>4.5999999999999996</c:v>
                </c:pt>
                <c:pt idx="18">
                  <c:v>4.7</c:v>
                </c:pt>
                <c:pt idx="19">
                  <c:v>4.8</c:v>
                </c:pt>
                <c:pt idx="20">
                  <c:v>4.9000000000000004</c:v>
                </c:pt>
                <c:pt idx="21">
                  <c:v>5</c:v>
                </c:pt>
                <c:pt idx="22">
                  <c:v>5.0999999999999996</c:v>
                </c:pt>
                <c:pt idx="23">
                  <c:v>5.2</c:v>
                </c:pt>
                <c:pt idx="24">
                  <c:v>5.3</c:v>
                </c:pt>
              </c:numCache>
            </c:numRef>
          </c:cat>
          <c:val>
            <c:numRef>
              <c:f>Sheet2!$D$2:$D$26</c:f>
              <c:numCache>
                <c:formatCode>General</c:formatCode>
                <c:ptCount val="25"/>
                <c:pt idx="0" formatCode="0%">
                  <c:v>0.99178315537528605</c:v>
                </c:pt>
                <c:pt idx="2" formatCode="0%">
                  <c:v>0.88065004075636732</c:v>
                </c:pt>
                <c:pt idx="4" formatCode="0%">
                  <c:v>0.17336894005781606</c:v>
                </c:pt>
                <c:pt idx="6" formatCode="0%">
                  <c:v>9.5827318228915326E-2</c:v>
                </c:pt>
                <c:pt idx="8" formatCode="0%">
                  <c:v>1.2097843739433895E-3</c:v>
                </c:pt>
                <c:pt idx="10" formatCode="0%">
                  <c:v>0</c:v>
                </c:pt>
                <c:pt idx="12" formatCode="0%">
                  <c:v>0</c:v>
                </c:pt>
                <c:pt idx="14" formatCode="0%">
                  <c:v>0</c:v>
                </c:pt>
                <c:pt idx="16" formatCode="0%">
                  <c:v>0</c:v>
                </c:pt>
                <c:pt idx="18" formatCode="0%">
                  <c:v>0</c:v>
                </c:pt>
                <c:pt idx="20" formatCode="0%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Sheet2!$E$1</c:f>
              <c:strCache>
                <c:ptCount val="1"/>
                <c:pt idx="0">
                  <c:v>4/10/2017</c:v>
                </c:pt>
              </c:strCache>
            </c:strRef>
          </c:tx>
          <c:spPr>
            <a:ln>
              <a:solidFill>
                <a:schemeClr val="accent3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Sheet2!$B$2:$B$26</c:f>
              <c:numCache>
                <c:formatCode>0.00</c:formatCode>
                <c:ptCount val="25"/>
                <c:pt idx="0">
                  <c:v>2.9</c:v>
                </c:pt>
                <c:pt idx="1">
                  <c:v>3</c:v>
                </c:pt>
                <c:pt idx="2">
                  <c:v>3.1</c:v>
                </c:pt>
                <c:pt idx="3">
                  <c:v>3.2</c:v>
                </c:pt>
                <c:pt idx="4">
                  <c:v>3.3</c:v>
                </c:pt>
                <c:pt idx="5">
                  <c:v>3.4</c:v>
                </c:pt>
                <c:pt idx="6">
                  <c:v>3.5</c:v>
                </c:pt>
                <c:pt idx="7">
                  <c:v>3.6</c:v>
                </c:pt>
                <c:pt idx="8">
                  <c:v>3.7</c:v>
                </c:pt>
                <c:pt idx="9">
                  <c:v>3.8</c:v>
                </c:pt>
                <c:pt idx="10">
                  <c:v>3.9</c:v>
                </c:pt>
                <c:pt idx="11">
                  <c:v>4</c:v>
                </c:pt>
                <c:pt idx="12">
                  <c:v>4.0999999999999996</c:v>
                </c:pt>
                <c:pt idx="13">
                  <c:v>4.2</c:v>
                </c:pt>
                <c:pt idx="14">
                  <c:v>4.3</c:v>
                </c:pt>
                <c:pt idx="15">
                  <c:v>4.4000000000000004</c:v>
                </c:pt>
                <c:pt idx="16">
                  <c:v>4.5</c:v>
                </c:pt>
                <c:pt idx="17">
                  <c:v>4.5999999999999996</c:v>
                </c:pt>
                <c:pt idx="18">
                  <c:v>4.7</c:v>
                </c:pt>
                <c:pt idx="19">
                  <c:v>4.8</c:v>
                </c:pt>
                <c:pt idx="20">
                  <c:v>4.9000000000000004</c:v>
                </c:pt>
                <c:pt idx="21">
                  <c:v>5</c:v>
                </c:pt>
                <c:pt idx="22">
                  <c:v>5.0999999999999996</c:v>
                </c:pt>
                <c:pt idx="23">
                  <c:v>5.2</c:v>
                </c:pt>
                <c:pt idx="24">
                  <c:v>5.3</c:v>
                </c:pt>
              </c:numCache>
            </c:numRef>
          </c:cat>
          <c:val>
            <c:numRef>
              <c:f>Sheet2!$E$3:$E$26</c:f>
              <c:numCache>
                <c:formatCode>General</c:formatCode>
                <c:ptCount val="24"/>
                <c:pt idx="0" formatCode="0%">
                  <c:v>0.95435992438310313</c:v>
                </c:pt>
                <c:pt idx="2" formatCode="0%">
                  <c:v>0.78927759975913314</c:v>
                </c:pt>
                <c:pt idx="4" formatCode="0%">
                  <c:v>2.9212604280228625E-2</c:v>
                </c:pt>
                <c:pt idx="6" formatCode="0%">
                  <c:v>1.5625737427095696E-2</c:v>
                </c:pt>
                <c:pt idx="8" formatCode="0%">
                  <c:v>5.0418790685194878E-3</c:v>
                </c:pt>
                <c:pt idx="10" formatCode="0%">
                  <c:v>5.0375697275807923E-4</c:v>
                </c:pt>
                <c:pt idx="12" formatCode="0%">
                  <c:v>0</c:v>
                </c:pt>
                <c:pt idx="14" formatCode="0%">
                  <c:v>0</c:v>
                </c:pt>
                <c:pt idx="16" formatCode="0%">
                  <c:v>0</c:v>
                </c:pt>
                <c:pt idx="18" formatCode="0%">
                  <c:v>0</c:v>
                </c:pt>
                <c:pt idx="20" formatCode="0%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257792"/>
        <c:axId val="42280064"/>
      </c:lineChart>
      <c:catAx>
        <c:axId val="42257792"/>
        <c:scaling>
          <c:orientation val="minMax"/>
        </c:scaling>
        <c:delete val="0"/>
        <c:axPos val="b"/>
        <c:numFmt formatCode="0.00" sourceLinked="1"/>
        <c:majorTickMark val="out"/>
        <c:minorTickMark val="none"/>
        <c:tickLblPos val="nextTo"/>
        <c:crossAx val="42280064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42280064"/>
        <c:scaling>
          <c:orientation val="minMax"/>
          <c:max val="1"/>
        </c:scaling>
        <c:delete val="0"/>
        <c:axPos val="l"/>
        <c:numFmt formatCode="0%" sourceLinked="0"/>
        <c:majorTickMark val="out"/>
        <c:minorTickMark val="none"/>
        <c:tickLblPos val="nextTo"/>
        <c:crossAx val="42257792"/>
        <c:crosses val="autoZero"/>
        <c:crossBetween val="midCat"/>
      </c:valAx>
    </c:plotArea>
    <c:legend>
      <c:legendPos val="b"/>
      <c:layout/>
      <c:overlay val="0"/>
    </c:legend>
    <c:plotVisOnly val="1"/>
    <c:dispBlanksAs val="span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755" y="228406"/>
            <a:ext cx="6806130" cy="677966"/>
          </a:xfrm>
        </p:spPr>
        <p:txBody>
          <a:bodyPr/>
          <a:lstStyle/>
          <a:p>
            <a:r>
              <a:rPr lang="en-US" dirty="0" smtClean="0"/>
              <a:t>REFINANCEABLE UNIVERSE AS FUNCTION OF MORTGAGE RATES</a:t>
            </a: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027431"/>
              </p:ext>
            </p:extLst>
          </p:nvPr>
        </p:nvGraphicFramePr>
        <p:xfrm>
          <a:off x="1238250" y="1309687"/>
          <a:ext cx="7581899" cy="5153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46016" y="5433566"/>
            <a:ext cx="771525" cy="4381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Apr.2017 </a:t>
            </a:r>
          </a:p>
          <a:p>
            <a:pPr algn="ctr"/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3.97%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191" y="5433566"/>
            <a:ext cx="771525" cy="4381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Jan.2018</a:t>
            </a:r>
            <a:r>
              <a:rPr lang="en-US" sz="1000" dirty="0">
                <a:solidFill>
                  <a:schemeClr val="accent6"/>
                </a:solidFill>
                <a:effectLst/>
              </a:rPr>
              <a:t> 3.94%</a:t>
            </a: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98491" y="5433566"/>
            <a:ext cx="771525" cy="4381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Apr.2018 4.30%</a:t>
            </a:r>
          </a:p>
        </p:txBody>
      </p:sp>
    </p:spTree>
    <p:extLst>
      <p:ext uri="{BB962C8B-B14F-4D97-AF65-F5344CB8AC3E}">
        <p14:creationId xmlns:p14="http://schemas.microsoft.com/office/powerpoint/2010/main" val="257299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892" y="207434"/>
            <a:ext cx="6806130" cy="677966"/>
          </a:xfrm>
        </p:spPr>
        <p:txBody>
          <a:bodyPr/>
          <a:lstStyle/>
          <a:p>
            <a:r>
              <a:rPr lang="en-US" dirty="0"/>
              <a:t>ENTERPRISE MORTGAGE INSURANCE COVERAGE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677695"/>
              </p:ext>
            </p:extLst>
          </p:nvPr>
        </p:nvGraphicFramePr>
        <p:xfrm>
          <a:off x="1226126" y="1711037"/>
          <a:ext cx="7689277" cy="4487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783"/>
                <a:gridCol w="942109"/>
                <a:gridCol w="888077"/>
                <a:gridCol w="888077"/>
                <a:gridCol w="888077"/>
                <a:gridCol w="888077"/>
                <a:gridCol w="888077"/>
              </a:tblGrid>
              <a:tr h="448425">
                <a:tc gridSpan="7"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bg1"/>
                          </a:solidFill>
                        </a:rPr>
                        <a:t>Enterprise Mortgage Insurance Coverage Mortgage Insurer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05674">
                <a:tc>
                  <a:txBody>
                    <a:bodyPr/>
                    <a:lstStyle/>
                    <a:p>
                      <a:endParaRPr lang="en-US" sz="11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Rating as of September 30, 2017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Coverage as of December 31, 2016 ($ Billions)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05674"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Mortgage Insurer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Credit Rating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Fannie Mae UPB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Fannie Mae Risk in Force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Freddie Mac UPB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Freddie Mac Risk in Force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>
                          <a:solidFill>
                            <a:schemeClr val="bg1"/>
                          </a:solidFill>
                        </a:rPr>
                        <a:t>GSE Market Share (%)</a:t>
                      </a:r>
                      <a:endParaRPr lang="en-US" sz="11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marR="0" indent="0" algn="l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Arch Capital Group Ltd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A-</a:t>
                      </a:r>
                      <a:endParaRPr lang="en-US" sz="11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128.4</a:t>
                      </a:r>
                      <a:endParaRPr lang="en-US" sz="11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33.2</a:t>
                      </a:r>
                      <a:endParaRPr lang="en-US" sz="1100" dirty="0"/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70.6</a:t>
                      </a:r>
                      <a:endParaRPr lang="en-US" sz="1100" dirty="0"/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18.1</a:t>
                      </a:r>
                      <a:endParaRPr lang="en-US" sz="1100" dirty="0"/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marR="0" indent="0" algn="l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Radian Guaranty, Inc.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BBB-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100.6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25.9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62.1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16.0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fontAlgn="b" latinLnBrk="0" hangingPunct="1"/>
                      <a:r>
                        <a:rPr lang="en-US" sz="1100" dirty="0" smtClean="0"/>
                        <a:t>Mortgage Guaranty Insurance Corp.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BBB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dirty="0"/>
                        <a:t>95.4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24.7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59.5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15.2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smtClean="0"/>
                        <a:t>Genworth Mortgage Insurance Corp.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BB+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73.1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18.6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43.3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11.1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err="1" smtClean="0"/>
                        <a:t>Essent</a:t>
                      </a:r>
                      <a:r>
                        <a:rPr lang="en-US" sz="1100" dirty="0" smtClean="0"/>
                        <a:t> Guaranty, Inc.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BBB+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45.1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11.2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29.2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smtClean="0"/>
                        <a:t>National Mortgage Insurance Corp.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BBB-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21.2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4.4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20.8%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smtClean="0"/>
                        <a:t>PMI Mortgage Insurance Co.**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Not Rated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15.1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3.8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7.4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1.9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smtClean="0"/>
                        <a:t>Republic Mortgage Insurance Co.**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Not Rated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3.1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5.6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1.4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smtClean="0"/>
                        <a:t>Triad Guaranty Insurance Corp.**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r>
                        <a:rPr lang="en-US" sz="1100" dirty="0" smtClean="0"/>
                        <a:t>Not Rated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2.9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0.7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dirty="0" smtClean="0"/>
                        <a:t>Others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0.3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12.3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23.4%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5674">
                <a:tc>
                  <a:txBody>
                    <a:bodyPr/>
                    <a:lstStyle/>
                    <a:p>
                      <a:pPr marL="0" algn="l" defTabSz="1018472" rtl="0" eaLnBrk="1" latinLnBrk="0" hangingPunct="1"/>
                      <a:r>
                        <a:rPr lang="en-US" sz="1100" b="1" dirty="0" smtClean="0"/>
                        <a:t>Total</a:t>
                      </a:r>
                      <a:endParaRPr 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latinLnBrk="0" hangingPunct="1"/>
                      <a:endParaRPr 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dirty="0"/>
                        <a:t>496.7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dirty="0"/>
                        <a:t>126.2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dirty="0"/>
                        <a:t>292.9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dirty="0"/>
                        <a:t>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5377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91058</TotalTime>
  <Words>207</Words>
  <Application>Microsoft Office PowerPoint</Application>
  <PresentationFormat>Custom</PresentationFormat>
  <Paragraphs>94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REFINANCEABLE UNIVERSE AS FUNCTION OF MORTGAGE RATES</vt:lpstr>
      <vt:lpstr>ENTERPRISE MORTGAGE INSURANCE COVERAGE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2153</cp:revision>
  <cp:lastPrinted>2016-03-29T19:25:13Z</cp:lastPrinted>
  <dcterms:created xsi:type="dcterms:W3CDTF">2011-07-07T12:37:32Z</dcterms:created>
  <dcterms:modified xsi:type="dcterms:W3CDTF">2018-04-11T20:55:27Z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