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6" r:id="rId1"/>
    <p:sldMasterId id="2147483660" r:id="rId2"/>
    <p:sldMasterId id="2147483669" r:id="rId3"/>
    <p:sldMasterId id="2147483675" r:id="rId4"/>
  </p:sldMasterIdLst>
  <p:notesMasterIdLst>
    <p:notesMasterId r:id="rId6"/>
  </p:notesMasterIdLst>
  <p:sldIdLst>
    <p:sldId id="409" r:id="rId5"/>
  </p:sldIdLst>
  <p:sldSz cx="9144000" cy="6858000" type="screen4x3"/>
  <p:notesSz cx="6934200" cy="9220200"/>
  <p:defaultTextStyle>
    <a:defPPr>
      <a:defRPr lang="en-US"/>
    </a:defPPr>
    <a:lvl1pPr marL="0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80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8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39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17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98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75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56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033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8A"/>
    <a:srgbClr val="203353"/>
    <a:srgbClr val="968880"/>
    <a:srgbClr val="968A7E"/>
    <a:srgbClr val="EFE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34" autoAdjust="0"/>
    <p:restoredTop sz="94672" autoAdjust="0"/>
  </p:normalViewPr>
  <p:slideViewPr>
    <p:cSldViewPr showGuides="1">
      <p:cViewPr>
        <p:scale>
          <a:sx n="165" d="100"/>
          <a:sy n="165" d="100"/>
        </p:scale>
        <p:origin x="-120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826937308617444E-2"/>
          <c:y val="0.11743806414442094"/>
          <c:w val="0.92965402632472638"/>
          <c:h val="0.82294133964961702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Treasury Yield Curve 6/30/2015</c:v>
                </c:pt>
              </c:strCache>
            </c:strRef>
          </c:tx>
          <c:marker>
            <c:symbol val="circle"/>
            <c:size val="4"/>
            <c:spPr>
              <a:solidFill>
                <a:schemeClr val="accent2"/>
              </a:solidFill>
            </c:spPr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12</c:v>
                </c:pt>
                <c:pt idx="9">
                  <c:v>16</c:v>
                </c:pt>
                <c:pt idx="10">
                  <c:v>20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0.02</c:v>
                </c:pt>
                <c:pt idx="1">
                  <c:v>0.01</c:v>
                </c:pt>
                <c:pt idx="2">
                  <c:v>0.11</c:v>
                </c:pt>
                <c:pt idx="3">
                  <c:v>0.28000000000000003</c:v>
                </c:pt>
                <c:pt idx="4">
                  <c:v>0.64</c:v>
                </c:pt>
                <c:pt idx="5">
                  <c:v>1.01</c:v>
                </c:pt>
                <c:pt idx="6">
                  <c:v>1.63</c:v>
                </c:pt>
                <c:pt idx="7">
                  <c:v>2.0699999999999998</c:v>
                </c:pt>
                <c:pt idx="8">
                  <c:v>2.35</c:v>
                </c:pt>
                <c:pt idx="9">
                  <c:v>2.83</c:v>
                </c:pt>
                <c:pt idx="10">
                  <c:v>3.11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Treasury Yield Curve 9/30/2015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circle"/>
            <c:size val="4"/>
            <c:spPr>
              <a:solidFill>
                <a:schemeClr val="accent1">
                  <a:lumMod val="75000"/>
                </a:schemeClr>
              </a:solidFill>
              <a:ln>
                <a:solidFill>
                  <a:schemeClr val="accent1"/>
                </a:solidFill>
              </a:ln>
            </c:spPr>
          </c:marker>
          <c:cat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12</c:v>
                </c:pt>
                <c:pt idx="9">
                  <c:v>16</c:v>
                </c:pt>
                <c:pt idx="10">
                  <c:v>20</c:v>
                </c:pt>
              </c:numCache>
            </c:num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0.08</c:v>
                </c:pt>
                <c:pt idx="3">
                  <c:v>0.33</c:v>
                </c:pt>
                <c:pt idx="4">
                  <c:v>0.64</c:v>
                </c:pt>
                <c:pt idx="5">
                  <c:v>0.92</c:v>
                </c:pt>
                <c:pt idx="6">
                  <c:v>1.37</c:v>
                </c:pt>
                <c:pt idx="7">
                  <c:v>1.75</c:v>
                </c:pt>
                <c:pt idx="8">
                  <c:v>2.06</c:v>
                </c:pt>
                <c:pt idx="9">
                  <c:v>2.5099999999999998</c:v>
                </c:pt>
                <c:pt idx="10">
                  <c:v>2.87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2776704"/>
        <c:axId val="242793472"/>
      </c:lineChart>
      <c:dateAx>
        <c:axId val="2427767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42793472"/>
        <c:crosses val="autoZero"/>
        <c:auto val="0"/>
        <c:lblOffset val="100"/>
        <c:baseTimeUnit val="days"/>
      </c:dateAx>
      <c:valAx>
        <c:axId val="242793472"/>
        <c:scaling>
          <c:orientation val="minMax"/>
        </c:scaling>
        <c:delete val="0"/>
        <c:axPos val="l"/>
        <c:majorGridlines>
          <c:spPr>
            <a:ln>
              <a:prstDash val="dash"/>
            </a:ln>
          </c:spPr>
        </c:majorGridlines>
        <c:numFmt formatCode="#,##0.0" sourceLinked="0"/>
        <c:majorTickMark val="out"/>
        <c:minorTickMark val="none"/>
        <c:tickLblPos val="nextTo"/>
        <c:crossAx val="242776704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t"/>
      <c:layout>
        <c:manualLayout>
          <c:xMode val="edge"/>
          <c:yMode val="edge"/>
          <c:x val="0.19438296691496654"/>
          <c:y val="3.2520325203252036E-2"/>
          <c:w val="0.61100255421685989"/>
          <c:h val="8.4917738941168941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26937308617444E-2"/>
          <c:y val="3.4104799400074992E-2"/>
          <c:w val="0.92965402632472638"/>
          <c:h val="0.90627484064491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9/30/2015</c:v>
                </c:pt>
              </c:strCache>
            </c:strRef>
          </c:tx>
          <c:invertIfNegative val="0"/>
          <c:cat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12</c:v>
                </c:pt>
                <c:pt idx="9">
                  <c:v>16</c:v>
                </c:pt>
                <c:pt idx="10">
                  <c:v>20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-0.02</c:v>
                </c:pt>
                <c:pt idx="1">
                  <c:v>-0.01</c:v>
                </c:pt>
                <c:pt idx="2">
                  <c:v>-0.03</c:v>
                </c:pt>
                <c:pt idx="3">
                  <c:v>4.9999999999999989E-2</c:v>
                </c:pt>
                <c:pt idx="4">
                  <c:v>0</c:v>
                </c:pt>
                <c:pt idx="5">
                  <c:v>-8.9999999999999969E-2</c:v>
                </c:pt>
                <c:pt idx="6">
                  <c:v>-0.25999999999999979</c:v>
                </c:pt>
                <c:pt idx="7">
                  <c:v>-0.31999999999999984</c:v>
                </c:pt>
                <c:pt idx="8">
                  <c:v>-0.29000000000000004</c:v>
                </c:pt>
                <c:pt idx="9">
                  <c:v>-0.32000000000000028</c:v>
                </c:pt>
                <c:pt idx="10">
                  <c:v>-0.23999999999999977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9180160"/>
        <c:axId val="249181696"/>
      </c:barChart>
      <c:dateAx>
        <c:axId val="249180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49181696"/>
        <c:crosses val="autoZero"/>
        <c:auto val="0"/>
        <c:lblOffset val="100"/>
        <c:baseTimeUnit val="days"/>
      </c:dateAx>
      <c:valAx>
        <c:axId val="249181696"/>
        <c:scaling>
          <c:orientation val="minMax"/>
        </c:scaling>
        <c:delete val="0"/>
        <c:axPos val="l"/>
        <c:majorGridlines>
          <c:spPr>
            <a:ln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crossAx val="249180160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60" tIns="46130" rIns="92260" bIns="4613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5" y="0"/>
            <a:ext cx="3004820" cy="461010"/>
          </a:xfrm>
          <a:prstGeom prst="rect">
            <a:avLst/>
          </a:prstGeom>
        </p:spPr>
        <p:txBody>
          <a:bodyPr vert="horz" lIns="92260" tIns="46130" rIns="92260" bIns="46130" rtlCol="0"/>
          <a:lstStyle>
            <a:lvl1pPr algn="r">
              <a:defRPr sz="1200"/>
            </a:lvl1pPr>
          </a:lstStyle>
          <a:p>
            <a:fld id="{A8458E9D-EEA3-425D-8727-2637C15F5D3A}" type="datetimeFigureOut">
              <a:rPr lang="en-US" smtClean="0"/>
              <a:t>10/5/2015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90563"/>
            <a:ext cx="4610100" cy="3459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60" tIns="46130" rIns="92260" bIns="4613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1" y="4379596"/>
            <a:ext cx="5547360" cy="4149090"/>
          </a:xfrm>
          <a:prstGeom prst="rect">
            <a:avLst/>
          </a:prstGeom>
        </p:spPr>
        <p:txBody>
          <a:bodyPr vert="horz" lIns="92260" tIns="46130" rIns="92260" bIns="4613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60" tIns="46130" rIns="92260" bIns="4613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5" y="8757590"/>
            <a:ext cx="3004820" cy="461010"/>
          </a:xfrm>
          <a:prstGeom prst="rect">
            <a:avLst/>
          </a:prstGeom>
        </p:spPr>
        <p:txBody>
          <a:bodyPr vert="horz" lIns="92260" tIns="46130" rIns="92260" bIns="46130" rtlCol="0" anchor="b"/>
          <a:lstStyle>
            <a:lvl1pPr algn="r">
              <a:defRPr sz="1200"/>
            </a:lvl1pPr>
          </a:lstStyle>
          <a:p>
            <a:fld id="{5DCA49B7-56B7-41CA-B1AF-E05A1D1FC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7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80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8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39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17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98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75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56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33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258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lIns="91365" tIns="45683" rIns="91365" bIns="4568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lIns="91365" tIns="45683" rIns="91365" bIns="45683"/>
          <a:lstStyle>
            <a:lvl1pPr marL="0" indent="0" algn="ctr">
              <a:buNone/>
              <a:defRPr/>
            </a:lvl1pPr>
            <a:lvl2pPr marL="456827" indent="0" algn="ctr">
              <a:buNone/>
              <a:defRPr/>
            </a:lvl2pPr>
            <a:lvl3pPr marL="913651" indent="0" algn="ctr">
              <a:buNone/>
              <a:defRPr/>
            </a:lvl3pPr>
            <a:lvl4pPr marL="1370479" indent="0" algn="ctr">
              <a:buNone/>
              <a:defRPr/>
            </a:lvl4pPr>
            <a:lvl5pPr marL="1827303" indent="0" algn="ctr">
              <a:buNone/>
              <a:defRPr/>
            </a:lvl5pPr>
            <a:lvl6pPr marL="2284131" indent="0" algn="ctr">
              <a:buNone/>
              <a:defRPr/>
            </a:lvl6pPr>
            <a:lvl7pPr marL="2740955" indent="0" algn="ctr">
              <a:buNone/>
              <a:defRPr/>
            </a:lvl7pPr>
            <a:lvl8pPr marL="3197782" indent="0" algn="ctr">
              <a:buNone/>
              <a:defRPr/>
            </a:lvl8pPr>
            <a:lvl9pPr marL="365460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41772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539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6775" indent="0" algn="ctr">
              <a:buNone/>
              <a:defRPr/>
            </a:lvl2pPr>
            <a:lvl3pPr marL="913550" indent="0" algn="ctr">
              <a:buNone/>
              <a:defRPr/>
            </a:lvl3pPr>
            <a:lvl4pPr marL="1370324" indent="0" algn="ctr">
              <a:buNone/>
              <a:defRPr/>
            </a:lvl4pPr>
            <a:lvl5pPr marL="1827098" indent="0" algn="ctr">
              <a:buNone/>
              <a:defRPr/>
            </a:lvl5pPr>
            <a:lvl6pPr marL="2283874" indent="0" algn="ctr">
              <a:buNone/>
              <a:defRPr/>
            </a:lvl6pPr>
            <a:lvl7pPr marL="2740649" indent="0" algn="ctr">
              <a:buNone/>
              <a:defRPr/>
            </a:lvl7pPr>
            <a:lvl8pPr marL="3197425" indent="0" algn="ctr">
              <a:buNone/>
              <a:defRPr/>
            </a:lvl8pPr>
            <a:lvl9pPr marL="36541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6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615" y="158750"/>
            <a:ext cx="6187391" cy="59820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 marL="720354" indent="-210696">
              <a:defRPr sz="1100">
                <a:latin typeface="+mn-lt"/>
              </a:defRPr>
            </a:lvl4pPr>
            <a:lvl5pPr marL="919661" indent="-199306">
              <a:defRPr sz="11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944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5" indent="0">
              <a:buNone/>
              <a:defRPr sz="1800"/>
            </a:lvl2pPr>
            <a:lvl3pPr marL="913550" indent="0">
              <a:buNone/>
              <a:defRPr sz="1600"/>
            </a:lvl3pPr>
            <a:lvl4pPr marL="1370324" indent="0">
              <a:buNone/>
              <a:defRPr sz="1400"/>
            </a:lvl4pPr>
            <a:lvl5pPr marL="1827098" indent="0">
              <a:buNone/>
              <a:defRPr sz="1400"/>
            </a:lvl5pPr>
            <a:lvl6pPr marL="2283874" indent="0">
              <a:buNone/>
              <a:defRPr sz="1400"/>
            </a:lvl6pPr>
            <a:lvl7pPr marL="2740649" indent="0">
              <a:buNone/>
              <a:defRPr sz="1400"/>
            </a:lvl7pPr>
            <a:lvl8pPr marL="3197425" indent="0">
              <a:buNone/>
              <a:defRPr sz="1400"/>
            </a:lvl8pPr>
            <a:lvl9pPr marL="3654197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60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18" y="1382720"/>
            <a:ext cx="4287985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382720"/>
            <a:ext cx="4287978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58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7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095" indent="0" algn="ctr">
              <a:buNone/>
              <a:defRPr/>
            </a:lvl2pPr>
            <a:lvl3pPr marL="914191" indent="0" algn="ctr">
              <a:buNone/>
              <a:defRPr/>
            </a:lvl3pPr>
            <a:lvl4pPr marL="1371286" indent="0" algn="ctr">
              <a:buNone/>
              <a:defRPr/>
            </a:lvl4pPr>
            <a:lvl5pPr marL="1828382" indent="0" algn="ctr">
              <a:buNone/>
              <a:defRPr/>
            </a:lvl5pPr>
            <a:lvl6pPr marL="2285477" indent="0" algn="ctr">
              <a:buNone/>
              <a:defRPr/>
            </a:lvl6pPr>
            <a:lvl7pPr marL="2742572" indent="0" algn="ctr">
              <a:buNone/>
              <a:defRPr/>
            </a:lvl7pPr>
            <a:lvl8pPr marL="3199668" indent="0" algn="ctr">
              <a:buNone/>
              <a:defRPr/>
            </a:lvl8pPr>
            <a:lvl9pPr marL="3656762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0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610" y="158750"/>
            <a:ext cx="6187391" cy="59820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 marL="720859" indent="-210844">
              <a:defRPr sz="1100">
                <a:latin typeface="+mn-lt"/>
              </a:defRPr>
            </a:lvl4pPr>
            <a:lvl5pPr marL="920306" indent="-199447">
              <a:defRPr sz="11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6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7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95" indent="0">
              <a:buNone/>
              <a:defRPr sz="1800"/>
            </a:lvl2pPr>
            <a:lvl3pPr marL="914191" indent="0">
              <a:buNone/>
              <a:defRPr sz="1600"/>
            </a:lvl3pPr>
            <a:lvl4pPr marL="1371286" indent="0">
              <a:buNone/>
              <a:defRPr sz="1400"/>
            </a:lvl4pPr>
            <a:lvl5pPr marL="1828382" indent="0">
              <a:buNone/>
              <a:defRPr sz="1400"/>
            </a:lvl5pPr>
            <a:lvl6pPr marL="2285477" indent="0">
              <a:buNone/>
              <a:defRPr sz="1400"/>
            </a:lvl6pPr>
            <a:lvl7pPr marL="2742572" indent="0">
              <a:buNone/>
              <a:defRPr sz="1400"/>
            </a:lvl7pPr>
            <a:lvl8pPr marL="3199668" indent="0">
              <a:buNone/>
              <a:defRPr sz="1400"/>
            </a:lvl8pPr>
            <a:lvl9pPr marL="3656762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16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18" y="1382714"/>
            <a:ext cx="4287985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382714"/>
            <a:ext cx="4287978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1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729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449399" indent="0" algn="ctr">
              <a:buNone/>
              <a:defRPr/>
            </a:lvl2pPr>
            <a:lvl3pPr marL="898800" indent="0" algn="ctr">
              <a:buNone/>
              <a:defRPr/>
            </a:lvl3pPr>
            <a:lvl4pPr marL="1348200" indent="0" algn="ctr">
              <a:buNone/>
              <a:defRPr/>
            </a:lvl4pPr>
            <a:lvl5pPr marL="1797601" indent="0" algn="ctr">
              <a:buNone/>
              <a:defRPr/>
            </a:lvl5pPr>
            <a:lvl6pPr marL="2247002" indent="0" algn="ctr">
              <a:buNone/>
              <a:defRPr/>
            </a:lvl6pPr>
            <a:lvl7pPr marL="2696401" indent="0" algn="ctr">
              <a:buNone/>
              <a:defRPr/>
            </a:lvl7pPr>
            <a:lvl8pPr marL="3145802" indent="0" algn="ctr">
              <a:buNone/>
              <a:defRPr/>
            </a:lvl8pPr>
            <a:lvl9pPr marL="359520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59125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939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07818" y="695327"/>
            <a:ext cx="8728364" cy="3400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07818" y="6296726"/>
            <a:ext cx="8728364" cy="35401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365" tIns="45683" rIns="91365" bIns="45683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07818" y="4383088"/>
            <a:ext cx="8728364" cy="35401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82003" tIns="41000" rIns="82003" bIns="410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919167" y="3517900"/>
            <a:ext cx="1978025" cy="2541588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07818" y="201706"/>
            <a:ext cx="8728364" cy="6454588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354" tIns="45678" rIns="91354" bIns="4567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6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5pPr>
      <a:lvl6pPr marL="456827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6pPr>
      <a:lvl7pPr marL="913651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7pPr>
      <a:lvl8pPr marL="137047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8pPr>
      <a:lvl9pPr marL="1827303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9pPr>
    </p:titleStyle>
    <p:bodyStyle>
      <a:lvl1pPr marL="341034" indent="-341034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0755" indent="-28393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0479" indent="-22683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7306" indent="-22683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4132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0957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67783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4609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1435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27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51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479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303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131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955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782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606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7818" y="1116387"/>
            <a:ext cx="8728364" cy="5015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07818" y="203050"/>
            <a:ext cx="8728364" cy="572845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354" tIns="45678" rIns="91354" bIns="4567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ambria" pitchFamily="18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9977" y="194877"/>
            <a:ext cx="661828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 userDrawn="1"/>
        </p:nvSpPr>
        <p:spPr bwMode="auto">
          <a:xfrm>
            <a:off x="207825" y="6470802"/>
            <a:ext cx="752475" cy="188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1" dirty="0">
                <a:solidFill>
                  <a:srgbClr val="203353"/>
                </a:solidFill>
              </a:rPr>
              <a:t>PAGE </a:t>
            </a:r>
            <a:fld id="{54B17DE0-6D87-48AB-BBA0-9128AA86CC3B}" type="slidenum">
              <a:rPr lang="en-US" sz="800" b="1">
                <a:solidFill>
                  <a:srgbClr val="20335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 b="1" dirty="0">
              <a:solidFill>
                <a:srgbClr val="203353"/>
              </a:solidFill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110" y="284326"/>
            <a:ext cx="2197100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07818" y="6388474"/>
            <a:ext cx="87283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7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5pPr>
      <a:lvl6pPr marL="456775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6pPr>
      <a:lvl7pPr marL="913550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7pPr>
      <a:lvl8pPr marL="1370324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8pPr>
      <a:lvl9pPr marL="1827098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9pPr>
    </p:titleStyle>
    <p:bodyStyle>
      <a:lvl1pPr marL="168139" indent="-16813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337861" indent="-16655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2pPr>
      <a:lvl3pPr marL="507586" indent="-16655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3pPr>
      <a:lvl4pPr marL="1597306" indent="-22683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4pPr>
      <a:lvl5pPr marL="2054132" indent="-22683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5pPr>
      <a:lvl6pPr marL="2512261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6pPr>
      <a:lvl7pPr marL="2969037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7pPr>
      <a:lvl8pPr marL="3425810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8pPr>
      <a:lvl9pPr marL="3882583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5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50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24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98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74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49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25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97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7818" y="1116387"/>
            <a:ext cx="8728364" cy="5015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07818" y="203047"/>
            <a:ext cx="8728364" cy="572845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19" tIns="45709" rIns="91419" bIns="45709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ambria" pitchFamily="18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9976" y="194877"/>
            <a:ext cx="661828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110" y="284326"/>
            <a:ext cx="2197100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07818" y="6388474"/>
            <a:ext cx="87283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89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5pPr>
      <a:lvl6pPr marL="457095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6pPr>
      <a:lvl7pPr marL="914191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7pPr>
      <a:lvl8pPr marL="1371286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8pPr>
      <a:lvl9pPr marL="1828382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9pPr>
    </p:titleStyle>
    <p:bodyStyle>
      <a:lvl1pPr marL="168255" indent="-168255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338098" indent="-1666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2pPr>
      <a:lvl3pPr marL="507941" indent="-16666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3pPr>
      <a:lvl4pPr marL="1598426" indent="-22698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4pPr>
      <a:lvl5pPr marL="2055573" indent="-226987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5pPr>
      <a:lvl6pPr marL="2514024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6pPr>
      <a:lvl7pPr marL="2971120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7pPr>
      <a:lvl8pPr marL="3428215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8pPr>
      <a:lvl9pPr marL="3885310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5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1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6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2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77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72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68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62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07818" y="695327"/>
            <a:ext cx="8728364" cy="3400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07818" y="6296722"/>
            <a:ext cx="8728364" cy="35401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89875" tIns="44937" rIns="89875" bIns="44937" anchor="ctr"/>
          <a:lstStyle/>
          <a:p>
            <a:pPr defTabSz="806867" fontAlgn="base">
              <a:spcBef>
                <a:spcPct val="0"/>
              </a:spcBef>
              <a:spcAft>
                <a:spcPct val="0"/>
              </a:spcAft>
            </a:pPr>
            <a:endParaRPr lang="en-US" sz="1588" dirty="0">
              <a:solidFill>
                <a:srgbClr val="000000"/>
              </a:solidFill>
            </a:endParaRPr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07818" y="4383088"/>
            <a:ext cx="8728364" cy="35401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80663" tIns="40332" rIns="80663" bIns="40332" anchor="ctr"/>
          <a:lstStyle/>
          <a:p>
            <a:pPr defTabSz="806867" fontAlgn="base">
              <a:spcBef>
                <a:spcPct val="0"/>
              </a:spcBef>
              <a:spcAft>
                <a:spcPct val="0"/>
              </a:spcAft>
            </a:pPr>
            <a:endParaRPr lang="en-US" sz="1588" dirty="0">
              <a:solidFill>
                <a:srgbClr val="000000"/>
              </a:solidFill>
            </a:endParaRPr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919166" y="3517900"/>
            <a:ext cx="1978025" cy="2541588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07818" y="201706"/>
            <a:ext cx="8728364" cy="6454588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89865" tIns="44932" rIns="89865" bIns="44932" anchor="ctr"/>
          <a:lstStyle/>
          <a:p>
            <a:pPr defTabSz="80686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588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37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5pPr>
      <a:lvl6pPr marL="449399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6pPr>
      <a:lvl7pPr marL="898800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7pPr>
      <a:lvl8pPr marL="1348200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8pPr>
      <a:lvl9pPr marL="1797601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9pPr>
    </p:titleStyle>
    <p:bodyStyle>
      <a:lvl1pPr marL="335490" indent="-335490" algn="l" rtl="0" fontAlgn="base">
        <a:spcBef>
          <a:spcPct val="20000"/>
        </a:spcBef>
        <a:spcAft>
          <a:spcPct val="0"/>
        </a:spcAft>
        <a:buChar char="•"/>
        <a:defRPr sz="3177">
          <a:solidFill>
            <a:schemeClr val="tx1"/>
          </a:solidFill>
          <a:latin typeface="+mn-lt"/>
          <a:ea typeface="+mn-ea"/>
          <a:cs typeface="+mn-cs"/>
        </a:defRPr>
      </a:lvl1pPr>
      <a:lvl2pPr marL="728716" indent="-279315" algn="l" rtl="0" fontAlgn="base">
        <a:spcBef>
          <a:spcPct val="20000"/>
        </a:spcBef>
        <a:spcAft>
          <a:spcPct val="0"/>
        </a:spcAft>
        <a:buChar char="–"/>
        <a:defRPr sz="2735">
          <a:solidFill>
            <a:schemeClr val="tx1"/>
          </a:solidFill>
          <a:latin typeface="+mn-lt"/>
        </a:defRPr>
      </a:lvl2pPr>
      <a:lvl3pPr marL="1121941" indent="-223141" algn="l" rtl="0" fontAlgn="base">
        <a:spcBef>
          <a:spcPct val="20000"/>
        </a:spcBef>
        <a:spcAft>
          <a:spcPct val="0"/>
        </a:spcAft>
        <a:buChar char="•"/>
        <a:defRPr sz="2382">
          <a:solidFill>
            <a:schemeClr val="tx1"/>
          </a:solidFill>
          <a:latin typeface="+mn-lt"/>
        </a:defRPr>
      </a:lvl3pPr>
      <a:lvl4pPr marL="1571341" indent="-223141" algn="l" rtl="0" fontAlgn="base">
        <a:spcBef>
          <a:spcPct val="20000"/>
        </a:spcBef>
        <a:spcAft>
          <a:spcPct val="0"/>
        </a:spcAft>
        <a:buChar char="–"/>
        <a:defRPr sz="1941">
          <a:solidFill>
            <a:schemeClr val="tx1"/>
          </a:solidFill>
          <a:latin typeface="+mn-lt"/>
        </a:defRPr>
      </a:lvl4pPr>
      <a:lvl5pPr marL="2020741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5pPr>
      <a:lvl6pPr marL="2470142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6pPr>
      <a:lvl7pPr marL="2919541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7pPr>
      <a:lvl8pPr marL="3368942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8pPr>
      <a:lvl9pPr marL="3818342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399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8800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200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7601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002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6401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5802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201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2895601" y="2186032"/>
            <a:ext cx="0" cy="3757568"/>
            <a:chOff x="2819400" y="2186032"/>
            <a:chExt cx="0" cy="3757568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3187701" y="2184400"/>
            <a:ext cx="0" cy="3757568"/>
            <a:chOff x="2819400" y="2186032"/>
            <a:chExt cx="0" cy="3757568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3473451" y="2186032"/>
            <a:ext cx="0" cy="3757568"/>
            <a:chOff x="2819400" y="2186032"/>
            <a:chExt cx="0" cy="3757568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5551" y="2190750"/>
            <a:ext cx="0" cy="3757568"/>
            <a:chOff x="2819400" y="2186032"/>
            <a:chExt cx="0" cy="3757568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4057651" y="2178050"/>
            <a:ext cx="0" cy="3757568"/>
            <a:chOff x="2819400" y="2186032"/>
            <a:chExt cx="0" cy="3757568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4349751" y="2190750"/>
            <a:ext cx="0" cy="3757568"/>
            <a:chOff x="2819400" y="2186032"/>
            <a:chExt cx="0" cy="375756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4946651" y="2178050"/>
            <a:ext cx="0" cy="3757568"/>
            <a:chOff x="2819400" y="2186032"/>
            <a:chExt cx="0" cy="3757568"/>
          </a:xfrm>
        </p:grpSpPr>
        <p:cxnSp>
          <p:nvCxnSpPr>
            <p:cNvPr id="35" name="Straight Connector 34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530851" y="2190750"/>
            <a:ext cx="0" cy="3757568"/>
            <a:chOff x="2819400" y="2186032"/>
            <a:chExt cx="0" cy="3757568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6121401" y="2184400"/>
            <a:ext cx="0" cy="3757568"/>
            <a:chOff x="2819400" y="2186032"/>
            <a:chExt cx="0" cy="3757568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7315201" y="2178050"/>
            <a:ext cx="0" cy="3757568"/>
            <a:chOff x="2819400" y="2186032"/>
            <a:chExt cx="0" cy="3757568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8470901" y="2184400"/>
            <a:ext cx="0" cy="3757568"/>
            <a:chOff x="2819400" y="2186032"/>
            <a:chExt cx="0" cy="3757568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2819400" y="2186032"/>
              <a:ext cx="0" cy="1928768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2819400" y="4343400"/>
              <a:ext cx="0" cy="160020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68"/>
          <p:cNvSpPr>
            <a:spLocks noChangeArrowheads="1"/>
          </p:cNvSpPr>
          <p:nvPr/>
        </p:nvSpPr>
        <p:spPr bwMode="auto">
          <a:xfrm>
            <a:off x="237651" y="6100054"/>
            <a:ext cx="5325034" cy="19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8719" tIns="44359" rIns="88719" bIns="44359" anchor="b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777" i="1" dirty="0" smtClean="0">
                <a:solidFill>
                  <a:srgbClr val="000000"/>
                </a:solidFill>
              </a:rPr>
              <a:t>Source: Bloomberg as </a:t>
            </a:r>
            <a:r>
              <a:rPr lang="en-US" sz="777" dirty="0" smtClean="0">
                <a:solidFill>
                  <a:srgbClr val="000000"/>
                </a:solidFill>
              </a:rPr>
              <a:t>of 7/15/2015</a:t>
            </a:r>
            <a:endParaRPr lang="en-US" sz="777" i="1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62200" y="1185222"/>
            <a:ext cx="6327967" cy="548165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4359" tIns="44359" rIns="88719" bIns="44359" rtlCol="0" anchor="ctr"/>
          <a:lstStyle/>
          <a:p>
            <a:pPr algn="ctr"/>
            <a:r>
              <a:rPr lang="en-US" sz="1165" b="1" dirty="0">
                <a:solidFill>
                  <a:srgbClr val="FFFFFF"/>
                </a:solidFill>
              </a:rPr>
              <a:t>Treasury Yield </a:t>
            </a:r>
            <a:r>
              <a:rPr lang="en-US" sz="1165" b="1" dirty="0" smtClean="0">
                <a:solidFill>
                  <a:srgbClr val="FFFFFF"/>
                </a:solidFill>
              </a:rPr>
              <a:t>Curve </a:t>
            </a:r>
          </a:p>
          <a:p>
            <a:pPr algn="ctr"/>
            <a:r>
              <a:rPr lang="en-US" sz="1165" dirty="0" smtClean="0">
                <a:solidFill>
                  <a:srgbClr val="FFFFFF"/>
                </a:solidFill>
              </a:rPr>
              <a:t>(June 2015 vs </a:t>
            </a:r>
            <a:r>
              <a:rPr lang="en-US" sz="1165" dirty="0">
                <a:solidFill>
                  <a:srgbClr val="FFFFFF"/>
                </a:solidFill>
              </a:rPr>
              <a:t>September 2015</a:t>
            </a:r>
            <a:r>
              <a:rPr lang="en-US" sz="1165" dirty="0" smtClean="0">
                <a:solidFill>
                  <a:srgbClr val="FFFFFF"/>
                </a:solidFill>
              </a:rPr>
              <a:t>)</a:t>
            </a:r>
            <a:endParaRPr lang="en-US" sz="1165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51" y="299054"/>
            <a:ext cx="7565372" cy="522334"/>
          </a:xfrm>
        </p:spPr>
        <p:txBody>
          <a:bodyPr/>
          <a:lstStyle/>
          <a:p>
            <a:pPr lvl="0"/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371600" y="299054"/>
            <a:ext cx="7565372" cy="522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5pPr>
            <a:lvl6pPr marL="456775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6pPr>
            <a:lvl7pPr marL="913550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7pPr>
            <a:lvl8pPr marL="1370324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8pPr>
            <a:lvl9pPr marL="1827098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defTabSz="914400"/>
            <a:r>
              <a:rPr lang="en-US" kern="0" dirty="0" smtClean="0"/>
              <a:t>YIELD CURVE CHANGES</a:t>
            </a:r>
            <a:endParaRPr lang="en-US" kern="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1128940"/>
            <a:ext cx="1981200" cy="267525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/>
              <a:t>Comments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735662952"/>
              </p:ext>
            </p:extLst>
          </p:nvPr>
        </p:nvGraphicFramePr>
        <p:xfrm>
          <a:off x="2438401" y="1905000"/>
          <a:ext cx="6327967" cy="2343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1" name="Group 60"/>
          <p:cNvGrpSpPr/>
          <p:nvPr/>
        </p:nvGrpSpPr>
        <p:grpSpPr>
          <a:xfrm>
            <a:off x="2438400" y="4267200"/>
            <a:ext cx="6327967" cy="1891844"/>
            <a:chOff x="2362199" y="4267200"/>
            <a:chExt cx="6327967" cy="1891844"/>
          </a:xfrm>
        </p:grpSpPr>
        <p:graphicFrame>
          <p:nvGraphicFramePr>
            <p:cNvPr id="12" name="Chart 11"/>
            <p:cNvGraphicFramePr/>
            <p:nvPr>
              <p:extLst>
                <p:ext uri="{D42A27DB-BD31-4B8C-83A1-F6EECF244321}">
                  <p14:modId xmlns:p14="http://schemas.microsoft.com/office/powerpoint/2010/main" val="2811870326"/>
                </p:ext>
              </p:extLst>
            </p:nvPr>
          </p:nvGraphicFramePr>
          <p:xfrm>
            <a:off x="2362199" y="4267200"/>
            <a:ext cx="6327967" cy="17790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0" name="TextBox 49"/>
            <p:cNvSpPr txBox="1"/>
            <p:nvPr/>
          </p:nvSpPr>
          <p:spPr>
            <a:xfrm>
              <a:off x="266700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1M</a:t>
              </a:r>
              <a:endParaRPr lang="en-US" sz="8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95910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3M</a:t>
              </a:r>
              <a:endParaRPr lang="en-US" sz="8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25120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6</a:t>
              </a:r>
              <a:r>
                <a:rPr lang="en-US" sz="800" dirty="0" smtClean="0"/>
                <a:t>M</a:t>
              </a:r>
              <a:endParaRPr lang="en-US" sz="8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54330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1Yr</a:t>
              </a:r>
              <a:endParaRPr lang="en-US" sz="8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2905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2</a:t>
              </a:r>
              <a:r>
                <a:rPr lang="en-US" sz="800" dirty="0" smtClean="0"/>
                <a:t>Yr</a:t>
              </a:r>
              <a:endParaRPr lang="en-US" sz="80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11480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3Yr</a:t>
              </a:r>
              <a:endParaRPr lang="en-US" sz="8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73075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5</a:t>
              </a:r>
              <a:r>
                <a:rPr lang="en-US" sz="800" dirty="0" smtClean="0"/>
                <a:t>Yr</a:t>
              </a:r>
              <a:endParaRPr lang="en-US" sz="8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302250" y="5943600"/>
              <a:ext cx="381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7Yr</a:t>
              </a:r>
              <a:endParaRPr lang="en-US" sz="8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854700" y="5943600"/>
              <a:ext cx="4699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10Yr</a:t>
              </a:r>
              <a:endParaRPr lang="en-US" sz="8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067550" y="5943600"/>
              <a:ext cx="4699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2</a:t>
              </a:r>
              <a:r>
                <a:rPr lang="en-US" sz="800" dirty="0" smtClean="0"/>
                <a:t>0Yr</a:t>
              </a:r>
              <a:endParaRPr lang="en-US" sz="80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210550" y="5943600"/>
              <a:ext cx="4699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30Yr</a:t>
              </a:r>
              <a:endParaRPr lang="en-US" sz="800" dirty="0"/>
            </a:p>
          </p:txBody>
        </p:sp>
      </p:grpSp>
      <p:cxnSp>
        <p:nvCxnSpPr>
          <p:cNvPr id="63" name="Straight Connector 62"/>
          <p:cNvCxnSpPr/>
          <p:nvPr/>
        </p:nvCxnSpPr>
        <p:spPr>
          <a:xfrm>
            <a:off x="2766349" y="4682922"/>
            <a:ext cx="58673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10800000">
            <a:off x="2197911" y="2438400"/>
            <a:ext cx="338554" cy="1447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000" dirty="0" smtClean="0"/>
              <a:t>Yield Curve</a:t>
            </a:r>
            <a:endParaRPr lang="en-US" sz="1000" dirty="0"/>
          </a:p>
        </p:txBody>
      </p:sp>
      <p:sp>
        <p:nvSpPr>
          <p:cNvPr id="65" name="TextBox 64"/>
          <p:cNvSpPr txBox="1"/>
          <p:nvPr/>
        </p:nvSpPr>
        <p:spPr>
          <a:xfrm rot="10800000">
            <a:off x="2197911" y="4343400"/>
            <a:ext cx="338554" cy="1447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000" dirty="0" smtClean="0"/>
              <a:t>Quarterly Changes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6778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52881</TotalTime>
  <Words>37</Words>
  <Application>Microsoft Office PowerPoint</Application>
  <PresentationFormat>On-screen Show (4:3)</PresentationFormat>
  <Paragraphs>20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4_Default Design</vt:lpstr>
      <vt:lpstr>Custom Design</vt:lpstr>
      <vt:lpstr>1_Custom Design</vt:lpstr>
      <vt:lpstr>5_Default Design</vt:lpstr>
      <vt:lpstr> 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OVERVIEW OF INVESTMENT PROCESS</dc:title>
  <dc:creator>Carly</dc:creator>
  <cp:lastModifiedBy>Lien Chen</cp:lastModifiedBy>
  <cp:revision>1060</cp:revision>
  <cp:lastPrinted>2015-07-27T20:30:17Z</cp:lastPrinted>
  <dcterms:created xsi:type="dcterms:W3CDTF">2013-07-09T16:35:22Z</dcterms:created>
  <dcterms:modified xsi:type="dcterms:W3CDTF">2015-10-05T21:26:29Z</dcterms:modified>
</cp:coreProperties>
</file>