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1.xml" ContentType="application/vnd.openxmlformats-officedocument.themeOverride+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6" r:id="rId1"/>
    <p:sldMasterId id="2147483660" r:id="rId2"/>
    <p:sldMasterId id="2147483669" r:id="rId3"/>
    <p:sldMasterId id="2147483675" r:id="rId4"/>
  </p:sldMasterIdLst>
  <p:notesMasterIdLst>
    <p:notesMasterId r:id="rId19"/>
  </p:notesMasterIdLst>
  <p:sldIdLst>
    <p:sldId id="377" r:id="rId5"/>
    <p:sldId id="432" r:id="rId6"/>
    <p:sldId id="433" r:id="rId7"/>
    <p:sldId id="434" r:id="rId8"/>
    <p:sldId id="435" r:id="rId9"/>
    <p:sldId id="429" r:id="rId10"/>
    <p:sldId id="436" r:id="rId11"/>
    <p:sldId id="401" r:id="rId12"/>
    <p:sldId id="422" r:id="rId13"/>
    <p:sldId id="430" r:id="rId14"/>
    <p:sldId id="424" r:id="rId15"/>
    <p:sldId id="431" r:id="rId16"/>
    <p:sldId id="404" r:id="rId17"/>
    <p:sldId id="389" r:id="rId18"/>
  </p:sldIdLst>
  <p:sldSz cx="9144000" cy="6858000" type="screen4x3"/>
  <p:notesSz cx="6934200" cy="9220200"/>
  <p:defaultTextStyle>
    <a:defPPr>
      <a:defRPr lang="en-US"/>
    </a:defPPr>
    <a:lvl1pPr marL="0" algn="l" defTabSz="913758" rtl="0" eaLnBrk="1" latinLnBrk="0" hangingPunct="1">
      <a:defRPr sz="1800" kern="1200">
        <a:solidFill>
          <a:schemeClr val="tx1"/>
        </a:solidFill>
        <a:latin typeface="+mn-lt"/>
        <a:ea typeface="+mn-ea"/>
        <a:cs typeface="+mn-cs"/>
      </a:defRPr>
    </a:lvl1pPr>
    <a:lvl2pPr marL="456880" algn="l" defTabSz="913758" rtl="0" eaLnBrk="1" latinLnBrk="0" hangingPunct="1">
      <a:defRPr sz="1800" kern="1200">
        <a:solidFill>
          <a:schemeClr val="tx1"/>
        </a:solidFill>
        <a:latin typeface="+mn-lt"/>
        <a:ea typeface="+mn-ea"/>
        <a:cs typeface="+mn-cs"/>
      </a:defRPr>
    </a:lvl2pPr>
    <a:lvl3pPr marL="913758" algn="l" defTabSz="913758" rtl="0" eaLnBrk="1" latinLnBrk="0" hangingPunct="1">
      <a:defRPr sz="1800" kern="1200">
        <a:solidFill>
          <a:schemeClr val="tx1"/>
        </a:solidFill>
        <a:latin typeface="+mn-lt"/>
        <a:ea typeface="+mn-ea"/>
        <a:cs typeface="+mn-cs"/>
      </a:defRPr>
    </a:lvl3pPr>
    <a:lvl4pPr marL="1370639" algn="l" defTabSz="913758" rtl="0" eaLnBrk="1" latinLnBrk="0" hangingPunct="1">
      <a:defRPr sz="1800" kern="1200">
        <a:solidFill>
          <a:schemeClr val="tx1"/>
        </a:solidFill>
        <a:latin typeface="+mn-lt"/>
        <a:ea typeface="+mn-ea"/>
        <a:cs typeface="+mn-cs"/>
      </a:defRPr>
    </a:lvl4pPr>
    <a:lvl5pPr marL="1827517" algn="l" defTabSz="913758" rtl="0" eaLnBrk="1" latinLnBrk="0" hangingPunct="1">
      <a:defRPr sz="1800" kern="1200">
        <a:solidFill>
          <a:schemeClr val="tx1"/>
        </a:solidFill>
        <a:latin typeface="+mn-lt"/>
        <a:ea typeface="+mn-ea"/>
        <a:cs typeface="+mn-cs"/>
      </a:defRPr>
    </a:lvl5pPr>
    <a:lvl6pPr marL="2284398" algn="l" defTabSz="913758" rtl="0" eaLnBrk="1" latinLnBrk="0" hangingPunct="1">
      <a:defRPr sz="1800" kern="1200">
        <a:solidFill>
          <a:schemeClr val="tx1"/>
        </a:solidFill>
        <a:latin typeface="+mn-lt"/>
        <a:ea typeface="+mn-ea"/>
        <a:cs typeface="+mn-cs"/>
      </a:defRPr>
    </a:lvl6pPr>
    <a:lvl7pPr marL="2741275" algn="l" defTabSz="913758" rtl="0" eaLnBrk="1" latinLnBrk="0" hangingPunct="1">
      <a:defRPr sz="1800" kern="1200">
        <a:solidFill>
          <a:schemeClr val="tx1"/>
        </a:solidFill>
        <a:latin typeface="+mn-lt"/>
        <a:ea typeface="+mn-ea"/>
        <a:cs typeface="+mn-cs"/>
      </a:defRPr>
    </a:lvl7pPr>
    <a:lvl8pPr marL="3198156" algn="l" defTabSz="913758" rtl="0" eaLnBrk="1" latinLnBrk="0" hangingPunct="1">
      <a:defRPr sz="1800" kern="1200">
        <a:solidFill>
          <a:schemeClr val="tx1"/>
        </a:solidFill>
        <a:latin typeface="+mn-lt"/>
        <a:ea typeface="+mn-ea"/>
        <a:cs typeface="+mn-cs"/>
      </a:defRPr>
    </a:lvl8pPr>
    <a:lvl9pPr marL="3655033" algn="l" defTabSz="913758"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EBE4"/>
    <a:srgbClr val="000000"/>
    <a:srgbClr val="2E8A60"/>
    <a:srgbClr val="C7732D"/>
    <a:srgbClr val="968A7E"/>
    <a:srgbClr val="2E398A"/>
    <a:srgbClr val="968880"/>
    <a:srgbClr val="2033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617" autoAdjust="0"/>
    <p:restoredTop sz="94691" autoAdjust="0"/>
  </p:normalViewPr>
  <p:slideViewPr>
    <p:cSldViewPr showGuides="1">
      <p:cViewPr>
        <p:scale>
          <a:sx n="120" d="100"/>
          <a:sy n="120" d="100"/>
        </p:scale>
        <p:origin x="-1884" y="-87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oleObject" Target="file:///C:\Users\sharad.chaudhary\Desktop\Update%20Data%20Q4%202015%20Quarterly%20Call%20-%20Updated%20to%2012-11.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Users\sharad.chaudhary\Desktop\Empirical%20vs%20Model.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sharad.chaudhary\Desktop\Empirical%20vs%20Model.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26937308617444E-2"/>
          <c:y val="0.11743806414442094"/>
          <c:w val="0.92965402632472638"/>
          <c:h val="0.82294133964961702"/>
        </c:manualLayout>
      </c:layout>
      <c:lineChart>
        <c:grouping val="standard"/>
        <c:varyColors val="0"/>
        <c:ser>
          <c:idx val="1"/>
          <c:order val="0"/>
          <c:tx>
            <c:strRef>
              <c:f>Sheet1!$B$1</c:f>
              <c:strCache>
                <c:ptCount val="1"/>
                <c:pt idx="0">
                  <c:v>Treasury Yield Curve 12/31/2014</c:v>
                </c:pt>
              </c:strCache>
            </c:strRef>
          </c:tx>
          <c:spPr>
            <a:ln>
              <a:solidFill>
                <a:schemeClr val="bg2">
                  <a:lumMod val="50000"/>
                </a:schemeClr>
              </a:solidFill>
            </a:ln>
          </c:spPr>
          <c:marker>
            <c:symbol val="circle"/>
            <c:size val="4"/>
            <c:spPr>
              <a:solidFill>
                <a:schemeClr val="bg2">
                  <a:lumMod val="50000"/>
                </a:schemeClr>
              </a:solidFill>
              <a:ln>
                <a:noFill/>
              </a:ln>
            </c:spPr>
          </c:marker>
          <c:cat>
            <c:numRef>
              <c:f>Sheet1!$A$2:$A$12</c:f>
              <c:numCache>
                <c:formatCode>General</c:formatCode>
                <c:ptCount val="11"/>
                <c:pt idx="0">
                  <c:v>1</c:v>
                </c:pt>
                <c:pt idx="1">
                  <c:v>2</c:v>
                </c:pt>
                <c:pt idx="2">
                  <c:v>3</c:v>
                </c:pt>
                <c:pt idx="3">
                  <c:v>4</c:v>
                </c:pt>
                <c:pt idx="4">
                  <c:v>5</c:v>
                </c:pt>
                <c:pt idx="5">
                  <c:v>6</c:v>
                </c:pt>
                <c:pt idx="6">
                  <c:v>8</c:v>
                </c:pt>
                <c:pt idx="7">
                  <c:v>10</c:v>
                </c:pt>
                <c:pt idx="8">
                  <c:v>12</c:v>
                </c:pt>
                <c:pt idx="9">
                  <c:v>16</c:v>
                </c:pt>
                <c:pt idx="10">
                  <c:v>20</c:v>
                </c:pt>
              </c:numCache>
            </c:numRef>
          </c:cat>
          <c:val>
            <c:numRef>
              <c:f>Sheet1!$B$2:$B$12</c:f>
              <c:numCache>
                <c:formatCode>General</c:formatCode>
                <c:ptCount val="11"/>
                <c:pt idx="0">
                  <c:v>0.03</c:v>
                </c:pt>
                <c:pt idx="1">
                  <c:v>0.04</c:v>
                </c:pt>
                <c:pt idx="2">
                  <c:v>0.12</c:v>
                </c:pt>
                <c:pt idx="3">
                  <c:v>0.25</c:v>
                </c:pt>
                <c:pt idx="4">
                  <c:v>0.67</c:v>
                </c:pt>
                <c:pt idx="5">
                  <c:v>1.1000000000000001</c:v>
                </c:pt>
                <c:pt idx="6">
                  <c:v>1.65</c:v>
                </c:pt>
                <c:pt idx="7">
                  <c:v>1.97</c:v>
                </c:pt>
                <c:pt idx="8">
                  <c:v>2.17</c:v>
                </c:pt>
                <c:pt idx="9">
                  <c:v>2.4700000000000002</c:v>
                </c:pt>
                <c:pt idx="10">
                  <c:v>2.75</c:v>
                </c:pt>
              </c:numCache>
            </c:numRef>
          </c:val>
          <c:smooth val="0"/>
        </c:ser>
        <c:ser>
          <c:idx val="0"/>
          <c:order val="1"/>
          <c:tx>
            <c:strRef>
              <c:f>Sheet1!$C$1</c:f>
              <c:strCache>
                <c:ptCount val="1"/>
                <c:pt idx="0">
                  <c:v>Treasury Yield Curve 9/30/2015</c:v>
                </c:pt>
              </c:strCache>
            </c:strRef>
          </c:tx>
          <c:spPr>
            <a:ln>
              <a:solidFill>
                <a:schemeClr val="accent2"/>
              </a:solidFill>
            </a:ln>
          </c:spPr>
          <c:marker>
            <c:symbol val="circle"/>
            <c:size val="5"/>
            <c:spPr>
              <a:solidFill>
                <a:schemeClr val="accent2"/>
              </a:solidFill>
              <a:ln>
                <a:noFill/>
              </a:ln>
            </c:spPr>
          </c:marker>
          <c:cat>
            <c:numRef>
              <c:f>Sheet1!$A$2:$A$12</c:f>
              <c:numCache>
                <c:formatCode>General</c:formatCode>
                <c:ptCount val="11"/>
                <c:pt idx="0">
                  <c:v>1</c:v>
                </c:pt>
                <c:pt idx="1">
                  <c:v>2</c:v>
                </c:pt>
                <c:pt idx="2">
                  <c:v>3</c:v>
                </c:pt>
                <c:pt idx="3">
                  <c:v>4</c:v>
                </c:pt>
                <c:pt idx="4">
                  <c:v>5</c:v>
                </c:pt>
                <c:pt idx="5">
                  <c:v>6</c:v>
                </c:pt>
                <c:pt idx="6">
                  <c:v>8</c:v>
                </c:pt>
                <c:pt idx="7">
                  <c:v>10</c:v>
                </c:pt>
                <c:pt idx="8">
                  <c:v>12</c:v>
                </c:pt>
                <c:pt idx="9">
                  <c:v>16</c:v>
                </c:pt>
                <c:pt idx="10">
                  <c:v>20</c:v>
                </c:pt>
              </c:numCache>
            </c:numRef>
          </c:cat>
          <c:val>
            <c:numRef>
              <c:f>Sheet1!$C$2:$C$12</c:f>
              <c:numCache>
                <c:formatCode>General</c:formatCode>
                <c:ptCount val="11"/>
                <c:pt idx="0">
                  <c:v>0</c:v>
                </c:pt>
                <c:pt idx="1">
                  <c:v>0</c:v>
                </c:pt>
                <c:pt idx="2">
                  <c:v>0.08</c:v>
                </c:pt>
                <c:pt idx="3">
                  <c:v>0.33</c:v>
                </c:pt>
                <c:pt idx="4">
                  <c:v>0.64</c:v>
                </c:pt>
                <c:pt idx="5">
                  <c:v>0.92</c:v>
                </c:pt>
                <c:pt idx="6">
                  <c:v>1.37</c:v>
                </c:pt>
                <c:pt idx="7">
                  <c:v>1.75</c:v>
                </c:pt>
                <c:pt idx="8">
                  <c:v>2.06</c:v>
                </c:pt>
                <c:pt idx="9">
                  <c:v>2.5099999999999998</c:v>
                </c:pt>
                <c:pt idx="10">
                  <c:v>2.87</c:v>
                </c:pt>
              </c:numCache>
            </c:numRef>
          </c:val>
          <c:smooth val="0"/>
        </c:ser>
        <c:ser>
          <c:idx val="2"/>
          <c:order val="2"/>
          <c:tx>
            <c:strRef>
              <c:f>Sheet1!$D$1</c:f>
              <c:strCache>
                <c:ptCount val="1"/>
                <c:pt idx="0">
                  <c:v>Treasury Yield Curve 12/31/2015</c:v>
                </c:pt>
              </c:strCache>
            </c:strRef>
          </c:tx>
          <c:spPr>
            <a:ln>
              <a:solidFill>
                <a:srgbClr val="2E398A"/>
              </a:solidFill>
            </a:ln>
          </c:spPr>
          <c:marker>
            <c:symbol val="circle"/>
            <c:size val="5"/>
            <c:spPr>
              <a:solidFill>
                <a:schemeClr val="accent1"/>
              </a:solidFill>
              <a:ln>
                <a:noFill/>
              </a:ln>
            </c:spPr>
          </c:marker>
          <c:cat>
            <c:numRef>
              <c:f>Sheet1!$A$2:$A$12</c:f>
              <c:numCache>
                <c:formatCode>General</c:formatCode>
                <c:ptCount val="11"/>
                <c:pt idx="0">
                  <c:v>1</c:v>
                </c:pt>
                <c:pt idx="1">
                  <c:v>2</c:v>
                </c:pt>
                <c:pt idx="2">
                  <c:v>3</c:v>
                </c:pt>
                <c:pt idx="3">
                  <c:v>4</c:v>
                </c:pt>
                <c:pt idx="4">
                  <c:v>5</c:v>
                </c:pt>
                <c:pt idx="5">
                  <c:v>6</c:v>
                </c:pt>
                <c:pt idx="6">
                  <c:v>8</c:v>
                </c:pt>
                <c:pt idx="7">
                  <c:v>10</c:v>
                </c:pt>
                <c:pt idx="8">
                  <c:v>12</c:v>
                </c:pt>
                <c:pt idx="9">
                  <c:v>16</c:v>
                </c:pt>
                <c:pt idx="10">
                  <c:v>20</c:v>
                </c:pt>
              </c:numCache>
            </c:numRef>
          </c:cat>
          <c:val>
            <c:numRef>
              <c:f>Sheet1!$D$2:$D$12</c:f>
              <c:numCache>
                <c:formatCode>General</c:formatCode>
                <c:ptCount val="11"/>
                <c:pt idx="0">
                  <c:v>0.14000000000000001</c:v>
                </c:pt>
                <c:pt idx="1">
                  <c:v>0.16</c:v>
                </c:pt>
                <c:pt idx="2">
                  <c:v>0.49</c:v>
                </c:pt>
                <c:pt idx="3">
                  <c:v>0.65</c:v>
                </c:pt>
                <c:pt idx="4">
                  <c:v>1.06</c:v>
                </c:pt>
                <c:pt idx="5">
                  <c:v>1.31</c:v>
                </c:pt>
                <c:pt idx="6">
                  <c:v>1.76</c:v>
                </c:pt>
                <c:pt idx="7">
                  <c:v>2.09</c:v>
                </c:pt>
                <c:pt idx="8">
                  <c:v>2.27</c:v>
                </c:pt>
                <c:pt idx="9">
                  <c:v>2.67</c:v>
                </c:pt>
                <c:pt idx="10">
                  <c:v>3.01</c:v>
                </c:pt>
              </c:numCache>
            </c:numRef>
          </c:val>
          <c:smooth val="0"/>
        </c:ser>
        <c:dLbls>
          <c:showLegendKey val="0"/>
          <c:showVal val="0"/>
          <c:showCatName val="0"/>
          <c:showSerName val="0"/>
          <c:showPercent val="0"/>
          <c:showBubbleSize val="0"/>
        </c:dLbls>
        <c:marker val="1"/>
        <c:smooth val="0"/>
        <c:axId val="123088896"/>
        <c:axId val="123091584"/>
      </c:lineChart>
      <c:dateAx>
        <c:axId val="123088896"/>
        <c:scaling>
          <c:orientation val="minMax"/>
        </c:scaling>
        <c:delete val="1"/>
        <c:axPos val="b"/>
        <c:numFmt formatCode="General" sourceLinked="1"/>
        <c:majorTickMark val="out"/>
        <c:minorTickMark val="none"/>
        <c:tickLblPos val="nextTo"/>
        <c:crossAx val="123091584"/>
        <c:crosses val="autoZero"/>
        <c:auto val="0"/>
        <c:lblOffset val="100"/>
        <c:baseTimeUnit val="days"/>
      </c:dateAx>
      <c:valAx>
        <c:axId val="123091584"/>
        <c:scaling>
          <c:orientation val="minMax"/>
        </c:scaling>
        <c:delete val="0"/>
        <c:axPos val="l"/>
        <c:majorGridlines>
          <c:spPr>
            <a:ln>
              <a:prstDash val="dash"/>
            </a:ln>
          </c:spPr>
        </c:majorGridlines>
        <c:numFmt formatCode="#,##0.0" sourceLinked="0"/>
        <c:majorTickMark val="out"/>
        <c:minorTickMark val="none"/>
        <c:tickLblPos val="nextTo"/>
        <c:crossAx val="123088896"/>
        <c:crosses val="autoZero"/>
        <c:crossBetween val="between"/>
      </c:valAx>
    </c:plotArea>
    <c:legend>
      <c:legendPos val="t"/>
      <c:layout>
        <c:manualLayout>
          <c:xMode val="edge"/>
          <c:yMode val="edge"/>
          <c:x val="4.1853726481190553E-2"/>
          <c:y val="1.0840108401084011E-2"/>
          <c:w val="0.89999995259140886"/>
          <c:h val="8.4917738941168941E-2"/>
        </c:manualLayout>
      </c:layout>
      <c:overlay val="0"/>
    </c:legend>
    <c:plotVisOnly val="1"/>
    <c:dispBlanksAs val="gap"/>
    <c:showDLblsOverMax val="0"/>
  </c:chart>
  <c:txPr>
    <a:bodyPr/>
    <a:lstStyle/>
    <a:p>
      <a:pPr>
        <a:defRPr sz="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826937308617444E-2"/>
          <c:y val="3.4104799400074992E-2"/>
          <c:w val="0.92965402632472638"/>
          <c:h val="0.77034761672401653"/>
        </c:manualLayout>
      </c:layout>
      <c:barChart>
        <c:barDir val="col"/>
        <c:grouping val="clustered"/>
        <c:varyColors val="0"/>
        <c:ser>
          <c:idx val="0"/>
          <c:order val="0"/>
          <c:tx>
            <c:strRef>
              <c:f>Sheet1!$B$1</c:f>
              <c:strCache>
                <c:ptCount val="1"/>
                <c:pt idx="0">
                  <c:v>Q4 - Q3 2015</c:v>
                </c:pt>
              </c:strCache>
            </c:strRef>
          </c:tx>
          <c:spPr>
            <a:solidFill>
              <a:schemeClr val="accent2"/>
            </a:solidFill>
          </c:spPr>
          <c:invertIfNegative val="0"/>
          <c:cat>
            <c:numRef>
              <c:f>Sheet1!$A$2:$A$12</c:f>
              <c:numCache>
                <c:formatCode>General</c:formatCode>
                <c:ptCount val="11"/>
                <c:pt idx="0">
                  <c:v>1</c:v>
                </c:pt>
                <c:pt idx="1">
                  <c:v>2</c:v>
                </c:pt>
                <c:pt idx="2">
                  <c:v>3</c:v>
                </c:pt>
                <c:pt idx="3">
                  <c:v>4</c:v>
                </c:pt>
                <c:pt idx="4">
                  <c:v>5</c:v>
                </c:pt>
                <c:pt idx="5">
                  <c:v>6</c:v>
                </c:pt>
                <c:pt idx="6">
                  <c:v>8</c:v>
                </c:pt>
                <c:pt idx="7">
                  <c:v>10</c:v>
                </c:pt>
                <c:pt idx="8">
                  <c:v>12</c:v>
                </c:pt>
                <c:pt idx="9">
                  <c:v>16</c:v>
                </c:pt>
                <c:pt idx="10">
                  <c:v>20</c:v>
                </c:pt>
              </c:numCache>
            </c:numRef>
          </c:cat>
          <c:val>
            <c:numRef>
              <c:f>Sheet1!$B$2:$B$12</c:f>
              <c:numCache>
                <c:formatCode>General</c:formatCode>
                <c:ptCount val="11"/>
                <c:pt idx="0">
                  <c:v>14.000000000000002</c:v>
                </c:pt>
                <c:pt idx="1">
                  <c:v>16</c:v>
                </c:pt>
                <c:pt idx="2">
                  <c:v>41</c:v>
                </c:pt>
                <c:pt idx="3">
                  <c:v>32</c:v>
                </c:pt>
                <c:pt idx="4">
                  <c:v>42.000000000000007</c:v>
                </c:pt>
                <c:pt idx="5">
                  <c:v>39</c:v>
                </c:pt>
                <c:pt idx="6">
                  <c:v>38.999999999999993</c:v>
                </c:pt>
                <c:pt idx="7">
                  <c:v>33.999999999999986</c:v>
                </c:pt>
                <c:pt idx="8">
                  <c:v>20.999999999999996</c:v>
                </c:pt>
                <c:pt idx="9">
                  <c:v>16.000000000000014</c:v>
                </c:pt>
                <c:pt idx="10">
                  <c:v>13.999999999999968</c:v>
                </c:pt>
              </c:numCache>
            </c:numRef>
          </c:val>
        </c:ser>
        <c:ser>
          <c:idx val="1"/>
          <c:order val="1"/>
          <c:tx>
            <c:strRef>
              <c:f>Sheet1!$C$1</c:f>
              <c:strCache>
                <c:ptCount val="1"/>
                <c:pt idx="0">
                  <c:v>Q4 2015 - Q4 2014</c:v>
                </c:pt>
              </c:strCache>
            </c:strRef>
          </c:tx>
          <c:spPr>
            <a:solidFill>
              <a:schemeClr val="bg2">
                <a:lumMod val="75000"/>
              </a:schemeClr>
            </a:solidFill>
          </c:spPr>
          <c:invertIfNegative val="0"/>
          <c:cat>
            <c:numRef>
              <c:f>Sheet1!$A$2:$A$12</c:f>
              <c:numCache>
                <c:formatCode>General</c:formatCode>
                <c:ptCount val="11"/>
                <c:pt idx="0">
                  <c:v>1</c:v>
                </c:pt>
                <c:pt idx="1">
                  <c:v>2</c:v>
                </c:pt>
                <c:pt idx="2">
                  <c:v>3</c:v>
                </c:pt>
                <c:pt idx="3">
                  <c:v>4</c:v>
                </c:pt>
                <c:pt idx="4">
                  <c:v>5</c:v>
                </c:pt>
                <c:pt idx="5">
                  <c:v>6</c:v>
                </c:pt>
                <c:pt idx="6">
                  <c:v>8</c:v>
                </c:pt>
                <c:pt idx="7">
                  <c:v>10</c:v>
                </c:pt>
                <c:pt idx="8">
                  <c:v>12</c:v>
                </c:pt>
                <c:pt idx="9">
                  <c:v>16</c:v>
                </c:pt>
                <c:pt idx="10">
                  <c:v>20</c:v>
                </c:pt>
              </c:numCache>
            </c:numRef>
          </c:cat>
          <c:val>
            <c:numRef>
              <c:f>Sheet1!$C$2:$C$12</c:f>
              <c:numCache>
                <c:formatCode>General</c:formatCode>
                <c:ptCount val="11"/>
                <c:pt idx="0">
                  <c:v>11.000000000000002</c:v>
                </c:pt>
                <c:pt idx="1">
                  <c:v>12</c:v>
                </c:pt>
                <c:pt idx="2">
                  <c:v>37</c:v>
                </c:pt>
                <c:pt idx="3">
                  <c:v>40</c:v>
                </c:pt>
                <c:pt idx="4">
                  <c:v>39</c:v>
                </c:pt>
                <c:pt idx="5">
                  <c:v>20.999999999999996</c:v>
                </c:pt>
                <c:pt idx="6">
                  <c:v>11.000000000000011</c:v>
                </c:pt>
                <c:pt idx="7">
                  <c:v>11.999999999999989</c:v>
                </c:pt>
                <c:pt idx="8">
                  <c:v>10.000000000000009</c:v>
                </c:pt>
                <c:pt idx="9">
                  <c:v>19.999999999999972</c:v>
                </c:pt>
                <c:pt idx="10">
                  <c:v>25.999999999999979</c:v>
                </c:pt>
              </c:numCache>
            </c:numRef>
          </c:val>
        </c:ser>
        <c:dLbls>
          <c:showLegendKey val="0"/>
          <c:showVal val="0"/>
          <c:showCatName val="0"/>
          <c:showSerName val="0"/>
          <c:showPercent val="0"/>
          <c:showBubbleSize val="0"/>
        </c:dLbls>
        <c:gapWidth val="150"/>
        <c:axId val="136661632"/>
        <c:axId val="136839936"/>
      </c:barChart>
      <c:dateAx>
        <c:axId val="136661632"/>
        <c:scaling>
          <c:orientation val="minMax"/>
        </c:scaling>
        <c:delete val="1"/>
        <c:axPos val="b"/>
        <c:numFmt formatCode="General" sourceLinked="1"/>
        <c:majorTickMark val="out"/>
        <c:minorTickMark val="none"/>
        <c:tickLblPos val="nextTo"/>
        <c:crossAx val="136839936"/>
        <c:crosses val="autoZero"/>
        <c:auto val="0"/>
        <c:lblOffset val="100"/>
        <c:baseTimeUnit val="days"/>
      </c:dateAx>
      <c:valAx>
        <c:axId val="136839936"/>
        <c:scaling>
          <c:orientation val="minMax"/>
        </c:scaling>
        <c:delete val="0"/>
        <c:axPos val="l"/>
        <c:majorGridlines>
          <c:spPr>
            <a:ln>
              <a:prstDash val="dash"/>
            </a:ln>
          </c:spPr>
        </c:majorGridlines>
        <c:numFmt formatCode="General" sourceLinked="1"/>
        <c:majorTickMark val="out"/>
        <c:minorTickMark val="none"/>
        <c:tickLblPos val="nextTo"/>
        <c:crossAx val="136661632"/>
        <c:crosses val="autoZero"/>
        <c:crossBetween val="between"/>
      </c:valAx>
      <c:spPr>
        <a:ln>
          <a:solidFill>
            <a:schemeClr val="tx1"/>
          </a:solidFill>
        </a:ln>
      </c:spPr>
    </c:plotArea>
    <c:legend>
      <c:legendPos val="b"/>
      <c:layout>
        <c:manualLayout>
          <c:xMode val="edge"/>
          <c:yMode val="edge"/>
          <c:x val="0.37532227965158471"/>
          <c:y val="0.8908422285261427"/>
          <c:w val="0.24935544069683044"/>
          <c:h val="9.6800746870242968E-2"/>
        </c:manualLayout>
      </c:layout>
      <c:overlay val="0"/>
    </c:legend>
    <c:plotVisOnly val="1"/>
    <c:dispBlanksAs val="gap"/>
    <c:showDLblsOverMax val="0"/>
  </c:chart>
  <c:txPr>
    <a:bodyPr/>
    <a:lstStyle/>
    <a:p>
      <a:pPr>
        <a:defRPr sz="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'[Update Data Q4 2015 Quarterly Call - Updated to 12-11.xlsx]OAS and Media Effect'!$C$1</c:f>
              <c:strCache>
                <c:ptCount val="1"/>
                <c:pt idx="0">
                  <c:v>IOS 4s 2010 OAS </c:v>
                </c:pt>
              </c:strCache>
            </c:strRef>
          </c:tx>
          <c:spPr>
            <a:ln w="28575" cap="rnd">
              <a:solidFill>
                <a:schemeClr val="accent1"/>
              </a:solidFill>
              <a:round/>
            </a:ln>
            <a:effectLst/>
          </c:spPr>
          <c:marker>
            <c:symbol val="none"/>
          </c:marker>
          <c:cat>
            <c:numRef>
              <c:f>'[Update Data Q4 2015 Quarterly Call - Updated to 12-11.xlsx]OAS and Media Effect'!$A$2:$A$1213</c:f>
              <c:numCache>
                <c:formatCode>mm/dd/yyyy</c:formatCode>
                <c:ptCount val="1212"/>
                <c:pt idx="0">
                  <c:v>40576</c:v>
                </c:pt>
                <c:pt idx="1">
                  <c:v>40577</c:v>
                </c:pt>
                <c:pt idx="2">
                  <c:v>40578</c:v>
                </c:pt>
                <c:pt idx="3">
                  <c:v>40581</c:v>
                </c:pt>
                <c:pt idx="4">
                  <c:v>40582</c:v>
                </c:pt>
                <c:pt idx="5">
                  <c:v>40583</c:v>
                </c:pt>
                <c:pt idx="6">
                  <c:v>40584</c:v>
                </c:pt>
                <c:pt idx="7">
                  <c:v>40585</c:v>
                </c:pt>
                <c:pt idx="8">
                  <c:v>40588</c:v>
                </c:pt>
                <c:pt idx="9">
                  <c:v>40589</c:v>
                </c:pt>
                <c:pt idx="10">
                  <c:v>40590</c:v>
                </c:pt>
                <c:pt idx="11">
                  <c:v>40591</c:v>
                </c:pt>
                <c:pt idx="12">
                  <c:v>40592</c:v>
                </c:pt>
                <c:pt idx="13">
                  <c:v>40596</c:v>
                </c:pt>
                <c:pt idx="14">
                  <c:v>40597</c:v>
                </c:pt>
                <c:pt idx="15">
                  <c:v>40598</c:v>
                </c:pt>
                <c:pt idx="16">
                  <c:v>40599</c:v>
                </c:pt>
                <c:pt idx="17">
                  <c:v>40602</c:v>
                </c:pt>
                <c:pt idx="18">
                  <c:v>40603</c:v>
                </c:pt>
                <c:pt idx="19">
                  <c:v>40604</c:v>
                </c:pt>
                <c:pt idx="20">
                  <c:v>40605</c:v>
                </c:pt>
                <c:pt idx="21">
                  <c:v>40606</c:v>
                </c:pt>
                <c:pt idx="22">
                  <c:v>40609</c:v>
                </c:pt>
                <c:pt idx="23">
                  <c:v>40610</c:v>
                </c:pt>
                <c:pt idx="24">
                  <c:v>40611</c:v>
                </c:pt>
                <c:pt idx="25">
                  <c:v>40612</c:v>
                </c:pt>
                <c:pt idx="26">
                  <c:v>40613</c:v>
                </c:pt>
                <c:pt idx="27">
                  <c:v>40616</c:v>
                </c:pt>
                <c:pt idx="28">
                  <c:v>40617</c:v>
                </c:pt>
                <c:pt idx="29">
                  <c:v>40618</c:v>
                </c:pt>
                <c:pt idx="30">
                  <c:v>40619</c:v>
                </c:pt>
                <c:pt idx="31">
                  <c:v>40620</c:v>
                </c:pt>
                <c:pt idx="32">
                  <c:v>40623</c:v>
                </c:pt>
                <c:pt idx="33">
                  <c:v>40624</c:v>
                </c:pt>
                <c:pt idx="34">
                  <c:v>40625</c:v>
                </c:pt>
                <c:pt idx="35">
                  <c:v>40626</c:v>
                </c:pt>
                <c:pt idx="36">
                  <c:v>40627</c:v>
                </c:pt>
                <c:pt idx="37">
                  <c:v>40630</c:v>
                </c:pt>
                <c:pt idx="38">
                  <c:v>40631</c:v>
                </c:pt>
                <c:pt idx="39">
                  <c:v>40632</c:v>
                </c:pt>
                <c:pt idx="40">
                  <c:v>40633</c:v>
                </c:pt>
                <c:pt idx="41">
                  <c:v>40634</c:v>
                </c:pt>
                <c:pt idx="42">
                  <c:v>40637</c:v>
                </c:pt>
                <c:pt idx="43">
                  <c:v>40638</c:v>
                </c:pt>
                <c:pt idx="44">
                  <c:v>40639</c:v>
                </c:pt>
                <c:pt idx="45">
                  <c:v>40640</c:v>
                </c:pt>
                <c:pt idx="46">
                  <c:v>40641</c:v>
                </c:pt>
                <c:pt idx="47">
                  <c:v>40644</c:v>
                </c:pt>
                <c:pt idx="48">
                  <c:v>40645</c:v>
                </c:pt>
                <c:pt idx="49">
                  <c:v>40646</c:v>
                </c:pt>
                <c:pt idx="50">
                  <c:v>40647</c:v>
                </c:pt>
                <c:pt idx="51">
                  <c:v>40648</c:v>
                </c:pt>
                <c:pt idx="52">
                  <c:v>40651</c:v>
                </c:pt>
                <c:pt idx="53">
                  <c:v>40652</c:v>
                </c:pt>
                <c:pt idx="54">
                  <c:v>40653</c:v>
                </c:pt>
                <c:pt idx="55">
                  <c:v>40654</c:v>
                </c:pt>
                <c:pt idx="56">
                  <c:v>40658</c:v>
                </c:pt>
                <c:pt idx="57">
                  <c:v>40659</c:v>
                </c:pt>
                <c:pt idx="58">
                  <c:v>40660</c:v>
                </c:pt>
                <c:pt idx="59">
                  <c:v>40661</c:v>
                </c:pt>
                <c:pt idx="60">
                  <c:v>40662</c:v>
                </c:pt>
                <c:pt idx="61">
                  <c:v>40665</c:v>
                </c:pt>
                <c:pt idx="62">
                  <c:v>40666</c:v>
                </c:pt>
                <c:pt idx="63">
                  <c:v>40667</c:v>
                </c:pt>
                <c:pt idx="64">
                  <c:v>40668</c:v>
                </c:pt>
                <c:pt idx="65">
                  <c:v>40669</c:v>
                </c:pt>
                <c:pt idx="66">
                  <c:v>40672</c:v>
                </c:pt>
                <c:pt idx="67">
                  <c:v>40673</c:v>
                </c:pt>
                <c:pt idx="68">
                  <c:v>40674</c:v>
                </c:pt>
                <c:pt idx="69">
                  <c:v>40675</c:v>
                </c:pt>
                <c:pt idx="70">
                  <c:v>40676</c:v>
                </c:pt>
                <c:pt idx="71">
                  <c:v>40679</c:v>
                </c:pt>
                <c:pt idx="72">
                  <c:v>40680</c:v>
                </c:pt>
                <c:pt idx="73">
                  <c:v>40681</c:v>
                </c:pt>
                <c:pt idx="74">
                  <c:v>40682</c:v>
                </c:pt>
                <c:pt idx="75">
                  <c:v>40683</c:v>
                </c:pt>
                <c:pt idx="76">
                  <c:v>40686</c:v>
                </c:pt>
                <c:pt idx="77">
                  <c:v>40687</c:v>
                </c:pt>
                <c:pt idx="78">
                  <c:v>40688</c:v>
                </c:pt>
                <c:pt idx="79">
                  <c:v>40689</c:v>
                </c:pt>
                <c:pt idx="80">
                  <c:v>40690</c:v>
                </c:pt>
                <c:pt idx="81">
                  <c:v>40694</c:v>
                </c:pt>
                <c:pt idx="82">
                  <c:v>40695</c:v>
                </c:pt>
                <c:pt idx="83">
                  <c:v>40696</c:v>
                </c:pt>
                <c:pt idx="84">
                  <c:v>40697</c:v>
                </c:pt>
                <c:pt idx="85">
                  <c:v>40700</c:v>
                </c:pt>
                <c:pt idx="86">
                  <c:v>40701</c:v>
                </c:pt>
                <c:pt idx="87">
                  <c:v>40702</c:v>
                </c:pt>
                <c:pt idx="88">
                  <c:v>40703</c:v>
                </c:pt>
                <c:pt idx="89">
                  <c:v>40704</c:v>
                </c:pt>
                <c:pt idx="90">
                  <c:v>40707</c:v>
                </c:pt>
                <c:pt idx="91">
                  <c:v>40708</c:v>
                </c:pt>
                <c:pt idx="92">
                  <c:v>40709</c:v>
                </c:pt>
                <c:pt idx="93">
                  <c:v>40710</c:v>
                </c:pt>
                <c:pt idx="94">
                  <c:v>40711</c:v>
                </c:pt>
                <c:pt idx="95">
                  <c:v>40714</c:v>
                </c:pt>
                <c:pt idx="96">
                  <c:v>40715</c:v>
                </c:pt>
                <c:pt idx="97">
                  <c:v>40716</c:v>
                </c:pt>
                <c:pt idx="98">
                  <c:v>40717</c:v>
                </c:pt>
                <c:pt idx="99">
                  <c:v>40718</c:v>
                </c:pt>
                <c:pt idx="100">
                  <c:v>40721</c:v>
                </c:pt>
                <c:pt idx="101">
                  <c:v>40722</c:v>
                </c:pt>
                <c:pt idx="102">
                  <c:v>40723</c:v>
                </c:pt>
                <c:pt idx="103">
                  <c:v>40724</c:v>
                </c:pt>
                <c:pt idx="104">
                  <c:v>40725</c:v>
                </c:pt>
                <c:pt idx="105">
                  <c:v>40729</c:v>
                </c:pt>
                <c:pt idx="106">
                  <c:v>40730</c:v>
                </c:pt>
                <c:pt idx="107">
                  <c:v>40731</c:v>
                </c:pt>
                <c:pt idx="108">
                  <c:v>40732</c:v>
                </c:pt>
                <c:pt idx="109">
                  <c:v>40735</c:v>
                </c:pt>
                <c:pt idx="110">
                  <c:v>40736</c:v>
                </c:pt>
                <c:pt idx="111">
                  <c:v>40737</c:v>
                </c:pt>
                <c:pt idx="112">
                  <c:v>40738</c:v>
                </c:pt>
                <c:pt idx="113">
                  <c:v>40739</c:v>
                </c:pt>
                <c:pt idx="114">
                  <c:v>40742</c:v>
                </c:pt>
                <c:pt idx="115">
                  <c:v>40743</c:v>
                </c:pt>
                <c:pt idx="116">
                  <c:v>40744</c:v>
                </c:pt>
                <c:pt idx="117">
                  <c:v>40745</c:v>
                </c:pt>
                <c:pt idx="118">
                  <c:v>40746</c:v>
                </c:pt>
                <c:pt idx="119">
                  <c:v>40749</c:v>
                </c:pt>
                <c:pt idx="120">
                  <c:v>40750</c:v>
                </c:pt>
                <c:pt idx="121">
                  <c:v>40751</c:v>
                </c:pt>
                <c:pt idx="122">
                  <c:v>40752</c:v>
                </c:pt>
                <c:pt idx="123">
                  <c:v>40753</c:v>
                </c:pt>
                <c:pt idx="124">
                  <c:v>40756</c:v>
                </c:pt>
                <c:pt idx="125">
                  <c:v>40757</c:v>
                </c:pt>
                <c:pt idx="126">
                  <c:v>40758</c:v>
                </c:pt>
                <c:pt idx="127">
                  <c:v>40759</c:v>
                </c:pt>
                <c:pt idx="128">
                  <c:v>40760</c:v>
                </c:pt>
                <c:pt idx="129">
                  <c:v>40763</c:v>
                </c:pt>
                <c:pt idx="130">
                  <c:v>40764</c:v>
                </c:pt>
                <c:pt idx="131">
                  <c:v>40765</c:v>
                </c:pt>
                <c:pt idx="132">
                  <c:v>40766</c:v>
                </c:pt>
                <c:pt idx="133">
                  <c:v>40767</c:v>
                </c:pt>
                <c:pt idx="134">
                  <c:v>40770</c:v>
                </c:pt>
                <c:pt idx="135">
                  <c:v>40771</c:v>
                </c:pt>
                <c:pt idx="136">
                  <c:v>40772</c:v>
                </c:pt>
                <c:pt idx="137">
                  <c:v>40773</c:v>
                </c:pt>
                <c:pt idx="138">
                  <c:v>40774</c:v>
                </c:pt>
                <c:pt idx="139">
                  <c:v>40777</c:v>
                </c:pt>
                <c:pt idx="140">
                  <c:v>40778</c:v>
                </c:pt>
                <c:pt idx="141">
                  <c:v>40779</c:v>
                </c:pt>
                <c:pt idx="142">
                  <c:v>40780</c:v>
                </c:pt>
                <c:pt idx="143">
                  <c:v>40781</c:v>
                </c:pt>
                <c:pt idx="144">
                  <c:v>40784</c:v>
                </c:pt>
                <c:pt idx="145">
                  <c:v>40785</c:v>
                </c:pt>
                <c:pt idx="146">
                  <c:v>40786</c:v>
                </c:pt>
                <c:pt idx="147">
                  <c:v>40787</c:v>
                </c:pt>
                <c:pt idx="148">
                  <c:v>40788</c:v>
                </c:pt>
                <c:pt idx="149">
                  <c:v>40792</c:v>
                </c:pt>
                <c:pt idx="150">
                  <c:v>40793</c:v>
                </c:pt>
                <c:pt idx="151">
                  <c:v>40794</c:v>
                </c:pt>
                <c:pt idx="152">
                  <c:v>40795</c:v>
                </c:pt>
                <c:pt idx="153">
                  <c:v>40798</c:v>
                </c:pt>
                <c:pt idx="154">
                  <c:v>40799</c:v>
                </c:pt>
                <c:pt idx="155">
                  <c:v>40800</c:v>
                </c:pt>
                <c:pt idx="156">
                  <c:v>40801</c:v>
                </c:pt>
                <c:pt idx="157">
                  <c:v>40802</c:v>
                </c:pt>
                <c:pt idx="158">
                  <c:v>40805</c:v>
                </c:pt>
                <c:pt idx="159">
                  <c:v>40806</c:v>
                </c:pt>
                <c:pt idx="160">
                  <c:v>40807</c:v>
                </c:pt>
                <c:pt idx="161">
                  <c:v>40808</c:v>
                </c:pt>
                <c:pt idx="162">
                  <c:v>40809</c:v>
                </c:pt>
                <c:pt idx="163">
                  <c:v>40812</c:v>
                </c:pt>
                <c:pt idx="164">
                  <c:v>40813</c:v>
                </c:pt>
                <c:pt idx="165">
                  <c:v>40814</c:v>
                </c:pt>
                <c:pt idx="166">
                  <c:v>40815</c:v>
                </c:pt>
                <c:pt idx="167">
                  <c:v>40816</c:v>
                </c:pt>
                <c:pt idx="168">
                  <c:v>40819</c:v>
                </c:pt>
                <c:pt idx="169">
                  <c:v>40820</c:v>
                </c:pt>
                <c:pt idx="170">
                  <c:v>40821</c:v>
                </c:pt>
                <c:pt idx="171">
                  <c:v>40822</c:v>
                </c:pt>
                <c:pt idx="172">
                  <c:v>40823</c:v>
                </c:pt>
                <c:pt idx="173">
                  <c:v>40827</c:v>
                </c:pt>
                <c:pt idx="174">
                  <c:v>40828</c:v>
                </c:pt>
                <c:pt idx="175">
                  <c:v>40829</c:v>
                </c:pt>
                <c:pt idx="176">
                  <c:v>40830</c:v>
                </c:pt>
                <c:pt idx="177">
                  <c:v>40833</c:v>
                </c:pt>
                <c:pt idx="178">
                  <c:v>40834</c:v>
                </c:pt>
                <c:pt idx="179">
                  <c:v>40835</c:v>
                </c:pt>
                <c:pt idx="180">
                  <c:v>40836</c:v>
                </c:pt>
                <c:pt idx="181">
                  <c:v>40837</c:v>
                </c:pt>
                <c:pt idx="182">
                  <c:v>40840</c:v>
                </c:pt>
                <c:pt idx="183">
                  <c:v>40841</c:v>
                </c:pt>
                <c:pt idx="184">
                  <c:v>40842</c:v>
                </c:pt>
                <c:pt idx="185">
                  <c:v>40843</c:v>
                </c:pt>
                <c:pt idx="186">
                  <c:v>40844</c:v>
                </c:pt>
                <c:pt idx="187">
                  <c:v>40847</c:v>
                </c:pt>
                <c:pt idx="188">
                  <c:v>40848</c:v>
                </c:pt>
                <c:pt idx="189">
                  <c:v>40849</c:v>
                </c:pt>
                <c:pt idx="190">
                  <c:v>40850</c:v>
                </c:pt>
                <c:pt idx="191">
                  <c:v>40851</c:v>
                </c:pt>
                <c:pt idx="192">
                  <c:v>40854</c:v>
                </c:pt>
                <c:pt idx="193">
                  <c:v>40855</c:v>
                </c:pt>
                <c:pt idx="194">
                  <c:v>40856</c:v>
                </c:pt>
                <c:pt idx="195">
                  <c:v>40857</c:v>
                </c:pt>
                <c:pt idx="196">
                  <c:v>40861</c:v>
                </c:pt>
                <c:pt idx="197">
                  <c:v>40862</c:v>
                </c:pt>
                <c:pt idx="198">
                  <c:v>40863</c:v>
                </c:pt>
                <c:pt idx="199">
                  <c:v>40864</c:v>
                </c:pt>
                <c:pt idx="200">
                  <c:v>40865</c:v>
                </c:pt>
                <c:pt idx="201">
                  <c:v>40868</c:v>
                </c:pt>
                <c:pt idx="202">
                  <c:v>40869</c:v>
                </c:pt>
                <c:pt idx="203">
                  <c:v>40870</c:v>
                </c:pt>
                <c:pt idx="204">
                  <c:v>40872</c:v>
                </c:pt>
                <c:pt idx="205">
                  <c:v>40875</c:v>
                </c:pt>
                <c:pt idx="206">
                  <c:v>40876</c:v>
                </c:pt>
                <c:pt idx="207">
                  <c:v>40877</c:v>
                </c:pt>
                <c:pt idx="208">
                  <c:v>40878</c:v>
                </c:pt>
                <c:pt idx="209">
                  <c:v>40879</c:v>
                </c:pt>
                <c:pt idx="210">
                  <c:v>40882</c:v>
                </c:pt>
                <c:pt idx="211">
                  <c:v>40883</c:v>
                </c:pt>
                <c:pt idx="212">
                  <c:v>40884</c:v>
                </c:pt>
                <c:pt idx="213">
                  <c:v>40885</c:v>
                </c:pt>
                <c:pt idx="214">
                  <c:v>40886</c:v>
                </c:pt>
                <c:pt idx="215">
                  <c:v>40889</c:v>
                </c:pt>
                <c:pt idx="216">
                  <c:v>40890</c:v>
                </c:pt>
                <c:pt idx="217">
                  <c:v>40891</c:v>
                </c:pt>
                <c:pt idx="218">
                  <c:v>40892</c:v>
                </c:pt>
                <c:pt idx="219">
                  <c:v>40893</c:v>
                </c:pt>
                <c:pt idx="220">
                  <c:v>40896</c:v>
                </c:pt>
                <c:pt idx="221">
                  <c:v>40897</c:v>
                </c:pt>
                <c:pt idx="222">
                  <c:v>40898</c:v>
                </c:pt>
                <c:pt idx="223">
                  <c:v>40899</c:v>
                </c:pt>
                <c:pt idx="224">
                  <c:v>40900</c:v>
                </c:pt>
                <c:pt idx="225">
                  <c:v>40904</c:v>
                </c:pt>
                <c:pt idx="226">
                  <c:v>40905</c:v>
                </c:pt>
                <c:pt idx="227">
                  <c:v>40906</c:v>
                </c:pt>
                <c:pt idx="228">
                  <c:v>40907</c:v>
                </c:pt>
                <c:pt idx="229">
                  <c:v>40911</c:v>
                </c:pt>
                <c:pt idx="230">
                  <c:v>40912</c:v>
                </c:pt>
                <c:pt idx="231">
                  <c:v>40913</c:v>
                </c:pt>
                <c:pt idx="232">
                  <c:v>40914</c:v>
                </c:pt>
                <c:pt idx="233">
                  <c:v>40917</c:v>
                </c:pt>
                <c:pt idx="234">
                  <c:v>40918</c:v>
                </c:pt>
                <c:pt idx="235">
                  <c:v>40919</c:v>
                </c:pt>
                <c:pt idx="236">
                  <c:v>40920</c:v>
                </c:pt>
                <c:pt idx="237">
                  <c:v>40921</c:v>
                </c:pt>
                <c:pt idx="238">
                  <c:v>40925</c:v>
                </c:pt>
                <c:pt idx="239">
                  <c:v>40926</c:v>
                </c:pt>
                <c:pt idx="240">
                  <c:v>40927</c:v>
                </c:pt>
                <c:pt idx="241">
                  <c:v>40928</c:v>
                </c:pt>
                <c:pt idx="242">
                  <c:v>40931</c:v>
                </c:pt>
                <c:pt idx="243">
                  <c:v>40932</c:v>
                </c:pt>
                <c:pt idx="244">
                  <c:v>40933</c:v>
                </c:pt>
                <c:pt idx="245">
                  <c:v>40934</c:v>
                </c:pt>
                <c:pt idx="246">
                  <c:v>40935</c:v>
                </c:pt>
                <c:pt idx="247">
                  <c:v>40938</c:v>
                </c:pt>
                <c:pt idx="248">
                  <c:v>40939</c:v>
                </c:pt>
                <c:pt idx="249">
                  <c:v>40940</c:v>
                </c:pt>
                <c:pt idx="250">
                  <c:v>40941</c:v>
                </c:pt>
                <c:pt idx="251">
                  <c:v>40942</c:v>
                </c:pt>
                <c:pt idx="252">
                  <c:v>40945</c:v>
                </c:pt>
                <c:pt idx="253">
                  <c:v>40946</c:v>
                </c:pt>
                <c:pt idx="254">
                  <c:v>40947</c:v>
                </c:pt>
                <c:pt idx="255">
                  <c:v>40948</c:v>
                </c:pt>
                <c:pt idx="256">
                  <c:v>40949</c:v>
                </c:pt>
                <c:pt idx="257">
                  <c:v>40952</c:v>
                </c:pt>
                <c:pt idx="258">
                  <c:v>40953</c:v>
                </c:pt>
                <c:pt idx="259">
                  <c:v>40954</c:v>
                </c:pt>
                <c:pt idx="260">
                  <c:v>40955</c:v>
                </c:pt>
                <c:pt idx="261">
                  <c:v>40956</c:v>
                </c:pt>
                <c:pt idx="262">
                  <c:v>40960</c:v>
                </c:pt>
                <c:pt idx="263">
                  <c:v>40961</c:v>
                </c:pt>
                <c:pt idx="264">
                  <c:v>40962</c:v>
                </c:pt>
                <c:pt idx="265">
                  <c:v>40963</c:v>
                </c:pt>
                <c:pt idx="266">
                  <c:v>40966</c:v>
                </c:pt>
                <c:pt idx="267">
                  <c:v>40967</c:v>
                </c:pt>
                <c:pt idx="268">
                  <c:v>40968</c:v>
                </c:pt>
                <c:pt idx="269">
                  <c:v>40969</c:v>
                </c:pt>
                <c:pt idx="270">
                  <c:v>40970</c:v>
                </c:pt>
                <c:pt idx="271">
                  <c:v>40973</c:v>
                </c:pt>
                <c:pt idx="272">
                  <c:v>40974</c:v>
                </c:pt>
                <c:pt idx="273">
                  <c:v>40975</c:v>
                </c:pt>
                <c:pt idx="274">
                  <c:v>40976</c:v>
                </c:pt>
                <c:pt idx="275">
                  <c:v>40977</c:v>
                </c:pt>
                <c:pt idx="276">
                  <c:v>40980</c:v>
                </c:pt>
                <c:pt idx="277">
                  <c:v>40981</c:v>
                </c:pt>
                <c:pt idx="278">
                  <c:v>40982</c:v>
                </c:pt>
                <c:pt idx="279">
                  <c:v>40983</c:v>
                </c:pt>
                <c:pt idx="280">
                  <c:v>40984</c:v>
                </c:pt>
                <c:pt idx="281">
                  <c:v>40987</c:v>
                </c:pt>
                <c:pt idx="282">
                  <c:v>40988</c:v>
                </c:pt>
                <c:pt idx="283">
                  <c:v>40989</c:v>
                </c:pt>
                <c:pt idx="284">
                  <c:v>40990</c:v>
                </c:pt>
                <c:pt idx="285">
                  <c:v>40991</c:v>
                </c:pt>
                <c:pt idx="286">
                  <c:v>40994</c:v>
                </c:pt>
                <c:pt idx="287">
                  <c:v>40995</c:v>
                </c:pt>
                <c:pt idx="288">
                  <c:v>40996</c:v>
                </c:pt>
                <c:pt idx="289">
                  <c:v>40997</c:v>
                </c:pt>
                <c:pt idx="290">
                  <c:v>40998</c:v>
                </c:pt>
                <c:pt idx="291">
                  <c:v>41001</c:v>
                </c:pt>
                <c:pt idx="292">
                  <c:v>41002</c:v>
                </c:pt>
                <c:pt idx="293">
                  <c:v>41003</c:v>
                </c:pt>
                <c:pt idx="294">
                  <c:v>41004</c:v>
                </c:pt>
                <c:pt idx="295">
                  <c:v>41005</c:v>
                </c:pt>
                <c:pt idx="296">
                  <c:v>41008</c:v>
                </c:pt>
                <c:pt idx="297">
                  <c:v>41009</c:v>
                </c:pt>
                <c:pt idx="298">
                  <c:v>41010</c:v>
                </c:pt>
                <c:pt idx="299">
                  <c:v>41011</c:v>
                </c:pt>
                <c:pt idx="300">
                  <c:v>41012</c:v>
                </c:pt>
                <c:pt idx="301">
                  <c:v>41015</c:v>
                </c:pt>
                <c:pt idx="302">
                  <c:v>41016</c:v>
                </c:pt>
                <c:pt idx="303">
                  <c:v>41017</c:v>
                </c:pt>
                <c:pt idx="304">
                  <c:v>41018</c:v>
                </c:pt>
                <c:pt idx="305">
                  <c:v>41019</c:v>
                </c:pt>
                <c:pt idx="306">
                  <c:v>41022</c:v>
                </c:pt>
                <c:pt idx="307">
                  <c:v>41023</c:v>
                </c:pt>
                <c:pt idx="308">
                  <c:v>41024</c:v>
                </c:pt>
                <c:pt idx="309">
                  <c:v>41025</c:v>
                </c:pt>
                <c:pt idx="310">
                  <c:v>41026</c:v>
                </c:pt>
                <c:pt idx="311">
                  <c:v>41029</c:v>
                </c:pt>
                <c:pt idx="312">
                  <c:v>41030</c:v>
                </c:pt>
                <c:pt idx="313">
                  <c:v>41031</c:v>
                </c:pt>
                <c:pt idx="314">
                  <c:v>41032</c:v>
                </c:pt>
                <c:pt idx="315">
                  <c:v>41033</c:v>
                </c:pt>
                <c:pt idx="316">
                  <c:v>41036</c:v>
                </c:pt>
                <c:pt idx="317">
                  <c:v>41037</c:v>
                </c:pt>
                <c:pt idx="318">
                  <c:v>41038</c:v>
                </c:pt>
                <c:pt idx="319">
                  <c:v>41039</c:v>
                </c:pt>
                <c:pt idx="320">
                  <c:v>41040</c:v>
                </c:pt>
                <c:pt idx="321">
                  <c:v>41043</c:v>
                </c:pt>
                <c:pt idx="322">
                  <c:v>41044</c:v>
                </c:pt>
                <c:pt idx="323">
                  <c:v>41045</c:v>
                </c:pt>
                <c:pt idx="324">
                  <c:v>41046</c:v>
                </c:pt>
                <c:pt idx="325">
                  <c:v>41047</c:v>
                </c:pt>
                <c:pt idx="326">
                  <c:v>41050</c:v>
                </c:pt>
                <c:pt idx="327">
                  <c:v>41051</c:v>
                </c:pt>
                <c:pt idx="328">
                  <c:v>41052</c:v>
                </c:pt>
                <c:pt idx="329">
                  <c:v>41053</c:v>
                </c:pt>
                <c:pt idx="330">
                  <c:v>41054</c:v>
                </c:pt>
                <c:pt idx="331">
                  <c:v>41058</c:v>
                </c:pt>
                <c:pt idx="332">
                  <c:v>41059</c:v>
                </c:pt>
                <c:pt idx="333">
                  <c:v>41060</c:v>
                </c:pt>
                <c:pt idx="334">
                  <c:v>41061</c:v>
                </c:pt>
                <c:pt idx="335">
                  <c:v>41064</c:v>
                </c:pt>
                <c:pt idx="336">
                  <c:v>41065</c:v>
                </c:pt>
                <c:pt idx="337">
                  <c:v>41066</c:v>
                </c:pt>
                <c:pt idx="338">
                  <c:v>41067</c:v>
                </c:pt>
                <c:pt idx="339">
                  <c:v>41068</c:v>
                </c:pt>
                <c:pt idx="340">
                  <c:v>41071</c:v>
                </c:pt>
                <c:pt idx="341">
                  <c:v>41072</c:v>
                </c:pt>
                <c:pt idx="342">
                  <c:v>41073</c:v>
                </c:pt>
                <c:pt idx="343">
                  <c:v>41074</c:v>
                </c:pt>
                <c:pt idx="344">
                  <c:v>41075</c:v>
                </c:pt>
                <c:pt idx="345">
                  <c:v>41078</c:v>
                </c:pt>
                <c:pt idx="346">
                  <c:v>41079</c:v>
                </c:pt>
                <c:pt idx="347">
                  <c:v>41080</c:v>
                </c:pt>
                <c:pt idx="348">
                  <c:v>41081</c:v>
                </c:pt>
                <c:pt idx="349">
                  <c:v>41082</c:v>
                </c:pt>
                <c:pt idx="350">
                  <c:v>41085</c:v>
                </c:pt>
                <c:pt idx="351">
                  <c:v>41086</c:v>
                </c:pt>
                <c:pt idx="352">
                  <c:v>41087</c:v>
                </c:pt>
                <c:pt idx="353">
                  <c:v>41088</c:v>
                </c:pt>
                <c:pt idx="354">
                  <c:v>41089</c:v>
                </c:pt>
                <c:pt idx="355">
                  <c:v>41092</c:v>
                </c:pt>
                <c:pt idx="356">
                  <c:v>41093</c:v>
                </c:pt>
                <c:pt idx="357">
                  <c:v>41095</c:v>
                </c:pt>
                <c:pt idx="358">
                  <c:v>41096</c:v>
                </c:pt>
                <c:pt idx="359">
                  <c:v>41099</c:v>
                </c:pt>
                <c:pt idx="360">
                  <c:v>41100</c:v>
                </c:pt>
                <c:pt idx="361">
                  <c:v>41101</c:v>
                </c:pt>
                <c:pt idx="362">
                  <c:v>41102</c:v>
                </c:pt>
                <c:pt idx="363">
                  <c:v>41103</c:v>
                </c:pt>
                <c:pt idx="364">
                  <c:v>41106</c:v>
                </c:pt>
                <c:pt idx="365">
                  <c:v>41107</c:v>
                </c:pt>
                <c:pt idx="366">
                  <c:v>41108</c:v>
                </c:pt>
                <c:pt idx="367">
                  <c:v>41109</c:v>
                </c:pt>
                <c:pt idx="368">
                  <c:v>41110</c:v>
                </c:pt>
                <c:pt idx="369">
                  <c:v>41113</c:v>
                </c:pt>
                <c:pt idx="370">
                  <c:v>41114</c:v>
                </c:pt>
                <c:pt idx="371">
                  <c:v>41115</c:v>
                </c:pt>
                <c:pt idx="372">
                  <c:v>41116</c:v>
                </c:pt>
                <c:pt idx="373">
                  <c:v>41117</c:v>
                </c:pt>
                <c:pt idx="374">
                  <c:v>41120</c:v>
                </c:pt>
                <c:pt idx="375">
                  <c:v>41121</c:v>
                </c:pt>
                <c:pt idx="376">
                  <c:v>41122</c:v>
                </c:pt>
                <c:pt idx="377">
                  <c:v>41123</c:v>
                </c:pt>
                <c:pt idx="378">
                  <c:v>41124</c:v>
                </c:pt>
                <c:pt idx="379">
                  <c:v>41127</c:v>
                </c:pt>
                <c:pt idx="380">
                  <c:v>41128</c:v>
                </c:pt>
                <c:pt idx="381">
                  <c:v>41129</c:v>
                </c:pt>
                <c:pt idx="382">
                  <c:v>41130</c:v>
                </c:pt>
                <c:pt idx="383">
                  <c:v>41131</c:v>
                </c:pt>
                <c:pt idx="384">
                  <c:v>41134</c:v>
                </c:pt>
                <c:pt idx="385">
                  <c:v>41135</c:v>
                </c:pt>
                <c:pt idx="386">
                  <c:v>41136</c:v>
                </c:pt>
                <c:pt idx="387">
                  <c:v>41137</c:v>
                </c:pt>
                <c:pt idx="388">
                  <c:v>41138</c:v>
                </c:pt>
                <c:pt idx="389">
                  <c:v>41141</c:v>
                </c:pt>
                <c:pt idx="390">
                  <c:v>41142</c:v>
                </c:pt>
                <c:pt idx="391">
                  <c:v>41143</c:v>
                </c:pt>
                <c:pt idx="392">
                  <c:v>41144</c:v>
                </c:pt>
                <c:pt idx="393">
                  <c:v>41145</c:v>
                </c:pt>
                <c:pt idx="394">
                  <c:v>41148</c:v>
                </c:pt>
                <c:pt idx="395">
                  <c:v>41149</c:v>
                </c:pt>
                <c:pt idx="396">
                  <c:v>41150</c:v>
                </c:pt>
                <c:pt idx="397">
                  <c:v>41151</c:v>
                </c:pt>
                <c:pt idx="398">
                  <c:v>41152</c:v>
                </c:pt>
                <c:pt idx="399">
                  <c:v>41156</c:v>
                </c:pt>
                <c:pt idx="400">
                  <c:v>41157</c:v>
                </c:pt>
                <c:pt idx="401">
                  <c:v>41158</c:v>
                </c:pt>
                <c:pt idx="402">
                  <c:v>41159</c:v>
                </c:pt>
                <c:pt idx="403">
                  <c:v>41162</c:v>
                </c:pt>
                <c:pt idx="404">
                  <c:v>41163</c:v>
                </c:pt>
                <c:pt idx="405">
                  <c:v>41164</c:v>
                </c:pt>
                <c:pt idx="406">
                  <c:v>41165</c:v>
                </c:pt>
                <c:pt idx="407">
                  <c:v>41166</c:v>
                </c:pt>
                <c:pt idx="408">
                  <c:v>41169</c:v>
                </c:pt>
                <c:pt idx="409">
                  <c:v>41170</c:v>
                </c:pt>
                <c:pt idx="410">
                  <c:v>41171</c:v>
                </c:pt>
                <c:pt idx="411">
                  <c:v>41172</c:v>
                </c:pt>
                <c:pt idx="412">
                  <c:v>41173</c:v>
                </c:pt>
                <c:pt idx="413">
                  <c:v>41176</c:v>
                </c:pt>
                <c:pt idx="414">
                  <c:v>41177</c:v>
                </c:pt>
                <c:pt idx="415">
                  <c:v>41178</c:v>
                </c:pt>
                <c:pt idx="416">
                  <c:v>41179</c:v>
                </c:pt>
                <c:pt idx="417">
                  <c:v>41180</c:v>
                </c:pt>
                <c:pt idx="418">
                  <c:v>41183</c:v>
                </c:pt>
                <c:pt idx="419">
                  <c:v>41184</c:v>
                </c:pt>
                <c:pt idx="420">
                  <c:v>41185</c:v>
                </c:pt>
                <c:pt idx="421">
                  <c:v>41186</c:v>
                </c:pt>
                <c:pt idx="422">
                  <c:v>41187</c:v>
                </c:pt>
                <c:pt idx="423">
                  <c:v>41191</c:v>
                </c:pt>
                <c:pt idx="424">
                  <c:v>41192</c:v>
                </c:pt>
                <c:pt idx="425">
                  <c:v>41193</c:v>
                </c:pt>
                <c:pt idx="426">
                  <c:v>41194</c:v>
                </c:pt>
                <c:pt idx="427">
                  <c:v>41197</c:v>
                </c:pt>
                <c:pt idx="428">
                  <c:v>41198</c:v>
                </c:pt>
                <c:pt idx="429">
                  <c:v>41199</c:v>
                </c:pt>
                <c:pt idx="430">
                  <c:v>41200</c:v>
                </c:pt>
                <c:pt idx="431">
                  <c:v>41201</c:v>
                </c:pt>
                <c:pt idx="432">
                  <c:v>41204</c:v>
                </c:pt>
                <c:pt idx="433">
                  <c:v>41205</c:v>
                </c:pt>
                <c:pt idx="434">
                  <c:v>41206</c:v>
                </c:pt>
                <c:pt idx="435">
                  <c:v>41207</c:v>
                </c:pt>
                <c:pt idx="436">
                  <c:v>41208</c:v>
                </c:pt>
                <c:pt idx="437">
                  <c:v>41211</c:v>
                </c:pt>
                <c:pt idx="438">
                  <c:v>41213</c:v>
                </c:pt>
                <c:pt idx="439">
                  <c:v>41214</c:v>
                </c:pt>
                <c:pt idx="440">
                  <c:v>41215</c:v>
                </c:pt>
                <c:pt idx="441">
                  <c:v>41218</c:v>
                </c:pt>
                <c:pt idx="442">
                  <c:v>41219</c:v>
                </c:pt>
                <c:pt idx="443">
                  <c:v>41220</c:v>
                </c:pt>
                <c:pt idx="444">
                  <c:v>41221</c:v>
                </c:pt>
                <c:pt idx="445">
                  <c:v>41222</c:v>
                </c:pt>
                <c:pt idx="446">
                  <c:v>41226</c:v>
                </c:pt>
                <c:pt idx="447">
                  <c:v>41227</c:v>
                </c:pt>
                <c:pt idx="448">
                  <c:v>41228</c:v>
                </c:pt>
                <c:pt idx="449">
                  <c:v>41229</c:v>
                </c:pt>
                <c:pt idx="450">
                  <c:v>41232</c:v>
                </c:pt>
                <c:pt idx="451">
                  <c:v>41233</c:v>
                </c:pt>
                <c:pt idx="452">
                  <c:v>41234</c:v>
                </c:pt>
                <c:pt idx="453">
                  <c:v>41236</c:v>
                </c:pt>
                <c:pt idx="454">
                  <c:v>41239</c:v>
                </c:pt>
                <c:pt idx="455">
                  <c:v>41240</c:v>
                </c:pt>
                <c:pt idx="456">
                  <c:v>41241</c:v>
                </c:pt>
                <c:pt idx="457">
                  <c:v>41242</c:v>
                </c:pt>
                <c:pt idx="458">
                  <c:v>41243</c:v>
                </c:pt>
                <c:pt idx="459">
                  <c:v>41246</c:v>
                </c:pt>
                <c:pt idx="460">
                  <c:v>41247</c:v>
                </c:pt>
                <c:pt idx="461">
                  <c:v>41248</c:v>
                </c:pt>
                <c:pt idx="462">
                  <c:v>41249</c:v>
                </c:pt>
                <c:pt idx="463">
                  <c:v>41250</c:v>
                </c:pt>
                <c:pt idx="464">
                  <c:v>41253</c:v>
                </c:pt>
                <c:pt idx="465">
                  <c:v>41254</c:v>
                </c:pt>
                <c:pt idx="466">
                  <c:v>41255</c:v>
                </c:pt>
                <c:pt idx="467">
                  <c:v>41256</c:v>
                </c:pt>
                <c:pt idx="468">
                  <c:v>41257</c:v>
                </c:pt>
                <c:pt idx="469">
                  <c:v>41260</c:v>
                </c:pt>
                <c:pt idx="470">
                  <c:v>41261</c:v>
                </c:pt>
                <c:pt idx="471">
                  <c:v>41262</c:v>
                </c:pt>
                <c:pt idx="472">
                  <c:v>41263</c:v>
                </c:pt>
                <c:pt idx="473">
                  <c:v>41264</c:v>
                </c:pt>
                <c:pt idx="474">
                  <c:v>41267</c:v>
                </c:pt>
                <c:pt idx="475">
                  <c:v>41269</c:v>
                </c:pt>
                <c:pt idx="476">
                  <c:v>41270</c:v>
                </c:pt>
                <c:pt idx="477">
                  <c:v>41271</c:v>
                </c:pt>
                <c:pt idx="478">
                  <c:v>41274</c:v>
                </c:pt>
                <c:pt idx="479">
                  <c:v>41276</c:v>
                </c:pt>
                <c:pt idx="480">
                  <c:v>41277</c:v>
                </c:pt>
                <c:pt idx="481">
                  <c:v>41278</c:v>
                </c:pt>
                <c:pt idx="482">
                  <c:v>41281</c:v>
                </c:pt>
                <c:pt idx="483">
                  <c:v>41282</c:v>
                </c:pt>
                <c:pt idx="484">
                  <c:v>41283</c:v>
                </c:pt>
                <c:pt idx="485">
                  <c:v>41284</c:v>
                </c:pt>
                <c:pt idx="486">
                  <c:v>41285</c:v>
                </c:pt>
                <c:pt idx="487">
                  <c:v>41288</c:v>
                </c:pt>
                <c:pt idx="488">
                  <c:v>41289</c:v>
                </c:pt>
                <c:pt idx="489">
                  <c:v>41290</c:v>
                </c:pt>
                <c:pt idx="490">
                  <c:v>41291</c:v>
                </c:pt>
                <c:pt idx="491">
                  <c:v>41292</c:v>
                </c:pt>
                <c:pt idx="492">
                  <c:v>41296</c:v>
                </c:pt>
                <c:pt idx="493">
                  <c:v>41297</c:v>
                </c:pt>
                <c:pt idx="494">
                  <c:v>41298</c:v>
                </c:pt>
                <c:pt idx="495">
                  <c:v>41299</c:v>
                </c:pt>
                <c:pt idx="496">
                  <c:v>41302</c:v>
                </c:pt>
                <c:pt idx="497">
                  <c:v>41303</c:v>
                </c:pt>
                <c:pt idx="498">
                  <c:v>41304</c:v>
                </c:pt>
                <c:pt idx="499">
                  <c:v>41305</c:v>
                </c:pt>
                <c:pt idx="500">
                  <c:v>41306</c:v>
                </c:pt>
                <c:pt idx="501">
                  <c:v>41309</c:v>
                </c:pt>
                <c:pt idx="502">
                  <c:v>41310</c:v>
                </c:pt>
                <c:pt idx="503">
                  <c:v>41311</c:v>
                </c:pt>
                <c:pt idx="504">
                  <c:v>41312</c:v>
                </c:pt>
                <c:pt idx="505">
                  <c:v>41313</c:v>
                </c:pt>
                <c:pt idx="506">
                  <c:v>41316</c:v>
                </c:pt>
                <c:pt idx="507">
                  <c:v>41317</c:v>
                </c:pt>
                <c:pt idx="508">
                  <c:v>41318</c:v>
                </c:pt>
                <c:pt idx="509">
                  <c:v>41319</c:v>
                </c:pt>
                <c:pt idx="510">
                  <c:v>41320</c:v>
                </c:pt>
                <c:pt idx="511">
                  <c:v>41324</c:v>
                </c:pt>
                <c:pt idx="512">
                  <c:v>41325</c:v>
                </c:pt>
                <c:pt idx="513">
                  <c:v>41326</c:v>
                </c:pt>
                <c:pt idx="514">
                  <c:v>41327</c:v>
                </c:pt>
                <c:pt idx="515">
                  <c:v>41330</c:v>
                </c:pt>
                <c:pt idx="516">
                  <c:v>41331</c:v>
                </c:pt>
                <c:pt idx="517">
                  <c:v>41332</c:v>
                </c:pt>
                <c:pt idx="518">
                  <c:v>41333</c:v>
                </c:pt>
                <c:pt idx="519">
                  <c:v>41334</c:v>
                </c:pt>
                <c:pt idx="520">
                  <c:v>41337</c:v>
                </c:pt>
                <c:pt idx="521">
                  <c:v>41338</c:v>
                </c:pt>
                <c:pt idx="522">
                  <c:v>41339</c:v>
                </c:pt>
                <c:pt idx="523">
                  <c:v>41340</c:v>
                </c:pt>
                <c:pt idx="524">
                  <c:v>41341</c:v>
                </c:pt>
                <c:pt idx="525">
                  <c:v>41344</c:v>
                </c:pt>
                <c:pt idx="526">
                  <c:v>41345</c:v>
                </c:pt>
                <c:pt idx="527">
                  <c:v>41346</c:v>
                </c:pt>
                <c:pt idx="528">
                  <c:v>41347</c:v>
                </c:pt>
                <c:pt idx="529">
                  <c:v>41348</c:v>
                </c:pt>
                <c:pt idx="530">
                  <c:v>41351</c:v>
                </c:pt>
                <c:pt idx="531">
                  <c:v>41352</c:v>
                </c:pt>
                <c:pt idx="532">
                  <c:v>41353</c:v>
                </c:pt>
                <c:pt idx="533">
                  <c:v>41354</c:v>
                </c:pt>
                <c:pt idx="534">
                  <c:v>41355</c:v>
                </c:pt>
                <c:pt idx="535">
                  <c:v>41358</c:v>
                </c:pt>
                <c:pt idx="536">
                  <c:v>41359</c:v>
                </c:pt>
                <c:pt idx="537">
                  <c:v>41360</c:v>
                </c:pt>
                <c:pt idx="538">
                  <c:v>41361</c:v>
                </c:pt>
                <c:pt idx="539">
                  <c:v>41365</c:v>
                </c:pt>
                <c:pt idx="540">
                  <c:v>41366</c:v>
                </c:pt>
                <c:pt idx="541">
                  <c:v>41367</c:v>
                </c:pt>
                <c:pt idx="542">
                  <c:v>41368</c:v>
                </c:pt>
                <c:pt idx="543">
                  <c:v>41369</c:v>
                </c:pt>
                <c:pt idx="544">
                  <c:v>41372</c:v>
                </c:pt>
                <c:pt idx="545">
                  <c:v>41373</c:v>
                </c:pt>
                <c:pt idx="546">
                  <c:v>41374</c:v>
                </c:pt>
                <c:pt idx="547">
                  <c:v>41375</c:v>
                </c:pt>
                <c:pt idx="548">
                  <c:v>41376</c:v>
                </c:pt>
                <c:pt idx="549">
                  <c:v>41379</c:v>
                </c:pt>
                <c:pt idx="550">
                  <c:v>41380</c:v>
                </c:pt>
                <c:pt idx="551">
                  <c:v>41381</c:v>
                </c:pt>
                <c:pt idx="552">
                  <c:v>41382</c:v>
                </c:pt>
                <c:pt idx="553">
                  <c:v>41383</c:v>
                </c:pt>
                <c:pt idx="554">
                  <c:v>41386</c:v>
                </c:pt>
                <c:pt idx="555">
                  <c:v>41387</c:v>
                </c:pt>
                <c:pt idx="556">
                  <c:v>41388</c:v>
                </c:pt>
                <c:pt idx="557">
                  <c:v>41389</c:v>
                </c:pt>
                <c:pt idx="558">
                  <c:v>41390</c:v>
                </c:pt>
                <c:pt idx="559">
                  <c:v>41393</c:v>
                </c:pt>
                <c:pt idx="560">
                  <c:v>41394</c:v>
                </c:pt>
                <c:pt idx="561">
                  <c:v>41395</c:v>
                </c:pt>
                <c:pt idx="562">
                  <c:v>41396</c:v>
                </c:pt>
                <c:pt idx="563">
                  <c:v>41397</c:v>
                </c:pt>
                <c:pt idx="564">
                  <c:v>41400</c:v>
                </c:pt>
                <c:pt idx="565">
                  <c:v>41401</c:v>
                </c:pt>
                <c:pt idx="566">
                  <c:v>41402</c:v>
                </c:pt>
                <c:pt idx="567">
                  <c:v>41403</c:v>
                </c:pt>
                <c:pt idx="568">
                  <c:v>41404</c:v>
                </c:pt>
                <c:pt idx="569">
                  <c:v>41407</c:v>
                </c:pt>
                <c:pt idx="570">
                  <c:v>41408</c:v>
                </c:pt>
                <c:pt idx="571">
                  <c:v>41409</c:v>
                </c:pt>
                <c:pt idx="572">
                  <c:v>41410</c:v>
                </c:pt>
                <c:pt idx="573">
                  <c:v>41411</c:v>
                </c:pt>
                <c:pt idx="574">
                  <c:v>41414</c:v>
                </c:pt>
                <c:pt idx="575">
                  <c:v>41415</c:v>
                </c:pt>
                <c:pt idx="576">
                  <c:v>41416</c:v>
                </c:pt>
                <c:pt idx="577">
                  <c:v>41417</c:v>
                </c:pt>
                <c:pt idx="578">
                  <c:v>41418</c:v>
                </c:pt>
                <c:pt idx="579">
                  <c:v>41422</c:v>
                </c:pt>
                <c:pt idx="580">
                  <c:v>41423</c:v>
                </c:pt>
                <c:pt idx="581">
                  <c:v>41424</c:v>
                </c:pt>
                <c:pt idx="582">
                  <c:v>41425</c:v>
                </c:pt>
                <c:pt idx="583">
                  <c:v>41428</c:v>
                </c:pt>
                <c:pt idx="584">
                  <c:v>41429</c:v>
                </c:pt>
                <c:pt idx="585">
                  <c:v>41430</c:v>
                </c:pt>
                <c:pt idx="586">
                  <c:v>41431</c:v>
                </c:pt>
                <c:pt idx="587">
                  <c:v>41432</c:v>
                </c:pt>
                <c:pt idx="588">
                  <c:v>41435</c:v>
                </c:pt>
                <c:pt idx="589">
                  <c:v>41436</c:v>
                </c:pt>
                <c:pt idx="590">
                  <c:v>41437</c:v>
                </c:pt>
                <c:pt idx="591">
                  <c:v>41438</c:v>
                </c:pt>
                <c:pt idx="592">
                  <c:v>41439</c:v>
                </c:pt>
                <c:pt idx="593">
                  <c:v>41442</c:v>
                </c:pt>
                <c:pt idx="594">
                  <c:v>41443</c:v>
                </c:pt>
                <c:pt idx="595">
                  <c:v>41444</c:v>
                </c:pt>
                <c:pt idx="596">
                  <c:v>41445</c:v>
                </c:pt>
                <c:pt idx="597">
                  <c:v>41446</c:v>
                </c:pt>
                <c:pt idx="598">
                  <c:v>41449</c:v>
                </c:pt>
                <c:pt idx="599">
                  <c:v>41450</c:v>
                </c:pt>
                <c:pt idx="600">
                  <c:v>41451</c:v>
                </c:pt>
                <c:pt idx="601">
                  <c:v>41452</c:v>
                </c:pt>
                <c:pt idx="602">
                  <c:v>41453</c:v>
                </c:pt>
                <c:pt idx="603">
                  <c:v>41456</c:v>
                </c:pt>
                <c:pt idx="604">
                  <c:v>41457</c:v>
                </c:pt>
                <c:pt idx="605">
                  <c:v>41458</c:v>
                </c:pt>
                <c:pt idx="606">
                  <c:v>41460</c:v>
                </c:pt>
                <c:pt idx="607">
                  <c:v>41463</c:v>
                </c:pt>
                <c:pt idx="608">
                  <c:v>41464</c:v>
                </c:pt>
                <c:pt idx="609">
                  <c:v>41465</c:v>
                </c:pt>
                <c:pt idx="610">
                  <c:v>41466</c:v>
                </c:pt>
                <c:pt idx="611">
                  <c:v>41467</c:v>
                </c:pt>
                <c:pt idx="612">
                  <c:v>41470</c:v>
                </c:pt>
                <c:pt idx="613">
                  <c:v>41471</c:v>
                </c:pt>
                <c:pt idx="614">
                  <c:v>41472</c:v>
                </c:pt>
                <c:pt idx="615">
                  <c:v>41473</c:v>
                </c:pt>
                <c:pt idx="616">
                  <c:v>41474</c:v>
                </c:pt>
                <c:pt idx="617">
                  <c:v>41477</c:v>
                </c:pt>
                <c:pt idx="618">
                  <c:v>41478</c:v>
                </c:pt>
                <c:pt idx="619">
                  <c:v>41479</c:v>
                </c:pt>
                <c:pt idx="620">
                  <c:v>41480</c:v>
                </c:pt>
                <c:pt idx="621">
                  <c:v>41481</c:v>
                </c:pt>
                <c:pt idx="622">
                  <c:v>41484</c:v>
                </c:pt>
                <c:pt idx="623">
                  <c:v>41485</c:v>
                </c:pt>
                <c:pt idx="624">
                  <c:v>41486</c:v>
                </c:pt>
                <c:pt idx="625">
                  <c:v>41487</c:v>
                </c:pt>
                <c:pt idx="626">
                  <c:v>41488</c:v>
                </c:pt>
                <c:pt idx="627">
                  <c:v>41491</c:v>
                </c:pt>
                <c:pt idx="628">
                  <c:v>41492</c:v>
                </c:pt>
                <c:pt idx="629">
                  <c:v>41493</c:v>
                </c:pt>
                <c:pt idx="630">
                  <c:v>41494</c:v>
                </c:pt>
                <c:pt idx="631">
                  <c:v>41495</c:v>
                </c:pt>
                <c:pt idx="632">
                  <c:v>41498</c:v>
                </c:pt>
                <c:pt idx="633">
                  <c:v>41499</c:v>
                </c:pt>
                <c:pt idx="634">
                  <c:v>41500</c:v>
                </c:pt>
                <c:pt idx="635">
                  <c:v>41501</c:v>
                </c:pt>
                <c:pt idx="636">
                  <c:v>41502</c:v>
                </c:pt>
                <c:pt idx="637">
                  <c:v>41505</c:v>
                </c:pt>
                <c:pt idx="638">
                  <c:v>41506</c:v>
                </c:pt>
                <c:pt idx="639">
                  <c:v>41507</c:v>
                </c:pt>
                <c:pt idx="640">
                  <c:v>41508</c:v>
                </c:pt>
                <c:pt idx="641">
                  <c:v>41509</c:v>
                </c:pt>
                <c:pt idx="642">
                  <c:v>41512</c:v>
                </c:pt>
                <c:pt idx="643">
                  <c:v>41513</c:v>
                </c:pt>
                <c:pt idx="644">
                  <c:v>41514</c:v>
                </c:pt>
                <c:pt idx="645">
                  <c:v>41515</c:v>
                </c:pt>
                <c:pt idx="646">
                  <c:v>41516</c:v>
                </c:pt>
                <c:pt idx="647">
                  <c:v>41520</c:v>
                </c:pt>
                <c:pt idx="648">
                  <c:v>41521</c:v>
                </c:pt>
                <c:pt idx="649">
                  <c:v>41522</c:v>
                </c:pt>
                <c:pt idx="650">
                  <c:v>41523</c:v>
                </c:pt>
                <c:pt idx="651">
                  <c:v>41526</c:v>
                </c:pt>
                <c:pt idx="652">
                  <c:v>41527</c:v>
                </c:pt>
                <c:pt idx="653">
                  <c:v>41528</c:v>
                </c:pt>
                <c:pt idx="654">
                  <c:v>41529</c:v>
                </c:pt>
                <c:pt idx="655">
                  <c:v>41530</c:v>
                </c:pt>
                <c:pt idx="656">
                  <c:v>41533</c:v>
                </c:pt>
                <c:pt idx="657">
                  <c:v>41534</c:v>
                </c:pt>
                <c:pt idx="658">
                  <c:v>41535</c:v>
                </c:pt>
                <c:pt idx="659">
                  <c:v>41536</c:v>
                </c:pt>
                <c:pt idx="660">
                  <c:v>41537</c:v>
                </c:pt>
                <c:pt idx="661">
                  <c:v>41540</c:v>
                </c:pt>
                <c:pt idx="662">
                  <c:v>41541</c:v>
                </c:pt>
                <c:pt idx="663">
                  <c:v>41542</c:v>
                </c:pt>
                <c:pt idx="664">
                  <c:v>41543</c:v>
                </c:pt>
                <c:pt idx="665">
                  <c:v>41544</c:v>
                </c:pt>
                <c:pt idx="666">
                  <c:v>41547</c:v>
                </c:pt>
                <c:pt idx="667">
                  <c:v>41548</c:v>
                </c:pt>
                <c:pt idx="668">
                  <c:v>41549</c:v>
                </c:pt>
                <c:pt idx="669">
                  <c:v>41550</c:v>
                </c:pt>
                <c:pt idx="670">
                  <c:v>41551</c:v>
                </c:pt>
                <c:pt idx="671">
                  <c:v>41554</c:v>
                </c:pt>
                <c:pt idx="672">
                  <c:v>41555</c:v>
                </c:pt>
                <c:pt idx="673">
                  <c:v>41556</c:v>
                </c:pt>
                <c:pt idx="674">
                  <c:v>41557</c:v>
                </c:pt>
                <c:pt idx="675">
                  <c:v>41558</c:v>
                </c:pt>
                <c:pt idx="676">
                  <c:v>41562</c:v>
                </c:pt>
                <c:pt idx="677">
                  <c:v>41563</c:v>
                </c:pt>
                <c:pt idx="678">
                  <c:v>41564</c:v>
                </c:pt>
                <c:pt idx="679">
                  <c:v>41565</c:v>
                </c:pt>
                <c:pt idx="680">
                  <c:v>41568</c:v>
                </c:pt>
                <c:pt idx="681">
                  <c:v>41569</c:v>
                </c:pt>
                <c:pt idx="682">
                  <c:v>41570</c:v>
                </c:pt>
                <c:pt idx="683">
                  <c:v>41571</c:v>
                </c:pt>
                <c:pt idx="684">
                  <c:v>41575</c:v>
                </c:pt>
                <c:pt idx="685">
                  <c:v>41576</c:v>
                </c:pt>
                <c:pt idx="686">
                  <c:v>41577</c:v>
                </c:pt>
                <c:pt idx="687">
                  <c:v>41578</c:v>
                </c:pt>
                <c:pt idx="688">
                  <c:v>41579</c:v>
                </c:pt>
                <c:pt idx="689">
                  <c:v>41582</c:v>
                </c:pt>
                <c:pt idx="690">
                  <c:v>41583</c:v>
                </c:pt>
                <c:pt idx="691">
                  <c:v>41584</c:v>
                </c:pt>
                <c:pt idx="692">
                  <c:v>41585</c:v>
                </c:pt>
                <c:pt idx="693">
                  <c:v>41586</c:v>
                </c:pt>
                <c:pt idx="694">
                  <c:v>41590</c:v>
                </c:pt>
                <c:pt idx="695">
                  <c:v>41591</c:v>
                </c:pt>
                <c:pt idx="696">
                  <c:v>41592</c:v>
                </c:pt>
                <c:pt idx="697">
                  <c:v>41593</c:v>
                </c:pt>
                <c:pt idx="698">
                  <c:v>41596</c:v>
                </c:pt>
                <c:pt idx="699">
                  <c:v>41597</c:v>
                </c:pt>
                <c:pt idx="700">
                  <c:v>41598</c:v>
                </c:pt>
                <c:pt idx="701">
                  <c:v>41599</c:v>
                </c:pt>
                <c:pt idx="702">
                  <c:v>41600</c:v>
                </c:pt>
                <c:pt idx="703">
                  <c:v>41603</c:v>
                </c:pt>
                <c:pt idx="704">
                  <c:v>41604</c:v>
                </c:pt>
                <c:pt idx="705">
                  <c:v>41605</c:v>
                </c:pt>
                <c:pt idx="706">
                  <c:v>41607</c:v>
                </c:pt>
                <c:pt idx="707">
                  <c:v>41610</c:v>
                </c:pt>
                <c:pt idx="708">
                  <c:v>41611</c:v>
                </c:pt>
                <c:pt idx="709">
                  <c:v>41612</c:v>
                </c:pt>
                <c:pt idx="710">
                  <c:v>41613</c:v>
                </c:pt>
                <c:pt idx="711">
                  <c:v>41614</c:v>
                </c:pt>
                <c:pt idx="712">
                  <c:v>41617</c:v>
                </c:pt>
                <c:pt idx="713">
                  <c:v>41618</c:v>
                </c:pt>
                <c:pt idx="714">
                  <c:v>41619</c:v>
                </c:pt>
                <c:pt idx="715">
                  <c:v>41620</c:v>
                </c:pt>
                <c:pt idx="716">
                  <c:v>41621</c:v>
                </c:pt>
                <c:pt idx="717">
                  <c:v>41624</c:v>
                </c:pt>
                <c:pt idx="718">
                  <c:v>41625</c:v>
                </c:pt>
                <c:pt idx="719">
                  <c:v>41626</c:v>
                </c:pt>
                <c:pt idx="720">
                  <c:v>41627</c:v>
                </c:pt>
                <c:pt idx="721">
                  <c:v>41628</c:v>
                </c:pt>
                <c:pt idx="722">
                  <c:v>41631</c:v>
                </c:pt>
                <c:pt idx="723">
                  <c:v>41632</c:v>
                </c:pt>
                <c:pt idx="724">
                  <c:v>41634</c:v>
                </c:pt>
                <c:pt idx="725">
                  <c:v>41635</c:v>
                </c:pt>
                <c:pt idx="726">
                  <c:v>41638</c:v>
                </c:pt>
                <c:pt idx="727">
                  <c:v>41639</c:v>
                </c:pt>
                <c:pt idx="728">
                  <c:v>41641</c:v>
                </c:pt>
                <c:pt idx="729">
                  <c:v>41642</c:v>
                </c:pt>
                <c:pt idx="730">
                  <c:v>41645</c:v>
                </c:pt>
                <c:pt idx="731">
                  <c:v>41646</c:v>
                </c:pt>
                <c:pt idx="732">
                  <c:v>41647</c:v>
                </c:pt>
                <c:pt idx="733">
                  <c:v>41648</c:v>
                </c:pt>
                <c:pt idx="734">
                  <c:v>41649</c:v>
                </c:pt>
                <c:pt idx="735">
                  <c:v>41652</c:v>
                </c:pt>
                <c:pt idx="736">
                  <c:v>41653</c:v>
                </c:pt>
                <c:pt idx="737">
                  <c:v>41654</c:v>
                </c:pt>
                <c:pt idx="738">
                  <c:v>41655</c:v>
                </c:pt>
                <c:pt idx="739">
                  <c:v>41656</c:v>
                </c:pt>
                <c:pt idx="740">
                  <c:v>41660</c:v>
                </c:pt>
                <c:pt idx="741">
                  <c:v>41661</c:v>
                </c:pt>
                <c:pt idx="742">
                  <c:v>41662</c:v>
                </c:pt>
                <c:pt idx="743">
                  <c:v>41663</c:v>
                </c:pt>
                <c:pt idx="744">
                  <c:v>41666</c:v>
                </c:pt>
                <c:pt idx="745">
                  <c:v>41667</c:v>
                </c:pt>
                <c:pt idx="746">
                  <c:v>41668</c:v>
                </c:pt>
                <c:pt idx="747">
                  <c:v>41669</c:v>
                </c:pt>
                <c:pt idx="748">
                  <c:v>41670</c:v>
                </c:pt>
                <c:pt idx="749">
                  <c:v>41673</c:v>
                </c:pt>
                <c:pt idx="750">
                  <c:v>41674</c:v>
                </c:pt>
                <c:pt idx="751">
                  <c:v>41675</c:v>
                </c:pt>
                <c:pt idx="752">
                  <c:v>41676</c:v>
                </c:pt>
                <c:pt idx="753">
                  <c:v>41677</c:v>
                </c:pt>
                <c:pt idx="754">
                  <c:v>41680</c:v>
                </c:pt>
                <c:pt idx="755">
                  <c:v>41681</c:v>
                </c:pt>
                <c:pt idx="756">
                  <c:v>41682</c:v>
                </c:pt>
                <c:pt idx="757">
                  <c:v>41683</c:v>
                </c:pt>
                <c:pt idx="758">
                  <c:v>41684</c:v>
                </c:pt>
                <c:pt idx="759">
                  <c:v>41688</c:v>
                </c:pt>
                <c:pt idx="760">
                  <c:v>41689</c:v>
                </c:pt>
                <c:pt idx="761">
                  <c:v>41690</c:v>
                </c:pt>
                <c:pt idx="762">
                  <c:v>41691</c:v>
                </c:pt>
                <c:pt idx="763">
                  <c:v>41694</c:v>
                </c:pt>
                <c:pt idx="764">
                  <c:v>41695</c:v>
                </c:pt>
                <c:pt idx="765">
                  <c:v>41696</c:v>
                </c:pt>
                <c:pt idx="766">
                  <c:v>41697</c:v>
                </c:pt>
                <c:pt idx="767">
                  <c:v>41698</c:v>
                </c:pt>
                <c:pt idx="768">
                  <c:v>41701</c:v>
                </c:pt>
                <c:pt idx="769">
                  <c:v>41702</c:v>
                </c:pt>
                <c:pt idx="770">
                  <c:v>41703</c:v>
                </c:pt>
                <c:pt idx="771">
                  <c:v>41704</c:v>
                </c:pt>
                <c:pt idx="772">
                  <c:v>41705</c:v>
                </c:pt>
                <c:pt idx="773">
                  <c:v>41708</c:v>
                </c:pt>
                <c:pt idx="774">
                  <c:v>41709</c:v>
                </c:pt>
                <c:pt idx="775">
                  <c:v>41710</c:v>
                </c:pt>
                <c:pt idx="776">
                  <c:v>41711</c:v>
                </c:pt>
                <c:pt idx="777">
                  <c:v>41712</c:v>
                </c:pt>
                <c:pt idx="778">
                  <c:v>41715</c:v>
                </c:pt>
                <c:pt idx="779">
                  <c:v>41716</c:v>
                </c:pt>
                <c:pt idx="780">
                  <c:v>41717</c:v>
                </c:pt>
                <c:pt idx="781">
                  <c:v>41718</c:v>
                </c:pt>
                <c:pt idx="782">
                  <c:v>41719</c:v>
                </c:pt>
                <c:pt idx="783">
                  <c:v>41722</c:v>
                </c:pt>
                <c:pt idx="784">
                  <c:v>41723</c:v>
                </c:pt>
                <c:pt idx="785">
                  <c:v>41724</c:v>
                </c:pt>
                <c:pt idx="786">
                  <c:v>41725</c:v>
                </c:pt>
                <c:pt idx="787">
                  <c:v>41726</c:v>
                </c:pt>
                <c:pt idx="788">
                  <c:v>41729</c:v>
                </c:pt>
                <c:pt idx="789">
                  <c:v>41730</c:v>
                </c:pt>
                <c:pt idx="790">
                  <c:v>41731</c:v>
                </c:pt>
                <c:pt idx="791">
                  <c:v>41732</c:v>
                </c:pt>
                <c:pt idx="792">
                  <c:v>41733</c:v>
                </c:pt>
                <c:pt idx="793">
                  <c:v>41736</c:v>
                </c:pt>
                <c:pt idx="794">
                  <c:v>41737</c:v>
                </c:pt>
                <c:pt idx="795">
                  <c:v>41738</c:v>
                </c:pt>
                <c:pt idx="796">
                  <c:v>41739</c:v>
                </c:pt>
                <c:pt idx="797">
                  <c:v>41740</c:v>
                </c:pt>
                <c:pt idx="798">
                  <c:v>41743</c:v>
                </c:pt>
                <c:pt idx="799">
                  <c:v>41744</c:v>
                </c:pt>
                <c:pt idx="800">
                  <c:v>41745</c:v>
                </c:pt>
                <c:pt idx="801">
                  <c:v>41746</c:v>
                </c:pt>
                <c:pt idx="802">
                  <c:v>41750</c:v>
                </c:pt>
                <c:pt idx="803">
                  <c:v>41751</c:v>
                </c:pt>
                <c:pt idx="804">
                  <c:v>41752</c:v>
                </c:pt>
                <c:pt idx="805">
                  <c:v>41753</c:v>
                </c:pt>
                <c:pt idx="806">
                  <c:v>41759</c:v>
                </c:pt>
                <c:pt idx="807">
                  <c:v>41760</c:v>
                </c:pt>
                <c:pt idx="808">
                  <c:v>41761</c:v>
                </c:pt>
                <c:pt idx="809">
                  <c:v>41764</c:v>
                </c:pt>
                <c:pt idx="810">
                  <c:v>41765</c:v>
                </c:pt>
                <c:pt idx="811">
                  <c:v>41766</c:v>
                </c:pt>
                <c:pt idx="812">
                  <c:v>41767</c:v>
                </c:pt>
                <c:pt idx="813">
                  <c:v>41768</c:v>
                </c:pt>
                <c:pt idx="814">
                  <c:v>41771</c:v>
                </c:pt>
                <c:pt idx="815">
                  <c:v>41772</c:v>
                </c:pt>
                <c:pt idx="816">
                  <c:v>41773</c:v>
                </c:pt>
                <c:pt idx="817">
                  <c:v>41774</c:v>
                </c:pt>
                <c:pt idx="818">
                  <c:v>41775</c:v>
                </c:pt>
                <c:pt idx="819">
                  <c:v>41778</c:v>
                </c:pt>
                <c:pt idx="820">
                  <c:v>41779</c:v>
                </c:pt>
                <c:pt idx="821">
                  <c:v>41780</c:v>
                </c:pt>
                <c:pt idx="822">
                  <c:v>41781</c:v>
                </c:pt>
                <c:pt idx="823">
                  <c:v>41782</c:v>
                </c:pt>
                <c:pt idx="824">
                  <c:v>41786</c:v>
                </c:pt>
                <c:pt idx="825">
                  <c:v>41787</c:v>
                </c:pt>
                <c:pt idx="826">
                  <c:v>41788</c:v>
                </c:pt>
                <c:pt idx="827">
                  <c:v>41789</c:v>
                </c:pt>
                <c:pt idx="828">
                  <c:v>41792</c:v>
                </c:pt>
                <c:pt idx="829">
                  <c:v>41793</c:v>
                </c:pt>
                <c:pt idx="830">
                  <c:v>41794</c:v>
                </c:pt>
                <c:pt idx="831">
                  <c:v>41795</c:v>
                </c:pt>
                <c:pt idx="832">
                  <c:v>41796</c:v>
                </c:pt>
                <c:pt idx="833">
                  <c:v>41799</c:v>
                </c:pt>
                <c:pt idx="834">
                  <c:v>41800</c:v>
                </c:pt>
                <c:pt idx="835">
                  <c:v>41801</c:v>
                </c:pt>
                <c:pt idx="836">
                  <c:v>41802</c:v>
                </c:pt>
                <c:pt idx="837">
                  <c:v>41803</c:v>
                </c:pt>
                <c:pt idx="838">
                  <c:v>41806</c:v>
                </c:pt>
                <c:pt idx="839">
                  <c:v>41807</c:v>
                </c:pt>
                <c:pt idx="840">
                  <c:v>41808</c:v>
                </c:pt>
                <c:pt idx="841">
                  <c:v>41809</c:v>
                </c:pt>
                <c:pt idx="842">
                  <c:v>41810</c:v>
                </c:pt>
                <c:pt idx="843">
                  <c:v>41813</c:v>
                </c:pt>
                <c:pt idx="844">
                  <c:v>41814</c:v>
                </c:pt>
                <c:pt idx="845">
                  <c:v>41815</c:v>
                </c:pt>
                <c:pt idx="846">
                  <c:v>41816</c:v>
                </c:pt>
                <c:pt idx="847">
                  <c:v>41817</c:v>
                </c:pt>
                <c:pt idx="848">
                  <c:v>41820</c:v>
                </c:pt>
                <c:pt idx="849">
                  <c:v>41821</c:v>
                </c:pt>
                <c:pt idx="850">
                  <c:v>41822</c:v>
                </c:pt>
                <c:pt idx="851">
                  <c:v>41823</c:v>
                </c:pt>
                <c:pt idx="852">
                  <c:v>41827</c:v>
                </c:pt>
                <c:pt idx="853">
                  <c:v>41828</c:v>
                </c:pt>
                <c:pt idx="854">
                  <c:v>41829</c:v>
                </c:pt>
                <c:pt idx="855">
                  <c:v>41830</c:v>
                </c:pt>
                <c:pt idx="856">
                  <c:v>41831</c:v>
                </c:pt>
                <c:pt idx="857">
                  <c:v>41834</c:v>
                </c:pt>
                <c:pt idx="858">
                  <c:v>41835</c:v>
                </c:pt>
                <c:pt idx="859">
                  <c:v>41836</c:v>
                </c:pt>
                <c:pt idx="860">
                  <c:v>41837</c:v>
                </c:pt>
                <c:pt idx="861">
                  <c:v>41838</c:v>
                </c:pt>
                <c:pt idx="862">
                  <c:v>41841</c:v>
                </c:pt>
                <c:pt idx="863">
                  <c:v>41842</c:v>
                </c:pt>
                <c:pt idx="864">
                  <c:v>41843</c:v>
                </c:pt>
                <c:pt idx="865">
                  <c:v>41844</c:v>
                </c:pt>
                <c:pt idx="866">
                  <c:v>41845</c:v>
                </c:pt>
                <c:pt idx="867">
                  <c:v>41848</c:v>
                </c:pt>
                <c:pt idx="868">
                  <c:v>41849</c:v>
                </c:pt>
                <c:pt idx="869">
                  <c:v>41850</c:v>
                </c:pt>
                <c:pt idx="870">
                  <c:v>41852</c:v>
                </c:pt>
                <c:pt idx="871">
                  <c:v>41855</c:v>
                </c:pt>
                <c:pt idx="872">
                  <c:v>41856</c:v>
                </c:pt>
                <c:pt idx="873">
                  <c:v>41857</c:v>
                </c:pt>
                <c:pt idx="874">
                  <c:v>41858</c:v>
                </c:pt>
                <c:pt idx="875">
                  <c:v>41859</c:v>
                </c:pt>
                <c:pt idx="876">
                  <c:v>41862</c:v>
                </c:pt>
                <c:pt idx="877">
                  <c:v>41863</c:v>
                </c:pt>
                <c:pt idx="878">
                  <c:v>41864</c:v>
                </c:pt>
                <c:pt idx="879">
                  <c:v>41865</c:v>
                </c:pt>
                <c:pt idx="880">
                  <c:v>41866</c:v>
                </c:pt>
                <c:pt idx="881">
                  <c:v>41869</c:v>
                </c:pt>
                <c:pt idx="882">
                  <c:v>41870</c:v>
                </c:pt>
                <c:pt idx="883">
                  <c:v>41871</c:v>
                </c:pt>
                <c:pt idx="884">
                  <c:v>41872</c:v>
                </c:pt>
                <c:pt idx="885">
                  <c:v>41873</c:v>
                </c:pt>
                <c:pt idx="886">
                  <c:v>41876</c:v>
                </c:pt>
                <c:pt idx="887">
                  <c:v>41877</c:v>
                </c:pt>
                <c:pt idx="888">
                  <c:v>41878</c:v>
                </c:pt>
                <c:pt idx="889">
                  <c:v>41879</c:v>
                </c:pt>
                <c:pt idx="890">
                  <c:v>41880</c:v>
                </c:pt>
                <c:pt idx="891">
                  <c:v>41884</c:v>
                </c:pt>
                <c:pt idx="892">
                  <c:v>41885</c:v>
                </c:pt>
                <c:pt idx="893">
                  <c:v>41886</c:v>
                </c:pt>
                <c:pt idx="894">
                  <c:v>41887</c:v>
                </c:pt>
                <c:pt idx="895">
                  <c:v>41890</c:v>
                </c:pt>
                <c:pt idx="896">
                  <c:v>41891</c:v>
                </c:pt>
                <c:pt idx="897">
                  <c:v>41892</c:v>
                </c:pt>
                <c:pt idx="898">
                  <c:v>41893</c:v>
                </c:pt>
                <c:pt idx="899">
                  <c:v>41894</c:v>
                </c:pt>
                <c:pt idx="900">
                  <c:v>41897</c:v>
                </c:pt>
                <c:pt idx="901">
                  <c:v>41898</c:v>
                </c:pt>
                <c:pt idx="902">
                  <c:v>41899</c:v>
                </c:pt>
                <c:pt idx="903">
                  <c:v>41900</c:v>
                </c:pt>
                <c:pt idx="904">
                  <c:v>41901</c:v>
                </c:pt>
                <c:pt idx="905">
                  <c:v>41904</c:v>
                </c:pt>
                <c:pt idx="906">
                  <c:v>41905</c:v>
                </c:pt>
                <c:pt idx="907">
                  <c:v>41906</c:v>
                </c:pt>
                <c:pt idx="908">
                  <c:v>41907</c:v>
                </c:pt>
                <c:pt idx="909">
                  <c:v>41908</c:v>
                </c:pt>
                <c:pt idx="910">
                  <c:v>41911</c:v>
                </c:pt>
                <c:pt idx="911">
                  <c:v>41912</c:v>
                </c:pt>
                <c:pt idx="912">
                  <c:v>41913</c:v>
                </c:pt>
                <c:pt idx="913">
                  <c:v>41914</c:v>
                </c:pt>
                <c:pt idx="914">
                  <c:v>41915</c:v>
                </c:pt>
                <c:pt idx="915">
                  <c:v>41918</c:v>
                </c:pt>
                <c:pt idx="916">
                  <c:v>41919</c:v>
                </c:pt>
                <c:pt idx="917">
                  <c:v>41920</c:v>
                </c:pt>
                <c:pt idx="918">
                  <c:v>41921</c:v>
                </c:pt>
                <c:pt idx="919">
                  <c:v>41922</c:v>
                </c:pt>
                <c:pt idx="920">
                  <c:v>41926</c:v>
                </c:pt>
                <c:pt idx="921">
                  <c:v>41927</c:v>
                </c:pt>
                <c:pt idx="922">
                  <c:v>41928</c:v>
                </c:pt>
                <c:pt idx="923">
                  <c:v>41929</c:v>
                </c:pt>
                <c:pt idx="924">
                  <c:v>41932</c:v>
                </c:pt>
                <c:pt idx="925">
                  <c:v>41933</c:v>
                </c:pt>
                <c:pt idx="926">
                  <c:v>41934</c:v>
                </c:pt>
                <c:pt idx="927">
                  <c:v>41935</c:v>
                </c:pt>
                <c:pt idx="928">
                  <c:v>41936</c:v>
                </c:pt>
                <c:pt idx="929">
                  <c:v>41939</c:v>
                </c:pt>
                <c:pt idx="930">
                  <c:v>41940</c:v>
                </c:pt>
                <c:pt idx="931">
                  <c:v>41941</c:v>
                </c:pt>
                <c:pt idx="932">
                  <c:v>41942</c:v>
                </c:pt>
                <c:pt idx="933">
                  <c:v>41943</c:v>
                </c:pt>
                <c:pt idx="934">
                  <c:v>41946</c:v>
                </c:pt>
                <c:pt idx="935">
                  <c:v>41947</c:v>
                </c:pt>
                <c:pt idx="936">
                  <c:v>41948</c:v>
                </c:pt>
                <c:pt idx="937">
                  <c:v>41949</c:v>
                </c:pt>
                <c:pt idx="938">
                  <c:v>41950</c:v>
                </c:pt>
                <c:pt idx="939">
                  <c:v>41953</c:v>
                </c:pt>
                <c:pt idx="940">
                  <c:v>41955</c:v>
                </c:pt>
                <c:pt idx="941">
                  <c:v>41956</c:v>
                </c:pt>
                <c:pt idx="942">
                  <c:v>41957</c:v>
                </c:pt>
                <c:pt idx="943">
                  <c:v>41960</c:v>
                </c:pt>
                <c:pt idx="944">
                  <c:v>41961</c:v>
                </c:pt>
                <c:pt idx="945">
                  <c:v>41962</c:v>
                </c:pt>
                <c:pt idx="946">
                  <c:v>41963</c:v>
                </c:pt>
                <c:pt idx="947">
                  <c:v>41964</c:v>
                </c:pt>
                <c:pt idx="948">
                  <c:v>41967</c:v>
                </c:pt>
                <c:pt idx="949">
                  <c:v>41968</c:v>
                </c:pt>
                <c:pt idx="950">
                  <c:v>41969</c:v>
                </c:pt>
                <c:pt idx="951">
                  <c:v>41971</c:v>
                </c:pt>
                <c:pt idx="952">
                  <c:v>41974</c:v>
                </c:pt>
                <c:pt idx="953">
                  <c:v>41975</c:v>
                </c:pt>
                <c:pt idx="954">
                  <c:v>41976</c:v>
                </c:pt>
                <c:pt idx="955">
                  <c:v>41977</c:v>
                </c:pt>
                <c:pt idx="956">
                  <c:v>41978</c:v>
                </c:pt>
                <c:pt idx="957">
                  <c:v>41981</c:v>
                </c:pt>
                <c:pt idx="958">
                  <c:v>41982</c:v>
                </c:pt>
                <c:pt idx="959">
                  <c:v>41983</c:v>
                </c:pt>
                <c:pt idx="960">
                  <c:v>41984</c:v>
                </c:pt>
                <c:pt idx="961">
                  <c:v>41985</c:v>
                </c:pt>
                <c:pt idx="962">
                  <c:v>41988</c:v>
                </c:pt>
                <c:pt idx="963">
                  <c:v>41989</c:v>
                </c:pt>
                <c:pt idx="964">
                  <c:v>41990</c:v>
                </c:pt>
                <c:pt idx="965">
                  <c:v>41991</c:v>
                </c:pt>
                <c:pt idx="966">
                  <c:v>41992</c:v>
                </c:pt>
                <c:pt idx="967">
                  <c:v>41995</c:v>
                </c:pt>
                <c:pt idx="968">
                  <c:v>41996</c:v>
                </c:pt>
                <c:pt idx="969">
                  <c:v>41997</c:v>
                </c:pt>
                <c:pt idx="970">
                  <c:v>41999</c:v>
                </c:pt>
                <c:pt idx="971">
                  <c:v>42002</c:v>
                </c:pt>
                <c:pt idx="972">
                  <c:v>42003</c:v>
                </c:pt>
                <c:pt idx="973">
                  <c:v>42004</c:v>
                </c:pt>
                <c:pt idx="974">
                  <c:v>42006</c:v>
                </c:pt>
                <c:pt idx="975">
                  <c:v>42009</c:v>
                </c:pt>
                <c:pt idx="976">
                  <c:v>42010</c:v>
                </c:pt>
                <c:pt idx="977">
                  <c:v>42011</c:v>
                </c:pt>
                <c:pt idx="978">
                  <c:v>42012</c:v>
                </c:pt>
                <c:pt idx="979">
                  <c:v>42013</c:v>
                </c:pt>
                <c:pt idx="980">
                  <c:v>42016</c:v>
                </c:pt>
                <c:pt idx="981">
                  <c:v>42017</c:v>
                </c:pt>
                <c:pt idx="982">
                  <c:v>42018</c:v>
                </c:pt>
                <c:pt idx="983">
                  <c:v>42019</c:v>
                </c:pt>
                <c:pt idx="984">
                  <c:v>42020</c:v>
                </c:pt>
                <c:pt idx="985">
                  <c:v>42024</c:v>
                </c:pt>
                <c:pt idx="986">
                  <c:v>42025</c:v>
                </c:pt>
                <c:pt idx="987">
                  <c:v>42026</c:v>
                </c:pt>
                <c:pt idx="988">
                  <c:v>42027</c:v>
                </c:pt>
                <c:pt idx="989">
                  <c:v>42030</c:v>
                </c:pt>
                <c:pt idx="990">
                  <c:v>42031</c:v>
                </c:pt>
                <c:pt idx="991">
                  <c:v>42032</c:v>
                </c:pt>
                <c:pt idx="992">
                  <c:v>42033</c:v>
                </c:pt>
                <c:pt idx="993">
                  <c:v>42034</c:v>
                </c:pt>
                <c:pt idx="994">
                  <c:v>42037</c:v>
                </c:pt>
                <c:pt idx="995">
                  <c:v>42038</c:v>
                </c:pt>
                <c:pt idx="996">
                  <c:v>42039</c:v>
                </c:pt>
                <c:pt idx="997">
                  <c:v>42040</c:v>
                </c:pt>
                <c:pt idx="998">
                  <c:v>42041</c:v>
                </c:pt>
                <c:pt idx="999">
                  <c:v>42044</c:v>
                </c:pt>
                <c:pt idx="1000">
                  <c:v>42045</c:v>
                </c:pt>
                <c:pt idx="1001">
                  <c:v>42046</c:v>
                </c:pt>
                <c:pt idx="1002">
                  <c:v>42047</c:v>
                </c:pt>
                <c:pt idx="1003">
                  <c:v>42048</c:v>
                </c:pt>
                <c:pt idx="1004">
                  <c:v>42052</c:v>
                </c:pt>
                <c:pt idx="1005">
                  <c:v>42053</c:v>
                </c:pt>
                <c:pt idx="1006">
                  <c:v>42054</c:v>
                </c:pt>
                <c:pt idx="1007">
                  <c:v>42055</c:v>
                </c:pt>
                <c:pt idx="1008">
                  <c:v>42058</c:v>
                </c:pt>
                <c:pt idx="1009">
                  <c:v>42059</c:v>
                </c:pt>
                <c:pt idx="1010">
                  <c:v>42060</c:v>
                </c:pt>
                <c:pt idx="1011">
                  <c:v>42061</c:v>
                </c:pt>
                <c:pt idx="1012">
                  <c:v>42062</c:v>
                </c:pt>
                <c:pt idx="1013">
                  <c:v>42065</c:v>
                </c:pt>
                <c:pt idx="1014">
                  <c:v>42066</c:v>
                </c:pt>
                <c:pt idx="1015">
                  <c:v>42067</c:v>
                </c:pt>
                <c:pt idx="1016">
                  <c:v>42068</c:v>
                </c:pt>
                <c:pt idx="1017">
                  <c:v>42069</c:v>
                </c:pt>
                <c:pt idx="1018">
                  <c:v>42072</c:v>
                </c:pt>
                <c:pt idx="1019">
                  <c:v>42073</c:v>
                </c:pt>
                <c:pt idx="1020">
                  <c:v>42074</c:v>
                </c:pt>
                <c:pt idx="1021">
                  <c:v>42075</c:v>
                </c:pt>
                <c:pt idx="1022">
                  <c:v>42076</c:v>
                </c:pt>
                <c:pt idx="1023">
                  <c:v>42079</c:v>
                </c:pt>
                <c:pt idx="1024">
                  <c:v>42080</c:v>
                </c:pt>
                <c:pt idx="1025">
                  <c:v>42081</c:v>
                </c:pt>
                <c:pt idx="1026">
                  <c:v>42082</c:v>
                </c:pt>
                <c:pt idx="1027">
                  <c:v>42083</c:v>
                </c:pt>
                <c:pt idx="1028">
                  <c:v>42086</c:v>
                </c:pt>
                <c:pt idx="1029">
                  <c:v>42087</c:v>
                </c:pt>
                <c:pt idx="1030">
                  <c:v>42088</c:v>
                </c:pt>
                <c:pt idx="1031">
                  <c:v>42089</c:v>
                </c:pt>
                <c:pt idx="1032">
                  <c:v>42090</c:v>
                </c:pt>
                <c:pt idx="1033">
                  <c:v>42093</c:v>
                </c:pt>
                <c:pt idx="1034">
                  <c:v>42094</c:v>
                </c:pt>
                <c:pt idx="1035">
                  <c:v>42095</c:v>
                </c:pt>
                <c:pt idx="1036">
                  <c:v>42096</c:v>
                </c:pt>
                <c:pt idx="1037">
                  <c:v>42097</c:v>
                </c:pt>
                <c:pt idx="1038">
                  <c:v>42100</c:v>
                </c:pt>
                <c:pt idx="1039">
                  <c:v>42101</c:v>
                </c:pt>
                <c:pt idx="1040">
                  <c:v>42102</c:v>
                </c:pt>
                <c:pt idx="1041">
                  <c:v>42103</c:v>
                </c:pt>
                <c:pt idx="1042">
                  <c:v>42104</c:v>
                </c:pt>
                <c:pt idx="1043">
                  <c:v>42107</c:v>
                </c:pt>
                <c:pt idx="1044">
                  <c:v>42108</c:v>
                </c:pt>
                <c:pt idx="1045">
                  <c:v>42109</c:v>
                </c:pt>
                <c:pt idx="1046">
                  <c:v>42110</c:v>
                </c:pt>
                <c:pt idx="1047">
                  <c:v>42111</c:v>
                </c:pt>
                <c:pt idx="1048">
                  <c:v>42114</c:v>
                </c:pt>
                <c:pt idx="1049">
                  <c:v>42115</c:v>
                </c:pt>
                <c:pt idx="1050">
                  <c:v>42116</c:v>
                </c:pt>
                <c:pt idx="1051">
                  <c:v>42117</c:v>
                </c:pt>
                <c:pt idx="1052">
                  <c:v>42118</c:v>
                </c:pt>
                <c:pt idx="1053">
                  <c:v>42121</c:v>
                </c:pt>
                <c:pt idx="1054">
                  <c:v>42122</c:v>
                </c:pt>
                <c:pt idx="1055">
                  <c:v>42123</c:v>
                </c:pt>
                <c:pt idx="1056">
                  <c:v>42124</c:v>
                </c:pt>
                <c:pt idx="1057">
                  <c:v>42125</c:v>
                </c:pt>
                <c:pt idx="1058">
                  <c:v>42128</c:v>
                </c:pt>
                <c:pt idx="1059">
                  <c:v>42129</c:v>
                </c:pt>
                <c:pt idx="1060">
                  <c:v>42130</c:v>
                </c:pt>
                <c:pt idx="1061">
                  <c:v>42131</c:v>
                </c:pt>
                <c:pt idx="1062">
                  <c:v>42132</c:v>
                </c:pt>
                <c:pt idx="1063">
                  <c:v>42135</c:v>
                </c:pt>
                <c:pt idx="1064">
                  <c:v>42136</c:v>
                </c:pt>
                <c:pt idx="1065">
                  <c:v>42137</c:v>
                </c:pt>
                <c:pt idx="1066">
                  <c:v>42138</c:v>
                </c:pt>
                <c:pt idx="1067">
                  <c:v>42139</c:v>
                </c:pt>
                <c:pt idx="1068">
                  <c:v>42142</c:v>
                </c:pt>
                <c:pt idx="1069">
                  <c:v>42143</c:v>
                </c:pt>
                <c:pt idx="1070">
                  <c:v>42144</c:v>
                </c:pt>
                <c:pt idx="1071">
                  <c:v>42145</c:v>
                </c:pt>
                <c:pt idx="1072">
                  <c:v>42146</c:v>
                </c:pt>
                <c:pt idx="1073">
                  <c:v>42150</c:v>
                </c:pt>
                <c:pt idx="1074">
                  <c:v>42151</c:v>
                </c:pt>
                <c:pt idx="1075">
                  <c:v>42152</c:v>
                </c:pt>
                <c:pt idx="1076">
                  <c:v>42153</c:v>
                </c:pt>
                <c:pt idx="1077">
                  <c:v>42156</c:v>
                </c:pt>
                <c:pt idx="1078">
                  <c:v>42157</c:v>
                </c:pt>
                <c:pt idx="1079">
                  <c:v>42158</c:v>
                </c:pt>
                <c:pt idx="1080">
                  <c:v>42159</c:v>
                </c:pt>
                <c:pt idx="1081">
                  <c:v>42160</c:v>
                </c:pt>
                <c:pt idx="1082">
                  <c:v>42163</c:v>
                </c:pt>
                <c:pt idx="1083">
                  <c:v>42164</c:v>
                </c:pt>
                <c:pt idx="1084">
                  <c:v>42165</c:v>
                </c:pt>
                <c:pt idx="1085">
                  <c:v>42166</c:v>
                </c:pt>
                <c:pt idx="1086">
                  <c:v>42167</c:v>
                </c:pt>
                <c:pt idx="1087">
                  <c:v>42170</c:v>
                </c:pt>
                <c:pt idx="1088">
                  <c:v>42171</c:v>
                </c:pt>
                <c:pt idx="1089">
                  <c:v>42172</c:v>
                </c:pt>
                <c:pt idx="1090">
                  <c:v>42173</c:v>
                </c:pt>
                <c:pt idx="1091">
                  <c:v>42174</c:v>
                </c:pt>
                <c:pt idx="1092">
                  <c:v>42177</c:v>
                </c:pt>
                <c:pt idx="1093">
                  <c:v>42178</c:v>
                </c:pt>
                <c:pt idx="1094">
                  <c:v>42179</c:v>
                </c:pt>
                <c:pt idx="1095">
                  <c:v>42180</c:v>
                </c:pt>
                <c:pt idx="1096">
                  <c:v>42181</c:v>
                </c:pt>
                <c:pt idx="1097">
                  <c:v>42184</c:v>
                </c:pt>
                <c:pt idx="1098">
                  <c:v>42185</c:v>
                </c:pt>
                <c:pt idx="1099">
                  <c:v>42186</c:v>
                </c:pt>
                <c:pt idx="1100">
                  <c:v>42187</c:v>
                </c:pt>
                <c:pt idx="1101">
                  <c:v>42191</c:v>
                </c:pt>
                <c:pt idx="1102">
                  <c:v>42192</c:v>
                </c:pt>
                <c:pt idx="1103">
                  <c:v>42193</c:v>
                </c:pt>
                <c:pt idx="1104">
                  <c:v>42194</c:v>
                </c:pt>
                <c:pt idx="1105">
                  <c:v>42195</c:v>
                </c:pt>
                <c:pt idx="1106">
                  <c:v>42198</c:v>
                </c:pt>
                <c:pt idx="1107">
                  <c:v>42199</c:v>
                </c:pt>
                <c:pt idx="1108">
                  <c:v>42200</c:v>
                </c:pt>
                <c:pt idx="1109">
                  <c:v>42201</c:v>
                </c:pt>
                <c:pt idx="1110">
                  <c:v>42202</c:v>
                </c:pt>
                <c:pt idx="1111">
                  <c:v>42205</c:v>
                </c:pt>
                <c:pt idx="1112">
                  <c:v>42206</c:v>
                </c:pt>
                <c:pt idx="1113">
                  <c:v>42207</c:v>
                </c:pt>
                <c:pt idx="1114">
                  <c:v>42208</c:v>
                </c:pt>
                <c:pt idx="1115">
                  <c:v>42209</c:v>
                </c:pt>
                <c:pt idx="1116">
                  <c:v>42212</c:v>
                </c:pt>
                <c:pt idx="1117">
                  <c:v>42213</c:v>
                </c:pt>
                <c:pt idx="1118">
                  <c:v>42214</c:v>
                </c:pt>
                <c:pt idx="1119">
                  <c:v>42215</c:v>
                </c:pt>
                <c:pt idx="1120">
                  <c:v>42216</c:v>
                </c:pt>
                <c:pt idx="1121">
                  <c:v>42219</c:v>
                </c:pt>
                <c:pt idx="1122">
                  <c:v>42220</c:v>
                </c:pt>
                <c:pt idx="1123">
                  <c:v>42221</c:v>
                </c:pt>
                <c:pt idx="1124">
                  <c:v>42222</c:v>
                </c:pt>
                <c:pt idx="1125">
                  <c:v>42223</c:v>
                </c:pt>
                <c:pt idx="1126">
                  <c:v>42226</c:v>
                </c:pt>
                <c:pt idx="1127">
                  <c:v>42227</c:v>
                </c:pt>
                <c:pt idx="1128">
                  <c:v>42228</c:v>
                </c:pt>
                <c:pt idx="1129">
                  <c:v>42229</c:v>
                </c:pt>
                <c:pt idx="1130">
                  <c:v>42230</c:v>
                </c:pt>
                <c:pt idx="1131">
                  <c:v>42233</c:v>
                </c:pt>
                <c:pt idx="1132">
                  <c:v>42234</c:v>
                </c:pt>
                <c:pt idx="1133">
                  <c:v>42235</c:v>
                </c:pt>
                <c:pt idx="1134">
                  <c:v>42236</c:v>
                </c:pt>
                <c:pt idx="1135">
                  <c:v>42237</c:v>
                </c:pt>
                <c:pt idx="1136">
                  <c:v>42240</c:v>
                </c:pt>
                <c:pt idx="1137">
                  <c:v>42241</c:v>
                </c:pt>
                <c:pt idx="1138">
                  <c:v>42242</c:v>
                </c:pt>
                <c:pt idx="1139">
                  <c:v>42243</c:v>
                </c:pt>
                <c:pt idx="1140">
                  <c:v>42244</c:v>
                </c:pt>
                <c:pt idx="1141">
                  <c:v>42247</c:v>
                </c:pt>
                <c:pt idx="1142">
                  <c:v>42248</c:v>
                </c:pt>
                <c:pt idx="1143">
                  <c:v>42249</c:v>
                </c:pt>
                <c:pt idx="1144">
                  <c:v>42250</c:v>
                </c:pt>
                <c:pt idx="1145">
                  <c:v>42251</c:v>
                </c:pt>
                <c:pt idx="1146">
                  <c:v>42255</c:v>
                </c:pt>
                <c:pt idx="1147">
                  <c:v>42256</c:v>
                </c:pt>
                <c:pt idx="1148">
                  <c:v>42257</c:v>
                </c:pt>
                <c:pt idx="1149">
                  <c:v>42258</c:v>
                </c:pt>
                <c:pt idx="1150">
                  <c:v>42261</c:v>
                </c:pt>
                <c:pt idx="1151">
                  <c:v>42262</c:v>
                </c:pt>
                <c:pt idx="1152">
                  <c:v>42263</c:v>
                </c:pt>
                <c:pt idx="1153">
                  <c:v>42264</c:v>
                </c:pt>
                <c:pt idx="1154">
                  <c:v>42265</c:v>
                </c:pt>
                <c:pt idx="1155">
                  <c:v>42268</c:v>
                </c:pt>
                <c:pt idx="1156">
                  <c:v>42269</c:v>
                </c:pt>
                <c:pt idx="1157">
                  <c:v>42270</c:v>
                </c:pt>
                <c:pt idx="1158">
                  <c:v>42271</c:v>
                </c:pt>
                <c:pt idx="1159">
                  <c:v>42272</c:v>
                </c:pt>
                <c:pt idx="1160">
                  <c:v>42275</c:v>
                </c:pt>
                <c:pt idx="1161">
                  <c:v>42276</c:v>
                </c:pt>
                <c:pt idx="1162">
                  <c:v>42277</c:v>
                </c:pt>
                <c:pt idx="1163">
                  <c:v>42278</c:v>
                </c:pt>
                <c:pt idx="1164">
                  <c:v>42279</c:v>
                </c:pt>
                <c:pt idx="1165">
                  <c:v>42282</c:v>
                </c:pt>
                <c:pt idx="1166">
                  <c:v>42283</c:v>
                </c:pt>
                <c:pt idx="1167">
                  <c:v>42284</c:v>
                </c:pt>
                <c:pt idx="1168">
                  <c:v>42285</c:v>
                </c:pt>
                <c:pt idx="1169">
                  <c:v>42286</c:v>
                </c:pt>
                <c:pt idx="1170">
                  <c:v>42290</c:v>
                </c:pt>
                <c:pt idx="1171">
                  <c:v>42291</c:v>
                </c:pt>
                <c:pt idx="1172">
                  <c:v>42292</c:v>
                </c:pt>
                <c:pt idx="1173">
                  <c:v>42293</c:v>
                </c:pt>
                <c:pt idx="1174">
                  <c:v>42296</c:v>
                </c:pt>
                <c:pt idx="1175">
                  <c:v>42297</c:v>
                </c:pt>
                <c:pt idx="1176">
                  <c:v>42298</c:v>
                </c:pt>
                <c:pt idx="1177">
                  <c:v>42299</c:v>
                </c:pt>
                <c:pt idx="1178">
                  <c:v>42300</c:v>
                </c:pt>
                <c:pt idx="1179">
                  <c:v>42303</c:v>
                </c:pt>
                <c:pt idx="1180">
                  <c:v>42304</c:v>
                </c:pt>
                <c:pt idx="1181">
                  <c:v>42305</c:v>
                </c:pt>
                <c:pt idx="1182">
                  <c:v>42306</c:v>
                </c:pt>
                <c:pt idx="1183">
                  <c:v>42307</c:v>
                </c:pt>
                <c:pt idx="1184">
                  <c:v>42310</c:v>
                </c:pt>
                <c:pt idx="1185">
                  <c:v>42311</c:v>
                </c:pt>
                <c:pt idx="1186">
                  <c:v>42312</c:v>
                </c:pt>
                <c:pt idx="1187">
                  <c:v>42313</c:v>
                </c:pt>
                <c:pt idx="1188">
                  <c:v>42314</c:v>
                </c:pt>
                <c:pt idx="1189">
                  <c:v>42317</c:v>
                </c:pt>
                <c:pt idx="1190">
                  <c:v>42318</c:v>
                </c:pt>
                <c:pt idx="1191">
                  <c:v>42320</c:v>
                </c:pt>
                <c:pt idx="1192">
                  <c:v>42321</c:v>
                </c:pt>
                <c:pt idx="1193">
                  <c:v>42324</c:v>
                </c:pt>
                <c:pt idx="1194">
                  <c:v>42325</c:v>
                </c:pt>
                <c:pt idx="1195">
                  <c:v>42326</c:v>
                </c:pt>
                <c:pt idx="1196">
                  <c:v>42327</c:v>
                </c:pt>
                <c:pt idx="1197">
                  <c:v>42328</c:v>
                </c:pt>
                <c:pt idx="1198">
                  <c:v>42331</c:v>
                </c:pt>
                <c:pt idx="1199">
                  <c:v>42332</c:v>
                </c:pt>
                <c:pt idx="1200">
                  <c:v>42333</c:v>
                </c:pt>
                <c:pt idx="1201">
                  <c:v>42335</c:v>
                </c:pt>
                <c:pt idx="1202">
                  <c:v>42338</c:v>
                </c:pt>
                <c:pt idx="1203">
                  <c:v>42339</c:v>
                </c:pt>
                <c:pt idx="1204">
                  <c:v>42340</c:v>
                </c:pt>
                <c:pt idx="1205">
                  <c:v>42341</c:v>
                </c:pt>
                <c:pt idx="1206">
                  <c:v>42342</c:v>
                </c:pt>
                <c:pt idx="1207">
                  <c:v>42345</c:v>
                </c:pt>
                <c:pt idx="1208">
                  <c:v>42346</c:v>
                </c:pt>
                <c:pt idx="1209">
                  <c:v>42347</c:v>
                </c:pt>
                <c:pt idx="1210">
                  <c:v>42348</c:v>
                </c:pt>
                <c:pt idx="1211">
                  <c:v>42349</c:v>
                </c:pt>
              </c:numCache>
            </c:numRef>
          </c:cat>
          <c:val>
            <c:numRef>
              <c:f>'[Update Data Q4 2015 Quarterly Call - Updated to 12-11.xlsx]OAS and Media Effect'!$C$2:$C$1213</c:f>
              <c:numCache>
                <c:formatCode>#,##0.000</c:formatCode>
                <c:ptCount val="1212"/>
                <c:pt idx="0">
                  <c:v>314</c:v>
                </c:pt>
                <c:pt idx="1">
                  <c:v>311</c:v>
                </c:pt>
                <c:pt idx="2">
                  <c:v>283</c:v>
                </c:pt>
                <c:pt idx="3">
                  <c:v>282</c:v>
                </c:pt>
                <c:pt idx="4">
                  <c:v>267</c:v>
                </c:pt>
                <c:pt idx="5">
                  <c:v>286</c:v>
                </c:pt>
                <c:pt idx="6">
                  <c:v>285</c:v>
                </c:pt>
                <c:pt idx="7">
                  <c:v>374</c:v>
                </c:pt>
                <c:pt idx="8">
                  <c:v>302</c:v>
                </c:pt>
                <c:pt idx="9">
                  <c:v>286</c:v>
                </c:pt>
                <c:pt idx="10">
                  <c:v>279</c:v>
                </c:pt>
                <c:pt idx="11">
                  <c:v>288</c:v>
                </c:pt>
                <c:pt idx="12">
                  <c:v>289</c:v>
                </c:pt>
                <c:pt idx="13">
                  <c:v>308</c:v>
                </c:pt>
                <c:pt idx="14">
                  <c:v>306</c:v>
                </c:pt>
                <c:pt idx="15">
                  <c:v>308</c:v>
                </c:pt>
                <c:pt idx="16">
                  <c:v>315</c:v>
                </c:pt>
                <c:pt idx="17">
                  <c:v>319</c:v>
                </c:pt>
                <c:pt idx="18">
                  <c:v>322</c:v>
                </c:pt>
                <c:pt idx="19">
                  <c:v>320</c:v>
                </c:pt>
                <c:pt idx="20">
                  <c:v>300</c:v>
                </c:pt>
                <c:pt idx="21">
                  <c:v>304</c:v>
                </c:pt>
                <c:pt idx="22">
                  <c:v>289</c:v>
                </c:pt>
                <c:pt idx="23">
                  <c:v>282</c:v>
                </c:pt>
                <c:pt idx="24">
                  <c:v>290</c:v>
                </c:pt>
                <c:pt idx="25">
                  <c:v>304</c:v>
                </c:pt>
                <c:pt idx="26">
                  <c:v>317</c:v>
                </c:pt>
                <c:pt idx="27">
                  <c:v>295</c:v>
                </c:pt>
                <c:pt idx="28">
                  <c:v>288</c:v>
                </c:pt>
                <c:pt idx="29">
                  <c:v>295</c:v>
                </c:pt>
                <c:pt idx="30">
                  <c:v>299</c:v>
                </c:pt>
                <c:pt idx="31">
                  <c:v>293</c:v>
                </c:pt>
                <c:pt idx="32">
                  <c:v>291</c:v>
                </c:pt>
                <c:pt idx="33">
                  <c:v>299</c:v>
                </c:pt>
                <c:pt idx="34">
                  <c:v>298</c:v>
                </c:pt>
                <c:pt idx="35">
                  <c:v>287</c:v>
                </c:pt>
                <c:pt idx="36">
                  <c:v>275</c:v>
                </c:pt>
                <c:pt idx="37">
                  <c:v>262</c:v>
                </c:pt>
                <c:pt idx="38">
                  <c:v>260</c:v>
                </c:pt>
                <c:pt idx="39">
                  <c:v>253</c:v>
                </c:pt>
                <c:pt idx="40">
                  <c:v>249</c:v>
                </c:pt>
                <c:pt idx="41">
                  <c:v>249</c:v>
                </c:pt>
                <c:pt idx="42">
                  <c:v>255</c:v>
                </c:pt>
                <c:pt idx="43">
                  <c:v>239</c:v>
                </c:pt>
                <c:pt idx="44">
                  <c:v>220</c:v>
                </c:pt>
                <c:pt idx="45">
                  <c:v>209</c:v>
                </c:pt>
                <c:pt idx="46">
                  <c:v>204</c:v>
                </c:pt>
                <c:pt idx="47">
                  <c:v>197</c:v>
                </c:pt>
                <c:pt idx="48">
                  <c:v>194</c:v>
                </c:pt>
                <c:pt idx="49">
                  <c:v>195</c:v>
                </c:pt>
                <c:pt idx="50">
                  <c:v>198</c:v>
                </c:pt>
                <c:pt idx="51">
                  <c:v>205</c:v>
                </c:pt>
                <c:pt idx="52">
                  <c:v>216</c:v>
                </c:pt>
                <c:pt idx="53">
                  <c:v>218</c:v>
                </c:pt>
                <c:pt idx="54">
                  <c:v>210</c:v>
                </c:pt>
                <c:pt idx="55">
                  <c:v>211</c:v>
                </c:pt>
                <c:pt idx="56">
                  <c:v>210</c:v>
                </c:pt>
                <c:pt idx="57">
                  <c:v>209</c:v>
                </c:pt>
                <c:pt idx="58">
                  <c:v>208</c:v>
                </c:pt>
                <c:pt idx="59">
                  <c:v>214</c:v>
                </c:pt>
                <c:pt idx="60">
                  <c:v>214</c:v>
                </c:pt>
                <c:pt idx="61">
                  <c:v>260</c:v>
                </c:pt>
                <c:pt idx="62">
                  <c:v>253</c:v>
                </c:pt>
                <c:pt idx="63">
                  <c:v>258</c:v>
                </c:pt>
                <c:pt idx="64">
                  <c:v>255</c:v>
                </c:pt>
                <c:pt idx="65">
                  <c:v>245</c:v>
                </c:pt>
                <c:pt idx="66">
                  <c:v>243</c:v>
                </c:pt>
                <c:pt idx="67">
                  <c:v>239</c:v>
                </c:pt>
                <c:pt idx="68">
                  <c:v>237</c:v>
                </c:pt>
                <c:pt idx="69">
                  <c:v>225</c:v>
                </c:pt>
                <c:pt idx="70">
                  <c:v>227</c:v>
                </c:pt>
                <c:pt idx="71">
                  <c:v>229</c:v>
                </c:pt>
                <c:pt idx="72">
                  <c:v>236</c:v>
                </c:pt>
                <c:pt idx="73">
                  <c:v>227</c:v>
                </c:pt>
                <c:pt idx="74">
                  <c:v>220</c:v>
                </c:pt>
                <c:pt idx="75">
                  <c:v>205</c:v>
                </c:pt>
                <c:pt idx="76">
                  <c:v>197</c:v>
                </c:pt>
                <c:pt idx="77">
                  <c:v>179</c:v>
                </c:pt>
                <c:pt idx="78">
                  <c:v>179</c:v>
                </c:pt>
                <c:pt idx="79">
                  <c:v>187</c:v>
                </c:pt>
                <c:pt idx="80">
                  <c:v>192</c:v>
                </c:pt>
                <c:pt idx="81">
                  <c:v>197</c:v>
                </c:pt>
                <c:pt idx="82">
                  <c:v>202</c:v>
                </c:pt>
                <c:pt idx="83">
                  <c:v>189</c:v>
                </c:pt>
                <c:pt idx="84">
                  <c:v>184</c:v>
                </c:pt>
                <c:pt idx="85">
                  <c:v>167</c:v>
                </c:pt>
                <c:pt idx="86">
                  <c:v>152</c:v>
                </c:pt>
                <c:pt idx="87">
                  <c:v>163</c:v>
                </c:pt>
                <c:pt idx="88">
                  <c:v>170</c:v>
                </c:pt>
                <c:pt idx="89">
                  <c:v>186</c:v>
                </c:pt>
                <c:pt idx="90">
                  <c:v>186</c:v>
                </c:pt>
                <c:pt idx="91">
                  <c:v>163</c:v>
                </c:pt>
                <c:pt idx="92">
                  <c:v>176</c:v>
                </c:pt>
                <c:pt idx="93">
                  <c:v>195</c:v>
                </c:pt>
                <c:pt idx="94">
                  <c:v>195</c:v>
                </c:pt>
                <c:pt idx="95">
                  <c:v>201</c:v>
                </c:pt>
                <c:pt idx="96">
                  <c:v>209</c:v>
                </c:pt>
                <c:pt idx="97">
                  <c:v>196</c:v>
                </c:pt>
                <c:pt idx="98">
                  <c:v>209</c:v>
                </c:pt>
                <c:pt idx="99">
                  <c:v>222</c:v>
                </c:pt>
                <c:pt idx="100">
                  <c:v>218</c:v>
                </c:pt>
                <c:pt idx="101">
                  <c:v>202</c:v>
                </c:pt>
                <c:pt idx="102">
                  <c:v>190</c:v>
                </c:pt>
                <c:pt idx="103">
                  <c:v>173</c:v>
                </c:pt>
                <c:pt idx="104">
                  <c:v>154</c:v>
                </c:pt>
                <c:pt idx="105">
                  <c:v>162</c:v>
                </c:pt>
                <c:pt idx="106">
                  <c:v>170</c:v>
                </c:pt>
                <c:pt idx="107">
                  <c:v>156</c:v>
                </c:pt>
                <c:pt idx="108">
                  <c:v>180</c:v>
                </c:pt>
                <c:pt idx="109">
                  <c:v>193</c:v>
                </c:pt>
                <c:pt idx="110">
                  <c:v>194</c:v>
                </c:pt>
                <c:pt idx="111">
                  <c:v>195</c:v>
                </c:pt>
                <c:pt idx="112">
                  <c:v>192</c:v>
                </c:pt>
                <c:pt idx="113">
                  <c:v>193</c:v>
                </c:pt>
                <c:pt idx="114">
                  <c:v>199</c:v>
                </c:pt>
                <c:pt idx="115">
                  <c:v>202</c:v>
                </c:pt>
                <c:pt idx="116">
                  <c:v>206</c:v>
                </c:pt>
                <c:pt idx="117">
                  <c:v>202</c:v>
                </c:pt>
                <c:pt idx="118">
                  <c:v>207</c:v>
                </c:pt>
                <c:pt idx="119">
                  <c:v>208</c:v>
                </c:pt>
                <c:pt idx="120">
                  <c:v>210</c:v>
                </c:pt>
                <c:pt idx="121">
                  <c:v>199</c:v>
                </c:pt>
                <c:pt idx="122">
                  <c:v>201</c:v>
                </c:pt>
                <c:pt idx="123">
                  <c:v>217</c:v>
                </c:pt>
                <c:pt idx="124">
                  <c:v>230</c:v>
                </c:pt>
                <c:pt idx="125">
                  <c:v>242</c:v>
                </c:pt>
                <c:pt idx="126">
                  <c:v>251</c:v>
                </c:pt>
                <c:pt idx="127">
                  <c:v>286</c:v>
                </c:pt>
                <c:pt idx="128">
                  <c:v>288</c:v>
                </c:pt>
                <c:pt idx="129">
                  <c:v>318</c:v>
                </c:pt>
                <c:pt idx="130">
                  <c:v>399</c:v>
                </c:pt>
                <c:pt idx="131">
                  <c:v>476</c:v>
                </c:pt>
                <c:pt idx="132">
                  <c:v>438</c:v>
                </c:pt>
                <c:pt idx="133">
                  <c:v>467</c:v>
                </c:pt>
                <c:pt idx="134">
                  <c:v>467</c:v>
                </c:pt>
                <c:pt idx="135">
                  <c:v>464</c:v>
                </c:pt>
                <c:pt idx="136">
                  <c:v>474</c:v>
                </c:pt>
                <c:pt idx="137">
                  <c:v>513</c:v>
                </c:pt>
                <c:pt idx="138">
                  <c:v>535</c:v>
                </c:pt>
                <c:pt idx="139">
                  <c:v>561</c:v>
                </c:pt>
                <c:pt idx="140">
                  <c:v>563</c:v>
                </c:pt>
                <c:pt idx="141">
                  <c:v>516</c:v>
                </c:pt>
                <c:pt idx="142">
                  <c:v>572</c:v>
                </c:pt>
                <c:pt idx="143">
                  <c:v>547</c:v>
                </c:pt>
                <c:pt idx="144">
                  <c:v>509</c:v>
                </c:pt>
                <c:pt idx="145">
                  <c:v>513</c:v>
                </c:pt>
                <c:pt idx="146">
                  <c:v>481</c:v>
                </c:pt>
                <c:pt idx="147">
                  <c:v>502</c:v>
                </c:pt>
                <c:pt idx="148">
                  <c:v>545</c:v>
                </c:pt>
                <c:pt idx="149">
                  <c:v>576</c:v>
                </c:pt>
                <c:pt idx="150">
                  <c:v>549</c:v>
                </c:pt>
                <c:pt idx="151">
                  <c:v>586</c:v>
                </c:pt>
                <c:pt idx="152">
                  <c:v>553</c:v>
                </c:pt>
                <c:pt idx="153">
                  <c:v>528</c:v>
                </c:pt>
                <c:pt idx="154">
                  <c:v>532</c:v>
                </c:pt>
                <c:pt idx="155">
                  <c:v>540</c:v>
                </c:pt>
                <c:pt idx="156">
                  <c:v>519</c:v>
                </c:pt>
                <c:pt idx="157">
                  <c:v>505</c:v>
                </c:pt>
                <c:pt idx="158">
                  <c:v>561</c:v>
                </c:pt>
                <c:pt idx="159">
                  <c:v>574</c:v>
                </c:pt>
                <c:pt idx="160">
                  <c:v>681</c:v>
                </c:pt>
                <c:pt idx="161">
                  <c:v>860</c:v>
                </c:pt>
                <c:pt idx="162">
                  <c:v>735</c:v>
                </c:pt>
                <c:pt idx="163">
                  <c:v>731</c:v>
                </c:pt>
                <c:pt idx="164">
                  <c:v>694</c:v>
                </c:pt>
                <c:pt idx="165">
                  <c:v>678</c:v>
                </c:pt>
                <c:pt idx="166">
                  <c:v>731</c:v>
                </c:pt>
                <c:pt idx="167">
                  <c:v>757</c:v>
                </c:pt>
                <c:pt idx="168">
                  <c:v>810</c:v>
                </c:pt>
                <c:pt idx="169">
                  <c:v>726</c:v>
                </c:pt>
                <c:pt idx="170">
                  <c:v>686</c:v>
                </c:pt>
                <c:pt idx="171">
                  <c:v>680</c:v>
                </c:pt>
                <c:pt idx="172">
                  <c:v>961</c:v>
                </c:pt>
                <c:pt idx="173">
                  <c:v>937</c:v>
                </c:pt>
                <c:pt idx="174">
                  <c:v>864</c:v>
                </c:pt>
                <c:pt idx="175">
                  <c:v>969</c:v>
                </c:pt>
                <c:pt idx="176">
                  <c:v>945</c:v>
                </c:pt>
                <c:pt idx="177">
                  <c:v>968</c:v>
                </c:pt>
                <c:pt idx="178">
                  <c:v>949</c:v>
                </c:pt>
                <c:pt idx="179">
                  <c:v>937</c:v>
                </c:pt>
                <c:pt idx="180">
                  <c:v>919</c:v>
                </c:pt>
                <c:pt idx="181">
                  <c:v>900</c:v>
                </c:pt>
                <c:pt idx="182">
                  <c:v>868</c:v>
                </c:pt>
                <c:pt idx="183">
                  <c:v>920</c:v>
                </c:pt>
                <c:pt idx="184">
                  <c:v>880</c:v>
                </c:pt>
                <c:pt idx="185">
                  <c:v>734</c:v>
                </c:pt>
                <c:pt idx="186">
                  <c:v>762</c:v>
                </c:pt>
                <c:pt idx="187">
                  <c:v>865</c:v>
                </c:pt>
                <c:pt idx="188">
                  <c:v>940</c:v>
                </c:pt>
                <c:pt idx="189">
                  <c:v>927</c:v>
                </c:pt>
                <c:pt idx="190">
                  <c:v>878</c:v>
                </c:pt>
                <c:pt idx="191">
                  <c:v>915</c:v>
                </c:pt>
                <c:pt idx="192">
                  <c:v>987</c:v>
                </c:pt>
                <c:pt idx="193">
                  <c:v>959</c:v>
                </c:pt>
                <c:pt idx="194">
                  <c:v>1020</c:v>
                </c:pt>
                <c:pt idx="195">
                  <c:v>1018</c:v>
                </c:pt>
                <c:pt idx="196">
                  <c:v>1020</c:v>
                </c:pt>
                <c:pt idx="197">
                  <c:v>1011</c:v>
                </c:pt>
                <c:pt idx="198">
                  <c:v>1007</c:v>
                </c:pt>
                <c:pt idx="199">
                  <c:v>1032</c:v>
                </c:pt>
                <c:pt idx="200">
                  <c:v>980</c:v>
                </c:pt>
                <c:pt idx="201">
                  <c:v>1003</c:v>
                </c:pt>
                <c:pt idx="202">
                  <c:v>1013</c:v>
                </c:pt>
                <c:pt idx="203">
                  <c:v>991</c:v>
                </c:pt>
                <c:pt idx="204">
                  <c:v>939</c:v>
                </c:pt>
                <c:pt idx="205">
                  <c:v>930</c:v>
                </c:pt>
                <c:pt idx="206">
                  <c:v>919</c:v>
                </c:pt>
                <c:pt idx="207">
                  <c:v>895</c:v>
                </c:pt>
                <c:pt idx="208">
                  <c:v>846</c:v>
                </c:pt>
                <c:pt idx="209">
                  <c:v>855</c:v>
                </c:pt>
                <c:pt idx="210">
                  <c:v>869</c:v>
                </c:pt>
                <c:pt idx="211">
                  <c:v>872</c:v>
                </c:pt>
                <c:pt idx="212">
                  <c:v>882</c:v>
                </c:pt>
                <c:pt idx="213">
                  <c:v>872</c:v>
                </c:pt>
                <c:pt idx="214">
                  <c:v>834</c:v>
                </c:pt>
                <c:pt idx="215">
                  <c:v>855</c:v>
                </c:pt>
                <c:pt idx="216">
                  <c:v>866</c:v>
                </c:pt>
                <c:pt idx="217">
                  <c:v>895</c:v>
                </c:pt>
                <c:pt idx="218">
                  <c:v>883</c:v>
                </c:pt>
                <c:pt idx="219">
                  <c:v>892</c:v>
                </c:pt>
                <c:pt idx="220">
                  <c:v>938</c:v>
                </c:pt>
                <c:pt idx="221">
                  <c:v>867</c:v>
                </c:pt>
                <c:pt idx="222">
                  <c:v>847</c:v>
                </c:pt>
                <c:pt idx="223">
                  <c:v>804</c:v>
                </c:pt>
                <c:pt idx="224">
                  <c:v>766</c:v>
                </c:pt>
                <c:pt idx="225">
                  <c:v>773</c:v>
                </c:pt>
                <c:pt idx="226">
                  <c:v>829</c:v>
                </c:pt>
                <c:pt idx="227">
                  <c:v>825</c:v>
                </c:pt>
                <c:pt idx="228">
                  <c:v>838</c:v>
                </c:pt>
                <c:pt idx="229">
                  <c:v>741</c:v>
                </c:pt>
                <c:pt idx="230">
                  <c:v>715</c:v>
                </c:pt>
                <c:pt idx="231">
                  <c:v>736</c:v>
                </c:pt>
                <c:pt idx="232">
                  <c:v>752</c:v>
                </c:pt>
                <c:pt idx="233">
                  <c:v>711</c:v>
                </c:pt>
                <c:pt idx="234">
                  <c:v>677</c:v>
                </c:pt>
                <c:pt idx="235">
                  <c:v>719</c:v>
                </c:pt>
                <c:pt idx="236">
                  <c:v>722</c:v>
                </c:pt>
                <c:pt idx="237">
                  <c:v>791</c:v>
                </c:pt>
                <c:pt idx="238">
                  <c:v>791</c:v>
                </c:pt>
                <c:pt idx="239">
                  <c:v>759</c:v>
                </c:pt>
                <c:pt idx="240">
                  <c:v>708</c:v>
                </c:pt>
                <c:pt idx="241">
                  <c:v>678</c:v>
                </c:pt>
                <c:pt idx="242">
                  <c:v>655</c:v>
                </c:pt>
                <c:pt idx="243">
                  <c:v>689</c:v>
                </c:pt>
                <c:pt idx="244">
                  <c:v>782</c:v>
                </c:pt>
                <c:pt idx="245">
                  <c:v>891</c:v>
                </c:pt>
                <c:pt idx="246">
                  <c:v>873</c:v>
                </c:pt>
                <c:pt idx="247">
                  <c:v>932</c:v>
                </c:pt>
                <c:pt idx="248">
                  <c:v>939</c:v>
                </c:pt>
                <c:pt idx="249">
                  <c:v>936</c:v>
                </c:pt>
                <c:pt idx="250">
                  <c:v>933</c:v>
                </c:pt>
                <c:pt idx="251">
                  <c:v>807</c:v>
                </c:pt>
                <c:pt idx="252">
                  <c:v>813</c:v>
                </c:pt>
                <c:pt idx="253">
                  <c:v>735</c:v>
                </c:pt>
                <c:pt idx="254">
                  <c:v>726</c:v>
                </c:pt>
                <c:pt idx="255">
                  <c:v>687</c:v>
                </c:pt>
                <c:pt idx="256">
                  <c:v>735</c:v>
                </c:pt>
                <c:pt idx="257">
                  <c:v>679</c:v>
                </c:pt>
                <c:pt idx="258">
                  <c:v>707</c:v>
                </c:pt>
                <c:pt idx="259">
                  <c:v>718</c:v>
                </c:pt>
                <c:pt idx="260">
                  <c:v>664</c:v>
                </c:pt>
                <c:pt idx="261">
                  <c:v>664</c:v>
                </c:pt>
                <c:pt idx="262">
                  <c:v>650</c:v>
                </c:pt>
                <c:pt idx="263">
                  <c:v>682</c:v>
                </c:pt>
                <c:pt idx="264">
                  <c:v>661</c:v>
                </c:pt>
                <c:pt idx="265">
                  <c:v>650</c:v>
                </c:pt>
                <c:pt idx="266">
                  <c:v>658</c:v>
                </c:pt>
                <c:pt idx="267">
                  <c:v>641</c:v>
                </c:pt>
                <c:pt idx="268">
                  <c:v>605</c:v>
                </c:pt>
                <c:pt idx="269">
                  <c:v>578</c:v>
                </c:pt>
                <c:pt idx="270">
                  <c:v>596</c:v>
                </c:pt>
                <c:pt idx="271">
                  <c:v>584</c:v>
                </c:pt>
                <c:pt idx="272">
                  <c:v>605</c:v>
                </c:pt>
                <c:pt idx="273">
                  <c:v>613</c:v>
                </c:pt>
                <c:pt idx="274">
                  <c:v>613</c:v>
                </c:pt>
                <c:pt idx="275">
                  <c:v>591</c:v>
                </c:pt>
                <c:pt idx="276">
                  <c:v>610</c:v>
                </c:pt>
                <c:pt idx="277">
                  <c:v>579</c:v>
                </c:pt>
                <c:pt idx="278">
                  <c:v>565</c:v>
                </c:pt>
                <c:pt idx="279">
                  <c:v>568</c:v>
                </c:pt>
                <c:pt idx="280">
                  <c:v>545</c:v>
                </c:pt>
                <c:pt idx="281">
                  <c:v>498</c:v>
                </c:pt>
                <c:pt idx="282">
                  <c:v>488</c:v>
                </c:pt>
                <c:pt idx="283">
                  <c:v>500</c:v>
                </c:pt>
                <c:pt idx="284">
                  <c:v>497</c:v>
                </c:pt>
                <c:pt idx="285">
                  <c:v>497</c:v>
                </c:pt>
                <c:pt idx="286">
                  <c:v>493</c:v>
                </c:pt>
                <c:pt idx="287">
                  <c:v>512</c:v>
                </c:pt>
                <c:pt idx="288">
                  <c:v>507</c:v>
                </c:pt>
                <c:pt idx="289">
                  <c:v>503</c:v>
                </c:pt>
                <c:pt idx="290">
                  <c:v>464</c:v>
                </c:pt>
                <c:pt idx="291">
                  <c:v>463</c:v>
                </c:pt>
                <c:pt idx="292">
                  <c:v>438</c:v>
                </c:pt>
                <c:pt idx="293">
                  <c:v>451</c:v>
                </c:pt>
                <c:pt idx="294">
                  <c:v>474</c:v>
                </c:pt>
                <c:pt idx="295">
                  <c:v>449</c:v>
                </c:pt>
                <c:pt idx="296">
                  <c:v>476</c:v>
                </c:pt>
                <c:pt idx="297">
                  <c:v>516</c:v>
                </c:pt>
                <c:pt idx="298">
                  <c:v>518</c:v>
                </c:pt>
                <c:pt idx="299">
                  <c:v>534</c:v>
                </c:pt>
                <c:pt idx="300">
                  <c:v>560</c:v>
                </c:pt>
                <c:pt idx="301">
                  <c:v>581</c:v>
                </c:pt>
                <c:pt idx="302">
                  <c:v>587</c:v>
                </c:pt>
                <c:pt idx="303">
                  <c:v>618</c:v>
                </c:pt>
                <c:pt idx="304">
                  <c:v>614</c:v>
                </c:pt>
                <c:pt idx="305">
                  <c:v>580</c:v>
                </c:pt>
                <c:pt idx="306">
                  <c:v>593</c:v>
                </c:pt>
                <c:pt idx="307">
                  <c:v>568</c:v>
                </c:pt>
                <c:pt idx="308">
                  <c:v>557</c:v>
                </c:pt>
                <c:pt idx="309">
                  <c:v>562</c:v>
                </c:pt>
                <c:pt idx="310">
                  <c:v>554</c:v>
                </c:pt>
                <c:pt idx="311">
                  <c:v>542</c:v>
                </c:pt>
                <c:pt idx="312">
                  <c:v>503</c:v>
                </c:pt>
                <c:pt idx="313">
                  <c:v>512</c:v>
                </c:pt>
                <c:pt idx="314">
                  <c:v>486</c:v>
                </c:pt>
                <c:pt idx="315">
                  <c:v>496</c:v>
                </c:pt>
                <c:pt idx="316">
                  <c:v>451</c:v>
                </c:pt>
                <c:pt idx="317">
                  <c:v>438</c:v>
                </c:pt>
                <c:pt idx="318">
                  <c:v>412</c:v>
                </c:pt>
                <c:pt idx="319">
                  <c:v>412</c:v>
                </c:pt>
                <c:pt idx="320">
                  <c:v>440</c:v>
                </c:pt>
                <c:pt idx="321">
                  <c:v>473</c:v>
                </c:pt>
                <c:pt idx="322">
                  <c:v>478</c:v>
                </c:pt>
                <c:pt idx="323">
                  <c:v>519</c:v>
                </c:pt>
                <c:pt idx="324">
                  <c:v>584</c:v>
                </c:pt>
                <c:pt idx="325">
                  <c:v>561</c:v>
                </c:pt>
                <c:pt idx="326">
                  <c:v>629</c:v>
                </c:pt>
                <c:pt idx="327">
                  <c:v>591</c:v>
                </c:pt>
                <c:pt idx="328">
                  <c:v>613</c:v>
                </c:pt>
                <c:pt idx="329">
                  <c:v>620</c:v>
                </c:pt>
                <c:pt idx="330">
                  <c:v>621</c:v>
                </c:pt>
                <c:pt idx="331">
                  <c:v>628</c:v>
                </c:pt>
                <c:pt idx="332">
                  <c:v>714</c:v>
                </c:pt>
                <c:pt idx="333">
                  <c:v>765</c:v>
                </c:pt>
                <c:pt idx="334">
                  <c:v>821</c:v>
                </c:pt>
                <c:pt idx="335">
                  <c:v>779</c:v>
                </c:pt>
                <c:pt idx="336">
                  <c:v>754</c:v>
                </c:pt>
                <c:pt idx="337">
                  <c:v>687</c:v>
                </c:pt>
                <c:pt idx="338">
                  <c:v>655</c:v>
                </c:pt>
                <c:pt idx="339">
                  <c:v>654</c:v>
                </c:pt>
                <c:pt idx="340">
                  <c:v>684</c:v>
                </c:pt>
                <c:pt idx="341">
                  <c:v>662</c:v>
                </c:pt>
                <c:pt idx="342">
                  <c:v>691</c:v>
                </c:pt>
                <c:pt idx="343">
                  <c:v>684</c:v>
                </c:pt>
                <c:pt idx="344">
                  <c:v>705</c:v>
                </c:pt>
                <c:pt idx="345">
                  <c:v>724</c:v>
                </c:pt>
                <c:pt idx="346">
                  <c:v>712</c:v>
                </c:pt>
                <c:pt idx="347">
                  <c:v>662</c:v>
                </c:pt>
                <c:pt idx="348">
                  <c:v>660</c:v>
                </c:pt>
                <c:pt idx="349">
                  <c:v>676</c:v>
                </c:pt>
                <c:pt idx="350">
                  <c:v>604</c:v>
                </c:pt>
                <c:pt idx="351">
                  <c:v>610</c:v>
                </c:pt>
                <c:pt idx="352">
                  <c:v>595</c:v>
                </c:pt>
                <c:pt idx="353">
                  <c:v>653</c:v>
                </c:pt>
                <c:pt idx="354">
                  <c:v>648</c:v>
                </c:pt>
                <c:pt idx="355">
                  <c:v>453</c:v>
                </c:pt>
                <c:pt idx="356">
                  <c:v>455</c:v>
                </c:pt>
                <c:pt idx="357">
                  <c:v>467</c:v>
                </c:pt>
                <c:pt idx="358">
                  <c:v>460</c:v>
                </c:pt>
                <c:pt idx="359">
                  <c:v>437</c:v>
                </c:pt>
                <c:pt idx="360">
                  <c:v>386</c:v>
                </c:pt>
                <c:pt idx="361">
                  <c:v>369</c:v>
                </c:pt>
                <c:pt idx="362">
                  <c:v>375</c:v>
                </c:pt>
                <c:pt idx="363">
                  <c:v>358</c:v>
                </c:pt>
                <c:pt idx="364">
                  <c:v>405</c:v>
                </c:pt>
                <c:pt idx="365">
                  <c:v>398</c:v>
                </c:pt>
                <c:pt idx="366">
                  <c:v>413</c:v>
                </c:pt>
                <c:pt idx="367">
                  <c:v>411</c:v>
                </c:pt>
                <c:pt idx="368">
                  <c:v>396</c:v>
                </c:pt>
                <c:pt idx="369">
                  <c:v>400</c:v>
                </c:pt>
                <c:pt idx="370">
                  <c:v>419</c:v>
                </c:pt>
                <c:pt idx="371">
                  <c:v>416</c:v>
                </c:pt>
                <c:pt idx="372">
                  <c:v>379</c:v>
                </c:pt>
                <c:pt idx="373">
                  <c:v>336</c:v>
                </c:pt>
                <c:pt idx="374">
                  <c:v>320</c:v>
                </c:pt>
                <c:pt idx="375">
                  <c:v>288</c:v>
                </c:pt>
                <c:pt idx="376">
                  <c:v>265</c:v>
                </c:pt>
                <c:pt idx="377">
                  <c:v>271</c:v>
                </c:pt>
                <c:pt idx="378">
                  <c:v>286</c:v>
                </c:pt>
                <c:pt idx="379">
                  <c:v>296</c:v>
                </c:pt>
                <c:pt idx="380">
                  <c:v>305</c:v>
                </c:pt>
                <c:pt idx="381">
                  <c:v>304</c:v>
                </c:pt>
                <c:pt idx="382">
                  <c:v>285</c:v>
                </c:pt>
                <c:pt idx="383">
                  <c:v>279</c:v>
                </c:pt>
                <c:pt idx="384">
                  <c:v>278</c:v>
                </c:pt>
                <c:pt idx="385">
                  <c:v>284</c:v>
                </c:pt>
                <c:pt idx="386">
                  <c:v>303</c:v>
                </c:pt>
                <c:pt idx="387">
                  <c:v>295</c:v>
                </c:pt>
                <c:pt idx="388">
                  <c:v>291</c:v>
                </c:pt>
                <c:pt idx="389">
                  <c:v>287</c:v>
                </c:pt>
                <c:pt idx="390">
                  <c:v>279</c:v>
                </c:pt>
                <c:pt idx="391">
                  <c:v>248</c:v>
                </c:pt>
                <c:pt idx="392">
                  <c:v>256</c:v>
                </c:pt>
                <c:pt idx="393">
                  <c:v>255</c:v>
                </c:pt>
                <c:pt idx="394">
                  <c:v>234</c:v>
                </c:pt>
                <c:pt idx="395">
                  <c:v>245</c:v>
                </c:pt>
                <c:pt idx="396">
                  <c:v>261</c:v>
                </c:pt>
                <c:pt idx="397">
                  <c:v>263</c:v>
                </c:pt>
                <c:pt idx="398">
                  <c:v>227</c:v>
                </c:pt>
                <c:pt idx="399">
                  <c:v>251</c:v>
                </c:pt>
                <c:pt idx="400">
                  <c:v>260</c:v>
                </c:pt>
                <c:pt idx="401">
                  <c:v>275</c:v>
                </c:pt>
                <c:pt idx="402">
                  <c:v>269</c:v>
                </c:pt>
                <c:pt idx="403">
                  <c:v>312</c:v>
                </c:pt>
                <c:pt idx="404">
                  <c:v>304</c:v>
                </c:pt>
                <c:pt idx="405">
                  <c:v>335</c:v>
                </c:pt>
                <c:pt idx="406">
                  <c:v>391</c:v>
                </c:pt>
                <c:pt idx="407">
                  <c:v>397</c:v>
                </c:pt>
                <c:pt idx="408">
                  <c:v>377</c:v>
                </c:pt>
                <c:pt idx="409">
                  <c:v>365</c:v>
                </c:pt>
                <c:pt idx="410">
                  <c:v>374</c:v>
                </c:pt>
                <c:pt idx="411">
                  <c:v>383</c:v>
                </c:pt>
                <c:pt idx="412">
                  <c:v>400</c:v>
                </c:pt>
                <c:pt idx="413">
                  <c:v>456</c:v>
                </c:pt>
                <c:pt idx="414">
                  <c:v>506</c:v>
                </c:pt>
                <c:pt idx="415">
                  <c:v>448</c:v>
                </c:pt>
                <c:pt idx="416">
                  <c:v>393</c:v>
                </c:pt>
                <c:pt idx="417">
                  <c:v>397</c:v>
                </c:pt>
                <c:pt idx="418">
                  <c:v>399</c:v>
                </c:pt>
                <c:pt idx="419">
                  <c:v>413</c:v>
                </c:pt>
                <c:pt idx="420">
                  <c:v>463</c:v>
                </c:pt>
                <c:pt idx="421">
                  <c:v>492</c:v>
                </c:pt>
                <c:pt idx="422">
                  <c:v>527</c:v>
                </c:pt>
                <c:pt idx="423">
                  <c:v>548</c:v>
                </c:pt>
                <c:pt idx="424">
                  <c:v>561</c:v>
                </c:pt>
                <c:pt idx="425">
                  <c:v>532</c:v>
                </c:pt>
                <c:pt idx="426">
                  <c:v>518</c:v>
                </c:pt>
                <c:pt idx="427">
                  <c:v>525</c:v>
                </c:pt>
                <c:pt idx="428">
                  <c:v>553</c:v>
                </c:pt>
                <c:pt idx="429">
                  <c:v>543</c:v>
                </c:pt>
                <c:pt idx="430">
                  <c:v>529</c:v>
                </c:pt>
                <c:pt idx="431">
                  <c:v>544</c:v>
                </c:pt>
                <c:pt idx="432">
                  <c:v>538</c:v>
                </c:pt>
                <c:pt idx="433">
                  <c:v>538</c:v>
                </c:pt>
                <c:pt idx="434">
                  <c:v>515</c:v>
                </c:pt>
                <c:pt idx="435">
                  <c:v>519</c:v>
                </c:pt>
                <c:pt idx="436">
                  <c:v>538</c:v>
                </c:pt>
                <c:pt idx="437">
                  <c:v>531</c:v>
                </c:pt>
                <c:pt idx="438">
                  <c:v>539</c:v>
                </c:pt>
                <c:pt idx="439">
                  <c:v>553</c:v>
                </c:pt>
                <c:pt idx="440">
                  <c:v>546</c:v>
                </c:pt>
                <c:pt idx="441">
                  <c:v>535</c:v>
                </c:pt>
                <c:pt idx="442">
                  <c:v>558</c:v>
                </c:pt>
                <c:pt idx="443">
                  <c:v>528</c:v>
                </c:pt>
                <c:pt idx="444">
                  <c:v>509</c:v>
                </c:pt>
                <c:pt idx="445">
                  <c:v>508</c:v>
                </c:pt>
                <c:pt idx="446">
                  <c:v>541</c:v>
                </c:pt>
                <c:pt idx="447">
                  <c:v>542</c:v>
                </c:pt>
                <c:pt idx="448">
                  <c:v>583</c:v>
                </c:pt>
                <c:pt idx="449">
                  <c:v>598</c:v>
                </c:pt>
                <c:pt idx="450">
                  <c:v>616</c:v>
                </c:pt>
                <c:pt idx="451">
                  <c:v>633</c:v>
                </c:pt>
                <c:pt idx="452">
                  <c:v>601</c:v>
                </c:pt>
                <c:pt idx="453">
                  <c:v>588</c:v>
                </c:pt>
                <c:pt idx="454">
                  <c:v>561</c:v>
                </c:pt>
                <c:pt idx="455">
                  <c:v>560</c:v>
                </c:pt>
                <c:pt idx="456">
                  <c:v>548</c:v>
                </c:pt>
                <c:pt idx="457">
                  <c:v>564</c:v>
                </c:pt>
                <c:pt idx="458">
                  <c:v>571</c:v>
                </c:pt>
                <c:pt idx="459">
                  <c:v>565</c:v>
                </c:pt>
                <c:pt idx="460">
                  <c:v>576</c:v>
                </c:pt>
                <c:pt idx="461">
                  <c:v>628</c:v>
                </c:pt>
                <c:pt idx="462">
                  <c:v>634</c:v>
                </c:pt>
                <c:pt idx="463">
                  <c:v>608</c:v>
                </c:pt>
                <c:pt idx="464">
                  <c:v>598</c:v>
                </c:pt>
                <c:pt idx="465">
                  <c:v>591</c:v>
                </c:pt>
                <c:pt idx="466">
                  <c:v>616</c:v>
                </c:pt>
                <c:pt idx="467">
                  <c:v>604</c:v>
                </c:pt>
                <c:pt idx="468">
                  <c:v>608</c:v>
                </c:pt>
                <c:pt idx="469">
                  <c:v>602</c:v>
                </c:pt>
                <c:pt idx="470">
                  <c:v>625</c:v>
                </c:pt>
                <c:pt idx="471">
                  <c:v>635</c:v>
                </c:pt>
                <c:pt idx="472">
                  <c:v>612</c:v>
                </c:pt>
                <c:pt idx="473">
                  <c:v>627</c:v>
                </c:pt>
                <c:pt idx="474">
                  <c:v>639</c:v>
                </c:pt>
                <c:pt idx="475">
                  <c:v>640</c:v>
                </c:pt>
                <c:pt idx="476">
                  <c:v>642</c:v>
                </c:pt>
                <c:pt idx="477">
                  <c:v>636</c:v>
                </c:pt>
                <c:pt idx="478">
                  <c:v>667</c:v>
                </c:pt>
                <c:pt idx="479">
                  <c:v>684</c:v>
                </c:pt>
                <c:pt idx="480">
                  <c:v>663</c:v>
                </c:pt>
                <c:pt idx="481">
                  <c:v>661</c:v>
                </c:pt>
                <c:pt idx="482">
                  <c:v>663</c:v>
                </c:pt>
                <c:pt idx="483">
                  <c:v>707</c:v>
                </c:pt>
                <c:pt idx="484">
                  <c:v>707</c:v>
                </c:pt>
                <c:pt idx="485">
                  <c:v>665</c:v>
                </c:pt>
                <c:pt idx="486">
                  <c:v>665</c:v>
                </c:pt>
                <c:pt idx="487">
                  <c:v>595</c:v>
                </c:pt>
                <c:pt idx="488">
                  <c:v>704</c:v>
                </c:pt>
                <c:pt idx="489">
                  <c:v>699</c:v>
                </c:pt>
                <c:pt idx="490">
                  <c:v>686</c:v>
                </c:pt>
                <c:pt idx="491">
                  <c:v>687</c:v>
                </c:pt>
                <c:pt idx="492">
                  <c:v>719</c:v>
                </c:pt>
                <c:pt idx="493">
                  <c:v>717</c:v>
                </c:pt>
                <c:pt idx="494">
                  <c:v>713</c:v>
                </c:pt>
                <c:pt idx="495">
                  <c:v>666</c:v>
                </c:pt>
                <c:pt idx="496">
                  <c:v>661</c:v>
                </c:pt>
                <c:pt idx="497">
                  <c:v>663</c:v>
                </c:pt>
                <c:pt idx="498">
                  <c:v>643</c:v>
                </c:pt>
                <c:pt idx="499">
                  <c:v>663</c:v>
                </c:pt>
                <c:pt idx="500">
                  <c:v>656</c:v>
                </c:pt>
                <c:pt idx="501">
                  <c:v>645</c:v>
                </c:pt>
                <c:pt idx="502">
                  <c:v>622</c:v>
                </c:pt>
                <c:pt idx="503">
                  <c:v>623</c:v>
                </c:pt>
                <c:pt idx="504">
                  <c:v>606</c:v>
                </c:pt>
                <c:pt idx="505">
                  <c:v>546</c:v>
                </c:pt>
                <c:pt idx="506">
                  <c:v>607</c:v>
                </c:pt>
                <c:pt idx="507">
                  <c:v>562</c:v>
                </c:pt>
                <c:pt idx="508">
                  <c:v>569</c:v>
                </c:pt>
                <c:pt idx="509">
                  <c:v>567</c:v>
                </c:pt>
                <c:pt idx="510">
                  <c:v>582</c:v>
                </c:pt>
                <c:pt idx="511">
                  <c:v>623</c:v>
                </c:pt>
                <c:pt idx="512">
                  <c:v>620</c:v>
                </c:pt>
                <c:pt idx="513">
                  <c:v>622</c:v>
                </c:pt>
                <c:pt idx="514">
                  <c:v>624</c:v>
                </c:pt>
                <c:pt idx="515">
                  <c:v>636</c:v>
                </c:pt>
                <c:pt idx="516">
                  <c:v>649</c:v>
                </c:pt>
                <c:pt idx="517">
                  <c:v>642</c:v>
                </c:pt>
                <c:pt idx="518">
                  <c:v>614</c:v>
                </c:pt>
                <c:pt idx="519">
                  <c:v>619</c:v>
                </c:pt>
                <c:pt idx="520">
                  <c:v>621</c:v>
                </c:pt>
                <c:pt idx="521">
                  <c:v>576</c:v>
                </c:pt>
                <c:pt idx="522">
                  <c:v>585</c:v>
                </c:pt>
                <c:pt idx="523">
                  <c:v>567</c:v>
                </c:pt>
                <c:pt idx="524">
                  <c:v>533</c:v>
                </c:pt>
                <c:pt idx="525">
                  <c:v>535</c:v>
                </c:pt>
                <c:pt idx="526">
                  <c:v>537</c:v>
                </c:pt>
                <c:pt idx="527">
                  <c:v>535</c:v>
                </c:pt>
                <c:pt idx="528">
                  <c:v>544</c:v>
                </c:pt>
                <c:pt idx="529">
                  <c:v>532</c:v>
                </c:pt>
                <c:pt idx="530">
                  <c:v>541</c:v>
                </c:pt>
                <c:pt idx="531">
                  <c:v>548</c:v>
                </c:pt>
                <c:pt idx="532">
                  <c:v>547</c:v>
                </c:pt>
                <c:pt idx="533">
                  <c:v>536</c:v>
                </c:pt>
                <c:pt idx="534">
                  <c:v>594</c:v>
                </c:pt>
                <c:pt idx="535">
                  <c:v>536</c:v>
                </c:pt>
                <c:pt idx="536">
                  <c:v>529</c:v>
                </c:pt>
                <c:pt idx="537">
                  <c:v>534</c:v>
                </c:pt>
                <c:pt idx="538">
                  <c:v>538</c:v>
                </c:pt>
                <c:pt idx="539">
                  <c:v>543</c:v>
                </c:pt>
                <c:pt idx="540">
                  <c:v>583</c:v>
                </c:pt>
                <c:pt idx="541">
                  <c:v>602</c:v>
                </c:pt>
                <c:pt idx="542">
                  <c:v>648</c:v>
                </c:pt>
                <c:pt idx="543">
                  <c:v>702</c:v>
                </c:pt>
                <c:pt idx="544">
                  <c:v>695</c:v>
                </c:pt>
                <c:pt idx="545">
                  <c:v>688</c:v>
                </c:pt>
                <c:pt idx="546">
                  <c:v>682</c:v>
                </c:pt>
                <c:pt idx="547">
                  <c:v>668</c:v>
                </c:pt>
                <c:pt idx="548">
                  <c:v>686</c:v>
                </c:pt>
                <c:pt idx="549">
                  <c:v>705</c:v>
                </c:pt>
                <c:pt idx="550">
                  <c:v>694</c:v>
                </c:pt>
                <c:pt idx="551">
                  <c:v>688</c:v>
                </c:pt>
                <c:pt idx="552">
                  <c:v>687</c:v>
                </c:pt>
                <c:pt idx="553">
                  <c:v>688</c:v>
                </c:pt>
                <c:pt idx="554">
                  <c:v>694</c:v>
                </c:pt>
                <c:pt idx="555">
                  <c:v>704</c:v>
                </c:pt>
                <c:pt idx="556">
                  <c:v>686</c:v>
                </c:pt>
                <c:pt idx="557">
                  <c:v>705</c:v>
                </c:pt>
                <c:pt idx="558">
                  <c:v>713</c:v>
                </c:pt>
                <c:pt idx="559">
                  <c:v>749</c:v>
                </c:pt>
                <c:pt idx="560">
                  <c:v>784</c:v>
                </c:pt>
                <c:pt idx="561">
                  <c:v>817</c:v>
                </c:pt>
                <c:pt idx="562">
                  <c:v>748</c:v>
                </c:pt>
                <c:pt idx="563">
                  <c:v>704</c:v>
                </c:pt>
                <c:pt idx="564">
                  <c:v>715</c:v>
                </c:pt>
                <c:pt idx="565">
                  <c:v>695</c:v>
                </c:pt>
                <c:pt idx="566">
                  <c:v>721</c:v>
                </c:pt>
                <c:pt idx="567">
                  <c:v>736</c:v>
                </c:pt>
                <c:pt idx="568">
                  <c:v>684</c:v>
                </c:pt>
                <c:pt idx="569">
                  <c:v>657</c:v>
                </c:pt>
                <c:pt idx="570">
                  <c:v>659</c:v>
                </c:pt>
                <c:pt idx="571">
                  <c:v>664</c:v>
                </c:pt>
                <c:pt idx="572">
                  <c:v>704</c:v>
                </c:pt>
                <c:pt idx="573">
                  <c:v>715</c:v>
                </c:pt>
                <c:pt idx="574">
                  <c:v>794</c:v>
                </c:pt>
                <c:pt idx="575">
                  <c:v>734</c:v>
                </c:pt>
                <c:pt idx="576">
                  <c:v>660</c:v>
                </c:pt>
                <c:pt idx="577">
                  <c:v>621</c:v>
                </c:pt>
                <c:pt idx="578">
                  <c:v>622</c:v>
                </c:pt>
                <c:pt idx="579">
                  <c:v>536</c:v>
                </c:pt>
                <c:pt idx="580">
                  <c:v>528</c:v>
                </c:pt>
                <c:pt idx="581">
                  <c:v>550</c:v>
                </c:pt>
                <c:pt idx="582">
                  <c:v>523</c:v>
                </c:pt>
                <c:pt idx="583">
                  <c:v>516</c:v>
                </c:pt>
                <c:pt idx="584">
                  <c:v>537</c:v>
                </c:pt>
                <c:pt idx="585">
                  <c:v>563</c:v>
                </c:pt>
                <c:pt idx="586">
                  <c:v>579</c:v>
                </c:pt>
                <c:pt idx="587">
                  <c:v>510</c:v>
                </c:pt>
                <c:pt idx="588">
                  <c:v>498</c:v>
                </c:pt>
                <c:pt idx="589">
                  <c:v>500</c:v>
                </c:pt>
                <c:pt idx="590">
                  <c:v>496</c:v>
                </c:pt>
                <c:pt idx="591">
                  <c:v>494</c:v>
                </c:pt>
                <c:pt idx="592">
                  <c:v>495</c:v>
                </c:pt>
                <c:pt idx="593">
                  <c:v>489</c:v>
                </c:pt>
                <c:pt idx="594">
                  <c:v>473</c:v>
                </c:pt>
                <c:pt idx="595">
                  <c:v>441</c:v>
                </c:pt>
                <c:pt idx="596">
                  <c:v>372</c:v>
                </c:pt>
                <c:pt idx="597">
                  <c:v>373</c:v>
                </c:pt>
                <c:pt idx="598">
                  <c:v>377</c:v>
                </c:pt>
                <c:pt idx="599">
                  <c:v>380</c:v>
                </c:pt>
                <c:pt idx="600">
                  <c:v>400</c:v>
                </c:pt>
                <c:pt idx="601">
                  <c:v>548</c:v>
                </c:pt>
                <c:pt idx="602">
                  <c:v>416</c:v>
                </c:pt>
                <c:pt idx="603">
                  <c:v>421</c:v>
                </c:pt>
                <c:pt idx="604">
                  <c:v>393</c:v>
                </c:pt>
                <c:pt idx="605">
                  <c:v>386</c:v>
                </c:pt>
                <c:pt idx="606">
                  <c:v>345</c:v>
                </c:pt>
                <c:pt idx="607">
                  <c:v>342</c:v>
                </c:pt>
                <c:pt idx="608">
                  <c:v>326</c:v>
                </c:pt>
                <c:pt idx="609">
                  <c:v>316</c:v>
                </c:pt>
                <c:pt idx="610">
                  <c:v>326</c:v>
                </c:pt>
                <c:pt idx="611">
                  <c:v>329</c:v>
                </c:pt>
                <c:pt idx="612">
                  <c:v>349</c:v>
                </c:pt>
                <c:pt idx="613">
                  <c:v>365</c:v>
                </c:pt>
                <c:pt idx="614">
                  <c:v>371</c:v>
                </c:pt>
                <c:pt idx="615">
                  <c:v>387</c:v>
                </c:pt>
                <c:pt idx="616">
                  <c:v>534</c:v>
                </c:pt>
                <c:pt idx="617">
                  <c:v>533</c:v>
                </c:pt>
                <c:pt idx="618">
                  <c:v>532</c:v>
                </c:pt>
                <c:pt idx="619">
                  <c:v>521</c:v>
                </c:pt>
                <c:pt idx="620">
                  <c:v>528</c:v>
                </c:pt>
                <c:pt idx="621">
                  <c:v>549</c:v>
                </c:pt>
                <c:pt idx="622">
                  <c:v>533</c:v>
                </c:pt>
                <c:pt idx="623">
                  <c:v>499</c:v>
                </c:pt>
                <c:pt idx="624">
                  <c:v>461</c:v>
                </c:pt>
                <c:pt idx="625">
                  <c:v>427</c:v>
                </c:pt>
                <c:pt idx="626">
                  <c:v>448</c:v>
                </c:pt>
                <c:pt idx="627">
                  <c:v>451</c:v>
                </c:pt>
                <c:pt idx="628">
                  <c:v>453</c:v>
                </c:pt>
                <c:pt idx="629">
                  <c:v>478</c:v>
                </c:pt>
                <c:pt idx="630">
                  <c:v>493</c:v>
                </c:pt>
                <c:pt idx="631">
                  <c:v>476</c:v>
                </c:pt>
                <c:pt idx="632">
                  <c:v>466</c:v>
                </c:pt>
                <c:pt idx="633">
                  <c:v>446</c:v>
                </c:pt>
                <c:pt idx="634">
                  <c:v>432</c:v>
                </c:pt>
                <c:pt idx="635">
                  <c:v>421</c:v>
                </c:pt>
                <c:pt idx="636">
                  <c:v>430</c:v>
                </c:pt>
                <c:pt idx="637">
                  <c:v>433</c:v>
                </c:pt>
                <c:pt idx="638">
                  <c:v>436</c:v>
                </c:pt>
                <c:pt idx="639">
                  <c:v>433</c:v>
                </c:pt>
                <c:pt idx="640">
                  <c:v>432</c:v>
                </c:pt>
                <c:pt idx="641">
                  <c:v>434</c:v>
                </c:pt>
                <c:pt idx="642">
                  <c:v>421</c:v>
                </c:pt>
                <c:pt idx="643">
                  <c:v>427</c:v>
                </c:pt>
                <c:pt idx="644">
                  <c:v>425</c:v>
                </c:pt>
                <c:pt idx="645">
                  <c:v>418</c:v>
                </c:pt>
                <c:pt idx="646">
                  <c:v>409</c:v>
                </c:pt>
                <c:pt idx="647">
                  <c:v>393</c:v>
                </c:pt>
                <c:pt idx="648">
                  <c:v>379</c:v>
                </c:pt>
                <c:pt idx="649">
                  <c:v>355</c:v>
                </c:pt>
                <c:pt idx="650">
                  <c:v>358</c:v>
                </c:pt>
                <c:pt idx="651">
                  <c:v>356</c:v>
                </c:pt>
                <c:pt idx="652">
                  <c:v>330</c:v>
                </c:pt>
                <c:pt idx="653">
                  <c:v>378</c:v>
                </c:pt>
                <c:pt idx="654">
                  <c:v>360</c:v>
                </c:pt>
                <c:pt idx="655">
                  <c:v>347</c:v>
                </c:pt>
                <c:pt idx="656">
                  <c:v>364</c:v>
                </c:pt>
                <c:pt idx="657">
                  <c:v>379</c:v>
                </c:pt>
                <c:pt idx="658">
                  <c:v>426</c:v>
                </c:pt>
                <c:pt idx="659">
                  <c:v>442</c:v>
                </c:pt>
                <c:pt idx="660">
                  <c:v>413</c:v>
                </c:pt>
                <c:pt idx="661">
                  <c:v>424</c:v>
                </c:pt>
                <c:pt idx="662">
                  <c:v>431</c:v>
                </c:pt>
                <c:pt idx="663">
                  <c:v>441</c:v>
                </c:pt>
                <c:pt idx="664">
                  <c:v>413</c:v>
                </c:pt>
                <c:pt idx="665">
                  <c:v>405</c:v>
                </c:pt>
                <c:pt idx="666">
                  <c:v>401</c:v>
                </c:pt>
                <c:pt idx="667">
                  <c:v>383</c:v>
                </c:pt>
                <c:pt idx="668">
                  <c:v>388</c:v>
                </c:pt>
                <c:pt idx="669">
                  <c:v>397</c:v>
                </c:pt>
                <c:pt idx="670">
                  <c:v>373</c:v>
                </c:pt>
                <c:pt idx="671">
                  <c:v>345</c:v>
                </c:pt>
                <c:pt idx="672">
                  <c:v>337</c:v>
                </c:pt>
                <c:pt idx="673">
                  <c:v>345</c:v>
                </c:pt>
                <c:pt idx="674">
                  <c:v>336</c:v>
                </c:pt>
                <c:pt idx="675">
                  <c:v>342</c:v>
                </c:pt>
                <c:pt idx="676">
                  <c:v>353</c:v>
                </c:pt>
                <c:pt idx="677">
                  <c:v>358</c:v>
                </c:pt>
                <c:pt idx="678">
                  <c:v>381</c:v>
                </c:pt>
                <c:pt idx="679">
                  <c:v>391</c:v>
                </c:pt>
                <c:pt idx="680">
                  <c:v>383</c:v>
                </c:pt>
                <c:pt idx="681">
                  <c:v>414</c:v>
                </c:pt>
                <c:pt idx="682">
                  <c:v>416</c:v>
                </c:pt>
                <c:pt idx="683">
                  <c:v>412</c:v>
                </c:pt>
                <c:pt idx="684">
                  <c:v>436</c:v>
                </c:pt>
                <c:pt idx="685">
                  <c:v>452</c:v>
                </c:pt>
                <c:pt idx="686">
                  <c:v>450</c:v>
                </c:pt>
                <c:pt idx="687">
                  <c:v>428</c:v>
                </c:pt>
                <c:pt idx="688">
                  <c:v>393</c:v>
                </c:pt>
                <c:pt idx="689">
                  <c:v>391</c:v>
                </c:pt>
                <c:pt idx="690">
                  <c:v>360</c:v>
                </c:pt>
                <c:pt idx="691">
                  <c:v>351</c:v>
                </c:pt>
                <c:pt idx="692">
                  <c:v>334</c:v>
                </c:pt>
                <c:pt idx="693">
                  <c:v>293</c:v>
                </c:pt>
                <c:pt idx="694">
                  <c:v>297</c:v>
                </c:pt>
                <c:pt idx="695">
                  <c:v>331</c:v>
                </c:pt>
                <c:pt idx="696">
                  <c:v>338</c:v>
                </c:pt>
                <c:pt idx="697">
                  <c:v>334</c:v>
                </c:pt>
                <c:pt idx="698">
                  <c:v>336</c:v>
                </c:pt>
                <c:pt idx="699">
                  <c:v>317</c:v>
                </c:pt>
                <c:pt idx="700">
                  <c:v>295</c:v>
                </c:pt>
                <c:pt idx="701">
                  <c:v>322</c:v>
                </c:pt>
                <c:pt idx="702">
                  <c:v>335</c:v>
                </c:pt>
                <c:pt idx="703">
                  <c:v>327</c:v>
                </c:pt>
                <c:pt idx="704">
                  <c:v>334</c:v>
                </c:pt>
                <c:pt idx="705">
                  <c:v>320</c:v>
                </c:pt>
                <c:pt idx="706">
                  <c:v>324</c:v>
                </c:pt>
                <c:pt idx="707">
                  <c:v>297</c:v>
                </c:pt>
                <c:pt idx="708">
                  <c:v>300</c:v>
                </c:pt>
                <c:pt idx="709">
                  <c:v>281</c:v>
                </c:pt>
                <c:pt idx="710">
                  <c:v>282</c:v>
                </c:pt>
                <c:pt idx="711">
                  <c:v>273</c:v>
                </c:pt>
                <c:pt idx="712">
                  <c:v>278</c:v>
                </c:pt>
                <c:pt idx="713">
                  <c:v>264</c:v>
                </c:pt>
                <c:pt idx="714">
                  <c:v>261</c:v>
                </c:pt>
                <c:pt idx="715">
                  <c:v>242</c:v>
                </c:pt>
                <c:pt idx="716">
                  <c:v>242</c:v>
                </c:pt>
                <c:pt idx="717">
                  <c:v>243</c:v>
                </c:pt>
                <c:pt idx="718">
                  <c:v>255</c:v>
                </c:pt>
                <c:pt idx="719">
                  <c:v>241</c:v>
                </c:pt>
                <c:pt idx="720">
                  <c:v>211</c:v>
                </c:pt>
                <c:pt idx="721">
                  <c:v>204</c:v>
                </c:pt>
                <c:pt idx="722">
                  <c:v>236</c:v>
                </c:pt>
                <c:pt idx="723">
                  <c:v>238</c:v>
                </c:pt>
                <c:pt idx="724">
                  <c:v>236</c:v>
                </c:pt>
                <c:pt idx="725">
                  <c:v>237</c:v>
                </c:pt>
                <c:pt idx="726">
                  <c:v>238</c:v>
                </c:pt>
                <c:pt idx="727">
                  <c:v>236</c:v>
                </c:pt>
                <c:pt idx="728">
                  <c:v>244</c:v>
                </c:pt>
                <c:pt idx="729">
                  <c:v>235</c:v>
                </c:pt>
                <c:pt idx="730">
                  <c:v>248</c:v>
                </c:pt>
                <c:pt idx="731">
                  <c:v>253</c:v>
                </c:pt>
                <c:pt idx="732">
                  <c:v>241</c:v>
                </c:pt>
                <c:pt idx="733">
                  <c:v>241</c:v>
                </c:pt>
                <c:pt idx="734">
                  <c:v>249</c:v>
                </c:pt>
                <c:pt idx="735">
                  <c:v>259</c:v>
                </c:pt>
                <c:pt idx="736">
                  <c:v>249</c:v>
                </c:pt>
                <c:pt idx="737">
                  <c:v>246</c:v>
                </c:pt>
                <c:pt idx="738">
                  <c:v>254</c:v>
                </c:pt>
                <c:pt idx="739">
                  <c:v>253</c:v>
                </c:pt>
                <c:pt idx="740">
                  <c:v>257</c:v>
                </c:pt>
                <c:pt idx="741">
                  <c:v>235</c:v>
                </c:pt>
                <c:pt idx="742">
                  <c:v>231</c:v>
                </c:pt>
                <c:pt idx="743">
                  <c:v>242</c:v>
                </c:pt>
                <c:pt idx="744">
                  <c:v>241</c:v>
                </c:pt>
                <c:pt idx="745">
                  <c:v>243</c:v>
                </c:pt>
                <c:pt idx="746">
                  <c:v>250</c:v>
                </c:pt>
                <c:pt idx="747">
                  <c:v>250</c:v>
                </c:pt>
                <c:pt idx="748">
                  <c:v>263</c:v>
                </c:pt>
                <c:pt idx="749">
                  <c:v>280</c:v>
                </c:pt>
                <c:pt idx="750">
                  <c:v>285</c:v>
                </c:pt>
                <c:pt idx="751">
                  <c:v>280</c:v>
                </c:pt>
                <c:pt idx="752">
                  <c:v>265</c:v>
                </c:pt>
                <c:pt idx="753">
                  <c:v>243</c:v>
                </c:pt>
                <c:pt idx="754">
                  <c:v>244</c:v>
                </c:pt>
                <c:pt idx="755">
                  <c:v>260</c:v>
                </c:pt>
                <c:pt idx="756">
                  <c:v>220</c:v>
                </c:pt>
                <c:pt idx="757">
                  <c:v>238</c:v>
                </c:pt>
                <c:pt idx="758">
                  <c:v>233</c:v>
                </c:pt>
                <c:pt idx="759">
                  <c:v>241</c:v>
                </c:pt>
                <c:pt idx="760">
                  <c:v>239</c:v>
                </c:pt>
                <c:pt idx="761">
                  <c:v>233</c:v>
                </c:pt>
                <c:pt idx="762">
                  <c:v>235</c:v>
                </c:pt>
                <c:pt idx="763">
                  <c:v>235</c:v>
                </c:pt>
                <c:pt idx="764">
                  <c:v>242</c:v>
                </c:pt>
                <c:pt idx="765">
                  <c:v>243</c:v>
                </c:pt>
                <c:pt idx="766">
                  <c:v>244</c:v>
                </c:pt>
                <c:pt idx="767">
                  <c:v>230</c:v>
                </c:pt>
                <c:pt idx="768">
                  <c:v>243</c:v>
                </c:pt>
                <c:pt idx="769">
                  <c:v>228</c:v>
                </c:pt>
                <c:pt idx="770">
                  <c:v>226</c:v>
                </c:pt>
                <c:pt idx="771">
                  <c:v>218</c:v>
                </c:pt>
                <c:pt idx="772">
                  <c:v>198</c:v>
                </c:pt>
                <c:pt idx="773">
                  <c:v>203</c:v>
                </c:pt>
                <c:pt idx="774">
                  <c:v>208</c:v>
                </c:pt>
                <c:pt idx="775">
                  <c:v>208</c:v>
                </c:pt>
                <c:pt idx="776">
                  <c:v>227</c:v>
                </c:pt>
                <c:pt idx="777">
                  <c:v>219</c:v>
                </c:pt>
                <c:pt idx="778">
                  <c:v>212</c:v>
                </c:pt>
                <c:pt idx="779">
                  <c:v>217</c:v>
                </c:pt>
                <c:pt idx="780">
                  <c:v>187</c:v>
                </c:pt>
                <c:pt idx="781">
                  <c:v>185</c:v>
                </c:pt>
                <c:pt idx="782">
                  <c:v>196</c:v>
                </c:pt>
                <c:pt idx="783">
                  <c:v>189</c:v>
                </c:pt>
                <c:pt idx="784">
                  <c:v>192</c:v>
                </c:pt>
                <c:pt idx="785">
                  <c:v>205</c:v>
                </c:pt>
                <c:pt idx="786">
                  <c:v>208</c:v>
                </c:pt>
                <c:pt idx="787">
                  <c:v>202</c:v>
                </c:pt>
                <c:pt idx="788">
                  <c:v>198</c:v>
                </c:pt>
                <c:pt idx="789">
                  <c:v>199</c:v>
                </c:pt>
                <c:pt idx="790">
                  <c:v>192</c:v>
                </c:pt>
                <c:pt idx="791">
                  <c:v>197</c:v>
                </c:pt>
                <c:pt idx="792">
                  <c:v>205</c:v>
                </c:pt>
                <c:pt idx="793">
                  <c:v>211</c:v>
                </c:pt>
                <c:pt idx="794">
                  <c:v>215</c:v>
                </c:pt>
                <c:pt idx="795">
                  <c:v>218</c:v>
                </c:pt>
                <c:pt idx="796">
                  <c:v>209</c:v>
                </c:pt>
                <c:pt idx="797">
                  <c:v>206</c:v>
                </c:pt>
                <c:pt idx="798">
                  <c:v>204</c:v>
                </c:pt>
                <c:pt idx="799">
                  <c:v>217</c:v>
                </c:pt>
                <c:pt idx="800">
                  <c:v>207</c:v>
                </c:pt>
                <c:pt idx="801">
                  <c:v>198</c:v>
                </c:pt>
                <c:pt idx="802">
                  <c:v>204</c:v>
                </c:pt>
                <c:pt idx="803">
                  <c:v>196</c:v>
                </c:pt>
                <c:pt idx="804">
                  <c:v>198</c:v>
                </c:pt>
                <c:pt idx="805">
                  <c:v>207</c:v>
                </c:pt>
                <c:pt idx="806">
                  <c:v>190</c:v>
                </c:pt>
                <c:pt idx="807">
                  <c:v>191</c:v>
                </c:pt>
                <c:pt idx="808">
                  <c:v>180</c:v>
                </c:pt>
                <c:pt idx="809">
                  <c:v>187</c:v>
                </c:pt>
                <c:pt idx="810">
                  <c:v>184</c:v>
                </c:pt>
                <c:pt idx="811">
                  <c:v>187</c:v>
                </c:pt>
                <c:pt idx="812">
                  <c:v>201</c:v>
                </c:pt>
                <c:pt idx="813">
                  <c:v>193</c:v>
                </c:pt>
                <c:pt idx="814">
                  <c:v>188</c:v>
                </c:pt>
                <c:pt idx="815">
                  <c:v>190</c:v>
                </c:pt>
                <c:pt idx="816">
                  <c:v>196</c:v>
                </c:pt>
                <c:pt idx="817">
                  <c:v>201</c:v>
                </c:pt>
                <c:pt idx="818">
                  <c:v>189</c:v>
                </c:pt>
                <c:pt idx="819">
                  <c:v>196</c:v>
                </c:pt>
                <c:pt idx="820">
                  <c:v>196</c:v>
                </c:pt>
                <c:pt idx="821">
                  <c:v>186</c:v>
                </c:pt>
                <c:pt idx="822">
                  <c:v>177</c:v>
                </c:pt>
                <c:pt idx="823">
                  <c:v>177</c:v>
                </c:pt>
                <c:pt idx="824">
                  <c:v>177</c:v>
                </c:pt>
                <c:pt idx="825">
                  <c:v>191</c:v>
                </c:pt>
                <c:pt idx="826">
                  <c:v>193</c:v>
                </c:pt>
                <c:pt idx="827">
                  <c:v>186</c:v>
                </c:pt>
                <c:pt idx="828">
                  <c:v>177</c:v>
                </c:pt>
                <c:pt idx="829">
                  <c:v>164</c:v>
                </c:pt>
                <c:pt idx="830">
                  <c:v>159</c:v>
                </c:pt>
                <c:pt idx="831">
                  <c:v>160</c:v>
                </c:pt>
                <c:pt idx="832">
                  <c:v>160</c:v>
                </c:pt>
                <c:pt idx="833">
                  <c:v>167</c:v>
                </c:pt>
                <c:pt idx="834">
                  <c:v>148</c:v>
                </c:pt>
                <c:pt idx="835">
                  <c:v>152</c:v>
                </c:pt>
                <c:pt idx="836">
                  <c:v>149</c:v>
                </c:pt>
                <c:pt idx="837">
                  <c:v>143</c:v>
                </c:pt>
                <c:pt idx="838">
                  <c:v>147</c:v>
                </c:pt>
                <c:pt idx="839">
                  <c:v>133</c:v>
                </c:pt>
                <c:pt idx="840">
                  <c:v>127</c:v>
                </c:pt>
                <c:pt idx="841">
                  <c:v>127</c:v>
                </c:pt>
                <c:pt idx="842">
                  <c:v>114</c:v>
                </c:pt>
                <c:pt idx="843">
                  <c:v>114</c:v>
                </c:pt>
                <c:pt idx="844">
                  <c:v>112</c:v>
                </c:pt>
                <c:pt idx="845">
                  <c:v>122</c:v>
                </c:pt>
                <c:pt idx="846">
                  <c:v>127</c:v>
                </c:pt>
                <c:pt idx="847">
                  <c:v>136</c:v>
                </c:pt>
                <c:pt idx="848">
                  <c:v>125</c:v>
                </c:pt>
                <c:pt idx="849">
                  <c:v>120</c:v>
                </c:pt>
                <c:pt idx="850">
                  <c:v>106</c:v>
                </c:pt>
                <c:pt idx="851">
                  <c:v>99</c:v>
                </c:pt>
                <c:pt idx="852">
                  <c:v>103</c:v>
                </c:pt>
                <c:pt idx="853">
                  <c:v>112</c:v>
                </c:pt>
                <c:pt idx="854">
                  <c:v>107</c:v>
                </c:pt>
                <c:pt idx="855">
                  <c:v>118</c:v>
                </c:pt>
                <c:pt idx="856">
                  <c:v>113</c:v>
                </c:pt>
                <c:pt idx="857">
                  <c:v>112</c:v>
                </c:pt>
                <c:pt idx="858">
                  <c:v>117</c:v>
                </c:pt>
                <c:pt idx="859">
                  <c:v>115</c:v>
                </c:pt>
                <c:pt idx="860">
                  <c:v>121</c:v>
                </c:pt>
                <c:pt idx="861">
                  <c:v>126</c:v>
                </c:pt>
                <c:pt idx="862">
                  <c:v>136</c:v>
                </c:pt>
                <c:pt idx="863">
                  <c:v>136</c:v>
                </c:pt>
                <c:pt idx="864">
                  <c:v>146</c:v>
                </c:pt>
                <c:pt idx="865">
                  <c:v>130</c:v>
                </c:pt>
                <c:pt idx="866">
                  <c:v>135</c:v>
                </c:pt>
                <c:pt idx="867">
                  <c:v>139</c:v>
                </c:pt>
                <c:pt idx="868">
                  <c:v>149</c:v>
                </c:pt>
                <c:pt idx="869">
                  <c:v>123</c:v>
                </c:pt>
                <c:pt idx="870">
                  <c:v>136</c:v>
                </c:pt>
                <c:pt idx="871">
                  <c:v>143</c:v>
                </c:pt>
                <c:pt idx="872">
                  <c:v>148</c:v>
                </c:pt>
                <c:pt idx="873">
                  <c:v>161</c:v>
                </c:pt>
                <c:pt idx="874">
                  <c:v>156</c:v>
                </c:pt>
                <c:pt idx="875">
                  <c:v>161</c:v>
                </c:pt>
                <c:pt idx="876">
                  <c:v>163</c:v>
                </c:pt>
                <c:pt idx="877">
                  <c:v>167</c:v>
                </c:pt>
                <c:pt idx="878">
                  <c:v>169</c:v>
                </c:pt>
                <c:pt idx="879">
                  <c:v>164</c:v>
                </c:pt>
                <c:pt idx="880">
                  <c:v>177</c:v>
                </c:pt>
                <c:pt idx="881">
                  <c:v>169</c:v>
                </c:pt>
                <c:pt idx="882">
                  <c:v>168</c:v>
                </c:pt>
                <c:pt idx="883">
                  <c:v>151</c:v>
                </c:pt>
                <c:pt idx="884">
                  <c:v>142</c:v>
                </c:pt>
                <c:pt idx="885">
                  <c:v>136</c:v>
                </c:pt>
                <c:pt idx="886">
                  <c:v>149</c:v>
                </c:pt>
                <c:pt idx="887">
                  <c:v>153</c:v>
                </c:pt>
                <c:pt idx="888">
                  <c:v>150</c:v>
                </c:pt>
                <c:pt idx="889">
                  <c:v>159</c:v>
                </c:pt>
                <c:pt idx="890">
                  <c:v>150</c:v>
                </c:pt>
                <c:pt idx="891">
                  <c:v>139</c:v>
                </c:pt>
                <c:pt idx="892">
                  <c:v>125</c:v>
                </c:pt>
                <c:pt idx="893">
                  <c:v>124</c:v>
                </c:pt>
                <c:pt idx="894">
                  <c:v>119</c:v>
                </c:pt>
                <c:pt idx="895">
                  <c:v>122</c:v>
                </c:pt>
                <c:pt idx="896">
                  <c:v>109</c:v>
                </c:pt>
                <c:pt idx="897">
                  <c:v>117</c:v>
                </c:pt>
                <c:pt idx="898">
                  <c:v>119</c:v>
                </c:pt>
                <c:pt idx="899">
                  <c:v>131</c:v>
                </c:pt>
                <c:pt idx="900">
                  <c:v>131</c:v>
                </c:pt>
                <c:pt idx="901">
                  <c:v>137</c:v>
                </c:pt>
                <c:pt idx="902">
                  <c:v>137</c:v>
                </c:pt>
                <c:pt idx="903">
                  <c:v>133</c:v>
                </c:pt>
                <c:pt idx="904">
                  <c:v>129</c:v>
                </c:pt>
                <c:pt idx="905">
                  <c:v>134</c:v>
                </c:pt>
                <c:pt idx="906">
                  <c:v>132</c:v>
                </c:pt>
                <c:pt idx="907">
                  <c:v>121</c:v>
                </c:pt>
                <c:pt idx="908">
                  <c:v>121</c:v>
                </c:pt>
                <c:pt idx="909">
                  <c:v>118</c:v>
                </c:pt>
                <c:pt idx="910">
                  <c:v>119</c:v>
                </c:pt>
                <c:pt idx="911">
                  <c:v>128</c:v>
                </c:pt>
                <c:pt idx="912">
                  <c:v>127</c:v>
                </c:pt>
                <c:pt idx="913">
                  <c:v>124</c:v>
                </c:pt>
                <c:pt idx="914">
                  <c:v>109</c:v>
                </c:pt>
                <c:pt idx="915">
                  <c:v>128</c:v>
                </c:pt>
                <c:pt idx="916">
                  <c:v>132</c:v>
                </c:pt>
                <c:pt idx="917">
                  <c:v>144</c:v>
                </c:pt>
                <c:pt idx="918">
                  <c:v>144</c:v>
                </c:pt>
                <c:pt idx="919">
                  <c:v>145</c:v>
                </c:pt>
                <c:pt idx="920">
                  <c:v>175</c:v>
                </c:pt>
                <c:pt idx="921">
                  <c:v>181</c:v>
                </c:pt>
                <c:pt idx="922">
                  <c:v>186</c:v>
                </c:pt>
                <c:pt idx="923">
                  <c:v>185</c:v>
                </c:pt>
                <c:pt idx="924">
                  <c:v>191</c:v>
                </c:pt>
                <c:pt idx="925">
                  <c:v>195</c:v>
                </c:pt>
                <c:pt idx="926">
                  <c:v>205</c:v>
                </c:pt>
                <c:pt idx="927">
                  <c:v>178</c:v>
                </c:pt>
                <c:pt idx="928">
                  <c:v>169</c:v>
                </c:pt>
                <c:pt idx="929">
                  <c:v>165</c:v>
                </c:pt>
                <c:pt idx="930">
                  <c:v>161</c:v>
                </c:pt>
                <c:pt idx="931">
                  <c:v>132</c:v>
                </c:pt>
                <c:pt idx="932">
                  <c:v>139</c:v>
                </c:pt>
                <c:pt idx="933">
                  <c:v>135</c:v>
                </c:pt>
                <c:pt idx="934">
                  <c:v>136</c:v>
                </c:pt>
                <c:pt idx="935">
                  <c:v>131</c:v>
                </c:pt>
                <c:pt idx="936">
                  <c:v>130</c:v>
                </c:pt>
                <c:pt idx="937">
                  <c:v>130</c:v>
                </c:pt>
                <c:pt idx="938">
                  <c:v>128</c:v>
                </c:pt>
                <c:pt idx="939">
                  <c:v>132</c:v>
                </c:pt>
                <c:pt idx="940">
                  <c:v>130</c:v>
                </c:pt>
                <c:pt idx="941">
                  <c:v>134</c:v>
                </c:pt>
                <c:pt idx="942">
                  <c:v>132</c:v>
                </c:pt>
                <c:pt idx="943">
                  <c:v>136</c:v>
                </c:pt>
                <c:pt idx="944">
                  <c:v>131</c:v>
                </c:pt>
                <c:pt idx="945">
                  <c:v>124</c:v>
                </c:pt>
                <c:pt idx="946">
                  <c:v>129</c:v>
                </c:pt>
                <c:pt idx="947">
                  <c:v>128</c:v>
                </c:pt>
                <c:pt idx="948">
                  <c:v>125</c:v>
                </c:pt>
                <c:pt idx="949">
                  <c:v>129</c:v>
                </c:pt>
                <c:pt idx="950">
                  <c:v>129</c:v>
                </c:pt>
                <c:pt idx="951">
                  <c:v>144</c:v>
                </c:pt>
                <c:pt idx="952">
                  <c:v>150</c:v>
                </c:pt>
                <c:pt idx="953">
                  <c:v>147</c:v>
                </c:pt>
                <c:pt idx="954">
                  <c:v>135</c:v>
                </c:pt>
                <c:pt idx="955">
                  <c:v>123</c:v>
                </c:pt>
                <c:pt idx="956">
                  <c:v>98</c:v>
                </c:pt>
                <c:pt idx="957">
                  <c:v>104</c:v>
                </c:pt>
                <c:pt idx="958">
                  <c:v>116</c:v>
                </c:pt>
                <c:pt idx="959">
                  <c:v>124</c:v>
                </c:pt>
                <c:pt idx="960">
                  <c:v>118</c:v>
                </c:pt>
                <c:pt idx="961">
                  <c:v>136</c:v>
                </c:pt>
                <c:pt idx="962">
                  <c:v>147</c:v>
                </c:pt>
                <c:pt idx="963">
                  <c:v>160</c:v>
                </c:pt>
                <c:pt idx="964">
                  <c:v>138</c:v>
                </c:pt>
                <c:pt idx="965">
                  <c:v>130</c:v>
                </c:pt>
                <c:pt idx="966">
                  <c:v>117</c:v>
                </c:pt>
                <c:pt idx="967">
                  <c:v>120</c:v>
                </c:pt>
                <c:pt idx="968">
                  <c:v>128</c:v>
                </c:pt>
                <c:pt idx="969">
                  <c:v>118</c:v>
                </c:pt>
                <c:pt idx="970">
                  <c:v>110</c:v>
                </c:pt>
                <c:pt idx="971">
                  <c:v>113</c:v>
                </c:pt>
                <c:pt idx="972">
                  <c:v>114</c:v>
                </c:pt>
                <c:pt idx="973">
                  <c:v>110</c:v>
                </c:pt>
                <c:pt idx="974">
                  <c:v>110</c:v>
                </c:pt>
                <c:pt idx="975">
                  <c:v>108</c:v>
                </c:pt>
                <c:pt idx="976">
                  <c:v>128</c:v>
                </c:pt>
                <c:pt idx="977">
                  <c:v>138</c:v>
                </c:pt>
                <c:pt idx="978">
                  <c:v>146</c:v>
                </c:pt>
                <c:pt idx="979">
                  <c:v>177</c:v>
                </c:pt>
                <c:pt idx="980">
                  <c:v>184</c:v>
                </c:pt>
                <c:pt idx="981">
                  <c:v>218</c:v>
                </c:pt>
                <c:pt idx="982">
                  <c:v>235</c:v>
                </c:pt>
                <c:pt idx="983">
                  <c:v>296</c:v>
                </c:pt>
                <c:pt idx="984">
                  <c:v>258</c:v>
                </c:pt>
                <c:pt idx="985">
                  <c:v>282</c:v>
                </c:pt>
                <c:pt idx="986">
                  <c:v>275</c:v>
                </c:pt>
                <c:pt idx="987">
                  <c:v>274</c:v>
                </c:pt>
                <c:pt idx="988">
                  <c:v>294</c:v>
                </c:pt>
                <c:pt idx="989">
                  <c:v>304</c:v>
                </c:pt>
                <c:pt idx="990">
                  <c:v>330</c:v>
                </c:pt>
                <c:pt idx="991">
                  <c:v>337</c:v>
                </c:pt>
                <c:pt idx="992">
                  <c:v>318</c:v>
                </c:pt>
                <c:pt idx="993">
                  <c:v>346</c:v>
                </c:pt>
                <c:pt idx="994">
                  <c:v>343</c:v>
                </c:pt>
                <c:pt idx="995">
                  <c:v>276</c:v>
                </c:pt>
                <c:pt idx="996">
                  <c:v>251</c:v>
                </c:pt>
                <c:pt idx="997">
                  <c:v>234</c:v>
                </c:pt>
                <c:pt idx="998">
                  <c:v>165</c:v>
                </c:pt>
                <c:pt idx="999">
                  <c:v>183</c:v>
                </c:pt>
                <c:pt idx="1000">
                  <c:v>174</c:v>
                </c:pt>
                <c:pt idx="1001">
                  <c:v>160</c:v>
                </c:pt>
                <c:pt idx="1002">
                  <c:v>193</c:v>
                </c:pt>
                <c:pt idx="1003">
                  <c:v>189</c:v>
                </c:pt>
                <c:pt idx="1004">
                  <c:v>127</c:v>
                </c:pt>
                <c:pt idx="1005">
                  <c:v>159</c:v>
                </c:pt>
                <c:pt idx="1006">
                  <c:v>141</c:v>
                </c:pt>
                <c:pt idx="1007">
                  <c:v>137</c:v>
                </c:pt>
                <c:pt idx="1008">
                  <c:v>148</c:v>
                </c:pt>
                <c:pt idx="1009">
                  <c:v>145</c:v>
                </c:pt>
                <c:pt idx="1010">
                  <c:v>176</c:v>
                </c:pt>
                <c:pt idx="1011">
                  <c:v>158</c:v>
                </c:pt>
                <c:pt idx="1012">
                  <c:v>146</c:v>
                </c:pt>
                <c:pt idx="1013">
                  <c:v>148</c:v>
                </c:pt>
                <c:pt idx="1014">
                  <c:v>139</c:v>
                </c:pt>
                <c:pt idx="1015">
                  <c:v>143</c:v>
                </c:pt>
                <c:pt idx="1016">
                  <c:v>145</c:v>
                </c:pt>
                <c:pt idx="1017">
                  <c:v>124</c:v>
                </c:pt>
                <c:pt idx="1018">
                  <c:v>124</c:v>
                </c:pt>
                <c:pt idx="1019">
                  <c:v>117</c:v>
                </c:pt>
                <c:pt idx="1020">
                  <c:v>124</c:v>
                </c:pt>
                <c:pt idx="1021">
                  <c:v>131</c:v>
                </c:pt>
                <c:pt idx="1022">
                  <c:v>127</c:v>
                </c:pt>
                <c:pt idx="1023">
                  <c:v>131</c:v>
                </c:pt>
                <c:pt idx="1024">
                  <c:v>139</c:v>
                </c:pt>
                <c:pt idx="1025">
                  <c:v>179</c:v>
                </c:pt>
                <c:pt idx="1026">
                  <c:v>174</c:v>
                </c:pt>
                <c:pt idx="1027">
                  <c:v>176</c:v>
                </c:pt>
                <c:pt idx="1028">
                  <c:v>176</c:v>
                </c:pt>
                <c:pt idx="1029">
                  <c:v>172</c:v>
                </c:pt>
                <c:pt idx="1030">
                  <c:v>176</c:v>
                </c:pt>
                <c:pt idx="1031">
                  <c:v>165</c:v>
                </c:pt>
                <c:pt idx="1032">
                  <c:v>156</c:v>
                </c:pt>
                <c:pt idx="1033">
                  <c:v>165</c:v>
                </c:pt>
                <c:pt idx="1034">
                  <c:v>172</c:v>
                </c:pt>
                <c:pt idx="1035">
                  <c:v>181</c:v>
                </c:pt>
                <c:pt idx="1036">
                  <c:v>175</c:v>
                </c:pt>
                <c:pt idx="1037">
                  <c:v>188</c:v>
                </c:pt>
                <c:pt idx="1038">
                  <c:v>187</c:v>
                </c:pt>
                <c:pt idx="1039">
                  <c:v>176</c:v>
                </c:pt>
                <c:pt idx="1040">
                  <c:v>181</c:v>
                </c:pt>
                <c:pt idx="1041">
                  <c:v>185</c:v>
                </c:pt>
                <c:pt idx="1042">
                  <c:v>180</c:v>
                </c:pt>
                <c:pt idx="1043">
                  <c:v>194</c:v>
                </c:pt>
                <c:pt idx="1044">
                  <c:v>203</c:v>
                </c:pt>
                <c:pt idx="1045">
                  <c:v>204</c:v>
                </c:pt>
                <c:pt idx="1046">
                  <c:v>203</c:v>
                </c:pt>
                <c:pt idx="1047">
                  <c:v>185</c:v>
                </c:pt>
                <c:pt idx="1048">
                  <c:v>182</c:v>
                </c:pt>
                <c:pt idx="1049">
                  <c:v>170</c:v>
                </c:pt>
                <c:pt idx="1050">
                  <c:v>153</c:v>
                </c:pt>
                <c:pt idx="1051">
                  <c:v>167</c:v>
                </c:pt>
                <c:pt idx="1052">
                  <c:v>156</c:v>
                </c:pt>
                <c:pt idx="1053">
                  <c:v>157</c:v>
                </c:pt>
                <c:pt idx="1054">
                  <c:v>151</c:v>
                </c:pt>
                <c:pt idx="1055">
                  <c:v>137</c:v>
                </c:pt>
                <c:pt idx="1056">
                  <c:v>121</c:v>
                </c:pt>
                <c:pt idx="1057">
                  <c:v>129</c:v>
                </c:pt>
                <c:pt idx="1058">
                  <c:v>115</c:v>
                </c:pt>
                <c:pt idx="1059">
                  <c:v>99</c:v>
                </c:pt>
                <c:pt idx="1060">
                  <c:v>94</c:v>
                </c:pt>
                <c:pt idx="1061">
                  <c:v>92</c:v>
                </c:pt>
                <c:pt idx="1062">
                  <c:v>92</c:v>
                </c:pt>
                <c:pt idx="1063">
                  <c:v>100</c:v>
                </c:pt>
                <c:pt idx="1064">
                  <c:v>105</c:v>
                </c:pt>
                <c:pt idx="1065">
                  <c:v>106</c:v>
                </c:pt>
                <c:pt idx="1066">
                  <c:v>110</c:v>
                </c:pt>
                <c:pt idx="1067">
                  <c:v>120</c:v>
                </c:pt>
                <c:pt idx="1068">
                  <c:v>116</c:v>
                </c:pt>
                <c:pt idx="1069">
                  <c:v>96</c:v>
                </c:pt>
                <c:pt idx="1070">
                  <c:v>105</c:v>
                </c:pt>
                <c:pt idx="1071">
                  <c:v>132</c:v>
                </c:pt>
                <c:pt idx="1072">
                  <c:v>118</c:v>
                </c:pt>
                <c:pt idx="1073">
                  <c:v>128</c:v>
                </c:pt>
                <c:pt idx="1074">
                  <c:v>119</c:v>
                </c:pt>
                <c:pt idx="1075">
                  <c:v>124</c:v>
                </c:pt>
                <c:pt idx="1076">
                  <c:v>124</c:v>
                </c:pt>
                <c:pt idx="1077">
                  <c:v>120</c:v>
                </c:pt>
                <c:pt idx="1078">
                  <c:v>106</c:v>
                </c:pt>
                <c:pt idx="1079">
                  <c:v>109</c:v>
                </c:pt>
                <c:pt idx="1080">
                  <c:v>112</c:v>
                </c:pt>
                <c:pt idx="1081">
                  <c:v>87</c:v>
                </c:pt>
                <c:pt idx="1082">
                  <c:v>88</c:v>
                </c:pt>
                <c:pt idx="1083">
                  <c:v>87</c:v>
                </c:pt>
                <c:pt idx="1084">
                  <c:v>84</c:v>
                </c:pt>
                <c:pt idx="1085">
                  <c:v>86</c:v>
                </c:pt>
                <c:pt idx="1086">
                  <c:v>93</c:v>
                </c:pt>
                <c:pt idx="1087">
                  <c:v>101</c:v>
                </c:pt>
                <c:pt idx="1088">
                  <c:v>101</c:v>
                </c:pt>
                <c:pt idx="1089">
                  <c:v>95</c:v>
                </c:pt>
                <c:pt idx="1090">
                  <c:v>89</c:v>
                </c:pt>
                <c:pt idx="1091">
                  <c:v>93</c:v>
                </c:pt>
                <c:pt idx="1092">
                  <c:v>91</c:v>
                </c:pt>
                <c:pt idx="1093">
                  <c:v>84</c:v>
                </c:pt>
                <c:pt idx="1094">
                  <c:v>91</c:v>
                </c:pt>
                <c:pt idx="1095">
                  <c:v>89</c:v>
                </c:pt>
                <c:pt idx="1096">
                  <c:v>85</c:v>
                </c:pt>
                <c:pt idx="1097">
                  <c:v>102</c:v>
                </c:pt>
                <c:pt idx="1098">
                  <c:v>104</c:v>
                </c:pt>
                <c:pt idx="1099">
                  <c:v>99</c:v>
                </c:pt>
                <c:pt idx="1100">
                  <c:v>108</c:v>
                </c:pt>
                <c:pt idx="1101">
                  <c:v>107</c:v>
                </c:pt>
                <c:pt idx="1102">
                  <c:v>107</c:v>
                </c:pt>
                <c:pt idx="1103">
                  <c:v>106</c:v>
                </c:pt>
                <c:pt idx="1104">
                  <c:v>105</c:v>
                </c:pt>
                <c:pt idx="1105">
                  <c:v>95</c:v>
                </c:pt>
                <c:pt idx="1106">
                  <c:v>97</c:v>
                </c:pt>
                <c:pt idx="1107">
                  <c:v>103</c:v>
                </c:pt>
                <c:pt idx="1108">
                  <c:v>104</c:v>
                </c:pt>
                <c:pt idx="1109">
                  <c:v>107</c:v>
                </c:pt>
                <c:pt idx="1110">
                  <c:v>105</c:v>
                </c:pt>
                <c:pt idx="1111">
                  <c:v>102</c:v>
                </c:pt>
                <c:pt idx="1112">
                  <c:v>103</c:v>
                </c:pt>
                <c:pt idx="1113">
                  <c:v>97</c:v>
                </c:pt>
                <c:pt idx="1114">
                  <c:v>96</c:v>
                </c:pt>
                <c:pt idx="1115">
                  <c:v>97</c:v>
                </c:pt>
                <c:pt idx="1116">
                  <c:v>106</c:v>
                </c:pt>
                <c:pt idx="1117">
                  <c:v>107</c:v>
                </c:pt>
                <c:pt idx="1118">
                  <c:v>120</c:v>
                </c:pt>
                <c:pt idx="1119">
                  <c:v>109</c:v>
                </c:pt>
                <c:pt idx="1120">
                  <c:v>123</c:v>
                </c:pt>
                <c:pt idx="1121">
                  <c:v>127</c:v>
                </c:pt>
                <c:pt idx="1122">
                  <c:v>114</c:v>
                </c:pt>
                <c:pt idx="1123">
                  <c:v>125</c:v>
                </c:pt>
                <c:pt idx="1124">
                  <c:v>123</c:v>
                </c:pt>
                <c:pt idx="1125">
                  <c:v>117</c:v>
                </c:pt>
                <c:pt idx="1126">
                  <c:v>110</c:v>
                </c:pt>
                <c:pt idx="1127">
                  <c:v>113</c:v>
                </c:pt>
                <c:pt idx="1128">
                  <c:v>124</c:v>
                </c:pt>
                <c:pt idx="1129">
                  <c:v>112</c:v>
                </c:pt>
                <c:pt idx="1130">
                  <c:v>112</c:v>
                </c:pt>
                <c:pt idx="1131">
                  <c:v>116</c:v>
                </c:pt>
                <c:pt idx="1132">
                  <c:v>114</c:v>
                </c:pt>
                <c:pt idx="1133">
                  <c:v>124</c:v>
                </c:pt>
                <c:pt idx="1134">
                  <c:v>129</c:v>
                </c:pt>
                <c:pt idx="1135">
                  <c:v>135</c:v>
                </c:pt>
                <c:pt idx="1136">
                  <c:v>148</c:v>
                </c:pt>
                <c:pt idx="1137">
                  <c:v>128</c:v>
                </c:pt>
                <c:pt idx="1138">
                  <c:v>135</c:v>
                </c:pt>
                <c:pt idx="1139">
                  <c:v>133</c:v>
                </c:pt>
                <c:pt idx="1140">
                  <c:v>126</c:v>
                </c:pt>
                <c:pt idx="1141">
                  <c:v>129</c:v>
                </c:pt>
                <c:pt idx="1142">
                  <c:v>131</c:v>
                </c:pt>
                <c:pt idx="1143">
                  <c:v>135</c:v>
                </c:pt>
                <c:pt idx="1144">
                  <c:v>149</c:v>
                </c:pt>
                <c:pt idx="1145">
                  <c:v>145</c:v>
                </c:pt>
                <c:pt idx="1146">
                  <c:v>130</c:v>
                </c:pt>
                <c:pt idx="1147">
                  <c:v>129</c:v>
                </c:pt>
                <c:pt idx="1148">
                  <c:v>127</c:v>
                </c:pt>
                <c:pt idx="1149">
                  <c:v>134</c:v>
                </c:pt>
                <c:pt idx="1150">
                  <c:v>134</c:v>
                </c:pt>
                <c:pt idx="1151">
                  <c:v>128</c:v>
                </c:pt>
                <c:pt idx="1152">
                  <c:v>131</c:v>
                </c:pt>
                <c:pt idx="1153">
                  <c:v>139</c:v>
                </c:pt>
                <c:pt idx="1154">
                  <c:v>147</c:v>
                </c:pt>
                <c:pt idx="1155">
                  <c:v>141</c:v>
                </c:pt>
                <c:pt idx="1156">
                  <c:v>147</c:v>
                </c:pt>
                <c:pt idx="1157">
                  <c:v>141</c:v>
                </c:pt>
                <c:pt idx="1158">
                  <c:v>151</c:v>
                </c:pt>
                <c:pt idx="1159">
                  <c:v>142</c:v>
                </c:pt>
                <c:pt idx="1160">
                  <c:v>148</c:v>
                </c:pt>
                <c:pt idx="1161">
                  <c:v>152</c:v>
                </c:pt>
                <c:pt idx="1162">
                  <c:v>160</c:v>
                </c:pt>
                <c:pt idx="1163">
                  <c:v>180</c:v>
                </c:pt>
                <c:pt idx="1164">
                  <c:v>202</c:v>
                </c:pt>
                <c:pt idx="1165">
                  <c:v>202</c:v>
                </c:pt>
                <c:pt idx="1166">
                  <c:v>185</c:v>
                </c:pt>
                <c:pt idx="1167">
                  <c:v>189</c:v>
                </c:pt>
                <c:pt idx="1168">
                  <c:v>189</c:v>
                </c:pt>
                <c:pt idx="1169">
                  <c:v>180</c:v>
                </c:pt>
                <c:pt idx="1170">
                  <c:v>198</c:v>
                </c:pt>
                <c:pt idx="1171">
                  <c:v>200</c:v>
                </c:pt>
                <c:pt idx="1172">
                  <c:v>199</c:v>
                </c:pt>
                <c:pt idx="1173">
                  <c:v>197</c:v>
                </c:pt>
                <c:pt idx="1174">
                  <c:v>204</c:v>
                </c:pt>
                <c:pt idx="1175">
                  <c:v>197</c:v>
                </c:pt>
                <c:pt idx="1176">
                  <c:v>196</c:v>
                </c:pt>
                <c:pt idx="1177">
                  <c:v>204</c:v>
                </c:pt>
                <c:pt idx="1178">
                  <c:v>188</c:v>
                </c:pt>
                <c:pt idx="1179">
                  <c:v>185</c:v>
                </c:pt>
                <c:pt idx="1180">
                  <c:v>189</c:v>
                </c:pt>
                <c:pt idx="1181">
                  <c:v>170</c:v>
                </c:pt>
                <c:pt idx="1182">
                  <c:v>168</c:v>
                </c:pt>
                <c:pt idx="1183">
                  <c:v>155</c:v>
                </c:pt>
                <c:pt idx="1184">
                  <c:v>146</c:v>
                </c:pt>
                <c:pt idx="1185">
                  <c:v>142</c:v>
                </c:pt>
                <c:pt idx="1186">
                  <c:v>131</c:v>
                </c:pt>
                <c:pt idx="1187">
                  <c:v>128</c:v>
                </c:pt>
                <c:pt idx="1188">
                  <c:v>123</c:v>
                </c:pt>
                <c:pt idx="1189">
                  <c:v>119</c:v>
                </c:pt>
                <c:pt idx="1190">
                  <c:v>113</c:v>
                </c:pt>
                <c:pt idx="1191">
                  <c:v>135</c:v>
                </c:pt>
                <c:pt idx="1192">
                  <c:v>122</c:v>
                </c:pt>
                <c:pt idx="1193">
                  <c:v>135</c:v>
                </c:pt>
                <c:pt idx="1194">
                  <c:v>125</c:v>
                </c:pt>
                <c:pt idx="1195">
                  <c:v>124</c:v>
                </c:pt>
                <c:pt idx="1196">
                  <c:v>120</c:v>
                </c:pt>
                <c:pt idx="1197">
                  <c:v>103</c:v>
                </c:pt>
                <c:pt idx="1198">
                  <c:v>104</c:v>
                </c:pt>
                <c:pt idx="1199">
                  <c:v>117</c:v>
                </c:pt>
                <c:pt idx="1200">
                  <c:v>107</c:v>
                </c:pt>
                <c:pt idx="1201">
                  <c:v>107</c:v>
                </c:pt>
                <c:pt idx="1202">
                  <c:v>104</c:v>
                </c:pt>
                <c:pt idx="1203">
                  <c:v>108</c:v>
                </c:pt>
                <c:pt idx="1204">
                  <c:v>101</c:v>
                </c:pt>
                <c:pt idx="1205">
                  <c:v>102</c:v>
                </c:pt>
                <c:pt idx="1206">
                  <c:v>85</c:v>
                </c:pt>
                <c:pt idx="1207">
                  <c:v>77</c:v>
                </c:pt>
                <c:pt idx="1208">
                  <c:v>89</c:v>
                </c:pt>
                <c:pt idx="1209">
                  <c:v>88</c:v>
                </c:pt>
                <c:pt idx="1210">
                  <c:v>85</c:v>
                </c:pt>
                <c:pt idx="1211">
                  <c:v>80</c:v>
                </c:pt>
              </c:numCache>
            </c:numRef>
          </c:val>
          <c:smooth val="0"/>
        </c:ser>
        <c:dLbls>
          <c:showLegendKey val="0"/>
          <c:showVal val="0"/>
          <c:showCatName val="0"/>
          <c:showSerName val="0"/>
          <c:showPercent val="0"/>
          <c:showBubbleSize val="0"/>
        </c:dLbls>
        <c:marker val="1"/>
        <c:smooth val="0"/>
        <c:axId val="150227200"/>
        <c:axId val="150261760"/>
      </c:lineChart>
      <c:lineChart>
        <c:grouping val="standard"/>
        <c:varyColors val="0"/>
        <c:ser>
          <c:idx val="1"/>
          <c:order val="1"/>
          <c:tx>
            <c:strRef>
              <c:f>'[Update Data Q4 2015 Quarterly Call - Updated to 12-11.xlsx]OAS and Media Effect'!$G$1</c:f>
              <c:strCache>
                <c:ptCount val="1"/>
                <c:pt idx="0">
                  <c:v>% Refinanceable</c:v>
                </c:pt>
              </c:strCache>
            </c:strRef>
          </c:tx>
          <c:spPr>
            <a:ln w="28575" cap="rnd">
              <a:solidFill>
                <a:schemeClr val="accent2"/>
              </a:solidFill>
              <a:round/>
            </a:ln>
            <a:effectLst/>
          </c:spPr>
          <c:marker>
            <c:symbol val="none"/>
          </c:marker>
          <c:cat>
            <c:numRef>
              <c:f>'[Update Data Q4 2015 Quarterly Call - Updated to 12-11.xlsx]OAS and Media Effect'!$A$2:$A$1213</c:f>
              <c:numCache>
                <c:formatCode>mm/dd/yyyy</c:formatCode>
                <c:ptCount val="1212"/>
                <c:pt idx="0">
                  <c:v>40576</c:v>
                </c:pt>
                <c:pt idx="1">
                  <c:v>40577</c:v>
                </c:pt>
                <c:pt idx="2">
                  <c:v>40578</c:v>
                </c:pt>
                <c:pt idx="3">
                  <c:v>40581</c:v>
                </c:pt>
                <c:pt idx="4">
                  <c:v>40582</c:v>
                </c:pt>
                <c:pt idx="5">
                  <c:v>40583</c:v>
                </c:pt>
                <c:pt idx="6">
                  <c:v>40584</c:v>
                </c:pt>
                <c:pt idx="7">
                  <c:v>40585</c:v>
                </c:pt>
                <c:pt idx="8">
                  <c:v>40588</c:v>
                </c:pt>
                <c:pt idx="9">
                  <c:v>40589</c:v>
                </c:pt>
                <c:pt idx="10">
                  <c:v>40590</c:v>
                </c:pt>
                <c:pt idx="11">
                  <c:v>40591</c:v>
                </c:pt>
                <c:pt idx="12">
                  <c:v>40592</c:v>
                </c:pt>
                <c:pt idx="13">
                  <c:v>40596</c:v>
                </c:pt>
                <c:pt idx="14">
                  <c:v>40597</c:v>
                </c:pt>
                <c:pt idx="15">
                  <c:v>40598</c:v>
                </c:pt>
                <c:pt idx="16">
                  <c:v>40599</c:v>
                </c:pt>
                <c:pt idx="17">
                  <c:v>40602</c:v>
                </c:pt>
                <c:pt idx="18">
                  <c:v>40603</c:v>
                </c:pt>
                <c:pt idx="19">
                  <c:v>40604</c:v>
                </c:pt>
                <c:pt idx="20">
                  <c:v>40605</c:v>
                </c:pt>
                <c:pt idx="21">
                  <c:v>40606</c:v>
                </c:pt>
                <c:pt idx="22">
                  <c:v>40609</c:v>
                </c:pt>
                <c:pt idx="23">
                  <c:v>40610</c:v>
                </c:pt>
                <c:pt idx="24">
                  <c:v>40611</c:v>
                </c:pt>
                <c:pt idx="25">
                  <c:v>40612</c:v>
                </c:pt>
                <c:pt idx="26">
                  <c:v>40613</c:v>
                </c:pt>
                <c:pt idx="27">
                  <c:v>40616</c:v>
                </c:pt>
                <c:pt idx="28">
                  <c:v>40617</c:v>
                </c:pt>
                <c:pt idx="29">
                  <c:v>40618</c:v>
                </c:pt>
                <c:pt idx="30">
                  <c:v>40619</c:v>
                </c:pt>
                <c:pt idx="31">
                  <c:v>40620</c:v>
                </c:pt>
                <c:pt idx="32">
                  <c:v>40623</c:v>
                </c:pt>
                <c:pt idx="33">
                  <c:v>40624</c:v>
                </c:pt>
                <c:pt idx="34">
                  <c:v>40625</c:v>
                </c:pt>
                <c:pt idx="35">
                  <c:v>40626</c:v>
                </c:pt>
                <c:pt idx="36">
                  <c:v>40627</c:v>
                </c:pt>
                <c:pt idx="37">
                  <c:v>40630</c:v>
                </c:pt>
                <c:pt idx="38">
                  <c:v>40631</c:v>
                </c:pt>
                <c:pt idx="39">
                  <c:v>40632</c:v>
                </c:pt>
                <c:pt idx="40">
                  <c:v>40633</c:v>
                </c:pt>
                <c:pt idx="41">
                  <c:v>40634</c:v>
                </c:pt>
                <c:pt idx="42">
                  <c:v>40637</c:v>
                </c:pt>
                <c:pt idx="43">
                  <c:v>40638</c:v>
                </c:pt>
                <c:pt idx="44">
                  <c:v>40639</c:v>
                </c:pt>
                <c:pt idx="45">
                  <c:v>40640</c:v>
                </c:pt>
                <c:pt idx="46">
                  <c:v>40641</c:v>
                </c:pt>
                <c:pt idx="47">
                  <c:v>40644</c:v>
                </c:pt>
                <c:pt idx="48">
                  <c:v>40645</c:v>
                </c:pt>
                <c:pt idx="49">
                  <c:v>40646</c:v>
                </c:pt>
                <c:pt idx="50">
                  <c:v>40647</c:v>
                </c:pt>
                <c:pt idx="51">
                  <c:v>40648</c:v>
                </c:pt>
                <c:pt idx="52">
                  <c:v>40651</c:v>
                </c:pt>
                <c:pt idx="53">
                  <c:v>40652</c:v>
                </c:pt>
                <c:pt idx="54">
                  <c:v>40653</c:v>
                </c:pt>
                <c:pt idx="55">
                  <c:v>40654</c:v>
                </c:pt>
                <c:pt idx="56">
                  <c:v>40658</c:v>
                </c:pt>
                <c:pt idx="57">
                  <c:v>40659</c:v>
                </c:pt>
                <c:pt idx="58">
                  <c:v>40660</c:v>
                </c:pt>
                <c:pt idx="59">
                  <c:v>40661</c:v>
                </c:pt>
                <c:pt idx="60">
                  <c:v>40662</c:v>
                </c:pt>
                <c:pt idx="61">
                  <c:v>40665</c:v>
                </c:pt>
                <c:pt idx="62">
                  <c:v>40666</c:v>
                </c:pt>
                <c:pt idx="63">
                  <c:v>40667</c:v>
                </c:pt>
                <c:pt idx="64">
                  <c:v>40668</c:v>
                </c:pt>
                <c:pt idx="65">
                  <c:v>40669</c:v>
                </c:pt>
                <c:pt idx="66">
                  <c:v>40672</c:v>
                </c:pt>
                <c:pt idx="67">
                  <c:v>40673</c:v>
                </c:pt>
                <c:pt idx="68">
                  <c:v>40674</c:v>
                </c:pt>
                <c:pt idx="69">
                  <c:v>40675</c:v>
                </c:pt>
                <c:pt idx="70">
                  <c:v>40676</c:v>
                </c:pt>
                <c:pt idx="71">
                  <c:v>40679</c:v>
                </c:pt>
                <c:pt idx="72">
                  <c:v>40680</c:v>
                </c:pt>
                <c:pt idx="73">
                  <c:v>40681</c:v>
                </c:pt>
                <c:pt idx="74">
                  <c:v>40682</c:v>
                </c:pt>
                <c:pt idx="75">
                  <c:v>40683</c:v>
                </c:pt>
                <c:pt idx="76">
                  <c:v>40686</c:v>
                </c:pt>
                <c:pt idx="77">
                  <c:v>40687</c:v>
                </c:pt>
                <c:pt idx="78">
                  <c:v>40688</c:v>
                </c:pt>
                <c:pt idx="79">
                  <c:v>40689</c:v>
                </c:pt>
                <c:pt idx="80">
                  <c:v>40690</c:v>
                </c:pt>
                <c:pt idx="81">
                  <c:v>40694</c:v>
                </c:pt>
                <c:pt idx="82">
                  <c:v>40695</c:v>
                </c:pt>
                <c:pt idx="83">
                  <c:v>40696</c:v>
                </c:pt>
                <c:pt idx="84">
                  <c:v>40697</c:v>
                </c:pt>
                <c:pt idx="85">
                  <c:v>40700</c:v>
                </c:pt>
                <c:pt idx="86">
                  <c:v>40701</c:v>
                </c:pt>
                <c:pt idx="87">
                  <c:v>40702</c:v>
                </c:pt>
                <c:pt idx="88">
                  <c:v>40703</c:v>
                </c:pt>
                <c:pt idx="89">
                  <c:v>40704</c:v>
                </c:pt>
                <c:pt idx="90">
                  <c:v>40707</c:v>
                </c:pt>
                <c:pt idx="91">
                  <c:v>40708</c:v>
                </c:pt>
                <c:pt idx="92">
                  <c:v>40709</c:v>
                </c:pt>
                <c:pt idx="93">
                  <c:v>40710</c:v>
                </c:pt>
                <c:pt idx="94">
                  <c:v>40711</c:v>
                </c:pt>
                <c:pt idx="95">
                  <c:v>40714</c:v>
                </c:pt>
                <c:pt idx="96">
                  <c:v>40715</c:v>
                </c:pt>
                <c:pt idx="97">
                  <c:v>40716</c:v>
                </c:pt>
                <c:pt idx="98">
                  <c:v>40717</c:v>
                </c:pt>
                <c:pt idx="99">
                  <c:v>40718</c:v>
                </c:pt>
                <c:pt idx="100">
                  <c:v>40721</c:v>
                </c:pt>
                <c:pt idx="101">
                  <c:v>40722</c:v>
                </c:pt>
                <c:pt idx="102">
                  <c:v>40723</c:v>
                </c:pt>
                <c:pt idx="103">
                  <c:v>40724</c:v>
                </c:pt>
                <c:pt idx="104">
                  <c:v>40725</c:v>
                </c:pt>
                <c:pt idx="105">
                  <c:v>40729</c:v>
                </c:pt>
                <c:pt idx="106">
                  <c:v>40730</c:v>
                </c:pt>
                <c:pt idx="107">
                  <c:v>40731</c:v>
                </c:pt>
                <c:pt idx="108">
                  <c:v>40732</c:v>
                </c:pt>
                <c:pt idx="109">
                  <c:v>40735</c:v>
                </c:pt>
                <c:pt idx="110">
                  <c:v>40736</c:v>
                </c:pt>
                <c:pt idx="111">
                  <c:v>40737</c:v>
                </c:pt>
                <c:pt idx="112">
                  <c:v>40738</c:v>
                </c:pt>
                <c:pt idx="113">
                  <c:v>40739</c:v>
                </c:pt>
                <c:pt idx="114">
                  <c:v>40742</c:v>
                </c:pt>
                <c:pt idx="115">
                  <c:v>40743</c:v>
                </c:pt>
                <c:pt idx="116">
                  <c:v>40744</c:v>
                </c:pt>
                <c:pt idx="117">
                  <c:v>40745</c:v>
                </c:pt>
                <c:pt idx="118">
                  <c:v>40746</c:v>
                </c:pt>
                <c:pt idx="119">
                  <c:v>40749</c:v>
                </c:pt>
                <c:pt idx="120">
                  <c:v>40750</c:v>
                </c:pt>
                <c:pt idx="121">
                  <c:v>40751</c:v>
                </c:pt>
                <c:pt idx="122">
                  <c:v>40752</c:v>
                </c:pt>
                <c:pt idx="123">
                  <c:v>40753</c:v>
                </c:pt>
                <c:pt idx="124">
                  <c:v>40756</c:v>
                </c:pt>
                <c:pt idx="125">
                  <c:v>40757</c:v>
                </c:pt>
                <c:pt idx="126">
                  <c:v>40758</c:v>
                </c:pt>
                <c:pt idx="127">
                  <c:v>40759</c:v>
                </c:pt>
                <c:pt idx="128">
                  <c:v>40760</c:v>
                </c:pt>
                <c:pt idx="129">
                  <c:v>40763</c:v>
                </c:pt>
                <c:pt idx="130">
                  <c:v>40764</c:v>
                </c:pt>
                <c:pt idx="131">
                  <c:v>40765</c:v>
                </c:pt>
                <c:pt idx="132">
                  <c:v>40766</c:v>
                </c:pt>
                <c:pt idx="133">
                  <c:v>40767</c:v>
                </c:pt>
                <c:pt idx="134">
                  <c:v>40770</c:v>
                </c:pt>
                <c:pt idx="135">
                  <c:v>40771</c:v>
                </c:pt>
                <c:pt idx="136">
                  <c:v>40772</c:v>
                </c:pt>
                <c:pt idx="137">
                  <c:v>40773</c:v>
                </c:pt>
                <c:pt idx="138">
                  <c:v>40774</c:v>
                </c:pt>
                <c:pt idx="139">
                  <c:v>40777</c:v>
                </c:pt>
                <c:pt idx="140">
                  <c:v>40778</c:v>
                </c:pt>
                <c:pt idx="141">
                  <c:v>40779</c:v>
                </c:pt>
                <c:pt idx="142">
                  <c:v>40780</c:v>
                </c:pt>
                <c:pt idx="143">
                  <c:v>40781</c:v>
                </c:pt>
                <c:pt idx="144">
                  <c:v>40784</c:v>
                </c:pt>
                <c:pt idx="145">
                  <c:v>40785</c:v>
                </c:pt>
                <c:pt idx="146">
                  <c:v>40786</c:v>
                </c:pt>
                <c:pt idx="147">
                  <c:v>40787</c:v>
                </c:pt>
                <c:pt idx="148">
                  <c:v>40788</c:v>
                </c:pt>
                <c:pt idx="149">
                  <c:v>40792</c:v>
                </c:pt>
                <c:pt idx="150">
                  <c:v>40793</c:v>
                </c:pt>
                <c:pt idx="151">
                  <c:v>40794</c:v>
                </c:pt>
                <c:pt idx="152">
                  <c:v>40795</c:v>
                </c:pt>
                <c:pt idx="153">
                  <c:v>40798</c:v>
                </c:pt>
                <c:pt idx="154">
                  <c:v>40799</c:v>
                </c:pt>
                <c:pt idx="155">
                  <c:v>40800</c:v>
                </c:pt>
                <c:pt idx="156">
                  <c:v>40801</c:v>
                </c:pt>
                <c:pt idx="157">
                  <c:v>40802</c:v>
                </c:pt>
                <c:pt idx="158">
                  <c:v>40805</c:v>
                </c:pt>
                <c:pt idx="159">
                  <c:v>40806</c:v>
                </c:pt>
                <c:pt idx="160">
                  <c:v>40807</c:v>
                </c:pt>
                <c:pt idx="161">
                  <c:v>40808</c:v>
                </c:pt>
                <c:pt idx="162">
                  <c:v>40809</c:v>
                </c:pt>
                <c:pt idx="163">
                  <c:v>40812</c:v>
                </c:pt>
                <c:pt idx="164">
                  <c:v>40813</c:v>
                </c:pt>
                <c:pt idx="165">
                  <c:v>40814</c:v>
                </c:pt>
                <c:pt idx="166">
                  <c:v>40815</c:v>
                </c:pt>
                <c:pt idx="167">
                  <c:v>40816</c:v>
                </c:pt>
                <c:pt idx="168">
                  <c:v>40819</c:v>
                </c:pt>
                <c:pt idx="169">
                  <c:v>40820</c:v>
                </c:pt>
                <c:pt idx="170">
                  <c:v>40821</c:v>
                </c:pt>
                <c:pt idx="171">
                  <c:v>40822</c:v>
                </c:pt>
                <c:pt idx="172">
                  <c:v>40823</c:v>
                </c:pt>
                <c:pt idx="173">
                  <c:v>40827</c:v>
                </c:pt>
                <c:pt idx="174">
                  <c:v>40828</c:v>
                </c:pt>
                <c:pt idx="175">
                  <c:v>40829</c:v>
                </c:pt>
                <c:pt idx="176">
                  <c:v>40830</c:v>
                </c:pt>
                <c:pt idx="177">
                  <c:v>40833</c:v>
                </c:pt>
                <c:pt idx="178">
                  <c:v>40834</c:v>
                </c:pt>
                <c:pt idx="179">
                  <c:v>40835</c:v>
                </c:pt>
                <c:pt idx="180">
                  <c:v>40836</c:v>
                </c:pt>
                <c:pt idx="181">
                  <c:v>40837</c:v>
                </c:pt>
                <c:pt idx="182">
                  <c:v>40840</c:v>
                </c:pt>
                <c:pt idx="183">
                  <c:v>40841</c:v>
                </c:pt>
                <c:pt idx="184">
                  <c:v>40842</c:v>
                </c:pt>
                <c:pt idx="185">
                  <c:v>40843</c:v>
                </c:pt>
                <c:pt idx="186">
                  <c:v>40844</c:v>
                </c:pt>
                <c:pt idx="187">
                  <c:v>40847</c:v>
                </c:pt>
                <c:pt idx="188">
                  <c:v>40848</c:v>
                </c:pt>
                <c:pt idx="189">
                  <c:v>40849</c:v>
                </c:pt>
                <c:pt idx="190">
                  <c:v>40850</c:v>
                </c:pt>
                <c:pt idx="191">
                  <c:v>40851</c:v>
                </c:pt>
                <c:pt idx="192">
                  <c:v>40854</c:v>
                </c:pt>
                <c:pt idx="193">
                  <c:v>40855</c:v>
                </c:pt>
                <c:pt idx="194">
                  <c:v>40856</c:v>
                </c:pt>
                <c:pt idx="195">
                  <c:v>40857</c:v>
                </c:pt>
                <c:pt idx="196">
                  <c:v>40861</c:v>
                </c:pt>
                <c:pt idx="197">
                  <c:v>40862</c:v>
                </c:pt>
                <c:pt idx="198">
                  <c:v>40863</c:v>
                </c:pt>
                <c:pt idx="199">
                  <c:v>40864</c:v>
                </c:pt>
                <c:pt idx="200">
                  <c:v>40865</c:v>
                </c:pt>
                <c:pt idx="201">
                  <c:v>40868</c:v>
                </c:pt>
                <c:pt idx="202">
                  <c:v>40869</c:v>
                </c:pt>
                <c:pt idx="203">
                  <c:v>40870</c:v>
                </c:pt>
                <c:pt idx="204">
                  <c:v>40872</c:v>
                </c:pt>
                <c:pt idx="205">
                  <c:v>40875</c:v>
                </c:pt>
                <c:pt idx="206">
                  <c:v>40876</c:v>
                </c:pt>
                <c:pt idx="207">
                  <c:v>40877</c:v>
                </c:pt>
                <c:pt idx="208">
                  <c:v>40878</c:v>
                </c:pt>
                <c:pt idx="209">
                  <c:v>40879</c:v>
                </c:pt>
                <c:pt idx="210">
                  <c:v>40882</c:v>
                </c:pt>
                <c:pt idx="211">
                  <c:v>40883</c:v>
                </c:pt>
                <c:pt idx="212">
                  <c:v>40884</c:v>
                </c:pt>
                <c:pt idx="213">
                  <c:v>40885</c:v>
                </c:pt>
                <c:pt idx="214">
                  <c:v>40886</c:v>
                </c:pt>
                <c:pt idx="215">
                  <c:v>40889</c:v>
                </c:pt>
                <c:pt idx="216">
                  <c:v>40890</c:v>
                </c:pt>
                <c:pt idx="217">
                  <c:v>40891</c:v>
                </c:pt>
                <c:pt idx="218">
                  <c:v>40892</c:v>
                </c:pt>
                <c:pt idx="219">
                  <c:v>40893</c:v>
                </c:pt>
                <c:pt idx="220">
                  <c:v>40896</c:v>
                </c:pt>
                <c:pt idx="221">
                  <c:v>40897</c:v>
                </c:pt>
                <c:pt idx="222">
                  <c:v>40898</c:v>
                </c:pt>
                <c:pt idx="223">
                  <c:v>40899</c:v>
                </c:pt>
                <c:pt idx="224">
                  <c:v>40900</c:v>
                </c:pt>
                <c:pt idx="225">
                  <c:v>40904</c:v>
                </c:pt>
                <c:pt idx="226">
                  <c:v>40905</c:v>
                </c:pt>
                <c:pt idx="227">
                  <c:v>40906</c:v>
                </c:pt>
                <c:pt idx="228">
                  <c:v>40907</c:v>
                </c:pt>
                <c:pt idx="229">
                  <c:v>40911</c:v>
                </c:pt>
                <c:pt idx="230">
                  <c:v>40912</c:v>
                </c:pt>
                <c:pt idx="231">
                  <c:v>40913</c:v>
                </c:pt>
                <c:pt idx="232">
                  <c:v>40914</c:v>
                </c:pt>
                <c:pt idx="233">
                  <c:v>40917</c:v>
                </c:pt>
                <c:pt idx="234">
                  <c:v>40918</c:v>
                </c:pt>
                <c:pt idx="235">
                  <c:v>40919</c:v>
                </c:pt>
                <c:pt idx="236">
                  <c:v>40920</c:v>
                </c:pt>
                <c:pt idx="237">
                  <c:v>40921</c:v>
                </c:pt>
                <c:pt idx="238">
                  <c:v>40925</c:v>
                </c:pt>
                <c:pt idx="239">
                  <c:v>40926</c:v>
                </c:pt>
                <c:pt idx="240">
                  <c:v>40927</c:v>
                </c:pt>
                <c:pt idx="241">
                  <c:v>40928</c:v>
                </c:pt>
                <c:pt idx="242">
                  <c:v>40931</c:v>
                </c:pt>
                <c:pt idx="243">
                  <c:v>40932</c:v>
                </c:pt>
                <c:pt idx="244">
                  <c:v>40933</c:v>
                </c:pt>
                <c:pt idx="245">
                  <c:v>40934</c:v>
                </c:pt>
                <c:pt idx="246">
                  <c:v>40935</c:v>
                </c:pt>
                <c:pt idx="247">
                  <c:v>40938</c:v>
                </c:pt>
                <c:pt idx="248">
                  <c:v>40939</c:v>
                </c:pt>
                <c:pt idx="249">
                  <c:v>40940</c:v>
                </c:pt>
                <c:pt idx="250">
                  <c:v>40941</c:v>
                </c:pt>
                <c:pt idx="251">
                  <c:v>40942</c:v>
                </c:pt>
                <c:pt idx="252">
                  <c:v>40945</c:v>
                </c:pt>
                <c:pt idx="253">
                  <c:v>40946</c:v>
                </c:pt>
                <c:pt idx="254">
                  <c:v>40947</c:v>
                </c:pt>
                <c:pt idx="255">
                  <c:v>40948</c:v>
                </c:pt>
                <c:pt idx="256">
                  <c:v>40949</c:v>
                </c:pt>
                <c:pt idx="257">
                  <c:v>40952</c:v>
                </c:pt>
                <c:pt idx="258">
                  <c:v>40953</c:v>
                </c:pt>
                <c:pt idx="259">
                  <c:v>40954</c:v>
                </c:pt>
                <c:pt idx="260">
                  <c:v>40955</c:v>
                </c:pt>
                <c:pt idx="261">
                  <c:v>40956</c:v>
                </c:pt>
                <c:pt idx="262">
                  <c:v>40960</c:v>
                </c:pt>
                <c:pt idx="263">
                  <c:v>40961</c:v>
                </c:pt>
                <c:pt idx="264">
                  <c:v>40962</c:v>
                </c:pt>
                <c:pt idx="265">
                  <c:v>40963</c:v>
                </c:pt>
                <c:pt idx="266">
                  <c:v>40966</c:v>
                </c:pt>
                <c:pt idx="267">
                  <c:v>40967</c:v>
                </c:pt>
                <c:pt idx="268">
                  <c:v>40968</c:v>
                </c:pt>
                <c:pt idx="269">
                  <c:v>40969</c:v>
                </c:pt>
                <c:pt idx="270">
                  <c:v>40970</c:v>
                </c:pt>
                <c:pt idx="271">
                  <c:v>40973</c:v>
                </c:pt>
                <c:pt idx="272">
                  <c:v>40974</c:v>
                </c:pt>
                <c:pt idx="273">
                  <c:v>40975</c:v>
                </c:pt>
                <c:pt idx="274">
                  <c:v>40976</c:v>
                </c:pt>
                <c:pt idx="275">
                  <c:v>40977</c:v>
                </c:pt>
                <c:pt idx="276">
                  <c:v>40980</c:v>
                </c:pt>
                <c:pt idx="277">
                  <c:v>40981</c:v>
                </c:pt>
                <c:pt idx="278">
                  <c:v>40982</c:v>
                </c:pt>
                <c:pt idx="279">
                  <c:v>40983</c:v>
                </c:pt>
                <c:pt idx="280">
                  <c:v>40984</c:v>
                </c:pt>
                <c:pt idx="281">
                  <c:v>40987</c:v>
                </c:pt>
                <c:pt idx="282">
                  <c:v>40988</c:v>
                </c:pt>
                <c:pt idx="283">
                  <c:v>40989</c:v>
                </c:pt>
                <c:pt idx="284">
                  <c:v>40990</c:v>
                </c:pt>
                <c:pt idx="285">
                  <c:v>40991</c:v>
                </c:pt>
                <c:pt idx="286">
                  <c:v>40994</c:v>
                </c:pt>
                <c:pt idx="287">
                  <c:v>40995</c:v>
                </c:pt>
                <c:pt idx="288">
                  <c:v>40996</c:v>
                </c:pt>
                <c:pt idx="289">
                  <c:v>40997</c:v>
                </c:pt>
                <c:pt idx="290">
                  <c:v>40998</c:v>
                </c:pt>
                <c:pt idx="291">
                  <c:v>41001</c:v>
                </c:pt>
                <c:pt idx="292">
                  <c:v>41002</c:v>
                </c:pt>
                <c:pt idx="293">
                  <c:v>41003</c:v>
                </c:pt>
                <c:pt idx="294">
                  <c:v>41004</c:v>
                </c:pt>
                <c:pt idx="295">
                  <c:v>41005</c:v>
                </c:pt>
                <c:pt idx="296">
                  <c:v>41008</c:v>
                </c:pt>
                <c:pt idx="297">
                  <c:v>41009</c:v>
                </c:pt>
                <c:pt idx="298">
                  <c:v>41010</c:v>
                </c:pt>
                <c:pt idx="299">
                  <c:v>41011</c:v>
                </c:pt>
                <c:pt idx="300">
                  <c:v>41012</c:v>
                </c:pt>
                <c:pt idx="301">
                  <c:v>41015</c:v>
                </c:pt>
                <c:pt idx="302">
                  <c:v>41016</c:v>
                </c:pt>
                <c:pt idx="303">
                  <c:v>41017</c:v>
                </c:pt>
                <c:pt idx="304">
                  <c:v>41018</c:v>
                </c:pt>
                <c:pt idx="305">
                  <c:v>41019</c:v>
                </c:pt>
                <c:pt idx="306">
                  <c:v>41022</c:v>
                </c:pt>
                <c:pt idx="307">
                  <c:v>41023</c:v>
                </c:pt>
                <c:pt idx="308">
                  <c:v>41024</c:v>
                </c:pt>
                <c:pt idx="309">
                  <c:v>41025</c:v>
                </c:pt>
                <c:pt idx="310">
                  <c:v>41026</c:v>
                </c:pt>
                <c:pt idx="311">
                  <c:v>41029</c:v>
                </c:pt>
                <c:pt idx="312">
                  <c:v>41030</c:v>
                </c:pt>
                <c:pt idx="313">
                  <c:v>41031</c:v>
                </c:pt>
                <c:pt idx="314">
                  <c:v>41032</c:v>
                </c:pt>
                <c:pt idx="315">
                  <c:v>41033</c:v>
                </c:pt>
                <c:pt idx="316">
                  <c:v>41036</c:v>
                </c:pt>
                <c:pt idx="317">
                  <c:v>41037</c:v>
                </c:pt>
                <c:pt idx="318">
                  <c:v>41038</c:v>
                </c:pt>
                <c:pt idx="319">
                  <c:v>41039</c:v>
                </c:pt>
                <c:pt idx="320">
                  <c:v>41040</c:v>
                </c:pt>
                <c:pt idx="321">
                  <c:v>41043</c:v>
                </c:pt>
                <c:pt idx="322">
                  <c:v>41044</c:v>
                </c:pt>
                <c:pt idx="323">
                  <c:v>41045</c:v>
                </c:pt>
                <c:pt idx="324">
                  <c:v>41046</c:v>
                </c:pt>
                <c:pt idx="325">
                  <c:v>41047</c:v>
                </c:pt>
                <c:pt idx="326">
                  <c:v>41050</c:v>
                </c:pt>
                <c:pt idx="327">
                  <c:v>41051</c:v>
                </c:pt>
                <c:pt idx="328">
                  <c:v>41052</c:v>
                </c:pt>
                <c:pt idx="329">
                  <c:v>41053</c:v>
                </c:pt>
                <c:pt idx="330">
                  <c:v>41054</c:v>
                </c:pt>
                <c:pt idx="331">
                  <c:v>41058</c:v>
                </c:pt>
                <c:pt idx="332">
                  <c:v>41059</c:v>
                </c:pt>
                <c:pt idx="333">
                  <c:v>41060</c:v>
                </c:pt>
                <c:pt idx="334">
                  <c:v>41061</c:v>
                </c:pt>
                <c:pt idx="335">
                  <c:v>41064</c:v>
                </c:pt>
                <c:pt idx="336">
                  <c:v>41065</c:v>
                </c:pt>
                <c:pt idx="337">
                  <c:v>41066</c:v>
                </c:pt>
                <c:pt idx="338">
                  <c:v>41067</c:v>
                </c:pt>
                <c:pt idx="339">
                  <c:v>41068</c:v>
                </c:pt>
                <c:pt idx="340">
                  <c:v>41071</c:v>
                </c:pt>
                <c:pt idx="341">
                  <c:v>41072</c:v>
                </c:pt>
                <c:pt idx="342">
                  <c:v>41073</c:v>
                </c:pt>
                <c:pt idx="343">
                  <c:v>41074</c:v>
                </c:pt>
                <c:pt idx="344">
                  <c:v>41075</c:v>
                </c:pt>
                <c:pt idx="345">
                  <c:v>41078</c:v>
                </c:pt>
                <c:pt idx="346">
                  <c:v>41079</c:v>
                </c:pt>
                <c:pt idx="347">
                  <c:v>41080</c:v>
                </c:pt>
                <c:pt idx="348">
                  <c:v>41081</c:v>
                </c:pt>
                <c:pt idx="349">
                  <c:v>41082</c:v>
                </c:pt>
                <c:pt idx="350">
                  <c:v>41085</c:v>
                </c:pt>
                <c:pt idx="351">
                  <c:v>41086</c:v>
                </c:pt>
                <c:pt idx="352">
                  <c:v>41087</c:v>
                </c:pt>
                <c:pt idx="353">
                  <c:v>41088</c:v>
                </c:pt>
                <c:pt idx="354">
                  <c:v>41089</c:v>
                </c:pt>
                <c:pt idx="355">
                  <c:v>41092</c:v>
                </c:pt>
                <c:pt idx="356">
                  <c:v>41093</c:v>
                </c:pt>
                <c:pt idx="357">
                  <c:v>41095</c:v>
                </c:pt>
                <c:pt idx="358">
                  <c:v>41096</c:v>
                </c:pt>
                <c:pt idx="359">
                  <c:v>41099</c:v>
                </c:pt>
                <c:pt idx="360">
                  <c:v>41100</c:v>
                </c:pt>
                <c:pt idx="361">
                  <c:v>41101</c:v>
                </c:pt>
                <c:pt idx="362">
                  <c:v>41102</c:v>
                </c:pt>
                <c:pt idx="363">
                  <c:v>41103</c:v>
                </c:pt>
                <c:pt idx="364">
                  <c:v>41106</c:v>
                </c:pt>
                <c:pt idx="365">
                  <c:v>41107</c:v>
                </c:pt>
                <c:pt idx="366">
                  <c:v>41108</c:v>
                </c:pt>
                <c:pt idx="367">
                  <c:v>41109</c:v>
                </c:pt>
                <c:pt idx="368">
                  <c:v>41110</c:v>
                </c:pt>
                <c:pt idx="369">
                  <c:v>41113</c:v>
                </c:pt>
                <c:pt idx="370">
                  <c:v>41114</c:v>
                </c:pt>
                <c:pt idx="371">
                  <c:v>41115</c:v>
                </c:pt>
                <c:pt idx="372">
                  <c:v>41116</c:v>
                </c:pt>
                <c:pt idx="373">
                  <c:v>41117</c:v>
                </c:pt>
                <c:pt idx="374">
                  <c:v>41120</c:v>
                </c:pt>
                <c:pt idx="375">
                  <c:v>41121</c:v>
                </c:pt>
                <c:pt idx="376">
                  <c:v>41122</c:v>
                </c:pt>
                <c:pt idx="377">
                  <c:v>41123</c:v>
                </c:pt>
                <c:pt idx="378">
                  <c:v>41124</c:v>
                </c:pt>
                <c:pt idx="379">
                  <c:v>41127</c:v>
                </c:pt>
                <c:pt idx="380">
                  <c:v>41128</c:v>
                </c:pt>
                <c:pt idx="381">
                  <c:v>41129</c:v>
                </c:pt>
                <c:pt idx="382">
                  <c:v>41130</c:v>
                </c:pt>
                <c:pt idx="383">
                  <c:v>41131</c:v>
                </c:pt>
                <c:pt idx="384">
                  <c:v>41134</c:v>
                </c:pt>
                <c:pt idx="385">
                  <c:v>41135</c:v>
                </c:pt>
                <c:pt idx="386">
                  <c:v>41136</c:v>
                </c:pt>
                <c:pt idx="387">
                  <c:v>41137</c:v>
                </c:pt>
                <c:pt idx="388">
                  <c:v>41138</c:v>
                </c:pt>
                <c:pt idx="389">
                  <c:v>41141</c:v>
                </c:pt>
                <c:pt idx="390">
                  <c:v>41142</c:v>
                </c:pt>
                <c:pt idx="391">
                  <c:v>41143</c:v>
                </c:pt>
                <c:pt idx="392">
                  <c:v>41144</c:v>
                </c:pt>
                <c:pt idx="393">
                  <c:v>41145</c:v>
                </c:pt>
                <c:pt idx="394">
                  <c:v>41148</c:v>
                </c:pt>
                <c:pt idx="395">
                  <c:v>41149</c:v>
                </c:pt>
                <c:pt idx="396">
                  <c:v>41150</c:v>
                </c:pt>
                <c:pt idx="397">
                  <c:v>41151</c:v>
                </c:pt>
                <c:pt idx="398">
                  <c:v>41152</c:v>
                </c:pt>
                <c:pt idx="399">
                  <c:v>41156</c:v>
                </c:pt>
                <c:pt idx="400">
                  <c:v>41157</c:v>
                </c:pt>
                <c:pt idx="401">
                  <c:v>41158</c:v>
                </c:pt>
                <c:pt idx="402">
                  <c:v>41159</c:v>
                </c:pt>
                <c:pt idx="403">
                  <c:v>41162</c:v>
                </c:pt>
                <c:pt idx="404">
                  <c:v>41163</c:v>
                </c:pt>
                <c:pt idx="405">
                  <c:v>41164</c:v>
                </c:pt>
                <c:pt idx="406">
                  <c:v>41165</c:v>
                </c:pt>
                <c:pt idx="407">
                  <c:v>41166</c:v>
                </c:pt>
                <c:pt idx="408">
                  <c:v>41169</c:v>
                </c:pt>
                <c:pt idx="409">
                  <c:v>41170</c:v>
                </c:pt>
                <c:pt idx="410">
                  <c:v>41171</c:v>
                </c:pt>
                <c:pt idx="411">
                  <c:v>41172</c:v>
                </c:pt>
                <c:pt idx="412">
                  <c:v>41173</c:v>
                </c:pt>
                <c:pt idx="413">
                  <c:v>41176</c:v>
                </c:pt>
                <c:pt idx="414">
                  <c:v>41177</c:v>
                </c:pt>
                <c:pt idx="415">
                  <c:v>41178</c:v>
                </c:pt>
                <c:pt idx="416">
                  <c:v>41179</c:v>
                </c:pt>
                <c:pt idx="417">
                  <c:v>41180</c:v>
                </c:pt>
                <c:pt idx="418">
                  <c:v>41183</c:v>
                </c:pt>
                <c:pt idx="419">
                  <c:v>41184</c:v>
                </c:pt>
                <c:pt idx="420">
                  <c:v>41185</c:v>
                </c:pt>
                <c:pt idx="421">
                  <c:v>41186</c:v>
                </c:pt>
                <c:pt idx="422">
                  <c:v>41187</c:v>
                </c:pt>
                <c:pt idx="423">
                  <c:v>41191</c:v>
                </c:pt>
                <c:pt idx="424">
                  <c:v>41192</c:v>
                </c:pt>
                <c:pt idx="425">
                  <c:v>41193</c:v>
                </c:pt>
                <c:pt idx="426">
                  <c:v>41194</c:v>
                </c:pt>
                <c:pt idx="427">
                  <c:v>41197</c:v>
                </c:pt>
                <c:pt idx="428">
                  <c:v>41198</c:v>
                </c:pt>
                <c:pt idx="429">
                  <c:v>41199</c:v>
                </c:pt>
                <c:pt idx="430">
                  <c:v>41200</c:v>
                </c:pt>
                <c:pt idx="431">
                  <c:v>41201</c:v>
                </c:pt>
                <c:pt idx="432">
                  <c:v>41204</c:v>
                </c:pt>
                <c:pt idx="433">
                  <c:v>41205</c:v>
                </c:pt>
                <c:pt idx="434">
                  <c:v>41206</c:v>
                </c:pt>
                <c:pt idx="435">
                  <c:v>41207</c:v>
                </c:pt>
                <c:pt idx="436">
                  <c:v>41208</c:v>
                </c:pt>
                <c:pt idx="437">
                  <c:v>41211</c:v>
                </c:pt>
                <c:pt idx="438">
                  <c:v>41213</c:v>
                </c:pt>
                <c:pt idx="439">
                  <c:v>41214</c:v>
                </c:pt>
                <c:pt idx="440">
                  <c:v>41215</c:v>
                </c:pt>
                <c:pt idx="441">
                  <c:v>41218</c:v>
                </c:pt>
                <c:pt idx="442">
                  <c:v>41219</c:v>
                </c:pt>
                <c:pt idx="443">
                  <c:v>41220</c:v>
                </c:pt>
                <c:pt idx="444">
                  <c:v>41221</c:v>
                </c:pt>
                <c:pt idx="445">
                  <c:v>41222</c:v>
                </c:pt>
                <c:pt idx="446">
                  <c:v>41226</c:v>
                </c:pt>
                <c:pt idx="447">
                  <c:v>41227</c:v>
                </c:pt>
                <c:pt idx="448">
                  <c:v>41228</c:v>
                </c:pt>
                <c:pt idx="449">
                  <c:v>41229</c:v>
                </c:pt>
                <c:pt idx="450">
                  <c:v>41232</c:v>
                </c:pt>
                <c:pt idx="451">
                  <c:v>41233</c:v>
                </c:pt>
                <c:pt idx="452">
                  <c:v>41234</c:v>
                </c:pt>
                <c:pt idx="453">
                  <c:v>41236</c:v>
                </c:pt>
                <c:pt idx="454">
                  <c:v>41239</c:v>
                </c:pt>
                <c:pt idx="455">
                  <c:v>41240</c:v>
                </c:pt>
                <c:pt idx="456">
                  <c:v>41241</c:v>
                </c:pt>
                <c:pt idx="457">
                  <c:v>41242</c:v>
                </c:pt>
                <c:pt idx="458">
                  <c:v>41243</c:v>
                </c:pt>
                <c:pt idx="459">
                  <c:v>41246</c:v>
                </c:pt>
                <c:pt idx="460">
                  <c:v>41247</c:v>
                </c:pt>
                <c:pt idx="461">
                  <c:v>41248</c:v>
                </c:pt>
                <c:pt idx="462">
                  <c:v>41249</c:v>
                </c:pt>
                <c:pt idx="463">
                  <c:v>41250</c:v>
                </c:pt>
                <c:pt idx="464">
                  <c:v>41253</c:v>
                </c:pt>
                <c:pt idx="465">
                  <c:v>41254</c:v>
                </c:pt>
                <c:pt idx="466">
                  <c:v>41255</c:v>
                </c:pt>
                <c:pt idx="467">
                  <c:v>41256</c:v>
                </c:pt>
                <c:pt idx="468">
                  <c:v>41257</c:v>
                </c:pt>
                <c:pt idx="469">
                  <c:v>41260</c:v>
                </c:pt>
                <c:pt idx="470">
                  <c:v>41261</c:v>
                </c:pt>
                <c:pt idx="471">
                  <c:v>41262</c:v>
                </c:pt>
                <c:pt idx="472">
                  <c:v>41263</c:v>
                </c:pt>
                <c:pt idx="473">
                  <c:v>41264</c:v>
                </c:pt>
                <c:pt idx="474">
                  <c:v>41267</c:v>
                </c:pt>
                <c:pt idx="475">
                  <c:v>41269</c:v>
                </c:pt>
                <c:pt idx="476">
                  <c:v>41270</c:v>
                </c:pt>
                <c:pt idx="477">
                  <c:v>41271</c:v>
                </c:pt>
                <c:pt idx="478">
                  <c:v>41274</c:v>
                </c:pt>
                <c:pt idx="479">
                  <c:v>41276</c:v>
                </c:pt>
                <c:pt idx="480">
                  <c:v>41277</c:v>
                </c:pt>
                <c:pt idx="481">
                  <c:v>41278</c:v>
                </c:pt>
                <c:pt idx="482">
                  <c:v>41281</c:v>
                </c:pt>
                <c:pt idx="483">
                  <c:v>41282</c:v>
                </c:pt>
                <c:pt idx="484">
                  <c:v>41283</c:v>
                </c:pt>
                <c:pt idx="485">
                  <c:v>41284</c:v>
                </c:pt>
                <c:pt idx="486">
                  <c:v>41285</c:v>
                </c:pt>
                <c:pt idx="487">
                  <c:v>41288</c:v>
                </c:pt>
                <c:pt idx="488">
                  <c:v>41289</c:v>
                </c:pt>
                <c:pt idx="489">
                  <c:v>41290</c:v>
                </c:pt>
                <c:pt idx="490">
                  <c:v>41291</c:v>
                </c:pt>
                <c:pt idx="491">
                  <c:v>41292</c:v>
                </c:pt>
                <c:pt idx="492">
                  <c:v>41296</c:v>
                </c:pt>
                <c:pt idx="493">
                  <c:v>41297</c:v>
                </c:pt>
                <c:pt idx="494">
                  <c:v>41298</c:v>
                </c:pt>
                <c:pt idx="495">
                  <c:v>41299</c:v>
                </c:pt>
                <c:pt idx="496">
                  <c:v>41302</c:v>
                </c:pt>
                <c:pt idx="497">
                  <c:v>41303</c:v>
                </c:pt>
                <c:pt idx="498">
                  <c:v>41304</c:v>
                </c:pt>
                <c:pt idx="499">
                  <c:v>41305</c:v>
                </c:pt>
                <c:pt idx="500">
                  <c:v>41306</c:v>
                </c:pt>
                <c:pt idx="501">
                  <c:v>41309</c:v>
                </c:pt>
                <c:pt idx="502">
                  <c:v>41310</c:v>
                </c:pt>
                <c:pt idx="503">
                  <c:v>41311</c:v>
                </c:pt>
                <c:pt idx="504">
                  <c:v>41312</c:v>
                </c:pt>
                <c:pt idx="505">
                  <c:v>41313</c:v>
                </c:pt>
                <c:pt idx="506">
                  <c:v>41316</c:v>
                </c:pt>
                <c:pt idx="507">
                  <c:v>41317</c:v>
                </c:pt>
                <c:pt idx="508">
                  <c:v>41318</c:v>
                </c:pt>
                <c:pt idx="509">
                  <c:v>41319</c:v>
                </c:pt>
                <c:pt idx="510">
                  <c:v>41320</c:v>
                </c:pt>
                <c:pt idx="511">
                  <c:v>41324</c:v>
                </c:pt>
                <c:pt idx="512">
                  <c:v>41325</c:v>
                </c:pt>
                <c:pt idx="513">
                  <c:v>41326</c:v>
                </c:pt>
                <c:pt idx="514">
                  <c:v>41327</c:v>
                </c:pt>
                <c:pt idx="515">
                  <c:v>41330</c:v>
                </c:pt>
                <c:pt idx="516">
                  <c:v>41331</c:v>
                </c:pt>
                <c:pt idx="517">
                  <c:v>41332</c:v>
                </c:pt>
                <c:pt idx="518">
                  <c:v>41333</c:v>
                </c:pt>
                <c:pt idx="519">
                  <c:v>41334</c:v>
                </c:pt>
                <c:pt idx="520">
                  <c:v>41337</c:v>
                </c:pt>
                <c:pt idx="521">
                  <c:v>41338</c:v>
                </c:pt>
                <c:pt idx="522">
                  <c:v>41339</c:v>
                </c:pt>
                <c:pt idx="523">
                  <c:v>41340</c:v>
                </c:pt>
                <c:pt idx="524">
                  <c:v>41341</c:v>
                </c:pt>
                <c:pt idx="525">
                  <c:v>41344</c:v>
                </c:pt>
                <c:pt idx="526">
                  <c:v>41345</c:v>
                </c:pt>
                <c:pt idx="527">
                  <c:v>41346</c:v>
                </c:pt>
                <c:pt idx="528">
                  <c:v>41347</c:v>
                </c:pt>
                <c:pt idx="529">
                  <c:v>41348</c:v>
                </c:pt>
                <c:pt idx="530">
                  <c:v>41351</c:v>
                </c:pt>
                <c:pt idx="531">
                  <c:v>41352</c:v>
                </c:pt>
                <c:pt idx="532">
                  <c:v>41353</c:v>
                </c:pt>
                <c:pt idx="533">
                  <c:v>41354</c:v>
                </c:pt>
                <c:pt idx="534">
                  <c:v>41355</c:v>
                </c:pt>
                <c:pt idx="535">
                  <c:v>41358</c:v>
                </c:pt>
                <c:pt idx="536">
                  <c:v>41359</c:v>
                </c:pt>
                <c:pt idx="537">
                  <c:v>41360</c:v>
                </c:pt>
                <c:pt idx="538">
                  <c:v>41361</c:v>
                </c:pt>
                <c:pt idx="539">
                  <c:v>41365</c:v>
                </c:pt>
                <c:pt idx="540">
                  <c:v>41366</c:v>
                </c:pt>
                <c:pt idx="541">
                  <c:v>41367</c:v>
                </c:pt>
                <c:pt idx="542">
                  <c:v>41368</c:v>
                </c:pt>
                <c:pt idx="543">
                  <c:v>41369</c:v>
                </c:pt>
                <c:pt idx="544">
                  <c:v>41372</c:v>
                </c:pt>
                <c:pt idx="545">
                  <c:v>41373</c:v>
                </c:pt>
                <c:pt idx="546">
                  <c:v>41374</c:v>
                </c:pt>
                <c:pt idx="547">
                  <c:v>41375</c:v>
                </c:pt>
                <c:pt idx="548">
                  <c:v>41376</c:v>
                </c:pt>
                <c:pt idx="549">
                  <c:v>41379</c:v>
                </c:pt>
                <c:pt idx="550">
                  <c:v>41380</c:v>
                </c:pt>
                <c:pt idx="551">
                  <c:v>41381</c:v>
                </c:pt>
                <c:pt idx="552">
                  <c:v>41382</c:v>
                </c:pt>
                <c:pt idx="553">
                  <c:v>41383</c:v>
                </c:pt>
                <c:pt idx="554">
                  <c:v>41386</c:v>
                </c:pt>
                <c:pt idx="555">
                  <c:v>41387</c:v>
                </c:pt>
                <c:pt idx="556">
                  <c:v>41388</c:v>
                </c:pt>
                <c:pt idx="557">
                  <c:v>41389</c:v>
                </c:pt>
                <c:pt idx="558">
                  <c:v>41390</c:v>
                </c:pt>
                <c:pt idx="559">
                  <c:v>41393</c:v>
                </c:pt>
                <c:pt idx="560">
                  <c:v>41394</c:v>
                </c:pt>
                <c:pt idx="561">
                  <c:v>41395</c:v>
                </c:pt>
                <c:pt idx="562">
                  <c:v>41396</c:v>
                </c:pt>
                <c:pt idx="563">
                  <c:v>41397</c:v>
                </c:pt>
                <c:pt idx="564">
                  <c:v>41400</c:v>
                </c:pt>
                <c:pt idx="565">
                  <c:v>41401</c:v>
                </c:pt>
                <c:pt idx="566">
                  <c:v>41402</c:v>
                </c:pt>
                <c:pt idx="567">
                  <c:v>41403</c:v>
                </c:pt>
                <c:pt idx="568">
                  <c:v>41404</c:v>
                </c:pt>
                <c:pt idx="569">
                  <c:v>41407</c:v>
                </c:pt>
                <c:pt idx="570">
                  <c:v>41408</c:v>
                </c:pt>
                <c:pt idx="571">
                  <c:v>41409</c:v>
                </c:pt>
                <c:pt idx="572">
                  <c:v>41410</c:v>
                </c:pt>
                <c:pt idx="573">
                  <c:v>41411</c:v>
                </c:pt>
                <c:pt idx="574">
                  <c:v>41414</c:v>
                </c:pt>
                <c:pt idx="575">
                  <c:v>41415</c:v>
                </c:pt>
                <c:pt idx="576">
                  <c:v>41416</c:v>
                </c:pt>
                <c:pt idx="577">
                  <c:v>41417</c:v>
                </c:pt>
                <c:pt idx="578">
                  <c:v>41418</c:v>
                </c:pt>
                <c:pt idx="579">
                  <c:v>41422</c:v>
                </c:pt>
                <c:pt idx="580">
                  <c:v>41423</c:v>
                </c:pt>
                <c:pt idx="581">
                  <c:v>41424</c:v>
                </c:pt>
                <c:pt idx="582">
                  <c:v>41425</c:v>
                </c:pt>
                <c:pt idx="583">
                  <c:v>41428</c:v>
                </c:pt>
                <c:pt idx="584">
                  <c:v>41429</c:v>
                </c:pt>
                <c:pt idx="585">
                  <c:v>41430</c:v>
                </c:pt>
                <c:pt idx="586">
                  <c:v>41431</c:v>
                </c:pt>
                <c:pt idx="587">
                  <c:v>41432</c:v>
                </c:pt>
                <c:pt idx="588">
                  <c:v>41435</c:v>
                </c:pt>
                <c:pt idx="589">
                  <c:v>41436</c:v>
                </c:pt>
                <c:pt idx="590">
                  <c:v>41437</c:v>
                </c:pt>
                <c:pt idx="591">
                  <c:v>41438</c:v>
                </c:pt>
                <c:pt idx="592">
                  <c:v>41439</c:v>
                </c:pt>
                <c:pt idx="593">
                  <c:v>41442</c:v>
                </c:pt>
                <c:pt idx="594">
                  <c:v>41443</c:v>
                </c:pt>
                <c:pt idx="595">
                  <c:v>41444</c:v>
                </c:pt>
                <c:pt idx="596">
                  <c:v>41445</c:v>
                </c:pt>
                <c:pt idx="597">
                  <c:v>41446</c:v>
                </c:pt>
                <c:pt idx="598">
                  <c:v>41449</c:v>
                </c:pt>
                <c:pt idx="599">
                  <c:v>41450</c:v>
                </c:pt>
                <c:pt idx="600">
                  <c:v>41451</c:v>
                </c:pt>
                <c:pt idx="601">
                  <c:v>41452</c:v>
                </c:pt>
                <c:pt idx="602">
                  <c:v>41453</c:v>
                </c:pt>
                <c:pt idx="603">
                  <c:v>41456</c:v>
                </c:pt>
                <c:pt idx="604">
                  <c:v>41457</c:v>
                </c:pt>
                <c:pt idx="605">
                  <c:v>41458</c:v>
                </c:pt>
                <c:pt idx="606">
                  <c:v>41460</c:v>
                </c:pt>
                <c:pt idx="607">
                  <c:v>41463</c:v>
                </c:pt>
                <c:pt idx="608">
                  <c:v>41464</c:v>
                </c:pt>
                <c:pt idx="609">
                  <c:v>41465</c:v>
                </c:pt>
                <c:pt idx="610">
                  <c:v>41466</c:v>
                </c:pt>
                <c:pt idx="611">
                  <c:v>41467</c:v>
                </c:pt>
                <c:pt idx="612">
                  <c:v>41470</c:v>
                </c:pt>
                <c:pt idx="613">
                  <c:v>41471</c:v>
                </c:pt>
                <c:pt idx="614">
                  <c:v>41472</c:v>
                </c:pt>
                <c:pt idx="615">
                  <c:v>41473</c:v>
                </c:pt>
                <c:pt idx="616">
                  <c:v>41474</c:v>
                </c:pt>
                <c:pt idx="617">
                  <c:v>41477</c:v>
                </c:pt>
                <c:pt idx="618">
                  <c:v>41478</c:v>
                </c:pt>
                <c:pt idx="619">
                  <c:v>41479</c:v>
                </c:pt>
                <c:pt idx="620">
                  <c:v>41480</c:v>
                </c:pt>
                <c:pt idx="621">
                  <c:v>41481</c:v>
                </c:pt>
                <c:pt idx="622">
                  <c:v>41484</c:v>
                </c:pt>
                <c:pt idx="623">
                  <c:v>41485</c:v>
                </c:pt>
                <c:pt idx="624">
                  <c:v>41486</c:v>
                </c:pt>
                <c:pt idx="625">
                  <c:v>41487</c:v>
                </c:pt>
                <c:pt idx="626">
                  <c:v>41488</c:v>
                </c:pt>
                <c:pt idx="627">
                  <c:v>41491</c:v>
                </c:pt>
                <c:pt idx="628">
                  <c:v>41492</c:v>
                </c:pt>
                <c:pt idx="629">
                  <c:v>41493</c:v>
                </c:pt>
                <c:pt idx="630">
                  <c:v>41494</c:v>
                </c:pt>
                <c:pt idx="631">
                  <c:v>41495</c:v>
                </c:pt>
                <c:pt idx="632">
                  <c:v>41498</c:v>
                </c:pt>
                <c:pt idx="633">
                  <c:v>41499</c:v>
                </c:pt>
                <c:pt idx="634">
                  <c:v>41500</c:v>
                </c:pt>
                <c:pt idx="635">
                  <c:v>41501</c:v>
                </c:pt>
                <c:pt idx="636">
                  <c:v>41502</c:v>
                </c:pt>
                <c:pt idx="637">
                  <c:v>41505</c:v>
                </c:pt>
                <c:pt idx="638">
                  <c:v>41506</c:v>
                </c:pt>
                <c:pt idx="639">
                  <c:v>41507</c:v>
                </c:pt>
                <c:pt idx="640">
                  <c:v>41508</c:v>
                </c:pt>
                <c:pt idx="641">
                  <c:v>41509</c:v>
                </c:pt>
                <c:pt idx="642">
                  <c:v>41512</c:v>
                </c:pt>
                <c:pt idx="643">
                  <c:v>41513</c:v>
                </c:pt>
                <c:pt idx="644">
                  <c:v>41514</c:v>
                </c:pt>
                <c:pt idx="645">
                  <c:v>41515</c:v>
                </c:pt>
                <c:pt idx="646">
                  <c:v>41516</c:v>
                </c:pt>
                <c:pt idx="647">
                  <c:v>41520</c:v>
                </c:pt>
                <c:pt idx="648">
                  <c:v>41521</c:v>
                </c:pt>
                <c:pt idx="649">
                  <c:v>41522</c:v>
                </c:pt>
                <c:pt idx="650">
                  <c:v>41523</c:v>
                </c:pt>
                <c:pt idx="651">
                  <c:v>41526</c:v>
                </c:pt>
                <c:pt idx="652">
                  <c:v>41527</c:v>
                </c:pt>
                <c:pt idx="653">
                  <c:v>41528</c:v>
                </c:pt>
                <c:pt idx="654">
                  <c:v>41529</c:v>
                </c:pt>
                <c:pt idx="655">
                  <c:v>41530</c:v>
                </c:pt>
                <c:pt idx="656">
                  <c:v>41533</c:v>
                </c:pt>
                <c:pt idx="657">
                  <c:v>41534</c:v>
                </c:pt>
                <c:pt idx="658">
                  <c:v>41535</c:v>
                </c:pt>
                <c:pt idx="659">
                  <c:v>41536</c:v>
                </c:pt>
                <c:pt idx="660">
                  <c:v>41537</c:v>
                </c:pt>
                <c:pt idx="661">
                  <c:v>41540</c:v>
                </c:pt>
                <c:pt idx="662">
                  <c:v>41541</c:v>
                </c:pt>
                <c:pt idx="663">
                  <c:v>41542</c:v>
                </c:pt>
                <c:pt idx="664">
                  <c:v>41543</c:v>
                </c:pt>
                <c:pt idx="665">
                  <c:v>41544</c:v>
                </c:pt>
                <c:pt idx="666">
                  <c:v>41547</c:v>
                </c:pt>
                <c:pt idx="667">
                  <c:v>41548</c:v>
                </c:pt>
                <c:pt idx="668">
                  <c:v>41549</c:v>
                </c:pt>
                <c:pt idx="669">
                  <c:v>41550</c:v>
                </c:pt>
                <c:pt idx="670">
                  <c:v>41551</c:v>
                </c:pt>
                <c:pt idx="671">
                  <c:v>41554</c:v>
                </c:pt>
                <c:pt idx="672">
                  <c:v>41555</c:v>
                </c:pt>
                <c:pt idx="673">
                  <c:v>41556</c:v>
                </c:pt>
                <c:pt idx="674">
                  <c:v>41557</c:v>
                </c:pt>
                <c:pt idx="675">
                  <c:v>41558</c:v>
                </c:pt>
                <c:pt idx="676">
                  <c:v>41562</c:v>
                </c:pt>
                <c:pt idx="677">
                  <c:v>41563</c:v>
                </c:pt>
                <c:pt idx="678">
                  <c:v>41564</c:v>
                </c:pt>
                <c:pt idx="679">
                  <c:v>41565</c:v>
                </c:pt>
                <c:pt idx="680">
                  <c:v>41568</c:v>
                </c:pt>
                <c:pt idx="681">
                  <c:v>41569</c:v>
                </c:pt>
                <c:pt idx="682">
                  <c:v>41570</c:v>
                </c:pt>
                <c:pt idx="683">
                  <c:v>41571</c:v>
                </c:pt>
                <c:pt idx="684">
                  <c:v>41575</c:v>
                </c:pt>
                <c:pt idx="685">
                  <c:v>41576</c:v>
                </c:pt>
                <c:pt idx="686">
                  <c:v>41577</c:v>
                </c:pt>
                <c:pt idx="687">
                  <c:v>41578</c:v>
                </c:pt>
                <c:pt idx="688">
                  <c:v>41579</c:v>
                </c:pt>
                <c:pt idx="689">
                  <c:v>41582</c:v>
                </c:pt>
                <c:pt idx="690">
                  <c:v>41583</c:v>
                </c:pt>
                <c:pt idx="691">
                  <c:v>41584</c:v>
                </c:pt>
                <c:pt idx="692">
                  <c:v>41585</c:v>
                </c:pt>
                <c:pt idx="693">
                  <c:v>41586</c:v>
                </c:pt>
                <c:pt idx="694">
                  <c:v>41590</c:v>
                </c:pt>
                <c:pt idx="695">
                  <c:v>41591</c:v>
                </c:pt>
                <c:pt idx="696">
                  <c:v>41592</c:v>
                </c:pt>
                <c:pt idx="697">
                  <c:v>41593</c:v>
                </c:pt>
                <c:pt idx="698">
                  <c:v>41596</c:v>
                </c:pt>
                <c:pt idx="699">
                  <c:v>41597</c:v>
                </c:pt>
                <c:pt idx="700">
                  <c:v>41598</c:v>
                </c:pt>
                <c:pt idx="701">
                  <c:v>41599</c:v>
                </c:pt>
                <c:pt idx="702">
                  <c:v>41600</c:v>
                </c:pt>
                <c:pt idx="703">
                  <c:v>41603</c:v>
                </c:pt>
                <c:pt idx="704">
                  <c:v>41604</c:v>
                </c:pt>
                <c:pt idx="705">
                  <c:v>41605</c:v>
                </c:pt>
                <c:pt idx="706">
                  <c:v>41607</c:v>
                </c:pt>
                <c:pt idx="707">
                  <c:v>41610</c:v>
                </c:pt>
                <c:pt idx="708">
                  <c:v>41611</c:v>
                </c:pt>
                <c:pt idx="709">
                  <c:v>41612</c:v>
                </c:pt>
                <c:pt idx="710">
                  <c:v>41613</c:v>
                </c:pt>
                <c:pt idx="711">
                  <c:v>41614</c:v>
                </c:pt>
                <c:pt idx="712">
                  <c:v>41617</c:v>
                </c:pt>
                <c:pt idx="713">
                  <c:v>41618</c:v>
                </c:pt>
                <c:pt idx="714">
                  <c:v>41619</c:v>
                </c:pt>
                <c:pt idx="715">
                  <c:v>41620</c:v>
                </c:pt>
                <c:pt idx="716">
                  <c:v>41621</c:v>
                </c:pt>
                <c:pt idx="717">
                  <c:v>41624</c:v>
                </c:pt>
                <c:pt idx="718">
                  <c:v>41625</c:v>
                </c:pt>
                <c:pt idx="719">
                  <c:v>41626</c:v>
                </c:pt>
                <c:pt idx="720">
                  <c:v>41627</c:v>
                </c:pt>
                <c:pt idx="721">
                  <c:v>41628</c:v>
                </c:pt>
                <c:pt idx="722">
                  <c:v>41631</c:v>
                </c:pt>
                <c:pt idx="723">
                  <c:v>41632</c:v>
                </c:pt>
                <c:pt idx="724">
                  <c:v>41634</c:v>
                </c:pt>
                <c:pt idx="725">
                  <c:v>41635</c:v>
                </c:pt>
                <c:pt idx="726">
                  <c:v>41638</c:v>
                </c:pt>
                <c:pt idx="727">
                  <c:v>41639</c:v>
                </c:pt>
                <c:pt idx="728">
                  <c:v>41641</c:v>
                </c:pt>
                <c:pt idx="729">
                  <c:v>41642</c:v>
                </c:pt>
                <c:pt idx="730">
                  <c:v>41645</c:v>
                </c:pt>
                <c:pt idx="731">
                  <c:v>41646</c:v>
                </c:pt>
                <c:pt idx="732">
                  <c:v>41647</c:v>
                </c:pt>
                <c:pt idx="733">
                  <c:v>41648</c:v>
                </c:pt>
                <c:pt idx="734">
                  <c:v>41649</c:v>
                </c:pt>
                <c:pt idx="735">
                  <c:v>41652</c:v>
                </c:pt>
                <c:pt idx="736">
                  <c:v>41653</c:v>
                </c:pt>
                <c:pt idx="737">
                  <c:v>41654</c:v>
                </c:pt>
                <c:pt idx="738">
                  <c:v>41655</c:v>
                </c:pt>
                <c:pt idx="739">
                  <c:v>41656</c:v>
                </c:pt>
                <c:pt idx="740">
                  <c:v>41660</c:v>
                </c:pt>
                <c:pt idx="741">
                  <c:v>41661</c:v>
                </c:pt>
                <c:pt idx="742">
                  <c:v>41662</c:v>
                </c:pt>
                <c:pt idx="743">
                  <c:v>41663</c:v>
                </c:pt>
                <c:pt idx="744">
                  <c:v>41666</c:v>
                </c:pt>
                <c:pt idx="745">
                  <c:v>41667</c:v>
                </c:pt>
                <c:pt idx="746">
                  <c:v>41668</c:v>
                </c:pt>
                <c:pt idx="747">
                  <c:v>41669</c:v>
                </c:pt>
                <c:pt idx="748">
                  <c:v>41670</c:v>
                </c:pt>
                <c:pt idx="749">
                  <c:v>41673</c:v>
                </c:pt>
                <c:pt idx="750">
                  <c:v>41674</c:v>
                </c:pt>
                <c:pt idx="751">
                  <c:v>41675</c:v>
                </c:pt>
                <c:pt idx="752">
                  <c:v>41676</c:v>
                </c:pt>
                <c:pt idx="753">
                  <c:v>41677</c:v>
                </c:pt>
                <c:pt idx="754">
                  <c:v>41680</c:v>
                </c:pt>
                <c:pt idx="755">
                  <c:v>41681</c:v>
                </c:pt>
                <c:pt idx="756">
                  <c:v>41682</c:v>
                </c:pt>
                <c:pt idx="757">
                  <c:v>41683</c:v>
                </c:pt>
                <c:pt idx="758">
                  <c:v>41684</c:v>
                </c:pt>
                <c:pt idx="759">
                  <c:v>41688</c:v>
                </c:pt>
                <c:pt idx="760">
                  <c:v>41689</c:v>
                </c:pt>
                <c:pt idx="761">
                  <c:v>41690</c:v>
                </c:pt>
                <c:pt idx="762">
                  <c:v>41691</c:v>
                </c:pt>
                <c:pt idx="763">
                  <c:v>41694</c:v>
                </c:pt>
                <c:pt idx="764">
                  <c:v>41695</c:v>
                </c:pt>
                <c:pt idx="765">
                  <c:v>41696</c:v>
                </c:pt>
                <c:pt idx="766">
                  <c:v>41697</c:v>
                </c:pt>
                <c:pt idx="767">
                  <c:v>41698</c:v>
                </c:pt>
                <c:pt idx="768">
                  <c:v>41701</c:v>
                </c:pt>
                <c:pt idx="769">
                  <c:v>41702</c:v>
                </c:pt>
                <c:pt idx="770">
                  <c:v>41703</c:v>
                </c:pt>
                <c:pt idx="771">
                  <c:v>41704</c:v>
                </c:pt>
                <c:pt idx="772">
                  <c:v>41705</c:v>
                </c:pt>
                <c:pt idx="773">
                  <c:v>41708</c:v>
                </c:pt>
                <c:pt idx="774">
                  <c:v>41709</c:v>
                </c:pt>
                <c:pt idx="775">
                  <c:v>41710</c:v>
                </c:pt>
                <c:pt idx="776">
                  <c:v>41711</c:v>
                </c:pt>
                <c:pt idx="777">
                  <c:v>41712</c:v>
                </c:pt>
                <c:pt idx="778">
                  <c:v>41715</c:v>
                </c:pt>
                <c:pt idx="779">
                  <c:v>41716</c:v>
                </c:pt>
                <c:pt idx="780">
                  <c:v>41717</c:v>
                </c:pt>
                <c:pt idx="781">
                  <c:v>41718</c:v>
                </c:pt>
                <c:pt idx="782">
                  <c:v>41719</c:v>
                </c:pt>
                <c:pt idx="783">
                  <c:v>41722</c:v>
                </c:pt>
                <c:pt idx="784">
                  <c:v>41723</c:v>
                </c:pt>
                <c:pt idx="785">
                  <c:v>41724</c:v>
                </c:pt>
                <c:pt idx="786">
                  <c:v>41725</c:v>
                </c:pt>
                <c:pt idx="787">
                  <c:v>41726</c:v>
                </c:pt>
                <c:pt idx="788">
                  <c:v>41729</c:v>
                </c:pt>
                <c:pt idx="789">
                  <c:v>41730</c:v>
                </c:pt>
                <c:pt idx="790">
                  <c:v>41731</c:v>
                </c:pt>
                <c:pt idx="791">
                  <c:v>41732</c:v>
                </c:pt>
                <c:pt idx="792">
                  <c:v>41733</c:v>
                </c:pt>
                <c:pt idx="793">
                  <c:v>41736</c:v>
                </c:pt>
                <c:pt idx="794">
                  <c:v>41737</c:v>
                </c:pt>
                <c:pt idx="795">
                  <c:v>41738</c:v>
                </c:pt>
                <c:pt idx="796">
                  <c:v>41739</c:v>
                </c:pt>
                <c:pt idx="797">
                  <c:v>41740</c:v>
                </c:pt>
                <c:pt idx="798">
                  <c:v>41743</c:v>
                </c:pt>
                <c:pt idx="799">
                  <c:v>41744</c:v>
                </c:pt>
                <c:pt idx="800">
                  <c:v>41745</c:v>
                </c:pt>
                <c:pt idx="801">
                  <c:v>41746</c:v>
                </c:pt>
                <c:pt idx="802">
                  <c:v>41750</c:v>
                </c:pt>
                <c:pt idx="803">
                  <c:v>41751</c:v>
                </c:pt>
                <c:pt idx="804">
                  <c:v>41752</c:v>
                </c:pt>
                <c:pt idx="805">
                  <c:v>41753</c:v>
                </c:pt>
                <c:pt idx="806">
                  <c:v>41759</c:v>
                </c:pt>
                <c:pt idx="807">
                  <c:v>41760</c:v>
                </c:pt>
                <c:pt idx="808">
                  <c:v>41761</c:v>
                </c:pt>
                <c:pt idx="809">
                  <c:v>41764</c:v>
                </c:pt>
                <c:pt idx="810">
                  <c:v>41765</c:v>
                </c:pt>
                <c:pt idx="811">
                  <c:v>41766</c:v>
                </c:pt>
                <c:pt idx="812">
                  <c:v>41767</c:v>
                </c:pt>
                <c:pt idx="813">
                  <c:v>41768</c:v>
                </c:pt>
                <c:pt idx="814">
                  <c:v>41771</c:v>
                </c:pt>
                <c:pt idx="815">
                  <c:v>41772</c:v>
                </c:pt>
                <c:pt idx="816">
                  <c:v>41773</c:v>
                </c:pt>
                <c:pt idx="817">
                  <c:v>41774</c:v>
                </c:pt>
                <c:pt idx="818">
                  <c:v>41775</c:v>
                </c:pt>
                <c:pt idx="819">
                  <c:v>41778</c:v>
                </c:pt>
                <c:pt idx="820">
                  <c:v>41779</c:v>
                </c:pt>
                <c:pt idx="821">
                  <c:v>41780</c:v>
                </c:pt>
                <c:pt idx="822">
                  <c:v>41781</c:v>
                </c:pt>
                <c:pt idx="823">
                  <c:v>41782</c:v>
                </c:pt>
                <c:pt idx="824">
                  <c:v>41786</c:v>
                </c:pt>
                <c:pt idx="825">
                  <c:v>41787</c:v>
                </c:pt>
                <c:pt idx="826">
                  <c:v>41788</c:v>
                </c:pt>
                <c:pt idx="827">
                  <c:v>41789</c:v>
                </c:pt>
                <c:pt idx="828">
                  <c:v>41792</c:v>
                </c:pt>
                <c:pt idx="829">
                  <c:v>41793</c:v>
                </c:pt>
                <c:pt idx="830">
                  <c:v>41794</c:v>
                </c:pt>
                <c:pt idx="831">
                  <c:v>41795</c:v>
                </c:pt>
                <c:pt idx="832">
                  <c:v>41796</c:v>
                </c:pt>
                <c:pt idx="833">
                  <c:v>41799</c:v>
                </c:pt>
                <c:pt idx="834">
                  <c:v>41800</c:v>
                </c:pt>
                <c:pt idx="835">
                  <c:v>41801</c:v>
                </c:pt>
                <c:pt idx="836">
                  <c:v>41802</c:v>
                </c:pt>
                <c:pt idx="837">
                  <c:v>41803</c:v>
                </c:pt>
                <c:pt idx="838">
                  <c:v>41806</c:v>
                </c:pt>
                <c:pt idx="839">
                  <c:v>41807</c:v>
                </c:pt>
                <c:pt idx="840">
                  <c:v>41808</c:v>
                </c:pt>
                <c:pt idx="841">
                  <c:v>41809</c:v>
                </c:pt>
                <c:pt idx="842">
                  <c:v>41810</c:v>
                </c:pt>
                <c:pt idx="843">
                  <c:v>41813</c:v>
                </c:pt>
                <c:pt idx="844">
                  <c:v>41814</c:v>
                </c:pt>
                <c:pt idx="845">
                  <c:v>41815</c:v>
                </c:pt>
                <c:pt idx="846">
                  <c:v>41816</c:v>
                </c:pt>
                <c:pt idx="847">
                  <c:v>41817</c:v>
                </c:pt>
                <c:pt idx="848">
                  <c:v>41820</c:v>
                </c:pt>
                <c:pt idx="849">
                  <c:v>41821</c:v>
                </c:pt>
                <c:pt idx="850">
                  <c:v>41822</c:v>
                </c:pt>
                <c:pt idx="851">
                  <c:v>41823</c:v>
                </c:pt>
                <c:pt idx="852">
                  <c:v>41827</c:v>
                </c:pt>
                <c:pt idx="853">
                  <c:v>41828</c:v>
                </c:pt>
                <c:pt idx="854">
                  <c:v>41829</c:v>
                </c:pt>
                <c:pt idx="855">
                  <c:v>41830</c:v>
                </c:pt>
                <c:pt idx="856">
                  <c:v>41831</c:v>
                </c:pt>
                <c:pt idx="857">
                  <c:v>41834</c:v>
                </c:pt>
                <c:pt idx="858">
                  <c:v>41835</c:v>
                </c:pt>
                <c:pt idx="859">
                  <c:v>41836</c:v>
                </c:pt>
                <c:pt idx="860">
                  <c:v>41837</c:v>
                </c:pt>
                <c:pt idx="861">
                  <c:v>41838</c:v>
                </c:pt>
                <c:pt idx="862">
                  <c:v>41841</c:v>
                </c:pt>
                <c:pt idx="863">
                  <c:v>41842</c:v>
                </c:pt>
                <c:pt idx="864">
                  <c:v>41843</c:v>
                </c:pt>
                <c:pt idx="865">
                  <c:v>41844</c:v>
                </c:pt>
                <c:pt idx="866">
                  <c:v>41845</c:v>
                </c:pt>
                <c:pt idx="867">
                  <c:v>41848</c:v>
                </c:pt>
                <c:pt idx="868">
                  <c:v>41849</c:v>
                </c:pt>
                <c:pt idx="869">
                  <c:v>41850</c:v>
                </c:pt>
                <c:pt idx="870">
                  <c:v>41852</c:v>
                </c:pt>
                <c:pt idx="871">
                  <c:v>41855</c:v>
                </c:pt>
                <c:pt idx="872">
                  <c:v>41856</c:v>
                </c:pt>
                <c:pt idx="873">
                  <c:v>41857</c:v>
                </c:pt>
                <c:pt idx="874">
                  <c:v>41858</c:v>
                </c:pt>
                <c:pt idx="875">
                  <c:v>41859</c:v>
                </c:pt>
                <c:pt idx="876">
                  <c:v>41862</c:v>
                </c:pt>
                <c:pt idx="877">
                  <c:v>41863</c:v>
                </c:pt>
                <c:pt idx="878">
                  <c:v>41864</c:v>
                </c:pt>
                <c:pt idx="879">
                  <c:v>41865</c:v>
                </c:pt>
                <c:pt idx="880">
                  <c:v>41866</c:v>
                </c:pt>
                <c:pt idx="881">
                  <c:v>41869</c:v>
                </c:pt>
                <c:pt idx="882">
                  <c:v>41870</c:v>
                </c:pt>
                <c:pt idx="883">
                  <c:v>41871</c:v>
                </c:pt>
                <c:pt idx="884">
                  <c:v>41872</c:v>
                </c:pt>
                <c:pt idx="885">
                  <c:v>41873</c:v>
                </c:pt>
                <c:pt idx="886">
                  <c:v>41876</c:v>
                </c:pt>
                <c:pt idx="887">
                  <c:v>41877</c:v>
                </c:pt>
                <c:pt idx="888">
                  <c:v>41878</c:v>
                </c:pt>
                <c:pt idx="889">
                  <c:v>41879</c:v>
                </c:pt>
                <c:pt idx="890">
                  <c:v>41880</c:v>
                </c:pt>
                <c:pt idx="891">
                  <c:v>41884</c:v>
                </c:pt>
                <c:pt idx="892">
                  <c:v>41885</c:v>
                </c:pt>
                <c:pt idx="893">
                  <c:v>41886</c:v>
                </c:pt>
                <c:pt idx="894">
                  <c:v>41887</c:v>
                </c:pt>
                <c:pt idx="895">
                  <c:v>41890</c:v>
                </c:pt>
                <c:pt idx="896">
                  <c:v>41891</c:v>
                </c:pt>
                <c:pt idx="897">
                  <c:v>41892</c:v>
                </c:pt>
                <c:pt idx="898">
                  <c:v>41893</c:v>
                </c:pt>
                <c:pt idx="899">
                  <c:v>41894</c:v>
                </c:pt>
                <c:pt idx="900">
                  <c:v>41897</c:v>
                </c:pt>
                <c:pt idx="901">
                  <c:v>41898</c:v>
                </c:pt>
                <c:pt idx="902">
                  <c:v>41899</c:v>
                </c:pt>
                <c:pt idx="903">
                  <c:v>41900</c:v>
                </c:pt>
                <c:pt idx="904">
                  <c:v>41901</c:v>
                </c:pt>
                <c:pt idx="905">
                  <c:v>41904</c:v>
                </c:pt>
                <c:pt idx="906">
                  <c:v>41905</c:v>
                </c:pt>
                <c:pt idx="907">
                  <c:v>41906</c:v>
                </c:pt>
                <c:pt idx="908">
                  <c:v>41907</c:v>
                </c:pt>
                <c:pt idx="909">
                  <c:v>41908</c:v>
                </c:pt>
                <c:pt idx="910">
                  <c:v>41911</c:v>
                </c:pt>
                <c:pt idx="911">
                  <c:v>41912</c:v>
                </c:pt>
                <c:pt idx="912">
                  <c:v>41913</c:v>
                </c:pt>
                <c:pt idx="913">
                  <c:v>41914</c:v>
                </c:pt>
                <c:pt idx="914">
                  <c:v>41915</c:v>
                </c:pt>
                <c:pt idx="915">
                  <c:v>41918</c:v>
                </c:pt>
                <c:pt idx="916">
                  <c:v>41919</c:v>
                </c:pt>
                <c:pt idx="917">
                  <c:v>41920</c:v>
                </c:pt>
                <c:pt idx="918">
                  <c:v>41921</c:v>
                </c:pt>
                <c:pt idx="919">
                  <c:v>41922</c:v>
                </c:pt>
                <c:pt idx="920">
                  <c:v>41926</c:v>
                </c:pt>
                <c:pt idx="921">
                  <c:v>41927</c:v>
                </c:pt>
                <c:pt idx="922">
                  <c:v>41928</c:v>
                </c:pt>
                <c:pt idx="923">
                  <c:v>41929</c:v>
                </c:pt>
                <c:pt idx="924">
                  <c:v>41932</c:v>
                </c:pt>
                <c:pt idx="925">
                  <c:v>41933</c:v>
                </c:pt>
                <c:pt idx="926">
                  <c:v>41934</c:v>
                </c:pt>
                <c:pt idx="927">
                  <c:v>41935</c:v>
                </c:pt>
                <c:pt idx="928">
                  <c:v>41936</c:v>
                </c:pt>
                <c:pt idx="929">
                  <c:v>41939</c:v>
                </c:pt>
                <c:pt idx="930">
                  <c:v>41940</c:v>
                </c:pt>
                <c:pt idx="931">
                  <c:v>41941</c:v>
                </c:pt>
                <c:pt idx="932">
                  <c:v>41942</c:v>
                </c:pt>
                <c:pt idx="933">
                  <c:v>41943</c:v>
                </c:pt>
                <c:pt idx="934">
                  <c:v>41946</c:v>
                </c:pt>
                <c:pt idx="935">
                  <c:v>41947</c:v>
                </c:pt>
                <c:pt idx="936">
                  <c:v>41948</c:v>
                </c:pt>
                <c:pt idx="937">
                  <c:v>41949</c:v>
                </c:pt>
                <c:pt idx="938">
                  <c:v>41950</c:v>
                </c:pt>
                <c:pt idx="939">
                  <c:v>41953</c:v>
                </c:pt>
                <c:pt idx="940">
                  <c:v>41955</c:v>
                </c:pt>
                <c:pt idx="941">
                  <c:v>41956</c:v>
                </c:pt>
                <c:pt idx="942">
                  <c:v>41957</c:v>
                </c:pt>
                <c:pt idx="943">
                  <c:v>41960</c:v>
                </c:pt>
                <c:pt idx="944">
                  <c:v>41961</c:v>
                </c:pt>
                <c:pt idx="945">
                  <c:v>41962</c:v>
                </c:pt>
                <c:pt idx="946">
                  <c:v>41963</c:v>
                </c:pt>
                <c:pt idx="947">
                  <c:v>41964</c:v>
                </c:pt>
                <c:pt idx="948">
                  <c:v>41967</c:v>
                </c:pt>
                <c:pt idx="949">
                  <c:v>41968</c:v>
                </c:pt>
                <c:pt idx="950">
                  <c:v>41969</c:v>
                </c:pt>
                <c:pt idx="951">
                  <c:v>41971</c:v>
                </c:pt>
                <c:pt idx="952">
                  <c:v>41974</c:v>
                </c:pt>
                <c:pt idx="953">
                  <c:v>41975</c:v>
                </c:pt>
                <c:pt idx="954">
                  <c:v>41976</c:v>
                </c:pt>
                <c:pt idx="955">
                  <c:v>41977</c:v>
                </c:pt>
                <c:pt idx="956">
                  <c:v>41978</c:v>
                </c:pt>
                <c:pt idx="957">
                  <c:v>41981</c:v>
                </c:pt>
                <c:pt idx="958">
                  <c:v>41982</c:v>
                </c:pt>
                <c:pt idx="959">
                  <c:v>41983</c:v>
                </c:pt>
                <c:pt idx="960">
                  <c:v>41984</c:v>
                </c:pt>
                <c:pt idx="961">
                  <c:v>41985</c:v>
                </c:pt>
                <c:pt idx="962">
                  <c:v>41988</c:v>
                </c:pt>
                <c:pt idx="963">
                  <c:v>41989</c:v>
                </c:pt>
                <c:pt idx="964">
                  <c:v>41990</c:v>
                </c:pt>
                <c:pt idx="965">
                  <c:v>41991</c:v>
                </c:pt>
                <c:pt idx="966">
                  <c:v>41992</c:v>
                </c:pt>
                <c:pt idx="967">
                  <c:v>41995</c:v>
                </c:pt>
                <c:pt idx="968">
                  <c:v>41996</c:v>
                </c:pt>
                <c:pt idx="969">
                  <c:v>41997</c:v>
                </c:pt>
                <c:pt idx="970">
                  <c:v>41999</c:v>
                </c:pt>
                <c:pt idx="971">
                  <c:v>42002</c:v>
                </c:pt>
                <c:pt idx="972">
                  <c:v>42003</c:v>
                </c:pt>
                <c:pt idx="973">
                  <c:v>42004</c:v>
                </c:pt>
                <c:pt idx="974">
                  <c:v>42006</c:v>
                </c:pt>
                <c:pt idx="975">
                  <c:v>42009</c:v>
                </c:pt>
                <c:pt idx="976">
                  <c:v>42010</c:v>
                </c:pt>
                <c:pt idx="977">
                  <c:v>42011</c:v>
                </c:pt>
                <c:pt idx="978">
                  <c:v>42012</c:v>
                </c:pt>
                <c:pt idx="979">
                  <c:v>42013</c:v>
                </c:pt>
                <c:pt idx="980">
                  <c:v>42016</c:v>
                </c:pt>
                <c:pt idx="981">
                  <c:v>42017</c:v>
                </c:pt>
                <c:pt idx="982">
                  <c:v>42018</c:v>
                </c:pt>
                <c:pt idx="983">
                  <c:v>42019</c:v>
                </c:pt>
                <c:pt idx="984">
                  <c:v>42020</c:v>
                </c:pt>
                <c:pt idx="985">
                  <c:v>42024</c:v>
                </c:pt>
                <c:pt idx="986">
                  <c:v>42025</c:v>
                </c:pt>
                <c:pt idx="987">
                  <c:v>42026</c:v>
                </c:pt>
                <c:pt idx="988">
                  <c:v>42027</c:v>
                </c:pt>
                <c:pt idx="989">
                  <c:v>42030</c:v>
                </c:pt>
                <c:pt idx="990">
                  <c:v>42031</c:v>
                </c:pt>
                <c:pt idx="991">
                  <c:v>42032</c:v>
                </c:pt>
                <c:pt idx="992">
                  <c:v>42033</c:v>
                </c:pt>
                <c:pt idx="993">
                  <c:v>42034</c:v>
                </c:pt>
                <c:pt idx="994">
                  <c:v>42037</c:v>
                </c:pt>
                <c:pt idx="995">
                  <c:v>42038</c:v>
                </c:pt>
                <c:pt idx="996">
                  <c:v>42039</c:v>
                </c:pt>
                <c:pt idx="997">
                  <c:v>42040</c:v>
                </c:pt>
                <c:pt idx="998">
                  <c:v>42041</c:v>
                </c:pt>
                <c:pt idx="999">
                  <c:v>42044</c:v>
                </c:pt>
                <c:pt idx="1000">
                  <c:v>42045</c:v>
                </c:pt>
                <c:pt idx="1001">
                  <c:v>42046</c:v>
                </c:pt>
                <c:pt idx="1002">
                  <c:v>42047</c:v>
                </c:pt>
                <c:pt idx="1003">
                  <c:v>42048</c:v>
                </c:pt>
                <c:pt idx="1004">
                  <c:v>42052</c:v>
                </c:pt>
                <c:pt idx="1005">
                  <c:v>42053</c:v>
                </c:pt>
                <c:pt idx="1006">
                  <c:v>42054</c:v>
                </c:pt>
                <c:pt idx="1007">
                  <c:v>42055</c:v>
                </c:pt>
                <c:pt idx="1008">
                  <c:v>42058</c:v>
                </c:pt>
                <c:pt idx="1009">
                  <c:v>42059</c:v>
                </c:pt>
                <c:pt idx="1010">
                  <c:v>42060</c:v>
                </c:pt>
                <c:pt idx="1011">
                  <c:v>42061</c:v>
                </c:pt>
                <c:pt idx="1012">
                  <c:v>42062</c:v>
                </c:pt>
                <c:pt idx="1013">
                  <c:v>42065</c:v>
                </c:pt>
                <c:pt idx="1014">
                  <c:v>42066</c:v>
                </c:pt>
                <c:pt idx="1015">
                  <c:v>42067</c:v>
                </c:pt>
                <c:pt idx="1016">
                  <c:v>42068</c:v>
                </c:pt>
                <c:pt idx="1017">
                  <c:v>42069</c:v>
                </c:pt>
                <c:pt idx="1018">
                  <c:v>42072</c:v>
                </c:pt>
                <c:pt idx="1019">
                  <c:v>42073</c:v>
                </c:pt>
                <c:pt idx="1020">
                  <c:v>42074</c:v>
                </c:pt>
                <c:pt idx="1021">
                  <c:v>42075</c:v>
                </c:pt>
                <c:pt idx="1022">
                  <c:v>42076</c:v>
                </c:pt>
                <c:pt idx="1023">
                  <c:v>42079</c:v>
                </c:pt>
                <c:pt idx="1024">
                  <c:v>42080</c:v>
                </c:pt>
                <c:pt idx="1025">
                  <c:v>42081</c:v>
                </c:pt>
                <c:pt idx="1026">
                  <c:v>42082</c:v>
                </c:pt>
                <c:pt idx="1027">
                  <c:v>42083</c:v>
                </c:pt>
                <c:pt idx="1028">
                  <c:v>42086</c:v>
                </c:pt>
                <c:pt idx="1029">
                  <c:v>42087</c:v>
                </c:pt>
                <c:pt idx="1030">
                  <c:v>42088</c:v>
                </c:pt>
                <c:pt idx="1031">
                  <c:v>42089</c:v>
                </c:pt>
                <c:pt idx="1032">
                  <c:v>42090</c:v>
                </c:pt>
                <c:pt idx="1033">
                  <c:v>42093</c:v>
                </c:pt>
                <c:pt idx="1034">
                  <c:v>42094</c:v>
                </c:pt>
                <c:pt idx="1035">
                  <c:v>42095</c:v>
                </c:pt>
                <c:pt idx="1036">
                  <c:v>42096</c:v>
                </c:pt>
                <c:pt idx="1037">
                  <c:v>42097</c:v>
                </c:pt>
                <c:pt idx="1038">
                  <c:v>42100</c:v>
                </c:pt>
                <c:pt idx="1039">
                  <c:v>42101</c:v>
                </c:pt>
                <c:pt idx="1040">
                  <c:v>42102</c:v>
                </c:pt>
                <c:pt idx="1041">
                  <c:v>42103</c:v>
                </c:pt>
                <c:pt idx="1042">
                  <c:v>42104</c:v>
                </c:pt>
                <c:pt idx="1043">
                  <c:v>42107</c:v>
                </c:pt>
                <c:pt idx="1044">
                  <c:v>42108</c:v>
                </c:pt>
                <c:pt idx="1045">
                  <c:v>42109</c:v>
                </c:pt>
                <c:pt idx="1046">
                  <c:v>42110</c:v>
                </c:pt>
                <c:pt idx="1047">
                  <c:v>42111</c:v>
                </c:pt>
                <c:pt idx="1048">
                  <c:v>42114</c:v>
                </c:pt>
                <c:pt idx="1049">
                  <c:v>42115</c:v>
                </c:pt>
                <c:pt idx="1050">
                  <c:v>42116</c:v>
                </c:pt>
                <c:pt idx="1051">
                  <c:v>42117</c:v>
                </c:pt>
                <c:pt idx="1052">
                  <c:v>42118</c:v>
                </c:pt>
                <c:pt idx="1053">
                  <c:v>42121</c:v>
                </c:pt>
                <c:pt idx="1054">
                  <c:v>42122</c:v>
                </c:pt>
                <c:pt idx="1055">
                  <c:v>42123</c:v>
                </c:pt>
                <c:pt idx="1056">
                  <c:v>42124</c:v>
                </c:pt>
                <c:pt idx="1057">
                  <c:v>42125</c:v>
                </c:pt>
                <c:pt idx="1058">
                  <c:v>42128</c:v>
                </c:pt>
                <c:pt idx="1059">
                  <c:v>42129</c:v>
                </c:pt>
                <c:pt idx="1060">
                  <c:v>42130</c:v>
                </c:pt>
                <c:pt idx="1061">
                  <c:v>42131</c:v>
                </c:pt>
                <c:pt idx="1062">
                  <c:v>42132</c:v>
                </c:pt>
                <c:pt idx="1063">
                  <c:v>42135</c:v>
                </c:pt>
                <c:pt idx="1064">
                  <c:v>42136</c:v>
                </c:pt>
                <c:pt idx="1065">
                  <c:v>42137</c:v>
                </c:pt>
                <c:pt idx="1066">
                  <c:v>42138</c:v>
                </c:pt>
                <c:pt idx="1067">
                  <c:v>42139</c:v>
                </c:pt>
                <c:pt idx="1068">
                  <c:v>42142</c:v>
                </c:pt>
                <c:pt idx="1069">
                  <c:v>42143</c:v>
                </c:pt>
                <c:pt idx="1070">
                  <c:v>42144</c:v>
                </c:pt>
                <c:pt idx="1071">
                  <c:v>42145</c:v>
                </c:pt>
                <c:pt idx="1072">
                  <c:v>42146</c:v>
                </c:pt>
                <c:pt idx="1073">
                  <c:v>42150</c:v>
                </c:pt>
                <c:pt idx="1074">
                  <c:v>42151</c:v>
                </c:pt>
                <c:pt idx="1075">
                  <c:v>42152</c:v>
                </c:pt>
                <c:pt idx="1076">
                  <c:v>42153</c:v>
                </c:pt>
                <c:pt idx="1077">
                  <c:v>42156</c:v>
                </c:pt>
                <c:pt idx="1078">
                  <c:v>42157</c:v>
                </c:pt>
                <c:pt idx="1079">
                  <c:v>42158</c:v>
                </c:pt>
                <c:pt idx="1080">
                  <c:v>42159</c:v>
                </c:pt>
                <c:pt idx="1081">
                  <c:v>42160</c:v>
                </c:pt>
                <c:pt idx="1082">
                  <c:v>42163</c:v>
                </c:pt>
                <c:pt idx="1083">
                  <c:v>42164</c:v>
                </c:pt>
                <c:pt idx="1084">
                  <c:v>42165</c:v>
                </c:pt>
                <c:pt idx="1085">
                  <c:v>42166</c:v>
                </c:pt>
                <c:pt idx="1086">
                  <c:v>42167</c:v>
                </c:pt>
                <c:pt idx="1087">
                  <c:v>42170</c:v>
                </c:pt>
                <c:pt idx="1088">
                  <c:v>42171</c:v>
                </c:pt>
                <c:pt idx="1089">
                  <c:v>42172</c:v>
                </c:pt>
                <c:pt idx="1090">
                  <c:v>42173</c:v>
                </c:pt>
                <c:pt idx="1091">
                  <c:v>42174</c:v>
                </c:pt>
                <c:pt idx="1092">
                  <c:v>42177</c:v>
                </c:pt>
                <c:pt idx="1093">
                  <c:v>42178</c:v>
                </c:pt>
                <c:pt idx="1094">
                  <c:v>42179</c:v>
                </c:pt>
                <c:pt idx="1095">
                  <c:v>42180</c:v>
                </c:pt>
                <c:pt idx="1096">
                  <c:v>42181</c:v>
                </c:pt>
                <c:pt idx="1097">
                  <c:v>42184</c:v>
                </c:pt>
                <c:pt idx="1098">
                  <c:v>42185</c:v>
                </c:pt>
                <c:pt idx="1099">
                  <c:v>42186</c:v>
                </c:pt>
                <c:pt idx="1100">
                  <c:v>42187</c:v>
                </c:pt>
                <c:pt idx="1101">
                  <c:v>42191</c:v>
                </c:pt>
                <c:pt idx="1102">
                  <c:v>42192</c:v>
                </c:pt>
                <c:pt idx="1103">
                  <c:v>42193</c:v>
                </c:pt>
                <c:pt idx="1104">
                  <c:v>42194</c:v>
                </c:pt>
                <c:pt idx="1105">
                  <c:v>42195</c:v>
                </c:pt>
                <c:pt idx="1106">
                  <c:v>42198</c:v>
                </c:pt>
                <c:pt idx="1107">
                  <c:v>42199</c:v>
                </c:pt>
                <c:pt idx="1108">
                  <c:v>42200</c:v>
                </c:pt>
                <c:pt idx="1109">
                  <c:v>42201</c:v>
                </c:pt>
                <c:pt idx="1110">
                  <c:v>42202</c:v>
                </c:pt>
                <c:pt idx="1111">
                  <c:v>42205</c:v>
                </c:pt>
                <c:pt idx="1112">
                  <c:v>42206</c:v>
                </c:pt>
                <c:pt idx="1113">
                  <c:v>42207</c:v>
                </c:pt>
                <c:pt idx="1114">
                  <c:v>42208</c:v>
                </c:pt>
                <c:pt idx="1115">
                  <c:v>42209</c:v>
                </c:pt>
                <c:pt idx="1116">
                  <c:v>42212</c:v>
                </c:pt>
                <c:pt idx="1117">
                  <c:v>42213</c:v>
                </c:pt>
                <c:pt idx="1118">
                  <c:v>42214</c:v>
                </c:pt>
                <c:pt idx="1119">
                  <c:v>42215</c:v>
                </c:pt>
                <c:pt idx="1120">
                  <c:v>42216</c:v>
                </c:pt>
                <c:pt idx="1121">
                  <c:v>42219</c:v>
                </c:pt>
                <c:pt idx="1122">
                  <c:v>42220</c:v>
                </c:pt>
                <c:pt idx="1123">
                  <c:v>42221</c:v>
                </c:pt>
                <c:pt idx="1124">
                  <c:v>42222</c:v>
                </c:pt>
                <c:pt idx="1125">
                  <c:v>42223</c:v>
                </c:pt>
                <c:pt idx="1126">
                  <c:v>42226</c:v>
                </c:pt>
                <c:pt idx="1127">
                  <c:v>42227</c:v>
                </c:pt>
                <c:pt idx="1128">
                  <c:v>42228</c:v>
                </c:pt>
                <c:pt idx="1129">
                  <c:v>42229</c:v>
                </c:pt>
                <c:pt idx="1130">
                  <c:v>42230</c:v>
                </c:pt>
                <c:pt idx="1131">
                  <c:v>42233</c:v>
                </c:pt>
                <c:pt idx="1132">
                  <c:v>42234</c:v>
                </c:pt>
                <c:pt idx="1133">
                  <c:v>42235</c:v>
                </c:pt>
                <c:pt idx="1134">
                  <c:v>42236</c:v>
                </c:pt>
                <c:pt idx="1135">
                  <c:v>42237</c:v>
                </c:pt>
                <c:pt idx="1136">
                  <c:v>42240</c:v>
                </c:pt>
                <c:pt idx="1137">
                  <c:v>42241</c:v>
                </c:pt>
                <c:pt idx="1138">
                  <c:v>42242</c:v>
                </c:pt>
                <c:pt idx="1139">
                  <c:v>42243</c:v>
                </c:pt>
                <c:pt idx="1140">
                  <c:v>42244</c:v>
                </c:pt>
                <c:pt idx="1141">
                  <c:v>42247</c:v>
                </c:pt>
                <c:pt idx="1142">
                  <c:v>42248</c:v>
                </c:pt>
                <c:pt idx="1143">
                  <c:v>42249</c:v>
                </c:pt>
                <c:pt idx="1144">
                  <c:v>42250</c:v>
                </c:pt>
                <c:pt idx="1145">
                  <c:v>42251</c:v>
                </c:pt>
                <c:pt idx="1146">
                  <c:v>42255</c:v>
                </c:pt>
                <c:pt idx="1147">
                  <c:v>42256</c:v>
                </c:pt>
                <c:pt idx="1148">
                  <c:v>42257</c:v>
                </c:pt>
                <c:pt idx="1149">
                  <c:v>42258</c:v>
                </c:pt>
                <c:pt idx="1150">
                  <c:v>42261</c:v>
                </c:pt>
                <c:pt idx="1151">
                  <c:v>42262</c:v>
                </c:pt>
                <c:pt idx="1152">
                  <c:v>42263</c:v>
                </c:pt>
                <c:pt idx="1153">
                  <c:v>42264</c:v>
                </c:pt>
                <c:pt idx="1154">
                  <c:v>42265</c:v>
                </c:pt>
                <c:pt idx="1155">
                  <c:v>42268</c:v>
                </c:pt>
                <c:pt idx="1156">
                  <c:v>42269</c:v>
                </c:pt>
                <c:pt idx="1157">
                  <c:v>42270</c:v>
                </c:pt>
                <c:pt idx="1158">
                  <c:v>42271</c:v>
                </c:pt>
                <c:pt idx="1159">
                  <c:v>42272</c:v>
                </c:pt>
                <c:pt idx="1160">
                  <c:v>42275</c:v>
                </c:pt>
                <c:pt idx="1161">
                  <c:v>42276</c:v>
                </c:pt>
                <c:pt idx="1162">
                  <c:v>42277</c:v>
                </c:pt>
                <c:pt idx="1163">
                  <c:v>42278</c:v>
                </c:pt>
                <c:pt idx="1164">
                  <c:v>42279</c:v>
                </c:pt>
                <c:pt idx="1165">
                  <c:v>42282</c:v>
                </c:pt>
                <c:pt idx="1166">
                  <c:v>42283</c:v>
                </c:pt>
                <c:pt idx="1167">
                  <c:v>42284</c:v>
                </c:pt>
                <c:pt idx="1168">
                  <c:v>42285</c:v>
                </c:pt>
                <c:pt idx="1169">
                  <c:v>42286</c:v>
                </c:pt>
                <c:pt idx="1170">
                  <c:v>42290</c:v>
                </c:pt>
                <c:pt idx="1171">
                  <c:v>42291</c:v>
                </c:pt>
                <c:pt idx="1172">
                  <c:v>42292</c:v>
                </c:pt>
                <c:pt idx="1173">
                  <c:v>42293</c:v>
                </c:pt>
                <c:pt idx="1174">
                  <c:v>42296</c:v>
                </c:pt>
                <c:pt idx="1175">
                  <c:v>42297</c:v>
                </c:pt>
                <c:pt idx="1176">
                  <c:v>42298</c:v>
                </c:pt>
                <c:pt idx="1177">
                  <c:v>42299</c:v>
                </c:pt>
                <c:pt idx="1178">
                  <c:v>42300</c:v>
                </c:pt>
                <c:pt idx="1179">
                  <c:v>42303</c:v>
                </c:pt>
                <c:pt idx="1180">
                  <c:v>42304</c:v>
                </c:pt>
                <c:pt idx="1181">
                  <c:v>42305</c:v>
                </c:pt>
                <c:pt idx="1182">
                  <c:v>42306</c:v>
                </c:pt>
                <c:pt idx="1183">
                  <c:v>42307</c:v>
                </c:pt>
                <c:pt idx="1184">
                  <c:v>42310</c:v>
                </c:pt>
                <c:pt idx="1185">
                  <c:v>42311</c:v>
                </c:pt>
                <c:pt idx="1186">
                  <c:v>42312</c:v>
                </c:pt>
                <c:pt idx="1187">
                  <c:v>42313</c:v>
                </c:pt>
                <c:pt idx="1188">
                  <c:v>42314</c:v>
                </c:pt>
                <c:pt idx="1189">
                  <c:v>42317</c:v>
                </c:pt>
                <c:pt idx="1190">
                  <c:v>42318</c:v>
                </c:pt>
                <c:pt idx="1191">
                  <c:v>42320</c:v>
                </c:pt>
                <c:pt idx="1192">
                  <c:v>42321</c:v>
                </c:pt>
                <c:pt idx="1193">
                  <c:v>42324</c:v>
                </c:pt>
                <c:pt idx="1194">
                  <c:v>42325</c:v>
                </c:pt>
                <c:pt idx="1195">
                  <c:v>42326</c:v>
                </c:pt>
                <c:pt idx="1196">
                  <c:v>42327</c:v>
                </c:pt>
                <c:pt idx="1197">
                  <c:v>42328</c:v>
                </c:pt>
                <c:pt idx="1198">
                  <c:v>42331</c:v>
                </c:pt>
                <c:pt idx="1199">
                  <c:v>42332</c:v>
                </c:pt>
                <c:pt idx="1200">
                  <c:v>42333</c:v>
                </c:pt>
                <c:pt idx="1201">
                  <c:v>42335</c:v>
                </c:pt>
                <c:pt idx="1202">
                  <c:v>42338</c:v>
                </c:pt>
                <c:pt idx="1203">
                  <c:v>42339</c:v>
                </c:pt>
                <c:pt idx="1204">
                  <c:v>42340</c:v>
                </c:pt>
                <c:pt idx="1205">
                  <c:v>42341</c:v>
                </c:pt>
                <c:pt idx="1206">
                  <c:v>42342</c:v>
                </c:pt>
                <c:pt idx="1207">
                  <c:v>42345</c:v>
                </c:pt>
                <c:pt idx="1208">
                  <c:v>42346</c:v>
                </c:pt>
                <c:pt idx="1209">
                  <c:v>42347</c:v>
                </c:pt>
                <c:pt idx="1210">
                  <c:v>42348</c:v>
                </c:pt>
                <c:pt idx="1211">
                  <c:v>42349</c:v>
                </c:pt>
              </c:numCache>
            </c:numRef>
          </c:cat>
          <c:val>
            <c:numRef>
              <c:f>'[Update Data Q4 2015 Quarterly Call - Updated to 12-11.xlsx]OAS and Media Effect'!$G$2:$G$1213</c:f>
              <c:numCache>
                <c:formatCode>0%</c:formatCode>
                <c:ptCount val="1212"/>
                <c:pt idx="0">
                  <c:v>0.61149872753562795</c:v>
                </c:pt>
                <c:pt idx="1">
                  <c:v>0.61074045486204198</c:v>
                </c:pt>
                <c:pt idx="2">
                  <c:v>0.61074045486204198</c:v>
                </c:pt>
                <c:pt idx="3">
                  <c:v>0.61074045486204198</c:v>
                </c:pt>
                <c:pt idx="4">
                  <c:v>0.61074045486204198</c:v>
                </c:pt>
                <c:pt idx="5">
                  <c:v>0.61074045486204198</c:v>
                </c:pt>
                <c:pt idx="6">
                  <c:v>0.50836540051897094</c:v>
                </c:pt>
                <c:pt idx="7">
                  <c:v>0.50836540051897094</c:v>
                </c:pt>
                <c:pt idx="8">
                  <c:v>0.50836540051897094</c:v>
                </c:pt>
                <c:pt idx="9">
                  <c:v>0.50836540051897094</c:v>
                </c:pt>
                <c:pt idx="10">
                  <c:v>0.50836540051897094</c:v>
                </c:pt>
                <c:pt idx="11">
                  <c:v>0.52920493587017403</c:v>
                </c:pt>
                <c:pt idx="12">
                  <c:v>0.52920493587017403</c:v>
                </c:pt>
                <c:pt idx="13">
                  <c:v>0.52920493587017403</c:v>
                </c:pt>
                <c:pt idx="14">
                  <c:v>0.52920493587017403</c:v>
                </c:pt>
                <c:pt idx="15">
                  <c:v>0.55803024707205595</c:v>
                </c:pt>
                <c:pt idx="16">
                  <c:v>0.55803024707205595</c:v>
                </c:pt>
                <c:pt idx="17">
                  <c:v>0.55803024707205595</c:v>
                </c:pt>
                <c:pt idx="18">
                  <c:v>0.54582431757096395</c:v>
                </c:pt>
                <c:pt idx="19">
                  <c:v>0.54582431757096395</c:v>
                </c:pt>
                <c:pt idx="20">
                  <c:v>0.59209711782781405</c:v>
                </c:pt>
                <c:pt idx="21">
                  <c:v>0.59209711782781405</c:v>
                </c:pt>
                <c:pt idx="22">
                  <c:v>0.59209711782781405</c:v>
                </c:pt>
                <c:pt idx="23">
                  <c:v>0.59209711782781405</c:v>
                </c:pt>
                <c:pt idx="24">
                  <c:v>0.59209711782781405</c:v>
                </c:pt>
                <c:pt idx="25">
                  <c:v>0.59080334812888002</c:v>
                </c:pt>
                <c:pt idx="26">
                  <c:v>0.59080334812888002</c:v>
                </c:pt>
                <c:pt idx="27">
                  <c:v>0.59080334812888002</c:v>
                </c:pt>
                <c:pt idx="28">
                  <c:v>0.59080334812888002</c:v>
                </c:pt>
                <c:pt idx="29">
                  <c:v>0.59080334812888002</c:v>
                </c:pt>
                <c:pt idx="30">
                  <c:v>0.60256210105936003</c:v>
                </c:pt>
                <c:pt idx="31">
                  <c:v>0.60256210105936003</c:v>
                </c:pt>
                <c:pt idx="32">
                  <c:v>0.60256210105936003</c:v>
                </c:pt>
                <c:pt idx="33">
                  <c:v>0.60256210105936003</c:v>
                </c:pt>
                <c:pt idx="34">
                  <c:v>0.60256210105936003</c:v>
                </c:pt>
                <c:pt idx="35">
                  <c:v>0.59950595681897501</c:v>
                </c:pt>
                <c:pt idx="36">
                  <c:v>0.59950595681897501</c:v>
                </c:pt>
                <c:pt idx="37">
                  <c:v>0.59950595681897501</c:v>
                </c:pt>
                <c:pt idx="38">
                  <c:v>0.59950595681897501</c:v>
                </c:pt>
                <c:pt idx="39">
                  <c:v>0.59950595681897501</c:v>
                </c:pt>
                <c:pt idx="40">
                  <c:v>0.59315556395691504</c:v>
                </c:pt>
                <c:pt idx="41">
                  <c:v>0.58635020807411298</c:v>
                </c:pt>
                <c:pt idx="42">
                  <c:v>0.58635020807411298</c:v>
                </c:pt>
                <c:pt idx="43">
                  <c:v>0.58635020807411298</c:v>
                </c:pt>
                <c:pt idx="44">
                  <c:v>0.58635020807411298</c:v>
                </c:pt>
                <c:pt idx="45">
                  <c:v>0.58532491615437798</c:v>
                </c:pt>
                <c:pt idx="46">
                  <c:v>0.58635020807411298</c:v>
                </c:pt>
                <c:pt idx="47">
                  <c:v>0.58532491615437798</c:v>
                </c:pt>
                <c:pt idx="48">
                  <c:v>0.58532491615437798</c:v>
                </c:pt>
                <c:pt idx="49">
                  <c:v>0.58532491615437798</c:v>
                </c:pt>
                <c:pt idx="50">
                  <c:v>0.56791099107998699</c:v>
                </c:pt>
                <c:pt idx="51">
                  <c:v>0.56791099107998699</c:v>
                </c:pt>
                <c:pt idx="52">
                  <c:v>0.56791099107998699</c:v>
                </c:pt>
                <c:pt idx="53">
                  <c:v>0.56791099107998699</c:v>
                </c:pt>
                <c:pt idx="54">
                  <c:v>0.56791099107998699</c:v>
                </c:pt>
                <c:pt idx="55">
                  <c:v>0.59349339985189797</c:v>
                </c:pt>
                <c:pt idx="56">
                  <c:v>0.59349339985189797</c:v>
                </c:pt>
                <c:pt idx="57">
                  <c:v>0.59349339985189797</c:v>
                </c:pt>
                <c:pt idx="58">
                  <c:v>0.59349339985189797</c:v>
                </c:pt>
                <c:pt idx="59">
                  <c:v>0.594306088776824</c:v>
                </c:pt>
                <c:pt idx="60">
                  <c:v>0.59349339985189797</c:v>
                </c:pt>
                <c:pt idx="61">
                  <c:v>0.58827706720942596</c:v>
                </c:pt>
                <c:pt idx="62">
                  <c:v>0.58827706720942596</c:v>
                </c:pt>
                <c:pt idx="63">
                  <c:v>0.58827706720942596</c:v>
                </c:pt>
                <c:pt idx="64">
                  <c:v>0.59388944935877797</c:v>
                </c:pt>
                <c:pt idx="65">
                  <c:v>0.58827706720942596</c:v>
                </c:pt>
                <c:pt idx="66">
                  <c:v>0.59388944935877797</c:v>
                </c:pt>
                <c:pt idx="67">
                  <c:v>0.59388944935877797</c:v>
                </c:pt>
                <c:pt idx="68">
                  <c:v>0.59388944935877797</c:v>
                </c:pt>
                <c:pt idx="69">
                  <c:v>0.60656839337259305</c:v>
                </c:pt>
                <c:pt idx="70">
                  <c:v>0.60656839337259305</c:v>
                </c:pt>
                <c:pt idx="71">
                  <c:v>0.60656839337259305</c:v>
                </c:pt>
                <c:pt idx="72">
                  <c:v>0.60656839337259305</c:v>
                </c:pt>
                <c:pt idx="73">
                  <c:v>0.60656839337259305</c:v>
                </c:pt>
                <c:pt idx="74">
                  <c:v>0.61190235023345096</c:v>
                </c:pt>
                <c:pt idx="75">
                  <c:v>0.61190235023345096</c:v>
                </c:pt>
                <c:pt idx="76">
                  <c:v>0.61190235023345096</c:v>
                </c:pt>
                <c:pt idx="77">
                  <c:v>0.61190235023345096</c:v>
                </c:pt>
                <c:pt idx="78">
                  <c:v>0.61190235023345096</c:v>
                </c:pt>
                <c:pt idx="79">
                  <c:v>0.615993636080996</c:v>
                </c:pt>
                <c:pt idx="80">
                  <c:v>0.615993636080996</c:v>
                </c:pt>
                <c:pt idx="81">
                  <c:v>0.615993636080996</c:v>
                </c:pt>
                <c:pt idx="82">
                  <c:v>0.61033542977678401</c:v>
                </c:pt>
                <c:pt idx="83">
                  <c:v>0.63716048140315296</c:v>
                </c:pt>
                <c:pt idx="84">
                  <c:v>0.63716048140315296</c:v>
                </c:pt>
                <c:pt idx="85">
                  <c:v>0.63716048140315296</c:v>
                </c:pt>
                <c:pt idx="86">
                  <c:v>0.63716048140315296</c:v>
                </c:pt>
                <c:pt idx="87">
                  <c:v>0.63716048140315296</c:v>
                </c:pt>
                <c:pt idx="88">
                  <c:v>0.74321907249207297</c:v>
                </c:pt>
                <c:pt idx="89">
                  <c:v>0.74321907249207297</c:v>
                </c:pt>
                <c:pt idx="90">
                  <c:v>0.74321907249207297</c:v>
                </c:pt>
                <c:pt idx="91">
                  <c:v>0.74321907249207297</c:v>
                </c:pt>
                <c:pt idx="92">
                  <c:v>0.74321907249207297</c:v>
                </c:pt>
                <c:pt idx="93">
                  <c:v>0.72196170225835998</c:v>
                </c:pt>
                <c:pt idx="94">
                  <c:v>0.72196170225835998</c:v>
                </c:pt>
                <c:pt idx="95">
                  <c:v>0.72196170225835998</c:v>
                </c:pt>
                <c:pt idx="96">
                  <c:v>0.72196170225835998</c:v>
                </c:pt>
                <c:pt idx="97">
                  <c:v>0.72196170225835998</c:v>
                </c:pt>
                <c:pt idx="98">
                  <c:v>0.72196170225835998</c:v>
                </c:pt>
                <c:pt idx="99">
                  <c:v>0.72196170225835998</c:v>
                </c:pt>
                <c:pt idx="100">
                  <c:v>0.72196170225835998</c:v>
                </c:pt>
                <c:pt idx="101">
                  <c:v>0.72196170225835998</c:v>
                </c:pt>
                <c:pt idx="102">
                  <c:v>0.72196170225835998</c:v>
                </c:pt>
                <c:pt idx="103">
                  <c:v>0.68885444787085304</c:v>
                </c:pt>
                <c:pt idx="104">
                  <c:v>0.68335549039476995</c:v>
                </c:pt>
                <c:pt idx="105">
                  <c:v>0.68335549039476995</c:v>
                </c:pt>
                <c:pt idx="106">
                  <c:v>0.68335549039476995</c:v>
                </c:pt>
                <c:pt idx="107">
                  <c:v>0.60410549631050603</c:v>
                </c:pt>
                <c:pt idx="108">
                  <c:v>0.60410549631050603</c:v>
                </c:pt>
                <c:pt idx="109">
                  <c:v>0.60410549631050603</c:v>
                </c:pt>
                <c:pt idx="110">
                  <c:v>0.60410549631050603</c:v>
                </c:pt>
                <c:pt idx="111">
                  <c:v>0.60410549631050603</c:v>
                </c:pt>
                <c:pt idx="112">
                  <c:v>0.68335549039476995</c:v>
                </c:pt>
                <c:pt idx="113">
                  <c:v>0.68335549039476995</c:v>
                </c:pt>
                <c:pt idx="114">
                  <c:v>0.68335549039476995</c:v>
                </c:pt>
                <c:pt idx="115">
                  <c:v>0.68335549039476995</c:v>
                </c:pt>
                <c:pt idx="116">
                  <c:v>0.68335549039476995</c:v>
                </c:pt>
                <c:pt idx="117">
                  <c:v>0.66675683999516899</c:v>
                </c:pt>
                <c:pt idx="118">
                  <c:v>0.66675683999516899</c:v>
                </c:pt>
                <c:pt idx="119">
                  <c:v>0.66675683999516899</c:v>
                </c:pt>
                <c:pt idx="120">
                  <c:v>0.66675683999516899</c:v>
                </c:pt>
                <c:pt idx="121">
                  <c:v>0.66675683999516899</c:v>
                </c:pt>
                <c:pt idx="122">
                  <c:v>0.63117786454290503</c:v>
                </c:pt>
                <c:pt idx="123">
                  <c:v>0.63117786454290503</c:v>
                </c:pt>
                <c:pt idx="124">
                  <c:v>0.62428536264518097</c:v>
                </c:pt>
                <c:pt idx="125">
                  <c:v>0.62428536264518097</c:v>
                </c:pt>
                <c:pt idx="126">
                  <c:v>0.62428536264518097</c:v>
                </c:pt>
                <c:pt idx="127">
                  <c:v>0.82328819503805495</c:v>
                </c:pt>
                <c:pt idx="128">
                  <c:v>0.82328819503805495</c:v>
                </c:pt>
                <c:pt idx="129">
                  <c:v>0.82328819503805495</c:v>
                </c:pt>
                <c:pt idx="130">
                  <c:v>0.82328819503805495</c:v>
                </c:pt>
                <c:pt idx="131">
                  <c:v>0.82328819503805495</c:v>
                </c:pt>
                <c:pt idx="132">
                  <c:v>0.834040070391601</c:v>
                </c:pt>
                <c:pt idx="133">
                  <c:v>0.834040070391601</c:v>
                </c:pt>
                <c:pt idx="134">
                  <c:v>0.834040070391601</c:v>
                </c:pt>
                <c:pt idx="135">
                  <c:v>0.834040070391601</c:v>
                </c:pt>
                <c:pt idx="136">
                  <c:v>0.834040070391601</c:v>
                </c:pt>
                <c:pt idx="137">
                  <c:v>0.86081674392019403</c:v>
                </c:pt>
                <c:pt idx="138">
                  <c:v>0.86081674392019403</c:v>
                </c:pt>
                <c:pt idx="139">
                  <c:v>0.86081674392019403</c:v>
                </c:pt>
                <c:pt idx="140">
                  <c:v>0.86081674392019403</c:v>
                </c:pt>
                <c:pt idx="141">
                  <c:v>0.86081674392019403</c:v>
                </c:pt>
                <c:pt idx="142">
                  <c:v>0.84691794883119798</c:v>
                </c:pt>
                <c:pt idx="143">
                  <c:v>0.84691794883119798</c:v>
                </c:pt>
                <c:pt idx="144">
                  <c:v>0.84691794883119798</c:v>
                </c:pt>
                <c:pt idx="145">
                  <c:v>0.84691794883119798</c:v>
                </c:pt>
                <c:pt idx="146">
                  <c:v>0.84691794883119798</c:v>
                </c:pt>
                <c:pt idx="147">
                  <c:v>0.841117996149364</c:v>
                </c:pt>
                <c:pt idx="148">
                  <c:v>0.841117996149364</c:v>
                </c:pt>
                <c:pt idx="149">
                  <c:v>0.841117996149364</c:v>
                </c:pt>
                <c:pt idx="150">
                  <c:v>0.841117996149364</c:v>
                </c:pt>
                <c:pt idx="151">
                  <c:v>0.87810314526122002</c:v>
                </c:pt>
                <c:pt idx="152">
                  <c:v>0.87810314526122002</c:v>
                </c:pt>
                <c:pt idx="153">
                  <c:v>0.87810314526122002</c:v>
                </c:pt>
                <c:pt idx="154">
                  <c:v>0.87810314526122002</c:v>
                </c:pt>
                <c:pt idx="155">
                  <c:v>0.87810314526122002</c:v>
                </c:pt>
                <c:pt idx="156">
                  <c:v>0.90145744662456295</c:v>
                </c:pt>
                <c:pt idx="157">
                  <c:v>0.90145744662456295</c:v>
                </c:pt>
                <c:pt idx="158">
                  <c:v>0.90145744662456295</c:v>
                </c:pt>
                <c:pt idx="159">
                  <c:v>0.90145744662456295</c:v>
                </c:pt>
                <c:pt idx="160">
                  <c:v>0.90145744662456295</c:v>
                </c:pt>
                <c:pt idx="161">
                  <c:v>0.90145744662456295</c:v>
                </c:pt>
                <c:pt idx="162">
                  <c:v>0.90145744662456295</c:v>
                </c:pt>
                <c:pt idx="163">
                  <c:v>0.90145744662456295</c:v>
                </c:pt>
                <c:pt idx="164">
                  <c:v>0.90145744662456295</c:v>
                </c:pt>
                <c:pt idx="165">
                  <c:v>0.90145744662456295</c:v>
                </c:pt>
                <c:pt idx="166">
                  <c:v>0.94573089516350395</c:v>
                </c:pt>
                <c:pt idx="167">
                  <c:v>0.94573089516350395</c:v>
                </c:pt>
                <c:pt idx="168">
                  <c:v>0.93998305132982396</c:v>
                </c:pt>
                <c:pt idx="169">
                  <c:v>0.93998305132982396</c:v>
                </c:pt>
                <c:pt idx="170">
                  <c:v>0.93998305132982396</c:v>
                </c:pt>
                <c:pt idx="171">
                  <c:v>0.976205342266112</c:v>
                </c:pt>
                <c:pt idx="172">
                  <c:v>0.976205342266112</c:v>
                </c:pt>
                <c:pt idx="173">
                  <c:v>0.976205342266112</c:v>
                </c:pt>
                <c:pt idx="174">
                  <c:v>0.976205342266112</c:v>
                </c:pt>
                <c:pt idx="175">
                  <c:v>0.86848651507328101</c:v>
                </c:pt>
                <c:pt idx="176">
                  <c:v>0.86848651507328101</c:v>
                </c:pt>
                <c:pt idx="177">
                  <c:v>0.86848651507328101</c:v>
                </c:pt>
                <c:pt idx="178">
                  <c:v>0.86848651507328101</c:v>
                </c:pt>
                <c:pt idx="179">
                  <c:v>0.86848651507328101</c:v>
                </c:pt>
                <c:pt idx="180">
                  <c:v>0.87857948382126905</c:v>
                </c:pt>
                <c:pt idx="181">
                  <c:v>0.87857948382126905</c:v>
                </c:pt>
                <c:pt idx="182">
                  <c:v>0.87857948382126905</c:v>
                </c:pt>
                <c:pt idx="183">
                  <c:v>0.87857948382126905</c:v>
                </c:pt>
                <c:pt idx="184">
                  <c:v>0.87857948382126905</c:v>
                </c:pt>
                <c:pt idx="185">
                  <c:v>0.88617155990762297</c:v>
                </c:pt>
                <c:pt idx="186">
                  <c:v>0.88617155990762297</c:v>
                </c:pt>
                <c:pt idx="187">
                  <c:v>0.88617155990762297</c:v>
                </c:pt>
                <c:pt idx="188">
                  <c:v>0.87154314951038103</c:v>
                </c:pt>
                <c:pt idx="189">
                  <c:v>0.87154314951038103</c:v>
                </c:pt>
                <c:pt idx="190">
                  <c:v>0.93444271648805399</c:v>
                </c:pt>
                <c:pt idx="191">
                  <c:v>0.93444271648805399</c:v>
                </c:pt>
                <c:pt idx="192">
                  <c:v>0.93444271648805399</c:v>
                </c:pt>
                <c:pt idx="193">
                  <c:v>0.93444271648805399</c:v>
                </c:pt>
                <c:pt idx="194">
                  <c:v>0.93444271648805399</c:v>
                </c:pt>
                <c:pt idx="195">
                  <c:v>0.94361195161193201</c:v>
                </c:pt>
                <c:pt idx="196">
                  <c:v>0.94361195161193201</c:v>
                </c:pt>
                <c:pt idx="197">
                  <c:v>0.94361195161193201</c:v>
                </c:pt>
                <c:pt idx="198">
                  <c:v>0.94361195161193201</c:v>
                </c:pt>
                <c:pt idx="199">
                  <c:v>0.93444271648805399</c:v>
                </c:pt>
                <c:pt idx="200">
                  <c:v>0.93444271648805399</c:v>
                </c:pt>
                <c:pt idx="201">
                  <c:v>0.93444271648805399</c:v>
                </c:pt>
                <c:pt idx="202">
                  <c:v>0.93444271648805399</c:v>
                </c:pt>
                <c:pt idx="203">
                  <c:v>0.94997170807452402</c:v>
                </c:pt>
                <c:pt idx="204">
                  <c:v>0.94997170807452402</c:v>
                </c:pt>
                <c:pt idx="205">
                  <c:v>0.94997170807452402</c:v>
                </c:pt>
                <c:pt idx="206">
                  <c:v>0.94997170807452402</c:v>
                </c:pt>
                <c:pt idx="207">
                  <c:v>0.94997170807452402</c:v>
                </c:pt>
                <c:pt idx="208">
                  <c:v>0.91507025140832299</c:v>
                </c:pt>
                <c:pt idx="209">
                  <c:v>0.91507025140832299</c:v>
                </c:pt>
                <c:pt idx="210">
                  <c:v>0.91507025140832299</c:v>
                </c:pt>
                <c:pt idx="211">
                  <c:v>0.91507025140832299</c:v>
                </c:pt>
                <c:pt idx="212">
                  <c:v>0.91507025140832299</c:v>
                </c:pt>
                <c:pt idx="213">
                  <c:v>0.92424960668246803</c:v>
                </c:pt>
                <c:pt idx="214">
                  <c:v>0.92424960668246803</c:v>
                </c:pt>
                <c:pt idx="215">
                  <c:v>0.92424960668246803</c:v>
                </c:pt>
                <c:pt idx="216">
                  <c:v>0.92424960668246803</c:v>
                </c:pt>
                <c:pt idx="217">
                  <c:v>0.92424960668246803</c:v>
                </c:pt>
                <c:pt idx="218">
                  <c:v>0.95314447637365096</c:v>
                </c:pt>
                <c:pt idx="219">
                  <c:v>0.95314447637365096</c:v>
                </c:pt>
                <c:pt idx="220">
                  <c:v>0.95314447637365096</c:v>
                </c:pt>
                <c:pt idx="221">
                  <c:v>0.95314447637365096</c:v>
                </c:pt>
                <c:pt idx="222">
                  <c:v>0.95314447637365096</c:v>
                </c:pt>
                <c:pt idx="223">
                  <c:v>0.96018409449731501</c:v>
                </c:pt>
                <c:pt idx="224">
                  <c:v>0.96018409449731501</c:v>
                </c:pt>
                <c:pt idx="225">
                  <c:v>0.96018409449731501</c:v>
                </c:pt>
                <c:pt idx="226">
                  <c:v>0.96018409449731501</c:v>
                </c:pt>
                <c:pt idx="227">
                  <c:v>0.946426701963341</c:v>
                </c:pt>
                <c:pt idx="228">
                  <c:v>0.946426701963341</c:v>
                </c:pt>
                <c:pt idx="229">
                  <c:v>0.93504552892939297</c:v>
                </c:pt>
                <c:pt idx="230">
                  <c:v>0.93504552892939297</c:v>
                </c:pt>
                <c:pt idx="231">
                  <c:v>0.951307534663687</c:v>
                </c:pt>
                <c:pt idx="232">
                  <c:v>0.951307534663687</c:v>
                </c:pt>
                <c:pt idx="233">
                  <c:v>0.951307534663687</c:v>
                </c:pt>
                <c:pt idx="234">
                  <c:v>0.951307534663687</c:v>
                </c:pt>
                <c:pt idx="235">
                  <c:v>0.951307534663687</c:v>
                </c:pt>
                <c:pt idx="236">
                  <c:v>0.95320351892281396</c:v>
                </c:pt>
                <c:pt idx="237">
                  <c:v>0.95320351892281396</c:v>
                </c:pt>
                <c:pt idx="238">
                  <c:v>0.95320351892281396</c:v>
                </c:pt>
                <c:pt idx="239">
                  <c:v>0.95320351892281396</c:v>
                </c:pt>
                <c:pt idx="240">
                  <c:v>0.95352518495215399</c:v>
                </c:pt>
                <c:pt idx="241">
                  <c:v>0.95352518495215399</c:v>
                </c:pt>
                <c:pt idx="242">
                  <c:v>0.95352518495215399</c:v>
                </c:pt>
                <c:pt idx="243">
                  <c:v>0.95352518495215399</c:v>
                </c:pt>
                <c:pt idx="244">
                  <c:v>0.95352518495215399</c:v>
                </c:pt>
                <c:pt idx="245">
                  <c:v>0.91861521434498905</c:v>
                </c:pt>
                <c:pt idx="246">
                  <c:v>0.91861521434498905</c:v>
                </c:pt>
                <c:pt idx="247">
                  <c:v>0.91861521434498905</c:v>
                </c:pt>
                <c:pt idx="248">
                  <c:v>0.91861521434498905</c:v>
                </c:pt>
                <c:pt idx="249">
                  <c:v>0.90547247005091003</c:v>
                </c:pt>
                <c:pt idx="250">
                  <c:v>0.942309298561672</c:v>
                </c:pt>
                <c:pt idx="251">
                  <c:v>0.942309298561672</c:v>
                </c:pt>
                <c:pt idx="252">
                  <c:v>0.942309298561672</c:v>
                </c:pt>
                <c:pt idx="253">
                  <c:v>0.942309298561672</c:v>
                </c:pt>
                <c:pt idx="254">
                  <c:v>0.942309298561672</c:v>
                </c:pt>
                <c:pt idx="255">
                  <c:v>0.942309298561672</c:v>
                </c:pt>
                <c:pt idx="256">
                  <c:v>0.942309298561672</c:v>
                </c:pt>
                <c:pt idx="257">
                  <c:v>0.942309298561672</c:v>
                </c:pt>
                <c:pt idx="258">
                  <c:v>0.942309298561672</c:v>
                </c:pt>
                <c:pt idx="259">
                  <c:v>0.942309298561672</c:v>
                </c:pt>
                <c:pt idx="260">
                  <c:v>0.942309298561672</c:v>
                </c:pt>
                <c:pt idx="261">
                  <c:v>0.942309298561672</c:v>
                </c:pt>
                <c:pt idx="262">
                  <c:v>0.942309298561672</c:v>
                </c:pt>
                <c:pt idx="263">
                  <c:v>0.942309298561672</c:v>
                </c:pt>
                <c:pt idx="264">
                  <c:v>0.92275139849227505</c:v>
                </c:pt>
                <c:pt idx="265">
                  <c:v>0.942309298561672</c:v>
                </c:pt>
                <c:pt idx="266">
                  <c:v>0.92275139849227505</c:v>
                </c:pt>
                <c:pt idx="267">
                  <c:v>0.92275139849227505</c:v>
                </c:pt>
                <c:pt idx="268">
                  <c:v>0.92275139849227505</c:v>
                </c:pt>
                <c:pt idx="269">
                  <c:v>0.91952398603163898</c:v>
                </c:pt>
                <c:pt idx="270">
                  <c:v>0.91952398603163898</c:v>
                </c:pt>
                <c:pt idx="271">
                  <c:v>0.91952398603163898</c:v>
                </c:pt>
                <c:pt idx="272">
                  <c:v>0.91952398603163898</c:v>
                </c:pt>
                <c:pt idx="273">
                  <c:v>0.91952398603163898</c:v>
                </c:pt>
                <c:pt idx="274">
                  <c:v>0.920801695575303</c:v>
                </c:pt>
                <c:pt idx="275">
                  <c:v>0.920801695575303</c:v>
                </c:pt>
                <c:pt idx="276">
                  <c:v>0.920801695575303</c:v>
                </c:pt>
                <c:pt idx="277">
                  <c:v>0.920801695575303</c:v>
                </c:pt>
                <c:pt idx="278">
                  <c:v>0.920801695575303</c:v>
                </c:pt>
                <c:pt idx="279">
                  <c:v>0.91685044012466899</c:v>
                </c:pt>
                <c:pt idx="280">
                  <c:v>0.91685044012466899</c:v>
                </c:pt>
                <c:pt idx="281">
                  <c:v>0.91685044012466899</c:v>
                </c:pt>
                <c:pt idx="282">
                  <c:v>0.91685044012466899</c:v>
                </c:pt>
                <c:pt idx="283">
                  <c:v>0.91685044012466899</c:v>
                </c:pt>
                <c:pt idx="284">
                  <c:v>0.80564025680948503</c:v>
                </c:pt>
                <c:pt idx="285">
                  <c:v>0.80564025680948503</c:v>
                </c:pt>
                <c:pt idx="286">
                  <c:v>0.80564025680948503</c:v>
                </c:pt>
                <c:pt idx="287">
                  <c:v>0.80564025680948503</c:v>
                </c:pt>
                <c:pt idx="288">
                  <c:v>0.80564025680948503</c:v>
                </c:pt>
                <c:pt idx="289">
                  <c:v>0.87350901373716205</c:v>
                </c:pt>
                <c:pt idx="290">
                  <c:v>0.87350901373716205</c:v>
                </c:pt>
                <c:pt idx="291">
                  <c:v>0.86085196162229005</c:v>
                </c:pt>
                <c:pt idx="292">
                  <c:v>0.86085196162229005</c:v>
                </c:pt>
                <c:pt idx="293">
                  <c:v>0.86085196162229005</c:v>
                </c:pt>
                <c:pt idx="294">
                  <c:v>0.86928745494692705</c:v>
                </c:pt>
                <c:pt idx="295">
                  <c:v>0.86928745494692705</c:v>
                </c:pt>
                <c:pt idx="296">
                  <c:v>0.86928745494692705</c:v>
                </c:pt>
                <c:pt idx="297">
                  <c:v>0.86928745494692705</c:v>
                </c:pt>
                <c:pt idx="298">
                  <c:v>0.86928745494692705</c:v>
                </c:pt>
                <c:pt idx="299">
                  <c:v>0.90843431405369401</c:v>
                </c:pt>
                <c:pt idx="300">
                  <c:v>0.90843431405369401</c:v>
                </c:pt>
                <c:pt idx="301">
                  <c:v>0.90843431405369401</c:v>
                </c:pt>
                <c:pt idx="302">
                  <c:v>0.90843431405369401</c:v>
                </c:pt>
                <c:pt idx="303">
                  <c:v>0.90843431405369401</c:v>
                </c:pt>
                <c:pt idx="304">
                  <c:v>0.90710064326562501</c:v>
                </c:pt>
                <c:pt idx="305">
                  <c:v>0.90710064326562501</c:v>
                </c:pt>
                <c:pt idx="306">
                  <c:v>0.90710064326562501</c:v>
                </c:pt>
                <c:pt idx="307">
                  <c:v>0.90710064326562501</c:v>
                </c:pt>
                <c:pt idx="308">
                  <c:v>0.90710064326562501</c:v>
                </c:pt>
                <c:pt idx="309">
                  <c:v>0.90843431405369401</c:v>
                </c:pt>
                <c:pt idx="310">
                  <c:v>0.90843431405369401</c:v>
                </c:pt>
                <c:pt idx="311">
                  <c:v>0.90843431405369401</c:v>
                </c:pt>
                <c:pt idx="312">
                  <c:v>0.89130997835799997</c:v>
                </c:pt>
                <c:pt idx="313">
                  <c:v>0.89130997835799997</c:v>
                </c:pt>
                <c:pt idx="314">
                  <c:v>0.89320680852935697</c:v>
                </c:pt>
                <c:pt idx="315">
                  <c:v>0.89320680852935697</c:v>
                </c:pt>
                <c:pt idx="316">
                  <c:v>0.89320680852935697</c:v>
                </c:pt>
                <c:pt idx="317">
                  <c:v>0.89320680852935697</c:v>
                </c:pt>
                <c:pt idx="318">
                  <c:v>0.89320680852935697</c:v>
                </c:pt>
                <c:pt idx="319">
                  <c:v>0.89335852280722505</c:v>
                </c:pt>
                <c:pt idx="320">
                  <c:v>0.89335852280722505</c:v>
                </c:pt>
                <c:pt idx="321">
                  <c:v>0.89335852280722505</c:v>
                </c:pt>
                <c:pt idx="322">
                  <c:v>0.89335852280722505</c:v>
                </c:pt>
                <c:pt idx="323">
                  <c:v>0.89335852280722505</c:v>
                </c:pt>
                <c:pt idx="324">
                  <c:v>0.89485932552840397</c:v>
                </c:pt>
                <c:pt idx="325">
                  <c:v>0.89485932552840397</c:v>
                </c:pt>
                <c:pt idx="326">
                  <c:v>0.89485932552840397</c:v>
                </c:pt>
                <c:pt idx="327">
                  <c:v>0.89485932552840397</c:v>
                </c:pt>
                <c:pt idx="328">
                  <c:v>0.89485932552840397</c:v>
                </c:pt>
                <c:pt idx="329">
                  <c:v>0.89505966783361102</c:v>
                </c:pt>
                <c:pt idx="330">
                  <c:v>0.89505966783361102</c:v>
                </c:pt>
                <c:pt idx="331">
                  <c:v>0.89505966783361102</c:v>
                </c:pt>
                <c:pt idx="332">
                  <c:v>0.89505966783361102</c:v>
                </c:pt>
                <c:pt idx="333">
                  <c:v>0.89598257612375398</c:v>
                </c:pt>
                <c:pt idx="334">
                  <c:v>0.88344911791249303</c:v>
                </c:pt>
                <c:pt idx="335">
                  <c:v>0.88344911791249303</c:v>
                </c:pt>
                <c:pt idx="336">
                  <c:v>0.88344911791249303</c:v>
                </c:pt>
                <c:pt idx="337">
                  <c:v>0.88344911791249303</c:v>
                </c:pt>
                <c:pt idx="338">
                  <c:v>0.89196946223805695</c:v>
                </c:pt>
                <c:pt idx="339">
                  <c:v>0.89196946223805695</c:v>
                </c:pt>
                <c:pt idx="340">
                  <c:v>0.89196946223805695</c:v>
                </c:pt>
                <c:pt idx="341">
                  <c:v>0.89196946223805695</c:v>
                </c:pt>
                <c:pt idx="342">
                  <c:v>0.89196946223805695</c:v>
                </c:pt>
                <c:pt idx="343">
                  <c:v>0.88661468253780695</c:v>
                </c:pt>
                <c:pt idx="344">
                  <c:v>0.88661468253780695</c:v>
                </c:pt>
                <c:pt idx="345">
                  <c:v>0.88661468253780695</c:v>
                </c:pt>
                <c:pt idx="346">
                  <c:v>0.88661468253780695</c:v>
                </c:pt>
                <c:pt idx="347">
                  <c:v>0.88661468253780695</c:v>
                </c:pt>
                <c:pt idx="348">
                  <c:v>0.89395578636495998</c:v>
                </c:pt>
                <c:pt idx="349">
                  <c:v>0.89395578636495998</c:v>
                </c:pt>
                <c:pt idx="350">
                  <c:v>0.89395578636495998</c:v>
                </c:pt>
                <c:pt idx="351">
                  <c:v>0.89395578636495998</c:v>
                </c:pt>
                <c:pt idx="352">
                  <c:v>0.89395578636495998</c:v>
                </c:pt>
                <c:pt idx="353">
                  <c:v>0.89395578636495998</c:v>
                </c:pt>
                <c:pt idx="354">
                  <c:v>0.89395578636495998</c:v>
                </c:pt>
                <c:pt idx="355">
                  <c:v>0.87735489357143903</c:v>
                </c:pt>
                <c:pt idx="356">
                  <c:v>0.87735489357143903</c:v>
                </c:pt>
                <c:pt idx="357">
                  <c:v>0.89133476417306701</c:v>
                </c:pt>
                <c:pt idx="358">
                  <c:v>0.89133476417306701</c:v>
                </c:pt>
                <c:pt idx="359">
                  <c:v>0.89133476417306701</c:v>
                </c:pt>
                <c:pt idx="360">
                  <c:v>0.89133476417306701</c:v>
                </c:pt>
                <c:pt idx="361">
                  <c:v>0.89133476417306701</c:v>
                </c:pt>
                <c:pt idx="362">
                  <c:v>0.944528095453952</c:v>
                </c:pt>
                <c:pt idx="363">
                  <c:v>0.944528095453952</c:v>
                </c:pt>
                <c:pt idx="364">
                  <c:v>0.944528095453952</c:v>
                </c:pt>
                <c:pt idx="365">
                  <c:v>0.944528095453952</c:v>
                </c:pt>
                <c:pt idx="366">
                  <c:v>0.944528095453952</c:v>
                </c:pt>
                <c:pt idx="367">
                  <c:v>0.97186924857157997</c:v>
                </c:pt>
                <c:pt idx="368">
                  <c:v>0.97186924857157997</c:v>
                </c:pt>
                <c:pt idx="369">
                  <c:v>0.97186924857157997</c:v>
                </c:pt>
                <c:pt idx="370">
                  <c:v>0.97186924857157997</c:v>
                </c:pt>
                <c:pt idx="371">
                  <c:v>0.97186924857157997</c:v>
                </c:pt>
                <c:pt idx="372">
                  <c:v>0.98447138587305705</c:v>
                </c:pt>
                <c:pt idx="373">
                  <c:v>0.97186924857157997</c:v>
                </c:pt>
                <c:pt idx="374">
                  <c:v>0.98447138587305705</c:v>
                </c:pt>
                <c:pt idx="375">
                  <c:v>0.98447138587305705</c:v>
                </c:pt>
                <c:pt idx="376">
                  <c:v>0.97289569754528904</c:v>
                </c:pt>
                <c:pt idx="377">
                  <c:v>0.93852225394978095</c:v>
                </c:pt>
                <c:pt idx="378">
                  <c:v>0.93852225394978095</c:v>
                </c:pt>
                <c:pt idx="379">
                  <c:v>0.93852225394978095</c:v>
                </c:pt>
                <c:pt idx="380">
                  <c:v>0.93852225394978095</c:v>
                </c:pt>
                <c:pt idx="381">
                  <c:v>0.93852225394978095</c:v>
                </c:pt>
                <c:pt idx="382">
                  <c:v>0.88830449257823196</c:v>
                </c:pt>
                <c:pt idx="383">
                  <c:v>0.88830449257823196</c:v>
                </c:pt>
                <c:pt idx="384">
                  <c:v>0.88830449257823196</c:v>
                </c:pt>
                <c:pt idx="385">
                  <c:v>0.88830449257823196</c:v>
                </c:pt>
                <c:pt idx="386">
                  <c:v>0.88830449257823196</c:v>
                </c:pt>
                <c:pt idx="387">
                  <c:v>0.871668034024078</c:v>
                </c:pt>
                <c:pt idx="388">
                  <c:v>0.871668034024078</c:v>
                </c:pt>
                <c:pt idx="389">
                  <c:v>0.871668034024078</c:v>
                </c:pt>
                <c:pt idx="390">
                  <c:v>0.871668034024078</c:v>
                </c:pt>
                <c:pt idx="391">
                  <c:v>0.871668034024078</c:v>
                </c:pt>
                <c:pt idx="392">
                  <c:v>0.85676613742448104</c:v>
                </c:pt>
                <c:pt idx="393">
                  <c:v>0.85676613742448104</c:v>
                </c:pt>
                <c:pt idx="394">
                  <c:v>0.85676613742448104</c:v>
                </c:pt>
                <c:pt idx="395">
                  <c:v>0.85676613742448104</c:v>
                </c:pt>
                <c:pt idx="396">
                  <c:v>0.85676613742448104</c:v>
                </c:pt>
                <c:pt idx="397">
                  <c:v>0.88830449257823196</c:v>
                </c:pt>
                <c:pt idx="398">
                  <c:v>0.88830449257823196</c:v>
                </c:pt>
                <c:pt idx="399">
                  <c:v>0.86613218698070704</c:v>
                </c:pt>
                <c:pt idx="400">
                  <c:v>0.86613218698070704</c:v>
                </c:pt>
                <c:pt idx="401">
                  <c:v>0.91761037893987496</c:v>
                </c:pt>
                <c:pt idx="402">
                  <c:v>0.91761037893987496</c:v>
                </c:pt>
                <c:pt idx="403">
                  <c:v>0.91761037893987496</c:v>
                </c:pt>
                <c:pt idx="404">
                  <c:v>0.91761037893987496</c:v>
                </c:pt>
                <c:pt idx="405">
                  <c:v>0.91761037893987496</c:v>
                </c:pt>
                <c:pt idx="406">
                  <c:v>0.91761037893987496</c:v>
                </c:pt>
                <c:pt idx="407">
                  <c:v>0.91761037893987496</c:v>
                </c:pt>
                <c:pt idx="408">
                  <c:v>0.91761037893987496</c:v>
                </c:pt>
                <c:pt idx="409">
                  <c:v>0.91761037893987496</c:v>
                </c:pt>
                <c:pt idx="410">
                  <c:v>0.91761037893987496</c:v>
                </c:pt>
                <c:pt idx="411">
                  <c:v>0.95544116739970197</c:v>
                </c:pt>
                <c:pt idx="412">
                  <c:v>0.95544116739970197</c:v>
                </c:pt>
                <c:pt idx="413">
                  <c:v>0.95544116739970197</c:v>
                </c:pt>
                <c:pt idx="414">
                  <c:v>0.95544116739970197</c:v>
                </c:pt>
                <c:pt idx="415">
                  <c:v>0.95544116739970197</c:v>
                </c:pt>
                <c:pt idx="416">
                  <c:v>0.96361365224695705</c:v>
                </c:pt>
                <c:pt idx="417">
                  <c:v>0.96361365224695705</c:v>
                </c:pt>
                <c:pt idx="418">
                  <c:v>0.95122523158751304</c:v>
                </c:pt>
                <c:pt idx="419">
                  <c:v>0.95122523158751304</c:v>
                </c:pt>
                <c:pt idx="420">
                  <c:v>0.95122523158751304</c:v>
                </c:pt>
                <c:pt idx="421">
                  <c:v>0.95295581960362197</c:v>
                </c:pt>
                <c:pt idx="422">
                  <c:v>0.95295581960362197</c:v>
                </c:pt>
                <c:pt idx="423">
                  <c:v>0.95295581960362197</c:v>
                </c:pt>
                <c:pt idx="424">
                  <c:v>0.95295581960362197</c:v>
                </c:pt>
                <c:pt idx="425">
                  <c:v>0.95157186742127498</c:v>
                </c:pt>
                <c:pt idx="426">
                  <c:v>0.95157186742127498</c:v>
                </c:pt>
                <c:pt idx="427">
                  <c:v>0.95157186742127498</c:v>
                </c:pt>
                <c:pt idx="428">
                  <c:v>0.95157186742127498</c:v>
                </c:pt>
                <c:pt idx="429">
                  <c:v>0.95157186742127498</c:v>
                </c:pt>
                <c:pt idx="430">
                  <c:v>0.95277015909637097</c:v>
                </c:pt>
                <c:pt idx="431">
                  <c:v>0.95277015909637097</c:v>
                </c:pt>
                <c:pt idx="432">
                  <c:v>0.95277015909637097</c:v>
                </c:pt>
                <c:pt idx="433">
                  <c:v>0.95277015909637097</c:v>
                </c:pt>
                <c:pt idx="434">
                  <c:v>0.95277015909637097</c:v>
                </c:pt>
                <c:pt idx="435">
                  <c:v>0.950786071684944</c:v>
                </c:pt>
                <c:pt idx="436">
                  <c:v>0.950786071684944</c:v>
                </c:pt>
                <c:pt idx="437">
                  <c:v>0.950786071684944</c:v>
                </c:pt>
                <c:pt idx="438">
                  <c:v>0.950786071684944</c:v>
                </c:pt>
                <c:pt idx="439">
                  <c:v>0.92568594546185101</c:v>
                </c:pt>
                <c:pt idx="440">
                  <c:v>0.92568594546185101</c:v>
                </c:pt>
                <c:pt idx="441">
                  <c:v>0.92568594546185101</c:v>
                </c:pt>
                <c:pt idx="442">
                  <c:v>0.92568594546185101</c:v>
                </c:pt>
                <c:pt idx="443">
                  <c:v>0.92568594546185101</c:v>
                </c:pt>
                <c:pt idx="444">
                  <c:v>0.92529425270600996</c:v>
                </c:pt>
                <c:pt idx="445">
                  <c:v>0.92529425270600996</c:v>
                </c:pt>
                <c:pt idx="446">
                  <c:v>0.92529425270600996</c:v>
                </c:pt>
                <c:pt idx="447">
                  <c:v>0.92529425270600996</c:v>
                </c:pt>
                <c:pt idx="448">
                  <c:v>0.92772026190850898</c:v>
                </c:pt>
                <c:pt idx="449">
                  <c:v>0.92529425270600996</c:v>
                </c:pt>
                <c:pt idx="450">
                  <c:v>0.92529425270600996</c:v>
                </c:pt>
                <c:pt idx="451">
                  <c:v>0.92772026190850898</c:v>
                </c:pt>
                <c:pt idx="452">
                  <c:v>0.92772026190850898</c:v>
                </c:pt>
                <c:pt idx="453">
                  <c:v>0.92988566192488697</c:v>
                </c:pt>
                <c:pt idx="454">
                  <c:v>0.92988566192488697</c:v>
                </c:pt>
                <c:pt idx="455">
                  <c:v>0.92988566192488697</c:v>
                </c:pt>
                <c:pt idx="456">
                  <c:v>0.92988566192488697</c:v>
                </c:pt>
                <c:pt idx="457">
                  <c:v>0.92962672480790898</c:v>
                </c:pt>
                <c:pt idx="458">
                  <c:v>0.92962672480790898</c:v>
                </c:pt>
                <c:pt idx="459">
                  <c:v>0.91261368517922603</c:v>
                </c:pt>
                <c:pt idx="460">
                  <c:v>0.91261368517922603</c:v>
                </c:pt>
                <c:pt idx="461">
                  <c:v>0.91261368517922603</c:v>
                </c:pt>
                <c:pt idx="462">
                  <c:v>0.91054790878492298</c:v>
                </c:pt>
                <c:pt idx="463">
                  <c:v>0.91054790878492298</c:v>
                </c:pt>
                <c:pt idx="464">
                  <c:v>0.91054790878492298</c:v>
                </c:pt>
                <c:pt idx="465">
                  <c:v>0.91054790878492298</c:v>
                </c:pt>
                <c:pt idx="466">
                  <c:v>0.91054790878492298</c:v>
                </c:pt>
                <c:pt idx="467">
                  <c:v>0.91261368517922603</c:v>
                </c:pt>
                <c:pt idx="468">
                  <c:v>0.91261368517922603</c:v>
                </c:pt>
                <c:pt idx="469">
                  <c:v>0.91261368517922603</c:v>
                </c:pt>
                <c:pt idx="470">
                  <c:v>0.91261368517922603</c:v>
                </c:pt>
                <c:pt idx="471">
                  <c:v>0.91261368517922603</c:v>
                </c:pt>
                <c:pt idx="472">
                  <c:v>0.90964878851271103</c:v>
                </c:pt>
                <c:pt idx="473">
                  <c:v>0.90964878851271103</c:v>
                </c:pt>
                <c:pt idx="474">
                  <c:v>0.90964878851271103</c:v>
                </c:pt>
                <c:pt idx="475">
                  <c:v>0.90964878851271103</c:v>
                </c:pt>
                <c:pt idx="476">
                  <c:v>0.91013454847674702</c:v>
                </c:pt>
                <c:pt idx="477">
                  <c:v>0.91013454847674702</c:v>
                </c:pt>
                <c:pt idx="478">
                  <c:v>0.91013454847674702</c:v>
                </c:pt>
                <c:pt idx="479">
                  <c:v>0.88776607960810605</c:v>
                </c:pt>
                <c:pt idx="480">
                  <c:v>0.88829814088555903</c:v>
                </c:pt>
                <c:pt idx="481">
                  <c:v>0.88829814088555903</c:v>
                </c:pt>
                <c:pt idx="482">
                  <c:v>0.88829814088555903</c:v>
                </c:pt>
                <c:pt idx="483">
                  <c:v>0.88829814088555903</c:v>
                </c:pt>
                <c:pt idx="484">
                  <c:v>0.88829814088555903</c:v>
                </c:pt>
                <c:pt idx="485">
                  <c:v>0.88507237465235999</c:v>
                </c:pt>
                <c:pt idx="486">
                  <c:v>0.88507237465235999</c:v>
                </c:pt>
                <c:pt idx="487">
                  <c:v>0.88507237465235999</c:v>
                </c:pt>
                <c:pt idx="488">
                  <c:v>0.88507237465235999</c:v>
                </c:pt>
                <c:pt idx="489">
                  <c:v>0.88507237465235999</c:v>
                </c:pt>
                <c:pt idx="490">
                  <c:v>0.88631407683414698</c:v>
                </c:pt>
                <c:pt idx="491">
                  <c:v>0.88631407683414698</c:v>
                </c:pt>
                <c:pt idx="492">
                  <c:v>0.88631407683414698</c:v>
                </c:pt>
                <c:pt idx="493">
                  <c:v>0.88631407683414698</c:v>
                </c:pt>
                <c:pt idx="494">
                  <c:v>0.88379536104531298</c:v>
                </c:pt>
                <c:pt idx="495">
                  <c:v>0.88379536104531298</c:v>
                </c:pt>
                <c:pt idx="496">
                  <c:v>0.88379536104531298</c:v>
                </c:pt>
                <c:pt idx="497">
                  <c:v>0.88379536104531298</c:v>
                </c:pt>
                <c:pt idx="498">
                  <c:v>0.88379536104531298</c:v>
                </c:pt>
                <c:pt idx="499">
                  <c:v>0.84748759806752005</c:v>
                </c:pt>
                <c:pt idx="500">
                  <c:v>0.82271172400250803</c:v>
                </c:pt>
                <c:pt idx="501">
                  <c:v>0.82271172400250803</c:v>
                </c:pt>
                <c:pt idx="502">
                  <c:v>0.82271172400250803</c:v>
                </c:pt>
                <c:pt idx="503">
                  <c:v>0.82271172400250803</c:v>
                </c:pt>
                <c:pt idx="504">
                  <c:v>0.82271172400250803</c:v>
                </c:pt>
                <c:pt idx="505">
                  <c:v>0.82271172400250803</c:v>
                </c:pt>
                <c:pt idx="506">
                  <c:v>0.82271172400250803</c:v>
                </c:pt>
                <c:pt idx="507">
                  <c:v>0.82271172400250803</c:v>
                </c:pt>
                <c:pt idx="508">
                  <c:v>0.82271172400250803</c:v>
                </c:pt>
                <c:pt idx="509">
                  <c:v>0.82271172400250803</c:v>
                </c:pt>
                <c:pt idx="510">
                  <c:v>0.82271172400250803</c:v>
                </c:pt>
                <c:pt idx="511">
                  <c:v>0.82271172400250803</c:v>
                </c:pt>
                <c:pt idx="512">
                  <c:v>0.82271172400250803</c:v>
                </c:pt>
                <c:pt idx="513">
                  <c:v>0.79171461670661003</c:v>
                </c:pt>
                <c:pt idx="514">
                  <c:v>0.79171461670661003</c:v>
                </c:pt>
                <c:pt idx="515">
                  <c:v>0.79171461670661003</c:v>
                </c:pt>
                <c:pt idx="516">
                  <c:v>0.79171461670661003</c:v>
                </c:pt>
                <c:pt idx="517">
                  <c:v>0.79171461670661003</c:v>
                </c:pt>
                <c:pt idx="518">
                  <c:v>0.83664177858148003</c:v>
                </c:pt>
                <c:pt idx="519">
                  <c:v>0.81851206223084805</c:v>
                </c:pt>
                <c:pt idx="520">
                  <c:v>0.81851206223084805</c:v>
                </c:pt>
                <c:pt idx="521">
                  <c:v>0.81851206223084805</c:v>
                </c:pt>
                <c:pt idx="522">
                  <c:v>0.81851206223084805</c:v>
                </c:pt>
                <c:pt idx="523">
                  <c:v>0.81207127811354496</c:v>
                </c:pt>
                <c:pt idx="524">
                  <c:v>0.81207127811354496</c:v>
                </c:pt>
                <c:pt idx="525">
                  <c:v>0.81207127811354496</c:v>
                </c:pt>
                <c:pt idx="526">
                  <c:v>0.81207127811354496</c:v>
                </c:pt>
                <c:pt idx="527">
                  <c:v>0.81207127811354496</c:v>
                </c:pt>
                <c:pt idx="528">
                  <c:v>0.71228035501776499</c:v>
                </c:pt>
                <c:pt idx="529">
                  <c:v>0.71228035501776499</c:v>
                </c:pt>
                <c:pt idx="530">
                  <c:v>0.71228035501776499</c:v>
                </c:pt>
                <c:pt idx="531">
                  <c:v>0.71228035501776499</c:v>
                </c:pt>
                <c:pt idx="532">
                  <c:v>0.71228035501776499</c:v>
                </c:pt>
                <c:pt idx="533">
                  <c:v>0.79257538531726102</c:v>
                </c:pt>
                <c:pt idx="534">
                  <c:v>0.79257538531726102</c:v>
                </c:pt>
                <c:pt idx="535">
                  <c:v>0.79257538531726102</c:v>
                </c:pt>
                <c:pt idx="536">
                  <c:v>0.79257538531726102</c:v>
                </c:pt>
                <c:pt idx="537">
                  <c:v>0.79257538531726102</c:v>
                </c:pt>
                <c:pt idx="538">
                  <c:v>0.76303866278122401</c:v>
                </c:pt>
                <c:pt idx="539">
                  <c:v>0.743473360501545</c:v>
                </c:pt>
                <c:pt idx="540">
                  <c:v>0.743473360501545</c:v>
                </c:pt>
                <c:pt idx="541">
                  <c:v>0.743473360501545</c:v>
                </c:pt>
                <c:pt idx="542">
                  <c:v>0.77315817508860396</c:v>
                </c:pt>
                <c:pt idx="543">
                  <c:v>0.77315817508860396</c:v>
                </c:pt>
                <c:pt idx="544">
                  <c:v>0.77315817508860396</c:v>
                </c:pt>
                <c:pt idx="545">
                  <c:v>0.77315817508860396</c:v>
                </c:pt>
                <c:pt idx="546">
                  <c:v>0.77315817508860396</c:v>
                </c:pt>
                <c:pt idx="547">
                  <c:v>0.82454142309345102</c:v>
                </c:pt>
                <c:pt idx="548">
                  <c:v>0.82454142309345102</c:v>
                </c:pt>
                <c:pt idx="549">
                  <c:v>0.82454142309345102</c:v>
                </c:pt>
                <c:pt idx="550">
                  <c:v>0.82454142309345102</c:v>
                </c:pt>
                <c:pt idx="551">
                  <c:v>0.82454142309345102</c:v>
                </c:pt>
                <c:pt idx="552">
                  <c:v>0.82630589885428396</c:v>
                </c:pt>
                <c:pt idx="553">
                  <c:v>0.82630589885428396</c:v>
                </c:pt>
                <c:pt idx="554">
                  <c:v>0.82630589885428396</c:v>
                </c:pt>
                <c:pt idx="555">
                  <c:v>0.82630589885428396</c:v>
                </c:pt>
                <c:pt idx="556">
                  <c:v>0.82630589885428396</c:v>
                </c:pt>
                <c:pt idx="557">
                  <c:v>0.82751009126472896</c:v>
                </c:pt>
                <c:pt idx="558">
                  <c:v>0.82751009126472896</c:v>
                </c:pt>
                <c:pt idx="559">
                  <c:v>0.82751009126472896</c:v>
                </c:pt>
                <c:pt idx="560">
                  <c:v>0.82751009126472896</c:v>
                </c:pt>
                <c:pt idx="561">
                  <c:v>0.81036703654126596</c:v>
                </c:pt>
                <c:pt idx="562">
                  <c:v>0.81666056757909999</c:v>
                </c:pt>
                <c:pt idx="563">
                  <c:v>0.81666056757909999</c:v>
                </c:pt>
                <c:pt idx="564">
                  <c:v>0.81666056757909999</c:v>
                </c:pt>
                <c:pt idx="565">
                  <c:v>0.81666056757909999</c:v>
                </c:pt>
                <c:pt idx="566">
                  <c:v>0.81666056757909999</c:v>
                </c:pt>
                <c:pt idx="567">
                  <c:v>0.80807149473903706</c:v>
                </c:pt>
                <c:pt idx="568">
                  <c:v>0.80807149473903706</c:v>
                </c:pt>
                <c:pt idx="569">
                  <c:v>0.80807149473903706</c:v>
                </c:pt>
                <c:pt idx="570">
                  <c:v>0.80807149473903706</c:v>
                </c:pt>
                <c:pt idx="571">
                  <c:v>0.80807149473903706</c:v>
                </c:pt>
                <c:pt idx="572">
                  <c:v>0.80807149473903706</c:v>
                </c:pt>
                <c:pt idx="573">
                  <c:v>0.80807149473903706</c:v>
                </c:pt>
                <c:pt idx="574">
                  <c:v>0.77783403735744605</c:v>
                </c:pt>
                <c:pt idx="575">
                  <c:v>0.77783403735744605</c:v>
                </c:pt>
                <c:pt idx="576">
                  <c:v>0.77783403735744605</c:v>
                </c:pt>
                <c:pt idx="577">
                  <c:v>0.69478056772037999</c:v>
                </c:pt>
                <c:pt idx="578">
                  <c:v>0.69478056772037999</c:v>
                </c:pt>
                <c:pt idx="579">
                  <c:v>0.69478056772037999</c:v>
                </c:pt>
                <c:pt idx="580">
                  <c:v>0.69478056772037999</c:v>
                </c:pt>
                <c:pt idx="581">
                  <c:v>0.635194452728709</c:v>
                </c:pt>
                <c:pt idx="582">
                  <c:v>0.635194452728709</c:v>
                </c:pt>
                <c:pt idx="583">
                  <c:v>0.614848697284054</c:v>
                </c:pt>
                <c:pt idx="584">
                  <c:v>0.614848697284054</c:v>
                </c:pt>
                <c:pt idx="585">
                  <c:v>0.614848697284054</c:v>
                </c:pt>
                <c:pt idx="586">
                  <c:v>0.60559705603105995</c:v>
                </c:pt>
                <c:pt idx="587">
                  <c:v>0.60559705603105995</c:v>
                </c:pt>
                <c:pt idx="588">
                  <c:v>0.60559705603105995</c:v>
                </c:pt>
                <c:pt idx="589">
                  <c:v>0.60559705603105995</c:v>
                </c:pt>
                <c:pt idx="590">
                  <c:v>0.60559705603105995</c:v>
                </c:pt>
                <c:pt idx="591">
                  <c:v>0.57343184072471898</c:v>
                </c:pt>
                <c:pt idx="592">
                  <c:v>0.57343184072471898</c:v>
                </c:pt>
                <c:pt idx="593">
                  <c:v>0.57343184072471898</c:v>
                </c:pt>
                <c:pt idx="594">
                  <c:v>0.57343184072471898</c:v>
                </c:pt>
                <c:pt idx="595">
                  <c:v>0.57343184072471898</c:v>
                </c:pt>
                <c:pt idx="596">
                  <c:v>0.60175540147873097</c:v>
                </c:pt>
                <c:pt idx="597">
                  <c:v>0.60175540147873097</c:v>
                </c:pt>
                <c:pt idx="598">
                  <c:v>0.60175540147873097</c:v>
                </c:pt>
                <c:pt idx="599">
                  <c:v>0.60175540147873097</c:v>
                </c:pt>
                <c:pt idx="600">
                  <c:v>0.60175540147873097</c:v>
                </c:pt>
                <c:pt idx="601">
                  <c:v>0.41370007412069798</c:v>
                </c:pt>
                <c:pt idx="602">
                  <c:v>0.41370007412069798</c:v>
                </c:pt>
                <c:pt idx="603">
                  <c:v>0.39643390905357601</c:v>
                </c:pt>
                <c:pt idx="604">
                  <c:v>0.39643390905357601</c:v>
                </c:pt>
                <c:pt idx="605">
                  <c:v>0.43308419457729302</c:v>
                </c:pt>
                <c:pt idx="606">
                  <c:v>0.43308419457729302</c:v>
                </c:pt>
                <c:pt idx="607">
                  <c:v>0.43308419457729302</c:v>
                </c:pt>
                <c:pt idx="608">
                  <c:v>0.43308419457729302</c:v>
                </c:pt>
                <c:pt idx="609">
                  <c:v>0.43308419457729302</c:v>
                </c:pt>
                <c:pt idx="610">
                  <c:v>0.34039157628197098</c:v>
                </c:pt>
                <c:pt idx="611">
                  <c:v>0.34039157628197098</c:v>
                </c:pt>
                <c:pt idx="612">
                  <c:v>0.34039157628197098</c:v>
                </c:pt>
                <c:pt idx="613">
                  <c:v>0.34039157628197098</c:v>
                </c:pt>
                <c:pt idx="614">
                  <c:v>0.34039157628197098</c:v>
                </c:pt>
                <c:pt idx="615">
                  <c:v>0.426207408093986</c:v>
                </c:pt>
                <c:pt idx="616">
                  <c:v>0.426207408093986</c:v>
                </c:pt>
                <c:pt idx="617">
                  <c:v>0.426207408093986</c:v>
                </c:pt>
                <c:pt idx="618">
                  <c:v>0.426207408093986</c:v>
                </c:pt>
                <c:pt idx="619">
                  <c:v>0.426207408093986</c:v>
                </c:pt>
                <c:pt idx="620">
                  <c:v>0.43167939138876898</c:v>
                </c:pt>
                <c:pt idx="621">
                  <c:v>0.43167939138876898</c:v>
                </c:pt>
                <c:pt idx="622">
                  <c:v>0.43167939138876898</c:v>
                </c:pt>
                <c:pt idx="623">
                  <c:v>0.43167939138876898</c:v>
                </c:pt>
                <c:pt idx="624">
                  <c:v>0.43167939138876898</c:v>
                </c:pt>
                <c:pt idx="625">
                  <c:v>0.40917398895536999</c:v>
                </c:pt>
                <c:pt idx="626">
                  <c:v>0.40917398895536999</c:v>
                </c:pt>
                <c:pt idx="627">
                  <c:v>0.40917398895536999</c:v>
                </c:pt>
                <c:pt idx="628">
                  <c:v>0.40917398895536999</c:v>
                </c:pt>
                <c:pt idx="629">
                  <c:v>0.40917398895536999</c:v>
                </c:pt>
                <c:pt idx="630">
                  <c:v>0.40794548718226897</c:v>
                </c:pt>
                <c:pt idx="631">
                  <c:v>0.40794548718226897</c:v>
                </c:pt>
                <c:pt idx="632">
                  <c:v>0.40794548718226897</c:v>
                </c:pt>
                <c:pt idx="633">
                  <c:v>0.40794548718226897</c:v>
                </c:pt>
                <c:pt idx="634">
                  <c:v>0.40794548718226897</c:v>
                </c:pt>
                <c:pt idx="635">
                  <c:v>0.40794548718226897</c:v>
                </c:pt>
                <c:pt idx="636">
                  <c:v>0.40794548718226897</c:v>
                </c:pt>
                <c:pt idx="637">
                  <c:v>0.40794548718226897</c:v>
                </c:pt>
                <c:pt idx="638">
                  <c:v>0.40794548718226897</c:v>
                </c:pt>
                <c:pt idx="639">
                  <c:v>0.40794548718226897</c:v>
                </c:pt>
                <c:pt idx="640">
                  <c:v>0.28736143003290598</c:v>
                </c:pt>
                <c:pt idx="641">
                  <c:v>0.28736143003290598</c:v>
                </c:pt>
                <c:pt idx="642">
                  <c:v>0.28736143003290598</c:v>
                </c:pt>
                <c:pt idx="643">
                  <c:v>0.28736143003290598</c:v>
                </c:pt>
                <c:pt idx="644">
                  <c:v>0.28736143003290598</c:v>
                </c:pt>
                <c:pt idx="645">
                  <c:v>0.32609160736856702</c:v>
                </c:pt>
                <c:pt idx="646">
                  <c:v>0.32609160736856702</c:v>
                </c:pt>
                <c:pt idx="647">
                  <c:v>0.315593133253526</c:v>
                </c:pt>
                <c:pt idx="648">
                  <c:v>0.315593133253526</c:v>
                </c:pt>
                <c:pt idx="649">
                  <c:v>0.28153720559456502</c:v>
                </c:pt>
                <c:pt idx="650">
                  <c:v>0.28153720559456502</c:v>
                </c:pt>
                <c:pt idx="651">
                  <c:v>0.28153720559456502</c:v>
                </c:pt>
                <c:pt idx="652">
                  <c:v>0.28153720559456502</c:v>
                </c:pt>
                <c:pt idx="653">
                  <c:v>0.28153720559456502</c:v>
                </c:pt>
                <c:pt idx="654">
                  <c:v>0.28153720559456502</c:v>
                </c:pt>
                <c:pt idx="655">
                  <c:v>0.28153720559456502</c:v>
                </c:pt>
                <c:pt idx="656">
                  <c:v>0.28153720559456502</c:v>
                </c:pt>
                <c:pt idx="657">
                  <c:v>0.28153720559456502</c:v>
                </c:pt>
                <c:pt idx="658">
                  <c:v>0.28153720559456502</c:v>
                </c:pt>
                <c:pt idx="659">
                  <c:v>0.33139494640254802</c:v>
                </c:pt>
                <c:pt idx="660">
                  <c:v>0.33139494640254802</c:v>
                </c:pt>
                <c:pt idx="661">
                  <c:v>0.33139494640254802</c:v>
                </c:pt>
                <c:pt idx="662">
                  <c:v>0.33139494640254802</c:v>
                </c:pt>
                <c:pt idx="663">
                  <c:v>0.33139494640254802</c:v>
                </c:pt>
                <c:pt idx="664">
                  <c:v>0.404422924260806</c:v>
                </c:pt>
                <c:pt idx="665">
                  <c:v>0.404422924260806</c:v>
                </c:pt>
                <c:pt idx="666">
                  <c:v>0.404422924260806</c:v>
                </c:pt>
                <c:pt idx="667">
                  <c:v>0.39753455676891197</c:v>
                </c:pt>
                <c:pt idx="668">
                  <c:v>0.39753455676891197</c:v>
                </c:pt>
                <c:pt idx="669">
                  <c:v>0.41492382770581399</c:v>
                </c:pt>
                <c:pt idx="670">
                  <c:v>0.41492382770581399</c:v>
                </c:pt>
                <c:pt idx="671">
                  <c:v>0.41492382770581399</c:v>
                </c:pt>
                <c:pt idx="672">
                  <c:v>0.41492382770581399</c:v>
                </c:pt>
                <c:pt idx="673">
                  <c:v>0.41492382770581399</c:v>
                </c:pt>
                <c:pt idx="674">
                  <c:v>0.41233771643317702</c:v>
                </c:pt>
                <c:pt idx="675">
                  <c:v>0.41233771643317702</c:v>
                </c:pt>
                <c:pt idx="676">
                  <c:v>0.41233771643317702</c:v>
                </c:pt>
                <c:pt idx="677">
                  <c:v>0.41233771643317702</c:v>
                </c:pt>
                <c:pt idx="678">
                  <c:v>0.40226083862325102</c:v>
                </c:pt>
                <c:pt idx="679">
                  <c:v>0.40226083862325102</c:v>
                </c:pt>
                <c:pt idx="680">
                  <c:v>0.40226083862325102</c:v>
                </c:pt>
                <c:pt idx="681">
                  <c:v>0.40226083862325102</c:v>
                </c:pt>
                <c:pt idx="682">
                  <c:v>0.40226083862325102</c:v>
                </c:pt>
                <c:pt idx="683">
                  <c:v>0.44174331286746599</c:v>
                </c:pt>
                <c:pt idx="684">
                  <c:v>0.44174331286746599</c:v>
                </c:pt>
                <c:pt idx="685">
                  <c:v>0.44174331286746599</c:v>
                </c:pt>
                <c:pt idx="686">
                  <c:v>0.44174331286746599</c:v>
                </c:pt>
                <c:pt idx="687">
                  <c:v>0.46054051472194202</c:v>
                </c:pt>
                <c:pt idx="688">
                  <c:v>0.45992799651573901</c:v>
                </c:pt>
                <c:pt idx="689">
                  <c:v>0.45992799651573901</c:v>
                </c:pt>
                <c:pt idx="690">
                  <c:v>0.45992799651573901</c:v>
                </c:pt>
                <c:pt idx="691">
                  <c:v>0.45992799651573901</c:v>
                </c:pt>
                <c:pt idx="692">
                  <c:v>0.42914615919681298</c:v>
                </c:pt>
                <c:pt idx="693">
                  <c:v>0.42914615919681298</c:v>
                </c:pt>
                <c:pt idx="694">
                  <c:v>0.42914615919681298</c:v>
                </c:pt>
                <c:pt idx="695">
                  <c:v>0.42914615919681298</c:v>
                </c:pt>
                <c:pt idx="696">
                  <c:v>0.42914615919681298</c:v>
                </c:pt>
                <c:pt idx="697">
                  <c:v>0.38756459325455</c:v>
                </c:pt>
                <c:pt idx="698">
                  <c:v>0.38756459325455</c:v>
                </c:pt>
                <c:pt idx="699">
                  <c:v>0.38756459325455</c:v>
                </c:pt>
                <c:pt idx="700">
                  <c:v>0.38756459325455</c:v>
                </c:pt>
                <c:pt idx="701">
                  <c:v>0.41376095810168201</c:v>
                </c:pt>
                <c:pt idx="702">
                  <c:v>0.41376095810168201</c:v>
                </c:pt>
                <c:pt idx="703">
                  <c:v>0.41376095810168201</c:v>
                </c:pt>
                <c:pt idx="704">
                  <c:v>0.41376095810168201</c:v>
                </c:pt>
                <c:pt idx="705">
                  <c:v>0.39685395177288302</c:v>
                </c:pt>
                <c:pt idx="706">
                  <c:v>0.39685395177288302</c:v>
                </c:pt>
                <c:pt idx="707">
                  <c:v>0.39163572008716802</c:v>
                </c:pt>
                <c:pt idx="708">
                  <c:v>0.39163572008716802</c:v>
                </c:pt>
                <c:pt idx="709">
                  <c:v>0.39163572008716802</c:v>
                </c:pt>
                <c:pt idx="710">
                  <c:v>0.347358703685412</c:v>
                </c:pt>
                <c:pt idx="711">
                  <c:v>0.347358703685412</c:v>
                </c:pt>
                <c:pt idx="712">
                  <c:v>0.347358703685412</c:v>
                </c:pt>
                <c:pt idx="713">
                  <c:v>0.347358703685412</c:v>
                </c:pt>
                <c:pt idx="714">
                  <c:v>0.347358703685412</c:v>
                </c:pt>
                <c:pt idx="715">
                  <c:v>0.37050298104882501</c:v>
                </c:pt>
                <c:pt idx="716">
                  <c:v>0.37050298104882501</c:v>
                </c:pt>
                <c:pt idx="717">
                  <c:v>0.37050298104882501</c:v>
                </c:pt>
                <c:pt idx="718">
                  <c:v>0.37050298104882501</c:v>
                </c:pt>
                <c:pt idx="719">
                  <c:v>0.37050298104882501</c:v>
                </c:pt>
                <c:pt idx="720">
                  <c:v>0.33802122298332299</c:v>
                </c:pt>
                <c:pt idx="721">
                  <c:v>0.33802122298332299</c:v>
                </c:pt>
                <c:pt idx="722">
                  <c:v>0.33802122298332299</c:v>
                </c:pt>
                <c:pt idx="723">
                  <c:v>0.33802122298332299</c:v>
                </c:pt>
                <c:pt idx="724">
                  <c:v>0.32957871451229898</c:v>
                </c:pt>
                <c:pt idx="725">
                  <c:v>0.32957871451229898</c:v>
                </c:pt>
                <c:pt idx="726">
                  <c:v>0.32957871451229898</c:v>
                </c:pt>
                <c:pt idx="727">
                  <c:v>0.32957871451229898</c:v>
                </c:pt>
                <c:pt idx="728">
                  <c:v>0.273381996337976</c:v>
                </c:pt>
                <c:pt idx="729">
                  <c:v>0.273381996337976</c:v>
                </c:pt>
                <c:pt idx="730">
                  <c:v>0.273381996337976</c:v>
                </c:pt>
                <c:pt idx="731">
                  <c:v>0.273381996337976</c:v>
                </c:pt>
                <c:pt idx="732">
                  <c:v>0.273381996337976</c:v>
                </c:pt>
                <c:pt idx="733">
                  <c:v>0.28943231649708401</c:v>
                </c:pt>
                <c:pt idx="734">
                  <c:v>0.28943231649708401</c:v>
                </c:pt>
                <c:pt idx="735">
                  <c:v>0.28943231649708401</c:v>
                </c:pt>
                <c:pt idx="736">
                  <c:v>0.28943231649708401</c:v>
                </c:pt>
                <c:pt idx="737">
                  <c:v>0.28943231649708401</c:v>
                </c:pt>
                <c:pt idx="738">
                  <c:v>0.36765798039511299</c:v>
                </c:pt>
                <c:pt idx="739">
                  <c:v>0.36765798039511299</c:v>
                </c:pt>
                <c:pt idx="740">
                  <c:v>0.36765798039511299</c:v>
                </c:pt>
                <c:pt idx="741">
                  <c:v>0.36765798039511299</c:v>
                </c:pt>
                <c:pt idx="742">
                  <c:v>0.37084428304329597</c:v>
                </c:pt>
                <c:pt idx="743">
                  <c:v>0.37084428304329597</c:v>
                </c:pt>
                <c:pt idx="744">
                  <c:v>0.37084428304329597</c:v>
                </c:pt>
                <c:pt idx="745">
                  <c:v>0.37084428304329597</c:v>
                </c:pt>
                <c:pt idx="746">
                  <c:v>0.37084428304329597</c:v>
                </c:pt>
                <c:pt idx="747">
                  <c:v>0.38154102604960499</c:v>
                </c:pt>
                <c:pt idx="748">
                  <c:v>0.38154102604960499</c:v>
                </c:pt>
                <c:pt idx="749">
                  <c:v>0.37772565332895602</c:v>
                </c:pt>
                <c:pt idx="750">
                  <c:v>0.37772565332895602</c:v>
                </c:pt>
                <c:pt idx="751">
                  <c:v>0.37772565332895602</c:v>
                </c:pt>
                <c:pt idx="752">
                  <c:v>0.39983029630913802</c:v>
                </c:pt>
                <c:pt idx="753">
                  <c:v>0.39983029630913802</c:v>
                </c:pt>
                <c:pt idx="754">
                  <c:v>0.39983029630913802</c:v>
                </c:pt>
                <c:pt idx="755">
                  <c:v>0.39983029630913802</c:v>
                </c:pt>
                <c:pt idx="756">
                  <c:v>0.39983029630913802</c:v>
                </c:pt>
                <c:pt idx="757">
                  <c:v>0.385235227392075</c:v>
                </c:pt>
                <c:pt idx="758">
                  <c:v>0.385235227392075</c:v>
                </c:pt>
                <c:pt idx="759">
                  <c:v>0.385235227392075</c:v>
                </c:pt>
                <c:pt idx="760">
                  <c:v>0.385235227392075</c:v>
                </c:pt>
                <c:pt idx="761">
                  <c:v>0.375411030467661</c:v>
                </c:pt>
                <c:pt idx="762">
                  <c:v>0.375411030467661</c:v>
                </c:pt>
                <c:pt idx="763">
                  <c:v>0.375411030467661</c:v>
                </c:pt>
                <c:pt idx="764">
                  <c:v>0.375411030467661</c:v>
                </c:pt>
                <c:pt idx="765">
                  <c:v>0.375411030467661</c:v>
                </c:pt>
                <c:pt idx="766">
                  <c:v>0.36950911021955302</c:v>
                </c:pt>
                <c:pt idx="767">
                  <c:v>0.36950911021955302</c:v>
                </c:pt>
                <c:pt idx="768">
                  <c:v>0.36618748344447</c:v>
                </c:pt>
                <c:pt idx="769">
                  <c:v>0.36618748344447</c:v>
                </c:pt>
                <c:pt idx="770">
                  <c:v>0.36618748344447</c:v>
                </c:pt>
                <c:pt idx="771">
                  <c:v>0.38305038505575201</c:v>
                </c:pt>
                <c:pt idx="772">
                  <c:v>0.38305038505575201</c:v>
                </c:pt>
                <c:pt idx="773">
                  <c:v>0.38305038505575201</c:v>
                </c:pt>
                <c:pt idx="774">
                  <c:v>0.38305038505575201</c:v>
                </c:pt>
                <c:pt idx="775">
                  <c:v>0.38305038505575201</c:v>
                </c:pt>
                <c:pt idx="776">
                  <c:v>0.36618748344447</c:v>
                </c:pt>
                <c:pt idx="777">
                  <c:v>0.36618748344447</c:v>
                </c:pt>
                <c:pt idx="778">
                  <c:v>0.36618748344447</c:v>
                </c:pt>
                <c:pt idx="779">
                  <c:v>0.36618748344447</c:v>
                </c:pt>
                <c:pt idx="780">
                  <c:v>0.36618748344447</c:v>
                </c:pt>
                <c:pt idx="781">
                  <c:v>0.37473459168456602</c:v>
                </c:pt>
                <c:pt idx="782">
                  <c:v>0.37473459168456602</c:v>
                </c:pt>
                <c:pt idx="783">
                  <c:v>0.37473459168456602</c:v>
                </c:pt>
                <c:pt idx="784">
                  <c:v>0.37473459168456602</c:v>
                </c:pt>
                <c:pt idx="785">
                  <c:v>0.37473459168456602</c:v>
                </c:pt>
                <c:pt idx="786">
                  <c:v>0.36106783694827599</c:v>
                </c:pt>
                <c:pt idx="787">
                  <c:v>0.36106783694827599</c:v>
                </c:pt>
                <c:pt idx="788">
                  <c:v>0.36106783694827599</c:v>
                </c:pt>
                <c:pt idx="789">
                  <c:v>0.35665287918352401</c:v>
                </c:pt>
                <c:pt idx="790">
                  <c:v>0.35665287918352401</c:v>
                </c:pt>
                <c:pt idx="791">
                  <c:v>0.35514156438481698</c:v>
                </c:pt>
                <c:pt idx="792">
                  <c:v>0.35514156438481698</c:v>
                </c:pt>
                <c:pt idx="793">
                  <c:v>0.35514156438481698</c:v>
                </c:pt>
                <c:pt idx="794">
                  <c:v>0.35514156438481698</c:v>
                </c:pt>
                <c:pt idx="795">
                  <c:v>0.35514156438481698</c:v>
                </c:pt>
                <c:pt idx="796">
                  <c:v>0.36665858727100598</c:v>
                </c:pt>
                <c:pt idx="797">
                  <c:v>0.36665858727100598</c:v>
                </c:pt>
                <c:pt idx="798">
                  <c:v>0.36665858727100598</c:v>
                </c:pt>
                <c:pt idx="799">
                  <c:v>0.36665858727100598</c:v>
                </c:pt>
                <c:pt idx="800">
                  <c:v>0.36665858727100598</c:v>
                </c:pt>
                <c:pt idx="801">
                  <c:v>0.38166972699665502</c:v>
                </c:pt>
                <c:pt idx="802">
                  <c:v>0.38166972699665502</c:v>
                </c:pt>
                <c:pt idx="803">
                  <c:v>0.38166972699665502</c:v>
                </c:pt>
                <c:pt idx="804">
                  <c:v>0.38166972699665502</c:v>
                </c:pt>
                <c:pt idx="805">
                  <c:v>0.36809292035715802</c:v>
                </c:pt>
                <c:pt idx="806">
                  <c:v>0.36809292035715802</c:v>
                </c:pt>
                <c:pt idx="807">
                  <c:v>0.37329753351950501</c:v>
                </c:pt>
                <c:pt idx="808">
                  <c:v>0.37329753351950501</c:v>
                </c:pt>
                <c:pt idx="809">
                  <c:v>0.37329753351950501</c:v>
                </c:pt>
                <c:pt idx="810">
                  <c:v>0.37329753351950501</c:v>
                </c:pt>
                <c:pt idx="811">
                  <c:v>0.37329753351950501</c:v>
                </c:pt>
                <c:pt idx="812">
                  <c:v>0.40121753760358098</c:v>
                </c:pt>
                <c:pt idx="813">
                  <c:v>0.40121753760358098</c:v>
                </c:pt>
                <c:pt idx="814">
                  <c:v>0.40121753760358098</c:v>
                </c:pt>
                <c:pt idx="815">
                  <c:v>0.40121753760358098</c:v>
                </c:pt>
                <c:pt idx="816">
                  <c:v>0.40121753760358098</c:v>
                </c:pt>
                <c:pt idx="817">
                  <c:v>0.40418715867892502</c:v>
                </c:pt>
                <c:pt idx="818">
                  <c:v>0.40418715867892502</c:v>
                </c:pt>
                <c:pt idx="819">
                  <c:v>0.40418715867892502</c:v>
                </c:pt>
                <c:pt idx="820">
                  <c:v>0.40418715867892502</c:v>
                </c:pt>
                <c:pt idx="821">
                  <c:v>0.40418715867892502</c:v>
                </c:pt>
                <c:pt idx="822">
                  <c:v>0.43156044404796001</c:v>
                </c:pt>
                <c:pt idx="823">
                  <c:v>0.43156044404796001</c:v>
                </c:pt>
                <c:pt idx="824">
                  <c:v>0.43156044404796001</c:v>
                </c:pt>
                <c:pt idx="825">
                  <c:v>0.43156044404796001</c:v>
                </c:pt>
                <c:pt idx="826">
                  <c:v>0.44289145430937299</c:v>
                </c:pt>
                <c:pt idx="827">
                  <c:v>0.44289145430937299</c:v>
                </c:pt>
                <c:pt idx="828">
                  <c:v>0.44150761506791297</c:v>
                </c:pt>
                <c:pt idx="829">
                  <c:v>0.44150761506791297</c:v>
                </c:pt>
                <c:pt idx="830">
                  <c:v>0.44150761506791297</c:v>
                </c:pt>
                <c:pt idx="831">
                  <c:v>0.429907169996321</c:v>
                </c:pt>
                <c:pt idx="832">
                  <c:v>0.429907169996321</c:v>
                </c:pt>
                <c:pt idx="833">
                  <c:v>0.429907169996321</c:v>
                </c:pt>
                <c:pt idx="834">
                  <c:v>0.429907169996321</c:v>
                </c:pt>
                <c:pt idx="835">
                  <c:v>0.429907169996321</c:v>
                </c:pt>
                <c:pt idx="836">
                  <c:v>0.40128471016646999</c:v>
                </c:pt>
                <c:pt idx="837">
                  <c:v>0.40128471016646999</c:v>
                </c:pt>
                <c:pt idx="838">
                  <c:v>0.40128471016646999</c:v>
                </c:pt>
                <c:pt idx="839">
                  <c:v>0.40128471016646999</c:v>
                </c:pt>
                <c:pt idx="840">
                  <c:v>0.40128471016646999</c:v>
                </c:pt>
                <c:pt idx="841">
                  <c:v>0.41370374077875499</c:v>
                </c:pt>
                <c:pt idx="842">
                  <c:v>0.41370374077875499</c:v>
                </c:pt>
                <c:pt idx="843">
                  <c:v>0.41370374077875499</c:v>
                </c:pt>
                <c:pt idx="844">
                  <c:v>0.41370374077875499</c:v>
                </c:pt>
                <c:pt idx="845">
                  <c:v>0.41370374077875499</c:v>
                </c:pt>
                <c:pt idx="846">
                  <c:v>0.429907169996321</c:v>
                </c:pt>
                <c:pt idx="847">
                  <c:v>0.429907169996321</c:v>
                </c:pt>
                <c:pt idx="848">
                  <c:v>0.429907169996321</c:v>
                </c:pt>
                <c:pt idx="849">
                  <c:v>0.42761316319375098</c:v>
                </c:pt>
                <c:pt idx="850">
                  <c:v>0.42761316319375098</c:v>
                </c:pt>
                <c:pt idx="851">
                  <c:v>0.43906416657041802</c:v>
                </c:pt>
                <c:pt idx="852">
                  <c:v>0.43906416657041802</c:v>
                </c:pt>
                <c:pt idx="853">
                  <c:v>0.43906416657041802</c:v>
                </c:pt>
                <c:pt idx="854">
                  <c:v>0.43906416657041802</c:v>
                </c:pt>
                <c:pt idx="855">
                  <c:v>0.420794457847457</c:v>
                </c:pt>
                <c:pt idx="856">
                  <c:v>0.420794457847457</c:v>
                </c:pt>
                <c:pt idx="857">
                  <c:v>0.420794457847457</c:v>
                </c:pt>
                <c:pt idx="858">
                  <c:v>0.420794457847457</c:v>
                </c:pt>
                <c:pt idx="859">
                  <c:v>0.420794457847457</c:v>
                </c:pt>
                <c:pt idx="860">
                  <c:v>0.43231309412176999</c:v>
                </c:pt>
                <c:pt idx="861">
                  <c:v>0.43231309412176999</c:v>
                </c:pt>
                <c:pt idx="862">
                  <c:v>0.43231309412176999</c:v>
                </c:pt>
                <c:pt idx="863">
                  <c:v>0.43231309412176999</c:v>
                </c:pt>
                <c:pt idx="864">
                  <c:v>0.43231309412176999</c:v>
                </c:pt>
                <c:pt idx="865">
                  <c:v>0.43231309412176999</c:v>
                </c:pt>
                <c:pt idx="866">
                  <c:v>0.43231309412176999</c:v>
                </c:pt>
                <c:pt idx="867">
                  <c:v>0.43231309412176999</c:v>
                </c:pt>
                <c:pt idx="868">
                  <c:v>0.43231309412176999</c:v>
                </c:pt>
                <c:pt idx="869">
                  <c:v>0.43231309412176999</c:v>
                </c:pt>
                <c:pt idx="870">
                  <c:v>0.43538889187038299</c:v>
                </c:pt>
                <c:pt idx="871">
                  <c:v>0.43538889187038299</c:v>
                </c:pt>
                <c:pt idx="872">
                  <c:v>0.43538889187038299</c:v>
                </c:pt>
                <c:pt idx="873">
                  <c:v>0.43538889187038299</c:v>
                </c:pt>
                <c:pt idx="874">
                  <c:v>0.42413376349642801</c:v>
                </c:pt>
                <c:pt idx="875">
                  <c:v>0.42413376349642801</c:v>
                </c:pt>
                <c:pt idx="876">
                  <c:v>0.42413376349642801</c:v>
                </c:pt>
                <c:pt idx="877">
                  <c:v>0.42413376349642801</c:v>
                </c:pt>
                <c:pt idx="878">
                  <c:v>0.42413376349642801</c:v>
                </c:pt>
                <c:pt idx="879">
                  <c:v>0.43538889187038299</c:v>
                </c:pt>
                <c:pt idx="880">
                  <c:v>0.43538889187038299</c:v>
                </c:pt>
                <c:pt idx="881">
                  <c:v>0.43538889187038299</c:v>
                </c:pt>
                <c:pt idx="882">
                  <c:v>0.43538889187038299</c:v>
                </c:pt>
                <c:pt idx="883">
                  <c:v>0.43538889187038299</c:v>
                </c:pt>
                <c:pt idx="884">
                  <c:v>0.45105980423070802</c:v>
                </c:pt>
                <c:pt idx="885">
                  <c:v>0.45105980423070802</c:v>
                </c:pt>
                <c:pt idx="886">
                  <c:v>0.45105980423070802</c:v>
                </c:pt>
                <c:pt idx="887">
                  <c:v>0.45105980423070802</c:v>
                </c:pt>
                <c:pt idx="888">
                  <c:v>0.45105980423070802</c:v>
                </c:pt>
                <c:pt idx="889">
                  <c:v>0.45105980423070802</c:v>
                </c:pt>
                <c:pt idx="890">
                  <c:v>0.45105980423070802</c:v>
                </c:pt>
                <c:pt idx="891">
                  <c:v>0.44686834225614502</c:v>
                </c:pt>
                <c:pt idx="892">
                  <c:v>0.44686834225614502</c:v>
                </c:pt>
                <c:pt idx="893">
                  <c:v>0.44686834225614502</c:v>
                </c:pt>
                <c:pt idx="894">
                  <c:v>0.44686834225614502</c:v>
                </c:pt>
                <c:pt idx="895">
                  <c:v>0.44686834225614502</c:v>
                </c:pt>
                <c:pt idx="896">
                  <c:v>0.44686834225614502</c:v>
                </c:pt>
                <c:pt idx="897">
                  <c:v>0.44686834225614502</c:v>
                </c:pt>
                <c:pt idx="898">
                  <c:v>0.43119648526610799</c:v>
                </c:pt>
                <c:pt idx="899">
                  <c:v>0.43119648526610799</c:v>
                </c:pt>
                <c:pt idx="900">
                  <c:v>0.43119648526610799</c:v>
                </c:pt>
                <c:pt idx="901">
                  <c:v>0.43119648526610799</c:v>
                </c:pt>
                <c:pt idx="902">
                  <c:v>0.43119648526610799</c:v>
                </c:pt>
                <c:pt idx="903">
                  <c:v>0.37422484012928398</c:v>
                </c:pt>
                <c:pt idx="904">
                  <c:v>0.37422484012928398</c:v>
                </c:pt>
                <c:pt idx="905">
                  <c:v>0.37422484012928398</c:v>
                </c:pt>
                <c:pt idx="906">
                  <c:v>0.37422484012928398</c:v>
                </c:pt>
                <c:pt idx="907">
                  <c:v>0.37422484012928398</c:v>
                </c:pt>
                <c:pt idx="908">
                  <c:v>0.38870901214480402</c:v>
                </c:pt>
                <c:pt idx="909">
                  <c:v>0.38870901214480402</c:v>
                </c:pt>
                <c:pt idx="910">
                  <c:v>0.38870901214480402</c:v>
                </c:pt>
                <c:pt idx="911">
                  <c:v>0.38870901214480402</c:v>
                </c:pt>
                <c:pt idx="912">
                  <c:v>0.38430847776478</c:v>
                </c:pt>
                <c:pt idx="913">
                  <c:v>0.38901935972403701</c:v>
                </c:pt>
                <c:pt idx="914">
                  <c:v>0.38901935972403701</c:v>
                </c:pt>
                <c:pt idx="915">
                  <c:v>0.38901935972403701</c:v>
                </c:pt>
                <c:pt idx="916">
                  <c:v>0.38901935972403701</c:v>
                </c:pt>
                <c:pt idx="917">
                  <c:v>0.38901935972403701</c:v>
                </c:pt>
                <c:pt idx="918">
                  <c:v>0.42675826592863297</c:v>
                </c:pt>
                <c:pt idx="919">
                  <c:v>0.42675826592863297</c:v>
                </c:pt>
                <c:pt idx="920">
                  <c:v>0.42675826592863297</c:v>
                </c:pt>
                <c:pt idx="921">
                  <c:v>0.42675826592863297</c:v>
                </c:pt>
                <c:pt idx="922">
                  <c:v>0.54988615852829004</c:v>
                </c:pt>
                <c:pt idx="923">
                  <c:v>0.54988615852829004</c:v>
                </c:pt>
                <c:pt idx="924">
                  <c:v>0.54988615852829004</c:v>
                </c:pt>
                <c:pt idx="925">
                  <c:v>0.54988615852829004</c:v>
                </c:pt>
                <c:pt idx="926">
                  <c:v>0.54988615852829004</c:v>
                </c:pt>
                <c:pt idx="927">
                  <c:v>0.57517284737260699</c:v>
                </c:pt>
                <c:pt idx="928">
                  <c:v>0.57517284737260699</c:v>
                </c:pt>
                <c:pt idx="929">
                  <c:v>0.57517284737260699</c:v>
                </c:pt>
                <c:pt idx="930">
                  <c:v>0.57517284737260699</c:v>
                </c:pt>
                <c:pt idx="931">
                  <c:v>0.57517284737260699</c:v>
                </c:pt>
                <c:pt idx="932">
                  <c:v>0.54355644019764404</c:v>
                </c:pt>
                <c:pt idx="933">
                  <c:v>0.54355644019764404</c:v>
                </c:pt>
                <c:pt idx="934">
                  <c:v>0.54089108147199405</c:v>
                </c:pt>
                <c:pt idx="935">
                  <c:v>0.54089108147199405</c:v>
                </c:pt>
                <c:pt idx="936">
                  <c:v>0.54089108147199405</c:v>
                </c:pt>
                <c:pt idx="937">
                  <c:v>0.505106736466303</c:v>
                </c:pt>
                <c:pt idx="938">
                  <c:v>0.505106736466303</c:v>
                </c:pt>
                <c:pt idx="939">
                  <c:v>0.505106736466303</c:v>
                </c:pt>
                <c:pt idx="940">
                  <c:v>0.505106736466303</c:v>
                </c:pt>
                <c:pt idx="941">
                  <c:v>0.51180256347737196</c:v>
                </c:pt>
                <c:pt idx="942">
                  <c:v>0.51180256347737196</c:v>
                </c:pt>
                <c:pt idx="943">
                  <c:v>0.51180256347737196</c:v>
                </c:pt>
                <c:pt idx="944">
                  <c:v>0.51180256347737196</c:v>
                </c:pt>
                <c:pt idx="945">
                  <c:v>0.51180256347737196</c:v>
                </c:pt>
                <c:pt idx="946">
                  <c:v>0.53125439488383197</c:v>
                </c:pt>
                <c:pt idx="947">
                  <c:v>0.53125439488383197</c:v>
                </c:pt>
                <c:pt idx="948">
                  <c:v>0.53125439488383197</c:v>
                </c:pt>
                <c:pt idx="949">
                  <c:v>0.53125439488383197</c:v>
                </c:pt>
                <c:pt idx="950">
                  <c:v>0.54741627949472405</c:v>
                </c:pt>
                <c:pt idx="951">
                  <c:v>0.54741627949472405</c:v>
                </c:pt>
                <c:pt idx="952">
                  <c:v>0.54296193584840502</c:v>
                </c:pt>
                <c:pt idx="953">
                  <c:v>0.54296193584840502</c:v>
                </c:pt>
                <c:pt idx="954">
                  <c:v>0.54296193584840502</c:v>
                </c:pt>
                <c:pt idx="955">
                  <c:v>0.57616107650745496</c:v>
                </c:pt>
                <c:pt idx="956">
                  <c:v>0.57616107650745496</c:v>
                </c:pt>
                <c:pt idx="957">
                  <c:v>0.57616107650745496</c:v>
                </c:pt>
                <c:pt idx="958">
                  <c:v>0.57616107650745496</c:v>
                </c:pt>
                <c:pt idx="959">
                  <c:v>0.57616107650745496</c:v>
                </c:pt>
                <c:pt idx="960">
                  <c:v>0.56511283574971805</c:v>
                </c:pt>
                <c:pt idx="961">
                  <c:v>0.56511283574971805</c:v>
                </c:pt>
                <c:pt idx="962">
                  <c:v>0.56511283574971805</c:v>
                </c:pt>
                <c:pt idx="963">
                  <c:v>0.56511283574971805</c:v>
                </c:pt>
                <c:pt idx="964">
                  <c:v>0.56511283574971805</c:v>
                </c:pt>
                <c:pt idx="965">
                  <c:v>0.60670206616303102</c:v>
                </c:pt>
                <c:pt idx="966">
                  <c:v>0.60670206616303102</c:v>
                </c:pt>
                <c:pt idx="967">
                  <c:v>0.60670206616303102</c:v>
                </c:pt>
                <c:pt idx="968">
                  <c:v>0.60670206616303102</c:v>
                </c:pt>
                <c:pt idx="969">
                  <c:v>0.59762468592169804</c:v>
                </c:pt>
                <c:pt idx="970">
                  <c:v>0.59762468592169804</c:v>
                </c:pt>
                <c:pt idx="971">
                  <c:v>0.59762468592169804</c:v>
                </c:pt>
                <c:pt idx="972">
                  <c:v>0.59762468592169804</c:v>
                </c:pt>
                <c:pt idx="973">
                  <c:v>0.58158481943829898</c:v>
                </c:pt>
                <c:pt idx="974">
                  <c:v>0.57715851233210802</c:v>
                </c:pt>
                <c:pt idx="975">
                  <c:v>0.57710358293411501</c:v>
                </c:pt>
                <c:pt idx="976">
                  <c:v>0.57710358293411501</c:v>
                </c:pt>
                <c:pt idx="977">
                  <c:v>0.57710358293411501</c:v>
                </c:pt>
                <c:pt idx="978">
                  <c:v>0.62970048301444503</c:v>
                </c:pt>
                <c:pt idx="979">
                  <c:v>0.62970048301444503</c:v>
                </c:pt>
                <c:pt idx="980">
                  <c:v>0.62970048301444503</c:v>
                </c:pt>
                <c:pt idx="981">
                  <c:v>0.62970048301444503</c:v>
                </c:pt>
                <c:pt idx="982">
                  <c:v>0.62970048301444503</c:v>
                </c:pt>
                <c:pt idx="983">
                  <c:v>0.65278570887391996</c:v>
                </c:pt>
                <c:pt idx="984">
                  <c:v>0.65278570887391996</c:v>
                </c:pt>
                <c:pt idx="985">
                  <c:v>0.65278570887391996</c:v>
                </c:pt>
                <c:pt idx="986">
                  <c:v>0.65278570887391996</c:v>
                </c:pt>
                <c:pt idx="987">
                  <c:v>0.65278570887391996</c:v>
                </c:pt>
                <c:pt idx="988">
                  <c:v>0.66264885680248997</c:v>
                </c:pt>
                <c:pt idx="989">
                  <c:v>0.66264885680248997</c:v>
                </c:pt>
                <c:pt idx="990">
                  <c:v>0.66264885680248997</c:v>
                </c:pt>
                <c:pt idx="991">
                  <c:v>0.66264885680248997</c:v>
                </c:pt>
                <c:pt idx="992">
                  <c:v>0.66264885680248997</c:v>
                </c:pt>
                <c:pt idx="993">
                  <c:v>0.66264885680248997</c:v>
                </c:pt>
                <c:pt idx="994">
                  <c:v>0.66264885680248997</c:v>
                </c:pt>
                <c:pt idx="995">
                  <c:v>0.68438167594716104</c:v>
                </c:pt>
                <c:pt idx="996">
                  <c:v>0.68438167594716104</c:v>
                </c:pt>
                <c:pt idx="997">
                  <c:v>0.68438167594716104</c:v>
                </c:pt>
                <c:pt idx="998">
                  <c:v>0.68438167594716104</c:v>
                </c:pt>
                <c:pt idx="999">
                  <c:v>0.68438167594716104</c:v>
                </c:pt>
                <c:pt idx="1000">
                  <c:v>0.64890841265420796</c:v>
                </c:pt>
                <c:pt idx="1001">
                  <c:v>0.64890841265420796</c:v>
                </c:pt>
                <c:pt idx="1002">
                  <c:v>0.64890841265420796</c:v>
                </c:pt>
                <c:pt idx="1003">
                  <c:v>0.64890841265420796</c:v>
                </c:pt>
                <c:pt idx="1004">
                  <c:v>0.64890841265420796</c:v>
                </c:pt>
                <c:pt idx="1005">
                  <c:v>0.63</c:v>
                </c:pt>
                <c:pt idx="1006">
                  <c:v>0.63</c:v>
                </c:pt>
                <c:pt idx="1007">
                  <c:v>0.63</c:v>
                </c:pt>
                <c:pt idx="1008">
                  <c:v>0.63</c:v>
                </c:pt>
                <c:pt idx="1009">
                  <c:v>0.61</c:v>
                </c:pt>
                <c:pt idx="1010">
                  <c:v>0.61</c:v>
                </c:pt>
                <c:pt idx="1011">
                  <c:v>0.61</c:v>
                </c:pt>
                <c:pt idx="1012">
                  <c:v>0.61</c:v>
                </c:pt>
                <c:pt idx="1013">
                  <c:v>0.61</c:v>
                </c:pt>
                <c:pt idx="1014">
                  <c:v>0.62</c:v>
                </c:pt>
                <c:pt idx="1015">
                  <c:v>0.62</c:v>
                </c:pt>
                <c:pt idx="1016">
                  <c:v>0.62</c:v>
                </c:pt>
                <c:pt idx="1017">
                  <c:v>0.62</c:v>
                </c:pt>
                <c:pt idx="1018">
                  <c:v>0.62</c:v>
                </c:pt>
                <c:pt idx="1019">
                  <c:v>0.62</c:v>
                </c:pt>
                <c:pt idx="1020">
                  <c:v>0.62</c:v>
                </c:pt>
                <c:pt idx="1021">
                  <c:v>0.62</c:v>
                </c:pt>
                <c:pt idx="1022">
                  <c:v>0.62</c:v>
                </c:pt>
                <c:pt idx="1023">
                  <c:v>0.57999999999999996</c:v>
                </c:pt>
                <c:pt idx="1024">
                  <c:v>0.57999999999999996</c:v>
                </c:pt>
                <c:pt idx="1025">
                  <c:v>0.57999999999999996</c:v>
                </c:pt>
                <c:pt idx="1026">
                  <c:v>0.57999999999999996</c:v>
                </c:pt>
                <c:pt idx="1027">
                  <c:v>0.61</c:v>
                </c:pt>
                <c:pt idx="1028">
                  <c:v>0.61</c:v>
                </c:pt>
                <c:pt idx="1029">
                  <c:v>0.61</c:v>
                </c:pt>
                <c:pt idx="1030">
                  <c:v>0.61</c:v>
                </c:pt>
                <c:pt idx="1031">
                  <c:v>0.61</c:v>
                </c:pt>
                <c:pt idx="1032">
                  <c:v>0.64</c:v>
                </c:pt>
                <c:pt idx="1033">
                  <c:v>0.64</c:v>
                </c:pt>
                <c:pt idx="1034">
                  <c:v>0.64</c:v>
                </c:pt>
                <c:pt idx="1035">
                  <c:v>0.64</c:v>
                </c:pt>
                <c:pt idx="1036">
                  <c:v>0.64</c:v>
                </c:pt>
                <c:pt idx="1037">
                  <c:v>0.63</c:v>
                </c:pt>
                <c:pt idx="1038">
                  <c:v>0.63</c:v>
                </c:pt>
                <c:pt idx="1039">
                  <c:v>0.63</c:v>
                </c:pt>
                <c:pt idx="1040">
                  <c:v>0.63</c:v>
                </c:pt>
                <c:pt idx="1041">
                  <c:v>0.63</c:v>
                </c:pt>
                <c:pt idx="1042">
                  <c:v>0.64</c:v>
                </c:pt>
                <c:pt idx="1043">
                  <c:v>0.64</c:v>
                </c:pt>
                <c:pt idx="1044">
                  <c:v>0.64</c:v>
                </c:pt>
                <c:pt idx="1045">
                  <c:v>0.64</c:v>
                </c:pt>
                <c:pt idx="1046">
                  <c:v>0.64</c:v>
                </c:pt>
                <c:pt idx="1047">
                  <c:v>0.63</c:v>
                </c:pt>
                <c:pt idx="1048">
                  <c:v>0.63</c:v>
                </c:pt>
                <c:pt idx="1049">
                  <c:v>0.63</c:v>
                </c:pt>
                <c:pt idx="1050">
                  <c:v>0.63</c:v>
                </c:pt>
                <c:pt idx="1051">
                  <c:v>0.63</c:v>
                </c:pt>
                <c:pt idx="1052">
                  <c:v>0.63</c:v>
                </c:pt>
                <c:pt idx="1053">
                  <c:v>0.65</c:v>
                </c:pt>
                <c:pt idx="1054">
                  <c:v>0.65</c:v>
                </c:pt>
                <c:pt idx="1055">
                  <c:v>0.65</c:v>
                </c:pt>
                <c:pt idx="1056">
                  <c:v>0.64</c:v>
                </c:pt>
                <c:pt idx="1057">
                  <c:v>0.64</c:v>
                </c:pt>
                <c:pt idx="1058">
                  <c:v>0.64</c:v>
                </c:pt>
                <c:pt idx="1059">
                  <c:v>0.64</c:v>
                </c:pt>
                <c:pt idx="1060">
                  <c:v>0.64</c:v>
                </c:pt>
                <c:pt idx="1061">
                  <c:v>0.57999999999999996</c:v>
                </c:pt>
                <c:pt idx="1062">
                  <c:v>0.57999999999999996</c:v>
                </c:pt>
                <c:pt idx="1063">
                  <c:v>0.57999999999999996</c:v>
                </c:pt>
                <c:pt idx="1064">
                  <c:v>0.57999999999999996</c:v>
                </c:pt>
                <c:pt idx="1065">
                  <c:v>0.57999999999999996</c:v>
                </c:pt>
                <c:pt idx="1066">
                  <c:v>0.57999999999999996</c:v>
                </c:pt>
                <c:pt idx="1067">
                  <c:v>0.56000000000000005</c:v>
                </c:pt>
                <c:pt idx="1068">
                  <c:v>0.56000000000000005</c:v>
                </c:pt>
                <c:pt idx="1069">
                  <c:v>0.56000000000000005</c:v>
                </c:pt>
                <c:pt idx="1070">
                  <c:v>0.56000000000000005</c:v>
                </c:pt>
                <c:pt idx="1071">
                  <c:v>0.56000000000000005</c:v>
                </c:pt>
                <c:pt idx="1072">
                  <c:v>0.55000000000000004</c:v>
                </c:pt>
                <c:pt idx="1073">
                  <c:v>0.55000000000000004</c:v>
                </c:pt>
                <c:pt idx="1074">
                  <c:v>0.55000000000000004</c:v>
                </c:pt>
                <c:pt idx="1075">
                  <c:v>0.55000000000000004</c:v>
                </c:pt>
                <c:pt idx="1076">
                  <c:v>0.55000000000000004</c:v>
                </c:pt>
                <c:pt idx="1077">
                  <c:v>0.55000000000000004</c:v>
                </c:pt>
                <c:pt idx="1078">
                  <c:v>0.55000000000000004</c:v>
                </c:pt>
                <c:pt idx="1079">
                  <c:v>0.55000000000000004</c:v>
                </c:pt>
                <c:pt idx="1080">
                  <c:v>0.54</c:v>
                </c:pt>
                <c:pt idx="1081">
                  <c:v>0.54</c:v>
                </c:pt>
                <c:pt idx="1082">
                  <c:v>0.54</c:v>
                </c:pt>
                <c:pt idx="1083">
                  <c:v>0.54</c:v>
                </c:pt>
                <c:pt idx="1084">
                  <c:v>0.54</c:v>
                </c:pt>
                <c:pt idx="1085">
                  <c:v>0.54</c:v>
                </c:pt>
                <c:pt idx="1086">
                  <c:v>0.45</c:v>
                </c:pt>
                <c:pt idx="1087">
                  <c:v>0.45</c:v>
                </c:pt>
                <c:pt idx="1088">
                  <c:v>0.45</c:v>
                </c:pt>
                <c:pt idx="1089">
                  <c:v>0.45</c:v>
                </c:pt>
                <c:pt idx="1090">
                  <c:v>0.45</c:v>
                </c:pt>
                <c:pt idx="1091">
                  <c:v>0.47</c:v>
                </c:pt>
                <c:pt idx="1092">
                  <c:v>0.47</c:v>
                </c:pt>
                <c:pt idx="1093">
                  <c:v>0.47</c:v>
                </c:pt>
                <c:pt idx="1094">
                  <c:v>0.47</c:v>
                </c:pt>
                <c:pt idx="1095">
                  <c:v>0.45</c:v>
                </c:pt>
                <c:pt idx="1096">
                  <c:v>0.45</c:v>
                </c:pt>
                <c:pt idx="1097">
                  <c:v>0.45</c:v>
                </c:pt>
                <c:pt idx="1098">
                  <c:v>0.45</c:v>
                </c:pt>
                <c:pt idx="1099">
                  <c:v>0.45</c:v>
                </c:pt>
                <c:pt idx="1100">
                  <c:v>0.43</c:v>
                </c:pt>
                <c:pt idx="1101">
                  <c:v>0.43</c:v>
                </c:pt>
                <c:pt idx="1102">
                  <c:v>0.43</c:v>
                </c:pt>
                <c:pt idx="1103">
                  <c:v>0.43</c:v>
                </c:pt>
                <c:pt idx="1104">
                  <c:v>0.45</c:v>
                </c:pt>
                <c:pt idx="1105">
                  <c:v>0.45</c:v>
                </c:pt>
                <c:pt idx="1106">
                  <c:v>0.45</c:v>
                </c:pt>
                <c:pt idx="1107">
                  <c:v>0.45</c:v>
                </c:pt>
                <c:pt idx="1108">
                  <c:v>0.45</c:v>
                </c:pt>
                <c:pt idx="1109">
                  <c:v>0.42</c:v>
                </c:pt>
                <c:pt idx="1110">
                  <c:v>0.42</c:v>
                </c:pt>
                <c:pt idx="1111">
                  <c:v>0.42</c:v>
                </c:pt>
                <c:pt idx="1112">
                  <c:v>0.42</c:v>
                </c:pt>
                <c:pt idx="1113">
                  <c:v>0.42</c:v>
                </c:pt>
                <c:pt idx="1114">
                  <c:v>0.45</c:v>
                </c:pt>
                <c:pt idx="1115">
                  <c:v>0.45</c:v>
                </c:pt>
                <c:pt idx="1116">
                  <c:v>0.45</c:v>
                </c:pt>
                <c:pt idx="1117">
                  <c:v>0.45</c:v>
                </c:pt>
                <c:pt idx="1118">
                  <c:v>0.45</c:v>
                </c:pt>
                <c:pt idx="1119">
                  <c:v>0.5</c:v>
                </c:pt>
                <c:pt idx="1120">
                  <c:v>0.5</c:v>
                </c:pt>
                <c:pt idx="1121">
                  <c:v>0.5</c:v>
                </c:pt>
                <c:pt idx="1122">
                  <c:v>0.5</c:v>
                </c:pt>
                <c:pt idx="1123">
                  <c:v>0.5</c:v>
                </c:pt>
                <c:pt idx="1124">
                  <c:v>0.52</c:v>
                </c:pt>
                <c:pt idx="1125">
                  <c:v>0.52</c:v>
                </c:pt>
                <c:pt idx="1126">
                  <c:v>0.52</c:v>
                </c:pt>
                <c:pt idx="1127">
                  <c:v>0.52</c:v>
                </c:pt>
                <c:pt idx="1128">
                  <c:v>0.52</c:v>
                </c:pt>
                <c:pt idx="1129">
                  <c:v>0.51</c:v>
                </c:pt>
                <c:pt idx="1130">
                  <c:v>0.51</c:v>
                </c:pt>
                <c:pt idx="1131">
                  <c:v>0.51</c:v>
                </c:pt>
                <c:pt idx="1132">
                  <c:v>0.51</c:v>
                </c:pt>
                <c:pt idx="1133">
                  <c:v>0.51</c:v>
                </c:pt>
                <c:pt idx="1134">
                  <c:v>0.51</c:v>
                </c:pt>
                <c:pt idx="1135">
                  <c:v>0.51</c:v>
                </c:pt>
                <c:pt idx="1136">
                  <c:v>0.51</c:v>
                </c:pt>
                <c:pt idx="1137">
                  <c:v>0.51</c:v>
                </c:pt>
                <c:pt idx="1138">
                  <c:v>0.51</c:v>
                </c:pt>
                <c:pt idx="1139">
                  <c:v>0.55000000000000004</c:v>
                </c:pt>
                <c:pt idx="1140">
                  <c:v>0.55000000000000004</c:v>
                </c:pt>
                <c:pt idx="1141">
                  <c:v>0.55000000000000004</c:v>
                </c:pt>
                <c:pt idx="1142">
                  <c:v>0.55000000000000004</c:v>
                </c:pt>
                <c:pt idx="1143">
                  <c:v>0.55000000000000004</c:v>
                </c:pt>
                <c:pt idx="1144">
                  <c:v>0.52</c:v>
                </c:pt>
                <c:pt idx="1145">
                  <c:v>0.52</c:v>
                </c:pt>
                <c:pt idx="1146">
                  <c:v>0.52</c:v>
                </c:pt>
                <c:pt idx="1147">
                  <c:v>0.52</c:v>
                </c:pt>
                <c:pt idx="1148">
                  <c:v>0.51</c:v>
                </c:pt>
                <c:pt idx="1149">
                  <c:v>0.51</c:v>
                </c:pt>
                <c:pt idx="1150">
                  <c:v>0.51</c:v>
                </c:pt>
                <c:pt idx="1151">
                  <c:v>0.51</c:v>
                </c:pt>
                <c:pt idx="1152">
                  <c:v>0.51</c:v>
                </c:pt>
                <c:pt idx="1153">
                  <c:v>0.51</c:v>
                </c:pt>
                <c:pt idx="1154">
                  <c:v>0.51</c:v>
                </c:pt>
                <c:pt idx="1155">
                  <c:v>0.51</c:v>
                </c:pt>
                <c:pt idx="1156">
                  <c:v>0.51</c:v>
                </c:pt>
                <c:pt idx="1157">
                  <c:v>0.51</c:v>
                </c:pt>
                <c:pt idx="1158">
                  <c:v>0.52</c:v>
                </c:pt>
                <c:pt idx="1159">
                  <c:v>0.52</c:v>
                </c:pt>
                <c:pt idx="1160">
                  <c:v>0.52</c:v>
                </c:pt>
                <c:pt idx="1161">
                  <c:v>0.52</c:v>
                </c:pt>
                <c:pt idx="1162">
                  <c:v>0.52</c:v>
                </c:pt>
                <c:pt idx="1163">
                  <c:v>0.53</c:v>
                </c:pt>
                <c:pt idx="1164">
                  <c:v>0.53</c:v>
                </c:pt>
                <c:pt idx="1165">
                  <c:v>0.57894029457192531</c:v>
                </c:pt>
                <c:pt idx="1166">
                  <c:v>0.57894029457192531</c:v>
                </c:pt>
                <c:pt idx="1167">
                  <c:v>0.57894029457192531</c:v>
                </c:pt>
                <c:pt idx="1168">
                  <c:v>0.57894029457192531</c:v>
                </c:pt>
                <c:pt idx="1169">
                  <c:v>0.57894029457192531</c:v>
                </c:pt>
                <c:pt idx="1170">
                  <c:v>0.54767612302289337</c:v>
                </c:pt>
                <c:pt idx="1171">
                  <c:v>0.54767612302289337</c:v>
                </c:pt>
                <c:pt idx="1172">
                  <c:v>0.54767612302289337</c:v>
                </c:pt>
                <c:pt idx="1173">
                  <c:v>0.54767612302289337</c:v>
                </c:pt>
                <c:pt idx="1174">
                  <c:v>0.56317380692680197</c:v>
                </c:pt>
                <c:pt idx="1175">
                  <c:v>0.56317380692680197</c:v>
                </c:pt>
                <c:pt idx="1176">
                  <c:v>0.56317380692680197</c:v>
                </c:pt>
                <c:pt idx="1177">
                  <c:v>0.56317380692680197</c:v>
                </c:pt>
                <c:pt idx="1178">
                  <c:v>0.56317380692680197</c:v>
                </c:pt>
                <c:pt idx="1179">
                  <c:v>0.57894029457192531</c:v>
                </c:pt>
                <c:pt idx="1180">
                  <c:v>0.57894029457192531</c:v>
                </c:pt>
                <c:pt idx="1181">
                  <c:v>0.57894029457192531</c:v>
                </c:pt>
                <c:pt idx="1182">
                  <c:v>0.57894029457192531</c:v>
                </c:pt>
                <c:pt idx="1183">
                  <c:v>0.57894029457192531</c:v>
                </c:pt>
                <c:pt idx="1184">
                  <c:v>0.51511509569715663</c:v>
                </c:pt>
                <c:pt idx="1185">
                  <c:v>0.51511509569715663</c:v>
                </c:pt>
                <c:pt idx="1186">
                  <c:v>0.51511509569715663</c:v>
                </c:pt>
                <c:pt idx="1187">
                  <c:v>0.51511509569715663</c:v>
                </c:pt>
                <c:pt idx="1188">
                  <c:v>0.51511509569715663</c:v>
                </c:pt>
                <c:pt idx="1189">
                  <c:v>0.4725306175940911</c:v>
                </c:pt>
                <c:pt idx="1190">
                  <c:v>0.4725306175940911</c:v>
                </c:pt>
                <c:pt idx="1191">
                  <c:v>0.4725306175940911</c:v>
                </c:pt>
                <c:pt idx="1192">
                  <c:v>0.4725306175940911</c:v>
                </c:pt>
                <c:pt idx="1193">
                  <c:v>0.47861527230793388</c:v>
                </c:pt>
                <c:pt idx="1194">
                  <c:v>0.47861527230793388</c:v>
                </c:pt>
                <c:pt idx="1195">
                  <c:v>0.47861527230793388</c:v>
                </c:pt>
                <c:pt idx="1196">
                  <c:v>0.47861527230793388</c:v>
                </c:pt>
                <c:pt idx="1197">
                  <c:v>0.47861527230793388</c:v>
                </c:pt>
                <c:pt idx="1198">
                  <c:v>0.47590352827743421</c:v>
                </c:pt>
                <c:pt idx="1199">
                  <c:v>0.47590352827743421</c:v>
                </c:pt>
                <c:pt idx="1200">
                  <c:v>0.47590352827743421</c:v>
                </c:pt>
                <c:pt idx="1201">
                  <c:v>0.47590352827743421</c:v>
                </c:pt>
                <c:pt idx="1202">
                  <c:v>0.48721504831495865</c:v>
                </c:pt>
                <c:pt idx="1203">
                  <c:v>0.48721504831495865</c:v>
                </c:pt>
                <c:pt idx="1204">
                  <c:v>0.48721504831495865</c:v>
                </c:pt>
                <c:pt idx="1205">
                  <c:v>0.48721504831495865</c:v>
                </c:pt>
                <c:pt idx="1206">
                  <c:v>0.48721504831495865</c:v>
                </c:pt>
                <c:pt idx="1207">
                  <c:v>0.48108278915877944</c:v>
                </c:pt>
                <c:pt idx="1208">
                  <c:v>0.48108278915877944</c:v>
                </c:pt>
                <c:pt idx="1209">
                  <c:v>0.48108278915877944</c:v>
                </c:pt>
                <c:pt idx="1210">
                  <c:v>0.48108278915877944</c:v>
                </c:pt>
                <c:pt idx="1211">
                  <c:v>0.48108278915877944</c:v>
                </c:pt>
              </c:numCache>
            </c:numRef>
          </c:val>
          <c:smooth val="0"/>
        </c:ser>
        <c:dLbls>
          <c:showLegendKey val="0"/>
          <c:showVal val="0"/>
          <c:showCatName val="0"/>
          <c:showSerName val="0"/>
          <c:showPercent val="0"/>
          <c:showBubbleSize val="0"/>
        </c:dLbls>
        <c:marker val="1"/>
        <c:smooth val="0"/>
        <c:axId val="150263296"/>
        <c:axId val="150264832"/>
      </c:lineChart>
      <c:dateAx>
        <c:axId val="150227200"/>
        <c:scaling>
          <c:orientation val="minMax"/>
        </c:scaling>
        <c:delete val="0"/>
        <c:axPos val="b"/>
        <c:numFmt formatCode="[$-409]mmm\-yy;@" sourceLinked="0"/>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150261760"/>
        <c:crosses val="autoZero"/>
        <c:auto val="1"/>
        <c:lblOffset val="100"/>
        <c:baseTimeUnit val="days"/>
      </c:dateAx>
      <c:valAx>
        <c:axId val="150261760"/>
        <c:scaling>
          <c:orientation val="minMax"/>
        </c:scaling>
        <c:delete val="0"/>
        <c:axPos val="l"/>
        <c:numFmt formatCode="0" sourceLinked="0"/>
        <c:majorTickMark val="none"/>
        <c:minorTickMark val="none"/>
        <c:tickLblPos val="nextTo"/>
        <c:spPr>
          <a:noFill/>
          <a:ln>
            <a:solidFill>
              <a:schemeClr val="tx1"/>
            </a:solid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150227200"/>
        <c:crosses val="autoZero"/>
        <c:crossBetween val="between"/>
      </c:valAx>
      <c:dateAx>
        <c:axId val="150263296"/>
        <c:scaling>
          <c:orientation val="minMax"/>
        </c:scaling>
        <c:delete val="1"/>
        <c:axPos val="b"/>
        <c:numFmt formatCode="mm/dd/yyyy" sourceLinked="1"/>
        <c:majorTickMark val="out"/>
        <c:minorTickMark val="none"/>
        <c:tickLblPos val="nextTo"/>
        <c:crossAx val="150264832"/>
        <c:crosses val="autoZero"/>
        <c:auto val="1"/>
        <c:lblOffset val="100"/>
        <c:baseTimeUnit val="days"/>
      </c:dateAx>
      <c:valAx>
        <c:axId val="150264832"/>
        <c:scaling>
          <c:orientation val="minMax"/>
          <c:max val="1"/>
          <c:min val="0.2"/>
        </c:scaling>
        <c:delete val="0"/>
        <c:axPos val="r"/>
        <c:numFmt formatCode="0%"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150263296"/>
        <c:crosses val="max"/>
        <c:crossBetween val="between"/>
      </c:valAx>
      <c:spPr>
        <a:noFill/>
        <a:ln w="25400">
          <a:noFill/>
        </a:ln>
      </c:spPr>
    </c:plotArea>
    <c:legend>
      <c:legendPos val="b"/>
      <c:layout/>
      <c:overlay val="0"/>
      <c:spPr>
        <a:noFill/>
        <a:ln w="25400">
          <a:noFill/>
        </a:ln>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w="9525" cap="flat" cmpd="sng" algn="ctr">
      <a:noFill/>
      <a:round/>
    </a:ln>
    <a:effectLst/>
  </c:spPr>
  <c:txPr>
    <a:bodyPr/>
    <a:lstStyle/>
    <a:p>
      <a:pP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sz="1200" dirty="0"/>
              <a:t>Empirical </a:t>
            </a:r>
            <a:r>
              <a:rPr lang="en-US" sz="1200" dirty="0" smtClean="0"/>
              <a:t>Prepays </a:t>
            </a:r>
            <a:r>
              <a:rPr lang="en-US" sz="1200" baseline="0" dirty="0"/>
              <a:t>for U6 by Current LTV and Incentive Buckets</a:t>
            </a:r>
            <a:endParaRPr lang="en-US" sz="1200" dirty="0"/>
          </a:p>
        </c:rich>
      </c:tx>
      <c:layout/>
      <c:overlay val="0"/>
    </c:title>
    <c:autoTitleDeleted val="0"/>
    <c:plotArea>
      <c:layout/>
      <c:scatterChart>
        <c:scatterStyle val="smoothMarker"/>
        <c:varyColors val="0"/>
        <c:ser>
          <c:idx val="0"/>
          <c:order val="0"/>
          <c:tx>
            <c:v>Incentive 25 to 75 bps</c:v>
          </c:tx>
          <c:marker>
            <c:symbol val="none"/>
          </c:marker>
          <c:xVal>
            <c:numRef>
              <c:f>'[Empirical vs Model.xlsx]Sheet8'!$E$30:$E$34</c:f>
              <c:numCache>
                <c:formatCode>General</c:formatCode>
                <c:ptCount val="5"/>
                <c:pt idx="0">
                  <c:v>65</c:v>
                </c:pt>
                <c:pt idx="1">
                  <c:v>75</c:v>
                </c:pt>
                <c:pt idx="2">
                  <c:v>85</c:v>
                </c:pt>
                <c:pt idx="3">
                  <c:v>95</c:v>
                </c:pt>
                <c:pt idx="4">
                  <c:v>105</c:v>
                </c:pt>
              </c:numCache>
            </c:numRef>
          </c:xVal>
          <c:yVal>
            <c:numRef>
              <c:f>'[Empirical vs Model.xlsx]Sheet8'!$A$30:$A$34</c:f>
              <c:numCache>
                <c:formatCode>General</c:formatCode>
                <c:ptCount val="5"/>
                <c:pt idx="0">
                  <c:v>22.1</c:v>
                </c:pt>
                <c:pt idx="1">
                  <c:v>17.2</c:v>
                </c:pt>
                <c:pt idx="2">
                  <c:v>11.9</c:v>
                </c:pt>
                <c:pt idx="3">
                  <c:v>8.9</c:v>
                </c:pt>
                <c:pt idx="4">
                  <c:v>7.5</c:v>
                </c:pt>
              </c:numCache>
            </c:numRef>
          </c:yVal>
          <c:smooth val="1"/>
        </c:ser>
        <c:ser>
          <c:idx val="1"/>
          <c:order val="1"/>
          <c:tx>
            <c:v>Incentive -25 to 25 bps</c:v>
          </c:tx>
          <c:marker>
            <c:symbol val="none"/>
          </c:marker>
          <c:xVal>
            <c:numRef>
              <c:f>'[Empirical vs Model.xlsx]Sheet8'!$E$30:$E$34</c:f>
              <c:numCache>
                <c:formatCode>General</c:formatCode>
                <c:ptCount val="5"/>
                <c:pt idx="0">
                  <c:v>65</c:v>
                </c:pt>
                <c:pt idx="1">
                  <c:v>75</c:v>
                </c:pt>
                <c:pt idx="2">
                  <c:v>85</c:v>
                </c:pt>
                <c:pt idx="3">
                  <c:v>95</c:v>
                </c:pt>
                <c:pt idx="4">
                  <c:v>105</c:v>
                </c:pt>
              </c:numCache>
            </c:numRef>
          </c:xVal>
          <c:yVal>
            <c:numRef>
              <c:f>'[Empirical vs Model.xlsx]Sheet8'!$B$30:$B$34</c:f>
              <c:numCache>
                <c:formatCode>General</c:formatCode>
                <c:ptCount val="5"/>
                <c:pt idx="0">
                  <c:v>17.5</c:v>
                </c:pt>
                <c:pt idx="1">
                  <c:v>12.1</c:v>
                </c:pt>
                <c:pt idx="2">
                  <c:v>9.1999999999999993</c:v>
                </c:pt>
                <c:pt idx="3">
                  <c:v>7.1</c:v>
                </c:pt>
                <c:pt idx="4">
                  <c:v>5.8</c:v>
                </c:pt>
              </c:numCache>
            </c:numRef>
          </c:yVal>
          <c:smooth val="1"/>
        </c:ser>
        <c:ser>
          <c:idx val="2"/>
          <c:order val="2"/>
          <c:tx>
            <c:v>Incentive -75 to -25 bps</c:v>
          </c:tx>
          <c:spPr>
            <a:ln>
              <a:solidFill>
                <a:schemeClr val="bg2">
                  <a:lumMod val="25000"/>
                </a:schemeClr>
              </a:solidFill>
            </a:ln>
          </c:spPr>
          <c:marker>
            <c:symbol val="none"/>
          </c:marker>
          <c:xVal>
            <c:numRef>
              <c:f>'[Empirical vs Model.xlsx]Sheet8'!$E$30:$E$34</c:f>
              <c:numCache>
                <c:formatCode>General</c:formatCode>
                <c:ptCount val="5"/>
                <c:pt idx="0">
                  <c:v>65</c:v>
                </c:pt>
                <c:pt idx="1">
                  <c:v>75</c:v>
                </c:pt>
                <c:pt idx="2">
                  <c:v>85</c:v>
                </c:pt>
                <c:pt idx="3">
                  <c:v>95</c:v>
                </c:pt>
                <c:pt idx="4">
                  <c:v>105</c:v>
                </c:pt>
              </c:numCache>
            </c:numRef>
          </c:xVal>
          <c:yVal>
            <c:numRef>
              <c:f>'[Empirical vs Model.xlsx]Sheet8'!$C$30:$C$34</c:f>
              <c:numCache>
                <c:formatCode>General</c:formatCode>
                <c:ptCount val="5"/>
                <c:pt idx="0">
                  <c:v>12.1</c:v>
                </c:pt>
                <c:pt idx="1">
                  <c:v>9.1999999999999993</c:v>
                </c:pt>
                <c:pt idx="2">
                  <c:v>7.5</c:v>
                </c:pt>
                <c:pt idx="3">
                  <c:v>7.1</c:v>
                </c:pt>
                <c:pt idx="4">
                  <c:v>4.9000000000000004</c:v>
                </c:pt>
              </c:numCache>
            </c:numRef>
          </c:yVal>
          <c:smooth val="1"/>
        </c:ser>
        <c:dLbls>
          <c:showLegendKey val="0"/>
          <c:showVal val="0"/>
          <c:showCatName val="0"/>
          <c:showSerName val="0"/>
          <c:showPercent val="0"/>
          <c:showBubbleSize val="0"/>
        </c:dLbls>
        <c:axId val="153041920"/>
        <c:axId val="153166976"/>
      </c:scatterChart>
      <c:valAx>
        <c:axId val="153041920"/>
        <c:scaling>
          <c:orientation val="minMax"/>
          <c:max val="110"/>
          <c:min val="60"/>
        </c:scaling>
        <c:delete val="0"/>
        <c:axPos val="b"/>
        <c:title>
          <c:tx>
            <c:rich>
              <a:bodyPr/>
              <a:lstStyle/>
              <a:p>
                <a:pPr>
                  <a:defRPr/>
                </a:pPr>
                <a:r>
                  <a:rPr lang="en-US"/>
                  <a:t>Current LTV</a:t>
                </a:r>
              </a:p>
            </c:rich>
          </c:tx>
          <c:layout>
            <c:manualLayout>
              <c:xMode val="edge"/>
              <c:yMode val="edge"/>
              <c:x val="0.44745844269466317"/>
              <c:y val="0.80860148922993647"/>
            </c:manualLayout>
          </c:layout>
          <c:overlay val="0"/>
        </c:title>
        <c:numFmt formatCode="@" sourceLinked="0"/>
        <c:majorTickMark val="none"/>
        <c:minorTickMark val="none"/>
        <c:tickLblPos val="nextTo"/>
        <c:crossAx val="153166976"/>
        <c:crosses val="autoZero"/>
        <c:crossBetween val="midCat"/>
      </c:valAx>
      <c:valAx>
        <c:axId val="153166976"/>
        <c:scaling>
          <c:orientation val="minMax"/>
        </c:scaling>
        <c:delete val="0"/>
        <c:axPos val="l"/>
        <c:majorGridlines>
          <c:spPr>
            <a:ln>
              <a:prstDash val="dash"/>
            </a:ln>
          </c:spPr>
        </c:majorGridlines>
        <c:title>
          <c:tx>
            <c:rich>
              <a:bodyPr/>
              <a:lstStyle/>
              <a:p>
                <a:pPr>
                  <a:defRPr/>
                </a:pPr>
                <a:r>
                  <a:rPr lang="en-US"/>
                  <a:t>CPR (%)</a:t>
                </a:r>
              </a:p>
            </c:rich>
          </c:tx>
          <c:layout/>
          <c:overlay val="0"/>
        </c:title>
        <c:numFmt formatCode="General" sourceLinked="1"/>
        <c:majorTickMark val="none"/>
        <c:minorTickMark val="none"/>
        <c:tickLblPos val="nextTo"/>
        <c:crossAx val="153041920"/>
        <c:crosses val="autoZero"/>
        <c:crossBetween val="midCat"/>
      </c:valAx>
    </c:plotArea>
    <c:legend>
      <c:legendPos val="r"/>
      <c:layout/>
      <c:overlay val="0"/>
    </c:legend>
    <c:plotVisOnly val="1"/>
    <c:dispBlanksAs val="gap"/>
    <c:showDLblsOverMax val="0"/>
  </c:chart>
  <c:spPr>
    <a:ln>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sz="1200"/>
              <a:t>Model</a:t>
            </a:r>
            <a:r>
              <a:rPr lang="en-US" sz="1200" baseline="0"/>
              <a:t> vs. Cello  Projections for U6 4.0% 2013</a:t>
            </a:r>
            <a:endParaRPr lang="en-US" sz="1200"/>
          </a:p>
        </c:rich>
      </c:tx>
      <c:layout/>
      <c:overlay val="0"/>
    </c:title>
    <c:autoTitleDeleted val="0"/>
    <c:plotArea>
      <c:layout/>
      <c:scatterChart>
        <c:scatterStyle val="smoothMarker"/>
        <c:varyColors val="0"/>
        <c:ser>
          <c:idx val="0"/>
          <c:order val="0"/>
          <c:tx>
            <c:v>Model LT</c:v>
          </c:tx>
          <c:marker>
            <c:symbol val="none"/>
          </c:marker>
          <c:xVal>
            <c:numRef>
              <c:f>'[Empirical vs Model.xlsx]Sheet7'!$O$4:$S$4</c:f>
              <c:numCache>
                <c:formatCode>0</c:formatCode>
                <c:ptCount val="5"/>
                <c:pt idx="0">
                  <c:v>-50</c:v>
                </c:pt>
                <c:pt idx="1">
                  <c:v>-25</c:v>
                </c:pt>
                <c:pt idx="2">
                  <c:v>0</c:v>
                </c:pt>
                <c:pt idx="3">
                  <c:v>25</c:v>
                </c:pt>
                <c:pt idx="4">
                  <c:v>50</c:v>
                </c:pt>
              </c:numCache>
            </c:numRef>
          </c:xVal>
          <c:yVal>
            <c:numRef>
              <c:f>'[Empirical vs Model.xlsx]Sheet8'!$A$18:$E$18</c:f>
              <c:numCache>
                <c:formatCode>0</c:formatCode>
                <c:ptCount val="5"/>
                <c:pt idx="0">
                  <c:v>14</c:v>
                </c:pt>
                <c:pt idx="1">
                  <c:v>12.5</c:v>
                </c:pt>
                <c:pt idx="2">
                  <c:v>11.1</c:v>
                </c:pt>
                <c:pt idx="3">
                  <c:v>9.86</c:v>
                </c:pt>
                <c:pt idx="4">
                  <c:v>8.75</c:v>
                </c:pt>
              </c:numCache>
            </c:numRef>
          </c:yVal>
          <c:smooth val="1"/>
        </c:ser>
        <c:ser>
          <c:idx val="1"/>
          <c:order val="1"/>
          <c:tx>
            <c:v>Cello LT</c:v>
          </c:tx>
          <c:marker>
            <c:symbol val="none"/>
          </c:marker>
          <c:xVal>
            <c:numRef>
              <c:f>'[Empirical vs Model.xlsx]Sheet8'!$A$19:$E$19</c:f>
              <c:numCache>
                <c:formatCode>0</c:formatCode>
                <c:ptCount val="5"/>
                <c:pt idx="0">
                  <c:v>-50</c:v>
                </c:pt>
                <c:pt idx="1">
                  <c:v>-25</c:v>
                </c:pt>
                <c:pt idx="2">
                  <c:v>0</c:v>
                </c:pt>
                <c:pt idx="3">
                  <c:v>25</c:v>
                </c:pt>
                <c:pt idx="4">
                  <c:v>50</c:v>
                </c:pt>
              </c:numCache>
            </c:numRef>
          </c:xVal>
          <c:yVal>
            <c:numRef>
              <c:f>'[Empirical vs Model.xlsx]Sheet8'!$A$17:$E$17</c:f>
              <c:numCache>
                <c:formatCode>0</c:formatCode>
                <c:ptCount val="5"/>
                <c:pt idx="0">
                  <c:v>15.2</c:v>
                </c:pt>
                <c:pt idx="1">
                  <c:v>13.9</c:v>
                </c:pt>
                <c:pt idx="2">
                  <c:v>12.6</c:v>
                </c:pt>
                <c:pt idx="3">
                  <c:v>11.4</c:v>
                </c:pt>
                <c:pt idx="4">
                  <c:v>10.199999999999999</c:v>
                </c:pt>
              </c:numCache>
            </c:numRef>
          </c:yVal>
          <c:smooth val="1"/>
        </c:ser>
        <c:ser>
          <c:idx val="2"/>
          <c:order val="2"/>
          <c:tx>
            <c:v>Model 1 Yr</c:v>
          </c:tx>
          <c:spPr>
            <a:ln>
              <a:solidFill>
                <a:schemeClr val="bg2">
                  <a:lumMod val="25000"/>
                </a:schemeClr>
              </a:solidFill>
            </a:ln>
          </c:spPr>
          <c:marker>
            <c:symbol val="none"/>
          </c:marker>
          <c:xVal>
            <c:numRef>
              <c:f>'[Empirical vs Model.xlsx]Sheet8'!$A$19:$E$19</c:f>
              <c:numCache>
                <c:formatCode>0</c:formatCode>
                <c:ptCount val="5"/>
                <c:pt idx="0">
                  <c:v>-50</c:v>
                </c:pt>
                <c:pt idx="1">
                  <c:v>-25</c:v>
                </c:pt>
                <c:pt idx="2">
                  <c:v>0</c:v>
                </c:pt>
                <c:pt idx="3">
                  <c:v>25</c:v>
                </c:pt>
                <c:pt idx="4">
                  <c:v>50</c:v>
                </c:pt>
              </c:numCache>
            </c:numRef>
          </c:xVal>
          <c:yVal>
            <c:numRef>
              <c:f>'[Empirical vs Model.xlsx]Sheet8'!$A$23:$E$23</c:f>
              <c:numCache>
                <c:formatCode>0</c:formatCode>
                <c:ptCount val="5"/>
                <c:pt idx="0">
                  <c:v>12.6</c:v>
                </c:pt>
                <c:pt idx="1">
                  <c:v>10.9</c:v>
                </c:pt>
                <c:pt idx="2" formatCode="General">
                  <c:v>9.1999999999999993</c:v>
                </c:pt>
                <c:pt idx="3" formatCode="General">
                  <c:v>7.8</c:v>
                </c:pt>
                <c:pt idx="4" formatCode="General">
                  <c:v>7.2</c:v>
                </c:pt>
              </c:numCache>
            </c:numRef>
          </c:yVal>
          <c:smooth val="1"/>
        </c:ser>
        <c:ser>
          <c:idx val="3"/>
          <c:order val="3"/>
          <c:tx>
            <c:v>Cello 1 Yr</c:v>
          </c:tx>
          <c:spPr>
            <a:ln>
              <a:solidFill>
                <a:schemeClr val="bg2">
                  <a:lumMod val="75000"/>
                </a:schemeClr>
              </a:solidFill>
            </a:ln>
          </c:spPr>
          <c:marker>
            <c:symbol val="none"/>
          </c:marker>
          <c:xVal>
            <c:numRef>
              <c:f>'[Empirical vs Model.xlsx]Sheet8'!$A$19:$E$19</c:f>
              <c:numCache>
                <c:formatCode>0</c:formatCode>
                <c:ptCount val="5"/>
                <c:pt idx="0">
                  <c:v>-50</c:v>
                </c:pt>
                <c:pt idx="1">
                  <c:v>-25</c:v>
                </c:pt>
                <c:pt idx="2">
                  <c:v>0</c:v>
                </c:pt>
                <c:pt idx="3">
                  <c:v>25</c:v>
                </c:pt>
                <c:pt idx="4">
                  <c:v>50</c:v>
                </c:pt>
              </c:numCache>
            </c:numRef>
          </c:xVal>
          <c:yVal>
            <c:numRef>
              <c:f>'[Empirical vs Model.xlsx]Sheet8'!$A$22:$E$22</c:f>
              <c:numCache>
                <c:formatCode>0</c:formatCode>
                <c:ptCount val="5"/>
                <c:pt idx="0">
                  <c:v>11.8</c:v>
                </c:pt>
                <c:pt idx="1">
                  <c:v>10.4</c:v>
                </c:pt>
                <c:pt idx="2">
                  <c:v>8.92</c:v>
                </c:pt>
                <c:pt idx="3">
                  <c:v>7.76</c:v>
                </c:pt>
                <c:pt idx="4">
                  <c:v>7.13</c:v>
                </c:pt>
              </c:numCache>
            </c:numRef>
          </c:yVal>
          <c:smooth val="1"/>
        </c:ser>
        <c:dLbls>
          <c:showLegendKey val="0"/>
          <c:showVal val="0"/>
          <c:showCatName val="0"/>
          <c:showSerName val="0"/>
          <c:showPercent val="0"/>
          <c:showBubbleSize val="0"/>
        </c:dLbls>
        <c:axId val="153419776"/>
        <c:axId val="153421696"/>
      </c:scatterChart>
      <c:valAx>
        <c:axId val="153419776"/>
        <c:scaling>
          <c:orientation val="minMax"/>
        </c:scaling>
        <c:delete val="0"/>
        <c:axPos val="b"/>
        <c:title>
          <c:tx>
            <c:rich>
              <a:bodyPr/>
              <a:lstStyle/>
              <a:p>
                <a:pPr>
                  <a:defRPr/>
                </a:pPr>
                <a:r>
                  <a:rPr lang="en-US"/>
                  <a:t>Interest</a:t>
                </a:r>
                <a:r>
                  <a:rPr lang="en-US" baseline="0"/>
                  <a:t> Rate Scenario 12/11/2015</a:t>
                </a:r>
                <a:endParaRPr lang="en-US"/>
              </a:p>
            </c:rich>
          </c:tx>
          <c:layout/>
          <c:overlay val="0"/>
        </c:title>
        <c:numFmt formatCode="0" sourceLinked="1"/>
        <c:majorTickMark val="none"/>
        <c:minorTickMark val="none"/>
        <c:tickLblPos val="nextTo"/>
        <c:crossAx val="153421696"/>
        <c:crosses val="autoZero"/>
        <c:crossBetween val="midCat"/>
      </c:valAx>
      <c:valAx>
        <c:axId val="153421696"/>
        <c:scaling>
          <c:orientation val="minMax"/>
          <c:min val="6"/>
        </c:scaling>
        <c:delete val="0"/>
        <c:axPos val="l"/>
        <c:majorGridlines>
          <c:spPr>
            <a:ln>
              <a:solidFill>
                <a:schemeClr val="tx1"/>
              </a:solidFill>
              <a:prstDash val="dash"/>
            </a:ln>
          </c:spPr>
        </c:majorGridlines>
        <c:title>
          <c:tx>
            <c:rich>
              <a:bodyPr/>
              <a:lstStyle/>
              <a:p>
                <a:pPr>
                  <a:defRPr/>
                </a:pPr>
                <a:r>
                  <a:rPr lang="en-US"/>
                  <a:t>CPR(%)</a:t>
                </a:r>
              </a:p>
            </c:rich>
          </c:tx>
          <c:layout/>
          <c:overlay val="0"/>
        </c:title>
        <c:numFmt formatCode="0" sourceLinked="1"/>
        <c:majorTickMark val="none"/>
        <c:minorTickMark val="none"/>
        <c:tickLblPos val="nextTo"/>
        <c:crossAx val="153419776"/>
        <c:crosses val="autoZero"/>
        <c:crossBetween val="midCat"/>
      </c:valAx>
    </c:plotArea>
    <c:legend>
      <c:legendPos val="r"/>
      <c:layout/>
      <c:overlay val="0"/>
    </c:legend>
    <c:plotVisOnly val="1"/>
    <c:dispBlanksAs val="gap"/>
    <c:showDLblsOverMax val="0"/>
  </c:chart>
  <c:spPr>
    <a:ln>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252" tIns="46126" rIns="92252" bIns="46126" rtlCol="0"/>
          <a:lstStyle>
            <a:lvl1pPr algn="l">
              <a:defRPr sz="1200"/>
            </a:lvl1pPr>
          </a:lstStyle>
          <a:p>
            <a:endParaRPr lang="en-US" dirty="0"/>
          </a:p>
        </p:txBody>
      </p:sp>
      <p:sp>
        <p:nvSpPr>
          <p:cNvPr id="3" name="Date Placeholder 2"/>
          <p:cNvSpPr>
            <a:spLocks noGrp="1"/>
          </p:cNvSpPr>
          <p:nvPr>
            <p:ph type="dt" idx="1"/>
          </p:nvPr>
        </p:nvSpPr>
        <p:spPr>
          <a:xfrm>
            <a:off x="3927775" y="0"/>
            <a:ext cx="3004820" cy="461010"/>
          </a:xfrm>
          <a:prstGeom prst="rect">
            <a:avLst/>
          </a:prstGeom>
        </p:spPr>
        <p:txBody>
          <a:bodyPr vert="horz" lIns="92252" tIns="46126" rIns="92252" bIns="46126" rtlCol="0"/>
          <a:lstStyle>
            <a:lvl1pPr algn="r">
              <a:defRPr sz="1200"/>
            </a:lvl1pPr>
          </a:lstStyle>
          <a:p>
            <a:fld id="{A8458E9D-EEA3-425D-8727-2637C15F5D3A}" type="datetimeFigureOut">
              <a:rPr lang="en-US" smtClean="0"/>
              <a:t>1/20/2016</a:t>
            </a:fld>
            <a:endParaRPr lang="en-US" dirty="0"/>
          </a:p>
        </p:txBody>
      </p:sp>
      <p:sp>
        <p:nvSpPr>
          <p:cNvPr id="4" name="Slide Image Placeholder 3"/>
          <p:cNvSpPr>
            <a:spLocks noGrp="1" noRot="1" noChangeAspect="1"/>
          </p:cNvSpPr>
          <p:nvPr>
            <p:ph type="sldImg" idx="2"/>
          </p:nvPr>
        </p:nvSpPr>
        <p:spPr>
          <a:xfrm>
            <a:off x="1162050" y="690563"/>
            <a:ext cx="4610100" cy="3459162"/>
          </a:xfrm>
          <a:prstGeom prst="rect">
            <a:avLst/>
          </a:prstGeom>
          <a:noFill/>
          <a:ln w="12700">
            <a:solidFill>
              <a:prstClr val="black"/>
            </a:solidFill>
          </a:ln>
        </p:spPr>
        <p:txBody>
          <a:bodyPr vert="horz" lIns="92252" tIns="46126" rIns="92252" bIns="46126" rtlCol="0" anchor="ctr"/>
          <a:lstStyle/>
          <a:p>
            <a:endParaRPr lang="en-US" dirty="0"/>
          </a:p>
        </p:txBody>
      </p:sp>
      <p:sp>
        <p:nvSpPr>
          <p:cNvPr id="5" name="Notes Placeholder 4"/>
          <p:cNvSpPr>
            <a:spLocks noGrp="1"/>
          </p:cNvSpPr>
          <p:nvPr>
            <p:ph type="body" sz="quarter" idx="3"/>
          </p:nvPr>
        </p:nvSpPr>
        <p:spPr>
          <a:xfrm>
            <a:off x="693421" y="4379596"/>
            <a:ext cx="5547360" cy="4149090"/>
          </a:xfrm>
          <a:prstGeom prst="rect">
            <a:avLst/>
          </a:prstGeom>
        </p:spPr>
        <p:txBody>
          <a:bodyPr vert="horz" lIns="92252" tIns="46126" rIns="92252" bIns="46126"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757590"/>
            <a:ext cx="3004820" cy="461010"/>
          </a:xfrm>
          <a:prstGeom prst="rect">
            <a:avLst/>
          </a:prstGeom>
        </p:spPr>
        <p:txBody>
          <a:bodyPr vert="horz" lIns="92252" tIns="46126" rIns="92252" bIns="46126"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27775" y="8757590"/>
            <a:ext cx="3004820" cy="461010"/>
          </a:xfrm>
          <a:prstGeom prst="rect">
            <a:avLst/>
          </a:prstGeom>
        </p:spPr>
        <p:txBody>
          <a:bodyPr vert="horz" lIns="92252" tIns="46126" rIns="92252" bIns="46126" rtlCol="0" anchor="b"/>
          <a:lstStyle>
            <a:lvl1pPr algn="r">
              <a:defRPr sz="1200"/>
            </a:lvl1pPr>
          </a:lstStyle>
          <a:p>
            <a:fld id="{5DCA49B7-56B7-41CA-B1AF-E05A1D1FCC64}" type="slidenum">
              <a:rPr lang="en-US" smtClean="0"/>
              <a:t>‹#›</a:t>
            </a:fld>
            <a:endParaRPr lang="en-US" dirty="0"/>
          </a:p>
        </p:txBody>
      </p:sp>
    </p:spTree>
    <p:extLst>
      <p:ext uri="{BB962C8B-B14F-4D97-AF65-F5344CB8AC3E}">
        <p14:creationId xmlns:p14="http://schemas.microsoft.com/office/powerpoint/2010/main" val="2933977441"/>
      </p:ext>
    </p:extLst>
  </p:cSld>
  <p:clrMap bg1="lt1" tx1="dk1" bg2="lt2" tx2="dk2" accent1="accent1" accent2="accent2" accent3="accent3" accent4="accent4" accent5="accent5" accent6="accent6" hlink="hlink" folHlink="folHlink"/>
  <p:notesStyle>
    <a:lvl1pPr marL="0" algn="l" defTabSz="913758" rtl="0" eaLnBrk="1" latinLnBrk="0" hangingPunct="1">
      <a:defRPr sz="1200" kern="1200">
        <a:solidFill>
          <a:schemeClr val="tx1"/>
        </a:solidFill>
        <a:latin typeface="+mn-lt"/>
        <a:ea typeface="+mn-ea"/>
        <a:cs typeface="+mn-cs"/>
      </a:defRPr>
    </a:lvl1pPr>
    <a:lvl2pPr marL="456880" algn="l" defTabSz="913758" rtl="0" eaLnBrk="1" latinLnBrk="0" hangingPunct="1">
      <a:defRPr sz="1200" kern="1200">
        <a:solidFill>
          <a:schemeClr val="tx1"/>
        </a:solidFill>
        <a:latin typeface="+mn-lt"/>
        <a:ea typeface="+mn-ea"/>
        <a:cs typeface="+mn-cs"/>
      </a:defRPr>
    </a:lvl2pPr>
    <a:lvl3pPr marL="913758" algn="l" defTabSz="913758" rtl="0" eaLnBrk="1" latinLnBrk="0" hangingPunct="1">
      <a:defRPr sz="1200" kern="1200">
        <a:solidFill>
          <a:schemeClr val="tx1"/>
        </a:solidFill>
        <a:latin typeface="+mn-lt"/>
        <a:ea typeface="+mn-ea"/>
        <a:cs typeface="+mn-cs"/>
      </a:defRPr>
    </a:lvl3pPr>
    <a:lvl4pPr marL="1370639" algn="l" defTabSz="913758" rtl="0" eaLnBrk="1" latinLnBrk="0" hangingPunct="1">
      <a:defRPr sz="1200" kern="1200">
        <a:solidFill>
          <a:schemeClr val="tx1"/>
        </a:solidFill>
        <a:latin typeface="+mn-lt"/>
        <a:ea typeface="+mn-ea"/>
        <a:cs typeface="+mn-cs"/>
      </a:defRPr>
    </a:lvl4pPr>
    <a:lvl5pPr marL="1827517" algn="l" defTabSz="913758" rtl="0" eaLnBrk="1" latinLnBrk="0" hangingPunct="1">
      <a:defRPr sz="1200" kern="1200">
        <a:solidFill>
          <a:schemeClr val="tx1"/>
        </a:solidFill>
        <a:latin typeface="+mn-lt"/>
        <a:ea typeface="+mn-ea"/>
        <a:cs typeface="+mn-cs"/>
      </a:defRPr>
    </a:lvl5pPr>
    <a:lvl6pPr marL="2284398" algn="l" defTabSz="913758" rtl="0" eaLnBrk="1" latinLnBrk="0" hangingPunct="1">
      <a:defRPr sz="1200" kern="1200">
        <a:solidFill>
          <a:schemeClr val="tx1"/>
        </a:solidFill>
        <a:latin typeface="+mn-lt"/>
        <a:ea typeface="+mn-ea"/>
        <a:cs typeface="+mn-cs"/>
      </a:defRPr>
    </a:lvl6pPr>
    <a:lvl7pPr marL="2741275" algn="l" defTabSz="913758" rtl="0" eaLnBrk="1" latinLnBrk="0" hangingPunct="1">
      <a:defRPr sz="1200" kern="1200">
        <a:solidFill>
          <a:schemeClr val="tx1"/>
        </a:solidFill>
        <a:latin typeface="+mn-lt"/>
        <a:ea typeface="+mn-ea"/>
        <a:cs typeface="+mn-cs"/>
      </a:defRPr>
    </a:lvl7pPr>
    <a:lvl8pPr marL="3198156" algn="l" defTabSz="913758" rtl="0" eaLnBrk="1" latinLnBrk="0" hangingPunct="1">
      <a:defRPr sz="1200" kern="1200">
        <a:solidFill>
          <a:schemeClr val="tx1"/>
        </a:solidFill>
        <a:latin typeface="+mn-lt"/>
        <a:ea typeface="+mn-ea"/>
        <a:cs typeface="+mn-cs"/>
      </a:defRPr>
    </a:lvl8pPr>
    <a:lvl9pPr marL="3655033" algn="l" defTabSz="913758"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162050" y="692150"/>
            <a:ext cx="4610100"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1026"/>
            <a:fld id="{1FE077EC-684A-4FD9-A6C3-9AE90D8B81D6}" type="slidenum">
              <a:rPr lang="en-US" smtClean="0">
                <a:solidFill>
                  <a:srgbClr val="000000"/>
                </a:solidFill>
              </a:rPr>
              <a:pPr defTabSz="911026"/>
              <a:t>0</a:t>
            </a:fld>
            <a:endParaRPr lang="en-US" dirty="0" smtClean="0">
              <a:solidFill>
                <a:srgbClr val="000000"/>
              </a:solidFill>
            </a:endParaRPr>
          </a:p>
        </p:txBody>
      </p:sp>
    </p:spTree>
    <p:extLst>
      <p:ext uri="{BB962C8B-B14F-4D97-AF65-F5344CB8AC3E}">
        <p14:creationId xmlns:p14="http://schemas.microsoft.com/office/powerpoint/2010/main" val="2717059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2050" y="692150"/>
            <a:ext cx="4610100" cy="3457575"/>
          </a:xfrm>
        </p:spPr>
      </p:sp>
      <p:sp>
        <p:nvSpPr>
          <p:cNvPr id="3" name="Notes Placeholder 2"/>
          <p:cNvSpPr>
            <a:spLocks noGrp="1"/>
          </p:cNvSpPr>
          <p:nvPr>
            <p:ph type="body" idx="1"/>
          </p:nvPr>
        </p:nvSpPr>
        <p:spPr/>
        <p:txBody>
          <a:bodyPr>
            <a:normAutofit/>
          </a:bodyPr>
          <a:lstStyle/>
          <a:p>
            <a:endParaRPr lang="en-US" dirty="0"/>
          </a:p>
        </p:txBody>
      </p:sp>
      <p:sp>
        <p:nvSpPr>
          <p:cNvPr id="5" name="Slide Number Placeholder 4"/>
          <p:cNvSpPr>
            <a:spLocks noGrp="1"/>
          </p:cNvSpPr>
          <p:nvPr>
            <p:ph type="sldNum" sz="quarter" idx="10"/>
          </p:nvPr>
        </p:nvSpPr>
        <p:spPr/>
        <p:txBody>
          <a:bodyPr/>
          <a:lstStyle/>
          <a:p>
            <a:pPr>
              <a:defRPr/>
            </a:pPr>
            <a:fld id="{993BEEDA-D9FC-4A9F-BB3F-83B0CB940930}" type="slidenum">
              <a:rPr lang="en-US" smtClean="0"/>
              <a:pPr>
                <a:defRPr/>
              </a:pPr>
              <a:t>1</a:t>
            </a:fld>
            <a:endParaRPr lang="en-US" dirty="0"/>
          </a:p>
        </p:txBody>
      </p:sp>
    </p:spTree>
    <p:extLst>
      <p:ext uri="{BB962C8B-B14F-4D97-AF65-F5344CB8AC3E}">
        <p14:creationId xmlns:p14="http://schemas.microsoft.com/office/powerpoint/2010/main" val="35861767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2</a:t>
            </a:fld>
            <a:endParaRPr lang="en-US" dirty="0">
              <a:solidFill>
                <a:prstClr val="black"/>
              </a:solidFill>
            </a:endParaRPr>
          </a:p>
        </p:txBody>
      </p:sp>
    </p:spTree>
    <p:extLst>
      <p:ext uri="{BB962C8B-B14F-4D97-AF65-F5344CB8AC3E}">
        <p14:creationId xmlns:p14="http://schemas.microsoft.com/office/powerpoint/2010/main" val="2562541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3</a:t>
            </a:fld>
            <a:endParaRPr lang="en-US" dirty="0"/>
          </a:p>
        </p:txBody>
      </p:sp>
    </p:spTree>
    <p:extLst>
      <p:ext uri="{BB962C8B-B14F-4D97-AF65-F5344CB8AC3E}">
        <p14:creationId xmlns:p14="http://schemas.microsoft.com/office/powerpoint/2010/main" val="4256886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4</a:t>
            </a:fld>
            <a:endParaRPr lang="en-US" dirty="0"/>
          </a:p>
        </p:txBody>
      </p:sp>
    </p:spTree>
    <p:extLst>
      <p:ext uri="{BB962C8B-B14F-4D97-AF65-F5344CB8AC3E}">
        <p14:creationId xmlns:p14="http://schemas.microsoft.com/office/powerpoint/2010/main" val="31314983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5</a:t>
            </a:fld>
            <a:endParaRPr lang="en-US" dirty="0">
              <a:solidFill>
                <a:prstClr val="black"/>
              </a:solidFill>
            </a:endParaRPr>
          </a:p>
        </p:txBody>
      </p:sp>
    </p:spTree>
    <p:extLst>
      <p:ext uri="{BB962C8B-B14F-4D97-AF65-F5344CB8AC3E}">
        <p14:creationId xmlns:p14="http://schemas.microsoft.com/office/powerpoint/2010/main" val="26007035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CA49B7-56B7-41CA-B1AF-E05A1D1FCC64}" type="slidenum">
              <a:rPr lang="en-US" smtClean="0"/>
              <a:t>6</a:t>
            </a:fld>
            <a:endParaRPr lang="en-US"/>
          </a:p>
        </p:txBody>
      </p:sp>
    </p:spTree>
    <p:extLst>
      <p:ext uri="{BB962C8B-B14F-4D97-AF65-F5344CB8AC3E}">
        <p14:creationId xmlns:p14="http://schemas.microsoft.com/office/powerpoint/2010/main" val="15742948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7</a:t>
            </a:fld>
            <a:endParaRPr lang="en-US" dirty="0">
              <a:solidFill>
                <a:prstClr val="black"/>
              </a:solidFill>
            </a:endParaRPr>
          </a:p>
        </p:txBody>
      </p:sp>
    </p:spTree>
    <p:extLst>
      <p:ext uri="{BB962C8B-B14F-4D97-AF65-F5344CB8AC3E}">
        <p14:creationId xmlns:p14="http://schemas.microsoft.com/office/powerpoint/2010/main" val="30370206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8</a:t>
            </a:fld>
            <a:endParaRPr lang="en-US" dirty="0">
              <a:solidFill>
                <a:prstClr val="black"/>
              </a:solidFill>
            </a:endParaRPr>
          </a:p>
        </p:txBody>
      </p:sp>
    </p:spTree>
    <p:extLst>
      <p:ext uri="{BB962C8B-B14F-4D97-AF65-F5344CB8AC3E}">
        <p14:creationId xmlns:p14="http://schemas.microsoft.com/office/powerpoint/2010/main" val="26007035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2050" y="692150"/>
            <a:ext cx="4610100"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9</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10</a:t>
            </a:fld>
            <a:endParaRPr lang="en-US" dirty="0">
              <a:solidFill>
                <a:prstClr val="black"/>
              </a:solidFill>
            </a:endParaRPr>
          </a:p>
        </p:txBody>
      </p:sp>
    </p:spTree>
    <p:extLst>
      <p:ext uri="{BB962C8B-B14F-4D97-AF65-F5344CB8AC3E}">
        <p14:creationId xmlns:p14="http://schemas.microsoft.com/office/powerpoint/2010/main" val="30370206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11</a:t>
            </a:fld>
            <a:endParaRPr lang="en-US" dirty="0">
              <a:solidFill>
                <a:prstClr val="black"/>
              </a:solidFill>
            </a:endParaRPr>
          </a:p>
        </p:txBody>
      </p:sp>
    </p:spTree>
    <p:extLst>
      <p:ext uri="{BB962C8B-B14F-4D97-AF65-F5344CB8AC3E}">
        <p14:creationId xmlns:p14="http://schemas.microsoft.com/office/powerpoint/2010/main" val="30370206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2050" y="690563"/>
            <a:ext cx="4610100" cy="3459162"/>
          </a:xfrm>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12</a:t>
            </a:fld>
            <a:endParaRPr lang="en-US" dirty="0">
              <a:solidFill>
                <a:prstClr val="black"/>
              </a:solidFill>
            </a:endParaRPr>
          </a:p>
        </p:txBody>
      </p:sp>
    </p:spTree>
    <p:extLst>
      <p:ext uri="{BB962C8B-B14F-4D97-AF65-F5344CB8AC3E}">
        <p14:creationId xmlns:p14="http://schemas.microsoft.com/office/powerpoint/2010/main" val="33356249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lIns="91365" tIns="45683" rIns="91365" bIns="45683"/>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lIns="91365" tIns="45683" rIns="91365" bIns="45683"/>
          <a:lstStyle>
            <a:lvl1pPr marL="0" indent="0" algn="ctr">
              <a:buNone/>
              <a:defRPr/>
            </a:lvl1pPr>
            <a:lvl2pPr marL="456827" indent="0" algn="ctr">
              <a:buNone/>
              <a:defRPr/>
            </a:lvl2pPr>
            <a:lvl3pPr marL="913651" indent="0" algn="ctr">
              <a:buNone/>
              <a:defRPr/>
            </a:lvl3pPr>
            <a:lvl4pPr marL="1370479" indent="0" algn="ctr">
              <a:buNone/>
              <a:defRPr/>
            </a:lvl4pPr>
            <a:lvl5pPr marL="1827303" indent="0" algn="ctr">
              <a:buNone/>
              <a:defRPr/>
            </a:lvl5pPr>
            <a:lvl6pPr marL="2284131" indent="0" algn="ctr">
              <a:buNone/>
              <a:defRPr/>
            </a:lvl6pPr>
            <a:lvl7pPr marL="2740955" indent="0" algn="ctr">
              <a:buNone/>
              <a:defRPr/>
            </a:lvl7pPr>
            <a:lvl8pPr marL="3197782" indent="0" algn="ctr">
              <a:buNone/>
              <a:defRPr/>
            </a:lvl8pPr>
            <a:lvl9pPr marL="3654606" indent="0" algn="ctr">
              <a:buNone/>
              <a:defRPr/>
            </a:lvl9pPr>
          </a:lstStyle>
          <a:p>
            <a:r>
              <a:rPr lang="en-US"/>
              <a:t>Click to edit Master subtitle style</a:t>
            </a:r>
          </a:p>
        </p:txBody>
      </p:sp>
    </p:spTree>
    <p:extLst>
      <p:ext uri="{BB962C8B-B14F-4D97-AF65-F5344CB8AC3E}">
        <p14:creationId xmlns:p14="http://schemas.microsoft.com/office/powerpoint/2010/main" val="254177259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453921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30"/>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6775" indent="0" algn="ctr">
              <a:buNone/>
              <a:defRPr/>
            </a:lvl2pPr>
            <a:lvl3pPr marL="913550" indent="0" algn="ctr">
              <a:buNone/>
              <a:defRPr/>
            </a:lvl3pPr>
            <a:lvl4pPr marL="1370324" indent="0" algn="ctr">
              <a:buNone/>
              <a:defRPr/>
            </a:lvl4pPr>
            <a:lvl5pPr marL="1827098" indent="0" algn="ctr">
              <a:buNone/>
              <a:defRPr/>
            </a:lvl5pPr>
            <a:lvl6pPr marL="2283874" indent="0" algn="ctr">
              <a:buNone/>
              <a:defRPr/>
            </a:lvl6pPr>
            <a:lvl7pPr marL="2740649" indent="0" algn="ctr">
              <a:buNone/>
              <a:defRPr/>
            </a:lvl7pPr>
            <a:lvl8pPr marL="3197425" indent="0" algn="ctr">
              <a:buNone/>
              <a:defRPr/>
            </a:lvl8pPr>
            <a:lvl9pPr marL="3654197"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2717065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56615" y="158750"/>
            <a:ext cx="6187391" cy="598205"/>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00">
                <a:latin typeface="+mn-lt"/>
              </a:defRPr>
            </a:lvl1pPr>
            <a:lvl2pPr>
              <a:defRPr sz="1100">
                <a:latin typeface="+mn-lt"/>
              </a:defRPr>
            </a:lvl2pPr>
            <a:lvl3pPr>
              <a:defRPr sz="1100">
                <a:latin typeface="+mn-lt"/>
              </a:defRPr>
            </a:lvl3pPr>
            <a:lvl4pPr marL="720354" indent="-210696">
              <a:defRPr sz="1100">
                <a:latin typeface="+mn-lt"/>
              </a:defRPr>
            </a:lvl4pPr>
            <a:lvl5pPr marL="919661" indent="-199306">
              <a:defRPr sz="11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9759449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8"/>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9"/>
            <a:ext cx="7772400" cy="1500187"/>
          </a:xfrm>
        </p:spPr>
        <p:txBody>
          <a:bodyPr anchor="b"/>
          <a:lstStyle>
            <a:lvl1pPr marL="0" indent="0">
              <a:buNone/>
              <a:defRPr sz="2000"/>
            </a:lvl1pPr>
            <a:lvl2pPr marL="456775" indent="0">
              <a:buNone/>
              <a:defRPr sz="1800"/>
            </a:lvl2pPr>
            <a:lvl3pPr marL="913550" indent="0">
              <a:buNone/>
              <a:defRPr sz="1600"/>
            </a:lvl3pPr>
            <a:lvl4pPr marL="1370324" indent="0">
              <a:buNone/>
              <a:defRPr sz="1400"/>
            </a:lvl4pPr>
            <a:lvl5pPr marL="1827098" indent="0">
              <a:buNone/>
              <a:defRPr sz="1400"/>
            </a:lvl5pPr>
            <a:lvl6pPr marL="2283874" indent="0">
              <a:buNone/>
              <a:defRPr sz="1400"/>
            </a:lvl6pPr>
            <a:lvl7pPr marL="2740649" indent="0">
              <a:buNone/>
              <a:defRPr sz="1400"/>
            </a:lvl7pPr>
            <a:lvl8pPr marL="3197425" indent="0">
              <a:buNone/>
              <a:defRPr sz="1400"/>
            </a:lvl8pPr>
            <a:lvl9pPr marL="3654197" indent="0">
              <a:buNone/>
              <a:defRPr sz="1400"/>
            </a:lvl9pPr>
          </a:lstStyle>
          <a:p>
            <a:pPr lvl="0"/>
            <a:r>
              <a:rPr lang="en-US" smtClean="0"/>
              <a:t>Click to edit Master text styles</a:t>
            </a:r>
          </a:p>
        </p:txBody>
      </p:sp>
    </p:spTree>
    <p:extLst>
      <p:ext uri="{BB962C8B-B14F-4D97-AF65-F5344CB8AC3E}">
        <p14:creationId xmlns:p14="http://schemas.microsoft.com/office/powerpoint/2010/main" val="2232601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07818" y="1382720"/>
            <a:ext cx="4287985" cy="4743451"/>
          </a:xfrm>
        </p:spPr>
        <p:txBody>
          <a:bodyPr/>
          <a:lstStyle>
            <a:lvl1pPr>
              <a:defRPr sz="1100">
                <a:latin typeface="+mn-lt"/>
              </a:defRPr>
            </a:lvl1pPr>
            <a:lvl2pPr>
              <a:defRPr sz="1100">
                <a:latin typeface="+mn-lt"/>
              </a:defRPr>
            </a:lvl2pPr>
            <a:lvl3pPr>
              <a:defRPr sz="1100">
                <a:latin typeface="+mn-lt"/>
              </a:defRPr>
            </a:lvl3pPr>
            <a:lvl4pPr>
              <a:defRPr sz="1100">
                <a:latin typeface="+mn-lt"/>
              </a:defRPr>
            </a:lvl4pPr>
            <a:lvl5pPr>
              <a:defRPr sz="1100">
                <a:latin typeface="+mn-lt"/>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5" y="1382720"/>
            <a:ext cx="4287978" cy="4743451"/>
          </a:xfrm>
        </p:spPr>
        <p:txBody>
          <a:bodyPr/>
          <a:lstStyle>
            <a:lvl1pPr>
              <a:defRPr sz="1100">
                <a:latin typeface="+mn-lt"/>
              </a:defRPr>
            </a:lvl1pPr>
            <a:lvl2pPr>
              <a:defRPr sz="1100">
                <a:latin typeface="+mn-lt"/>
              </a:defRPr>
            </a:lvl2pPr>
            <a:lvl3pPr>
              <a:defRPr sz="1100">
                <a:latin typeface="+mn-lt"/>
              </a:defRPr>
            </a:lvl3pPr>
            <a:lvl4pPr>
              <a:defRPr sz="1100">
                <a:latin typeface="+mn-lt"/>
              </a:defRPr>
            </a:lvl4pPr>
            <a:lvl5pPr>
              <a:defRPr sz="1100">
                <a:latin typeface="+mn-lt"/>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6735859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8072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allou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66989" y="1089773"/>
            <a:ext cx="1672648" cy="5240150"/>
          </a:xfrm>
        </p:spPr>
        <p:txBody>
          <a:bodyPr/>
          <a:lstStyle>
            <a:lvl1pPr>
              <a:spcBef>
                <a:spcPts val="2154"/>
              </a:spcBef>
              <a:defRPr sz="1200"/>
            </a:lvl1pPr>
            <a:lvl2pPr>
              <a:defRPr sz="1000"/>
            </a:lvl2pPr>
            <a:lvl3pPr>
              <a:spcBef>
                <a:spcPts val="538"/>
              </a:spcBef>
              <a:defRPr sz="1000"/>
            </a:lvl3pPr>
            <a:lvl4pPr>
              <a:defRPr sz="1000"/>
            </a:lvl4pPr>
            <a:lvl5pPr>
              <a:defRPr sz="10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286000" y="1089772"/>
            <a:ext cx="6558742" cy="5240151"/>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093224" y="1089771"/>
            <a:ext cx="0" cy="5349240"/>
          </a:xfrm>
          <a:prstGeom prst="line">
            <a:avLst/>
          </a:prstGeom>
          <a:noFill/>
          <a:ln w="6350">
            <a:solidFill>
              <a:schemeClr val="accent1"/>
            </a:solidFill>
            <a:round/>
            <a:headEnd/>
            <a:tailEnd/>
          </a:ln>
          <a:effectLst/>
        </p:spPr>
        <p:txBody>
          <a:bodyPr lIns="91407" tIns="45704" rIns="91407" bIns="45704"/>
          <a:lstStyle/>
          <a:p>
            <a:pPr>
              <a:defRPr/>
            </a:pPr>
            <a:endParaRPr lang="en-US" dirty="0"/>
          </a:p>
        </p:txBody>
      </p:sp>
      <p:sp>
        <p:nvSpPr>
          <p:cNvPr id="6" name="Text Placeholder 4"/>
          <p:cNvSpPr>
            <a:spLocks noGrp="1"/>
          </p:cNvSpPr>
          <p:nvPr>
            <p:ph type="body" sz="quarter" idx="10"/>
          </p:nvPr>
        </p:nvSpPr>
        <p:spPr>
          <a:xfrm>
            <a:off x="2632364" y="385483"/>
            <a:ext cx="6243205" cy="524435"/>
          </a:xfrm>
        </p:spPr>
        <p:txBody>
          <a:bodyPr/>
          <a:lstStyle>
            <a:lvl1pPr algn="r">
              <a:defRPr sz="13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1050086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30"/>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095" indent="0" algn="ctr">
              <a:buNone/>
              <a:defRPr/>
            </a:lvl2pPr>
            <a:lvl3pPr marL="914191" indent="0" algn="ctr">
              <a:buNone/>
              <a:defRPr/>
            </a:lvl3pPr>
            <a:lvl4pPr marL="1371286" indent="0" algn="ctr">
              <a:buNone/>
              <a:defRPr/>
            </a:lvl4pPr>
            <a:lvl5pPr marL="1828382" indent="0" algn="ctr">
              <a:buNone/>
              <a:defRPr/>
            </a:lvl5pPr>
            <a:lvl6pPr marL="2285477" indent="0" algn="ctr">
              <a:buNone/>
              <a:defRPr/>
            </a:lvl6pPr>
            <a:lvl7pPr marL="2742572" indent="0" algn="ctr">
              <a:buNone/>
              <a:defRPr/>
            </a:lvl7pPr>
            <a:lvl8pPr marL="3199668" indent="0" algn="ctr">
              <a:buNone/>
              <a:defRPr/>
            </a:lvl8pPr>
            <a:lvl9pPr marL="3656762"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44108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56610" y="158750"/>
            <a:ext cx="6187391" cy="598205"/>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00">
                <a:latin typeface="+mn-lt"/>
              </a:defRPr>
            </a:lvl1pPr>
            <a:lvl2pPr>
              <a:defRPr sz="1100">
                <a:latin typeface="+mn-lt"/>
              </a:defRPr>
            </a:lvl2pPr>
            <a:lvl3pPr>
              <a:defRPr sz="1100">
                <a:latin typeface="+mn-lt"/>
              </a:defRPr>
            </a:lvl3pPr>
            <a:lvl4pPr marL="720859" indent="-210844">
              <a:defRPr sz="1100">
                <a:latin typeface="+mn-lt"/>
              </a:defRPr>
            </a:lvl4pPr>
            <a:lvl5pPr marL="920306" indent="-199447">
              <a:defRPr sz="11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51168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7"/>
            <a:ext cx="7772400" cy="1500187"/>
          </a:xfrm>
        </p:spPr>
        <p:txBody>
          <a:bodyPr anchor="b"/>
          <a:lstStyle>
            <a:lvl1pPr marL="0" indent="0">
              <a:buNone/>
              <a:defRPr sz="2000"/>
            </a:lvl1pPr>
            <a:lvl2pPr marL="457095" indent="0">
              <a:buNone/>
              <a:defRPr sz="1800"/>
            </a:lvl2pPr>
            <a:lvl3pPr marL="914191" indent="0">
              <a:buNone/>
              <a:defRPr sz="1600"/>
            </a:lvl3pPr>
            <a:lvl4pPr marL="1371286" indent="0">
              <a:buNone/>
              <a:defRPr sz="1400"/>
            </a:lvl4pPr>
            <a:lvl5pPr marL="1828382" indent="0">
              <a:buNone/>
              <a:defRPr sz="1400"/>
            </a:lvl5pPr>
            <a:lvl6pPr marL="2285477" indent="0">
              <a:buNone/>
              <a:defRPr sz="1400"/>
            </a:lvl6pPr>
            <a:lvl7pPr marL="2742572" indent="0">
              <a:buNone/>
              <a:defRPr sz="1400"/>
            </a:lvl7pPr>
            <a:lvl8pPr marL="3199668" indent="0">
              <a:buNone/>
              <a:defRPr sz="1400"/>
            </a:lvl8pPr>
            <a:lvl9pPr marL="3656762" indent="0">
              <a:buNone/>
              <a:defRPr sz="1400"/>
            </a:lvl9pPr>
          </a:lstStyle>
          <a:p>
            <a:pPr lvl="0"/>
            <a:r>
              <a:rPr lang="en-US" smtClean="0"/>
              <a:t>Click to edit Master text styles</a:t>
            </a:r>
          </a:p>
        </p:txBody>
      </p:sp>
    </p:spTree>
    <p:extLst>
      <p:ext uri="{BB962C8B-B14F-4D97-AF65-F5344CB8AC3E}">
        <p14:creationId xmlns:p14="http://schemas.microsoft.com/office/powerpoint/2010/main" val="42261649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07818" y="1382714"/>
            <a:ext cx="4287985" cy="4743451"/>
          </a:xfrm>
        </p:spPr>
        <p:txBody>
          <a:bodyPr/>
          <a:lstStyle>
            <a:lvl1pPr>
              <a:defRPr sz="1100">
                <a:latin typeface="+mn-lt"/>
              </a:defRPr>
            </a:lvl1pPr>
            <a:lvl2pPr>
              <a:defRPr sz="1100">
                <a:latin typeface="+mn-lt"/>
              </a:defRPr>
            </a:lvl2pPr>
            <a:lvl3pPr>
              <a:defRPr sz="1100">
                <a:latin typeface="+mn-lt"/>
              </a:defRPr>
            </a:lvl3pPr>
            <a:lvl4pPr>
              <a:defRPr sz="1100">
                <a:latin typeface="+mn-lt"/>
              </a:defRPr>
            </a:lvl4pPr>
            <a:lvl5pPr>
              <a:defRPr sz="1100">
                <a:latin typeface="+mn-lt"/>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5" y="1382714"/>
            <a:ext cx="4287978" cy="4743451"/>
          </a:xfrm>
        </p:spPr>
        <p:txBody>
          <a:bodyPr/>
          <a:lstStyle>
            <a:lvl1pPr>
              <a:defRPr sz="1100">
                <a:latin typeface="+mn-lt"/>
              </a:defRPr>
            </a:lvl1pPr>
            <a:lvl2pPr>
              <a:defRPr sz="1100">
                <a:latin typeface="+mn-lt"/>
              </a:defRPr>
            </a:lvl2pPr>
            <a:lvl3pPr>
              <a:defRPr sz="1100">
                <a:latin typeface="+mn-lt"/>
              </a:defRPr>
            </a:lvl3pPr>
            <a:lvl4pPr>
              <a:defRPr sz="1100">
                <a:latin typeface="+mn-lt"/>
              </a:defRPr>
            </a:lvl4pPr>
            <a:lvl5pPr>
              <a:defRPr sz="1100">
                <a:latin typeface="+mn-lt"/>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905018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657293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lIns="101858" tIns="50929" rIns="101858" bIns="50929"/>
          <a:lstStyle>
            <a:lvl1pPr marL="0" indent="0" algn="ctr">
              <a:buNone/>
              <a:defRPr/>
            </a:lvl1pPr>
            <a:lvl2pPr marL="449399" indent="0" algn="ctr">
              <a:buNone/>
              <a:defRPr/>
            </a:lvl2pPr>
            <a:lvl3pPr marL="898800" indent="0" algn="ctr">
              <a:buNone/>
              <a:defRPr/>
            </a:lvl3pPr>
            <a:lvl4pPr marL="1348200" indent="0" algn="ctr">
              <a:buNone/>
              <a:defRPr/>
            </a:lvl4pPr>
            <a:lvl5pPr marL="1797601" indent="0" algn="ctr">
              <a:buNone/>
              <a:defRPr/>
            </a:lvl5pPr>
            <a:lvl6pPr marL="2247002" indent="0" algn="ctr">
              <a:buNone/>
              <a:defRPr/>
            </a:lvl6pPr>
            <a:lvl7pPr marL="2696401" indent="0" algn="ctr">
              <a:buNone/>
              <a:defRPr/>
            </a:lvl7pPr>
            <a:lvl8pPr marL="3145802" indent="0" algn="ctr">
              <a:buNone/>
              <a:defRPr/>
            </a:lvl8pPr>
            <a:lvl9pPr marL="3595201" indent="0" algn="ctr">
              <a:buNone/>
              <a:defRPr/>
            </a:lvl9pPr>
          </a:lstStyle>
          <a:p>
            <a:r>
              <a:rPr lang="en-US"/>
              <a:t>Click to edit Master subtitle style</a:t>
            </a:r>
          </a:p>
        </p:txBody>
      </p:sp>
    </p:spTree>
    <p:extLst>
      <p:ext uri="{BB962C8B-B14F-4D97-AF65-F5344CB8AC3E}">
        <p14:creationId xmlns:p14="http://schemas.microsoft.com/office/powerpoint/2010/main" val="759125000"/>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793969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5.xml"/><Relationship Id="rId7"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image" Target="../media/image2.png"/><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07818" y="695327"/>
            <a:ext cx="8728364" cy="3400361"/>
          </a:xfrm>
          <a:prstGeom prst="rect">
            <a:avLst/>
          </a:prstGeom>
          <a:noFill/>
          <a:ln w="9525">
            <a:noFill/>
            <a:miter lim="800000"/>
            <a:headEnd/>
            <a:tailEnd/>
          </a:ln>
        </p:spPr>
      </p:pic>
      <p:sp>
        <p:nvSpPr>
          <p:cNvPr id="364592" name="Rectangle 48"/>
          <p:cNvSpPr>
            <a:spLocks noChangeArrowheads="1"/>
          </p:cNvSpPr>
          <p:nvPr userDrawn="1"/>
        </p:nvSpPr>
        <p:spPr bwMode="auto">
          <a:xfrm>
            <a:off x="207818" y="6296726"/>
            <a:ext cx="8728364" cy="354013"/>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365" tIns="45683" rIns="91365" bIns="45683" anchor="ctr"/>
          <a:lstStyle/>
          <a:p>
            <a:pPr fontAlgn="base">
              <a:spcBef>
                <a:spcPct val="0"/>
              </a:spcBef>
              <a:spcAft>
                <a:spcPct val="0"/>
              </a:spcAft>
            </a:pPr>
            <a:endParaRPr lang="en-US" dirty="0">
              <a:solidFill>
                <a:srgbClr val="000000"/>
              </a:solidFill>
            </a:endParaRPr>
          </a:p>
        </p:txBody>
      </p:sp>
      <p:sp>
        <p:nvSpPr>
          <p:cNvPr id="364594" name="Rectangle 50"/>
          <p:cNvSpPr>
            <a:spLocks noChangeArrowheads="1"/>
          </p:cNvSpPr>
          <p:nvPr userDrawn="1"/>
        </p:nvSpPr>
        <p:spPr bwMode="auto">
          <a:xfrm flipV="1">
            <a:off x="207818" y="4383088"/>
            <a:ext cx="8728364" cy="354012"/>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82003" tIns="41000" rIns="82003" bIns="41000" anchor="ctr"/>
          <a:lstStyle/>
          <a:p>
            <a:pPr fontAlgn="base">
              <a:spcBef>
                <a:spcPct val="0"/>
              </a:spcBef>
              <a:spcAft>
                <a:spcPct val="0"/>
              </a:spcAft>
            </a:pPr>
            <a:endParaRPr lang="en-US" dirty="0">
              <a:solidFill>
                <a:srgbClr val="000000"/>
              </a:solidFill>
            </a:endParaRPr>
          </a:p>
        </p:txBody>
      </p:sp>
      <p:grpSp>
        <p:nvGrpSpPr>
          <p:cNvPr id="364597" name="Group 33"/>
          <p:cNvGrpSpPr>
            <a:grpSpLocks/>
          </p:cNvGrpSpPr>
          <p:nvPr userDrawn="1"/>
        </p:nvGrpSpPr>
        <p:grpSpPr bwMode="auto">
          <a:xfrm>
            <a:off x="919167" y="3517900"/>
            <a:ext cx="1978025" cy="2541588"/>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fontAlgn="base">
                <a:spcBef>
                  <a:spcPct val="0"/>
                </a:spcBef>
                <a:spcAft>
                  <a:spcPct val="0"/>
                </a:spcAft>
                <a:defRPr/>
              </a:pPr>
              <a:endParaRPr lang="en-US" dirty="0">
                <a:solidFill>
                  <a:srgbClr val="000000"/>
                </a:solidFill>
              </a:endParaRPr>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fontAlgn="base">
                <a:spcBef>
                  <a:spcPct val="0"/>
                </a:spcBef>
                <a:spcAft>
                  <a:spcPct val="0"/>
                </a:spcAft>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fontAlgn="base">
                <a:spcBef>
                  <a:spcPct val="0"/>
                </a:spcBef>
                <a:spcAft>
                  <a:spcPct val="0"/>
                </a:spcAft>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fontAlgn="base">
                <a:spcBef>
                  <a:spcPct val="0"/>
                </a:spcBef>
                <a:spcAft>
                  <a:spcPct val="0"/>
                </a:spcAft>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fontAlgn="base">
                <a:spcBef>
                  <a:spcPct val="0"/>
                </a:spcBef>
                <a:spcAft>
                  <a:spcPct val="0"/>
                </a:spcAft>
                <a:defRPr/>
              </a:pPr>
              <a:endParaRPr lang="en-US" dirty="0">
                <a:solidFill>
                  <a:srgbClr val="000000"/>
                </a:solidFill>
              </a:endParaRPr>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fontAlgn="base">
                <a:spcBef>
                  <a:spcPct val="0"/>
                </a:spcBef>
                <a:spcAft>
                  <a:spcPct val="0"/>
                </a:spcAft>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fontAlgn="base">
                <a:spcBef>
                  <a:spcPct val="0"/>
                </a:spcBef>
                <a:spcAft>
                  <a:spcPct val="0"/>
                </a:spcAft>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fontAlgn="base">
                <a:spcBef>
                  <a:spcPct val="0"/>
                </a:spcBef>
                <a:spcAft>
                  <a:spcPct val="0"/>
                </a:spcAft>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fontAlgn="base">
                <a:spcBef>
                  <a:spcPct val="0"/>
                </a:spcBef>
                <a:spcAft>
                  <a:spcPct val="0"/>
                </a:spcAft>
                <a:defRPr/>
              </a:pPr>
              <a:endParaRPr lang="en-US" dirty="0">
                <a:solidFill>
                  <a:srgbClr val="000000"/>
                </a:solidFill>
              </a:endParaRPr>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fontAlgn="base">
                <a:spcBef>
                  <a:spcPct val="0"/>
                </a:spcBef>
                <a:spcAft>
                  <a:spcPct val="0"/>
                </a:spcAft>
                <a:defRPr/>
              </a:pPr>
              <a:endParaRPr lang="en-US" dirty="0">
                <a:solidFill>
                  <a:srgbClr val="000000"/>
                </a:solidFill>
              </a:endParaRPr>
            </a:p>
          </p:txBody>
        </p:sp>
      </p:grpSp>
      <p:sp>
        <p:nvSpPr>
          <p:cNvPr id="34" name="Rectangle 14"/>
          <p:cNvSpPr>
            <a:spLocks noChangeArrowheads="1"/>
          </p:cNvSpPr>
          <p:nvPr userDrawn="1"/>
        </p:nvSpPr>
        <p:spPr bwMode="auto">
          <a:xfrm>
            <a:off x="207818" y="201706"/>
            <a:ext cx="8728364" cy="6454588"/>
          </a:xfrm>
          <a:prstGeom prst="rect">
            <a:avLst/>
          </a:prstGeom>
          <a:noFill/>
          <a:ln w="25400">
            <a:solidFill>
              <a:schemeClr val="hlink"/>
            </a:solidFill>
            <a:miter lim="800000"/>
            <a:headEnd/>
            <a:tailEnd/>
          </a:ln>
        </p:spPr>
        <p:txBody>
          <a:bodyPr wrap="none" lIns="91354" tIns="45678" rIns="91354" bIns="45678" anchor="ctr"/>
          <a:lstStyle/>
          <a:p>
            <a:pPr fontAlgn="base">
              <a:spcBef>
                <a:spcPct val="0"/>
              </a:spcBef>
              <a:spcAft>
                <a:spcPct val="0"/>
              </a:spcAft>
              <a:defRPr/>
            </a:pPr>
            <a:endParaRPr lang="en-US" dirty="0">
              <a:solidFill>
                <a:srgbClr val="000000"/>
              </a:solidFill>
            </a:endParaRPr>
          </a:p>
        </p:txBody>
      </p:sp>
    </p:spTree>
    <p:extLst>
      <p:ext uri="{BB962C8B-B14F-4D97-AF65-F5344CB8AC3E}">
        <p14:creationId xmlns:p14="http://schemas.microsoft.com/office/powerpoint/2010/main" val="415366070"/>
      </p:ext>
    </p:extLst>
  </p:cSld>
  <p:clrMap bg1="lt1" tx1="dk1" bg2="lt2" tx2="dk2" accent1="accent1" accent2="accent2" accent3="accent3" accent4="accent4" accent5="accent5" accent6="accent6" hlink="hlink" folHlink="folHlink"/>
  <p:sldLayoutIdLst>
    <p:sldLayoutId id="2147483667" r:id="rId1"/>
    <p:sldLayoutId id="2147483668" r:id="rId2"/>
  </p:sldLayoutIdLst>
  <p:timing>
    <p:tnLst>
      <p:par>
        <p:cTn id="1" dur="indefinite" restart="never" nodeType="tmRoot"/>
      </p:par>
    </p:tnLst>
  </p:timing>
  <p:hf hd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Cambria" pitchFamily="18" charset="0"/>
        </a:defRPr>
      </a:lvl2pPr>
      <a:lvl3pPr algn="ctr" rtl="0" fontAlgn="base">
        <a:spcBef>
          <a:spcPct val="0"/>
        </a:spcBef>
        <a:spcAft>
          <a:spcPct val="0"/>
        </a:spcAft>
        <a:defRPr sz="4400">
          <a:solidFill>
            <a:schemeClr val="tx2"/>
          </a:solidFill>
          <a:latin typeface="Cambria" pitchFamily="18" charset="0"/>
        </a:defRPr>
      </a:lvl3pPr>
      <a:lvl4pPr algn="ctr" rtl="0" fontAlgn="base">
        <a:spcBef>
          <a:spcPct val="0"/>
        </a:spcBef>
        <a:spcAft>
          <a:spcPct val="0"/>
        </a:spcAft>
        <a:defRPr sz="4400">
          <a:solidFill>
            <a:schemeClr val="tx2"/>
          </a:solidFill>
          <a:latin typeface="Cambria" pitchFamily="18" charset="0"/>
        </a:defRPr>
      </a:lvl4pPr>
      <a:lvl5pPr algn="ctr" rtl="0" fontAlgn="base">
        <a:spcBef>
          <a:spcPct val="0"/>
        </a:spcBef>
        <a:spcAft>
          <a:spcPct val="0"/>
        </a:spcAft>
        <a:defRPr sz="4400">
          <a:solidFill>
            <a:schemeClr val="tx2"/>
          </a:solidFill>
          <a:latin typeface="Cambria" pitchFamily="18" charset="0"/>
        </a:defRPr>
      </a:lvl5pPr>
      <a:lvl6pPr marL="456827" algn="ctr" rtl="0" fontAlgn="base">
        <a:spcBef>
          <a:spcPct val="0"/>
        </a:spcBef>
        <a:spcAft>
          <a:spcPct val="0"/>
        </a:spcAft>
        <a:defRPr sz="4400">
          <a:solidFill>
            <a:schemeClr val="tx2"/>
          </a:solidFill>
          <a:latin typeface="Cambria" pitchFamily="18" charset="0"/>
        </a:defRPr>
      </a:lvl6pPr>
      <a:lvl7pPr marL="913651" algn="ctr" rtl="0" fontAlgn="base">
        <a:spcBef>
          <a:spcPct val="0"/>
        </a:spcBef>
        <a:spcAft>
          <a:spcPct val="0"/>
        </a:spcAft>
        <a:defRPr sz="4400">
          <a:solidFill>
            <a:schemeClr val="tx2"/>
          </a:solidFill>
          <a:latin typeface="Cambria" pitchFamily="18" charset="0"/>
        </a:defRPr>
      </a:lvl7pPr>
      <a:lvl8pPr marL="1370479" algn="ctr" rtl="0" fontAlgn="base">
        <a:spcBef>
          <a:spcPct val="0"/>
        </a:spcBef>
        <a:spcAft>
          <a:spcPct val="0"/>
        </a:spcAft>
        <a:defRPr sz="4400">
          <a:solidFill>
            <a:schemeClr val="tx2"/>
          </a:solidFill>
          <a:latin typeface="Cambria" pitchFamily="18" charset="0"/>
        </a:defRPr>
      </a:lvl8pPr>
      <a:lvl9pPr marL="1827303" algn="ctr" rtl="0" fontAlgn="base">
        <a:spcBef>
          <a:spcPct val="0"/>
        </a:spcBef>
        <a:spcAft>
          <a:spcPct val="0"/>
        </a:spcAft>
        <a:defRPr sz="4400">
          <a:solidFill>
            <a:schemeClr val="tx2"/>
          </a:solidFill>
          <a:latin typeface="Cambria" pitchFamily="18" charset="0"/>
        </a:defRPr>
      </a:lvl9pPr>
    </p:titleStyle>
    <p:bodyStyle>
      <a:lvl1pPr marL="341034" indent="-341034" algn="l" rtl="0" fontAlgn="base">
        <a:spcBef>
          <a:spcPct val="20000"/>
        </a:spcBef>
        <a:spcAft>
          <a:spcPct val="0"/>
        </a:spcAft>
        <a:buChar char="•"/>
        <a:defRPr sz="3200">
          <a:solidFill>
            <a:schemeClr val="tx1"/>
          </a:solidFill>
          <a:latin typeface="+mn-lt"/>
          <a:ea typeface="+mn-ea"/>
          <a:cs typeface="+mn-cs"/>
        </a:defRPr>
      </a:lvl1pPr>
      <a:lvl2pPr marL="740755" indent="-283930" algn="l" rtl="0" fontAlgn="base">
        <a:spcBef>
          <a:spcPct val="20000"/>
        </a:spcBef>
        <a:spcAft>
          <a:spcPct val="0"/>
        </a:spcAft>
        <a:buChar char="–"/>
        <a:defRPr sz="2800">
          <a:solidFill>
            <a:schemeClr val="tx1"/>
          </a:solidFill>
          <a:latin typeface="+mn-lt"/>
        </a:defRPr>
      </a:lvl2pPr>
      <a:lvl3pPr marL="1140479" indent="-226830" algn="l" rtl="0" fontAlgn="base">
        <a:spcBef>
          <a:spcPct val="20000"/>
        </a:spcBef>
        <a:spcAft>
          <a:spcPct val="0"/>
        </a:spcAft>
        <a:buChar char="•"/>
        <a:defRPr sz="2400">
          <a:solidFill>
            <a:schemeClr val="tx1"/>
          </a:solidFill>
          <a:latin typeface="+mn-lt"/>
        </a:defRPr>
      </a:lvl3pPr>
      <a:lvl4pPr marL="1597306" indent="-226830" algn="l" rtl="0" fontAlgn="base">
        <a:spcBef>
          <a:spcPct val="20000"/>
        </a:spcBef>
        <a:spcAft>
          <a:spcPct val="0"/>
        </a:spcAft>
        <a:buChar char="–"/>
        <a:defRPr sz="2000">
          <a:solidFill>
            <a:schemeClr val="tx1"/>
          </a:solidFill>
          <a:latin typeface="+mn-lt"/>
        </a:defRPr>
      </a:lvl4pPr>
      <a:lvl5pPr marL="2054132" indent="-226830" algn="l" rtl="0" fontAlgn="base">
        <a:spcBef>
          <a:spcPct val="20000"/>
        </a:spcBef>
        <a:spcAft>
          <a:spcPct val="0"/>
        </a:spcAft>
        <a:buChar char="»"/>
        <a:defRPr sz="2000">
          <a:solidFill>
            <a:schemeClr val="tx1"/>
          </a:solidFill>
          <a:latin typeface="+mn-lt"/>
        </a:defRPr>
      </a:lvl5pPr>
      <a:lvl6pPr marL="2510957" indent="-226830" algn="l" rtl="0" fontAlgn="base">
        <a:spcBef>
          <a:spcPct val="20000"/>
        </a:spcBef>
        <a:spcAft>
          <a:spcPct val="0"/>
        </a:spcAft>
        <a:buChar char="»"/>
        <a:defRPr sz="2000">
          <a:solidFill>
            <a:schemeClr val="tx1"/>
          </a:solidFill>
          <a:latin typeface="+mn-lt"/>
        </a:defRPr>
      </a:lvl6pPr>
      <a:lvl7pPr marL="2967783" indent="-226830" algn="l" rtl="0" fontAlgn="base">
        <a:spcBef>
          <a:spcPct val="20000"/>
        </a:spcBef>
        <a:spcAft>
          <a:spcPct val="0"/>
        </a:spcAft>
        <a:buChar char="»"/>
        <a:defRPr sz="2000">
          <a:solidFill>
            <a:schemeClr val="tx1"/>
          </a:solidFill>
          <a:latin typeface="+mn-lt"/>
        </a:defRPr>
      </a:lvl7pPr>
      <a:lvl8pPr marL="3424609" indent="-226830" algn="l" rtl="0" fontAlgn="base">
        <a:spcBef>
          <a:spcPct val="20000"/>
        </a:spcBef>
        <a:spcAft>
          <a:spcPct val="0"/>
        </a:spcAft>
        <a:buChar char="»"/>
        <a:defRPr sz="2000">
          <a:solidFill>
            <a:schemeClr val="tx1"/>
          </a:solidFill>
          <a:latin typeface="+mn-lt"/>
        </a:defRPr>
      </a:lvl8pPr>
      <a:lvl9pPr marL="3881435" indent="-22683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3651" rtl="0" eaLnBrk="1" latinLnBrk="0" hangingPunct="1">
        <a:defRPr sz="1800" kern="1200">
          <a:solidFill>
            <a:schemeClr val="tx1"/>
          </a:solidFill>
          <a:latin typeface="+mn-lt"/>
          <a:ea typeface="+mn-ea"/>
          <a:cs typeface="+mn-cs"/>
        </a:defRPr>
      </a:lvl1pPr>
      <a:lvl2pPr marL="456827" algn="l" defTabSz="913651" rtl="0" eaLnBrk="1" latinLnBrk="0" hangingPunct="1">
        <a:defRPr sz="1800" kern="1200">
          <a:solidFill>
            <a:schemeClr val="tx1"/>
          </a:solidFill>
          <a:latin typeface="+mn-lt"/>
          <a:ea typeface="+mn-ea"/>
          <a:cs typeface="+mn-cs"/>
        </a:defRPr>
      </a:lvl2pPr>
      <a:lvl3pPr marL="913651" algn="l" defTabSz="913651" rtl="0" eaLnBrk="1" latinLnBrk="0" hangingPunct="1">
        <a:defRPr sz="1800" kern="1200">
          <a:solidFill>
            <a:schemeClr val="tx1"/>
          </a:solidFill>
          <a:latin typeface="+mn-lt"/>
          <a:ea typeface="+mn-ea"/>
          <a:cs typeface="+mn-cs"/>
        </a:defRPr>
      </a:lvl3pPr>
      <a:lvl4pPr marL="1370479" algn="l" defTabSz="913651" rtl="0" eaLnBrk="1" latinLnBrk="0" hangingPunct="1">
        <a:defRPr sz="1800" kern="1200">
          <a:solidFill>
            <a:schemeClr val="tx1"/>
          </a:solidFill>
          <a:latin typeface="+mn-lt"/>
          <a:ea typeface="+mn-ea"/>
          <a:cs typeface="+mn-cs"/>
        </a:defRPr>
      </a:lvl4pPr>
      <a:lvl5pPr marL="1827303" algn="l" defTabSz="913651" rtl="0" eaLnBrk="1" latinLnBrk="0" hangingPunct="1">
        <a:defRPr sz="1800" kern="1200">
          <a:solidFill>
            <a:schemeClr val="tx1"/>
          </a:solidFill>
          <a:latin typeface="+mn-lt"/>
          <a:ea typeface="+mn-ea"/>
          <a:cs typeface="+mn-cs"/>
        </a:defRPr>
      </a:lvl5pPr>
      <a:lvl6pPr marL="2284131" algn="l" defTabSz="913651" rtl="0" eaLnBrk="1" latinLnBrk="0" hangingPunct="1">
        <a:defRPr sz="1800" kern="1200">
          <a:solidFill>
            <a:schemeClr val="tx1"/>
          </a:solidFill>
          <a:latin typeface="+mn-lt"/>
          <a:ea typeface="+mn-ea"/>
          <a:cs typeface="+mn-cs"/>
        </a:defRPr>
      </a:lvl6pPr>
      <a:lvl7pPr marL="2740955" algn="l" defTabSz="913651" rtl="0" eaLnBrk="1" latinLnBrk="0" hangingPunct="1">
        <a:defRPr sz="1800" kern="1200">
          <a:solidFill>
            <a:schemeClr val="tx1"/>
          </a:solidFill>
          <a:latin typeface="+mn-lt"/>
          <a:ea typeface="+mn-ea"/>
          <a:cs typeface="+mn-cs"/>
        </a:defRPr>
      </a:lvl7pPr>
      <a:lvl8pPr marL="3197782" algn="l" defTabSz="913651" rtl="0" eaLnBrk="1" latinLnBrk="0" hangingPunct="1">
        <a:defRPr sz="1800" kern="1200">
          <a:solidFill>
            <a:schemeClr val="tx1"/>
          </a:solidFill>
          <a:latin typeface="+mn-lt"/>
          <a:ea typeface="+mn-ea"/>
          <a:cs typeface="+mn-cs"/>
        </a:defRPr>
      </a:lvl8pPr>
      <a:lvl9pPr marL="3654606" algn="l" defTabSz="913651"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07818" y="1116387"/>
            <a:ext cx="8728364" cy="501547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07818" y="203050"/>
            <a:ext cx="8728364" cy="572845"/>
          </a:xfrm>
          <a:prstGeom prst="rect">
            <a:avLst/>
          </a:prstGeom>
          <a:solidFill>
            <a:srgbClr val="2E398A"/>
          </a:solidFill>
          <a:ln w="9525">
            <a:noFill/>
            <a:miter lim="800000"/>
            <a:headEnd/>
            <a:tailEnd/>
          </a:ln>
          <a:effectLst/>
        </p:spPr>
        <p:txBody>
          <a:bodyPr wrap="none" lIns="91354" tIns="45678" rIns="91354" bIns="45678" anchor="ctr"/>
          <a:lstStyle/>
          <a:p>
            <a:pPr fontAlgn="base">
              <a:spcBef>
                <a:spcPct val="0"/>
              </a:spcBef>
              <a:spcAft>
                <a:spcPct val="0"/>
              </a:spcAft>
              <a:defRPr/>
            </a:pPr>
            <a:endParaRPr lang="en-US" dirty="0">
              <a:solidFill>
                <a:srgbClr val="000000"/>
              </a:solidFill>
              <a:latin typeface="Cambria" pitchFamily="18" charset="0"/>
            </a:endParaRPr>
          </a:p>
        </p:txBody>
      </p:sp>
      <p:sp>
        <p:nvSpPr>
          <p:cNvPr id="1029" name="Rectangle 2"/>
          <p:cNvSpPr>
            <a:spLocks noGrp="1" noChangeArrowheads="1"/>
          </p:cNvSpPr>
          <p:nvPr>
            <p:ph type="title"/>
          </p:nvPr>
        </p:nvSpPr>
        <p:spPr bwMode="auto">
          <a:xfrm>
            <a:off x="2289977" y="194877"/>
            <a:ext cx="6618287" cy="568325"/>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userDrawn="1"/>
        </p:nvSpPr>
        <p:spPr bwMode="auto">
          <a:xfrm>
            <a:off x="207825" y="6470802"/>
            <a:ext cx="752475" cy="188294"/>
          </a:xfrm>
          <a:prstGeom prst="rect">
            <a:avLst/>
          </a:prstGeom>
          <a:noFill/>
          <a:ln w="9525">
            <a:noFill/>
            <a:miter lim="800000"/>
            <a:headEnd/>
            <a:tailEnd/>
          </a:ln>
          <a:effectLst/>
        </p:spPr>
        <p:txBody>
          <a:bodyPr lIns="0" tIns="0" rIns="0" bIns="0" anchor="b"/>
          <a:lstStyle/>
          <a:p>
            <a:pPr fontAlgn="base">
              <a:spcBef>
                <a:spcPct val="0"/>
              </a:spcBef>
              <a:spcAft>
                <a:spcPct val="0"/>
              </a:spcAft>
              <a:defRPr/>
            </a:pPr>
            <a:r>
              <a:rPr lang="en-US" sz="800" b="1" dirty="0">
                <a:solidFill>
                  <a:srgbClr val="203353"/>
                </a:solidFill>
              </a:rPr>
              <a:t>PAGE </a:t>
            </a:r>
            <a:fld id="{54B17DE0-6D87-48AB-BBA0-9128AA86CC3B}" type="slidenum">
              <a:rPr lang="en-US" sz="800" b="1">
                <a:solidFill>
                  <a:srgbClr val="203353"/>
                </a:solidFill>
              </a:rPr>
              <a:pPr fontAlgn="base">
                <a:spcBef>
                  <a:spcPct val="0"/>
                </a:spcBef>
                <a:spcAft>
                  <a:spcPct val="0"/>
                </a:spcAft>
                <a:defRPr/>
              </a:pPr>
              <a:t>‹#›</a:t>
            </a:fld>
            <a:endParaRPr lang="en-US" sz="800" b="1" dirty="0">
              <a:solidFill>
                <a:srgbClr val="203353"/>
              </a:solidFill>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280110" y="284326"/>
            <a:ext cx="2197100" cy="398462"/>
          </a:xfrm>
          <a:prstGeom prst="rect">
            <a:avLst/>
          </a:prstGeom>
          <a:noFill/>
          <a:ln w="9525">
            <a:noFill/>
            <a:miter lim="800000"/>
            <a:headEnd/>
            <a:tailEnd/>
          </a:ln>
        </p:spPr>
      </p:pic>
      <p:cxnSp>
        <p:nvCxnSpPr>
          <p:cNvPr id="21" name="Straight Connector 20"/>
          <p:cNvCxnSpPr/>
          <p:nvPr userDrawn="1"/>
        </p:nvCxnSpPr>
        <p:spPr>
          <a:xfrm>
            <a:off x="207818" y="6388474"/>
            <a:ext cx="8728364"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5723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78" r:id="rId6"/>
  </p:sldLayoutIdLst>
  <p:timing>
    <p:tnLst>
      <p:par>
        <p:cTn id="1" dur="indefinite" restart="never" nodeType="tmRoot"/>
      </p:par>
    </p:tnLst>
  </p:timing>
  <p:hf hdr="0" dt="0"/>
  <p:txStyles>
    <p:title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p:titleStyle>
    <p:bodyStyle>
      <a:lvl1pPr marL="168139" indent="-168139" algn="l" rtl="0" eaLnBrk="0" fontAlgn="base" hangingPunct="0">
        <a:spcBef>
          <a:spcPct val="110000"/>
        </a:spcBef>
        <a:spcAft>
          <a:spcPct val="0"/>
        </a:spcAft>
        <a:buClr>
          <a:schemeClr val="tx2"/>
        </a:buClr>
        <a:buChar char="•"/>
        <a:defRPr sz="1100">
          <a:solidFill>
            <a:schemeClr val="tx1"/>
          </a:solidFill>
          <a:latin typeface="+mn-lt"/>
          <a:ea typeface="+mn-ea"/>
          <a:cs typeface="+mn-cs"/>
        </a:defRPr>
      </a:lvl1pPr>
      <a:lvl2pPr marL="337861" indent="-166553" algn="l" rtl="0" eaLnBrk="0" fontAlgn="base" hangingPunct="0">
        <a:spcBef>
          <a:spcPct val="47000"/>
        </a:spcBef>
        <a:spcAft>
          <a:spcPct val="0"/>
        </a:spcAft>
        <a:buClr>
          <a:schemeClr val="tx2"/>
        </a:buClr>
        <a:buFont typeface="Times" pitchFamily="18" charset="0"/>
        <a:buChar char="–"/>
        <a:defRPr sz="1100">
          <a:solidFill>
            <a:schemeClr val="tx1"/>
          </a:solidFill>
          <a:latin typeface="+mn-lt"/>
        </a:defRPr>
      </a:lvl2pPr>
      <a:lvl3pPr marL="507586" indent="-166553" algn="l" rtl="0" eaLnBrk="0" fontAlgn="base" hangingPunct="0">
        <a:spcBef>
          <a:spcPct val="20000"/>
        </a:spcBef>
        <a:spcAft>
          <a:spcPct val="0"/>
        </a:spcAft>
        <a:buClr>
          <a:schemeClr val="tx2"/>
        </a:buClr>
        <a:buFont typeface="Times" pitchFamily="18" charset="0"/>
        <a:buChar char="–"/>
        <a:defRPr sz="1100">
          <a:solidFill>
            <a:schemeClr val="tx1"/>
          </a:solidFill>
          <a:latin typeface="+mn-lt"/>
        </a:defRPr>
      </a:lvl3pPr>
      <a:lvl4pPr marL="1597306" indent="-226830" algn="l" rtl="0" eaLnBrk="0" fontAlgn="base" hangingPunct="0">
        <a:spcBef>
          <a:spcPct val="20000"/>
        </a:spcBef>
        <a:spcAft>
          <a:spcPct val="0"/>
        </a:spcAft>
        <a:buChar char="–"/>
        <a:defRPr sz="1400">
          <a:solidFill>
            <a:schemeClr val="tx1"/>
          </a:solidFill>
          <a:latin typeface="Arial" charset="0"/>
        </a:defRPr>
      </a:lvl4pPr>
      <a:lvl5pPr marL="2054132" indent="-226830" algn="l" rtl="0" eaLnBrk="0" fontAlgn="base" hangingPunct="0">
        <a:spcBef>
          <a:spcPct val="20000"/>
        </a:spcBef>
        <a:spcAft>
          <a:spcPct val="0"/>
        </a:spcAft>
        <a:buChar char="»"/>
        <a:defRPr sz="1400">
          <a:solidFill>
            <a:schemeClr val="tx1"/>
          </a:solidFill>
          <a:latin typeface="Arial" charset="0"/>
        </a:defRPr>
      </a:lvl5pPr>
      <a:lvl6pPr marL="2512261" indent="-228387" algn="l" rtl="0" fontAlgn="base">
        <a:spcBef>
          <a:spcPct val="20000"/>
        </a:spcBef>
        <a:spcAft>
          <a:spcPct val="0"/>
        </a:spcAft>
        <a:buChar char="»"/>
        <a:defRPr sz="1400">
          <a:solidFill>
            <a:schemeClr val="tx1"/>
          </a:solidFill>
          <a:latin typeface="Arial" charset="0"/>
        </a:defRPr>
      </a:lvl6pPr>
      <a:lvl7pPr marL="2969037" indent="-228387" algn="l" rtl="0" fontAlgn="base">
        <a:spcBef>
          <a:spcPct val="20000"/>
        </a:spcBef>
        <a:spcAft>
          <a:spcPct val="0"/>
        </a:spcAft>
        <a:buChar char="»"/>
        <a:defRPr sz="1400">
          <a:solidFill>
            <a:schemeClr val="tx1"/>
          </a:solidFill>
          <a:latin typeface="Arial" charset="0"/>
        </a:defRPr>
      </a:lvl7pPr>
      <a:lvl8pPr marL="3425810" indent="-228387" algn="l" rtl="0" fontAlgn="base">
        <a:spcBef>
          <a:spcPct val="20000"/>
        </a:spcBef>
        <a:spcAft>
          <a:spcPct val="0"/>
        </a:spcAft>
        <a:buChar char="»"/>
        <a:defRPr sz="1400">
          <a:solidFill>
            <a:schemeClr val="tx1"/>
          </a:solidFill>
          <a:latin typeface="Arial" charset="0"/>
        </a:defRPr>
      </a:lvl8pPr>
      <a:lvl9pPr marL="3882583" indent="-228387" algn="l" rtl="0" fontAlgn="base">
        <a:spcBef>
          <a:spcPct val="20000"/>
        </a:spcBef>
        <a:spcAft>
          <a:spcPct val="0"/>
        </a:spcAft>
        <a:buChar char="»"/>
        <a:defRPr sz="1400">
          <a:solidFill>
            <a:schemeClr val="tx1"/>
          </a:solidFill>
          <a:latin typeface="Arial" charset="0"/>
        </a:defRPr>
      </a:lvl9pPr>
    </p:bodyStyle>
    <p:otherStyle>
      <a:defPPr>
        <a:defRPr lang="en-US"/>
      </a:defPPr>
      <a:lvl1pPr marL="0" algn="l" defTabSz="913550" rtl="0" eaLnBrk="1" latinLnBrk="0" hangingPunct="1">
        <a:defRPr sz="1800" kern="1200">
          <a:solidFill>
            <a:schemeClr val="tx1"/>
          </a:solidFill>
          <a:latin typeface="+mn-lt"/>
          <a:ea typeface="+mn-ea"/>
          <a:cs typeface="+mn-cs"/>
        </a:defRPr>
      </a:lvl1pPr>
      <a:lvl2pPr marL="456775" algn="l" defTabSz="913550" rtl="0" eaLnBrk="1" latinLnBrk="0" hangingPunct="1">
        <a:defRPr sz="1800" kern="1200">
          <a:solidFill>
            <a:schemeClr val="tx1"/>
          </a:solidFill>
          <a:latin typeface="+mn-lt"/>
          <a:ea typeface="+mn-ea"/>
          <a:cs typeface="+mn-cs"/>
        </a:defRPr>
      </a:lvl2pPr>
      <a:lvl3pPr marL="913550" algn="l" defTabSz="913550" rtl="0" eaLnBrk="1" latinLnBrk="0" hangingPunct="1">
        <a:defRPr sz="1800" kern="1200">
          <a:solidFill>
            <a:schemeClr val="tx1"/>
          </a:solidFill>
          <a:latin typeface="+mn-lt"/>
          <a:ea typeface="+mn-ea"/>
          <a:cs typeface="+mn-cs"/>
        </a:defRPr>
      </a:lvl3pPr>
      <a:lvl4pPr marL="1370324" algn="l" defTabSz="913550" rtl="0" eaLnBrk="1" latinLnBrk="0" hangingPunct="1">
        <a:defRPr sz="1800" kern="1200">
          <a:solidFill>
            <a:schemeClr val="tx1"/>
          </a:solidFill>
          <a:latin typeface="+mn-lt"/>
          <a:ea typeface="+mn-ea"/>
          <a:cs typeface="+mn-cs"/>
        </a:defRPr>
      </a:lvl4pPr>
      <a:lvl5pPr marL="1827098" algn="l" defTabSz="913550" rtl="0" eaLnBrk="1" latinLnBrk="0" hangingPunct="1">
        <a:defRPr sz="1800" kern="1200">
          <a:solidFill>
            <a:schemeClr val="tx1"/>
          </a:solidFill>
          <a:latin typeface="+mn-lt"/>
          <a:ea typeface="+mn-ea"/>
          <a:cs typeface="+mn-cs"/>
        </a:defRPr>
      </a:lvl5pPr>
      <a:lvl6pPr marL="2283874" algn="l" defTabSz="913550" rtl="0" eaLnBrk="1" latinLnBrk="0" hangingPunct="1">
        <a:defRPr sz="1800" kern="1200">
          <a:solidFill>
            <a:schemeClr val="tx1"/>
          </a:solidFill>
          <a:latin typeface="+mn-lt"/>
          <a:ea typeface="+mn-ea"/>
          <a:cs typeface="+mn-cs"/>
        </a:defRPr>
      </a:lvl6pPr>
      <a:lvl7pPr marL="2740649" algn="l" defTabSz="913550" rtl="0" eaLnBrk="1" latinLnBrk="0" hangingPunct="1">
        <a:defRPr sz="1800" kern="1200">
          <a:solidFill>
            <a:schemeClr val="tx1"/>
          </a:solidFill>
          <a:latin typeface="+mn-lt"/>
          <a:ea typeface="+mn-ea"/>
          <a:cs typeface="+mn-cs"/>
        </a:defRPr>
      </a:lvl7pPr>
      <a:lvl8pPr marL="3197425" algn="l" defTabSz="913550" rtl="0" eaLnBrk="1" latinLnBrk="0" hangingPunct="1">
        <a:defRPr sz="1800" kern="1200">
          <a:solidFill>
            <a:schemeClr val="tx1"/>
          </a:solidFill>
          <a:latin typeface="+mn-lt"/>
          <a:ea typeface="+mn-ea"/>
          <a:cs typeface="+mn-cs"/>
        </a:defRPr>
      </a:lvl8pPr>
      <a:lvl9pPr marL="3654197" algn="l" defTabSz="91355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07818" y="1116387"/>
            <a:ext cx="8728364" cy="5015472"/>
          </a:xfrm>
          <a:prstGeom prst="rect">
            <a:avLst/>
          </a:prstGeom>
          <a:noFill/>
          <a:ln w="9525">
            <a:noFill/>
            <a:miter lim="800000"/>
            <a:headEnd/>
            <a:tailEnd/>
          </a:ln>
        </p:spPr>
        <p:txBody>
          <a:bodyPr vert="horz" wrap="square" lIns="91419" tIns="45709" rIns="91419" bIns="4570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07818" y="203047"/>
            <a:ext cx="8728364" cy="572845"/>
          </a:xfrm>
          <a:prstGeom prst="rect">
            <a:avLst/>
          </a:prstGeom>
          <a:solidFill>
            <a:srgbClr val="2E398A"/>
          </a:solidFill>
          <a:ln w="9525">
            <a:noFill/>
            <a:miter lim="800000"/>
            <a:headEnd/>
            <a:tailEnd/>
          </a:ln>
          <a:effectLst/>
        </p:spPr>
        <p:txBody>
          <a:bodyPr wrap="none" lIns="91419" tIns="45709" rIns="91419" bIns="45709" anchor="ctr"/>
          <a:lstStyle/>
          <a:p>
            <a:pPr defTabSz="914400" fontAlgn="base">
              <a:spcBef>
                <a:spcPct val="0"/>
              </a:spcBef>
              <a:spcAft>
                <a:spcPct val="0"/>
              </a:spcAft>
              <a:defRPr/>
            </a:pPr>
            <a:endParaRPr lang="en-US" dirty="0">
              <a:solidFill>
                <a:srgbClr val="000000"/>
              </a:solidFill>
              <a:latin typeface="Cambria" pitchFamily="18" charset="0"/>
            </a:endParaRPr>
          </a:p>
        </p:txBody>
      </p:sp>
      <p:sp>
        <p:nvSpPr>
          <p:cNvPr id="1029" name="Rectangle 2"/>
          <p:cNvSpPr>
            <a:spLocks noGrp="1" noChangeArrowheads="1"/>
          </p:cNvSpPr>
          <p:nvPr>
            <p:ph type="title"/>
          </p:nvPr>
        </p:nvSpPr>
        <p:spPr bwMode="auto">
          <a:xfrm>
            <a:off x="2289976" y="194877"/>
            <a:ext cx="6618287" cy="568325"/>
          </a:xfrm>
          <a:prstGeom prst="rect">
            <a:avLst/>
          </a:prstGeom>
          <a:noFill/>
          <a:ln w="9525">
            <a:noFill/>
            <a:miter lim="800000"/>
            <a:headEnd/>
            <a:tailEnd/>
          </a:ln>
        </p:spPr>
        <p:txBody>
          <a:bodyPr vert="horz" wrap="square" lIns="91419" tIns="45709" rIns="91419" bIns="45709" numCol="1" anchor="t" anchorCtr="0" compatLnSpc="1">
            <a:prstTxWarp prst="textNoShape">
              <a:avLst/>
            </a:prstTxWarp>
          </a:bodyPr>
          <a:lstStyle/>
          <a:p>
            <a:pPr lvl="0"/>
            <a:r>
              <a:rPr lang="en-US" dirty="0" smtClean="0"/>
              <a:t>Click to edit Master title style</a:t>
            </a: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280110" y="284326"/>
            <a:ext cx="2197100" cy="398462"/>
          </a:xfrm>
          <a:prstGeom prst="rect">
            <a:avLst/>
          </a:prstGeom>
          <a:noFill/>
          <a:ln w="9525">
            <a:noFill/>
            <a:miter lim="800000"/>
            <a:headEnd/>
            <a:tailEnd/>
          </a:ln>
        </p:spPr>
      </p:pic>
      <p:cxnSp>
        <p:nvCxnSpPr>
          <p:cNvPr id="21" name="Straight Connector 20"/>
          <p:cNvCxnSpPr/>
          <p:nvPr userDrawn="1"/>
        </p:nvCxnSpPr>
        <p:spPr>
          <a:xfrm>
            <a:off x="207818" y="6388474"/>
            <a:ext cx="8728364"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2897285"/>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Lst>
  <p:timing>
    <p:tnLst>
      <p:par>
        <p:cTn id="1" dur="indefinite" restart="never" nodeType="tmRoot"/>
      </p:par>
    </p:tnLst>
  </p:timing>
  <p:hf hdr="0" dt="0"/>
  <p:txStyles>
    <p:title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7095" algn="r" rtl="0" fontAlgn="base">
        <a:spcBef>
          <a:spcPct val="0"/>
        </a:spcBef>
        <a:spcAft>
          <a:spcPct val="0"/>
        </a:spcAft>
        <a:defRPr sz="1700">
          <a:solidFill>
            <a:schemeClr val="bg1"/>
          </a:solidFill>
          <a:latin typeface="Calisto MT" pitchFamily="18" charset="0"/>
        </a:defRPr>
      </a:lvl6pPr>
      <a:lvl7pPr marL="914191" algn="r" rtl="0" fontAlgn="base">
        <a:spcBef>
          <a:spcPct val="0"/>
        </a:spcBef>
        <a:spcAft>
          <a:spcPct val="0"/>
        </a:spcAft>
        <a:defRPr sz="1700">
          <a:solidFill>
            <a:schemeClr val="bg1"/>
          </a:solidFill>
          <a:latin typeface="Calisto MT" pitchFamily="18" charset="0"/>
        </a:defRPr>
      </a:lvl7pPr>
      <a:lvl8pPr marL="1371286" algn="r" rtl="0" fontAlgn="base">
        <a:spcBef>
          <a:spcPct val="0"/>
        </a:spcBef>
        <a:spcAft>
          <a:spcPct val="0"/>
        </a:spcAft>
        <a:defRPr sz="1700">
          <a:solidFill>
            <a:schemeClr val="bg1"/>
          </a:solidFill>
          <a:latin typeface="Calisto MT" pitchFamily="18" charset="0"/>
        </a:defRPr>
      </a:lvl8pPr>
      <a:lvl9pPr marL="1828382" algn="r" rtl="0" fontAlgn="base">
        <a:spcBef>
          <a:spcPct val="0"/>
        </a:spcBef>
        <a:spcAft>
          <a:spcPct val="0"/>
        </a:spcAft>
        <a:defRPr sz="1700">
          <a:solidFill>
            <a:schemeClr val="bg1"/>
          </a:solidFill>
          <a:latin typeface="Calisto MT" pitchFamily="18" charset="0"/>
        </a:defRPr>
      </a:lvl9pPr>
    </p:titleStyle>
    <p:bodyStyle>
      <a:lvl1pPr marL="168255" indent="-168255" algn="l" rtl="0" eaLnBrk="0" fontAlgn="base" hangingPunct="0">
        <a:spcBef>
          <a:spcPct val="110000"/>
        </a:spcBef>
        <a:spcAft>
          <a:spcPct val="0"/>
        </a:spcAft>
        <a:buClr>
          <a:schemeClr val="tx2"/>
        </a:buClr>
        <a:buChar char="•"/>
        <a:defRPr sz="1100">
          <a:solidFill>
            <a:schemeClr val="tx1"/>
          </a:solidFill>
          <a:latin typeface="+mn-lt"/>
          <a:ea typeface="+mn-ea"/>
          <a:cs typeface="+mn-cs"/>
        </a:defRPr>
      </a:lvl1pPr>
      <a:lvl2pPr marL="338098" indent="-166669" algn="l" rtl="0" eaLnBrk="0" fontAlgn="base" hangingPunct="0">
        <a:spcBef>
          <a:spcPct val="47000"/>
        </a:spcBef>
        <a:spcAft>
          <a:spcPct val="0"/>
        </a:spcAft>
        <a:buClr>
          <a:schemeClr val="tx2"/>
        </a:buClr>
        <a:buFont typeface="Times" pitchFamily="18" charset="0"/>
        <a:buChar char="–"/>
        <a:defRPr sz="1100">
          <a:solidFill>
            <a:schemeClr val="tx1"/>
          </a:solidFill>
          <a:latin typeface="+mn-lt"/>
        </a:defRPr>
      </a:lvl2pPr>
      <a:lvl3pPr marL="507941" indent="-166669" algn="l" rtl="0" eaLnBrk="0" fontAlgn="base" hangingPunct="0">
        <a:spcBef>
          <a:spcPct val="20000"/>
        </a:spcBef>
        <a:spcAft>
          <a:spcPct val="0"/>
        </a:spcAft>
        <a:buClr>
          <a:schemeClr val="tx2"/>
        </a:buClr>
        <a:buFont typeface="Times" pitchFamily="18" charset="0"/>
        <a:buChar char="–"/>
        <a:defRPr sz="1100">
          <a:solidFill>
            <a:schemeClr val="tx1"/>
          </a:solidFill>
          <a:latin typeface="+mn-lt"/>
        </a:defRPr>
      </a:lvl3pPr>
      <a:lvl4pPr marL="1598426" indent="-226987" algn="l" rtl="0" eaLnBrk="0" fontAlgn="base" hangingPunct="0">
        <a:spcBef>
          <a:spcPct val="20000"/>
        </a:spcBef>
        <a:spcAft>
          <a:spcPct val="0"/>
        </a:spcAft>
        <a:buChar char="–"/>
        <a:defRPr sz="1400">
          <a:solidFill>
            <a:schemeClr val="tx1"/>
          </a:solidFill>
          <a:latin typeface="Arial" charset="0"/>
        </a:defRPr>
      </a:lvl4pPr>
      <a:lvl5pPr marL="2055573" indent="-226987" algn="l" rtl="0" eaLnBrk="0" fontAlgn="base" hangingPunct="0">
        <a:spcBef>
          <a:spcPct val="20000"/>
        </a:spcBef>
        <a:spcAft>
          <a:spcPct val="0"/>
        </a:spcAft>
        <a:buChar char="»"/>
        <a:defRPr sz="1400">
          <a:solidFill>
            <a:schemeClr val="tx1"/>
          </a:solidFill>
          <a:latin typeface="Arial" charset="0"/>
        </a:defRPr>
      </a:lvl5pPr>
      <a:lvl6pPr marL="2514024" indent="-228547" algn="l" rtl="0" fontAlgn="base">
        <a:spcBef>
          <a:spcPct val="20000"/>
        </a:spcBef>
        <a:spcAft>
          <a:spcPct val="0"/>
        </a:spcAft>
        <a:buChar char="»"/>
        <a:defRPr sz="1400">
          <a:solidFill>
            <a:schemeClr val="tx1"/>
          </a:solidFill>
          <a:latin typeface="Arial" charset="0"/>
        </a:defRPr>
      </a:lvl6pPr>
      <a:lvl7pPr marL="2971120" indent="-228547" algn="l" rtl="0" fontAlgn="base">
        <a:spcBef>
          <a:spcPct val="20000"/>
        </a:spcBef>
        <a:spcAft>
          <a:spcPct val="0"/>
        </a:spcAft>
        <a:buChar char="»"/>
        <a:defRPr sz="1400">
          <a:solidFill>
            <a:schemeClr val="tx1"/>
          </a:solidFill>
          <a:latin typeface="Arial" charset="0"/>
        </a:defRPr>
      </a:lvl7pPr>
      <a:lvl8pPr marL="3428215" indent="-228547" algn="l" rtl="0" fontAlgn="base">
        <a:spcBef>
          <a:spcPct val="20000"/>
        </a:spcBef>
        <a:spcAft>
          <a:spcPct val="0"/>
        </a:spcAft>
        <a:buChar char="»"/>
        <a:defRPr sz="1400">
          <a:solidFill>
            <a:schemeClr val="tx1"/>
          </a:solidFill>
          <a:latin typeface="Arial" charset="0"/>
        </a:defRPr>
      </a:lvl8pPr>
      <a:lvl9pPr marL="3885310" indent="-228547" algn="l" rtl="0" fontAlgn="base">
        <a:spcBef>
          <a:spcPct val="20000"/>
        </a:spcBef>
        <a:spcAft>
          <a:spcPct val="0"/>
        </a:spcAft>
        <a:buChar char="»"/>
        <a:defRPr sz="1400">
          <a:solidFill>
            <a:schemeClr val="tx1"/>
          </a:solidFill>
          <a:latin typeface="Arial" charset="0"/>
        </a:defRPr>
      </a:lvl9pPr>
    </p:bodyStyle>
    <p:otherStyle>
      <a:defPPr>
        <a:defRPr lang="en-US"/>
      </a:defPPr>
      <a:lvl1pPr marL="0" algn="l" defTabSz="914191" rtl="0" eaLnBrk="1" latinLnBrk="0" hangingPunct="1">
        <a:defRPr sz="1800" kern="1200">
          <a:solidFill>
            <a:schemeClr val="tx1"/>
          </a:solidFill>
          <a:latin typeface="+mn-lt"/>
          <a:ea typeface="+mn-ea"/>
          <a:cs typeface="+mn-cs"/>
        </a:defRPr>
      </a:lvl1pPr>
      <a:lvl2pPr marL="457095" algn="l" defTabSz="914191" rtl="0" eaLnBrk="1" latinLnBrk="0" hangingPunct="1">
        <a:defRPr sz="1800" kern="1200">
          <a:solidFill>
            <a:schemeClr val="tx1"/>
          </a:solidFill>
          <a:latin typeface="+mn-lt"/>
          <a:ea typeface="+mn-ea"/>
          <a:cs typeface="+mn-cs"/>
        </a:defRPr>
      </a:lvl2pPr>
      <a:lvl3pPr marL="914191" algn="l" defTabSz="914191" rtl="0" eaLnBrk="1" latinLnBrk="0" hangingPunct="1">
        <a:defRPr sz="1800" kern="1200">
          <a:solidFill>
            <a:schemeClr val="tx1"/>
          </a:solidFill>
          <a:latin typeface="+mn-lt"/>
          <a:ea typeface="+mn-ea"/>
          <a:cs typeface="+mn-cs"/>
        </a:defRPr>
      </a:lvl3pPr>
      <a:lvl4pPr marL="1371286" algn="l" defTabSz="914191" rtl="0" eaLnBrk="1" latinLnBrk="0" hangingPunct="1">
        <a:defRPr sz="1800" kern="1200">
          <a:solidFill>
            <a:schemeClr val="tx1"/>
          </a:solidFill>
          <a:latin typeface="+mn-lt"/>
          <a:ea typeface="+mn-ea"/>
          <a:cs typeface="+mn-cs"/>
        </a:defRPr>
      </a:lvl4pPr>
      <a:lvl5pPr marL="1828382" algn="l" defTabSz="914191" rtl="0" eaLnBrk="1" latinLnBrk="0" hangingPunct="1">
        <a:defRPr sz="1800" kern="1200">
          <a:solidFill>
            <a:schemeClr val="tx1"/>
          </a:solidFill>
          <a:latin typeface="+mn-lt"/>
          <a:ea typeface="+mn-ea"/>
          <a:cs typeface="+mn-cs"/>
        </a:defRPr>
      </a:lvl5pPr>
      <a:lvl6pPr marL="2285477" algn="l" defTabSz="914191" rtl="0" eaLnBrk="1" latinLnBrk="0" hangingPunct="1">
        <a:defRPr sz="1800" kern="1200">
          <a:solidFill>
            <a:schemeClr val="tx1"/>
          </a:solidFill>
          <a:latin typeface="+mn-lt"/>
          <a:ea typeface="+mn-ea"/>
          <a:cs typeface="+mn-cs"/>
        </a:defRPr>
      </a:lvl6pPr>
      <a:lvl7pPr marL="2742572" algn="l" defTabSz="914191" rtl="0" eaLnBrk="1" latinLnBrk="0" hangingPunct="1">
        <a:defRPr sz="1800" kern="1200">
          <a:solidFill>
            <a:schemeClr val="tx1"/>
          </a:solidFill>
          <a:latin typeface="+mn-lt"/>
          <a:ea typeface="+mn-ea"/>
          <a:cs typeface="+mn-cs"/>
        </a:defRPr>
      </a:lvl7pPr>
      <a:lvl8pPr marL="3199668" algn="l" defTabSz="914191" rtl="0" eaLnBrk="1" latinLnBrk="0" hangingPunct="1">
        <a:defRPr sz="1800" kern="1200">
          <a:solidFill>
            <a:schemeClr val="tx1"/>
          </a:solidFill>
          <a:latin typeface="+mn-lt"/>
          <a:ea typeface="+mn-ea"/>
          <a:cs typeface="+mn-cs"/>
        </a:defRPr>
      </a:lvl8pPr>
      <a:lvl9pPr marL="3656762" algn="l" defTabSz="914191"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07818" y="695327"/>
            <a:ext cx="8728364" cy="3400361"/>
          </a:xfrm>
          <a:prstGeom prst="rect">
            <a:avLst/>
          </a:prstGeom>
          <a:noFill/>
          <a:ln w="9525">
            <a:noFill/>
            <a:miter lim="800000"/>
            <a:headEnd/>
            <a:tailEnd/>
          </a:ln>
        </p:spPr>
      </p:pic>
      <p:sp>
        <p:nvSpPr>
          <p:cNvPr id="364592" name="Rectangle 48"/>
          <p:cNvSpPr>
            <a:spLocks noChangeArrowheads="1"/>
          </p:cNvSpPr>
          <p:nvPr userDrawn="1"/>
        </p:nvSpPr>
        <p:spPr bwMode="auto">
          <a:xfrm>
            <a:off x="207818" y="6296722"/>
            <a:ext cx="8728364" cy="354013"/>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89875" tIns="44937" rIns="89875" bIns="44937" anchor="ctr"/>
          <a:lstStyle/>
          <a:p>
            <a:pPr defTabSz="806867" fontAlgn="base">
              <a:spcBef>
                <a:spcPct val="0"/>
              </a:spcBef>
              <a:spcAft>
                <a:spcPct val="0"/>
              </a:spcAft>
            </a:pPr>
            <a:endParaRPr lang="en-US" sz="1588" dirty="0">
              <a:solidFill>
                <a:srgbClr val="000000"/>
              </a:solidFill>
            </a:endParaRPr>
          </a:p>
        </p:txBody>
      </p:sp>
      <p:sp>
        <p:nvSpPr>
          <p:cNvPr id="364594" name="Rectangle 50"/>
          <p:cNvSpPr>
            <a:spLocks noChangeArrowheads="1"/>
          </p:cNvSpPr>
          <p:nvPr userDrawn="1"/>
        </p:nvSpPr>
        <p:spPr bwMode="auto">
          <a:xfrm flipV="1">
            <a:off x="207818" y="4383088"/>
            <a:ext cx="8728364" cy="354012"/>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80663" tIns="40332" rIns="80663" bIns="40332" anchor="ctr"/>
          <a:lstStyle/>
          <a:p>
            <a:pPr defTabSz="806867" fontAlgn="base">
              <a:spcBef>
                <a:spcPct val="0"/>
              </a:spcBef>
              <a:spcAft>
                <a:spcPct val="0"/>
              </a:spcAft>
            </a:pPr>
            <a:endParaRPr lang="en-US" sz="1588" dirty="0">
              <a:solidFill>
                <a:srgbClr val="000000"/>
              </a:solidFill>
            </a:endParaRPr>
          </a:p>
        </p:txBody>
      </p:sp>
      <p:grpSp>
        <p:nvGrpSpPr>
          <p:cNvPr id="364597" name="Group 33"/>
          <p:cNvGrpSpPr>
            <a:grpSpLocks/>
          </p:cNvGrpSpPr>
          <p:nvPr userDrawn="1"/>
        </p:nvGrpSpPr>
        <p:grpSpPr bwMode="auto">
          <a:xfrm>
            <a:off x="919166" y="3517900"/>
            <a:ext cx="1978025" cy="2541588"/>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defTabSz="806867" fontAlgn="base">
                <a:spcBef>
                  <a:spcPct val="0"/>
                </a:spcBef>
                <a:spcAft>
                  <a:spcPct val="0"/>
                </a:spcAft>
                <a:defRPr/>
              </a:pPr>
              <a:endParaRPr lang="en-US" sz="1588" dirty="0">
                <a:solidFill>
                  <a:srgbClr val="000000"/>
                </a:solidFill>
              </a:endParaRPr>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defTabSz="806867" fontAlgn="base">
                <a:spcBef>
                  <a:spcPct val="0"/>
                </a:spcBef>
                <a:spcAft>
                  <a:spcPct val="0"/>
                </a:spcAft>
                <a:defRPr/>
              </a:pPr>
              <a:endParaRPr lang="en-US" sz="1588"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defTabSz="806867" fontAlgn="base">
                <a:spcBef>
                  <a:spcPct val="0"/>
                </a:spcBef>
                <a:spcAft>
                  <a:spcPct val="0"/>
                </a:spcAft>
                <a:defRPr/>
              </a:pPr>
              <a:endParaRPr lang="en-US" sz="1588"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defTabSz="806867" fontAlgn="base">
                <a:spcBef>
                  <a:spcPct val="0"/>
                </a:spcBef>
                <a:spcAft>
                  <a:spcPct val="0"/>
                </a:spcAft>
                <a:defRPr/>
              </a:pPr>
              <a:endParaRPr lang="en-US" sz="1588"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defTabSz="806867" fontAlgn="base">
                <a:spcBef>
                  <a:spcPct val="0"/>
                </a:spcBef>
                <a:spcAft>
                  <a:spcPct val="0"/>
                </a:spcAft>
                <a:defRPr/>
              </a:pPr>
              <a:endParaRPr lang="en-US" sz="1588" dirty="0">
                <a:solidFill>
                  <a:srgbClr val="000000"/>
                </a:solidFill>
              </a:endParaRPr>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defTabSz="806867" fontAlgn="base">
                <a:spcBef>
                  <a:spcPct val="0"/>
                </a:spcBef>
                <a:spcAft>
                  <a:spcPct val="0"/>
                </a:spcAft>
                <a:defRPr/>
              </a:pPr>
              <a:endParaRPr lang="en-US" sz="1588"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defTabSz="806867" fontAlgn="base">
                <a:spcBef>
                  <a:spcPct val="0"/>
                </a:spcBef>
                <a:spcAft>
                  <a:spcPct val="0"/>
                </a:spcAft>
                <a:defRPr/>
              </a:pPr>
              <a:endParaRPr lang="en-US" sz="1588"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defTabSz="806867" fontAlgn="base">
                <a:spcBef>
                  <a:spcPct val="0"/>
                </a:spcBef>
                <a:spcAft>
                  <a:spcPct val="0"/>
                </a:spcAft>
                <a:defRPr/>
              </a:pPr>
              <a:endParaRPr lang="en-US" sz="1588"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defTabSz="806867" fontAlgn="base">
                <a:spcBef>
                  <a:spcPct val="0"/>
                </a:spcBef>
                <a:spcAft>
                  <a:spcPct val="0"/>
                </a:spcAft>
                <a:defRPr/>
              </a:pPr>
              <a:endParaRPr lang="en-US" sz="1588" dirty="0">
                <a:solidFill>
                  <a:srgbClr val="000000"/>
                </a:solidFill>
              </a:endParaRPr>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defTabSz="806867" fontAlgn="base">
                <a:spcBef>
                  <a:spcPct val="0"/>
                </a:spcBef>
                <a:spcAft>
                  <a:spcPct val="0"/>
                </a:spcAft>
                <a:defRPr/>
              </a:pPr>
              <a:endParaRPr lang="en-US" sz="1588" dirty="0">
                <a:solidFill>
                  <a:srgbClr val="000000"/>
                </a:solidFill>
              </a:endParaRPr>
            </a:p>
          </p:txBody>
        </p:sp>
      </p:grpSp>
      <p:sp>
        <p:nvSpPr>
          <p:cNvPr id="34" name="Rectangle 14"/>
          <p:cNvSpPr>
            <a:spLocks noChangeArrowheads="1"/>
          </p:cNvSpPr>
          <p:nvPr userDrawn="1"/>
        </p:nvSpPr>
        <p:spPr bwMode="auto">
          <a:xfrm>
            <a:off x="207818" y="201706"/>
            <a:ext cx="8728364" cy="6454588"/>
          </a:xfrm>
          <a:prstGeom prst="rect">
            <a:avLst/>
          </a:prstGeom>
          <a:noFill/>
          <a:ln w="25400">
            <a:solidFill>
              <a:schemeClr val="hlink"/>
            </a:solidFill>
            <a:miter lim="800000"/>
            <a:headEnd/>
            <a:tailEnd/>
          </a:ln>
        </p:spPr>
        <p:txBody>
          <a:bodyPr wrap="none" lIns="89865" tIns="44932" rIns="89865" bIns="44932" anchor="ctr"/>
          <a:lstStyle/>
          <a:p>
            <a:pPr defTabSz="806867" fontAlgn="base">
              <a:spcBef>
                <a:spcPct val="0"/>
              </a:spcBef>
              <a:spcAft>
                <a:spcPct val="0"/>
              </a:spcAft>
              <a:defRPr/>
            </a:pPr>
            <a:endParaRPr lang="en-US" sz="1588" dirty="0">
              <a:solidFill>
                <a:srgbClr val="000000"/>
              </a:solidFill>
            </a:endParaRPr>
          </a:p>
        </p:txBody>
      </p:sp>
    </p:spTree>
    <p:extLst>
      <p:ext uri="{BB962C8B-B14F-4D97-AF65-F5344CB8AC3E}">
        <p14:creationId xmlns:p14="http://schemas.microsoft.com/office/powerpoint/2010/main" val="1248377354"/>
      </p:ext>
    </p:extLst>
  </p:cSld>
  <p:clrMap bg1="lt1" tx1="dk1" bg2="lt2" tx2="dk2" accent1="accent1" accent2="accent2" accent3="accent3" accent4="accent4" accent5="accent5" accent6="accent6" hlink="hlink" folHlink="folHlink"/>
  <p:sldLayoutIdLst>
    <p:sldLayoutId id="2147483676" r:id="rId1"/>
    <p:sldLayoutId id="2147483677" r:id="rId2"/>
  </p:sldLayoutIdLst>
  <p:timing>
    <p:tnLst>
      <p:par>
        <p:cTn id="1" dur="indefinite" restart="never" nodeType="tmRoot"/>
      </p:par>
    </p:tnLst>
  </p:timing>
  <p:hf hdr="0" dt="0"/>
  <p:txStyles>
    <p:titleStyle>
      <a:lvl1pPr algn="ctr" rtl="0" fontAlgn="base">
        <a:spcBef>
          <a:spcPct val="0"/>
        </a:spcBef>
        <a:spcAft>
          <a:spcPct val="0"/>
        </a:spcAft>
        <a:defRPr sz="4324">
          <a:solidFill>
            <a:schemeClr val="tx2"/>
          </a:solidFill>
          <a:latin typeface="+mj-lt"/>
          <a:ea typeface="+mj-ea"/>
          <a:cs typeface="+mj-cs"/>
        </a:defRPr>
      </a:lvl1pPr>
      <a:lvl2pPr algn="ctr" rtl="0" fontAlgn="base">
        <a:spcBef>
          <a:spcPct val="0"/>
        </a:spcBef>
        <a:spcAft>
          <a:spcPct val="0"/>
        </a:spcAft>
        <a:defRPr sz="4324">
          <a:solidFill>
            <a:schemeClr val="tx2"/>
          </a:solidFill>
          <a:latin typeface="Cambria" pitchFamily="18" charset="0"/>
        </a:defRPr>
      </a:lvl2pPr>
      <a:lvl3pPr algn="ctr" rtl="0" fontAlgn="base">
        <a:spcBef>
          <a:spcPct val="0"/>
        </a:spcBef>
        <a:spcAft>
          <a:spcPct val="0"/>
        </a:spcAft>
        <a:defRPr sz="4324">
          <a:solidFill>
            <a:schemeClr val="tx2"/>
          </a:solidFill>
          <a:latin typeface="Cambria" pitchFamily="18" charset="0"/>
        </a:defRPr>
      </a:lvl3pPr>
      <a:lvl4pPr algn="ctr" rtl="0" fontAlgn="base">
        <a:spcBef>
          <a:spcPct val="0"/>
        </a:spcBef>
        <a:spcAft>
          <a:spcPct val="0"/>
        </a:spcAft>
        <a:defRPr sz="4324">
          <a:solidFill>
            <a:schemeClr val="tx2"/>
          </a:solidFill>
          <a:latin typeface="Cambria" pitchFamily="18" charset="0"/>
        </a:defRPr>
      </a:lvl4pPr>
      <a:lvl5pPr algn="ctr" rtl="0" fontAlgn="base">
        <a:spcBef>
          <a:spcPct val="0"/>
        </a:spcBef>
        <a:spcAft>
          <a:spcPct val="0"/>
        </a:spcAft>
        <a:defRPr sz="4324">
          <a:solidFill>
            <a:schemeClr val="tx2"/>
          </a:solidFill>
          <a:latin typeface="Cambria" pitchFamily="18" charset="0"/>
        </a:defRPr>
      </a:lvl5pPr>
      <a:lvl6pPr marL="449399" algn="ctr" rtl="0" fontAlgn="base">
        <a:spcBef>
          <a:spcPct val="0"/>
        </a:spcBef>
        <a:spcAft>
          <a:spcPct val="0"/>
        </a:spcAft>
        <a:defRPr sz="4324">
          <a:solidFill>
            <a:schemeClr val="tx2"/>
          </a:solidFill>
          <a:latin typeface="Cambria" pitchFamily="18" charset="0"/>
        </a:defRPr>
      </a:lvl6pPr>
      <a:lvl7pPr marL="898800" algn="ctr" rtl="0" fontAlgn="base">
        <a:spcBef>
          <a:spcPct val="0"/>
        </a:spcBef>
        <a:spcAft>
          <a:spcPct val="0"/>
        </a:spcAft>
        <a:defRPr sz="4324">
          <a:solidFill>
            <a:schemeClr val="tx2"/>
          </a:solidFill>
          <a:latin typeface="Cambria" pitchFamily="18" charset="0"/>
        </a:defRPr>
      </a:lvl7pPr>
      <a:lvl8pPr marL="1348200" algn="ctr" rtl="0" fontAlgn="base">
        <a:spcBef>
          <a:spcPct val="0"/>
        </a:spcBef>
        <a:spcAft>
          <a:spcPct val="0"/>
        </a:spcAft>
        <a:defRPr sz="4324">
          <a:solidFill>
            <a:schemeClr val="tx2"/>
          </a:solidFill>
          <a:latin typeface="Cambria" pitchFamily="18" charset="0"/>
        </a:defRPr>
      </a:lvl8pPr>
      <a:lvl9pPr marL="1797601" algn="ctr" rtl="0" fontAlgn="base">
        <a:spcBef>
          <a:spcPct val="0"/>
        </a:spcBef>
        <a:spcAft>
          <a:spcPct val="0"/>
        </a:spcAft>
        <a:defRPr sz="4324">
          <a:solidFill>
            <a:schemeClr val="tx2"/>
          </a:solidFill>
          <a:latin typeface="Cambria" pitchFamily="18" charset="0"/>
        </a:defRPr>
      </a:lvl9pPr>
    </p:titleStyle>
    <p:bodyStyle>
      <a:lvl1pPr marL="335490" indent="-335490" algn="l" rtl="0" fontAlgn="base">
        <a:spcBef>
          <a:spcPct val="20000"/>
        </a:spcBef>
        <a:spcAft>
          <a:spcPct val="0"/>
        </a:spcAft>
        <a:buChar char="•"/>
        <a:defRPr sz="3177">
          <a:solidFill>
            <a:schemeClr val="tx1"/>
          </a:solidFill>
          <a:latin typeface="+mn-lt"/>
          <a:ea typeface="+mn-ea"/>
          <a:cs typeface="+mn-cs"/>
        </a:defRPr>
      </a:lvl1pPr>
      <a:lvl2pPr marL="728716" indent="-279315" algn="l" rtl="0" fontAlgn="base">
        <a:spcBef>
          <a:spcPct val="20000"/>
        </a:spcBef>
        <a:spcAft>
          <a:spcPct val="0"/>
        </a:spcAft>
        <a:buChar char="–"/>
        <a:defRPr sz="2735">
          <a:solidFill>
            <a:schemeClr val="tx1"/>
          </a:solidFill>
          <a:latin typeface="+mn-lt"/>
        </a:defRPr>
      </a:lvl2pPr>
      <a:lvl3pPr marL="1121941" indent="-223141" algn="l" rtl="0" fontAlgn="base">
        <a:spcBef>
          <a:spcPct val="20000"/>
        </a:spcBef>
        <a:spcAft>
          <a:spcPct val="0"/>
        </a:spcAft>
        <a:buChar char="•"/>
        <a:defRPr sz="2382">
          <a:solidFill>
            <a:schemeClr val="tx1"/>
          </a:solidFill>
          <a:latin typeface="+mn-lt"/>
        </a:defRPr>
      </a:lvl3pPr>
      <a:lvl4pPr marL="1571341" indent="-223141" algn="l" rtl="0" fontAlgn="base">
        <a:spcBef>
          <a:spcPct val="20000"/>
        </a:spcBef>
        <a:spcAft>
          <a:spcPct val="0"/>
        </a:spcAft>
        <a:buChar char="–"/>
        <a:defRPr sz="1941">
          <a:solidFill>
            <a:schemeClr val="tx1"/>
          </a:solidFill>
          <a:latin typeface="+mn-lt"/>
        </a:defRPr>
      </a:lvl4pPr>
      <a:lvl5pPr marL="2020741" indent="-223141" algn="l" rtl="0" fontAlgn="base">
        <a:spcBef>
          <a:spcPct val="20000"/>
        </a:spcBef>
        <a:spcAft>
          <a:spcPct val="0"/>
        </a:spcAft>
        <a:buChar char="»"/>
        <a:defRPr sz="1941">
          <a:solidFill>
            <a:schemeClr val="tx1"/>
          </a:solidFill>
          <a:latin typeface="+mn-lt"/>
        </a:defRPr>
      </a:lvl5pPr>
      <a:lvl6pPr marL="2470142" indent="-223141" algn="l" rtl="0" fontAlgn="base">
        <a:spcBef>
          <a:spcPct val="20000"/>
        </a:spcBef>
        <a:spcAft>
          <a:spcPct val="0"/>
        </a:spcAft>
        <a:buChar char="»"/>
        <a:defRPr sz="1941">
          <a:solidFill>
            <a:schemeClr val="tx1"/>
          </a:solidFill>
          <a:latin typeface="+mn-lt"/>
        </a:defRPr>
      </a:lvl6pPr>
      <a:lvl7pPr marL="2919541" indent="-223141" algn="l" rtl="0" fontAlgn="base">
        <a:spcBef>
          <a:spcPct val="20000"/>
        </a:spcBef>
        <a:spcAft>
          <a:spcPct val="0"/>
        </a:spcAft>
        <a:buChar char="»"/>
        <a:defRPr sz="1941">
          <a:solidFill>
            <a:schemeClr val="tx1"/>
          </a:solidFill>
          <a:latin typeface="+mn-lt"/>
        </a:defRPr>
      </a:lvl7pPr>
      <a:lvl8pPr marL="3368942" indent="-223141" algn="l" rtl="0" fontAlgn="base">
        <a:spcBef>
          <a:spcPct val="20000"/>
        </a:spcBef>
        <a:spcAft>
          <a:spcPct val="0"/>
        </a:spcAft>
        <a:buChar char="»"/>
        <a:defRPr sz="1941">
          <a:solidFill>
            <a:schemeClr val="tx1"/>
          </a:solidFill>
          <a:latin typeface="+mn-lt"/>
        </a:defRPr>
      </a:lvl8pPr>
      <a:lvl9pPr marL="3818342" indent="-223141" algn="l" rtl="0" fontAlgn="base">
        <a:spcBef>
          <a:spcPct val="20000"/>
        </a:spcBef>
        <a:spcAft>
          <a:spcPct val="0"/>
        </a:spcAft>
        <a:buChar char="»"/>
        <a:defRPr sz="1941">
          <a:solidFill>
            <a:schemeClr val="tx1"/>
          </a:solidFill>
          <a:latin typeface="+mn-lt"/>
        </a:defRPr>
      </a:lvl9pPr>
    </p:bodyStyle>
    <p:otherStyle>
      <a:defPPr>
        <a:defRPr lang="en-US"/>
      </a:defPPr>
      <a:lvl1pPr marL="0" algn="l" defTabSz="898800" rtl="0" eaLnBrk="1" latinLnBrk="0" hangingPunct="1">
        <a:defRPr sz="1765" kern="1200">
          <a:solidFill>
            <a:schemeClr val="tx1"/>
          </a:solidFill>
          <a:latin typeface="+mn-lt"/>
          <a:ea typeface="+mn-ea"/>
          <a:cs typeface="+mn-cs"/>
        </a:defRPr>
      </a:lvl1pPr>
      <a:lvl2pPr marL="449399" algn="l" defTabSz="898800" rtl="0" eaLnBrk="1" latinLnBrk="0" hangingPunct="1">
        <a:defRPr sz="1765" kern="1200">
          <a:solidFill>
            <a:schemeClr val="tx1"/>
          </a:solidFill>
          <a:latin typeface="+mn-lt"/>
          <a:ea typeface="+mn-ea"/>
          <a:cs typeface="+mn-cs"/>
        </a:defRPr>
      </a:lvl2pPr>
      <a:lvl3pPr marL="898800" algn="l" defTabSz="898800" rtl="0" eaLnBrk="1" latinLnBrk="0" hangingPunct="1">
        <a:defRPr sz="1765" kern="1200">
          <a:solidFill>
            <a:schemeClr val="tx1"/>
          </a:solidFill>
          <a:latin typeface="+mn-lt"/>
          <a:ea typeface="+mn-ea"/>
          <a:cs typeface="+mn-cs"/>
        </a:defRPr>
      </a:lvl3pPr>
      <a:lvl4pPr marL="1348200" algn="l" defTabSz="898800" rtl="0" eaLnBrk="1" latinLnBrk="0" hangingPunct="1">
        <a:defRPr sz="1765" kern="1200">
          <a:solidFill>
            <a:schemeClr val="tx1"/>
          </a:solidFill>
          <a:latin typeface="+mn-lt"/>
          <a:ea typeface="+mn-ea"/>
          <a:cs typeface="+mn-cs"/>
        </a:defRPr>
      </a:lvl4pPr>
      <a:lvl5pPr marL="1797601" algn="l" defTabSz="898800" rtl="0" eaLnBrk="1" latinLnBrk="0" hangingPunct="1">
        <a:defRPr sz="1765" kern="1200">
          <a:solidFill>
            <a:schemeClr val="tx1"/>
          </a:solidFill>
          <a:latin typeface="+mn-lt"/>
          <a:ea typeface="+mn-ea"/>
          <a:cs typeface="+mn-cs"/>
        </a:defRPr>
      </a:lvl5pPr>
      <a:lvl6pPr marL="2247002" algn="l" defTabSz="898800" rtl="0" eaLnBrk="1" latinLnBrk="0" hangingPunct="1">
        <a:defRPr sz="1765" kern="1200">
          <a:solidFill>
            <a:schemeClr val="tx1"/>
          </a:solidFill>
          <a:latin typeface="+mn-lt"/>
          <a:ea typeface="+mn-ea"/>
          <a:cs typeface="+mn-cs"/>
        </a:defRPr>
      </a:lvl6pPr>
      <a:lvl7pPr marL="2696401" algn="l" defTabSz="898800" rtl="0" eaLnBrk="1" latinLnBrk="0" hangingPunct="1">
        <a:defRPr sz="1765" kern="1200">
          <a:solidFill>
            <a:schemeClr val="tx1"/>
          </a:solidFill>
          <a:latin typeface="+mn-lt"/>
          <a:ea typeface="+mn-ea"/>
          <a:cs typeface="+mn-cs"/>
        </a:defRPr>
      </a:lvl7pPr>
      <a:lvl8pPr marL="3145802" algn="l" defTabSz="898800" rtl="0" eaLnBrk="1" latinLnBrk="0" hangingPunct="1">
        <a:defRPr sz="1765" kern="1200">
          <a:solidFill>
            <a:schemeClr val="tx1"/>
          </a:solidFill>
          <a:latin typeface="+mn-lt"/>
          <a:ea typeface="+mn-ea"/>
          <a:cs typeface="+mn-cs"/>
        </a:defRPr>
      </a:lvl8pPr>
      <a:lvl9pPr marL="3595201" algn="l" defTabSz="898800" rtl="0" eaLnBrk="1" latinLnBrk="0" hangingPunct="1">
        <a:defRPr sz="176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hemeOverride" Target="../theme/themeOverride1.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chart" Target="../charts/char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3262048" y="5368772"/>
            <a:ext cx="5423920" cy="755988"/>
          </a:xfrm>
          <a:prstGeom prst="rect">
            <a:avLst/>
          </a:prstGeom>
          <a:noFill/>
          <a:ln w="9525">
            <a:noFill/>
            <a:miter lim="800000"/>
            <a:headEnd/>
            <a:tailEnd/>
          </a:ln>
        </p:spPr>
        <p:txBody>
          <a:bodyPr vert="horz" wrap="square" lIns="89865" tIns="44932" rIns="89865" bIns="44932" numCol="1" anchor="t" anchorCtr="0" compatLnSpc="1">
            <a:prstTxWarp prst="textNoShape">
              <a:avLst/>
            </a:prstTxWarp>
            <a:spAutoFit/>
          </a:bodyPr>
          <a:lstStyle/>
          <a:p>
            <a:pPr algn="r" defTabSz="898800" fontAlgn="base">
              <a:spcBef>
                <a:spcPct val="0"/>
              </a:spcBef>
              <a:spcAft>
                <a:spcPct val="0"/>
              </a:spcAft>
            </a:pPr>
            <a:r>
              <a:rPr lang="en-US" sz="2735" dirty="0" smtClean="0">
                <a:solidFill>
                  <a:srgbClr val="968880"/>
                </a:solidFill>
                <a:latin typeface="Calibri" pitchFamily="34" charset="0"/>
              </a:rPr>
              <a:t>Quarterly Investor Update</a:t>
            </a:r>
            <a:endParaRPr lang="en-US" sz="2735" dirty="0">
              <a:solidFill>
                <a:srgbClr val="968880"/>
              </a:solidFill>
              <a:latin typeface="Calibri" pitchFamily="34" charset="0"/>
            </a:endParaRPr>
          </a:p>
          <a:p>
            <a:pPr algn="r" defTabSz="898800" fontAlgn="base">
              <a:spcBef>
                <a:spcPct val="0"/>
              </a:spcBef>
              <a:spcAft>
                <a:spcPct val="0"/>
              </a:spcAft>
            </a:pPr>
            <a:r>
              <a:rPr lang="en-US" sz="1588" dirty="0" smtClean="0">
                <a:solidFill>
                  <a:srgbClr val="203353"/>
                </a:solidFill>
                <a:latin typeface="Calibri" pitchFamily="34" charset="0"/>
              </a:rPr>
              <a:t>January 2016</a:t>
            </a:r>
            <a:endParaRPr lang="en-US" sz="1588" dirty="0">
              <a:solidFill>
                <a:srgbClr val="203353"/>
              </a:solidFill>
              <a:latin typeface="Arial" pitchFamily="34" charset="0"/>
            </a:endParaRPr>
          </a:p>
        </p:txBody>
      </p:sp>
    </p:spTree>
    <p:extLst>
      <p:ext uri="{BB962C8B-B14F-4D97-AF65-F5344CB8AC3E}">
        <p14:creationId xmlns:p14="http://schemas.microsoft.com/office/powerpoint/2010/main" val="15384905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8467" y="223837"/>
            <a:ext cx="7794625" cy="538163"/>
          </a:xfrm>
        </p:spPr>
        <p:txBody>
          <a:bodyPr/>
          <a:lstStyle/>
          <a:p>
            <a:r>
              <a:rPr lang="en-US" dirty="0" smtClean="0"/>
              <a:t>QUARTERLY ASSET CLASS PERFORMANCE REVIEW </a:t>
            </a:r>
            <a:r>
              <a:rPr lang="en-US" dirty="0" smtClean="0">
                <a:solidFill>
                  <a:srgbClr val="FF0000"/>
                </a:solidFill>
              </a:rPr>
              <a:t/>
            </a:r>
            <a:br>
              <a:rPr lang="en-US" dirty="0" smtClean="0">
                <a:solidFill>
                  <a:srgbClr val="FF0000"/>
                </a:solidFill>
              </a:rPr>
            </a:br>
            <a:endParaRPr lang="en-US" sz="1100" b="0" dirty="0">
              <a:solidFill>
                <a:srgbClr val="FF0000"/>
              </a:solidFill>
            </a:endParaRPr>
          </a:p>
        </p:txBody>
      </p:sp>
      <p:cxnSp>
        <p:nvCxnSpPr>
          <p:cNvPr id="32" name="Straight Arrow Connector 31"/>
          <p:cNvCxnSpPr/>
          <p:nvPr/>
        </p:nvCxnSpPr>
        <p:spPr>
          <a:xfrm flipV="1">
            <a:off x="2974568" y="3923065"/>
            <a:ext cx="610221" cy="318123"/>
          </a:xfrm>
          <a:prstGeom prst="straightConnector1">
            <a:avLst/>
          </a:prstGeom>
          <a:ln w="1905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a:spLocks noChangeArrowheads="1"/>
          </p:cNvSpPr>
          <p:nvPr/>
        </p:nvSpPr>
        <p:spPr bwMode="auto">
          <a:xfrm>
            <a:off x="3025553" y="2052027"/>
            <a:ext cx="2094878" cy="1024657"/>
          </a:xfrm>
          <a:prstGeom prst="rect">
            <a:avLst/>
          </a:prstGeom>
          <a:noFill/>
          <a:ln w="19050" algn="ctr">
            <a:noFill/>
            <a:miter lim="800000"/>
            <a:headEnd/>
            <a:tailEnd/>
          </a:ln>
        </p:spPr>
        <p:txBody>
          <a:bodyPr lIns="91419" tIns="45709" rIns="91419" bIns="45709" anchor="ctr"/>
          <a:lstStyle/>
          <a:p>
            <a:r>
              <a:rPr lang="en-US" sz="1200" dirty="0">
                <a:solidFill>
                  <a:schemeClr val="bg1"/>
                </a:solidFill>
                <a:latin typeface="Calibri" pitchFamily="34" charset="0"/>
              </a:rPr>
              <a:t>INVERSE IO</a:t>
            </a:r>
            <a:br>
              <a:rPr lang="en-US" sz="1200" dirty="0">
                <a:solidFill>
                  <a:schemeClr val="bg1"/>
                </a:solidFill>
                <a:latin typeface="Calibri" pitchFamily="34" charset="0"/>
              </a:rPr>
            </a:br>
            <a:r>
              <a:rPr lang="en-US" sz="1200" dirty="0">
                <a:solidFill>
                  <a:schemeClr val="bg1"/>
                </a:solidFill>
                <a:latin typeface="Calibri" pitchFamily="34" charset="0"/>
              </a:rPr>
              <a:t>Coupon: 7.0 – (Libor +50)</a:t>
            </a:r>
            <a:endParaRPr lang="en-US" dirty="0">
              <a:solidFill>
                <a:schemeClr val="bg1"/>
              </a:solidFill>
              <a:latin typeface="Arial" charset="0"/>
            </a:endParaRPr>
          </a:p>
        </p:txBody>
      </p:sp>
      <p:sp>
        <p:nvSpPr>
          <p:cNvPr id="17" name="Rectangle 15"/>
          <p:cNvSpPr>
            <a:spLocks noChangeArrowheads="1"/>
          </p:cNvSpPr>
          <p:nvPr/>
        </p:nvSpPr>
        <p:spPr bwMode="auto">
          <a:xfrm>
            <a:off x="6230390" y="3731961"/>
            <a:ext cx="2330622" cy="1034627"/>
          </a:xfrm>
          <a:prstGeom prst="rect">
            <a:avLst/>
          </a:prstGeom>
          <a:noFill/>
          <a:ln w="19050" algn="ctr">
            <a:noFill/>
            <a:miter lim="800000"/>
            <a:headEnd/>
            <a:tailEnd/>
          </a:ln>
        </p:spPr>
        <p:txBody>
          <a:bodyPr lIns="91419" tIns="45709" rIns="91419" bIns="45709" anchor="ctr"/>
          <a:lstStyle/>
          <a:p>
            <a:pPr algn="r"/>
            <a:r>
              <a:rPr lang="en-US" sz="1200" dirty="0">
                <a:solidFill>
                  <a:schemeClr val="bg1"/>
                </a:solidFill>
                <a:latin typeface="Calibri" pitchFamily="34" charset="0"/>
              </a:rPr>
              <a:t>FLOATER</a:t>
            </a:r>
          </a:p>
          <a:p>
            <a:pPr algn="r"/>
            <a:r>
              <a:rPr lang="en-US" sz="1200" dirty="0">
                <a:solidFill>
                  <a:schemeClr val="bg1"/>
                </a:solidFill>
                <a:latin typeface="Calibri" pitchFamily="34" charset="0"/>
              </a:rPr>
              <a:t>Coupon: L + 50bp, cap 7.0%</a:t>
            </a:r>
            <a:endParaRPr lang="en-US" dirty="0">
              <a:solidFill>
                <a:schemeClr val="bg1"/>
              </a:solidFill>
              <a:latin typeface="Arial" charset="0"/>
            </a:endParaRPr>
          </a:p>
        </p:txBody>
      </p:sp>
      <p:sp>
        <p:nvSpPr>
          <p:cNvPr id="27" name="Rectangle 15"/>
          <p:cNvSpPr>
            <a:spLocks noChangeArrowheads="1"/>
          </p:cNvSpPr>
          <p:nvPr/>
        </p:nvSpPr>
        <p:spPr bwMode="auto">
          <a:xfrm>
            <a:off x="3066488" y="1816702"/>
            <a:ext cx="2094878" cy="1024657"/>
          </a:xfrm>
          <a:prstGeom prst="rect">
            <a:avLst/>
          </a:prstGeom>
          <a:noFill/>
          <a:ln w="19050" algn="ctr">
            <a:noFill/>
            <a:miter lim="800000"/>
            <a:headEnd/>
            <a:tailEnd/>
          </a:ln>
        </p:spPr>
        <p:txBody>
          <a:bodyPr lIns="91419" tIns="45709" rIns="91419" bIns="45709" anchor="ctr"/>
          <a:lstStyle/>
          <a:p>
            <a:r>
              <a:rPr lang="en-US" sz="1200" dirty="0">
                <a:solidFill>
                  <a:schemeClr val="bg1"/>
                </a:solidFill>
                <a:latin typeface="Calibri" pitchFamily="34" charset="0"/>
              </a:rPr>
              <a:t>INVERSE IO COUPON</a:t>
            </a:r>
            <a:br>
              <a:rPr lang="en-US" sz="1200" dirty="0">
                <a:solidFill>
                  <a:schemeClr val="bg1"/>
                </a:solidFill>
                <a:latin typeface="Calibri" pitchFamily="34" charset="0"/>
              </a:rPr>
            </a:br>
            <a:r>
              <a:rPr lang="en-US" sz="1200" dirty="0">
                <a:solidFill>
                  <a:schemeClr val="bg1"/>
                </a:solidFill>
                <a:latin typeface="Calibri" pitchFamily="34" charset="0"/>
              </a:rPr>
              <a:t>Formula: 7.0 – (Libor +50bp)</a:t>
            </a:r>
          </a:p>
          <a:p>
            <a:r>
              <a:rPr lang="en-US" sz="1200" dirty="0">
                <a:solidFill>
                  <a:schemeClr val="bg1"/>
                </a:solidFill>
                <a:latin typeface="Calibri" pitchFamily="34" charset="0"/>
              </a:rPr>
              <a:t>Cap: 6.50%</a:t>
            </a:r>
          </a:p>
          <a:p>
            <a:r>
              <a:rPr lang="en-US" sz="1200" dirty="0">
                <a:solidFill>
                  <a:schemeClr val="bg1"/>
                </a:solidFill>
                <a:latin typeface="Calibri" pitchFamily="34" charset="0"/>
              </a:rPr>
              <a:t>Floor: 0%</a:t>
            </a:r>
            <a:endParaRPr lang="en-US" sz="1300" dirty="0">
              <a:solidFill>
                <a:schemeClr val="bg1"/>
              </a:solidFill>
              <a:latin typeface="Arial" charset="0"/>
            </a:endParaRPr>
          </a:p>
        </p:txBody>
      </p:sp>
      <p:cxnSp>
        <p:nvCxnSpPr>
          <p:cNvPr id="22" name="Straight Arrow Connector 21"/>
          <p:cNvCxnSpPr/>
          <p:nvPr/>
        </p:nvCxnSpPr>
        <p:spPr>
          <a:xfrm flipV="1">
            <a:off x="3094220" y="3883334"/>
            <a:ext cx="610221" cy="318123"/>
          </a:xfrm>
          <a:prstGeom prst="straightConnector1">
            <a:avLst/>
          </a:prstGeom>
          <a:ln w="19050">
            <a:solidFill>
              <a:schemeClr val="bg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4" name="Table 3"/>
          <p:cNvGraphicFramePr>
            <a:graphicFrameLocks noGrp="1"/>
          </p:cNvGraphicFramePr>
          <p:nvPr>
            <p:extLst>
              <p:ext uri="{D42A27DB-BD31-4B8C-83A1-F6EECF244321}">
                <p14:modId xmlns:p14="http://schemas.microsoft.com/office/powerpoint/2010/main" val="540945975"/>
              </p:ext>
            </p:extLst>
          </p:nvPr>
        </p:nvGraphicFramePr>
        <p:xfrm>
          <a:off x="3584788" y="1063745"/>
          <a:ext cx="4178247" cy="5065472"/>
        </p:xfrm>
        <a:graphic>
          <a:graphicData uri="http://schemas.openxmlformats.org/drawingml/2006/table">
            <a:tbl>
              <a:tblPr firstRow="1" bandRow="1">
                <a:tableStyleId>{5C22544A-7EE6-4342-B048-85BDC9FD1C3A}</a:tableStyleId>
              </a:tblPr>
              <a:tblGrid>
                <a:gridCol w="2330512"/>
                <a:gridCol w="915794"/>
                <a:gridCol w="931941"/>
              </a:tblGrid>
              <a:tr h="424500">
                <a:tc>
                  <a:txBody>
                    <a:bodyPr/>
                    <a:lstStyle/>
                    <a:p>
                      <a:pPr algn="ctr"/>
                      <a:r>
                        <a:rPr lang="en-US" sz="1100" dirty="0" smtClean="0"/>
                        <a:t>Asset</a:t>
                      </a:r>
                      <a:r>
                        <a:rPr lang="en-US" sz="1100" baseline="0" dirty="0" smtClean="0"/>
                        <a:t> Class</a:t>
                      </a:r>
                      <a:endParaRPr lang="en-US" sz="1100" dirty="0"/>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c>
                  <a:txBody>
                    <a:bodyPr/>
                    <a:lstStyle/>
                    <a:p>
                      <a:pPr algn="ctr"/>
                      <a:r>
                        <a:rPr lang="en-US" sz="1100" baseline="0" dirty="0" smtClean="0"/>
                        <a:t>2015 (%)</a:t>
                      </a:r>
                      <a:endParaRPr lang="en-US" sz="1100" dirty="0" smtClean="0"/>
                    </a:p>
                  </a:txBody>
                  <a:tcPr marL="83127" marR="83127" marT="40341" marB="4034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398A"/>
                    </a:solidFill>
                  </a:tcPr>
                </a:tc>
                <a:tc>
                  <a:txBody>
                    <a:bodyPr/>
                    <a:lstStyle/>
                    <a:p>
                      <a:pPr algn="ctr"/>
                      <a:r>
                        <a:rPr lang="en-US" sz="1100" baseline="0" dirty="0" smtClean="0"/>
                        <a:t>Q4 2015 (%)</a:t>
                      </a:r>
                    </a:p>
                  </a:txBody>
                  <a:tcPr marL="83127" marR="83127" marT="40341" marB="4034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398A"/>
                    </a:solidFill>
                  </a:tcPr>
                </a:tc>
              </a:tr>
              <a:tr h="331498">
                <a:tc>
                  <a:txBody>
                    <a:bodyPr/>
                    <a:lstStyle/>
                    <a:p>
                      <a:pPr algn="l"/>
                      <a:r>
                        <a:rPr lang="en-US" sz="1100" b="1" dirty="0" smtClean="0">
                          <a:solidFill>
                            <a:srgbClr val="2E398A"/>
                          </a:solidFill>
                        </a:rPr>
                        <a:t>Non-U.S.</a:t>
                      </a:r>
                      <a:r>
                        <a:rPr lang="en-US" sz="1100" b="1" baseline="0" dirty="0" smtClean="0">
                          <a:solidFill>
                            <a:srgbClr val="2E398A"/>
                          </a:solidFill>
                        </a:rPr>
                        <a:t> Small-Cap Stocks</a:t>
                      </a:r>
                      <a:endParaRPr lang="en-US" sz="11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sz="1100" dirty="0" smtClean="0">
                          <a:solidFill>
                            <a:schemeClr val="tx1"/>
                          </a:solidFill>
                        </a:rPr>
                        <a:t>9.9%</a:t>
                      </a:r>
                      <a:endParaRPr lang="en-US" sz="1100" dirty="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sz="1100" dirty="0" smtClean="0">
                          <a:solidFill>
                            <a:schemeClr val="tx1"/>
                          </a:solidFill>
                        </a:rPr>
                        <a:t>6.8%</a:t>
                      </a:r>
                      <a:endParaRPr lang="en-US" sz="1100" dirty="0">
                        <a:solidFill>
                          <a:schemeClr val="tx1"/>
                        </a:solidFill>
                      </a:endParaRPr>
                    </a:p>
                  </a:txBody>
                  <a:tcPr marL="83127" marR="83127" marT="40341" marB="4034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r>
              <a:tr h="331498">
                <a:tc>
                  <a:txBody>
                    <a:bodyPr/>
                    <a:lstStyle/>
                    <a:p>
                      <a:pPr algn="l"/>
                      <a:r>
                        <a:rPr lang="en-US" sz="1100" b="1" dirty="0" smtClean="0">
                          <a:solidFill>
                            <a:srgbClr val="2E398A"/>
                          </a:solidFill>
                        </a:rPr>
                        <a:t>Real</a:t>
                      </a:r>
                      <a:r>
                        <a:rPr lang="en-US" sz="1100" b="1" baseline="0" dirty="0" smtClean="0">
                          <a:solidFill>
                            <a:srgbClr val="2E398A"/>
                          </a:solidFill>
                        </a:rPr>
                        <a:t> Estate Stocks</a:t>
                      </a:r>
                      <a:endParaRPr lang="en-US" sz="11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a:r>
                        <a:rPr lang="en-US" sz="1100" dirty="0" smtClean="0">
                          <a:solidFill>
                            <a:schemeClr val="tx1"/>
                          </a:solidFill>
                        </a:rPr>
                        <a:t>2.8%</a:t>
                      </a:r>
                      <a:endParaRPr lang="en-US" sz="1100" dirty="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a:r>
                        <a:rPr lang="en-US" sz="1100" dirty="0" smtClean="0">
                          <a:solidFill>
                            <a:schemeClr val="tx1"/>
                          </a:solidFill>
                        </a:rPr>
                        <a:t>7.7%</a:t>
                      </a:r>
                      <a:endParaRPr lang="en-US" sz="1100" dirty="0">
                        <a:solidFill>
                          <a:schemeClr val="tx1"/>
                        </a:solidFill>
                      </a:endParaRPr>
                    </a:p>
                  </a:txBody>
                  <a:tcPr marL="83127" marR="83127" marT="40341" marB="4034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solidFill>
                  </a:tcPr>
                </a:tc>
              </a:tr>
              <a:tr h="331498">
                <a:tc>
                  <a:txBody>
                    <a:bodyPr/>
                    <a:lstStyle/>
                    <a:p>
                      <a:pPr marL="0" marR="0" indent="0" algn="l" defTabSz="1018711" rtl="0" eaLnBrk="1" fontAlgn="auto" latinLnBrk="0" hangingPunct="1">
                        <a:lnSpc>
                          <a:spcPct val="100000"/>
                        </a:lnSpc>
                        <a:spcBef>
                          <a:spcPts val="0"/>
                        </a:spcBef>
                        <a:spcAft>
                          <a:spcPts val="0"/>
                        </a:spcAft>
                        <a:buClrTx/>
                        <a:buSzTx/>
                        <a:buFontTx/>
                        <a:buNone/>
                        <a:tabLst/>
                        <a:defRPr/>
                      </a:pPr>
                      <a:r>
                        <a:rPr lang="en-US" sz="1100" b="1" dirty="0" smtClean="0">
                          <a:solidFill>
                            <a:srgbClr val="2E398A"/>
                          </a:solidFill>
                        </a:rPr>
                        <a:t>U.S.</a:t>
                      </a:r>
                      <a:r>
                        <a:rPr lang="en-US" sz="1100" b="1" baseline="0" dirty="0" smtClean="0">
                          <a:solidFill>
                            <a:srgbClr val="2E398A"/>
                          </a:solidFill>
                        </a:rPr>
                        <a:t> Large-Cap Stocks</a:t>
                      </a:r>
                      <a:endParaRPr lang="en-US" sz="1100" b="1" dirty="0" smtClean="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smtClean="0">
                          <a:solidFill>
                            <a:schemeClr val="tx1"/>
                          </a:solidFill>
                        </a:rPr>
                        <a:t>1.4%</a:t>
                      </a:r>
                      <a:endParaRPr lang="en-US" sz="1100" dirty="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smtClean="0">
                          <a:solidFill>
                            <a:schemeClr val="tx1"/>
                          </a:solidFill>
                        </a:rPr>
                        <a:t>7.0%</a:t>
                      </a:r>
                      <a:endParaRPr lang="en-US" sz="1100" dirty="0">
                        <a:solidFill>
                          <a:schemeClr val="tx1"/>
                        </a:solidFill>
                      </a:endParaRPr>
                    </a:p>
                  </a:txBody>
                  <a:tcPr marL="83127" marR="83127" marT="40341" marB="4034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31498">
                <a:tc>
                  <a:txBody>
                    <a:bodyPr/>
                    <a:lstStyle/>
                    <a:p>
                      <a:pPr algn="l"/>
                      <a:r>
                        <a:rPr lang="en-US" sz="1100" b="1" dirty="0" smtClean="0">
                          <a:solidFill>
                            <a:srgbClr val="2E398A"/>
                          </a:solidFill>
                        </a:rPr>
                        <a:t>Emerging-Market</a:t>
                      </a:r>
                      <a:r>
                        <a:rPr lang="en-US" sz="1100" b="1" baseline="0" dirty="0" smtClean="0">
                          <a:solidFill>
                            <a:srgbClr val="2E398A"/>
                          </a:solidFill>
                        </a:rPr>
                        <a:t> Bonds</a:t>
                      </a:r>
                      <a:endParaRPr lang="en-US" sz="11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dirty="0" smtClean="0">
                          <a:solidFill>
                            <a:schemeClr val="tx1"/>
                          </a:solidFill>
                        </a:rPr>
                        <a:t>1.2%</a:t>
                      </a:r>
                      <a:endParaRPr lang="en-US" sz="1100" dirty="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dirty="0" smtClean="0">
                          <a:solidFill>
                            <a:schemeClr val="tx1"/>
                          </a:solidFill>
                        </a:rPr>
                        <a:t>1.5%</a:t>
                      </a:r>
                      <a:endParaRPr lang="en-US" sz="1100" dirty="0">
                        <a:solidFill>
                          <a:schemeClr val="tx1"/>
                        </a:solidFill>
                      </a:endParaRPr>
                    </a:p>
                  </a:txBody>
                  <a:tcPr marL="83127" marR="83127" marT="40341" marB="4034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r>
              <a:tr h="331498">
                <a:tc>
                  <a:txBody>
                    <a:bodyPr/>
                    <a:lstStyle/>
                    <a:p>
                      <a:pPr algn="l"/>
                      <a:r>
                        <a:rPr lang="en-US" sz="1100" b="1" dirty="0" smtClean="0">
                          <a:solidFill>
                            <a:srgbClr val="2E398A"/>
                          </a:solidFill>
                        </a:rPr>
                        <a:t>Investment-Grade</a:t>
                      </a:r>
                      <a:r>
                        <a:rPr lang="en-US" sz="1100" b="1" baseline="0" dirty="0" smtClean="0">
                          <a:solidFill>
                            <a:srgbClr val="2E398A"/>
                          </a:solidFill>
                        </a:rPr>
                        <a:t> Bonds</a:t>
                      </a:r>
                      <a:endParaRPr lang="en-US" sz="11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smtClean="0">
                          <a:solidFill>
                            <a:schemeClr val="tx1"/>
                          </a:solidFill>
                        </a:rPr>
                        <a:t>0.5%</a:t>
                      </a:r>
                      <a:endParaRPr lang="en-US" sz="1100" dirty="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smtClean="0">
                          <a:solidFill>
                            <a:srgbClr val="FF0000"/>
                          </a:solidFill>
                        </a:rPr>
                        <a:t>-0.6%</a:t>
                      </a:r>
                      <a:endParaRPr lang="en-US" sz="1100" dirty="0">
                        <a:solidFill>
                          <a:srgbClr val="FF0000"/>
                        </a:solidFill>
                      </a:endParaRPr>
                    </a:p>
                  </a:txBody>
                  <a:tcPr marL="83127" marR="83127" marT="40341" marB="4034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31498">
                <a:tc>
                  <a:txBody>
                    <a:bodyPr/>
                    <a:lstStyle/>
                    <a:p>
                      <a:pPr algn="l"/>
                      <a:r>
                        <a:rPr lang="en-US" sz="1100" b="1" baseline="0" dirty="0" smtClean="0">
                          <a:solidFill>
                            <a:srgbClr val="2E398A"/>
                          </a:solidFill>
                        </a:rPr>
                        <a:t>Non-U.S. Developed-Country Stocks</a:t>
                      </a:r>
                      <a:endParaRPr lang="en-US" sz="11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dirty="0" smtClean="0">
                          <a:solidFill>
                            <a:srgbClr val="FF0000"/>
                          </a:solidFill>
                        </a:rPr>
                        <a:t>-0.4%</a:t>
                      </a:r>
                      <a:endParaRPr lang="en-US" sz="1100" dirty="0">
                        <a:solidFill>
                          <a:srgbClr val="FF0000"/>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dirty="0" smtClean="0">
                          <a:solidFill>
                            <a:schemeClr val="tx1"/>
                          </a:solidFill>
                        </a:rPr>
                        <a:t>4.7%</a:t>
                      </a:r>
                      <a:endParaRPr lang="en-US" sz="1100" dirty="0">
                        <a:solidFill>
                          <a:schemeClr val="tx1"/>
                        </a:solidFill>
                      </a:endParaRPr>
                    </a:p>
                  </a:txBody>
                  <a:tcPr marL="83127" marR="83127" marT="40341" marB="4034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r>
              <a:tr h="331498">
                <a:tc>
                  <a:txBody>
                    <a:bodyPr/>
                    <a:lstStyle/>
                    <a:p>
                      <a:pPr algn="l"/>
                      <a:r>
                        <a:rPr lang="en-US" sz="1100" b="1" baseline="0" dirty="0" smtClean="0">
                          <a:solidFill>
                            <a:srgbClr val="2E398A"/>
                          </a:solidFill>
                        </a:rPr>
                        <a:t>U.S. Corporate Bonds</a:t>
                      </a:r>
                      <a:endParaRPr lang="en-US" sz="11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smtClean="0">
                          <a:solidFill>
                            <a:srgbClr val="FF0000"/>
                          </a:solidFill>
                        </a:rPr>
                        <a:t>-0.8%</a:t>
                      </a:r>
                      <a:endParaRPr lang="en-US" sz="1100" dirty="0">
                        <a:solidFill>
                          <a:srgbClr val="FF0000"/>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smtClean="0">
                          <a:solidFill>
                            <a:srgbClr val="FF0000"/>
                          </a:solidFill>
                        </a:rPr>
                        <a:t>-0.5%</a:t>
                      </a:r>
                      <a:endParaRPr lang="en-US" sz="1100" dirty="0">
                        <a:solidFill>
                          <a:srgbClr val="FF0000"/>
                        </a:solidFill>
                      </a:endParaRPr>
                    </a:p>
                  </a:txBody>
                  <a:tcPr marL="83127" marR="83127" marT="40341" marB="4034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31498">
                <a:tc>
                  <a:txBody>
                    <a:bodyPr/>
                    <a:lstStyle/>
                    <a:p>
                      <a:pPr algn="l"/>
                      <a:r>
                        <a:rPr lang="en-US" sz="1100" b="1" dirty="0" smtClean="0">
                          <a:solidFill>
                            <a:srgbClr val="2E398A"/>
                          </a:solidFill>
                        </a:rPr>
                        <a:t>U.S.</a:t>
                      </a:r>
                      <a:r>
                        <a:rPr lang="en-US" sz="1100" b="1" baseline="0" dirty="0" smtClean="0">
                          <a:solidFill>
                            <a:srgbClr val="2E398A"/>
                          </a:solidFill>
                        </a:rPr>
                        <a:t> Mid-Cap Stocks</a:t>
                      </a:r>
                      <a:endParaRPr lang="en-US" sz="11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dirty="0" smtClean="0">
                          <a:solidFill>
                            <a:srgbClr val="FF0000"/>
                          </a:solidFill>
                        </a:rPr>
                        <a:t>-2.4%</a:t>
                      </a:r>
                      <a:endParaRPr lang="en-US" sz="1100" dirty="0">
                        <a:solidFill>
                          <a:srgbClr val="FF0000"/>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dirty="0" smtClean="0">
                          <a:solidFill>
                            <a:schemeClr val="tx1"/>
                          </a:solidFill>
                        </a:rPr>
                        <a:t>3.6%</a:t>
                      </a:r>
                      <a:endParaRPr lang="en-US" sz="1100" dirty="0">
                        <a:solidFill>
                          <a:schemeClr val="tx1"/>
                        </a:solidFill>
                      </a:endParaRPr>
                    </a:p>
                  </a:txBody>
                  <a:tcPr marL="83127" marR="83127" marT="40341" marB="4034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r>
              <a:tr h="331498">
                <a:tc>
                  <a:txBody>
                    <a:bodyPr/>
                    <a:lstStyle/>
                    <a:p>
                      <a:pPr algn="l"/>
                      <a:r>
                        <a:rPr lang="en-US" sz="1100" b="1" dirty="0" smtClean="0">
                          <a:solidFill>
                            <a:srgbClr val="2E398A"/>
                          </a:solidFill>
                        </a:rPr>
                        <a:t>Long</a:t>
                      </a:r>
                      <a:r>
                        <a:rPr lang="en-US" sz="1100" b="1" baseline="0" dirty="0" smtClean="0">
                          <a:solidFill>
                            <a:srgbClr val="2E398A"/>
                          </a:solidFill>
                        </a:rPr>
                        <a:t> Government &amp; Credit Bonds</a:t>
                      </a:r>
                      <a:endParaRPr lang="en-US" sz="11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smtClean="0">
                          <a:solidFill>
                            <a:srgbClr val="FF0000"/>
                          </a:solidFill>
                        </a:rPr>
                        <a:t>-3.3%</a:t>
                      </a:r>
                      <a:endParaRPr lang="en-US" sz="1100" dirty="0">
                        <a:solidFill>
                          <a:srgbClr val="FF0000"/>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smtClean="0">
                          <a:solidFill>
                            <a:srgbClr val="FF0000"/>
                          </a:solidFill>
                        </a:rPr>
                        <a:t>-0.9%</a:t>
                      </a:r>
                      <a:endParaRPr lang="en-US" sz="1100" dirty="0">
                        <a:solidFill>
                          <a:srgbClr val="FF0000"/>
                        </a:solidFill>
                      </a:endParaRPr>
                    </a:p>
                  </a:txBody>
                  <a:tcPr marL="83127" marR="83127" marT="40341" marB="4034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31498">
                <a:tc>
                  <a:txBody>
                    <a:bodyPr/>
                    <a:lstStyle/>
                    <a:p>
                      <a:pPr algn="l"/>
                      <a:r>
                        <a:rPr lang="en-US" sz="1100" b="1" dirty="0" smtClean="0">
                          <a:solidFill>
                            <a:srgbClr val="2E398A"/>
                          </a:solidFill>
                        </a:rPr>
                        <a:t>U.S.</a:t>
                      </a:r>
                      <a:r>
                        <a:rPr lang="en-US" sz="1100" b="1" baseline="0" dirty="0" smtClean="0">
                          <a:solidFill>
                            <a:srgbClr val="2E398A"/>
                          </a:solidFill>
                        </a:rPr>
                        <a:t> Small-Cap Stocks</a:t>
                      </a:r>
                      <a:endParaRPr lang="en-US" sz="11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dirty="0" smtClean="0">
                          <a:solidFill>
                            <a:srgbClr val="FF0000"/>
                          </a:solidFill>
                        </a:rPr>
                        <a:t>-4.4%</a:t>
                      </a:r>
                      <a:endParaRPr lang="en-US" sz="1100" dirty="0">
                        <a:solidFill>
                          <a:srgbClr val="FF0000"/>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dirty="0" smtClean="0">
                          <a:solidFill>
                            <a:schemeClr val="tx1"/>
                          </a:solidFill>
                        </a:rPr>
                        <a:t>3.6%</a:t>
                      </a:r>
                      <a:endParaRPr lang="en-US" sz="1100" dirty="0">
                        <a:solidFill>
                          <a:schemeClr val="tx1"/>
                        </a:solidFill>
                      </a:endParaRPr>
                    </a:p>
                  </a:txBody>
                  <a:tcPr marL="83127" marR="83127" marT="40341" marB="4034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r>
              <a:tr h="331498">
                <a:tc>
                  <a:txBody>
                    <a:bodyPr/>
                    <a:lstStyle/>
                    <a:p>
                      <a:pPr algn="l"/>
                      <a:r>
                        <a:rPr lang="en-US" sz="1100" b="1" dirty="0" smtClean="0">
                          <a:solidFill>
                            <a:srgbClr val="2E398A"/>
                          </a:solidFill>
                        </a:rPr>
                        <a:t>High-Yield</a:t>
                      </a:r>
                      <a:r>
                        <a:rPr lang="en-US" sz="1100" b="1" baseline="0" dirty="0" smtClean="0">
                          <a:solidFill>
                            <a:srgbClr val="2E398A"/>
                          </a:solidFill>
                        </a:rPr>
                        <a:t> Bonds</a:t>
                      </a:r>
                      <a:endParaRPr lang="en-US" sz="11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rgbClr val="FF0000"/>
                          </a:solidFill>
                        </a:rPr>
                        <a:t>-4.6%</a:t>
                      </a:r>
                      <a:endParaRPr lang="en-US" sz="1100" dirty="0">
                        <a:solidFill>
                          <a:srgbClr val="FF0000"/>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rgbClr val="FF0000"/>
                          </a:solidFill>
                        </a:rPr>
                        <a:t>-2.2%</a:t>
                      </a:r>
                      <a:endParaRPr lang="en-US" sz="1100" dirty="0">
                        <a:solidFill>
                          <a:srgbClr val="FF0000"/>
                        </a:solidFill>
                      </a:endParaRPr>
                    </a:p>
                  </a:txBody>
                  <a:tcPr marL="83127" marR="83127" marT="40341" marB="4034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31498">
                <a:tc>
                  <a:txBody>
                    <a:bodyPr/>
                    <a:lstStyle/>
                    <a:p>
                      <a:pPr algn="l"/>
                      <a:r>
                        <a:rPr lang="en-US" sz="1100" b="1" dirty="0" smtClean="0">
                          <a:solidFill>
                            <a:srgbClr val="2E398A"/>
                          </a:solidFill>
                        </a:rPr>
                        <a:t>Gold</a:t>
                      </a:r>
                      <a:endParaRPr lang="en-US" sz="11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dirty="0" smtClean="0">
                          <a:solidFill>
                            <a:srgbClr val="FF0000"/>
                          </a:solidFill>
                        </a:rPr>
                        <a:t>-12.1%</a:t>
                      </a:r>
                      <a:endParaRPr lang="en-US" sz="1100" dirty="0">
                        <a:solidFill>
                          <a:srgbClr val="FF0000"/>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dirty="0" smtClean="0">
                          <a:solidFill>
                            <a:srgbClr val="FF0000"/>
                          </a:solidFill>
                        </a:rPr>
                        <a:t>-4.8%</a:t>
                      </a:r>
                      <a:endParaRPr lang="en-US" sz="1100" dirty="0">
                        <a:solidFill>
                          <a:srgbClr val="FF0000"/>
                        </a:solidFill>
                      </a:endParaRPr>
                    </a:p>
                  </a:txBody>
                  <a:tcPr marL="83127" marR="83127" marT="40341" marB="4034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r>
              <a:tr h="331498">
                <a:tc>
                  <a:txBody>
                    <a:bodyPr/>
                    <a:lstStyle/>
                    <a:p>
                      <a:pPr algn="l"/>
                      <a:r>
                        <a:rPr lang="en-US" sz="1100" b="1" dirty="0" smtClean="0">
                          <a:solidFill>
                            <a:srgbClr val="2E398A"/>
                          </a:solidFill>
                        </a:rPr>
                        <a:t>Emerging-Market</a:t>
                      </a:r>
                      <a:r>
                        <a:rPr lang="en-US" sz="1100" b="1" baseline="0" dirty="0" smtClean="0">
                          <a:solidFill>
                            <a:srgbClr val="2E398A"/>
                          </a:solidFill>
                        </a:rPr>
                        <a:t> Stocks</a:t>
                      </a:r>
                      <a:endParaRPr lang="en-US" sz="11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rgbClr val="FF0000"/>
                          </a:solidFill>
                        </a:rPr>
                        <a:t>-14.6%</a:t>
                      </a:r>
                      <a:endParaRPr lang="en-US" sz="1100" dirty="0">
                        <a:solidFill>
                          <a:srgbClr val="FF0000"/>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rPr>
                        <a:t>0.7%</a:t>
                      </a:r>
                      <a:endParaRPr lang="en-US" sz="1100" dirty="0">
                        <a:solidFill>
                          <a:schemeClr val="tx1"/>
                        </a:solidFill>
                      </a:endParaRPr>
                    </a:p>
                  </a:txBody>
                  <a:tcPr marL="83127" marR="83127" marT="40341" marB="4034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31498">
                <a:tc>
                  <a:txBody>
                    <a:bodyPr/>
                    <a:lstStyle/>
                    <a:p>
                      <a:pPr algn="l"/>
                      <a:r>
                        <a:rPr lang="en-US" sz="1100" b="1" dirty="0" smtClean="0">
                          <a:solidFill>
                            <a:srgbClr val="2E398A"/>
                          </a:solidFill>
                        </a:rPr>
                        <a:t>Commodities</a:t>
                      </a:r>
                      <a:endParaRPr lang="en-US" sz="11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dirty="0" smtClean="0">
                          <a:solidFill>
                            <a:srgbClr val="FF0000"/>
                          </a:solidFill>
                        </a:rPr>
                        <a:t>-24.7%</a:t>
                      </a:r>
                      <a:endParaRPr lang="en-US" sz="1100" dirty="0">
                        <a:solidFill>
                          <a:srgbClr val="FF0000"/>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dirty="0" smtClean="0">
                          <a:solidFill>
                            <a:srgbClr val="FF0000"/>
                          </a:solidFill>
                        </a:rPr>
                        <a:t>-10.5%</a:t>
                      </a:r>
                      <a:endParaRPr lang="en-US" sz="1100" dirty="0">
                        <a:solidFill>
                          <a:srgbClr val="FF0000"/>
                        </a:solidFill>
                      </a:endParaRPr>
                    </a:p>
                  </a:txBody>
                  <a:tcPr marL="83127" marR="83127" marT="40341" marB="4034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r>
            </a:tbl>
          </a:graphicData>
        </a:graphic>
      </p:graphicFrame>
      <p:sp>
        <p:nvSpPr>
          <p:cNvPr id="3" name="TextBox 2"/>
          <p:cNvSpPr txBox="1"/>
          <p:nvPr/>
        </p:nvSpPr>
        <p:spPr>
          <a:xfrm>
            <a:off x="232016" y="6129215"/>
            <a:ext cx="6095324" cy="205970"/>
          </a:xfrm>
          <a:prstGeom prst="rect">
            <a:avLst/>
          </a:prstGeom>
          <a:noFill/>
        </p:spPr>
        <p:txBody>
          <a:bodyPr wrap="square" lIns="82058" tIns="41029" rIns="82058" bIns="41029" rtlCol="0">
            <a:spAutoFit/>
          </a:bodyPr>
          <a:lstStyle/>
          <a:p>
            <a:r>
              <a:rPr lang="en-US" sz="800" i="1" dirty="0">
                <a:latin typeface="Calibri" pitchFamily="34" charset="0"/>
                <a:cs typeface="Calibri" pitchFamily="34" charset="0"/>
              </a:rPr>
              <a:t>Source</a:t>
            </a:r>
            <a:r>
              <a:rPr lang="en-US" sz="800" dirty="0">
                <a:latin typeface="Calibri" pitchFamily="34" charset="0"/>
                <a:cs typeface="Calibri" pitchFamily="34" charset="0"/>
              </a:rPr>
              <a:t>: </a:t>
            </a:r>
            <a:r>
              <a:rPr lang="en-US" sz="800" dirty="0" smtClean="0">
                <a:latin typeface="Calibri" pitchFamily="34" charset="0"/>
                <a:cs typeface="Calibri" pitchFamily="34" charset="0"/>
              </a:rPr>
              <a:t>Fidelity, Cello, and Credit Suisse Dow Jones.</a:t>
            </a:r>
            <a:endParaRPr lang="en-US" sz="800" dirty="0">
              <a:latin typeface="Calibri" pitchFamily="34" charset="0"/>
              <a:cs typeface="Calibri" pitchFamily="34" charset="0"/>
            </a:endParaRPr>
          </a:p>
        </p:txBody>
      </p:sp>
      <p:sp>
        <p:nvSpPr>
          <p:cNvPr id="12" name="TextBox 11"/>
          <p:cNvSpPr txBox="1"/>
          <p:nvPr/>
        </p:nvSpPr>
        <p:spPr>
          <a:xfrm>
            <a:off x="457200" y="1128941"/>
            <a:ext cx="2322368" cy="3776178"/>
          </a:xfrm>
          <a:prstGeom prst="rect">
            <a:avLst/>
          </a:prstGeom>
          <a:noFill/>
        </p:spPr>
        <p:txBody>
          <a:bodyPr wrap="square" lIns="82058" tIns="41029" rIns="82058" bIns="41029" rtlCol="0">
            <a:spAutoFit/>
          </a:bodyPr>
          <a:lstStyle/>
          <a:p>
            <a:r>
              <a:rPr lang="en-US" sz="1200" b="1" dirty="0" smtClean="0"/>
              <a:t>Cello Fixed Income Master Fund </a:t>
            </a:r>
            <a:r>
              <a:rPr lang="en-US" sz="1200" dirty="0" smtClean="0"/>
              <a:t>2015</a:t>
            </a:r>
            <a:r>
              <a:rPr lang="en-US" sz="1200" b="1" dirty="0" smtClean="0"/>
              <a:t>:  </a:t>
            </a:r>
            <a:r>
              <a:rPr lang="en-US" sz="1200" dirty="0" smtClean="0">
                <a:solidFill>
                  <a:srgbClr val="FF0000"/>
                </a:solidFill>
              </a:rPr>
              <a:t>-5.63% </a:t>
            </a:r>
            <a:endParaRPr lang="en-US" sz="1200" dirty="0">
              <a:solidFill>
                <a:srgbClr val="FF0000"/>
              </a:solidFill>
            </a:endParaRPr>
          </a:p>
          <a:p>
            <a:r>
              <a:rPr lang="en-US" sz="1200" dirty="0" smtClean="0"/>
              <a:t>Q4 2015: </a:t>
            </a:r>
            <a:r>
              <a:rPr lang="en-US" sz="1200" dirty="0" smtClean="0">
                <a:solidFill>
                  <a:srgbClr val="FF0000"/>
                </a:solidFill>
              </a:rPr>
              <a:t>-1.91%</a:t>
            </a:r>
          </a:p>
          <a:p>
            <a:endParaRPr lang="en-US" sz="1200" dirty="0" smtClean="0">
              <a:solidFill>
                <a:srgbClr val="FF0000"/>
              </a:solidFill>
            </a:endParaRPr>
          </a:p>
          <a:p>
            <a:r>
              <a:rPr lang="en-US" sz="1200" b="1" dirty="0" smtClean="0"/>
              <a:t>Fixed Income Arbitrage Index </a:t>
            </a:r>
            <a:r>
              <a:rPr lang="en-US" sz="1200" dirty="0" smtClean="0"/>
              <a:t>2015</a:t>
            </a:r>
            <a:r>
              <a:rPr lang="en-US" sz="1200" b="1" dirty="0" smtClean="0"/>
              <a:t>:  </a:t>
            </a:r>
            <a:r>
              <a:rPr lang="en-US" sz="1200" dirty="0" smtClean="0"/>
              <a:t>0.59%</a:t>
            </a:r>
            <a:endParaRPr lang="en-US" sz="1200" dirty="0"/>
          </a:p>
          <a:p>
            <a:r>
              <a:rPr lang="en-US" sz="1200" dirty="0" smtClean="0"/>
              <a:t>Q4 2015:  0.03%</a:t>
            </a:r>
          </a:p>
          <a:p>
            <a:endParaRPr lang="en-US" sz="1200" dirty="0">
              <a:solidFill>
                <a:srgbClr val="FF0000"/>
              </a:solidFill>
            </a:endParaRPr>
          </a:p>
          <a:p>
            <a:endParaRPr lang="en-US" sz="1200" dirty="0" smtClean="0">
              <a:solidFill>
                <a:srgbClr val="FF0000"/>
              </a:solidFill>
            </a:endParaRPr>
          </a:p>
          <a:p>
            <a:r>
              <a:rPr lang="en-US" sz="1200" b="1" dirty="0" smtClean="0"/>
              <a:t>Summary:  </a:t>
            </a:r>
            <a:r>
              <a:rPr lang="en-US" sz="1200" dirty="0" smtClean="0"/>
              <a:t>Many asset categories finished 2015 in negative territory as volatility returned to the markets. Mainstream U.S. asset classes (large-cap stocks, investment grade bonds) eked out positive returns and outpaced riskier assets. Commodities and emerging-market equities suffered significant losses amidst diminishing global growth.</a:t>
            </a:r>
          </a:p>
        </p:txBody>
      </p:sp>
    </p:spTree>
    <p:extLst>
      <p:ext uri="{BB962C8B-B14F-4D97-AF65-F5344CB8AC3E}">
        <p14:creationId xmlns:p14="http://schemas.microsoft.com/office/powerpoint/2010/main" val="283534729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68"/>
          <p:cNvSpPr>
            <a:spLocks noChangeArrowheads="1"/>
          </p:cNvSpPr>
          <p:nvPr/>
        </p:nvSpPr>
        <p:spPr bwMode="auto">
          <a:xfrm>
            <a:off x="237651" y="6100054"/>
            <a:ext cx="5325034" cy="197243"/>
          </a:xfrm>
          <a:prstGeom prst="rect">
            <a:avLst/>
          </a:prstGeom>
          <a:noFill/>
          <a:ln w="9525">
            <a:noFill/>
            <a:miter lim="800000"/>
            <a:headEnd/>
            <a:tailEnd/>
          </a:ln>
          <a:effectLst/>
        </p:spPr>
        <p:txBody>
          <a:bodyPr wrap="square" lIns="88719" tIns="44359" rIns="88719" bIns="44359" anchor="b">
            <a:spAutoFit/>
          </a:bodyPr>
          <a:lstStyle/>
          <a:p>
            <a:pPr>
              <a:lnSpc>
                <a:spcPct val="90000"/>
              </a:lnSpc>
              <a:spcBef>
                <a:spcPct val="20000"/>
              </a:spcBef>
            </a:pPr>
            <a:r>
              <a:rPr lang="en-US" sz="777" i="1" dirty="0" smtClean="0">
                <a:solidFill>
                  <a:srgbClr val="000000"/>
                </a:solidFill>
              </a:rPr>
              <a:t>Source: </a:t>
            </a:r>
            <a:r>
              <a:rPr lang="en-US" sz="777" i="1" dirty="0" err="1" smtClean="0">
                <a:solidFill>
                  <a:srgbClr val="000000"/>
                </a:solidFill>
              </a:rPr>
              <a:t>Yieldbook</a:t>
            </a:r>
            <a:r>
              <a:rPr lang="en-US" sz="777" i="1" dirty="0" smtClean="0">
                <a:solidFill>
                  <a:srgbClr val="000000"/>
                </a:solidFill>
              </a:rPr>
              <a:t> as of 10/5/2015</a:t>
            </a:r>
            <a:endParaRPr lang="en-US" sz="777" i="1" dirty="0">
              <a:solidFill>
                <a:srgbClr val="000000"/>
              </a:solidFill>
            </a:endParaRPr>
          </a:p>
        </p:txBody>
      </p:sp>
      <p:sp>
        <p:nvSpPr>
          <p:cNvPr id="14" name="Rectangle 13"/>
          <p:cNvSpPr/>
          <p:nvPr/>
        </p:nvSpPr>
        <p:spPr>
          <a:xfrm>
            <a:off x="2362200" y="1185222"/>
            <a:ext cx="6327967" cy="548165"/>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4359" tIns="44359" rIns="88719" bIns="44359" rtlCol="0" anchor="ctr"/>
          <a:lstStyle/>
          <a:p>
            <a:pPr algn="ctr"/>
            <a:r>
              <a:rPr lang="en-US" sz="1165" b="1" dirty="0" smtClean="0">
                <a:solidFill>
                  <a:srgbClr val="FFFFFF"/>
                </a:solidFill>
              </a:rPr>
              <a:t>TREASURY YIELD CURVE</a:t>
            </a:r>
          </a:p>
          <a:p>
            <a:pPr algn="ctr"/>
            <a:r>
              <a:rPr lang="en-US" sz="1165" dirty="0" smtClean="0">
                <a:solidFill>
                  <a:srgbClr val="FFFFFF"/>
                </a:solidFill>
              </a:rPr>
              <a:t>(March 2015 vs June 2015 vs September 2015)</a:t>
            </a:r>
            <a:endParaRPr lang="en-US" sz="1165" dirty="0">
              <a:solidFill>
                <a:srgbClr val="FFFFFF"/>
              </a:solidFill>
            </a:endParaRPr>
          </a:p>
        </p:txBody>
      </p:sp>
      <p:sp>
        <p:nvSpPr>
          <p:cNvPr id="2" name="Title 1"/>
          <p:cNvSpPr>
            <a:spLocks noGrp="1"/>
          </p:cNvSpPr>
          <p:nvPr>
            <p:ph type="title"/>
          </p:nvPr>
        </p:nvSpPr>
        <p:spPr>
          <a:xfrm>
            <a:off x="1228251" y="299054"/>
            <a:ext cx="7565372" cy="522334"/>
          </a:xfrm>
        </p:spPr>
        <p:txBody>
          <a:bodyPr/>
          <a:lstStyle/>
          <a:p>
            <a:pPr lvl="0"/>
            <a:r>
              <a:rPr lang="en-US" dirty="0" smtClean="0">
                <a:solidFill>
                  <a:srgbClr val="FF0000"/>
                </a:solidFill>
              </a:rPr>
              <a:t> </a:t>
            </a:r>
            <a:endParaRPr lang="en-US" dirty="0">
              <a:solidFill>
                <a:srgbClr val="FF0000"/>
              </a:solidFill>
            </a:endParaRPr>
          </a:p>
        </p:txBody>
      </p:sp>
      <p:sp>
        <p:nvSpPr>
          <p:cNvPr id="7" name="Title 1"/>
          <p:cNvSpPr txBox="1">
            <a:spLocks/>
          </p:cNvSpPr>
          <p:nvPr/>
        </p:nvSpPr>
        <p:spPr bwMode="auto">
          <a:xfrm>
            <a:off x="1371600" y="299054"/>
            <a:ext cx="7565372" cy="522334"/>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914400"/>
            <a:r>
              <a:rPr lang="en-US" kern="0" dirty="0" smtClean="0"/>
              <a:t>THE YIELD CURVE FLATTENED IN THE THIRD QUARTER</a:t>
            </a:r>
            <a:endParaRPr lang="en-US" kern="0" dirty="0"/>
          </a:p>
        </p:txBody>
      </p:sp>
      <p:sp>
        <p:nvSpPr>
          <p:cNvPr id="62" name="TextBox 61"/>
          <p:cNvSpPr txBox="1"/>
          <p:nvPr/>
        </p:nvSpPr>
        <p:spPr>
          <a:xfrm>
            <a:off x="234951" y="1185222"/>
            <a:ext cx="1905000" cy="2483517"/>
          </a:xfrm>
          <a:prstGeom prst="rect">
            <a:avLst/>
          </a:prstGeom>
          <a:noFill/>
        </p:spPr>
        <p:txBody>
          <a:bodyPr wrap="square" lIns="82058" tIns="41029" rIns="82058" bIns="41029" rtlCol="0">
            <a:spAutoFit/>
          </a:bodyPr>
          <a:lstStyle/>
          <a:p>
            <a:r>
              <a:rPr lang="en-US" sz="1200" dirty="0" smtClean="0"/>
              <a:t>The </a:t>
            </a:r>
            <a:r>
              <a:rPr lang="en-US" sz="1200" dirty="0"/>
              <a:t>yield curve flattened in Q3 because of a meaningful decrease in long-term yields. Contributing factors to the flattening include a moderation in inflation expectations because of the plunge in commodity </a:t>
            </a:r>
            <a:r>
              <a:rPr lang="en-US" sz="1200" dirty="0" smtClean="0"/>
              <a:t>prices </a:t>
            </a:r>
            <a:r>
              <a:rPr lang="en-US" sz="1200" dirty="0"/>
              <a:t>and a flight-to-quality demand because of the risk asset sell-off.</a:t>
            </a:r>
          </a:p>
          <a:p>
            <a:endParaRPr lang="en-US" sz="1200" dirty="0"/>
          </a:p>
          <a:p>
            <a:endParaRPr lang="en-US" sz="1200" dirty="0">
              <a:solidFill>
                <a:srgbClr val="FF0000"/>
              </a:solidFill>
            </a:endParaRPr>
          </a:p>
        </p:txBody>
      </p:sp>
      <p:grpSp>
        <p:nvGrpSpPr>
          <p:cNvPr id="66" name="Group 65"/>
          <p:cNvGrpSpPr/>
          <p:nvPr/>
        </p:nvGrpSpPr>
        <p:grpSpPr>
          <a:xfrm>
            <a:off x="2855901" y="2160618"/>
            <a:ext cx="0" cy="3757568"/>
            <a:chOff x="2819400" y="2186032"/>
            <a:chExt cx="0" cy="3757568"/>
          </a:xfrm>
        </p:grpSpPr>
        <p:cxnSp>
          <p:nvCxnSpPr>
            <p:cNvPr id="67" name="Straight Connector 66"/>
            <p:cNvCxnSpPr/>
            <p:nvPr/>
          </p:nvCxnSpPr>
          <p:spPr>
            <a:xfrm>
              <a:off x="2819400" y="2186032"/>
              <a:ext cx="0" cy="1928768"/>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2819400" y="4343400"/>
              <a:ext cx="0" cy="1600200"/>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69" name="Group 68"/>
          <p:cNvGrpSpPr/>
          <p:nvPr/>
        </p:nvGrpSpPr>
        <p:grpSpPr>
          <a:xfrm>
            <a:off x="3148001" y="2158986"/>
            <a:ext cx="0" cy="3757568"/>
            <a:chOff x="2819400" y="2186032"/>
            <a:chExt cx="0" cy="3757568"/>
          </a:xfrm>
        </p:grpSpPr>
        <p:cxnSp>
          <p:nvCxnSpPr>
            <p:cNvPr id="70" name="Straight Connector 69"/>
            <p:cNvCxnSpPr/>
            <p:nvPr/>
          </p:nvCxnSpPr>
          <p:spPr>
            <a:xfrm>
              <a:off x="2819400" y="2186032"/>
              <a:ext cx="0" cy="1928768"/>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2819400" y="4343400"/>
              <a:ext cx="0" cy="1600200"/>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72" name="Group 71"/>
          <p:cNvGrpSpPr/>
          <p:nvPr/>
        </p:nvGrpSpPr>
        <p:grpSpPr>
          <a:xfrm>
            <a:off x="3433751" y="2160618"/>
            <a:ext cx="0" cy="3757568"/>
            <a:chOff x="2819400" y="2186032"/>
            <a:chExt cx="0" cy="3757568"/>
          </a:xfrm>
        </p:grpSpPr>
        <p:cxnSp>
          <p:nvCxnSpPr>
            <p:cNvPr id="73" name="Straight Connector 72"/>
            <p:cNvCxnSpPr/>
            <p:nvPr/>
          </p:nvCxnSpPr>
          <p:spPr>
            <a:xfrm>
              <a:off x="2819400" y="2186032"/>
              <a:ext cx="0" cy="1928768"/>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2819400" y="4343400"/>
              <a:ext cx="0" cy="1600200"/>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75" name="Group 74"/>
          <p:cNvGrpSpPr/>
          <p:nvPr/>
        </p:nvGrpSpPr>
        <p:grpSpPr>
          <a:xfrm>
            <a:off x="3725851" y="2165336"/>
            <a:ext cx="0" cy="3757568"/>
            <a:chOff x="2819400" y="2186032"/>
            <a:chExt cx="0" cy="3757568"/>
          </a:xfrm>
        </p:grpSpPr>
        <p:cxnSp>
          <p:nvCxnSpPr>
            <p:cNvPr id="76" name="Straight Connector 75"/>
            <p:cNvCxnSpPr/>
            <p:nvPr/>
          </p:nvCxnSpPr>
          <p:spPr>
            <a:xfrm>
              <a:off x="2819400" y="2186032"/>
              <a:ext cx="0" cy="1928768"/>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2819400" y="4343400"/>
              <a:ext cx="0" cy="1600200"/>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78" name="Group 77"/>
          <p:cNvGrpSpPr/>
          <p:nvPr/>
        </p:nvGrpSpPr>
        <p:grpSpPr>
          <a:xfrm>
            <a:off x="4017951" y="2152636"/>
            <a:ext cx="0" cy="3757568"/>
            <a:chOff x="2819400" y="2186032"/>
            <a:chExt cx="0" cy="3757568"/>
          </a:xfrm>
        </p:grpSpPr>
        <p:cxnSp>
          <p:nvCxnSpPr>
            <p:cNvPr id="79" name="Straight Connector 78"/>
            <p:cNvCxnSpPr/>
            <p:nvPr/>
          </p:nvCxnSpPr>
          <p:spPr>
            <a:xfrm>
              <a:off x="2819400" y="2186032"/>
              <a:ext cx="0" cy="1928768"/>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2819400" y="4343400"/>
              <a:ext cx="0" cy="1600200"/>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81" name="Group 80"/>
          <p:cNvGrpSpPr/>
          <p:nvPr/>
        </p:nvGrpSpPr>
        <p:grpSpPr>
          <a:xfrm>
            <a:off x="4310051" y="2165336"/>
            <a:ext cx="0" cy="3757568"/>
            <a:chOff x="2819400" y="2186032"/>
            <a:chExt cx="0" cy="3757568"/>
          </a:xfrm>
        </p:grpSpPr>
        <p:cxnSp>
          <p:nvCxnSpPr>
            <p:cNvPr id="82" name="Straight Connector 81"/>
            <p:cNvCxnSpPr/>
            <p:nvPr/>
          </p:nvCxnSpPr>
          <p:spPr>
            <a:xfrm>
              <a:off x="2819400" y="2186032"/>
              <a:ext cx="0" cy="1928768"/>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2819400" y="4343400"/>
              <a:ext cx="0" cy="1600200"/>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84" name="Group 83"/>
          <p:cNvGrpSpPr/>
          <p:nvPr/>
        </p:nvGrpSpPr>
        <p:grpSpPr>
          <a:xfrm>
            <a:off x="4906951" y="2152636"/>
            <a:ext cx="0" cy="3757568"/>
            <a:chOff x="2819400" y="2186032"/>
            <a:chExt cx="0" cy="3757568"/>
          </a:xfrm>
        </p:grpSpPr>
        <p:cxnSp>
          <p:nvCxnSpPr>
            <p:cNvPr id="85" name="Straight Connector 84"/>
            <p:cNvCxnSpPr/>
            <p:nvPr/>
          </p:nvCxnSpPr>
          <p:spPr>
            <a:xfrm>
              <a:off x="2819400" y="2186032"/>
              <a:ext cx="0" cy="1928768"/>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2819400" y="4343400"/>
              <a:ext cx="0" cy="1600200"/>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87" name="Group 86"/>
          <p:cNvGrpSpPr/>
          <p:nvPr/>
        </p:nvGrpSpPr>
        <p:grpSpPr>
          <a:xfrm>
            <a:off x="5491151" y="2165336"/>
            <a:ext cx="0" cy="3757568"/>
            <a:chOff x="2819400" y="2186032"/>
            <a:chExt cx="0" cy="3757568"/>
          </a:xfrm>
        </p:grpSpPr>
        <p:cxnSp>
          <p:nvCxnSpPr>
            <p:cNvPr id="88" name="Straight Connector 87"/>
            <p:cNvCxnSpPr/>
            <p:nvPr/>
          </p:nvCxnSpPr>
          <p:spPr>
            <a:xfrm>
              <a:off x="2819400" y="2186032"/>
              <a:ext cx="0" cy="1928768"/>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2819400" y="4343400"/>
              <a:ext cx="0" cy="1600200"/>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90" name="Group 89"/>
          <p:cNvGrpSpPr/>
          <p:nvPr/>
        </p:nvGrpSpPr>
        <p:grpSpPr>
          <a:xfrm>
            <a:off x="6081701" y="2158986"/>
            <a:ext cx="0" cy="3757568"/>
            <a:chOff x="2819400" y="2186032"/>
            <a:chExt cx="0" cy="3757568"/>
          </a:xfrm>
        </p:grpSpPr>
        <p:cxnSp>
          <p:nvCxnSpPr>
            <p:cNvPr id="91" name="Straight Connector 90"/>
            <p:cNvCxnSpPr/>
            <p:nvPr/>
          </p:nvCxnSpPr>
          <p:spPr>
            <a:xfrm>
              <a:off x="2819400" y="2186032"/>
              <a:ext cx="0" cy="1928768"/>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2819400" y="4343400"/>
              <a:ext cx="0" cy="1600200"/>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93" name="Group 92"/>
          <p:cNvGrpSpPr/>
          <p:nvPr/>
        </p:nvGrpSpPr>
        <p:grpSpPr>
          <a:xfrm>
            <a:off x="7275501" y="2152636"/>
            <a:ext cx="0" cy="3757568"/>
            <a:chOff x="2819400" y="2186032"/>
            <a:chExt cx="0" cy="3757568"/>
          </a:xfrm>
        </p:grpSpPr>
        <p:cxnSp>
          <p:nvCxnSpPr>
            <p:cNvPr id="94" name="Straight Connector 93"/>
            <p:cNvCxnSpPr/>
            <p:nvPr/>
          </p:nvCxnSpPr>
          <p:spPr>
            <a:xfrm>
              <a:off x="2819400" y="2186032"/>
              <a:ext cx="0" cy="1928768"/>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a:off x="2819400" y="4343400"/>
              <a:ext cx="0" cy="1600200"/>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96" name="Group 95"/>
          <p:cNvGrpSpPr/>
          <p:nvPr/>
        </p:nvGrpSpPr>
        <p:grpSpPr>
          <a:xfrm>
            <a:off x="8431201" y="2158986"/>
            <a:ext cx="0" cy="3757568"/>
            <a:chOff x="2819400" y="2186032"/>
            <a:chExt cx="0" cy="3757568"/>
          </a:xfrm>
        </p:grpSpPr>
        <p:cxnSp>
          <p:nvCxnSpPr>
            <p:cNvPr id="97" name="Straight Connector 96"/>
            <p:cNvCxnSpPr/>
            <p:nvPr/>
          </p:nvCxnSpPr>
          <p:spPr>
            <a:xfrm>
              <a:off x="2819400" y="2186032"/>
              <a:ext cx="0" cy="1928768"/>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a:off x="2819400" y="4343400"/>
              <a:ext cx="0" cy="1600200"/>
            </a:xfrm>
            <a:prstGeom prst="line">
              <a:avLst/>
            </a:prstGeom>
            <a:ln w="635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grpSp>
      <p:graphicFrame>
        <p:nvGraphicFramePr>
          <p:cNvPr id="99" name="Chart 98"/>
          <p:cNvGraphicFramePr/>
          <p:nvPr>
            <p:extLst>
              <p:ext uri="{D42A27DB-BD31-4B8C-83A1-F6EECF244321}">
                <p14:modId xmlns:p14="http://schemas.microsoft.com/office/powerpoint/2010/main" val="1788526021"/>
              </p:ext>
            </p:extLst>
          </p:nvPr>
        </p:nvGraphicFramePr>
        <p:xfrm>
          <a:off x="2398701" y="1879586"/>
          <a:ext cx="6327967" cy="2343150"/>
        </p:xfrm>
        <a:graphic>
          <a:graphicData uri="http://schemas.openxmlformats.org/drawingml/2006/chart">
            <c:chart xmlns:c="http://schemas.openxmlformats.org/drawingml/2006/chart" xmlns:r="http://schemas.openxmlformats.org/officeDocument/2006/relationships" r:id="rId3"/>
          </a:graphicData>
        </a:graphic>
      </p:graphicFrame>
      <p:grpSp>
        <p:nvGrpSpPr>
          <p:cNvPr id="100" name="Group 99"/>
          <p:cNvGrpSpPr/>
          <p:nvPr/>
        </p:nvGrpSpPr>
        <p:grpSpPr>
          <a:xfrm>
            <a:off x="2398700" y="4241786"/>
            <a:ext cx="6327967" cy="2055511"/>
            <a:chOff x="2362199" y="4267200"/>
            <a:chExt cx="6327967" cy="2082814"/>
          </a:xfrm>
        </p:grpSpPr>
        <p:graphicFrame>
          <p:nvGraphicFramePr>
            <p:cNvPr id="101" name="Chart 100"/>
            <p:cNvGraphicFramePr/>
            <p:nvPr>
              <p:extLst>
                <p:ext uri="{D42A27DB-BD31-4B8C-83A1-F6EECF244321}">
                  <p14:modId xmlns:p14="http://schemas.microsoft.com/office/powerpoint/2010/main" val="2885727097"/>
                </p:ext>
              </p:extLst>
            </p:nvPr>
          </p:nvGraphicFramePr>
          <p:xfrm>
            <a:off x="2362199" y="4267200"/>
            <a:ext cx="6327967" cy="2082814"/>
          </p:xfrm>
          <a:graphic>
            <a:graphicData uri="http://schemas.openxmlformats.org/drawingml/2006/chart">
              <c:chart xmlns:c="http://schemas.openxmlformats.org/drawingml/2006/chart" xmlns:r="http://schemas.openxmlformats.org/officeDocument/2006/relationships" r:id="rId4"/>
            </a:graphicData>
          </a:graphic>
        </p:graphicFrame>
        <p:sp>
          <p:nvSpPr>
            <p:cNvPr id="102" name="TextBox 101"/>
            <p:cNvSpPr txBox="1"/>
            <p:nvPr/>
          </p:nvSpPr>
          <p:spPr>
            <a:xfrm>
              <a:off x="2667000" y="5943600"/>
              <a:ext cx="381000" cy="215444"/>
            </a:xfrm>
            <a:prstGeom prst="rect">
              <a:avLst/>
            </a:prstGeom>
            <a:noFill/>
          </p:spPr>
          <p:txBody>
            <a:bodyPr wrap="square" rtlCol="0">
              <a:spAutoFit/>
            </a:bodyPr>
            <a:lstStyle/>
            <a:p>
              <a:r>
                <a:rPr lang="en-US" sz="800" dirty="0" smtClean="0"/>
                <a:t>1M</a:t>
              </a:r>
              <a:endParaRPr lang="en-US" sz="800" dirty="0"/>
            </a:p>
          </p:txBody>
        </p:sp>
        <p:sp>
          <p:nvSpPr>
            <p:cNvPr id="103" name="TextBox 102"/>
            <p:cNvSpPr txBox="1"/>
            <p:nvPr/>
          </p:nvSpPr>
          <p:spPr>
            <a:xfrm>
              <a:off x="2959100" y="5943600"/>
              <a:ext cx="381000" cy="215444"/>
            </a:xfrm>
            <a:prstGeom prst="rect">
              <a:avLst/>
            </a:prstGeom>
            <a:noFill/>
          </p:spPr>
          <p:txBody>
            <a:bodyPr wrap="square" rtlCol="0">
              <a:spAutoFit/>
            </a:bodyPr>
            <a:lstStyle/>
            <a:p>
              <a:r>
                <a:rPr lang="en-US" sz="800" dirty="0" smtClean="0"/>
                <a:t>3M</a:t>
              </a:r>
              <a:endParaRPr lang="en-US" sz="800" dirty="0"/>
            </a:p>
          </p:txBody>
        </p:sp>
        <p:sp>
          <p:nvSpPr>
            <p:cNvPr id="104" name="TextBox 103"/>
            <p:cNvSpPr txBox="1"/>
            <p:nvPr/>
          </p:nvSpPr>
          <p:spPr>
            <a:xfrm>
              <a:off x="3251200" y="5943600"/>
              <a:ext cx="381000" cy="215444"/>
            </a:xfrm>
            <a:prstGeom prst="rect">
              <a:avLst/>
            </a:prstGeom>
            <a:noFill/>
          </p:spPr>
          <p:txBody>
            <a:bodyPr wrap="square" rtlCol="0">
              <a:spAutoFit/>
            </a:bodyPr>
            <a:lstStyle/>
            <a:p>
              <a:r>
                <a:rPr lang="en-US" sz="800" dirty="0"/>
                <a:t>6</a:t>
              </a:r>
              <a:r>
                <a:rPr lang="en-US" sz="800" dirty="0" smtClean="0"/>
                <a:t>M</a:t>
              </a:r>
              <a:endParaRPr lang="en-US" sz="800" dirty="0"/>
            </a:p>
          </p:txBody>
        </p:sp>
        <p:sp>
          <p:nvSpPr>
            <p:cNvPr id="105" name="TextBox 104"/>
            <p:cNvSpPr txBox="1"/>
            <p:nvPr/>
          </p:nvSpPr>
          <p:spPr>
            <a:xfrm>
              <a:off x="3543300" y="5943600"/>
              <a:ext cx="381000" cy="215444"/>
            </a:xfrm>
            <a:prstGeom prst="rect">
              <a:avLst/>
            </a:prstGeom>
            <a:noFill/>
          </p:spPr>
          <p:txBody>
            <a:bodyPr wrap="square" rtlCol="0">
              <a:spAutoFit/>
            </a:bodyPr>
            <a:lstStyle/>
            <a:p>
              <a:r>
                <a:rPr lang="en-US" sz="800" dirty="0" smtClean="0"/>
                <a:t>1Yr</a:t>
              </a:r>
              <a:endParaRPr lang="en-US" sz="800" dirty="0"/>
            </a:p>
          </p:txBody>
        </p:sp>
        <p:sp>
          <p:nvSpPr>
            <p:cNvPr id="106" name="TextBox 105"/>
            <p:cNvSpPr txBox="1"/>
            <p:nvPr/>
          </p:nvSpPr>
          <p:spPr>
            <a:xfrm>
              <a:off x="3829050" y="5943600"/>
              <a:ext cx="381000" cy="215444"/>
            </a:xfrm>
            <a:prstGeom prst="rect">
              <a:avLst/>
            </a:prstGeom>
            <a:noFill/>
          </p:spPr>
          <p:txBody>
            <a:bodyPr wrap="square" rtlCol="0">
              <a:spAutoFit/>
            </a:bodyPr>
            <a:lstStyle/>
            <a:p>
              <a:r>
                <a:rPr lang="en-US" sz="800" dirty="0"/>
                <a:t>2</a:t>
              </a:r>
              <a:r>
                <a:rPr lang="en-US" sz="800" dirty="0" smtClean="0"/>
                <a:t>Yr</a:t>
              </a:r>
              <a:endParaRPr lang="en-US" sz="800" dirty="0"/>
            </a:p>
          </p:txBody>
        </p:sp>
        <p:sp>
          <p:nvSpPr>
            <p:cNvPr id="107" name="TextBox 106"/>
            <p:cNvSpPr txBox="1"/>
            <p:nvPr/>
          </p:nvSpPr>
          <p:spPr>
            <a:xfrm>
              <a:off x="4114800" y="5943600"/>
              <a:ext cx="381000" cy="215444"/>
            </a:xfrm>
            <a:prstGeom prst="rect">
              <a:avLst/>
            </a:prstGeom>
            <a:noFill/>
          </p:spPr>
          <p:txBody>
            <a:bodyPr wrap="square" rtlCol="0">
              <a:spAutoFit/>
            </a:bodyPr>
            <a:lstStyle/>
            <a:p>
              <a:r>
                <a:rPr lang="en-US" sz="800" dirty="0" smtClean="0"/>
                <a:t>3Yr</a:t>
              </a:r>
              <a:endParaRPr lang="en-US" sz="800" dirty="0"/>
            </a:p>
          </p:txBody>
        </p:sp>
        <p:sp>
          <p:nvSpPr>
            <p:cNvPr id="108" name="TextBox 107"/>
            <p:cNvSpPr txBox="1"/>
            <p:nvPr/>
          </p:nvSpPr>
          <p:spPr>
            <a:xfrm>
              <a:off x="4730750" y="5943600"/>
              <a:ext cx="381000" cy="215444"/>
            </a:xfrm>
            <a:prstGeom prst="rect">
              <a:avLst/>
            </a:prstGeom>
            <a:noFill/>
          </p:spPr>
          <p:txBody>
            <a:bodyPr wrap="square" rtlCol="0">
              <a:spAutoFit/>
            </a:bodyPr>
            <a:lstStyle/>
            <a:p>
              <a:r>
                <a:rPr lang="en-US" sz="800" dirty="0"/>
                <a:t>5</a:t>
              </a:r>
              <a:r>
                <a:rPr lang="en-US" sz="800" dirty="0" smtClean="0"/>
                <a:t>Yr</a:t>
              </a:r>
              <a:endParaRPr lang="en-US" sz="800" dirty="0"/>
            </a:p>
          </p:txBody>
        </p:sp>
        <p:sp>
          <p:nvSpPr>
            <p:cNvPr id="109" name="TextBox 108"/>
            <p:cNvSpPr txBox="1"/>
            <p:nvPr/>
          </p:nvSpPr>
          <p:spPr>
            <a:xfrm>
              <a:off x="5302250" y="5943600"/>
              <a:ext cx="381000" cy="215444"/>
            </a:xfrm>
            <a:prstGeom prst="rect">
              <a:avLst/>
            </a:prstGeom>
            <a:noFill/>
          </p:spPr>
          <p:txBody>
            <a:bodyPr wrap="square" rtlCol="0">
              <a:spAutoFit/>
            </a:bodyPr>
            <a:lstStyle/>
            <a:p>
              <a:r>
                <a:rPr lang="en-US" sz="800" dirty="0" smtClean="0"/>
                <a:t>7Yr</a:t>
              </a:r>
              <a:endParaRPr lang="en-US" sz="800" dirty="0"/>
            </a:p>
          </p:txBody>
        </p:sp>
        <p:sp>
          <p:nvSpPr>
            <p:cNvPr id="110" name="TextBox 109"/>
            <p:cNvSpPr txBox="1"/>
            <p:nvPr/>
          </p:nvSpPr>
          <p:spPr>
            <a:xfrm>
              <a:off x="5854700" y="5943600"/>
              <a:ext cx="469900" cy="215444"/>
            </a:xfrm>
            <a:prstGeom prst="rect">
              <a:avLst/>
            </a:prstGeom>
            <a:noFill/>
          </p:spPr>
          <p:txBody>
            <a:bodyPr wrap="square" rtlCol="0">
              <a:spAutoFit/>
            </a:bodyPr>
            <a:lstStyle/>
            <a:p>
              <a:r>
                <a:rPr lang="en-US" sz="800" dirty="0" smtClean="0"/>
                <a:t>10Yr</a:t>
              </a:r>
              <a:endParaRPr lang="en-US" sz="800" dirty="0"/>
            </a:p>
          </p:txBody>
        </p:sp>
        <p:sp>
          <p:nvSpPr>
            <p:cNvPr id="111" name="TextBox 110"/>
            <p:cNvSpPr txBox="1"/>
            <p:nvPr/>
          </p:nvSpPr>
          <p:spPr>
            <a:xfrm>
              <a:off x="7067550" y="5943600"/>
              <a:ext cx="469900" cy="215444"/>
            </a:xfrm>
            <a:prstGeom prst="rect">
              <a:avLst/>
            </a:prstGeom>
            <a:noFill/>
          </p:spPr>
          <p:txBody>
            <a:bodyPr wrap="square" rtlCol="0">
              <a:spAutoFit/>
            </a:bodyPr>
            <a:lstStyle/>
            <a:p>
              <a:r>
                <a:rPr lang="en-US" sz="800" dirty="0"/>
                <a:t>2</a:t>
              </a:r>
              <a:r>
                <a:rPr lang="en-US" sz="800" dirty="0" smtClean="0"/>
                <a:t>0Yr</a:t>
              </a:r>
              <a:endParaRPr lang="en-US" sz="800" dirty="0"/>
            </a:p>
          </p:txBody>
        </p:sp>
        <p:sp>
          <p:nvSpPr>
            <p:cNvPr id="112" name="TextBox 111"/>
            <p:cNvSpPr txBox="1"/>
            <p:nvPr/>
          </p:nvSpPr>
          <p:spPr>
            <a:xfrm>
              <a:off x="8210550" y="5943600"/>
              <a:ext cx="469900" cy="215444"/>
            </a:xfrm>
            <a:prstGeom prst="rect">
              <a:avLst/>
            </a:prstGeom>
            <a:noFill/>
          </p:spPr>
          <p:txBody>
            <a:bodyPr wrap="square" rtlCol="0">
              <a:spAutoFit/>
            </a:bodyPr>
            <a:lstStyle/>
            <a:p>
              <a:r>
                <a:rPr lang="en-US" sz="800" dirty="0" smtClean="0"/>
                <a:t>30Yr</a:t>
              </a:r>
              <a:endParaRPr lang="en-US" sz="800" dirty="0"/>
            </a:p>
          </p:txBody>
        </p:sp>
      </p:grpSp>
      <p:cxnSp>
        <p:nvCxnSpPr>
          <p:cNvPr id="113" name="Straight Connector 112"/>
          <p:cNvCxnSpPr/>
          <p:nvPr/>
        </p:nvCxnSpPr>
        <p:spPr>
          <a:xfrm>
            <a:off x="2703501" y="5885609"/>
            <a:ext cx="58673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4" name="TextBox 113"/>
          <p:cNvSpPr txBox="1"/>
          <p:nvPr/>
        </p:nvSpPr>
        <p:spPr>
          <a:xfrm rot="10800000">
            <a:off x="2158211" y="2412986"/>
            <a:ext cx="338554" cy="1447800"/>
          </a:xfrm>
          <a:prstGeom prst="rect">
            <a:avLst/>
          </a:prstGeom>
          <a:noFill/>
        </p:spPr>
        <p:txBody>
          <a:bodyPr vert="eaVert" wrap="square" rtlCol="0">
            <a:spAutoFit/>
          </a:bodyPr>
          <a:lstStyle/>
          <a:p>
            <a:pPr algn="ctr"/>
            <a:r>
              <a:rPr lang="en-US" sz="1000" dirty="0" smtClean="0"/>
              <a:t>Yield </a:t>
            </a:r>
            <a:r>
              <a:rPr lang="en-US" sz="1000" dirty="0"/>
              <a:t> </a:t>
            </a:r>
            <a:r>
              <a:rPr lang="en-US" sz="1000" dirty="0" smtClean="0"/>
              <a:t>(%)</a:t>
            </a:r>
            <a:endParaRPr lang="en-US" sz="1000" dirty="0"/>
          </a:p>
        </p:txBody>
      </p:sp>
      <p:sp>
        <p:nvSpPr>
          <p:cNvPr id="115" name="TextBox 114"/>
          <p:cNvSpPr txBox="1"/>
          <p:nvPr/>
        </p:nvSpPr>
        <p:spPr>
          <a:xfrm rot="10800000">
            <a:off x="2158211" y="4317986"/>
            <a:ext cx="338554" cy="1447800"/>
          </a:xfrm>
          <a:prstGeom prst="rect">
            <a:avLst/>
          </a:prstGeom>
          <a:noFill/>
        </p:spPr>
        <p:txBody>
          <a:bodyPr vert="eaVert" wrap="square" rtlCol="0">
            <a:spAutoFit/>
          </a:bodyPr>
          <a:lstStyle/>
          <a:p>
            <a:pPr algn="ctr"/>
            <a:r>
              <a:rPr lang="en-US" sz="1000" dirty="0" smtClean="0"/>
              <a:t>Quarterly Changes (bps) </a:t>
            </a:r>
            <a:endParaRPr lang="en-US" sz="1000" dirty="0"/>
          </a:p>
        </p:txBody>
      </p:sp>
    </p:spTree>
    <p:extLst>
      <p:ext uri="{BB962C8B-B14F-4D97-AF65-F5344CB8AC3E}">
        <p14:creationId xmlns:p14="http://schemas.microsoft.com/office/powerpoint/2010/main" val="33365029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6925" y="204206"/>
            <a:ext cx="7794625" cy="538163"/>
          </a:xfrm>
        </p:spPr>
        <p:txBody>
          <a:bodyPr/>
          <a:lstStyle/>
          <a:p>
            <a:pPr lvl="0"/>
            <a:r>
              <a:rPr lang="en-US" dirty="0" smtClean="0"/>
              <a:t>BOND MARKET VOLATILITY REMAINED HIGH IN Q3</a:t>
            </a:r>
            <a:endParaRPr lang="en-US" dirty="0"/>
          </a:p>
        </p:txBody>
      </p:sp>
      <p:sp>
        <p:nvSpPr>
          <p:cNvPr id="13" name="Rectangle 68"/>
          <p:cNvSpPr>
            <a:spLocks noChangeArrowheads="1"/>
          </p:cNvSpPr>
          <p:nvPr/>
        </p:nvSpPr>
        <p:spPr bwMode="auto">
          <a:xfrm>
            <a:off x="152400" y="6018378"/>
            <a:ext cx="2209800" cy="338522"/>
          </a:xfrm>
          <a:prstGeom prst="rect">
            <a:avLst/>
          </a:prstGeom>
          <a:noFill/>
          <a:ln w="9525">
            <a:noFill/>
            <a:miter lim="800000"/>
            <a:headEnd/>
            <a:tailEnd/>
          </a:ln>
          <a:effectLst/>
        </p:spPr>
        <p:txBody>
          <a:bodyPr wrap="square" lIns="91407" tIns="45704" rIns="91407" bIns="45704" anchor="b">
            <a:spAutoFit/>
          </a:bodyPr>
          <a:lstStyle/>
          <a:p>
            <a:pPr>
              <a:lnSpc>
                <a:spcPct val="90000"/>
              </a:lnSpc>
              <a:spcBef>
                <a:spcPct val="20000"/>
              </a:spcBef>
            </a:pPr>
            <a:r>
              <a:rPr lang="en-US" sz="800" dirty="0" smtClean="0">
                <a:latin typeface="Calibri" pitchFamily="34" charset="0"/>
              </a:rPr>
              <a:t>*2015 Data as of 10/5/15</a:t>
            </a:r>
            <a:endParaRPr lang="en-US" sz="800" dirty="0">
              <a:latin typeface="Calibri" pitchFamily="34" charset="0"/>
            </a:endParaRPr>
          </a:p>
          <a:p>
            <a:pPr>
              <a:lnSpc>
                <a:spcPct val="90000"/>
              </a:lnSpc>
              <a:spcBef>
                <a:spcPct val="20000"/>
              </a:spcBef>
            </a:pPr>
            <a:r>
              <a:rPr lang="en-US" sz="800" i="1" dirty="0" smtClean="0">
                <a:latin typeface="Calibri" pitchFamily="34" charset="0"/>
              </a:rPr>
              <a:t>Source</a:t>
            </a:r>
            <a:r>
              <a:rPr lang="en-US" sz="800" i="1" dirty="0">
                <a:latin typeface="Calibri" pitchFamily="34" charset="0"/>
              </a:rPr>
              <a:t>: </a:t>
            </a:r>
            <a:r>
              <a:rPr lang="en-US" sz="800" dirty="0" err="1" smtClean="0">
                <a:latin typeface="Calibri" pitchFamily="34" charset="0"/>
              </a:rPr>
              <a:t>Yieldbook</a:t>
            </a:r>
            <a:r>
              <a:rPr lang="en-US" sz="800" dirty="0" smtClean="0">
                <a:latin typeface="Calibri" pitchFamily="34" charset="0"/>
              </a:rPr>
              <a:t> and Cello calculations</a:t>
            </a:r>
          </a:p>
        </p:txBody>
      </p:sp>
      <p:graphicFrame>
        <p:nvGraphicFramePr>
          <p:cNvPr id="7" name="Table 6"/>
          <p:cNvGraphicFramePr>
            <a:graphicFrameLocks noGrp="1"/>
          </p:cNvGraphicFramePr>
          <p:nvPr>
            <p:extLst>
              <p:ext uri="{D42A27DB-BD31-4B8C-83A1-F6EECF244321}">
                <p14:modId xmlns:p14="http://schemas.microsoft.com/office/powerpoint/2010/main" val="728135952"/>
              </p:ext>
            </p:extLst>
          </p:nvPr>
        </p:nvGraphicFramePr>
        <p:xfrm>
          <a:off x="3657600" y="1828801"/>
          <a:ext cx="4724401" cy="4189578"/>
        </p:xfrm>
        <a:graphic>
          <a:graphicData uri="http://schemas.openxmlformats.org/drawingml/2006/table">
            <a:tbl>
              <a:tblPr firstRow="1" bandRow="1">
                <a:tableStyleId>{5C22544A-7EE6-4342-B048-85BDC9FD1C3A}</a:tableStyleId>
              </a:tblPr>
              <a:tblGrid>
                <a:gridCol w="713121"/>
                <a:gridCol w="802256"/>
                <a:gridCol w="802256"/>
                <a:gridCol w="802256"/>
                <a:gridCol w="802256"/>
                <a:gridCol w="802256"/>
              </a:tblGrid>
              <a:tr h="567422">
                <a:tc>
                  <a:txBody>
                    <a:bodyPr/>
                    <a:lstStyle/>
                    <a:p>
                      <a:pPr algn="ctr"/>
                      <a:r>
                        <a:rPr lang="en-US" sz="1200" b="1" baseline="0" dirty="0" smtClean="0">
                          <a:solidFill>
                            <a:schemeClr val="bg1"/>
                          </a:solidFill>
                        </a:rPr>
                        <a:t>Year</a:t>
                      </a:r>
                      <a:endParaRPr lang="en-US" sz="1200" b="1" dirty="0">
                        <a:solidFill>
                          <a:schemeClr val="bg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c>
                  <a:txBody>
                    <a:bodyPr/>
                    <a:lstStyle/>
                    <a:p>
                      <a:pPr algn="ctr"/>
                      <a:r>
                        <a:rPr lang="en-US" sz="1200" b="1" dirty="0" smtClean="0">
                          <a:solidFill>
                            <a:schemeClr val="bg1"/>
                          </a:solidFill>
                          <a:latin typeface="+mn-lt"/>
                        </a:rPr>
                        <a:t>0-5bp</a:t>
                      </a:r>
                      <a:endParaRPr lang="en-US" sz="1200" b="1" dirty="0">
                        <a:solidFill>
                          <a:schemeClr val="bg1"/>
                        </a:solidFill>
                        <a:latin typeface="+mn-lt"/>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c>
                  <a:txBody>
                    <a:bodyPr/>
                    <a:lstStyle/>
                    <a:p>
                      <a:pPr algn="ctr"/>
                      <a:r>
                        <a:rPr lang="en-US" sz="1200" b="1" dirty="0" smtClean="0">
                          <a:solidFill>
                            <a:schemeClr val="bg1"/>
                          </a:solidFill>
                          <a:latin typeface="+mn-lt"/>
                        </a:rPr>
                        <a:t>5-10bp</a:t>
                      </a:r>
                      <a:endParaRPr lang="en-US" sz="1200" b="1" dirty="0">
                        <a:solidFill>
                          <a:schemeClr val="bg1"/>
                        </a:solidFill>
                        <a:latin typeface="+mn-lt"/>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c>
                  <a:txBody>
                    <a:bodyPr/>
                    <a:lstStyle/>
                    <a:p>
                      <a:pPr algn="ctr"/>
                      <a:r>
                        <a:rPr lang="en-US" sz="1200" b="1" dirty="0" smtClean="0">
                          <a:solidFill>
                            <a:schemeClr val="bg1"/>
                          </a:solidFill>
                          <a:latin typeface="+mn-lt"/>
                        </a:rPr>
                        <a:t>10-15bp</a:t>
                      </a:r>
                      <a:endParaRPr lang="en-US" sz="1200" b="1" dirty="0">
                        <a:solidFill>
                          <a:schemeClr val="bg1"/>
                        </a:solidFill>
                        <a:latin typeface="+mn-lt"/>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c>
                  <a:txBody>
                    <a:bodyPr/>
                    <a:lstStyle/>
                    <a:p>
                      <a:pPr algn="ctr"/>
                      <a:r>
                        <a:rPr lang="en-US" sz="1200" b="1" dirty="0" smtClean="0">
                          <a:solidFill>
                            <a:schemeClr val="bg1"/>
                          </a:solidFill>
                        </a:rPr>
                        <a:t>15-20bp</a:t>
                      </a:r>
                      <a:endParaRPr lang="en-US" sz="1200" b="1" dirty="0">
                        <a:solidFill>
                          <a:schemeClr val="bg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c>
                  <a:txBody>
                    <a:bodyPr/>
                    <a:lstStyle/>
                    <a:p>
                      <a:pPr marL="0" marR="0" indent="0" algn="ctr" defTabSz="913550" rtl="0" eaLnBrk="1" fontAlgn="auto" latinLnBrk="0" hangingPunct="1">
                        <a:lnSpc>
                          <a:spcPct val="100000"/>
                        </a:lnSpc>
                        <a:spcBef>
                          <a:spcPts val="0"/>
                        </a:spcBef>
                        <a:spcAft>
                          <a:spcPts val="0"/>
                        </a:spcAft>
                        <a:buClrTx/>
                        <a:buSzTx/>
                        <a:buFontTx/>
                        <a:buNone/>
                        <a:tabLst/>
                        <a:defRPr/>
                      </a:pPr>
                      <a:r>
                        <a:rPr lang="en-US" sz="1200" b="1" dirty="0" smtClean="0">
                          <a:solidFill>
                            <a:schemeClr val="bg1"/>
                          </a:solidFill>
                        </a:rPr>
                        <a:t>% days</a:t>
                      </a:r>
                      <a:r>
                        <a:rPr lang="en-US" sz="1200" b="1" baseline="0" dirty="0" smtClean="0">
                          <a:solidFill>
                            <a:schemeClr val="bg1"/>
                          </a:solidFill>
                        </a:rPr>
                        <a:t> &gt; 5bp</a:t>
                      </a:r>
                      <a:endParaRPr lang="en-US" sz="1200" b="1" dirty="0" smtClean="0">
                        <a:solidFill>
                          <a:schemeClr val="bg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r>
              <a:tr h="359481">
                <a:tc>
                  <a:txBody>
                    <a:bodyPr/>
                    <a:lstStyle/>
                    <a:p>
                      <a:pPr marL="0" algn="ctr" defTabSz="913550" rtl="0" eaLnBrk="1" fontAlgn="b" latinLnBrk="0" hangingPunct="1">
                        <a:spcBef>
                          <a:spcPts val="0"/>
                        </a:spcBef>
                        <a:spcAft>
                          <a:spcPts val="0"/>
                        </a:spcAft>
                      </a:pPr>
                      <a:r>
                        <a:rPr lang="en-US" sz="1250" b="1" kern="1200" dirty="0" smtClean="0">
                          <a:solidFill>
                            <a:schemeClr val="accent1"/>
                          </a:solidFill>
                          <a:latin typeface="+mn-lt"/>
                          <a:ea typeface="+mn-ea"/>
                          <a:cs typeface="+mn-cs"/>
                        </a:rPr>
                        <a:t>2010</a:t>
                      </a:r>
                      <a:endParaRPr lang="en-US" sz="1250" b="1" kern="1200" dirty="0">
                        <a:solidFill>
                          <a:schemeClr val="accent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r>
                        <a:rPr lang="en-US" sz="1250" i="0" dirty="0" smtClean="0">
                          <a:solidFill>
                            <a:schemeClr val="tx1"/>
                          </a:solidFill>
                        </a:rPr>
                        <a:t>150</a:t>
                      </a: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0" algn="ctr" defTabSz="913550" rtl="0" eaLnBrk="1" latinLnBrk="0" hangingPunct="1"/>
                      <a:r>
                        <a:rPr lang="en-US" sz="1200" i="0" kern="1200" dirty="0" smtClean="0">
                          <a:solidFill>
                            <a:schemeClr val="tx1"/>
                          </a:solidFill>
                          <a:latin typeface="+mn-lt"/>
                          <a:ea typeface="+mn-ea"/>
                          <a:cs typeface="+mn-cs"/>
                        </a:rPr>
                        <a:t>70</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0" algn="ctr" defTabSz="913550" rtl="0" eaLnBrk="1" latinLnBrk="0" hangingPunct="1"/>
                      <a:r>
                        <a:rPr lang="en-US" sz="1200" i="0" kern="1200" dirty="0" smtClean="0">
                          <a:solidFill>
                            <a:schemeClr val="tx1"/>
                          </a:solidFill>
                          <a:latin typeface="+mn-lt"/>
                          <a:ea typeface="+mn-ea"/>
                          <a:cs typeface="+mn-cs"/>
                        </a:rPr>
                        <a:t>23</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0" algn="ctr" defTabSz="913550" rtl="0" eaLnBrk="1" latinLnBrk="0" hangingPunct="1"/>
                      <a:r>
                        <a:rPr lang="en-US" sz="1200" i="0" kern="1200" dirty="0" smtClean="0">
                          <a:solidFill>
                            <a:schemeClr val="tx1"/>
                          </a:solidFill>
                          <a:latin typeface="+mn-lt"/>
                          <a:ea typeface="+mn-ea"/>
                          <a:cs typeface="+mn-cs"/>
                        </a:rPr>
                        <a:t>7</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0" algn="ctr" defTabSz="913550" rtl="0" eaLnBrk="1" latinLnBrk="0" hangingPunct="1"/>
                      <a:r>
                        <a:rPr lang="en-US" sz="1200" i="0" kern="1200" dirty="0" smtClean="0">
                          <a:solidFill>
                            <a:schemeClr val="tx1"/>
                          </a:solidFill>
                          <a:latin typeface="+mn-lt"/>
                          <a:ea typeface="+mn-ea"/>
                          <a:cs typeface="+mn-cs"/>
                        </a:rPr>
                        <a:t>40%</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r>
              <a:tr h="394285">
                <a:tc>
                  <a:txBody>
                    <a:bodyPr/>
                    <a:lstStyle/>
                    <a:p>
                      <a:pPr marL="0" algn="ctr" defTabSz="913550" rtl="0" eaLnBrk="1" fontAlgn="b" latinLnBrk="0" hangingPunct="1">
                        <a:spcBef>
                          <a:spcPts val="0"/>
                        </a:spcBef>
                        <a:spcAft>
                          <a:spcPts val="0"/>
                        </a:spcAft>
                      </a:pPr>
                      <a:r>
                        <a:rPr lang="en-US" sz="1250" b="1" kern="1200" dirty="0" smtClean="0">
                          <a:solidFill>
                            <a:schemeClr val="accent1"/>
                          </a:solidFill>
                          <a:latin typeface="+mn-lt"/>
                          <a:ea typeface="+mn-ea"/>
                          <a:cs typeface="+mn-cs"/>
                        </a:rPr>
                        <a:t>2011</a:t>
                      </a:r>
                      <a:endParaRPr lang="en-US" sz="1250" b="1" kern="1200" dirty="0">
                        <a:solidFill>
                          <a:schemeClr val="accent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EFEBE4"/>
                    </a:solidFill>
                  </a:tcPr>
                </a:tc>
                <a:tc>
                  <a:txBody>
                    <a:bodyPr/>
                    <a:lstStyle/>
                    <a:p>
                      <a:pPr marL="0" marR="0" indent="0" algn="ctr" defTabSz="913550" rtl="0" eaLnBrk="1" fontAlgn="auto" latinLnBrk="0" hangingPunct="1">
                        <a:lnSpc>
                          <a:spcPct val="100000"/>
                        </a:lnSpc>
                        <a:spcBef>
                          <a:spcPts val="0"/>
                        </a:spcBef>
                        <a:spcAft>
                          <a:spcPts val="0"/>
                        </a:spcAft>
                        <a:buClrTx/>
                        <a:buSzTx/>
                        <a:buFontTx/>
                        <a:buNone/>
                        <a:tabLst/>
                        <a:defRPr/>
                      </a:pPr>
                      <a:r>
                        <a:rPr lang="en-US" sz="1250" i="0" kern="1200" dirty="0" smtClean="0">
                          <a:solidFill>
                            <a:schemeClr val="tx1"/>
                          </a:solidFill>
                          <a:latin typeface="+mn-lt"/>
                          <a:ea typeface="+mn-ea"/>
                          <a:cs typeface="+mn-cs"/>
                        </a:rPr>
                        <a:t>143</a:t>
                      </a: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EFEBE4"/>
                    </a:solidFill>
                  </a:tcPr>
                </a:tc>
                <a:tc>
                  <a:txBody>
                    <a:bodyPr/>
                    <a:lstStyle/>
                    <a:p>
                      <a:pPr marL="0" marR="0" indent="0" algn="ctr" defTabSz="913550" rtl="0" eaLnBrk="1" fontAlgn="auto" latinLnBrk="0" hangingPunct="1">
                        <a:lnSpc>
                          <a:spcPct val="100000"/>
                        </a:lnSpc>
                        <a:spcBef>
                          <a:spcPts val="0"/>
                        </a:spcBef>
                        <a:spcAft>
                          <a:spcPts val="0"/>
                        </a:spcAft>
                        <a:buClrTx/>
                        <a:buSzTx/>
                        <a:buFontTx/>
                        <a:buNone/>
                        <a:tabLst/>
                        <a:defRPr/>
                      </a:pPr>
                      <a:r>
                        <a:rPr lang="en-US" sz="1200" i="0" kern="1200" dirty="0" smtClean="0">
                          <a:solidFill>
                            <a:schemeClr val="tx1"/>
                          </a:solidFill>
                          <a:latin typeface="+mn-lt"/>
                          <a:ea typeface="+mn-ea"/>
                          <a:cs typeface="+mn-cs"/>
                        </a:rPr>
                        <a:t>76</a:t>
                      </a: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EFEBE4"/>
                    </a:solidFill>
                  </a:tcPr>
                </a:tc>
                <a:tc>
                  <a:txBody>
                    <a:bodyPr/>
                    <a:lstStyle/>
                    <a:p>
                      <a:pPr marL="0" marR="0" indent="0" algn="ctr" defTabSz="913550" rtl="0" eaLnBrk="1" fontAlgn="auto" latinLnBrk="0" hangingPunct="1">
                        <a:lnSpc>
                          <a:spcPct val="100000"/>
                        </a:lnSpc>
                        <a:spcBef>
                          <a:spcPts val="0"/>
                        </a:spcBef>
                        <a:spcAft>
                          <a:spcPts val="0"/>
                        </a:spcAft>
                        <a:buClrTx/>
                        <a:buSzTx/>
                        <a:buFontTx/>
                        <a:buNone/>
                        <a:tabLst/>
                        <a:defRPr/>
                      </a:pPr>
                      <a:r>
                        <a:rPr lang="en-US" sz="1200" i="0" kern="1200" dirty="0" smtClean="0">
                          <a:solidFill>
                            <a:schemeClr val="tx1"/>
                          </a:solidFill>
                          <a:latin typeface="+mn-lt"/>
                          <a:ea typeface="+mn-ea"/>
                          <a:cs typeface="+mn-cs"/>
                        </a:rPr>
                        <a:t>25</a:t>
                      </a: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EFEBE4"/>
                    </a:solidFill>
                  </a:tcPr>
                </a:tc>
                <a:tc>
                  <a:txBody>
                    <a:bodyPr/>
                    <a:lstStyle/>
                    <a:p>
                      <a:pPr marL="0" algn="ctr" defTabSz="913550" rtl="0" eaLnBrk="1" latinLnBrk="0" hangingPunct="1"/>
                      <a:r>
                        <a:rPr lang="en-US" sz="1200" i="0" kern="1200" dirty="0" smtClean="0">
                          <a:solidFill>
                            <a:schemeClr val="tx1"/>
                          </a:solidFill>
                          <a:latin typeface="+mn-lt"/>
                          <a:ea typeface="+mn-ea"/>
                          <a:cs typeface="+mn-cs"/>
                        </a:rPr>
                        <a:t>5</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EFEBE4"/>
                    </a:solidFill>
                  </a:tcPr>
                </a:tc>
                <a:tc>
                  <a:txBody>
                    <a:bodyPr/>
                    <a:lstStyle/>
                    <a:p>
                      <a:pPr marL="0" algn="ctr" defTabSz="913550" rtl="0" eaLnBrk="1" latinLnBrk="0" hangingPunct="1"/>
                      <a:r>
                        <a:rPr lang="en-US" sz="1200" i="0" kern="1200" dirty="0" smtClean="0">
                          <a:solidFill>
                            <a:schemeClr val="tx1"/>
                          </a:solidFill>
                          <a:latin typeface="+mn-lt"/>
                          <a:ea typeface="+mn-ea"/>
                          <a:cs typeface="+mn-cs"/>
                        </a:rPr>
                        <a:t>43%</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EFEBE4"/>
                    </a:solidFill>
                  </a:tcPr>
                </a:tc>
              </a:tr>
              <a:tr h="385921">
                <a:tc>
                  <a:txBody>
                    <a:bodyPr/>
                    <a:lstStyle/>
                    <a:p>
                      <a:pPr marL="0" algn="ctr" defTabSz="913550" rtl="0" eaLnBrk="1" fontAlgn="b" latinLnBrk="0" hangingPunct="1">
                        <a:spcBef>
                          <a:spcPts val="0"/>
                        </a:spcBef>
                        <a:spcAft>
                          <a:spcPts val="0"/>
                        </a:spcAft>
                      </a:pPr>
                      <a:r>
                        <a:rPr lang="en-US" sz="1250" b="1" kern="1200" dirty="0" smtClean="0">
                          <a:solidFill>
                            <a:schemeClr val="accent1"/>
                          </a:solidFill>
                          <a:latin typeface="+mn-lt"/>
                          <a:ea typeface="+mn-ea"/>
                          <a:cs typeface="+mn-cs"/>
                        </a:rPr>
                        <a:t>2012</a:t>
                      </a:r>
                      <a:endParaRPr lang="en-US" sz="1250" b="1" kern="1200" dirty="0">
                        <a:solidFill>
                          <a:schemeClr val="accent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marL="0" marR="0" indent="0" algn="ctr" defTabSz="913550" rtl="0" eaLnBrk="1" fontAlgn="auto" latinLnBrk="0" hangingPunct="1">
                        <a:lnSpc>
                          <a:spcPct val="100000"/>
                        </a:lnSpc>
                        <a:spcBef>
                          <a:spcPts val="0"/>
                        </a:spcBef>
                        <a:spcAft>
                          <a:spcPts val="0"/>
                        </a:spcAft>
                        <a:buClrTx/>
                        <a:buSzTx/>
                        <a:buFontTx/>
                        <a:buNone/>
                        <a:tabLst/>
                        <a:defRPr/>
                      </a:pPr>
                      <a:r>
                        <a:rPr lang="en-US" sz="1250" i="0" kern="1200" dirty="0" smtClean="0">
                          <a:solidFill>
                            <a:schemeClr val="tx1"/>
                          </a:solidFill>
                          <a:latin typeface="+mn-lt"/>
                          <a:ea typeface="+mn-ea"/>
                          <a:cs typeface="+mn-cs"/>
                        </a:rPr>
                        <a:t>183</a:t>
                      </a:r>
                      <a:endParaRPr lang="en-US" sz="125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marL="0" marR="0" indent="0" algn="ctr" defTabSz="913550" rtl="0" eaLnBrk="1" fontAlgn="auto" latinLnBrk="0" hangingPunct="1">
                        <a:lnSpc>
                          <a:spcPct val="100000"/>
                        </a:lnSpc>
                        <a:spcBef>
                          <a:spcPts val="0"/>
                        </a:spcBef>
                        <a:spcAft>
                          <a:spcPts val="0"/>
                        </a:spcAft>
                        <a:buClrTx/>
                        <a:buSzTx/>
                        <a:buFontTx/>
                        <a:buNone/>
                        <a:tabLst/>
                        <a:defRPr/>
                      </a:pPr>
                      <a:r>
                        <a:rPr lang="en-US" sz="1200" i="0" kern="1200" dirty="0" smtClean="0">
                          <a:solidFill>
                            <a:schemeClr val="tx1"/>
                          </a:solidFill>
                          <a:latin typeface="+mn-lt"/>
                          <a:ea typeface="+mn-ea"/>
                          <a:cs typeface="+mn-cs"/>
                        </a:rPr>
                        <a:t>59</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marL="0" marR="0" indent="0" algn="ctr" defTabSz="913550" rtl="0" eaLnBrk="1" fontAlgn="auto" latinLnBrk="0" hangingPunct="1">
                        <a:lnSpc>
                          <a:spcPct val="100000"/>
                        </a:lnSpc>
                        <a:spcBef>
                          <a:spcPts val="0"/>
                        </a:spcBef>
                        <a:spcAft>
                          <a:spcPts val="0"/>
                        </a:spcAft>
                        <a:buClrTx/>
                        <a:buSzTx/>
                        <a:buFontTx/>
                        <a:buNone/>
                        <a:tabLst/>
                        <a:defRPr/>
                      </a:pPr>
                      <a:r>
                        <a:rPr lang="en-US" sz="1200" i="0" kern="1200" dirty="0" smtClean="0">
                          <a:solidFill>
                            <a:schemeClr val="tx1"/>
                          </a:solidFill>
                          <a:latin typeface="+mn-lt"/>
                          <a:ea typeface="+mn-ea"/>
                          <a:cs typeface="+mn-cs"/>
                        </a:rPr>
                        <a:t>7</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marL="0" algn="ctr" defTabSz="913550" rtl="0" eaLnBrk="1" latinLnBrk="0" hangingPunct="1"/>
                      <a:r>
                        <a:rPr lang="en-US" sz="1200" i="0" kern="1200" dirty="0" smtClean="0">
                          <a:solidFill>
                            <a:schemeClr val="tx1"/>
                          </a:solidFill>
                          <a:latin typeface="+mn-lt"/>
                          <a:ea typeface="+mn-ea"/>
                          <a:cs typeface="+mn-cs"/>
                        </a:rPr>
                        <a:t>1</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marL="0" algn="ctr" defTabSz="913550" rtl="0" eaLnBrk="1" latinLnBrk="0" hangingPunct="1"/>
                      <a:r>
                        <a:rPr lang="en-US" sz="1200" i="0" kern="1200" dirty="0" smtClean="0">
                          <a:solidFill>
                            <a:schemeClr val="tx1"/>
                          </a:solidFill>
                          <a:latin typeface="+mn-lt"/>
                          <a:ea typeface="+mn-ea"/>
                          <a:cs typeface="+mn-cs"/>
                        </a:rPr>
                        <a:t>27%</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r>
              <a:tr h="354639">
                <a:tc>
                  <a:txBody>
                    <a:bodyPr/>
                    <a:lstStyle/>
                    <a:p>
                      <a:pPr marL="0" algn="ctr" defTabSz="913550" rtl="0" eaLnBrk="1" fontAlgn="b" latinLnBrk="0" hangingPunct="1">
                        <a:spcBef>
                          <a:spcPts val="0"/>
                        </a:spcBef>
                        <a:spcAft>
                          <a:spcPts val="0"/>
                        </a:spcAft>
                      </a:pPr>
                      <a:r>
                        <a:rPr lang="en-US" sz="1250" b="1" kern="1200" dirty="0" smtClean="0">
                          <a:solidFill>
                            <a:schemeClr val="accent1"/>
                          </a:solidFill>
                          <a:latin typeface="+mn-lt"/>
                          <a:ea typeface="+mn-ea"/>
                          <a:cs typeface="+mn-cs"/>
                        </a:rPr>
                        <a:t>2013</a:t>
                      </a:r>
                      <a:endParaRPr lang="en-US" sz="1250" b="1" kern="1200" dirty="0">
                        <a:solidFill>
                          <a:schemeClr val="accent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tc>
                  <a:txBody>
                    <a:bodyPr/>
                    <a:lstStyle/>
                    <a:p>
                      <a:pPr marL="0" marR="0" indent="0" algn="ctr" defTabSz="913550" rtl="0" eaLnBrk="1" fontAlgn="auto" latinLnBrk="0" hangingPunct="1">
                        <a:lnSpc>
                          <a:spcPct val="100000"/>
                        </a:lnSpc>
                        <a:spcBef>
                          <a:spcPts val="0"/>
                        </a:spcBef>
                        <a:spcAft>
                          <a:spcPts val="0"/>
                        </a:spcAft>
                        <a:buClrTx/>
                        <a:buSzTx/>
                        <a:buFontTx/>
                        <a:buNone/>
                        <a:tabLst/>
                        <a:defRPr/>
                      </a:pPr>
                      <a:r>
                        <a:rPr lang="en-US" sz="1250" i="0" kern="1200" dirty="0" smtClean="0">
                          <a:solidFill>
                            <a:schemeClr val="tx1"/>
                          </a:solidFill>
                          <a:latin typeface="+mn-lt"/>
                          <a:ea typeface="+mn-ea"/>
                          <a:cs typeface="+mn-cs"/>
                        </a:rPr>
                        <a:t>196</a:t>
                      </a:r>
                      <a:endParaRPr lang="en-US" sz="125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tc>
                  <a:txBody>
                    <a:bodyPr/>
                    <a:lstStyle/>
                    <a:p>
                      <a:pPr marL="0" algn="ctr" defTabSz="913550" rtl="0" eaLnBrk="1" latinLnBrk="0" hangingPunct="1">
                        <a:spcAft>
                          <a:spcPts val="400"/>
                        </a:spcAft>
                      </a:pPr>
                      <a:r>
                        <a:rPr lang="en-US" sz="1200" i="0" kern="1200" dirty="0" smtClean="0">
                          <a:solidFill>
                            <a:schemeClr val="tx1"/>
                          </a:solidFill>
                          <a:latin typeface="+mn-lt"/>
                          <a:ea typeface="+mn-ea"/>
                          <a:cs typeface="+mn-cs"/>
                        </a:rPr>
                        <a:t>41</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tc>
                  <a:txBody>
                    <a:bodyPr/>
                    <a:lstStyle/>
                    <a:p>
                      <a:pPr marL="0" marR="0" indent="0" algn="ctr" defTabSz="913550" rtl="0" eaLnBrk="1" fontAlgn="auto" latinLnBrk="0" hangingPunct="1">
                        <a:lnSpc>
                          <a:spcPct val="100000"/>
                        </a:lnSpc>
                        <a:spcBef>
                          <a:spcPts val="0"/>
                        </a:spcBef>
                        <a:spcAft>
                          <a:spcPts val="0"/>
                        </a:spcAft>
                        <a:buClrTx/>
                        <a:buSzTx/>
                        <a:buFontTx/>
                        <a:buNone/>
                        <a:tabLst/>
                        <a:defRPr/>
                      </a:pPr>
                      <a:r>
                        <a:rPr lang="en-US" sz="1200" i="0" kern="1200" dirty="0" smtClean="0">
                          <a:solidFill>
                            <a:schemeClr val="tx1"/>
                          </a:solidFill>
                          <a:latin typeface="+mn-lt"/>
                          <a:ea typeface="+mn-ea"/>
                          <a:cs typeface="+mn-cs"/>
                        </a:rPr>
                        <a:t>12</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tc>
                  <a:txBody>
                    <a:bodyPr/>
                    <a:lstStyle/>
                    <a:p>
                      <a:pPr algn="ctr"/>
                      <a:r>
                        <a:rPr lang="en-US" sz="1200" b="0" i="0" dirty="0" smtClean="0">
                          <a:solidFill>
                            <a:schemeClr val="tx1"/>
                          </a:solidFill>
                        </a:rPr>
                        <a:t>0</a:t>
                      </a:r>
                      <a:endParaRPr lang="en-US" sz="1200" b="0" i="0" dirty="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tc>
                  <a:txBody>
                    <a:bodyPr/>
                    <a:lstStyle/>
                    <a:p>
                      <a:pPr algn="ctr"/>
                      <a:r>
                        <a:rPr lang="en-US" sz="1200" b="0" i="0" dirty="0" smtClean="0">
                          <a:solidFill>
                            <a:schemeClr val="tx1"/>
                          </a:solidFill>
                        </a:rPr>
                        <a:t>21%</a:t>
                      </a:r>
                      <a:endParaRPr lang="en-US" sz="1200" b="0" i="0" dirty="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tr>
              <a:tr h="425566">
                <a:tc>
                  <a:txBody>
                    <a:bodyPr/>
                    <a:lstStyle/>
                    <a:p>
                      <a:pPr marL="0" algn="ctr" defTabSz="913550" rtl="0" eaLnBrk="1" fontAlgn="b" latinLnBrk="0" hangingPunct="1">
                        <a:spcBef>
                          <a:spcPts val="0"/>
                        </a:spcBef>
                        <a:spcAft>
                          <a:spcPts val="0"/>
                        </a:spcAft>
                      </a:pPr>
                      <a:r>
                        <a:rPr lang="en-US" sz="1250" b="1" kern="1200" dirty="0" smtClean="0">
                          <a:solidFill>
                            <a:schemeClr val="accent1"/>
                          </a:solidFill>
                          <a:latin typeface="+mn-lt"/>
                          <a:ea typeface="+mn-ea"/>
                          <a:cs typeface="+mn-cs"/>
                        </a:rPr>
                        <a:t>2014</a:t>
                      </a:r>
                      <a:endParaRPr lang="en-US" sz="1250" b="1" kern="1200" dirty="0">
                        <a:solidFill>
                          <a:schemeClr val="accent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marL="0" algn="ctr" defTabSz="913550" rtl="0" eaLnBrk="1" latinLnBrk="0" hangingPunct="1">
                        <a:spcAft>
                          <a:spcPts val="400"/>
                        </a:spcAft>
                      </a:pPr>
                      <a:r>
                        <a:rPr lang="en-US" sz="1250" i="0" kern="1200" dirty="0" smtClean="0">
                          <a:solidFill>
                            <a:schemeClr val="tx1"/>
                          </a:solidFill>
                          <a:latin typeface="+mn-lt"/>
                          <a:ea typeface="+mn-ea"/>
                          <a:cs typeface="+mn-cs"/>
                        </a:rPr>
                        <a:t>207</a:t>
                      </a:r>
                      <a:endParaRPr lang="en-US" sz="125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marL="0" algn="ctr" defTabSz="913550" rtl="0" eaLnBrk="1" latinLnBrk="0" hangingPunct="1">
                        <a:spcAft>
                          <a:spcPts val="400"/>
                        </a:spcAft>
                      </a:pPr>
                      <a:r>
                        <a:rPr lang="en-US" sz="1200" i="0" kern="1200" dirty="0" smtClean="0">
                          <a:solidFill>
                            <a:schemeClr val="tx1"/>
                          </a:solidFill>
                          <a:latin typeface="+mn-lt"/>
                          <a:ea typeface="+mn-ea"/>
                          <a:cs typeface="+mn-cs"/>
                        </a:rPr>
                        <a:t>39</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marL="0" algn="ctr" defTabSz="913550" rtl="0" eaLnBrk="1" latinLnBrk="0" hangingPunct="1">
                        <a:spcAft>
                          <a:spcPts val="400"/>
                        </a:spcAft>
                      </a:pPr>
                      <a:r>
                        <a:rPr lang="en-US" sz="1200" i="0" kern="1200" dirty="0" smtClean="0">
                          <a:solidFill>
                            <a:schemeClr val="tx1"/>
                          </a:solidFill>
                          <a:latin typeface="+mn-lt"/>
                          <a:ea typeface="+mn-ea"/>
                          <a:cs typeface="+mn-cs"/>
                        </a:rPr>
                        <a:t>4</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marL="0" algn="ctr" defTabSz="913550" rtl="0" eaLnBrk="1" latinLnBrk="0" hangingPunct="1"/>
                      <a:r>
                        <a:rPr lang="en-US" sz="1200" i="0" kern="1200" dirty="0" smtClean="0">
                          <a:solidFill>
                            <a:schemeClr val="tx1"/>
                          </a:solidFill>
                          <a:latin typeface="+mn-lt"/>
                          <a:ea typeface="+mn-ea"/>
                          <a:cs typeface="+mn-cs"/>
                        </a:rPr>
                        <a:t>0</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marL="0" algn="ctr" defTabSz="913550" rtl="0" eaLnBrk="1" latinLnBrk="0" hangingPunct="1"/>
                      <a:r>
                        <a:rPr lang="en-US" sz="1200" i="0" kern="1200" dirty="0" smtClean="0">
                          <a:solidFill>
                            <a:schemeClr val="tx1"/>
                          </a:solidFill>
                          <a:latin typeface="+mn-lt"/>
                          <a:ea typeface="+mn-ea"/>
                          <a:cs typeface="+mn-cs"/>
                        </a:rPr>
                        <a:t>17%</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r>
              <a:tr h="425566">
                <a:tc>
                  <a:txBody>
                    <a:bodyPr/>
                    <a:lstStyle/>
                    <a:p>
                      <a:pPr marL="0" algn="ctr" defTabSz="913550" rtl="0" eaLnBrk="1" fontAlgn="b" latinLnBrk="0" hangingPunct="1">
                        <a:spcBef>
                          <a:spcPts val="0"/>
                        </a:spcBef>
                        <a:spcAft>
                          <a:spcPts val="0"/>
                        </a:spcAft>
                      </a:pPr>
                      <a:r>
                        <a:rPr lang="en-US" sz="1250" b="1" kern="1200" dirty="0" smtClean="0">
                          <a:solidFill>
                            <a:schemeClr val="accent1"/>
                          </a:solidFill>
                          <a:latin typeface="+mn-lt"/>
                          <a:ea typeface="+mn-ea"/>
                          <a:cs typeface="+mn-cs"/>
                        </a:rPr>
                        <a:t>2015 Q1</a:t>
                      </a:r>
                      <a:endParaRPr lang="en-US" sz="1250" b="1" kern="1200" dirty="0">
                        <a:solidFill>
                          <a:schemeClr val="accent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tc>
                  <a:txBody>
                    <a:bodyPr/>
                    <a:lstStyle/>
                    <a:p>
                      <a:pPr marL="0" marR="0" indent="0" algn="ctr" defTabSz="913550" rtl="0" eaLnBrk="1" fontAlgn="auto" latinLnBrk="0" hangingPunct="1">
                        <a:lnSpc>
                          <a:spcPct val="100000"/>
                        </a:lnSpc>
                        <a:spcBef>
                          <a:spcPts val="0"/>
                        </a:spcBef>
                        <a:spcAft>
                          <a:spcPts val="0"/>
                        </a:spcAft>
                        <a:buClrTx/>
                        <a:buSzTx/>
                        <a:buFontTx/>
                        <a:buNone/>
                        <a:tabLst/>
                        <a:defRPr/>
                      </a:pPr>
                      <a:r>
                        <a:rPr lang="en-US" sz="1250" i="0" kern="1200" dirty="0" smtClean="0">
                          <a:solidFill>
                            <a:schemeClr val="tx1"/>
                          </a:solidFill>
                          <a:latin typeface="+mn-lt"/>
                          <a:ea typeface="+mn-ea"/>
                          <a:cs typeface="+mn-cs"/>
                        </a:rPr>
                        <a:t>39</a:t>
                      </a:r>
                      <a:endParaRPr lang="en-US" sz="125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tc>
                  <a:txBody>
                    <a:bodyPr/>
                    <a:lstStyle/>
                    <a:p>
                      <a:pPr marL="0" marR="0" indent="0" algn="ctr" defTabSz="913550" rtl="0" eaLnBrk="1" fontAlgn="auto" latinLnBrk="0" hangingPunct="1">
                        <a:lnSpc>
                          <a:spcPct val="100000"/>
                        </a:lnSpc>
                        <a:spcBef>
                          <a:spcPts val="0"/>
                        </a:spcBef>
                        <a:spcAft>
                          <a:spcPts val="0"/>
                        </a:spcAft>
                        <a:buClrTx/>
                        <a:buSzTx/>
                        <a:buFontTx/>
                        <a:buNone/>
                        <a:tabLst/>
                        <a:defRPr/>
                      </a:pPr>
                      <a:r>
                        <a:rPr lang="en-US" sz="1250" i="0" kern="1200" dirty="0" smtClean="0">
                          <a:solidFill>
                            <a:schemeClr val="tx1"/>
                          </a:solidFill>
                          <a:latin typeface="+mn-lt"/>
                          <a:ea typeface="+mn-ea"/>
                          <a:cs typeface="+mn-cs"/>
                        </a:rPr>
                        <a:t>16</a:t>
                      </a:r>
                      <a:endParaRPr lang="en-US" sz="125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tc>
                  <a:txBody>
                    <a:bodyPr/>
                    <a:lstStyle/>
                    <a:p>
                      <a:pPr marL="0" marR="0" indent="0" algn="ctr" defTabSz="913550" rtl="0" eaLnBrk="1" fontAlgn="auto" latinLnBrk="0" hangingPunct="1">
                        <a:lnSpc>
                          <a:spcPct val="100000"/>
                        </a:lnSpc>
                        <a:spcBef>
                          <a:spcPts val="0"/>
                        </a:spcBef>
                        <a:spcAft>
                          <a:spcPts val="0"/>
                        </a:spcAft>
                        <a:buClrTx/>
                        <a:buSzTx/>
                        <a:buFontTx/>
                        <a:buNone/>
                        <a:tabLst/>
                        <a:defRPr/>
                      </a:pPr>
                      <a:r>
                        <a:rPr lang="en-US" sz="1250" i="0" kern="1200" dirty="0" smtClean="0">
                          <a:solidFill>
                            <a:schemeClr val="tx1"/>
                          </a:solidFill>
                          <a:latin typeface="+mn-lt"/>
                          <a:ea typeface="+mn-ea"/>
                          <a:cs typeface="+mn-cs"/>
                        </a:rPr>
                        <a:t>5</a:t>
                      </a:r>
                      <a:endParaRPr lang="en-US" sz="125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tc>
                  <a:txBody>
                    <a:bodyPr/>
                    <a:lstStyle/>
                    <a:p>
                      <a:pPr marL="0" marR="0" indent="0" algn="ctr" defTabSz="913550" rtl="0" eaLnBrk="1" fontAlgn="auto" latinLnBrk="0" hangingPunct="1">
                        <a:lnSpc>
                          <a:spcPct val="100000"/>
                        </a:lnSpc>
                        <a:spcBef>
                          <a:spcPts val="0"/>
                        </a:spcBef>
                        <a:spcAft>
                          <a:spcPts val="0"/>
                        </a:spcAft>
                        <a:buClrTx/>
                        <a:buSzTx/>
                        <a:buFontTx/>
                        <a:buNone/>
                        <a:tabLst/>
                        <a:defRPr/>
                      </a:pPr>
                      <a:r>
                        <a:rPr lang="en-US" sz="1250" i="0" kern="1200" dirty="0" smtClean="0">
                          <a:solidFill>
                            <a:schemeClr val="tx1"/>
                          </a:solidFill>
                          <a:latin typeface="+mn-lt"/>
                          <a:ea typeface="+mn-ea"/>
                          <a:cs typeface="+mn-cs"/>
                        </a:rPr>
                        <a:t>0</a:t>
                      </a:r>
                      <a:endParaRPr lang="en-US" sz="125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tc>
                  <a:txBody>
                    <a:bodyPr/>
                    <a:lstStyle/>
                    <a:p>
                      <a:pPr marL="0" marR="0" indent="0" algn="ctr" defTabSz="913550" rtl="0" eaLnBrk="1" fontAlgn="auto" latinLnBrk="0" hangingPunct="1">
                        <a:lnSpc>
                          <a:spcPct val="100000"/>
                        </a:lnSpc>
                        <a:spcBef>
                          <a:spcPts val="0"/>
                        </a:spcBef>
                        <a:spcAft>
                          <a:spcPts val="0"/>
                        </a:spcAft>
                        <a:buClrTx/>
                        <a:buSzTx/>
                        <a:buFontTx/>
                        <a:buNone/>
                        <a:tabLst/>
                        <a:defRPr/>
                      </a:pPr>
                      <a:r>
                        <a:rPr lang="en-US" sz="1250" i="0" kern="1200" dirty="0" smtClean="0">
                          <a:solidFill>
                            <a:schemeClr val="tx1"/>
                          </a:solidFill>
                          <a:latin typeface="+mn-lt"/>
                          <a:ea typeface="+mn-ea"/>
                          <a:cs typeface="+mn-cs"/>
                        </a:rPr>
                        <a:t>35%</a:t>
                      </a:r>
                      <a:endParaRPr lang="en-US" sz="125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tr>
              <a:tr h="425566">
                <a:tc>
                  <a:txBody>
                    <a:bodyPr/>
                    <a:lstStyle/>
                    <a:p>
                      <a:pPr marL="0" algn="ctr" defTabSz="913550" rtl="0" eaLnBrk="1" fontAlgn="b" latinLnBrk="0" hangingPunct="1">
                        <a:spcBef>
                          <a:spcPts val="0"/>
                        </a:spcBef>
                        <a:spcAft>
                          <a:spcPts val="0"/>
                        </a:spcAft>
                      </a:pPr>
                      <a:r>
                        <a:rPr lang="en-US" sz="1250" b="1" kern="1200" dirty="0" smtClean="0">
                          <a:solidFill>
                            <a:schemeClr val="accent1"/>
                          </a:solidFill>
                          <a:latin typeface="+mn-lt"/>
                          <a:ea typeface="+mn-ea"/>
                          <a:cs typeface="+mn-cs"/>
                        </a:rPr>
                        <a:t>2015 Q2</a:t>
                      </a:r>
                      <a:endParaRPr lang="en-US" sz="1250" b="1" kern="1200" dirty="0">
                        <a:solidFill>
                          <a:schemeClr val="accent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marL="0" algn="ctr" defTabSz="913550" rtl="0" eaLnBrk="1" latinLnBrk="0" hangingPunct="1">
                        <a:spcAft>
                          <a:spcPts val="400"/>
                        </a:spcAft>
                      </a:pPr>
                      <a:r>
                        <a:rPr lang="en-US" sz="1250" i="0" kern="1200" dirty="0" smtClean="0">
                          <a:solidFill>
                            <a:schemeClr val="tx1"/>
                          </a:solidFill>
                          <a:latin typeface="+mn-lt"/>
                          <a:ea typeface="+mn-ea"/>
                          <a:cs typeface="+mn-cs"/>
                        </a:rPr>
                        <a:t>39</a:t>
                      </a:r>
                      <a:endParaRPr lang="en-US" sz="125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marL="0" algn="ctr" defTabSz="913550" rtl="0" eaLnBrk="1" latinLnBrk="0" hangingPunct="1">
                        <a:spcAft>
                          <a:spcPts val="400"/>
                        </a:spcAft>
                      </a:pPr>
                      <a:r>
                        <a:rPr lang="en-US" sz="1200" i="0" kern="1200" dirty="0" smtClean="0">
                          <a:solidFill>
                            <a:schemeClr val="tx1"/>
                          </a:solidFill>
                          <a:latin typeface="+mn-lt"/>
                          <a:ea typeface="+mn-ea"/>
                          <a:cs typeface="+mn-cs"/>
                        </a:rPr>
                        <a:t>23</a:t>
                      </a: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marL="0" algn="ctr" defTabSz="913550" rtl="0" eaLnBrk="1" latinLnBrk="0" hangingPunct="1">
                        <a:spcAft>
                          <a:spcPts val="400"/>
                        </a:spcAft>
                      </a:pPr>
                      <a:r>
                        <a:rPr lang="en-US" sz="1200" i="0" kern="1200" dirty="0" smtClean="0">
                          <a:solidFill>
                            <a:schemeClr val="tx1"/>
                          </a:solidFill>
                          <a:latin typeface="+mn-lt"/>
                          <a:ea typeface="+mn-ea"/>
                          <a:cs typeface="+mn-cs"/>
                        </a:rPr>
                        <a:t>2</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sz="1200" b="0" i="0" dirty="0" smtClean="0">
                          <a:solidFill>
                            <a:schemeClr val="tx1"/>
                          </a:solidFill>
                        </a:rPr>
                        <a:t>0</a:t>
                      </a:r>
                      <a:endParaRPr lang="en-US" sz="1200" b="0" i="0" dirty="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sz="1200" b="0" i="0" dirty="0" smtClean="0">
                          <a:solidFill>
                            <a:schemeClr val="tx1"/>
                          </a:solidFill>
                        </a:rPr>
                        <a:t>39%</a:t>
                      </a:r>
                      <a:endParaRPr lang="en-US" sz="1200" b="0" i="0" dirty="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r>
              <a:tr h="425566">
                <a:tc>
                  <a:txBody>
                    <a:bodyPr/>
                    <a:lstStyle/>
                    <a:p>
                      <a:pPr marL="0" algn="ctr" defTabSz="913550" rtl="0" eaLnBrk="1" fontAlgn="b" latinLnBrk="0" hangingPunct="1">
                        <a:spcBef>
                          <a:spcPts val="0"/>
                        </a:spcBef>
                        <a:spcAft>
                          <a:spcPts val="0"/>
                        </a:spcAft>
                      </a:pPr>
                      <a:r>
                        <a:rPr lang="en-US" sz="1250" b="1" kern="1200" dirty="0" smtClean="0">
                          <a:solidFill>
                            <a:schemeClr val="accent1"/>
                          </a:solidFill>
                          <a:latin typeface="+mn-lt"/>
                          <a:ea typeface="+mn-ea"/>
                          <a:cs typeface="+mn-cs"/>
                        </a:rPr>
                        <a:t>2015 Q3</a:t>
                      </a:r>
                      <a:endParaRPr lang="en-US" sz="1250" b="1" kern="1200" dirty="0">
                        <a:solidFill>
                          <a:schemeClr val="accent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tc>
                  <a:txBody>
                    <a:bodyPr/>
                    <a:lstStyle/>
                    <a:p>
                      <a:pPr marL="0" algn="ctr" defTabSz="913550" rtl="0" eaLnBrk="1" latinLnBrk="0" hangingPunct="1">
                        <a:spcAft>
                          <a:spcPts val="400"/>
                        </a:spcAft>
                      </a:pPr>
                      <a:r>
                        <a:rPr lang="en-US" sz="1250" i="0" kern="1200" dirty="0" smtClean="0">
                          <a:solidFill>
                            <a:schemeClr val="tx1"/>
                          </a:solidFill>
                          <a:latin typeface="+mn-lt"/>
                          <a:ea typeface="+mn-ea"/>
                          <a:cs typeface="+mn-cs"/>
                        </a:rPr>
                        <a:t>41</a:t>
                      </a:r>
                      <a:endParaRPr lang="en-US" sz="125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tc>
                  <a:txBody>
                    <a:bodyPr/>
                    <a:lstStyle/>
                    <a:p>
                      <a:pPr marL="0" algn="ctr" defTabSz="913550" rtl="0" eaLnBrk="1" latinLnBrk="0" hangingPunct="1">
                        <a:spcAft>
                          <a:spcPts val="400"/>
                        </a:spcAft>
                      </a:pPr>
                      <a:r>
                        <a:rPr lang="en-US" sz="1200" i="0" kern="1200" dirty="0" smtClean="0">
                          <a:solidFill>
                            <a:schemeClr val="tx1"/>
                          </a:solidFill>
                          <a:latin typeface="+mn-lt"/>
                          <a:ea typeface="+mn-ea"/>
                          <a:cs typeface="+mn-cs"/>
                        </a:rPr>
                        <a:t>20</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tc>
                  <a:txBody>
                    <a:bodyPr/>
                    <a:lstStyle/>
                    <a:p>
                      <a:pPr marL="0" algn="ctr" defTabSz="913550" rtl="0" eaLnBrk="1" latinLnBrk="0" hangingPunct="1">
                        <a:spcAft>
                          <a:spcPts val="400"/>
                        </a:spcAft>
                      </a:pPr>
                      <a:r>
                        <a:rPr lang="en-US" sz="1200" i="0" kern="1200" dirty="0" smtClean="0">
                          <a:solidFill>
                            <a:schemeClr val="tx1"/>
                          </a:solidFill>
                          <a:latin typeface="+mn-lt"/>
                          <a:ea typeface="+mn-ea"/>
                          <a:cs typeface="+mn-cs"/>
                        </a:rPr>
                        <a:t>3</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tc>
                  <a:txBody>
                    <a:bodyPr/>
                    <a:lstStyle/>
                    <a:p>
                      <a:pPr algn="ctr"/>
                      <a:r>
                        <a:rPr lang="en-US" sz="1200" b="0" i="0" dirty="0" smtClean="0">
                          <a:solidFill>
                            <a:schemeClr val="tx1"/>
                          </a:solidFill>
                        </a:rPr>
                        <a:t>0</a:t>
                      </a:r>
                      <a:endParaRPr lang="en-US" sz="1200" b="0" i="0" dirty="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tc>
                  <a:txBody>
                    <a:bodyPr/>
                    <a:lstStyle/>
                    <a:p>
                      <a:pPr algn="ctr"/>
                      <a:r>
                        <a:rPr lang="en-US" sz="1200" b="0" i="0" dirty="0" smtClean="0">
                          <a:solidFill>
                            <a:schemeClr val="tx1"/>
                          </a:solidFill>
                        </a:rPr>
                        <a:t>36%</a:t>
                      </a:r>
                      <a:endParaRPr lang="en-US" sz="1200" b="0" i="0" dirty="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tr>
              <a:tr h="425566">
                <a:tc>
                  <a:txBody>
                    <a:bodyPr/>
                    <a:lstStyle/>
                    <a:p>
                      <a:pPr marL="0" algn="ctr" defTabSz="913550" rtl="0" eaLnBrk="1" fontAlgn="b" latinLnBrk="0" hangingPunct="1">
                        <a:spcBef>
                          <a:spcPts val="0"/>
                        </a:spcBef>
                        <a:spcAft>
                          <a:spcPts val="0"/>
                        </a:spcAft>
                      </a:pPr>
                      <a:r>
                        <a:rPr lang="en-US" sz="1250" b="1" i="0" kern="1200" dirty="0" smtClean="0">
                          <a:solidFill>
                            <a:schemeClr val="accent1"/>
                          </a:solidFill>
                          <a:latin typeface="+mn-lt"/>
                          <a:ea typeface="+mn-ea"/>
                          <a:cs typeface="+mn-cs"/>
                        </a:rPr>
                        <a:t>2015 Q4</a:t>
                      </a:r>
                      <a:endParaRPr lang="en-US" sz="1250" b="1" i="0" kern="1200" dirty="0">
                        <a:solidFill>
                          <a:schemeClr val="accent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3550" rtl="0" eaLnBrk="1" latinLnBrk="0" hangingPunct="1">
                        <a:spcAft>
                          <a:spcPts val="400"/>
                        </a:spcAft>
                      </a:pPr>
                      <a:r>
                        <a:rPr lang="en-US" sz="1200" i="0" kern="1200" dirty="0" smtClean="0">
                          <a:solidFill>
                            <a:schemeClr val="tx1"/>
                          </a:solidFill>
                          <a:latin typeface="+mn-lt"/>
                          <a:ea typeface="+mn-ea"/>
                          <a:cs typeface="+mn-cs"/>
                        </a:rPr>
                        <a:t>47</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3550" rtl="0" eaLnBrk="1" latinLnBrk="0" hangingPunct="1">
                        <a:spcAft>
                          <a:spcPts val="400"/>
                        </a:spcAft>
                      </a:pPr>
                      <a:r>
                        <a:rPr lang="en-US" sz="1200" i="0" kern="1200" dirty="0" smtClean="0">
                          <a:solidFill>
                            <a:schemeClr val="tx1"/>
                          </a:solidFill>
                          <a:latin typeface="+mn-lt"/>
                          <a:ea typeface="+mn-ea"/>
                          <a:cs typeface="+mn-cs"/>
                        </a:rPr>
                        <a:t>13</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3550" rtl="0" eaLnBrk="1" latinLnBrk="0" hangingPunct="1">
                        <a:spcAft>
                          <a:spcPts val="400"/>
                        </a:spcAft>
                      </a:pPr>
                      <a:r>
                        <a:rPr lang="en-US" sz="1200" i="0" kern="1200" dirty="0" smtClean="0">
                          <a:solidFill>
                            <a:schemeClr val="tx1"/>
                          </a:solidFill>
                          <a:latin typeface="+mn-lt"/>
                          <a:ea typeface="+mn-ea"/>
                          <a:cs typeface="+mn-cs"/>
                        </a:rPr>
                        <a:t>1</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3550" rtl="0" eaLnBrk="1" latinLnBrk="0" hangingPunct="1"/>
                      <a:r>
                        <a:rPr lang="en-US" sz="1200" i="0" kern="1200" dirty="0" smtClean="0">
                          <a:solidFill>
                            <a:schemeClr val="tx1"/>
                          </a:solidFill>
                          <a:latin typeface="+mn-lt"/>
                          <a:ea typeface="+mn-ea"/>
                          <a:cs typeface="+mn-cs"/>
                        </a:rPr>
                        <a:t>0</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3550" rtl="0" eaLnBrk="1" latinLnBrk="0" hangingPunct="1"/>
                      <a:r>
                        <a:rPr lang="en-US" sz="1200" i="0" kern="1200" dirty="0" smtClean="0">
                          <a:solidFill>
                            <a:schemeClr val="tx1"/>
                          </a:solidFill>
                          <a:latin typeface="+mn-lt"/>
                          <a:ea typeface="+mn-ea"/>
                          <a:cs typeface="+mn-cs"/>
                        </a:rPr>
                        <a:t>23%</a:t>
                      </a:r>
                      <a:endParaRPr lang="en-US" sz="1200" i="0" kern="1200" dirty="0">
                        <a:solidFill>
                          <a:schemeClr val="tx1"/>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8" name="Rectangle 7"/>
          <p:cNvSpPr/>
          <p:nvPr/>
        </p:nvSpPr>
        <p:spPr>
          <a:xfrm>
            <a:off x="3048000" y="1117228"/>
            <a:ext cx="5873549" cy="564776"/>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5704" tIns="45704" rIns="91407" bIns="45704" rtlCol="0" anchor="ctr"/>
          <a:lstStyle/>
          <a:p>
            <a:pPr algn="ctr">
              <a:defRPr sz="1800" b="1" i="0" u="none" strike="noStrike" kern="1200" baseline="0">
                <a:solidFill>
                  <a:sysClr val="windowText" lastClr="000000"/>
                </a:solidFill>
                <a:latin typeface="+mn-lt"/>
                <a:ea typeface="+mn-ea"/>
                <a:cs typeface="+mn-cs"/>
              </a:defRPr>
            </a:pPr>
            <a:r>
              <a:rPr lang="en-US" sz="1200" dirty="0">
                <a:solidFill>
                  <a:schemeClr val="bg1"/>
                </a:solidFill>
              </a:rPr>
              <a:t>DISTRIBUTION OF ABSOLUTE VALUE OF 1-DAY YIELD CHANGES IN 10-YEAR TREASURIES</a:t>
            </a:r>
          </a:p>
          <a:p>
            <a:pPr algn="ctr"/>
            <a:r>
              <a:rPr lang="en-US" sz="1200" dirty="0" smtClean="0">
                <a:solidFill>
                  <a:schemeClr val="bg1"/>
                </a:solidFill>
              </a:rPr>
              <a:t>(Number of Days)</a:t>
            </a:r>
            <a:endParaRPr lang="en-US" sz="1200" dirty="0">
              <a:solidFill>
                <a:schemeClr val="bg1"/>
              </a:solidFill>
            </a:endParaRPr>
          </a:p>
        </p:txBody>
      </p:sp>
      <p:sp>
        <p:nvSpPr>
          <p:cNvPr id="6" name="TextBox 5"/>
          <p:cNvSpPr txBox="1"/>
          <p:nvPr/>
        </p:nvSpPr>
        <p:spPr>
          <a:xfrm>
            <a:off x="152400" y="1128940"/>
            <a:ext cx="1981200" cy="2114185"/>
          </a:xfrm>
          <a:prstGeom prst="rect">
            <a:avLst/>
          </a:prstGeom>
          <a:noFill/>
        </p:spPr>
        <p:txBody>
          <a:bodyPr wrap="square" lIns="82058" tIns="41029" rIns="82058" bIns="41029" rtlCol="0">
            <a:spAutoFit/>
          </a:bodyPr>
          <a:lstStyle/>
          <a:p>
            <a:r>
              <a:rPr lang="en-US" sz="1200" dirty="0" smtClean="0"/>
              <a:t>Fixed income volatility remained high in Q3 as the bond market digested several developments including changes in the FOMC’s plan for raising interest rates, China’s stock market decline, China’s currency devaluation, and a global slowdown in economic growth.</a:t>
            </a:r>
            <a:endParaRPr lang="en-US" sz="1200" dirty="0"/>
          </a:p>
        </p:txBody>
      </p:sp>
    </p:spTree>
    <p:extLst>
      <p:ext uri="{BB962C8B-B14F-4D97-AF65-F5344CB8AC3E}">
        <p14:creationId xmlns:p14="http://schemas.microsoft.com/office/powerpoint/2010/main" val="24026363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2133600" y="1117228"/>
            <a:ext cx="6787949" cy="564776"/>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5704" tIns="45704" rIns="91407" bIns="45704" rtlCol="0" anchor="ctr"/>
          <a:lstStyle/>
          <a:p>
            <a:pPr algn="ctr">
              <a:defRPr sz="1800" b="1" i="0" u="none" strike="noStrike" kern="1200" baseline="0">
                <a:solidFill>
                  <a:sysClr val="windowText" lastClr="000000"/>
                </a:solidFill>
                <a:latin typeface="+mn-lt"/>
                <a:ea typeface="+mn-ea"/>
                <a:cs typeface="+mn-cs"/>
              </a:defRPr>
            </a:pPr>
            <a:r>
              <a:rPr lang="en-US" sz="1200" dirty="0" smtClean="0">
                <a:solidFill>
                  <a:schemeClr val="bg1"/>
                </a:solidFill>
              </a:rPr>
              <a:t>RETURNS ON IOS POSITIONS HEDGED FOR DURATION AND CURVE RISK</a:t>
            </a:r>
          </a:p>
        </p:txBody>
      </p:sp>
      <p:sp>
        <p:nvSpPr>
          <p:cNvPr id="2" name="Title 1"/>
          <p:cNvSpPr>
            <a:spLocks noGrp="1"/>
          </p:cNvSpPr>
          <p:nvPr>
            <p:ph type="title"/>
          </p:nvPr>
        </p:nvSpPr>
        <p:spPr>
          <a:xfrm>
            <a:off x="1126925" y="237254"/>
            <a:ext cx="7794625" cy="538163"/>
          </a:xfrm>
        </p:spPr>
        <p:txBody>
          <a:bodyPr/>
          <a:lstStyle/>
          <a:p>
            <a:pPr lvl="0"/>
            <a:r>
              <a:rPr lang="en-US" dirty="0" smtClean="0"/>
              <a:t>QUARTERLY IOS PERFORMANCE REVIEW</a:t>
            </a:r>
            <a:endParaRPr lang="en-US" dirty="0"/>
          </a:p>
        </p:txBody>
      </p:sp>
      <p:sp>
        <p:nvSpPr>
          <p:cNvPr id="13" name="Rectangle 68"/>
          <p:cNvSpPr>
            <a:spLocks noChangeArrowheads="1"/>
          </p:cNvSpPr>
          <p:nvPr/>
        </p:nvSpPr>
        <p:spPr bwMode="auto">
          <a:xfrm>
            <a:off x="152400" y="5932201"/>
            <a:ext cx="1905000" cy="424699"/>
          </a:xfrm>
          <a:prstGeom prst="rect">
            <a:avLst/>
          </a:prstGeom>
          <a:noFill/>
          <a:ln w="9525">
            <a:noFill/>
            <a:miter lim="800000"/>
            <a:headEnd/>
            <a:tailEnd/>
          </a:ln>
          <a:effectLst/>
        </p:spPr>
        <p:txBody>
          <a:bodyPr wrap="square" lIns="91407" tIns="45704" rIns="91407" bIns="45704" anchor="b">
            <a:spAutoFit/>
          </a:bodyPr>
          <a:lstStyle/>
          <a:p>
            <a:pPr>
              <a:lnSpc>
                <a:spcPct val="90000"/>
              </a:lnSpc>
              <a:spcBef>
                <a:spcPct val="20000"/>
              </a:spcBef>
            </a:pPr>
            <a:r>
              <a:rPr lang="en-US" sz="800" i="1" dirty="0">
                <a:latin typeface="Calibri" pitchFamily="34" charset="0"/>
              </a:rPr>
              <a:t>Source: </a:t>
            </a:r>
            <a:r>
              <a:rPr lang="en-US" sz="800" dirty="0" smtClean="0">
                <a:latin typeface="Calibri" pitchFamily="34" charset="0"/>
              </a:rPr>
              <a:t>Cello calculations using </a:t>
            </a:r>
            <a:r>
              <a:rPr lang="en-US" sz="800" dirty="0" err="1" smtClean="0">
                <a:latin typeface="Calibri" pitchFamily="34" charset="0"/>
              </a:rPr>
              <a:t>YieldBook</a:t>
            </a:r>
            <a:r>
              <a:rPr lang="en-US" sz="800" dirty="0" smtClean="0">
                <a:latin typeface="Calibri" pitchFamily="34" charset="0"/>
              </a:rPr>
              <a:t>. The returns are generated assuming daily rebalancing of hedges. </a:t>
            </a:r>
            <a:endParaRPr lang="en-US" sz="800" i="1" dirty="0">
              <a:latin typeface="Calibri" pitchFamily="34" charset="0"/>
            </a:endParaRPr>
          </a:p>
        </p:txBody>
      </p:sp>
      <p:sp>
        <p:nvSpPr>
          <p:cNvPr id="6" name="TextBox 5"/>
          <p:cNvSpPr txBox="1"/>
          <p:nvPr/>
        </p:nvSpPr>
        <p:spPr>
          <a:xfrm>
            <a:off x="152400" y="1117228"/>
            <a:ext cx="1905000" cy="2483517"/>
          </a:xfrm>
          <a:prstGeom prst="rect">
            <a:avLst/>
          </a:prstGeom>
          <a:noFill/>
        </p:spPr>
        <p:txBody>
          <a:bodyPr wrap="square" lIns="82058" tIns="41029" rIns="82058" bIns="41029" rtlCol="0">
            <a:spAutoFit/>
          </a:bodyPr>
          <a:lstStyle/>
          <a:p>
            <a:r>
              <a:rPr lang="en-US" sz="1200" dirty="0" smtClean="0"/>
              <a:t>When hedged for duration and curve risk, IOs performed poorly during the quarter – adding to their losses for the year. IO underperformance over the quarter was driven by a combination of spread widening and higher convexity hedging costs.</a:t>
            </a:r>
            <a:endParaRPr lang="en-US" sz="1200" dirty="0"/>
          </a:p>
          <a:p>
            <a:endParaRPr lang="en-US" sz="1200" dirty="0"/>
          </a:p>
          <a:p>
            <a:r>
              <a:rPr lang="en-US" sz="1200" dirty="0" smtClean="0">
                <a:solidFill>
                  <a:srgbClr val="FF0000"/>
                </a:solidFill>
              </a:rPr>
              <a:t>  </a:t>
            </a:r>
          </a:p>
          <a:p>
            <a:endParaRPr lang="en-US" sz="1200" dirty="0">
              <a:solidFill>
                <a:srgbClr val="FF0000"/>
              </a:solidFill>
            </a:endParaRPr>
          </a:p>
        </p:txBody>
      </p:sp>
      <p:graphicFrame>
        <p:nvGraphicFramePr>
          <p:cNvPr id="7" name="Table 6"/>
          <p:cNvGraphicFramePr>
            <a:graphicFrameLocks noGrp="1"/>
          </p:cNvGraphicFramePr>
          <p:nvPr>
            <p:extLst>
              <p:ext uri="{D42A27DB-BD31-4B8C-83A1-F6EECF244321}">
                <p14:modId xmlns:p14="http://schemas.microsoft.com/office/powerpoint/2010/main" val="2772509495"/>
              </p:ext>
            </p:extLst>
          </p:nvPr>
        </p:nvGraphicFramePr>
        <p:xfrm>
          <a:off x="3297960" y="1817402"/>
          <a:ext cx="4459227" cy="4114799"/>
        </p:xfrm>
        <a:graphic>
          <a:graphicData uri="http://schemas.openxmlformats.org/drawingml/2006/table">
            <a:tbl>
              <a:tblPr firstRow="1" bandRow="1">
                <a:tableStyleId>{5C22544A-7EE6-4342-B048-85BDC9FD1C3A}</a:tableStyleId>
              </a:tblPr>
              <a:tblGrid>
                <a:gridCol w="1219202"/>
                <a:gridCol w="1600200"/>
                <a:gridCol w="1639825"/>
              </a:tblGrid>
              <a:tr h="655621">
                <a:tc>
                  <a:txBody>
                    <a:bodyPr/>
                    <a:lstStyle/>
                    <a:p>
                      <a:pPr algn="ctr"/>
                      <a:r>
                        <a:rPr lang="en-US" sz="1200" b="1" baseline="0" dirty="0" smtClean="0">
                          <a:solidFill>
                            <a:schemeClr val="bg1"/>
                          </a:solidFill>
                        </a:rPr>
                        <a:t>IOS</a:t>
                      </a:r>
                      <a:endParaRPr lang="en-US" sz="1200" b="1" dirty="0">
                        <a:solidFill>
                          <a:schemeClr val="bg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c>
                  <a:txBody>
                    <a:bodyPr/>
                    <a:lstStyle/>
                    <a:p>
                      <a:pPr algn="ctr"/>
                      <a:r>
                        <a:rPr lang="en-US" sz="1200" b="1" baseline="0" dirty="0" smtClean="0">
                          <a:solidFill>
                            <a:schemeClr val="bg1"/>
                          </a:solidFill>
                        </a:rPr>
                        <a:t>Q3 2015(%)</a:t>
                      </a:r>
                      <a:endParaRPr lang="en-US" sz="1200" b="1" dirty="0">
                        <a:solidFill>
                          <a:schemeClr val="bg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398A"/>
                    </a:solidFill>
                  </a:tcPr>
                </a:tc>
                <a:tc>
                  <a:txBody>
                    <a:bodyPr/>
                    <a:lstStyle/>
                    <a:p>
                      <a:pPr algn="ctr"/>
                      <a:r>
                        <a:rPr lang="en-US" sz="1200" b="1" baseline="0" dirty="0" smtClean="0">
                          <a:solidFill>
                            <a:schemeClr val="bg1"/>
                          </a:solidFill>
                        </a:rPr>
                        <a:t>YTD (%)</a:t>
                      </a: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398A"/>
                    </a:solidFill>
                  </a:tcPr>
                </a:tc>
              </a:tr>
              <a:tr h="515411">
                <a:tc>
                  <a:txBody>
                    <a:bodyPr/>
                    <a:lstStyle/>
                    <a:p>
                      <a:pPr marL="0" algn="l" defTabSz="913550" rtl="0" eaLnBrk="1" fontAlgn="b" latinLnBrk="0" hangingPunct="1">
                        <a:spcBef>
                          <a:spcPts val="0"/>
                        </a:spcBef>
                        <a:spcAft>
                          <a:spcPts val="0"/>
                        </a:spcAft>
                      </a:pPr>
                      <a:r>
                        <a:rPr lang="en-US" sz="1200" b="1" kern="1200" dirty="0">
                          <a:solidFill>
                            <a:srgbClr val="2E398A"/>
                          </a:solidFill>
                          <a:latin typeface="+mn-lt"/>
                          <a:ea typeface="+mn-ea"/>
                          <a:cs typeface="+mn-cs"/>
                        </a:rPr>
                        <a:t>FN30.300.12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0" algn="ctr" defTabSz="913550" rtl="0" eaLnBrk="1" latinLnBrk="0" hangingPunct="1"/>
                      <a:r>
                        <a:rPr lang="en-US" sz="1200" i="0" kern="1200" dirty="0" smtClean="0">
                          <a:solidFill>
                            <a:srgbClr val="FF0000"/>
                          </a:solidFill>
                          <a:latin typeface="+mn-lt"/>
                          <a:ea typeface="+mn-ea"/>
                          <a:cs typeface="+mn-cs"/>
                        </a:rPr>
                        <a:t>-0.8</a:t>
                      </a:r>
                      <a:endParaRPr lang="en-US" sz="1200" i="0" kern="1200" dirty="0">
                        <a:solidFill>
                          <a:srgbClr val="FF0000"/>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algn="ctr" defTabSz="913550" rtl="0" eaLnBrk="1" latinLnBrk="0" hangingPunct="1"/>
                      <a:r>
                        <a:rPr lang="en-US" sz="1200" i="0" kern="1200" dirty="0" smtClean="0">
                          <a:solidFill>
                            <a:srgbClr val="FF0000"/>
                          </a:solidFill>
                          <a:latin typeface="+mn-lt"/>
                          <a:ea typeface="+mn-ea"/>
                          <a:cs typeface="+mn-cs"/>
                        </a:rPr>
                        <a:t>-14.0</a:t>
                      </a:r>
                      <a:endParaRPr lang="en-US" sz="1200" i="0" kern="1200" dirty="0">
                        <a:solidFill>
                          <a:srgbClr val="FF0000"/>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r>
              <a:tr h="580381">
                <a:tc>
                  <a:txBody>
                    <a:bodyPr/>
                    <a:lstStyle/>
                    <a:p>
                      <a:pPr marL="0" algn="l" defTabSz="913550" rtl="0" eaLnBrk="1" fontAlgn="b" latinLnBrk="0" hangingPunct="1">
                        <a:spcBef>
                          <a:spcPts val="0"/>
                        </a:spcBef>
                        <a:spcAft>
                          <a:spcPts val="0"/>
                        </a:spcAft>
                      </a:pPr>
                      <a:r>
                        <a:rPr lang="en-US" sz="1200" b="1" kern="1200" dirty="0">
                          <a:solidFill>
                            <a:srgbClr val="2E398A"/>
                          </a:solidFill>
                          <a:latin typeface="+mn-lt"/>
                          <a:ea typeface="+mn-ea"/>
                          <a:cs typeface="+mn-cs"/>
                        </a:rPr>
                        <a:t>FN30.350.12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EFEBE4"/>
                    </a:solidFill>
                  </a:tcPr>
                </a:tc>
                <a:tc>
                  <a:txBody>
                    <a:bodyPr/>
                    <a:lstStyle/>
                    <a:p>
                      <a:pPr marL="0" algn="ctr" defTabSz="913550" rtl="0" eaLnBrk="1" latinLnBrk="0" hangingPunct="1"/>
                      <a:r>
                        <a:rPr lang="en-US" sz="1200" i="0" kern="1200" dirty="0" smtClean="0">
                          <a:solidFill>
                            <a:srgbClr val="FF0000"/>
                          </a:solidFill>
                          <a:latin typeface="+mn-lt"/>
                          <a:ea typeface="+mn-ea"/>
                          <a:cs typeface="+mn-cs"/>
                        </a:rPr>
                        <a:t>-2.8</a:t>
                      </a:r>
                      <a:endParaRPr lang="en-US" sz="1200" i="0" kern="1200" dirty="0">
                        <a:solidFill>
                          <a:srgbClr val="FF0000"/>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EFEBE4"/>
                    </a:solidFill>
                  </a:tcPr>
                </a:tc>
                <a:tc>
                  <a:txBody>
                    <a:bodyPr/>
                    <a:lstStyle/>
                    <a:p>
                      <a:pPr marL="0" algn="ctr" defTabSz="913550" rtl="0" eaLnBrk="1" latinLnBrk="0" hangingPunct="1"/>
                      <a:r>
                        <a:rPr lang="en-US" sz="1200" i="0" kern="1200" dirty="0" smtClean="0">
                          <a:solidFill>
                            <a:srgbClr val="FF0000"/>
                          </a:solidFill>
                          <a:latin typeface="+mn-lt"/>
                          <a:ea typeface="+mn-ea"/>
                          <a:cs typeface="+mn-cs"/>
                        </a:rPr>
                        <a:t>-10.3</a:t>
                      </a:r>
                      <a:endParaRPr lang="en-US" sz="1200" i="0" kern="1200" dirty="0">
                        <a:solidFill>
                          <a:srgbClr val="FF0000"/>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EFEBE4"/>
                    </a:solidFill>
                  </a:tcPr>
                </a:tc>
              </a:tr>
              <a:tr h="515411">
                <a:tc>
                  <a:txBody>
                    <a:bodyPr/>
                    <a:lstStyle/>
                    <a:p>
                      <a:pPr marL="0" algn="l" defTabSz="913550" rtl="0" eaLnBrk="1" fontAlgn="b" latinLnBrk="0" hangingPunct="1">
                        <a:spcBef>
                          <a:spcPts val="0"/>
                        </a:spcBef>
                        <a:spcAft>
                          <a:spcPts val="0"/>
                        </a:spcAft>
                      </a:pPr>
                      <a:r>
                        <a:rPr lang="en-US" sz="1200" b="1" kern="1200" dirty="0">
                          <a:solidFill>
                            <a:srgbClr val="2E398A"/>
                          </a:solidFill>
                          <a:latin typeface="+mn-lt"/>
                          <a:ea typeface="+mn-ea"/>
                          <a:cs typeface="+mn-cs"/>
                        </a:rPr>
                        <a:t>FN30.400.11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marL="0" algn="ctr" defTabSz="913550" rtl="0" eaLnBrk="1" latinLnBrk="0" hangingPunct="1"/>
                      <a:r>
                        <a:rPr lang="en-US" sz="1200" i="0" kern="1200" dirty="0" smtClean="0">
                          <a:solidFill>
                            <a:srgbClr val="FF0000"/>
                          </a:solidFill>
                          <a:latin typeface="+mn-lt"/>
                          <a:ea typeface="+mn-ea"/>
                          <a:cs typeface="+mn-cs"/>
                        </a:rPr>
                        <a:t>-4.0</a:t>
                      </a:r>
                      <a:endParaRPr lang="en-US" sz="1200" i="0" kern="1200" dirty="0">
                        <a:solidFill>
                          <a:srgbClr val="FF0000"/>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3550" rtl="0" eaLnBrk="1" latinLnBrk="0" hangingPunct="1"/>
                      <a:r>
                        <a:rPr lang="en-US" sz="1200" i="0" kern="1200" dirty="0" smtClean="0">
                          <a:solidFill>
                            <a:srgbClr val="FF0000"/>
                          </a:solidFill>
                          <a:latin typeface="+mn-lt"/>
                          <a:ea typeface="+mn-ea"/>
                          <a:cs typeface="+mn-cs"/>
                        </a:rPr>
                        <a:t>-4.5</a:t>
                      </a:r>
                      <a:endParaRPr lang="en-US" sz="1200" i="0" kern="1200" dirty="0">
                        <a:solidFill>
                          <a:srgbClr val="FF0000"/>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580381">
                <a:tc>
                  <a:txBody>
                    <a:bodyPr/>
                    <a:lstStyle/>
                    <a:p>
                      <a:pPr marL="0" algn="l" defTabSz="913550" rtl="0" eaLnBrk="1" fontAlgn="b" latinLnBrk="0" hangingPunct="1">
                        <a:spcBef>
                          <a:spcPts val="0"/>
                        </a:spcBef>
                        <a:spcAft>
                          <a:spcPts val="0"/>
                        </a:spcAft>
                      </a:pPr>
                      <a:r>
                        <a:rPr lang="en-US" sz="1200" b="1" kern="1200" dirty="0">
                          <a:solidFill>
                            <a:srgbClr val="2E398A"/>
                          </a:solidFill>
                          <a:latin typeface="+mn-lt"/>
                          <a:ea typeface="+mn-ea"/>
                          <a:cs typeface="+mn-cs"/>
                        </a:rPr>
                        <a:t>FN30.450.11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tc>
                  <a:txBody>
                    <a:bodyPr/>
                    <a:lstStyle/>
                    <a:p>
                      <a:pPr marL="0" algn="ctr" defTabSz="913550" rtl="0" eaLnBrk="1" latinLnBrk="0" hangingPunct="1"/>
                      <a:r>
                        <a:rPr lang="en-US" sz="1200" i="0" kern="1200" dirty="0" smtClean="0">
                          <a:solidFill>
                            <a:srgbClr val="FF0000"/>
                          </a:solidFill>
                          <a:latin typeface="+mn-lt"/>
                          <a:ea typeface="+mn-ea"/>
                          <a:cs typeface="+mn-cs"/>
                        </a:rPr>
                        <a:t>-3.2</a:t>
                      </a:r>
                      <a:endParaRPr lang="en-US" sz="1200" i="0" kern="1200" dirty="0">
                        <a:solidFill>
                          <a:srgbClr val="FF0000"/>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algn="ctr" defTabSz="913550" rtl="0" eaLnBrk="1" latinLnBrk="0" hangingPunct="1"/>
                      <a:r>
                        <a:rPr lang="en-US" sz="1200" i="0" kern="1200" dirty="0" smtClean="0">
                          <a:solidFill>
                            <a:srgbClr val="FF0000"/>
                          </a:solidFill>
                          <a:latin typeface="+mn-lt"/>
                          <a:ea typeface="+mn-ea"/>
                          <a:cs typeface="+mn-cs"/>
                        </a:rPr>
                        <a:t>-3.3</a:t>
                      </a:r>
                      <a:endParaRPr lang="en-US" sz="1200" i="0" kern="1200" dirty="0">
                        <a:solidFill>
                          <a:srgbClr val="FF0000"/>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r>
              <a:tr h="752183">
                <a:tc>
                  <a:txBody>
                    <a:bodyPr/>
                    <a:lstStyle/>
                    <a:p>
                      <a:pPr marL="0" algn="l" defTabSz="913550" rtl="0" eaLnBrk="1" fontAlgn="b" latinLnBrk="0" hangingPunct="1">
                        <a:spcBef>
                          <a:spcPts val="0"/>
                        </a:spcBef>
                        <a:spcAft>
                          <a:spcPts val="0"/>
                        </a:spcAft>
                      </a:pPr>
                      <a:r>
                        <a:rPr lang="en-US" sz="1200" b="1" kern="1200" dirty="0">
                          <a:solidFill>
                            <a:srgbClr val="2E398A"/>
                          </a:solidFill>
                          <a:latin typeface="+mn-lt"/>
                          <a:ea typeface="+mn-ea"/>
                          <a:cs typeface="+mn-cs"/>
                        </a:rPr>
                        <a:t>FN30.350.10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marL="0" algn="ctr" defTabSz="913550" rtl="0" eaLnBrk="1" latinLnBrk="0" hangingPunct="1"/>
                      <a:r>
                        <a:rPr lang="en-US" sz="1200" i="0" kern="1200" dirty="0" smtClean="0">
                          <a:solidFill>
                            <a:srgbClr val="FF0000"/>
                          </a:solidFill>
                          <a:latin typeface="+mn-lt"/>
                          <a:ea typeface="+mn-ea"/>
                          <a:cs typeface="+mn-cs"/>
                        </a:rPr>
                        <a:t>-3.3</a:t>
                      </a:r>
                      <a:endParaRPr lang="en-US" sz="1200" i="0" kern="1200" dirty="0">
                        <a:solidFill>
                          <a:srgbClr val="FF0000"/>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3550" rtl="0" eaLnBrk="1" latinLnBrk="0" hangingPunct="1"/>
                      <a:r>
                        <a:rPr lang="en-US" sz="1200" i="0" kern="1200" dirty="0" smtClean="0">
                          <a:solidFill>
                            <a:srgbClr val="FF0000"/>
                          </a:solidFill>
                          <a:latin typeface="+mn-lt"/>
                          <a:ea typeface="+mn-ea"/>
                          <a:cs typeface="+mn-cs"/>
                        </a:rPr>
                        <a:t>-9.2</a:t>
                      </a:r>
                      <a:endParaRPr lang="en-US" sz="1200" i="0" kern="1200" dirty="0">
                        <a:solidFill>
                          <a:srgbClr val="FF0000"/>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r>
              <a:tr h="515411">
                <a:tc>
                  <a:txBody>
                    <a:bodyPr/>
                    <a:lstStyle/>
                    <a:p>
                      <a:pPr marL="0" algn="l" defTabSz="913550" rtl="0" eaLnBrk="1" fontAlgn="b" latinLnBrk="0" hangingPunct="1">
                        <a:spcBef>
                          <a:spcPts val="0"/>
                        </a:spcBef>
                        <a:spcAft>
                          <a:spcPts val="0"/>
                        </a:spcAft>
                      </a:pPr>
                      <a:r>
                        <a:rPr lang="en-US" sz="1200" b="1" kern="1200" dirty="0" smtClean="0">
                          <a:solidFill>
                            <a:srgbClr val="2E398A"/>
                          </a:solidFill>
                          <a:latin typeface="+mn-lt"/>
                          <a:ea typeface="+mn-ea"/>
                          <a:cs typeface="+mn-cs"/>
                        </a:rPr>
                        <a:t>FN30.400.10</a:t>
                      </a:r>
                      <a:endParaRPr lang="en-US" sz="1200" b="1" kern="1200" dirty="0">
                        <a:solidFill>
                          <a:srgbClr val="2E398A"/>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2"/>
                    </a:solidFill>
                  </a:tcPr>
                </a:tc>
                <a:tc>
                  <a:txBody>
                    <a:bodyPr/>
                    <a:lstStyle/>
                    <a:p>
                      <a:pPr marL="0" algn="ctr" defTabSz="913550" rtl="0" eaLnBrk="1" latinLnBrk="0" hangingPunct="1"/>
                      <a:r>
                        <a:rPr lang="en-US" sz="1200" i="0" kern="1200" dirty="0" smtClean="0">
                          <a:solidFill>
                            <a:srgbClr val="FF0000"/>
                          </a:solidFill>
                          <a:latin typeface="+mn-lt"/>
                          <a:ea typeface="+mn-ea"/>
                          <a:cs typeface="+mn-cs"/>
                        </a:rPr>
                        <a:t>-3.2</a:t>
                      </a:r>
                      <a:endParaRPr lang="en-US" sz="1200" i="0" kern="1200" dirty="0">
                        <a:solidFill>
                          <a:srgbClr val="FF0000"/>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algn="ctr" defTabSz="913550" rtl="0" eaLnBrk="1" latinLnBrk="0" hangingPunct="1"/>
                      <a:r>
                        <a:rPr lang="en-US" sz="1200" i="0" kern="1200" dirty="0" smtClean="0">
                          <a:solidFill>
                            <a:srgbClr val="FF0000"/>
                          </a:solidFill>
                          <a:latin typeface="+mn-lt"/>
                          <a:ea typeface="+mn-ea"/>
                          <a:cs typeface="+mn-cs"/>
                        </a:rPr>
                        <a:t>-5.0</a:t>
                      </a:r>
                      <a:endParaRPr lang="en-US" sz="1200" i="0" kern="1200" dirty="0">
                        <a:solidFill>
                          <a:srgbClr val="FF0000"/>
                        </a:solidFill>
                        <a:latin typeface="+mn-lt"/>
                        <a:ea typeface="+mn-ea"/>
                        <a:cs typeface="+mn-cs"/>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r>
            </a:tbl>
          </a:graphicData>
        </a:graphic>
      </p:graphicFrame>
    </p:spTree>
    <p:extLst>
      <p:ext uri="{BB962C8B-B14F-4D97-AF65-F5344CB8AC3E}">
        <p14:creationId xmlns:p14="http://schemas.microsoft.com/office/powerpoint/2010/main" val="7319949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68"/>
          <p:cNvSpPr>
            <a:spLocks noChangeArrowheads="1"/>
          </p:cNvSpPr>
          <p:nvPr/>
        </p:nvSpPr>
        <p:spPr bwMode="auto">
          <a:xfrm>
            <a:off x="248668" y="6148022"/>
            <a:ext cx="5325034" cy="197243"/>
          </a:xfrm>
          <a:prstGeom prst="rect">
            <a:avLst/>
          </a:prstGeom>
          <a:noFill/>
          <a:ln w="9525">
            <a:noFill/>
            <a:miter lim="800000"/>
            <a:headEnd/>
            <a:tailEnd/>
          </a:ln>
          <a:effectLst/>
        </p:spPr>
        <p:txBody>
          <a:bodyPr wrap="square" lIns="88719" tIns="44359" rIns="88719" bIns="44359" anchor="b">
            <a:spAutoFit/>
          </a:bodyPr>
          <a:lstStyle/>
          <a:p>
            <a:pPr>
              <a:lnSpc>
                <a:spcPct val="90000"/>
              </a:lnSpc>
              <a:spcBef>
                <a:spcPct val="20000"/>
              </a:spcBef>
            </a:pPr>
            <a:r>
              <a:rPr lang="en-US" sz="777" i="1" dirty="0" smtClean="0">
                <a:solidFill>
                  <a:srgbClr val="000000"/>
                </a:solidFill>
              </a:rPr>
              <a:t>Source: </a:t>
            </a:r>
            <a:r>
              <a:rPr lang="en-US" sz="777" dirty="0" smtClean="0">
                <a:solidFill>
                  <a:srgbClr val="000000"/>
                </a:solidFill>
              </a:rPr>
              <a:t>Cello as</a:t>
            </a:r>
            <a:r>
              <a:rPr lang="en-US" sz="777" i="1" dirty="0" smtClean="0">
                <a:solidFill>
                  <a:srgbClr val="000000"/>
                </a:solidFill>
              </a:rPr>
              <a:t> </a:t>
            </a:r>
            <a:r>
              <a:rPr lang="en-US" sz="777" dirty="0" smtClean="0">
                <a:solidFill>
                  <a:srgbClr val="000000"/>
                </a:solidFill>
              </a:rPr>
              <a:t>of 12/31/2015.</a:t>
            </a:r>
            <a:endParaRPr lang="en-US" sz="777" i="1" dirty="0">
              <a:solidFill>
                <a:srgbClr val="000000"/>
              </a:solidFill>
            </a:endParaRPr>
          </a:p>
        </p:txBody>
      </p:sp>
      <p:sp>
        <p:nvSpPr>
          <p:cNvPr id="14" name="Rectangle 13"/>
          <p:cNvSpPr/>
          <p:nvPr/>
        </p:nvSpPr>
        <p:spPr>
          <a:xfrm>
            <a:off x="2438400" y="1185222"/>
            <a:ext cx="6498572" cy="548165"/>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4359" tIns="44359" rIns="88719" bIns="44359" rtlCol="0" anchor="ctr"/>
          <a:lstStyle/>
          <a:p>
            <a:pPr algn="ctr"/>
            <a:r>
              <a:rPr lang="en-US" sz="1165" b="1" dirty="0" smtClean="0">
                <a:solidFill>
                  <a:srgbClr val="FFFFFF"/>
                </a:solidFill>
              </a:rPr>
              <a:t>TOTAL RETURNS ON HEDGED IOS POSITIONS</a:t>
            </a:r>
            <a:endParaRPr lang="en-US" sz="1165" b="1" dirty="0">
              <a:solidFill>
                <a:srgbClr val="FFFFFF"/>
              </a:solidFill>
            </a:endParaRPr>
          </a:p>
          <a:p>
            <a:pPr algn="ctr"/>
            <a:r>
              <a:rPr lang="en-US" sz="1165" dirty="0" smtClean="0">
                <a:solidFill>
                  <a:srgbClr val="FFFFFF"/>
                </a:solidFill>
              </a:rPr>
              <a:t> (2015)</a:t>
            </a:r>
            <a:endParaRPr lang="en-US" sz="1165" dirty="0">
              <a:solidFill>
                <a:srgbClr val="FFFFFF"/>
              </a:solidFill>
            </a:endParaRPr>
          </a:p>
        </p:txBody>
      </p:sp>
      <p:sp>
        <p:nvSpPr>
          <p:cNvPr id="2" name="Title 1"/>
          <p:cNvSpPr>
            <a:spLocks noGrp="1"/>
          </p:cNvSpPr>
          <p:nvPr>
            <p:ph type="title"/>
          </p:nvPr>
        </p:nvSpPr>
        <p:spPr>
          <a:xfrm>
            <a:off x="1228251" y="299054"/>
            <a:ext cx="7565372" cy="522334"/>
          </a:xfrm>
        </p:spPr>
        <p:txBody>
          <a:bodyPr/>
          <a:lstStyle/>
          <a:p>
            <a:pPr lvl="0"/>
            <a:r>
              <a:rPr lang="en-US" dirty="0" smtClean="0">
                <a:solidFill>
                  <a:srgbClr val="FF0000"/>
                </a:solidFill>
              </a:rPr>
              <a:t> </a:t>
            </a:r>
            <a:endParaRPr lang="en-US" dirty="0">
              <a:solidFill>
                <a:srgbClr val="FF0000"/>
              </a:solidFill>
            </a:endParaRPr>
          </a:p>
        </p:txBody>
      </p:sp>
      <p:sp>
        <p:nvSpPr>
          <p:cNvPr id="8" name="TextBox 7"/>
          <p:cNvSpPr txBox="1"/>
          <p:nvPr/>
        </p:nvSpPr>
        <p:spPr>
          <a:xfrm>
            <a:off x="237651" y="1180932"/>
            <a:ext cx="1981200" cy="5253506"/>
          </a:xfrm>
          <a:prstGeom prst="rect">
            <a:avLst/>
          </a:prstGeom>
          <a:noFill/>
        </p:spPr>
        <p:txBody>
          <a:bodyPr wrap="square" lIns="82058" tIns="41029" rIns="82058" bIns="41029" rtlCol="0">
            <a:spAutoFit/>
          </a:bodyPr>
          <a:lstStyle/>
          <a:p>
            <a:r>
              <a:rPr lang="en-US" sz="1200" dirty="0" smtClean="0"/>
              <a:t>Taking on exposure to prepayment risk yielded negative returns for most IOs in 2015 (with the exception of Q4) driven by a combination of declining carry, tight spreads, and increased levels of volatility in the level and shape of the yield curve. Prepayments were faster than expected in the first half of the year and slower than expected in the second.</a:t>
            </a:r>
          </a:p>
          <a:p>
            <a:endParaRPr lang="en-US" sz="1200" dirty="0"/>
          </a:p>
          <a:p>
            <a:r>
              <a:rPr lang="en-US" sz="1200" dirty="0" smtClean="0"/>
              <a:t>Cello’s defensive posture with respect to prepayment risk (as expressed by maintaining relatively low levels of IO Beta throughout the year)  was validated through Q1-Q3. The portfolio did not participate in positive IOS performance in Q4 as Structured bonds widened relative to IOS.</a:t>
            </a:r>
          </a:p>
          <a:p>
            <a:endParaRPr lang="en-US" sz="1200" dirty="0" smtClean="0">
              <a:solidFill>
                <a:srgbClr val="FF0000"/>
              </a:solidFill>
            </a:endParaRPr>
          </a:p>
          <a:p>
            <a:endParaRPr lang="en-US" sz="1200" dirty="0">
              <a:solidFill>
                <a:srgbClr val="FF0000"/>
              </a:solidFill>
            </a:endParaRPr>
          </a:p>
        </p:txBody>
      </p:sp>
      <p:graphicFrame>
        <p:nvGraphicFramePr>
          <p:cNvPr id="10" name="Table 9"/>
          <p:cNvGraphicFramePr>
            <a:graphicFrameLocks noGrp="1"/>
          </p:cNvGraphicFramePr>
          <p:nvPr>
            <p:extLst>
              <p:ext uri="{D42A27DB-BD31-4B8C-83A1-F6EECF244321}">
                <p14:modId xmlns:p14="http://schemas.microsoft.com/office/powerpoint/2010/main" val="209072011"/>
              </p:ext>
            </p:extLst>
          </p:nvPr>
        </p:nvGraphicFramePr>
        <p:xfrm>
          <a:off x="2491580" y="2438400"/>
          <a:ext cx="6164244" cy="2175510"/>
        </p:xfrm>
        <a:graphic>
          <a:graphicData uri="http://schemas.openxmlformats.org/drawingml/2006/table">
            <a:tbl>
              <a:tblPr firstRow="1" firstCol="1" lastRow="1">
                <a:tableStyleId>{3B4B98B0-60AC-42C2-AFA5-B58CD77FA1E5}</a:tableStyleId>
              </a:tblPr>
              <a:tblGrid>
                <a:gridCol w="795386"/>
                <a:gridCol w="488078"/>
                <a:gridCol w="488078"/>
                <a:gridCol w="488078"/>
                <a:gridCol w="488078"/>
                <a:gridCol w="488078"/>
                <a:gridCol w="488078"/>
                <a:gridCol w="488078"/>
                <a:gridCol w="488078"/>
                <a:gridCol w="488078"/>
                <a:gridCol w="488078"/>
                <a:gridCol w="488078"/>
              </a:tblGrid>
              <a:tr h="516755">
                <a:tc>
                  <a:txBody>
                    <a:bodyPr/>
                    <a:lstStyle/>
                    <a:p>
                      <a:pPr algn="ctr" fontAlgn="b"/>
                      <a:r>
                        <a:rPr lang="en-US" sz="1000" u="none" strike="noStrike" dirty="0">
                          <a:effectLst/>
                          <a:latin typeface="+mn-lt"/>
                        </a:rPr>
                        <a:t>Quarter</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u="none" strike="noStrike" dirty="0">
                          <a:effectLst/>
                          <a:latin typeface="+mn-lt"/>
                        </a:rPr>
                        <a:t>FN30</a:t>
                      </a:r>
                      <a:r>
                        <a:rPr lang="en-US" sz="1000" u="none" strike="noStrike" dirty="0" smtClean="0">
                          <a:effectLst/>
                          <a:latin typeface="+mn-lt"/>
                        </a:rPr>
                        <a:t>.</a:t>
                      </a:r>
                    </a:p>
                    <a:p>
                      <a:pPr algn="ctr" fontAlgn="b"/>
                      <a:r>
                        <a:rPr lang="en-US" sz="1000" u="none" strike="noStrike" dirty="0" smtClean="0">
                          <a:effectLst/>
                          <a:latin typeface="+mn-lt"/>
                        </a:rPr>
                        <a:t>300.13</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u="none" strike="noStrike" dirty="0">
                          <a:effectLst/>
                          <a:latin typeface="+mn-lt"/>
                        </a:rPr>
                        <a:t>FN30</a:t>
                      </a:r>
                      <a:r>
                        <a:rPr lang="en-US" sz="1000" u="none" strike="noStrike" dirty="0" smtClean="0">
                          <a:effectLst/>
                          <a:latin typeface="+mn-lt"/>
                        </a:rPr>
                        <a:t>.</a:t>
                      </a:r>
                    </a:p>
                    <a:p>
                      <a:pPr algn="ctr" fontAlgn="b"/>
                      <a:r>
                        <a:rPr lang="en-US" sz="1000" u="none" strike="noStrike" dirty="0" smtClean="0">
                          <a:effectLst/>
                          <a:latin typeface="+mn-lt"/>
                        </a:rPr>
                        <a:t>300.12</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u="none" strike="noStrike" dirty="0">
                          <a:effectLst/>
                          <a:latin typeface="+mn-lt"/>
                        </a:rPr>
                        <a:t>FN30</a:t>
                      </a:r>
                      <a:r>
                        <a:rPr lang="en-US" sz="1000" u="none" strike="noStrike" dirty="0" smtClean="0">
                          <a:effectLst/>
                          <a:latin typeface="+mn-lt"/>
                        </a:rPr>
                        <a:t>.</a:t>
                      </a:r>
                    </a:p>
                    <a:p>
                      <a:pPr algn="ctr" fontAlgn="b"/>
                      <a:r>
                        <a:rPr lang="en-US" sz="1000" u="none" strike="noStrike" dirty="0" smtClean="0">
                          <a:effectLst/>
                          <a:latin typeface="+mn-lt"/>
                        </a:rPr>
                        <a:t>350.14</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u="none" strike="noStrike" dirty="0">
                          <a:effectLst/>
                          <a:latin typeface="+mn-lt"/>
                        </a:rPr>
                        <a:t>FN30</a:t>
                      </a:r>
                      <a:r>
                        <a:rPr lang="en-US" sz="1000" u="none" strike="noStrike" dirty="0" smtClean="0">
                          <a:effectLst/>
                          <a:latin typeface="+mn-lt"/>
                        </a:rPr>
                        <a:t>.</a:t>
                      </a:r>
                    </a:p>
                    <a:p>
                      <a:pPr algn="ctr" fontAlgn="b"/>
                      <a:r>
                        <a:rPr lang="en-US" sz="1000" u="none" strike="noStrike" dirty="0" smtClean="0">
                          <a:effectLst/>
                          <a:latin typeface="+mn-lt"/>
                        </a:rPr>
                        <a:t>350.13</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u="none" strike="noStrike" dirty="0">
                          <a:effectLst/>
                          <a:latin typeface="+mn-lt"/>
                        </a:rPr>
                        <a:t>FN30</a:t>
                      </a:r>
                      <a:r>
                        <a:rPr lang="en-US" sz="1000" u="none" strike="noStrike" dirty="0" smtClean="0">
                          <a:effectLst/>
                          <a:latin typeface="+mn-lt"/>
                        </a:rPr>
                        <a:t>.</a:t>
                      </a:r>
                    </a:p>
                    <a:p>
                      <a:pPr algn="ctr" fontAlgn="b"/>
                      <a:r>
                        <a:rPr lang="en-US" sz="1000" u="none" strike="noStrike" dirty="0" smtClean="0">
                          <a:effectLst/>
                          <a:latin typeface="+mn-lt"/>
                        </a:rPr>
                        <a:t>350.12</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u="none" strike="noStrike" dirty="0" smtClean="0">
                          <a:effectLst/>
                          <a:latin typeface="+mn-lt"/>
                        </a:rPr>
                        <a:t>FN30.</a:t>
                      </a:r>
                    </a:p>
                    <a:p>
                      <a:pPr algn="ctr" fontAlgn="b"/>
                      <a:r>
                        <a:rPr lang="en-US" sz="1000" u="none" strike="noStrike" dirty="0" smtClean="0">
                          <a:effectLst/>
                          <a:latin typeface="+mn-lt"/>
                        </a:rPr>
                        <a:t>350.10</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u="none" strike="noStrike" dirty="0" smtClean="0">
                          <a:effectLst/>
                          <a:latin typeface="+mn-lt"/>
                        </a:rPr>
                        <a:t>FN30.</a:t>
                      </a:r>
                    </a:p>
                    <a:p>
                      <a:pPr algn="ctr" fontAlgn="b"/>
                      <a:r>
                        <a:rPr lang="en-US" sz="1000" u="none" strike="noStrike" dirty="0" smtClean="0">
                          <a:effectLst/>
                          <a:latin typeface="+mn-lt"/>
                        </a:rPr>
                        <a:t>400.14</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u="none" strike="noStrike" dirty="0">
                          <a:effectLst/>
                          <a:latin typeface="+mn-lt"/>
                        </a:rPr>
                        <a:t>FN30</a:t>
                      </a:r>
                      <a:r>
                        <a:rPr lang="en-US" sz="1000" u="none" strike="noStrike" dirty="0" smtClean="0">
                          <a:effectLst/>
                          <a:latin typeface="+mn-lt"/>
                        </a:rPr>
                        <a:t>.</a:t>
                      </a:r>
                    </a:p>
                    <a:p>
                      <a:pPr algn="ctr" fontAlgn="b"/>
                      <a:r>
                        <a:rPr lang="en-US" sz="1000" u="none" strike="noStrike" dirty="0" smtClean="0">
                          <a:effectLst/>
                          <a:latin typeface="+mn-lt"/>
                        </a:rPr>
                        <a:t>400.13</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u="none" strike="noStrike" dirty="0">
                          <a:effectLst/>
                          <a:latin typeface="+mn-lt"/>
                        </a:rPr>
                        <a:t>FN30</a:t>
                      </a:r>
                      <a:r>
                        <a:rPr lang="en-US" sz="1000" u="none" strike="noStrike" dirty="0" smtClean="0">
                          <a:effectLst/>
                          <a:latin typeface="+mn-lt"/>
                        </a:rPr>
                        <a:t>.</a:t>
                      </a:r>
                    </a:p>
                    <a:p>
                      <a:pPr algn="ctr" fontAlgn="b"/>
                      <a:r>
                        <a:rPr lang="en-US" sz="1000" u="none" strike="noStrike" dirty="0" smtClean="0">
                          <a:effectLst/>
                          <a:latin typeface="+mn-lt"/>
                        </a:rPr>
                        <a:t>400.11</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u="none" strike="noStrike" dirty="0">
                          <a:effectLst/>
                          <a:latin typeface="+mn-lt"/>
                        </a:rPr>
                        <a:t>FN30</a:t>
                      </a:r>
                      <a:r>
                        <a:rPr lang="en-US" sz="1000" u="none" strike="noStrike" dirty="0" smtClean="0">
                          <a:effectLst/>
                          <a:latin typeface="+mn-lt"/>
                        </a:rPr>
                        <a:t>.</a:t>
                      </a:r>
                    </a:p>
                    <a:p>
                      <a:pPr algn="ctr" fontAlgn="b"/>
                      <a:r>
                        <a:rPr lang="en-US" sz="1000" u="none" strike="noStrike" dirty="0" smtClean="0">
                          <a:effectLst/>
                          <a:latin typeface="+mn-lt"/>
                        </a:rPr>
                        <a:t>400.10</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u="none" strike="noStrike" dirty="0">
                          <a:effectLst/>
                          <a:latin typeface="+mn-lt"/>
                        </a:rPr>
                        <a:t>FN30</a:t>
                      </a:r>
                      <a:r>
                        <a:rPr lang="en-US" sz="1000" u="none" strike="noStrike" dirty="0" smtClean="0">
                          <a:effectLst/>
                          <a:latin typeface="+mn-lt"/>
                        </a:rPr>
                        <a:t>.</a:t>
                      </a:r>
                    </a:p>
                    <a:p>
                      <a:pPr algn="ctr" fontAlgn="b"/>
                      <a:r>
                        <a:rPr lang="en-US" sz="1000" u="none" strike="noStrike" dirty="0" smtClean="0">
                          <a:effectLst/>
                          <a:latin typeface="+mn-lt"/>
                        </a:rPr>
                        <a:t>400.09</a:t>
                      </a:r>
                      <a:endParaRPr lang="en-US" sz="1000" b="0" i="0" u="none" strike="noStrike" dirty="0">
                        <a:solidFill>
                          <a:srgbClr val="000000"/>
                        </a:solidFill>
                        <a:effectLst/>
                        <a:latin typeface="+mn-lt"/>
                      </a:endParaRPr>
                    </a:p>
                  </a:txBody>
                  <a:tcPr marL="9525" marR="9525" marT="9525" marB="0" anchor="ctr"/>
                </a:tc>
              </a:tr>
              <a:tr h="331751">
                <a:tc>
                  <a:txBody>
                    <a:bodyPr/>
                    <a:lstStyle/>
                    <a:p>
                      <a:pPr algn="ctr" fontAlgn="b"/>
                      <a:r>
                        <a:rPr lang="en-US" sz="1000" u="none" strike="noStrike" dirty="0">
                          <a:effectLst/>
                          <a:latin typeface="+mn-lt"/>
                        </a:rPr>
                        <a:t>2015 Q1</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b="0" i="0" u="none" strike="noStrike" dirty="0">
                          <a:solidFill>
                            <a:srgbClr val="FF0000"/>
                          </a:solidFill>
                          <a:effectLst/>
                          <a:latin typeface="+mn-lt"/>
                        </a:rPr>
                        <a:t>-5.6%</a:t>
                      </a:r>
                    </a:p>
                  </a:txBody>
                  <a:tcPr marL="9525" marR="9525" marT="9525" marB="0" anchor="ctr"/>
                </a:tc>
                <a:tc>
                  <a:txBody>
                    <a:bodyPr/>
                    <a:lstStyle/>
                    <a:p>
                      <a:pPr algn="ctr" fontAlgn="b"/>
                      <a:r>
                        <a:rPr lang="en-US" sz="1000" b="0" i="0" u="none" strike="noStrike" dirty="0">
                          <a:solidFill>
                            <a:srgbClr val="FF0000"/>
                          </a:solidFill>
                          <a:effectLst/>
                          <a:latin typeface="+mn-lt"/>
                        </a:rPr>
                        <a:t>-5.4%</a:t>
                      </a:r>
                    </a:p>
                  </a:txBody>
                  <a:tcPr marL="9525" marR="9525" marT="9525" marB="0" anchor="ctr"/>
                </a:tc>
                <a:tc>
                  <a:txBody>
                    <a:bodyPr/>
                    <a:lstStyle/>
                    <a:p>
                      <a:pPr algn="ctr" fontAlgn="b"/>
                      <a:endParaRPr lang="en-US" sz="1000" b="0" i="0" u="none" strike="noStrike">
                        <a:solidFill>
                          <a:srgbClr val="000000"/>
                        </a:solidFill>
                        <a:effectLst/>
                        <a:latin typeface="+mn-lt"/>
                      </a:endParaRPr>
                    </a:p>
                  </a:txBody>
                  <a:tcPr marL="9525" marR="9525" marT="9525" marB="0" anchor="ctr"/>
                </a:tc>
                <a:tc>
                  <a:txBody>
                    <a:bodyPr/>
                    <a:lstStyle/>
                    <a:p>
                      <a:pPr algn="ctr" fontAlgn="b"/>
                      <a:r>
                        <a:rPr lang="en-US" sz="1000" b="0" i="0" u="none" strike="noStrike">
                          <a:solidFill>
                            <a:srgbClr val="FF0000"/>
                          </a:solidFill>
                          <a:effectLst/>
                          <a:latin typeface="+mn-lt"/>
                        </a:rPr>
                        <a:t>-6.8%</a:t>
                      </a:r>
                    </a:p>
                  </a:txBody>
                  <a:tcPr marL="9525" marR="9525" marT="9525" marB="0" anchor="ctr"/>
                </a:tc>
                <a:tc>
                  <a:txBody>
                    <a:bodyPr/>
                    <a:lstStyle/>
                    <a:p>
                      <a:pPr algn="ctr" fontAlgn="b"/>
                      <a:r>
                        <a:rPr lang="en-US" sz="1000" b="0" i="0" u="none" strike="noStrike">
                          <a:solidFill>
                            <a:srgbClr val="FF0000"/>
                          </a:solidFill>
                          <a:effectLst/>
                          <a:latin typeface="+mn-lt"/>
                        </a:rPr>
                        <a:t>-5.3%</a:t>
                      </a:r>
                    </a:p>
                  </a:txBody>
                  <a:tcPr marL="9525" marR="9525" marT="9525" marB="0" anchor="ctr"/>
                </a:tc>
                <a:tc>
                  <a:txBody>
                    <a:bodyPr/>
                    <a:lstStyle/>
                    <a:p>
                      <a:pPr algn="ctr" fontAlgn="b"/>
                      <a:r>
                        <a:rPr lang="en-US" sz="1000" b="0" i="0" u="none" strike="noStrike">
                          <a:solidFill>
                            <a:srgbClr val="FF0000"/>
                          </a:solidFill>
                          <a:effectLst/>
                          <a:latin typeface="+mn-lt"/>
                        </a:rPr>
                        <a:t>-2.6%</a:t>
                      </a:r>
                    </a:p>
                  </a:txBody>
                  <a:tcPr marL="9525" marR="9525" marT="9525" marB="0" anchor="ctr"/>
                </a:tc>
                <a:tc>
                  <a:txBody>
                    <a:bodyPr/>
                    <a:lstStyle/>
                    <a:p>
                      <a:pPr algn="ctr" fontAlgn="b"/>
                      <a:endParaRPr lang="en-US" sz="1000" b="0" i="0" u="none" strike="noStrike">
                        <a:solidFill>
                          <a:srgbClr val="000000"/>
                        </a:solidFill>
                        <a:effectLst/>
                        <a:latin typeface="+mn-lt"/>
                      </a:endParaRPr>
                    </a:p>
                  </a:txBody>
                  <a:tcPr marL="9525" marR="9525" marT="9525" marB="0" anchor="ctr"/>
                </a:tc>
                <a:tc>
                  <a:txBody>
                    <a:bodyPr/>
                    <a:lstStyle/>
                    <a:p>
                      <a:pPr algn="ctr" fontAlgn="b"/>
                      <a:r>
                        <a:rPr lang="en-US" sz="1000" b="0" i="0" u="none" strike="noStrike">
                          <a:solidFill>
                            <a:srgbClr val="FF0000"/>
                          </a:solidFill>
                          <a:effectLst/>
                          <a:latin typeface="+mn-lt"/>
                        </a:rPr>
                        <a:t>-5.9%</a:t>
                      </a:r>
                    </a:p>
                  </a:txBody>
                  <a:tcPr marL="9525" marR="9525" marT="9525" marB="0" anchor="ctr"/>
                </a:tc>
                <a:tc>
                  <a:txBody>
                    <a:bodyPr/>
                    <a:lstStyle/>
                    <a:p>
                      <a:pPr algn="ctr" fontAlgn="b"/>
                      <a:r>
                        <a:rPr lang="en-US" sz="1000" b="0" i="0" u="none" strike="noStrike">
                          <a:solidFill>
                            <a:srgbClr val="FF0000"/>
                          </a:solidFill>
                          <a:effectLst/>
                          <a:latin typeface="+mn-lt"/>
                        </a:rPr>
                        <a:t>-2.0%</a:t>
                      </a:r>
                    </a:p>
                  </a:txBody>
                  <a:tcPr marL="9525" marR="9525" marT="9525" marB="0" anchor="ctr"/>
                </a:tc>
                <a:tc>
                  <a:txBody>
                    <a:bodyPr/>
                    <a:lstStyle/>
                    <a:p>
                      <a:pPr algn="ctr" fontAlgn="b"/>
                      <a:r>
                        <a:rPr lang="en-US" sz="1000" b="0" i="0" u="none" strike="noStrike">
                          <a:solidFill>
                            <a:srgbClr val="FF0000"/>
                          </a:solidFill>
                          <a:effectLst/>
                          <a:latin typeface="+mn-lt"/>
                        </a:rPr>
                        <a:t>-1.5%</a:t>
                      </a:r>
                    </a:p>
                  </a:txBody>
                  <a:tcPr marL="9525" marR="9525" marT="9525" marB="0" anchor="ctr"/>
                </a:tc>
                <a:tc>
                  <a:txBody>
                    <a:bodyPr/>
                    <a:lstStyle/>
                    <a:p>
                      <a:pPr algn="ctr" fontAlgn="b"/>
                      <a:r>
                        <a:rPr lang="en-US" sz="1000" b="0" i="0" u="none" strike="noStrike">
                          <a:solidFill>
                            <a:srgbClr val="000000"/>
                          </a:solidFill>
                          <a:effectLst/>
                          <a:latin typeface="+mn-lt"/>
                        </a:rPr>
                        <a:t>1.1%</a:t>
                      </a:r>
                    </a:p>
                  </a:txBody>
                  <a:tcPr marL="9525" marR="9525" marT="9525" marB="0" anchor="ctr"/>
                </a:tc>
              </a:tr>
              <a:tr h="331751">
                <a:tc>
                  <a:txBody>
                    <a:bodyPr/>
                    <a:lstStyle/>
                    <a:p>
                      <a:pPr algn="ctr" fontAlgn="b"/>
                      <a:r>
                        <a:rPr lang="en-US" sz="1000" u="none" strike="noStrike" dirty="0">
                          <a:effectLst/>
                          <a:latin typeface="+mn-lt"/>
                        </a:rPr>
                        <a:t>2015 Q2</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b="0" i="0" u="none" strike="noStrike" dirty="0">
                          <a:solidFill>
                            <a:srgbClr val="FF0000"/>
                          </a:solidFill>
                          <a:effectLst/>
                          <a:latin typeface="+mn-lt"/>
                        </a:rPr>
                        <a:t>-6.8%</a:t>
                      </a:r>
                    </a:p>
                  </a:txBody>
                  <a:tcPr marL="9525" marR="9525" marT="9525" marB="0" anchor="ctr"/>
                </a:tc>
                <a:tc>
                  <a:txBody>
                    <a:bodyPr/>
                    <a:lstStyle/>
                    <a:p>
                      <a:pPr algn="ctr" fontAlgn="b"/>
                      <a:r>
                        <a:rPr lang="en-US" sz="1000" b="0" i="0" u="none" strike="noStrike" dirty="0">
                          <a:solidFill>
                            <a:srgbClr val="FF0000"/>
                          </a:solidFill>
                          <a:effectLst/>
                          <a:latin typeface="+mn-lt"/>
                        </a:rPr>
                        <a:t>-8.3%</a:t>
                      </a:r>
                    </a:p>
                  </a:txBody>
                  <a:tcPr marL="9525" marR="9525" marT="9525" marB="0" anchor="ctr"/>
                </a:tc>
                <a:tc>
                  <a:txBody>
                    <a:bodyPr/>
                    <a:lstStyle/>
                    <a:p>
                      <a:pPr algn="ctr" fontAlgn="b"/>
                      <a:r>
                        <a:rPr lang="en-US" sz="1000" b="0" i="0" u="none" strike="noStrike" dirty="0">
                          <a:solidFill>
                            <a:srgbClr val="000000"/>
                          </a:solidFill>
                          <a:effectLst/>
                          <a:latin typeface="+mn-lt"/>
                        </a:rPr>
                        <a:t>2.6%</a:t>
                      </a:r>
                    </a:p>
                  </a:txBody>
                  <a:tcPr marL="9525" marR="9525" marT="9525" marB="0" anchor="ctr"/>
                </a:tc>
                <a:tc>
                  <a:txBody>
                    <a:bodyPr/>
                    <a:lstStyle/>
                    <a:p>
                      <a:pPr algn="ctr" fontAlgn="b"/>
                      <a:r>
                        <a:rPr lang="en-US" sz="1000" b="0" i="0" u="none" strike="noStrike" dirty="0">
                          <a:solidFill>
                            <a:srgbClr val="000000"/>
                          </a:solidFill>
                          <a:effectLst/>
                          <a:latin typeface="+mn-lt"/>
                        </a:rPr>
                        <a:t>0.2%</a:t>
                      </a:r>
                    </a:p>
                  </a:txBody>
                  <a:tcPr marL="9525" marR="9525" marT="9525" marB="0" anchor="ctr"/>
                </a:tc>
                <a:tc>
                  <a:txBody>
                    <a:bodyPr/>
                    <a:lstStyle/>
                    <a:p>
                      <a:pPr algn="ctr" fontAlgn="b"/>
                      <a:r>
                        <a:rPr lang="en-US" sz="1000" b="0" i="0" u="none" strike="noStrike" dirty="0">
                          <a:solidFill>
                            <a:srgbClr val="FF0000"/>
                          </a:solidFill>
                          <a:effectLst/>
                          <a:latin typeface="+mn-lt"/>
                        </a:rPr>
                        <a:t>-2.6%</a:t>
                      </a:r>
                    </a:p>
                  </a:txBody>
                  <a:tcPr marL="9525" marR="9525" marT="9525" marB="0" anchor="ctr"/>
                </a:tc>
                <a:tc>
                  <a:txBody>
                    <a:bodyPr/>
                    <a:lstStyle/>
                    <a:p>
                      <a:pPr algn="ctr" fontAlgn="b"/>
                      <a:r>
                        <a:rPr lang="en-US" sz="1000" b="0" i="0" u="none" strike="noStrike" dirty="0">
                          <a:solidFill>
                            <a:srgbClr val="FF0000"/>
                          </a:solidFill>
                          <a:effectLst/>
                          <a:latin typeface="+mn-lt"/>
                        </a:rPr>
                        <a:t>-3.5%</a:t>
                      </a:r>
                    </a:p>
                  </a:txBody>
                  <a:tcPr marL="9525" marR="9525" marT="9525" marB="0" anchor="ctr"/>
                </a:tc>
                <a:tc>
                  <a:txBody>
                    <a:bodyPr/>
                    <a:lstStyle/>
                    <a:p>
                      <a:pPr algn="ctr" fontAlgn="b"/>
                      <a:r>
                        <a:rPr lang="en-US" sz="1000" b="0" i="0" u="none" strike="noStrike">
                          <a:solidFill>
                            <a:srgbClr val="000000"/>
                          </a:solidFill>
                          <a:effectLst/>
                          <a:latin typeface="+mn-lt"/>
                        </a:rPr>
                        <a:t>7.6%</a:t>
                      </a:r>
                    </a:p>
                  </a:txBody>
                  <a:tcPr marL="9525" marR="9525" marT="9525" marB="0" anchor="ctr"/>
                </a:tc>
                <a:tc>
                  <a:txBody>
                    <a:bodyPr/>
                    <a:lstStyle/>
                    <a:p>
                      <a:pPr algn="ctr" fontAlgn="b"/>
                      <a:r>
                        <a:rPr lang="en-US" sz="1000" b="0" i="0" u="none" strike="noStrike">
                          <a:solidFill>
                            <a:srgbClr val="000000"/>
                          </a:solidFill>
                          <a:effectLst/>
                          <a:latin typeface="+mn-lt"/>
                        </a:rPr>
                        <a:t>7.2%</a:t>
                      </a:r>
                    </a:p>
                  </a:txBody>
                  <a:tcPr marL="9525" marR="9525" marT="9525" marB="0" anchor="ctr"/>
                </a:tc>
                <a:tc>
                  <a:txBody>
                    <a:bodyPr/>
                    <a:lstStyle/>
                    <a:p>
                      <a:pPr algn="ctr" fontAlgn="b"/>
                      <a:r>
                        <a:rPr lang="en-US" sz="1000" b="0" i="0" u="none" strike="noStrike">
                          <a:solidFill>
                            <a:srgbClr val="000000"/>
                          </a:solidFill>
                          <a:effectLst/>
                          <a:latin typeface="+mn-lt"/>
                        </a:rPr>
                        <a:t>1.6%</a:t>
                      </a:r>
                    </a:p>
                  </a:txBody>
                  <a:tcPr marL="9525" marR="9525" marT="9525" marB="0" anchor="ctr"/>
                </a:tc>
                <a:tc>
                  <a:txBody>
                    <a:bodyPr/>
                    <a:lstStyle/>
                    <a:p>
                      <a:pPr algn="ctr" fontAlgn="b"/>
                      <a:r>
                        <a:rPr lang="en-US" sz="1000" b="0" i="0" u="none" strike="noStrike">
                          <a:solidFill>
                            <a:srgbClr val="FF0000"/>
                          </a:solidFill>
                          <a:effectLst/>
                          <a:latin typeface="+mn-lt"/>
                        </a:rPr>
                        <a:t>-0.4%</a:t>
                      </a:r>
                    </a:p>
                  </a:txBody>
                  <a:tcPr marL="9525" marR="9525" marT="9525" marB="0" anchor="ctr"/>
                </a:tc>
                <a:tc>
                  <a:txBody>
                    <a:bodyPr/>
                    <a:lstStyle/>
                    <a:p>
                      <a:pPr algn="ctr" fontAlgn="b"/>
                      <a:r>
                        <a:rPr lang="en-US" sz="1000" b="0" i="0" u="none" strike="noStrike">
                          <a:solidFill>
                            <a:srgbClr val="FF0000"/>
                          </a:solidFill>
                          <a:effectLst/>
                          <a:latin typeface="+mn-lt"/>
                        </a:rPr>
                        <a:t>-1.6%</a:t>
                      </a:r>
                    </a:p>
                  </a:txBody>
                  <a:tcPr marL="9525" marR="9525" marT="9525" marB="0" anchor="ctr"/>
                </a:tc>
              </a:tr>
              <a:tr h="331751">
                <a:tc>
                  <a:txBody>
                    <a:bodyPr/>
                    <a:lstStyle/>
                    <a:p>
                      <a:pPr algn="ctr" fontAlgn="b"/>
                      <a:r>
                        <a:rPr lang="en-US" sz="1000" u="none" strike="noStrike" dirty="0">
                          <a:effectLst/>
                          <a:latin typeface="+mn-lt"/>
                        </a:rPr>
                        <a:t>2015 Q3</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b="0" i="0" u="none" strike="noStrike">
                          <a:solidFill>
                            <a:srgbClr val="FF0000"/>
                          </a:solidFill>
                          <a:effectLst/>
                          <a:latin typeface="+mn-lt"/>
                        </a:rPr>
                        <a:t>-0.2%</a:t>
                      </a:r>
                    </a:p>
                  </a:txBody>
                  <a:tcPr marL="9525" marR="9525" marT="9525" marB="0" anchor="ctr"/>
                </a:tc>
                <a:tc>
                  <a:txBody>
                    <a:bodyPr/>
                    <a:lstStyle/>
                    <a:p>
                      <a:pPr algn="ctr" fontAlgn="b"/>
                      <a:r>
                        <a:rPr lang="en-US" sz="1000" b="0" i="0" u="none" strike="noStrike" dirty="0">
                          <a:solidFill>
                            <a:srgbClr val="FF0000"/>
                          </a:solidFill>
                          <a:effectLst/>
                          <a:latin typeface="+mn-lt"/>
                        </a:rPr>
                        <a:t>-0.8%</a:t>
                      </a:r>
                    </a:p>
                  </a:txBody>
                  <a:tcPr marL="9525" marR="9525" marT="9525" marB="0" anchor="ctr"/>
                </a:tc>
                <a:tc>
                  <a:txBody>
                    <a:bodyPr/>
                    <a:lstStyle/>
                    <a:p>
                      <a:pPr algn="ctr" fontAlgn="b"/>
                      <a:r>
                        <a:rPr lang="en-US" sz="1000" b="0" i="0" u="none" strike="noStrike" dirty="0">
                          <a:solidFill>
                            <a:srgbClr val="000000"/>
                          </a:solidFill>
                          <a:effectLst/>
                          <a:latin typeface="+mn-lt"/>
                        </a:rPr>
                        <a:t>0.1%</a:t>
                      </a:r>
                    </a:p>
                  </a:txBody>
                  <a:tcPr marL="9525" marR="9525" marT="9525" marB="0" anchor="ctr"/>
                </a:tc>
                <a:tc>
                  <a:txBody>
                    <a:bodyPr/>
                    <a:lstStyle/>
                    <a:p>
                      <a:pPr algn="ctr" fontAlgn="b"/>
                      <a:r>
                        <a:rPr lang="en-US" sz="1000" b="0" i="0" u="none" strike="noStrike" dirty="0">
                          <a:solidFill>
                            <a:srgbClr val="FF0000"/>
                          </a:solidFill>
                          <a:effectLst/>
                          <a:latin typeface="+mn-lt"/>
                        </a:rPr>
                        <a:t>-2.1%</a:t>
                      </a:r>
                    </a:p>
                  </a:txBody>
                  <a:tcPr marL="9525" marR="9525" marT="9525" marB="0" anchor="ctr"/>
                </a:tc>
                <a:tc>
                  <a:txBody>
                    <a:bodyPr/>
                    <a:lstStyle/>
                    <a:p>
                      <a:pPr algn="ctr" fontAlgn="b"/>
                      <a:r>
                        <a:rPr lang="en-US" sz="1000" b="0" i="0" u="none" strike="noStrike">
                          <a:solidFill>
                            <a:srgbClr val="FF0000"/>
                          </a:solidFill>
                          <a:effectLst/>
                          <a:latin typeface="+mn-lt"/>
                        </a:rPr>
                        <a:t>-2.8%</a:t>
                      </a:r>
                    </a:p>
                  </a:txBody>
                  <a:tcPr marL="9525" marR="9525" marT="9525" marB="0" anchor="ctr"/>
                </a:tc>
                <a:tc>
                  <a:txBody>
                    <a:bodyPr/>
                    <a:lstStyle/>
                    <a:p>
                      <a:pPr algn="ctr" fontAlgn="b"/>
                      <a:r>
                        <a:rPr lang="en-US" sz="1000" b="0" i="0" u="none" strike="noStrike">
                          <a:solidFill>
                            <a:srgbClr val="FF0000"/>
                          </a:solidFill>
                          <a:effectLst/>
                          <a:latin typeface="+mn-lt"/>
                        </a:rPr>
                        <a:t>-3.3%</a:t>
                      </a:r>
                    </a:p>
                  </a:txBody>
                  <a:tcPr marL="9525" marR="9525" marT="9525" marB="0" anchor="ctr"/>
                </a:tc>
                <a:tc>
                  <a:txBody>
                    <a:bodyPr/>
                    <a:lstStyle/>
                    <a:p>
                      <a:pPr algn="ctr" fontAlgn="b"/>
                      <a:r>
                        <a:rPr lang="en-US" sz="1000" b="0" i="0" u="none" strike="noStrike" dirty="0">
                          <a:solidFill>
                            <a:srgbClr val="FF0000"/>
                          </a:solidFill>
                          <a:effectLst/>
                          <a:latin typeface="+mn-lt"/>
                        </a:rPr>
                        <a:t>-1.3%</a:t>
                      </a:r>
                    </a:p>
                  </a:txBody>
                  <a:tcPr marL="9525" marR="9525" marT="9525" marB="0" anchor="ctr"/>
                </a:tc>
                <a:tc>
                  <a:txBody>
                    <a:bodyPr/>
                    <a:lstStyle/>
                    <a:p>
                      <a:pPr algn="ctr" fontAlgn="b"/>
                      <a:r>
                        <a:rPr lang="en-US" sz="1000" b="0" i="0" u="none" strike="noStrike" dirty="0">
                          <a:solidFill>
                            <a:srgbClr val="FF0000"/>
                          </a:solidFill>
                          <a:effectLst/>
                          <a:latin typeface="+mn-lt"/>
                        </a:rPr>
                        <a:t>-3.0%</a:t>
                      </a:r>
                    </a:p>
                  </a:txBody>
                  <a:tcPr marL="9525" marR="9525" marT="9525" marB="0" anchor="ctr"/>
                </a:tc>
                <a:tc>
                  <a:txBody>
                    <a:bodyPr/>
                    <a:lstStyle/>
                    <a:p>
                      <a:pPr algn="ctr" fontAlgn="b"/>
                      <a:r>
                        <a:rPr lang="en-US" sz="1000" b="0" i="0" u="none" strike="noStrike">
                          <a:solidFill>
                            <a:srgbClr val="FF0000"/>
                          </a:solidFill>
                          <a:effectLst/>
                          <a:latin typeface="+mn-lt"/>
                        </a:rPr>
                        <a:t>-3.9%</a:t>
                      </a:r>
                    </a:p>
                  </a:txBody>
                  <a:tcPr marL="9525" marR="9525" marT="9525" marB="0" anchor="ctr"/>
                </a:tc>
                <a:tc>
                  <a:txBody>
                    <a:bodyPr/>
                    <a:lstStyle/>
                    <a:p>
                      <a:pPr algn="ctr" fontAlgn="b"/>
                      <a:r>
                        <a:rPr lang="en-US" sz="1000" b="0" i="0" u="none" strike="noStrike">
                          <a:solidFill>
                            <a:srgbClr val="FF0000"/>
                          </a:solidFill>
                          <a:effectLst/>
                          <a:latin typeface="+mn-lt"/>
                        </a:rPr>
                        <a:t>-3.2%</a:t>
                      </a:r>
                    </a:p>
                  </a:txBody>
                  <a:tcPr marL="9525" marR="9525" marT="9525" marB="0" anchor="ctr"/>
                </a:tc>
                <a:tc>
                  <a:txBody>
                    <a:bodyPr/>
                    <a:lstStyle/>
                    <a:p>
                      <a:pPr algn="ctr" fontAlgn="b"/>
                      <a:r>
                        <a:rPr lang="en-US" sz="1000" b="0" i="0" u="none" strike="noStrike">
                          <a:solidFill>
                            <a:srgbClr val="FF0000"/>
                          </a:solidFill>
                          <a:effectLst/>
                          <a:latin typeface="+mn-lt"/>
                        </a:rPr>
                        <a:t>-2.9%</a:t>
                      </a:r>
                    </a:p>
                  </a:txBody>
                  <a:tcPr marL="9525" marR="9525" marT="9525" marB="0" anchor="ctr"/>
                </a:tc>
              </a:tr>
              <a:tr h="331751">
                <a:tc>
                  <a:txBody>
                    <a:bodyPr/>
                    <a:lstStyle/>
                    <a:p>
                      <a:pPr algn="ctr" fontAlgn="b"/>
                      <a:r>
                        <a:rPr lang="en-US" sz="1000" u="none" strike="noStrike" dirty="0">
                          <a:effectLst/>
                          <a:latin typeface="+mn-lt"/>
                        </a:rPr>
                        <a:t>2015 </a:t>
                      </a:r>
                      <a:r>
                        <a:rPr lang="en-US" sz="1000" u="none" strike="noStrike" dirty="0" smtClean="0">
                          <a:effectLst/>
                          <a:latin typeface="+mn-lt"/>
                        </a:rPr>
                        <a:t>Q4</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b="0" i="0" u="none" strike="noStrike" dirty="0" smtClean="0">
                          <a:solidFill>
                            <a:srgbClr val="000000"/>
                          </a:solidFill>
                          <a:effectLst/>
                          <a:latin typeface="+mn-lt"/>
                        </a:rPr>
                        <a:t>1.0%</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b="0" i="0" u="none" strike="noStrike" dirty="0" smtClean="0">
                          <a:solidFill>
                            <a:srgbClr val="000000"/>
                          </a:solidFill>
                          <a:effectLst/>
                          <a:latin typeface="+mn-lt"/>
                        </a:rPr>
                        <a:t>1.9%</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b="0" i="0" u="none" strike="noStrike" dirty="0" smtClean="0">
                          <a:solidFill>
                            <a:srgbClr val="000000"/>
                          </a:solidFill>
                          <a:effectLst/>
                          <a:latin typeface="+mn-lt"/>
                        </a:rPr>
                        <a:t>3.2%</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b="0" i="0" u="none" strike="noStrike" dirty="0" smtClean="0">
                          <a:solidFill>
                            <a:srgbClr val="000000"/>
                          </a:solidFill>
                          <a:effectLst/>
                          <a:latin typeface="+mn-lt"/>
                        </a:rPr>
                        <a:t>1.6%</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b="0" i="0" u="none" strike="noStrike" dirty="0" smtClean="0">
                          <a:solidFill>
                            <a:srgbClr val="000000"/>
                          </a:solidFill>
                          <a:effectLst/>
                          <a:latin typeface="+mn-lt"/>
                        </a:rPr>
                        <a:t>2.7%</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b="0" i="0" u="none" strike="noStrike" dirty="0" smtClean="0">
                          <a:solidFill>
                            <a:srgbClr val="000000"/>
                          </a:solidFill>
                          <a:effectLst/>
                          <a:latin typeface="+mn-lt"/>
                        </a:rPr>
                        <a:t>3.5%</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b="0" i="0" u="none" strike="noStrike" dirty="0" smtClean="0">
                          <a:solidFill>
                            <a:srgbClr val="000000"/>
                          </a:solidFill>
                          <a:effectLst/>
                          <a:latin typeface="+mn-lt"/>
                        </a:rPr>
                        <a:t>3.7%</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b="0" i="0" u="none" strike="noStrike" dirty="0" smtClean="0">
                          <a:solidFill>
                            <a:srgbClr val="000000"/>
                          </a:solidFill>
                          <a:effectLst/>
                          <a:latin typeface="+mn-lt"/>
                        </a:rPr>
                        <a:t>4.0%</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b="0" i="0" u="none" strike="noStrike" dirty="0" smtClean="0">
                          <a:solidFill>
                            <a:srgbClr val="000000"/>
                          </a:solidFill>
                          <a:effectLst/>
                          <a:latin typeface="+mn-lt"/>
                        </a:rPr>
                        <a:t>3.4%</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b="0" i="0" u="none" strike="noStrike" dirty="0" smtClean="0">
                          <a:solidFill>
                            <a:srgbClr val="000000"/>
                          </a:solidFill>
                          <a:effectLst/>
                          <a:latin typeface="+mn-lt"/>
                        </a:rPr>
                        <a:t>3.5%</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b="0" i="0" u="none" strike="noStrike" dirty="0" smtClean="0">
                          <a:solidFill>
                            <a:srgbClr val="000000"/>
                          </a:solidFill>
                          <a:effectLst/>
                          <a:latin typeface="+mn-lt"/>
                        </a:rPr>
                        <a:t>7.4%</a:t>
                      </a:r>
                      <a:endParaRPr lang="en-US" sz="1000" b="0" i="0" u="none" strike="noStrike" dirty="0">
                        <a:solidFill>
                          <a:srgbClr val="000000"/>
                        </a:solidFill>
                        <a:effectLst/>
                        <a:latin typeface="+mn-lt"/>
                      </a:endParaRPr>
                    </a:p>
                  </a:txBody>
                  <a:tcPr marL="9525" marR="9525" marT="9525" marB="0" anchor="ctr"/>
                </a:tc>
              </a:tr>
              <a:tr h="331751">
                <a:tc>
                  <a:txBody>
                    <a:bodyPr/>
                    <a:lstStyle/>
                    <a:p>
                      <a:pPr algn="ctr" fontAlgn="b"/>
                      <a:r>
                        <a:rPr lang="en-US" sz="1000" u="none" strike="noStrike" dirty="0" smtClean="0">
                          <a:effectLst/>
                          <a:latin typeface="+mn-lt"/>
                        </a:rPr>
                        <a:t>Annual </a:t>
                      </a:r>
                      <a:r>
                        <a:rPr lang="en-US" sz="1000" u="none" strike="noStrike" dirty="0">
                          <a:effectLst/>
                          <a:latin typeface="+mn-lt"/>
                        </a:rPr>
                        <a:t>Return(%)</a:t>
                      </a:r>
                      <a:endParaRPr lang="en-US" sz="1000" b="0" i="0" u="none" strike="noStrike" dirty="0">
                        <a:solidFill>
                          <a:srgbClr val="000000"/>
                        </a:solidFill>
                        <a:effectLst/>
                        <a:latin typeface="+mn-lt"/>
                      </a:endParaRPr>
                    </a:p>
                  </a:txBody>
                  <a:tcPr marL="9525" marR="9525" marT="9525" marB="0" anchor="ctr"/>
                </a:tc>
                <a:tc>
                  <a:txBody>
                    <a:bodyPr/>
                    <a:lstStyle/>
                    <a:p>
                      <a:pPr algn="ctr" fontAlgn="b"/>
                      <a:r>
                        <a:rPr lang="en-US" sz="1000" b="1" i="0" u="none" strike="noStrike" dirty="0">
                          <a:solidFill>
                            <a:srgbClr val="FF0000"/>
                          </a:solidFill>
                          <a:effectLst/>
                          <a:latin typeface="+mn-lt"/>
                        </a:rPr>
                        <a:t>-</a:t>
                      </a:r>
                      <a:r>
                        <a:rPr lang="en-US" sz="1000" b="1" i="0" u="none" strike="noStrike" dirty="0" smtClean="0">
                          <a:solidFill>
                            <a:srgbClr val="FF0000"/>
                          </a:solidFill>
                          <a:effectLst/>
                          <a:latin typeface="+mn-lt"/>
                        </a:rPr>
                        <a:t>11.2%</a:t>
                      </a:r>
                      <a:endParaRPr lang="en-US" sz="1000" b="1" i="0" u="none" strike="noStrike" dirty="0">
                        <a:solidFill>
                          <a:srgbClr val="FF0000"/>
                        </a:solidFill>
                        <a:effectLst/>
                        <a:latin typeface="+mn-lt"/>
                      </a:endParaRPr>
                    </a:p>
                  </a:txBody>
                  <a:tcPr marL="9525" marR="9525" marT="9525" marB="0" anchor="ctr"/>
                </a:tc>
                <a:tc>
                  <a:txBody>
                    <a:bodyPr/>
                    <a:lstStyle/>
                    <a:p>
                      <a:pPr algn="ctr" fontAlgn="b"/>
                      <a:r>
                        <a:rPr lang="en-US" sz="1000" b="1" i="0" u="none" strike="noStrike" dirty="0">
                          <a:solidFill>
                            <a:srgbClr val="FF0000"/>
                          </a:solidFill>
                          <a:effectLst/>
                          <a:latin typeface="+mn-lt"/>
                        </a:rPr>
                        <a:t>-</a:t>
                      </a:r>
                      <a:r>
                        <a:rPr lang="en-US" sz="1000" b="1" i="0" u="none" strike="noStrike" dirty="0" smtClean="0">
                          <a:solidFill>
                            <a:srgbClr val="FF0000"/>
                          </a:solidFill>
                          <a:effectLst/>
                          <a:latin typeface="+mn-lt"/>
                        </a:rPr>
                        <a:t>12.3%</a:t>
                      </a:r>
                      <a:endParaRPr lang="en-US" sz="1000" b="1" i="0" u="none" strike="noStrike" dirty="0">
                        <a:solidFill>
                          <a:srgbClr val="FF0000"/>
                        </a:solidFill>
                        <a:effectLst/>
                        <a:latin typeface="+mn-lt"/>
                      </a:endParaRPr>
                    </a:p>
                  </a:txBody>
                  <a:tcPr marL="9525" marR="9525" marT="9525" marB="0" anchor="ctr"/>
                </a:tc>
                <a:tc>
                  <a:txBody>
                    <a:bodyPr/>
                    <a:lstStyle/>
                    <a:p>
                      <a:pPr algn="ctr" fontAlgn="b"/>
                      <a:r>
                        <a:rPr lang="en-US" sz="1000" b="1" i="0" u="none" strike="noStrike" dirty="0" smtClean="0">
                          <a:solidFill>
                            <a:srgbClr val="000000"/>
                          </a:solidFill>
                          <a:effectLst/>
                          <a:latin typeface="+mn-lt"/>
                        </a:rPr>
                        <a:t>5.9%</a:t>
                      </a:r>
                      <a:endParaRPr lang="en-US" sz="1000" b="1" i="0" u="none" strike="noStrike" dirty="0">
                        <a:solidFill>
                          <a:srgbClr val="000000"/>
                        </a:solidFill>
                        <a:effectLst/>
                        <a:latin typeface="+mn-lt"/>
                      </a:endParaRPr>
                    </a:p>
                  </a:txBody>
                  <a:tcPr marL="9525" marR="9525" marT="9525" marB="0" anchor="ctr"/>
                </a:tc>
                <a:tc>
                  <a:txBody>
                    <a:bodyPr/>
                    <a:lstStyle/>
                    <a:p>
                      <a:pPr algn="ctr" fontAlgn="b"/>
                      <a:r>
                        <a:rPr lang="en-US" sz="1000" b="1" i="0" u="none" strike="noStrike" dirty="0" smtClean="0">
                          <a:solidFill>
                            <a:srgbClr val="FF0000"/>
                          </a:solidFill>
                          <a:effectLst/>
                          <a:latin typeface="+mn-lt"/>
                        </a:rPr>
                        <a:t>-7.0%</a:t>
                      </a:r>
                      <a:endParaRPr lang="en-US" sz="1000" b="1" i="0" u="none" strike="noStrike" dirty="0">
                        <a:solidFill>
                          <a:srgbClr val="FF0000"/>
                        </a:solidFill>
                        <a:effectLst/>
                        <a:latin typeface="+mn-lt"/>
                      </a:endParaRPr>
                    </a:p>
                  </a:txBody>
                  <a:tcPr marL="9525" marR="9525" marT="9525" marB="0" anchor="ctr"/>
                </a:tc>
                <a:tc>
                  <a:txBody>
                    <a:bodyPr/>
                    <a:lstStyle/>
                    <a:p>
                      <a:pPr algn="ctr" fontAlgn="b"/>
                      <a:r>
                        <a:rPr lang="en-US" sz="1000" b="1" i="0" u="none" strike="noStrike" dirty="0">
                          <a:solidFill>
                            <a:srgbClr val="FF0000"/>
                          </a:solidFill>
                          <a:effectLst/>
                          <a:latin typeface="+mn-lt"/>
                        </a:rPr>
                        <a:t>-7.8%</a:t>
                      </a:r>
                    </a:p>
                  </a:txBody>
                  <a:tcPr marL="9525" marR="9525" marT="9525" marB="0" anchor="ctr"/>
                </a:tc>
                <a:tc>
                  <a:txBody>
                    <a:bodyPr/>
                    <a:lstStyle/>
                    <a:p>
                      <a:pPr algn="ctr" fontAlgn="b"/>
                      <a:r>
                        <a:rPr lang="en-US" sz="1000" b="1" i="0" u="none" strike="noStrike" dirty="0">
                          <a:solidFill>
                            <a:srgbClr val="FF0000"/>
                          </a:solidFill>
                          <a:effectLst/>
                          <a:latin typeface="+mn-lt"/>
                        </a:rPr>
                        <a:t>-</a:t>
                      </a:r>
                      <a:r>
                        <a:rPr lang="en-US" sz="1000" b="1" i="0" u="none" strike="noStrike" dirty="0" smtClean="0">
                          <a:solidFill>
                            <a:srgbClr val="FF0000"/>
                          </a:solidFill>
                          <a:effectLst/>
                          <a:latin typeface="+mn-lt"/>
                        </a:rPr>
                        <a:t>6.0%</a:t>
                      </a:r>
                      <a:endParaRPr lang="en-US" sz="1000" b="1" i="0" u="none" strike="noStrike" dirty="0">
                        <a:solidFill>
                          <a:srgbClr val="FF0000"/>
                        </a:solidFill>
                        <a:effectLst/>
                        <a:latin typeface="+mn-lt"/>
                      </a:endParaRPr>
                    </a:p>
                  </a:txBody>
                  <a:tcPr marL="9525" marR="9525" marT="9525" marB="0" anchor="ctr"/>
                </a:tc>
                <a:tc>
                  <a:txBody>
                    <a:bodyPr/>
                    <a:lstStyle/>
                    <a:p>
                      <a:pPr algn="ctr" fontAlgn="b"/>
                      <a:r>
                        <a:rPr lang="en-US" sz="1000" b="1" i="0" u="none" strike="noStrike" dirty="0" smtClean="0">
                          <a:solidFill>
                            <a:srgbClr val="000000"/>
                          </a:solidFill>
                          <a:effectLst/>
                          <a:latin typeface="+mn-lt"/>
                        </a:rPr>
                        <a:t>10.1%</a:t>
                      </a:r>
                      <a:endParaRPr lang="en-US" sz="1000" b="1" i="0" u="none" strike="noStrike" dirty="0">
                        <a:solidFill>
                          <a:srgbClr val="000000"/>
                        </a:solidFill>
                        <a:effectLst/>
                        <a:latin typeface="+mn-lt"/>
                      </a:endParaRPr>
                    </a:p>
                  </a:txBody>
                  <a:tcPr marL="9525" marR="9525" marT="9525" marB="0" anchor="ctr"/>
                </a:tc>
                <a:tc>
                  <a:txBody>
                    <a:bodyPr/>
                    <a:lstStyle/>
                    <a:p>
                      <a:pPr algn="ctr" fontAlgn="b"/>
                      <a:r>
                        <a:rPr lang="en-US" sz="1000" b="1" i="0" u="none" strike="noStrike" dirty="0" smtClean="0">
                          <a:solidFill>
                            <a:srgbClr val="000000"/>
                          </a:solidFill>
                          <a:effectLst/>
                          <a:latin typeface="+mn-lt"/>
                        </a:rPr>
                        <a:t>1.8%</a:t>
                      </a:r>
                      <a:endParaRPr lang="en-US" sz="1000" b="1" i="0" u="none" strike="noStrike" dirty="0">
                        <a:solidFill>
                          <a:srgbClr val="000000"/>
                        </a:solidFill>
                        <a:effectLst/>
                        <a:latin typeface="+mn-lt"/>
                      </a:endParaRPr>
                    </a:p>
                  </a:txBody>
                  <a:tcPr marL="9525" marR="9525" marT="9525" marB="0" anchor="ctr"/>
                </a:tc>
                <a:tc>
                  <a:txBody>
                    <a:bodyPr/>
                    <a:lstStyle/>
                    <a:p>
                      <a:pPr algn="ctr" fontAlgn="b"/>
                      <a:r>
                        <a:rPr lang="en-US" sz="1000" b="1" i="0" u="none" strike="noStrike" dirty="0" smtClean="0">
                          <a:solidFill>
                            <a:srgbClr val="FF0000"/>
                          </a:solidFill>
                          <a:effectLst/>
                          <a:latin typeface="+mn-lt"/>
                        </a:rPr>
                        <a:t>-1.1%</a:t>
                      </a:r>
                      <a:endParaRPr lang="en-US" sz="1000" b="1" i="0" u="none" strike="noStrike" dirty="0">
                        <a:solidFill>
                          <a:srgbClr val="FF0000"/>
                        </a:solidFill>
                        <a:effectLst/>
                        <a:latin typeface="+mn-lt"/>
                      </a:endParaRPr>
                    </a:p>
                  </a:txBody>
                  <a:tcPr marL="9525" marR="9525" marT="9525" marB="0" anchor="ctr"/>
                </a:tc>
                <a:tc>
                  <a:txBody>
                    <a:bodyPr/>
                    <a:lstStyle/>
                    <a:p>
                      <a:pPr algn="ctr" fontAlgn="b"/>
                      <a:r>
                        <a:rPr lang="en-US" sz="1000" b="1" i="0" u="none" strike="noStrike" dirty="0">
                          <a:solidFill>
                            <a:srgbClr val="FF0000"/>
                          </a:solidFill>
                          <a:effectLst/>
                          <a:latin typeface="+mn-lt"/>
                        </a:rPr>
                        <a:t>-</a:t>
                      </a:r>
                      <a:r>
                        <a:rPr lang="en-US" sz="1000" b="1" i="0" u="none" strike="noStrike" dirty="0" smtClean="0">
                          <a:solidFill>
                            <a:srgbClr val="FF0000"/>
                          </a:solidFill>
                          <a:effectLst/>
                          <a:latin typeface="+mn-lt"/>
                        </a:rPr>
                        <a:t>1.7%</a:t>
                      </a:r>
                      <a:endParaRPr lang="en-US" sz="1000" b="1" i="0" u="none" strike="noStrike" dirty="0">
                        <a:solidFill>
                          <a:srgbClr val="FF0000"/>
                        </a:solidFill>
                        <a:effectLst/>
                        <a:latin typeface="+mn-lt"/>
                      </a:endParaRPr>
                    </a:p>
                  </a:txBody>
                  <a:tcPr marL="9525" marR="9525" marT="9525" marB="0" anchor="ctr"/>
                </a:tc>
                <a:tc>
                  <a:txBody>
                    <a:bodyPr/>
                    <a:lstStyle/>
                    <a:p>
                      <a:pPr algn="ctr" fontAlgn="b"/>
                      <a:r>
                        <a:rPr lang="en-US" sz="1000" b="1" i="0" u="none" strike="noStrike" dirty="0" smtClean="0">
                          <a:solidFill>
                            <a:srgbClr val="000000"/>
                          </a:solidFill>
                          <a:effectLst/>
                          <a:latin typeface="+mn-lt"/>
                        </a:rPr>
                        <a:t>3.6%</a:t>
                      </a:r>
                      <a:endParaRPr lang="en-US" sz="1000" b="1" i="0" u="none" strike="noStrike" dirty="0">
                        <a:solidFill>
                          <a:srgbClr val="000000"/>
                        </a:solidFill>
                        <a:effectLst/>
                        <a:latin typeface="+mn-lt"/>
                      </a:endParaRPr>
                    </a:p>
                  </a:txBody>
                  <a:tcPr marL="9525" marR="9525" marT="9525" marB="0" anchor="ctr"/>
                </a:tc>
              </a:tr>
            </a:tbl>
          </a:graphicData>
        </a:graphic>
      </p:graphicFrame>
      <p:sp>
        <p:nvSpPr>
          <p:cNvPr id="9" name="Title 1"/>
          <p:cNvSpPr txBox="1">
            <a:spLocks/>
          </p:cNvSpPr>
          <p:nvPr/>
        </p:nvSpPr>
        <p:spPr bwMode="auto">
          <a:xfrm>
            <a:off x="2289977" y="228600"/>
            <a:ext cx="6618287" cy="568325"/>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914400"/>
            <a:r>
              <a:rPr lang="en-US" kern="0" dirty="0"/>
              <a:t>PREPAYMENT BETA IN 2015</a:t>
            </a:r>
          </a:p>
        </p:txBody>
      </p:sp>
    </p:spTree>
    <p:extLst>
      <p:ext uri="{BB962C8B-B14F-4D97-AF65-F5344CB8AC3E}">
        <p14:creationId xmlns:p14="http://schemas.microsoft.com/office/powerpoint/2010/main" val="8782136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56615" y="228600"/>
            <a:ext cx="5958785" cy="528355"/>
          </a:xfrm>
        </p:spPr>
        <p:txBody>
          <a:bodyPr/>
          <a:lstStyle/>
          <a:p>
            <a:r>
              <a:rPr lang="en-US" dirty="0" smtClean="0"/>
              <a:t>CELLO PERFORMANCE AND DRIVERS OF RETURNS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21549443"/>
              </p:ext>
            </p:extLst>
          </p:nvPr>
        </p:nvGraphicFramePr>
        <p:xfrm>
          <a:off x="3618048" y="990600"/>
          <a:ext cx="5297352" cy="4146175"/>
        </p:xfrm>
        <a:graphic>
          <a:graphicData uri="http://schemas.openxmlformats.org/drawingml/2006/table">
            <a:tbl>
              <a:tblPr/>
              <a:tblGrid>
                <a:gridCol w="760390"/>
                <a:gridCol w="924019"/>
                <a:gridCol w="924019"/>
                <a:gridCol w="924019"/>
                <a:gridCol w="924019"/>
                <a:gridCol w="840886"/>
              </a:tblGrid>
              <a:tr h="497541">
                <a:tc>
                  <a:txBody>
                    <a:bodyPr/>
                    <a:lstStyle/>
                    <a:p>
                      <a:pPr algn="ctr" fontAlgn="ctr"/>
                      <a:r>
                        <a:rPr lang="en-US" sz="1400" b="1" i="0" u="none" strike="noStrike" dirty="0">
                          <a:solidFill>
                            <a:schemeClr val="bg1"/>
                          </a:solidFill>
                          <a:effectLst/>
                          <a:latin typeface="Calibri"/>
                        </a:rPr>
                        <a:t> </a:t>
                      </a:r>
                    </a:p>
                  </a:txBody>
                  <a:tcPr marL="9525" marR="9525" marT="9525"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c>
                  <a:txBody>
                    <a:bodyPr/>
                    <a:lstStyle/>
                    <a:p>
                      <a:pPr algn="ctr" fontAlgn="ctr"/>
                      <a:r>
                        <a:rPr lang="en-US" sz="1400" b="1" i="0" u="none" strike="noStrike" dirty="0" smtClean="0">
                          <a:solidFill>
                            <a:schemeClr val="bg1"/>
                          </a:solidFill>
                          <a:effectLst/>
                          <a:latin typeface="Calibri"/>
                        </a:rPr>
                        <a:t>Bond </a:t>
                      </a:r>
                      <a:r>
                        <a:rPr lang="en-US" sz="1400" b="1" i="0" u="none" strike="noStrike" dirty="0">
                          <a:solidFill>
                            <a:schemeClr val="bg1"/>
                          </a:solidFill>
                          <a:effectLst/>
                          <a:latin typeface="Calibri"/>
                        </a:rPr>
                        <a:t>Carry</a:t>
                      </a:r>
                    </a:p>
                  </a:txBody>
                  <a:tcPr marL="9525" marR="9525" marT="9525" marB="0" anchor="ctr">
                    <a:lnL w="635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c>
                  <a:txBody>
                    <a:bodyPr/>
                    <a:lstStyle/>
                    <a:p>
                      <a:pPr algn="ctr" fontAlgn="ctr"/>
                      <a:r>
                        <a:rPr lang="en-US" sz="1400" b="1" i="0" u="none" strike="noStrike" dirty="0" smtClean="0">
                          <a:solidFill>
                            <a:schemeClr val="bg1"/>
                          </a:solidFill>
                          <a:effectLst/>
                          <a:latin typeface="Calibri"/>
                        </a:rPr>
                        <a:t>Bond </a:t>
                      </a:r>
                      <a:r>
                        <a:rPr lang="en-US" sz="1400" b="1" i="0" u="none" strike="noStrike" dirty="0">
                          <a:solidFill>
                            <a:schemeClr val="bg1"/>
                          </a:solidFill>
                          <a:effectLst/>
                          <a:latin typeface="Calibri"/>
                        </a:rPr>
                        <a:t>Price P&amp;L</a:t>
                      </a: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c>
                  <a:txBody>
                    <a:bodyPr/>
                    <a:lstStyle/>
                    <a:p>
                      <a:pPr algn="ctr" fontAlgn="ctr"/>
                      <a:r>
                        <a:rPr lang="en-US" sz="1400" b="1" i="0" u="none" strike="noStrike" dirty="0">
                          <a:solidFill>
                            <a:schemeClr val="bg1"/>
                          </a:solidFill>
                          <a:effectLst/>
                          <a:latin typeface="Calibri"/>
                        </a:rPr>
                        <a:t>Hedges</a:t>
                      </a:r>
                    </a:p>
                  </a:txBody>
                  <a:tcPr marL="9525" marR="9525" marT="9525" marB="0" anchor="ctr">
                    <a:lnL>
                      <a:noFill/>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c>
                  <a:txBody>
                    <a:bodyPr/>
                    <a:lstStyle/>
                    <a:p>
                      <a:pPr algn="ctr" fontAlgn="ctr"/>
                      <a:r>
                        <a:rPr lang="en-US" sz="1400" b="1" i="0" u="none" strike="noStrike" dirty="0">
                          <a:solidFill>
                            <a:schemeClr val="bg1"/>
                          </a:solidFill>
                          <a:effectLst/>
                          <a:latin typeface="Calibri"/>
                        </a:rPr>
                        <a:t>Net Return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c>
                  <a:txBody>
                    <a:bodyPr/>
                    <a:lstStyle/>
                    <a:p>
                      <a:pPr algn="ctr" fontAlgn="ctr"/>
                      <a:r>
                        <a:rPr lang="en-US" sz="1400" b="1" i="0" u="none" strike="noStrike" dirty="0" smtClean="0">
                          <a:solidFill>
                            <a:schemeClr val="bg1"/>
                          </a:solidFill>
                          <a:effectLst/>
                          <a:latin typeface="Calibri"/>
                        </a:rPr>
                        <a:t>IO </a:t>
                      </a:r>
                    </a:p>
                    <a:p>
                      <a:pPr algn="ctr" fontAlgn="ctr"/>
                      <a:r>
                        <a:rPr lang="en-US" sz="1400" b="1" i="0" u="none" strike="noStrike" dirty="0" smtClean="0">
                          <a:solidFill>
                            <a:schemeClr val="bg1"/>
                          </a:solidFill>
                          <a:effectLst/>
                          <a:latin typeface="Calibri"/>
                        </a:rPr>
                        <a:t>Beta</a:t>
                      </a:r>
                      <a:endParaRPr lang="en-US" sz="1400" b="1" i="0" u="none" strike="noStrike" dirty="0">
                        <a:solidFill>
                          <a:schemeClr val="bg1"/>
                        </a:solidFill>
                        <a:effectLst/>
                        <a:latin typeface="Calibri"/>
                      </a:endParaRPr>
                    </a:p>
                  </a:txBody>
                  <a:tcPr marL="9525" marR="9525" marT="952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r>
              <a:tr h="331694">
                <a:tc>
                  <a:txBody>
                    <a:bodyPr/>
                    <a:lstStyle/>
                    <a:p>
                      <a:pPr algn="l" fontAlgn="t"/>
                      <a:r>
                        <a:rPr lang="en-US" sz="1400" b="0" i="0" u="none" strike="noStrike" dirty="0">
                          <a:solidFill>
                            <a:srgbClr val="2E398A"/>
                          </a:solidFill>
                          <a:effectLst/>
                          <a:latin typeface="Calibri"/>
                        </a:rPr>
                        <a:t>Q1 2013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ctr" fontAlgn="t"/>
                      <a:r>
                        <a:rPr lang="en-US" sz="1400" b="0" i="0" u="none" strike="noStrike" dirty="0">
                          <a:solidFill>
                            <a:srgbClr val="000000"/>
                          </a:solidFill>
                          <a:effectLst/>
                          <a:latin typeface="Calibri"/>
                        </a:rPr>
                        <a:t>1.61%</a:t>
                      </a: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ctr" fontAlgn="t"/>
                      <a:r>
                        <a:rPr lang="en-US" sz="1400" b="0" i="0" u="none" strike="noStrike">
                          <a:solidFill>
                            <a:srgbClr val="000000"/>
                          </a:solidFill>
                          <a:effectLst/>
                          <a:latin typeface="Calibri"/>
                        </a:rPr>
                        <a:t>1.36%</a:t>
                      </a: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ctr" fontAlgn="t"/>
                      <a:r>
                        <a:rPr lang="en-US" sz="1400" b="0" i="0" u="none" strike="noStrike" dirty="0">
                          <a:solidFill>
                            <a:srgbClr val="FF0000"/>
                          </a:solidFill>
                          <a:effectLst/>
                          <a:latin typeface="Calibri"/>
                        </a:rPr>
                        <a:t>-2.04%</a:t>
                      </a: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ctr" fontAlgn="t"/>
                      <a:r>
                        <a:rPr lang="en-US" sz="1400" b="0" i="0" u="none" strike="noStrike" dirty="0">
                          <a:solidFill>
                            <a:srgbClr val="000000"/>
                          </a:solidFill>
                          <a:effectLst/>
                          <a:latin typeface="Calibri"/>
                        </a:rPr>
                        <a:t>0.93%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ctr" fontAlgn="t"/>
                      <a:r>
                        <a:rPr lang="en-US" sz="1400" b="0" i="0" u="none" strike="noStrike" dirty="0" smtClean="0">
                          <a:solidFill>
                            <a:srgbClr val="000000"/>
                          </a:solidFill>
                          <a:effectLst/>
                          <a:latin typeface="Calibri"/>
                        </a:rPr>
                        <a:t>54%</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FFFFFF"/>
                    </a:solidFill>
                  </a:tcPr>
                </a:tc>
              </a:tr>
              <a:tr h="331694">
                <a:tc>
                  <a:txBody>
                    <a:bodyPr/>
                    <a:lstStyle/>
                    <a:p>
                      <a:pPr algn="l" fontAlgn="t"/>
                      <a:r>
                        <a:rPr lang="en-US" sz="1400" b="0" i="0" u="none" strike="noStrike" dirty="0">
                          <a:solidFill>
                            <a:srgbClr val="2E398A"/>
                          </a:solidFill>
                          <a:effectLst/>
                          <a:latin typeface="Calibri"/>
                        </a:rPr>
                        <a:t>Q2 2013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EFEBE4"/>
                    </a:solidFill>
                  </a:tcPr>
                </a:tc>
                <a:tc>
                  <a:txBody>
                    <a:bodyPr/>
                    <a:lstStyle/>
                    <a:p>
                      <a:pPr algn="ctr" fontAlgn="t"/>
                      <a:r>
                        <a:rPr lang="en-US" sz="1400" b="0" i="0" u="none" strike="noStrike" dirty="0">
                          <a:solidFill>
                            <a:srgbClr val="000000"/>
                          </a:solidFill>
                          <a:effectLst/>
                          <a:latin typeface="Calibri"/>
                        </a:rPr>
                        <a:t>1.54%</a:t>
                      </a:r>
                    </a:p>
                  </a:txBody>
                  <a:tcPr marL="9525" marR="9525" marT="9525" marB="0" anchor="ctr">
                    <a:lnL w="12700" cap="flat" cmpd="sng" algn="ctr">
                      <a:solidFill>
                        <a:schemeClr val="tx1"/>
                      </a:solidFill>
                      <a:prstDash val="solid"/>
                      <a:round/>
                      <a:headEnd type="none" w="med" len="med"/>
                      <a:tailEnd type="none" w="med" len="med"/>
                    </a:lnL>
                    <a:lnR>
                      <a:noFill/>
                    </a:lnR>
                    <a:lnT>
                      <a:noFill/>
                    </a:lnT>
                    <a:lnB>
                      <a:noFill/>
                    </a:lnB>
                    <a:solidFill>
                      <a:srgbClr val="EFEBE4"/>
                    </a:solidFill>
                  </a:tcPr>
                </a:tc>
                <a:tc>
                  <a:txBody>
                    <a:bodyPr/>
                    <a:lstStyle/>
                    <a:p>
                      <a:pPr algn="ctr" fontAlgn="t"/>
                      <a:r>
                        <a:rPr lang="en-US" sz="1400" b="0" i="0" u="none" strike="noStrike" dirty="0">
                          <a:solidFill>
                            <a:srgbClr val="FF0000"/>
                          </a:solidFill>
                          <a:effectLst/>
                          <a:latin typeface="Calibri"/>
                        </a:rPr>
                        <a:t>-0.44%</a:t>
                      </a:r>
                    </a:p>
                  </a:txBody>
                  <a:tcPr marL="9525" marR="9525" marT="9525" marB="0" anchor="ctr">
                    <a:lnL>
                      <a:noFill/>
                    </a:lnL>
                    <a:lnR>
                      <a:noFill/>
                    </a:lnR>
                    <a:lnT>
                      <a:noFill/>
                    </a:lnT>
                    <a:lnB>
                      <a:noFill/>
                    </a:lnB>
                    <a:solidFill>
                      <a:srgbClr val="EFEBE4"/>
                    </a:solidFill>
                  </a:tcPr>
                </a:tc>
                <a:tc>
                  <a:txBody>
                    <a:bodyPr/>
                    <a:lstStyle/>
                    <a:p>
                      <a:pPr algn="ctr" fontAlgn="t"/>
                      <a:r>
                        <a:rPr lang="en-US" sz="1400" b="0" i="0" u="none" strike="noStrike" dirty="0">
                          <a:solidFill>
                            <a:srgbClr val="FF0000"/>
                          </a:solidFill>
                          <a:effectLst/>
                          <a:latin typeface="Calibri"/>
                        </a:rPr>
                        <a:t>-3.27%</a:t>
                      </a:r>
                    </a:p>
                  </a:txBody>
                  <a:tcPr marL="9525" marR="9525" marT="9525" marB="0" anchor="ctr">
                    <a:lnL>
                      <a:noFill/>
                    </a:lnL>
                    <a:lnR w="12700" cap="flat" cmpd="sng" algn="ctr">
                      <a:solidFill>
                        <a:schemeClr val="tx1"/>
                      </a:solidFill>
                      <a:prstDash val="solid"/>
                      <a:round/>
                      <a:headEnd type="none" w="med" len="med"/>
                      <a:tailEnd type="none" w="med" len="med"/>
                    </a:lnR>
                    <a:lnT>
                      <a:noFill/>
                    </a:lnT>
                    <a:lnB>
                      <a:noFill/>
                    </a:lnB>
                    <a:solidFill>
                      <a:srgbClr val="EFEBE4"/>
                    </a:solidFill>
                  </a:tcPr>
                </a:tc>
                <a:tc>
                  <a:txBody>
                    <a:bodyPr/>
                    <a:lstStyle/>
                    <a:p>
                      <a:pPr algn="ctr" fontAlgn="t"/>
                      <a:r>
                        <a:rPr lang="en-US" sz="1400" b="0" i="0" u="none" strike="noStrike" dirty="0">
                          <a:solidFill>
                            <a:srgbClr val="FF0000"/>
                          </a:solidFill>
                          <a:effectLst/>
                          <a:latin typeface="Calibri"/>
                        </a:rPr>
                        <a:t>-2.17%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EFEBE4"/>
                    </a:solidFill>
                  </a:tcPr>
                </a:tc>
                <a:tc>
                  <a:txBody>
                    <a:bodyPr/>
                    <a:lstStyle/>
                    <a:p>
                      <a:pPr algn="ctr" fontAlgn="t"/>
                      <a:r>
                        <a:rPr lang="en-US" sz="1400" b="0" i="0" u="none" strike="noStrike" dirty="0" smtClean="0">
                          <a:solidFill>
                            <a:srgbClr val="000000"/>
                          </a:solidFill>
                          <a:effectLst/>
                          <a:latin typeface="Calibri"/>
                        </a:rPr>
                        <a:t>61%</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EFEBE4"/>
                    </a:solidFill>
                  </a:tcPr>
                </a:tc>
              </a:tr>
              <a:tr h="331694">
                <a:tc>
                  <a:txBody>
                    <a:bodyPr/>
                    <a:lstStyle/>
                    <a:p>
                      <a:pPr algn="l" fontAlgn="t"/>
                      <a:r>
                        <a:rPr lang="en-US" sz="1400" b="0" i="0" u="none" strike="noStrike" dirty="0">
                          <a:solidFill>
                            <a:srgbClr val="2E398A"/>
                          </a:solidFill>
                          <a:effectLst/>
                          <a:latin typeface="Calibri"/>
                        </a:rPr>
                        <a:t>Q3 2013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t"/>
                      <a:r>
                        <a:rPr lang="en-US" sz="1400" b="0" i="0" u="none" strike="noStrike" dirty="0">
                          <a:solidFill>
                            <a:srgbClr val="000000"/>
                          </a:solidFill>
                          <a:effectLst/>
                          <a:latin typeface="Calibri"/>
                        </a:rPr>
                        <a:t>1.17%</a:t>
                      </a:r>
                    </a:p>
                  </a:txBody>
                  <a:tcPr marL="9525" marR="9525" marT="9525" marB="0" anchor="ctr">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ctr" fontAlgn="t"/>
                      <a:r>
                        <a:rPr lang="en-US" sz="1400" b="0" i="0" u="none" strike="noStrike" dirty="0">
                          <a:solidFill>
                            <a:srgbClr val="000000"/>
                          </a:solidFill>
                          <a:effectLst/>
                          <a:latin typeface="Calibri"/>
                        </a:rPr>
                        <a:t>4.90%</a:t>
                      </a:r>
                    </a:p>
                  </a:txBody>
                  <a:tcPr marL="9525" marR="9525" marT="9525" marB="0" anchor="ctr">
                    <a:lnL>
                      <a:noFill/>
                    </a:lnL>
                    <a:lnR>
                      <a:noFill/>
                    </a:lnR>
                    <a:lnT>
                      <a:noFill/>
                    </a:lnT>
                    <a:lnB>
                      <a:noFill/>
                    </a:lnB>
                    <a:solidFill>
                      <a:srgbClr val="FFFFFF"/>
                    </a:solidFill>
                  </a:tcPr>
                </a:tc>
                <a:tc>
                  <a:txBody>
                    <a:bodyPr/>
                    <a:lstStyle/>
                    <a:p>
                      <a:pPr algn="ctr" fontAlgn="t"/>
                      <a:r>
                        <a:rPr lang="en-US" sz="1400" b="0" i="0" u="none" strike="noStrike" dirty="0">
                          <a:solidFill>
                            <a:srgbClr val="FF0000"/>
                          </a:solidFill>
                          <a:effectLst/>
                          <a:latin typeface="Calibri"/>
                        </a:rPr>
                        <a:t>-2.48%</a:t>
                      </a:r>
                    </a:p>
                  </a:txBody>
                  <a:tcPr marL="9525" marR="9525" marT="9525" marB="0" anchor="ctr">
                    <a:lnL>
                      <a:noFill/>
                    </a:lnL>
                    <a:lnR w="1270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t"/>
                      <a:r>
                        <a:rPr lang="en-US" sz="1400" b="0" i="0" u="none" strike="noStrike" dirty="0">
                          <a:solidFill>
                            <a:srgbClr val="000000"/>
                          </a:solidFill>
                          <a:effectLst/>
                          <a:latin typeface="Calibri"/>
                        </a:rPr>
                        <a:t>3.59%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t"/>
                      <a:r>
                        <a:rPr lang="en-US" sz="1400" b="0" i="0" u="none" strike="noStrike" dirty="0" smtClean="0">
                          <a:solidFill>
                            <a:srgbClr val="000000"/>
                          </a:solidFill>
                          <a:effectLst/>
                          <a:latin typeface="Calibri"/>
                        </a:rPr>
                        <a:t>65%</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FFFFFF"/>
                    </a:solidFill>
                  </a:tcPr>
                </a:tc>
              </a:tr>
              <a:tr h="331694">
                <a:tc>
                  <a:txBody>
                    <a:bodyPr/>
                    <a:lstStyle/>
                    <a:p>
                      <a:pPr algn="l" fontAlgn="t"/>
                      <a:r>
                        <a:rPr lang="en-US" sz="1400" b="0" i="0" u="none" strike="noStrike" dirty="0">
                          <a:solidFill>
                            <a:srgbClr val="2E398A"/>
                          </a:solidFill>
                          <a:effectLst/>
                          <a:latin typeface="Calibri"/>
                        </a:rPr>
                        <a:t>Q4 2013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FEBE4"/>
                    </a:solidFill>
                  </a:tcPr>
                </a:tc>
                <a:tc>
                  <a:txBody>
                    <a:bodyPr/>
                    <a:lstStyle/>
                    <a:p>
                      <a:pPr algn="ctr" fontAlgn="t"/>
                      <a:r>
                        <a:rPr lang="en-US" sz="1400" b="0" i="0" u="none" strike="noStrike" dirty="0">
                          <a:solidFill>
                            <a:srgbClr val="000000"/>
                          </a:solidFill>
                          <a:effectLst/>
                          <a:latin typeface="Calibri"/>
                        </a:rPr>
                        <a:t>1.86%</a:t>
                      </a:r>
                    </a:p>
                  </a:txBody>
                  <a:tcPr marL="9525" marR="9525" marT="9525" marB="0"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EFEBE4"/>
                    </a:solidFill>
                  </a:tcPr>
                </a:tc>
                <a:tc>
                  <a:txBody>
                    <a:bodyPr/>
                    <a:lstStyle/>
                    <a:p>
                      <a:pPr algn="ctr" fontAlgn="t"/>
                      <a:r>
                        <a:rPr lang="en-US" sz="1400" b="0" i="0" u="none" strike="noStrike" dirty="0">
                          <a:solidFill>
                            <a:srgbClr val="000000"/>
                          </a:solidFill>
                          <a:effectLst/>
                          <a:latin typeface="Calibri"/>
                        </a:rPr>
                        <a:t>2.80%</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rgbClr val="EFEBE4"/>
                    </a:solidFill>
                  </a:tcPr>
                </a:tc>
                <a:tc>
                  <a:txBody>
                    <a:bodyPr/>
                    <a:lstStyle/>
                    <a:p>
                      <a:pPr algn="ctr" fontAlgn="t"/>
                      <a:r>
                        <a:rPr lang="en-US" sz="1400" b="0" i="0" u="none" strike="noStrike" dirty="0">
                          <a:solidFill>
                            <a:srgbClr val="FF0000"/>
                          </a:solidFill>
                          <a:effectLst/>
                          <a:latin typeface="Calibri"/>
                        </a:rPr>
                        <a:t>-2.19%</a:t>
                      </a:r>
                    </a:p>
                  </a:txBody>
                  <a:tcPr marL="9525" marR="9525" marT="9525"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FEBE4"/>
                    </a:solidFill>
                  </a:tcPr>
                </a:tc>
                <a:tc>
                  <a:txBody>
                    <a:bodyPr/>
                    <a:lstStyle/>
                    <a:p>
                      <a:pPr algn="ctr" fontAlgn="t"/>
                      <a:r>
                        <a:rPr lang="en-US" sz="1400" b="0" i="0" u="none" strike="noStrike" dirty="0">
                          <a:solidFill>
                            <a:srgbClr val="000000"/>
                          </a:solidFill>
                          <a:effectLst/>
                          <a:latin typeface="Calibri"/>
                        </a:rPr>
                        <a:t>2.47%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FEBE4"/>
                    </a:solidFill>
                  </a:tcPr>
                </a:tc>
                <a:tc>
                  <a:txBody>
                    <a:bodyPr/>
                    <a:lstStyle/>
                    <a:p>
                      <a:pPr algn="ctr" fontAlgn="t"/>
                      <a:r>
                        <a:rPr lang="en-US" sz="1400" b="0" i="0" u="none" strike="noStrike" dirty="0" smtClean="0">
                          <a:solidFill>
                            <a:srgbClr val="000000"/>
                          </a:solidFill>
                          <a:effectLst/>
                          <a:latin typeface="Calibri"/>
                        </a:rPr>
                        <a:t>56%</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FEBE4"/>
                    </a:solidFill>
                  </a:tcPr>
                </a:tc>
              </a:tr>
              <a:tr h="331694">
                <a:tc>
                  <a:txBody>
                    <a:bodyPr/>
                    <a:lstStyle/>
                    <a:p>
                      <a:pPr algn="l" fontAlgn="t"/>
                      <a:r>
                        <a:rPr lang="en-US" sz="1400" b="0" i="0" u="none" strike="noStrike" dirty="0" smtClean="0">
                          <a:solidFill>
                            <a:srgbClr val="2E398A"/>
                          </a:solidFill>
                          <a:effectLst/>
                          <a:latin typeface="Calibri"/>
                        </a:rPr>
                        <a:t>Q1 2014</a:t>
                      </a:r>
                      <a:endParaRPr lang="en-US" sz="1400" b="0" i="0" u="none" strike="noStrike" dirty="0">
                        <a:solidFill>
                          <a:srgbClr val="2E398A"/>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400" b="0" i="0" u="none" strike="noStrike" dirty="0" smtClean="0">
                          <a:solidFill>
                            <a:srgbClr val="000000"/>
                          </a:solidFill>
                          <a:effectLst/>
                          <a:latin typeface="Calibri"/>
                        </a:rPr>
                        <a:t>1.89%</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400" b="0" i="0" u="none" strike="noStrike" dirty="0" smtClean="0">
                          <a:solidFill>
                            <a:srgbClr val="000000"/>
                          </a:solidFill>
                          <a:effectLst/>
                          <a:latin typeface="Calibri"/>
                        </a:rPr>
                        <a:t>1.05%</a:t>
                      </a:r>
                      <a:endParaRPr lang="en-US" sz="1400" b="0" i="0" u="none" strike="noStrike" dirty="0">
                        <a:solidFill>
                          <a:srgbClr val="000000"/>
                        </a:solidFill>
                        <a:effectLst/>
                        <a:latin typeface="Calibri"/>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400" b="0" i="0" u="none" strike="noStrike" dirty="0" smtClean="0">
                          <a:solidFill>
                            <a:srgbClr val="000000"/>
                          </a:solidFill>
                          <a:effectLst/>
                          <a:latin typeface="Calibri"/>
                        </a:rPr>
                        <a:t>0.39%</a:t>
                      </a:r>
                      <a:endParaRPr lang="en-US" sz="1400" b="0" i="0" u="none" strike="noStrike" dirty="0">
                        <a:solidFill>
                          <a:srgbClr val="000000"/>
                        </a:solidFill>
                        <a:effectLst/>
                        <a:latin typeface="Calibri"/>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400" b="0" i="0" u="none" strike="noStrike" dirty="0" smtClean="0">
                          <a:solidFill>
                            <a:srgbClr val="000000"/>
                          </a:solidFill>
                          <a:effectLst/>
                          <a:latin typeface="Calibri"/>
                        </a:rPr>
                        <a:t>3.33%</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400" b="0" i="0" u="none" strike="noStrike" dirty="0" smtClean="0">
                          <a:solidFill>
                            <a:srgbClr val="000000"/>
                          </a:solidFill>
                          <a:effectLst/>
                          <a:latin typeface="Calibri"/>
                        </a:rPr>
                        <a:t>51%</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r>
              <a:tr h="331694">
                <a:tc>
                  <a:txBody>
                    <a:bodyPr/>
                    <a:lstStyle/>
                    <a:p>
                      <a:pPr algn="l" fontAlgn="t"/>
                      <a:r>
                        <a:rPr lang="en-US" sz="1400" b="0" i="0" u="none" strike="noStrike" dirty="0" smtClean="0">
                          <a:solidFill>
                            <a:srgbClr val="2E398A"/>
                          </a:solidFill>
                          <a:effectLst/>
                          <a:latin typeface="Calibri"/>
                        </a:rPr>
                        <a:t>Q2 2014</a:t>
                      </a:r>
                      <a:endParaRPr lang="en-US" sz="1400" b="0" i="0" u="none" strike="noStrike" dirty="0">
                        <a:solidFill>
                          <a:srgbClr val="2E398A"/>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solidFill>
                  </a:tcPr>
                </a:tc>
                <a:tc>
                  <a:txBody>
                    <a:bodyPr/>
                    <a:lstStyle/>
                    <a:p>
                      <a:pPr algn="ctr" fontAlgn="t"/>
                      <a:r>
                        <a:rPr lang="en-US" sz="1400" b="0" i="0" u="none" strike="noStrike" dirty="0" smtClean="0">
                          <a:solidFill>
                            <a:srgbClr val="000000"/>
                          </a:solidFill>
                          <a:effectLst/>
                          <a:latin typeface="Calibri"/>
                        </a:rPr>
                        <a:t>1.68%</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solidFill>
                  </a:tcPr>
                </a:tc>
                <a:tc>
                  <a:txBody>
                    <a:bodyPr/>
                    <a:lstStyle/>
                    <a:p>
                      <a:pPr algn="ctr" fontAlgn="t"/>
                      <a:r>
                        <a:rPr lang="en-US" sz="1400" b="0" i="0" u="none" strike="noStrike" dirty="0" smtClean="0">
                          <a:solidFill>
                            <a:srgbClr val="000000"/>
                          </a:solidFill>
                          <a:effectLst/>
                          <a:latin typeface="Calibri"/>
                        </a:rPr>
                        <a:t>1.79%</a:t>
                      </a:r>
                      <a:endParaRPr lang="en-US" sz="1400" b="0" i="0" u="none" strike="noStrike" dirty="0">
                        <a:solidFill>
                          <a:srgbClr val="000000"/>
                        </a:solidFill>
                        <a:effectLst/>
                        <a:latin typeface="Calibri"/>
                      </a:endParaRPr>
                    </a:p>
                  </a:txBody>
                  <a:tcPr marL="9525" marR="9525" marT="9525" marB="0" anchor="ctr">
                    <a:lnL>
                      <a:noFill/>
                    </a:lnL>
                    <a:lnR>
                      <a:noFill/>
                    </a:lnR>
                    <a:lnT w="635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solidFill>
                  </a:tcPr>
                </a:tc>
                <a:tc>
                  <a:txBody>
                    <a:bodyPr/>
                    <a:lstStyle/>
                    <a:p>
                      <a:pPr algn="ctr" fontAlgn="t"/>
                      <a:r>
                        <a:rPr lang="en-US" sz="1400" b="0" i="0" u="none" strike="noStrike" dirty="0" smtClean="0">
                          <a:solidFill>
                            <a:srgbClr val="FF0000"/>
                          </a:solidFill>
                          <a:effectLst/>
                          <a:latin typeface="Calibri"/>
                        </a:rPr>
                        <a:t>-0.62%</a:t>
                      </a:r>
                      <a:endParaRPr lang="en-US" sz="1400" b="0" i="0" u="none" strike="noStrike" dirty="0">
                        <a:solidFill>
                          <a:srgbClr val="FF0000"/>
                        </a:solidFill>
                        <a:effectLst/>
                        <a:latin typeface="Calibri"/>
                      </a:endParaRPr>
                    </a:p>
                  </a:txBody>
                  <a:tcPr marL="9525" marR="9525" marT="9525" marB="0" anchor="ctr">
                    <a:lnL>
                      <a:noFill/>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solidFill>
                  </a:tcPr>
                </a:tc>
                <a:tc>
                  <a:txBody>
                    <a:bodyPr/>
                    <a:lstStyle/>
                    <a:p>
                      <a:pPr algn="ctr" fontAlgn="t"/>
                      <a:r>
                        <a:rPr lang="en-US" sz="1400" b="0" i="0" u="none" strike="noStrike" dirty="0" smtClean="0">
                          <a:solidFill>
                            <a:srgbClr val="000000"/>
                          </a:solidFill>
                          <a:effectLst/>
                          <a:latin typeface="Calibri"/>
                        </a:rPr>
                        <a:t>2.85%</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solidFill>
                  </a:tcPr>
                </a:tc>
                <a:tc>
                  <a:txBody>
                    <a:bodyPr/>
                    <a:lstStyle/>
                    <a:p>
                      <a:pPr algn="ctr" fontAlgn="t"/>
                      <a:r>
                        <a:rPr lang="en-US" sz="1400" b="0" i="0" u="none" strike="noStrike" dirty="0" smtClean="0">
                          <a:solidFill>
                            <a:srgbClr val="000000"/>
                          </a:solidFill>
                          <a:effectLst/>
                          <a:latin typeface="Calibri"/>
                        </a:rPr>
                        <a:t>47%</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solidFill>
                  </a:tcPr>
                </a:tc>
              </a:tr>
              <a:tr h="331694">
                <a:tc>
                  <a:txBody>
                    <a:bodyPr/>
                    <a:lstStyle/>
                    <a:p>
                      <a:pPr algn="l" fontAlgn="t"/>
                      <a:r>
                        <a:rPr lang="en-US" sz="1400" b="0" i="0" u="none" strike="noStrike" dirty="0" smtClean="0">
                          <a:solidFill>
                            <a:srgbClr val="2E398A"/>
                          </a:solidFill>
                          <a:effectLst/>
                          <a:latin typeface="Calibri"/>
                        </a:rPr>
                        <a:t>Q3 2014</a:t>
                      </a:r>
                      <a:endParaRPr lang="en-US" sz="1400" b="0" i="0" u="none" strike="noStrike" dirty="0">
                        <a:solidFill>
                          <a:srgbClr val="2E398A"/>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t"/>
                      <a:r>
                        <a:rPr lang="en-US" sz="1400" b="0" i="0" u="none" strike="noStrike" dirty="0" smtClean="0">
                          <a:solidFill>
                            <a:srgbClr val="000000"/>
                          </a:solidFill>
                          <a:effectLst/>
                          <a:latin typeface="Calibri"/>
                        </a:rPr>
                        <a:t>1.05%</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t"/>
                      <a:r>
                        <a:rPr lang="en-US" sz="1400" b="0" i="0" u="none" strike="noStrike" dirty="0" smtClean="0">
                          <a:solidFill>
                            <a:srgbClr val="FF0000"/>
                          </a:solidFill>
                          <a:effectLst/>
                          <a:latin typeface="Calibri"/>
                        </a:rPr>
                        <a:t>-0.79%</a:t>
                      </a:r>
                      <a:endParaRPr lang="en-US" sz="1400" b="0" i="0" u="none" strike="noStrike" dirty="0">
                        <a:solidFill>
                          <a:srgbClr val="FF0000"/>
                        </a:solidFill>
                        <a:effectLst/>
                        <a:latin typeface="Calibri"/>
                      </a:endParaRPr>
                    </a:p>
                  </a:txBody>
                  <a:tcPr marL="9525" marR="9525" marT="9525" marB="0" anchor="ctr">
                    <a:lnL>
                      <a:noFill/>
                    </a:lnL>
                    <a:lnR>
                      <a:noFill/>
                    </a:lnR>
                    <a:lnT w="635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t"/>
                      <a:r>
                        <a:rPr lang="en-US" sz="1400" b="0" i="0" u="none" strike="noStrike" dirty="0" smtClean="0">
                          <a:solidFill>
                            <a:srgbClr val="000000"/>
                          </a:solidFill>
                          <a:effectLst/>
                          <a:latin typeface="Calibri"/>
                        </a:rPr>
                        <a:t>0.11%</a:t>
                      </a:r>
                      <a:endParaRPr lang="en-US" sz="1400" b="0" i="0" u="none" strike="noStrike" dirty="0">
                        <a:solidFill>
                          <a:srgbClr val="000000"/>
                        </a:solidFill>
                        <a:effectLst/>
                        <a:latin typeface="Calibri"/>
                      </a:endParaRPr>
                    </a:p>
                  </a:txBody>
                  <a:tcPr marL="9525" marR="9525" marT="9525" marB="0" anchor="ctr">
                    <a:lnL>
                      <a:noFill/>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t"/>
                      <a:r>
                        <a:rPr lang="en-US" sz="1400" b="0" i="0" u="none" strike="noStrike" dirty="0" smtClean="0">
                          <a:solidFill>
                            <a:srgbClr val="000000"/>
                          </a:solidFill>
                          <a:effectLst/>
                          <a:latin typeface="Calibri"/>
                        </a:rPr>
                        <a:t>0.37%</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t"/>
                      <a:r>
                        <a:rPr lang="en-US" sz="1400" b="0" i="0" u="none" strike="noStrike" dirty="0" smtClean="0">
                          <a:solidFill>
                            <a:srgbClr val="000000"/>
                          </a:solidFill>
                          <a:effectLst/>
                          <a:latin typeface="Calibri"/>
                        </a:rPr>
                        <a:t>39%</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r>
              <a:tr h="331694">
                <a:tc>
                  <a:txBody>
                    <a:bodyPr/>
                    <a:lstStyle/>
                    <a:p>
                      <a:pPr algn="l" fontAlgn="t"/>
                      <a:r>
                        <a:rPr lang="en-US" sz="1400" b="0" i="0" u="none" strike="noStrike" dirty="0" smtClean="0">
                          <a:solidFill>
                            <a:srgbClr val="2E398A"/>
                          </a:solidFill>
                          <a:effectLst/>
                          <a:latin typeface="Calibri"/>
                        </a:rPr>
                        <a:t>Q4 2014</a:t>
                      </a:r>
                      <a:endParaRPr lang="en-US" sz="1400" b="0" i="0" u="none" strike="noStrike" dirty="0">
                        <a:solidFill>
                          <a:srgbClr val="2E398A"/>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t"/>
                      <a:r>
                        <a:rPr lang="en-US" sz="1400" b="0" i="0" u="none" strike="noStrike" dirty="0" smtClean="0">
                          <a:solidFill>
                            <a:srgbClr val="000000"/>
                          </a:solidFill>
                          <a:effectLst/>
                          <a:latin typeface="Calibri"/>
                        </a:rPr>
                        <a:t>1.08%</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t"/>
                      <a:r>
                        <a:rPr lang="en-US" sz="1400" b="0" i="0" u="none" strike="noStrike" dirty="0" smtClean="0">
                          <a:solidFill>
                            <a:srgbClr val="FF0000"/>
                          </a:solidFill>
                          <a:effectLst/>
                          <a:latin typeface="Calibri"/>
                        </a:rPr>
                        <a:t>-0.54%</a:t>
                      </a:r>
                      <a:endParaRPr lang="en-US" sz="1400" b="0" i="0" u="none" strike="noStrike" dirty="0">
                        <a:solidFill>
                          <a:srgbClr val="FF0000"/>
                        </a:solidFill>
                        <a:effectLst/>
                        <a:latin typeface="Calibri"/>
                      </a:endParaRPr>
                    </a:p>
                  </a:txBody>
                  <a:tcPr marL="9525" marR="9525" marT="9525" marB="0" anchor="ctr">
                    <a:lnL>
                      <a:noFill/>
                    </a:lnL>
                    <a:lnR>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t"/>
                      <a:r>
                        <a:rPr lang="en-US" sz="1400" b="0" i="0" u="none" strike="noStrike" dirty="0" smtClean="0">
                          <a:solidFill>
                            <a:srgbClr val="000000"/>
                          </a:solidFill>
                          <a:effectLst/>
                          <a:latin typeface="Calibri"/>
                        </a:rPr>
                        <a:t>0.45%</a:t>
                      </a:r>
                      <a:endParaRPr lang="en-US" sz="1400" b="0" i="0" u="none" strike="noStrike" dirty="0">
                        <a:solidFill>
                          <a:srgbClr val="000000"/>
                        </a:solidFill>
                        <a:effectLst/>
                        <a:latin typeface="Calibri"/>
                      </a:endParaRPr>
                    </a:p>
                  </a:txBody>
                  <a:tcPr marL="9525" marR="9525" marT="9525" marB="0" anchor="ctr">
                    <a:lnL>
                      <a:noFill/>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t"/>
                      <a:r>
                        <a:rPr lang="en-US" sz="1400" b="0" i="0" u="none" strike="noStrike" dirty="0" smtClean="0">
                          <a:solidFill>
                            <a:srgbClr val="000000"/>
                          </a:solidFill>
                          <a:effectLst/>
                          <a:latin typeface="Calibri"/>
                        </a:rPr>
                        <a:t>0.99%</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t"/>
                      <a:r>
                        <a:rPr lang="en-US" sz="1400" b="0" i="0" u="none" strike="noStrike" dirty="0" smtClean="0">
                          <a:solidFill>
                            <a:srgbClr val="000000"/>
                          </a:solidFill>
                          <a:effectLst/>
                          <a:latin typeface="Calibri"/>
                        </a:rPr>
                        <a:t>26%</a:t>
                      </a:r>
                      <a:endParaRPr lang="en-US" sz="14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r>
              <a:tr h="331694">
                <a:tc>
                  <a:txBody>
                    <a:bodyPr/>
                    <a:lstStyle/>
                    <a:p>
                      <a:pPr algn="l" fontAlgn="t"/>
                      <a:r>
                        <a:rPr lang="en-US" sz="1400" b="0" i="0" u="none" strike="noStrike" dirty="0" smtClean="0">
                          <a:solidFill>
                            <a:srgbClr val="2E398A"/>
                          </a:solidFill>
                          <a:effectLst/>
                          <a:latin typeface="Calibri"/>
                        </a:rPr>
                        <a:t>Q1 2015</a:t>
                      </a:r>
                      <a:endParaRPr lang="en-US" sz="1400" b="0" i="0" u="none" strike="noStrike" dirty="0">
                        <a:solidFill>
                          <a:srgbClr val="2E398A"/>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t"/>
                      <a:r>
                        <a:rPr lang="en-US" sz="1400" b="0" i="0" u="none" strike="noStrike" dirty="0" smtClean="0">
                          <a:solidFill>
                            <a:schemeClr val="tx1"/>
                          </a:solidFill>
                          <a:effectLst/>
                          <a:latin typeface="Calibri"/>
                        </a:rPr>
                        <a:t>1.13%</a:t>
                      </a:r>
                      <a:endParaRPr lang="en-US" sz="1400" b="0" i="0" u="none" strike="noStrike" dirty="0">
                        <a:solidFill>
                          <a:schemeClr val="tx1"/>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t"/>
                      <a:r>
                        <a:rPr lang="en-US" sz="1400" b="0" i="0" u="none" strike="noStrike" dirty="0" smtClean="0">
                          <a:solidFill>
                            <a:srgbClr val="FF0000"/>
                          </a:solidFill>
                          <a:effectLst/>
                          <a:latin typeface="Calibri"/>
                        </a:rPr>
                        <a:t>-0.21%</a:t>
                      </a:r>
                      <a:endParaRPr lang="en-US" sz="1400" b="0" i="0" u="none" strike="noStrike" dirty="0">
                        <a:solidFill>
                          <a:srgbClr val="FF0000"/>
                        </a:solidFill>
                        <a:effectLst/>
                        <a:latin typeface="Calibri"/>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t"/>
                      <a:r>
                        <a:rPr lang="en-US" sz="1400" b="0" i="0" u="none" strike="noStrike" dirty="0" smtClean="0">
                          <a:solidFill>
                            <a:srgbClr val="FF0000"/>
                          </a:solidFill>
                          <a:effectLst/>
                          <a:latin typeface="Calibri"/>
                        </a:rPr>
                        <a:t>-0.84%</a:t>
                      </a:r>
                      <a:endParaRPr lang="en-US" sz="1400" b="0" i="0" u="none" strike="noStrike" dirty="0">
                        <a:solidFill>
                          <a:srgbClr val="FF0000"/>
                        </a:solidFill>
                        <a:effectLst/>
                        <a:latin typeface="Calibri"/>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t"/>
                      <a:r>
                        <a:rPr lang="en-US" sz="1400" b="0" i="0" u="none" strike="noStrike" dirty="0" smtClean="0">
                          <a:solidFill>
                            <a:schemeClr val="tx1"/>
                          </a:solidFill>
                          <a:effectLst/>
                          <a:latin typeface="Calibri"/>
                        </a:rPr>
                        <a:t>0.07%</a:t>
                      </a:r>
                      <a:endParaRPr lang="en-US" sz="1400" b="0" i="0" u="none" strike="noStrike" dirty="0">
                        <a:solidFill>
                          <a:schemeClr val="tx1"/>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t"/>
                      <a:r>
                        <a:rPr lang="en-US" sz="1400" b="0" i="0" u="none" strike="noStrike" dirty="0" smtClean="0">
                          <a:solidFill>
                            <a:schemeClr val="tx1"/>
                          </a:solidFill>
                          <a:effectLst/>
                          <a:latin typeface="Calibri"/>
                        </a:rPr>
                        <a:t>24%</a:t>
                      </a:r>
                      <a:endParaRPr lang="en-US" sz="1400" b="0" i="0" u="none" strike="noStrike" dirty="0">
                        <a:solidFill>
                          <a:schemeClr val="tx1"/>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r>
              <a:tr h="331694">
                <a:tc>
                  <a:txBody>
                    <a:bodyPr/>
                    <a:lstStyle/>
                    <a:p>
                      <a:pPr algn="l" fontAlgn="t"/>
                      <a:r>
                        <a:rPr lang="en-US" sz="1400" b="0" i="0" u="none" strike="noStrike" dirty="0" smtClean="0">
                          <a:solidFill>
                            <a:srgbClr val="2E398A"/>
                          </a:solidFill>
                          <a:effectLst/>
                          <a:latin typeface="Calibri"/>
                        </a:rPr>
                        <a:t>Q2</a:t>
                      </a:r>
                      <a:r>
                        <a:rPr lang="en-US" sz="1400" b="0" i="0" u="none" strike="noStrike" baseline="0" dirty="0" smtClean="0">
                          <a:solidFill>
                            <a:srgbClr val="2E398A"/>
                          </a:solidFill>
                          <a:effectLst/>
                          <a:latin typeface="Calibri"/>
                        </a:rPr>
                        <a:t> 2015</a:t>
                      </a:r>
                      <a:endParaRPr lang="en-US" sz="1400" b="0" i="0" u="none" strike="noStrike" dirty="0">
                        <a:solidFill>
                          <a:srgbClr val="2E398A"/>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EFEBE4"/>
                    </a:solidFill>
                  </a:tcPr>
                </a:tc>
                <a:tc>
                  <a:txBody>
                    <a:bodyPr/>
                    <a:lstStyle/>
                    <a:p>
                      <a:pPr algn="ctr" fontAlgn="t"/>
                      <a:r>
                        <a:rPr lang="en-US" sz="1400" b="0" i="0" u="none" strike="noStrike" dirty="0" smtClean="0">
                          <a:solidFill>
                            <a:schemeClr val="tx1"/>
                          </a:solidFill>
                          <a:effectLst/>
                          <a:latin typeface="Calibri"/>
                        </a:rPr>
                        <a:t>0.83%</a:t>
                      </a:r>
                      <a:endParaRPr lang="en-US" sz="1400" b="0" i="0" u="none" strike="noStrike" dirty="0">
                        <a:solidFill>
                          <a:schemeClr val="tx1"/>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EFEBE4"/>
                    </a:solidFill>
                  </a:tcPr>
                </a:tc>
                <a:tc>
                  <a:txBody>
                    <a:bodyPr/>
                    <a:lstStyle/>
                    <a:p>
                      <a:pPr algn="ctr" fontAlgn="t"/>
                      <a:r>
                        <a:rPr lang="en-US" sz="1400" b="0" i="0" u="none" strike="noStrike" dirty="0" smtClean="0">
                          <a:solidFill>
                            <a:srgbClr val="FF0000"/>
                          </a:solidFill>
                          <a:effectLst/>
                          <a:latin typeface="Calibri"/>
                        </a:rPr>
                        <a:t>-1.50%</a:t>
                      </a:r>
                      <a:endParaRPr lang="en-US" sz="1400" b="0" i="0" u="none" strike="noStrike" dirty="0">
                        <a:solidFill>
                          <a:srgbClr val="FF0000"/>
                        </a:solidFill>
                        <a:effectLst/>
                        <a:latin typeface="Calibri"/>
                      </a:endParaRPr>
                    </a:p>
                  </a:txBody>
                  <a:tcPr marL="9525" marR="9525" marT="9525" marB="0" anchor="ctr">
                    <a:lnL>
                      <a:noFill/>
                    </a:lnL>
                    <a:lnR>
                      <a:noFill/>
                    </a:lnR>
                    <a:lnT w="635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EFEBE4"/>
                    </a:solidFill>
                  </a:tcPr>
                </a:tc>
                <a:tc>
                  <a:txBody>
                    <a:bodyPr/>
                    <a:lstStyle/>
                    <a:p>
                      <a:pPr algn="ctr" fontAlgn="t"/>
                      <a:r>
                        <a:rPr lang="en-US" sz="1400" b="0" i="0" u="none" strike="noStrike" dirty="0" smtClean="0">
                          <a:solidFill>
                            <a:srgbClr val="FF0000"/>
                          </a:solidFill>
                          <a:effectLst/>
                          <a:latin typeface="Calibri"/>
                        </a:rPr>
                        <a:t>-2.92%</a:t>
                      </a:r>
                      <a:endParaRPr lang="en-US" sz="1400" b="0" i="0" u="none" strike="noStrike" dirty="0">
                        <a:solidFill>
                          <a:srgbClr val="FF0000"/>
                        </a:solidFill>
                        <a:effectLst/>
                        <a:latin typeface="Calibri"/>
                      </a:endParaRPr>
                    </a:p>
                  </a:txBody>
                  <a:tcPr marL="9525" marR="9525" marT="9525" marB="0" anchor="ctr">
                    <a:lnL>
                      <a:noFill/>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EFEBE4"/>
                    </a:solidFill>
                  </a:tcPr>
                </a:tc>
                <a:tc>
                  <a:txBody>
                    <a:bodyPr/>
                    <a:lstStyle/>
                    <a:p>
                      <a:pPr algn="ctr" fontAlgn="t"/>
                      <a:r>
                        <a:rPr lang="en-US" sz="1400" b="0" i="0" u="none" strike="noStrike" dirty="0" smtClean="0">
                          <a:solidFill>
                            <a:srgbClr val="FF0000"/>
                          </a:solidFill>
                          <a:effectLst/>
                          <a:latin typeface="Calibri"/>
                        </a:rPr>
                        <a:t>-3.59%</a:t>
                      </a:r>
                      <a:endParaRPr lang="en-US" sz="1400" b="0" i="0" u="none" strike="noStrike" dirty="0">
                        <a:solidFill>
                          <a:srgbClr val="FF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EFEBE4"/>
                    </a:solidFill>
                  </a:tcPr>
                </a:tc>
                <a:tc>
                  <a:txBody>
                    <a:bodyPr/>
                    <a:lstStyle/>
                    <a:p>
                      <a:pPr algn="ctr" fontAlgn="t"/>
                      <a:r>
                        <a:rPr lang="en-US" sz="1400" b="0" i="0" u="none" strike="noStrike" dirty="0" smtClean="0">
                          <a:solidFill>
                            <a:schemeClr val="tx1"/>
                          </a:solidFill>
                          <a:effectLst/>
                          <a:latin typeface="Calibri"/>
                        </a:rPr>
                        <a:t>23%</a:t>
                      </a:r>
                      <a:endParaRPr lang="en-US" sz="1400" b="0" i="0" u="none" strike="noStrike" dirty="0">
                        <a:solidFill>
                          <a:schemeClr val="tx1"/>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EFEBE4"/>
                    </a:solidFill>
                  </a:tcPr>
                </a:tc>
              </a:tr>
              <a:tr h="331694">
                <a:tc>
                  <a:txBody>
                    <a:bodyPr/>
                    <a:lstStyle/>
                    <a:p>
                      <a:pPr marL="0" marR="0" indent="0" algn="l" defTabSz="913550" rtl="0" eaLnBrk="1" fontAlgn="t" latinLnBrk="0" hangingPunct="1">
                        <a:lnSpc>
                          <a:spcPct val="100000"/>
                        </a:lnSpc>
                        <a:spcBef>
                          <a:spcPts val="0"/>
                        </a:spcBef>
                        <a:spcAft>
                          <a:spcPts val="0"/>
                        </a:spcAft>
                        <a:buClrTx/>
                        <a:buSzTx/>
                        <a:buFontTx/>
                        <a:buNone/>
                        <a:tabLst/>
                        <a:defRPr/>
                      </a:pPr>
                      <a:r>
                        <a:rPr lang="en-US" sz="1400" b="0" i="0" u="none" strike="noStrike" dirty="0" smtClean="0">
                          <a:solidFill>
                            <a:srgbClr val="2E398A"/>
                          </a:solidFill>
                          <a:effectLst/>
                          <a:latin typeface="+mn-lt"/>
                        </a:rPr>
                        <a:t>Q3</a:t>
                      </a:r>
                      <a:r>
                        <a:rPr lang="en-US" sz="1400" b="0" i="0" u="none" strike="noStrike" baseline="0" dirty="0" smtClean="0">
                          <a:solidFill>
                            <a:srgbClr val="2E398A"/>
                          </a:solidFill>
                          <a:effectLst/>
                          <a:latin typeface="+mn-lt"/>
                        </a:rPr>
                        <a:t> 2015</a:t>
                      </a:r>
                      <a:endParaRPr lang="en-US" sz="1400" b="0" i="0" u="none" strike="noStrike" dirty="0">
                        <a:solidFill>
                          <a:srgbClr val="2E398A"/>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EBE4"/>
                    </a:solidFill>
                  </a:tcPr>
                </a:tc>
                <a:tc>
                  <a:txBody>
                    <a:bodyPr/>
                    <a:lstStyle/>
                    <a:p>
                      <a:pPr algn="ctr" fontAlgn="t"/>
                      <a:r>
                        <a:rPr lang="en-US" sz="1400" b="0" i="0" u="none" strike="noStrike" dirty="0" smtClean="0">
                          <a:solidFill>
                            <a:schemeClr val="tx1"/>
                          </a:solidFill>
                          <a:effectLst/>
                          <a:latin typeface="Calibri"/>
                        </a:rPr>
                        <a:t>1.03%</a:t>
                      </a:r>
                      <a:endParaRPr lang="en-US" sz="1400" b="0" i="0" u="none" strike="noStrike" dirty="0">
                        <a:solidFill>
                          <a:schemeClr val="tx1"/>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EBE4"/>
                    </a:solidFill>
                  </a:tcPr>
                </a:tc>
                <a:tc>
                  <a:txBody>
                    <a:bodyPr/>
                    <a:lstStyle/>
                    <a:p>
                      <a:pPr algn="ctr" fontAlgn="t"/>
                      <a:r>
                        <a:rPr lang="en-US" sz="1400" b="0" i="0" u="none" strike="noStrike" dirty="0" smtClean="0">
                          <a:solidFill>
                            <a:srgbClr val="FF0000"/>
                          </a:solidFill>
                          <a:effectLst/>
                          <a:latin typeface="Calibri"/>
                        </a:rPr>
                        <a:t>-0.68%</a:t>
                      </a:r>
                      <a:endParaRPr lang="en-US" sz="1400" b="0" i="0" u="none" strike="noStrike" dirty="0">
                        <a:solidFill>
                          <a:srgbClr val="FF0000"/>
                        </a:solidFill>
                        <a:effectLst/>
                        <a:latin typeface="Calibri"/>
                      </a:endParaRPr>
                    </a:p>
                  </a:txBody>
                  <a:tcPr marL="9525" marR="9525" marT="9525" marB="0" anchor="ctr">
                    <a:lnL>
                      <a:noFill/>
                    </a:lnL>
                    <a:lnR>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EBE4"/>
                    </a:solidFill>
                  </a:tcPr>
                </a:tc>
                <a:tc>
                  <a:txBody>
                    <a:bodyPr/>
                    <a:lstStyle/>
                    <a:p>
                      <a:pPr algn="ctr" fontAlgn="t"/>
                      <a:r>
                        <a:rPr lang="en-US" sz="1400" b="0" i="0" u="none" strike="noStrike" dirty="0" smtClean="0">
                          <a:solidFill>
                            <a:srgbClr val="FF0000"/>
                          </a:solidFill>
                          <a:effectLst/>
                          <a:latin typeface="Calibri"/>
                        </a:rPr>
                        <a:t>-0.64%</a:t>
                      </a:r>
                      <a:endParaRPr lang="en-US" sz="1400" b="0" i="0" u="none" strike="noStrike" dirty="0">
                        <a:solidFill>
                          <a:srgbClr val="FF0000"/>
                        </a:solidFill>
                        <a:effectLst/>
                        <a:latin typeface="Calibri"/>
                      </a:endParaRPr>
                    </a:p>
                  </a:txBody>
                  <a:tcPr marL="9525" marR="9525" marT="9525" marB="0" anchor="ctr">
                    <a:lnL>
                      <a:noFill/>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EBE4"/>
                    </a:solidFill>
                  </a:tcPr>
                </a:tc>
                <a:tc>
                  <a:txBody>
                    <a:bodyPr/>
                    <a:lstStyle/>
                    <a:p>
                      <a:pPr algn="ctr" fontAlgn="t"/>
                      <a:r>
                        <a:rPr lang="en-US" sz="1400" b="0" i="0" u="none" strike="noStrike" dirty="0" smtClean="0">
                          <a:solidFill>
                            <a:srgbClr val="FF0000"/>
                          </a:solidFill>
                          <a:effectLst/>
                          <a:latin typeface="Calibri"/>
                        </a:rPr>
                        <a:t>-0.28%</a:t>
                      </a:r>
                      <a:endParaRPr lang="en-US" sz="1400" b="0" i="0" u="none" strike="noStrike" dirty="0">
                        <a:solidFill>
                          <a:srgbClr val="FF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EBE4"/>
                    </a:solidFill>
                  </a:tcPr>
                </a:tc>
                <a:tc>
                  <a:txBody>
                    <a:bodyPr/>
                    <a:lstStyle/>
                    <a:p>
                      <a:pPr algn="ctr" fontAlgn="t"/>
                      <a:r>
                        <a:rPr lang="en-US" sz="1400" b="0" i="0" u="none" strike="noStrike" dirty="0" smtClean="0">
                          <a:solidFill>
                            <a:schemeClr val="tx1"/>
                          </a:solidFill>
                          <a:effectLst/>
                          <a:latin typeface="Calibri"/>
                        </a:rPr>
                        <a:t>29%</a:t>
                      </a:r>
                      <a:endParaRPr lang="en-US" sz="1400" b="0" i="0" u="none" strike="noStrike" dirty="0">
                        <a:solidFill>
                          <a:schemeClr val="tx1"/>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EBE4"/>
                    </a:solidFill>
                  </a:tcPr>
                </a:tc>
              </a:tr>
            </a:tbl>
          </a:graphicData>
        </a:graphic>
      </p:graphicFrame>
      <p:sp>
        <p:nvSpPr>
          <p:cNvPr id="5" name="Rectangle 4"/>
          <p:cNvSpPr/>
          <p:nvPr/>
        </p:nvSpPr>
        <p:spPr>
          <a:xfrm>
            <a:off x="3505200" y="5562600"/>
            <a:ext cx="5334001" cy="836912"/>
          </a:xfrm>
          <a:prstGeom prst="rect">
            <a:avLst/>
          </a:prstGeom>
        </p:spPr>
        <p:txBody>
          <a:bodyPr wrap="square" lIns="82058" tIns="41029" rIns="82058" bIns="41029">
            <a:spAutoFit/>
          </a:bodyPr>
          <a:lstStyle/>
          <a:p>
            <a:pPr algn="just">
              <a:spcAft>
                <a:spcPts val="179"/>
              </a:spcAft>
            </a:pPr>
            <a:r>
              <a:rPr lang="en-US" sz="700" i="1" kern="200" dirty="0">
                <a:solidFill>
                  <a:srgbClr val="000000"/>
                </a:solidFill>
                <a:cs typeface="Times New Roman" pitchFamily="18" charset="0"/>
              </a:rPr>
              <a:t>* Performance results are provided for an investor in Class A1a shares of Cello Fixed Income Master Fund, LP (the “Master Fund”). Class A1a shares launched on January 1, 2012, and returns for periods prior thereto have been adjusted to reflect the management fees and performance allocations chargeable to Class A1a shares.  As of January 1, 2012, all trading activities for Cello Fixed Income Fund Ltd. and Cello Fixed Income Domestic Fund, LP are being conducted through the Master Fund.  Performance results are net of fees and expenses and are generally unaudited and subject to change.   Certain research-related Master Fund expenses were paid for by Cello Capital Management, LLC prior to July 1, 2012.   Individual returns may vary due to investment in the offshore or onshore feeder fund, the class of investment and the timing of subscriptions and redemptions.</a:t>
            </a:r>
          </a:p>
        </p:txBody>
      </p:sp>
      <p:sp>
        <p:nvSpPr>
          <p:cNvPr id="6" name="Rectangle 9"/>
          <p:cNvSpPr>
            <a:spLocks noChangeArrowheads="1"/>
          </p:cNvSpPr>
          <p:nvPr/>
        </p:nvSpPr>
        <p:spPr bwMode="auto">
          <a:xfrm>
            <a:off x="215240" y="1066800"/>
            <a:ext cx="2538846" cy="2000515"/>
          </a:xfrm>
          <a:prstGeom prst="rect">
            <a:avLst/>
          </a:prstGeom>
          <a:noFill/>
          <a:ln w="9525">
            <a:noFill/>
            <a:miter lim="800000"/>
            <a:headEnd/>
            <a:tailEnd/>
          </a:ln>
          <a:effectLst/>
        </p:spPr>
        <p:txBody>
          <a:bodyPr wrap="square" lIns="91407" tIns="45704" rIns="91407" bIns="45704">
            <a:spAutoFit/>
          </a:bodyPr>
          <a:lstStyle/>
          <a:p>
            <a:pPr>
              <a:spcBef>
                <a:spcPts val="1600"/>
              </a:spcBef>
            </a:pPr>
            <a:r>
              <a:rPr lang="en-US" sz="1200" dirty="0" smtClean="0"/>
              <a:t>Cello’s Q3 returns were driven by:</a:t>
            </a:r>
          </a:p>
          <a:p>
            <a:pPr marL="228600" indent="-228600">
              <a:spcBef>
                <a:spcPts val="1600"/>
              </a:spcBef>
              <a:buAutoNum type="arabicPeriod"/>
            </a:pPr>
            <a:r>
              <a:rPr lang="en-US" sz="1200" dirty="0" smtClean="0"/>
              <a:t>A low level of IO Beta</a:t>
            </a:r>
          </a:p>
          <a:p>
            <a:pPr marL="228600" indent="-228600">
              <a:spcBef>
                <a:spcPts val="1600"/>
              </a:spcBef>
              <a:buAutoNum type="arabicPeriod"/>
            </a:pPr>
            <a:r>
              <a:rPr lang="en-US" sz="1200" dirty="0" smtClean="0"/>
              <a:t>A positive exposure to long-term interest rates decreasing in order to offset IO spread risk</a:t>
            </a:r>
          </a:p>
          <a:p>
            <a:pPr marL="228600" indent="-228600">
              <a:spcBef>
                <a:spcPts val="1600"/>
              </a:spcBef>
              <a:buAutoNum type="arabicPeriod"/>
            </a:pPr>
            <a:r>
              <a:rPr lang="en-US" sz="1200" dirty="0" smtClean="0"/>
              <a:t>A modest long exposure to TBA spreads</a:t>
            </a:r>
          </a:p>
        </p:txBody>
      </p:sp>
    </p:spTree>
    <p:extLst>
      <p:ext uri="{BB962C8B-B14F-4D97-AF65-F5344CB8AC3E}">
        <p14:creationId xmlns:p14="http://schemas.microsoft.com/office/powerpoint/2010/main" val="199833951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1"/>
          <p:cNvSpPr txBox="1">
            <a:spLocks/>
          </p:cNvSpPr>
          <p:nvPr/>
        </p:nvSpPr>
        <p:spPr bwMode="auto">
          <a:xfrm>
            <a:off x="2289977" y="228600"/>
            <a:ext cx="6618287" cy="568325"/>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914400"/>
            <a:r>
              <a:rPr lang="en-US" dirty="0"/>
              <a:t>IO OASs ARE AT THE TIGHT END OF THEIR RECENT RANGE</a:t>
            </a:r>
            <a:endParaRPr lang="en-US" kern="0" dirty="0"/>
          </a:p>
        </p:txBody>
      </p:sp>
      <p:sp>
        <p:nvSpPr>
          <p:cNvPr id="13" name="Rectangle 68"/>
          <p:cNvSpPr>
            <a:spLocks noChangeArrowheads="1"/>
          </p:cNvSpPr>
          <p:nvPr/>
        </p:nvSpPr>
        <p:spPr bwMode="auto">
          <a:xfrm>
            <a:off x="237651" y="6100054"/>
            <a:ext cx="5325034" cy="197243"/>
          </a:xfrm>
          <a:prstGeom prst="rect">
            <a:avLst/>
          </a:prstGeom>
          <a:noFill/>
          <a:ln w="9525">
            <a:noFill/>
            <a:miter lim="800000"/>
            <a:headEnd/>
            <a:tailEnd/>
          </a:ln>
          <a:effectLst/>
        </p:spPr>
        <p:txBody>
          <a:bodyPr wrap="square" lIns="88719" tIns="44359" rIns="88719" bIns="44359" anchor="b">
            <a:spAutoFit/>
          </a:bodyPr>
          <a:lstStyle/>
          <a:p>
            <a:pPr>
              <a:lnSpc>
                <a:spcPct val="90000"/>
              </a:lnSpc>
              <a:spcBef>
                <a:spcPct val="20000"/>
              </a:spcBef>
            </a:pPr>
            <a:r>
              <a:rPr lang="en-US" sz="777" i="1" dirty="0"/>
              <a:t>Source: </a:t>
            </a:r>
            <a:r>
              <a:rPr lang="en-US" sz="777" dirty="0" smtClean="0"/>
              <a:t>Barclays as of 12/14/2015</a:t>
            </a:r>
            <a:endParaRPr lang="en-US" sz="777" i="1" dirty="0"/>
          </a:p>
        </p:txBody>
      </p:sp>
      <p:sp>
        <p:nvSpPr>
          <p:cNvPr id="14" name="Rectangle 13"/>
          <p:cNvSpPr/>
          <p:nvPr/>
        </p:nvSpPr>
        <p:spPr>
          <a:xfrm>
            <a:off x="2286001" y="1185222"/>
            <a:ext cx="6404166" cy="548165"/>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4359" tIns="44359" rIns="88719" bIns="44359" rtlCol="0" anchor="ctr"/>
          <a:lstStyle/>
          <a:p>
            <a:pPr algn="ctr"/>
            <a:r>
              <a:rPr lang="en-US" sz="1165" b="1" dirty="0" smtClean="0">
                <a:solidFill>
                  <a:srgbClr val="FFFFFF"/>
                </a:solidFill>
              </a:rPr>
              <a:t>EVOLUTION OF REFINANCEABLE </a:t>
            </a:r>
            <a:r>
              <a:rPr lang="en-US" sz="1165" b="1" dirty="0">
                <a:solidFill>
                  <a:srgbClr val="FFFFFF"/>
                </a:solidFill>
              </a:rPr>
              <a:t>UNIVERSE </a:t>
            </a:r>
            <a:r>
              <a:rPr lang="en-US" sz="1165" b="1" dirty="0" smtClean="0">
                <a:solidFill>
                  <a:srgbClr val="FFFFFF"/>
                </a:solidFill>
              </a:rPr>
              <a:t>VERSUS IO OAS </a:t>
            </a:r>
            <a:endParaRPr lang="en-US" sz="1165" b="1" dirty="0">
              <a:solidFill>
                <a:srgbClr val="FFFFFF"/>
              </a:solidFill>
            </a:endParaRPr>
          </a:p>
          <a:p>
            <a:pPr algn="ctr"/>
            <a:r>
              <a:rPr lang="en-US" sz="1165" dirty="0" smtClean="0">
                <a:solidFill>
                  <a:srgbClr val="FFFFFF"/>
                </a:solidFill>
              </a:rPr>
              <a:t>(February 2011 </a:t>
            </a:r>
            <a:r>
              <a:rPr lang="en-US" sz="1165" dirty="0">
                <a:solidFill>
                  <a:srgbClr val="FFFFFF"/>
                </a:solidFill>
              </a:rPr>
              <a:t>to </a:t>
            </a:r>
            <a:r>
              <a:rPr lang="en-US" sz="1165" dirty="0" smtClean="0">
                <a:solidFill>
                  <a:srgbClr val="FFFFFF"/>
                </a:solidFill>
              </a:rPr>
              <a:t>December 2015)</a:t>
            </a:r>
            <a:endParaRPr lang="en-US" sz="1165" dirty="0">
              <a:solidFill>
                <a:srgbClr val="FFFFFF"/>
              </a:solidFill>
            </a:endParaRPr>
          </a:p>
        </p:txBody>
      </p:sp>
      <p:sp>
        <p:nvSpPr>
          <p:cNvPr id="3" name="TextBox 2"/>
          <p:cNvSpPr txBox="1"/>
          <p:nvPr/>
        </p:nvSpPr>
        <p:spPr>
          <a:xfrm rot="5400000">
            <a:off x="7675718" y="3795239"/>
            <a:ext cx="1794587" cy="234310"/>
          </a:xfrm>
          <a:prstGeom prst="rect">
            <a:avLst/>
          </a:prstGeom>
          <a:noFill/>
        </p:spPr>
        <p:txBody>
          <a:bodyPr wrap="square" lIns="79645" tIns="39822" rIns="79645" bIns="39822" rtlCol="0">
            <a:spAutoFit/>
          </a:bodyPr>
          <a:lstStyle/>
          <a:p>
            <a:pPr algn="ctr"/>
            <a:r>
              <a:rPr lang="en-US" sz="1000" b="1" dirty="0">
                <a:solidFill>
                  <a:srgbClr val="000000"/>
                </a:solidFill>
              </a:rPr>
              <a:t>Refinancible Universe</a:t>
            </a:r>
          </a:p>
        </p:txBody>
      </p:sp>
      <p:sp>
        <p:nvSpPr>
          <p:cNvPr id="10" name="TextBox 9"/>
          <p:cNvSpPr txBox="1"/>
          <p:nvPr/>
        </p:nvSpPr>
        <p:spPr>
          <a:xfrm rot="16200000">
            <a:off x="1579818" y="3601782"/>
            <a:ext cx="1794587" cy="229822"/>
          </a:xfrm>
          <a:prstGeom prst="rect">
            <a:avLst/>
          </a:prstGeom>
          <a:noFill/>
        </p:spPr>
        <p:txBody>
          <a:bodyPr wrap="square" lIns="79645" tIns="39822" rIns="79645" bIns="39822" rtlCol="0">
            <a:spAutoFit/>
          </a:bodyPr>
          <a:lstStyle/>
          <a:p>
            <a:pPr algn="ctr"/>
            <a:r>
              <a:rPr lang="en-US" sz="971" b="1" dirty="0" smtClean="0">
                <a:solidFill>
                  <a:srgbClr val="000000"/>
                </a:solidFill>
              </a:rPr>
              <a:t>OAS</a:t>
            </a:r>
            <a:endParaRPr lang="en-US" sz="971" b="1" dirty="0">
              <a:solidFill>
                <a:srgbClr val="000000"/>
              </a:solidFill>
            </a:endParaRPr>
          </a:p>
        </p:txBody>
      </p:sp>
      <p:sp>
        <p:nvSpPr>
          <p:cNvPr id="11" name="TextBox 10"/>
          <p:cNvSpPr txBox="1"/>
          <p:nvPr/>
        </p:nvSpPr>
        <p:spPr>
          <a:xfrm>
            <a:off x="237651" y="1197389"/>
            <a:ext cx="1981200" cy="3037514"/>
          </a:xfrm>
          <a:prstGeom prst="rect">
            <a:avLst/>
          </a:prstGeom>
          <a:noFill/>
        </p:spPr>
        <p:txBody>
          <a:bodyPr wrap="square" lIns="82058" tIns="41029" rIns="82058" bIns="41029" rtlCol="0">
            <a:spAutoFit/>
          </a:bodyPr>
          <a:lstStyle/>
          <a:p>
            <a:r>
              <a:rPr lang="en-US" sz="1200" dirty="0" smtClean="0"/>
              <a:t>IO OASs tightened over Q4 as the amount of prepayment risk has marginally decreased and new IO buyers entered the market. </a:t>
            </a:r>
          </a:p>
          <a:p>
            <a:endParaRPr lang="en-US" sz="1200" dirty="0"/>
          </a:p>
          <a:p>
            <a:r>
              <a:rPr lang="en-US" sz="1200" dirty="0" smtClean="0"/>
              <a:t>Mortgage rates remained relatively stable over the quarter. According to a widely used benchmark survey of mortgage rates, the 30-year mortgage rate increased from 3.85% on October 1</a:t>
            </a:r>
            <a:r>
              <a:rPr lang="en-US" sz="1200" baseline="30000" dirty="0" smtClean="0"/>
              <a:t>st</a:t>
            </a:r>
            <a:r>
              <a:rPr lang="en-US" sz="1200" dirty="0" smtClean="0"/>
              <a:t> to 3.95% on December 10</a:t>
            </a:r>
            <a:r>
              <a:rPr lang="en-US" sz="1200" baseline="30000" dirty="0" smtClean="0"/>
              <a:t>th</a:t>
            </a:r>
            <a:r>
              <a:rPr lang="en-US" sz="1200" dirty="0" smtClean="0"/>
              <a:t>.  </a:t>
            </a:r>
            <a:endParaRPr lang="en-US" sz="1200" dirty="0"/>
          </a:p>
        </p:txBody>
      </p:sp>
      <p:graphicFrame>
        <p:nvGraphicFramePr>
          <p:cNvPr id="15" name="Chart 14"/>
          <p:cNvGraphicFramePr>
            <a:graphicFrameLocks/>
          </p:cNvGraphicFramePr>
          <p:nvPr>
            <p:extLst>
              <p:ext uri="{D42A27DB-BD31-4B8C-83A1-F6EECF244321}">
                <p14:modId xmlns:p14="http://schemas.microsoft.com/office/powerpoint/2010/main" val="1513584845"/>
              </p:ext>
            </p:extLst>
          </p:nvPr>
        </p:nvGraphicFramePr>
        <p:xfrm>
          <a:off x="2667000" y="1859757"/>
          <a:ext cx="5643368" cy="400764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31660951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68"/>
          <p:cNvSpPr>
            <a:spLocks noChangeArrowheads="1"/>
          </p:cNvSpPr>
          <p:nvPr/>
        </p:nvSpPr>
        <p:spPr bwMode="auto">
          <a:xfrm>
            <a:off x="248668" y="6148022"/>
            <a:ext cx="5325034" cy="197243"/>
          </a:xfrm>
          <a:prstGeom prst="rect">
            <a:avLst/>
          </a:prstGeom>
          <a:noFill/>
          <a:ln w="9525">
            <a:noFill/>
            <a:miter lim="800000"/>
            <a:headEnd/>
            <a:tailEnd/>
          </a:ln>
          <a:effectLst/>
        </p:spPr>
        <p:txBody>
          <a:bodyPr wrap="square" lIns="88719" tIns="44359" rIns="88719" bIns="44359" anchor="b">
            <a:spAutoFit/>
          </a:bodyPr>
          <a:lstStyle/>
          <a:p>
            <a:pPr>
              <a:lnSpc>
                <a:spcPct val="90000"/>
              </a:lnSpc>
              <a:spcBef>
                <a:spcPct val="20000"/>
              </a:spcBef>
            </a:pPr>
            <a:r>
              <a:rPr lang="en-US" sz="777" i="1" dirty="0" smtClean="0">
                <a:solidFill>
                  <a:srgbClr val="000000"/>
                </a:solidFill>
              </a:rPr>
              <a:t>Source</a:t>
            </a:r>
            <a:r>
              <a:rPr lang="en-US" sz="777" dirty="0" smtClean="0">
                <a:solidFill>
                  <a:srgbClr val="000000"/>
                </a:solidFill>
              </a:rPr>
              <a:t>: TRACE as of 1/7/2015.</a:t>
            </a:r>
            <a:endParaRPr lang="en-US" sz="777" i="1" dirty="0">
              <a:solidFill>
                <a:srgbClr val="000000"/>
              </a:solidFill>
            </a:endParaRPr>
          </a:p>
        </p:txBody>
      </p:sp>
      <p:sp>
        <p:nvSpPr>
          <p:cNvPr id="14" name="Rectangle 13"/>
          <p:cNvSpPr/>
          <p:nvPr/>
        </p:nvSpPr>
        <p:spPr>
          <a:xfrm>
            <a:off x="2438400" y="1185222"/>
            <a:ext cx="6498572" cy="548165"/>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4359" tIns="44359" rIns="88719" bIns="44359" rtlCol="0" anchor="ctr"/>
          <a:lstStyle/>
          <a:p>
            <a:pPr algn="ctr"/>
            <a:r>
              <a:rPr lang="en-US" sz="1165" b="1" dirty="0" smtClean="0">
                <a:solidFill>
                  <a:srgbClr val="FFFFFF"/>
                </a:solidFill>
              </a:rPr>
              <a:t>AGENCY DERIVATIVE TRADING VOLUMES</a:t>
            </a:r>
            <a:endParaRPr lang="en-US" sz="1165" b="1" dirty="0">
              <a:solidFill>
                <a:srgbClr val="FFFFFF"/>
              </a:solidFill>
            </a:endParaRPr>
          </a:p>
          <a:p>
            <a:pPr algn="ctr"/>
            <a:r>
              <a:rPr lang="en-US" sz="1165" dirty="0" smtClean="0">
                <a:solidFill>
                  <a:srgbClr val="FFFFFF"/>
                </a:solidFill>
              </a:rPr>
              <a:t>(May 2011 </a:t>
            </a:r>
            <a:r>
              <a:rPr lang="en-US" sz="1165" dirty="0">
                <a:solidFill>
                  <a:srgbClr val="FFFFFF"/>
                </a:solidFill>
              </a:rPr>
              <a:t>to </a:t>
            </a:r>
            <a:r>
              <a:rPr lang="en-US" sz="1165" dirty="0" smtClean="0">
                <a:solidFill>
                  <a:srgbClr val="FFFFFF"/>
                </a:solidFill>
              </a:rPr>
              <a:t>December 2015)</a:t>
            </a:r>
            <a:endParaRPr lang="en-US" sz="1165" dirty="0">
              <a:solidFill>
                <a:srgbClr val="FFFFFF"/>
              </a:solidFill>
            </a:endParaRPr>
          </a:p>
        </p:txBody>
      </p:sp>
      <p:sp>
        <p:nvSpPr>
          <p:cNvPr id="2" name="Title 1"/>
          <p:cNvSpPr>
            <a:spLocks noGrp="1"/>
          </p:cNvSpPr>
          <p:nvPr>
            <p:ph type="title"/>
          </p:nvPr>
        </p:nvSpPr>
        <p:spPr>
          <a:xfrm>
            <a:off x="1228251" y="299054"/>
            <a:ext cx="7565372" cy="522334"/>
          </a:xfrm>
        </p:spPr>
        <p:txBody>
          <a:bodyPr/>
          <a:lstStyle/>
          <a:p>
            <a:pPr lvl="0"/>
            <a:r>
              <a:rPr lang="en-US" dirty="0" smtClean="0">
                <a:solidFill>
                  <a:srgbClr val="FF0000"/>
                </a:solidFill>
              </a:rPr>
              <a:t> </a:t>
            </a:r>
            <a:endParaRPr lang="en-US" dirty="0">
              <a:solidFill>
                <a:srgbClr val="FF0000"/>
              </a:solidFill>
            </a:endParaRPr>
          </a:p>
        </p:txBody>
      </p:sp>
      <p:sp>
        <p:nvSpPr>
          <p:cNvPr id="11" name="TextBox 10"/>
          <p:cNvSpPr txBox="1"/>
          <p:nvPr/>
        </p:nvSpPr>
        <p:spPr>
          <a:xfrm rot="16200000">
            <a:off x="1469433" y="3512834"/>
            <a:ext cx="1794587" cy="229822"/>
          </a:xfrm>
          <a:prstGeom prst="rect">
            <a:avLst/>
          </a:prstGeom>
          <a:noFill/>
        </p:spPr>
        <p:txBody>
          <a:bodyPr wrap="square" lIns="79645" tIns="39822" rIns="79645" bIns="39822" rtlCol="0">
            <a:spAutoFit/>
          </a:bodyPr>
          <a:lstStyle/>
          <a:p>
            <a:pPr algn="ctr"/>
            <a:r>
              <a:rPr lang="en-US" sz="971" b="1" dirty="0" smtClean="0">
                <a:solidFill>
                  <a:srgbClr val="000000"/>
                </a:solidFill>
              </a:rPr>
              <a:t>Volume ($MM)</a:t>
            </a:r>
            <a:endParaRPr lang="en-US" sz="971" b="1" dirty="0">
              <a:solidFill>
                <a:srgbClr val="000000"/>
              </a:solidFill>
            </a:endParaRPr>
          </a:p>
        </p:txBody>
      </p:sp>
      <p:sp>
        <p:nvSpPr>
          <p:cNvPr id="8" name="TextBox 7"/>
          <p:cNvSpPr txBox="1"/>
          <p:nvPr/>
        </p:nvSpPr>
        <p:spPr>
          <a:xfrm>
            <a:off x="237651" y="1180932"/>
            <a:ext cx="1981200" cy="4145510"/>
          </a:xfrm>
          <a:prstGeom prst="rect">
            <a:avLst/>
          </a:prstGeom>
          <a:noFill/>
        </p:spPr>
        <p:txBody>
          <a:bodyPr wrap="square" lIns="82058" tIns="41029" rIns="82058" bIns="41029" rtlCol="0">
            <a:spAutoFit/>
          </a:bodyPr>
          <a:lstStyle/>
          <a:p>
            <a:r>
              <a:rPr lang="en-US" sz="1200" dirty="0" smtClean="0"/>
              <a:t>Trading volumes remain at relatively low levels. Tight IO spreads, reduced broker-dealer balance sheets, and high levels of volatility have contributed to wide bid-offer spreads. Adding to the lack of liquidity in the market is an overall pre-occupation with the Fed’s interest rate policy. The decline in trading volumes in the IO sector is broadly consistent with declining liquidity in other fixed income sectors.</a:t>
            </a:r>
          </a:p>
          <a:p>
            <a:endParaRPr lang="en-US" sz="1200" dirty="0"/>
          </a:p>
          <a:p>
            <a:r>
              <a:rPr lang="en-US" sz="1200" dirty="0" smtClean="0"/>
              <a:t>One bright spot that remains is issuance of GNMA CMOs which continues to be robust.</a:t>
            </a:r>
            <a:endParaRPr lang="en-US" sz="1200" dirty="0"/>
          </a:p>
          <a:p>
            <a:endParaRPr lang="en-US" sz="1200" dirty="0" smtClean="0">
              <a:solidFill>
                <a:srgbClr val="FF0000"/>
              </a:solidFill>
            </a:endParaRPr>
          </a:p>
          <a:p>
            <a:endParaRPr lang="en-US" sz="1200" dirty="0">
              <a:solidFill>
                <a:srgbClr val="FF0000"/>
              </a:solidFill>
            </a:endParaRPr>
          </a:p>
        </p:txBody>
      </p:sp>
      <p:sp>
        <p:nvSpPr>
          <p:cNvPr id="3" name="TextBox 2"/>
          <p:cNvSpPr txBox="1"/>
          <p:nvPr/>
        </p:nvSpPr>
        <p:spPr>
          <a:xfrm>
            <a:off x="6477000" y="5784978"/>
            <a:ext cx="838200" cy="461665"/>
          </a:xfrm>
          <a:prstGeom prst="rect">
            <a:avLst/>
          </a:prstGeom>
          <a:noFill/>
        </p:spPr>
        <p:txBody>
          <a:bodyPr wrap="square" rtlCol="0">
            <a:spAutoFit/>
          </a:bodyPr>
          <a:lstStyle/>
          <a:p>
            <a:pPr algn="ctr"/>
            <a:r>
              <a:rPr lang="en-US" sz="1200" dirty="0" smtClean="0">
                <a:solidFill>
                  <a:srgbClr val="FF0000"/>
                </a:solidFill>
              </a:rPr>
              <a:t>-15% </a:t>
            </a:r>
          </a:p>
          <a:p>
            <a:pPr algn="ctr"/>
            <a:r>
              <a:rPr lang="en-US" sz="1200" dirty="0" smtClean="0">
                <a:solidFill>
                  <a:srgbClr val="FF0000"/>
                </a:solidFill>
              </a:rPr>
              <a:t>YoY</a:t>
            </a:r>
            <a:endParaRPr lang="en-US" sz="1200" dirty="0">
              <a:solidFill>
                <a:srgbClr val="FF0000"/>
              </a:solidFill>
            </a:endParaRPr>
          </a:p>
        </p:txBody>
      </p:sp>
      <p:sp>
        <p:nvSpPr>
          <p:cNvPr id="10" name="TextBox 9"/>
          <p:cNvSpPr txBox="1"/>
          <p:nvPr/>
        </p:nvSpPr>
        <p:spPr>
          <a:xfrm>
            <a:off x="7848600" y="5790683"/>
            <a:ext cx="838200" cy="461665"/>
          </a:xfrm>
          <a:prstGeom prst="rect">
            <a:avLst/>
          </a:prstGeom>
          <a:noFill/>
        </p:spPr>
        <p:txBody>
          <a:bodyPr wrap="square" rtlCol="0">
            <a:spAutoFit/>
          </a:bodyPr>
          <a:lstStyle/>
          <a:p>
            <a:pPr algn="ctr"/>
            <a:r>
              <a:rPr lang="en-US" sz="1200" dirty="0" smtClean="0">
                <a:solidFill>
                  <a:srgbClr val="FF0000"/>
                </a:solidFill>
              </a:rPr>
              <a:t>-22% </a:t>
            </a:r>
          </a:p>
          <a:p>
            <a:pPr algn="ctr"/>
            <a:r>
              <a:rPr lang="en-US" sz="1200" dirty="0" smtClean="0">
                <a:solidFill>
                  <a:srgbClr val="FF0000"/>
                </a:solidFill>
              </a:rPr>
              <a:t>YoY</a:t>
            </a:r>
            <a:endParaRPr lang="en-US" sz="1200" dirty="0">
              <a:solidFill>
                <a:srgbClr val="FF0000"/>
              </a:solidFill>
            </a:endParaRPr>
          </a:p>
        </p:txBody>
      </p:sp>
      <p:sp>
        <p:nvSpPr>
          <p:cNvPr id="12" name="Title 1"/>
          <p:cNvSpPr txBox="1">
            <a:spLocks/>
          </p:cNvSpPr>
          <p:nvPr/>
        </p:nvSpPr>
        <p:spPr bwMode="auto">
          <a:xfrm>
            <a:off x="2289977" y="228600"/>
            <a:ext cx="6618287" cy="568325"/>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914400"/>
            <a:r>
              <a:rPr lang="en-US" kern="0" dirty="0"/>
              <a:t>DERIVATIVE TRADING VOLUMES REMAINED MUTED IN Q4</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6953" y="1817536"/>
            <a:ext cx="6604502" cy="37120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019716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9977" y="228600"/>
            <a:ext cx="6618287" cy="568325"/>
          </a:xfrm>
        </p:spPr>
        <p:txBody>
          <a:bodyPr/>
          <a:lstStyle/>
          <a:p>
            <a:r>
              <a:rPr lang="en-US" dirty="0" smtClean="0"/>
              <a:t>CATALYSTS FOR AN EXPANDED OPPORTUNITY SET</a:t>
            </a:r>
            <a:endParaRPr lang="en-US" dirty="0"/>
          </a:p>
        </p:txBody>
      </p:sp>
      <p:sp>
        <p:nvSpPr>
          <p:cNvPr id="16" name="Content Placeholder 12"/>
          <p:cNvSpPr>
            <a:spLocks noGrp="1"/>
          </p:cNvSpPr>
          <p:nvPr>
            <p:ph idx="1"/>
          </p:nvPr>
        </p:nvSpPr>
        <p:spPr>
          <a:xfrm>
            <a:off x="266989" y="1089772"/>
            <a:ext cx="1672648" cy="5230346"/>
          </a:xfrm>
        </p:spPr>
        <p:txBody>
          <a:bodyPr/>
          <a:lstStyle/>
          <a:p>
            <a:pPr marL="0" indent="0">
              <a:spcBef>
                <a:spcPts val="0"/>
              </a:spcBef>
              <a:buNone/>
            </a:pPr>
            <a:r>
              <a:rPr lang="en-US" sz="1100" dirty="0" smtClean="0"/>
              <a:t>Within the context of the current market environment, Cello believes that there are five catalysts that could lead to an expanded opportunity set.</a:t>
            </a:r>
            <a:endParaRPr lang="en-US" sz="1000" dirty="0"/>
          </a:p>
          <a:p>
            <a:endParaRPr lang="en-US" sz="1000" dirty="0"/>
          </a:p>
        </p:txBody>
      </p:sp>
      <p:graphicFrame>
        <p:nvGraphicFramePr>
          <p:cNvPr id="5" name="Table 4"/>
          <p:cNvGraphicFramePr>
            <a:graphicFrameLocks noGrp="1"/>
          </p:cNvGraphicFramePr>
          <p:nvPr>
            <p:extLst>
              <p:ext uri="{D42A27DB-BD31-4B8C-83A1-F6EECF244321}">
                <p14:modId xmlns:p14="http://schemas.microsoft.com/office/powerpoint/2010/main" val="2761208322"/>
              </p:ext>
            </p:extLst>
          </p:nvPr>
        </p:nvGraphicFramePr>
        <p:xfrm>
          <a:off x="2633879" y="1479176"/>
          <a:ext cx="6096000" cy="4054736"/>
        </p:xfrm>
        <a:graphic>
          <a:graphicData uri="http://schemas.openxmlformats.org/drawingml/2006/table">
            <a:tbl>
              <a:tblPr bandRow="1">
                <a:tableStyleId>{5C22544A-7EE6-4342-B048-85BDC9FD1C3A}</a:tableStyleId>
              </a:tblPr>
              <a:tblGrid>
                <a:gridCol w="2076666"/>
                <a:gridCol w="4019334"/>
              </a:tblGrid>
              <a:tr h="327212">
                <a:tc>
                  <a:txBody>
                    <a:bodyPr/>
                    <a:lstStyle/>
                    <a:p>
                      <a:r>
                        <a:rPr lang="en-US" sz="1400" b="1" dirty="0" smtClean="0"/>
                        <a:t>Catalyst</a:t>
                      </a:r>
                      <a:endParaRPr lang="en-US" sz="1400" b="1" dirty="0"/>
                    </a:p>
                  </a:txBody>
                  <a:tcPr marL="83127" marR="83127" marT="40341" marB="40341" anchor="ctr">
                    <a:solidFill>
                      <a:schemeClr val="accent1">
                        <a:lumMod val="40000"/>
                        <a:lumOff val="60000"/>
                      </a:schemeClr>
                    </a:solidFill>
                  </a:tcPr>
                </a:tc>
                <a:tc>
                  <a:txBody>
                    <a:bodyPr/>
                    <a:lstStyle/>
                    <a:p>
                      <a:pPr algn="ctr"/>
                      <a:r>
                        <a:rPr lang="en-US" sz="1400" b="1" dirty="0" smtClean="0"/>
                        <a:t>Comments</a:t>
                      </a:r>
                      <a:endParaRPr lang="en-US" sz="1400" b="1" dirty="0"/>
                    </a:p>
                  </a:txBody>
                  <a:tcPr marL="83127" marR="83127" marT="40341" marB="40341" anchor="ctr">
                    <a:solidFill>
                      <a:schemeClr val="accent1">
                        <a:lumMod val="40000"/>
                        <a:lumOff val="60000"/>
                      </a:schemeClr>
                    </a:solidFill>
                  </a:tcPr>
                </a:tc>
              </a:tr>
              <a:tr h="327212">
                <a:tc>
                  <a:txBody>
                    <a:bodyPr/>
                    <a:lstStyle/>
                    <a:p>
                      <a:pPr marL="0" indent="0" algn="l">
                        <a:buFont typeface="Arial" panose="020B0604020202020204" pitchFamily="34" charset="0"/>
                        <a:buNone/>
                      </a:pPr>
                      <a:r>
                        <a:rPr lang="en-US" sz="1200" b="1" dirty="0" smtClean="0"/>
                        <a:t>Sharp</a:t>
                      </a:r>
                      <a:r>
                        <a:rPr lang="en-US" sz="1200" b="1" baseline="0" dirty="0" smtClean="0"/>
                        <a:t> Drop in Mortgage rates</a:t>
                      </a:r>
                      <a:endParaRPr lang="en-US" sz="1200" b="1" dirty="0"/>
                    </a:p>
                  </a:txBody>
                  <a:tcPr marL="83127" marR="83127" marT="40341" marB="40341" anchor="ctr">
                    <a:solidFill>
                      <a:schemeClr val="accent2">
                        <a:lumMod val="20000"/>
                        <a:lumOff val="80000"/>
                      </a:schemeClr>
                    </a:solidFill>
                  </a:tcPr>
                </a:tc>
                <a:tc>
                  <a:txBody>
                    <a:bodyPr/>
                    <a:lstStyle/>
                    <a:p>
                      <a:pPr lvl="0" algn="l"/>
                      <a:r>
                        <a:rPr lang="en-US" sz="1200" dirty="0" smtClean="0"/>
                        <a:t>OASs</a:t>
                      </a:r>
                      <a:r>
                        <a:rPr lang="en-US" sz="1200" baseline="0" dirty="0" smtClean="0"/>
                        <a:t> would widen sharply in this scenario and generate opportunities for investors such as Cello who have prudently maintained lower IO exposure.</a:t>
                      </a:r>
                      <a:endParaRPr lang="en-US" sz="1200" dirty="0"/>
                    </a:p>
                  </a:txBody>
                  <a:tcPr marL="83127" marR="83127" marT="40341" marB="40341" anchor="ctr">
                    <a:solidFill>
                      <a:schemeClr val="accent2">
                        <a:lumMod val="20000"/>
                        <a:lumOff val="80000"/>
                      </a:schemeClr>
                    </a:solidFill>
                  </a:tcPr>
                </a:tc>
              </a:tr>
              <a:tr h="645459">
                <a:tc>
                  <a:txBody>
                    <a:bodyPr/>
                    <a:lstStyle/>
                    <a:p>
                      <a:pPr marL="0" indent="0" algn="l">
                        <a:buFont typeface="Arial" panose="020B0604020202020204" pitchFamily="34" charset="0"/>
                        <a:buNone/>
                      </a:pPr>
                      <a:r>
                        <a:rPr lang="en-US" sz="1200" b="1" baseline="0" dirty="0" smtClean="0"/>
                        <a:t>Fed Policy Surprises</a:t>
                      </a:r>
                      <a:endParaRPr lang="en-US" sz="1200" b="1" dirty="0"/>
                    </a:p>
                  </a:txBody>
                  <a:tcPr marL="83127" marR="83127" marT="40341" marB="40341" anchor="ctr">
                    <a:solidFill>
                      <a:schemeClr val="accent2">
                        <a:lumMod val="20000"/>
                        <a:lumOff val="80000"/>
                      </a:schemeClr>
                    </a:solidFill>
                  </a:tcPr>
                </a:tc>
                <a:tc>
                  <a:txBody>
                    <a:bodyPr/>
                    <a:lstStyle/>
                    <a:p>
                      <a:pPr lvl="0" algn="l"/>
                      <a:r>
                        <a:rPr lang="en-US" sz="1200" baseline="0" dirty="0" smtClean="0"/>
                        <a:t>This would lead to a significant increase in interest rate volatility, which IO and Inverse IO spreads are currently not pricing in.</a:t>
                      </a:r>
                    </a:p>
                  </a:txBody>
                  <a:tcPr marL="83127" marR="83127" marT="40341" marB="40341" anchor="ctr">
                    <a:solidFill>
                      <a:schemeClr val="accent2">
                        <a:lumMod val="20000"/>
                        <a:lumOff val="80000"/>
                      </a:schemeClr>
                    </a:solidFill>
                  </a:tcPr>
                </a:tc>
              </a:tr>
              <a:tr h="645459">
                <a:tc>
                  <a:txBody>
                    <a:bodyPr/>
                    <a:lstStyle/>
                    <a:p>
                      <a:pPr marL="0" indent="0" algn="l">
                        <a:buFont typeface="Arial" panose="020B0604020202020204" pitchFamily="34" charset="0"/>
                        <a:buNone/>
                      </a:pPr>
                      <a:r>
                        <a:rPr lang="en-US" sz="1200" b="1" dirty="0" smtClean="0"/>
                        <a:t>Increases</a:t>
                      </a:r>
                      <a:r>
                        <a:rPr lang="en-US" sz="1200" b="1" baseline="0" dirty="0" smtClean="0"/>
                        <a:t> in Credit Risk premiums</a:t>
                      </a:r>
                      <a:endParaRPr lang="en-US" sz="1200" b="1" dirty="0"/>
                    </a:p>
                  </a:txBody>
                  <a:tcPr marL="83127" marR="83127" marT="40341" marB="40341" anchor="ctr">
                    <a:solidFill>
                      <a:schemeClr val="accent2">
                        <a:lumMod val="20000"/>
                        <a:lumOff val="80000"/>
                      </a:schemeClr>
                    </a:solidFill>
                  </a:tcPr>
                </a:tc>
                <a:tc>
                  <a:txBody>
                    <a:bodyPr/>
                    <a:lstStyle/>
                    <a:p>
                      <a:pPr lvl="0" algn="l"/>
                      <a:r>
                        <a:rPr lang="en-US" sz="1200" baseline="0" dirty="0" smtClean="0"/>
                        <a:t>Although the risk embedded in Agency MBS is mainly prepayment risk, and therefore the associated cash flows are uncorrelated to credit, often spread widening in credit markets can affect Agency MBS pricing leading to increased opportunities.</a:t>
                      </a:r>
                    </a:p>
                  </a:txBody>
                  <a:tcPr marL="83127" marR="83127" marT="40341" marB="40341" anchor="ctr">
                    <a:solidFill>
                      <a:schemeClr val="accent2">
                        <a:lumMod val="20000"/>
                        <a:lumOff val="80000"/>
                      </a:schemeClr>
                    </a:solidFill>
                  </a:tcPr>
                </a:tc>
              </a:tr>
              <a:tr h="645459">
                <a:tc>
                  <a:txBody>
                    <a:bodyPr/>
                    <a:lstStyle/>
                    <a:p>
                      <a:pPr marL="0" indent="0" algn="l">
                        <a:buFont typeface="Arial" panose="020B0604020202020204" pitchFamily="34" charset="0"/>
                        <a:buNone/>
                      </a:pPr>
                      <a:r>
                        <a:rPr lang="en-US" sz="1200" b="1" dirty="0" smtClean="0"/>
                        <a:t>Regulatory</a:t>
                      </a:r>
                      <a:r>
                        <a:rPr lang="en-US" sz="1200" b="1" baseline="0" dirty="0" smtClean="0"/>
                        <a:t> Impacts on Bank Portfolio Liquidity</a:t>
                      </a:r>
                      <a:endParaRPr lang="en-US" sz="1200" b="1" dirty="0"/>
                    </a:p>
                  </a:txBody>
                  <a:tcPr marL="83127" marR="83127" marT="40341" marB="40341" anchor="ctr">
                    <a:solidFill>
                      <a:schemeClr val="accent2">
                        <a:lumMod val="20000"/>
                        <a:lumOff val="80000"/>
                      </a:schemeClr>
                    </a:solidFill>
                  </a:tcPr>
                </a:tc>
                <a:tc>
                  <a:txBody>
                    <a:bodyPr/>
                    <a:lstStyle/>
                    <a:p>
                      <a:pPr lvl="0" algn="l"/>
                      <a:r>
                        <a:rPr lang="en-US" sz="1200" baseline="0" dirty="0" smtClean="0"/>
                        <a:t>The imposition of LCR has led to sustained demand for GNMA MBS in order to fulfill HQLA requirements. A decrease in the Fed’s balance sheet will drive banks to purchase more Treasuries and GNMAs to meet Level 1 HQLA requirements.</a:t>
                      </a:r>
                    </a:p>
                  </a:txBody>
                  <a:tcPr marL="83127" marR="83127" marT="40341" marB="40341" anchor="ctr">
                    <a:solidFill>
                      <a:schemeClr val="accent2">
                        <a:lumMod val="20000"/>
                        <a:lumOff val="80000"/>
                      </a:schemeClr>
                    </a:solidFill>
                  </a:tcPr>
                </a:tc>
              </a:tr>
              <a:tr h="645459">
                <a:tc>
                  <a:txBody>
                    <a:bodyPr/>
                    <a:lstStyle/>
                    <a:p>
                      <a:pPr marL="0" indent="0" algn="l">
                        <a:buFont typeface="Arial" panose="020B0604020202020204" pitchFamily="34" charset="0"/>
                        <a:buNone/>
                      </a:pPr>
                      <a:r>
                        <a:rPr lang="en-US" sz="1200" b="1" dirty="0" smtClean="0"/>
                        <a:t>Regulatory</a:t>
                      </a:r>
                      <a:r>
                        <a:rPr lang="en-US" sz="1200" b="1" baseline="0" dirty="0" smtClean="0"/>
                        <a:t> changes in mortgage lending terms</a:t>
                      </a:r>
                      <a:endParaRPr lang="en-US" sz="1200" b="1" dirty="0"/>
                    </a:p>
                  </a:txBody>
                  <a:tcPr marL="83127" marR="83127" marT="40341" marB="40341" anchor="ctr">
                    <a:solidFill>
                      <a:schemeClr val="accent2">
                        <a:lumMod val="20000"/>
                        <a:lumOff val="80000"/>
                      </a:schemeClr>
                    </a:solidFill>
                  </a:tcPr>
                </a:tc>
                <a:tc>
                  <a:txBody>
                    <a:bodyPr/>
                    <a:lstStyle/>
                    <a:p>
                      <a:pPr lvl="0" algn="l"/>
                      <a:r>
                        <a:rPr lang="en-US" sz="1200" baseline="0" dirty="0" smtClean="0"/>
                        <a:t>Further attempts to stimulate the housing market through expansion of the credit box, rep/warranty relief, reductions in MIPs or g-fees could create market distortions.</a:t>
                      </a:r>
                    </a:p>
                  </a:txBody>
                  <a:tcPr marL="83127" marR="83127" marT="40341" marB="40341" anchor="ctr">
                    <a:solidFill>
                      <a:schemeClr val="accent2">
                        <a:lumMod val="20000"/>
                        <a:lumOff val="80000"/>
                      </a:schemeClr>
                    </a:solidFill>
                  </a:tcPr>
                </a:tc>
              </a:tr>
            </a:tbl>
          </a:graphicData>
        </a:graphic>
      </p:graphicFrame>
    </p:spTree>
    <p:extLst>
      <p:ext uri="{BB962C8B-B14F-4D97-AF65-F5344CB8AC3E}">
        <p14:creationId xmlns:p14="http://schemas.microsoft.com/office/powerpoint/2010/main" val="24226123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2286001" y="1185222"/>
            <a:ext cx="6404166" cy="548165"/>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4359" tIns="44359" rIns="88719" bIns="44359" rtlCol="0" anchor="ctr"/>
          <a:lstStyle/>
          <a:p>
            <a:pPr algn="ctr"/>
            <a:r>
              <a:rPr lang="en-US" sz="1165" b="1" dirty="0" smtClean="0">
                <a:solidFill>
                  <a:srgbClr val="FFFFFF"/>
                </a:solidFill>
              </a:rPr>
              <a:t>THE REFINANCEABLE </a:t>
            </a:r>
            <a:r>
              <a:rPr lang="en-US" sz="1165" b="1" dirty="0">
                <a:solidFill>
                  <a:srgbClr val="FFFFFF"/>
                </a:solidFill>
              </a:rPr>
              <a:t>UNIVERSE </a:t>
            </a:r>
            <a:r>
              <a:rPr lang="en-US" sz="1165" b="1" dirty="0" smtClean="0">
                <a:solidFill>
                  <a:srgbClr val="FFFFFF"/>
                </a:solidFill>
              </a:rPr>
              <a:t>AS A FUNCTION OF MORTGAGE RATES </a:t>
            </a:r>
            <a:endParaRPr lang="en-US" sz="1165" b="1" dirty="0">
              <a:solidFill>
                <a:srgbClr val="FFFFFF"/>
              </a:solidFill>
            </a:endParaRPr>
          </a:p>
          <a:p>
            <a:pPr algn="ctr"/>
            <a:r>
              <a:rPr lang="en-US" sz="1165" dirty="0" smtClean="0">
                <a:solidFill>
                  <a:srgbClr val="FFFFFF"/>
                </a:solidFill>
              </a:rPr>
              <a:t>(8th January 2016)</a:t>
            </a:r>
            <a:endParaRPr lang="en-US" sz="1165" dirty="0">
              <a:solidFill>
                <a:srgbClr val="FFFFFF"/>
              </a:solidFill>
            </a:endParaRPr>
          </a:p>
        </p:txBody>
      </p:sp>
      <p:sp>
        <p:nvSpPr>
          <p:cNvPr id="11" name="TextBox 10"/>
          <p:cNvSpPr txBox="1"/>
          <p:nvPr/>
        </p:nvSpPr>
        <p:spPr>
          <a:xfrm>
            <a:off x="237651" y="1197389"/>
            <a:ext cx="1981200" cy="3406846"/>
          </a:xfrm>
          <a:prstGeom prst="rect">
            <a:avLst/>
          </a:prstGeom>
          <a:noFill/>
        </p:spPr>
        <p:txBody>
          <a:bodyPr wrap="square" lIns="82058" tIns="41029" rIns="82058" bIns="41029" rtlCol="0">
            <a:spAutoFit/>
          </a:bodyPr>
          <a:lstStyle/>
          <a:p>
            <a:r>
              <a:rPr lang="en-US" sz="1200" dirty="0" smtClean="0"/>
              <a:t>The </a:t>
            </a:r>
            <a:r>
              <a:rPr lang="en-US" sz="1200" dirty="0" err="1" smtClean="0"/>
              <a:t>refinanceable</a:t>
            </a:r>
            <a:r>
              <a:rPr lang="en-US" sz="1200" dirty="0" smtClean="0"/>
              <a:t> fraction of the mortgage universe is an important indicator of prepayment risk. Cello has developed several different ways of estimating this indicator. </a:t>
            </a:r>
          </a:p>
          <a:p>
            <a:endParaRPr lang="en-US" sz="1200" dirty="0"/>
          </a:p>
          <a:p>
            <a:r>
              <a:rPr lang="en-US" sz="1200" dirty="0" smtClean="0"/>
              <a:t>Cello’s estimates suggest that </a:t>
            </a:r>
            <a:r>
              <a:rPr lang="en-US" sz="1200" dirty="0"/>
              <a:t>m</a:t>
            </a:r>
            <a:r>
              <a:rPr lang="en-US" sz="1200" dirty="0" smtClean="0"/>
              <a:t>ortgage rates probably need to fall by about 20-25bps to trigger a meaningful increase in prepayment rates, and by about 30-40bps to trigger a surge.</a:t>
            </a:r>
          </a:p>
          <a:p>
            <a:endParaRPr lang="en-US" sz="1200" dirty="0"/>
          </a:p>
          <a:p>
            <a:endParaRPr lang="en-US" sz="1200" dirty="0"/>
          </a:p>
        </p:txBody>
      </p:sp>
      <p:sp>
        <p:nvSpPr>
          <p:cNvPr id="12" name="Rectangle 68"/>
          <p:cNvSpPr>
            <a:spLocks noChangeArrowheads="1"/>
          </p:cNvSpPr>
          <p:nvPr/>
        </p:nvSpPr>
        <p:spPr bwMode="auto">
          <a:xfrm>
            <a:off x="237651" y="6100054"/>
            <a:ext cx="5325034" cy="197243"/>
          </a:xfrm>
          <a:prstGeom prst="rect">
            <a:avLst/>
          </a:prstGeom>
          <a:noFill/>
          <a:ln w="9525">
            <a:noFill/>
            <a:miter lim="800000"/>
            <a:headEnd/>
            <a:tailEnd/>
          </a:ln>
          <a:effectLst/>
        </p:spPr>
        <p:txBody>
          <a:bodyPr wrap="square" lIns="88719" tIns="44359" rIns="88719" bIns="44359" anchor="b">
            <a:spAutoFit/>
          </a:bodyPr>
          <a:lstStyle/>
          <a:p>
            <a:pPr>
              <a:lnSpc>
                <a:spcPct val="90000"/>
              </a:lnSpc>
              <a:spcBef>
                <a:spcPct val="20000"/>
              </a:spcBef>
            </a:pPr>
            <a:r>
              <a:rPr lang="en-US" sz="777" i="1" dirty="0"/>
              <a:t>Source: </a:t>
            </a:r>
            <a:r>
              <a:rPr lang="en-US" sz="777" dirty="0" smtClean="0"/>
              <a:t>Cello</a:t>
            </a:r>
            <a:endParaRPr lang="en-US" sz="777" i="1" dirty="0"/>
          </a:p>
        </p:txBody>
      </p:sp>
      <p:sp>
        <p:nvSpPr>
          <p:cNvPr id="7" name="Title 1"/>
          <p:cNvSpPr txBox="1">
            <a:spLocks/>
          </p:cNvSpPr>
          <p:nvPr/>
        </p:nvSpPr>
        <p:spPr bwMode="auto">
          <a:xfrm>
            <a:off x="2289977" y="228600"/>
            <a:ext cx="6618287" cy="568325"/>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914400"/>
            <a:r>
              <a:rPr lang="en-US" dirty="0"/>
              <a:t>IT </a:t>
            </a:r>
            <a:r>
              <a:rPr lang="en-US" dirty="0" smtClean="0"/>
              <a:t>WILL TAKE </a:t>
            </a:r>
            <a:r>
              <a:rPr lang="en-US" dirty="0"/>
              <a:t>A SIGNIFICANT DECREASE IN RATES TO TRIGGER A PREPAYMENT SURGE</a:t>
            </a:r>
            <a:endParaRPr lang="en-US" kern="0" dirty="0"/>
          </a:p>
        </p:txBody>
      </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8904" y="1848391"/>
            <a:ext cx="4796032" cy="42344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1730461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2286001" y="1185222"/>
            <a:ext cx="6404166" cy="548165"/>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4359" tIns="44359" rIns="88719" bIns="44359" rtlCol="0" anchor="ctr"/>
          <a:lstStyle/>
          <a:p>
            <a:pPr algn="ctr"/>
            <a:r>
              <a:rPr lang="en-US" sz="1165" b="1" dirty="0" smtClean="0">
                <a:solidFill>
                  <a:srgbClr val="FFFFFF"/>
                </a:solidFill>
              </a:rPr>
              <a:t>LEVERAGING SYMPHONY AND CELLO PREPAY PROJECTIONS</a:t>
            </a:r>
            <a:endParaRPr lang="en-US" sz="1165" b="1" dirty="0">
              <a:solidFill>
                <a:srgbClr val="FFFFFF"/>
              </a:solidFill>
            </a:endParaRPr>
          </a:p>
        </p:txBody>
      </p:sp>
      <p:sp>
        <p:nvSpPr>
          <p:cNvPr id="11" name="TextBox 10"/>
          <p:cNvSpPr txBox="1"/>
          <p:nvPr/>
        </p:nvSpPr>
        <p:spPr>
          <a:xfrm>
            <a:off x="237651" y="1197389"/>
            <a:ext cx="1981200" cy="3776178"/>
          </a:xfrm>
          <a:prstGeom prst="rect">
            <a:avLst/>
          </a:prstGeom>
          <a:noFill/>
        </p:spPr>
        <p:txBody>
          <a:bodyPr wrap="square" lIns="82058" tIns="41029" rIns="82058" bIns="41029" rtlCol="0">
            <a:spAutoFit/>
          </a:bodyPr>
          <a:lstStyle/>
          <a:p>
            <a:r>
              <a:rPr lang="en-US" sz="1200" dirty="0" smtClean="0"/>
              <a:t>Bond/sector selection in the IO sector </a:t>
            </a:r>
            <a:r>
              <a:rPr lang="en-US" sz="1200" dirty="0"/>
              <a:t>depends </a:t>
            </a:r>
            <a:r>
              <a:rPr lang="en-US" sz="1200" dirty="0" smtClean="0"/>
              <a:t>heavily on prepayment </a:t>
            </a:r>
            <a:r>
              <a:rPr lang="en-US" sz="1200" dirty="0"/>
              <a:t>model </a:t>
            </a:r>
            <a:r>
              <a:rPr lang="en-US" sz="1200" dirty="0" smtClean="0"/>
              <a:t>assumptions.  </a:t>
            </a:r>
          </a:p>
          <a:p>
            <a:endParaRPr lang="en-US" sz="1200" dirty="0"/>
          </a:p>
          <a:p>
            <a:r>
              <a:rPr lang="en-US" sz="1200" dirty="0" smtClean="0"/>
              <a:t>Cello leverages its </a:t>
            </a:r>
            <a:r>
              <a:rPr lang="en-US" sz="1200" b="1" dirty="0"/>
              <a:t>Symphony</a:t>
            </a:r>
            <a:r>
              <a:rPr lang="en-US" sz="1200" dirty="0"/>
              <a:t> </a:t>
            </a:r>
            <a:r>
              <a:rPr lang="en-US" sz="1200" dirty="0" smtClean="0"/>
              <a:t>application to compare </a:t>
            </a:r>
            <a:r>
              <a:rPr lang="en-US" sz="1200" dirty="0"/>
              <a:t>historical prepayment data </a:t>
            </a:r>
            <a:r>
              <a:rPr lang="en-US" sz="1200" dirty="0" smtClean="0"/>
              <a:t>versus </a:t>
            </a:r>
            <a:r>
              <a:rPr lang="en-US" sz="1200" dirty="0"/>
              <a:t>prepayment model </a:t>
            </a:r>
            <a:r>
              <a:rPr lang="en-US" sz="1200" dirty="0" smtClean="0"/>
              <a:t>forecasts </a:t>
            </a:r>
            <a:r>
              <a:rPr lang="en-US" sz="1200" dirty="0"/>
              <a:t>across different interest rate </a:t>
            </a:r>
            <a:r>
              <a:rPr lang="en-US" sz="1200" dirty="0" smtClean="0"/>
              <a:t>scenarios. </a:t>
            </a:r>
            <a:endParaRPr lang="en-US" sz="1200" dirty="0"/>
          </a:p>
          <a:p>
            <a:pPr marL="256432" indent="-256432">
              <a:buFont typeface="Wingdings" pitchFamily="2" charset="2"/>
              <a:buChar char="§"/>
            </a:pPr>
            <a:endParaRPr lang="en-US" sz="1200" dirty="0"/>
          </a:p>
          <a:p>
            <a:r>
              <a:rPr lang="en-US" sz="1200" dirty="0" smtClean="0"/>
              <a:t>For example, Cello’s analysis shows that </a:t>
            </a:r>
            <a:r>
              <a:rPr lang="en-US" sz="1200" dirty="0"/>
              <a:t>front </a:t>
            </a:r>
            <a:r>
              <a:rPr lang="en-US" sz="1200" dirty="0" err="1"/>
              <a:t>sequentials</a:t>
            </a:r>
            <a:r>
              <a:rPr lang="en-US" sz="1200" dirty="0"/>
              <a:t> </a:t>
            </a:r>
            <a:r>
              <a:rPr lang="en-US" sz="1200" dirty="0" smtClean="0"/>
              <a:t>backed by High LTV U6 </a:t>
            </a:r>
            <a:r>
              <a:rPr lang="en-US" sz="1200" dirty="0"/>
              <a:t>2013 </a:t>
            </a:r>
            <a:r>
              <a:rPr lang="en-US" sz="1200" dirty="0" smtClean="0"/>
              <a:t>4s collateral offer OASs in excess of 400bps.</a:t>
            </a:r>
            <a:endParaRPr lang="en-US" sz="1200" dirty="0"/>
          </a:p>
          <a:p>
            <a:endParaRPr lang="en-US" sz="1200" dirty="0" smtClean="0"/>
          </a:p>
          <a:p>
            <a:endParaRPr lang="en-US" sz="1200" dirty="0"/>
          </a:p>
          <a:p>
            <a:endParaRPr lang="en-US" sz="1200" dirty="0"/>
          </a:p>
        </p:txBody>
      </p:sp>
      <p:sp>
        <p:nvSpPr>
          <p:cNvPr id="12" name="Rectangle 68"/>
          <p:cNvSpPr>
            <a:spLocks noChangeArrowheads="1"/>
          </p:cNvSpPr>
          <p:nvPr/>
        </p:nvSpPr>
        <p:spPr bwMode="auto">
          <a:xfrm>
            <a:off x="237651" y="6100054"/>
            <a:ext cx="5325034" cy="197243"/>
          </a:xfrm>
          <a:prstGeom prst="rect">
            <a:avLst/>
          </a:prstGeom>
          <a:noFill/>
          <a:ln w="9525">
            <a:noFill/>
            <a:miter lim="800000"/>
            <a:headEnd/>
            <a:tailEnd/>
          </a:ln>
          <a:effectLst/>
        </p:spPr>
        <p:txBody>
          <a:bodyPr wrap="square" lIns="88719" tIns="44359" rIns="88719" bIns="44359" anchor="b">
            <a:spAutoFit/>
          </a:bodyPr>
          <a:lstStyle/>
          <a:p>
            <a:pPr>
              <a:lnSpc>
                <a:spcPct val="90000"/>
              </a:lnSpc>
              <a:spcBef>
                <a:spcPct val="20000"/>
              </a:spcBef>
            </a:pPr>
            <a:r>
              <a:rPr lang="en-US" sz="777" i="1" dirty="0"/>
              <a:t>Source: </a:t>
            </a:r>
            <a:r>
              <a:rPr lang="en-US" sz="777" dirty="0" smtClean="0"/>
              <a:t>Cello</a:t>
            </a:r>
            <a:endParaRPr lang="en-US" sz="777" i="1" dirty="0"/>
          </a:p>
        </p:txBody>
      </p:sp>
      <p:sp>
        <p:nvSpPr>
          <p:cNvPr id="9" name="Title 1"/>
          <p:cNvSpPr txBox="1">
            <a:spLocks/>
          </p:cNvSpPr>
          <p:nvPr/>
        </p:nvSpPr>
        <p:spPr bwMode="auto">
          <a:xfrm>
            <a:off x="2289977" y="228600"/>
            <a:ext cx="6618287" cy="568325"/>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914400"/>
            <a:r>
              <a:rPr lang="en-US" dirty="0"/>
              <a:t>BOND/SECTOR SELECTION</a:t>
            </a:r>
            <a:endParaRPr lang="en-US" kern="0" dirty="0"/>
          </a:p>
        </p:txBody>
      </p:sp>
      <p:graphicFrame>
        <p:nvGraphicFramePr>
          <p:cNvPr id="13" name="Chart 12"/>
          <p:cNvGraphicFramePr>
            <a:graphicFrameLocks/>
          </p:cNvGraphicFramePr>
          <p:nvPr>
            <p:extLst>
              <p:ext uri="{D42A27DB-BD31-4B8C-83A1-F6EECF244321}">
                <p14:modId xmlns:p14="http://schemas.microsoft.com/office/powerpoint/2010/main" val="1065461536"/>
              </p:ext>
            </p:extLst>
          </p:nvPr>
        </p:nvGraphicFramePr>
        <p:xfrm>
          <a:off x="2973484" y="1771156"/>
          <a:ext cx="5029200" cy="233489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14"/>
          <p:cNvGraphicFramePr>
            <a:graphicFrameLocks/>
          </p:cNvGraphicFramePr>
          <p:nvPr>
            <p:extLst>
              <p:ext uri="{D42A27DB-BD31-4B8C-83A1-F6EECF244321}">
                <p14:modId xmlns:p14="http://schemas.microsoft.com/office/powerpoint/2010/main" val="1154060002"/>
              </p:ext>
            </p:extLst>
          </p:nvPr>
        </p:nvGraphicFramePr>
        <p:xfrm>
          <a:off x="3048000" y="3962400"/>
          <a:ext cx="4495800" cy="245745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40861779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1147495" y="218056"/>
            <a:ext cx="7794625" cy="538163"/>
          </a:xfrm>
          <a:prstGeom prst="rect">
            <a:avLst/>
          </a:prstGeom>
          <a:noFill/>
          <a:ln w="9525">
            <a:noFill/>
            <a:miter lim="800000"/>
            <a:headEnd/>
            <a:tailEnd/>
          </a:ln>
        </p:spPr>
        <p:txBody>
          <a:bodyPr vert="horz" wrap="square" lIns="91419" tIns="45709" rIns="91419" bIns="45709" numCol="1" anchor="t" anchorCtr="0" compatLnSpc="1">
            <a:prstTxWarp prst="textNoShape">
              <a:avLst/>
            </a:prstTxWarp>
          </a:bodyPr>
          <a:lstStyle/>
          <a:p>
            <a:pPr algn="r" defTabSz="914293" eaLnBrk="0" hangingPunct="0">
              <a:defRPr/>
            </a:pPr>
            <a:r>
              <a:rPr lang="en-US" sz="1300" b="1" kern="0" dirty="0" smtClean="0">
                <a:solidFill>
                  <a:schemeClr val="bg1"/>
                </a:solidFill>
              </a:rPr>
              <a:t>STRATEGY OUTLOOK  </a:t>
            </a:r>
            <a:endParaRPr lang="en-US" sz="1300" b="1" kern="0" dirty="0">
              <a:solidFill>
                <a:schemeClr val="bg1"/>
              </a:solidFill>
            </a:endParaRPr>
          </a:p>
          <a:p>
            <a:pPr algn="r" defTabSz="914293" eaLnBrk="0" hangingPunct="0">
              <a:defRPr/>
            </a:pPr>
            <a:r>
              <a:rPr lang="en-US" sz="1300" b="1" kern="0" dirty="0">
                <a:solidFill>
                  <a:srgbClr val="FF0000"/>
                </a:solidFill>
              </a:rPr>
              <a:t/>
            </a:r>
            <a:br>
              <a:rPr lang="en-US" sz="1300" b="1" kern="0" dirty="0">
                <a:solidFill>
                  <a:srgbClr val="FF0000"/>
                </a:solidFill>
              </a:rPr>
            </a:br>
            <a:r>
              <a:rPr lang="en-US" sz="1100" kern="0" dirty="0">
                <a:solidFill>
                  <a:srgbClr val="FFFFFF"/>
                </a:solidFill>
              </a:rPr>
              <a:t/>
            </a:r>
            <a:br>
              <a:rPr lang="en-US" sz="1100" kern="0" dirty="0">
                <a:solidFill>
                  <a:srgbClr val="FFFFFF"/>
                </a:solidFill>
              </a:rPr>
            </a:br>
            <a:endParaRPr lang="en-US" sz="1300" kern="0" dirty="0">
              <a:solidFill>
                <a:srgbClr val="FFFFFF"/>
              </a:solidFill>
              <a:latin typeface="Calisto MT"/>
            </a:endParaRPr>
          </a:p>
        </p:txBody>
      </p:sp>
      <p:graphicFrame>
        <p:nvGraphicFramePr>
          <p:cNvPr id="2" name="Table 1"/>
          <p:cNvGraphicFramePr>
            <a:graphicFrameLocks noGrp="1"/>
          </p:cNvGraphicFramePr>
          <p:nvPr>
            <p:extLst>
              <p:ext uri="{D42A27DB-BD31-4B8C-83A1-F6EECF244321}">
                <p14:modId xmlns:p14="http://schemas.microsoft.com/office/powerpoint/2010/main" val="35346392"/>
              </p:ext>
            </p:extLst>
          </p:nvPr>
        </p:nvGraphicFramePr>
        <p:xfrm>
          <a:off x="990600" y="1066800"/>
          <a:ext cx="7467601" cy="4976651"/>
        </p:xfrm>
        <a:graphic>
          <a:graphicData uri="http://schemas.openxmlformats.org/drawingml/2006/table">
            <a:tbl>
              <a:tblPr firstRow="1" bandRow="1">
                <a:tableStyleId>{5C22544A-7EE6-4342-B048-85BDC9FD1C3A}</a:tableStyleId>
              </a:tblPr>
              <a:tblGrid>
                <a:gridCol w="1978595"/>
                <a:gridCol w="2744503"/>
                <a:gridCol w="2744503"/>
              </a:tblGrid>
              <a:tr h="834270">
                <a:tc>
                  <a:txBody>
                    <a:bodyPr/>
                    <a:lstStyle/>
                    <a:p>
                      <a:pPr algn="ctr"/>
                      <a:r>
                        <a:rPr lang="en-US" sz="1600" b="1" dirty="0" smtClean="0">
                          <a:solidFill>
                            <a:schemeClr val="bg1"/>
                          </a:solidFill>
                        </a:rPr>
                        <a:t>Risk</a:t>
                      </a:r>
                      <a:r>
                        <a:rPr lang="en-US" sz="1600" b="1" baseline="0" dirty="0" smtClean="0">
                          <a:solidFill>
                            <a:schemeClr val="bg1"/>
                          </a:solidFill>
                        </a:rPr>
                        <a:t> Factors</a:t>
                      </a:r>
                      <a:endParaRPr lang="en-US" sz="1600" b="1" dirty="0">
                        <a:solidFill>
                          <a:schemeClr val="bg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c>
                  <a:txBody>
                    <a:bodyPr/>
                    <a:lstStyle/>
                    <a:p>
                      <a:pPr algn="ctr"/>
                      <a:r>
                        <a:rPr lang="en-US" sz="1600" b="1" dirty="0" smtClean="0">
                          <a:solidFill>
                            <a:schemeClr val="bg1"/>
                          </a:solidFill>
                          <a:latin typeface="+mn-lt"/>
                        </a:rPr>
                        <a:t>Positioning</a:t>
                      </a:r>
                      <a:endParaRPr lang="en-US" sz="1600" b="1" dirty="0">
                        <a:solidFill>
                          <a:schemeClr val="bg1"/>
                        </a:solidFill>
                        <a:latin typeface="+mn-lt"/>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c>
                  <a:txBody>
                    <a:bodyPr/>
                    <a:lstStyle/>
                    <a:p>
                      <a:pPr algn="ctr"/>
                      <a:r>
                        <a:rPr lang="en-US" sz="1600" b="1" dirty="0" smtClean="0">
                          <a:solidFill>
                            <a:schemeClr val="bg1"/>
                          </a:solidFill>
                        </a:rPr>
                        <a:t>Rationale </a:t>
                      </a:r>
                      <a:endParaRPr lang="en-US" sz="1600" b="1" dirty="0">
                        <a:solidFill>
                          <a:schemeClr val="bg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398A"/>
                    </a:solidFill>
                  </a:tcPr>
                </a:tc>
              </a:tr>
              <a:tr h="1065330">
                <a:tc>
                  <a:txBody>
                    <a:bodyPr/>
                    <a:lstStyle/>
                    <a:p>
                      <a:r>
                        <a:rPr lang="en-US" sz="1400" b="1" dirty="0" smtClean="0">
                          <a:solidFill>
                            <a:srgbClr val="2E398A"/>
                          </a:solidFill>
                        </a:rPr>
                        <a:t>IO Beta </a:t>
                      </a:r>
                    </a:p>
                    <a:p>
                      <a:r>
                        <a:rPr lang="en-US" sz="1400" b="1" dirty="0" smtClean="0">
                          <a:solidFill>
                            <a:srgbClr val="2E398A"/>
                          </a:solidFill>
                        </a:rPr>
                        <a:t>(Prepayment</a:t>
                      </a:r>
                      <a:r>
                        <a:rPr lang="en-US" sz="1400" b="1" baseline="0" dirty="0" smtClean="0">
                          <a:solidFill>
                            <a:srgbClr val="2E398A"/>
                          </a:solidFill>
                        </a:rPr>
                        <a:t> Risk)</a:t>
                      </a:r>
                      <a:endParaRPr lang="en-US" sz="14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r>
                        <a:rPr lang="en-US" sz="1400" b="0" baseline="0" dirty="0" smtClean="0">
                          <a:solidFill>
                            <a:schemeClr val="tx1"/>
                          </a:solidFill>
                        </a:rPr>
                        <a:t>IO exposure of 30-40% </a:t>
                      </a: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r>
                        <a:rPr lang="en-US" sz="1400" b="0" baseline="0" dirty="0" smtClean="0">
                          <a:solidFill>
                            <a:schemeClr val="tx1"/>
                          </a:solidFill>
                        </a:rPr>
                        <a:t>IO spreads are on the tight side but prepayment fatigue has likely set in after several years of low rates</a:t>
                      </a:r>
                      <a:endParaRPr lang="en-US" sz="1400" b="0" dirty="0" smtClean="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r>
              <a:tr h="834270">
                <a:tc>
                  <a:txBody>
                    <a:bodyPr/>
                    <a:lstStyle/>
                    <a:p>
                      <a:r>
                        <a:rPr lang="en-US" sz="1400" b="1" baseline="0" dirty="0" smtClean="0">
                          <a:solidFill>
                            <a:srgbClr val="2E398A"/>
                          </a:solidFill>
                        </a:rPr>
                        <a:t>MBS Basis</a:t>
                      </a:r>
                      <a:endParaRPr lang="en-US" sz="14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EFEBE4"/>
                    </a:solidFill>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400" baseline="0" dirty="0" smtClean="0">
                          <a:solidFill>
                            <a:schemeClr val="tx1"/>
                          </a:solidFill>
                        </a:rPr>
                        <a:t>Modest long</a:t>
                      </a: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EFEBE4"/>
                    </a:solidFill>
                  </a:tcPr>
                </a:tc>
                <a:tc>
                  <a:txBody>
                    <a:bodyPr/>
                    <a:lstStyle/>
                    <a:p>
                      <a:r>
                        <a:rPr lang="en-US" sz="1400" b="0" dirty="0" smtClean="0">
                          <a:solidFill>
                            <a:schemeClr val="tx1"/>
                          </a:solidFill>
                        </a:rPr>
                        <a:t>Spreads</a:t>
                      </a:r>
                      <a:r>
                        <a:rPr lang="en-US" sz="1400" b="0" baseline="0" dirty="0" smtClean="0">
                          <a:solidFill>
                            <a:schemeClr val="tx1"/>
                          </a:solidFill>
                        </a:rPr>
                        <a:t> look fair and carry on TBAs look attractive.</a:t>
                      </a:r>
                      <a:endParaRPr lang="en-US" sz="1400" b="0" dirty="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EFEBE4"/>
                    </a:solidFill>
                  </a:tcPr>
                </a:tc>
              </a:tr>
              <a:tr h="834270">
                <a:tc>
                  <a:txBody>
                    <a:bodyPr/>
                    <a:lstStyle/>
                    <a:p>
                      <a:r>
                        <a:rPr lang="en-US" sz="1400" b="1" dirty="0" smtClean="0">
                          <a:solidFill>
                            <a:srgbClr val="2E398A"/>
                          </a:solidFill>
                        </a:rPr>
                        <a:t>Interest Rates</a:t>
                      </a:r>
                      <a:endParaRPr lang="en-US" sz="14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spcAft>
                          <a:spcPts val="400"/>
                        </a:spcAft>
                      </a:pPr>
                      <a:r>
                        <a:rPr lang="en-US" sz="1400" baseline="0" dirty="0" smtClean="0">
                          <a:solidFill>
                            <a:schemeClr val="tx1"/>
                          </a:solidFill>
                        </a:rPr>
                        <a:t>Overweight</a:t>
                      </a:r>
                      <a:endParaRPr lang="en-US" sz="1400" dirty="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marL="0" marR="0" indent="0" algn="l" defTabSz="913550" rtl="0" eaLnBrk="1" fontAlgn="auto" latinLnBrk="0" hangingPunct="1">
                        <a:lnSpc>
                          <a:spcPct val="100000"/>
                        </a:lnSpc>
                        <a:spcBef>
                          <a:spcPts val="0"/>
                        </a:spcBef>
                        <a:spcAft>
                          <a:spcPts val="0"/>
                        </a:spcAft>
                        <a:buClrTx/>
                        <a:buSzTx/>
                        <a:buFontTx/>
                        <a:buNone/>
                        <a:tabLst/>
                        <a:defRPr/>
                      </a:pPr>
                      <a:r>
                        <a:rPr lang="en-US" sz="1400" b="0" dirty="0" smtClean="0">
                          <a:solidFill>
                            <a:schemeClr val="tx1"/>
                          </a:solidFill>
                        </a:rPr>
                        <a:t>IO spreads</a:t>
                      </a:r>
                      <a:r>
                        <a:rPr lang="en-US" sz="1400" b="0" baseline="0" dirty="0" smtClean="0">
                          <a:solidFill>
                            <a:schemeClr val="tx1"/>
                          </a:solidFill>
                        </a:rPr>
                        <a:t> are correlated with interest rates as drop in interest rates typically lead to IO spread widening.</a:t>
                      </a:r>
                      <a:endParaRPr lang="en-US" sz="1400" b="0" dirty="0" smtClean="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1308659">
                <a:tc>
                  <a:txBody>
                    <a:bodyPr/>
                    <a:lstStyle/>
                    <a:p>
                      <a:r>
                        <a:rPr lang="en-US" sz="1400" b="1" dirty="0" smtClean="0">
                          <a:solidFill>
                            <a:srgbClr val="2E398A"/>
                          </a:solidFill>
                        </a:rPr>
                        <a:t>Sector</a:t>
                      </a:r>
                      <a:r>
                        <a:rPr lang="en-US" sz="1400" b="1" baseline="0" dirty="0" smtClean="0">
                          <a:solidFill>
                            <a:srgbClr val="2E398A"/>
                          </a:solidFill>
                        </a:rPr>
                        <a:t> Allocation</a:t>
                      </a:r>
                      <a:endParaRPr lang="en-US" sz="1400" b="1" dirty="0">
                        <a:solidFill>
                          <a:srgbClr val="2E398A"/>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2"/>
                    </a:solidFill>
                  </a:tcPr>
                </a:tc>
                <a:tc>
                  <a:txBody>
                    <a:bodyPr/>
                    <a:lstStyle/>
                    <a:p>
                      <a:pPr>
                        <a:spcAft>
                          <a:spcPts val="400"/>
                        </a:spcAft>
                      </a:pPr>
                      <a:r>
                        <a:rPr lang="en-US" sz="1400" baseline="0" dirty="0" smtClean="0">
                          <a:solidFill>
                            <a:schemeClr val="tx1"/>
                          </a:solidFill>
                        </a:rPr>
                        <a:t>Overweight CQs, CRs, GN and Conventional Jumbo</a:t>
                      </a:r>
                      <a:endParaRPr lang="en-US" sz="1400" dirty="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2"/>
                    </a:solidFill>
                  </a:tcPr>
                </a:tc>
                <a:tc>
                  <a:txBody>
                    <a:bodyPr/>
                    <a:lstStyle/>
                    <a:p>
                      <a:r>
                        <a:rPr lang="en-US" sz="1400" b="0" dirty="0" smtClean="0">
                          <a:solidFill>
                            <a:schemeClr val="tx1"/>
                          </a:solidFill>
                        </a:rPr>
                        <a:t>Market</a:t>
                      </a:r>
                      <a:r>
                        <a:rPr lang="en-US" sz="1400" b="0" baseline="0" dirty="0" smtClean="0">
                          <a:solidFill>
                            <a:schemeClr val="tx1"/>
                          </a:solidFill>
                        </a:rPr>
                        <a:t> is over-penalizing certain High LTV loans. GNMA CMOs are being issued at attractive levels.</a:t>
                      </a:r>
                      <a:endParaRPr lang="en-US" sz="1400" b="0" dirty="0">
                        <a:solidFill>
                          <a:schemeClr val="tx1"/>
                        </a:solidFill>
                      </a:endParaRPr>
                    </a:p>
                  </a:txBody>
                  <a:tcPr marL="83127" marR="83127"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r>
            </a:tbl>
          </a:graphicData>
        </a:graphic>
      </p:graphicFrame>
    </p:spTree>
    <p:extLst>
      <p:ext uri="{BB962C8B-B14F-4D97-AF65-F5344CB8AC3E}">
        <p14:creationId xmlns:p14="http://schemas.microsoft.com/office/powerpoint/2010/main" val="342550610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1" name="Rectangle 2"/>
          <p:cNvSpPr>
            <a:spLocks noGrp="1" noChangeArrowheads="1"/>
          </p:cNvSpPr>
          <p:nvPr>
            <p:ph type="title"/>
          </p:nvPr>
        </p:nvSpPr>
        <p:spPr>
          <a:xfrm>
            <a:off x="2294806" y="237193"/>
            <a:ext cx="6618287" cy="568325"/>
          </a:xfrm>
        </p:spPr>
        <p:txBody>
          <a:bodyPr/>
          <a:lstStyle/>
          <a:p>
            <a:r>
              <a:rPr lang="en-US" dirty="0" smtClean="0"/>
              <a:t>DISCLOSURES</a:t>
            </a:r>
            <a:br>
              <a:rPr lang="en-US" dirty="0" smtClean="0"/>
            </a:br>
            <a:r>
              <a:rPr lang="en-US" sz="1100" b="0" dirty="0"/>
              <a:t>Important Notes</a:t>
            </a:r>
            <a:endParaRPr lang="en-US" sz="1100" b="0" dirty="0">
              <a:solidFill>
                <a:srgbClr val="FFFFFF"/>
              </a:solidFill>
            </a:endParaRPr>
          </a:p>
        </p:txBody>
      </p:sp>
      <p:sp>
        <p:nvSpPr>
          <p:cNvPr id="5" name="Rectangle 3"/>
          <p:cNvSpPr txBox="1">
            <a:spLocks noChangeArrowheads="1"/>
          </p:cNvSpPr>
          <p:nvPr/>
        </p:nvSpPr>
        <p:spPr bwMode="auto">
          <a:xfrm>
            <a:off x="242455" y="1382713"/>
            <a:ext cx="8659091" cy="3118512"/>
          </a:xfrm>
          <a:prstGeom prst="rect">
            <a:avLst/>
          </a:prstGeom>
          <a:noFill/>
          <a:ln w="9525">
            <a:noFill/>
            <a:miter lim="800000"/>
            <a:headEnd/>
            <a:tailEnd/>
          </a:ln>
        </p:spPr>
        <p:txBody>
          <a:bodyPr vert="horz" wrap="square" lIns="91397" tIns="45698" rIns="91397" bIns="45698" numCol="2" spcCol="246117" anchor="t" anchorCtr="0" compatLnSpc="1">
            <a:prstTxWarp prst="textNoShape">
              <a:avLst/>
            </a:prstTxWarp>
          </a:bodyPr>
          <a:lstStyle/>
          <a:p>
            <a:pPr defTabSz="820391" eaLnBrk="0" hangingPunct="0">
              <a:spcBef>
                <a:spcPct val="110000"/>
              </a:spcBef>
              <a:buClr>
                <a:schemeClr val="tx2"/>
              </a:buClr>
              <a:defRPr/>
            </a:pPr>
            <a:r>
              <a:rPr lang="en-US" sz="1000" kern="0" dirty="0"/>
              <a:t>THIS DOCUMENT IS NOT AN OFFER TO SELL OR THE SOLICITATION OF AN OFFER TO BUY SHARES OF THE FUND. AN OFFERING OF INTERESTS WILL BE MADE ONLY BY MEANS OF A CONFIDENTIAL PRIVATE PLACEMENT MEMORANDUM AND ONLY TO QUALIFIED INVESTORS IN JURISDICTIONS WHERE PERMITTED BY LAW. PAST PERFORMANCE IS NO GUARANTEE OF FUTURE PERFORMANCE. </a:t>
            </a:r>
          </a:p>
          <a:p>
            <a:pPr defTabSz="820391" eaLnBrk="0" hangingPunct="0">
              <a:spcBef>
                <a:spcPct val="110000"/>
              </a:spcBef>
              <a:buClr>
                <a:schemeClr val="tx2"/>
              </a:buClr>
              <a:defRPr/>
            </a:pPr>
            <a:r>
              <a:rPr lang="en-US" sz="1000" kern="0" dirty="0"/>
              <a:t>An investment in the Fund is speculative and involves a high degree of risk. The Fund will have substantial limitations on investors’ ability to redeem or transfer their shares, and no secondary market for the Fund’s shares exists or will develop. All of these risks, and other important risks, are described in detail in the Fund’s Confidential Private Placement Memorandum. Prospective investors are strongly urged to review this Confidential Private Placement Memorandum carefully and consult with their own financial, legal and tax advisors, before investing. </a:t>
            </a:r>
          </a:p>
          <a:p>
            <a:pPr defTabSz="820391" eaLnBrk="0" hangingPunct="0">
              <a:spcBef>
                <a:spcPct val="110000"/>
              </a:spcBef>
              <a:buClr>
                <a:schemeClr val="tx2"/>
              </a:buClr>
              <a:defRPr/>
            </a:pPr>
            <a:r>
              <a:rPr lang="en-US" sz="1000" kern="0" dirty="0"/>
              <a:t>Portions of this document may contain commentary and/or data based on certain current assumptions by Cello Capital Management, </a:t>
            </a:r>
            <a:r>
              <a:rPr lang="en-US" sz="1000" kern="0" dirty="0" smtClean="0"/>
              <a:t>LP </a:t>
            </a:r>
            <a:r>
              <a:rPr lang="en-US" sz="1000" kern="0" dirty="0"/>
              <a:t>(“Cello”), which are subject to change at any time, as well as Cello's internal complex calculations. If one or more of these assumptions or calculations is incorrect, the information contained herein may unintentionally be inaccurate. </a:t>
            </a:r>
          </a:p>
          <a:p>
            <a:pPr defTabSz="820391" eaLnBrk="0" hangingPunct="0">
              <a:spcBef>
                <a:spcPct val="110000"/>
              </a:spcBef>
              <a:buClr>
                <a:schemeClr val="tx2"/>
              </a:buClr>
              <a:defRPr/>
            </a:pPr>
            <a:r>
              <a:rPr lang="en-US" sz="1000" kern="0" dirty="0"/>
              <a:t>Certain information contained herein may have been obtained by Cello from third parties. While Cello believes such sources are reliable, Cello has not verified the accuracy of such information and shall not be liable for any errors in such information or for any actions taken in reliance thereon. </a:t>
            </a:r>
          </a:p>
          <a:p>
            <a:pPr defTabSz="820391" eaLnBrk="0" hangingPunct="0">
              <a:spcBef>
                <a:spcPct val="110000"/>
              </a:spcBef>
              <a:buClr>
                <a:schemeClr val="tx2"/>
              </a:buClr>
              <a:defRPr/>
            </a:pPr>
            <a:r>
              <a:rPr lang="en-US" sz="1000" kern="0" dirty="0"/>
              <a:t>This document may also contain certain forward looking statements and projections. Such statements and projections are subject to a number of assumptions, risks and uncertainties which may cause actual results, performance or achievements to be materially different from future results, performance or achievements expressed or implied by these forward-looking statements and projections. Prospective investors are cautioned not to invest based on these forward-looking statements and projections. </a:t>
            </a:r>
          </a:p>
          <a:p>
            <a:pPr defTabSz="820391" eaLnBrk="0" hangingPunct="0">
              <a:spcBef>
                <a:spcPct val="110000"/>
              </a:spcBef>
              <a:buClr>
                <a:schemeClr val="tx2"/>
              </a:buClr>
              <a:defRPr/>
            </a:pPr>
            <a:r>
              <a:rPr lang="en-US" sz="1000" kern="0" dirty="0"/>
              <a:t>This document may contain references to certain internal Cello procedures and policies which are subject to change at any time. </a:t>
            </a:r>
          </a:p>
          <a:p>
            <a:pPr defTabSz="820391" eaLnBrk="0" hangingPunct="0">
              <a:spcBef>
                <a:spcPct val="110000"/>
              </a:spcBef>
              <a:buClr>
                <a:schemeClr val="tx2"/>
              </a:buClr>
              <a:defRPr/>
            </a:pPr>
            <a:r>
              <a:rPr lang="en-US" sz="1000" kern="0" dirty="0"/>
              <a:t>No information or material contained herein may be reproduced, transmitted, displayed or commercially exploited without the prior written consent of Cello. All rights are reserved.</a:t>
            </a:r>
          </a:p>
        </p:txBody>
      </p:sp>
    </p:spTree>
    <p:extLst>
      <p:ext uri="{BB962C8B-B14F-4D97-AF65-F5344CB8AC3E}">
        <p14:creationId xmlns:p14="http://schemas.microsoft.com/office/powerpoint/2010/main" val="1357499577"/>
      </p:ext>
    </p:extLst>
  </p:cSld>
  <p:clrMapOvr>
    <a:masterClrMapping/>
  </p:clrMapOvr>
  <p:timing>
    <p:tnLst>
      <p:par>
        <p:cTn id="1" dur="indefinite" restart="never" nodeType="tmRoot"/>
      </p:par>
    </p:tnLst>
  </p:timing>
</p:sld>
</file>

<file path=ppt/theme/theme1.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5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themeOverride>
</file>

<file path=docProps/app.xml><?xml version="1.0" encoding="utf-8"?>
<Properties xmlns="http://schemas.openxmlformats.org/officeDocument/2006/extended-properties" xmlns:vt="http://schemas.openxmlformats.org/officeDocument/2006/docPropsVTypes">
  <TotalTime>74775</TotalTime>
  <Words>2383</Words>
  <Application>Microsoft Office PowerPoint</Application>
  <PresentationFormat>On-screen Show (4:3)</PresentationFormat>
  <Paragraphs>440</Paragraphs>
  <Slides>14</Slides>
  <Notes>13</Notes>
  <HiddenSlides>0</HiddenSlides>
  <MMClips>0</MMClips>
  <ScaleCrop>false</ScaleCrop>
  <HeadingPairs>
    <vt:vector size="4" baseType="variant">
      <vt:variant>
        <vt:lpstr>Theme</vt:lpstr>
      </vt:variant>
      <vt:variant>
        <vt:i4>4</vt:i4>
      </vt:variant>
      <vt:variant>
        <vt:lpstr>Slide Titles</vt:lpstr>
      </vt:variant>
      <vt:variant>
        <vt:i4>14</vt:i4>
      </vt:variant>
    </vt:vector>
  </HeadingPairs>
  <TitlesOfParts>
    <vt:vector size="18" baseType="lpstr">
      <vt:lpstr>4_Default Design</vt:lpstr>
      <vt:lpstr>Custom Design</vt:lpstr>
      <vt:lpstr>1_Custom Design</vt:lpstr>
      <vt:lpstr>5_Default Design</vt:lpstr>
      <vt:lpstr>PowerPoint Presentation</vt:lpstr>
      <vt:lpstr>QUARTERLY ASSET CLASS PERFORMANCE REVIEW  </vt:lpstr>
      <vt:lpstr> </vt:lpstr>
      <vt:lpstr>BOND MARKET VOLATILITY REMAINED HIGH IN Q3</vt:lpstr>
      <vt:lpstr>QUARTERLY IOS PERFORMANCE REVIEW</vt:lpstr>
      <vt:lpstr> </vt:lpstr>
      <vt:lpstr>CELLO PERFORMANCE AND DRIVERS OF RETURNS</vt:lpstr>
      <vt:lpstr>PowerPoint Presentation</vt:lpstr>
      <vt:lpstr> </vt:lpstr>
      <vt:lpstr>CATALYSTS FOR AN EXPANDED OPPORTUNITY SET</vt:lpstr>
      <vt:lpstr>PowerPoint Presentation</vt:lpstr>
      <vt:lpstr>PowerPoint Presentation</vt:lpstr>
      <vt:lpstr>PowerPoint Presentation</vt:lpstr>
      <vt:lpstr>DISCLOSURES Important Notes</vt:lpstr>
    </vt:vector>
  </TitlesOfParts>
  <Company>Hewlett-Packard Company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HIGH-LEVEL OVERVIEW OF INVESTMENT PROCESS</dc:title>
  <dc:creator>Carly</dc:creator>
  <cp:lastModifiedBy>Lien Chen</cp:lastModifiedBy>
  <cp:revision>1392</cp:revision>
  <cp:lastPrinted>2015-12-16T21:11:30Z</cp:lastPrinted>
  <dcterms:created xsi:type="dcterms:W3CDTF">2013-07-09T16:35:22Z</dcterms:created>
  <dcterms:modified xsi:type="dcterms:W3CDTF">2016-01-20T21:43:42Z</dcterms:modified>
</cp:coreProperties>
</file>