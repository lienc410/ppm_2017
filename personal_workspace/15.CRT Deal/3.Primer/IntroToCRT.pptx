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6.xml" ContentType="application/vnd.openxmlformats-officedocument.presentationml.slideLayout+xml"/>
  <Override PartName="/ppt/theme/theme9.xml" ContentType="application/vnd.openxmlformats-officedocument.theme+xml"/>
  <Override PartName="/ppt/slideLayouts/slideLayout17.xml" ContentType="application/vnd.openxmlformats-officedocument.presentationml.slideLayout+xml"/>
  <Override PartName="/ppt/theme/theme10.xml" ContentType="application/vnd.openxmlformats-officedocument.theme+xml"/>
  <Override PartName="/ppt/slideLayouts/slideLayout18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5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16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17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  <p:sldMasterId id="2147483860" r:id="rId16"/>
    <p:sldMasterId id="2147483866" r:id="rId17"/>
    <p:sldMasterId id="2147483872" r:id="rId18"/>
  </p:sldMasterIdLst>
  <p:notesMasterIdLst>
    <p:notesMasterId r:id="rId38"/>
  </p:notesMasterIdLst>
  <p:handoutMasterIdLst>
    <p:handoutMasterId r:id="rId39"/>
  </p:handoutMasterIdLst>
  <p:sldIdLst>
    <p:sldId id="553" r:id="rId19"/>
    <p:sldId id="539" r:id="rId20"/>
    <p:sldId id="562" r:id="rId21"/>
    <p:sldId id="555" r:id="rId22"/>
    <p:sldId id="567" r:id="rId23"/>
    <p:sldId id="558" r:id="rId24"/>
    <p:sldId id="563" r:id="rId25"/>
    <p:sldId id="564" r:id="rId26"/>
    <p:sldId id="570" r:id="rId27"/>
    <p:sldId id="571" r:id="rId28"/>
    <p:sldId id="556" r:id="rId29"/>
    <p:sldId id="557" r:id="rId30"/>
    <p:sldId id="559" r:id="rId31"/>
    <p:sldId id="560" r:id="rId32"/>
    <p:sldId id="561" r:id="rId33"/>
    <p:sldId id="565" r:id="rId34"/>
    <p:sldId id="566" r:id="rId35"/>
    <p:sldId id="568" r:id="rId36"/>
    <p:sldId id="569" r:id="rId37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 userDrawn="1">
          <p15:clr>
            <a:srgbClr val="A4A3A4"/>
          </p15:clr>
        </p15:guide>
        <p15:guide id="2" pos="218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353"/>
    <a:srgbClr val="000000"/>
    <a:srgbClr val="968880"/>
    <a:srgbClr val="2E398A"/>
    <a:srgbClr val="2E399E"/>
    <a:srgbClr val="E8E8ED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4" autoAdjust="0"/>
    <p:restoredTop sz="86372" autoAdjust="0"/>
  </p:normalViewPr>
  <p:slideViewPr>
    <p:cSldViewPr snapToGrid="0" snapToObjects="1">
      <p:cViewPr varScale="1">
        <p:scale>
          <a:sx n="146" d="100"/>
          <a:sy n="146" d="100"/>
        </p:scale>
        <p:origin x="756" y="13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8.xml"/><Relationship Id="rId39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3.xml"/><Relationship Id="rId34" Type="http://schemas.openxmlformats.org/officeDocument/2006/relationships/slide" Target="slides/slide1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7.xml"/><Relationship Id="rId33" Type="http://schemas.openxmlformats.org/officeDocument/2006/relationships/slide" Target="slides/slide15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29" Type="http://schemas.openxmlformats.org/officeDocument/2006/relationships/slide" Target="slides/slide1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6.xml"/><Relationship Id="rId32" Type="http://schemas.openxmlformats.org/officeDocument/2006/relationships/slide" Target="slides/slide14.xml"/><Relationship Id="rId37" Type="http://schemas.openxmlformats.org/officeDocument/2006/relationships/slide" Target="slides/slide19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5.xml"/><Relationship Id="rId28" Type="http://schemas.openxmlformats.org/officeDocument/2006/relationships/slide" Target="slides/slide10.xml"/><Relationship Id="rId36" Type="http://schemas.openxmlformats.org/officeDocument/2006/relationships/slide" Target="slides/slide18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31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slide" Target="slides/slide9.xml"/><Relationship Id="rId30" Type="http://schemas.openxmlformats.org/officeDocument/2006/relationships/slide" Target="slides/slide12.xml"/><Relationship Id="rId35" Type="http://schemas.openxmlformats.org/officeDocument/2006/relationships/slide" Target="slides/slide17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4" Type="http://schemas.openxmlformats.org/officeDocument/2006/relationships/image" Target="../media/image2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8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48" tIns="45773" rIns="91548" bIns="45773" numCol="1" anchor="t" anchorCtr="0" compatLnSpc="1">
            <a:prstTxWarp prst="textNoShape">
              <a:avLst/>
            </a:prstTxWarp>
          </a:bodyPr>
          <a:lstStyle>
            <a:lvl1pPr defTabSz="91276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8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48" tIns="45773" rIns="91548" bIns="45773" numCol="1" anchor="t" anchorCtr="0" compatLnSpc="1">
            <a:prstTxWarp prst="textNoShape">
              <a:avLst/>
            </a:prstTxWarp>
          </a:bodyPr>
          <a:lstStyle>
            <a:lvl1pPr algn="r" defTabSz="91276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4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48" tIns="45773" rIns="91548" bIns="45773" numCol="1" anchor="b" anchorCtr="0" compatLnSpc="1">
            <a:prstTxWarp prst="textNoShape">
              <a:avLst/>
            </a:prstTxWarp>
          </a:bodyPr>
          <a:lstStyle>
            <a:lvl1pPr defTabSz="91276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4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48" tIns="45773" rIns="91548" bIns="45773" numCol="1" anchor="b" anchorCtr="0" compatLnSpc="1">
            <a:prstTxWarp prst="textNoShape">
              <a:avLst/>
            </a:prstTxWarp>
          </a:bodyPr>
          <a:lstStyle>
            <a:lvl1pPr algn="r" defTabSz="912764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8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48" tIns="45773" rIns="91548" bIns="45773" numCol="1" anchor="t" anchorCtr="0" compatLnSpc="1">
            <a:prstTxWarp prst="textNoShape">
              <a:avLst/>
            </a:prstTxWarp>
          </a:bodyPr>
          <a:lstStyle>
            <a:lvl1pPr defTabSz="91276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8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48" tIns="45773" rIns="91548" bIns="45773" numCol="1" anchor="t" anchorCtr="0" compatLnSpc="1">
            <a:prstTxWarp prst="textNoShape">
              <a:avLst/>
            </a:prstTxWarp>
          </a:bodyPr>
          <a:lstStyle>
            <a:lvl1pPr algn="r" defTabSz="91276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8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48" tIns="45773" rIns="91548" bIns="45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4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48" tIns="45773" rIns="91548" bIns="45773" numCol="1" anchor="b" anchorCtr="0" compatLnSpc="1">
            <a:prstTxWarp prst="textNoShape">
              <a:avLst/>
            </a:prstTxWarp>
          </a:bodyPr>
          <a:lstStyle>
            <a:lvl1pPr defTabSz="91276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4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48" tIns="45773" rIns="91548" bIns="45773" numCol="1" anchor="b" anchorCtr="0" compatLnSpc="1">
            <a:prstTxWarp prst="textNoShape">
              <a:avLst/>
            </a:prstTxWarp>
          </a:bodyPr>
          <a:lstStyle>
            <a:lvl1pPr algn="r" defTabSz="912764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188"/>
            <a:fld id="{1FE077EC-684A-4FD9-A6C3-9AE90D8B81D6}" type="slidenum">
              <a:rPr lang="en-US" smtClean="0">
                <a:solidFill>
                  <a:srgbClr val="000000"/>
                </a:solidFill>
              </a:rPr>
              <a:pPr defTabSz="911188"/>
              <a:t>1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217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0501" y="1168402"/>
            <a:ext cx="7539782" cy="5813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57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5586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687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005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693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1447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52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333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87702" indent="0" algn="ctr">
              <a:buNone/>
              <a:defRPr/>
            </a:lvl2pPr>
            <a:lvl3pPr marL="975401" indent="0" algn="ctr">
              <a:buNone/>
              <a:defRPr/>
            </a:lvl3pPr>
            <a:lvl4pPr marL="1463100" indent="0" algn="ctr">
              <a:buNone/>
              <a:defRPr/>
            </a:lvl4pPr>
            <a:lvl5pPr marL="1950801" indent="0" algn="ctr">
              <a:buNone/>
              <a:defRPr/>
            </a:lvl5pPr>
            <a:lvl6pPr marL="2438501" indent="0" algn="ctr">
              <a:buNone/>
              <a:defRPr/>
            </a:lvl6pPr>
            <a:lvl7pPr marL="2926202" indent="0" algn="ctr">
              <a:buNone/>
              <a:defRPr/>
            </a:lvl7pPr>
            <a:lvl8pPr marL="3413904" indent="0" algn="ctr">
              <a:buNone/>
              <a:defRPr/>
            </a:lvl8pPr>
            <a:lvl9pPr marL="39016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901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 marL="769124" indent="-224961">
              <a:defRPr sz="1175">
                <a:latin typeface="+mn-lt"/>
              </a:defRPr>
            </a:lvl4pPr>
            <a:lvl5pPr marL="981926" indent="-212801">
              <a:defRPr sz="1175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8607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7"/>
            <a:ext cx="8549640" cy="1543685"/>
          </a:xfrm>
        </p:spPr>
        <p:txBody>
          <a:bodyPr/>
          <a:lstStyle>
            <a:lvl1pPr algn="l">
              <a:defRPr sz="4271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135"/>
            </a:lvl1pPr>
            <a:lvl2pPr marL="487702" indent="0">
              <a:buNone/>
              <a:defRPr sz="1922"/>
            </a:lvl2pPr>
            <a:lvl3pPr marL="975401" indent="0">
              <a:buNone/>
              <a:defRPr sz="1708"/>
            </a:lvl3pPr>
            <a:lvl4pPr marL="1463100" indent="0">
              <a:buNone/>
              <a:defRPr sz="1495"/>
            </a:lvl4pPr>
            <a:lvl5pPr marL="1950801" indent="0">
              <a:buNone/>
              <a:defRPr sz="1495"/>
            </a:lvl5pPr>
            <a:lvl6pPr marL="2438501" indent="0">
              <a:buNone/>
              <a:defRPr sz="1495"/>
            </a:lvl6pPr>
            <a:lvl7pPr marL="2926202" indent="0">
              <a:buNone/>
              <a:defRPr sz="1495"/>
            </a:lvl7pPr>
            <a:lvl8pPr marL="3413904" indent="0">
              <a:buNone/>
              <a:defRPr sz="1495"/>
            </a:lvl8pPr>
            <a:lvl9pPr marL="3901601" indent="0">
              <a:buNone/>
              <a:defRPr sz="149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81658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4"/>
            <a:ext cx="4716784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4"/>
            <a:ext cx="4716776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5712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7509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1860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55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67480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010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192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gif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jpeg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6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7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8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heme" Target="../theme/theme17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theme" Target="../theme/theme18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4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5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881" r:id="rId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3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4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68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534" tIns="48769" rIns="97534" bIns="48769" anchor="ctr"/>
          <a:lstStyle/>
          <a:p>
            <a:pPr defTabSz="975623">
              <a:defRPr/>
            </a:pPr>
            <a:endParaRPr lang="en-US" sz="1747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2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9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975623">
              <a:defRPr/>
            </a:pPr>
            <a:r>
              <a:rPr lang="en-US" sz="855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55" b="1">
                <a:solidFill>
                  <a:srgbClr val="203353"/>
                </a:solidFill>
                <a:latin typeface="Calibri"/>
              </a:rPr>
              <a:pPr defTabSz="975623">
                <a:defRPr/>
              </a:pPr>
              <a:t>‹#›</a:t>
            </a:fld>
            <a:endParaRPr lang="en-US" sz="855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36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5pPr>
      <a:lvl6pPr marL="487702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6pPr>
      <a:lvl7pPr marL="9754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7pPr>
      <a:lvl8pPr marL="1463100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8pPr>
      <a:lvl9pPr marL="19508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9pPr>
    </p:titleStyle>
    <p:bodyStyle>
      <a:lvl1pPr marL="179523" indent="-17952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75">
          <a:solidFill>
            <a:schemeClr val="tx1"/>
          </a:solidFill>
          <a:latin typeface="+mn-lt"/>
          <a:ea typeface="+mn-ea"/>
          <a:cs typeface="+mn-cs"/>
        </a:defRPr>
      </a:lvl1pPr>
      <a:lvl2pPr marL="360735" indent="-17782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2pPr>
      <a:lvl3pPr marL="541952" indent="-17782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3pPr>
      <a:lvl4pPr marL="1705450" indent="-242187" algn="l" rtl="0" eaLnBrk="0" fontAlgn="base" hangingPunct="0">
        <a:spcBef>
          <a:spcPct val="20000"/>
        </a:spcBef>
        <a:spcAft>
          <a:spcPct val="0"/>
        </a:spcAft>
        <a:buChar char="–"/>
        <a:defRPr sz="1495">
          <a:solidFill>
            <a:schemeClr val="tx1"/>
          </a:solidFill>
          <a:latin typeface="Arial" charset="0"/>
        </a:defRPr>
      </a:lvl4pPr>
      <a:lvl5pPr marL="2193205" indent="-242187" algn="l" rtl="0" eaLnBrk="0" fontAlgn="base" hangingPunct="0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5pPr>
      <a:lvl6pPr marL="26823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6pPr>
      <a:lvl7pPr marL="3170053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7pPr>
      <a:lvl8pPr marL="36577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8pPr>
      <a:lvl9pPr marL="4145449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1pPr>
      <a:lvl2pPr marL="4877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2pPr>
      <a:lvl3pPr marL="9754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3pPr>
      <a:lvl4pPr marL="146310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4pPr>
      <a:lvl5pPr marL="19508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5pPr>
      <a:lvl6pPr marL="24385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6pPr>
      <a:lvl7pPr marL="29262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7pPr>
      <a:lvl8pPr marL="3413904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8pPr>
      <a:lvl9pPr marL="39016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0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file:///\\ccmnydc1\cello-share-nas$\Credit\Research\Market\CRT\Issuance.xlsx!CRT!R2C1:R33C12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8.emf"/><Relationship Id="rId4" Type="http://schemas.openxmlformats.org/officeDocument/2006/relationships/oleObject" Target="file:///\\ccmnydc1\cello-share-nas$\Credit\Research\Market\CRT\Issuance.xlsx!CRT!R59C34:R62C36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file:///\\ccmnydc1\cello-share-nas$\Credit\Research\Market\CRT\CRT_Daily_Pricing.xlsm!Charts!%5bCRT_Daily_Pricing.xlsm%5dCharts%20Chart%203" TargetMode="External"/><Relationship Id="rId7" Type="http://schemas.openxmlformats.org/officeDocument/2006/relationships/oleObject" Target="file:///\\ccmnydc1\cello-share-nas$\Credit\Research\Market\CRT\CRT_Daily_Pricing.xlsm!Charts!%5bCRT_Daily_Pricing.xlsm%5dCharts%20Chart%20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emf"/><Relationship Id="rId5" Type="http://schemas.openxmlformats.org/officeDocument/2006/relationships/oleObject" Target="file:///\\ccmnydc1\cello-share-nas$\Credit\Research\Market\CRT\CRT_Daily_Pricing.xlsm!Charts!%5bCRT_Daily_Pricing.xlsm%5dCharts%20Chart%204" TargetMode="External"/><Relationship Id="rId10" Type="http://schemas.openxmlformats.org/officeDocument/2006/relationships/image" Target="../media/image25.emf"/><Relationship Id="rId4" Type="http://schemas.openxmlformats.org/officeDocument/2006/relationships/image" Target="../media/image22.emf"/><Relationship Id="rId9" Type="http://schemas.openxmlformats.org/officeDocument/2006/relationships/oleObject" Target="file:///\\ccmnydc1\cello-share-nas$\Credit\Research\Market\CRT\CRT_Daily_Pricing.xlsm!Charts!%5bCRT_Daily_Pricing.xlsm%5dCharts%20Chart%206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file:///\\ccmnydc1\cello-share-nas$\Credit\Research\Market\CRT\CRT_Daily_Pricing.xlsm!Charts!%5bCRT_Daily_Pricing.xlsm%5dCharts%20Chart%207" TargetMode="External"/><Relationship Id="rId7" Type="http://schemas.openxmlformats.org/officeDocument/2006/relationships/oleObject" Target="file:///\\ccmnydc1\cello-share-nas$\Credit\Research\Market\CRT\CRT_Daily_Pricing.xlsm!Charts!%5bCRT_Daily_Pricing.xlsm%5dCharts%20Chart%209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emf"/><Relationship Id="rId5" Type="http://schemas.openxmlformats.org/officeDocument/2006/relationships/oleObject" Target="file:///\\ccmnydc1\cello-share-nas$\Credit\Research\Market\CRT\CRT_Daily_Pricing.xlsm!Charts!%5bCRT_Daily_Pricing.xlsm%5dCharts%20Chart%208" TargetMode="External"/><Relationship Id="rId4" Type="http://schemas.openxmlformats.org/officeDocument/2006/relationships/image" Target="../media/image2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file:///\\ccmnydc1\cello-share-nas$\Credit\Research\Market\CRT\CRT_Daily_Pricing.xlsm!Charts!%5bCRT_Daily_Pricing.xlsm%5dCharts%20Chart%2011" TargetMode="External"/><Relationship Id="rId7" Type="http://schemas.openxmlformats.org/officeDocument/2006/relationships/oleObject" Target="file:///\\ccmnydc1\cello-share-nas$\Credit\Research\Market\CRT\CRT_Daily_Pricing.xlsm!Charts!%5bCRT_Daily_Pricing.xlsm%5dCharts%20Chart%2013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emf"/><Relationship Id="rId5" Type="http://schemas.openxmlformats.org/officeDocument/2006/relationships/oleObject" Target="file:///\\ccmnydc1\cello-share-nas$\Credit\Research\Market\CRT\CRT_Daily_Pricing.xlsm!Charts!%5bCRT_Daily_Pricing.xlsm%5dCharts%20Chart%2014" TargetMode="External"/><Relationship Id="rId4" Type="http://schemas.openxmlformats.org/officeDocument/2006/relationships/image" Target="../media/image29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544587" y="6084608"/>
            <a:ext cx="6147109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Introduction to CRT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rgbClr val="203353"/>
                </a:solidFill>
                <a:latin typeface="Calibri" pitchFamily="34" charset="0"/>
              </a:rPr>
              <a:t>February, 2015</a:t>
            </a:r>
            <a:endParaRPr lang="en-US" dirty="0">
              <a:solidFill>
                <a:srgbClr val="203353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00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Credit Risk Transfer Deals</a:t>
            </a:r>
            <a:endParaRPr lang="en-US" sz="2400" b="0" dirty="0"/>
          </a:p>
        </p:txBody>
      </p:sp>
      <p:sp>
        <p:nvSpPr>
          <p:cNvPr id="2" name="TextBox 1"/>
          <p:cNvSpPr txBox="1"/>
          <p:nvPr/>
        </p:nvSpPr>
        <p:spPr>
          <a:xfrm>
            <a:off x="300446" y="1201783"/>
            <a:ext cx="9418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Deal Summary: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Credit Linked Notes issued by Freddie Mac  or Fannie Mae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 hypothetical structure mimics the cash flow of mezzanine tranches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Investors do not have recourse to loans in the reference pool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Notes are unsecured debt of GSEs. Priority on par with agency debentures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Notes are uncapped par-priced LIBOR indexed floaters with 10Yr legal final maturity</a:t>
            </a:r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95383" y="4108268"/>
            <a:ext cx="94183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Collateral Summary: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Fully amortizing, 30Yr, Fixed Rate, 1</a:t>
            </a:r>
            <a:r>
              <a:rPr lang="en-US" baseline="30000" dirty="0" smtClean="0"/>
              <a:t>st</a:t>
            </a:r>
            <a:r>
              <a:rPr lang="en-US" dirty="0" smtClean="0"/>
              <a:t> Lien loans on 1-4 unit homes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All loans originated with 9-12 months prior to issuance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None of the loans have missed any payments prior to issuance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Full Doc loans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LTV between 60-80 or 80-97 for High LTV deals.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modifications, no HAMP loans, no MI (for 60-80 LTV), no </a:t>
            </a:r>
            <a:r>
              <a:rPr lang="en-US" dirty="0" err="1" smtClean="0"/>
              <a:t>RefiPlus</a:t>
            </a:r>
            <a:r>
              <a:rPr lang="en-US" dirty="0" smtClean="0"/>
              <a:t>, no Balloons or 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18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Issuance to Date</a:t>
            </a:r>
            <a:endParaRPr lang="en-US" sz="2400" b="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691759"/>
              </p:ext>
            </p:extLst>
          </p:nvPr>
        </p:nvGraphicFramePr>
        <p:xfrm>
          <a:off x="899161" y="1475377"/>
          <a:ext cx="8229600" cy="4987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Worksheet" r:id="rId3" imgW="10858576" imgH="6581843" progId="Excel.Sheet.12">
                  <p:link updateAutomatic="1"/>
                </p:oleObj>
              </mc:Choice>
              <mc:Fallback>
                <p:oleObj name="Worksheet" r:id="rId3" imgW="10858576" imgH="65818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161" y="1475377"/>
                        <a:ext cx="8229600" cy="4987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18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Illustrative Structure – CAS 2015-C01</a:t>
            </a:r>
            <a:endParaRPr lang="en-US" sz="2400" b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69" y="1454468"/>
            <a:ext cx="4572000" cy="48713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118" y="1454469"/>
            <a:ext cx="4572000" cy="476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5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Illustrative Structure – CAS 2015-C01</a:t>
            </a:r>
            <a:endParaRPr lang="en-US" sz="24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1028700"/>
            <a:ext cx="90487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6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Illustrative Structure – CAS 2015-C01</a:t>
            </a:r>
            <a:endParaRPr lang="en-US" sz="24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1376362"/>
            <a:ext cx="8467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7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CAS 2015-C01 (60-80 LTV)</a:t>
            </a:r>
            <a:endParaRPr lang="en-US" sz="2400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2" y="1357993"/>
            <a:ext cx="91916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0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CAS 2015-C01 (80-97 LTV)</a:t>
            </a:r>
            <a:endParaRPr lang="en-US" sz="24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100137"/>
            <a:ext cx="906780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0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Layered Risk</a:t>
            </a:r>
            <a:endParaRPr lang="en-US" sz="2400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09" y="2088424"/>
            <a:ext cx="6648450" cy="2171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09" y="4634457"/>
            <a:ext cx="9315450" cy="2200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4583" y="1123406"/>
            <a:ext cx="6087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Analysis of Layered Risk is Crucial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8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Layered Risk</a:t>
            </a:r>
            <a:endParaRPr lang="en-US" sz="24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1890712"/>
            <a:ext cx="9696450" cy="3990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28" y="6422707"/>
            <a:ext cx="9629775" cy="5048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255034" y="2109651"/>
            <a:ext cx="698863" cy="4199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4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Waterfall &amp; Performance Triggers</a:t>
            </a:r>
            <a:endParaRPr lang="en-US" sz="24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56" y="1159534"/>
            <a:ext cx="6930897" cy="3412466"/>
          </a:xfrm>
          <a:prstGeom prst="rect">
            <a:avLst/>
          </a:prstGeom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614509"/>
              </p:ext>
            </p:extLst>
          </p:nvPr>
        </p:nvGraphicFramePr>
        <p:xfrm>
          <a:off x="678456" y="5368698"/>
          <a:ext cx="6686550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Worksheet" r:id="rId4" imgW="6686563" imgH="1476443" progId="Excel.Sheet.12">
                  <p:link updateAutomatic="1"/>
                </p:oleObj>
              </mc:Choice>
              <mc:Fallback>
                <p:oleObj name="Worksheet" r:id="rId4" imgW="6686563" imgH="14764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8456" y="5368698"/>
                        <a:ext cx="6686550" cy="1476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994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Loss Severity</a:t>
            </a:r>
            <a:endParaRPr lang="en-US" sz="2400" b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77" y="2985204"/>
            <a:ext cx="4605279" cy="2011340"/>
          </a:xfrm>
          <a:prstGeom prst="rect">
            <a:avLst/>
          </a:prstGeom>
        </p:spPr>
      </p:pic>
      <p:pic>
        <p:nvPicPr>
          <p:cNvPr id="7" name="Picture 2" descr="http://blog.metrotrends.org/wp-content/uploads/2015/02/PM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645" y="2918019"/>
            <a:ext cx="2646624" cy="2145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93110" y="2486687"/>
            <a:ext cx="2117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/>
              <a:t>Severity Schedule:</a:t>
            </a:r>
            <a:endParaRPr lang="en-US" b="1" u="sng" dirty="0"/>
          </a:p>
        </p:txBody>
      </p:sp>
      <p:sp>
        <p:nvSpPr>
          <p:cNvPr id="9" name="Rectangle 8"/>
          <p:cNvSpPr/>
          <p:nvPr/>
        </p:nvSpPr>
        <p:spPr>
          <a:xfrm>
            <a:off x="6086190" y="2454421"/>
            <a:ext cx="1940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/>
              <a:t>Historic Severity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7266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CAS Spreads</a:t>
            </a:r>
            <a:endParaRPr lang="en-US" sz="2400" b="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761680"/>
              </p:ext>
            </p:extLst>
          </p:nvPr>
        </p:nvGraphicFramePr>
        <p:xfrm>
          <a:off x="685800" y="1371600"/>
          <a:ext cx="4333875" cy="273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Macro-Enabled Worksheet" r:id="rId3" imgW="4333763" imgH="2733743" progId="Excel.SheetMacroEnabled.12">
                  <p:link updateAutomatic="1"/>
                </p:oleObj>
              </mc:Choice>
              <mc:Fallback>
                <p:oleObj name="Macro-Enabled Worksheet" r:id="rId3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1371600"/>
                        <a:ext cx="4333875" cy="273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39006"/>
              </p:ext>
            </p:extLst>
          </p:nvPr>
        </p:nvGraphicFramePr>
        <p:xfrm>
          <a:off x="5029200" y="1371600"/>
          <a:ext cx="4333875" cy="273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Macro-Enabled Worksheet" r:id="rId5" imgW="4333763" imgH="2733743" progId="Excel.SheetMacroEnabled.12">
                  <p:link updateAutomatic="1"/>
                </p:oleObj>
              </mc:Choice>
              <mc:Fallback>
                <p:oleObj name="Macro-Enabled Worksheet" r:id="rId5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29200" y="1371600"/>
                        <a:ext cx="4333875" cy="273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680519"/>
              </p:ext>
            </p:extLst>
          </p:nvPr>
        </p:nvGraphicFramePr>
        <p:xfrm>
          <a:off x="685800" y="4114800"/>
          <a:ext cx="4333875" cy="273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Macro-Enabled Worksheet" r:id="rId7" imgW="4333763" imgH="2733743" progId="Excel.SheetMacroEnabled.12">
                  <p:link updateAutomatic="1"/>
                </p:oleObj>
              </mc:Choice>
              <mc:Fallback>
                <p:oleObj name="Macro-Enabled Worksheet" r:id="rId7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5800" y="4114800"/>
                        <a:ext cx="4333875" cy="273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569437"/>
              </p:ext>
            </p:extLst>
          </p:nvPr>
        </p:nvGraphicFramePr>
        <p:xfrm>
          <a:off x="5037138" y="4122738"/>
          <a:ext cx="4333875" cy="273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Macro-Enabled Worksheet" r:id="rId9" imgW="4333763" imgH="2733743" progId="Excel.SheetMacroEnabled.12">
                  <p:link updateAutomatic="1"/>
                </p:oleObj>
              </mc:Choice>
              <mc:Fallback>
                <p:oleObj name="Macro-Enabled Worksheet" r:id="rId9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37138" y="4122738"/>
                        <a:ext cx="4333875" cy="273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551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STACR </a:t>
            </a:r>
            <a:r>
              <a:rPr lang="en-US" sz="2400" b="0" dirty="0" smtClean="0"/>
              <a:t>Spreads</a:t>
            </a:r>
            <a:endParaRPr lang="en-US" sz="2400" b="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902186"/>
              </p:ext>
            </p:extLst>
          </p:nvPr>
        </p:nvGraphicFramePr>
        <p:xfrm>
          <a:off x="5029200" y="1374774"/>
          <a:ext cx="4348976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Macro-Enabled Worksheet" r:id="rId3" imgW="4333763" imgH="2733743" progId="Excel.SheetMacroEnabled.12">
                  <p:link updateAutomatic="1"/>
                </p:oleObj>
              </mc:Choice>
              <mc:Fallback>
                <p:oleObj name="Macro-Enabled Worksheet" r:id="rId3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29200" y="1374774"/>
                        <a:ext cx="4348976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44570"/>
              </p:ext>
            </p:extLst>
          </p:nvPr>
        </p:nvGraphicFramePr>
        <p:xfrm>
          <a:off x="685799" y="4114799"/>
          <a:ext cx="4348976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Macro-Enabled Worksheet" r:id="rId5" imgW="4333763" imgH="2733743" progId="Excel.SheetMacroEnabled.12">
                  <p:link updateAutomatic="1"/>
                </p:oleObj>
              </mc:Choice>
              <mc:Fallback>
                <p:oleObj name="Macro-Enabled Worksheet" r:id="rId5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799" y="4114799"/>
                        <a:ext cx="4348976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52380"/>
              </p:ext>
            </p:extLst>
          </p:nvPr>
        </p:nvGraphicFramePr>
        <p:xfrm>
          <a:off x="693738" y="1379538"/>
          <a:ext cx="4321175" cy="272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Macro-Enabled Worksheet" r:id="rId7" imgW="4333763" imgH="2733743" progId="Excel.SheetMacroEnabled.12">
                  <p:link updateAutomatic="1"/>
                </p:oleObj>
              </mc:Choice>
              <mc:Fallback>
                <p:oleObj name="Macro-Enabled Worksheet" r:id="rId7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3738" y="1379538"/>
                        <a:ext cx="4321175" cy="272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190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STACR </a:t>
            </a:r>
            <a:r>
              <a:rPr lang="en-US" sz="2400" b="0" dirty="0" smtClean="0"/>
              <a:t>Spreads</a:t>
            </a:r>
            <a:endParaRPr lang="en-US" sz="2400" b="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46107"/>
              </p:ext>
            </p:extLst>
          </p:nvPr>
        </p:nvGraphicFramePr>
        <p:xfrm>
          <a:off x="685800" y="1371600"/>
          <a:ext cx="4348976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Macro-Enabled Worksheet" r:id="rId3" imgW="4333763" imgH="2733743" progId="Excel.SheetMacroEnabled.12">
                  <p:link updateAutomatic="1"/>
                </p:oleObj>
              </mc:Choice>
              <mc:Fallback>
                <p:oleObj name="Macro-Enabled Worksheet" r:id="rId3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1371600"/>
                        <a:ext cx="4348976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023558"/>
              </p:ext>
            </p:extLst>
          </p:nvPr>
        </p:nvGraphicFramePr>
        <p:xfrm>
          <a:off x="5029200" y="1371600"/>
          <a:ext cx="4333875" cy="273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Macro-Enabled Worksheet" r:id="rId5" imgW="4333763" imgH="2733743" progId="Excel.SheetMacroEnabled.12">
                  <p:link updateAutomatic="1"/>
                </p:oleObj>
              </mc:Choice>
              <mc:Fallback>
                <p:oleObj name="Macro-Enabled Worksheet" r:id="rId5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29200" y="1371600"/>
                        <a:ext cx="4333875" cy="273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427654"/>
              </p:ext>
            </p:extLst>
          </p:nvPr>
        </p:nvGraphicFramePr>
        <p:xfrm>
          <a:off x="693738" y="4122738"/>
          <a:ext cx="4333875" cy="273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Macro-Enabled Worksheet" r:id="rId7" imgW="4333763" imgH="2733743" progId="Excel.SheetMacroEnabled.12">
                  <p:link updateAutomatic="1"/>
                </p:oleObj>
              </mc:Choice>
              <mc:Fallback>
                <p:oleObj name="Macro-Enabled Worksheet" r:id="rId7" imgW="4333763" imgH="273374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3738" y="4122738"/>
                        <a:ext cx="4333875" cy="273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973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err="1" smtClean="0"/>
              <a:t>Comparision</a:t>
            </a:r>
            <a:r>
              <a:rPr lang="en-US" sz="2400" b="0" dirty="0" smtClean="0"/>
              <a:t> to Prior CAS deals</a:t>
            </a:r>
            <a:endParaRPr lang="en-US" sz="24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223962"/>
            <a:ext cx="90678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2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err="1" smtClean="0"/>
              <a:t>Comparision</a:t>
            </a:r>
            <a:r>
              <a:rPr lang="en-US" sz="2400" b="0" dirty="0" smtClean="0"/>
              <a:t> to Prior CAS deals</a:t>
            </a:r>
            <a:endParaRPr lang="en-US" sz="24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1009650"/>
            <a:ext cx="942022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1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JP Morgan Analytics</a:t>
            </a:r>
            <a:endParaRPr lang="en-US" sz="2400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980398"/>
            <a:ext cx="9182100" cy="3133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4098872"/>
            <a:ext cx="918210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3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sz="2400" b="0" dirty="0" smtClean="0"/>
              <a:t>JP Morgan Analytics</a:t>
            </a:r>
            <a:endParaRPr lang="en-US" sz="24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1071296"/>
            <a:ext cx="9115425" cy="309562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068925"/>
              </p:ext>
            </p:extLst>
          </p:nvPr>
        </p:nvGraphicFramePr>
        <p:xfrm>
          <a:off x="1212668" y="4799149"/>
          <a:ext cx="776804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213"/>
                <a:gridCol w="4554832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Tranche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Risks</a:t>
                      </a:r>
                      <a:endParaRPr lang="en-US" sz="12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M1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smtClean="0"/>
                        <a:t>Do</a:t>
                      </a:r>
                      <a:r>
                        <a:rPr lang="en-US" sz="1200" baseline="0" dirty="0" smtClean="0"/>
                        <a:t> not take </a:t>
                      </a:r>
                      <a:r>
                        <a:rPr lang="en-US" sz="1200" baseline="0" dirty="0" err="1" smtClean="0"/>
                        <a:t>writedowns</a:t>
                      </a:r>
                      <a:r>
                        <a:rPr lang="en-US" sz="1200" baseline="0" dirty="0" smtClean="0"/>
                        <a:t> even in severe stress scenario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aseline="0" dirty="0" smtClean="0"/>
                        <a:t>Primary risk is extension risk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aseline="0" dirty="0" err="1" smtClean="0"/>
                        <a:t>MtM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Vol</a:t>
                      </a:r>
                      <a:r>
                        <a:rPr lang="en-US" sz="1200" baseline="0" dirty="0" smtClean="0"/>
                        <a:t> especially if leveraged</a:t>
                      </a:r>
                      <a:endParaRPr lang="en-US" sz="12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M2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smtClean="0"/>
                        <a:t>Generally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do</a:t>
                      </a:r>
                      <a:r>
                        <a:rPr lang="en-US" sz="1200" baseline="0" dirty="0" smtClean="0"/>
                        <a:t> not take </a:t>
                      </a:r>
                      <a:r>
                        <a:rPr lang="en-US" sz="1200" baseline="0" dirty="0" err="1" smtClean="0"/>
                        <a:t>writedowns</a:t>
                      </a:r>
                      <a:r>
                        <a:rPr lang="en-US" sz="1200" baseline="0" dirty="0" smtClean="0"/>
                        <a:t> in Base &amp; Stress Cases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aseline="0" dirty="0" smtClean="0"/>
                        <a:t>CF profile similar to 10 </a:t>
                      </a:r>
                      <a:r>
                        <a:rPr lang="en-US" sz="1200" baseline="0" dirty="0" err="1" smtClean="0"/>
                        <a:t>yr</a:t>
                      </a:r>
                      <a:r>
                        <a:rPr lang="en-US" sz="1200" baseline="0" dirty="0" smtClean="0"/>
                        <a:t> bullet – AL usually over 7 years at current prepayment levels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14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8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9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0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72728</TotalTime>
  <Words>265</Words>
  <Application>Microsoft Office PowerPoint</Application>
  <PresentationFormat>Custom</PresentationFormat>
  <Paragraphs>46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18</vt:i4>
      </vt:variant>
      <vt:variant>
        <vt:lpstr>Links</vt:lpstr>
      </vt:variant>
      <vt:variant>
        <vt:i4>12</vt:i4>
      </vt:variant>
      <vt:variant>
        <vt:lpstr>Slide Titles</vt:lpstr>
      </vt:variant>
      <vt:variant>
        <vt:i4>19</vt:i4>
      </vt:variant>
    </vt:vector>
  </HeadingPairs>
  <TitlesOfParts>
    <vt:vector size="54" baseType="lpstr">
      <vt:lpstr>Arial</vt:lpstr>
      <vt:lpstr>Calibri</vt:lpstr>
      <vt:lpstr>Calisto MT</vt:lpstr>
      <vt:lpstr>Cambria</vt:lpstr>
      <vt:lpstr>Times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8_Custom Design</vt:lpstr>
      <vt:lpstr>9_Custom Design</vt:lpstr>
      <vt:lpstr>10_Custom Design</vt:lpstr>
      <vt:lpstr>\\ccmnydc1\cello-share-nas$\Credit\Research\Market\CRT\CRT_Daily_Pricing.xlsm!Charts![CRT_Daily_Pricing.xlsm]Charts Chart 3</vt:lpstr>
      <vt:lpstr>\\ccmnydc1\cello-share-nas$\Credit\Research\Market\CRT\CRT_Daily_Pricing.xlsm!Charts![CRT_Daily_Pricing.xlsm]Charts Chart 4</vt:lpstr>
      <vt:lpstr>\\ccmnydc1\cello-share-nas$\Credit\Research\Market\CRT\CRT_Daily_Pricing.xlsm!Charts![CRT_Daily_Pricing.xlsm]Charts Chart 5</vt:lpstr>
      <vt:lpstr>\\ccmnydc1\cello-share-nas$\Credit\Research\Market\CRT\CRT_Daily_Pricing.xlsm!Charts![CRT_Daily_Pricing.xlsm]Charts Chart 6</vt:lpstr>
      <vt:lpstr>\\ccmnydc1\cello-share-nas$\Credit\Research\Market\CRT\CRT_Daily_Pricing.xlsm!Charts![CRT_Daily_Pricing.xlsm]Charts Chart 7</vt:lpstr>
      <vt:lpstr>\\ccmnydc1\cello-share-nas$\Credit\Research\Market\CRT\CRT_Daily_Pricing.xlsm!Charts![CRT_Daily_Pricing.xlsm]Charts Chart 8</vt:lpstr>
      <vt:lpstr>\\ccmnydc1\cello-share-nas$\Credit\Research\Market\CRT\CRT_Daily_Pricing.xlsm!Charts![CRT_Daily_Pricing.xlsm]Charts Chart 9</vt:lpstr>
      <vt:lpstr>\\ccmnydc1\cello-share-nas$\Credit\Research\Market\CRT\CRT_Daily_Pricing.xlsm!Charts![CRT_Daily_Pricing.xlsm]Charts Chart 11</vt:lpstr>
      <vt:lpstr>\\ccmnydc1\cello-share-nas$\Credit\Research\Market\CRT\CRT_Daily_Pricing.xlsm!Charts![CRT_Daily_Pricing.xlsm]Charts Chart 14</vt:lpstr>
      <vt:lpstr>\\ccmnydc1\cello-share-nas$\Credit\Research\Market\CRT\CRT_Daily_Pricing.xlsm!Charts![CRT_Daily_Pricing.xlsm]Charts Chart 13</vt:lpstr>
      <vt:lpstr>\\ccmnydc1\cello-share-nas$\Credit\Research\Market\CRT\Issuance.xlsx!CRT!R2C1:R33C12</vt:lpstr>
      <vt:lpstr>\\ccmnydc1\cello-share-nas$\Credit\Research\Market\CRT\Issuance.xlsx!CRT!R59C34:R62C36</vt:lpstr>
      <vt:lpstr>PowerPoint Presentation</vt:lpstr>
      <vt:lpstr>Credit Risk Transfer Deals</vt:lpstr>
      <vt:lpstr>Issuance to Date</vt:lpstr>
      <vt:lpstr>Illustrative Structure – CAS 2015-C01</vt:lpstr>
      <vt:lpstr>Illustrative Structure – CAS 2015-C01</vt:lpstr>
      <vt:lpstr>Illustrative Structure – CAS 2015-C01</vt:lpstr>
      <vt:lpstr>CAS 2015-C01 (60-80 LTV)</vt:lpstr>
      <vt:lpstr>CAS 2015-C01 (80-97 LTV)</vt:lpstr>
      <vt:lpstr>Layered Risk</vt:lpstr>
      <vt:lpstr>Layered Risk</vt:lpstr>
      <vt:lpstr>Waterfall &amp; Performance Triggers</vt:lpstr>
      <vt:lpstr>Loss Severity</vt:lpstr>
      <vt:lpstr>CAS Spreads</vt:lpstr>
      <vt:lpstr>STACR Spreads</vt:lpstr>
      <vt:lpstr>STACR Spreads</vt:lpstr>
      <vt:lpstr>Comparision to Prior CAS deals</vt:lpstr>
      <vt:lpstr>Comparision to Prior CAS deals</vt:lpstr>
      <vt:lpstr>JP Morgan Analytics</vt:lpstr>
      <vt:lpstr>JP Morgan Analytics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Raj Savai</cp:lastModifiedBy>
  <cp:revision>2022</cp:revision>
  <cp:lastPrinted>2015-02-12T21:19:56Z</cp:lastPrinted>
  <dcterms:created xsi:type="dcterms:W3CDTF">2011-07-07T12:37:32Z</dcterms:created>
  <dcterms:modified xsi:type="dcterms:W3CDTF">2015-02-13T23:52:23Z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