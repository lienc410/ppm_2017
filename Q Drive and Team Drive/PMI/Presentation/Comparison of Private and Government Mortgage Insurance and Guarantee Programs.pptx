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charts/chart1.xml" ContentType="application/vnd.openxmlformats-officedocument.drawingml.chart+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19"/>
  </p:notesMasterIdLst>
  <p:handoutMasterIdLst>
    <p:handoutMasterId r:id="rId20"/>
  </p:handoutMasterIdLst>
  <p:sldIdLst>
    <p:sldId id="627" r:id="rId16"/>
    <p:sldId id="628" r:id="rId17"/>
    <p:sldId id="629" r:id="rId18"/>
  </p:sldIdLst>
  <p:sldSz cx="10058400" cy="7772400"/>
  <p:notesSz cx="7010400" cy="92964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8C2B18"/>
    <a:srgbClr val="AD275C"/>
    <a:srgbClr val="2E398A"/>
    <a:srgbClr val="F6D6E3"/>
    <a:srgbClr val="C3EBD9"/>
    <a:srgbClr val="CDD1EF"/>
    <a:srgbClr val="996633"/>
    <a:srgbClr val="968880"/>
    <a:srgbClr val="533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695" autoAdjust="0"/>
    <p:restoredTop sz="95014" autoAdjust="0"/>
  </p:normalViewPr>
  <p:slideViewPr>
    <p:cSldViewPr snapToGrid="0" snapToObjects="1">
      <p:cViewPr>
        <p:scale>
          <a:sx n="125" d="100"/>
          <a:sy n="125" d="100"/>
        </p:scale>
        <p:origin x="-864" y="-600"/>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0284331032632494E-2"/>
          <c:y val="4.6153842659460598E-2"/>
          <c:w val="0.76485037857170046"/>
          <c:h val="0.83838674489137843"/>
        </c:manualLayout>
      </c:layout>
      <c:barChart>
        <c:barDir val="col"/>
        <c:grouping val="clustered"/>
        <c:varyColors val="0"/>
        <c:ser>
          <c:idx val="0"/>
          <c:order val="0"/>
          <c:tx>
            <c:strRef>
              <c:f>Sheet1!$B$1</c:f>
              <c:strCache>
                <c:ptCount val="1"/>
                <c:pt idx="0">
                  <c:v>Purchase Price</c:v>
                </c:pt>
              </c:strCache>
            </c:strRef>
          </c:tx>
          <c:spPr>
            <a:solidFill>
              <a:srgbClr val="B4B4B4"/>
            </a:solidFill>
            <a:ln>
              <a:solidFill>
                <a:schemeClr val="bg1"/>
              </a:solidFill>
            </a:ln>
          </c:spPr>
          <c:invertIfNegative val="0"/>
          <c:dLbls>
            <c:delete val="1"/>
          </c:dLbls>
          <c:cat>
            <c:strRef>
              <c:f>Sheet1!$A$2:$A$3</c:f>
              <c:strCache>
                <c:ptCount val="2"/>
                <c:pt idx="0">
                  <c:v>17% MI</c:v>
                </c:pt>
                <c:pt idx="1">
                  <c:v>25% MI</c:v>
                </c:pt>
              </c:strCache>
            </c:strRef>
          </c:cat>
          <c:val>
            <c:numRef>
              <c:f>Sheet1!$B$2:$B$3</c:f>
              <c:numCache>
                <c:formatCode>"$"#,##0</c:formatCode>
                <c:ptCount val="2"/>
                <c:pt idx="0">
                  <c:v>100000</c:v>
                </c:pt>
                <c:pt idx="1">
                  <c:v>100000</c:v>
                </c:pt>
              </c:numCache>
            </c:numRef>
          </c:val>
        </c:ser>
        <c:ser>
          <c:idx val="1"/>
          <c:order val="1"/>
          <c:tx>
            <c:strRef>
              <c:f>Sheet1!$C$1</c:f>
              <c:strCache>
                <c:ptCount val="1"/>
                <c:pt idx="0">
                  <c:v>Loan Amount</c:v>
                </c:pt>
              </c:strCache>
            </c:strRef>
          </c:tx>
          <c:spPr>
            <a:solidFill>
              <a:schemeClr val="accent2"/>
            </a:solidFill>
            <a:ln>
              <a:solidFill>
                <a:schemeClr val="bg1"/>
              </a:solidFill>
            </a:ln>
          </c:spPr>
          <c:invertIfNegative val="0"/>
          <c:dLbls>
            <c:delete val="1"/>
          </c:dLbls>
          <c:cat>
            <c:strRef>
              <c:f>Sheet1!$A$2:$A$3</c:f>
              <c:strCache>
                <c:ptCount val="2"/>
                <c:pt idx="0">
                  <c:v>17% MI</c:v>
                </c:pt>
                <c:pt idx="1">
                  <c:v>25% MI</c:v>
                </c:pt>
              </c:strCache>
            </c:strRef>
          </c:cat>
          <c:val>
            <c:numRef>
              <c:f>Sheet1!$C$2:$C$3</c:f>
              <c:numCache>
                <c:formatCode>"$"#,##0</c:formatCode>
                <c:ptCount val="2"/>
                <c:pt idx="0">
                  <c:v>90000</c:v>
                </c:pt>
                <c:pt idx="1">
                  <c:v>90000</c:v>
                </c:pt>
              </c:numCache>
            </c:numRef>
          </c:val>
        </c:ser>
        <c:dLbls>
          <c:showLegendKey val="0"/>
          <c:showVal val="1"/>
          <c:showCatName val="0"/>
          <c:showSerName val="0"/>
          <c:showPercent val="0"/>
          <c:showBubbleSize val="0"/>
        </c:dLbls>
        <c:gapWidth val="150"/>
        <c:axId val="135074944"/>
        <c:axId val="206631296"/>
      </c:barChart>
      <c:catAx>
        <c:axId val="135074944"/>
        <c:scaling>
          <c:orientation val="minMax"/>
        </c:scaling>
        <c:delete val="0"/>
        <c:axPos val="b"/>
        <c:majorTickMark val="out"/>
        <c:minorTickMark val="none"/>
        <c:tickLblPos val="nextTo"/>
        <c:spPr>
          <a:ln>
            <a:solidFill>
              <a:srgbClr val="8C8C8C"/>
            </a:solidFill>
          </a:ln>
        </c:spPr>
        <c:txPr>
          <a:bodyPr/>
          <a:lstStyle/>
          <a:p>
            <a:pPr>
              <a:defRPr>
                <a:solidFill>
                  <a:srgbClr val="313131"/>
                </a:solidFill>
              </a:defRPr>
            </a:pPr>
            <a:endParaRPr lang="en-US"/>
          </a:p>
        </c:txPr>
        <c:crossAx val="206631296"/>
        <c:crosses val="autoZero"/>
        <c:auto val="1"/>
        <c:lblAlgn val="ctr"/>
        <c:lblOffset val="100"/>
        <c:noMultiLvlLbl val="0"/>
      </c:catAx>
      <c:valAx>
        <c:axId val="206631296"/>
        <c:scaling>
          <c:orientation val="minMax"/>
          <c:min val="50000"/>
        </c:scaling>
        <c:delete val="0"/>
        <c:axPos val="l"/>
        <c:numFmt formatCode="&quot;$&quot;#,##0" sourceLinked="0"/>
        <c:majorTickMark val="out"/>
        <c:minorTickMark val="none"/>
        <c:tickLblPos val="nextTo"/>
        <c:spPr>
          <a:ln>
            <a:solidFill>
              <a:srgbClr val="8C8C8C"/>
            </a:solidFill>
          </a:ln>
        </c:spPr>
        <c:txPr>
          <a:bodyPr/>
          <a:lstStyle/>
          <a:p>
            <a:pPr>
              <a:defRPr>
                <a:solidFill>
                  <a:srgbClr val="313131"/>
                </a:solidFill>
              </a:defRPr>
            </a:pPr>
            <a:endParaRPr lang="en-US"/>
          </a:p>
        </c:txPr>
        <c:crossAx val="135074944"/>
        <c:crosses val="autoZero"/>
        <c:crossBetween val="between"/>
      </c:valAx>
    </c:plotArea>
    <c:plotVisOnly val="1"/>
    <c:dispBlanksAs val="gap"/>
    <c:showDLblsOverMax val="0"/>
  </c:chart>
  <c:txPr>
    <a:bodyPr/>
    <a:lstStyle/>
    <a:p>
      <a:pPr>
        <a:defRPr sz="1200"/>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0.84519</cdr:x>
      <cdr:y>0.32626</cdr:y>
    </cdr:from>
    <cdr:to>
      <cdr:x>1</cdr:x>
      <cdr:y>0.49367</cdr:y>
    </cdr:to>
    <cdr:sp macro="" textlink="">
      <cdr:nvSpPr>
        <cdr:cNvPr id="8" name="Rectangle 7"/>
        <cdr:cNvSpPr/>
      </cdr:nvSpPr>
      <cdr:spPr>
        <a:xfrm xmlns:a="http://schemas.openxmlformats.org/drawingml/2006/main">
          <a:off x="7108500" y="1217698"/>
          <a:ext cx="1302060" cy="624840"/>
        </a:xfrm>
        <a:prstGeom xmlns:a="http://schemas.openxmlformats.org/drawingml/2006/main" prst="rect">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pPr algn="ctr"/>
          <a:r>
            <a:rPr lang="en-US" sz="1600" dirty="0" smtClean="0"/>
            <a:t>74.7%</a:t>
          </a:r>
        </a:p>
        <a:p xmlns:a="http://schemas.openxmlformats.org/drawingml/2006/main">
          <a:pPr algn="ctr"/>
          <a:r>
            <a:rPr lang="en-US" sz="1600" dirty="0" smtClean="0"/>
            <a:t>Exposure</a:t>
          </a:r>
          <a:endParaRPr lang="en-US" sz="1600" dirty="0"/>
        </a:p>
      </cdr:txBody>
    </cdr:sp>
  </cdr:relSizeAnchor>
  <cdr:relSizeAnchor xmlns:cdr="http://schemas.openxmlformats.org/drawingml/2006/chartDrawing">
    <cdr:from>
      <cdr:x>0.3342</cdr:x>
      <cdr:y>0.40997</cdr:y>
    </cdr:from>
    <cdr:to>
      <cdr:x>0.84519</cdr:x>
      <cdr:y>0.40997</cdr:y>
    </cdr:to>
    <cdr:cxnSp macro="">
      <cdr:nvCxnSpPr>
        <cdr:cNvPr id="10" name="Straight Arrow Connector 9"/>
        <cdr:cNvCxnSpPr>
          <a:stCxn xmlns:a="http://schemas.openxmlformats.org/drawingml/2006/main" id="8" idx="1"/>
        </cdr:cNvCxnSpPr>
      </cdr:nvCxnSpPr>
      <cdr:spPr>
        <a:xfrm xmlns:a="http://schemas.openxmlformats.org/drawingml/2006/main" flipH="1">
          <a:off x="2810820" y="1530118"/>
          <a:ext cx="4297680" cy="0"/>
        </a:xfrm>
        <a:prstGeom xmlns:a="http://schemas.openxmlformats.org/drawingml/2006/main" prst="straightConnector1">
          <a:avLst/>
        </a:prstGeom>
        <a:ln xmlns:a="http://schemas.openxmlformats.org/drawingml/2006/main" w="12700">
          <a:headEnd type="none" w="med" len="med"/>
          <a:tailEnd type="none" w="med" len="med"/>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0.29162</cdr:x>
      <cdr:y>0.40793</cdr:y>
    </cdr:from>
    <cdr:to>
      <cdr:x>0.33511</cdr:x>
      <cdr:y>0.48551</cdr:y>
    </cdr:to>
    <cdr:cxnSp macro="">
      <cdr:nvCxnSpPr>
        <cdr:cNvPr id="17" name="Straight Connector 16"/>
        <cdr:cNvCxnSpPr/>
      </cdr:nvCxnSpPr>
      <cdr:spPr>
        <a:xfrm xmlns:a="http://schemas.openxmlformats.org/drawingml/2006/main" flipH="1">
          <a:off x="2452680" y="1522498"/>
          <a:ext cx="365760" cy="289560"/>
        </a:xfrm>
        <a:prstGeom xmlns:a="http://schemas.openxmlformats.org/drawingml/2006/main" prst="line">
          <a:avLst/>
        </a:prstGeom>
        <a:ln xmlns:a="http://schemas.openxmlformats.org/drawingml/2006/main" w="12700">
          <a:headEnd type="none" w="med" len="med"/>
          <a:tailEnd type="triangle" w="med" len="med"/>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0.84519</cdr:x>
      <cdr:y>0.56037</cdr:y>
    </cdr:from>
    <cdr:to>
      <cdr:x>1</cdr:x>
      <cdr:y>0.72778</cdr:y>
    </cdr:to>
    <cdr:sp macro="" textlink="">
      <cdr:nvSpPr>
        <cdr:cNvPr id="18" name="Rectangle 17"/>
        <cdr:cNvSpPr/>
      </cdr:nvSpPr>
      <cdr:spPr>
        <a:xfrm xmlns:a="http://schemas.openxmlformats.org/drawingml/2006/main">
          <a:off x="7108500" y="2091458"/>
          <a:ext cx="1302060" cy="624840"/>
        </a:xfrm>
        <a:prstGeom xmlns:a="http://schemas.openxmlformats.org/drawingml/2006/main" prst="rect">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r>
            <a:rPr lang="en-US" sz="1600" dirty="0" smtClean="0"/>
            <a:t>74.7%</a:t>
          </a:r>
        </a:p>
        <a:p xmlns:a="http://schemas.openxmlformats.org/drawingml/2006/main">
          <a:pPr algn="ctr"/>
          <a:r>
            <a:rPr lang="en-US" sz="1600" dirty="0" smtClean="0"/>
            <a:t>Exposure</a:t>
          </a:r>
          <a:endParaRPr lang="en-US" sz="1600" dirty="0"/>
        </a:p>
      </cdr:txBody>
    </cdr:sp>
  </cdr:relSizeAnchor>
  <cdr:relSizeAnchor xmlns:cdr="http://schemas.openxmlformats.org/drawingml/2006/chartDrawing">
    <cdr:from>
      <cdr:x>0.68482</cdr:x>
      <cdr:y>0.64407</cdr:y>
    </cdr:from>
    <cdr:to>
      <cdr:x>0.84519</cdr:x>
      <cdr:y>0.64476</cdr:y>
    </cdr:to>
    <cdr:cxnSp macro="">
      <cdr:nvCxnSpPr>
        <cdr:cNvPr id="19" name="Straight Arrow Connector 18"/>
        <cdr:cNvCxnSpPr>
          <a:stCxn xmlns:a="http://schemas.openxmlformats.org/drawingml/2006/main" id="18" idx="1"/>
        </cdr:cNvCxnSpPr>
      </cdr:nvCxnSpPr>
      <cdr:spPr>
        <a:xfrm xmlns:a="http://schemas.openxmlformats.org/drawingml/2006/main" flipH="1">
          <a:off x="5759760" y="2403878"/>
          <a:ext cx="1348740" cy="2540"/>
        </a:xfrm>
        <a:prstGeom xmlns:a="http://schemas.openxmlformats.org/drawingml/2006/main" prst="straightConnector1">
          <a:avLst/>
        </a:prstGeom>
        <a:ln xmlns:a="http://schemas.openxmlformats.org/drawingml/2006/main" w="12700">
          <a:headEnd type="none" w="med" len="med"/>
          <a:tailEnd type="triangle" w="med" len="med"/>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49363" y="698500"/>
            <a:ext cx="4511675" cy="3486150"/>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701363" y="4416436"/>
            <a:ext cx="5607678" cy="4181463"/>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Comparison of Private and Government </a:t>
            </a:r>
            <a:r>
              <a:rPr lang="en-US" sz="1600" dirty="0" smtClean="0"/>
              <a:t/>
            </a:r>
            <a:br>
              <a:rPr lang="en-US" sz="1600" dirty="0" smtClean="0"/>
            </a:br>
            <a:r>
              <a:rPr lang="en-US" sz="1600" dirty="0" smtClean="0"/>
              <a:t>Mortgage </a:t>
            </a:r>
            <a:r>
              <a:rPr lang="en-US" sz="1600" dirty="0"/>
              <a:t>Insurance and Guarantee Programs</a:t>
            </a:r>
            <a:endParaRPr lang="en-US" sz="16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2424936143"/>
              </p:ext>
            </p:extLst>
          </p:nvPr>
        </p:nvGraphicFramePr>
        <p:xfrm>
          <a:off x="297181" y="1033780"/>
          <a:ext cx="9410699" cy="5781040"/>
        </p:xfrm>
        <a:graphic>
          <a:graphicData uri="http://schemas.openxmlformats.org/drawingml/2006/table">
            <a:tbl>
              <a:tblPr firstRow="1">
                <a:tableStyleId>{3B4B98B0-60AC-42C2-AFA5-B58CD77FA1E5}</a:tableStyleId>
              </a:tblPr>
              <a:tblGrid>
                <a:gridCol w="2026919"/>
                <a:gridCol w="3200400"/>
                <a:gridCol w="4183380"/>
              </a:tblGrid>
              <a:tr h="370840">
                <a:tc>
                  <a:txBody>
                    <a:bodyPr/>
                    <a:lstStyle/>
                    <a:p>
                      <a:r>
                        <a:rPr lang="en-US" sz="1000" dirty="0" smtClean="0"/>
                        <a:t>Factor</a:t>
                      </a:r>
                      <a:endParaRPr lang="en-US" sz="1000" dirty="0"/>
                    </a:p>
                  </a:txBody>
                  <a:tcPr>
                    <a:lnR w="12700" cap="flat" cmpd="sng" algn="ctr">
                      <a:solidFill>
                        <a:schemeClr val="accent2">
                          <a:lumMod val="50000"/>
                        </a:schemeClr>
                      </a:solidFill>
                      <a:prstDash val="solid"/>
                      <a:round/>
                      <a:headEnd type="none" w="med" len="med"/>
                      <a:tailEnd type="none" w="med" len="med"/>
                    </a:lnR>
                  </a:tcPr>
                </a:tc>
                <a:tc>
                  <a:txBody>
                    <a:bodyPr/>
                    <a:lstStyle/>
                    <a:p>
                      <a:r>
                        <a:rPr lang="en-US" sz="1000" dirty="0" smtClean="0"/>
                        <a:t>Private Mortgage Insurance</a:t>
                      </a:r>
                      <a:endParaRPr lang="en-US" sz="1000" dirty="0"/>
                    </a:p>
                  </a:txBody>
                  <a:tcPr>
                    <a:lnL w="12700" cap="flat" cmpd="sng" algn="ctr">
                      <a:solidFill>
                        <a:schemeClr val="accent2">
                          <a:lumMod val="50000"/>
                        </a:schemeClr>
                      </a:solidFill>
                      <a:prstDash val="solid"/>
                      <a:round/>
                      <a:headEnd type="none" w="med" len="med"/>
                      <a:tailEnd type="none" w="med" len="med"/>
                    </a:lnL>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Government Programs</a:t>
                      </a:r>
                    </a:p>
                  </a:txBody>
                  <a:tcPr/>
                </a:tc>
              </a:tr>
              <a:tr h="370840">
                <a:tc>
                  <a:txBody>
                    <a:bodyPr/>
                    <a:lstStyle/>
                    <a:p>
                      <a:r>
                        <a:rPr lang="en-US" sz="1000" dirty="0" smtClean="0"/>
                        <a:t>Minimum down payment</a:t>
                      </a:r>
                      <a:endParaRPr lang="en-US" sz="1000" dirty="0"/>
                    </a:p>
                  </a:txBody>
                  <a:tcPr>
                    <a:lnR w="12700" cap="flat" cmpd="sng" algn="ctr">
                      <a:solidFill>
                        <a:schemeClr val="accent2">
                          <a:lumMod val="50000"/>
                        </a:schemeClr>
                      </a:solidFill>
                      <a:prstDash val="solid"/>
                      <a:round/>
                      <a:headEnd type="none" w="med" len="med"/>
                      <a:tailEnd type="none" w="med" len="med"/>
                    </a:lnR>
                    <a:lnB w="12700" cap="flat" cmpd="sng" algn="ctr">
                      <a:solidFill>
                        <a:schemeClr val="accent2">
                          <a:lumMod val="50000"/>
                        </a:schemeClr>
                      </a:solidFill>
                      <a:prstDash val="sysDot"/>
                      <a:round/>
                      <a:headEnd type="none" w="med" len="med"/>
                      <a:tailEnd type="none" w="med" len="med"/>
                    </a:lnB>
                  </a:tcPr>
                </a:tc>
                <a:tc>
                  <a:txBody>
                    <a:bodyPr/>
                    <a:lstStyle/>
                    <a:p>
                      <a:r>
                        <a:rPr lang="en-US" sz="1000" b="0" i="0" u="none" strike="noStrike" kern="1200" baseline="0" dirty="0" smtClean="0">
                          <a:solidFill>
                            <a:schemeClr val="tx1"/>
                          </a:solidFill>
                          <a:latin typeface="+mn-lt"/>
                          <a:ea typeface="+mn-ea"/>
                          <a:cs typeface="+mn-cs"/>
                        </a:rPr>
                        <a:t>Required by a few states.</a:t>
                      </a:r>
                      <a:endParaRPr lang="en-US" sz="1000" dirty="0"/>
                    </a:p>
                  </a:txBody>
                  <a:tcPr>
                    <a:lnL w="12700" cap="flat" cmpd="sng" algn="ctr">
                      <a:solidFill>
                        <a:schemeClr val="accent2">
                          <a:lumMod val="50000"/>
                        </a:schemeClr>
                      </a:solidFill>
                      <a:prstDash val="solid"/>
                      <a:round/>
                      <a:headEnd type="none" w="med" len="med"/>
                      <a:tailEnd type="none" w="med" len="med"/>
                    </a:lnL>
                    <a:lnB w="12700" cap="flat" cmpd="sng" algn="ctr">
                      <a:solidFill>
                        <a:schemeClr val="accent2">
                          <a:lumMod val="50000"/>
                        </a:schemeClr>
                      </a:solidFill>
                      <a:prstDash val="sysDot"/>
                      <a:round/>
                      <a:headEnd type="none" w="med" len="med"/>
                      <a:tailEnd type="none" w="med" len="med"/>
                    </a:lnB>
                  </a:tcPr>
                </a:tc>
                <a:tc>
                  <a:txBody>
                    <a:bodyPr/>
                    <a:lstStyle/>
                    <a:p>
                      <a:r>
                        <a:rPr lang="en-US" sz="1000" b="0" i="0" u="none" strike="noStrike" kern="1200" baseline="0" dirty="0" smtClean="0">
                          <a:solidFill>
                            <a:schemeClr val="tx1"/>
                          </a:solidFill>
                          <a:latin typeface="+mn-lt"/>
                          <a:ea typeface="+mn-ea"/>
                          <a:cs typeface="+mn-cs"/>
                        </a:rPr>
                        <a:t>The Housing Emergency Recovery Act of 2008 (HERA) raised the down payment on FHA-insured mortgages from 3 to 3.5 percent. In some cases VA does not require a down payment.</a:t>
                      </a:r>
                      <a:endParaRPr lang="en-US" sz="1000" dirty="0"/>
                    </a:p>
                  </a:txBody>
                  <a:tcPr>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Loan coverage level</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r>
                        <a:rPr lang="en-US" sz="1000" dirty="0" smtClean="0"/>
                        <a:t>Varies</a:t>
                      </a:r>
                      <a:endParaRPr lang="en-US" sz="10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r>
                        <a:rPr lang="en-US" sz="1000" dirty="0" smtClean="0"/>
                        <a:t>FHA insures the entire loan balance; VA guarantees a percentage of the loan.</a:t>
                      </a:r>
                      <a:endParaRPr lang="en-US" sz="1000" dirty="0"/>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Limit on size of the mortgage insured or guaranteed</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r>
                        <a:rPr lang="en-US" sz="1000" dirty="0" smtClean="0"/>
                        <a:t>None</a:t>
                      </a:r>
                      <a:endParaRPr lang="en-US" sz="10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Pursuant to HERA, beginning in 2009, the loan limit for FHA-insured mortgages for one-unit properties is 115 percent of the local area median home price, as determined by HUD, with a floor of 65 percent of $417,000 (or $271,050) and a ceiling equal to 150 percent of the Enterprises' limit. Limits vary by geographic region and for 2 - 4 unit properties. Beginning in 2009, the VA's guarantee of loans above $144,000 is 25 percent of the new Enterprise loan limit base or the limits for the high cost areas.</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Up-front mortgage insurance premium</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Required; varies with loan characteristics.</a:t>
                      </a:r>
                      <a:endParaRPr lang="en-US" sz="10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Required by FHA; VA requires an up-front funding fee.</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Monthly premium</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Premiums vary based on the size of the down payment, type of mortgage, and amount of insurance coverage.</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FHA borrowers pay an annual insurance premium that starts at .5 percent of the loan balance and declines over time. There is no insurance premium for VA mortgages.</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Cancellation of insurance</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Can usually be canceled when the homeowner acquires 20 percent equity in the home. Under Federal law, MI must be cancelled automatically when the borrower has paid the loan down to 78 percent of the original home value.</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For FHA mortgages with terms greater than 15 years, the annual mortgage insurance cancels when the LTV ratio reaches 78 percent, provided the borrower has paid the annual mortgage insurance premiums for at least 5 years.</a:t>
                      </a:r>
                    </a:p>
                    <a:p>
                      <a:endParaRPr lang="en-US" sz="1000" dirty="0"/>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Deductibility of borrower-paid mortgage insurance</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Yes, up to a certain income level, through the </a:t>
                      </a:r>
                      <a:r>
                        <a:rPr lang="en-US" sz="1000" dirty="0" smtClean="0">
                          <a:solidFill>
                            <a:srgbClr val="C00000"/>
                          </a:solidFill>
                        </a:rPr>
                        <a:t>2010</a:t>
                      </a:r>
                      <a:r>
                        <a:rPr lang="en-US" sz="1000" dirty="0" smtClean="0"/>
                        <a:t> tax year.</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Yes, up to a certain income level, through the </a:t>
                      </a:r>
                      <a:r>
                        <a:rPr lang="en-US" sz="1000" dirty="0" smtClean="0">
                          <a:solidFill>
                            <a:srgbClr val="C00000"/>
                          </a:solidFill>
                        </a:rPr>
                        <a:t>2010</a:t>
                      </a:r>
                      <a:r>
                        <a:rPr lang="en-US" sz="1000" dirty="0" smtClean="0"/>
                        <a:t> tax year.</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Income limits</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None</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No maximum income limit on FHA/VA loans.</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Interest rate</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Market driven</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Market driven</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Regulation</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State regulated. Regulation extends to reserves for losses, capital, etc.</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FHA and VA mortgage programs are administered by agencies of the U.S. government.</a:t>
                      </a:r>
                    </a:p>
                  </a:txBody>
                  <a:tcPr>
                    <a:lnT w="12700" cap="flat" cmpd="sng" algn="ctr">
                      <a:solidFill>
                        <a:schemeClr val="accent2">
                          <a:lumMod val="50000"/>
                        </a:schemeClr>
                      </a:solidFill>
                      <a:prstDash val="sysDot"/>
                      <a:round/>
                      <a:headEnd type="none" w="med" len="med"/>
                      <a:tailEnd type="none" w="med" len="med"/>
                    </a:lnT>
                  </a:tcPr>
                </a:tc>
              </a:tr>
            </a:tbl>
          </a:graphicData>
        </a:graphic>
      </p:graphicFrame>
    </p:spTree>
    <p:extLst>
      <p:ext uri="{BB962C8B-B14F-4D97-AF65-F5344CB8AC3E}">
        <p14:creationId xmlns:p14="http://schemas.microsoft.com/office/powerpoint/2010/main" val="24281943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Coverage</a:t>
            </a:r>
            <a:br>
              <a:rPr lang="en-US" sz="1600" dirty="0" smtClean="0"/>
            </a:br>
            <a:r>
              <a:rPr lang="en-US" sz="1600" dirty="0" smtClean="0"/>
              <a:t>How MI Reduces Lender Exposure</a:t>
            </a:r>
            <a:endParaRPr lang="en-US" sz="1600" dirty="0">
              <a:latin typeface="+mn-lt"/>
            </a:endParaRPr>
          </a:p>
        </p:txBody>
      </p:sp>
      <p:graphicFrame>
        <p:nvGraphicFramePr>
          <p:cNvPr id="6" name="Chart 5"/>
          <p:cNvGraphicFramePr/>
          <p:nvPr>
            <p:extLst>
              <p:ext uri="{D42A27DB-BD31-4B8C-83A1-F6EECF244321}">
                <p14:modId xmlns:p14="http://schemas.microsoft.com/office/powerpoint/2010/main" val="1907318579"/>
              </p:ext>
            </p:extLst>
          </p:nvPr>
        </p:nvGraphicFramePr>
        <p:xfrm>
          <a:off x="823920" y="2150342"/>
          <a:ext cx="8410560" cy="3732298"/>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1501140" y="5974080"/>
            <a:ext cx="3139440" cy="646331"/>
          </a:xfrm>
          <a:prstGeom prst="rect">
            <a:avLst/>
          </a:prstGeom>
          <a:noFill/>
        </p:spPr>
        <p:txBody>
          <a:bodyPr wrap="square" rtlCol="0">
            <a:spAutoFit/>
          </a:bodyPr>
          <a:lstStyle/>
          <a:p>
            <a:pPr algn="ctr"/>
            <a:r>
              <a:rPr lang="en-US" dirty="0" smtClean="0">
                <a:latin typeface="+mn-lt"/>
              </a:rPr>
              <a:t>Lower coverage = </a:t>
            </a:r>
          </a:p>
          <a:p>
            <a:pPr algn="ctr"/>
            <a:r>
              <a:rPr lang="en-US" dirty="0" smtClean="0">
                <a:latin typeface="+mn-lt"/>
              </a:rPr>
              <a:t>Higher exposure</a:t>
            </a:r>
            <a:endParaRPr lang="en-US" dirty="0">
              <a:latin typeface="+mn-lt"/>
            </a:endParaRPr>
          </a:p>
        </p:txBody>
      </p:sp>
      <p:sp>
        <p:nvSpPr>
          <p:cNvPr id="8" name="TextBox 7"/>
          <p:cNvSpPr txBox="1"/>
          <p:nvPr/>
        </p:nvSpPr>
        <p:spPr>
          <a:xfrm>
            <a:off x="4792980" y="5974080"/>
            <a:ext cx="3139440" cy="646331"/>
          </a:xfrm>
          <a:prstGeom prst="rect">
            <a:avLst/>
          </a:prstGeom>
          <a:noFill/>
        </p:spPr>
        <p:txBody>
          <a:bodyPr wrap="square" rtlCol="0">
            <a:spAutoFit/>
          </a:bodyPr>
          <a:lstStyle/>
          <a:p>
            <a:pPr algn="ctr"/>
            <a:r>
              <a:rPr lang="en-US" dirty="0" smtClean="0">
                <a:latin typeface="+mn-lt"/>
              </a:rPr>
              <a:t>Higher coverage = </a:t>
            </a:r>
          </a:p>
          <a:p>
            <a:pPr algn="ctr"/>
            <a:r>
              <a:rPr lang="en-US" dirty="0" smtClean="0">
                <a:latin typeface="+mn-lt"/>
              </a:rPr>
              <a:t>Lower exposure</a:t>
            </a:r>
            <a:endParaRPr lang="en-US" dirty="0">
              <a:latin typeface="+mn-lt"/>
            </a:endParaRPr>
          </a:p>
        </p:txBody>
      </p:sp>
      <p:cxnSp>
        <p:nvCxnSpPr>
          <p:cNvPr id="10" name="Straight Connector 9"/>
          <p:cNvCxnSpPr/>
          <p:nvPr/>
        </p:nvCxnSpPr>
        <p:spPr>
          <a:xfrm>
            <a:off x="3162300" y="4030980"/>
            <a:ext cx="3230880" cy="563880"/>
          </a:xfrm>
          <a:prstGeom prst="line">
            <a:avLst/>
          </a:prstGeom>
          <a:ln w="3810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592580" y="1577340"/>
            <a:ext cx="1996440" cy="646331"/>
          </a:xfrm>
          <a:prstGeom prst="rect">
            <a:avLst/>
          </a:prstGeom>
          <a:noFill/>
        </p:spPr>
        <p:txBody>
          <a:bodyPr wrap="square" rtlCol="0">
            <a:spAutoFit/>
          </a:bodyPr>
          <a:lstStyle/>
          <a:p>
            <a:pPr algn="ctr"/>
            <a:r>
              <a:rPr lang="en-US" dirty="0" smtClean="0">
                <a:solidFill>
                  <a:schemeClr val="accent4">
                    <a:lumMod val="65000"/>
                    <a:lumOff val="35000"/>
                  </a:schemeClr>
                </a:solidFill>
                <a:latin typeface="+mn-lt"/>
              </a:rPr>
              <a:t>Purchase</a:t>
            </a:r>
          </a:p>
          <a:p>
            <a:pPr algn="ctr"/>
            <a:r>
              <a:rPr lang="en-US" dirty="0" smtClean="0">
                <a:solidFill>
                  <a:schemeClr val="accent4">
                    <a:lumMod val="65000"/>
                    <a:lumOff val="35000"/>
                  </a:schemeClr>
                </a:solidFill>
                <a:latin typeface="+mn-lt"/>
              </a:rPr>
              <a:t>Price</a:t>
            </a:r>
            <a:endParaRPr lang="en-US" dirty="0">
              <a:solidFill>
                <a:schemeClr val="accent4">
                  <a:lumMod val="65000"/>
                  <a:lumOff val="35000"/>
                </a:schemeClr>
              </a:solidFill>
              <a:latin typeface="+mn-lt"/>
            </a:endParaRPr>
          </a:p>
        </p:txBody>
      </p:sp>
      <p:sp>
        <p:nvSpPr>
          <p:cNvPr id="20" name="TextBox 19"/>
          <p:cNvSpPr txBox="1"/>
          <p:nvPr/>
        </p:nvSpPr>
        <p:spPr>
          <a:xfrm>
            <a:off x="2590800" y="2150342"/>
            <a:ext cx="1996440" cy="646331"/>
          </a:xfrm>
          <a:prstGeom prst="rect">
            <a:avLst/>
          </a:prstGeom>
          <a:noFill/>
        </p:spPr>
        <p:txBody>
          <a:bodyPr wrap="square" rtlCol="0">
            <a:spAutoFit/>
          </a:bodyPr>
          <a:lstStyle/>
          <a:p>
            <a:pPr algn="ctr"/>
            <a:r>
              <a:rPr lang="en-US" dirty="0" smtClean="0">
                <a:solidFill>
                  <a:schemeClr val="accent2">
                    <a:lumMod val="75000"/>
                  </a:schemeClr>
                </a:solidFill>
                <a:latin typeface="+mn-lt"/>
              </a:rPr>
              <a:t>Loan Amount</a:t>
            </a:r>
          </a:p>
          <a:p>
            <a:pPr algn="ctr"/>
            <a:r>
              <a:rPr lang="en-US" dirty="0" smtClean="0">
                <a:solidFill>
                  <a:schemeClr val="accent2">
                    <a:lumMod val="75000"/>
                  </a:schemeClr>
                </a:solidFill>
                <a:latin typeface="+mn-lt"/>
              </a:rPr>
              <a:t>(90% LTV)</a:t>
            </a:r>
            <a:endParaRPr lang="en-US" dirty="0">
              <a:solidFill>
                <a:schemeClr val="accent2">
                  <a:lumMod val="75000"/>
                </a:schemeClr>
              </a:solidFill>
              <a:latin typeface="+mn-lt"/>
            </a:endParaRPr>
          </a:p>
        </p:txBody>
      </p:sp>
      <p:sp>
        <p:nvSpPr>
          <p:cNvPr id="21" name="TextBox 20"/>
          <p:cNvSpPr txBox="1"/>
          <p:nvPr/>
        </p:nvSpPr>
        <p:spPr>
          <a:xfrm>
            <a:off x="4861560" y="1577340"/>
            <a:ext cx="1996440" cy="646331"/>
          </a:xfrm>
          <a:prstGeom prst="rect">
            <a:avLst/>
          </a:prstGeom>
          <a:noFill/>
        </p:spPr>
        <p:txBody>
          <a:bodyPr wrap="square" rtlCol="0">
            <a:spAutoFit/>
          </a:bodyPr>
          <a:lstStyle/>
          <a:p>
            <a:pPr algn="ctr"/>
            <a:r>
              <a:rPr lang="en-US" dirty="0" smtClean="0">
                <a:solidFill>
                  <a:schemeClr val="accent4">
                    <a:lumMod val="65000"/>
                    <a:lumOff val="35000"/>
                  </a:schemeClr>
                </a:solidFill>
                <a:latin typeface="+mn-lt"/>
              </a:rPr>
              <a:t>Purchase</a:t>
            </a:r>
          </a:p>
          <a:p>
            <a:pPr algn="ctr"/>
            <a:r>
              <a:rPr lang="en-US" dirty="0" smtClean="0">
                <a:solidFill>
                  <a:schemeClr val="accent4">
                    <a:lumMod val="65000"/>
                    <a:lumOff val="35000"/>
                  </a:schemeClr>
                </a:solidFill>
                <a:latin typeface="+mn-lt"/>
              </a:rPr>
              <a:t>Price</a:t>
            </a:r>
            <a:endParaRPr lang="en-US" dirty="0">
              <a:solidFill>
                <a:schemeClr val="accent4">
                  <a:lumMod val="65000"/>
                  <a:lumOff val="35000"/>
                </a:schemeClr>
              </a:solidFill>
              <a:latin typeface="+mn-lt"/>
            </a:endParaRPr>
          </a:p>
        </p:txBody>
      </p:sp>
      <p:sp>
        <p:nvSpPr>
          <p:cNvPr id="22" name="TextBox 21"/>
          <p:cNvSpPr txBox="1"/>
          <p:nvPr/>
        </p:nvSpPr>
        <p:spPr>
          <a:xfrm>
            <a:off x="5859780" y="2150342"/>
            <a:ext cx="1996440" cy="646331"/>
          </a:xfrm>
          <a:prstGeom prst="rect">
            <a:avLst/>
          </a:prstGeom>
          <a:noFill/>
        </p:spPr>
        <p:txBody>
          <a:bodyPr wrap="square" rtlCol="0">
            <a:spAutoFit/>
          </a:bodyPr>
          <a:lstStyle/>
          <a:p>
            <a:pPr algn="ctr"/>
            <a:r>
              <a:rPr lang="en-US" dirty="0" smtClean="0">
                <a:solidFill>
                  <a:schemeClr val="accent2">
                    <a:lumMod val="75000"/>
                  </a:schemeClr>
                </a:solidFill>
                <a:latin typeface="+mn-lt"/>
              </a:rPr>
              <a:t>Loan Amount</a:t>
            </a:r>
          </a:p>
          <a:p>
            <a:pPr algn="ctr"/>
            <a:r>
              <a:rPr lang="en-US" dirty="0" smtClean="0">
                <a:solidFill>
                  <a:schemeClr val="accent2">
                    <a:lumMod val="75000"/>
                  </a:schemeClr>
                </a:solidFill>
                <a:latin typeface="+mn-lt"/>
              </a:rPr>
              <a:t>(90% LTV)</a:t>
            </a:r>
            <a:endParaRPr lang="en-US" dirty="0">
              <a:solidFill>
                <a:schemeClr val="accent2">
                  <a:lumMod val="75000"/>
                </a:schemeClr>
              </a:solidFill>
              <a:latin typeface="+mn-lt"/>
            </a:endParaRPr>
          </a:p>
        </p:txBody>
      </p:sp>
    </p:spTree>
    <p:extLst>
      <p:ext uri="{BB962C8B-B14F-4D97-AF65-F5344CB8AC3E}">
        <p14:creationId xmlns:p14="http://schemas.microsoft.com/office/powerpoint/2010/main" val="14521897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Understanding Claims</a:t>
            </a:r>
            <a:endParaRPr lang="en-US" sz="16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45185204"/>
              </p:ext>
            </p:extLst>
          </p:nvPr>
        </p:nvGraphicFramePr>
        <p:xfrm>
          <a:off x="1371600" y="1173481"/>
          <a:ext cx="7254240" cy="5273040"/>
        </p:xfrm>
        <a:graphic>
          <a:graphicData uri="http://schemas.openxmlformats.org/drawingml/2006/table">
            <a:tbl>
              <a:tblPr firstRow="1">
                <a:tableStyleId>{3B4B98B0-60AC-42C2-AFA5-B58CD77FA1E5}</a:tableStyleId>
              </a:tblPr>
              <a:tblGrid>
                <a:gridCol w="3489960"/>
                <a:gridCol w="3764280"/>
              </a:tblGrid>
              <a:tr h="351536">
                <a:tc>
                  <a:txBody>
                    <a:bodyPr/>
                    <a:lstStyle/>
                    <a:p>
                      <a:pPr algn="ctr"/>
                      <a:r>
                        <a:rPr lang="en-US" sz="1600" dirty="0" smtClean="0"/>
                        <a:t>Original Loan Balance, LTV, Coverage</a:t>
                      </a:r>
                      <a:endParaRPr lang="en-US" sz="1600" dirty="0"/>
                    </a:p>
                  </a:txBody>
                  <a:tcPr>
                    <a:lnR w="12700" cap="flat" cmpd="sng" algn="ctr">
                      <a:solidFill>
                        <a:schemeClr val="accent2">
                          <a:lumMod val="50000"/>
                        </a:schemeClr>
                      </a:solidFill>
                      <a:prstDash val="solid"/>
                      <a:round/>
                      <a:headEnd type="none" w="med" len="med"/>
                      <a:tailEnd type="none" w="med" len="med"/>
                    </a:lnR>
                  </a:tcPr>
                </a:tc>
                <a:tc>
                  <a:txBody>
                    <a:bodyPr/>
                    <a:lstStyle/>
                    <a:p>
                      <a:pPr algn="ctr"/>
                      <a:r>
                        <a:rPr lang="en-US" sz="1600" dirty="0" smtClean="0"/>
                        <a:t>$90,000,</a:t>
                      </a:r>
                      <a:r>
                        <a:rPr lang="en-US" sz="1600" baseline="0" dirty="0" smtClean="0"/>
                        <a:t> 90% LTV, 25% Coverage Selected</a:t>
                      </a:r>
                      <a:endParaRPr lang="en-US" sz="1600" dirty="0"/>
                    </a:p>
                  </a:txBody>
                  <a:tcPr>
                    <a:lnL w="12700" cap="flat" cmpd="sng" algn="ctr">
                      <a:solidFill>
                        <a:schemeClr val="accent2">
                          <a:lumMod val="50000"/>
                        </a:schemeClr>
                      </a:solidFill>
                      <a:prstDash val="solid"/>
                      <a:round/>
                      <a:headEnd type="none" w="med" len="med"/>
                      <a:tailEnd type="none" w="med" len="med"/>
                    </a:lnL>
                  </a:tcPr>
                </a:tc>
              </a:tr>
              <a:tr h="351536">
                <a:tc>
                  <a:txBody>
                    <a:bodyPr/>
                    <a:lstStyle/>
                    <a:p>
                      <a:r>
                        <a:rPr lang="en-US" sz="1400" dirty="0" smtClean="0"/>
                        <a:t>Principle Balance Due at Default</a:t>
                      </a:r>
                      <a:endParaRPr lang="en-US" sz="1400" dirty="0"/>
                    </a:p>
                  </a:txBody>
                  <a:tcPr>
                    <a:lnR w="12700" cap="flat" cmpd="sng" algn="ctr">
                      <a:solidFill>
                        <a:schemeClr val="accent2">
                          <a:lumMod val="50000"/>
                        </a:schemeClr>
                      </a:solidFill>
                      <a:prstDash val="solid"/>
                      <a:round/>
                      <a:headEnd type="none" w="med" len="med"/>
                      <a:tailEnd type="none" w="med" len="med"/>
                    </a:lnR>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400" dirty="0" smtClean="0"/>
                        <a:t>$88,915</a:t>
                      </a:r>
                      <a:endParaRPr lang="en-US" sz="1400" dirty="0"/>
                    </a:p>
                  </a:txBody>
                  <a:tcPr>
                    <a:lnL w="12700" cap="flat" cmpd="sng" algn="ctr">
                      <a:solidFill>
                        <a:schemeClr val="accent2">
                          <a:lumMod val="50000"/>
                        </a:schemeClr>
                      </a:solidFill>
                      <a:prstDash val="solid"/>
                      <a:round/>
                      <a:headEnd type="none" w="med" len="med"/>
                      <a:tailEnd type="none" w="med" len="med"/>
                    </a:lnL>
                    <a:lnB w="12700" cap="flat" cmpd="sng" algn="ctr">
                      <a:solidFill>
                        <a:schemeClr val="accent2">
                          <a:lumMod val="50000"/>
                        </a:schemeClr>
                      </a:solidFill>
                      <a:prstDash val="sysDot"/>
                      <a:round/>
                      <a:headEnd type="none" w="med" len="med"/>
                      <a:tailEnd type="none" w="med" len="med"/>
                    </a:lnB>
                  </a:tcPr>
                </a:tc>
              </a:tr>
              <a:tr h="351536">
                <a:tc>
                  <a:txBody>
                    <a:bodyPr/>
                    <a:lstStyle/>
                    <a:p>
                      <a:r>
                        <a:rPr lang="en-US" sz="1400" dirty="0" smtClean="0"/>
                        <a:t>Accumulated Interest</a:t>
                      </a:r>
                      <a:endParaRPr lang="en-US" sz="14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400" dirty="0" smtClean="0"/>
                        <a:t>7,850</a:t>
                      </a:r>
                      <a:endParaRPr lang="en-US" sz="14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51536">
                <a:tc>
                  <a:txBody>
                    <a:bodyPr/>
                    <a:lstStyle/>
                    <a:p>
                      <a:r>
                        <a:rPr lang="en-US" sz="1400" b="1" dirty="0" smtClean="0"/>
                        <a:t>Subtotal</a:t>
                      </a:r>
                      <a:endParaRPr lang="en-US" sz="1400" b="1"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c>
                  <a:txBody>
                    <a:bodyPr/>
                    <a:lstStyle/>
                    <a:p>
                      <a:pPr lvl="1" algn="r"/>
                      <a:r>
                        <a:rPr lang="en-US" sz="1400" b="1" dirty="0" smtClean="0"/>
                        <a:t>$96,765</a:t>
                      </a:r>
                      <a:endParaRPr lang="en-US" sz="1400" b="1"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r>
              <a:tr h="351536">
                <a:tc>
                  <a:txBody>
                    <a:bodyPr/>
                    <a:lstStyle/>
                    <a:p>
                      <a:r>
                        <a:rPr lang="en-US" sz="1400" dirty="0" smtClean="0"/>
                        <a:t>Expenses</a:t>
                      </a:r>
                      <a:endParaRPr lang="en-US" sz="14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endParaRPr lang="en-US" sz="14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51536">
                <a:tc>
                  <a:txBody>
                    <a:bodyPr/>
                    <a:lstStyle/>
                    <a:p>
                      <a:pPr lvl="1"/>
                      <a:r>
                        <a:rPr lang="en-US" sz="1400" dirty="0" smtClean="0"/>
                        <a:t>Attorney’s Fees</a:t>
                      </a:r>
                      <a:endParaRPr lang="en-US" sz="14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400" dirty="0" smtClean="0"/>
                        <a:t>$1,000</a:t>
                      </a:r>
                      <a:endParaRPr lang="en-US" sz="14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51536">
                <a:tc>
                  <a:txBody>
                    <a:bodyPr/>
                    <a:lstStyle/>
                    <a:p>
                      <a:pPr lvl="1"/>
                      <a:r>
                        <a:rPr lang="en-US" sz="1400" dirty="0" smtClean="0"/>
                        <a:t>Property Taxes</a:t>
                      </a:r>
                      <a:endParaRPr lang="en-US" sz="14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400" dirty="0" smtClean="0"/>
                        <a:t>1,140</a:t>
                      </a:r>
                      <a:endParaRPr lang="en-US" sz="14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51536">
                <a:tc>
                  <a:txBody>
                    <a:bodyPr/>
                    <a:lstStyle/>
                    <a:p>
                      <a:pPr lvl="1"/>
                      <a:r>
                        <a:rPr lang="en-US" sz="1400" dirty="0" smtClean="0"/>
                        <a:t>Hazard Insurance</a:t>
                      </a:r>
                      <a:endParaRPr lang="en-US" sz="14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400" dirty="0" smtClean="0"/>
                        <a:t>710</a:t>
                      </a:r>
                      <a:endParaRPr lang="en-US" sz="14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51536">
                <a:tc>
                  <a:txBody>
                    <a:bodyPr/>
                    <a:lstStyle/>
                    <a:p>
                      <a:pPr lvl="1"/>
                      <a:r>
                        <a:rPr lang="en-US" sz="1400" dirty="0" smtClean="0"/>
                        <a:t>Property Preservation</a:t>
                      </a:r>
                      <a:endParaRPr lang="en-US" sz="14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400" dirty="0" smtClean="0"/>
                        <a:t>350</a:t>
                      </a:r>
                      <a:endParaRPr lang="en-US" sz="14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51536">
                <a:tc>
                  <a:txBody>
                    <a:bodyPr/>
                    <a:lstStyle/>
                    <a:p>
                      <a:pPr lvl="1"/>
                      <a:r>
                        <a:rPr lang="en-US" sz="1400" dirty="0" smtClean="0"/>
                        <a:t>Statutory Disbursements</a:t>
                      </a:r>
                      <a:endParaRPr lang="en-US" sz="14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400" dirty="0" smtClean="0"/>
                        <a:t>$1,500</a:t>
                      </a:r>
                      <a:endParaRPr lang="en-US" sz="14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51536">
                <a:tc>
                  <a:txBody>
                    <a:bodyPr/>
                    <a:lstStyle/>
                    <a:p>
                      <a:r>
                        <a:rPr lang="en-US" sz="1400" b="1" dirty="0" smtClean="0"/>
                        <a:t>Subtotal</a:t>
                      </a:r>
                      <a:endParaRPr lang="en-US" sz="1400" b="1"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c>
                  <a:txBody>
                    <a:bodyPr/>
                    <a:lstStyle/>
                    <a:p>
                      <a:pPr lvl="1" algn="r"/>
                      <a:r>
                        <a:rPr lang="en-US" sz="1400" b="1" dirty="0" smtClean="0"/>
                        <a:t>$101,465</a:t>
                      </a:r>
                      <a:endParaRPr lang="en-US" sz="1400" b="1"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r>
              <a:tr h="351536">
                <a:tc>
                  <a:txBody>
                    <a:bodyPr/>
                    <a:lstStyle/>
                    <a:p>
                      <a:r>
                        <a:rPr lang="en-US" sz="1400" dirty="0" smtClean="0"/>
                        <a:t>Less Escrow Balance</a:t>
                      </a:r>
                      <a:endParaRPr lang="en-US" sz="14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400" dirty="0" smtClean="0"/>
                        <a:t>($240)</a:t>
                      </a:r>
                      <a:endParaRPr lang="en-US" sz="14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51536">
                <a:tc>
                  <a:txBody>
                    <a:bodyPr/>
                    <a:lstStyle/>
                    <a:p>
                      <a:pPr marL="0" lvl="0" algn="l" defTabSz="1018472" rtl="0" eaLnBrk="1" latinLnBrk="0" hangingPunct="1"/>
                      <a:r>
                        <a:rPr lang="en-US" sz="1400" b="1" kern="1200" dirty="0" smtClean="0">
                          <a:solidFill>
                            <a:schemeClr val="tx1"/>
                          </a:solidFill>
                          <a:latin typeface="+mn-lt"/>
                          <a:ea typeface="+mn-ea"/>
                          <a:cs typeface="+mn-cs"/>
                        </a:rPr>
                        <a:t>Total Possible Claim</a:t>
                      </a:r>
                      <a:endParaRPr lang="en-US" sz="1400" b="1" kern="1200" dirty="0">
                        <a:solidFill>
                          <a:schemeClr val="tx1"/>
                        </a:solidFill>
                        <a:latin typeface="+mn-lt"/>
                        <a:ea typeface="+mn-ea"/>
                        <a:cs typeface="+mn-cs"/>
                      </a:endParaRPr>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c>
                  <a:txBody>
                    <a:bodyPr/>
                    <a:lstStyle/>
                    <a:p>
                      <a:pPr marL="509235" lvl="1" algn="r" defTabSz="1018472" rtl="0" eaLnBrk="1" latinLnBrk="0" hangingPunct="1"/>
                      <a:r>
                        <a:rPr lang="en-US" sz="1400" b="1" kern="1200" dirty="0" smtClean="0">
                          <a:solidFill>
                            <a:schemeClr val="tx1"/>
                          </a:solidFill>
                          <a:latin typeface="+mn-lt"/>
                          <a:ea typeface="+mn-ea"/>
                          <a:cs typeface="+mn-cs"/>
                        </a:rPr>
                        <a:t>$101,225</a:t>
                      </a:r>
                      <a:endParaRPr lang="en-US" sz="1400" b="1" kern="1200" dirty="0">
                        <a:solidFill>
                          <a:schemeClr val="tx1"/>
                        </a:solidFill>
                        <a:latin typeface="+mn-lt"/>
                        <a:ea typeface="+mn-ea"/>
                        <a:cs typeface="+mn-cs"/>
                      </a:endParaRP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r>
              <a:tr h="351536">
                <a:tc>
                  <a:txBody>
                    <a:bodyPr/>
                    <a:lstStyle/>
                    <a:p>
                      <a:r>
                        <a:rPr lang="en-US" sz="1400" dirty="0" smtClean="0"/>
                        <a:t>Times Coverage Purchase (25%)</a:t>
                      </a:r>
                      <a:endParaRPr lang="en-US" sz="14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400" dirty="0" smtClean="0"/>
                        <a:t>× .25</a:t>
                      </a:r>
                      <a:endParaRPr lang="en-US" sz="14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51536">
                <a:tc>
                  <a:txBody>
                    <a:bodyPr/>
                    <a:lstStyle/>
                    <a:p>
                      <a:r>
                        <a:rPr lang="en-US" sz="1400" b="1" dirty="0" smtClean="0"/>
                        <a:t>Total Optional Claim Payment</a:t>
                      </a:r>
                      <a:endParaRPr lang="en-US" sz="1400" b="1"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tcPr>
                </a:tc>
                <a:tc>
                  <a:txBody>
                    <a:bodyPr/>
                    <a:lstStyle/>
                    <a:p>
                      <a:pPr lvl="1" algn="r"/>
                      <a:r>
                        <a:rPr lang="en-US" sz="1400" b="1" dirty="0" smtClean="0"/>
                        <a:t>$25,306</a:t>
                      </a:r>
                      <a:endParaRPr lang="en-US" sz="1400" b="1"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tcPr>
                </a:tc>
              </a:tr>
            </a:tbl>
          </a:graphicData>
        </a:graphic>
      </p:graphicFrame>
    </p:spTree>
    <p:extLst>
      <p:ext uri="{BB962C8B-B14F-4D97-AF65-F5344CB8AC3E}">
        <p14:creationId xmlns:p14="http://schemas.microsoft.com/office/powerpoint/2010/main" val="3626896293"/>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85749</TotalTime>
  <Words>543</Words>
  <Application>Microsoft Office PowerPoint</Application>
  <PresentationFormat>Custom</PresentationFormat>
  <Paragraphs>81</Paragraphs>
  <Slides>3</Slides>
  <Notes>0</Notes>
  <HiddenSlides>0</HiddenSlides>
  <MMClips>0</MMClips>
  <ScaleCrop>false</ScaleCrop>
  <HeadingPairs>
    <vt:vector size="4" baseType="variant">
      <vt:variant>
        <vt:lpstr>Theme</vt:lpstr>
      </vt:variant>
      <vt:variant>
        <vt:i4>15</vt:i4>
      </vt:variant>
      <vt:variant>
        <vt:lpstr>Slide Titles</vt:lpstr>
      </vt:variant>
      <vt:variant>
        <vt:i4>3</vt:i4>
      </vt:variant>
    </vt:vector>
  </HeadingPairs>
  <TitlesOfParts>
    <vt:vector size="18"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Comparison of Private and Government  Mortgage Insurance and Guarantee Programs</vt:lpstr>
      <vt:lpstr>Coverage How MI Reduces Lender Exposure</vt:lpstr>
      <vt:lpstr>Understanding Claims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2018</cp:revision>
  <cp:lastPrinted>2014-08-14T21:45:56Z</cp:lastPrinted>
  <dcterms:created xsi:type="dcterms:W3CDTF">2011-07-07T12:37:32Z</dcterms:created>
  <dcterms:modified xsi:type="dcterms:W3CDTF">2016-03-21T18:19:40Z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