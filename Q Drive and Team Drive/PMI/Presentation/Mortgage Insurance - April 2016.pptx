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4.xml" ContentType="application/vnd.openxmlformats-officedocument.presentationml.slideLayout+xml"/>
  <Override PartName="/ppt/theme/theme9.xml" ContentType="application/vnd.openxmlformats-officedocument.theme+xml"/>
  <Override PartName="/ppt/slideLayouts/slideLayout15.xml" ContentType="application/vnd.openxmlformats-officedocument.presentationml.slideLayout+xml"/>
  <Override PartName="/ppt/theme/theme10.xml" ContentType="application/vnd.openxmlformats-officedocument.theme+xml"/>
  <Override PartName="/ppt/slideLayouts/slideLayout1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1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1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17.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18.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Lst>
  <p:notesMasterIdLst>
    <p:notesMasterId r:id="rId36"/>
  </p:notesMasterIdLst>
  <p:handoutMasterIdLst>
    <p:handoutMasterId r:id="rId37"/>
  </p:handoutMasterIdLst>
  <p:sldIdLst>
    <p:sldId id="433" r:id="rId20"/>
    <p:sldId id="612" r:id="rId21"/>
    <p:sldId id="619" r:id="rId22"/>
    <p:sldId id="621" r:id="rId23"/>
    <p:sldId id="596" r:id="rId24"/>
    <p:sldId id="613" r:id="rId25"/>
    <p:sldId id="616" r:id="rId26"/>
    <p:sldId id="617" r:id="rId27"/>
    <p:sldId id="620" r:id="rId28"/>
    <p:sldId id="615" r:id="rId29"/>
    <p:sldId id="622" r:id="rId30"/>
    <p:sldId id="623" r:id="rId31"/>
    <p:sldId id="606" r:id="rId32"/>
    <p:sldId id="608" r:id="rId33"/>
    <p:sldId id="618" r:id="rId34"/>
    <p:sldId id="504" r:id="rId35"/>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p15="http://schemas.microsoft.com/office/powerpoint/2012/main" xmlns="">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p15="http://schemas.microsoft.com/office/powerpoint/2012/main" xmlns="">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732D"/>
    <a:srgbClr val="2E398A"/>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0" autoAdjust="0"/>
    <p:restoredTop sz="95005" autoAdjust="0"/>
  </p:normalViewPr>
  <p:slideViewPr>
    <p:cSldViewPr snapToGrid="0" snapToObjects="1">
      <p:cViewPr>
        <p:scale>
          <a:sx n="100" d="100"/>
          <a:sy n="100" d="100"/>
        </p:scale>
        <p:origin x="-1806" y="-828"/>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2.xml"/><Relationship Id="rId34" Type="http://schemas.openxmlformats.org/officeDocument/2006/relationships/slide" Target="slides/slide15.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slide" Target="slides/slide10.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slide" Target="slides/slide16.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cmnydc1\research$\PMI\Presentation\PMI%20Data%202016-03.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cmnydc1\research$\PMI\Presentation\PMI%20Data%202016-03.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0284331032632494E-2"/>
          <c:y val="4.6153842659460598E-2"/>
          <c:w val="0.76485037857170046"/>
          <c:h val="0.83838674489137843"/>
        </c:manualLayout>
      </c:layout>
      <c:barChart>
        <c:barDir val="col"/>
        <c:grouping val="clustered"/>
        <c:varyColors val="0"/>
        <c:ser>
          <c:idx val="0"/>
          <c:order val="0"/>
          <c:tx>
            <c:strRef>
              <c:f>Sheet1!$B$1</c:f>
              <c:strCache>
                <c:ptCount val="1"/>
                <c:pt idx="0">
                  <c:v>Purchase Price</c:v>
                </c:pt>
              </c:strCache>
            </c:strRef>
          </c:tx>
          <c:spPr>
            <a:solidFill>
              <a:srgbClr val="B4B4B4"/>
            </a:solidFill>
            <a:ln>
              <a:solidFill>
                <a:schemeClr val="bg1"/>
              </a:solidFill>
            </a:ln>
          </c:spPr>
          <c:invertIfNegative val="0"/>
          <c:dLbls>
            <c:delete val="1"/>
          </c:dLbls>
          <c:cat>
            <c:strRef>
              <c:f>Sheet1!$A$2:$A$3</c:f>
              <c:strCache>
                <c:ptCount val="2"/>
                <c:pt idx="0">
                  <c:v>17% MI</c:v>
                </c:pt>
                <c:pt idx="1">
                  <c:v>25% MI</c:v>
                </c:pt>
              </c:strCache>
            </c:strRef>
          </c:cat>
          <c:val>
            <c:numRef>
              <c:f>Sheet1!$B$2:$B$3</c:f>
              <c:numCache>
                <c:formatCode>"$"#,##0</c:formatCode>
                <c:ptCount val="2"/>
                <c:pt idx="0">
                  <c:v>100000</c:v>
                </c:pt>
                <c:pt idx="1">
                  <c:v>100000</c:v>
                </c:pt>
              </c:numCache>
            </c:numRef>
          </c:val>
        </c:ser>
        <c:ser>
          <c:idx val="1"/>
          <c:order val="1"/>
          <c:tx>
            <c:strRef>
              <c:f>Sheet1!$C$1</c:f>
              <c:strCache>
                <c:ptCount val="1"/>
                <c:pt idx="0">
                  <c:v>Loan Amount</c:v>
                </c:pt>
              </c:strCache>
            </c:strRef>
          </c:tx>
          <c:spPr>
            <a:solidFill>
              <a:schemeClr val="accent2"/>
            </a:solidFill>
            <a:ln>
              <a:solidFill>
                <a:schemeClr val="bg1"/>
              </a:solidFill>
            </a:ln>
          </c:spPr>
          <c:invertIfNegative val="0"/>
          <c:dLbls>
            <c:delete val="1"/>
          </c:dLbls>
          <c:cat>
            <c:strRef>
              <c:f>Sheet1!$A$2:$A$3</c:f>
              <c:strCache>
                <c:ptCount val="2"/>
                <c:pt idx="0">
                  <c:v>17% MI</c:v>
                </c:pt>
                <c:pt idx="1">
                  <c:v>25% MI</c:v>
                </c:pt>
              </c:strCache>
            </c:strRef>
          </c:cat>
          <c:val>
            <c:numRef>
              <c:f>Sheet1!$C$2:$C$3</c:f>
              <c:numCache>
                <c:formatCode>"$"#,##0</c:formatCode>
                <c:ptCount val="2"/>
                <c:pt idx="0">
                  <c:v>90000</c:v>
                </c:pt>
                <c:pt idx="1">
                  <c:v>90000</c:v>
                </c:pt>
              </c:numCache>
            </c:numRef>
          </c:val>
        </c:ser>
        <c:dLbls>
          <c:showLegendKey val="0"/>
          <c:showVal val="1"/>
          <c:showCatName val="0"/>
          <c:showSerName val="0"/>
          <c:showPercent val="0"/>
          <c:showBubbleSize val="0"/>
        </c:dLbls>
        <c:gapWidth val="150"/>
        <c:axId val="42133760"/>
        <c:axId val="42135552"/>
      </c:barChart>
      <c:catAx>
        <c:axId val="42133760"/>
        <c:scaling>
          <c:orientation val="minMax"/>
        </c:scaling>
        <c:delete val="0"/>
        <c:axPos val="b"/>
        <c:majorTickMark val="out"/>
        <c:minorTickMark val="none"/>
        <c:tickLblPos val="nextTo"/>
        <c:spPr>
          <a:ln>
            <a:solidFill>
              <a:srgbClr val="8C8C8C"/>
            </a:solidFill>
          </a:ln>
        </c:spPr>
        <c:txPr>
          <a:bodyPr/>
          <a:lstStyle/>
          <a:p>
            <a:pPr>
              <a:defRPr>
                <a:solidFill>
                  <a:srgbClr val="313131"/>
                </a:solidFill>
              </a:defRPr>
            </a:pPr>
            <a:endParaRPr lang="en-US"/>
          </a:p>
        </c:txPr>
        <c:crossAx val="42135552"/>
        <c:crosses val="autoZero"/>
        <c:auto val="1"/>
        <c:lblAlgn val="ctr"/>
        <c:lblOffset val="100"/>
        <c:noMultiLvlLbl val="0"/>
      </c:catAx>
      <c:valAx>
        <c:axId val="42135552"/>
        <c:scaling>
          <c:orientation val="minMax"/>
          <c:min val="50000"/>
        </c:scaling>
        <c:delete val="0"/>
        <c:axPos val="l"/>
        <c:numFmt formatCode="&quot;$&quot;#,##0" sourceLinked="0"/>
        <c:majorTickMark val="out"/>
        <c:minorTickMark val="none"/>
        <c:tickLblPos val="nextTo"/>
        <c:spPr>
          <a:ln>
            <a:solidFill>
              <a:srgbClr val="8C8C8C"/>
            </a:solidFill>
          </a:ln>
        </c:spPr>
        <c:txPr>
          <a:bodyPr/>
          <a:lstStyle/>
          <a:p>
            <a:pPr>
              <a:defRPr>
                <a:solidFill>
                  <a:srgbClr val="313131"/>
                </a:solidFill>
              </a:defRPr>
            </a:pPr>
            <a:endParaRPr lang="en-US"/>
          </a:p>
        </c:txPr>
        <c:crossAx val="42133760"/>
        <c:crosses val="autoZero"/>
        <c:crossBetween val="between"/>
      </c:valAx>
    </c:plotArea>
    <c:plotVisOnly val="1"/>
    <c:dispBlanksAs val="gap"/>
    <c:showDLblsOverMax val="0"/>
  </c:chart>
  <c:txPr>
    <a:bodyPr/>
    <a:lstStyle/>
    <a:p>
      <a:pPr>
        <a:defRPr sz="12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0"/>
          <c:tx>
            <c:strRef>
              <c:f>'PMI Volumes'!$D$3</c:f>
              <c:strCache>
                <c:ptCount val="1"/>
                <c:pt idx="0">
                  <c:v>PMI</c:v>
                </c:pt>
              </c:strCache>
            </c:strRef>
          </c:tx>
          <c:marker>
            <c:symbol val="none"/>
          </c:marker>
          <c:cat>
            <c:numRef>
              <c:f>'PMI Volumes'!$B$4:$B$15</c:f>
              <c:numCache>
                <c:formatCode>General</c:formatCode>
                <c:ptCount val="12"/>
                <c:pt idx="0">
                  <c:v>2004</c:v>
                </c:pt>
                <c:pt idx="1">
                  <c:v>2005</c:v>
                </c:pt>
                <c:pt idx="2">
                  <c:v>2006</c:v>
                </c:pt>
                <c:pt idx="3">
                  <c:v>2007</c:v>
                </c:pt>
                <c:pt idx="4">
                  <c:v>2008</c:v>
                </c:pt>
                <c:pt idx="5">
                  <c:v>2009</c:v>
                </c:pt>
                <c:pt idx="6">
                  <c:v>2010</c:v>
                </c:pt>
                <c:pt idx="7">
                  <c:v>2011</c:v>
                </c:pt>
                <c:pt idx="8">
                  <c:v>2012</c:v>
                </c:pt>
                <c:pt idx="9">
                  <c:v>2013</c:v>
                </c:pt>
                <c:pt idx="10">
                  <c:v>2014</c:v>
                </c:pt>
                <c:pt idx="11">
                  <c:v>2015</c:v>
                </c:pt>
              </c:numCache>
            </c:numRef>
          </c:cat>
          <c:val>
            <c:numRef>
              <c:f>'PMI Volumes'!$D$4:$D$15</c:f>
              <c:numCache>
                <c:formatCode>0.0%</c:formatCode>
                <c:ptCount val="12"/>
                <c:pt idx="0">
                  <c:v>0.66600000000000004</c:v>
                </c:pt>
                <c:pt idx="1">
                  <c:v>0.75800000000000001</c:v>
                </c:pt>
                <c:pt idx="2">
                  <c:v>0.76600000000000001</c:v>
                </c:pt>
                <c:pt idx="3">
                  <c:v>0.76700000000000002</c:v>
                </c:pt>
                <c:pt idx="4">
                  <c:v>0.39100000000000001</c:v>
                </c:pt>
                <c:pt idx="5">
                  <c:v>0.14899999999999999</c:v>
                </c:pt>
                <c:pt idx="6">
                  <c:v>0.155</c:v>
                </c:pt>
                <c:pt idx="7">
                  <c:v>0.218</c:v>
                </c:pt>
                <c:pt idx="8">
                  <c:v>0.31</c:v>
                </c:pt>
                <c:pt idx="9">
                  <c:v>0.35199999999999998</c:v>
                </c:pt>
                <c:pt idx="10">
                  <c:v>0.38900000000000001</c:v>
                </c:pt>
                <c:pt idx="11">
                  <c:v>0.34100000000000003</c:v>
                </c:pt>
              </c:numCache>
            </c:numRef>
          </c:val>
          <c:smooth val="0"/>
        </c:ser>
        <c:ser>
          <c:idx val="2"/>
          <c:order val="1"/>
          <c:tx>
            <c:strRef>
              <c:f>'PMI Volumes'!$E$3</c:f>
              <c:strCache>
                <c:ptCount val="1"/>
                <c:pt idx="0">
                  <c:v>FHA </c:v>
                </c:pt>
              </c:strCache>
            </c:strRef>
          </c:tx>
          <c:spPr>
            <a:ln>
              <a:solidFill>
                <a:schemeClr val="bg2">
                  <a:lumMod val="50000"/>
                </a:schemeClr>
              </a:solidFill>
            </a:ln>
          </c:spPr>
          <c:marker>
            <c:symbol val="none"/>
          </c:marker>
          <c:cat>
            <c:numRef>
              <c:f>'PMI Volumes'!$B$4:$B$15</c:f>
              <c:numCache>
                <c:formatCode>General</c:formatCode>
                <c:ptCount val="12"/>
                <c:pt idx="0">
                  <c:v>2004</c:v>
                </c:pt>
                <c:pt idx="1">
                  <c:v>2005</c:v>
                </c:pt>
                <c:pt idx="2">
                  <c:v>2006</c:v>
                </c:pt>
                <c:pt idx="3">
                  <c:v>2007</c:v>
                </c:pt>
                <c:pt idx="4">
                  <c:v>2008</c:v>
                </c:pt>
                <c:pt idx="5">
                  <c:v>2009</c:v>
                </c:pt>
                <c:pt idx="6">
                  <c:v>2010</c:v>
                </c:pt>
                <c:pt idx="7">
                  <c:v>2011</c:v>
                </c:pt>
                <c:pt idx="8">
                  <c:v>2012</c:v>
                </c:pt>
                <c:pt idx="9">
                  <c:v>2013</c:v>
                </c:pt>
                <c:pt idx="10">
                  <c:v>2014</c:v>
                </c:pt>
                <c:pt idx="11">
                  <c:v>2015</c:v>
                </c:pt>
              </c:numCache>
            </c:numRef>
          </c:cat>
          <c:val>
            <c:numRef>
              <c:f>'PMI Volumes'!$E$4:$E$15</c:f>
              <c:numCache>
                <c:formatCode>0.0%</c:formatCode>
                <c:ptCount val="12"/>
                <c:pt idx="0">
                  <c:v>0.23599999999999999</c:v>
                </c:pt>
                <c:pt idx="1">
                  <c:v>0.16300000000000001</c:v>
                </c:pt>
                <c:pt idx="2">
                  <c:v>0.155</c:v>
                </c:pt>
                <c:pt idx="3">
                  <c:v>0.17100000000000001</c:v>
                </c:pt>
                <c:pt idx="4">
                  <c:v>0.51400000000000001</c:v>
                </c:pt>
                <c:pt idx="5">
                  <c:v>0.68700000000000006</c:v>
                </c:pt>
                <c:pt idx="6">
                  <c:v>0.65700000000000003</c:v>
                </c:pt>
                <c:pt idx="7">
                  <c:v>0.53400000000000003</c:v>
                </c:pt>
                <c:pt idx="8">
                  <c:v>0.434</c:v>
                </c:pt>
                <c:pt idx="9">
                  <c:v>0.39100000000000001</c:v>
                </c:pt>
                <c:pt idx="10">
                  <c:v>0.32400000000000001</c:v>
                </c:pt>
                <c:pt idx="11">
                  <c:v>0.39</c:v>
                </c:pt>
              </c:numCache>
            </c:numRef>
          </c:val>
          <c:smooth val="0"/>
        </c:ser>
        <c:ser>
          <c:idx val="3"/>
          <c:order val="2"/>
          <c:tx>
            <c:strRef>
              <c:f>'PMI Volumes'!$F$3</c:f>
              <c:strCache>
                <c:ptCount val="1"/>
                <c:pt idx="0">
                  <c:v>VA</c:v>
                </c:pt>
              </c:strCache>
            </c:strRef>
          </c:tx>
          <c:marker>
            <c:symbol val="none"/>
          </c:marker>
          <c:cat>
            <c:numRef>
              <c:f>'PMI Volumes'!$B$4:$B$15</c:f>
              <c:numCache>
                <c:formatCode>General</c:formatCode>
                <c:ptCount val="12"/>
                <c:pt idx="0">
                  <c:v>2004</c:v>
                </c:pt>
                <c:pt idx="1">
                  <c:v>2005</c:v>
                </c:pt>
                <c:pt idx="2">
                  <c:v>2006</c:v>
                </c:pt>
                <c:pt idx="3">
                  <c:v>2007</c:v>
                </c:pt>
                <c:pt idx="4">
                  <c:v>2008</c:v>
                </c:pt>
                <c:pt idx="5">
                  <c:v>2009</c:v>
                </c:pt>
                <c:pt idx="6">
                  <c:v>2010</c:v>
                </c:pt>
                <c:pt idx="7">
                  <c:v>2011</c:v>
                </c:pt>
                <c:pt idx="8">
                  <c:v>2012</c:v>
                </c:pt>
                <c:pt idx="9">
                  <c:v>2013</c:v>
                </c:pt>
                <c:pt idx="10">
                  <c:v>2014</c:v>
                </c:pt>
                <c:pt idx="11">
                  <c:v>2015</c:v>
                </c:pt>
              </c:numCache>
            </c:numRef>
          </c:cat>
          <c:val>
            <c:numRef>
              <c:f>'PMI Volumes'!$F$4:$F$15</c:f>
              <c:numCache>
                <c:formatCode>0.0%</c:formatCode>
                <c:ptCount val="12"/>
                <c:pt idx="0">
                  <c:v>8.8999999999999996E-2</c:v>
                </c:pt>
                <c:pt idx="1">
                  <c:v>7.0000000000000007E-2</c:v>
                </c:pt>
                <c:pt idx="2">
                  <c:v>7.0000000000000007E-2</c:v>
                </c:pt>
                <c:pt idx="3">
                  <c:v>5.3999999999999999E-2</c:v>
                </c:pt>
                <c:pt idx="4">
                  <c:v>8.2000000000000003E-2</c:v>
                </c:pt>
                <c:pt idx="5">
                  <c:v>0.13500000000000001</c:v>
                </c:pt>
                <c:pt idx="6">
                  <c:v>0.152</c:v>
                </c:pt>
                <c:pt idx="7">
                  <c:v>0.20799999999999999</c:v>
                </c:pt>
                <c:pt idx="8">
                  <c:v>0.22700000000000001</c:v>
                </c:pt>
                <c:pt idx="9">
                  <c:v>0.221</c:v>
                </c:pt>
                <c:pt idx="10">
                  <c:v>0.24299999999999999</c:v>
                </c:pt>
                <c:pt idx="11">
                  <c:v>0.24099999999999999</c:v>
                </c:pt>
              </c:numCache>
            </c:numRef>
          </c:val>
          <c:smooth val="0"/>
        </c:ser>
        <c:dLbls>
          <c:showLegendKey val="0"/>
          <c:showVal val="0"/>
          <c:showCatName val="0"/>
          <c:showSerName val="0"/>
          <c:showPercent val="0"/>
          <c:showBubbleSize val="0"/>
        </c:dLbls>
        <c:marker val="1"/>
        <c:smooth val="0"/>
        <c:axId val="148936576"/>
        <c:axId val="148938112"/>
      </c:lineChart>
      <c:catAx>
        <c:axId val="148936576"/>
        <c:scaling>
          <c:orientation val="minMax"/>
        </c:scaling>
        <c:delete val="0"/>
        <c:axPos val="b"/>
        <c:numFmt formatCode="General" sourceLinked="1"/>
        <c:majorTickMark val="out"/>
        <c:minorTickMark val="none"/>
        <c:tickLblPos val="nextTo"/>
        <c:crossAx val="148938112"/>
        <c:crosses val="autoZero"/>
        <c:auto val="1"/>
        <c:lblAlgn val="ctr"/>
        <c:lblOffset val="100"/>
        <c:noMultiLvlLbl val="0"/>
      </c:catAx>
      <c:valAx>
        <c:axId val="148938112"/>
        <c:scaling>
          <c:orientation val="minMax"/>
          <c:max val="0.8"/>
        </c:scaling>
        <c:delete val="0"/>
        <c:axPos val="l"/>
        <c:title>
          <c:tx>
            <c:rich>
              <a:bodyPr rot="-5400000" vert="horz"/>
              <a:lstStyle/>
              <a:p>
                <a:pPr>
                  <a:defRPr/>
                </a:pPr>
                <a:r>
                  <a:rPr lang="en-US"/>
                  <a:t>Market Share (%)</a:t>
                </a:r>
              </a:p>
            </c:rich>
          </c:tx>
          <c:layout/>
          <c:overlay val="0"/>
        </c:title>
        <c:numFmt formatCode="0%" sourceLinked="0"/>
        <c:majorTickMark val="out"/>
        <c:minorTickMark val="none"/>
        <c:tickLblPos val="nextTo"/>
        <c:crossAx val="148936576"/>
        <c:crosses val="autoZero"/>
        <c:crossBetween val="between"/>
      </c:valAx>
      <c:spPr>
        <a:noFill/>
        <a:ln>
          <a:noFill/>
        </a:ln>
      </c:spPr>
    </c:plotArea>
    <c:legend>
      <c:legendPos val="b"/>
      <c:layout/>
      <c:overlay val="0"/>
    </c:legend>
    <c:plotVisOnly val="1"/>
    <c:dispBlanksAs val="gap"/>
    <c:showDLblsOverMax val="0"/>
  </c:chart>
  <c:spPr>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'FHA Share HiLTV Refi'!$I$2</c:f>
              <c:strCache>
                <c:ptCount val="1"/>
                <c:pt idx="0">
                  <c:v>FHA %</c:v>
                </c:pt>
              </c:strCache>
            </c:strRef>
          </c:tx>
          <c:marker>
            <c:symbol val="none"/>
          </c:marker>
          <c:cat>
            <c:numRef>
              <c:f>'FHA Share HiLTV Refi'!$H$3:$H$39</c:f>
              <c:numCache>
                <c:formatCode>m/d/yyyy</c:formatCode>
                <c:ptCount val="37"/>
                <c:pt idx="0">
                  <c:v>41275</c:v>
                </c:pt>
                <c:pt idx="1">
                  <c:v>41306</c:v>
                </c:pt>
                <c:pt idx="2">
                  <c:v>41334</c:v>
                </c:pt>
                <c:pt idx="3">
                  <c:v>41365</c:v>
                </c:pt>
                <c:pt idx="4">
                  <c:v>41395</c:v>
                </c:pt>
                <c:pt idx="5">
                  <c:v>41426</c:v>
                </c:pt>
                <c:pt idx="6">
                  <c:v>41456</c:v>
                </c:pt>
                <c:pt idx="7">
                  <c:v>41487</c:v>
                </c:pt>
                <c:pt idx="8">
                  <c:v>41518</c:v>
                </c:pt>
                <c:pt idx="9">
                  <c:v>41548</c:v>
                </c:pt>
                <c:pt idx="10">
                  <c:v>41579</c:v>
                </c:pt>
                <c:pt idx="11">
                  <c:v>41609</c:v>
                </c:pt>
                <c:pt idx="12">
                  <c:v>41640</c:v>
                </c:pt>
                <c:pt idx="13">
                  <c:v>41671</c:v>
                </c:pt>
                <c:pt idx="14">
                  <c:v>41699</c:v>
                </c:pt>
                <c:pt idx="15">
                  <c:v>41730</c:v>
                </c:pt>
                <c:pt idx="16">
                  <c:v>41760</c:v>
                </c:pt>
                <c:pt idx="17">
                  <c:v>41791</c:v>
                </c:pt>
                <c:pt idx="18">
                  <c:v>41821</c:v>
                </c:pt>
                <c:pt idx="19">
                  <c:v>41852</c:v>
                </c:pt>
                <c:pt idx="20">
                  <c:v>41883</c:v>
                </c:pt>
                <c:pt idx="21">
                  <c:v>41913</c:v>
                </c:pt>
                <c:pt idx="22">
                  <c:v>41944</c:v>
                </c:pt>
                <c:pt idx="23">
                  <c:v>41974</c:v>
                </c:pt>
                <c:pt idx="24">
                  <c:v>42005</c:v>
                </c:pt>
                <c:pt idx="25">
                  <c:v>42036</c:v>
                </c:pt>
                <c:pt idx="26">
                  <c:v>42064</c:v>
                </c:pt>
                <c:pt idx="27">
                  <c:v>42095</c:v>
                </c:pt>
                <c:pt idx="28">
                  <c:v>42125</c:v>
                </c:pt>
                <c:pt idx="29">
                  <c:v>42156</c:v>
                </c:pt>
                <c:pt idx="30">
                  <c:v>42186</c:v>
                </c:pt>
                <c:pt idx="31">
                  <c:v>42217</c:v>
                </c:pt>
                <c:pt idx="32">
                  <c:v>42248</c:v>
                </c:pt>
                <c:pt idx="33">
                  <c:v>42278</c:v>
                </c:pt>
                <c:pt idx="34">
                  <c:v>42309</c:v>
                </c:pt>
                <c:pt idx="35">
                  <c:v>42339</c:v>
                </c:pt>
                <c:pt idx="36">
                  <c:v>42370</c:v>
                </c:pt>
              </c:numCache>
            </c:numRef>
          </c:cat>
          <c:val>
            <c:numRef>
              <c:f>'FHA Share HiLTV Refi'!$I$3:$I$39</c:f>
              <c:numCache>
                <c:formatCode>0%</c:formatCode>
                <c:ptCount val="37"/>
                <c:pt idx="0">
                  <c:v>0.56108218576561508</c:v>
                </c:pt>
                <c:pt idx="1">
                  <c:v>0.54435123166484978</c:v>
                </c:pt>
                <c:pt idx="2">
                  <c:v>0.5491015363699645</c:v>
                </c:pt>
                <c:pt idx="3">
                  <c:v>0.54995474708238923</c:v>
                </c:pt>
                <c:pt idx="4">
                  <c:v>0.56511592696605339</c:v>
                </c:pt>
                <c:pt idx="5">
                  <c:v>0.51202013492236487</c:v>
                </c:pt>
                <c:pt idx="6">
                  <c:v>0.46641497236640284</c:v>
                </c:pt>
                <c:pt idx="7">
                  <c:v>0.47058926974059806</c:v>
                </c:pt>
                <c:pt idx="8">
                  <c:v>0.47483153830078578</c:v>
                </c:pt>
                <c:pt idx="9">
                  <c:v>0.49570577850548603</c:v>
                </c:pt>
                <c:pt idx="10">
                  <c:v>0.48352741785971454</c:v>
                </c:pt>
                <c:pt idx="11">
                  <c:v>0.46453197340036273</c:v>
                </c:pt>
                <c:pt idx="12">
                  <c:v>0.47215460987256003</c:v>
                </c:pt>
                <c:pt idx="13">
                  <c:v>0.47954476434219379</c:v>
                </c:pt>
                <c:pt idx="14">
                  <c:v>0.50309362653990597</c:v>
                </c:pt>
                <c:pt idx="15">
                  <c:v>0.50877774029208744</c:v>
                </c:pt>
                <c:pt idx="16">
                  <c:v>0.52972983436886212</c:v>
                </c:pt>
                <c:pt idx="17">
                  <c:v>0.50979569807752034</c:v>
                </c:pt>
                <c:pt idx="18">
                  <c:v>0.47526183917730119</c:v>
                </c:pt>
                <c:pt idx="19">
                  <c:v>0.46476574515914998</c:v>
                </c:pt>
                <c:pt idx="20">
                  <c:v>0.45155518746256951</c:v>
                </c:pt>
                <c:pt idx="21">
                  <c:v>0.44079644574684212</c:v>
                </c:pt>
                <c:pt idx="22">
                  <c:v>0.45232557687141073</c:v>
                </c:pt>
                <c:pt idx="23">
                  <c:v>0.39990979797486242</c:v>
                </c:pt>
                <c:pt idx="24">
                  <c:v>0.40104591895184921</c:v>
                </c:pt>
                <c:pt idx="25">
                  <c:v>0.33910635512972465</c:v>
                </c:pt>
                <c:pt idx="26">
                  <c:v>0.62988967191504341</c:v>
                </c:pt>
                <c:pt idx="27">
                  <c:v>0.6886517692905646</c:v>
                </c:pt>
                <c:pt idx="28">
                  <c:v>0.72468227239715277</c:v>
                </c:pt>
                <c:pt idx="29">
                  <c:v>0.71259760676907191</c:v>
                </c:pt>
                <c:pt idx="30">
                  <c:v>0.73028220791200305</c:v>
                </c:pt>
                <c:pt idx="31">
                  <c:v>0.72261976504373038</c:v>
                </c:pt>
                <c:pt idx="32">
                  <c:v>0.7223728411805671</c:v>
                </c:pt>
                <c:pt idx="33">
                  <c:v>0.70503186677580487</c:v>
                </c:pt>
                <c:pt idx="34">
                  <c:v>0.6683954742889634</c:v>
                </c:pt>
                <c:pt idx="35">
                  <c:v>0.66625761525542504</c:v>
                </c:pt>
                <c:pt idx="36">
                  <c:v>0.68283737105935283</c:v>
                </c:pt>
              </c:numCache>
            </c:numRef>
          </c:val>
          <c:smooth val="0"/>
        </c:ser>
        <c:dLbls>
          <c:showLegendKey val="0"/>
          <c:showVal val="0"/>
          <c:showCatName val="0"/>
          <c:showSerName val="0"/>
          <c:showPercent val="0"/>
          <c:showBubbleSize val="0"/>
        </c:dLbls>
        <c:marker val="1"/>
        <c:smooth val="0"/>
        <c:axId val="150031360"/>
        <c:axId val="150033152"/>
      </c:lineChart>
      <c:dateAx>
        <c:axId val="150031360"/>
        <c:scaling>
          <c:orientation val="minMax"/>
        </c:scaling>
        <c:delete val="0"/>
        <c:axPos val="b"/>
        <c:numFmt formatCode="[$-409]mmm\-yy;@" sourceLinked="0"/>
        <c:majorTickMark val="out"/>
        <c:minorTickMark val="none"/>
        <c:tickLblPos val="nextTo"/>
        <c:crossAx val="150033152"/>
        <c:crosses val="autoZero"/>
        <c:auto val="1"/>
        <c:lblOffset val="100"/>
        <c:baseTimeUnit val="months"/>
      </c:dateAx>
      <c:valAx>
        <c:axId val="150033152"/>
        <c:scaling>
          <c:orientation val="minMax"/>
          <c:min val="0.30000000000000004"/>
        </c:scaling>
        <c:delete val="0"/>
        <c:axPos val="l"/>
        <c:numFmt formatCode="0%" sourceLinked="1"/>
        <c:majorTickMark val="out"/>
        <c:minorTickMark val="none"/>
        <c:tickLblPos val="nextTo"/>
        <c:crossAx val="150031360"/>
        <c:crosses val="autoZero"/>
        <c:crossBetween val="between"/>
      </c:valAx>
    </c:plotArea>
    <c:plotVisOnly val="1"/>
    <c:dispBlanksAs val="gap"/>
    <c:showDLblsOverMax val="0"/>
  </c:chart>
  <c:spPr>
    <a:ln>
      <a:noFill/>
    </a:ln>
  </c:sp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0.84519</cdr:x>
      <cdr:y>0.3648</cdr:y>
    </cdr:from>
    <cdr:to>
      <cdr:x>1</cdr:x>
      <cdr:y>0.5102</cdr:y>
    </cdr:to>
    <cdr:sp macro="" textlink="">
      <cdr:nvSpPr>
        <cdr:cNvPr id="8" name="Rectangle 7"/>
        <cdr:cNvSpPr/>
      </cdr:nvSpPr>
      <cdr:spPr>
        <a:xfrm xmlns:a="http://schemas.openxmlformats.org/drawingml/2006/main">
          <a:off x="6057946" y="1294681"/>
          <a:ext cx="1109609" cy="516022"/>
        </a:xfrm>
        <a:prstGeom xmlns:a="http://schemas.openxmlformats.org/drawingml/2006/main" prst="rect">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pPr algn="ctr"/>
          <a:r>
            <a:rPr lang="en-US" sz="1200" dirty="0" smtClean="0"/>
            <a:t>74.7%</a:t>
          </a:r>
        </a:p>
        <a:p xmlns:a="http://schemas.openxmlformats.org/drawingml/2006/main">
          <a:pPr algn="ctr"/>
          <a:r>
            <a:rPr lang="en-US" sz="1200" dirty="0" smtClean="0"/>
            <a:t>Effective LTV</a:t>
          </a:r>
          <a:endParaRPr lang="en-US" sz="1200" dirty="0"/>
        </a:p>
      </cdr:txBody>
    </cdr:sp>
  </cdr:relSizeAnchor>
  <cdr:relSizeAnchor xmlns:cdr="http://schemas.openxmlformats.org/drawingml/2006/chartDrawing">
    <cdr:from>
      <cdr:x>0.33686</cdr:x>
      <cdr:y>0.4556</cdr:y>
    </cdr:from>
    <cdr:to>
      <cdr:x>0.84785</cdr:x>
      <cdr:y>0.4556</cdr:y>
    </cdr:to>
    <cdr:cxnSp macro="">
      <cdr:nvCxnSpPr>
        <cdr:cNvPr id="10" name="Straight Arrow Connector 9"/>
        <cdr:cNvCxnSpPr/>
      </cdr:nvCxnSpPr>
      <cdr:spPr>
        <a:xfrm xmlns:a="http://schemas.openxmlformats.org/drawingml/2006/main" flipH="1">
          <a:off x="2414447" y="1616915"/>
          <a:ext cx="3662549" cy="0"/>
        </a:xfrm>
        <a:prstGeom xmlns:a="http://schemas.openxmlformats.org/drawingml/2006/main" prst="straightConnector1">
          <a:avLst/>
        </a:prstGeom>
        <a:ln xmlns:a="http://schemas.openxmlformats.org/drawingml/2006/main" w="12700">
          <a:headEnd type="none" w="med" len="med"/>
          <a:tailEnd type="none" w="med" len="med"/>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0.29516</cdr:x>
      <cdr:y>0.45624</cdr:y>
    </cdr:from>
    <cdr:to>
      <cdr:x>0.33865</cdr:x>
      <cdr:y>0.53382</cdr:y>
    </cdr:to>
    <cdr:cxnSp macro="">
      <cdr:nvCxnSpPr>
        <cdr:cNvPr id="17" name="Straight Connector 16"/>
        <cdr:cNvCxnSpPr/>
      </cdr:nvCxnSpPr>
      <cdr:spPr>
        <a:xfrm xmlns:a="http://schemas.openxmlformats.org/drawingml/2006/main" flipH="1">
          <a:off x="2115568" y="1619200"/>
          <a:ext cx="311717" cy="275332"/>
        </a:xfrm>
        <a:prstGeom xmlns:a="http://schemas.openxmlformats.org/drawingml/2006/main" prst="line">
          <a:avLst/>
        </a:prstGeom>
        <a:ln xmlns:a="http://schemas.openxmlformats.org/drawingml/2006/main" w="12700">
          <a:headEnd type="none" w="med" len="med"/>
          <a:tailEnd type="triangle" w="med" len="med"/>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0.84519</cdr:x>
      <cdr:y>0.60363</cdr:y>
    </cdr:from>
    <cdr:to>
      <cdr:x>1</cdr:x>
      <cdr:y>0.74369</cdr:y>
    </cdr:to>
    <cdr:sp macro="" textlink="">
      <cdr:nvSpPr>
        <cdr:cNvPr id="18" name="Rectangle 17"/>
        <cdr:cNvSpPr/>
      </cdr:nvSpPr>
      <cdr:spPr>
        <a:xfrm xmlns:a="http://schemas.openxmlformats.org/drawingml/2006/main">
          <a:off x="6057946" y="2142293"/>
          <a:ext cx="1109609" cy="497086"/>
        </a:xfrm>
        <a:prstGeom xmlns:a="http://schemas.openxmlformats.org/drawingml/2006/main" prst="rect">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r>
            <a:rPr lang="en-US" sz="1200" dirty="0" smtClean="0"/>
            <a:t>67.5%</a:t>
          </a:r>
        </a:p>
        <a:p xmlns:a="http://schemas.openxmlformats.org/drawingml/2006/main">
          <a:pPr algn="ctr"/>
          <a:r>
            <a:rPr lang="en-US" sz="1200" dirty="0" smtClean="0"/>
            <a:t>Effective LTV</a:t>
          </a:r>
          <a:endParaRPr lang="en-US" sz="1200" dirty="0"/>
        </a:p>
      </cdr:txBody>
    </cdr:sp>
  </cdr:relSizeAnchor>
  <cdr:relSizeAnchor xmlns:cdr="http://schemas.openxmlformats.org/drawingml/2006/chartDrawing">
    <cdr:from>
      <cdr:x>0.68534</cdr:x>
      <cdr:y>0.68664</cdr:y>
    </cdr:from>
    <cdr:to>
      <cdr:x>0.84571</cdr:x>
      <cdr:y>0.68733</cdr:y>
    </cdr:to>
    <cdr:cxnSp macro="">
      <cdr:nvCxnSpPr>
        <cdr:cNvPr id="19" name="Straight Arrow Connector 18"/>
        <cdr:cNvCxnSpPr/>
      </cdr:nvCxnSpPr>
      <cdr:spPr>
        <a:xfrm xmlns:a="http://schemas.openxmlformats.org/drawingml/2006/main" flipH="1">
          <a:off x="4912178" y="2436904"/>
          <a:ext cx="1149461" cy="2449"/>
        </a:xfrm>
        <a:prstGeom xmlns:a="http://schemas.openxmlformats.org/drawingml/2006/main" prst="straightConnector1">
          <a:avLst/>
        </a:prstGeom>
        <a:ln xmlns:a="http://schemas.openxmlformats.org/drawingml/2006/main" w="12700">
          <a:headEnd type="none" w="med" len="med"/>
          <a:tailEnd type="triangle" w="med" len="med"/>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2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3</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4</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5</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7</a:t>
            </a:fld>
            <a:endParaRPr lang="en-US" dirty="0"/>
          </a:p>
        </p:txBody>
      </p:sp>
    </p:spTree>
    <p:extLst>
      <p:ext uri="{BB962C8B-B14F-4D97-AF65-F5344CB8AC3E}">
        <p14:creationId xmlns:p14="http://schemas.microsoft.com/office/powerpoint/2010/main" val="1681660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8</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11</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12</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13</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14</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15</a:t>
            </a:fld>
            <a:endParaRPr lang="en-US" dirty="0"/>
          </a:p>
        </p:txBody>
      </p:sp>
    </p:spTree>
    <p:extLst>
      <p:ext uri="{BB962C8B-B14F-4D97-AF65-F5344CB8AC3E}">
        <p14:creationId xmlns:p14="http://schemas.microsoft.com/office/powerpoint/2010/main" val="1448457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1728130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1.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4.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5.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6.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image" Target="../media/image1.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14.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15.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image" Target="../media/image1.pn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theme" Target="../theme/theme16.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4.xml"/><Relationship Id="rId7" Type="http://schemas.openxmlformats.org/officeDocument/2006/relationships/image" Target="../media/image1.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theme" Target="../theme/theme17.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9.xml"/><Relationship Id="rId7" Type="http://schemas.openxmlformats.org/officeDocument/2006/relationships/theme" Target="../theme/theme1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5.xml"/><Relationship Id="rId7" Type="http://schemas.openxmlformats.org/officeDocument/2006/relationships/theme" Target="../theme/theme1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4"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 id="2147483886" r:id="rId2"/>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8" Type="http://schemas.openxmlformats.org/officeDocument/2006/relationships/hyperlink" Target="http://www.nationalmi.com/products-rates/" TargetMode="External"/><Relationship Id="rId3" Type="http://schemas.openxmlformats.org/officeDocument/2006/relationships/hyperlink" Target="https://www.ugcorp.com/" TargetMode="External"/><Relationship Id="rId7" Type="http://schemas.openxmlformats.org/officeDocument/2006/relationships/hyperlink" Target="https://www.essent.us/rates-guidelines"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hyperlink" Target="https://mortgageinsurance.genworth.com/RatesAndGuidelines/RateCards.aspx" TargetMode="External"/><Relationship Id="rId5" Type="http://schemas.openxmlformats.org/officeDocument/2006/relationships/hyperlink" Target="http://www.radian.biz/page?name=RatesAndGuidelinesNew" TargetMode="External"/><Relationship Id="rId4" Type="http://schemas.openxmlformats.org/officeDocument/2006/relationships/hyperlink" Target="https://www.mgic.com/rates/rate-cards.html" TargetMode="External"/><Relationship Id="rId9" Type="http://schemas.openxmlformats.org/officeDocument/2006/relationships/hyperlink" Target="https://mi.archcapgroup.com/Rates/Rate-Sheet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Mortgage Insurance</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April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 AND KEY CONCEPTS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Mortgage lenders protect themselves against default-related losses by requiring </a:t>
            </a:r>
            <a:r>
              <a:rPr lang="en-US" sz="1200" b="1" dirty="0" smtClean="0"/>
              <a:t>mortgage insurance </a:t>
            </a:r>
            <a:r>
              <a:rPr lang="en-US" sz="1200" dirty="0" smtClean="0"/>
              <a:t>for loans with LTVs </a:t>
            </a:r>
            <a:r>
              <a:rPr lang="en-US" sz="1200" dirty="0" smtClean="0"/>
              <a:t>above </a:t>
            </a:r>
            <a:r>
              <a:rPr lang="en-US" sz="1200" dirty="0" smtClean="0"/>
              <a:t>80%. There are two main providers of mortgage insurance in the U.S.: the government (FHA/VA/RHS) and private mortgage insurance companies.</a:t>
            </a:r>
          </a:p>
          <a:p>
            <a:pPr algn="l">
              <a:lnSpc>
                <a:spcPct val="100000"/>
              </a:lnSpc>
              <a:spcBef>
                <a:spcPts val="0"/>
              </a:spcBef>
            </a:pPr>
            <a:endParaRPr lang="en-US" sz="1200" b="0" dirty="0">
              <a:solidFill>
                <a:schemeClr val="tx1"/>
              </a:solidFill>
              <a:latin typeface="+mn-lt"/>
            </a:endParaRPr>
          </a:p>
          <a:p>
            <a:pPr algn="l">
              <a:lnSpc>
                <a:spcPct val="100000"/>
              </a:lnSpc>
              <a:spcBef>
                <a:spcPts val="0"/>
              </a:spcBef>
            </a:pPr>
            <a:r>
              <a:rPr lang="en-US" sz="1200" dirty="0" smtClean="0"/>
              <a:t>The most prevalent form of mortgage insurance is </a:t>
            </a:r>
            <a:r>
              <a:rPr lang="en-US" sz="1200" b="1" dirty="0" smtClean="0"/>
              <a:t>flow insurance</a:t>
            </a:r>
            <a:r>
              <a:rPr lang="en-US" sz="1200" dirty="0" smtClean="0"/>
              <a:t> – insurance available on a loan-by-loan basis at origination.</a:t>
            </a:r>
          </a:p>
          <a:p>
            <a:pPr algn="l">
              <a:lnSpc>
                <a:spcPct val="100000"/>
              </a:lnSpc>
              <a:spcBef>
                <a:spcPts val="0"/>
              </a:spcBef>
            </a:pPr>
            <a:endParaRPr lang="en-US" sz="1200" b="0" dirty="0">
              <a:solidFill>
                <a:schemeClr val="tx1"/>
              </a:solidFill>
              <a:latin typeface="+mn-lt"/>
            </a:endParaRPr>
          </a:p>
          <a:p>
            <a:pPr algn="l">
              <a:lnSpc>
                <a:spcPct val="100000"/>
              </a:lnSpc>
              <a:spcBef>
                <a:spcPts val="0"/>
              </a:spcBef>
            </a:pPr>
            <a:r>
              <a:rPr lang="en-US" sz="1200" dirty="0" smtClean="0"/>
              <a:t>Other forms of insurance include </a:t>
            </a:r>
            <a:r>
              <a:rPr lang="en-US" sz="1200" b="1" dirty="0" smtClean="0"/>
              <a:t>bulk insurance</a:t>
            </a:r>
            <a:r>
              <a:rPr lang="en-US" sz="1200" dirty="0" smtClean="0"/>
              <a:t>, </a:t>
            </a:r>
            <a:r>
              <a:rPr lang="en-US" sz="1200" b="1" dirty="0" smtClean="0"/>
              <a:t>pool insurance</a:t>
            </a:r>
            <a:r>
              <a:rPr lang="en-US" sz="1200" dirty="0" smtClean="0"/>
              <a:t>, and </a:t>
            </a:r>
            <a:r>
              <a:rPr lang="en-US" sz="1200" b="1" dirty="0" smtClean="0"/>
              <a:t>reinsurance</a:t>
            </a:r>
            <a:r>
              <a:rPr lang="en-US" sz="1200" dirty="0" smtClean="0"/>
              <a:t>.</a:t>
            </a:r>
            <a:endParaRPr lang="en-US" sz="1200" b="0" dirty="0" smtClean="0">
              <a:solidFill>
                <a:schemeClr val="tx1"/>
              </a:solidFill>
              <a:latin typeface="+mn-lt"/>
            </a:endParaRPr>
          </a:p>
        </p:txBody>
      </p:sp>
      <p:sp>
        <p:nvSpPr>
          <p:cNvPr id="7" name="Rectangle 6"/>
          <p:cNvSpPr/>
          <p:nvPr/>
        </p:nvSpPr>
        <p:spPr>
          <a:xfrm>
            <a:off x="2903220" y="1420594"/>
            <a:ext cx="6629400" cy="138499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smtClean="0">
                <a:solidFill>
                  <a:schemeClr val="accent1"/>
                </a:solidFill>
                <a:latin typeface="Calibri" panose="020F0502020204030204" pitchFamily="34" charset="0"/>
              </a:rPr>
              <a:t>Mortgage Insurance (MI)</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0" y="1420595"/>
            <a:ext cx="6507480" cy="1384995"/>
          </a:xfrm>
          <a:prstGeom prst="rect">
            <a:avLst/>
          </a:prstGeom>
          <a:noFill/>
        </p:spPr>
        <p:txBody>
          <a:bodyPr wrap="square" rtlCol="0">
            <a:spAutoFit/>
          </a:bodyPr>
          <a:lstStyle/>
          <a:p>
            <a:r>
              <a:rPr lang="en-US" sz="1400" dirty="0" smtClean="0">
                <a:latin typeface="Calibri" panose="020F0502020204030204" pitchFamily="34" charset="0"/>
              </a:rPr>
              <a:t>Generally required for any single-family residential mortgage loan with </a:t>
            </a:r>
            <a:r>
              <a:rPr lang="en-US" sz="1400" dirty="0" smtClean="0">
                <a:latin typeface="Calibri" panose="020F0502020204030204" pitchFamily="34" charset="0"/>
              </a:rPr>
              <a:t>a loan-to-value (LTV) </a:t>
            </a:r>
            <a:r>
              <a:rPr lang="en-US" sz="1400" dirty="0" smtClean="0">
                <a:latin typeface="Calibri" panose="020F0502020204030204" pitchFamily="34" charset="0"/>
              </a:rPr>
              <a:t>ratio greater than 80%. By charter, Fannie Mae and Freddie Mac are not allowed to purchase residential mortgages with LTVs over 80% without credit enhancement. Bank regulations require credit support for mortgages on 1-4 family residential properties with LTVs equal to greater than 90%. MI is generally not available for loans with LTVs &gt; 100%.</a:t>
            </a:r>
          </a:p>
        </p:txBody>
      </p:sp>
      <p:sp>
        <p:nvSpPr>
          <p:cNvPr id="26" name="Rectangle 25"/>
          <p:cNvSpPr/>
          <p:nvPr/>
        </p:nvSpPr>
        <p:spPr>
          <a:xfrm>
            <a:off x="2903220" y="3508631"/>
            <a:ext cx="6629400" cy="228085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Federal Housing Administration (FHA): </a:t>
            </a:r>
            <a:r>
              <a:rPr lang="en-US" sz="1400" dirty="0" smtClean="0">
                <a:solidFill>
                  <a:schemeClr val="tx1"/>
                </a:solidFill>
                <a:latin typeface="Calibri" panose="020F0502020204030204" pitchFamily="34" charset="0"/>
              </a:rPr>
              <a:t>Government-backed program. Insures loans originated to borrowers who can afford to make only minimal </a:t>
            </a:r>
            <a:r>
              <a:rPr lang="en-US" sz="1400" dirty="0" smtClean="0">
                <a:solidFill>
                  <a:schemeClr val="tx1"/>
                </a:solidFill>
                <a:latin typeface="Calibri" panose="020F0502020204030204" pitchFamily="34" charset="0"/>
              </a:rPr>
              <a:t>down payments </a:t>
            </a:r>
            <a:r>
              <a:rPr lang="en-US" sz="1400" dirty="0" smtClean="0">
                <a:solidFill>
                  <a:schemeClr val="tx1"/>
                </a:solidFill>
                <a:latin typeface="Calibri" panose="020F0502020204030204" pitchFamily="34" charset="0"/>
              </a:rPr>
              <a:t>and/or have issues with credit.</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Veteran’s </a:t>
            </a:r>
            <a:r>
              <a:rPr lang="en-US" sz="1400" b="1" dirty="0" smtClean="0">
                <a:solidFill>
                  <a:schemeClr val="tx1"/>
                </a:solidFill>
                <a:latin typeface="Calibri" panose="020F0502020204030204" pitchFamily="34" charset="0"/>
              </a:rPr>
              <a:t>Affairs </a:t>
            </a:r>
            <a:r>
              <a:rPr lang="en-US" sz="1400" b="1" dirty="0" smtClean="0">
                <a:solidFill>
                  <a:schemeClr val="tx1"/>
                </a:solidFill>
                <a:latin typeface="Calibri" panose="020F0502020204030204" pitchFamily="34" charset="0"/>
              </a:rPr>
              <a:t>(VA):  </a:t>
            </a:r>
            <a:r>
              <a:rPr lang="en-US" sz="1400" dirty="0" smtClean="0">
                <a:solidFill>
                  <a:schemeClr val="tx1"/>
                </a:solidFill>
                <a:latin typeface="Calibri" panose="020F0502020204030204" pitchFamily="34" charset="0"/>
              </a:rPr>
              <a:t>Government-backed program. Insures loans originated to homeowners who served or are serving in the Armed Forces.</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Private Mortgage Insurers (PMIs):  </a:t>
            </a:r>
            <a:r>
              <a:rPr lang="en-US" sz="1400" dirty="0" smtClean="0">
                <a:solidFill>
                  <a:schemeClr val="tx1"/>
                </a:solidFill>
                <a:latin typeface="Calibri" panose="020F0502020204030204" pitchFamily="34" charset="0"/>
              </a:rPr>
              <a:t>Privately-owned companies that provide mortgage insurance in various forms including on a loan-by-loan basis, in bulk, and at the pool-level. PMIs also provide reinsurance. </a:t>
            </a:r>
            <a:endParaRPr lang="en-US" sz="1400" b="1" dirty="0">
              <a:solidFill>
                <a:schemeClr val="tx1"/>
              </a:solidFill>
              <a:latin typeface="Calibri" panose="020F0502020204030204" pitchFamily="34" charset="0"/>
            </a:endParaRPr>
          </a:p>
        </p:txBody>
      </p:sp>
      <p:cxnSp>
        <p:nvCxnSpPr>
          <p:cNvPr id="27" name="Straight Connector 26"/>
          <p:cNvCxnSpPr/>
          <p:nvPr/>
        </p:nvCxnSpPr>
        <p:spPr>
          <a:xfrm>
            <a:off x="2903220" y="3508631"/>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03220" y="3170077"/>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Key Providers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0835696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p:cNvSpPr/>
          <p:nvPr/>
        </p:nvSpPr>
        <p:spPr>
          <a:xfrm>
            <a:off x="2822714" y="4274772"/>
            <a:ext cx="6695658" cy="260227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51" name="Rectangle 50"/>
          <p:cNvSpPr/>
          <p:nvPr/>
        </p:nvSpPr>
        <p:spPr>
          <a:xfrm>
            <a:off x="2829641" y="2949871"/>
            <a:ext cx="6702286" cy="6645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50" name="Rectangle 49"/>
          <p:cNvSpPr/>
          <p:nvPr/>
        </p:nvSpPr>
        <p:spPr>
          <a:xfrm>
            <a:off x="2822714" y="1595460"/>
            <a:ext cx="6702286" cy="81960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2" name="Title 1"/>
          <p:cNvSpPr>
            <a:spLocks noGrp="1"/>
          </p:cNvSpPr>
          <p:nvPr>
            <p:ph type="title"/>
          </p:nvPr>
        </p:nvSpPr>
        <p:spPr/>
        <p:txBody>
          <a:bodyPr/>
          <a:lstStyle/>
          <a:p>
            <a:r>
              <a:rPr lang="en-US" dirty="0" smtClean="0"/>
              <a:t>DELIVERY CHANNELS FOR MI</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There are multiple delivery channels for MI. The government is only involved in the flow </a:t>
            </a:r>
            <a:r>
              <a:rPr lang="en-US" sz="1200" dirty="0" smtClean="0"/>
              <a:t>channel; </a:t>
            </a:r>
            <a:r>
              <a:rPr lang="en-US" sz="1200" dirty="0" smtClean="0"/>
              <a:t>the private industry operates in all channels.</a:t>
            </a:r>
            <a:endParaRPr lang="en-US" sz="1200" b="0" dirty="0" smtClean="0">
              <a:solidFill>
                <a:schemeClr val="tx1"/>
              </a:solidFill>
              <a:latin typeface="+mn-lt"/>
            </a:endParaRPr>
          </a:p>
          <a:p>
            <a:pPr algn="l">
              <a:lnSpc>
                <a:spcPct val="100000"/>
              </a:lnSpc>
              <a:spcBef>
                <a:spcPts val="0"/>
              </a:spcBef>
            </a:pPr>
            <a:endParaRPr lang="en-US" sz="1200" b="0" dirty="0">
              <a:solidFill>
                <a:schemeClr val="tx1"/>
              </a:solidFill>
              <a:latin typeface="+mn-lt"/>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2819399" y="1219200"/>
            <a:ext cx="6705601" cy="1195864"/>
            <a:chOff x="2819399" y="1219200"/>
            <a:chExt cx="6705601" cy="1195864"/>
          </a:xfrm>
        </p:grpSpPr>
        <p:sp>
          <p:nvSpPr>
            <p:cNvPr id="19" name="TextBox 18"/>
            <p:cNvSpPr txBox="1"/>
            <p:nvPr/>
          </p:nvSpPr>
          <p:spPr>
            <a:xfrm>
              <a:off x="2819399" y="1219200"/>
              <a:ext cx="2934419"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2E398A"/>
                  </a:solidFill>
                  <a:latin typeface="Calibri"/>
                </a:rPr>
                <a:t>Primary Mortgage Insurance</a:t>
              </a:r>
              <a:endParaRPr lang="en-US" b="1" dirty="0">
                <a:solidFill>
                  <a:srgbClr val="2E398A"/>
                </a:solidFill>
                <a:latin typeface="Calibri"/>
              </a:endParaRPr>
            </a:p>
          </p:txBody>
        </p:sp>
        <p:cxnSp>
          <p:nvCxnSpPr>
            <p:cNvPr id="22" name="Straight Connector 21"/>
            <p:cNvCxnSpPr/>
            <p:nvPr/>
          </p:nvCxnSpPr>
          <p:spPr>
            <a:xfrm>
              <a:off x="2822714" y="1588532"/>
              <a:ext cx="670228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971800" y="1676400"/>
              <a:ext cx="6096000" cy="738664"/>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b="1" dirty="0" smtClean="0">
                  <a:solidFill>
                    <a:srgbClr val="000000"/>
                  </a:solidFill>
                  <a:latin typeface="Calibri"/>
                </a:rPr>
                <a:t>Flow</a:t>
              </a:r>
              <a:r>
                <a:rPr lang="en-US" sz="1400" dirty="0" smtClean="0">
                  <a:solidFill>
                    <a:srgbClr val="000000"/>
                  </a:solidFill>
                  <a:latin typeface="Calibri"/>
                </a:rPr>
                <a:t>: Loans insured one at a time; premiums based on filed rate sheets</a:t>
              </a:r>
              <a:endParaRPr lang="en-US" sz="1400" b="1"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b="1" dirty="0" smtClean="0">
                  <a:solidFill>
                    <a:srgbClr val="000000"/>
                  </a:solidFill>
                  <a:latin typeface="Calibri"/>
                </a:rPr>
                <a:t>Bulk</a:t>
              </a:r>
              <a:r>
                <a:rPr lang="en-US" sz="1400" dirty="0" smtClean="0">
                  <a:solidFill>
                    <a:srgbClr val="000000"/>
                  </a:solidFill>
                  <a:latin typeface="Calibri"/>
                </a:rPr>
                <a:t>: Many loans insured at the same time. Each loan is priced separately with final rates set through a bidding process.</a:t>
              </a:r>
              <a:endParaRPr lang="en-US" sz="1400" b="1" dirty="0">
                <a:solidFill>
                  <a:srgbClr val="000000"/>
                </a:solidFill>
                <a:latin typeface="Calibri"/>
              </a:endParaRPr>
            </a:p>
          </p:txBody>
        </p:sp>
      </p:grpSp>
      <p:grpSp>
        <p:nvGrpSpPr>
          <p:cNvPr id="38" name="Group 37"/>
          <p:cNvGrpSpPr/>
          <p:nvPr/>
        </p:nvGrpSpPr>
        <p:grpSpPr>
          <a:xfrm>
            <a:off x="2819399" y="2565592"/>
            <a:ext cx="6705601" cy="1195864"/>
            <a:chOff x="2819399" y="1219200"/>
            <a:chExt cx="6705601" cy="1195864"/>
          </a:xfrm>
        </p:grpSpPr>
        <p:sp>
          <p:nvSpPr>
            <p:cNvPr id="39" name="TextBox 38"/>
            <p:cNvSpPr txBox="1"/>
            <p:nvPr/>
          </p:nvSpPr>
          <p:spPr>
            <a:xfrm>
              <a:off x="2819399" y="1219200"/>
              <a:ext cx="2638425"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968880"/>
                  </a:solidFill>
                  <a:latin typeface="Calibri"/>
                </a:rPr>
                <a:t>Pool Mortgage Insurance</a:t>
              </a:r>
              <a:endParaRPr lang="en-US" b="1" dirty="0">
                <a:solidFill>
                  <a:srgbClr val="968880"/>
                </a:solidFill>
                <a:latin typeface="Calibri"/>
              </a:endParaRPr>
            </a:p>
          </p:txBody>
        </p:sp>
        <p:cxnSp>
          <p:nvCxnSpPr>
            <p:cNvPr id="40" name="Straight Connector 39"/>
            <p:cNvCxnSpPr/>
            <p:nvPr/>
          </p:nvCxnSpPr>
          <p:spPr>
            <a:xfrm>
              <a:off x="2822714" y="1588532"/>
              <a:ext cx="6702286"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829641" y="1676400"/>
              <a:ext cx="6688731" cy="738664"/>
            </a:xfrm>
            <a:prstGeom prst="rect">
              <a:avLst/>
            </a:prstGeom>
            <a:solidFill>
              <a:schemeClr val="bg2">
                <a:lumMod val="90000"/>
              </a:schemeClr>
            </a:solid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Many loans insured through a single pool policy. Rates determined through a bidding process. All loans have the same premium rate.</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Commonly have aggregate deductibles and stop loss thresholds</a:t>
              </a:r>
              <a:endParaRPr lang="en-US" sz="1400" dirty="0">
                <a:solidFill>
                  <a:srgbClr val="000000"/>
                </a:solidFill>
                <a:latin typeface="Calibri"/>
              </a:endParaRPr>
            </a:p>
          </p:txBody>
        </p:sp>
      </p:grpSp>
      <p:grpSp>
        <p:nvGrpSpPr>
          <p:cNvPr id="46" name="Group 45"/>
          <p:cNvGrpSpPr/>
          <p:nvPr/>
        </p:nvGrpSpPr>
        <p:grpSpPr>
          <a:xfrm>
            <a:off x="2819399" y="3886200"/>
            <a:ext cx="6705601" cy="3134856"/>
            <a:chOff x="2819399" y="1219200"/>
            <a:chExt cx="6705601" cy="3134856"/>
          </a:xfrm>
        </p:grpSpPr>
        <p:sp>
          <p:nvSpPr>
            <p:cNvPr id="47" name="TextBox 46"/>
            <p:cNvSpPr txBox="1"/>
            <p:nvPr/>
          </p:nvSpPr>
          <p:spPr>
            <a:xfrm>
              <a:off x="2819399" y="1219200"/>
              <a:ext cx="5643114"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8891D5"/>
                  </a:solidFill>
                  <a:latin typeface="Calibri"/>
                </a:rPr>
                <a:t>Reinsurance</a:t>
              </a:r>
              <a:endParaRPr lang="en-US" b="1" dirty="0">
                <a:solidFill>
                  <a:srgbClr val="8891D5"/>
                </a:solidFill>
                <a:latin typeface="Calibri"/>
              </a:endParaRPr>
            </a:p>
          </p:txBody>
        </p:sp>
        <p:cxnSp>
          <p:nvCxnSpPr>
            <p:cNvPr id="48" name="Straight Connector 47"/>
            <p:cNvCxnSpPr/>
            <p:nvPr/>
          </p:nvCxnSpPr>
          <p:spPr>
            <a:xfrm>
              <a:off x="2822714" y="1588532"/>
              <a:ext cx="670228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2971799" y="1676400"/>
              <a:ext cx="6372225" cy="2677656"/>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a:solidFill>
                    <a:srgbClr val="000000"/>
                  </a:solidFill>
                  <a:latin typeface="Calibri"/>
                </a:rPr>
                <a:t>T</a:t>
              </a:r>
              <a:r>
                <a:rPr lang="en-US" sz="1400" dirty="0" smtClean="0">
                  <a:solidFill>
                    <a:srgbClr val="000000"/>
                  </a:solidFill>
                  <a:latin typeface="Calibri"/>
                </a:rPr>
                <a:t>he primary insurer transfers (</a:t>
              </a:r>
              <a:r>
                <a:rPr lang="en-US" sz="1400" b="1" dirty="0" smtClean="0">
                  <a:solidFill>
                    <a:srgbClr val="000000"/>
                  </a:solidFill>
                  <a:latin typeface="Calibri"/>
                </a:rPr>
                <a:t>cedes</a:t>
              </a:r>
              <a:r>
                <a:rPr lang="en-US" sz="1400" dirty="0" smtClean="0">
                  <a:solidFill>
                    <a:srgbClr val="000000"/>
                  </a:solidFill>
                  <a:latin typeface="Calibri"/>
                </a:rPr>
                <a:t>) a portion of the periodic insurance premium to the reinsurer in return for the reinsurer’s commitment to share losses.  In some cases, the reinsurer also pays an upfront fee to the primary insurer.</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Losses are shared on a pro-rata (</a:t>
              </a:r>
              <a:r>
                <a:rPr lang="en-US" sz="1400" b="1" dirty="0" smtClean="0">
                  <a:solidFill>
                    <a:srgbClr val="000000"/>
                  </a:solidFill>
                  <a:latin typeface="Calibri"/>
                </a:rPr>
                <a:t>quota share</a:t>
              </a:r>
              <a:r>
                <a:rPr lang="en-US" sz="1400" dirty="0" smtClean="0">
                  <a:solidFill>
                    <a:srgbClr val="000000"/>
                  </a:solidFill>
                  <a:latin typeface="Calibri"/>
                </a:rPr>
                <a:t>) or above a certain threshold (</a:t>
              </a:r>
              <a:r>
                <a:rPr lang="en-US" sz="1400" b="1" dirty="0" smtClean="0">
                  <a:solidFill>
                    <a:srgbClr val="000000"/>
                  </a:solidFill>
                  <a:latin typeface="Calibri"/>
                </a:rPr>
                <a:t>excess of loss</a:t>
              </a:r>
              <a:r>
                <a:rPr lang="en-US" sz="1400" dirty="0" smtClean="0">
                  <a:solidFill>
                    <a:srgbClr val="000000"/>
                  </a:solidFill>
                  <a:latin typeface="Calibri"/>
                </a:rPr>
                <a:t>).</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Most private mortgage reinsurance is written by </a:t>
              </a:r>
              <a:r>
                <a:rPr lang="en-US" sz="1400" b="1" dirty="0" smtClean="0">
                  <a:solidFill>
                    <a:srgbClr val="000000"/>
                  </a:solidFill>
                  <a:latin typeface="Calibri"/>
                </a:rPr>
                <a:t>captive</a:t>
              </a:r>
              <a:r>
                <a:rPr lang="en-US" sz="1400" dirty="0" smtClean="0">
                  <a:solidFill>
                    <a:srgbClr val="000000"/>
                  </a:solidFill>
                  <a:latin typeface="Calibri"/>
                </a:rPr>
                <a:t> reinsurers affiliated with the lender.</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Motivation for reinsurance is regulatory capital requirements.</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Primary insurer remains liable for all coverage if the reinsurer fails to pay.</a:t>
              </a:r>
            </a:p>
            <a:p>
              <a:pPr marL="285750" indent="-285750" defTabSz="1018824" fontAlgn="auto">
                <a:spcBef>
                  <a:spcPts val="0"/>
                </a:spcBef>
                <a:spcAft>
                  <a:spcPts val="0"/>
                </a:spcAft>
                <a:buFont typeface="Arial" panose="020B0604020202020204" pitchFamily="34" charset="0"/>
                <a:buChar char="•"/>
              </a:pPr>
              <a:endParaRPr lang="en-US" sz="1400" dirty="0" smtClean="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endParaRPr lang="en-US" sz="1400" dirty="0">
                <a:solidFill>
                  <a:srgbClr val="000000"/>
                </a:solidFill>
                <a:latin typeface="Calibri"/>
              </a:endParaRPr>
            </a:p>
          </p:txBody>
        </p:sp>
      </p:grpSp>
      <p:cxnSp>
        <p:nvCxnSpPr>
          <p:cNvPr id="30" name="Straight Connector 29"/>
          <p:cNvCxnSpPr/>
          <p:nvPr/>
        </p:nvCxnSpPr>
        <p:spPr>
          <a:xfrm>
            <a:off x="2816086" y="3022792"/>
            <a:ext cx="6702286"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13590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MORTGAGE INSURANCE BUSINESS: KEY ASPECTS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Key terms:</a:t>
            </a:r>
          </a:p>
          <a:p>
            <a:pPr algn="l">
              <a:lnSpc>
                <a:spcPct val="100000"/>
              </a:lnSpc>
              <a:spcBef>
                <a:spcPts val="0"/>
              </a:spcBef>
            </a:pPr>
            <a:endParaRPr lang="en-US" sz="1200" dirty="0"/>
          </a:p>
          <a:p>
            <a:pPr algn="l">
              <a:lnSpc>
                <a:spcPct val="100000"/>
              </a:lnSpc>
              <a:spcBef>
                <a:spcPts val="0"/>
              </a:spcBef>
            </a:pPr>
            <a:r>
              <a:rPr lang="en-US" sz="1200" b="1" dirty="0" smtClean="0"/>
              <a:t>NOD (Notice of Delinquency)</a:t>
            </a:r>
            <a:r>
              <a:rPr lang="en-US" sz="1200" dirty="0" smtClean="0"/>
              <a:t>: Servicer must notify insurer that an insured loan is in arrears. A NOD does not necessarily equate to a claim.</a:t>
            </a:r>
          </a:p>
          <a:p>
            <a:pPr algn="l">
              <a:lnSpc>
                <a:spcPct val="100000"/>
              </a:lnSpc>
              <a:spcBef>
                <a:spcPts val="0"/>
              </a:spcBef>
            </a:pPr>
            <a:endParaRPr lang="en-US" sz="1200" b="1" dirty="0"/>
          </a:p>
          <a:p>
            <a:pPr algn="l">
              <a:lnSpc>
                <a:spcPct val="100000"/>
              </a:lnSpc>
              <a:spcBef>
                <a:spcPts val="0"/>
              </a:spcBef>
            </a:pPr>
            <a:r>
              <a:rPr lang="en-US" sz="1200" b="1" dirty="0" smtClean="0"/>
              <a:t>Cure: </a:t>
            </a:r>
            <a:r>
              <a:rPr lang="en-US" sz="1200" dirty="0" smtClean="0"/>
              <a:t>A NOD that is rectified without a mortgage insurance claim.</a:t>
            </a:r>
          </a:p>
          <a:p>
            <a:pPr algn="l">
              <a:lnSpc>
                <a:spcPct val="100000"/>
              </a:lnSpc>
              <a:spcBef>
                <a:spcPts val="0"/>
              </a:spcBef>
            </a:pPr>
            <a:endParaRPr lang="en-US" sz="1200" b="1" dirty="0"/>
          </a:p>
          <a:p>
            <a:pPr algn="l">
              <a:lnSpc>
                <a:spcPct val="100000"/>
              </a:lnSpc>
              <a:spcBef>
                <a:spcPts val="0"/>
              </a:spcBef>
            </a:pPr>
            <a:r>
              <a:rPr lang="en-US" sz="1200" b="1" dirty="0" smtClean="0"/>
              <a:t>NIW (New insurance written)</a:t>
            </a:r>
            <a:r>
              <a:rPr lang="en-US" sz="1200" dirty="0" smtClean="0"/>
              <a:t>: Balance on new policies written</a:t>
            </a:r>
          </a:p>
          <a:p>
            <a:pPr algn="l">
              <a:lnSpc>
                <a:spcPct val="100000"/>
              </a:lnSpc>
              <a:spcBef>
                <a:spcPts val="0"/>
              </a:spcBef>
            </a:pPr>
            <a:endParaRPr lang="en-US" sz="1200" b="1" dirty="0"/>
          </a:p>
          <a:p>
            <a:pPr algn="l">
              <a:lnSpc>
                <a:spcPct val="100000"/>
              </a:lnSpc>
              <a:spcBef>
                <a:spcPts val="0"/>
              </a:spcBef>
            </a:pPr>
            <a:r>
              <a:rPr lang="en-US" sz="1200" b="1" dirty="0" smtClean="0"/>
              <a:t>Risk</a:t>
            </a:r>
            <a:r>
              <a:rPr lang="en-US" sz="1200" dirty="0" smtClean="0"/>
              <a:t>: Coverage $ on insured loans</a:t>
            </a:r>
            <a:endParaRPr lang="en-US" sz="1200" b="1" dirty="0" smtClean="0"/>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aphicFrame>
        <p:nvGraphicFramePr>
          <p:cNvPr id="5" name="Table 4"/>
          <p:cNvGraphicFramePr>
            <a:graphicFrameLocks noGrp="1"/>
          </p:cNvGraphicFramePr>
          <p:nvPr>
            <p:extLst>
              <p:ext uri="{D42A27DB-BD31-4B8C-83A1-F6EECF244321}">
                <p14:modId xmlns:p14="http://schemas.microsoft.com/office/powerpoint/2010/main" val="797567367"/>
              </p:ext>
            </p:extLst>
          </p:nvPr>
        </p:nvGraphicFramePr>
        <p:xfrm>
          <a:off x="2897267" y="1676400"/>
          <a:ext cx="6705600" cy="3906520"/>
        </p:xfrm>
        <a:graphic>
          <a:graphicData uri="http://schemas.openxmlformats.org/drawingml/2006/table">
            <a:tbl>
              <a:tblPr bandRow="1">
                <a:tableStyleId>{5C22544A-7EE6-4342-B048-85BDC9FD1C3A}</a:tableStyleId>
              </a:tblPr>
              <a:tblGrid>
                <a:gridCol w="2284333"/>
                <a:gridCol w="4421267"/>
              </a:tblGrid>
              <a:tr h="370840">
                <a:tc>
                  <a:txBody>
                    <a:bodyPr/>
                    <a:lstStyle/>
                    <a:p>
                      <a:endParaRPr lang="en-US" sz="1600" b="1" dirty="0"/>
                    </a:p>
                  </a:txBody>
                  <a:tcPr anchor="ctr">
                    <a:solidFill>
                      <a:schemeClr val="accent1">
                        <a:lumMod val="40000"/>
                        <a:lumOff val="60000"/>
                      </a:schemeClr>
                    </a:solidFill>
                  </a:tcPr>
                </a:tc>
                <a:tc>
                  <a:txBody>
                    <a:bodyPr/>
                    <a:lstStyle/>
                    <a:p>
                      <a:pPr algn="ctr"/>
                      <a:r>
                        <a:rPr lang="en-US" sz="1600" b="1" dirty="0" smtClean="0"/>
                        <a:t>Comments</a:t>
                      </a:r>
                      <a:endParaRPr lang="en-US" sz="1600" b="1" dirty="0"/>
                    </a:p>
                  </a:txBody>
                  <a:tcPr anchor="ctr">
                    <a:solidFill>
                      <a:schemeClr val="accent1">
                        <a:lumMod val="40000"/>
                        <a:lumOff val="60000"/>
                      </a:schemeClr>
                    </a:solidFill>
                  </a:tcPr>
                </a:tc>
              </a:tr>
              <a:tr h="370840">
                <a:tc>
                  <a:txBody>
                    <a:bodyPr/>
                    <a:lstStyle/>
                    <a:p>
                      <a:pPr marL="0" indent="0" algn="l">
                        <a:buFont typeface="Arial" panose="020B0604020202020204" pitchFamily="34" charset="0"/>
                        <a:buNone/>
                      </a:pPr>
                      <a:r>
                        <a:rPr lang="en-US" sz="1400" b="1" dirty="0" smtClean="0"/>
                        <a:t>Capital</a:t>
                      </a:r>
                      <a:r>
                        <a:rPr lang="en-US" sz="1400" b="1" baseline="0" dirty="0" smtClean="0"/>
                        <a:t> Intensive</a:t>
                      </a:r>
                      <a:endParaRPr lang="en-US" sz="1400" b="1" dirty="0"/>
                    </a:p>
                  </a:txBody>
                  <a:tcPr anchor="ctr">
                    <a:solidFill>
                      <a:schemeClr val="accent2">
                        <a:lumMod val="20000"/>
                        <a:lumOff val="80000"/>
                      </a:schemeClr>
                    </a:solidFill>
                  </a:tcPr>
                </a:tc>
                <a:tc>
                  <a:txBody>
                    <a:bodyPr/>
                    <a:lstStyle/>
                    <a:p>
                      <a:pPr lvl="0" algn="l"/>
                      <a:r>
                        <a:rPr lang="en-US" sz="1400" dirty="0" smtClean="0"/>
                        <a:t>Need</a:t>
                      </a:r>
                      <a:r>
                        <a:rPr lang="en-US" sz="1400" baseline="0" dirty="0" smtClean="0"/>
                        <a:t> $3 of capital to write $1 of premium. Ratios have increased recently.</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Indefinite</a:t>
                      </a:r>
                      <a:r>
                        <a:rPr lang="en-US" sz="1400" b="1" baseline="0" dirty="0" smtClean="0"/>
                        <a:t> Policy Terms</a:t>
                      </a:r>
                      <a:endParaRPr lang="en-US" sz="1400" b="1" dirty="0"/>
                    </a:p>
                  </a:txBody>
                  <a:tcPr anchor="ctr">
                    <a:solidFill>
                      <a:schemeClr val="accent2">
                        <a:lumMod val="20000"/>
                        <a:lumOff val="80000"/>
                      </a:schemeClr>
                    </a:solidFill>
                  </a:tcPr>
                </a:tc>
                <a:tc>
                  <a:txBody>
                    <a:bodyPr/>
                    <a:lstStyle/>
                    <a:p>
                      <a:pPr lvl="0" algn="l"/>
                      <a:r>
                        <a:rPr lang="en-US" sz="1400" baseline="0" dirty="0" smtClean="0"/>
                        <a:t>Policy term is unknown at the time the loan is originated and averages 5-6 years (the typical WAL for 30-year loans).</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Contagion</a:t>
                      </a:r>
                      <a:endParaRPr lang="en-US" sz="1400" b="1" dirty="0"/>
                    </a:p>
                  </a:txBody>
                  <a:tcPr anchor="ctr">
                    <a:solidFill>
                      <a:schemeClr val="accent2">
                        <a:lumMod val="20000"/>
                        <a:lumOff val="80000"/>
                      </a:schemeClr>
                    </a:solidFill>
                  </a:tcPr>
                </a:tc>
                <a:tc>
                  <a:txBody>
                    <a:bodyPr/>
                    <a:lstStyle/>
                    <a:p>
                      <a:pPr lvl="0" algn="l"/>
                      <a:r>
                        <a:rPr lang="en-US" sz="1400" baseline="0" dirty="0" smtClean="0"/>
                        <a:t>At times of economic distress, risks of mortgage default become highly correlated as many borrowers are simultaneously impacted.</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Small</a:t>
                      </a:r>
                      <a:r>
                        <a:rPr lang="en-US" sz="1400" b="1" baseline="0" dirty="0" smtClean="0"/>
                        <a:t> claim sizes</a:t>
                      </a:r>
                      <a:endParaRPr lang="en-US" sz="1400" b="1" dirty="0"/>
                    </a:p>
                  </a:txBody>
                  <a:tcPr anchor="ctr">
                    <a:solidFill>
                      <a:schemeClr val="accent2">
                        <a:lumMod val="20000"/>
                        <a:lumOff val="80000"/>
                      </a:schemeClr>
                    </a:solidFill>
                  </a:tcPr>
                </a:tc>
                <a:tc>
                  <a:txBody>
                    <a:bodyPr/>
                    <a:lstStyle/>
                    <a:p>
                      <a:pPr lvl="0" algn="l"/>
                      <a:r>
                        <a:rPr lang="en-US" sz="1400" baseline="0" dirty="0" smtClean="0"/>
                        <a:t>A typical claim size is $50K and a $200K claim is rare. Losses are driven by frequency.</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Loss</a:t>
                      </a:r>
                      <a:r>
                        <a:rPr lang="en-US" sz="1400" b="1" baseline="0" dirty="0" smtClean="0"/>
                        <a:t> emergence is not uniform</a:t>
                      </a:r>
                      <a:endParaRPr lang="en-US" sz="1400" b="1" dirty="0"/>
                    </a:p>
                  </a:txBody>
                  <a:tcPr anchor="ctr">
                    <a:solidFill>
                      <a:schemeClr val="accent2">
                        <a:lumMod val="20000"/>
                        <a:lumOff val="80000"/>
                      </a:schemeClr>
                    </a:solidFill>
                  </a:tcPr>
                </a:tc>
                <a:tc>
                  <a:txBody>
                    <a:bodyPr/>
                    <a:lstStyle/>
                    <a:p>
                      <a:pPr lvl="0" algn="l"/>
                      <a:r>
                        <a:rPr lang="en-US" sz="1400" baseline="0" dirty="0" smtClean="0"/>
                        <a:t>The likelihood of defaulting can vary significantly over the life of the policy.</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Short-tailed</a:t>
                      </a:r>
                      <a:r>
                        <a:rPr lang="en-US" sz="1400" b="1" baseline="0" dirty="0" smtClean="0"/>
                        <a:t> reserving</a:t>
                      </a:r>
                      <a:endParaRPr lang="en-US" sz="1400" b="1" dirty="0"/>
                    </a:p>
                  </a:txBody>
                  <a:tcPr anchor="ctr">
                    <a:solidFill>
                      <a:schemeClr val="accent2">
                        <a:lumMod val="20000"/>
                        <a:lumOff val="80000"/>
                      </a:schemeClr>
                    </a:solidFill>
                  </a:tcPr>
                </a:tc>
                <a:tc>
                  <a:txBody>
                    <a:bodyPr/>
                    <a:lstStyle/>
                    <a:p>
                      <a:pPr lvl="0" algn="l"/>
                      <a:r>
                        <a:rPr lang="en-US" sz="1400" baseline="0" dirty="0" smtClean="0"/>
                        <a:t>Most delinquent loans are resolved within 12 to 18 months (Delinquency resolutions were much slower in the Housing Crisis of 2007-2009 and its aftermath).</a:t>
                      </a:r>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26955098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IMPORTANCE OF MI FROM THE VANTAGE POINT OF PREPAYMENT RISK</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Given the statutory requirements of the GSEs and the housing policy objectives of the FHA and VA insurance programs, MI plays an integral role in the U.S. Housing Finance System.</a:t>
            </a:r>
          </a:p>
          <a:p>
            <a:pPr algn="l">
              <a:lnSpc>
                <a:spcPct val="100000"/>
              </a:lnSpc>
              <a:spcBef>
                <a:spcPts val="0"/>
              </a:spcBef>
            </a:pPr>
            <a:endParaRPr lang="en-US" sz="1200" b="0" dirty="0" smtClean="0">
              <a:solidFill>
                <a:schemeClr val="tx1"/>
              </a:solidFill>
              <a:latin typeface="+mn-lt"/>
            </a:endParaRPr>
          </a:p>
          <a:p>
            <a:pPr algn="l">
              <a:lnSpc>
                <a:spcPct val="100000"/>
              </a:lnSpc>
              <a:spcBef>
                <a:spcPts val="0"/>
              </a:spcBef>
            </a:pPr>
            <a:r>
              <a:rPr lang="en-US" sz="1200" dirty="0" smtClean="0"/>
              <a:t>In particular, changes in the availability and level of MI affect homeowner prepayment rates and thus impact the pricing of MBS.</a:t>
            </a:r>
            <a:endParaRPr lang="en-US" sz="1200" b="0" dirty="0">
              <a:solidFill>
                <a:schemeClr val="tx1"/>
              </a:solidFill>
              <a:latin typeface="+mn-lt"/>
            </a:endParaRPr>
          </a:p>
        </p:txBody>
      </p:sp>
      <p:sp>
        <p:nvSpPr>
          <p:cNvPr id="26" name="Rectangle 25"/>
          <p:cNvSpPr/>
          <p:nvPr/>
        </p:nvSpPr>
        <p:spPr>
          <a:xfrm>
            <a:off x="2903220" y="1624602"/>
            <a:ext cx="6629400" cy="304860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Availability of MI: </a:t>
            </a:r>
            <a:r>
              <a:rPr lang="en-US" sz="1400" dirty="0" smtClean="0">
                <a:solidFill>
                  <a:schemeClr val="tx1"/>
                </a:solidFill>
                <a:latin typeface="Calibri" panose="020F0502020204030204" pitchFamily="34" charset="0"/>
              </a:rPr>
              <a:t>MI availability plays a key role in High LTV (LTVs &gt; 80%) lending. The entry or exit of MI providers can have a profound impact on the ability of High LTV borrowers to refinance their loans. </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Changes in MI Underwriting Standards: </a:t>
            </a:r>
            <a:r>
              <a:rPr lang="en-US" sz="1400" dirty="0" smtClean="0">
                <a:solidFill>
                  <a:schemeClr val="tx1"/>
                </a:solidFill>
                <a:latin typeface="Calibri" panose="020F0502020204030204" pitchFamily="34" charset="0"/>
              </a:rPr>
              <a:t>This is an extension to the first point. Opening up/closing the underwriting box, changing the relative pricing of collateral characteristics in the underwriting matrix, and changing the overall level of MI premiums significantly influences which subsets of High LTV borrowers can refinance. </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Cross-Sector Refinances: </a:t>
            </a:r>
            <a:r>
              <a:rPr lang="en-US" sz="1400" dirty="0" smtClean="0">
                <a:solidFill>
                  <a:schemeClr val="tx1"/>
                </a:solidFill>
                <a:latin typeface="Calibri" panose="020F0502020204030204" pitchFamily="34" charset="0"/>
              </a:rPr>
              <a:t>For LTVs between 90-97%, the government and private MI programs can be regarded as competitors for the same pool of High LTV borrowers. Changes in pricing by one program can thus affect the refinancing behavior of borrowers in both programs.</a:t>
            </a:r>
          </a:p>
        </p:txBody>
      </p:sp>
      <p:cxnSp>
        <p:nvCxnSpPr>
          <p:cNvPr id="27" name="Straight Connector 26"/>
          <p:cNvCxnSpPr/>
          <p:nvPr/>
        </p:nvCxnSpPr>
        <p:spPr>
          <a:xfrm>
            <a:off x="2903220" y="1624602"/>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808217" y="1258866"/>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Key Connections Between MI and Prepayments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8963433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dirty="0" smtClean="0"/>
              <a:t>COMPARING GOVERNMENT AND PRIVATE MI PROGRAMS </a:t>
            </a:r>
            <a:r>
              <a:rPr lang="en-US" sz="1300" dirty="0" smtClean="0"/>
              <a:t/>
            </a:r>
            <a:br>
              <a:rPr lang="en-US" sz="1300" dirty="0" smtClean="0"/>
            </a:br>
            <a:endParaRPr lang="en-US" sz="13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4162677255"/>
              </p:ext>
            </p:extLst>
          </p:nvPr>
        </p:nvGraphicFramePr>
        <p:xfrm>
          <a:off x="297181" y="1033780"/>
          <a:ext cx="9410699" cy="5628640"/>
        </p:xfrm>
        <a:graphic>
          <a:graphicData uri="http://schemas.openxmlformats.org/drawingml/2006/table">
            <a:tbl>
              <a:tblPr firstRow="1">
                <a:tableStyleId>{3B4B98B0-60AC-42C2-AFA5-B58CD77FA1E5}</a:tableStyleId>
              </a:tblPr>
              <a:tblGrid>
                <a:gridCol w="2026919"/>
                <a:gridCol w="3200400"/>
                <a:gridCol w="4183380"/>
              </a:tblGrid>
              <a:tr h="370840">
                <a:tc>
                  <a:txBody>
                    <a:bodyPr/>
                    <a:lstStyle/>
                    <a:p>
                      <a:r>
                        <a:rPr lang="en-US" sz="1200" dirty="0" smtClean="0"/>
                        <a:t>Factor</a:t>
                      </a:r>
                      <a:endParaRPr lang="en-US" sz="1200" dirty="0"/>
                    </a:p>
                  </a:txBody>
                  <a:tcPr>
                    <a:lnR w="12700" cap="flat" cmpd="sng" algn="ctr">
                      <a:solidFill>
                        <a:schemeClr val="accent2">
                          <a:lumMod val="50000"/>
                        </a:schemeClr>
                      </a:solidFill>
                      <a:prstDash val="solid"/>
                      <a:round/>
                      <a:headEnd type="none" w="med" len="med"/>
                      <a:tailEnd type="none" w="med" len="med"/>
                    </a:lnR>
                  </a:tcPr>
                </a:tc>
                <a:tc>
                  <a:txBody>
                    <a:bodyPr/>
                    <a:lstStyle/>
                    <a:p>
                      <a:r>
                        <a:rPr lang="en-US" sz="1200" dirty="0" smtClean="0"/>
                        <a:t>Private Mortgage Insurance</a:t>
                      </a:r>
                      <a:endParaRPr lang="en-US" sz="1200" dirty="0"/>
                    </a:p>
                  </a:txBody>
                  <a:tcPr>
                    <a:lnL w="12700" cap="flat" cmpd="sng" algn="ctr">
                      <a:solidFill>
                        <a:schemeClr val="accent2">
                          <a:lumMod val="50000"/>
                        </a:schemeClr>
                      </a:solidFill>
                      <a:prstDash val="solid"/>
                      <a:round/>
                      <a:headEnd type="none" w="med" len="med"/>
                      <a:tailEnd type="none" w="med" len="med"/>
                    </a:lnL>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dirty="0" smtClean="0"/>
                        <a:t>Government Programs</a:t>
                      </a:r>
                    </a:p>
                  </a:txBody>
                  <a:tcPr/>
                </a:tc>
              </a:tr>
              <a:tr h="370840">
                <a:tc>
                  <a:txBody>
                    <a:bodyPr/>
                    <a:lstStyle/>
                    <a:p>
                      <a:r>
                        <a:rPr lang="en-US" sz="1000" dirty="0" smtClean="0"/>
                        <a:t>Minimum down payment</a:t>
                      </a:r>
                      <a:endParaRPr lang="en-US" sz="1000" dirty="0"/>
                    </a:p>
                  </a:txBody>
                  <a:tcPr>
                    <a:lnR w="12700" cap="flat" cmpd="sng" algn="ctr">
                      <a:solidFill>
                        <a:schemeClr val="accent2">
                          <a:lumMod val="50000"/>
                        </a:schemeClr>
                      </a:solidFill>
                      <a:prstDash val="solid"/>
                      <a:round/>
                      <a:headEnd type="none" w="med" len="med"/>
                      <a:tailEnd type="none" w="med" len="med"/>
                    </a:lnR>
                    <a:lnB w="12700" cap="flat" cmpd="sng" algn="ctr">
                      <a:solidFill>
                        <a:schemeClr val="accent2">
                          <a:lumMod val="50000"/>
                        </a:schemeClr>
                      </a:solidFill>
                      <a:prstDash val="sysDot"/>
                      <a:round/>
                      <a:headEnd type="none" w="med" len="med"/>
                      <a:tailEnd type="none" w="med" len="med"/>
                    </a:lnB>
                  </a:tcPr>
                </a:tc>
                <a:tc>
                  <a:txBody>
                    <a:bodyPr/>
                    <a:lstStyle/>
                    <a:p>
                      <a:r>
                        <a:rPr lang="en-US" sz="1000" b="0" i="0" u="none" strike="noStrike" kern="1200" baseline="0" dirty="0" smtClean="0">
                          <a:solidFill>
                            <a:schemeClr val="tx1"/>
                          </a:solidFill>
                          <a:latin typeface="+mn-lt"/>
                          <a:ea typeface="+mn-ea"/>
                          <a:cs typeface="+mn-cs"/>
                        </a:rPr>
                        <a:t>Typically 3%.</a:t>
                      </a:r>
                      <a:endParaRPr lang="en-US" sz="1000" dirty="0"/>
                    </a:p>
                  </a:txBody>
                  <a:tcPr>
                    <a:lnL w="12700" cap="flat" cmpd="sng" algn="ctr">
                      <a:solidFill>
                        <a:schemeClr val="accent2">
                          <a:lumMod val="50000"/>
                        </a:schemeClr>
                      </a:solidFill>
                      <a:prstDash val="solid"/>
                      <a:round/>
                      <a:headEnd type="none" w="med" len="med"/>
                      <a:tailEnd type="none" w="med" len="med"/>
                    </a:lnL>
                    <a:lnB w="12700" cap="flat" cmpd="sng" algn="ctr">
                      <a:solidFill>
                        <a:schemeClr val="accent2">
                          <a:lumMod val="50000"/>
                        </a:schemeClr>
                      </a:solidFill>
                      <a:prstDash val="sysDot"/>
                      <a:round/>
                      <a:headEnd type="none" w="med" len="med"/>
                      <a:tailEnd type="none" w="med" len="med"/>
                    </a:lnB>
                  </a:tcPr>
                </a:tc>
                <a:tc>
                  <a:txBody>
                    <a:bodyPr/>
                    <a:lstStyle/>
                    <a:p>
                      <a:r>
                        <a:rPr lang="en-US" sz="1000" b="0" i="0" u="none" strike="noStrike" kern="1200" baseline="0" dirty="0" smtClean="0">
                          <a:solidFill>
                            <a:schemeClr val="tx1"/>
                          </a:solidFill>
                          <a:latin typeface="+mn-lt"/>
                          <a:ea typeface="+mn-ea"/>
                          <a:cs typeface="+mn-cs"/>
                        </a:rPr>
                        <a:t>3.5% on FHA-insured mortgages. In most cases VA does not require a down payment.</a:t>
                      </a:r>
                      <a:endParaRPr lang="en-US" sz="1000" dirty="0"/>
                    </a:p>
                  </a:txBody>
                  <a:tcPr>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Loan coverage level</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r>
                        <a:rPr lang="en-US" sz="1000" dirty="0" smtClean="0"/>
                        <a:t>Varies</a:t>
                      </a:r>
                      <a:endParaRPr lang="en-US" sz="10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r>
                        <a:rPr lang="en-US" sz="1000" dirty="0" smtClean="0"/>
                        <a:t>FHA insures the entire loan balance; VA guarantees a percentage of the loan.</a:t>
                      </a:r>
                      <a:endParaRPr lang="en-US" sz="1000" dirty="0"/>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Limit on size of the mortgage insured or guaranteed</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r>
                        <a:rPr lang="en-US" sz="1000" dirty="0" smtClean="0"/>
                        <a:t>None</a:t>
                      </a:r>
                      <a:endParaRPr lang="en-US" sz="10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Beginning in 2009, the loan limit for FHA-insured mortgages for one-unit properties is 115 percent of the local area median home price, as determined by HUD, with a floor of 65 percent of the</a:t>
                      </a:r>
                      <a:r>
                        <a:rPr lang="en-US" sz="1000" baseline="0" dirty="0" smtClean="0"/>
                        <a:t> conforming loan limit</a:t>
                      </a:r>
                      <a:r>
                        <a:rPr lang="en-US" sz="1000" dirty="0" smtClean="0"/>
                        <a:t> (or $271,050) and a ceiling equal to 150 percent of the </a:t>
                      </a:r>
                      <a:r>
                        <a:rPr lang="en-US" sz="1000" baseline="0" dirty="0" smtClean="0"/>
                        <a:t>conforming limit</a:t>
                      </a:r>
                      <a:r>
                        <a:rPr lang="en-US" sz="1000" dirty="0" smtClean="0"/>
                        <a:t> . Limits vary by geographic region and for 2 - 4 unit properties. The</a:t>
                      </a:r>
                      <a:r>
                        <a:rPr lang="en-US" sz="1000" baseline="0" dirty="0" smtClean="0"/>
                        <a:t> VA’s loan limits are the same as conforming loan limits.</a:t>
                      </a:r>
                      <a:endParaRPr lang="en-US" sz="1000" dirty="0" smtClean="0"/>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Up-front mortgage insurance </a:t>
                      </a:r>
                      <a:r>
                        <a:rPr lang="en-US" sz="1000" dirty="0" smtClean="0"/>
                        <a:t>premium (UFMIP)</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Generally</a:t>
                      </a:r>
                      <a:r>
                        <a:rPr lang="en-US" sz="1000" baseline="0" dirty="0" smtClean="0"/>
                        <a:t> not required</a:t>
                      </a:r>
                      <a:endParaRPr lang="en-US" sz="10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1.75% UFMIP Required by FHA; VA requires an up-front funding fee.</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Monthly premium</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Premiums vary based on the size of the down payment, type of mortgage, and amount of insurance coverage.</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FHA borrowers pay an annual insurance premium that starts at 0.85% percent of the loan balance and declines over time. There is no insurance premium for VA mortgages.</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Cancellation of insurance</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Can usually be canceled when the homeowner acquires 20 percent equity in the home. Under Federal law, MI must be cancelled automatically when the borrower has paid the loan down to 78 percent of the original home value.</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For FHA mortgages with terms greater than 15 years, the annual mortgage insurance cancels when the LTV ratio reaches 78 percent, provided the borrower has paid the annual mortgage insurance premiums for at least 5 years</a:t>
                      </a:r>
                      <a:r>
                        <a:rPr lang="en-US" sz="1000" baseline="0" dirty="0" smtClean="0"/>
                        <a:t> and that the loan was closed after December 31, 2000 and had a case number assignment before June 3</a:t>
                      </a:r>
                      <a:r>
                        <a:rPr lang="en-US" sz="1000" baseline="30000" dirty="0" smtClean="0"/>
                        <a:t>rd</a:t>
                      </a:r>
                      <a:r>
                        <a:rPr lang="en-US" sz="1000" baseline="0" dirty="0" smtClean="0"/>
                        <a:t>, 2013.</a:t>
                      </a:r>
                      <a:endParaRPr lang="en-US" sz="1000" dirty="0" smtClean="0"/>
                    </a:p>
                    <a:p>
                      <a:endParaRPr lang="en-US" sz="1000" dirty="0"/>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Deductibility of borrower-paid mortgage insurance</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Yes, up to a certain income level, through the </a:t>
                      </a:r>
                      <a:r>
                        <a:rPr lang="en-US" sz="1000" dirty="0" smtClean="0">
                          <a:solidFill>
                            <a:schemeClr val="tx1"/>
                          </a:solidFill>
                        </a:rPr>
                        <a:t>2016</a:t>
                      </a:r>
                      <a:r>
                        <a:rPr lang="en-US" sz="1000" dirty="0" smtClean="0"/>
                        <a:t> tax year.</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Yes, up to a certain income level, through the </a:t>
                      </a:r>
                      <a:r>
                        <a:rPr lang="en-US" sz="1000" dirty="0" smtClean="0">
                          <a:solidFill>
                            <a:schemeClr val="tx1"/>
                          </a:solidFill>
                        </a:rPr>
                        <a:t>2016</a:t>
                      </a:r>
                      <a:r>
                        <a:rPr lang="en-US" sz="1000" dirty="0" smtClean="0"/>
                        <a:t> tax year.</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Income limits</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None</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No maximum income limit on FHA/VA loans.</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Interest rate</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Market driven</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Market driven</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Regulation</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State regulated. Regulation extends to reserves for losses, capital, etc.</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FHA and VA mortgage programs are administered by agencies of the U.S. government.</a:t>
                      </a:r>
                    </a:p>
                  </a:txBody>
                  <a:tcPr>
                    <a:lnT w="12700" cap="flat" cmpd="sng" algn="ctr">
                      <a:solidFill>
                        <a:schemeClr val="accent2">
                          <a:lumMod val="50000"/>
                        </a:schemeClr>
                      </a:solidFill>
                      <a:prstDash val="sysDot"/>
                      <a:round/>
                      <a:headEnd type="none" w="med" len="med"/>
                      <a:tailEnd type="none" w="med" len="med"/>
                    </a:lnT>
                  </a:tcPr>
                </a:tc>
              </a:tr>
            </a:tbl>
          </a:graphicData>
        </a:graphic>
      </p:graphicFrame>
      <p:sp>
        <p:nvSpPr>
          <p:cNvPr id="4"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Cello, FHFA.</a:t>
            </a:r>
            <a:endParaRPr lang="en-US" sz="900" i="1" dirty="0">
              <a:solidFill>
                <a:srgbClr val="000000"/>
              </a:solidFill>
            </a:endParaRPr>
          </a:p>
        </p:txBody>
      </p:sp>
    </p:spTree>
    <p:extLst>
      <p:ext uri="{BB962C8B-B14F-4D97-AF65-F5344CB8AC3E}">
        <p14:creationId xmlns:p14="http://schemas.microsoft.com/office/powerpoint/2010/main" val="9796910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dirty="0" smtClean="0"/>
              <a:t>HOW PRIVATE MORTGAGE INSURANCE WORKS: COVERAGE</a:t>
            </a:r>
            <a:r>
              <a:rPr lang="en-US" sz="1600" dirty="0" smtClean="0"/>
              <a:t/>
            </a:r>
            <a:br>
              <a:rPr lang="en-US" sz="1600" dirty="0" smtClean="0"/>
            </a:br>
            <a:endParaRPr lang="en-US" sz="1600" dirty="0">
              <a:latin typeface="+mn-lt"/>
            </a:endParaRPr>
          </a:p>
        </p:txBody>
      </p:sp>
      <p:graphicFrame>
        <p:nvGraphicFramePr>
          <p:cNvPr id="6" name="Chart 5"/>
          <p:cNvGraphicFramePr/>
          <p:nvPr>
            <p:extLst>
              <p:ext uri="{D42A27DB-BD31-4B8C-83A1-F6EECF244321}">
                <p14:modId xmlns:p14="http://schemas.microsoft.com/office/powerpoint/2010/main" val="3914541401"/>
              </p:ext>
            </p:extLst>
          </p:nvPr>
        </p:nvGraphicFramePr>
        <p:xfrm>
          <a:off x="2468879" y="2256472"/>
          <a:ext cx="7167555" cy="354901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3014727" y="5985504"/>
            <a:ext cx="3139440" cy="584775"/>
          </a:xfrm>
          <a:prstGeom prst="rect">
            <a:avLst/>
          </a:prstGeom>
          <a:noFill/>
        </p:spPr>
        <p:txBody>
          <a:bodyPr wrap="square" rtlCol="0">
            <a:spAutoFit/>
          </a:bodyPr>
          <a:lstStyle/>
          <a:p>
            <a:pPr algn="ctr"/>
            <a:r>
              <a:rPr lang="en-US" sz="1600" dirty="0" smtClean="0">
                <a:latin typeface="+mn-lt"/>
              </a:rPr>
              <a:t>Lower coverage = </a:t>
            </a:r>
          </a:p>
          <a:p>
            <a:pPr algn="ctr"/>
            <a:r>
              <a:rPr lang="en-US" sz="1600" dirty="0" smtClean="0">
                <a:latin typeface="+mn-lt"/>
              </a:rPr>
              <a:t>Higher exposure</a:t>
            </a:r>
            <a:endParaRPr lang="en-US" sz="1600" dirty="0">
              <a:latin typeface="+mn-lt"/>
            </a:endParaRPr>
          </a:p>
        </p:txBody>
      </p:sp>
      <p:sp>
        <p:nvSpPr>
          <p:cNvPr id="8" name="TextBox 7"/>
          <p:cNvSpPr txBox="1"/>
          <p:nvPr/>
        </p:nvSpPr>
        <p:spPr>
          <a:xfrm>
            <a:off x="5707380" y="5974078"/>
            <a:ext cx="3139440" cy="584775"/>
          </a:xfrm>
          <a:prstGeom prst="rect">
            <a:avLst/>
          </a:prstGeom>
          <a:noFill/>
        </p:spPr>
        <p:txBody>
          <a:bodyPr wrap="square" rtlCol="0">
            <a:spAutoFit/>
          </a:bodyPr>
          <a:lstStyle/>
          <a:p>
            <a:pPr algn="ctr"/>
            <a:r>
              <a:rPr lang="en-US" sz="1600" dirty="0" smtClean="0">
                <a:latin typeface="+mn-lt"/>
              </a:rPr>
              <a:t>Higher coverage = </a:t>
            </a:r>
          </a:p>
          <a:p>
            <a:pPr algn="ctr"/>
            <a:r>
              <a:rPr lang="en-US" sz="1600" dirty="0" smtClean="0">
                <a:latin typeface="+mn-lt"/>
              </a:rPr>
              <a:t>Lower exposure</a:t>
            </a:r>
            <a:endParaRPr lang="en-US" sz="1600" dirty="0">
              <a:latin typeface="+mn-lt"/>
            </a:endParaRPr>
          </a:p>
        </p:txBody>
      </p:sp>
      <p:cxnSp>
        <p:nvCxnSpPr>
          <p:cNvPr id="10" name="Straight Connector 9"/>
          <p:cNvCxnSpPr/>
          <p:nvPr/>
        </p:nvCxnSpPr>
        <p:spPr>
          <a:xfrm>
            <a:off x="4584447" y="4221480"/>
            <a:ext cx="2749803" cy="474345"/>
          </a:xfrm>
          <a:prstGeom prst="line">
            <a:avLst/>
          </a:prstGeom>
          <a:ln w="3810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162300" y="2392680"/>
            <a:ext cx="1996440" cy="461665"/>
          </a:xfrm>
          <a:prstGeom prst="rect">
            <a:avLst/>
          </a:prstGeom>
          <a:noFill/>
        </p:spPr>
        <p:txBody>
          <a:bodyPr wrap="square" rtlCol="0">
            <a:spAutoFit/>
          </a:bodyPr>
          <a:lstStyle/>
          <a:p>
            <a:pPr algn="ctr"/>
            <a:r>
              <a:rPr lang="en-US" sz="1200" dirty="0" smtClean="0">
                <a:solidFill>
                  <a:schemeClr val="accent4">
                    <a:lumMod val="65000"/>
                    <a:lumOff val="35000"/>
                  </a:schemeClr>
                </a:solidFill>
                <a:latin typeface="+mn-lt"/>
              </a:rPr>
              <a:t>Purchase</a:t>
            </a:r>
          </a:p>
          <a:p>
            <a:pPr algn="ctr"/>
            <a:r>
              <a:rPr lang="en-US" sz="1200" dirty="0" smtClean="0">
                <a:solidFill>
                  <a:schemeClr val="accent4">
                    <a:lumMod val="65000"/>
                    <a:lumOff val="35000"/>
                  </a:schemeClr>
                </a:solidFill>
                <a:latin typeface="+mn-lt"/>
              </a:rPr>
              <a:t>Price</a:t>
            </a:r>
            <a:endParaRPr lang="en-US" sz="1200" dirty="0">
              <a:solidFill>
                <a:schemeClr val="accent4">
                  <a:lumMod val="65000"/>
                  <a:lumOff val="35000"/>
                </a:schemeClr>
              </a:solidFill>
              <a:latin typeface="+mn-lt"/>
            </a:endParaRPr>
          </a:p>
        </p:txBody>
      </p:sp>
      <p:sp>
        <p:nvSpPr>
          <p:cNvPr id="20" name="TextBox 19"/>
          <p:cNvSpPr txBox="1"/>
          <p:nvPr/>
        </p:nvSpPr>
        <p:spPr>
          <a:xfrm>
            <a:off x="4072002" y="2623512"/>
            <a:ext cx="1996440" cy="461665"/>
          </a:xfrm>
          <a:prstGeom prst="rect">
            <a:avLst/>
          </a:prstGeom>
          <a:noFill/>
        </p:spPr>
        <p:txBody>
          <a:bodyPr wrap="square" rtlCol="0">
            <a:spAutoFit/>
          </a:bodyPr>
          <a:lstStyle/>
          <a:p>
            <a:pPr algn="ctr"/>
            <a:r>
              <a:rPr lang="en-US" sz="1200" dirty="0" smtClean="0">
                <a:solidFill>
                  <a:schemeClr val="accent2">
                    <a:lumMod val="75000"/>
                  </a:schemeClr>
                </a:solidFill>
                <a:latin typeface="+mn-lt"/>
              </a:rPr>
              <a:t>Loan Amount</a:t>
            </a:r>
          </a:p>
          <a:p>
            <a:pPr algn="ctr"/>
            <a:r>
              <a:rPr lang="en-US" sz="1200" dirty="0" smtClean="0">
                <a:solidFill>
                  <a:schemeClr val="accent2">
                    <a:lumMod val="75000"/>
                  </a:schemeClr>
                </a:solidFill>
                <a:latin typeface="+mn-lt"/>
              </a:rPr>
              <a:t>(90% LTV)</a:t>
            </a:r>
            <a:endParaRPr lang="en-US" sz="1200" dirty="0">
              <a:solidFill>
                <a:schemeClr val="accent2">
                  <a:lumMod val="75000"/>
                </a:schemeClr>
              </a:solidFill>
              <a:latin typeface="+mn-lt"/>
            </a:endParaRPr>
          </a:p>
        </p:txBody>
      </p:sp>
      <p:sp>
        <p:nvSpPr>
          <p:cNvPr id="21" name="TextBox 20"/>
          <p:cNvSpPr txBox="1"/>
          <p:nvPr/>
        </p:nvSpPr>
        <p:spPr>
          <a:xfrm>
            <a:off x="5959348" y="2392679"/>
            <a:ext cx="1996440" cy="461665"/>
          </a:xfrm>
          <a:prstGeom prst="rect">
            <a:avLst/>
          </a:prstGeom>
          <a:noFill/>
        </p:spPr>
        <p:txBody>
          <a:bodyPr wrap="square" rtlCol="0">
            <a:spAutoFit/>
          </a:bodyPr>
          <a:lstStyle/>
          <a:p>
            <a:pPr algn="ctr"/>
            <a:r>
              <a:rPr lang="en-US" sz="1200" dirty="0" smtClean="0">
                <a:solidFill>
                  <a:schemeClr val="accent4">
                    <a:lumMod val="65000"/>
                    <a:lumOff val="35000"/>
                  </a:schemeClr>
                </a:solidFill>
                <a:latin typeface="+mn-lt"/>
              </a:rPr>
              <a:t>Purchase</a:t>
            </a:r>
          </a:p>
          <a:p>
            <a:pPr algn="ctr"/>
            <a:r>
              <a:rPr lang="en-US" sz="1200" dirty="0" smtClean="0">
                <a:solidFill>
                  <a:schemeClr val="accent4">
                    <a:lumMod val="65000"/>
                    <a:lumOff val="35000"/>
                  </a:schemeClr>
                </a:solidFill>
                <a:latin typeface="+mn-lt"/>
              </a:rPr>
              <a:t>Price</a:t>
            </a:r>
            <a:endParaRPr lang="en-US" sz="1200" dirty="0">
              <a:solidFill>
                <a:schemeClr val="accent4">
                  <a:lumMod val="65000"/>
                  <a:lumOff val="35000"/>
                </a:schemeClr>
              </a:solidFill>
              <a:latin typeface="+mn-lt"/>
            </a:endParaRPr>
          </a:p>
        </p:txBody>
      </p:sp>
      <p:sp>
        <p:nvSpPr>
          <p:cNvPr id="22" name="TextBox 21"/>
          <p:cNvSpPr txBox="1"/>
          <p:nvPr/>
        </p:nvSpPr>
        <p:spPr>
          <a:xfrm>
            <a:off x="6850380" y="2854344"/>
            <a:ext cx="1996440" cy="461665"/>
          </a:xfrm>
          <a:prstGeom prst="rect">
            <a:avLst/>
          </a:prstGeom>
          <a:noFill/>
        </p:spPr>
        <p:txBody>
          <a:bodyPr wrap="square" rtlCol="0">
            <a:spAutoFit/>
          </a:bodyPr>
          <a:lstStyle/>
          <a:p>
            <a:pPr algn="ctr"/>
            <a:r>
              <a:rPr lang="en-US" sz="1200" dirty="0" smtClean="0">
                <a:solidFill>
                  <a:schemeClr val="accent2">
                    <a:lumMod val="75000"/>
                  </a:schemeClr>
                </a:solidFill>
                <a:latin typeface="+mn-lt"/>
              </a:rPr>
              <a:t>Loan Amount</a:t>
            </a:r>
          </a:p>
          <a:p>
            <a:pPr algn="ctr"/>
            <a:r>
              <a:rPr lang="en-US" sz="1200" dirty="0" smtClean="0">
                <a:solidFill>
                  <a:schemeClr val="accent2">
                    <a:lumMod val="75000"/>
                  </a:schemeClr>
                </a:solidFill>
                <a:latin typeface="+mn-lt"/>
              </a:rPr>
              <a:t>(90% LTV)</a:t>
            </a:r>
            <a:endParaRPr lang="en-US" sz="1200" dirty="0">
              <a:solidFill>
                <a:schemeClr val="accent2">
                  <a:lumMod val="75000"/>
                </a:schemeClr>
              </a:solidFill>
              <a:latin typeface="+mn-lt"/>
            </a:endParaRPr>
          </a:p>
        </p:txBody>
      </p:sp>
      <p:sp>
        <p:nvSpPr>
          <p:cNvPr id="14" name="Content Placeholder 12"/>
          <p:cNvSpPr txBox="1">
            <a:spLocks/>
          </p:cNvSpPr>
          <p:nvPr/>
        </p:nvSpPr>
        <p:spPr>
          <a:xfrm>
            <a:off x="293687" y="1235075"/>
            <a:ext cx="1839913" cy="5927725"/>
          </a:xfrm>
          <a:prstGeom prst="rect">
            <a:avLst/>
          </a:prstGeom>
        </p:spPr>
        <p:txBody>
          <a:bodyPr/>
          <a:lst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a:lstStyle>
          <a:p>
            <a:pPr algn="l">
              <a:spcBef>
                <a:spcPts val="0"/>
              </a:spcBef>
            </a:pPr>
            <a:r>
              <a:rPr lang="en-US" kern="0" dirty="0" smtClean="0"/>
              <a:t>A PMI covers only a specified portion of the loss. This percentage is called the </a:t>
            </a:r>
            <a:r>
              <a:rPr lang="en-US" b="1" kern="0" dirty="0" smtClean="0"/>
              <a:t>coverage </a:t>
            </a:r>
            <a:r>
              <a:rPr lang="en-US" kern="0" dirty="0" smtClean="0"/>
              <a:t>percentage and is typically between 12% to 35% of the </a:t>
            </a:r>
            <a:r>
              <a:rPr lang="en-US" b="1" kern="0" dirty="0" smtClean="0"/>
              <a:t>gross claim amount</a:t>
            </a:r>
            <a:r>
              <a:rPr lang="en-US" kern="0" dirty="0" smtClean="0"/>
              <a:t>. </a:t>
            </a:r>
          </a:p>
          <a:p>
            <a:pPr algn="l">
              <a:spcBef>
                <a:spcPts val="0"/>
              </a:spcBef>
            </a:pPr>
            <a:endParaRPr lang="en-US" kern="0" dirty="0"/>
          </a:p>
          <a:p>
            <a:pPr algn="l">
              <a:spcBef>
                <a:spcPts val="0"/>
              </a:spcBef>
            </a:pPr>
            <a:r>
              <a:rPr lang="en-US" kern="0" dirty="0" smtClean="0"/>
              <a:t>The gross claim amount consists of the outstanding principal, accrued interest, and various expenses incurred during the foreclosure process.</a:t>
            </a:r>
          </a:p>
          <a:p>
            <a:pPr algn="l">
              <a:spcBef>
                <a:spcPts val="0"/>
              </a:spcBef>
            </a:pPr>
            <a:endParaRPr lang="en-US" kern="0" dirty="0"/>
          </a:p>
          <a:p>
            <a:pPr algn="l">
              <a:spcBef>
                <a:spcPts val="0"/>
              </a:spcBef>
            </a:pPr>
            <a:r>
              <a:rPr lang="en-US" kern="0" dirty="0" smtClean="0"/>
              <a:t>PMI coverage lowers the LTV of the loan from the perspective of the holder of </a:t>
            </a:r>
            <a:r>
              <a:rPr lang="en-US" kern="0" dirty="0" smtClean="0"/>
              <a:t>the credit </a:t>
            </a:r>
            <a:r>
              <a:rPr lang="en-US" kern="0" dirty="0" smtClean="0"/>
              <a:t>risk on the loan.</a:t>
            </a:r>
          </a:p>
          <a:p>
            <a:pPr algn="l">
              <a:spcBef>
                <a:spcPts val="0"/>
              </a:spcBef>
            </a:pPr>
            <a:endParaRPr lang="en-US" kern="0" dirty="0"/>
          </a:p>
          <a:p>
            <a:pPr algn="l">
              <a:spcBef>
                <a:spcPts val="0"/>
              </a:spcBef>
            </a:pPr>
            <a:r>
              <a:rPr lang="en-US" b="1" kern="0" dirty="0" smtClean="0"/>
              <a:t>Effective LTV </a:t>
            </a:r>
            <a:r>
              <a:rPr lang="en-US" kern="0" dirty="0" smtClean="0"/>
              <a:t>= </a:t>
            </a:r>
          </a:p>
          <a:p>
            <a:pPr algn="l">
              <a:spcBef>
                <a:spcPts val="0"/>
              </a:spcBef>
            </a:pPr>
            <a:r>
              <a:rPr lang="en-US" kern="0" dirty="0" smtClean="0"/>
              <a:t>1 – </a:t>
            </a:r>
            <a:r>
              <a:rPr lang="en-US" b="1" kern="0" dirty="0" smtClean="0"/>
              <a:t>Equity</a:t>
            </a:r>
            <a:r>
              <a:rPr lang="en-US" kern="0" dirty="0" smtClean="0"/>
              <a:t> – </a:t>
            </a:r>
            <a:endParaRPr lang="en-US" kern="0" dirty="0" smtClean="0"/>
          </a:p>
          <a:p>
            <a:pPr algn="l">
              <a:spcBef>
                <a:spcPts val="0"/>
              </a:spcBef>
            </a:pPr>
            <a:r>
              <a:rPr lang="en-US" kern="0" dirty="0" smtClean="0"/>
              <a:t>(</a:t>
            </a:r>
            <a:r>
              <a:rPr lang="en-US" b="1" kern="0" dirty="0" smtClean="0"/>
              <a:t>Coverage </a:t>
            </a:r>
            <a:r>
              <a:rPr lang="en-US" kern="0" dirty="0" smtClean="0"/>
              <a:t>* </a:t>
            </a:r>
            <a:r>
              <a:rPr lang="en-US" b="1" kern="0" dirty="0" smtClean="0"/>
              <a:t>LTV</a:t>
            </a:r>
            <a:r>
              <a:rPr lang="en-US" kern="0" dirty="0" smtClean="0"/>
              <a:t>)</a:t>
            </a:r>
          </a:p>
          <a:p>
            <a:pPr algn="l">
              <a:spcBef>
                <a:spcPts val="0"/>
              </a:spcBef>
            </a:pPr>
            <a:endParaRPr lang="en-US" kern="0" dirty="0"/>
          </a:p>
          <a:p>
            <a:pPr algn="l">
              <a:spcBef>
                <a:spcPts val="0"/>
              </a:spcBef>
            </a:pPr>
            <a:r>
              <a:rPr lang="en-US" kern="0" dirty="0" smtClean="0"/>
              <a:t> </a:t>
            </a:r>
            <a:endParaRPr lang="en-US" kern="0" dirty="0"/>
          </a:p>
        </p:txBody>
      </p:sp>
    </p:spTree>
    <p:extLst>
      <p:ext uri="{BB962C8B-B14F-4D97-AF65-F5344CB8AC3E}">
        <p14:creationId xmlns:p14="http://schemas.microsoft.com/office/powerpoint/2010/main" val="4592437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Cello</a:t>
            </a:r>
            <a:r>
              <a:rPr lang="en-US" sz="900" i="1" dirty="0">
                <a:solidFill>
                  <a:srgbClr val="000000"/>
                </a:solidFill>
              </a:rPr>
              <a:t> </a:t>
            </a:r>
            <a:r>
              <a:rPr lang="en-US" sz="900" i="1" dirty="0" smtClean="0">
                <a:solidFill>
                  <a:srgbClr val="000000"/>
                </a:solidFill>
              </a:rPr>
              <a:t>analysis of Agency MBS data.</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HOW PRIVATE MORTGAGE INSURANCE WORKS: COVERAGE LEVELS DEPEND ON INIITIAL LTV</a:t>
            </a:r>
            <a:endParaRPr lang="en-US" kern="0" dirty="0">
              <a:solidFill>
                <a:srgbClr val="FFFFFF"/>
              </a:solidFill>
            </a:endParaRPr>
          </a:p>
        </p:txBody>
      </p:sp>
      <p:sp>
        <p:nvSpPr>
          <p:cNvPr id="12" name="TextBox 11"/>
          <p:cNvSpPr txBox="1"/>
          <p:nvPr/>
        </p:nvSpPr>
        <p:spPr>
          <a:xfrm>
            <a:off x="167640" y="1266192"/>
            <a:ext cx="2179320" cy="646321"/>
          </a:xfrm>
          <a:prstGeom prst="rect">
            <a:avLst/>
          </a:prstGeom>
          <a:noFill/>
        </p:spPr>
        <p:txBody>
          <a:bodyPr wrap="square" lIns="91429" tIns="45715" rIns="91429" bIns="45715" rtlCol="0">
            <a:spAutoFit/>
          </a:bodyPr>
          <a:lstStyle/>
          <a:p>
            <a:r>
              <a:rPr lang="en-US" sz="1200" dirty="0" smtClean="0">
                <a:latin typeface="+mn-lt"/>
              </a:rPr>
              <a:t>Most originators use the loss coverage scheme developed by Fannie Mae and Freddie Mac. </a:t>
            </a:r>
            <a:endParaRPr lang="en-US" sz="1200" dirty="0">
              <a:latin typeface="+mn-lt"/>
            </a:endParaRPr>
          </a:p>
        </p:txBody>
      </p:sp>
      <p:graphicFrame>
        <p:nvGraphicFramePr>
          <p:cNvPr id="9" name="Table 8"/>
          <p:cNvGraphicFramePr>
            <a:graphicFrameLocks noGrp="1"/>
          </p:cNvGraphicFramePr>
          <p:nvPr>
            <p:extLst>
              <p:ext uri="{D42A27DB-BD31-4B8C-83A1-F6EECF244321}">
                <p14:modId xmlns:p14="http://schemas.microsoft.com/office/powerpoint/2010/main" val="1541695300"/>
              </p:ext>
            </p:extLst>
          </p:nvPr>
        </p:nvGraphicFramePr>
        <p:xfrm>
          <a:off x="2552701" y="2257424"/>
          <a:ext cx="7067550" cy="3219450"/>
        </p:xfrm>
        <a:graphic>
          <a:graphicData uri="http://schemas.openxmlformats.org/drawingml/2006/table">
            <a:tbl>
              <a:tblPr firstRow="1" bandRow="1">
                <a:tableStyleId>{2A488322-F2BA-4B5B-9748-0D474271808F}</a:tableStyleId>
              </a:tblPr>
              <a:tblGrid>
                <a:gridCol w="1413510"/>
                <a:gridCol w="1413510"/>
                <a:gridCol w="1413510"/>
                <a:gridCol w="1413510"/>
                <a:gridCol w="1413510"/>
              </a:tblGrid>
              <a:tr h="643890">
                <a:tc>
                  <a:txBody>
                    <a:bodyPr/>
                    <a:lstStyle/>
                    <a:p>
                      <a:pPr algn="ctr"/>
                      <a:r>
                        <a:rPr lang="en-US" sz="1200" dirty="0" smtClean="0"/>
                        <a:t>Coverage</a:t>
                      </a:r>
                      <a:endParaRPr lang="en-US" sz="1200" dirty="0"/>
                    </a:p>
                  </a:txBody>
                  <a:tcPr anchor="ctr">
                    <a:lnR w="12700" cap="flat" cmpd="sng" algn="ctr">
                      <a:solidFill>
                        <a:schemeClr val="tx1"/>
                      </a:solidFill>
                      <a:prstDash val="solid"/>
                      <a:round/>
                      <a:headEnd type="none" w="med" len="med"/>
                      <a:tailEnd type="none" w="med" len="med"/>
                    </a:lnR>
                  </a:tcPr>
                </a:tc>
                <a:tc gridSpan="2">
                  <a:txBody>
                    <a:bodyPr/>
                    <a:lstStyle/>
                    <a:p>
                      <a:pPr algn="ctr"/>
                      <a:r>
                        <a:rPr lang="en-US" sz="1200" dirty="0" smtClean="0"/>
                        <a:t>UNDERWRITTEN LTV</a:t>
                      </a:r>
                      <a:r>
                        <a:rPr lang="en-US" sz="1200" baseline="0" dirty="0" smtClean="0"/>
                        <a:t> RANGE</a:t>
                      </a:r>
                      <a:endParaRPr lang="en-US" sz="1200"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sz="1000" dirty="0"/>
                    </a:p>
                  </a:txBody>
                  <a:tcPr/>
                </a:tc>
                <a:tc gridSpan="2">
                  <a:txBody>
                    <a:bodyPr/>
                    <a:lstStyle/>
                    <a:p>
                      <a:pPr algn="ctr"/>
                      <a:r>
                        <a:rPr lang="en-US" sz="1200" dirty="0" smtClean="0"/>
                        <a:t>EFFECTIVE LTV 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pPr algn="ctr"/>
                      <a:endParaRPr lang="en-US" sz="1200" dirty="0" smtClean="0"/>
                    </a:p>
                  </a:txBody>
                  <a:tcPr anchor="ctr">
                    <a:lnL w="12700" cap="flat" cmpd="sng" algn="ctr">
                      <a:solidFill>
                        <a:schemeClr val="tx1"/>
                      </a:solidFill>
                      <a:prstDash val="solid"/>
                      <a:round/>
                      <a:headEnd type="none" w="med" len="med"/>
                      <a:tailEnd type="none" w="med" len="med"/>
                    </a:lnL>
                  </a:tcPr>
                </a:tc>
              </a:tr>
              <a:tr h="643890">
                <a:tc>
                  <a:txBody>
                    <a:bodyPr/>
                    <a:lstStyle/>
                    <a:p>
                      <a:pPr algn="ctr"/>
                      <a:r>
                        <a:rPr lang="en-US" sz="1200" dirty="0" smtClean="0"/>
                        <a:t>35%</a:t>
                      </a:r>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&gt;= 95.01</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&lt;= 100</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61.8&gt;=</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65%</a:t>
                      </a:r>
                      <a:endParaRPr lang="en-US" sz="1200" dirty="0"/>
                    </a:p>
                  </a:txBody>
                  <a:tcPr anchor="ctr">
                    <a:lnR w="12700" cap="flat" cmpd="sng" algn="ctr">
                      <a:solidFill>
                        <a:schemeClr val="tx1"/>
                      </a:solidFill>
                      <a:prstDash val="solid"/>
                      <a:round/>
                      <a:headEnd type="none" w="med" len="med"/>
                      <a:tailEnd type="none" w="med" len="med"/>
                    </a:lnR>
                  </a:tcPr>
                </a:tc>
              </a:tr>
              <a:tr h="643890">
                <a:tc>
                  <a:txBody>
                    <a:bodyPr/>
                    <a:lstStyle/>
                    <a:p>
                      <a:pPr algn="ctr"/>
                      <a:r>
                        <a:rPr lang="en-US" sz="1200" dirty="0" smtClean="0"/>
                        <a:t>30%</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90.01</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95</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58.5</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61.8</a:t>
                      </a:r>
                      <a:endParaRPr lang="en-US" sz="1200" dirty="0"/>
                    </a:p>
                  </a:txBody>
                  <a:tcPr anchor="ctr">
                    <a:lnR w="12700" cap="flat" cmpd="sng" algn="ctr">
                      <a:solidFill>
                        <a:schemeClr val="tx1"/>
                      </a:solidFill>
                      <a:prstDash val="solid"/>
                      <a:round/>
                      <a:headEnd type="none" w="med" len="med"/>
                      <a:tailEnd type="none" w="med" len="med"/>
                    </a:lnR>
                  </a:tcPr>
                </a:tc>
              </a:tr>
              <a:tr h="643890">
                <a:tc>
                  <a:txBody>
                    <a:bodyPr/>
                    <a:lstStyle/>
                    <a:p>
                      <a:pPr algn="ctr"/>
                      <a:r>
                        <a:rPr lang="en-US" sz="1200" dirty="0" smtClean="0"/>
                        <a:t>25%</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85.01</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90</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55.3</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58.5</a:t>
                      </a:r>
                      <a:endParaRPr lang="en-US" sz="1200" dirty="0"/>
                    </a:p>
                  </a:txBody>
                  <a:tcPr anchor="ctr">
                    <a:lnR w="12700" cap="flat" cmpd="sng" algn="ctr">
                      <a:solidFill>
                        <a:schemeClr val="tx1"/>
                      </a:solidFill>
                      <a:prstDash val="solid"/>
                      <a:round/>
                      <a:headEnd type="none" w="med" len="med"/>
                      <a:tailEnd type="none" w="med" len="med"/>
                    </a:lnR>
                  </a:tcPr>
                </a:tc>
              </a:tr>
              <a:tr h="643890">
                <a:tc>
                  <a:txBody>
                    <a:bodyPr/>
                    <a:lstStyle/>
                    <a:p>
                      <a:pPr algn="ctr"/>
                      <a:r>
                        <a:rPr lang="en-US" sz="1200" dirty="0" smtClean="0"/>
                        <a:t>12%</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80</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85</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52.0</a:t>
                      </a:r>
                      <a:endParaRPr lang="en-US" sz="1200"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smtClean="0"/>
                        <a:t>55.3</a:t>
                      </a:r>
                      <a:endParaRPr lang="en-US" sz="1200" dirty="0"/>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7164960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dirty="0" smtClean="0"/>
              <a:t>HOW PRIVATE MORTGAGE INSURANCE WORKS: SAMPLE RATE SHEET</a:t>
            </a:r>
            <a:endParaRPr lang="en-US" dirty="0">
              <a:latin typeface="+mn-lt"/>
            </a:endParaRPr>
          </a:p>
        </p:txBody>
      </p:sp>
      <p:sp>
        <p:nvSpPr>
          <p:cNvPr id="4" name="TextBox 3"/>
          <p:cNvSpPr txBox="1"/>
          <p:nvPr/>
        </p:nvSpPr>
        <p:spPr>
          <a:xfrm>
            <a:off x="167640" y="1266192"/>
            <a:ext cx="2179320" cy="2677646"/>
          </a:xfrm>
          <a:prstGeom prst="rect">
            <a:avLst/>
          </a:prstGeom>
          <a:noFill/>
        </p:spPr>
        <p:txBody>
          <a:bodyPr wrap="square" lIns="91429" tIns="45715" rIns="91429" bIns="45715" rtlCol="0">
            <a:spAutoFit/>
          </a:bodyPr>
          <a:lstStyle/>
          <a:p>
            <a:r>
              <a:rPr lang="en-US" sz="1200" dirty="0" smtClean="0">
                <a:latin typeface="+mn-lt"/>
              </a:rPr>
              <a:t>The MI premium is expressed as an annual percentage of the loan balance. </a:t>
            </a:r>
          </a:p>
          <a:p>
            <a:endParaRPr lang="en-US" sz="1200" dirty="0">
              <a:latin typeface="+mn-lt"/>
            </a:endParaRPr>
          </a:p>
          <a:p>
            <a:r>
              <a:rPr lang="en-US" sz="1200" dirty="0" smtClean="0">
                <a:latin typeface="+mn-lt"/>
              </a:rPr>
              <a:t>MI premiums may be incorporated into the borrower’s monthly payment or paid separately.</a:t>
            </a:r>
          </a:p>
          <a:p>
            <a:endParaRPr lang="en-US" sz="1200" dirty="0">
              <a:latin typeface="+mn-lt"/>
            </a:endParaRPr>
          </a:p>
          <a:p>
            <a:r>
              <a:rPr lang="en-US" sz="1200" dirty="0" smtClean="0">
                <a:latin typeface="+mn-lt"/>
              </a:rPr>
              <a:t>Rates cannot change over the life of the policy and the policy cannot be cancelled by the insurer except for non-payment of premiums.</a:t>
            </a:r>
            <a:endParaRPr lang="en-US" sz="1200" dirty="0">
              <a:latin typeface="+mn-l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6525" y="1085850"/>
            <a:ext cx="3381375" cy="6009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6025" y="2452688"/>
            <a:ext cx="3314700" cy="3076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MGIC</a:t>
            </a:r>
            <a:r>
              <a:rPr lang="en-US" sz="900" i="1" dirty="0">
                <a:solidFill>
                  <a:srgbClr val="000000"/>
                </a:solidFill>
              </a:rPr>
              <a:t> </a:t>
            </a:r>
            <a:r>
              <a:rPr lang="en-US" sz="900" i="1" dirty="0" smtClean="0">
                <a:solidFill>
                  <a:srgbClr val="000000"/>
                </a:solidFill>
              </a:rPr>
              <a:t>(as of May 2014).</a:t>
            </a:r>
            <a:endParaRPr lang="en-US" sz="900" i="1" dirty="0">
              <a:solidFill>
                <a:srgbClr val="000000"/>
              </a:solidFill>
            </a:endParaRPr>
          </a:p>
        </p:txBody>
      </p:sp>
    </p:spTree>
    <p:extLst>
      <p:ext uri="{BB962C8B-B14F-4D97-AF65-F5344CB8AC3E}">
        <p14:creationId xmlns:p14="http://schemas.microsoft.com/office/powerpoint/2010/main" val="18197567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dirty="0" smtClean="0"/>
              <a:t>HOW PRIVATE MORTGAGE INSURANCE WORKS: CALCULATING CLAIM AMOUNTS</a:t>
            </a:r>
            <a:endParaRPr lang="en-US"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809377678"/>
              </p:ext>
            </p:extLst>
          </p:nvPr>
        </p:nvGraphicFramePr>
        <p:xfrm>
          <a:off x="2895600" y="1381127"/>
          <a:ext cx="6743700" cy="5400674"/>
        </p:xfrm>
        <a:graphic>
          <a:graphicData uri="http://schemas.openxmlformats.org/drawingml/2006/table">
            <a:tbl>
              <a:tblPr firstRow="1">
                <a:tableStyleId>{3B4B98B0-60AC-42C2-AFA5-B58CD77FA1E5}</a:tableStyleId>
              </a:tblPr>
              <a:tblGrid>
                <a:gridCol w="3244344"/>
                <a:gridCol w="3499356"/>
              </a:tblGrid>
              <a:tr h="645364">
                <a:tc>
                  <a:txBody>
                    <a:bodyPr/>
                    <a:lstStyle/>
                    <a:p>
                      <a:pPr algn="ctr"/>
                      <a:r>
                        <a:rPr lang="en-US" sz="1200" dirty="0" smtClean="0"/>
                        <a:t>Original Loan Balance, LTV, Coverage</a:t>
                      </a:r>
                      <a:endParaRPr lang="en-US" sz="1200" dirty="0"/>
                    </a:p>
                  </a:txBody>
                  <a:tcPr>
                    <a:lnR w="12700" cap="flat" cmpd="sng" algn="ctr">
                      <a:solidFill>
                        <a:schemeClr val="accent2">
                          <a:lumMod val="50000"/>
                        </a:schemeClr>
                      </a:solidFill>
                      <a:prstDash val="solid"/>
                      <a:round/>
                      <a:headEnd type="none" w="med" len="med"/>
                      <a:tailEnd type="none" w="med" len="med"/>
                    </a:lnR>
                  </a:tcPr>
                </a:tc>
                <a:tc>
                  <a:txBody>
                    <a:bodyPr/>
                    <a:lstStyle/>
                    <a:p>
                      <a:pPr algn="ctr"/>
                      <a:r>
                        <a:rPr lang="en-US" sz="1200" dirty="0" smtClean="0"/>
                        <a:t>$90,000,</a:t>
                      </a:r>
                      <a:r>
                        <a:rPr lang="en-US" sz="1200" baseline="0" dirty="0" smtClean="0"/>
                        <a:t> 90% LTV, 25% Coverage</a:t>
                      </a:r>
                      <a:endParaRPr lang="en-US" sz="1200" dirty="0"/>
                    </a:p>
                  </a:txBody>
                  <a:tcPr>
                    <a:lnL w="12700" cap="flat" cmpd="sng" algn="ctr">
                      <a:solidFill>
                        <a:schemeClr val="accent2">
                          <a:lumMod val="50000"/>
                        </a:schemeClr>
                      </a:solidFill>
                      <a:prstDash val="solid"/>
                      <a:round/>
                      <a:headEnd type="none" w="med" len="med"/>
                      <a:tailEnd type="none" w="med" len="med"/>
                    </a:lnL>
                  </a:tcPr>
                </a:tc>
              </a:tr>
              <a:tr h="339665">
                <a:tc>
                  <a:txBody>
                    <a:bodyPr/>
                    <a:lstStyle/>
                    <a:p>
                      <a:r>
                        <a:rPr lang="en-US" sz="1200" dirty="0" smtClean="0"/>
                        <a:t>Principal Balance Due at Default</a:t>
                      </a:r>
                      <a:endParaRPr lang="en-US" sz="1200" dirty="0"/>
                    </a:p>
                  </a:txBody>
                  <a:tcPr>
                    <a:lnR w="12700" cap="flat" cmpd="sng" algn="ctr">
                      <a:solidFill>
                        <a:schemeClr val="accent2">
                          <a:lumMod val="50000"/>
                        </a:schemeClr>
                      </a:solidFill>
                      <a:prstDash val="solid"/>
                      <a:round/>
                      <a:headEnd type="none" w="med" len="med"/>
                      <a:tailEnd type="none" w="med" len="med"/>
                    </a:lnR>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$88,915</a:t>
                      </a:r>
                      <a:endParaRPr lang="en-US" sz="1200" dirty="0"/>
                    </a:p>
                  </a:txBody>
                  <a:tcPr>
                    <a:lnL w="12700" cap="flat" cmpd="sng" algn="ctr">
                      <a:solidFill>
                        <a:schemeClr val="accent2">
                          <a:lumMod val="50000"/>
                        </a:schemeClr>
                      </a:solidFill>
                      <a:prstDash val="solid"/>
                      <a:round/>
                      <a:headEnd type="none" w="med" len="med"/>
                      <a:tailEnd type="none" w="med" len="med"/>
                    </a:lnL>
                    <a:lnB w="12700" cap="flat" cmpd="sng" algn="ctr">
                      <a:solidFill>
                        <a:schemeClr val="accent2">
                          <a:lumMod val="50000"/>
                        </a:schemeClr>
                      </a:solidFill>
                      <a:prstDash val="sysDot"/>
                      <a:round/>
                      <a:headEnd type="none" w="med" len="med"/>
                      <a:tailEnd type="none" w="med" len="med"/>
                    </a:lnB>
                  </a:tcPr>
                </a:tc>
              </a:tr>
              <a:tr h="339665">
                <a:tc>
                  <a:txBody>
                    <a:bodyPr/>
                    <a:lstStyle/>
                    <a:p>
                      <a:r>
                        <a:rPr lang="en-US" sz="1200" dirty="0" smtClean="0"/>
                        <a:t>Accumulated Interest</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7,850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r>
                        <a:rPr lang="en-US" sz="1200" b="1" dirty="0" smtClean="0"/>
                        <a:t>Subtotal</a:t>
                      </a:r>
                      <a:endParaRPr lang="en-US" sz="1200" b="1"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c>
                  <a:txBody>
                    <a:bodyPr/>
                    <a:lstStyle/>
                    <a:p>
                      <a:pPr lvl="1" algn="r"/>
                      <a:r>
                        <a:rPr lang="en-US" sz="1200" b="1" dirty="0" smtClean="0"/>
                        <a:t>$96,765</a:t>
                      </a:r>
                      <a:endParaRPr lang="en-US" sz="1200" b="1"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r>
              <a:tr h="339665">
                <a:tc>
                  <a:txBody>
                    <a:bodyPr/>
                    <a:lstStyle/>
                    <a:p>
                      <a:r>
                        <a:rPr lang="en-US" sz="1200" dirty="0" smtClean="0"/>
                        <a:t>Expenses</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lvl="1"/>
                      <a:r>
                        <a:rPr lang="en-US" sz="1200" dirty="0" smtClean="0"/>
                        <a:t>Attorney’s Fees</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$1,000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lvl="1"/>
                      <a:r>
                        <a:rPr lang="en-US" sz="1200" dirty="0" smtClean="0"/>
                        <a:t>Property Taxes</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1,140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lvl="1"/>
                      <a:r>
                        <a:rPr lang="en-US" sz="1200" dirty="0" smtClean="0"/>
                        <a:t>Hazard Insurance</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710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lvl="1"/>
                      <a:r>
                        <a:rPr lang="en-US" sz="1200" dirty="0" smtClean="0"/>
                        <a:t>Property Preservation</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350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lvl="1"/>
                      <a:r>
                        <a:rPr lang="en-US" sz="1200" dirty="0" smtClean="0"/>
                        <a:t>Statutory Disbursements</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$1,500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r>
                        <a:rPr lang="en-US" sz="1200" b="1" dirty="0" smtClean="0"/>
                        <a:t>Subtotal</a:t>
                      </a:r>
                      <a:endParaRPr lang="en-US" sz="1200" b="1"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c>
                  <a:txBody>
                    <a:bodyPr/>
                    <a:lstStyle/>
                    <a:p>
                      <a:pPr lvl="1" algn="r"/>
                      <a:r>
                        <a:rPr lang="en-US" sz="1200" b="1" dirty="0" smtClean="0"/>
                        <a:t>$101,465</a:t>
                      </a:r>
                      <a:endParaRPr lang="en-US" sz="1200" b="1"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r>
              <a:tr h="339665">
                <a:tc>
                  <a:txBody>
                    <a:bodyPr/>
                    <a:lstStyle/>
                    <a:p>
                      <a:r>
                        <a:rPr lang="en-US" sz="1200" dirty="0" smtClean="0"/>
                        <a:t>Less Escrow Balance</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($240)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marL="0" lvl="0" algn="l" defTabSz="1018472" rtl="0" eaLnBrk="1" latinLnBrk="0" hangingPunct="1"/>
                      <a:r>
                        <a:rPr lang="en-US" sz="1200" b="1" kern="1200" dirty="0" smtClean="0">
                          <a:solidFill>
                            <a:schemeClr val="tx1"/>
                          </a:solidFill>
                          <a:latin typeface="+mn-lt"/>
                          <a:ea typeface="+mn-ea"/>
                          <a:cs typeface="+mn-cs"/>
                        </a:rPr>
                        <a:t>Total Possible Claim</a:t>
                      </a:r>
                      <a:endParaRPr lang="en-US" sz="1200" b="1" kern="1200" dirty="0">
                        <a:solidFill>
                          <a:schemeClr val="tx1"/>
                        </a:solidFill>
                        <a:latin typeface="+mn-lt"/>
                        <a:ea typeface="+mn-ea"/>
                        <a:cs typeface="+mn-cs"/>
                      </a:endParaRPr>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c>
                  <a:txBody>
                    <a:bodyPr/>
                    <a:lstStyle/>
                    <a:p>
                      <a:pPr marL="509235" lvl="1" algn="r" defTabSz="1018472" rtl="0" eaLnBrk="1" latinLnBrk="0" hangingPunct="1"/>
                      <a:r>
                        <a:rPr lang="en-US" sz="1200" b="1" kern="1200" dirty="0" smtClean="0">
                          <a:solidFill>
                            <a:schemeClr val="tx1"/>
                          </a:solidFill>
                          <a:latin typeface="+mn-lt"/>
                          <a:ea typeface="+mn-ea"/>
                          <a:cs typeface="+mn-cs"/>
                        </a:rPr>
                        <a:t>$101,225</a:t>
                      </a:r>
                      <a:endParaRPr lang="en-US" sz="1200" b="1" kern="1200" dirty="0">
                        <a:solidFill>
                          <a:schemeClr val="tx1"/>
                        </a:solidFill>
                        <a:latin typeface="+mn-lt"/>
                        <a:ea typeface="+mn-ea"/>
                        <a:cs typeface="+mn-cs"/>
                      </a:endParaRP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r>
              <a:tr h="339665">
                <a:tc>
                  <a:txBody>
                    <a:bodyPr/>
                    <a:lstStyle/>
                    <a:p>
                      <a:r>
                        <a:rPr lang="en-US" sz="1200" dirty="0" smtClean="0"/>
                        <a:t>Times Coverage Purchase (25%)</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 .25</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r>
                        <a:rPr lang="en-US" sz="1200" b="1" dirty="0" smtClean="0"/>
                        <a:t>Total Optional Claim Payment</a:t>
                      </a:r>
                      <a:endParaRPr lang="en-US" sz="1200" b="1"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tcPr>
                </a:tc>
                <a:tc>
                  <a:txBody>
                    <a:bodyPr/>
                    <a:lstStyle/>
                    <a:p>
                      <a:pPr lvl="1" algn="r"/>
                      <a:r>
                        <a:rPr lang="en-US" sz="1200" b="1" dirty="0" smtClean="0"/>
                        <a:t>$25,306</a:t>
                      </a:r>
                      <a:endParaRPr lang="en-US" sz="1200" b="1"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tcPr>
                </a:tc>
              </a:tr>
            </a:tbl>
          </a:graphicData>
        </a:graphic>
      </p:graphicFrame>
      <p:sp>
        <p:nvSpPr>
          <p:cNvPr id="4" name="TextBox 3"/>
          <p:cNvSpPr txBox="1"/>
          <p:nvPr/>
        </p:nvSpPr>
        <p:spPr>
          <a:xfrm>
            <a:off x="167640" y="1266192"/>
            <a:ext cx="2179320" cy="4154973"/>
          </a:xfrm>
          <a:prstGeom prst="rect">
            <a:avLst/>
          </a:prstGeom>
          <a:noFill/>
        </p:spPr>
        <p:txBody>
          <a:bodyPr wrap="square" lIns="91429" tIns="45715" rIns="91429" bIns="45715" rtlCol="0">
            <a:spAutoFit/>
          </a:bodyPr>
          <a:lstStyle/>
          <a:p>
            <a:r>
              <a:rPr lang="en-US" sz="1200" dirty="0" smtClean="0">
                <a:latin typeface="+mn-lt"/>
              </a:rPr>
              <a:t>If a borrower defaults on an insured loan and the lender forecloses and takes title to the property, there will be an </a:t>
            </a:r>
            <a:r>
              <a:rPr lang="en-US" sz="1200" b="1" dirty="0" smtClean="0">
                <a:latin typeface="+mn-lt"/>
              </a:rPr>
              <a:t>insurance claim</a:t>
            </a:r>
            <a:r>
              <a:rPr lang="en-US" sz="1200" dirty="0" smtClean="0">
                <a:latin typeface="+mn-lt"/>
              </a:rPr>
              <a:t>.</a:t>
            </a:r>
          </a:p>
          <a:p>
            <a:endParaRPr lang="en-US" sz="1200" dirty="0">
              <a:latin typeface="+mn-lt"/>
            </a:endParaRPr>
          </a:p>
          <a:p>
            <a:r>
              <a:rPr lang="en-US" sz="1200" dirty="0" smtClean="0">
                <a:latin typeface="+mn-lt"/>
              </a:rPr>
              <a:t>The MI usually has the option to pay the entire loan balance and expenses to the lender and take title to the property or to let the lender retain the title and pay the lesser of:</a:t>
            </a:r>
          </a:p>
          <a:p>
            <a:pPr marL="171450" indent="-171450">
              <a:buFont typeface="Arial" panose="020B0604020202020204" pitchFamily="34" charset="0"/>
              <a:buChar char="•"/>
            </a:pPr>
            <a:r>
              <a:rPr lang="en-US" sz="1200" dirty="0" smtClean="0">
                <a:latin typeface="+mn-lt"/>
              </a:rPr>
              <a:t>Actual losses plus expenses</a:t>
            </a:r>
          </a:p>
          <a:p>
            <a:pPr marL="171450" indent="-171450">
              <a:buFont typeface="Arial" panose="020B0604020202020204" pitchFamily="34" charset="0"/>
              <a:buChar char="•"/>
            </a:pPr>
            <a:r>
              <a:rPr lang="en-US" sz="1200" dirty="0" smtClean="0">
                <a:latin typeface="+mn-lt"/>
              </a:rPr>
              <a:t>The coverage amount. </a:t>
            </a:r>
          </a:p>
          <a:p>
            <a:endParaRPr lang="en-US" sz="1200" dirty="0" smtClean="0">
              <a:latin typeface="+mn-lt"/>
            </a:endParaRPr>
          </a:p>
          <a:p>
            <a:r>
              <a:rPr lang="en-US" sz="1200" dirty="0" smtClean="0">
                <a:latin typeface="+mn-lt"/>
              </a:rPr>
              <a:t>Statutory disbursements = statutory expenses related to the foreclosure process such as sale publications, title costs, filing fees, deed recordings, or sheriff’s expenses for conducting the sale. </a:t>
            </a:r>
            <a:endParaRPr lang="en-US" sz="1200" dirty="0">
              <a:latin typeface="+mn-lt"/>
            </a:endParaRPr>
          </a:p>
        </p:txBody>
      </p:sp>
    </p:spTree>
    <p:extLst>
      <p:ext uri="{BB962C8B-B14F-4D97-AF65-F5344CB8AC3E}">
        <p14:creationId xmlns:p14="http://schemas.microsoft.com/office/powerpoint/2010/main" val="32336005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Cello</a:t>
            </a:r>
            <a:r>
              <a:rPr lang="en-US" sz="900" i="1" dirty="0">
                <a:solidFill>
                  <a:srgbClr val="000000"/>
                </a:solidFill>
              </a:rPr>
              <a:t> </a:t>
            </a:r>
            <a:r>
              <a:rPr lang="en-US" sz="900" i="1" dirty="0" smtClean="0">
                <a:solidFill>
                  <a:srgbClr val="000000"/>
                </a:solidFill>
              </a:rPr>
              <a:t>analysis of MGIC data.</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THE EVOLUTION OF MI PREMIUMS: PRIVATE MI</a:t>
            </a:r>
            <a:endParaRPr lang="en-US" kern="0" dirty="0">
              <a:solidFill>
                <a:srgbClr val="FFFFFF"/>
              </a:solidFill>
            </a:endParaRPr>
          </a:p>
        </p:txBody>
      </p:sp>
      <p:sp>
        <p:nvSpPr>
          <p:cNvPr id="12" name="TextBox 11"/>
          <p:cNvSpPr txBox="1"/>
          <p:nvPr/>
        </p:nvSpPr>
        <p:spPr>
          <a:xfrm>
            <a:off x="167640" y="1266192"/>
            <a:ext cx="2179320" cy="4339639"/>
          </a:xfrm>
          <a:prstGeom prst="rect">
            <a:avLst/>
          </a:prstGeom>
          <a:noFill/>
        </p:spPr>
        <p:txBody>
          <a:bodyPr wrap="square" lIns="91429" tIns="45715" rIns="91429" bIns="45715" rtlCol="0">
            <a:spAutoFit/>
          </a:bodyPr>
          <a:lstStyle/>
          <a:p>
            <a:r>
              <a:rPr lang="en-US" sz="1200" dirty="0" smtClean="0">
                <a:latin typeface="+mn-lt"/>
              </a:rPr>
              <a:t>Over time, PMI premiums for higher credit borrowers (as captured by the FICO score) have decreased, whereas those for lower credit borrowers have increased.</a:t>
            </a:r>
          </a:p>
          <a:p>
            <a:endParaRPr lang="en-US" sz="1200" dirty="0">
              <a:latin typeface="+mn-lt"/>
            </a:endParaRPr>
          </a:p>
          <a:p>
            <a:r>
              <a:rPr lang="en-US" sz="1200" dirty="0" smtClean="0">
                <a:latin typeface="+mn-lt"/>
              </a:rPr>
              <a:t>These changes are partly in response to the new </a:t>
            </a:r>
            <a:r>
              <a:rPr lang="en-US" sz="1200" dirty="0" smtClean="0">
                <a:latin typeface="+mn-lt"/>
              </a:rPr>
              <a:t>set of standards</a:t>
            </a:r>
            <a:r>
              <a:rPr lang="en-US" sz="1200" dirty="0" smtClean="0">
                <a:latin typeface="+mn-lt"/>
              </a:rPr>
              <a:t> </a:t>
            </a:r>
            <a:r>
              <a:rPr lang="en-US" sz="1200" dirty="0" smtClean="0">
                <a:latin typeface="+mn-lt"/>
              </a:rPr>
              <a:t>rolled out by the </a:t>
            </a:r>
            <a:r>
              <a:rPr lang="en-US" sz="1200" dirty="0" smtClean="0">
                <a:latin typeface="+mn-lt"/>
              </a:rPr>
              <a:t>GSEs and FHFA to ensure that the MIs are strong counterparties to the GSEs.</a:t>
            </a:r>
          </a:p>
          <a:p>
            <a:endParaRPr lang="en-US" sz="1200" dirty="0">
              <a:latin typeface="+mn-lt"/>
            </a:endParaRPr>
          </a:p>
          <a:p>
            <a:r>
              <a:rPr lang="en-US" sz="1200" dirty="0" smtClean="0">
                <a:latin typeface="+mn-lt"/>
              </a:rPr>
              <a:t>These standards are known are </a:t>
            </a:r>
            <a:r>
              <a:rPr lang="en-US" sz="1200" b="1" dirty="0" smtClean="0">
                <a:latin typeface="+mn-lt"/>
              </a:rPr>
              <a:t>Private Mortgage Insurance Eligibility Requirements (PMIERs)</a:t>
            </a:r>
            <a:r>
              <a:rPr lang="en-US" sz="1200" dirty="0" smtClean="0">
                <a:latin typeface="+mn-lt"/>
              </a:rPr>
              <a:t>. </a:t>
            </a:r>
            <a:r>
              <a:rPr lang="en-US" sz="1200" dirty="0" smtClean="0">
                <a:latin typeface="+mn-lt"/>
              </a:rPr>
              <a:t>In addition to creating a set of operational standards for MIs, PMIERs establishes capital requirements based on the performance of mortgage loans in a stress test. </a:t>
            </a:r>
            <a:endParaRPr lang="en-US" sz="1200" dirty="0">
              <a:latin typeface="+mn-lt"/>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658" y="1943100"/>
            <a:ext cx="7346289" cy="4224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51915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Cello, FHA, Fannie Mae, MGIC.</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MI PREMIUMS: COMPARING PRIVATE AND GOVERNMENT MI</a:t>
            </a:r>
            <a:endParaRPr lang="en-US" kern="0" dirty="0">
              <a:solidFill>
                <a:srgbClr val="FFFFFF"/>
              </a:solidFill>
            </a:endParaRPr>
          </a:p>
        </p:txBody>
      </p:sp>
      <p:sp>
        <p:nvSpPr>
          <p:cNvPr id="12" name="TextBox 11"/>
          <p:cNvSpPr txBox="1"/>
          <p:nvPr/>
        </p:nvSpPr>
        <p:spPr>
          <a:xfrm>
            <a:off x="167640" y="1266192"/>
            <a:ext cx="2179320" cy="2308314"/>
          </a:xfrm>
          <a:prstGeom prst="rect">
            <a:avLst/>
          </a:prstGeom>
          <a:noFill/>
        </p:spPr>
        <p:txBody>
          <a:bodyPr wrap="square" lIns="91429" tIns="45715" rIns="91429" bIns="45715" rtlCol="0">
            <a:spAutoFit/>
          </a:bodyPr>
          <a:lstStyle/>
          <a:p>
            <a:r>
              <a:rPr lang="en-US" sz="1200" dirty="0" smtClean="0">
                <a:latin typeface="+mn-lt"/>
              </a:rPr>
              <a:t>The PMI and FHA programs are mostly competitive in the 90-97% LTV range. The PMI programs are more targeted towards higher FICO scores.</a:t>
            </a:r>
          </a:p>
          <a:p>
            <a:endParaRPr lang="en-US" sz="1200" dirty="0">
              <a:latin typeface="+mn-lt"/>
            </a:endParaRPr>
          </a:p>
          <a:p>
            <a:r>
              <a:rPr lang="en-US" sz="1200" dirty="0" smtClean="0">
                <a:latin typeface="+mn-lt"/>
              </a:rPr>
              <a:t>Assumptions:</a:t>
            </a:r>
          </a:p>
          <a:p>
            <a:pPr marL="171450" indent="-171450">
              <a:buFont typeface="Arial" panose="020B0604020202020204" pitchFamily="34" charset="0"/>
              <a:buChar char="•"/>
            </a:pPr>
            <a:r>
              <a:rPr lang="en-US" sz="1200" dirty="0" smtClean="0">
                <a:latin typeface="+mn-lt"/>
              </a:rPr>
              <a:t>1% LLPA = 25bps in yield</a:t>
            </a:r>
          </a:p>
          <a:p>
            <a:pPr marL="171450" indent="-171450">
              <a:buFont typeface="Arial" panose="020B0604020202020204" pitchFamily="34" charset="0"/>
              <a:buChar char="•"/>
            </a:pPr>
            <a:r>
              <a:rPr lang="en-US" sz="1200" dirty="0" smtClean="0">
                <a:latin typeface="+mn-lt"/>
              </a:rPr>
              <a:t>1% UFMIP = 8bps in yield (because the UFMIP can be rolled into the loan balance)</a:t>
            </a:r>
          </a:p>
          <a:p>
            <a:endParaRPr lang="en-US" sz="1200" dirty="0">
              <a:latin typeface="+mn-lt"/>
            </a:endParaRPr>
          </a:p>
        </p:txBody>
      </p:sp>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899" y="1266191"/>
            <a:ext cx="5162551" cy="5884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7650" y="3396570"/>
            <a:ext cx="2084295" cy="1624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07553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533514" y="1266192"/>
            <a:ext cx="7299106"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23" tIns="50923" rIns="101846" bIns="50923" rtlCol="0" anchor="ctr"/>
          <a:lstStyle/>
          <a:p>
            <a:pPr algn="ctr"/>
            <a:r>
              <a:rPr lang="en-US" sz="1300" b="1" dirty="0">
                <a:solidFill>
                  <a:srgbClr val="FFFFFF"/>
                </a:solidFill>
              </a:rPr>
              <a:t>Net IO% vs OAS </a:t>
            </a:r>
          </a:p>
          <a:p>
            <a:pPr algn="ctr"/>
            <a:r>
              <a:rPr lang="en-US" sz="1300" dirty="0">
                <a:solidFill>
                  <a:srgbClr val="FFFFFF"/>
                </a:solidFill>
              </a:rPr>
              <a:t>(June 2011 to October 2014)</a:t>
            </a:r>
          </a:p>
        </p:txBody>
      </p:sp>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Inside Mortgage Finance.</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THE GOVERNMENT’S SHARE OF THE MI MARKET HAS VARIED SIGNIFICANTLY OVER TIME</a:t>
            </a:r>
            <a:endParaRPr lang="en-US" kern="0" dirty="0">
              <a:solidFill>
                <a:srgbClr val="FFFFFF"/>
              </a:solidFill>
            </a:endParaRPr>
          </a:p>
        </p:txBody>
      </p:sp>
      <p:sp>
        <p:nvSpPr>
          <p:cNvPr id="11" name="Rectangle 10"/>
          <p:cNvSpPr/>
          <p:nvPr/>
        </p:nvSpPr>
        <p:spPr>
          <a:xfrm>
            <a:off x="2514600" y="1266192"/>
            <a:ext cx="7299104"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23" tIns="50923" rIns="101846" bIns="50923" rtlCol="0" anchor="ctr"/>
          <a:lstStyle/>
          <a:p>
            <a:pPr algn="ctr">
              <a:defRPr sz="1800" b="1" i="0" u="none" strike="noStrike" kern="1200" baseline="0">
                <a:solidFill>
                  <a:sysClr val="windowText" lastClr="000000"/>
                </a:solidFill>
                <a:latin typeface="+mn-lt"/>
                <a:ea typeface="+mn-ea"/>
                <a:cs typeface="+mn-cs"/>
              </a:defRPr>
            </a:pPr>
            <a:r>
              <a:rPr lang="en-US" sz="1300" dirty="0" smtClean="0">
                <a:solidFill>
                  <a:schemeClr val="bg1"/>
                </a:solidFill>
              </a:rPr>
              <a:t>NEW PRIMARY MORTGAGE INSURANCE MARKET SHARE</a:t>
            </a:r>
          </a:p>
          <a:p>
            <a:pPr algn="ctr">
              <a:defRPr sz="1800" b="1" i="0" u="none" strike="noStrike" kern="1200" baseline="0">
                <a:solidFill>
                  <a:sysClr val="windowText" lastClr="000000"/>
                </a:solidFill>
                <a:latin typeface="+mn-lt"/>
                <a:ea typeface="+mn-ea"/>
                <a:cs typeface="+mn-cs"/>
              </a:defRPr>
            </a:pPr>
            <a:r>
              <a:rPr lang="en-US" sz="1300" dirty="0" smtClean="0">
                <a:solidFill>
                  <a:schemeClr val="bg1"/>
                </a:solidFill>
              </a:rPr>
              <a:t>(2004-2015)</a:t>
            </a:r>
            <a:endParaRPr lang="en-US" sz="1300" dirty="0">
              <a:solidFill>
                <a:schemeClr val="bg1"/>
              </a:solidFill>
            </a:endParaRPr>
          </a:p>
        </p:txBody>
      </p:sp>
      <p:sp>
        <p:nvSpPr>
          <p:cNvPr id="12" name="TextBox 11"/>
          <p:cNvSpPr txBox="1"/>
          <p:nvPr/>
        </p:nvSpPr>
        <p:spPr>
          <a:xfrm>
            <a:off x="167640" y="1266192"/>
            <a:ext cx="2179320" cy="5262969"/>
          </a:xfrm>
          <a:prstGeom prst="rect">
            <a:avLst/>
          </a:prstGeom>
          <a:noFill/>
        </p:spPr>
        <p:txBody>
          <a:bodyPr wrap="square" lIns="91429" tIns="45715" rIns="91429" bIns="45715" rtlCol="0">
            <a:spAutoFit/>
          </a:bodyPr>
          <a:lstStyle/>
          <a:p>
            <a:r>
              <a:rPr lang="en-US" sz="1200" dirty="0" smtClean="0">
                <a:latin typeface="+mn-lt"/>
              </a:rPr>
              <a:t>The PMI share of Primary MI was very high prior to the Housing Crisis of 2007-2009 as a significant number of borrowers migrated away from the FHA program to private-label sectors such as Alt-A and Subprime.</a:t>
            </a:r>
          </a:p>
          <a:p>
            <a:endParaRPr lang="en-US" sz="1200" dirty="0">
              <a:latin typeface="+mn-lt"/>
            </a:endParaRPr>
          </a:p>
          <a:p>
            <a:r>
              <a:rPr lang="en-US" sz="1200" dirty="0" smtClean="0">
                <a:latin typeface="+mn-lt"/>
              </a:rPr>
              <a:t>Over 2007-2009, the collapse of the housing markets and the ensuing </a:t>
            </a:r>
            <a:r>
              <a:rPr lang="en-US" sz="1200" dirty="0" smtClean="0">
                <a:latin typeface="+mn-lt"/>
              </a:rPr>
              <a:t>wave of defaults led to a significant pullback from private mortgage insurers and a correspondingly large increase in the </a:t>
            </a:r>
            <a:r>
              <a:rPr lang="en-US" sz="1200" dirty="0" smtClean="0">
                <a:latin typeface="+mn-lt"/>
              </a:rPr>
              <a:t>FHA’s </a:t>
            </a:r>
            <a:r>
              <a:rPr lang="en-US" sz="1200" dirty="0" smtClean="0">
                <a:latin typeface="+mn-lt"/>
              </a:rPr>
              <a:t>market share.</a:t>
            </a:r>
            <a:endParaRPr lang="en-US" sz="1200" dirty="0">
              <a:latin typeface="+mn-lt"/>
            </a:endParaRPr>
          </a:p>
          <a:p>
            <a:endParaRPr lang="en-US" sz="1200" dirty="0">
              <a:latin typeface="+mn-lt"/>
            </a:endParaRPr>
          </a:p>
          <a:p>
            <a:r>
              <a:rPr lang="en-US" sz="1200" dirty="0" smtClean="0">
                <a:latin typeface="+mn-lt"/>
              </a:rPr>
              <a:t>Since 2009, there has been a gradual increase in PMI share and a steady decrease in FHA share as private mortgage insurers </a:t>
            </a:r>
            <a:r>
              <a:rPr lang="en-US" sz="1200" dirty="0" smtClean="0">
                <a:latin typeface="+mn-lt"/>
              </a:rPr>
              <a:t>have been</a:t>
            </a:r>
            <a:r>
              <a:rPr lang="en-US" sz="1200" dirty="0" smtClean="0">
                <a:latin typeface="+mn-lt"/>
              </a:rPr>
              <a:t> </a:t>
            </a:r>
            <a:r>
              <a:rPr lang="en-US" sz="1200" dirty="0" smtClean="0">
                <a:latin typeface="+mn-lt"/>
              </a:rPr>
              <a:t>gradually restored to health.</a:t>
            </a:r>
            <a:endParaRPr lang="en-US" sz="1200" dirty="0">
              <a:latin typeface="+mn-lt"/>
            </a:endParaRPr>
          </a:p>
          <a:p>
            <a:endParaRPr lang="en-US" sz="1200" dirty="0" smtClean="0">
              <a:latin typeface="+mn-lt"/>
            </a:endParaRPr>
          </a:p>
          <a:p>
            <a:r>
              <a:rPr lang="en-US" sz="1200" dirty="0" smtClean="0">
                <a:latin typeface="+mn-lt"/>
              </a:rPr>
              <a:t>In 2015, FHA’s declining market share was reversed by a cut in its mortgage insurance premiums.</a:t>
            </a:r>
            <a:endParaRPr lang="en-US" sz="1200" dirty="0">
              <a:latin typeface="+mn-lt"/>
            </a:endParaRPr>
          </a:p>
        </p:txBody>
      </p:sp>
      <p:graphicFrame>
        <p:nvGraphicFramePr>
          <p:cNvPr id="15" name="Chart 14"/>
          <p:cNvGraphicFramePr>
            <a:graphicFrameLocks/>
          </p:cNvGraphicFramePr>
          <p:nvPr>
            <p:extLst>
              <p:ext uri="{D42A27DB-BD31-4B8C-83A1-F6EECF244321}">
                <p14:modId xmlns:p14="http://schemas.microsoft.com/office/powerpoint/2010/main" val="2754265478"/>
              </p:ext>
            </p:extLst>
          </p:nvPr>
        </p:nvGraphicFramePr>
        <p:xfrm>
          <a:off x="2790825" y="2514600"/>
          <a:ext cx="6696075" cy="38290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546131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565" y="244312"/>
            <a:ext cx="6648137" cy="609918"/>
          </a:xfrm>
        </p:spPr>
        <p:txBody>
          <a:bodyPr/>
          <a:lstStyle/>
          <a:p>
            <a:r>
              <a:rPr lang="en-US" dirty="0" smtClean="0"/>
              <a:t>PRIVATE &amp; GOVERNMENT MI MOSTLY COMPETES IN THE 90-97% LTV RANGE</a:t>
            </a:r>
            <a:endParaRPr lang="en-US" sz="1200" b="0" dirty="0"/>
          </a:p>
        </p:txBody>
      </p:sp>
      <p:sp>
        <p:nvSpPr>
          <p:cNvPr id="3" name="TextBox 2"/>
          <p:cNvSpPr txBox="1"/>
          <p:nvPr/>
        </p:nvSpPr>
        <p:spPr>
          <a:xfrm>
            <a:off x="145657" y="1218129"/>
            <a:ext cx="2168665" cy="2492990"/>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PMIs and the FHA compete for the same borrowers in the 90-97% LTV range.</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Changes in the pricing of one program can thus have an impact on the prepayment rates of both programs. </a:t>
            </a: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FHA SHARE OF HIGH LTV REFINANCINGS</a:t>
            </a:r>
          </a:p>
          <a:p>
            <a:pPr algn="ctr"/>
            <a:r>
              <a:rPr lang="en-US" sz="1300" dirty="0" smtClean="0">
                <a:solidFill>
                  <a:srgbClr val="FFFFFF"/>
                </a:solidFill>
              </a:rPr>
              <a:t>(January 2013 – January 2016) </a:t>
            </a:r>
          </a:p>
        </p:txBody>
      </p:sp>
      <p:sp>
        <p:nvSpPr>
          <p:cNvPr id="4" name="TextBox 3"/>
          <p:cNvSpPr txBox="1"/>
          <p:nvPr/>
        </p:nvSpPr>
        <p:spPr>
          <a:xfrm>
            <a:off x="2314322" y="7367199"/>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14" name="Chart 13"/>
          <p:cNvGraphicFramePr>
            <a:graphicFrameLocks/>
          </p:cNvGraphicFramePr>
          <p:nvPr>
            <p:extLst>
              <p:ext uri="{D42A27DB-BD31-4B8C-83A1-F6EECF244321}">
                <p14:modId xmlns:p14="http://schemas.microsoft.com/office/powerpoint/2010/main" val="727496045"/>
              </p:ext>
            </p:extLst>
          </p:nvPr>
        </p:nvGraphicFramePr>
        <p:xfrm>
          <a:off x="2676525" y="2514600"/>
          <a:ext cx="6715125" cy="3752850"/>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p:cNvSpPr txBox="1"/>
          <p:nvPr/>
        </p:nvSpPr>
        <p:spPr>
          <a:xfrm>
            <a:off x="2676524" y="6405174"/>
            <a:ext cx="6505575" cy="646331"/>
          </a:xfrm>
          <a:prstGeom prst="rect">
            <a:avLst/>
          </a:prstGeom>
          <a:noFill/>
        </p:spPr>
        <p:txBody>
          <a:bodyPr wrap="square" rtlCol="0">
            <a:spAutoFit/>
          </a:bodyPr>
          <a:lstStyle/>
          <a:p>
            <a:r>
              <a:rPr lang="en-US" sz="900" dirty="0" smtClean="0">
                <a:latin typeface="Calibri" panose="020F0502020204030204" pitchFamily="34" charset="0"/>
              </a:rPr>
              <a:t>Conventional High LTV loans: All newly originated refinanced loans with LTVs &gt;80% across all FNMA/FHLMC 30-year pool types (CL, CQ, U6, U9 etc.) </a:t>
            </a:r>
          </a:p>
          <a:p>
            <a:endParaRPr lang="en-US" sz="900" dirty="0" smtClean="0">
              <a:latin typeface="Calibri" panose="020F0502020204030204" pitchFamily="34" charset="0"/>
            </a:endParaRPr>
          </a:p>
          <a:p>
            <a:r>
              <a:rPr lang="en-US" sz="900" dirty="0" smtClean="0">
                <a:latin typeface="Calibri" panose="020F0502020204030204" pitchFamily="34" charset="0"/>
              </a:rPr>
              <a:t>FHA: All newly originated 30-year FHA Refinance loans.</a:t>
            </a:r>
            <a:endParaRPr lang="en-US" sz="900" dirty="0">
              <a:latin typeface="Calibri" panose="020F0502020204030204" pitchFamily="34" charset="0"/>
            </a:endParaRPr>
          </a:p>
        </p:txBody>
      </p:sp>
      <p:sp>
        <p:nvSpPr>
          <p:cNvPr id="5" name="TextBox 4"/>
          <p:cNvSpPr txBox="1"/>
          <p:nvPr/>
        </p:nvSpPr>
        <p:spPr>
          <a:xfrm>
            <a:off x="6324600" y="3419475"/>
            <a:ext cx="1171575" cy="584775"/>
          </a:xfrm>
          <a:prstGeom prst="rect">
            <a:avLst/>
          </a:prstGeom>
          <a:noFill/>
        </p:spPr>
        <p:txBody>
          <a:bodyPr wrap="square" rtlCol="0">
            <a:spAutoFit/>
          </a:bodyPr>
          <a:lstStyle/>
          <a:p>
            <a:r>
              <a:rPr lang="en-US" sz="1600" dirty="0" smtClean="0">
                <a:latin typeface="+mn-lt"/>
              </a:rPr>
              <a:t>FHA MIP Rate Cut</a:t>
            </a:r>
            <a:endParaRPr lang="en-US" sz="1600" dirty="0">
              <a:latin typeface="+mn-lt"/>
            </a:endParaRPr>
          </a:p>
        </p:txBody>
      </p:sp>
      <p:cxnSp>
        <p:nvCxnSpPr>
          <p:cNvPr id="7" name="Straight Arrow Connector 6"/>
          <p:cNvCxnSpPr/>
          <p:nvPr/>
        </p:nvCxnSpPr>
        <p:spPr>
          <a:xfrm>
            <a:off x="7058025" y="4065806"/>
            <a:ext cx="9525" cy="91576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8448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241800" y="2368550"/>
            <a:ext cx="5257800" cy="4495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SNAPSHOT OF THE CURRENT PMI INDUSTRY</a:t>
            </a:r>
            <a:r>
              <a:rPr lang="en-US" dirty="0"/>
              <a:t/>
            </a:r>
            <a:br>
              <a:rPr lang="en-US" dirty="0"/>
            </a:br>
            <a:endParaRPr lang="en-US" dirty="0"/>
          </a:p>
        </p:txBody>
      </p:sp>
      <p:graphicFrame>
        <p:nvGraphicFramePr>
          <p:cNvPr id="85" name="Content Placeholder 84"/>
          <p:cNvGraphicFramePr>
            <a:graphicFrameLocks noGrp="1"/>
          </p:cNvGraphicFramePr>
          <p:nvPr>
            <p:ph idx="1"/>
            <p:extLst>
              <p:ext uri="{D42A27DB-BD31-4B8C-83A1-F6EECF244321}">
                <p14:modId xmlns:p14="http://schemas.microsoft.com/office/powerpoint/2010/main" val="1964158325"/>
              </p:ext>
            </p:extLst>
          </p:nvPr>
        </p:nvGraphicFramePr>
        <p:xfrm>
          <a:off x="2590800" y="1235075"/>
          <a:ext cx="7209659" cy="5998120"/>
        </p:xfrm>
        <a:graphic>
          <a:graphicData uri="http://schemas.openxmlformats.org/drawingml/2006/table">
            <a:tbl>
              <a:tblPr firstRow="1">
                <a:tableStyleId>{3B4B98B0-60AC-42C2-AFA5-B58CD77FA1E5}</a:tableStyleId>
              </a:tblPr>
              <a:tblGrid>
                <a:gridCol w="1692779"/>
                <a:gridCol w="762000"/>
                <a:gridCol w="2377440"/>
                <a:gridCol w="2377440"/>
              </a:tblGrid>
              <a:tr h="685801">
                <a:tc>
                  <a:txBody>
                    <a:bodyPr/>
                    <a:lstStyle/>
                    <a:p>
                      <a:r>
                        <a:rPr lang="en-US" sz="1100" dirty="0" smtClean="0">
                          <a:solidFill>
                            <a:schemeClr val="bg1"/>
                          </a:solidFill>
                        </a:rPr>
                        <a:t>Corporation</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2015</a:t>
                      </a:r>
                      <a:r>
                        <a:rPr lang="en-US" sz="1100" baseline="0" dirty="0" smtClean="0">
                          <a:solidFill>
                            <a:schemeClr val="bg1"/>
                          </a:solidFill>
                        </a:rPr>
                        <a:t> Primary Market Share*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URL</a:t>
                      </a:r>
                    </a:p>
                  </a:txBody>
                  <a:tcPr anchor="ctr">
                    <a:solidFill>
                      <a:schemeClr val="accent2">
                        <a:lumMod val="50000"/>
                      </a:schemeClr>
                    </a:solidFill>
                  </a:tcPr>
                </a:tc>
                <a:tc>
                  <a:txBody>
                    <a:bodyPr/>
                    <a:lstStyle/>
                    <a:p>
                      <a:pPr algn="ctr"/>
                      <a:r>
                        <a:rPr lang="en-US" sz="1100" dirty="0" smtClean="0">
                          <a:solidFill>
                            <a:schemeClr val="bg1"/>
                          </a:solidFill>
                        </a:rPr>
                        <a:t>Comments</a:t>
                      </a:r>
                      <a:endParaRPr lang="en-US" sz="1100" dirty="0">
                        <a:solidFill>
                          <a:schemeClr val="bg1"/>
                        </a:solidFill>
                      </a:endParaRPr>
                    </a:p>
                  </a:txBody>
                  <a:tcPr anchor="ctr">
                    <a:solidFill>
                      <a:schemeClr val="accent2">
                        <a:lumMod val="50000"/>
                      </a:schemeClr>
                    </a:solidFill>
                  </a:tcP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United</a:t>
                      </a:r>
                      <a:r>
                        <a:rPr lang="en-US" sz="1100" b="1" baseline="0" dirty="0" smtClean="0">
                          <a:solidFill>
                            <a:schemeClr val="tx1"/>
                          </a:solidFill>
                        </a:rPr>
                        <a:t> Guaranty</a:t>
                      </a:r>
                      <a:endParaRPr lang="en-US" sz="1100" b="1" dirty="0" smtClean="0">
                        <a:solidFill>
                          <a:schemeClr val="tx1"/>
                        </a:solidFill>
                      </a:endParaRPr>
                    </a:p>
                  </a:txBody>
                  <a:tcPr anchor="ctr">
                    <a:noFill/>
                  </a:tcPr>
                </a:tc>
                <a:tc>
                  <a:txBody>
                    <a:bodyPr/>
                    <a:lstStyle/>
                    <a:p>
                      <a:pPr algn="ctr"/>
                      <a:r>
                        <a:rPr lang="en-US" sz="1100" dirty="0" smtClean="0">
                          <a:solidFill>
                            <a:schemeClr val="tx1"/>
                          </a:solidFill>
                        </a:rPr>
                        <a:t>24%</a:t>
                      </a:r>
                      <a:endParaRPr lang="en-US" sz="1100" dirty="0">
                        <a:solidFill>
                          <a:schemeClr val="tx1"/>
                        </a:solidFill>
                      </a:endParaRPr>
                    </a:p>
                  </a:txBody>
                  <a:tcPr anchor="ctr"/>
                </a:tc>
                <a:tc>
                  <a:txBody>
                    <a:bodyPr/>
                    <a:lstStyle/>
                    <a:p>
                      <a:pPr algn="ctr"/>
                      <a:r>
                        <a:rPr lang="en-US" sz="1100" b="0" i="0" kern="1200" dirty="0" smtClean="0">
                          <a:solidFill>
                            <a:schemeClr val="tx1"/>
                          </a:solidFill>
                          <a:effectLst/>
                          <a:latin typeface="+mn-lt"/>
                          <a:ea typeface="+mn-ea"/>
                          <a:cs typeface="+mn-cs"/>
                          <a:hlinkClick r:id="rId3"/>
                        </a:rPr>
                        <a:t>https://www.ugcorp.com/</a:t>
                      </a:r>
                      <a:endParaRPr lang="en-US" sz="1100" dirty="0">
                        <a:solidFill>
                          <a:schemeClr val="tx1"/>
                        </a:solidFill>
                      </a:endParaRPr>
                    </a:p>
                  </a:txBody>
                  <a:tcPr anchor="ctr"/>
                </a:tc>
                <a:tc>
                  <a:txBody>
                    <a:bodyPr/>
                    <a:lstStyle/>
                    <a:p>
                      <a:pPr algn="l"/>
                      <a:r>
                        <a:rPr lang="en-US" sz="1100" dirty="0" smtClean="0">
                          <a:solidFill>
                            <a:schemeClr val="tx1"/>
                          </a:solidFill>
                        </a:rPr>
                        <a:t>Fill</a:t>
                      </a:r>
                      <a:r>
                        <a:rPr lang="en-US" sz="1100" baseline="0" dirty="0" smtClean="0">
                          <a:solidFill>
                            <a:schemeClr val="tx1"/>
                          </a:solidFill>
                        </a:rPr>
                        <a:t> in web form to obtain quotes</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Mortgage</a:t>
                      </a:r>
                      <a:r>
                        <a:rPr lang="en-US" sz="1100" b="1" baseline="0" dirty="0" smtClean="0">
                          <a:solidFill>
                            <a:schemeClr val="tx1"/>
                          </a:solidFill>
                        </a:rPr>
                        <a:t> Guaranty Insurance Corp</a:t>
                      </a:r>
                      <a:endParaRPr lang="en-US" sz="1100" b="1" dirty="0" smtClean="0">
                        <a:solidFill>
                          <a:schemeClr val="tx1"/>
                        </a:solidFill>
                      </a:endParaRPr>
                    </a:p>
                  </a:txBody>
                  <a:tcPr anchor="ctr">
                    <a:solidFill>
                      <a:schemeClr val="bg2"/>
                    </a:solidFill>
                  </a:tcPr>
                </a:tc>
                <a:tc>
                  <a:txBody>
                    <a:bodyPr/>
                    <a:lstStyle/>
                    <a:p>
                      <a:pPr algn="ctr"/>
                      <a:r>
                        <a:rPr lang="en-US" sz="1100" dirty="0" smtClean="0">
                          <a:solidFill>
                            <a:schemeClr val="tx1"/>
                          </a:solidFill>
                        </a:rPr>
                        <a:t>20</a:t>
                      </a:r>
                      <a:endParaRPr lang="en-US" sz="1100" dirty="0">
                        <a:solidFill>
                          <a:schemeClr val="tx1"/>
                        </a:solidFill>
                      </a:endParaRPr>
                    </a:p>
                  </a:txBody>
                  <a:tcPr anchor="ctr">
                    <a:solidFill>
                      <a:schemeClr val="bg2"/>
                    </a:solidFill>
                  </a:tcPr>
                </a:tc>
                <a:tc>
                  <a:txBody>
                    <a:bodyPr/>
                    <a:lstStyle/>
                    <a:p>
                      <a:pPr algn="ctr"/>
                      <a:r>
                        <a:rPr lang="en-US" sz="1100" b="0" i="0" kern="1200" dirty="0" smtClean="0">
                          <a:solidFill>
                            <a:schemeClr val="tx1"/>
                          </a:solidFill>
                          <a:effectLst/>
                          <a:latin typeface="+mn-lt"/>
                          <a:ea typeface="+mn-ea"/>
                          <a:cs typeface="+mn-cs"/>
                          <a:hlinkClick r:id="rId4"/>
                        </a:rPr>
                        <a:t>https://www.mgic.com/rates/rate-cards.html</a:t>
                      </a:r>
                      <a:endParaRPr lang="en-US" sz="1100" dirty="0">
                        <a:solidFill>
                          <a:schemeClr val="tx1"/>
                        </a:solidFill>
                      </a:endParaRPr>
                    </a:p>
                  </a:txBody>
                  <a:tcPr anchor="ctr">
                    <a:solidFill>
                      <a:schemeClr val="bg2"/>
                    </a:solidFill>
                  </a:tcPr>
                </a:tc>
                <a:tc>
                  <a:txBody>
                    <a:bodyPr/>
                    <a:lstStyle/>
                    <a:p>
                      <a:pPr algn="ctr"/>
                      <a:r>
                        <a:rPr lang="en-US" sz="1100" dirty="0" smtClean="0">
                          <a:solidFill>
                            <a:schemeClr val="tx1"/>
                          </a:solidFill>
                        </a:rPr>
                        <a:t>Resource</a:t>
                      </a:r>
                      <a:r>
                        <a:rPr lang="en-US" sz="1100" baseline="0" dirty="0" smtClean="0">
                          <a:solidFill>
                            <a:schemeClr val="tx1"/>
                          </a:solidFill>
                        </a:rPr>
                        <a:t> for historical MI levels</a:t>
                      </a:r>
                      <a:endParaRPr lang="en-US" sz="1100" dirty="0">
                        <a:solidFill>
                          <a:schemeClr val="tx1"/>
                        </a:solidFill>
                      </a:endParaRPr>
                    </a:p>
                  </a:txBody>
                  <a:tcPr anchor="ctr">
                    <a:solidFill>
                      <a:schemeClr val="bg2"/>
                    </a:solidFill>
                  </a:tcP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Radian</a:t>
                      </a:r>
                      <a:r>
                        <a:rPr lang="en-US" sz="1100" b="1" baseline="0" dirty="0" smtClean="0">
                          <a:solidFill>
                            <a:schemeClr val="tx1"/>
                          </a:solidFill>
                        </a:rPr>
                        <a:t> Guaranty Inc.</a:t>
                      </a:r>
                      <a:endParaRPr lang="en-US" sz="1100" b="1" dirty="0" smtClean="0">
                        <a:solidFill>
                          <a:schemeClr val="tx1"/>
                        </a:solidFill>
                      </a:endParaRPr>
                    </a:p>
                  </a:txBody>
                  <a:tcPr anchor="ctr">
                    <a:noFill/>
                  </a:tcPr>
                </a:tc>
                <a:tc>
                  <a:txBody>
                    <a:bodyPr/>
                    <a:lstStyle/>
                    <a:p>
                      <a:pPr algn="ctr"/>
                      <a:r>
                        <a:rPr lang="en-US" sz="1100" dirty="0" smtClean="0">
                          <a:solidFill>
                            <a:schemeClr val="tx1"/>
                          </a:solidFill>
                        </a:rPr>
                        <a:t>19</a:t>
                      </a:r>
                      <a:endParaRPr lang="en-US" sz="1100" dirty="0">
                        <a:solidFill>
                          <a:schemeClr val="tx1"/>
                        </a:solidFill>
                      </a:endParaRPr>
                    </a:p>
                  </a:txBody>
                  <a:tcPr anchor="ctr"/>
                </a:tc>
                <a:tc>
                  <a:txBody>
                    <a:bodyPr/>
                    <a:lstStyle/>
                    <a:p>
                      <a:pPr algn="ctr"/>
                      <a:r>
                        <a:rPr lang="en-US" sz="1100" b="0" i="0" kern="1200" dirty="0" smtClean="0">
                          <a:solidFill>
                            <a:schemeClr val="tx1"/>
                          </a:solidFill>
                          <a:effectLst/>
                          <a:latin typeface="+mn-lt"/>
                          <a:ea typeface="+mn-ea"/>
                          <a:cs typeface="+mn-cs"/>
                          <a:hlinkClick r:id="rId5"/>
                        </a:rPr>
                        <a:t>http://www.radian.biz/page?name=RatesAndGuidelinesNew</a:t>
                      </a:r>
                      <a:endParaRPr lang="en-US" sz="1100" dirty="0">
                        <a:solidFill>
                          <a:schemeClr val="tx1"/>
                        </a:solidFill>
                      </a:endParaRPr>
                    </a:p>
                  </a:txBody>
                  <a:tcPr anchor="ctr"/>
                </a:tc>
                <a:tc>
                  <a:txBody>
                    <a:bodyPr/>
                    <a:lstStyle/>
                    <a:p>
                      <a:pPr algn="ctr"/>
                      <a:r>
                        <a:rPr lang="en-US" sz="1100" baseline="0" dirty="0" smtClean="0">
                          <a:solidFill>
                            <a:schemeClr val="tx1"/>
                          </a:solidFill>
                        </a:rPr>
                        <a:t>“BPMI Prime Rates”</a:t>
                      </a:r>
                      <a:endParaRPr lang="en-US" sz="1100" dirty="0">
                        <a:solidFill>
                          <a:schemeClr val="tx1"/>
                        </a:solidFill>
                      </a:endParaRPr>
                    </a:p>
                  </a:txBody>
                  <a:tcPr anchor="ctr"/>
                </a:tc>
              </a:tr>
              <a:tr h="906754">
                <a:tc>
                  <a:txBody>
                    <a:bodyPr/>
                    <a:lstStyle/>
                    <a:p>
                      <a:r>
                        <a:rPr lang="en-US" sz="1100" b="1" dirty="0" smtClean="0">
                          <a:solidFill>
                            <a:schemeClr val="tx1"/>
                          </a:solidFill>
                        </a:rPr>
                        <a:t>Genworth</a:t>
                      </a:r>
                      <a:r>
                        <a:rPr lang="en-US" sz="1100" b="1" baseline="0" dirty="0" smtClean="0">
                          <a:solidFill>
                            <a:schemeClr val="tx1"/>
                          </a:solidFill>
                        </a:rPr>
                        <a:t> Financial</a:t>
                      </a:r>
                      <a:endParaRPr lang="en-US" sz="1100" b="1" dirty="0">
                        <a:solidFill>
                          <a:schemeClr val="tx1"/>
                        </a:solidFill>
                      </a:endParaRPr>
                    </a:p>
                  </a:txBody>
                  <a:tcPr anchor="ctr">
                    <a:solidFill>
                      <a:schemeClr val="bg2"/>
                    </a:solidFill>
                  </a:tcPr>
                </a:tc>
                <a:tc>
                  <a:txBody>
                    <a:bodyPr/>
                    <a:lstStyle/>
                    <a:p>
                      <a:pPr algn="ctr"/>
                      <a:r>
                        <a:rPr lang="en-US" sz="1100" dirty="0" smtClean="0"/>
                        <a:t>15</a:t>
                      </a:r>
                      <a:endParaRPr lang="en-US" sz="1100" dirty="0">
                        <a:solidFill>
                          <a:schemeClr val="tx1"/>
                        </a:solidFill>
                      </a:endParaRPr>
                    </a:p>
                  </a:txBody>
                  <a:tcPr anchor="ctr">
                    <a:solidFill>
                      <a:schemeClr val="bg2"/>
                    </a:solidFill>
                  </a:tcPr>
                </a:tc>
                <a:tc>
                  <a:txBody>
                    <a:bodyPr/>
                    <a:lstStyle/>
                    <a:p>
                      <a:pPr algn="ctr"/>
                      <a:r>
                        <a:rPr lang="en-US" sz="1100" b="0" i="0" kern="1200" dirty="0" smtClean="0">
                          <a:solidFill>
                            <a:schemeClr val="tx1"/>
                          </a:solidFill>
                          <a:effectLst/>
                          <a:latin typeface="+mn-lt"/>
                          <a:ea typeface="+mn-ea"/>
                          <a:cs typeface="+mn-cs"/>
                          <a:hlinkClick r:id="rId6"/>
                        </a:rPr>
                        <a:t>https://mortgageinsurance.genworth.com/RatesAndGuidelines/RateCards.aspx</a:t>
                      </a:r>
                      <a:endParaRPr lang="en-US" sz="1100" dirty="0">
                        <a:solidFill>
                          <a:schemeClr val="tx1"/>
                        </a:solidFill>
                      </a:endParaRPr>
                    </a:p>
                  </a:txBody>
                  <a:tcPr anchor="ctr">
                    <a:solidFill>
                      <a:schemeClr val="bg2"/>
                    </a:solidFill>
                  </a:tcPr>
                </a:tc>
                <a:tc>
                  <a:txBody>
                    <a:bodyPr/>
                    <a:lstStyle/>
                    <a:p>
                      <a:pPr algn="ctr"/>
                      <a:r>
                        <a:rPr lang="en-US" sz="1100" baseline="0" dirty="0" smtClean="0">
                          <a:solidFill>
                            <a:schemeClr val="tx1"/>
                          </a:solidFill>
                        </a:rPr>
                        <a:t>“Monthly Premium MI”</a:t>
                      </a:r>
                      <a:endParaRPr lang="en-US" sz="1100" dirty="0">
                        <a:solidFill>
                          <a:schemeClr val="tx1"/>
                        </a:solidFill>
                      </a:endParaRPr>
                    </a:p>
                  </a:txBody>
                  <a:tcPr anchor="ctr">
                    <a:solidFill>
                      <a:schemeClr val="bg2"/>
                    </a:solidFill>
                  </a:tcPr>
                </a:tc>
              </a:tr>
              <a:tr h="721561">
                <a:tc>
                  <a:txBody>
                    <a:bodyPr/>
                    <a:lstStyle/>
                    <a:p>
                      <a:r>
                        <a:rPr lang="en-US" sz="1100" b="1" dirty="0" err="1" smtClean="0">
                          <a:solidFill>
                            <a:schemeClr val="tx1"/>
                          </a:solidFill>
                        </a:rPr>
                        <a:t>Esssent</a:t>
                      </a:r>
                      <a:r>
                        <a:rPr lang="en-US" sz="1100" b="1" baseline="0" dirty="0" smtClean="0">
                          <a:solidFill>
                            <a:schemeClr val="tx1"/>
                          </a:solidFill>
                        </a:rPr>
                        <a:t> Guaranty</a:t>
                      </a:r>
                      <a:endParaRPr lang="en-US" sz="1100" b="1" dirty="0">
                        <a:solidFill>
                          <a:schemeClr val="tx1"/>
                        </a:solidFill>
                      </a:endParaRPr>
                    </a:p>
                  </a:txBody>
                  <a:tcPr anchor="ctr">
                    <a:noFill/>
                  </a:tcPr>
                </a:tc>
                <a:tc>
                  <a:txBody>
                    <a:bodyPr/>
                    <a:lstStyle/>
                    <a:p>
                      <a:pPr algn="ctr"/>
                      <a:r>
                        <a:rPr lang="en-US" sz="1100" dirty="0" smtClean="0"/>
                        <a:t>12</a:t>
                      </a:r>
                      <a:endParaRPr lang="en-US" sz="1100" dirty="0">
                        <a:solidFill>
                          <a:schemeClr val="tx1"/>
                        </a:solidFill>
                      </a:endParaRPr>
                    </a:p>
                  </a:txBody>
                  <a:tcPr anchor="ctr"/>
                </a:tc>
                <a:tc>
                  <a:txBody>
                    <a:bodyPr/>
                    <a:lstStyle/>
                    <a:p>
                      <a:pPr algn="ctr"/>
                      <a:r>
                        <a:rPr lang="en-US" sz="1100" b="0" i="0" kern="1200" dirty="0" smtClean="0">
                          <a:solidFill>
                            <a:schemeClr val="tx1"/>
                          </a:solidFill>
                          <a:effectLst/>
                          <a:latin typeface="+mn-lt"/>
                          <a:ea typeface="+mn-ea"/>
                          <a:cs typeface="+mn-cs"/>
                          <a:hlinkClick r:id="rId7"/>
                        </a:rPr>
                        <a:t>https://www.essent.us/rates-guidelines</a:t>
                      </a:r>
                      <a:endParaRPr lang="en-US" sz="1100" dirty="0">
                        <a:solidFill>
                          <a:schemeClr val="tx1"/>
                        </a:solidFill>
                      </a:endParaRPr>
                    </a:p>
                  </a:txBody>
                  <a:tcPr anchor="ctr"/>
                </a:tc>
                <a:tc>
                  <a:txBody>
                    <a:bodyPr/>
                    <a:lstStyle/>
                    <a:p>
                      <a:pPr algn="ctr"/>
                      <a:r>
                        <a:rPr lang="en-US" sz="1100" baseline="0" dirty="0" smtClean="0">
                          <a:solidFill>
                            <a:schemeClr val="tx1"/>
                          </a:solidFill>
                        </a:rPr>
                        <a:t>“Borrower-Paid Mortgage Insurance Monthly” </a:t>
                      </a:r>
                      <a:endParaRPr lang="en-US" sz="1100" dirty="0">
                        <a:solidFill>
                          <a:schemeClr val="tx1"/>
                        </a:solidFill>
                      </a:endParaRPr>
                    </a:p>
                  </a:txBody>
                  <a:tcPr anchor="ctr"/>
                </a:tc>
              </a:tr>
              <a:tr h="721561">
                <a:tc>
                  <a:txBody>
                    <a:bodyPr/>
                    <a:lstStyle/>
                    <a:p>
                      <a:r>
                        <a:rPr lang="en-US" sz="1100" b="1" dirty="0" smtClean="0">
                          <a:solidFill>
                            <a:schemeClr val="tx1"/>
                          </a:solidFill>
                        </a:rPr>
                        <a:t>National</a:t>
                      </a:r>
                      <a:r>
                        <a:rPr lang="en-US" sz="1100" b="1" baseline="0" dirty="0" smtClean="0">
                          <a:solidFill>
                            <a:schemeClr val="tx1"/>
                          </a:solidFill>
                        </a:rPr>
                        <a:t> MI</a:t>
                      </a:r>
                      <a:endParaRPr lang="en-US" sz="1100" b="1" dirty="0">
                        <a:solidFill>
                          <a:schemeClr val="tx1"/>
                        </a:solidFill>
                      </a:endParaRPr>
                    </a:p>
                  </a:txBody>
                  <a:tcPr anchor="ctr">
                    <a:solidFill>
                      <a:schemeClr val="bg2"/>
                    </a:solidFill>
                  </a:tcPr>
                </a:tc>
                <a:tc>
                  <a:txBody>
                    <a:bodyPr/>
                    <a:lstStyle/>
                    <a:p>
                      <a:pPr algn="ctr"/>
                      <a:r>
                        <a:rPr lang="en-US" sz="1100" dirty="0" smtClean="0"/>
                        <a:t>6</a:t>
                      </a:r>
                      <a:endParaRPr lang="en-US" sz="1100" dirty="0">
                        <a:solidFill>
                          <a:schemeClr val="tx1"/>
                        </a:solidFill>
                      </a:endParaRPr>
                    </a:p>
                  </a:txBody>
                  <a:tcPr anchor="ctr">
                    <a:solidFill>
                      <a:schemeClr val="bg2"/>
                    </a:solidFill>
                  </a:tcPr>
                </a:tc>
                <a:tc>
                  <a:txBody>
                    <a:bodyPr/>
                    <a:lstStyle/>
                    <a:p>
                      <a:pPr algn="ctr"/>
                      <a:r>
                        <a:rPr lang="en-US" sz="1100" b="0" i="0" kern="1200" dirty="0" smtClean="0">
                          <a:solidFill>
                            <a:schemeClr val="tx1"/>
                          </a:solidFill>
                          <a:effectLst/>
                          <a:latin typeface="+mn-lt"/>
                          <a:ea typeface="+mn-ea"/>
                          <a:cs typeface="+mn-cs"/>
                          <a:hlinkClick r:id="rId8"/>
                        </a:rPr>
                        <a:t>http://www.nationalmi.com/products-rates/</a:t>
                      </a:r>
                      <a:endParaRPr lang="en-US" sz="1100" dirty="0" smtClean="0">
                        <a:solidFill>
                          <a:schemeClr val="tx1"/>
                        </a:solidFill>
                      </a:endParaRPr>
                    </a:p>
                  </a:txBody>
                  <a:tcPr anchor="ctr">
                    <a:solidFill>
                      <a:schemeClr val="bg2"/>
                    </a:solidFill>
                  </a:tcPr>
                </a:tc>
                <a:tc>
                  <a:txBody>
                    <a:bodyPr/>
                    <a:lstStyle/>
                    <a:p>
                      <a:pPr algn="ctr"/>
                      <a:endParaRPr lang="en-US" sz="1100" dirty="0">
                        <a:solidFill>
                          <a:schemeClr val="tx1"/>
                        </a:solidFill>
                      </a:endParaRPr>
                    </a:p>
                  </a:txBody>
                  <a:tcPr anchor="ctr">
                    <a:solidFill>
                      <a:schemeClr val="bg2"/>
                    </a:solidFill>
                  </a:tcPr>
                </a:tc>
              </a:tr>
              <a:tr h="721561">
                <a:tc>
                  <a:txBody>
                    <a:bodyPr/>
                    <a:lstStyle/>
                    <a:p>
                      <a:r>
                        <a:rPr lang="en-US" sz="1100" b="1" dirty="0" smtClean="0">
                          <a:solidFill>
                            <a:schemeClr val="tx1"/>
                          </a:solidFill>
                        </a:rPr>
                        <a:t>Arch Mortgage Insurance</a:t>
                      </a:r>
                      <a:endParaRPr lang="en-US" sz="1100" b="1" dirty="0">
                        <a:solidFill>
                          <a:schemeClr val="tx1"/>
                        </a:solidFill>
                      </a:endParaRP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100" dirty="0" smtClean="0">
                          <a:solidFill>
                            <a:schemeClr val="tx1"/>
                          </a:solidFill>
                        </a:rPr>
                        <a:t>5</a:t>
                      </a:r>
                      <a:endParaRPr lang="en-US" sz="1100" dirty="0">
                        <a:solidFill>
                          <a:schemeClr val="tx1"/>
                        </a:solidFill>
                      </a:endParaRPr>
                    </a:p>
                  </a:txBody>
                  <a:tcPr anchor="ctr"/>
                </a:tc>
                <a:tc>
                  <a:txBody>
                    <a:bodyPr/>
                    <a:lstStyle/>
                    <a:p>
                      <a:pPr algn="ctr"/>
                      <a:r>
                        <a:rPr lang="en-US" sz="1100" b="0" i="0" kern="1200" dirty="0" smtClean="0">
                          <a:solidFill>
                            <a:schemeClr val="tx1"/>
                          </a:solidFill>
                          <a:effectLst/>
                          <a:latin typeface="+mn-lt"/>
                          <a:ea typeface="+mn-ea"/>
                          <a:cs typeface="+mn-cs"/>
                          <a:hlinkClick r:id="rId9"/>
                        </a:rPr>
                        <a:t>https://mi.archcapgroup.com/Rates/Rate-Sheets</a:t>
                      </a:r>
                      <a:endParaRPr lang="en-US" sz="1100" dirty="0" smtClean="0">
                        <a:solidFill>
                          <a:schemeClr val="tx1"/>
                        </a:solidFill>
                      </a:endParaRPr>
                    </a:p>
                  </a:txBody>
                  <a:tcPr anchor="ctr"/>
                </a:tc>
                <a:tc>
                  <a:txBody>
                    <a:bodyPr/>
                    <a:lstStyle/>
                    <a:p>
                      <a:pPr algn="ctr"/>
                      <a:endParaRPr lang="en-US" sz="1100" dirty="0">
                        <a:solidFill>
                          <a:schemeClr val="tx1"/>
                        </a:solidFill>
                      </a:endParaRPr>
                    </a:p>
                  </a:txBody>
                  <a:tcPr anchor="ctr"/>
                </a:tc>
              </a:tr>
            </a:tbl>
          </a:graphicData>
        </a:graphic>
      </p:graphicFrame>
      <p:sp>
        <p:nvSpPr>
          <p:cNvPr id="114" name="Content Placeholder 12"/>
          <p:cNvSpPr>
            <a:spLocks noGrp="1"/>
          </p:cNvSpPr>
          <p:nvPr>
            <p:ph idx="1"/>
          </p:nvPr>
        </p:nvSpPr>
        <p:spPr>
          <a:xfrm>
            <a:off x="293687" y="1235075"/>
            <a:ext cx="1839913" cy="2583659"/>
          </a:xfrm>
        </p:spPr>
        <p:txBody>
          <a:bodyPr/>
          <a:lstStyle/>
          <a:p>
            <a:pPr algn="l">
              <a:lnSpc>
                <a:spcPct val="100000"/>
              </a:lnSpc>
              <a:spcBef>
                <a:spcPts val="0"/>
              </a:spcBef>
            </a:pPr>
            <a:r>
              <a:rPr lang="en-US" sz="1100" dirty="0" smtClean="0"/>
              <a:t>There are currently 7 active providers of MI in the U.S.</a:t>
            </a:r>
          </a:p>
          <a:p>
            <a:pPr algn="l">
              <a:lnSpc>
                <a:spcPct val="100000"/>
              </a:lnSpc>
              <a:spcBef>
                <a:spcPts val="0"/>
              </a:spcBef>
            </a:pPr>
            <a:endParaRPr lang="en-US" sz="1100" dirty="0"/>
          </a:p>
          <a:p>
            <a:pPr algn="l">
              <a:lnSpc>
                <a:spcPct val="100000"/>
              </a:lnSpc>
              <a:spcBef>
                <a:spcPts val="0"/>
              </a:spcBef>
            </a:pPr>
            <a:r>
              <a:rPr lang="en-US" sz="1100" dirty="0" smtClean="0"/>
              <a:t>Although there are significant gaps in the availability of historical MI pricing across private mortgage insurers, it is relatively straightforward to get a sense for current pricing. </a:t>
            </a:r>
            <a:endParaRPr lang="en-US" sz="1100" b="0" dirty="0" smtClean="0">
              <a:solidFill>
                <a:schemeClr val="tx1"/>
              </a:solidFill>
            </a:endParaRPr>
          </a:p>
          <a:p>
            <a:pPr algn="l">
              <a:lnSpc>
                <a:spcPct val="100000"/>
              </a:lnSpc>
              <a:spcBef>
                <a:spcPts val="0"/>
              </a:spcBef>
            </a:pPr>
            <a:endParaRPr lang="en-US" sz="1100" b="0" dirty="0">
              <a:solidFill>
                <a:schemeClr val="tx1"/>
              </a:solidFill>
            </a:endParaRPr>
          </a:p>
        </p:txBody>
      </p:sp>
      <p:sp>
        <p:nvSpPr>
          <p:cNvPr id="14" name="TextBox 13"/>
          <p:cNvSpPr txBox="1"/>
          <p:nvPr/>
        </p:nvSpPr>
        <p:spPr>
          <a:xfrm>
            <a:off x="733170" y="7367199"/>
            <a:ext cx="6353429" cy="230832"/>
          </a:xfrm>
          <a:prstGeom prst="rect">
            <a:avLst/>
          </a:prstGeom>
          <a:noFill/>
        </p:spPr>
        <p:txBody>
          <a:bodyPr wrap="square" rtlCol="0">
            <a:spAutoFit/>
          </a:bodyPr>
          <a:lstStyle/>
          <a:p>
            <a:r>
              <a:rPr lang="en-US" sz="900" dirty="0" smtClean="0">
                <a:latin typeface="Calibri" panose="020F0502020204030204" pitchFamily="34" charset="0"/>
              </a:rPr>
              <a:t>Source: Cello, Inside Mortgage Finance. As of 3/15/2016. Traditional primary MI does not include bulk, pool or HARP activity.</a:t>
            </a:r>
            <a:endParaRPr lang="en-US" sz="900" dirty="0">
              <a:latin typeface="Calibri" panose="020F0502020204030204" pitchFamily="34" charset="0"/>
            </a:endParaRPr>
          </a:p>
        </p:txBody>
      </p:sp>
    </p:spTree>
    <p:extLst>
      <p:ext uri="{BB962C8B-B14F-4D97-AF65-F5344CB8AC3E}">
        <p14:creationId xmlns:p14="http://schemas.microsoft.com/office/powerpoint/2010/main" val="851698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105783</TotalTime>
  <Words>2833</Words>
  <Application>Microsoft Office PowerPoint</Application>
  <PresentationFormat>Custom</PresentationFormat>
  <Paragraphs>314</Paragraphs>
  <Slides>16</Slides>
  <Notes>12</Notes>
  <HiddenSlides>0</HiddenSlides>
  <MMClips>0</MMClips>
  <ScaleCrop>false</ScaleCrop>
  <HeadingPairs>
    <vt:vector size="4" baseType="variant">
      <vt:variant>
        <vt:lpstr>Theme</vt:lpstr>
      </vt:variant>
      <vt:variant>
        <vt:i4>19</vt:i4>
      </vt:variant>
      <vt:variant>
        <vt:lpstr>Slide Titles</vt:lpstr>
      </vt:variant>
      <vt:variant>
        <vt:i4>16</vt:i4>
      </vt:variant>
    </vt:vector>
  </HeadingPairs>
  <TitlesOfParts>
    <vt:vector size="35"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PowerPoint Presentation</vt:lpstr>
      <vt:lpstr>DEFINITIONS AND KEY CONCEPTS</vt:lpstr>
      <vt:lpstr>DELIVERY CHANNELS FOR MI</vt:lpstr>
      <vt:lpstr>THE MORTGAGE INSURANCE BUSINESS: KEY ASPECTS</vt:lpstr>
      <vt:lpstr>THE IMPORTANCE OF MI FROM THE VANTAGE POINT OF PREPAYMENT RISK</vt:lpstr>
      <vt:lpstr>COMPARING GOVERNMENT AND PRIVATE MI PROGRAMS  </vt:lpstr>
      <vt:lpstr>HOW PRIVATE MORTGAGE INSURANCE WORKS: COVERAGE </vt:lpstr>
      <vt:lpstr> </vt:lpstr>
      <vt:lpstr>HOW PRIVATE MORTGAGE INSURANCE WORKS: SAMPLE RATE SHEET</vt:lpstr>
      <vt:lpstr>HOW PRIVATE MORTGAGE INSURANCE WORKS: CALCULATING CLAIM AMOUNTS</vt:lpstr>
      <vt:lpstr> </vt:lpstr>
      <vt:lpstr> </vt:lpstr>
      <vt:lpstr> </vt:lpstr>
      <vt:lpstr>PRIVATE &amp; GOVERNMENT MI MOSTLY COMPETES IN THE 90-97% LTV RANGE</vt:lpstr>
      <vt:lpstr>SNAPSHOT OF THE CURRENT PMI INDUSTRY </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2638</cp:revision>
  <cp:lastPrinted>2015-08-06T15:23:44Z</cp:lastPrinted>
  <dcterms:created xsi:type="dcterms:W3CDTF">2011-07-07T12:37:32Z</dcterms:created>
  <dcterms:modified xsi:type="dcterms:W3CDTF">2016-05-05T14:42:37Z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