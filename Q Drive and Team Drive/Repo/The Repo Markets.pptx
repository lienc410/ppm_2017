
<file path=[Content_Types].xml><?xml version="1.0" encoding="utf-8"?>
<Types xmlns="http://schemas.openxmlformats.org/package/2006/content-types">
  <Default Extension="png" ContentType="image/png"/>
  <Default Extension="emf" ContentType="image/x-emf"/>
  <Default Extension="jpeg" ContentType="image/jpeg"/>
  <Default Extension="rels" ContentType="application/vnd.openxmlformats-package.relationships+xml"/>
  <Default Extension="xml" ContentType="application/xml"/>
  <Default Extension="gif" ContentType="image/gif"/>
  <Default Extension="xlsx" ContentType="application/vnd.openxmlformats-officedocument.spreadsheetml.sheet"/>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theme/theme2.xml" ContentType="application/vnd.openxmlformats-officedocument.theme+xml"/>
  <Override PartName="/ppt/slideLayouts/slideLayout21.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charts/chart1.xml" ContentType="application/vnd.openxmlformats-officedocument.drawingml.chart+xml"/>
  <Override PartName="/ppt/charts/chart2.xml" ContentType="application/vnd.openxmlformats-officedocument.drawingml.chart+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 id="2147483672" r:id="rId2"/>
    <p:sldMasterId id="2147483676" r:id="rId3"/>
  </p:sldMasterIdLst>
  <p:notesMasterIdLst>
    <p:notesMasterId r:id="rId15"/>
  </p:notesMasterIdLst>
  <p:handoutMasterIdLst>
    <p:handoutMasterId r:id="rId16"/>
  </p:handoutMasterIdLst>
  <p:sldIdLst>
    <p:sldId id="320" r:id="rId4"/>
    <p:sldId id="321" r:id="rId5"/>
    <p:sldId id="322" r:id="rId6"/>
    <p:sldId id="319" r:id="rId7"/>
    <p:sldId id="323" r:id="rId8"/>
    <p:sldId id="330" r:id="rId9"/>
    <p:sldId id="326" r:id="rId10"/>
    <p:sldId id="324" r:id="rId11"/>
    <p:sldId id="328" r:id="rId12"/>
    <p:sldId id="327" r:id="rId13"/>
    <p:sldId id="318" r:id="rId14"/>
  </p:sldIdLst>
  <p:sldSz cx="10058400" cy="7772400"/>
  <p:notesSz cx="7010400" cy="9296400"/>
  <p:defaultTextStyle>
    <a:defPPr>
      <a:defRPr lang="en-US"/>
    </a:defPPr>
    <a:lvl1pPr marL="0" algn="l" defTabSz="1018824" rtl="0" eaLnBrk="1" latinLnBrk="0" hangingPunct="1">
      <a:defRPr sz="2000" kern="1200">
        <a:solidFill>
          <a:schemeClr val="tx1"/>
        </a:solidFill>
        <a:latin typeface="+mn-lt"/>
        <a:ea typeface="+mn-ea"/>
        <a:cs typeface="+mn-cs"/>
      </a:defRPr>
    </a:lvl1pPr>
    <a:lvl2pPr marL="509412" algn="l" defTabSz="1018824" rtl="0" eaLnBrk="1" latinLnBrk="0" hangingPunct="1">
      <a:defRPr sz="2000" kern="1200">
        <a:solidFill>
          <a:schemeClr val="tx1"/>
        </a:solidFill>
        <a:latin typeface="+mn-lt"/>
        <a:ea typeface="+mn-ea"/>
        <a:cs typeface="+mn-cs"/>
      </a:defRPr>
    </a:lvl2pPr>
    <a:lvl3pPr marL="1018824" algn="l" defTabSz="1018824" rtl="0" eaLnBrk="1" latinLnBrk="0" hangingPunct="1">
      <a:defRPr sz="2000" kern="1200">
        <a:solidFill>
          <a:schemeClr val="tx1"/>
        </a:solidFill>
        <a:latin typeface="+mn-lt"/>
        <a:ea typeface="+mn-ea"/>
        <a:cs typeface="+mn-cs"/>
      </a:defRPr>
    </a:lvl3pPr>
    <a:lvl4pPr marL="1528237" algn="l" defTabSz="1018824" rtl="0" eaLnBrk="1" latinLnBrk="0" hangingPunct="1">
      <a:defRPr sz="2000" kern="1200">
        <a:solidFill>
          <a:schemeClr val="tx1"/>
        </a:solidFill>
        <a:latin typeface="+mn-lt"/>
        <a:ea typeface="+mn-ea"/>
        <a:cs typeface="+mn-cs"/>
      </a:defRPr>
    </a:lvl4pPr>
    <a:lvl5pPr marL="2037649" algn="l" defTabSz="1018824" rtl="0" eaLnBrk="1" latinLnBrk="0" hangingPunct="1">
      <a:defRPr sz="2000" kern="1200">
        <a:solidFill>
          <a:schemeClr val="tx1"/>
        </a:solidFill>
        <a:latin typeface="+mn-lt"/>
        <a:ea typeface="+mn-ea"/>
        <a:cs typeface="+mn-cs"/>
      </a:defRPr>
    </a:lvl5pPr>
    <a:lvl6pPr marL="2547061" algn="l" defTabSz="1018824" rtl="0" eaLnBrk="1" latinLnBrk="0" hangingPunct="1">
      <a:defRPr sz="2000" kern="1200">
        <a:solidFill>
          <a:schemeClr val="tx1"/>
        </a:solidFill>
        <a:latin typeface="+mn-lt"/>
        <a:ea typeface="+mn-ea"/>
        <a:cs typeface="+mn-cs"/>
      </a:defRPr>
    </a:lvl6pPr>
    <a:lvl7pPr marL="3056473" algn="l" defTabSz="1018824" rtl="0" eaLnBrk="1" latinLnBrk="0" hangingPunct="1">
      <a:defRPr sz="2000" kern="1200">
        <a:solidFill>
          <a:schemeClr val="tx1"/>
        </a:solidFill>
        <a:latin typeface="+mn-lt"/>
        <a:ea typeface="+mn-ea"/>
        <a:cs typeface="+mn-cs"/>
      </a:defRPr>
    </a:lvl7pPr>
    <a:lvl8pPr marL="3565886" algn="l" defTabSz="1018824" rtl="0" eaLnBrk="1" latinLnBrk="0" hangingPunct="1">
      <a:defRPr sz="2000" kern="1200">
        <a:solidFill>
          <a:schemeClr val="tx1"/>
        </a:solidFill>
        <a:latin typeface="+mn-lt"/>
        <a:ea typeface="+mn-ea"/>
        <a:cs typeface="+mn-cs"/>
      </a:defRPr>
    </a:lvl8pPr>
    <a:lvl9pPr marL="4075298" algn="l" defTabSz="1018824" rtl="0" eaLnBrk="1" latinLnBrk="0" hangingPunct="1">
      <a:defRPr sz="2000" kern="1200">
        <a:solidFill>
          <a:schemeClr val="tx1"/>
        </a:solidFill>
        <a:latin typeface="+mn-lt"/>
        <a:ea typeface="+mn-ea"/>
        <a:cs typeface="+mn-cs"/>
      </a:defRPr>
    </a:lvl9pPr>
  </p:defaultTextStyle>
  <p:extLst>
    <p:ext uri="{EFAFB233-063F-42B5-8137-9DF3F51BA10A}">
      <p15:sldGuideLst xmlns="" xmlns:p15="http://schemas.microsoft.com/office/powerpoint/2012/main">
        <p15:guide id="1" orient="horz" pos="3456">
          <p15:clr>
            <a:srgbClr val="A4A3A4"/>
          </p15:clr>
        </p15:guide>
        <p15:guide id="2" orient="horz" pos="144">
          <p15:clr>
            <a:srgbClr val="A4A3A4"/>
          </p15:clr>
        </p15:guide>
        <p15:guide id="3" orient="horz" pos="207">
          <p15:clr>
            <a:srgbClr val="A4A3A4"/>
          </p15:clr>
        </p15:guide>
        <p15:guide id="4" orient="horz" pos="4752">
          <p15:clr>
            <a:srgbClr val="A4A3A4"/>
          </p15:clr>
        </p15:guide>
        <p15:guide id="5" orient="horz" pos="788">
          <p15:clr>
            <a:srgbClr val="A4A3A4"/>
          </p15:clr>
        </p15:guide>
        <p15:guide id="6" orient="horz" pos="4519">
          <p15:clr>
            <a:srgbClr val="A4A3A4"/>
          </p15:clr>
        </p15:guide>
        <p15:guide id="7" orient="horz" pos="1200">
          <p15:clr>
            <a:srgbClr val="A4A3A4"/>
          </p15:clr>
        </p15:guide>
        <p15:guide id="8" orient="horz" pos="4320">
          <p15:clr>
            <a:srgbClr val="A4A3A4"/>
          </p15:clr>
        </p15:guide>
        <p15:guide id="9" orient="horz" pos="4032">
          <p15:clr>
            <a:srgbClr val="A4A3A4"/>
          </p15:clr>
        </p15:guide>
        <p15:guide id="10" pos="3168">
          <p15:clr>
            <a:srgbClr val="A4A3A4"/>
          </p15:clr>
        </p15:guide>
        <p15:guide id="11" pos="185">
          <p15:clr>
            <a:srgbClr val="A4A3A4"/>
          </p15:clr>
        </p15:guide>
        <p15:guide id="12" pos="6150">
          <p15:clr>
            <a:srgbClr val="A4A3A4"/>
          </p15:clr>
        </p15:guide>
        <p15:guide id="13" pos="3072">
          <p15:clr>
            <a:srgbClr val="A4A3A4"/>
          </p15:clr>
        </p15:guide>
        <p15:guide id="14" pos="3264">
          <p15:clr>
            <a:srgbClr val="A4A3A4"/>
          </p15:clr>
        </p15:guide>
        <p15:guide id="15" pos="1344">
          <p15:clr>
            <a:srgbClr val="A4A3A4"/>
          </p15:clr>
        </p15:guide>
        <p15:guide id="16" pos="2101">
          <p15:clr>
            <a:srgbClr val="A4A3A4"/>
          </p15:clr>
        </p15:guide>
        <p15:guide id="17" pos="528">
          <p15:clr>
            <a:srgbClr val="A4A3A4"/>
          </p15:clr>
        </p15:guide>
        <p15:guide id="18" pos="3866">
          <p15:clr>
            <a:srgbClr val="A4A3A4"/>
          </p15:clr>
        </p15:guide>
        <p15:guide id="19" pos="3775">
          <p15:clr>
            <a:srgbClr val="A4A3A4"/>
          </p15:clr>
        </p15:guide>
        <p15:guide id="20" pos="3963">
          <p15:clr>
            <a:srgbClr val="A4A3A4"/>
          </p15:clr>
        </p15:guide>
        <p15:guide id="21" pos="4812">
          <p15:clr>
            <a:srgbClr val="A4A3A4"/>
          </p15:clr>
        </p15:guide>
        <p15:guide id="22" pos="720">
          <p15:clr>
            <a:srgbClr val="A4A3A4"/>
          </p15:clr>
        </p15:guide>
        <p15:guide id="23" pos="480">
          <p15:clr>
            <a:srgbClr val="A4A3A4"/>
          </p15:clr>
        </p15:guide>
        <p15:guide id="24" pos="4605">
          <p15:clr>
            <a:srgbClr val="A4A3A4"/>
          </p15:clr>
        </p15:guide>
        <p15:guide id="25" pos="2304">
          <p15:clr>
            <a:srgbClr val="A4A3A4"/>
          </p15:clr>
        </p15:guide>
        <p15:guide id="26" pos="1584">
          <p15:clr>
            <a:srgbClr val="A4A3A4"/>
          </p15:clr>
        </p15:guide>
      </p15:sldGuideLst>
    </p:ext>
    <p:ext uri="{2D200454-40CA-4A62-9FC3-DE9A4176ACB9}">
      <p15:notesGuideLst xmlns="" xmlns:p15="http://schemas.microsoft.com/office/powerpoint/2012/main">
        <p15:guide id="1" orient="horz" pos="2904" userDrawn="1">
          <p15:clr>
            <a:srgbClr val="A4A3A4"/>
          </p15:clr>
        </p15:guide>
        <p15:guide id="2" pos="2184" userDrawn="1">
          <p15:clr>
            <a:srgbClr val="A4A3A4"/>
          </p15:clr>
        </p15:guide>
        <p15:guide id="3" orient="horz" pos="2928">
          <p15:clr>
            <a:srgbClr val="A4A3A4"/>
          </p15:clr>
        </p15:guide>
        <p15:guide id="4" pos="2208">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2E8A60"/>
    <a:srgbClr val="C6642E"/>
    <a:srgbClr val="DFF5EB"/>
    <a:srgbClr val="F4E0D0"/>
    <a:srgbClr val="C7732D"/>
    <a:srgbClr val="002060"/>
    <a:srgbClr val="2E3989"/>
    <a:srgbClr val="533D2D"/>
    <a:srgbClr val="592E8A"/>
    <a:srgbClr val="2E398A"/>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1303" autoAdjust="0"/>
    <p:restoredTop sz="94660" autoAdjust="0"/>
  </p:normalViewPr>
  <p:slideViewPr>
    <p:cSldViewPr showGuides="1">
      <p:cViewPr>
        <p:scale>
          <a:sx n="150" d="100"/>
          <a:sy n="150" d="100"/>
        </p:scale>
        <p:origin x="-84" y="-72"/>
      </p:cViewPr>
      <p:guideLst>
        <p:guide orient="horz" pos="3456"/>
        <p:guide orient="horz" pos="144"/>
        <p:guide orient="horz" pos="207"/>
        <p:guide orient="horz" pos="4752"/>
        <p:guide orient="horz" pos="788"/>
        <p:guide orient="horz" pos="4519"/>
        <p:guide orient="horz" pos="1200"/>
        <p:guide orient="horz" pos="4320"/>
        <p:guide orient="horz" pos="4032"/>
        <p:guide pos="3168"/>
        <p:guide pos="185"/>
        <p:guide pos="6150"/>
        <p:guide pos="3072"/>
        <p:guide pos="3264"/>
        <p:guide pos="1344"/>
        <p:guide pos="2101"/>
        <p:guide pos="528"/>
        <p:guide pos="3866"/>
        <p:guide pos="3775"/>
        <p:guide pos="3963"/>
        <p:guide pos="4812"/>
        <p:guide pos="720"/>
        <p:guide pos="480"/>
        <p:guide pos="4605"/>
        <p:guide pos="2304"/>
        <p:guide pos="1584"/>
      </p:guideLst>
    </p:cSldViewPr>
  </p:slideViewPr>
  <p:notesTextViewPr>
    <p:cViewPr>
      <p:scale>
        <a:sx n="1" d="1"/>
        <a:sy n="1" d="1"/>
      </p:scale>
      <p:origin x="0" y="0"/>
    </p:cViewPr>
  </p:notesTextViewPr>
  <p:notesViewPr>
    <p:cSldViewPr showGuides="1">
      <p:cViewPr varScale="1">
        <p:scale>
          <a:sx n="80" d="100"/>
          <a:sy n="80" d="100"/>
        </p:scale>
        <p:origin x="-1974" y="-78"/>
      </p:cViewPr>
      <p:guideLst>
        <p:guide orient="horz" pos="2904"/>
        <p:guide orient="horz" pos="2928"/>
        <p:guide pos="2184"/>
        <p:guide pos="2208"/>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5.xml"/><Relationship Id="rId13" Type="http://schemas.openxmlformats.org/officeDocument/2006/relationships/slide" Target="slides/slide10.xml"/><Relationship Id="rId18" Type="http://schemas.openxmlformats.org/officeDocument/2006/relationships/viewProps" Target="viewProps.xml"/><Relationship Id="rId3" Type="http://schemas.openxmlformats.org/officeDocument/2006/relationships/slideMaster" Target="slideMasters/slideMaster3.xml"/><Relationship Id="rId7" Type="http://schemas.openxmlformats.org/officeDocument/2006/relationships/slide" Target="slides/slide4.xml"/><Relationship Id="rId12" Type="http://schemas.openxmlformats.org/officeDocument/2006/relationships/slide" Target="slides/slide9.xml"/><Relationship Id="rId17" Type="http://schemas.openxmlformats.org/officeDocument/2006/relationships/presProps" Target="presProps.xml"/><Relationship Id="rId2" Type="http://schemas.openxmlformats.org/officeDocument/2006/relationships/slideMaster" Target="slideMasters/slideMaster2.xml"/><Relationship Id="rId16" Type="http://schemas.openxmlformats.org/officeDocument/2006/relationships/handoutMaster" Target="handoutMasters/handoutMaster1.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3.xml"/><Relationship Id="rId11" Type="http://schemas.openxmlformats.org/officeDocument/2006/relationships/slide" Target="slides/slide8.xml"/><Relationship Id="rId5" Type="http://schemas.openxmlformats.org/officeDocument/2006/relationships/slide" Target="slides/slide2.xml"/><Relationship Id="rId15" Type="http://schemas.openxmlformats.org/officeDocument/2006/relationships/notesMaster" Target="notesMasters/notesMaster1.xml"/><Relationship Id="rId10" Type="http://schemas.openxmlformats.org/officeDocument/2006/relationships/slide" Target="slides/slide7.xml"/><Relationship Id="rId19" Type="http://schemas.openxmlformats.org/officeDocument/2006/relationships/theme" Target="theme/theme1.xml"/><Relationship Id="rId4" Type="http://schemas.openxmlformats.org/officeDocument/2006/relationships/slide" Target="slides/slide1.xml"/><Relationship Id="rId9" Type="http://schemas.openxmlformats.org/officeDocument/2006/relationships/slide" Target="slides/slide6.xml"/><Relationship Id="rId14" Type="http://schemas.openxmlformats.org/officeDocument/2006/relationships/slide" Target="slides/slide11.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2.xlsx"/></Relationships>
</file>

<file path=ppt/charts/chart1.xml><?xml version="1.0" encoding="utf-8"?>
<c:chartSpace xmlns:c="http://schemas.openxmlformats.org/drawingml/2006/chart" xmlns:a="http://schemas.openxmlformats.org/drawingml/2006/main" xmlns:r="http://schemas.openxmlformats.org/officeDocument/2006/relationships">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pieChart>
        <c:varyColors val="1"/>
        <c:ser>
          <c:idx val="0"/>
          <c:order val="0"/>
          <c:tx>
            <c:strRef>
              <c:f>Sheet1!$B$1</c:f>
              <c:strCache>
                <c:ptCount val="1"/>
                <c:pt idx="0">
                  <c:v>Sales</c:v>
                </c:pt>
              </c:strCache>
            </c:strRef>
          </c:tx>
          <c:dLbls>
            <c:txPr>
              <a:bodyPr/>
              <a:lstStyle/>
              <a:p>
                <a:pPr>
                  <a:defRPr>
                    <a:solidFill>
                      <a:schemeClr val="bg1"/>
                    </a:solidFill>
                  </a:defRPr>
                </a:pPr>
                <a:endParaRPr lang="en-US"/>
              </a:p>
            </c:txPr>
            <c:dLblPos val="ctr"/>
            <c:showLegendKey val="0"/>
            <c:showVal val="1"/>
            <c:showCatName val="0"/>
            <c:showSerName val="0"/>
            <c:showPercent val="0"/>
            <c:showBubbleSize val="0"/>
            <c:showLeaderLines val="1"/>
          </c:dLbls>
          <c:cat>
            <c:strRef>
              <c:f>Sheet1!$A$2:$A$3</c:f>
              <c:strCache>
                <c:ptCount val="2"/>
                <c:pt idx="0">
                  <c:v>US Treasury securities including STRIPS</c:v>
                </c:pt>
                <c:pt idx="1">
                  <c:v>All other assets</c:v>
                </c:pt>
              </c:strCache>
            </c:strRef>
          </c:cat>
          <c:val>
            <c:numRef>
              <c:f>Sheet1!$B$2:$B$3</c:f>
              <c:numCache>
                <c:formatCode>0.00%</c:formatCode>
                <c:ptCount val="2"/>
                <c:pt idx="0">
                  <c:v>0.60489999999999999</c:v>
                </c:pt>
                <c:pt idx="1">
                  <c:v>0.39510000000000001</c:v>
                </c:pt>
              </c:numCache>
            </c:numRef>
          </c:val>
        </c:ser>
        <c:dLbls>
          <c:showLegendKey val="0"/>
          <c:showVal val="0"/>
          <c:showCatName val="0"/>
          <c:showSerName val="0"/>
          <c:showPercent val="0"/>
          <c:showBubbleSize val="0"/>
          <c:showLeaderLines val="1"/>
        </c:dLbls>
        <c:firstSliceAng val="0"/>
      </c:pieChart>
    </c:plotArea>
    <c:plotVisOnly val="1"/>
    <c:dispBlanksAs val="gap"/>
    <c:showDLblsOverMax val="0"/>
  </c:chart>
  <c:txPr>
    <a:bodyPr/>
    <a:lstStyle/>
    <a:p>
      <a:pPr>
        <a:defRPr sz="800"/>
      </a:pPr>
      <a:endParaRPr lang="en-US"/>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plotArea>
      <c:layout/>
      <c:barChart>
        <c:barDir val="col"/>
        <c:grouping val="stacked"/>
        <c:varyColors val="0"/>
        <c:ser>
          <c:idx val="0"/>
          <c:order val="0"/>
          <c:tx>
            <c:strRef>
              <c:f>Sheet1!$B$1</c:f>
              <c:strCache>
                <c:ptCount val="1"/>
                <c:pt idx="0">
                  <c:v>US Treasury securities </c:v>
                </c:pt>
              </c:strCache>
            </c:strRef>
          </c:tx>
          <c:invertIfNegative val="0"/>
          <c:dLbls>
            <c:txPr>
              <a:bodyPr/>
              <a:lstStyle/>
              <a:p>
                <a:pPr>
                  <a:defRPr>
                    <a:solidFill>
                      <a:schemeClr val="bg1"/>
                    </a:solidFill>
                  </a:defRPr>
                </a:pPr>
                <a:endParaRPr lang="en-US"/>
              </a:p>
            </c:txPr>
            <c:showLegendKey val="0"/>
            <c:showVal val="1"/>
            <c:showCatName val="0"/>
            <c:showSerName val="0"/>
            <c:showPercent val="0"/>
            <c:showBubbleSize val="0"/>
            <c:showLeaderLines val="0"/>
          </c:dLbls>
          <c:cat>
            <c:strRef>
              <c:f>Sheet1!$A$2:$A$4</c:f>
              <c:strCache>
                <c:ptCount val="3"/>
                <c:pt idx="0">
                  <c:v>Tri-Party Repo</c:v>
                </c:pt>
                <c:pt idx="1">
                  <c:v>GCF Repo</c:v>
                </c:pt>
                <c:pt idx="2">
                  <c:v>Bilateral Repo</c:v>
                </c:pt>
              </c:strCache>
            </c:strRef>
          </c:cat>
          <c:val>
            <c:numRef>
              <c:f>Sheet1!$B$2:$B$4</c:f>
              <c:numCache>
                <c:formatCode>General</c:formatCode>
                <c:ptCount val="3"/>
                <c:pt idx="0">
                  <c:v>644</c:v>
                </c:pt>
                <c:pt idx="1">
                  <c:v>204</c:v>
                </c:pt>
                <c:pt idx="2">
                  <c:v>1499</c:v>
                </c:pt>
              </c:numCache>
            </c:numRef>
          </c:val>
        </c:ser>
        <c:ser>
          <c:idx val="1"/>
          <c:order val="1"/>
          <c:tx>
            <c:strRef>
              <c:f>Sheet1!$C$1</c:f>
              <c:strCache>
                <c:ptCount val="1"/>
                <c:pt idx="0">
                  <c:v>All other assets</c:v>
                </c:pt>
              </c:strCache>
            </c:strRef>
          </c:tx>
          <c:invertIfNegative val="0"/>
          <c:dLbls>
            <c:txPr>
              <a:bodyPr/>
              <a:lstStyle/>
              <a:p>
                <a:pPr>
                  <a:defRPr>
                    <a:solidFill>
                      <a:schemeClr val="bg1"/>
                    </a:solidFill>
                  </a:defRPr>
                </a:pPr>
                <a:endParaRPr lang="en-US"/>
              </a:p>
            </c:txPr>
            <c:showLegendKey val="0"/>
            <c:showVal val="1"/>
            <c:showCatName val="0"/>
            <c:showSerName val="0"/>
            <c:showPercent val="0"/>
            <c:showBubbleSize val="0"/>
            <c:showLeaderLines val="0"/>
          </c:dLbls>
          <c:cat>
            <c:strRef>
              <c:f>Sheet1!$A$2:$A$4</c:f>
              <c:strCache>
                <c:ptCount val="3"/>
                <c:pt idx="0">
                  <c:v>Tri-Party Repo</c:v>
                </c:pt>
                <c:pt idx="1">
                  <c:v>GCF Repo</c:v>
                </c:pt>
                <c:pt idx="2">
                  <c:v>Bilateral Repo</c:v>
                </c:pt>
              </c:strCache>
            </c:strRef>
          </c:cat>
          <c:val>
            <c:numRef>
              <c:f>Sheet1!$C$2:$C$4</c:f>
              <c:numCache>
                <c:formatCode>General</c:formatCode>
                <c:ptCount val="3"/>
                <c:pt idx="0">
                  <c:v>914</c:v>
                </c:pt>
                <c:pt idx="1">
                  <c:v>220</c:v>
                </c:pt>
                <c:pt idx="2">
                  <c:v>398</c:v>
                </c:pt>
              </c:numCache>
            </c:numRef>
          </c:val>
        </c:ser>
        <c:dLbls>
          <c:showLegendKey val="0"/>
          <c:showVal val="1"/>
          <c:showCatName val="0"/>
          <c:showSerName val="0"/>
          <c:showPercent val="0"/>
          <c:showBubbleSize val="0"/>
        </c:dLbls>
        <c:gapWidth val="150"/>
        <c:overlap val="100"/>
        <c:axId val="44979328"/>
        <c:axId val="47040768"/>
      </c:barChart>
      <c:catAx>
        <c:axId val="44979328"/>
        <c:scaling>
          <c:orientation val="minMax"/>
        </c:scaling>
        <c:delete val="0"/>
        <c:axPos val="b"/>
        <c:majorTickMark val="out"/>
        <c:minorTickMark val="none"/>
        <c:tickLblPos val="nextTo"/>
        <c:crossAx val="47040768"/>
        <c:crosses val="autoZero"/>
        <c:auto val="1"/>
        <c:lblAlgn val="ctr"/>
        <c:lblOffset val="100"/>
        <c:noMultiLvlLbl val="0"/>
      </c:catAx>
      <c:valAx>
        <c:axId val="47040768"/>
        <c:scaling>
          <c:orientation val="minMax"/>
        </c:scaling>
        <c:delete val="0"/>
        <c:axPos val="l"/>
        <c:majorGridlines>
          <c:spPr>
            <a:ln>
              <a:solidFill>
                <a:schemeClr val="accent1"/>
              </a:solidFill>
              <a:prstDash val="dash"/>
            </a:ln>
          </c:spPr>
        </c:majorGridlines>
        <c:title>
          <c:tx>
            <c:rich>
              <a:bodyPr rot="-5400000" vert="horz"/>
              <a:lstStyle/>
              <a:p>
                <a:pPr>
                  <a:defRPr/>
                </a:pPr>
                <a:r>
                  <a:rPr lang="en-US" dirty="0" smtClean="0"/>
                  <a:t>Billion Dollars</a:t>
                </a:r>
                <a:endParaRPr lang="en-US" dirty="0"/>
              </a:p>
            </c:rich>
          </c:tx>
          <c:layout/>
          <c:overlay val="0"/>
        </c:title>
        <c:numFmt formatCode="General" sourceLinked="1"/>
        <c:majorTickMark val="out"/>
        <c:minorTickMark val="none"/>
        <c:tickLblPos val="nextTo"/>
        <c:crossAx val="44979328"/>
        <c:crosses val="autoZero"/>
        <c:crossBetween val="between"/>
        <c:majorUnit val="500"/>
      </c:valAx>
      <c:spPr>
        <a:noFill/>
        <a:ln>
          <a:solidFill>
            <a:schemeClr val="tx1"/>
          </a:solidFill>
        </a:ln>
      </c:spPr>
    </c:plotArea>
    <c:plotVisOnly val="1"/>
    <c:dispBlanksAs val="gap"/>
    <c:showDLblsOverMax val="0"/>
  </c:chart>
  <c:txPr>
    <a:bodyPr/>
    <a:lstStyle/>
    <a:p>
      <a:pPr>
        <a:defRPr sz="800"/>
      </a:pPr>
      <a:endParaRPr lang="en-US"/>
    </a:p>
  </c:txPr>
  <c:externalData r:id="rId1">
    <c:autoUpdate val="0"/>
  </c:externalData>
</c:chartSpace>
</file>

<file path=ppt/handoutMasters/_rels/handoutMaster1.xml.rels><?xml version="1.0" encoding="UTF-8" standalone="yes"?>
<Relationships xmlns="http://schemas.openxmlformats.org/package/2006/relationships"><Relationship Id="rId1" Type="http://schemas.openxmlformats.org/officeDocument/2006/relationships/theme" Target="../theme/theme5.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37840" cy="464820"/>
          </a:xfrm>
          <a:prstGeom prst="rect">
            <a:avLst/>
          </a:prstGeom>
        </p:spPr>
        <p:txBody>
          <a:bodyPr vert="horz" lIns="93169" tIns="46585" rIns="93169" bIns="46585" rtlCol="0"/>
          <a:lstStyle>
            <a:lvl1pPr algn="l">
              <a:defRPr sz="1200"/>
            </a:lvl1pPr>
          </a:lstStyle>
          <a:p>
            <a:endParaRPr lang="en-US" dirty="0"/>
          </a:p>
        </p:txBody>
      </p:sp>
      <p:sp>
        <p:nvSpPr>
          <p:cNvPr id="3" name="Date Placeholder 2"/>
          <p:cNvSpPr>
            <a:spLocks noGrp="1"/>
          </p:cNvSpPr>
          <p:nvPr>
            <p:ph type="dt" sz="quarter" idx="1"/>
          </p:nvPr>
        </p:nvSpPr>
        <p:spPr>
          <a:xfrm>
            <a:off x="3970938" y="0"/>
            <a:ext cx="3037840" cy="464820"/>
          </a:xfrm>
          <a:prstGeom prst="rect">
            <a:avLst/>
          </a:prstGeom>
        </p:spPr>
        <p:txBody>
          <a:bodyPr vert="horz" lIns="93169" tIns="46585" rIns="93169" bIns="46585" rtlCol="0"/>
          <a:lstStyle>
            <a:lvl1pPr algn="r">
              <a:defRPr sz="1200"/>
            </a:lvl1pPr>
          </a:lstStyle>
          <a:p>
            <a:fld id="{CD69C154-8DB3-4790-A359-7790FFBF8C47}" type="datetimeFigureOut">
              <a:rPr lang="en-US" smtClean="0"/>
              <a:t>12/28/2015</a:t>
            </a:fld>
            <a:endParaRPr lang="en-US" dirty="0"/>
          </a:p>
        </p:txBody>
      </p:sp>
      <p:sp>
        <p:nvSpPr>
          <p:cNvPr id="4" name="Footer Placeholder 3"/>
          <p:cNvSpPr>
            <a:spLocks noGrp="1"/>
          </p:cNvSpPr>
          <p:nvPr>
            <p:ph type="ftr" sz="quarter" idx="2"/>
          </p:nvPr>
        </p:nvSpPr>
        <p:spPr>
          <a:xfrm>
            <a:off x="0" y="8829967"/>
            <a:ext cx="3037840" cy="464820"/>
          </a:xfrm>
          <a:prstGeom prst="rect">
            <a:avLst/>
          </a:prstGeom>
        </p:spPr>
        <p:txBody>
          <a:bodyPr vert="horz" lIns="93169" tIns="46585" rIns="93169" bIns="46585" rtlCol="0" anchor="b"/>
          <a:lstStyle>
            <a:lvl1pPr algn="l">
              <a:defRPr sz="1200"/>
            </a:lvl1pPr>
          </a:lstStyle>
          <a:p>
            <a:endParaRPr lang="en-US" dirty="0"/>
          </a:p>
        </p:txBody>
      </p:sp>
      <p:sp>
        <p:nvSpPr>
          <p:cNvPr id="5" name="Slide Number Placeholder 4"/>
          <p:cNvSpPr>
            <a:spLocks noGrp="1"/>
          </p:cNvSpPr>
          <p:nvPr>
            <p:ph type="sldNum" sz="quarter" idx="3"/>
          </p:nvPr>
        </p:nvSpPr>
        <p:spPr>
          <a:xfrm>
            <a:off x="3970938" y="8829967"/>
            <a:ext cx="3037840" cy="464820"/>
          </a:xfrm>
          <a:prstGeom prst="rect">
            <a:avLst/>
          </a:prstGeom>
        </p:spPr>
        <p:txBody>
          <a:bodyPr vert="horz" lIns="93169" tIns="46585" rIns="93169" bIns="46585" rtlCol="0" anchor="b"/>
          <a:lstStyle>
            <a:lvl1pPr algn="r">
              <a:defRPr sz="1200"/>
            </a:lvl1pPr>
          </a:lstStyle>
          <a:p>
            <a:fld id="{3AA19290-3B50-423F-8386-34EA3226F54C}" type="slidenum">
              <a:rPr lang="en-US" smtClean="0"/>
              <a:t>‹#›</a:t>
            </a:fld>
            <a:endParaRPr lang="en-US" dirty="0"/>
          </a:p>
        </p:txBody>
      </p:sp>
    </p:spTree>
    <p:extLst>
      <p:ext uri="{BB962C8B-B14F-4D97-AF65-F5344CB8AC3E}">
        <p14:creationId xmlns:p14="http://schemas.microsoft.com/office/powerpoint/2010/main" val="1616536815"/>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37840" cy="464820"/>
          </a:xfrm>
          <a:prstGeom prst="rect">
            <a:avLst/>
          </a:prstGeom>
        </p:spPr>
        <p:txBody>
          <a:bodyPr vert="horz" lIns="93169" tIns="46585" rIns="93169" bIns="46585" rtlCol="0"/>
          <a:lstStyle>
            <a:lvl1pPr algn="l">
              <a:defRPr sz="1200"/>
            </a:lvl1pPr>
          </a:lstStyle>
          <a:p>
            <a:endParaRPr lang="en-US" dirty="0"/>
          </a:p>
        </p:txBody>
      </p:sp>
      <p:sp>
        <p:nvSpPr>
          <p:cNvPr id="3" name="Date Placeholder 2"/>
          <p:cNvSpPr>
            <a:spLocks noGrp="1"/>
          </p:cNvSpPr>
          <p:nvPr>
            <p:ph type="dt" idx="1"/>
          </p:nvPr>
        </p:nvSpPr>
        <p:spPr>
          <a:xfrm>
            <a:off x="3970938" y="0"/>
            <a:ext cx="3037840" cy="464820"/>
          </a:xfrm>
          <a:prstGeom prst="rect">
            <a:avLst/>
          </a:prstGeom>
        </p:spPr>
        <p:txBody>
          <a:bodyPr vert="horz" lIns="93169" tIns="46585" rIns="93169" bIns="46585" rtlCol="0"/>
          <a:lstStyle>
            <a:lvl1pPr algn="r">
              <a:defRPr sz="1200"/>
            </a:lvl1pPr>
          </a:lstStyle>
          <a:p>
            <a:fld id="{D94E0677-78E7-4F29-8DEE-AA9328514842}" type="datetimeFigureOut">
              <a:rPr lang="en-US" smtClean="0"/>
              <a:t>12/28/2015</a:t>
            </a:fld>
            <a:endParaRPr lang="en-US" dirty="0"/>
          </a:p>
        </p:txBody>
      </p:sp>
      <p:sp>
        <p:nvSpPr>
          <p:cNvPr id="4" name="Slide Image Placeholder 3"/>
          <p:cNvSpPr>
            <a:spLocks noGrp="1" noRot="1" noChangeAspect="1"/>
          </p:cNvSpPr>
          <p:nvPr>
            <p:ph type="sldImg" idx="2"/>
          </p:nvPr>
        </p:nvSpPr>
        <p:spPr>
          <a:xfrm>
            <a:off x="1249363" y="696913"/>
            <a:ext cx="4511675" cy="3486150"/>
          </a:xfrm>
          <a:prstGeom prst="rect">
            <a:avLst/>
          </a:prstGeom>
          <a:noFill/>
          <a:ln w="12700">
            <a:solidFill>
              <a:prstClr val="black"/>
            </a:solidFill>
          </a:ln>
        </p:spPr>
        <p:txBody>
          <a:bodyPr vert="horz" lIns="93169" tIns="46585" rIns="93169" bIns="46585" rtlCol="0" anchor="ctr"/>
          <a:lstStyle/>
          <a:p>
            <a:endParaRPr lang="en-US" dirty="0"/>
          </a:p>
        </p:txBody>
      </p:sp>
      <p:sp>
        <p:nvSpPr>
          <p:cNvPr id="5" name="Notes Placeholder 4"/>
          <p:cNvSpPr>
            <a:spLocks noGrp="1"/>
          </p:cNvSpPr>
          <p:nvPr>
            <p:ph type="body" sz="quarter" idx="3"/>
          </p:nvPr>
        </p:nvSpPr>
        <p:spPr>
          <a:xfrm>
            <a:off x="701040" y="4415790"/>
            <a:ext cx="5608320" cy="4183380"/>
          </a:xfrm>
          <a:prstGeom prst="rect">
            <a:avLst/>
          </a:prstGeom>
        </p:spPr>
        <p:txBody>
          <a:bodyPr vert="horz" lIns="93169" tIns="46585" rIns="93169" bIns="46585"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829967"/>
            <a:ext cx="3037840" cy="464820"/>
          </a:xfrm>
          <a:prstGeom prst="rect">
            <a:avLst/>
          </a:prstGeom>
        </p:spPr>
        <p:txBody>
          <a:bodyPr vert="horz" lIns="93169" tIns="46585" rIns="93169" bIns="46585" rtlCol="0" anchor="b"/>
          <a:lstStyle>
            <a:lvl1pPr algn="l">
              <a:defRPr sz="1200"/>
            </a:lvl1pPr>
          </a:lstStyle>
          <a:p>
            <a:endParaRPr lang="en-US" dirty="0"/>
          </a:p>
        </p:txBody>
      </p:sp>
      <p:sp>
        <p:nvSpPr>
          <p:cNvPr id="7" name="Slide Number Placeholder 6"/>
          <p:cNvSpPr>
            <a:spLocks noGrp="1"/>
          </p:cNvSpPr>
          <p:nvPr>
            <p:ph type="sldNum" sz="quarter" idx="5"/>
          </p:nvPr>
        </p:nvSpPr>
        <p:spPr>
          <a:xfrm>
            <a:off x="3970938" y="8829967"/>
            <a:ext cx="3037840" cy="464820"/>
          </a:xfrm>
          <a:prstGeom prst="rect">
            <a:avLst/>
          </a:prstGeom>
        </p:spPr>
        <p:txBody>
          <a:bodyPr vert="horz" lIns="93169" tIns="46585" rIns="93169" bIns="46585" rtlCol="0" anchor="b"/>
          <a:lstStyle>
            <a:lvl1pPr algn="r">
              <a:defRPr sz="1200"/>
            </a:lvl1pPr>
          </a:lstStyle>
          <a:p>
            <a:fld id="{4CF500CA-EC02-405F-A377-1C6BD89C661C}" type="slidenum">
              <a:rPr lang="en-US" smtClean="0"/>
              <a:t>‹#›</a:t>
            </a:fld>
            <a:endParaRPr lang="en-US" dirty="0"/>
          </a:p>
        </p:txBody>
      </p:sp>
    </p:spTree>
    <p:extLst>
      <p:ext uri="{BB962C8B-B14F-4D97-AF65-F5344CB8AC3E}">
        <p14:creationId xmlns:p14="http://schemas.microsoft.com/office/powerpoint/2010/main" val="277036388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113" name="Slide Image Placeholder 1"/>
          <p:cNvSpPr>
            <a:spLocks noGrp="1" noRot="1" noChangeAspect="1"/>
          </p:cNvSpPr>
          <p:nvPr>
            <p:ph type="sldImg"/>
          </p:nvPr>
        </p:nvSpPr>
        <p:spPr>
          <a:xfrm>
            <a:off x="1249363" y="698500"/>
            <a:ext cx="4511675" cy="3486150"/>
          </a:xfrm>
          <a:ln/>
        </p:spPr>
      </p:sp>
      <p:sp>
        <p:nvSpPr>
          <p:cNvPr id="90114" name="Notes Placeholder 2"/>
          <p:cNvSpPr>
            <a:spLocks noGrp="1"/>
          </p:cNvSpPr>
          <p:nvPr>
            <p:ph type="body" idx="1"/>
          </p:nvPr>
        </p:nvSpPr>
        <p:spPr>
          <a:noFill/>
          <a:ln/>
        </p:spPr>
        <p:txBody>
          <a:bodyPr/>
          <a:lstStyle/>
          <a:p>
            <a:pPr eaLnBrk="1" hangingPunct="1"/>
            <a:endParaRPr lang="en-US" dirty="0" smtClean="0"/>
          </a:p>
        </p:txBody>
      </p:sp>
      <p:sp>
        <p:nvSpPr>
          <p:cNvPr id="90115" name="Slide Number Placeholder 3"/>
          <p:cNvSpPr>
            <a:spLocks noGrp="1"/>
          </p:cNvSpPr>
          <p:nvPr>
            <p:ph type="sldNum" sz="quarter" idx="5"/>
          </p:nvPr>
        </p:nvSpPr>
        <p:spPr>
          <a:noFill/>
        </p:spPr>
        <p:txBody>
          <a:bodyPr/>
          <a:lstStyle/>
          <a:p>
            <a:pPr defTabSz="919834"/>
            <a:fld id="{1FE077EC-684A-4FD9-A6C3-9AE90D8B81D6}" type="slidenum">
              <a:rPr lang="en-US" smtClean="0">
                <a:solidFill>
                  <a:prstClr val="black"/>
                </a:solidFill>
              </a:rPr>
              <a:pPr defTabSz="919834"/>
              <a:t>1</a:t>
            </a:fld>
            <a:endParaRPr lang="en-US" dirty="0" smtClean="0">
              <a:solidFill>
                <a:prstClr val="black"/>
              </a:solidFill>
            </a:endParaRPr>
          </a:p>
        </p:txBody>
      </p:sp>
    </p:spTree>
    <p:extLst>
      <p:ext uri="{BB962C8B-B14F-4D97-AF65-F5344CB8AC3E}">
        <p14:creationId xmlns:p14="http://schemas.microsoft.com/office/powerpoint/2010/main" val="300677202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4CF500CA-EC02-405F-A377-1C6BD89C661C}" type="slidenum">
              <a:rPr lang="en-US" smtClean="0"/>
              <a:t>2</a:t>
            </a:fld>
            <a:endParaRPr lang="en-US" dirty="0"/>
          </a:p>
        </p:txBody>
      </p:sp>
    </p:spTree>
    <p:extLst>
      <p:ext uri="{BB962C8B-B14F-4D97-AF65-F5344CB8AC3E}">
        <p14:creationId xmlns:p14="http://schemas.microsoft.com/office/powerpoint/2010/main" val="214966513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4CF500CA-EC02-405F-A377-1C6BD89C661C}" type="slidenum">
              <a:rPr lang="en-US" smtClean="0"/>
              <a:t>3</a:t>
            </a:fld>
            <a:endParaRPr lang="en-US" dirty="0"/>
          </a:p>
        </p:txBody>
      </p:sp>
    </p:spTree>
    <p:extLst>
      <p:ext uri="{BB962C8B-B14F-4D97-AF65-F5344CB8AC3E}">
        <p14:creationId xmlns:p14="http://schemas.microsoft.com/office/powerpoint/2010/main" val="279337421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4CF500CA-EC02-405F-A377-1C6BD89C661C}" type="slidenum">
              <a:rPr lang="en-US" smtClean="0"/>
              <a:t>4</a:t>
            </a:fld>
            <a:endParaRPr lang="en-US" dirty="0"/>
          </a:p>
        </p:txBody>
      </p:sp>
    </p:spTree>
    <p:extLst>
      <p:ext uri="{BB962C8B-B14F-4D97-AF65-F5344CB8AC3E}">
        <p14:creationId xmlns:p14="http://schemas.microsoft.com/office/powerpoint/2010/main" val="289913075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4CF500CA-EC02-405F-A377-1C6BD89C661C}" type="slidenum">
              <a:rPr lang="en-US" smtClean="0"/>
              <a:t>5</a:t>
            </a:fld>
            <a:endParaRPr lang="en-US" dirty="0"/>
          </a:p>
        </p:txBody>
      </p:sp>
    </p:spTree>
    <p:extLst>
      <p:ext uri="{BB962C8B-B14F-4D97-AF65-F5344CB8AC3E}">
        <p14:creationId xmlns:p14="http://schemas.microsoft.com/office/powerpoint/2010/main" val="365682926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a:defRPr/>
            </a:pPr>
            <a:fld id="{993BEEDA-D9FC-4A9F-BB3F-83B0CB940930}" type="slidenum">
              <a:rPr lang="en-US" smtClean="0">
                <a:solidFill>
                  <a:prstClr val="black"/>
                </a:solidFill>
              </a:rPr>
              <a:pPr>
                <a:defRPr/>
              </a:pPr>
              <a:t>6</a:t>
            </a:fld>
            <a:endParaRPr lang="en-US" dirty="0">
              <a:solidFill>
                <a:prstClr val="black"/>
              </a:solidFill>
            </a:endParaRPr>
          </a:p>
        </p:txBody>
      </p:sp>
    </p:spTree>
    <p:extLst>
      <p:ext uri="{BB962C8B-B14F-4D97-AF65-F5344CB8AC3E}">
        <p14:creationId xmlns:p14="http://schemas.microsoft.com/office/powerpoint/2010/main" val="245206249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a:defRPr/>
            </a:pPr>
            <a:fld id="{993BEEDA-D9FC-4A9F-BB3F-83B0CB940930}" type="slidenum">
              <a:rPr lang="en-US" smtClean="0">
                <a:solidFill>
                  <a:prstClr val="black"/>
                </a:solidFill>
              </a:rPr>
              <a:pPr>
                <a:defRPr/>
              </a:pPr>
              <a:t>7</a:t>
            </a:fld>
            <a:endParaRPr lang="en-US" dirty="0">
              <a:solidFill>
                <a:prstClr val="black"/>
              </a:solidFill>
            </a:endParaRPr>
          </a:p>
        </p:txBody>
      </p:sp>
    </p:spTree>
    <p:extLst>
      <p:ext uri="{BB962C8B-B14F-4D97-AF65-F5344CB8AC3E}">
        <p14:creationId xmlns:p14="http://schemas.microsoft.com/office/powerpoint/2010/main" val="245206249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4CF500CA-EC02-405F-A377-1C6BD89C661C}" type="slidenum">
              <a:rPr lang="en-US" smtClean="0"/>
              <a:t>8</a:t>
            </a:fld>
            <a:endParaRPr lang="en-US" dirty="0"/>
          </a:p>
        </p:txBody>
      </p:sp>
    </p:spTree>
    <p:extLst>
      <p:ext uri="{BB962C8B-B14F-4D97-AF65-F5344CB8AC3E}">
        <p14:creationId xmlns:p14="http://schemas.microsoft.com/office/powerpoint/2010/main" val="53380781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4CF500CA-EC02-405F-A377-1C6BD89C661C}" type="slidenum">
              <a:rPr lang="en-US" smtClean="0"/>
              <a:t>9</a:t>
            </a:fld>
            <a:endParaRPr lang="en-US" dirty="0"/>
          </a:p>
        </p:txBody>
      </p:sp>
    </p:spTree>
    <p:extLst>
      <p:ext uri="{BB962C8B-B14F-4D97-AF65-F5344CB8AC3E}">
        <p14:creationId xmlns:p14="http://schemas.microsoft.com/office/powerpoint/2010/main" val="301169488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a:defRPr/>
            </a:pPr>
            <a:fld id="{993BEEDA-D9FC-4A9F-BB3F-83B0CB940930}" type="slidenum">
              <a:rPr lang="en-US" smtClean="0">
                <a:solidFill>
                  <a:prstClr val="black"/>
                </a:solidFill>
              </a:rPr>
              <a:pPr>
                <a:defRPr/>
              </a:pPr>
              <a:t>10</a:t>
            </a:fld>
            <a:endParaRPr lang="en-US" dirty="0">
              <a:solidFill>
                <a:prstClr val="black"/>
              </a:solidFill>
            </a:endParaRPr>
          </a:p>
        </p:txBody>
      </p:sp>
    </p:spTree>
    <p:extLst>
      <p:ext uri="{BB962C8B-B14F-4D97-AF65-F5344CB8AC3E}">
        <p14:creationId xmlns:p14="http://schemas.microsoft.com/office/powerpoint/2010/main" val="245206249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4CF500CA-EC02-405F-A377-1C6BD89C661C}" type="slidenum">
              <a:rPr lang="en-US" smtClean="0"/>
              <a:t>11</a:t>
            </a:fld>
            <a:endParaRPr lang="en-US" dirty="0"/>
          </a:p>
        </p:txBody>
      </p:sp>
    </p:spTree>
    <p:extLst>
      <p:ext uri="{BB962C8B-B14F-4D97-AF65-F5344CB8AC3E}">
        <p14:creationId xmlns:p14="http://schemas.microsoft.com/office/powerpoint/2010/main" val="693542718"/>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4.jpeg"/><Relationship Id="rId1" Type="http://schemas.openxmlformats.org/officeDocument/2006/relationships/slideMaster" Target="../slideMasters/slideMaster1.xml"/><Relationship Id="rId5" Type="http://schemas.openxmlformats.org/officeDocument/2006/relationships/image" Target="../media/image3.emf"/><Relationship Id="rId4" Type="http://schemas.openxmlformats.org/officeDocument/2006/relationships/image" Target="../media/image5.gif"/></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4.jpeg"/><Relationship Id="rId1" Type="http://schemas.openxmlformats.org/officeDocument/2006/relationships/slideMaster" Target="../slideMasters/slideMaster1.xml"/><Relationship Id="rId5" Type="http://schemas.openxmlformats.org/officeDocument/2006/relationships/image" Target="../media/image3.emf"/><Relationship Id="rId4" Type="http://schemas.openxmlformats.org/officeDocument/2006/relationships/image" Target="../media/image5.gif"/></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5.gif"/><Relationship Id="rId2" Type="http://schemas.openxmlformats.org/officeDocument/2006/relationships/image" Target="../media/image6.jpeg"/><Relationship Id="rId1" Type="http://schemas.openxmlformats.org/officeDocument/2006/relationships/slideMaster" Target="../slideMasters/slideMaster1.xml"/><Relationship Id="rId4" Type="http://schemas.openxmlformats.org/officeDocument/2006/relationships/image" Target="../media/image3.emf"/></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7.jpeg"/><Relationship Id="rId1" Type="http://schemas.openxmlformats.org/officeDocument/2006/relationships/slideMaster" Target="../slideMasters/slideMaster1.xml"/><Relationship Id="rId4" Type="http://schemas.openxmlformats.org/officeDocument/2006/relationships/image" Target="../media/image3.emf"/></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pic>
        <p:nvPicPr>
          <p:cNvPr id="7" name="Picture 33" descr="Cello_CoverDesigns_FINAL_2-02"/>
          <p:cNvPicPr>
            <a:picLocks noChangeAspect="1" noChangeArrowheads="1"/>
          </p:cNvPicPr>
          <p:nvPr userDrawn="1"/>
        </p:nvPicPr>
        <p:blipFill>
          <a:blip r:embed="rId2" cstate="print"/>
          <a:srcRect b="13019"/>
          <a:stretch>
            <a:fillRect/>
          </a:stretch>
        </p:blipFill>
        <p:spPr bwMode="auto">
          <a:xfrm>
            <a:off x="228600" y="788038"/>
            <a:ext cx="9601200" cy="3853742"/>
          </a:xfrm>
          <a:prstGeom prst="rect">
            <a:avLst/>
          </a:prstGeom>
          <a:noFill/>
          <a:ln w="9525">
            <a:noFill/>
            <a:miter lim="800000"/>
            <a:headEnd/>
            <a:tailEnd/>
          </a:ln>
        </p:spPr>
      </p:pic>
      <p:sp>
        <p:nvSpPr>
          <p:cNvPr id="8" name="Rectangle 48"/>
          <p:cNvSpPr>
            <a:spLocks noChangeArrowheads="1"/>
          </p:cNvSpPr>
          <p:nvPr userDrawn="1"/>
        </p:nvSpPr>
        <p:spPr bwMode="auto">
          <a:xfrm>
            <a:off x="228600" y="7136284"/>
            <a:ext cx="9601200" cy="401215"/>
          </a:xfrm>
          <a:prstGeom prst="rect">
            <a:avLst/>
          </a:prstGeom>
          <a:gradFill rotWithShape="1">
            <a:gsLst>
              <a:gs pos="0">
                <a:schemeClr val="accent1"/>
              </a:gs>
              <a:gs pos="100000">
                <a:schemeClr val="tx2"/>
              </a:gs>
            </a:gsLst>
            <a:lin ang="0" scaled="1"/>
          </a:gradFill>
          <a:ln w="9525">
            <a:noFill/>
            <a:miter lim="800000"/>
            <a:headEnd/>
            <a:tailEnd/>
          </a:ln>
          <a:effectLst/>
        </p:spPr>
        <p:txBody>
          <a:bodyPr wrap="none" lIns="101858" tIns="50929" rIns="101858" bIns="50929" anchor="ctr"/>
          <a:lstStyle/>
          <a:p>
            <a:endParaRPr lang="en-US" dirty="0"/>
          </a:p>
        </p:txBody>
      </p:sp>
      <p:sp>
        <p:nvSpPr>
          <p:cNvPr id="9" name="Rectangle 50"/>
          <p:cNvSpPr>
            <a:spLocks noChangeArrowheads="1"/>
          </p:cNvSpPr>
          <p:nvPr userDrawn="1"/>
        </p:nvSpPr>
        <p:spPr bwMode="auto">
          <a:xfrm flipV="1">
            <a:off x="228600" y="4967500"/>
            <a:ext cx="9601200" cy="401214"/>
          </a:xfrm>
          <a:prstGeom prst="rect">
            <a:avLst/>
          </a:prstGeom>
          <a:gradFill rotWithShape="1">
            <a:gsLst>
              <a:gs pos="0">
                <a:schemeClr val="accent1"/>
              </a:gs>
              <a:gs pos="100000">
                <a:schemeClr val="tx2"/>
              </a:gs>
            </a:gsLst>
            <a:lin ang="0" scaled="1"/>
          </a:gradFill>
          <a:ln w="9525">
            <a:noFill/>
            <a:miter lim="800000"/>
            <a:headEnd/>
            <a:tailEnd/>
          </a:ln>
          <a:effectLst/>
        </p:spPr>
        <p:txBody>
          <a:bodyPr wrap="none" lIns="91418" tIns="45710" rIns="91418" bIns="45710" anchor="ctr"/>
          <a:lstStyle/>
          <a:p>
            <a:endParaRPr lang="en-US" dirty="0"/>
          </a:p>
        </p:txBody>
      </p:sp>
      <p:sp>
        <p:nvSpPr>
          <p:cNvPr id="21" name="Rectangle 14"/>
          <p:cNvSpPr>
            <a:spLocks noChangeArrowheads="1"/>
          </p:cNvSpPr>
          <p:nvPr userDrawn="1"/>
        </p:nvSpPr>
        <p:spPr bwMode="auto">
          <a:xfrm>
            <a:off x="228600" y="228600"/>
            <a:ext cx="9601200" cy="7315200"/>
          </a:xfrm>
          <a:prstGeom prst="rect">
            <a:avLst/>
          </a:prstGeom>
          <a:noFill/>
          <a:ln w="25400">
            <a:solidFill>
              <a:schemeClr val="accent3"/>
            </a:solidFill>
            <a:miter lim="800000"/>
            <a:headEnd/>
            <a:tailEnd/>
          </a:ln>
        </p:spPr>
        <p:txBody>
          <a:bodyPr wrap="none" lIns="101847" tIns="50923" rIns="101847" bIns="50923" anchor="ctr"/>
          <a:lstStyle/>
          <a:p>
            <a:pPr>
              <a:defRPr/>
            </a:pPr>
            <a:endParaRPr lang="en-US" dirty="0"/>
          </a:p>
        </p:txBody>
      </p:sp>
      <p:sp>
        <p:nvSpPr>
          <p:cNvPr id="2" name="Title 1"/>
          <p:cNvSpPr>
            <a:spLocks noGrp="1"/>
          </p:cNvSpPr>
          <p:nvPr>
            <p:ph type="ctrTitle"/>
          </p:nvPr>
        </p:nvSpPr>
        <p:spPr>
          <a:xfrm>
            <a:off x="3352800" y="6299200"/>
            <a:ext cx="6248400" cy="330200"/>
          </a:xfrm>
        </p:spPr>
        <p:txBody>
          <a:bodyPr/>
          <a:lstStyle>
            <a:lvl1pPr algn="r">
              <a:defRPr sz="2000" b="0" baseline="0">
                <a:solidFill>
                  <a:schemeClr val="accent3"/>
                </a:solidFill>
              </a:defRPr>
            </a:lvl1pPr>
          </a:lstStyle>
          <a:p>
            <a:r>
              <a:rPr lang="en-US" dirty="0" smtClean="0"/>
              <a:t>Click to edit Master title style</a:t>
            </a:r>
            <a:endParaRPr lang="en-US" dirty="0"/>
          </a:p>
        </p:txBody>
      </p:sp>
      <p:sp>
        <p:nvSpPr>
          <p:cNvPr id="3" name="Subtitle 2"/>
          <p:cNvSpPr>
            <a:spLocks noGrp="1"/>
          </p:cNvSpPr>
          <p:nvPr>
            <p:ph type="subTitle" idx="1"/>
          </p:nvPr>
        </p:nvSpPr>
        <p:spPr>
          <a:xfrm>
            <a:off x="3352800" y="6639560"/>
            <a:ext cx="6248400" cy="457200"/>
          </a:xfrm>
        </p:spPr>
        <p:txBody>
          <a:bodyPr/>
          <a:lstStyle>
            <a:lvl1pPr marL="0" indent="0" algn="r">
              <a:buNone/>
              <a:defRPr sz="1700" b="0">
                <a:solidFill>
                  <a:schemeClr val="tx2"/>
                </a:solidFill>
              </a:defRPr>
            </a:lvl1pPr>
            <a:lvl2pPr marL="509412" indent="0" algn="ctr">
              <a:buNone/>
              <a:defRPr>
                <a:solidFill>
                  <a:schemeClr val="tx1">
                    <a:tint val="75000"/>
                  </a:schemeClr>
                </a:solidFill>
              </a:defRPr>
            </a:lvl2pPr>
            <a:lvl3pPr marL="1018824" indent="0" algn="ctr">
              <a:buNone/>
              <a:defRPr>
                <a:solidFill>
                  <a:schemeClr val="tx1">
                    <a:tint val="75000"/>
                  </a:schemeClr>
                </a:solidFill>
              </a:defRPr>
            </a:lvl3pPr>
            <a:lvl4pPr marL="1528237" indent="0" algn="ctr">
              <a:buNone/>
              <a:defRPr>
                <a:solidFill>
                  <a:schemeClr val="tx1">
                    <a:tint val="75000"/>
                  </a:schemeClr>
                </a:solidFill>
              </a:defRPr>
            </a:lvl4pPr>
            <a:lvl5pPr marL="2037649" indent="0" algn="ctr">
              <a:buNone/>
              <a:defRPr>
                <a:solidFill>
                  <a:schemeClr val="tx1">
                    <a:tint val="75000"/>
                  </a:schemeClr>
                </a:solidFill>
              </a:defRPr>
            </a:lvl5pPr>
            <a:lvl6pPr marL="2547061" indent="0" algn="ctr">
              <a:buNone/>
              <a:defRPr>
                <a:solidFill>
                  <a:schemeClr val="tx1">
                    <a:tint val="75000"/>
                  </a:schemeClr>
                </a:solidFill>
              </a:defRPr>
            </a:lvl6pPr>
            <a:lvl7pPr marL="3056473" indent="0" algn="ctr">
              <a:buNone/>
              <a:defRPr>
                <a:solidFill>
                  <a:schemeClr val="tx1">
                    <a:tint val="75000"/>
                  </a:schemeClr>
                </a:solidFill>
              </a:defRPr>
            </a:lvl7pPr>
            <a:lvl8pPr marL="3565886" indent="0" algn="ctr">
              <a:buNone/>
              <a:defRPr>
                <a:solidFill>
                  <a:schemeClr val="tx1">
                    <a:tint val="75000"/>
                  </a:schemeClr>
                </a:solidFill>
              </a:defRPr>
            </a:lvl8pPr>
            <a:lvl9pPr marL="4075298" indent="0" algn="ctr">
              <a:buNone/>
              <a:defRPr>
                <a:solidFill>
                  <a:schemeClr val="tx1">
                    <a:tint val="75000"/>
                  </a:schemeClr>
                </a:solidFill>
              </a:defRPr>
            </a:lvl9pPr>
          </a:lstStyle>
          <a:p>
            <a:r>
              <a:rPr lang="en-US" dirty="0" smtClean="0"/>
              <a:t>Click to edit Master subtitle style</a:t>
            </a:r>
            <a:endParaRPr lang="en-US" dirty="0"/>
          </a:p>
        </p:txBody>
      </p:sp>
      <p:pic>
        <p:nvPicPr>
          <p:cNvPr id="22" name="Picture 21"/>
          <p:cNvPicPr>
            <a:picLocks noChangeAspect="1"/>
          </p:cNvPicPr>
          <p:nvPr userDrawn="1"/>
        </p:nvPicPr>
        <p:blipFill>
          <a:blip r:embed="rId3"/>
          <a:stretch>
            <a:fillRect/>
          </a:stretch>
        </p:blipFill>
        <p:spPr>
          <a:xfrm>
            <a:off x="1011082" y="3986954"/>
            <a:ext cx="2202628" cy="2880360"/>
          </a:xfrm>
          <a:prstGeom prst="rect">
            <a:avLst/>
          </a:prstGeom>
        </p:spPr>
      </p:pic>
    </p:spTree>
    <p:extLst>
      <p:ext uri="{BB962C8B-B14F-4D97-AF65-F5344CB8AC3E}">
        <p14:creationId xmlns:p14="http://schemas.microsoft.com/office/powerpoint/2010/main" val="211321401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1_Title Slide">
    <p:spTree>
      <p:nvGrpSpPr>
        <p:cNvPr id="1" name=""/>
        <p:cNvGrpSpPr/>
        <p:nvPr/>
      </p:nvGrpSpPr>
      <p:grpSpPr>
        <a:xfrm>
          <a:off x="0" y="0"/>
          <a:ext cx="0" cy="0"/>
          <a:chOff x="0" y="0"/>
          <a:chExt cx="0" cy="0"/>
        </a:xfrm>
      </p:grpSpPr>
      <p:pic>
        <p:nvPicPr>
          <p:cNvPr id="10" name="Picture 30" descr="Cello_CoverDesigns_Cellobluestrip-01"/>
          <p:cNvPicPr>
            <a:picLocks noChangeAspect="1" noChangeArrowheads="1"/>
          </p:cNvPicPr>
          <p:nvPr userDrawn="1"/>
        </p:nvPicPr>
        <p:blipFill>
          <a:blip r:embed="rId2" cstate="print"/>
          <a:srcRect b="3510"/>
          <a:stretch>
            <a:fillRect/>
          </a:stretch>
        </p:blipFill>
        <p:spPr bwMode="auto">
          <a:xfrm>
            <a:off x="228600" y="4769594"/>
            <a:ext cx="9601200" cy="482500"/>
          </a:xfrm>
          <a:prstGeom prst="rect">
            <a:avLst/>
          </a:prstGeom>
          <a:noFill/>
        </p:spPr>
      </p:pic>
      <p:pic>
        <p:nvPicPr>
          <p:cNvPr id="11" name="Picture 33" descr="Cello_CoverDesigns_FINAL_2-02"/>
          <p:cNvPicPr>
            <a:picLocks noChangeAspect="1" noChangeArrowheads="1"/>
          </p:cNvPicPr>
          <p:nvPr userDrawn="1"/>
        </p:nvPicPr>
        <p:blipFill>
          <a:blip r:embed="rId3" cstate="print"/>
          <a:srcRect b="13019"/>
          <a:stretch>
            <a:fillRect/>
          </a:stretch>
        </p:blipFill>
        <p:spPr bwMode="auto">
          <a:xfrm>
            <a:off x="228600" y="889638"/>
            <a:ext cx="9601200" cy="3853742"/>
          </a:xfrm>
          <a:prstGeom prst="rect">
            <a:avLst/>
          </a:prstGeom>
          <a:noFill/>
          <a:ln w="9525">
            <a:noFill/>
            <a:miter lim="800000"/>
            <a:headEnd/>
            <a:tailEnd/>
          </a:ln>
        </p:spPr>
      </p:pic>
      <p:pic>
        <p:nvPicPr>
          <p:cNvPr id="26" name="Picture 25" descr="GUGG_logo_262.gif"/>
          <p:cNvPicPr>
            <a:picLocks noChangeAspect="1"/>
          </p:cNvPicPr>
          <p:nvPr userDrawn="1"/>
        </p:nvPicPr>
        <p:blipFill>
          <a:blip r:embed="rId4" cstate="print"/>
          <a:stretch>
            <a:fillRect/>
          </a:stretch>
        </p:blipFill>
        <p:spPr>
          <a:xfrm>
            <a:off x="4043680" y="468949"/>
            <a:ext cx="2072640" cy="153375"/>
          </a:xfrm>
          <a:prstGeom prst="rect">
            <a:avLst/>
          </a:prstGeom>
        </p:spPr>
      </p:pic>
      <p:pic>
        <p:nvPicPr>
          <p:cNvPr id="27" name="Picture 26"/>
          <p:cNvPicPr>
            <a:picLocks noChangeAspect="1"/>
          </p:cNvPicPr>
          <p:nvPr userDrawn="1"/>
        </p:nvPicPr>
        <p:blipFill>
          <a:blip r:embed="rId5"/>
          <a:stretch>
            <a:fillRect/>
          </a:stretch>
        </p:blipFill>
        <p:spPr>
          <a:xfrm>
            <a:off x="3753074" y="3762061"/>
            <a:ext cx="2552251" cy="3337560"/>
          </a:xfrm>
          <a:prstGeom prst="rect">
            <a:avLst/>
          </a:prstGeom>
        </p:spPr>
      </p:pic>
      <p:sp>
        <p:nvSpPr>
          <p:cNvPr id="28" name="Rectangle 14"/>
          <p:cNvSpPr>
            <a:spLocks noChangeArrowheads="1"/>
          </p:cNvSpPr>
          <p:nvPr userDrawn="1"/>
        </p:nvSpPr>
        <p:spPr bwMode="auto">
          <a:xfrm>
            <a:off x="228600" y="228600"/>
            <a:ext cx="9601200" cy="7315200"/>
          </a:xfrm>
          <a:prstGeom prst="rect">
            <a:avLst/>
          </a:prstGeom>
          <a:noFill/>
          <a:ln w="25400">
            <a:solidFill>
              <a:schemeClr val="accent3"/>
            </a:solidFill>
            <a:miter lim="800000"/>
            <a:headEnd/>
            <a:tailEnd/>
          </a:ln>
        </p:spPr>
        <p:txBody>
          <a:bodyPr wrap="none" lIns="101847" tIns="50923" rIns="101847" bIns="50923" anchor="ctr"/>
          <a:lstStyle/>
          <a:p>
            <a:pPr>
              <a:defRPr/>
            </a:pPr>
            <a:endParaRPr lang="en-US" dirty="0"/>
          </a:p>
        </p:txBody>
      </p:sp>
    </p:spTree>
    <p:extLst>
      <p:ext uri="{BB962C8B-B14F-4D97-AF65-F5344CB8AC3E}">
        <p14:creationId xmlns:p14="http://schemas.microsoft.com/office/powerpoint/2010/main" val="121579698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2_Title Slide">
    <p:spTree>
      <p:nvGrpSpPr>
        <p:cNvPr id="1" name=""/>
        <p:cNvGrpSpPr/>
        <p:nvPr/>
      </p:nvGrpSpPr>
      <p:grpSpPr>
        <a:xfrm>
          <a:off x="0" y="0"/>
          <a:ext cx="0" cy="0"/>
          <a:chOff x="0" y="0"/>
          <a:chExt cx="0" cy="0"/>
        </a:xfrm>
      </p:grpSpPr>
      <p:pic>
        <p:nvPicPr>
          <p:cNvPr id="10" name="Picture 30" descr="Cello_CoverDesigns_Cellobluestrip-01"/>
          <p:cNvPicPr>
            <a:picLocks noChangeAspect="1" noChangeArrowheads="1"/>
          </p:cNvPicPr>
          <p:nvPr userDrawn="1"/>
        </p:nvPicPr>
        <p:blipFill>
          <a:blip r:embed="rId2" cstate="print"/>
          <a:srcRect b="3510"/>
          <a:stretch>
            <a:fillRect/>
          </a:stretch>
        </p:blipFill>
        <p:spPr bwMode="auto">
          <a:xfrm>
            <a:off x="228600" y="4769594"/>
            <a:ext cx="9601200" cy="482500"/>
          </a:xfrm>
          <a:prstGeom prst="rect">
            <a:avLst/>
          </a:prstGeom>
          <a:noFill/>
        </p:spPr>
      </p:pic>
      <p:pic>
        <p:nvPicPr>
          <p:cNvPr id="11" name="Picture 33" descr="Cello_CoverDesigns_FINAL_2-02"/>
          <p:cNvPicPr>
            <a:picLocks noChangeAspect="1" noChangeArrowheads="1"/>
          </p:cNvPicPr>
          <p:nvPr userDrawn="1"/>
        </p:nvPicPr>
        <p:blipFill>
          <a:blip r:embed="rId3" cstate="print"/>
          <a:srcRect b="13019"/>
          <a:stretch>
            <a:fillRect/>
          </a:stretch>
        </p:blipFill>
        <p:spPr bwMode="auto">
          <a:xfrm>
            <a:off x="228600" y="889638"/>
            <a:ext cx="9601200" cy="3853742"/>
          </a:xfrm>
          <a:prstGeom prst="rect">
            <a:avLst/>
          </a:prstGeom>
          <a:noFill/>
          <a:ln w="9525">
            <a:noFill/>
            <a:miter lim="800000"/>
            <a:headEnd/>
            <a:tailEnd/>
          </a:ln>
        </p:spPr>
      </p:pic>
      <p:sp>
        <p:nvSpPr>
          <p:cNvPr id="25" name="Rectangle 24"/>
          <p:cNvSpPr/>
          <p:nvPr userDrawn="1"/>
        </p:nvSpPr>
        <p:spPr>
          <a:xfrm>
            <a:off x="228600" y="228600"/>
            <a:ext cx="9601200" cy="7315200"/>
          </a:xfrm>
          <a:prstGeom prst="rect">
            <a:avLst/>
          </a:prstGeom>
          <a:no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lIns="91418" tIns="45710" rIns="91418" bIns="45710" rtlCol="0" anchor="ctr"/>
          <a:lstStyle/>
          <a:p>
            <a:pPr algn="ctr"/>
            <a:endParaRPr lang="en-US" dirty="0"/>
          </a:p>
        </p:txBody>
      </p:sp>
      <p:pic>
        <p:nvPicPr>
          <p:cNvPr id="26" name="Picture 25" descr="GUGG_logo_262.gif"/>
          <p:cNvPicPr>
            <a:picLocks noChangeAspect="1"/>
          </p:cNvPicPr>
          <p:nvPr userDrawn="1"/>
        </p:nvPicPr>
        <p:blipFill>
          <a:blip r:embed="rId4" cstate="print"/>
          <a:stretch>
            <a:fillRect/>
          </a:stretch>
        </p:blipFill>
        <p:spPr>
          <a:xfrm>
            <a:off x="4043680" y="468949"/>
            <a:ext cx="2072640" cy="153375"/>
          </a:xfrm>
          <a:prstGeom prst="rect">
            <a:avLst/>
          </a:prstGeom>
        </p:spPr>
      </p:pic>
      <p:pic>
        <p:nvPicPr>
          <p:cNvPr id="27" name="Picture 26"/>
          <p:cNvPicPr>
            <a:picLocks noChangeAspect="1"/>
          </p:cNvPicPr>
          <p:nvPr userDrawn="1"/>
        </p:nvPicPr>
        <p:blipFill>
          <a:blip r:embed="rId5"/>
          <a:stretch>
            <a:fillRect/>
          </a:stretch>
        </p:blipFill>
        <p:spPr>
          <a:xfrm>
            <a:off x="3753074" y="3762061"/>
            <a:ext cx="2552251" cy="3337560"/>
          </a:xfrm>
          <a:prstGeom prst="rect">
            <a:avLst/>
          </a:prstGeom>
        </p:spPr>
      </p:pic>
    </p:spTree>
    <p:extLst>
      <p:ext uri="{BB962C8B-B14F-4D97-AF65-F5344CB8AC3E}">
        <p14:creationId xmlns:p14="http://schemas.microsoft.com/office/powerpoint/2010/main" val="205062966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userDrawn="1">
  <p:cSld name="3_Title Slide">
    <p:spTree>
      <p:nvGrpSpPr>
        <p:cNvPr id="1" name=""/>
        <p:cNvGrpSpPr/>
        <p:nvPr/>
      </p:nvGrpSpPr>
      <p:grpSpPr>
        <a:xfrm>
          <a:off x="0" y="0"/>
          <a:ext cx="0" cy="0"/>
          <a:chOff x="0" y="0"/>
          <a:chExt cx="0" cy="0"/>
        </a:xfrm>
      </p:grpSpPr>
      <p:pic>
        <p:nvPicPr>
          <p:cNvPr id="7" name="Picture 31" descr="Cello_CoverDesigns_cellofade-02"/>
          <p:cNvPicPr>
            <a:picLocks noChangeAspect="1" noChangeArrowheads="1"/>
          </p:cNvPicPr>
          <p:nvPr userDrawn="1"/>
        </p:nvPicPr>
        <p:blipFill>
          <a:blip r:embed="rId2" cstate="print"/>
          <a:srcRect l="2904" t="426" r="180"/>
          <a:stretch>
            <a:fillRect/>
          </a:stretch>
        </p:blipFill>
        <p:spPr bwMode="auto">
          <a:xfrm>
            <a:off x="228600" y="868436"/>
            <a:ext cx="9601200" cy="4295367"/>
          </a:xfrm>
          <a:prstGeom prst="rect">
            <a:avLst/>
          </a:prstGeom>
          <a:noFill/>
        </p:spPr>
      </p:pic>
      <p:sp>
        <p:nvSpPr>
          <p:cNvPr id="8" name="Line 17"/>
          <p:cNvSpPr>
            <a:spLocks noChangeShapeType="1"/>
          </p:cNvSpPr>
          <p:nvPr userDrawn="1"/>
        </p:nvSpPr>
        <p:spPr bwMode="auto">
          <a:xfrm>
            <a:off x="228600" y="5181262"/>
            <a:ext cx="9601200" cy="0"/>
          </a:xfrm>
          <a:prstGeom prst="line">
            <a:avLst/>
          </a:prstGeom>
          <a:noFill/>
          <a:ln w="12700">
            <a:solidFill>
              <a:schemeClr val="accent1"/>
            </a:solidFill>
            <a:round/>
            <a:headEnd/>
            <a:tailEnd/>
          </a:ln>
          <a:effectLst/>
        </p:spPr>
        <p:txBody>
          <a:bodyPr lIns="101847" tIns="50923" rIns="101847" bIns="50923"/>
          <a:lstStyle/>
          <a:p>
            <a:pPr>
              <a:defRPr/>
            </a:pPr>
            <a:endParaRPr lang="en-US" dirty="0">
              <a:solidFill>
                <a:srgbClr val="000000"/>
              </a:solidFill>
            </a:endParaRPr>
          </a:p>
        </p:txBody>
      </p:sp>
      <p:sp>
        <p:nvSpPr>
          <p:cNvPr id="9" name="Line 17"/>
          <p:cNvSpPr>
            <a:spLocks noChangeShapeType="1"/>
          </p:cNvSpPr>
          <p:nvPr userDrawn="1"/>
        </p:nvSpPr>
        <p:spPr bwMode="auto">
          <a:xfrm>
            <a:off x="228600" y="829416"/>
            <a:ext cx="9601200" cy="0"/>
          </a:xfrm>
          <a:prstGeom prst="line">
            <a:avLst/>
          </a:prstGeom>
          <a:noFill/>
          <a:ln w="12700">
            <a:solidFill>
              <a:schemeClr val="accent1"/>
            </a:solidFill>
            <a:round/>
            <a:headEnd/>
            <a:tailEnd/>
          </a:ln>
          <a:effectLst/>
        </p:spPr>
        <p:txBody>
          <a:bodyPr lIns="101847" tIns="50923" rIns="101847" bIns="50923"/>
          <a:lstStyle/>
          <a:p>
            <a:pPr>
              <a:defRPr/>
            </a:pPr>
            <a:endParaRPr lang="en-US" dirty="0">
              <a:solidFill>
                <a:srgbClr val="000000"/>
              </a:solidFill>
            </a:endParaRPr>
          </a:p>
        </p:txBody>
      </p:sp>
      <p:sp>
        <p:nvSpPr>
          <p:cNvPr id="25" name="Rectangle 24"/>
          <p:cNvSpPr/>
          <p:nvPr userDrawn="1"/>
        </p:nvSpPr>
        <p:spPr>
          <a:xfrm>
            <a:off x="228600" y="228600"/>
            <a:ext cx="9601200" cy="7315200"/>
          </a:xfrm>
          <a:prstGeom prst="rect">
            <a:avLst/>
          </a:prstGeom>
          <a:no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91418" tIns="45710" rIns="91418" bIns="45710" rtlCol="0" anchor="ctr"/>
          <a:lstStyle/>
          <a:p>
            <a:pPr algn="ctr"/>
            <a:endParaRPr lang="en-US" dirty="0"/>
          </a:p>
        </p:txBody>
      </p:sp>
      <p:pic>
        <p:nvPicPr>
          <p:cNvPr id="26" name="Picture 25" descr="GUGG_logo_262.gif"/>
          <p:cNvPicPr>
            <a:picLocks noChangeAspect="1"/>
          </p:cNvPicPr>
          <p:nvPr userDrawn="1"/>
        </p:nvPicPr>
        <p:blipFill>
          <a:blip r:embed="rId3" cstate="print"/>
          <a:stretch>
            <a:fillRect/>
          </a:stretch>
        </p:blipFill>
        <p:spPr>
          <a:xfrm>
            <a:off x="4043680" y="468949"/>
            <a:ext cx="2072640" cy="153375"/>
          </a:xfrm>
          <a:prstGeom prst="rect">
            <a:avLst/>
          </a:prstGeom>
        </p:spPr>
      </p:pic>
      <p:pic>
        <p:nvPicPr>
          <p:cNvPr id="27" name="Picture 26"/>
          <p:cNvPicPr>
            <a:picLocks noChangeAspect="1"/>
          </p:cNvPicPr>
          <p:nvPr userDrawn="1"/>
        </p:nvPicPr>
        <p:blipFill>
          <a:blip r:embed="rId4"/>
          <a:stretch>
            <a:fillRect/>
          </a:stretch>
        </p:blipFill>
        <p:spPr>
          <a:xfrm>
            <a:off x="3753074" y="3762061"/>
            <a:ext cx="2552251" cy="3337560"/>
          </a:xfrm>
          <a:prstGeom prst="rect">
            <a:avLst/>
          </a:prstGeom>
        </p:spPr>
      </p:pic>
    </p:spTree>
    <p:extLst>
      <p:ext uri="{BB962C8B-B14F-4D97-AF65-F5344CB8AC3E}">
        <p14:creationId xmlns:p14="http://schemas.microsoft.com/office/powerpoint/2010/main" val="43399214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reserve="1" userDrawn="1">
  <p:cSld name="4_Title Slide">
    <p:spTree>
      <p:nvGrpSpPr>
        <p:cNvPr id="1" name=""/>
        <p:cNvGrpSpPr/>
        <p:nvPr/>
      </p:nvGrpSpPr>
      <p:grpSpPr>
        <a:xfrm>
          <a:off x="0" y="0"/>
          <a:ext cx="0" cy="0"/>
          <a:chOff x="0" y="0"/>
          <a:chExt cx="0" cy="0"/>
        </a:xfrm>
      </p:grpSpPr>
      <p:pic>
        <p:nvPicPr>
          <p:cNvPr id="7" name="Picture 31" descr="Cello_CoverDesigns_cellofade-02"/>
          <p:cNvPicPr>
            <a:picLocks noChangeAspect="1" noChangeArrowheads="1"/>
          </p:cNvPicPr>
          <p:nvPr userDrawn="1"/>
        </p:nvPicPr>
        <p:blipFill>
          <a:blip r:embed="rId2" cstate="print"/>
          <a:srcRect l="2904" t="426" r="180"/>
          <a:stretch>
            <a:fillRect/>
          </a:stretch>
        </p:blipFill>
        <p:spPr bwMode="auto">
          <a:xfrm>
            <a:off x="228600" y="868436"/>
            <a:ext cx="9601200" cy="4295367"/>
          </a:xfrm>
          <a:prstGeom prst="rect">
            <a:avLst/>
          </a:prstGeom>
          <a:noFill/>
        </p:spPr>
      </p:pic>
      <p:sp>
        <p:nvSpPr>
          <p:cNvPr id="8" name="Line 17"/>
          <p:cNvSpPr>
            <a:spLocks noChangeShapeType="1"/>
          </p:cNvSpPr>
          <p:nvPr userDrawn="1"/>
        </p:nvSpPr>
        <p:spPr bwMode="auto">
          <a:xfrm>
            <a:off x="228600" y="5181262"/>
            <a:ext cx="9601200" cy="0"/>
          </a:xfrm>
          <a:prstGeom prst="line">
            <a:avLst/>
          </a:prstGeom>
          <a:noFill/>
          <a:ln w="12700">
            <a:solidFill>
              <a:schemeClr val="accent1"/>
            </a:solidFill>
            <a:round/>
            <a:headEnd/>
            <a:tailEnd/>
          </a:ln>
          <a:effectLst/>
        </p:spPr>
        <p:txBody>
          <a:bodyPr lIns="101847" tIns="50923" rIns="101847" bIns="50923"/>
          <a:lstStyle/>
          <a:p>
            <a:pPr>
              <a:defRPr/>
            </a:pPr>
            <a:endParaRPr lang="en-US" dirty="0">
              <a:solidFill>
                <a:srgbClr val="000000"/>
              </a:solidFill>
            </a:endParaRPr>
          </a:p>
        </p:txBody>
      </p:sp>
      <p:sp>
        <p:nvSpPr>
          <p:cNvPr id="9" name="Line 17"/>
          <p:cNvSpPr>
            <a:spLocks noChangeShapeType="1"/>
          </p:cNvSpPr>
          <p:nvPr userDrawn="1"/>
        </p:nvSpPr>
        <p:spPr bwMode="auto">
          <a:xfrm>
            <a:off x="228600" y="829416"/>
            <a:ext cx="9601200" cy="0"/>
          </a:xfrm>
          <a:prstGeom prst="line">
            <a:avLst/>
          </a:prstGeom>
          <a:noFill/>
          <a:ln w="12700">
            <a:solidFill>
              <a:schemeClr val="accent1"/>
            </a:solidFill>
            <a:round/>
            <a:headEnd/>
            <a:tailEnd/>
          </a:ln>
          <a:effectLst/>
        </p:spPr>
        <p:txBody>
          <a:bodyPr lIns="101847" tIns="50923" rIns="101847" bIns="50923"/>
          <a:lstStyle/>
          <a:p>
            <a:pPr>
              <a:defRPr/>
            </a:pPr>
            <a:endParaRPr lang="en-US" dirty="0">
              <a:solidFill>
                <a:srgbClr val="000000"/>
              </a:solidFill>
            </a:endParaRPr>
          </a:p>
        </p:txBody>
      </p:sp>
      <p:sp>
        <p:nvSpPr>
          <p:cNvPr id="25" name="Rectangle 24"/>
          <p:cNvSpPr/>
          <p:nvPr userDrawn="1"/>
        </p:nvSpPr>
        <p:spPr>
          <a:xfrm>
            <a:off x="228600" y="228600"/>
            <a:ext cx="9601200" cy="7315200"/>
          </a:xfrm>
          <a:prstGeom prst="rect">
            <a:avLst/>
          </a:prstGeom>
          <a:no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91418" tIns="45710" rIns="91418" bIns="45710" rtlCol="0" anchor="ctr"/>
          <a:lstStyle/>
          <a:p>
            <a:pPr algn="ctr"/>
            <a:endParaRPr lang="en-US" dirty="0"/>
          </a:p>
        </p:txBody>
      </p:sp>
      <p:pic>
        <p:nvPicPr>
          <p:cNvPr id="27" name="Picture 26"/>
          <p:cNvPicPr>
            <a:picLocks noChangeAspect="1"/>
          </p:cNvPicPr>
          <p:nvPr userDrawn="1"/>
        </p:nvPicPr>
        <p:blipFill>
          <a:blip r:embed="rId3"/>
          <a:stretch>
            <a:fillRect/>
          </a:stretch>
        </p:blipFill>
        <p:spPr>
          <a:xfrm>
            <a:off x="3753074" y="3762061"/>
            <a:ext cx="2552251" cy="3337560"/>
          </a:xfrm>
          <a:prstGeom prst="rect">
            <a:avLst/>
          </a:prstGeom>
        </p:spPr>
      </p:pic>
    </p:spTree>
    <p:extLst>
      <p:ext uri="{BB962C8B-B14F-4D97-AF65-F5344CB8AC3E}">
        <p14:creationId xmlns:p14="http://schemas.microsoft.com/office/powerpoint/2010/main" val="1518384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userDrawn="1">
  <p:cSld name="5_Title Slide">
    <p:spTree>
      <p:nvGrpSpPr>
        <p:cNvPr id="1" name=""/>
        <p:cNvGrpSpPr/>
        <p:nvPr/>
      </p:nvGrpSpPr>
      <p:grpSpPr>
        <a:xfrm>
          <a:off x="0" y="0"/>
          <a:ext cx="0" cy="0"/>
          <a:chOff x="0" y="0"/>
          <a:chExt cx="0" cy="0"/>
        </a:xfrm>
      </p:grpSpPr>
      <p:pic>
        <p:nvPicPr>
          <p:cNvPr id="7" name="Picture 31" descr="Cello_CoverDesigns_FINAL_3and4-01"/>
          <p:cNvPicPr>
            <a:picLocks noChangeAspect="1" noChangeArrowheads="1"/>
          </p:cNvPicPr>
          <p:nvPr userDrawn="1"/>
        </p:nvPicPr>
        <p:blipFill>
          <a:blip r:embed="rId2" cstate="print"/>
          <a:srcRect t="88849"/>
          <a:stretch>
            <a:fillRect/>
          </a:stretch>
        </p:blipFill>
        <p:spPr bwMode="auto">
          <a:xfrm>
            <a:off x="228600" y="4769721"/>
            <a:ext cx="9601200" cy="482373"/>
          </a:xfrm>
          <a:prstGeom prst="rect">
            <a:avLst/>
          </a:prstGeom>
          <a:noFill/>
          <a:ln w="9525">
            <a:noFill/>
            <a:miter lim="800000"/>
            <a:headEnd/>
            <a:tailEnd/>
          </a:ln>
        </p:spPr>
      </p:pic>
      <p:pic>
        <p:nvPicPr>
          <p:cNvPr id="11" name="Picture 33" descr="Cello_CoverDesigns_FINAL_2-02"/>
          <p:cNvPicPr>
            <a:picLocks noChangeAspect="1" noChangeArrowheads="1"/>
          </p:cNvPicPr>
          <p:nvPr userDrawn="1"/>
        </p:nvPicPr>
        <p:blipFill>
          <a:blip r:embed="rId3" cstate="print"/>
          <a:srcRect b="13019"/>
          <a:stretch>
            <a:fillRect/>
          </a:stretch>
        </p:blipFill>
        <p:spPr bwMode="auto">
          <a:xfrm>
            <a:off x="228600" y="889638"/>
            <a:ext cx="9601200" cy="3853742"/>
          </a:xfrm>
          <a:prstGeom prst="rect">
            <a:avLst/>
          </a:prstGeom>
          <a:noFill/>
          <a:ln w="9525">
            <a:noFill/>
            <a:miter lim="800000"/>
            <a:headEnd/>
            <a:tailEnd/>
          </a:ln>
        </p:spPr>
      </p:pic>
      <p:sp>
        <p:nvSpPr>
          <p:cNvPr id="28" name="Rectangle 14"/>
          <p:cNvSpPr>
            <a:spLocks noChangeArrowheads="1"/>
          </p:cNvSpPr>
          <p:nvPr userDrawn="1"/>
        </p:nvSpPr>
        <p:spPr bwMode="auto">
          <a:xfrm>
            <a:off x="228600" y="228600"/>
            <a:ext cx="9601200" cy="7315200"/>
          </a:xfrm>
          <a:prstGeom prst="rect">
            <a:avLst/>
          </a:prstGeom>
          <a:noFill/>
          <a:ln w="25400">
            <a:solidFill>
              <a:schemeClr val="bg2"/>
            </a:solidFill>
            <a:miter lim="800000"/>
            <a:headEnd/>
            <a:tailEnd/>
          </a:ln>
        </p:spPr>
        <p:txBody>
          <a:bodyPr wrap="none" lIns="101847" tIns="50923" rIns="101847" bIns="50923" anchor="ctr"/>
          <a:lstStyle/>
          <a:p>
            <a:pPr>
              <a:defRPr/>
            </a:pPr>
            <a:endParaRPr lang="en-US" dirty="0"/>
          </a:p>
        </p:txBody>
      </p:sp>
      <p:pic>
        <p:nvPicPr>
          <p:cNvPr id="27" name="Picture 26"/>
          <p:cNvPicPr>
            <a:picLocks noChangeAspect="1"/>
          </p:cNvPicPr>
          <p:nvPr userDrawn="1"/>
        </p:nvPicPr>
        <p:blipFill>
          <a:blip r:embed="rId4"/>
          <a:stretch>
            <a:fillRect/>
          </a:stretch>
        </p:blipFill>
        <p:spPr>
          <a:xfrm>
            <a:off x="3753074" y="3762061"/>
            <a:ext cx="2552251" cy="3337560"/>
          </a:xfrm>
          <a:prstGeom prst="rect">
            <a:avLst/>
          </a:prstGeom>
        </p:spPr>
      </p:pic>
    </p:spTree>
    <p:extLst>
      <p:ext uri="{BB962C8B-B14F-4D97-AF65-F5344CB8AC3E}">
        <p14:creationId xmlns:p14="http://schemas.microsoft.com/office/powerpoint/2010/main" val="187893025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userDrawn="1">
  <p:cSld name="6_Title Slide">
    <p:spTree>
      <p:nvGrpSpPr>
        <p:cNvPr id="1" name=""/>
        <p:cNvGrpSpPr/>
        <p:nvPr/>
      </p:nvGrpSpPr>
      <p:grpSpPr>
        <a:xfrm>
          <a:off x="0" y="0"/>
          <a:ext cx="0" cy="0"/>
          <a:chOff x="0" y="0"/>
          <a:chExt cx="0" cy="0"/>
        </a:xfrm>
      </p:grpSpPr>
      <p:pic>
        <p:nvPicPr>
          <p:cNvPr id="20" name="Picture 33" descr="Cello_CoverDesigns_FINAL_2-02"/>
          <p:cNvPicPr>
            <a:picLocks noChangeAspect="1" noChangeArrowheads="1"/>
          </p:cNvPicPr>
          <p:nvPr userDrawn="1"/>
        </p:nvPicPr>
        <p:blipFill>
          <a:blip r:embed="rId2" cstate="print"/>
          <a:srcRect t="88007" b="1381"/>
          <a:stretch>
            <a:fillRect/>
          </a:stretch>
        </p:blipFill>
        <p:spPr bwMode="auto">
          <a:xfrm>
            <a:off x="228600" y="4781954"/>
            <a:ext cx="9601200" cy="470140"/>
          </a:xfrm>
          <a:prstGeom prst="rect">
            <a:avLst/>
          </a:prstGeom>
          <a:noFill/>
          <a:ln w="9525">
            <a:noFill/>
            <a:miter lim="800000"/>
            <a:headEnd/>
            <a:tailEnd/>
          </a:ln>
        </p:spPr>
      </p:pic>
      <p:pic>
        <p:nvPicPr>
          <p:cNvPr id="11" name="Picture 33" descr="Cello_CoverDesigns_FINAL_2-02"/>
          <p:cNvPicPr>
            <a:picLocks noChangeAspect="1" noChangeArrowheads="1"/>
          </p:cNvPicPr>
          <p:nvPr userDrawn="1"/>
        </p:nvPicPr>
        <p:blipFill>
          <a:blip r:embed="rId2" cstate="print"/>
          <a:srcRect b="13019"/>
          <a:stretch>
            <a:fillRect/>
          </a:stretch>
        </p:blipFill>
        <p:spPr bwMode="auto">
          <a:xfrm>
            <a:off x="228600" y="889638"/>
            <a:ext cx="9601200" cy="3853742"/>
          </a:xfrm>
          <a:prstGeom prst="rect">
            <a:avLst/>
          </a:prstGeom>
          <a:noFill/>
          <a:ln w="9525">
            <a:noFill/>
            <a:miter lim="800000"/>
            <a:headEnd/>
            <a:tailEnd/>
          </a:ln>
        </p:spPr>
      </p:pic>
      <p:sp>
        <p:nvSpPr>
          <p:cNvPr id="28" name="Rectangle 14"/>
          <p:cNvSpPr>
            <a:spLocks noChangeArrowheads="1"/>
          </p:cNvSpPr>
          <p:nvPr userDrawn="1"/>
        </p:nvSpPr>
        <p:spPr bwMode="auto">
          <a:xfrm>
            <a:off x="228600" y="228600"/>
            <a:ext cx="9601200" cy="7315200"/>
          </a:xfrm>
          <a:prstGeom prst="rect">
            <a:avLst/>
          </a:prstGeom>
          <a:noFill/>
          <a:ln w="25400">
            <a:solidFill>
              <a:schemeClr val="bg2"/>
            </a:solidFill>
            <a:miter lim="800000"/>
            <a:headEnd/>
            <a:tailEnd/>
          </a:ln>
        </p:spPr>
        <p:txBody>
          <a:bodyPr wrap="none" lIns="101847" tIns="50923" rIns="101847" bIns="50923" anchor="ctr"/>
          <a:lstStyle/>
          <a:p>
            <a:pPr>
              <a:defRPr/>
            </a:pPr>
            <a:endParaRPr lang="en-US" dirty="0"/>
          </a:p>
        </p:txBody>
      </p:sp>
      <p:pic>
        <p:nvPicPr>
          <p:cNvPr id="34" name="Picture 33"/>
          <p:cNvPicPr>
            <a:picLocks noChangeAspect="1"/>
          </p:cNvPicPr>
          <p:nvPr userDrawn="1"/>
        </p:nvPicPr>
        <p:blipFill>
          <a:blip r:embed="rId3"/>
          <a:stretch>
            <a:fillRect/>
          </a:stretch>
        </p:blipFill>
        <p:spPr>
          <a:xfrm>
            <a:off x="4487283" y="4495800"/>
            <a:ext cx="1083833" cy="1417320"/>
          </a:xfrm>
          <a:prstGeom prst="rect">
            <a:avLst/>
          </a:prstGeom>
        </p:spPr>
      </p:pic>
      <p:sp>
        <p:nvSpPr>
          <p:cNvPr id="3" name="Content Placeholder 2"/>
          <p:cNvSpPr>
            <a:spLocks noGrp="1"/>
          </p:cNvSpPr>
          <p:nvPr>
            <p:ph sz="quarter" idx="10"/>
          </p:nvPr>
        </p:nvSpPr>
        <p:spPr>
          <a:xfrm>
            <a:off x="293688" y="6400800"/>
            <a:ext cx="9469437" cy="1001713"/>
          </a:xfrm>
        </p:spPr>
        <p:txBody>
          <a:bodyPr/>
          <a:lstStyle>
            <a:lvl1pPr algn="ctr">
              <a:defRPr sz="2600" b="0"/>
            </a:lvl1pPr>
          </a:lstStyle>
          <a:p>
            <a:pPr lvl="0"/>
            <a:r>
              <a:rPr lang="en-US" dirty="0" smtClean="0"/>
              <a:t>Click to edit Master text styles</a:t>
            </a:r>
          </a:p>
        </p:txBody>
      </p:sp>
    </p:spTree>
    <p:extLst>
      <p:ext uri="{BB962C8B-B14F-4D97-AF65-F5344CB8AC3E}">
        <p14:creationId xmlns:p14="http://schemas.microsoft.com/office/powerpoint/2010/main" val="325449880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Click to edit Master title style</a:t>
            </a:r>
            <a:endParaRPr lang="en-US" dirty="0"/>
          </a:p>
        </p:txBody>
      </p:sp>
      <p:sp>
        <p:nvSpPr>
          <p:cNvPr id="3" name="Content Placeholder 2"/>
          <p:cNvSpPr>
            <a:spLocks noGrp="1"/>
          </p:cNvSpPr>
          <p:nvPr>
            <p:ph idx="1"/>
          </p:nvPr>
        </p:nvSpPr>
        <p:spPr/>
        <p:txBody>
          <a:body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5" name="Text Placeholder 4"/>
          <p:cNvSpPr>
            <a:spLocks noGrp="1"/>
          </p:cNvSpPr>
          <p:nvPr>
            <p:ph type="body" sz="quarter" idx="10"/>
          </p:nvPr>
        </p:nvSpPr>
        <p:spPr>
          <a:xfrm>
            <a:off x="2895600" y="436880"/>
            <a:ext cx="6867525" cy="594360"/>
          </a:xfrm>
        </p:spPr>
        <p:txBody>
          <a:bodyPr/>
          <a:lstStyle>
            <a:lvl1pPr algn="r">
              <a:defRPr sz="1400" b="0">
                <a:solidFill>
                  <a:schemeClr val="bg1"/>
                </a:solidFill>
              </a:defRPr>
            </a:lvl1pPr>
          </a:lstStyle>
          <a:p>
            <a:pPr lvl="0"/>
            <a:r>
              <a:rPr lang="en-US" dirty="0" smtClean="0"/>
              <a:t>Click to edit Master text styles</a:t>
            </a:r>
          </a:p>
        </p:txBody>
      </p:sp>
    </p:spTree>
    <p:extLst>
      <p:ext uri="{BB962C8B-B14F-4D97-AF65-F5344CB8AC3E}">
        <p14:creationId xmlns:p14="http://schemas.microsoft.com/office/powerpoint/2010/main" val="84300056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Disclosure">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Click to edit Master title style</a:t>
            </a:r>
            <a:endParaRPr lang="en-US" dirty="0"/>
          </a:p>
        </p:txBody>
      </p:sp>
      <p:sp>
        <p:nvSpPr>
          <p:cNvPr id="3" name="Content Placeholder 2"/>
          <p:cNvSpPr>
            <a:spLocks noGrp="1"/>
          </p:cNvSpPr>
          <p:nvPr>
            <p:ph idx="1"/>
          </p:nvPr>
        </p:nvSpPr>
        <p:spPr/>
        <p:txBody>
          <a:bodyPr/>
          <a:lstStyle>
            <a:lvl1pPr algn="just">
              <a:spcBef>
                <a:spcPts val="1200"/>
              </a:spcBef>
              <a:defRPr sz="1100"/>
            </a:lvl1pPr>
            <a:lvl2pPr algn="just">
              <a:spcBef>
                <a:spcPts val="900"/>
              </a:spcBef>
              <a:defRPr sz="1100"/>
            </a:lvl2pPr>
            <a:lvl3pPr algn="just">
              <a:spcBef>
                <a:spcPts val="600"/>
              </a:spcBef>
              <a:defRPr sz="1100"/>
            </a:lvl3pPr>
            <a:lvl4pPr algn="just">
              <a:spcBef>
                <a:spcPts val="0"/>
              </a:spcBef>
              <a:defRPr sz="1100"/>
            </a:lvl4pPr>
            <a:lvl5pPr algn="just">
              <a:spcBef>
                <a:spcPts val="0"/>
              </a:spcBef>
              <a:defRPr sz="1100"/>
            </a:lvl5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5" name="Text Placeholder 4"/>
          <p:cNvSpPr>
            <a:spLocks noGrp="1"/>
          </p:cNvSpPr>
          <p:nvPr>
            <p:ph type="body" sz="quarter" idx="10"/>
          </p:nvPr>
        </p:nvSpPr>
        <p:spPr>
          <a:xfrm>
            <a:off x="2895600" y="436880"/>
            <a:ext cx="6867525" cy="594360"/>
          </a:xfrm>
        </p:spPr>
        <p:txBody>
          <a:bodyPr/>
          <a:lstStyle>
            <a:lvl1pPr algn="r">
              <a:defRPr sz="1400" b="0" cap="all" baseline="0">
                <a:solidFill>
                  <a:schemeClr val="bg1"/>
                </a:solidFill>
              </a:defRPr>
            </a:lvl1pPr>
          </a:lstStyle>
          <a:p>
            <a:pPr lvl="0"/>
            <a:r>
              <a:rPr lang="en-US" dirty="0" smtClean="0"/>
              <a:t>Click to edit Master text styles</a:t>
            </a:r>
          </a:p>
        </p:txBody>
      </p:sp>
    </p:spTree>
    <p:extLst>
      <p:ext uri="{BB962C8B-B14F-4D97-AF65-F5344CB8AC3E}">
        <p14:creationId xmlns:p14="http://schemas.microsoft.com/office/powerpoint/2010/main" val="385527579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7406" y="3881120"/>
            <a:ext cx="8925718" cy="914400"/>
          </a:xfrm>
        </p:spPr>
        <p:txBody>
          <a:bodyPr anchor="t"/>
          <a:lstStyle>
            <a:lvl1pPr algn="l">
              <a:defRPr sz="3200" b="0" cap="all">
                <a:solidFill>
                  <a:schemeClr val="accent3"/>
                </a:solidFill>
              </a:defRPr>
            </a:lvl1pPr>
          </a:lstStyle>
          <a:p>
            <a:r>
              <a:rPr lang="en-US" dirty="0" smtClean="0"/>
              <a:t>Click to edit Master title style</a:t>
            </a:r>
            <a:endParaRPr lang="en-US" dirty="0"/>
          </a:p>
        </p:txBody>
      </p:sp>
      <p:sp>
        <p:nvSpPr>
          <p:cNvPr id="3" name="Text Placeholder 2"/>
          <p:cNvSpPr>
            <a:spLocks noGrp="1"/>
          </p:cNvSpPr>
          <p:nvPr>
            <p:ph type="body" idx="1"/>
          </p:nvPr>
        </p:nvSpPr>
        <p:spPr>
          <a:xfrm>
            <a:off x="838200" y="4800600"/>
            <a:ext cx="8925718" cy="914400"/>
          </a:xfrm>
        </p:spPr>
        <p:txBody>
          <a:bodyPr anchor="t"/>
          <a:lstStyle>
            <a:lvl1pPr marL="0" indent="0" algn="l">
              <a:buNone/>
              <a:defRPr sz="2200" b="0">
                <a:solidFill>
                  <a:schemeClr val="accent1"/>
                </a:solidFill>
              </a:defRPr>
            </a:lvl1pPr>
            <a:lvl2pPr marL="509412" indent="0">
              <a:buNone/>
              <a:defRPr sz="2000">
                <a:solidFill>
                  <a:schemeClr val="tx1">
                    <a:tint val="75000"/>
                  </a:schemeClr>
                </a:solidFill>
              </a:defRPr>
            </a:lvl2pPr>
            <a:lvl3pPr marL="1018824" indent="0">
              <a:buNone/>
              <a:defRPr sz="1800">
                <a:solidFill>
                  <a:schemeClr val="tx1">
                    <a:tint val="75000"/>
                  </a:schemeClr>
                </a:solidFill>
              </a:defRPr>
            </a:lvl3pPr>
            <a:lvl4pPr marL="1528237" indent="0">
              <a:buNone/>
              <a:defRPr sz="1600">
                <a:solidFill>
                  <a:schemeClr val="tx1">
                    <a:tint val="75000"/>
                  </a:schemeClr>
                </a:solidFill>
              </a:defRPr>
            </a:lvl4pPr>
            <a:lvl5pPr marL="2037649" indent="0">
              <a:buNone/>
              <a:defRPr sz="1600">
                <a:solidFill>
                  <a:schemeClr val="tx1">
                    <a:tint val="75000"/>
                  </a:schemeClr>
                </a:solidFill>
              </a:defRPr>
            </a:lvl5pPr>
            <a:lvl6pPr marL="2547061" indent="0">
              <a:buNone/>
              <a:defRPr sz="1600">
                <a:solidFill>
                  <a:schemeClr val="tx1">
                    <a:tint val="75000"/>
                  </a:schemeClr>
                </a:solidFill>
              </a:defRPr>
            </a:lvl6pPr>
            <a:lvl7pPr marL="3056473" indent="0">
              <a:buNone/>
              <a:defRPr sz="1600">
                <a:solidFill>
                  <a:schemeClr val="tx1">
                    <a:tint val="75000"/>
                  </a:schemeClr>
                </a:solidFill>
              </a:defRPr>
            </a:lvl7pPr>
            <a:lvl8pPr marL="3565886" indent="0">
              <a:buNone/>
              <a:defRPr sz="1600">
                <a:solidFill>
                  <a:schemeClr val="tx1">
                    <a:tint val="75000"/>
                  </a:schemeClr>
                </a:solidFill>
              </a:defRPr>
            </a:lvl8pPr>
            <a:lvl9pPr marL="4075298" indent="0">
              <a:buNone/>
              <a:defRPr sz="1600">
                <a:solidFill>
                  <a:schemeClr val="tx1">
                    <a:tint val="75000"/>
                  </a:schemeClr>
                </a:solidFill>
              </a:defRPr>
            </a:lvl9pPr>
          </a:lstStyle>
          <a:p>
            <a:pPr lvl="0"/>
            <a:r>
              <a:rPr lang="en-US" smtClean="0"/>
              <a:t>Click to edit Master text styles</a:t>
            </a:r>
          </a:p>
        </p:txBody>
      </p:sp>
      <p:sp>
        <p:nvSpPr>
          <p:cNvPr id="4" name="Line 31"/>
          <p:cNvSpPr>
            <a:spLocks noChangeShapeType="1"/>
          </p:cNvSpPr>
          <p:nvPr userDrawn="1"/>
        </p:nvSpPr>
        <p:spPr bwMode="auto">
          <a:xfrm>
            <a:off x="695960" y="3886200"/>
            <a:ext cx="0" cy="3411346"/>
          </a:xfrm>
          <a:prstGeom prst="line">
            <a:avLst/>
          </a:prstGeom>
          <a:noFill/>
          <a:ln w="6350">
            <a:solidFill>
              <a:schemeClr val="accent1"/>
            </a:solidFill>
            <a:round/>
            <a:headEnd/>
            <a:tailEnd/>
          </a:ln>
          <a:effectLst/>
        </p:spPr>
        <p:txBody>
          <a:bodyPr lIns="101858" tIns="50929" rIns="101858" bIns="50929"/>
          <a:lstStyle/>
          <a:p>
            <a:pPr>
              <a:defRPr/>
            </a:pPr>
            <a:endParaRPr lang="en-US" dirty="0"/>
          </a:p>
        </p:txBody>
      </p:sp>
    </p:spTree>
    <p:extLst>
      <p:ext uri="{BB962C8B-B14F-4D97-AF65-F5344CB8AC3E}">
        <p14:creationId xmlns:p14="http://schemas.microsoft.com/office/powerpoint/2010/main" val="165254748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Bios 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baseline="0"/>
            </a:lvl1pPr>
          </a:lstStyle>
          <a:p>
            <a:r>
              <a:rPr lang="en-US" smtClean="0"/>
              <a:t>Click to edit Master title style</a:t>
            </a:r>
            <a:endParaRPr lang="en-US"/>
          </a:p>
        </p:txBody>
      </p:sp>
      <p:sp>
        <p:nvSpPr>
          <p:cNvPr id="3" name="Content Placeholder 2"/>
          <p:cNvSpPr>
            <a:spLocks noGrp="1"/>
          </p:cNvSpPr>
          <p:nvPr>
            <p:ph sz="half" idx="1"/>
          </p:nvPr>
        </p:nvSpPr>
        <p:spPr>
          <a:xfrm>
            <a:off x="293688" y="1235075"/>
            <a:ext cx="4526280" cy="5938838"/>
          </a:xfrm>
        </p:spPr>
        <p:txBody>
          <a:bodyPr/>
          <a:lstStyle>
            <a:lvl1pPr algn="just">
              <a:spcBef>
                <a:spcPts val="2400"/>
              </a:spcBef>
              <a:defRPr sz="1300"/>
            </a:lvl1pPr>
            <a:lvl2pPr algn="just">
              <a:spcBef>
                <a:spcPts val="0"/>
              </a:spcBef>
              <a:defRPr sz="1100"/>
            </a:lvl2pPr>
            <a:lvl3pPr algn="just">
              <a:spcBef>
                <a:spcPts val="300"/>
              </a:spcBef>
              <a:defRPr sz="1100"/>
            </a:lvl3pPr>
            <a:lvl4pPr algn="just">
              <a:spcBef>
                <a:spcPts val="300"/>
              </a:spcBef>
              <a:defRPr sz="1100"/>
            </a:lvl4pPr>
            <a:lvl5pPr algn="just">
              <a:spcBef>
                <a:spcPts val="300"/>
              </a:spcBef>
              <a:defRPr sz="1100"/>
            </a:lvl5pPr>
            <a:lvl6pPr>
              <a:defRPr sz="2000"/>
            </a:lvl6pPr>
            <a:lvl7pPr>
              <a:defRPr sz="2000"/>
            </a:lvl7pPr>
            <a:lvl8pPr>
              <a:defRPr sz="2000"/>
            </a:lvl8pPr>
            <a:lvl9pPr>
              <a:defRPr sz="2000"/>
            </a:lvl9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4" name="Content Placeholder 3"/>
          <p:cNvSpPr>
            <a:spLocks noGrp="1"/>
          </p:cNvSpPr>
          <p:nvPr>
            <p:ph sz="half" idx="2"/>
          </p:nvPr>
        </p:nvSpPr>
        <p:spPr>
          <a:xfrm>
            <a:off x="5213350" y="1235075"/>
            <a:ext cx="4526280" cy="5938838"/>
          </a:xfrm>
        </p:spPr>
        <p:txBody>
          <a:bodyPr/>
          <a:lstStyle>
            <a:lvl1pPr algn="just">
              <a:spcBef>
                <a:spcPts val="2400"/>
              </a:spcBef>
              <a:defRPr sz="1300"/>
            </a:lvl1pPr>
            <a:lvl2pPr algn="just">
              <a:spcBef>
                <a:spcPts val="0"/>
              </a:spcBef>
              <a:defRPr sz="1100"/>
            </a:lvl2pPr>
            <a:lvl3pPr algn="just">
              <a:defRPr sz="1100"/>
            </a:lvl3pPr>
            <a:lvl4pPr algn="just">
              <a:defRPr sz="1100"/>
            </a:lvl4pPr>
            <a:lvl5pPr algn="just">
              <a:defRPr sz="1100"/>
            </a:lvl5pPr>
            <a:lvl6pPr>
              <a:defRPr sz="2000"/>
            </a:lvl6pPr>
            <a:lvl7pPr>
              <a:defRPr sz="2000"/>
            </a:lvl7pPr>
            <a:lvl8pPr>
              <a:defRPr sz="2000"/>
            </a:lvl8pPr>
            <a:lvl9pPr>
              <a:defRPr sz="2000"/>
            </a:lvl9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5" name="Text Placeholder 4"/>
          <p:cNvSpPr>
            <a:spLocks noGrp="1"/>
          </p:cNvSpPr>
          <p:nvPr>
            <p:ph type="body" sz="quarter" idx="10"/>
          </p:nvPr>
        </p:nvSpPr>
        <p:spPr>
          <a:xfrm>
            <a:off x="2895600" y="436880"/>
            <a:ext cx="6867525" cy="594360"/>
          </a:xfrm>
        </p:spPr>
        <p:txBody>
          <a:bodyPr/>
          <a:lstStyle>
            <a:lvl1pPr algn="r">
              <a:defRPr sz="1400" b="0" cap="all" baseline="0">
                <a:solidFill>
                  <a:schemeClr val="bg1"/>
                </a:solidFill>
              </a:defRPr>
            </a:lvl1pPr>
          </a:lstStyle>
          <a:p>
            <a:pPr lvl="0"/>
            <a:r>
              <a:rPr lang="en-US" dirty="0" smtClean="0"/>
              <a:t>Click to edit Master text styles</a:t>
            </a:r>
          </a:p>
        </p:txBody>
      </p:sp>
    </p:spTree>
    <p:extLst>
      <p:ext uri="{BB962C8B-B14F-4D97-AF65-F5344CB8AC3E}">
        <p14:creationId xmlns:p14="http://schemas.microsoft.com/office/powerpoint/2010/main" val="61101815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1_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baseline="0"/>
            </a:lvl1pPr>
          </a:lstStyle>
          <a:p>
            <a:r>
              <a:rPr lang="en-US" smtClean="0"/>
              <a:t>Click to edit Master title style</a:t>
            </a:r>
            <a:endParaRPr lang="en-US"/>
          </a:p>
        </p:txBody>
      </p:sp>
      <p:sp>
        <p:nvSpPr>
          <p:cNvPr id="3" name="Content Placeholder 2"/>
          <p:cNvSpPr>
            <a:spLocks noGrp="1"/>
          </p:cNvSpPr>
          <p:nvPr>
            <p:ph sz="half" idx="1"/>
          </p:nvPr>
        </p:nvSpPr>
        <p:spPr>
          <a:xfrm>
            <a:off x="293688" y="1235075"/>
            <a:ext cx="4526280" cy="5938838"/>
          </a:xfrm>
        </p:spPr>
        <p:txBody>
          <a:bodyPr/>
          <a:lstStyle>
            <a:lvl1pPr algn="just">
              <a:defRPr sz="1400"/>
            </a:lvl1pPr>
            <a:lvl2pPr algn="just">
              <a:defRPr sz="1300"/>
            </a:lvl2pPr>
            <a:lvl3pPr algn="just">
              <a:defRPr sz="1300"/>
            </a:lvl3pPr>
            <a:lvl4pPr algn="just">
              <a:defRPr sz="1300"/>
            </a:lvl4pPr>
            <a:lvl5pPr algn="just">
              <a:defRPr sz="1300"/>
            </a:lvl5pPr>
            <a:lvl6pPr>
              <a:defRPr sz="2000"/>
            </a:lvl6pPr>
            <a:lvl7pPr>
              <a:defRPr sz="2000"/>
            </a:lvl7pPr>
            <a:lvl8pPr>
              <a:defRPr sz="2000"/>
            </a:lvl8pPr>
            <a:lvl9pPr>
              <a:defRPr sz="2000"/>
            </a:lvl9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4" name="Content Placeholder 3"/>
          <p:cNvSpPr>
            <a:spLocks noGrp="1"/>
          </p:cNvSpPr>
          <p:nvPr>
            <p:ph sz="half" idx="2"/>
          </p:nvPr>
        </p:nvSpPr>
        <p:spPr>
          <a:xfrm>
            <a:off x="5213350" y="1235075"/>
            <a:ext cx="4526280" cy="5938838"/>
          </a:xfrm>
        </p:spPr>
        <p:txBody>
          <a:bodyPr/>
          <a:lstStyle>
            <a:lvl1pPr algn="just">
              <a:defRPr sz="1400"/>
            </a:lvl1pPr>
            <a:lvl2pPr algn="just">
              <a:defRPr sz="1300"/>
            </a:lvl2pPr>
            <a:lvl3pPr algn="just">
              <a:defRPr sz="1300"/>
            </a:lvl3pPr>
            <a:lvl4pPr algn="just">
              <a:defRPr sz="1300"/>
            </a:lvl4pPr>
            <a:lvl5pPr algn="just">
              <a:defRPr sz="1300"/>
            </a:lvl5pPr>
            <a:lvl6pPr>
              <a:defRPr sz="2000"/>
            </a:lvl6pPr>
            <a:lvl7pPr>
              <a:defRPr sz="2000"/>
            </a:lvl7pPr>
            <a:lvl8pPr>
              <a:defRPr sz="2000"/>
            </a:lvl8pPr>
            <a:lvl9pPr>
              <a:defRPr sz="2000"/>
            </a:lvl9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5" name="Text Placeholder 4"/>
          <p:cNvSpPr>
            <a:spLocks noGrp="1"/>
          </p:cNvSpPr>
          <p:nvPr>
            <p:ph type="body" sz="quarter" idx="10"/>
          </p:nvPr>
        </p:nvSpPr>
        <p:spPr>
          <a:xfrm>
            <a:off x="2895600" y="436880"/>
            <a:ext cx="6867525" cy="594360"/>
          </a:xfrm>
        </p:spPr>
        <p:txBody>
          <a:bodyPr/>
          <a:lstStyle>
            <a:lvl1pPr algn="r">
              <a:defRPr sz="1400" b="0" cap="all" baseline="0">
                <a:solidFill>
                  <a:schemeClr val="bg1"/>
                </a:solidFill>
              </a:defRPr>
            </a:lvl1pPr>
          </a:lstStyle>
          <a:p>
            <a:pPr lvl="0"/>
            <a:r>
              <a:rPr lang="en-US" dirty="0" smtClean="0"/>
              <a:t>Click to edit Master text styles</a:t>
            </a:r>
          </a:p>
        </p:txBody>
      </p:sp>
    </p:spTree>
    <p:extLst>
      <p:ext uri="{BB962C8B-B14F-4D97-AF65-F5344CB8AC3E}">
        <p14:creationId xmlns:p14="http://schemas.microsoft.com/office/powerpoint/2010/main" val="3153452334"/>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293688" y="1235075"/>
            <a:ext cx="4526280" cy="725064"/>
          </a:xfrm>
        </p:spPr>
        <p:txBody>
          <a:bodyPr anchor="t"/>
          <a:lstStyle>
            <a:lvl1pPr marL="0" indent="0">
              <a:buNone/>
              <a:defRPr sz="1400" b="1"/>
            </a:lvl1pPr>
            <a:lvl2pPr marL="509412" indent="0">
              <a:buNone/>
              <a:defRPr sz="2200" b="1"/>
            </a:lvl2pPr>
            <a:lvl3pPr marL="1018824" indent="0">
              <a:buNone/>
              <a:defRPr sz="2000" b="1"/>
            </a:lvl3pPr>
            <a:lvl4pPr marL="1528237" indent="0">
              <a:buNone/>
              <a:defRPr sz="1800" b="1"/>
            </a:lvl4pPr>
            <a:lvl5pPr marL="2037649" indent="0">
              <a:buNone/>
              <a:defRPr sz="1800" b="1"/>
            </a:lvl5pPr>
            <a:lvl6pPr marL="2547061" indent="0">
              <a:buNone/>
              <a:defRPr sz="1800" b="1"/>
            </a:lvl6pPr>
            <a:lvl7pPr marL="3056473" indent="0">
              <a:buNone/>
              <a:defRPr sz="1800" b="1"/>
            </a:lvl7pPr>
            <a:lvl8pPr marL="3565886" indent="0">
              <a:buNone/>
              <a:defRPr sz="1800" b="1"/>
            </a:lvl8pPr>
            <a:lvl9pPr marL="4075298" indent="0">
              <a:buNone/>
              <a:defRPr sz="1800" b="1"/>
            </a:lvl9pPr>
          </a:lstStyle>
          <a:p>
            <a:pPr lvl="0"/>
            <a:r>
              <a:rPr lang="en-US" dirty="0" smtClean="0"/>
              <a:t>Click to edit Master text styles</a:t>
            </a:r>
          </a:p>
        </p:txBody>
      </p:sp>
      <p:sp>
        <p:nvSpPr>
          <p:cNvPr id="4" name="Content Placeholder 3"/>
          <p:cNvSpPr>
            <a:spLocks noGrp="1"/>
          </p:cNvSpPr>
          <p:nvPr>
            <p:ph sz="half" idx="2"/>
          </p:nvPr>
        </p:nvSpPr>
        <p:spPr>
          <a:xfrm>
            <a:off x="293688" y="1960139"/>
            <a:ext cx="4526280" cy="5213774"/>
          </a:xfrm>
        </p:spPr>
        <p:txBody>
          <a:bodyPr/>
          <a:lstStyle>
            <a:lvl1pPr algn="just">
              <a:defRPr sz="1300"/>
            </a:lvl1pPr>
            <a:lvl2pPr algn="just">
              <a:defRPr sz="1300"/>
            </a:lvl2pPr>
            <a:lvl3pPr algn="just">
              <a:defRPr sz="1300"/>
            </a:lvl3pPr>
            <a:lvl4pPr algn="just">
              <a:defRPr sz="1300"/>
            </a:lvl4pPr>
            <a:lvl5pPr algn="just">
              <a:defRPr sz="1300"/>
            </a:lvl5pPr>
            <a:lvl6pPr>
              <a:defRPr sz="1800"/>
            </a:lvl6pPr>
            <a:lvl7pPr>
              <a:defRPr sz="1800"/>
            </a:lvl7pPr>
            <a:lvl8pPr>
              <a:defRPr sz="1800"/>
            </a:lvl8pPr>
            <a:lvl9pPr>
              <a:defRPr sz="1800"/>
            </a:lvl9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5" name="Text Placeholder 4"/>
          <p:cNvSpPr>
            <a:spLocks noGrp="1"/>
          </p:cNvSpPr>
          <p:nvPr>
            <p:ph type="body" sz="quarter" idx="3"/>
          </p:nvPr>
        </p:nvSpPr>
        <p:spPr>
          <a:xfrm>
            <a:off x="5208270" y="1235075"/>
            <a:ext cx="4526280" cy="725064"/>
          </a:xfrm>
        </p:spPr>
        <p:txBody>
          <a:bodyPr anchor="t"/>
          <a:lstStyle>
            <a:lvl1pPr marL="0" indent="0">
              <a:buNone/>
              <a:defRPr sz="1400" b="1"/>
            </a:lvl1pPr>
            <a:lvl2pPr marL="509412" indent="0">
              <a:buNone/>
              <a:defRPr sz="2200" b="1"/>
            </a:lvl2pPr>
            <a:lvl3pPr marL="1018824" indent="0">
              <a:buNone/>
              <a:defRPr sz="2000" b="1"/>
            </a:lvl3pPr>
            <a:lvl4pPr marL="1528237" indent="0">
              <a:buNone/>
              <a:defRPr sz="1800" b="1"/>
            </a:lvl4pPr>
            <a:lvl5pPr marL="2037649" indent="0">
              <a:buNone/>
              <a:defRPr sz="1800" b="1"/>
            </a:lvl5pPr>
            <a:lvl6pPr marL="2547061" indent="0">
              <a:buNone/>
              <a:defRPr sz="1800" b="1"/>
            </a:lvl6pPr>
            <a:lvl7pPr marL="3056473" indent="0">
              <a:buNone/>
              <a:defRPr sz="1800" b="1"/>
            </a:lvl7pPr>
            <a:lvl8pPr marL="3565886" indent="0">
              <a:buNone/>
              <a:defRPr sz="1800" b="1"/>
            </a:lvl8pPr>
            <a:lvl9pPr marL="4075298" indent="0">
              <a:buNone/>
              <a:defRPr sz="1800" b="1"/>
            </a:lvl9pPr>
          </a:lstStyle>
          <a:p>
            <a:pPr lvl="0"/>
            <a:r>
              <a:rPr lang="en-US" dirty="0" smtClean="0"/>
              <a:t>Click to edit Master text styles</a:t>
            </a:r>
          </a:p>
        </p:txBody>
      </p:sp>
      <p:sp>
        <p:nvSpPr>
          <p:cNvPr id="6" name="Content Placeholder 5"/>
          <p:cNvSpPr>
            <a:spLocks noGrp="1"/>
          </p:cNvSpPr>
          <p:nvPr>
            <p:ph sz="quarter" idx="4"/>
          </p:nvPr>
        </p:nvSpPr>
        <p:spPr>
          <a:xfrm>
            <a:off x="5208270" y="1960139"/>
            <a:ext cx="4526280" cy="5213774"/>
          </a:xfrm>
        </p:spPr>
        <p:txBody>
          <a:bodyPr/>
          <a:lstStyle>
            <a:lvl1pPr algn="just">
              <a:defRPr sz="1300"/>
            </a:lvl1pPr>
            <a:lvl2pPr algn="just">
              <a:defRPr sz="1300"/>
            </a:lvl2pPr>
            <a:lvl3pPr algn="just">
              <a:defRPr sz="1300"/>
            </a:lvl3pPr>
            <a:lvl4pPr algn="just">
              <a:defRPr sz="1300"/>
            </a:lvl4pPr>
            <a:lvl5pPr algn="just">
              <a:defRPr sz="13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Text Placeholder 4"/>
          <p:cNvSpPr>
            <a:spLocks noGrp="1"/>
          </p:cNvSpPr>
          <p:nvPr>
            <p:ph type="body" sz="quarter" idx="10"/>
          </p:nvPr>
        </p:nvSpPr>
        <p:spPr>
          <a:xfrm>
            <a:off x="2895600" y="436880"/>
            <a:ext cx="6867525" cy="594360"/>
          </a:xfrm>
        </p:spPr>
        <p:txBody>
          <a:bodyPr/>
          <a:lstStyle>
            <a:lvl1pPr algn="r">
              <a:defRPr sz="1400" b="0" cap="all" baseline="0">
                <a:solidFill>
                  <a:schemeClr val="bg1"/>
                </a:solidFill>
              </a:defRPr>
            </a:lvl1pPr>
          </a:lstStyle>
          <a:p>
            <a:pPr lvl="0"/>
            <a:r>
              <a:rPr lang="en-US" dirty="0" smtClean="0"/>
              <a:t>Click to edit Master text styles</a:t>
            </a:r>
          </a:p>
        </p:txBody>
      </p:sp>
    </p:spTree>
    <p:extLst>
      <p:ext uri="{BB962C8B-B14F-4D97-AF65-F5344CB8AC3E}">
        <p14:creationId xmlns:p14="http://schemas.microsoft.com/office/powerpoint/2010/main" val="1561962459"/>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Callout Tal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a:xfrm>
            <a:off x="293687" y="1235075"/>
            <a:ext cx="1839913" cy="5938837"/>
          </a:xfrm>
        </p:spPr>
        <p:txBody>
          <a:bodyPr/>
          <a:lstStyle>
            <a:lvl1pPr>
              <a:spcBef>
                <a:spcPts val="2400"/>
              </a:spcBef>
              <a:defRPr sz="1300"/>
            </a:lvl1pPr>
            <a:lvl2pPr>
              <a:defRPr sz="1100"/>
            </a:lvl2pPr>
            <a:lvl3pPr>
              <a:spcBef>
                <a:spcPts val="600"/>
              </a:spcBef>
              <a:defRPr sz="1100"/>
            </a:lvl3pPr>
            <a:lvl4pPr>
              <a:defRPr sz="1100"/>
            </a:lvl4pPr>
            <a:lvl5pPr>
              <a:defRPr sz="1100"/>
            </a:lvl5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7" name="Content Placeholder 6"/>
          <p:cNvSpPr>
            <a:spLocks noGrp="1"/>
          </p:cNvSpPr>
          <p:nvPr>
            <p:ph sz="quarter" idx="13"/>
          </p:nvPr>
        </p:nvSpPr>
        <p:spPr>
          <a:xfrm>
            <a:off x="2514600" y="1235075"/>
            <a:ext cx="7214616" cy="5938838"/>
          </a:xfrm>
        </p:spPr>
        <p:txBody>
          <a:body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8" name="Line 31"/>
          <p:cNvSpPr>
            <a:spLocks noChangeShapeType="1"/>
          </p:cNvSpPr>
          <p:nvPr userDrawn="1"/>
        </p:nvSpPr>
        <p:spPr bwMode="auto">
          <a:xfrm>
            <a:off x="2302546" y="1235074"/>
            <a:ext cx="0" cy="6062472"/>
          </a:xfrm>
          <a:prstGeom prst="line">
            <a:avLst/>
          </a:prstGeom>
          <a:noFill/>
          <a:ln w="6350">
            <a:solidFill>
              <a:schemeClr val="accent1"/>
            </a:solidFill>
            <a:round/>
            <a:headEnd/>
            <a:tailEnd/>
          </a:ln>
          <a:effectLst/>
        </p:spPr>
        <p:txBody>
          <a:bodyPr lIns="101858" tIns="50929" rIns="101858" bIns="50929"/>
          <a:lstStyle/>
          <a:p>
            <a:pPr>
              <a:defRPr/>
            </a:pPr>
            <a:endParaRPr lang="en-US" dirty="0"/>
          </a:p>
        </p:txBody>
      </p:sp>
      <p:sp>
        <p:nvSpPr>
          <p:cNvPr id="6" name="Text Placeholder 4"/>
          <p:cNvSpPr>
            <a:spLocks noGrp="1"/>
          </p:cNvSpPr>
          <p:nvPr>
            <p:ph type="body" sz="quarter" idx="10"/>
          </p:nvPr>
        </p:nvSpPr>
        <p:spPr>
          <a:xfrm>
            <a:off x="2895600" y="436880"/>
            <a:ext cx="6867525" cy="594360"/>
          </a:xfrm>
        </p:spPr>
        <p:txBody>
          <a:bodyPr/>
          <a:lstStyle>
            <a:lvl1pPr algn="r">
              <a:defRPr sz="1400" b="0" cap="all" baseline="0">
                <a:solidFill>
                  <a:schemeClr val="bg1"/>
                </a:solidFill>
              </a:defRPr>
            </a:lvl1pPr>
          </a:lstStyle>
          <a:p>
            <a:pPr lvl="0"/>
            <a:r>
              <a:rPr lang="en-US" dirty="0" smtClean="0"/>
              <a:t>Click to edit Master text styles</a:t>
            </a:r>
          </a:p>
        </p:txBody>
      </p:sp>
    </p:spTree>
    <p:extLst>
      <p:ext uri="{BB962C8B-B14F-4D97-AF65-F5344CB8AC3E}">
        <p14:creationId xmlns:p14="http://schemas.microsoft.com/office/powerpoint/2010/main" val="3901277222"/>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Callout Shor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a:xfrm>
            <a:off x="293687" y="1874838"/>
            <a:ext cx="1839913" cy="5299074"/>
          </a:xfrm>
        </p:spPr>
        <p:txBody>
          <a:bodyPr/>
          <a:lstStyle>
            <a:lvl1pPr>
              <a:spcBef>
                <a:spcPts val="2400"/>
              </a:spcBef>
              <a:defRPr sz="1300"/>
            </a:lvl1pPr>
            <a:lvl2pPr>
              <a:defRPr sz="1100"/>
            </a:lvl2pPr>
            <a:lvl3pPr>
              <a:spcBef>
                <a:spcPts val="600"/>
              </a:spcBef>
              <a:defRPr sz="1100"/>
            </a:lvl3pPr>
            <a:lvl4pPr>
              <a:defRPr sz="1100"/>
            </a:lvl4pPr>
            <a:lvl5pPr>
              <a:defRPr sz="1100"/>
            </a:lvl5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7" name="Content Placeholder 6"/>
          <p:cNvSpPr>
            <a:spLocks noGrp="1"/>
          </p:cNvSpPr>
          <p:nvPr>
            <p:ph sz="quarter" idx="13"/>
          </p:nvPr>
        </p:nvSpPr>
        <p:spPr>
          <a:xfrm>
            <a:off x="2514600" y="1874837"/>
            <a:ext cx="7214616" cy="5299075"/>
          </a:xfrm>
        </p:spPr>
        <p:txBody>
          <a:body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8" name="Line 31"/>
          <p:cNvSpPr>
            <a:spLocks noChangeShapeType="1"/>
          </p:cNvSpPr>
          <p:nvPr userDrawn="1"/>
        </p:nvSpPr>
        <p:spPr bwMode="auto">
          <a:xfrm>
            <a:off x="2302546" y="1905000"/>
            <a:ext cx="0" cy="5392546"/>
          </a:xfrm>
          <a:prstGeom prst="line">
            <a:avLst/>
          </a:prstGeom>
          <a:noFill/>
          <a:ln w="6350">
            <a:solidFill>
              <a:schemeClr val="accent1"/>
            </a:solidFill>
            <a:round/>
            <a:headEnd/>
            <a:tailEnd/>
          </a:ln>
          <a:effectLst/>
        </p:spPr>
        <p:txBody>
          <a:bodyPr lIns="101858" tIns="50929" rIns="101858" bIns="50929"/>
          <a:lstStyle/>
          <a:p>
            <a:pPr>
              <a:defRPr/>
            </a:pPr>
            <a:endParaRPr lang="en-US" dirty="0"/>
          </a:p>
        </p:txBody>
      </p:sp>
      <p:sp>
        <p:nvSpPr>
          <p:cNvPr id="6" name="Text Placeholder 4"/>
          <p:cNvSpPr>
            <a:spLocks noGrp="1"/>
          </p:cNvSpPr>
          <p:nvPr>
            <p:ph type="body" sz="quarter" idx="10"/>
          </p:nvPr>
        </p:nvSpPr>
        <p:spPr>
          <a:xfrm>
            <a:off x="2895600" y="436880"/>
            <a:ext cx="6867525" cy="594360"/>
          </a:xfrm>
        </p:spPr>
        <p:txBody>
          <a:bodyPr/>
          <a:lstStyle>
            <a:lvl1pPr algn="r">
              <a:defRPr sz="1400" b="0" cap="all" baseline="0">
                <a:solidFill>
                  <a:schemeClr val="bg1"/>
                </a:solidFill>
              </a:defRPr>
            </a:lvl1pPr>
          </a:lstStyle>
          <a:p>
            <a:pPr lvl="0"/>
            <a:r>
              <a:rPr lang="en-US" dirty="0" smtClean="0"/>
              <a:t>Click to edit Master text styles</a:t>
            </a:r>
          </a:p>
        </p:txBody>
      </p:sp>
    </p:spTree>
    <p:extLst>
      <p:ext uri="{BB962C8B-B14F-4D97-AF65-F5344CB8AC3E}">
        <p14:creationId xmlns:p14="http://schemas.microsoft.com/office/powerpoint/2010/main" val="2188573921"/>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Text Placeholder 4"/>
          <p:cNvSpPr>
            <a:spLocks noGrp="1"/>
          </p:cNvSpPr>
          <p:nvPr>
            <p:ph type="body" sz="quarter" idx="10"/>
          </p:nvPr>
        </p:nvSpPr>
        <p:spPr>
          <a:xfrm>
            <a:off x="2895600" y="436880"/>
            <a:ext cx="6867525" cy="594360"/>
          </a:xfrm>
        </p:spPr>
        <p:txBody>
          <a:bodyPr/>
          <a:lstStyle>
            <a:lvl1pPr algn="r">
              <a:defRPr sz="1400" b="0" cap="all" baseline="0">
                <a:solidFill>
                  <a:schemeClr val="bg1"/>
                </a:solidFill>
              </a:defRPr>
            </a:lvl1pPr>
          </a:lstStyle>
          <a:p>
            <a:pPr lvl="0"/>
            <a:r>
              <a:rPr lang="en-US" dirty="0" smtClean="0"/>
              <a:t>Click to edit Master text styles</a:t>
            </a:r>
          </a:p>
        </p:txBody>
      </p:sp>
    </p:spTree>
    <p:extLst>
      <p:ext uri="{BB962C8B-B14F-4D97-AF65-F5344CB8AC3E}">
        <p14:creationId xmlns:p14="http://schemas.microsoft.com/office/powerpoint/2010/main" val="3689975418"/>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702324125"/>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obj">
  <p:cSld name="1_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1484315" y="179917"/>
            <a:ext cx="8574088" cy="609918"/>
          </a:xfrm>
          <a:prstGeom prst="rect">
            <a:avLst/>
          </a:prstGeom>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extLst>
      <p:ext uri="{BB962C8B-B14F-4D97-AF65-F5344CB8AC3E}">
        <p14:creationId xmlns:p14="http://schemas.microsoft.com/office/powerpoint/2010/main" val="997434404"/>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754380" y="2414482"/>
            <a:ext cx="8549640" cy="1666028"/>
          </a:xfrm>
          <a:prstGeom prst="rect">
            <a:avLst/>
          </a:prstGeom>
        </p:spPr>
        <p:txBody>
          <a:bodyPr lIns="101858" tIns="50929" rIns="101858" bIns="50929"/>
          <a:lstStyle/>
          <a:p>
            <a:r>
              <a:rPr lang="en-US"/>
              <a:t>Click to edit Master title style</a:t>
            </a:r>
          </a:p>
        </p:txBody>
      </p:sp>
      <p:sp>
        <p:nvSpPr>
          <p:cNvPr id="3" name="Subtitle 2"/>
          <p:cNvSpPr>
            <a:spLocks noGrp="1"/>
          </p:cNvSpPr>
          <p:nvPr>
            <p:ph type="subTitle" idx="1"/>
          </p:nvPr>
        </p:nvSpPr>
        <p:spPr>
          <a:xfrm>
            <a:off x="1508760" y="4404360"/>
            <a:ext cx="7040880" cy="1986280"/>
          </a:xfrm>
          <a:prstGeom prst="rect">
            <a:avLst/>
          </a:prstGeom>
        </p:spPr>
        <p:txBody>
          <a:bodyPr lIns="101858" tIns="50929" rIns="101858" bIns="50929"/>
          <a:lstStyle>
            <a:lvl1pPr marL="0" indent="0" algn="ctr">
              <a:buNone/>
              <a:defRPr/>
            </a:lvl1pPr>
            <a:lvl2pPr marL="509292" indent="0" algn="ctr">
              <a:buNone/>
              <a:defRPr/>
            </a:lvl2pPr>
            <a:lvl3pPr marL="1018586" indent="0" algn="ctr">
              <a:buNone/>
              <a:defRPr/>
            </a:lvl3pPr>
            <a:lvl4pPr marL="1527879" indent="0" algn="ctr">
              <a:buNone/>
              <a:defRPr/>
            </a:lvl4pPr>
            <a:lvl5pPr marL="2037173" indent="0" algn="ctr">
              <a:buNone/>
              <a:defRPr/>
            </a:lvl5pPr>
            <a:lvl6pPr marL="2546466" indent="0" algn="ctr">
              <a:buNone/>
              <a:defRPr/>
            </a:lvl6pPr>
            <a:lvl7pPr marL="3055758" indent="0" algn="ctr">
              <a:buNone/>
              <a:defRPr/>
            </a:lvl7pPr>
            <a:lvl8pPr marL="3565052" indent="0" algn="ctr">
              <a:buNone/>
              <a:defRPr/>
            </a:lvl8pPr>
            <a:lvl9pPr marL="4074344" indent="0" algn="ctr">
              <a:buNone/>
              <a:defRPr/>
            </a:lvl9pPr>
          </a:lstStyle>
          <a:p>
            <a:r>
              <a:rPr lang="en-US"/>
              <a:t>Click to edit Master subtitle style</a:t>
            </a:r>
          </a:p>
        </p:txBody>
      </p:sp>
    </p:spTree>
    <p:extLst>
      <p:ext uri="{BB962C8B-B14F-4D97-AF65-F5344CB8AC3E}">
        <p14:creationId xmlns:p14="http://schemas.microsoft.com/office/powerpoint/2010/main" val="4282253316"/>
      </p:ext>
    </p:extLst>
  </p:cSld>
  <p:clrMapOvr>
    <a:masterClrMapping/>
  </p:clrMapOvr>
  <p:timing>
    <p:tnLst>
      <p:par>
        <p:cTn id="1" dur="indefinite" restart="never" nodeType="tmRoot"/>
      </p:par>
    </p:tnLst>
  </p:timing>
</p:sldLayout>
</file>

<file path=ppt/slideLayouts/slideLayout20.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4017252503"/>
      </p:ext>
    </p:extLst>
  </p:cSld>
  <p:clrMapOvr>
    <a:masterClrMapping/>
  </p:clrMapOvr>
  <p:timing>
    <p:tnLst>
      <p:par>
        <p:cTn id="1" dur="indefinite" restart="never" nodeType="tmRoot"/>
      </p:par>
    </p:tnLst>
  </p:timing>
</p:sldLayout>
</file>

<file path=ppt/slideLayouts/slideLayout21.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1484315" y="179917"/>
            <a:ext cx="8574088" cy="609918"/>
          </a:xfrm>
          <a:prstGeom prst="rect">
            <a:avLst/>
          </a:prstGeom>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extLst>
      <p:ext uri="{BB962C8B-B14F-4D97-AF65-F5344CB8AC3E}">
        <p14:creationId xmlns:p14="http://schemas.microsoft.com/office/powerpoint/2010/main" val="153751530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image" Target="../media/image1.emf"/><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_rels/slideMaster2.xml.rels><?xml version="1.0" encoding="UTF-8" standalone="yes"?>
<Relationships xmlns="http://schemas.openxmlformats.org/package/2006/relationships"><Relationship Id="rId3" Type="http://schemas.openxmlformats.org/officeDocument/2006/relationships/theme" Target="../theme/theme2.xml"/><Relationship Id="rId2" Type="http://schemas.openxmlformats.org/officeDocument/2006/relationships/slideLayout" Target="../slideLayouts/slideLayout20.xml"/><Relationship Id="rId1" Type="http://schemas.openxmlformats.org/officeDocument/2006/relationships/slideLayout" Target="../slideLayouts/slideLayout19.xml"/><Relationship Id="rId4" Type="http://schemas.openxmlformats.org/officeDocument/2006/relationships/image" Target="../media/image2.jpeg"/></Relationships>
</file>

<file path=ppt/slideMasters/_rels/slideMaster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theme" Target="../theme/theme3.xml"/><Relationship Id="rId1" Type="http://schemas.openxmlformats.org/officeDocument/2006/relationships/slideLayout" Target="../slideLayouts/slideLayout2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51"/>
          <p:cNvSpPr>
            <a:spLocks noChangeArrowheads="1"/>
          </p:cNvSpPr>
          <p:nvPr userDrawn="1"/>
        </p:nvSpPr>
        <p:spPr bwMode="auto">
          <a:xfrm>
            <a:off x="228600" y="230122"/>
            <a:ext cx="9601200" cy="649224"/>
          </a:xfrm>
          <a:prstGeom prst="rect">
            <a:avLst/>
          </a:prstGeom>
          <a:solidFill>
            <a:schemeClr val="accent1"/>
          </a:solidFill>
          <a:ln w="9525">
            <a:noFill/>
            <a:miter lim="800000"/>
            <a:headEnd/>
            <a:tailEnd/>
          </a:ln>
          <a:effectLst/>
        </p:spPr>
        <p:txBody>
          <a:bodyPr wrap="none" lIns="101847" tIns="50923" rIns="101847" bIns="50923" anchor="ctr"/>
          <a:lstStyle/>
          <a:p>
            <a:pPr>
              <a:defRPr/>
            </a:pPr>
            <a:endParaRPr lang="en-US" dirty="0"/>
          </a:p>
        </p:txBody>
      </p:sp>
      <p:sp>
        <p:nvSpPr>
          <p:cNvPr id="2" name="Title Placeholder 1"/>
          <p:cNvSpPr>
            <a:spLocks noGrp="1"/>
          </p:cNvSpPr>
          <p:nvPr>
            <p:ph type="title"/>
          </p:nvPr>
        </p:nvSpPr>
        <p:spPr>
          <a:xfrm>
            <a:off x="2895600" y="261941"/>
            <a:ext cx="6867524" cy="609600"/>
          </a:xfrm>
          <a:prstGeom prst="rect">
            <a:avLst/>
          </a:prstGeom>
        </p:spPr>
        <p:txBody>
          <a:bodyPr vert="horz" lIns="0" tIns="0" rIns="0" bIns="0" rtlCol="0" anchor="t" anchorCtr="0">
            <a:noAutofit/>
          </a:bodyPr>
          <a:lstStyle/>
          <a:p>
            <a:r>
              <a:rPr lang="en-US" dirty="0" smtClean="0"/>
              <a:t>Click to edit Master title style</a:t>
            </a:r>
            <a:endParaRPr lang="en-US" dirty="0"/>
          </a:p>
        </p:txBody>
      </p:sp>
      <p:sp>
        <p:nvSpPr>
          <p:cNvPr id="3" name="Text Placeholder 2"/>
          <p:cNvSpPr>
            <a:spLocks noGrp="1"/>
          </p:cNvSpPr>
          <p:nvPr>
            <p:ph type="body" idx="1"/>
          </p:nvPr>
        </p:nvSpPr>
        <p:spPr>
          <a:xfrm>
            <a:off x="293687" y="1235075"/>
            <a:ext cx="9469437" cy="5938837"/>
          </a:xfrm>
          <a:prstGeom prst="rect">
            <a:avLst/>
          </a:prstGeom>
        </p:spPr>
        <p:txBody>
          <a:bodyPr vert="horz" lIns="0" tIns="0" rIns="0" bIns="0" rtlCol="0" anchor="t" anchorCtr="0">
            <a:noAutofit/>
          </a:body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9" name="Rectangle 200"/>
          <p:cNvSpPr>
            <a:spLocks noChangeArrowheads="1"/>
          </p:cNvSpPr>
          <p:nvPr userDrawn="1"/>
        </p:nvSpPr>
        <p:spPr bwMode="auto">
          <a:xfrm>
            <a:off x="228600" y="7323416"/>
            <a:ext cx="827723" cy="213400"/>
          </a:xfrm>
          <a:prstGeom prst="rect">
            <a:avLst/>
          </a:prstGeom>
          <a:noFill/>
          <a:ln w="9525">
            <a:noFill/>
            <a:miter lim="800000"/>
            <a:headEnd/>
            <a:tailEnd/>
          </a:ln>
          <a:effectLst/>
        </p:spPr>
        <p:txBody>
          <a:bodyPr lIns="0" tIns="0" rIns="0" bIns="0" anchor="b"/>
          <a:lstStyle/>
          <a:p>
            <a:pPr algn="l">
              <a:defRPr/>
            </a:pPr>
            <a:r>
              <a:rPr lang="en-US" sz="900" b="1" dirty="0" smtClean="0">
                <a:solidFill>
                  <a:schemeClr val="tx2"/>
                </a:solidFill>
                <a:latin typeface="Calibri" pitchFamily="34" charset="0"/>
              </a:rPr>
              <a:t>PAGE </a:t>
            </a:r>
            <a:fld id="{54B17DE0-6D87-48AB-BBA0-9128AA86CC3B}" type="slidenum">
              <a:rPr lang="en-US" sz="900" b="1">
                <a:solidFill>
                  <a:schemeClr val="tx2"/>
                </a:solidFill>
                <a:latin typeface="Calibri" pitchFamily="34" charset="0"/>
              </a:rPr>
              <a:pPr algn="l">
                <a:defRPr/>
              </a:pPr>
              <a:t>‹#›</a:t>
            </a:fld>
            <a:endParaRPr lang="en-US" sz="900" b="1" dirty="0">
              <a:solidFill>
                <a:schemeClr val="tx2"/>
              </a:solidFill>
              <a:latin typeface="Calibri" pitchFamily="34" charset="0"/>
            </a:endParaRPr>
          </a:p>
        </p:txBody>
      </p:sp>
      <p:cxnSp>
        <p:nvCxnSpPr>
          <p:cNvPr id="10" name="Straight Connector 9"/>
          <p:cNvCxnSpPr/>
          <p:nvPr userDrawn="1"/>
        </p:nvCxnSpPr>
        <p:spPr>
          <a:xfrm>
            <a:off x="228600" y="7291071"/>
            <a:ext cx="9601200" cy="0"/>
          </a:xfrm>
          <a:prstGeom prst="line">
            <a:avLst/>
          </a:prstGeom>
          <a:ln w="28575">
            <a:solidFill>
              <a:schemeClr val="accent1"/>
            </a:solidFill>
          </a:ln>
        </p:spPr>
        <p:style>
          <a:lnRef idx="1">
            <a:schemeClr val="accent1"/>
          </a:lnRef>
          <a:fillRef idx="0">
            <a:schemeClr val="accent1"/>
          </a:fillRef>
          <a:effectRef idx="0">
            <a:schemeClr val="accent1"/>
          </a:effectRef>
          <a:fontRef idx="minor">
            <a:schemeClr val="tx1"/>
          </a:fontRef>
        </p:style>
      </p:cxnSp>
      <p:pic>
        <p:nvPicPr>
          <p:cNvPr id="11" name="Picture 10"/>
          <p:cNvPicPr>
            <a:picLocks noChangeAspect="1"/>
          </p:cNvPicPr>
          <p:nvPr userDrawn="1"/>
        </p:nvPicPr>
        <p:blipFill>
          <a:blip r:embed="rId20"/>
          <a:stretch>
            <a:fillRect/>
          </a:stretch>
        </p:blipFill>
        <p:spPr>
          <a:xfrm>
            <a:off x="283529" y="320040"/>
            <a:ext cx="2478795" cy="457200"/>
          </a:xfrm>
          <a:prstGeom prst="rect">
            <a:avLst/>
          </a:prstGeom>
        </p:spPr>
      </p:pic>
    </p:spTree>
    <p:extLst>
      <p:ext uri="{BB962C8B-B14F-4D97-AF65-F5344CB8AC3E}">
        <p14:creationId xmlns:p14="http://schemas.microsoft.com/office/powerpoint/2010/main" val="1878609759"/>
      </p:ext>
    </p:extLst>
  </p:cSld>
  <p:clrMap bg1="lt1" tx1="dk1" bg2="lt2" tx2="dk2" accent1="accent1" accent2="accent2" accent3="accent3" accent4="accent4" accent5="accent5" accent6="accent6" hlink="hlink" folHlink="folHlink"/>
  <p:sldLayoutIdLst>
    <p:sldLayoutId id="2147483649" r:id="rId1"/>
    <p:sldLayoutId id="2147483666" r:id="rId2"/>
    <p:sldLayoutId id="2147483667" r:id="rId3"/>
    <p:sldLayoutId id="2147483668" r:id="rId4"/>
    <p:sldLayoutId id="2147483669" r:id="rId5"/>
    <p:sldLayoutId id="2147483670" r:id="rId6"/>
    <p:sldLayoutId id="2147483671" r:id="rId7"/>
    <p:sldLayoutId id="2147483650" r:id="rId8"/>
    <p:sldLayoutId id="2147483664" r:id="rId9"/>
    <p:sldLayoutId id="2147483651" r:id="rId10"/>
    <p:sldLayoutId id="2147483652" r:id="rId11"/>
    <p:sldLayoutId id="2147483665" r:id="rId12"/>
    <p:sldLayoutId id="2147483653" r:id="rId13"/>
    <p:sldLayoutId id="2147483656" r:id="rId14"/>
    <p:sldLayoutId id="2147483657" r:id="rId15"/>
    <p:sldLayoutId id="2147483654" r:id="rId16"/>
    <p:sldLayoutId id="2147483655" r:id="rId17"/>
    <p:sldLayoutId id="2147483678" r:id="rId18"/>
  </p:sldLayoutIdLst>
  <p:txStyles>
    <p:titleStyle>
      <a:lvl1pPr algn="r" defTabSz="1018824" rtl="0" eaLnBrk="1" latinLnBrk="0" hangingPunct="1">
        <a:lnSpc>
          <a:spcPct val="110000"/>
        </a:lnSpc>
        <a:spcBef>
          <a:spcPct val="0"/>
        </a:spcBef>
        <a:buNone/>
        <a:defRPr sz="1400" b="1" kern="1200" cap="all" baseline="0">
          <a:solidFill>
            <a:schemeClr val="bg1"/>
          </a:solidFill>
          <a:latin typeface="+mj-lt"/>
          <a:ea typeface="+mj-ea"/>
          <a:cs typeface="+mj-cs"/>
        </a:defRPr>
      </a:lvl1pPr>
    </p:titleStyle>
    <p:bodyStyle>
      <a:lvl1pPr marL="0" indent="0" algn="l" defTabSz="1018824" rtl="0" eaLnBrk="1" latinLnBrk="0" hangingPunct="1">
        <a:lnSpc>
          <a:spcPct val="110000"/>
        </a:lnSpc>
        <a:spcBef>
          <a:spcPts val="1800"/>
        </a:spcBef>
        <a:buFont typeface="Arial" panose="020B0604020202020204" pitchFamily="34" charset="0"/>
        <a:buNone/>
        <a:defRPr sz="1400" b="1" kern="1200">
          <a:solidFill>
            <a:schemeClr val="accent1"/>
          </a:solidFill>
          <a:latin typeface="+mj-lt"/>
          <a:ea typeface="+mn-ea"/>
          <a:cs typeface="+mn-cs"/>
        </a:defRPr>
      </a:lvl1pPr>
      <a:lvl2pPr marL="0" indent="0" algn="l" defTabSz="1018824" rtl="0" eaLnBrk="1" latinLnBrk="0" hangingPunct="1">
        <a:lnSpc>
          <a:spcPct val="110000"/>
        </a:lnSpc>
        <a:spcBef>
          <a:spcPts val="1500"/>
        </a:spcBef>
        <a:buFont typeface="Arial" panose="020B0604020202020204" pitchFamily="34" charset="0"/>
        <a:buNone/>
        <a:defRPr sz="1300" b="1" kern="1200">
          <a:solidFill>
            <a:schemeClr val="tx1"/>
          </a:solidFill>
          <a:latin typeface="+mj-lt"/>
          <a:ea typeface="+mn-ea"/>
          <a:cs typeface="+mn-cs"/>
        </a:defRPr>
      </a:lvl2pPr>
      <a:lvl3pPr marL="1588" indent="0" algn="l" defTabSz="1018824" rtl="0" eaLnBrk="1" latinLnBrk="0" hangingPunct="1">
        <a:lnSpc>
          <a:spcPct val="110000"/>
        </a:lnSpc>
        <a:spcBef>
          <a:spcPts val="300"/>
        </a:spcBef>
        <a:buFont typeface="Arial" panose="020B0604020202020204" pitchFamily="34" charset="0"/>
        <a:buNone/>
        <a:defRPr sz="1300" kern="1200">
          <a:solidFill>
            <a:schemeClr val="tx1"/>
          </a:solidFill>
          <a:latin typeface="+mj-lt"/>
          <a:ea typeface="+mn-ea"/>
          <a:cs typeface="+mn-cs"/>
        </a:defRPr>
      </a:lvl3pPr>
      <a:lvl4pPr marL="173038" indent="-173038" algn="l" defTabSz="1018824" rtl="0" eaLnBrk="1" latinLnBrk="0" hangingPunct="1">
        <a:lnSpc>
          <a:spcPct val="110000"/>
        </a:lnSpc>
        <a:spcBef>
          <a:spcPts val="300"/>
        </a:spcBef>
        <a:buSzPct val="80000"/>
        <a:buFont typeface="Arial" panose="020B0604020202020204" pitchFamily="34" charset="0"/>
        <a:buChar char="•"/>
        <a:defRPr sz="1300" kern="1200">
          <a:solidFill>
            <a:schemeClr val="tx1"/>
          </a:solidFill>
          <a:latin typeface="+mj-lt"/>
          <a:ea typeface="+mn-ea"/>
          <a:cs typeface="+mn-cs"/>
        </a:defRPr>
      </a:lvl4pPr>
      <a:lvl5pPr marL="385763" indent="-206375" algn="l" defTabSz="1018824" rtl="0" eaLnBrk="1" latinLnBrk="0" hangingPunct="1">
        <a:lnSpc>
          <a:spcPct val="110000"/>
        </a:lnSpc>
        <a:spcBef>
          <a:spcPts val="300"/>
        </a:spcBef>
        <a:buFont typeface="Arial" panose="020B0604020202020204" pitchFamily="34" charset="0"/>
        <a:buChar char="–"/>
        <a:defRPr sz="1300" kern="1200">
          <a:solidFill>
            <a:schemeClr val="tx1"/>
          </a:solidFill>
          <a:latin typeface="+mj-lt"/>
          <a:ea typeface="+mn-ea"/>
          <a:cs typeface="+mn-cs"/>
        </a:defRPr>
      </a:lvl5pPr>
      <a:lvl6pPr marL="2801767" indent="-254706" algn="l" defTabSz="1018824" rtl="0" eaLnBrk="1" latinLnBrk="0" hangingPunct="1">
        <a:spcBef>
          <a:spcPct val="20000"/>
        </a:spcBef>
        <a:buFont typeface="Arial" panose="020B0604020202020204" pitchFamily="34" charset="0"/>
        <a:buChar char="•"/>
        <a:defRPr sz="2200" kern="1200">
          <a:solidFill>
            <a:schemeClr val="tx1"/>
          </a:solidFill>
          <a:latin typeface="+mn-lt"/>
          <a:ea typeface="+mn-ea"/>
          <a:cs typeface="+mn-cs"/>
        </a:defRPr>
      </a:lvl6pPr>
      <a:lvl7pPr marL="3311180" indent="-254706" algn="l" defTabSz="1018824" rtl="0" eaLnBrk="1" latinLnBrk="0" hangingPunct="1">
        <a:spcBef>
          <a:spcPct val="20000"/>
        </a:spcBef>
        <a:buFont typeface="Arial" panose="020B0604020202020204" pitchFamily="34" charset="0"/>
        <a:buChar char="•"/>
        <a:defRPr sz="2200" kern="1200">
          <a:solidFill>
            <a:schemeClr val="tx1"/>
          </a:solidFill>
          <a:latin typeface="+mn-lt"/>
          <a:ea typeface="+mn-ea"/>
          <a:cs typeface="+mn-cs"/>
        </a:defRPr>
      </a:lvl7pPr>
      <a:lvl8pPr marL="3820592" indent="-254706" algn="l" defTabSz="1018824" rtl="0" eaLnBrk="1" latinLnBrk="0" hangingPunct="1">
        <a:spcBef>
          <a:spcPct val="20000"/>
        </a:spcBef>
        <a:buFont typeface="Arial" panose="020B0604020202020204" pitchFamily="34" charset="0"/>
        <a:buChar char="•"/>
        <a:defRPr sz="2200" kern="1200">
          <a:solidFill>
            <a:schemeClr val="tx1"/>
          </a:solidFill>
          <a:latin typeface="+mn-lt"/>
          <a:ea typeface="+mn-ea"/>
          <a:cs typeface="+mn-cs"/>
        </a:defRPr>
      </a:lvl8pPr>
      <a:lvl9pPr marL="4330004" indent="-254706" algn="l" defTabSz="1018824" rtl="0" eaLnBrk="1" latinLnBrk="0" hangingPunct="1">
        <a:spcBef>
          <a:spcPct val="20000"/>
        </a:spcBef>
        <a:buFont typeface="Arial" panose="020B0604020202020204" pitchFamily="34" charset="0"/>
        <a:buChar char="•"/>
        <a:defRPr sz="2200" kern="1200">
          <a:solidFill>
            <a:schemeClr val="tx1"/>
          </a:solidFill>
          <a:latin typeface="+mn-lt"/>
          <a:ea typeface="+mn-ea"/>
          <a:cs typeface="+mn-cs"/>
        </a:defRPr>
      </a:lvl9pPr>
    </p:bodyStyle>
    <p:otherStyle>
      <a:defPPr>
        <a:defRPr lang="en-US"/>
      </a:defPPr>
      <a:lvl1pPr marL="0" algn="l" defTabSz="1018824" rtl="0" eaLnBrk="1" latinLnBrk="0" hangingPunct="1">
        <a:defRPr sz="2000" kern="1200">
          <a:solidFill>
            <a:schemeClr val="tx1"/>
          </a:solidFill>
          <a:latin typeface="+mn-lt"/>
          <a:ea typeface="+mn-ea"/>
          <a:cs typeface="+mn-cs"/>
        </a:defRPr>
      </a:lvl1pPr>
      <a:lvl2pPr marL="509412" algn="l" defTabSz="1018824" rtl="0" eaLnBrk="1" latinLnBrk="0" hangingPunct="1">
        <a:defRPr sz="2000" kern="1200">
          <a:solidFill>
            <a:schemeClr val="tx1"/>
          </a:solidFill>
          <a:latin typeface="+mn-lt"/>
          <a:ea typeface="+mn-ea"/>
          <a:cs typeface="+mn-cs"/>
        </a:defRPr>
      </a:lvl2pPr>
      <a:lvl3pPr marL="1018824" algn="l" defTabSz="1018824" rtl="0" eaLnBrk="1" latinLnBrk="0" hangingPunct="1">
        <a:defRPr sz="2000" kern="1200">
          <a:solidFill>
            <a:schemeClr val="tx1"/>
          </a:solidFill>
          <a:latin typeface="+mn-lt"/>
          <a:ea typeface="+mn-ea"/>
          <a:cs typeface="+mn-cs"/>
        </a:defRPr>
      </a:lvl3pPr>
      <a:lvl4pPr marL="1528237" algn="l" defTabSz="1018824" rtl="0" eaLnBrk="1" latinLnBrk="0" hangingPunct="1">
        <a:defRPr sz="2000" kern="1200">
          <a:solidFill>
            <a:schemeClr val="tx1"/>
          </a:solidFill>
          <a:latin typeface="+mn-lt"/>
          <a:ea typeface="+mn-ea"/>
          <a:cs typeface="+mn-cs"/>
        </a:defRPr>
      </a:lvl4pPr>
      <a:lvl5pPr marL="2037649" algn="l" defTabSz="1018824" rtl="0" eaLnBrk="1" latinLnBrk="0" hangingPunct="1">
        <a:defRPr sz="2000" kern="1200">
          <a:solidFill>
            <a:schemeClr val="tx1"/>
          </a:solidFill>
          <a:latin typeface="+mn-lt"/>
          <a:ea typeface="+mn-ea"/>
          <a:cs typeface="+mn-cs"/>
        </a:defRPr>
      </a:lvl5pPr>
      <a:lvl6pPr marL="2547061" algn="l" defTabSz="1018824" rtl="0" eaLnBrk="1" latinLnBrk="0" hangingPunct="1">
        <a:defRPr sz="2000" kern="1200">
          <a:solidFill>
            <a:schemeClr val="tx1"/>
          </a:solidFill>
          <a:latin typeface="+mn-lt"/>
          <a:ea typeface="+mn-ea"/>
          <a:cs typeface="+mn-cs"/>
        </a:defRPr>
      </a:lvl6pPr>
      <a:lvl7pPr marL="3056473" algn="l" defTabSz="1018824" rtl="0" eaLnBrk="1" latinLnBrk="0" hangingPunct="1">
        <a:defRPr sz="2000" kern="1200">
          <a:solidFill>
            <a:schemeClr val="tx1"/>
          </a:solidFill>
          <a:latin typeface="+mn-lt"/>
          <a:ea typeface="+mn-ea"/>
          <a:cs typeface="+mn-cs"/>
        </a:defRPr>
      </a:lvl7pPr>
      <a:lvl8pPr marL="3565886" algn="l" defTabSz="1018824" rtl="0" eaLnBrk="1" latinLnBrk="0" hangingPunct="1">
        <a:defRPr sz="2000" kern="1200">
          <a:solidFill>
            <a:schemeClr val="tx1"/>
          </a:solidFill>
          <a:latin typeface="+mn-lt"/>
          <a:ea typeface="+mn-ea"/>
          <a:cs typeface="+mn-cs"/>
        </a:defRPr>
      </a:lvl8pPr>
      <a:lvl9pPr marL="4075298" algn="l" defTabSz="1018824" rtl="0" eaLnBrk="1" latinLnBrk="0" hangingPunct="1">
        <a:defRPr sz="20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pic>
        <p:nvPicPr>
          <p:cNvPr id="18" name="Picture 33" descr="Cello_CoverDesigns_FINAL_2-02"/>
          <p:cNvPicPr>
            <a:picLocks noChangeAspect="1" noChangeArrowheads="1"/>
          </p:cNvPicPr>
          <p:nvPr userDrawn="1"/>
        </p:nvPicPr>
        <p:blipFill>
          <a:blip r:embed="rId4" cstate="print"/>
          <a:srcRect b="13019"/>
          <a:stretch>
            <a:fillRect/>
          </a:stretch>
        </p:blipFill>
        <p:spPr bwMode="auto">
          <a:xfrm>
            <a:off x="228600" y="788038"/>
            <a:ext cx="9601200" cy="3853742"/>
          </a:xfrm>
          <a:prstGeom prst="rect">
            <a:avLst/>
          </a:prstGeom>
          <a:noFill/>
          <a:ln w="9525">
            <a:noFill/>
            <a:miter lim="800000"/>
            <a:headEnd/>
            <a:tailEnd/>
          </a:ln>
        </p:spPr>
      </p:pic>
      <p:sp>
        <p:nvSpPr>
          <p:cNvPr id="364592" name="Rectangle 48"/>
          <p:cNvSpPr>
            <a:spLocks noChangeArrowheads="1"/>
          </p:cNvSpPr>
          <p:nvPr userDrawn="1"/>
        </p:nvSpPr>
        <p:spPr bwMode="auto">
          <a:xfrm>
            <a:off x="228600" y="7136284"/>
            <a:ext cx="9601200" cy="401215"/>
          </a:xfrm>
          <a:prstGeom prst="rect">
            <a:avLst/>
          </a:prstGeom>
          <a:gradFill rotWithShape="1">
            <a:gsLst>
              <a:gs pos="0">
                <a:schemeClr val="accent1"/>
              </a:gs>
              <a:gs pos="100000">
                <a:schemeClr val="tx2"/>
              </a:gs>
            </a:gsLst>
            <a:lin ang="0" scaled="1"/>
          </a:gradFill>
          <a:ln w="9525">
            <a:noFill/>
            <a:miter lim="800000"/>
            <a:headEnd/>
            <a:tailEnd/>
          </a:ln>
          <a:effectLst/>
        </p:spPr>
        <p:txBody>
          <a:bodyPr wrap="none" lIns="101858" tIns="50929" rIns="101858" bIns="50929" anchor="ctr"/>
          <a:lstStyle/>
          <a:p>
            <a:pPr defTabSz="914400" fontAlgn="base">
              <a:spcBef>
                <a:spcPct val="0"/>
              </a:spcBef>
              <a:spcAft>
                <a:spcPct val="0"/>
              </a:spcAft>
            </a:pPr>
            <a:endParaRPr lang="en-US" sz="1800" dirty="0">
              <a:solidFill>
                <a:srgbClr val="000000"/>
              </a:solidFill>
            </a:endParaRPr>
          </a:p>
        </p:txBody>
      </p:sp>
      <p:sp>
        <p:nvSpPr>
          <p:cNvPr id="364594" name="Rectangle 50"/>
          <p:cNvSpPr>
            <a:spLocks noChangeArrowheads="1"/>
          </p:cNvSpPr>
          <p:nvPr userDrawn="1"/>
        </p:nvSpPr>
        <p:spPr bwMode="auto">
          <a:xfrm flipV="1">
            <a:off x="228600" y="4967500"/>
            <a:ext cx="9601200" cy="401214"/>
          </a:xfrm>
          <a:prstGeom prst="rect">
            <a:avLst/>
          </a:prstGeom>
          <a:gradFill rotWithShape="1">
            <a:gsLst>
              <a:gs pos="0">
                <a:schemeClr val="accent1"/>
              </a:gs>
              <a:gs pos="100000">
                <a:schemeClr val="tx2"/>
              </a:gs>
            </a:gsLst>
            <a:lin ang="0" scaled="1"/>
          </a:gradFill>
          <a:ln w="9525">
            <a:noFill/>
            <a:miter lim="800000"/>
            <a:headEnd/>
            <a:tailEnd/>
          </a:ln>
          <a:effectLst/>
        </p:spPr>
        <p:txBody>
          <a:bodyPr wrap="none" lIns="91418" tIns="45710" rIns="91418" bIns="45710" anchor="ctr"/>
          <a:lstStyle/>
          <a:p>
            <a:pPr defTabSz="914400" fontAlgn="base">
              <a:spcBef>
                <a:spcPct val="0"/>
              </a:spcBef>
              <a:spcAft>
                <a:spcPct val="0"/>
              </a:spcAft>
            </a:pPr>
            <a:endParaRPr lang="en-US" sz="1800" dirty="0">
              <a:solidFill>
                <a:srgbClr val="000000"/>
              </a:solidFill>
            </a:endParaRPr>
          </a:p>
        </p:txBody>
      </p:sp>
      <p:grpSp>
        <p:nvGrpSpPr>
          <p:cNvPr id="364597" name="Group 33"/>
          <p:cNvGrpSpPr>
            <a:grpSpLocks/>
          </p:cNvGrpSpPr>
          <p:nvPr userDrawn="1"/>
        </p:nvGrpSpPr>
        <p:grpSpPr bwMode="auto">
          <a:xfrm>
            <a:off x="1011082" y="3986954"/>
            <a:ext cx="2175828" cy="2880466"/>
            <a:chOff x="2173" y="2091"/>
            <a:chExt cx="1436" cy="1845"/>
          </a:xfrm>
        </p:grpSpPr>
        <p:sp>
          <p:nvSpPr>
            <p:cNvPr id="323607" name="Freeform 23"/>
            <p:cNvSpPr>
              <a:spLocks/>
            </p:cNvSpPr>
            <p:nvPr userDrawn="1"/>
          </p:nvSpPr>
          <p:spPr bwMode="auto">
            <a:xfrm>
              <a:off x="2191" y="3620"/>
              <a:ext cx="280" cy="316"/>
            </a:xfrm>
            <a:custGeom>
              <a:avLst/>
              <a:gdLst/>
              <a:ahLst/>
              <a:cxnLst>
                <a:cxn ang="0">
                  <a:pos x="828" y="5"/>
                </a:cxn>
                <a:cxn ang="0">
                  <a:pos x="996" y="23"/>
                </a:cxn>
                <a:cxn ang="0">
                  <a:pos x="1126" y="42"/>
                </a:cxn>
                <a:cxn ang="0">
                  <a:pos x="1112" y="133"/>
                </a:cxn>
                <a:cxn ang="0">
                  <a:pos x="1101" y="247"/>
                </a:cxn>
                <a:cxn ang="0">
                  <a:pos x="1096" y="352"/>
                </a:cxn>
                <a:cxn ang="0">
                  <a:pos x="1070" y="361"/>
                </a:cxn>
                <a:cxn ang="0">
                  <a:pos x="1033" y="356"/>
                </a:cxn>
                <a:cxn ang="0">
                  <a:pos x="1012" y="244"/>
                </a:cxn>
                <a:cxn ang="0">
                  <a:pos x="984" y="177"/>
                </a:cxn>
                <a:cxn ang="0">
                  <a:pos x="940" y="135"/>
                </a:cxn>
                <a:cxn ang="0">
                  <a:pos x="859" y="98"/>
                </a:cxn>
                <a:cxn ang="0">
                  <a:pos x="733" y="77"/>
                </a:cxn>
                <a:cxn ang="0">
                  <a:pos x="584" y="79"/>
                </a:cxn>
                <a:cxn ang="0">
                  <a:pos x="449" y="121"/>
                </a:cxn>
                <a:cxn ang="0">
                  <a:pos x="342" y="200"/>
                </a:cxn>
                <a:cxn ang="0">
                  <a:pos x="265" y="312"/>
                </a:cxn>
                <a:cxn ang="0">
                  <a:pos x="216" y="456"/>
                </a:cxn>
                <a:cxn ang="0">
                  <a:pos x="200" y="631"/>
                </a:cxn>
                <a:cxn ang="0">
                  <a:pos x="214" y="775"/>
                </a:cxn>
                <a:cxn ang="0">
                  <a:pos x="251" y="908"/>
                </a:cxn>
                <a:cxn ang="0">
                  <a:pos x="316" y="1024"/>
                </a:cxn>
                <a:cxn ang="0">
                  <a:pos x="405" y="1117"/>
                </a:cxn>
                <a:cxn ang="0">
                  <a:pos x="521" y="1185"/>
                </a:cxn>
                <a:cxn ang="0">
                  <a:pos x="661" y="1222"/>
                </a:cxn>
                <a:cxn ang="0">
                  <a:pos x="791" y="1224"/>
                </a:cxn>
                <a:cxn ang="0">
                  <a:pos x="887" y="1201"/>
                </a:cxn>
                <a:cxn ang="0">
                  <a:pos x="961" y="1157"/>
                </a:cxn>
                <a:cxn ang="0">
                  <a:pos x="1036" y="1075"/>
                </a:cxn>
                <a:cxn ang="0">
                  <a:pos x="1112" y="959"/>
                </a:cxn>
                <a:cxn ang="0">
                  <a:pos x="1140" y="971"/>
                </a:cxn>
                <a:cxn ang="0">
                  <a:pos x="1161" y="992"/>
                </a:cxn>
                <a:cxn ang="0">
                  <a:pos x="1136" y="1066"/>
                </a:cxn>
                <a:cxn ang="0">
                  <a:pos x="1094" y="1150"/>
                </a:cxn>
                <a:cxn ang="0">
                  <a:pos x="1049" y="1222"/>
                </a:cxn>
                <a:cxn ang="0">
                  <a:pos x="1008" y="1264"/>
                </a:cxn>
                <a:cxn ang="0">
                  <a:pos x="928" y="1287"/>
                </a:cxn>
                <a:cxn ang="0">
                  <a:pos x="821" y="1306"/>
                </a:cxn>
                <a:cxn ang="0">
                  <a:pos x="700" y="1315"/>
                </a:cxn>
                <a:cxn ang="0">
                  <a:pos x="507" y="1299"/>
                </a:cxn>
                <a:cxn ang="0">
                  <a:pos x="342" y="1248"/>
                </a:cxn>
                <a:cxn ang="0">
                  <a:pos x="209" y="1164"/>
                </a:cxn>
                <a:cxn ang="0">
                  <a:pos x="107" y="1052"/>
                </a:cxn>
                <a:cxn ang="0">
                  <a:pos x="39" y="910"/>
                </a:cxn>
                <a:cxn ang="0">
                  <a:pos x="5" y="742"/>
                </a:cxn>
                <a:cxn ang="0">
                  <a:pos x="5" y="577"/>
                </a:cxn>
                <a:cxn ang="0">
                  <a:pos x="32" y="435"/>
                </a:cxn>
                <a:cxn ang="0">
                  <a:pos x="95" y="303"/>
                </a:cxn>
                <a:cxn ang="0">
                  <a:pos x="188" y="186"/>
                </a:cxn>
                <a:cxn ang="0">
                  <a:pos x="319" y="93"/>
                </a:cxn>
                <a:cxn ang="0">
                  <a:pos x="461" y="35"/>
                </a:cxn>
                <a:cxn ang="0">
                  <a:pos x="633" y="5"/>
                </a:cxn>
              </a:cxnLst>
              <a:rect l="0" t="0" r="r" b="b"/>
              <a:pathLst>
                <a:path w="1161" h="1315">
                  <a:moveTo>
                    <a:pt x="731" y="0"/>
                  </a:moveTo>
                  <a:lnTo>
                    <a:pt x="828" y="5"/>
                  </a:lnTo>
                  <a:lnTo>
                    <a:pt x="917" y="12"/>
                  </a:lnTo>
                  <a:lnTo>
                    <a:pt x="996" y="23"/>
                  </a:lnTo>
                  <a:lnTo>
                    <a:pt x="1066" y="35"/>
                  </a:lnTo>
                  <a:lnTo>
                    <a:pt x="1126" y="42"/>
                  </a:lnTo>
                  <a:lnTo>
                    <a:pt x="1119" y="84"/>
                  </a:lnTo>
                  <a:lnTo>
                    <a:pt x="1112" y="133"/>
                  </a:lnTo>
                  <a:lnTo>
                    <a:pt x="1108" y="189"/>
                  </a:lnTo>
                  <a:lnTo>
                    <a:pt x="1101" y="247"/>
                  </a:lnTo>
                  <a:lnTo>
                    <a:pt x="1098" y="303"/>
                  </a:lnTo>
                  <a:lnTo>
                    <a:pt x="1096" y="352"/>
                  </a:lnTo>
                  <a:lnTo>
                    <a:pt x="1087" y="356"/>
                  </a:lnTo>
                  <a:lnTo>
                    <a:pt x="1070" y="361"/>
                  </a:lnTo>
                  <a:lnTo>
                    <a:pt x="1040" y="361"/>
                  </a:lnTo>
                  <a:lnTo>
                    <a:pt x="1033" y="356"/>
                  </a:lnTo>
                  <a:lnTo>
                    <a:pt x="1024" y="293"/>
                  </a:lnTo>
                  <a:lnTo>
                    <a:pt x="1012" y="244"/>
                  </a:lnTo>
                  <a:lnTo>
                    <a:pt x="1001" y="207"/>
                  </a:lnTo>
                  <a:lnTo>
                    <a:pt x="984" y="177"/>
                  </a:lnTo>
                  <a:lnTo>
                    <a:pt x="966" y="154"/>
                  </a:lnTo>
                  <a:lnTo>
                    <a:pt x="940" y="135"/>
                  </a:lnTo>
                  <a:lnTo>
                    <a:pt x="912" y="119"/>
                  </a:lnTo>
                  <a:lnTo>
                    <a:pt x="859" y="98"/>
                  </a:lnTo>
                  <a:lnTo>
                    <a:pt x="798" y="84"/>
                  </a:lnTo>
                  <a:lnTo>
                    <a:pt x="733" y="77"/>
                  </a:lnTo>
                  <a:lnTo>
                    <a:pt x="661" y="75"/>
                  </a:lnTo>
                  <a:lnTo>
                    <a:pt x="584" y="79"/>
                  </a:lnTo>
                  <a:lnTo>
                    <a:pt x="514" y="96"/>
                  </a:lnTo>
                  <a:lnTo>
                    <a:pt x="449" y="121"/>
                  </a:lnTo>
                  <a:lnTo>
                    <a:pt x="393" y="156"/>
                  </a:lnTo>
                  <a:lnTo>
                    <a:pt x="342" y="200"/>
                  </a:lnTo>
                  <a:lnTo>
                    <a:pt x="300" y="251"/>
                  </a:lnTo>
                  <a:lnTo>
                    <a:pt x="265" y="312"/>
                  </a:lnTo>
                  <a:lnTo>
                    <a:pt x="237" y="382"/>
                  </a:lnTo>
                  <a:lnTo>
                    <a:pt x="216" y="456"/>
                  </a:lnTo>
                  <a:lnTo>
                    <a:pt x="205" y="540"/>
                  </a:lnTo>
                  <a:lnTo>
                    <a:pt x="200" y="631"/>
                  </a:lnTo>
                  <a:lnTo>
                    <a:pt x="202" y="705"/>
                  </a:lnTo>
                  <a:lnTo>
                    <a:pt x="214" y="775"/>
                  </a:lnTo>
                  <a:lnTo>
                    <a:pt x="228" y="845"/>
                  </a:lnTo>
                  <a:lnTo>
                    <a:pt x="251" y="908"/>
                  </a:lnTo>
                  <a:lnTo>
                    <a:pt x="281" y="968"/>
                  </a:lnTo>
                  <a:lnTo>
                    <a:pt x="316" y="1024"/>
                  </a:lnTo>
                  <a:lnTo>
                    <a:pt x="358" y="1075"/>
                  </a:lnTo>
                  <a:lnTo>
                    <a:pt x="405" y="1117"/>
                  </a:lnTo>
                  <a:lnTo>
                    <a:pt x="458" y="1157"/>
                  </a:lnTo>
                  <a:lnTo>
                    <a:pt x="521" y="1185"/>
                  </a:lnTo>
                  <a:lnTo>
                    <a:pt x="586" y="1208"/>
                  </a:lnTo>
                  <a:lnTo>
                    <a:pt x="661" y="1222"/>
                  </a:lnTo>
                  <a:lnTo>
                    <a:pt x="740" y="1227"/>
                  </a:lnTo>
                  <a:lnTo>
                    <a:pt x="791" y="1224"/>
                  </a:lnTo>
                  <a:lnTo>
                    <a:pt x="840" y="1215"/>
                  </a:lnTo>
                  <a:lnTo>
                    <a:pt x="887" y="1201"/>
                  </a:lnTo>
                  <a:lnTo>
                    <a:pt x="928" y="1182"/>
                  </a:lnTo>
                  <a:lnTo>
                    <a:pt x="961" y="1157"/>
                  </a:lnTo>
                  <a:lnTo>
                    <a:pt x="998" y="1122"/>
                  </a:lnTo>
                  <a:lnTo>
                    <a:pt x="1036" y="1075"/>
                  </a:lnTo>
                  <a:lnTo>
                    <a:pt x="1075" y="1022"/>
                  </a:lnTo>
                  <a:lnTo>
                    <a:pt x="1112" y="959"/>
                  </a:lnTo>
                  <a:lnTo>
                    <a:pt x="1124" y="961"/>
                  </a:lnTo>
                  <a:lnTo>
                    <a:pt x="1140" y="971"/>
                  </a:lnTo>
                  <a:lnTo>
                    <a:pt x="1154" y="980"/>
                  </a:lnTo>
                  <a:lnTo>
                    <a:pt x="1161" y="992"/>
                  </a:lnTo>
                  <a:lnTo>
                    <a:pt x="1152" y="1026"/>
                  </a:lnTo>
                  <a:lnTo>
                    <a:pt x="1136" y="1066"/>
                  </a:lnTo>
                  <a:lnTo>
                    <a:pt x="1117" y="1108"/>
                  </a:lnTo>
                  <a:lnTo>
                    <a:pt x="1094" y="1150"/>
                  </a:lnTo>
                  <a:lnTo>
                    <a:pt x="1073" y="1187"/>
                  </a:lnTo>
                  <a:lnTo>
                    <a:pt x="1049" y="1222"/>
                  </a:lnTo>
                  <a:lnTo>
                    <a:pt x="1026" y="1248"/>
                  </a:lnTo>
                  <a:lnTo>
                    <a:pt x="1008" y="1264"/>
                  </a:lnTo>
                  <a:lnTo>
                    <a:pt x="973" y="1275"/>
                  </a:lnTo>
                  <a:lnTo>
                    <a:pt x="928" y="1287"/>
                  </a:lnTo>
                  <a:lnTo>
                    <a:pt x="877" y="1296"/>
                  </a:lnTo>
                  <a:lnTo>
                    <a:pt x="821" y="1306"/>
                  </a:lnTo>
                  <a:lnTo>
                    <a:pt x="761" y="1313"/>
                  </a:lnTo>
                  <a:lnTo>
                    <a:pt x="700" y="1315"/>
                  </a:lnTo>
                  <a:lnTo>
                    <a:pt x="600" y="1310"/>
                  </a:lnTo>
                  <a:lnTo>
                    <a:pt x="507" y="1299"/>
                  </a:lnTo>
                  <a:lnTo>
                    <a:pt x="421" y="1275"/>
                  </a:lnTo>
                  <a:lnTo>
                    <a:pt x="342" y="1248"/>
                  </a:lnTo>
                  <a:lnTo>
                    <a:pt x="272" y="1210"/>
                  </a:lnTo>
                  <a:lnTo>
                    <a:pt x="209" y="1164"/>
                  </a:lnTo>
                  <a:lnTo>
                    <a:pt x="153" y="1113"/>
                  </a:lnTo>
                  <a:lnTo>
                    <a:pt x="107" y="1052"/>
                  </a:lnTo>
                  <a:lnTo>
                    <a:pt x="70" y="985"/>
                  </a:lnTo>
                  <a:lnTo>
                    <a:pt x="39" y="910"/>
                  </a:lnTo>
                  <a:lnTo>
                    <a:pt x="18" y="831"/>
                  </a:lnTo>
                  <a:lnTo>
                    <a:pt x="5" y="742"/>
                  </a:lnTo>
                  <a:lnTo>
                    <a:pt x="0" y="649"/>
                  </a:lnTo>
                  <a:lnTo>
                    <a:pt x="5" y="577"/>
                  </a:lnTo>
                  <a:lnTo>
                    <a:pt x="14" y="505"/>
                  </a:lnTo>
                  <a:lnTo>
                    <a:pt x="32" y="435"/>
                  </a:lnTo>
                  <a:lnTo>
                    <a:pt x="60" y="365"/>
                  </a:lnTo>
                  <a:lnTo>
                    <a:pt x="95" y="303"/>
                  </a:lnTo>
                  <a:lnTo>
                    <a:pt x="137" y="242"/>
                  </a:lnTo>
                  <a:lnTo>
                    <a:pt x="188" y="186"/>
                  </a:lnTo>
                  <a:lnTo>
                    <a:pt x="249" y="137"/>
                  </a:lnTo>
                  <a:lnTo>
                    <a:pt x="319" y="93"/>
                  </a:lnTo>
                  <a:lnTo>
                    <a:pt x="386" y="61"/>
                  </a:lnTo>
                  <a:lnTo>
                    <a:pt x="461" y="35"/>
                  </a:lnTo>
                  <a:lnTo>
                    <a:pt x="542" y="16"/>
                  </a:lnTo>
                  <a:lnTo>
                    <a:pt x="633" y="5"/>
                  </a:lnTo>
                  <a:lnTo>
                    <a:pt x="731" y="0"/>
                  </a:lnTo>
                  <a:close/>
                </a:path>
              </a:pathLst>
            </a:custGeom>
            <a:solidFill>
              <a:schemeClr val="accent1"/>
            </a:solidFill>
            <a:ln w="0">
              <a:noFill/>
              <a:prstDash val="solid"/>
              <a:round/>
              <a:headEnd/>
              <a:tailEnd/>
            </a:ln>
          </p:spPr>
          <p:txBody>
            <a:bodyPr/>
            <a:lstStyle/>
            <a:p>
              <a:pPr defTabSz="914400" fontAlgn="base">
                <a:spcBef>
                  <a:spcPct val="0"/>
                </a:spcBef>
                <a:spcAft>
                  <a:spcPct val="0"/>
                </a:spcAft>
                <a:defRPr/>
              </a:pPr>
              <a:endParaRPr lang="en-US" sz="1800" dirty="0">
                <a:solidFill>
                  <a:srgbClr val="000000"/>
                </a:solidFill>
              </a:endParaRPr>
            </a:p>
          </p:txBody>
        </p:sp>
        <p:sp>
          <p:nvSpPr>
            <p:cNvPr id="323608" name="Freeform 24"/>
            <p:cNvSpPr>
              <a:spLocks/>
            </p:cNvSpPr>
            <p:nvPr userDrawn="1"/>
          </p:nvSpPr>
          <p:spPr bwMode="auto">
            <a:xfrm>
              <a:off x="2486" y="3627"/>
              <a:ext cx="256" cy="302"/>
            </a:xfrm>
            <a:custGeom>
              <a:avLst/>
              <a:gdLst/>
              <a:ahLst/>
              <a:cxnLst>
                <a:cxn ang="0">
                  <a:pos x="147" y="2"/>
                </a:cxn>
                <a:cxn ang="0">
                  <a:pos x="777" y="9"/>
                </a:cxn>
                <a:cxn ang="0">
                  <a:pos x="919" y="5"/>
                </a:cxn>
                <a:cxn ang="0">
                  <a:pos x="957" y="7"/>
                </a:cxn>
                <a:cxn ang="0">
                  <a:pos x="952" y="56"/>
                </a:cxn>
                <a:cxn ang="0">
                  <a:pos x="929" y="235"/>
                </a:cxn>
                <a:cxn ang="0">
                  <a:pos x="901" y="296"/>
                </a:cxn>
                <a:cxn ang="0">
                  <a:pos x="861" y="291"/>
                </a:cxn>
                <a:cxn ang="0">
                  <a:pos x="845" y="191"/>
                </a:cxn>
                <a:cxn ang="0">
                  <a:pos x="817" y="123"/>
                </a:cxn>
                <a:cxn ang="0">
                  <a:pos x="738" y="93"/>
                </a:cxn>
                <a:cxn ang="0">
                  <a:pos x="475" y="91"/>
                </a:cxn>
                <a:cxn ang="0">
                  <a:pos x="421" y="98"/>
                </a:cxn>
                <a:cxn ang="0">
                  <a:pos x="405" y="130"/>
                </a:cxn>
                <a:cxn ang="0">
                  <a:pos x="403" y="563"/>
                </a:cxn>
                <a:cxn ang="0">
                  <a:pos x="459" y="573"/>
                </a:cxn>
                <a:cxn ang="0">
                  <a:pos x="628" y="573"/>
                </a:cxn>
                <a:cxn ang="0">
                  <a:pos x="745" y="563"/>
                </a:cxn>
                <a:cxn ang="0">
                  <a:pos x="784" y="526"/>
                </a:cxn>
                <a:cxn ang="0">
                  <a:pos x="812" y="426"/>
                </a:cxn>
                <a:cxn ang="0">
                  <a:pos x="868" y="428"/>
                </a:cxn>
                <a:cxn ang="0">
                  <a:pos x="870" y="517"/>
                </a:cxn>
                <a:cxn ang="0">
                  <a:pos x="868" y="754"/>
                </a:cxn>
                <a:cxn ang="0">
                  <a:pos x="836" y="815"/>
                </a:cxn>
                <a:cxn ang="0">
                  <a:pos x="798" y="780"/>
                </a:cxn>
                <a:cxn ang="0">
                  <a:pos x="770" y="694"/>
                </a:cxn>
                <a:cxn ang="0">
                  <a:pos x="717" y="668"/>
                </a:cxn>
                <a:cxn ang="0">
                  <a:pos x="596" y="663"/>
                </a:cxn>
                <a:cxn ang="0">
                  <a:pos x="452" y="663"/>
                </a:cxn>
                <a:cxn ang="0">
                  <a:pos x="407" y="668"/>
                </a:cxn>
                <a:cxn ang="0">
                  <a:pos x="405" y="977"/>
                </a:cxn>
                <a:cxn ang="0">
                  <a:pos x="412" y="1110"/>
                </a:cxn>
                <a:cxn ang="0">
                  <a:pos x="454" y="1159"/>
                </a:cxn>
                <a:cxn ang="0">
                  <a:pos x="561" y="1168"/>
                </a:cxn>
                <a:cxn ang="0">
                  <a:pos x="791" y="1171"/>
                </a:cxn>
                <a:cxn ang="0">
                  <a:pos x="866" y="1143"/>
                </a:cxn>
                <a:cxn ang="0">
                  <a:pos x="924" y="1078"/>
                </a:cxn>
                <a:cxn ang="0">
                  <a:pos x="1003" y="929"/>
                </a:cxn>
                <a:cxn ang="0">
                  <a:pos x="1050" y="943"/>
                </a:cxn>
                <a:cxn ang="0">
                  <a:pos x="1045" y="1022"/>
                </a:cxn>
                <a:cxn ang="0">
                  <a:pos x="1005" y="1157"/>
                </a:cxn>
                <a:cxn ang="0">
                  <a:pos x="971" y="1238"/>
                </a:cxn>
                <a:cxn ang="0">
                  <a:pos x="926" y="1257"/>
                </a:cxn>
                <a:cxn ang="0">
                  <a:pos x="654" y="1257"/>
                </a:cxn>
                <a:cxn ang="0">
                  <a:pos x="230" y="1250"/>
                </a:cxn>
                <a:cxn ang="0">
                  <a:pos x="7" y="1257"/>
                </a:cxn>
                <a:cxn ang="0">
                  <a:pos x="2" y="1210"/>
                </a:cxn>
                <a:cxn ang="0">
                  <a:pos x="93" y="1189"/>
                </a:cxn>
                <a:cxn ang="0">
                  <a:pos x="184" y="1168"/>
                </a:cxn>
                <a:cxn ang="0">
                  <a:pos x="223" y="1105"/>
                </a:cxn>
                <a:cxn ang="0">
                  <a:pos x="230" y="1008"/>
                </a:cxn>
                <a:cxn ang="0">
                  <a:pos x="228" y="182"/>
                </a:cxn>
                <a:cxn ang="0">
                  <a:pos x="209" y="98"/>
                </a:cxn>
                <a:cxn ang="0">
                  <a:pos x="140" y="70"/>
                </a:cxn>
                <a:cxn ang="0">
                  <a:pos x="56" y="47"/>
                </a:cxn>
                <a:cxn ang="0">
                  <a:pos x="63" y="0"/>
                </a:cxn>
              </a:cxnLst>
              <a:rect l="0" t="0" r="r" b="b"/>
              <a:pathLst>
                <a:path w="1061" h="1259">
                  <a:moveTo>
                    <a:pt x="63" y="0"/>
                  </a:moveTo>
                  <a:lnTo>
                    <a:pt x="98" y="0"/>
                  </a:lnTo>
                  <a:lnTo>
                    <a:pt x="147" y="2"/>
                  </a:lnTo>
                  <a:lnTo>
                    <a:pt x="203" y="7"/>
                  </a:lnTo>
                  <a:lnTo>
                    <a:pt x="265" y="9"/>
                  </a:lnTo>
                  <a:lnTo>
                    <a:pt x="777" y="9"/>
                  </a:lnTo>
                  <a:lnTo>
                    <a:pt x="829" y="7"/>
                  </a:lnTo>
                  <a:lnTo>
                    <a:pt x="877" y="7"/>
                  </a:lnTo>
                  <a:lnTo>
                    <a:pt x="919" y="5"/>
                  </a:lnTo>
                  <a:lnTo>
                    <a:pt x="952" y="0"/>
                  </a:lnTo>
                  <a:lnTo>
                    <a:pt x="954" y="2"/>
                  </a:lnTo>
                  <a:lnTo>
                    <a:pt x="957" y="7"/>
                  </a:lnTo>
                  <a:lnTo>
                    <a:pt x="961" y="9"/>
                  </a:lnTo>
                  <a:lnTo>
                    <a:pt x="961" y="12"/>
                  </a:lnTo>
                  <a:lnTo>
                    <a:pt x="952" y="56"/>
                  </a:lnTo>
                  <a:lnTo>
                    <a:pt x="943" y="112"/>
                  </a:lnTo>
                  <a:lnTo>
                    <a:pt x="936" y="172"/>
                  </a:lnTo>
                  <a:lnTo>
                    <a:pt x="929" y="235"/>
                  </a:lnTo>
                  <a:lnTo>
                    <a:pt x="924" y="289"/>
                  </a:lnTo>
                  <a:lnTo>
                    <a:pt x="915" y="293"/>
                  </a:lnTo>
                  <a:lnTo>
                    <a:pt x="901" y="296"/>
                  </a:lnTo>
                  <a:lnTo>
                    <a:pt x="884" y="296"/>
                  </a:lnTo>
                  <a:lnTo>
                    <a:pt x="870" y="293"/>
                  </a:lnTo>
                  <a:lnTo>
                    <a:pt x="861" y="291"/>
                  </a:lnTo>
                  <a:lnTo>
                    <a:pt x="856" y="251"/>
                  </a:lnTo>
                  <a:lnTo>
                    <a:pt x="852" y="219"/>
                  </a:lnTo>
                  <a:lnTo>
                    <a:pt x="845" y="191"/>
                  </a:lnTo>
                  <a:lnTo>
                    <a:pt x="840" y="168"/>
                  </a:lnTo>
                  <a:lnTo>
                    <a:pt x="831" y="142"/>
                  </a:lnTo>
                  <a:lnTo>
                    <a:pt x="817" y="123"/>
                  </a:lnTo>
                  <a:lnTo>
                    <a:pt x="798" y="107"/>
                  </a:lnTo>
                  <a:lnTo>
                    <a:pt x="773" y="98"/>
                  </a:lnTo>
                  <a:lnTo>
                    <a:pt x="738" y="93"/>
                  </a:lnTo>
                  <a:lnTo>
                    <a:pt x="719" y="93"/>
                  </a:lnTo>
                  <a:lnTo>
                    <a:pt x="687" y="91"/>
                  </a:lnTo>
                  <a:lnTo>
                    <a:pt x="475" y="91"/>
                  </a:lnTo>
                  <a:lnTo>
                    <a:pt x="447" y="93"/>
                  </a:lnTo>
                  <a:lnTo>
                    <a:pt x="431" y="93"/>
                  </a:lnTo>
                  <a:lnTo>
                    <a:pt x="421" y="98"/>
                  </a:lnTo>
                  <a:lnTo>
                    <a:pt x="412" y="109"/>
                  </a:lnTo>
                  <a:lnTo>
                    <a:pt x="407" y="121"/>
                  </a:lnTo>
                  <a:lnTo>
                    <a:pt x="405" y="130"/>
                  </a:lnTo>
                  <a:lnTo>
                    <a:pt x="405" y="186"/>
                  </a:lnTo>
                  <a:lnTo>
                    <a:pt x="403" y="249"/>
                  </a:lnTo>
                  <a:lnTo>
                    <a:pt x="403" y="563"/>
                  </a:lnTo>
                  <a:lnTo>
                    <a:pt x="405" y="568"/>
                  </a:lnTo>
                  <a:lnTo>
                    <a:pt x="414" y="573"/>
                  </a:lnTo>
                  <a:lnTo>
                    <a:pt x="459" y="573"/>
                  </a:lnTo>
                  <a:lnTo>
                    <a:pt x="512" y="575"/>
                  </a:lnTo>
                  <a:lnTo>
                    <a:pt x="570" y="575"/>
                  </a:lnTo>
                  <a:lnTo>
                    <a:pt x="628" y="573"/>
                  </a:lnTo>
                  <a:lnTo>
                    <a:pt x="680" y="570"/>
                  </a:lnTo>
                  <a:lnTo>
                    <a:pt x="721" y="568"/>
                  </a:lnTo>
                  <a:lnTo>
                    <a:pt x="745" y="563"/>
                  </a:lnTo>
                  <a:lnTo>
                    <a:pt x="763" y="554"/>
                  </a:lnTo>
                  <a:lnTo>
                    <a:pt x="775" y="542"/>
                  </a:lnTo>
                  <a:lnTo>
                    <a:pt x="784" y="526"/>
                  </a:lnTo>
                  <a:lnTo>
                    <a:pt x="791" y="507"/>
                  </a:lnTo>
                  <a:lnTo>
                    <a:pt x="803" y="470"/>
                  </a:lnTo>
                  <a:lnTo>
                    <a:pt x="812" y="426"/>
                  </a:lnTo>
                  <a:lnTo>
                    <a:pt x="829" y="424"/>
                  </a:lnTo>
                  <a:lnTo>
                    <a:pt x="850" y="424"/>
                  </a:lnTo>
                  <a:lnTo>
                    <a:pt x="868" y="428"/>
                  </a:lnTo>
                  <a:lnTo>
                    <a:pt x="880" y="433"/>
                  </a:lnTo>
                  <a:lnTo>
                    <a:pt x="875" y="470"/>
                  </a:lnTo>
                  <a:lnTo>
                    <a:pt x="870" y="517"/>
                  </a:lnTo>
                  <a:lnTo>
                    <a:pt x="866" y="624"/>
                  </a:lnTo>
                  <a:lnTo>
                    <a:pt x="866" y="694"/>
                  </a:lnTo>
                  <a:lnTo>
                    <a:pt x="868" y="754"/>
                  </a:lnTo>
                  <a:lnTo>
                    <a:pt x="870" y="808"/>
                  </a:lnTo>
                  <a:lnTo>
                    <a:pt x="856" y="812"/>
                  </a:lnTo>
                  <a:lnTo>
                    <a:pt x="836" y="815"/>
                  </a:lnTo>
                  <a:lnTo>
                    <a:pt x="815" y="815"/>
                  </a:lnTo>
                  <a:lnTo>
                    <a:pt x="801" y="808"/>
                  </a:lnTo>
                  <a:lnTo>
                    <a:pt x="798" y="780"/>
                  </a:lnTo>
                  <a:lnTo>
                    <a:pt x="789" y="742"/>
                  </a:lnTo>
                  <a:lnTo>
                    <a:pt x="780" y="710"/>
                  </a:lnTo>
                  <a:lnTo>
                    <a:pt x="770" y="694"/>
                  </a:lnTo>
                  <a:lnTo>
                    <a:pt x="759" y="682"/>
                  </a:lnTo>
                  <a:lnTo>
                    <a:pt x="740" y="673"/>
                  </a:lnTo>
                  <a:lnTo>
                    <a:pt x="717" y="668"/>
                  </a:lnTo>
                  <a:lnTo>
                    <a:pt x="684" y="666"/>
                  </a:lnTo>
                  <a:lnTo>
                    <a:pt x="642" y="663"/>
                  </a:lnTo>
                  <a:lnTo>
                    <a:pt x="596" y="663"/>
                  </a:lnTo>
                  <a:lnTo>
                    <a:pt x="545" y="661"/>
                  </a:lnTo>
                  <a:lnTo>
                    <a:pt x="496" y="661"/>
                  </a:lnTo>
                  <a:lnTo>
                    <a:pt x="452" y="663"/>
                  </a:lnTo>
                  <a:lnTo>
                    <a:pt x="414" y="663"/>
                  </a:lnTo>
                  <a:lnTo>
                    <a:pt x="410" y="666"/>
                  </a:lnTo>
                  <a:lnTo>
                    <a:pt x="407" y="668"/>
                  </a:lnTo>
                  <a:lnTo>
                    <a:pt x="403" y="675"/>
                  </a:lnTo>
                  <a:lnTo>
                    <a:pt x="403" y="912"/>
                  </a:lnTo>
                  <a:lnTo>
                    <a:pt x="405" y="977"/>
                  </a:lnTo>
                  <a:lnTo>
                    <a:pt x="405" y="1036"/>
                  </a:lnTo>
                  <a:lnTo>
                    <a:pt x="407" y="1082"/>
                  </a:lnTo>
                  <a:lnTo>
                    <a:pt x="412" y="1110"/>
                  </a:lnTo>
                  <a:lnTo>
                    <a:pt x="421" y="1133"/>
                  </a:lnTo>
                  <a:lnTo>
                    <a:pt x="438" y="1150"/>
                  </a:lnTo>
                  <a:lnTo>
                    <a:pt x="454" y="1159"/>
                  </a:lnTo>
                  <a:lnTo>
                    <a:pt x="479" y="1164"/>
                  </a:lnTo>
                  <a:lnTo>
                    <a:pt x="517" y="1166"/>
                  </a:lnTo>
                  <a:lnTo>
                    <a:pt x="561" y="1168"/>
                  </a:lnTo>
                  <a:lnTo>
                    <a:pt x="663" y="1173"/>
                  </a:lnTo>
                  <a:lnTo>
                    <a:pt x="752" y="1173"/>
                  </a:lnTo>
                  <a:lnTo>
                    <a:pt x="791" y="1171"/>
                  </a:lnTo>
                  <a:lnTo>
                    <a:pt x="822" y="1164"/>
                  </a:lnTo>
                  <a:lnTo>
                    <a:pt x="847" y="1157"/>
                  </a:lnTo>
                  <a:lnTo>
                    <a:pt x="866" y="1143"/>
                  </a:lnTo>
                  <a:lnTo>
                    <a:pt x="884" y="1126"/>
                  </a:lnTo>
                  <a:lnTo>
                    <a:pt x="903" y="1105"/>
                  </a:lnTo>
                  <a:lnTo>
                    <a:pt x="924" y="1078"/>
                  </a:lnTo>
                  <a:lnTo>
                    <a:pt x="945" y="1045"/>
                  </a:lnTo>
                  <a:lnTo>
                    <a:pt x="987" y="966"/>
                  </a:lnTo>
                  <a:lnTo>
                    <a:pt x="1003" y="929"/>
                  </a:lnTo>
                  <a:lnTo>
                    <a:pt x="1015" y="929"/>
                  </a:lnTo>
                  <a:lnTo>
                    <a:pt x="1033" y="936"/>
                  </a:lnTo>
                  <a:lnTo>
                    <a:pt x="1050" y="943"/>
                  </a:lnTo>
                  <a:lnTo>
                    <a:pt x="1061" y="950"/>
                  </a:lnTo>
                  <a:lnTo>
                    <a:pt x="1054" y="982"/>
                  </a:lnTo>
                  <a:lnTo>
                    <a:pt x="1045" y="1022"/>
                  </a:lnTo>
                  <a:lnTo>
                    <a:pt x="1033" y="1066"/>
                  </a:lnTo>
                  <a:lnTo>
                    <a:pt x="1019" y="1112"/>
                  </a:lnTo>
                  <a:lnTo>
                    <a:pt x="1005" y="1157"/>
                  </a:lnTo>
                  <a:lnTo>
                    <a:pt x="991" y="1196"/>
                  </a:lnTo>
                  <a:lnTo>
                    <a:pt x="978" y="1226"/>
                  </a:lnTo>
                  <a:lnTo>
                    <a:pt x="971" y="1238"/>
                  </a:lnTo>
                  <a:lnTo>
                    <a:pt x="961" y="1245"/>
                  </a:lnTo>
                  <a:lnTo>
                    <a:pt x="947" y="1252"/>
                  </a:lnTo>
                  <a:lnTo>
                    <a:pt x="926" y="1257"/>
                  </a:lnTo>
                  <a:lnTo>
                    <a:pt x="896" y="1259"/>
                  </a:lnTo>
                  <a:lnTo>
                    <a:pt x="752" y="1259"/>
                  </a:lnTo>
                  <a:lnTo>
                    <a:pt x="654" y="1257"/>
                  </a:lnTo>
                  <a:lnTo>
                    <a:pt x="554" y="1252"/>
                  </a:lnTo>
                  <a:lnTo>
                    <a:pt x="445" y="1250"/>
                  </a:lnTo>
                  <a:lnTo>
                    <a:pt x="230" y="1250"/>
                  </a:lnTo>
                  <a:lnTo>
                    <a:pt x="147" y="1254"/>
                  </a:lnTo>
                  <a:lnTo>
                    <a:pt x="72" y="1257"/>
                  </a:lnTo>
                  <a:lnTo>
                    <a:pt x="7" y="1257"/>
                  </a:lnTo>
                  <a:lnTo>
                    <a:pt x="2" y="1245"/>
                  </a:lnTo>
                  <a:lnTo>
                    <a:pt x="0" y="1229"/>
                  </a:lnTo>
                  <a:lnTo>
                    <a:pt x="2" y="1210"/>
                  </a:lnTo>
                  <a:lnTo>
                    <a:pt x="7" y="1199"/>
                  </a:lnTo>
                  <a:lnTo>
                    <a:pt x="51" y="1194"/>
                  </a:lnTo>
                  <a:lnTo>
                    <a:pt x="93" y="1189"/>
                  </a:lnTo>
                  <a:lnTo>
                    <a:pt x="128" y="1185"/>
                  </a:lnTo>
                  <a:lnTo>
                    <a:pt x="158" y="1178"/>
                  </a:lnTo>
                  <a:lnTo>
                    <a:pt x="184" y="1168"/>
                  </a:lnTo>
                  <a:lnTo>
                    <a:pt x="203" y="1154"/>
                  </a:lnTo>
                  <a:lnTo>
                    <a:pt x="214" y="1133"/>
                  </a:lnTo>
                  <a:lnTo>
                    <a:pt x="223" y="1105"/>
                  </a:lnTo>
                  <a:lnTo>
                    <a:pt x="228" y="1068"/>
                  </a:lnTo>
                  <a:lnTo>
                    <a:pt x="228" y="1045"/>
                  </a:lnTo>
                  <a:lnTo>
                    <a:pt x="230" y="1008"/>
                  </a:lnTo>
                  <a:lnTo>
                    <a:pt x="230" y="244"/>
                  </a:lnTo>
                  <a:lnTo>
                    <a:pt x="228" y="205"/>
                  </a:lnTo>
                  <a:lnTo>
                    <a:pt x="228" y="182"/>
                  </a:lnTo>
                  <a:lnTo>
                    <a:pt x="226" y="144"/>
                  </a:lnTo>
                  <a:lnTo>
                    <a:pt x="219" y="116"/>
                  </a:lnTo>
                  <a:lnTo>
                    <a:pt x="209" y="98"/>
                  </a:lnTo>
                  <a:lnTo>
                    <a:pt x="193" y="86"/>
                  </a:lnTo>
                  <a:lnTo>
                    <a:pt x="168" y="77"/>
                  </a:lnTo>
                  <a:lnTo>
                    <a:pt x="140" y="70"/>
                  </a:lnTo>
                  <a:lnTo>
                    <a:pt x="102" y="63"/>
                  </a:lnTo>
                  <a:lnTo>
                    <a:pt x="61" y="58"/>
                  </a:lnTo>
                  <a:lnTo>
                    <a:pt x="56" y="47"/>
                  </a:lnTo>
                  <a:lnTo>
                    <a:pt x="54" y="30"/>
                  </a:lnTo>
                  <a:lnTo>
                    <a:pt x="58" y="12"/>
                  </a:lnTo>
                  <a:lnTo>
                    <a:pt x="63" y="0"/>
                  </a:lnTo>
                  <a:close/>
                </a:path>
              </a:pathLst>
            </a:custGeom>
            <a:solidFill>
              <a:schemeClr val="accent1"/>
            </a:solidFill>
            <a:ln w="0">
              <a:noFill/>
              <a:prstDash val="solid"/>
              <a:round/>
              <a:headEnd/>
              <a:tailEnd/>
            </a:ln>
          </p:spPr>
          <p:txBody>
            <a:bodyPr/>
            <a:lstStyle/>
            <a:p>
              <a:pPr defTabSz="914400" fontAlgn="base">
                <a:spcBef>
                  <a:spcPct val="0"/>
                </a:spcBef>
                <a:spcAft>
                  <a:spcPct val="0"/>
                </a:spcAft>
                <a:defRPr/>
              </a:pPr>
              <a:endParaRPr lang="en-US" sz="1800" dirty="0">
                <a:solidFill>
                  <a:srgbClr val="000000"/>
                </a:solidFill>
              </a:endParaRPr>
            </a:p>
          </p:txBody>
        </p:sp>
        <p:sp>
          <p:nvSpPr>
            <p:cNvPr id="323609" name="Freeform 25"/>
            <p:cNvSpPr>
              <a:spLocks/>
            </p:cNvSpPr>
            <p:nvPr userDrawn="1"/>
          </p:nvSpPr>
          <p:spPr bwMode="auto">
            <a:xfrm>
              <a:off x="2760" y="3627"/>
              <a:ext cx="256" cy="303"/>
            </a:xfrm>
            <a:custGeom>
              <a:avLst/>
              <a:gdLst/>
              <a:ahLst/>
              <a:cxnLst>
                <a:cxn ang="0">
                  <a:pos x="74" y="0"/>
                </a:cxn>
                <a:cxn ang="0">
                  <a:pos x="165" y="5"/>
                </a:cxn>
                <a:cxn ang="0">
                  <a:pos x="370" y="7"/>
                </a:cxn>
                <a:cxn ang="0">
                  <a:pos x="479" y="3"/>
                </a:cxn>
                <a:cxn ang="0">
                  <a:pos x="547" y="0"/>
                </a:cxn>
                <a:cxn ang="0">
                  <a:pos x="554" y="31"/>
                </a:cxn>
                <a:cxn ang="0">
                  <a:pos x="547" y="59"/>
                </a:cxn>
                <a:cxn ang="0">
                  <a:pos x="486" y="68"/>
                </a:cxn>
                <a:cxn ang="0">
                  <a:pos x="444" y="75"/>
                </a:cxn>
                <a:cxn ang="0">
                  <a:pos x="405" y="98"/>
                </a:cxn>
                <a:cxn ang="0">
                  <a:pos x="391" y="133"/>
                </a:cxn>
                <a:cxn ang="0">
                  <a:pos x="386" y="200"/>
                </a:cxn>
                <a:cxn ang="0">
                  <a:pos x="384" y="331"/>
                </a:cxn>
                <a:cxn ang="0">
                  <a:pos x="381" y="498"/>
                </a:cxn>
                <a:cxn ang="0">
                  <a:pos x="384" y="982"/>
                </a:cxn>
                <a:cxn ang="0">
                  <a:pos x="388" y="1096"/>
                </a:cxn>
                <a:cxn ang="0">
                  <a:pos x="405" y="1136"/>
                </a:cxn>
                <a:cxn ang="0">
                  <a:pos x="428" y="1155"/>
                </a:cxn>
                <a:cxn ang="0">
                  <a:pos x="489" y="1164"/>
                </a:cxn>
                <a:cxn ang="0">
                  <a:pos x="582" y="1169"/>
                </a:cxn>
                <a:cxn ang="0">
                  <a:pos x="763" y="1171"/>
                </a:cxn>
                <a:cxn ang="0">
                  <a:pos x="812" y="1159"/>
                </a:cxn>
                <a:cxn ang="0">
                  <a:pos x="861" y="1124"/>
                </a:cxn>
                <a:cxn ang="0">
                  <a:pos x="907" y="1062"/>
                </a:cxn>
                <a:cxn ang="0">
                  <a:pos x="956" y="973"/>
                </a:cxn>
                <a:cxn ang="0">
                  <a:pos x="1003" y="873"/>
                </a:cxn>
                <a:cxn ang="0">
                  <a:pos x="1035" y="878"/>
                </a:cxn>
                <a:cxn ang="0">
                  <a:pos x="1063" y="896"/>
                </a:cxn>
                <a:cxn ang="0">
                  <a:pos x="1045" y="973"/>
                </a:cxn>
                <a:cxn ang="0">
                  <a:pos x="1019" y="1071"/>
                </a:cxn>
                <a:cxn ang="0">
                  <a:pos x="987" y="1164"/>
                </a:cxn>
                <a:cxn ang="0">
                  <a:pos x="959" y="1231"/>
                </a:cxn>
                <a:cxn ang="0">
                  <a:pos x="935" y="1252"/>
                </a:cxn>
                <a:cxn ang="0">
                  <a:pos x="875" y="1259"/>
                </a:cxn>
                <a:cxn ang="0">
                  <a:pos x="775" y="1257"/>
                </a:cxn>
                <a:cxn ang="0">
                  <a:pos x="644" y="1255"/>
                </a:cxn>
                <a:cxn ang="0">
                  <a:pos x="507" y="1252"/>
                </a:cxn>
                <a:cxn ang="0">
                  <a:pos x="384" y="1250"/>
                </a:cxn>
                <a:cxn ang="0">
                  <a:pos x="251" y="1248"/>
                </a:cxn>
                <a:cxn ang="0">
                  <a:pos x="156" y="1250"/>
                </a:cxn>
                <a:cxn ang="0">
                  <a:pos x="65" y="1252"/>
                </a:cxn>
                <a:cxn ang="0">
                  <a:pos x="7" y="1255"/>
                </a:cxn>
                <a:cxn ang="0">
                  <a:pos x="2" y="1231"/>
                </a:cxn>
                <a:cxn ang="0">
                  <a:pos x="2" y="1204"/>
                </a:cxn>
                <a:cxn ang="0">
                  <a:pos x="49" y="1192"/>
                </a:cxn>
                <a:cxn ang="0">
                  <a:pos x="111" y="1185"/>
                </a:cxn>
                <a:cxn ang="0">
                  <a:pos x="170" y="1166"/>
                </a:cxn>
                <a:cxn ang="0">
                  <a:pos x="198" y="1127"/>
                </a:cxn>
                <a:cxn ang="0">
                  <a:pos x="205" y="1062"/>
                </a:cxn>
                <a:cxn ang="0">
                  <a:pos x="207" y="952"/>
                </a:cxn>
                <a:cxn ang="0">
                  <a:pos x="212" y="787"/>
                </a:cxn>
                <a:cxn ang="0">
                  <a:pos x="209" y="268"/>
                </a:cxn>
                <a:cxn ang="0">
                  <a:pos x="207" y="194"/>
                </a:cxn>
                <a:cxn ang="0">
                  <a:pos x="200" y="119"/>
                </a:cxn>
                <a:cxn ang="0">
                  <a:pos x="170" y="84"/>
                </a:cxn>
                <a:cxn ang="0">
                  <a:pos x="118" y="70"/>
                </a:cxn>
                <a:cxn ang="0">
                  <a:pos x="60" y="61"/>
                </a:cxn>
                <a:cxn ang="0">
                  <a:pos x="28" y="47"/>
                </a:cxn>
                <a:cxn ang="0">
                  <a:pos x="30" y="12"/>
                </a:cxn>
              </a:cxnLst>
              <a:rect l="0" t="0" r="r" b="b"/>
              <a:pathLst>
                <a:path w="1063" h="1259">
                  <a:moveTo>
                    <a:pt x="37" y="0"/>
                  </a:moveTo>
                  <a:lnTo>
                    <a:pt x="74" y="0"/>
                  </a:lnTo>
                  <a:lnTo>
                    <a:pt x="114" y="3"/>
                  </a:lnTo>
                  <a:lnTo>
                    <a:pt x="165" y="5"/>
                  </a:lnTo>
                  <a:lnTo>
                    <a:pt x="223" y="7"/>
                  </a:lnTo>
                  <a:lnTo>
                    <a:pt x="370" y="7"/>
                  </a:lnTo>
                  <a:lnTo>
                    <a:pt x="430" y="5"/>
                  </a:lnTo>
                  <a:lnTo>
                    <a:pt x="479" y="3"/>
                  </a:lnTo>
                  <a:lnTo>
                    <a:pt x="516" y="0"/>
                  </a:lnTo>
                  <a:lnTo>
                    <a:pt x="547" y="0"/>
                  </a:lnTo>
                  <a:lnTo>
                    <a:pt x="551" y="12"/>
                  </a:lnTo>
                  <a:lnTo>
                    <a:pt x="554" y="31"/>
                  </a:lnTo>
                  <a:lnTo>
                    <a:pt x="551" y="47"/>
                  </a:lnTo>
                  <a:lnTo>
                    <a:pt x="547" y="59"/>
                  </a:lnTo>
                  <a:lnTo>
                    <a:pt x="512" y="63"/>
                  </a:lnTo>
                  <a:lnTo>
                    <a:pt x="486" y="68"/>
                  </a:lnTo>
                  <a:lnTo>
                    <a:pt x="463" y="70"/>
                  </a:lnTo>
                  <a:lnTo>
                    <a:pt x="444" y="75"/>
                  </a:lnTo>
                  <a:lnTo>
                    <a:pt x="421" y="84"/>
                  </a:lnTo>
                  <a:lnTo>
                    <a:pt x="405" y="98"/>
                  </a:lnTo>
                  <a:lnTo>
                    <a:pt x="395" y="114"/>
                  </a:lnTo>
                  <a:lnTo>
                    <a:pt x="391" y="133"/>
                  </a:lnTo>
                  <a:lnTo>
                    <a:pt x="388" y="156"/>
                  </a:lnTo>
                  <a:lnTo>
                    <a:pt x="386" y="200"/>
                  </a:lnTo>
                  <a:lnTo>
                    <a:pt x="386" y="259"/>
                  </a:lnTo>
                  <a:lnTo>
                    <a:pt x="384" y="331"/>
                  </a:lnTo>
                  <a:lnTo>
                    <a:pt x="384" y="410"/>
                  </a:lnTo>
                  <a:lnTo>
                    <a:pt x="381" y="498"/>
                  </a:lnTo>
                  <a:lnTo>
                    <a:pt x="381" y="906"/>
                  </a:lnTo>
                  <a:lnTo>
                    <a:pt x="384" y="982"/>
                  </a:lnTo>
                  <a:lnTo>
                    <a:pt x="386" y="1048"/>
                  </a:lnTo>
                  <a:lnTo>
                    <a:pt x="388" y="1096"/>
                  </a:lnTo>
                  <a:lnTo>
                    <a:pt x="393" y="1120"/>
                  </a:lnTo>
                  <a:lnTo>
                    <a:pt x="405" y="1136"/>
                  </a:lnTo>
                  <a:lnTo>
                    <a:pt x="416" y="1148"/>
                  </a:lnTo>
                  <a:lnTo>
                    <a:pt x="428" y="1155"/>
                  </a:lnTo>
                  <a:lnTo>
                    <a:pt x="454" y="1159"/>
                  </a:lnTo>
                  <a:lnTo>
                    <a:pt x="489" y="1164"/>
                  </a:lnTo>
                  <a:lnTo>
                    <a:pt x="533" y="1166"/>
                  </a:lnTo>
                  <a:lnTo>
                    <a:pt x="582" y="1169"/>
                  </a:lnTo>
                  <a:lnTo>
                    <a:pt x="633" y="1171"/>
                  </a:lnTo>
                  <a:lnTo>
                    <a:pt x="763" y="1171"/>
                  </a:lnTo>
                  <a:lnTo>
                    <a:pt x="789" y="1169"/>
                  </a:lnTo>
                  <a:lnTo>
                    <a:pt x="812" y="1159"/>
                  </a:lnTo>
                  <a:lnTo>
                    <a:pt x="835" y="1148"/>
                  </a:lnTo>
                  <a:lnTo>
                    <a:pt x="861" y="1124"/>
                  </a:lnTo>
                  <a:lnTo>
                    <a:pt x="884" y="1094"/>
                  </a:lnTo>
                  <a:lnTo>
                    <a:pt x="907" y="1062"/>
                  </a:lnTo>
                  <a:lnTo>
                    <a:pt x="931" y="1020"/>
                  </a:lnTo>
                  <a:lnTo>
                    <a:pt x="956" y="973"/>
                  </a:lnTo>
                  <a:lnTo>
                    <a:pt x="980" y="924"/>
                  </a:lnTo>
                  <a:lnTo>
                    <a:pt x="1003" y="873"/>
                  </a:lnTo>
                  <a:lnTo>
                    <a:pt x="1017" y="873"/>
                  </a:lnTo>
                  <a:lnTo>
                    <a:pt x="1035" y="878"/>
                  </a:lnTo>
                  <a:lnTo>
                    <a:pt x="1052" y="887"/>
                  </a:lnTo>
                  <a:lnTo>
                    <a:pt x="1063" y="896"/>
                  </a:lnTo>
                  <a:lnTo>
                    <a:pt x="1056" y="931"/>
                  </a:lnTo>
                  <a:lnTo>
                    <a:pt x="1045" y="973"/>
                  </a:lnTo>
                  <a:lnTo>
                    <a:pt x="1033" y="1020"/>
                  </a:lnTo>
                  <a:lnTo>
                    <a:pt x="1019" y="1071"/>
                  </a:lnTo>
                  <a:lnTo>
                    <a:pt x="1003" y="1120"/>
                  </a:lnTo>
                  <a:lnTo>
                    <a:pt x="987" y="1164"/>
                  </a:lnTo>
                  <a:lnTo>
                    <a:pt x="973" y="1204"/>
                  </a:lnTo>
                  <a:lnTo>
                    <a:pt x="959" y="1231"/>
                  </a:lnTo>
                  <a:lnTo>
                    <a:pt x="949" y="1243"/>
                  </a:lnTo>
                  <a:lnTo>
                    <a:pt x="935" y="1252"/>
                  </a:lnTo>
                  <a:lnTo>
                    <a:pt x="910" y="1257"/>
                  </a:lnTo>
                  <a:lnTo>
                    <a:pt x="875" y="1259"/>
                  </a:lnTo>
                  <a:lnTo>
                    <a:pt x="831" y="1259"/>
                  </a:lnTo>
                  <a:lnTo>
                    <a:pt x="775" y="1257"/>
                  </a:lnTo>
                  <a:lnTo>
                    <a:pt x="712" y="1257"/>
                  </a:lnTo>
                  <a:lnTo>
                    <a:pt x="644" y="1255"/>
                  </a:lnTo>
                  <a:lnTo>
                    <a:pt x="575" y="1255"/>
                  </a:lnTo>
                  <a:lnTo>
                    <a:pt x="507" y="1252"/>
                  </a:lnTo>
                  <a:lnTo>
                    <a:pt x="442" y="1250"/>
                  </a:lnTo>
                  <a:lnTo>
                    <a:pt x="384" y="1250"/>
                  </a:lnTo>
                  <a:lnTo>
                    <a:pt x="333" y="1248"/>
                  </a:lnTo>
                  <a:lnTo>
                    <a:pt x="251" y="1248"/>
                  </a:lnTo>
                  <a:lnTo>
                    <a:pt x="205" y="1250"/>
                  </a:lnTo>
                  <a:lnTo>
                    <a:pt x="156" y="1250"/>
                  </a:lnTo>
                  <a:lnTo>
                    <a:pt x="107" y="1252"/>
                  </a:lnTo>
                  <a:lnTo>
                    <a:pt x="65" y="1252"/>
                  </a:lnTo>
                  <a:lnTo>
                    <a:pt x="30" y="1255"/>
                  </a:lnTo>
                  <a:lnTo>
                    <a:pt x="7" y="1255"/>
                  </a:lnTo>
                  <a:lnTo>
                    <a:pt x="2" y="1245"/>
                  </a:lnTo>
                  <a:lnTo>
                    <a:pt x="2" y="1231"/>
                  </a:lnTo>
                  <a:lnTo>
                    <a:pt x="0" y="1218"/>
                  </a:lnTo>
                  <a:lnTo>
                    <a:pt x="2" y="1204"/>
                  </a:lnTo>
                  <a:lnTo>
                    <a:pt x="7" y="1197"/>
                  </a:lnTo>
                  <a:lnTo>
                    <a:pt x="49" y="1192"/>
                  </a:lnTo>
                  <a:lnTo>
                    <a:pt x="81" y="1187"/>
                  </a:lnTo>
                  <a:lnTo>
                    <a:pt x="111" y="1185"/>
                  </a:lnTo>
                  <a:lnTo>
                    <a:pt x="139" y="1178"/>
                  </a:lnTo>
                  <a:lnTo>
                    <a:pt x="170" y="1166"/>
                  </a:lnTo>
                  <a:lnTo>
                    <a:pt x="188" y="1150"/>
                  </a:lnTo>
                  <a:lnTo>
                    <a:pt x="198" y="1127"/>
                  </a:lnTo>
                  <a:lnTo>
                    <a:pt x="202" y="1094"/>
                  </a:lnTo>
                  <a:lnTo>
                    <a:pt x="205" y="1062"/>
                  </a:lnTo>
                  <a:lnTo>
                    <a:pt x="207" y="1015"/>
                  </a:lnTo>
                  <a:lnTo>
                    <a:pt x="207" y="952"/>
                  </a:lnTo>
                  <a:lnTo>
                    <a:pt x="209" y="875"/>
                  </a:lnTo>
                  <a:lnTo>
                    <a:pt x="212" y="787"/>
                  </a:lnTo>
                  <a:lnTo>
                    <a:pt x="212" y="326"/>
                  </a:lnTo>
                  <a:lnTo>
                    <a:pt x="209" y="268"/>
                  </a:lnTo>
                  <a:lnTo>
                    <a:pt x="209" y="226"/>
                  </a:lnTo>
                  <a:lnTo>
                    <a:pt x="207" y="194"/>
                  </a:lnTo>
                  <a:lnTo>
                    <a:pt x="205" y="149"/>
                  </a:lnTo>
                  <a:lnTo>
                    <a:pt x="200" y="119"/>
                  </a:lnTo>
                  <a:lnTo>
                    <a:pt x="188" y="98"/>
                  </a:lnTo>
                  <a:lnTo>
                    <a:pt x="170" y="84"/>
                  </a:lnTo>
                  <a:lnTo>
                    <a:pt x="142" y="75"/>
                  </a:lnTo>
                  <a:lnTo>
                    <a:pt x="118" y="70"/>
                  </a:lnTo>
                  <a:lnTo>
                    <a:pt x="91" y="66"/>
                  </a:lnTo>
                  <a:lnTo>
                    <a:pt x="60" y="61"/>
                  </a:lnTo>
                  <a:lnTo>
                    <a:pt x="32" y="59"/>
                  </a:lnTo>
                  <a:lnTo>
                    <a:pt x="28" y="47"/>
                  </a:lnTo>
                  <a:lnTo>
                    <a:pt x="28" y="28"/>
                  </a:lnTo>
                  <a:lnTo>
                    <a:pt x="30" y="12"/>
                  </a:lnTo>
                  <a:lnTo>
                    <a:pt x="37" y="0"/>
                  </a:lnTo>
                  <a:close/>
                </a:path>
              </a:pathLst>
            </a:custGeom>
            <a:solidFill>
              <a:schemeClr val="accent1"/>
            </a:solidFill>
            <a:ln w="0">
              <a:noFill/>
              <a:prstDash val="solid"/>
              <a:round/>
              <a:headEnd/>
              <a:tailEnd/>
            </a:ln>
          </p:spPr>
          <p:txBody>
            <a:bodyPr/>
            <a:lstStyle/>
            <a:p>
              <a:pPr defTabSz="914400" fontAlgn="base">
                <a:spcBef>
                  <a:spcPct val="0"/>
                </a:spcBef>
                <a:spcAft>
                  <a:spcPct val="0"/>
                </a:spcAft>
                <a:defRPr/>
              </a:pPr>
              <a:endParaRPr lang="en-US" sz="1800" dirty="0">
                <a:solidFill>
                  <a:srgbClr val="000000"/>
                </a:solidFill>
              </a:endParaRPr>
            </a:p>
          </p:txBody>
        </p:sp>
        <p:sp>
          <p:nvSpPr>
            <p:cNvPr id="323610" name="Freeform 26"/>
            <p:cNvSpPr>
              <a:spLocks/>
            </p:cNvSpPr>
            <p:nvPr userDrawn="1"/>
          </p:nvSpPr>
          <p:spPr bwMode="auto">
            <a:xfrm>
              <a:off x="3028" y="3627"/>
              <a:ext cx="256" cy="303"/>
            </a:xfrm>
            <a:custGeom>
              <a:avLst/>
              <a:gdLst/>
              <a:ahLst/>
              <a:cxnLst>
                <a:cxn ang="0">
                  <a:pos x="74" y="0"/>
                </a:cxn>
                <a:cxn ang="0">
                  <a:pos x="165" y="5"/>
                </a:cxn>
                <a:cxn ang="0">
                  <a:pos x="370" y="7"/>
                </a:cxn>
                <a:cxn ang="0">
                  <a:pos x="479" y="3"/>
                </a:cxn>
                <a:cxn ang="0">
                  <a:pos x="544" y="0"/>
                </a:cxn>
                <a:cxn ang="0">
                  <a:pos x="553" y="31"/>
                </a:cxn>
                <a:cxn ang="0">
                  <a:pos x="544" y="59"/>
                </a:cxn>
                <a:cxn ang="0">
                  <a:pos x="470" y="70"/>
                </a:cxn>
                <a:cxn ang="0">
                  <a:pos x="418" y="84"/>
                </a:cxn>
                <a:cxn ang="0">
                  <a:pos x="393" y="114"/>
                </a:cxn>
                <a:cxn ang="0">
                  <a:pos x="388" y="156"/>
                </a:cxn>
                <a:cxn ang="0">
                  <a:pos x="386" y="259"/>
                </a:cxn>
                <a:cxn ang="0">
                  <a:pos x="384" y="410"/>
                </a:cxn>
                <a:cxn ang="0">
                  <a:pos x="381" y="906"/>
                </a:cxn>
                <a:cxn ang="0">
                  <a:pos x="386" y="1048"/>
                </a:cxn>
                <a:cxn ang="0">
                  <a:pos x="393" y="1120"/>
                </a:cxn>
                <a:cxn ang="0">
                  <a:pos x="416" y="1148"/>
                </a:cxn>
                <a:cxn ang="0">
                  <a:pos x="451" y="1159"/>
                </a:cxn>
                <a:cxn ang="0">
                  <a:pos x="533" y="1166"/>
                </a:cxn>
                <a:cxn ang="0">
                  <a:pos x="763" y="1171"/>
                </a:cxn>
                <a:cxn ang="0">
                  <a:pos x="823" y="1155"/>
                </a:cxn>
                <a:cxn ang="0">
                  <a:pos x="882" y="1094"/>
                </a:cxn>
                <a:cxn ang="0">
                  <a:pos x="931" y="1020"/>
                </a:cxn>
                <a:cxn ang="0">
                  <a:pos x="979" y="924"/>
                </a:cxn>
                <a:cxn ang="0">
                  <a:pos x="1017" y="873"/>
                </a:cxn>
                <a:cxn ang="0">
                  <a:pos x="1052" y="887"/>
                </a:cxn>
                <a:cxn ang="0">
                  <a:pos x="1054" y="931"/>
                </a:cxn>
                <a:cxn ang="0">
                  <a:pos x="1031" y="1020"/>
                </a:cxn>
                <a:cxn ang="0">
                  <a:pos x="1000" y="1120"/>
                </a:cxn>
                <a:cxn ang="0">
                  <a:pos x="970" y="1204"/>
                </a:cxn>
                <a:cxn ang="0">
                  <a:pos x="949" y="1243"/>
                </a:cxn>
                <a:cxn ang="0">
                  <a:pos x="910" y="1257"/>
                </a:cxn>
                <a:cxn ang="0">
                  <a:pos x="830" y="1259"/>
                </a:cxn>
                <a:cxn ang="0">
                  <a:pos x="712" y="1257"/>
                </a:cxn>
                <a:cxn ang="0">
                  <a:pos x="574" y="1255"/>
                </a:cxn>
                <a:cxn ang="0">
                  <a:pos x="442" y="1250"/>
                </a:cxn>
                <a:cxn ang="0">
                  <a:pos x="332" y="1248"/>
                </a:cxn>
                <a:cxn ang="0">
                  <a:pos x="202" y="1250"/>
                </a:cxn>
                <a:cxn ang="0">
                  <a:pos x="107" y="1252"/>
                </a:cxn>
                <a:cxn ang="0">
                  <a:pos x="30" y="1255"/>
                </a:cxn>
                <a:cxn ang="0">
                  <a:pos x="2" y="1245"/>
                </a:cxn>
                <a:cxn ang="0">
                  <a:pos x="0" y="1218"/>
                </a:cxn>
                <a:cxn ang="0">
                  <a:pos x="7" y="1197"/>
                </a:cxn>
                <a:cxn ang="0">
                  <a:pos x="81" y="1187"/>
                </a:cxn>
                <a:cxn ang="0">
                  <a:pos x="139" y="1178"/>
                </a:cxn>
                <a:cxn ang="0">
                  <a:pos x="186" y="1150"/>
                </a:cxn>
                <a:cxn ang="0">
                  <a:pos x="202" y="1094"/>
                </a:cxn>
                <a:cxn ang="0">
                  <a:pos x="204" y="1015"/>
                </a:cxn>
                <a:cxn ang="0">
                  <a:pos x="207" y="875"/>
                </a:cxn>
                <a:cxn ang="0">
                  <a:pos x="209" y="268"/>
                </a:cxn>
                <a:cxn ang="0">
                  <a:pos x="207" y="194"/>
                </a:cxn>
                <a:cxn ang="0">
                  <a:pos x="197" y="119"/>
                </a:cxn>
                <a:cxn ang="0">
                  <a:pos x="169" y="84"/>
                </a:cxn>
                <a:cxn ang="0">
                  <a:pos x="118" y="70"/>
                </a:cxn>
                <a:cxn ang="0">
                  <a:pos x="60" y="61"/>
                </a:cxn>
                <a:cxn ang="0">
                  <a:pos x="27" y="47"/>
                </a:cxn>
                <a:cxn ang="0">
                  <a:pos x="30" y="12"/>
                </a:cxn>
              </a:cxnLst>
              <a:rect l="0" t="0" r="r" b="b"/>
              <a:pathLst>
                <a:path w="1061" h="1259">
                  <a:moveTo>
                    <a:pt x="37" y="0"/>
                  </a:moveTo>
                  <a:lnTo>
                    <a:pt x="74" y="0"/>
                  </a:lnTo>
                  <a:lnTo>
                    <a:pt x="114" y="3"/>
                  </a:lnTo>
                  <a:lnTo>
                    <a:pt x="165" y="5"/>
                  </a:lnTo>
                  <a:lnTo>
                    <a:pt x="223" y="7"/>
                  </a:lnTo>
                  <a:lnTo>
                    <a:pt x="370" y="7"/>
                  </a:lnTo>
                  <a:lnTo>
                    <a:pt x="430" y="5"/>
                  </a:lnTo>
                  <a:lnTo>
                    <a:pt x="479" y="3"/>
                  </a:lnTo>
                  <a:lnTo>
                    <a:pt x="516" y="0"/>
                  </a:lnTo>
                  <a:lnTo>
                    <a:pt x="544" y="0"/>
                  </a:lnTo>
                  <a:lnTo>
                    <a:pt x="551" y="12"/>
                  </a:lnTo>
                  <a:lnTo>
                    <a:pt x="553" y="31"/>
                  </a:lnTo>
                  <a:lnTo>
                    <a:pt x="551" y="47"/>
                  </a:lnTo>
                  <a:lnTo>
                    <a:pt x="544" y="59"/>
                  </a:lnTo>
                  <a:lnTo>
                    <a:pt x="502" y="63"/>
                  </a:lnTo>
                  <a:lnTo>
                    <a:pt x="470" y="70"/>
                  </a:lnTo>
                  <a:lnTo>
                    <a:pt x="442" y="75"/>
                  </a:lnTo>
                  <a:lnTo>
                    <a:pt x="418" y="84"/>
                  </a:lnTo>
                  <a:lnTo>
                    <a:pt x="402" y="98"/>
                  </a:lnTo>
                  <a:lnTo>
                    <a:pt x="393" y="114"/>
                  </a:lnTo>
                  <a:lnTo>
                    <a:pt x="391" y="133"/>
                  </a:lnTo>
                  <a:lnTo>
                    <a:pt x="388" y="156"/>
                  </a:lnTo>
                  <a:lnTo>
                    <a:pt x="386" y="200"/>
                  </a:lnTo>
                  <a:lnTo>
                    <a:pt x="386" y="259"/>
                  </a:lnTo>
                  <a:lnTo>
                    <a:pt x="384" y="331"/>
                  </a:lnTo>
                  <a:lnTo>
                    <a:pt x="384" y="410"/>
                  </a:lnTo>
                  <a:lnTo>
                    <a:pt x="381" y="498"/>
                  </a:lnTo>
                  <a:lnTo>
                    <a:pt x="381" y="906"/>
                  </a:lnTo>
                  <a:lnTo>
                    <a:pt x="384" y="982"/>
                  </a:lnTo>
                  <a:lnTo>
                    <a:pt x="386" y="1048"/>
                  </a:lnTo>
                  <a:lnTo>
                    <a:pt x="388" y="1096"/>
                  </a:lnTo>
                  <a:lnTo>
                    <a:pt x="393" y="1120"/>
                  </a:lnTo>
                  <a:lnTo>
                    <a:pt x="405" y="1136"/>
                  </a:lnTo>
                  <a:lnTo>
                    <a:pt x="416" y="1148"/>
                  </a:lnTo>
                  <a:lnTo>
                    <a:pt x="425" y="1155"/>
                  </a:lnTo>
                  <a:lnTo>
                    <a:pt x="451" y="1159"/>
                  </a:lnTo>
                  <a:lnTo>
                    <a:pt x="488" y="1164"/>
                  </a:lnTo>
                  <a:lnTo>
                    <a:pt x="533" y="1166"/>
                  </a:lnTo>
                  <a:lnTo>
                    <a:pt x="630" y="1171"/>
                  </a:lnTo>
                  <a:lnTo>
                    <a:pt x="763" y="1171"/>
                  </a:lnTo>
                  <a:lnTo>
                    <a:pt x="793" y="1166"/>
                  </a:lnTo>
                  <a:lnTo>
                    <a:pt x="823" y="1155"/>
                  </a:lnTo>
                  <a:lnTo>
                    <a:pt x="851" y="1131"/>
                  </a:lnTo>
                  <a:lnTo>
                    <a:pt x="882" y="1094"/>
                  </a:lnTo>
                  <a:lnTo>
                    <a:pt x="905" y="1062"/>
                  </a:lnTo>
                  <a:lnTo>
                    <a:pt x="931" y="1020"/>
                  </a:lnTo>
                  <a:lnTo>
                    <a:pt x="956" y="973"/>
                  </a:lnTo>
                  <a:lnTo>
                    <a:pt x="979" y="924"/>
                  </a:lnTo>
                  <a:lnTo>
                    <a:pt x="1000" y="873"/>
                  </a:lnTo>
                  <a:lnTo>
                    <a:pt x="1017" y="873"/>
                  </a:lnTo>
                  <a:lnTo>
                    <a:pt x="1035" y="878"/>
                  </a:lnTo>
                  <a:lnTo>
                    <a:pt x="1052" y="887"/>
                  </a:lnTo>
                  <a:lnTo>
                    <a:pt x="1061" y="896"/>
                  </a:lnTo>
                  <a:lnTo>
                    <a:pt x="1054" y="931"/>
                  </a:lnTo>
                  <a:lnTo>
                    <a:pt x="1045" y="973"/>
                  </a:lnTo>
                  <a:lnTo>
                    <a:pt x="1031" y="1020"/>
                  </a:lnTo>
                  <a:lnTo>
                    <a:pt x="1017" y="1071"/>
                  </a:lnTo>
                  <a:lnTo>
                    <a:pt x="1000" y="1120"/>
                  </a:lnTo>
                  <a:lnTo>
                    <a:pt x="986" y="1164"/>
                  </a:lnTo>
                  <a:lnTo>
                    <a:pt x="970" y="1204"/>
                  </a:lnTo>
                  <a:lnTo>
                    <a:pt x="956" y="1231"/>
                  </a:lnTo>
                  <a:lnTo>
                    <a:pt x="949" y="1243"/>
                  </a:lnTo>
                  <a:lnTo>
                    <a:pt x="933" y="1252"/>
                  </a:lnTo>
                  <a:lnTo>
                    <a:pt x="910" y="1257"/>
                  </a:lnTo>
                  <a:lnTo>
                    <a:pt x="875" y="1259"/>
                  </a:lnTo>
                  <a:lnTo>
                    <a:pt x="830" y="1259"/>
                  </a:lnTo>
                  <a:lnTo>
                    <a:pt x="775" y="1257"/>
                  </a:lnTo>
                  <a:lnTo>
                    <a:pt x="712" y="1257"/>
                  </a:lnTo>
                  <a:lnTo>
                    <a:pt x="644" y="1255"/>
                  </a:lnTo>
                  <a:lnTo>
                    <a:pt x="574" y="1255"/>
                  </a:lnTo>
                  <a:lnTo>
                    <a:pt x="507" y="1252"/>
                  </a:lnTo>
                  <a:lnTo>
                    <a:pt x="442" y="1250"/>
                  </a:lnTo>
                  <a:lnTo>
                    <a:pt x="381" y="1250"/>
                  </a:lnTo>
                  <a:lnTo>
                    <a:pt x="332" y="1248"/>
                  </a:lnTo>
                  <a:lnTo>
                    <a:pt x="251" y="1248"/>
                  </a:lnTo>
                  <a:lnTo>
                    <a:pt x="202" y="1250"/>
                  </a:lnTo>
                  <a:lnTo>
                    <a:pt x="153" y="1250"/>
                  </a:lnTo>
                  <a:lnTo>
                    <a:pt x="107" y="1252"/>
                  </a:lnTo>
                  <a:lnTo>
                    <a:pt x="65" y="1252"/>
                  </a:lnTo>
                  <a:lnTo>
                    <a:pt x="30" y="1255"/>
                  </a:lnTo>
                  <a:lnTo>
                    <a:pt x="7" y="1255"/>
                  </a:lnTo>
                  <a:lnTo>
                    <a:pt x="2" y="1245"/>
                  </a:lnTo>
                  <a:lnTo>
                    <a:pt x="0" y="1231"/>
                  </a:lnTo>
                  <a:lnTo>
                    <a:pt x="0" y="1218"/>
                  </a:lnTo>
                  <a:lnTo>
                    <a:pt x="2" y="1204"/>
                  </a:lnTo>
                  <a:lnTo>
                    <a:pt x="7" y="1197"/>
                  </a:lnTo>
                  <a:lnTo>
                    <a:pt x="48" y="1192"/>
                  </a:lnTo>
                  <a:lnTo>
                    <a:pt x="81" y="1187"/>
                  </a:lnTo>
                  <a:lnTo>
                    <a:pt x="111" y="1185"/>
                  </a:lnTo>
                  <a:lnTo>
                    <a:pt x="139" y="1178"/>
                  </a:lnTo>
                  <a:lnTo>
                    <a:pt x="167" y="1166"/>
                  </a:lnTo>
                  <a:lnTo>
                    <a:pt x="186" y="1150"/>
                  </a:lnTo>
                  <a:lnTo>
                    <a:pt x="197" y="1127"/>
                  </a:lnTo>
                  <a:lnTo>
                    <a:pt x="202" y="1094"/>
                  </a:lnTo>
                  <a:lnTo>
                    <a:pt x="204" y="1062"/>
                  </a:lnTo>
                  <a:lnTo>
                    <a:pt x="204" y="1015"/>
                  </a:lnTo>
                  <a:lnTo>
                    <a:pt x="207" y="952"/>
                  </a:lnTo>
                  <a:lnTo>
                    <a:pt x="207" y="875"/>
                  </a:lnTo>
                  <a:lnTo>
                    <a:pt x="209" y="787"/>
                  </a:lnTo>
                  <a:lnTo>
                    <a:pt x="209" y="268"/>
                  </a:lnTo>
                  <a:lnTo>
                    <a:pt x="207" y="226"/>
                  </a:lnTo>
                  <a:lnTo>
                    <a:pt x="207" y="194"/>
                  </a:lnTo>
                  <a:lnTo>
                    <a:pt x="204" y="149"/>
                  </a:lnTo>
                  <a:lnTo>
                    <a:pt x="197" y="119"/>
                  </a:lnTo>
                  <a:lnTo>
                    <a:pt x="188" y="98"/>
                  </a:lnTo>
                  <a:lnTo>
                    <a:pt x="169" y="84"/>
                  </a:lnTo>
                  <a:lnTo>
                    <a:pt x="142" y="75"/>
                  </a:lnTo>
                  <a:lnTo>
                    <a:pt x="118" y="70"/>
                  </a:lnTo>
                  <a:lnTo>
                    <a:pt x="90" y="66"/>
                  </a:lnTo>
                  <a:lnTo>
                    <a:pt x="60" y="61"/>
                  </a:lnTo>
                  <a:lnTo>
                    <a:pt x="30" y="59"/>
                  </a:lnTo>
                  <a:lnTo>
                    <a:pt x="27" y="47"/>
                  </a:lnTo>
                  <a:lnTo>
                    <a:pt x="27" y="28"/>
                  </a:lnTo>
                  <a:lnTo>
                    <a:pt x="30" y="12"/>
                  </a:lnTo>
                  <a:lnTo>
                    <a:pt x="37" y="0"/>
                  </a:lnTo>
                  <a:close/>
                </a:path>
              </a:pathLst>
            </a:custGeom>
            <a:solidFill>
              <a:schemeClr val="accent1"/>
            </a:solidFill>
            <a:ln w="0">
              <a:noFill/>
              <a:prstDash val="solid"/>
              <a:round/>
              <a:headEnd/>
              <a:tailEnd/>
            </a:ln>
          </p:spPr>
          <p:txBody>
            <a:bodyPr/>
            <a:lstStyle/>
            <a:p>
              <a:pPr defTabSz="914400" fontAlgn="base">
                <a:spcBef>
                  <a:spcPct val="0"/>
                </a:spcBef>
                <a:spcAft>
                  <a:spcPct val="0"/>
                </a:spcAft>
                <a:defRPr/>
              </a:pPr>
              <a:endParaRPr lang="en-US" sz="1800" dirty="0">
                <a:solidFill>
                  <a:srgbClr val="000000"/>
                </a:solidFill>
              </a:endParaRPr>
            </a:p>
          </p:txBody>
        </p:sp>
        <p:sp>
          <p:nvSpPr>
            <p:cNvPr id="323611" name="Freeform 27"/>
            <p:cNvSpPr>
              <a:spLocks noEditPoints="1"/>
            </p:cNvSpPr>
            <p:nvPr userDrawn="1"/>
          </p:nvSpPr>
          <p:spPr bwMode="auto">
            <a:xfrm>
              <a:off x="3300" y="3620"/>
              <a:ext cx="309" cy="316"/>
            </a:xfrm>
            <a:custGeom>
              <a:avLst/>
              <a:gdLst/>
              <a:ahLst/>
              <a:cxnLst>
                <a:cxn ang="0">
                  <a:pos x="528" y="86"/>
                </a:cxn>
                <a:cxn ang="0">
                  <a:pos x="414" y="126"/>
                </a:cxn>
                <a:cxn ang="0">
                  <a:pos x="318" y="207"/>
                </a:cxn>
                <a:cxn ang="0">
                  <a:pos x="251" y="319"/>
                </a:cxn>
                <a:cxn ang="0">
                  <a:pos x="211" y="452"/>
                </a:cxn>
                <a:cxn ang="0">
                  <a:pos x="197" y="601"/>
                </a:cxn>
                <a:cxn ang="0">
                  <a:pos x="209" y="742"/>
                </a:cxn>
                <a:cxn ang="0">
                  <a:pos x="246" y="882"/>
                </a:cxn>
                <a:cxn ang="0">
                  <a:pos x="309" y="1008"/>
                </a:cxn>
                <a:cxn ang="0">
                  <a:pos x="398" y="1115"/>
                </a:cxn>
                <a:cxn ang="0">
                  <a:pos x="509" y="1187"/>
                </a:cxn>
                <a:cxn ang="0">
                  <a:pos x="635" y="1222"/>
                </a:cxn>
                <a:cxn ang="0">
                  <a:pos x="768" y="1222"/>
                </a:cxn>
                <a:cxn ang="0">
                  <a:pos x="879" y="1185"/>
                </a:cxn>
                <a:cxn ang="0">
                  <a:pos x="972" y="1108"/>
                </a:cxn>
                <a:cxn ang="0">
                  <a:pos x="1042" y="992"/>
                </a:cxn>
                <a:cxn ang="0">
                  <a:pos x="1080" y="854"/>
                </a:cxn>
                <a:cxn ang="0">
                  <a:pos x="1091" y="701"/>
                </a:cxn>
                <a:cxn ang="0">
                  <a:pos x="1077" y="540"/>
                </a:cxn>
                <a:cxn ang="0">
                  <a:pos x="1035" y="391"/>
                </a:cxn>
                <a:cxn ang="0">
                  <a:pos x="963" y="263"/>
                </a:cxn>
                <a:cxn ang="0">
                  <a:pos x="861" y="163"/>
                </a:cxn>
                <a:cxn ang="0">
                  <a:pos x="740" y="102"/>
                </a:cxn>
                <a:cxn ang="0">
                  <a:pos x="595" y="82"/>
                </a:cxn>
                <a:cxn ang="0">
                  <a:pos x="754" y="5"/>
                </a:cxn>
                <a:cxn ang="0">
                  <a:pos x="917" y="44"/>
                </a:cxn>
                <a:cxn ang="0">
                  <a:pos x="1049" y="119"/>
                </a:cxn>
                <a:cxn ang="0">
                  <a:pos x="1152" y="219"/>
                </a:cxn>
                <a:cxn ang="0">
                  <a:pos x="1226" y="342"/>
                </a:cxn>
                <a:cxn ang="0">
                  <a:pos x="1270" y="482"/>
                </a:cxn>
                <a:cxn ang="0">
                  <a:pos x="1284" y="631"/>
                </a:cxn>
                <a:cxn ang="0">
                  <a:pos x="1270" y="794"/>
                </a:cxn>
                <a:cxn ang="0">
                  <a:pos x="1228" y="929"/>
                </a:cxn>
                <a:cxn ang="0">
                  <a:pos x="1161" y="1050"/>
                </a:cxn>
                <a:cxn ang="0">
                  <a:pos x="1054" y="1164"/>
                </a:cxn>
                <a:cxn ang="0">
                  <a:pos x="924" y="1248"/>
                </a:cxn>
                <a:cxn ang="0">
                  <a:pos x="782" y="1299"/>
                </a:cxn>
                <a:cxn ang="0">
                  <a:pos x="630" y="1315"/>
                </a:cxn>
                <a:cxn ang="0">
                  <a:pos x="449" y="1292"/>
                </a:cxn>
                <a:cxn ang="0">
                  <a:pos x="295" y="1229"/>
                </a:cxn>
                <a:cxn ang="0">
                  <a:pos x="174" y="1131"/>
                </a:cxn>
                <a:cxn ang="0">
                  <a:pos x="74" y="987"/>
                </a:cxn>
                <a:cxn ang="0">
                  <a:pos x="18" y="824"/>
                </a:cxn>
                <a:cxn ang="0">
                  <a:pos x="0" y="647"/>
                </a:cxn>
                <a:cxn ang="0">
                  <a:pos x="21" y="477"/>
                </a:cxn>
                <a:cxn ang="0">
                  <a:pos x="81" y="326"/>
                </a:cxn>
                <a:cxn ang="0">
                  <a:pos x="172" y="203"/>
                </a:cxn>
                <a:cxn ang="0">
                  <a:pos x="291" y="109"/>
                </a:cxn>
                <a:cxn ang="0">
                  <a:pos x="430" y="42"/>
                </a:cxn>
                <a:cxn ang="0">
                  <a:pos x="584" y="5"/>
                </a:cxn>
              </a:cxnLst>
              <a:rect l="0" t="0" r="r" b="b"/>
              <a:pathLst>
                <a:path w="1284" h="1315">
                  <a:moveTo>
                    <a:pt x="595" y="82"/>
                  </a:moveTo>
                  <a:lnTo>
                    <a:pt x="528" y="86"/>
                  </a:lnTo>
                  <a:lnTo>
                    <a:pt x="467" y="102"/>
                  </a:lnTo>
                  <a:lnTo>
                    <a:pt x="414" y="126"/>
                  </a:lnTo>
                  <a:lnTo>
                    <a:pt x="363" y="163"/>
                  </a:lnTo>
                  <a:lnTo>
                    <a:pt x="318" y="207"/>
                  </a:lnTo>
                  <a:lnTo>
                    <a:pt x="281" y="258"/>
                  </a:lnTo>
                  <a:lnTo>
                    <a:pt x="251" y="319"/>
                  </a:lnTo>
                  <a:lnTo>
                    <a:pt x="228" y="382"/>
                  </a:lnTo>
                  <a:lnTo>
                    <a:pt x="211" y="452"/>
                  </a:lnTo>
                  <a:lnTo>
                    <a:pt x="200" y="524"/>
                  </a:lnTo>
                  <a:lnTo>
                    <a:pt x="197" y="601"/>
                  </a:lnTo>
                  <a:lnTo>
                    <a:pt x="200" y="673"/>
                  </a:lnTo>
                  <a:lnTo>
                    <a:pt x="209" y="742"/>
                  </a:lnTo>
                  <a:lnTo>
                    <a:pt x="225" y="815"/>
                  </a:lnTo>
                  <a:lnTo>
                    <a:pt x="246" y="882"/>
                  </a:lnTo>
                  <a:lnTo>
                    <a:pt x="274" y="947"/>
                  </a:lnTo>
                  <a:lnTo>
                    <a:pt x="309" y="1008"/>
                  </a:lnTo>
                  <a:lnTo>
                    <a:pt x="349" y="1066"/>
                  </a:lnTo>
                  <a:lnTo>
                    <a:pt x="398" y="1115"/>
                  </a:lnTo>
                  <a:lnTo>
                    <a:pt x="453" y="1157"/>
                  </a:lnTo>
                  <a:lnTo>
                    <a:pt x="509" y="1187"/>
                  </a:lnTo>
                  <a:lnTo>
                    <a:pt x="570" y="1208"/>
                  </a:lnTo>
                  <a:lnTo>
                    <a:pt x="635" y="1222"/>
                  </a:lnTo>
                  <a:lnTo>
                    <a:pt x="707" y="1227"/>
                  </a:lnTo>
                  <a:lnTo>
                    <a:pt x="768" y="1222"/>
                  </a:lnTo>
                  <a:lnTo>
                    <a:pt x="826" y="1208"/>
                  </a:lnTo>
                  <a:lnTo>
                    <a:pt x="879" y="1185"/>
                  </a:lnTo>
                  <a:lnTo>
                    <a:pt x="924" y="1154"/>
                  </a:lnTo>
                  <a:lnTo>
                    <a:pt x="972" y="1108"/>
                  </a:lnTo>
                  <a:lnTo>
                    <a:pt x="1010" y="1054"/>
                  </a:lnTo>
                  <a:lnTo>
                    <a:pt x="1042" y="992"/>
                  </a:lnTo>
                  <a:lnTo>
                    <a:pt x="1063" y="926"/>
                  </a:lnTo>
                  <a:lnTo>
                    <a:pt x="1080" y="854"/>
                  </a:lnTo>
                  <a:lnTo>
                    <a:pt x="1089" y="780"/>
                  </a:lnTo>
                  <a:lnTo>
                    <a:pt x="1091" y="701"/>
                  </a:lnTo>
                  <a:lnTo>
                    <a:pt x="1089" y="619"/>
                  </a:lnTo>
                  <a:lnTo>
                    <a:pt x="1077" y="540"/>
                  </a:lnTo>
                  <a:lnTo>
                    <a:pt x="1061" y="463"/>
                  </a:lnTo>
                  <a:lnTo>
                    <a:pt x="1035" y="391"/>
                  </a:lnTo>
                  <a:lnTo>
                    <a:pt x="1003" y="324"/>
                  </a:lnTo>
                  <a:lnTo>
                    <a:pt x="963" y="263"/>
                  </a:lnTo>
                  <a:lnTo>
                    <a:pt x="917" y="210"/>
                  </a:lnTo>
                  <a:lnTo>
                    <a:pt x="861" y="163"/>
                  </a:lnTo>
                  <a:lnTo>
                    <a:pt x="803" y="128"/>
                  </a:lnTo>
                  <a:lnTo>
                    <a:pt x="740" y="102"/>
                  </a:lnTo>
                  <a:lnTo>
                    <a:pt x="670" y="86"/>
                  </a:lnTo>
                  <a:lnTo>
                    <a:pt x="595" y="82"/>
                  </a:lnTo>
                  <a:close/>
                  <a:moveTo>
                    <a:pt x="663" y="0"/>
                  </a:moveTo>
                  <a:lnTo>
                    <a:pt x="754" y="5"/>
                  </a:lnTo>
                  <a:lnTo>
                    <a:pt x="840" y="21"/>
                  </a:lnTo>
                  <a:lnTo>
                    <a:pt x="917" y="44"/>
                  </a:lnTo>
                  <a:lnTo>
                    <a:pt x="986" y="77"/>
                  </a:lnTo>
                  <a:lnTo>
                    <a:pt x="1049" y="119"/>
                  </a:lnTo>
                  <a:lnTo>
                    <a:pt x="1105" y="165"/>
                  </a:lnTo>
                  <a:lnTo>
                    <a:pt x="1152" y="219"/>
                  </a:lnTo>
                  <a:lnTo>
                    <a:pt x="1194" y="279"/>
                  </a:lnTo>
                  <a:lnTo>
                    <a:pt x="1226" y="342"/>
                  </a:lnTo>
                  <a:lnTo>
                    <a:pt x="1252" y="412"/>
                  </a:lnTo>
                  <a:lnTo>
                    <a:pt x="1270" y="482"/>
                  </a:lnTo>
                  <a:lnTo>
                    <a:pt x="1280" y="556"/>
                  </a:lnTo>
                  <a:lnTo>
                    <a:pt x="1284" y="631"/>
                  </a:lnTo>
                  <a:lnTo>
                    <a:pt x="1282" y="715"/>
                  </a:lnTo>
                  <a:lnTo>
                    <a:pt x="1270" y="794"/>
                  </a:lnTo>
                  <a:lnTo>
                    <a:pt x="1254" y="864"/>
                  </a:lnTo>
                  <a:lnTo>
                    <a:pt x="1228" y="929"/>
                  </a:lnTo>
                  <a:lnTo>
                    <a:pt x="1198" y="992"/>
                  </a:lnTo>
                  <a:lnTo>
                    <a:pt x="1161" y="1050"/>
                  </a:lnTo>
                  <a:lnTo>
                    <a:pt x="1110" y="1110"/>
                  </a:lnTo>
                  <a:lnTo>
                    <a:pt x="1054" y="1164"/>
                  </a:lnTo>
                  <a:lnTo>
                    <a:pt x="991" y="1210"/>
                  </a:lnTo>
                  <a:lnTo>
                    <a:pt x="924" y="1248"/>
                  </a:lnTo>
                  <a:lnTo>
                    <a:pt x="854" y="1278"/>
                  </a:lnTo>
                  <a:lnTo>
                    <a:pt x="782" y="1299"/>
                  </a:lnTo>
                  <a:lnTo>
                    <a:pt x="707" y="1310"/>
                  </a:lnTo>
                  <a:lnTo>
                    <a:pt x="630" y="1315"/>
                  </a:lnTo>
                  <a:lnTo>
                    <a:pt x="537" y="1310"/>
                  </a:lnTo>
                  <a:lnTo>
                    <a:pt x="449" y="1292"/>
                  </a:lnTo>
                  <a:lnTo>
                    <a:pt x="370" y="1266"/>
                  </a:lnTo>
                  <a:lnTo>
                    <a:pt x="295" y="1229"/>
                  </a:lnTo>
                  <a:lnTo>
                    <a:pt x="230" y="1185"/>
                  </a:lnTo>
                  <a:lnTo>
                    <a:pt x="174" y="1131"/>
                  </a:lnTo>
                  <a:lnTo>
                    <a:pt x="118" y="1061"/>
                  </a:lnTo>
                  <a:lnTo>
                    <a:pt x="74" y="987"/>
                  </a:lnTo>
                  <a:lnTo>
                    <a:pt x="42" y="908"/>
                  </a:lnTo>
                  <a:lnTo>
                    <a:pt x="18" y="824"/>
                  </a:lnTo>
                  <a:lnTo>
                    <a:pt x="4" y="738"/>
                  </a:lnTo>
                  <a:lnTo>
                    <a:pt x="0" y="647"/>
                  </a:lnTo>
                  <a:lnTo>
                    <a:pt x="4" y="561"/>
                  </a:lnTo>
                  <a:lnTo>
                    <a:pt x="21" y="477"/>
                  </a:lnTo>
                  <a:lnTo>
                    <a:pt x="46" y="398"/>
                  </a:lnTo>
                  <a:lnTo>
                    <a:pt x="81" y="326"/>
                  </a:lnTo>
                  <a:lnTo>
                    <a:pt x="125" y="256"/>
                  </a:lnTo>
                  <a:lnTo>
                    <a:pt x="172" y="203"/>
                  </a:lnTo>
                  <a:lnTo>
                    <a:pt x="228" y="151"/>
                  </a:lnTo>
                  <a:lnTo>
                    <a:pt x="291" y="109"/>
                  </a:lnTo>
                  <a:lnTo>
                    <a:pt x="358" y="72"/>
                  </a:lnTo>
                  <a:lnTo>
                    <a:pt x="430" y="42"/>
                  </a:lnTo>
                  <a:lnTo>
                    <a:pt x="507" y="19"/>
                  </a:lnTo>
                  <a:lnTo>
                    <a:pt x="584" y="5"/>
                  </a:lnTo>
                  <a:lnTo>
                    <a:pt x="663" y="0"/>
                  </a:lnTo>
                  <a:close/>
                </a:path>
              </a:pathLst>
            </a:custGeom>
            <a:solidFill>
              <a:schemeClr val="accent1"/>
            </a:solidFill>
            <a:ln w="0">
              <a:noFill/>
              <a:prstDash val="solid"/>
              <a:round/>
              <a:headEnd/>
              <a:tailEnd/>
            </a:ln>
          </p:spPr>
          <p:txBody>
            <a:bodyPr/>
            <a:lstStyle/>
            <a:p>
              <a:pPr defTabSz="914400" fontAlgn="base">
                <a:spcBef>
                  <a:spcPct val="0"/>
                </a:spcBef>
                <a:spcAft>
                  <a:spcPct val="0"/>
                </a:spcAft>
                <a:defRPr/>
              </a:pPr>
              <a:endParaRPr lang="en-US" sz="1800" dirty="0">
                <a:solidFill>
                  <a:srgbClr val="000000"/>
                </a:solidFill>
              </a:endParaRPr>
            </a:p>
          </p:txBody>
        </p:sp>
        <p:sp>
          <p:nvSpPr>
            <p:cNvPr id="323612" name="Freeform 28"/>
            <p:cNvSpPr>
              <a:spLocks/>
            </p:cNvSpPr>
            <p:nvPr userDrawn="1"/>
          </p:nvSpPr>
          <p:spPr bwMode="auto">
            <a:xfrm>
              <a:off x="2180" y="2093"/>
              <a:ext cx="1418" cy="1416"/>
            </a:xfrm>
            <a:custGeom>
              <a:avLst/>
              <a:gdLst/>
              <a:ahLst/>
              <a:cxnLst>
                <a:cxn ang="0">
                  <a:pos x="228" y="0"/>
                </a:cxn>
                <a:cxn ang="0">
                  <a:pos x="5665" y="0"/>
                </a:cxn>
                <a:cxn ang="0">
                  <a:pos x="5716" y="7"/>
                </a:cxn>
                <a:cxn ang="0">
                  <a:pos x="5765" y="23"/>
                </a:cxn>
                <a:cxn ang="0">
                  <a:pos x="5807" y="51"/>
                </a:cxn>
                <a:cxn ang="0">
                  <a:pos x="5842" y="86"/>
                </a:cxn>
                <a:cxn ang="0">
                  <a:pos x="5870" y="128"/>
                </a:cxn>
                <a:cxn ang="0">
                  <a:pos x="5886" y="177"/>
                </a:cxn>
                <a:cxn ang="0">
                  <a:pos x="5893" y="228"/>
                </a:cxn>
                <a:cxn ang="0">
                  <a:pos x="5893" y="5662"/>
                </a:cxn>
                <a:cxn ang="0">
                  <a:pos x="5886" y="5716"/>
                </a:cxn>
                <a:cxn ang="0">
                  <a:pos x="5870" y="5765"/>
                </a:cxn>
                <a:cxn ang="0">
                  <a:pos x="5842" y="5807"/>
                </a:cxn>
                <a:cxn ang="0">
                  <a:pos x="5807" y="5841"/>
                </a:cxn>
                <a:cxn ang="0">
                  <a:pos x="5765" y="5869"/>
                </a:cxn>
                <a:cxn ang="0">
                  <a:pos x="5716" y="5886"/>
                </a:cxn>
                <a:cxn ang="0">
                  <a:pos x="5665" y="5893"/>
                </a:cxn>
                <a:cxn ang="0">
                  <a:pos x="228" y="5893"/>
                </a:cxn>
                <a:cxn ang="0">
                  <a:pos x="177" y="5886"/>
                </a:cxn>
                <a:cxn ang="0">
                  <a:pos x="128" y="5869"/>
                </a:cxn>
                <a:cxn ang="0">
                  <a:pos x="86" y="5841"/>
                </a:cxn>
                <a:cxn ang="0">
                  <a:pos x="52" y="5807"/>
                </a:cxn>
                <a:cxn ang="0">
                  <a:pos x="24" y="5765"/>
                </a:cxn>
                <a:cxn ang="0">
                  <a:pos x="7" y="5716"/>
                </a:cxn>
                <a:cxn ang="0">
                  <a:pos x="0" y="5662"/>
                </a:cxn>
                <a:cxn ang="0">
                  <a:pos x="0" y="228"/>
                </a:cxn>
                <a:cxn ang="0">
                  <a:pos x="7" y="177"/>
                </a:cxn>
                <a:cxn ang="0">
                  <a:pos x="24" y="128"/>
                </a:cxn>
                <a:cxn ang="0">
                  <a:pos x="52" y="86"/>
                </a:cxn>
                <a:cxn ang="0">
                  <a:pos x="86" y="51"/>
                </a:cxn>
                <a:cxn ang="0">
                  <a:pos x="128" y="23"/>
                </a:cxn>
                <a:cxn ang="0">
                  <a:pos x="177" y="7"/>
                </a:cxn>
                <a:cxn ang="0">
                  <a:pos x="228" y="0"/>
                </a:cxn>
              </a:cxnLst>
              <a:rect l="0" t="0" r="r" b="b"/>
              <a:pathLst>
                <a:path w="5893" h="5893">
                  <a:moveTo>
                    <a:pt x="228" y="0"/>
                  </a:moveTo>
                  <a:lnTo>
                    <a:pt x="5665" y="0"/>
                  </a:lnTo>
                  <a:lnTo>
                    <a:pt x="5716" y="7"/>
                  </a:lnTo>
                  <a:lnTo>
                    <a:pt x="5765" y="23"/>
                  </a:lnTo>
                  <a:lnTo>
                    <a:pt x="5807" y="51"/>
                  </a:lnTo>
                  <a:lnTo>
                    <a:pt x="5842" y="86"/>
                  </a:lnTo>
                  <a:lnTo>
                    <a:pt x="5870" y="128"/>
                  </a:lnTo>
                  <a:lnTo>
                    <a:pt x="5886" y="177"/>
                  </a:lnTo>
                  <a:lnTo>
                    <a:pt x="5893" y="228"/>
                  </a:lnTo>
                  <a:lnTo>
                    <a:pt x="5893" y="5662"/>
                  </a:lnTo>
                  <a:lnTo>
                    <a:pt x="5886" y="5716"/>
                  </a:lnTo>
                  <a:lnTo>
                    <a:pt x="5870" y="5765"/>
                  </a:lnTo>
                  <a:lnTo>
                    <a:pt x="5842" y="5807"/>
                  </a:lnTo>
                  <a:lnTo>
                    <a:pt x="5807" y="5841"/>
                  </a:lnTo>
                  <a:lnTo>
                    <a:pt x="5765" y="5869"/>
                  </a:lnTo>
                  <a:lnTo>
                    <a:pt x="5716" y="5886"/>
                  </a:lnTo>
                  <a:lnTo>
                    <a:pt x="5665" y="5893"/>
                  </a:lnTo>
                  <a:lnTo>
                    <a:pt x="228" y="5893"/>
                  </a:lnTo>
                  <a:lnTo>
                    <a:pt x="177" y="5886"/>
                  </a:lnTo>
                  <a:lnTo>
                    <a:pt x="128" y="5869"/>
                  </a:lnTo>
                  <a:lnTo>
                    <a:pt x="86" y="5841"/>
                  </a:lnTo>
                  <a:lnTo>
                    <a:pt x="52" y="5807"/>
                  </a:lnTo>
                  <a:lnTo>
                    <a:pt x="24" y="5765"/>
                  </a:lnTo>
                  <a:lnTo>
                    <a:pt x="7" y="5716"/>
                  </a:lnTo>
                  <a:lnTo>
                    <a:pt x="0" y="5662"/>
                  </a:lnTo>
                  <a:lnTo>
                    <a:pt x="0" y="228"/>
                  </a:lnTo>
                  <a:lnTo>
                    <a:pt x="7" y="177"/>
                  </a:lnTo>
                  <a:lnTo>
                    <a:pt x="24" y="128"/>
                  </a:lnTo>
                  <a:lnTo>
                    <a:pt x="52" y="86"/>
                  </a:lnTo>
                  <a:lnTo>
                    <a:pt x="86" y="51"/>
                  </a:lnTo>
                  <a:lnTo>
                    <a:pt x="128" y="23"/>
                  </a:lnTo>
                  <a:lnTo>
                    <a:pt x="177" y="7"/>
                  </a:lnTo>
                  <a:lnTo>
                    <a:pt x="228" y="0"/>
                  </a:lnTo>
                  <a:close/>
                </a:path>
              </a:pathLst>
            </a:custGeom>
            <a:solidFill>
              <a:srgbClr val="FFFFFF"/>
            </a:solidFill>
            <a:ln w="0">
              <a:solidFill>
                <a:srgbClr val="FFFFFF"/>
              </a:solidFill>
              <a:prstDash val="solid"/>
              <a:round/>
              <a:headEnd/>
              <a:tailEnd/>
            </a:ln>
          </p:spPr>
          <p:txBody>
            <a:bodyPr/>
            <a:lstStyle/>
            <a:p>
              <a:pPr defTabSz="914400" fontAlgn="base">
                <a:spcBef>
                  <a:spcPct val="0"/>
                </a:spcBef>
                <a:spcAft>
                  <a:spcPct val="0"/>
                </a:spcAft>
                <a:defRPr/>
              </a:pPr>
              <a:endParaRPr lang="en-US" sz="1800" dirty="0">
                <a:solidFill>
                  <a:srgbClr val="000000"/>
                </a:solidFill>
              </a:endParaRPr>
            </a:p>
          </p:txBody>
        </p:sp>
        <p:sp>
          <p:nvSpPr>
            <p:cNvPr id="323613" name="Freeform 29"/>
            <p:cNvSpPr>
              <a:spLocks noEditPoints="1"/>
            </p:cNvSpPr>
            <p:nvPr userDrawn="1"/>
          </p:nvSpPr>
          <p:spPr bwMode="auto">
            <a:xfrm>
              <a:off x="2173" y="2091"/>
              <a:ext cx="1421" cy="1421"/>
            </a:xfrm>
            <a:custGeom>
              <a:avLst/>
              <a:gdLst/>
              <a:ahLst/>
              <a:cxnLst>
                <a:cxn ang="0">
                  <a:pos x="191" y="23"/>
                </a:cxn>
                <a:cxn ang="0">
                  <a:pos x="116" y="56"/>
                </a:cxn>
                <a:cxn ang="0">
                  <a:pos x="56" y="116"/>
                </a:cxn>
                <a:cxn ang="0">
                  <a:pos x="23" y="190"/>
                </a:cxn>
                <a:cxn ang="0">
                  <a:pos x="19" y="5671"/>
                </a:cxn>
                <a:cxn ang="0">
                  <a:pos x="35" y="5755"/>
                </a:cxn>
                <a:cxn ang="0">
                  <a:pos x="84" y="5827"/>
                </a:cxn>
                <a:cxn ang="0">
                  <a:pos x="156" y="5876"/>
                </a:cxn>
                <a:cxn ang="0">
                  <a:pos x="214" y="5892"/>
                </a:cxn>
                <a:cxn ang="0">
                  <a:pos x="5721" y="5888"/>
                </a:cxn>
                <a:cxn ang="0">
                  <a:pos x="5795" y="5855"/>
                </a:cxn>
                <a:cxn ang="0">
                  <a:pos x="5856" y="5795"/>
                </a:cxn>
                <a:cxn ang="0">
                  <a:pos x="5888" y="5718"/>
                </a:cxn>
                <a:cxn ang="0">
                  <a:pos x="5893" y="214"/>
                </a:cxn>
                <a:cxn ang="0">
                  <a:pos x="5877" y="156"/>
                </a:cxn>
                <a:cxn ang="0">
                  <a:pos x="5828" y="83"/>
                </a:cxn>
                <a:cxn ang="0">
                  <a:pos x="5756" y="35"/>
                </a:cxn>
                <a:cxn ang="0">
                  <a:pos x="5674" y="18"/>
                </a:cxn>
                <a:cxn ang="0">
                  <a:pos x="237" y="0"/>
                </a:cxn>
                <a:cxn ang="0">
                  <a:pos x="5721" y="4"/>
                </a:cxn>
                <a:cxn ang="0">
                  <a:pos x="5809" y="42"/>
                </a:cxn>
                <a:cxn ang="0">
                  <a:pos x="5870" y="102"/>
                </a:cxn>
                <a:cxn ang="0">
                  <a:pos x="5907" y="190"/>
                </a:cxn>
                <a:cxn ang="0">
                  <a:pos x="5911" y="5694"/>
                </a:cxn>
                <a:cxn ang="0">
                  <a:pos x="5893" y="5762"/>
                </a:cxn>
                <a:cxn ang="0">
                  <a:pos x="5870" y="5809"/>
                </a:cxn>
                <a:cxn ang="0">
                  <a:pos x="5809" y="5869"/>
                </a:cxn>
                <a:cxn ang="0">
                  <a:pos x="5721" y="5906"/>
                </a:cxn>
                <a:cxn ang="0">
                  <a:pos x="214" y="5911"/>
                </a:cxn>
                <a:cxn ang="0">
                  <a:pos x="142" y="5890"/>
                </a:cxn>
                <a:cxn ang="0">
                  <a:pos x="70" y="5841"/>
                </a:cxn>
                <a:cxn ang="0">
                  <a:pos x="21" y="5769"/>
                </a:cxn>
                <a:cxn ang="0">
                  <a:pos x="5" y="5718"/>
                </a:cxn>
                <a:cxn ang="0">
                  <a:pos x="0" y="237"/>
                </a:cxn>
                <a:cxn ang="0">
                  <a:pos x="21" y="142"/>
                </a:cxn>
                <a:cxn ang="0">
                  <a:pos x="70" y="69"/>
                </a:cxn>
                <a:cxn ang="0">
                  <a:pos x="142" y="21"/>
                </a:cxn>
                <a:cxn ang="0">
                  <a:pos x="237" y="0"/>
                </a:cxn>
              </a:cxnLst>
              <a:rect l="0" t="0" r="r" b="b"/>
              <a:pathLst>
                <a:path w="5911" h="5911">
                  <a:moveTo>
                    <a:pt x="237" y="18"/>
                  </a:moveTo>
                  <a:lnTo>
                    <a:pt x="191" y="23"/>
                  </a:lnTo>
                  <a:lnTo>
                    <a:pt x="156" y="35"/>
                  </a:lnTo>
                  <a:lnTo>
                    <a:pt x="116" y="56"/>
                  </a:lnTo>
                  <a:lnTo>
                    <a:pt x="84" y="83"/>
                  </a:lnTo>
                  <a:lnTo>
                    <a:pt x="56" y="116"/>
                  </a:lnTo>
                  <a:lnTo>
                    <a:pt x="35" y="156"/>
                  </a:lnTo>
                  <a:lnTo>
                    <a:pt x="23" y="190"/>
                  </a:lnTo>
                  <a:lnTo>
                    <a:pt x="19" y="237"/>
                  </a:lnTo>
                  <a:lnTo>
                    <a:pt x="19" y="5671"/>
                  </a:lnTo>
                  <a:lnTo>
                    <a:pt x="23" y="5718"/>
                  </a:lnTo>
                  <a:lnTo>
                    <a:pt x="35" y="5755"/>
                  </a:lnTo>
                  <a:lnTo>
                    <a:pt x="56" y="5795"/>
                  </a:lnTo>
                  <a:lnTo>
                    <a:pt x="84" y="5827"/>
                  </a:lnTo>
                  <a:lnTo>
                    <a:pt x="116" y="5855"/>
                  </a:lnTo>
                  <a:lnTo>
                    <a:pt x="156" y="5876"/>
                  </a:lnTo>
                  <a:lnTo>
                    <a:pt x="191" y="5888"/>
                  </a:lnTo>
                  <a:lnTo>
                    <a:pt x="214" y="5892"/>
                  </a:lnTo>
                  <a:lnTo>
                    <a:pt x="5697" y="5892"/>
                  </a:lnTo>
                  <a:lnTo>
                    <a:pt x="5721" y="5888"/>
                  </a:lnTo>
                  <a:lnTo>
                    <a:pt x="5756" y="5876"/>
                  </a:lnTo>
                  <a:lnTo>
                    <a:pt x="5795" y="5855"/>
                  </a:lnTo>
                  <a:lnTo>
                    <a:pt x="5828" y="5827"/>
                  </a:lnTo>
                  <a:lnTo>
                    <a:pt x="5856" y="5795"/>
                  </a:lnTo>
                  <a:lnTo>
                    <a:pt x="5877" y="5755"/>
                  </a:lnTo>
                  <a:lnTo>
                    <a:pt x="5888" y="5718"/>
                  </a:lnTo>
                  <a:lnTo>
                    <a:pt x="5893" y="5694"/>
                  </a:lnTo>
                  <a:lnTo>
                    <a:pt x="5893" y="214"/>
                  </a:lnTo>
                  <a:lnTo>
                    <a:pt x="5888" y="190"/>
                  </a:lnTo>
                  <a:lnTo>
                    <a:pt x="5877" y="156"/>
                  </a:lnTo>
                  <a:lnTo>
                    <a:pt x="5856" y="116"/>
                  </a:lnTo>
                  <a:lnTo>
                    <a:pt x="5828" y="83"/>
                  </a:lnTo>
                  <a:lnTo>
                    <a:pt x="5795" y="56"/>
                  </a:lnTo>
                  <a:lnTo>
                    <a:pt x="5756" y="35"/>
                  </a:lnTo>
                  <a:lnTo>
                    <a:pt x="5721" y="23"/>
                  </a:lnTo>
                  <a:lnTo>
                    <a:pt x="5674" y="18"/>
                  </a:lnTo>
                  <a:lnTo>
                    <a:pt x="237" y="18"/>
                  </a:lnTo>
                  <a:close/>
                  <a:moveTo>
                    <a:pt x="237" y="0"/>
                  </a:moveTo>
                  <a:lnTo>
                    <a:pt x="5674" y="0"/>
                  </a:lnTo>
                  <a:lnTo>
                    <a:pt x="5721" y="4"/>
                  </a:lnTo>
                  <a:lnTo>
                    <a:pt x="5769" y="21"/>
                  </a:lnTo>
                  <a:lnTo>
                    <a:pt x="5809" y="42"/>
                  </a:lnTo>
                  <a:lnTo>
                    <a:pt x="5842" y="69"/>
                  </a:lnTo>
                  <a:lnTo>
                    <a:pt x="5870" y="102"/>
                  </a:lnTo>
                  <a:lnTo>
                    <a:pt x="5891" y="142"/>
                  </a:lnTo>
                  <a:lnTo>
                    <a:pt x="5907" y="190"/>
                  </a:lnTo>
                  <a:lnTo>
                    <a:pt x="5911" y="214"/>
                  </a:lnTo>
                  <a:lnTo>
                    <a:pt x="5911" y="5694"/>
                  </a:lnTo>
                  <a:lnTo>
                    <a:pt x="5907" y="5718"/>
                  </a:lnTo>
                  <a:lnTo>
                    <a:pt x="5893" y="5762"/>
                  </a:lnTo>
                  <a:lnTo>
                    <a:pt x="5891" y="5769"/>
                  </a:lnTo>
                  <a:lnTo>
                    <a:pt x="5870" y="5809"/>
                  </a:lnTo>
                  <a:lnTo>
                    <a:pt x="5842" y="5841"/>
                  </a:lnTo>
                  <a:lnTo>
                    <a:pt x="5809" y="5869"/>
                  </a:lnTo>
                  <a:lnTo>
                    <a:pt x="5769" y="5890"/>
                  </a:lnTo>
                  <a:lnTo>
                    <a:pt x="5721" y="5906"/>
                  </a:lnTo>
                  <a:lnTo>
                    <a:pt x="5697" y="5911"/>
                  </a:lnTo>
                  <a:lnTo>
                    <a:pt x="214" y="5911"/>
                  </a:lnTo>
                  <a:lnTo>
                    <a:pt x="191" y="5906"/>
                  </a:lnTo>
                  <a:lnTo>
                    <a:pt x="142" y="5890"/>
                  </a:lnTo>
                  <a:lnTo>
                    <a:pt x="102" y="5869"/>
                  </a:lnTo>
                  <a:lnTo>
                    <a:pt x="70" y="5841"/>
                  </a:lnTo>
                  <a:lnTo>
                    <a:pt x="42" y="5809"/>
                  </a:lnTo>
                  <a:lnTo>
                    <a:pt x="21" y="5769"/>
                  </a:lnTo>
                  <a:lnTo>
                    <a:pt x="19" y="5762"/>
                  </a:lnTo>
                  <a:lnTo>
                    <a:pt x="5" y="5718"/>
                  </a:lnTo>
                  <a:lnTo>
                    <a:pt x="0" y="5671"/>
                  </a:lnTo>
                  <a:lnTo>
                    <a:pt x="0" y="237"/>
                  </a:lnTo>
                  <a:lnTo>
                    <a:pt x="5" y="190"/>
                  </a:lnTo>
                  <a:lnTo>
                    <a:pt x="21" y="142"/>
                  </a:lnTo>
                  <a:lnTo>
                    <a:pt x="42" y="102"/>
                  </a:lnTo>
                  <a:lnTo>
                    <a:pt x="70" y="69"/>
                  </a:lnTo>
                  <a:lnTo>
                    <a:pt x="102" y="42"/>
                  </a:lnTo>
                  <a:lnTo>
                    <a:pt x="142" y="21"/>
                  </a:lnTo>
                  <a:lnTo>
                    <a:pt x="191" y="4"/>
                  </a:lnTo>
                  <a:lnTo>
                    <a:pt x="237" y="0"/>
                  </a:lnTo>
                  <a:close/>
                </a:path>
              </a:pathLst>
            </a:custGeom>
            <a:solidFill>
              <a:srgbClr val="FFFFFF"/>
            </a:solidFill>
            <a:ln w="0">
              <a:solidFill>
                <a:srgbClr val="FFFFFF"/>
              </a:solidFill>
              <a:prstDash val="solid"/>
              <a:round/>
              <a:headEnd/>
              <a:tailEnd/>
            </a:ln>
          </p:spPr>
          <p:txBody>
            <a:bodyPr/>
            <a:lstStyle/>
            <a:p>
              <a:pPr defTabSz="914400" fontAlgn="base">
                <a:spcBef>
                  <a:spcPct val="0"/>
                </a:spcBef>
                <a:spcAft>
                  <a:spcPct val="0"/>
                </a:spcAft>
                <a:defRPr/>
              </a:pPr>
              <a:endParaRPr lang="en-US" sz="1800" dirty="0">
                <a:solidFill>
                  <a:srgbClr val="000000"/>
                </a:solidFill>
              </a:endParaRPr>
            </a:p>
          </p:txBody>
        </p:sp>
        <p:sp>
          <p:nvSpPr>
            <p:cNvPr id="323614" name="Freeform 30"/>
            <p:cNvSpPr>
              <a:spLocks/>
            </p:cNvSpPr>
            <p:nvPr userDrawn="1"/>
          </p:nvSpPr>
          <p:spPr bwMode="auto">
            <a:xfrm>
              <a:off x="2189" y="2105"/>
              <a:ext cx="799" cy="1392"/>
            </a:xfrm>
            <a:custGeom>
              <a:avLst/>
              <a:gdLst/>
              <a:ahLst/>
              <a:cxnLst>
                <a:cxn ang="0">
                  <a:pos x="3256" y="51"/>
                </a:cxn>
                <a:cxn ang="0">
                  <a:pos x="3063" y="245"/>
                </a:cxn>
                <a:cxn ang="0">
                  <a:pos x="2902" y="512"/>
                </a:cxn>
                <a:cxn ang="0">
                  <a:pos x="2777" y="868"/>
                </a:cxn>
                <a:cxn ang="0">
                  <a:pos x="2688" y="1322"/>
                </a:cxn>
                <a:cxn ang="0">
                  <a:pos x="2651" y="1692"/>
                </a:cxn>
                <a:cxn ang="0">
                  <a:pos x="2632" y="2148"/>
                </a:cxn>
                <a:cxn ang="0">
                  <a:pos x="2595" y="2390"/>
                </a:cxn>
                <a:cxn ang="0">
                  <a:pos x="2532" y="2653"/>
                </a:cxn>
                <a:cxn ang="0">
                  <a:pos x="2488" y="2818"/>
                </a:cxn>
                <a:cxn ang="0">
                  <a:pos x="2558" y="2905"/>
                </a:cxn>
                <a:cxn ang="0">
                  <a:pos x="2663" y="3147"/>
                </a:cxn>
                <a:cxn ang="0">
                  <a:pos x="2712" y="3421"/>
                </a:cxn>
                <a:cxn ang="0">
                  <a:pos x="2728" y="3945"/>
                </a:cxn>
                <a:cxn ang="0">
                  <a:pos x="2730" y="4343"/>
                </a:cxn>
                <a:cxn ang="0">
                  <a:pos x="2716" y="4713"/>
                </a:cxn>
                <a:cxn ang="0">
                  <a:pos x="2677" y="5046"/>
                </a:cxn>
                <a:cxn ang="0">
                  <a:pos x="2600" y="5325"/>
                </a:cxn>
                <a:cxn ang="0">
                  <a:pos x="2479" y="5539"/>
                </a:cxn>
                <a:cxn ang="0">
                  <a:pos x="2304" y="5674"/>
                </a:cxn>
                <a:cxn ang="0">
                  <a:pos x="2111" y="5742"/>
                </a:cxn>
                <a:cxn ang="0">
                  <a:pos x="1978" y="5749"/>
                </a:cxn>
                <a:cxn ang="0">
                  <a:pos x="1897" y="5716"/>
                </a:cxn>
                <a:cxn ang="0">
                  <a:pos x="1853" y="5662"/>
                </a:cxn>
                <a:cxn ang="0">
                  <a:pos x="1834" y="5609"/>
                </a:cxn>
                <a:cxn ang="0">
                  <a:pos x="1843" y="5562"/>
                </a:cxn>
                <a:cxn ang="0">
                  <a:pos x="1897" y="5506"/>
                </a:cxn>
                <a:cxn ang="0">
                  <a:pos x="1960" y="5418"/>
                </a:cxn>
                <a:cxn ang="0">
                  <a:pos x="2004" y="5271"/>
                </a:cxn>
                <a:cxn ang="0">
                  <a:pos x="1969" y="5153"/>
                </a:cxn>
                <a:cxn ang="0">
                  <a:pos x="1836" y="5046"/>
                </a:cxn>
                <a:cxn ang="0">
                  <a:pos x="1667" y="4999"/>
                </a:cxn>
                <a:cxn ang="0">
                  <a:pos x="1541" y="5039"/>
                </a:cxn>
                <a:cxn ang="0">
                  <a:pos x="1457" y="5136"/>
                </a:cxn>
                <a:cxn ang="0">
                  <a:pos x="1408" y="5269"/>
                </a:cxn>
                <a:cxn ang="0">
                  <a:pos x="1397" y="5409"/>
                </a:cxn>
                <a:cxn ang="0">
                  <a:pos x="1415" y="5530"/>
                </a:cxn>
                <a:cxn ang="0">
                  <a:pos x="1511" y="5683"/>
                </a:cxn>
                <a:cxn ang="0">
                  <a:pos x="177" y="5788"/>
                </a:cxn>
                <a:cxn ang="0">
                  <a:pos x="51" y="5737"/>
                </a:cxn>
                <a:cxn ang="0">
                  <a:pos x="0" y="5611"/>
                </a:cxn>
                <a:cxn ang="0">
                  <a:pos x="23" y="89"/>
                </a:cxn>
                <a:cxn ang="0">
                  <a:pos x="131" y="7"/>
                </a:cxn>
              </a:cxnLst>
              <a:rect l="0" t="0" r="r" b="b"/>
              <a:pathLst>
                <a:path w="3326" h="5788">
                  <a:moveTo>
                    <a:pt x="177" y="0"/>
                  </a:moveTo>
                  <a:lnTo>
                    <a:pt x="3326" y="0"/>
                  </a:lnTo>
                  <a:lnTo>
                    <a:pt x="3256" y="51"/>
                  </a:lnTo>
                  <a:lnTo>
                    <a:pt x="3189" y="107"/>
                  </a:lnTo>
                  <a:lnTo>
                    <a:pt x="3124" y="172"/>
                  </a:lnTo>
                  <a:lnTo>
                    <a:pt x="3063" y="245"/>
                  </a:lnTo>
                  <a:lnTo>
                    <a:pt x="3007" y="326"/>
                  </a:lnTo>
                  <a:lnTo>
                    <a:pt x="2954" y="414"/>
                  </a:lnTo>
                  <a:lnTo>
                    <a:pt x="2902" y="512"/>
                  </a:lnTo>
                  <a:lnTo>
                    <a:pt x="2856" y="622"/>
                  </a:lnTo>
                  <a:lnTo>
                    <a:pt x="2814" y="740"/>
                  </a:lnTo>
                  <a:lnTo>
                    <a:pt x="2777" y="868"/>
                  </a:lnTo>
                  <a:lnTo>
                    <a:pt x="2742" y="1008"/>
                  </a:lnTo>
                  <a:lnTo>
                    <a:pt x="2714" y="1159"/>
                  </a:lnTo>
                  <a:lnTo>
                    <a:pt x="2688" y="1322"/>
                  </a:lnTo>
                  <a:lnTo>
                    <a:pt x="2667" y="1497"/>
                  </a:lnTo>
                  <a:lnTo>
                    <a:pt x="2651" y="1685"/>
                  </a:lnTo>
                  <a:lnTo>
                    <a:pt x="2651" y="1692"/>
                  </a:lnTo>
                  <a:lnTo>
                    <a:pt x="2642" y="1836"/>
                  </a:lnTo>
                  <a:lnTo>
                    <a:pt x="2635" y="1990"/>
                  </a:lnTo>
                  <a:lnTo>
                    <a:pt x="2632" y="2148"/>
                  </a:lnTo>
                  <a:lnTo>
                    <a:pt x="2623" y="2223"/>
                  </a:lnTo>
                  <a:lnTo>
                    <a:pt x="2611" y="2304"/>
                  </a:lnTo>
                  <a:lnTo>
                    <a:pt x="2595" y="2390"/>
                  </a:lnTo>
                  <a:lnTo>
                    <a:pt x="2579" y="2481"/>
                  </a:lnTo>
                  <a:lnTo>
                    <a:pt x="2558" y="2569"/>
                  </a:lnTo>
                  <a:lnTo>
                    <a:pt x="2532" y="2653"/>
                  </a:lnTo>
                  <a:lnTo>
                    <a:pt x="2504" y="2732"/>
                  </a:lnTo>
                  <a:lnTo>
                    <a:pt x="2472" y="2802"/>
                  </a:lnTo>
                  <a:lnTo>
                    <a:pt x="2488" y="2818"/>
                  </a:lnTo>
                  <a:lnTo>
                    <a:pt x="2507" y="2839"/>
                  </a:lnTo>
                  <a:lnTo>
                    <a:pt x="2530" y="2867"/>
                  </a:lnTo>
                  <a:lnTo>
                    <a:pt x="2558" y="2905"/>
                  </a:lnTo>
                  <a:lnTo>
                    <a:pt x="2600" y="2986"/>
                  </a:lnTo>
                  <a:lnTo>
                    <a:pt x="2635" y="3065"/>
                  </a:lnTo>
                  <a:lnTo>
                    <a:pt x="2663" y="3147"/>
                  </a:lnTo>
                  <a:lnTo>
                    <a:pt x="2684" y="3233"/>
                  </a:lnTo>
                  <a:lnTo>
                    <a:pt x="2700" y="3324"/>
                  </a:lnTo>
                  <a:lnTo>
                    <a:pt x="2712" y="3421"/>
                  </a:lnTo>
                  <a:lnTo>
                    <a:pt x="2726" y="3810"/>
                  </a:lnTo>
                  <a:lnTo>
                    <a:pt x="2726" y="3808"/>
                  </a:lnTo>
                  <a:lnTo>
                    <a:pt x="2728" y="3945"/>
                  </a:lnTo>
                  <a:lnTo>
                    <a:pt x="2730" y="4080"/>
                  </a:lnTo>
                  <a:lnTo>
                    <a:pt x="2733" y="4213"/>
                  </a:lnTo>
                  <a:lnTo>
                    <a:pt x="2730" y="4343"/>
                  </a:lnTo>
                  <a:lnTo>
                    <a:pt x="2728" y="4469"/>
                  </a:lnTo>
                  <a:lnTo>
                    <a:pt x="2723" y="4594"/>
                  </a:lnTo>
                  <a:lnTo>
                    <a:pt x="2716" y="4713"/>
                  </a:lnTo>
                  <a:lnTo>
                    <a:pt x="2707" y="4829"/>
                  </a:lnTo>
                  <a:lnTo>
                    <a:pt x="2693" y="4939"/>
                  </a:lnTo>
                  <a:lnTo>
                    <a:pt x="2677" y="5046"/>
                  </a:lnTo>
                  <a:lnTo>
                    <a:pt x="2656" y="5143"/>
                  </a:lnTo>
                  <a:lnTo>
                    <a:pt x="2630" y="5239"/>
                  </a:lnTo>
                  <a:lnTo>
                    <a:pt x="2600" y="5325"/>
                  </a:lnTo>
                  <a:lnTo>
                    <a:pt x="2565" y="5404"/>
                  </a:lnTo>
                  <a:lnTo>
                    <a:pt x="2525" y="5474"/>
                  </a:lnTo>
                  <a:lnTo>
                    <a:pt x="2479" y="5539"/>
                  </a:lnTo>
                  <a:lnTo>
                    <a:pt x="2428" y="5593"/>
                  </a:lnTo>
                  <a:lnTo>
                    <a:pt x="2369" y="5639"/>
                  </a:lnTo>
                  <a:lnTo>
                    <a:pt x="2304" y="5674"/>
                  </a:lnTo>
                  <a:lnTo>
                    <a:pt x="2232" y="5704"/>
                  </a:lnTo>
                  <a:lnTo>
                    <a:pt x="2167" y="5728"/>
                  </a:lnTo>
                  <a:lnTo>
                    <a:pt x="2111" y="5742"/>
                  </a:lnTo>
                  <a:lnTo>
                    <a:pt x="2060" y="5749"/>
                  </a:lnTo>
                  <a:lnTo>
                    <a:pt x="2016" y="5751"/>
                  </a:lnTo>
                  <a:lnTo>
                    <a:pt x="1978" y="5749"/>
                  </a:lnTo>
                  <a:lnTo>
                    <a:pt x="1946" y="5742"/>
                  </a:lnTo>
                  <a:lnTo>
                    <a:pt x="1918" y="5730"/>
                  </a:lnTo>
                  <a:lnTo>
                    <a:pt x="1897" y="5716"/>
                  </a:lnTo>
                  <a:lnTo>
                    <a:pt x="1878" y="5697"/>
                  </a:lnTo>
                  <a:lnTo>
                    <a:pt x="1864" y="5681"/>
                  </a:lnTo>
                  <a:lnTo>
                    <a:pt x="1853" y="5662"/>
                  </a:lnTo>
                  <a:lnTo>
                    <a:pt x="1843" y="5644"/>
                  </a:lnTo>
                  <a:lnTo>
                    <a:pt x="1839" y="5625"/>
                  </a:lnTo>
                  <a:lnTo>
                    <a:pt x="1834" y="5609"/>
                  </a:lnTo>
                  <a:lnTo>
                    <a:pt x="1832" y="5595"/>
                  </a:lnTo>
                  <a:lnTo>
                    <a:pt x="1832" y="5574"/>
                  </a:lnTo>
                  <a:lnTo>
                    <a:pt x="1843" y="5562"/>
                  </a:lnTo>
                  <a:lnTo>
                    <a:pt x="1860" y="5548"/>
                  </a:lnTo>
                  <a:lnTo>
                    <a:pt x="1876" y="5530"/>
                  </a:lnTo>
                  <a:lnTo>
                    <a:pt x="1897" y="5506"/>
                  </a:lnTo>
                  <a:lnTo>
                    <a:pt x="1918" y="5481"/>
                  </a:lnTo>
                  <a:lnTo>
                    <a:pt x="1939" y="5451"/>
                  </a:lnTo>
                  <a:lnTo>
                    <a:pt x="1960" y="5418"/>
                  </a:lnTo>
                  <a:lnTo>
                    <a:pt x="1992" y="5348"/>
                  </a:lnTo>
                  <a:lnTo>
                    <a:pt x="2002" y="5309"/>
                  </a:lnTo>
                  <a:lnTo>
                    <a:pt x="2004" y="5271"/>
                  </a:lnTo>
                  <a:lnTo>
                    <a:pt x="2002" y="5232"/>
                  </a:lnTo>
                  <a:lnTo>
                    <a:pt x="1990" y="5192"/>
                  </a:lnTo>
                  <a:lnTo>
                    <a:pt x="1969" y="5153"/>
                  </a:lnTo>
                  <a:lnTo>
                    <a:pt x="1937" y="5116"/>
                  </a:lnTo>
                  <a:lnTo>
                    <a:pt x="1892" y="5081"/>
                  </a:lnTo>
                  <a:lnTo>
                    <a:pt x="1836" y="5046"/>
                  </a:lnTo>
                  <a:lnTo>
                    <a:pt x="1776" y="5020"/>
                  </a:lnTo>
                  <a:lnTo>
                    <a:pt x="1718" y="5004"/>
                  </a:lnTo>
                  <a:lnTo>
                    <a:pt x="1667" y="4999"/>
                  </a:lnTo>
                  <a:lnTo>
                    <a:pt x="1620" y="5004"/>
                  </a:lnTo>
                  <a:lnTo>
                    <a:pt x="1578" y="5018"/>
                  </a:lnTo>
                  <a:lnTo>
                    <a:pt x="1541" y="5039"/>
                  </a:lnTo>
                  <a:lnTo>
                    <a:pt x="1508" y="5067"/>
                  </a:lnTo>
                  <a:lnTo>
                    <a:pt x="1480" y="5099"/>
                  </a:lnTo>
                  <a:lnTo>
                    <a:pt x="1457" y="5136"/>
                  </a:lnTo>
                  <a:lnTo>
                    <a:pt x="1436" y="5178"/>
                  </a:lnTo>
                  <a:lnTo>
                    <a:pt x="1420" y="5223"/>
                  </a:lnTo>
                  <a:lnTo>
                    <a:pt x="1408" y="5269"/>
                  </a:lnTo>
                  <a:lnTo>
                    <a:pt x="1401" y="5316"/>
                  </a:lnTo>
                  <a:lnTo>
                    <a:pt x="1397" y="5362"/>
                  </a:lnTo>
                  <a:lnTo>
                    <a:pt x="1397" y="5409"/>
                  </a:lnTo>
                  <a:lnTo>
                    <a:pt x="1399" y="5453"/>
                  </a:lnTo>
                  <a:lnTo>
                    <a:pt x="1406" y="5493"/>
                  </a:lnTo>
                  <a:lnTo>
                    <a:pt x="1415" y="5530"/>
                  </a:lnTo>
                  <a:lnTo>
                    <a:pt x="1436" y="5579"/>
                  </a:lnTo>
                  <a:lnTo>
                    <a:pt x="1469" y="5630"/>
                  </a:lnTo>
                  <a:lnTo>
                    <a:pt x="1511" y="5683"/>
                  </a:lnTo>
                  <a:lnTo>
                    <a:pt x="1564" y="5737"/>
                  </a:lnTo>
                  <a:lnTo>
                    <a:pt x="1625" y="5788"/>
                  </a:lnTo>
                  <a:lnTo>
                    <a:pt x="177" y="5788"/>
                  </a:lnTo>
                  <a:lnTo>
                    <a:pt x="131" y="5781"/>
                  </a:lnTo>
                  <a:lnTo>
                    <a:pt x="89" y="5765"/>
                  </a:lnTo>
                  <a:lnTo>
                    <a:pt x="51" y="5737"/>
                  </a:lnTo>
                  <a:lnTo>
                    <a:pt x="23" y="5700"/>
                  </a:lnTo>
                  <a:lnTo>
                    <a:pt x="7" y="5658"/>
                  </a:lnTo>
                  <a:lnTo>
                    <a:pt x="0" y="5611"/>
                  </a:lnTo>
                  <a:lnTo>
                    <a:pt x="0" y="177"/>
                  </a:lnTo>
                  <a:lnTo>
                    <a:pt x="7" y="130"/>
                  </a:lnTo>
                  <a:lnTo>
                    <a:pt x="23" y="89"/>
                  </a:lnTo>
                  <a:lnTo>
                    <a:pt x="51" y="51"/>
                  </a:lnTo>
                  <a:lnTo>
                    <a:pt x="89" y="23"/>
                  </a:lnTo>
                  <a:lnTo>
                    <a:pt x="131" y="7"/>
                  </a:lnTo>
                  <a:lnTo>
                    <a:pt x="177" y="0"/>
                  </a:lnTo>
                  <a:close/>
                </a:path>
              </a:pathLst>
            </a:custGeom>
            <a:solidFill>
              <a:schemeClr val="accent1"/>
            </a:solidFill>
            <a:ln w="0">
              <a:noFill/>
              <a:prstDash val="solid"/>
              <a:round/>
              <a:headEnd/>
              <a:tailEnd/>
            </a:ln>
          </p:spPr>
          <p:txBody>
            <a:bodyPr/>
            <a:lstStyle/>
            <a:p>
              <a:pPr defTabSz="914400" fontAlgn="base">
                <a:spcBef>
                  <a:spcPct val="0"/>
                </a:spcBef>
                <a:spcAft>
                  <a:spcPct val="0"/>
                </a:spcAft>
                <a:defRPr/>
              </a:pPr>
              <a:endParaRPr lang="en-US" sz="1800" dirty="0">
                <a:solidFill>
                  <a:srgbClr val="000000"/>
                </a:solidFill>
              </a:endParaRPr>
            </a:p>
          </p:txBody>
        </p:sp>
        <p:sp>
          <p:nvSpPr>
            <p:cNvPr id="323615" name="Freeform 31"/>
            <p:cNvSpPr>
              <a:spLocks/>
            </p:cNvSpPr>
            <p:nvPr userDrawn="1"/>
          </p:nvSpPr>
          <p:spPr bwMode="auto">
            <a:xfrm>
              <a:off x="2796" y="2105"/>
              <a:ext cx="784" cy="1392"/>
            </a:xfrm>
            <a:custGeom>
              <a:avLst/>
              <a:gdLst/>
              <a:ahLst/>
              <a:cxnLst>
                <a:cxn ang="0">
                  <a:pos x="3130" y="7"/>
                </a:cxn>
                <a:cxn ang="0">
                  <a:pos x="3237" y="89"/>
                </a:cxn>
                <a:cxn ang="0">
                  <a:pos x="3260" y="5611"/>
                </a:cxn>
                <a:cxn ang="0">
                  <a:pos x="3209" y="5737"/>
                </a:cxn>
                <a:cxn ang="0">
                  <a:pos x="3083" y="5788"/>
                </a:cxn>
                <a:cxn ang="0">
                  <a:pos x="137" y="5681"/>
                </a:cxn>
                <a:cxn ang="0">
                  <a:pos x="321" y="5465"/>
                </a:cxn>
                <a:cxn ang="0">
                  <a:pos x="470" y="5169"/>
                </a:cxn>
                <a:cxn ang="0">
                  <a:pos x="586" y="4780"/>
                </a:cxn>
                <a:cxn ang="0">
                  <a:pos x="661" y="4292"/>
                </a:cxn>
                <a:cxn ang="0">
                  <a:pos x="686" y="3954"/>
                </a:cxn>
                <a:cxn ang="0">
                  <a:pos x="707" y="3547"/>
                </a:cxn>
                <a:cxn ang="0">
                  <a:pos x="777" y="3261"/>
                </a:cxn>
                <a:cxn ang="0">
                  <a:pos x="840" y="3068"/>
                </a:cxn>
                <a:cxn ang="0">
                  <a:pos x="770" y="2979"/>
                </a:cxn>
                <a:cxn ang="0">
                  <a:pos x="677" y="2735"/>
                </a:cxn>
                <a:cxn ang="0">
                  <a:pos x="623" y="2460"/>
                </a:cxn>
                <a:cxn ang="0">
                  <a:pos x="598" y="1843"/>
                </a:cxn>
                <a:cxn ang="0">
                  <a:pos x="596" y="1445"/>
                </a:cxn>
                <a:cxn ang="0">
                  <a:pos x="609" y="1075"/>
                </a:cxn>
                <a:cxn ang="0">
                  <a:pos x="651" y="745"/>
                </a:cxn>
                <a:cxn ang="0">
                  <a:pos x="726" y="466"/>
                </a:cxn>
                <a:cxn ang="0">
                  <a:pos x="847" y="252"/>
                </a:cxn>
                <a:cxn ang="0">
                  <a:pos x="1021" y="114"/>
                </a:cxn>
                <a:cxn ang="0">
                  <a:pos x="1217" y="47"/>
                </a:cxn>
                <a:cxn ang="0">
                  <a:pos x="1350" y="40"/>
                </a:cxn>
                <a:cxn ang="0">
                  <a:pos x="1431" y="72"/>
                </a:cxn>
                <a:cxn ang="0">
                  <a:pos x="1475" y="126"/>
                </a:cxn>
                <a:cxn ang="0">
                  <a:pos x="1494" y="179"/>
                </a:cxn>
                <a:cxn ang="0">
                  <a:pos x="1485" y="226"/>
                </a:cxn>
                <a:cxn ang="0">
                  <a:pos x="1431" y="282"/>
                </a:cxn>
                <a:cxn ang="0">
                  <a:pos x="1368" y="370"/>
                </a:cxn>
                <a:cxn ang="0">
                  <a:pos x="1324" y="517"/>
                </a:cxn>
                <a:cxn ang="0">
                  <a:pos x="1359" y="636"/>
                </a:cxn>
                <a:cxn ang="0">
                  <a:pos x="1492" y="743"/>
                </a:cxn>
                <a:cxn ang="0">
                  <a:pos x="1659" y="789"/>
                </a:cxn>
                <a:cxn ang="0">
                  <a:pos x="1785" y="752"/>
                </a:cxn>
                <a:cxn ang="0">
                  <a:pos x="1871" y="654"/>
                </a:cxn>
                <a:cxn ang="0">
                  <a:pos x="1917" y="521"/>
                </a:cxn>
                <a:cxn ang="0">
                  <a:pos x="1931" y="382"/>
                </a:cxn>
                <a:cxn ang="0">
                  <a:pos x="1913" y="261"/>
                </a:cxn>
                <a:cxn ang="0">
                  <a:pos x="1817" y="105"/>
                </a:cxn>
              </a:cxnLst>
              <a:rect l="0" t="0" r="r" b="b"/>
              <a:pathLst>
                <a:path w="3260" h="5788">
                  <a:moveTo>
                    <a:pt x="1701" y="0"/>
                  </a:moveTo>
                  <a:lnTo>
                    <a:pt x="3083" y="0"/>
                  </a:lnTo>
                  <a:lnTo>
                    <a:pt x="3130" y="7"/>
                  </a:lnTo>
                  <a:lnTo>
                    <a:pt x="3172" y="23"/>
                  </a:lnTo>
                  <a:lnTo>
                    <a:pt x="3209" y="51"/>
                  </a:lnTo>
                  <a:lnTo>
                    <a:pt x="3237" y="89"/>
                  </a:lnTo>
                  <a:lnTo>
                    <a:pt x="3253" y="130"/>
                  </a:lnTo>
                  <a:lnTo>
                    <a:pt x="3260" y="177"/>
                  </a:lnTo>
                  <a:lnTo>
                    <a:pt x="3260" y="5611"/>
                  </a:lnTo>
                  <a:lnTo>
                    <a:pt x="3253" y="5658"/>
                  </a:lnTo>
                  <a:lnTo>
                    <a:pt x="3237" y="5700"/>
                  </a:lnTo>
                  <a:lnTo>
                    <a:pt x="3209" y="5737"/>
                  </a:lnTo>
                  <a:lnTo>
                    <a:pt x="3172" y="5765"/>
                  </a:lnTo>
                  <a:lnTo>
                    <a:pt x="3130" y="5781"/>
                  </a:lnTo>
                  <a:lnTo>
                    <a:pt x="3083" y="5788"/>
                  </a:lnTo>
                  <a:lnTo>
                    <a:pt x="0" y="5788"/>
                  </a:lnTo>
                  <a:lnTo>
                    <a:pt x="70" y="5737"/>
                  </a:lnTo>
                  <a:lnTo>
                    <a:pt x="137" y="5681"/>
                  </a:lnTo>
                  <a:lnTo>
                    <a:pt x="202" y="5616"/>
                  </a:lnTo>
                  <a:lnTo>
                    <a:pt x="263" y="5544"/>
                  </a:lnTo>
                  <a:lnTo>
                    <a:pt x="321" y="5465"/>
                  </a:lnTo>
                  <a:lnTo>
                    <a:pt x="374" y="5374"/>
                  </a:lnTo>
                  <a:lnTo>
                    <a:pt x="426" y="5276"/>
                  </a:lnTo>
                  <a:lnTo>
                    <a:pt x="470" y="5169"/>
                  </a:lnTo>
                  <a:lnTo>
                    <a:pt x="514" y="5050"/>
                  </a:lnTo>
                  <a:lnTo>
                    <a:pt x="551" y="4920"/>
                  </a:lnTo>
                  <a:lnTo>
                    <a:pt x="586" y="4780"/>
                  </a:lnTo>
                  <a:lnTo>
                    <a:pt x="614" y="4629"/>
                  </a:lnTo>
                  <a:lnTo>
                    <a:pt x="640" y="4466"/>
                  </a:lnTo>
                  <a:lnTo>
                    <a:pt x="661" y="4292"/>
                  </a:lnTo>
                  <a:lnTo>
                    <a:pt x="677" y="4103"/>
                  </a:lnTo>
                  <a:lnTo>
                    <a:pt x="677" y="4098"/>
                  </a:lnTo>
                  <a:lnTo>
                    <a:pt x="686" y="3954"/>
                  </a:lnTo>
                  <a:lnTo>
                    <a:pt x="691" y="3801"/>
                  </a:lnTo>
                  <a:lnTo>
                    <a:pt x="696" y="3640"/>
                  </a:lnTo>
                  <a:lnTo>
                    <a:pt x="707" y="3547"/>
                  </a:lnTo>
                  <a:lnTo>
                    <a:pt x="726" y="3452"/>
                  </a:lnTo>
                  <a:lnTo>
                    <a:pt x="749" y="3356"/>
                  </a:lnTo>
                  <a:lnTo>
                    <a:pt x="777" y="3261"/>
                  </a:lnTo>
                  <a:lnTo>
                    <a:pt x="814" y="3170"/>
                  </a:lnTo>
                  <a:lnTo>
                    <a:pt x="856" y="3084"/>
                  </a:lnTo>
                  <a:lnTo>
                    <a:pt x="840" y="3068"/>
                  </a:lnTo>
                  <a:lnTo>
                    <a:pt x="821" y="3044"/>
                  </a:lnTo>
                  <a:lnTo>
                    <a:pt x="798" y="3016"/>
                  </a:lnTo>
                  <a:lnTo>
                    <a:pt x="770" y="2979"/>
                  </a:lnTo>
                  <a:lnTo>
                    <a:pt x="733" y="2905"/>
                  </a:lnTo>
                  <a:lnTo>
                    <a:pt x="703" y="2823"/>
                  </a:lnTo>
                  <a:lnTo>
                    <a:pt x="677" y="2735"/>
                  </a:lnTo>
                  <a:lnTo>
                    <a:pt x="656" y="2644"/>
                  </a:lnTo>
                  <a:lnTo>
                    <a:pt x="637" y="2551"/>
                  </a:lnTo>
                  <a:lnTo>
                    <a:pt x="623" y="2460"/>
                  </a:lnTo>
                  <a:lnTo>
                    <a:pt x="614" y="2369"/>
                  </a:lnTo>
                  <a:lnTo>
                    <a:pt x="600" y="1981"/>
                  </a:lnTo>
                  <a:lnTo>
                    <a:pt x="598" y="1843"/>
                  </a:lnTo>
                  <a:lnTo>
                    <a:pt x="596" y="1708"/>
                  </a:lnTo>
                  <a:lnTo>
                    <a:pt x="593" y="1576"/>
                  </a:lnTo>
                  <a:lnTo>
                    <a:pt x="596" y="1445"/>
                  </a:lnTo>
                  <a:lnTo>
                    <a:pt x="598" y="1320"/>
                  </a:lnTo>
                  <a:lnTo>
                    <a:pt x="602" y="1196"/>
                  </a:lnTo>
                  <a:lnTo>
                    <a:pt x="609" y="1075"/>
                  </a:lnTo>
                  <a:lnTo>
                    <a:pt x="619" y="959"/>
                  </a:lnTo>
                  <a:lnTo>
                    <a:pt x="633" y="850"/>
                  </a:lnTo>
                  <a:lnTo>
                    <a:pt x="651" y="745"/>
                  </a:lnTo>
                  <a:lnTo>
                    <a:pt x="672" y="645"/>
                  </a:lnTo>
                  <a:lnTo>
                    <a:pt x="698" y="552"/>
                  </a:lnTo>
                  <a:lnTo>
                    <a:pt x="726" y="466"/>
                  </a:lnTo>
                  <a:lnTo>
                    <a:pt x="761" y="386"/>
                  </a:lnTo>
                  <a:lnTo>
                    <a:pt x="803" y="314"/>
                  </a:lnTo>
                  <a:lnTo>
                    <a:pt x="847" y="252"/>
                  </a:lnTo>
                  <a:lnTo>
                    <a:pt x="898" y="196"/>
                  </a:lnTo>
                  <a:lnTo>
                    <a:pt x="956" y="151"/>
                  </a:lnTo>
                  <a:lnTo>
                    <a:pt x="1021" y="114"/>
                  </a:lnTo>
                  <a:lnTo>
                    <a:pt x="1094" y="84"/>
                  </a:lnTo>
                  <a:lnTo>
                    <a:pt x="1159" y="61"/>
                  </a:lnTo>
                  <a:lnTo>
                    <a:pt x="1217" y="47"/>
                  </a:lnTo>
                  <a:lnTo>
                    <a:pt x="1268" y="40"/>
                  </a:lnTo>
                  <a:lnTo>
                    <a:pt x="1312" y="37"/>
                  </a:lnTo>
                  <a:lnTo>
                    <a:pt x="1350" y="40"/>
                  </a:lnTo>
                  <a:lnTo>
                    <a:pt x="1382" y="47"/>
                  </a:lnTo>
                  <a:lnTo>
                    <a:pt x="1410" y="58"/>
                  </a:lnTo>
                  <a:lnTo>
                    <a:pt x="1431" y="72"/>
                  </a:lnTo>
                  <a:lnTo>
                    <a:pt x="1450" y="91"/>
                  </a:lnTo>
                  <a:lnTo>
                    <a:pt x="1464" y="107"/>
                  </a:lnTo>
                  <a:lnTo>
                    <a:pt x="1475" y="126"/>
                  </a:lnTo>
                  <a:lnTo>
                    <a:pt x="1485" y="144"/>
                  </a:lnTo>
                  <a:lnTo>
                    <a:pt x="1489" y="163"/>
                  </a:lnTo>
                  <a:lnTo>
                    <a:pt x="1494" y="179"/>
                  </a:lnTo>
                  <a:lnTo>
                    <a:pt x="1496" y="193"/>
                  </a:lnTo>
                  <a:lnTo>
                    <a:pt x="1496" y="214"/>
                  </a:lnTo>
                  <a:lnTo>
                    <a:pt x="1485" y="226"/>
                  </a:lnTo>
                  <a:lnTo>
                    <a:pt x="1468" y="240"/>
                  </a:lnTo>
                  <a:lnTo>
                    <a:pt x="1452" y="258"/>
                  </a:lnTo>
                  <a:lnTo>
                    <a:pt x="1431" y="282"/>
                  </a:lnTo>
                  <a:lnTo>
                    <a:pt x="1410" y="307"/>
                  </a:lnTo>
                  <a:lnTo>
                    <a:pt x="1389" y="338"/>
                  </a:lnTo>
                  <a:lnTo>
                    <a:pt x="1368" y="370"/>
                  </a:lnTo>
                  <a:lnTo>
                    <a:pt x="1336" y="440"/>
                  </a:lnTo>
                  <a:lnTo>
                    <a:pt x="1326" y="480"/>
                  </a:lnTo>
                  <a:lnTo>
                    <a:pt x="1324" y="517"/>
                  </a:lnTo>
                  <a:lnTo>
                    <a:pt x="1326" y="556"/>
                  </a:lnTo>
                  <a:lnTo>
                    <a:pt x="1338" y="596"/>
                  </a:lnTo>
                  <a:lnTo>
                    <a:pt x="1359" y="636"/>
                  </a:lnTo>
                  <a:lnTo>
                    <a:pt x="1391" y="673"/>
                  </a:lnTo>
                  <a:lnTo>
                    <a:pt x="1436" y="708"/>
                  </a:lnTo>
                  <a:lnTo>
                    <a:pt x="1492" y="743"/>
                  </a:lnTo>
                  <a:lnTo>
                    <a:pt x="1552" y="770"/>
                  </a:lnTo>
                  <a:lnTo>
                    <a:pt x="1608" y="784"/>
                  </a:lnTo>
                  <a:lnTo>
                    <a:pt x="1659" y="789"/>
                  </a:lnTo>
                  <a:lnTo>
                    <a:pt x="1706" y="784"/>
                  </a:lnTo>
                  <a:lnTo>
                    <a:pt x="1748" y="773"/>
                  </a:lnTo>
                  <a:lnTo>
                    <a:pt x="1785" y="752"/>
                  </a:lnTo>
                  <a:lnTo>
                    <a:pt x="1817" y="724"/>
                  </a:lnTo>
                  <a:lnTo>
                    <a:pt x="1848" y="691"/>
                  </a:lnTo>
                  <a:lnTo>
                    <a:pt x="1871" y="654"/>
                  </a:lnTo>
                  <a:lnTo>
                    <a:pt x="1890" y="612"/>
                  </a:lnTo>
                  <a:lnTo>
                    <a:pt x="1906" y="568"/>
                  </a:lnTo>
                  <a:lnTo>
                    <a:pt x="1917" y="521"/>
                  </a:lnTo>
                  <a:lnTo>
                    <a:pt x="1927" y="475"/>
                  </a:lnTo>
                  <a:lnTo>
                    <a:pt x="1931" y="428"/>
                  </a:lnTo>
                  <a:lnTo>
                    <a:pt x="1931" y="382"/>
                  </a:lnTo>
                  <a:lnTo>
                    <a:pt x="1929" y="338"/>
                  </a:lnTo>
                  <a:lnTo>
                    <a:pt x="1922" y="298"/>
                  </a:lnTo>
                  <a:lnTo>
                    <a:pt x="1913" y="261"/>
                  </a:lnTo>
                  <a:lnTo>
                    <a:pt x="1892" y="212"/>
                  </a:lnTo>
                  <a:lnTo>
                    <a:pt x="1859" y="158"/>
                  </a:lnTo>
                  <a:lnTo>
                    <a:pt x="1817" y="105"/>
                  </a:lnTo>
                  <a:lnTo>
                    <a:pt x="1764" y="51"/>
                  </a:lnTo>
                  <a:lnTo>
                    <a:pt x="1701" y="0"/>
                  </a:lnTo>
                  <a:close/>
                </a:path>
              </a:pathLst>
            </a:custGeom>
            <a:solidFill>
              <a:schemeClr val="accent1"/>
            </a:solidFill>
            <a:ln w="0">
              <a:noFill/>
              <a:prstDash val="solid"/>
              <a:round/>
              <a:headEnd/>
              <a:tailEnd/>
            </a:ln>
          </p:spPr>
          <p:txBody>
            <a:bodyPr/>
            <a:lstStyle/>
            <a:p>
              <a:pPr defTabSz="914400" fontAlgn="base">
                <a:spcBef>
                  <a:spcPct val="0"/>
                </a:spcBef>
                <a:spcAft>
                  <a:spcPct val="0"/>
                </a:spcAft>
                <a:defRPr/>
              </a:pPr>
              <a:endParaRPr lang="en-US" sz="1800" dirty="0">
                <a:solidFill>
                  <a:srgbClr val="000000"/>
                </a:solidFill>
              </a:endParaRPr>
            </a:p>
          </p:txBody>
        </p:sp>
        <p:sp>
          <p:nvSpPr>
            <p:cNvPr id="323616" name="Freeform 32"/>
            <p:cNvSpPr>
              <a:spLocks/>
            </p:cNvSpPr>
            <p:nvPr userDrawn="1"/>
          </p:nvSpPr>
          <p:spPr bwMode="auto">
            <a:xfrm>
              <a:off x="2525" y="2105"/>
              <a:ext cx="735" cy="1392"/>
            </a:xfrm>
            <a:custGeom>
              <a:avLst/>
              <a:gdLst/>
              <a:ahLst/>
              <a:cxnLst>
                <a:cxn ang="0">
                  <a:pos x="2948" y="105"/>
                </a:cxn>
                <a:cxn ang="0">
                  <a:pos x="3053" y="298"/>
                </a:cxn>
                <a:cxn ang="0">
                  <a:pos x="3058" y="475"/>
                </a:cxn>
                <a:cxn ang="0">
                  <a:pos x="3002" y="654"/>
                </a:cxn>
                <a:cxn ang="0">
                  <a:pos x="2879" y="773"/>
                </a:cxn>
                <a:cxn ang="0">
                  <a:pos x="2683" y="770"/>
                </a:cxn>
                <a:cxn ang="0">
                  <a:pos x="2490" y="636"/>
                </a:cxn>
                <a:cxn ang="0">
                  <a:pos x="2457" y="480"/>
                </a:cxn>
                <a:cxn ang="0">
                  <a:pos x="2541" y="307"/>
                </a:cxn>
                <a:cxn ang="0">
                  <a:pos x="2616" y="226"/>
                </a:cxn>
                <a:cxn ang="0">
                  <a:pos x="2620" y="163"/>
                </a:cxn>
                <a:cxn ang="0">
                  <a:pos x="2581" y="91"/>
                </a:cxn>
                <a:cxn ang="0">
                  <a:pos x="2481" y="40"/>
                </a:cxn>
                <a:cxn ang="0">
                  <a:pos x="2290" y="61"/>
                </a:cxn>
                <a:cxn ang="0">
                  <a:pos x="2029" y="196"/>
                </a:cxn>
                <a:cxn ang="0">
                  <a:pos x="1857" y="466"/>
                </a:cxn>
                <a:cxn ang="0">
                  <a:pos x="1764" y="850"/>
                </a:cxn>
                <a:cxn ang="0">
                  <a:pos x="1729" y="1320"/>
                </a:cxn>
                <a:cxn ang="0">
                  <a:pos x="1729" y="1843"/>
                </a:cxn>
                <a:cxn ang="0">
                  <a:pos x="1768" y="2551"/>
                </a:cxn>
                <a:cxn ang="0">
                  <a:pos x="1864" y="2905"/>
                </a:cxn>
                <a:cxn ang="0">
                  <a:pos x="1971" y="3068"/>
                </a:cxn>
                <a:cxn ang="0">
                  <a:pos x="1880" y="3356"/>
                </a:cxn>
                <a:cxn ang="0">
                  <a:pos x="1822" y="3801"/>
                </a:cxn>
                <a:cxn ang="0">
                  <a:pos x="1792" y="4292"/>
                </a:cxn>
                <a:cxn ang="0">
                  <a:pos x="1682" y="4920"/>
                </a:cxn>
                <a:cxn ang="0">
                  <a:pos x="1505" y="5374"/>
                </a:cxn>
                <a:cxn ang="0">
                  <a:pos x="1268" y="5681"/>
                </a:cxn>
                <a:cxn ang="0">
                  <a:pos x="167" y="5737"/>
                </a:cxn>
                <a:cxn ang="0">
                  <a:pos x="18" y="5530"/>
                </a:cxn>
                <a:cxn ang="0">
                  <a:pos x="0" y="5362"/>
                </a:cxn>
                <a:cxn ang="0">
                  <a:pos x="39" y="5178"/>
                </a:cxn>
                <a:cxn ang="0">
                  <a:pos x="144" y="5039"/>
                </a:cxn>
                <a:cxn ang="0">
                  <a:pos x="321" y="5004"/>
                </a:cxn>
                <a:cxn ang="0">
                  <a:pos x="540" y="5116"/>
                </a:cxn>
                <a:cxn ang="0">
                  <a:pos x="607" y="5271"/>
                </a:cxn>
                <a:cxn ang="0">
                  <a:pos x="542" y="5451"/>
                </a:cxn>
                <a:cxn ang="0">
                  <a:pos x="463" y="5548"/>
                </a:cxn>
                <a:cxn ang="0">
                  <a:pos x="437" y="5609"/>
                </a:cxn>
                <a:cxn ang="0">
                  <a:pos x="467" y="5681"/>
                </a:cxn>
                <a:cxn ang="0">
                  <a:pos x="549" y="5742"/>
                </a:cxn>
                <a:cxn ang="0">
                  <a:pos x="714" y="5742"/>
                </a:cxn>
                <a:cxn ang="0">
                  <a:pos x="972" y="5639"/>
                </a:cxn>
                <a:cxn ang="0">
                  <a:pos x="1168" y="5404"/>
                </a:cxn>
                <a:cxn ang="0">
                  <a:pos x="1280" y="5046"/>
                </a:cxn>
                <a:cxn ang="0">
                  <a:pos x="1326" y="4594"/>
                </a:cxn>
                <a:cxn ang="0">
                  <a:pos x="1333" y="4080"/>
                </a:cxn>
                <a:cxn ang="0">
                  <a:pos x="1315" y="3421"/>
                </a:cxn>
                <a:cxn ang="0">
                  <a:pos x="1238" y="3065"/>
                </a:cxn>
                <a:cxn ang="0">
                  <a:pos x="1110" y="2839"/>
                </a:cxn>
                <a:cxn ang="0">
                  <a:pos x="1135" y="2653"/>
                </a:cxn>
                <a:cxn ang="0">
                  <a:pos x="1214" y="2304"/>
                </a:cxn>
                <a:cxn ang="0">
                  <a:pos x="1245" y="1836"/>
                </a:cxn>
                <a:cxn ang="0">
                  <a:pos x="1291" y="1322"/>
                </a:cxn>
                <a:cxn ang="0">
                  <a:pos x="1417" y="740"/>
                </a:cxn>
                <a:cxn ang="0">
                  <a:pos x="1610" y="326"/>
                </a:cxn>
                <a:cxn ang="0">
                  <a:pos x="1859" y="51"/>
                </a:cxn>
              </a:cxnLst>
              <a:rect l="0" t="0" r="r" b="b"/>
              <a:pathLst>
                <a:path w="3062" h="5788">
                  <a:moveTo>
                    <a:pt x="1929" y="0"/>
                  </a:moveTo>
                  <a:lnTo>
                    <a:pt x="2832" y="0"/>
                  </a:lnTo>
                  <a:lnTo>
                    <a:pt x="2895" y="51"/>
                  </a:lnTo>
                  <a:lnTo>
                    <a:pt x="2948" y="105"/>
                  </a:lnTo>
                  <a:lnTo>
                    <a:pt x="2990" y="158"/>
                  </a:lnTo>
                  <a:lnTo>
                    <a:pt x="3023" y="212"/>
                  </a:lnTo>
                  <a:lnTo>
                    <a:pt x="3044" y="261"/>
                  </a:lnTo>
                  <a:lnTo>
                    <a:pt x="3053" y="298"/>
                  </a:lnTo>
                  <a:lnTo>
                    <a:pt x="3060" y="338"/>
                  </a:lnTo>
                  <a:lnTo>
                    <a:pt x="3062" y="382"/>
                  </a:lnTo>
                  <a:lnTo>
                    <a:pt x="3062" y="428"/>
                  </a:lnTo>
                  <a:lnTo>
                    <a:pt x="3058" y="475"/>
                  </a:lnTo>
                  <a:lnTo>
                    <a:pt x="3048" y="521"/>
                  </a:lnTo>
                  <a:lnTo>
                    <a:pt x="3037" y="568"/>
                  </a:lnTo>
                  <a:lnTo>
                    <a:pt x="3021" y="612"/>
                  </a:lnTo>
                  <a:lnTo>
                    <a:pt x="3002" y="654"/>
                  </a:lnTo>
                  <a:lnTo>
                    <a:pt x="2979" y="691"/>
                  </a:lnTo>
                  <a:lnTo>
                    <a:pt x="2948" y="724"/>
                  </a:lnTo>
                  <a:lnTo>
                    <a:pt x="2916" y="752"/>
                  </a:lnTo>
                  <a:lnTo>
                    <a:pt x="2879" y="773"/>
                  </a:lnTo>
                  <a:lnTo>
                    <a:pt x="2837" y="784"/>
                  </a:lnTo>
                  <a:lnTo>
                    <a:pt x="2790" y="789"/>
                  </a:lnTo>
                  <a:lnTo>
                    <a:pt x="2739" y="784"/>
                  </a:lnTo>
                  <a:lnTo>
                    <a:pt x="2683" y="770"/>
                  </a:lnTo>
                  <a:lnTo>
                    <a:pt x="2623" y="743"/>
                  </a:lnTo>
                  <a:lnTo>
                    <a:pt x="2567" y="708"/>
                  </a:lnTo>
                  <a:lnTo>
                    <a:pt x="2522" y="673"/>
                  </a:lnTo>
                  <a:lnTo>
                    <a:pt x="2490" y="636"/>
                  </a:lnTo>
                  <a:lnTo>
                    <a:pt x="2469" y="596"/>
                  </a:lnTo>
                  <a:lnTo>
                    <a:pt x="2457" y="556"/>
                  </a:lnTo>
                  <a:lnTo>
                    <a:pt x="2455" y="517"/>
                  </a:lnTo>
                  <a:lnTo>
                    <a:pt x="2457" y="480"/>
                  </a:lnTo>
                  <a:lnTo>
                    <a:pt x="2467" y="440"/>
                  </a:lnTo>
                  <a:lnTo>
                    <a:pt x="2499" y="370"/>
                  </a:lnTo>
                  <a:lnTo>
                    <a:pt x="2520" y="338"/>
                  </a:lnTo>
                  <a:lnTo>
                    <a:pt x="2541" y="307"/>
                  </a:lnTo>
                  <a:lnTo>
                    <a:pt x="2562" y="282"/>
                  </a:lnTo>
                  <a:lnTo>
                    <a:pt x="2583" y="258"/>
                  </a:lnTo>
                  <a:lnTo>
                    <a:pt x="2599" y="240"/>
                  </a:lnTo>
                  <a:lnTo>
                    <a:pt x="2616" y="226"/>
                  </a:lnTo>
                  <a:lnTo>
                    <a:pt x="2627" y="214"/>
                  </a:lnTo>
                  <a:lnTo>
                    <a:pt x="2627" y="193"/>
                  </a:lnTo>
                  <a:lnTo>
                    <a:pt x="2625" y="179"/>
                  </a:lnTo>
                  <a:lnTo>
                    <a:pt x="2620" y="163"/>
                  </a:lnTo>
                  <a:lnTo>
                    <a:pt x="2616" y="144"/>
                  </a:lnTo>
                  <a:lnTo>
                    <a:pt x="2606" y="126"/>
                  </a:lnTo>
                  <a:lnTo>
                    <a:pt x="2595" y="107"/>
                  </a:lnTo>
                  <a:lnTo>
                    <a:pt x="2581" y="91"/>
                  </a:lnTo>
                  <a:lnTo>
                    <a:pt x="2562" y="72"/>
                  </a:lnTo>
                  <a:lnTo>
                    <a:pt x="2541" y="58"/>
                  </a:lnTo>
                  <a:lnTo>
                    <a:pt x="2513" y="47"/>
                  </a:lnTo>
                  <a:lnTo>
                    <a:pt x="2481" y="40"/>
                  </a:lnTo>
                  <a:lnTo>
                    <a:pt x="2443" y="37"/>
                  </a:lnTo>
                  <a:lnTo>
                    <a:pt x="2399" y="40"/>
                  </a:lnTo>
                  <a:lnTo>
                    <a:pt x="2348" y="47"/>
                  </a:lnTo>
                  <a:lnTo>
                    <a:pt x="2290" y="61"/>
                  </a:lnTo>
                  <a:lnTo>
                    <a:pt x="2225" y="84"/>
                  </a:lnTo>
                  <a:lnTo>
                    <a:pt x="2152" y="114"/>
                  </a:lnTo>
                  <a:lnTo>
                    <a:pt x="2087" y="151"/>
                  </a:lnTo>
                  <a:lnTo>
                    <a:pt x="2029" y="196"/>
                  </a:lnTo>
                  <a:lnTo>
                    <a:pt x="1978" y="252"/>
                  </a:lnTo>
                  <a:lnTo>
                    <a:pt x="1934" y="314"/>
                  </a:lnTo>
                  <a:lnTo>
                    <a:pt x="1892" y="386"/>
                  </a:lnTo>
                  <a:lnTo>
                    <a:pt x="1857" y="466"/>
                  </a:lnTo>
                  <a:lnTo>
                    <a:pt x="1829" y="552"/>
                  </a:lnTo>
                  <a:lnTo>
                    <a:pt x="1803" y="645"/>
                  </a:lnTo>
                  <a:lnTo>
                    <a:pt x="1782" y="745"/>
                  </a:lnTo>
                  <a:lnTo>
                    <a:pt x="1764" y="850"/>
                  </a:lnTo>
                  <a:lnTo>
                    <a:pt x="1750" y="959"/>
                  </a:lnTo>
                  <a:lnTo>
                    <a:pt x="1740" y="1075"/>
                  </a:lnTo>
                  <a:lnTo>
                    <a:pt x="1733" y="1196"/>
                  </a:lnTo>
                  <a:lnTo>
                    <a:pt x="1729" y="1320"/>
                  </a:lnTo>
                  <a:lnTo>
                    <a:pt x="1727" y="1445"/>
                  </a:lnTo>
                  <a:lnTo>
                    <a:pt x="1724" y="1576"/>
                  </a:lnTo>
                  <a:lnTo>
                    <a:pt x="1727" y="1708"/>
                  </a:lnTo>
                  <a:lnTo>
                    <a:pt x="1729" y="1843"/>
                  </a:lnTo>
                  <a:lnTo>
                    <a:pt x="1731" y="1981"/>
                  </a:lnTo>
                  <a:lnTo>
                    <a:pt x="1745" y="2369"/>
                  </a:lnTo>
                  <a:lnTo>
                    <a:pt x="1754" y="2460"/>
                  </a:lnTo>
                  <a:lnTo>
                    <a:pt x="1768" y="2551"/>
                  </a:lnTo>
                  <a:lnTo>
                    <a:pt x="1787" y="2644"/>
                  </a:lnTo>
                  <a:lnTo>
                    <a:pt x="1808" y="2735"/>
                  </a:lnTo>
                  <a:lnTo>
                    <a:pt x="1834" y="2823"/>
                  </a:lnTo>
                  <a:lnTo>
                    <a:pt x="1864" y="2905"/>
                  </a:lnTo>
                  <a:lnTo>
                    <a:pt x="1901" y="2979"/>
                  </a:lnTo>
                  <a:lnTo>
                    <a:pt x="1929" y="3016"/>
                  </a:lnTo>
                  <a:lnTo>
                    <a:pt x="1952" y="3044"/>
                  </a:lnTo>
                  <a:lnTo>
                    <a:pt x="1971" y="3068"/>
                  </a:lnTo>
                  <a:lnTo>
                    <a:pt x="1987" y="3084"/>
                  </a:lnTo>
                  <a:lnTo>
                    <a:pt x="1945" y="3170"/>
                  </a:lnTo>
                  <a:lnTo>
                    <a:pt x="1908" y="3261"/>
                  </a:lnTo>
                  <a:lnTo>
                    <a:pt x="1880" y="3356"/>
                  </a:lnTo>
                  <a:lnTo>
                    <a:pt x="1857" y="3452"/>
                  </a:lnTo>
                  <a:lnTo>
                    <a:pt x="1838" y="3547"/>
                  </a:lnTo>
                  <a:lnTo>
                    <a:pt x="1827" y="3640"/>
                  </a:lnTo>
                  <a:lnTo>
                    <a:pt x="1822" y="3801"/>
                  </a:lnTo>
                  <a:lnTo>
                    <a:pt x="1817" y="3954"/>
                  </a:lnTo>
                  <a:lnTo>
                    <a:pt x="1808" y="4098"/>
                  </a:lnTo>
                  <a:lnTo>
                    <a:pt x="1808" y="4103"/>
                  </a:lnTo>
                  <a:lnTo>
                    <a:pt x="1792" y="4292"/>
                  </a:lnTo>
                  <a:lnTo>
                    <a:pt x="1771" y="4466"/>
                  </a:lnTo>
                  <a:lnTo>
                    <a:pt x="1745" y="4629"/>
                  </a:lnTo>
                  <a:lnTo>
                    <a:pt x="1717" y="4780"/>
                  </a:lnTo>
                  <a:lnTo>
                    <a:pt x="1682" y="4920"/>
                  </a:lnTo>
                  <a:lnTo>
                    <a:pt x="1645" y="5050"/>
                  </a:lnTo>
                  <a:lnTo>
                    <a:pt x="1601" y="5169"/>
                  </a:lnTo>
                  <a:lnTo>
                    <a:pt x="1557" y="5276"/>
                  </a:lnTo>
                  <a:lnTo>
                    <a:pt x="1505" y="5374"/>
                  </a:lnTo>
                  <a:lnTo>
                    <a:pt x="1452" y="5465"/>
                  </a:lnTo>
                  <a:lnTo>
                    <a:pt x="1394" y="5544"/>
                  </a:lnTo>
                  <a:lnTo>
                    <a:pt x="1333" y="5616"/>
                  </a:lnTo>
                  <a:lnTo>
                    <a:pt x="1268" y="5681"/>
                  </a:lnTo>
                  <a:lnTo>
                    <a:pt x="1201" y="5737"/>
                  </a:lnTo>
                  <a:lnTo>
                    <a:pt x="1131" y="5788"/>
                  </a:lnTo>
                  <a:lnTo>
                    <a:pt x="228" y="5788"/>
                  </a:lnTo>
                  <a:lnTo>
                    <a:pt x="167" y="5737"/>
                  </a:lnTo>
                  <a:lnTo>
                    <a:pt x="114" y="5683"/>
                  </a:lnTo>
                  <a:lnTo>
                    <a:pt x="72" y="5630"/>
                  </a:lnTo>
                  <a:lnTo>
                    <a:pt x="39" y="5579"/>
                  </a:lnTo>
                  <a:lnTo>
                    <a:pt x="18" y="5530"/>
                  </a:lnTo>
                  <a:lnTo>
                    <a:pt x="9" y="5493"/>
                  </a:lnTo>
                  <a:lnTo>
                    <a:pt x="2" y="5453"/>
                  </a:lnTo>
                  <a:lnTo>
                    <a:pt x="0" y="5409"/>
                  </a:lnTo>
                  <a:lnTo>
                    <a:pt x="0" y="5362"/>
                  </a:lnTo>
                  <a:lnTo>
                    <a:pt x="4" y="5316"/>
                  </a:lnTo>
                  <a:lnTo>
                    <a:pt x="11" y="5269"/>
                  </a:lnTo>
                  <a:lnTo>
                    <a:pt x="23" y="5223"/>
                  </a:lnTo>
                  <a:lnTo>
                    <a:pt x="39" y="5178"/>
                  </a:lnTo>
                  <a:lnTo>
                    <a:pt x="60" y="5136"/>
                  </a:lnTo>
                  <a:lnTo>
                    <a:pt x="83" y="5099"/>
                  </a:lnTo>
                  <a:lnTo>
                    <a:pt x="111" y="5067"/>
                  </a:lnTo>
                  <a:lnTo>
                    <a:pt x="144" y="5039"/>
                  </a:lnTo>
                  <a:lnTo>
                    <a:pt x="181" y="5018"/>
                  </a:lnTo>
                  <a:lnTo>
                    <a:pt x="223" y="5004"/>
                  </a:lnTo>
                  <a:lnTo>
                    <a:pt x="270" y="4999"/>
                  </a:lnTo>
                  <a:lnTo>
                    <a:pt x="321" y="5004"/>
                  </a:lnTo>
                  <a:lnTo>
                    <a:pt x="379" y="5020"/>
                  </a:lnTo>
                  <a:lnTo>
                    <a:pt x="439" y="5046"/>
                  </a:lnTo>
                  <a:lnTo>
                    <a:pt x="495" y="5081"/>
                  </a:lnTo>
                  <a:lnTo>
                    <a:pt x="540" y="5116"/>
                  </a:lnTo>
                  <a:lnTo>
                    <a:pt x="572" y="5153"/>
                  </a:lnTo>
                  <a:lnTo>
                    <a:pt x="593" y="5192"/>
                  </a:lnTo>
                  <a:lnTo>
                    <a:pt x="605" y="5232"/>
                  </a:lnTo>
                  <a:lnTo>
                    <a:pt x="607" y="5271"/>
                  </a:lnTo>
                  <a:lnTo>
                    <a:pt x="605" y="5309"/>
                  </a:lnTo>
                  <a:lnTo>
                    <a:pt x="595" y="5348"/>
                  </a:lnTo>
                  <a:lnTo>
                    <a:pt x="563" y="5418"/>
                  </a:lnTo>
                  <a:lnTo>
                    <a:pt x="542" y="5451"/>
                  </a:lnTo>
                  <a:lnTo>
                    <a:pt x="521" y="5481"/>
                  </a:lnTo>
                  <a:lnTo>
                    <a:pt x="500" y="5506"/>
                  </a:lnTo>
                  <a:lnTo>
                    <a:pt x="479" y="5530"/>
                  </a:lnTo>
                  <a:lnTo>
                    <a:pt x="463" y="5548"/>
                  </a:lnTo>
                  <a:lnTo>
                    <a:pt x="446" y="5562"/>
                  </a:lnTo>
                  <a:lnTo>
                    <a:pt x="435" y="5574"/>
                  </a:lnTo>
                  <a:lnTo>
                    <a:pt x="435" y="5595"/>
                  </a:lnTo>
                  <a:lnTo>
                    <a:pt x="437" y="5609"/>
                  </a:lnTo>
                  <a:lnTo>
                    <a:pt x="442" y="5625"/>
                  </a:lnTo>
                  <a:lnTo>
                    <a:pt x="446" y="5644"/>
                  </a:lnTo>
                  <a:lnTo>
                    <a:pt x="456" y="5662"/>
                  </a:lnTo>
                  <a:lnTo>
                    <a:pt x="467" y="5681"/>
                  </a:lnTo>
                  <a:lnTo>
                    <a:pt x="481" y="5697"/>
                  </a:lnTo>
                  <a:lnTo>
                    <a:pt x="500" y="5716"/>
                  </a:lnTo>
                  <a:lnTo>
                    <a:pt x="521" y="5730"/>
                  </a:lnTo>
                  <a:lnTo>
                    <a:pt x="549" y="5742"/>
                  </a:lnTo>
                  <a:lnTo>
                    <a:pt x="581" y="5749"/>
                  </a:lnTo>
                  <a:lnTo>
                    <a:pt x="619" y="5751"/>
                  </a:lnTo>
                  <a:lnTo>
                    <a:pt x="663" y="5749"/>
                  </a:lnTo>
                  <a:lnTo>
                    <a:pt x="714" y="5742"/>
                  </a:lnTo>
                  <a:lnTo>
                    <a:pt x="770" y="5728"/>
                  </a:lnTo>
                  <a:lnTo>
                    <a:pt x="835" y="5704"/>
                  </a:lnTo>
                  <a:lnTo>
                    <a:pt x="907" y="5674"/>
                  </a:lnTo>
                  <a:lnTo>
                    <a:pt x="972" y="5639"/>
                  </a:lnTo>
                  <a:lnTo>
                    <a:pt x="1031" y="5593"/>
                  </a:lnTo>
                  <a:lnTo>
                    <a:pt x="1082" y="5539"/>
                  </a:lnTo>
                  <a:lnTo>
                    <a:pt x="1128" y="5474"/>
                  </a:lnTo>
                  <a:lnTo>
                    <a:pt x="1168" y="5404"/>
                  </a:lnTo>
                  <a:lnTo>
                    <a:pt x="1203" y="5325"/>
                  </a:lnTo>
                  <a:lnTo>
                    <a:pt x="1233" y="5239"/>
                  </a:lnTo>
                  <a:lnTo>
                    <a:pt x="1259" y="5143"/>
                  </a:lnTo>
                  <a:lnTo>
                    <a:pt x="1280" y="5046"/>
                  </a:lnTo>
                  <a:lnTo>
                    <a:pt x="1296" y="4939"/>
                  </a:lnTo>
                  <a:lnTo>
                    <a:pt x="1310" y="4829"/>
                  </a:lnTo>
                  <a:lnTo>
                    <a:pt x="1319" y="4713"/>
                  </a:lnTo>
                  <a:lnTo>
                    <a:pt x="1326" y="4594"/>
                  </a:lnTo>
                  <a:lnTo>
                    <a:pt x="1331" y="4469"/>
                  </a:lnTo>
                  <a:lnTo>
                    <a:pt x="1333" y="4343"/>
                  </a:lnTo>
                  <a:lnTo>
                    <a:pt x="1336" y="4213"/>
                  </a:lnTo>
                  <a:lnTo>
                    <a:pt x="1333" y="4080"/>
                  </a:lnTo>
                  <a:lnTo>
                    <a:pt x="1331" y="3945"/>
                  </a:lnTo>
                  <a:lnTo>
                    <a:pt x="1329" y="3808"/>
                  </a:lnTo>
                  <a:lnTo>
                    <a:pt x="1329" y="3810"/>
                  </a:lnTo>
                  <a:lnTo>
                    <a:pt x="1315" y="3421"/>
                  </a:lnTo>
                  <a:lnTo>
                    <a:pt x="1303" y="3324"/>
                  </a:lnTo>
                  <a:lnTo>
                    <a:pt x="1287" y="3233"/>
                  </a:lnTo>
                  <a:lnTo>
                    <a:pt x="1266" y="3147"/>
                  </a:lnTo>
                  <a:lnTo>
                    <a:pt x="1238" y="3065"/>
                  </a:lnTo>
                  <a:lnTo>
                    <a:pt x="1203" y="2986"/>
                  </a:lnTo>
                  <a:lnTo>
                    <a:pt x="1161" y="2905"/>
                  </a:lnTo>
                  <a:lnTo>
                    <a:pt x="1133" y="2867"/>
                  </a:lnTo>
                  <a:lnTo>
                    <a:pt x="1110" y="2839"/>
                  </a:lnTo>
                  <a:lnTo>
                    <a:pt x="1091" y="2818"/>
                  </a:lnTo>
                  <a:lnTo>
                    <a:pt x="1075" y="2802"/>
                  </a:lnTo>
                  <a:lnTo>
                    <a:pt x="1107" y="2732"/>
                  </a:lnTo>
                  <a:lnTo>
                    <a:pt x="1135" y="2653"/>
                  </a:lnTo>
                  <a:lnTo>
                    <a:pt x="1161" y="2569"/>
                  </a:lnTo>
                  <a:lnTo>
                    <a:pt x="1182" y="2481"/>
                  </a:lnTo>
                  <a:lnTo>
                    <a:pt x="1198" y="2390"/>
                  </a:lnTo>
                  <a:lnTo>
                    <a:pt x="1214" y="2304"/>
                  </a:lnTo>
                  <a:lnTo>
                    <a:pt x="1226" y="2223"/>
                  </a:lnTo>
                  <a:lnTo>
                    <a:pt x="1235" y="2148"/>
                  </a:lnTo>
                  <a:lnTo>
                    <a:pt x="1238" y="1990"/>
                  </a:lnTo>
                  <a:lnTo>
                    <a:pt x="1245" y="1836"/>
                  </a:lnTo>
                  <a:lnTo>
                    <a:pt x="1254" y="1692"/>
                  </a:lnTo>
                  <a:lnTo>
                    <a:pt x="1254" y="1685"/>
                  </a:lnTo>
                  <a:lnTo>
                    <a:pt x="1270" y="1497"/>
                  </a:lnTo>
                  <a:lnTo>
                    <a:pt x="1291" y="1322"/>
                  </a:lnTo>
                  <a:lnTo>
                    <a:pt x="1317" y="1159"/>
                  </a:lnTo>
                  <a:lnTo>
                    <a:pt x="1345" y="1008"/>
                  </a:lnTo>
                  <a:lnTo>
                    <a:pt x="1380" y="868"/>
                  </a:lnTo>
                  <a:lnTo>
                    <a:pt x="1417" y="740"/>
                  </a:lnTo>
                  <a:lnTo>
                    <a:pt x="1459" y="622"/>
                  </a:lnTo>
                  <a:lnTo>
                    <a:pt x="1505" y="512"/>
                  </a:lnTo>
                  <a:lnTo>
                    <a:pt x="1557" y="414"/>
                  </a:lnTo>
                  <a:lnTo>
                    <a:pt x="1610" y="326"/>
                  </a:lnTo>
                  <a:lnTo>
                    <a:pt x="1666" y="245"/>
                  </a:lnTo>
                  <a:lnTo>
                    <a:pt x="1727" y="172"/>
                  </a:lnTo>
                  <a:lnTo>
                    <a:pt x="1792" y="107"/>
                  </a:lnTo>
                  <a:lnTo>
                    <a:pt x="1859" y="51"/>
                  </a:lnTo>
                  <a:lnTo>
                    <a:pt x="1929" y="0"/>
                  </a:lnTo>
                  <a:close/>
                </a:path>
              </a:pathLst>
            </a:custGeom>
            <a:solidFill>
              <a:srgbClr val="FFFFFF"/>
            </a:solidFill>
            <a:ln w="0">
              <a:solidFill>
                <a:srgbClr val="FFFFFF"/>
              </a:solidFill>
              <a:prstDash val="solid"/>
              <a:round/>
              <a:headEnd/>
              <a:tailEnd/>
            </a:ln>
          </p:spPr>
          <p:txBody>
            <a:bodyPr/>
            <a:lstStyle/>
            <a:p>
              <a:pPr defTabSz="914400" fontAlgn="base">
                <a:spcBef>
                  <a:spcPct val="0"/>
                </a:spcBef>
                <a:spcAft>
                  <a:spcPct val="0"/>
                </a:spcAft>
                <a:defRPr/>
              </a:pPr>
              <a:endParaRPr lang="en-US" sz="1800" dirty="0">
                <a:solidFill>
                  <a:srgbClr val="000000"/>
                </a:solidFill>
              </a:endParaRPr>
            </a:p>
          </p:txBody>
        </p:sp>
      </p:grpSp>
      <p:sp>
        <p:nvSpPr>
          <p:cNvPr id="34" name="Rectangle 14"/>
          <p:cNvSpPr>
            <a:spLocks noChangeArrowheads="1"/>
          </p:cNvSpPr>
          <p:nvPr userDrawn="1"/>
        </p:nvSpPr>
        <p:spPr bwMode="auto">
          <a:xfrm>
            <a:off x="228600" y="228600"/>
            <a:ext cx="9601200" cy="7315200"/>
          </a:xfrm>
          <a:prstGeom prst="rect">
            <a:avLst/>
          </a:prstGeom>
          <a:noFill/>
          <a:ln w="25400">
            <a:solidFill>
              <a:schemeClr val="hlink"/>
            </a:solidFill>
            <a:miter lim="800000"/>
            <a:headEnd/>
            <a:tailEnd/>
          </a:ln>
        </p:spPr>
        <p:txBody>
          <a:bodyPr wrap="none" lIns="101847" tIns="50923" rIns="101847" bIns="50923" anchor="ctr"/>
          <a:lstStyle/>
          <a:p>
            <a:pPr defTabSz="914400" fontAlgn="base">
              <a:spcBef>
                <a:spcPct val="0"/>
              </a:spcBef>
              <a:spcAft>
                <a:spcPct val="0"/>
              </a:spcAft>
              <a:defRPr/>
            </a:pPr>
            <a:endParaRPr lang="en-US" sz="1800" dirty="0">
              <a:solidFill>
                <a:srgbClr val="000000"/>
              </a:solidFill>
            </a:endParaRPr>
          </a:p>
        </p:txBody>
      </p:sp>
    </p:spTree>
    <p:extLst>
      <p:ext uri="{BB962C8B-B14F-4D97-AF65-F5344CB8AC3E}">
        <p14:creationId xmlns:p14="http://schemas.microsoft.com/office/powerpoint/2010/main" val="2472007317"/>
      </p:ext>
    </p:extLst>
  </p:cSld>
  <p:clrMap bg1="lt1" tx1="dk1" bg2="lt2" tx2="dk2" accent1="accent1" accent2="accent2" accent3="accent3" accent4="accent4" accent5="accent5" accent6="accent6" hlink="hlink" folHlink="folHlink"/>
  <p:sldLayoutIdLst>
    <p:sldLayoutId id="2147483673" r:id="rId1"/>
    <p:sldLayoutId id="2147483674" r:id="rId2"/>
  </p:sldLayoutIdLst>
  <p:timing>
    <p:tnLst>
      <p:par>
        <p:cTn id="1" dur="indefinite" restart="never" nodeType="tmRoot"/>
      </p:par>
    </p:tnLst>
  </p:timing>
  <p:txStyles>
    <p:titleStyle>
      <a:lvl1pPr algn="ctr" rtl="0" fontAlgn="base">
        <a:spcBef>
          <a:spcPct val="0"/>
        </a:spcBef>
        <a:spcAft>
          <a:spcPct val="0"/>
        </a:spcAft>
        <a:defRPr sz="4900">
          <a:solidFill>
            <a:schemeClr val="tx2"/>
          </a:solidFill>
          <a:latin typeface="+mj-lt"/>
          <a:ea typeface="+mj-ea"/>
          <a:cs typeface="+mj-cs"/>
        </a:defRPr>
      </a:lvl1pPr>
      <a:lvl2pPr algn="ctr" rtl="0" fontAlgn="base">
        <a:spcBef>
          <a:spcPct val="0"/>
        </a:spcBef>
        <a:spcAft>
          <a:spcPct val="0"/>
        </a:spcAft>
        <a:defRPr sz="4900">
          <a:solidFill>
            <a:schemeClr val="tx2"/>
          </a:solidFill>
          <a:latin typeface="Cambria" pitchFamily="18" charset="0"/>
        </a:defRPr>
      </a:lvl2pPr>
      <a:lvl3pPr algn="ctr" rtl="0" fontAlgn="base">
        <a:spcBef>
          <a:spcPct val="0"/>
        </a:spcBef>
        <a:spcAft>
          <a:spcPct val="0"/>
        </a:spcAft>
        <a:defRPr sz="4900">
          <a:solidFill>
            <a:schemeClr val="tx2"/>
          </a:solidFill>
          <a:latin typeface="Cambria" pitchFamily="18" charset="0"/>
        </a:defRPr>
      </a:lvl3pPr>
      <a:lvl4pPr algn="ctr" rtl="0" fontAlgn="base">
        <a:spcBef>
          <a:spcPct val="0"/>
        </a:spcBef>
        <a:spcAft>
          <a:spcPct val="0"/>
        </a:spcAft>
        <a:defRPr sz="4900">
          <a:solidFill>
            <a:schemeClr val="tx2"/>
          </a:solidFill>
          <a:latin typeface="Cambria" pitchFamily="18" charset="0"/>
        </a:defRPr>
      </a:lvl4pPr>
      <a:lvl5pPr algn="ctr" rtl="0" fontAlgn="base">
        <a:spcBef>
          <a:spcPct val="0"/>
        </a:spcBef>
        <a:spcAft>
          <a:spcPct val="0"/>
        </a:spcAft>
        <a:defRPr sz="4900">
          <a:solidFill>
            <a:schemeClr val="tx2"/>
          </a:solidFill>
          <a:latin typeface="Cambria" pitchFamily="18" charset="0"/>
        </a:defRPr>
      </a:lvl5pPr>
      <a:lvl6pPr marL="509292" algn="ctr" rtl="0" fontAlgn="base">
        <a:spcBef>
          <a:spcPct val="0"/>
        </a:spcBef>
        <a:spcAft>
          <a:spcPct val="0"/>
        </a:spcAft>
        <a:defRPr sz="4900">
          <a:solidFill>
            <a:schemeClr val="tx2"/>
          </a:solidFill>
          <a:latin typeface="Cambria" pitchFamily="18" charset="0"/>
        </a:defRPr>
      </a:lvl6pPr>
      <a:lvl7pPr marL="1018586" algn="ctr" rtl="0" fontAlgn="base">
        <a:spcBef>
          <a:spcPct val="0"/>
        </a:spcBef>
        <a:spcAft>
          <a:spcPct val="0"/>
        </a:spcAft>
        <a:defRPr sz="4900">
          <a:solidFill>
            <a:schemeClr val="tx2"/>
          </a:solidFill>
          <a:latin typeface="Cambria" pitchFamily="18" charset="0"/>
        </a:defRPr>
      </a:lvl7pPr>
      <a:lvl8pPr marL="1527879" algn="ctr" rtl="0" fontAlgn="base">
        <a:spcBef>
          <a:spcPct val="0"/>
        </a:spcBef>
        <a:spcAft>
          <a:spcPct val="0"/>
        </a:spcAft>
        <a:defRPr sz="4900">
          <a:solidFill>
            <a:schemeClr val="tx2"/>
          </a:solidFill>
          <a:latin typeface="Cambria" pitchFamily="18" charset="0"/>
        </a:defRPr>
      </a:lvl8pPr>
      <a:lvl9pPr marL="2037173" algn="ctr" rtl="0" fontAlgn="base">
        <a:spcBef>
          <a:spcPct val="0"/>
        </a:spcBef>
        <a:spcAft>
          <a:spcPct val="0"/>
        </a:spcAft>
        <a:defRPr sz="4900">
          <a:solidFill>
            <a:schemeClr val="tx2"/>
          </a:solidFill>
          <a:latin typeface="Cambria" pitchFamily="18" charset="0"/>
        </a:defRPr>
      </a:lvl9pPr>
    </p:titleStyle>
    <p:bodyStyle>
      <a:lvl1pPr marL="380202" indent="-380202" algn="l" rtl="0" fontAlgn="base">
        <a:spcBef>
          <a:spcPct val="20000"/>
        </a:spcBef>
        <a:spcAft>
          <a:spcPct val="0"/>
        </a:spcAft>
        <a:buChar char="•"/>
        <a:defRPr sz="3600">
          <a:solidFill>
            <a:schemeClr val="tx1"/>
          </a:solidFill>
          <a:latin typeface="+mn-lt"/>
          <a:ea typeface="+mn-ea"/>
          <a:cs typeface="+mn-cs"/>
        </a:defRPr>
      </a:lvl1pPr>
      <a:lvl2pPr marL="825834" indent="-316540" algn="l" rtl="0" fontAlgn="base">
        <a:spcBef>
          <a:spcPct val="20000"/>
        </a:spcBef>
        <a:spcAft>
          <a:spcPct val="0"/>
        </a:spcAft>
        <a:buChar char="–"/>
        <a:defRPr sz="3100">
          <a:solidFill>
            <a:schemeClr val="tx1"/>
          </a:solidFill>
          <a:latin typeface="+mn-lt"/>
        </a:defRPr>
      </a:lvl2pPr>
      <a:lvl3pPr marL="1271465" indent="-252880" algn="l" rtl="0" fontAlgn="base">
        <a:spcBef>
          <a:spcPct val="20000"/>
        </a:spcBef>
        <a:spcAft>
          <a:spcPct val="0"/>
        </a:spcAft>
        <a:buChar char="•"/>
        <a:defRPr sz="2700">
          <a:solidFill>
            <a:schemeClr val="tx1"/>
          </a:solidFill>
          <a:latin typeface="+mn-lt"/>
        </a:defRPr>
      </a:lvl3pPr>
      <a:lvl4pPr marL="1780758" indent="-252880" algn="l" rtl="0" fontAlgn="base">
        <a:spcBef>
          <a:spcPct val="20000"/>
        </a:spcBef>
        <a:spcAft>
          <a:spcPct val="0"/>
        </a:spcAft>
        <a:buChar char="–"/>
        <a:defRPr sz="2200">
          <a:solidFill>
            <a:schemeClr val="tx1"/>
          </a:solidFill>
          <a:latin typeface="+mn-lt"/>
        </a:defRPr>
      </a:lvl4pPr>
      <a:lvl5pPr marL="2290051" indent="-252880" algn="l" rtl="0" fontAlgn="base">
        <a:spcBef>
          <a:spcPct val="20000"/>
        </a:spcBef>
        <a:spcAft>
          <a:spcPct val="0"/>
        </a:spcAft>
        <a:buChar char="»"/>
        <a:defRPr sz="2200">
          <a:solidFill>
            <a:schemeClr val="tx1"/>
          </a:solidFill>
          <a:latin typeface="+mn-lt"/>
        </a:defRPr>
      </a:lvl5pPr>
      <a:lvl6pPr marL="2799345" indent="-252880" algn="l" rtl="0" fontAlgn="base">
        <a:spcBef>
          <a:spcPct val="20000"/>
        </a:spcBef>
        <a:spcAft>
          <a:spcPct val="0"/>
        </a:spcAft>
        <a:buChar char="»"/>
        <a:defRPr sz="2200">
          <a:solidFill>
            <a:schemeClr val="tx1"/>
          </a:solidFill>
          <a:latin typeface="+mn-lt"/>
        </a:defRPr>
      </a:lvl6pPr>
      <a:lvl7pPr marL="3308637" indent="-252880" algn="l" rtl="0" fontAlgn="base">
        <a:spcBef>
          <a:spcPct val="20000"/>
        </a:spcBef>
        <a:spcAft>
          <a:spcPct val="0"/>
        </a:spcAft>
        <a:buChar char="»"/>
        <a:defRPr sz="2200">
          <a:solidFill>
            <a:schemeClr val="tx1"/>
          </a:solidFill>
          <a:latin typeface="+mn-lt"/>
        </a:defRPr>
      </a:lvl7pPr>
      <a:lvl8pPr marL="3817931" indent="-252880" algn="l" rtl="0" fontAlgn="base">
        <a:spcBef>
          <a:spcPct val="20000"/>
        </a:spcBef>
        <a:spcAft>
          <a:spcPct val="0"/>
        </a:spcAft>
        <a:buChar char="»"/>
        <a:defRPr sz="2200">
          <a:solidFill>
            <a:schemeClr val="tx1"/>
          </a:solidFill>
          <a:latin typeface="+mn-lt"/>
        </a:defRPr>
      </a:lvl8pPr>
      <a:lvl9pPr marL="4327224" indent="-252880" algn="l" rtl="0" fontAlgn="base">
        <a:spcBef>
          <a:spcPct val="20000"/>
        </a:spcBef>
        <a:spcAft>
          <a:spcPct val="0"/>
        </a:spcAft>
        <a:buChar char="»"/>
        <a:defRPr sz="2200">
          <a:solidFill>
            <a:schemeClr val="tx1"/>
          </a:solidFill>
          <a:latin typeface="+mn-lt"/>
        </a:defRPr>
      </a:lvl9pPr>
    </p:bodyStyle>
    <p:otherStyle>
      <a:defPPr>
        <a:defRPr lang="en-US"/>
      </a:defPPr>
      <a:lvl1pPr marL="0" algn="l" defTabSz="1018586" rtl="0" eaLnBrk="1" latinLnBrk="0" hangingPunct="1">
        <a:defRPr sz="2000" kern="1200">
          <a:solidFill>
            <a:schemeClr val="tx1"/>
          </a:solidFill>
          <a:latin typeface="+mn-lt"/>
          <a:ea typeface="+mn-ea"/>
          <a:cs typeface="+mn-cs"/>
        </a:defRPr>
      </a:lvl1pPr>
      <a:lvl2pPr marL="509292" algn="l" defTabSz="1018586" rtl="0" eaLnBrk="1" latinLnBrk="0" hangingPunct="1">
        <a:defRPr sz="2000" kern="1200">
          <a:solidFill>
            <a:schemeClr val="tx1"/>
          </a:solidFill>
          <a:latin typeface="+mn-lt"/>
          <a:ea typeface="+mn-ea"/>
          <a:cs typeface="+mn-cs"/>
        </a:defRPr>
      </a:lvl2pPr>
      <a:lvl3pPr marL="1018586" algn="l" defTabSz="1018586" rtl="0" eaLnBrk="1" latinLnBrk="0" hangingPunct="1">
        <a:defRPr sz="2000" kern="1200">
          <a:solidFill>
            <a:schemeClr val="tx1"/>
          </a:solidFill>
          <a:latin typeface="+mn-lt"/>
          <a:ea typeface="+mn-ea"/>
          <a:cs typeface="+mn-cs"/>
        </a:defRPr>
      </a:lvl3pPr>
      <a:lvl4pPr marL="1527879" algn="l" defTabSz="1018586" rtl="0" eaLnBrk="1" latinLnBrk="0" hangingPunct="1">
        <a:defRPr sz="2000" kern="1200">
          <a:solidFill>
            <a:schemeClr val="tx1"/>
          </a:solidFill>
          <a:latin typeface="+mn-lt"/>
          <a:ea typeface="+mn-ea"/>
          <a:cs typeface="+mn-cs"/>
        </a:defRPr>
      </a:lvl4pPr>
      <a:lvl5pPr marL="2037173" algn="l" defTabSz="1018586" rtl="0" eaLnBrk="1" latinLnBrk="0" hangingPunct="1">
        <a:defRPr sz="2000" kern="1200">
          <a:solidFill>
            <a:schemeClr val="tx1"/>
          </a:solidFill>
          <a:latin typeface="+mn-lt"/>
          <a:ea typeface="+mn-ea"/>
          <a:cs typeface="+mn-cs"/>
        </a:defRPr>
      </a:lvl5pPr>
      <a:lvl6pPr marL="2546466" algn="l" defTabSz="1018586" rtl="0" eaLnBrk="1" latinLnBrk="0" hangingPunct="1">
        <a:defRPr sz="2000" kern="1200">
          <a:solidFill>
            <a:schemeClr val="tx1"/>
          </a:solidFill>
          <a:latin typeface="+mn-lt"/>
          <a:ea typeface="+mn-ea"/>
          <a:cs typeface="+mn-cs"/>
        </a:defRPr>
      </a:lvl6pPr>
      <a:lvl7pPr marL="3055758" algn="l" defTabSz="1018586" rtl="0" eaLnBrk="1" latinLnBrk="0" hangingPunct="1">
        <a:defRPr sz="2000" kern="1200">
          <a:solidFill>
            <a:schemeClr val="tx1"/>
          </a:solidFill>
          <a:latin typeface="+mn-lt"/>
          <a:ea typeface="+mn-ea"/>
          <a:cs typeface="+mn-cs"/>
        </a:defRPr>
      </a:lvl7pPr>
      <a:lvl8pPr marL="3565052" algn="l" defTabSz="1018586" rtl="0" eaLnBrk="1" latinLnBrk="0" hangingPunct="1">
        <a:defRPr sz="2000" kern="1200">
          <a:solidFill>
            <a:schemeClr val="tx1"/>
          </a:solidFill>
          <a:latin typeface="+mn-lt"/>
          <a:ea typeface="+mn-ea"/>
          <a:cs typeface="+mn-cs"/>
        </a:defRPr>
      </a:lvl8pPr>
      <a:lvl9pPr marL="4074344" algn="l" defTabSz="1018586" rtl="0" eaLnBrk="1" latinLnBrk="0" hangingPunct="1">
        <a:defRPr sz="20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5602" name="Rectangle 3"/>
          <p:cNvSpPr>
            <a:spLocks noGrp="1" noChangeArrowheads="1"/>
          </p:cNvSpPr>
          <p:nvPr>
            <p:ph type="body" idx="1"/>
          </p:nvPr>
        </p:nvSpPr>
        <p:spPr bwMode="auto">
          <a:xfrm>
            <a:off x="2340501" y="1168402"/>
            <a:ext cx="7539782" cy="5813425"/>
          </a:xfrm>
          <a:prstGeom prst="rect">
            <a:avLst/>
          </a:prstGeom>
          <a:noFill/>
          <a:ln w="9525">
            <a:noFill/>
            <a:miter lim="800000"/>
            <a:headEnd/>
            <a:tailEnd/>
          </a:ln>
        </p:spPr>
        <p:txBody>
          <a:bodyPr vert="horz" wrap="square" lIns="101847" tIns="50923" rIns="101847" bIns="50923" numCol="1" anchor="t" anchorCtr="0" compatLnSpc="1">
            <a:prstTxWarp prst="textNoShape">
              <a:avLst/>
            </a:prstTxWarp>
          </a:bodyPr>
          <a:lstStyle/>
          <a:p>
            <a:pPr lvl="0"/>
            <a:r>
              <a:rPr lang="en-US" smtClean="0"/>
              <a:t>Click to edit Master text styles</a:t>
            </a:r>
          </a:p>
        </p:txBody>
      </p:sp>
      <p:sp>
        <p:nvSpPr>
          <p:cNvPr id="668703" name="Line 31"/>
          <p:cNvSpPr>
            <a:spLocks noChangeShapeType="1"/>
          </p:cNvSpPr>
          <p:nvPr/>
        </p:nvSpPr>
        <p:spPr bwMode="auto">
          <a:xfrm>
            <a:off x="2302546" y="1265239"/>
            <a:ext cx="0" cy="5968682"/>
          </a:xfrm>
          <a:prstGeom prst="line">
            <a:avLst/>
          </a:prstGeom>
          <a:noFill/>
          <a:ln w="3175">
            <a:solidFill>
              <a:schemeClr val="accent1"/>
            </a:solidFill>
            <a:round/>
            <a:headEnd/>
            <a:tailEnd/>
          </a:ln>
          <a:effectLst/>
        </p:spPr>
        <p:txBody>
          <a:bodyPr lIns="101858" tIns="50929" rIns="101858" bIns="50929"/>
          <a:lstStyle/>
          <a:p>
            <a:pPr defTabSz="914400" fontAlgn="base">
              <a:spcBef>
                <a:spcPct val="0"/>
              </a:spcBef>
              <a:spcAft>
                <a:spcPct val="0"/>
              </a:spcAft>
              <a:defRPr/>
            </a:pPr>
            <a:endParaRPr lang="en-US" sz="1800" dirty="0">
              <a:solidFill>
                <a:srgbClr val="000000"/>
              </a:solidFill>
              <a:latin typeface="Cambria" pitchFamily="18" charset="0"/>
            </a:endParaRPr>
          </a:p>
        </p:txBody>
      </p:sp>
      <p:sp>
        <p:nvSpPr>
          <p:cNvPr id="22" name="Rectangle 51"/>
          <p:cNvSpPr>
            <a:spLocks noChangeArrowheads="1"/>
          </p:cNvSpPr>
          <p:nvPr userDrawn="1"/>
        </p:nvSpPr>
        <p:spPr bwMode="auto">
          <a:xfrm>
            <a:off x="228600" y="230122"/>
            <a:ext cx="9601200" cy="649224"/>
          </a:xfrm>
          <a:prstGeom prst="rect">
            <a:avLst/>
          </a:prstGeom>
          <a:solidFill>
            <a:srgbClr val="2E398A"/>
          </a:solidFill>
          <a:ln w="9525">
            <a:noFill/>
            <a:miter lim="800000"/>
            <a:headEnd/>
            <a:tailEnd/>
          </a:ln>
          <a:effectLst/>
        </p:spPr>
        <p:txBody>
          <a:bodyPr wrap="none" lIns="101847" tIns="50923" rIns="101847" bIns="50923" anchor="ctr"/>
          <a:lstStyle/>
          <a:p>
            <a:pPr defTabSz="914400" fontAlgn="base">
              <a:spcBef>
                <a:spcPct val="0"/>
              </a:spcBef>
              <a:spcAft>
                <a:spcPct val="0"/>
              </a:spcAft>
              <a:defRPr/>
            </a:pPr>
            <a:endParaRPr lang="en-US" sz="1800" dirty="0">
              <a:solidFill>
                <a:srgbClr val="000000"/>
              </a:solidFill>
              <a:latin typeface="Cambria" pitchFamily="18" charset="0"/>
            </a:endParaRPr>
          </a:p>
        </p:txBody>
      </p:sp>
      <p:sp>
        <p:nvSpPr>
          <p:cNvPr id="23" name="Line 54"/>
          <p:cNvSpPr>
            <a:spLocks noChangeShapeType="1"/>
          </p:cNvSpPr>
          <p:nvPr userDrawn="1"/>
        </p:nvSpPr>
        <p:spPr bwMode="auto">
          <a:xfrm>
            <a:off x="43657" y="1126278"/>
            <a:ext cx="9971088" cy="0"/>
          </a:xfrm>
          <a:prstGeom prst="line">
            <a:avLst/>
          </a:prstGeom>
          <a:noFill/>
          <a:ln w="3175">
            <a:solidFill>
              <a:schemeClr val="bg1"/>
            </a:solidFill>
            <a:round/>
            <a:headEnd/>
            <a:tailEnd/>
          </a:ln>
          <a:effectLst/>
        </p:spPr>
        <p:txBody>
          <a:bodyPr lIns="101847" tIns="50923" rIns="101847" bIns="50923"/>
          <a:lstStyle/>
          <a:p>
            <a:pPr defTabSz="914400" fontAlgn="base">
              <a:spcBef>
                <a:spcPct val="0"/>
              </a:spcBef>
              <a:spcAft>
                <a:spcPct val="0"/>
              </a:spcAft>
              <a:defRPr/>
            </a:pPr>
            <a:endParaRPr lang="en-US" sz="1800" dirty="0">
              <a:solidFill>
                <a:srgbClr val="000000"/>
              </a:solidFill>
              <a:latin typeface="Cambria" pitchFamily="18" charset="0"/>
            </a:endParaRPr>
          </a:p>
        </p:txBody>
      </p:sp>
      <p:sp>
        <p:nvSpPr>
          <p:cNvPr id="24" name="Rectangle 2"/>
          <p:cNvSpPr>
            <a:spLocks noGrp="1" noChangeArrowheads="1"/>
          </p:cNvSpPr>
          <p:nvPr>
            <p:ph type="title"/>
          </p:nvPr>
        </p:nvSpPr>
        <p:spPr bwMode="auto">
          <a:xfrm>
            <a:off x="2518975" y="220861"/>
            <a:ext cx="7280116" cy="644102"/>
          </a:xfrm>
          <a:prstGeom prst="rect">
            <a:avLst/>
          </a:prstGeom>
          <a:noFill/>
          <a:ln w="9525">
            <a:noFill/>
            <a:miter lim="800000"/>
            <a:headEnd/>
            <a:tailEnd/>
          </a:ln>
        </p:spPr>
        <p:txBody>
          <a:bodyPr vert="horz" wrap="square" lIns="101847" tIns="50923" rIns="101847" bIns="50923" numCol="1" anchor="t" anchorCtr="0" compatLnSpc="1">
            <a:prstTxWarp prst="textNoShape">
              <a:avLst/>
            </a:prstTxWarp>
          </a:bodyPr>
          <a:lstStyle/>
          <a:p>
            <a:pPr lvl="0"/>
            <a:r>
              <a:rPr lang="en-US" dirty="0" smtClean="0"/>
              <a:t>Click to edit Master title style</a:t>
            </a:r>
          </a:p>
        </p:txBody>
      </p:sp>
      <p:pic>
        <p:nvPicPr>
          <p:cNvPr id="50" name="Picture 20" descr="Cello_LOGO_Horizontal_Short.png"/>
          <p:cNvPicPr>
            <a:picLocks noChangeAspect="1"/>
          </p:cNvPicPr>
          <p:nvPr userDrawn="1"/>
        </p:nvPicPr>
        <p:blipFill>
          <a:blip r:embed="rId3" cstate="print"/>
          <a:srcRect/>
          <a:stretch>
            <a:fillRect/>
          </a:stretch>
        </p:blipFill>
        <p:spPr bwMode="auto">
          <a:xfrm>
            <a:off x="308121" y="322236"/>
            <a:ext cx="2416810" cy="451590"/>
          </a:xfrm>
          <a:prstGeom prst="rect">
            <a:avLst/>
          </a:prstGeom>
          <a:noFill/>
          <a:ln w="9525">
            <a:noFill/>
            <a:miter lim="800000"/>
            <a:headEnd/>
            <a:tailEnd/>
          </a:ln>
        </p:spPr>
      </p:pic>
      <p:sp>
        <p:nvSpPr>
          <p:cNvPr id="21" name="Rectangle 200"/>
          <p:cNvSpPr>
            <a:spLocks noChangeArrowheads="1"/>
          </p:cNvSpPr>
          <p:nvPr userDrawn="1"/>
        </p:nvSpPr>
        <p:spPr bwMode="auto">
          <a:xfrm>
            <a:off x="228602" y="7333576"/>
            <a:ext cx="827723" cy="213400"/>
          </a:xfrm>
          <a:prstGeom prst="rect">
            <a:avLst/>
          </a:prstGeom>
          <a:noFill/>
          <a:ln w="9525">
            <a:noFill/>
            <a:miter lim="800000"/>
            <a:headEnd/>
            <a:tailEnd/>
          </a:ln>
          <a:effectLst/>
        </p:spPr>
        <p:txBody>
          <a:bodyPr lIns="0" tIns="0" rIns="0" bIns="0" anchor="b"/>
          <a:lstStyle/>
          <a:p>
            <a:pPr defTabSz="914400" fontAlgn="base">
              <a:spcBef>
                <a:spcPct val="0"/>
              </a:spcBef>
              <a:spcAft>
                <a:spcPct val="0"/>
              </a:spcAft>
              <a:defRPr/>
            </a:pPr>
            <a:r>
              <a:rPr lang="en-US" sz="900" b="1" dirty="0">
                <a:solidFill>
                  <a:srgbClr val="203353"/>
                </a:solidFill>
              </a:rPr>
              <a:t>PAGE </a:t>
            </a:r>
            <a:fld id="{54B17DE0-6D87-48AB-BBA0-9128AA86CC3B}" type="slidenum">
              <a:rPr lang="en-US" sz="900" b="1">
                <a:solidFill>
                  <a:srgbClr val="203353"/>
                </a:solidFill>
              </a:rPr>
              <a:pPr defTabSz="914400" fontAlgn="base">
                <a:spcBef>
                  <a:spcPct val="0"/>
                </a:spcBef>
                <a:spcAft>
                  <a:spcPct val="0"/>
                </a:spcAft>
                <a:defRPr/>
              </a:pPr>
              <a:t>‹#›</a:t>
            </a:fld>
            <a:endParaRPr lang="en-US" sz="900" b="1" dirty="0">
              <a:solidFill>
                <a:srgbClr val="203353"/>
              </a:solidFill>
            </a:endParaRPr>
          </a:p>
        </p:txBody>
      </p:sp>
      <p:cxnSp>
        <p:nvCxnSpPr>
          <p:cNvPr id="34" name="Straight Connector 33"/>
          <p:cNvCxnSpPr/>
          <p:nvPr userDrawn="1"/>
        </p:nvCxnSpPr>
        <p:spPr>
          <a:xfrm>
            <a:off x="228600" y="7240271"/>
            <a:ext cx="9601200" cy="0"/>
          </a:xfrm>
          <a:prstGeom prst="line">
            <a:avLst/>
          </a:prstGeom>
          <a:ln w="25400"/>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972636562"/>
      </p:ext>
    </p:extLst>
  </p:cSld>
  <p:clrMap bg1="lt1" tx1="dk1" bg2="lt2" tx2="dk2" accent1="accent1" accent2="accent2" accent3="accent3" accent4="accent4" accent5="accent5" accent6="accent6" hlink="hlink" folHlink="folHlink"/>
  <p:sldLayoutIdLst>
    <p:sldLayoutId id="2147483677" r:id="rId1"/>
  </p:sldLayoutIdLst>
  <p:timing>
    <p:tnLst>
      <p:par>
        <p:cTn id="1" dur="indefinite" restart="never" nodeType="tmRoot"/>
      </p:par>
    </p:tnLst>
  </p:timing>
  <p:txStyles>
    <p:titleStyle>
      <a:lvl1pPr algn="r" rtl="0" eaLnBrk="0" fontAlgn="base" hangingPunct="0">
        <a:spcBef>
          <a:spcPct val="0"/>
        </a:spcBef>
        <a:spcAft>
          <a:spcPct val="0"/>
        </a:spcAft>
        <a:defRPr sz="1400" b="1">
          <a:solidFill>
            <a:schemeClr val="bg1"/>
          </a:solidFill>
          <a:latin typeface="+mj-lt"/>
          <a:ea typeface="+mj-ea"/>
          <a:cs typeface="+mj-cs"/>
        </a:defRPr>
      </a:lvl1pPr>
      <a:lvl2pPr algn="r" rtl="0" eaLnBrk="0" fontAlgn="base" hangingPunct="0">
        <a:spcBef>
          <a:spcPct val="0"/>
        </a:spcBef>
        <a:spcAft>
          <a:spcPct val="0"/>
        </a:spcAft>
        <a:defRPr sz="1400" b="1">
          <a:solidFill>
            <a:schemeClr val="bg1"/>
          </a:solidFill>
          <a:latin typeface="Calibri" pitchFamily="34" charset="0"/>
        </a:defRPr>
      </a:lvl2pPr>
      <a:lvl3pPr algn="r" rtl="0" eaLnBrk="0" fontAlgn="base" hangingPunct="0">
        <a:spcBef>
          <a:spcPct val="0"/>
        </a:spcBef>
        <a:spcAft>
          <a:spcPct val="0"/>
        </a:spcAft>
        <a:defRPr sz="1400" b="1">
          <a:solidFill>
            <a:schemeClr val="bg1"/>
          </a:solidFill>
          <a:latin typeface="Calibri" pitchFamily="34" charset="0"/>
        </a:defRPr>
      </a:lvl3pPr>
      <a:lvl4pPr algn="r" rtl="0" eaLnBrk="0" fontAlgn="base" hangingPunct="0">
        <a:spcBef>
          <a:spcPct val="0"/>
        </a:spcBef>
        <a:spcAft>
          <a:spcPct val="0"/>
        </a:spcAft>
        <a:defRPr sz="1400" b="1">
          <a:solidFill>
            <a:schemeClr val="bg1"/>
          </a:solidFill>
          <a:latin typeface="Calibri" pitchFamily="34" charset="0"/>
        </a:defRPr>
      </a:lvl4pPr>
      <a:lvl5pPr algn="r" rtl="0" eaLnBrk="0" fontAlgn="base" hangingPunct="0">
        <a:spcBef>
          <a:spcPct val="0"/>
        </a:spcBef>
        <a:spcAft>
          <a:spcPct val="0"/>
        </a:spcAft>
        <a:defRPr sz="1400" b="1">
          <a:solidFill>
            <a:schemeClr val="bg1"/>
          </a:solidFill>
          <a:latin typeface="Calibri" pitchFamily="34" charset="0"/>
        </a:defRPr>
      </a:lvl5pPr>
      <a:lvl6pPr marL="509292" algn="r" rtl="0" fontAlgn="base">
        <a:spcBef>
          <a:spcPct val="0"/>
        </a:spcBef>
        <a:spcAft>
          <a:spcPct val="0"/>
        </a:spcAft>
        <a:defRPr sz="1900">
          <a:solidFill>
            <a:schemeClr val="bg1"/>
          </a:solidFill>
          <a:latin typeface="Calibri" pitchFamily="34" charset="0"/>
        </a:defRPr>
      </a:lvl6pPr>
      <a:lvl7pPr marL="1018586" algn="r" rtl="0" fontAlgn="base">
        <a:spcBef>
          <a:spcPct val="0"/>
        </a:spcBef>
        <a:spcAft>
          <a:spcPct val="0"/>
        </a:spcAft>
        <a:defRPr sz="1900">
          <a:solidFill>
            <a:schemeClr val="bg1"/>
          </a:solidFill>
          <a:latin typeface="Calibri" pitchFamily="34" charset="0"/>
        </a:defRPr>
      </a:lvl7pPr>
      <a:lvl8pPr marL="1527879" algn="r" rtl="0" fontAlgn="base">
        <a:spcBef>
          <a:spcPct val="0"/>
        </a:spcBef>
        <a:spcAft>
          <a:spcPct val="0"/>
        </a:spcAft>
        <a:defRPr sz="1900">
          <a:solidFill>
            <a:schemeClr val="bg1"/>
          </a:solidFill>
          <a:latin typeface="Calibri" pitchFamily="34" charset="0"/>
        </a:defRPr>
      </a:lvl8pPr>
      <a:lvl9pPr marL="2037173" algn="r" rtl="0" fontAlgn="base">
        <a:spcBef>
          <a:spcPct val="0"/>
        </a:spcBef>
        <a:spcAft>
          <a:spcPct val="0"/>
        </a:spcAft>
        <a:defRPr sz="1900">
          <a:solidFill>
            <a:schemeClr val="bg1"/>
          </a:solidFill>
          <a:latin typeface="Calibri" pitchFamily="34" charset="0"/>
        </a:defRPr>
      </a:lvl9pPr>
    </p:titleStyle>
    <p:bodyStyle>
      <a:lvl1pPr algn="just" rtl="0" eaLnBrk="0" fontAlgn="base" hangingPunct="0">
        <a:spcBef>
          <a:spcPct val="47000"/>
        </a:spcBef>
        <a:spcAft>
          <a:spcPct val="0"/>
        </a:spcAft>
        <a:buClr>
          <a:schemeClr val="tx2"/>
        </a:buClr>
        <a:defRPr sz="1200">
          <a:solidFill>
            <a:schemeClr val="tx1"/>
          </a:solidFill>
          <a:latin typeface="+mn-lt"/>
          <a:ea typeface="+mn-ea"/>
          <a:cs typeface="+mn-cs"/>
        </a:defRPr>
      </a:lvl1pPr>
      <a:lvl2pPr marL="1769" algn="l" rtl="0" eaLnBrk="0" fontAlgn="base" hangingPunct="0">
        <a:spcBef>
          <a:spcPct val="47000"/>
        </a:spcBef>
        <a:spcAft>
          <a:spcPct val="0"/>
        </a:spcAft>
        <a:buClr>
          <a:schemeClr val="tx2"/>
        </a:buClr>
        <a:buFont typeface="Times" pitchFamily="18" charset="0"/>
        <a:defRPr sz="1200">
          <a:solidFill>
            <a:schemeClr val="tx1"/>
          </a:solidFill>
          <a:latin typeface="+mn-lt"/>
        </a:defRPr>
      </a:lvl2pPr>
      <a:lvl3pPr marL="3538" algn="l" rtl="0" eaLnBrk="0" fontAlgn="base" hangingPunct="0">
        <a:spcBef>
          <a:spcPct val="20000"/>
        </a:spcBef>
        <a:spcAft>
          <a:spcPct val="0"/>
        </a:spcAft>
        <a:buClr>
          <a:schemeClr val="tx2"/>
        </a:buClr>
        <a:buFont typeface="Times" pitchFamily="18" charset="0"/>
        <a:defRPr sz="1200">
          <a:solidFill>
            <a:schemeClr val="tx1"/>
          </a:solidFill>
          <a:latin typeface="+mn-lt"/>
        </a:defRPr>
      </a:lvl3pPr>
      <a:lvl4pPr marL="1780758" indent="-252880" algn="l" rtl="0" eaLnBrk="0" fontAlgn="base" hangingPunct="0">
        <a:spcBef>
          <a:spcPct val="20000"/>
        </a:spcBef>
        <a:spcAft>
          <a:spcPct val="0"/>
        </a:spcAft>
        <a:buChar char="–"/>
        <a:defRPr sz="1600">
          <a:solidFill>
            <a:schemeClr val="tx1"/>
          </a:solidFill>
          <a:latin typeface="Arial" charset="0"/>
        </a:defRPr>
      </a:lvl4pPr>
      <a:lvl5pPr marL="2290051" indent="-252880" algn="l" rtl="0" eaLnBrk="0" fontAlgn="base" hangingPunct="0">
        <a:spcBef>
          <a:spcPct val="20000"/>
        </a:spcBef>
        <a:spcAft>
          <a:spcPct val="0"/>
        </a:spcAft>
        <a:buChar char="»"/>
        <a:defRPr sz="1600">
          <a:solidFill>
            <a:schemeClr val="tx1"/>
          </a:solidFill>
          <a:latin typeface="Arial" charset="0"/>
        </a:defRPr>
      </a:lvl5pPr>
      <a:lvl6pPr marL="2799345" indent="-252880" algn="l" rtl="0" fontAlgn="base">
        <a:spcBef>
          <a:spcPct val="20000"/>
        </a:spcBef>
        <a:spcAft>
          <a:spcPct val="0"/>
        </a:spcAft>
        <a:buChar char="»"/>
        <a:defRPr sz="1600">
          <a:solidFill>
            <a:schemeClr val="tx1"/>
          </a:solidFill>
          <a:latin typeface="Arial" charset="0"/>
        </a:defRPr>
      </a:lvl6pPr>
      <a:lvl7pPr marL="3308637" indent="-252880" algn="l" rtl="0" fontAlgn="base">
        <a:spcBef>
          <a:spcPct val="20000"/>
        </a:spcBef>
        <a:spcAft>
          <a:spcPct val="0"/>
        </a:spcAft>
        <a:buChar char="»"/>
        <a:defRPr sz="1600">
          <a:solidFill>
            <a:schemeClr val="tx1"/>
          </a:solidFill>
          <a:latin typeface="Arial" charset="0"/>
        </a:defRPr>
      </a:lvl7pPr>
      <a:lvl8pPr marL="3817931" indent="-252880" algn="l" rtl="0" fontAlgn="base">
        <a:spcBef>
          <a:spcPct val="20000"/>
        </a:spcBef>
        <a:spcAft>
          <a:spcPct val="0"/>
        </a:spcAft>
        <a:buChar char="»"/>
        <a:defRPr sz="1600">
          <a:solidFill>
            <a:schemeClr val="tx1"/>
          </a:solidFill>
          <a:latin typeface="Arial" charset="0"/>
        </a:defRPr>
      </a:lvl8pPr>
      <a:lvl9pPr marL="4327224" indent="-252880" algn="l" rtl="0" fontAlgn="base">
        <a:spcBef>
          <a:spcPct val="20000"/>
        </a:spcBef>
        <a:spcAft>
          <a:spcPct val="0"/>
        </a:spcAft>
        <a:buChar char="»"/>
        <a:defRPr sz="1600">
          <a:solidFill>
            <a:schemeClr val="tx1"/>
          </a:solidFill>
          <a:latin typeface="Arial" charset="0"/>
        </a:defRPr>
      </a:lvl9pPr>
    </p:bodyStyle>
    <p:otherStyle>
      <a:defPPr>
        <a:defRPr lang="en-US"/>
      </a:defPPr>
      <a:lvl1pPr marL="0" algn="l" defTabSz="1018586" rtl="0" eaLnBrk="1" latinLnBrk="0" hangingPunct="1">
        <a:defRPr sz="2000" kern="1200">
          <a:solidFill>
            <a:schemeClr val="tx1"/>
          </a:solidFill>
          <a:latin typeface="+mn-lt"/>
          <a:ea typeface="+mn-ea"/>
          <a:cs typeface="+mn-cs"/>
        </a:defRPr>
      </a:lvl1pPr>
      <a:lvl2pPr marL="509292" algn="l" defTabSz="1018586" rtl="0" eaLnBrk="1" latinLnBrk="0" hangingPunct="1">
        <a:defRPr sz="2000" kern="1200">
          <a:solidFill>
            <a:schemeClr val="tx1"/>
          </a:solidFill>
          <a:latin typeface="+mn-lt"/>
          <a:ea typeface="+mn-ea"/>
          <a:cs typeface="+mn-cs"/>
        </a:defRPr>
      </a:lvl2pPr>
      <a:lvl3pPr marL="1018586" algn="l" defTabSz="1018586" rtl="0" eaLnBrk="1" latinLnBrk="0" hangingPunct="1">
        <a:defRPr sz="2000" kern="1200">
          <a:solidFill>
            <a:schemeClr val="tx1"/>
          </a:solidFill>
          <a:latin typeface="+mn-lt"/>
          <a:ea typeface="+mn-ea"/>
          <a:cs typeface="+mn-cs"/>
        </a:defRPr>
      </a:lvl3pPr>
      <a:lvl4pPr marL="1527879" algn="l" defTabSz="1018586" rtl="0" eaLnBrk="1" latinLnBrk="0" hangingPunct="1">
        <a:defRPr sz="2000" kern="1200">
          <a:solidFill>
            <a:schemeClr val="tx1"/>
          </a:solidFill>
          <a:latin typeface="+mn-lt"/>
          <a:ea typeface="+mn-ea"/>
          <a:cs typeface="+mn-cs"/>
        </a:defRPr>
      </a:lvl4pPr>
      <a:lvl5pPr marL="2037173" algn="l" defTabSz="1018586" rtl="0" eaLnBrk="1" latinLnBrk="0" hangingPunct="1">
        <a:defRPr sz="2000" kern="1200">
          <a:solidFill>
            <a:schemeClr val="tx1"/>
          </a:solidFill>
          <a:latin typeface="+mn-lt"/>
          <a:ea typeface="+mn-ea"/>
          <a:cs typeface="+mn-cs"/>
        </a:defRPr>
      </a:lvl5pPr>
      <a:lvl6pPr marL="2546466" algn="l" defTabSz="1018586" rtl="0" eaLnBrk="1" latinLnBrk="0" hangingPunct="1">
        <a:defRPr sz="2000" kern="1200">
          <a:solidFill>
            <a:schemeClr val="tx1"/>
          </a:solidFill>
          <a:latin typeface="+mn-lt"/>
          <a:ea typeface="+mn-ea"/>
          <a:cs typeface="+mn-cs"/>
        </a:defRPr>
      </a:lvl6pPr>
      <a:lvl7pPr marL="3055758" algn="l" defTabSz="1018586" rtl="0" eaLnBrk="1" latinLnBrk="0" hangingPunct="1">
        <a:defRPr sz="2000" kern="1200">
          <a:solidFill>
            <a:schemeClr val="tx1"/>
          </a:solidFill>
          <a:latin typeface="+mn-lt"/>
          <a:ea typeface="+mn-ea"/>
          <a:cs typeface="+mn-cs"/>
        </a:defRPr>
      </a:lvl7pPr>
      <a:lvl8pPr marL="3565052" algn="l" defTabSz="1018586" rtl="0" eaLnBrk="1" latinLnBrk="0" hangingPunct="1">
        <a:defRPr sz="2000" kern="1200">
          <a:solidFill>
            <a:schemeClr val="tx1"/>
          </a:solidFill>
          <a:latin typeface="+mn-lt"/>
          <a:ea typeface="+mn-ea"/>
          <a:cs typeface="+mn-cs"/>
        </a:defRPr>
      </a:lvl8pPr>
      <a:lvl9pPr marL="4074344" algn="l" defTabSz="1018586" rtl="0" eaLnBrk="1" latinLnBrk="0" hangingPunct="1">
        <a:defRPr sz="20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0.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4.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4.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4.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4.xml"/></Relationships>
</file>

<file path=ppt/slides/_rels/slide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6.xml"/><Relationship Id="rId1" Type="http://schemas.openxmlformats.org/officeDocument/2006/relationships/slideLayout" Target="../slideLayouts/slideLayout18.xml"/><Relationship Id="rId5" Type="http://schemas.openxmlformats.org/officeDocument/2006/relationships/chart" Target="../charts/chart2.xml"/><Relationship Id="rId4" Type="http://schemas.openxmlformats.org/officeDocument/2006/relationships/chart" Target="../charts/chart1.xml"/></Relationships>
</file>

<file path=ppt/slides/_rels/slide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7.xml"/><Relationship Id="rId1" Type="http://schemas.openxmlformats.org/officeDocument/2006/relationships/slideLayout" Target="../slideLayouts/slideLayout21.xml"/><Relationship Id="rId4" Type="http://schemas.openxmlformats.org/officeDocument/2006/relationships/image" Target="../media/image10.png"/></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4.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4.xml"/></Relationships>
</file>

<file path=ppt/slides/_rels/slide10.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0.xml"/><Relationship Id="rId1" Type="http://schemas.openxmlformats.org/officeDocument/2006/relationships/slideLayout" Target="../slideLayouts/slideLayout18.xml"/><Relationship Id="rId4" Type="http://schemas.openxmlformats.org/officeDocument/2006/relationships/image" Target="../media/image11.png"/></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 Box 88"/>
          <p:cNvSpPr txBox="1">
            <a:spLocks noChangeArrowheads="1"/>
          </p:cNvSpPr>
          <p:nvPr/>
        </p:nvSpPr>
        <p:spPr bwMode="auto">
          <a:xfrm>
            <a:off x="3321171" y="6084608"/>
            <a:ext cx="6370526" cy="856893"/>
          </a:xfrm>
          <a:prstGeom prst="rect">
            <a:avLst/>
          </a:prstGeom>
          <a:noFill/>
          <a:ln w="9525">
            <a:noFill/>
            <a:miter lim="800000"/>
            <a:headEnd/>
            <a:tailEnd/>
          </a:ln>
        </p:spPr>
        <p:txBody>
          <a:bodyPr vert="horz" wrap="square" lIns="101847" tIns="50923" rIns="101847" bIns="50923" numCol="1" anchor="t" anchorCtr="0" compatLnSpc="1">
            <a:prstTxWarp prst="textNoShape">
              <a:avLst/>
            </a:prstTxWarp>
            <a:spAutoFit/>
          </a:bodyPr>
          <a:lstStyle/>
          <a:p>
            <a:pPr algn="r" defTabSz="1018586" fontAlgn="base">
              <a:spcBef>
                <a:spcPct val="0"/>
              </a:spcBef>
              <a:spcAft>
                <a:spcPct val="0"/>
              </a:spcAft>
            </a:pPr>
            <a:r>
              <a:rPr lang="en-US" sz="3100" dirty="0" smtClean="0">
                <a:solidFill>
                  <a:srgbClr val="968880"/>
                </a:solidFill>
                <a:latin typeface="Calibri" pitchFamily="34" charset="0"/>
              </a:rPr>
              <a:t>The U.S. Repo Market</a:t>
            </a:r>
            <a:endParaRPr lang="en-US" sz="3100" dirty="0">
              <a:solidFill>
                <a:srgbClr val="968880"/>
              </a:solidFill>
              <a:latin typeface="Calibri" pitchFamily="34" charset="0"/>
            </a:endParaRPr>
          </a:p>
          <a:p>
            <a:pPr algn="r" defTabSz="1018586" fontAlgn="base">
              <a:spcBef>
                <a:spcPct val="0"/>
              </a:spcBef>
              <a:spcAft>
                <a:spcPct val="0"/>
              </a:spcAft>
            </a:pPr>
            <a:r>
              <a:rPr lang="en-US" sz="1800" dirty="0" smtClean="0">
                <a:solidFill>
                  <a:srgbClr val="203353"/>
                </a:solidFill>
                <a:latin typeface="Calibri" pitchFamily="34" charset="0"/>
              </a:rPr>
              <a:t>December 2015</a:t>
            </a:r>
            <a:endParaRPr lang="en-US" sz="1800" dirty="0">
              <a:solidFill>
                <a:srgbClr val="203353"/>
              </a:solidFill>
              <a:latin typeface="Arial" pitchFamily="34" charset="0"/>
            </a:endParaRPr>
          </a:p>
        </p:txBody>
      </p:sp>
    </p:spTree>
    <p:extLst>
      <p:ext uri="{BB962C8B-B14F-4D97-AF65-F5344CB8AC3E}">
        <p14:creationId xmlns:p14="http://schemas.microsoft.com/office/powerpoint/2010/main" val="2437016538"/>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 name="Rectangle 54"/>
          <p:cNvSpPr/>
          <p:nvPr/>
        </p:nvSpPr>
        <p:spPr>
          <a:xfrm>
            <a:off x="2667000" y="3200400"/>
            <a:ext cx="6553200" cy="1447800"/>
          </a:xfrm>
          <a:prstGeom prst="rect">
            <a:avLst/>
          </a:prstGeom>
          <a:solidFill>
            <a:schemeClr val="accent3">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p:cNvSpPr/>
          <p:nvPr/>
        </p:nvSpPr>
        <p:spPr>
          <a:xfrm>
            <a:off x="2667000" y="1371600"/>
            <a:ext cx="6553200" cy="1447800"/>
          </a:xfrm>
          <a:prstGeom prst="rect">
            <a:avLst/>
          </a:prstGeom>
          <a:solidFill>
            <a:schemeClr val="accent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p:txBody>
          <a:bodyPr/>
          <a:lstStyle/>
          <a:p>
            <a:r>
              <a:rPr lang="en-US" dirty="0" smtClean="0"/>
              <a:t>A STANDARD BILATERAL REPO TRANSACTION</a:t>
            </a:r>
            <a:endParaRPr lang="en-US" dirty="0"/>
          </a:p>
        </p:txBody>
      </p:sp>
      <p:sp>
        <p:nvSpPr>
          <p:cNvPr id="73" name="Content Placeholder 12"/>
          <p:cNvSpPr>
            <a:spLocks noGrp="1"/>
          </p:cNvSpPr>
          <p:nvPr>
            <p:ph idx="1"/>
          </p:nvPr>
        </p:nvSpPr>
        <p:spPr>
          <a:xfrm>
            <a:off x="293687" y="1235075"/>
            <a:ext cx="1839913" cy="5927725"/>
          </a:xfrm>
        </p:spPr>
        <p:txBody>
          <a:bodyPr/>
          <a:lstStyle/>
          <a:p>
            <a:pPr>
              <a:lnSpc>
                <a:spcPct val="100000"/>
              </a:lnSpc>
              <a:spcBef>
                <a:spcPts val="0"/>
              </a:spcBef>
            </a:pPr>
            <a:r>
              <a:rPr lang="en-US" sz="1100" dirty="0" smtClean="0">
                <a:solidFill>
                  <a:schemeClr val="tx1"/>
                </a:solidFill>
                <a:latin typeface="+mn-lt"/>
              </a:rPr>
              <a:t>Repurchase (Repo) </a:t>
            </a:r>
            <a:r>
              <a:rPr lang="en-US" sz="1100" b="0" dirty="0" smtClean="0">
                <a:solidFill>
                  <a:schemeClr val="tx1"/>
                </a:solidFill>
                <a:latin typeface="+mn-lt"/>
              </a:rPr>
              <a:t>transactions are agreements between a </a:t>
            </a:r>
            <a:r>
              <a:rPr lang="en-US" sz="1100" dirty="0" smtClean="0">
                <a:solidFill>
                  <a:schemeClr val="tx1"/>
                </a:solidFill>
                <a:latin typeface="+mn-lt"/>
              </a:rPr>
              <a:t>collateral provider </a:t>
            </a:r>
            <a:r>
              <a:rPr lang="en-US" sz="1100" dirty="0" smtClean="0">
                <a:solidFill>
                  <a:schemeClr val="tx1"/>
                </a:solidFill>
                <a:latin typeface="+mn-lt"/>
              </a:rPr>
              <a:t>(seller) </a:t>
            </a:r>
            <a:r>
              <a:rPr lang="en-US" sz="1100" b="0" dirty="0" smtClean="0">
                <a:solidFill>
                  <a:schemeClr val="tx1"/>
                </a:solidFill>
                <a:latin typeface="+mn-lt"/>
              </a:rPr>
              <a:t>and </a:t>
            </a:r>
            <a:r>
              <a:rPr lang="en-US" sz="1100" dirty="0" smtClean="0">
                <a:solidFill>
                  <a:schemeClr val="tx1"/>
                </a:solidFill>
                <a:latin typeface="+mn-lt"/>
              </a:rPr>
              <a:t>a cash investor </a:t>
            </a:r>
            <a:r>
              <a:rPr lang="en-US" sz="1100" dirty="0" smtClean="0">
                <a:solidFill>
                  <a:schemeClr val="tx1"/>
                </a:solidFill>
                <a:latin typeface="+mn-lt"/>
              </a:rPr>
              <a:t>(buyer) </a:t>
            </a:r>
            <a:r>
              <a:rPr lang="en-US" sz="1100" b="0" dirty="0" smtClean="0">
                <a:solidFill>
                  <a:schemeClr val="tx1"/>
                </a:solidFill>
                <a:latin typeface="+mn-lt"/>
              </a:rPr>
              <a:t>in </a:t>
            </a:r>
            <a:r>
              <a:rPr lang="en-US" sz="1100" b="0" dirty="0" smtClean="0">
                <a:solidFill>
                  <a:schemeClr val="tx1"/>
                </a:solidFill>
                <a:latin typeface="+mn-lt"/>
              </a:rPr>
              <a:t>which the provider sells securities to the investor with a simultaneous agreement to repurchase the securities at an agreed-upon price at a future point in time. The seller is charged interest (at the </a:t>
            </a:r>
            <a:r>
              <a:rPr lang="en-US" sz="1100" dirty="0" smtClean="0">
                <a:solidFill>
                  <a:schemeClr val="tx1"/>
                </a:solidFill>
                <a:latin typeface="+mn-lt"/>
              </a:rPr>
              <a:t>repo rate</a:t>
            </a:r>
            <a:r>
              <a:rPr lang="en-US" sz="1100" b="0" dirty="0" smtClean="0">
                <a:solidFill>
                  <a:schemeClr val="tx1"/>
                </a:solidFill>
                <a:latin typeface="+mn-lt"/>
              </a:rPr>
              <a:t>) for the use of funds. The cash investor is said to have entered into a </a:t>
            </a:r>
            <a:r>
              <a:rPr lang="en-US" sz="1100" dirty="0" smtClean="0">
                <a:solidFill>
                  <a:schemeClr val="tx1"/>
                </a:solidFill>
                <a:latin typeface="+mn-lt"/>
              </a:rPr>
              <a:t>reverse repurchase </a:t>
            </a:r>
            <a:r>
              <a:rPr lang="en-US" sz="1100" b="0" dirty="0" smtClean="0">
                <a:solidFill>
                  <a:schemeClr val="tx1"/>
                </a:solidFill>
                <a:latin typeface="+mn-lt"/>
              </a:rPr>
              <a:t>(</a:t>
            </a:r>
            <a:r>
              <a:rPr lang="en-US" sz="1100" dirty="0" smtClean="0">
                <a:solidFill>
                  <a:schemeClr val="tx1"/>
                </a:solidFill>
                <a:latin typeface="+mn-lt"/>
              </a:rPr>
              <a:t>reverse repo</a:t>
            </a:r>
            <a:r>
              <a:rPr lang="en-US" sz="1100" b="0" dirty="0" smtClean="0">
                <a:solidFill>
                  <a:schemeClr val="tx1"/>
                </a:solidFill>
                <a:latin typeface="+mn-lt"/>
              </a:rPr>
              <a:t>) agreement.</a:t>
            </a:r>
            <a:r>
              <a:rPr lang="en-US" sz="1100" dirty="0" smtClean="0">
                <a:solidFill>
                  <a:schemeClr val="tx1"/>
                </a:solidFill>
                <a:latin typeface="+mn-lt"/>
              </a:rPr>
              <a:t> </a:t>
            </a:r>
          </a:p>
          <a:p>
            <a:pPr>
              <a:lnSpc>
                <a:spcPct val="100000"/>
              </a:lnSpc>
              <a:spcBef>
                <a:spcPts val="0"/>
              </a:spcBef>
            </a:pPr>
            <a:endParaRPr lang="en-US" sz="1100" b="0" dirty="0">
              <a:solidFill>
                <a:schemeClr val="tx1"/>
              </a:solidFill>
              <a:latin typeface="+mn-lt"/>
            </a:endParaRPr>
          </a:p>
          <a:p>
            <a:pPr>
              <a:lnSpc>
                <a:spcPct val="100000"/>
              </a:lnSpc>
              <a:spcBef>
                <a:spcPts val="0"/>
              </a:spcBef>
            </a:pPr>
            <a:r>
              <a:rPr lang="en-US" sz="1100" b="0" dirty="0" smtClean="0">
                <a:solidFill>
                  <a:schemeClr val="tx1"/>
                </a:solidFill>
                <a:latin typeface="+mn-lt"/>
              </a:rPr>
              <a:t>The cash investor </a:t>
            </a:r>
            <a:r>
              <a:rPr lang="en-US" sz="1100" b="0" dirty="0" smtClean="0">
                <a:solidFill>
                  <a:schemeClr val="tx1"/>
                </a:solidFill>
                <a:latin typeface="+mn-lt"/>
              </a:rPr>
              <a:t>requires </a:t>
            </a:r>
            <a:r>
              <a:rPr lang="en-US" sz="1100" b="0" dirty="0" smtClean="0">
                <a:solidFill>
                  <a:schemeClr val="tx1"/>
                </a:solidFill>
                <a:latin typeface="+mn-lt"/>
              </a:rPr>
              <a:t>a buffer against loss by lending out a sum of money less than the market value of the underlying collateral. </a:t>
            </a:r>
            <a:r>
              <a:rPr lang="en-US" sz="1100" b="0" dirty="0" smtClean="0">
                <a:solidFill>
                  <a:schemeClr val="tx1"/>
                </a:solidFill>
                <a:latin typeface="+mn-lt"/>
              </a:rPr>
              <a:t> The </a:t>
            </a:r>
            <a:r>
              <a:rPr lang="en-US" sz="1100" dirty="0" smtClean="0">
                <a:solidFill>
                  <a:schemeClr val="tx1"/>
                </a:solidFill>
                <a:latin typeface="+mn-lt"/>
              </a:rPr>
              <a:t>margin </a:t>
            </a:r>
            <a:r>
              <a:rPr lang="en-US" sz="1100" b="0" dirty="0" smtClean="0">
                <a:solidFill>
                  <a:schemeClr val="tx1"/>
                </a:solidFill>
                <a:latin typeface="+mn-lt"/>
              </a:rPr>
              <a:t>is the ratio of the value of the collateral posted over the amount of cash minus 1.</a:t>
            </a:r>
          </a:p>
          <a:p>
            <a:pPr>
              <a:lnSpc>
                <a:spcPct val="100000"/>
              </a:lnSpc>
              <a:spcBef>
                <a:spcPts val="0"/>
              </a:spcBef>
            </a:pPr>
            <a:endParaRPr lang="en-US" sz="1100" b="0" dirty="0">
              <a:solidFill>
                <a:schemeClr val="tx1"/>
              </a:solidFill>
              <a:latin typeface="+mn-lt"/>
            </a:endParaRPr>
          </a:p>
          <a:p>
            <a:pPr>
              <a:lnSpc>
                <a:spcPct val="100000"/>
              </a:lnSpc>
              <a:spcBef>
                <a:spcPts val="0"/>
              </a:spcBef>
            </a:pPr>
            <a:r>
              <a:rPr lang="en-US" sz="1100" b="0" dirty="0">
                <a:solidFill>
                  <a:schemeClr val="tx1"/>
                </a:solidFill>
                <a:latin typeface="+mn-lt"/>
              </a:rPr>
              <a:t>Repo is a form of collateralized lending and provides a relatively inexpensive source of funding compared with other short-term money-market instruments.</a:t>
            </a:r>
          </a:p>
          <a:p>
            <a:pPr>
              <a:lnSpc>
                <a:spcPct val="100000"/>
              </a:lnSpc>
              <a:spcBef>
                <a:spcPts val="0"/>
              </a:spcBef>
            </a:pPr>
            <a:endParaRPr lang="en-US" sz="1100" b="0" dirty="0">
              <a:solidFill>
                <a:schemeClr val="tx1"/>
              </a:solidFill>
            </a:endParaRPr>
          </a:p>
          <a:p>
            <a:endParaRPr lang="en-US" sz="1100" b="0" dirty="0" smtClean="0">
              <a:solidFill>
                <a:schemeClr val="tx1"/>
              </a:solidFill>
            </a:endParaRPr>
          </a:p>
          <a:p>
            <a:endParaRPr lang="en-US" sz="1100" b="0" dirty="0">
              <a:solidFill>
                <a:schemeClr val="tx1"/>
              </a:solidFill>
            </a:endParaRPr>
          </a:p>
          <a:p>
            <a:endParaRPr lang="en-US" sz="1100" dirty="0" smtClean="0"/>
          </a:p>
        </p:txBody>
      </p:sp>
      <p:sp>
        <p:nvSpPr>
          <p:cNvPr id="5" name="Rectangle 4"/>
          <p:cNvSpPr/>
          <p:nvPr/>
        </p:nvSpPr>
        <p:spPr>
          <a:xfrm>
            <a:off x="3048000" y="1828800"/>
            <a:ext cx="1447800" cy="914400"/>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smtClean="0"/>
              <a:t>Collateral</a:t>
            </a:r>
          </a:p>
          <a:p>
            <a:pPr algn="ctr"/>
            <a:r>
              <a:rPr lang="en-US" sz="1400" dirty="0"/>
              <a:t>P</a:t>
            </a:r>
            <a:r>
              <a:rPr lang="en-US" sz="1400" dirty="0" smtClean="0"/>
              <a:t>rovider</a:t>
            </a:r>
            <a:endParaRPr lang="en-US" sz="1400" dirty="0"/>
          </a:p>
        </p:txBody>
      </p:sp>
      <p:sp>
        <p:nvSpPr>
          <p:cNvPr id="39" name="Rectangle 38"/>
          <p:cNvSpPr/>
          <p:nvPr/>
        </p:nvSpPr>
        <p:spPr>
          <a:xfrm>
            <a:off x="7391400" y="1828800"/>
            <a:ext cx="1447800" cy="914400"/>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smtClean="0"/>
              <a:t>Cash</a:t>
            </a:r>
          </a:p>
          <a:p>
            <a:pPr algn="ctr"/>
            <a:r>
              <a:rPr lang="en-US" sz="1400" dirty="0" smtClean="0"/>
              <a:t>Investor</a:t>
            </a:r>
            <a:endParaRPr lang="en-US" sz="1400" dirty="0"/>
          </a:p>
        </p:txBody>
      </p:sp>
      <p:cxnSp>
        <p:nvCxnSpPr>
          <p:cNvPr id="42" name="Straight Arrow Connector 41"/>
          <p:cNvCxnSpPr/>
          <p:nvPr/>
        </p:nvCxnSpPr>
        <p:spPr>
          <a:xfrm>
            <a:off x="4718050" y="2133600"/>
            <a:ext cx="2444750" cy="0"/>
          </a:xfrm>
          <a:prstGeom prst="straightConnector1">
            <a:avLst/>
          </a:prstGeom>
          <a:ln>
            <a:solidFill>
              <a:srgbClr val="C6642E"/>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45" name="Straight Arrow Connector 44"/>
          <p:cNvCxnSpPr/>
          <p:nvPr/>
        </p:nvCxnSpPr>
        <p:spPr>
          <a:xfrm>
            <a:off x="4711700" y="2590800"/>
            <a:ext cx="2441448" cy="0"/>
          </a:xfrm>
          <a:prstGeom prst="straightConnector1">
            <a:avLst/>
          </a:prstGeom>
          <a:ln>
            <a:solidFill>
              <a:srgbClr val="2E8A60"/>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sp>
        <p:nvSpPr>
          <p:cNvPr id="47" name="TextBox 46"/>
          <p:cNvSpPr txBox="1"/>
          <p:nvPr/>
        </p:nvSpPr>
        <p:spPr>
          <a:xfrm>
            <a:off x="4800600" y="1878281"/>
            <a:ext cx="2209800" cy="246221"/>
          </a:xfrm>
          <a:prstGeom prst="rect">
            <a:avLst/>
          </a:prstGeom>
          <a:noFill/>
        </p:spPr>
        <p:txBody>
          <a:bodyPr wrap="square" rtlCol="0">
            <a:spAutoFit/>
          </a:bodyPr>
          <a:lstStyle/>
          <a:p>
            <a:pPr algn="ctr"/>
            <a:r>
              <a:rPr lang="en-US" sz="1000" dirty="0" smtClean="0"/>
              <a:t>$1,020,000,000 of Treasuries</a:t>
            </a:r>
            <a:endParaRPr lang="en-US" sz="1000" dirty="0"/>
          </a:p>
        </p:txBody>
      </p:sp>
      <p:sp>
        <p:nvSpPr>
          <p:cNvPr id="48" name="TextBox 47"/>
          <p:cNvSpPr txBox="1"/>
          <p:nvPr/>
        </p:nvSpPr>
        <p:spPr>
          <a:xfrm>
            <a:off x="4800600" y="2344579"/>
            <a:ext cx="2209800" cy="246221"/>
          </a:xfrm>
          <a:prstGeom prst="rect">
            <a:avLst/>
          </a:prstGeom>
          <a:noFill/>
        </p:spPr>
        <p:txBody>
          <a:bodyPr wrap="square" rtlCol="0">
            <a:spAutoFit/>
          </a:bodyPr>
          <a:lstStyle/>
          <a:p>
            <a:pPr algn="ctr"/>
            <a:r>
              <a:rPr lang="en-US" sz="1000" dirty="0" smtClean="0"/>
              <a:t>$1,000,000,000 in cash</a:t>
            </a:r>
            <a:endParaRPr lang="en-US" sz="1000" dirty="0"/>
          </a:p>
        </p:txBody>
      </p:sp>
      <p:sp>
        <p:nvSpPr>
          <p:cNvPr id="49" name="Rectangle 48"/>
          <p:cNvSpPr/>
          <p:nvPr/>
        </p:nvSpPr>
        <p:spPr>
          <a:xfrm>
            <a:off x="3048000" y="3581400"/>
            <a:ext cx="1447800" cy="914400"/>
          </a:xfrm>
          <a:prstGeom prst="rect">
            <a:avLst/>
          </a:pr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smtClean="0"/>
              <a:t>Collateral</a:t>
            </a:r>
          </a:p>
          <a:p>
            <a:pPr algn="ctr"/>
            <a:r>
              <a:rPr lang="en-US" sz="1400" dirty="0"/>
              <a:t>P</a:t>
            </a:r>
            <a:r>
              <a:rPr lang="en-US" sz="1400" dirty="0" smtClean="0"/>
              <a:t>rovider</a:t>
            </a:r>
            <a:endParaRPr lang="en-US" sz="1400" dirty="0"/>
          </a:p>
        </p:txBody>
      </p:sp>
      <p:sp>
        <p:nvSpPr>
          <p:cNvPr id="50" name="Rectangle 49"/>
          <p:cNvSpPr/>
          <p:nvPr/>
        </p:nvSpPr>
        <p:spPr>
          <a:xfrm>
            <a:off x="7391400" y="3581400"/>
            <a:ext cx="1447800" cy="914400"/>
          </a:xfrm>
          <a:prstGeom prst="rect">
            <a:avLst/>
          </a:pr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smtClean="0"/>
              <a:t>Cash</a:t>
            </a:r>
          </a:p>
          <a:p>
            <a:pPr algn="ctr"/>
            <a:r>
              <a:rPr lang="en-US" sz="1400" dirty="0" smtClean="0"/>
              <a:t>Investor</a:t>
            </a:r>
            <a:endParaRPr lang="en-US" sz="1400" dirty="0"/>
          </a:p>
        </p:txBody>
      </p:sp>
      <p:cxnSp>
        <p:nvCxnSpPr>
          <p:cNvPr id="51" name="Straight Arrow Connector 50"/>
          <p:cNvCxnSpPr/>
          <p:nvPr/>
        </p:nvCxnSpPr>
        <p:spPr>
          <a:xfrm>
            <a:off x="4718050" y="3886200"/>
            <a:ext cx="2444750" cy="0"/>
          </a:xfrm>
          <a:prstGeom prst="straightConnector1">
            <a:avLst/>
          </a:prstGeom>
          <a:ln>
            <a:solidFill>
              <a:srgbClr val="C6642E"/>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52" name="Straight Arrow Connector 51"/>
          <p:cNvCxnSpPr/>
          <p:nvPr/>
        </p:nvCxnSpPr>
        <p:spPr>
          <a:xfrm>
            <a:off x="4711700" y="4343400"/>
            <a:ext cx="2441448" cy="0"/>
          </a:xfrm>
          <a:prstGeom prst="straightConnector1">
            <a:avLst/>
          </a:prstGeom>
          <a:ln>
            <a:solidFill>
              <a:srgbClr val="2E8A60"/>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53" name="TextBox 52"/>
          <p:cNvSpPr txBox="1"/>
          <p:nvPr/>
        </p:nvSpPr>
        <p:spPr>
          <a:xfrm>
            <a:off x="4800600" y="3630881"/>
            <a:ext cx="2209800" cy="246221"/>
          </a:xfrm>
          <a:prstGeom prst="rect">
            <a:avLst/>
          </a:prstGeom>
          <a:noFill/>
        </p:spPr>
        <p:txBody>
          <a:bodyPr wrap="square" rtlCol="0">
            <a:spAutoFit/>
          </a:bodyPr>
          <a:lstStyle/>
          <a:p>
            <a:pPr algn="ctr"/>
            <a:r>
              <a:rPr lang="en-US" sz="1000" dirty="0" smtClean="0"/>
              <a:t>$1,020,000,000 of Treasuries</a:t>
            </a:r>
            <a:endParaRPr lang="en-US" sz="1000" dirty="0"/>
          </a:p>
        </p:txBody>
      </p:sp>
      <p:sp>
        <p:nvSpPr>
          <p:cNvPr id="54" name="TextBox 53"/>
          <p:cNvSpPr txBox="1"/>
          <p:nvPr/>
        </p:nvSpPr>
        <p:spPr>
          <a:xfrm>
            <a:off x="4800600" y="4097179"/>
            <a:ext cx="2209800" cy="246221"/>
          </a:xfrm>
          <a:prstGeom prst="rect">
            <a:avLst/>
          </a:prstGeom>
          <a:noFill/>
        </p:spPr>
        <p:txBody>
          <a:bodyPr wrap="square" rtlCol="0">
            <a:spAutoFit/>
          </a:bodyPr>
          <a:lstStyle/>
          <a:p>
            <a:pPr algn="ctr"/>
            <a:r>
              <a:rPr lang="en-US" sz="1000" dirty="0" smtClean="0"/>
              <a:t>$1,000,002,777.78 in cash</a:t>
            </a:r>
            <a:endParaRPr lang="en-US" sz="1000" dirty="0"/>
          </a:p>
        </p:txBody>
      </p:sp>
      <p:sp>
        <p:nvSpPr>
          <p:cNvPr id="56" name="TextBox 55"/>
          <p:cNvSpPr txBox="1"/>
          <p:nvPr/>
        </p:nvSpPr>
        <p:spPr>
          <a:xfrm>
            <a:off x="2781300" y="1447800"/>
            <a:ext cx="1714500" cy="246221"/>
          </a:xfrm>
          <a:prstGeom prst="rect">
            <a:avLst/>
          </a:prstGeom>
          <a:noFill/>
        </p:spPr>
        <p:txBody>
          <a:bodyPr wrap="square" rtlCol="0">
            <a:spAutoFit/>
          </a:bodyPr>
          <a:lstStyle/>
          <a:p>
            <a:r>
              <a:rPr lang="en-US" sz="1000" b="1" dirty="0" smtClean="0"/>
              <a:t>Date </a:t>
            </a:r>
            <a:r>
              <a:rPr lang="en-US" sz="1000" b="1" i="1" dirty="0" smtClean="0"/>
              <a:t>t</a:t>
            </a:r>
            <a:r>
              <a:rPr lang="en-US" sz="1000" b="1" dirty="0" smtClean="0"/>
              <a:t> (opening leg)</a:t>
            </a:r>
            <a:endParaRPr lang="en-US" sz="1000" b="1" dirty="0"/>
          </a:p>
        </p:txBody>
      </p:sp>
      <p:sp>
        <p:nvSpPr>
          <p:cNvPr id="57" name="TextBox 56"/>
          <p:cNvSpPr txBox="1"/>
          <p:nvPr/>
        </p:nvSpPr>
        <p:spPr>
          <a:xfrm>
            <a:off x="2781300" y="3276600"/>
            <a:ext cx="1714500" cy="246221"/>
          </a:xfrm>
          <a:prstGeom prst="rect">
            <a:avLst/>
          </a:prstGeom>
          <a:noFill/>
        </p:spPr>
        <p:txBody>
          <a:bodyPr wrap="square" rtlCol="0">
            <a:spAutoFit/>
          </a:bodyPr>
          <a:lstStyle/>
          <a:p>
            <a:r>
              <a:rPr lang="en-US" sz="1000" b="1" dirty="0" smtClean="0"/>
              <a:t>Date </a:t>
            </a:r>
            <a:r>
              <a:rPr lang="en-US" sz="1000" b="1" i="1" dirty="0" smtClean="0"/>
              <a:t>t+1</a:t>
            </a:r>
            <a:r>
              <a:rPr lang="en-US" sz="1000" b="1" dirty="0" smtClean="0"/>
              <a:t> (closing leg)</a:t>
            </a:r>
            <a:endParaRPr lang="en-US" sz="1000" b="1" dirty="0"/>
          </a:p>
        </p:txBody>
      </p:sp>
      <p:graphicFrame>
        <p:nvGraphicFramePr>
          <p:cNvPr id="17" name="Table 16"/>
          <p:cNvGraphicFramePr>
            <a:graphicFrameLocks noGrp="1"/>
          </p:cNvGraphicFramePr>
          <p:nvPr>
            <p:extLst>
              <p:ext uri="{D42A27DB-BD31-4B8C-83A1-F6EECF244321}">
                <p14:modId xmlns:p14="http://schemas.microsoft.com/office/powerpoint/2010/main" val="4073350917"/>
              </p:ext>
            </p:extLst>
          </p:nvPr>
        </p:nvGraphicFramePr>
        <p:xfrm>
          <a:off x="2667000" y="5181600"/>
          <a:ext cx="6553200" cy="1117600"/>
        </p:xfrm>
        <a:graphic>
          <a:graphicData uri="http://schemas.openxmlformats.org/drawingml/2006/table">
            <a:tbl>
              <a:tblPr>
                <a:tableStyleId>{2D5ABB26-0587-4C30-8999-92F81FD0307C}</a:tableStyleId>
              </a:tblPr>
              <a:tblGrid>
                <a:gridCol w="3276600"/>
                <a:gridCol w="3276600"/>
              </a:tblGrid>
              <a:tr h="279400">
                <a:tc>
                  <a:txBody>
                    <a:bodyPr/>
                    <a:lstStyle/>
                    <a:p>
                      <a:r>
                        <a:rPr lang="en-US" sz="1050" b="1" dirty="0" smtClean="0"/>
                        <a:t>Repo Trade Details</a:t>
                      </a:r>
                      <a:endParaRPr lang="en-US" sz="1050" b="1" dirty="0"/>
                    </a:p>
                  </a:txBody>
                  <a:tcPr anchor="ctr"/>
                </a:tc>
                <a:tc>
                  <a:txBody>
                    <a:bodyPr/>
                    <a:lstStyle/>
                    <a:p>
                      <a:endParaRPr lang="en-US" sz="1050" dirty="0"/>
                    </a:p>
                  </a:txBody>
                  <a:tcPr anchor="ctr"/>
                </a:tc>
              </a:tr>
              <a:tr h="279400">
                <a:tc>
                  <a:txBody>
                    <a:bodyPr/>
                    <a:lstStyle/>
                    <a:p>
                      <a:r>
                        <a:rPr lang="en-US" sz="1050" b="1" dirty="0" smtClean="0"/>
                        <a:t>Term</a:t>
                      </a:r>
                      <a:r>
                        <a:rPr lang="en-US" sz="1050" dirty="0" smtClean="0"/>
                        <a:t>: Overnight</a:t>
                      </a:r>
                      <a:endParaRPr lang="en-US" sz="1050" dirty="0"/>
                    </a:p>
                  </a:txBody>
                  <a:tcPr anchor="ctr"/>
                </a:tc>
                <a:tc>
                  <a:txBody>
                    <a:bodyPr/>
                    <a:lstStyle/>
                    <a:p>
                      <a:r>
                        <a:rPr lang="en-US" sz="1050" b="1" dirty="0" smtClean="0"/>
                        <a:t>Rate</a:t>
                      </a:r>
                      <a:r>
                        <a:rPr lang="en-US" sz="1050" dirty="0" smtClean="0"/>
                        <a:t>: 10 basis points</a:t>
                      </a:r>
                      <a:endParaRPr lang="en-US" sz="1050" dirty="0"/>
                    </a:p>
                  </a:txBody>
                  <a:tcPr anchor="ctr"/>
                </a:tc>
              </a:tr>
              <a:tr h="279400">
                <a:tc>
                  <a:txBody>
                    <a:bodyPr/>
                    <a:lstStyle/>
                    <a:p>
                      <a:r>
                        <a:rPr lang="en-US" sz="1050" b="1" dirty="0" smtClean="0"/>
                        <a:t>Collateral</a:t>
                      </a:r>
                      <a:r>
                        <a:rPr lang="en-US" sz="1050" dirty="0" smtClean="0"/>
                        <a:t>: </a:t>
                      </a:r>
                      <a:r>
                        <a:rPr lang="en-US" sz="1050" dirty="0" smtClean="0"/>
                        <a:t>Treasuries</a:t>
                      </a:r>
                      <a:endParaRPr lang="en-US" sz="1050" dirty="0"/>
                    </a:p>
                  </a:txBody>
                  <a:tcPr anchor="ctr"/>
                </a:tc>
                <a:tc>
                  <a:txBody>
                    <a:bodyPr/>
                    <a:lstStyle/>
                    <a:p>
                      <a:r>
                        <a:rPr lang="en-US" sz="1050" b="1" dirty="0" smtClean="0"/>
                        <a:t>Margin</a:t>
                      </a:r>
                      <a:r>
                        <a:rPr lang="en-US" sz="1050" dirty="0" smtClean="0"/>
                        <a:t>:</a:t>
                      </a:r>
                      <a:r>
                        <a:rPr lang="en-US" sz="1050" baseline="0" dirty="0" smtClean="0"/>
                        <a:t> 2%</a:t>
                      </a:r>
                      <a:endParaRPr lang="en-US" sz="1050" dirty="0"/>
                    </a:p>
                  </a:txBody>
                  <a:tcPr anchor="ctr"/>
                </a:tc>
              </a:tr>
              <a:tr h="279400">
                <a:tc>
                  <a:txBody>
                    <a:bodyPr/>
                    <a:lstStyle/>
                    <a:p>
                      <a:r>
                        <a:rPr lang="en-US" sz="1050" b="1" dirty="0" smtClean="0"/>
                        <a:t>Principal</a:t>
                      </a:r>
                      <a:r>
                        <a:rPr lang="en-US" sz="1050" dirty="0" smtClean="0"/>
                        <a:t>: $1 billion</a:t>
                      </a:r>
                      <a:endParaRPr lang="en-US" sz="1050" dirty="0"/>
                    </a:p>
                  </a:txBody>
                  <a:tcPr anchor="ctr"/>
                </a:tc>
                <a:tc>
                  <a:txBody>
                    <a:bodyPr/>
                    <a:lstStyle/>
                    <a:p>
                      <a:endParaRPr lang="en-US" sz="1050" dirty="0"/>
                    </a:p>
                  </a:txBody>
                  <a:tcPr anchor="ctr"/>
                </a:tc>
              </a:tr>
            </a:tbl>
          </a:graphicData>
        </a:graphic>
      </p:graphicFrame>
      <p:sp>
        <p:nvSpPr>
          <p:cNvPr id="59" name="TextBox 58"/>
          <p:cNvSpPr txBox="1"/>
          <p:nvPr/>
        </p:nvSpPr>
        <p:spPr>
          <a:xfrm>
            <a:off x="2667000" y="6627971"/>
            <a:ext cx="6400800" cy="246221"/>
          </a:xfrm>
          <a:prstGeom prst="rect">
            <a:avLst/>
          </a:prstGeom>
          <a:noFill/>
        </p:spPr>
        <p:txBody>
          <a:bodyPr wrap="square" rtlCol="0">
            <a:spAutoFit/>
          </a:bodyPr>
          <a:lstStyle/>
          <a:p>
            <a:r>
              <a:rPr lang="en-US" sz="1000" b="1" dirty="0" smtClean="0"/>
              <a:t>Note: </a:t>
            </a:r>
            <a:r>
              <a:rPr lang="en-US" sz="1000" dirty="0" smtClean="0"/>
              <a:t>$1,000,002,777.78 </a:t>
            </a:r>
            <a:r>
              <a:rPr lang="en-US" sz="1000" dirty="0"/>
              <a:t>= $1,000,000,000 </a:t>
            </a:r>
            <a:r>
              <a:rPr lang="en-US" sz="1000" dirty="0" smtClean="0"/>
              <a:t> + (</a:t>
            </a:r>
            <a:r>
              <a:rPr lang="en-US" sz="1000" dirty="0"/>
              <a:t>$1,000,000,000 </a:t>
            </a:r>
            <a:r>
              <a:rPr lang="en-US" sz="1000" dirty="0" smtClean="0"/>
              <a:t>* 1/360 * 10 basis points)</a:t>
            </a:r>
            <a:endParaRPr lang="en-US" sz="1000" dirty="0"/>
          </a:p>
        </p:txBody>
      </p:sp>
      <p:cxnSp>
        <p:nvCxnSpPr>
          <p:cNvPr id="26" name="Straight Connector 25"/>
          <p:cNvCxnSpPr/>
          <p:nvPr/>
        </p:nvCxnSpPr>
        <p:spPr>
          <a:xfrm>
            <a:off x="2743200" y="5410200"/>
            <a:ext cx="1371600" cy="0"/>
          </a:xfrm>
          <a:prstGeom prst="line">
            <a:avLst/>
          </a:prstGeom>
        </p:spPr>
        <p:style>
          <a:lnRef idx="1">
            <a:schemeClr val="accent1"/>
          </a:lnRef>
          <a:fillRef idx="0">
            <a:schemeClr val="accent1"/>
          </a:fillRef>
          <a:effectRef idx="0">
            <a:schemeClr val="accent1"/>
          </a:effectRef>
          <a:fontRef idx="minor">
            <a:schemeClr val="tx1"/>
          </a:fontRef>
        </p:style>
      </p:cxnSp>
      <p:sp>
        <p:nvSpPr>
          <p:cNvPr id="23" name="TextBox 22"/>
          <p:cNvSpPr txBox="1"/>
          <p:nvPr/>
        </p:nvSpPr>
        <p:spPr>
          <a:xfrm>
            <a:off x="2472698" y="6939687"/>
            <a:ext cx="4690102" cy="230832"/>
          </a:xfrm>
          <a:prstGeom prst="rect">
            <a:avLst/>
          </a:prstGeom>
          <a:noFill/>
        </p:spPr>
        <p:txBody>
          <a:bodyPr wrap="square" rtlCol="0">
            <a:spAutoFit/>
          </a:bodyPr>
          <a:lstStyle/>
          <a:p>
            <a:r>
              <a:rPr lang="en-US" sz="900" i="1" dirty="0" smtClean="0">
                <a:latin typeface="Calibri" panose="020F0502020204030204" pitchFamily="34" charset="0"/>
              </a:rPr>
              <a:t>Source: </a:t>
            </a:r>
            <a:r>
              <a:rPr lang="en-US" sz="900" i="1" dirty="0">
                <a:latin typeface="Calibri" panose="020F0502020204030204" pitchFamily="34" charset="0"/>
              </a:rPr>
              <a:t> </a:t>
            </a:r>
            <a:r>
              <a:rPr lang="en-US" sz="900" i="1" dirty="0" smtClean="0">
                <a:latin typeface="Calibri" panose="020F0502020204030204" pitchFamily="34" charset="0"/>
              </a:rPr>
              <a:t>Adapted from “A Primer on the GCF Repo Service: Introduction”, Copeland (2015).</a:t>
            </a:r>
            <a:endParaRPr lang="en-US" sz="900" i="1" dirty="0">
              <a:latin typeface="Calibri" panose="020F0502020204030204" pitchFamily="34" charset="0"/>
            </a:endParaRPr>
          </a:p>
        </p:txBody>
      </p:sp>
    </p:spTree>
    <p:extLst>
      <p:ext uri="{BB962C8B-B14F-4D97-AF65-F5344CB8AC3E}">
        <p14:creationId xmlns:p14="http://schemas.microsoft.com/office/powerpoint/2010/main" val="1198868533"/>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 name="Rectangle 54"/>
          <p:cNvSpPr/>
          <p:nvPr/>
        </p:nvSpPr>
        <p:spPr>
          <a:xfrm>
            <a:off x="2667000" y="3429000"/>
            <a:ext cx="6553200" cy="2011680"/>
          </a:xfrm>
          <a:prstGeom prst="rect">
            <a:avLst/>
          </a:prstGeom>
          <a:solidFill>
            <a:schemeClr val="accent3">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p:cNvSpPr/>
          <p:nvPr/>
        </p:nvSpPr>
        <p:spPr>
          <a:xfrm>
            <a:off x="2667000" y="1219200"/>
            <a:ext cx="6553200" cy="2011680"/>
          </a:xfrm>
          <a:prstGeom prst="rect">
            <a:avLst/>
          </a:prstGeom>
          <a:solidFill>
            <a:schemeClr val="accent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p:txBody>
          <a:bodyPr/>
          <a:lstStyle/>
          <a:p>
            <a:r>
              <a:rPr lang="en-US" dirty="0" smtClean="0"/>
              <a:t>A STANDARD GCF repo trade</a:t>
            </a:r>
            <a:endParaRPr lang="en-US" dirty="0"/>
          </a:p>
        </p:txBody>
      </p:sp>
      <p:sp>
        <p:nvSpPr>
          <p:cNvPr id="73" name="Content Placeholder 12"/>
          <p:cNvSpPr>
            <a:spLocks noGrp="1"/>
          </p:cNvSpPr>
          <p:nvPr>
            <p:ph idx="1"/>
          </p:nvPr>
        </p:nvSpPr>
        <p:spPr>
          <a:xfrm>
            <a:off x="293687" y="1235075"/>
            <a:ext cx="1839913" cy="5927725"/>
          </a:xfrm>
        </p:spPr>
        <p:txBody>
          <a:bodyPr/>
          <a:lstStyle/>
          <a:p>
            <a:pPr>
              <a:lnSpc>
                <a:spcPct val="100000"/>
              </a:lnSpc>
              <a:spcBef>
                <a:spcPts val="0"/>
              </a:spcBef>
            </a:pPr>
            <a:r>
              <a:rPr lang="en-US" sz="1100" b="0" dirty="0" smtClean="0">
                <a:solidFill>
                  <a:schemeClr val="tx1"/>
                </a:solidFill>
                <a:latin typeface="+mn-lt"/>
              </a:rPr>
              <a:t>A </a:t>
            </a:r>
            <a:r>
              <a:rPr lang="en-US" sz="1100" dirty="0" smtClean="0">
                <a:solidFill>
                  <a:schemeClr val="tx1"/>
                </a:solidFill>
                <a:latin typeface="+mn-lt"/>
              </a:rPr>
              <a:t>triparty </a:t>
            </a:r>
            <a:r>
              <a:rPr lang="en-US" sz="1100" dirty="0" smtClean="0">
                <a:solidFill>
                  <a:schemeClr val="tx1"/>
                </a:solidFill>
                <a:latin typeface="+mn-lt"/>
              </a:rPr>
              <a:t>repo </a:t>
            </a:r>
            <a:r>
              <a:rPr lang="en-US" sz="1100" b="0" dirty="0" smtClean="0">
                <a:solidFill>
                  <a:schemeClr val="tx1"/>
                </a:solidFill>
                <a:latin typeface="+mn-lt"/>
              </a:rPr>
              <a:t>involves a </a:t>
            </a:r>
            <a:r>
              <a:rPr lang="en-US" sz="1100" dirty="0" smtClean="0">
                <a:solidFill>
                  <a:schemeClr val="tx1"/>
                </a:solidFill>
                <a:latin typeface="+mn-lt"/>
              </a:rPr>
              <a:t>clearing bank</a:t>
            </a:r>
            <a:r>
              <a:rPr lang="en-US" sz="1100" b="0" dirty="0" smtClean="0">
                <a:solidFill>
                  <a:schemeClr val="tx1"/>
                </a:solidFill>
                <a:latin typeface="+mn-lt"/>
              </a:rPr>
              <a:t> that provides back-office support to both parties in the trade. In contrast, in a </a:t>
            </a:r>
            <a:r>
              <a:rPr lang="en-US" sz="1100" dirty="0" smtClean="0">
                <a:solidFill>
                  <a:schemeClr val="tx1"/>
                </a:solidFill>
                <a:latin typeface="+mn-lt"/>
              </a:rPr>
              <a:t>bilateral repo</a:t>
            </a:r>
            <a:r>
              <a:rPr lang="en-US" sz="1100" b="0" dirty="0" smtClean="0">
                <a:solidFill>
                  <a:schemeClr val="tx1"/>
                </a:solidFill>
                <a:latin typeface="+mn-lt"/>
              </a:rPr>
              <a:t>, each counterparty’s custodian bank is responsible for the clearing and settlement of the trade.</a:t>
            </a:r>
          </a:p>
          <a:p>
            <a:pPr>
              <a:lnSpc>
                <a:spcPct val="100000"/>
              </a:lnSpc>
              <a:spcBef>
                <a:spcPts val="0"/>
              </a:spcBef>
            </a:pPr>
            <a:endParaRPr lang="en-US" sz="1100" b="0" dirty="0">
              <a:solidFill>
                <a:schemeClr val="tx1"/>
              </a:solidFill>
              <a:latin typeface="+mn-lt"/>
            </a:endParaRPr>
          </a:p>
          <a:p>
            <a:pPr>
              <a:lnSpc>
                <a:spcPct val="100000"/>
              </a:lnSpc>
              <a:spcBef>
                <a:spcPts val="0"/>
              </a:spcBef>
            </a:pPr>
            <a:r>
              <a:rPr lang="en-US" sz="1100" b="0" dirty="0" smtClean="0">
                <a:solidFill>
                  <a:schemeClr val="tx1"/>
                </a:solidFill>
                <a:latin typeface="+mn-lt"/>
              </a:rPr>
              <a:t>Triparty </a:t>
            </a:r>
            <a:r>
              <a:rPr lang="en-US" sz="1100" b="0" dirty="0" smtClean="0">
                <a:solidFill>
                  <a:schemeClr val="tx1"/>
                </a:solidFill>
                <a:latin typeface="+mn-lt"/>
              </a:rPr>
              <a:t>repo typically assumes a transaction involving </a:t>
            </a:r>
            <a:r>
              <a:rPr lang="en-US" sz="1100" dirty="0" smtClean="0">
                <a:solidFill>
                  <a:schemeClr val="tx1"/>
                </a:solidFill>
                <a:latin typeface="+mn-lt"/>
              </a:rPr>
              <a:t>general collateral</a:t>
            </a:r>
            <a:r>
              <a:rPr lang="en-US" sz="1100" b="0" dirty="0" smtClean="0">
                <a:solidFill>
                  <a:schemeClr val="tx1"/>
                </a:solidFill>
                <a:latin typeface="+mn-lt"/>
              </a:rPr>
              <a:t>, where the cash investor agrees to accept any securities within an asset class, such as U.S. Treasuries. Bilateral repos, by contrast, typically require that specific securities identified at the CUSIP level be agreed upon when the trade is executed.</a:t>
            </a:r>
          </a:p>
          <a:p>
            <a:pPr>
              <a:lnSpc>
                <a:spcPct val="100000"/>
              </a:lnSpc>
              <a:spcBef>
                <a:spcPts val="0"/>
              </a:spcBef>
            </a:pPr>
            <a:endParaRPr lang="en-US" sz="1100" b="0" dirty="0">
              <a:solidFill>
                <a:schemeClr val="tx1"/>
              </a:solidFill>
              <a:latin typeface="+mn-lt"/>
            </a:endParaRPr>
          </a:p>
          <a:p>
            <a:pPr>
              <a:lnSpc>
                <a:spcPct val="100000"/>
              </a:lnSpc>
              <a:spcBef>
                <a:spcPts val="0"/>
              </a:spcBef>
            </a:pPr>
            <a:r>
              <a:rPr lang="en-US" sz="1100" dirty="0" smtClean="0">
                <a:solidFill>
                  <a:schemeClr val="tx1"/>
                </a:solidFill>
                <a:latin typeface="+mn-lt"/>
              </a:rPr>
              <a:t>GCF (General Collateral Finance) Repo </a:t>
            </a:r>
            <a:r>
              <a:rPr lang="en-US" sz="1100" b="0" dirty="0" smtClean="0">
                <a:solidFill>
                  <a:schemeClr val="tx1"/>
                </a:solidFill>
                <a:latin typeface="+mn-lt"/>
              </a:rPr>
              <a:t>trades settle on a </a:t>
            </a:r>
            <a:r>
              <a:rPr lang="en-US" sz="1100" b="0" dirty="0" smtClean="0">
                <a:solidFill>
                  <a:schemeClr val="tx1"/>
                </a:solidFill>
                <a:latin typeface="+mn-lt"/>
              </a:rPr>
              <a:t>triparty </a:t>
            </a:r>
            <a:r>
              <a:rPr lang="en-US" sz="1100" b="0" dirty="0" smtClean="0">
                <a:solidFill>
                  <a:schemeClr val="tx1"/>
                </a:solidFill>
                <a:latin typeface="+mn-lt"/>
              </a:rPr>
              <a:t>platform. They are characterized by the role of the FICC as a central counterparty. </a:t>
            </a:r>
          </a:p>
          <a:p>
            <a:pPr>
              <a:lnSpc>
                <a:spcPct val="100000"/>
              </a:lnSpc>
              <a:spcBef>
                <a:spcPts val="0"/>
              </a:spcBef>
            </a:pPr>
            <a:endParaRPr lang="en-US" sz="1100" b="0" dirty="0">
              <a:solidFill>
                <a:schemeClr val="tx1"/>
              </a:solidFill>
              <a:latin typeface="+mn-lt"/>
            </a:endParaRPr>
          </a:p>
          <a:p>
            <a:endParaRPr lang="en-US" sz="1100" b="0" dirty="0" smtClean="0">
              <a:solidFill>
                <a:schemeClr val="tx1"/>
              </a:solidFill>
            </a:endParaRPr>
          </a:p>
          <a:p>
            <a:endParaRPr lang="en-US" sz="1100" b="0" dirty="0">
              <a:solidFill>
                <a:schemeClr val="tx1"/>
              </a:solidFill>
            </a:endParaRPr>
          </a:p>
          <a:p>
            <a:endParaRPr lang="en-US" sz="1100" dirty="0" smtClean="0"/>
          </a:p>
        </p:txBody>
      </p:sp>
      <p:sp>
        <p:nvSpPr>
          <p:cNvPr id="5" name="Rectangle 4"/>
          <p:cNvSpPr/>
          <p:nvPr/>
        </p:nvSpPr>
        <p:spPr>
          <a:xfrm>
            <a:off x="3048000" y="1524000"/>
            <a:ext cx="1447800" cy="638889"/>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smtClean="0"/>
              <a:t>Collateral</a:t>
            </a:r>
          </a:p>
          <a:p>
            <a:pPr algn="ctr"/>
            <a:r>
              <a:rPr lang="en-US" sz="1400" dirty="0"/>
              <a:t>P</a:t>
            </a:r>
            <a:r>
              <a:rPr lang="en-US" sz="1400" dirty="0" smtClean="0"/>
              <a:t>rovider</a:t>
            </a:r>
            <a:endParaRPr lang="en-US" sz="1400" dirty="0"/>
          </a:p>
        </p:txBody>
      </p:sp>
      <p:sp>
        <p:nvSpPr>
          <p:cNvPr id="39" name="Rectangle 38"/>
          <p:cNvSpPr/>
          <p:nvPr/>
        </p:nvSpPr>
        <p:spPr>
          <a:xfrm>
            <a:off x="7391400" y="1524000"/>
            <a:ext cx="1447800" cy="638889"/>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smtClean="0"/>
              <a:t>FICC</a:t>
            </a:r>
            <a:endParaRPr lang="en-US" sz="1400" dirty="0"/>
          </a:p>
        </p:txBody>
      </p:sp>
      <p:cxnSp>
        <p:nvCxnSpPr>
          <p:cNvPr id="42" name="Straight Arrow Connector 41"/>
          <p:cNvCxnSpPr/>
          <p:nvPr/>
        </p:nvCxnSpPr>
        <p:spPr>
          <a:xfrm>
            <a:off x="4718050" y="1752600"/>
            <a:ext cx="2444750" cy="0"/>
          </a:xfrm>
          <a:prstGeom prst="straightConnector1">
            <a:avLst/>
          </a:prstGeom>
          <a:ln>
            <a:solidFill>
              <a:srgbClr val="C6642E"/>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45" name="Straight Arrow Connector 44"/>
          <p:cNvCxnSpPr/>
          <p:nvPr/>
        </p:nvCxnSpPr>
        <p:spPr>
          <a:xfrm>
            <a:off x="4711700" y="1954481"/>
            <a:ext cx="2441448" cy="0"/>
          </a:xfrm>
          <a:prstGeom prst="straightConnector1">
            <a:avLst/>
          </a:prstGeom>
          <a:ln>
            <a:solidFill>
              <a:srgbClr val="2E8A60"/>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sp>
        <p:nvSpPr>
          <p:cNvPr id="47" name="TextBox 46"/>
          <p:cNvSpPr txBox="1"/>
          <p:nvPr/>
        </p:nvSpPr>
        <p:spPr>
          <a:xfrm>
            <a:off x="4800600" y="1497281"/>
            <a:ext cx="2209800" cy="246221"/>
          </a:xfrm>
          <a:prstGeom prst="rect">
            <a:avLst/>
          </a:prstGeom>
          <a:noFill/>
        </p:spPr>
        <p:txBody>
          <a:bodyPr wrap="square" rtlCol="0">
            <a:spAutoFit/>
          </a:bodyPr>
          <a:lstStyle/>
          <a:p>
            <a:pPr algn="ctr"/>
            <a:r>
              <a:rPr lang="en-US" sz="1000" dirty="0" smtClean="0"/>
              <a:t>$1,000,000,000 of Treasuries</a:t>
            </a:r>
            <a:endParaRPr lang="en-US" sz="1000" dirty="0"/>
          </a:p>
        </p:txBody>
      </p:sp>
      <p:sp>
        <p:nvSpPr>
          <p:cNvPr id="48" name="TextBox 47"/>
          <p:cNvSpPr txBox="1"/>
          <p:nvPr/>
        </p:nvSpPr>
        <p:spPr>
          <a:xfrm>
            <a:off x="4800600" y="1963579"/>
            <a:ext cx="2209800" cy="246221"/>
          </a:xfrm>
          <a:prstGeom prst="rect">
            <a:avLst/>
          </a:prstGeom>
          <a:noFill/>
        </p:spPr>
        <p:txBody>
          <a:bodyPr wrap="square" rtlCol="0">
            <a:spAutoFit/>
          </a:bodyPr>
          <a:lstStyle/>
          <a:p>
            <a:pPr algn="ctr"/>
            <a:r>
              <a:rPr lang="en-US" sz="1000" dirty="0" smtClean="0"/>
              <a:t>$1,000,000,000 in cash</a:t>
            </a:r>
            <a:endParaRPr lang="en-US" sz="1000" dirty="0"/>
          </a:p>
        </p:txBody>
      </p:sp>
      <p:sp>
        <p:nvSpPr>
          <p:cNvPr id="49" name="Rectangle 48"/>
          <p:cNvSpPr/>
          <p:nvPr/>
        </p:nvSpPr>
        <p:spPr>
          <a:xfrm>
            <a:off x="3048000" y="3733800"/>
            <a:ext cx="1447800" cy="640080"/>
          </a:xfrm>
          <a:prstGeom prst="rect">
            <a:avLst/>
          </a:pr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a:t>Collateral</a:t>
            </a:r>
          </a:p>
          <a:p>
            <a:pPr algn="ctr"/>
            <a:r>
              <a:rPr lang="en-US" sz="1400" dirty="0"/>
              <a:t>Provider</a:t>
            </a:r>
          </a:p>
        </p:txBody>
      </p:sp>
      <p:sp>
        <p:nvSpPr>
          <p:cNvPr id="50" name="Rectangle 49"/>
          <p:cNvSpPr/>
          <p:nvPr/>
        </p:nvSpPr>
        <p:spPr>
          <a:xfrm>
            <a:off x="7391400" y="3733800"/>
            <a:ext cx="1447800" cy="640080"/>
          </a:xfrm>
          <a:prstGeom prst="rect">
            <a:avLst/>
          </a:pr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smtClean="0"/>
              <a:t>FICC</a:t>
            </a:r>
            <a:endParaRPr lang="en-US" sz="1400" dirty="0"/>
          </a:p>
        </p:txBody>
      </p:sp>
      <p:sp>
        <p:nvSpPr>
          <p:cNvPr id="53" name="TextBox 52"/>
          <p:cNvSpPr txBox="1"/>
          <p:nvPr/>
        </p:nvSpPr>
        <p:spPr>
          <a:xfrm>
            <a:off x="4800600" y="3707081"/>
            <a:ext cx="2209800" cy="246221"/>
          </a:xfrm>
          <a:prstGeom prst="rect">
            <a:avLst/>
          </a:prstGeom>
          <a:noFill/>
        </p:spPr>
        <p:txBody>
          <a:bodyPr wrap="square" rtlCol="0">
            <a:spAutoFit/>
          </a:bodyPr>
          <a:lstStyle/>
          <a:p>
            <a:pPr algn="ctr"/>
            <a:r>
              <a:rPr lang="en-US" sz="1000" dirty="0" smtClean="0"/>
              <a:t>$1,000,000,000 of Treasuries</a:t>
            </a:r>
            <a:endParaRPr lang="en-US" sz="1000" dirty="0"/>
          </a:p>
        </p:txBody>
      </p:sp>
      <p:sp>
        <p:nvSpPr>
          <p:cNvPr id="54" name="TextBox 53"/>
          <p:cNvSpPr txBox="1"/>
          <p:nvPr/>
        </p:nvSpPr>
        <p:spPr>
          <a:xfrm>
            <a:off x="4800600" y="4173379"/>
            <a:ext cx="2209800" cy="246221"/>
          </a:xfrm>
          <a:prstGeom prst="rect">
            <a:avLst/>
          </a:prstGeom>
          <a:noFill/>
        </p:spPr>
        <p:txBody>
          <a:bodyPr wrap="square" rtlCol="0">
            <a:spAutoFit/>
          </a:bodyPr>
          <a:lstStyle/>
          <a:p>
            <a:pPr algn="ctr"/>
            <a:r>
              <a:rPr lang="en-US" sz="1000" dirty="0" smtClean="0"/>
              <a:t>$1,000,002,777.78 in cash</a:t>
            </a:r>
            <a:endParaRPr lang="en-US" sz="1000" dirty="0"/>
          </a:p>
        </p:txBody>
      </p:sp>
      <p:sp>
        <p:nvSpPr>
          <p:cNvPr id="56" name="TextBox 55"/>
          <p:cNvSpPr txBox="1"/>
          <p:nvPr/>
        </p:nvSpPr>
        <p:spPr>
          <a:xfrm>
            <a:off x="2781300" y="1219200"/>
            <a:ext cx="1714500" cy="246221"/>
          </a:xfrm>
          <a:prstGeom prst="rect">
            <a:avLst/>
          </a:prstGeom>
          <a:noFill/>
        </p:spPr>
        <p:txBody>
          <a:bodyPr wrap="square" rtlCol="0">
            <a:spAutoFit/>
          </a:bodyPr>
          <a:lstStyle/>
          <a:p>
            <a:r>
              <a:rPr lang="en-US" sz="1000" b="1" dirty="0" smtClean="0"/>
              <a:t>Date </a:t>
            </a:r>
            <a:r>
              <a:rPr lang="en-US" sz="1000" b="1" i="1" dirty="0" smtClean="0"/>
              <a:t>t</a:t>
            </a:r>
            <a:r>
              <a:rPr lang="en-US" sz="1000" b="1" dirty="0" smtClean="0"/>
              <a:t> (opening leg)</a:t>
            </a:r>
            <a:endParaRPr lang="en-US" sz="1000" b="1" dirty="0"/>
          </a:p>
        </p:txBody>
      </p:sp>
      <p:sp>
        <p:nvSpPr>
          <p:cNvPr id="57" name="TextBox 56"/>
          <p:cNvSpPr txBox="1"/>
          <p:nvPr/>
        </p:nvSpPr>
        <p:spPr>
          <a:xfrm>
            <a:off x="2781300" y="3429000"/>
            <a:ext cx="1714500" cy="246221"/>
          </a:xfrm>
          <a:prstGeom prst="rect">
            <a:avLst/>
          </a:prstGeom>
          <a:noFill/>
        </p:spPr>
        <p:txBody>
          <a:bodyPr wrap="square" rtlCol="0">
            <a:spAutoFit/>
          </a:bodyPr>
          <a:lstStyle/>
          <a:p>
            <a:r>
              <a:rPr lang="en-US" sz="1000" b="1" dirty="0" smtClean="0"/>
              <a:t>Date </a:t>
            </a:r>
            <a:r>
              <a:rPr lang="en-US" sz="1000" b="1" i="1" dirty="0" smtClean="0"/>
              <a:t>t+1</a:t>
            </a:r>
            <a:r>
              <a:rPr lang="en-US" sz="1000" b="1" dirty="0" smtClean="0"/>
              <a:t> (closing leg)</a:t>
            </a:r>
            <a:endParaRPr lang="en-US" sz="1000" b="1" dirty="0"/>
          </a:p>
        </p:txBody>
      </p:sp>
      <p:graphicFrame>
        <p:nvGraphicFramePr>
          <p:cNvPr id="17" name="Table 16"/>
          <p:cNvGraphicFramePr>
            <a:graphicFrameLocks noGrp="1"/>
          </p:cNvGraphicFramePr>
          <p:nvPr>
            <p:extLst>
              <p:ext uri="{D42A27DB-BD31-4B8C-83A1-F6EECF244321}">
                <p14:modId xmlns:p14="http://schemas.microsoft.com/office/powerpoint/2010/main" val="1724616517"/>
              </p:ext>
            </p:extLst>
          </p:nvPr>
        </p:nvGraphicFramePr>
        <p:xfrm>
          <a:off x="2667000" y="5486400"/>
          <a:ext cx="6553200" cy="1117600"/>
        </p:xfrm>
        <a:graphic>
          <a:graphicData uri="http://schemas.openxmlformats.org/drawingml/2006/table">
            <a:tbl>
              <a:tblPr>
                <a:tableStyleId>{2D5ABB26-0587-4C30-8999-92F81FD0307C}</a:tableStyleId>
              </a:tblPr>
              <a:tblGrid>
                <a:gridCol w="3276600"/>
                <a:gridCol w="3276600"/>
              </a:tblGrid>
              <a:tr h="279400">
                <a:tc>
                  <a:txBody>
                    <a:bodyPr/>
                    <a:lstStyle/>
                    <a:p>
                      <a:r>
                        <a:rPr lang="en-US" sz="1050" b="1" dirty="0" smtClean="0"/>
                        <a:t>Repo Trade Details</a:t>
                      </a:r>
                      <a:endParaRPr lang="en-US" sz="1050" b="1" dirty="0"/>
                    </a:p>
                  </a:txBody>
                  <a:tcPr anchor="ctr"/>
                </a:tc>
                <a:tc>
                  <a:txBody>
                    <a:bodyPr/>
                    <a:lstStyle/>
                    <a:p>
                      <a:endParaRPr lang="en-US" sz="1050" dirty="0"/>
                    </a:p>
                  </a:txBody>
                  <a:tcPr anchor="ctr"/>
                </a:tc>
              </a:tr>
              <a:tr h="279400">
                <a:tc>
                  <a:txBody>
                    <a:bodyPr/>
                    <a:lstStyle/>
                    <a:p>
                      <a:r>
                        <a:rPr lang="en-US" sz="1050" b="1" dirty="0" smtClean="0"/>
                        <a:t>Term</a:t>
                      </a:r>
                      <a:r>
                        <a:rPr lang="en-US" sz="1050" dirty="0" smtClean="0"/>
                        <a:t>: Overnight</a:t>
                      </a:r>
                      <a:endParaRPr lang="en-US" sz="1050" dirty="0"/>
                    </a:p>
                  </a:txBody>
                  <a:tcPr anchor="ctr"/>
                </a:tc>
                <a:tc>
                  <a:txBody>
                    <a:bodyPr/>
                    <a:lstStyle/>
                    <a:p>
                      <a:r>
                        <a:rPr lang="en-US" sz="1050" b="1" dirty="0" smtClean="0"/>
                        <a:t>Rate</a:t>
                      </a:r>
                      <a:r>
                        <a:rPr lang="en-US" sz="1050" dirty="0" smtClean="0"/>
                        <a:t>: 10 basis points</a:t>
                      </a:r>
                      <a:endParaRPr lang="en-US" sz="1050" dirty="0"/>
                    </a:p>
                  </a:txBody>
                  <a:tcPr anchor="ctr"/>
                </a:tc>
              </a:tr>
              <a:tr h="279400">
                <a:tc>
                  <a:txBody>
                    <a:bodyPr/>
                    <a:lstStyle/>
                    <a:p>
                      <a:r>
                        <a:rPr lang="en-US" sz="1050" b="1" dirty="0" smtClean="0"/>
                        <a:t>Collateral</a:t>
                      </a:r>
                      <a:r>
                        <a:rPr lang="en-US" sz="1050" dirty="0" smtClean="0"/>
                        <a:t>: </a:t>
                      </a:r>
                      <a:r>
                        <a:rPr lang="en-US" sz="1050" dirty="0" smtClean="0"/>
                        <a:t>Treasuries</a:t>
                      </a:r>
                      <a:endParaRPr lang="en-US" sz="1050" dirty="0"/>
                    </a:p>
                  </a:txBody>
                  <a:tcPr anchor="ctr"/>
                </a:tc>
                <a:tc>
                  <a:txBody>
                    <a:bodyPr/>
                    <a:lstStyle/>
                    <a:p>
                      <a:r>
                        <a:rPr lang="en-US" sz="1050" b="1" dirty="0" smtClean="0"/>
                        <a:t>Margin</a:t>
                      </a:r>
                      <a:r>
                        <a:rPr lang="en-US" sz="1050" dirty="0" smtClean="0"/>
                        <a:t>:</a:t>
                      </a:r>
                      <a:r>
                        <a:rPr lang="en-US" sz="1050" baseline="0" dirty="0" smtClean="0"/>
                        <a:t> None</a:t>
                      </a:r>
                      <a:endParaRPr lang="en-US" sz="1050" dirty="0"/>
                    </a:p>
                  </a:txBody>
                  <a:tcPr anchor="ctr"/>
                </a:tc>
              </a:tr>
              <a:tr h="279400">
                <a:tc>
                  <a:txBody>
                    <a:bodyPr/>
                    <a:lstStyle/>
                    <a:p>
                      <a:r>
                        <a:rPr lang="en-US" sz="1050" b="1" dirty="0" smtClean="0"/>
                        <a:t>Principal</a:t>
                      </a:r>
                      <a:r>
                        <a:rPr lang="en-US" sz="1050" dirty="0" smtClean="0"/>
                        <a:t>: $1 billion</a:t>
                      </a:r>
                      <a:endParaRPr lang="en-US" sz="1050" dirty="0"/>
                    </a:p>
                  </a:txBody>
                  <a:tcPr anchor="ctr"/>
                </a:tc>
                <a:tc>
                  <a:txBody>
                    <a:bodyPr/>
                    <a:lstStyle/>
                    <a:p>
                      <a:endParaRPr lang="en-US" sz="1050" dirty="0"/>
                    </a:p>
                  </a:txBody>
                  <a:tcPr anchor="ctr"/>
                </a:tc>
              </a:tr>
            </a:tbl>
          </a:graphicData>
        </a:graphic>
      </p:graphicFrame>
      <p:sp>
        <p:nvSpPr>
          <p:cNvPr id="59" name="TextBox 58"/>
          <p:cNvSpPr txBox="1"/>
          <p:nvPr/>
        </p:nvSpPr>
        <p:spPr>
          <a:xfrm>
            <a:off x="2667000" y="6718697"/>
            <a:ext cx="6400800" cy="246221"/>
          </a:xfrm>
          <a:prstGeom prst="rect">
            <a:avLst/>
          </a:prstGeom>
          <a:noFill/>
        </p:spPr>
        <p:txBody>
          <a:bodyPr wrap="square" rtlCol="0">
            <a:spAutoFit/>
          </a:bodyPr>
          <a:lstStyle/>
          <a:p>
            <a:r>
              <a:rPr lang="en-US" sz="1000" b="1" dirty="0" smtClean="0"/>
              <a:t>Note: </a:t>
            </a:r>
            <a:r>
              <a:rPr lang="en-US" sz="1000" dirty="0" smtClean="0"/>
              <a:t>$1,000,002,777.78 </a:t>
            </a:r>
            <a:r>
              <a:rPr lang="en-US" sz="1000" dirty="0"/>
              <a:t>= $1,000,000,000 </a:t>
            </a:r>
            <a:r>
              <a:rPr lang="en-US" sz="1000" dirty="0" smtClean="0"/>
              <a:t> + (</a:t>
            </a:r>
            <a:r>
              <a:rPr lang="en-US" sz="1000" dirty="0"/>
              <a:t>$1,000,000,000 </a:t>
            </a:r>
            <a:r>
              <a:rPr lang="en-US" sz="1000" dirty="0" smtClean="0"/>
              <a:t>* 1/360 * 10 basis points)</a:t>
            </a:r>
            <a:endParaRPr lang="en-US" sz="1000" dirty="0"/>
          </a:p>
        </p:txBody>
      </p:sp>
      <p:cxnSp>
        <p:nvCxnSpPr>
          <p:cNvPr id="26" name="Straight Connector 25"/>
          <p:cNvCxnSpPr/>
          <p:nvPr/>
        </p:nvCxnSpPr>
        <p:spPr>
          <a:xfrm>
            <a:off x="2743200" y="5829300"/>
            <a:ext cx="1371600"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23" name="Straight Arrow Connector 22"/>
          <p:cNvCxnSpPr/>
          <p:nvPr/>
        </p:nvCxnSpPr>
        <p:spPr>
          <a:xfrm>
            <a:off x="4718050" y="3946952"/>
            <a:ext cx="2444750" cy="0"/>
          </a:xfrm>
          <a:prstGeom prst="straightConnector1">
            <a:avLst/>
          </a:prstGeom>
          <a:ln>
            <a:solidFill>
              <a:srgbClr val="C6642E"/>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4" name="Straight Arrow Connector 23"/>
          <p:cNvCxnSpPr/>
          <p:nvPr/>
        </p:nvCxnSpPr>
        <p:spPr>
          <a:xfrm>
            <a:off x="4711700" y="4148833"/>
            <a:ext cx="2441448" cy="0"/>
          </a:xfrm>
          <a:prstGeom prst="straightConnector1">
            <a:avLst/>
          </a:prstGeom>
          <a:ln>
            <a:solidFill>
              <a:srgbClr val="2E8A60"/>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25" name="Rectangle 24"/>
          <p:cNvSpPr/>
          <p:nvPr/>
        </p:nvSpPr>
        <p:spPr>
          <a:xfrm>
            <a:off x="3048000" y="4602480"/>
            <a:ext cx="1447800" cy="640080"/>
          </a:xfrm>
          <a:prstGeom prst="rect">
            <a:avLst/>
          </a:pr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smtClean="0"/>
              <a:t>FICC</a:t>
            </a:r>
            <a:endParaRPr lang="en-US" sz="1400" dirty="0"/>
          </a:p>
        </p:txBody>
      </p:sp>
      <p:sp>
        <p:nvSpPr>
          <p:cNvPr id="27" name="Rectangle 26"/>
          <p:cNvSpPr/>
          <p:nvPr/>
        </p:nvSpPr>
        <p:spPr>
          <a:xfrm>
            <a:off x="7391400" y="4602480"/>
            <a:ext cx="1447800" cy="640080"/>
          </a:xfrm>
          <a:prstGeom prst="rect">
            <a:avLst/>
          </a:pr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smtClean="0"/>
              <a:t>Cash</a:t>
            </a:r>
          </a:p>
          <a:p>
            <a:pPr algn="ctr"/>
            <a:r>
              <a:rPr lang="en-US" sz="1400" dirty="0" smtClean="0"/>
              <a:t>Investor</a:t>
            </a:r>
            <a:endParaRPr lang="en-US" sz="1400" dirty="0"/>
          </a:p>
        </p:txBody>
      </p:sp>
      <p:sp>
        <p:nvSpPr>
          <p:cNvPr id="28" name="TextBox 27"/>
          <p:cNvSpPr txBox="1"/>
          <p:nvPr/>
        </p:nvSpPr>
        <p:spPr>
          <a:xfrm>
            <a:off x="4800600" y="4575761"/>
            <a:ext cx="2209800" cy="246221"/>
          </a:xfrm>
          <a:prstGeom prst="rect">
            <a:avLst/>
          </a:prstGeom>
          <a:noFill/>
        </p:spPr>
        <p:txBody>
          <a:bodyPr wrap="square" rtlCol="0">
            <a:spAutoFit/>
          </a:bodyPr>
          <a:lstStyle/>
          <a:p>
            <a:pPr algn="ctr"/>
            <a:r>
              <a:rPr lang="en-US" sz="1000" dirty="0" smtClean="0"/>
              <a:t>$1,000,000,000 of Treasuries</a:t>
            </a:r>
            <a:endParaRPr lang="en-US" sz="1000" dirty="0"/>
          </a:p>
        </p:txBody>
      </p:sp>
      <p:sp>
        <p:nvSpPr>
          <p:cNvPr id="29" name="TextBox 28"/>
          <p:cNvSpPr txBox="1"/>
          <p:nvPr/>
        </p:nvSpPr>
        <p:spPr>
          <a:xfrm>
            <a:off x="4800600" y="5042059"/>
            <a:ext cx="2209800" cy="246221"/>
          </a:xfrm>
          <a:prstGeom prst="rect">
            <a:avLst/>
          </a:prstGeom>
          <a:noFill/>
        </p:spPr>
        <p:txBody>
          <a:bodyPr wrap="square" rtlCol="0">
            <a:spAutoFit/>
          </a:bodyPr>
          <a:lstStyle/>
          <a:p>
            <a:pPr algn="ctr"/>
            <a:r>
              <a:rPr lang="en-US" sz="1000" dirty="0" smtClean="0"/>
              <a:t>$1,000,002,777.78 in cash</a:t>
            </a:r>
            <a:endParaRPr lang="en-US" sz="1000" dirty="0"/>
          </a:p>
        </p:txBody>
      </p:sp>
      <p:cxnSp>
        <p:nvCxnSpPr>
          <p:cNvPr id="30" name="Straight Arrow Connector 29"/>
          <p:cNvCxnSpPr/>
          <p:nvPr/>
        </p:nvCxnSpPr>
        <p:spPr>
          <a:xfrm>
            <a:off x="4718050" y="4815632"/>
            <a:ext cx="2444750" cy="0"/>
          </a:xfrm>
          <a:prstGeom prst="straightConnector1">
            <a:avLst/>
          </a:prstGeom>
          <a:ln>
            <a:solidFill>
              <a:srgbClr val="C6642E"/>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1" name="Straight Arrow Connector 30"/>
          <p:cNvCxnSpPr/>
          <p:nvPr/>
        </p:nvCxnSpPr>
        <p:spPr>
          <a:xfrm>
            <a:off x="4711700" y="5017513"/>
            <a:ext cx="2441448" cy="0"/>
          </a:xfrm>
          <a:prstGeom prst="straightConnector1">
            <a:avLst/>
          </a:prstGeom>
          <a:ln>
            <a:solidFill>
              <a:srgbClr val="2E8A60"/>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32" name="Rectangle 31"/>
          <p:cNvSpPr/>
          <p:nvPr/>
        </p:nvSpPr>
        <p:spPr>
          <a:xfrm>
            <a:off x="3048000" y="2388919"/>
            <a:ext cx="1447800" cy="638889"/>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smtClean="0"/>
              <a:t>FICC</a:t>
            </a:r>
            <a:endParaRPr lang="en-US" sz="1400" dirty="0"/>
          </a:p>
        </p:txBody>
      </p:sp>
      <p:sp>
        <p:nvSpPr>
          <p:cNvPr id="33" name="Rectangle 32"/>
          <p:cNvSpPr/>
          <p:nvPr/>
        </p:nvSpPr>
        <p:spPr>
          <a:xfrm>
            <a:off x="7391400" y="2388919"/>
            <a:ext cx="1447800" cy="638889"/>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a:t>Cash</a:t>
            </a:r>
          </a:p>
          <a:p>
            <a:pPr algn="ctr"/>
            <a:r>
              <a:rPr lang="en-US" sz="1400" dirty="0"/>
              <a:t>Investor</a:t>
            </a:r>
          </a:p>
        </p:txBody>
      </p:sp>
      <p:cxnSp>
        <p:nvCxnSpPr>
          <p:cNvPr id="34" name="Straight Arrow Connector 33"/>
          <p:cNvCxnSpPr/>
          <p:nvPr/>
        </p:nvCxnSpPr>
        <p:spPr>
          <a:xfrm>
            <a:off x="4718050" y="2617519"/>
            <a:ext cx="2444750" cy="0"/>
          </a:xfrm>
          <a:prstGeom prst="straightConnector1">
            <a:avLst/>
          </a:prstGeom>
          <a:ln>
            <a:solidFill>
              <a:srgbClr val="C6642E"/>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35" name="Straight Arrow Connector 34"/>
          <p:cNvCxnSpPr/>
          <p:nvPr/>
        </p:nvCxnSpPr>
        <p:spPr>
          <a:xfrm>
            <a:off x="4711700" y="2819400"/>
            <a:ext cx="2441448" cy="0"/>
          </a:xfrm>
          <a:prstGeom prst="straightConnector1">
            <a:avLst/>
          </a:prstGeom>
          <a:ln>
            <a:solidFill>
              <a:srgbClr val="2E8A60"/>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sp>
        <p:nvSpPr>
          <p:cNvPr id="36" name="TextBox 35"/>
          <p:cNvSpPr txBox="1"/>
          <p:nvPr/>
        </p:nvSpPr>
        <p:spPr>
          <a:xfrm>
            <a:off x="4800600" y="2362200"/>
            <a:ext cx="2209800" cy="246221"/>
          </a:xfrm>
          <a:prstGeom prst="rect">
            <a:avLst/>
          </a:prstGeom>
          <a:noFill/>
        </p:spPr>
        <p:txBody>
          <a:bodyPr wrap="square" rtlCol="0">
            <a:spAutoFit/>
          </a:bodyPr>
          <a:lstStyle/>
          <a:p>
            <a:pPr algn="ctr"/>
            <a:r>
              <a:rPr lang="en-US" sz="1000" dirty="0" smtClean="0"/>
              <a:t>$1,000,000,000 of Treasuries</a:t>
            </a:r>
            <a:endParaRPr lang="en-US" sz="1000" dirty="0"/>
          </a:p>
        </p:txBody>
      </p:sp>
      <p:sp>
        <p:nvSpPr>
          <p:cNvPr id="37" name="TextBox 36"/>
          <p:cNvSpPr txBox="1"/>
          <p:nvPr/>
        </p:nvSpPr>
        <p:spPr>
          <a:xfrm>
            <a:off x="4800600" y="2828498"/>
            <a:ext cx="2209800" cy="246221"/>
          </a:xfrm>
          <a:prstGeom prst="rect">
            <a:avLst/>
          </a:prstGeom>
          <a:noFill/>
        </p:spPr>
        <p:txBody>
          <a:bodyPr wrap="square" rtlCol="0">
            <a:spAutoFit/>
          </a:bodyPr>
          <a:lstStyle/>
          <a:p>
            <a:pPr algn="ctr"/>
            <a:r>
              <a:rPr lang="en-US" sz="1000" dirty="0" smtClean="0"/>
              <a:t>$1,000,000,000 in cash</a:t>
            </a:r>
            <a:endParaRPr lang="en-US" sz="1000" dirty="0"/>
          </a:p>
        </p:txBody>
      </p:sp>
      <p:sp>
        <p:nvSpPr>
          <p:cNvPr id="40" name="TextBox 39"/>
          <p:cNvSpPr txBox="1"/>
          <p:nvPr/>
        </p:nvSpPr>
        <p:spPr>
          <a:xfrm>
            <a:off x="2472698" y="7047890"/>
            <a:ext cx="4690102" cy="230832"/>
          </a:xfrm>
          <a:prstGeom prst="rect">
            <a:avLst/>
          </a:prstGeom>
          <a:noFill/>
        </p:spPr>
        <p:txBody>
          <a:bodyPr wrap="square" rtlCol="0">
            <a:spAutoFit/>
          </a:bodyPr>
          <a:lstStyle/>
          <a:p>
            <a:r>
              <a:rPr lang="en-US" sz="900" i="1" dirty="0" smtClean="0">
                <a:latin typeface="Calibri" panose="020F0502020204030204" pitchFamily="34" charset="0"/>
              </a:rPr>
              <a:t>Source: </a:t>
            </a:r>
            <a:r>
              <a:rPr lang="en-US" sz="900" i="1" dirty="0">
                <a:latin typeface="Calibri" panose="020F0502020204030204" pitchFamily="34" charset="0"/>
              </a:rPr>
              <a:t> </a:t>
            </a:r>
            <a:r>
              <a:rPr lang="en-US" sz="900" i="1" dirty="0" smtClean="0">
                <a:latin typeface="Calibri" panose="020F0502020204030204" pitchFamily="34" charset="0"/>
              </a:rPr>
              <a:t>Adapted from “A Primer on the GCF Repo Service: Introduction”, Copeland (2015).</a:t>
            </a:r>
            <a:endParaRPr lang="en-US" sz="900" i="1" dirty="0">
              <a:latin typeface="Calibri" panose="020F0502020204030204" pitchFamily="34" charset="0"/>
            </a:endParaRPr>
          </a:p>
        </p:txBody>
      </p:sp>
    </p:spTree>
    <p:extLst>
      <p:ext uri="{BB962C8B-B14F-4D97-AF65-F5344CB8AC3E}">
        <p14:creationId xmlns:p14="http://schemas.microsoft.com/office/powerpoint/2010/main" val="3884239830"/>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The </a:t>
            </a:r>
            <a:r>
              <a:rPr lang="en-US" dirty="0" smtClean="0"/>
              <a:t>STRUCTURE OF U.S. REPO MARKETS</a:t>
            </a:r>
            <a:endParaRPr lang="en-US" dirty="0"/>
          </a:p>
        </p:txBody>
      </p:sp>
      <p:sp>
        <p:nvSpPr>
          <p:cNvPr id="73" name="Content Placeholder 12"/>
          <p:cNvSpPr>
            <a:spLocks noGrp="1"/>
          </p:cNvSpPr>
          <p:nvPr>
            <p:ph idx="1"/>
          </p:nvPr>
        </p:nvSpPr>
        <p:spPr>
          <a:xfrm>
            <a:off x="293687" y="1235075"/>
            <a:ext cx="1839913" cy="5927725"/>
          </a:xfrm>
        </p:spPr>
        <p:txBody>
          <a:bodyPr/>
          <a:lstStyle/>
          <a:p>
            <a:pPr>
              <a:lnSpc>
                <a:spcPct val="100000"/>
              </a:lnSpc>
              <a:spcBef>
                <a:spcPts val="0"/>
              </a:spcBef>
            </a:pPr>
            <a:r>
              <a:rPr lang="en-US" sz="1100" b="0" dirty="0" smtClean="0">
                <a:solidFill>
                  <a:schemeClr val="tx1"/>
                </a:solidFill>
                <a:latin typeface="+mn-lt"/>
              </a:rPr>
              <a:t>The U.S. Repo market is part of the collateralized U.S.-dollar-denominated money markets and plays a critical role in the trading of fixed-income securities.</a:t>
            </a:r>
          </a:p>
          <a:p>
            <a:pPr>
              <a:lnSpc>
                <a:spcPct val="100000"/>
              </a:lnSpc>
              <a:spcBef>
                <a:spcPts val="0"/>
              </a:spcBef>
            </a:pPr>
            <a:endParaRPr lang="en-US" sz="1100" b="0" dirty="0">
              <a:solidFill>
                <a:schemeClr val="tx1"/>
              </a:solidFill>
              <a:latin typeface="+mn-lt"/>
            </a:endParaRPr>
          </a:p>
          <a:p>
            <a:pPr>
              <a:lnSpc>
                <a:spcPct val="100000"/>
              </a:lnSpc>
              <a:spcBef>
                <a:spcPts val="0"/>
              </a:spcBef>
            </a:pPr>
            <a:r>
              <a:rPr lang="en-US" sz="1100" b="0" dirty="0" smtClean="0">
                <a:solidFill>
                  <a:schemeClr val="tx1"/>
                </a:solidFill>
                <a:latin typeface="+mn-lt"/>
              </a:rPr>
              <a:t>The Repo market matches financial institutions that are long cash such as </a:t>
            </a:r>
            <a:r>
              <a:rPr lang="en-US" sz="1100" b="0" dirty="0" smtClean="0">
                <a:solidFill>
                  <a:schemeClr val="tx1"/>
                </a:solidFill>
                <a:latin typeface="+mn-lt"/>
              </a:rPr>
              <a:t>Money </a:t>
            </a:r>
            <a:r>
              <a:rPr lang="en-US" sz="1100" b="0" dirty="0" smtClean="0">
                <a:solidFill>
                  <a:schemeClr val="tx1"/>
                </a:solidFill>
                <a:latin typeface="+mn-lt"/>
              </a:rPr>
              <a:t>market mutual </a:t>
            </a:r>
            <a:r>
              <a:rPr lang="en-US" sz="1100" b="0" dirty="0" smtClean="0">
                <a:solidFill>
                  <a:schemeClr val="tx1"/>
                </a:solidFill>
                <a:latin typeface="+mn-lt"/>
              </a:rPr>
              <a:t>funds (MMFs), </a:t>
            </a:r>
            <a:r>
              <a:rPr lang="en-US" sz="1100" b="0" dirty="0">
                <a:solidFill>
                  <a:schemeClr val="tx1"/>
                </a:solidFill>
                <a:latin typeface="+mn-lt"/>
              </a:rPr>
              <a:t>C</a:t>
            </a:r>
            <a:r>
              <a:rPr lang="en-US" sz="1100" b="0" dirty="0" smtClean="0">
                <a:solidFill>
                  <a:schemeClr val="tx1"/>
                </a:solidFill>
                <a:latin typeface="+mn-lt"/>
              </a:rPr>
              <a:t>orporate </a:t>
            </a:r>
            <a:r>
              <a:rPr lang="en-US" sz="1100" b="0" dirty="0" smtClean="0">
                <a:solidFill>
                  <a:schemeClr val="tx1"/>
                </a:solidFill>
                <a:latin typeface="+mn-lt"/>
              </a:rPr>
              <a:t>treasuries and </a:t>
            </a:r>
            <a:r>
              <a:rPr lang="en-US" sz="1100" b="0" dirty="0" smtClean="0">
                <a:solidFill>
                  <a:schemeClr val="tx1"/>
                </a:solidFill>
                <a:latin typeface="+mn-lt"/>
              </a:rPr>
              <a:t>Custodial </a:t>
            </a:r>
            <a:r>
              <a:rPr lang="en-US" sz="1100" b="0" dirty="0" smtClean="0">
                <a:solidFill>
                  <a:schemeClr val="tx1"/>
                </a:solidFill>
                <a:latin typeface="+mn-lt"/>
              </a:rPr>
              <a:t>agents  to institutions that are short of cash such as dealers and hedge funds.</a:t>
            </a:r>
          </a:p>
          <a:p>
            <a:pPr>
              <a:lnSpc>
                <a:spcPct val="100000"/>
              </a:lnSpc>
              <a:spcBef>
                <a:spcPts val="0"/>
              </a:spcBef>
            </a:pPr>
            <a:endParaRPr lang="en-US" sz="1100" b="0" dirty="0">
              <a:solidFill>
                <a:schemeClr val="tx1"/>
              </a:solidFill>
              <a:latin typeface="+mn-lt"/>
            </a:endParaRPr>
          </a:p>
          <a:p>
            <a:pPr>
              <a:lnSpc>
                <a:spcPct val="100000"/>
              </a:lnSpc>
              <a:spcBef>
                <a:spcPts val="0"/>
              </a:spcBef>
            </a:pPr>
            <a:r>
              <a:rPr lang="en-US" sz="1100" b="0" dirty="0" smtClean="0">
                <a:solidFill>
                  <a:schemeClr val="tx1"/>
                </a:solidFill>
                <a:latin typeface="+mn-lt"/>
              </a:rPr>
              <a:t>Security dealers play a critical intermediation role in the Repo market through facilitating the exchange of securities for cash among participants.</a:t>
            </a:r>
          </a:p>
          <a:p>
            <a:pPr>
              <a:lnSpc>
                <a:spcPct val="100000"/>
              </a:lnSpc>
              <a:spcBef>
                <a:spcPts val="0"/>
              </a:spcBef>
            </a:pPr>
            <a:endParaRPr lang="en-US" sz="1100" b="0" dirty="0">
              <a:solidFill>
                <a:schemeClr val="tx1"/>
              </a:solidFill>
              <a:latin typeface="+mn-lt"/>
            </a:endParaRPr>
          </a:p>
          <a:p>
            <a:pPr>
              <a:lnSpc>
                <a:spcPct val="100000"/>
              </a:lnSpc>
              <a:spcBef>
                <a:spcPts val="0"/>
              </a:spcBef>
            </a:pPr>
            <a:r>
              <a:rPr lang="en-US" sz="1100" b="0" dirty="0" smtClean="0">
                <a:solidFill>
                  <a:schemeClr val="tx1"/>
                </a:solidFill>
                <a:latin typeface="+mn-lt"/>
              </a:rPr>
              <a:t>Triparty </a:t>
            </a:r>
            <a:r>
              <a:rPr lang="en-US" sz="1100" b="0" dirty="0" smtClean="0">
                <a:solidFill>
                  <a:schemeClr val="tx1"/>
                </a:solidFill>
                <a:latin typeface="+mn-lt"/>
              </a:rPr>
              <a:t>repo markets are considered more cost </a:t>
            </a:r>
            <a:r>
              <a:rPr lang="en-US" sz="1100" b="0" dirty="0" smtClean="0">
                <a:solidFill>
                  <a:schemeClr val="tx1"/>
                </a:solidFill>
                <a:latin typeface="+mn-lt"/>
              </a:rPr>
              <a:t>efficient, </a:t>
            </a:r>
            <a:r>
              <a:rPr lang="en-US" sz="1100" b="0" dirty="0" smtClean="0">
                <a:solidFill>
                  <a:schemeClr val="tx1"/>
                </a:solidFill>
                <a:latin typeface="+mn-lt"/>
              </a:rPr>
              <a:t>while bilateral </a:t>
            </a:r>
            <a:r>
              <a:rPr lang="en-US" sz="1100" b="0" dirty="0" smtClean="0">
                <a:solidFill>
                  <a:schemeClr val="tx1"/>
                </a:solidFill>
                <a:latin typeface="+mn-lt"/>
              </a:rPr>
              <a:t>repo is </a:t>
            </a:r>
            <a:r>
              <a:rPr lang="en-US" sz="1100" b="0" dirty="0" smtClean="0">
                <a:solidFill>
                  <a:schemeClr val="tx1"/>
                </a:solidFill>
                <a:latin typeface="+mn-lt"/>
              </a:rPr>
              <a:t>preferred if two parties wish to interact directly with each other or if specific collateral is requested.</a:t>
            </a:r>
          </a:p>
          <a:p>
            <a:pPr>
              <a:lnSpc>
                <a:spcPct val="100000"/>
              </a:lnSpc>
              <a:spcBef>
                <a:spcPts val="0"/>
              </a:spcBef>
            </a:pPr>
            <a:endParaRPr lang="en-US" sz="1200" b="0" dirty="0">
              <a:solidFill>
                <a:schemeClr val="tx1"/>
              </a:solidFill>
              <a:latin typeface="+mn-lt"/>
            </a:endParaRPr>
          </a:p>
          <a:p>
            <a:pPr>
              <a:lnSpc>
                <a:spcPct val="100000"/>
              </a:lnSpc>
              <a:spcBef>
                <a:spcPts val="0"/>
              </a:spcBef>
            </a:pPr>
            <a:endParaRPr lang="en-US" sz="1200" b="0" dirty="0" smtClean="0">
              <a:solidFill>
                <a:schemeClr val="tx1"/>
              </a:solidFill>
              <a:latin typeface="+mn-lt"/>
            </a:endParaRPr>
          </a:p>
          <a:p>
            <a:pPr>
              <a:lnSpc>
                <a:spcPct val="100000"/>
              </a:lnSpc>
              <a:spcBef>
                <a:spcPts val="0"/>
              </a:spcBef>
            </a:pPr>
            <a:endParaRPr lang="en-US" sz="1200" b="0" dirty="0">
              <a:solidFill>
                <a:schemeClr val="tx1"/>
              </a:solidFill>
              <a:latin typeface="+mn-lt"/>
            </a:endParaRPr>
          </a:p>
          <a:p>
            <a:pPr>
              <a:lnSpc>
                <a:spcPct val="100000"/>
              </a:lnSpc>
              <a:spcBef>
                <a:spcPts val="0"/>
              </a:spcBef>
            </a:pPr>
            <a:endParaRPr lang="en-US" sz="1100" b="0" dirty="0">
              <a:solidFill>
                <a:schemeClr val="tx1"/>
              </a:solidFill>
            </a:endParaRPr>
          </a:p>
          <a:p>
            <a:endParaRPr lang="en-US" sz="1100" b="0" dirty="0" smtClean="0">
              <a:solidFill>
                <a:schemeClr val="tx1"/>
              </a:solidFill>
            </a:endParaRPr>
          </a:p>
          <a:p>
            <a:endParaRPr lang="en-US" sz="1100" b="0" dirty="0">
              <a:solidFill>
                <a:schemeClr val="tx1"/>
              </a:solidFill>
            </a:endParaRPr>
          </a:p>
          <a:p>
            <a:endParaRPr lang="en-US" sz="1100" dirty="0" smtClean="0"/>
          </a:p>
        </p:txBody>
      </p:sp>
      <p:sp>
        <p:nvSpPr>
          <p:cNvPr id="3" name="Arc 2"/>
          <p:cNvSpPr/>
          <p:nvPr/>
        </p:nvSpPr>
        <p:spPr>
          <a:xfrm>
            <a:off x="5638800" y="2209800"/>
            <a:ext cx="1257301" cy="1371600"/>
          </a:xfrm>
          <a:prstGeom prst="arc">
            <a:avLst>
              <a:gd name="adj1" fmla="val 10868291"/>
              <a:gd name="adj2" fmla="val 0"/>
            </a:avLst>
          </a:prstGeom>
          <a:ln>
            <a:solidFill>
              <a:srgbClr val="2E8A60"/>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4" name="Rectangle 3"/>
          <p:cNvSpPr/>
          <p:nvPr/>
        </p:nvSpPr>
        <p:spPr>
          <a:xfrm>
            <a:off x="5410200" y="2971800"/>
            <a:ext cx="1600200" cy="2099102"/>
          </a:xfrm>
          <a:prstGeom prst="rect">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smtClean="0">
                <a:solidFill>
                  <a:schemeClr val="tx1"/>
                </a:solidFill>
              </a:rPr>
              <a:t>Securities</a:t>
            </a:r>
          </a:p>
          <a:p>
            <a:pPr algn="ctr"/>
            <a:r>
              <a:rPr lang="en-US" b="1" dirty="0" smtClean="0">
                <a:solidFill>
                  <a:schemeClr val="tx1"/>
                </a:solidFill>
              </a:rPr>
              <a:t>dealers</a:t>
            </a:r>
            <a:endParaRPr lang="en-US" b="1" dirty="0">
              <a:solidFill>
                <a:schemeClr val="tx1"/>
              </a:solidFill>
            </a:endParaRPr>
          </a:p>
        </p:txBody>
      </p:sp>
      <p:sp>
        <p:nvSpPr>
          <p:cNvPr id="16" name="Rectangle 15"/>
          <p:cNvSpPr/>
          <p:nvPr/>
        </p:nvSpPr>
        <p:spPr>
          <a:xfrm>
            <a:off x="2590800" y="2133600"/>
            <a:ext cx="1447800" cy="1676400"/>
          </a:xfrm>
          <a:prstGeom prst="rect">
            <a:avLst/>
          </a:prstGeom>
          <a:solidFill>
            <a:schemeClr val="accent3">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100" dirty="0" smtClean="0">
                <a:solidFill>
                  <a:schemeClr val="tx1"/>
                </a:solidFill>
              </a:rPr>
              <a:t>Bilateral cash investors:</a:t>
            </a:r>
          </a:p>
          <a:p>
            <a:pPr marL="114300" indent="-114300">
              <a:buFontTx/>
              <a:buChar char="-"/>
            </a:pPr>
            <a:r>
              <a:rPr lang="en-US" sz="1100" dirty="0" smtClean="0">
                <a:solidFill>
                  <a:schemeClr val="tx1"/>
                </a:solidFill>
              </a:rPr>
              <a:t>Hedge funds</a:t>
            </a:r>
          </a:p>
          <a:p>
            <a:pPr marL="114300" indent="-114300">
              <a:buFontTx/>
              <a:buChar char="-"/>
            </a:pPr>
            <a:r>
              <a:rPr lang="en-US" sz="1100" dirty="0" smtClean="0">
                <a:solidFill>
                  <a:schemeClr val="tx1"/>
                </a:solidFill>
              </a:rPr>
              <a:t>Asset managers</a:t>
            </a:r>
          </a:p>
          <a:p>
            <a:pPr marL="114300" indent="-114300">
              <a:buFontTx/>
              <a:buChar char="-"/>
            </a:pPr>
            <a:r>
              <a:rPr lang="en-US" sz="1100" dirty="0" smtClean="0">
                <a:solidFill>
                  <a:schemeClr val="tx1"/>
                </a:solidFill>
              </a:rPr>
              <a:t>others</a:t>
            </a:r>
            <a:endParaRPr lang="en-US" sz="1100" dirty="0">
              <a:solidFill>
                <a:schemeClr val="tx1"/>
              </a:solidFill>
            </a:endParaRPr>
          </a:p>
        </p:txBody>
      </p:sp>
      <p:sp>
        <p:nvSpPr>
          <p:cNvPr id="19" name="Arc 18"/>
          <p:cNvSpPr/>
          <p:nvPr/>
        </p:nvSpPr>
        <p:spPr>
          <a:xfrm rot="10800000">
            <a:off x="5638801" y="4613701"/>
            <a:ext cx="1257300" cy="1371600"/>
          </a:xfrm>
          <a:prstGeom prst="arc">
            <a:avLst>
              <a:gd name="adj1" fmla="val 10868291"/>
              <a:gd name="adj2" fmla="val 0"/>
            </a:avLst>
          </a:prstGeom>
          <a:ln>
            <a:solidFill>
              <a:srgbClr val="2E8A60"/>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20" name="Arc 19"/>
          <p:cNvSpPr/>
          <p:nvPr/>
        </p:nvSpPr>
        <p:spPr>
          <a:xfrm rot="10800000">
            <a:off x="5756910" y="4750861"/>
            <a:ext cx="1005840" cy="1097280"/>
          </a:xfrm>
          <a:prstGeom prst="arc">
            <a:avLst>
              <a:gd name="adj1" fmla="val 10868291"/>
              <a:gd name="adj2" fmla="val 0"/>
            </a:avLst>
          </a:prstGeom>
          <a:ln>
            <a:solidFill>
              <a:srgbClr val="C6642E"/>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21" name="Arc 20"/>
          <p:cNvSpPr/>
          <p:nvPr/>
        </p:nvSpPr>
        <p:spPr>
          <a:xfrm>
            <a:off x="5769609" y="2346960"/>
            <a:ext cx="1005841" cy="1097280"/>
          </a:xfrm>
          <a:prstGeom prst="arc">
            <a:avLst>
              <a:gd name="adj1" fmla="val 10868291"/>
              <a:gd name="adj2" fmla="val 0"/>
            </a:avLst>
          </a:prstGeom>
          <a:ln>
            <a:solidFill>
              <a:srgbClr val="C6642E"/>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22" name="Rectangle 21"/>
          <p:cNvSpPr/>
          <p:nvPr/>
        </p:nvSpPr>
        <p:spPr>
          <a:xfrm>
            <a:off x="2590800" y="4114800"/>
            <a:ext cx="1447800" cy="1680002"/>
          </a:xfrm>
          <a:prstGeom prst="rect">
            <a:avLst/>
          </a:prstGeom>
          <a:solidFill>
            <a:schemeClr val="accent5">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100" dirty="0" smtClean="0">
                <a:solidFill>
                  <a:schemeClr val="tx1"/>
                </a:solidFill>
              </a:rPr>
              <a:t>Triparty </a:t>
            </a:r>
            <a:r>
              <a:rPr lang="en-US" sz="1100" dirty="0" smtClean="0">
                <a:solidFill>
                  <a:schemeClr val="tx1"/>
                </a:solidFill>
              </a:rPr>
              <a:t>cash investors:</a:t>
            </a:r>
          </a:p>
          <a:p>
            <a:pPr marL="171450" indent="-171450">
              <a:buFontTx/>
              <a:buChar char="-"/>
            </a:pPr>
            <a:r>
              <a:rPr lang="en-US" sz="1100" dirty="0" smtClean="0">
                <a:solidFill>
                  <a:schemeClr val="tx1"/>
                </a:solidFill>
              </a:rPr>
              <a:t>Money market mutual funds</a:t>
            </a:r>
          </a:p>
          <a:p>
            <a:pPr marL="171450" indent="-171450">
              <a:buFontTx/>
              <a:buChar char="-"/>
            </a:pPr>
            <a:r>
              <a:rPr lang="en-US" sz="1100" dirty="0" smtClean="0">
                <a:solidFill>
                  <a:schemeClr val="tx1"/>
                </a:solidFill>
              </a:rPr>
              <a:t>Securities lenders</a:t>
            </a:r>
          </a:p>
          <a:p>
            <a:pPr marL="171450" indent="-171450">
              <a:buFontTx/>
              <a:buChar char="-"/>
            </a:pPr>
            <a:r>
              <a:rPr lang="en-US" sz="1100" dirty="0">
                <a:solidFill>
                  <a:schemeClr val="tx1"/>
                </a:solidFill>
              </a:rPr>
              <a:t>O</a:t>
            </a:r>
            <a:r>
              <a:rPr lang="en-US" sz="1100" dirty="0" smtClean="0">
                <a:solidFill>
                  <a:schemeClr val="tx1"/>
                </a:solidFill>
              </a:rPr>
              <a:t>thers</a:t>
            </a:r>
            <a:endParaRPr lang="en-US" sz="1100" dirty="0">
              <a:solidFill>
                <a:schemeClr val="tx1"/>
              </a:solidFill>
            </a:endParaRPr>
          </a:p>
        </p:txBody>
      </p:sp>
      <p:sp>
        <p:nvSpPr>
          <p:cNvPr id="23" name="Rectangle 22"/>
          <p:cNvSpPr/>
          <p:nvPr/>
        </p:nvSpPr>
        <p:spPr>
          <a:xfrm>
            <a:off x="8286750" y="2971800"/>
            <a:ext cx="1447800" cy="1447800"/>
          </a:xfrm>
          <a:prstGeom prst="rect">
            <a:avLst/>
          </a:prstGeom>
          <a:solidFill>
            <a:schemeClr val="accent3">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171450" indent="-171450">
              <a:buFontTx/>
              <a:buChar char="-"/>
            </a:pPr>
            <a:r>
              <a:rPr lang="en-US" sz="1100" dirty="0" smtClean="0">
                <a:solidFill>
                  <a:schemeClr val="tx1"/>
                </a:solidFill>
              </a:rPr>
              <a:t>Prime Brokerage Clients</a:t>
            </a:r>
          </a:p>
          <a:p>
            <a:pPr marL="171450" indent="-171450">
              <a:buFontTx/>
              <a:buChar char="-"/>
            </a:pPr>
            <a:r>
              <a:rPr lang="en-US" sz="1100" dirty="0" smtClean="0">
                <a:solidFill>
                  <a:schemeClr val="tx1"/>
                </a:solidFill>
              </a:rPr>
              <a:t>Hedge funds</a:t>
            </a:r>
          </a:p>
          <a:p>
            <a:pPr marL="171450" indent="-171450">
              <a:buFontTx/>
              <a:buChar char="-"/>
            </a:pPr>
            <a:r>
              <a:rPr lang="en-US" sz="1100" dirty="0" smtClean="0">
                <a:solidFill>
                  <a:schemeClr val="tx1"/>
                </a:solidFill>
              </a:rPr>
              <a:t>Others</a:t>
            </a:r>
            <a:endParaRPr lang="en-US" sz="1100" dirty="0">
              <a:solidFill>
                <a:schemeClr val="tx1"/>
              </a:solidFill>
            </a:endParaRPr>
          </a:p>
        </p:txBody>
      </p:sp>
      <p:sp>
        <p:nvSpPr>
          <p:cNvPr id="24" name="Rectangle 23"/>
          <p:cNvSpPr/>
          <p:nvPr/>
        </p:nvSpPr>
        <p:spPr>
          <a:xfrm>
            <a:off x="8286750" y="5375702"/>
            <a:ext cx="1447800" cy="838200"/>
          </a:xfrm>
          <a:prstGeom prst="rect">
            <a:avLst/>
          </a:prstGeom>
          <a:no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US" sz="1100" dirty="0" smtClean="0">
              <a:solidFill>
                <a:schemeClr val="tx1"/>
              </a:solidFill>
            </a:endParaRPr>
          </a:p>
        </p:txBody>
      </p:sp>
      <p:cxnSp>
        <p:nvCxnSpPr>
          <p:cNvPr id="6" name="Straight Arrow Connector 5"/>
          <p:cNvCxnSpPr/>
          <p:nvPr/>
        </p:nvCxnSpPr>
        <p:spPr>
          <a:xfrm>
            <a:off x="4191000" y="3200400"/>
            <a:ext cx="1066800" cy="0"/>
          </a:xfrm>
          <a:prstGeom prst="straightConnector1">
            <a:avLst/>
          </a:prstGeom>
          <a:ln>
            <a:solidFill>
              <a:srgbClr val="2E8A60"/>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27" name="Straight Arrow Connector 26"/>
          <p:cNvCxnSpPr/>
          <p:nvPr/>
        </p:nvCxnSpPr>
        <p:spPr>
          <a:xfrm>
            <a:off x="4184650" y="3352800"/>
            <a:ext cx="1066800" cy="0"/>
          </a:xfrm>
          <a:prstGeom prst="straightConnector1">
            <a:avLst/>
          </a:prstGeom>
          <a:ln>
            <a:solidFill>
              <a:srgbClr val="C6642E"/>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8" name="Straight Arrow Connector 27"/>
          <p:cNvCxnSpPr/>
          <p:nvPr/>
        </p:nvCxnSpPr>
        <p:spPr>
          <a:xfrm>
            <a:off x="4184650" y="4689902"/>
            <a:ext cx="1066800" cy="0"/>
          </a:xfrm>
          <a:prstGeom prst="straightConnector1">
            <a:avLst/>
          </a:prstGeom>
          <a:ln>
            <a:solidFill>
              <a:srgbClr val="2E8A60"/>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29" name="Straight Arrow Connector 28"/>
          <p:cNvCxnSpPr/>
          <p:nvPr/>
        </p:nvCxnSpPr>
        <p:spPr>
          <a:xfrm>
            <a:off x="4184650" y="4842302"/>
            <a:ext cx="1066800" cy="0"/>
          </a:xfrm>
          <a:prstGeom prst="straightConnector1">
            <a:avLst/>
          </a:prstGeom>
          <a:ln>
            <a:solidFill>
              <a:srgbClr val="C6642E"/>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0" name="Straight Arrow Connector 29"/>
          <p:cNvCxnSpPr/>
          <p:nvPr/>
        </p:nvCxnSpPr>
        <p:spPr>
          <a:xfrm>
            <a:off x="7086600" y="4232702"/>
            <a:ext cx="1066800" cy="0"/>
          </a:xfrm>
          <a:prstGeom prst="straightConnector1">
            <a:avLst/>
          </a:prstGeom>
          <a:ln>
            <a:solidFill>
              <a:srgbClr val="2E8A60"/>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31" name="Straight Arrow Connector 30"/>
          <p:cNvCxnSpPr/>
          <p:nvPr/>
        </p:nvCxnSpPr>
        <p:spPr>
          <a:xfrm>
            <a:off x="7086600" y="4385102"/>
            <a:ext cx="1066800" cy="0"/>
          </a:xfrm>
          <a:prstGeom prst="straightConnector1">
            <a:avLst/>
          </a:prstGeom>
          <a:ln>
            <a:solidFill>
              <a:srgbClr val="C6642E"/>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2" name="Straight Arrow Connector 31"/>
          <p:cNvCxnSpPr/>
          <p:nvPr/>
        </p:nvCxnSpPr>
        <p:spPr>
          <a:xfrm>
            <a:off x="8477250" y="5712253"/>
            <a:ext cx="1066800" cy="0"/>
          </a:xfrm>
          <a:prstGeom prst="straightConnector1">
            <a:avLst/>
          </a:prstGeom>
          <a:ln>
            <a:solidFill>
              <a:srgbClr val="2E8A60"/>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33" name="Straight Arrow Connector 32"/>
          <p:cNvCxnSpPr/>
          <p:nvPr/>
        </p:nvCxnSpPr>
        <p:spPr>
          <a:xfrm>
            <a:off x="8477250" y="5985302"/>
            <a:ext cx="1066800" cy="0"/>
          </a:xfrm>
          <a:prstGeom prst="straightConnector1">
            <a:avLst/>
          </a:prstGeom>
          <a:ln>
            <a:solidFill>
              <a:srgbClr val="C6642E"/>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sp>
        <p:nvSpPr>
          <p:cNvPr id="7" name="TextBox 6"/>
          <p:cNvSpPr txBox="1"/>
          <p:nvPr/>
        </p:nvSpPr>
        <p:spPr>
          <a:xfrm>
            <a:off x="8477250" y="5451902"/>
            <a:ext cx="971550" cy="246221"/>
          </a:xfrm>
          <a:prstGeom prst="rect">
            <a:avLst/>
          </a:prstGeom>
          <a:noFill/>
        </p:spPr>
        <p:txBody>
          <a:bodyPr wrap="square" rtlCol="0">
            <a:spAutoFit/>
          </a:bodyPr>
          <a:lstStyle/>
          <a:p>
            <a:pPr algn="ctr"/>
            <a:r>
              <a:rPr lang="en-US" sz="1000" dirty="0" smtClean="0"/>
              <a:t>Cash</a:t>
            </a:r>
            <a:endParaRPr lang="en-US" sz="1000" dirty="0"/>
          </a:p>
        </p:txBody>
      </p:sp>
      <p:sp>
        <p:nvSpPr>
          <p:cNvPr id="35" name="TextBox 34"/>
          <p:cNvSpPr txBox="1"/>
          <p:nvPr/>
        </p:nvSpPr>
        <p:spPr>
          <a:xfrm>
            <a:off x="8477250" y="5739081"/>
            <a:ext cx="971550" cy="246221"/>
          </a:xfrm>
          <a:prstGeom prst="rect">
            <a:avLst/>
          </a:prstGeom>
          <a:noFill/>
        </p:spPr>
        <p:txBody>
          <a:bodyPr wrap="square" rtlCol="0">
            <a:spAutoFit/>
          </a:bodyPr>
          <a:lstStyle/>
          <a:p>
            <a:pPr algn="ctr"/>
            <a:r>
              <a:rPr lang="en-US" sz="1000" dirty="0" smtClean="0"/>
              <a:t>Securities</a:t>
            </a:r>
            <a:endParaRPr lang="en-US" sz="1000" dirty="0"/>
          </a:p>
        </p:txBody>
      </p:sp>
      <p:sp>
        <p:nvSpPr>
          <p:cNvPr id="36" name="TextBox 35"/>
          <p:cNvSpPr txBox="1"/>
          <p:nvPr/>
        </p:nvSpPr>
        <p:spPr>
          <a:xfrm>
            <a:off x="5755639" y="5404990"/>
            <a:ext cx="971550" cy="246221"/>
          </a:xfrm>
          <a:prstGeom prst="rect">
            <a:avLst/>
          </a:prstGeom>
          <a:noFill/>
        </p:spPr>
        <p:txBody>
          <a:bodyPr wrap="square" rtlCol="0">
            <a:spAutoFit/>
          </a:bodyPr>
          <a:lstStyle/>
          <a:p>
            <a:pPr algn="ctr"/>
            <a:r>
              <a:rPr lang="en-US" sz="1000" dirty="0" smtClean="0"/>
              <a:t>GCF</a:t>
            </a:r>
            <a:endParaRPr lang="en-US" sz="1000" dirty="0"/>
          </a:p>
        </p:txBody>
      </p:sp>
      <p:sp>
        <p:nvSpPr>
          <p:cNvPr id="37" name="TextBox 36"/>
          <p:cNvSpPr txBox="1"/>
          <p:nvPr/>
        </p:nvSpPr>
        <p:spPr>
          <a:xfrm>
            <a:off x="7683500" y="1893729"/>
            <a:ext cx="971550" cy="415498"/>
          </a:xfrm>
          <a:prstGeom prst="rect">
            <a:avLst/>
          </a:prstGeom>
          <a:noFill/>
        </p:spPr>
        <p:txBody>
          <a:bodyPr wrap="square" rtlCol="0">
            <a:spAutoFit/>
          </a:bodyPr>
          <a:lstStyle/>
          <a:p>
            <a:pPr algn="ctr"/>
            <a:r>
              <a:rPr lang="en-US" sz="1050" b="1" dirty="0" smtClean="0"/>
              <a:t>Bilateral repo market</a:t>
            </a:r>
            <a:endParaRPr lang="en-US" sz="1050" b="1" dirty="0"/>
          </a:p>
        </p:txBody>
      </p:sp>
      <p:sp>
        <p:nvSpPr>
          <p:cNvPr id="38" name="TextBox 37"/>
          <p:cNvSpPr txBox="1"/>
          <p:nvPr/>
        </p:nvSpPr>
        <p:spPr>
          <a:xfrm>
            <a:off x="4191000" y="6137702"/>
            <a:ext cx="971550" cy="415498"/>
          </a:xfrm>
          <a:prstGeom prst="rect">
            <a:avLst/>
          </a:prstGeom>
          <a:noFill/>
        </p:spPr>
        <p:txBody>
          <a:bodyPr wrap="square" rtlCol="0">
            <a:spAutoFit/>
          </a:bodyPr>
          <a:lstStyle/>
          <a:p>
            <a:pPr algn="ctr"/>
            <a:r>
              <a:rPr lang="en-US" sz="1050" b="1" dirty="0" smtClean="0"/>
              <a:t>Tri-party </a:t>
            </a:r>
          </a:p>
          <a:p>
            <a:pPr algn="ctr"/>
            <a:r>
              <a:rPr lang="en-US" sz="1050" b="1" dirty="0" smtClean="0"/>
              <a:t>repo markets</a:t>
            </a:r>
            <a:endParaRPr lang="en-US" sz="1050" b="1" dirty="0"/>
          </a:p>
        </p:txBody>
      </p:sp>
      <p:sp>
        <p:nvSpPr>
          <p:cNvPr id="8" name="Oval 7"/>
          <p:cNvSpPr/>
          <p:nvPr/>
        </p:nvSpPr>
        <p:spPr>
          <a:xfrm>
            <a:off x="4114800" y="4385103"/>
            <a:ext cx="1219200" cy="762000"/>
          </a:xfrm>
          <a:prstGeom prst="ellipse">
            <a:avLst/>
          </a:prstGeom>
          <a:noFill/>
          <a:ln w="9525">
            <a:solidFill>
              <a:schemeClr val="accent5">
                <a:lumMod val="75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0" name="Oval 39"/>
          <p:cNvSpPr/>
          <p:nvPr/>
        </p:nvSpPr>
        <p:spPr>
          <a:xfrm>
            <a:off x="5486400" y="5100190"/>
            <a:ext cx="1524000" cy="961311"/>
          </a:xfrm>
          <a:prstGeom prst="ellipse">
            <a:avLst/>
          </a:prstGeom>
          <a:noFill/>
          <a:ln w="9525">
            <a:solidFill>
              <a:schemeClr val="accent5">
                <a:lumMod val="75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3" name="Straight Arrow Connector 12"/>
          <p:cNvCxnSpPr/>
          <p:nvPr/>
        </p:nvCxnSpPr>
        <p:spPr>
          <a:xfrm flipV="1">
            <a:off x="4800600" y="5223302"/>
            <a:ext cx="152400" cy="838199"/>
          </a:xfrm>
          <a:prstGeom prst="straightConnector1">
            <a:avLst/>
          </a:prstGeom>
          <a:ln>
            <a:solidFill>
              <a:schemeClr val="accent5">
                <a:lumMod val="75000"/>
              </a:schemeClr>
            </a:solidFill>
            <a:tailEnd type="arrow"/>
          </a:ln>
        </p:spPr>
        <p:style>
          <a:lnRef idx="1">
            <a:schemeClr val="accent1"/>
          </a:lnRef>
          <a:fillRef idx="0">
            <a:schemeClr val="accent1"/>
          </a:fillRef>
          <a:effectRef idx="0">
            <a:schemeClr val="accent1"/>
          </a:effectRef>
          <a:fontRef idx="minor">
            <a:schemeClr val="tx1"/>
          </a:fontRef>
        </p:style>
      </p:cxnSp>
      <p:cxnSp>
        <p:nvCxnSpPr>
          <p:cNvPr id="25" name="Straight Arrow Connector 24"/>
          <p:cNvCxnSpPr/>
          <p:nvPr/>
        </p:nvCxnSpPr>
        <p:spPr>
          <a:xfrm flipV="1">
            <a:off x="4800600" y="5794802"/>
            <a:ext cx="685800" cy="266699"/>
          </a:xfrm>
          <a:prstGeom prst="straightConnector1">
            <a:avLst/>
          </a:prstGeom>
          <a:ln>
            <a:solidFill>
              <a:schemeClr val="accent5">
                <a:lumMod val="75000"/>
              </a:schemeClr>
            </a:solidFill>
            <a:tailEnd type="arrow"/>
          </a:ln>
        </p:spPr>
        <p:style>
          <a:lnRef idx="1">
            <a:schemeClr val="accent1"/>
          </a:lnRef>
          <a:fillRef idx="0">
            <a:schemeClr val="accent1"/>
          </a:fillRef>
          <a:effectRef idx="0">
            <a:schemeClr val="accent1"/>
          </a:effectRef>
          <a:fontRef idx="minor">
            <a:schemeClr val="tx1"/>
          </a:fontRef>
        </p:style>
      </p:cxnSp>
      <p:cxnSp>
        <p:nvCxnSpPr>
          <p:cNvPr id="34" name="Straight Arrow Connector 33"/>
          <p:cNvCxnSpPr/>
          <p:nvPr/>
        </p:nvCxnSpPr>
        <p:spPr>
          <a:xfrm flipH="1">
            <a:off x="6727189" y="2209800"/>
            <a:ext cx="1121411" cy="99427"/>
          </a:xfrm>
          <a:prstGeom prst="straightConnector1">
            <a:avLst/>
          </a:prstGeom>
          <a:ln>
            <a:solidFill>
              <a:schemeClr val="bg2">
                <a:lumMod val="50000"/>
              </a:schemeClr>
            </a:solidFill>
            <a:tailEnd type="arrow"/>
          </a:ln>
        </p:spPr>
        <p:style>
          <a:lnRef idx="1">
            <a:schemeClr val="accent1"/>
          </a:lnRef>
          <a:fillRef idx="0">
            <a:schemeClr val="accent1"/>
          </a:fillRef>
          <a:effectRef idx="0">
            <a:schemeClr val="accent1"/>
          </a:effectRef>
          <a:fontRef idx="minor">
            <a:schemeClr val="tx1"/>
          </a:fontRef>
        </p:style>
      </p:cxnSp>
      <p:cxnSp>
        <p:nvCxnSpPr>
          <p:cNvPr id="41" name="Straight Arrow Connector 40"/>
          <p:cNvCxnSpPr/>
          <p:nvPr/>
        </p:nvCxnSpPr>
        <p:spPr>
          <a:xfrm flipH="1">
            <a:off x="5029200" y="2209800"/>
            <a:ext cx="2819400" cy="838200"/>
          </a:xfrm>
          <a:prstGeom prst="straightConnector1">
            <a:avLst/>
          </a:prstGeom>
          <a:ln>
            <a:solidFill>
              <a:schemeClr val="bg2">
                <a:lumMod val="50000"/>
              </a:schemeClr>
            </a:solidFill>
            <a:tailEnd type="arrow"/>
          </a:ln>
        </p:spPr>
        <p:style>
          <a:lnRef idx="1">
            <a:schemeClr val="accent1"/>
          </a:lnRef>
          <a:fillRef idx="0">
            <a:schemeClr val="accent1"/>
          </a:fillRef>
          <a:effectRef idx="0">
            <a:schemeClr val="accent1"/>
          </a:effectRef>
          <a:fontRef idx="minor">
            <a:schemeClr val="tx1"/>
          </a:fontRef>
        </p:style>
      </p:cxnSp>
      <p:cxnSp>
        <p:nvCxnSpPr>
          <p:cNvPr id="43" name="Straight Arrow Connector 42"/>
          <p:cNvCxnSpPr/>
          <p:nvPr/>
        </p:nvCxnSpPr>
        <p:spPr>
          <a:xfrm flipH="1">
            <a:off x="7467600" y="2209800"/>
            <a:ext cx="381000" cy="1905000"/>
          </a:xfrm>
          <a:prstGeom prst="straightConnector1">
            <a:avLst/>
          </a:prstGeom>
          <a:ln>
            <a:solidFill>
              <a:schemeClr val="bg2">
                <a:lumMod val="50000"/>
              </a:schemeClr>
            </a:solidFill>
            <a:tailEnd type="arrow"/>
          </a:ln>
        </p:spPr>
        <p:style>
          <a:lnRef idx="1">
            <a:schemeClr val="accent1"/>
          </a:lnRef>
          <a:fillRef idx="0">
            <a:schemeClr val="accent1"/>
          </a:fillRef>
          <a:effectRef idx="0">
            <a:schemeClr val="accent1"/>
          </a:effectRef>
          <a:fontRef idx="minor">
            <a:schemeClr val="tx1"/>
          </a:fontRef>
        </p:style>
      </p:cxnSp>
      <p:cxnSp>
        <p:nvCxnSpPr>
          <p:cNvPr id="46" name="Straight Connector 45"/>
          <p:cNvCxnSpPr/>
          <p:nvPr/>
        </p:nvCxnSpPr>
        <p:spPr>
          <a:xfrm>
            <a:off x="4191000" y="1407527"/>
            <a:ext cx="4038600" cy="0"/>
          </a:xfrm>
          <a:prstGeom prst="line">
            <a:avLst/>
          </a:prstGeom>
        </p:spPr>
        <p:style>
          <a:lnRef idx="1">
            <a:schemeClr val="accent1"/>
          </a:lnRef>
          <a:fillRef idx="0">
            <a:schemeClr val="accent1"/>
          </a:fillRef>
          <a:effectRef idx="0">
            <a:schemeClr val="accent1"/>
          </a:effectRef>
          <a:fontRef idx="minor">
            <a:schemeClr val="tx1"/>
          </a:fontRef>
        </p:style>
      </p:cxnSp>
      <p:sp>
        <p:nvSpPr>
          <p:cNvPr id="44" name="TextBox 43"/>
          <p:cNvSpPr txBox="1"/>
          <p:nvPr/>
        </p:nvSpPr>
        <p:spPr>
          <a:xfrm>
            <a:off x="5162549" y="1238250"/>
            <a:ext cx="2095501" cy="338554"/>
          </a:xfrm>
          <a:prstGeom prst="rect">
            <a:avLst/>
          </a:prstGeom>
          <a:solidFill>
            <a:schemeClr val="bg1"/>
          </a:solidFill>
        </p:spPr>
        <p:txBody>
          <a:bodyPr wrap="square" rtlCol="0">
            <a:spAutoFit/>
          </a:bodyPr>
          <a:lstStyle/>
          <a:p>
            <a:pPr algn="ctr"/>
            <a:r>
              <a:rPr lang="en-US" sz="1600" dirty="0" smtClean="0"/>
              <a:t>U.S. Repo Market</a:t>
            </a:r>
            <a:endParaRPr lang="en-US" sz="1600" dirty="0"/>
          </a:p>
        </p:txBody>
      </p:sp>
      <p:sp>
        <p:nvSpPr>
          <p:cNvPr id="39" name="TextBox 38"/>
          <p:cNvSpPr txBox="1"/>
          <p:nvPr/>
        </p:nvSpPr>
        <p:spPr>
          <a:xfrm>
            <a:off x="2455549" y="6863224"/>
            <a:ext cx="4690102" cy="369332"/>
          </a:xfrm>
          <a:prstGeom prst="rect">
            <a:avLst/>
          </a:prstGeom>
          <a:noFill/>
        </p:spPr>
        <p:txBody>
          <a:bodyPr wrap="square" rtlCol="0">
            <a:spAutoFit/>
          </a:bodyPr>
          <a:lstStyle/>
          <a:p>
            <a:r>
              <a:rPr lang="en-US" sz="900" i="1" dirty="0" smtClean="0">
                <a:latin typeface="Calibri" panose="020F0502020204030204" pitchFamily="34" charset="0"/>
              </a:rPr>
              <a:t>Source: </a:t>
            </a:r>
            <a:r>
              <a:rPr lang="en-US" sz="900" i="1" dirty="0">
                <a:latin typeface="Calibri" panose="020F0502020204030204" pitchFamily="34" charset="0"/>
              </a:rPr>
              <a:t> </a:t>
            </a:r>
            <a:r>
              <a:rPr lang="en-US" sz="900" i="1" dirty="0" smtClean="0">
                <a:latin typeface="Calibri" panose="020F0502020204030204" pitchFamily="34" charset="0"/>
              </a:rPr>
              <a:t>Adapted from “A Reference Guide to U.S. Repo and Securities Lending Markets”, </a:t>
            </a:r>
            <a:r>
              <a:rPr lang="en-US" sz="900" i="1" dirty="0" err="1" smtClean="0">
                <a:latin typeface="Calibri" panose="020F0502020204030204" pitchFamily="34" charset="0"/>
              </a:rPr>
              <a:t>Baklanova</a:t>
            </a:r>
            <a:r>
              <a:rPr lang="en-US" sz="900" i="1" dirty="0" smtClean="0">
                <a:latin typeface="Calibri" panose="020F0502020204030204" pitchFamily="34" charset="0"/>
              </a:rPr>
              <a:t> et al (2015).</a:t>
            </a:r>
            <a:endParaRPr lang="en-US" sz="900" i="1" dirty="0">
              <a:latin typeface="Calibri" panose="020F0502020204030204" pitchFamily="34" charset="0"/>
            </a:endParaRPr>
          </a:p>
        </p:txBody>
      </p:sp>
    </p:spTree>
    <p:extLst>
      <p:ext uri="{BB962C8B-B14F-4D97-AF65-F5344CB8AC3E}">
        <p14:creationId xmlns:p14="http://schemas.microsoft.com/office/powerpoint/2010/main" val="1128363552"/>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THE SIZE OF THE U.S. REPO MARKET</a:t>
            </a:r>
            <a:endParaRPr lang="en-US" dirty="0"/>
          </a:p>
        </p:txBody>
      </p:sp>
      <p:sp>
        <p:nvSpPr>
          <p:cNvPr id="73" name="Content Placeholder 12"/>
          <p:cNvSpPr>
            <a:spLocks noGrp="1"/>
          </p:cNvSpPr>
          <p:nvPr>
            <p:ph idx="1"/>
          </p:nvPr>
        </p:nvSpPr>
        <p:spPr>
          <a:xfrm>
            <a:off x="293687" y="1235075"/>
            <a:ext cx="1839913" cy="5927725"/>
          </a:xfrm>
        </p:spPr>
        <p:txBody>
          <a:bodyPr/>
          <a:lstStyle/>
          <a:p>
            <a:pPr>
              <a:lnSpc>
                <a:spcPct val="100000"/>
              </a:lnSpc>
              <a:spcBef>
                <a:spcPts val="0"/>
              </a:spcBef>
            </a:pPr>
            <a:r>
              <a:rPr lang="en-US" sz="1100" b="0" dirty="0" smtClean="0">
                <a:solidFill>
                  <a:schemeClr val="tx1"/>
                </a:solidFill>
                <a:latin typeface="+mn-lt"/>
              </a:rPr>
              <a:t>U.S. repo market volumes can be divided into</a:t>
            </a:r>
            <a:r>
              <a:rPr lang="en-US" sz="1100" b="0" dirty="0" smtClean="0">
                <a:solidFill>
                  <a:schemeClr val="tx1"/>
                </a:solidFill>
                <a:latin typeface="+mn-lt"/>
              </a:rPr>
              <a:t> </a:t>
            </a:r>
            <a:r>
              <a:rPr lang="en-US" sz="1100" b="0" dirty="0" smtClean="0">
                <a:solidFill>
                  <a:schemeClr val="tx1"/>
                </a:solidFill>
                <a:latin typeface="+mn-lt"/>
              </a:rPr>
              <a:t>two segments, based on differences in settlement: </a:t>
            </a:r>
            <a:r>
              <a:rPr lang="en-US" sz="1100" b="0" dirty="0" smtClean="0">
                <a:solidFill>
                  <a:schemeClr val="tx1"/>
                </a:solidFill>
                <a:latin typeface="+mn-lt"/>
              </a:rPr>
              <a:t>triparty </a:t>
            </a:r>
            <a:r>
              <a:rPr lang="en-US" sz="1100" b="0" dirty="0" smtClean="0">
                <a:solidFill>
                  <a:schemeClr val="tx1"/>
                </a:solidFill>
                <a:latin typeface="+mn-lt"/>
              </a:rPr>
              <a:t>repo and bilateral repo. </a:t>
            </a:r>
          </a:p>
          <a:p>
            <a:pPr>
              <a:lnSpc>
                <a:spcPct val="100000"/>
              </a:lnSpc>
              <a:spcBef>
                <a:spcPts val="0"/>
              </a:spcBef>
            </a:pPr>
            <a:endParaRPr lang="en-US" sz="1100" b="0" dirty="0">
              <a:solidFill>
                <a:schemeClr val="tx1"/>
              </a:solidFill>
              <a:latin typeface="+mn-lt"/>
            </a:endParaRPr>
          </a:p>
          <a:p>
            <a:pPr>
              <a:lnSpc>
                <a:spcPct val="100000"/>
              </a:lnSpc>
              <a:spcBef>
                <a:spcPts val="0"/>
              </a:spcBef>
            </a:pPr>
            <a:r>
              <a:rPr lang="en-US" sz="1100" b="0" dirty="0" smtClean="0">
                <a:solidFill>
                  <a:schemeClr val="tx1"/>
                </a:solidFill>
                <a:latin typeface="+mn-lt"/>
              </a:rPr>
              <a:t>GCF Repo is considered part of </a:t>
            </a:r>
            <a:r>
              <a:rPr lang="en-US" sz="1100" b="0" dirty="0" smtClean="0">
                <a:solidFill>
                  <a:schemeClr val="tx1"/>
                </a:solidFill>
                <a:latin typeface="+mn-lt"/>
              </a:rPr>
              <a:t>triparty </a:t>
            </a:r>
            <a:r>
              <a:rPr lang="en-US" sz="1100" b="0" dirty="0" smtClean="0">
                <a:solidFill>
                  <a:schemeClr val="tx1"/>
                </a:solidFill>
                <a:latin typeface="+mn-lt"/>
              </a:rPr>
              <a:t>repo as it settles on the </a:t>
            </a:r>
            <a:r>
              <a:rPr lang="en-US" sz="1100" b="0" dirty="0" smtClean="0">
                <a:solidFill>
                  <a:schemeClr val="tx1"/>
                </a:solidFill>
                <a:latin typeface="+mn-lt"/>
              </a:rPr>
              <a:t>triparty </a:t>
            </a:r>
            <a:r>
              <a:rPr lang="en-US" sz="1100" b="0" dirty="0" smtClean="0">
                <a:solidFill>
                  <a:schemeClr val="tx1"/>
                </a:solidFill>
                <a:latin typeface="+mn-lt"/>
              </a:rPr>
              <a:t>platform. It is designed for FICC’s netting members to trade cash and securities amongst themselves based on negotiated rates and terms. </a:t>
            </a:r>
          </a:p>
          <a:p>
            <a:pPr>
              <a:lnSpc>
                <a:spcPct val="100000"/>
              </a:lnSpc>
              <a:spcBef>
                <a:spcPts val="0"/>
              </a:spcBef>
            </a:pPr>
            <a:endParaRPr lang="en-US" sz="1100" b="0" dirty="0">
              <a:solidFill>
                <a:schemeClr val="tx1"/>
              </a:solidFill>
              <a:latin typeface="+mn-lt"/>
            </a:endParaRPr>
          </a:p>
          <a:p>
            <a:pPr>
              <a:lnSpc>
                <a:spcPct val="100000"/>
              </a:lnSpc>
              <a:spcBef>
                <a:spcPts val="0"/>
              </a:spcBef>
            </a:pPr>
            <a:r>
              <a:rPr lang="en-US" sz="1100" b="0" dirty="0" smtClean="0">
                <a:solidFill>
                  <a:schemeClr val="tx1"/>
                </a:solidFill>
                <a:latin typeface="+mn-lt"/>
              </a:rPr>
              <a:t>A repo trade between primary dealers shows up twice in Federal Reserve data as repo and reverse repo, representing both sides of the trade. Summing both numbers would result in double-counting.</a:t>
            </a:r>
          </a:p>
          <a:p>
            <a:pPr>
              <a:lnSpc>
                <a:spcPct val="100000"/>
              </a:lnSpc>
              <a:spcBef>
                <a:spcPts val="0"/>
              </a:spcBef>
            </a:pPr>
            <a:endParaRPr lang="en-US" sz="1100" b="0" dirty="0">
              <a:solidFill>
                <a:schemeClr val="tx1"/>
              </a:solidFill>
              <a:latin typeface="+mn-lt"/>
            </a:endParaRPr>
          </a:p>
          <a:p>
            <a:pPr>
              <a:lnSpc>
                <a:spcPct val="100000"/>
              </a:lnSpc>
              <a:spcBef>
                <a:spcPts val="0"/>
              </a:spcBef>
            </a:pPr>
            <a:r>
              <a:rPr lang="en-US" sz="1100" b="0" dirty="0" smtClean="0">
                <a:solidFill>
                  <a:schemeClr val="tx1"/>
                </a:solidFill>
                <a:latin typeface="+mn-lt"/>
              </a:rPr>
              <a:t>Some repo activity takes place without a dealer acting as an intermediary as with the Fed’s RRP program. This facility allows financial institutions to invest cash directly with the Fed on a tri-party basis. The most active RRP participants are MMFs.</a:t>
            </a:r>
            <a:endParaRPr lang="en-US" sz="1100" b="0" dirty="0">
              <a:solidFill>
                <a:schemeClr val="tx1"/>
              </a:solidFill>
              <a:latin typeface="+mn-lt"/>
            </a:endParaRPr>
          </a:p>
          <a:p>
            <a:endParaRPr lang="en-US" sz="1100" dirty="0" smtClean="0"/>
          </a:p>
        </p:txBody>
      </p:sp>
      <p:graphicFrame>
        <p:nvGraphicFramePr>
          <p:cNvPr id="6" name="Table 5"/>
          <p:cNvGraphicFramePr>
            <a:graphicFrameLocks noGrp="1"/>
          </p:cNvGraphicFramePr>
          <p:nvPr>
            <p:extLst>
              <p:ext uri="{D42A27DB-BD31-4B8C-83A1-F6EECF244321}">
                <p14:modId xmlns:p14="http://schemas.microsoft.com/office/powerpoint/2010/main" val="1776740520"/>
              </p:ext>
            </p:extLst>
          </p:nvPr>
        </p:nvGraphicFramePr>
        <p:xfrm>
          <a:off x="2743200" y="1219200"/>
          <a:ext cx="6705600" cy="3337560"/>
        </p:xfrm>
        <a:graphic>
          <a:graphicData uri="http://schemas.openxmlformats.org/drawingml/2006/table">
            <a:tbl>
              <a:tblPr>
                <a:tableStyleId>{2D5ABB26-0587-4C30-8999-92F81FD0307C}</a:tableStyleId>
              </a:tblPr>
              <a:tblGrid>
                <a:gridCol w="1117600"/>
                <a:gridCol w="1397000"/>
                <a:gridCol w="1047750"/>
                <a:gridCol w="1047750"/>
                <a:gridCol w="1047750"/>
                <a:gridCol w="1047750"/>
              </a:tblGrid>
              <a:tr h="370840">
                <a:tc>
                  <a:txBody>
                    <a:bodyPr/>
                    <a:lstStyle/>
                    <a:p>
                      <a:endParaRPr lang="en-US" sz="1050" dirty="0"/>
                    </a:p>
                  </a:txBody>
                  <a:tcPr anchor="ctr"/>
                </a:tc>
                <a:tc>
                  <a:txBody>
                    <a:bodyPr/>
                    <a:lstStyle/>
                    <a:p>
                      <a:endParaRPr lang="en-US" sz="1050" dirty="0"/>
                    </a:p>
                  </a:txBody>
                  <a:tcPr anchor="ctr"/>
                </a:tc>
                <a:tc gridSpan="2">
                  <a:txBody>
                    <a:bodyPr/>
                    <a:lstStyle/>
                    <a:p>
                      <a:pPr algn="ctr"/>
                      <a:r>
                        <a:rPr lang="en-US" sz="1100" b="1" dirty="0" smtClean="0">
                          <a:solidFill>
                            <a:schemeClr val="accent1"/>
                          </a:solidFill>
                        </a:rPr>
                        <a:t>Asset</a:t>
                      </a:r>
                      <a:endParaRPr lang="en-US" sz="1100" b="1" dirty="0">
                        <a:solidFill>
                          <a:schemeClr val="accent1"/>
                        </a:solidFill>
                      </a:endParaRPr>
                    </a:p>
                  </a:txBody>
                  <a:tcPr anchor="ctr">
                    <a:lnR w="12700" cap="flat" cmpd="sng" algn="ctr">
                      <a:solidFill>
                        <a:schemeClr val="accent1"/>
                      </a:solidFill>
                      <a:prstDash val="solid"/>
                      <a:round/>
                      <a:headEnd type="none" w="med" len="med"/>
                      <a:tailEnd type="none" w="med" len="med"/>
                    </a:lnR>
                  </a:tcPr>
                </a:tc>
                <a:tc hMerge="1">
                  <a:txBody>
                    <a:bodyPr/>
                    <a:lstStyle/>
                    <a:p>
                      <a:endParaRPr lang="en-US" sz="1050" dirty="0"/>
                    </a:p>
                  </a:txBody>
                  <a:tcPr anchor="ctr"/>
                </a:tc>
                <a:tc gridSpan="2">
                  <a:txBody>
                    <a:bodyPr/>
                    <a:lstStyle/>
                    <a:p>
                      <a:pPr algn="ctr"/>
                      <a:r>
                        <a:rPr lang="en-US" sz="1100" b="1" dirty="0" smtClean="0">
                          <a:solidFill>
                            <a:schemeClr val="accent1"/>
                          </a:solidFill>
                        </a:rPr>
                        <a:t>Liabilities</a:t>
                      </a:r>
                      <a:endParaRPr lang="en-US" sz="1100" b="1" dirty="0">
                        <a:solidFill>
                          <a:schemeClr val="accent1"/>
                        </a:solidFill>
                      </a:endParaRPr>
                    </a:p>
                  </a:txBody>
                  <a:tcPr anchor="ctr">
                    <a:lnL w="12700" cap="flat" cmpd="sng" algn="ctr">
                      <a:solidFill>
                        <a:schemeClr val="accent1"/>
                      </a:solidFill>
                      <a:prstDash val="solid"/>
                      <a:round/>
                      <a:headEnd type="none" w="med" len="med"/>
                      <a:tailEnd type="none" w="med" len="med"/>
                    </a:lnL>
                  </a:tcPr>
                </a:tc>
                <a:tc hMerge="1">
                  <a:txBody>
                    <a:bodyPr/>
                    <a:lstStyle/>
                    <a:p>
                      <a:endParaRPr lang="en-US" sz="1050" dirty="0"/>
                    </a:p>
                  </a:txBody>
                  <a:tcPr anchor="ctr"/>
                </a:tc>
              </a:tr>
              <a:tr h="370840">
                <a:tc>
                  <a:txBody>
                    <a:bodyPr/>
                    <a:lstStyle/>
                    <a:p>
                      <a:endParaRPr lang="en-US" sz="1050" dirty="0"/>
                    </a:p>
                  </a:txBody>
                  <a:tcPr anchor="ctr"/>
                </a:tc>
                <a:tc>
                  <a:txBody>
                    <a:bodyPr/>
                    <a:lstStyle/>
                    <a:p>
                      <a:endParaRPr lang="en-US" sz="1050" dirty="0"/>
                    </a:p>
                  </a:txBody>
                  <a:tcPr anchor="ctr"/>
                </a:tc>
                <a:tc gridSpan="2">
                  <a:txBody>
                    <a:bodyPr/>
                    <a:lstStyle/>
                    <a:p>
                      <a:pPr algn="ctr"/>
                      <a:r>
                        <a:rPr lang="en-US" sz="1050" b="1" dirty="0" smtClean="0"/>
                        <a:t>Reverse Repo</a:t>
                      </a:r>
                      <a:endParaRPr lang="en-US" sz="1050" b="1" dirty="0"/>
                    </a:p>
                  </a:txBody>
                  <a:tcPr anchor="ctr">
                    <a:lnR w="12700" cap="flat" cmpd="sng" algn="ctr">
                      <a:solidFill>
                        <a:schemeClr val="accent1"/>
                      </a:solidFill>
                      <a:prstDash val="solid"/>
                      <a:round/>
                      <a:headEnd type="none" w="med" len="med"/>
                      <a:tailEnd type="none" w="med" len="med"/>
                    </a:lnR>
                    <a:lnB w="12700" cap="flat" cmpd="sng" algn="ctr">
                      <a:solidFill>
                        <a:schemeClr val="accent1"/>
                      </a:solidFill>
                      <a:prstDash val="solid"/>
                      <a:round/>
                      <a:headEnd type="none" w="med" len="med"/>
                      <a:tailEnd type="none" w="med" len="med"/>
                    </a:lnB>
                  </a:tcPr>
                </a:tc>
                <a:tc hMerge="1">
                  <a:txBody>
                    <a:bodyPr/>
                    <a:lstStyle/>
                    <a:p>
                      <a:endParaRPr lang="en-US" sz="1050" dirty="0"/>
                    </a:p>
                  </a:txBody>
                  <a:tcPr anchor="ctr"/>
                </a:tc>
                <a:tc gridSpan="2">
                  <a:txBody>
                    <a:bodyPr/>
                    <a:lstStyle/>
                    <a:p>
                      <a:pPr algn="ctr"/>
                      <a:r>
                        <a:rPr lang="en-US" sz="1050" b="1" dirty="0" smtClean="0"/>
                        <a:t>Repo</a:t>
                      </a:r>
                      <a:endParaRPr lang="en-US" sz="1050" b="1" dirty="0"/>
                    </a:p>
                  </a:txBody>
                  <a:tcPr anchor="ctr">
                    <a:lnL w="12700" cap="flat" cmpd="sng" algn="ctr">
                      <a:solidFill>
                        <a:schemeClr val="accent1"/>
                      </a:solidFill>
                      <a:prstDash val="solid"/>
                      <a:round/>
                      <a:headEnd type="none" w="med" len="med"/>
                      <a:tailEnd type="none" w="med" len="med"/>
                    </a:lnL>
                    <a:lnB w="12700" cap="flat" cmpd="sng" algn="ctr">
                      <a:solidFill>
                        <a:schemeClr val="accent1"/>
                      </a:solidFill>
                      <a:prstDash val="solid"/>
                      <a:round/>
                      <a:headEnd type="none" w="med" len="med"/>
                      <a:tailEnd type="none" w="med" len="med"/>
                    </a:lnB>
                  </a:tcPr>
                </a:tc>
                <a:tc hMerge="1">
                  <a:txBody>
                    <a:bodyPr/>
                    <a:lstStyle/>
                    <a:p>
                      <a:endParaRPr lang="en-US" sz="1050" dirty="0"/>
                    </a:p>
                  </a:txBody>
                  <a:tcPr anchor="ctr"/>
                </a:tc>
              </a:tr>
              <a:tr h="370840">
                <a:tc>
                  <a:txBody>
                    <a:bodyPr/>
                    <a:lstStyle/>
                    <a:p>
                      <a:endParaRPr lang="en-US" sz="1050" dirty="0"/>
                    </a:p>
                  </a:txBody>
                  <a:tcPr anchor="ctr">
                    <a:lnB w="12700" cap="flat" cmpd="sng" algn="ctr">
                      <a:solidFill>
                        <a:schemeClr val="accent1"/>
                      </a:solidFill>
                      <a:prstDash val="solid"/>
                      <a:round/>
                      <a:headEnd type="none" w="med" len="med"/>
                      <a:tailEnd type="none" w="med" len="med"/>
                    </a:lnB>
                  </a:tcPr>
                </a:tc>
                <a:tc>
                  <a:txBody>
                    <a:bodyPr/>
                    <a:lstStyle/>
                    <a:p>
                      <a:endParaRPr lang="en-US" sz="1050" dirty="0"/>
                    </a:p>
                  </a:txBody>
                  <a:tcPr anchor="ctr">
                    <a:lnB w="12700" cap="flat" cmpd="sng" algn="ctr">
                      <a:solidFill>
                        <a:schemeClr val="accent1"/>
                      </a:solidFill>
                      <a:prstDash val="solid"/>
                      <a:round/>
                      <a:headEnd type="none" w="med" len="med"/>
                      <a:tailEnd type="none" w="med" len="med"/>
                    </a:lnB>
                  </a:tcPr>
                </a:tc>
                <a:tc>
                  <a:txBody>
                    <a:bodyPr/>
                    <a:lstStyle/>
                    <a:p>
                      <a:pPr algn="ctr"/>
                      <a:r>
                        <a:rPr lang="en-US" sz="1050" b="1" dirty="0" smtClean="0"/>
                        <a:t>$ billions</a:t>
                      </a:r>
                      <a:endParaRPr lang="en-US" sz="1050" b="1" dirty="0"/>
                    </a:p>
                  </a:txBody>
                  <a:tcPr anchor="ct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tc>
                  <a:txBody>
                    <a:bodyPr/>
                    <a:lstStyle/>
                    <a:p>
                      <a:pPr algn="ctr"/>
                      <a:r>
                        <a:rPr lang="en-US" sz="1050" b="1" dirty="0" smtClean="0"/>
                        <a:t>%</a:t>
                      </a:r>
                      <a:endParaRPr lang="en-US" sz="1050" b="1" dirty="0"/>
                    </a:p>
                  </a:txBody>
                  <a:tcPr anchor="ctr">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tc>
                  <a:txBody>
                    <a:bodyPr/>
                    <a:lstStyle/>
                    <a:p>
                      <a:pPr algn="ctr"/>
                      <a:r>
                        <a:rPr lang="en-US" sz="1050" b="1" dirty="0" smtClean="0"/>
                        <a:t>$ billions</a:t>
                      </a:r>
                      <a:endParaRPr lang="en-US" sz="1050" b="1" dirty="0"/>
                    </a:p>
                  </a:txBody>
                  <a:tcPr anchor="ctr">
                    <a:lnL w="12700" cap="flat" cmpd="sng" algn="ctr">
                      <a:solidFill>
                        <a:schemeClr val="accent1"/>
                      </a:solidFill>
                      <a:prstDash val="solid"/>
                      <a:round/>
                      <a:headEnd type="none" w="med" len="med"/>
                      <a:tailEnd type="none" w="med" len="med"/>
                    </a:lnL>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tc>
                  <a:txBody>
                    <a:bodyPr/>
                    <a:lstStyle/>
                    <a:p>
                      <a:pPr algn="ctr"/>
                      <a:r>
                        <a:rPr lang="en-US" sz="1050" b="1" dirty="0" smtClean="0"/>
                        <a:t>%</a:t>
                      </a:r>
                      <a:endParaRPr lang="en-US" sz="1050" b="1" dirty="0"/>
                    </a:p>
                  </a:txBody>
                  <a:tcPr anchor="ct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tr>
              <a:tr h="370840">
                <a:tc rowSpan="6">
                  <a:txBody>
                    <a:bodyPr/>
                    <a:lstStyle/>
                    <a:p>
                      <a:pPr algn="ctr"/>
                      <a:r>
                        <a:rPr lang="en-US" sz="1200" b="1" dirty="0" smtClean="0"/>
                        <a:t>Dealer Repo</a:t>
                      </a:r>
                      <a:endParaRPr lang="en-US" sz="1200" b="1" dirty="0"/>
                    </a:p>
                  </a:txBody>
                  <a:tcPr vert="vert270" anchor="ctr">
                    <a:lnL w="12700" cap="flat" cmpd="sng" algn="ctr">
                      <a:solidFill>
                        <a:schemeClr val="accent1"/>
                      </a:solidFill>
                      <a:prstDash val="solid"/>
                      <a:round/>
                      <a:headEnd type="none" w="med" len="med"/>
                      <a:tailEnd type="none" w="med" len="med"/>
                    </a:lnL>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tc>
                  <a:txBody>
                    <a:bodyPr/>
                    <a:lstStyle/>
                    <a:p>
                      <a:r>
                        <a:rPr lang="en-US" sz="1050" dirty="0" smtClean="0">
                          <a:solidFill>
                            <a:schemeClr val="accent1"/>
                          </a:solidFill>
                        </a:rPr>
                        <a:t>Triparty (Total)</a:t>
                      </a:r>
                      <a:endParaRPr lang="en-US" sz="1050" dirty="0">
                        <a:solidFill>
                          <a:schemeClr val="accent1"/>
                        </a:solidFill>
                      </a:endParaRPr>
                    </a:p>
                  </a:txBody>
                  <a:tcPr anchor="ctr">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tcPr>
                </a:tc>
                <a:tc>
                  <a:txBody>
                    <a:bodyPr/>
                    <a:lstStyle/>
                    <a:p>
                      <a:pPr algn="ctr"/>
                      <a:r>
                        <a:rPr lang="en-US" sz="1050" dirty="0" smtClean="0">
                          <a:solidFill>
                            <a:schemeClr val="accent1"/>
                          </a:solidFill>
                        </a:rPr>
                        <a:t>305</a:t>
                      </a:r>
                      <a:endParaRPr lang="en-US" sz="1050" dirty="0">
                        <a:solidFill>
                          <a:schemeClr val="accent1"/>
                        </a:solidFill>
                      </a:endParaRPr>
                    </a:p>
                  </a:txBody>
                  <a:tcPr anchor="ctr">
                    <a:lnL w="12700" cap="flat" cmpd="sng" algn="ctr">
                      <a:solidFill>
                        <a:schemeClr val="accent1"/>
                      </a:solidFill>
                      <a:prstDash val="solid"/>
                      <a:round/>
                      <a:headEnd type="none" w="med" len="med"/>
                      <a:tailEnd type="none" w="med" len="med"/>
                    </a:lnL>
                    <a:lnT w="12700" cap="flat" cmpd="sng" algn="ctr">
                      <a:solidFill>
                        <a:schemeClr val="accent1"/>
                      </a:solidFill>
                      <a:prstDash val="solid"/>
                      <a:round/>
                      <a:headEnd type="none" w="med" len="med"/>
                      <a:tailEnd type="none" w="med" len="med"/>
                    </a:lnT>
                  </a:tcPr>
                </a:tc>
                <a:tc>
                  <a:txBody>
                    <a:bodyPr/>
                    <a:lstStyle/>
                    <a:p>
                      <a:pPr algn="ctr"/>
                      <a:r>
                        <a:rPr lang="en-US" sz="1050" dirty="0" smtClean="0">
                          <a:solidFill>
                            <a:schemeClr val="accent1"/>
                          </a:solidFill>
                        </a:rPr>
                        <a:t>13%</a:t>
                      </a:r>
                      <a:endParaRPr lang="en-US" sz="1050" dirty="0">
                        <a:solidFill>
                          <a:schemeClr val="accent1"/>
                        </a:solidFill>
                      </a:endParaRPr>
                    </a:p>
                  </a:txBody>
                  <a:tcPr anchor="ctr">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tcPr>
                </a:tc>
                <a:tc>
                  <a:txBody>
                    <a:bodyPr/>
                    <a:lstStyle/>
                    <a:p>
                      <a:pPr algn="ctr"/>
                      <a:r>
                        <a:rPr lang="en-US" sz="1050" dirty="0" smtClean="0">
                          <a:solidFill>
                            <a:schemeClr val="accent1"/>
                          </a:solidFill>
                        </a:rPr>
                        <a:t>1,839</a:t>
                      </a:r>
                      <a:endParaRPr lang="en-US" sz="1050" dirty="0">
                        <a:solidFill>
                          <a:schemeClr val="accent1"/>
                        </a:solidFill>
                      </a:endParaRPr>
                    </a:p>
                  </a:txBody>
                  <a:tcPr anchor="ctr">
                    <a:lnL w="12700" cap="flat" cmpd="sng" algn="ctr">
                      <a:solidFill>
                        <a:schemeClr val="accent1"/>
                      </a:solidFill>
                      <a:prstDash val="solid"/>
                      <a:round/>
                      <a:headEnd type="none" w="med" len="med"/>
                      <a:tailEnd type="none" w="med" len="med"/>
                    </a:lnL>
                    <a:lnT w="12700" cap="flat" cmpd="sng" algn="ctr">
                      <a:solidFill>
                        <a:schemeClr val="accent1"/>
                      </a:solidFill>
                      <a:prstDash val="solid"/>
                      <a:round/>
                      <a:headEnd type="none" w="med" len="med"/>
                      <a:tailEnd type="none" w="med" len="med"/>
                    </a:lnT>
                  </a:tcPr>
                </a:tc>
                <a:tc>
                  <a:txBody>
                    <a:bodyPr/>
                    <a:lstStyle/>
                    <a:p>
                      <a:pPr algn="ctr"/>
                      <a:r>
                        <a:rPr lang="en-US" sz="1050" dirty="0" smtClean="0">
                          <a:solidFill>
                            <a:schemeClr val="accent1"/>
                          </a:solidFill>
                        </a:rPr>
                        <a:t>54%</a:t>
                      </a:r>
                      <a:endParaRPr lang="en-US" sz="1050" dirty="0">
                        <a:solidFill>
                          <a:schemeClr val="accent1"/>
                        </a:solidFill>
                      </a:endParaRPr>
                    </a:p>
                  </a:txBody>
                  <a:tcPr anchor="ctr">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tcPr>
                </a:tc>
              </a:tr>
              <a:tr h="370840">
                <a:tc vMerge="1">
                  <a:txBody>
                    <a:bodyPr/>
                    <a:lstStyle/>
                    <a:p>
                      <a:endParaRPr lang="en-US" sz="1050" dirty="0"/>
                    </a:p>
                  </a:txBody>
                  <a:tcPr anchor="ctr"/>
                </a:tc>
                <a:tc>
                  <a:txBody>
                    <a:bodyPr/>
                    <a:lstStyle/>
                    <a:p>
                      <a:pPr algn="ctr"/>
                      <a:r>
                        <a:rPr lang="en-US" sz="1050" i="1" dirty="0" err="1" smtClean="0">
                          <a:solidFill>
                            <a:schemeClr val="accent1"/>
                          </a:solidFill>
                        </a:rPr>
                        <a:t>exGCF</a:t>
                      </a:r>
                      <a:endParaRPr lang="en-US" sz="1050" i="1" dirty="0">
                        <a:solidFill>
                          <a:schemeClr val="accent1"/>
                        </a:solidFill>
                      </a:endParaRPr>
                    </a:p>
                  </a:txBody>
                  <a:tcPr anchor="ctr">
                    <a:lnR w="12700" cap="flat" cmpd="sng" algn="ctr">
                      <a:solidFill>
                        <a:schemeClr val="accent1"/>
                      </a:solidFill>
                      <a:prstDash val="solid"/>
                      <a:round/>
                      <a:headEnd type="none" w="med" len="med"/>
                      <a:tailEnd type="none" w="med" len="med"/>
                    </a:lnR>
                  </a:tcPr>
                </a:tc>
                <a:tc>
                  <a:txBody>
                    <a:bodyPr/>
                    <a:lstStyle/>
                    <a:p>
                      <a:pPr algn="ctr"/>
                      <a:r>
                        <a:rPr lang="en-US" sz="1050" i="1" dirty="0" smtClean="0">
                          <a:solidFill>
                            <a:schemeClr val="accent1"/>
                          </a:solidFill>
                        </a:rPr>
                        <a:t>-</a:t>
                      </a:r>
                      <a:endParaRPr lang="en-US" sz="1050" i="1" dirty="0">
                        <a:solidFill>
                          <a:schemeClr val="accent1"/>
                        </a:solidFill>
                      </a:endParaRPr>
                    </a:p>
                  </a:txBody>
                  <a:tcPr anchor="ctr">
                    <a:lnL w="12700" cap="flat" cmpd="sng" algn="ctr">
                      <a:solidFill>
                        <a:schemeClr val="accent1"/>
                      </a:solidFill>
                      <a:prstDash val="solid"/>
                      <a:round/>
                      <a:headEnd type="none" w="med" len="med"/>
                      <a:tailEnd type="none" w="med" len="med"/>
                    </a:lnL>
                  </a:tcPr>
                </a:tc>
                <a:tc>
                  <a:txBody>
                    <a:bodyPr/>
                    <a:lstStyle/>
                    <a:p>
                      <a:pPr algn="ctr"/>
                      <a:r>
                        <a:rPr lang="en-US" sz="1050" i="1" dirty="0" smtClean="0">
                          <a:solidFill>
                            <a:schemeClr val="accent1"/>
                          </a:solidFill>
                        </a:rPr>
                        <a:t>0%</a:t>
                      </a:r>
                      <a:endParaRPr lang="en-US" sz="1050" i="1" dirty="0">
                        <a:solidFill>
                          <a:schemeClr val="accent1"/>
                        </a:solidFill>
                      </a:endParaRPr>
                    </a:p>
                  </a:txBody>
                  <a:tcPr anchor="ctr">
                    <a:lnR w="12700" cap="flat" cmpd="sng" algn="ctr">
                      <a:solidFill>
                        <a:schemeClr val="accent1"/>
                      </a:solidFill>
                      <a:prstDash val="solid"/>
                      <a:round/>
                      <a:headEnd type="none" w="med" len="med"/>
                      <a:tailEnd type="none" w="med" len="med"/>
                    </a:lnR>
                  </a:tcPr>
                </a:tc>
                <a:tc>
                  <a:txBody>
                    <a:bodyPr/>
                    <a:lstStyle/>
                    <a:p>
                      <a:pPr algn="ctr"/>
                      <a:r>
                        <a:rPr lang="en-US" sz="1050" i="1" dirty="0" smtClean="0">
                          <a:solidFill>
                            <a:schemeClr val="accent1"/>
                          </a:solidFill>
                        </a:rPr>
                        <a:t>1,534</a:t>
                      </a:r>
                      <a:endParaRPr lang="en-US" sz="1050" i="1" dirty="0">
                        <a:solidFill>
                          <a:schemeClr val="accent1"/>
                        </a:solidFill>
                      </a:endParaRPr>
                    </a:p>
                  </a:txBody>
                  <a:tcPr anchor="ctr">
                    <a:lnL w="12700" cap="flat" cmpd="sng" algn="ctr">
                      <a:solidFill>
                        <a:schemeClr val="accent1"/>
                      </a:solidFill>
                      <a:prstDash val="solid"/>
                      <a:round/>
                      <a:headEnd type="none" w="med" len="med"/>
                      <a:tailEnd type="none" w="med" len="med"/>
                    </a:lnL>
                  </a:tcPr>
                </a:tc>
                <a:tc>
                  <a:txBody>
                    <a:bodyPr/>
                    <a:lstStyle/>
                    <a:p>
                      <a:pPr algn="ctr"/>
                      <a:r>
                        <a:rPr lang="en-US" sz="1050" i="1" dirty="0" smtClean="0">
                          <a:solidFill>
                            <a:schemeClr val="accent1"/>
                          </a:solidFill>
                        </a:rPr>
                        <a:t>45%</a:t>
                      </a:r>
                      <a:endParaRPr lang="en-US" sz="1050" i="1" dirty="0">
                        <a:solidFill>
                          <a:schemeClr val="accent1"/>
                        </a:solidFill>
                      </a:endParaRPr>
                    </a:p>
                  </a:txBody>
                  <a:tcPr anchor="ctr">
                    <a:lnR w="12700" cap="flat" cmpd="sng" algn="ctr">
                      <a:solidFill>
                        <a:schemeClr val="accent1"/>
                      </a:solidFill>
                      <a:prstDash val="solid"/>
                      <a:round/>
                      <a:headEnd type="none" w="med" len="med"/>
                      <a:tailEnd type="none" w="med" len="med"/>
                    </a:lnR>
                  </a:tcPr>
                </a:tc>
              </a:tr>
              <a:tr h="370840">
                <a:tc vMerge="1">
                  <a:txBody>
                    <a:bodyPr/>
                    <a:lstStyle/>
                    <a:p>
                      <a:endParaRPr lang="en-US" sz="1050" dirty="0"/>
                    </a:p>
                  </a:txBody>
                  <a:tcPr anchor="ctr"/>
                </a:tc>
                <a:tc>
                  <a:txBody>
                    <a:bodyPr/>
                    <a:lstStyle/>
                    <a:p>
                      <a:pPr algn="ctr"/>
                      <a:r>
                        <a:rPr lang="en-US" sz="1050" i="1" dirty="0" smtClean="0">
                          <a:solidFill>
                            <a:schemeClr val="accent1"/>
                          </a:solidFill>
                        </a:rPr>
                        <a:t>GCF</a:t>
                      </a:r>
                      <a:endParaRPr lang="en-US" sz="1050" i="1" dirty="0">
                        <a:solidFill>
                          <a:schemeClr val="accent1"/>
                        </a:solidFill>
                      </a:endParaRPr>
                    </a:p>
                  </a:txBody>
                  <a:tcPr anchor="ctr">
                    <a:lnR w="12700" cap="flat" cmpd="sng" algn="ctr">
                      <a:solidFill>
                        <a:schemeClr val="accent1"/>
                      </a:solidFill>
                      <a:prstDash val="solid"/>
                      <a:round/>
                      <a:headEnd type="none" w="med" len="med"/>
                      <a:tailEnd type="none" w="med" len="med"/>
                    </a:lnR>
                  </a:tcPr>
                </a:tc>
                <a:tc>
                  <a:txBody>
                    <a:bodyPr/>
                    <a:lstStyle/>
                    <a:p>
                      <a:pPr algn="ctr"/>
                      <a:r>
                        <a:rPr lang="en-US" sz="1050" i="1" dirty="0" smtClean="0">
                          <a:solidFill>
                            <a:schemeClr val="accent1"/>
                          </a:solidFill>
                        </a:rPr>
                        <a:t>305</a:t>
                      </a:r>
                      <a:endParaRPr lang="en-US" sz="1050" i="1" dirty="0">
                        <a:solidFill>
                          <a:schemeClr val="accent1"/>
                        </a:solidFill>
                      </a:endParaRPr>
                    </a:p>
                  </a:txBody>
                  <a:tcPr anchor="ctr">
                    <a:lnL w="12700" cap="flat" cmpd="sng" algn="ctr">
                      <a:solidFill>
                        <a:schemeClr val="accent1"/>
                      </a:solidFill>
                      <a:prstDash val="solid"/>
                      <a:round/>
                      <a:headEnd type="none" w="med" len="med"/>
                      <a:tailEnd type="none" w="med" len="med"/>
                    </a:lnL>
                  </a:tcPr>
                </a:tc>
                <a:tc>
                  <a:txBody>
                    <a:bodyPr/>
                    <a:lstStyle/>
                    <a:p>
                      <a:pPr algn="ctr"/>
                      <a:r>
                        <a:rPr lang="en-US" sz="1050" i="1" dirty="0" smtClean="0">
                          <a:solidFill>
                            <a:schemeClr val="accent1"/>
                          </a:solidFill>
                        </a:rPr>
                        <a:t>13%</a:t>
                      </a:r>
                      <a:endParaRPr lang="en-US" sz="1050" i="1" dirty="0">
                        <a:solidFill>
                          <a:schemeClr val="accent1"/>
                        </a:solidFill>
                      </a:endParaRPr>
                    </a:p>
                  </a:txBody>
                  <a:tcPr anchor="ctr">
                    <a:lnR w="12700" cap="flat" cmpd="sng" algn="ctr">
                      <a:solidFill>
                        <a:schemeClr val="accent1"/>
                      </a:solidFill>
                      <a:prstDash val="solid"/>
                      <a:round/>
                      <a:headEnd type="none" w="med" len="med"/>
                      <a:tailEnd type="none" w="med" len="med"/>
                    </a:lnR>
                  </a:tcPr>
                </a:tc>
                <a:tc>
                  <a:txBody>
                    <a:bodyPr/>
                    <a:lstStyle/>
                    <a:p>
                      <a:pPr algn="ctr"/>
                      <a:r>
                        <a:rPr lang="en-US" sz="1050" i="1" dirty="0" smtClean="0">
                          <a:solidFill>
                            <a:schemeClr val="accent1"/>
                          </a:solidFill>
                        </a:rPr>
                        <a:t>305</a:t>
                      </a:r>
                      <a:endParaRPr lang="en-US" sz="1050" i="1" dirty="0">
                        <a:solidFill>
                          <a:schemeClr val="accent1"/>
                        </a:solidFill>
                      </a:endParaRPr>
                    </a:p>
                  </a:txBody>
                  <a:tcPr anchor="ctr">
                    <a:lnL w="12700" cap="flat" cmpd="sng" algn="ctr">
                      <a:solidFill>
                        <a:schemeClr val="accent1"/>
                      </a:solidFill>
                      <a:prstDash val="solid"/>
                      <a:round/>
                      <a:headEnd type="none" w="med" len="med"/>
                      <a:tailEnd type="none" w="med" len="med"/>
                    </a:lnL>
                  </a:tcPr>
                </a:tc>
                <a:tc>
                  <a:txBody>
                    <a:bodyPr/>
                    <a:lstStyle/>
                    <a:p>
                      <a:pPr algn="ctr"/>
                      <a:r>
                        <a:rPr lang="en-US" sz="1050" i="1" dirty="0" smtClean="0">
                          <a:solidFill>
                            <a:schemeClr val="accent1"/>
                          </a:solidFill>
                        </a:rPr>
                        <a:t>9%</a:t>
                      </a:r>
                      <a:endParaRPr lang="en-US" sz="1050" i="1" dirty="0">
                        <a:solidFill>
                          <a:schemeClr val="accent1"/>
                        </a:solidFill>
                      </a:endParaRPr>
                    </a:p>
                  </a:txBody>
                  <a:tcPr anchor="ctr">
                    <a:lnR w="12700" cap="flat" cmpd="sng" algn="ctr">
                      <a:solidFill>
                        <a:schemeClr val="accent1"/>
                      </a:solidFill>
                      <a:prstDash val="solid"/>
                      <a:round/>
                      <a:headEnd type="none" w="med" len="med"/>
                      <a:tailEnd type="none" w="med" len="med"/>
                    </a:lnR>
                  </a:tcPr>
                </a:tc>
              </a:tr>
              <a:tr h="370840">
                <a:tc vMerge="1">
                  <a:txBody>
                    <a:bodyPr/>
                    <a:lstStyle/>
                    <a:p>
                      <a:endParaRPr lang="en-US" sz="1050" dirty="0"/>
                    </a:p>
                  </a:txBody>
                  <a:tcPr anchor="ctr"/>
                </a:tc>
                <a:tc>
                  <a:txBody>
                    <a:bodyPr/>
                    <a:lstStyle/>
                    <a:p>
                      <a:r>
                        <a:rPr lang="en-US" sz="1050" dirty="0" smtClean="0">
                          <a:solidFill>
                            <a:schemeClr val="accent1"/>
                          </a:solidFill>
                        </a:rPr>
                        <a:t>Fed*</a:t>
                      </a:r>
                      <a:endParaRPr lang="en-US" sz="1050" dirty="0">
                        <a:solidFill>
                          <a:schemeClr val="accent1"/>
                        </a:solidFill>
                      </a:endParaRPr>
                    </a:p>
                  </a:txBody>
                  <a:tcPr anchor="ctr">
                    <a:lnR w="12700" cap="flat" cmpd="sng" algn="ctr">
                      <a:solidFill>
                        <a:schemeClr val="accent1"/>
                      </a:solidFill>
                      <a:prstDash val="solid"/>
                      <a:round/>
                      <a:headEnd type="none" w="med" len="med"/>
                      <a:tailEnd type="none" w="med" len="med"/>
                    </a:lnR>
                  </a:tcPr>
                </a:tc>
                <a:tc>
                  <a:txBody>
                    <a:bodyPr/>
                    <a:lstStyle/>
                    <a:p>
                      <a:pPr algn="ctr"/>
                      <a:r>
                        <a:rPr lang="en-US" sz="1050" dirty="0" smtClean="0">
                          <a:solidFill>
                            <a:schemeClr val="accent1"/>
                          </a:solidFill>
                        </a:rPr>
                        <a:t>-</a:t>
                      </a:r>
                      <a:endParaRPr lang="en-US" sz="1050" dirty="0">
                        <a:solidFill>
                          <a:schemeClr val="accent1"/>
                        </a:solidFill>
                      </a:endParaRPr>
                    </a:p>
                  </a:txBody>
                  <a:tcPr anchor="ctr">
                    <a:lnL w="12700" cap="flat" cmpd="sng" algn="ctr">
                      <a:solidFill>
                        <a:schemeClr val="accent1"/>
                      </a:solidFill>
                      <a:prstDash val="solid"/>
                      <a:round/>
                      <a:headEnd type="none" w="med" len="med"/>
                      <a:tailEnd type="none" w="med" len="med"/>
                    </a:lnL>
                  </a:tcPr>
                </a:tc>
                <a:tc>
                  <a:txBody>
                    <a:bodyPr/>
                    <a:lstStyle/>
                    <a:p>
                      <a:pPr algn="ctr"/>
                      <a:r>
                        <a:rPr lang="en-US" sz="1050" dirty="0" smtClean="0">
                          <a:solidFill>
                            <a:schemeClr val="accent1"/>
                          </a:solidFill>
                        </a:rPr>
                        <a:t>0%</a:t>
                      </a:r>
                      <a:endParaRPr lang="en-US" sz="1050" dirty="0">
                        <a:solidFill>
                          <a:schemeClr val="accent1"/>
                        </a:solidFill>
                      </a:endParaRPr>
                    </a:p>
                  </a:txBody>
                  <a:tcPr anchor="ctr">
                    <a:lnR w="12700" cap="flat" cmpd="sng" algn="ctr">
                      <a:solidFill>
                        <a:schemeClr val="accent1"/>
                      </a:solidFill>
                      <a:prstDash val="solid"/>
                      <a:round/>
                      <a:headEnd type="none" w="med" len="med"/>
                      <a:tailEnd type="none" w="med" len="med"/>
                    </a:lnR>
                  </a:tcPr>
                </a:tc>
                <a:tc>
                  <a:txBody>
                    <a:bodyPr/>
                    <a:lstStyle/>
                    <a:p>
                      <a:pPr algn="ctr"/>
                      <a:r>
                        <a:rPr lang="en-US" sz="1050" dirty="0" smtClean="0">
                          <a:solidFill>
                            <a:schemeClr val="accent1"/>
                          </a:solidFill>
                        </a:rPr>
                        <a:t>-</a:t>
                      </a:r>
                      <a:endParaRPr lang="en-US" sz="1050" dirty="0">
                        <a:solidFill>
                          <a:schemeClr val="accent1"/>
                        </a:solidFill>
                      </a:endParaRPr>
                    </a:p>
                  </a:txBody>
                  <a:tcPr anchor="ctr">
                    <a:lnL w="12700" cap="flat" cmpd="sng" algn="ctr">
                      <a:solidFill>
                        <a:schemeClr val="accent1"/>
                      </a:solidFill>
                      <a:prstDash val="solid"/>
                      <a:round/>
                      <a:headEnd type="none" w="med" len="med"/>
                      <a:tailEnd type="none" w="med" len="med"/>
                    </a:lnL>
                  </a:tcPr>
                </a:tc>
                <a:tc>
                  <a:txBody>
                    <a:bodyPr/>
                    <a:lstStyle/>
                    <a:p>
                      <a:pPr algn="ctr"/>
                      <a:r>
                        <a:rPr lang="en-US" sz="1050" dirty="0" smtClean="0">
                          <a:solidFill>
                            <a:schemeClr val="accent1"/>
                          </a:solidFill>
                        </a:rPr>
                        <a:t>0%</a:t>
                      </a:r>
                      <a:endParaRPr lang="en-US" sz="1050" dirty="0">
                        <a:solidFill>
                          <a:schemeClr val="accent1"/>
                        </a:solidFill>
                      </a:endParaRPr>
                    </a:p>
                  </a:txBody>
                  <a:tcPr anchor="ctr">
                    <a:lnR w="12700" cap="flat" cmpd="sng" algn="ctr">
                      <a:solidFill>
                        <a:schemeClr val="accent1"/>
                      </a:solidFill>
                      <a:prstDash val="solid"/>
                      <a:round/>
                      <a:headEnd type="none" w="med" len="med"/>
                      <a:tailEnd type="none" w="med" len="med"/>
                    </a:lnR>
                  </a:tcPr>
                </a:tc>
              </a:tr>
              <a:tr h="370840">
                <a:tc vMerge="1">
                  <a:txBody>
                    <a:bodyPr/>
                    <a:lstStyle/>
                    <a:p>
                      <a:endParaRPr lang="en-US" sz="1050" dirty="0"/>
                    </a:p>
                  </a:txBody>
                  <a:tcPr anchor="ctr"/>
                </a:tc>
                <a:tc>
                  <a:txBody>
                    <a:bodyPr/>
                    <a:lstStyle/>
                    <a:p>
                      <a:r>
                        <a:rPr lang="en-US" sz="1050" dirty="0" smtClean="0">
                          <a:solidFill>
                            <a:schemeClr val="accent1"/>
                          </a:solidFill>
                        </a:rPr>
                        <a:t>Bilateral</a:t>
                      </a:r>
                      <a:endParaRPr lang="en-US" sz="1050" dirty="0">
                        <a:solidFill>
                          <a:schemeClr val="accent1"/>
                        </a:solidFill>
                      </a:endParaRPr>
                    </a:p>
                  </a:txBody>
                  <a:tcPr anchor="ctr">
                    <a:lnR w="12700" cap="flat" cmpd="sng" algn="ctr">
                      <a:solidFill>
                        <a:schemeClr val="accent1"/>
                      </a:solidFill>
                      <a:prstDash val="solid"/>
                      <a:round/>
                      <a:headEnd type="none" w="med" len="med"/>
                      <a:tailEnd type="none" w="med" len="med"/>
                    </a:lnR>
                  </a:tcPr>
                </a:tc>
                <a:tc>
                  <a:txBody>
                    <a:bodyPr/>
                    <a:lstStyle/>
                    <a:p>
                      <a:pPr algn="ctr"/>
                      <a:r>
                        <a:rPr lang="en-US" sz="1050" dirty="0" smtClean="0">
                          <a:solidFill>
                            <a:schemeClr val="accent1"/>
                          </a:solidFill>
                        </a:rPr>
                        <a:t>1,945</a:t>
                      </a:r>
                      <a:endParaRPr lang="en-US" sz="1050" dirty="0">
                        <a:solidFill>
                          <a:schemeClr val="accent1"/>
                        </a:solidFill>
                      </a:endParaRPr>
                    </a:p>
                  </a:txBody>
                  <a:tcPr anchor="ctr">
                    <a:lnL w="12700" cap="flat" cmpd="sng" algn="ctr">
                      <a:solidFill>
                        <a:schemeClr val="accent1"/>
                      </a:solidFill>
                      <a:prstDash val="solid"/>
                      <a:round/>
                      <a:headEnd type="none" w="med" len="med"/>
                      <a:tailEnd type="none" w="med" len="med"/>
                    </a:lnL>
                  </a:tcPr>
                </a:tc>
                <a:tc>
                  <a:txBody>
                    <a:bodyPr/>
                    <a:lstStyle/>
                    <a:p>
                      <a:pPr algn="ctr"/>
                      <a:r>
                        <a:rPr lang="en-US" sz="1050" dirty="0" smtClean="0">
                          <a:solidFill>
                            <a:schemeClr val="accent1"/>
                          </a:solidFill>
                        </a:rPr>
                        <a:t>82%</a:t>
                      </a:r>
                      <a:endParaRPr lang="en-US" sz="1050" dirty="0">
                        <a:solidFill>
                          <a:schemeClr val="accent1"/>
                        </a:solidFill>
                      </a:endParaRPr>
                    </a:p>
                  </a:txBody>
                  <a:tcPr anchor="ctr">
                    <a:lnR w="12700" cap="flat" cmpd="sng" algn="ctr">
                      <a:solidFill>
                        <a:schemeClr val="accent1"/>
                      </a:solidFill>
                      <a:prstDash val="solid"/>
                      <a:round/>
                      <a:headEnd type="none" w="med" len="med"/>
                      <a:tailEnd type="none" w="med" len="med"/>
                    </a:lnR>
                  </a:tcPr>
                </a:tc>
                <a:tc>
                  <a:txBody>
                    <a:bodyPr/>
                    <a:lstStyle/>
                    <a:p>
                      <a:pPr algn="ctr"/>
                      <a:r>
                        <a:rPr lang="en-US" sz="1050" dirty="0" smtClean="0">
                          <a:solidFill>
                            <a:schemeClr val="accent1"/>
                          </a:solidFill>
                        </a:rPr>
                        <a:t>1,576</a:t>
                      </a:r>
                      <a:endParaRPr lang="en-US" sz="1050" dirty="0">
                        <a:solidFill>
                          <a:schemeClr val="accent1"/>
                        </a:solidFill>
                      </a:endParaRPr>
                    </a:p>
                  </a:txBody>
                  <a:tcPr anchor="ctr">
                    <a:lnL w="12700" cap="flat" cmpd="sng" algn="ctr">
                      <a:solidFill>
                        <a:schemeClr val="accent1"/>
                      </a:solidFill>
                      <a:prstDash val="solid"/>
                      <a:round/>
                      <a:headEnd type="none" w="med" len="med"/>
                      <a:tailEnd type="none" w="med" len="med"/>
                    </a:lnL>
                  </a:tcPr>
                </a:tc>
                <a:tc>
                  <a:txBody>
                    <a:bodyPr/>
                    <a:lstStyle/>
                    <a:p>
                      <a:pPr algn="ctr"/>
                      <a:r>
                        <a:rPr lang="en-US" sz="1050" dirty="0" smtClean="0">
                          <a:solidFill>
                            <a:schemeClr val="accent1"/>
                          </a:solidFill>
                        </a:rPr>
                        <a:t>46%</a:t>
                      </a:r>
                      <a:endParaRPr lang="en-US" sz="1050" dirty="0">
                        <a:solidFill>
                          <a:schemeClr val="accent1"/>
                        </a:solidFill>
                      </a:endParaRPr>
                    </a:p>
                  </a:txBody>
                  <a:tcPr anchor="ctr">
                    <a:lnR w="12700" cap="flat" cmpd="sng" algn="ctr">
                      <a:solidFill>
                        <a:schemeClr val="accent1"/>
                      </a:solidFill>
                      <a:prstDash val="solid"/>
                      <a:round/>
                      <a:headEnd type="none" w="med" len="med"/>
                      <a:tailEnd type="none" w="med" len="med"/>
                    </a:lnR>
                  </a:tcPr>
                </a:tc>
              </a:tr>
              <a:tr h="370840">
                <a:tc vMerge="1">
                  <a:txBody>
                    <a:bodyPr/>
                    <a:lstStyle/>
                    <a:p>
                      <a:endParaRPr lang="en-US" sz="1050" dirty="0"/>
                    </a:p>
                  </a:txBody>
                  <a:tcPr anchor="ctr"/>
                </a:tc>
                <a:tc>
                  <a:txBody>
                    <a:bodyPr/>
                    <a:lstStyle/>
                    <a:p>
                      <a:r>
                        <a:rPr lang="en-US" sz="1050" b="1" dirty="0" smtClean="0">
                          <a:solidFill>
                            <a:schemeClr val="accent1"/>
                          </a:solidFill>
                        </a:rPr>
                        <a:t>Dealer Total</a:t>
                      </a:r>
                      <a:endParaRPr lang="en-US" sz="1050" b="1" dirty="0">
                        <a:solidFill>
                          <a:schemeClr val="accent1"/>
                        </a:solidFill>
                      </a:endParaRPr>
                    </a:p>
                  </a:txBody>
                  <a:tcPr anchor="ctr">
                    <a:lnR w="12700" cap="flat" cmpd="sng" algn="ctr">
                      <a:solidFill>
                        <a:schemeClr val="accent1"/>
                      </a:solidFill>
                      <a:prstDash val="solid"/>
                      <a:round/>
                      <a:headEnd type="none" w="med" len="med"/>
                      <a:tailEnd type="none" w="med" len="med"/>
                    </a:lnR>
                    <a:lnB w="12700" cap="flat" cmpd="sng" algn="ctr">
                      <a:solidFill>
                        <a:schemeClr val="accent1"/>
                      </a:solidFill>
                      <a:prstDash val="solid"/>
                      <a:round/>
                      <a:headEnd type="none" w="med" len="med"/>
                      <a:tailEnd type="none" w="med" len="med"/>
                    </a:lnB>
                  </a:tcPr>
                </a:tc>
                <a:tc>
                  <a:txBody>
                    <a:bodyPr/>
                    <a:lstStyle/>
                    <a:p>
                      <a:pPr algn="ctr"/>
                      <a:r>
                        <a:rPr lang="en-US" sz="1050" b="1" dirty="0" smtClean="0">
                          <a:solidFill>
                            <a:schemeClr val="accent1"/>
                          </a:solidFill>
                        </a:rPr>
                        <a:t>2,250</a:t>
                      </a:r>
                      <a:endParaRPr lang="en-US" sz="1050" b="1" dirty="0">
                        <a:solidFill>
                          <a:schemeClr val="accent1"/>
                        </a:solidFill>
                      </a:endParaRPr>
                    </a:p>
                  </a:txBody>
                  <a:tcPr anchor="ctr">
                    <a:lnL w="12700" cap="flat" cmpd="sng" algn="ctr">
                      <a:solidFill>
                        <a:schemeClr val="accent1"/>
                      </a:solidFill>
                      <a:prstDash val="solid"/>
                      <a:round/>
                      <a:headEnd type="none" w="med" len="med"/>
                      <a:tailEnd type="none" w="med" len="med"/>
                    </a:lnL>
                    <a:lnB w="12700" cap="flat" cmpd="sng" algn="ctr">
                      <a:solidFill>
                        <a:schemeClr val="accent1"/>
                      </a:solidFill>
                      <a:prstDash val="solid"/>
                      <a:round/>
                      <a:headEnd type="none" w="med" len="med"/>
                      <a:tailEnd type="none" w="med" len="med"/>
                    </a:lnB>
                  </a:tcPr>
                </a:tc>
                <a:tc>
                  <a:txBody>
                    <a:bodyPr/>
                    <a:lstStyle/>
                    <a:p>
                      <a:pPr algn="ctr"/>
                      <a:r>
                        <a:rPr lang="en-US" sz="1050" b="1" dirty="0" smtClean="0">
                          <a:solidFill>
                            <a:schemeClr val="accent1"/>
                          </a:solidFill>
                        </a:rPr>
                        <a:t>95%</a:t>
                      </a:r>
                      <a:endParaRPr lang="en-US" sz="1050" b="1" dirty="0">
                        <a:solidFill>
                          <a:schemeClr val="accent1"/>
                        </a:solidFill>
                      </a:endParaRPr>
                    </a:p>
                  </a:txBody>
                  <a:tcPr anchor="ctr">
                    <a:lnR w="12700" cap="flat" cmpd="sng" algn="ctr">
                      <a:solidFill>
                        <a:schemeClr val="accent1"/>
                      </a:solidFill>
                      <a:prstDash val="solid"/>
                      <a:round/>
                      <a:headEnd type="none" w="med" len="med"/>
                      <a:tailEnd type="none" w="med" len="med"/>
                    </a:lnR>
                    <a:lnB w="12700" cap="flat" cmpd="sng" algn="ctr">
                      <a:solidFill>
                        <a:schemeClr val="accent1"/>
                      </a:solidFill>
                      <a:prstDash val="solid"/>
                      <a:round/>
                      <a:headEnd type="none" w="med" len="med"/>
                      <a:tailEnd type="none" w="med" len="med"/>
                    </a:lnB>
                  </a:tcPr>
                </a:tc>
                <a:tc>
                  <a:txBody>
                    <a:bodyPr/>
                    <a:lstStyle/>
                    <a:p>
                      <a:pPr algn="ctr"/>
                      <a:r>
                        <a:rPr lang="en-US" sz="1050" b="1" dirty="0" smtClean="0">
                          <a:solidFill>
                            <a:schemeClr val="accent1"/>
                          </a:solidFill>
                        </a:rPr>
                        <a:t>3,415</a:t>
                      </a:r>
                      <a:endParaRPr lang="en-US" sz="1050" b="1" dirty="0">
                        <a:solidFill>
                          <a:schemeClr val="accent1"/>
                        </a:solidFill>
                      </a:endParaRPr>
                    </a:p>
                  </a:txBody>
                  <a:tcPr anchor="ctr">
                    <a:lnL w="12700" cap="flat" cmpd="sng" algn="ctr">
                      <a:solidFill>
                        <a:schemeClr val="accent1"/>
                      </a:solidFill>
                      <a:prstDash val="solid"/>
                      <a:round/>
                      <a:headEnd type="none" w="med" len="med"/>
                      <a:tailEnd type="none" w="med" len="med"/>
                    </a:lnL>
                    <a:lnB w="12700" cap="flat" cmpd="sng" algn="ctr">
                      <a:solidFill>
                        <a:schemeClr val="accent1"/>
                      </a:solidFill>
                      <a:prstDash val="solid"/>
                      <a:round/>
                      <a:headEnd type="none" w="med" len="med"/>
                      <a:tailEnd type="none" w="med" len="med"/>
                    </a:lnB>
                  </a:tcPr>
                </a:tc>
                <a:tc>
                  <a:txBody>
                    <a:bodyPr/>
                    <a:lstStyle/>
                    <a:p>
                      <a:pPr algn="ctr"/>
                      <a:r>
                        <a:rPr lang="en-US" sz="1050" b="1" dirty="0" smtClean="0">
                          <a:solidFill>
                            <a:schemeClr val="accent1"/>
                          </a:solidFill>
                        </a:rPr>
                        <a:t>100%</a:t>
                      </a:r>
                      <a:endParaRPr lang="en-US" sz="1050" b="1" dirty="0">
                        <a:solidFill>
                          <a:schemeClr val="accent1"/>
                        </a:solidFill>
                      </a:endParaRPr>
                    </a:p>
                  </a:txBody>
                  <a:tcPr anchor="ctr">
                    <a:lnR w="12700" cap="flat" cmpd="sng" algn="ctr">
                      <a:solidFill>
                        <a:schemeClr val="accent1"/>
                      </a:solidFill>
                      <a:prstDash val="solid"/>
                      <a:round/>
                      <a:headEnd type="none" w="med" len="med"/>
                      <a:tailEnd type="none" w="med" len="med"/>
                    </a:lnR>
                    <a:lnB w="12700" cap="flat" cmpd="sng" algn="ctr">
                      <a:solidFill>
                        <a:schemeClr val="accent1"/>
                      </a:solidFill>
                      <a:prstDash val="solid"/>
                      <a:round/>
                      <a:headEnd type="none" w="med" len="med"/>
                      <a:tailEnd type="none" w="med" len="med"/>
                    </a:lnB>
                  </a:tcPr>
                </a:tc>
              </a:tr>
            </a:tbl>
          </a:graphicData>
        </a:graphic>
      </p:graphicFrame>
      <p:graphicFrame>
        <p:nvGraphicFramePr>
          <p:cNvPr id="7" name="Table 6"/>
          <p:cNvGraphicFramePr>
            <a:graphicFrameLocks noGrp="1"/>
          </p:cNvGraphicFramePr>
          <p:nvPr>
            <p:extLst>
              <p:ext uri="{D42A27DB-BD31-4B8C-83A1-F6EECF244321}">
                <p14:modId xmlns:p14="http://schemas.microsoft.com/office/powerpoint/2010/main" val="1607859044"/>
              </p:ext>
            </p:extLst>
          </p:nvPr>
        </p:nvGraphicFramePr>
        <p:xfrm>
          <a:off x="2743200" y="4724400"/>
          <a:ext cx="4622800" cy="1112520"/>
        </p:xfrm>
        <a:graphic>
          <a:graphicData uri="http://schemas.openxmlformats.org/drawingml/2006/table">
            <a:tbl>
              <a:tblPr>
                <a:tableStyleId>{2D5ABB26-0587-4C30-8999-92F81FD0307C}</a:tableStyleId>
              </a:tblPr>
              <a:tblGrid>
                <a:gridCol w="1117600"/>
                <a:gridCol w="1397000"/>
                <a:gridCol w="1016000"/>
                <a:gridCol w="1092200"/>
              </a:tblGrid>
              <a:tr h="370840">
                <a:tc rowSpan="3">
                  <a:txBody>
                    <a:bodyPr/>
                    <a:lstStyle/>
                    <a:p>
                      <a:pPr algn="ctr"/>
                      <a:r>
                        <a:rPr lang="en-US" sz="1200" b="1" dirty="0" smtClean="0"/>
                        <a:t>Non dealer </a:t>
                      </a:r>
                    </a:p>
                    <a:p>
                      <a:pPr algn="ctr"/>
                      <a:r>
                        <a:rPr lang="en-US" sz="1200" b="1" dirty="0" smtClean="0"/>
                        <a:t>Repo</a:t>
                      </a:r>
                      <a:endParaRPr lang="en-US" sz="1200" b="1" dirty="0"/>
                    </a:p>
                  </a:txBody>
                  <a:tcPr vert="vert270" anchor="ctr">
                    <a:lnL w="12700" cap="flat" cmpd="sng" algn="ctr">
                      <a:solidFill>
                        <a:schemeClr val="accent1"/>
                      </a:solidFill>
                      <a:prstDash val="solid"/>
                      <a:round/>
                      <a:headEnd type="none" w="med" len="med"/>
                      <a:tailEnd type="none" w="med" len="med"/>
                    </a:lnL>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tc>
                  <a:txBody>
                    <a:bodyPr/>
                    <a:lstStyle/>
                    <a:p>
                      <a:r>
                        <a:rPr lang="en-US" sz="1050" dirty="0" smtClean="0">
                          <a:solidFill>
                            <a:schemeClr val="accent1"/>
                          </a:solidFill>
                        </a:rPr>
                        <a:t>Triparty (Total)</a:t>
                      </a:r>
                      <a:endParaRPr lang="en-US" sz="1050" dirty="0">
                        <a:solidFill>
                          <a:schemeClr val="accent1"/>
                        </a:solidFill>
                      </a:endParaRPr>
                    </a:p>
                  </a:txBody>
                  <a:tcPr anchor="ctr">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tcPr>
                </a:tc>
                <a:tc>
                  <a:txBody>
                    <a:bodyPr/>
                    <a:lstStyle/>
                    <a:p>
                      <a:pPr algn="ctr"/>
                      <a:r>
                        <a:rPr lang="en-US" sz="1050" dirty="0" smtClean="0">
                          <a:solidFill>
                            <a:schemeClr val="accent1"/>
                          </a:solidFill>
                        </a:rPr>
                        <a:t>127</a:t>
                      </a:r>
                      <a:endParaRPr lang="en-US" sz="1050" dirty="0">
                        <a:solidFill>
                          <a:schemeClr val="accent1"/>
                        </a:solidFill>
                      </a:endParaRPr>
                    </a:p>
                  </a:txBody>
                  <a:tcPr anchor="ctr">
                    <a:lnL w="12700" cap="flat" cmpd="sng" algn="ctr">
                      <a:solidFill>
                        <a:schemeClr val="accent1"/>
                      </a:solidFill>
                      <a:prstDash val="solid"/>
                      <a:round/>
                      <a:headEnd type="none" w="med" len="med"/>
                      <a:tailEnd type="none" w="med" len="med"/>
                    </a:lnL>
                    <a:lnT w="12700" cap="flat" cmpd="sng" algn="ctr">
                      <a:solidFill>
                        <a:schemeClr val="accent1"/>
                      </a:solidFill>
                      <a:prstDash val="solid"/>
                      <a:round/>
                      <a:headEnd type="none" w="med" len="med"/>
                      <a:tailEnd type="none" w="med" len="med"/>
                    </a:lnT>
                  </a:tcPr>
                </a:tc>
                <a:tc>
                  <a:txBody>
                    <a:bodyPr/>
                    <a:lstStyle/>
                    <a:p>
                      <a:pPr algn="ctr"/>
                      <a:r>
                        <a:rPr lang="en-US" sz="1050" dirty="0" smtClean="0">
                          <a:solidFill>
                            <a:schemeClr val="accent1"/>
                          </a:solidFill>
                        </a:rPr>
                        <a:t>5%</a:t>
                      </a:r>
                      <a:endParaRPr lang="en-US" sz="1050" dirty="0">
                        <a:solidFill>
                          <a:schemeClr val="accent1"/>
                        </a:solidFill>
                      </a:endParaRPr>
                    </a:p>
                  </a:txBody>
                  <a:tcPr anchor="ctr">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tcPr>
                </a:tc>
              </a:tr>
              <a:tr h="370840">
                <a:tc vMerge="1">
                  <a:txBody>
                    <a:bodyPr/>
                    <a:lstStyle/>
                    <a:p>
                      <a:endParaRPr lang="en-US" sz="1050" dirty="0"/>
                    </a:p>
                  </a:txBody>
                  <a:tcPr anchor="ctr"/>
                </a:tc>
                <a:tc>
                  <a:txBody>
                    <a:bodyPr/>
                    <a:lstStyle/>
                    <a:p>
                      <a:r>
                        <a:rPr lang="en-US" sz="1050" dirty="0" smtClean="0">
                          <a:solidFill>
                            <a:schemeClr val="accent1"/>
                          </a:solidFill>
                        </a:rPr>
                        <a:t>Fed**</a:t>
                      </a:r>
                      <a:endParaRPr lang="en-US" sz="1050" dirty="0">
                        <a:solidFill>
                          <a:schemeClr val="accent1"/>
                        </a:solidFill>
                      </a:endParaRPr>
                    </a:p>
                  </a:txBody>
                  <a:tcPr anchor="ctr">
                    <a:lnR w="12700" cap="flat" cmpd="sng" algn="ctr">
                      <a:solidFill>
                        <a:schemeClr val="accent1"/>
                      </a:solidFill>
                      <a:prstDash val="solid"/>
                      <a:round/>
                      <a:headEnd type="none" w="med" len="med"/>
                      <a:tailEnd type="none" w="med" len="med"/>
                    </a:lnR>
                  </a:tcPr>
                </a:tc>
                <a:tc>
                  <a:txBody>
                    <a:bodyPr/>
                    <a:lstStyle/>
                    <a:p>
                      <a:pPr algn="ctr"/>
                      <a:r>
                        <a:rPr lang="en-US" sz="1050" dirty="0" smtClean="0">
                          <a:solidFill>
                            <a:schemeClr val="accent1"/>
                          </a:solidFill>
                        </a:rPr>
                        <a:t>127</a:t>
                      </a:r>
                      <a:endParaRPr lang="en-US" sz="1050" dirty="0">
                        <a:solidFill>
                          <a:schemeClr val="accent1"/>
                        </a:solidFill>
                      </a:endParaRPr>
                    </a:p>
                  </a:txBody>
                  <a:tcPr anchor="ctr">
                    <a:lnL w="12700" cap="flat" cmpd="sng" algn="ctr">
                      <a:solidFill>
                        <a:schemeClr val="accent1"/>
                      </a:solidFill>
                      <a:prstDash val="solid"/>
                      <a:round/>
                      <a:headEnd type="none" w="med" len="med"/>
                      <a:tailEnd type="none" w="med" len="med"/>
                    </a:lnL>
                  </a:tcPr>
                </a:tc>
                <a:tc>
                  <a:txBody>
                    <a:bodyPr/>
                    <a:lstStyle/>
                    <a:p>
                      <a:pPr algn="ctr"/>
                      <a:r>
                        <a:rPr lang="en-US" sz="1050" dirty="0" smtClean="0">
                          <a:solidFill>
                            <a:schemeClr val="accent1"/>
                          </a:solidFill>
                        </a:rPr>
                        <a:t>5%</a:t>
                      </a:r>
                      <a:endParaRPr lang="en-US" sz="1050" dirty="0">
                        <a:solidFill>
                          <a:schemeClr val="accent1"/>
                        </a:solidFill>
                      </a:endParaRPr>
                    </a:p>
                  </a:txBody>
                  <a:tcPr anchor="ctr">
                    <a:lnR w="12700" cap="flat" cmpd="sng" algn="ctr">
                      <a:solidFill>
                        <a:schemeClr val="accent1"/>
                      </a:solidFill>
                      <a:prstDash val="solid"/>
                      <a:round/>
                      <a:headEnd type="none" w="med" len="med"/>
                      <a:tailEnd type="none" w="med" len="med"/>
                    </a:lnR>
                  </a:tcPr>
                </a:tc>
              </a:tr>
              <a:tr h="370840">
                <a:tc vMerge="1">
                  <a:txBody>
                    <a:bodyPr/>
                    <a:lstStyle/>
                    <a:p>
                      <a:endParaRPr lang="en-US" sz="1050" dirty="0"/>
                    </a:p>
                  </a:txBody>
                  <a:tcPr anchor="ctr"/>
                </a:tc>
                <a:tc>
                  <a:txBody>
                    <a:bodyPr/>
                    <a:lstStyle/>
                    <a:p>
                      <a:r>
                        <a:rPr lang="en-US" sz="1050" b="1" dirty="0" smtClean="0">
                          <a:solidFill>
                            <a:schemeClr val="accent1"/>
                          </a:solidFill>
                        </a:rPr>
                        <a:t>Non-Dealer Total</a:t>
                      </a:r>
                      <a:endParaRPr lang="en-US" sz="1050" b="1" dirty="0">
                        <a:solidFill>
                          <a:schemeClr val="accent1"/>
                        </a:solidFill>
                      </a:endParaRPr>
                    </a:p>
                  </a:txBody>
                  <a:tcPr anchor="ctr">
                    <a:lnR w="12700" cap="flat" cmpd="sng" algn="ctr">
                      <a:solidFill>
                        <a:schemeClr val="accent1"/>
                      </a:solidFill>
                      <a:prstDash val="solid"/>
                      <a:round/>
                      <a:headEnd type="none" w="med" len="med"/>
                      <a:tailEnd type="none" w="med" len="med"/>
                    </a:lnR>
                    <a:lnB w="12700" cap="flat" cmpd="sng" algn="ctr">
                      <a:solidFill>
                        <a:schemeClr val="accent1"/>
                      </a:solidFill>
                      <a:prstDash val="solid"/>
                      <a:round/>
                      <a:headEnd type="none" w="med" len="med"/>
                      <a:tailEnd type="none" w="med" len="med"/>
                    </a:lnB>
                  </a:tcPr>
                </a:tc>
                <a:tc>
                  <a:txBody>
                    <a:bodyPr/>
                    <a:lstStyle/>
                    <a:p>
                      <a:pPr algn="ctr"/>
                      <a:r>
                        <a:rPr lang="en-US" sz="1050" b="1" dirty="0" smtClean="0">
                          <a:solidFill>
                            <a:schemeClr val="accent1"/>
                          </a:solidFill>
                        </a:rPr>
                        <a:t>127</a:t>
                      </a:r>
                      <a:endParaRPr lang="en-US" sz="1050" b="1" dirty="0">
                        <a:solidFill>
                          <a:schemeClr val="accent1"/>
                        </a:solidFill>
                      </a:endParaRPr>
                    </a:p>
                  </a:txBody>
                  <a:tcPr anchor="ctr">
                    <a:lnL w="12700" cap="flat" cmpd="sng" algn="ctr">
                      <a:solidFill>
                        <a:schemeClr val="accent1"/>
                      </a:solidFill>
                      <a:prstDash val="solid"/>
                      <a:round/>
                      <a:headEnd type="none" w="med" len="med"/>
                      <a:tailEnd type="none" w="med" len="med"/>
                    </a:lnL>
                    <a:lnB w="12700" cap="flat" cmpd="sng" algn="ctr">
                      <a:solidFill>
                        <a:schemeClr val="accent1"/>
                      </a:solidFill>
                      <a:prstDash val="solid"/>
                      <a:round/>
                      <a:headEnd type="none" w="med" len="med"/>
                      <a:tailEnd type="none" w="med" len="med"/>
                    </a:lnB>
                  </a:tcPr>
                </a:tc>
                <a:tc>
                  <a:txBody>
                    <a:bodyPr/>
                    <a:lstStyle/>
                    <a:p>
                      <a:pPr algn="ctr"/>
                      <a:r>
                        <a:rPr lang="en-US" sz="1050" b="1" dirty="0" smtClean="0">
                          <a:solidFill>
                            <a:schemeClr val="accent1"/>
                          </a:solidFill>
                        </a:rPr>
                        <a:t>5%</a:t>
                      </a:r>
                      <a:endParaRPr lang="en-US" sz="1050" b="1" dirty="0">
                        <a:solidFill>
                          <a:schemeClr val="accent1"/>
                        </a:solidFill>
                      </a:endParaRPr>
                    </a:p>
                  </a:txBody>
                  <a:tcPr anchor="ctr">
                    <a:lnR w="12700" cap="flat" cmpd="sng" algn="ctr">
                      <a:solidFill>
                        <a:schemeClr val="accent1"/>
                      </a:solidFill>
                      <a:prstDash val="solid"/>
                      <a:round/>
                      <a:headEnd type="none" w="med" len="med"/>
                      <a:tailEnd type="none" w="med" len="med"/>
                    </a:lnR>
                    <a:lnB w="12700" cap="flat" cmpd="sng" algn="ctr">
                      <a:solidFill>
                        <a:schemeClr val="accent1"/>
                      </a:solidFill>
                      <a:prstDash val="solid"/>
                      <a:round/>
                      <a:headEnd type="none" w="med" len="med"/>
                      <a:tailEnd type="none" w="med" len="med"/>
                    </a:lnB>
                  </a:tcPr>
                </a:tc>
              </a:tr>
            </a:tbl>
          </a:graphicData>
        </a:graphic>
      </p:graphicFrame>
      <p:graphicFrame>
        <p:nvGraphicFramePr>
          <p:cNvPr id="8" name="Table 7"/>
          <p:cNvGraphicFramePr>
            <a:graphicFrameLocks noGrp="1"/>
          </p:cNvGraphicFramePr>
          <p:nvPr>
            <p:extLst>
              <p:ext uri="{D42A27DB-BD31-4B8C-83A1-F6EECF244321}">
                <p14:modId xmlns:p14="http://schemas.microsoft.com/office/powerpoint/2010/main" val="444557872"/>
              </p:ext>
            </p:extLst>
          </p:nvPr>
        </p:nvGraphicFramePr>
        <p:xfrm>
          <a:off x="3886200" y="5943600"/>
          <a:ext cx="5588000" cy="370840"/>
        </p:xfrm>
        <a:graphic>
          <a:graphicData uri="http://schemas.openxmlformats.org/drawingml/2006/table">
            <a:tbl>
              <a:tblPr>
                <a:tableStyleId>{2D5ABB26-0587-4C30-8999-92F81FD0307C}</a:tableStyleId>
              </a:tblPr>
              <a:tblGrid>
                <a:gridCol w="1397000"/>
                <a:gridCol w="1047750"/>
                <a:gridCol w="1047750"/>
                <a:gridCol w="1047750"/>
                <a:gridCol w="1047750"/>
              </a:tblGrid>
              <a:tr h="370840">
                <a:tc>
                  <a:txBody>
                    <a:bodyPr/>
                    <a:lstStyle/>
                    <a:p>
                      <a:r>
                        <a:rPr lang="en-US" sz="1050" b="1" u="none" dirty="0" smtClean="0"/>
                        <a:t>Grand Total</a:t>
                      </a:r>
                      <a:endParaRPr lang="en-US" sz="1050" b="1" u="none" dirty="0"/>
                    </a:p>
                  </a:txBody>
                  <a:tcPr anchor="ctr">
                    <a:lnL>
                      <a:noFill/>
                    </a:lnL>
                    <a:lnR w="12700" cap="flat" cmpd="sng" algn="ctr">
                      <a:noFill/>
                      <a:prstDash val="solid"/>
                      <a:round/>
                      <a:headEnd type="none" w="med" len="med"/>
                      <a:tailEnd type="none" w="med" len="med"/>
                    </a:lnR>
                    <a:lnT>
                      <a:noFill/>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050" b="1" u="none" dirty="0" smtClean="0"/>
                        <a:t>2,377</a:t>
                      </a:r>
                      <a:endParaRPr lang="en-US" sz="1050" b="1" u="none" dirty="0"/>
                    </a:p>
                  </a:txBody>
                  <a:tcPr anchor="ctr">
                    <a:lnL w="12700" cap="flat" cmpd="sng" algn="ctr">
                      <a:noFill/>
                      <a:prstDash val="solid"/>
                      <a:round/>
                      <a:headEnd type="none" w="med" len="med"/>
                      <a:tailEnd type="none" w="med" len="med"/>
                    </a:lnL>
                    <a:lnR>
                      <a:noFill/>
                    </a:lnR>
                    <a:lnT>
                      <a:noFill/>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en-US" sz="1050" b="1" u="none" dirty="0"/>
                    </a:p>
                  </a:txBody>
                  <a:tcPr anchor="ctr">
                    <a:lnL>
                      <a:noFill/>
                    </a:lnL>
                    <a:lnR w="12700" cap="flat" cmpd="sng" algn="ctr">
                      <a:noFill/>
                      <a:prstDash val="solid"/>
                      <a:round/>
                      <a:headEnd type="none" w="med" len="med"/>
                      <a:tailEnd type="none" w="med" len="med"/>
                    </a:lnR>
                    <a:lnT>
                      <a:noFill/>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050" b="1" u="none" dirty="0" smtClean="0"/>
                        <a:t>3,415</a:t>
                      </a:r>
                      <a:endParaRPr lang="en-US" sz="1050" b="1" u="none" dirty="0"/>
                    </a:p>
                  </a:txBody>
                  <a:tcPr anchor="ctr">
                    <a:lnL w="12700" cap="flat" cmpd="sng" algn="ctr">
                      <a:noFill/>
                      <a:prstDash val="solid"/>
                      <a:round/>
                      <a:headEnd type="none" w="med" len="med"/>
                      <a:tailEnd type="none" w="med" len="med"/>
                    </a:lnL>
                    <a:lnR>
                      <a:noFill/>
                    </a:lnR>
                    <a:lnT>
                      <a:noFill/>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en-US" sz="1050" b="1" dirty="0"/>
                    </a:p>
                  </a:txBody>
                  <a:tcPr anchor="ctr">
                    <a:lnL>
                      <a:noFill/>
                    </a:lnL>
                    <a:lnR w="12700" cap="flat" cmpd="sng" algn="ctr">
                      <a:noFill/>
                      <a:prstDash val="solid"/>
                      <a:round/>
                      <a:headEnd type="none" w="med" len="med"/>
                      <a:tailEnd type="none" w="med" len="med"/>
                    </a:lnR>
                    <a:lnT>
                      <a:noFill/>
                    </a:lnT>
                    <a:lnB w="12700" cap="flat" cmpd="sng" algn="ctr">
                      <a:noFill/>
                      <a:prstDash val="solid"/>
                      <a:round/>
                      <a:headEnd type="none" w="med" len="med"/>
                      <a:tailEnd type="none" w="med" len="med"/>
                    </a:lnB>
                    <a:lnTlToBr w="12700" cmpd="sng">
                      <a:noFill/>
                      <a:prstDash val="solid"/>
                    </a:lnTlToBr>
                    <a:lnBlToTr w="12700" cmpd="sng">
                      <a:noFill/>
                      <a:prstDash val="solid"/>
                    </a:lnBlToTr>
                  </a:tcPr>
                </a:tc>
              </a:tr>
            </a:tbl>
          </a:graphicData>
        </a:graphic>
      </p:graphicFrame>
      <p:cxnSp>
        <p:nvCxnSpPr>
          <p:cNvPr id="10" name="Straight Connector 9"/>
          <p:cNvCxnSpPr/>
          <p:nvPr/>
        </p:nvCxnSpPr>
        <p:spPr>
          <a:xfrm>
            <a:off x="3962400" y="6248400"/>
            <a:ext cx="685800"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43" name="Straight Connector 42"/>
          <p:cNvCxnSpPr/>
          <p:nvPr/>
        </p:nvCxnSpPr>
        <p:spPr>
          <a:xfrm>
            <a:off x="5486400" y="6248400"/>
            <a:ext cx="685800"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44" name="Straight Connector 43"/>
          <p:cNvCxnSpPr/>
          <p:nvPr/>
        </p:nvCxnSpPr>
        <p:spPr>
          <a:xfrm>
            <a:off x="7543800" y="6248400"/>
            <a:ext cx="685800" cy="0"/>
          </a:xfrm>
          <a:prstGeom prst="line">
            <a:avLst/>
          </a:prstGeom>
        </p:spPr>
        <p:style>
          <a:lnRef idx="1">
            <a:schemeClr val="accent1"/>
          </a:lnRef>
          <a:fillRef idx="0">
            <a:schemeClr val="accent1"/>
          </a:fillRef>
          <a:effectRef idx="0">
            <a:schemeClr val="accent1"/>
          </a:effectRef>
          <a:fontRef idx="minor">
            <a:schemeClr val="tx1"/>
          </a:fontRef>
        </p:style>
      </p:cxnSp>
      <p:sp>
        <p:nvSpPr>
          <p:cNvPr id="11" name="TextBox 10"/>
          <p:cNvSpPr txBox="1"/>
          <p:nvPr/>
        </p:nvSpPr>
        <p:spPr>
          <a:xfrm>
            <a:off x="2455548" y="6934200"/>
            <a:ext cx="5850251" cy="369332"/>
          </a:xfrm>
          <a:prstGeom prst="rect">
            <a:avLst/>
          </a:prstGeom>
          <a:noFill/>
        </p:spPr>
        <p:txBody>
          <a:bodyPr wrap="square" rtlCol="0">
            <a:spAutoFit/>
          </a:bodyPr>
          <a:lstStyle/>
          <a:p>
            <a:r>
              <a:rPr lang="en-US" sz="900" i="1" dirty="0" smtClean="0">
                <a:latin typeface="Calibri" panose="020F0502020204030204" pitchFamily="34" charset="0"/>
              </a:rPr>
              <a:t>Source: </a:t>
            </a:r>
            <a:r>
              <a:rPr lang="en-US" sz="900" i="1" dirty="0">
                <a:latin typeface="Calibri" panose="020F0502020204030204" pitchFamily="34" charset="0"/>
              </a:rPr>
              <a:t> </a:t>
            </a:r>
            <a:r>
              <a:rPr lang="en-US" sz="900" i="1" dirty="0" smtClean="0">
                <a:latin typeface="Calibri" panose="020F0502020204030204" pitchFamily="34" charset="0"/>
              </a:rPr>
              <a:t>Adapted from “A Reference Guide to U.S. Repo and Securities Lending Markets”, </a:t>
            </a:r>
            <a:r>
              <a:rPr lang="en-US" sz="900" i="1" dirty="0" err="1" smtClean="0">
                <a:latin typeface="Calibri" panose="020F0502020204030204" pitchFamily="34" charset="0"/>
              </a:rPr>
              <a:t>Baklanova</a:t>
            </a:r>
            <a:r>
              <a:rPr lang="en-US" sz="900" i="1" dirty="0" smtClean="0">
                <a:latin typeface="Calibri" panose="020F0502020204030204" pitchFamily="34" charset="0"/>
              </a:rPr>
              <a:t> et al (2015). Data is as of June 2015.</a:t>
            </a:r>
            <a:endParaRPr lang="en-US" sz="900" i="1" dirty="0">
              <a:latin typeface="Calibri" panose="020F0502020204030204" pitchFamily="34" charset="0"/>
            </a:endParaRPr>
          </a:p>
        </p:txBody>
      </p:sp>
      <p:sp>
        <p:nvSpPr>
          <p:cNvPr id="12" name="TextBox 11"/>
          <p:cNvSpPr txBox="1"/>
          <p:nvPr/>
        </p:nvSpPr>
        <p:spPr>
          <a:xfrm>
            <a:off x="2487299" y="6400800"/>
            <a:ext cx="4690102" cy="507831"/>
          </a:xfrm>
          <a:prstGeom prst="rect">
            <a:avLst/>
          </a:prstGeom>
          <a:noFill/>
        </p:spPr>
        <p:txBody>
          <a:bodyPr wrap="square" rtlCol="0">
            <a:spAutoFit/>
          </a:bodyPr>
          <a:lstStyle/>
          <a:p>
            <a:r>
              <a:rPr lang="en-US" sz="900" i="1" dirty="0" smtClean="0">
                <a:latin typeface="Calibri" panose="020F0502020204030204" pitchFamily="34" charset="0"/>
              </a:rPr>
              <a:t>* Primary dealer participation in the Fed’s RRP program is de </a:t>
            </a:r>
            <a:r>
              <a:rPr lang="en-US" sz="900" i="1" dirty="0" err="1" smtClean="0">
                <a:latin typeface="Calibri" panose="020F0502020204030204" pitchFamily="34" charset="0"/>
              </a:rPr>
              <a:t>minimus</a:t>
            </a:r>
            <a:r>
              <a:rPr lang="en-US" sz="900" i="1" dirty="0" smtClean="0">
                <a:latin typeface="Calibri" panose="020F0502020204030204" pitchFamily="34" charset="0"/>
              </a:rPr>
              <a:t>. </a:t>
            </a:r>
          </a:p>
          <a:p>
            <a:r>
              <a:rPr lang="en-US" sz="900" i="1" dirty="0" smtClean="0">
                <a:latin typeface="Calibri" panose="020F0502020204030204" pitchFamily="34" charset="0"/>
              </a:rPr>
              <a:t>**The Fed’s RRP program is the average daily outstanding of the overnight and term RRP from January 1</a:t>
            </a:r>
            <a:r>
              <a:rPr lang="en-US" sz="900" i="1" baseline="30000" dirty="0" smtClean="0">
                <a:latin typeface="Calibri" panose="020F0502020204030204" pitchFamily="34" charset="0"/>
              </a:rPr>
              <a:t>st</a:t>
            </a:r>
            <a:r>
              <a:rPr lang="en-US" sz="900" i="1" dirty="0" smtClean="0">
                <a:latin typeface="Calibri" panose="020F0502020204030204" pitchFamily="34" charset="0"/>
              </a:rPr>
              <a:t> 2015 to June 10</a:t>
            </a:r>
            <a:r>
              <a:rPr lang="en-US" sz="900" i="1" baseline="30000" dirty="0" smtClean="0">
                <a:latin typeface="Calibri" panose="020F0502020204030204" pitchFamily="34" charset="0"/>
              </a:rPr>
              <a:t>th</a:t>
            </a:r>
            <a:r>
              <a:rPr lang="en-US" sz="900" i="1" dirty="0" smtClean="0">
                <a:latin typeface="Calibri" panose="020F0502020204030204" pitchFamily="34" charset="0"/>
              </a:rPr>
              <a:t>, 2015.</a:t>
            </a:r>
            <a:endParaRPr lang="en-US" sz="900" i="1" dirty="0">
              <a:latin typeface="Calibri" panose="020F0502020204030204" pitchFamily="34" charset="0"/>
            </a:endParaRPr>
          </a:p>
        </p:txBody>
      </p:sp>
    </p:spTree>
    <p:extLst>
      <p:ext uri="{BB962C8B-B14F-4D97-AF65-F5344CB8AC3E}">
        <p14:creationId xmlns:p14="http://schemas.microsoft.com/office/powerpoint/2010/main" val="737405011"/>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799268" y="244312"/>
            <a:ext cx="6014434" cy="609918"/>
          </a:xfrm>
        </p:spPr>
        <p:txBody>
          <a:bodyPr/>
          <a:lstStyle/>
          <a:p>
            <a:r>
              <a:rPr lang="en-US" dirty="0" smtClean="0"/>
              <a:t>U.S. TREASURIES ARE THE DOMINANT SOURCE OF COLLATERAL FOR REPOS</a:t>
            </a:r>
            <a:endParaRPr lang="en-US" sz="1200" b="0" dirty="0"/>
          </a:p>
        </p:txBody>
      </p:sp>
      <p:sp>
        <p:nvSpPr>
          <p:cNvPr id="3" name="TextBox 2"/>
          <p:cNvSpPr txBox="1"/>
          <p:nvPr/>
        </p:nvSpPr>
        <p:spPr>
          <a:xfrm>
            <a:off x="145657" y="1218129"/>
            <a:ext cx="2168665" cy="4293483"/>
          </a:xfrm>
          <a:prstGeom prst="rect">
            <a:avLst/>
          </a:prstGeom>
          <a:noFill/>
        </p:spPr>
        <p:txBody>
          <a:bodyPr wrap="square" rtlCol="0">
            <a:spAutoFit/>
          </a:bodyPr>
          <a:lstStyle/>
          <a:p>
            <a:pPr defTabSz="914400" fontAlgn="base">
              <a:spcAft>
                <a:spcPct val="0"/>
              </a:spcAft>
            </a:pPr>
            <a:r>
              <a:rPr lang="en-US" sz="1100" dirty="0" smtClean="0">
                <a:solidFill>
                  <a:srgbClr val="000000"/>
                </a:solidFill>
              </a:rPr>
              <a:t>Treasury securities make up ~80% of the collateral posted in bilateral repo. Other securities, such as agency mortgage-backed securities (MBS), agency debt, corporate bonds, and equities, are posted as collateral in bilateral repo trades, but only to a limited extent.</a:t>
            </a:r>
          </a:p>
          <a:p>
            <a:pPr defTabSz="914400" fontAlgn="base">
              <a:spcAft>
                <a:spcPct val="0"/>
              </a:spcAft>
            </a:pPr>
            <a:endParaRPr lang="en-US" sz="1100" b="1" dirty="0">
              <a:solidFill>
                <a:srgbClr val="000000"/>
              </a:solidFill>
            </a:endParaRPr>
          </a:p>
          <a:p>
            <a:pPr defTabSz="914400" fontAlgn="base">
              <a:spcAft>
                <a:spcPct val="0"/>
              </a:spcAft>
            </a:pPr>
            <a:r>
              <a:rPr lang="en-US" sz="1100" dirty="0" smtClean="0">
                <a:solidFill>
                  <a:srgbClr val="000000"/>
                </a:solidFill>
              </a:rPr>
              <a:t>In contrast to bilateral repo, Treasury securities play a much smaller role in the triparty repo. Treasury securities are posted as collateral for about 40% of triparty repo trades, roughly the same share as agency MBS.</a:t>
            </a:r>
            <a:endParaRPr lang="en-US" sz="1100" dirty="0" smtClean="0">
              <a:solidFill>
                <a:srgbClr val="FF0000"/>
              </a:solidFill>
            </a:endParaRPr>
          </a:p>
          <a:p>
            <a:pPr defTabSz="914400" fontAlgn="base">
              <a:spcAft>
                <a:spcPct val="0"/>
              </a:spcAft>
            </a:pPr>
            <a:endParaRPr lang="en-US" sz="1100" dirty="0" smtClean="0">
              <a:solidFill>
                <a:srgbClr val="000000"/>
              </a:solidFill>
            </a:endParaRPr>
          </a:p>
          <a:p>
            <a:pPr defTabSz="914400" fontAlgn="base">
              <a:spcAft>
                <a:spcPct val="0"/>
              </a:spcAft>
              <a:buClr>
                <a:srgbClr val="203353"/>
              </a:buClr>
              <a:defRPr/>
            </a:pPr>
            <a:endParaRPr lang="en-US" sz="1500" dirty="0" smtClean="0">
              <a:solidFill>
                <a:srgbClr val="2E398A"/>
              </a:solidFill>
            </a:endParaRPr>
          </a:p>
          <a:p>
            <a:pPr defTabSz="914400" fontAlgn="base">
              <a:spcAft>
                <a:spcPct val="0"/>
              </a:spcAft>
              <a:buClr>
                <a:srgbClr val="203353"/>
              </a:buClr>
              <a:defRPr/>
            </a:pPr>
            <a:endParaRPr lang="en-US" sz="1500" dirty="0">
              <a:solidFill>
                <a:srgbClr val="2E398A"/>
              </a:solidFill>
            </a:endParaRPr>
          </a:p>
          <a:p>
            <a:pPr defTabSz="914400" fontAlgn="base">
              <a:spcAft>
                <a:spcPct val="0"/>
              </a:spcAft>
              <a:buClr>
                <a:srgbClr val="203353"/>
              </a:buClr>
              <a:defRPr/>
            </a:pPr>
            <a:endParaRPr lang="en-US" sz="1500" dirty="0" smtClean="0">
              <a:solidFill>
                <a:srgbClr val="2E398A"/>
              </a:solidFill>
            </a:endParaRPr>
          </a:p>
          <a:p>
            <a:pPr defTabSz="914400" fontAlgn="base">
              <a:spcAft>
                <a:spcPct val="0"/>
              </a:spcAft>
              <a:buClr>
                <a:srgbClr val="203353"/>
              </a:buClr>
              <a:defRPr/>
            </a:pPr>
            <a:endParaRPr lang="en-US" sz="1500" dirty="0">
              <a:solidFill>
                <a:srgbClr val="2E398A"/>
              </a:solidFill>
            </a:endParaRPr>
          </a:p>
          <a:p>
            <a:pPr defTabSz="914400" fontAlgn="base">
              <a:spcAft>
                <a:spcPct val="0"/>
              </a:spcAft>
              <a:buClr>
                <a:srgbClr val="203353"/>
              </a:buClr>
              <a:defRPr/>
            </a:pPr>
            <a:endParaRPr lang="en-US" sz="1500" dirty="0">
              <a:solidFill>
                <a:srgbClr val="2E398A"/>
              </a:solidFill>
            </a:endParaRPr>
          </a:p>
        </p:txBody>
      </p:sp>
      <p:pic>
        <p:nvPicPr>
          <p:cNvPr id="6147" name="Picture 3" descr="space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0"/>
            <a:ext cx="9525" cy="9525"/>
          </a:xfrm>
          <a:prstGeom prst="rect">
            <a:avLst/>
          </a:prstGeom>
          <a:noFill/>
          <a:extLst>
            <a:ext uri="{909E8E84-426E-40DD-AFC4-6F175D3DCCD1}">
              <a14:hiddenFill xmlns:a14="http://schemas.microsoft.com/office/drawing/2010/main">
                <a:solidFill>
                  <a:srgbClr val="FFFFFF"/>
                </a:solidFill>
              </a14:hiddenFill>
            </a:ext>
          </a:extLst>
        </p:spPr>
      </p:pic>
      <p:pic>
        <p:nvPicPr>
          <p:cNvPr id="6149" name="Picture 5" descr="space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0"/>
            <a:ext cx="9525" cy="9525"/>
          </a:xfrm>
          <a:prstGeom prst="rect">
            <a:avLst/>
          </a:prstGeom>
          <a:noFill/>
          <a:extLst>
            <a:ext uri="{909E8E84-426E-40DD-AFC4-6F175D3DCCD1}">
              <a14:hiddenFill xmlns:a14="http://schemas.microsoft.com/office/drawing/2010/main">
                <a:solidFill>
                  <a:srgbClr val="FFFFFF"/>
                </a:solidFill>
              </a14:hiddenFill>
            </a:ext>
          </a:extLst>
        </p:spPr>
      </p:pic>
      <p:pic>
        <p:nvPicPr>
          <p:cNvPr id="6151" name="Picture 7" descr="space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0"/>
            <a:ext cx="9525" cy="9525"/>
          </a:xfrm>
          <a:prstGeom prst="rect">
            <a:avLst/>
          </a:prstGeom>
          <a:noFill/>
          <a:extLst>
            <a:ext uri="{909E8E84-426E-40DD-AFC4-6F175D3DCCD1}">
              <a14:hiddenFill xmlns:a14="http://schemas.microsoft.com/office/drawing/2010/main">
                <a:solidFill>
                  <a:srgbClr val="FFFFFF"/>
                </a:solidFill>
              </a14:hiddenFill>
            </a:ext>
          </a:extLst>
        </p:spPr>
      </p:pic>
      <p:pic>
        <p:nvPicPr>
          <p:cNvPr id="6153" name="Picture 9" descr="space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0"/>
            <a:ext cx="9525" cy="9525"/>
          </a:xfrm>
          <a:prstGeom prst="rect">
            <a:avLst/>
          </a:prstGeom>
          <a:noFill/>
          <a:extLst>
            <a:ext uri="{909E8E84-426E-40DD-AFC4-6F175D3DCCD1}">
              <a14:hiddenFill xmlns:a14="http://schemas.microsoft.com/office/drawing/2010/main">
                <a:solidFill>
                  <a:srgbClr val="FFFFFF"/>
                </a:solidFill>
              </a14:hiddenFill>
            </a:ext>
          </a:extLst>
        </p:spPr>
      </p:pic>
      <p:pic>
        <p:nvPicPr>
          <p:cNvPr id="6160" name="Picture 16" descr="space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0"/>
            <a:ext cx="9525" cy="9525"/>
          </a:xfrm>
          <a:prstGeom prst="rect">
            <a:avLst/>
          </a:prstGeom>
          <a:noFill/>
          <a:extLst>
            <a:ext uri="{909E8E84-426E-40DD-AFC4-6F175D3DCCD1}">
              <a14:hiddenFill xmlns:a14="http://schemas.microsoft.com/office/drawing/2010/main">
                <a:solidFill>
                  <a:srgbClr val="FFFFFF"/>
                </a:solidFill>
              </a14:hiddenFill>
            </a:ext>
          </a:extLst>
        </p:spPr>
      </p:pic>
      <p:pic>
        <p:nvPicPr>
          <p:cNvPr id="6162" name="Picture 18" descr="space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0"/>
            <a:ext cx="9525" cy="9525"/>
          </a:xfrm>
          <a:prstGeom prst="rect">
            <a:avLst/>
          </a:prstGeom>
          <a:noFill/>
          <a:extLst>
            <a:ext uri="{909E8E84-426E-40DD-AFC4-6F175D3DCCD1}">
              <a14:hiddenFill xmlns:a14="http://schemas.microsoft.com/office/drawing/2010/main">
                <a:solidFill>
                  <a:srgbClr val="FFFFFF"/>
                </a:solidFill>
              </a14:hiddenFill>
            </a:ext>
          </a:extLst>
        </p:spPr>
      </p:pic>
      <p:pic>
        <p:nvPicPr>
          <p:cNvPr id="6164" name="Picture 20" descr="space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0"/>
            <a:ext cx="9525" cy="9525"/>
          </a:xfrm>
          <a:prstGeom prst="rect">
            <a:avLst/>
          </a:prstGeom>
          <a:noFill/>
          <a:extLst>
            <a:ext uri="{909E8E84-426E-40DD-AFC4-6F175D3DCCD1}">
              <a14:hiddenFill xmlns:a14="http://schemas.microsoft.com/office/drawing/2010/main">
                <a:solidFill>
                  <a:srgbClr val="FFFFFF"/>
                </a:solidFill>
              </a14:hiddenFill>
            </a:ext>
          </a:extLst>
        </p:spPr>
      </p:pic>
      <p:pic>
        <p:nvPicPr>
          <p:cNvPr id="6166" name="Picture 22" descr="space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0"/>
            <a:ext cx="9525" cy="9525"/>
          </a:xfrm>
          <a:prstGeom prst="rect">
            <a:avLst/>
          </a:prstGeom>
          <a:noFill/>
          <a:extLst>
            <a:ext uri="{909E8E84-426E-40DD-AFC4-6F175D3DCCD1}">
              <a14:hiddenFill xmlns:a14="http://schemas.microsoft.com/office/drawing/2010/main">
                <a:solidFill>
                  <a:srgbClr val="FFFFFF"/>
                </a:solidFill>
              </a14:hiddenFill>
            </a:ext>
          </a:extLst>
        </p:spPr>
      </p:pic>
      <p:sp>
        <p:nvSpPr>
          <p:cNvPr id="15" name="Rectangle 14"/>
          <p:cNvSpPr/>
          <p:nvPr/>
        </p:nvSpPr>
        <p:spPr>
          <a:xfrm>
            <a:off x="2472699" y="1266192"/>
            <a:ext cx="7223761" cy="640079"/>
          </a:xfrm>
          <a:prstGeom prst="rect">
            <a:avLst/>
          </a:prstGeom>
          <a:solidFill>
            <a:srgbClr val="203353"/>
          </a:solidFill>
          <a:ln>
            <a:noFill/>
          </a:ln>
        </p:spPr>
        <p:style>
          <a:lnRef idx="2">
            <a:schemeClr val="accent1">
              <a:shade val="50000"/>
            </a:schemeClr>
          </a:lnRef>
          <a:fillRef idx="1">
            <a:schemeClr val="accent1"/>
          </a:fillRef>
          <a:effectRef idx="0">
            <a:schemeClr val="accent1"/>
          </a:effectRef>
          <a:fontRef idx="minor">
            <a:schemeClr val="lt1"/>
          </a:fontRef>
        </p:style>
        <p:txBody>
          <a:bodyPr lIns="50894" tIns="50894" rIns="101787" bIns="50894" rtlCol="0" anchor="ctr"/>
          <a:lstStyle/>
          <a:p>
            <a:pPr algn="ctr" defTabSz="914400" fontAlgn="base">
              <a:spcBef>
                <a:spcPct val="0"/>
              </a:spcBef>
              <a:spcAft>
                <a:spcPct val="0"/>
              </a:spcAft>
            </a:pPr>
            <a:r>
              <a:rPr lang="en-US" sz="1300" dirty="0" smtClean="0">
                <a:solidFill>
                  <a:srgbClr val="FFFFFF"/>
                </a:solidFill>
              </a:rPr>
              <a:t>COLLATERAL FOR REPO</a:t>
            </a:r>
            <a:endParaRPr lang="en-US" sz="1300" dirty="0" smtClean="0">
              <a:solidFill>
                <a:srgbClr val="FFFFFF"/>
              </a:solidFill>
            </a:endParaRPr>
          </a:p>
          <a:p>
            <a:pPr algn="ctr" defTabSz="914400" fontAlgn="base">
              <a:spcBef>
                <a:spcPct val="0"/>
              </a:spcBef>
              <a:spcAft>
                <a:spcPct val="0"/>
              </a:spcAft>
            </a:pPr>
            <a:r>
              <a:rPr lang="en-US" sz="1300" dirty="0" smtClean="0">
                <a:solidFill>
                  <a:srgbClr val="FFFFFF"/>
                </a:solidFill>
              </a:rPr>
              <a:t>(Dollars in </a:t>
            </a:r>
            <a:r>
              <a:rPr lang="en-US" sz="1300" dirty="0" smtClean="0">
                <a:solidFill>
                  <a:srgbClr val="FFFFFF"/>
                </a:solidFill>
              </a:rPr>
              <a:t>billions</a:t>
            </a:r>
            <a:r>
              <a:rPr lang="en-US" sz="1300" dirty="0" smtClean="0">
                <a:solidFill>
                  <a:srgbClr val="FFFFFF"/>
                </a:solidFill>
              </a:rPr>
              <a:t>) </a:t>
            </a:r>
            <a:endParaRPr lang="en-US" sz="1300" dirty="0" smtClean="0">
              <a:solidFill>
                <a:srgbClr val="FFFFFF"/>
              </a:solidFill>
            </a:endParaRPr>
          </a:p>
        </p:txBody>
      </p:sp>
      <p:graphicFrame>
        <p:nvGraphicFramePr>
          <p:cNvPr id="17" name="Chart 16"/>
          <p:cNvGraphicFramePr/>
          <p:nvPr>
            <p:extLst>
              <p:ext uri="{D42A27DB-BD31-4B8C-83A1-F6EECF244321}">
                <p14:modId xmlns:p14="http://schemas.microsoft.com/office/powerpoint/2010/main" val="1153158839"/>
              </p:ext>
            </p:extLst>
          </p:nvPr>
        </p:nvGraphicFramePr>
        <p:xfrm>
          <a:off x="2857500" y="2918598"/>
          <a:ext cx="2324100" cy="1882002"/>
        </p:xfrm>
        <a:graphic>
          <a:graphicData uri="http://schemas.openxmlformats.org/drawingml/2006/chart">
            <c:chart xmlns:c="http://schemas.openxmlformats.org/drawingml/2006/chart" xmlns:r="http://schemas.openxmlformats.org/officeDocument/2006/relationships" r:id="rId4"/>
          </a:graphicData>
        </a:graphic>
      </p:graphicFrame>
      <p:graphicFrame>
        <p:nvGraphicFramePr>
          <p:cNvPr id="18" name="Chart 17"/>
          <p:cNvGraphicFramePr/>
          <p:nvPr>
            <p:extLst>
              <p:ext uri="{D42A27DB-BD31-4B8C-83A1-F6EECF244321}">
                <p14:modId xmlns:p14="http://schemas.microsoft.com/office/powerpoint/2010/main" val="1654584806"/>
              </p:ext>
            </p:extLst>
          </p:nvPr>
        </p:nvGraphicFramePr>
        <p:xfrm>
          <a:off x="5181600" y="2819400"/>
          <a:ext cx="4191000" cy="2286000"/>
        </p:xfrm>
        <a:graphic>
          <a:graphicData uri="http://schemas.openxmlformats.org/drawingml/2006/chart">
            <c:chart xmlns:c="http://schemas.openxmlformats.org/drawingml/2006/chart" xmlns:r="http://schemas.openxmlformats.org/officeDocument/2006/relationships" r:id="rId5"/>
          </a:graphicData>
        </a:graphic>
      </p:graphicFrame>
      <p:grpSp>
        <p:nvGrpSpPr>
          <p:cNvPr id="19" name="Group 18"/>
          <p:cNvGrpSpPr/>
          <p:nvPr/>
        </p:nvGrpSpPr>
        <p:grpSpPr>
          <a:xfrm>
            <a:off x="3352800" y="5537012"/>
            <a:ext cx="3060700" cy="215444"/>
            <a:chOff x="3416300" y="3429000"/>
            <a:chExt cx="3060700" cy="215444"/>
          </a:xfrm>
        </p:grpSpPr>
        <p:sp>
          <p:nvSpPr>
            <p:cNvPr id="20" name="TextBox 19"/>
            <p:cNvSpPr txBox="1"/>
            <p:nvPr/>
          </p:nvSpPr>
          <p:spPr>
            <a:xfrm>
              <a:off x="3429000" y="3429000"/>
              <a:ext cx="3048000" cy="215444"/>
            </a:xfrm>
            <a:prstGeom prst="rect">
              <a:avLst/>
            </a:prstGeom>
            <a:noFill/>
          </p:spPr>
          <p:txBody>
            <a:bodyPr wrap="square" rtlCol="0">
              <a:spAutoFit/>
            </a:bodyPr>
            <a:lstStyle/>
            <a:p>
              <a:r>
                <a:rPr lang="en-US" sz="800" dirty="0"/>
                <a:t>US Treasury securities including STRIPS	</a:t>
              </a:r>
              <a:r>
                <a:rPr lang="en-US" sz="800" dirty="0" smtClean="0"/>
                <a:t>All </a:t>
              </a:r>
              <a:r>
                <a:rPr lang="en-US" sz="800" dirty="0"/>
                <a:t>other assets</a:t>
              </a:r>
            </a:p>
          </p:txBody>
        </p:sp>
        <p:sp>
          <p:nvSpPr>
            <p:cNvPr id="21" name="Rectangle 20"/>
            <p:cNvSpPr/>
            <p:nvPr/>
          </p:nvSpPr>
          <p:spPr>
            <a:xfrm>
              <a:off x="3416300" y="3498622"/>
              <a:ext cx="76200" cy="762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Rectangle 21"/>
            <p:cNvSpPr/>
            <p:nvPr/>
          </p:nvSpPr>
          <p:spPr>
            <a:xfrm>
              <a:off x="5410200" y="3504744"/>
              <a:ext cx="76200" cy="76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3" name="TextBox 22"/>
          <p:cNvSpPr txBox="1"/>
          <p:nvPr/>
        </p:nvSpPr>
        <p:spPr>
          <a:xfrm>
            <a:off x="2971800" y="2611050"/>
            <a:ext cx="1981200" cy="276999"/>
          </a:xfrm>
          <a:prstGeom prst="rect">
            <a:avLst/>
          </a:prstGeom>
          <a:noFill/>
        </p:spPr>
        <p:txBody>
          <a:bodyPr wrap="square" rtlCol="0">
            <a:spAutoFit/>
          </a:bodyPr>
          <a:lstStyle/>
          <a:p>
            <a:pPr algn="ctr"/>
            <a:r>
              <a:rPr lang="en-US" sz="1200" dirty="0" smtClean="0"/>
              <a:t>Total Repo</a:t>
            </a:r>
            <a:endParaRPr lang="en-US" sz="1200" dirty="0"/>
          </a:p>
        </p:txBody>
      </p:sp>
      <p:sp>
        <p:nvSpPr>
          <p:cNvPr id="4" name="Rectangle 3"/>
          <p:cNvSpPr/>
          <p:nvPr/>
        </p:nvSpPr>
        <p:spPr>
          <a:xfrm>
            <a:off x="2472699" y="6096000"/>
            <a:ext cx="6772901" cy="784830"/>
          </a:xfrm>
          <a:prstGeom prst="rect">
            <a:avLst/>
          </a:prstGeom>
        </p:spPr>
        <p:txBody>
          <a:bodyPr wrap="square">
            <a:spAutoFit/>
          </a:bodyPr>
          <a:lstStyle/>
          <a:p>
            <a:r>
              <a:rPr lang="en-US" sz="900" dirty="0"/>
              <a:t>Sources: For total repo, Federal Reserve Form FR2004; for tri-party repo and GCF repo, Federal Reserve Bank of New York.</a:t>
            </a:r>
          </a:p>
          <a:p>
            <a:endParaRPr lang="en-US" sz="900" dirty="0"/>
          </a:p>
          <a:p>
            <a:r>
              <a:rPr lang="en-US" sz="900" dirty="0"/>
              <a:t>Notes: Total repo estimates are based on Federal Reserve 2004 data as of October 8, 2014. </a:t>
            </a:r>
          </a:p>
          <a:p>
            <a:r>
              <a:rPr lang="en-US" sz="900" dirty="0"/>
              <a:t>Tri-party repo and GCF repo data are as of October 9, 2014. Bilateral repo estimates are a residual amount, equal to total repo minus tri-party repo minus GCF repo.</a:t>
            </a:r>
            <a:endParaRPr lang="en-US" sz="900" dirty="0"/>
          </a:p>
        </p:txBody>
      </p:sp>
    </p:spTree>
    <p:extLst>
      <p:ext uri="{BB962C8B-B14F-4D97-AF65-F5344CB8AC3E}">
        <p14:creationId xmlns:p14="http://schemas.microsoft.com/office/powerpoint/2010/main" val="4179012822"/>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799268" y="244312"/>
            <a:ext cx="6014434" cy="609918"/>
          </a:xfrm>
        </p:spPr>
        <p:txBody>
          <a:bodyPr/>
          <a:lstStyle/>
          <a:p>
            <a:r>
              <a:rPr lang="en-US" dirty="0" smtClean="0"/>
              <a:t>REPO AND THE </a:t>
            </a:r>
            <a:r>
              <a:rPr lang="en-US" dirty="0" smtClean="0"/>
              <a:t>SHORT-TERM WHOLESALE </a:t>
            </a:r>
            <a:r>
              <a:rPr lang="en-US" dirty="0" smtClean="0"/>
              <a:t>FUNDING MARKETS</a:t>
            </a:r>
            <a:endParaRPr lang="en-US" sz="1200" b="0" dirty="0"/>
          </a:p>
        </p:txBody>
      </p:sp>
      <p:sp>
        <p:nvSpPr>
          <p:cNvPr id="3" name="TextBox 2"/>
          <p:cNvSpPr txBox="1"/>
          <p:nvPr/>
        </p:nvSpPr>
        <p:spPr>
          <a:xfrm>
            <a:off x="145657" y="1218129"/>
            <a:ext cx="2168665" cy="7017306"/>
          </a:xfrm>
          <a:prstGeom prst="rect">
            <a:avLst/>
          </a:prstGeom>
          <a:noFill/>
        </p:spPr>
        <p:txBody>
          <a:bodyPr wrap="square" rtlCol="0">
            <a:spAutoFit/>
          </a:bodyPr>
          <a:lstStyle/>
          <a:p>
            <a:pPr defTabSz="914400" fontAlgn="base">
              <a:spcAft>
                <a:spcPct val="0"/>
              </a:spcAft>
            </a:pPr>
            <a:r>
              <a:rPr lang="en-US" sz="1100" dirty="0" smtClean="0">
                <a:solidFill>
                  <a:srgbClr val="000000"/>
                </a:solidFill>
              </a:rPr>
              <a:t>Banks and other financial institutions have access to a range of borrowed funds to service their needs that can be broadly categorized into retail and wholesale funding. </a:t>
            </a:r>
            <a:r>
              <a:rPr lang="en-US" sz="1100" b="1" dirty="0" smtClean="0">
                <a:solidFill>
                  <a:srgbClr val="000000"/>
                </a:solidFill>
              </a:rPr>
              <a:t>Wholesale </a:t>
            </a:r>
            <a:r>
              <a:rPr lang="en-US" sz="1100" b="1" dirty="0" smtClean="0">
                <a:solidFill>
                  <a:srgbClr val="000000"/>
                </a:solidFill>
              </a:rPr>
              <a:t>funding</a:t>
            </a:r>
            <a:r>
              <a:rPr lang="en-US" sz="1100" dirty="0" smtClean="0">
                <a:solidFill>
                  <a:srgbClr val="000000"/>
                </a:solidFill>
              </a:rPr>
              <a:t> corresponds to the use </a:t>
            </a:r>
            <a:r>
              <a:rPr lang="en-US" sz="1100" dirty="0" smtClean="0">
                <a:solidFill>
                  <a:srgbClr val="000000"/>
                </a:solidFill>
              </a:rPr>
              <a:t>of federal funds, deposits from large institutions, and debt issuance.</a:t>
            </a:r>
            <a:r>
              <a:rPr lang="en-US" sz="1100" dirty="0" smtClean="0"/>
              <a:t> </a:t>
            </a:r>
            <a:r>
              <a:rPr lang="en-US" sz="1100" b="1" dirty="0" smtClean="0"/>
              <a:t>Retail funding </a:t>
            </a:r>
            <a:r>
              <a:rPr lang="en-US" sz="1100" dirty="0" smtClean="0"/>
              <a:t>refers to deposits that households and small companies keep with a bank.</a:t>
            </a:r>
            <a:endParaRPr lang="en-US" sz="1100" b="1" dirty="0" smtClean="0">
              <a:solidFill>
                <a:srgbClr val="FF0000"/>
              </a:solidFill>
            </a:endParaRPr>
          </a:p>
          <a:p>
            <a:pPr defTabSz="914400" fontAlgn="base">
              <a:spcAft>
                <a:spcPct val="0"/>
              </a:spcAft>
            </a:pPr>
            <a:endParaRPr lang="en-US" sz="1100" dirty="0" smtClean="0">
              <a:solidFill>
                <a:srgbClr val="000000"/>
              </a:solidFill>
            </a:endParaRPr>
          </a:p>
          <a:p>
            <a:pPr defTabSz="914400" fontAlgn="base">
              <a:spcAft>
                <a:spcPct val="0"/>
              </a:spcAft>
            </a:pPr>
            <a:r>
              <a:rPr lang="en-US" sz="1100" dirty="0" smtClean="0">
                <a:solidFill>
                  <a:srgbClr val="000000"/>
                </a:solidFill>
              </a:rPr>
              <a:t>The </a:t>
            </a:r>
            <a:r>
              <a:rPr lang="en-US" sz="1100" dirty="0" smtClean="0">
                <a:solidFill>
                  <a:srgbClr val="000000"/>
                </a:solidFill>
              </a:rPr>
              <a:t>short-term wholesale </a:t>
            </a:r>
            <a:r>
              <a:rPr lang="en-US" sz="1100" dirty="0" smtClean="0">
                <a:solidFill>
                  <a:srgbClr val="000000"/>
                </a:solidFill>
              </a:rPr>
              <a:t>funding market consists of two segments: </a:t>
            </a:r>
            <a:r>
              <a:rPr lang="en-US" sz="1100" b="1" dirty="0" smtClean="0">
                <a:solidFill>
                  <a:srgbClr val="000000"/>
                </a:solidFill>
              </a:rPr>
              <a:t>secured </a:t>
            </a:r>
            <a:r>
              <a:rPr lang="en-US" sz="1100" dirty="0" smtClean="0">
                <a:solidFill>
                  <a:srgbClr val="000000"/>
                </a:solidFill>
              </a:rPr>
              <a:t>and </a:t>
            </a:r>
            <a:r>
              <a:rPr lang="en-US" sz="1100" b="1" dirty="0" smtClean="0">
                <a:solidFill>
                  <a:srgbClr val="000000"/>
                </a:solidFill>
              </a:rPr>
              <a:t>unsecured. </a:t>
            </a:r>
            <a:r>
              <a:rPr lang="en-US" sz="1100" dirty="0" smtClean="0">
                <a:solidFill>
                  <a:srgbClr val="000000"/>
                </a:solidFill>
              </a:rPr>
              <a:t>Secured funding consists of Repo and Asset-backed Commercial Paper. Unsecured funding consists of Commercial Paper, CDs, and Deposits.</a:t>
            </a:r>
          </a:p>
          <a:p>
            <a:pPr defTabSz="914400" fontAlgn="base">
              <a:spcAft>
                <a:spcPct val="0"/>
              </a:spcAft>
            </a:pPr>
            <a:endParaRPr lang="en-US" sz="1100" dirty="0">
              <a:solidFill>
                <a:srgbClr val="000000"/>
              </a:solidFill>
            </a:endParaRPr>
          </a:p>
          <a:p>
            <a:pPr defTabSz="914400" fontAlgn="base">
              <a:spcAft>
                <a:spcPct val="0"/>
              </a:spcAft>
            </a:pPr>
            <a:r>
              <a:rPr lang="en-US" sz="1100" dirty="0" smtClean="0">
                <a:solidFill>
                  <a:srgbClr val="000000"/>
                </a:solidFill>
              </a:rPr>
              <a:t>Leading up to the financial crisis, market participants increasingly relied on wholesale funding. The 2007-2009 crisis dramatically decreased the use of CP, while the interbank market has grown substantially. While activity in the repo markets dropped sharply post-Crisis, repo remains the largest component of wholesale funding markets.</a:t>
            </a:r>
          </a:p>
          <a:p>
            <a:pPr defTabSz="914400" fontAlgn="base">
              <a:spcAft>
                <a:spcPct val="0"/>
              </a:spcAft>
            </a:pPr>
            <a:endParaRPr lang="en-US" sz="1200" dirty="0">
              <a:solidFill>
                <a:srgbClr val="000000"/>
              </a:solidFill>
            </a:endParaRPr>
          </a:p>
          <a:p>
            <a:pPr defTabSz="914400" fontAlgn="base">
              <a:spcAft>
                <a:spcPct val="0"/>
              </a:spcAft>
              <a:buClr>
                <a:srgbClr val="203353"/>
              </a:buClr>
              <a:defRPr/>
            </a:pPr>
            <a:endParaRPr lang="en-US" sz="1500" dirty="0" smtClean="0">
              <a:solidFill>
                <a:srgbClr val="2E398A"/>
              </a:solidFill>
            </a:endParaRPr>
          </a:p>
          <a:p>
            <a:pPr defTabSz="914400" fontAlgn="base">
              <a:spcAft>
                <a:spcPct val="0"/>
              </a:spcAft>
              <a:buClr>
                <a:srgbClr val="203353"/>
              </a:buClr>
              <a:defRPr/>
            </a:pPr>
            <a:endParaRPr lang="en-US" sz="1500" dirty="0">
              <a:solidFill>
                <a:srgbClr val="2E398A"/>
              </a:solidFill>
            </a:endParaRPr>
          </a:p>
          <a:p>
            <a:pPr defTabSz="914400" fontAlgn="base">
              <a:spcAft>
                <a:spcPct val="0"/>
              </a:spcAft>
              <a:buClr>
                <a:srgbClr val="203353"/>
              </a:buClr>
              <a:defRPr/>
            </a:pPr>
            <a:endParaRPr lang="en-US" sz="1500" dirty="0" smtClean="0">
              <a:solidFill>
                <a:srgbClr val="2E398A"/>
              </a:solidFill>
            </a:endParaRPr>
          </a:p>
          <a:p>
            <a:pPr defTabSz="914400" fontAlgn="base">
              <a:spcAft>
                <a:spcPct val="0"/>
              </a:spcAft>
              <a:buClr>
                <a:srgbClr val="203353"/>
              </a:buClr>
              <a:defRPr/>
            </a:pPr>
            <a:endParaRPr lang="en-US" sz="1500" dirty="0">
              <a:solidFill>
                <a:srgbClr val="2E398A"/>
              </a:solidFill>
            </a:endParaRPr>
          </a:p>
          <a:p>
            <a:pPr defTabSz="914400" fontAlgn="base">
              <a:spcAft>
                <a:spcPct val="0"/>
              </a:spcAft>
              <a:buClr>
                <a:srgbClr val="203353"/>
              </a:buClr>
              <a:defRPr/>
            </a:pPr>
            <a:endParaRPr lang="en-US" sz="1500" dirty="0">
              <a:solidFill>
                <a:srgbClr val="2E398A"/>
              </a:solidFill>
            </a:endParaRPr>
          </a:p>
        </p:txBody>
      </p:sp>
      <p:pic>
        <p:nvPicPr>
          <p:cNvPr id="6147" name="Picture 3" descr="space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0"/>
            <a:ext cx="9525" cy="9525"/>
          </a:xfrm>
          <a:prstGeom prst="rect">
            <a:avLst/>
          </a:prstGeom>
          <a:noFill/>
          <a:extLst>
            <a:ext uri="{909E8E84-426E-40DD-AFC4-6F175D3DCCD1}">
              <a14:hiddenFill xmlns:a14="http://schemas.microsoft.com/office/drawing/2010/main">
                <a:solidFill>
                  <a:srgbClr val="FFFFFF"/>
                </a:solidFill>
              </a14:hiddenFill>
            </a:ext>
          </a:extLst>
        </p:spPr>
      </p:pic>
      <p:pic>
        <p:nvPicPr>
          <p:cNvPr id="6149" name="Picture 5" descr="space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0"/>
            <a:ext cx="9525" cy="9525"/>
          </a:xfrm>
          <a:prstGeom prst="rect">
            <a:avLst/>
          </a:prstGeom>
          <a:noFill/>
          <a:extLst>
            <a:ext uri="{909E8E84-426E-40DD-AFC4-6F175D3DCCD1}">
              <a14:hiddenFill xmlns:a14="http://schemas.microsoft.com/office/drawing/2010/main">
                <a:solidFill>
                  <a:srgbClr val="FFFFFF"/>
                </a:solidFill>
              </a14:hiddenFill>
            </a:ext>
          </a:extLst>
        </p:spPr>
      </p:pic>
      <p:pic>
        <p:nvPicPr>
          <p:cNvPr id="6151" name="Picture 7" descr="space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0"/>
            <a:ext cx="9525" cy="9525"/>
          </a:xfrm>
          <a:prstGeom prst="rect">
            <a:avLst/>
          </a:prstGeom>
          <a:noFill/>
          <a:extLst>
            <a:ext uri="{909E8E84-426E-40DD-AFC4-6F175D3DCCD1}">
              <a14:hiddenFill xmlns:a14="http://schemas.microsoft.com/office/drawing/2010/main">
                <a:solidFill>
                  <a:srgbClr val="FFFFFF"/>
                </a:solidFill>
              </a14:hiddenFill>
            </a:ext>
          </a:extLst>
        </p:spPr>
      </p:pic>
      <p:pic>
        <p:nvPicPr>
          <p:cNvPr id="6153" name="Picture 9" descr="space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0"/>
            <a:ext cx="9525" cy="9525"/>
          </a:xfrm>
          <a:prstGeom prst="rect">
            <a:avLst/>
          </a:prstGeom>
          <a:noFill/>
          <a:extLst>
            <a:ext uri="{909E8E84-426E-40DD-AFC4-6F175D3DCCD1}">
              <a14:hiddenFill xmlns:a14="http://schemas.microsoft.com/office/drawing/2010/main">
                <a:solidFill>
                  <a:srgbClr val="FFFFFF"/>
                </a:solidFill>
              </a14:hiddenFill>
            </a:ext>
          </a:extLst>
        </p:spPr>
      </p:pic>
      <p:pic>
        <p:nvPicPr>
          <p:cNvPr id="6160" name="Picture 16" descr="space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0"/>
            <a:ext cx="9525" cy="9525"/>
          </a:xfrm>
          <a:prstGeom prst="rect">
            <a:avLst/>
          </a:prstGeom>
          <a:noFill/>
          <a:extLst>
            <a:ext uri="{909E8E84-426E-40DD-AFC4-6F175D3DCCD1}">
              <a14:hiddenFill xmlns:a14="http://schemas.microsoft.com/office/drawing/2010/main">
                <a:solidFill>
                  <a:srgbClr val="FFFFFF"/>
                </a:solidFill>
              </a14:hiddenFill>
            </a:ext>
          </a:extLst>
        </p:spPr>
      </p:pic>
      <p:pic>
        <p:nvPicPr>
          <p:cNvPr id="6162" name="Picture 18" descr="space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0"/>
            <a:ext cx="9525" cy="9525"/>
          </a:xfrm>
          <a:prstGeom prst="rect">
            <a:avLst/>
          </a:prstGeom>
          <a:noFill/>
          <a:extLst>
            <a:ext uri="{909E8E84-426E-40DD-AFC4-6F175D3DCCD1}">
              <a14:hiddenFill xmlns:a14="http://schemas.microsoft.com/office/drawing/2010/main">
                <a:solidFill>
                  <a:srgbClr val="FFFFFF"/>
                </a:solidFill>
              </a14:hiddenFill>
            </a:ext>
          </a:extLst>
        </p:spPr>
      </p:pic>
      <p:pic>
        <p:nvPicPr>
          <p:cNvPr id="6164" name="Picture 20" descr="space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0"/>
            <a:ext cx="9525" cy="9525"/>
          </a:xfrm>
          <a:prstGeom prst="rect">
            <a:avLst/>
          </a:prstGeom>
          <a:noFill/>
          <a:extLst>
            <a:ext uri="{909E8E84-426E-40DD-AFC4-6F175D3DCCD1}">
              <a14:hiddenFill xmlns:a14="http://schemas.microsoft.com/office/drawing/2010/main">
                <a:solidFill>
                  <a:srgbClr val="FFFFFF"/>
                </a:solidFill>
              </a14:hiddenFill>
            </a:ext>
          </a:extLst>
        </p:spPr>
      </p:pic>
      <p:pic>
        <p:nvPicPr>
          <p:cNvPr id="6166" name="Picture 22" descr="space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0"/>
            <a:ext cx="9525" cy="9525"/>
          </a:xfrm>
          <a:prstGeom prst="rect">
            <a:avLst/>
          </a:prstGeom>
          <a:noFill/>
          <a:extLst>
            <a:ext uri="{909E8E84-426E-40DD-AFC4-6F175D3DCCD1}">
              <a14:hiddenFill xmlns:a14="http://schemas.microsoft.com/office/drawing/2010/main">
                <a:solidFill>
                  <a:srgbClr val="FFFFFF"/>
                </a:solidFill>
              </a14:hiddenFill>
            </a:ext>
          </a:extLst>
        </p:spPr>
      </p:pic>
      <p:sp>
        <p:nvSpPr>
          <p:cNvPr id="15" name="Rectangle 14"/>
          <p:cNvSpPr/>
          <p:nvPr/>
        </p:nvSpPr>
        <p:spPr>
          <a:xfrm>
            <a:off x="2472699" y="1266192"/>
            <a:ext cx="7223761" cy="640079"/>
          </a:xfrm>
          <a:prstGeom prst="rect">
            <a:avLst/>
          </a:prstGeom>
          <a:solidFill>
            <a:srgbClr val="203353"/>
          </a:solidFill>
          <a:ln>
            <a:noFill/>
          </a:ln>
        </p:spPr>
        <p:style>
          <a:lnRef idx="2">
            <a:schemeClr val="accent1">
              <a:shade val="50000"/>
            </a:schemeClr>
          </a:lnRef>
          <a:fillRef idx="1">
            <a:schemeClr val="accent1"/>
          </a:fillRef>
          <a:effectRef idx="0">
            <a:schemeClr val="accent1"/>
          </a:effectRef>
          <a:fontRef idx="minor">
            <a:schemeClr val="lt1"/>
          </a:fontRef>
        </p:style>
        <p:txBody>
          <a:bodyPr lIns="50894" tIns="50894" rIns="101787" bIns="50894" rtlCol="0" anchor="ctr"/>
          <a:lstStyle/>
          <a:p>
            <a:pPr algn="ctr" defTabSz="914400" fontAlgn="base">
              <a:spcBef>
                <a:spcPct val="0"/>
              </a:spcBef>
              <a:spcAft>
                <a:spcPct val="0"/>
              </a:spcAft>
            </a:pPr>
            <a:r>
              <a:rPr lang="en-US" sz="1300" dirty="0" smtClean="0">
                <a:solidFill>
                  <a:srgbClr val="FFFFFF"/>
                </a:solidFill>
              </a:rPr>
              <a:t>THE U.S. </a:t>
            </a:r>
            <a:r>
              <a:rPr lang="en-US" sz="1300" dirty="0" smtClean="0">
                <a:solidFill>
                  <a:srgbClr val="FFFFFF"/>
                </a:solidFill>
              </a:rPr>
              <a:t>SHORT-TERM WHOLESALE </a:t>
            </a:r>
            <a:r>
              <a:rPr lang="en-US" sz="1300" dirty="0" smtClean="0">
                <a:solidFill>
                  <a:srgbClr val="FFFFFF"/>
                </a:solidFill>
              </a:rPr>
              <a:t>FUNDING MARKET</a:t>
            </a:r>
          </a:p>
          <a:p>
            <a:pPr algn="ctr" defTabSz="914400" fontAlgn="base">
              <a:spcBef>
                <a:spcPct val="0"/>
              </a:spcBef>
              <a:spcAft>
                <a:spcPct val="0"/>
              </a:spcAft>
            </a:pPr>
            <a:r>
              <a:rPr lang="en-US" sz="1300" dirty="0" smtClean="0">
                <a:solidFill>
                  <a:srgbClr val="FFFFFF"/>
                </a:solidFill>
              </a:rPr>
              <a:t>(Dollars in trillions) </a:t>
            </a:r>
          </a:p>
        </p:txBody>
      </p:sp>
      <p:pic>
        <p:nvPicPr>
          <p:cNvPr id="1030" name="Picture 6"/>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488763" y="2743200"/>
            <a:ext cx="7239350" cy="2968624"/>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3042442308"/>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THE IMPACT OF BASEL III ON </a:t>
            </a:r>
            <a:r>
              <a:rPr lang="en-US" dirty="0" smtClean="0"/>
              <a:t>REPO FOR G-SIBs</a:t>
            </a:r>
            <a:endParaRPr lang="en-US" dirty="0"/>
          </a:p>
        </p:txBody>
      </p:sp>
      <p:sp>
        <p:nvSpPr>
          <p:cNvPr id="73" name="Content Placeholder 12"/>
          <p:cNvSpPr>
            <a:spLocks noGrp="1"/>
          </p:cNvSpPr>
          <p:nvPr>
            <p:ph idx="1"/>
          </p:nvPr>
        </p:nvSpPr>
        <p:spPr>
          <a:xfrm>
            <a:off x="293687" y="1235075"/>
            <a:ext cx="1839913" cy="5927725"/>
          </a:xfrm>
        </p:spPr>
        <p:txBody>
          <a:bodyPr/>
          <a:lstStyle/>
          <a:p>
            <a:pPr>
              <a:lnSpc>
                <a:spcPct val="100000"/>
              </a:lnSpc>
              <a:spcBef>
                <a:spcPts val="0"/>
              </a:spcBef>
            </a:pPr>
            <a:r>
              <a:rPr lang="en-US" sz="1100" b="0" dirty="0" smtClean="0">
                <a:solidFill>
                  <a:schemeClr val="tx1"/>
                </a:solidFill>
                <a:latin typeface="+mn-lt"/>
              </a:rPr>
              <a:t>The Basel III regulatory landscape has reshaped the economics of repo </a:t>
            </a:r>
            <a:r>
              <a:rPr lang="en-US" sz="1100" b="0" dirty="0" smtClean="0">
                <a:solidFill>
                  <a:schemeClr val="tx1"/>
                </a:solidFill>
                <a:latin typeface="+mn-lt"/>
              </a:rPr>
              <a:t>for </a:t>
            </a:r>
            <a:r>
              <a:rPr lang="en-US" sz="1100" dirty="0" smtClean="0">
                <a:solidFill>
                  <a:schemeClr val="tx1"/>
                </a:solidFill>
                <a:latin typeface="+mn-lt"/>
              </a:rPr>
              <a:t>global systemically important banks (G-SIBs)</a:t>
            </a:r>
            <a:r>
              <a:rPr lang="en-US" sz="1100" b="0" dirty="0" smtClean="0">
                <a:solidFill>
                  <a:schemeClr val="tx1"/>
                </a:solidFill>
                <a:latin typeface="+mn-lt"/>
              </a:rPr>
              <a:t> in </a:t>
            </a:r>
            <a:r>
              <a:rPr lang="en-US" sz="1100" b="0" dirty="0" smtClean="0">
                <a:solidFill>
                  <a:schemeClr val="tx1"/>
                </a:solidFill>
                <a:latin typeface="+mn-lt"/>
              </a:rPr>
              <a:t>particular through the introduction of </a:t>
            </a:r>
            <a:r>
              <a:rPr lang="en-US" sz="1100" b="0" dirty="0" smtClean="0">
                <a:solidFill>
                  <a:schemeClr val="tx1"/>
                </a:solidFill>
                <a:latin typeface="+mn-lt"/>
              </a:rPr>
              <a:t>the </a:t>
            </a:r>
            <a:r>
              <a:rPr lang="en-US" sz="1100" dirty="0" smtClean="0">
                <a:solidFill>
                  <a:schemeClr val="tx1"/>
                </a:solidFill>
                <a:latin typeface="+mn-lt"/>
              </a:rPr>
              <a:t>enhanced </a:t>
            </a:r>
            <a:r>
              <a:rPr lang="en-US" sz="1100" dirty="0" smtClean="0">
                <a:solidFill>
                  <a:schemeClr val="tx1"/>
                </a:solidFill>
                <a:latin typeface="+mn-lt"/>
              </a:rPr>
              <a:t>Supplementary Leverage Ratio (</a:t>
            </a:r>
            <a:r>
              <a:rPr lang="en-US" sz="1100" dirty="0" err="1" smtClean="0">
                <a:solidFill>
                  <a:schemeClr val="tx1"/>
                </a:solidFill>
                <a:latin typeface="+mn-lt"/>
              </a:rPr>
              <a:t>eSLR</a:t>
            </a:r>
            <a:r>
              <a:rPr lang="en-US" sz="1100" b="0" dirty="0" smtClean="0">
                <a:solidFill>
                  <a:schemeClr val="tx1"/>
                </a:solidFill>
                <a:latin typeface="+mn-lt"/>
              </a:rPr>
              <a:t>). In general, SLR </a:t>
            </a:r>
            <a:r>
              <a:rPr lang="en-US" sz="1100" b="0" dirty="0" smtClean="0">
                <a:solidFill>
                  <a:schemeClr val="tx1"/>
                </a:solidFill>
                <a:latin typeface="+mn-lt"/>
              </a:rPr>
              <a:t>is the most direct driver of capital held against repo positions.</a:t>
            </a:r>
          </a:p>
          <a:p>
            <a:pPr>
              <a:lnSpc>
                <a:spcPct val="100000"/>
              </a:lnSpc>
              <a:spcBef>
                <a:spcPts val="0"/>
              </a:spcBef>
            </a:pPr>
            <a:endParaRPr lang="en-US" sz="1100" b="0" dirty="0">
              <a:solidFill>
                <a:schemeClr val="tx1"/>
              </a:solidFill>
              <a:latin typeface="+mn-lt"/>
            </a:endParaRPr>
          </a:p>
          <a:p>
            <a:pPr>
              <a:lnSpc>
                <a:spcPct val="100000"/>
              </a:lnSpc>
              <a:spcBef>
                <a:spcPts val="0"/>
              </a:spcBef>
            </a:pPr>
            <a:r>
              <a:rPr lang="en-US" sz="1100" b="0" dirty="0" smtClean="0">
                <a:solidFill>
                  <a:schemeClr val="tx1"/>
                </a:solidFill>
                <a:latin typeface="+mn-lt"/>
              </a:rPr>
              <a:t>Most market participants hold SLR responsible for declines in repo market liquidity and expect further decreases going forward.</a:t>
            </a:r>
          </a:p>
          <a:p>
            <a:pPr>
              <a:lnSpc>
                <a:spcPct val="100000"/>
              </a:lnSpc>
              <a:spcBef>
                <a:spcPts val="0"/>
              </a:spcBef>
            </a:pPr>
            <a:endParaRPr lang="en-US" sz="1100" b="0" dirty="0">
              <a:solidFill>
                <a:schemeClr val="tx1"/>
              </a:solidFill>
              <a:latin typeface="+mn-lt"/>
            </a:endParaRPr>
          </a:p>
          <a:p>
            <a:pPr>
              <a:lnSpc>
                <a:spcPct val="100000"/>
              </a:lnSpc>
              <a:spcBef>
                <a:spcPts val="0"/>
              </a:spcBef>
            </a:pPr>
            <a:r>
              <a:rPr lang="en-US" sz="1100" b="0" dirty="0" smtClean="0">
                <a:solidFill>
                  <a:schemeClr val="tx1"/>
                </a:solidFill>
                <a:latin typeface="+mn-lt"/>
              </a:rPr>
              <a:t>Before Basel III, repo was an almost capital free business. Post-Crisis, the emphasis of desk-level capital allocation exposes repo to the economics of a standalone business.  </a:t>
            </a:r>
            <a:endParaRPr lang="en-US" sz="1100" b="0" dirty="0">
              <a:solidFill>
                <a:schemeClr val="tx1"/>
              </a:solidFill>
              <a:latin typeface="+mn-lt"/>
            </a:endParaRPr>
          </a:p>
          <a:p>
            <a:endParaRPr lang="en-US" sz="1100" b="0" dirty="0" smtClean="0">
              <a:solidFill>
                <a:schemeClr val="tx1"/>
              </a:solidFill>
            </a:endParaRPr>
          </a:p>
          <a:p>
            <a:endParaRPr lang="en-US" sz="1100" b="0" dirty="0">
              <a:solidFill>
                <a:schemeClr val="tx1"/>
              </a:solidFill>
            </a:endParaRPr>
          </a:p>
          <a:p>
            <a:endParaRPr lang="en-US" sz="1100" dirty="0" smtClean="0"/>
          </a:p>
        </p:txBody>
      </p:sp>
      <p:graphicFrame>
        <p:nvGraphicFramePr>
          <p:cNvPr id="3" name="Table 2"/>
          <p:cNvGraphicFramePr>
            <a:graphicFrameLocks noGrp="1"/>
          </p:cNvGraphicFramePr>
          <p:nvPr>
            <p:extLst>
              <p:ext uri="{D42A27DB-BD31-4B8C-83A1-F6EECF244321}">
                <p14:modId xmlns:p14="http://schemas.microsoft.com/office/powerpoint/2010/main" val="2463547464"/>
              </p:ext>
            </p:extLst>
          </p:nvPr>
        </p:nvGraphicFramePr>
        <p:xfrm>
          <a:off x="2438400" y="2743200"/>
          <a:ext cx="7162800" cy="4069080"/>
        </p:xfrm>
        <a:graphic>
          <a:graphicData uri="http://schemas.openxmlformats.org/drawingml/2006/table">
            <a:tbl>
              <a:tblPr>
                <a:tableStyleId>{5C22544A-7EE6-4342-B048-85BDC9FD1C3A}</a:tableStyleId>
              </a:tblPr>
              <a:tblGrid>
                <a:gridCol w="976746"/>
                <a:gridCol w="2062018"/>
                <a:gridCol w="2062018"/>
                <a:gridCol w="2062018"/>
              </a:tblGrid>
              <a:tr h="350783">
                <a:tc>
                  <a:txBody>
                    <a:bodyPr/>
                    <a:lstStyle/>
                    <a:p>
                      <a:pPr algn="ctr"/>
                      <a:r>
                        <a:rPr lang="en-US" sz="1050" dirty="0" smtClean="0">
                          <a:solidFill>
                            <a:schemeClr val="bg1"/>
                          </a:solidFill>
                        </a:rPr>
                        <a:t>REGULATION</a:t>
                      </a:r>
                      <a:endParaRPr lang="en-US" sz="1050" dirty="0">
                        <a:solidFill>
                          <a:schemeClr val="bg1"/>
                        </a:solidFill>
                      </a:endParaRPr>
                    </a:p>
                  </a:txBody>
                  <a:tcPr anchor="ctr">
                    <a:solidFill>
                      <a:schemeClr val="accent1"/>
                    </a:solidFill>
                  </a:tcPr>
                </a:tc>
                <a:tc>
                  <a:txBody>
                    <a:bodyPr/>
                    <a:lstStyle/>
                    <a:p>
                      <a:pPr algn="ctr"/>
                      <a:r>
                        <a:rPr lang="en-US" sz="1050" dirty="0" smtClean="0">
                          <a:solidFill>
                            <a:schemeClr val="bg1"/>
                          </a:solidFill>
                        </a:rPr>
                        <a:t>GENERAL</a:t>
                      </a:r>
                      <a:r>
                        <a:rPr lang="en-US" sz="1050" baseline="0" dirty="0" smtClean="0">
                          <a:solidFill>
                            <a:schemeClr val="bg1"/>
                          </a:solidFill>
                        </a:rPr>
                        <a:t> EFFECT (G-SIBs)</a:t>
                      </a:r>
                      <a:endParaRPr lang="en-US" sz="1050" dirty="0">
                        <a:solidFill>
                          <a:schemeClr val="bg1"/>
                        </a:solidFill>
                      </a:endParaRPr>
                    </a:p>
                  </a:txBody>
                  <a:tcPr anchor="ctr">
                    <a:solidFill>
                      <a:schemeClr val="accent1"/>
                    </a:solidFill>
                  </a:tcPr>
                </a:tc>
                <a:tc>
                  <a:txBody>
                    <a:bodyPr/>
                    <a:lstStyle/>
                    <a:p>
                      <a:pPr algn="ctr"/>
                      <a:r>
                        <a:rPr lang="en-US" sz="1050" dirty="0" smtClean="0">
                          <a:solidFill>
                            <a:schemeClr val="bg1"/>
                          </a:solidFill>
                        </a:rPr>
                        <a:t>EFFECT</a:t>
                      </a:r>
                      <a:r>
                        <a:rPr lang="en-US" sz="1050" baseline="0" dirty="0" smtClean="0">
                          <a:solidFill>
                            <a:schemeClr val="bg1"/>
                          </a:solidFill>
                        </a:rPr>
                        <a:t> ON REPO</a:t>
                      </a:r>
                      <a:endParaRPr lang="en-US" sz="1050" dirty="0">
                        <a:solidFill>
                          <a:schemeClr val="bg1"/>
                        </a:solidFill>
                      </a:endParaRPr>
                    </a:p>
                  </a:txBody>
                  <a:tcPr anchor="ctr">
                    <a:solidFill>
                      <a:schemeClr val="accent1"/>
                    </a:solidFill>
                  </a:tcPr>
                </a:tc>
                <a:tc>
                  <a:txBody>
                    <a:bodyPr/>
                    <a:lstStyle/>
                    <a:p>
                      <a:pPr algn="ctr"/>
                      <a:r>
                        <a:rPr lang="en-US" sz="1050" dirty="0" smtClean="0">
                          <a:solidFill>
                            <a:schemeClr val="bg1"/>
                          </a:solidFill>
                        </a:rPr>
                        <a:t>IMPLEMENTATION</a:t>
                      </a:r>
                      <a:endParaRPr lang="en-US" sz="1050" dirty="0">
                        <a:solidFill>
                          <a:schemeClr val="bg1"/>
                        </a:solidFill>
                      </a:endParaRPr>
                    </a:p>
                  </a:txBody>
                  <a:tcPr anchor="ctr">
                    <a:solidFill>
                      <a:schemeClr val="accent1"/>
                    </a:solidFill>
                  </a:tcPr>
                </a:tc>
              </a:tr>
              <a:tr h="1157583">
                <a:tc>
                  <a:txBody>
                    <a:bodyPr/>
                    <a:lstStyle/>
                    <a:p>
                      <a:pPr algn="ctr"/>
                      <a:r>
                        <a:rPr lang="en-US" sz="1100" b="1" dirty="0" smtClean="0"/>
                        <a:t>SLR</a:t>
                      </a:r>
                    </a:p>
                  </a:txBody>
                  <a:tcPr anchor="ctr"/>
                </a:tc>
                <a:tc>
                  <a:txBody>
                    <a:bodyPr/>
                    <a:lstStyle/>
                    <a:p>
                      <a:pPr marL="171450" indent="-171450">
                        <a:buFontTx/>
                        <a:buChar char="-"/>
                      </a:pPr>
                      <a:r>
                        <a:rPr lang="en-US" sz="1000" dirty="0" smtClean="0"/>
                        <a:t>Limit </a:t>
                      </a:r>
                      <a:r>
                        <a:rPr lang="en-US" sz="1000" dirty="0" smtClean="0"/>
                        <a:t>supply of balance sheet</a:t>
                      </a:r>
                    </a:p>
                    <a:p>
                      <a:pPr marL="171450" indent="-171450">
                        <a:buFontTx/>
                        <a:buChar char="-"/>
                      </a:pPr>
                      <a:r>
                        <a:rPr lang="en-US" sz="1000" dirty="0" smtClean="0"/>
                        <a:t>Increase Tier</a:t>
                      </a:r>
                      <a:r>
                        <a:rPr lang="en-US" sz="1000" baseline="0" dirty="0" smtClean="0"/>
                        <a:t> 1 capital</a:t>
                      </a:r>
                    </a:p>
                    <a:p>
                      <a:pPr marL="171450" indent="-171450">
                        <a:buFontTx/>
                        <a:buChar char="-"/>
                      </a:pPr>
                      <a:r>
                        <a:rPr lang="en-US" sz="1000" baseline="0" dirty="0" smtClean="0"/>
                        <a:t>Reduce off-balance sheet exposures</a:t>
                      </a:r>
                    </a:p>
                    <a:p>
                      <a:pPr marL="171450" indent="-171450">
                        <a:buFontTx/>
                        <a:buChar char="-"/>
                      </a:pPr>
                      <a:r>
                        <a:rPr lang="en-US" sz="1000" baseline="0" dirty="0" smtClean="0"/>
                        <a:t>Cost of holding cash becomes more expensive</a:t>
                      </a:r>
                      <a:endParaRPr lang="en-US" sz="1000" dirty="0"/>
                    </a:p>
                  </a:txBody>
                  <a:tcPr marL="45720" marR="45720"/>
                </a:tc>
                <a:tc>
                  <a:txBody>
                    <a:bodyPr/>
                    <a:lstStyle/>
                    <a:p>
                      <a:pPr marL="171450" indent="-171450">
                        <a:buFontTx/>
                        <a:buChar char="-"/>
                      </a:pPr>
                      <a:r>
                        <a:rPr lang="en-US" sz="1000" dirty="0" smtClean="0"/>
                        <a:t>Grosses up the balance sheet</a:t>
                      </a:r>
                    </a:p>
                    <a:p>
                      <a:pPr marL="171450" indent="-171450">
                        <a:buFontTx/>
                        <a:buChar char="-"/>
                      </a:pPr>
                      <a:r>
                        <a:rPr lang="en-US" sz="1000" dirty="0" smtClean="0"/>
                        <a:t>Increases</a:t>
                      </a:r>
                      <a:r>
                        <a:rPr lang="en-US" sz="1000" baseline="0" dirty="0" smtClean="0"/>
                        <a:t> capital needed against repo transactions</a:t>
                      </a:r>
                    </a:p>
                    <a:p>
                      <a:pPr marL="171450" indent="-171450">
                        <a:buFontTx/>
                        <a:buChar char="-"/>
                      </a:pPr>
                      <a:r>
                        <a:rPr lang="en-US" sz="1000" baseline="0" dirty="0" smtClean="0"/>
                        <a:t>Likely impacts capital allocated to repo</a:t>
                      </a:r>
                      <a:endParaRPr lang="en-US" sz="1000" dirty="0"/>
                    </a:p>
                  </a:txBody>
                  <a:tcPr marL="45720" marR="45720"/>
                </a:tc>
                <a:tc>
                  <a:txBody>
                    <a:bodyPr/>
                    <a:lstStyle/>
                    <a:p>
                      <a:pPr marL="171450" indent="-171450">
                        <a:buFontTx/>
                        <a:buChar char="-"/>
                      </a:pPr>
                      <a:r>
                        <a:rPr lang="en-US" sz="1000" dirty="0" smtClean="0"/>
                        <a:t>2015, disclosure began</a:t>
                      </a:r>
                    </a:p>
                    <a:p>
                      <a:pPr marL="171450" indent="-171450">
                        <a:buFontTx/>
                        <a:buChar char="-"/>
                      </a:pPr>
                      <a:r>
                        <a:rPr lang="en-US" sz="1000" dirty="0" smtClean="0"/>
                        <a:t>2018, banks</a:t>
                      </a:r>
                      <a:r>
                        <a:rPr lang="en-US" sz="1000" baseline="0" dirty="0" smtClean="0"/>
                        <a:t> must be compliant to SLR and </a:t>
                      </a:r>
                      <a:r>
                        <a:rPr lang="en-US" sz="1000" baseline="0" dirty="0" err="1" smtClean="0"/>
                        <a:t>eSLR</a:t>
                      </a:r>
                      <a:endParaRPr lang="en-US" sz="1000" baseline="0" dirty="0" smtClean="0"/>
                    </a:p>
                  </a:txBody>
                  <a:tcPr marL="45720" marR="45720"/>
                </a:tc>
              </a:tr>
              <a:tr h="1683757">
                <a:tc>
                  <a:txBody>
                    <a:bodyPr/>
                    <a:lstStyle/>
                    <a:p>
                      <a:pPr algn="ctr"/>
                      <a:r>
                        <a:rPr lang="en-US" sz="1100" b="1" dirty="0" smtClean="0"/>
                        <a:t>LCR</a:t>
                      </a:r>
                      <a:endParaRPr lang="en-US" sz="1100" b="1" dirty="0"/>
                    </a:p>
                  </a:txBody>
                  <a:tcPr anchor="ctr"/>
                </a:tc>
                <a:tc>
                  <a:txBody>
                    <a:bodyPr/>
                    <a:lstStyle/>
                    <a:p>
                      <a:pPr marL="171450" indent="-171450">
                        <a:buFontTx/>
                        <a:buChar char="-"/>
                      </a:pPr>
                      <a:r>
                        <a:rPr lang="en-US" sz="1000" dirty="0" smtClean="0"/>
                        <a:t>Increases supply of liquidity</a:t>
                      </a:r>
                      <a:r>
                        <a:rPr lang="en-US" sz="1000" baseline="0" dirty="0" smtClean="0"/>
                        <a:t> to survive a short-term (one month) stress scenario</a:t>
                      </a:r>
                    </a:p>
                    <a:p>
                      <a:pPr marL="171450" indent="-171450">
                        <a:buFontTx/>
                        <a:buChar char="-"/>
                      </a:pPr>
                      <a:r>
                        <a:rPr lang="en-US" sz="1000" baseline="0" dirty="0" smtClean="0"/>
                        <a:t>Requires banks to hold unencumbered HQLA</a:t>
                      </a:r>
                    </a:p>
                    <a:p>
                      <a:pPr marL="171450" indent="-171450">
                        <a:buFontTx/>
                        <a:buChar char="-"/>
                      </a:pPr>
                      <a:r>
                        <a:rPr lang="en-US" sz="1000" baseline="0" dirty="0" smtClean="0"/>
                        <a:t>Cost of holding cash becomes more expensive</a:t>
                      </a:r>
                    </a:p>
                  </a:txBody>
                  <a:tcPr marL="45720" marR="45720"/>
                </a:tc>
                <a:tc>
                  <a:txBody>
                    <a:bodyPr/>
                    <a:lstStyle/>
                    <a:p>
                      <a:pPr marL="171450" indent="-171450">
                        <a:buFontTx/>
                        <a:buChar char="-"/>
                      </a:pPr>
                      <a:r>
                        <a:rPr lang="en-US" sz="1000" dirty="0" smtClean="0"/>
                        <a:t>Reduces the supply of HQLA collateral</a:t>
                      </a:r>
                    </a:p>
                    <a:p>
                      <a:pPr marL="171450" indent="-171450">
                        <a:buFontTx/>
                        <a:buChar char="-"/>
                      </a:pPr>
                      <a:r>
                        <a:rPr lang="en-US" sz="1000" dirty="0" smtClean="0"/>
                        <a:t>Limits amount firms can assume</a:t>
                      </a:r>
                      <a:r>
                        <a:rPr lang="en-US" sz="1000" baseline="0" dirty="0" smtClean="0"/>
                        <a:t> as automatic or rollovers</a:t>
                      </a:r>
                    </a:p>
                    <a:p>
                      <a:pPr marL="171450" indent="-171450">
                        <a:buFontTx/>
                        <a:buChar char="-"/>
                      </a:pPr>
                      <a:r>
                        <a:rPr lang="en-US" sz="1000" baseline="0" dirty="0" smtClean="0"/>
                        <a:t>Makes short term funding more expensive due to corresponding HQLA requirement</a:t>
                      </a:r>
                    </a:p>
                    <a:p>
                      <a:pPr marL="171450" indent="-171450">
                        <a:buFontTx/>
                        <a:buChar char="-"/>
                      </a:pPr>
                      <a:r>
                        <a:rPr lang="en-US" sz="1000" baseline="0" dirty="0" smtClean="0"/>
                        <a:t>Pushes repo out from overnight to term</a:t>
                      </a:r>
                      <a:endParaRPr lang="en-US" sz="1000" dirty="0"/>
                    </a:p>
                  </a:txBody>
                  <a:tcPr marL="45720" marR="45720"/>
                </a:tc>
                <a:tc>
                  <a:txBody>
                    <a:bodyPr/>
                    <a:lstStyle/>
                    <a:p>
                      <a:pPr marL="171450" indent="-171450">
                        <a:buFontTx/>
                        <a:buChar char="-"/>
                      </a:pPr>
                      <a:r>
                        <a:rPr lang="en-US" sz="1000" dirty="0" smtClean="0"/>
                        <a:t>U.S. bank</a:t>
                      </a:r>
                      <a:r>
                        <a:rPr lang="en-US" sz="1000" baseline="0" dirty="0" smtClean="0"/>
                        <a:t>s fully compliant by 2017</a:t>
                      </a:r>
                    </a:p>
                    <a:p>
                      <a:pPr marL="171450" indent="-171450">
                        <a:buFontTx/>
                        <a:buChar char="-"/>
                      </a:pPr>
                      <a:r>
                        <a:rPr lang="en-US" sz="1000" baseline="0" dirty="0" smtClean="0"/>
                        <a:t>Phase-in transition with 80% by 2015, 90% by 2016, and 100% by 2017</a:t>
                      </a:r>
                      <a:endParaRPr lang="en-US" sz="1000" dirty="0"/>
                    </a:p>
                  </a:txBody>
                  <a:tcPr marL="45720" marR="45720"/>
                </a:tc>
              </a:tr>
              <a:tr h="876957">
                <a:tc>
                  <a:txBody>
                    <a:bodyPr/>
                    <a:lstStyle/>
                    <a:p>
                      <a:pPr algn="ctr"/>
                      <a:r>
                        <a:rPr lang="en-US" sz="1100" b="1" dirty="0" smtClean="0"/>
                        <a:t>NSFR</a:t>
                      </a:r>
                      <a:endParaRPr lang="en-US" sz="1100" b="1" dirty="0"/>
                    </a:p>
                  </a:txBody>
                  <a:tcPr anchor="ctr"/>
                </a:tc>
                <a:tc>
                  <a:txBody>
                    <a:bodyPr/>
                    <a:lstStyle/>
                    <a:p>
                      <a:pPr marL="171450" indent="-171450">
                        <a:buFontTx/>
                        <a:buChar char="-"/>
                      </a:pPr>
                      <a:r>
                        <a:rPr lang="en-US" sz="1000" dirty="0" smtClean="0"/>
                        <a:t>Increases supply</a:t>
                      </a:r>
                      <a:r>
                        <a:rPr lang="en-US" sz="1000" baseline="0" dirty="0" smtClean="0"/>
                        <a:t> of liquidity to survive a long term (one year) scenario</a:t>
                      </a:r>
                    </a:p>
                  </a:txBody>
                  <a:tcPr marL="45720" marR="45720"/>
                </a:tc>
                <a:tc>
                  <a:txBody>
                    <a:bodyPr/>
                    <a:lstStyle/>
                    <a:p>
                      <a:pPr marL="171450" indent="-171450">
                        <a:buFontTx/>
                        <a:buChar char="-"/>
                      </a:pPr>
                      <a:r>
                        <a:rPr lang="en-US" sz="1000" dirty="0" smtClean="0"/>
                        <a:t>Pushes repo out to longer term</a:t>
                      </a:r>
                    </a:p>
                    <a:p>
                      <a:pPr marL="171450" indent="-171450">
                        <a:buFontTx/>
                        <a:buChar char="-"/>
                      </a:pPr>
                      <a:r>
                        <a:rPr lang="en-US" sz="1000" dirty="0" smtClean="0"/>
                        <a:t>Increases the cost of repo</a:t>
                      </a:r>
                    </a:p>
                    <a:p>
                      <a:pPr marL="171450" indent="-171450">
                        <a:buFontTx/>
                        <a:buChar char="-"/>
                      </a:pPr>
                      <a:r>
                        <a:rPr lang="en-US" sz="1000" dirty="0" smtClean="0"/>
                        <a:t>Discourages match books</a:t>
                      </a:r>
                      <a:endParaRPr lang="en-US" sz="1000" dirty="0"/>
                    </a:p>
                  </a:txBody>
                  <a:tcPr marL="45720" marR="45720"/>
                </a:tc>
                <a:tc>
                  <a:txBody>
                    <a:bodyPr/>
                    <a:lstStyle/>
                    <a:p>
                      <a:pPr marL="171450" indent="-171450">
                        <a:buFontTx/>
                        <a:buChar char="-"/>
                      </a:pPr>
                      <a:r>
                        <a:rPr lang="en-US" sz="1000" dirty="0" smtClean="0"/>
                        <a:t>Rule has not been proposed  in the U.S.;</a:t>
                      </a:r>
                      <a:r>
                        <a:rPr lang="en-US" sz="1000" baseline="0" dirty="0" smtClean="0"/>
                        <a:t> although international standards mandate compliance by 2018</a:t>
                      </a:r>
                    </a:p>
                  </a:txBody>
                  <a:tcPr marL="45720" marR="45720"/>
                </a:tc>
              </a:tr>
            </a:tbl>
          </a:graphicData>
        </a:graphic>
      </p:graphicFrame>
      <p:sp>
        <p:nvSpPr>
          <p:cNvPr id="4" name="Rectangle 3"/>
          <p:cNvSpPr/>
          <p:nvPr/>
        </p:nvSpPr>
        <p:spPr>
          <a:xfrm>
            <a:off x="2453640" y="1219200"/>
            <a:ext cx="2286000" cy="1371600"/>
          </a:xfrm>
          <a:prstGeom prst="rect">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solidFill>
                  <a:schemeClr val="accent1"/>
                </a:solidFill>
              </a:rPr>
              <a:t>Supplementary</a:t>
            </a:r>
          </a:p>
          <a:p>
            <a:pPr algn="ctr"/>
            <a:r>
              <a:rPr lang="en-US" dirty="0" smtClean="0">
                <a:solidFill>
                  <a:schemeClr val="accent1"/>
                </a:solidFill>
              </a:rPr>
              <a:t>Leverage Ratio (SLR)</a:t>
            </a:r>
          </a:p>
          <a:p>
            <a:pPr algn="ctr"/>
            <a:endParaRPr lang="en-US" dirty="0">
              <a:solidFill>
                <a:schemeClr val="accent1"/>
              </a:solidFill>
            </a:endParaRPr>
          </a:p>
          <a:p>
            <a:pPr algn="ctr"/>
            <a:endParaRPr lang="en-US" dirty="0">
              <a:solidFill>
                <a:schemeClr val="accent1"/>
              </a:solidFill>
            </a:endParaRPr>
          </a:p>
        </p:txBody>
      </p:sp>
      <p:sp>
        <p:nvSpPr>
          <p:cNvPr id="12" name="Rectangle 11"/>
          <p:cNvSpPr/>
          <p:nvPr/>
        </p:nvSpPr>
        <p:spPr>
          <a:xfrm>
            <a:off x="4846320" y="1219200"/>
            <a:ext cx="2392680" cy="1371600"/>
          </a:xfrm>
          <a:prstGeom prst="rect">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solidFill>
                  <a:schemeClr val="accent1"/>
                </a:solidFill>
              </a:rPr>
              <a:t>Liquidity Coverage </a:t>
            </a:r>
            <a:r>
              <a:rPr lang="en-US" dirty="0">
                <a:solidFill>
                  <a:schemeClr val="accent1"/>
                </a:solidFill>
              </a:rPr>
              <a:t>Ratio </a:t>
            </a:r>
            <a:r>
              <a:rPr lang="en-US" dirty="0" smtClean="0">
                <a:solidFill>
                  <a:schemeClr val="accent1"/>
                </a:solidFill>
              </a:rPr>
              <a:t>(LCR)</a:t>
            </a:r>
            <a:endParaRPr lang="en-US" dirty="0">
              <a:solidFill>
                <a:schemeClr val="accent1"/>
              </a:solidFill>
            </a:endParaRPr>
          </a:p>
          <a:p>
            <a:pPr algn="ctr"/>
            <a:endParaRPr lang="en-US" dirty="0">
              <a:solidFill>
                <a:schemeClr val="accent1"/>
              </a:solidFill>
            </a:endParaRPr>
          </a:p>
          <a:p>
            <a:pPr algn="ctr"/>
            <a:endParaRPr lang="en-US" dirty="0">
              <a:solidFill>
                <a:schemeClr val="accent1"/>
              </a:solidFill>
            </a:endParaRPr>
          </a:p>
        </p:txBody>
      </p:sp>
      <p:sp>
        <p:nvSpPr>
          <p:cNvPr id="13" name="Rectangle 12"/>
          <p:cNvSpPr/>
          <p:nvPr/>
        </p:nvSpPr>
        <p:spPr>
          <a:xfrm>
            <a:off x="7302500" y="1219200"/>
            <a:ext cx="2298700" cy="1371600"/>
          </a:xfrm>
          <a:prstGeom prst="rect">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solidFill>
                  <a:schemeClr val="accent1"/>
                </a:solidFill>
              </a:rPr>
              <a:t>Net Stable Funding </a:t>
            </a:r>
            <a:r>
              <a:rPr lang="en-US" dirty="0">
                <a:solidFill>
                  <a:schemeClr val="accent1"/>
                </a:solidFill>
              </a:rPr>
              <a:t>Ratio </a:t>
            </a:r>
            <a:r>
              <a:rPr lang="en-US" dirty="0" smtClean="0">
                <a:solidFill>
                  <a:schemeClr val="accent1"/>
                </a:solidFill>
              </a:rPr>
              <a:t>(NSFR)</a:t>
            </a:r>
            <a:endParaRPr lang="en-US" dirty="0">
              <a:solidFill>
                <a:schemeClr val="accent1"/>
              </a:solidFill>
            </a:endParaRPr>
          </a:p>
          <a:p>
            <a:pPr algn="ctr"/>
            <a:endParaRPr lang="en-US" dirty="0">
              <a:solidFill>
                <a:schemeClr val="accent1"/>
              </a:solidFill>
            </a:endParaRPr>
          </a:p>
          <a:p>
            <a:pPr algn="ctr"/>
            <a:endParaRPr lang="en-US" dirty="0">
              <a:solidFill>
                <a:schemeClr val="accent1"/>
              </a:solidFill>
            </a:endParaRPr>
          </a:p>
        </p:txBody>
      </p:sp>
      <p:sp>
        <p:nvSpPr>
          <p:cNvPr id="5" name="TextBox 4"/>
          <p:cNvSpPr txBox="1"/>
          <p:nvPr/>
        </p:nvSpPr>
        <p:spPr>
          <a:xfrm>
            <a:off x="2895600" y="1990725"/>
            <a:ext cx="1524000" cy="553998"/>
          </a:xfrm>
          <a:prstGeom prst="rect">
            <a:avLst/>
          </a:prstGeom>
          <a:noFill/>
        </p:spPr>
        <p:txBody>
          <a:bodyPr wrap="square" rtlCol="0">
            <a:spAutoFit/>
          </a:bodyPr>
          <a:lstStyle/>
          <a:p>
            <a:pPr algn="ctr">
              <a:lnSpc>
                <a:spcPct val="150000"/>
              </a:lnSpc>
            </a:pPr>
            <a:r>
              <a:rPr lang="en-US" sz="1000" dirty="0" smtClean="0">
                <a:solidFill>
                  <a:schemeClr val="accent1"/>
                </a:solidFill>
              </a:rPr>
              <a:t>Tier 1 Capital</a:t>
            </a:r>
          </a:p>
          <a:p>
            <a:pPr algn="ctr">
              <a:lnSpc>
                <a:spcPct val="150000"/>
              </a:lnSpc>
            </a:pPr>
            <a:r>
              <a:rPr lang="en-US" sz="1000" dirty="0" smtClean="0">
                <a:solidFill>
                  <a:schemeClr val="accent1"/>
                </a:solidFill>
              </a:rPr>
              <a:t>Total Leverage Exposure</a:t>
            </a:r>
            <a:endParaRPr lang="en-US" sz="1000" dirty="0">
              <a:solidFill>
                <a:schemeClr val="accent1"/>
              </a:solidFill>
            </a:endParaRPr>
          </a:p>
        </p:txBody>
      </p:sp>
      <p:cxnSp>
        <p:nvCxnSpPr>
          <p:cNvPr id="11" name="Straight Connector 10"/>
          <p:cNvCxnSpPr/>
          <p:nvPr/>
        </p:nvCxnSpPr>
        <p:spPr>
          <a:xfrm>
            <a:off x="2895600" y="2270899"/>
            <a:ext cx="1524000" cy="0"/>
          </a:xfrm>
          <a:prstGeom prst="line">
            <a:avLst/>
          </a:prstGeom>
        </p:spPr>
        <p:style>
          <a:lnRef idx="1">
            <a:schemeClr val="accent1"/>
          </a:lnRef>
          <a:fillRef idx="0">
            <a:schemeClr val="accent1"/>
          </a:fillRef>
          <a:effectRef idx="0">
            <a:schemeClr val="accent1"/>
          </a:effectRef>
          <a:fontRef idx="minor">
            <a:schemeClr val="tx1"/>
          </a:fontRef>
        </p:style>
      </p:cxnSp>
      <p:sp>
        <p:nvSpPr>
          <p:cNvPr id="19" name="TextBox 18"/>
          <p:cNvSpPr txBox="1"/>
          <p:nvPr/>
        </p:nvSpPr>
        <p:spPr>
          <a:xfrm>
            <a:off x="4745990" y="1990725"/>
            <a:ext cx="2575560" cy="553998"/>
          </a:xfrm>
          <a:prstGeom prst="rect">
            <a:avLst/>
          </a:prstGeom>
          <a:noFill/>
        </p:spPr>
        <p:txBody>
          <a:bodyPr wrap="square" rtlCol="0">
            <a:spAutoFit/>
          </a:bodyPr>
          <a:lstStyle/>
          <a:p>
            <a:pPr algn="ctr">
              <a:lnSpc>
                <a:spcPct val="150000"/>
              </a:lnSpc>
            </a:pPr>
            <a:r>
              <a:rPr lang="en-US" sz="1000" dirty="0" smtClean="0">
                <a:solidFill>
                  <a:schemeClr val="accent1"/>
                </a:solidFill>
              </a:rPr>
              <a:t>High Quality Liquid Asset</a:t>
            </a:r>
          </a:p>
          <a:p>
            <a:pPr algn="ctr">
              <a:lnSpc>
                <a:spcPct val="150000"/>
              </a:lnSpc>
            </a:pPr>
            <a:r>
              <a:rPr lang="en-US" sz="1000" dirty="0" smtClean="0">
                <a:solidFill>
                  <a:schemeClr val="accent1"/>
                </a:solidFill>
              </a:rPr>
              <a:t>Net Cash Outflow over a 30 day Stress Period</a:t>
            </a:r>
            <a:endParaRPr lang="en-US" sz="1000" dirty="0">
              <a:solidFill>
                <a:schemeClr val="accent1"/>
              </a:solidFill>
            </a:endParaRPr>
          </a:p>
        </p:txBody>
      </p:sp>
      <p:sp>
        <p:nvSpPr>
          <p:cNvPr id="22" name="TextBox 21"/>
          <p:cNvSpPr txBox="1"/>
          <p:nvPr/>
        </p:nvSpPr>
        <p:spPr>
          <a:xfrm>
            <a:off x="7689850" y="1990725"/>
            <a:ext cx="1524000" cy="553998"/>
          </a:xfrm>
          <a:prstGeom prst="rect">
            <a:avLst/>
          </a:prstGeom>
          <a:noFill/>
        </p:spPr>
        <p:txBody>
          <a:bodyPr wrap="square" rtlCol="0">
            <a:spAutoFit/>
          </a:bodyPr>
          <a:lstStyle/>
          <a:p>
            <a:pPr algn="ctr">
              <a:lnSpc>
                <a:spcPct val="150000"/>
              </a:lnSpc>
            </a:pPr>
            <a:r>
              <a:rPr lang="en-US" sz="1000" dirty="0" smtClean="0">
                <a:solidFill>
                  <a:schemeClr val="accent1"/>
                </a:solidFill>
              </a:rPr>
              <a:t>Available Stable Funding</a:t>
            </a:r>
          </a:p>
          <a:p>
            <a:pPr algn="ctr">
              <a:lnSpc>
                <a:spcPct val="150000"/>
              </a:lnSpc>
            </a:pPr>
            <a:r>
              <a:rPr lang="en-US" sz="1000" dirty="0" smtClean="0">
                <a:solidFill>
                  <a:schemeClr val="accent1"/>
                </a:solidFill>
              </a:rPr>
              <a:t>Required Stable Funding</a:t>
            </a:r>
            <a:endParaRPr lang="en-US" sz="1000" dirty="0">
              <a:solidFill>
                <a:schemeClr val="accent1"/>
              </a:solidFill>
            </a:endParaRPr>
          </a:p>
        </p:txBody>
      </p:sp>
      <p:cxnSp>
        <p:nvCxnSpPr>
          <p:cNvPr id="23" name="Straight Connector 22"/>
          <p:cNvCxnSpPr/>
          <p:nvPr/>
        </p:nvCxnSpPr>
        <p:spPr>
          <a:xfrm>
            <a:off x="7689850" y="2270899"/>
            <a:ext cx="1524000"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24" name="Straight Connector 23"/>
          <p:cNvCxnSpPr/>
          <p:nvPr/>
        </p:nvCxnSpPr>
        <p:spPr>
          <a:xfrm>
            <a:off x="4876800" y="2267724"/>
            <a:ext cx="2286000" cy="3175"/>
          </a:xfrm>
          <a:prstGeom prst="line">
            <a:avLst/>
          </a:prstGeom>
        </p:spPr>
        <p:style>
          <a:lnRef idx="1">
            <a:schemeClr val="accent1"/>
          </a:lnRef>
          <a:fillRef idx="0">
            <a:schemeClr val="accent1"/>
          </a:fillRef>
          <a:effectRef idx="0">
            <a:schemeClr val="accent1"/>
          </a:effectRef>
          <a:fontRef idx="minor">
            <a:schemeClr val="tx1"/>
          </a:fontRef>
        </p:style>
      </p:cxnSp>
      <p:sp>
        <p:nvSpPr>
          <p:cNvPr id="14" name="TextBox 13"/>
          <p:cNvSpPr txBox="1"/>
          <p:nvPr/>
        </p:nvSpPr>
        <p:spPr>
          <a:xfrm>
            <a:off x="2472698" y="6939687"/>
            <a:ext cx="4690102" cy="230832"/>
          </a:xfrm>
          <a:prstGeom prst="rect">
            <a:avLst/>
          </a:prstGeom>
          <a:noFill/>
        </p:spPr>
        <p:txBody>
          <a:bodyPr wrap="square" rtlCol="0">
            <a:spAutoFit/>
          </a:bodyPr>
          <a:lstStyle/>
          <a:p>
            <a:r>
              <a:rPr lang="en-US" sz="900" dirty="0" smtClean="0">
                <a:latin typeface="Calibri" panose="020F0502020204030204" pitchFamily="34" charset="0"/>
              </a:rPr>
              <a:t>Source: </a:t>
            </a:r>
            <a:r>
              <a:rPr lang="en-US" sz="900" dirty="0">
                <a:latin typeface="Calibri" panose="020F0502020204030204" pitchFamily="34" charset="0"/>
              </a:rPr>
              <a:t> </a:t>
            </a:r>
            <a:r>
              <a:rPr lang="en-US" sz="900" dirty="0" smtClean="0">
                <a:latin typeface="Calibri" panose="020F0502020204030204" pitchFamily="34" charset="0"/>
              </a:rPr>
              <a:t>“The Future of Wholesale Funding Markets”, PWC and BNY Mellon, December 2015 </a:t>
            </a:r>
            <a:endParaRPr lang="en-US" sz="900" dirty="0">
              <a:latin typeface="Calibri" panose="020F0502020204030204" pitchFamily="34" charset="0"/>
            </a:endParaRPr>
          </a:p>
        </p:txBody>
      </p:sp>
    </p:spTree>
    <p:extLst>
      <p:ext uri="{BB962C8B-B14F-4D97-AF65-F5344CB8AC3E}">
        <p14:creationId xmlns:p14="http://schemas.microsoft.com/office/powerpoint/2010/main" val="27685006"/>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QUANTIFYING THE IMPACT OF SLR ON REPO</a:t>
            </a:r>
            <a:endParaRPr lang="en-US" dirty="0"/>
          </a:p>
        </p:txBody>
      </p:sp>
      <p:sp>
        <p:nvSpPr>
          <p:cNvPr id="73" name="Content Placeholder 12"/>
          <p:cNvSpPr>
            <a:spLocks noGrp="1"/>
          </p:cNvSpPr>
          <p:nvPr>
            <p:ph idx="1"/>
          </p:nvPr>
        </p:nvSpPr>
        <p:spPr>
          <a:xfrm>
            <a:off x="293687" y="1235075"/>
            <a:ext cx="1839913" cy="5927725"/>
          </a:xfrm>
        </p:spPr>
        <p:txBody>
          <a:bodyPr/>
          <a:lstStyle/>
          <a:p>
            <a:pPr>
              <a:lnSpc>
                <a:spcPct val="100000"/>
              </a:lnSpc>
              <a:spcBef>
                <a:spcPts val="0"/>
              </a:spcBef>
            </a:pPr>
            <a:r>
              <a:rPr lang="en-US" sz="1100" b="0" dirty="0" smtClean="0">
                <a:solidFill>
                  <a:schemeClr val="tx1"/>
                </a:solidFill>
                <a:latin typeface="+mn-lt"/>
              </a:rPr>
              <a:t>The risk-weighted capital requirement takes into account the mitigation provided by the bond collateral (net of a volatility adjustment) and the riskiness of the broker-dealer as counterparty. </a:t>
            </a:r>
          </a:p>
          <a:p>
            <a:pPr>
              <a:lnSpc>
                <a:spcPct val="100000"/>
              </a:lnSpc>
              <a:spcBef>
                <a:spcPts val="0"/>
              </a:spcBef>
            </a:pPr>
            <a:endParaRPr lang="en-US" sz="1100" b="0" dirty="0">
              <a:solidFill>
                <a:schemeClr val="tx1"/>
              </a:solidFill>
              <a:latin typeface="+mn-lt"/>
            </a:endParaRPr>
          </a:p>
          <a:p>
            <a:pPr>
              <a:lnSpc>
                <a:spcPct val="100000"/>
              </a:lnSpc>
              <a:spcBef>
                <a:spcPts val="0"/>
              </a:spcBef>
            </a:pPr>
            <a:r>
              <a:rPr lang="en-US" sz="1100" b="0" dirty="0" smtClean="0">
                <a:solidFill>
                  <a:schemeClr val="tx1"/>
                </a:solidFill>
                <a:latin typeface="+mn-lt"/>
              </a:rPr>
              <a:t>The leverage requirement takes no account of these factors but penalizes the under-collateralization of the bank’s exposure to the broker-dealer. </a:t>
            </a:r>
            <a:endParaRPr lang="en-US" sz="1100" b="0" dirty="0">
              <a:solidFill>
                <a:schemeClr val="tx1"/>
              </a:solidFill>
              <a:latin typeface="+mn-lt"/>
            </a:endParaRPr>
          </a:p>
          <a:p>
            <a:pPr>
              <a:lnSpc>
                <a:spcPct val="100000"/>
              </a:lnSpc>
              <a:spcBef>
                <a:spcPts val="0"/>
              </a:spcBef>
            </a:pPr>
            <a:endParaRPr lang="en-US" sz="1100" b="0" dirty="0" smtClean="0">
              <a:solidFill>
                <a:schemeClr val="tx1"/>
              </a:solidFill>
              <a:latin typeface="+mn-lt"/>
            </a:endParaRPr>
          </a:p>
          <a:p>
            <a:pPr>
              <a:lnSpc>
                <a:spcPct val="100000"/>
              </a:lnSpc>
              <a:spcBef>
                <a:spcPts val="0"/>
              </a:spcBef>
            </a:pPr>
            <a:r>
              <a:rPr lang="en-US" sz="1100" b="0" dirty="0" smtClean="0">
                <a:solidFill>
                  <a:schemeClr val="tx1"/>
                </a:solidFill>
                <a:latin typeface="+mn-lt"/>
              </a:rPr>
              <a:t>In this simple example, the LR would increase the risk-weighted capital requirement by 13.5x.</a:t>
            </a:r>
            <a:endParaRPr lang="en-US" sz="1100" b="0" dirty="0">
              <a:solidFill>
                <a:schemeClr val="tx1"/>
              </a:solidFill>
              <a:latin typeface="+mn-lt"/>
            </a:endParaRPr>
          </a:p>
          <a:p>
            <a:endParaRPr lang="en-US" sz="1100" b="0" dirty="0" smtClean="0">
              <a:solidFill>
                <a:schemeClr val="tx1"/>
              </a:solidFill>
            </a:endParaRPr>
          </a:p>
          <a:p>
            <a:endParaRPr lang="en-US" sz="1100" b="0" dirty="0">
              <a:solidFill>
                <a:schemeClr val="tx1"/>
              </a:solidFill>
            </a:endParaRPr>
          </a:p>
          <a:p>
            <a:endParaRPr lang="en-US" sz="1100" dirty="0" smtClean="0"/>
          </a:p>
        </p:txBody>
      </p:sp>
      <p:sp>
        <p:nvSpPr>
          <p:cNvPr id="3" name="Rectangle 2"/>
          <p:cNvSpPr/>
          <p:nvPr/>
        </p:nvSpPr>
        <p:spPr>
          <a:xfrm>
            <a:off x="2743200" y="1447800"/>
            <a:ext cx="1524000" cy="9144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b="1" dirty="0" smtClean="0"/>
              <a:t>Repo</a:t>
            </a:r>
          </a:p>
          <a:p>
            <a:pPr algn="ctr"/>
            <a:r>
              <a:rPr lang="en-US" sz="1400" b="1" dirty="0" smtClean="0"/>
              <a:t>Counterparty</a:t>
            </a:r>
          </a:p>
          <a:p>
            <a:pPr algn="ctr"/>
            <a:r>
              <a:rPr lang="en-US" sz="1100" i="1" dirty="0" smtClean="0"/>
              <a:t>(e.g. broker-dealer)</a:t>
            </a:r>
            <a:endParaRPr lang="en-US" sz="1100" i="1" dirty="0"/>
          </a:p>
        </p:txBody>
      </p:sp>
      <p:sp>
        <p:nvSpPr>
          <p:cNvPr id="12" name="Rectangle 11"/>
          <p:cNvSpPr/>
          <p:nvPr/>
        </p:nvSpPr>
        <p:spPr>
          <a:xfrm>
            <a:off x="7848600" y="1447800"/>
            <a:ext cx="1524000" cy="9144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b="1" dirty="0" smtClean="0"/>
              <a:t>Reverse Repo</a:t>
            </a:r>
          </a:p>
          <a:p>
            <a:pPr algn="ctr"/>
            <a:r>
              <a:rPr lang="en-US" sz="1400" b="1" dirty="0" smtClean="0"/>
              <a:t>Counterparty</a:t>
            </a:r>
          </a:p>
          <a:p>
            <a:pPr algn="ctr"/>
            <a:r>
              <a:rPr lang="en-US" sz="1100" i="1" dirty="0" smtClean="0"/>
              <a:t>(e.g. bank)</a:t>
            </a:r>
            <a:endParaRPr lang="en-US" sz="1100" i="1" dirty="0"/>
          </a:p>
        </p:txBody>
      </p:sp>
      <p:cxnSp>
        <p:nvCxnSpPr>
          <p:cNvPr id="5" name="Straight Arrow Connector 4"/>
          <p:cNvCxnSpPr/>
          <p:nvPr/>
        </p:nvCxnSpPr>
        <p:spPr>
          <a:xfrm>
            <a:off x="4495800" y="1828800"/>
            <a:ext cx="3124200" cy="1260"/>
          </a:xfrm>
          <a:prstGeom prst="straightConnector1">
            <a:avLst/>
          </a:prstGeom>
          <a:ln>
            <a:solidFill>
              <a:srgbClr val="FF0000"/>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15" name="Straight Arrow Connector 14"/>
          <p:cNvCxnSpPr/>
          <p:nvPr/>
        </p:nvCxnSpPr>
        <p:spPr>
          <a:xfrm>
            <a:off x="4495800" y="2133600"/>
            <a:ext cx="3124200" cy="0"/>
          </a:xfrm>
          <a:prstGeom prst="straightConnector1">
            <a:avLst/>
          </a:prstGeom>
          <a:ln>
            <a:solidFill>
              <a:srgbClr val="00B050"/>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sp>
        <p:nvSpPr>
          <p:cNvPr id="9" name="TextBox 8"/>
          <p:cNvSpPr txBox="1"/>
          <p:nvPr/>
        </p:nvSpPr>
        <p:spPr>
          <a:xfrm>
            <a:off x="5067300" y="1568450"/>
            <a:ext cx="1981200" cy="261610"/>
          </a:xfrm>
          <a:prstGeom prst="rect">
            <a:avLst/>
          </a:prstGeom>
          <a:noFill/>
        </p:spPr>
        <p:txBody>
          <a:bodyPr wrap="square" rtlCol="0">
            <a:spAutoFit/>
          </a:bodyPr>
          <a:lstStyle/>
          <a:p>
            <a:pPr algn="ctr"/>
            <a:r>
              <a:rPr lang="en-US" sz="1100" i="1" dirty="0" smtClean="0"/>
              <a:t>Bonds (95)</a:t>
            </a:r>
            <a:endParaRPr lang="en-US" sz="1100" i="1" dirty="0"/>
          </a:p>
        </p:txBody>
      </p:sp>
      <p:sp>
        <p:nvSpPr>
          <p:cNvPr id="17" name="TextBox 16"/>
          <p:cNvSpPr txBox="1"/>
          <p:nvPr/>
        </p:nvSpPr>
        <p:spPr>
          <a:xfrm>
            <a:off x="5067300" y="1871990"/>
            <a:ext cx="1981200" cy="261610"/>
          </a:xfrm>
          <a:prstGeom prst="rect">
            <a:avLst/>
          </a:prstGeom>
          <a:noFill/>
        </p:spPr>
        <p:txBody>
          <a:bodyPr wrap="square" rtlCol="0">
            <a:spAutoFit/>
          </a:bodyPr>
          <a:lstStyle/>
          <a:p>
            <a:pPr algn="ctr"/>
            <a:r>
              <a:rPr lang="en-US" sz="1100" i="1" dirty="0" smtClean="0"/>
              <a:t>Cash (100)</a:t>
            </a:r>
            <a:endParaRPr lang="en-US" sz="1100" i="1" dirty="0"/>
          </a:p>
        </p:txBody>
      </p:sp>
      <p:graphicFrame>
        <p:nvGraphicFramePr>
          <p:cNvPr id="13" name="Table 12"/>
          <p:cNvGraphicFramePr>
            <a:graphicFrameLocks noGrp="1"/>
          </p:cNvGraphicFramePr>
          <p:nvPr>
            <p:extLst>
              <p:ext uri="{D42A27DB-BD31-4B8C-83A1-F6EECF244321}">
                <p14:modId xmlns:p14="http://schemas.microsoft.com/office/powerpoint/2010/main" val="2081537928"/>
              </p:ext>
            </p:extLst>
          </p:nvPr>
        </p:nvGraphicFramePr>
        <p:xfrm>
          <a:off x="2667000" y="2895600"/>
          <a:ext cx="6705600" cy="3362960"/>
        </p:xfrm>
        <a:graphic>
          <a:graphicData uri="http://schemas.openxmlformats.org/drawingml/2006/table">
            <a:tbl>
              <a:tblPr firstRow="1">
                <a:tableStyleId>{3B4B98B0-60AC-42C2-AFA5-B58CD77FA1E5}</a:tableStyleId>
              </a:tblPr>
              <a:tblGrid>
                <a:gridCol w="2743200"/>
                <a:gridCol w="609600"/>
                <a:gridCol w="533400"/>
                <a:gridCol w="2819400"/>
              </a:tblGrid>
              <a:tr h="370840">
                <a:tc>
                  <a:txBody>
                    <a:bodyPr/>
                    <a:lstStyle/>
                    <a:p>
                      <a:r>
                        <a:rPr lang="en-US" sz="1200" i="1" dirty="0" smtClean="0"/>
                        <a:t>Risk-weighted</a:t>
                      </a:r>
                      <a:r>
                        <a:rPr lang="en-US" sz="1200" i="1" baseline="0" dirty="0" smtClean="0"/>
                        <a:t> capital requirement</a:t>
                      </a:r>
                      <a:endParaRPr lang="en-US" sz="1200" i="1" dirty="0"/>
                    </a:p>
                  </a:txBody>
                  <a:tcPr anchor="ctr"/>
                </a:tc>
                <a:tc>
                  <a:txBody>
                    <a:bodyPr/>
                    <a:lstStyle/>
                    <a:p>
                      <a:endParaRPr lang="en-US" sz="1200" i="1" dirty="0"/>
                    </a:p>
                  </a:txBody>
                  <a:tcPr anchor="ctr">
                    <a:lnR w="12700" cap="flat" cmpd="sng" algn="ctr">
                      <a:solidFill>
                        <a:schemeClr val="accent1"/>
                      </a:solidFill>
                      <a:prstDash val="solid"/>
                      <a:round/>
                      <a:headEnd type="none" w="med" len="med"/>
                      <a:tailEnd type="none" w="med" len="med"/>
                    </a:lnR>
                  </a:tcPr>
                </a:tc>
                <a:tc>
                  <a:txBody>
                    <a:bodyPr/>
                    <a:lstStyle/>
                    <a:p>
                      <a:endParaRPr lang="en-US" sz="1200" i="1" dirty="0"/>
                    </a:p>
                  </a:txBody>
                  <a:tcPr anchor="ctr">
                    <a:lnL w="12700" cap="flat" cmpd="sng" algn="ctr">
                      <a:solidFill>
                        <a:schemeClr val="accent1"/>
                      </a:solidFill>
                      <a:prstDash val="solid"/>
                      <a:round/>
                      <a:headEnd type="none" w="med" len="med"/>
                      <a:tailEnd type="none" w="med" len="med"/>
                    </a:lnL>
                  </a:tcPr>
                </a:tc>
                <a:tc>
                  <a:txBody>
                    <a:bodyPr/>
                    <a:lstStyle/>
                    <a:p>
                      <a:r>
                        <a:rPr lang="en-US" sz="1200" i="1" dirty="0" smtClean="0"/>
                        <a:t>LR capital requirement</a:t>
                      </a:r>
                      <a:endParaRPr lang="en-US" sz="1200" i="1" dirty="0"/>
                    </a:p>
                  </a:txBody>
                  <a:tcPr anchor="ctr"/>
                </a:tc>
              </a:tr>
              <a:tr h="370840">
                <a:tc>
                  <a:txBody>
                    <a:bodyPr/>
                    <a:lstStyle/>
                    <a:p>
                      <a:r>
                        <a:rPr lang="en-US" sz="1100" dirty="0" smtClean="0"/>
                        <a:t>Bank gross exposure to broker-dealer</a:t>
                      </a:r>
                      <a:endParaRPr lang="en-US" sz="1100" dirty="0"/>
                    </a:p>
                  </a:txBody>
                  <a:tcPr anchor="ctr">
                    <a:lnB w="12700" cap="flat" cmpd="sng" algn="ctr">
                      <a:solidFill>
                        <a:schemeClr val="accent1"/>
                      </a:solidFill>
                      <a:prstDash val="sysDot"/>
                      <a:round/>
                      <a:headEnd type="none" w="med" len="med"/>
                      <a:tailEnd type="none" w="med" len="med"/>
                    </a:lnB>
                  </a:tcPr>
                </a:tc>
                <a:tc>
                  <a:txBody>
                    <a:bodyPr/>
                    <a:lstStyle/>
                    <a:p>
                      <a:pPr algn="r"/>
                      <a:r>
                        <a:rPr lang="en-US" sz="1100" dirty="0" smtClean="0"/>
                        <a:t>100</a:t>
                      </a:r>
                      <a:endParaRPr lang="en-US" sz="1100" dirty="0"/>
                    </a:p>
                  </a:txBody>
                  <a:tcPr anchor="ctr">
                    <a:lnR w="12700" cap="flat" cmpd="sng" algn="ctr">
                      <a:solidFill>
                        <a:schemeClr val="accent1"/>
                      </a:solidFill>
                      <a:prstDash val="solid"/>
                      <a:round/>
                      <a:headEnd type="none" w="med" len="med"/>
                      <a:tailEnd type="none" w="med" len="med"/>
                    </a:lnR>
                    <a:lnB w="12700" cap="flat" cmpd="sng" algn="ctr">
                      <a:solidFill>
                        <a:schemeClr val="accent1"/>
                      </a:solidFill>
                      <a:prstDash val="sysDot"/>
                      <a:round/>
                      <a:headEnd type="none" w="med" len="med"/>
                      <a:tailEnd type="none" w="med" len="med"/>
                    </a:lnB>
                  </a:tcPr>
                </a:tc>
                <a:tc>
                  <a:txBody>
                    <a:bodyPr/>
                    <a:lstStyle/>
                    <a:p>
                      <a:pPr algn="r"/>
                      <a:r>
                        <a:rPr lang="en-US" sz="1100" dirty="0" smtClean="0"/>
                        <a:t>100</a:t>
                      </a:r>
                      <a:endParaRPr lang="en-US" sz="1100" dirty="0"/>
                    </a:p>
                  </a:txBody>
                  <a:tcPr anchor="ctr">
                    <a:lnL w="12700" cap="flat" cmpd="sng" algn="ctr">
                      <a:solidFill>
                        <a:schemeClr val="accent1"/>
                      </a:solidFill>
                      <a:prstDash val="solid"/>
                      <a:round/>
                      <a:headEnd type="none" w="med" len="med"/>
                      <a:tailEnd type="none" w="med" len="med"/>
                    </a:lnL>
                    <a:lnB w="12700" cap="flat" cmpd="sng" algn="ctr">
                      <a:solidFill>
                        <a:schemeClr val="accent1"/>
                      </a:solidFill>
                      <a:prstDash val="sysDot"/>
                      <a:round/>
                      <a:headEnd type="none" w="med" len="med"/>
                      <a:tailEnd type="none" w="med" len="med"/>
                    </a:lnB>
                  </a:tcPr>
                </a:tc>
                <a:tc>
                  <a:txBody>
                    <a:bodyPr/>
                    <a:lstStyle/>
                    <a:p>
                      <a:r>
                        <a:rPr lang="en-US" sz="1100" dirty="0" smtClean="0"/>
                        <a:t>Bank gross exposure to broker-dealer</a:t>
                      </a:r>
                      <a:endParaRPr lang="en-US" sz="1100" dirty="0"/>
                    </a:p>
                  </a:txBody>
                  <a:tcPr anchor="ctr">
                    <a:lnB w="12700" cap="flat" cmpd="sng" algn="ctr">
                      <a:solidFill>
                        <a:schemeClr val="accent1"/>
                      </a:solidFill>
                      <a:prstDash val="sysDot"/>
                      <a:round/>
                      <a:headEnd type="none" w="med" len="med"/>
                      <a:tailEnd type="none" w="med" len="med"/>
                    </a:lnB>
                  </a:tcPr>
                </a:tc>
              </a:tr>
              <a:tr h="370840">
                <a:tc>
                  <a:txBody>
                    <a:bodyPr/>
                    <a:lstStyle/>
                    <a:p>
                      <a:r>
                        <a:rPr lang="en-US" sz="1100" dirty="0" smtClean="0"/>
                        <a:t>Bond collateral received</a:t>
                      </a:r>
                      <a:endParaRPr lang="en-US" sz="1100" dirty="0"/>
                    </a:p>
                  </a:txBody>
                  <a:tcPr anchor="ctr">
                    <a:lnT w="12700" cap="flat" cmpd="sng" algn="ctr">
                      <a:solidFill>
                        <a:schemeClr val="accent1"/>
                      </a:solidFill>
                      <a:prstDash val="sysDot"/>
                      <a:round/>
                      <a:headEnd type="none" w="med" len="med"/>
                      <a:tailEnd type="none" w="med" len="med"/>
                    </a:lnT>
                    <a:lnB w="12700" cap="flat" cmpd="sng" algn="ctr">
                      <a:solidFill>
                        <a:schemeClr val="accent1"/>
                      </a:solidFill>
                      <a:prstDash val="sysDot"/>
                      <a:round/>
                      <a:headEnd type="none" w="med" len="med"/>
                      <a:tailEnd type="none" w="med" len="med"/>
                    </a:lnB>
                  </a:tcPr>
                </a:tc>
                <a:tc>
                  <a:txBody>
                    <a:bodyPr/>
                    <a:lstStyle/>
                    <a:p>
                      <a:pPr algn="r"/>
                      <a:r>
                        <a:rPr lang="en-US" sz="1100" dirty="0" smtClean="0"/>
                        <a:t>(95)</a:t>
                      </a:r>
                      <a:endParaRPr lang="en-US" sz="1100" dirty="0"/>
                    </a:p>
                  </a:txBody>
                  <a:tcPr anchor="ctr">
                    <a:lnR w="12700" cap="flat" cmpd="sng" algn="ctr">
                      <a:solidFill>
                        <a:schemeClr val="accent1"/>
                      </a:solidFill>
                      <a:prstDash val="solid"/>
                      <a:round/>
                      <a:headEnd type="none" w="med" len="med"/>
                      <a:tailEnd type="none" w="med" len="med"/>
                    </a:lnR>
                    <a:lnT w="12700" cap="flat" cmpd="sng" algn="ctr">
                      <a:solidFill>
                        <a:schemeClr val="accent1"/>
                      </a:solidFill>
                      <a:prstDash val="sysDot"/>
                      <a:round/>
                      <a:headEnd type="none" w="med" len="med"/>
                      <a:tailEnd type="none" w="med" len="med"/>
                    </a:lnT>
                    <a:lnB w="12700" cap="flat" cmpd="sng" algn="ctr">
                      <a:solidFill>
                        <a:schemeClr val="accent1"/>
                      </a:solidFill>
                      <a:prstDash val="sysDot"/>
                      <a:round/>
                      <a:headEnd type="none" w="med" len="med"/>
                      <a:tailEnd type="none" w="med" len="med"/>
                    </a:lnB>
                  </a:tcPr>
                </a:tc>
                <a:tc>
                  <a:txBody>
                    <a:bodyPr/>
                    <a:lstStyle/>
                    <a:p>
                      <a:pPr algn="r"/>
                      <a:r>
                        <a:rPr lang="en-US" sz="1100" dirty="0" smtClean="0"/>
                        <a:t>5</a:t>
                      </a:r>
                      <a:endParaRPr lang="en-US" sz="1100" dirty="0"/>
                    </a:p>
                  </a:txBody>
                  <a:tcPr anchor="ctr">
                    <a:lnL w="12700" cap="flat" cmpd="sng" algn="ctr">
                      <a:solidFill>
                        <a:schemeClr val="accent1"/>
                      </a:solidFill>
                      <a:prstDash val="solid"/>
                      <a:round/>
                      <a:headEnd type="none" w="med" len="med"/>
                      <a:tailEnd type="none" w="med" len="med"/>
                    </a:lnL>
                    <a:lnT w="12700" cap="flat" cmpd="sng" algn="ctr">
                      <a:solidFill>
                        <a:schemeClr val="accent1"/>
                      </a:solidFill>
                      <a:prstDash val="sysDot"/>
                      <a:round/>
                      <a:headEnd type="none" w="med" len="med"/>
                      <a:tailEnd type="none" w="med" len="med"/>
                    </a:lnT>
                    <a:lnB w="12700" cap="flat" cmpd="sng" algn="ctr">
                      <a:solidFill>
                        <a:schemeClr val="accent1"/>
                      </a:solidFill>
                      <a:prstDash val="sysDot"/>
                      <a:round/>
                      <a:headEnd type="none" w="med" len="med"/>
                      <a:tailEnd type="none" w="med" len="med"/>
                    </a:lnB>
                  </a:tcPr>
                </a:tc>
                <a:tc>
                  <a:txBody>
                    <a:bodyPr/>
                    <a:lstStyle/>
                    <a:p>
                      <a:r>
                        <a:rPr lang="en-US" sz="1100" dirty="0" smtClean="0"/>
                        <a:t>Under-collateralization</a:t>
                      </a:r>
                      <a:endParaRPr lang="en-US" sz="1100" dirty="0"/>
                    </a:p>
                  </a:txBody>
                  <a:tcPr anchor="ctr">
                    <a:lnT w="12700" cap="flat" cmpd="sng" algn="ctr">
                      <a:solidFill>
                        <a:schemeClr val="accent1"/>
                      </a:solidFill>
                      <a:prstDash val="sysDot"/>
                      <a:round/>
                      <a:headEnd type="none" w="med" len="med"/>
                      <a:tailEnd type="none" w="med" len="med"/>
                    </a:lnT>
                    <a:lnB w="12700" cap="flat" cmpd="sng" algn="ctr">
                      <a:solidFill>
                        <a:schemeClr val="accent1"/>
                      </a:solidFill>
                      <a:prstDash val="sysDot"/>
                      <a:round/>
                      <a:headEnd type="none" w="med" len="med"/>
                      <a:tailEnd type="none" w="med" len="med"/>
                    </a:lnB>
                  </a:tcPr>
                </a:tc>
              </a:tr>
              <a:tr h="370840">
                <a:tc>
                  <a:txBody>
                    <a:bodyPr/>
                    <a:lstStyle/>
                    <a:p>
                      <a:r>
                        <a:rPr lang="en-US" sz="1100" dirty="0" smtClean="0"/>
                        <a:t>Collateral volatility adjustment (5%)</a:t>
                      </a:r>
                      <a:endParaRPr lang="en-US" sz="1100" dirty="0"/>
                    </a:p>
                  </a:txBody>
                  <a:tcPr anchor="ctr">
                    <a:lnT w="12700" cap="flat" cmpd="sng" algn="ctr">
                      <a:solidFill>
                        <a:schemeClr val="accent1"/>
                      </a:solidFill>
                      <a:prstDash val="sysDot"/>
                      <a:round/>
                      <a:headEnd type="none" w="med" len="med"/>
                      <a:tailEnd type="none" w="med" len="med"/>
                    </a:lnT>
                    <a:lnB w="12700" cap="flat" cmpd="sng" algn="ctr">
                      <a:solidFill>
                        <a:schemeClr val="accent1"/>
                      </a:solidFill>
                      <a:prstDash val="sysDot"/>
                      <a:round/>
                      <a:headEnd type="none" w="med" len="med"/>
                      <a:tailEnd type="none" w="med" len="med"/>
                    </a:lnB>
                  </a:tcPr>
                </a:tc>
                <a:tc>
                  <a:txBody>
                    <a:bodyPr/>
                    <a:lstStyle/>
                    <a:p>
                      <a:pPr algn="r"/>
                      <a:r>
                        <a:rPr lang="en-US" sz="1100" dirty="0" smtClean="0"/>
                        <a:t>4.75</a:t>
                      </a:r>
                    </a:p>
                  </a:txBody>
                  <a:tcPr anchor="ctr">
                    <a:lnR w="12700" cap="flat" cmpd="sng" algn="ctr">
                      <a:solidFill>
                        <a:schemeClr val="accent1"/>
                      </a:solidFill>
                      <a:prstDash val="solid"/>
                      <a:round/>
                      <a:headEnd type="none" w="med" len="med"/>
                      <a:tailEnd type="none" w="med" len="med"/>
                    </a:lnR>
                    <a:lnT w="12700" cap="flat" cmpd="sng" algn="ctr">
                      <a:solidFill>
                        <a:schemeClr val="accent1"/>
                      </a:solidFill>
                      <a:prstDash val="sysDot"/>
                      <a:round/>
                      <a:headEnd type="none" w="med" len="med"/>
                      <a:tailEnd type="none" w="med" len="med"/>
                    </a:lnT>
                    <a:lnB w="12700" cap="flat" cmpd="sng" algn="ctr">
                      <a:solidFill>
                        <a:schemeClr val="accent1"/>
                      </a:solidFill>
                      <a:prstDash val="sysDot"/>
                      <a:round/>
                      <a:headEnd type="none" w="med" len="med"/>
                      <a:tailEnd type="none" w="med" len="med"/>
                    </a:lnB>
                  </a:tcPr>
                </a:tc>
                <a:tc>
                  <a:txBody>
                    <a:bodyPr/>
                    <a:lstStyle/>
                    <a:p>
                      <a:pPr algn="r"/>
                      <a:endParaRPr lang="en-US" sz="1100" dirty="0"/>
                    </a:p>
                  </a:txBody>
                  <a:tcPr anchor="ctr">
                    <a:lnL w="12700" cap="flat" cmpd="sng" algn="ctr">
                      <a:solidFill>
                        <a:schemeClr val="accent1"/>
                      </a:solidFill>
                      <a:prstDash val="solid"/>
                      <a:round/>
                      <a:headEnd type="none" w="med" len="med"/>
                      <a:tailEnd type="none" w="med" len="med"/>
                    </a:lnL>
                    <a:lnT w="12700" cap="flat" cmpd="sng" algn="ctr">
                      <a:solidFill>
                        <a:schemeClr val="accent1"/>
                      </a:solidFill>
                      <a:prstDash val="sysDot"/>
                      <a:round/>
                      <a:headEnd type="none" w="med" len="med"/>
                      <a:tailEnd type="none" w="med" len="med"/>
                    </a:lnT>
                    <a:lnB w="12700" cap="flat" cmpd="sng" algn="ctr">
                      <a:solidFill>
                        <a:schemeClr val="accent1"/>
                      </a:solidFill>
                      <a:prstDash val="sysDot"/>
                      <a:round/>
                      <a:headEnd type="none" w="med" len="med"/>
                      <a:tailEnd type="none" w="med" len="med"/>
                    </a:lnB>
                  </a:tcPr>
                </a:tc>
                <a:tc>
                  <a:txBody>
                    <a:bodyPr/>
                    <a:lstStyle/>
                    <a:p>
                      <a:endParaRPr lang="en-US" sz="1100" dirty="0"/>
                    </a:p>
                  </a:txBody>
                  <a:tcPr anchor="ctr">
                    <a:lnT w="12700" cap="flat" cmpd="sng" algn="ctr">
                      <a:solidFill>
                        <a:schemeClr val="accent1"/>
                      </a:solidFill>
                      <a:prstDash val="sysDot"/>
                      <a:round/>
                      <a:headEnd type="none" w="med" len="med"/>
                      <a:tailEnd type="none" w="med" len="med"/>
                    </a:lnT>
                    <a:lnB w="12700" cap="flat" cmpd="sng" algn="ctr">
                      <a:solidFill>
                        <a:schemeClr val="accent1"/>
                      </a:solidFill>
                      <a:prstDash val="sysDot"/>
                      <a:round/>
                      <a:headEnd type="none" w="med" len="med"/>
                      <a:tailEnd type="none" w="med" len="med"/>
                    </a:lnB>
                  </a:tcPr>
                </a:tc>
              </a:tr>
              <a:tr h="370840">
                <a:tc>
                  <a:txBody>
                    <a:bodyPr/>
                    <a:lstStyle/>
                    <a:p>
                      <a:r>
                        <a:rPr lang="en-US" sz="1100" dirty="0" smtClean="0"/>
                        <a:t>Bank net exposure to broker-dealer</a:t>
                      </a:r>
                      <a:endParaRPr lang="en-US" sz="1100" dirty="0"/>
                    </a:p>
                  </a:txBody>
                  <a:tcPr anchor="ctr">
                    <a:lnT w="12700" cap="flat" cmpd="sng" algn="ctr">
                      <a:solidFill>
                        <a:schemeClr val="accent1"/>
                      </a:solidFill>
                      <a:prstDash val="sysDot"/>
                      <a:round/>
                      <a:headEnd type="none" w="med" len="med"/>
                      <a:tailEnd type="none" w="med" len="med"/>
                    </a:lnT>
                    <a:lnB w="12700" cap="flat" cmpd="sng" algn="ctr">
                      <a:solidFill>
                        <a:schemeClr val="accent1"/>
                      </a:solidFill>
                      <a:prstDash val="sysDot"/>
                      <a:round/>
                      <a:headEnd type="none" w="med" len="med"/>
                      <a:tailEnd type="none" w="med" len="med"/>
                    </a:lnB>
                  </a:tcPr>
                </a:tc>
                <a:tc>
                  <a:txBody>
                    <a:bodyPr/>
                    <a:lstStyle/>
                    <a:p>
                      <a:pPr algn="r"/>
                      <a:r>
                        <a:rPr lang="en-US" sz="1100" dirty="0" smtClean="0"/>
                        <a:t>9.75</a:t>
                      </a:r>
                      <a:endParaRPr lang="en-US" sz="1100" dirty="0"/>
                    </a:p>
                  </a:txBody>
                  <a:tcPr anchor="ctr">
                    <a:lnR w="12700" cap="flat" cmpd="sng" algn="ctr">
                      <a:solidFill>
                        <a:schemeClr val="accent1"/>
                      </a:solidFill>
                      <a:prstDash val="solid"/>
                      <a:round/>
                      <a:headEnd type="none" w="med" len="med"/>
                      <a:tailEnd type="none" w="med" len="med"/>
                    </a:lnR>
                    <a:lnT w="12700" cap="flat" cmpd="sng" algn="ctr">
                      <a:solidFill>
                        <a:schemeClr val="accent1"/>
                      </a:solidFill>
                      <a:prstDash val="sysDot"/>
                      <a:round/>
                      <a:headEnd type="none" w="med" len="med"/>
                      <a:tailEnd type="none" w="med" len="med"/>
                    </a:lnT>
                    <a:lnB w="12700" cap="flat" cmpd="sng" algn="ctr">
                      <a:solidFill>
                        <a:schemeClr val="accent1"/>
                      </a:solidFill>
                      <a:prstDash val="sysDot"/>
                      <a:round/>
                      <a:headEnd type="none" w="med" len="med"/>
                      <a:tailEnd type="none" w="med" len="med"/>
                    </a:lnB>
                  </a:tcPr>
                </a:tc>
                <a:tc>
                  <a:txBody>
                    <a:bodyPr/>
                    <a:lstStyle/>
                    <a:p>
                      <a:pPr algn="r"/>
                      <a:r>
                        <a:rPr lang="en-US" sz="1100" dirty="0" smtClean="0"/>
                        <a:t>105</a:t>
                      </a:r>
                      <a:endParaRPr lang="en-US" sz="1100" dirty="0"/>
                    </a:p>
                  </a:txBody>
                  <a:tcPr anchor="ctr">
                    <a:lnL w="12700" cap="flat" cmpd="sng" algn="ctr">
                      <a:solidFill>
                        <a:schemeClr val="accent1"/>
                      </a:solidFill>
                      <a:prstDash val="solid"/>
                      <a:round/>
                      <a:headEnd type="none" w="med" len="med"/>
                      <a:tailEnd type="none" w="med" len="med"/>
                    </a:lnL>
                    <a:lnT w="12700" cap="flat" cmpd="sng" algn="ctr">
                      <a:solidFill>
                        <a:schemeClr val="accent1"/>
                      </a:solidFill>
                      <a:prstDash val="sysDot"/>
                      <a:round/>
                      <a:headEnd type="none" w="med" len="med"/>
                      <a:tailEnd type="none" w="med" len="med"/>
                    </a:lnT>
                    <a:lnB w="12700" cap="flat" cmpd="sng" algn="ctr">
                      <a:solidFill>
                        <a:schemeClr val="accent1"/>
                      </a:solidFill>
                      <a:prstDash val="sysDot"/>
                      <a:round/>
                      <a:headEnd type="none" w="med" len="med"/>
                      <a:tailEnd type="none" w="med" len="med"/>
                    </a:lnB>
                  </a:tcPr>
                </a:tc>
                <a:tc>
                  <a:txBody>
                    <a:bodyPr/>
                    <a:lstStyle/>
                    <a:p>
                      <a:r>
                        <a:rPr lang="en-US" sz="1100" dirty="0" smtClean="0"/>
                        <a:t>Bank total exposure to broker-</a:t>
                      </a:r>
                      <a:r>
                        <a:rPr lang="en-US" sz="1100" baseline="0" dirty="0" smtClean="0"/>
                        <a:t>dealer</a:t>
                      </a:r>
                      <a:endParaRPr lang="en-US" sz="1100" dirty="0"/>
                    </a:p>
                  </a:txBody>
                  <a:tcPr anchor="ctr">
                    <a:lnT w="12700" cap="flat" cmpd="sng" algn="ctr">
                      <a:solidFill>
                        <a:schemeClr val="accent1"/>
                      </a:solidFill>
                      <a:prstDash val="sysDot"/>
                      <a:round/>
                      <a:headEnd type="none" w="med" len="med"/>
                      <a:tailEnd type="none" w="med" len="med"/>
                    </a:lnT>
                    <a:lnB w="12700" cap="flat" cmpd="sng" algn="ctr">
                      <a:solidFill>
                        <a:schemeClr val="accent1"/>
                      </a:solidFill>
                      <a:prstDash val="sysDot"/>
                      <a:round/>
                      <a:headEnd type="none" w="med" len="med"/>
                      <a:tailEnd type="none" w="med" len="med"/>
                    </a:lnB>
                  </a:tcPr>
                </a:tc>
              </a:tr>
              <a:tr h="370840">
                <a:tc>
                  <a:txBody>
                    <a:bodyPr/>
                    <a:lstStyle/>
                    <a:p>
                      <a:r>
                        <a:rPr lang="en-US" sz="1100" dirty="0" smtClean="0"/>
                        <a:t>Broker-dealer exposure risk-weight</a:t>
                      </a:r>
                      <a:endParaRPr lang="en-US" sz="1100" dirty="0"/>
                    </a:p>
                  </a:txBody>
                  <a:tcPr anchor="ctr">
                    <a:lnT w="12700" cap="flat" cmpd="sng" algn="ctr">
                      <a:solidFill>
                        <a:schemeClr val="accent1"/>
                      </a:solidFill>
                      <a:prstDash val="sysDot"/>
                      <a:round/>
                      <a:headEnd type="none" w="med" len="med"/>
                      <a:tailEnd type="none" w="med" len="med"/>
                    </a:lnT>
                    <a:lnB w="12700" cap="flat" cmpd="sng" algn="ctr">
                      <a:solidFill>
                        <a:schemeClr val="accent1"/>
                      </a:solidFill>
                      <a:prstDash val="sysDot"/>
                      <a:round/>
                      <a:headEnd type="none" w="med" len="med"/>
                      <a:tailEnd type="none" w="med" len="med"/>
                    </a:lnB>
                  </a:tcPr>
                </a:tc>
                <a:tc>
                  <a:txBody>
                    <a:bodyPr/>
                    <a:lstStyle/>
                    <a:p>
                      <a:pPr algn="r"/>
                      <a:r>
                        <a:rPr lang="en-US" sz="1100" dirty="0" smtClean="0"/>
                        <a:t>20%</a:t>
                      </a:r>
                      <a:endParaRPr lang="en-US" sz="1100" dirty="0"/>
                    </a:p>
                  </a:txBody>
                  <a:tcPr anchor="ctr">
                    <a:lnR w="12700" cap="flat" cmpd="sng" algn="ctr">
                      <a:solidFill>
                        <a:schemeClr val="accent1"/>
                      </a:solidFill>
                      <a:prstDash val="solid"/>
                      <a:round/>
                      <a:headEnd type="none" w="med" len="med"/>
                      <a:tailEnd type="none" w="med" len="med"/>
                    </a:lnR>
                    <a:lnT w="12700" cap="flat" cmpd="sng" algn="ctr">
                      <a:solidFill>
                        <a:schemeClr val="accent1"/>
                      </a:solidFill>
                      <a:prstDash val="sysDot"/>
                      <a:round/>
                      <a:headEnd type="none" w="med" len="med"/>
                      <a:tailEnd type="none" w="med" len="med"/>
                    </a:lnT>
                    <a:lnB w="12700" cap="flat" cmpd="sng" algn="ctr">
                      <a:solidFill>
                        <a:schemeClr val="accent1"/>
                      </a:solidFill>
                      <a:prstDash val="sysDot"/>
                      <a:round/>
                      <a:headEnd type="none" w="med" len="med"/>
                      <a:tailEnd type="none" w="med" len="med"/>
                    </a:lnB>
                  </a:tcPr>
                </a:tc>
                <a:tc>
                  <a:txBody>
                    <a:bodyPr/>
                    <a:lstStyle/>
                    <a:p>
                      <a:pPr algn="r"/>
                      <a:endParaRPr lang="en-US" sz="1100" dirty="0"/>
                    </a:p>
                  </a:txBody>
                  <a:tcPr anchor="ctr">
                    <a:lnL w="12700" cap="flat" cmpd="sng" algn="ctr">
                      <a:solidFill>
                        <a:schemeClr val="accent1"/>
                      </a:solidFill>
                      <a:prstDash val="solid"/>
                      <a:round/>
                      <a:headEnd type="none" w="med" len="med"/>
                      <a:tailEnd type="none" w="med" len="med"/>
                    </a:lnL>
                    <a:lnT w="12700" cap="flat" cmpd="sng" algn="ctr">
                      <a:solidFill>
                        <a:schemeClr val="accent1"/>
                      </a:solidFill>
                      <a:prstDash val="sysDot"/>
                      <a:round/>
                      <a:headEnd type="none" w="med" len="med"/>
                      <a:tailEnd type="none" w="med" len="med"/>
                    </a:lnT>
                    <a:lnB w="12700" cap="flat" cmpd="sng" algn="ctr">
                      <a:solidFill>
                        <a:schemeClr val="accent1"/>
                      </a:solidFill>
                      <a:prstDash val="sysDot"/>
                      <a:round/>
                      <a:headEnd type="none" w="med" len="med"/>
                      <a:tailEnd type="none" w="med" len="med"/>
                    </a:lnB>
                  </a:tcPr>
                </a:tc>
                <a:tc>
                  <a:txBody>
                    <a:bodyPr/>
                    <a:lstStyle/>
                    <a:p>
                      <a:endParaRPr lang="en-US" sz="1100" dirty="0"/>
                    </a:p>
                  </a:txBody>
                  <a:tcPr anchor="ctr">
                    <a:lnT w="12700" cap="flat" cmpd="sng" algn="ctr">
                      <a:solidFill>
                        <a:schemeClr val="accent1"/>
                      </a:solidFill>
                      <a:prstDash val="sysDot"/>
                      <a:round/>
                      <a:headEnd type="none" w="med" len="med"/>
                      <a:tailEnd type="none" w="med" len="med"/>
                    </a:lnT>
                    <a:lnB w="12700" cap="flat" cmpd="sng" algn="ctr">
                      <a:solidFill>
                        <a:schemeClr val="accent1"/>
                      </a:solidFill>
                      <a:prstDash val="sysDot"/>
                      <a:round/>
                      <a:headEnd type="none" w="med" len="med"/>
                      <a:tailEnd type="none" w="med" len="med"/>
                    </a:lnB>
                  </a:tcPr>
                </a:tc>
              </a:tr>
              <a:tr h="370840">
                <a:tc>
                  <a:txBody>
                    <a:bodyPr/>
                    <a:lstStyle/>
                    <a:p>
                      <a:r>
                        <a:rPr lang="en-US" sz="1100" dirty="0" smtClean="0"/>
                        <a:t>Risk-weighted asset</a:t>
                      </a:r>
                      <a:endParaRPr lang="en-US" sz="1100" dirty="0"/>
                    </a:p>
                  </a:txBody>
                  <a:tcPr anchor="ctr">
                    <a:lnT w="12700" cap="flat" cmpd="sng" algn="ctr">
                      <a:solidFill>
                        <a:schemeClr val="accent1"/>
                      </a:solidFill>
                      <a:prstDash val="sysDot"/>
                      <a:round/>
                      <a:headEnd type="none" w="med" len="med"/>
                      <a:tailEnd type="none" w="med" len="med"/>
                    </a:lnT>
                    <a:lnB w="12700" cap="flat" cmpd="sng" algn="ctr">
                      <a:solidFill>
                        <a:schemeClr val="accent1"/>
                      </a:solidFill>
                      <a:prstDash val="sysDot"/>
                      <a:round/>
                      <a:headEnd type="none" w="med" len="med"/>
                      <a:tailEnd type="none" w="med" len="med"/>
                    </a:lnB>
                  </a:tcPr>
                </a:tc>
                <a:tc>
                  <a:txBody>
                    <a:bodyPr/>
                    <a:lstStyle/>
                    <a:p>
                      <a:pPr algn="r"/>
                      <a:r>
                        <a:rPr lang="en-US" sz="1100" dirty="0" smtClean="0"/>
                        <a:t>1.95</a:t>
                      </a:r>
                      <a:endParaRPr lang="en-US" sz="1100" dirty="0"/>
                    </a:p>
                  </a:txBody>
                  <a:tcPr anchor="ctr">
                    <a:lnR w="12700" cap="flat" cmpd="sng" algn="ctr">
                      <a:solidFill>
                        <a:schemeClr val="accent1"/>
                      </a:solidFill>
                      <a:prstDash val="solid"/>
                      <a:round/>
                      <a:headEnd type="none" w="med" len="med"/>
                      <a:tailEnd type="none" w="med" len="med"/>
                    </a:lnR>
                    <a:lnT w="12700" cap="flat" cmpd="sng" algn="ctr">
                      <a:solidFill>
                        <a:schemeClr val="accent1"/>
                      </a:solidFill>
                      <a:prstDash val="sysDot"/>
                      <a:round/>
                      <a:headEnd type="none" w="med" len="med"/>
                      <a:tailEnd type="none" w="med" len="med"/>
                    </a:lnT>
                    <a:lnB w="12700" cap="flat" cmpd="sng" algn="ctr">
                      <a:solidFill>
                        <a:schemeClr val="accent1"/>
                      </a:solidFill>
                      <a:prstDash val="sysDot"/>
                      <a:round/>
                      <a:headEnd type="none" w="med" len="med"/>
                      <a:tailEnd type="none" w="med" len="med"/>
                    </a:lnB>
                  </a:tcPr>
                </a:tc>
                <a:tc>
                  <a:txBody>
                    <a:bodyPr/>
                    <a:lstStyle/>
                    <a:p>
                      <a:pPr algn="r"/>
                      <a:endParaRPr lang="en-US"/>
                    </a:p>
                  </a:txBody>
                  <a:tcPr anchor="ctr">
                    <a:lnL w="12700" cap="flat" cmpd="sng" algn="ctr">
                      <a:solidFill>
                        <a:schemeClr val="accent1"/>
                      </a:solidFill>
                      <a:prstDash val="solid"/>
                      <a:round/>
                      <a:headEnd type="none" w="med" len="med"/>
                      <a:tailEnd type="none" w="med" len="med"/>
                    </a:lnL>
                    <a:lnT w="12700" cap="flat" cmpd="sng" algn="ctr">
                      <a:solidFill>
                        <a:schemeClr val="accent1"/>
                      </a:solidFill>
                      <a:prstDash val="sysDot"/>
                      <a:round/>
                      <a:headEnd type="none" w="med" len="med"/>
                      <a:tailEnd type="none" w="med" len="med"/>
                    </a:lnT>
                    <a:lnB w="12700" cap="flat" cmpd="sng" algn="ctr">
                      <a:solidFill>
                        <a:schemeClr val="accent1"/>
                      </a:solidFill>
                      <a:prstDash val="sysDot"/>
                      <a:round/>
                      <a:headEnd type="none" w="med" len="med"/>
                      <a:tailEnd type="none" w="med" len="med"/>
                    </a:lnB>
                  </a:tcPr>
                </a:tc>
                <a:tc>
                  <a:txBody>
                    <a:bodyPr/>
                    <a:lstStyle/>
                    <a:p>
                      <a:endParaRPr lang="en-US" dirty="0"/>
                    </a:p>
                  </a:txBody>
                  <a:tcPr anchor="ctr">
                    <a:lnT w="12700" cap="flat" cmpd="sng" algn="ctr">
                      <a:solidFill>
                        <a:schemeClr val="accent1"/>
                      </a:solidFill>
                      <a:prstDash val="sysDot"/>
                      <a:round/>
                      <a:headEnd type="none" w="med" len="med"/>
                      <a:tailEnd type="none" w="med" len="med"/>
                    </a:lnT>
                    <a:lnB w="12700" cap="flat" cmpd="sng" algn="ctr">
                      <a:solidFill>
                        <a:schemeClr val="accent1"/>
                      </a:solidFill>
                      <a:prstDash val="sysDot"/>
                      <a:round/>
                      <a:headEnd type="none" w="med" len="med"/>
                      <a:tailEnd type="none" w="med" len="med"/>
                    </a:lnB>
                  </a:tcPr>
                </a:tc>
              </a:tr>
              <a:tr h="370840">
                <a:tc>
                  <a:txBody>
                    <a:bodyPr/>
                    <a:lstStyle/>
                    <a:p>
                      <a:r>
                        <a:rPr lang="en-US" sz="1100" dirty="0" smtClean="0"/>
                        <a:t>Target Tier</a:t>
                      </a:r>
                      <a:r>
                        <a:rPr lang="en-US" sz="1100" baseline="0" dirty="0" smtClean="0"/>
                        <a:t> 1 capital ratio</a:t>
                      </a:r>
                      <a:endParaRPr lang="en-US" sz="1100" dirty="0"/>
                    </a:p>
                  </a:txBody>
                  <a:tcPr anchor="ctr">
                    <a:lnT w="12700" cap="flat" cmpd="sng" algn="ctr">
                      <a:solidFill>
                        <a:schemeClr val="accent1"/>
                      </a:solidFill>
                      <a:prstDash val="sysDot"/>
                      <a:round/>
                      <a:headEnd type="none" w="med" len="med"/>
                      <a:tailEnd type="none" w="med" len="med"/>
                    </a:lnT>
                    <a:lnB w="12700" cap="flat" cmpd="sng" algn="ctr">
                      <a:solidFill>
                        <a:schemeClr val="accent1"/>
                      </a:solidFill>
                      <a:prstDash val="solid"/>
                      <a:round/>
                      <a:headEnd type="none" w="med" len="med"/>
                      <a:tailEnd type="none" w="med" len="med"/>
                    </a:lnB>
                  </a:tcPr>
                </a:tc>
                <a:tc>
                  <a:txBody>
                    <a:bodyPr/>
                    <a:lstStyle/>
                    <a:p>
                      <a:pPr algn="r"/>
                      <a:r>
                        <a:rPr lang="en-US" sz="1100" dirty="0" smtClean="0"/>
                        <a:t>12%</a:t>
                      </a:r>
                      <a:endParaRPr lang="en-US" sz="1100" dirty="0"/>
                    </a:p>
                  </a:txBody>
                  <a:tcPr anchor="ctr">
                    <a:lnR w="12700" cap="flat" cmpd="sng" algn="ctr">
                      <a:solidFill>
                        <a:schemeClr val="accent1"/>
                      </a:solidFill>
                      <a:prstDash val="solid"/>
                      <a:round/>
                      <a:headEnd type="none" w="med" len="med"/>
                      <a:tailEnd type="none" w="med" len="med"/>
                    </a:lnR>
                    <a:lnT w="12700" cap="flat" cmpd="sng" algn="ctr">
                      <a:solidFill>
                        <a:schemeClr val="accent1"/>
                      </a:solidFill>
                      <a:prstDash val="sysDot"/>
                      <a:round/>
                      <a:headEnd type="none" w="med" len="med"/>
                      <a:tailEnd type="none" w="med" len="med"/>
                    </a:lnT>
                    <a:lnB w="12700" cap="flat" cmpd="sng" algn="ctr">
                      <a:solidFill>
                        <a:schemeClr val="accent1"/>
                      </a:solidFill>
                      <a:prstDash val="solid"/>
                      <a:round/>
                      <a:headEnd type="none" w="med" len="med"/>
                      <a:tailEnd type="none" w="med" len="med"/>
                    </a:lnB>
                  </a:tcPr>
                </a:tc>
                <a:tc>
                  <a:txBody>
                    <a:bodyPr/>
                    <a:lstStyle/>
                    <a:p>
                      <a:pPr algn="r"/>
                      <a:r>
                        <a:rPr lang="en-US" sz="1100" dirty="0" smtClean="0"/>
                        <a:t>3%</a:t>
                      </a:r>
                      <a:endParaRPr lang="en-US" sz="1100" dirty="0"/>
                    </a:p>
                  </a:txBody>
                  <a:tcPr anchor="ctr">
                    <a:lnL w="12700" cap="flat" cmpd="sng" algn="ctr">
                      <a:solidFill>
                        <a:schemeClr val="accent1"/>
                      </a:solidFill>
                      <a:prstDash val="solid"/>
                      <a:round/>
                      <a:headEnd type="none" w="med" len="med"/>
                      <a:tailEnd type="none" w="med" len="med"/>
                    </a:lnL>
                    <a:lnT w="12700" cap="flat" cmpd="sng" algn="ctr">
                      <a:solidFill>
                        <a:schemeClr val="accent1"/>
                      </a:solidFill>
                      <a:prstDash val="sysDot"/>
                      <a:round/>
                      <a:headEnd type="none" w="med" len="med"/>
                      <a:tailEnd type="none" w="med" len="med"/>
                    </a:lnT>
                    <a:lnB w="12700" cap="flat" cmpd="sng" algn="ctr">
                      <a:solidFill>
                        <a:schemeClr val="accent1"/>
                      </a:solidFill>
                      <a:prstDash val="solid"/>
                      <a:round/>
                      <a:headEnd type="none" w="med" len="med"/>
                      <a:tailEnd type="none" w="med" len="med"/>
                    </a:lnB>
                  </a:tcPr>
                </a:tc>
                <a:tc>
                  <a:txBody>
                    <a:bodyPr/>
                    <a:lstStyle/>
                    <a:p>
                      <a:r>
                        <a:rPr lang="en-US" sz="1100" dirty="0" smtClean="0"/>
                        <a:t>Minimum Tier</a:t>
                      </a:r>
                      <a:r>
                        <a:rPr lang="en-US" sz="1100" baseline="0" dirty="0" smtClean="0"/>
                        <a:t> 1 LR</a:t>
                      </a:r>
                      <a:endParaRPr lang="en-US" sz="1100" dirty="0"/>
                    </a:p>
                  </a:txBody>
                  <a:tcPr anchor="ctr">
                    <a:lnT w="12700" cap="flat" cmpd="sng" algn="ctr">
                      <a:solidFill>
                        <a:schemeClr val="accent1"/>
                      </a:solidFill>
                      <a:prstDash val="sysDot"/>
                      <a:round/>
                      <a:headEnd type="none" w="med" len="med"/>
                      <a:tailEnd type="none" w="med" len="med"/>
                    </a:lnT>
                    <a:lnB w="12700" cap="flat" cmpd="sng" algn="ctr">
                      <a:solidFill>
                        <a:schemeClr val="accent1"/>
                      </a:solidFill>
                      <a:prstDash val="solid"/>
                      <a:round/>
                      <a:headEnd type="none" w="med" len="med"/>
                      <a:tailEnd type="none" w="med" len="med"/>
                    </a:lnB>
                  </a:tcPr>
                </a:tc>
              </a:tr>
              <a:tr h="370840">
                <a:tc>
                  <a:txBody>
                    <a:bodyPr/>
                    <a:lstStyle/>
                    <a:p>
                      <a:r>
                        <a:rPr lang="en-US" sz="1100" b="1" dirty="0" smtClean="0"/>
                        <a:t>Tier 1 capital requirement</a:t>
                      </a:r>
                      <a:endParaRPr lang="en-US" sz="1100" b="1" dirty="0"/>
                    </a:p>
                  </a:txBody>
                  <a:tcPr anchor="ctr">
                    <a:lnT w="12700" cap="flat" cmpd="sng" algn="ctr">
                      <a:solidFill>
                        <a:schemeClr val="accent1"/>
                      </a:solidFill>
                      <a:prstDash val="solid"/>
                      <a:round/>
                      <a:headEnd type="none" w="med" len="med"/>
                      <a:tailEnd type="none" w="med" len="med"/>
                    </a:lnT>
                  </a:tcPr>
                </a:tc>
                <a:tc>
                  <a:txBody>
                    <a:bodyPr/>
                    <a:lstStyle/>
                    <a:p>
                      <a:pPr algn="r"/>
                      <a:r>
                        <a:rPr lang="en-US" sz="1100" b="1" dirty="0" smtClean="0"/>
                        <a:t>0.23</a:t>
                      </a:r>
                      <a:endParaRPr lang="en-US" sz="1100" b="1" dirty="0"/>
                    </a:p>
                  </a:txBody>
                  <a:tcPr anchor="ctr">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tcPr>
                </a:tc>
                <a:tc>
                  <a:txBody>
                    <a:bodyPr/>
                    <a:lstStyle/>
                    <a:p>
                      <a:pPr algn="r"/>
                      <a:r>
                        <a:rPr lang="en-US" sz="1100" b="1" dirty="0" smtClean="0"/>
                        <a:t>3.15</a:t>
                      </a:r>
                      <a:endParaRPr lang="en-US" sz="1100" b="1" dirty="0"/>
                    </a:p>
                  </a:txBody>
                  <a:tcPr anchor="ctr">
                    <a:lnL w="12700" cap="flat" cmpd="sng" algn="ctr">
                      <a:solidFill>
                        <a:schemeClr val="accent1"/>
                      </a:solidFill>
                      <a:prstDash val="solid"/>
                      <a:round/>
                      <a:headEnd type="none" w="med" len="med"/>
                      <a:tailEnd type="none" w="med" len="med"/>
                    </a:lnL>
                    <a:lnT w="12700" cap="flat" cmpd="sng" algn="ctr">
                      <a:solidFill>
                        <a:schemeClr val="accent1"/>
                      </a:solidFill>
                      <a:prstDash val="solid"/>
                      <a:round/>
                      <a:headEnd type="none" w="med" len="med"/>
                      <a:tailEnd type="none" w="med" len="med"/>
                    </a:lnT>
                  </a:tcPr>
                </a:tc>
                <a:tc>
                  <a:txBody>
                    <a:bodyPr/>
                    <a:lstStyle/>
                    <a:p>
                      <a:r>
                        <a:rPr lang="en-US" sz="1100" b="1" dirty="0" smtClean="0"/>
                        <a:t>13.5 times</a:t>
                      </a:r>
                      <a:r>
                        <a:rPr lang="en-US" sz="1100" b="1" baseline="0" dirty="0" smtClean="0"/>
                        <a:t> increase</a:t>
                      </a:r>
                      <a:endParaRPr lang="en-US" sz="1100" b="1" dirty="0"/>
                    </a:p>
                  </a:txBody>
                  <a:tcPr anchor="ctr">
                    <a:lnT w="12700" cap="flat" cmpd="sng" algn="ctr">
                      <a:solidFill>
                        <a:schemeClr val="accent1"/>
                      </a:solidFill>
                      <a:prstDash val="solid"/>
                      <a:round/>
                      <a:headEnd type="none" w="med" len="med"/>
                      <a:tailEnd type="none" w="med" len="med"/>
                    </a:lnT>
                  </a:tcPr>
                </a:tc>
              </a:tr>
            </a:tbl>
          </a:graphicData>
        </a:graphic>
      </p:graphicFrame>
    </p:spTree>
    <p:extLst>
      <p:ext uri="{BB962C8B-B14F-4D97-AF65-F5344CB8AC3E}">
        <p14:creationId xmlns:p14="http://schemas.microsoft.com/office/powerpoint/2010/main" val="1750691288"/>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799268" y="244312"/>
            <a:ext cx="6014434" cy="609918"/>
          </a:xfrm>
        </p:spPr>
        <p:txBody>
          <a:bodyPr/>
          <a:lstStyle/>
          <a:p>
            <a:r>
              <a:rPr lang="en-US" dirty="0" smtClean="0"/>
              <a:t>LESS REPO MEANS LESS RELATIVE VALUE TRADING</a:t>
            </a:r>
            <a:endParaRPr lang="en-US" sz="1200" b="0" dirty="0"/>
          </a:p>
        </p:txBody>
      </p:sp>
      <p:sp>
        <p:nvSpPr>
          <p:cNvPr id="3" name="TextBox 2"/>
          <p:cNvSpPr txBox="1"/>
          <p:nvPr/>
        </p:nvSpPr>
        <p:spPr>
          <a:xfrm>
            <a:off x="145657" y="1218129"/>
            <a:ext cx="2168665" cy="3616375"/>
          </a:xfrm>
          <a:prstGeom prst="rect">
            <a:avLst/>
          </a:prstGeom>
          <a:noFill/>
        </p:spPr>
        <p:txBody>
          <a:bodyPr wrap="square" rtlCol="0">
            <a:spAutoFit/>
          </a:bodyPr>
          <a:lstStyle/>
          <a:p>
            <a:pPr defTabSz="914400" fontAlgn="base">
              <a:spcAft>
                <a:spcPct val="0"/>
              </a:spcAft>
            </a:pPr>
            <a:r>
              <a:rPr lang="en-US" sz="1100" dirty="0" smtClean="0">
                <a:solidFill>
                  <a:srgbClr val="000000"/>
                </a:solidFill>
              </a:rPr>
              <a:t>Broker-dealer balance sheet has shrunk </a:t>
            </a:r>
            <a:r>
              <a:rPr lang="en-US" sz="1100" dirty="0" smtClean="0">
                <a:solidFill>
                  <a:srgbClr val="000000"/>
                </a:solidFill>
              </a:rPr>
              <a:t>significantly and </a:t>
            </a:r>
            <a:r>
              <a:rPr lang="en-US" sz="1100" dirty="0" smtClean="0">
                <a:solidFill>
                  <a:srgbClr val="000000"/>
                </a:solidFill>
              </a:rPr>
              <a:t>in particular the size of the repo </a:t>
            </a:r>
            <a:r>
              <a:rPr lang="en-US" sz="1100" dirty="0" smtClean="0">
                <a:solidFill>
                  <a:srgbClr val="000000"/>
                </a:solidFill>
              </a:rPr>
              <a:t>book because of the Basel III requirements. </a:t>
            </a:r>
            <a:r>
              <a:rPr lang="en-US" sz="1100" dirty="0" smtClean="0">
                <a:solidFill>
                  <a:srgbClr val="000000"/>
                </a:solidFill>
              </a:rPr>
              <a:t>This contraction in repo has impacted liquidity in fixed income markets and in particular made relative value trading much more challenging. </a:t>
            </a:r>
          </a:p>
          <a:p>
            <a:pPr defTabSz="914400" fontAlgn="base">
              <a:spcAft>
                <a:spcPct val="0"/>
              </a:spcAft>
            </a:pPr>
            <a:endParaRPr lang="en-US" sz="1100" dirty="0">
              <a:solidFill>
                <a:srgbClr val="000000"/>
              </a:solidFill>
            </a:endParaRPr>
          </a:p>
          <a:p>
            <a:pPr defTabSz="914400" fontAlgn="base">
              <a:spcAft>
                <a:spcPct val="0"/>
              </a:spcAft>
            </a:pPr>
            <a:r>
              <a:rPr lang="en-US" sz="1100" dirty="0" smtClean="0">
                <a:solidFill>
                  <a:srgbClr val="000000"/>
                </a:solidFill>
              </a:rPr>
              <a:t>The recent phenomenon of negative swap spreads can in part be attributed to balance sheet pressures.</a:t>
            </a:r>
            <a:endParaRPr lang="en-US" sz="1100" dirty="0">
              <a:solidFill>
                <a:srgbClr val="000000"/>
              </a:solidFill>
            </a:endParaRPr>
          </a:p>
          <a:p>
            <a:pPr defTabSz="914400" fontAlgn="base">
              <a:spcAft>
                <a:spcPct val="0"/>
              </a:spcAft>
              <a:buClr>
                <a:srgbClr val="203353"/>
              </a:buClr>
              <a:defRPr/>
            </a:pPr>
            <a:endParaRPr lang="en-US" sz="1500" dirty="0" smtClean="0">
              <a:solidFill>
                <a:srgbClr val="2E398A"/>
              </a:solidFill>
            </a:endParaRPr>
          </a:p>
          <a:p>
            <a:pPr defTabSz="914400" fontAlgn="base">
              <a:spcAft>
                <a:spcPct val="0"/>
              </a:spcAft>
              <a:buClr>
                <a:srgbClr val="203353"/>
              </a:buClr>
              <a:defRPr/>
            </a:pPr>
            <a:endParaRPr lang="en-US" sz="1500" dirty="0">
              <a:solidFill>
                <a:srgbClr val="2E398A"/>
              </a:solidFill>
            </a:endParaRPr>
          </a:p>
          <a:p>
            <a:pPr defTabSz="914400" fontAlgn="base">
              <a:spcAft>
                <a:spcPct val="0"/>
              </a:spcAft>
              <a:buClr>
                <a:srgbClr val="203353"/>
              </a:buClr>
              <a:defRPr/>
            </a:pPr>
            <a:endParaRPr lang="en-US" sz="1500" dirty="0" smtClean="0">
              <a:solidFill>
                <a:srgbClr val="2E398A"/>
              </a:solidFill>
            </a:endParaRPr>
          </a:p>
          <a:p>
            <a:pPr defTabSz="914400" fontAlgn="base">
              <a:spcAft>
                <a:spcPct val="0"/>
              </a:spcAft>
              <a:buClr>
                <a:srgbClr val="203353"/>
              </a:buClr>
              <a:defRPr/>
            </a:pPr>
            <a:endParaRPr lang="en-US" sz="1500" dirty="0">
              <a:solidFill>
                <a:srgbClr val="2E398A"/>
              </a:solidFill>
            </a:endParaRPr>
          </a:p>
          <a:p>
            <a:pPr defTabSz="914400" fontAlgn="base">
              <a:spcAft>
                <a:spcPct val="0"/>
              </a:spcAft>
              <a:buClr>
                <a:srgbClr val="203353"/>
              </a:buClr>
              <a:defRPr/>
            </a:pPr>
            <a:endParaRPr lang="en-US" sz="1500" dirty="0">
              <a:solidFill>
                <a:srgbClr val="2E398A"/>
              </a:solidFill>
            </a:endParaRPr>
          </a:p>
        </p:txBody>
      </p:sp>
      <p:pic>
        <p:nvPicPr>
          <p:cNvPr id="6147" name="Picture 3" descr="space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0"/>
            <a:ext cx="9525" cy="9525"/>
          </a:xfrm>
          <a:prstGeom prst="rect">
            <a:avLst/>
          </a:prstGeom>
          <a:noFill/>
          <a:extLst>
            <a:ext uri="{909E8E84-426E-40DD-AFC4-6F175D3DCCD1}">
              <a14:hiddenFill xmlns:a14="http://schemas.microsoft.com/office/drawing/2010/main">
                <a:solidFill>
                  <a:srgbClr val="FFFFFF"/>
                </a:solidFill>
              </a14:hiddenFill>
            </a:ext>
          </a:extLst>
        </p:spPr>
      </p:pic>
      <p:pic>
        <p:nvPicPr>
          <p:cNvPr id="6149" name="Picture 5" descr="space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0"/>
            <a:ext cx="9525" cy="9525"/>
          </a:xfrm>
          <a:prstGeom prst="rect">
            <a:avLst/>
          </a:prstGeom>
          <a:noFill/>
          <a:extLst>
            <a:ext uri="{909E8E84-426E-40DD-AFC4-6F175D3DCCD1}">
              <a14:hiddenFill xmlns:a14="http://schemas.microsoft.com/office/drawing/2010/main">
                <a:solidFill>
                  <a:srgbClr val="FFFFFF"/>
                </a:solidFill>
              </a14:hiddenFill>
            </a:ext>
          </a:extLst>
        </p:spPr>
      </p:pic>
      <p:pic>
        <p:nvPicPr>
          <p:cNvPr id="6151" name="Picture 7" descr="space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0"/>
            <a:ext cx="9525" cy="9525"/>
          </a:xfrm>
          <a:prstGeom prst="rect">
            <a:avLst/>
          </a:prstGeom>
          <a:noFill/>
          <a:extLst>
            <a:ext uri="{909E8E84-426E-40DD-AFC4-6F175D3DCCD1}">
              <a14:hiddenFill xmlns:a14="http://schemas.microsoft.com/office/drawing/2010/main">
                <a:solidFill>
                  <a:srgbClr val="FFFFFF"/>
                </a:solidFill>
              </a14:hiddenFill>
            </a:ext>
          </a:extLst>
        </p:spPr>
      </p:pic>
      <p:pic>
        <p:nvPicPr>
          <p:cNvPr id="6153" name="Picture 9" descr="space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0"/>
            <a:ext cx="9525" cy="9525"/>
          </a:xfrm>
          <a:prstGeom prst="rect">
            <a:avLst/>
          </a:prstGeom>
          <a:noFill/>
          <a:extLst>
            <a:ext uri="{909E8E84-426E-40DD-AFC4-6F175D3DCCD1}">
              <a14:hiddenFill xmlns:a14="http://schemas.microsoft.com/office/drawing/2010/main">
                <a:solidFill>
                  <a:srgbClr val="FFFFFF"/>
                </a:solidFill>
              </a14:hiddenFill>
            </a:ext>
          </a:extLst>
        </p:spPr>
      </p:pic>
      <p:pic>
        <p:nvPicPr>
          <p:cNvPr id="6160" name="Picture 16" descr="space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0"/>
            <a:ext cx="9525" cy="9525"/>
          </a:xfrm>
          <a:prstGeom prst="rect">
            <a:avLst/>
          </a:prstGeom>
          <a:noFill/>
          <a:extLst>
            <a:ext uri="{909E8E84-426E-40DD-AFC4-6F175D3DCCD1}">
              <a14:hiddenFill xmlns:a14="http://schemas.microsoft.com/office/drawing/2010/main">
                <a:solidFill>
                  <a:srgbClr val="FFFFFF"/>
                </a:solidFill>
              </a14:hiddenFill>
            </a:ext>
          </a:extLst>
        </p:spPr>
      </p:pic>
      <p:pic>
        <p:nvPicPr>
          <p:cNvPr id="6162" name="Picture 18" descr="space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0"/>
            <a:ext cx="9525" cy="9525"/>
          </a:xfrm>
          <a:prstGeom prst="rect">
            <a:avLst/>
          </a:prstGeom>
          <a:noFill/>
          <a:extLst>
            <a:ext uri="{909E8E84-426E-40DD-AFC4-6F175D3DCCD1}">
              <a14:hiddenFill xmlns:a14="http://schemas.microsoft.com/office/drawing/2010/main">
                <a:solidFill>
                  <a:srgbClr val="FFFFFF"/>
                </a:solidFill>
              </a14:hiddenFill>
            </a:ext>
          </a:extLst>
        </p:spPr>
      </p:pic>
      <p:pic>
        <p:nvPicPr>
          <p:cNvPr id="6164" name="Picture 20" descr="space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0"/>
            <a:ext cx="9525" cy="9525"/>
          </a:xfrm>
          <a:prstGeom prst="rect">
            <a:avLst/>
          </a:prstGeom>
          <a:noFill/>
          <a:extLst>
            <a:ext uri="{909E8E84-426E-40DD-AFC4-6F175D3DCCD1}">
              <a14:hiddenFill xmlns:a14="http://schemas.microsoft.com/office/drawing/2010/main">
                <a:solidFill>
                  <a:srgbClr val="FFFFFF"/>
                </a:solidFill>
              </a14:hiddenFill>
            </a:ext>
          </a:extLst>
        </p:spPr>
      </p:pic>
      <p:pic>
        <p:nvPicPr>
          <p:cNvPr id="6166" name="Picture 22" descr="space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0"/>
            <a:ext cx="9525" cy="9525"/>
          </a:xfrm>
          <a:prstGeom prst="rect">
            <a:avLst/>
          </a:prstGeom>
          <a:noFill/>
          <a:extLst>
            <a:ext uri="{909E8E84-426E-40DD-AFC4-6F175D3DCCD1}">
              <a14:hiddenFill xmlns:a14="http://schemas.microsoft.com/office/drawing/2010/main">
                <a:solidFill>
                  <a:srgbClr val="FFFFFF"/>
                </a:solidFill>
              </a14:hiddenFill>
            </a:ext>
          </a:extLst>
        </p:spPr>
      </p:pic>
      <p:sp>
        <p:nvSpPr>
          <p:cNvPr id="15" name="Rectangle 14"/>
          <p:cNvSpPr/>
          <p:nvPr/>
        </p:nvSpPr>
        <p:spPr>
          <a:xfrm>
            <a:off x="2472699" y="1266192"/>
            <a:ext cx="7223761" cy="640079"/>
          </a:xfrm>
          <a:prstGeom prst="rect">
            <a:avLst/>
          </a:prstGeom>
          <a:solidFill>
            <a:srgbClr val="203353"/>
          </a:solidFill>
          <a:ln>
            <a:noFill/>
          </a:ln>
        </p:spPr>
        <p:style>
          <a:lnRef idx="2">
            <a:schemeClr val="accent1">
              <a:shade val="50000"/>
            </a:schemeClr>
          </a:lnRef>
          <a:fillRef idx="1">
            <a:schemeClr val="accent1"/>
          </a:fillRef>
          <a:effectRef idx="0">
            <a:schemeClr val="accent1"/>
          </a:effectRef>
          <a:fontRef idx="minor">
            <a:schemeClr val="lt1"/>
          </a:fontRef>
        </p:style>
        <p:txBody>
          <a:bodyPr lIns="50894" tIns="50894" rIns="101787" bIns="50894" rtlCol="0" anchor="ctr"/>
          <a:lstStyle/>
          <a:p>
            <a:pPr algn="ctr" defTabSz="914400" fontAlgn="base">
              <a:spcBef>
                <a:spcPct val="0"/>
              </a:spcBef>
              <a:spcAft>
                <a:spcPct val="0"/>
              </a:spcAft>
            </a:pPr>
            <a:r>
              <a:rPr lang="en-US" sz="1300" dirty="0" smtClean="0">
                <a:solidFill>
                  <a:srgbClr val="FFFFFF"/>
                </a:solidFill>
              </a:rPr>
              <a:t>LEVERAGE, REPO AND LIQUIDITY</a:t>
            </a:r>
          </a:p>
        </p:txBody>
      </p:sp>
      <p:pic>
        <p:nvPicPr>
          <p:cNvPr id="2053" name="Picture 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594993" y="2209800"/>
            <a:ext cx="7101467" cy="3943466"/>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18" name="TextBox 17"/>
          <p:cNvSpPr txBox="1"/>
          <p:nvPr/>
        </p:nvSpPr>
        <p:spPr>
          <a:xfrm>
            <a:off x="2472698" y="6939687"/>
            <a:ext cx="4690102" cy="230832"/>
          </a:xfrm>
          <a:prstGeom prst="rect">
            <a:avLst/>
          </a:prstGeom>
          <a:noFill/>
        </p:spPr>
        <p:txBody>
          <a:bodyPr wrap="square" rtlCol="0">
            <a:spAutoFit/>
          </a:bodyPr>
          <a:lstStyle/>
          <a:p>
            <a:r>
              <a:rPr lang="en-US" sz="900" i="1" dirty="0" smtClean="0">
                <a:latin typeface="Calibri" panose="020F0502020204030204" pitchFamily="34" charset="0"/>
              </a:rPr>
              <a:t>Source: </a:t>
            </a:r>
            <a:r>
              <a:rPr lang="en-US" sz="900" i="1" dirty="0">
                <a:latin typeface="Calibri" panose="020F0502020204030204" pitchFamily="34" charset="0"/>
              </a:rPr>
              <a:t> </a:t>
            </a:r>
            <a:r>
              <a:rPr lang="en-US" sz="900" i="1" dirty="0" smtClean="0">
                <a:latin typeface="Calibri" panose="020F0502020204030204" pitchFamily="34" charset="0"/>
              </a:rPr>
              <a:t>“When agents lose their principals”, Matt King, </a:t>
            </a:r>
            <a:r>
              <a:rPr lang="en-US" sz="900" i="1" dirty="0" err="1" smtClean="0">
                <a:latin typeface="Calibri" panose="020F0502020204030204" pitchFamily="34" charset="0"/>
              </a:rPr>
              <a:t>CitiResearch</a:t>
            </a:r>
            <a:r>
              <a:rPr lang="en-US" sz="900" i="1" dirty="0" smtClean="0">
                <a:latin typeface="Calibri" panose="020F0502020204030204" pitchFamily="34" charset="0"/>
              </a:rPr>
              <a:t>.</a:t>
            </a:r>
            <a:endParaRPr lang="en-US" sz="900" i="1" dirty="0">
              <a:latin typeface="Calibri" panose="020F0502020204030204" pitchFamily="34" charset="0"/>
            </a:endParaRPr>
          </a:p>
        </p:txBody>
      </p:sp>
    </p:spTree>
    <p:extLst>
      <p:ext uri="{BB962C8B-B14F-4D97-AF65-F5344CB8AC3E}">
        <p14:creationId xmlns:p14="http://schemas.microsoft.com/office/powerpoint/2010/main" val="50837518"/>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THE ONGOING EVOLUTION OF </a:t>
            </a:r>
            <a:r>
              <a:rPr lang="en-US" dirty="0" smtClean="0"/>
              <a:t>REPO </a:t>
            </a:r>
            <a:endParaRPr lang="en-US" dirty="0"/>
          </a:p>
        </p:txBody>
      </p:sp>
      <p:grpSp>
        <p:nvGrpSpPr>
          <p:cNvPr id="63" name="Group 62"/>
          <p:cNvGrpSpPr/>
          <p:nvPr/>
        </p:nvGrpSpPr>
        <p:grpSpPr>
          <a:xfrm>
            <a:off x="3892550" y="1143000"/>
            <a:ext cx="5867400" cy="584200"/>
            <a:chOff x="1473287" y="1339393"/>
            <a:chExt cx="8353600" cy="584200"/>
          </a:xfrm>
        </p:grpSpPr>
        <p:sp>
          <p:nvSpPr>
            <p:cNvPr id="64" name="AutoShape 32"/>
            <p:cNvSpPr>
              <a:spLocks noChangeArrowheads="1"/>
            </p:cNvSpPr>
            <p:nvPr/>
          </p:nvSpPr>
          <p:spPr bwMode="gray">
            <a:xfrm>
              <a:off x="1473287" y="1339393"/>
              <a:ext cx="2206800" cy="584200"/>
            </a:xfrm>
            <a:prstGeom prst="chevron">
              <a:avLst>
                <a:gd name="adj" fmla="val 34952"/>
              </a:avLst>
            </a:prstGeom>
            <a:solidFill>
              <a:schemeClr val="bg2">
                <a:lumMod val="75000"/>
              </a:schemeClr>
            </a:solidFill>
            <a:ln w="12700" cap="rnd" algn="ctr">
              <a:solidFill>
                <a:schemeClr val="bg1"/>
              </a:solidFill>
              <a:miter lim="800000"/>
              <a:headEnd/>
              <a:tailEnd/>
            </a:ln>
          </p:spPr>
          <p:txBody>
            <a:bodyPr lIns="36000" tIns="36000" rIns="36000" bIns="36000" anchor="ctr" anchorCtr="1"/>
            <a:lstStyle/>
            <a:p>
              <a:pPr algn="ctr">
                <a:lnSpc>
                  <a:spcPct val="106000"/>
                </a:lnSpc>
                <a:defRPr/>
              </a:pPr>
              <a:r>
                <a:rPr lang="en-US" altLang="zh-CN" sz="1100" b="1" dirty="0" smtClean="0">
                  <a:solidFill>
                    <a:schemeClr val="bg1"/>
                  </a:solidFill>
                  <a:latin typeface="Arial Unicode MS" pitchFamily="34" charset="-122"/>
                  <a:ea typeface="Arial Unicode MS" pitchFamily="34" charset="-122"/>
                  <a:cs typeface="Arial Unicode MS" pitchFamily="34" charset="-122"/>
                </a:rPr>
                <a:t>Bilateral</a:t>
              </a:r>
            </a:p>
            <a:p>
              <a:pPr algn="ctr">
                <a:lnSpc>
                  <a:spcPct val="106000"/>
                </a:lnSpc>
                <a:defRPr/>
              </a:pPr>
              <a:r>
                <a:rPr lang="en-US" sz="1100" b="1" dirty="0" smtClean="0">
                  <a:solidFill>
                    <a:schemeClr val="bg1"/>
                  </a:solidFill>
                  <a:latin typeface="Arial Unicode MS" pitchFamily="34" charset="-122"/>
                  <a:ea typeface="Arial Unicode MS" pitchFamily="34" charset="-122"/>
                  <a:cs typeface="Arial Unicode MS" pitchFamily="34" charset="-122"/>
                </a:rPr>
                <a:t>Repo</a:t>
              </a:r>
              <a:endParaRPr lang="en-US" sz="1100" b="1" dirty="0">
                <a:solidFill>
                  <a:schemeClr val="bg1"/>
                </a:solidFill>
                <a:latin typeface="Arial Unicode MS" pitchFamily="34" charset="-122"/>
                <a:ea typeface="Arial Unicode MS" pitchFamily="34" charset="-122"/>
                <a:cs typeface="Arial Unicode MS" pitchFamily="34" charset="-122"/>
              </a:endParaRPr>
            </a:p>
          </p:txBody>
        </p:sp>
        <p:sp>
          <p:nvSpPr>
            <p:cNvPr id="65" name="AutoShape 33"/>
            <p:cNvSpPr>
              <a:spLocks noChangeArrowheads="1"/>
            </p:cNvSpPr>
            <p:nvPr/>
          </p:nvSpPr>
          <p:spPr bwMode="gray">
            <a:xfrm>
              <a:off x="3522220" y="1339393"/>
              <a:ext cx="2206800" cy="584200"/>
            </a:xfrm>
            <a:prstGeom prst="chevron">
              <a:avLst>
                <a:gd name="adj" fmla="val 34975"/>
              </a:avLst>
            </a:prstGeom>
            <a:solidFill>
              <a:schemeClr val="accent5"/>
            </a:solidFill>
            <a:ln w="12700" cap="rnd" algn="ctr">
              <a:solidFill>
                <a:schemeClr val="bg1"/>
              </a:solidFill>
              <a:miter lim="800000"/>
              <a:headEnd/>
              <a:tailEnd/>
            </a:ln>
          </p:spPr>
          <p:txBody>
            <a:bodyPr lIns="36000" tIns="36000" rIns="36000" bIns="36000" anchor="ctr" anchorCtr="1"/>
            <a:lstStyle/>
            <a:p>
              <a:pPr algn="ctr">
                <a:lnSpc>
                  <a:spcPct val="106000"/>
                </a:lnSpc>
                <a:defRPr/>
              </a:pPr>
              <a:r>
                <a:rPr lang="en-US" altLang="zh-CN" sz="1100" b="1" dirty="0" smtClean="0">
                  <a:solidFill>
                    <a:schemeClr val="bg1"/>
                  </a:solidFill>
                  <a:latin typeface="Arial Unicode MS" pitchFamily="34" charset="-122"/>
                  <a:ea typeface="Arial Unicode MS" pitchFamily="34" charset="-122"/>
                  <a:cs typeface="Arial Unicode MS" pitchFamily="34" charset="-122"/>
                </a:rPr>
                <a:t>Tri-party</a:t>
              </a:r>
            </a:p>
            <a:p>
              <a:pPr algn="ctr">
                <a:lnSpc>
                  <a:spcPct val="106000"/>
                </a:lnSpc>
                <a:defRPr/>
              </a:pPr>
              <a:r>
                <a:rPr lang="en-US" sz="1100" b="1" dirty="0" smtClean="0">
                  <a:solidFill>
                    <a:schemeClr val="bg1"/>
                  </a:solidFill>
                  <a:latin typeface="Arial Unicode MS" pitchFamily="34" charset="-122"/>
                  <a:ea typeface="Arial Unicode MS" pitchFamily="34" charset="-122"/>
                  <a:cs typeface="Arial Unicode MS" pitchFamily="34" charset="-122"/>
                </a:rPr>
                <a:t>Repo</a:t>
              </a:r>
              <a:endParaRPr lang="en-US" sz="1100" b="1" dirty="0">
                <a:solidFill>
                  <a:schemeClr val="bg1"/>
                </a:solidFill>
                <a:latin typeface="Arial Unicode MS" pitchFamily="34" charset="-122"/>
                <a:ea typeface="Arial Unicode MS" pitchFamily="34" charset="-122"/>
                <a:cs typeface="Arial Unicode MS" pitchFamily="34" charset="-122"/>
              </a:endParaRPr>
            </a:p>
          </p:txBody>
        </p:sp>
        <p:sp>
          <p:nvSpPr>
            <p:cNvPr id="66" name="AutoShape 34"/>
            <p:cNvSpPr>
              <a:spLocks noChangeArrowheads="1"/>
            </p:cNvSpPr>
            <p:nvPr/>
          </p:nvSpPr>
          <p:spPr bwMode="gray">
            <a:xfrm>
              <a:off x="5571153" y="1339393"/>
              <a:ext cx="2206800" cy="584200"/>
            </a:xfrm>
            <a:prstGeom prst="chevron">
              <a:avLst>
                <a:gd name="adj" fmla="val 34975"/>
              </a:avLst>
            </a:prstGeom>
            <a:solidFill>
              <a:schemeClr val="accent2"/>
            </a:solidFill>
            <a:ln w="12700" cap="rnd" algn="ctr">
              <a:solidFill>
                <a:schemeClr val="bg1"/>
              </a:solidFill>
              <a:miter lim="800000"/>
              <a:headEnd/>
              <a:tailEnd/>
            </a:ln>
          </p:spPr>
          <p:txBody>
            <a:bodyPr lIns="36000" tIns="36000" rIns="36000" bIns="36000" anchor="ctr" anchorCtr="1"/>
            <a:lstStyle/>
            <a:p>
              <a:pPr>
                <a:lnSpc>
                  <a:spcPct val="106000"/>
                </a:lnSpc>
                <a:defRPr/>
              </a:pPr>
              <a:r>
                <a:rPr lang="en-US" sz="1100" b="1" dirty="0" smtClean="0">
                  <a:solidFill>
                    <a:schemeClr val="bg1"/>
                  </a:solidFill>
                  <a:latin typeface="Arial Unicode MS" pitchFamily="34" charset="-122"/>
                  <a:ea typeface="Arial Unicode MS" pitchFamily="34" charset="-122"/>
                  <a:cs typeface="Arial Unicode MS" pitchFamily="34" charset="-122"/>
                </a:rPr>
                <a:t>Clearing</a:t>
              </a:r>
            </a:p>
            <a:p>
              <a:pPr>
                <a:lnSpc>
                  <a:spcPct val="106000"/>
                </a:lnSpc>
                <a:defRPr/>
              </a:pPr>
              <a:r>
                <a:rPr lang="en-US" sz="1100" b="1" dirty="0" smtClean="0">
                  <a:solidFill>
                    <a:schemeClr val="bg1"/>
                  </a:solidFill>
                  <a:latin typeface="Arial Unicode MS" pitchFamily="34" charset="-122"/>
                  <a:ea typeface="Arial Unicode MS" pitchFamily="34" charset="-122"/>
                  <a:cs typeface="Arial Unicode MS" pitchFamily="34" charset="-122"/>
                </a:rPr>
                <a:t>House Lite</a:t>
              </a:r>
              <a:endParaRPr lang="en-US" sz="1100" b="1" dirty="0">
                <a:solidFill>
                  <a:schemeClr val="bg1"/>
                </a:solidFill>
                <a:latin typeface="Arial Unicode MS" pitchFamily="34" charset="-122"/>
                <a:ea typeface="Arial Unicode MS" pitchFamily="34" charset="-122"/>
                <a:cs typeface="Arial Unicode MS" pitchFamily="34" charset="-122"/>
              </a:endParaRPr>
            </a:p>
          </p:txBody>
        </p:sp>
        <p:sp>
          <p:nvSpPr>
            <p:cNvPr id="67" name="AutoShape 35"/>
            <p:cNvSpPr>
              <a:spLocks noChangeArrowheads="1"/>
            </p:cNvSpPr>
            <p:nvPr/>
          </p:nvSpPr>
          <p:spPr bwMode="gray">
            <a:xfrm>
              <a:off x="7620087" y="1339393"/>
              <a:ext cx="2206800" cy="584200"/>
            </a:xfrm>
            <a:prstGeom prst="chevron">
              <a:avLst>
                <a:gd name="adj" fmla="val 34975"/>
              </a:avLst>
            </a:prstGeom>
            <a:solidFill>
              <a:schemeClr val="accent1"/>
            </a:solidFill>
            <a:ln w="12700" cap="rnd" algn="ctr">
              <a:solidFill>
                <a:schemeClr val="bg1"/>
              </a:solidFill>
              <a:miter lim="800000"/>
              <a:headEnd/>
              <a:tailEnd/>
            </a:ln>
          </p:spPr>
          <p:txBody>
            <a:bodyPr lIns="36000" tIns="36000" rIns="36000" bIns="36000" anchor="ctr" anchorCtr="1"/>
            <a:lstStyle/>
            <a:p>
              <a:pPr>
                <a:lnSpc>
                  <a:spcPct val="106000"/>
                </a:lnSpc>
                <a:defRPr/>
              </a:pPr>
              <a:r>
                <a:rPr lang="en-US" altLang="zh-CN" sz="1100" b="1" dirty="0" smtClean="0">
                  <a:solidFill>
                    <a:schemeClr val="bg1"/>
                  </a:solidFill>
                  <a:latin typeface="Arial Unicode MS" pitchFamily="34" charset="-122"/>
                  <a:ea typeface="Arial Unicode MS" pitchFamily="34" charset="-122"/>
                  <a:cs typeface="Arial Unicode MS" pitchFamily="34" charset="-122"/>
                </a:rPr>
                <a:t>Centrally</a:t>
              </a:r>
            </a:p>
            <a:p>
              <a:pPr>
                <a:lnSpc>
                  <a:spcPct val="106000"/>
                </a:lnSpc>
                <a:defRPr/>
              </a:pPr>
              <a:r>
                <a:rPr lang="en-US" sz="1100" b="1" dirty="0" smtClean="0">
                  <a:solidFill>
                    <a:schemeClr val="bg1"/>
                  </a:solidFill>
                  <a:latin typeface="Arial Unicode MS" pitchFamily="34" charset="-122"/>
                  <a:ea typeface="Arial Unicode MS" pitchFamily="34" charset="-122"/>
                  <a:cs typeface="Arial Unicode MS" pitchFamily="34" charset="-122"/>
                </a:rPr>
                <a:t>Cleared Repo</a:t>
              </a:r>
              <a:endParaRPr lang="en-US" sz="1100" b="1" dirty="0">
                <a:solidFill>
                  <a:schemeClr val="bg1"/>
                </a:solidFill>
                <a:latin typeface="Arial Unicode MS" pitchFamily="34" charset="-122"/>
                <a:ea typeface="Arial Unicode MS" pitchFamily="34" charset="-122"/>
                <a:cs typeface="Arial Unicode MS" pitchFamily="34" charset="-122"/>
              </a:endParaRPr>
            </a:p>
          </p:txBody>
        </p:sp>
      </p:grpSp>
      <p:graphicFrame>
        <p:nvGraphicFramePr>
          <p:cNvPr id="68" name="Table 67"/>
          <p:cNvGraphicFramePr>
            <a:graphicFrameLocks noGrp="1"/>
          </p:cNvGraphicFramePr>
          <p:nvPr>
            <p:extLst>
              <p:ext uri="{D42A27DB-BD31-4B8C-83A1-F6EECF244321}">
                <p14:modId xmlns:p14="http://schemas.microsoft.com/office/powerpoint/2010/main" val="4017831818"/>
              </p:ext>
            </p:extLst>
          </p:nvPr>
        </p:nvGraphicFramePr>
        <p:xfrm>
          <a:off x="2514600" y="1784807"/>
          <a:ext cx="7086600" cy="4876800"/>
        </p:xfrm>
        <a:graphic>
          <a:graphicData uri="http://schemas.openxmlformats.org/drawingml/2006/table">
            <a:tbl>
              <a:tblPr>
                <a:tableStyleId>{2D5ABB26-0587-4C30-8999-92F81FD0307C}</a:tableStyleId>
              </a:tblPr>
              <a:tblGrid>
                <a:gridCol w="1417320"/>
                <a:gridCol w="1417320"/>
                <a:gridCol w="1417320"/>
                <a:gridCol w="1417320"/>
                <a:gridCol w="1417320"/>
              </a:tblGrid>
              <a:tr h="609600">
                <a:tc>
                  <a:txBody>
                    <a:bodyPr/>
                    <a:lstStyle/>
                    <a:p>
                      <a:r>
                        <a:rPr lang="en-US" sz="1050" b="1" dirty="0" smtClean="0">
                          <a:solidFill>
                            <a:schemeClr val="bg1"/>
                          </a:solidFill>
                        </a:rPr>
                        <a:t>Documentation</a:t>
                      </a:r>
                      <a:endParaRPr lang="en-US" sz="1050" b="1" dirty="0">
                        <a:solidFill>
                          <a:schemeClr val="bg1"/>
                        </a:solidFill>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3"/>
                    </a:solidFill>
                  </a:tcPr>
                </a:tc>
                <a:tc>
                  <a:txBody>
                    <a:bodyPr/>
                    <a:lstStyle/>
                    <a:p>
                      <a:pPr marL="171450" indent="-171450">
                        <a:buFontTx/>
                        <a:buChar char="-"/>
                        <a:tabLst/>
                      </a:pPr>
                      <a:r>
                        <a:rPr lang="en-US" sz="800" dirty="0" smtClean="0"/>
                        <a:t>Individual GMRAs</a:t>
                      </a:r>
                    </a:p>
                  </a:txBody>
                  <a:tcPr marL="45720" marR="4572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2">
                        <a:lumMod val="90000"/>
                      </a:schemeClr>
                    </a:solidFill>
                  </a:tcPr>
                </a:tc>
                <a:tc>
                  <a:txBody>
                    <a:bodyPr/>
                    <a:lstStyle/>
                    <a:p>
                      <a:pPr marL="171450" indent="-171450">
                        <a:buFontTx/>
                        <a:buChar char="-"/>
                      </a:pPr>
                      <a:r>
                        <a:rPr lang="en-US" sz="800" dirty="0" smtClean="0"/>
                        <a:t>GMRAs and CRMAs</a:t>
                      </a:r>
                    </a:p>
                    <a:p>
                      <a:pPr marL="171450" indent="-171450">
                        <a:buFontTx/>
                        <a:buChar char="-"/>
                      </a:pPr>
                      <a:r>
                        <a:rPr lang="en-US" sz="800" dirty="0" smtClean="0"/>
                        <a:t>Clearing</a:t>
                      </a:r>
                      <a:r>
                        <a:rPr lang="en-US" sz="800" baseline="0" dirty="0" smtClean="0"/>
                        <a:t> bank agreements</a:t>
                      </a:r>
                      <a:endParaRPr lang="en-US" sz="800" dirty="0"/>
                    </a:p>
                  </a:txBody>
                  <a:tcPr marL="45720" marR="4572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5">
                        <a:lumMod val="40000"/>
                        <a:lumOff val="60000"/>
                      </a:schemeClr>
                    </a:solidFill>
                  </a:tcPr>
                </a:tc>
                <a:tc>
                  <a:txBody>
                    <a:bodyPr/>
                    <a:lstStyle/>
                    <a:p>
                      <a:pPr marL="171450" indent="-171450">
                        <a:buFontTx/>
                        <a:buChar char="-"/>
                      </a:pPr>
                      <a:r>
                        <a:rPr lang="en-US" sz="800" dirty="0" smtClean="0"/>
                        <a:t>GRMAs, clearing bank agreements</a:t>
                      </a:r>
                    </a:p>
                    <a:p>
                      <a:pPr marL="171450" indent="-171450">
                        <a:buFontTx/>
                        <a:buChar char="-"/>
                      </a:pPr>
                      <a:r>
                        <a:rPr lang="en-US" sz="800" dirty="0" smtClean="0"/>
                        <a:t>Membership agreements</a:t>
                      </a:r>
                      <a:endParaRPr lang="en-US" sz="800" dirty="0"/>
                    </a:p>
                  </a:txBody>
                  <a:tcPr marL="45720" marR="4572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2">
                        <a:lumMod val="20000"/>
                        <a:lumOff val="80000"/>
                      </a:schemeClr>
                    </a:solidFill>
                  </a:tcPr>
                </a:tc>
                <a:tc>
                  <a:txBody>
                    <a:bodyPr/>
                    <a:lstStyle/>
                    <a:p>
                      <a:pPr marL="171450" indent="-171450">
                        <a:buFontTx/>
                        <a:buChar char="-"/>
                      </a:pPr>
                      <a:r>
                        <a:rPr lang="en-US" sz="800" dirty="0" smtClean="0"/>
                        <a:t>Clearing</a:t>
                      </a:r>
                      <a:r>
                        <a:rPr lang="en-US" sz="800" baseline="0" dirty="0" smtClean="0"/>
                        <a:t> house rules</a:t>
                      </a:r>
                    </a:p>
                    <a:p>
                      <a:pPr marL="171450" indent="-171450">
                        <a:buFontTx/>
                        <a:buChar char="-"/>
                      </a:pPr>
                      <a:r>
                        <a:rPr lang="en-US" sz="800" baseline="0" dirty="0" smtClean="0"/>
                        <a:t>CPP membership agreements</a:t>
                      </a:r>
                      <a:endParaRPr lang="en-US" sz="800" dirty="0"/>
                    </a:p>
                  </a:txBody>
                  <a:tcPr marL="45720" marR="4572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2">
                        <a:lumMod val="20000"/>
                        <a:lumOff val="80000"/>
                      </a:schemeClr>
                    </a:solidFill>
                  </a:tcPr>
                </a:tc>
              </a:tr>
              <a:tr h="609600">
                <a:tc>
                  <a:txBody>
                    <a:bodyPr/>
                    <a:lstStyle/>
                    <a:p>
                      <a:r>
                        <a:rPr lang="en-US" sz="1050" b="1" dirty="0" smtClean="0">
                          <a:solidFill>
                            <a:schemeClr val="bg1"/>
                          </a:solidFill>
                        </a:rPr>
                        <a:t>Trade Execution</a:t>
                      </a:r>
                      <a:endParaRPr lang="en-US" sz="1050" b="1" dirty="0">
                        <a:solidFill>
                          <a:schemeClr val="bg1"/>
                        </a:solidFill>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3"/>
                    </a:solidFill>
                  </a:tcPr>
                </a:tc>
                <a:tc gridSpan="2">
                  <a:txBody>
                    <a:bodyPr/>
                    <a:lstStyle/>
                    <a:p>
                      <a:pPr marL="171450" indent="-171450">
                        <a:buFontTx/>
                        <a:buChar char="-"/>
                      </a:pPr>
                      <a:r>
                        <a:rPr lang="en-US" sz="800" dirty="0" smtClean="0"/>
                        <a:t>Collateral</a:t>
                      </a:r>
                      <a:r>
                        <a:rPr lang="en-US" sz="800" baseline="0" dirty="0" smtClean="0"/>
                        <a:t> eligibility defined by cash lender</a:t>
                      </a:r>
                    </a:p>
                    <a:p>
                      <a:pPr marL="171450" indent="-171450">
                        <a:buFontTx/>
                        <a:buChar char="-"/>
                      </a:pPr>
                      <a:r>
                        <a:rPr lang="en-US" sz="800" dirty="0" smtClean="0"/>
                        <a:t>Trade details: repo term,</a:t>
                      </a:r>
                      <a:r>
                        <a:rPr lang="en-US" sz="800" baseline="0" dirty="0" smtClean="0"/>
                        <a:t> haircut, and interest charged</a:t>
                      </a:r>
                      <a:endParaRPr lang="en-US" sz="800" dirty="0"/>
                    </a:p>
                  </a:txBody>
                  <a:tcPr marL="45720" marR="4572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2">
                        <a:lumMod val="75000"/>
                      </a:schemeClr>
                    </a:solidFill>
                  </a:tcPr>
                </a:tc>
                <a:tc hMerge="1">
                  <a:txBody>
                    <a:bodyPr/>
                    <a:lstStyle/>
                    <a:p>
                      <a:endParaRPr lang="en-US" sz="1050"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5">
                        <a:lumMod val="40000"/>
                        <a:lumOff val="60000"/>
                      </a:schemeClr>
                    </a:solidFill>
                  </a:tcPr>
                </a:tc>
                <a:tc>
                  <a:txBody>
                    <a:bodyPr/>
                    <a:lstStyle/>
                    <a:p>
                      <a:pPr marL="171450" indent="-171450">
                        <a:buFontTx/>
                        <a:buChar char="-"/>
                      </a:pPr>
                      <a:r>
                        <a:rPr lang="en-US" sz="800" dirty="0" smtClean="0"/>
                        <a:t>Anonymous counterparty</a:t>
                      </a:r>
                    </a:p>
                    <a:p>
                      <a:pPr marL="171450" indent="-171450">
                        <a:buFontTx/>
                        <a:buChar char="-"/>
                      </a:pPr>
                      <a:r>
                        <a:rPr lang="en-US" sz="800" dirty="0" smtClean="0"/>
                        <a:t>Repo term and interest determined by cash investor</a:t>
                      </a:r>
                      <a:endParaRPr lang="en-US" sz="800" dirty="0"/>
                    </a:p>
                  </a:txBody>
                  <a:tcPr marL="45720" marR="4572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2">
                        <a:lumMod val="20000"/>
                        <a:lumOff val="80000"/>
                      </a:schemeClr>
                    </a:solidFill>
                  </a:tcPr>
                </a:tc>
                <a:tc>
                  <a:txBody>
                    <a:bodyPr/>
                    <a:lstStyle/>
                    <a:p>
                      <a:pPr marL="171450" indent="-171450">
                        <a:buFontTx/>
                        <a:buChar char="-"/>
                      </a:pPr>
                      <a:r>
                        <a:rPr lang="en-US" sz="800" dirty="0" smtClean="0"/>
                        <a:t>OTC</a:t>
                      </a:r>
                      <a:r>
                        <a:rPr lang="en-US" sz="800" baseline="0" dirty="0" smtClean="0"/>
                        <a:t> platform</a:t>
                      </a:r>
                    </a:p>
                    <a:p>
                      <a:pPr marL="171450" indent="-171450">
                        <a:buFontTx/>
                        <a:buChar char="-"/>
                      </a:pPr>
                      <a:r>
                        <a:rPr lang="en-US" sz="800" baseline="0" dirty="0" smtClean="0"/>
                        <a:t>Determined by counterparties (e.g., tenor of trade)</a:t>
                      </a:r>
                      <a:endParaRPr lang="en-US" sz="800" dirty="0"/>
                    </a:p>
                  </a:txBody>
                  <a:tcPr marL="45720" marR="4572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2">
                        <a:lumMod val="20000"/>
                        <a:lumOff val="80000"/>
                      </a:schemeClr>
                    </a:solidFill>
                  </a:tcPr>
                </a:tc>
              </a:tr>
              <a:tr h="609600">
                <a:tc>
                  <a:txBody>
                    <a:bodyPr/>
                    <a:lstStyle/>
                    <a:p>
                      <a:r>
                        <a:rPr lang="en-US" sz="1050" b="1" dirty="0" smtClean="0">
                          <a:solidFill>
                            <a:schemeClr val="bg1"/>
                          </a:solidFill>
                        </a:rPr>
                        <a:t>Trade Confirmation</a:t>
                      </a:r>
                      <a:endParaRPr lang="en-US" sz="1050" b="1" dirty="0">
                        <a:solidFill>
                          <a:schemeClr val="bg1"/>
                        </a:solidFill>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3"/>
                    </a:solidFill>
                  </a:tcPr>
                </a:tc>
                <a:tc>
                  <a:txBody>
                    <a:bodyPr/>
                    <a:lstStyle/>
                    <a:p>
                      <a:pPr marL="171450" indent="-171450">
                        <a:buFontTx/>
                        <a:buChar char="-"/>
                      </a:pPr>
                      <a:r>
                        <a:rPr lang="en-US" sz="800" dirty="0" smtClean="0"/>
                        <a:t>Back offices confirm to cash</a:t>
                      </a:r>
                      <a:r>
                        <a:rPr lang="en-US" sz="800" baseline="0" dirty="0" smtClean="0"/>
                        <a:t> and collateral providers</a:t>
                      </a:r>
                    </a:p>
                  </a:txBody>
                  <a:tcPr marL="45720" marR="4572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2">
                        <a:lumMod val="90000"/>
                      </a:schemeClr>
                    </a:solidFill>
                  </a:tcPr>
                </a:tc>
                <a:tc gridSpan="3">
                  <a:txBody>
                    <a:bodyPr/>
                    <a:lstStyle/>
                    <a:p>
                      <a:pPr marL="171450" indent="-171450">
                        <a:buFontTx/>
                        <a:buChar char="-"/>
                      </a:pPr>
                      <a:r>
                        <a:rPr lang="en-US" sz="800" dirty="0" smtClean="0"/>
                        <a:t>Three-way</a:t>
                      </a:r>
                      <a:r>
                        <a:rPr lang="en-US" sz="800" baseline="0" dirty="0" smtClean="0"/>
                        <a:t> deal matching</a:t>
                      </a:r>
                    </a:p>
                  </a:txBody>
                  <a:tcPr marL="45720" marR="4572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5">
                        <a:lumMod val="60000"/>
                        <a:lumOff val="40000"/>
                      </a:schemeClr>
                    </a:solidFill>
                  </a:tcPr>
                </a:tc>
                <a:tc hMerge="1">
                  <a:txBody>
                    <a:bodyPr/>
                    <a:lstStyle/>
                    <a:p>
                      <a:endParaRPr lang="en-US" sz="900"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2">
                        <a:lumMod val="20000"/>
                        <a:lumOff val="80000"/>
                      </a:schemeClr>
                    </a:solidFill>
                  </a:tcPr>
                </a:tc>
                <a:tc hMerge="1">
                  <a:txBody>
                    <a:bodyPr/>
                    <a:lstStyle/>
                    <a:p>
                      <a:endParaRPr lang="en-US" sz="900"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2">
                        <a:lumMod val="20000"/>
                        <a:lumOff val="80000"/>
                      </a:schemeClr>
                    </a:solidFill>
                  </a:tcPr>
                </a:tc>
              </a:tr>
              <a:tr h="609600">
                <a:tc>
                  <a:txBody>
                    <a:bodyPr/>
                    <a:lstStyle/>
                    <a:p>
                      <a:r>
                        <a:rPr lang="en-US" sz="1050" b="1" dirty="0" smtClean="0">
                          <a:solidFill>
                            <a:schemeClr val="bg1"/>
                          </a:solidFill>
                        </a:rPr>
                        <a:t>Collateral</a:t>
                      </a:r>
                      <a:r>
                        <a:rPr lang="en-US" sz="1050" b="1" baseline="0" dirty="0" smtClean="0">
                          <a:solidFill>
                            <a:schemeClr val="bg1"/>
                          </a:solidFill>
                        </a:rPr>
                        <a:t> Management</a:t>
                      </a:r>
                      <a:endParaRPr lang="en-US" sz="1050" b="1" dirty="0">
                        <a:solidFill>
                          <a:schemeClr val="bg1"/>
                        </a:solidFill>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3"/>
                    </a:solidFill>
                  </a:tcPr>
                </a:tc>
                <a:tc>
                  <a:txBody>
                    <a:bodyPr/>
                    <a:lstStyle/>
                    <a:p>
                      <a:pPr marL="171450" indent="-171450">
                        <a:buFontTx/>
                        <a:buChar char="-"/>
                      </a:pPr>
                      <a:r>
                        <a:rPr lang="en-US" sz="800" dirty="0" smtClean="0"/>
                        <a:t>Substitution</a:t>
                      </a:r>
                      <a:r>
                        <a:rPr lang="en-US" sz="800" baseline="0" dirty="0" smtClean="0"/>
                        <a:t> is allowed but cumbersome</a:t>
                      </a:r>
                    </a:p>
                  </a:txBody>
                  <a:tcPr marL="45720" marR="4572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2">
                        <a:lumMod val="90000"/>
                      </a:schemeClr>
                    </a:solidFill>
                  </a:tcPr>
                </a:tc>
                <a:tc>
                  <a:txBody>
                    <a:bodyPr/>
                    <a:lstStyle/>
                    <a:p>
                      <a:pPr marL="171450" indent="-171450">
                        <a:buFontTx/>
                        <a:buChar char="-"/>
                      </a:pPr>
                      <a:r>
                        <a:rPr lang="en-US" sz="800" baseline="0" dirty="0" smtClean="0"/>
                        <a:t>Repos segregated until unwind</a:t>
                      </a:r>
                    </a:p>
                  </a:txBody>
                  <a:tcPr marL="45720" marR="4572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5">
                        <a:lumMod val="40000"/>
                        <a:lumOff val="60000"/>
                      </a:schemeClr>
                    </a:solidFill>
                  </a:tcPr>
                </a:tc>
                <a:tc>
                  <a:txBody>
                    <a:bodyPr/>
                    <a:lstStyle/>
                    <a:p>
                      <a:pPr marL="171450" indent="-171450">
                        <a:buFontTx/>
                        <a:buChar char="-"/>
                      </a:pPr>
                      <a:r>
                        <a:rPr lang="en-US" sz="800" dirty="0" smtClean="0"/>
                        <a:t>Collateral is restricted to Fed-eligible securities</a:t>
                      </a:r>
                    </a:p>
                    <a:p>
                      <a:pPr marL="171450" indent="-171450">
                        <a:buFontTx/>
                        <a:buChar char="-"/>
                      </a:pPr>
                      <a:r>
                        <a:rPr lang="en-US" sz="800" dirty="0" smtClean="0"/>
                        <a:t>Netting of collateral and cash</a:t>
                      </a:r>
                      <a:endParaRPr lang="en-US" sz="800" dirty="0"/>
                    </a:p>
                  </a:txBody>
                  <a:tcPr marL="45720" marR="4572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2">
                        <a:lumMod val="20000"/>
                        <a:lumOff val="80000"/>
                      </a:schemeClr>
                    </a:solidFill>
                  </a:tcPr>
                </a:tc>
                <a:tc>
                  <a:txBody>
                    <a:bodyPr/>
                    <a:lstStyle/>
                    <a:p>
                      <a:pPr marL="171450" indent="-171450">
                        <a:buFontTx/>
                        <a:buChar char="-"/>
                      </a:pPr>
                      <a:r>
                        <a:rPr lang="en-US" sz="800" dirty="0" smtClean="0"/>
                        <a:t>Ability</a:t>
                      </a:r>
                      <a:r>
                        <a:rPr lang="en-US" sz="800" baseline="0" dirty="0" smtClean="0"/>
                        <a:t> of the CCP to reliably price</a:t>
                      </a:r>
                    </a:p>
                    <a:p>
                      <a:pPr marL="171450" indent="-171450">
                        <a:buFontTx/>
                        <a:buChar char="-"/>
                      </a:pPr>
                      <a:r>
                        <a:rPr lang="en-US" sz="800" baseline="0" dirty="0" smtClean="0"/>
                        <a:t>Netting of collateral and cash</a:t>
                      </a:r>
                      <a:endParaRPr lang="en-US" sz="800" dirty="0"/>
                    </a:p>
                  </a:txBody>
                  <a:tcPr marL="45720" marR="4572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2">
                        <a:lumMod val="20000"/>
                        <a:lumOff val="80000"/>
                      </a:schemeClr>
                    </a:solidFill>
                  </a:tcPr>
                </a:tc>
              </a:tr>
              <a:tr h="609600">
                <a:tc>
                  <a:txBody>
                    <a:bodyPr/>
                    <a:lstStyle/>
                    <a:p>
                      <a:r>
                        <a:rPr lang="en-US" sz="1050" b="1" dirty="0" smtClean="0">
                          <a:solidFill>
                            <a:schemeClr val="bg1"/>
                          </a:solidFill>
                        </a:rPr>
                        <a:t>Clearing / Settlement</a:t>
                      </a:r>
                      <a:endParaRPr lang="en-US" sz="1050" b="1" dirty="0">
                        <a:solidFill>
                          <a:schemeClr val="bg1"/>
                        </a:solidFill>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3"/>
                    </a:solidFill>
                  </a:tcPr>
                </a:tc>
                <a:tc>
                  <a:txBody>
                    <a:bodyPr/>
                    <a:lstStyle/>
                    <a:p>
                      <a:pPr marL="171450" indent="-171450">
                        <a:buFontTx/>
                        <a:buChar char="-"/>
                      </a:pPr>
                      <a:r>
                        <a:rPr lang="en-US" sz="800" dirty="0" smtClean="0"/>
                        <a:t>Counterparties execute on a Delivery vs. Payment (</a:t>
                      </a:r>
                      <a:r>
                        <a:rPr lang="en-US" sz="800" dirty="0" err="1" smtClean="0"/>
                        <a:t>DvP</a:t>
                      </a:r>
                      <a:r>
                        <a:rPr lang="en-US" sz="800" dirty="0" smtClean="0"/>
                        <a:t>) basis</a:t>
                      </a:r>
                    </a:p>
                  </a:txBody>
                  <a:tcPr marL="45720" marR="4572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2">
                        <a:lumMod val="90000"/>
                      </a:schemeClr>
                    </a:solidFill>
                  </a:tcPr>
                </a:tc>
                <a:tc gridSpan="3">
                  <a:txBody>
                    <a:bodyPr/>
                    <a:lstStyle/>
                    <a:p>
                      <a:pPr marL="171450" indent="-171450">
                        <a:buFontTx/>
                        <a:buChar char="-"/>
                      </a:pPr>
                      <a:r>
                        <a:rPr lang="en-US" sz="800" kern="1200" dirty="0" smtClean="0">
                          <a:solidFill>
                            <a:schemeClr val="tx1"/>
                          </a:solidFill>
                          <a:latin typeface="+mn-lt"/>
                          <a:ea typeface="+mn-ea"/>
                          <a:cs typeface="+mn-cs"/>
                        </a:rPr>
                        <a:t>Clearing bank</a:t>
                      </a:r>
                      <a:r>
                        <a:rPr lang="en-US" sz="800" kern="1200" baseline="0" dirty="0" smtClean="0">
                          <a:solidFill>
                            <a:schemeClr val="tx1"/>
                          </a:solidFill>
                          <a:latin typeface="+mn-lt"/>
                          <a:ea typeface="+mn-ea"/>
                          <a:cs typeface="+mn-cs"/>
                        </a:rPr>
                        <a:t> segregates securities, manages the transfer of cash/collateral and unwind</a:t>
                      </a:r>
                    </a:p>
                    <a:p>
                      <a:pPr marL="171450" indent="-171450">
                        <a:buFontTx/>
                        <a:buChar char="-"/>
                      </a:pPr>
                      <a:r>
                        <a:rPr lang="en-US" sz="800" kern="1200" baseline="0" dirty="0" smtClean="0">
                          <a:solidFill>
                            <a:schemeClr val="tx1"/>
                          </a:solidFill>
                          <a:latin typeface="+mn-lt"/>
                          <a:ea typeface="+mn-ea"/>
                          <a:cs typeface="+mn-cs"/>
                        </a:rPr>
                        <a:t>Auto-substitution of collateral</a:t>
                      </a:r>
                      <a:endParaRPr lang="en-US" sz="800" kern="1200" dirty="0">
                        <a:solidFill>
                          <a:schemeClr val="tx1"/>
                        </a:solidFill>
                        <a:latin typeface="+mn-lt"/>
                        <a:ea typeface="+mn-ea"/>
                        <a:cs typeface="+mn-cs"/>
                      </a:endParaRPr>
                    </a:p>
                  </a:txBody>
                  <a:tcPr marL="45720" marR="4572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5">
                        <a:lumMod val="60000"/>
                        <a:lumOff val="40000"/>
                      </a:schemeClr>
                    </a:solidFill>
                  </a:tcPr>
                </a:tc>
                <a:tc hMerge="1">
                  <a:txBody>
                    <a:bodyPr/>
                    <a:lstStyle/>
                    <a:p>
                      <a:endParaRPr lang="en-US" sz="900" dirty="0"/>
                    </a:p>
                  </a:txBody>
                  <a:tcPr marL="45720" marR="4572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2">
                        <a:lumMod val="20000"/>
                        <a:lumOff val="80000"/>
                      </a:schemeClr>
                    </a:solidFill>
                  </a:tcPr>
                </a:tc>
                <a:tc hMerge="1">
                  <a:txBody>
                    <a:bodyPr/>
                    <a:lstStyle/>
                    <a:p>
                      <a:endParaRPr lang="en-US" sz="900" dirty="0"/>
                    </a:p>
                  </a:txBody>
                  <a:tcPr marL="45720" marR="4572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2">
                        <a:lumMod val="20000"/>
                        <a:lumOff val="80000"/>
                      </a:schemeClr>
                    </a:solidFill>
                  </a:tcPr>
                </a:tc>
              </a:tr>
              <a:tr h="609600">
                <a:tc>
                  <a:txBody>
                    <a:bodyPr/>
                    <a:lstStyle/>
                    <a:p>
                      <a:r>
                        <a:rPr lang="en-US" sz="1050" b="1" dirty="0" smtClean="0">
                          <a:solidFill>
                            <a:schemeClr val="bg1"/>
                          </a:solidFill>
                        </a:rPr>
                        <a:t>Liquidation</a:t>
                      </a:r>
                      <a:endParaRPr lang="en-US" sz="1050" b="1" dirty="0">
                        <a:solidFill>
                          <a:schemeClr val="bg1"/>
                        </a:solidFill>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3"/>
                    </a:solidFill>
                  </a:tcPr>
                </a:tc>
                <a:tc gridSpan="2">
                  <a:txBody>
                    <a:bodyPr/>
                    <a:lstStyle/>
                    <a:p>
                      <a:pPr marL="171450" indent="-171450">
                        <a:buFontTx/>
                        <a:buChar char="-"/>
                      </a:pPr>
                      <a:r>
                        <a:rPr lang="en-US" sz="800" dirty="0" smtClean="0"/>
                        <a:t>Cash lender must</a:t>
                      </a:r>
                      <a:r>
                        <a:rPr lang="en-US" sz="800" baseline="0" dirty="0" smtClean="0"/>
                        <a:t> liquidate the collateral on the open market</a:t>
                      </a:r>
                    </a:p>
                    <a:p>
                      <a:pPr marL="171450" indent="-171450">
                        <a:buFontTx/>
                        <a:buChar char="-"/>
                      </a:pPr>
                      <a:r>
                        <a:rPr lang="en-US" sz="800" baseline="0" dirty="0" smtClean="0"/>
                        <a:t>Cash lender exposed to a loss if the haircut/collateral incorrectly valued</a:t>
                      </a:r>
                      <a:endParaRPr lang="en-US" sz="800" dirty="0"/>
                    </a:p>
                  </a:txBody>
                  <a:tcPr marL="45720" marR="4572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2">
                        <a:lumMod val="75000"/>
                      </a:schemeClr>
                    </a:solidFill>
                  </a:tcPr>
                </a:tc>
                <a:tc hMerge="1">
                  <a:txBody>
                    <a:bodyPr/>
                    <a:lstStyle/>
                    <a:p>
                      <a:endParaRPr lang="en-US" sz="900" dirty="0"/>
                    </a:p>
                  </a:txBody>
                  <a:tcPr marL="45720" marR="4572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5">
                        <a:lumMod val="40000"/>
                        <a:lumOff val="60000"/>
                      </a:schemeClr>
                    </a:solidFill>
                  </a:tcPr>
                </a:tc>
                <a:tc>
                  <a:txBody>
                    <a:bodyPr/>
                    <a:lstStyle/>
                    <a:p>
                      <a:pPr marL="171450" indent="-171450">
                        <a:buFontTx/>
                        <a:buChar char="-"/>
                      </a:pPr>
                      <a:r>
                        <a:rPr lang="en-US" sz="800" dirty="0" smtClean="0"/>
                        <a:t>Clearing house facilitates liquidation</a:t>
                      </a:r>
                    </a:p>
                    <a:p>
                      <a:pPr marL="171450" indent="-171450">
                        <a:buFontTx/>
                        <a:buChar char="-"/>
                      </a:pPr>
                      <a:r>
                        <a:rPr lang="en-US" sz="800" dirty="0" smtClean="0"/>
                        <a:t>Participant-funded default fund</a:t>
                      </a:r>
                      <a:endParaRPr lang="en-US" sz="800" dirty="0"/>
                    </a:p>
                  </a:txBody>
                  <a:tcPr marL="45720" marR="4572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2">
                        <a:lumMod val="20000"/>
                        <a:lumOff val="80000"/>
                      </a:schemeClr>
                    </a:solidFill>
                  </a:tcPr>
                </a:tc>
                <a:tc>
                  <a:txBody>
                    <a:bodyPr/>
                    <a:lstStyle/>
                    <a:p>
                      <a:pPr marL="171450" indent="-171450">
                        <a:buFontTx/>
                        <a:buChar char="-"/>
                      </a:pPr>
                      <a:r>
                        <a:rPr lang="en-US" sz="800" dirty="0" smtClean="0"/>
                        <a:t>CCP hedges and can retain positions into the future</a:t>
                      </a:r>
                    </a:p>
                    <a:p>
                      <a:pPr marL="171450" indent="-171450">
                        <a:buFontTx/>
                        <a:buChar char="-"/>
                      </a:pPr>
                      <a:r>
                        <a:rPr lang="en-US" sz="800" dirty="0" smtClean="0"/>
                        <a:t>Participant-funded</a:t>
                      </a:r>
                      <a:r>
                        <a:rPr lang="en-US" sz="800" baseline="0" dirty="0" smtClean="0"/>
                        <a:t> default fund</a:t>
                      </a:r>
                      <a:endParaRPr lang="en-US" sz="800" dirty="0"/>
                    </a:p>
                  </a:txBody>
                  <a:tcPr marL="45720" marR="4572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2">
                        <a:lumMod val="20000"/>
                        <a:lumOff val="80000"/>
                      </a:schemeClr>
                    </a:solidFill>
                  </a:tcPr>
                </a:tc>
              </a:tr>
              <a:tr h="609600">
                <a:tc>
                  <a:txBody>
                    <a:bodyPr/>
                    <a:lstStyle/>
                    <a:p>
                      <a:r>
                        <a:rPr lang="en-US" sz="1050" b="1" dirty="0" smtClean="0">
                          <a:solidFill>
                            <a:schemeClr val="bg1"/>
                          </a:solidFill>
                        </a:rPr>
                        <a:t>Risk Management</a:t>
                      </a:r>
                      <a:endParaRPr lang="en-US" sz="1050" b="1" dirty="0">
                        <a:solidFill>
                          <a:schemeClr val="bg1"/>
                        </a:solidFill>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3"/>
                    </a:solidFill>
                  </a:tcPr>
                </a:tc>
                <a:tc>
                  <a:txBody>
                    <a:bodyPr/>
                    <a:lstStyle/>
                    <a:p>
                      <a:pPr marL="171450" indent="-171450">
                        <a:buFontTx/>
                        <a:buChar char="-"/>
                      </a:pPr>
                      <a:r>
                        <a:rPr lang="en-US" sz="800" dirty="0" smtClean="0"/>
                        <a:t>Cash/collateral providers each responsible for counterparty</a:t>
                      </a:r>
                      <a:r>
                        <a:rPr lang="en-US" sz="800" baseline="0" dirty="0" smtClean="0"/>
                        <a:t> collateral monitoring</a:t>
                      </a:r>
                    </a:p>
                  </a:txBody>
                  <a:tcPr marL="45720" marR="4572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2">
                        <a:lumMod val="90000"/>
                      </a:schemeClr>
                    </a:solidFill>
                  </a:tcPr>
                </a:tc>
                <a:tc>
                  <a:txBody>
                    <a:bodyPr/>
                    <a:lstStyle/>
                    <a:p>
                      <a:pPr marL="171450" indent="-171450">
                        <a:buFontTx/>
                        <a:buChar char="-"/>
                      </a:pPr>
                      <a:r>
                        <a:rPr lang="en-US" sz="800" dirty="0" smtClean="0"/>
                        <a:t>Clearing bank monitors</a:t>
                      </a:r>
                      <a:r>
                        <a:rPr lang="en-US" sz="800" baseline="0" dirty="0" smtClean="0"/>
                        <a:t> pledged collateral with daily revaluations and margin management</a:t>
                      </a:r>
                    </a:p>
                  </a:txBody>
                  <a:tcPr marL="45720" marR="4572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5">
                        <a:lumMod val="40000"/>
                        <a:lumOff val="60000"/>
                      </a:schemeClr>
                    </a:solidFill>
                  </a:tcPr>
                </a:tc>
                <a:tc>
                  <a:txBody>
                    <a:bodyPr/>
                    <a:lstStyle/>
                    <a:p>
                      <a:pPr marL="171450" indent="-171450">
                        <a:buFontTx/>
                        <a:buChar char="-"/>
                      </a:pPr>
                      <a:r>
                        <a:rPr lang="en-US" sz="800" dirty="0" smtClean="0"/>
                        <a:t>Counterparty risk remains between collateral provider and cash lender</a:t>
                      </a:r>
                    </a:p>
                  </a:txBody>
                  <a:tcPr marL="45720" marR="4572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2">
                        <a:lumMod val="20000"/>
                        <a:lumOff val="80000"/>
                      </a:schemeClr>
                    </a:solidFill>
                  </a:tcPr>
                </a:tc>
                <a:tc>
                  <a:txBody>
                    <a:bodyPr/>
                    <a:lstStyle/>
                    <a:p>
                      <a:pPr marL="171450" indent="-171450">
                        <a:buFontTx/>
                        <a:buChar char="-"/>
                      </a:pPr>
                      <a:r>
                        <a:rPr lang="en-US" sz="800" dirty="0" smtClean="0"/>
                        <a:t>Trade novated by CCP, mitigating individual</a:t>
                      </a:r>
                      <a:r>
                        <a:rPr lang="en-US" sz="800" baseline="0" dirty="0" smtClean="0"/>
                        <a:t> counterparty risk</a:t>
                      </a:r>
                    </a:p>
                  </a:txBody>
                  <a:tcPr marL="45720" marR="4572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2">
                        <a:lumMod val="20000"/>
                        <a:lumOff val="80000"/>
                      </a:schemeClr>
                    </a:solidFill>
                  </a:tcPr>
                </a:tc>
              </a:tr>
              <a:tr h="609600">
                <a:tc>
                  <a:txBody>
                    <a:bodyPr/>
                    <a:lstStyle/>
                    <a:p>
                      <a:r>
                        <a:rPr lang="en-US" sz="1050" b="1" dirty="0" smtClean="0">
                          <a:solidFill>
                            <a:schemeClr val="bg1"/>
                          </a:solidFill>
                        </a:rPr>
                        <a:t>Participations</a:t>
                      </a:r>
                      <a:endParaRPr lang="en-US" sz="1050" b="1" dirty="0">
                        <a:solidFill>
                          <a:schemeClr val="bg1"/>
                        </a:solidFill>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3"/>
                    </a:solidFill>
                  </a:tcPr>
                </a:tc>
                <a:tc>
                  <a:txBody>
                    <a:bodyPr/>
                    <a:lstStyle/>
                    <a:p>
                      <a:pPr marL="171450" indent="-171450">
                        <a:buFontTx/>
                        <a:buChar char="-"/>
                      </a:pPr>
                      <a:r>
                        <a:rPr lang="en-US" sz="800" dirty="0" smtClean="0"/>
                        <a:t>Predominantly broker dealers and their prime brokerage (PB) clients</a:t>
                      </a:r>
                    </a:p>
                  </a:txBody>
                  <a:tcPr marL="45720" marR="4572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2">
                        <a:lumMod val="90000"/>
                      </a:schemeClr>
                    </a:solidFill>
                  </a:tcPr>
                </a:tc>
                <a:tc>
                  <a:txBody>
                    <a:bodyPr/>
                    <a:lstStyle/>
                    <a:p>
                      <a:pPr marL="171450" indent="-171450">
                        <a:buFontTx/>
                        <a:buChar char="-"/>
                      </a:pPr>
                      <a:r>
                        <a:rPr lang="en-US" sz="800" dirty="0" smtClean="0"/>
                        <a:t>Government</a:t>
                      </a:r>
                      <a:r>
                        <a:rPr lang="en-US" sz="800" baseline="0" dirty="0" smtClean="0"/>
                        <a:t>, broker dealers (BDs), MMFs, alternatives, corporates, other financial institutions</a:t>
                      </a:r>
                    </a:p>
                  </a:txBody>
                  <a:tcPr marL="45720" marR="4572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5">
                        <a:lumMod val="40000"/>
                        <a:lumOff val="60000"/>
                      </a:schemeClr>
                    </a:solidFill>
                  </a:tcPr>
                </a:tc>
                <a:tc>
                  <a:txBody>
                    <a:bodyPr/>
                    <a:lstStyle/>
                    <a:p>
                      <a:pPr marL="171450" indent="-171450">
                        <a:buFontTx/>
                        <a:buChar char="-"/>
                      </a:pPr>
                      <a:r>
                        <a:rPr lang="en-US" sz="800" dirty="0" smtClean="0"/>
                        <a:t>Broker dealers &amp; their</a:t>
                      </a:r>
                      <a:r>
                        <a:rPr lang="en-US" sz="800" baseline="0" dirty="0" smtClean="0"/>
                        <a:t> clients (PB clients) other financial institutions, MMFs, alternatives</a:t>
                      </a:r>
                    </a:p>
                  </a:txBody>
                  <a:tcPr marL="45720" marR="4572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2">
                        <a:lumMod val="20000"/>
                        <a:lumOff val="80000"/>
                      </a:schemeClr>
                    </a:solidFill>
                  </a:tcPr>
                </a:tc>
                <a:tc>
                  <a:txBody>
                    <a:bodyPr/>
                    <a:lstStyle/>
                    <a:p>
                      <a:pPr marL="171450" indent="-171450">
                        <a:buFontTx/>
                        <a:buChar char="-"/>
                      </a:pPr>
                      <a:r>
                        <a:rPr lang="en-US" sz="800" dirty="0" smtClean="0"/>
                        <a:t>Broker dealers &amp; expanded clearing</a:t>
                      </a:r>
                      <a:r>
                        <a:rPr lang="en-US" sz="800" baseline="0" dirty="0" smtClean="0"/>
                        <a:t> house members (MMFs, alternatives)</a:t>
                      </a:r>
                    </a:p>
                  </a:txBody>
                  <a:tcPr marL="45720" marR="4572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2">
                        <a:lumMod val="20000"/>
                        <a:lumOff val="80000"/>
                      </a:schemeClr>
                    </a:solidFill>
                  </a:tcPr>
                </a:tc>
              </a:tr>
            </a:tbl>
          </a:graphicData>
        </a:graphic>
      </p:graphicFrame>
      <p:sp>
        <p:nvSpPr>
          <p:cNvPr id="73" name="Content Placeholder 12"/>
          <p:cNvSpPr>
            <a:spLocks noGrp="1"/>
          </p:cNvSpPr>
          <p:nvPr>
            <p:ph idx="1"/>
          </p:nvPr>
        </p:nvSpPr>
        <p:spPr>
          <a:xfrm>
            <a:off x="293687" y="1235075"/>
            <a:ext cx="1839913" cy="5927725"/>
          </a:xfrm>
        </p:spPr>
        <p:txBody>
          <a:bodyPr/>
          <a:lstStyle/>
          <a:p>
            <a:pPr>
              <a:lnSpc>
                <a:spcPct val="100000"/>
              </a:lnSpc>
              <a:spcBef>
                <a:spcPts val="0"/>
              </a:spcBef>
            </a:pPr>
            <a:r>
              <a:rPr lang="en-US" sz="1100" b="0" dirty="0" smtClean="0">
                <a:solidFill>
                  <a:schemeClr val="tx1"/>
                </a:solidFill>
                <a:latin typeface="+mn-lt"/>
              </a:rPr>
              <a:t>Repo settlement mechanisms can be viewed as a continuum ranging from bilateral to centrally cleared.</a:t>
            </a:r>
          </a:p>
          <a:p>
            <a:pPr>
              <a:lnSpc>
                <a:spcPct val="100000"/>
              </a:lnSpc>
              <a:spcBef>
                <a:spcPts val="0"/>
              </a:spcBef>
            </a:pPr>
            <a:endParaRPr lang="en-US" sz="1100" b="0" dirty="0">
              <a:solidFill>
                <a:schemeClr val="tx1"/>
              </a:solidFill>
              <a:latin typeface="+mn-lt"/>
            </a:endParaRPr>
          </a:p>
          <a:p>
            <a:pPr>
              <a:lnSpc>
                <a:spcPct val="100000"/>
              </a:lnSpc>
              <a:spcBef>
                <a:spcPts val="0"/>
              </a:spcBef>
            </a:pPr>
            <a:r>
              <a:rPr lang="en-US" sz="1100" b="0" dirty="0" smtClean="0">
                <a:solidFill>
                  <a:schemeClr val="tx1"/>
                </a:solidFill>
                <a:latin typeface="+mn-lt"/>
              </a:rPr>
              <a:t>The main role of tri-party agents is to coordinate settlement between collateral providers and cash investors. The tri-party agent maintains custody of the collateral, processes payment and delivery between the provider and the investor, along with other services. </a:t>
            </a:r>
          </a:p>
          <a:p>
            <a:pPr>
              <a:lnSpc>
                <a:spcPct val="100000"/>
              </a:lnSpc>
              <a:spcBef>
                <a:spcPts val="0"/>
              </a:spcBef>
            </a:pPr>
            <a:endParaRPr lang="en-US" sz="1100" b="0" dirty="0">
              <a:solidFill>
                <a:schemeClr val="tx1"/>
              </a:solidFill>
              <a:latin typeface="+mn-lt"/>
            </a:endParaRPr>
          </a:p>
          <a:p>
            <a:pPr>
              <a:lnSpc>
                <a:spcPct val="100000"/>
              </a:lnSpc>
              <a:spcBef>
                <a:spcPts val="0"/>
              </a:spcBef>
            </a:pPr>
            <a:r>
              <a:rPr lang="en-US" sz="1100" b="0" dirty="0" smtClean="0">
                <a:solidFill>
                  <a:schemeClr val="tx1"/>
                </a:solidFill>
                <a:latin typeface="+mn-lt"/>
              </a:rPr>
              <a:t>The clearing house lite model provides risk </a:t>
            </a:r>
            <a:r>
              <a:rPr lang="en-US" sz="1100" b="0" dirty="0" err="1" smtClean="0">
                <a:solidFill>
                  <a:schemeClr val="tx1"/>
                </a:solidFill>
                <a:latin typeface="+mn-lt"/>
              </a:rPr>
              <a:t>mutualization</a:t>
            </a:r>
            <a:r>
              <a:rPr lang="en-US" sz="1100" b="0" dirty="0" smtClean="0">
                <a:solidFill>
                  <a:schemeClr val="tx1"/>
                </a:solidFill>
                <a:latin typeface="+mn-lt"/>
              </a:rPr>
              <a:t> and loss waterfalls without full novation.  </a:t>
            </a:r>
            <a:endParaRPr lang="en-US" sz="1100" b="0" dirty="0">
              <a:solidFill>
                <a:schemeClr val="tx1"/>
              </a:solidFill>
              <a:latin typeface="+mn-lt"/>
            </a:endParaRPr>
          </a:p>
          <a:p>
            <a:endParaRPr lang="en-US" sz="1100" b="0" dirty="0" smtClean="0">
              <a:solidFill>
                <a:schemeClr val="tx1"/>
              </a:solidFill>
            </a:endParaRPr>
          </a:p>
          <a:p>
            <a:endParaRPr lang="en-US" sz="1100" b="0" dirty="0">
              <a:solidFill>
                <a:schemeClr val="tx1"/>
              </a:solidFill>
            </a:endParaRPr>
          </a:p>
          <a:p>
            <a:endParaRPr lang="en-US" sz="1100" dirty="0" smtClean="0"/>
          </a:p>
        </p:txBody>
      </p:sp>
      <p:sp>
        <p:nvSpPr>
          <p:cNvPr id="10" name="TextBox 9"/>
          <p:cNvSpPr txBox="1"/>
          <p:nvPr/>
        </p:nvSpPr>
        <p:spPr>
          <a:xfrm>
            <a:off x="2472698" y="6939687"/>
            <a:ext cx="4690102" cy="230832"/>
          </a:xfrm>
          <a:prstGeom prst="rect">
            <a:avLst/>
          </a:prstGeom>
          <a:noFill/>
        </p:spPr>
        <p:txBody>
          <a:bodyPr wrap="square" rtlCol="0">
            <a:spAutoFit/>
          </a:bodyPr>
          <a:lstStyle/>
          <a:p>
            <a:r>
              <a:rPr lang="en-US" sz="900" dirty="0" smtClean="0">
                <a:latin typeface="Calibri" panose="020F0502020204030204" pitchFamily="34" charset="0"/>
              </a:rPr>
              <a:t>Source: </a:t>
            </a:r>
            <a:r>
              <a:rPr lang="en-US" sz="900" dirty="0">
                <a:latin typeface="Calibri" panose="020F0502020204030204" pitchFamily="34" charset="0"/>
              </a:rPr>
              <a:t> </a:t>
            </a:r>
            <a:r>
              <a:rPr lang="en-US" sz="900" dirty="0" smtClean="0">
                <a:latin typeface="Calibri" panose="020F0502020204030204" pitchFamily="34" charset="0"/>
              </a:rPr>
              <a:t>“The Future of Wholesale Funding Markets”, PWC and BNY Mellon, December 2015 </a:t>
            </a:r>
            <a:endParaRPr lang="en-US" sz="900" dirty="0">
              <a:latin typeface="Calibri" panose="020F0502020204030204" pitchFamily="34" charset="0"/>
            </a:endParaRPr>
          </a:p>
        </p:txBody>
      </p:sp>
    </p:spTree>
    <p:extLst>
      <p:ext uri="{BB962C8B-B14F-4D97-AF65-F5344CB8AC3E}">
        <p14:creationId xmlns:p14="http://schemas.microsoft.com/office/powerpoint/2010/main" val="1061251001"/>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Cello">
      <a:dk1>
        <a:srgbClr val="000000"/>
      </a:dk1>
      <a:lt1>
        <a:srgbClr val="FFFFFF"/>
      </a:lt1>
      <a:dk2>
        <a:srgbClr val="203353"/>
      </a:dk2>
      <a:lt2>
        <a:srgbClr val="EFEBE4"/>
      </a:lt2>
      <a:accent1>
        <a:srgbClr val="2E398A"/>
      </a:accent1>
      <a:accent2>
        <a:srgbClr val="8891D5"/>
      </a:accent2>
      <a:accent3>
        <a:srgbClr val="968880"/>
      </a:accent3>
      <a:accent4>
        <a:srgbClr val="000000"/>
      </a:accent4>
      <a:accent5>
        <a:srgbClr val="ADAEC4"/>
      </a:accent5>
      <a:accent6>
        <a:srgbClr val="7B83C1"/>
      </a:accent6>
      <a:hlink>
        <a:srgbClr val="968880"/>
      </a:hlink>
      <a:folHlink>
        <a:srgbClr val="533D2D"/>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4_Default Design">
  <a:themeElements>
    <a:clrScheme name="4_Default Design 3">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fontScheme name="4_Default Design">
      <a:majorFont>
        <a:latin typeface="Cambria"/>
        <a:ea typeface=""/>
        <a:cs typeface=""/>
      </a:majorFont>
      <a:minorFont>
        <a:latin typeface="Cambri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4_Default Design 1">
        <a:dk1>
          <a:srgbClr val="000000"/>
        </a:dk1>
        <a:lt1>
          <a:srgbClr val="FFFFFF"/>
        </a:lt1>
        <a:dk2>
          <a:srgbClr val="151D43"/>
        </a:dk2>
        <a:lt2>
          <a:srgbClr val="DDD8D5"/>
        </a:lt2>
        <a:accent1>
          <a:srgbClr val="2D3B8C"/>
        </a:accent1>
        <a:accent2>
          <a:srgbClr val="807EB4"/>
        </a:accent2>
        <a:accent3>
          <a:srgbClr val="FFFFFF"/>
        </a:accent3>
        <a:accent4>
          <a:srgbClr val="000000"/>
        </a:accent4>
        <a:accent5>
          <a:srgbClr val="ADAFC5"/>
        </a:accent5>
        <a:accent6>
          <a:srgbClr val="7372A3"/>
        </a:accent6>
        <a:hlink>
          <a:srgbClr val="8F8379"/>
        </a:hlink>
        <a:folHlink>
          <a:srgbClr val="4C0044"/>
        </a:folHlink>
      </a:clrScheme>
      <a:clrMap bg1="lt1" tx1="dk1" bg2="lt2" tx2="dk2" accent1="accent1" accent2="accent2" accent3="accent3" accent4="accent4" accent5="accent5" accent6="accent6" hlink="hlink" folHlink="folHlink"/>
    </a:extraClrScheme>
    <a:extraClrScheme>
      <a:clrScheme name="4_Default Design 2">
        <a:dk1>
          <a:srgbClr val="000000"/>
        </a:dk1>
        <a:lt1>
          <a:srgbClr val="FFFFFF"/>
        </a:lt1>
        <a:dk2>
          <a:srgbClr val="151D43"/>
        </a:dk2>
        <a:lt2>
          <a:srgbClr val="DDD8D5"/>
        </a:lt2>
        <a:accent1>
          <a:srgbClr val="2D3B8C"/>
        </a:accent1>
        <a:accent2>
          <a:srgbClr val="807EB4"/>
        </a:accent2>
        <a:accent3>
          <a:srgbClr val="FFFFFF"/>
        </a:accent3>
        <a:accent4>
          <a:srgbClr val="000000"/>
        </a:accent4>
        <a:accent5>
          <a:srgbClr val="ADAFC5"/>
        </a:accent5>
        <a:accent6>
          <a:srgbClr val="7372A3"/>
        </a:accent6>
        <a:hlink>
          <a:srgbClr val="8F8379"/>
        </a:hlink>
        <a:folHlink>
          <a:srgbClr val="EBE8D8"/>
        </a:folHlink>
      </a:clrScheme>
      <a:clrMap bg1="lt1" tx1="dk1" bg2="lt2" tx2="dk2" accent1="accent1" accent2="accent2" accent3="accent3" accent4="accent4" accent5="accent5" accent6="accent6" hlink="hlink" folHlink="folHlink"/>
    </a:extraClrScheme>
    <a:extraClrScheme>
      <a:clrScheme name="4_Default Design 3">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clrMap bg1="lt1" tx1="dk1" bg2="lt2" tx2="dk2" accent1="accent1" accent2="accent2" accent3="accent3" accent4="accent4" accent5="accent5" accent6="accent6" hlink="hlink" folHlink="folHlink"/>
    </a:extraClrScheme>
    <a:extraClrScheme>
      <a:clrScheme name="4_Default Design 4">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clrMap bg1="lt1" tx1="dk1" bg2="lt2" tx2="dk2" accent1="accent1" accent2="accent2" accent3="accent3" accent4="accent4" accent5="accent5" accent6="accent6" hlink="hlink" folHlink="folHlink"/>
    </a:extraClrScheme>
  </a:extraClrSchemeLst>
</a:theme>
</file>

<file path=ppt/theme/theme3.xml><?xml version="1.0" encoding="utf-8"?>
<a:theme xmlns:a="http://schemas.openxmlformats.org/drawingml/2006/main" name="2_Custom Design">
  <a:themeElements>
    <a:clrScheme name="2_Custom Design 1">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fontScheme name="2_Custom Design">
      <a:majorFont>
        <a:latin typeface="Calibri"/>
        <a:ea typeface=""/>
        <a:cs typeface=""/>
      </a:majorFont>
      <a:minorFont>
        <a:latin typeface="Calibri"/>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2_Custom Design 1">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clrMap bg1="lt1" tx1="dk1" bg2="lt2" tx2="dk2" accent1="accent1" accent2="accent2" accent3="accent3" accent4="accent4" accent5="accent5" accent6="accent6" hlink="hlink" folHlink="folHlink"/>
    </a:extraClrScheme>
  </a:extraClrScheme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5.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22513</TotalTime>
  <Words>2369</Words>
  <Application>Microsoft Office PowerPoint</Application>
  <PresentationFormat>Custom</PresentationFormat>
  <Paragraphs>370</Paragraphs>
  <Slides>11</Slides>
  <Notes>11</Notes>
  <HiddenSlides>0</HiddenSlides>
  <MMClips>0</MMClips>
  <ScaleCrop>false</ScaleCrop>
  <HeadingPairs>
    <vt:vector size="4" baseType="variant">
      <vt:variant>
        <vt:lpstr>Theme</vt:lpstr>
      </vt:variant>
      <vt:variant>
        <vt:i4>3</vt:i4>
      </vt:variant>
      <vt:variant>
        <vt:lpstr>Slide Titles</vt:lpstr>
      </vt:variant>
      <vt:variant>
        <vt:i4>11</vt:i4>
      </vt:variant>
    </vt:vector>
  </HeadingPairs>
  <TitlesOfParts>
    <vt:vector size="14" baseType="lpstr">
      <vt:lpstr>Office Theme</vt:lpstr>
      <vt:lpstr>4_Default Design</vt:lpstr>
      <vt:lpstr>2_Custom Design</vt:lpstr>
      <vt:lpstr>PowerPoint Presentation</vt:lpstr>
      <vt:lpstr>A STANDARD BILATERAL REPO TRANSACTION</vt:lpstr>
      <vt:lpstr>A STANDARD GCF repo trade</vt:lpstr>
      <vt:lpstr>The STRUCTURE OF U.S. REPO MARKETS</vt:lpstr>
      <vt:lpstr>THE SIZE OF THE U.S. REPO MARKET</vt:lpstr>
      <vt:lpstr>U.S. TREASURIES ARE THE DOMINANT SOURCE OF COLLATERAL FOR REPOS</vt:lpstr>
      <vt:lpstr>REPO AND THE SHORT-TERM WHOLESALE FUNDING MARKETS</vt:lpstr>
      <vt:lpstr>THE IMPACT OF BASEL III ON REPO FOR G-SIBs</vt:lpstr>
      <vt:lpstr>QUANTIFYING THE IMPACT OF SLR ON REPO</vt:lpstr>
      <vt:lpstr>LESS REPO MEANS LESS RELATIVE VALUE TRADING</vt:lpstr>
      <vt:lpstr>THE ONGOING EVOLUTION OF REPO </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Matt</dc:creator>
  <cp:lastModifiedBy>Sharad Chaudhary</cp:lastModifiedBy>
  <cp:revision>509</cp:revision>
  <cp:lastPrinted>2015-06-19T12:14:16Z</cp:lastPrinted>
  <dcterms:created xsi:type="dcterms:W3CDTF">2015-05-21T20:34:11Z</dcterms:created>
  <dcterms:modified xsi:type="dcterms:W3CDTF">2016-01-04T14:19:52Z</dcterms:modified>
</cp:coreProperties>
</file>