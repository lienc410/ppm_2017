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 id="2147483676" r:id="rId3"/>
  </p:sldMasterIdLst>
  <p:notesMasterIdLst>
    <p:notesMasterId r:id="rId16"/>
  </p:notesMasterIdLst>
  <p:handoutMasterIdLst>
    <p:handoutMasterId r:id="rId17"/>
  </p:handoutMasterIdLst>
  <p:sldIdLst>
    <p:sldId id="320" r:id="rId4"/>
    <p:sldId id="321" r:id="rId5"/>
    <p:sldId id="322" r:id="rId6"/>
    <p:sldId id="319" r:id="rId7"/>
    <p:sldId id="323" r:id="rId8"/>
    <p:sldId id="330" r:id="rId9"/>
    <p:sldId id="331" r:id="rId10"/>
    <p:sldId id="326" r:id="rId11"/>
    <p:sldId id="324" r:id="rId12"/>
    <p:sldId id="328" r:id="rId13"/>
    <p:sldId id="327" r:id="rId14"/>
    <p:sldId id="318" r:id="rId15"/>
  </p:sldIdLst>
  <p:sldSz cx="10058400" cy="7772400"/>
  <p:notesSz cx="7010400" cy="9296400"/>
  <p:defaultText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3456">
          <p15:clr>
            <a:srgbClr val="A4A3A4"/>
          </p15:clr>
        </p15:guide>
        <p15:guide id="2" orient="horz" pos="144">
          <p15:clr>
            <a:srgbClr val="A4A3A4"/>
          </p15:clr>
        </p15:guide>
        <p15:guide id="3" orient="horz" pos="207">
          <p15:clr>
            <a:srgbClr val="A4A3A4"/>
          </p15:clr>
        </p15:guide>
        <p15:guide id="4" orient="horz" pos="4752">
          <p15:clr>
            <a:srgbClr val="A4A3A4"/>
          </p15:clr>
        </p15:guide>
        <p15:guide id="5" orient="horz" pos="788">
          <p15:clr>
            <a:srgbClr val="A4A3A4"/>
          </p15:clr>
        </p15:guide>
        <p15:guide id="6" orient="horz" pos="4519">
          <p15:clr>
            <a:srgbClr val="A4A3A4"/>
          </p15:clr>
        </p15:guide>
        <p15:guide id="7" orient="horz" pos="1200">
          <p15:clr>
            <a:srgbClr val="A4A3A4"/>
          </p15:clr>
        </p15:guide>
        <p15:guide id="8" orient="horz" pos="4320">
          <p15:clr>
            <a:srgbClr val="A4A3A4"/>
          </p15:clr>
        </p15:guide>
        <p15:guide id="9" orient="horz" pos="4032">
          <p15:clr>
            <a:srgbClr val="A4A3A4"/>
          </p15:clr>
        </p15:guide>
        <p15:guide id="10" pos="3168">
          <p15:clr>
            <a:srgbClr val="A4A3A4"/>
          </p15:clr>
        </p15:guide>
        <p15:guide id="11" pos="185">
          <p15:clr>
            <a:srgbClr val="A4A3A4"/>
          </p15:clr>
        </p15:guide>
        <p15:guide id="12" pos="6150">
          <p15:clr>
            <a:srgbClr val="A4A3A4"/>
          </p15:clr>
        </p15:guide>
        <p15:guide id="13" pos="3072">
          <p15:clr>
            <a:srgbClr val="A4A3A4"/>
          </p15:clr>
        </p15:guide>
        <p15:guide id="14" pos="3264">
          <p15:clr>
            <a:srgbClr val="A4A3A4"/>
          </p15:clr>
        </p15:guide>
        <p15:guide id="15" pos="1344">
          <p15:clr>
            <a:srgbClr val="A4A3A4"/>
          </p15:clr>
        </p15:guide>
        <p15:guide id="16" pos="2101">
          <p15:clr>
            <a:srgbClr val="A4A3A4"/>
          </p15:clr>
        </p15:guide>
        <p15:guide id="17" pos="528">
          <p15:clr>
            <a:srgbClr val="A4A3A4"/>
          </p15:clr>
        </p15:guide>
        <p15:guide id="18" pos="3866">
          <p15:clr>
            <a:srgbClr val="A4A3A4"/>
          </p15:clr>
        </p15:guide>
        <p15:guide id="19" pos="3775">
          <p15:clr>
            <a:srgbClr val="A4A3A4"/>
          </p15:clr>
        </p15:guide>
        <p15:guide id="20" pos="3963">
          <p15:clr>
            <a:srgbClr val="A4A3A4"/>
          </p15:clr>
        </p15:guide>
        <p15:guide id="21" pos="4812">
          <p15:clr>
            <a:srgbClr val="A4A3A4"/>
          </p15:clr>
        </p15:guide>
        <p15:guide id="22" pos="720">
          <p15:clr>
            <a:srgbClr val="A4A3A4"/>
          </p15:clr>
        </p15:guide>
        <p15:guide id="23" pos="480">
          <p15:clr>
            <a:srgbClr val="A4A3A4"/>
          </p15:clr>
        </p15:guide>
        <p15:guide id="24" pos="4605">
          <p15:clr>
            <a:srgbClr val="A4A3A4"/>
          </p15:clr>
        </p15:guide>
        <p15:guide id="25" pos="2304">
          <p15:clr>
            <a:srgbClr val="A4A3A4"/>
          </p15:clr>
        </p15:guide>
        <p15:guide id="26" pos="1584">
          <p15:clr>
            <a:srgbClr val="A4A3A4"/>
          </p15:clr>
        </p15:guide>
      </p15:sldGuideLst>
    </p:ext>
    <p:ext uri="{2D200454-40CA-4A62-9FC3-DE9A4176ACB9}">
      <p15:notesGuideLst xmlns="" xmlns:p15="http://schemas.microsoft.com/office/powerpoint/2012/main">
        <p15:guide id="1" orient="horz" pos="2904" userDrawn="1">
          <p15:clr>
            <a:srgbClr val="A4A3A4"/>
          </p15:clr>
        </p15:guide>
        <p15:guide id="2" pos="2184" userDrawn="1">
          <p15:clr>
            <a:srgbClr val="A4A3A4"/>
          </p15:clr>
        </p15:guide>
        <p15:guide id="3" orient="horz" pos="2928">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8A60"/>
    <a:srgbClr val="C6642E"/>
    <a:srgbClr val="DFF5EB"/>
    <a:srgbClr val="F4E0D0"/>
    <a:srgbClr val="C7732D"/>
    <a:srgbClr val="002060"/>
    <a:srgbClr val="2E3989"/>
    <a:srgbClr val="533D2D"/>
    <a:srgbClr val="592E8A"/>
    <a:srgbClr val="2E39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03" autoAdjust="0"/>
    <p:restoredTop sz="94660" autoAdjust="0"/>
  </p:normalViewPr>
  <p:slideViewPr>
    <p:cSldViewPr showGuides="1">
      <p:cViewPr>
        <p:scale>
          <a:sx n="150" d="100"/>
          <a:sy n="150" d="100"/>
        </p:scale>
        <p:origin x="-66" y="834"/>
      </p:cViewPr>
      <p:guideLst>
        <p:guide orient="horz" pos="3456"/>
        <p:guide orient="horz" pos="144"/>
        <p:guide orient="horz" pos="207"/>
        <p:guide orient="horz" pos="4752"/>
        <p:guide orient="horz" pos="788"/>
        <p:guide orient="horz" pos="4519"/>
        <p:guide orient="horz" pos="1200"/>
        <p:guide orient="horz" pos="4320"/>
        <p:guide orient="horz" pos="4032"/>
        <p:guide pos="3168"/>
        <p:guide pos="185"/>
        <p:guide pos="6150"/>
        <p:guide pos="3072"/>
        <p:guide pos="3264"/>
        <p:guide pos="1344"/>
        <p:guide pos="2101"/>
        <p:guide pos="528"/>
        <p:guide pos="3866"/>
        <p:guide pos="3775"/>
        <p:guide pos="3963"/>
        <p:guide pos="4812"/>
        <p:guide pos="720"/>
        <p:guide pos="480"/>
        <p:guide pos="4605"/>
        <p:guide pos="2304"/>
        <p:guide pos="1584"/>
      </p:guideLst>
    </p:cSldViewPr>
  </p:slideViewPr>
  <p:notesTextViewPr>
    <p:cViewPr>
      <p:scale>
        <a:sx n="1" d="1"/>
        <a:sy n="1" d="1"/>
      </p:scale>
      <p:origin x="0" y="0"/>
    </p:cViewPr>
  </p:notesTextViewPr>
  <p:notesViewPr>
    <p:cSldViewPr showGuides="1">
      <p:cViewPr varScale="1">
        <p:scale>
          <a:sx n="80" d="100"/>
          <a:sy n="80" d="100"/>
        </p:scale>
        <p:origin x="-1974" y="-78"/>
      </p:cViewPr>
      <p:guideLst>
        <p:guide orient="horz" pos="2904"/>
        <p:guide orient="horz" pos="2928"/>
        <p:guide pos="2184"/>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oleObject" Target="file:///\\ccmnydc1\users$\sharad.chaudhary\My%20Documents\Cello%20Research\Repo\Repo%20summary%20-%20JPM.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cmnydc1\users$\sharad.chaudhary\My%20Documents\Cello%20Research\Repo\Repo%20summary%20-%20JPM.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Lbls>
            <c:dLbl>
              <c:idx val="0"/>
              <c:layout/>
              <c:tx>
                <c:rich>
                  <a:bodyPr/>
                  <a:lstStyle/>
                  <a:p>
                    <a:r>
                      <a:rPr lang="en-US" smtClean="0"/>
                      <a:t>60%</a:t>
                    </a:r>
                    <a:endParaRPr lang="en-US"/>
                  </a:p>
                </c:rich>
              </c:tx>
              <c:dLblPos val="ctr"/>
              <c:showLegendKey val="0"/>
              <c:showVal val="1"/>
              <c:showCatName val="0"/>
              <c:showSerName val="0"/>
              <c:showPercent val="0"/>
              <c:showBubbleSize val="0"/>
            </c:dLbl>
            <c:dLbl>
              <c:idx val="1"/>
              <c:layout/>
              <c:tx>
                <c:rich>
                  <a:bodyPr/>
                  <a:lstStyle/>
                  <a:p>
                    <a:r>
                      <a:rPr lang="en-US" smtClean="0"/>
                      <a:t>40%</a:t>
                    </a:r>
                    <a:endParaRPr lang="en-US"/>
                  </a:p>
                </c:rich>
              </c:tx>
              <c:dLblPos val="ctr"/>
              <c:showLegendKey val="0"/>
              <c:showVal val="1"/>
              <c:showCatName val="0"/>
              <c:showSerName val="0"/>
              <c:showPercent val="0"/>
              <c:showBubbleSize val="0"/>
            </c:dLbl>
            <c:txPr>
              <a:bodyPr/>
              <a:lstStyle/>
              <a:p>
                <a:pPr>
                  <a:defRPr>
                    <a:solidFill>
                      <a:schemeClr val="bg1"/>
                    </a:solidFill>
                  </a:defRPr>
                </a:pPr>
                <a:endParaRPr lang="en-US"/>
              </a:p>
            </c:txPr>
            <c:dLblPos val="ctr"/>
            <c:showLegendKey val="0"/>
            <c:showVal val="1"/>
            <c:showCatName val="0"/>
            <c:showSerName val="0"/>
            <c:showPercent val="0"/>
            <c:showBubbleSize val="0"/>
            <c:showLeaderLines val="1"/>
          </c:dLbls>
          <c:cat>
            <c:strRef>
              <c:f>Sheet1!$A$2:$A$3</c:f>
              <c:strCache>
                <c:ptCount val="2"/>
                <c:pt idx="0">
                  <c:v>US Treasury securities including STRIPS</c:v>
                </c:pt>
                <c:pt idx="1">
                  <c:v>All other assets</c:v>
                </c:pt>
              </c:strCache>
            </c:strRef>
          </c:cat>
          <c:val>
            <c:numRef>
              <c:f>Sheet1!$B$2:$B$3</c:f>
              <c:numCache>
                <c:formatCode>0.00%</c:formatCode>
                <c:ptCount val="2"/>
                <c:pt idx="0">
                  <c:v>0.60489999999999999</c:v>
                </c:pt>
                <c:pt idx="1">
                  <c:v>0.39510000000000001</c:v>
                </c:pt>
              </c:numCache>
            </c:numRef>
          </c:val>
        </c:ser>
        <c:dLbls>
          <c:showLegendKey val="0"/>
          <c:showVal val="0"/>
          <c:showCatName val="0"/>
          <c:showSerName val="0"/>
          <c:showPercent val="0"/>
          <c:showBubbleSize val="0"/>
          <c:showLeaderLines val="1"/>
        </c:dLbls>
        <c:firstSliceAng val="0"/>
      </c:pieChart>
    </c:plotArea>
    <c:plotVisOnly val="1"/>
    <c:dispBlanksAs val="gap"/>
    <c:showDLblsOverMax val="0"/>
  </c:chart>
  <c:txPr>
    <a:bodyPr/>
    <a:lstStyle/>
    <a:p>
      <a:pPr>
        <a:defRPr sz="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stacked"/>
        <c:varyColors val="0"/>
        <c:ser>
          <c:idx val="0"/>
          <c:order val="0"/>
          <c:tx>
            <c:strRef>
              <c:f>Sheet1!$B$1</c:f>
              <c:strCache>
                <c:ptCount val="1"/>
                <c:pt idx="0">
                  <c:v>US Treasury securities </c:v>
                </c:pt>
              </c:strCache>
            </c:strRef>
          </c:tx>
          <c:invertIfNegative val="0"/>
          <c:dLbls>
            <c:txPr>
              <a:bodyPr/>
              <a:lstStyle/>
              <a:p>
                <a:pPr>
                  <a:defRPr>
                    <a:solidFill>
                      <a:schemeClr val="bg1"/>
                    </a:solidFill>
                  </a:defRPr>
                </a:pPr>
                <a:endParaRPr lang="en-US"/>
              </a:p>
            </c:txPr>
            <c:showLegendKey val="0"/>
            <c:showVal val="1"/>
            <c:showCatName val="0"/>
            <c:showSerName val="0"/>
            <c:showPercent val="0"/>
            <c:showBubbleSize val="0"/>
            <c:showLeaderLines val="0"/>
          </c:dLbls>
          <c:cat>
            <c:strRef>
              <c:f>Sheet1!$A$2:$A$4</c:f>
              <c:strCache>
                <c:ptCount val="3"/>
                <c:pt idx="0">
                  <c:v>Tri-Party Repo</c:v>
                </c:pt>
                <c:pt idx="1">
                  <c:v>GCF Repo</c:v>
                </c:pt>
                <c:pt idx="2">
                  <c:v>Bilateral Repo</c:v>
                </c:pt>
              </c:strCache>
            </c:strRef>
          </c:cat>
          <c:val>
            <c:numRef>
              <c:f>Sheet1!$B$2:$B$4</c:f>
              <c:numCache>
                <c:formatCode>General</c:formatCode>
                <c:ptCount val="3"/>
                <c:pt idx="0">
                  <c:v>644</c:v>
                </c:pt>
                <c:pt idx="1">
                  <c:v>204</c:v>
                </c:pt>
                <c:pt idx="2">
                  <c:v>1499</c:v>
                </c:pt>
              </c:numCache>
            </c:numRef>
          </c:val>
        </c:ser>
        <c:ser>
          <c:idx val="1"/>
          <c:order val="1"/>
          <c:tx>
            <c:strRef>
              <c:f>Sheet1!$C$1</c:f>
              <c:strCache>
                <c:ptCount val="1"/>
                <c:pt idx="0">
                  <c:v>All other assets</c:v>
                </c:pt>
              </c:strCache>
            </c:strRef>
          </c:tx>
          <c:invertIfNegative val="0"/>
          <c:dLbls>
            <c:txPr>
              <a:bodyPr/>
              <a:lstStyle/>
              <a:p>
                <a:pPr>
                  <a:defRPr>
                    <a:solidFill>
                      <a:schemeClr val="bg1"/>
                    </a:solidFill>
                  </a:defRPr>
                </a:pPr>
                <a:endParaRPr lang="en-US"/>
              </a:p>
            </c:txPr>
            <c:showLegendKey val="0"/>
            <c:showVal val="1"/>
            <c:showCatName val="0"/>
            <c:showSerName val="0"/>
            <c:showPercent val="0"/>
            <c:showBubbleSize val="0"/>
            <c:showLeaderLines val="0"/>
          </c:dLbls>
          <c:cat>
            <c:strRef>
              <c:f>Sheet1!$A$2:$A$4</c:f>
              <c:strCache>
                <c:ptCount val="3"/>
                <c:pt idx="0">
                  <c:v>Tri-Party Repo</c:v>
                </c:pt>
                <c:pt idx="1">
                  <c:v>GCF Repo</c:v>
                </c:pt>
                <c:pt idx="2">
                  <c:v>Bilateral Repo</c:v>
                </c:pt>
              </c:strCache>
            </c:strRef>
          </c:cat>
          <c:val>
            <c:numRef>
              <c:f>Sheet1!$C$2:$C$4</c:f>
              <c:numCache>
                <c:formatCode>General</c:formatCode>
                <c:ptCount val="3"/>
                <c:pt idx="0">
                  <c:v>914</c:v>
                </c:pt>
                <c:pt idx="1">
                  <c:v>220</c:v>
                </c:pt>
                <c:pt idx="2">
                  <c:v>398</c:v>
                </c:pt>
              </c:numCache>
            </c:numRef>
          </c:val>
        </c:ser>
        <c:dLbls>
          <c:showLegendKey val="0"/>
          <c:showVal val="1"/>
          <c:showCatName val="0"/>
          <c:showSerName val="0"/>
          <c:showPercent val="0"/>
          <c:showBubbleSize val="0"/>
        </c:dLbls>
        <c:gapWidth val="150"/>
        <c:overlap val="100"/>
        <c:axId val="133730304"/>
        <c:axId val="133731840"/>
      </c:barChart>
      <c:catAx>
        <c:axId val="133730304"/>
        <c:scaling>
          <c:orientation val="minMax"/>
        </c:scaling>
        <c:delete val="0"/>
        <c:axPos val="b"/>
        <c:majorTickMark val="out"/>
        <c:minorTickMark val="none"/>
        <c:tickLblPos val="nextTo"/>
        <c:crossAx val="133731840"/>
        <c:crosses val="autoZero"/>
        <c:auto val="1"/>
        <c:lblAlgn val="ctr"/>
        <c:lblOffset val="100"/>
        <c:noMultiLvlLbl val="0"/>
      </c:catAx>
      <c:valAx>
        <c:axId val="133731840"/>
        <c:scaling>
          <c:orientation val="minMax"/>
        </c:scaling>
        <c:delete val="0"/>
        <c:axPos val="l"/>
        <c:majorGridlines>
          <c:spPr>
            <a:ln>
              <a:solidFill>
                <a:schemeClr val="accent1"/>
              </a:solidFill>
              <a:prstDash val="dash"/>
            </a:ln>
          </c:spPr>
        </c:majorGridlines>
        <c:title>
          <c:tx>
            <c:rich>
              <a:bodyPr rot="-5400000" vert="horz"/>
              <a:lstStyle/>
              <a:p>
                <a:pPr>
                  <a:defRPr/>
                </a:pPr>
                <a:r>
                  <a:rPr lang="en-US" dirty="0" smtClean="0"/>
                  <a:t>Billion Dollars</a:t>
                </a:r>
                <a:endParaRPr lang="en-US" dirty="0"/>
              </a:p>
            </c:rich>
          </c:tx>
          <c:layout/>
          <c:overlay val="0"/>
        </c:title>
        <c:numFmt formatCode="General" sourceLinked="1"/>
        <c:majorTickMark val="out"/>
        <c:minorTickMark val="none"/>
        <c:tickLblPos val="nextTo"/>
        <c:crossAx val="133730304"/>
        <c:crosses val="autoZero"/>
        <c:crossBetween val="between"/>
        <c:majorUnit val="500"/>
      </c:valAx>
      <c:spPr>
        <a:noFill/>
        <a:ln>
          <a:solidFill>
            <a:schemeClr val="tx1"/>
          </a:solidFill>
        </a:ln>
      </c:spPr>
    </c:plotArea>
    <c:plotVisOnly val="1"/>
    <c:dispBlanksAs val="gap"/>
    <c:showDLblsOverMax val="0"/>
  </c:chart>
  <c:txPr>
    <a:bodyPr/>
    <a:lstStyle/>
    <a:p>
      <a:pPr>
        <a:defRPr sz="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xMode val="edge"/>
          <c:yMode val="edge"/>
          <c:x val="1.7021276595744678E-2"/>
          <c:y val="5.4545454545454529E-2"/>
          <c:w val="0.98297872340425529"/>
          <c:h val="0.94545454545454544"/>
        </c:manualLayout>
      </c:layout>
      <c:lineChart>
        <c:grouping val="standard"/>
        <c:varyColors val="0"/>
        <c:ser>
          <c:idx val="3"/>
          <c:order val="0"/>
          <c:tx>
            <c:strRef>
              <c:f>'Agency MBS'!$E$4</c:f>
              <c:strCache>
                <c:ptCount val="1"/>
                <c:pt idx="0">
                  <c:v>Total</c:v>
                </c:pt>
              </c:strCache>
            </c:strRef>
          </c:tx>
          <c:spPr>
            <a:ln w="12700">
              <a:solidFill>
                <a:schemeClr val="accent1"/>
              </a:solidFill>
              <a:prstDash val="solid"/>
            </a:ln>
          </c:spPr>
          <c:marker>
            <c:symbol val="none"/>
          </c:marker>
          <c:cat>
            <c:numRef>
              <c:f>'Agency MBS'!$A$5:$A$148</c:f>
              <c:numCache>
                <c:formatCode>m/d/yyyy</c:formatCode>
                <c:ptCount val="144"/>
                <c:pt idx="0">
                  <c:v>41367</c:v>
                </c:pt>
                <c:pt idx="1">
                  <c:v>41374</c:v>
                </c:pt>
                <c:pt idx="2">
                  <c:v>41381</c:v>
                </c:pt>
                <c:pt idx="3">
                  <c:v>41388</c:v>
                </c:pt>
                <c:pt idx="4">
                  <c:v>41395</c:v>
                </c:pt>
                <c:pt idx="5">
                  <c:v>41402</c:v>
                </c:pt>
                <c:pt idx="6">
                  <c:v>41409</c:v>
                </c:pt>
                <c:pt idx="7">
                  <c:v>41416</c:v>
                </c:pt>
                <c:pt idx="8">
                  <c:v>41423</c:v>
                </c:pt>
                <c:pt idx="9">
                  <c:v>41430</c:v>
                </c:pt>
                <c:pt idx="10">
                  <c:v>41437</c:v>
                </c:pt>
                <c:pt idx="11">
                  <c:v>41444</c:v>
                </c:pt>
                <c:pt idx="12">
                  <c:v>41451</c:v>
                </c:pt>
                <c:pt idx="13">
                  <c:v>41458</c:v>
                </c:pt>
                <c:pt idx="14">
                  <c:v>41465</c:v>
                </c:pt>
                <c:pt idx="15">
                  <c:v>41472</c:v>
                </c:pt>
                <c:pt idx="16">
                  <c:v>41479</c:v>
                </c:pt>
                <c:pt idx="17">
                  <c:v>41486</c:v>
                </c:pt>
                <c:pt idx="18">
                  <c:v>41493</c:v>
                </c:pt>
                <c:pt idx="19">
                  <c:v>41500</c:v>
                </c:pt>
                <c:pt idx="20">
                  <c:v>41507</c:v>
                </c:pt>
                <c:pt idx="21">
                  <c:v>41514</c:v>
                </c:pt>
                <c:pt idx="22">
                  <c:v>41521</c:v>
                </c:pt>
                <c:pt idx="23">
                  <c:v>41528</c:v>
                </c:pt>
                <c:pt idx="24">
                  <c:v>41535</c:v>
                </c:pt>
                <c:pt idx="25">
                  <c:v>41542</c:v>
                </c:pt>
                <c:pt idx="26">
                  <c:v>41549</c:v>
                </c:pt>
                <c:pt idx="27">
                  <c:v>41556</c:v>
                </c:pt>
                <c:pt idx="28">
                  <c:v>41563</c:v>
                </c:pt>
                <c:pt idx="29">
                  <c:v>41570</c:v>
                </c:pt>
                <c:pt idx="30">
                  <c:v>41577</c:v>
                </c:pt>
                <c:pt idx="31">
                  <c:v>41584</c:v>
                </c:pt>
                <c:pt idx="32">
                  <c:v>41591</c:v>
                </c:pt>
                <c:pt idx="33">
                  <c:v>41598</c:v>
                </c:pt>
                <c:pt idx="34">
                  <c:v>41605</c:v>
                </c:pt>
                <c:pt idx="35">
                  <c:v>41612</c:v>
                </c:pt>
                <c:pt idx="36">
                  <c:v>41619</c:v>
                </c:pt>
                <c:pt idx="37">
                  <c:v>41626</c:v>
                </c:pt>
                <c:pt idx="38">
                  <c:v>41633</c:v>
                </c:pt>
                <c:pt idx="39">
                  <c:v>41640</c:v>
                </c:pt>
                <c:pt idx="40">
                  <c:v>41647</c:v>
                </c:pt>
                <c:pt idx="41">
                  <c:v>41654</c:v>
                </c:pt>
                <c:pt idx="42">
                  <c:v>41661</c:v>
                </c:pt>
                <c:pt idx="43">
                  <c:v>41668</c:v>
                </c:pt>
                <c:pt idx="44">
                  <c:v>41675</c:v>
                </c:pt>
                <c:pt idx="45">
                  <c:v>41682</c:v>
                </c:pt>
                <c:pt idx="46">
                  <c:v>41689</c:v>
                </c:pt>
                <c:pt idx="47">
                  <c:v>41696</c:v>
                </c:pt>
                <c:pt idx="48">
                  <c:v>41703</c:v>
                </c:pt>
                <c:pt idx="49">
                  <c:v>41710</c:v>
                </c:pt>
                <c:pt idx="50">
                  <c:v>41717</c:v>
                </c:pt>
                <c:pt idx="51">
                  <c:v>41724</c:v>
                </c:pt>
                <c:pt idx="52">
                  <c:v>41731</c:v>
                </c:pt>
                <c:pt idx="53">
                  <c:v>41738</c:v>
                </c:pt>
                <c:pt idx="54">
                  <c:v>41745</c:v>
                </c:pt>
                <c:pt idx="55">
                  <c:v>41752</c:v>
                </c:pt>
                <c:pt idx="56">
                  <c:v>41759</c:v>
                </c:pt>
                <c:pt idx="57">
                  <c:v>41766</c:v>
                </c:pt>
                <c:pt idx="58">
                  <c:v>41773</c:v>
                </c:pt>
                <c:pt idx="59">
                  <c:v>41780</c:v>
                </c:pt>
                <c:pt idx="60">
                  <c:v>41787</c:v>
                </c:pt>
                <c:pt idx="61">
                  <c:v>41794</c:v>
                </c:pt>
                <c:pt idx="62">
                  <c:v>41801</c:v>
                </c:pt>
                <c:pt idx="63">
                  <c:v>41808</c:v>
                </c:pt>
                <c:pt idx="64">
                  <c:v>41815</c:v>
                </c:pt>
                <c:pt idx="65">
                  <c:v>41822</c:v>
                </c:pt>
                <c:pt idx="66">
                  <c:v>41829</c:v>
                </c:pt>
                <c:pt idx="67">
                  <c:v>41836</c:v>
                </c:pt>
                <c:pt idx="68">
                  <c:v>41843</c:v>
                </c:pt>
                <c:pt idx="69">
                  <c:v>41850</c:v>
                </c:pt>
                <c:pt idx="70">
                  <c:v>41857</c:v>
                </c:pt>
                <c:pt idx="71">
                  <c:v>41864</c:v>
                </c:pt>
                <c:pt idx="72">
                  <c:v>41871</c:v>
                </c:pt>
                <c:pt idx="73">
                  <c:v>41878</c:v>
                </c:pt>
                <c:pt idx="74">
                  <c:v>41885</c:v>
                </c:pt>
                <c:pt idx="75">
                  <c:v>41892</c:v>
                </c:pt>
                <c:pt idx="76">
                  <c:v>41899</c:v>
                </c:pt>
                <c:pt idx="77">
                  <c:v>41906</c:v>
                </c:pt>
                <c:pt idx="78">
                  <c:v>41913</c:v>
                </c:pt>
                <c:pt idx="79">
                  <c:v>41920</c:v>
                </c:pt>
                <c:pt idx="80">
                  <c:v>41927</c:v>
                </c:pt>
                <c:pt idx="81">
                  <c:v>41934</c:v>
                </c:pt>
                <c:pt idx="82">
                  <c:v>41941</c:v>
                </c:pt>
                <c:pt idx="83">
                  <c:v>41948</c:v>
                </c:pt>
                <c:pt idx="84">
                  <c:v>41955</c:v>
                </c:pt>
                <c:pt idx="85">
                  <c:v>41962</c:v>
                </c:pt>
                <c:pt idx="86">
                  <c:v>41969</c:v>
                </c:pt>
                <c:pt idx="87">
                  <c:v>41976</c:v>
                </c:pt>
                <c:pt idx="88">
                  <c:v>41983</c:v>
                </c:pt>
                <c:pt idx="89">
                  <c:v>41990</c:v>
                </c:pt>
                <c:pt idx="90">
                  <c:v>41997</c:v>
                </c:pt>
                <c:pt idx="91">
                  <c:v>42004</c:v>
                </c:pt>
                <c:pt idx="92">
                  <c:v>42011</c:v>
                </c:pt>
                <c:pt idx="93">
                  <c:v>42018</c:v>
                </c:pt>
                <c:pt idx="94">
                  <c:v>42025</c:v>
                </c:pt>
                <c:pt idx="95">
                  <c:v>42032</c:v>
                </c:pt>
                <c:pt idx="96">
                  <c:v>42039</c:v>
                </c:pt>
                <c:pt idx="97">
                  <c:v>42046</c:v>
                </c:pt>
                <c:pt idx="98">
                  <c:v>42053</c:v>
                </c:pt>
                <c:pt idx="99">
                  <c:v>42060</c:v>
                </c:pt>
                <c:pt idx="100">
                  <c:v>42067</c:v>
                </c:pt>
                <c:pt idx="101">
                  <c:v>42074</c:v>
                </c:pt>
                <c:pt idx="102">
                  <c:v>42081</c:v>
                </c:pt>
                <c:pt idx="103">
                  <c:v>42088</c:v>
                </c:pt>
                <c:pt idx="104">
                  <c:v>42095</c:v>
                </c:pt>
                <c:pt idx="105">
                  <c:v>42102</c:v>
                </c:pt>
                <c:pt idx="106">
                  <c:v>42109</c:v>
                </c:pt>
                <c:pt idx="107">
                  <c:v>42116</c:v>
                </c:pt>
                <c:pt idx="108">
                  <c:v>42123</c:v>
                </c:pt>
                <c:pt idx="109">
                  <c:v>42130</c:v>
                </c:pt>
                <c:pt idx="110">
                  <c:v>42137</c:v>
                </c:pt>
                <c:pt idx="111">
                  <c:v>42144</c:v>
                </c:pt>
                <c:pt idx="112">
                  <c:v>42151</c:v>
                </c:pt>
                <c:pt idx="113">
                  <c:v>42158</c:v>
                </c:pt>
                <c:pt idx="114">
                  <c:v>42165</c:v>
                </c:pt>
                <c:pt idx="115">
                  <c:v>42172</c:v>
                </c:pt>
                <c:pt idx="116">
                  <c:v>42179</c:v>
                </c:pt>
                <c:pt idx="117">
                  <c:v>42186</c:v>
                </c:pt>
                <c:pt idx="118">
                  <c:v>42193</c:v>
                </c:pt>
                <c:pt idx="119">
                  <c:v>42200</c:v>
                </c:pt>
                <c:pt idx="120">
                  <c:v>42207</c:v>
                </c:pt>
                <c:pt idx="121">
                  <c:v>42214</c:v>
                </c:pt>
                <c:pt idx="122">
                  <c:v>42221</c:v>
                </c:pt>
                <c:pt idx="123">
                  <c:v>42228</c:v>
                </c:pt>
                <c:pt idx="124">
                  <c:v>42235</c:v>
                </c:pt>
                <c:pt idx="125">
                  <c:v>42242</c:v>
                </c:pt>
                <c:pt idx="126">
                  <c:v>42249</c:v>
                </c:pt>
                <c:pt idx="127">
                  <c:v>42256</c:v>
                </c:pt>
                <c:pt idx="128">
                  <c:v>42263</c:v>
                </c:pt>
                <c:pt idx="129">
                  <c:v>42270</c:v>
                </c:pt>
                <c:pt idx="130">
                  <c:v>42277</c:v>
                </c:pt>
                <c:pt idx="131">
                  <c:v>42284</c:v>
                </c:pt>
                <c:pt idx="132">
                  <c:v>42291</c:v>
                </c:pt>
                <c:pt idx="133">
                  <c:v>42298</c:v>
                </c:pt>
                <c:pt idx="134">
                  <c:v>42305</c:v>
                </c:pt>
                <c:pt idx="135">
                  <c:v>42312</c:v>
                </c:pt>
                <c:pt idx="136">
                  <c:v>42319</c:v>
                </c:pt>
                <c:pt idx="137">
                  <c:v>42326</c:v>
                </c:pt>
                <c:pt idx="138">
                  <c:v>42333</c:v>
                </c:pt>
                <c:pt idx="139">
                  <c:v>42340</c:v>
                </c:pt>
                <c:pt idx="140">
                  <c:v>42347</c:v>
                </c:pt>
                <c:pt idx="141">
                  <c:v>42354</c:v>
                </c:pt>
                <c:pt idx="142">
                  <c:v>42361</c:v>
                </c:pt>
                <c:pt idx="143">
                  <c:v>42368</c:v>
                </c:pt>
              </c:numCache>
            </c:numRef>
          </c:cat>
          <c:val>
            <c:numRef>
              <c:f>'Agency MBS'!$E$5:$E$148</c:f>
              <c:numCache>
                <c:formatCode>_(* #,##0_);_(* \(#,##0\);_(* "-"??_);_(@_)</c:formatCode>
                <c:ptCount val="144"/>
                <c:pt idx="0">
                  <c:v>713.85199999999998</c:v>
                </c:pt>
                <c:pt idx="1">
                  <c:v>717.69100000000003</c:v>
                </c:pt>
                <c:pt idx="2">
                  <c:v>701.33199999999999</c:v>
                </c:pt>
                <c:pt idx="3">
                  <c:v>697.44899999999996</c:v>
                </c:pt>
                <c:pt idx="4">
                  <c:v>696.41699999999992</c:v>
                </c:pt>
                <c:pt idx="5">
                  <c:v>710.72699999999998</c:v>
                </c:pt>
                <c:pt idx="6">
                  <c:v>719.25</c:v>
                </c:pt>
                <c:pt idx="7">
                  <c:v>721.678</c:v>
                </c:pt>
                <c:pt idx="8">
                  <c:v>713.99800000000005</c:v>
                </c:pt>
                <c:pt idx="9">
                  <c:v>708.76400000000001</c:v>
                </c:pt>
                <c:pt idx="10">
                  <c:v>708.54600000000005</c:v>
                </c:pt>
                <c:pt idx="11">
                  <c:v>699.74099999999999</c:v>
                </c:pt>
                <c:pt idx="12">
                  <c:v>696.54499999999996</c:v>
                </c:pt>
                <c:pt idx="13">
                  <c:v>662.36799999999994</c:v>
                </c:pt>
                <c:pt idx="14">
                  <c:v>656.15899999999999</c:v>
                </c:pt>
                <c:pt idx="15">
                  <c:v>640.63900000000001</c:v>
                </c:pt>
                <c:pt idx="16">
                  <c:v>646.47299999999996</c:v>
                </c:pt>
                <c:pt idx="17">
                  <c:v>622.53700000000003</c:v>
                </c:pt>
                <c:pt idx="18">
                  <c:v>617.50700000000006</c:v>
                </c:pt>
                <c:pt idx="19">
                  <c:v>611.37300000000005</c:v>
                </c:pt>
                <c:pt idx="20">
                  <c:v>594.06899999999996</c:v>
                </c:pt>
                <c:pt idx="21">
                  <c:v>607.91100000000006</c:v>
                </c:pt>
                <c:pt idx="22">
                  <c:v>598.53399999999999</c:v>
                </c:pt>
                <c:pt idx="23">
                  <c:v>599.58999999999992</c:v>
                </c:pt>
                <c:pt idx="24">
                  <c:v>600.52299999999991</c:v>
                </c:pt>
                <c:pt idx="25">
                  <c:v>593.14599999999996</c:v>
                </c:pt>
                <c:pt idx="26">
                  <c:v>582.24900000000002</c:v>
                </c:pt>
                <c:pt idx="27">
                  <c:v>600.11500000000001</c:v>
                </c:pt>
                <c:pt idx="28">
                  <c:v>581.64699999999993</c:v>
                </c:pt>
                <c:pt idx="29">
                  <c:v>604.74599999999998</c:v>
                </c:pt>
                <c:pt idx="30">
                  <c:v>606.93700000000001</c:v>
                </c:pt>
                <c:pt idx="31">
                  <c:v>611.50099999999998</c:v>
                </c:pt>
                <c:pt idx="32">
                  <c:v>606.89800000000002</c:v>
                </c:pt>
                <c:pt idx="33">
                  <c:v>611.38</c:v>
                </c:pt>
                <c:pt idx="34">
                  <c:v>603.11400000000003</c:v>
                </c:pt>
                <c:pt idx="35">
                  <c:v>596.077</c:v>
                </c:pt>
                <c:pt idx="36">
                  <c:v>593.82500000000005</c:v>
                </c:pt>
                <c:pt idx="37">
                  <c:v>579.30700000000002</c:v>
                </c:pt>
                <c:pt idx="38">
                  <c:v>596.08199999999999</c:v>
                </c:pt>
                <c:pt idx="39">
                  <c:v>511.12499999999994</c:v>
                </c:pt>
                <c:pt idx="40">
                  <c:v>549.68299999999999</c:v>
                </c:pt>
                <c:pt idx="41">
                  <c:v>538.32899999999995</c:v>
                </c:pt>
                <c:pt idx="42">
                  <c:v>546.83399999999995</c:v>
                </c:pt>
                <c:pt idx="43">
                  <c:v>556.61200000000008</c:v>
                </c:pt>
                <c:pt idx="44">
                  <c:v>535.51099999999997</c:v>
                </c:pt>
                <c:pt idx="45">
                  <c:v>535.07400000000007</c:v>
                </c:pt>
                <c:pt idx="46">
                  <c:v>523.08199999999999</c:v>
                </c:pt>
                <c:pt idx="47">
                  <c:v>533.97799999999995</c:v>
                </c:pt>
                <c:pt idx="48">
                  <c:v>533.375</c:v>
                </c:pt>
                <c:pt idx="49">
                  <c:v>541.11300000000006</c:v>
                </c:pt>
                <c:pt idx="50">
                  <c:v>512.56500000000005</c:v>
                </c:pt>
                <c:pt idx="51">
                  <c:v>510.21500000000003</c:v>
                </c:pt>
                <c:pt idx="52">
                  <c:v>498.28399999999999</c:v>
                </c:pt>
                <c:pt idx="53">
                  <c:v>519.45399999999995</c:v>
                </c:pt>
                <c:pt idx="54">
                  <c:v>523.65800000000002</c:v>
                </c:pt>
                <c:pt idx="55">
                  <c:v>515.154</c:v>
                </c:pt>
                <c:pt idx="56">
                  <c:v>504.49299999999994</c:v>
                </c:pt>
                <c:pt idx="57">
                  <c:v>517.12199999999996</c:v>
                </c:pt>
                <c:pt idx="58">
                  <c:v>510.50099999999998</c:v>
                </c:pt>
                <c:pt idx="59">
                  <c:v>512.54899999999998</c:v>
                </c:pt>
                <c:pt idx="60">
                  <c:v>518.56100000000004</c:v>
                </c:pt>
                <c:pt idx="61">
                  <c:v>509.00800000000004</c:v>
                </c:pt>
                <c:pt idx="62">
                  <c:v>505.93700000000001</c:v>
                </c:pt>
                <c:pt idx="63">
                  <c:v>507.06599999999997</c:v>
                </c:pt>
                <c:pt idx="64">
                  <c:v>506.68300000000005</c:v>
                </c:pt>
                <c:pt idx="65">
                  <c:v>489.875</c:v>
                </c:pt>
                <c:pt idx="66">
                  <c:v>490.851</c:v>
                </c:pt>
                <c:pt idx="67">
                  <c:v>500.95500000000004</c:v>
                </c:pt>
                <c:pt idx="68">
                  <c:v>500.58200000000005</c:v>
                </c:pt>
                <c:pt idx="69">
                  <c:v>500.25400000000002</c:v>
                </c:pt>
                <c:pt idx="70">
                  <c:v>500.125</c:v>
                </c:pt>
                <c:pt idx="71">
                  <c:v>492.75400000000002</c:v>
                </c:pt>
                <c:pt idx="72">
                  <c:v>501.38600000000002</c:v>
                </c:pt>
                <c:pt idx="73">
                  <c:v>516.59100000000001</c:v>
                </c:pt>
                <c:pt idx="74">
                  <c:v>521.51699999999994</c:v>
                </c:pt>
                <c:pt idx="75">
                  <c:v>490.63699999999994</c:v>
                </c:pt>
                <c:pt idx="76">
                  <c:v>491.24900000000002</c:v>
                </c:pt>
                <c:pt idx="77">
                  <c:v>463.10700000000003</c:v>
                </c:pt>
                <c:pt idx="78">
                  <c:v>447.43299999999999</c:v>
                </c:pt>
                <c:pt idx="79">
                  <c:v>455.31200000000001</c:v>
                </c:pt>
                <c:pt idx="80">
                  <c:v>467.89799999999997</c:v>
                </c:pt>
                <c:pt idx="81">
                  <c:v>477.27800000000002</c:v>
                </c:pt>
                <c:pt idx="82">
                  <c:v>493.95699999999999</c:v>
                </c:pt>
                <c:pt idx="83">
                  <c:v>482.06100000000004</c:v>
                </c:pt>
                <c:pt idx="84">
                  <c:v>473.71400000000006</c:v>
                </c:pt>
                <c:pt idx="85">
                  <c:v>465.17700000000002</c:v>
                </c:pt>
                <c:pt idx="86">
                  <c:v>457.74599999999998</c:v>
                </c:pt>
                <c:pt idx="87">
                  <c:v>462.74699999999996</c:v>
                </c:pt>
                <c:pt idx="88">
                  <c:v>462.49399999999997</c:v>
                </c:pt>
                <c:pt idx="89">
                  <c:v>456.09399999999999</c:v>
                </c:pt>
                <c:pt idx="90">
                  <c:v>470.21100000000001</c:v>
                </c:pt>
                <c:pt idx="91">
                  <c:v>415.31799999999998</c:v>
                </c:pt>
                <c:pt idx="92">
                  <c:v>433.42200000000003</c:v>
                </c:pt>
                <c:pt idx="93">
                  <c:v>445.99700000000001</c:v>
                </c:pt>
                <c:pt idx="94">
                  <c:v>430.786</c:v>
                </c:pt>
                <c:pt idx="95">
                  <c:v>435.666</c:v>
                </c:pt>
                <c:pt idx="96">
                  <c:v>443.863</c:v>
                </c:pt>
                <c:pt idx="97">
                  <c:v>437.27199999999999</c:v>
                </c:pt>
                <c:pt idx="98">
                  <c:v>432.44999999999993</c:v>
                </c:pt>
                <c:pt idx="99">
                  <c:v>418.50200000000001</c:v>
                </c:pt>
                <c:pt idx="100">
                  <c:v>417.01400000000001</c:v>
                </c:pt>
                <c:pt idx="101">
                  <c:v>430.79100000000005</c:v>
                </c:pt>
                <c:pt idx="102">
                  <c:v>422.70799999999997</c:v>
                </c:pt>
                <c:pt idx="103">
                  <c:v>426.14300000000003</c:v>
                </c:pt>
                <c:pt idx="104">
                  <c:v>409.596</c:v>
                </c:pt>
                <c:pt idx="105">
                  <c:v>421.22399999999999</c:v>
                </c:pt>
                <c:pt idx="106">
                  <c:v>425.74899999999997</c:v>
                </c:pt>
                <c:pt idx="107">
                  <c:v>414.71200000000005</c:v>
                </c:pt>
                <c:pt idx="108">
                  <c:v>403.55199999999996</c:v>
                </c:pt>
                <c:pt idx="109">
                  <c:v>397.57900000000001</c:v>
                </c:pt>
                <c:pt idx="110">
                  <c:v>410.74699999999996</c:v>
                </c:pt>
                <c:pt idx="111">
                  <c:v>402.98700000000002</c:v>
                </c:pt>
                <c:pt idx="112">
                  <c:v>398.81199999999995</c:v>
                </c:pt>
                <c:pt idx="113">
                  <c:v>407.99</c:v>
                </c:pt>
                <c:pt idx="114">
                  <c:v>404.29</c:v>
                </c:pt>
                <c:pt idx="115">
                  <c:v>396.46799999999996</c:v>
                </c:pt>
                <c:pt idx="116">
                  <c:v>391.35400000000004</c:v>
                </c:pt>
                <c:pt idx="117">
                  <c:v>377.69499999999999</c:v>
                </c:pt>
                <c:pt idx="118">
                  <c:v>395.63200000000001</c:v>
                </c:pt>
                <c:pt idx="119">
                  <c:v>407.01099999999997</c:v>
                </c:pt>
                <c:pt idx="120">
                  <c:v>401.786</c:v>
                </c:pt>
                <c:pt idx="121">
                  <c:v>405.51600000000002</c:v>
                </c:pt>
                <c:pt idx="122">
                  <c:v>401.27800000000002</c:v>
                </c:pt>
                <c:pt idx="123">
                  <c:v>404.28800000000001</c:v>
                </c:pt>
                <c:pt idx="124">
                  <c:v>406.18400000000003</c:v>
                </c:pt>
                <c:pt idx="125">
                  <c:v>410.84100000000001</c:v>
                </c:pt>
                <c:pt idx="126">
                  <c:v>400.35300000000001</c:v>
                </c:pt>
                <c:pt idx="127">
                  <c:v>397.83</c:v>
                </c:pt>
                <c:pt idx="128">
                  <c:v>396.50699999999995</c:v>
                </c:pt>
                <c:pt idx="129">
                  <c:v>374.43600000000004</c:v>
                </c:pt>
                <c:pt idx="130">
                  <c:v>367.98099999999999</c:v>
                </c:pt>
                <c:pt idx="131">
                  <c:v>374.83900000000006</c:v>
                </c:pt>
                <c:pt idx="132">
                  <c:v>385.77800000000002</c:v>
                </c:pt>
                <c:pt idx="133">
                  <c:v>385.69399999999996</c:v>
                </c:pt>
                <c:pt idx="134">
                  <c:v>384.851</c:v>
                </c:pt>
                <c:pt idx="135">
                  <c:v>381.00799999999998</c:v>
                </c:pt>
                <c:pt idx="136">
                  <c:v>381.15899999999999</c:v>
                </c:pt>
                <c:pt idx="137">
                  <c:v>372.47399999999999</c:v>
                </c:pt>
                <c:pt idx="138">
                  <c:v>368.26000000000005</c:v>
                </c:pt>
                <c:pt idx="139">
                  <c:v>339.88100000000003</c:v>
                </c:pt>
                <c:pt idx="140">
                  <c:v>362.28200000000004</c:v>
                </c:pt>
                <c:pt idx="141">
                  <c:v>355.70400000000001</c:v>
                </c:pt>
                <c:pt idx="142">
                  <c:v>349.73500000000001</c:v>
                </c:pt>
                <c:pt idx="143">
                  <c:v>356.68</c:v>
                </c:pt>
              </c:numCache>
            </c:numRef>
          </c:val>
          <c:smooth val="0"/>
        </c:ser>
        <c:dLbls>
          <c:showLegendKey val="0"/>
          <c:showVal val="0"/>
          <c:showCatName val="0"/>
          <c:showSerName val="0"/>
          <c:showPercent val="0"/>
          <c:showBubbleSize val="0"/>
        </c:dLbls>
        <c:marker val="1"/>
        <c:smooth val="0"/>
        <c:axId val="100794368"/>
        <c:axId val="100795904"/>
      </c:lineChart>
      <c:dateAx>
        <c:axId val="100794368"/>
        <c:scaling>
          <c:orientation val="minMax"/>
        </c:scaling>
        <c:delete val="0"/>
        <c:axPos val="b"/>
        <c:numFmt formatCode="[$-409]mmm\-yy;@" sourceLinked="0"/>
        <c:majorTickMark val="out"/>
        <c:minorTickMark val="none"/>
        <c:tickLblPos val="low"/>
        <c:spPr>
          <a:ln w="12700">
            <a:solidFill>
              <a:schemeClr val="tx1"/>
            </a:solidFill>
            <a:prstDash val="solid"/>
          </a:ln>
          <a:effectLst/>
        </c:spPr>
        <c:txPr>
          <a:bodyPr/>
          <a:lstStyle/>
          <a:p>
            <a:pPr>
              <a:defRPr sz="800" b="0" i="0" u="none" strike="noStrike" baseline="0">
                <a:solidFill>
                  <a:srgbClr val="000000"/>
                </a:solidFill>
                <a:latin typeface="Arial Narrow"/>
                <a:ea typeface="Arial Narrow"/>
                <a:cs typeface="Arial Narrow"/>
              </a:defRPr>
            </a:pPr>
            <a:endParaRPr lang="en-US"/>
          </a:p>
        </c:txPr>
        <c:crossAx val="100795904"/>
        <c:crosses val="autoZero"/>
        <c:auto val="1"/>
        <c:lblOffset val="100"/>
        <c:baseTimeUnit val="days"/>
      </c:dateAx>
      <c:valAx>
        <c:axId val="100795904"/>
        <c:scaling>
          <c:orientation val="minMax"/>
        </c:scaling>
        <c:delete val="0"/>
        <c:axPos val="l"/>
        <c:numFmt formatCode="0" sourceLinked="0"/>
        <c:majorTickMark val="out"/>
        <c:minorTickMark val="none"/>
        <c:tickLblPos val="nextTo"/>
        <c:spPr>
          <a:ln w="12700">
            <a:solidFill>
              <a:srgbClr val="000000"/>
            </a:solidFill>
            <a:prstDash val="solid"/>
          </a:ln>
          <a:effectLst/>
        </c:spPr>
        <c:txPr>
          <a:bodyPr/>
          <a:lstStyle/>
          <a:p>
            <a:pPr>
              <a:defRPr sz="800" b="0" i="0" u="none" strike="noStrike" baseline="0">
                <a:solidFill>
                  <a:srgbClr val="000000"/>
                </a:solidFill>
                <a:latin typeface="Arial Narrow"/>
                <a:ea typeface="Arial Narrow"/>
                <a:cs typeface="Arial Narrow"/>
              </a:defRPr>
            </a:pPr>
            <a:endParaRPr lang="en-US"/>
          </a:p>
        </c:txPr>
        <c:crossAx val="100794368"/>
        <c:crossesAt val="41367"/>
        <c:crossBetween val="midCat"/>
      </c:valAx>
      <c:spPr>
        <a:solidFill>
          <a:srgbClr val="FFFFFF"/>
        </a:solidFill>
        <a:ln w="25400">
          <a:noFill/>
        </a:ln>
      </c:spPr>
    </c:plotArea>
    <c:plotVisOnly val="1"/>
    <c:dispBlanksAs val="gap"/>
    <c:showDLblsOverMax val="0"/>
  </c:chart>
  <c:spPr>
    <a:solidFill>
      <a:srgbClr val="FFFFFF"/>
    </a:solidFill>
    <a:ln w="25400">
      <a:noFill/>
    </a:ln>
  </c:spPr>
  <c:txPr>
    <a:bodyPr/>
    <a:lstStyle/>
    <a:p>
      <a:pPr>
        <a:defRPr sz="800" b="0" i="0">
          <a:latin typeface="Arial Narrow"/>
          <a:ea typeface="Arial Narrow"/>
          <a:cs typeface="Arial Narrow"/>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901424024124652"/>
          <c:y val="8.2363636363636361E-2"/>
          <c:w val="0.86119852571620037"/>
          <c:h val="0.74614125507038942"/>
        </c:manualLayout>
      </c:layout>
      <c:lineChart>
        <c:grouping val="standard"/>
        <c:varyColors val="0"/>
        <c:ser>
          <c:idx val="0"/>
          <c:order val="0"/>
          <c:tx>
            <c:strRef>
              <c:f>'Agency MBS'!$G$4</c:f>
              <c:strCache>
                <c:ptCount val="1"/>
                <c:pt idx="0">
                  <c:v>O/N</c:v>
                </c:pt>
              </c:strCache>
            </c:strRef>
          </c:tx>
          <c:spPr>
            <a:ln w="12700">
              <a:solidFill>
                <a:schemeClr val="accent1"/>
              </a:solidFill>
              <a:prstDash val="solid"/>
            </a:ln>
          </c:spPr>
          <c:marker>
            <c:symbol val="none"/>
          </c:marker>
          <c:cat>
            <c:numRef>
              <c:f>'Agency MBS'!$A$5:$A$147</c:f>
              <c:numCache>
                <c:formatCode>m/d/yyyy</c:formatCode>
                <c:ptCount val="143"/>
                <c:pt idx="0">
                  <c:v>41367</c:v>
                </c:pt>
                <c:pt idx="1">
                  <c:v>41374</c:v>
                </c:pt>
                <c:pt idx="2">
                  <c:v>41381</c:v>
                </c:pt>
                <c:pt idx="3">
                  <c:v>41388</c:v>
                </c:pt>
                <c:pt idx="4">
                  <c:v>41395</c:v>
                </c:pt>
                <c:pt idx="5">
                  <c:v>41402</c:v>
                </c:pt>
                <c:pt idx="6">
                  <c:v>41409</c:v>
                </c:pt>
                <c:pt idx="7">
                  <c:v>41416</c:v>
                </c:pt>
                <c:pt idx="8">
                  <c:v>41423</c:v>
                </c:pt>
                <c:pt idx="9">
                  <c:v>41430</c:v>
                </c:pt>
                <c:pt idx="10">
                  <c:v>41437</c:v>
                </c:pt>
                <c:pt idx="11">
                  <c:v>41444</c:v>
                </c:pt>
                <c:pt idx="12">
                  <c:v>41451</c:v>
                </c:pt>
                <c:pt idx="13">
                  <c:v>41458</c:v>
                </c:pt>
                <c:pt idx="14">
                  <c:v>41465</c:v>
                </c:pt>
                <c:pt idx="15">
                  <c:v>41472</c:v>
                </c:pt>
                <c:pt idx="16">
                  <c:v>41479</c:v>
                </c:pt>
                <c:pt idx="17">
                  <c:v>41486</c:v>
                </c:pt>
                <c:pt idx="18">
                  <c:v>41493</c:v>
                </c:pt>
                <c:pt idx="19">
                  <c:v>41500</c:v>
                </c:pt>
                <c:pt idx="20">
                  <c:v>41507</c:v>
                </c:pt>
                <c:pt idx="21">
                  <c:v>41514</c:v>
                </c:pt>
                <c:pt idx="22">
                  <c:v>41521</c:v>
                </c:pt>
                <c:pt idx="23">
                  <c:v>41528</c:v>
                </c:pt>
                <c:pt idx="24">
                  <c:v>41535</c:v>
                </c:pt>
                <c:pt idx="25">
                  <c:v>41542</c:v>
                </c:pt>
                <c:pt idx="26">
                  <c:v>41549</c:v>
                </c:pt>
                <c:pt idx="27">
                  <c:v>41556</c:v>
                </c:pt>
                <c:pt idx="28">
                  <c:v>41563</c:v>
                </c:pt>
                <c:pt idx="29">
                  <c:v>41570</c:v>
                </c:pt>
                <c:pt idx="30">
                  <c:v>41577</c:v>
                </c:pt>
                <c:pt idx="31">
                  <c:v>41584</c:v>
                </c:pt>
                <c:pt idx="32">
                  <c:v>41591</c:v>
                </c:pt>
                <c:pt idx="33">
                  <c:v>41598</c:v>
                </c:pt>
                <c:pt idx="34">
                  <c:v>41605</c:v>
                </c:pt>
                <c:pt idx="35">
                  <c:v>41612</c:v>
                </c:pt>
                <c:pt idx="36">
                  <c:v>41619</c:v>
                </c:pt>
                <c:pt idx="37">
                  <c:v>41626</c:v>
                </c:pt>
                <c:pt idx="38">
                  <c:v>41633</c:v>
                </c:pt>
                <c:pt idx="39">
                  <c:v>41640</c:v>
                </c:pt>
                <c:pt idx="40">
                  <c:v>41647</c:v>
                </c:pt>
                <c:pt idx="41">
                  <c:v>41654</c:v>
                </c:pt>
                <c:pt idx="42">
                  <c:v>41661</c:v>
                </c:pt>
                <c:pt idx="43">
                  <c:v>41668</c:v>
                </c:pt>
                <c:pt idx="44">
                  <c:v>41675</c:v>
                </c:pt>
                <c:pt idx="45">
                  <c:v>41682</c:v>
                </c:pt>
                <c:pt idx="46">
                  <c:v>41689</c:v>
                </c:pt>
                <c:pt idx="47">
                  <c:v>41696</c:v>
                </c:pt>
                <c:pt idx="48">
                  <c:v>41703</c:v>
                </c:pt>
                <c:pt idx="49">
                  <c:v>41710</c:v>
                </c:pt>
                <c:pt idx="50">
                  <c:v>41717</c:v>
                </c:pt>
                <c:pt idx="51">
                  <c:v>41724</c:v>
                </c:pt>
                <c:pt idx="52">
                  <c:v>41731</c:v>
                </c:pt>
                <c:pt idx="53">
                  <c:v>41738</c:v>
                </c:pt>
                <c:pt idx="54">
                  <c:v>41745</c:v>
                </c:pt>
                <c:pt idx="55">
                  <c:v>41752</c:v>
                </c:pt>
                <c:pt idx="56">
                  <c:v>41759</c:v>
                </c:pt>
                <c:pt idx="57">
                  <c:v>41766</c:v>
                </c:pt>
                <c:pt idx="58">
                  <c:v>41773</c:v>
                </c:pt>
                <c:pt idx="59">
                  <c:v>41780</c:v>
                </c:pt>
                <c:pt idx="60">
                  <c:v>41787</c:v>
                </c:pt>
                <c:pt idx="61">
                  <c:v>41794</c:v>
                </c:pt>
                <c:pt idx="62">
                  <c:v>41801</c:v>
                </c:pt>
                <c:pt idx="63">
                  <c:v>41808</c:v>
                </c:pt>
                <c:pt idx="64">
                  <c:v>41815</c:v>
                </c:pt>
                <c:pt idx="65">
                  <c:v>41822</c:v>
                </c:pt>
                <c:pt idx="66">
                  <c:v>41829</c:v>
                </c:pt>
                <c:pt idx="67">
                  <c:v>41836</c:v>
                </c:pt>
                <c:pt idx="68">
                  <c:v>41843</c:v>
                </c:pt>
                <c:pt idx="69">
                  <c:v>41850</c:v>
                </c:pt>
                <c:pt idx="70">
                  <c:v>41857</c:v>
                </c:pt>
                <c:pt idx="71">
                  <c:v>41864</c:v>
                </c:pt>
                <c:pt idx="72">
                  <c:v>41871</c:v>
                </c:pt>
                <c:pt idx="73">
                  <c:v>41878</c:v>
                </c:pt>
                <c:pt idx="74">
                  <c:v>41885</c:v>
                </c:pt>
                <c:pt idx="75">
                  <c:v>41892</c:v>
                </c:pt>
                <c:pt idx="76">
                  <c:v>41899</c:v>
                </c:pt>
                <c:pt idx="77">
                  <c:v>41906</c:v>
                </c:pt>
                <c:pt idx="78">
                  <c:v>41913</c:v>
                </c:pt>
                <c:pt idx="79">
                  <c:v>41920</c:v>
                </c:pt>
                <c:pt idx="80">
                  <c:v>41927</c:v>
                </c:pt>
                <c:pt idx="81">
                  <c:v>41934</c:v>
                </c:pt>
                <c:pt idx="82">
                  <c:v>41941</c:v>
                </c:pt>
                <c:pt idx="83">
                  <c:v>41948</c:v>
                </c:pt>
                <c:pt idx="84">
                  <c:v>41955</c:v>
                </c:pt>
                <c:pt idx="85">
                  <c:v>41962</c:v>
                </c:pt>
                <c:pt idx="86">
                  <c:v>41969</c:v>
                </c:pt>
                <c:pt idx="87">
                  <c:v>41976</c:v>
                </c:pt>
                <c:pt idx="88">
                  <c:v>41983</c:v>
                </c:pt>
                <c:pt idx="89">
                  <c:v>41990</c:v>
                </c:pt>
                <c:pt idx="90">
                  <c:v>41997</c:v>
                </c:pt>
                <c:pt idx="91">
                  <c:v>42004</c:v>
                </c:pt>
                <c:pt idx="92">
                  <c:v>42011</c:v>
                </c:pt>
                <c:pt idx="93">
                  <c:v>42018</c:v>
                </c:pt>
                <c:pt idx="94">
                  <c:v>42025</c:v>
                </c:pt>
                <c:pt idx="95">
                  <c:v>42032</c:v>
                </c:pt>
                <c:pt idx="96">
                  <c:v>42039</c:v>
                </c:pt>
                <c:pt idx="97">
                  <c:v>42046</c:v>
                </c:pt>
                <c:pt idx="98">
                  <c:v>42053</c:v>
                </c:pt>
                <c:pt idx="99">
                  <c:v>42060</c:v>
                </c:pt>
                <c:pt idx="100">
                  <c:v>42067</c:v>
                </c:pt>
                <c:pt idx="101">
                  <c:v>42074</c:v>
                </c:pt>
                <c:pt idx="102">
                  <c:v>42081</c:v>
                </c:pt>
                <c:pt idx="103">
                  <c:v>42088</c:v>
                </c:pt>
                <c:pt idx="104">
                  <c:v>42095</c:v>
                </c:pt>
                <c:pt idx="105">
                  <c:v>42102</c:v>
                </c:pt>
                <c:pt idx="106">
                  <c:v>42109</c:v>
                </c:pt>
                <c:pt idx="107">
                  <c:v>42116</c:v>
                </c:pt>
                <c:pt idx="108">
                  <c:v>42123</c:v>
                </c:pt>
                <c:pt idx="109">
                  <c:v>42130</c:v>
                </c:pt>
                <c:pt idx="110">
                  <c:v>42137</c:v>
                </c:pt>
                <c:pt idx="111">
                  <c:v>42144</c:v>
                </c:pt>
                <c:pt idx="112">
                  <c:v>42151</c:v>
                </c:pt>
                <c:pt idx="113">
                  <c:v>42158</c:v>
                </c:pt>
                <c:pt idx="114">
                  <c:v>42165</c:v>
                </c:pt>
                <c:pt idx="115">
                  <c:v>42172</c:v>
                </c:pt>
                <c:pt idx="116">
                  <c:v>42179</c:v>
                </c:pt>
                <c:pt idx="117">
                  <c:v>42186</c:v>
                </c:pt>
                <c:pt idx="118">
                  <c:v>42193</c:v>
                </c:pt>
                <c:pt idx="119">
                  <c:v>42200</c:v>
                </c:pt>
                <c:pt idx="120">
                  <c:v>42207</c:v>
                </c:pt>
                <c:pt idx="121">
                  <c:v>42214</c:v>
                </c:pt>
                <c:pt idx="122">
                  <c:v>42221</c:v>
                </c:pt>
                <c:pt idx="123">
                  <c:v>42228</c:v>
                </c:pt>
                <c:pt idx="124">
                  <c:v>42235</c:v>
                </c:pt>
                <c:pt idx="125">
                  <c:v>42242</c:v>
                </c:pt>
                <c:pt idx="126">
                  <c:v>42249</c:v>
                </c:pt>
                <c:pt idx="127">
                  <c:v>42256</c:v>
                </c:pt>
                <c:pt idx="128">
                  <c:v>42263</c:v>
                </c:pt>
                <c:pt idx="129">
                  <c:v>42270</c:v>
                </c:pt>
                <c:pt idx="130">
                  <c:v>42277</c:v>
                </c:pt>
                <c:pt idx="131">
                  <c:v>42284</c:v>
                </c:pt>
                <c:pt idx="132">
                  <c:v>42291</c:v>
                </c:pt>
                <c:pt idx="133">
                  <c:v>42298</c:v>
                </c:pt>
                <c:pt idx="134">
                  <c:v>42305</c:v>
                </c:pt>
                <c:pt idx="135">
                  <c:v>42312</c:v>
                </c:pt>
                <c:pt idx="136">
                  <c:v>42319</c:v>
                </c:pt>
                <c:pt idx="137">
                  <c:v>42326</c:v>
                </c:pt>
                <c:pt idx="138">
                  <c:v>42333</c:v>
                </c:pt>
                <c:pt idx="139">
                  <c:v>42340</c:v>
                </c:pt>
                <c:pt idx="140">
                  <c:v>42347</c:v>
                </c:pt>
                <c:pt idx="141">
                  <c:v>42354</c:v>
                </c:pt>
                <c:pt idx="142">
                  <c:v>42361</c:v>
                </c:pt>
              </c:numCache>
            </c:numRef>
          </c:cat>
          <c:val>
            <c:numRef>
              <c:f>'Agency MBS'!$G$5:$G$147</c:f>
              <c:numCache>
                <c:formatCode>0%</c:formatCode>
                <c:ptCount val="143"/>
                <c:pt idx="0">
                  <c:v>0.5625003502126491</c:v>
                </c:pt>
                <c:pt idx="1">
                  <c:v>0.58212378307656076</c:v>
                </c:pt>
                <c:pt idx="2">
                  <c:v>0.5685082100916542</c:v>
                </c:pt>
                <c:pt idx="3">
                  <c:v>0.58633391115336031</c:v>
                </c:pt>
                <c:pt idx="4">
                  <c:v>0.5731379331636075</c:v>
                </c:pt>
                <c:pt idx="5">
                  <c:v>0.56905112652256074</c:v>
                </c:pt>
                <c:pt idx="6">
                  <c:v>0.57339728884254426</c:v>
                </c:pt>
                <c:pt idx="7">
                  <c:v>0.54568796610122516</c:v>
                </c:pt>
                <c:pt idx="8">
                  <c:v>0.57003661074680878</c:v>
                </c:pt>
                <c:pt idx="9">
                  <c:v>0.58808997070957325</c:v>
                </c:pt>
                <c:pt idx="10">
                  <c:v>0.58909513284952564</c:v>
                </c:pt>
                <c:pt idx="11">
                  <c:v>0.59943178976221201</c:v>
                </c:pt>
                <c:pt idx="12">
                  <c:v>0.58495718151734644</c:v>
                </c:pt>
                <c:pt idx="13">
                  <c:v>0.56354926566500796</c:v>
                </c:pt>
                <c:pt idx="14">
                  <c:v>0.60293008249524882</c:v>
                </c:pt>
                <c:pt idx="15">
                  <c:v>0.59994162078799451</c:v>
                </c:pt>
                <c:pt idx="16">
                  <c:v>0.59883552754716751</c:v>
                </c:pt>
                <c:pt idx="17">
                  <c:v>0.60355770018488863</c:v>
                </c:pt>
                <c:pt idx="18">
                  <c:v>0.58152539161499384</c:v>
                </c:pt>
                <c:pt idx="19">
                  <c:v>0.58486881167470584</c:v>
                </c:pt>
                <c:pt idx="20">
                  <c:v>0.57012737577621453</c:v>
                </c:pt>
                <c:pt idx="21">
                  <c:v>0.57830340296523663</c:v>
                </c:pt>
                <c:pt idx="22">
                  <c:v>0.57533072473744185</c:v>
                </c:pt>
                <c:pt idx="23">
                  <c:v>0.57696592671658975</c:v>
                </c:pt>
                <c:pt idx="24">
                  <c:v>0.56799489778076784</c:v>
                </c:pt>
                <c:pt idx="25">
                  <c:v>0.57695407201599613</c:v>
                </c:pt>
                <c:pt idx="26">
                  <c:v>0.59673953926928169</c:v>
                </c:pt>
                <c:pt idx="27">
                  <c:v>0.59487764845071356</c:v>
                </c:pt>
                <c:pt idx="28">
                  <c:v>0.59511353105921638</c:v>
                </c:pt>
                <c:pt idx="29">
                  <c:v>0.57716132062055803</c:v>
                </c:pt>
                <c:pt idx="30">
                  <c:v>0.56951709979783738</c:v>
                </c:pt>
                <c:pt idx="31">
                  <c:v>0.55162133831342874</c:v>
                </c:pt>
                <c:pt idx="32">
                  <c:v>0.5465415934802883</c:v>
                </c:pt>
                <c:pt idx="33">
                  <c:v>0.5452271909450751</c:v>
                </c:pt>
                <c:pt idx="34">
                  <c:v>0.51134942979270914</c:v>
                </c:pt>
                <c:pt idx="35">
                  <c:v>0.54647973332304389</c:v>
                </c:pt>
                <c:pt idx="36">
                  <c:v>0.53571675156822296</c:v>
                </c:pt>
                <c:pt idx="37">
                  <c:v>0.54549487577398514</c:v>
                </c:pt>
                <c:pt idx="38">
                  <c:v>0.55540177358148712</c:v>
                </c:pt>
                <c:pt idx="39">
                  <c:v>0.57686867204695524</c:v>
                </c:pt>
                <c:pt idx="40">
                  <c:v>0.57851525333692333</c:v>
                </c:pt>
                <c:pt idx="41">
                  <c:v>0.55686206762035861</c:v>
                </c:pt>
                <c:pt idx="42">
                  <c:v>0.55646503326420815</c:v>
                </c:pt>
                <c:pt idx="43">
                  <c:v>0.5472878773723886</c:v>
                </c:pt>
                <c:pt idx="44">
                  <c:v>0.58022897755601666</c:v>
                </c:pt>
                <c:pt idx="45">
                  <c:v>0.58330623427787553</c:v>
                </c:pt>
                <c:pt idx="46">
                  <c:v>0.58346492519337312</c:v>
                </c:pt>
                <c:pt idx="47">
                  <c:v>0.57554618355063325</c:v>
                </c:pt>
                <c:pt idx="48">
                  <c:v>0.58140520271853768</c:v>
                </c:pt>
                <c:pt idx="49">
                  <c:v>0.57242017841005477</c:v>
                </c:pt>
                <c:pt idx="50">
                  <c:v>0.56724122794182197</c:v>
                </c:pt>
                <c:pt idx="51">
                  <c:v>0.56896994404319745</c:v>
                </c:pt>
                <c:pt idx="52">
                  <c:v>0.5541317802698863</c:v>
                </c:pt>
                <c:pt idx="53">
                  <c:v>0.550938100390025</c:v>
                </c:pt>
                <c:pt idx="54">
                  <c:v>0.58413888453914575</c:v>
                </c:pt>
                <c:pt idx="55">
                  <c:v>0.55064116749554504</c:v>
                </c:pt>
                <c:pt idx="56">
                  <c:v>0.5808484954201546</c:v>
                </c:pt>
                <c:pt idx="57">
                  <c:v>0.5752588364061092</c:v>
                </c:pt>
                <c:pt idx="58">
                  <c:v>0.56441221466755209</c:v>
                </c:pt>
                <c:pt idx="59">
                  <c:v>0.54711842184844772</c:v>
                </c:pt>
                <c:pt idx="60">
                  <c:v>0.57799564564246053</c:v>
                </c:pt>
                <c:pt idx="61">
                  <c:v>0.57188295665294064</c:v>
                </c:pt>
                <c:pt idx="62">
                  <c:v>0.57298438343113867</c:v>
                </c:pt>
                <c:pt idx="63">
                  <c:v>0.56582772262387937</c:v>
                </c:pt>
                <c:pt idx="64">
                  <c:v>0.5833213271414277</c:v>
                </c:pt>
                <c:pt idx="65">
                  <c:v>0.57707170196478685</c:v>
                </c:pt>
                <c:pt idx="66">
                  <c:v>0.58424858052647344</c:v>
                </c:pt>
                <c:pt idx="67">
                  <c:v>0.57826351668313525</c:v>
                </c:pt>
                <c:pt idx="68">
                  <c:v>0.56458082791630537</c:v>
                </c:pt>
                <c:pt idx="69">
                  <c:v>0.56492301910629406</c:v>
                </c:pt>
                <c:pt idx="70">
                  <c:v>0.56303724068982752</c:v>
                </c:pt>
                <c:pt idx="71">
                  <c:v>0.55171546045288322</c:v>
                </c:pt>
                <c:pt idx="72">
                  <c:v>0.545218653891413</c:v>
                </c:pt>
                <c:pt idx="73">
                  <c:v>0.54149220563269596</c:v>
                </c:pt>
                <c:pt idx="74">
                  <c:v>0.54963500710427471</c:v>
                </c:pt>
                <c:pt idx="75">
                  <c:v>0.53885255290571232</c:v>
                </c:pt>
                <c:pt idx="76">
                  <c:v>0.54974564833719763</c:v>
                </c:pt>
                <c:pt idx="77">
                  <c:v>0.53953621949139186</c:v>
                </c:pt>
                <c:pt idx="78">
                  <c:v>0.52912056106724359</c:v>
                </c:pt>
                <c:pt idx="79">
                  <c:v>0.53724039779316157</c:v>
                </c:pt>
                <c:pt idx="80">
                  <c:v>0.56355658711941503</c:v>
                </c:pt>
                <c:pt idx="81">
                  <c:v>0.53319658563772054</c:v>
                </c:pt>
                <c:pt idx="82">
                  <c:v>0.55333358976591074</c:v>
                </c:pt>
                <c:pt idx="83">
                  <c:v>0.53739671950230361</c:v>
                </c:pt>
                <c:pt idx="84">
                  <c:v>0.54120207551391764</c:v>
                </c:pt>
                <c:pt idx="85">
                  <c:v>0.53164279403323889</c:v>
                </c:pt>
                <c:pt idx="86">
                  <c:v>0.48839968017197311</c:v>
                </c:pt>
                <c:pt idx="87">
                  <c:v>0.53571822183612217</c:v>
                </c:pt>
                <c:pt idx="88">
                  <c:v>0.52763062872166999</c:v>
                </c:pt>
                <c:pt idx="89">
                  <c:v>0.54718764114415008</c:v>
                </c:pt>
                <c:pt idx="90">
                  <c:v>0.54319869165119494</c:v>
                </c:pt>
                <c:pt idx="91">
                  <c:v>0.58280642784565084</c:v>
                </c:pt>
                <c:pt idx="92">
                  <c:v>0.58808505336600359</c:v>
                </c:pt>
                <c:pt idx="93">
                  <c:v>0.59268784319177026</c:v>
                </c:pt>
                <c:pt idx="94">
                  <c:v>0.59484291504366438</c:v>
                </c:pt>
                <c:pt idx="95">
                  <c:v>0.59041329826059419</c:v>
                </c:pt>
                <c:pt idx="96">
                  <c:v>0.58112525711762408</c:v>
                </c:pt>
                <c:pt idx="97">
                  <c:v>0.58302155180299675</c:v>
                </c:pt>
                <c:pt idx="98">
                  <c:v>0.59712567926927973</c:v>
                </c:pt>
                <c:pt idx="99">
                  <c:v>0.56330674644326673</c:v>
                </c:pt>
                <c:pt idx="100">
                  <c:v>0.57655858076707256</c:v>
                </c:pt>
                <c:pt idx="101">
                  <c:v>0.58798350011954748</c:v>
                </c:pt>
                <c:pt idx="102">
                  <c:v>0.59743842084843446</c:v>
                </c:pt>
                <c:pt idx="103">
                  <c:v>0.59925189431716575</c:v>
                </c:pt>
                <c:pt idx="104">
                  <c:v>0.62696657193917904</c:v>
                </c:pt>
                <c:pt idx="105">
                  <c:v>0.59684395950848002</c:v>
                </c:pt>
                <c:pt idx="106">
                  <c:v>0.60423629885214059</c:v>
                </c:pt>
                <c:pt idx="107">
                  <c:v>0.56023216111421903</c:v>
                </c:pt>
                <c:pt idx="108">
                  <c:v>0.58196960986440416</c:v>
                </c:pt>
                <c:pt idx="109">
                  <c:v>0.56288184235082839</c:v>
                </c:pt>
                <c:pt idx="110">
                  <c:v>0.59046079460105616</c:v>
                </c:pt>
                <c:pt idx="111">
                  <c:v>0.57483243876353329</c:v>
                </c:pt>
                <c:pt idx="112">
                  <c:v>0.55905037962749371</c:v>
                </c:pt>
                <c:pt idx="113">
                  <c:v>0.56674673398857811</c:v>
                </c:pt>
                <c:pt idx="114">
                  <c:v>0.56163150213955326</c:v>
                </c:pt>
                <c:pt idx="115">
                  <c:v>0.56878234813402351</c:v>
                </c:pt>
                <c:pt idx="116">
                  <c:v>0.58588643529898754</c:v>
                </c:pt>
                <c:pt idx="117">
                  <c:v>0.61698460397940136</c:v>
                </c:pt>
                <c:pt idx="118">
                  <c:v>0.63593693128968332</c:v>
                </c:pt>
                <c:pt idx="119">
                  <c:v>0.60964445678372337</c:v>
                </c:pt>
                <c:pt idx="120">
                  <c:v>0.60094179488583477</c:v>
                </c:pt>
                <c:pt idx="121">
                  <c:v>0.60257055208672405</c:v>
                </c:pt>
                <c:pt idx="122">
                  <c:v>0.60471792622570886</c:v>
                </c:pt>
                <c:pt idx="123">
                  <c:v>0.61579863859426942</c:v>
                </c:pt>
                <c:pt idx="124">
                  <c:v>0.59230791956354756</c:v>
                </c:pt>
                <c:pt idx="125">
                  <c:v>0.6060811846918881</c:v>
                </c:pt>
                <c:pt idx="126">
                  <c:v>0.59453282478212977</c:v>
                </c:pt>
                <c:pt idx="127">
                  <c:v>0.60940854133675193</c:v>
                </c:pt>
                <c:pt idx="128">
                  <c:v>0.6231314957869597</c:v>
                </c:pt>
                <c:pt idx="129">
                  <c:v>0.59076584516446062</c:v>
                </c:pt>
                <c:pt idx="130">
                  <c:v>0.62769545166734153</c:v>
                </c:pt>
                <c:pt idx="131">
                  <c:v>0.60299488580430527</c:v>
                </c:pt>
                <c:pt idx="132">
                  <c:v>0.62926346240583964</c:v>
                </c:pt>
                <c:pt idx="133">
                  <c:v>0.58455926200563146</c:v>
                </c:pt>
                <c:pt idx="134">
                  <c:v>0.56623992142413559</c:v>
                </c:pt>
                <c:pt idx="135">
                  <c:v>0.56919277285516312</c:v>
                </c:pt>
                <c:pt idx="136">
                  <c:v>0.56345514601517999</c:v>
                </c:pt>
                <c:pt idx="137">
                  <c:v>0.55635292664722913</c:v>
                </c:pt>
                <c:pt idx="138">
                  <c:v>0.54591321349046862</c:v>
                </c:pt>
                <c:pt idx="139">
                  <c:v>0.62678113810421876</c:v>
                </c:pt>
                <c:pt idx="140">
                  <c:v>0.6322422863956807</c:v>
                </c:pt>
                <c:pt idx="141">
                  <c:v>0.64305433731417128</c:v>
                </c:pt>
                <c:pt idx="142">
                  <c:v>0.61145724620069486</c:v>
                </c:pt>
              </c:numCache>
            </c:numRef>
          </c:val>
          <c:smooth val="0"/>
        </c:ser>
        <c:ser>
          <c:idx val="1"/>
          <c:order val="1"/>
          <c:tx>
            <c:strRef>
              <c:f>'Agency MBS'!$H$4</c:f>
              <c:strCache>
                <c:ptCount val="1"/>
                <c:pt idx="0">
                  <c:v>Term (&lt;30d)</c:v>
                </c:pt>
              </c:strCache>
            </c:strRef>
          </c:tx>
          <c:spPr>
            <a:ln w="12700">
              <a:solidFill>
                <a:schemeClr val="accent2"/>
              </a:solidFill>
              <a:prstDash val="solid"/>
            </a:ln>
          </c:spPr>
          <c:marker>
            <c:symbol val="none"/>
          </c:marker>
          <c:cat>
            <c:numRef>
              <c:f>'Agency MBS'!$A$5:$A$147</c:f>
              <c:numCache>
                <c:formatCode>m/d/yyyy</c:formatCode>
                <c:ptCount val="143"/>
                <c:pt idx="0">
                  <c:v>41367</c:v>
                </c:pt>
                <c:pt idx="1">
                  <c:v>41374</c:v>
                </c:pt>
                <c:pt idx="2">
                  <c:v>41381</c:v>
                </c:pt>
                <c:pt idx="3">
                  <c:v>41388</c:v>
                </c:pt>
                <c:pt idx="4">
                  <c:v>41395</c:v>
                </c:pt>
                <c:pt idx="5">
                  <c:v>41402</c:v>
                </c:pt>
                <c:pt idx="6">
                  <c:v>41409</c:v>
                </c:pt>
                <c:pt idx="7">
                  <c:v>41416</c:v>
                </c:pt>
                <c:pt idx="8">
                  <c:v>41423</c:v>
                </c:pt>
                <c:pt idx="9">
                  <c:v>41430</c:v>
                </c:pt>
                <c:pt idx="10">
                  <c:v>41437</c:v>
                </c:pt>
                <c:pt idx="11">
                  <c:v>41444</c:v>
                </c:pt>
                <c:pt idx="12">
                  <c:v>41451</c:v>
                </c:pt>
                <c:pt idx="13">
                  <c:v>41458</c:v>
                </c:pt>
                <c:pt idx="14">
                  <c:v>41465</c:v>
                </c:pt>
                <c:pt idx="15">
                  <c:v>41472</c:v>
                </c:pt>
                <c:pt idx="16">
                  <c:v>41479</c:v>
                </c:pt>
                <c:pt idx="17">
                  <c:v>41486</c:v>
                </c:pt>
                <c:pt idx="18">
                  <c:v>41493</c:v>
                </c:pt>
                <c:pt idx="19">
                  <c:v>41500</c:v>
                </c:pt>
                <c:pt idx="20">
                  <c:v>41507</c:v>
                </c:pt>
                <c:pt idx="21">
                  <c:v>41514</c:v>
                </c:pt>
                <c:pt idx="22">
                  <c:v>41521</c:v>
                </c:pt>
                <c:pt idx="23">
                  <c:v>41528</c:v>
                </c:pt>
                <c:pt idx="24">
                  <c:v>41535</c:v>
                </c:pt>
                <c:pt idx="25">
                  <c:v>41542</c:v>
                </c:pt>
                <c:pt idx="26">
                  <c:v>41549</c:v>
                </c:pt>
                <c:pt idx="27">
                  <c:v>41556</c:v>
                </c:pt>
                <c:pt idx="28">
                  <c:v>41563</c:v>
                </c:pt>
                <c:pt idx="29">
                  <c:v>41570</c:v>
                </c:pt>
                <c:pt idx="30">
                  <c:v>41577</c:v>
                </c:pt>
                <c:pt idx="31">
                  <c:v>41584</c:v>
                </c:pt>
                <c:pt idx="32">
                  <c:v>41591</c:v>
                </c:pt>
                <c:pt idx="33">
                  <c:v>41598</c:v>
                </c:pt>
                <c:pt idx="34">
                  <c:v>41605</c:v>
                </c:pt>
                <c:pt idx="35">
                  <c:v>41612</c:v>
                </c:pt>
                <c:pt idx="36">
                  <c:v>41619</c:v>
                </c:pt>
                <c:pt idx="37">
                  <c:v>41626</c:v>
                </c:pt>
                <c:pt idx="38">
                  <c:v>41633</c:v>
                </c:pt>
                <c:pt idx="39">
                  <c:v>41640</c:v>
                </c:pt>
                <c:pt idx="40">
                  <c:v>41647</c:v>
                </c:pt>
                <c:pt idx="41">
                  <c:v>41654</c:v>
                </c:pt>
                <c:pt idx="42">
                  <c:v>41661</c:v>
                </c:pt>
                <c:pt idx="43">
                  <c:v>41668</c:v>
                </c:pt>
                <c:pt idx="44">
                  <c:v>41675</c:v>
                </c:pt>
                <c:pt idx="45">
                  <c:v>41682</c:v>
                </c:pt>
                <c:pt idx="46">
                  <c:v>41689</c:v>
                </c:pt>
                <c:pt idx="47">
                  <c:v>41696</c:v>
                </c:pt>
                <c:pt idx="48">
                  <c:v>41703</c:v>
                </c:pt>
                <c:pt idx="49">
                  <c:v>41710</c:v>
                </c:pt>
                <c:pt idx="50">
                  <c:v>41717</c:v>
                </c:pt>
                <c:pt idx="51">
                  <c:v>41724</c:v>
                </c:pt>
                <c:pt idx="52">
                  <c:v>41731</c:v>
                </c:pt>
                <c:pt idx="53">
                  <c:v>41738</c:v>
                </c:pt>
                <c:pt idx="54">
                  <c:v>41745</c:v>
                </c:pt>
                <c:pt idx="55">
                  <c:v>41752</c:v>
                </c:pt>
                <c:pt idx="56">
                  <c:v>41759</c:v>
                </c:pt>
                <c:pt idx="57">
                  <c:v>41766</c:v>
                </c:pt>
                <c:pt idx="58">
                  <c:v>41773</c:v>
                </c:pt>
                <c:pt idx="59">
                  <c:v>41780</c:v>
                </c:pt>
                <c:pt idx="60">
                  <c:v>41787</c:v>
                </c:pt>
                <c:pt idx="61">
                  <c:v>41794</c:v>
                </c:pt>
                <c:pt idx="62">
                  <c:v>41801</c:v>
                </c:pt>
                <c:pt idx="63">
                  <c:v>41808</c:v>
                </c:pt>
                <c:pt idx="64">
                  <c:v>41815</c:v>
                </c:pt>
                <c:pt idx="65">
                  <c:v>41822</c:v>
                </c:pt>
                <c:pt idx="66">
                  <c:v>41829</c:v>
                </c:pt>
                <c:pt idx="67">
                  <c:v>41836</c:v>
                </c:pt>
                <c:pt idx="68">
                  <c:v>41843</c:v>
                </c:pt>
                <c:pt idx="69">
                  <c:v>41850</c:v>
                </c:pt>
                <c:pt idx="70">
                  <c:v>41857</c:v>
                </c:pt>
                <c:pt idx="71">
                  <c:v>41864</c:v>
                </c:pt>
                <c:pt idx="72">
                  <c:v>41871</c:v>
                </c:pt>
                <c:pt idx="73">
                  <c:v>41878</c:v>
                </c:pt>
                <c:pt idx="74">
                  <c:v>41885</c:v>
                </c:pt>
                <c:pt idx="75">
                  <c:v>41892</c:v>
                </c:pt>
                <c:pt idx="76">
                  <c:v>41899</c:v>
                </c:pt>
                <c:pt idx="77">
                  <c:v>41906</c:v>
                </c:pt>
                <c:pt idx="78">
                  <c:v>41913</c:v>
                </c:pt>
                <c:pt idx="79">
                  <c:v>41920</c:v>
                </c:pt>
                <c:pt idx="80">
                  <c:v>41927</c:v>
                </c:pt>
                <c:pt idx="81">
                  <c:v>41934</c:v>
                </c:pt>
                <c:pt idx="82">
                  <c:v>41941</c:v>
                </c:pt>
                <c:pt idx="83">
                  <c:v>41948</c:v>
                </c:pt>
                <c:pt idx="84">
                  <c:v>41955</c:v>
                </c:pt>
                <c:pt idx="85">
                  <c:v>41962</c:v>
                </c:pt>
                <c:pt idx="86">
                  <c:v>41969</c:v>
                </c:pt>
                <c:pt idx="87">
                  <c:v>41976</c:v>
                </c:pt>
                <c:pt idx="88">
                  <c:v>41983</c:v>
                </c:pt>
                <c:pt idx="89">
                  <c:v>41990</c:v>
                </c:pt>
                <c:pt idx="90">
                  <c:v>41997</c:v>
                </c:pt>
                <c:pt idx="91">
                  <c:v>42004</c:v>
                </c:pt>
                <c:pt idx="92">
                  <c:v>42011</c:v>
                </c:pt>
                <c:pt idx="93">
                  <c:v>42018</c:v>
                </c:pt>
                <c:pt idx="94">
                  <c:v>42025</c:v>
                </c:pt>
                <c:pt idx="95">
                  <c:v>42032</c:v>
                </c:pt>
                <c:pt idx="96">
                  <c:v>42039</c:v>
                </c:pt>
                <c:pt idx="97">
                  <c:v>42046</c:v>
                </c:pt>
                <c:pt idx="98">
                  <c:v>42053</c:v>
                </c:pt>
                <c:pt idx="99">
                  <c:v>42060</c:v>
                </c:pt>
                <c:pt idx="100">
                  <c:v>42067</c:v>
                </c:pt>
                <c:pt idx="101">
                  <c:v>42074</c:v>
                </c:pt>
                <c:pt idx="102">
                  <c:v>42081</c:v>
                </c:pt>
                <c:pt idx="103">
                  <c:v>42088</c:v>
                </c:pt>
                <c:pt idx="104">
                  <c:v>42095</c:v>
                </c:pt>
                <c:pt idx="105">
                  <c:v>42102</c:v>
                </c:pt>
                <c:pt idx="106">
                  <c:v>42109</c:v>
                </c:pt>
                <c:pt idx="107">
                  <c:v>42116</c:v>
                </c:pt>
                <c:pt idx="108">
                  <c:v>42123</c:v>
                </c:pt>
                <c:pt idx="109">
                  <c:v>42130</c:v>
                </c:pt>
                <c:pt idx="110">
                  <c:v>42137</c:v>
                </c:pt>
                <c:pt idx="111">
                  <c:v>42144</c:v>
                </c:pt>
                <c:pt idx="112">
                  <c:v>42151</c:v>
                </c:pt>
                <c:pt idx="113">
                  <c:v>42158</c:v>
                </c:pt>
                <c:pt idx="114">
                  <c:v>42165</c:v>
                </c:pt>
                <c:pt idx="115">
                  <c:v>42172</c:v>
                </c:pt>
                <c:pt idx="116">
                  <c:v>42179</c:v>
                </c:pt>
                <c:pt idx="117">
                  <c:v>42186</c:v>
                </c:pt>
                <c:pt idx="118">
                  <c:v>42193</c:v>
                </c:pt>
                <c:pt idx="119">
                  <c:v>42200</c:v>
                </c:pt>
                <c:pt idx="120">
                  <c:v>42207</c:v>
                </c:pt>
                <c:pt idx="121">
                  <c:v>42214</c:v>
                </c:pt>
                <c:pt idx="122">
                  <c:v>42221</c:v>
                </c:pt>
                <c:pt idx="123">
                  <c:v>42228</c:v>
                </c:pt>
                <c:pt idx="124">
                  <c:v>42235</c:v>
                </c:pt>
                <c:pt idx="125">
                  <c:v>42242</c:v>
                </c:pt>
                <c:pt idx="126">
                  <c:v>42249</c:v>
                </c:pt>
                <c:pt idx="127">
                  <c:v>42256</c:v>
                </c:pt>
                <c:pt idx="128">
                  <c:v>42263</c:v>
                </c:pt>
                <c:pt idx="129">
                  <c:v>42270</c:v>
                </c:pt>
                <c:pt idx="130">
                  <c:v>42277</c:v>
                </c:pt>
                <c:pt idx="131">
                  <c:v>42284</c:v>
                </c:pt>
                <c:pt idx="132">
                  <c:v>42291</c:v>
                </c:pt>
                <c:pt idx="133">
                  <c:v>42298</c:v>
                </c:pt>
                <c:pt idx="134">
                  <c:v>42305</c:v>
                </c:pt>
                <c:pt idx="135">
                  <c:v>42312</c:v>
                </c:pt>
                <c:pt idx="136">
                  <c:v>42319</c:v>
                </c:pt>
                <c:pt idx="137">
                  <c:v>42326</c:v>
                </c:pt>
                <c:pt idx="138">
                  <c:v>42333</c:v>
                </c:pt>
                <c:pt idx="139">
                  <c:v>42340</c:v>
                </c:pt>
                <c:pt idx="140">
                  <c:v>42347</c:v>
                </c:pt>
                <c:pt idx="141">
                  <c:v>42354</c:v>
                </c:pt>
                <c:pt idx="142">
                  <c:v>42361</c:v>
                </c:pt>
              </c:numCache>
            </c:numRef>
          </c:cat>
          <c:val>
            <c:numRef>
              <c:f>'Agency MBS'!$H$5:$H$147</c:f>
              <c:numCache>
                <c:formatCode>0%</c:formatCode>
                <c:ptCount val="143"/>
                <c:pt idx="0">
                  <c:v>0.20431686119811951</c:v>
                </c:pt>
                <c:pt idx="1">
                  <c:v>0.19089413131835287</c:v>
                </c:pt>
                <c:pt idx="2">
                  <c:v>0.19981264222935785</c:v>
                </c:pt>
                <c:pt idx="3">
                  <c:v>0.17844028739018911</c:v>
                </c:pt>
                <c:pt idx="4">
                  <c:v>0.17813608800474431</c:v>
                </c:pt>
                <c:pt idx="5">
                  <c:v>0.2010364035698658</c:v>
                </c:pt>
                <c:pt idx="6">
                  <c:v>0.1862509558567953</c:v>
                </c:pt>
                <c:pt idx="7">
                  <c:v>0.20704386166683758</c:v>
                </c:pt>
                <c:pt idx="8">
                  <c:v>0.18640808517670918</c:v>
                </c:pt>
                <c:pt idx="9">
                  <c:v>0.17507237952266197</c:v>
                </c:pt>
                <c:pt idx="10">
                  <c:v>0.16761508779952183</c:v>
                </c:pt>
                <c:pt idx="11">
                  <c:v>0.15952616753913235</c:v>
                </c:pt>
                <c:pt idx="12">
                  <c:v>0.16575382782160522</c:v>
                </c:pt>
                <c:pt idx="13">
                  <c:v>0.20589309870042036</c:v>
                </c:pt>
                <c:pt idx="14">
                  <c:v>0.15945220594398615</c:v>
                </c:pt>
                <c:pt idx="15">
                  <c:v>0.18241006245326929</c:v>
                </c:pt>
                <c:pt idx="16">
                  <c:v>0.17904382704304744</c:v>
                </c:pt>
                <c:pt idx="17">
                  <c:v>0.18540263470283694</c:v>
                </c:pt>
                <c:pt idx="18">
                  <c:v>0.19352007345665714</c:v>
                </c:pt>
                <c:pt idx="19">
                  <c:v>0.18498199953220046</c:v>
                </c:pt>
                <c:pt idx="20">
                  <c:v>0.19530391250847967</c:v>
                </c:pt>
                <c:pt idx="21">
                  <c:v>0.17542370511472893</c:v>
                </c:pt>
                <c:pt idx="22">
                  <c:v>0.16980990219436157</c:v>
                </c:pt>
                <c:pt idx="23">
                  <c:v>0.16913891158958624</c:v>
                </c:pt>
                <c:pt idx="24">
                  <c:v>0.19414743481931587</c:v>
                </c:pt>
                <c:pt idx="25">
                  <c:v>0.18248289628523165</c:v>
                </c:pt>
                <c:pt idx="26">
                  <c:v>0.1721995228845391</c:v>
                </c:pt>
                <c:pt idx="27">
                  <c:v>0.16556993242961765</c:v>
                </c:pt>
                <c:pt idx="28">
                  <c:v>0.14358880901990384</c:v>
                </c:pt>
                <c:pt idx="29">
                  <c:v>0.15650537581067092</c:v>
                </c:pt>
                <c:pt idx="30">
                  <c:v>0.15548401234395004</c:v>
                </c:pt>
                <c:pt idx="31">
                  <c:v>0.17453446519302504</c:v>
                </c:pt>
                <c:pt idx="32">
                  <c:v>0.17685673704642296</c:v>
                </c:pt>
                <c:pt idx="33">
                  <c:v>0.14856717589715071</c:v>
                </c:pt>
                <c:pt idx="34">
                  <c:v>0.19904031410313802</c:v>
                </c:pt>
                <c:pt idx="35">
                  <c:v>0.17029679051531935</c:v>
                </c:pt>
                <c:pt idx="36">
                  <c:v>0.17914873910663914</c:v>
                </c:pt>
                <c:pt idx="37">
                  <c:v>0.17916752257438631</c:v>
                </c:pt>
                <c:pt idx="38">
                  <c:v>0.1757778292248382</c:v>
                </c:pt>
                <c:pt idx="39">
                  <c:v>0.19555490339936418</c:v>
                </c:pt>
                <c:pt idx="40">
                  <c:v>0.18391509288080585</c:v>
                </c:pt>
                <c:pt idx="41">
                  <c:v>0.19727712978494566</c:v>
                </c:pt>
                <c:pt idx="42">
                  <c:v>0.20888240306930442</c:v>
                </c:pt>
                <c:pt idx="43">
                  <c:v>0.23000043118006794</c:v>
                </c:pt>
                <c:pt idx="44">
                  <c:v>0.196651422659852</c:v>
                </c:pt>
                <c:pt idx="45">
                  <c:v>0.20382040614942976</c:v>
                </c:pt>
                <c:pt idx="46">
                  <c:v>0.21023472419238284</c:v>
                </c:pt>
                <c:pt idx="47">
                  <c:v>0.22705804358981083</c:v>
                </c:pt>
                <c:pt idx="48">
                  <c:v>0.21729927349425826</c:v>
                </c:pt>
                <c:pt idx="49">
                  <c:v>0.22485321919820814</c:v>
                </c:pt>
                <c:pt idx="50">
                  <c:v>0.22546213650951583</c:v>
                </c:pt>
                <c:pt idx="51">
                  <c:v>0.20921964269964621</c:v>
                </c:pt>
                <c:pt idx="52">
                  <c:v>0.21427338626164999</c:v>
                </c:pt>
                <c:pt idx="53">
                  <c:v>0.21085023890469612</c:v>
                </c:pt>
                <c:pt idx="54">
                  <c:v>0.17731038196685622</c:v>
                </c:pt>
                <c:pt idx="55">
                  <c:v>0.2014814987363002</c:v>
                </c:pt>
                <c:pt idx="56">
                  <c:v>0.17050781675860716</c:v>
                </c:pt>
                <c:pt idx="57">
                  <c:v>0.18662714021062729</c:v>
                </c:pt>
                <c:pt idx="58">
                  <c:v>0.20079490539685527</c:v>
                </c:pt>
                <c:pt idx="59">
                  <c:v>0.22097594571445853</c:v>
                </c:pt>
                <c:pt idx="60">
                  <c:v>0.1885776215334358</c:v>
                </c:pt>
                <c:pt idx="61">
                  <c:v>0.19779256907553514</c:v>
                </c:pt>
                <c:pt idx="62">
                  <c:v>0.19052965092491753</c:v>
                </c:pt>
                <c:pt idx="63">
                  <c:v>0.20887024568793808</c:v>
                </c:pt>
                <c:pt idx="64">
                  <c:v>0.18594663724656241</c:v>
                </c:pt>
                <c:pt idx="65">
                  <c:v>0.19633171727481499</c:v>
                </c:pt>
                <c:pt idx="66">
                  <c:v>0.18311870608392364</c:v>
                </c:pt>
                <c:pt idx="67">
                  <c:v>0.17246060025351576</c:v>
                </c:pt>
                <c:pt idx="68">
                  <c:v>0.18862444115050078</c:v>
                </c:pt>
                <c:pt idx="69">
                  <c:v>0.18184962039284044</c:v>
                </c:pt>
                <c:pt idx="70">
                  <c:v>0.17752561859535115</c:v>
                </c:pt>
                <c:pt idx="71">
                  <c:v>0.18119183202977551</c:v>
                </c:pt>
                <c:pt idx="72">
                  <c:v>0.19327025485354599</c:v>
                </c:pt>
                <c:pt idx="73">
                  <c:v>0.2041015038976676</c:v>
                </c:pt>
                <c:pt idx="74">
                  <c:v>0.20422344813304266</c:v>
                </c:pt>
                <c:pt idx="75">
                  <c:v>0.19467956962071756</c:v>
                </c:pt>
                <c:pt idx="76">
                  <c:v>0.18324108547803658</c:v>
                </c:pt>
                <c:pt idx="77">
                  <c:v>0.17870384166078249</c:v>
                </c:pt>
                <c:pt idx="78">
                  <c:v>0.21049855509092982</c:v>
                </c:pt>
                <c:pt idx="79">
                  <c:v>0.19473679586744913</c:v>
                </c:pt>
                <c:pt idx="80">
                  <c:v>0.18049446674275163</c:v>
                </c:pt>
                <c:pt idx="81">
                  <c:v>0.19664639895406869</c:v>
                </c:pt>
                <c:pt idx="82">
                  <c:v>0.18613563528809188</c:v>
                </c:pt>
                <c:pt idx="83">
                  <c:v>0.20608387735162145</c:v>
                </c:pt>
                <c:pt idx="84">
                  <c:v>0.19124408398316281</c:v>
                </c:pt>
                <c:pt idx="85">
                  <c:v>0.19620273573285008</c:v>
                </c:pt>
                <c:pt idx="86">
                  <c:v>0.24376619347847933</c:v>
                </c:pt>
                <c:pt idx="87">
                  <c:v>0.18256844452800344</c:v>
                </c:pt>
                <c:pt idx="88">
                  <c:v>0.20618429644492686</c:v>
                </c:pt>
                <c:pt idx="89">
                  <c:v>0.18006375878656594</c:v>
                </c:pt>
                <c:pt idx="90">
                  <c:v>0.16863280527252661</c:v>
                </c:pt>
                <c:pt idx="91">
                  <c:v>0.18910569732108892</c:v>
                </c:pt>
                <c:pt idx="92">
                  <c:v>0.18457530997503585</c:v>
                </c:pt>
                <c:pt idx="93">
                  <c:v>0.18810440428971495</c:v>
                </c:pt>
                <c:pt idx="94">
                  <c:v>0.20726764565236566</c:v>
                </c:pt>
                <c:pt idx="95">
                  <c:v>0.22043721566521143</c:v>
                </c:pt>
                <c:pt idx="96">
                  <c:v>0.23820638350121545</c:v>
                </c:pt>
                <c:pt idx="97">
                  <c:v>0.24594302859547376</c:v>
                </c:pt>
                <c:pt idx="98">
                  <c:v>0.23395537056307092</c:v>
                </c:pt>
                <c:pt idx="99">
                  <c:v>0.2660130656484318</c:v>
                </c:pt>
                <c:pt idx="100">
                  <c:v>0.25391713467653365</c:v>
                </c:pt>
                <c:pt idx="101">
                  <c:v>0.24655807572581598</c:v>
                </c:pt>
                <c:pt idx="102">
                  <c:v>0.23203014847128517</c:v>
                </c:pt>
                <c:pt idx="103">
                  <c:v>0.22495734999753603</c:v>
                </c:pt>
                <c:pt idx="104">
                  <c:v>0.180638971083702</c:v>
                </c:pt>
                <c:pt idx="105">
                  <c:v>0.21513968814692422</c:v>
                </c:pt>
                <c:pt idx="106">
                  <c:v>0.20809678942287593</c:v>
                </c:pt>
                <c:pt idx="107">
                  <c:v>0.25483468045294083</c:v>
                </c:pt>
                <c:pt idx="108">
                  <c:v>0.22814655855998733</c:v>
                </c:pt>
                <c:pt idx="109">
                  <c:v>0.24929385103337953</c:v>
                </c:pt>
                <c:pt idx="110">
                  <c:v>0.22731754583721855</c:v>
                </c:pt>
                <c:pt idx="111">
                  <c:v>0.24011940831838247</c:v>
                </c:pt>
                <c:pt idx="112">
                  <c:v>0.24698855601135375</c:v>
                </c:pt>
                <c:pt idx="113">
                  <c:v>0.25199637246010931</c:v>
                </c:pt>
                <c:pt idx="114">
                  <c:v>0.25056271488288107</c:v>
                </c:pt>
                <c:pt idx="115">
                  <c:v>0.24870355236740418</c:v>
                </c:pt>
                <c:pt idx="116">
                  <c:v>0.23690827230589184</c:v>
                </c:pt>
                <c:pt idx="117">
                  <c:v>0.21627238909702273</c:v>
                </c:pt>
                <c:pt idx="118">
                  <c:v>0.20139169733489709</c:v>
                </c:pt>
                <c:pt idx="119">
                  <c:v>0.22408976661564431</c:v>
                </c:pt>
                <c:pt idx="120">
                  <c:v>0.22556535070908396</c:v>
                </c:pt>
                <c:pt idx="121">
                  <c:v>0.21913561980291776</c:v>
                </c:pt>
                <c:pt idx="122">
                  <c:v>0.21385423571688453</c:v>
                </c:pt>
                <c:pt idx="123">
                  <c:v>0.2020144055722653</c:v>
                </c:pt>
                <c:pt idx="124">
                  <c:v>0.23752781990427982</c:v>
                </c:pt>
                <c:pt idx="125">
                  <c:v>0.22098816817211522</c:v>
                </c:pt>
                <c:pt idx="126">
                  <c:v>0.25132070947388929</c:v>
                </c:pt>
                <c:pt idx="127">
                  <c:v>0.22933162406052837</c:v>
                </c:pt>
                <c:pt idx="128">
                  <c:v>0.21563805935330274</c:v>
                </c:pt>
                <c:pt idx="129">
                  <c:v>0.24153393370295587</c:v>
                </c:pt>
                <c:pt idx="130">
                  <c:v>0.19801837594875824</c:v>
                </c:pt>
                <c:pt idx="131">
                  <c:v>0.21545516875245102</c:v>
                </c:pt>
                <c:pt idx="132">
                  <c:v>0.20317125393360949</c:v>
                </c:pt>
                <c:pt idx="133">
                  <c:v>0.23569202528429276</c:v>
                </c:pt>
                <c:pt idx="134">
                  <c:v>0.24296935697191901</c:v>
                </c:pt>
                <c:pt idx="135">
                  <c:v>0.24012619157602991</c:v>
                </c:pt>
                <c:pt idx="136">
                  <c:v>0.24944970471640443</c:v>
                </c:pt>
                <c:pt idx="137">
                  <c:v>0.25102423256388368</c:v>
                </c:pt>
                <c:pt idx="138">
                  <c:v>0.27505566719165803</c:v>
                </c:pt>
                <c:pt idx="139">
                  <c:v>0.1998140525654567</c:v>
                </c:pt>
                <c:pt idx="140">
                  <c:v>0.20806167571118628</c:v>
                </c:pt>
                <c:pt idx="141">
                  <c:v>0.19674504644311</c:v>
                </c:pt>
                <c:pt idx="142">
                  <c:v>0.20419746379401549</c:v>
                </c:pt>
              </c:numCache>
            </c:numRef>
          </c:val>
          <c:smooth val="0"/>
        </c:ser>
        <c:ser>
          <c:idx val="2"/>
          <c:order val="2"/>
          <c:tx>
            <c:strRef>
              <c:f>'Agency MBS'!$I$4</c:f>
              <c:strCache>
                <c:ptCount val="1"/>
                <c:pt idx="0">
                  <c:v>Term (&gt;=30d)</c:v>
                </c:pt>
              </c:strCache>
            </c:strRef>
          </c:tx>
          <c:spPr>
            <a:ln>
              <a:solidFill>
                <a:schemeClr val="accent3"/>
              </a:solidFill>
              <a:prstDash val="solid"/>
            </a:ln>
          </c:spPr>
          <c:marker>
            <c:symbol val="none"/>
          </c:marker>
          <c:cat>
            <c:numRef>
              <c:f>'Agency MBS'!$A$5:$A$147</c:f>
              <c:numCache>
                <c:formatCode>m/d/yyyy</c:formatCode>
                <c:ptCount val="143"/>
                <c:pt idx="0">
                  <c:v>41367</c:v>
                </c:pt>
                <c:pt idx="1">
                  <c:v>41374</c:v>
                </c:pt>
                <c:pt idx="2">
                  <c:v>41381</c:v>
                </c:pt>
                <c:pt idx="3">
                  <c:v>41388</c:v>
                </c:pt>
                <c:pt idx="4">
                  <c:v>41395</c:v>
                </c:pt>
                <c:pt idx="5">
                  <c:v>41402</c:v>
                </c:pt>
                <c:pt idx="6">
                  <c:v>41409</c:v>
                </c:pt>
                <c:pt idx="7">
                  <c:v>41416</c:v>
                </c:pt>
                <c:pt idx="8">
                  <c:v>41423</c:v>
                </c:pt>
                <c:pt idx="9">
                  <c:v>41430</c:v>
                </c:pt>
                <c:pt idx="10">
                  <c:v>41437</c:v>
                </c:pt>
                <c:pt idx="11">
                  <c:v>41444</c:v>
                </c:pt>
                <c:pt idx="12">
                  <c:v>41451</c:v>
                </c:pt>
                <c:pt idx="13">
                  <c:v>41458</c:v>
                </c:pt>
                <c:pt idx="14">
                  <c:v>41465</c:v>
                </c:pt>
                <c:pt idx="15">
                  <c:v>41472</c:v>
                </c:pt>
                <c:pt idx="16">
                  <c:v>41479</c:v>
                </c:pt>
                <c:pt idx="17">
                  <c:v>41486</c:v>
                </c:pt>
                <c:pt idx="18">
                  <c:v>41493</c:v>
                </c:pt>
                <c:pt idx="19">
                  <c:v>41500</c:v>
                </c:pt>
                <c:pt idx="20">
                  <c:v>41507</c:v>
                </c:pt>
                <c:pt idx="21">
                  <c:v>41514</c:v>
                </c:pt>
                <c:pt idx="22">
                  <c:v>41521</c:v>
                </c:pt>
                <c:pt idx="23">
                  <c:v>41528</c:v>
                </c:pt>
                <c:pt idx="24">
                  <c:v>41535</c:v>
                </c:pt>
                <c:pt idx="25">
                  <c:v>41542</c:v>
                </c:pt>
                <c:pt idx="26">
                  <c:v>41549</c:v>
                </c:pt>
                <c:pt idx="27">
                  <c:v>41556</c:v>
                </c:pt>
                <c:pt idx="28">
                  <c:v>41563</c:v>
                </c:pt>
                <c:pt idx="29">
                  <c:v>41570</c:v>
                </c:pt>
                <c:pt idx="30">
                  <c:v>41577</c:v>
                </c:pt>
                <c:pt idx="31">
                  <c:v>41584</c:v>
                </c:pt>
                <c:pt idx="32">
                  <c:v>41591</c:v>
                </c:pt>
                <c:pt idx="33">
                  <c:v>41598</c:v>
                </c:pt>
                <c:pt idx="34">
                  <c:v>41605</c:v>
                </c:pt>
                <c:pt idx="35">
                  <c:v>41612</c:v>
                </c:pt>
                <c:pt idx="36">
                  <c:v>41619</c:v>
                </c:pt>
                <c:pt idx="37">
                  <c:v>41626</c:v>
                </c:pt>
                <c:pt idx="38">
                  <c:v>41633</c:v>
                </c:pt>
                <c:pt idx="39">
                  <c:v>41640</c:v>
                </c:pt>
                <c:pt idx="40">
                  <c:v>41647</c:v>
                </c:pt>
                <c:pt idx="41">
                  <c:v>41654</c:v>
                </c:pt>
                <c:pt idx="42">
                  <c:v>41661</c:v>
                </c:pt>
                <c:pt idx="43">
                  <c:v>41668</c:v>
                </c:pt>
                <c:pt idx="44">
                  <c:v>41675</c:v>
                </c:pt>
                <c:pt idx="45">
                  <c:v>41682</c:v>
                </c:pt>
                <c:pt idx="46">
                  <c:v>41689</c:v>
                </c:pt>
                <c:pt idx="47">
                  <c:v>41696</c:v>
                </c:pt>
                <c:pt idx="48">
                  <c:v>41703</c:v>
                </c:pt>
                <c:pt idx="49">
                  <c:v>41710</c:v>
                </c:pt>
                <c:pt idx="50">
                  <c:v>41717</c:v>
                </c:pt>
                <c:pt idx="51">
                  <c:v>41724</c:v>
                </c:pt>
                <c:pt idx="52">
                  <c:v>41731</c:v>
                </c:pt>
                <c:pt idx="53">
                  <c:v>41738</c:v>
                </c:pt>
                <c:pt idx="54">
                  <c:v>41745</c:v>
                </c:pt>
                <c:pt idx="55">
                  <c:v>41752</c:v>
                </c:pt>
                <c:pt idx="56">
                  <c:v>41759</c:v>
                </c:pt>
                <c:pt idx="57">
                  <c:v>41766</c:v>
                </c:pt>
                <c:pt idx="58">
                  <c:v>41773</c:v>
                </c:pt>
                <c:pt idx="59">
                  <c:v>41780</c:v>
                </c:pt>
                <c:pt idx="60">
                  <c:v>41787</c:v>
                </c:pt>
                <c:pt idx="61">
                  <c:v>41794</c:v>
                </c:pt>
                <c:pt idx="62">
                  <c:v>41801</c:v>
                </c:pt>
                <c:pt idx="63">
                  <c:v>41808</c:v>
                </c:pt>
                <c:pt idx="64">
                  <c:v>41815</c:v>
                </c:pt>
                <c:pt idx="65">
                  <c:v>41822</c:v>
                </c:pt>
                <c:pt idx="66">
                  <c:v>41829</c:v>
                </c:pt>
                <c:pt idx="67">
                  <c:v>41836</c:v>
                </c:pt>
                <c:pt idx="68">
                  <c:v>41843</c:v>
                </c:pt>
                <c:pt idx="69">
                  <c:v>41850</c:v>
                </c:pt>
                <c:pt idx="70">
                  <c:v>41857</c:v>
                </c:pt>
                <c:pt idx="71">
                  <c:v>41864</c:v>
                </c:pt>
                <c:pt idx="72">
                  <c:v>41871</c:v>
                </c:pt>
                <c:pt idx="73">
                  <c:v>41878</c:v>
                </c:pt>
                <c:pt idx="74">
                  <c:v>41885</c:v>
                </c:pt>
                <c:pt idx="75">
                  <c:v>41892</c:v>
                </c:pt>
                <c:pt idx="76">
                  <c:v>41899</c:v>
                </c:pt>
                <c:pt idx="77">
                  <c:v>41906</c:v>
                </c:pt>
                <c:pt idx="78">
                  <c:v>41913</c:v>
                </c:pt>
                <c:pt idx="79">
                  <c:v>41920</c:v>
                </c:pt>
                <c:pt idx="80">
                  <c:v>41927</c:v>
                </c:pt>
                <c:pt idx="81">
                  <c:v>41934</c:v>
                </c:pt>
                <c:pt idx="82">
                  <c:v>41941</c:v>
                </c:pt>
                <c:pt idx="83">
                  <c:v>41948</c:v>
                </c:pt>
                <c:pt idx="84">
                  <c:v>41955</c:v>
                </c:pt>
                <c:pt idx="85">
                  <c:v>41962</c:v>
                </c:pt>
                <c:pt idx="86">
                  <c:v>41969</c:v>
                </c:pt>
                <c:pt idx="87">
                  <c:v>41976</c:v>
                </c:pt>
                <c:pt idx="88">
                  <c:v>41983</c:v>
                </c:pt>
                <c:pt idx="89">
                  <c:v>41990</c:v>
                </c:pt>
                <c:pt idx="90">
                  <c:v>41997</c:v>
                </c:pt>
                <c:pt idx="91">
                  <c:v>42004</c:v>
                </c:pt>
                <c:pt idx="92">
                  <c:v>42011</c:v>
                </c:pt>
                <c:pt idx="93">
                  <c:v>42018</c:v>
                </c:pt>
                <c:pt idx="94">
                  <c:v>42025</c:v>
                </c:pt>
                <c:pt idx="95">
                  <c:v>42032</c:v>
                </c:pt>
                <c:pt idx="96">
                  <c:v>42039</c:v>
                </c:pt>
                <c:pt idx="97">
                  <c:v>42046</c:v>
                </c:pt>
                <c:pt idx="98">
                  <c:v>42053</c:v>
                </c:pt>
                <c:pt idx="99">
                  <c:v>42060</c:v>
                </c:pt>
                <c:pt idx="100">
                  <c:v>42067</c:v>
                </c:pt>
                <c:pt idx="101">
                  <c:v>42074</c:v>
                </c:pt>
                <c:pt idx="102">
                  <c:v>42081</c:v>
                </c:pt>
                <c:pt idx="103">
                  <c:v>42088</c:v>
                </c:pt>
                <c:pt idx="104">
                  <c:v>42095</c:v>
                </c:pt>
                <c:pt idx="105">
                  <c:v>42102</c:v>
                </c:pt>
                <c:pt idx="106">
                  <c:v>42109</c:v>
                </c:pt>
                <c:pt idx="107">
                  <c:v>42116</c:v>
                </c:pt>
                <c:pt idx="108">
                  <c:v>42123</c:v>
                </c:pt>
                <c:pt idx="109">
                  <c:v>42130</c:v>
                </c:pt>
                <c:pt idx="110">
                  <c:v>42137</c:v>
                </c:pt>
                <c:pt idx="111">
                  <c:v>42144</c:v>
                </c:pt>
                <c:pt idx="112">
                  <c:v>42151</c:v>
                </c:pt>
                <c:pt idx="113">
                  <c:v>42158</c:v>
                </c:pt>
                <c:pt idx="114">
                  <c:v>42165</c:v>
                </c:pt>
                <c:pt idx="115">
                  <c:v>42172</c:v>
                </c:pt>
                <c:pt idx="116">
                  <c:v>42179</c:v>
                </c:pt>
                <c:pt idx="117">
                  <c:v>42186</c:v>
                </c:pt>
                <c:pt idx="118">
                  <c:v>42193</c:v>
                </c:pt>
                <c:pt idx="119">
                  <c:v>42200</c:v>
                </c:pt>
                <c:pt idx="120">
                  <c:v>42207</c:v>
                </c:pt>
                <c:pt idx="121">
                  <c:v>42214</c:v>
                </c:pt>
                <c:pt idx="122">
                  <c:v>42221</c:v>
                </c:pt>
                <c:pt idx="123">
                  <c:v>42228</c:v>
                </c:pt>
                <c:pt idx="124">
                  <c:v>42235</c:v>
                </c:pt>
                <c:pt idx="125">
                  <c:v>42242</c:v>
                </c:pt>
                <c:pt idx="126">
                  <c:v>42249</c:v>
                </c:pt>
                <c:pt idx="127">
                  <c:v>42256</c:v>
                </c:pt>
                <c:pt idx="128">
                  <c:v>42263</c:v>
                </c:pt>
                <c:pt idx="129">
                  <c:v>42270</c:v>
                </c:pt>
                <c:pt idx="130">
                  <c:v>42277</c:v>
                </c:pt>
                <c:pt idx="131">
                  <c:v>42284</c:v>
                </c:pt>
                <c:pt idx="132">
                  <c:v>42291</c:v>
                </c:pt>
                <c:pt idx="133">
                  <c:v>42298</c:v>
                </c:pt>
                <c:pt idx="134">
                  <c:v>42305</c:v>
                </c:pt>
                <c:pt idx="135">
                  <c:v>42312</c:v>
                </c:pt>
                <c:pt idx="136">
                  <c:v>42319</c:v>
                </c:pt>
                <c:pt idx="137">
                  <c:v>42326</c:v>
                </c:pt>
                <c:pt idx="138">
                  <c:v>42333</c:v>
                </c:pt>
                <c:pt idx="139">
                  <c:v>42340</c:v>
                </c:pt>
                <c:pt idx="140">
                  <c:v>42347</c:v>
                </c:pt>
                <c:pt idx="141">
                  <c:v>42354</c:v>
                </c:pt>
                <c:pt idx="142">
                  <c:v>42361</c:v>
                </c:pt>
              </c:numCache>
            </c:numRef>
          </c:cat>
          <c:val>
            <c:numRef>
              <c:f>'Agency MBS'!$I$5:$I$147</c:f>
              <c:numCache>
                <c:formatCode>0%</c:formatCode>
                <c:ptCount val="143"/>
                <c:pt idx="0">
                  <c:v>0.23318278858923139</c:v>
                </c:pt>
                <c:pt idx="1">
                  <c:v>0.22698208560508629</c:v>
                </c:pt>
                <c:pt idx="2">
                  <c:v>0.23167914767898801</c:v>
                </c:pt>
                <c:pt idx="3">
                  <c:v>0.23522580145645058</c:v>
                </c:pt>
                <c:pt idx="4">
                  <c:v>0.24872597883164832</c:v>
                </c:pt>
                <c:pt idx="5">
                  <c:v>0.22991246990757352</c:v>
                </c:pt>
                <c:pt idx="6">
                  <c:v>0.24035175530066039</c:v>
                </c:pt>
                <c:pt idx="7">
                  <c:v>0.24726817223193726</c:v>
                </c:pt>
                <c:pt idx="8">
                  <c:v>0.24355530407648199</c:v>
                </c:pt>
                <c:pt idx="9">
                  <c:v>0.23683764976776472</c:v>
                </c:pt>
                <c:pt idx="10">
                  <c:v>0.2432897793509525</c:v>
                </c:pt>
                <c:pt idx="11">
                  <c:v>0.24104204269865565</c:v>
                </c:pt>
                <c:pt idx="12">
                  <c:v>0.24928899066104845</c:v>
                </c:pt>
                <c:pt idx="13">
                  <c:v>0.23055763563457174</c:v>
                </c:pt>
                <c:pt idx="14">
                  <c:v>0.237617711560765</c:v>
                </c:pt>
                <c:pt idx="15">
                  <c:v>0.21764831675873619</c:v>
                </c:pt>
                <c:pt idx="16">
                  <c:v>0.2221206454097851</c:v>
                </c:pt>
                <c:pt idx="17">
                  <c:v>0.21103966511227443</c:v>
                </c:pt>
                <c:pt idx="18">
                  <c:v>0.22495453492834896</c:v>
                </c:pt>
                <c:pt idx="19">
                  <c:v>0.23014918879309354</c:v>
                </c:pt>
                <c:pt idx="20">
                  <c:v>0.2345687117153058</c:v>
                </c:pt>
                <c:pt idx="21">
                  <c:v>0.24627289192003429</c:v>
                </c:pt>
                <c:pt idx="22">
                  <c:v>0.25485937306819662</c:v>
                </c:pt>
                <c:pt idx="23">
                  <c:v>0.25389516169382415</c:v>
                </c:pt>
                <c:pt idx="24">
                  <c:v>0.23785766739991643</c:v>
                </c:pt>
                <c:pt idx="25">
                  <c:v>0.2405630316987723</c:v>
                </c:pt>
                <c:pt idx="26">
                  <c:v>0.2310609378461792</c:v>
                </c:pt>
                <c:pt idx="27">
                  <c:v>0.23955241911966871</c:v>
                </c:pt>
                <c:pt idx="28">
                  <c:v>0.26129765992087989</c:v>
                </c:pt>
                <c:pt idx="29">
                  <c:v>0.266333303568771</c:v>
                </c:pt>
                <c:pt idx="30">
                  <c:v>0.27499888785821264</c:v>
                </c:pt>
                <c:pt idx="31">
                  <c:v>0.27384419649354619</c:v>
                </c:pt>
                <c:pt idx="32">
                  <c:v>0.27660166947328874</c:v>
                </c:pt>
                <c:pt idx="33">
                  <c:v>0.30620563315777422</c:v>
                </c:pt>
                <c:pt idx="34">
                  <c:v>0.28961025610415275</c:v>
                </c:pt>
                <c:pt idx="35">
                  <c:v>0.28322347616163684</c:v>
                </c:pt>
                <c:pt idx="36">
                  <c:v>0.28513450932513784</c:v>
                </c:pt>
                <c:pt idx="37">
                  <c:v>0.27533760165162857</c:v>
                </c:pt>
                <c:pt idx="38">
                  <c:v>0.26882039719367473</c:v>
                </c:pt>
                <c:pt idx="39">
                  <c:v>0.22757642455368063</c:v>
                </c:pt>
                <c:pt idx="40">
                  <c:v>0.23756965378227085</c:v>
                </c:pt>
                <c:pt idx="41">
                  <c:v>0.24586080259469587</c:v>
                </c:pt>
                <c:pt idx="42">
                  <c:v>0.23465256366648748</c:v>
                </c:pt>
                <c:pt idx="43">
                  <c:v>0.22271169144754333</c:v>
                </c:pt>
                <c:pt idx="44">
                  <c:v>0.22311959978413143</c:v>
                </c:pt>
                <c:pt idx="45">
                  <c:v>0.2128733595726946</c:v>
                </c:pt>
                <c:pt idx="46">
                  <c:v>0.20630035061424407</c:v>
                </c:pt>
                <c:pt idx="47">
                  <c:v>0.19739577285955603</c:v>
                </c:pt>
                <c:pt idx="48">
                  <c:v>0.20129552378720411</c:v>
                </c:pt>
                <c:pt idx="49">
                  <c:v>0.20272660239173701</c:v>
                </c:pt>
                <c:pt idx="50">
                  <c:v>0.20729663554866209</c:v>
                </c:pt>
                <c:pt idx="51">
                  <c:v>0.22181041325715631</c:v>
                </c:pt>
                <c:pt idx="52">
                  <c:v>0.2315948334684638</c:v>
                </c:pt>
                <c:pt idx="53">
                  <c:v>0.23821166070527902</c:v>
                </c:pt>
                <c:pt idx="54">
                  <c:v>0.23855073349399797</c:v>
                </c:pt>
                <c:pt idx="55">
                  <c:v>0.24787733376815477</c:v>
                </c:pt>
                <c:pt idx="56">
                  <c:v>0.24864368782123836</c:v>
                </c:pt>
                <c:pt idx="57">
                  <c:v>0.23811402338326354</c:v>
                </c:pt>
                <c:pt idx="58">
                  <c:v>0.2347928799355927</c:v>
                </c:pt>
                <c:pt idx="59">
                  <c:v>0.23190563243709383</c:v>
                </c:pt>
                <c:pt idx="60">
                  <c:v>0.23342673282410362</c:v>
                </c:pt>
                <c:pt idx="61">
                  <c:v>0.23032447427152419</c:v>
                </c:pt>
                <c:pt idx="62">
                  <c:v>0.23648596564394381</c:v>
                </c:pt>
                <c:pt idx="63">
                  <c:v>0.22530203168818261</c:v>
                </c:pt>
                <c:pt idx="64">
                  <c:v>0.23073203561200986</c:v>
                </c:pt>
                <c:pt idx="65">
                  <c:v>0.22659658076039807</c:v>
                </c:pt>
                <c:pt idx="66">
                  <c:v>0.23263271338960295</c:v>
                </c:pt>
                <c:pt idx="67">
                  <c:v>0.249275883063349</c:v>
                </c:pt>
                <c:pt idx="68">
                  <c:v>0.24679473093319373</c:v>
                </c:pt>
                <c:pt idx="69">
                  <c:v>0.25322736050086553</c:v>
                </c:pt>
                <c:pt idx="70">
                  <c:v>0.25943714071482132</c:v>
                </c:pt>
                <c:pt idx="71">
                  <c:v>0.26709270751734127</c:v>
                </c:pt>
                <c:pt idx="72">
                  <c:v>0.26151109125504102</c:v>
                </c:pt>
                <c:pt idx="73">
                  <c:v>0.25440629046963653</c:v>
                </c:pt>
                <c:pt idx="74">
                  <c:v>0.24614154476268271</c:v>
                </c:pt>
                <c:pt idx="75">
                  <c:v>0.26646787747357009</c:v>
                </c:pt>
                <c:pt idx="76">
                  <c:v>0.26701326618476573</c:v>
                </c:pt>
                <c:pt idx="77">
                  <c:v>0.28175993884782569</c:v>
                </c:pt>
                <c:pt idx="78">
                  <c:v>0.26038088384182662</c:v>
                </c:pt>
                <c:pt idx="79">
                  <c:v>0.26802280633938924</c:v>
                </c:pt>
                <c:pt idx="80">
                  <c:v>0.25594894613783348</c:v>
                </c:pt>
                <c:pt idx="81">
                  <c:v>0.27015701540821069</c:v>
                </c:pt>
                <c:pt idx="82">
                  <c:v>0.26053077494599736</c:v>
                </c:pt>
                <c:pt idx="83">
                  <c:v>0.25651940314607485</c:v>
                </c:pt>
                <c:pt idx="84">
                  <c:v>0.26755384050291947</c:v>
                </c:pt>
                <c:pt idx="85">
                  <c:v>0.27215447023391093</c:v>
                </c:pt>
                <c:pt idx="86">
                  <c:v>0.26783412634954756</c:v>
                </c:pt>
                <c:pt idx="87">
                  <c:v>0.28171333363587447</c:v>
                </c:pt>
                <c:pt idx="88">
                  <c:v>0.26618507483340326</c:v>
                </c:pt>
                <c:pt idx="89">
                  <c:v>0.27274860006928398</c:v>
                </c:pt>
                <c:pt idx="90">
                  <c:v>0.2881685030762785</c:v>
                </c:pt>
                <c:pt idx="91">
                  <c:v>0.22808787483326032</c:v>
                </c:pt>
                <c:pt idx="92">
                  <c:v>0.22733963665896056</c:v>
                </c:pt>
                <c:pt idx="93">
                  <c:v>0.21920775251851471</c:v>
                </c:pt>
                <c:pt idx="94">
                  <c:v>0.19788943930396996</c:v>
                </c:pt>
                <c:pt idx="95">
                  <c:v>0.18914948607419446</c:v>
                </c:pt>
                <c:pt idx="96">
                  <c:v>0.18066835938116038</c:v>
                </c:pt>
                <c:pt idx="97">
                  <c:v>0.17103541960152949</c:v>
                </c:pt>
                <c:pt idx="98">
                  <c:v>0.16891895016764949</c:v>
                </c:pt>
                <c:pt idx="99">
                  <c:v>0.17068018790830153</c:v>
                </c:pt>
                <c:pt idx="100">
                  <c:v>0.16952428455639379</c:v>
                </c:pt>
                <c:pt idx="101">
                  <c:v>0.16545842415463646</c:v>
                </c:pt>
                <c:pt idx="102">
                  <c:v>0.17053143068028048</c:v>
                </c:pt>
                <c:pt idx="103">
                  <c:v>0.17579075568529812</c:v>
                </c:pt>
                <c:pt idx="104">
                  <c:v>0.19239445697711893</c:v>
                </c:pt>
                <c:pt idx="105">
                  <c:v>0.18801635234459577</c:v>
                </c:pt>
                <c:pt idx="106">
                  <c:v>0.18766691172498351</c:v>
                </c:pt>
                <c:pt idx="107">
                  <c:v>0.18493315843284014</c:v>
                </c:pt>
                <c:pt idx="108">
                  <c:v>0.18988383157560862</c:v>
                </c:pt>
                <c:pt idx="109">
                  <c:v>0.18782430661579208</c:v>
                </c:pt>
                <c:pt idx="110">
                  <c:v>0.18222165956172534</c:v>
                </c:pt>
                <c:pt idx="111">
                  <c:v>0.18504815291808421</c:v>
                </c:pt>
                <c:pt idx="112">
                  <c:v>0.19396106436115265</c:v>
                </c:pt>
                <c:pt idx="113">
                  <c:v>0.18125689355131253</c:v>
                </c:pt>
                <c:pt idx="114">
                  <c:v>0.18780578297756559</c:v>
                </c:pt>
                <c:pt idx="115">
                  <c:v>0.18251409949857242</c:v>
                </c:pt>
                <c:pt idx="116">
                  <c:v>0.17720529239512051</c:v>
                </c:pt>
                <c:pt idx="117">
                  <c:v>0.16674300692357591</c:v>
                </c:pt>
                <c:pt idx="118">
                  <c:v>0.16267137137541959</c:v>
                </c:pt>
                <c:pt idx="119">
                  <c:v>0.16626577660063241</c:v>
                </c:pt>
                <c:pt idx="120">
                  <c:v>0.1734928544050813</c:v>
                </c:pt>
                <c:pt idx="121">
                  <c:v>0.17829382811035815</c:v>
                </c:pt>
                <c:pt idx="122">
                  <c:v>0.18142783805740656</c:v>
                </c:pt>
                <c:pt idx="123">
                  <c:v>0.18218695583346525</c:v>
                </c:pt>
                <c:pt idx="124">
                  <c:v>0.1701642605321726</c:v>
                </c:pt>
                <c:pt idx="125">
                  <c:v>0.17293064713599665</c:v>
                </c:pt>
                <c:pt idx="126">
                  <c:v>0.15414646574398094</c:v>
                </c:pt>
                <c:pt idx="127">
                  <c:v>0.16125983460271975</c:v>
                </c:pt>
                <c:pt idx="128">
                  <c:v>0.1612304448597377</c:v>
                </c:pt>
                <c:pt idx="129">
                  <c:v>0.1677002211325834</c:v>
                </c:pt>
                <c:pt idx="130">
                  <c:v>0.17428617238390026</c:v>
                </c:pt>
                <c:pt idx="131">
                  <c:v>0.18154994544324363</c:v>
                </c:pt>
                <c:pt idx="132">
                  <c:v>0.16756528366055087</c:v>
                </c:pt>
                <c:pt idx="133">
                  <c:v>0.17974871271007589</c:v>
                </c:pt>
                <c:pt idx="134">
                  <c:v>0.19079072160394542</c:v>
                </c:pt>
                <c:pt idx="135">
                  <c:v>0.19068103556880694</c:v>
                </c:pt>
                <c:pt idx="136">
                  <c:v>0.18709514926841556</c:v>
                </c:pt>
                <c:pt idx="137">
                  <c:v>0.19262284078888728</c:v>
                </c:pt>
                <c:pt idx="138">
                  <c:v>0.17903111931787324</c:v>
                </c:pt>
                <c:pt idx="139">
                  <c:v>0.17340480933032443</c:v>
                </c:pt>
                <c:pt idx="140">
                  <c:v>0.15969603789313294</c:v>
                </c:pt>
                <c:pt idx="141">
                  <c:v>0.16020061624271867</c:v>
                </c:pt>
                <c:pt idx="142">
                  <c:v>0.18434529000528971</c:v>
                </c:pt>
              </c:numCache>
            </c:numRef>
          </c:val>
          <c:smooth val="0"/>
        </c:ser>
        <c:dLbls>
          <c:showLegendKey val="0"/>
          <c:showVal val="0"/>
          <c:showCatName val="0"/>
          <c:showSerName val="0"/>
          <c:showPercent val="0"/>
          <c:showBubbleSize val="0"/>
        </c:dLbls>
        <c:marker val="1"/>
        <c:smooth val="0"/>
        <c:axId val="109205760"/>
        <c:axId val="109576192"/>
      </c:lineChart>
      <c:dateAx>
        <c:axId val="109205760"/>
        <c:scaling>
          <c:orientation val="minMax"/>
        </c:scaling>
        <c:delete val="0"/>
        <c:axPos val="b"/>
        <c:numFmt formatCode="[$-409]mmm\-yy;@" sourceLinked="0"/>
        <c:majorTickMark val="out"/>
        <c:minorTickMark val="none"/>
        <c:tickLblPos val="nextTo"/>
        <c:spPr>
          <a:ln>
            <a:solidFill>
              <a:schemeClr val="tx1"/>
            </a:solidFill>
          </a:ln>
        </c:spPr>
        <c:crossAx val="109576192"/>
        <c:crosses val="autoZero"/>
        <c:auto val="1"/>
        <c:lblOffset val="100"/>
        <c:baseTimeUnit val="days"/>
      </c:dateAx>
      <c:valAx>
        <c:axId val="109576192"/>
        <c:scaling>
          <c:orientation val="minMax"/>
        </c:scaling>
        <c:delete val="0"/>
        <c:axPos val="l"/>
        <c:numFmt formatCode="0%" sourceLinked="1"/>
        <c:majorTickMark val="out"/>
        <c:minorTickMark val="none"/>
        <c:tickLblPos val="nextTo"/>
        <c:crossAx val="109205760"/>
        <c:crosses val="autoZero"/>
        <c:crossBetween val="between"/>
      </c:valAx>
      <c:spPr>
        <a:solidFill>
          <a:srgbClr val="FFFFFF"/>
        </a:solidFill>
        <a:ln w="25400">
          <a:noFill/>
        </a:ln>
      </c:spPr>
    </c:plotArea>
    <c:legend>
      <c:legendPos val="t"/>
      <c:layout/>
      <c:overlay val="1"/>
    </c:legend>
    <c:plotVisOnly val="1"/>
    <c:dispBlanksAs val="gap"/>
    <c:showDLblsOverMax val="0"/>
  </c:chart>
  <c:spPr>
    <a:solidFill>
      <a:srgbClr val="FFFFFF"/>
    </a:solidFill>
    <a:ln w="25400">
      <a:noFill/>
    </a:ln>
  </c:spPr>
  <c:txPr>
    <a:bodyPr/>
    <a:lstStyle/>
    <a:p>
      <a:pPr>
        <a:defRPr sz="800" b="0" i="0">
          <a:latin typeface="Arial Narrow"/>
          <a:ea typeface="Arial Narrow"/>
          <a:cs typeface="Arial Narrow"/>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69" tIns="46585" rIns="93169" bIns="46585"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69" tIns="46585" rIns="93169" bIns="46585" rtlCol="0"/>
          <a:lstStyle>
            <a:lvl1pPr algn="r">
              <a:defRPr sz="1200"/>
            </a:lvl1pPr>
          </a:lstStyle>
          <a:p>
            <a:fld id="{CD69C154-8DB3-4790-A359-7790FFBF8C47}" type="datetimeFigureOut">
              <a:rPr lang="en-US" smtClean="0"/>
              <a:t>1/14/2016</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69" tIns="46585" rIns="93169" bIns="46585"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69" tIns="46585" rIns="93169" bIns="46585" rtlCol="0" anchor="b"/>
          <a:lstStyle>
            <a:lvl1pPr algn="r">
              <a:defRPr sz="1200"/>
            </a:lvl1pPr>
          </a:lstStyle>
          <a:p>
            <a:fld id="{3AA19290-3B50-423F-8386-34EA3226F54C}" type="slidenum">
              <a:rPr lang="en-US" smtClean="0"/>
              <a:t>‹#›</a:t>
            </a:fld>
            <a:endParaRPr lang="en-US" dirty="0"/>
          </a:p>
        </p:txBody>
      </p:sp>
    </p:spTree>
    <p:extLst>
      <p:ext uri="{BB962C8B-B14F-4D97-AF65-F5344CB8AC3E}">
        <p14:creationId xmlns:p14="http://schemas.microsoft.com/office/powerpoint/2010/main" val="1616536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69" tIns="46585" rIns="93169" bIns="46585"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69" tIns="46585" rIns="93169" bIns="46585" rtlCol="0"/>
          <a:lstStyle>
            <a:lvl1pPr algn="r">
              <a:defRPr sz="1200"/>
            </a:lvl1pPr>
          </a:lstStyle>
          <a:p>
            <a:fld id="{D94E0677-78E7-4F29-8DEE-AA9328514842}" type="datetimeFigureOut">
              <a:rPr lang="en-US" smtClean="0"/>
              <a:t>1/14/2016</a:t>
            </a:fld>
            <a:endParaRPr lang="en-US" dirty="0"/>
          </a:p>
        </p:txBody>
      </p:sp>
      <p:sp>
        <p:nvSpPr>
          <p:cNvPr id="4" name="Slide Image Placeholder 3"/>
          <p:cNvSpPr>
            <a:spLocks noGrp="1" noRot="1" noChangeAspect="1"/>
          </p:cNvSpPr>
          <p:nvPr>
            <p:ph type="sldImg" idx="2"/>
          </p:nvPr>
        </p:nvSpPr>
        <p:spPr>
          <a:xfrm>
            <a:off x="1249363" y="696913"/>
            <a:ext cx="4511675" cy="3486150"/>
          </a:xfrm>
          <a:prstGeom prst="rect">
            <a:avLst/>
          </a:prstGeom>
          <a:noFill/>
          <a:ln w="12700">
            <a:solidFill>
              <a:prstClr val="black"/>
            </a:solidFill>
          </a:ln>
        </p:spPr>
        <p:txBody>
          <a:bodyPr vert="horz" lIns="93169" tIns="46585" rIns="93169" bIns="46585"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69" tIns="46585" rIns="93169" bIns="46585"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69" tIns="46585" rIns="93169" bIns="46585"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69" tIns="46585" rIns="93169" bIns="46585" rtlCol="0" anchor="b"/>
          <a:lstStyle>
            <a:lvl1pPr algn="r">
              <a:defRPr sz="1200"/>
            </a:lvl1pPr>
          </a:lstStyle>
          <a:p>
            <a:fld id="{4CF500CA-EC02-405F-A377-1C6BD89C661C}" type="slidenum">
              <a:rPr lang="en-US" smtClean="0"/>
              <a:t>‹#›</a:t>
            </a:fld>
            <a:endParaRPr lang="en-US" dirty="0"/>
          </a:p>
        </p:txBody>
      </p:sp>
    </p:spTree>
    <p:extLst>
      <p:ext uri="{BB962C8B-B14F-4D97-AF65-F5344CB8AC3E}">
        <p14:creationId xmlns:p14="http://schemas.microsoft.com/office/powerpoint/2010/main" val="2770363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49363" y="698500"/>
            <a:ext cx="4511675" cy="3486150"/>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9834"/>
            <a:fld id="{1FE077EC-684A-4FD9-A6C3-9AE90D8B81D6}" type="slidenum">
              <a:rPr lang="en-US" smtClean="0">
                <a:solidFill>
                  <a:prstClr val="black"/>
                </a:solidFill>
              </a:rPr>
              <a:pPr defTabSz="919834"/>
              <a:t>1</a:t>
            </a:fld>
            <a:endParaRPr lang="en-US" dirty="0" smtClean="0">
              <a:solidFill>
                <a:prstClr val="black"/>
              </a:solidFill>
            </a:endParaRPr>
          </a:p>
        </p:txBody>
      </p:sp>
    </p:spTree>
    <p:extLst>
      <p:ext uri="{BB962C8B-B14F-4D97-AF65-F5344CB8AC3E}">
        <p14:creationId xmlns:p14="http://schemas.microsoft.com/office/powerpoint/2010/main" val="300677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2</a:t>
            </a:fld>
            <a:endParaRPr lang="en-US" dirty="0"/>
          </a:p>
        </p:txBody>
      </p:sp>
    </p:spTree>
    <p:extLst>
      <p:ext uri="{BB962C8B-B14F-4D97-AF65-F5344CB8AC3E}">
        <p14:creationId xmlns:p14="http://schemas.microsoft.com/office/powerpoint/2010/main" val="2149665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3</a:t>
            </a:fld>
            <a:endParaRPr lang="en-US" dirty="0"/>
          </a:p>
        </p:txBody>
      </p:sp>
    </p:spTree>
    <p:extLst>
      <p:ext uri="{BB962C8B-B14F-4D97-AF65-F5344CB8AC3E}">
        <p14:creationId xmlns:p14="http://schemas.microsoft.com/office/powerpoint/2010/main" val="2793374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4</a:t>
            </a:fld>
            <a:endParaRPr lang="en-US" dirty="0"/>
          </a:p>
        </p:txBody>
      </p:sp>
    </p:spTree>
    <p:extLst>
      <p:ext uri="{BB962C8B-B14F-4D97-AF65-F5344CB8AC3E}">
        <p14:creationId xmlns:p14="http://schemas.microsoft.com/office/powerpoint/2010/main" val="2899130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5</a:t>
            </a:fld>
            <a:endParaRPr lang="en-US" dirty="0"/>
          </a:p>
        </p:txBody>
      </p:sp>
    </p:spTree>
    <p:extLst>
      <p:ext uri="{BB962C8B-B14F-4D97-AF65-F5344CB8AC3E}">
        <p14:creationId xmlns:p14="http://schemas.microsoft.com/office/powerpoint/2010/main" val="3656829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6</a:t>
            </a:fld>
            <a:endParaRPr lang="en-US" dirty="0">
              <a:solidFill>
                <a:prstClr val="black"/>
              </a:solidFill>
            </a:endParaRPr>
          </a:p>
        </p:txBody>
      </p:sp>
    </p:spTree>
    <p:extLst>
      <p:ext uri="{BB962C8B-B14F-4D97-AF65-F5344CB8AC3E}">
        <p14:creationId xmlns:p14="http://schemas.microsoft.com/office/powerpoint/2010/main" val="2452062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7</a:t>
            </a:fld>
            <a:endParaRPr lang="en-US" dirty="0">
              <a:solidFill>
                <a:prstClr val="black"/>
              </a:solidFill>
            </a:endParaRPr>
          </a:p>
        </p:txBody>
      </p:sp>
    </p:spTree>
    <p:extLst>
      <p:ext uri="{BB962C8B-B14F-4D97-AF65-F5344CB8AC3E}">
        <p14:creationId xmlns:p14="http://schemas.microsoft.com/office/powerpoint/2010/main" val="24520624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8</a:t>
            </a:fld>
            <a:endParaRPr lang="en-US" dirty="0">
              <a:solidFill>
                <a:prstClr val="black"/>
              </a:solidFill>
            </a:endParaRPr>
          </a:p>
        </p:txBody>
      </p:sp>
    </p:spTree>
    <p:extLst>
      <p:ext uri="{BB962C8B-B14F-4D97-AF65-F5344CB8AC3E}">
        <p14:creationId xmlns:p14="http://schemas.microsoft.com/office/powerpoint/2010/main" val="2452062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9</a:t>
            </a:fld>
            <a:endParaRPr lang="en-US" dirty="0"/>
          </a:p>
        </p:txBody>
      </p:sp>
    </p:spTree>
    <p:extLst>
      <p:ext uri="{BB962C8B-B14F-4D97-AF65-F5344CB8AC3E}">
        <p14:creationId xmlns:p14="http://schemas.microsoft.com/office/powerpoint/2010/main" val="533807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10</a:t>
            </a:fld>
            <a:endParaRPr lang="en-US" dirty="0"/>
          </a:p>
        </p:txBody>
      </p:sp>
    </p:spTree>
    <p:extLst>
      <p:ext uri="{BB962C8B-B14F-4D97-AF65-F5344CB8AC3E}">
        <p14:creationId xmlns:p14="http://schemas.microsoft.com/office/powerpoint/2010/main" val="30116948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11</a:t>
            </a:fld>
            <a:endParaRPr lang="en-US" dirty="0">
              <a:solidFill>
                <a:prstClr val="black"/>
              </a:solidFill>
            </a:endParaRPr>
          </a:p>
        </p:txBody>
      </p:sp>
    </p:spTree>
    <p:extLst>
      <p:ext uri="{BB962C8B-B14F-4D97-AF65-F5344CB8AC3E}">
        <p14:creationId xmlns:p14="http://schemas.microsoft.com/office/powerpoint/2010/main" val="24520624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12</a:t>
            </a:fld>
            <a:endParaRPr lang="en-US" dirty="0"/>
          </a:p>
        </p:txBody>
      </p:sp>
    </p:spTree>
    <p:extLst>
      <p:ext uri="{BB962C8B-B14F-4D97-AF65-F5344CB8AC3E}">
        <p14:creationId xmlns:p14="http://schemas.microsoft.com/office/powerpoint/2010/main" val="6935427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sp>
        <p:nvSpPr>
          <p:cNvPr id="8"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9"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sp>
        <p:nvSpPr>
          <p:cNvPr id="21"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
        <p:nvSpPr>
          <p:cNvPr id="2" name="Title 1"/>
          <p:cNvSpPr>
            <a:spLocks noGrp="1"/>
          </p:cNvSpPr>
          <p:nvPr>
            <p:ph type="ctrTitle"/>
          </p:nvPr>
        </p:nvSpPr>
        <p:spPr>
          <a:xfrm>
            <a:off x="3352800" y="6299200"/>
            <a:ext cx="6248400" cy="330200"/>
          </a:xfrm>
        </p:spPr>
        <p:txBody>
          <a:bodyPr/>
          <a:lstStyle>
            <a:lvl1pPr algn="r">
              <a:defRPr sz="2000" b="0" baseline="0">
                <a:solidFill>
                  <a:schemeClr val="accent3"/>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352800" y="6639560"/>
            <a:ext cx="6248400" cy="457200"/>
          </a:xfrm>
        </p:spPr>
        <p:txBody>
          <a:bodyPr/>
          <a:lstStyle>
            <a:lvl1pPr marL="0" indent="0" algn="r">
              <a:buNone/>
              <a:defRPr sz="1700" b="0">
                <a:solidFill>
                  <a:schemeClr val="tx2"/>
                </a:solidFill>
              </a:defRPr>
            </a:lvl1pPr>
            <a:lvl2pPr marL="509412" indent="0" algn="ctr">
              <a:buNone/>
              <a:defRPr>
                <a:solidFill>
                  <a:schemeClr val="tx1">
                    <a:tint val="75000"/>
                  </a:schemeClr>
                </a:solidFill>
              </a:defRPr>
            </a:lvl2pPr>
            <a:lvl3pPr marL="1018824" indent="0" algn="ctr">
              <a:buNone/>
              <a:defRPr>
                <a:solidFill>
                  <a:schemeClr val="tx1">
                    <a:tint val="75000"/>
                  </a:schemeClr>
                </a:solidFill>
              </a:defRPr>
            </a:lvl3pPr>
            <a:lvl4pPr marL="1528237" indent="0" algn="ctr">
              <a:buNone/>
              <a:defRPr>
                <a:solidFill>
                  <a:schemeClr val="tx1">
                    <a:tint val="75000"/>
                  </a:schemeClr>
                </a:solidFill>
              </a:defRPr>
            </a:lvl4pPr>
            <a:lvl5pPr marL="2037649" indent="0" algn="ctr">
              <a:buNone/>
              <a:defRPr>
                <a:solidFill>
                  <a:schemeClr val="tx1">
                    <a:tint val="75000"/>
                  </a:schemeClr>
                </a:solidFill>
              </a:defRPr>
            </a:lvl5pPr>
            <a:lvl6pPr marL="2547061" indent="0" algn="ctr">
              <a:buNone/>
              <a:defRPr>
                <a:solidFill>
                  <a:schemeClr val="tx1">
                    <a:tint val="75000"/>
                  </a:schemeClr>
                </a:solidFill>
              </a:defRPr>
            </a:lvl6pPr>
            <a:lvl7pPr marL="3056473" indent="0" algn="ctr">
              <a:buNone/>
              <a:defRPr>
                <a:solidFill>
                  <a:schemeClr val="tx1">
                    <a:tint val="75000"/>
                  </a:schemeClr>
                </a:solidFill>
              </a:defRPr>
            </a:lvl7pPr>
            <a:lvl8pPr marL="3565886" indent="0" algn="ctr">
              <a:buNone/>
              <a:defRPr>
                <a:solidFill>
                  <a:schemeClr val="tx1">
                    <a:tint val="75000"/>
                  </a:schemeClr>
                </a:solidFill>
              </a:defRPr>
            </a:lvl8pPr>
            <a:lvl9pPr marL="4075298" indent="0" algn="ctr">
              <a:buNone/>
              <a:defRPr>
                <a:solidFill>
                  <a:schemeClr val="tx1">
                    <a:tint val="75000"/>
                  </a:schemeClr>
                </a:solidFill>
              </a:defRPr>
            </a:lvl9pPr>
          </a:lstStyle>
          <a:p>
            <a:r>
              <a:rPr lang="en-US" dirty="0" smtClean="0"/>
              <a:t>Click to edit Master subtitle style</a:t>
            </a:r>
            <a:endParaRPr lang="en-US" dirty="0"/>
          </a:p>
        </p:txBody>
      </p:sp>
      <p:pic>
        <p:nvPicPr>
          <p:cNvPr id="22" name="Picture 21"/>
          <p:cNvPicPr>
            <a:picLocks noChangeAspect="1"/>
          </p:cNvPicPr>
          <p:nvPr userDrawn="1"/>
        </p:nvPicPr>
        <p:blipFill>
          <a:blip r:embed="rId3"/>
          <a:stretch>
            <a:fillRect/>
          </a:stretch>
        </p:blipFill>
        <p:spPr>
          <a:xfrm>
            <a:off x="1011082" y="3986954"/>
            <a:ext cx="2202628" cy="2880360"/>
          </a:xfrm>
          <a:prstGeom prst="rect">
            <a:avLst/>
          </a:prstGeom>
        </p:spPr>
      </p:pic>
    </p:spTree>
    <p:extLst>
      <p:ext uri="{BB962C8B-B14F-4D97-AF65-F5344CB8AC3E}">
        <p14:creationId xmlns:p14="http://schemas.microsoft.com/office/powerpoint/2010/main" val="2113214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Tree>
    <p:extLst>
      <p:ext uri="{BB962C8B-B14F-4D97-AF65-F5344CB8AC3E}">
        <p14:creationId xmlns:p14="http://schemas.microsoft.com/office/powerpoint/2010/main" val="1215796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5" name="Rectangle 24"/>
          <p:cNvSpPr/>
          <p:nvPr userDrawn="1"/>
        </p:nvSpPr>
        <p:spPr>
          <a:xfrm>
            <a:off x="228600" y="228600"/>
            <a:ext cx="9601200" cy="731520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2050629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3"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433992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7" name="Picture 26"/>
          <p:cNvPicPr>
            <a:picLocks noChangeAspect="1"/>
          </p:cNvPicPr>
          <p:nvPr userDrawn="1"/>
        </p:nvPicPr>
        <p:blipFill>
          <a:blip r:embed="rId3"/>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5183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Title Slide">
    <p:spTree>
      <p:nvGrpSpPr>
        <p:cNvPr id="1" name=""/>
        <p:cNvGrpSpPr/>
        <p:nvPr/>
      </p:nvGrpSpPr>
      <p:grpSpPr>
        <a:xfrm>
          <a:off x="0" y="0"/>
          <a:ext cx="0" cy="0"/>
          <a:chOff x="0" y="0"/>
          <a:chExt cx="0" cy="0"/>
        </a:xfrm>
      </p:grpSpPr>
      <p:pic>
        <p:nvPicPr>
          <p:cNvPr id="7" name="Picture 31" descr="Cello_CoverDesigns_FINAL_3and4-01"/>
          <p:cNvPicPr>
            <a:picLocks noChangeAspect="1" noChangeArrowheads="1"/>
          </p:cNvPicPr>
          <p:nvPr userDrawn="1"/>
        </p:nvPicPr>
        <p:blipFill>
          <a:blip r:embed="rId2" cstate="print"/>
          <a:srcRect t="88849"/>
          <a:stretch>
            <a:fillRect/>
          </a:stretch>
        </p:blipFill>
        <p:spPr bwMode="auto">
          <a:xfrm>
            <a:off x="228600" y="4769721"/>
            <a:ext cx="9601200" cy="482373"/>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878930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6_Title Slide">
    <p:spTree>
      <p:nvGrpSpPr>
        <p:cNvPr id="1" name=""/>
        <p:cNvGrpSpPr/>
        <p:nvPr/>
      </p:nvGrpSpPr>
      <p:grpSpPr>
        <a:xfrm>
          <a:off x="0" y="0"/>
          <a:ext cx="0" cy="0"/>
          <a:chOff x="0" y="0"/>
          <a:chExt cx="0" cy="0"/>
        </a:xfrm>
      </p:grpSpPr>
      <p:pic>
        <p:nvPicPr>
          <p:cNvPr id="20" name="Picture 33" descr="Cello_CoverDesigns_FINAL_2-02"/>
          <p:cNvPicPr>
            <a:picLocks noChangeAspect="1" noChangeArrowheads="1"/>
          </p:cNvPicPr>
          <p:nvPr userDrawn="1"/>
        </p:nvPicPr>
        <p:blipFill>
          <a:blip r:embed="rId2" cstate="print"/>
          <a:srcRect t="88007" b="1381"/>
          <a:stretch>
            <a:fillRect/>
          </a:stretch>
        </p:blipFill>
        <p:spPr bwMode="auto">
          <a:xfrm>
            <a:off x="228600" y="4781954"/>
            <a:ext cx="9601200" cy="470140"/>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2"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34" name="Picture 33"/>
          <p:cNvPicPr>
            <a:picLocks noChangeAspect="1"/>
          </p:cNvPicPr>
          <p:nvPr userDrawn="1"/>
        </p:nvPicPr>
        <p:blipFill>
          <a:blip r:embed="rId3"/>
          <a:stretch>
            <a:fillRect/>
          </a:stretch>
        </p:blipFill>
        <p:spPr>
          <a:xfrm>
            <a:off x="4487283" y="4495800"/>
            <a:ext cx="1083833" cy="1417320"/>
          </a:xfrm>
          <a:prstGeom prst="rect">
            <a:avLst/>
          </a:prstGeom>
        </p:spPr>
      </p:pic>
      <p:sp>
        <p:nvSpPr>
          <p:cNvPr id="3" name="Content Placeholder 2"/>
          <p:cNvSpPr>
            <a:spLocks noGrp="1"/>
          </p:cNvSpPr>
          <p:nvPr>
            <p:ph sz="quarter" idx="10"/>
          </p:nvPr>
        </p:nvSpPr>
        <p:spPr>
          <a:xfrm>
            <a:off x="293688" y="6400800"/>
            <a:ext cx="9469437" cy="1001713"/>
          </a:xfrm>
        </p:spPr>
        <p:txBody>
          <a:bodyPr/>
          <a:lstStyle>
            <a:lvl1pPr algn="ctr">
              <a:defRPr sz="2600" b="0"/>
            </a:lvl1pPr>
          </a:lstStyle>
          <a:p>
            <a:pPr lvl="0"/>
            <a:r>
              <a:rPr lang="en-US" dirty="0" smtClean="0"/>
              <a:t>Click to edit Master text styles</a:t>
            </a:r>
          </a:p>
        </p:txBody>
      </p:sp>
    </p:spTree>
    <p:extLst>
      <p:ext uri="{BB962C8B-B14F-4D97-AF65-F5344CB8AC3E}">
        <p14:creationId xmlns:p14="http://schemas.microsoft.com/office/powerpoint/2010/main" val="3254498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843000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os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lgn="just">
              <a:spcBef>
                <a:spcPts val="1200"/>
              </a:spcBef>
              <a:defRPr sz="1100"/>
            </a:lvl1pPr>
            <a:lvl2pPr algn="just">
              <a:spcBef>
                <a:spcPts val="900"/>
              </a:spcBef>
              <a:defRPr sz="1100"/>
            </a:lvl2pPr>
            <a:lvl3pPr algn="just">
              <a:spcBef>
                <a:spcPts val="600"/>
              </a:spcBef>
              <a:defRPr sz="1100"/>
            </a:lvl3pPr>
            <a:lvl4pPr algn="just">
              <a:spcBef>
                <a:spcPts val="0"/>
              </a:spcBef>
              <a:defRPr sz="1100"/>
            </a:lvl4pPr>
            <a:lvl5pPr algn="just">
              <a:spcBef>
                <a:spcPts val="0"/>
              </a:spcBef>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855275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7406" y="3881120"/>
            <a:ext cx="8925718" cy="914400"/>
          </a:xfrm>
        </p:spPr>
        <p:txBody>
          <a:bodyPr anchor="t"/>
          <a:lstStyle>
            <a:lvl1pPr algn="l">
              <a:defRPr sz="3200" b="0" cap="all">
                <a:solidFill>
                  <a:schemeClr val="accent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838200" y="4800600"/>
            <a:ext cx="8925718" cy="914400"/>
          </a:xfrm>
        </p:spPr>
        <p:txBody>
          <a:bodyPr anchor="t"/>
          <a:lstStyle>
            <a:lvl1pPr marL="0" indent="0" algn="l">
              <a:buNone/>
              <a:defRPr sz="2200" b="0">
                <a:solidFill>
                  <a:schemeClr val="accent1"/>
                </a:solidFill>
              </a:defRPr>
            </a:lvl1pPr>
            <a:lvl2pPr marL="509412" indent="0">
              <a:buNone/>
              <a:defRPr sz="2000">
                <a:solidFill>
                  <a:schemeClr val="tx1">
                    <a:tint val="75000"/>
                  </a:schemeClr>
                </a:solidFill>
              </a:defRPr>
            </a:lvl2pPr>
            <a:lvl3pPr marL="1018824" indent="0">
              <a:buNone/>
              <a:defRPr sz="1800">
                <a:solidFill>
                  <a:schemeClr val="tx1">
                    <a:tint val="75000"/>
                  </a:schemeClr>
                </a:solidFill>
              </a:defRPr>
            </a:lvl3pPr>
            <a:lvl4pPr marL="1528237" indent="0">
              <a:buNone/>
              <a:defRPr sz="1600">
                <a:solidFill>
                  <a:schemeClr val="tx1">
                    <a:tint val="75000"/>
                  </a:schemeClr>
                </a:solidFill>
              </a:defRPr>
            </a:lvl4pPr>
            <a:lvl5pPr marL="2037649" indent="0">
              <a:buNone/>
              <a:defRPr sz="1600">
                <a:solidFill>
                  <a:schemeClr val="tx1">
                    <a:tint val="75000"/>
                  </a:schemeClr>
                </a:solidFill>
              </a:defRPr>
            </a:lvl5pPr>
            <a:lvl6pPr marL="2547061" indent="0">
              <a:buNone/>
              <a:defRPr sz="1600">
                <a:solidFill>
                  <a:schemeClr val="tx1">
                    <a:tint val="75000"/>
                  </a:schemeClr>
                </a:solidFill>
              </a:defRPr>
            </a:lvl6pPr>
            <a:lvl7pPr marL="3056473" indent="0">
              <a:buNone/>
              <a:defRPr sz="1600">
                <a:solidFill>
                  <a:schemeClr val="tx1">
                    <a:tint val="75000"/>
                  </a:schemeClr>
                </a:solidFill>
              </a:defRPr>
            </a:lvl7pPr>
            <a:lvl8pPr marL="3565886" indent="0">
              <a:buNone/>
              <a:defRPr sz="1600">
                <a:solidFill>
                  <a:schemeClr val="tx1">
                    <a:tint val="75000"/>
                  </a:schemeClr>
                </a:solidFill>
              </a:defRPr>
            </a:lvl8pPr>
            <a:lvl9pPr marL="4075298" indent="0">
              <a:buNone/>
              <a:defRPr sz="1600">
                <a:solidFill>
                  <a:schemeClr val="tx1">
                    <a:tint val="75000"/>
                  </a:schemeClr>
                </a:solidFill>
              </a:defRPr>
            </a:lvl9pPr>
          </a:lstStyle>
          <a:p>
            <a:pPr lvl="0"/>
            <a:r>
              <a:rPr lang="en-US" smtClean="0"/>
              <a:t>Click to edit Master text styles</a:t>
            </a:r>
          </a:p>
        </p:txBody>
      </p:sp>
      <p:sp>
        <p:nvSpPr>
          <p:cNvPr id="4" name="Line 31"/>
          <p:cNvSpPr>
            <a:spLocks noChangeShapeType="1"/>
          </p:cNvSpPr>
          <p:nvPr userDrawn="1"/>
        </p:nvSpPr>
        <p:spPr bwMode="auto">
          <a:xfrm>
            <a:off x="695960" y="3886200"/>
            <a:ext cx="0" cy="34113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Tree>
    <p:extLst>
      <p:ext uri="{BB962C8B-B14F-4D97-AF65-F5344CB8AC3E}">
        <p14:creationId xmlns:p14="http://schemas.microsoft.com/office/powerpoint/2010/main" val="1652547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os 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spcBef>
                <a:spcPts val="2400"/>
              </a:spcBef>
              <a:defRPr sz="1300"/>
            </a:lvl1pPr>
            <a:lvl2pPr algn="just">
              <a:spcBef>
                <a:spcPts val="0"/>
              </a:spcBef>
              <a:defRPr sz="1100"/>
            </a:lvl2pPr>
            <a:lvl3pPr algn="just">
              <a:spcBef>
                <a:spcPts val="300"/>
              </a:spcBef>
              <a:defRPr sz="1100"/>
            </a:lvl3pPr>
            <a:lvl4pPr algn="just">
              <a:spcBef>
                <a:spcPts val="300"/>
              </a:spcBef>
              <a:defRPr sz="1100"/>
            </a:lvl4pPr>
            <a:lvl5pPr algn="just">
              <a:spcBef>
                <a:spcPts val="300"/>
              </a:spcBef>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spcBef>
                <a:spcPts val="2400"/>
              </a:spcBef>
              <a:defRPr sz="1300"/>
            </a:lvl1pPr>
            <a:lvl2pPr algn="just">
              <a:spcBef>
                <a:spcPts val="0"/>
              </a:spcBef>
              <a:defRPr sz="1100"/>
            </a:lvl2pPr>
            <a:lvl3pPr algn="just">
              <a:defRPr sz="1100"/>
            </a:lvl3pPr>
            <a:lvl4pPr algn="just">
              <a:defRPr sz="1100"/>
            </a:lvl4pPr>
            <a:lvl5pPr algn="just">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611018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153452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93688"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4" name="Content Placeholder 3"/>
          <p:cNvSpPr>
            <a:spLocks noGrp="1"/>
          </p:cNvSpPr>
          <p:nvPr>
            <p:ph sz="half" idx="2"/>
          </p:nvPr>
        </p:nvSpPr>
        <p:spPr>
          <a:xfrm>
            <a:off x="293688"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5208270"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6" name="Content Placeholder 5"/>
          <p:cNvSpPr>
            <a:spLocks noGrp="1"/>
          </p:cNvSpPr>
          <p:nvPr>
            <p:ph sz="quarter" idx="4"/>
          </p:nvPr>
        </p:nvSpPr>
        <p:spPr>
          <a:xfrm>
            <a:off x="5208270"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15619624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9012772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llout Sho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874838"/>
            <a:ext cx="1839913" cy="5299074"/>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874837"/>
            <a:ext cx="7214616" cy="529907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905000"/>
            <a:ext cx="0" cy="53925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1885739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6899754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23241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9974344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extLst>
      <p:ext uri="{BB962C8B-B14F-4D97-AF65-F5344CB8AC3E}">
        <p14:creationId xmlns:p14="http://schemas.microsoft.com/office/powerpoint/2010/main" val="4282253316"/>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7252503"/>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537515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theme" Target="../theme/theme3.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51"/>
          <p:cNvSpPr>
            <a:spLocks noChangeArrowheads="1"/>
          </p:cNvSpPr>
          <p:nvPr userDrawn="1"/>
        </p:nvSpPr>
        <p:spPr bwMode="auto">
          <a:xfrm>
            <a:off x="228600" y="230122"/>
            <a:ext cx="9601200" cy="649224"/>
          </a:xfrm>
          <a:prstGeom prst="rect">
            <a:avLst/>
          </a:prstGeom>
          <a:solidFill>
            <a:schemeClr val="accent1"/>
          </a:solidFill>
          <a:ln w="9525">
            <a:noFill/>
            <a:miter lim="800000"/>
            <a:headEnd/>
            <a:tailEnd/>
          </a:ln>
          <a:effectLst/>
        </p:spPr>
        <p:txBody>
          <a:bodyPr wrap="none" lIns="101847" tIns="50923" rIns="101847" bIns="50923" anchor="ctr"/>
          <a:lstStyle/>
          <a:p>
            <a:pPr>
              <a:defRPr/>
            </a:pPr>
            <a:endParaRPr lang="en-US" dirty="0"/>
          </a:p>
        </p:txBody>
      </p:sp>
      <p:sp>
        <p:nvSpPr>
          <p:cNvPr id="2" name="Title Placeholder 1"/>
          <p:cNvSpPr>
            <a:spLocks noGrp="1"/>
          </p:cNvSpPr>
          <p:nvPr>
            <p:ph type="title"/>
          </p:nvPr>
        </p:nvSpPr>
        <p:spPr>
          <a:xfrm>
            <a:off x="2895600" y="261941"/>
            <a:ext cx="6867524" cy="609600"/>
          </a:xfrm>
          <a:prstGeom prst="rect">
            <a:avLst/>
          </a:prstGeom>
        </p:spPr>
        <p:txBody>
          <a:bodyPr vert="horz" lIns="0" tIns="0" rIns="0" bIns="0" rtlCol="0" anchor="t" anchorCtr="0">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293687" y="1235075"/>
            <a:ext cx="9469437" cy="5938837"/>
          </a:xfrm>
          <a:prstGeom prst="rect">
            <a:avLst/>
          </a:prstGeom>
        </p:spPr>
        <p:txBody>
          <a:bodyPr vert="horz" lIns="0" tIns="0" rIns="0" bIns="0" rtlCol="0" anchor="t" anchorCtr="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Rectangle 200"/>
          <p:cNvSpPr>
            <a:spLocks noChangeArrowheads="1"/>
          </p:cNvSpPr>
          <p:nvPr userDrawn="1"/>
        </p:nvSpPr>
        <p:spPr bwMode="auto">
          <a:xfrm>
            <a:off x="228600" y="7323416"/>
            <a:ext cx="827723" cy="213400"/>
          </a:xfrm>
          <a:prstGeom prst="rect">
            <a:avLst/>
          </a:prstGeom>
          <a:noFill/>
          <a:ln w="9525">
            <a:noFill/>
            <a:miter lim="800000"/>
            <a:headEnd/>
            <a:tailEnd/>
          </a:ln>
          <a:effectLst/>
        </p:spPr>
        <p:txBody>
          <a:bodyPr lIns="0" tIns="0" rIns="0" bIns="0" anchor="b"/>
          <a:lstStyle/>
          <a:p>
            <a:pPr algn="l">
              <a:defRPr/>
            </a:pPr>
            <a:r>
              <a:rPr lang="en-US" sz="900" b="1" dirty="0" smtClean="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10" name="Straight Connector 9"/>
          <p:cNvCxnSpPr/>
          <p:nvPr userDrawn="1"/>
        </p:nvCxnSpPr>
        <p:spPr>
          <a:xfrm>
            <a:off x="228600" y="7291071"/>
            <a:ext cx="9601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0"/>
          <a:stretch>
            <a:fillRect/>
          </a:stretch>
        </p:blipFill>
        <p:spPr>
          <a:xfrm>
            <a:off x="283529" y="320040"/>
            <a:ext cx="2478795" cy="457200"/>
          </a:xfrm>
          <a:prstGeom prst="rect">
            <a:avLst/>
          </a:prstGeom>
        </p:spPr>
      </p:pic>
    </p:spTree>
    <p:extLst>
      <p:ext uri="{BB962C8B-B14F-4D97-AF65-F5344CB8AC3E}">
        <p14:creationId xmlns:p14="http://schemas.microsoft.com/office/powerpoint/2010/main" val="1878609759"/>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7" r:id="rId3"/>
    <p:sldLayoutId id="2147483668" r:id="rId4"/>
    <p:sldLayoutId id="2147483669" r:id="rId5"/>
    <p:sldLayoutId id="2147483670" r:id="rId6"/>
    <p:sldLayoutId id="2147483671" r:id="rId7"/>
    <p:sldLayoutId id="2147483650" r:id="rId8"/>
    <p:sldLayoutId id="2147483664" r:id="rId9"/>
    <p:sldLayoutId id="2147483651" r:id="rId10"/>
    <p:sldLayoutId id="2147483652" r:id="rId11"/>
    <p:sldLayoutId id="2147483665" r:id="rId12"/>
    <p:sldLayoutId id="2147483653" r:id="rId13"/>
    <p:sldLayoutId id="2147483656" r:id="rId14"/>
    <p:sldLayoutId id="2147483657" r:id="rId15"/>
    <p:sldLayoutId id="2147483654" r:id="rId16"/>
    <p:sldLayoutId id="2147483655" r:id="rId17"/>
    <p:sldLayoutId id="2147483678" r:id="rId18"/>
  </p:sldLayoutIdLst>
  <p:txStyles>
    <p:titleStyle>
      <a:lvl1pPr algn="r" defTabSz="1018824" rtl="0" eaLnBrk="1" latinLnBrk="0" hangingPunct="1">
        <a:lnSpc>
          <a:spcPct val="110000"/>
        </a:lnSpc>
        <a:spcBef>
          <a:spcPct val="0"/>
        </a:spcBef>
        <a:buNone/>
        <a:defRPr sz="1400" b="1" kern="1200" cap="all" baseline="0">
          <a:solidFill>
            <a:schemeClr val="bg1"/>
          </a:solidFill>
          <a:latin typeface="+mj-lt"/>
          <a:ea typeface="+mj-ea"/>
          <a:cs typeface="+mj-cs"/>
        </a:defRPr>
      </a:lvl1pPr>
    </p:titleStyle>
    <p:body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pPr defTabSz="914400" fontAlgn="base">
              <a:spcBef>
                <a:spcPct val="0"/>
              </a:spcBef>
              <a:spcAft>
                <a:spcPct val="0"/>
              </a:spcAft>
            </a:pPr>
            <a:endParaRPr lang="en-US" sz="1800" dirty="0">
              <a:solidFill>
                <a:srgbClr val="000000"/>
              </a:solidFill>
            </a:endParaRPr>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pPr defTabSz="914400" fontAlgn="base">
              <a:spcBef>
                <a:spcPct val="0"/>
              </a:spcBef>
              <a:spcAft>
                <a:spcPct val="0"/>
              </a:spcAft>
            </a:pPr>
            <a:endParaRPr lang="en-US" sz="1800" dirty="0">
              <a:solidFill>
                <a:srgbClr val="000000"/>
              </a:solidFill>
            </a:endParaRPr>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defTabSz="914400" fontAlgn="base">
                <a:spcBef>
                  <a:spcPct val="0"/>
                </a:spcBef>
                <a:spcAft>
                  <a:spcPct val="0"/>
                </a:spcAft>
                <a:defRPr/>
              </a:pPr>
              <a:endParaRPr lang="en-US" sz="1800" dirty="0">
                <a:solidFill>
                  <a:srgbClr val="000000"/>
                </a:solidFill>
              </a:endParaRPr>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defTabSz="914400" fontAlgn="base">
                <a:spcBef>
                  <a:spcPct val="0"/>
                </a:spcBef>
                <a:spcAft>
                  <a:spcPct val="0"/>
                </a:spcAft>
                <a:defRPr/>
              </a:pPr>
              <a:endParaRPr lang="en-US" sz="1800"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defTabSz="914400" fontAlgn="base">
                <a:spcBef>
                  <a:spcPct val="0"/>
                </a:spcBef>
                <a:spcAft>
                  <a:spcPct val="0"/>
                </a:spcAft>
                <a:defRPr/>
              </a:pPr>
              <a:endParaRPr lang="en-US" sz="1800"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defTabSz="914400" fontAlgn="base">
                <a:spcBef>
                  <a:spcPct val="0"/>
                </a:spcBef>
                <a:spcAft>
                  <a:spcPct val="0"/>
                </a:spcAft>
                <a:defRPr/>
              </a:pPr>
              <a:endParaRPr lang="en-US" sz="1800"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defTabSz="914400" fontAlgn="base">
                <a:spcBef>
                  <a:spcPct val="0"/>
                </a:spcBef>
                <a:spcAft>
                  <a:spcPct val="0"/>
                </a:spcAft>
                <a:defRPr/>
              </a:pPr>
              <a:endParaRPr lang="en-US" sz="1800" dirty="0">
                <a:solidFill>
                  <a:srgbClr val="000000"/>
                </a:solidFill>
              </a:endParaRPr>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defTabSz="914400" fontAlgn="base">
                <a:spcBef>
                  <a:spcPct val="0"/>
                </a:spcBef>
                <a:spcAft>
                  <a:spcPct val="0"/>
                </a:spcAft>
                <a:defRPr/>
              </a:pPr>
              <a:endParaRPr lang="en-US" sz="1800"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defTabSz="914400" fontAlgn="base">
                <a:spcBef>
                  <a:spcPct val="0"/>
                </a:spcBef>
                <a:spcAft>
                  <a:spcPct val="0"/>
                </a:spcAft>
                <a:defRPr/>
              </a:pPr>
              <a:endParaRPr lang="en-US" sz="1800"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defTabSz="914400" fontAlgn="base">
                <a:spcBef>
                  <a:spcPct val="0"/>
                </a:spcBef>
                <a:spcAft>
                  <a:spcPct val="0"/>
                </a:spcAft>
                <a:defRPr/>
              </a:pPr>
              <a:endParaRPr lang="en-US" sz="1800"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defTabSz="914400" fontAlgn="base">
                <a:spcBef>
                  <a:spcPct val="0"/>
                </a:spcBef>
                <a:spcAft>
                  <a:spcPct val="0"/>
                </a:spcAft>
                <a:defRPr/>
              </a:pPr>
              <a:endParaRPr lang="en-US" sz="1800" dirty="0">
                <a:solidFill>
                  <a:srgbClr val="000000"/>
                </a:solidFill>
              </a:endParaRPr>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defTabSz="914400" fontAlgn="base">
                <a:spcBef>
                  <a:spcPct val="0"/>
                </a:spcBef>
                <a:spcAft>
                  <a:spcPct val="0"/>
                </a:spcAft>
                <a:defRPr/>
              </a:pPr>
              <a:endParaRPr lang="en-US" sz="1800" dirty="0">
                <a:solidFill>
                  <a:srgbClr val="000000"/>
                </a:solidFill>
              </a:endParaRPr>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defTabSz="914400" fontAlgn="base">
              <a:spcBef>
                <a:spcPct val="0"/>
              </a:spcBef>
              <a:spcAft>
                <a:spcPct val="0"/>
              </a:spcAft>
              <a:defRPr/>
            </a:pPr>
            <a:endParaRPr lang="en-US" sz="1800" dirty="0">
              <a:solidFill>
                <a:srgbClr val="000000"/>
              </a:solidFill>
            </a:endParaRPr>
          </a:p>
        </p:txBody>
      </p:sp>
    </p:spTree>
    <p:extLst>
      <p:ext uri="{BB962C8B-B14F-4D97-AF65-F5344CB8AC3E}">
        <p14:creationId xmlns:p14="http://schemas.microsoft.com/office/powerpoint/2010/main" val="2472007317"/>
      </p:ext>
    </p:extLst>
  </p:cSld>
  <p:clrMap bg1="lt1" tx1="dk1" bg2="lt2" tx2="dk2" accent1="accent1" accent2="accent2" accent3="accent3" accent4="accent4" accent5="accent5" accent6="accent6" hlink="hlink" folHlink="folHlink"/>
  <p:sldLayoutIdLst>
    <p:sldLayoutId id="2147483673" r:id="rId1"/>
    <p:sldLayoutId id="2147483674"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defTabSz="914400" fontAlgn="base">
              <a:spcBef>
                <a:spcPct val="0"/>
              </a:spcBef>
              <a:spcAft>
                <a:spcPct val="0"/>
              </a:spcAft>
              <a:defRPr/>
            </a:pPr>
            <a:endParaRPr lang="en-US" sz="1800" dirty="0">
              <a:solidFill>
                <a:srgbClr val="000000"/>
              </a:solidFill>
              <a:latin typeface="Cambria" pitchFamily="18" charset="0"/>
            </a:endParaRPr>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defTabSz="914400" fontAlgn="base">
              <a:spcBef>
                <a:spcPct val="0"/>
              </a:spcBef>
              <a:spcAft>
                <a:spcPct val="0"/>
              </a:spcAft>
              <a:defRPr/>
            </a:pPr>
            <a:endParaRPr lang="en-US" sz="1800" dirty="0">
              <a:solidFill>
                <a:srgbClr val="000000"/>
              </a:solidFill>
              <a:latin typeface="Cambria" pitchFamily="18" charset="0"/>
            </a:endParaRPr>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defTabSz="914400" fontAlgn="base">
              <a:spcBef>
                <a:spcPct val="0"/>
              </a:spcBef>
              <a:spcAft>
                <a:spcPct val="0"/>
              </a:spcAft>
              <a:defRPr/>
            </a:pPr>
            <a:endParaRPr lang="en-US" sz="1800" dirty="0">
              <a:solidFill>
                <a:srgbClr val="000000"/>
              </a:solidFill>
              <a:latin typeface="Cambria" pitchFamily="18" charset="0"/>
            </a:endParaRPr>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defTabSz="914400" fontAlgn="base">
              <a:spcBef>
                <a:spcPct val="0"/>
              </a:spcBef>
              <a:spcAft>
                <a:spcPct val="0"/>
              </a:spcAft>
              <a:defRPr/>
            </a:pPr>
            <a:r>
              <a:rPr lang="en-US" sz="900" b="1" dirty="0">
                <a:solidFill>
                  <a:srgbClr val="203353"/>
                </a:solidFill>
              </a:rPr>
              <a:t>PAGE </a:t>
            </a:r>
            <a:fld id="{54B17DE0-6D87-48AB-BBA0-9128AA86CC3B}" type="slidenum">
              <a:rPr lang="en-US" sz="900" b="1">
                <a:solidFill>
                  <a:srgbClr val="203353"/>
                </a:solidFill>
              </a:rPr>
              <a:pPr defTabSz="914400" fontAlgn="base">
                <a:spcBef>
                  <a:spcPct val="0"/>
                </a:spcBef>
                <a:spcAft>
                  <a:spcPct val="0"/>
                </a:spcAft>
                <a:defRPr/>
              </a:pPr>
              <a:t>‹#›</a:t>
            </a:fld>
            <a:endParaRPr lang="en-US" sz="900" b="1" dirty="0">
              <a:solidFill>
                <a:srgbClr val="203353"/>
              </a:solidFill>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2636562"/>
      </p:ext>
    </p:extLst>
  </p:cSld>
  <p:clrMap bg1="lt1" tx1="dk1" bg2="lt2" tx2="dk2" accent1="accent1" accent2="accent2" accent3="accent3" accent4="accent4" accent5="accent5" accent6="accent6" hlink="hlink" folHlink="folHlink"/>
  <p:sldLayoutIdLst>
    <p:sldLayoutId id="2147483677"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8.xml"/><Relationship Id="rId5" Type="http://schemas.openxmlformats.org/officeDocument/2006/relationships/chart" Target="../charts/chart2.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8.xml"/><Relationship Id="rId5" Type="http://schemas.openxmlformats.org/officeDocument/2006/relationships/chart" Target="../charts/chart4.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321171" y="6084608"/>
            <a:ext cx="6370526" cy="856893"/>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fontAlgn="base">
              <a:spcBef>
                <a:spcPct val="0"/>
              </a:spcBef>
              <a:spcAft>
                <a:spcPct val="0"/>
              </a:spcAft>
            </a:pPr>
            <a:r>
              <a:rPr lang="en-US" sz="3100" dirty="0" smtClean="0">
                <a:solidFill>
                  <a:srgbClr val="968880"/>
                </a:solidFill>
                <a:latin typeface="Calibri" pitchFamily="34" charset="0"/>
              </a:rPr>
              <a:t>The U.S. Repo Market</a:t>
            </a:r>
            <a:endParaRPr lang="en-US" sz="3100" dirty="0">
              <a:solidFill>
                <a:srgbClr val="968880"/>
              </a:solidFill>
              <a:latin typeface="Calibri" pitchFamily="34" charset="0"/>
            </a:endParaRPr>
          </a:p>
          <a:p>
            <a:pPr algn="r" defTabSz="1018586" fontAlgn="base">
              <a:spcBef>
                <a:spcPct val="0"/>
              </a:spcBef>
              <a:spcAft>
                <a:spcPct val="0"/>
              </a:spcAft>
            </a:pPr>
            <a:r>
              <a:rPr lang="en-US" sz="1800" dirty="0" smtClean="0">
                <a:solidFill>
                  <a:srgbClr val="203353"/>
                </a:solidFill>
                <a:latin typeface="Calibri" pitchFamily="34" charset="0"/>
              </a:rPr>
              <a:t>January 2016</a:t>
            </a:r>
            <a:endParaRPr lang="en-US" sz="1800" dirty="0">
              <a:solidFill>
                <a:srgbClr val="203353"/>
              </a:solidFill>
              <a:latin typeface="Arial" pitchFamily="34" charset="0"/>
            </a:endParaRPr>
          </a:p>
        </p:txBody>
      </p:sp>
    </p:spTree>
    <p:extLst>
      <p:ext uri="{BB962C8B-B14F-4D97-AF65-F5344CB8AC3E}">
        <p14:creationId xmlns:p14="http://schemas.microsoft.com/office/powerpoint/2010/main" val="24370165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p:cNvSpPr/>
          <p:nvPr/>
        </p:nvSpPr>
        <p:spPr>
          <a:xfrm>
            <a:off x="2667000" y="3200400"/>
            <a:ext cx="6553200" cy="14478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2667000" y="1371600"/>
            <a:ext cx="6553200" cy="14478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A STANDARD BILATERAL REPO TRANSACTION</a:t>
            </a:r>
            <a:endParaRPr lang="en-US" dirty="0"/>
          </a:p>
        </p:txBody>
      </p:sp>
      <p:sp>
        <p:nvSpPr>
          <p:cNvPr id="73"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100" dirty="0" smtClean="0">
                <a:solidFill>
                  <a:schemeClr val="tx1"/>
                </a:solidFill>
                <a:latin typeface="+mn-lt"/>
              </a:rPr>
              <a:t>Repurchase (Repo) </a:t>
            </a:r>
            <a:r>
              <a:rPr lang="en-US" sz="1100" b="0" dirty="0" smtClean="0">
                <a:solidFill>
                  <a:schemeClr val="tx1"/>
                </a:solidFill>
                <a:latin typeface="+mn-lt"/>
              </a:rPr>
              <a:t>transactions are agreements between a </a:t>
            </a:r>
            <a:r>
              <a:rPr lang="en-US" sz="1100" dirty="0" smtClean="0">
                <a:solidFill>
                  <a:schemeClr val="tx1"/>
                </a:solidFill>
                <a:latin typeface="+mn-lt"/>
              </a:rPr>
              <a:t>collateral provider (seller) </a:t>
            </a:r>
            <a:r>
              <a:rPr lang="en-US" sz="1100" b="0" dirty="0" smtClean="0">
                <a:solidFill>
                  <a:schemeClr val="tx1"/>
                </a:solidFill>
                <a:latin typeface="+mn-lt"/>
              </a:rPr>
              <a:t>and </a:t>
            </a:r>
            <a:r>
              <a:rPr lang="en-US" sz="1100" dirty="0" smtClean="0">
                <a:solidFill>
                  <a:schemeClr val="tx1"/>
                </a:solidFill>
                <a:latin typeface="+mn-lt"/>
              </a:rPr>
              <a:t>a cash investor (buyer) </a:t>
            </a:r>
            <a:r>
              <a:rPr lang="en-US" sz="1100" b="0" dirty="0" smtClean="0">
                <a:solidFill>
                  <a:schemeClr val="tx1"/>
                </a:solidFill>
                <a:latin typeface="+mn-lt"/>
              </a:rPr>
              <a:t>in which the provider sells securities to the investor with a simultaneous agreement to repurchase the securities at an agreed-upon price at a future point in time. The seller is charged interest (at the </a:t>
            </a:r>
            <a:r>
              <a:rPr lang="en-US" sz="1100" dirty="0" smtClean="0">
                <a:solidFill>
                  <a:schemeClr val="tx1"/>
                </a:solidFill>
                <a:latin typeface="+mn-lt"/>
              </a:rPr>
              <a:t>repo rate</a:t>
            </a:r>
            <a:r>
              <a:rPr lang="en-US" sz="1100" b="0" dirty="0" smtClean="0">
                <a:solidFill>
                  <a:schemeClr val="tx1"/>
                </a:solidFill>
                <a:latin typeface="+mn-lt"/>
              </a:rPr>
              <a:t>) for the use of funds. The cash investor is said to have entered into a </a:t>
            </a:r>
            <a:r>
              <a:rPr lang="en-US" sz="1100" dirty="0" smtClean="0">
                <a:solidFill>
                  <a:schemeClr val="tx1"/>
                </a:solidFill>
                <a:latin typeface="+mn-lt"/>
              </a:rPr>
              <a:t>reverse repurchase </a:t>
            </a:r>
            <a:r>
              <a:rPr lang="en-US" sz="1100" b="0" dirty="0" smtClean="0">
                <a:solidFill>
                  <a:schemeClr val="tx1"/>
                </a:solidFill>
                <a:latin typeface="+mn-lt"/>
              </a:rPr>
              <a:t>(</a:t>
            </a:r>
            <a:r>
              <a:rPr lang="en-US" sz="1100" dirty="0" smtClean="0">
                <a:solidFill>
                  <a:schemeClr val="tx1"/>
                </a:solidFill>
                <a:latin typeface="+mn-lt"/>
              </a:rPr>
              <a:t>reverse repo</a:t>
            </a:r>
            <a:r>
              <a:rPr lang="en-US" sz="1100" b="0" dirty="0" smtClean="0">
                <a:solidFill>
                  <a:schemeClr val="tx1"/>
                </a:solidFill>
                <a:latin typeface="+mn-lt"/>
              </a:rPr>
              <a:t>) agreement.</a:t>
            </a:r>
            <a:r>
              <a:rPr lang="en-US" sz="1100" dirty="0" smtClean="0">
                <a:solidFill>
                  <a:schemeClr val="tx1"/>
                </a:solidFill>
                <a:latin typeface="+mn-lt"/>
              </a:rPr>
              <a:t> </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The cash investor requires a buffer against loss by lending out a sum of money less than the market value of the underlying collateral.  The </a:t>
            </a:r>
            <a:r>
              <a:rPr lang="en-US" sz="1100" dirty="0" smtClean="0">
                <a:solidFill>
                  <a:schemeClr val="tx1"/>
                </a:solidFill>
                <a:latin typeface="+mn-lt"/>
              </a:rPr>
              <a:t>margin </a:t>
            </a:r>
            <a:r>
              <a:rPr lang="en-US" sz="1100" b="0" dirty="0" smtClean="0">
                <a:solidFill>
                  <a:schemeClr val="tx1"/>
                </a:solidFill>
                <a:latin typeface="+mn-lt"/>
              </a:rPr>
              <a:t>is the ratio of the value of the collateral posted over the amount of cash minus 1.</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a:solidFill>
                  <a:schemeClr val="tx1"/>
                </a:solidFill>
                <a:latin typeface="+mn-lt"/>
              </a:rPr>
              <a:t>Repo is a form of collateralized lending and provides a relatively inexpensive source of funding compared with other short-term money-market instruments.</a:t>
            </a: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5" name="Rectangle 4"/>
          <p:cNvSpPr/>
          <p:nvPr/>
        </p:nvSpPr>
        <p:spPr>
          <a:xfrm>
            <a:off x="3048000" y="1828800"/>
            <a:ext cx="1447800" cy="9144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Collateral</a:t>
            </a:r>
          </a:p>
          <a:p>
            <a:pPr algn="ctr"/>
            <a:r>
              <a:rPr lang="en-US" sz="1400" dirty="0"/>
              <a:t>P</a:t>
            </a:r>
            <a:r>
              <a:rPr lang="en-US" sz="1400" dirty="0" smtClean="0"/>
              <a:t>rovider</a:t>
            </a:r>
            <a:endParaRPr lang="en-US" sz="1400" dirty="0"/>
          </a:p>
        </p:txBody>
      </p:sp>
      <p:sp>
        <p:nvSpPr>
          <p:cNvPr id="39" name="Rectangle 38"/>
          <p:cNvSpPr/>
          <p:nvPr/>
        </p:nvSpPr>
        <p:spPr>
          <a:xfrm>
            <a:off x="7391400" y="1828800"/>
            <a:ext cx="1447800" cy="9144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Cash</a:t>
            </a:r>
          </a:p>
          <a:p>
            <a:pPr algn="ctr"/>
            <a:r>
              <a:rPr lang="en-US" sz="1400" dirty="0" smtClean="0"/>
              <a:t>Investor</a:t>
            </a:r>
            <a:endParaRPr lang="en-US" sz="1400" dirty="0"/>
          </a:p>
        </p:txBody>
      </p:sp>
      <p:cxnSp>
        <p:nvCxnSpPr>
          <p:cNvPr id="42" name="Straight Arrow Connector 41"/>
          <p:cNvCxnSpPr/>
          <p:nvPr/>
        </p:nvCxnSpPr>
        <p:spPr>
          <a:xfrm>
            <a:off x="4718050" y="2133600"/>
            <a:ext cx="2444750" cy="0"/>
          </a:xfrm>
          <a:prstGeom prst="straightConnector1">
            <a:avLst/>
          </a:prstGeom>
          <a:ln>
            <a:solidFill>
              <a:srgbClr val="C6642E"/>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4711700" y="2590800"/>
            <a:ext cx="2441448" cy="0"/>
          </a:xfrm>
          <a:prstGeom prst="straightConnector1">
            <a:avLst/>
          </a:prstGeom>
          <a:ln>
            <a:solidFill>
              <a:srgbClr val="2E8A6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4800600" y="1878281"/>
            <a:ext cx="2209800" cy="246221"/>
          </a:xfrm>
          <a:prstGeom prst="rect">
            <a:avLst/>
          </a:prstGeom>
          <a:noFill/>
        </p:spPr>
        <p:txBody>
          <a:bodyPr wrap="square" rtlCol="0">
            <a:spAutoFit/>
          </a:bodyPr>
          <a:lstStyle/>
          <a:p>
            <a:pPr algn="ctr"/>
            <a:r>
              <a:rPr lang="en-US" sz="1000" dirty="0" smtClean="0"/>
              <a:t>$</a:t>
            </a:r>
            <a:r>
              <a:rPr lang="en-US" sz="1000" dirty="0" smtClean="0"/>
              <a:t>100,000,000 </a:t>
            </a:r>
            <a:r>
              <a:rPr lang="en-US" sz="1000" dirty="0" smtClean="0"/>
              <a:t>of Treasuries</a:t>
            </a:r>
            <a:endParaRPr lang="en-US" sz="1000" dirty="0"/>
          </a:p>
        </p:txBody>
      </p:sp>
      <p:sp>
        <p:nvSpPr>
          <p:cNvPr id="48" name="TextBox 47"/>
          <p:cNvSpPr txBox="1"/>
          <p:nvPr/>
        </p:nvSpPr>
        <p:spPr>
          <a:xfrm>
            <a:off x="4800600" y="2344579"/>
            <a:ext cx="2209800" cy="246221"/>
          </a:xfrm>
          <a:prstGeom prst="rect">
            <a:avLst/>
          </a:prstGeom>
          <a:noFill/>
        </p:spPr>
        <p:txBody>
          <a:bodyPr wrap="square" rtlCol="0">
            <a:spAutoFit/>
          </a:bodyPr>
          <a:lstStyle/>
          <a:p>
            <a:pPr algn="ctr"/>
            <a:r>
              <a:rPr lang="en-US" sz="1000" dirty="0" smtClean="0"/>
              <a:t>$</a:t>
            </a:r>
            <a:r>
              <a:rPr lang="en-US" sz="1000" dirty="0" smtClean="0"/>
              <a:t>98,039,215.69</a:t>
            </a:r>
            <a:r>
              <a:rPr lang="en-US" sz="1000" dirty="0" smtClean="0"/>
              <a:t> </a:t>
            </a:r>
            <a:r>
              <a:rPr lang="en-US" sz="1000" dirty="0" smtClean="0"/>
              <a:t>in cash</a:t>
            </a:r>
            <a:endParaRPr lang="en-US" sz="1000" dirty="0"/>
          </a:p>
        </p:txBody>
      </p:sp>
      <p:sp>
        <p:nvSpPr>
          <p:cNvPr id="49" name="Rectangle 48"/>
          <p:cNvSpPr/>
          <p:nvPr/>
        </p:nvSpPr>
        <p:spPr>
          <a:xfrm>
            <a:off x="3048000" y="3581400"/>
            <a:ext cx="1447800" cy="9144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Collateral</a:t>
            </a:r>
          </a:p>
          <a:p>
            <a:pPr algn="ctr"/>
            <a:r>
              <a:rPr lang="en-US" sz="1400" dirty="0"/>
              <a:t>P</a:t>
            </a:r>
            <a:r>
              <a:rPr lang="en-US" sz="1400" dirty="0" smtClean="0"/>
              <a:t>rovider</a:t>
            </a:r>
            <a:endParaRPr lang="en-US" sz="1400" dirty="0"/>
          </a:p>
        </p:txBody>
      </p:sp>
      <p:sp>
        <p:nvSpPr>
          <p:cNvPr id="50" name="Rectangle 49"/>
          <p:cNvSpPr/>
          <p:nvPr/>
        </p:nvSpPr>
        <p:spPr>
          <a:xfrm>
            <a:off x="7391400" y="3581400"/>
            <a:ext cx="1447800" cy="9144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Cash</a:t>
            </a:r>
          </a:p>
          <a:p>
            <a:pPr algn="ctr"/>
            <a:r>
              <a:rPr lang="en-US" sz="1400" dirty="0" smtClean="0"/>
              <a:t>Investor</a:t>
            </a:r>
            <a:endParaRPr lang="en-US" sz="1400" dirty="0"/>
          </a:p>
        </p:txBody>
      </p:sp>
      <p:cxnSp>
        <p:nvCxnSpPr>
          <p:cNvPr id="51" name="Straight Arrow Connector 50"/>
          <p:cNvCxnSpPr/>
          <p:nvPr/>
        </p:nvCxnSpPr>
        <p:spPr>
          <a:xfrm>
            <a:off x="4718050" y="3886200"/>
            <a:ext cx="2444750" cy="0"/>
          </a:xfrm>
          <a:prstGeom prst="straightConnector1">
            <a:avLst/>
          </a:prstGeom>
          <a:ln>
            <a:solidFill>
              <a:srgbClr val="C6642E"/>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4711700" y="4343400"/>
            <a:ext cx="2441448" cy="0"/>
          </a:xfrm>
          <a:prstGeom prst="straightConnector1">
            <a:avLst/>
          </a:prstGeom>
          <a:ln>
            <a:solidFill>
              <a:srgbClr val="2E8A6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4800600" y="3630881"/>
            <a:ext cx="2209800" cy="246221"/>
          </a:xfrm>
          <a:prstGeom prst="rect">
            <a:avLst/>
          </a:prstGeom>
          <a:noFill/>
        </p:spPr>
        <p:txBody>
          <a:bodyPr wrap="square" rtlCol="0">
            <a:spAutoFit/>
          </a:bodyPr>
          <a:lstStyle/>
          <a:p>
            <a:pPr algn="ctr"/>
            <a:r>
              <a:rPr lang="en-US" sz="1000" dirty="0" smtClean="0"/>
              <a:t>$</a:t>
            </a:r>
            <a:r>
              <a:rPr lang="en-US" sz="1000" dirty="0" smtClean="0"/>
              <a:t>100,000,000 </a:t>
            </a:r>
            <a:r>
              <a:rPr lang="en-US" sz="1000" dirty="0" smtClean="0"/>
              <a:t>of Treasuries</a:t>
            </a:r>
            <a:endParaRPr lang="en-US" sz="1000" dirty="0"/>
          </a:p>
        </p:txBody>
      </p:sp>
      <p:sp>
        <p:nvSpPr>
          <p:cNvPr id="54" name="TextBox 53"/>
          <p:cNvSpPr txBox="1"/>
          <p:nvPr/>
        </p:nvSpPr>
        <p:spPr>
          <a:xfrm>
            <a:off x="4800600" y="4097179"/>
            <a:ext cx="2209800" cy="246221"/>
          </a:xfrm>
          <a:prstGeom prst="rect">
            <a:avLst/>
          </a:prstGeom>
          <a:noFill/>
        </p:spPr>
        <p:txBody>
          <a:bodyPr wrap="square" rtlCol="0">
            <a:spAutoFit/>
          </a:bodyPr>
          <a:lstStyle/>
          <a:p>
            <a:pPr algn="ctr"/>
            <a:r>
              <a:rPr lang="en-US" sz="1000" dirty="0" smtClean="0"/>
              <a:t>$98,039,760.35 </a:t>
            </a:r>
            <a:r>
              <a:rPr lang="en-US" sz="1000" dirty="0" smtClean="0"/>
              <a:t>in cash</a:t>
            </a:r>
            <a:endParaRPr lang="en-US" sz="1000" dirty="0"/>
          </a:p>
        </p:txBody>
      </p:sp>
      <p:sp>
        <p:nvSpPr>
          <p:cNvPr id="56" name="TextBox 55"/>
          <p:cNvSpPr txBox="1"/>
          <p:nvPr/>
        </p:nvSpPr>
        <p:spPr>
          <a:xfrm>
            <a:off x="2781300" y="1447800"/>
            <a:ext cx="1714500" cy="246221"/>
          </a:xfrm>
          <a:prstGeom prst="rect">
            <a:avLst/>
          </a:prstGeom>
          <a:noFill/>
        </p:spPr>
        <p:txBody>
          <a:bodyPr wrap="square" rtlCol="0">
            <a:spAutoFit/>
          </a:bodyPr>
          <a:lstStyle/>
          <a:p>
            <a:r>
              <a:rPr lang="en-US" sz="1000" b="1" dirty="0" smtClean="0"/>
              <a:t>Date </a:t>
            </a:r>
            <a:r>
              <a:rPr lang="en-US" sz="1000" b="1" i="1" dirty="0" smtClean="0"/>
              <a:t>t</a:t>
            </a:r>
            <a:r>
              <a:rPr lang="en-US" sz="1000" b="1" dirty="0" smtClean="0"/>
              <a:t> (opening leg)</a:t>
            </a:r>
            <a:endParaRPr lang="en-US" sz="1000" b="1" dirty="0"/>
          </a:p>
        </p:txBody>
      </p:sp>
      <p:sp>
        <p:nvSpPr>
          <p:cNvPr id="57" name="TextBox 56"/>
          <p:cNvSpPr txBox="1"/>
          <p:nvPr/>
        </p:nvSpPr>
        <p:spPr>
          <a:xfrm>
            <a:off x="2781300" y="3276600"/>
            <a:ext cx="1714500" cy="246221"/>
          </a:xfrm>
          <a:prstGeom prst="rect">
            <a:avLst/>
          </a:prstGeom>
          <a:noFill/>
        </p:spPr>
        <p:txBody>
          <a:bodyPr wrap="square" rtlCol="0">
            <a:spAutoFit/>
          </a:bodyPr>
          <a:lstStyle/>
          <a:p>
            <a:r>
              <a:rPr lang="en-US" sz="1000" b="1" dirty="0" smtClean="0"/>
              <a:t>Date </a:t>
            </a:r>
            <a:r>
              <a:rPr lang="en-US" sz="1000" b="1" i="1" dirty="0" smtClean="0"/>
              <a:t>t+1</a:t>
            </a:r>
            <a:r>
              <a:rPr lang="en-US" sz="1000" b="1" dirty="0" smtClean="0"/>
              <a:t> (closing leg)</a:t>
            </a:r>
            <a:endParaRPr lang="en-US" sz="1000" b="1" dirty="0"/>
          </a:p>
        </p:txBody>
      </p:sp>
      <p:graphicFrame>
        <p:nvGraphicFramePr>
          <p:cNvPr id="17" name="Table 16"/>
          <p:cNvGraphicFramePr>
            <a:graphicFrameLocks noGrp="1"/>
          </p:cNvGraphicFramePr>
          <p:nvPr>
            <p:extLst>
              <p:ext uri="{D42A27DB-BD31-4B8C-83A1-F6EECF244321}">
                <p14:modId xmlns:p14="http://schemas.microsoft.com/office/powerpoint/2010/main" val="2800374123"/>
              </p:ext>
            </p:extLst>
          </p:nvPr>
        </p:nvGraphicFramePr>
        <p:xfrm>
          <a:off x="2667000" y="5181600"/>
          <a:ext cx="6553200" cy="1117600"/>
        </p:xfrm>
        <a:graphic>
          <a:graphicData uri="http://schemas.openxmlformats.org/drawingml/2006/table">
            <a:tbl>
              <a:tblPr>
                <a:tableStyleId>{2D5ABB26-0587-4C30-8999-92F81FD0307C}</a:tableStyleId>
              </a:tblPr>
              <a:tblGrid>
                <a:gridCol w="3276600"/>
                <a:gridCol w="3276600"/>
              </a:tblGrid>
              <a:tr h="279400">
                <a:tc>
                  <a:txBody>
                    <a:bodyPr/>
                    <a:lstStyle/>
                    <a:p>
                      <a:r>
                        <a:rPr lang="en-US" sz="1050" b="1" dirty="0" smtClean="0"/>
                        <a:t>Repo Trade Details</a:t>
                      </a:r>
                      <a:endParaRPr lang="en-US" sz="1050" b="1" dirty="0"/>
                    </a:p>
                  </a:txBody>
                  <a:tcPr anchor="ctr"/>
                </a:tc>
                <a:tc>
                  <a:txBody>
                    <a:bodyPr/>
                    <a:lstStyle/>
                    <a:p>
                      <a:endParaRPr lang="en-US" sz="1050" dirty="0"/>
                    </a:p>
                  </a:txBody>
                  <a:tcPr anchor="ctr"/>
                </a:tc>
              </a:tr>
              <a:tr h="279400">
                <a:tc>
                  <a:txBody>
                    <a:bodyPr/>
                    <a:lstStyle/>
                    <a:p>
                      <a:r>
                        <a:rPr lang="en-US" sz="1050" b="1" dirty="0" smtClean="0"/>
                        <a:t>Term</a:t>
                      </a:r>
                      <a:r>
                        <a:rPr lang="en-US" sz="1050" dirty="0" smtClean="0"/>
                        <a:t>: Overnight</a:t>
                      </a:r>
                      <a:endParaRPr lang="en-US" sz="1050" dirty="0"/>
                    </a:p>
                  </a:txBody>
                  <a:tcPr anchor="ctr"/>
                </a:tc>
                <a:tc>
                  <a:txBody>
                    <a:bodyPr/>
                    <a:lstStyle/>
                    <a:p>
                      <a:r>
                        <a:rPr lang="en-US" sz="1050" b="1" dirty="0" smtClean="0"/>
                        <a:t>Rate</a:t>
                      </a:r>
                      <a:r>
                        <a:rPr lang="en-US" sz="1050" dirty="0" smtClean="0"/>
                        <a:t>: 10 basis points</a:t>
                      </a:r>
                      <a:endParaRPr lang="en-US" sz="1050" dirty="0"/>
                    </a:p>
                  </a:txBody>
                  <a:tcPr anchor="ctr"/>
                </a:tc>
              </a:tr>
              <a:tr h="279400">
                <a:tc>
                  <a:txBody>
                    <a:bodyPr/>
                    <a:lstStyle/>
                    <a:p>
                      <a:r>
                        <a:rPr lang="en-US" sz="1050" b="1" dirty="0" smtClean="0"/>
                        <a:t>Collateral</a:t>
                      </a:r>
                      <a:r>
                        <a:rPr lang="en-US" sz="1050" dirty="0" smtClean="0"/>
                        <a:t>: Treasuries</a:t>
                      </a:r>
                      <a:endParaRPr lang="en-US" sz="1050" dirty="0"/>
                    </a:p>
                  </a:txBody>
                  <a:tcPr anchor="ctr"/>
                </a:tc>
                <a:tc>
                  <a:txBody>
                    <a:bodyPr/>
                    <a:lstStyle/>
                    <a:p>
                      <a:r>
                        <a:rPr lang="en-US" sz="1050" b="1" dirty="0" smtClean="0"/>
                        <a:t>Margin</a:t>
                      </a:r>
                      <a:r>
                        <a:rPr lang="en-US" sz="1050" dirty="0" smtClean="0"/>
                        <a:t>:</a:t>
                      </a:r>
                      <a:r>
                        <a:rPr lang="en-US" sz="1050" baseline="0" dirty="0" smtClean="0"/>
                        <a:t> 2%</a:t>
                      </a:r>
                      <a:endParaRPr lang="en-US" sz="1050" dirty="0"/>
                    </a:p>
                  </a:txBody>
                  <a:tcPr anchor="ctr"/>
                </a:tc>
              </a:tr>
              <a:tr h="279400">
                <a:tc>
                  <a:txBody>
                    <a:bodyPr/>
                    <a:lstStyle/>
                    <a:p>
                      <a:r>
                        <a:rPr lang="en-US" sz="1050" b="1" dirty="0" smtClean="0"/>
                        <a:t>Principal</a:t>
                      </a:r>
                      <a:r>
                        <a:rPr lang="en-US" sz="1050" dirty="0" smtClean="0"/>
                        <a:t>: $</a:t>
                      </a:r>
                      <a:r>
                        <a:rPr lang="en-US" sz="1050" dirty="0" smtClean="0"/>
                        <a:t>100 million</a:t>
                      </a:r>
                      <a:endParaRPr lang="en-US" sz="1050" dirty="0"/>
                    </a:p>
                  </a:txBody>
                  <a:tcPr anchor="ctr"/>
                </a:tc>
                <a:tc>
                  <a:txBody>
                    <a:bodyPr/>
                    <a:lstStyle/>
                    <a:p>
                      <a:endParaRPr lang="en-US" sz="1050" dirty="0"/>
                    </a:p>
                  </a:txBody>
                  <a:tcPr anchor="ctr"/>
                </a:tc>
              </a:tr>
            </a:tbl>
          </a:graphicData>
        </a:graphic>
      </p:graphicFrame>
      <p:sp>
        <p:nvSpPr>
          <p:cNvPr id="59" name="TextBox 58"/>
          <p:cNvSpPr txBox="1"/>
          <p:nvPr/>
        </p:nvSpPr>
        <p:spPr>
          <a:xfrm>
            <a:off x="2667000" y="6627971"/>
            <a:ext cx="6400800" cy="246221"/>
          </a:xfrm>
          <a:prstGeom prst="rect">
            <a:avLst/>
          </a:prstGeom>
          <a:noFill/>
        </p:spPr>
        <p:txBody>
          <a:bodyPr wrap="square" rtlCol="0">
            <a:spAutoFit/>
          </a:bodyPr>
          <a:lstStyle/>
          <a:p>
            <a:r>
              <a:rPr lang="en-US" sz="1000" b="1" dirty="0" smtClean="0"/>
              <a:t>Note: </a:t>
            </a:r>
            <a:r>
              <a:rPr lang="en-US" sz="1000" dirty="0" smtClean="0"/>
              <a:t>$</a:t>
            </a:r>
            <a:r>
              <a:rPr lang="en-US" sz="1000" dirty="0" smtClean="0"/>
              <a:t>98,039,760.35</a:t>
            </a:r>
            <a:r>
              <a:rPr lang="en-US" sz="1000" dirty="0" smtClean="0"/>
              <a:t> </a:t>
            </a:r>
            <a:r>
              <a:rPr lang="en-US" sz="1000" dirty="0"/>
              <a:t>= </a:t>
            </a:r>
            <a:r>
              <a:rPr lang="en-US" sz="1000" dirty="0" smtClean="0"/>
              <a:t>$</a:t>
            </a:r>
            <a:r>
              <a:rPr lang="en-US" sz="1000" dirty="0" smtClean="0"/>
              <a:t>98,039,215.69</a:t>
            </a:r>
            <a:r>
              <a:rPr lang="en-US" sz="1000" dirty="0" smtClean="0"/>
              <a:t>  </a:t>
            </a:r>
            <a:r>
              <a:rPr lang="en-US" sz="1000" dirty="0" smtClean="0"/>
              <a:t>+ </a:t>
            </a:r>
            <a:r>
              <a:rPr lang="en-US" sz="1000" dirty="0" smtClean="0"/>
              <a:t>($</a:t>
            </a:r>
            <a:r>
              <a:rPr lang="en-US" sz="1000" dirty="0" smtClean="0"/>
              <a:t>98,039,215.69</a:t>
            </a:r>
            <a:r>
              <a:rPr lang="en-US" sz="1000" dirty="0" smtClean="0"/>
              <a:t> </a:t>
            </a:r>
            <a:r>
              <a:rPr lang="en-US" sz="1000" dirty="0" smtClean="0"/>
              <a:t>* 1/360 * 10 basis points)</a:t>
            </a:r>
            <a:endParaRPr lang="en-US" sz="1000" dirty="0"/>
          </a:p>
        </p:txBody>
      </p:sp>
      <p:cxnSp>
        <p:nvCxnSpPr>
          <p:cNvPr id="26" name="Straight Connector 25"/>
          <p:cNvCxnSpPr/>
          <p:nvPr/>
        </p:nvCxnSpPr>
        <p:spPr>
          <a:xfrm>
            <a:off x="2743200" y="5410200"/>
            <a:ext cx="1371600"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472698" y="6939687"/>
            <a:ext cx="4690102" cy="230832"/>
          </a:xfrm>
          <a:prstGeom prst="rect">
            <a:avLst/>
          </a:prstGeom>
          <a:noFill/>
        </p:spPr>
        <p:txBody>
          <a:bodyPr wrap="square" rtlCol="0">
            <a:spAutoFit/>
          </a:bodyPr>
          <a:lstStyle/>
          <a:p>
            <a:r>
              <a:rPr lang="en-US" sz="900" i="1" dirty="0" smtClean="0">
                <a:latin typeface="Calibri" panose="020F0502020204030204" pitchFamily="34" charset="0"/>
              </a:rPr>
              <a:t>Source: </a:t>
            </a:r>
            <a:r>
              <a:rPr lang="en-US" sz="900" i="1" dirty="0">
                <a:latin typeface="Calibri" panose="020F0502020204030204" pitchFamily="34" charset="0"/>
              </a:rPr>
              <a:t> </a:t>
            </a:r>
            <a:r>
              <a:rPr lang="en-US" sz="900" i="1" dirty="0" smtClean="0">
                <a:latin typeface="Calibri" panose="020F0502020204030204" pitchFamily="34" charset="0"/>
              </a:rPr>
              <a:t>Adapted from “A Primer on the GCF Repo Service: Introduction”, Copeland (2015).</a:t>
            </a:r>
            <a:endParaRPr lang="en-US" sz="900" i="1" dirty="0">
              <a:latin typeface="Calibri" panose="020F0502020204030204" pitchFamily="34" charset="0"/>
            </a:endParaRPr>
          </a:p>
        </p:txBody>
      </p:sp>
    </p:spTree>
    <p:extLst>
      <p:ext uri="{BB962C8B-B14F-4D97-AF65-F5344CB8AC3E}">
        <p14:creationId xmlns:p14="http://schemas.microsoft.com/office/powerpoint/2010/main" val="11988685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p:cNvSpPr/>
          <p:nvPr/>
        </p:nvSpPr>
        <p:spPr>
          <a:xfrm>
            <a:off x="2667000" y="3429000"/>
            <a:ext cx="6553200" cy="201168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2667000" y="1219200"/>
            <a:ext cx="6553200" cy="201168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A STANDARD GCF repo trade</a:t>
            </a:r>
            <a:endParaRPr lang="en-US" dirty="0"/>
          </a:p>
        </p:txBody>
      </p:sp>
      <p:sp>
        <p:nvSpPr>
          <p:cNvPr id="73"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100" b="0" dirty="0" smtClean="0">
                <a:solidFill>
                  <a:schemeClr val="tx1"/>
                </a:solidFill>
                <a:latin typeface="+mn-lt"/>
              </a:rPr>
              <a:t>A </a:t>
            </a:r>
            <a:r>
              <a:rPr lang="en-US" sz="1100" dirty="0" smtClean="0">
                <a:solidFill>
                  <a:schemeClr val="tx1"/>
                </a:solidFill>
                <a:latin typeface="+mn-lt"/>
              </a:rPr>
              <a:t>triparty repo </a:t>
            </a:r>
            <a:r>
              <a:rPr lang="en-US" sz="1100" b="0" dirty="0" smtClean="0">
                <a:solidFill>
                  <a:schemeClr val="tx1"/>
                </a:solidFill>
                <a:latin typeface="+mn-lt"/>
              </a:rPr>
              <a:t>involves a </a:t>
            </a:r>
            <a:r>
              <a:rPr lang="en-US" sz="1100" dirty="0" smtClean="0">
                <a:solidFill>
                  <a:schemeClr val="tx1"/>
                </a:solidFill>
                <a:latin typeface="+mn-lt"/>
              </a:rPr>
              <a:t>clearing bank</a:t>
            </a:r>
            <a:r>
              <a:rPr lang="en-US" sz="1100" b="0" dirty="0" smtClean="0">
                <a:solidFill>
                  <a:schemeClr val="tx1"/>
                </a:solidFill>
                <a:latin typeface="+mn-lt"/>
              </a:rPr>
              <a:t> </a:t>
            </a:r>
            <a:r>
              <a:rPr lang="en-US" sz="1100" b="0" dirty="0" smtClean="0">
                <a:solidFill>
                  <a:schemeClr val="tx1"/>
                </a:solidFill>
                <a:latin typeface="+mn-lt"/>
              </a:rPr>
              <a:t>(in the U.S., Bank of New York Mellon and JP Morgan Chase) </a:t>
            </a:r>
            <a:r>
              <a:rPr lang="en-US" sz="1100" b="0" dirty="0" smtClean="0">
                <a:solidFill>
                  <a:schemeClr val="tx1"/>
                </a:solidFill>
                <a:latin typeface="+mn-lt"/>
              </a:rPr>
              <a:t>that </a:t>
            </a:r>
            <a:r>
              <a:rPr lang="en-US" sz="1100" b="0" dirty="0" smtClean="0">
                <a:solidFill>
                  <a:schemeClr val="tx1"/>
                </a:solidFill>
                <a:latin typeface="+mn-lt"/>
              </a:rPr>
              <a:t>provides back-office support to both parties in the trade. In contrast, in a </a:t>
            </a:r>
            <a:r>
              <a:rPr lang="en-US" sz="1100" dirty="0" smtClean="0">
                <a:solidFill>
                  <a:schemeClr val="tx1"/>
                </a:solidFill>
                <a:latin typeface="+mn-lt"/>
              </a:rPr>
              <a:t>bilateral repo</a:t>
            </a:r>
            <a:r>
              <a:rPr lang="en-US" sz="1100" b="0" dirty="0" smtClean="0">
                <a:solidFill>
                  <a:schemeClr val="tx1"/>
                </a:solidFill>
                <a:latin typeface="+mn-lt"/>
              </a:rPr>
              <a:t>, each counterparty’s custodian bank is responsible for the clearing and settlement of the trade.</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Triparty repo typically assumes a transaction involving </a:t>
            </a:r>
            <a:r>
              <a:rPr lang="en-US" sz="1100" dirty="0" smtClean="0">
                <a:solidFill>
                  <a:schemeClr val="tx1"/>
                </a:solidFill>
                <a:latin typeface="+mn-lt"/>
              </a:rPr>
              <a:t>general collateral</a:t>
            </a:r>
            <a:r>
              <a:rPr lang="en-US" sz="1100" b="0" dirty="0" smtClean="0">
                <a:solidFill>
                  <a:schemeClr val="tx1"/>
                </a:solidFill>
                <a:latin typeface="+mn-lt"/>
              </a:rPr>
              <a:t>, where the cash investor agrees to accept any securities within an asset class, such as U.S. Treasuries. Bilateral repos, by contrast, typically require that specific securities identified at the CUSIP level be agreed upon when the trade is executed.</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dirty="0" smtClean="0">
                <a:solidFill>
                  <a:schemeClr val="tx1"/>
                </a:solidFill>
                <a:latin typeface="+mn-lt"/>
              </a:rPr>
              <a:t>GCF (General Collateral Finance) Repo </a:t>
            </a:r>
            <a:r>
              <a:rPr lang="en-US" sz="1100" b="0" dirty="0" smtClean="0">
                <a:solidFill>
                  <a:schemeClr val="tx1"/>
                </a:solidFill>
                <a:latin typeface="+mn-lt"/>
              </a:rPr>
              <a:t>trades settle on a triparty platform. They are characterized by the role of the FICC as a central counterparty. </a:t>
            </a:r>
          </a:p>
          <a:p>
            <a:pPr>
              <a:lnSpc>
                <a:spcPct val="100000"/>
              </a:lnSpc>
              <a:spcBef>
                <a:spcPts val="0"/>
              </a:spcBef>
            </a:pPr>
            <a:endParaRPr lang="en-US" sz="1100" b="0" dirty="0">
              <a:solidFill>
                <a:schemeClr val="tx1"/>
              </a:solidFill>
              <a:latin typeface="+mn-lt"/>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5" name="Rectangle 4"/>
          <p:cNvSpPr/>
          <p:nvPr/>
        </p:nvSpPr>
        <p:spPr>
          <a:xfrm>
            <a:off x="3048000" y="1524000"/>
            <a:ext cx="1447800" cy="63888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Collateral</a:t>
            </a:r>
          </a:p>
          <a:p>
            <a:pPr algn="ctr"/>
            <a:r>
              <a:rPr lang="en-US" sz="1400" dirty="0"/>
              <a:t>P</a:t>
            </a:r>
            <a:r>
              <a:rPr lang="en-US" sz="1400" dirty="0" smtClean="0"/>
              <a:t>rovider</a:t>
            </a:r>
            <a:endParaRPr lang="en-US" sz="1400" dirty="0"/>
          </a:p>
        </p:txBody>
      </p:sp>
      <p:sp>
        <p:nvSpPr>
          <p:cNvPr id="39" name="Rectangle 38"/>
          <p:cNvSpPr/>
          <p:nvPr/>
        </p:nvSpPr>
        <p:spPr>
          <a:xfrm>
            <a:off x="7391400" y="1524000"/>
            <a:ext cx="1447800" cy="63888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FICC</a:t>
            </a:r>
            <a:endParaRPr lang="en-US" sz="1400" dirty="0"/>
          </a:p>
        </p:txBody>
      </p:sp>
      <p:cxnSp>
        <p:nvCxnSpPr>
          <p:cNvPr id="42" name="Straight Arrow Connector 41"/>
          <p:cNvCxnSpPr/>
          <p:nvPr/>
        </p:nvCxnSpPr>
        <p:spPr>
          <a:xfrm>
            <a:off x="4718050" y="1752600"/>
            <a:ext cx="2444750" cy="0"/>
          </a:xfrm>
          <a:prstGeom prst="straightConnector1">
            <a:avLst/>
          </a:prstGeom>
          <a:ln>
            <a:solidFill>
              <a:srgbClr val="C6642E"/>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4711700" y="1954481"/>
            <a:ext cx="2441448" cy="0"/>
          </a:xfrm>
          <a:prstGeom prst="straightConnector1">
            <a:avLst/>
          </a:prstGeom>
          <a:ln>
            <a:solidFill>
              <a:srgbClr val="2E8A6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4800600" y="1497281"/>
            <a:ext cx="2209800" cy="246221"/>
          </a:xfrm>
          <a:prstGeom prst="rect">
            <a:avLst/>
          </a:prstGeom>
          <a:noFill/>
        </p:spPr>
        <p:txBody>
          <a:bodyPr wrap="square" rtlCol="0">
            <a:spAutoFit/>
          </a:bodyPr>
          <a:lstStyle/>
          <a:p>
            <a:pPr algn="ctr"/>
            <a:r>
              <a:rPr lang="en-US" sz="1000" dirty="0" smtClean="0"/>
              <a:t>$</a:t>
            </a:r>
            <a:r>
              <a:rPr lang="en-US" sz="1000" dirty="0" smtClean="0"/>
              <a:t>100,000,000 </a:t>
            </a:r>
            <a:r>
              <a:rPr lang="en-US" sz="1000" dirty="0" smtClean="0"/>
              <a:t>of Treasuries</a:t>
            </a:r>
            <a:endParaRPr lang="en-US" sz="1000" dirty="0"/>
          </a:p>
        </p:txBody>
      </p:sp>
      <p:sp>
        <p:nvSpPr>
          <p:cNvPr id="48" name="TextBox 47"/>
          <p:cNvSpPr txBox="1"/>
          <p:nvPr/>
        </p:nvSpPr>
        <p:spPr>
          <a:xfrm>
            <a:off x="4800600" y="1963579"/>
            <a:ext cx="2209800" cy="246221"/>
          </a:xfrm>
          <a:prstGeom prst="rect">
            <a:avLst/>
          </a:prstGeom>
          <a:noFill/>
        </p:spPr>
        <p:txBody>
          <a:bodyPr wrap="square" rtlCol="0">
            <a:spAutoFit/>
          </a:bodyPr>
          <a:lstStyle/>
          <a:p>
            <a:pPr algn="ctr"/>
            <a:r>
              <a:rPr lang="en-US" sz="1000" dirty="0" smtClean="0"/>
              <a:t>$</a:t>
            </a:r>
            <a:r>
              <a:rPr lang="en-US" sz="1000" dirty="0" smtClean="0"/>
              <a:t>100,000,000 </a:t>
            </a:r>
            <a:r>
              <a:rPr lang="en-US" sz="1000" dirty="0" smtClean="0"/>
              <a:t>in cash</a:t>
            </a:r>
            <a:endParaRPr lang="en-US" sz="1000" dirty="0"/>
          </a:p>
        </p:txBody>
      </p:sp>
      <p:sp>
        <p:nvSpPr>
          <p:cNvPr id="49" name="Rectangle 48"/>
          <p:cNvSpPr/>
          <p:nvPr/>
        </p:nvSpPr>
        <p:spPr>
          <a:xfrm>
            <a:off x="3048000" y="3733800"/>
            <a:ext cx="1447800" cy="64008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Collateral</a:t>
            </a:r>
          </a:p>
          <a:p>
            <a:pPr algn="ctr"/>
            <a:r>
              <a:rPr lang="en-US" sz="1400" dirty="0"/>
              <a:t>Provider</a:t>
            </a:r>
          </a:p>
        </p:txBody>
      </p:sp>
      <p:sp>
        <p:nvSpPr>
          <p:cNvPr id="50" name="Rectangle 49"/>
          <p:cNvSpPr/>
          <p:nvPr/>
        </p:nvSpPr>
        <p:spPr>
          <a:xfrm>
            <a:off x="7391400" y="3733800"/>
            <a:ext cx="1447800" cy="64008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FICC</a:t>
            </a:r>
            <a:endParaRPr lang="en-US" sz="1400" dirty="0"/>
          </a:p>
        </p:txBody>
      </p:sp>
      <p:sp>
        <p:nvSpPr>
          <p:cNvPr id="53" name="TextBox 52"/>
          <p:cNvSpPr txBox="1"/>
          <p:nvPr/>
        </p:nvSpPr>
        <p:spPr>
          <a:xfrm>
            <a:off x="4800600" y="3707081"/>
            <a:ext cx="2209800" cy="246221"/>
          </a:xfrm>
          <a:prstGeom prst="rect">
            <a:avLst/>
          </a:prstGeom>
          <a:noFill/>
        </p:spPr>
        <p:txBody>
          <a:bodyPr wrap="square" rtlCol="0">
            <a:spAutoFit/>
          </a:bodyPr>
          <a:lstStyle/>
          <a:p>
            <a:pPr algn="ctr"/>
            <a:r>
              <a:rPr lang="en-US" sz="1000" dirty="0" smtClean="0"/>
              <a:t>$</a:t>
            </a:r>
            <a:r>
              <a:rPr lang="en-US" sz="1000" dirty="0" smtClean="0"/>
              <a:t>100,000,000 </a:t>
            </a:r>
            <a:r>
              <a:rPr lang="en-US" sz="1000" dirty="0" smtClean="0"/>
              <a:t>of Treasuries</a:t>
            </a:r>
            <a:endParaRPr lang="en-US" sz="1000" dirty="0"/>
          </a:p>
        </p:txBody>
      </p:sp>
      <p:sp>
        <p:nvSpPr>
          <p:cNvPr id="54" name="TextBox 53"/>
          <p:cNvSpPr txBox="1"/>
          <p:nvPr/>
        </p:nvSpPr>
        <p:spPr>
          <a:xfrm>
            <a:off x="4800600" y="4173379"/>
            <a:ext cx="2209800" cy="246221"/>
          </a:xfrm>
          <a:prstGeom prst="rect">
            <a:avLst/>
          </a:prstGeom>
          <a:noFill/>
        </p:spPr>
        <p:txBody>
          <a:bodyPr wrap="square" rtlCol="0">
            <a:spAutoFit/>
          </a:bodyPr>
          <a:lstStyle/>
          <a:p>
            <a:pPr algn="ctr"/>
            <a:r>
              <a:rPr lang="en-US" sz="1000" dirty="0" smtClean="0"/>
              <a:t>$</a:t>
            </a:r>
            <a:r>
              <a:rPr lang="en-US" sz="1000" dirty="0" smtClean="0"/>
              <a:t>100,000,277.78 </a:t>
            </a:r>
            <a:r>
              <a:rPr lang="en-US" sz="1000" dirty="0" smtClean="0"/>
              <a:t>in cash</a:t>
            </a:r>
            <a:endParaRPr lang="en-US" sz="1000" dirty="0"/>
          </a:p>
        </p:txBody>
      </p:sp>
      <p:sp>
        <p:nvSpPr>
          <p:cNvPr id="56" name="TextBox 55"/>
          <p:cNvSpPr txBox="1"/>
          <p:nvPr/>
        </p:nvSpPr>
        <p:spPr>
          <a:xfrm>
            <a:off x="2781300" y="1219200"/>
            <a:ext cx="1714500" cy="246221"/>
          </a:xfrm>
          <a:prstGeom prst="rect">
            <a:avLst/>
          </a:prstGeom>
          <a:noFill/>
        </p:spPr>
        <p:txBody>
          <a:bodyPr wrap="square" rtlCol="0">
            <a:spAutoFit/>
          </a:bodyPr>
          <a:lstStyle/>
          <a:p>
            <a:r>
              <a:rPr lang="en-US" sz="1000" b="1" dirty="0" smtClean="0"/>
              <a:t>Date </a:t>
            </a:r>
            <a:r>
              <a:rPr lang="en-US" sz="1000" b="1" i="1" dirty="0" smtClean="0"/>
              <a:t>t</a:t>
            </a:r>
            <a:r>
              <a:rPr lang="en-US" sz="1000" b="1" dirty="0" smtClean="0"/>
              <a:t> (opening leg)</a:t>
            </a:r>
            <a:endParaRPr lang="en-US" sz="1000" b="1" dirty="0"/>
          </a:p>
        </p:txBody>
      </p:sp>
      <p:sp>
        <p:nvSpPr>
          <p:cNvPr id="57" name="TextBox 56"/>
          <p:cNvSpPr txBox="1"/>
          <p:nvPr/>
        </p:nvSpPr>
        <p:spPr>
          <a:xfrm>
            <a:off x="2781300" y="3429000"/>
            <a:ext cx="1714500" cy="246221"/>
          </a:xfrm>
          <a:prstGeom prst="rect">
            <a:avLst/>
          </a:prstGeom>
          <a:noFill/>
        </p:spPr>
        <p:txBody>
          <a:bodyPr wrap="square" rtlCol="0">
            <a:spAutoFit/>
          </a:bodyPr>
          <a:lstStyle/>
          <a:p>
            <a:r>
              <a:rPr lang="en-US" sz="1000" b="1" dirty="0" smtClean="0"/>
              <a:t>Date </a:t>
            </a:r>
            <a:r>
              <a:rPr lang="en-US" sz="1000" b="1" i="1" dirty="0" smtClean="0"/>
              <a:t>t+1</a:t>
            </a:r>
            <a:r>
              <a:rPr lang="en-US" sz="1000" b="1" dirty="0" smtClean="0"/>
              <a:t> (closing leg)</a:t>
            </a:r>
            <a:endParaRPr lang="en-US" sz="1000" b="1" dirty="0"/>
          </a:p>
        </p:txBody>
      </p:sp>
      <p:graphicFrame>
        <p:nvGraphicFramePr>
          <p:cNvPr id="17" name="Table 16"/>
          <p:cNvGraphicFramePr>
            <a:graphicFrameLocks noGrp="1"/>
          </p:cNvGraphicFramePr>
          <p:nvPr>
            <p:extLst>
              <p:ext uri="{D42A27DB-BD31-4B8C-83A1-F6EECF244321}">
                <p14:modId xmlns:p14="http://schemas.microsoft.com/office/powerpoint/2010/main" val="1484908346"/>
              </p:ext>
            </p:extLst>
          </p:nvPr>
        </p:nvGraphicFramePr>
        <p:xfrm>
          <a:off x="2667000" y="5486400"/>
          <a:ext cx="6553200" cy="1117600"/>
        </p:xfrm>
        <a:graphic>
          <a:graphicData uri="http://schemas.openxmlformats.org/drawingml/2006/table">
            <a:tbl>
              <a:tblPr>
                <a:tableStyleId>{2D5ABB26-0587-4C30-8999-92F81FD0307C}</a:tableStyleId>
              </a:tblPr>
              <a:tblGrid>
                <a:gridCol w="3276600"/>
                <a:gridCol w="3276600"/>
              </a:tblGrid>
              <a:tr h="279400">
                <a:tc>
                  <a:txBody>
                    <a:bodyPr/>
                    <a:lstStyle/>
                    <a:p>
                      <a:r>
                        <a:rPr lang="en-US" sz="1050" b="1" dirty="0" smtClean="0"/>
                        <a:t>Repo Trade Details</a:t>
                      </a:r>
                      <a:endParaRPr lang="en-US" sz="1050" b="1" dirty="0"/>
                    </a:p>
                  </a:txBody>
                  <a:tcPr anchor="ctr"/>
                </a:tc>
                <a:tc>
                  <a:txBody>
                    <a:bodyPr/>
                    <a:lstStyle/>
                    <a:p>
                      <a:endParaRPr lang="en-US" sz="1050" dirty="0"/>
                    </a:p>
                  </a:txBody>
                  <a:tcPr anchor="ctr"/>
                </a:tc>
              </a:tr>
              <a:tr h="279400">
                <a:tc>
                  <a:txBody>
                    <a:bodyPr/>
                    <a:lstStyle/>
                    <a:p>
                      <a:r>
                        <a:rPr lang="en-US" sz="1050" b="1" dirty="0" smtClean="0"/>
                        <a:t>Term</a:t>
                      </a:r>
                      <a:r>
                        <a:rPr lang="en-US" sz="1050" dirty="0" smtClean="0"/>
                        <a:t>: Overnight</a:t>
                      </a:r>
                      <a:endParaRPr lang="en-US" sz="1050" dirty="0"/>
                    </a:p>
                  </a:txBody>
                  <a:tcPr anchor="ctr"/>
                </a:tc>
                <a:tc>
                  <a:txBody>
                    <a:bodyPr/>
                    <a:lstStyle/>
                    <a:p>
                      <a:r>
                        <a:rPr lang="en-US" sz="1050" b="1" dirty="0" smtClean="0"/>
                        <a:t>Rate</a:t>
                      </a:r>
                      <a:r>
                        <a:rPr lang="en-US" sz="1050" dirty="0" smtClean="0"/>
                        <a:t>: 10 basis points</a:t>
                      </a:r>
                      <a:endParaRPr lang="en-US" sz="1050" dirty="0"/>
                    </a:p>
                  </a:txBody>
                  <a:tcPr anchor="ctr"/>
                </a:tc>
              </a:tr>
              <a:tr h="279400">
                <a:tc>
                  <a:txBody>
                    <a:bodyPr/>
                    <a:lstStyle/>
                    <a:p>
                      <a:r>
                        <a:rPr lang="en-US" sz="1050" b="1" dirty="0" smtClean="0"/>
                        <a:t>Collateral</a:t>
                      </a:r>
                      <a:r>
                        <a:rPr lang="en-US" sz="1050" dirty="0" smtClean="0"/>
                        <a:t>: Treasuries</a:t>
                      </a:r>
                      <a:endParaRPr lang="en-US" sz="1050" dirty="0"/>
                    </a:p>
                  </a:txBody>
                  <a:tcPr anchor="ctr"/>
                </a:tc>
                <a:tc>
                  <a:txBody>
                    <a:bodyPr/>
                    <a:lstStyle/>
                    <a:p>
                      <a:r>
                        <a:rPr lang="en-US" sz="1050" b="1" dirty="0" smtClean="0"/>
                        <a:t>Margin</a:t>
                      </a:r>
                      <a:r>
                        <a:rPr lang="en-US" sz="1050" dirty="0" smtClean="0"/>
                        <a:t>:</a:t>
                      </a:r>
                      <a:r>
                        <a:rPr lang="en-US" sz="1050" baseline="0" dirty="0" smtClean="0"/>
                        <a:t> None</a:t>
                      </a:r>
                      <a:endParaRPr lang="en-US" sz="1050" dirty="0"/>
                    </a:p>
                  </a:txBody>
                  <a:tcPr anchor="ctr"/>
                </a:tc>
              </a:tr>
              <a:tr h="279400">
                <a:tc>
                  <a:txBody>
                    <a:bodyPr/>
                    <a:lstStyle/>
                    <a:p>
                      <a:r>
                        <a:rPr lang="en-US" sz="1050" b="1" dirty="0" smtClean="0"/>
                        <a:t>Principal</a:t>
                      </a:r>
                      <a:r>
                        <a:rPr lang="en-US" sz="1050" dirty="0" smtClean="0"/>
                        <a:t>: $</a:t>
                      </a:r>
                      <a:r>
                        <a:rPr lang="en-US" sz="1050" dirty="0" smtClean="0"/>
                        <a:t>100 million</a:t>
                      </a:r>
                      <a:endParaRPr lang="en-US" sz="1050" dirty="0"/>
                    </a:p>
                  </a:txBody>
                  <a:tcPr anchor="ctr"/>
                </a:tc>
                <a:tc>
                  <a:txBody>
                    <a:bodyPr/>
                    <a:lstStyle/>
                    <a:p>
                      <a:endParaRPr lang="en-US" sz="1050" dirty="0"/>
                    </a:p>
                  </a:txBody>
                  <a:tcPr anchor="ctr"/>
                </a:tc>
              </a:tr>
            </a:tbl>
          </a:graphicData>
        </a:graphic>
      </p:graphicFrame>
      <p:sp>
        <p:nvSpPr>
          <p:cNvPr id="59" name="TextBox 58"/>
          <p:cNvSpPr txBox="1"/>
          <p:nvPr/>
        </p:nvSpPr>
        <p:spPr>
          <a:xfrm>
            <a:off x="2667000" y="6718697"/>
            <a:ext cx="6400800" cy="246221"/>
          </a:xfrm>
          <a:prstGeom prst="rect">
            <a:avLst/>
          </a:prstGeom>
          <a:noFill/>
        </p:spPr>
        <p:txBody>
          <a:bodyPr wrap="square" rtlCol="0">
            <a:spAutoFit/>
          </a:bodyPr>
          <a:lstStyle/>
          <a:p>
            <a:r>
              <a:rPr lang="en-US" sz="1000" b="1" dirty="0" smtClean="0"/>
              <a:t>Note: </a:t>
            </a:r>
            <a:r>
              <a:rPr lang="en-US" sz="1000" dirty="0" smtClean="0"/>
              <a:t>$</a:t>
            </a:r>
            <a:r>
              <a:rPr lang="en-US" sz="1000" dirty="0" smtClean="0"/>
              <a:t>100,000,277.78 </a:t>
            </a:r>
            <a:r>
              <a:rPr lang="en-US" sz="1000" dirty="0"/>
              <a:t>= $</a:t>
            </a:r>
            <a:r>
              <a:rPr lang="en-US" sz="1000" dirty="0" smtClean="0"/>
              <a:t>100,000,000  </a:t>
            </a:r>
            <a:r>
              <a:rPr lang="en-US" sz="1000" dirty="0" smtClean="0"/>
              <a:t>+ (</a:t>
            </a:r>
            <a:r>
              <a:rPr lang="en-US" sz="1000" dirty="0"/>
              <a:t>$</a:t>
            </a:r>
            <a:r>
              <a:rPr lang="en-US" sz="1000" dirty="0" smtClean="0"/>
              <a:t>100,000,000 </a:t>
            </a:r>
            <a:r>
              <a:rPr lang="en-US" sz="1000" dirty="0" smtClean="0"/>
              <a:t>* 1/360 * 10 basis points)</a:t>
            </a:r>
            <a:endParaRPr lang="en-US" sz="1000" dirty="0"/>
          </a:p>
        </p:txBody>
      </p:sp>
      <p:cxnSp>
        <p:nvCxnSpPr>
          <p:cNvPr id="26" name="Straight Connector 25"/>
          <p:cNvCxnSpPr/>
          <p:nvPr/>
        </p:nvCxnSpPr>
        <p:spPr>
          <a:xfrm>
            <a:off x="2743200" y="5829300"/>
            <a:ext cx="1371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4718050" y="3946952"/>
            <a:ext cx="2444750" cy="0"/>
          </a:xfrm>
          <a:prstGeom prst="straightConnector1">
            <a:avLst/>
          </a:prstGeom>
          <a:ln>
            <a:solidFill>
              <a:srgbClr val="C6642E"/>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4711700" y="4148833"/>
            <a:ext cx="2441448" cy="0"/>
          </a:xfrm>
          <a:prstGeom prst="straightConnector1">
            <a:avLst/>
          </a:prstGeom>
          <a:ln>
            <a:solidFill>
              <a:srgbClr val="2E8A6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3048000" y="4602480"/>
            <a:ext cx="1447800" cy="64008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FICC</a:t>
            </a:r>
            <a:endParaRPr lang="en-US" sz="1400" dirty="0"/>
          </a:p>
        </p:txBody>
      </p:sp>
      <p:sp>
        <p:nvSpPr>
          <p:cNvPr id="27" name="Rectangle 26"/>
          <p:cNvSpPr/>
          <p:nvPr/>
        </p:nvSpPr>
        <p:spPr>
          <a:xfrm>
            <a:off x="7391400" y="4602480"/>
            <a:ext cx="1447800" cy="64008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Cash</a:t>
            </a:r>
          </a:p>
          <a:p>
            <a:pPr algn="ctr"/>
            <a:r>
              <a:rPr lang="en-US" sz="1400" dirty="0" smtClean="0"/>
              <a:t>Investor</a:t>
            </a:r>
            <a:endParaRPr lang="en-US" sz="1400" dirty="0"/>
          </a:p>
        </p:txBody>
      </p:sp>
      <p:sp>
        <p:nvSpPr>
          <p:cNvPr id="28" name="TextBox 27"/>
          <p:cNvSpPr txBox="1"/>
          <p:nvPr/>
        </p:nvSpPr>
        <p:spPr>
          <a:xfrm>
            <a:off x="4800600" y="4575761"/>
            <a:ext cx="2209800" cy="246221"/>
          </a:xfrm>
          <a:prstGeom prst="rect">
            <a:avLst/>
          </a:prstGeom>
          <a:noFill/>
        </p:spPr>
        <p:txBody>
          <a:bodyPr wrap="square" rtlCol="0">
            <a:spAutoFit/>
          </a:bodyPr>
          <a:lstStyle/>
          <a:p>
            <a:pPr algn="ctr"/>
            <a:r>
              <a:rPr lang="en-US" sz="1000" dirty="0" smtClean="0"/>
              <a:t>$1,000,000,000 of Treasuries</a:t>
            </a:r>
            <a:endParaRPr lang="en-US" sz="1000" dirty="0"/>
          </a:p>
        </p:txBody>
      </p:sp>
      <p:sp>
        <p:nvSpPr>
          <p:cNvPr id="29" name="TextBox 28"/>
          <p:cNvSpPr txBox="1"/>
          <p:nvPr/>
        </p:nvSpPr>
        <p:spPr>
          <a:xfrm>
            <a:off x="4800600" y="5042059"/>
            <a:ext cx="2209800" cy="246221"/>
          </a:xfrm>
          <a:prstGeom prst="rect">
            <a:avLst/>
          </a:prstGeom>
          <a:noFill/>
        </p:spPr>
        <p:txBody>
          <a:bodyPr wrap="square" rtlCol="0">
            <a:spAutoFit/>
          </a:bodyPr>
          <a:lstStyle/>
          <a:p>
            <a:pPr algn="ctr"/>
            <a:r>
              <a:rPr lang="en-US" sz="1000" dirty="0" smtClean="0"/>
              <a:t>$</a:t>
            </a:r>
            <a:r>
              <a:rPr lang="en-US" sz="1000" dirty="0" smtClean="0"/>
              <a:t>100,000,277.78 </a:t>
            </a:r>
            <a:r>
              <a:rPr lang="en-US" sz="1000" dirty="0" smtClean="0"/>
              <a:t>in cash</a:t>
            </a:r>
            <a:endParaRPr lang="en-US" sz="1000" dirty="0"/>
          </a:p>
        </p:txBody>
      </p:sp>
      <p:cxnSp>
        <p:nvCxnSpPr>
          <p:cNvPr id="30" name="Straight Arrow Connector 29"/>
          <p:cNvCxnSpPr/>
          <p:nvPr/>
        </p:nvCxnSpPr>
        <p:spPr>
          <a:xfrm>
            <a:off x="4718050" y="4815632"/>
            <a:ext cx="2444750" cy="0"/>
          </a:xfrm>
          <a:prstGeom prst="straightConnector1">
            <a:avLst/>
          </a:prstGeom>
          <a:ln>
            <a:solidFill>
              <a:srgbClr val="C6642E"/>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711700" y="5017513"/>
            <a:ext cx="2441448" cy="0"/>
          </a:xfrm>
          <a:prstGeom prst="straightConnector1">
            <a:avLst/>
          </a:prstGeom>
          <a:ln>
            <a:solidFill>
              <a:srgbClr val="2E8A6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3048000" y="2388919"/>
            <a:ext cx="1447800" cy="63888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FICC</a:t>
            </a:r>
            <a:endParaRPr lang="en-US" sz="1400" dirty="0"/>
          </a:p>
        </p:txBody>
      </p:sp>
      <p:sp>
        <p:nvSpPr>
          <p:cNvPr id="33" name="Rectangle 32"/>
          <p:cNvSpPr/>
          <p:nvPr/>
        </p:nvSpPr>
        <p:spPr>
          <a:xfrm>
            <a:off x="7391400" y="2388919"/>
            <a:ext cx="1447800" cy="63888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Cash</a:t>
            </a:r>
          </a:p>
          <a:p>
            <a:pPr algn="ctr"/>
            <a:r>
              <a:rPr lang="en-US" sz="1400" dirty="0"/>
              <a:t>Investor</a:t>
            </a:r>
          </a:p>
        </p:txBody>
      </p:sp>
      <p:cxnSp>
        <p:nvCxnSpPr>
          <p:cNvPr id="34" name="Straight Arrow Connector 33"/>
          <p:cNvCxnSpPr/>
          <p:nvPr/>
        </p:nvCxnSpPr>
        <p:spPr>
          <a:xfrm>
            <a:off x="4718050" y="2617519"/>
            <a:ext cx="2444750" cy="0"/>
          </a:xfrm>
          <a:prstGeom prst="straightConnector1">
            <a:avLst/>
          </a:prstGeom>
          <a:ln>
            <a:solidFill>
              <a:srgbClr val="C6642E"/>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4711700" y="2819400"/>
            <a:ext cx="2441448" cy="0"/>
          </a:xfrm>
          <a:prstGeom prst="straightConnector1">
            <a:avLst/>
          </a:prstGeom>
          <a:ln>
            <a:solidFill>
              <a:srgbClr val="2E8A6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800600" y="2362200"/>
            <a:ext cx="2209800" cy="246221"/>
          </a:xfrm>
          <a:prstGeom prst="rect">
            <a:avLst/>
          </a:prstGeom>
          <a:noFill/>
        </p:spPr>
        <p:txBody>
          <a:bodyPr wrap="square" rtlCol="0">
            <a:spAutoFit/>
          </a:bodyPr>
          <a:lstStyle/>
          <a:p>
            <a:pPr algn="ctr"/>
            <a:r>
              <a:rPr lang="en-US" sz="1000" dirty="0" smtClean="0"/>
              <a:t>$</a:t>
            </a:r>
            <a:r>
              <a:rPr lang="en-US" sz="1000" dirty="0" smtClean="0"/>
              <a:t>100,000,000 </a:t>
            </a:r>
            <a:r>
              <a:rPr lang="en-US" sz="1000" dirty="0" smtClean="0"/>
              <a:t>of Treasuries</a:t>
            </a:r>
            <a:endParaRPr lang="en-US" sz="1000" dirty="0"/>
          </a:p>
        </p:txBody>
      </p:sp>
      <p:sp>
        <p:nvSpPr>
          <p:cNvPr id="37" name="TextBox 36"/>
          <p:cNvSpPr txBox="1"/>
          <p:nvPr/>
        </p:nvSpPr>
        <p:spPr>
          <a:xfrm>
            <a:off x="4800600" y="2828498"/>
            <a:ext cx="2209800" cy="246221"/>
          </a:xfrm>
          <a:prstGeom prst="rect">
            <a:avLst/>
          </a:prstGeom>
          <a:noFill/>
        </p:spPr>
        <p:txBody>
          <a:bodyPr wrap="square" rtlCol="0">
            <a:spAutoFit/>
          </a:bodyPr>
          <a:lstStyle/>
          <a:p>
            <a:pPr algn="ctr"/>
            <a:r>
              <a:rPr lang="en-US" sz="1000" dirty="0" smtClean="0"/>
              <a:t>$</a:t>
            </a:r>
            <a:r>
              <a:rPr lang="en-US" sz="1000" dirty="0" smtClean="0"/>
              <a:t>100,000,000 </a:t>
            </a:r>
            <a:r>
              <a:rPr lang="en-US" sz="1000" dirty="0" smtClean="0"/>
              <a:t>in cash</a:t>
            </a:r>
            <a:endParaRPr lang="en-US" sz="1000" dirty="0"/>
          </a:p>
        </p:txBody>
      </p:sp>
      <p:sp>
        <p:nvSpPr>
          <p:cNvPr id="40" name="TextBox 39"/>
          <p:cNvSpPr txBox="1"/>
          <p:nvPr/>
        </p:nvSpPr>
        <p:spPr>
          <a:xfrm>
            <a:off x="2472698" y="7047890"/>
            <a:ext cx="4690102" cy="230832"/>
          </a:xfrm>
          <a:prstGeom prst="rect">
            <a:avLst/>
          </a:prstGeom>
          <a:noFill/>
        </p:spPr>
        <p:txBody>
          <a:bodyPr wrap="square" rtlCol="0">
            <a:spAutoFit/>
          </a:bodyPr>
          <a:lstStyle/>
          <a:p>
            <a:r>
              <a:rPr lang="en-US" sz="900" i="1" dirty="0" smtClean="0">
                <a:latin typeface="Calibri" panose="020F0502020204030204" pitchFamily="34" charset="0"/>
              </a:rPr>
              <a:t>Source: </a:t>
            </a:r>
            <a:r>
              <a:rPr lang="en-US" sz="900" i="1" dirty="0">
                <a:latin typeface="Calibri" panose="020F0502020204030204" pitchFamily="34" charset="0"/>
              </a:rPr>
              <a:t> </a:t>
            </a:r>
            <a:r>
              <a:rPr lang="en-US" sz="900" i="1" dirty="0" smtClean="0">
                <a:latin typeface="Calibri" panose="020F0502020204030204" pitchFamily="34" charset="0"/>
              </a:rPr>
              <a:t>Adapted from “A Primer on the GCF Repo Service: Introduction”, Copeland (2015).</a:t>
            </a:r>
            <a:endParaRPr lang="en-US" sz="900" i="1" dirty="0">
              <a:latin typeface="Calibri" panose="020F0502020204030204" pitchFamily="34" charset="0"/>
            </a:endParaRPr>
          </a:p>
        </p:txBody>
      </p:sp>
    </p:spTree>
    <p:extLst>
      <p:ext uri="{BB962C8B-B14F-4D97-AF65-F5344CB8AC3E}">
        <p14:creationId xmlns:p14="http://schemas.microsoft.com/office/powerpoint/2010/main" val="38842398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smtClean="0"/>
              <a:t>STRUCTURE OF U.S. REPO MARKETS</a:t>
            </a:r>
            <a:endParaRPr lang="en-US" dirty="0"/>
          </a:p>
        </p:txBody>
      </p:sp>
      <p:sp>
        <p:nvSpPr>
          <p:cNvPr id="73"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100" b="0" dirty="0" smtClean="0">
                <a:solidFill>
                  <a:schemeClr val="tx1"/>
                </a:solidFill>
                <a:latin typeface="+mn-lt"/>
              </a:rPr>
              <a:t>The U.S. Repo market is part of the collateralized U.S.-dollar-denominated money markets and plays a critical role in the trading of fixed-income securities.</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The Repo market matches financial institutions that are long cash such as Money market mutual funds (MMFs), </a:t>
            </a:r>
            <a:r>
              <a:rPr lang="en-US" sz="1100" b="0" dirty="0">
                <a:solidFill>
                  <a:schemeClr val="tx1"/>
                </a:solidFill>
                <a:latin typeface="+mn-lt"/>
              </a:rPr>
              <a:t>C</a:t>
            </a:r>
            <a:r>
              <a:rPr lang="en-US" sz="1100" b="0" dirty="0" smtClean="0">
                <a:solidFill>
                  <a:schemeClr val="tx1"/>
                </a:solidFill>
                <a:latin typeface="+mn-lt"/>
              </a:rPr>
              <a:t>orporate treasuries and Custodial agents  to institutions that are short of cash such as dealers and hedge funds.</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Security dealers play a critical intermediation role in the Repo market through facilitating the exchange of securities for cash among participants.</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Triparty repo markets are considered more cost efficient, while bilateral repo is preferred if two parties wish to interact directly with each other or if specific collateral is requested.</a:t>
            </a:r>
          </a:p>
          <a:p>
            <a:pPr>
              <a:lnSpc>
                <a:spcPct val="100000"/>
              </a:lnSpc>
              <a:spcBef>
                <a:spcPts val="0"/>
              </a:spcBef>
            </a:pPr>
            <a:endParaRPr lang="en-US" sz="1200" b="0" dirty="0">
              <a:solidFill>
                <a:schemeClr val="tx1"/>
              </a:solidFill>
              <a:latin typeface="+mn-lt"/>
            </a:endParaRPr>
          </a:p>
          <a:p>
            <a:pPr>
              <a:lnSpc>
                <a:spcPct val="100000"/>
              </a:lnSpc>
              <a:spcBef>
                <a:spcPts val="0"/>
              </a:spcBef>
            </a:pPr>
            <a:endParaRPr lang="en-US" sz="1200" b="0" dirty="0" smtClean="0">
              <a:solidFill>
                <a:schemeClr val="tx1"/>
              </a:solidFill>
              <a:latin typeface="+mn-lt"/>
            </a:endParaRPr>
          </a:p>
          <a:p>
            <a:pPr>
              <a:lnSpc>
                <a:spcPct val="100000"/>
              </a:lnSpc>
              <a:spcBef>
                <a:spcPts val="0"/>
              </a:spcBef>
            </a:pP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3" name="Arc 2"/>
          <p:cNvSpPr/>
          <p:nvPr/>
        </p:nvSpPr>
        <p:spPr>
          <a:xfrm>
            <a:off x="5638800" y="2209800"/>
            <a:ext cx="1257301" cy="1371600"/>
          </a:xfrm>
          <a:prstGeom prst="arc">
            <a:avLst>
              <a:gd name="adj1" fmla="val 10868291"/>
              <a:gd name="adj2" fmla="val 0"/>
            </a:avLst>
          </a:prstGeom>
          <a:ln>
            <a:solidFill>
              <a:srgbClr val="2E8A6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Rectangle 3"/>
          <p:cNvSpPr/>
          <p:nvPr/>
        </p:nvSpPr>
        <p:spPr>
          <a:xfrm>
            <a:off x="5410200" y="2971800"/>
            <a:ext cx="1600200" cy="209910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Securities</a:t>
            </a:r>
          </a:p>
          <a:p>
            <a:pPr algn="ctr"/>
            <a:r>
              <a:rPr lang="en-US" b="1" dirty="0" smtClean="0">
                <a:solidFill>
                  <a:schemeClr val="tx1"/>
                </a:solidFill>
              </a:rPr>
              <a:t>dealers</a:t>
            </a:r>
            <a:endParaRPr lang="en-US" b="1" dirty="0">
              <a:solidFill>
                <a:schemeClr val="tx1"/>
              </a:solidFill>
            </a:endParaRPr>
          </a:p>
        </p:txBody>
      </p:sp>
      <p:sp>
        <p:nvSpPr>
          <p:cNvPr id="16" name="Rectangle 15"/>
          <p:cNvSpPr/>
          <p:nvPr/>
        </p:nvSpPr>
        <p:spPr>
          <a:xfrm>
            <a:off x="2590800" y="2133600"/>
            <a:ext cx="1447800" cy="16764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dirty="0" smtClean="0">
                <a:solidFill>
                  <a:schemeClr val="tx1"/>
                </a:solidFill>
              </a:rPr>
              <a:t>Bilateral cash investors:</a:t>
            </a:r>
          </a:p>
          <a:p>
            <a:pPr marL="114300" indent="-114300">
              <a:buFontTx/>
              <a:buChar char="-"/>
            </a:pPr>
            <a:r>
              <a:rPr lang="en-US" sz="1100" dirty="0" smtClean="0">
                <a:solidFill>
                  <a:schemeClr val="tx1"/>
                </a:solidFill>
              </a:rPr>
              <a:t>Hedge funds</a:t>
            </a:r>
          </a:p>
          <a:p>
            <a:pPr marL="114300" indent="-114300">
              <a:buFontTx/>
              <a:buChar char="-"/>
            </a:pPr>
            <a:r>
              <a:rPr lang="en-US" sz="1100" dirty="0" smtClean="0">
                <a:solidFill>
                  <a:schemeClr val="tx1"/>
                </a:solidFill>
              </a:rPr>
              <a:t>Asset managers</a:t>
            </a:r>
          </a:p>
          <a:p>
            <a:pPr marL="114300" indent="-114300">
              <a:buFontTx/>
              <a:buChar char="-"/>
            </a:pPr>
            <a:r>
              <a:rPr lang="en-US" sz="1100" dirty="0" smtClean="0">
                <a:solidFill>
                  <a:schemeClr val="tx1"/>
                </a:solidFill>
              </a:rPr>
              <a:t>others</a:t>
            </a:r>
            <a:endParaRPr lang="en-US" sz="1100" dirty="0">
              <a:solidFill>
                <a:schemeClr val="tx1"/>
              </a:solidFill>
            </a:endParaRPr>
          </a:p>
        </p:txBody>
      </p:sp>
      <p:sp>
        <p:nvSpPr>
          <p:cNvPr id="19" name="Arc 18"/>
          <p:cNvSpPr/>
          <p:nvPr/>
        </p:nvSpPr>
        <p:spPr>
          <a:xfrm rot="10800000">
            <a:off x="5638801" y="4613701"/>
            <a:ext cx="1257300" cy="1371600"/>
          </a:xfrm>
          <a:prstGeom prst="arc">
            <a:avLst>
              <a:gd name="adj1" fmla="val 10868291"/>
              <a:gd name="adj2" fmla="val 0"/>
            </a:avLst>
          </a:prstGeom>
          <a:ln>
            <a:solidFill>
              <a:srgbClr val="2E8A6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Arc 19"/>
          <p:cNvSpPr/>
          <p:nvPr/>
        </p:nvSpPr>
        <p:spPr>
          <a:xfrm rot="10800000">
            <a:off x="5756910" y="4750861"/>
            <a:ext cx="1005840" cy="1097280"/>
          </a:xfrm>
          <a:prstGeom prst="arc">
            <a:avLst>
              <a:gd name="adj1" fmla="val 10868291"/>
              <a:gd name="adj2" fmla="val 0"/>
            </a:avLst>
          </a:prstGeom>
          <a:ln>
            <a:solidFill>
              <a:srgbClr val="C6642E"/>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Arc 20"/>
          <p:cNvSpPr/>
          <p:nvPr/>
        </p:nvSpPr>
        <p:spPr>
          <a:xfrm>
            <a:off x="5769609" y="2346960"/>
            <a:ext cx="1005841" cy="1097280"/>
          </a:xfrm>
          <a:prstGeom prst="arc">
            <a:avLst>
              <a:gd name="adj1" fmla="val 10868291"/>
              <a:gd name="adj2" fmla="val 0"/>
            </a:avLst>
          </a:prstGeom>
          <a:ln>
            <a:solidFill>
              <a:srgbClr val="C6642E"/>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Rectangle 21"/>
          <p:cNvSpPr/>
          <p:nvPr/>
        </p:nvSpPr>
        <p:spPr>
          <a:xfrm>
            <a:off x="2590800" y="4114800"/>
            <a:ext cx="1447800" cy="1680002"/>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dirty="0" smtClean="0">
                <a:solidFill>
                  <a:schemeClr val="tx1"/>
                </a:solidFill>
              </a:rPr>
              <a:t>Triparty cash investors:</a:t>
            </a:r>
          </a:p>
          <a:p>
            <a:pPr marL="171450" indent="-171450">
              <a:buFontTx/>
              <a:buChar char="-"/>
            </a:pPr>
            <a:r>
              <a:rPr lang="en-US" sz="1100" dirty="0" smtClean="0">
                <a:solidFill>
                  <a:schemeClr val="tx1"/>
                </a:solidFill>
              </a:rPr>
              <a:t>Money market mutual funds</a:t>
            </a:r>
          </a:p>
          <a:p>
            <a:pPr marL="171450" indent="-171450">
              <a:buFontTx/>
              <a:buChar char="-"/>
            </a:pPr>
            <a:r>
              <a:rPr lang="en-US" sz="1100" dirty="0" smtClean="0">
                <a:solidFill>
                  <a:schemeClr val="tx1"/>
                </a:solidFill>
              </a:rPr>
              <a:t>Securities lenders</a:t>
            </a:r>
          </a:p>
          <a:p>
            <a:pPr marL="171450" indent="-171450">
              <a:buFontTx/>
              <a:buChar char="-"/>
            </a:pPr>
            <a:r>
              <a:rPr lang="en-US" sz="1100" dirty="0">
                <a:solidFill>
                  <a:schemeClr val="tx1"/>
                </a:solidFill>
              </a:rPr>
              <a:t>O</a:t>
            </a:r>
            <a:r>
              <a:rPr lang="en-US" sz="1100" dirty="0" smtClean="0">
                <a:solidFill>
                  <a:schemeClr val="tx1"/>
                </a:solidFill>
              </a:rPr>
              <a:t>thers</a:t>
            </a:r>
            <a:endParaRPr lang="en-US" sz="1100" dirty="0">
              <a:solidFill>
                <a:schemeClr val="tx1"/>
              </a:solidFill>
            </a:endParaRPr>
          </a:p>
        </p:txBody>
      </p:sp>
      <p:sp>
        <p:nvSpPr>
          <p:cNvPr id="23" name="Rectangle 22"/>
          <p:cNvSpPr/>
          <p:nvPr/>
        </p:nvSpPr>
        <p:spPr>
          <a:xfrm>
            <a:off x="8286750" y="2971800"/>
            <a:ext cx="1447800" cy="14478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Tx/>
              <a:buChar char="-"/>
            </a:pPr>
            <a:r>
              <a:rPr lang="en-US" sz="1100" dirty="0" smtClean="0">
                <a:solidFill>
                  <a:schemeClr val="tx1"/>
                </a:solidFill>
              </a:rPr>
              <a:t>Prime Brokerage Clients</a:t>
            </a:r>
          </a:p>
          <a:p>
            <a:pPr marL="171450" indent="-171450">
              <a:buFontTx/>
              <a:buChar char="-"/>
            </a:pPr>
            <a:r>
              <a:rPr lang="en-US" sz="1100" dirty="0" smtClean="0">
                <a:solidFill>
                  <a:schemeClr val="tx1"/>
                </a:solidFill>
              </a:rPr>
              <a:t>Hedge funds</a:t>
            </a:r>
          </a:p>
          <a:p>
            <a:pPr marL="171450" indent="-171450">
              <a:buFontTx/>
              <a:buChar char="-"/>
            </a:pPr>
            <a:r>
              <a:rPr lang="en-US" sz="1100" dirty="0" smtClean="0">
                <a:solidFill>
                  <a:schemeClr val="tx1"/>
                </a:solidFill>
              </a:rPr>
              <a:t>Others</a:t>
            </a:r>
            <a:endParaRPr lang="en-US" sz="1100" dirty="0">
              <a:solidFill>
                <a:schemeClr val="tx1"/>
              </a:solidFill>
            </a:endParaRPr>
          </a:p>
        </p:txBody>
      </p:sp>
      <p:sp>
        <p:nvSpPr>
          <p:cNvPr id="24" name="Rectangle 23"/>
          <p:cNvSpPr/>
          <p:nvPr/>
        </p:nvSpPr>
        <p:spPr>
          <a:xfrm>
            <a:off x="8286750" y="5375702"/>
            <a:ext cx="1447800" cy="838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smtClean="0">
              <a:solidFill>
                <a:schemeClr val="tx1"/>
              </a:solidFill>
            </a:endParaRPr>
          </a:p>
        </p:txBody>
      </p:sp>
      <p:cxnSp>
        <p:nvCxnSpPr>
          <p:cNvPr id="6" name="Straight Arrow Connector 5"/>
          <p:cNvCxnSpPr/>
          <p:nvPr/>
        </p:nvCxnSpPr>
        <p:spPr>
          <a:xfrm>
            <a:off x="4191000" y="3200400"/>
            <a:ext cx="1066800" cy="0"/>
          </a:xfrm>
          <a:prstGeom prst="straightConnector1">
            <a:avLst/>
          </a:prstGeom>
          <a:ln>
            <a:solidFill>
              <a:srgbClr val="2E8A6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4184650" y="3352800"/>
            <a:ext cx="1066800" cy="0"/>
          </a:xfrm>
          <a:prstGeom prst="straightConnector1">
            <a:avLst/>
          </a:prstGeom>
          <a:ln>
            <a:solidFill>
              <a:srgbClr val="C6642E"/>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4184650" y="4689902"/>
            <a:ext cx="1066800" cy="0"/>
          </a:xfrm>
          <a:prstGeom prst="straightConnector1">
            <a:avLst/>
          </a:prstGeom>
          <a:ln>
            <a:solidFill>
              <a:srgbClr val="2E8A6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4184650" y="4842302"/>
            <a:ext cx="1066800" cy="0"/>
          </a:xfrm>
          <a:prstGeom prst="straightConnector1">
            <a:avLst/>
          </a:prstGeom>
          <a:ln>
            <a:solidFill>
              <a:srgbClr val="C6642E"/>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7086600" y="4232702"/>
            <a:ext cx="1066800" cy="0"/>
          </a:xfrm>
          <a:prstGeom prst="straightConnector1">
            <a:avLst/>
          </a:prstGeom>
          <a:ln>
            <a:solidFill>
              <a:srgbClr val="2E8A6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7086600" y="4385102"/>
            <a:ext cx="1066800" cy="0"/>
          </a:xfrm>
          <a:prstGeom prst="straightConnector1">
            <a:avLst/>
          </a:prstGeom>
          <a:ln>
            <a:solidFill>
              <a:srgbClr val="C6642E"/>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8477250" y="5712253"/>
            <a:ext cx="1066800" cy="0"/>
          </a:xfrm>
          <a:prstGeom prst="straightConnector1">
            <a:avLst/>
          </a:prstGeom>
          <a:ln>
            <a:solidFill>
              <a:srgbClr val="2E8A6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8477250" y="5985302"/>
            <a:ext cx="1066800" cy="0"/>
          </a:xfrm>
          <a:prstGeom prst="straightConnector1">
            <a:avLst/>
          </a:prstGeom>
          <a:ln>
            <a:solidFill>
              <a:srgbClr val="C6642E"/>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8477250" y="5451902"/>
            <a:ext cx="971550" cy="246221"/>
          </a:xfrm>
          <a:prstGeom prst="rect">
            <a:avLst/>
          </a:prstGeom>
          <a:noFill/>
        </p:spPr>
        <p:txBody>
          <a:bodyPr wrap="square" rtlCol="0">
            <a:spAutoFit/>
          </a:bodyPr>
          <a:lstStyle/>
          <a:p>
            <a:pPr algn="ctr"/>
            <a:r>
              <a:rPr lang="en-US" sz="1000" dirty="0" smtClean="0"/>
              <a:t>Cash</a:t>
            </a:r>
            <a:endParaRPr lang="en-US" sz="1000" dirty="0"/>
          </a:p>
        </p:txBody>
      </p:sp>
      <p:sp>
        <p:nvSpPr>
          <p:cNvPr id="35" name="TextBox 34"/>
          <p:cNvSpPr txBox="1"/>
          <p:nvPr/>
        </p:nvSpPr>
        <p:spPr>
          <a:xfrm>
            <a:off x="8477250" y="5739081"/>
            <a:ext cx="971550" cy="246221"/>
          </a:xfrm>
          <a:prstGeom prst="rect">
            <a:avLst/>
          </a:prstGeom>
          <a:noFill/>
        </p:spPr>
        <p:txBody>
          <a:bodyPr wrap="square" rtlCol="0">
            <a:spAutoFit/>
          </a:bodyPr>
          <a:lstStyle/>
          <a:p>
            <a:pPr algn="ctr"/>
            <a:r>
              <a:rPr lang="en-US" sz="1000" dirty="0" smtClean="0"/>
              <a:t>Securities</a:t>
            </a:r>
            <a:endParaRPr lang="en-US" sz="1000" dirty="0"/>
          </a:p>
        </p:txBody>
      </p:sp>
      <p:sp>
        <p:nvSpPr>
          <p:cNvPr id="36" name="TextBox 35"/>
          <p:cNvSpPr txBox="1"/>
          <p:nvPr/>
        </p:nvSpPr>
        <p:spPr>
          <a:xfrm>
            <a:off x="5755639" y="5404990"/>
            <a:ext cx="971550" cy="246221"/>
          </a:xfrm>
          <a:prstGeom prst="rect">
            <a:avLst/>
          </a:prstGeom>
          <a:noFill/>
        </p:spPr>
        <p:txBody>
          <a:bodyPr wrap="square" rtlCol="0">
            <a:spAutoFit/>
          </a:bodyPr>
          <a:lstStyle/>
          <a:p>
            <a:pPr algn="ctr"/>
            <a:r>
              <a:rPr lang="en-US" sz="1000" dirty="0" smtClean="0"/>
              <a:t>GCF</a:t>
            </a:r>
            <a:endParaRPr lang="en-US" sz="1000" dirty="0"/>
          </a:p>
        </p:txBody>
      </p:sp>
      <p:sp>
        <p:nvSpPr>
          <p:cNvPr id="37" name="TextBox 36"/>
          <p:cNvSpPr txBox="1"/>
          <p:nvPr/>
        </p:nvSpPr>
        <p:spPr>
          <a:xfrm>
            <a:off x="7683500" y="1893729"/>
            <a:ext cx="971550" cy="415498"/>
          </a:xfrm>
          <a:prstGeom prst="rect">
            <a:avLst/>
          </a:prstGeom>
          <a:noFill/>
        </p:spPr>
        <p:txBody>
          <a:bodyPr wrap="square" rtlCol="0">
            <a:spAutoFit/>
          </a:bodyPr>
          <a:lstStyle/>
          <a:p>
            <a:pPr algn="ctr"/>
            <a:r>
              <a:rPr lang="en-US" sz="1050" b="1" dirty="0" smtClean="0"/>
              <a:t>Bilateral repo market</a:t>
            </a:r>
            <a:endParaRPr lang="en-US" sz="1050" b="1" dirty="0"/>
          </a:p>
        </p:txBody>
      </p:sp>
      <p:sp>
        <p:nvSpPr>
          <p:cNvPr id="38" name="TextBox 37"/>
          <p:cNvSpPr txBox="1"/>
          <p:nvPr/>
        </p:nvSpPr>
        <p:spPr>
          <a:xfrm>
            <a:off x="4191000" y="6137702"/>
            <a:ext cx="971550" cy="415498"/>
          </a:xfrm>
          <a:prstGeom prst="rect">
            <a:avLst/>
          </a:prstGeom>
          <a:noFill/>
        </p:spPr>
        <p:txBody>
          <a:bodyPr wrap="square" rtlCol="0">
            <a:spAutoFit/>
          </a:bodyPr>
          <a:lstStyle/>
          <a:p>
            <a:pPr algn="ctr"/>
            <a:r>
              <a:rPr lang="en-US" sz="1050" b="1" dirty="0" smtClean="0"/>
              <a:t>Tri-party </a:t>
            </a:r>
          </a:p>
          <a:p>
            <a:pPr algn="ctr"/>
            <a:r>
              <a:rPr lang="en-US" sz="1050" b="1" dirty="0" smtClean="0"/>
              <a:t>repo markets</a:t>
            </a:r>
            <a:endParaRPr lang="en-US" sz="1050" b="1" dirty="0"/>
          </a:p>
        </p:txBody>
      </p:sp>
      <p:sp>
        <p:nvSpPr>
          <p:cNvPr id="8" name="Oval 7"/>
          <p:cNvSpPr/>
          <p:nvPr/>
        </p:nvSpPr>
        <p:spPr>
          <a:xfrm>
            <a:off x="4114800" y="4385103"/>
            <a:ext cx="1219200" cy="762000"/>
          </a:xfrm>
          <a:prstGeom prst="ellipse">
            <a:avLst/>
          </a:prstGeom>
          <a:noFill/>
          <a:ln w="9525">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8197850" y="6334154"/>
            <a:ext cx="1524000" cy="776645"/>
          </a:xfrm>
          <a:prstGeom prst="ellipse">
            <a:avLst/>
          </a:prstGeom>
          <a:noFill/>
          <a:ln w="9525">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p:nvPr/>
        </p:nvCxnSpPr>
        <p:spPr>
          <a:xfrm flipV="1">
            <a:off x="4800600" y="5223302"/>
            <a:ext cx="152400" cy="838199"/>
          </a:xfrm>
          <a:prstGeom prst="straightConnector1">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4800600" y="5794802"/>
            <a:ext cx="685800" cy="266699"/>
          </a:xfrm>
          <a:prstGeom prst="straightConnector1">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a:off x="6727189" y="2209800"/>
            <a:ext cx="1121411" cy="99427"/>
          </a:xfrm>
          <a:prstGeom prst="straightConnector1">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H="1">
            <a:off x="5029200" y="2209800"/>
            <a:ext cx="2819400" cy="838200"/>
          </a:xfrm>
          <a:prstGeom prst="straightConnector1">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H="1">
            <a:off x="7467600" y="2209800"/>
            <a:ext cx="381000" cy="1905000"/>
          </a:xfrm>
          <a:prstGeom prst="straightConnector1">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4191000" y="1407527"/>
            <a:ext cx="4038600" cy="0"/>
          </a:xfrm>
          <a:prstGeom prst="line">
            <a:avLst/>
          </a:prstGeom>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5162549" y="1238250"/>
            <a:ext cx="2095501" cy="338554"/>
          </a:xfrm>
          <a:prstGeom prst="rect">
            <a:avLst/>
          </a:prstGeom>
          <a:solidFill>
            <a:schemeClr val="bg1"/>
          </a:solidFill>
        </p:spPr>
        <p:txBody>
          <a:bodyPr wrap="square" rtlCol="0">
            <a:spAutoFit/>
          </a:bodyPr>
          <a:lstStyle/>
          <a:p>
            <a:pPr algn="ctr"/>
            <a:r>
              <a:rPr lang="en-US" sz="1600" dirty="0" smtClean="0"/>
              <a:t>U.S. Repo Market</a:t>
            </a:r>
            <a:endParaRPr lang="en-US" sz="1600" dirty="0"/>
          </a:p>
        </p:txBody>
      </p:sp>
      <p:sp>
        <p:nvSpPr>
          <p:cNvPr id="39" name="TextBox 38"/>
          <p:cNvSpPr txBox="1"/>
          <p:nvPr/>
        </p:nvSpPr>
        <p:spPr>
          <a:xfrm>
            <a:off x="2455549" y="6863224"/>
            <a:ext cx="4631051" cy="369332"/>
          </a:xfrm>
          <a:prstGeom prst="rect">
            <a:avLst/>
          </a:prstGeom>
          <a:noFill/>
        </p:spPr>
        <p:txBody>
          <a:bodyPr wrap="square" rtlCol="0">
            <a:spAutoFit/>
          </a:bodyPr>
          <a:lstStyle/>
          <a:p>
            <a:r>
              <a:rPr lang="en-US" sz="900" i="1" dirty="0" smtClean="0">
                <a:latin typeface="Calibri" panose="020F0502020204030204" pitchFamily="34" charset="0"/>
              </a:rPr>
              <a:t>Source: </a:t>
            </a:r>
            <a:r>
              <a:rPr lang="en-US" sz="900" i="1" dirty="0">
                <a:latin typeface="Calibri" panose="020F0502020204030204" pitchFamily="34" charset="0"/>
              </a:rPr>
              <a:t> </a:t>
            </a:r>
            <a:r>
              <a:rPr lang="en-US" sz="900" i="1" dirty="0" smtClean="0">
                <a:latin typeface="Calibri" panose="020F0502020204030204" pitchFamily="34" charset="0"/>
              </a:rPr>
              <a:t>Adapted from “A Reference Guide to U.S. Repo and Securities Lending Markets”, </a:t>
            </a:r>
            <a:r>
              <a:rPr lang="en-US" sz="900" i="1" dirty="0" err="1" smtClean="0">
                <a:latin typeface="Calibri" panose="020F0502020204030204" pitchFamily="34" charset="0"/>
              </a:rPr>
              <a:t>Baklanova</a:t>
            </a:r>
            <a:r>
              <a:rPr lang="en-US" sz="900" i="1" dirty="0" smtClean="0">
                <a:latin typeface="Calibri" panose="020F0502020204030204" pitchFamily="34" charset="0"/>
              </a:rPr>
              <a:t> et al (2015).</a:t>
            </a:r>
            <a:endParaRPr lang="en-US" sz="900" i="1" dirty="0">
              <a:latin typeface="Calibri" panose="020F0502020204030204" pitchFamily="34" charset="0"/>
            </a:endParaRPr>
          </a:p>
        </p:txBody>
      </p:sp>
      <p:sp>
        <p:nvSpPr>
          <p:cNvPr id="42" name="Oval 41"/>
          <p:cNvSpPr/>
          <p:nvPr/>
        </p:nvSpPr>
        <p:spPr>
          <a:xfrm>
            <a:off x="5486400" y="5094356"/>
            <a:ext cx="1524000" cy="961311"/>
          </a:xfrm>
          <a:prstGeom prst="ellipse">
            <a:avLst/>
          </a:prstGeom>
          <a:noFill/>
          <a:ln w="9525">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p:cNvSpPr txBox="1"/>
          <p:nvPr/>
        </p:nvSpPr>
        <p:spPr>
          <a:xfrm>
            <a:off x="8324531" y="6445993"/>
            <a:ext cx="1276987" cy="584775"/>
          </a:xfrm>
          <a:prstGeom prst="rect">
            <a:avLst/>
          </a:prstGeom>
          <a:noFill/>
        </p:spPr>
        <p:txBody>
          <a:bodyPr wrap="square" rtlCol="0">
            <a:spAutoFit/>
          </a:bodyPr>
          <a:lstStyle/>
          <a:p>
            <a:r>
              <a:rPr lang="en-US" sz="800" dirty="0" smtClean="0"/>
              <a:t>A clearing bank settles the repo on its balance sheet and provides collateral management</a:t>
            </a:r>
            <a:endParaRPr lang="en-US" sz="800" dirty="0"/>
          </a:p>
        </p:txBody>
      </p:sp>
    </p:spTree>
    <p:extLst>
      <p:ext uri="{BB962C8B-B14F-4D97-AF65-F5344CB8AC3E}">
        <p14:creationId xmlns:p14="http://schemas.microsoft.com/office/powerpoint/2010/main" val="11283635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smtClean="0"/>
              <a:t>U.S. REPO </a:t>
            </a:r>
            <a:r>
              <a:rPr lang="en-US" dirty="0" smtClean="0"/>
              <a:t>MARKET IS OF SIGNIFICANT SIZE</a:t>
            </a:r>
            <a:endParaRPr lang="en-US" dirty="0"/>
          </a:p>
        </p:txBody>
      </p:sp>
      <p:sp>
        <p:nvSpPr>
          <p:cNvPr id="73"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100" b="0" dirty="0" smtClean="0">
                <a:solidFill>
                  <a:schemeClr val="tx1"/>
                </a:solidFill>
                <a:latin typeface="+mn-lt"/>
              </a:rPr>
              <a:t>U.S. repo market volumes can be divided into two segments, based on differences in settlement: triparty repo and bilateral repo. </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GCF Repo is considered part of triparty repo as it settles on the triparty platform. It is designed for FICC’s netting members to trade cash and securities amongst themselves based on negotiated rates and terms. </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A repo trade between primary dealers shows up twice in Federal Reserve data as repo and reverse repo, representing both sides of the trade. Summing both numbers would result in double-counting.</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Some repo activity takes place without a dealer acting as an intermediary as with the Fed’s RRP program. This facility allows financial institutions to invest cash directly with the Fed on a tri-party basis. The most active RRP participants are MMFs.</a:t>
            </a:r>
            <a:endParaRPr lang="en-US" sz="1100" b="0" dirty="0">
              <a:solidFill>
                <a:schemeClr val="tx1"/>
              </a:solidFill>
              <a:latin typeface="+mn-lt"/>
            </a:endParaRPr>
          </a:p>
          <a:p>
            <a:endParaRPr lang="en-US" sz="1100" dirty="0" smtClean="0"/>
          </a:p>
        </p:txBody>
      </p:sp>
      <p:graphicFrame>
        <p:nvGraphicFramePr>
          <p:cNvPr id="6" name="Table 5"/>
          <p:cNvGraphicFramePr>
            <a:graphicFrameLocks noGrp="1"/>
          </p:cNvGraphicFramePr>
          <p:nvPr>
            <p:extLst>
              <p:ext uri="{D42A27DB-BD31-4B8C-83A1-F6EECF244321}">
                <p14:modId xmlns:p14="http://schemas.microsoft.com/office/powerpoint/2010/main" val="1776740520"/>
              </p:ext>
            </p:extLst>
          </p:nvPr>
        </p:nvGraphicFramePr>
        <p:xfrm>
          <a:off x="2743200" y="1219200"/>
          <a:ext cx="6705600" cy="3337560"/>
        </p:xfrm>
        <a:graphic>
          <a:graphicData uri="http://schemas.openxmlformats.org/drawingml/2006/table">
            <a:tbl>
              <a:tblPr>
                <a:tableStyleId>{2D5ABB26-0587-4C30-8999-92F81FD0307C}</a:tableStyleId>
              </a:tblPr>
              <a:tblGrid>
                <a:gridCol w="1117600"/>
                <a:gridCol w="1397000"/>
                <a:gridCol w="1047750"/>
                <a:gridCol w="1047750"/>
                <a:gridCol w="1047750"/>
                <a:gridCol w="1047750"/>
              </a:tblGrid>
              <a:tr h="370840">
                <a:tc>
                  <a:txBody>
                    <a:bodyPr/>
                    <a:lstStyle/>
                    <a:p>
                      <a:endParaRPr lang="en-US" sz="1050" dirty="0"/>
                    </a:p>
                  </a:txBody>
                  <a:tcPr anchor="ctr"/>
                </a:tc>
                <a:tc>
                  <a:txBody>
                    <a:bodyPr/>
                    <a:lstStyle/>
                    <a:p>
                      <a:endParaRPr lang="en-US" sz="1050" dirty="0"/>
                    </a:p>
                  </a:txBody>
                  <a:tcPr anchor="ctr"/>
                </a:tc>
                <a:tc gridSpan="2">
                  <a:txBody>
                    <a:bodyPr/>
                    <a:lstStyle/>
                    <a:p>
                      <a:pPr algn="ctr"/>
                      <a:r>
                        <a:rPr lang="en-US" sz="1100" b="1" dirty="0" smtClean="0">
                          <a:solidFill>
                            <a:schemeClr val="accent1"/>
                          </a:solidFill>
                        </a:rPr>
                        <a:t>Asset</a:t>
                      </a:r>
                      <a:endParaRPr lang="en-US" sz="1100" b="1" dirty="0">
                        <a:solidFill>
                          <a:schemeClr val="accent1"/>
                        </a:solidFill>
                      </a:endParaRPr>
                    </a:p>
                  </a:txBody>
                  <a:tcPr anchor="ctr">
                    <a:lnR w="12700" cap="flat" cmpd="sng" algn="ctr">
                      <a:solidFill>
                        <a:schemeClr val="accent1"/>
                      </a:solidFill>
                      <a:prstDash val="solid"/>
                      <a:round/>
                      <a:headEnd type="none" w="med" len="med"/>
                      <a:tailEnd type="none" w="med" len="med"/>
                    </a:lnR>
                  </a:tcPr>
                </a:tc>
                <a:tc hMerge="1">
                  <a:txBody>
                    <a:bodyPr/>
                    <a:lstStyle/>
                    <a:p>
                      <a:endParaRPr lang="en-US" sz="1050" dirty="0"/>
                    </a:p>
                  </a:txBody>
                  <a:tcPr anchor="ctr"/>
                </a:tc>
                <a:tc gridSpan="2">
                  <a:txBody>
                    <a:bodyPr/>
                    <a:lstStyle/>
                    <a:p>
                      <a:pPr algn="ctr"/>
                      <a:r>
                        <a:rPr lang="en-US" sz="1100" b="1" dirty="0" smtClean="0">
                          <a:solidFill>
                            <a:schemeClr val="accent1"/>
                          </a:solidFill>
                        </a:rPr>
                        <a:t>Liabilities</a:t>
                      </a:r>
                      <a:endParaRPr lang="en-US" sz="1100" b="1" dirty="0">
                        <a:solidFill>
                          <a:schemeClr val="accent1"/>
                        </a:solidFill>
                      </a:endParaRPr>
                    </a:p>
                  </a:txBody>
                  <a:tcPr anchor="ctr">
                    <a:lnL w="12700" cap="flat" cmpd="sng" algn="ctr">
                      <a:solidFill>
                        <a:schemeClr val="accent1"/>
                      </a:solidFill>
                      <a:prstDash val="solid"/>
                      <a:round/>
                      <a:headEnd type="none" w="med" len="med"/>
                      <a:tailEnd type="none" w="med" len="med"/>
                    </a:lnL>
                  </a:tcPr>
                </a:tc>
                <a:tc hMerge="1">
                  <a:txBody>
                    <a:bodyPr/>
                    <a:lstStyle/>
                    <a:p>
                      <a:endParaRPr lang="en-US" sz="1050" dirty="0"/>
                    </a:p>
                  </a:txBody>
                  <a:tcPr anchor="ctr"/>
                </a:tc>
              </a:tr>
              <a:tr h="370840">
                <a:tc>
                  <a:txBody>
                    <a:bodyPr/>
                    <a:lstStyle/>
                    <a:p>
                      <a:endParaRPr lang="en-US" sz="1050" dirty="0"/>
                    </a:p>
                  </a:txBody>
                  <a:tcPr anchor="ctr"/>
                </a:tc>
                <a:tc>
                  <a:txBody>
                    <a:bodyPr/>
                    <a:lstStyle/>
                    <a:p>
                      <a:endParaRPr lang="en-US" sz="1050" dirty="0"/>
                    </a:p>
                  </a:txBody>
                  <a:tcPr anchor="ctr"/>
                </a:tc>
                <a:tc gridSpan="2">
                  <a:txBody>
                    <a:bodyPr/>
                    <a:lstStyle/>
                    <a:p>
                      <a:pPr algn="ctr"/>
                      <a:r>
                        <a:rPr lang="en-US" sz="1050" b="1" dirty="0" smtClean="0"/>
                        <a:t>Reverse Repo</a:t>
                      </a:r>
                      <a:endParaRPr lang="en-US" sz="1050" b="1" dirty="0"/>
                    </a:p>
                  </a:txBody>
                  <a:tcPr anchor="ctr">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sz="1050" dirty="0"/>
                    </a:p>
                  </a:txBody>
                  <a:tcPr anchor="ctr"/>
                </a:tc>
                <a:tc gridSpan="2">
                  <a:txBody>
                    <a:bodyPr/>
                    <a:lstStyle/>
                    <a:p>
                      <a:pPr algn="ctr"/>
                      <a:r>
                        <a:rPr lang="en-US" sz="1050" b="1" dirty="0" smtClean="0"/>
                        <a:t>Repo</a:t>
                      </a:r>
                      <a:endParaRPr lang="en-US" sz="1050" b="1" dirty="0"/>
                    </a:p>
                  </a:txBody>
                  <a:tcPr anchor="ctr">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hMerge="1">
                  <a:txBody>
                    <a:bodyPr/>
                    <a:lstStyle/>
                    <a:p>
                      <a:endParaRPr lang="en-US" sz="1050" dirty="0"/>
                    </a:p>
                  </a:txBody>
                  <a:tcPr anchor="ctr"/>
                </a:tc>
              </a:tr>
              <a:tr h="370840">
                <a:tc>
                  <a:txBody>
                    <a:bodyPr/>
                    <a:lstStyle/>
                    <a:p>
                      <a:endParaRPr lang="en-US" sz="1050" dirty="0"/>
                    </a:p>
                  </a:txBody>
                  <a:tcPr anchor="ctr">
                    <a:lnB w="12700" cap="flat" cmpd="sng" algn="ctr">
                      <a:solidFill>
                        <a:schemeClr val="accent1"/>
                      </a:solidFill>
                      <a:prstDash val="solid"/>
                      <a:round/>
                      <a:headEnd type="none" w="med" len="med"/>
                      <a:tailEnd type="none" w="med" len="med"/>
                    </a:lnB>
                  </a:tcPr>
                </a:tc>
                <a:tc>
                  <a:txBody>
                    <a:bodyPr/>
                    <a:lstStyle/>
                    <a:p>
                      <a:endParaRPr lang="en-US" sz="1050" dirty="0"/>
                    </a:p>
                  </a:txBody>
                  <a:tcPr anchor="ctr">
                    <a:lnB w="12700" cap="flat" cmpd="sng" algn="ctr">
                      <a:solidFill>
                        <a:schemeClr val="accent1"/>
                      </a:solidFill>
                      <a:prstDash val="solid"/>
                      <a:round/>
                      <a:headEnd type="none" w="med" len="med"/>
                      <a:tailEnd type="none" w="med" len="med"/>
                    </a:lnB>
                  </a:tcPr>
                </a:tc>
                <a:tc>
                  <a:txBody>
                    <a:bodyPr/>
                    <a:lstStyle/>
                    <a:p>
                      <a:pPr algn="ctr"/>
                      <a:r>
                        <a:rPr lang="en-US" sz="1050" b="1" dirty="0" smtClean="0"/>
                        <a:t>$ billions</a:t>
                      </a:r>
                      <a:endParaRPr lang="en-US" sz="1050" b="1" dirty="0"/>
                    </a:p>
                  </a:txBody>
                  <a:tcPr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1050" b="1" dirty="0" smtClean="0"/>
                        <a:t>%</a:t>
                      </a:r>
                      <a:endParaRPr lang="en-US" sz="1050" b="1" dirty="0"/>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1050" b="1" dirty="0" smtClean="0"/>
                        <a:t>$ billions</a:t>
                      </a:r>
                      <a:endParaRPr lang="en-US" sz="1050" b="1"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1050" b="1" dirty="0" smtClean="0"/>
                        <a:t>%</a:t>
                      </a:r>
                      <a:endParaRPr lang="en-US" sz="1050" b="1" dirty="0"/>
                    </a:p>
                  </a:txBody>
                  <a:tcPr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r>
              <a:tr h="370840">
                <a:tc rowSpan="6">
                  <a:txBody>
                    <a:bodyPr/>
                    <a:lstStyle/>
                    <a:p>
                      <a:pPr algn="ctr"/>
                      <a:r>
                        <a:rPr lang="en-US" sz="1200" b="1" dirty="0" smtClean="0"/>
                        <a:t>Dealer Repo</a:t>
                      </a:r>
                      <a:endParaRPr lang="en-US" sz="1200" b="1" dirty="0"/>
                    </a:p>
                  </a:txBody>
                  <a:tcPr vert="vert27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sz="1050" dirty="0" smtClean="0">
                          <a:solidFill>
                            <a:schemeClr val="accent1"/>
                          </a:solidFill>
                        </a:rPr>
                        <a:t>Triparty (Total)</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a:r>
                        <a:rPr lang="en-US" sz="1050" dirty="0" smtClean="0">
                          <a:solidFill>
                            <a:schemeClr val="accent1"/>
                          </a:solidFill>
                        </a:rPr>
                        <a:t>305</a:t>
                      </a:r>
                      <a:endParaRPr lang="en-US" sz="1050" dirty="0">
                        <a:solidFill>
                          <a:schemeClr val="accent1"/>
                        </a:solidFill>
                      </a:endParaRPr>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tcPr>
                </a:tc>
                <a:tc>
                  <a:txBody>
                    <a:bodyPr/>
                    <a:lstStyle/>
                    <a:p>
                      <a:pPr algn="ctr"/>
                      <a:r>
                        <a:rPr lang="en-US" sz="1050" dirty="0" smtClean="0">
                          <a:solidFill>
                            <a:schemeClr val="accent1"/>
                          </a:solidFill>
                        </a:rPr>
                        <a:t>13%</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a:r>
                        <a:rPr lang="en-US" sz="1050" dirty="0" smtClean="0">
                          <a:solidFill>
                            <a:schemeClr val="accent1"/>
                          </a:solidFill>
                        </a:rPr>
                        <a:t>1,839</a:t>
                      </a:r>
                      <a:endParaRPr lang="en-US" sz="1050" dirty="0">
                        <a:solidFill>
                          <a:schemeClr val="accent1"/>
                        </a:solidFill>
                      </a:endParaRPr>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tcPr>
                </a:tc>
                <a:tc>
                  <a:txBody>
                    <a:bodyPr/>
                    <a:lstStyle/>
                    <a:p>
                      <a:pPr algn="ctr"/>
                      <a:r>
                        <a:rPr lang="en-US" sz="1050" dirty="0" smtClean="0">
                          <a:solidFill>
                            <a:schemeClr val="accent1"/>
                          </a:solidFill>
                        </a:rPr>
                        <a:t>54%</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r>
              <a:tr h="370840">
                <a:tc vMerge="1">
                  <a:txBody>
                    <a:bodyPr/>
                    <a:lstStyle/>
                    <a:p>
                      <a:endParaRPr lang="en-US" sz="1050" dirty="0"/>
                    </a:p>
                  </a:txBody>
                  <a:tcPr anchor="ctr"/>
                </a:tc>
                <a:tc>
                  <a:txBody>
                    <a:bodyPr/>
                    <a:lstStyle/>
                    <a:p>
                      <a:pPr algn="ctr"/>
                      <a:r>
                        <a:rPr lang="en-US" sz="1050" i="1" dirty="0" err="1" smtClean="0">
                          <a:solidFill>
                            <a:schemeClr val="accent1"/>
                          </a:solidFill>
                        </a:rPr>
                        <a:t>exGCF</a:t>
                      </a:r>
                      <a:endParaRPr lang="en-US" sz="1050" i="1" dirty="0">
                        <a:solidFill>
                          <a:schemeClr val="accent1"/>
                        </a:solidFill>
                      </a:endParaRPr>
                    </a:p>
                  </a:txBody>
                  <a:tcPr anchor="ctr">
                    <a:lnR w="12700" cap="flat" cmpd="sng" algn="ctr">
                      <a:solidFill>
                        <a:schemeClr val="accent1"/>
                      </a:solidFill>
                      <a:prstDash val="solid"/>
                      <a:round/>
                      <a:headEnd type="none" w="med" len="med"/>
                      <a:tailEnd type="none" w="med" len="med"/>
                    </a:lnR>
                  </a:tcPr>
                </a:tc>
                <a:tc>
                  <a:txBody>
                    <a:bodyPr/>
                    <a:lstStyle/>
                    <a:p>
                      <a:pPr algn="ctr"/>
                      <a:r>
                        <a:rPr lang="en-US" sz="1050" i="1" dirty="0" smtClean="0">
                          <a:solidFill>
                            <a:schemeClr val="accent1"/>
                          </a:solidFill>
                        </a:rPr>
                        <a:t>-</a:t>
                      </a:r>
                      <a:endParaRPr lang="en-US" sz="1050" i="1" dirty="0">
                        <a:solidFill>
                          <a:schemeClr val="accent1"/>
                        </a:solidFill>
                      </a:endParaRPr>
                    </a:p>
                  </a:txBody>
                  <a:tcPr anchor="ctr">
                    <a:lnL w="12700" cap="flat" cmpd="sng" algn="ctr">
                      <a:solidFill>
                        <a:schemeClr val="accent1"/>
                      </a:solidFill>
                      <a:prstDash val="solid"/>
                      <a:round/>
                      <a:headEnd type="none" w="med" len="med"/>
                      <a:tailEnd type="none" w="med" len="med"/>
                    </a:lnL>
                  </a:tcPr>
                </a:tc>
                <a:tc>
                  <a:txBody>
                    <a:bodyPr/>
                    <a:lstStyle/>
                    <a:p>
                      <a:pPr algn="ctr"/>
                      <a:r>
                        <a:rPr lang="en-US" sz="1050" i="1" dirty="0" smtClean="0">
                          <a:solidFill>
                            <a:schemeClr val="accent1"/>
                          </a:solidFill>
                        </a:rPr>
                        <a:t>0%</a:t>
                      </a:r>
                      <a:endParaRPr lang="en-US" sz="1050" i="1" dirty="0">
                        <a:solidFill>
                          <a:schemeClr val="accent1"/>
                        </a:solidFill>
                      </a:endParaRPr>
                    </a:p>
                  </a:txBody>
                  <a:tcPr anchor="ctr">
                    <a:lnR w="12700" cap="flat" cmpd="sng" algn="ctr">
                      <a:solidFill>
                        <a:schemeClr val="accent1"/>
                      </a:solidFill>
                      <a:prstDash val="solid"/>
                      <a:round/>
                      <a:headEnd type="none" w="med" len="med"/>
                      <a:tailEnd type="none" w="med" len="med"/>
                    </a:lnR>
                  </a:tcPr>
                </a:tc>
                <a:tc>
                  <a:txBody>
                    <a:bodyPr/>
                    <a:lstStyle/>
                    <a:p>
                      <a:pPr algn="ctr"/>
                      <a:r>
                        <a:rPr lang="en-US" sz="1050" i="1" dirty="0" smtClean="0">
                          <a:solidFill>
                            <a:schemeClr val="accent1"/>
                          </a:solidFill>
                        </a:rPr>
                        <a:t>1,534</a:t>
                      </a:r>
                      <a:endParaRPr lang="en-US" sz="1050" i="1" dirty="0">
                        <a:solidFill>
                          <a:schemeClr val="accent1"/>
                        </a:solidFill>
                      </a:endParaRPr>
                    </a:p>
                  </a:txBody>
                  <a:tcPr anchor="ctr">
                    <a:lnL w="12700" cap="flat" cmpd="sng" algn="ctr">
                      <a:solidFill>
                        <a:schemeClr val="accent1"/>
                      </a:solidFill>
                      <a:prstDash val="solid"/>
                      <a:round/>
                      <a:headEnd type="none" w="med" len="med"/>
                      <a:tailEnd type="none" w="med" len="med"/>
                    </a:lnL>
                  </a:tcPr>
                </a:tc>
                <a:tc>
                  <a:txBody>
                    <a:bodyPr/>
                    <a:lstStyle/>
                    <a:p>
                      <a:pPr algn="ctr"/>
                      <a:r>
                        <a:rPr lang="en-US" sz="1050" i="1" dirty="0" smtClean="0">
                          <a:solidFill>
                            <a:schemeClr val="accent1"/>
                          </a:solidFill>
                        </a:rPr>
                        <a:t>45%</a:t>
                      </a:r>
                      <a:endParaRPr lang="en-US" sz="1050" i="1" dirty="0">
                        <a:solidFill>
                          <a:schemeClr val="accent1"/>
                        </a:solidFill>
                      </a:endParaRPr>
                    </a:p>
                  </a:txBody>
                  <a:tcPr anchor="ctr">
                    <a:lnR w="12700" cap="flat" cmpd="sng" algn="ctr">
                      <a:solidFill>
                        <a:schemeClr val="accent1"/>
                      </a:solidFill>
                      <a:prstDash val="solid"/>
                      <a:round/>
                      <a:headEnd type="none" w="med" len="med"/>
                      <a:tailEnd type="none" w="med" len="med"/>
                    </a:lnR>
                  </a:tcPr>
                </a:tc>
              </a:tr>
              <a:tr h="370840">
                <a:tc vMerge="1">
                  <a:txBody>
                    <a:bodyPr/>
                    <a:lstStyle/>
                    <a:p>
                      <a:endParaRPr lang="en-US" sz="1050" dirty="0"/>
                    </a:p>
                  </a:txBody>
                  <a:tcPr anchor="ctr"/>
                </a:tc>
                <a:tc>
                  <a:txBody>
                    <a:bodyPr/>
                    <a:lstStyle/>
                    <a:p>
                      <a:pPr algn="ctr"/>
                      <a:r>
                        <a:rPr lang="en-US" sz="1050" i="1" dirty="0" smtClean="0">
                          <a:solidFill>
                            <a:schemeClr val="accent1"/>
                          </a:solidFill>
                        </a:rPr>
                        <a:t>GCF</a:t>
                      </a:r>
                      <a:endParaRPr lang="en-US" sz="1050" i="1" dirty="0">
                        <a:solidFill>
                          <a:schemeClr val="accent1"/>
                        </a:solidFill>
                      </a:endParaRPr>
                    </a:p>
                  </a:txBody>
                  <a:tcPr anchor="ctr">
                    <a:lnR w="12700" cap="flat" cmpd="sng" algn="ctr">
                      <a:solidFill>
                        <a:schemeClr val="accent1"/>
                      </a:solidFill>
                      <a:prstDash val="solid"/>
                      <a:round/>
                      <a:headEnd type="none" w="med" len="med"/>
                      <a:tailEnd type="none" w="med" len="med"/>
                    </a:lnR>
                  </a:tcPr>
                </a:tc>
                <a:tc>
                  <a:txBody>
                    <a:bodyPr/>
                    <a:lstStyle/>
                    <a:p>
                      <a:pPr algn="ctr"/>
                      <a:r>
                        <a:rPr lang="en-US" sz="1050" i="1" dirty="0" smtClean="0">
                          <a:solidFill>
                            <a:schemeClr val="accent1"/>
                          </a:solidFill>
                        </a:rPr>
                        <a:t>305</a:t>
                      </a:r>
                      <a:endParaRPr lang="en-US" sz="1050" i="1" dirty="0">
                        <a:solidFill>
                          <a:schemeClr val="accent1"/>
                        </a:solidFill>
                      </a:endParaRPr>
                    </a:p>
                  </a:txBody>
                  <a:tcPr anchor="ctr">
                    <a:lnL w="12700" cap="flat" cmpd="sng" algn="ctr">
                      <a:solidFill>
                        <a:schemeClr val="accent1"/>
                      </a:solidFill>
                      <a:prstDash val="solid"/>
                      <a:round/>
                      <a:headEnd type="none" w="med" len="med"/>
                      <a:tailEnd type="none" w="med" len="med"/>
                    </a:lnL>
                  </a:tcPr>
                </a:tc>
                <a:tc>
                  <a:txBody>
                    <a:bodyPr/>
                    <a:lstStyle/>
                    <a:p>
                      <a:pPr algn="ctr"/>
                      <a:r>
                        <a:rPr lang="en-US" sz="1050" i="1" dirty="0" smtClean="0">
                          <a:solidFill>
                            <a:schemeClr val="accent1"/>
                          </a:solidFill>
                        </a:rPr>
                        <a:t>13%</a:t>
                      </a:r>
                      <a:endParaRPr lang="en-US" sz="1050" i="1" dirty="0">
                        <a:solidFill>
                          <a:schemeClr val="accent1"/>
                        </a:solidFill>
                      </a:endParaRPr>
                    </a:p>
                  </a:txBody>
                  <a:tcPr anchor="ctr">
                    <a:lnR w="12700" cap="flat" cmpd="sng" algn="ctr">
                      <a:solidFill>
                        <a:schemeClr val="accent1"/>
                      </a:solidFill>
                      <a:prstDash val="solid"/>
                      <a:round/>
                      <a:headEnd type="none" w="med" len="med"/>
                      <a:tailEnd type="none" w="med" len="med"/>
                    </a:lnR>
                  </a:tcPr>
                </a:tc>
                <a:tc>
                  <a:txBody>
                    <a:bodyPr/>
                    <a:lstStyle/>
                    <a:p>
                      <a:pPr algn="ctr"/>
                      <a:r>
                        <a:rPr lang="en-US" sz="1050" i="1" dirty="0" smtClean="0">
                          <a:solidFill>
                            <a:schemeClr val="accent1"/>
                          </a:solidFill>
                        </a:rPr>
                        <a:t>305</a:t>
                      </a:r>
                      <a:endParaRPr lang="en-US" sz="1050" i="1" dirty="0">
                        <a:solidFill>
                          <a:schemeClr val="accent1"/>
                        </a:solidFill>
                      </a:endParaRPr>
                    </a:p>
                  </a:txBody>
                  <a:tcPr anchor="ctr">
                    <a:lnL w="12700" cap="flat" cmpd="sng" algn="ctr">
                      <a:solidFill>
                        <a:schemeClr val="accent1"/>
                      </a:solidFill>
                      <a:prstDash val="solid"/>
                      <a:round/>
                      <a:headEnd type="none" w="med" len="med"/>
                      <a:tailEnd type="none" w="med" len="med"/>
                    </a:lnL>
                  </a:tcPr>
                </a:tc>
                <a:tc>
                  <a:txBody>
                    <a:bodyPr/>
                    <a:lstStyle/>
                    <a:p>
                      <a:pPr algn="ctr"/>
                      <a:r>
                        <a:rPr lang="en-US" sz="1050" i="1" dirty="0" smtClean="0">
                          <a:solidFill>
                            <a:schemeClr val="accent1"/>
                          </a:solidFill>
                        </a:rPr>
                        <a:t>9%</a:t>
                      </a:r>
                      <a:endParaRPr lang="en-US" sz="1050" i="1" dirty="0">
                        <a:solidFill>
                          <a:schemeClr val="accent1"/>
                        </a:solidFill>
                      </a:endParaRPr>
                    </a:p>
                  </a:txBody>
                  <a:tcPr anchor="ctr">
                    <a:lnR w="12700" cap="flat" cmpd="sng" algn="ctr">
                      <a:solidFill>
                        <a:schemeClr val="accent1"/>
                      </a:solidFill>
                      <a:prstDash val="solid"/>
                      <a:round/>
                      <a:headEnd type="none" w="med" len="med"/>
                      <a:tailEnd type="none" w="med" len="med"/>
                    </a:lnR>
                  </a:tcPr>
                </a:tc>
              </a:tr>
              <a:tr h="370840">
                <a:tc vMerge="1">
                  <a:txBody>
                    <a:bodyPr/>
                    <a:lstStyle/>
                    <a:p>
                      <a:endParaRPr lang="en-US" sz="1050" dirty="0"/>
                    </a:p>
                  </a:txBody>
                  <a:tcPr anchor="ctr"/>
                </a:tc>
                <a:tc>
                  <a:txBody>
                    <a:bodyPr/>
                    <a:lstStyle/>
                    <a:p>
                      <a:r>
                        <a:rPr lang="en-US" sz="1050" dirty="0" smtClean="0">
                          <a:solidFill>
                            <a:schemeClr val="accent1"/>
                          </a:solidFill>
                        </a:rPr>
                        <a:t>Fed*</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tcPr>
                </a:tc>
                <a:tc>
                  <a:txBody>
                    <a:bodyPr/>
                    <a:lstStyle/>
                    <a:p>
                      <a:pPr algn="ctr"/>
                      <a:r>
                        <a:rPr lang="en-US" sz="1050" dirty="0" smtClean="0">
                          <a:solidFill>
                            <a:schemeClr val="accent1"/>
                          </a:solidFill>
                        </a:rPr>
                        <a:t>-</a:t>
                      </a:r>
                      <a:endParaRPr lang="en-US" sz="1050" dirty="0">
                        <a:solidFill>
                          <a:schemeClr val="accent1"/>
                        </a:solidFill>
                      </a:endParaRPr>
                    </a:p>
                  </a:txBody>
                  <a:tcPr anchor="ctr">
                    <a:lnL w="12700" cap="flat" cmpd="sng" algn="ctr">
                      <a:solidFill>
                        <a:schemeClr val="accent1"/>
                      </a:solidFill>
                      <a:prstDash val="solid"/>
                      <a:round/>
                      <a:headEnd type="none" w="med" len="med"/>
                      <a:tailEnd type="none" w="med" len="med"/>
                    </a:lnL>
                  </a:tcPr>
                </a:tc>
                <a:tc>
                  <a:txBody>
                    <a:bodyPr/>
                    <a:lstStyle/>
                    <a:p>
                      <a:pPr algn="ctr"/>
                      <a:r>
                        <a:rPr lang="en-US" sz="1050" dirty="0" smtClean="0">
                          <a:solidFill>
                            <a:schemeClr val="accent1"/>
                          </a:solidFill>
                        </a:rPr>
                        <a:t>0%</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tcPr>
                </a:tc>
                <a:tc>
                  <a:txBody>
                    <a:bodyPr/>
                    <a:lstStyle/>
                    <a:p>
                      <a:pPr algn="ctr"/>
                      <a:r>
                        <a:rPr lang="en-US" sz="1050" dirty="0" smtClean="0">
                          <a:solidFill>
                            <a:schemeClr val="accent1"/>
                          </a:solidFill>
                        </a:rPr>
                        <a:t>-</a:t>
                      </a:r>
                      <a:endParaRPr lang="en-US" sz="1050" dirty="0">
                        <a:solidFill>
                          <a:schemeClr val="accent1"/>
                        </a:solidFill>
                      </a:endParaRPr>
                    </a:p>
                  </a:txBody>
                  <a:tcPr anchor="ctr">
                    <a:lnL w="12700" cap="flat" cmpd="sng" algn="ctr">
                      <a:solidFill>
                        <a:schemeClr val="accent1"/>
                      </a:solidFill>
                      <a:prstDash val="solid"/>
                      <a:round/>
                      <a:headEnd type="none" w="med" len="med"/>
                      <a:tailEnd type="none" w="med" len="med"/>
                    </a:lnL>
                  </a:tcPr>
                </a:tc>
                <a:tc>
                  <a:txBody>
                    <a:bodyPr/>
                    <a:lstStyle/>
                    <a:p>
                      <a:pPr algn="ctr"/>
                      <a:r>
                        <a:rPr lang="en-US" sz="1050" dirty="0" smtClean="0">
                          <a:solidFill>
                            <a:schemeClr val="accent1"/>
                          </a:solidFill>
                        </a:rPr>
                        <a:t>0%</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tcPr>
                </a:tc>
              </a:tr>
              <a:tr h="370840">
                <a:tc vMerge="1">
                  <a:txBody>
                    <a:bodyPr/>
                    <a:lstStyle/>
                    <a:p>
                      <a:endParaRPr lang="en-US" sz="1050" dirty="0"/>
                    </a:p>
                  </a:txBody>
                  <a:tcPr anchor="ctr"/>
                </a:tc>
                <a:tc>
                  <a:txBody>
                    <a:bodyPr/>
                    <a:lstStyle/>
                    <a:p>
                      <a:r>
                        <a:rPr lang="en-US" sz="1050" dirty="0" smtClean="0">
                          <a:solidFill>
                            <a:schemeClr val="accent1"/>
                          </a:solidFill>
                        </a:rPr>
                        <a:t>Bilateral</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tcPr>
                </a:tc>
                <a:tc>
                  <a:txBody>
                    <a:bodyPr/>
                    <a:lstStyle/>
                    <a:p>
                      <a:pPr algn="ctr"/>
                      <a:r>
                        <a:rPr lang="en-US" sz="1050" dirty="0" smtClean="0">
                          <a:solidFill>
                            <a:schemeClr val="accent1"/>
                          </a:solidFill>
                        </a:rPr>
                        <a:t>1,945</a:t>
                      </a:r>
                      <a:endParaRPr lang="en-US" sz="1050" dirty="0">
                        <a:solidFill>
                          <a:schemeClr val="accent1"/>
                        </a:solidFill>
                      </a:endParaRPr>
                    </a:p>
                  </a:txBody>
                  <a:tcPr anchor="ctr">
                    <a:lnL w="12700" cap="flat" cmpd="sng" algn="ctr">
                      <a:solidFill>
                        <a:schemeClr val="accent1"/>
                      </a:solidFill>
                      <a:prstDash val="solid"/>
                      <a:round/>
                      <a:headEnd type="none" w="med" len="med"/>
                      <a:tailEnd type="none" w="med" len="med"/>
                    </a:lnL>
                  </a:tcPr>
                </a:tc>
                <a:tc>
                  <a:txBody>
                    <a:bodyPr/>
                    <a:lstStyle/>
                    <a:p>
                      <a:pPr algn="ctr"/>
                      <a:r>
                        <a:rPr lang="en-US" sz="1050" dirty="0" smtClean="0">
                          <a:solidFill>
                            <a:schemeClr val="accent1"/>
                          </a:solidFill>
                        </a:rPr>
                        <a:t>82%</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tcPr>
                </a:tc>
                <a:tc>
                  <a:txBody>
                    <a:bodyPr/>
                    <a:lstStyle/>
                    <a:p>
                      <a:pPr algn="ctr"/>
                      <a:r>
                        <a:rPr lang="en-US" sz="1050" dirty="0" smtClean="0">
                          <a:solidFill>
                            <a:schemeClr val="accent1"/>
                          </a:solidFill>
                        </a:rPr>
                        <a:t>1,576</a:t>
                      </a:r>
                      <a:endParaRPr lang="en-US" sz="1050" dirty="0">
                        <a:solidFill>
                          <a:schemeClr val="accent1"/>
                        </a:solidFill>
                      </a:endParaRPr>
                    </a:p>
                  </a:txBody>
                  <a:tcPr anchor="ctr">
                    <a:lnL w="12700" cap="flat" cmpd="sng" algn="ctr">
                      <a:solidFill>
                        <a:schemeClr val="accent1"/>
                      </a:solidFill>
                      <a:prstDash val="solid"/>
                      <a:round/>
                      <a:headEnd type="none" w="med" len="med"/>
                      <a:tailEnd type="none" w="med" len="med"/>
                    </a:lnL>
                  </a:tcPr>
                </a:tc>
                <a:tc>
                  <a:txBody>
                    <a:bodyPr/>
                    <a:lstStyle/>
                    <a:p>
                      <a:pPr algn="ctr"/>
                      <a:r>
                        <a:rPr lang="en-US" sz="1050" dirty="0" smtClean="0">
                          <a:solidFill>
                            <a:schemeClr val="accent1"/>
                          </a:solidFill>
                        </a:rPr>
                        <a:t>46%</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tcPr>
                </a:tc>
              </a:tr>
              <a:tr h="370840">
                <a:tc vMerge="1">
                  <a:txBody>
                    <a:bodyPr/>
                    <a:lstStyle/>
                    <a:p>
                      <a:endParaRPr lang="en-US" sz="1050" dirty="0"/>
                    </a:p>
                  </a:txBody>
                  <a:tcPr anchor="ctr"/>
                </a:tc>
                <a:tc>
                  <a:txBody>
                    <a:bodyPr/>
                    <a:lstStyle/>
                    <a:p>
                      <a:r>
                        <a:rPr lang="en-US" sz="1050" b="1" dirty="0" smtClean="0">
                          <a:solidFill>
                            <a:schemeClr val="accent1"/>
                          </a:solidFill>
                        </a:rPr>
                        <a:t>Dealer Total</a:t>
                      </a:r>
                      <a:endParaRPr lang="en-US" sz="1050" b="1" dirty="0">
                        <a:solidFill>
                          <a:schemeClr val="accent1"/>
                        </a:solidFill>
                      </a:endParaRPr>
                    </a:p>
                  </a:txBody>
                  <a:tcPr anchor="ctr">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algn="ctr"/>
                      <a:r>
                        <a:rPr lang="en-US" sz="1050" b="1" dirty="0" smtClean="0">
                          <a:solidFill>
                            <a:schemeClr val="accent1"/>
                          </a:solidFill>
                        </a:rPr>
                        <a:t>2,250</a:t>
                      </a:r>
                      <a:endParaRPr lang="en-US" sz="1050" b="1" dirty="0">
                        <a:solidFill>
                          <a:schemeClr val="accent1"/>
                        </a:solidFill>
                      </a:endParaRPr>
                    </a:p>
                  </a:txBody>
                  <a:tcPr anchor="ctr">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a:txBody>
                    <a:bodyPr/>
                    <a:lstStyle/>
                    <a:p>
                      <a:pPr algn="ctr"/>
                      <a:r>
                        <a:rPr lang="en-US" sz="1050" b="1" dirty="0" smtClean="0">
                          <a:solidFill>
                            <a:schemeClr val="accent1"/>
                          </a:solidFill>
                        </a:rPr>
                        <a:t>95%</a:t>
                      </a:r>
                      <a:endParaRPr lang="en-US" sz="1050" b="1" dirty="0">
                        <a:solidFill>
                          <a:schemeClr val="accent1"/>
                        </a:solidFill>
                      </a:endParaRPr>
                    </a:p>
                  </a:txBody>
                  <a:tcPr anchor="ctr">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algn="ctr"/>
                      <a:r>
                        <a:rPr lang="en-US" sz="1050" b="1" dirty="0" smtClean="0">
                          <a:solidFill>
                            <a:schemeClr val="accent1"/>
                          </a:solidFill>
                        </a:rPr>
                        <a:t>3,415</a:t>
                      </a:r>
                      <a:endParaRPr lang="en-US" sz="1050" b="1" dirty="0">
                        <a:solidFill>
                          <a:schemeClr val="accent1"/>
                        </a:solidFill>
                      </a:endParaRPr>
                    </a:p>
                  </a:txBody>
                  <a:tcPr anchor="ctr">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a:txBody>
                    <a:bodyPr/>
                    <a:lstStyle/>
                    <a:p>
                      <a:pPr algn="ctr"/>
                      <a:r>
                        <a:rPr lang="en-US" sz="1050" b="1" dirty="0" smtClean="0">
                          <a:solidFill>
                            <a:schemeClr val="accent1"/>
                          </a:solidFill>
                        </a:rPr>
                        <a:t>100%</a:t>
                      </a:r>
                      <a:endParaRPr lang="en-US" sz="1050" b="1" dirty="0">
                        <a:solidFill>
                          <a:schemeClr val="accent1"/>
                        </a:solidFill>
                      </a:endParaRPr>
                    </a:p>
                  </a:txBody>
                  <a:tcPr anchor="ctr">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607859044"/>
              </p:ext>
            </p:extLst>
          </p:nvPr>
        </p:nvGraphicFramePr>
        <p:xfrm>
          <a:off x="2743200" y="4724400"/>
          <a:ext cx="4622800" cy="1112520"/>
        </p:xfrm>
        <a:graphic>
          <a:graphicData uri="http://schemas.openxmlformats.org/drawingml/2006/table">
            <a:tbl>
              <a:tblPr>
                <a:tableStyleId>{2D5ABB26-0587-4C30-8999-92F81FD0307C}</a:tableStyleId>
              </a:tblPr>
              <a:tblGrid>
                <a:gridCol w="1117600"/>
                <a:gridCol w="1397000"/>
                <a:gridCol w="1016000"/>
                <a:gridCol w="1092200"/>
              </a:tblGrid>
              <a:tr h="370840">
                <a:tc rowSpan="3">
                  <a:txBody>
                    <a:bodyPr/>
                    <a:lstStyle/>
                    <a:p>
                      <a:pPr algn="ctr"/>
                      <a:r>
                        <a:rPr lang="en-US" sz="1200" b="1" dirty="0" smtClean="0"/>
                        <a:t>Non dealer </a:t>
                      </a:r>
                    </a:p>
                    <a:p>
                      <a:pPr algn="ctr"/>
                      <a:r>
                        <a:rPr lang="en-US" sz="1200" b="1" dirty="0" smtClean="0"/>
                        <a:t>Repo</a:t>
                      </a:r>
                      <a:endParaRPr lang="en-US" sz="1200" b="1" dirty="0"/>
                    </a:p>
                  </a:txBody>
                  <a:tcPr vert="vert27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sz="1050" dirty="0" smtClean="0">
                          <a:solidFill>
                            <a:schemeClr val="accent1"/>
                          </a:solidFill>
                        </a:rPr>
                        <a:t>Triparty (Total)</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a:r>
                        <a:rPr lang="en-US" sz="1050" dirty="0" smtClean="0">
                          <a:solidFill>
                            <a:schemeClr val="accent1"/>
                          </a:solidFill>
                        </a:rPr>
                        <a:t>127</a:t>
                      </a:r>
                      <a:endParaRPr lang="en-US" sz="1050" dirty="0">
                        <a:solidFill>
                          <a:schemeClr val="accent1"/>
                        </a:solidFill>
                      </a:endParaRPr>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tcPr>
                </a:tc>
                <a:tc>
                  <a:txBody>
                    <a:bodyPr/>
                    <a:lstStyle/>
                    <a:p>
                      <a:pPr algn="ctr"/>
                      <a:r>
                        <a:rPr lang="en-US" sz="1050" dirty="0" smtClean="0">
                          <a:solidFill>
                            <a:schemeClr val="accent1"/>
                          </a:solidFill>
                        </a:rPr>
                        <a:t>5%</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r>
              <a:tr h="370840">
                <a:tc vMerge="1">
                  <a:txBody>
                    <a:bodyPr/>
                    <a:lstStyle/>
                    <a:p>
                      <a:endParaRPr lang="en-US" sz="1050" dirty="0"/>
                    </a:p>
                  </a:txBody>
                  <a:tcPr anchor="ctr"/>
                </a:tc>
                <a:tc>
                  <a:txBody>
                    <a:bodyPr/>
                    <a:lstStyle/>
                    <a:p>
                      <a:r>
                        <a:rPr lang="en-US" sz="1050" dirty="0" smtClean="0">
                          <a:solidFill>
                            <a:schemeClr val="accent1"/>
                          </a:solidFill>
                        </a:rPr>
                        <a:t>Fed**</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tcPr>
                </a:tc>
                <a:tc>
                  <a:txBody>
                    <a:bodyPr/>
                    <a:lstStyle/>
                    <a:p>
                      <a:pPr algn="ctr"/>
                      <a:r>
                        <a:rPr lang="en-US" sz="1050" dirty="0" smtClean="0">
                          <a:solidFill>
                            <a:schemeClr val="accent1"/>
                          </a:solidFill>
                        </a:rPr>
                        <a:t>127</a:t>
                      </a:r>
                      <a:endParaRPr lang="en-US" sz="1050" dirty="0">
                        <a:solidFill>
                          <a:schemeClr val="accent1"/>
                        </a:solidFill>
                      </a:endParaRPr>
                    </a:p>
                  </a:txBody>
                  <a:tcPr anchor="ctr">
                    <a:lnL w="12700" cap="flat" cmpd="sng" algn="ctr">
                      <a:solidFill>
                        <a:schemeClr val="accent1"/>
                      </a:solidFill>
                      <a:prstDash val="solid"/>
                      <a:round/>
                      <a:headEnd type="none" w="med" len="med"/>
                      <a:tailEnd type="none" w="med" len="med"/>
                    </a:lnL>
                  </a:tcPr>
                </a:tc>
                <a:tc>
                  <a:txBody>
                    <a:bodyPr/>
                    <a:lstStyle/>
                    <a:p>
                      <a:pPr algn="ctr"/>
                      <a:r>
                        <a:rPr lang="en-US" sz="1050" dirty="0" smtClean="0">
                          <a:solidFill>
                            <a:schemeClr val="accent1"/>
                          </a:solidFill>
                        </a:rPr>
                        <a:t>5%</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tcPr>
                </a:tc>
              </a:tr>
              <a:tr h="370840">
                <a:tc vMerge="1">
                  <a:txBody>
                    <a:bodyPr/>
                    <a:lstStyle/>
                    <a:p>
                      <a:endParaRPr lang="en-US" sz="1050" dirty="0"/>
                    </a:p>
                  </a:txBody>
                  <a:tcPr anchor="ctr"/>
                </a:tc>
                <a:tc>
                  <a:txBody>
                    <a:bodyPr/>
                    <a:lstStyle/>
                    <a:p>
                      <a:r>
                        <a:rPr lang="en-US" sz="1050" b="1" dirty="0" smtClean="0">
                          <a:solidFill>
                            <a:schemeClr val="accent1"/>
                          </a:solidFill>
                        </a:rPr>
                        <a:t>Non-Dealer Total</a:t>
                      </a:r>
                      <a:endParaRPr lang="en-US" sz="1050" b="1" dirty="0">
                        <a:solidFill>
                          <a:schemeClr val="accent1"/>
                        </a:solidFill>
                      </a:endParaRPr>
                    </a:p>
                  </a:txBody>
                  <a:tcPr anchor="ctr">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algn="ctr"/>
                      <a:r>
                        <a:rPr lang="en-US" sz="1050" b="1" dirty="0" smtClean="0">
                          <a:solidFill>
                            <a:schemeClr val="accent1"/>
                          </a:solidFill>
                        </a:rPr>
                        <a:t>127</a:t>
                      </a:r>
                      <a:endParaRPr lang="en-US" sz="1050" b="1" dirty="0">
                        <a:solidFill>
                          <a:schemeClr val="accent1"/>
                        </a:solidFill>
                      </a:endParaRPr>
                    </a:p>
                  </a:txBody>
                  <a:tcPr anchor="ctr">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a:txBody>
                    <a:bodyPr/>
                    <a:lstStyle/>
                    <a:p>
                      <a:pPr algn="ctr"/>
                      <a:r>
                        <a:rPr lang="en-US" sz="1050" b="1" dirty="0" smtClean="0">
                          <a:solidFill>
                            <a:schemeClr val="accent1"/>
                          </a:solidFill>
                        </a:rPr>
                        <a:t>5%</a:t>
                      </a:r>
                      <a:endParaRPr lang="en-US" sz="1050" b="1" dirty="0">
                        <a:solidFill>
                          <a:schemeClr val="accent1"/>
                        </a:solidFill>
                      </a:endParaRPr>
                    </a:p>
                  </a:txBody>
                  <a:tcPr anchor="ctr">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444557872"/>
              </p:ext>
            </p:extLst>
          </p:nvPr>
        </p:nvGraphicFramePr>
        <p:xfrm>
          <a:off x="3886200" y="5943600"/>
          <a:ext cx="5588000" cy="370840"/>
        </p:xfrm>
        <a:graphic>
          <a:graphicData uri="http://schemas.openxmlformats.org/drawingml/2006/table">
            <a:tbl>
              <a:tblPr>
                <a:tableStyleId>{2D5ABB26-0587-4C30-8999-92F81FD0307C}</a:tableStyleId>
              </a:tblPr>
              <a:tblGrid>
                <a:gridCol w="1397000"/>
                <a:gridCol w="1047750"/>
                <a:gridCol w="1047750"/>
                <a:gridCol w="1047750"/>
                <a:gridCol w="1047750"/>
              </a:tblGrid>
              <a:tr h="370840">
                <a:tc>
                  <a:txBody>
                    <a:bodyPr/>
                    <a:lstStyle/>
                    <a:p>
                      <a:r>
                        <a:rPr lang="en-US" sz="1050" b="1" u="none" dirty="0" smtClean="0"/>
                        <a:t>Grand Total</a:t>
                      </a:r>
                      <a:endParaRPr lang="en-US" sz="1050" b="1" u="none" dirty="0"/>
                    </a:p>
                  </a:txBody>
                  <a:tcPr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u="none" dirty="0" smtClean="0"/>
                        <a:t>2,377</a:t>
                      </a:r>
                      <a:endParaRPr lang="en-US" sz="1050" b="1" u="none" dirty="0"/>
                    </a:p>
                  </a:txBody>
                  <a:tcPr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u="none" dirty="0"/>
                    </a:p>
                  </a:txBody>
                  <a:tcPr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u="none" dirty="0" smtClean="0"/>
                        <a:t>3,415</a:t>
                      </a:r>
                      <a:endParaRPr lang="en-US" sz="1050" b="1" u="none" dirty="0"/>
                    </a:p>
                  </a:txBody>
                  <a:tcPr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p>
                  </a:txBody>
                  <a:tcPr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cxnSp>
        <p:nvCxnSpPr>
          <p:cNvPr id="10" name="Straight Connector 9"/>
          <p:cNvCxnSpPr/>
          <p:nvPr/>
        </p:nvCxnSpPr>
        <p:spPr>
          <a:xfrm>
            <a:off x="3962400" y="6248400"/>
            <a:ext cx="685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5486400" y="6248400"/>
            <a:ext cx="685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7543800" y="6248400"/>
            <a:ext cx="6858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455548" y="6934200"/>
            <a:ext cx="5850251" cy="369332"/>
          </a:xfrm>
          <a:prstGeom prst="rect">
            <a:avLst/>
          </a:prstGeom>
          <a:noFill/>
        </p:spPr>
        <p:txBody>
          <a:bodyPr wrap="square" rtlCol="0">
            <a:spAutoFit/>
          </a:bodyPr>
          <a:lstStyle/>
          <a:p>
            <a:r>
              <a:rPr lang="en-US" sz="900" i="1" dirty="0" smtClean="0">
                <a:latin typeface="Calibri" panose="020F0502020204030204" pitchFamily="34" charset="0"/>
              </a:rPr>
              <a:t>Source: </a:t>
            </a:r>
            <a:r>
              <a:rPr lang="en-US" sz="900" i="1" dirty="0">
                <a:latin typeface="Calibri" panose="020F0502020204030204" pitchFamily="34" charset="0"/>
              </a:rPr>
              <a:t> </a:t>
            </a:r>
            <a:r>
              <a:rPr lang="en-US" sz="900" i="1" dirty="0" smtClean="0">
                <a:latin typeface="Calibri" panose="020F0502020204030204" pitchFamily="34" charset="0"/>
              </a:rPr>
              <a:t>Adapted from “A Reference Guide to U.S. Repo and Securities Lending Markets”, </a:t>
            </a:r>
            <a:r>
              <a:rPr lang="en-US" sz="900" i="1" dirty="0" err="1" smtClean="0">
                <a:latin typeface="Calibri" panose="020F0502020204030204" pitchFamily="34" charset="0"/>
              </a:rPr>
              <a:t>Baklanova</a:t>
            </a:r>
            <a:r>
              <a:rPr lang="en-US" sz="900" i="1" dirty="0" smtClean="0">
                <a:latin typeface="Calibri" panose="020F0502020204030204" pitchFamily="34" charset="0"/>
              </a:rPr>
              <a:t> et al (2015). Data is as of June 2015.</a:t>
            </a:r>
            <a:endParaRPr lang="en-US" sz="900" i="1" dirty="0">
              <a:latin typeface="Calibri" panose="020F0502020204030204" pitchFamily="34" charset="0"/>
            </a:endParaRPr>
          </a:p>
        </p:txBody>
      </p:sp>
      <p:sp>
        <p:nvSpPr>
          <p:cNvPr id="12" name="TextBox 11"/>
          <p:cNvSpPr txBox="1"/>
          <p:nvPr/>
        </p:nvSpPr>
        <p:spPr>
          <a:xfrm>
            <a:off x="2487299" y="6400800"/>
            <a:ext cx="4690102" cy="507831"/>
          </a:xfrm>
          <a:prstGeom prst="rect">
            <a:avLst/>
          </a:prstGeom>
          <a:noFill/>
        </p:spPr>
        <p:txBody>
          <a:bodyPr wrap="square" rtlCol="0">
            <a:spAutoFit/>
          </a:bodyPr>
          <a:lstStyle/>
          <a:p>
            <a:r>
              <a:rPr lang="en-US" sz="900" i="1" dirty="0" smtClean="0">
                <a:latin typeface="Calibri" panose="020F0502020204030204" pitchFamily="34" charset="0"/>
              </a:rPr>
              <a:t>* Primary dealer participation in the Fed’s RRP program is de </a:t>
            </a:r>
            <a:r>
              <a:rPr lang="en-US" sz="900" i="1" dirty="0" err="1" smtClean="0">
                <a:latin typeface="Calibri" panose="020F0502020204030204" pitchFamily="34" charset="0"/>
              </a:rPr>
              <a:t>minimus</a:t>
            </a:r>
            <a:r>
              <a:rPr lang="en-US" sz="900" i="1" dirty="0" smtClean="0">
                <a:latin typeface="Calibri" panose="020F0502020204030204" pitchFamily="34" charset="0"/>
              </a:rPr>
              <a:t>. </a:t>
            </a:r>
          </a:p>
          <a:p>
            <a:r>
              <a:rPr lang="en-US" sz="900" i="1" dirty="0" smtClean="0">
                <a:latin typeface="Calibri" panose="020F0502020204030204" pitchFamily="34" charset="0"/>
              </a:rPr>
              <a:t>**The Fed’s RRP program is the average daily outstanding of the overnight and term RRP from January 1</a:t>
            </a:r>
            <a:r>
              <a:rPr lang="en-US" sz="900" i="1" baseline="30000" dirty="0" smtClean="0">
                <a:latin typeface="Calibri" panose="020F0502020204030204" pitchFamily="34" charset="0"/>
              </a:rPr>
              <a:t>st</a:t>
            </a:r>
            <a:r>
              <a:rPr lang="en-US" sz="900" i="1" dirty="0" smtClean="0">
                <a:latin typeface="Calibri" panose="020F0502020204030204" pitchFamily="34" charset="0"/>
              </a:rPr>
              <a:t> 2015 to June 10</a:t>
            </a:r>
            <a:r>
              <a:rPr lang="en-US" sz="900" i="1" baseline="30000" dirty="0" smtClean="0">
                <a:latin typeface="Calibri" panose="020F0502020204030204" pitchFamily="34" charset="0"/>
              </a:rPr>
              <a:t>th</a:t>
            </a:r>
            <a:r>
              <a:rPr lang="en-US" sz="900" i="1" dirty="0" smtClean="0">
                <a:latin typeface="Calibri" panose="020F0502020204030204" pitchFamily="34" charset="0"/>
              </a:rPr>
              <a:t>, 2015.</a:t>
            </a:r>
            <a:endParaRPr lang="en-US" sz="900" i="1" dirty="0">
              <a:latin typeface="Calibri" panose="020F0502020204030204" pitchFamily="34" charset="0"/>
            </a:endParaRPr>
          </a:p>
        </p:txBody>
      </p:sp>
    </p:spTree>
    <p:extLst>
      <p:ext uri="{BB962C8B-B14F-4D97-AF65-F5344CB8AC3E}">
        <p14:creationId xmlns:p14="http://schemas.microsoft.com/office/powerpoint/2010/main" val="7374050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U.S. TREASURIES ARE THE DOMINANT SOURCE OF COLLATERAL FOR REPOS</a:t>
            </a:r>
            <a:endParaRPr lang="en-US" sz="1200" b="0" dirty="0"/>
          </a:p>
        </p:txBody>
      </p:sp>
      <p:sp>
        <p:nvSpPr>
          <p:cNvPr id="3" name="TextBox 2"/>
          <p:cNvSpPr txBox="1"/>
          <p:nvPr/>
        </p:nvSpPr>
        <p:spPr>
          <a:xfrm>
            <a:off x="145657" y="1218129"/>
            <a:ext cx="2168665" cy="4293483"/>
          </a:xfrm>
          <a:prstGeom prst="rect">
            <a:avLst/>
          </a:prstGeom>
          <a:noFill/>
        </p:spPr>
        <p:txBody>
          <a:bodyPr wrap="square" rtlCol="0">
            <a:spAutoFit/>
          </a:bodyPr>
          <a:lstStyle/>
          <a:p>
            <a:pPr defTabSz="914400" fontAlgn="base">
              <a:spcAft>
                <a:spcPct val="0"/>
              </a:spcAft>
            </a:pPr>
            <a:r>
              <a:rPr lang="en-US" sz="1100" dirty="0" smtClean="0">
                <a:solidFill>
                  <a:srgbClr val="000000"/>
                </a:solidFill>
              </a:rPr>
              <a:t>Treasury securities make up ~80% of the collateral posted in bilateral repo. Other securities, such as agency mortgage-backed securities (MBS), agency debt, corporate bonds, and equities, are posted as collateral in bilateral repo trades, but only to a limited extent.</a:t>
            </a:r>
          </a:p>
          <a:p>
            <a:pPr defTabSz="914400" fontAlgn="base">
              <a:spcAft>
                <a:spcPct val="0"/>
              </a:spcAft>
            </a:pPr>
            <a:endParaRPr lang="en-US" sz="1100" b="1" dirty="0">
              <a:solidFill>
                <a:srgbClr val="000000"/>
              </a:solidFill>
            </a:endParaRPr>
          </a:p>
          <a:p>
            <a:pPr defTabSz="914400" fontAlgn="base">
              <a:spcAft>
                <a:spcPct val="0"/>
              </a:spcAft>
            </a:pPr>
            <a:r>
              <a:rPr lang="en-US" sz="1100" dirty="0" smtClean="0">
                <a:solidFill>
                  <a:srgbClr val="000000"/>
                </a:solidFill>
              </a:rPr>
              <a:t>In contrast to bilateral repo, Treasury securities play a much smaller role in the triparty repo. Treasury securities are posted as collateral for about 40% of triparty repo trades, roughly the same share as </a:t>
            </a:r>
            <a:r>
              <a:rPr lang="en-US" sz="1100" dirty="0" smtClean="0">
                <a:solidFill>
                  <a:srgbClr val="000000"/>
                </a:solidFill>
              </a:rPr>
              <a:t>Agency </a:t>
            </a:r>
            <a:r>
              <a:rPr lang="en-US" sz="1100" dirty="0" smtClean="0">
                <a:solidFill>
                  <a:srgbClr val="000000"/>
                </a:solidFill>
              </a:rPr>
              <a:t>MBS.</a:t>
            </a:r>
            <a:endParaRPr lang="en-US" sz="1100" dirty="0" smtClean="0">
              <a:solidFill>
                <a:srgbClr val="FF0000"/>
              </a:solidFill>
            </a:endParaRPr>
          </a:p>
          <a:p>
            <a:pPr defTabSz="914400" fontAlgn="base">
              <a:spcAft>
                <a:spcPct val="0"/>
              </a:spcAft>
            </a:pPr>
            <a:endParaRPr lang="en-US" sz="1100" dirty="0" smtClean="0">
              <a:solidFill>
                <a:srgbClr val="000000"/>
              </a:solidFill>
            </a:endParaRPr>
          </a:p>
          <a:p>
            <a:pPr defTabSz="914400" fontAlgn="base">
              <a:spcAft>
                <a:spcPct val="0"/>
              </a:spcAft>
              <a:buClr>
                <a:srgbClr val="203353"/>
              </a:buClr>
              <a:defRPr/>
            </a:pPr>
            <a:endParaRPr lang="en-US" sz="1500" dirty="0" smtClean="0">
              <a:solidFill>
                <a:srgbClr val="2E398A"/>
              </a:solidFill>
            </a:endParaRPr>
          </a:p>
          <a:p>
            <a:pPr defTabSz="914400" fontAlgn="base">
              <a:spcAft>
                <a:spcPct val="0"/>
              </a:spcAft>
              <a:buClr>
                <a:srgbClr val="203353"/>
              </a:buClr>
              <a:defRPr/>
            </a:pPr>
            <a:endParaRPr lang="en-US" sz="1500" dirty="0">
              <a:solidFill>
                <a:srgbClr val="2E398A"/>
              </a:solidFill>
            </a:endParaRPr>
          </a:p>
          <a:p>
            <a:pPr defTabSz="914400" fontAlgn="base">
              <a:spcAft>
                <a:spcPct val="0"/>
              </a:spcAft>
              <a:buClr>
                <a:srgbClr val="203353"/>
              </a:buClr>
              <a:defRPr/>
            </a:pPr>
            <a:endParaRPr lang="en-US" sz="1500" dirty="0" smtClean="0">
              <a:solidFill>
                <a:srgbClr val="2E398A"/>
              </a:solidFill>
            </a:endParaRPr>
          </a:p>
          <a:p>
            <a:pPr defTabSz="914400" fontAlgn="base">
              <a:spcAft>
                <a:spcPct val="0"/>
              </a:spcAft>
              <a:buClr>
                <a:srgbClr val="203353"/>
              </a:buClr>
              <a:defRPr/>
            </a:pPr>
            <a:endParaRPr lang="en-US" sz="1500" dirty="0">
              <a:solidFill>
                <a:srgbClr val="2E398A"/>
              </a:solidFill>
            </a:endParaRPr>
          </a:p>
          <a:p>
            <a:pPr defTabSz="914400" fontAlgn="base">
              <a:spcAft>
                <a:spcPct val="0"/>
              </a:spcAft>
              <a:buClr>
                <a:srgbClr val="203353"/>
              </a:buClr>
              <a:defRPr/>
            </a:pPr>
            <a:endParaRPr lang="en-US" sz="1500" dirty="0">
              <a:solidFill>
                <a:srgbClr val="2E398A"/>
              </a:solidFill>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defTabSz="914400" fontAlgn="base">
              <a:spcBef>
                <a:spcPct val="0"/>
              </a:spcBef>
              <a:spcAft>
                <a:spcPct val="0"/>
              </a:spcAft>
            </a:pPr>
            <a:r>
              <a:rPr lang="en-US" sz="1300" dirty="0" smtClean="0">
                <a:solidFill>
                  <a:srgbClr val="FFFFFF"/>
                </a:solidFill>
              </a:rPr>
              <a:t>COLLATERAL FOR REPO</a:t>
            </a:r>
          </a:p>
          <a:p>
            <a:pPr algn="ctr" defTabSz="914400" fontAlgn="base">
              <a:spcBef>
                <a:spcPct val="0"/>
              </a:spcBef>
              <a:spcAft>
                <a:spcPct val="0"/>
              </a:spcAft>
            </a:pPr>
            <a:r>
              <a:rPr lang="en-US" sz="1300" dirty="0" smtClean="0">
                <a:solidFill>
                  <a:srgbClr val="FFFFFF"/>
                </a:solidFill>
              </a:rPr>
              <a:t>(Dollars in billions) </a:t>
            </a:r>
          </a:p>
        </p:txBody>
      </p:sp>
      <p:graphicFrame>
        <p:nvGraphicFramePr>
          <p:cNvPr id="17" name="Chart 16"/>
          <p:cNvGraphicFramePr/>
          <p:nvPr>
            <p:extLst>
              <p:ext uri="{D42A27DB-BD31-4B8C-83A1-F6EECF244321}">
                <p14:modId xmlns:p14="http://schemas.microsoft.com/office/powerpoint/2010/main" val="4266769155"/>
              </p:ext>
            </p:extLst>
          </p:nvPr>
        </p:nvGraphicFramePr>
        <p:xfrm>
          <a:off x="2857500" y="2918598"/>
          <a:ext cx="2324100" cy="188200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8" name="Chart 17"/>
          <p:cNvGraphicFramePr/>
          <p:nvPr>
            <p:extLst>
              <p:ext uri="{D42A27DB-BD31-4B8C-83A1-F6EECF244321}">
                <p14:modId xmlns:p14="http://schemas.microsoft.com/office/powerpoint/2010/main" val="1654584806"/>
              </p:ext>
            </p:extLst>
          </p:nvPr>
        </p:nvGraphicFramePr>
        <p:xfrm>
          <a:off x="5181600" y="2819400"/>
          <a:ext cx="4191000" cy="2286000"/>
        </p:xfrm>
        <a:graphic>
          <a:graphicData uri="http://schemas.openxmlformats.org/drawingml/2006/chart">
            <c:chart xmlns:c="http://schemas.openxmlformats.org/drawingml/2006/chart" xmlns:r="http://schemas.openxmlformats.org/officeDocument/2006/relationships" r:id="rId5"/>
          </a:graphicData>
        </a:graphic>
      </p:graphicFrame>
      <p:grpSp>
        <p:nvGrpSpPr>
          <p:cNvPr id="19" name="Group 18"/>
          <p:cNvGrpSpPr/>
          <p:nvPr/>
        </p:nvGrpSpPr>
        <p:grpSpPr>
          <a:xfrm>
            <a:off x="3352800" y="5537012"/>
            <a:ext cx="3060700" cy="215444"/>
            <a:chOff x="3416300" y="3429000"/>
            <a:chExt cx="3060700" cy="215444"/>
          </a:xfrm>
        </p:grpSpPr>
        <p:sp>
          <p:nvSpPr>
            <p:cNvPr id="20" name="TextBox 19"/>
            <p:cNvSpPr txBox="1"/>
            <p:nvPr/>
          </p:nvSpPr>
          <p:spPr>
            <a:xfrm>
              <a:off x="3429000" y="3429000"/>
              <a:ext cx="3048000" cy="215444"/>
            </a:xfrm>
            <a:prstGeom prst="rect">
              <a:avLst/>
            </a:prstGeom>
            <a:noFill/>
          </p:spPr>
          <p:txBody>
            <a:bodyPr wrap="square" rtlCol="0">
              <a:spAutoFit/>
            </a:bodyPr>
            <a:lstStyle/>
            <a:p>
              <a:r>
                <a:rPr lang="en-US" sz="800" dirty="0"/>
                <a:t>US Treasury securities including STRIPS	</a:t>
              </a:r>
              <a:r>
                <a:rPr lang="en-US" sz="800" dirty="0" smtClean="0"/>
                <a:t>All </a:t>
              </a:r>
              <a:r>
                <a:rPr lang="en-US" sz="800" dirty="0"/>
                <a:t>other assets</a:t>
              </a:r>
            </a:p>
          </p:txBody>
        </p:sp>
        <p:sp>
          <p:nvSpPr>
            <p:cNvPr id="21" name="Rectangle 20"/>
            <p:cNvSpPr/>
            <p:nvPr/>
          </p:nvSpPr>
          <p:spPr>
            <a:xfrm>
              <a:off x="3416300" y="3498622"/>
              <a:ext cx="76200" cy="76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5410200" y="3504744"/>
              <a:ext cx="76200" cy="76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22"/>
          <p:cNvSpPr txBox="1"/>
          <p:nvPr/>
        </p:nvSpPr>
        <p:spPr>
          <a:xfrm>
            <a:off x="2971800" y="2611050"/>
            <a:ext cx="1981200" cy="276999"/>
          </a:xfrm>
          <a:prstGeom prst="rect">
            <a:avLst/>
          </a:prstGeom>
          <a:noFill/>
        </p:spPr>
        <p:txBody>
          <a:bodyPr wrap="square" rtlCol="0">
            <a:spAutoFit/>
          </a:bodyPr>
          <a:lstStyle/>
          <a:p>
            <a:pPr algn="ctr"/>
            <a:r>
              <a:rPr lang="en-US" sz="1200" dirty="0" smtClean="0"/>
              <a:t>Total Repo</a:t>
            </a:r>
            <a:endParaRPr lang="en-US" sz="1200" dirty="0"/>
          </a:p>
        </p:txBody>
      </p:sp>
      <p:sp>
        <p:nvSpPr>
          <p:cNvPr id="4" name="Rectangle 3"/>
          <p:cNvSpPr/>
          <p:nvPr/>
        </p:nvSpPr>
        <p:spPr>
          <a:xfrm>
            <a:off x="2510799" y="6324600"/>
            <a:ext cx="6772901" cy="784830"/>
          </a:xfrm>
          <a:prstGeom prst="rect">
            <a:avLst/>
          </a:prstGeom>
        </p:spPr>
        <p:txBody>
          <a:bodyPr wrap="square">
            <a:spAutoFit/>
          </a:bodyPr>
          <a:lstStyle/>
          <a:p>
            <a:r>
              <a:rPr lang="en-US" sz="900" i="1" dirty="0"/>
              <a:t>Sources: For total repo, Federal Reserve Form FR2004; for tri-party repo and GCF repo, Federal Reserve Bank of New York.</a:t>
            </a:r>
          </a:p>
          <a:p>
            <a:endParaRPr lang="en-US" sz="900" i="1" dirty="0"/>
          </a:p>
          <a:p>
            <a:r>
              <a:rPr lang="en-US" sz="900" i="1" dirty="0"/>
              <a:t>Notes: Total repo estimates are based on Federal Reserve 2004 data as of October 8, 2014. </a:t>
            </a:r>
          </a:p>
          <a:p>
            <a:r>
              <a:rPr lang="en-US" sz="900" i="1" dirty="0"/>
              <a:t>Tri-party repo and GCF repo data are as of October 9, 2014. Bilateral repo estimates are a residual amount, equal to total repo minus tri-party repo minus GCF repo.</a:t>
            </a:r>
          </a:p>
        </p:txBody>
      </p:sp>
    </p:spTree>
    <p:extLst>
      <p:ext uri="{BB962C8B-B14F-4D97-AF65-F5344CB8AC3E}">
        <p14:creationId xmlns:p14="http://schemas.microsoft.com/office/powerpoint/2010/main" val="41790128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DEALERS HAVE REDUCED THEIR PARTICIPATION IN AGENCY MBS REPO</a:t>
            </a:r>
            <a:endParaRPr lang="en-US" sz="1200" b="0" dirty="0"/>
          </a:p>
        </p:txBody>
      </p:sp>
      <p:sp>
        <p:nvSpPr>
          <p:cNvPr id="3" name="TextBox 2"/>
          <p:cNvSpPr txBox="1"/>
          <p:nvPr/>
        </p:nvSpPr>
        <p:spPr>
          <a:xfrm>
            <a:off x="145657" y="1218129"/>
            <a:ext cx="2168665" cy="3108543"/>
          </a:xfrm>
          <a:prstGeom prst="rect">
            <a:avLst/>
          </a:prstGeom>
          <a:noFill/>
        </p:spPr>
        <p:txBody>
          <a:bodyPr wrap="square" rtlCol="0">
            <a:spAutoFit/>
          </a:bodyPr>
          <a:lstStyle/>
          <a:p>
            <a:pPr defTabSz="914400" fontAlgn="base">
              <a:spcAft>
                <a:spcPct val="0"/>
              </a:spcAft>
            </a:pPr>
            <a:r>
              <a:rPr lang="en-US" sz="1100" dirty="0" smtClean="0">
                <a:solidFill>
                  <a:srgbClr val="000000"/>
                </a:solidFill>
              </a:rPr>
              <a:t>The amount of balance sheet devoted to Agency MBS Repo by primary dealers has fallen by nearly 50% since April 2013 because of regulatory developments.</a:t>
            </a:r>
            <a:r>
              <a:rPr lang="en-US" sz="1100" dirty="0">
                <a:solidFill>
                  <a:srgbClr val="000000"/>
                </a:solidFill>
              </a:rPr>
              <a:t> </a:t>
            </a:r>
          </a:p>
          <a:p>
            <a:pPr defTabSz="914400" fontAlgn="base">
              <a:spcAft>
                <a:spcPct val="0"/>
              </a:spcAft>
            </a:pPr>
            <a:endParaRPr lang="en-US" sz="1100" dirty="0" smtClean="0">
              <a:solidFill>
                <a:srgbClr val="000000"/>
              </a:solidFill>
            </a:endParaRPr>
          </a:p>
          <a:p>
            <a:pPr defTabSz="914400" fontAlgn="base">
              <a:spcAft>
                <a:spcPct val="0"/>
              </a:spcAft>
            </a:pPr>
            <a:r>
              <a:rPr lang="en-US" sz="1100" dirty="0" smtClean="0">
                <a:solidFill>
                  <a:srgbClr val="000000"/>
                </a:solidFill>
              </a:rPr>
              <a:t>There has also been a decrease in the relative share of term repo over the same time period.</a:t>
            </a:r>
            <a:endParaRPr lang="en-US" sz="1100" dirty="0" smtClean="0">
              <a:solidFill>
                <a:srgbClr val="FF0000"/>
              </a:solidFill>
            </a:endParaRPr>
          </a:p>
          <a:p>
            <a:pPr defTabSz="914400" fontAlgn="base">
              <a:spcAft>
                <a:spcPct val="0"/>
              </a:spcAft>
            </a:pPr>
            <a:endParaRPr lang="en-US" sz="1100" dirty="0" smtClean="0">
              <a:solidFill>
                <a:srgbClr val="000000"/>
              </a:solidFill>
            </a:endParaRPr>
          </a:p>
          <a:p>
            <a:pPr defTabSz="914400" fontAlgn="base">
              <a:spcAft>
                <a:spcPct val="0"/>
              </a:spcAft>
              <a:buClr>
                <a:srgbClr val="203353"/>
              </a:buClr>
              <a:defRPr/>
            </a:pPr>
            <a:endParaRPr lang="en-US" sz="1500" dirty="0" smtClean="0">
              <a:solidFill>
                <a:srgbClr val="2E398A"/>
              </a:solidFill>
            </a:endParaRPr>
          </a:p>
          <a:p>
            <a:pPr defTabSz="914400" fontAlgn="base">
              <a:spcAft>
                <a:spcPct val="0"/>
              </a:spcAft>
              <a:buClr>
                <a:srgbClr val="203353"/>
              </a:buClr>
              <a:defRPr/>
            </a:pPr>
            <a:endParaRPr lang="en-US" sz="1500" dirty="0">
              <a:solidFill>
                <a:srgbClr val="2E398A"/>
              </a:solidFill>
            </a:endParaRPr>
          </a:p>
          <a:p>
            <a:pPr defTabSz="914400" fontAlgn="base">
              <a:spcAft>
                <a:spcPct val="0"/>
              </a:spcAft>
              <a:buClr>
                <a:srgbClr val="203353"/>
              </a:buClr>
              <a:defRPr/>
            </a:pPr>
            <a:endParaRPr lang="en-US" sz="1500" dirty="0" smtClean="0">
              <a:solidFill>
                <a:srgbClr val="2E398A"/>
              </a:solidFill>
            </a:endParaRPr>
          </a:p>
          <a:p>
            <a:pPr defTabSz="914400" fontAlgn="base">
              <a:spcAft>
                <a:spcPct val="0"/>
              </a:spcAft>
              <a:buClr>
                <a:srgbClr val="203353"/>
              </a:buClr>
              <a:defRPr/>
            </a:pPr>
            <a:endParaRPr lang="en-US" sz="1500" dirty="0">
              <a:solidFill>
                <a:srgbClr val="2E398A"/>
              </a:solidFill>
            </a:endParaRPr>
          </a:p>
          <a:p>
            <a:pPr defTabSz="914400" fontAlgn="base">
              <a:spcAft>
                <a:spcPct val="0"/>
              </a:spcAft>
              <a:buClr>
                <a:srgbClr val="203353"/>
              </a:buClr>
              <a:defRPr/>
            </a:pPr>
            <a:endParaRPr lang="en-US" sz="1500" dirty="0">
              <a:solidFill>
                <a:srgbClr val="2E398A"/>
              </a:solidFill>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defTabSz="914400" fontAlgn="base">
              <a:spcBef>
                <a:spcPct val="0"/>
              </a:spcBef>
              <a:spcAft>
                <a:spcPct val="0"/>
              </a:spcAft>
            </a:pPr>
            <a:r>
              <a:rPr lang="en-US" sz="1300" dirty="0" smtClean="0">
                <a:solidFill>
                  <a:srgbClr val="FFFFFF"/>
                </a:solidFill>
              </a:rPr>
              <a:t>AGENCY MBS REPO FOR PRIMARY DEALERS</a:t>
            </a:r>
          </a:p>
          <a:p>
            <a:pPr algn="ctr" defTabSz="914400" fontAlgn="base">
              <a:spcBef>
                <a:spcPct val="0"/>
              </a:spcBef>
              <a:spcAft>
                <a:spcPct val="0"/>
              </a:spcAft>
            </a:pPr>
            <a:r>
              <a:rPr lang="en-US" sz="1300" dirty="0" smtClean="0">
                <a:solidFill>
                  <a:srgbClr val="FFFFFF"/>
                </a:solidFill>
              </a:rPr>
              <a:t>(Dollars in billions) </a:t>
            </a:r>
          </a:p>
        </p:txBody>
      </p:sp>
      <p:sp>
        <p:nvSpPr>
          <p:cNvPr id="4" name="Rectangle 3"/>
          <p:cNvSpPr/>
          <p:nvPr/>
        </p:nvSpPr>
        <p:spPr>
          <a:xfrm>
            <a:off x="2447299" y="6934200"/>
            <a:ext cx="6772901" cy="230832"/>
          </a:xfrm>
          <a:prstGeom prst="rect">
            <a:avLst/>
          </a:prstGeom>
        </p:spPr>
        <p:txBody>
          <a:bodyPr wrap="square">
            <a:spAutoFit/>
          </a:bodyPr>
          <a:lstStyle/>
          <a:p>
            <a:r>
              <a:rPr lang="en-US" sz="900" i="1" dirty="0" smtClean="0"/>
              <a:t>Source: Federal </a:t>
            </a:r>
            <a:r>
              <a:rPr lang="en-US" sz="900" i="1" dirty="0"/>
              <a:t>Reserve Bank of New York</a:t>
            </a:r>
            <a:r>
              <a:rPr lang="en-US" sz="900" i="1" dirty="0" smtClean="0"/>
              <a:t>.</a:t>
            </a:r>
            <a:endParaRPr lang="en-US" sz="900" i="1" dirty="0"/>
          </a:p>
        </p:txBody>
      </p:sp>
      <p:graphicFrame>
        <p:nvGraphicFramePr>
          <p:cNvPr id="25" name="Chart 24"/>
          <p:cNvGraphicFramePr>
            <a:graphicFrameLocks/>
          </p:cNvGraphicFramePr>
          <p:nvPr>
            <p:extLst>
              <p:ext uri="{D42A27DB-BD31-4B8C-83A1-F6EECF244321}">
                <p14:modId xmlns:p14="http://schemas.microsoft.com/office/powerpoint/2010/main" val="1071829346"/>
              </p:ext>
            </p:extLst>
          </p:nvPr>
        </p:nvGraphicFramePr>
        <p:xfrm>
          <a:off x="2527300" y="2961848"/>
          <a:ext cx="2984500" cy="209550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Box 5"/>
          <p:cNvSpPr txBox="1"/>
          <p:nvPr/>
        </p:nvSpPr>
        <p:spPr>
          <a:xfrm>
            <a:off x="2616200" y="2646749"/>
            <a:ext cx="2895600" cy="276999"/>
          </a:xfrm>
          <a:prstGeom prst="rect">
            <a:avLst/>
          </a:prstGeom>
          <a:noFill/>
        </p:spPr>
        <p:txBody>
          <a:bodyPr wrap="square" rtlCol="0">
            <a:spAutoFit/>
          </a:bodyPr>
          <a:lstStyle/>
          <a:p>
            <a:pPr algn="ctr"/>
            <a:r>
              <a:rPr lang="en-US" sz="1200" dirty="0" smtClean="0"/>
              <a:t>Outstanding Agency MBS Repo ($bb)</a:t>
            </a:r>
            <a:endParaRPr lang="en-US" sz="1200" dirty="0"/>
          </a:p>
        </p:txBody>
      </p:sp>
      <p:graphicFrame>
        <p:nvGraphicFramePr>
          <p:cNvPr id="26" name="Chart 25"/>
          <p:cNvGraphicFramePr>
            <a:graphicFrameLocks/>
          </p:cNvGraphicFramePr>
          <p:nvPr>
            <p:extLst>
              <p:ext uri="{D42A27DB-BD31-4B8C-83A1-F6EECF244321}">
                <p14:modId xmlns:p14="http://schemas.microsoft.com/office/powerpoint/2010/main" val="579607996"/>
              </p:ext>
            </p:extLst>
          </p:nvPr>
        </p:nvGraphicFramePr>
        <p:xfrm>
          <a:off x="6235700" y="2955498"/>
          <a:ext cx="2984500" cy="2095500"/>
        </p:xfrm>
        <a:graphic>
          <a:graphicData uri="http://schemas.openxmlformats.org/drawingml/2006/chart">
            <c:chart xmlns:c="http://schemas.openxmlformats.org/drawingml/2006/chart" xmlns:r="http://schemas.openxmlformats.org/officeDocument/2006/relationships" r:id="rId5"/>
          </a:graphicData>
        </a:graphic>
      </p:graphicFrame>
      <p:sp>
        <p:nvSpPr>
          <p:cNvPr id="27" name="TextBox 26"/>
          <p:cNvSpPr txBox="1"/>
          <p:nvPr/>
        </p:nvSpPr>
        <p:spPr>
          <a:xfrm>
            <a:off x="6084579" y="2646748"/>
            <a:ext cx="2895600" cy="276999"/>
          </a:xfrm>
          <a:prstGeom prst="rect">
            <a:avLst/>
          </a:prstGeom>
          <a:noFill/>
        </p:spPr>
        <p:txBody>
          <a:bodyPr wrap="square" rtlCol="0">
            <a:spAutoFit/>
          </a:bodyPr>
          <a:lstStyle/>
          <a:p>
            <a:pPr algn="ctr"/>
            <a:r>
              <a:rPr lang="en-US" sz="1200" dirty="0" smtClean="0"/>
              <a:t>Agency MBS Repo by Term</a:t>
            </a:r>
            <a:endParaRPr lang="en-US" sz="1200" dirty="0"/>
          </a:p>
        </p:txBody>
      </p:sp>
    </p:spTree>
    <p:extLst>
      <p:ext uri="{BB962C8B-B14F-4D97-AF65-F5344CB8AC3E}">
        <p14:creationId xmlns:p14="http://schemas.microsoft.com/office/powerpoint/2010/main" val="34198284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244312"/>
            <a:ext cx="6918102" cy="609918"/>
          </a:xfrm>
        </p:spPr>
        <p:txBody>
          <a:bodyPr/>
          <a:lstStyle/>
          <a:p>
            <a:r>
              <a:rPr lang="en-US" dirty="0" smtClean="0"/>
              <a:t>REPO STILL PLAYS A SIGNIFICANT ROLE IN </a:t>
            </a:r>
            <a:r>
              <a:rPr lang="en-US" dirty="0" smtClean="0"/>
              <a:t>SHORT-TERM WHOLESALE FUNDING MARKETS</a:t>
            </a:r>
            <a:endParaRPr lang="en-US" sz="1200" b="0" dirty="0"/>
          </a:p>
        </p:txBody>
      </p:sp>
      <p:sp>
        <p:nvSpPr>
          <p:cNvPr id="3" name="TextBox 2"/>
          <p:cNvSpPr txBox="1"/>
          <p:nvPr/>
        </p:nvSpPr>
        <p:spPr>
          <a:xfrm>
            <a:off x="145657" y="1218129"/>
            <a:ext cx="2168665" cy="7017306"/>
          </a:xfrm>
          <a:prstGeom prst="rect">
            <a:avLst/>
          </a:prstGeom>
          <a:noFill/>
        </p:spPr>
        <p:txBody>
          <a:bodyPr wrap="square" rtlCol="0">
            <a:spAutoFit/>
          </a:bodyPr>
          <a:lstStyle/>
          <a:p>
            <a:pPr defTabSz="914400" fontAlgn="base">
              <a:spcAft>
                <a:spcPct val="0"/>
              </a:spcAft>
            </a:pPr>
            <a:r>
              <a:rPr lang="en-US" sz="1100" dirty="0" smtClean="0">
                <a:solidFill>
                  <a:srgbClr val="000000"/>
                </a:solidFill>
              </a:rPr>
              <a:t>Banks and other financial institutions have access to a range of borrowed funds to service their needs that can be broadly categorized into retail and wholesale funding. </a:t>
            </a:r>
            <a:r>
              <a:rPr lang="en-US" sz="1100" b="1" dirty="0" smtClean="0">
                <a:solidFill>
                  <a:srgbClr val="000000"/>
                </a:solidFill>
              </a:rPr>
              <a:t>Wholesale funding</a:t>
            </a:r>
            <a:r>
              <a:rPr lang="en-US" sz="1100" dirty="0" smtClean="0">
                <a:solidFill>
                  <a:srgbClr val="000000"/>
                </a:solidFill>
              </a:rPr>
              <a:t> corresponds to the use of federal funds, deposits from large institutions, and debt issuance.</a:t>
            </a:r>
            <a:r>
              <a:rPr lang="en-US" sz="1100" dirty="0" smtClean="0"/>
              <a:t> </a:t>
            </a:r>
            <a:r>
              <a:rPr lang="en-US" sz="1100" b="1" dirty="0" smtClean="0"/>
              <a:t>Retail funding </a:t>
            </a:r>
            <a:r>
              <a:rPr lang="en-US" sz="1100" dirty="0" smtClean="0"/>
              <a:t>refers to deposits that households and small companies keep with a bank.</a:t>
            </a:r>
            <a:endParaRPr lang="en-US" sz="1100" b="1" dirty="0" smtClean="0">
              <a:solidFill>
                <a:srgbClr val="FF0000"/>
              </a:solidFill>
            </a:endParaRPr>
          </a:p>
          <a:p>
            <a:pPr defTabSz="914400" fontAlgn="base">
              <a:spcAft>
                <a:spcPct val="0"/>
              </a:spcAft>
            </a:pPr>
            <a:endParaRPr lang="en-US" sz="1100" dirty="0" smtClean="0">
              <a:solidFill>
                <a:srgbClr val="000000"/>
              </a:solidFill>
            </a:endParaRPr>
          </a:p>
          <a:p>
            <a:pPr defTabSz="914400" fontAlgn="base">
              <a:spcAft>
                <a:spcPct val="0"/>
              </a:spcAft>
            </a:pPr>
            <a:r>
              <a:rPr lang="en-US" sz="1100" dirty="0" smtClean="0">
                <a:solidFill>
                  <a:srgbClr val="000000"/>
                </a:solidFill>
              </a:rPr>
              <a:t>The short-term wholesale funding market consists of two segments: </a:t>
            </a:r>
            <a:r>
              <a:rPr lang="en-US" sz="1100" b="1" dirty="0" smtClean="0">
                <a:solidFill>
                  <a:srgbClr val="000000"/>
                </a:solidFill>
              </a:rPr>
              <a:t>secured </a:t>
            </a:r>
            <a:r>
              <a:rPr lang="en-US" sz="1100" dirty="0" smtClean="0">
                <a:solidFill>
                  <a:srgbClr val="000000"/>
                </a:solidFill>
              </a:rPr>
              <a:t>and </a:t>
            </a:r>
            <a:r>
              <a:rPr lang="en-US" sz="1100" b="1" dirty="0" smtClean="0">
                <a:solidFill>
                  <a:srgbClr val="000000"/>
                </a:solidFill>
              </a:rPr>
              <a:t>unsecured. </a:t>
            </a:r>
            <a:r>
              <a:rPr lang="en-US" sz="1100" dirty="0" smtClean="0">
                <a:solidFill>
                  <a:srgbClr val="000000"/>
                </a:solidFill>
              </a:rPr>
              <a:t>Secured funding consists of Repo and Asset-backed Commercial Paper. Unsecured funding consists of Commercial Paper, CDs, and Deposits.</a:t>
            </a:r>
          </a:p>
          <a:p>
            <a:pPr defTabSz="914400" fontAlgn="base">
              <a:spcAft>
                <a:spcPct val="0"/>
              </a:spcAft>
            </a:pPr>
            <a:endParaRPr lang="en-US" sz="1100" dirty="0">
              <a:solidFill>
                <a:srgbClr val="000000"/>
              </a:solidFill>
            </a:endParaRPr>
          </a:p>
          <a:p>
            <a:pPr defTabSz="914400" fontAlgn="base">
              <a:spcAft>
                <a:spcPct val="0"/>
              </a:spcAft>
            </a:pPr>
            <a:r>
              <a:rPr lang="en-US" sz="1100" dirty="0" smtClean="0">
                <a:solidFill>
                  <a:srgbClr val="000000"/>
                </a:solidFill>
              </a:rPr>
              <a:t>Leading up to the financial crisis, market participants increasingly relied on wholesale funding. The 2007-2009 crisis dramatically decreased the use of CP, while the interbank market has grown substantially. While activity in the repo markets dropped sharply post-Crisis, repo remains the largest component of wholesale funding markets.</a:t>
            </a:r>
          </a:p>
          <a:p>
            <a:pPr defTabSz="914400" fontAlgn="base">
              <a:spcAft>
                <a:spcPct val="0"/>
              </a:spcAft>
            </a:pPr>
            <a:endParaRPr lang="en-US" sz="1200" dirty="0">
              <a:solidFill>
                <a:srgbClr val="000000"/>
              </a:solidFill>
            </a:endParaRPr>
          </a:p>
          <a:p>
            <a:pPr defTabSz="914400" fontAlgn="base">
              <a:spcAft>
                <a:spcPct val="0"/>
              </a:spcAft>
              <a:buClr>
                <a:srgbClr val="203353"/>
              </a:buClr>
              <a:defRPr/>
            </a:pPr>
            <a:endParaRPr lang="en-US" sz="1500" dirty="0" smtClean="0">
              <a:solidFill>
                <a:srgbClr val="2E398A"/>
              </a:solidFill>
            </a:endParaRPr>
          </a:p>
          <a:p>
            <a:pPr defTabSz="914400" fontAlgn="base">
              <a:spcAft>
                <a:spcPct val="0"/>
              </a:spcAft>
              <a:buClr>
                <a:srgbClr val="203353"/>
              </a:buClr>
              <a:defRPr/>
            </a:pPr>
            <a:endParaRPr lang="en-US" sz="1500" dirty="0">
              <a:solidFill>
                <a:srgbClr val="2E398A"/>
              </a:solidFill>
            </a:endParaRPr>
          </a:p>
          <a:p>
            <a:pPr defTabSz="914400" fontAlgn="base">
              <a:spcAft>
                <a:spcPct val="0"/>
              </a:spcAft>
              <a:buClr>
                <a:srgbClr val="203353"/>
              </a:buClr>
              <a:defRPr/>
            </a:pPr>
            <a:endParaRPr lang="en-US" sz="1500" dirty="0" smtClean="0">
              <a:solidFill>
                <a:srgbClr val="2E398A"/>
              </a:solidFill>
            </a:endParaRPr>
          </a:p>
          <a:p>
            <a:pPr defTabSz="914400" fontAlgn="base">
              <a:spcAft>
                <a:spcPct val="0"/>
              </a:spcAft>
              <a:buClr>
                <a:srgbClr val="203353"/>
              </a:buClr>
              <a:defRPr/>
            </a:pPr>
            <a:endParaRPr lang="en-US" sz="1500" dirty="0">
              <a:solidFill>
                <a:srgbClr val="2E398A"/>
              </a:solidFill>
            </a:endParaRPr>
          </a:p>
          <a:p>
            <a:pPr defTabSz="914400" fontAlgn="base">
              <a:spcAft>
                <a:spcPct val="0"/>
              </a:spcAft>
              <a:buClr>
                <a:srgbClr val="203353"/>
              </a:buClr>
              <a:defRPr/>
            </a:pPr>
            <a:endParaRPr lang="en-US" sz="1500" dirty="0">
              <a:solidFill>
                <a:srgbClr val="2E398A"/>
              </a:solidFill>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defTabSz="914400" fontAlgn="base">
              <a:spcBef>
                <a:spcPct val="0"/>
              </a:spcBef>
              <a:spcAft>
                <a:spcPct val="0"/>
              </a:spcAft>
            </a:pPr>
            <a:r>
              <a:rPr lang="en-US" sz="1300" dirty="0" smtClean="0">
                <a:solidFill>
                  <a:srgbClr val="FFFFFF"/>
                </a:solidFill>
              </a:rPr>
              <a:t>THE U.S. SHORT-TERM WHOLESALE FUNDING MARKET</a:t>
            </a:r>
          </a:p>
          <a:p>
            <a:pPr algn="ctr" defTabSz="914400" fontAlgn="base">
              <a:spcBef>
                <a:spcPct val="0"/>
              </a:spcBef>
              <a:spcAft>
                <a:spcPct val="0"/>
              </a:spcAft>
            </a:pPr>
            <a:r>
              <a:rPr lang="en-US" sz="1300" dirty="0" smtClean="0">
                <a:solidFill>
                  <a:srgbClr val="FFFFFF"/>
                </a:solidFill>
              </a:rPr>
              <a:t>(Dollars in trillions) </a:t>
            </a:r>
          </a:p>
        </p:txBody>
      </p:sp>
      <p:pic>
        <p:nvPicPr>
          <p:cNvPr id="103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8763" y="2743200"/>
            <a:ext cx="7239350" cy="2968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424423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BASEL </a:t>
            </a:r>
            <a:r>
              <a:rPr lang="en-US" dirty="0" smtClean="0"/>
              <a:t>III </a:t>
            </a:r>
            <a:r>
              <a:rPr lang="en-US" dirty="0" smtClean="0"/>
              <a:t>HAS A SIGNIFICANT IMPACT ON </a:t>
            </a:r>
            <a:r>
              <a:rPr lang="en-US" dirty="0" smtClean="0"/>
              <a:t>REPO </a:t>
            </a:r>
            <a:r>
              <a:rPr lang="en-US" dirty="0" smtClean="0"/>
              <a:t>ACTIVITY FOR </a:t>
            </a:r>
            <a:r>
              <a:rPr lang="en-US" dirty="0" smtClean="0"/>
              <a:t>G-SIBs</a:t>
            </a:r>
            <a:endParaRPr lang="en-US" dirty="0"/>
          </a:p>
        </p:txBody>
      </p:sp>
      <p:sp>
        <p:nvSpPr>
          <p:cNvPr id="73"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100" b="0" dirty="0" smtClean="0">
                <a:solidFill>
                  <a:schemeClr val="tx1"/>
                </a:solidFill>
                <a:latin typeface="+mn-lt"/>
              </a:rPr>
              <a:t>The Basel III regulatory landscape has reshaped the economics of repo for </a:t>
            </a:r>
            <a:r>
              <a:rPr lang="en-US" sz="1100" dirty="0" smtClean="0">
                <a:solidFill>
                  <a:schemeClr val="tx1"/>
                </a:solidFill>
                <a:latin typeface="+mn-lt"/>
              </a:rPr>
              <a:t>global systemically important banks (G-SIBs)</a:t>
            </a:r>
            <a:r>
              <a:rPr lang="en-US" sz="1100" b="0" dirty="0" smtClean="0">
                <a:solidFill>
                  <a:schemeClr val="tx1"/>
                </a:solidFill>
                <a:latin typeface="+mn-lt"/>
              </a:rPr>
              <a:t> in particular through the introduction of the </a:t>
            </a:r>
            <a:r>
              <a:rPr lang="en-US" sz="1100" dirty="0" smtClean="0">
                <a:solidFill>
                  <a:schemeClr val="tx1"/>
                </a:solidFill>
                <a:latin typeface="+mn-lt"/>
              </a:rPr>
              <a:t>enhanced Supplementary Leverage Ratio (</a:t>
            </a:r>
            <a:r>
              <a:rPr lang="en-US" sz="1100" dirty="0" err="1" smtClean="0">
                <a:solidFill>
                  <a:schemeClr val="tx1"/>
                </a:solidFill>
                <a:latin typeface="+mn-lt"/>
              </a:rPr>
              <a:t>eSLR</a:t>
            </a:r>
            <a:r>
              <a:rPr lang="en-US" sz="1100" b="0" dirty="0" smtClean="0">
                <a:solidFill>
                  <a:schemeClr val="tx1"/>
                </a:solidFill>
                <a:latin typeface="+mn-lt"/>
              </a:rPr>
              <a:t>). In general, SLR is the most direct driver of capital held against repo positions.</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Most market participants hold SLR responsible for declines in repo market liquidity and expect further decreases going forward.</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Before Basel III, repo was an almost capital free business. Post-Crisis, the emphasis of desk-level capital allocation exposes repo to the economics of a standalone business.  </a:t>
            </a:r>
            <a:endParaRPr lang="en-US" sz="1100" b="0" dirty="0">
              <a:solidFill>
                <a:schemeClr val="tx1"/>
              </a:solidFill>
              <a:latin typeface="+mn-lt"/>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aphicFrame>
        <p:nvGraphicFramePr>
          <p:cNvPr id="3" name="Table 2"/>
          <p:cNvGraphicFramePr>
            <a:graphicFrameLocks noGrp="1"/>
          </p:cNvGraphicFramePr>
          <p:nvPr>
            <p:extLst>
              <p:ext uri="{D42A27DB-BD31-4B8C-83A1-F6EECF244321}">
                <p14:modId xmlns:p14="http://schemas.microsoft.com/office/powerpoint/2010/main" val="2463547464"/>
              </p:ext>
            </p:extLst>
          </p:nvPr>
        </p:nvGraphicFramePr>
        <p:xfrm>
          <a:off x="2438400" y="2743200"/>
          <a:ext cx="7162800" cy="4069080"/>
        </p:xfrm>
        <a:graphic>
          <a:graphicData uri="http://schemas.openxmlformats.org/drawingml/2006/table">
            <a:tbl>
              <a:tblPr>
                <a:tableStyleId>{5C22544A-7EE6-4342-B048-85BDC9FD1C3A}</a:tableStyleId>
              </a:tblPr>
              <a:tblGrid>
                <a:gridCol w="976746"/>
                <a:gridCol w="2062018"/>
                <a:gridCol w="2062018"/>
                <a:gridCol w="2062018"/>
              </a:tblGrid>
              <a:tr h="350783">
                <a:tc>
                  <a:txBody>
                    <a:bodyPr/>
                    <a:lstStyle/>
                    <a:p>
                      <a:pPr algn="ctr"/>
                      <a:r>
                        <a:rPr lang="en-US" sz="1050" dirty="0" smtClean="0">
                          <a:solidFill>
                            <a:schemeClr val="bg1"/>
                          </a:solidFill>
                        </a:rPr>
                        <a:t>REGULATION</a:t>
                      </a:r>
                      <a:endParaRPr lang="en-US" sz="1050" dirty="0">
                        <a:solidFill>
                          <a:schemeClr val="bg1"/>
                        </a:solidFill>
                      </a:endParaRPr>
                    </a:p>
                  </a:txBody>
                  <a:tcPr anchor="ctr">
                    <a:solidFill>
                      <a:schemeClr val="accent1"/>
                    </a:solidFill>
                  </a:tcPr>
                </a:tc>
                <a:tc>
                  <a:txBody>
                    <a:bodyPr/>
                    <a:lstStyle/>
                    <a:p>
                      <a:pPr algn="ctr"/>
                      <a:r>
                        <a:rPr lang="en-US" sz="1050" dirty="0" smtClean="0">
                          <a:solidFill>
                            <a:schemeClr val="bg1"/>
                          </a:solidFill>
                        </a:rPr>
                        <a:t>GENERAL</a:t>
                      </a:r>
                      <a:r>
                        <a:rPr lang="en-US" sz="1050" baseline="0" dirty="0" smtClean="0">
                          <a:solidFill>
                            <a:schemeClr val="bg1"/>
                          </a:solidFill>
                        </a:rPr>
                        <a:t> EFFECT (G-SIBs)</a:t>
                      </a:r>
                      <a:endParaRPr lang="en-US" sz="1050" dirty="0">
                        <a:solidFill>
                          <a:schemeClr val="bg1"/>
                        </a:solidFill>
                      </a:endParaRPr>
                    </a:p>
                  </a:txBody>
                  <a:tcPr anchor="ctr">
                    <a:solidFill>
                      <a:schemeClr val="accent1"/>
                    </a:solidFill>
                  </a:tcPr>
                </a:tc>
                <a:tc>
                  <a:txBody>
                    <a:bodyPr/>
                    <a:lstStyle/>
                    <a:p>
                      <a:pPr algn="ctr"/>
                      <a:r>
                        <a:rPr lang="en-US" sz="1050" dirty="0" smtClean="0">
                          <a:solidFill>
                            <a:schemeClr val="bg1"/>
                          </a:solidFill>
                        </a:rPr>
                        <a:t>EFFECT</a:t>
                      </a:r>
                      <a:r>
                        <a:rPr lang="en-US" sz="1050" baseline="0" dirty="0" smtClean="0">
                          <a:solidFill>
                            <a:schemeClr val="bg1"/>
                          </a:solidFill>
                        </a:rPr>
                        <a:t> ON REPO</a:t>
                      </a:r>
                      <a:endParaRPr lang="en-US" sz="1050" dirty="0">
                        <a:solidFill>
                          <a:schemeClr val="bg1"/>
                        </a:solidFill>
                      </a:endParaRPr>
                    </a:p>
                  </a:txBody>
                  <a:tcPr anchor="ctr">
                    <a:solidFill>
                      <a:schemeClr val="accent1"/>
                    </a:solidFill>
                  </a:tcPr>
                </a:tc>
                <a:tc>
                  <a:txBody>
                    <a:bodyPr/>
                    <a:lstStyle/>
                    <a:p>
                      <a:pPr algn="ctr"/>
                      <a:r>
                        <a:rPr lang="en-US" sz="1050" dirty="0" smtClean="0">
                          <a:solidFill>
                            <a:schemeClr val="bg1"/>
                          </a:solidFill>
                        </a:rPr>
                        <a:t>IMPLEMENTATION</a:t>
                      </a:r>
                      <a:endParaRPr lang="en-US" sz="1050" dirty="0">
                        <a:solidFill>
                          <a:schemeClr val="bg1"/>
                        </a:solidFill>
                      </a:endParaRPr>
                    </a:p>
                  </a:txBody>
                  <a:tcPr anchor="ctr">
                    <a:solidFill>
                      <a:schemeClr val="accent1"/>
                    </a:solidFill>
                  </a:tcPr>
                </a:tc>
              </a:tr>
              <a:tr h="1157583">
                <a:tc>
                  <a:txBody>
                    <a:bodyPr/>
                    <a:lstStyle/>
                    <a:p>
                      <a:pPr algn="ctr"/>
                      <a:r>
                        <a:rPr lang="en-US" sz="1100" b="1" dirty="0" smtClean="0"/>
                        <a:t>SLR</a:t>
                      </a:r>
                    </a:p>
                  </a:txBody>
                  <a:tcPr anchor="ctr"/>
                </a:tc>
                <a:tc>
                  <a:txBody>
                    <a:bodyPr/>
                    <a:lstStyle/>
                    <a:p>
                      <a:pPr marL="171450" indent="-171450">
                        <a:buFontTx/>
                        <a:buChar char="-"/>
                      </a:pPr>
                      <a:r>
                        <a:rPr lang="en-US" sz="1000" dirty="0" smtClean="0"/>
                        <a:t>Limit supply of balance sheet</a:t>
                      </a:r>
                    </a:p>
                    <a:p>
                      <a:pPr marL="171450" indent="-171450">
                        <a:buFontTx/>
                        <a:buChar char="-"/>
                      </a:pPr>
                      <a:r>
                        <a:rPr lang="en-US" sz="1000" dirty="0" smtClean="0"/>
                        <a:t>Increase Tier</a:t>
                      </a:r>
                      <a:r>
                        <a:rPr lang="en-US" sz="1000" baseline="0" dirty="0" smtClean="0"/>
                        <a:t> 1 capital</a:t>
                      </a:r>
                    </a:p>
                    <a:p>
                      <a:pPr marL="171450" indent="-171450">
                        <a:buFontTx/>
                        <a:buChar char="-"/>
                      </a:pPr>
                      <a:r>
                        <a:rPr lang="en-US" sz="1000" baseline="0" dirty="0" smtClean="0"/>
                        <a:t>Reduce off-balance sheet exposures</a:t>
                      </a:r>
                    </a:p>
                    <a:p>
                      <a:pPr marL="171450" indent="-171450">
                        <a:buFontTx/>
                        <a:buChar char="-"/>
                      </a:pPr>
                      <a:r>
                        <a:rPr lang="en-US" sz="1000" baseline="0" dirty="0" smtClean="0"/>
                        <a:t>Cost of holding cash becomes more expensive</a:t>
                      </a:r>
                      <a:endParaRPr lang="en-US" sz="1000" dirty="0"/>
                    </a:p>
                  </a:txBody>
                  <a:tcPr marL="45720" marR="45720"/>
                </a:tc>
                <a:tc>
                  <a:txBody>
                    <a:bodyPr/>
                    <a:lstStyle/>
                    <a:p>
                      <a:pPr marL="171450" indent="-171450">
                        <a:buFontTx/>
                        <a:buChar char="-"/>
                      </a:pPr>
                      <a:r>
                        <a:rPr lang="en-US" sz="1000" dirty="0" smtClean="0"/>
                        <a:t>Grosses up the balance sheet</a:t>
                      </a:r>
                    </a:p>
                    <a:p>
                      <a:pPr marL="171450" indent="-171450">
                        <a:buFontTx/>
                        <a:buChar char="-"/>
                      </a:pPr>
                      <a:r>
                        <a:rPr lang="en-US" sz="1000" dirty="0" smtClean="0"/>
                        <a:t>Increases</a:t>
                      </a:r>
                      <a:r>
                        <a:rPr lang="en-US" sz="1000" baseline="0" dirty="0" smtClean="0"/>
                        <a:t> capital needed against repo transactions</a:t>
                      </a:r>
                    </a:p>
                    <a:p>
                      <a:pPr marL="171450" indent="-171450">
                        <a:buFontTx/>
                        <a:buChar char="-"/>
                      </a:pPr>
                      <a:r>
                        <a:rPr lang="en-US" sz="1000" baseline="0" dirty="0" smtClean="0"/>
                        <a:t>Likely impacts capital allocated to repo</a:t>
                      </a:r>
                      <a:endParaRPr lang="en-US" sz="1000" dirty="0"/>
                    </a:p>
                  </a:txBody>
                  <a:tcPr marL="45720" marR="45720"/>
                </a:tc>
                <a:tc>
                  <a:txBody>
                    <a:bodyPr/>
                    <a:lstStyle/>
                    <a:p>
                      <a:pPr marL="171450" indent="-171450">
                        <a:buFontTx/>
                        <a:buChar char="-"/>
                      </a:pPr>
                      <a:r>
                        <a:rPr lang="en-US" sz="1000" dirty="0" smtClean="0"/>
                        <a:t>2015, disclosure began</a:t>
                      </a:r>
                    </a:p>
                    <a:p>
                      <a:pPr marL="171450" indent="-171450">
                        <a:buFontTx/>
                        <a:buChar char="-"/>
                      </a:pPr>
                      <a:r>
                        <a:rPr lang="en-US" sz="1000" dirty="0" smtClean="0"/>
                        <a:t>2018, banks</a:t>
                      </a:r>
                      <a:r>
                        <a:rPr lang="en-US" sz="1000" baseline="0" dirty="0" smtClean="0"/>
                        <a:t> must be compliant to SLR and </a:t>
                      </a:r>
                      <a:r>
                        <a:rPr lang="en-US" sz="1000" baseline="0" dirty="0" err="1" smtClean="0"/>
                        <a:t>eSLR</a:t>
                      </a:r>
                      <a:endParaRPr lang="en-US" sz="1000" baseline="0" dirty="0" smtClean="0"/>
                    </a:p>
                  </a:txBody>
                  <a:tcPr marL="45720" marR="45720"/>
                </a:tc>
              </a:tr>
              <a:tr h="1683757">
                <a:tc>
                  <a:txBody>
                    <a:bodyPr/>
                    <a:lstStyle/>
                    <a:p>
                      <a:pPr algn="ctr"/>
                      <a:r>
                        <a:rPr lang="en-US" sz="1100" b="1" dirty="0" smtClean="0"/>
                        <a:t>LCR</a:t>
                      </a:r>
                      <a:endParaRPr lang="en-US" sz="1100" b="1" dirty="0"/>
                    </a:p>
                  </a:txBody>
                  <a:tcPr anchor="ctr"/>
                </a:tc>
                <a:tc>
                  <a:txBody>
                    <a:bodyPr/>
                    <a:lstStyle/>
                    <a:p>
                      <a:pPr marL="171450" indent="-171450">
                        <a:buFontTx/>
                        <a:buChar char="-"/>
                      </a:pPr>
                      <a:r>
                        <a:rPr lang="en-US" sz="1000" dirty="0" smtClean="0"/>
                        <a:t>Increases supply of liquidity</a:t>
                      </a:r>
                      <a:r>
                        <a:rPr lang="en-US" sz="1000" baseline="0" dirty="0" smtClean="0"/>
                        <a:t> to survive a short-term (one month) stress scenario</a:t>
                      </a:r>
                    </a:p>
                    <a:p>
                      <a:pPr marL="171450" indent="-171450">
                        <a:buFontTx/>
                        <a:buChar char="-"/>
                      </a:pPr>
                      <a:r>
                        <a:rPr lang="en-US" sz="1000" baseline="0" dirty="0" smtClean="0"/>
                        <a:t>Requires banks to hold unencumbered HQLA</a:t>
                      </a:r>
                    </a:p>
                    <a:p>
                      <a:pPr marL="171450" indent="-171450">
                        <a:buFontTx/>
                        <a:buChar char="-"/>
                      </a:pPr>
                      <a:r>
                        <a:rPr lang="en-US" sz="1000" baseline="0" dirty="0" smtClean="0"/>
                        <a:t>Cost of holding cash becomes more expensive</a:t>
                      </a:r>
                    </a:p>
                  </a:txBody>
                  <a:tcPr marL="45720" marR="45720"/>
                </a:tc>
                <a:tc>
                  <a:txBody>
                    <a:bodyPr/>
                    <a:lstStyle/>
                    <a:p>
                      <a:pPr marL="171450" indent="-171450">
                        <a:buFontTx/>
                        <a:buChar char="-"/>
                      </a:pPr>
                      <a:r>
                        <a:rPr lang="en-US" sz="1000" dirty="0" smtClean="0"/>
                        <a:t>Reduces the supply of HQLA collateral</a:t>
                      </a:r>
                    </a:p>
                    <a:p>
                      <a:pPr marL="171450" indent="-171450">
                        <a:buFontTx/>
                        <a:buChar char="-"/>
                      </a:pPr>
                      <a:r>
                        <a:rPr lang="en-US" sz="1000" dirty="0" smtClean="0"/>
                        <a:t>Limits amount firms can assume</a:t>
                      </a:r>
                      <a:r>
                        <a:rPr lang="en-US" sz="1000" baseline="0" dirty="0" smtClean="0"/>
                        <a:t> as automatic or rollovers</a:t>
                      </a:r>
                    </a:p>
                    <a:p>
                      <a:pPr marL="171450" indent="-171450">
                        <a:buFontTx/>
                        <a:buChar char="-"/>
                      </a:pPr>
                      <a:r>
                        <a:rPr lang="en-US" sz="1000" baseline="0" dirty="0" smtClean="0"/>
                        <a:t>Makes short term funding more expensive due to corresponding HQLA requirement</a:t>
                      </a:r>
                    </a:p>
                    <a:p>
                      <a:pPr marL="171450" indent="-171450">
                        <a:buFontTx/>
                        <a:buChar char="-"/>
                      </a:pPr>
                      <a:r>
                        <a:rPr lang="en-US" sz="1000" baseline="0" dirty="0" smtClean="0"/>
                        <a:t>Pushes repo out from overnight to term</a:t>
                      </a:r>
                      <a:endParaRPr lang="en-US" sz="1000" dirty="0"/>
                    </a:p>
                  </a:txBody>
                  <a:tcPr marL="45720" marR="45720"/>
                </a:tc>
                <a:tc>
                  <a:txBody>
                    <a:bodyPr/>
                    <a:lstStyle/>
                    <a:p>
                      <a:pPr marL="171450" indent="-171450">
                        <a:buFontTx/>
                        <a:buChar char="-"/>
                      </a:pPr>
                      <a:r>
                        <a:rPr lang="en-US" sz="1000" dirty="0" smtClean="0"/>
                        <a:t>U.S. bank</a:t>
                      </a:r>
                      <a:r>
                        <a:rPr lang="en-US" sz="1000" baseline="0" dirty="0" smtClean="0"/>
                        <a:t>s fully compliant by 2017</a:t>
                      </a:r>
                    </a:p>
                    <a:p>
                      <a:pPr marL="171450" indent="-171450">
                        <a:buFontTx/>
                        <a:buChar char="-"/>
                      </a:pPr>
                      <a:r>
                        <a:rPr lang="en-US" sz="1000" baseline="0" dirty="0" smtClean="0"/>
                        <a:t>Phase-in transition with 80% by 2015, 90% by 2016, and 100% by 2017</a:t>
                      </a:r>
                      <a:endParaRPr lang="en-US" sz="1000" dirty="0"/>
                    </a:p>
                  </a:txBody>
                  <a:tcPr marL="45720" marR="45720"/>
                </a:tc>
              </a:tr>
              <a:tr h="876957">
                <a:tc>
                  <a:txBody>
                    <a:bodyPr/>
                    <a:lstStyle/>
                    <a:p>
                      <a:pPr algn="ctr"/>
                      <a:r>
                        <a:rPr lang="en-US" sz="1100" b="1" dirty="0" smtClean="0"/>
                        <a:t>NSFR</a:t>
                      </a:r>
                      <a:endParaRPr lang="en-US" sz="1100" b="1" dirty="0"/>
                    </a:p>
                  </a:txBody>
                  <a:tcPr anchor="ctr"/>
                </a:tc>
                <a:tc>
                  <a:txBody>
                    <a:bodyPr/>
                    <a:lstStyle/>
                    <a:p>
                      <a:pPr marL="171450" indent="-171450">
                        <a:buFontTx/>
                        <a:buChar char="-"/>
                      </a:pPr>
                      <a:r>
                        <a:rPr lang="en-US" sz="1000" dirty="0" smtClean="0"/>
                        <a:t>Increases supply</a:t>
                      </a:r>
                      <a:r>
                        <a:rPr lang="en-US" sz="1000" baseline="0" dirty="0" smtClean="0"/>
                        <a:t> of liquidity to survive a long term (one year) scenario</a:t>
                      </a:r>
                    </a:p>
                  </a:txBody>
                  <a:tcPr marL="45720" marR="45720"/>
                </a:tc>
                <a:tc>
                  <a:txBody>
                    <a:bodyPr/>
                    <a:lstStyle/>
                    <a:p>
                      <a:pPr marL="171450" indent="-171450">
                        <a:buFontTx/>
                        <a:buChar char="-"/>
                      </a:pPr>
                      <a:r>
                        <a:rPr lang="en-US" sz="1000" dirty="0" smtClean="0"/>
                        <a:t>Pushes repo out to longer term</a:t>
                      </a:r>
                    </a:p>
                    <a:p>
                      <a:pPr marL="171450" indent="-171450">
                        <a:buFontTx/>
                        <a:buChar char="-"/>
                      </a:pPr>
                      <a:r>
                        <a:rPr lang="en-US" sz="1000" dirty="0" smtClean="0"/>
                        <a:t>Increases the cost of repo</a:t>
                      </a:r>
                    </a:p>
                    <a:p>
                      <a:pPr marL="171450" indent="-171450">
                        <a:buFontTx/>
                        <a:buChar char="-"/>
                      </a:pPr>
                      <a:r>
                        <a:rPr lang="en-US" sz="1000" dirty="0" smtClean="0"/>
                        <a:t>Discourages match books</a:t>
                      </a:r>
                      <a:endParaRPr lang="en-US" sz="1000" dirty="0"/>
                    </a:p>
                  </a:txBody>
                  <a:tcPr marL="45720" marR="45720"/>
                </a:tc>
                <a:tc>
                  <a:txBody>
                    <a:bodyPr/>
                    <a:lstStyle/>
                    <a:p>
                      <a:pPr marL="171450" indent="-171450">
                        <a:buFontTx/>
                        <a:buChar char="-"/>
                      </a:pPr>
                      <a:r>
                        <a:rPr lang="en-US" sz="1000" dirty="0" smtClean="0"/>
                        <a:t>Rule has not been proposed  in the U.S.;</a:t>
                      </a:r>
                      <a:r>
                        <a:rPr lang="en-US" sz="1000" baseline="0" dirty="0" smtClean="0"/>
                        <a:t> although international standards mandate compliance by 2018</a:t>
                      </a:r>
                    </a:p>
                  </a:txBody>
                  <a:tcPr marL="45720" marR="45720"/>
                </a:tc>
              </a:tr>
            </a:tbl>
          </a:graphicData>
        </a:graphic>
      </p:graphicFrame>
      <p:sp>
        <p:nvSpPr>
          <p:cNvPr id="4" name="Rectangle 3"/>
          <p:cNvSpPr/>
          <p:nvPr/>
        </p:nvSpPr>
        <p:spPr>
          <a:xfrm>
            <a:off x="2453640" y="1219200"/>
            <a:ext cx="2286000" cy="13716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accent1"/>
                </a:solidFill>
              </a:rPr>
              <a:t>Supplementary</a:t>
            </a:r>
          </a:p>
          <a:p>
            <a:pPr algn="ctr"/>
            <a:r>
              <a:rPr lang="en-US" dirty="0" smtClean="0">
                <a:solidFill>
                  <a:schemeClr val="accent1"/>
                </a:solidFill>
              </a:rPr>
              <a:t>Leverage Ratio (SLR)</a:t>
            </a:r>
          </a:p>
          <a:p>
            <a:pPr algn="ctr"/>
            <a:endParaRPr lang="en-US" dirty="0">
              <a:solidFill>
                <a:schemeClr val="accent1"/>
              </a:solidFill>
            </a:endParaRPr>
          </a:p>
          <a:p>
            <a:pPr algn="ctr"/>
            <a:endParaRPr lang="en-US" dirty="0">
              <a:solidFill>
                <a:schemeClr val="accent1"/>
              </a:solidFill>
            </a:endParaRPr>
          </a:p>
        </p:txBody>
      </p:sp>
      <p:sp>
        <p:nvSpPr>
          <p:cNvPr id="12" name="Rectangle 11"/>
          <p:cNvSpPr/>
          <p:nvPr/>
        </p:nvSpPr>
        <p:spPr>
          <a:xfrm>
            <a:off x="4846320" y="1219200"/>
            <a:ext cx="2392680" cy="13716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accent1"/>
                </a:solidFill>
              </a:rPr>
              <a:t>Liquidity Coverage </a:t>
            </a:r>
            <a:r>
              <a:rPr lang="en-US" dirty="0">
                <a:solidFill>
                  <a:schemeClr val="accent1"/>
                </a:solidFill>
              </a:rPr>
              <a:t>Ratio </a:t>
            </a:r>
            <a:r>
              <a:rPr lang="en-US" dirty="0" smtClean="0">
                <a:solidFill>
                  <a:schemeClr val="accent1"/>
                </a:solidFill>
              </a:rPr>
              <a:t>(LCR)</a:t>
            </a:r>
            <a:endParaRPr lang="en-US" dirty="0">
              <a:solidFill>
                <a:schemeClr val="accent1"/>
              </a:solidFill>
            </a:endParaRPr>
          </a:p>
          <a:p>
            <a:pPr algn="ctr"/>
            <a:endParaRPr lang="en-US" dirty="0">
              <a:solidFill>
                <a:schemeClr val="accent1"/>
              </a:solidFill>
            </a:endParaRPr>
          </a:p>
          <a:p>
            <a:pPr algn="ctr"/>
            <a:endParaRPr lang="en-US" dirty="0">
              <a:solidFill>
                <a:schemeClr val="accent1"/>
              </a:solidFill>
            </a:endParaRPr>
          </a:p>
        </p:txBody>
      </p:sp>
      <p:sp>
        <p:nvSpPr>
          <p:cNvPr id="13" name="Rectangle 12"/>
          <p:cNvSpPr/>
          <p:nvPr/>
        </p:nvSpPr>
        <p:spPr>
          <a:xfrm>
            <a:off x="7302500" y="1219200"/>
            <a:ext cx="2298700" cy="13716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accent1"/>
                </a:solidFill>
              </a:rPr>
              <a:t>Net Stable Funding </a:t>
            </a:r>
            <a:r>
              <a:rPr lang="en-US" dirty="0">
                <a:solidFill>
                  <a:schemeClr val="accent1"/>
                </a:solidFill>
              </a:rPr>
              <a:t>Ratio </a:t>
            </a:r>
            <a:r>
              <a:rPr lang="en-US" dirty="0" smtClean="0">
                <a:solidFill>
                  <a:schemeClr val="accent1"/>
                </a:solidFill>
              </a:rPr>
              <a:t>(NSFR)</a:t>
            </a:r>
            <a:endParaRPr lang="en-US" dirty="0">
              <a:solidFill>
                <a:schemeClr val="accent1"/>
              </a:solidFill>
            </a:endParaRPr>
          </a:p>
          <a:p>
            <a:pPr algn="ctr"/>
            <a:endParaRPr lang="en-US" dirty="0">
              <a:solidFill>
                <a:schemeClr val="accent1"/>
              </a:solidFill>
            </a:endParaRPr>
          </a:p>
          <a:p>
            <a:pPr algn="ctr"/>
            <a:endParaRPr lang="en-US" dirty="0">
              <a:solidFill>
                <a:schemeClr val="accent1"/>
              </a:solidFill>
            </a:endParaRPr>
          </a:p>
        </p:txBody>
      </p:sp>
      <p:sp>
        <p:nvSpPr>
          <p:cNvPr id="5" name="TextBox 4"/>
          <p:cNvSpPr txBox="1"/>
          <p:nvPr/>
        </p:nvSpPr>
        <p:spPr>
          <a:xfrm>
            <a:off x="2895600" y="1990725"/>
            <a:ext cx="1524000" cy="553998"/>
          </a:xfrm>
          <a:prstGeom prst="rect">
            <a:avLst/>
          </a:prstGeom>
          <a:noFill/>
        </p:spPr>
        <p:txBody>
          <a:bodyPr wrap="square" rtlCol="0">
            <a:spAutoFit/>
          </a:bodyPr>
          <a:lstStyle/>
          <a:p>
            <a:pPr algn="ctr">
              <a:lnSpc>
                <a:spcPct val="150000"/>
              </a:lnSpc>
            </a:pPr>
            <a:r>
              <a:rPr lang="en-US" sz="1000" dirty="0" smtClean="0">
                <a:solidFill>
                  <a:schemeClr val="accent1"/>
                </a:solidFill>
              </a:rPr>
              <a:t>Tier 1 Capital</a:t>
            </a:r>
          </a:p>
          <a:p>
            <a:pPr algn="ctr">
              <a:lnSpc>
                <a:spcPct val="150000"/>
              </a:lnSpc>
            </a:pPr>
            <a:r>
              <a:rPr lang="en-US" sz="1000" dirty="0" smtClean="0">
                <a:solidFill>
                  <a:schemeClr val="accent1"/>
                </a:solidFill>
              </a:rPr>
              <a:t>Total Leverage Exposure</a:t>
            </a:r>
            <a:endParaRPr lang="en-US" sz="1000" dirty="0">
              <a:solidFill>
                <a:schemeClr val="accent1"/>
              </a:solidFill>
            </a:endParaRPr>
          </a:p>
        </p:txBody>
      </p:sp>
      <p:cxnSp>
        <p:nvCxnSpPr>
          <p:cNvPr id="11" name="Straight Connector 10"/>
          <p:cNvCxnSpPr/>
          <p:nvPr/>
        </p:nvCxnSpPr>
        <p:spPr>
          <a:xfrm>
            <a:off x="2895600" y="2270899"/>
            <a:ext cx="152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745990" y="1990725"/>
            <a:ext cx="2575560" cy="553998"/>
          </a:xfrm>
          <a:prstGeom prst="rect">
            <a:avLst/>
          </a:prstGeom>
          <a:noFill/>
        </p:spPr>
        <p:txBody>
          <a:bodyPr wrap="square" rtlCol="0">
            <a:spAutoFit/>
          </a:bodyPr>
          <a:lstStyle/>
          <a:p>
            <a:pPr algn="ctr">
              <a:lnSpc>
                <a:spcPct val="150000"/>
              </a:lnSpc>
            </a:pPr>
            <a:r>
              <a:rPr lang="en-US" sz="1000" dirty="0" smtClean="0">
                <a:solidFill>
                  <a:schemeClr val="accent1"/>
                </a:solidFill>
              </a:rPr>
              <a:t>High Quality Liquid Asset</a:t>
            </a:r>
          </a:p>
          <a:p>
            <a:pPr algn="ctr">
              <a:lnSpc>
                <a:spcPct val="150000"/>
              </a:lnSpc>
            </a:pPr>
            <a:r>
              <a:rPr lang="en-US" sz="1000" dirty="0" smtClean="0">
                <a:solidFill>
                  <a:schemeClr val="accent1"/>
                </a:solidFill>
              </a:rPr>
              <a:t>Net Cash Outflow over a 30 day Stress Period</a:t>
            </a:r>
            <a:endParaRPr lang="en-US" sz="1000" dirty="0">
              <a:solidFill>
                <a:schemeClr val="accent1"/>
              </a:solidFill>
            </a:endParaRPr>
          </a:p>
        </p:txBody>
      </p:sp>
      <p:sp>
        <p:nvSpPr>
          <p:cNvPr id="22" name="TextBox 21"/>
          <p:cNvSpPr txBox="1"/>
          <p:nvPr/>
        </p:nvSpPr>
        <p:spPr>
          <a:xfrm>
            <a:off x="7689850" y="1990725"/>
            <a:ext cx="1524000" cy="553998"/>
          </a:xfrm>
          <a:prstGeom prst="rect">
            <a:avLst/>
          </a:prstGeom>
          <a:noFill/>
        </p:spPr>
        <p:txBody>
          <a:bodyPr wrap="square" rtlCol="0">
            <a:spAutoFit/>
          </a:bodyPr>
          <a:lstStyle/>
          <a:p>
            <a:pPr algn="ctr">
              <a:lnSpc>
                <a:spcPct val="150000"/>
              </a:lnSpc>
            </a:pPr>
            <a:r>
              <a:rPr lang="en-US" sz="1000" dirty="0" smtClean="0">
                <a:solidFill>
                  <a:schemeClr val="accent1"/>
                </a:solidFill>
              </a:rPr>
              <a:t>Available Stable Funding</a:t>
            </a:r>
          </a:p>
          <a:p>
            <a:pPr algn="ctr">
              <a:lnSpc>
                <a:spcPct val="150000"/>
              </a:lnSpc>
            </a:pPr>
            <a:r>
              <a:rPr lang="en-US" sz="1000" dirty="0" smtClean="0">
                <a:solidFill>
                  <a:schemeClr val="accent1"/>
                </a:solidFill>
              </a:rPr>
              <a:t>Required Stable Funding</a:t>
            </a:r>
            <a:endParaRPr lang="en-US" sz="1000" dirty="0">
              <a:solidFill>
                <a:schemeClr val="accent1"/>
              </a:solidFill>
            </a:endParaRPr>
          </a:p>
        </p:txBody>
      </p:sp>
      <p:cxnSp>
        <p:nvCxnSpPr>
          <p:cNvPr id="23" name="Straight Connector 22"/>
          <p:cNvCxnSpPr/>
          <p:nvPr/>
        </p:nvCxnSpPr>
        <p:spPr>
          <a:xfrm>
            <a:off x="7689850" y="2270899"/>
            <a:ext cx="1524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876800" y="2267724"/>
            <a:ext cx="2286000" cy="3175"/>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472698" y="6939687"/>
            <a:ext cx="4690102" cy="230832"/>
          </a:xfrm>
          <a:prstGeom prst="rect">
            <a:avLst/>
          </a:prstGeom>
          <a:noFill/>
        </p:spPr>
        <p:txBody>
          <a:bodyPr wrap="square" rtlCol="0">
            <a:spAutoFit/>
          </a:bodyPr>
          <a:lstStyle/>
          <a:p>
            <a:r>
              <a:rPr lang="en-US" sz="900" i="1" dirty="0" smtClean="0">
                <a:latin typeface="Calibri" panose="020F0502020204030204" pitchFamily="34" charset="0"/>
              </a:rPr>
              <a:t>Source: </a:t>
            </a:r>
            <a:r>
              <a:rPr lang="en-US" sz="900" i="1" dirty="0">
                <a:latin typeface="Calibri" panose="020F0502020204030204" pitchFamily="34" charset="0"/>
              </a:rPr>
              <a:t> </a:t>
            </a:r>
            <a:r>
              <a:rPr lang="en-US" sz="900" i="1" dirty="0" smtClean="0">
                <a:latin typeface="Calibri" panose="020F0502020204030204" pitchFamily="34" charset="0"/>
              </a:rPr>
              <a:t>“The Future of Wholesale Funding Markets”, PWC and BNY Mellon, December 2015 </a:t>
            </a:r>
            <a:endParaRPr lang="en-US" sz="900" i="1" dirty="0">
              <a:latin typeface="Calibri" panose="020F0502020204030204" pitchFamily="34" charset="0"/>
            </a:endParaRPr>
          </a:p>
        </p:txBody>
      </p:sp>
    </p:spTree>
    <p:extLst>
      <p:ext uri="{BB962C8B-B14F-4D97-AF65-F5344CB8AC3E}">
        <p14:creationId xmlns:p14="http://schemas.microsoft.com/office/powerpoint/2010/main" val="276850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QUANTIFYING THE IMPACT OF SLR ON REPO</a:t>
            </a:r>
            <a:endParaRPr lang="en-US" dirty="0"/>
          </a:p>
        </p:txBody>
      </p:sp>
      <p:sp>
        <p:nvSpPr>
          <p:cNvPr id="73"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100" b="0" dirty="0" smtClean="0">
                <a:solidFill>
                  <a:schemeClr val="tx1"/>
                </a:solidFill>
                <a:latin typeface="+mn-lt"/>
              </a:rPr>
              <a:t>The risk-weighted capital requirement takes into account the mitigation provided by the bond collateral (net of a volatility adjustment) and the riskiness of the broker-dealer as counterparty. </a:t>
            </a:r>
            <a:endParaRPr lang="en-US" sz="1100" b="0" dirty="0" smtClean="0">
              <a:solidFill>
                <a:schemeClr val="tx1"/>
              </a:solidFill>
              <a:latin typeface="+mn-lt"/>
            </a:endParaRP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The SLR is based solely on market value and doesn’t differentiate at all across risk assets – all assets require a 5% capital allocation.</a:t>
            </a:r>
            <a:endParaRPr lang="en-US" sz="1100" b="0" dirty="0" smtClean="0">
              <a:solidFill>
                <a:schemeClr val="tx1"/>
              </a:solidFill>
              <a:latin typeface="+mn-lt"/>
            </a:endParaRP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The leverage requirement </a:t>
            </a:r>
            <a:r>
              <a:rPr lang="en-US" sz="1100" b="0" dirty="0" smtClean="0">
                <a:solidFill>
                  <a:schemeClr val="tx1"/>
                </a:solidFill>
                <a:latin typeface="+mn-lt"/>
              </a:rPr>
              <a:t>also</a:t>
            </a:r>
            <a:r>
              <a:rPr lang="en-US" sz="1100" b="0" dirty="0" smtClean="0">
                <a:solidFill>
                  <a:schemeClr val="tx1"/>
                </a:solidFill>
                <a:latin typeface="+mn-lt"/>
              </a:rPr>
              <a:t> </a:t>
            </a:r>
            <a:r>
              <a:rPr lang="en-US" sz="1100" b="0" dirty="0" smtClean="0">
                <a:solidFill>
                  <a:schemeClr val="tx1"/>
                </a:solidFill>
                <a:latin typeface="+mn-lt"/>
              </a:rPr>
              <a:t>penalizes the under-collateralization of the bank’s exposure to the broker-dealer. </a:t>
            </a:r>
            <a:endParaRPr lang="en-US" sz="1100" b="0" dirty="0">
              <a:solidFill>
                <a:schemeClr val="tx1"/>
              </a:solidFill>
              <a:latin typeface="+mn-lt"/>
            </a:endParaRPr>
          </a:p>
          <a:p>
            <a:pPr>
              <a:lnSpc>
                <a:spcPct val="100000"/>
              </a:lnSpc>
              <a:spcBef>
                <a:spcPts val="0"/>
              </a:spcBef>
            </a:pPr>
            <a:endParaRPr lang="en-US" sz="1100" b="0" dirty="0" smtClean="0">
              <a:solidFill>
                <a:schemeClr val="tx1"/>
              </a:solidFill>
              <a:latin typeface="+mn-lt"/>
            </a:endParaRPr>
          </a:p>
          <a:p>
            <a:pPr>
              <a:lnSpc>
                <a:spcPct val="100000"/>
              </a:lnSpc>
              <a:spcBef>
                <a:spcPts val="0"/>
              </a:spcBef>
            </a:pPr>
            <a:r>
              <a:rPr lang="en-US" sz="1100" b="0" dirty="0" smtClean="0">
                <a:solidFill>
                  <a:schemeClr val="tx1"/>
                </a:solidFill>
                <a:latin typeface="+mn-lt"/>
              </a:rPr>
              <a:t>In this simple example, the LR would increase the risk-weighted capital requirement by 13.5x.</a:t>
            </a:r>
            <a:endParaRPr lang="en-US" sz="1100" b="0" dirty="0">
              <a:solidFill>
                <a:schemeClr val="tx1"/>
              </a:solidFill>
              <a:latin typeface="+mn-lt"/>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3" name="Rectangle 2"/>
          <p:cNvSpPr/>
          <p:nvPr/>
        </p:nvSpPr>
        <p:spPr>
          <a:xfrm>
            <a:off x="2743200" y="1447800"/>
            <a:ext cx="1524000" cy="914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Repo</a:t>
            </a:r>
          </a:p>
          <a:p>
            <a:pPr algn="ctr"/>
            <a:r>
              <a:rPr lang="en-US" sz="1400" b="1" dirty="0" smtClean="0"/>
              <a:t>Counterparty</a:t>
            </a:r>
          </a:p>
          <a:p>
            <a:pPr algn="ctr"/>
            <a:r>
              <a:rPr lang="en-US" sz="1100" i="1" dirty="0" smtClean="0"/>
              <a:t>(e.g. broker-dealer)</a:t>
            </a:r>
            <a:endParaRPr lang="en-US" sz="1100" i="1" dirty="0"/>
          </a:p>
        </p:txBody>
      </p:sp>
      <p:sp>
        <p:nvSpPr>
          <p:cNvPr id="12" name="Rectangle 11"/>
          <p:cNvSpPr/>
          <p:nvPr/>
        </p:nvSpPr>
        <p:spPr>
          <a:xfrm>
            <a:off x="7848600" y="1447800"/>
            <a:ext cx="1524000" cy="914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Reverse Repo</a:t>
            </a:r>
          </a:p>
          <a:p>
            <a:pPr algn="ctr"/>
            <a:r>
              <a:rPr lang="en-US" sz="1400" b="1" dirty="0" smtClean="0"/>
              <a:t>Counterparty</a:t>
            </a:r>
          </a:p>
          <a:p>
            <a:pPr algn="ctr"/>
            <a:r>
              <a:rPr lang="en-US" sz="1100" i="1" dirty="0" smtClean="0"/>
              <a:t>(e.g. bank)</a:t>
            </a:r>
            <a:endParaRPr lang="en-US" sz="1100" i="1" dirty="0"/>
          </a:p>
        </p:txBody>
      </p:sp>
      <p:cxnSp>
        <p:nvCxnSpPr>
          <p:cNvPr id="5" name="Straight Arrow Connector 4"/>
          <p:cNvCxnSpPr/>
          <p:nvPr/>
        </p:nvCxnSpPr>
        <p:spPr>
          <a:xfrm>
            <a:off x="4495800" y="1828800"/>
            <a:ext cx="3124200" cy="1260"/>
          </a:xfrm>
          <a:prstGeom prst="straightConnector1">
            <a:avLst/>
          </a:prstGeom>
          <a:ln>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4495800" y="2133600"/>
            <a:ext cx="3124200" cy="0"/>
          </a:xfrm>
          <a:prstGeom prst="straightConnector1">
            <a:avLst/>
          </a:prstGeom>
          <a:ln>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067300" y="1568450"/>
            <a:ext cx="1981200" cy="261610"/>
          </a:xfrm>
          <a:prstGeom prst="rect">
            <a:avLst/>
          </a:prstGeom>
          <a:noFill/>
        </p:spPr>
        <p:txBody>
          <a:bodyPr wrap="square" rtlCol="0">
            <a:spAutoFit/>
          </a:bodyPr>
          <a:lstStyle/>
          <a:p>
            <a:pPr algn="ctr"/>
            <a:r>
              <a:rPr lang="en-US" sz="1100" i="1" dirty="0" smtClean="0"/>
              <a:t>Bonds (95)</a:t>
            </a:r>
            <a:endParaRPr lang="en-US" sz="1100" i="1" dirty="0"/>
          </a:p>
        </p:txBody>
      </p:sp>
      <p:sp>
        <p:nvSpPr>
          <p:cNvPr id="17" name="TextBox 16"/>
          <p:cNvSpPr txBox="1"/>
          <p:nvPr/>
        </p:nvSpPr>
        <p:spPr>
          <a:xfrm>
            <a:off x="5067300" y="1871990"/>
            <a:ext cx="1981200" cy="261610"/>
          </a:xfrm>
          <a:prstGeom prst="rect">
            <a:avLst/>
          </a:prstGeom>
          <a:noFill/>
        </p:spPr>
        <p:txBody>
          <a:bodyPr wrap="square" rtlCol="0">
            <a:spAutoFit/>
          </a:bodyPr>
          <a:lstStyle/>
          <a:p>
            <a:pPr algn="ctr"/>
            <a:r>
              <a:rPr lang="en-US" sz="1100" i="1" dirty="0" smtClean="0"/>
              <a:t>Cash (100)</a:t>
            </a:r>
            <a:endParaRPr lang="en-US" sz="1100" i="1" dirty="0"/>
          </a:p>
        </p:txBody>
      </p:sp>
      <p:graphicFrame>
        <p:nvGraphicFramePr>
          <p:cNvPr id="13" name="Table 12"/>
          <p:cNvGraphicFramePr>
            <a:graphicFrameLocks noGrp="1"/>
          </p:cNvGraphicFramePr>
          <p:nvPr>
            <p:extLst>
              <p:ext uri="{D42A27DB-BD31-4B8C-83A1-F6EECF244321}">
                <p14:modId xmlns:p14="http://schemas.microsoft.com/office/powerpoint/2010/main" val="2898107469"/>
              </p:ext>
            </p:extLst>
          </p:nvPr>
        </p:nvGraphicFramePr>
        <p:xfrm>
          <a:off x="2667000" y="2895600"/>
          <a:ext cx="6705600" cy="3362960"/>
        </p:xfrm>
        <a:graphic>
          <a:graphicData uri="http://schemas.openxmlformats.org/drawingml/2006/table">
            <a:tbl>
              <a:tblPr firstRow="1">
                <a:tableStyleId>{3B4B98B0-60AC-42C2-AFA5-B58CD77FA1E5}</a:tableStyleId>
              </a:tblPr>
              <a:tblGrid>
                <a:gridCol w="2743200"/>
                <a:gridCol w="609600"/>
                <a:gridCol w="533400"/>
                <a:gridCol w="2819400"/>
              </a:tblGrid>
              <a:tr h="370840">
                <a:tc>
                  <a:txBody>
                    <a:bodyPr/>
                    <a:lstStyle/>
                    <a:p>
                      <a:r>
                        <a:rPr lang="en-US" sz="1200" i="1" dirty="0" smtClean="0"/>
                        <a:t>Risk-weighted</a:t>
                      </a:r>
                      <a:r>
                        <a:rPr lang="en-US" sz="1200" i="1" baseline="0" dirty="0" smtClean="0"/>
                        <a:t> capital requirement</a:t>
                      </a:r>
                      <a:endParaRPr lang="en-US" sz="1200" i="1" dirty="0"/>
                    </a:p>
                  </a:txBody>
                  <a:tcPr anchor="ctr"/>
                </a:tc>
                <a:tc>
                  <a:txBody>
                    <a:bodyPr/>
                    <a:lstStyle/>
                    <a:p>
                      <a:endParaRPr lang="en-US" sz="1200" i="1" dirty="0"/>
                    </a:p>
                  </a:txBody>
                  <a:tcPr anchor="ctr">
                    <a:lnR w="12700" cap="flat" cmpd="sng" algn="ctr">
                      <a:solidFill>
                        <a:schemeClr val="accent1"/>
                      </a:solidFill>
                      <a:prstDash val="solid"/>
                      <a:round/>
                      <a:headEnd type="none" w="med" len="med"/>
                      <a:tailEnd type="none" w="med" len="med"/>
                    </a:lnR>
                  </a:tcPr>
                </a:tc>
                <a:tc>
                  <a:txBody>
                    <a:bodyPr/>
                    <a:lstStyle/>
                    <a:p>
                      <a:endParaRPr lang="en-US" sz="1200" i="1" dirty="0"/>
                    </a:p>
                  </a:txBody>
                  <a:tcPr anchor="ctr">
                    <a:lnL w="12700" cap="flat" cmpd="sng" algn="ctr">
                      <a:solidFill>
                        <a:schemeClr val="accent1"/>
                      </a:solidFill>
                      <a:prstDash val="solid"/>
                      <a:round/>
                      <a:headEnd type="none" w="med" len="med"/>
                      <a:tailEnd type="none" w="med" len="med"/>
                    </a:lnL>
                  </a:tcPr>
                </a:tc>
                <a:tc>
                  <a:txBody>
                    <a:bodyPr/>
                    <a:lstStyle/>
                    <a:p>
                      <a:r>
                        <a:rPr lang="en-US" sz="1200" i="1" dirty="0" smtClean="0"/>
                        <a:t>LR capital requirement</a:t>
                      </a:r>
                      <a:endParaRPr lang="en-US" sz="1200" i="1" dirty="0"/>
                    </a:p>
                  </a:txBody>
                  <a:tcPr anchor="ctr"/>
                </a:tc>
              </a:tr>
              <a:tr h="370840">
                <a:tc>
                  <a:txBody>
                    <a:bodyPr/>
                    <a:lstStyle/>
                    <a:p>
                      <a:r>
                        <a:rPr lang="en-US" sz="1100" dirty="0" smtClean="0"/>
                        <a:t>Bank gross exposure to broker-dealer</a:t>
                      </a:r>
                      <a:endParaRPr lang="en-US" sz="1100" dirty="0"/>
                    </a:p>
                  </a:txBody>
                  <a:tcPr anchor="ctr">
                    <a:lnB w="12700" cap="flat" cmpd="sng" algn="ctr">
                      <a:solidFill>
                        <a:schemeClr val="accent1"/>
                      </a:solidFill>
                      <a:prstDash val="sysDot"/>
                      <a:round/>
                      <a:headEnd type="none" w="med" len="med"/>
                      <a:tailEnd type="none" w="med" len="med"/>
                    </a:lnB>
                  </a:tcPr>
                </a:tc>
                <a:tc>
                  <a:txBody>
                    <a:bodyPr/>
                    <a:lstStyle/>
                    <a:p>
                      <a:pPr algn="r"/>
                      <a:r>
                        <a:rPr lang="en-US" sz="1100" dirty="0" smtClean="0"/>
                        <a:t>100</a:t>
                      </a:r>
                      <a:endParaRPr lang="en-US" sz="1100" dirty="0"/>
                    </a:p>
                  </a:txBody>
                  <a:tcPr anchor="ctr">
                    <a:lnR w="12700" cap="flat" cmpd="sng" algn="ctr">
                      <a:solidFill>
                        <a:schemeClr val="accent1"/>
                      </a:solidFill>
                      <a:prstDash val="solid"/>
                      <a:round/>
                      <a:headEnd type="none" w="med" len="med"/>
                      <a:tailEnd type="none" w="med" len="med"/>
                    </a:lnR>
                    <a:lnB w="12700" cap="flat" cmpd="sng" algn="ctr">
                      <a:solidFill>
                        <a:schemeClr val="accent1"/>
                      </a:solidFill>
                      <a:prstDash val="sysDot"/>
                      <a:round/>
                      <a:headEnd type="none" w="med" len="med"/>
                      <a:tailEnd type="none" w="med" len="med"/>
                    </a:lnB>
                  </a:tcPr>
                </a:tc>
                <a:tc>
                  <a:txBody>
                    <a:bodyPr/>
                    <a:lstStyle/>
                    <a:p>
                      <a:pPr algn="r"/>
                      <a:r>
                        <a:rPr lang="en-US" sz="1100" dirty="0" smtClean="0"/>
                        <a:t>100</a:t>
                      </a:r>
                      <a:endParaRPr lang="en-US" sz="1100" dirty="0"/>
                    </a:p>
                  </a:txBody>
                  <a:tcPr anchor="ctr">
                    <a:lnL w="12700" cap="flat" cmpd="sng" algn="ctr">
                      <a:solidFill>
                        <a:schemeClr val="accent1"/>
                      </a:solidFill>
                      <a:prstDash val="solid"/>
                      <a:round/>
                      <a:headEnd type="none" w="med" len="med"/>
                      <a:tailEnd type="none" w="med" len="med"/>
                    </a:lnL>
                    <a:lnB w="12700" cap="flat" cmpd="sng" algn="ctr">
                      <a:solidFill>
                        <a:schemeClr val="accent1"/>
                      </a:solidFill>
                      <a:prstDash val="sysDot"/>
                      <a:round/>
                      <a:headEnd type="none" w="med" len="med"/>
                      <a:tailEnd type="none" w="med" len="med"/>
                    </a:lnB>
                  </a:tcPr>
                </a:tc>
                <a:tc>
                  <a:txBody>
                    <a:bodyPr/>
                    <a:lstStyle/>
                    <a:p>
                      <a:r>
                        <a:rPr lang="en-US" sz="1100" dirty="0" smtClean="0"/>
                        <a:t>Bank gross exposure to broker-dealer</a:t>
                      </a:r>
                      <a:endParaRPr lang="en-US" sz="1100" dirty="0"/>
                    </a:p>
                  </a:txBody>
                  <a:tcPr anchor="ctr">
                    <a:lnB w="12700" cap="flat" cmpd="sng" algn="ctr">
                      <a:solidFill>
                        <a:schemeClr val="accent1"/>
                      </a:solidFill>
                      <a:prstDash val="sysDot"/>
                      <a:round/>
                      <a:headEnd type="none" w="med" len="med"/>
                      <a:tailEnd type="none" w="med" len="med"/>
                    </a:lnB>
                  </a:tcPr>
                </a:tc>
              </a:tr>
              <a:tr h="370840">
                <a:tc>
                  <a:txBody>
                    <a:bodyPr/>
                    <a:lstStyle/>
                    <a:p>
                      <a:r>
                        <a:rPr lang="en-US" sz="1100" dirty="0" smtClean="0"/>
                        <a:t>Bond collateral received</a:t>
                      </a:r>
                      <a:endParaRPr lang="en-US" sz="1100"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algn="r"/>
                      <a:r>
                        <a:rPr lang="en-US" sz="1100" dirty="0" smtClean="0">
                          <a:solidFill>
                            <a:srgbClr val="FF0000"/>
                          </a:solidFill>
                        </a:rPr>
                        <a:t>(95)</a:t>
                      </a:r>
                      <a:endParaRPr lang="en-US" sz="1100" dirty="0">
                        <a:solidFill>
                          <a:srgbClr val="FF0000"/>
                        </a:solidFill>
                      </a:endParaRPr>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algn="r"/>
                      <a:r>
                        <a:rPr lang="en-US" sz="1100" dirty="0" smtClean="0"/>
                        <a:t>5</a:t>
                      </a:r>
                      <a:endParaRPr lang="en-US" sz="1100"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r>
                        <a:rPr lang="en-US" sz="1100" dirty="0" smtClean="0"/>
                        <a:t>Under-collateralization</a:t>
                      </a:r>
                      <a:endParaRPr lang="en-US" sz="1100"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r>
              <a:tr h="370840">
                <a:tc>
                  <a:txBody>
                    <a:bodyPr/>
                    <a:lstStyle/>
                    <a:p>
                      <a:r>
                        <a:rPr lang="en-US" sz="1100" dirty="0" smtClean="0"/>
                        <a:t>Collateral volatility adjustment (5</a:t>
                      </a:r>
                      <a:r>
                        <a:rPr lang="en-US" sz="1100" dirty="0" smtClean="0"/>
                        <a:t>% *</a:t>
                      </a:r>
                      <a:r>
                        <a:rPr lang="en-US" sz="1100" baseline="0" dirty="0" smtClean="0"/>
                        <a:t> 95</a:t>
                      </a:r>
                      <a:r>
                        <a:rPr lang="en-US" sz="1100" dirty="0" smtClean="0"/>
                        <a:t>)</a:t>
                      </a:r>
                      <a:endParaRPr lang="en-US" sz="1100"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algn="r"/>
                      <a:r>
                        <a:rPr lang="en-US" sz="1100" dirty="0" smtClean="0"/>
                        <a:t>4.75</a:t>
                      </a:r>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algn="r"/>
                      <a:endParaRPr lang="en-US" sz="1100"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endParaRPr lang="en-US" sz="1100"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r>
              <a:tr h="370840">
                <a:tc>
                  <a:txBody>
                    <a:bodyPr/>
                    <a:lstStyle/>
                    <a:p>
                      <a:r>
                        <a:rPr lang="en-US" sz="1100" dirty="0" smtClean="0"/>
                        <a:t>Bank net exposure to broker-dealer</a:t>
                      </a:r>
                      <a:endParaRPr lang="en-US" sz="1100"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algn="r"/>
                      <a:r>
                        <a:rPr lang="en-US" sz="1100" dirty="0" smtClean="0"/>
                        <a:t>9.75</a:t>
                      </a:r>
                      <a:endParaRPr lang="en-US" sz="1100" dirty="0"/>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algn="r"/>
                      <a:r>
                        <a:rPr lang="en-US" sz="1100" dirty="0" smtClean="0"/>
                        <a:t>105</a:t>
                      </a:r>
                      <a:endParaRPr lang="en-US" sz="1100"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r>
                        <a:rPr lang="en-US" sz="1100" dirty="0" smtClean="0"/>
                        <a:t>Bank total exposure to broker-</a:t>
                      </a:r>
                      <a:r>
                        <a:rPr lang="en-US" sz="1100" baseline="0" dirty="0" smtClean="0"/>
                        <a:t>dealer</a:t>
                      </a:r>
                      <a:endParaRPr lang="en-US" sz="1100"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r>
              <a:tr h="370840">
                <a:tc>
                  <a:txBody>
                    <a:bodyPr/>
                    <a:lstStyle/>
                    <a:p>
                      <a:r>
                        <a:rPr lang="en-US" sz="1100" dirty="0" smtClean="0"/>
                        <a:t>Broker-dealer exposure risk-weight</a:t>
                      </a:r>
                      <a:endParaRPr lang="en-US" sz="1100"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algn="r"/>
                      <a:r>
                        <a:rPr lang="en-US" sz="1100" dirty="0" smtClean="0"/>
                        <a:t>20%</a:t>
                      </a:r>
                      <a:endParaRPr lang="en-US" sz="1100" dirty="0"/>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algn="r"/>
                      <a:endParaRPr lang="en-US" sz="1100"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endParaRPr lang="en-US" sz="1100"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r>
              <a:tr h="370840">
                <a:tc>
                  <a:txBody>
                    <a:bodyPr/>
                    <a:lstStyle/>
                    <a:p>
                      <a:r>
                        <a:rPr lang="en-US" sz="1100" dirty="0" smtClean="0"/>
                        <a:t>Risk-weighted asset</a:t>
                      </a:r>
                      <a:endParaRPr lang="en-US" sz="1100"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algn="r"/>
                      <a:r>
                        <a:rPr lang="en-US" sz="1100" dirty="0" smtClean="0"/>
                        <a:t>1.95</a:t>
                      </a:r>
                      <a:endParaRPr lang="en-US" sz="1100" dirty="0"/>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algn="r"/>
                      <a:endParaRPr lang="en-US"/>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endParaRPr lang="en-US"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r>
              <a:tr h="370840">
                <a:tc>
                  <a:txBody>
                    <a:bodyPr/>
                    <a:lstStyle/>
                    <a:p>
                      <a:r>
                        <a:rPr lang="en-US" sz="1100" dirty="0" smtClean="0"/>
                        <a:t>Target Tier</a:t>
                      </a:r>
                      <a:r>
                        <a:rPr lang="en-US" sz="1100" baseline="0" dirty="0" smtClean="0"/>
                        <a:t> 1 capital ratio</a:t>
                      </a:r>
                      <a:endParaRPr lang="en-US" sz="1100"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r"/>
                      <a:r>
                        <a:rPr lang="en-US" sz="1100" dirty="0" smtClean="0"/>
                        <a:t>12%</a:t>
                      </a:r>
                      <a:endParaRPr lang="en-US" sz="1100" dirty="0"/>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r"/>
                      <a:r>
                        <a:rPr lang="en-US" sz="1100" dirty="0" smtClean="0"/>
                        <a:t>5%</a:t>
                      </a:r>
                      <a:endParaRPr lang="en-US" sz="1100"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ysDot"/>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sz="1100" dirty="0" smtClean="0"/>
                        <a:t>Minimum Tier</a:t>
                      </a:r>
                      <a:r>
                        <a:rPr lang="en-US" sz="1100" baseline="0" dirty="0" smtClean="0"/>
                        <a:t> 1 </a:t>
                      </a:r>
                      <a:r>
                        <a:rPr lang="en-US" sz="1100" baseline="0" dirty="0" smtClean="0"/>
                        <a:t>LR (for G-SIBs)</a:t>
                      </a:r>
                      <a:endParaRPr lang="en-US" sz="1100"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olid"/>
                      <a:round/>
                      <a:headEnd type="none" w="med" len="med"/>
                      <a:tailEnd type="none" w="med" len="med"/>
                    </a:lnB>
                  </a:tcPr>
                </a:tc>
              </a:tr>
              <a:tr h="370840">
                <a:tc>
                  <a:txBody>
                    <a:bodyPr/>
                    <a:lstStyle/>
                    <a:p>
                      <a:r>
                        <a:rPr lang="en-US" sz="1100" b="1" dirty="0" smtClean="0"/>
                        <a:t>Tier 1 capital requirement</a:t>
                      </a:r>
                      <a:endParaRPr lang="en-US" sz="1100" b="1" dirty="0"/>
                    </a:p>
                  </a:txBody>
                  <a:tcPr anchor="ctr">
                    <a:lnT w="12700" cap="flat" cmpd="sng" algn="ctr">
                      <a:solidFill>
                        <a:schemeClr val="accent1"/>
                      </a:solidFill>
                      <a:prstDash val="solid"/>
                      <a:round/>
                      <a:headEnd type="none" w="med" len="med"/>
                      <a:tailEnd type="none" w="med" len="med"/>
                    </a:lnT>
                  </a:tcPr>
                </a:tc>
                <a:tc>
                  <a:txBody>
                    <a:bodyPr/>
                    <a:lstStyle/>
                    <a:p>
                      <a:pPr algn="r"/>
                      <a:r>
                        <a:rPr lang="en-US" sz="1100" b="1" dirty="0" smtClean="0"/>
                        <a:t>0.23</a:t>
                      </a:r>
                      <a:endParaRPr lang="en-US" sz="1100" b="1" dirty="0"/>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r"/>
                      <a:r>
                        <a:rPr lang="en-US" sz="1100" b="1" dirty="0" smtClean="0"/>
                        <a:t>5.25</a:t>
                      </a:r>
                      <a:endParaRPr lang="en-US" sz="1100" b="1"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tcPr>
                </a:tc>
                <a:tc>
                  <a:txBody>
                    <a:bodyPr/>
                    <a:lstStyle/>
                    <a:p>
                      <a:r>
                        <a:rPr lang="en-US" sz="1100" b="1" dirty="0" smtClean="0"/>
                        <a:t>22.8 </a:t>
                      </a:r>
                      <a:r>
                        <a:rPr lang="en-US" sz="1100" b="1" dirty="0" smtClean="0"/>
                        <a:t>times</a:t>
                      </a:r>
                      <a:r>
                        <a:rPr lang="en-US" sz="1100" b="1" baseline="0" dirty="0" smtClean="0"/>
                        <a:t> increase</a:t>
                      </a:r>
                      <a:endParaRPr lang="en-US" sz="1100" b="1" dirty="0"/>
                    </a:p>
                  </a:txBody>
                  <a:tcPr anchor="ctr">
                    <a:lnT w="12700" cap="flat" cmpd="sng" algn="ctr">
                      <a:solidFill>
                        <a:schemeClr val="accent1"/>
                      </a:solidFill>
                      <a:prstDash val="solid"/>
                      <a:round/>
                      <a:headEnd type="none" w="med" len="med"/>
                      <a:tailEnd type="none" w="med" len="med"/>
                    </a:lnT>
                  </a:tcPr>
                </a:tc>
              </a:tr>
            </a:tbl>
          </a:graphicData>
        </a:graphic>
      </p:graphicFrame>
      <p:sp>
        <p:nvSpPr>
          <p:cNvPr id="11" name="TextBox 10"/>
          <p:cNvSpPr txBox="1"/>
          <p:nvPr/>
        </p:nvSpPr>
        <p:spPr>
          <a:xfrm>
            <a:off x="2472698" y="6939687"/>
            <a:ext cx="5299702" cy="230832"/>
          </a:xfrm>
          <a:prstGeom prst="rect">
            <a:avLst/>
          </a:prstGeom>
          <a:noFill/>
        </p:spPr>
        <p:txBody>
          <a:bodyPr wrap="square" rtlCol="0">
            <a:spAutoFit/>
          </a:bodyPr>
          <a:lstStyle/>
          <a:p>
            <a:r>
              <a:rPr lang="en-US" sz="900" i="1" dirty="0" smtClean="0">
                <a:latin typeface="Calibri" panose="020F0502020204030204" pitchFamily="34" charset="0"/>
              </a:rPr>
              <a:t>Source: </a:t>
            </a:r>
            <a:r>
              <a:rPr lang="en-US" sz="900" i="1" dirty="0">
                <a:latin typeface="Calibri" panose="020F0502020204030204" pitchFamily="34" charset="0"/>
              </a:rPr>
              <a:t> </a:t>
            </a:r>
            <a:r>
              <a:rPr lang="en-US" sz="900" i="1" dirty="0" smtClean="0">
                <a:latin typeface="Calibri" panose="020F0502020204030204" pitchFamily="34" charset="0"/>
              </a:rPr>
              <a:t>Adapted from “</a:t>
            </a:r>
            <a:r>
              <a:rPr lang="en-US" sz="900" i="1" dirty="0" smtClean="0">
                <a:latin typeface="Calibri" panose="020F0502020204030204" pitchFamily="34" charset="0"/>
              </a:rPr>
              <a:t>Leverage Ratio: the impact on securities financing transactions</a:t>
            </a:r>
            <a:r>
              <a:rPr lang="en-US" sz="900" i="1" dirty="0" smtClean="0">
                <a:latin typeface="Calibri" panose="020F0502020204030204" pitchFamily="34" charset="0"/>
              </a:rPr>
              <a:t>”, PwC, February 2014 </a:t>
            </a:r>
            <a:endParaRPr lang="en-US" sz="900" i="1" dirty="0">
              <a:latin typeface="Calibri" panose="020F0502020204030204" pitchFamily="34" charset="0"/>
            </a:endParaRPr>
          </a:p>
        </p:txBody>
      </p:sp>
    </p:spTree>
    <p:extLst>
      <p:ext uri="{BB962C8B-B14F-4D97-AF65-F5344CB8AC3E}">
        <p14:creationId xmlns:p14="http://schemas.microsoft.com/office/powerpoint/2010/main" val="17506912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LESS REPO MEANS LESS RELATIVE VALUE TRADING</a:t>
            </a:r>
            <a:endParaRPr lang="en-US" sz="1200" b="0" dirty="0"/>
          </a:p>
        </p:txBody>
      </p:sp>
      <p:sp>
        <p:nvSpPr>
          <p:cNvPr id="3" name="TextBox 2"/>
          <p:cNvSpPr txBox="1"/>
          <p:nvPr/>
        </p:nvSpPr>
        <p:spPr>
          <a:xfrm>
            <a:off x="145657" y="1218129"/>
            <a:ext cx="2168665" cy="3616375"/>
          </a:xfrm>
          <a:prstGeom prst="rect">
            <a:avLst/>
          </a:prstGeom>
          <a:noFill/>
        </p:spPr>
        <p:txBody>
          <a:bodyPr wrap="square" rtlCol="0">
            <a:spAutoFit/>
          </a:bodyPr>
          <a:lstStyle/>
          <a:p>
            <a:pPr defTabSz="914400" fontAlgn="base">
              <a:spcAft>
                <a:spcPct val="0"/>
              </a:spcAft>
            </a:pPr>
            <a:r>
              <a:rPr lang="en-US" sz="1100" dirty="0" smtClean="0">
                <a:solidFill>
                  <a:srgbClr val="000000"/>
                </a:solidFill>
              </a:rPr>
              <a:t>Broker-dealer balance </a:t>
            </a:r>
            <a:r>
              <a:rPr lang="en-US" sz="1100" dirty="0" smtClean="0">
                <a:solidFill>
                  <a:srgbClr val="000000"/>
                </a:solidFill>
              </a:rPr>
              <a:t>sheets and in particular the size of the repo book have </a:t>
            </a:r>
            <a:r>
              <a:rPr lang="en-US" sz="1100" dirty="0" smtClean="0">
                <a:solidFill>
                  <a:srgbClr val="000000"/>
                </a:solidFill>
              </a:rPr>
              <a:t>shrunk </a:t>
            </a:r>
            <a:r>
              <a:rPr lang="en-US" sz="1100" dirty="0" smtClean="0">
                <a:solidFill>
                  <a:srgbClr val="000000"/>
                </a:solidFill>
              </a:rPr>
              <a:t>significantly because of </a:t>
            </a:r>
            <a:r>
              <a:rPr lang="en-US" sz="1100" dirty="0" smtClean="0">
                <a:solidFill>
                  <a:srgbClr val="000000"/>
                </a:solidFill>
              </a:rPr>
              <a:t>Basel III requirements. This contraction in repo has impacted liquidity in fixed income markets and in particular made relative value trading much more challenging. </a:t>
            </a:r>
          </a:p>
          <a:p>
            <a:pPr defTabSz="914400" fontAlgn="base">
              <a:spcAft>
                <a:spcPct val="0"/>
              </a:spcAft>
            </a:pPr>
            <a:endParaRPr lang="en-US" sz="1100" dirty="0">
              <a:solidFill>
                <a:srgbClr val="000000"/>
              </a:solidFill>
            </a:endParaRPr>
          </a:p>
          <a:p>
            <a:pPr defTabSz="914400" fontAlgn="base">
              <a:spcAft>
                <a:spcPct val="0"/>
              </a:spcAft>
            </a:pPr>
            <a:r>
              <a:rPr lang="en-US" sz="1100" dirty="0" smtClean="0">
                <a:solidFill>
                  <a:srgbClr val="000000"/>
                </a:solidFill>
              </a:rPr>
              <a:t>The recent phenomenon of negative swap spreads can in part be attributed to balance sheet pressures.</a:t>
            </a:r>
            <a:endParaRPr lang="en-US" sz="1100" dirty="0">
              <a:solidFill>
                <a:srgbClr val="000000"/>
              </a:solidFill>
            </a:endParaRPr>
          </a:p>
          <a:p>
            <a:pPr defTabSz="914400" fontAlgn="base">
              <a:spcAft>
                <a:spcPct val="0"/>
              </a:spcAft>
              <a:buClr>
                <a:srgbClr val="203353"/>
              </a:buClr>
              <a:defRPr/>
            </a:pPr>
            <a:endParaRPr lang="en-US" sz="1500" dirty="0" smtClean="0">
              <a:solidFill>
                <a:srgbClr val="2E398A"/>
              </a:solidFill>
            </a:endParaRPr>
          </a:p>
          <a:p>
            <a:pPr defTabSz="914400" fontAlgn="base">
              <a:spcAft>
                <a:spcPct val="0"/>
              </a:spcAft>
              <a:buClr>
                <a:srgbClr val="203353"/>
              </a:buClr>
              <a:defRPr/>
            </a:pPr>
            <a:endParaRPr lang="en-US" sz="1500" dirty="0">
              <a:solidFill>
                <a:srgbClr val="2E398A"/>
              </a:solidFill>
            </a:endParaRPr>
          </a:p>
          <a:p>
            <a:pPr defTabSz="914400" fontAlgn="base">
              <a:spcAft>
                <a:spcPct val="0"/>
              </a:spcAft>
              <a:buClr>
                <a:srgbClr val="203353"/>
              </a:buClr>
              <a:defRPr/>
            </a:pPr>
            <a:endParaRPr lang="en-US" sz="1500" dirty="0" smtClean="0">
              <a:solidFill>
                <a:srgbClr val="2E398A"/>
              </a:solidFill>
            </a:endParaRPr>
          </a:p>
          <a:p>
            <a:pPr defTabSz="914400" fontAlgn="base">
              <a:spcAft>
                <a:spcPct val="0"/>
              </a:spcAft>
              <a:buClr>
                <a:srgbClr val="203353"/>
              </a:buClr>
              <a:defRPr/>
            </a:pPr>
            <a:endParaRPr lang="en-US" sz="1500" dirty="0">
              <a:solidFill>
                <a:srgbClr val="2E398A"/>
              </a:solidFill>
            </a:endParaRPr>
          </a:p>
          <a:p>
            <a:pPr defTabSz="914400" fontAlgn="base">
              <a:spcAft>
                <a:spcPct val="0"/>
              </a:spcAft>
              <a:buClr>
                <a:srgbClr val="203353"/>
              </a:buClr>
              <a:defRPr/>
            </a:pPr>
            <a:endParaRPr lang="en-US" sz="1500" dirty="0">
              <a:solidFill>
                <a:srgbClr val="2E398A"/>
              </a:solidFill>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defTabSz="914400" fontAlgn="base">
              <a:spcBef>
                <a:spcPct val="0"/>
              </a:spcBef>
              <a:spcAft>
                <a:spcPct val="0"/>
              </a:spcAft>
            </a:pPr>
            <a:r>
              <a:rPr lang="en-US" sz="1300" dirty="0" smtClean="0">
                <a:solidFill>
                  <a:srgbClr val="FFFFFF"/>
                </a:solidFill>
              </a:rPr>
              <a:t>LEVERAGE, REPO AND LIQUIDITY</a:t>
            </a:r>
          </a:p>
        </p:txBody>
      </p:sp>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4993" y="2209800"/>
            <a:ext cx="7101467" cy="39434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TextBox 17"/>
          <p:cNvSpPr txBox="1"/>
          <p:nvPr/>
        </p:nvSpPr>
        <p:spPr>
          <a:xfrm>
            <a:off x="2472698" y="6939687"/>
            <a:ext cx="4690102" cy="230832"/>
          </a:xfrm>
          <a:prstGeom prst="rect">
            <a:avLst/>
          </a:prstGeom>
          <a:noFill/>
        </p:spPr>
        <p:txBody>
          <a:bodyPr wrap="square" rtlCol="0">
            <a:spAutoFit/>
          </a:bodyPr>
          <a:lstStyle/>
          <a:p>
            <a:r>
              <a:rPr lang="en-US" sz="900" i="1" dirty="0" smtClean="0">
                <a:latin typeface="Calibri" panose="020F0502020204030204" pitchFamily="34" charset="0"/>
              </a:rPr>
              <a:t>Source: </a:t>
            </a:r>
            <a:r>
              <a:rPr lang="en-US" sz="900" i="1" dirty="0">
                <a:latin typeface="Calibri" panose="020F0502020204030204" pitchFamily="34" charset="0"/>
              </a:rPr>
              <a:t> </a:t>
            </a:r>
            <a:r>
              <a:rPr lang="en-US" sz="900" i="1" dirty="0" smtClean="0">
                <a:latin typeface="Calibri" panose="020F0502020204030204" pitchFamily="34" charset="0"/>
              </a:rPr>
              <a:t>“When agents lose their principals”, Matt King, </a:t>
            </a:r>
            <a:r>
              <a:rPr lang="en-US" sz="900" i="1" dirty="0" err="1" smtClean="0">
                <a:latin typeface="Calibri" panose="020F0502020204030204" pitchFamily="34" charset="0"/>
              </a:rPr>
              <a:t>CitiResearch</a:t>
            </a:r>
            <a:r>
              <a:rPr lang="en-US" sz="900" i="1" dirty="0" smtClean="0">
                <a:latin typeface="Calibri" panose="020F0502020204030204" pitchFamily="34" charset="0"/>
              </a:rPr>
              <a:t>.</a:t>
            </a:r>
            <a:endParaRPr lang="en-US" sz="900" i="1" dirty="0">
              <a:latin typeface="Calibri" panose="020F0502020204030204" pitchFamily="34" charset="0"/>
            </a:endParaRPr>
          </a:p>
        </p:txBody>
      </p:sp>
    </p:spTree>
    <p:extLst>
      <p:ext uri="{BB962C8B-B14F-4D97-AF65-F5344CB8AC3E}">
        <p14:creationId xmlns:p14="http://schemas.microsoft.com/office/powerpoint/2010/main" val="508375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ONGOING EVOLUTION OF REPO </a:t>
            </a:r>
            <a:endParaRPr lang="en-US" dirty="0"/>
          </a:p>
        </p:txBody>
      </p:sp>
      <p:grpSp>
        <p:nvGrpSpPr>
          <p:cNvPr id="63" name="Group 62"/>
          <p:cNvGrpSpPr/>
          <p:nvPr/>
        </p:nvGrpSpPr>
        <p:grpSpPr>
          <a:xfrm>
            <a:off x="3892550" y="1143000"/>
            <a:ext cx="5867400" cy="584200"/>
            <a:chOff x="1473287" y="1339393"/>
            <a:chExt cx="8353600" cy="584200"/>
          </a:xfrm>
        </p:grpSpPr>
        <p:sp>
          <p:nvSpPr>
            <p:cNvPr id="64" name="AutoShape 32"/>
            <p:cNvSpPr>
              <a:spLocks noChangeArrowheads="1"/>
            </p:cNvSpPr>
            <p:nvPr/>
          </p:nvSpPr>
          <p:spPr bwMode="gray">
            <a:xfrm>
              <a:off x="1473287" y="1339393"/>
              <a:ext cx="2206800" cy="584200"/>
            </a:xfrm>
            <a:prstGeom prst="chevron">
              <a:avLst>
                <a:gd name="adj" fmla="val 34952"/>
              </a:avLst>
            </a:prstGeom>
            <a:solidFill>
              <a:schemeClr val="bg2">
                <a:lumMod val="75000"/>
              </a:schemeClr>
            </a:solidFill>
            <a:ln w="12700" cap="rnd" algn="ctr">
              <a:solidFill>
                <a:schemeClr val="bg1"/>
              </a:solidFill>
              <a:miter lim="800000"/>
              <a:headEnd/>
              <a:tailEnd/>
            </a:ln>
          </p:spPr>
          <p:txBody>
            <a:bodyPr lIns="36000" tIns="36000" rIns="36000" bIns="36000" anchor="ctr" anchorCtr="1"/>
            <a:lstStyle/>
            <a:p>
              <a:pPr algn="ctr">
                <a:lnSpc>
                  <a:spcPct val="106000"/>
                </a:lnSpc>
                <a:defRPr/>
              </a:pPr>
              <a:r>
                <a:rPr lang="en-US" altLang="zh-CN" sz="1100" b="1" dirty="0" smtClean="0">
                  <a:solidFill>
                    <a:schemeClr val="bg1"/>
                  </a:solidFill>
                  <a:latin typeface="Arial Unicode MS" pitchFamily="34" charset="-122"/>
                  <a:ea typeface="Arial Unicode MS" pitchFamily="34" charset="-122"/>
                  <a:cs typeface="Arial Unicode MS" pitchFamily="34" charset="-122"/>
                </a:rPr>
                <a:t>Bilateral</a:t>
              </a:r>
            </a:p>
            <a:p>
              <a:pPr algn="ctr">
                <a:lnSpc>
                  <a:spcPct val="106000"/>
                </a:lnSpc>
                <a:defRPr/>
              </a:pPr>
              <a:r>
                <a:rPr lang="en-US" sz="1100" b="1" dirty="0" smtClean="0">
                  <a:solidFill>
                    <a:schemeClr val="bg1"/>
                  </a:solidFill>
                  <a:latin typeface="Arial Unicode MS" pitchFamily="34" charset="-122"/>
                  <a:ea typeface="Arial Unicode MS" pitchFamily="34" charset="-122"/>
                  <a:cs typeface="Arial Unicode MS" pitchFamily="34" charset="-122"/>
                </a:rPr>
                <a:t>Repo</a:t>
              </a:r>
              <a:endParaRPr lang="en-US" sz="1100" b="1" dirty="0">
                <a:solidFill>
                  <a:schemeClr val="bg1"/>
                </a:solidFill>
                <a:latin typeface="Arial Unicode MS" pitchFamily="34" charset="-122"/>
                <a:ea typeface="Arial Unicode MS" pitchFamily="34" charset="-122"/>
                <a:cs typeface="Arial Unicode MS" pitchFamily="34" charset="-122"/>
              </a:endParaRPr>
            </a:p>
          </p:txBody>
        </p:sp>
        <p:sp>
          <p:nvSpPr>
            <p:cNvPr id="65" name="AutoShape 33"/>
            <p:cNvSpPr>
              <a:spLocks noChangeArrowheads="1"/>
            </p:cNvSpPr>
            <p:nvPr/>
          </p:nvSpPr>
          <p:spPr bwMode="gray">
            <a:xfrm>
              <a:off x="3522220" y="1339393"/>
              <a:ext cx="2206800" cy="584200"/>
            </a:xfrm>
            <a:prstGeom prst="chevron">
              <a:avLst>
                <a:gd name="adj" fmla="val 34975"/>
              </a:avLst>
            </a:prstGeom>
            <a:solidFill>
              <a:schemeClr val="accent5"/>
            </a:solidFill>
            <a:ln w="12700" cap="rnd" algn="ctr">
              <a:solidFill>
                <a:schemeClr val="bg1"/>
              </a:solidFill>
              <a:miter lim="800000"/>
              <a:headEnd/>
              <a:tailEnd/>
            </a:ln>
          </p:spPr>
          <p:txBody>
            <a:bodyPr lIns="36000" tIns="36000" rIns="36000" bIns="36000" anchor="ctr" anchorCtr="1"/>
            <a:lstStyle/>
            <a:p>
              <a:pPr algn="ctr">
                <a:lnSpc>
                  <a:spcPct val="106000"/>
                </a:lnSpc>
                <a:defRPr/>
              </a:pPr>
              <a:r>
                <a:rPr lang="en-US" altLang="zh-CN" sz="1100" b="1" dirty="0" smtClean="0">
                  <a:solidFill>
                    <a:schemeClr val="bg1"/>
                  </a:solidFill>
                  <a:latin typeface="Arial Unicode MS" pitchFamily="34" charset="-122"/>
                  <a:ea typeface="Arial Unicode MS" pitchFamily="34" charset="-122"/>
                  <a:cs typeface="Arial Unicode MS" pitchFamily="34" charset="-122"/>
                </a:rPr>
                <a:t>Tri-party</a:t>
              </a:r>
            </a:p>
            <a:p>
              <a:pPr algn="ctr">
                <a:lnSpc>
                  <a:spcPct val="106000"/>
                </a:lnSpc>
                <a:defRPr/>
              </a:pPr>
              <a:r>
                <a:rPr lang="en-US" sz="1100" b="1" dirty="0" smtClean="0">
                  <a:solidFill>
                    <a:schemeClr val="bg1"/>
                  </a:solidFill>
                  <a:latin typeface="Arial Unicode MS" pitchFamily="34" charset="-122"/>
                  <a:ea typeface="Arial Unicode MS" pitchFamily="34" charset="-122"/>
                  <a:cs typeface="Arial Unicode MS" pitchFamily="34" charset="-122"/>
                </a:rPr>
                <a:t>Repo</a:t>
              </a:r>
              <a:endParaRPr lang="en-US" sz="1100" b="1" dirty="0">
                <a:solidFill>
                  <a:schemeClr val="bg1"/>
                </a:solidFill>
                <a:latin typeface="Arial Unicode MS" pitchFamily="34" charset="-122"/>
                <a:ea typeface="Arial Unicode MS" pitchFamily="34" charset="-122"/>
                <a:cs typeface="Arial Unicode MS" pitchFamily="34" charset="-122"/>
              </a:endParaRPr>
            </a:p>
          </p:txBody>
        </p:sp>
        <p:sp>
          <p:nvSpPr>
            <p:cNvPr id="66" name="AutoShape 34"/>
            <p:cNvSpPr>
              <a:spLocks noChangeArrowheads="1"/>
            </p:cNvSpPr>
            <p:nvPr/>
          </p:nvSpPr>
          <p:spPr bwMode="gray">
            <a:xfrm>
              <a:off x="5571153" y="1339393"/>
              <a:ext cx="2206800" cy="584200"/>
            </a:xfrm>
            <a:prstGeom prst="chevron">
              <a:avLst>
                <a:gd name="adj" fmla="val 34975"/>
              </a:avLst>
            </a:prstGeom>
            <a:solidFill>
              <a:schemeClr val="accent2"/>
            </a:solidFill>
            <a:ln w="12700" cap="rnd" algn="ctr">
              <a:solidFill>
                <a:schemeClr val="bg1"/>
              </a:solidFill>
              <a:miter lim="800000"/>
              <a:headEnd/>
              <a:tailEnd/>
            </a:ln>
          </p:spPr>
          <p:txBody>
            <a:bodyPr lIns="36000" tIns="36000" rIns="36000" bIns="36000" anchor="ctr" anchorCtr="1"/>
            <a:lstStyle/>
            <a:p>
              <a:pPr>
                <a:lnSpc>
                  <a:spcPct val="106000"/>
                </a:lnSpc>
                <a:defRPr/>
              </a:pPr>
              <a:r>
                <a:rPr lang="en-US" sz="1100" b="1" dirty="0" smtClean="0">
                  <a:solidFill>
                    <a:schemeClr val="bg1"/>
                  </a:solidFill>
                  <a:latin typeface="Arial Unicode MS" pitchFamily="34" charset="-122"/>
                  <a:ea typeface="Arial Unicode MS" pitchFamily="34" charset="-122"/>
                  <a:cs typeface="Arial Unicode MS" pitchFamily="34" charset="-122"/>
                </a:rPr>
                <a:t>Clearing</a:t>
              </a:r>
            </a:p>
            <a:p>
              <a:pPr>
                <a:lnSpc>
                  <a:spcPct val="106000"/>
                </a:lnSpc>
                <a:defRPr/>
              </a:pPr>
              <a:r>
                <a:rPr lang="en-US" sz="1100" b="1" dirty="0" smtClean="0">
                  <a:solidFill>
                    <a:schemeClr val="bg1"/>
                  </a:solidFill>
                  <a:latin typeface="Arial Unicode MS" pitchFamily="34" charset="-122"/>
                  <a:ea typeface="Arial Unicode MS" pitchFamily="34" charset="-122"/>
                  <a:cs typeface="Arial Unicode MS" pitchFamily="34" charset="-122"/>
                </a:rPr>
                <a:t>House Lite</a:t>
              </a:r>
              <a:endParaRPr lang="en-US" sz="1100" b="1" dirty="0">
                <a:solidFill>
                  <a:schemeClr val="bg1"/>
                </a:solidFill>
                <a:latin typeface="Arial Unicode MS" pitchFamily="34" charset="-122"/>
                <a:ea typeface="Arial Unicode MS" pitchFamily="34" charset="-122"/>
                <a:cs typeface="Arial Unicode MS" pitchFamily="34" charset="-122"/>
              </a:endParaRPr>
            </a:p>
          </p:txBody>
        </p:sp>
        <p:sp>
          <p:nvSpPr>
            <p:cNvPr id="67" name="AutoShape 35"/>
            <p:cNvSpPr>
              <a:spLocks noChangeArrowheads="1"/>
            </p:cNvSpPr>
            <p:nvPr/>
          </p:nvSpPr>
          <p:spPr bwMode="gray">
            <a:xfrm>
              <a:off x="7620087" y="1339393"/>
              <a:ext cx="2206800" cy="584200"/>
            </a:xfrm>
            <a:prstGeom prst="chevron">
              <a:avLst>
                <a:gd name="adj" fmla="val 34975"/>
              </a:avLst>
            </a:prstGeom>
            <a:solidFill>
              <a:schemeClr val="accent1"/>
            </a:solidFill>
            <a:ln w="12700" cap="rnd" algn="ctr">
              <a:solidFill>
                <a:schemeClr val="bg1"/>
              </a:solidFill>
              <a:miter lim="800000"/>
              <a:headEnd/>
              <a:tailEnd/>
            </a:ln>
          </p:spPr>
          <p:txBody>
            <a:bodyPr lIns="36000" tIns="36000" rIns="36000" bIns="36000" anchor="ctr" anchorCtr="1"/>
            <a:lstStyle/>
            <a:p>
              <a:pPr>
                <a:lnSpc>
                  <a:spcPct val="106000"/>
                </a:lnSpc>
                <a:defRPr/>
              </a:pPr>
              <a:r>
                <a:rPr lang="en-US" altLang="zh-CN" sz="1100" b="1" dirty="0" smtClean="0">
                  <a:solidFill>
                    <a:schemeClr val="bg1"/>
                  </a:solidFill>
                  <a:latin typeface="Arial Unicode MS" pitchFamily="34" charset="-122"/>
                  <a:ea typeface="Arial Unicode MS" pitchFamily="34" charset="-122"/>
                  <a:cs typeface="Arial Unicode MS" pitchFamily="34" charset="-122"/>
                </a:rPr>
                <a:t>Centrally</a:t>
              </a:r>
            </a:p>
            <a:p>
              <a:pPr>
                <a:lnSpc>
                  <a:spcPct val="106000"/>
                </a:lnSpc>
                <a:defRPr/>
              </a:pPr>
              <a:r>
                <a:rPr lang="en-US" sz="1100" b="1" dirty="0" smtClean="0">
                  <a:solidFill>
                    <a:schemeClr val="bg1"/>
                  </a:solidFill>
                  <a:latin typeface="Arial Unicode MS" pitchFamily="34" charset="-122"/>
                  <a:ea typeface="Arial Unicode MS" pitchFamily="34" charset="-122"/>
                  <a:cs typeface="Arial Unicode MS" pitchFamily="34" charset="-122"/>
                </a:rPr>
                <a:t>Cleared Repo</a:t>
              </a:r>
              <a:endParaRPr lang="en-US" sz="1100" b="1" dirty="0">
                <a:solidFill>
                  <a:schemeClr val="bg1"/>
                </a:solidFill>
                <a:latin typeface="Arial Unicode MS" pitchFamily="34" charset="-122"/>
                <a:ea typeface="Arial Unicode MS" pitchFamily="34" charset="-122"/>
                <a:cs typeface="Arial Unicode MS" pitchFamily="34" charset="-122"/>
              </a:endParaRPr>
            </a:p>
          </p:txBody>
        </p:sp>
      </p:grpSp>
      <p:graphicFrame>
        <p:nvGraphicFramePr>
          <p:cNvPr id="68" name="Table 67"/>
          <p:cNvGraphicFramePr>
            <a:graphicFrameLocks noGrp="1"/>
          </p:cNvGraphicFramePr>
          <p:nvPr>
            <p:extLst>
              <p:ext uri="{D42A27DB-BD31-4B8C-83A1-F6EECF244321}">
                <p14:modId xmlns:p14="http://schemas.microsoft.com/office/powerpoint/2010/main" val="4017831818"/>
              </p:ext>
            </p:extLst>
          </p:nvPr>
        </p:nvGraphicFramePr>
        <p:xfrm>
          <a:off x="2514600" y="1784807"/>
          <a:ext cx="7086600" cy="4876800"/>
        </p:xfrm>
        <a:graphic>
          <a:graphicData uri="http://schemas.openxmlformats.org/drawingml/2006/table">
            <a:tbl>
              <a:tblPr>
                <a:tableStyleId>{2D5ABB26-0587-4C30-8999-92F81FD0307C}</a:tableStyleId>
              </a:tblPr>
              <a:tblGrid>
                <a:gridCol w="1417320"/>
                <a:gridCol w="1417320"/>
                <a:gridCol w="1417320"/>
                <a:gridCol w="1417320"/>
                <a:gridCol w="1417320"/>
              </a:tblGrid>
              <a:tr h="609600">
                <a:tc>
                  <a:txBody>
                    <a:bodyPr/>
                    <a:lstStyle/>
                    <a:p>
                      <a:r>
                        <a:rPr lang="en-US" sz="1050" b="1" dirty="0" smtClean="0">
                          <a:solidFill>
                            <a:schemeClr val="bg1"/>
                          </a:solidFill>
                        </a:rPr>
                        <a:t>Documentation</a:t>
                      </a:r>
                      <a:endParaRPr lang="en-US" sz="105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marL="171450" indent="-171450">
                        <a:buFontTx/>
                        <a:buChar char="-"/>
                        <a:tabLst/>
                      </a:pPr>
                      <a:r>
                        <a:rPr lang="en-US" sz="800" dirty="0" smtClean="0"/>
                        <a:t>Individual GMRAs</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pPr marL="171450" indent="-171450">
                        <a:buFontTx/>
                        <a:buChar char="-"/>
                      </a:pPr>
                      <a:r>
                        <a:rPr lang="en-US" sz="800" dirty="0" smtClean="0"/>
                        <a:t>GMRAs and CRMAs</a:t>
                      </a:r>
                    </a:p>
                    <a:p>
                      <a:pPr marL="171450" indent="-171450">
                        <a:buFontTx/>
                        <a:buChar char="-"/>
                      </a:pPr>
                      <a:r>
                        <a:rPr lang="en-US" sz="800" dirty="0" smtClean="0"/>
                        <a:t>Clearing</a:t>
                      </a:r>
                      <a:r>
                        <a:rPr lang="en-US" sz="800" baseline="0" dirty="0" smtClean="0"/>
                        <a:t> bank agreements</a:t>
                      </a:r>
                      <a:endParaRPr lang="en-US" sz="8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marL="171450" indent="-171450">
                        <a:buFontTx/>
                        <a:buChar char="-"/>
                      </a:pPr>
                      <a:r>
                        <a:rPr lang="en-US" sz="800" dirty="0" smtClean="0"/>
                        <a:t>GRMAs, clearing bank agreements</a:t>
                      </a:r>
                    </a:p>
                    <a:p>
                      <a:pPr marL="171450" indent="-171450">
                        <a:buFontTx/>
                        <a:buChar char="-"/>
                      </a:pPr>
                      <a:r>
                        <a:rPr lang="en-US" sz="800" dirty="0" smtClean="0"/>
                        <a:t>Membership agreements</a:t>
                      </a:r>
                      <a:endParaRPr lang="en-US" sz="8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marL="171450" indent="-171450">
                        <a:buFontTx/>
                        <a:buChar char="-"/>
                      </a:pPr>
                      <a:r>
                        <a:rPr lang="en-US" sz="800" dirty="0" smtClean="0"/>
                        <a:t>Clearing</a:t>
                      </a:r>
                      <a:r>
                        <a:rPr lang="en-US" sz="800" baseline="0" dirty="0" smtClean="0"/>
                        <a:t> house rules</a:t>
                      </a:r>
                    </a:p>
                    <a:p>
                      <a:pPr marL="171450" indent="-171450">
                        <a:buFontTx/>
                        <a:buChar char="-"/>
                      </a:pPr>
                      <a:r>
                        <a:rPr lang="en-US" sz="800" baseline="0" dirty="0" smtClean="0"/>
                        <a:t>CPP membership agreements</a:t>
                      </a:r>
                      <a:endParaRPr lang="en-US" sz="8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r>
              <a:tr h="609600">
                <a:tc>
                  <a:txBody>
                    <a:bodyPr/>
                    <a:lstStyle/>
                    <a:p>
                      <a:r>
                        <a:rPr lang="en-US" sz="1050" b="1" dirty="0" smtClean="0">
                          <a:solidFill>
                            <a:schemeClr val="bg1"/>
                          </a:solidFill>
                        </a:rPr>
                        <a:t>Trade Execution</a:t>
                      </a:r>
                      <a:endParaRPr lang="en-US" sz="105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gridSpan="2">
                  <a:txBody>
                    <a:bodyPr/>
                    <a:lstStyle/>
                    <a:p>
                      <a:pPr marL="171450" indent="-171450">
                        <a:buFontTx/>
                        <a:buChar char="-"/>
                      </a:pPr>
                      <a:r>
                        <a:rPr lang="en-US" sz="800" dirty="0" smtClean="0"/>
                        <a:t>Collateral</a:t>
                      </a:r>
                      <a:r>
                        <a:rPr lang="en-US" sz="800" baseline="0" dirty="0" smtClean="0"/>
                        <a:t> eligibility defined by cash lender</a:t>
                      </a:r>
                    </a:p>
                    <a:p>
                      <a:pPr marL="171450" indent="-171450">
                        <a:buFontTx/>
                        <a:buChar char="-"/>
                      </a:pPr>
                      <a:r>
                        <a:rPr lang="en-US" sz="800" dirty="0" smtClean="0"/>
                        <a:t>Trade details: repo term,</a:t>
                      </a:r>
                      <a:r>
                        <a:rPr lang="en-US" sz="800" baseline="0" dirty="0" smtClean="0"/>
                        <a:t> haircut, and interest charged</a:t>
                      </a:r>
                      <a:endParaRPr lang="en-US" sz="8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75000"/>
                      </a:schemeClr>
                    </a:solidFill>
                  </a:tcPr>
                </a:tc>
                <a:tc hMerge="1">
                  <a:txBody>
                    <a:bodyPr/>
                    <a:lstStyle/>
                    <a:p>
                      <a:endParaRPr lang="en-US" sz="105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marL="171450" indent="-171450">
                        <a:buFontTx/>
                        <a:buChar char="-"/>
                      </a:pPr>
                      <a:r>
                        <a:rPr lang="en-US" sz="800" dirty="0" smtClean="0"/>
                        <a:t>Anonymous counterparty</a:t>
                      </a:r>
                    </a:p>
                    <a:p>
                      <a:pPr marL="171450" indent="-171450">
                        <a:buFontTx/>
                        <a:buChar char="-"/>
                      </a:pPr>
                      <a:r>
                        <a:rPr lang="en-US" sz="800" dirty="0" smtClean="0"/>
                        <a:t>Repo term and interest determined by cash investor</a:t>
                      </a:r>
                      <a:endParaRPr lang="en-US" sz="8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marL="171450" indent="-171450">
                        <a:buFontTx/>
                        <a:buChar char="-"/>
                      </a:pPr>
                      <a:r>
                        <a:rPr lang="en-US" sz="800" dirty="0" smtClean="0"/>
                        <a:t>OTC</a:t>
                      </a:r>
                      <a:r>
                        <a:rPr lang="en-US" sz="800" baseline="0" dirty="0" smtClean="0"/>
                        <a:t> platform</a:t>
                      </a:r>
                    </a:p>
                    <a:p>
                      <a:pPr marL="171450" indent="-171450">
                        <a:buFontTx/>
                        <a:buChar char="-"/>
                      </a:pPr>
                      <a:r>
                        <a:rPr lang="en-US" sz="800" baseline="0" dirty="0" smtClean="0"/>
                        <a:t>Determined by counterparties (e.g., tenor of trade)</a:t>
                      </a:r>
                      <a:endParaRPr lang="en-US" sz="8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r>
              <a:tr h="609600">
                <a:tc>
                  <a:txBody>
                    <a:bodyPr/>
                    <a:lstStyle/>
                    <a:p>
                      <a:r>
                        <a:rPr lang="en-US" sz="1050" b="1" dirty="0" smtClean="0">
                          <a:solidFill>
                            <a:schemeClr val="bg1"/>
                          </a:solidFill>
                        </a:rPr>
                        <a:t>Trade Confirmation</a:t>
                      </a:r>
                      <a:endParaRPr lang="en-US" sz="105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marL="171450" indent="-171450">
                        <a:buFontTx/>
                        <a:buChar char="-"/>
                      </a:pPr>
                      <a:r>
                        <a:rPr lang="en-US" sz="800" dirty="0" smtClean="0"/>
                        <a:t>Back offices confirm to cash</a:t>
                      </a:r>
                      <a:r>
                        <a:rPr lang="en-US" sz="800" baseline="0" dirty="0" smtClean="0"/>
                        <a:t> and collateral providers</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gridSpan="3">
                  <a:txBody>
                    <a:bodyPr/>
                    <a:lstStyle/>
                    <a:p>
                      <a:pPr marL="171450" indent="-171450">
                        <a:buFontTx/>
                        <a:buChar char="-"/>
                      </a:pPr>
                      <a:r>
                        <a:rPr lang="en-US" sz="800" dirty="0" smtClean="0"/>
                        <a:t>Three-way</a:t>
                      </a:r>
                      <a:r>
                        <a:rPr lang="en-US" sz="800" baseline="0" dirty="0" smtClean="0"/>
                        <a:t> deal matching</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hMerge="1">
                  <a:txBody>
                    <a:bodyPr/>
                    <a:lstStyle/>
                    <a:p>
                      <a:endParaRPr lang="en-US" sz="9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hMerge="1">
                  <a:txBody>
                    <a:bodyPr/>
                    <a:lstStyle/>
                    <a:p>
                      <a:endParaRPr lang="en-US" sz="9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r>
              <a:tr h="609600">
                <a:tc>
                  <a:txBody>
                    <a:bodyPr/>
                    <a:lstStyle/>
                    <a:p>
                      <a:r>
                        <a:rPr lang="en-US" sz="1050" b="1" dirty="0" smtClean="0">
                          <a:solidFill>
                            <a:schemeClr val="bg1"/>
                          </a:solidFill>
                        </a:rPr>
                        <a:t>Collateral</a:t>
                      </a:r>
                      <a:r>
                        <a:rPr lang="en-US" sz="1050" b="1" baseline="0" dirty="0" smtClean="0">
                          <a:solidFill>
                            <a:schemeClr val="bg1"/>
                          </a:solidFill>
                        </a:rPr>
                        <a:t> Management</a:t>
                      </a:r>
                      <a:endParaRPr lang="en-US" sz="105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marL="171450" indent="-171450">
                        <a:buFontTx/>
                        <a:buChar char="-"/>
                      </a:pPr>
                      <a:r>
                        <a:rPr lang="en-US" sz="800" dirty="0" smtClean="0"/>
                        <a:t>Substitution</a:t>
                      </a:r>
                      <a:r>
                        <a:rPr lang="en-US" sz="800" baseline="0" dirty="0" smtClean="0"/>
                        <a:t> is allowed but cumbersome</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pPr marL="171450" indent="-171450">
                        <a:buFontTx/>
                        <a:buChar char="-"/>
                      </a:pPr>
                      <a:r>
                        <a:rPr lang="en-US" sz="800" baseline="0" dirty="0" smtClean="0"/>
                        <a:t>Repos segregated until unwind</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marL="171450" indent="-171450">
                        <a:buFontTx/>
                        <a:buChar char="-"/>
                      </a:pPr>
                      <a:r>
                        <a:rPr lang="en-US" sz="800" dirty="0" smtClean="0"/>
                        <a:t>Collateral is restricted to Fed-eligible securities</a:t>
                      </a:r>
                    </a:p>
                    <a:p>
                      <a:pPr marL="171450" indent="-171450">
                        <a:buFontTx/>
                        <a:buChar char="-"/>
                      </a:pPr>
                      <a:r>
                        <a:rPr lang="en-US" sz="800" dirty="0" smtClean="0"/>
                        <a:t>Netting of collateral and cash</a:t>
                      </a:r>
                      <a:endParaRPr lang="en-US" sz="8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marL="171450" indent="-171450">
                        <a:buFontTx/>
                        <a:buChar char="-"/>
                      </a:pPr>
                      <a:r>
                        <a:rPr lang="en-US" sz="800" dirty="0" smtClean="0"/>
                        <a:t>Ability</a:t>
                      </a:r>
                      <a:r>
                        <a:rPr lang="en-US" sz="800" baseline="0" dirty="0" smtClean="0"/>
                        <a:t> of the CCP to reliably price</a:t>
                      </a:r>
                    </a:p>
                    <a:p>
                      <a:pPr marL="171450" indent="-171450">
                        <a:buFontTx/>
                        <a:buChar char="-"/>
                      </a:pPr>
                      <a:r>
                        <a:rPr lang="en-US" sz="800" baseline="0" dirty="0" smtClean="0"/>
                        <a:t>Netting of collateral and cash</a:t>
                      </a:r>
                      <a:endParaRPr lang="en-US" sz="8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r>
              <a:tr h="609600">
                <a:tc>
                  <a:txBody>
                    <a:bodyPr/>
                    <a:lstStyle/>
                    <a:p>
                      <a:r>
                        <a:rPr lang="en-US" sz="1050" b="1" dirty="0" smtClean="0">
                          <a:solidFill>
                            <a:schemeClr val="bg1"/>
                          </a:solidFill>
                        </a:rPr>
                        <a:t>Clearing / Settlement</a:t>
                      </a:r>
                      <a:endParaRPr lang="en-US" sz="105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marL="171450" indent="-171450">
                        <a:buFontTx/>
                        <a:buChar char="-"/>
                      </a:pPr>
                      <a:r>
                        <a:rPr lang="en-US" sz="800" dirty="0" smtClean="0"/>
                        <a:t>Counterparties execute on a Delivery vs. Payment (</a:t>
                      </a:r>
                      <a:r>
                        <a:rPr lang="en-US" sz="800" dirty="0" err="1" smtClean="0"/>
                        <a:t>DvP</a:t>
                      </a:r>
                      <a:r>
                        <a:rPr lang="en-US" sz="800" dirty="0" smtClean="0"/>
                        <a:t>) basis</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gridSpan="3">
                  <a:txBody>
                    <a:bodyPr/>
                    <a:lstStyle/>
                    <a:p>
                      <a:pPr marL="171450" indent="-171450">
                        <a:buFontTx/>
                        <a:buChar char="-"/>
                      </a:pPr>
                      <a:r>
                        <a:rPr lang="en-US" sz="800" kern="1200" dirty="0" smtClean="0">
                          <a:solidFill>
                            <a:schemeClr val="tx1"/>
                          </a:solidFill>
                          <a:latin typeface="+mn-lt"/>
                          <a:ea typeface="+mn-ea"/>
                          <a:cs typeface="+mn-cs"/>
                        </a:rPr>
                        <a:t>Clearing bank</a:t>
                      </a:r>
                      <a:r>
                        <a:rPr lang="en-US" sz="800" kern="1200" baseline="0" dirty="0" smtClean="0">
                          <a:solidFill>
                            <a:schemeClr val="tx1"/>
                          </a:solidFill>
                          <a:latin typeface="+mn-lt"/>
                          <a:ea typeface="+mn-ea"/>
                          <a:cs typeface="+mn-cs"/>
                        </a:rPr>
                        <a:t> segregates securities, manages the transfer of cash/collateral and unwind</a:t>
                      </a:r>
                    </a:p>
                    <a:p>
                      <a:pPr marL="171450" indent="-171450">
                        <a:buFontTx/>
                        <a:buChar char="-"/>
                      </a:pPr>
                      <a:r>
                        <a:rPr lang="en-US" sz="800" kern="1200" baseline="0" dirty="0" smtClean="0">
                          <a:solidFill>
                            <a:schemeClr val="tx1"/>
                          </a:solidFill>
                          <a:latin typeface="+mn-lt"/>
                          <a:ea typeface="+mn-ea"/>
                          <a:cs typeface="+mn-cs"/>
                        </a:rPr>
                        <a:t>Auto-substitution of collateral</a:t>
                      </a:r>
                      <a:endParaRPr lang="en-US" sz="800" kern="1200" dirty="0">
                        <a:solidFill>
                          <a:schemeClr val="tx1"/>
                        </a:solidFill>
                        <a:latin typeface="+mn-lt"/>
                        <a:ea typeface="+mn-ea"/>
                        <a:cs typeface="+mn-cs"/>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hMerge="1">
                  <a:txBody>
                    <a:bodyPr/>
                    <a:lstStyle/>
                    <a:p>
                      <a:endParaRPr lang="en-US" sz="9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hMerge="1">
                  <a:txBody>
                    <a:bodyPr/>
                    <a:lstStyle/>
                    <a:p>
                      <a:endParaRPr lang="en-US" sz="9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r>
              <a:tr h="609600">
                <a:tc>
                  <a:txBody>
                    <a:bodyPr/>
                    <a:lstStyle/>
                    <a:p>
                      <a:r>
                        <a:rPr lang="en-US" sz="1050" b="1" dirty="0" smtClean="0">
                          <a:solidFill>
                            <a:schemeClr val="bg1"/>
                          </a:solidFill>
                        </a:rPr>
                        <a:t>Liquidation</a:t>
                      </a:r>
                      <a:endParaRPr lang="en-US" sz="105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gridSpan="2">
                  <a:txBody>
                    <a:bodyPr/>
                    <a:lstStyle/>
                    <a:p>
                      <a:pPr marL="171450" indent="-171450">
                        <a:buFontTx/>
                        <a:buChar char="-"/>
                      </a:pPr>
                      <a:r>
                        <a:rPr lang="en-US" sz="800" dirty="0" smtClean="0"/>
                        <a:t>Cash lender must</a:t>
                      </a:r>
                      <a:r>
                        <a:rPr lang="en-US" sz="800" baseline="0" dirty="0" smtClean="0"/>
                        <a:t> liquidate the collateral on the open market</a:t>
                      </a:r>
                    </a:p>
                    <a:p>
                      <a:pPr marL="171450" indent="-171450">
                        <a:buFontTx/>
                        <a:buChar char="-"/>
                      </a:pPr>
                      <a:r>
                        <a:rPr lang="en-US" sz="800" baseline="0" dirty="0" smtClean="0"/>
                        <a:t>Cash lender exposed to a loss if the haircut/collateral incorrectly valued</a:t>
                      </a:r>
                      <a:endParaRPr lang="en-US" sz="8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75000"/>
                      </a:schemeClr>
                    </a:solidFill>
                  </a:tcPr>
                </a:tc>
                <a:tc hMerge="1">
                  <a:txBody>
                    <a:bodyPr/>
                    <a:lstStyle/>
                    <a:p>
                      <a:endParaRPr lang="en-US" sz="9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marL="171450" indent="-171450">
                        <a:buFontTx/>
                        <a:buChar char="-"/>
                      </a:pPr>
                      <a:r>
                        <a:rPr lang="en-US" sz="800" dirty="0" smtClean="0"/>
                        <a:t>Clearing house facilitates liquidation</a:t>
                      </a:r>
                    </a:p>
                    <a:p>
                      <a:pPr marL="171450" indent="-171450">
                        <a:buFontTx/>
                        <a:buChar char="-"/>
                      </a:pPr>
                      <a:r>
                        <a:rPr lang="en-US" sz="800" dirty="0" smtClean="0"/>
                        <a:t>Participant-funded default fund</a:t>
                      </a:r>
                      <a:endParaRPr lang="en-US" sz="8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marL="171450" indent="-171450">
                        <a:buFontTx/>
                        <a:buChar char="-"/>
                      </a:pPr>
                      <a:r>
                        <a:rPr lang="en-US" sz="800" dirty="0" smtClean="0"/>
                        <a:t>CCP hedges and can retain positions into the future</a:t>
                      </a:r>
                    </a:p>
                    <a:p>
                      <a:pPr marL="171450" indent="-171450">
                        <a:buFontTx/>
                        <a:buChar char="-"/>
                      </a:pPr>
                      <a:r>
                        <a:rPr lang="en-US" sz="800" dirty="0" smtClean="0"/>
                        <a:t>Participant-funded</a:t>
                      </a:r>
                      <a:r>
                        <a:rPr lang="en-US" sz="800" baseline="0" dirty="0" smtClean="0"/>
                        <a:t> default fund</a:t>
                      </a:r>
                      <a:endParaRPr lang="en-US" sz="8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r>
              <a:tr h="609600">
                <a:tc>
                  <a:txBody>
                    <a:bodyPr/>
                    <a:lstStyle/>
                    <a:p>
                      <a:r>
                        <a:rPr lang="en-US" sz="1050" b="1" dirty="0" smtClean="0">
                          <a:solidFill>
                            <a:schemeClr val="bg1"/>
                          </a:solidFill>
                        </a:rPr>
                        <a:t>Risk Management</a:t>
                      </a:r>
                      <a:endParaRPr lang="en-US" sz="105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marL="171450" indent="-171450">
                        <a:buFontTx/>
                        <a:buChar char="-"/>
                      </a:pPr>
                      <a:r>
                        <a:rPr lang="en-US" sz="800" dirty="0" smtClean="0"/>
                        <a:t>Cash/collateral providers each responsible for counterparty</a:t>
                      </a:r>
                      <a:r>
                        <a:rPr lang="en-US" sz="800" baseline="0" dirty="0" smtClean="0"/>
                        <a:t> collateral monitoring</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pPr marL="171450" indent="-171450">
                        <a:buFontTx/>
                        <a:buChar char="-"/>
                      </a:pPr>
                      <a:r>
                        <a:rPr lang="en-US" sz="800" dirty="0" smtClean="0"/>
                        <a:t>Clearing bank monitors</a:t>
                      </a:r>
                      <a:r>
                        <a:rPr lang="en-US" sz="800" baseline="0" dirty="0" smtClean="0"/>
                        <a:t> pledged collateral with daily revaluations and margin management</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marL="171450" indent="-171450">
                        <a:buFontTx/>
                        <a:buChar char="-"/>
                      </a:pPr>
                      <a:r>
                        <a:rPr lang="en-US" sz="800" dirty="0" smtClean="0"/>
                        <a:t>Counterparty risk remains between collateral provider and cash lender</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marL="171450" indent="-171450">
                        <a:buFontTx/>
                        <a:buChar char="-"/>
                      </a:pPr>
                      <a:r>
                        <a:rPr lang="en-US" sz="800" dirty="0" smtClean="0"/>
                        <a:t>Trade novated by CCP, mitigating individual</a:t>
                      </a:r>
                      <a:r>
                        <a:rPr lang="en-US" sz="800" baseline="0" dirty="0" smtClean="0"/>
                        <a:t> counterparty risk</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r>
              <a:tr h="609600">
                <a:tc>
                  <a:txBody>
                    <a:bodyPr/>
                    <a:lstStyle/>
                    <a:p>
                      <a:r>
                        <a:rPr lang="en-US" sz="1050" b="1" dirty="0" smtClean="0">
                          <a:solidFill>
                            <a:schemeClr val="bg1"/>
                          </a:solidFill>
                        </a:rPr>
                        <a:t>Participations</a:t>
                      </a:r>
                      <a:endParaRPr lang="en-US" sz="105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marL="171450" indent="-171450">
                        <a:buFontTx/>
                        <a:buChar char="-"/>
                      </a:pPr>
                      <a:r>
                        <a:rPr lang="en-US" sz="800" dirty="0" smtClean="0"/>
                        <a:t>Predominantly broker dealers and their prime brokerage (PB) clients</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pPr marL="171450" indent="-171450">
                        <a:buFontTx/>
                        <a:buChar char="-"/>
                      </a:pPr>
                      <a:r>
                        <a:rPr lang="en-US" sz="800" dirty="0" smtClean="0"/>
                        <a:t>Government</a:t>
                      </a:r>
                      <a:r>
                        <a:rPr lang="en-US" sz="800" baseline="0" dirty="0" smtClean="0"/>
                        <a:t>, broker dealers (BDs), MMFs, alternatives, corporates, other financial institutions</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marL="171450" indent="-171450">
                        <a:buFontTx/>
                        <a:buChar char="-"/>
                      </a:pPr>
                      <a:r>
                        <a:rPr lang="en-US" sz="800" dirty="0" smtClean="0"/>
                        <a:t>Broker dealers &amp; their</a:t>
                      </a:r>
                      <a:r>
                        <a:rPr lang="en-US" sz="800" baseline="0" dirty="0" smtClean="0"/>
                        <a:t> clients (PB clients) other financial institutions, MMFs, alternatives</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marL="171450" indent="-171450">
                        <a:buFontTx/>
                        <a:buChar char="-"/>
                      </a:pPr>
                      <a:r>
                        <a:rPr lang="en-US" sz="800" dirty="0" smtClean="0"/>
                        <a:t>Broker dealers &amp; expanded clearing</a:t>
                      </a:r>
                      <a:r>
                        <a:rPr lang="en-US" sz="800" baseline="0" dirty="0" smtClean="0"/>
                        <a:t> house members (MMFs, alternatives)</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r>
            </a:tbl>
          </a:graphicData>
        </a:graphic>
      </p:graphicFrame>
      <p:sp>
        <p:nvSpPr>
          <p:cNvPr id="73"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100" b="0" dirty="0" smtClean="0">
                <a:solidFill>
                  <a:schemeClr val="tx1"/>
                </a:solidFill>
                <a:latin typeface="+mn-lt"/>
              </a:rPr>
              <a:t>Repo settlement mechanisms can be viewed as a continuum ranging from bilateral to centrally cleared.</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The main role of tri-party agents is to coordinate settlement between collateral providers and cash investors. The tri-party agent maintains custody of the collateral, processes payment and delivery between the provider and the investor, along with other services. </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The clearing house lite model provides risk </a:t>
            </a:r>
            <a:r>
              <a:rPr lang="en-US" sz="1100" b="0" dirty="0" err="1" smtClean="0">
                <a:solidFill>
                  <a:schemeClr val="tx1"/>
                </a:solidFill>
                <a:latin typeface="+mn-lt"/>
              </a:rPr>
              <a:t>mutualization</a:t>
            </a:r>
            <a:r>
              <a:rPr lang="en-US" sz="1100" b="0" dirty="0" smtClean="0">
                <a:solidFill>
                  <a:schemeClr val="tx1"/>
                </a:solidFill>
                <a:latin typeface="+mn-lt"/>
              </a:rPr>
              <a:t> and loss waterfalls without full novation.  </a:t>
            </a:r>
            <a:endParaRPr lang="en-US" sz="1100" b="0" dirty="0">
              <a:solidFill>
                <a:schemeClr val="tx1"/>
              </a:solidFill>
              <a:latin typeface="+mn-lt"/>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10" name="TextBox 9"/>
          <p:cNvSpPr txBox="1"/>
          <p:nvPr/>
        </p:nvSpPr>
        <p:spPr>
          <a:xfrm>
            <a:off x="2472698" y="6939687"/>
            <a:ext cx="4690102" cy="230832"/>
          </a:xfrm>
          <a:prstGeom prst="rect">
            <a:avLst/>
          </a:prstGeom>
          <a:noFill/>
        </p:spPr>
        <p:txBody>
          <a:bodyPr wrap="square" rtlCol="0">
            <a:spAutoFit/>
          </a:bodyPr>
          <a:lstStyle/>
          <a:p>
            <a:r>
              <a:rPr lang="en-US" sz="900" i="1" dirty="0" smtClean="0">
                <a:latin typeface="Calibri" panose="020F0502020204030204" pitchFamily="34" charset="0"/>
              </a:rPr>
              <a:t>Source: </a:t>
            </a:r>
            <a:r>
              <a:rPr lang="en-US" sz="900" i="1" dirty="0">
                <a:latin typeface="Calibri" panose="020F0502020204030204" pitchFamily="34" charset="0"/>
              </a:rPr>
              <a:t> </a:t>
            </a:r>
            <a:r>
              <a:rPr lang="en-US" sz="900" i="1" dirty="0" smtClean="0">
                <a:latin typeface="Calibri" panose="020F0502020204030204" pitchFamily="34" charset="0"/>
              </a:rPr>
              <a:t>“The Future of Wholesale Funding Markets”, </a:t>
            </a:r>
            <a:r>
              <a:rPr lang="en-US" sz="900" i="1" dirty="0" smtClean="0">
                <a:latin typeface="Calibri" panose="020F0502020204030204" pitchFamily="34" charset="0"/>
              </a:rPr>
              <a:t>PwC </a:t>
            </a:r>
            <a:r>
              <a:rPr lang="en-US" sz="900" i="1" dirty="0" smtClean="0">
                <a:latin typeface="Calibri" panose="020F0502020204030204" pitchFamily="34" charset="0"/>
              </a:rPr>
              <a:t>and BNY Mellon, December 2015 </a:t>
            </a:r>
            <a:endParaRPr lang="en-US" sz="900" i="1" dirty="0">
              <a:latin typeface="Calibri" panose="020F0502020204030204" pitchFamily="34" charset="0"/>
            </a:endParaRPr>
          </a:p>
        </p:txBody>
      </p:sp>
    </p:spTree>
    <p:extLst>
      <p:ext uri="{BB962C8B-B14F-4D97-AF65-F5344CB8AC3E}">
        <p14:creationId xmlns:p14="http://schemas.microsoft.com/office/powerpoint/2010/main" val="106125100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ello">
      <a:dk1>
        <a:srgbClr val="000000"/>
      </a:dk1>
      <a:lt1>
        <a:srgbClr val="FFFFFF"/>
      </a:lt1>
      <a:dk2>
        <a:srgbClr val="203353"/>
      </a:dk2>
      <a:lt2>
        <a:srgbClr val="EFEBE4"/>
      </a:lt2>
      <a:accent1>
        <a:srgbClr val="2E398A"/>
      </a:accent1>
      <a:accent2>
        <a:srgbClr val="8891D5"/>
      </a:accent2>
      <a:accent3>
        <a:srgbClr val="968880"/>
      </a:accent3>
      <a:accent4>
        <a:srgbClr val="000000"/>
      </a:accent4>
      <a:accent5>
        <a:srgbClr val="ADAEC4"/>
      </a:accent5>
      <a:accent6>
        <a:srgbClr val="7B83C1"/>
      </a:accent6>
      <a:hlink>
        <a:srgbClr val="968880"/>
      </a:hlink>
      <a:folHlink>
        <a:srgbClr val="533D2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22628</TotalTime>
  <Words>2542</Words>
  <Application>Microsoft Office PowerPoint</Application>
  <PresentationFormat>Custom</PresentationFormat>
  <Paragraphs>390</Paragraphs>
  <Slides>12</Slides>
  <Notes>12</Notes>
  <HiddenSlides>0</HiddenSlides>
  <MMClips>0</MMClips>
  <ScaleCrop>false</ScaleCrop>
  <HeadingPairs>
    <vt:vector size="4" baseType="variant">
      <vt:variant>
        <vt:lpstr>Theme</vt:lpstr>
      </vt:variant>
      <vt:variant>
        <vt:i4>3</vt:i4>
      </vt:variant>
      <vt:variant>
        <vt:lpstr>Slide Titles</vt:lpstr>
      </vt:variant>
      <vt:variant>
        <vt:i4>12</vt:i4>
      </vt:variant>
    </vt:vector>
  </HeadingPairs>
  <TitlesOfParts>
    <vt:vector size="15" baseType="lpstr">
      <vt:lpstr>Office Theme</vt:lpstr>
      <vt:lpstr>4_Default Design</vt:lpstr>
      <vt:lpstr>2_Custom Design</vt:lpstr>
      <vt:lpstr>PowerPoint Presentation</vt:lpstr>
      <vt:lpstr>A STANDARD BILATERAL REPO TRANSACTION</vt:lpstr>
      <vt:lpstr>A STANDARD GCF repo trade</vt:lpstr>
      <vt:lpstr>The STRUCTURE OF U.S. REPO MARKETS</vt:lpstr>
      <vt:lpstr>THE U.S. REPO MARKET IS OF SIGNIFICANT SIZE</vt:lpstr>
      <vt:lpstr>U.S. TREASURIES ARE THE DOMINANT SOURCE OF COLLATERAL FOR REPOS</vt:lpstr>
      <vt:lpstr>DEALERS HAVE REDUCED THEIR PARTICIPATION IN AGENCY MBS REPO</vt:lpstr>
      <vt:lpstr>REPO STILL PLAYS A SIGNIFICANT ROLE IN SHORT-TERM WHOLESALE FUNDING MARKETS</vt:lpstr>
      <vt:lpstr>BASEL III HAS A SIGNIFICANT IMPACT ON REPO ACTIVITY FOR G-SIBs</vt:lpstr>
      <vt:lpstr>QUANTIFYING THE IMPACT OF SLR ON REPO</vt:lpstr>
      <vt:lpstr>LESS REPO MEANS LESS RELATIVE VALUE TRADING</vt:lpstr>
      <vt:lpstr>THE ONGOING EVOLUTION OF REPO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dc:creator>
  <cp:lastModifiedBy>Sharad Chaudhary</cp:lastModifiedBy>
  <cp:revision>540</cp:revision>
  <cp:lastPrinted>2015-06-19T12:14:16Z</cp:lastPrinted>
  <dcterms:created xsi:type="dcterms:W3CDTF">2015-05-21T20:34:11Z</dcterms:created>
  <dcterms:modified xsi:type="dcterms:W3CDTF">2016-01-14T20:30:48Z</dcterms:modified>
</cp:coreProperties>
</file>