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8AF4A874-04CC-4D8B-A6B7-B3DAC831AC2D}">
  <a:tblStyle styleId="{8AF4A874-04CC-4D8B-A6B7-B3DAC831AC2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 name="Shape 56"/>
        <p:cNvGrpSpPr/>
        <p:nvPr/>
      </p:nvGrpSpPr>
      <p:grpSpPr>
        <a:xfrm>
          <a:off x="0" y="0"/>
          <a:ext cx="0" cy="0"/>
          <a:chOff x="0" y="0"/>
          <a:chExt cx="0" cy="0"/>
        </a:xfrm>
      </p:grpSpPr>
      <p:sp>
        <p:nvSpPr>
          <p:cNvPr id="57" name="Google Shape;57;g242ef9c2fb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42ef9c2fb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 name="Shape 62"/>
        <p:cNvGrpSpPr/>
        <p:nvPr/>
      </p:nvGrpSpPr>
      <p:grpSpPr>
        <a:xfrm>
          <a:off x="0" y="0"/>
          <a:ext cx="0" cy="0"/>
          <a:chOff x="0" y="0"/>
          <a:chExt cx="0" cy="0"/>
        </a:xfrm>
      </p:grpSpPr>
      <p:sp>
        <p:nvSpPr>
          <p:cNvPr id="63" name="Google Shape;63;g242ef9c2fb_0_1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42ef9c2fb_0_1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 name="Shape 69"/>
        <p:cNvGrpSpPr/>
        <p:nvPr/>
      </p:nvGrpSpPr>
      <p:grpSpPr>
        <a:xfrm>
          <a:off x="0" y="0"/>
          <a:ext cx="0" cy="0"/>
          <a:chOff x="0" y="0"/>
          <a:chExt cx="0" cy="0"/>
        </a:xfrm>
      </p:grpSpPr>
      <p:sp>
        <p:nvSpPr>
          <p:cNvPr id="70" name="Google Shape;70;g242ef9c2fb_0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42ef9c2fb_0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5" name="Shape 75"/>
        <p:cNvGrpSpPr/>
        <p:nvPr/>
      </p:nvGrpSpPr>
      <p:grpSpPr>
        <a:xfrm>
          <a:off x="0" y="0"/>
          <a:ext cx="0" cy="0"/>
          <a:chOff x="0" y="0"/>
          <a:chExt cx="0" cy="0"/>
        </a:xfrm>
      </p:grpSpPr>
      <p:sp>
        <p:nvSpPr>
          <p:cNvPr id="76" name="Google Shape;76;g242ef9c2fb_0_1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42ef9c2fb_0_1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g242ef9c2fb_0_1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42ef9c2fb_0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1" name="Shape 91"/>
        <p:cNvGrpSpPr/>
        <p:nvPr/>
      </p:nvGrpSpPr>
      <p:grpSpPr>
        <a:xfrm>
          <a:off x="0" y="0"/>
          <a:ext cx="0" cy="0"/>
          <a:chOff x="0" y="0"/>
          <a:chExt cx="0" cy="0"/>
        </a:xfrm>
      </p:grpSpPr>
      <p:sp>
        <p:nvSpPr>
          <p:cNvPr id="92" name="Google Shape;92;g242ef9c2fb_0_1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42ef9c2fb_0_1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2" name="Shape 102"/>
        <p:cNvGrpSpPr/>
        <p:nvPr/>
      </p:nvGrpSpPr>
      <p:grpSpPr>
        <a:xfrm>
          <a:off x="0" y="0"/>
          <a:ext cx="0" cy="0"/>
          <a:chOff x="0" y="0"/>
          <a:chExt cx="0" cy="0"/>
        </a:xfrm>
      </p:grpSpPr>
      <p:sp>
        <p:nvSpPr>
          <p:cNvPr id="103" name="Google Shape;103;g242ef9c2fb_0_1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42ef9c2fb_0_1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 name="Shape 113"/>
        <p:cNvGrpSpPr/>
        <p:nvPr/>
      </p:nvGrpSpPr>
      <p:grpSpPr>
        <a:xfrm>
          <a:off x="0" y="0"/>
          <a:ext cx="0" cy="0"/>
          <a:chOff x="0" y="0"/>
          <a:chExt cx="0" cy="0"/>
        </a:xfrm>
      </p:grpSpPr>
      <p:sp>
        <p:nvSpPr>
          <p:cNvPr id="114" name="Google Shape;114;g242ef9c2fb_0_1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42ef9c2fb_0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8" name="Shape 128"/>
        <p:cNvGrpSpPr/>
        <p:nvPr/>
      </p:nvGrpSpPr>
      <p:grpSpPr>
        <a:xfrm>
          <a:off x="0" y="0"/>
          <a:ext cx="0" cy="0"/>
          <a:chOff x="0" y="0"/>
          <a:chExt cx="0" cy="0"/>
        </a:xfrm>
      </p:grpSpPr>
      <p:sp>
        <p:nvSpPr>
          <p:cNvPr id="129" name="Google Shape;129;g242ef9c2fb_0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42ef9c2fb_0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4" name="Shape 134"/>
        <p:cNvGrpSpPr/>
        <p:nvPr/>
      </p:nvGrpSpPr>
      <p:grpSpPr>
        <a:xfrm>
          <a:off x="0" y="0"/>
          <a:ext cx="0" cy="0"/>
          <a:chOff x="0" y="0"/>
          <a:chExt cx="0" cy="0"/>
        </a:xfrm>
      </p:grpSpPr>
      <p:sp>
        <p:nvSpPr>
          <p:cNvPr id="135" name="Google Shape;135;g244cae40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44cae40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4" name="Shape 144"/>
        <p:cNvGrpSpPr/>
        <p:nvPr/>
      </p:nvGrpSpPr>
      <p:grpSpPr>
        <a:xfrm>
          <a:off x="0" y="0"/>
          <a:ext cx="0" cy="0"/>
          <a:chOff x="0" y="0"/>
          <a:chExt cx="0" cy="0"/>
        </a:xfrm>
      </p:grpSpPr>
      <p:sp>
        <p:nvSpPr>
          <p:cNvPr id="145" name="Google Shape;145;g2442b78a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442b78a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0" name="Shape 150"/>
        <p:cNvGrpSpPr/>
        <p:nvPr/>
      </p:nvGrpSpPr>
      <p:grpSpPr>
        <a:xfrm>
          <a:off x="0" y="0"/>
          <a:ext cx="0" cy="0"/>
          <a:chOff x="0" y="0"/>
          <a:chExt cx="0" cy="0"/>
        </a:xfrm>
      </p:grpSpPr>
      <p:sp>
        <p:nvSpPr>
          <p:cNvPr id="151" name="Google Shape;151;g242ef9c2fb_0_1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42ef9c2fb_0_1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Media Effect Model: v4.1</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August 2017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Historical Data Set</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Pool Level Data Set</a:t>
            </a:r>
            <a:endParaRPr b="1" sz="1200"/>
          </a:p>
          <a:p>
            <a:pPr indent="-298450" lvl="0" marL="457200" rtl="0" algn="l">
              <a:spcBef>
                <a:spcPts val="1600"/>
              </a:spcBef>
              <a:spcAft>
                <a:spcPts val="0"/>
              </a:spcAft>
              <a:buSzPts val="1100"/>
              <a:buChar char="●"/>
            </a:pPr>
            <a:r>
              <a:rPr lang="en" sz="1100"/>
              <a:t>Conventional 30 YR Fixed Pools (FGLMC and FNCL) Factor data from 1994-01</a:t>
            </a:r>
            <a:endParaRPr sz="1100"/>
          </a:p>
          <a:p>
            <a:pPr indent="-298450" lvl="0" marL="457200" rtl="0" algn="l">
              <a:spcBef>
                <a:spcPts val="0"/>
              </a:spcBef>
              <a:spcAft>
                <a:spcPts val="0"/>
              </a:spcAft>
              <a:buSzPts val="1100"/>
              <a:buChar char="●"/>
            </a:pPr>
            <a:r>
              <a:rPr lang="en" sz="1100"/>
              <a:t>We consider this to be a good representation of the Universe of Conventional Agency Mortgages</a:t>
            </a:r>
            <a:endParaRPr sz="1100"/>
          </a:p>
          <a:p>
            <a:pPr indent="0" lvl="0" marL="0" rtl="0" algn="l">
              <a:spcBef>
                <a:spcPts val="1600"/>
              </a:spcBef>
              <a:spcAft>
                <a:spcPts val="0"/>
              </a:spcAft>
              <a:buNone/>
            </a:pPr>
            <a:r>
              <a:rPr b="1" lang="en" sz="1200"/>
              <a:t>Loan Level Data Set</a:t>
            </a:r>
            <a:endParaRPr b="1" sz="1200"/>
          </a:p>
          <a:p>
            <a:pPr indent="-298450" lvl="0" marL="457200" marR="0" rtl="0" algn="l">
              <a:lnSpc>
                <a:spcPct val="115000"/>
              </a:lnSpc>
              <a:spcBef>
                <a:spcPts val="1600"/>
              </a:spcBef>
              <a:spcAft>
                <a:spcPts val="0"/>
              </a:spcAft>
              <a:buSzPts val="1100"/>
              <a:buChar char="●"/>
            </a:pPr>
            <a:r>
              <a:rPr lang="en" sz="1100"/>
              <a:t>Conventional 30 YR Fixed Loans (FGLMC) Factor data from 2006-09. (FNCL) Factor data from 2014</a:t>
            </a:r>
            <a:endParaRPr sz="1100"/>
          </a:p>
          <a:p>
            <a:pPr indent="-298450" lvl="0" marL="457200" marR="0" rtl="0" algn="l">
              <a:lnSpc>
                <a:spcPct val="115000"/>
              </a:lnSpc>
              <a:spcBef>
                <a:spcPts val="0"/>
              </a:spcBef>
              <a:spcAft>
                <a:spcPts val="0"/>
              </a:spcAft>
              <a:buSzPts val="1100"/>
              <a:buChar char="●"/>
            </a:pPr>
            <a:r>
              <a:rPr lang="en" sz="1100"/>
              <a:t>Early years is only a small fraction of the actual Universe balance (Pool Data)</a:t>
            </a:r>
            <a:endParaRPr sz="1100"/>
          </a:p>
          <a:p>
            <a:pPr indent="-298450" lvl="0" marL="457200" marR="0" rtl="0" algn="l">
              <a:lnSpc>
                <a:spcPct val="115000"/>
              </a:lnSpc>
              <a:spcBef>
                <a:spcPts val="0"/>
              </a:spcBef>
              <a:spcAft>
                <a:spcPts val="0"/>
              </a:spcAft>
              <a:buSzPts val="1100"/>
              <a:buChar char="●"/>
            </a:pPr>
            <a:r>
              <a:rPr lang="en" sz="1100"/>
              <a:t>By 2017 loans are ~70% of the Universe Balance</a:t>
            </a:r>
            <a:endParaRPr sz="1100"/>
          </a:p>
          <a:p>
            <a:pPr indent="0" lvl="0" marL="0" rtl="0" algn="l">
              <a:lnSpc>
                <a:spcPct val="100000"/>
              </a:lnSpc>
              <a:spcBef>
                <a:spcPts val="1600"/>
              </a:spcBef>
              <a:spcAft>
                <a:spcPts val="0"/>
              </a:spcAft>
              <a:buNone/>
            </a:pPr>
            <a:r>
              <a:rPr b="1" lang="en" sz="1200"/>
              <a:t>Media Effect</a:t>
            </a:r>
            <a:endParaRPr b="1" sz="1200"/>
          </a:p>
          <a:p>
            <a:pPr indent="-298450" lvl="0" marL="457200" marR="0" rtl="0" algn="l">
              <a:lnSpc>
                <a:spcPct val="115000"/>
              </a:lnSpc>
              <a:spcBef>
                <a:spcPts val="1600"/>
              </a:spcBef>
              <a:spcAft>
                <a:spcPts val="0"/>
              </a:spcAft>
              <a:buSzPts val="1100"/>
              <a:buChar char="●"/>
            </a:pPr>
            <a:r>
              <a:rPr lang="en" sz="1100"/>
              <a:t>Media Effect = Refi-Incentive &gt; 50 bp</a:t>
            </a:r>
            <a:endParaRPr sz="1100"/>
          </a:p>
          <a:p>
            <a:pPr indent="-298450" lvl="0" marL="457200" marR="0" rtl="0" algn="l">
              <a:lnSpc>
                <a:spcPct val="115000"/>
              </a:lnSpc>
              <a:spcBef>
                <a:spcPts val="0"/>
              </a:spcBef>
              <a:spcAft>
                <a:spcPts val="0"/>
              </a:spcAft>
              <a:buSzPts val="1100"/>
              <a:buChar char="●"/>
            </a:pPr>
            <a:r>
              <a:rPr lang="en" sz="1100"/>
              <a:t>Refi-Incentive = Note Rate + Original PMI - Mtg Rate – Current LLPA – Current PMI </a:t>
            </a:r>
            <a:endParaRPr sz="1100"/>
          </a:p>
          <a:p>
            <a:pPr indent="-298450" lvl="0" marL="457200" marR="0" rtl="0" algn="l">
              <a:lnSpc>
                <a:spcPct val="115000"/>
              </a:lnSpc>
              <a:spcBef>
                <a:spcPts val="0"/>
              </a:spcBef>
              <a:spcAft>
                <a:spcPts val="0"/>
              </a:spcAft>
              <a:buSzPts val="1100"/>
              <a:buChar char="●"/>
            </a:pPr>
            <a:r>
              <a:rPr lang="en" sz="1100">
                <a:solidFill>
                  <a:srgbClr val="0000FF"/>
                </a:solidFill>
              </a:rPr>
              <a:t>As a model simplification, the incentive calculation doesn’t consider the option to refinance into GNMA programs. Also, the refinance eligibility is not taken into account.</a:t>
            </a:r>
            <a:endParaRPr sz="1100">
              <a:solidFill>
                <a:srgbClr val="FF0000"/>
              </a:solidFill>
            </a:endParaRPr>
          </a:p>
          <a:p>
            <a:pPr indent="-298450" lvl="0" marL="457200" marR="0" rtl="0" algn="l">
              <a:lnSpc>
                <a:spcPct val="115000"/>
              </a:lnSpc>
              <a:spcBef>
                <a:spcPts val="0"/>
              </a:spcBef>
              <a:spcAft>
                <a:spcPts val="0"/>
              </a:spcAft>
              <a:buSzPts val="1100"/>
              <a:buChar char="●"/>
            </a:pPr>
            <a:r>
              <a:rPr lang="en" sz="1100"/>
              <a:t>We combine the Loan Level and Pool Level calculation of Media Effect to get a combined picture from 1994 – </a:t>
            </a:r>
            <a:r>
              <a:rPr lang="en" sz="1100">
                <a:solidFill>
                  <a:srgbClr val="0000FF"/>
                </a:solidFill>
              </a:rPr>
              <a:t>2017</a:t>
            </a:r>
            <a:r>
              <a:rPr lang="en" sz="1100"/>
              <a:t>, and more weight is placed on the Loan Level calculation as the Loan Level data grows</a:t>
            </a:r>
            <a:br>
              <a:rPr lang="en" sz="1200"/>
            </a:b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Historical Data Set</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t>Media Effect – Combined Loan and Pool History</a:t>
            </a:r>
            <a:br>
              <a:rPr lang="en" sz="1200"/>
            </a:br>
            <a:endParaRPr/>
          </a:p>
        </p:txBody>
      </p:sp>
      <p:pic>
        <p:nvPicPr>
          <p:cNvPr id="68" name="Google Shape;68;p15" title="Points scored"/>
          <p:cNvPicPr preferRelativeResize="0"/>
          <p:nvPr/>
        </p:nvPicPr>
        <p:blipFill>
          <a:blip r:embed="rId3">
            <a:alphaModFix/>
          </a:blip>
          <a:stretch>
            <a:fillRect/>
          </a:stretch>
        </p:blipFill>
        <p:spPr>
          <a:xfrm>
            <a:off x="1144150" y="1840425"/>
            <a:ext cx="5636349" cy="3036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Projection Model</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Universe Representation</a:t>
            </a:r>
            <a:endParaRPr sz="1200"/>
          </a:p>
          <a:p>
            <a:pPr indent="-298450" lvl="0" marL="457200" rtl="0" algn="l">
              <a:spcBef>
                <a:spcPts val="1600"/>
              </a:spcBef>
              <a:spcAft>
                <a:spcPts val="0"/>
              </a:spcAft>
              <a:buSzPts val="1100"/>
              <a:buChar char="●"/>
            </a:pPr>
            <a:r>
              <a:rPr lang="en" sz="1100"/>
              <a:t>Create a representation of the Current Universe of Conventional 30yr Fixed Mortgages</a:t>
            </a:r>
            <a:endParaRPr sz="1100"/>
          </a:p>
          <a:p>
            <a:pPr indent="-298450" lvl="0" marL="457200" rtl="0" algn="l">
              <a:spcBef>
                <a:spcPts val="0"/>
              </a:spcBef>
              <a:spcAft>
                <a:spcPts val="0"/>
              </a:spcAft>
              <a:buSzPts val="1100"/>
              <a:buChar char="●"/>
            </a:pPr>
            <a:r>
              <a:rPr lang="en" sz="1100"/>
              <a:t>Bucket the universe by WAC buckets, range from 3.25% to 7.875% with an incremental step of 12.5 bps</a:t>
            </a:r>
            <a:endParaRPr sz="1100"/>
          </a:p>
          <a:p>
            <a:pPr indent="-298450" lvl="0" marL="457200" rtl="0" algn="l">
              <a:spcBef>
                <a:spcPts val="0"/>
              </a:spcBef>
              <a:spcAft>
                <a:spcPts val="0"/>
              </a:spcAft>
              <a:buSzPts val="1100"/>
              <a:buChar char="●"/>
            </a:pPr>
            <a:r>
              <a:rPr lang="en" sz="1100"/>
              <a:t>Make available to Scale infrastructure via CDU files for each Factor Date</a:t>
            </a:r>
            <a:endParaRPr sz="1100"/>
          </a:p>
          <a:p>
            <a:pPr indent="0" lvl="0" marL="0" rtl="0" algn="l">
              <a:spcBef>
                <a:spcPts val="1600"/>
              </a:spcBef>
              <a:spcAft>
                <a:spcPts val="0"/>
              </a:spcAft>
              <a:buNone/>
            </a:pPr>
            <a:r>
              <a:rPr lang="en" sz="1200"/>
              <a:t>Prepayment Calculation</a:t>
            </a:r>
            <a:endParaRPr sz="1200"/>
          </a:p>
          <a:p>
            <a:pPr indent="-298450" lvl="0" marL="457200" marR="0" rtl="0" algn="l">
              <a:lnSpc>
                <a:spcPct val="115000"/>
              </a:lnSpc>
              <a:spcBef>
                <a:spcPts val="1600"/>
              </a:spcBef>
              <a:spcAft>
                <a:spcPts val="0"/>
              </a:spcAft>
              <a:buSzPts val="1100"/>
              <a:buChar char="●"/>
            </a:pPr>
            <a:r>
              <a:rPr lang="en" sz="1100"/>
              <a:t>Calculate the SMM for each WAC bucket of the Universe forward for next period (Note that the model needs the Media Effect for the prevailing month to calculate the 1-period ahead projection which in turn determines the Media Effect for that month. In other words, there’s a bootstrapping element to the projections.)</a:t>
            </a:r>
            <a:endParaRPr sz="1100"/>
          </a:p>
          <a:p>
            <a:pPr indent="-298450" lvl="0" marL="457200" marR="0" rtl="0" algn="l">
              <a:lnSpc>
                <a:spcPct val="115000"/>
              </a:lnSpc>
              <a:spcBef>
                <a:spcPts val="0"/>
              </a:spcBef>
              <a:spcAft>
                <a:spcPts val="0"/>
              </a:spcAft>
              <a:buSzPts val="1100"/>
              <a:buChar char="●"/>
            </a:pPr>
            <a:r>
              <a:rPr lang="en" sz="1100"/>
              <a:t>The SMM is calculated by calling the full prepayment model (Baton_vX.XX) on each WAC bucket of the Universe</a:t>
            </a:r>
            <a:endParaRPr sz="1100"/>
          </a:p>
          <a:p>
            <a:pPr indent="0" lvl="0" marL="0" rtl="0" algn="l">
              <a:spcBef>
                <a:spcPts val="1600"/>
              </a:spcBef>
              <a:spcAft>
                <a:spcPts val="0"/>
              </a:spcAft>
              <a:buNone/>
            </a:pPr>
            <a:r>
              <a:rPr lang="en" sz="1200"/>
              <a:t>Media Effect Update</a:t>
            </a:r>
            <a:endParaRPr sz="1200"/>
          </a:p>
          <a:p>
            <a:pPr indent="-298450" lvl="0" marL="457200" marR="0" rtl="0" algn="l">
              <a:lnSpc>
                <a:spcPct val="115000"/>
              </a:lnSpc>
              <a:spcBef>
                <a:spcPts val="1600"/>
              </a:spcBef>
              <a:spcAft>
                <a:spcPts val="0"/>
              </a:spcAft>
              <a:buSzPts val="1100"/>
              <a:buChar char="●"/>
            </a:pPr>
            <a:r>
              <a:rPr lang="en" sz="1100"/>
              <a:t>Redistributed Balances from each WAC bucket according to the SMM to the WAC bucket matching the prevailing Mortgage Rate</a:t>
            </a:r>
            <a:endParaRPr sz="1100"/>
          </a:p>
          <a:p>
            <a:pPr indent="-298450" lvl="0" marL="457200" marR="0" rtl="0" algn="l">
              <a:lnSpc>
                <a:spcPct val="115000"/>
              </a:lnSpc>
              <a:spcBef>
                <a:spcPts val="0"/>
              </a:spcBef>
              <a:spcAft>
                <a:spcPts val="0"/>
              </a:spcAft>
              <a:buSzPts val="1100"/>
              <a:buChar char="●"/>
            </a:pPr>
            <a:r>
              <a:rPr lang="en" sz="1100"/>
              <a:t>Calculate the Media Effect from the Redistributed Balances and the Prevailing Mortgage Rate</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Projection Model</a:t>
            </a:r>
            <a:endParaRPr/>
          </a:p>
        </p:txBody>
      </p:sp>
      <p:graphicFrame>
        <p:nvGraphicFramePr>
          <p:cNvPr id="80" name="Google Shape;80;p17"/>
          <p:cNvGraphicFramePr/>
          <p:nvPr/>
        </p:nvGraphicFramePr>
        <p:xfrm>
          <a:off x="928275" y="1461150"/>
          <a:ext cx="3000000" cy="3000000"/>
        </p:xfrm>
        <a:graphic>
          <a:graphicData uri="http://schemas.openxmlformats.org/drawingml/2006/table">
            <a:tbl>
              <a:tblPr>
                <a:noFill/>
                <a:tableStyleId>{8AF4A874-04CC-4D8B-A6B7-B3DAC831AC2D}</a:tableStyleId>
              </a:tblPr>
              <a:tblGrid>
                <a:gridCol w="804325"/>
                <a:gridCol w="804325"/>
                <a:gridCol w="804325"/>
                <a:gridCol w="804325"/>
                <a:gridCol w="804325"/>
                <a:gridCol w="804325"/>
                <a:gridCol w="1012575"/>
                <a:gridCol w="596075"/>
              </a:tblGrid>
              <a:tr h="513850">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 $ at t=0</a:t>
                      </a:r>
                      <a:endParaRPr b="1"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%Dist</a:t>
                      </a:r>
                      <a:endParaRPr b="1"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WAC Range</a:t>
                      </a:r>
                      <a:endParaRPr b="1"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Bucket WAC</a:t>
                      </a:r>
                      <a:endParaRPr b="1"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%CPR</a:t>
                      </a:r>
                      <a:endParaRPr b="1"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b="1" lang="en" sz="1100">
                          <a:solidFill>
                            <a:schemeClr val="dk1"/>
                          </a:solidFill>
                          <a:latin typeface="Calibri"/>
                          <a:ea typeface="Calibri"/>
                          <a:cs typeface="Calibri"/>
                          <a:sym typeface="Calibri"/>
                        </a:rPr>
                        <a:t>Surviving</a:t>
                      </a:r>
                      <a:endParaRPr b="1" sz="1100">
                        <a:latin typeface="Calibri"/>
                        <a:ea typeface="Calibri"/>
                        <a:cs typeface="Calibri"/>
                        <a:sym typeface="Calibri"/>
                      </a:endParaRPr>
                    </a:p>
                    <a:p>
                      <a:pPr indent="0" lvl="0" marL="0" rtl="0" algn="ctr">
                        <a:lnSpc>
                          <a:spcPct val="100000"/>
                        </a:lnSpc>
                        <a:spcBef>
                          <a:spcPts val="0"/>
                        </a:spcBef>
                        <a:spcAft>
                          <a:spcPts val="0"/>
                        </a:spcAft>
                        <a:buNone/>
                      </a:pPr>
                      <a:r>
                        <a:rPr b="1" lang="en" sz="1100">
                          <a:latin typeface="Calibri"/>
                          <a:ea typeface="Calibri"/>
                          <a:cs typeface="Calibri"/>
                          <a:sym typeface="Calibri"/>
                        </a:rPr>
                        <a:t> $ at t=1</a:t>
                      </a:r>
                      <a:endParaRPr b="1" sz="1100">
                        <a:latin typeface="Calibri"/>
                        <a:ea typeface="Calibri"/>
                        <a:cs typeface="Calibri"/>
                        <a:sym typeface="Calibri"/>
                      </a:endParaRPr>
                    </a:p>
                  </a:txBody>
                  <a:tcPr marT="91425" marB="91425" marR="91425" marL="91425">
                    <a:solidFill>
                      <a:srgbClr val="C9DAF8"/>
                    </a:solidFill>
                  </a:tcPr>
                </a:tc>
                <a:tc>
                  <a:txBody>
                    <a:bodyPr>
                      <a:noAutofit/>
                    </a:bodyPr>
                    <a:lstStyle/>
                    <a:p>
                      <a:pPr indent="0" lvl="0" marL="0" rtl="0" algn="ctr">
                        <a:lnSpc>
                          <a:spcPct val="100000"/>
                        </a:lnSpc>
                        <a:spcBef>
                          <a:spcPts val="0"/>
                        </a:spcBef>
                        <a:spcAft>
                          <a:spcPts val="0"/>
                        </a:spcAft>
                        <a:buNone/>
                      </a:pPr>
                      <a:r>
                        <a:rPr b="1" lang="en" sz="1100">
                          <a:solidFill>
                            <a:schemeClr val="dk1"/>
                          </a:solidFill>
                          <a:latin typeface="Calibri"/>
                          <a:ea typeface="Calibri"/>
                          <a:cs typeface="Calibri"/>
                          <a:sym typeface="Calibri"/>
                        </a:rPr>
                        <a:t>Reinvestment</a:t>
                      </a:r>
                      <a:endParaRPr b="1" sz="1100">
                        <a:latin typeface="Calibri"/>
                        <a:ea typeface="Calibri"/>
                        <a:cs typeface="Calibri"/>
                        <a:sym typeface="Calibri"/>
                      </a:endParaRPr>
                    </a:p>
                    <a:p>
                      <a:pPr indent="0" lvl="0" marL="0" rtl="0" algn="ctr">
                        <a:lnSpc>
                          <a:spcPct val="100000"/>
                        </a:lnSpc>
                        <a:spcBef>
                          <a:spcPts val="0"/>
                        </a:spcBef>
                        <a:spcAft>
                          <a:spcPts val="0"/>
                        </a:spcAft>
                        <a:buNone/>
                      </a:pPr>
                      <a:r>
                        <a:rPr b="1" lang="en" sz="1100">
                          <a:latin typeface="Calibri"/>
                          <a:ea typeface="Calibri"/>
                          <a:cs typeface="Calibri"/>
                          <a:sym typeface="Calibri"/>
                        </a:rPr>
                        <a:t>$ at t=1</a:t>
                      </a:r>
                      <a:endParaRPr b="1" sz="1100">
                        <a:latin typeface="Calibri"/>
                        <a:ea typeface="Calibri"/>
                        <a:cs typeface="Calibri"/>
                        <a:sym typeface="Calibri"/>
                      </a:endParaRPr>
                    </a:p>
                  </a:txBody>
                  <a:tcPr marT="91425" marB="91425" marR="91425" marL="91425">
                    <a:solidFill>
                      <a:srgbClr val="C9DAF8"/>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%Dist</a:t>
                      </a:r>
                      <a:endParaRPr b="1" sz="1100">
                        <a:latin typeface="Calibri"/>
                        <a:ea typeface="Calibri"/>
                        <a:cs typeface="Calibri"/>
                        <a:sym typeface="Calibri"/>
                      </a:endParaRPr>
                    </a:p>
                  </a:txBody>
                  <a:tcPr marT="91425" marB="91425" marR="91425" marL="91425">
                    <a:solidFill>
                      <a:srgbClr val="C9DAF8"/>
                    </a:solidFill>
                  </a:tcPr>
                </a:tc>
              </a:tr>
              <a:tr h="340250">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10</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10%</a:t>
                      </a:r>
                      <a:endParaRPr b="1"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6.125-6.25</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6.13%</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40%</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6.0</a:t>
                      </a:r>
                      <a:endParaRPr sz="1100">
                        <a:latin typeface="Calibri"/>
                        <a:ea typeface="Calibri"/>
                        <a:cs typeface="Calibri"/>
                        <a:sym typeface="Calibri"/>
                      </a:endParaRPr>
                    </a:p>
                  </a:txBody>
                  <a:tcPr marT="91425" marB="91425" marR="91425" marL="91425">
                    <a:solidFill>
                      <a:srgbClr val="C9DAF8"/>
                    </a:solidFill>
                  </a:tcPr>
                </a:tc>
                <a:tc>
                  <a:txBody>
                    <a:bodyPr>
                      <a:noAutofit/>
                    </a:bodyPr>
                    <a:lstStyle/>
                    <a:p>
                      <a:pPr indent="0" lvl="0" marL="0" rtl="0" algn="l">
                        <a:lnSpc>
                          <a:spcPct val="100000"/>
                        </a:lnSpc>
                        <a:spcBef>
                          <a:spcPts val="0"/>
                        </a:spcBef>
                        <a:spcAft>
                          <a:spcPts val="0"/>
                        </a:spcAft>
                        <a:buNone/>
                      </a:pPr>
                      <a:r>
                        <a:t/>
                      </a:r>
                      <a:endParaRPr sz="1100"/>
                    </a:p>
                  </a:txBody>
                  <a:tcPr marT="91425" marB="91425" marR="91425" marL="91425">
                    <a:solidFill>
                      <a:srgbClr val="C9DAF8"/>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6%</a:t>
                      </a:r>
                      <a:endParaRPr b="1" sz="1100">
                        <a:latin typeface="Calibri"/>
                        <a:ea typeface="Calibri"/>
                        <a:cs typeface="Calibri"/>
                        <a:sym typeface="Calibri"/>
                      </a:endParaRPr>
                    </a:p>
                  </a:txBody>
                  <a:tcPr marT="91425" marB="91425" marR="91425" marL="91425">
                    <a:solidFill>
                      <a:srgbClr val="C9DAF8"/>
                    </a:solidFill>
                  </a:tcPr>
                </a:tc>
              </a:tr>
              <a:tr h="340250">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25</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25%</a:t>
                      </a:r>
                      <a:endParaRPr b="1"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6.00</a:t>
                      </a:r>
                      <a:r>
                        <a:rPr lang="en" sz="1100">
                          <a:latin typeface="Calibri"/>
                          <a:ea typeface="Calibri"/>
                          <a:cs typeface="Calibri"/>
                          <a:sym typeface="Calibri"/>
                        </a:rPr>
                        <a:t>-6.125</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5.88%</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35%</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16.3</a:t>
                      </a:r>
                      <a:endParaRPr sz="1100">
                        <a:latin typeface="Calibri"/>
                        <a:ea typeface="Calibri"/>
                        <a:cs typeface="Calibri"/>
                        <a:sym typeface="Calibri"/>
                      </a:endParaRPr>
                    </a:p>
                  </a:txBody>
                  <a:tcPr marT="91425" marB="91425" marR="91425" marL="91425">
                    <a:solidFill>
                      <a:srgbClr val="C9DAF8"/>
                    </a:solidFill>
                  </a:tcPr>
                </a:tc>
                <a:tc>
                  <a:txBody>
                    <a:bodyPr>
                      <a:noAutofit/>
                    </a:bodyPr>
                    <a:lstStyle/>
                    <a:p>
                      <a:pPr indent="0" lvl="0" marL="0" rtl="0" algn="l">
                        <a:lnSpc>
                          <a:spcPct val="100000"/>
                        </a:lnSpc>
                        <a:spcBef>
                          <a:spcPts val="0"/>
                        </a:spcBef>
                        <a:spcAft>
                          <a:spcPts val="0"/>
                        </a:spcAft>
                        <a:buNone/>
                      </a:pPr>
                      <a:r>
                        <a:t/>
                      </a:r>
                      <a:endParaRPr sz="1100"/>
                    </a:p>
                  </a:txBody>
                  <a:tcPr marT="91425" marB="91425" marR="91425" marL="91425">
                    <a:solidFill>
                      <a:srgbClr val="C9DAF8"/>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16%</a:t>
                      </a:r>
                      <a:endParaRPr b="1" sz="1100">
                        <a:latin typeface="Calibri"/>
                        <a:ea typeface="Calibri"/>
                        <a:cs typeface="Calibri"/>
                        <a:sym typeface="Calibri"/>
                      </a:endParaRPr>
                    </a:p>
                  </a:txBody>
                  <a:tcPr marT="91425" marB="91425" marR="91425" marL="91425">
                    <a:solidFill>
                      <a:srgbClr val="C9DAF8"/>
                    </a:solidFill>
                  </a:tcPr>
                </a:tc>
              </a:tr>
              <a:tr h="340250">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25</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25%</a:t>
                      </a:r>
                      <a:endParaRPr b="1"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5.75-5.875</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5.63%</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30%</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17.5</a:t>
                      </a:r>
                      <a:endParaRPr sz="1100">
                        <a:latin typeface="Calibri"/>
                        <a:ea typeface="Calibri"/>
                        <a:cs typeface="Calibri"/>
                        <a:sym typeface="Calibri"/>
                      </a:endParaRPr>
                    </a:p>
                  </a:txBody>
                  <a:tcPr marT="91425" marB="91425" marR="91425" marL="91425">
                    <a:solidFill>
                      <a:srgbClr val="C9DAF8"/>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23.8</a:t>
                      </a:r>
                      <a:endParaRPr sz="1100">
                        <a:latin typeface="Calibri"/>
                        <a:ea typeface="Calibri"/>
                        <a:cs typeface="Calibri"/>
                        <a:sym typeface="Calibri"/>
                      </a:endParaRPr>
                    </a:p>
                  </a:txBody>
                  <a:tcPr marT="91425" marB="91425" marR="91425" marL="91425">
                    <a:solidFill>
                      <a:srgbClr val="C9DAF8"/>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41%</a:t>
                      </a:r>
                      <a:endParaRPr b="1" sz="1100">
                        <a:latin typeface="Calibri"/>
                        <a:ea typeface="Calibri"/>
                        <a:cs typeface="Calibri"/>
                        <a:sym typeface="Calibri"/>
                      </a:endParaRPr>
                    </a:p>
                  </a:txBody>
                  <a:tcPr marT="91425" marB="91425" marR="91425" marL="91425">
                    <a:solidFill>
                      <a:srgbClr val="C9DAF8"/>
                    </a:solidFill>
                  </a:tcPr>
                </a:tc>
              </a:tr>
              <a:tr h="340250">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30</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30%</a:t>
                      </a:r>
                      <a:endParaRPr b="1"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5.625-5.75</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5.38%</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10%</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27.0</a:t>
                      </a:r>
                      <a:endParaRPr sz="1100">
                        <a:latin typeface="Calibri"/>
                        <a:ea typeface="Calibri"/>
                        <a:cs typeface="Calibri"/>
                        <a:sym typeface="Calibri"/>
                      </a:endParaRPr>
                    </a:p>
                  </a:txBody>
                  <a:tcPr marT="91425" marB="91425" marR="91425" marL="91425">
                    <a:solidFill>
                      <a:srgbClr val="C9DAF8"/>
                    </a:solidFill>
                  </a:tcPr>
                </a:tc>
                <a:tc>
                  <a:txBody>
                    <a:bodyPr>
                      <a:noAutofit/>
                    </a:bodyPr>
                    <a:lstStyle/>
                    <a:p>
                      <a:pPr indent="0" lvl="0" marL="0" rtl="0" algn="l">
                        <a:lnSpc>
                          <a:spcPct val="100000"/>
                        </a:lnSpc>
                        <a:spcBef>
                          <a:spcPts val="0"/>
                        </a:spcBef>
                        <a:spcAft>
                          <a:spcPts val="0"/>
                        </a:spcAft>
                        <a:buNone/>
                      </a:pPr>
                      <a:r>
                        <a:t/>
                      </a:r>
                      <a:endParaRPr sz="1100"/>
                    </a:p>
                  </a:txBody>
                  <a:tcPr marT="91425" marB="91425" marR="91425" marL="91425">
                    <a:solidFill>
                      <a:srgbClr val="C9DAF8"/>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27%</a:t>
                      </a:r>
                      <a:endParaRPr b="1" sz="1100">
                        <a:latin typeface="Calibri"/>
                        <a:ea typeface="Calibri"/>
                        <a:cs typeface="Calibri"/>
                        <a:sym typeface="Calibri"/>
                      </a:endParaRPr>
                    </a:p>
                  </a:txBody>
                  <a:tcPr marT="91425" marB="91425" marR="91425" marL="91425">
                    <a:solidFill>
                      <a:srgbClr val="C9DAF8"/>
                    </a:solidFill>
                  </a:tcPr>
                </a:tc>
              </a:tr>
              <a:tr h="340250">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10</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10%</a:t>
                      </a:r>
                      <a:endParaRPr b="1"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5.50-5.625</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5.13%</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5%</a:t>
                      </a:r>
                      <a:endParaRPr sz="1100">
                        <a:latin typeface="Calibri"/>
                        <a:ea typeface="Calibri"/>
                        <a:cs typeface="Calibri"/>
                        <a:sym typeface="Calibri"/>
                      </a:endParaRPr>
                    </a:p>
                  </a:txBody>
                  <a:tcPr marT="91425" marB="91425" marR="91425" marL="91425">
                    <a:solidFill>
                      <a:schemeClr val="lt2"/>
                    </a:solidFill>
                  </a:tcPr>
                </a:tc>
                <a:tc>
                  <a:txBody>
                    <a:bodyPr>
                      <a:noAutofit/>
                    </a:bodyPr>
                    <a:lstStyle/>
                    <a:p>
                      <a:pPr indent="0" lvl="0" marL="0" rtl="0" algn="ctr">
                        <a:lnSpc>
                          <a:spcPct val="100000"/>
                        </a:lnSpc>
                        <a:spcBef>
                          <a:spcPts val="0"/>
                        </a:spcBef>
                        <a:spcAft>
                          <a:spcPts val="0"/>
                        </a:spcAft>
                        <a:buNone/>
                      </a:pPr>
                      <a:r>
                        <a:rPr lang="en" sz="1100">
                          <a:latin typeface="Calibri"/>
                          <a:ea typeface="Calibri"/>
                          <a:cs typeface="Calibri"/>
                          <a:sym typeface="Calibri"/>
                        </a:rPr>
                        <a:t>9.5</a:t>
                      </a:r>
                      <a:endParaRPr sz="1100">
                        <a:latin typeface="Calibri"/>
                        <a:ea typeface="Calibri"/>
                        <a:cs typeface="Calibri"/>
                        <a:sym typeface="Calibri"/>
                      </a:endParaRPr>
                    </a:p>
                  </a:txBody>
                  <a:tcPr marT="91425" marB="91425" marR="91425" marL="91425">
                    <a:solidFill>
                      <a:srgbClr val="C9DAF8"/>
                    </a:solidFill>
                  </a:tcPr>
                </a:tc>
                <a:tc>
                  <a:txBody>
                    <a:bodyPr>
                      <a:noAutofit/>
                    </a:bodyPr>
                    <a:lstStyle/>
                    <a:p>
                      <a:pPr indent="0" lvl="0" marL="0" rtl="0" algn="l">
                        <a:lnSpc>
                          <a:spcPct val="100000"/>
                        </a:lnSpc>
                        <a:spcBef>
                          <a:spcPts val="0"/>
                        </a:spcBef>
                        <a:spcAft>
                          <a:spcPts val="0"/>
                        </a:spcAft>
                        <a:buNone/>
                      </a:pPr>
                      <a:r>
                        <a:t/>
                      </a:r>
                      <a:endParaRPr sz="1100"/>
                    </a:p>
                  </a:txBody>
                  <a:tcPr marT="91425" marB="91425" marR="91425" marL="91425">
                    <a:solidFill>
                      <a:srgbClr val="C9DAF8"/>
                    </a:solidFill>
                  </a:tcPr>
                </a:tc>
                <a:tc>
                  <a:txBody>
                    <a:bodyPr>
                      <a:noAutofit/>
                    </a:bodyPr>
                    <a:lstStyle/>
                    <a:p>
                      <a:pPr indent="0" lvl="0" marL="0" rtl="0" algn="ctr">
                        <a:lnSpc>
                          <a:spcPct val="100000"/>
                        </a:lnSpc>
                        <a:spcBef>
                          <a:spcPts val="0"/>
                        </a:spcBef>
                        <a:spcAft>
                          <a:spcPts val="0"/>
                        </a:spcAft>
                        <a:buNone/>
                      </a:pPr>
                      <a:r>
                        <a:rPr b="1" lang="en" sz="1100">
                          <a:latin typeface="Calibri"/>
                          <a:ea typeface="Calibri"/>
                          <a:cs typeface="Calibri"/>
                          <a:sym typeface="Calibri"/>
                        </a:rPr>
                        <a:t>10%</a:t>
                      </a:r>
                      <a:endParaRPr b="1" sz="1100">
                        <a:latin typeface="Calibri"/>
                        <a:ea typeface="Calibri"/>
                        <a:cs typeface="Calibri"/>
                        <a:sym typeface="Calibri"/>
                      </a:endParaRPr>
                    </a:p>
                  </a:txBody>
                  <a:tcPr marT="91425" marB="91425" marR="91425" marL="91425">
                    <a:solidFill>
                      <a:srgbClr val="C9DAF8"/>
                    </a:solidFill>
                  </a:tcPr>
                </a:tc>
              </a:tr>
            </a:tbl>
          </a:graphicData>
        </a:graphic>
      </p:graphicFrame>
      <p:sp>
        <p:nvSpPr>
          <p:cNvPr id="81" name="Google Shape;81;p17"/>
          <p:cNvSpPr txBox="1"/>
          <p:nvPr>
            <p:ph idx="1" type="body"/>
          </p:nvPr>
        </p:nvSpPr>
        <p:spPr>
          <a:xfrm>
            <a:off x="311700" y="1152475"/>
            <a:ext cx="8520600" cy="384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t>Stylized Media Effect Projection Example</a:t>
            </a:r>
            <a:br>
              <a:rPr lang="en" sz="1200"/>
            </a:br>
            <a:endParaRPr sz="1200"/>
          </a:p>
        </p:txBody>
      </p:sp>
      <p:graphicFrame>
        <p:nvGraphicFramePr>
          <p:cNvPr id="82" name="Google Shape;82;p17"/>
          <p:cNvGraphicFramePr/>
          <p:nvPr/>
        </p:nvGraphicFramePr>
        <p:xfrm>
          <a:off x="928275" y="3865650"/>
          <a:ext cx="3000000" cy="3000000"/>
        </p:xfrm>
        <a:graphic>
          <a:graphicData uri="http://schemas.openxmlformats.org/drawingml/2006/table">
            <a:tbl>
              <a:tblPr>
                <a:noFill/>
                <a:tableStyleId>{8AF4A874-04CC-4D8B-A6B7-B3DAC831AC2D}</a:tableStyleId>
              </a:tblPr>
              <a:tblGrid>
                <a:gridCol w="1216125"/>
                <a:gridCol w="640975"/>
                <a:gridCol w="761250"/>
                <a:gridCol w="761250"/>
                <a:gridCol w="645000"/>
                <a:gridCol w="877500"/>
                <a:gridCol w="958350"/>
                <a:gridCol w="564150"/>
              </a:tblGrid>
              <a:tr h="237500">
                <a:tc>
                  <a:txBody>
                    <a:bodyPr>
                      <a:noAutofit/>
                    </a:bodyPr>
                    <a:lstStyle/>
                    <a:p>
                      <a:pPr indent="0" lvl="0" marL="0" rtl="0" algn="l">
                        <a:spcBef>
                          <a:spcPts val="0"/>
                        </a:spcBef>
                        <a:spcAft>
                          <a:spcPts val="0"/>
                        </a:spcAft>
                        <a:buNone/>
                      </a:pPr>
                      <a:r>
                        <a:rPr lang="en" sz="1000"/>
                        <a:t>Mtg Rate</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None/>
                      </a:pPr>
                      <a:r>
                        <a:rPr lang="en" sz="1000"/>
                        <a:t>5.12%</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Clr>
                          <a:schemeClr val="dk1"/>
                        </a:buClr>
                        <a:buSzPts val="1100"/>
                        <a:buFont typeface="Arial"/>
                        <a:buNone/>
                      </a:pPr>
                      <a:r>
                        <a:rPr lang="en" sz="1000">
                          <a:solidFill>
                            <a:schemeClr val="dk1"/>
                          </a:solidFill>
                        </a:rPr>
                        <a:t>5.12%</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r>
              <a:tr h="290125">
                <a:tc>
                  <a:txBody>
                    <a:bodyPr>
                      <a:noAutofit/>
                    </a:bodyPr>
                    <a:lstStyle/>
                    <a:p>
                      <a:pPr indent="0" lvl="0" marL="0" rtl="0" algn="l">
                        <a:spcBef>
                          <a:spcPts val="0"/>
                        </a:spcBef>
                        <a:spcAft>
                          <a:spcPts val="0"/>
                        </a:spcAft>
                        <a:buNone/>
                      </a:pPr>
                      <a:r>
                        <a:rPr lang="en" sz="1000"/>
                        <a:t>Refi Trigger</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gridSpan="4">
                  <a:txBody>
                    <a:bodyPr>
                      <a:noAutofit/>
                    </a:bodyPr>
                    <a:lstStyle/>
                    <a:p>
                      <a:pPr indent="0" lvl="0" marL="0" rtl="0" algn="l">
                        <a:spcBef>
                          <a:spcPts val="0"/>
                        </a:spcBef>
                        <a:spcAft>
                          <a:spcPts val="0"/>
                        </a:spcAft>
                        <a:buNone/>
                      </a:pPr>
                      <a:r>
                        <a:rPr lang="en" sz="1000"/>
                        <a:t>5.12%+50bps+LLPA+PMI-origPMI</a:t>
                      </a:r>
                      <a:r>
                        <a:rPr lang="en" sz="1000">
                          <a:solidFill>
                            <a:schemeClr val="dk1"/>
                          </a:solidFill>
                        </a:rPr>
                        <a:t>= 5.875%</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hMerge="1"/>
                <a:tc hMerge="1"/>
                <a:tc hMerge="1"/>
                <a:tc>
                  <a:txBody>
                    <a:bodyPr>
                      <a:noAutofit/>
                    </a:bodyPr>
                    <a:lstStyle/>
                    <a:p>
                      <a:pPr indent="0" lvl="0" marL="0" rtl="0" algn="l">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Clr>
                          <a:schemeClr val="dk1"/>
                        </a:buClr>
                        <a:buSzPts val="1100"/>
                        <a:buFont typeface="Arial"/>
                        <a:buNone/>
                      </a:pPr>
                      <a:r>
                        <a:rPr lang="en" sz="1000">
                          <a:solidFill>
                            <a:schemeClr val="dk1"/>
                          </a:solidFill>
                        </a:rPr>
                        <a:t>5.875%</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ctr">
                        <a:lnSpc>
                          <a:spcPct val="100000"/>
                        </a:lnSpc>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r>
              <a:tr h="290125">
                <a:tc>
                  <a:txBody>
                    <a:bodyPr>
                      <a:noAutofit/>
                    </a:bodyPr>
                    <a:lstStyle/>
                    <a:p>
                      <a:pPr indent="0" lvl="0" marL="0" rtl="0" algn="l">
                        <a:lnSpc>
                          <a:spcPct val="100000"/>
                        </a:lnSpc>
                        <a:spcBef>
                          <a:spcPts val="0"/>
                        </a:spcBef>
                        <a:spcAft>
                          <a:spcPts val="0"/>
                        </a:spcAft>
                        <a:buNone/>
                      </a:pPr>
                      <a:r>
                        <a:rPr lang="en" sz="1000"/>
                        <a:t>% Refinanceable</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lnSpc>
                          <a:spcPct val="100000"/>
                        </a:lnSpc>
                        <a:spcBef>
                          <a:spcPts val="0"/>
                        </a:spcBef>
                        <a:spcAft>
                          <a:spcPts val="0"/>
                        </a:spcAft>
                        <a:buNone/>
                      </a:pPr>
                      <a:r>
                        <a:rPr lang="en" sz="1000">
                          <a:solidFill>
                            <a:srgbClr val="0000FF"/>
                          </a:solidFill>
                        </a:rPr>
                        <a:t>35%</a:t>
                      </a:r>
                      <a:endParaRPr sz="1000">
                        <a:solidFill>
                          <a:srgbClr val="0000FF"/>
                        </a:solidFill>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l">
                        <a:lnSpc>
                          <a:spcPct val="100000"/>
                        </a:lnSpc>
                        <a:spcBef>
                          <a:spcPts val="0"/>
                        </a:spcBef>
                        <a:spcAft>
                          <a:spcPts val="0"/>
                        </a:spcAft>
                        <a:buNone/>
                      </a:pPr>
                      <a:r>
                        <a:rPr lang="en" sz="1000">
                          <a:solidFill>
                            <a:srgbClr val="0000FF"/>
                          </a:solidFill>
                        </a:rPr>
                        <a:t>22%</a:t>
                      </a:r>
                      <a:endParaRPr sz="1000">
                        <a:solidFill>
                          <a:srgbClr val="0000FF"/>
                        </a:solidFill>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noAutofit/>
                    </a:bodyPr>
                    <a:lstStyle/>
                    <a:p>
                      <a:pPr indent="0" lvl="0" marL="0" rtl="0" algn="ctr">
                        <a:lnSpc>
                          <a:spcPct val="100000"/>
                        </a:lnSpc>
                        <a:spcBef>
                          <a:spcPts val="0"/>
                        </a:spcBef>
                        <a:spcAft>
                          <a:spcPts val="0"/>
                        </a:spcAft>
                        <a:buNone/>
                      </a:pPr>
                      <a:r>
                        <a:t/>
                      </a:r>
                      <a:endParaRPr sz="1000"/>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r>
            </a:tbl>
          </a:graphicData>
        </a:graphic>
      </p:graphicFrame>
      <p:sp>
        <p:nvSpPr>
          <p:cNvPr id="83" name="Google Shape;83;p17"/>
          <p:cNvSpPr/>
          <p:nvPr/>
        </p:nvSpPr>
        <p:spPr>
          <a:xfrm>
            <a:off x="4930350" y="4266825"/>
            <a:ext cx="174300" cy="203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Potential </a:t>
            </a:r>
            <a:r>
              <a:rPr lang="en"/>
              <a:t>Improvements for</a:t>
            </a:r>
            <a:r>
              <a:rPr lang="en"/>
              <a:t> ME model v1.0</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t>One step tracking for model v1.0 is consistently higher than the actual media effect. The tracking error is biased ~10% higher.</a:t>
            </a:r>
            <a:endParaRPr sz="1100"/>
          </a:p>
          <a:p>
            <a:pPr indent="0" lvl="0" marL="0" rtl="0" algn="l">
              <a:lnSpc>
                <a:spcPct val="100000"/>
              </a:lnSpc>
              <a:spcBef>
                <a:spcPts val="0"/>
              </a:spcBef>
              <a:spcAft>
                <a:spcPts val="0"/>
              </a:spcAft>
              <a:buNone/>
            </a:pPr>
            <a:r>
              <a:rPr lang="en" sz="1100"/>
              <a:t>RMSE: 13.97</a:t>
            </a:r>
            <a:endParaRPr sz="1100"/>
          </a:p>
        </p:txBody>
      </p:sp>
      <p:pic>
        <p:nvPicPr>
          <p:cNvPr id="90" name="Google Shape;90;p18"/>
          <p:cNvPicPr preferRelativeResize="0"/>
          <p:nvPr/>
        </p:nvPicPr>
        <p:blipFill>
          <a:blip r:embed="rId3">
            <a:alphaModFix/>
          </a:blip>
          <a:stretch>
            <a:fillRect/>
          </a:stretch>
        </p:blipFill>
        <p:spPr>
          <a:xfrm>
            <a:off x="2145525" y="1728975"/>
            <a:ext cx="4277701" cy="2881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3. Potential Improvements for ME model v1.0</a:t>
            </a:r>
            <a:endParaRPr/>
          </a:p>
          <a:p>
            <a:pPr indent="0" lvl="0" marL="0" rtl="0" algn="l">
              <a:spcBef>
                <a:spcPts val="0"/>
              </a:spcBef>
              <a:spcAft>
                <a:spcPts val="0"/>
              </a:spcAft>
              <a:buNone/>
            </a:pPr>
            <a:r>
              <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t>1) Incentive with LLPA/PMI</a:t>
            </a:r>
            <a:endParaRPr sz="1100"/>
          </a:p>
          <a:p>
            <a:pPr indent="0" lvl="0" marL="0" rtl="0" algn="l">
              <a:lnSpc>
                <a:spcPct val="100000"/>
              </a:lnSpc>
              <a:spcBef>
                <a:spcPts val="1600"/>
              </a:spcBef>
              <a:spcAft>
                <a:spcPts val="1600"/>
              </a:spcAft>
              <a:buNone/>
            </a:pPr>
            <a:r>
              <a:rPr lang="en" sz="1100">
                <a:solidFill>
                  <a:srgbClr val="222222"/>
                </a:solidFill>
                <a:highlight>
                  <a:srgbClr val="FFFFFF"/>
                </a:highlight>
              </a:rPr>
              <a:t>One reason the model values are consistently higher than actual is we are not using LLPA / PMI in our incentive calculation. The additional cost will lower the refinanceable percentage of the universe as well as the model tracking error. </a:t>
            </a:r>
            <a:endParaRPr sz="1100"/>
          </a:p>
        </p:txBody>
      </p:sp>
      <p:pic>
        <p:nvPicPr>
          <p:cNvPr id="97" name="Google Shape;97;p19"/>
          <p:cNvPicPr preferRelativeResize="0"/>
          <p:nvPr/>
        </p:nvPicPr>
        <p:blipFill>
          <a:blip r:embed="rId3">
            <a:alphaModFix/>
          </a:blip>
          <a:stretch>
            <a:fillRect/>
          </a:stretch>
        </p:blipFill>
        <p:spPr>
          <a:xfrm>
            <a:off x="1058875" y="2206575"/>
            <a:ext cx="2592899" cy="2404500"/>
          </a:xfrm>
          <a:prstGeom prst="rect">
            <a:avLst/>
          </a:prstGeom>
          <a:noFill/>
          <a:ln>
            <a:noFill/>
          </a:ln>
        </p:spPr>
      </p:pic>
      <p:pic>
        <p:nvPicPr>
          <p:cNvPr id="98" name="Google Shape;98;p19"/>
          <p:cNvPicPr preferRelativeResize="0"/>
          <p:nvPr/>
        </p:nvPicPr>
        <p:blipFill>
          <a:blip r:embed="rId4">
            <a:alphaModFix/>
          </a:blip>
          <a:stretch>
            <a:fillRect/>
          </a:stretch>
        </p:blipFill>
        <p:spPr>
          <a:xfrm>
            <a:off x="4751700" y="2206575"/>
            <a:ext cx="2584601" cy="2362300"/>
          </a:xfrm>
          <a:prstGeom prst="rect">
            <a:avLst/>
          </a:prstGeom>
          <a:noFill/>
          <a:ln>
            <a:noFill/>
          </a:ln>
        </p:spPr>
      </p:pic>
      <p:sp>
        <p:nvSpPr>
          <p:cNvPr id="99" name="Google Shape;99;p19"/>
          <p:cNvSpPr txBox="1"/>
          <p:nvPr/>
        </p:nvSpPr>
        <p:spPr>
          <a:xfrm>
            <a:off x="1729025" y="4630125"/>
            <a:ext cx="1389900" cy="20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RMSE: 13.97</a:t>
            </a:r>
            <a:endParaRPr sz="1100"/>
          </a:p>
        </p:txBody>
      </p:sp>
      <p:sp>
        <p:nvSpPr>
          <p:cNvPr id="100" name="Google Shape;100;p19"/>
          <p:cNvSpPr txBox="1"/>
          <p:nvPr/>
        </p:nvSpPr>
        <p:spPr>
          <a:xfrm>
            <a:off x="5349050" y="4630125"/>
            <a:ext cx="1389900" cy="20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RMSE: 6.19</a:t>
            </a:r>
            <a:endParaRPr sz="1100"/>
          </a:p>
        </p:txBody>
      </p:sp>
      <p:sp>
        <p:nvSpPr>
          <p:cNvPr id="101" name="Google Shape;101;p19"/>
          <p:cNvSpPr/>
          <p:nvPr/>
        </p:nvSpPr>
        <p:spPr>
          <a:xfrm>
            <a:off x="3981125" y="3186850"/>
            <a:ext cx="377700" cy="317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Potential Improvements for ME model v1.0</a:t>
            </a:r>
            <a:endParaRPr/>
          </a:p>
          <a:p>
            <a:pPr indent="0" lvl="0" marL="0" rtl="0" algn="l">
              <a:spcBef>
                <a:spcPts val="0"/>
              </a:spcBef>
              <a:spcAft>
                <a:spcPts val="0"/>
              </a:spcAft>
              <a:buNone/>
            </a:pPr>
            <a:r>
              <a:t/>
            </a:r>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t>2) Bucket </a:t>
            </a:r>
            <a:r>
              <a:rPr lang="en" sz="1100"/>
              <a:t>Granularity</a:t>
            </a:r>
            <a:endParaRPr sz="1100"/>
          </a:p>
          <a:p>
            <a:pPr indent="0" lvl="0" marL="0" rtl="0" algn="l">
              <a:lnSpc>
                <a:spcPct val="100000"/>
              </a:lnSpc>
              <a:spcBef>
                <a:spcPts val="1600"/>
              </a:spcBef>
              <a:spcAft>
                <a:spcPts val="0"/>
              </a:spcAft>
              <a:buNone/>
            </a:pPr>
            <a:r>
              <a:rPr lang="en" sz="1000">
                <a:solidFill>
                  <a:srgbClr val="222222"/>
                </a:solidFill>
                <a:highlight>
                  <a:srgbClr val="FFFFFF"/>
                </a:highlight>
              </a:rPr>
              <a:t>The actual ME is generated based on loan level/pool level incentive calculation;</a:t>
            </a:r>
            <a:endParaRPr sz="1000">
              <a:solidFill>
                <a:srgbClr val="222222"/>
              </a:solidFill>
              <a:highlight>
                <a:srgbClr val="FFFFFF"/>
              </a:highlight>
            </a:endParaRPr>
          </a:p>
          <a:p>
            <a:pPr indent="0" lvl="0" marL="0" rtl="0" algn="l">
              <a:lnSpc>
                <a:spcPct val="100000"/>
              </a:lnSpc>
              <a:spcBef>
                <a:spcPts val="0"/>
              </a:spcBef>
              <a:spcAft>
                <a:spcPts val="0"/>
              </a:spcAft>
              <a:buNone/>
            </a:pPr>
            <a:r>
              <a:rPr lang="en" sz="1000">
                <a:solidFill>
                  <a:srgbClr val="222222"/>
                </a:solidFill>
                <a:highlight>
                  <a:srgbClr val="FFFFFF"/>
                </a:highlight>
              </a:rPr>
              <a:t>Model uses the universe level replines with 12.5bps steps;</a:t>
            </a:r>
            <a:endParaRPr sz="1000">
              <a:solidFill>
                <a:srgbClr val="222222"/>
              </a:solidFill>
              <a:highlight>
                <a:srgbClr val="FFFFFF"/>
              </a:highlight>
            </a:endParaRPr>
          </a:p>
          <a:p>
            <a:pPr indent="0" lvl="0" marL="0" rtl="0" algn="l">
              <a:lnSpc>
                <a:spcPct val="100000"/>
              </a:lnSpc>
              <a:spcBef>
                <a:spcPts val="0"/>
              </a:spcBef>
              <a:spcAft>
                <a:spcPts val="0"/>
              </a:spcAft>
              <a:buNone/>
            </a:pPr>
            <a:r>
              <a:rPr lang="en" sz="1000">
                <a:solidFill>
                  <a:srgbClr val="222222"/>
                </a:solidFill>
                <a:highlight>
                  <a:srgbClr val="FFFFFF"/>
                </a:highlight>
              </a:rPr>
              <a:t>Although there is no simple solution to get around the gap between the collateral level, more granularity steps will lower the tracking errors.</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p:txBody>
      </p:sp>
      <p:pic>
        <p:nvPicPr>
          <p:cNvPr id="108" name="Google Shape;108;p20"/>
          <p:cNvPicPr preferRelativeResize="0"/>
          <p:nvPr/>
        </p:nvPicPr>
        <p:blipFill>
          <a:blip r:embed="rId3">
            <a:alphaModFix/>
          </a:blip>
          <a:stretch>
            <a:fillRect/>
          </a:stretch>
        </p:blipFill>
        <p:spPr>
          <a:xfrm>
            <a:off x="1058875" y="2206575"/>
            <a:ext cx="2592899" cy="2404500"/>
          </a:xfrm>
          <a:prstGeom prst="rect">
            <a:avLst/>
          </a:prstGeom>
          <a:noFill/>
          <a:ln>
            <a:noFill/>
          </a:ln>
        </p:spPr>
      </p:pic>
      <p:sp>
        <p:nvSpPr>
          <p:cNvPr id="109" name="Google Shape;109;p20"/>
          <p:cNvSpPr txBox="1"/>
          <p:nvPr/>
        </p:nvSpPr>
        <p:spPr>
          <a:xfrm>
            <a:off x="1729025" y="4630125"/>
            <a:ext cx="1389900" cy="20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RMSE: 13.97</a:t>
            </a:r>
            <a:endParaRPr sz="1100"/>
          </a:p>
        </p:txBody>
      </p:sp>
      <p:sp>
        <p:nvSpPr>
          <p:cNvPr id="110" name="Google Shape;110;p20"/>
          <p:cNvSpPr txBox="1"/>
          <p:nvPr/>
        </p:nvSpPr>
        <p:spPr>
          <a:xfrm>
            <a:off x="5349050" y="4630125"/>
            <a:ext cx="1389900" cy="20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RMSE: 9.82</a:t>
            </a:r>
            <a:endParaRPr sz="1100"/>
          </a:p>
        </p:txBody>
      </p:sp>
      <p:sp>
        <p:nvSpPr>
          <p:cNvPr id="111" name="Google Shape;111;p20"/>
          <p:cNvSpPr/>
          <p:nvPr/>
        </p:nvSpPr>
        <p:spPr>
          <a:xfrm>
            <a:off x="3981125" y="3186850"/>
            <a:ext cx="377700" cy="317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 name="Google Shape;112;p20"/>
          <p:cNvPicPr preferRelativeResize="0"/>
          <p:nvPr/>
        </p:nvPicPr>
        <p:blipFill>
          <a:blip r:embed="rId4">
            <a:alphaModFix/>
          </a:blip>
          <a:stretch>
            <a:fillRect/>
          </a:stretch>
        </p:blipFill>
        <p:spPr>
          <a:xfrm>
            <a:off x="4869575" y="2206575"/>
            <a:ext cx="2476410" cy="2362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pic>
        <p:nvPicPr>
          <p:cNvPr id="117" name="Google Shape;117;p21"/>
          <p:cNvPicPr preferRelativeResize="0"/>
          <p:nvPr/>
        </p:nvPicPr>
        <p:blipFill>
          <a:blip r:embed="rId3">
            <a:alphaModFix/>
          </a:blip>
          <a:stretch>
            <a:fillRect/>
          </a:stretch>
        </p:blipFill>
        <p:spPr>
          <a:xfrm>
            <a:off x="4690375" y="1580525"/>
            <a:ext cx="1723143" cy="1643751"/>
          </a:xfrm>
          <a:prstGeom prst="rect">
            <a:avLst/>
          </a:prstGeom>
          <a:noFill/>
          <a:ln>
            <a:noFill/>
          </a:ln>
        </p:spPr>
      </p:pic>
      <p:sp>
        <p:nvSpPr>
          <p:cNvPr id="118" name="Google Shape;118;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Potential Improvements for ME model v1.0</a:t>
            </a:r>
            <a:endParaRPr/>
          </a:p>
          <a:p>
            <a:pPr indent="0" lvl="0" marL="0" rtl="0" algn="l">
              <a:spcBef>
                <a:spcPts val="0"/>
              </a:spcBef>
              <a:spcAft>
                <a:spcPts val="0"/>
              </a:spcAft>
              <a:buNone/>
            </a:pPr>
            <a:r>
              <a:t/>
            </a:r>
            <a:endParaRPr/>
          </a:p>
        </p:txBody>
      </p:sp>
      <p:sp>
        <p:nvSpPr>
          <p:cNvPr id="119" name="Google Shape;119;p21"/>
          <p:cNvSpPr txBox="1"/>
          <p:nvPr>
            <p:ph idx="1" type="body"/>
          </p:nvPr>
        </p:nvSpPr>
        <p:spPr>
          <a:xfrm>
            <a:off x="311700" y="1000075"/>
            <a:ext cx="8520600" cy="627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222222"/>
                </a:solidFill>
                <a:highlight>
                  <a:srgbClr val="FFFFFF"/>
                </a:highlight>
              </a:rPr>
              <a:t>Combining 1) and 2), using 5bps step with LLPA and PMI in the calculation will give us a fairly accurate tracking result.</a:t>
            </a:r>
            <a:endParaRPr sz="1000">
              <a:solidFill>
                <a:srgbClr val="222222"/>
              </a:solidFill>
              <a:highlight>
                <a:srgbClr val="FFFFFF"/>
              </a:highlight>
            </a:endParaRPr>
          </a:p>
          <a:p>
            <a:pPr indent="0" lvl="0" marL="0" rtl="0" algn="l">
              <a:lnSpc>
                <a:spcPct val="100000"/>
              </a:lnSpc>
              <a:spcBef>
                <a:spcPts val="0"/>
              </a:spcBef>
              <a:spcAft>
                <a:spcPts val="0"/>
              </a:spcAft>
              <a:buNone/>
            </a:pPr>
            <a:r>
              <a:rPr lang="en" sz="1000">
                <a:solidFill>
                  <a:srgbClr val="222222"/>
                </a:solidFill>
                <a:highlight>
                  <a:srgbClr val="FFFFFF"/>
                </a:highlight>
              </a:rPr>
              <a:t>RMSE is about 25% lower in the combined version compare with using 1) only.</a:t>
            </a:r>
            <a:br>
              <a:rPr lang="en" sz="1000">
                <a:solidFill>
                  <a:srgbClr val="222222"/>
                </a:solidFill>
                <a:highlight>
                  <a:srgbClr val="FFFFFF"/>
                </a:highlight>
              </a:rPr>
            </a:br>
            <a:r>
              <a:rPr lang="en" sz="1000">
                <a:solidFill>
                  <a:srgbClr val="222222"/>
                </a:solidFill>
                <a:highlight>
                  <a:srgbClr val="FFFFFF"/>
                </a:highlight>
              </a:rPr>
              <a:t>I think the result is as expected. There will always be a tradeoff between speed and accuracy.</a:t>
            </a:r>
            <a:endParaRPr sz="1000">
              <a:solidFill>
                <a:srgbClr val="222222"/>
              </a:solidFill>
              <a:highlight>
                <a:srgbClr val="FFFFFF"/>
              </a:highlight>
            </a:endParaRPr>
          </a:p>
        </p:txBody>
      </p:sp>
      <p:pic>
        <p:nvPicPr>
          <p:cNvPr id="120" name="Google Shape;120;p21"/>
          <p:cNvPicPr preferRelativeResize="0"/>
          <p:nvPr/>
        </p:nvPicPr>
        <p:blipFill>
          <a:blip r:embed="rId4">
            <a:alphaModFix/>
          </a:blip>
          <a:stretch>
            <a:fillRect/>
          </a:stretch>
        </p:blipFill>
        <p:spPr>
          <a:xfrm>
            <a:off x="1451175" y="1580525"/>
            <a:ext cx="1701750" cy="1578101"/>
          </a:xfrm>
          <a:prstGeom prst="rect">
            <a:avLst/>
          </a:prstGeom>
          <a:noFill/>
          <a:ln>
            <a:noFill/>
          </a:ln>
        </p:spPr>
      </p:pic>
      <p:sp>
        <p:nvSpPr>
          <p:cNvPr id="121" name="Google Shape;121;p21"/>
          <p:cNvSpPr txBox="1"/>
          <p:nvPr/>
        </p:nvSpPr>
        <p:spPr>
          <a:xfrm>
            <a:off x="1633450" y="3148075"/>
            <a:ext cx="1389900" cy="20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RMSE: 13.97</a:t>
            </a:r>
            <a:endParaRPr sz="800"/>
          </a:p>
        </p:txBody>
      </p:sp>
      <p:sp>
        <p:nvSpPr>
          <p:cNvPr id="122" name="Google Shape;122;p21"/>
          <p:cNvSpPr txBox="1"/>
          <p:nvPr/>
        </p:nvSpPr>
        <p:spPr>
          <a:xfrm>
            <a:off x="1763025" y="4914525"/>
            <a:ext cx="1389900" cy="20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RMSE: 6.19</a:t>
            </a:r>
            <a:endParaRPr sz="800"/>
          </a:p>
        </p:txBody>
      </p:sp>
      <p:sp>
        <p:nvSpPr>
          <p:cNvPr id="123" name="Google Shape;123;p21"/>
          <p:cNvSpPr txBox="1"/>
          <p:nvPr/>
        </p:nvSpPr>
        <p:spPr>
          <a:xfrm>
            <a:off x="4933200" y="3148075"/>
            <a:ext cx="1389900" cy="20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RMSE: 9.82</a:t>
            </a:r>
            <a:endParaRPr sz="800"/>
          </a:p>
        </p:txBody>
      </p:sp>
      <p:pic>
        <p:nvPicPr>
          <p:cNvPr id="124" name="Google Shape;124;p21"/>
          <p:cNvPicPr preferRelativeResize="0"/>
          <p:nvPr/>
        </p:nvPicPr>
        <p:blipFill>
          <a:blip r:embed="rId5">
            <a:alphaModFix/>
          </a:blip>
          <a:stretch>
            <a:fillRect/>
          </a:stretch>
        </p:blipFill>
        <p:spPr>
          <a:xfrm>
            <a:off x="1573687" y="3395633"/>
            <a:ext cx="1661825" cy="1518893"/>
          </a:xfrm>
          <a:prstGeom prst="rect">
            <a:avLst/>
          </a:prstGeom>
          <a:noFill/>
          <a:ln>
            <a:noFill/>
          </a:ln>
        </p:spPr>
      </p:pic>
      <p:pic>
        <p:nvPicPr>
          <p:cNvPr id="125" name="Google Shape;125;p21"/>
          <p:cNvPicPr preferRelativeResize="0"/>
          <p:nvPr/>
        </p:nvPicPr>
        <p:blipFill>
          <a:blip r:embed="rId6">
            <a:alphaModFix/>
          </a:blip>
          <a:stretch>
            <a:fillRect/>
          </a:stretch>
        </p:blipFill>
        <p:spPr>
          <a:xfrm>
            <a:off x="4749175" y="3410125"/>
            <a:ext cx="1661825" cy="1542122"/>
          </a:xfrm>
          <a:prstGeom prst="rect">
            <a:avLst/>
          </a:prstGeom>
          <a:noFill/>
          <a:ln>
            <a:noFill/>
          </a:ln>
        </p:spPr>
      </p:pic>
      <p:sp>
        <p:nvSpPr>
          <p:cNvPr id="126" name="Google Shape;126;p21"/>
          <p:cNvSpPr txBox="1"/>
          <p:nvPr/>
        </p:nvSpPr>
        <p:spPr>
          <a:xfrm>
            <a:off x="4933200" y="4914525"/>
            <a:ext cx="1389900" cy="20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RMSE: 4.94</a:t>
            </a:r>
            <a:endParaRPr sz="800"/>
          </a:p>
        </p:txBody>
      </p:sp>
      <p:sp>
        <p:nvSpPr>
          <p:cNvPr id="127" name="Google Shape;127;p21"/>
          <p:cNvSpPr/>
          <p:nvPr/>
        </p:nvSpPr>
        <p:spPr>
          <a:xfrm rot="1787217">
            <a:off x="3556846" y="2847745"/>
            <a:ext cx="658848" cy="731557"/>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Potential Improvements for ME model v1.0</a:t>
            </a:r>
            <a:endParaRPr/>
          </a:p>
          <a:p>
            <a:pPr indent="0" lvl="0" marL="0" rtl="0" algn="l">
              <a:spcBef>
                <a:spcPts val="0"/>
              </a:spcBef>
              <a:spcAft>
                <a:spcPts val="0"/>
              </a:spcAft>
              <a:buNone/>
            </a:pPr>
            <a:r>
              <a:t/>
            </a:r>
            <a:endParaRPr/>
          </a:p>
        </p:txBody>
      </p:sp>
      <p:sp>
        <p:nvSpPr>
          <p:cNvPr id="133" name="Google Shape;133;p22"/>
          <p:cNvSpPr txBox="1"/>
          <p:nvPr>
            <p:ph idx="1" type="body"/>
          </p:nvPr>
        </p:nvSpPr>
        <p:spPr>
          <a:xfrm>
            <a:off x="311700" y="1152475"/>
            <a:ext cx="8520600" cy="3434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3</a:t>
            </a:r>
            <a:r>
              <a:rPr lang="en" sz="1000"/>
              <a:t>) Mark to Market Adjustment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solidFill>
                  <a:srgbClr val="222222"/>
                </a:solidFill>
                <a:highlight>
                  <a:srgbClr val="FFFFFF"/>
                </a:highlight>
              </a:rPr>
              <a:t>As mentioned before, the model ME is generated based on universal replines while the actual ME is from loan level incentive calculation. So there would be a dynamic dispersion spread between model and actual due to the collateral differences. A Mark to Market adjustment would be useful to minimize this dispersion.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rPr lang="en" sz="1000">
                <a:solidFill>
                  <a:srgbClr val="222222"/>
                </a:solidFill>
                <a:highlight>
                  <a:srgbClr val="FFFFFF"/>
                </a:highlight>
              </a:rPr>
              <a:t>The MTM adjustment is calculated at the beginning of projection:</a:t>
            </a:r>
            <a:endParaRPr sz="1000">
              <a:solidFill>
                <a:srgbClr val="222222"/>
              </a:solidFill>
              <a:highlight>
                <a:srgbClr val="FFFFFF"/>
              </a:highlight>
            </a:endParaRPr>
          </a:p>
          <a:p>
            <a:pPr indent="0" lvl="0" marL="0" rtl="0" algn="ctr">
              <a:lnSpc>
                <a:spcPct val="100000"/>
              </a:lnSpc>
              <a:spcBef>
                <a:spcPts val="0"/>
              </a:spcBef>
              <a:spcAft>
                <a:spcPts val="0"/>
              </a:spcAft>
              <a:buNone/>
            </a:pPr>
            <a:r>
              <a:rPr i="1" lang="en" sz="1000">
                <a:solidFill>
                  <a:srgbClr val="222222"/>
                </a:solidFill>
                <a:highlight>
                  <a:srgbClr val="FFFFFF"/>
                </a:highlight>
              </a:rPr>
              <a:t>Adjustment = Actual (t=0) - Model (t=0)</a:t>
            </a:r>
            <a:endParaRPr i="1" sz="1000">
              <a:solidFill>
                <a:srgbClr val="222222"/>
              </a:solidFill>
              <a:highlight>
                <a:srgbClr val="FFFFFF"/>
              </a:highlight>
            </a:endParaRPr>
          </a:p>
          <a:p>
            <a:pPr indent="0" lvl="0" marL="0" rtl="0" algn="ctr">
              <a:lnSpc>
                <a:spcPct val="100000"/>
              </a:lnSpc>
              <a:spcBef>
                <a:spcPts val="0"/>
              </a:spcBef>
              <a:spcAft>
                <a:spcPts val="0"/>
              </a:spcAft>
              <a:buNone/>
            </a:pPr>
            <a:r>
              <a:rPr i="1" lang="en" sz="1000">
                <a:solidFill>
                  <a:srgbClr val="222222"/>
                </a:solidFill>
                <a:highlight>
                  <a:srgbClr val="FFFFFF"/>
                </a:highlight>
              </a:rPr>
              <a:t>Model* (t=i) = Model(t=i) + Adjustment * Decay Factor(t)</a:t>
            </a:r>
            <a:endParaRPr i="1"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rPr lang="en" sz="1000">
                <a:solidFill>
                  <a:srgbClr val="222222"/>
                </a:solidFill>
                <a:highlight>
                  <a:srgbClr val="FFFFFF"/>
                </a:highlight>
              </a:rPr>
              <a:t>If the one month adjustment is too volatile, we can seek to use a moving average of 3 months to smooth it.</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Potential Improvements for ME model v1.0</a:t>
            </a:r>
            <a:endParaRPr/>
          </a:p>
          <a:p>
            <a:pPr indent="0" lvl="0" marL="0" rtl="0" algn="l">
              <a:spcBef>
                <a:spcPts val="0"/>
              </a:spcBef>
              <a:spcAft>
                <a:spcPts val="0"/>
              </a:spcAft>
              <a:buNone/>
            </a:pPr>
            <a:r>
              <a:t/>
            </a:r>
            <a:endParaRPr/>
          </a:p>
        </p:txBody>
      </p:sp>
      <p:sp>
        <p:nvSpPr>
          <p:cNvPr id="139" name="Google Shape;139;p23"/>
          <p:cNvSpPr txBox="1"/>
          <p:nvPr>
            <p:ph idx="1" type="body"/>
          </p:nvPr>
        </p:nvSpPr>
        <p:spPr>
          <a:xfrm>
            <a:off x="311700" y="1152475"/>
            <a:ext cx="8520600" cy="94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3) Mark to Market Adjustment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solidFill>
                  <a:srgbClr val="222222"/>
                </a:solidFill>
                <a:highlight>
                  <a:srgbClr val="FFFFFF"/>
                </a:highlight>
              </a:rPr>
              <a:t>Theoretically, the media effect will be negatively correlated with mortgage rate. However, in model v1.0, the first two ME projection shows unexpected trend. The expected ME trend is because the first data point is the actual ME, while the second data point is model projection.</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p:txBody>
      </p:sp>
      <p:sp>
        <p:nvSpPr>
          <p:cNvPr id="140" name="Google Shape;140;p23"/>
          <p:cNvSpPr txBox="1"/>
          <p:nvPr>
            <p:ph idx="1" type="body"/>
          </p:nvPr>
        </p:nvSpPr>
        <p:spPr>
          <a:xfrm>
            <a:off x="311700" y="4087450"/>
            <a:ext cx="8520600" cy="94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222222"/>
                </a:solidFill>
                <a:highlight>
                  <a:srgbClr val="FFFFFF"/>
                </a:highlight>
              </a:rPr>
              <a:t>The way we fix the issue is to add a mark-to-market adjustment.</a:t>
            </a:r>
            <a:endParaRPr sz="1000">
              <a:solidFill>
                <a:srgbClr val="222222"/>
              </a:solidFill>
              <a:highlight>
                <a:srgbClr val="FFFFFF"/>
              </a:highlight>
            </a:endParaRPr>
          </a:p>
          <a:p>
            <a:pPr indent="0" lvl="0" marL="0" rtl="0" algn="l">
              <a:lnSpc>
                <a:spcPct val="100000"/>
              </a:lnSpc>
              <a:spcBef>
                <a:spcPts val="0"/>
              </a:spcBef>
              <a:spcAft>
                <a:spcPts val="0"/>
              </a:spcAft>
              <a:buNone/>
            </a:pPr>
            <a:r>
              <a:rPr lang="en" sz="1000">
                <a:solidFill>
                  <a:srgbClr val="222222"/>
                </a:solidFill>
                <a:highlight>
                  <a:srgbClr val="FFFFFF"/>
                </a:highlight>
              </a:rPr>
              <a:t>Instead of using the model predicted value directly from the second data point, we use the MTM adjustment to shift the prediction.</a:t>
            </a:r>
            <a:endParaRPr sz="1000">
              <a:solidFill>
                <a:srgbClr val="222222"/>
              </a:solidFill>
              <a:highlight>
                <a:srgbClr val="FFFFFF"/>
              </a:highlight>
            </a:endParaRPr>
          </a:p>
          <a:p>
            <a:pPr indent="0" lvl="0" marL="0" rtl="0" algn="l">
              <a:lnSpc>
                <a:spcPct val="100000"/>
              </a:lnSpc>
              <a:spcBef>
                <a:spcPts val="0"/>
              </a:spcBef>
              <a:spcAft>
                <a:spcPts val="0"/>
              </a:spcAft>
              <a:buNone/>
            </a:pPr>
            <a:r>
              <a:rPr lang="en" sz="1000">
                <a:solidFill>
                  <a:srgbClr val="222222"/>
                </a:solidFill>
                <a:highlight>
                  <a:srgbClr val="FFFFFF"/>
                </a:highlight>
              </a:rPr>
              <a:t>The new model shows negative correlation as expected.</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p:txBody>
      </p:sp>
      <p:pic>
        <p:nvPicPr>
          <p:cNvPr id="141" name="Google Shape;141;p23"/>
          <p:cNvPicPr preferRelativeResize="0"/>
          <p:nvPr/>
        </p:nvPicPr>
        <p:blipFill>
          <a:blip r:embed="rId3">
            <a:alphaModFix/>
          </a:blip>
          <a:stretch>
            <a:fillRect/>
          </a:stretch>
        </p:blipFill>
        <p:spPr>
          <a:xfrm>
            <a:off x="5135976" y="2115975"/>
            <a:ext cx="2604174" cy="1684575"/>
          </a:xfrm>
          <a:prstGeom prst="rect">
            <a:avLst/>
          </a:prstGeom>
          <a:noFill/>
          <a:ln>
            <a:noFill/>
          </a:ln>
        </p:spPr>
      </p:pic>
      <p:pic>
        <p:nvPicPr>
          <p:cNvPr id="142" name="Google Shape;142;p23"/>
          <p:cNvPicPr preferRelativeResize="0"/>
          <p:nvPr/>
        </p:nvPicPr>
        <p:blipFill>
          <a:blip r:embed="rId4">
            <a:alphaModFix/>
          </a:blip>
          <a:stretch>
            <a:fillRect/>
          </a:stretch>
        </p:blipFill>
        <p:spPr>
          <a:xfrm>
            <a:off x="1069475" y="2115975"/>
            <a:ext cx="2604174" cy="1684575"/>
          </a:xfrm>
          <a:prstGeom prst="rect">
            <a:avLst/>
          </a:prstGeom>
          <a:noFill/>
          <a:ln>
            <a:noFill/>
          </a:ln>
        </p:spPr>
      </p:pic>
      <p:sp>
        <p:nvSpPr>
          <p:cNvPr id="143" name="Google Shape;143;p23"/>
          <p:cNvSpPr/>
          <p:nvPr/>
        </p:nvSpPr>
        <p:spPr>
          <a:xfrm>
            <a:off x="4240950" y="2711000"/>
            <a:ext cx="545700" cy="357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Potential Improvements for ME model v1.0</a:t>
            </a:r>
            <a:endParaRPr/>
          </a:p>
          <a:p>
            <a:pPr indent="0" lvl="0" marL="0" rtl="0" algn="l">
              <a:spcBef>
                <a:spcPts val="0"/>
              </a:spcBef>
              <a:spcAft>
                <a:spcPts val="0"/>
              </a:spcAft>
              <a:buNone/>
            </a:pPr>
            <a:r>
              <a:t/>
            </a:r>
            <a:endParaRPr/>
          </a:p>
        </p:txBody>
      </p:sp>
      <p:sp>
        <p:nvSpPr>
          <p:cNvPr id="149" name="Google Shape;149;p24"/>
          <p:cNvSpPr txBox="1"/>
          <p:nvPr>
            <p:ph idx="1" type="body"/>
          </p:nvPr>
        </p:nvSpPr>
        <p:spPr>
          <a:xfrm>
            <a:off x="311700" y="1152475"/>
            <a:ext cx="8520600" cy="3434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4</a:t>
            </a:r>
            <a:r>
              <a:rPr lang="en" sz="1000"/>
              <a:t>) Bug Fix for Partial Balance</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solidFill>
                  <a:srgbClr val="222222"/>
                </a:solidFill>
                <a:highlight>
                  <a:srgbClr val="FFFFFF"/>
                </a:highlight>
              </a:rPr>
              <a:t>When the mortgage rate falls into a bucket, our design is to count part of the balance of that bucket, assuming the balance is evenly distributed.</a:t>
            </a:r>
            <a:br>
              <a:rPr lang="en" sz="1000">
                <a:solidFill>
                  <a:srgbClr val="222222"/>
                </a:solidFill>
                <a:highlight>
                  <a:srgbClr val="FFFFFF"/>
                </a:highlight>
              </a:rPr>
            </a:br>
            <a:br>
              <a:rPr lang="en" sz="1000">
                <a:solidFill>
                  <a:srgbClr val="222222"/>
                </a:solidFill>
                <a:highlight>
                  <a:srgbClr val="FFFFFF"/>
                </a:highlight>
              </a:rPr>
            </a:br>
            <a:r>
              <a:rPr lang="en" sz="1000">
                <a:solidFill>
                  <a:srgbClr val="222222"/>
                </a:solidFill>
                <a:highlight>
                  <a:srgbClr val="FFFFFF"/>
                </a:highlight>
              </a:rPr>
              <a:t>The calculation in Scale is:</a:t>
            </a:r>
            <a:br>
              <a:rPr lang="en" sz="1000">
                <a:solidFill>
                  <a:srgbClr val="222222"/>
                </a:solidFill>
                <a:highlight>
                  <a:srgbClr val="FFFFFF"/>
                </a:highlight>
              </a:rPr>
            </a:br>
            <a:r>
              <a:rPr i="1" lang="en" sz="1000">
                <a:solidFill>
                  <a:srgbClr val="222222"/>
                </a:solidFill>
                <a:highlight>
                  <a:srgbClr val="FFFFFF"/>
                </a:highlight>
              </a:rPr>
              <a:t>media_balance_pct = ((mortgage_rate + 0.50 - wacLowerBoundary) / (wacHigherBoundary - wacLowerBoundary))</a:t>
            </a:r>
            <a:br>
              <a:rPr lang="en" sz="1000">
                <a:solidFill>
                  <a:srgbClr val="222222"/>
                </a:solidFill>
                <a:highlight>
                  <a:srgbClr val="FFFFFF"/>
                </a:highlight>
              </a:rPr>
            </a:br>
            <a:br>
              <a:rPr lang="en" sz="1000">
                <a:solidFill>
                  <a:srgbClr val="222222"/>
                </a:solidFill>
                <a:highlight>
                  <a:srgbClr val="FFFFFF"/>
                </a:highlight>
              </a:rPr>
            </a:br>
            <a:r>
              <a:rPr lang="en" sz="1000">
                <a:solidFill>
                  <a:srgbClr val="222222"/>
                </a:solidFill>
                <a:highlight>
                  <a:srgbClr val="FFFFFF"/>
                </a:highlight>
              </a:rPr>
              <a:t>This calculation supposes to count the part of the balance between the prevailing mortgage rate and the high boundary of the bucket. But it is actually counting the part between prevailing mortgage rate and the lower boundary.</a:t>
            </a:r>
            <a:br>
              <a:rPr lang="en" sz="1000">
                <a:solidFill>
                  <a:srgbClr val="222222"/>
                </a:solidFill>
                <a:highlight>
                  <a:srgbClr val="FFFFFF"/>
                </a:highlight>
              </a:rPr>
            </a:br>
            <a:br>
              <a:rPr lang="en" sz="1000">
                <a:solidFill>
                  <a:srgbClr val="222222"/>
                </a:solidFill>
                <a:highlight>
                  <a:srgbClr val="FFFFFF"/>
                </a:highlight>
              </a:rPr>
            </a:br>
            <a:r>
              <a:rPr lang="en" sz="1000">
                <a:solidFill>
                  <a:srgbClr val="222222"/>
                </a:solidFill>
                <a:highlight>
                  <a:srgbClr val="FFFFFF"/>
                </a:highlight>
              </a:rPr>
              <a:t>The correct calculation should be:</a:t>
            </a:r>
            <a:br>
              <a:rPr lang="en" sz="1000">
                <a:solidFill>
                  <a:srgbClr val="222222"/>
                </a:solidFill>
                <a:highlight>
                  <a:srgbClr val="FFFFFF"/>
                </a:highlight>
              </a:rPr>
            </a:br>
            <a:r>
              <a:rPr i="1" lang="en" sz="1000">
                <a:solidFill>
                  <a:srgbClr val="222222"/>
                </a:solidFill>
                <a:highlight>
                  <a:srgbClr val="FFFFFF"/>
                </a:highlight>
              </a:rPr>
              <a:t>media_balance_pct = ((wacHigherBoundary - (mortgage_rate + 0.50)) / (wacHigherBoundary - wacLowerBoundary))</a:t>
            </a:r>
            <a:endParaRPr i="1"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Potential Improvements for ME model v1.0</a:t>
            </a:r>
            <a:endParaRPr/>
          </a:p>
          <a:p>
            <a:pPr indent="0" lvl="0" marL="0" rtl="0" algn="l">
              <a:spcBef>
                <a:spcPts val="0"/>
              </a:spcBef>
              <a:spcAft>
                <a:spcPts val="0"/>
              </a:spcAft>
              <a:buNone/>
            </a:pPr>
            <a:r>
              <a:t/>
            </a:r>
            <a:endParaRPr/>
          </a:p>
        </p:txBody>
      </p:sp>
      <p:sp>
        <p:nvSpPr>
          <p:cNvPr id="155" name="Google Shape;155;p25"/>
          <p:cNvSpPr txBox="1"/>
          <p:nvPr>
            <p:ph idx="1" type="body"/>
          </p:nvPr>
        </p:nvSpPr>
        <p:spPr>
          <a:xfrm>
            <a:off x="311700" y="1152475"/>
            <a:ext cx="8520600" cy="1080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5</a:t>
            </a:r>
            <a:r>
              <a:rPr lang="en" sz="1000"/>
              <a:t>) Volatile ME for </a:t>
            </a:r>
            <a:r>
              <a:rPr lang="en" sz="1000"/>
              <a:t>Stochastic Mortgage Rate Scenario</a:t>
            </a:r>
            <a:r>
              <a:rPr lang="en" sz="1000"/>
              <a:t> </a:t>
            </a:r>
            <a:endParaRPr sz="1000"/>
          </a:p>
          <a:p>
            <a:pPr indent="0" lvl="0" marL="0" rtl="0" algn="l">
              <a:lnSpc>
                <a:spcPct val="100000"/>
              </a:lnSpc>
              <a:spcBef>
                <a:spcPts val="0"/>
              </a:spcBef>
              <a:spcAft>
                <a:spcPts val="0"/>
              </a:spcAft>
              <a:buNone/>
            </a:pPr>
            <a:r>
              <a:rPr lang="en" sz="1000">
                <a:solidFill>
                  <a:srgbClr val="222222"/>
                </a:solidFill>
                <a:highlight>
                  <a:srgbClr val="FFFFFF"/>
                </a:highlight>
              </a:rPr>
              <a:t>Model v1.0 has the </a:t>
            </a:r>
            <a:r>
              <a:rPr lang="en" sz="1000">
                <a:solidFill>
                  <a:srgbClr val="222222"/>
                </a:solidFill>
                <a:highlight>
                  <a:srgbClr val="FFFFFF"/>
                </a:highlight>
              </a:rPr>
              <a:t>problem</a:t>
            </a:r>
            <a:r>
              <a:rPr lang="en" sz="1000">
                <a:solidFill>
                  <a:srgbClr val="222222"/>
                </a:solidFill>
                <a:highlight>
                  <a:srgbClr val="FFFFFF"/>
                </a:highlight>
              </a:rPr>
              <a:t> that for some stochastic rate paths, the ME projection value is very volatile. Month to month changes could be more than 80%</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p:txBody>
      </p:sp>
      <p:pic>
        <p:nvPicPr>
          <p:cNvPr id="156" name="Google Shape;156;p25"/>
          <p:cNvPicPr preferRelativeResize="0"/>
          <p:nvPr/>
        </p:nvPicPr>
        <p:blipFill>
          <a:blip r:embed="rId3">
            <a:alphaModFix/>
          </a:blip>
          <a:stretch>
            <a:fillRect/>
          </a:stretch>
        </p:blipFill>
        <p:spPr>
          <a:xfrm>
            <a:off x="2150375" y="1860425"/>
            <a:ext cx="3550649" cy="2608925"/>
          </a:xfrm>
          <a:prstGeom prst="rect">
            <a:avLst/>
          </a:prstGeom>
          <a:noFill/>
          <a:ln>
            <a:noFill/>
          </a:ln>
        </p:spPr>
      </p:pic>
      <p:sp>
        <p:nvSpPr>
          <p:cNvPr id="157" name="Google Shape;157;p25"/>
          <p:cNvSpPr txBox="1"/>
          <p:nvPr>
            <p:ph idx="1" type="body"/>
          </p:nvPr>
        </p:nvSpPr>
        <p:spPr>
          <a:xfrm>
            <a:off x="376925" y="4407325"/>
            <a:ext cx="8520600" cy="481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The issue seems to be solved by the bug fix mentioned in update 4).</a:t>
            </a:r>
            <a:endParaRPr sz="1000">
              <a:solidFill>
                <a:srgbClr val="222222"/>
              </a:solidFill>
              <a:highlight>
                <a:srgbClr val="FFFFFF"/>
              </a:highlight>
            </a:endParaRPr>
          </a:p>
          <a:p>
            <a:pPr indent="0" lvl="0" marL="0" rtl="0" algn="l">
              <a:lnSpc>
                <a:spcPct val="100000"/>
              </a:lnSpc>
              <a:spcBef>
                <a:spcPts val="0"/>
              </a:spcBef>
              <a:spcAft>
                <a:spcPts val="0"/>
              </a:spcAft>
              <a:buNone/>
            </a:pPr>
            <a:r>
              <a:t/>
            </a:r>
            <a:endParaRPr sz="1000">
              <a:solidFill>
                <a:srgbClr val="222222"/>
              </a:solidFill>
              <a:highlight>
                <a:srgbClr val="FFFFF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