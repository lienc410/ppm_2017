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ags/tag1.xml" ContentType="application/vnd.openxmlformats-officedocument.presentationml.tags+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28"/>
  </p:notesMasterIdLst>
  <p:handoutMasterIdLst>
    <p:handoutMasterId r:id="rId29"/>
  </p:handoutMasterIdLst>
  <p:sldIdLst>
    <p:sldId id="433" r:id="rId20"/>
    <p:sldId id="591" r:id="rId21"/>
    <p:sldId id="590" r:id="rId22"/>
    <p:sldId id="592" r:id="rId23"/>
    <p:sldId id="593" r:id="rId24"/>
    <p:sldId id="595" r:id="rId25"/>
    <p:sldId id="594" r:id="rId26"/>
    <p:sldId id="504" r:id="rId27"/>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466" autoAdjust="0"/>
    <p:restoredTop sz="95014" autoAdjust="0"/>
  </p:normalViewPr>
  <p:slideViewPr>
    <p:cSldViewPr snapToGrid="0" snapToObjects="1">
      <p:cViewPr>
        <p:scale>
          <a:sx n="110" d="100"/>
          <a:sy n="110" d="100"/>
        </p:scale>
        <p:origin x="-690" y="-180"/>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slide" Target="slides/slide2.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users$\sharad.chaudhary\My%20Documents\Cello%20Research\Mortgage%20Credit%20Availability\MCA%20S%20Curv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Mortgage%20Credit%20Availability\14.Credit%20Availability%20Master%202015-09-02%20-%20Sharad.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0"/>
          <c:tx>
            <c:strRef>
              <c:f>Sheet1!$C$2</c:f>
              <c:strCache>
                <c:ptCount val="1"/>
                <c:pt idx="0">
                  <c:v>High MCA</c:v>
                </c:pt>
              </c:strCache>
            </c:strRef>
          </c:tx>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Sheet1!$C$3:$C$103</c:f>
              <c:numCache>
                <c:formatCode>0.0</c:formatCode>
                <c:ptCount val="101"/>
                <c:pt idx="0">
                  <c:v>2.7714353883389502</c:v>
                </c:pt>
                <c:pt idx="1">
                  <c:v>2.79275620940978</c:v>
                </c:pt>
                <c:pt idx="2">
                  <c:v>2.8143001414349</c:v>
                </c:pt>
                <c:pt idx="3">
                  <c:v>2.8360687958057702</c:v>
                </c:pt>
                <c:pt idx="4">
                  <c:v>2.8580637833989102</c:v>
                </c:pt>
                <c:pt idx="5">
                  <c:v>2.88028671456529</c:v>
                </c:pt>
                <c:pt idx="6">
                  <c:v>2.9027391991267302</c:v>
                </c:pt>
                <c:pt idx="7">
                  <c:v>2.9254228463685501</c:v>
                </c:pt>
                <c:pt idx="8">
                  <c:v>2.9483392650318998</c:v>
                </c:pt>
                <c:pt idx="9">
                  <c:v>2.9714900633099601</c:v>
                </c:pt>
                <c:pt idx="10">
                  <c:v>2.9948768488366801</c:v>
                </c:pt>
                <c:pt idx="11">
                  <c:v>3.0174413906096098</c:v>
                </c:pt>
                <c:pt idx="12">
                  <c:v>3.0382864661656499</c:v>
                </c:pt>
                <c:pt idx="13">
                  <c:v>3.0576551569620101</c:v>
                </c:pt>
                <c:pt idx="14">
                  <c:v>3.0757904983749902</c:v>
                </c:pt>
                <c:pt idx="15">
                  <c:v>3.0929354855053002</c:v>
                </c:pt>
                <c:pt idx="16">
                  <c:v>3.1093330779402102</c:v>
                </c:pt>
                <c:pt idx="17">
                  <c:v>3.12522620347137</c:v>
                </c:pt>
                <c:pt idx="18">
                  <c:v>3.14085776078405</c:v>
                </c:pt>
                <c:pt idx="19">
                  <c:v>3.1564706210902198</c:v>
                </c:pt>
                <c:pt idx="20">
                  <c:v>3.1723076287312999</c:v>
                </c:pt>
                <c:pt idx="21">
                  <c:v>3.1886116007387</c:v>
                </c:pt>
                <c:pt idx="22">
                  <c:v>3.2056253253545299</c:v>
                </c:pt>
                <c:pt idx="23">
                  <c:v>3.2235915595079701</c:v>
                </c:pt>
                <c:pt idx="24">
                  <c:v>3.2427530252580801</c:v>
                </c:pt>
                <c:pt idx="25">
                  <c:v>3.2633524051956302</c:v>
                </c:pt>
                <c:pt idx="26">
                  <c:v>3.2856323368048002</c:v>
                </c:pt>
                <c:pt idx="27">
                  <c:v>3.3098354057843502</c:v>
                </c:pt>
                <c:pt idx="28">
                  <c:v>3.3362041383368402</c:v>
                </c:pt>
                <c:pt idx="29">
                  <c:v>3.36498099241145</c:v>
                </c:pt>
                <c:pt idx="30">
                  <c:v>3.3964083479174301</c:v>
                </c:pt>
                <c:pt idx="31">
                  <c:v>3.4307284958972799</c:v>
                </c:pt>
                <c:pt idx="32">
                  <c:v>3.4681836266618902</c:v>
                </c:pt>
                <c:pt idx="33">
                  <c:v>3.5090158168982302</c:v>
                </c:pt>
                <c:pt idx="34">
                  <c:v>3.5534670157364001</c:v>
                </c:pt>
                <c:pt idx="35">
                  <c:v>3.6017790297846499</c:v>
                </c:pt>
                <c:pt idx="36">
                  <c:v>3.6541935071388201</c:v>
                </c:pt>
                <c:pt idx="37">
                  <c:v>3.7109519203572798</c:v>
                </c:pt>
                <c:pt idx="38">
                  <c:v>3.7722955484085698</c:v>
                </c:pt>
                <c:pt idx="39">
                  <c:v>3.8384654575940198</c:v>
                </c:pt>
                <c:pt idx="40">
                  <c:v>3.90970248144429</c:v>
                </c:pt>
                <c:pt idx="41">
                  <c:v>3.9866104325115401</c:v>
                </c:pt>
                <c:pt idx="42">
                  <c:v>4.06944298253081</c:v>
                </c:pt>
                <c:pt idx="43">
                  <c:v>4.15791555086704</c:v>
                </c:pt>
                <c:pt idx="44">
                  <c:v>4.2517435587802801</c:v>
                </c:pt>
                <c:pt idx="45">
                  <c:v>4.3506424569421398</c:v>
                </c:pt>
                <c:pt idx="46">
                  <c:v>4.4543277515295303</c:v>
                </c:pt>
                <c:pt idx="47">
                  <c:v>4.5625150288893304</c:v>
                </c:pt>
                <c:pt idx="48">
                  <c:v>4.6749199787907001</c:v>
                </c:pt>
                <c:pt idx="49">
                  <c:v>4.7912584162412601</c:v>
                </c:pt>
                <c:pt idx="50">
                  <c:v>4.9112463018947903</c:v>
                </c:pt>
                <c:pt idx="51">
                  <c:v>5.0345997610194901</c:v>
                </c:pt>
                <c:pt idx="52">
                  <c:v>5.1610351010604596</c:v>
                </c:pt>
                <c:pt idx="53">
                  <c:v>5.2902688277655896</c:v>
                </c:pt>
                <c:pt idx="54">
                  <c:v>5.4220176599032399</c:v>
                </c:pt>
                <c:pt idx="55">
                  <c:v>5.5559985425526097</c:v>
                </c:pt>
                <c:pt idx="56">
                  <c:v>5.69192865898167</c:v>
                </c:pt>
                <c:pt idx="57">
                  <c:v>5.8295254411048996</c:v>
                </c:pt>
                <c:pt idx="58">
                  <c:v>5.9685065785295297</c:v>
                </c:pt>
                <c:pt idx="59">
                  <c:v>6.1085900261882502</c:v>
                </c:pt>
                <c:pt idx="60">
                  <c:v>6.2494940105614303</c:v>
                </c:pt>
                <c:pt idx="61">
                  <c:v>6.3904230205170602</c:v>
                </c:pt>
                <c:pt idx="62">
                  <c:v>6.5309782112816102</c:v>
                </c:pt>
                <c:pt idx="63">
                  <c:v>6.67147278062843</c:v>
                </c:pt>
                <c:pt idx="64">
                  <c:v>6.8122196137994404</c:v>
                </c:pt>
                <c:pt idx="65">
                  <c:v>6.9535312829595002</c:v>
                </c:pt>
                <c:pt idx="66">
                  <c:v>7.0957200449082398</c:v>
                </c:pt>
                <c:pt idx="67">
                  <c:v>7.2390978370572201</c:v>
                </c:pt>
                <c:pt idx="68">
                  <c:v>7.3839762716808597</c:v>
                </c:pt>
                <c:pt idx="69">
                  <c:v>7.5306666284359496</c:v>
                </c:pt>
                <c:pt idx="70">
                  <c:v>7.6794798451542103</c:v>
                </c:pt>
                <c:pt idx="71">
                  <c:v>7.8307265069168999</c:v>
                </c:pt>
                <c:pt idx="72">
                  <c:v>7.9847168334065604</c:v>
                </c:pt>
                <c:pt idx="73">
                  <c:v>8.1417606645452807</c:v>
                </c:pt>
                <c:pt idx="74">
                  <c:v>8.3021674444213094</c:v>
                </c:pt>
                <c:pt idx="75">
                  <c:v>8.4662462035063406</c:v>
                </c:pt>
                <c:pt idx="76">
                  <c:v>8.6343055391708194</c:v>
                </c:pt>
                <c:pt idx="77">
                  <c:v>8.8066535944943691</c:v>
                </c:pt>
                <c:pt idx="78">
                  <c:v>8.9835980353902798</c:v>
                </c:pt>
                <c:pt idx="79">
                  <c:v>9.1654460260308408</c:v>
                </c:pt>
                <c:pt idx="80">
                  <c:v>9.3525042025936393</c:v>
                </c:pt>
                <c:pt idx="81">
                  <c:v>9.5450786453256207</c:v>
                </c:pt>
                <c:pt idx="82">
                  <c:v>9.7434748489348006</c:v>
                </c:pt>
                <c:pt idx="83">
                  <c:v>9.9479976913159796</c:v>
                </c:pt>
                <c:pt idx="84">
                  <c:v>10.1589514006155</c:v>
                </c:pt>
                <c:pt idx="85">
                  <c:v>10.376639520643</c:v>
                </c:pt>
                <c:pt idx="86">
                  <c:v>10.599831373326101</c:v>
                </c:pt>
                <c:pt idx="87">
                  <c:v>10.8271220986139</c:v>
                </c:pt>
                <c:pt idx="88">
                  <c:v>11.058553307636799</c:v>
                </c:pt>
                <c:pt idx="89">
                  <c:v>11.294166442395801</c:v>
                </c:pt>
                <c:pt idx="90">
                  <c:v>11.534002772448501</c:v>
                </c:pt>
                <c:pt idx="91">
                  <c:v>11.7781033915845</c:v>
                </c:pt>
                <c:pt idx="92">
                  <c:v>12.0265092144582</c:v>
                </c:pt>
                <c:pt idx="93">
                  <c:v>12.2792609732036</c:v>
                </c:pt>
                <c:pt idx="94">
                  <c:v>12.536399214021399</c:v>
                </c:pt>
                <c:pt idx="95">
                  <c:v>12.7979642937382</c:v>
                </c:pt>
                <c:pt idx="96">
                  <c:v>13.063996376337901</c:v>
                </c:pt>
                <c:pt idx="97">
                  <c:v>13.334535429473</c:v>
                </c:pt>
                <c:pt idx="98">
                  <c:v>13.609621220946201</c:v>
                </c:pt>
                <c:pt idx="99">
                  <c:v>13.8892933151695</c:v>
                </c:pt>
                <c:pt idx="100">
                  <c:v>14.173591069598301</c:v>
                </c:pt>
              </c:numCache>
            </c:numRef>
          </c:val>
          <c:smooth val="0"/>
        </c:ser>
        <c:ser>
          <c:idx val="2"/>
          <c:order val="1"/>
          <c:tx>
            <c:strRef>
              <c:f>Sheet1!$D$2</c:f>
              <c:strCache>
                <c:ptCount val="1"/>
                <c:pt idx="0">
                  <c:v>Low MCA</c:v>
                </c:pt>
              </c:strCache>
            </c:strRef>
          </c:tx>
          <c:spPr>
            <a:ln>
              <a:solidFill>
                <a:schemeClr val="accent1"/>
              </a:solidFill>
            </a:ln>
          </c:spPr>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Sheet1!$D$3:$D$103</c:f>
              <c:numCache>
                <c:formatCode>0.0</c:formatCode>
                <c:ptCount val="101"/>
                <c:pt idx="0">
                  <c:v>1.6396533875649999</c:v>
                </c:pt>
                <c:pt idx="1">
                  <c:v>1.65226734084046</c:v>
                </c:pt>
                <c:pt idx="2">
                  <c:v>1.6650132923698</c:v>
                </c:pt>
                <c:pt idx="3">
                  <c:v>1.6778921954941901</c:v>
                </c:pt>
                <c:pt idx="4">
                  <c:v>1.69090500325016</c:v>
                </c:pt>
                <c:pt idx="5">
                  <c:v>1.7040526683632999</c:v>
                </c:pt>
                <c:pt idx="6">
                  <c:v>1.71733614324613</c:v>
                </c:pt>
                <c:pt idx="7">
                  <c:v>1.7307563799937999</c:v>
                </c:pt>
                <c:pt idx="8">
                  <c:v>1.7443143303794799</c:v>
                </c:pt>
                <c:pt idx="9">
                  <c:v>1.75801094585216</c:v>
                </c:pt>
                <c:pt idx="10">
                  <c:v>1.77184717752998</c:v>
                </c:pt>
                <c:pt idx="11">
                  <c:v>1.7851969483788701</c:v>
                </c:pt>
                <c:pt idx="12">
                  <c:v>1.7975294382118701</c:v>
                </c:pt>
                <c:pt idx="13">
                  <c:v>1.80898846035273</c:v>
                </c:pt>
                <c:pt idx="14">
                  <c:v>1.8197178008625501</c:v>
                </c:pt>
                <c:pt idx="15">
                  <c:v>1.82986122197431</c:v>
                </c:pt>
                <c:pt idx="16">
                  <c:v>1.8395624649103499</c:v>
                </c:pt>
                <c:pt idx="17">
                  <c:v>1.84896525208187</c:v>
                </c:pt>
                <c:pt idx="18">
                  <c:v>1.85821328867998</c:v>
                </c:pt>
                <c:pt idx="19">
                  <c:v>1.8674502636418699</c:v>
                </c:pt>
                <c:pt idx="20">
                  <c:v>1.87681985000742</c:v>
                </c:pt>
                <c:pt idx="21">
                  <c:v>1.8864657046591899</c:v>
                </c:pt>
                <c:pt idx="22">
                  <c:v>1.89653146744725</c:v>
                </c:pt>
                <c:pt idx="23">
                  <c:v>1.90716075969611</c:v>
                </c:pt>
                <c:pt idx="24">
                  <c:v>1.9184971821002099</c:v>
                </c:pt>
                <c:pt idx="25">
                  <c:v>1.93068431200353</c:v>
                </c:pt>
                <c:pt idx="26">
                  <c:v>1.94386570006381</c:v>
                </c:pt>
                <c:pt idx="27">
                  <c:v>1.95818486630119</c:v>
                </c:pt>
                <c:pt idx="28">
                  <c:v>1.97378529553631</c:v>
                </c:pt>
                <c:pt idx="29">
                  <c:v>1.9908104322093201</c:v>
                </c:pt>
                <c:pt idx="30">
                  <c:v>2.0094036745899402</c:v>
                </c:pt>
                <c:pt idx="31">
                  <c:v>2.0297083683719599</c:v>
                </c:pt>
                <c:pt idx="32">
                  <c:v>2.05186779965377</c:v>
                </c:pt>
                <c:pt idx="33">
                  <c:v>2.0760251873108801</c:v>
                </c:pt>
                <c:pt idx="34">
                  <c:v>2.1023236747528</c:v>
                </c:pt>
                <c:pt idx="35">
                  <c:v>2.1309063210694301</c:v>
                </c:pt>
                <c:pt idx="36">
                  <c:v>2.1619160915706002</c:v>
                </c:pt>
                <c:pt idx="37">
                  <c:v>2.1954958477135902</c:v>
                </c:pt>
                <c:pt idx="38">
                  <c:v>2.2317883364228801</c:v>
                </c:pt>
                <c:pt idx="39">
                  <c:v>2.2709361788035101</c:v>
                </c:pt>
                <c:pt idx="40">
                  <c:v>2.3130818582473101</c:v>
                </c:pt>
                <c:pt idx="41">
                  <c:v>2.3585826059929298</c:v>
                </c:pt>
                <c:pt idx="42">
                  <c:v>2.4075885008484401</c:v>
                </c:pt>
                <c:pt idx="43">
                  <c:v>2.45993117749514</c:v>
                </c:pt>
                <c:pt idx="44">
                  <c:v>2.5154422717356</c:v>
                </c:pt>
                <c:pt idx="45">
                  <c:v>2.5739534367729799</c:v>
                </c:pt>
                <c:pt idx="46">
                  <c:v>2.63529635864885</c:v>
                </c:pt>
                <c:pt idx="47">
                  <c:v>2.69930277083541</c:v>
                </c:pt>
                <c:pt idx="48">
                  <c:v>2.7658044679921701</c:v>
                </c:pt>
                <c:pt idx="49">
                  <c:v>2.8346333188730002</c:v>
                </c:pt>
                <c:pt idx="50">
                  <c:v>2.9056212783998099</c:v>
                </c:pt>
                <c:pt idx="51">
                  <c:v>2.9786003988846899</c:v>
                </c:pt>
                <c:pt idx="52">
                  <c:v>3.0534028404203699</c:v>
                </c:pt>
                <c:pt idx="53">
                  <c:v>3.1298608804206101</c:v>
                </c:pt>
                <c:pt idx="54">
                  <c:v>3.2078069223276899</c:v>
                </c:pt>
                <c:pt idx="55">
                  <c:v>3.2870735034752498</c:v>
                </c:pt>
                <c:pt idx="56">
                  <c:v>3.3674933021156201</c:v>
                </c:pt>
                <c:pt idx="57">
                  <c:v>3.4488991436068801</c:v>
                </c:pt>
                <c:pt idx="58">
                  <c:v>3.5311240057648701</c:v>
                </c:pt>
                <c:pt idx="59">
                  <c:v>3.6140010233788602</c:v>
                </c:pt>
                <c:pt idx="60">
                  <c:v>3.69736349189282</c:v>
                </c:pt>
                <c:pt idx="61">
                  <c:v>3.78074076619342</c:v>
                </c:pt>
                <c:pt idx="62">
                  <c:v>3.86389687932044</c:v>
                </c:pt>
                <c:pt idx="63">
                  <c:v>3.9470171272372001</c:v>
                </c:pt>
                <c:pt idx="64">
                  <c:v>4.0302866210052599</c:v>
                </c:pt>
                <c:pt idx="65">
                  <c:v>4.1138902864616798</c:v>
                </c:pt>
                <c:pt idx="66">
                  <c:v>4.1980128628651903</c:v>
                </c:pt>
                <c:pt idx="67">
                  <c:v>4.2828389005162304</c:v>
                </c:pt>
                <c:pt idx="68">
                  <c:v>4.3685527573556397</c:v>
                </c:pt>
                <c:pt idx="69">
                  <c:v>4.4553385945389996</c:v>
                </c:pt>
                <c:pt idx="70">
                  <c:v>4.5433803709892899</c:v>
                </c:pt>
                <c:pt idx="71">
                  <c:v>4.6328618369330901</c:v>
                </c:pt>
                <c:pt idx="72">
                  <c:v>4.7239665264176001</c:v>
                </c:pt>
                <c:pt idx="73">
                  <c:v>4.8168777488138401</c:v>
                </c:pt>
                <c:pt idx="74">
                  <c:v>4.9117785793072404</c:v>
                </c:pt>
                <c:pt idx="75">
                  <c:v>5.0088518483768301</c:v>
                </c:pt>
                <c:pt idx="76">
                  <c:v>5.1082801302677296</c:v>
                </c:pt>
                <c:pt idx="77">
                  <c:v>5.2102457304547496</c:v>
                </c:pt>
                <c:pt idx="78">
                  <c:v>5.3149306721086296</c:v>
                </c:pt>
                <c:pt idx="79">
                  <c:v>5.4225166815571102</c:v>
                </c:pt>
                <c:pt idx="80">
                  <c:v>5.5331851727524803</c:v>
                </c:pt>
                <c:pt idx="81">
                  <c:v>5.6471172307439801</c:v>
                </c:pt>
                <c:pt idx="82">
                  <c:v>5.7644935941607702</c:v>
                </c:pt>
                <c:pt idx="83">
                  <c:v>5.8854946367092396</c:v>
                </c:pt>
                <c:pt idx="84">
                  <c:v>6.0103003476876502</c:v>
                </c:pt>
                <c:pt idx="85">
                  <c:v>6.1390903115228603</c:v>
                </c:pt>
                <c:pt idx="86">
                  <c:v>6.27113642700097</c:v>
                </c:pt>
                <c:pt idx="87">
                  <c:v>6.40560754231121</c:v>
                </c:pt>
                <c:pt idx="88">
                  <c:v>6.5425282756825398</c:v>
                </c:pt>
                <c:pt idx="89">
                  <c:v>6.6819231452825898</c:v>
                </c:pt>
                <c:pt idx="90">
                  <c:v>6.8238165672568902</c:v>
                </c:pt>
                <c:pt idx="91">
                  <c:v>6.9682328537620899</c:v>
                </c:pt>
                <c:pt idx="92">
                  <c:v>7.1151962109738198</c:v>
                </c:pt>
                <c:pt idx="93">
                  <c:v>7.2647307370839096</c:v>
                </c:pt>
                <c:pt idx="94">
                  <c:v>7.4168604202810604</c:v>
                </c:pt>
                <c:pt idx="95">
                  <c:v>7.5716091367154599</c:v>
                </c:pt>
                <c:pt idx="96">
                  <c:v>7.7290006484465303</c:v>
                </c:pt>
                <c:pt idx="97">
                  <c:v>7.8890586013788102</c:v>
                </c:pt>
                <c:pt idx="98">
                  <c:v>8.0518065231805291</c:v>
                </c:pt>
                <c:pt idx="99">
                  <c:v>8.2172678211888392</c:v>
                </c:pt>
                <c:pt idx="100">
                  <c:v>8.3854657802997092</c:v>
                </c:pt>
              </c:numCache>
            </c:numRef>
          </c:val>
          <c:smooth val="0"/>
        </c:ser>
        <c:dLbls>
          <c:showLegendKey val="0"/>
          <c:showVal val="0"/>
          <c:showCatName val="0"/>
          <c:showSerName val="0"/>
          <c:showPercent val="0"/>
          <c:showBubbleSize val="0"/>
        </c:dLbls>
        <c:marker val="1"/>
        <c:smooth val="0"/>
        <c:axId val="39885056"/>
        <c:axId val="39899520"/>
      </c:lineChart>
      <c:catAx>
        <c:axId val="39885056"/>
        <c:scaling>
          <c:orientation val="minMax"/>
        </c:scaling>
        <c:delete val="0"/>
        <c:axPos val="b"/>
        <c:title>
          <c:tx>
            <c:rich>
              <a:bodyPr/>
              <a:lstStyle/>
              <a:p>
                <a:pPr>
                  <a:defRPr/>
                </a:pPr>
                <a:r>
                  <a:rPr lang="en-US"/>
                  <a:t>Incentive (bps)</a:t>
                </a:r>
              </a:p>
            </c:rich>
          </c:tx>
          <c:layout/>
          <c:overlay val="0"/>
        </c:title>
        <c:numFmt formatCode="General" sourceLinked="1"/>
        <c:majorTickMark val="out"/>
        <c:minorTickMark val="none"/>
        <c:tickLblPos val="nextTo"/>
        <c:crossAx val="39899520"/>
        <c:crosses val="autoZero"/>
        <c:auto val="1"/>
        <c:lblAlgn val="ctr"/>
        <c:lblOffset val="100"/>
        <c:tickLblSkip val="10"/>
        <c:tickMarkSkip val="10"/>
        <c:noMultiLvlLbl val="0"/>
      </c:catAx>
      <c:valAx>
        <c:axId val="39899520"/>
        <c:scaling>
          <c:orientation val="minMax"/>
        </c:scaling>
        <c:delete val="0"/>
        <c:axPos val="l"/>
        <c:title>
          <c:tx>
            <c:rich>
              <a:bodyPr rot="-5400000" vert="horz"/>
              <a:lstStyle/>
              <a:p>
                <a:pPr>
                  <a:defRPr/>
                </a:pPr>
                <a:r>
                  <a:rPr lang="en-US"/>
                  <a:t>Refinance CPR (%)</a:t>
                </a:r>
              </a:p>
            </c:rich>
          </c:tx>
          <c:layout/>
          <c:overlay val="0"/>
        </c:title>
        <c:numFmt formatCode="0" sourceLinked="0"/>
        <c:majorTickMark val="out"/>
        <c:minorTickMark val="none"/>
        <c:tickLblPos val="nextTo"/>
        <c:crossAx val="39885056"/>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'Time Series Query'!$BK$4</c:f>
              <c:strCache>
                <c:ptCount val="1"/>
                <c:pt idx="0">
                  <c:v>Conventional</c:v>
                </c:pt>
              </c:strCache>
            </c:strRef>
          </c:tx>
          <c:spPr>
            <a:ln>
              <a:solidFill>
                <a:srgbClr val="2E398A"/>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Query'!$BK$5:$BK$151</c:f>
              <c:numCache>
                <c:formatCode>General</c:formatCode>
                <c:ptCount val="147"/>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numCache>
            </c:numRef>
          </c:val>
          <c:smooth val="0"/>
        </c:ser>
        <c:ser>
          <c:idx val="0"/>
          <c:order val="1"/>
          <c:tx>
            <c:strRef>
              <c:f>'Time Series Query'!$BL$4</c:f>
              <c:strCache>
                <c:ptCount val="1"/>
                <c:pt idx="0">
                  <c:v>FHA</c:v>
                </c:pt>
              </c:strCache>
            </c:strRef>
          </c:tx>
          <c:spPr>
            <a:ln>
              <a:solidFill>
                <a:srgbClr val="AD275C"/>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Query'!$BL$5:$BL$151</c:f>
              <c:numCache>
                <c:formatCode>General</c:formatCode>
                <c:ptCount val="147"/>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numCache>
            </c:numRef>
          </c:val>
          <c:smooth val="0"/>
        </c:ser>
        <c:ser>
          <c:idx val="2"/>
          <c:order val="2"/>
          <c:tx>
            <c:strRef>
              <c:f>'Time Series Query'!$BM$4</c:f>
              <c:strCache>
                <c:ptCount val="1"/>
                <c:pt idx="0">
                  <c:v>VA</c:v>
                </c:pt>
              </c:strCache>
            </c:strRef>
          </c:tx>
          <c:spPr>
            <a:ln>
              <a:solidFill>
                <a:srgbClr val="1B7A76"/>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Query'!$BM$5:$BM$151</c:f>
              <c:numCache>
                <c:formatCode>General</c:formatCode>
                <c:ptCount val="147"/>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numCache>
            </c:numRef>
          </c:val>
          <c:smooth val="0"/>
        </c:ser>
        <c:ser>
          <c:idx val="3"/>
          <c:order val="3"/>
          <c:tx>
            <c:strRef>
              <c:f>'Time Series Query'!$BW$4</c:f>
              <c:strCache>
                <c:ptCount val="1"/>
                <c:pt idx="0">
                  <c:v>Universe</c:v>
                </c:pt>
              </c:strCache>
            </c:strRef>
          </c:tx>
          <c:spPr>
            <a:ln>
              <a:solidFill>
                <a:srgbClr val="C7732D"/>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Query'!$BW$5:$BW$151</c:f>
              <c:numCache>
                <c:formatCode>General</c:formatCode>
                <c:ptCount val="147"/>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numCache>
            </c:numRef>
          </c:val>
          <c:smooth val="0"/>
        </c:ser>
        <c:dLbls>
          <c:showLegendKey val="0"/>
          <c:showVal val="0"/>
          <c:showCatName val="0"/>
          <c:showSerName val="0"/>
          <c:showPercent val="0"/>
          <c:showBubbleSize val="0"/>
        </c:dLbls>
        <c:marker val="1"/>
        <c:smooth val="0"/>
        <c:axId val="40174720"/>
        <c:axId val="40176256"/>
      </c:lineChart>
      <c:catAx>
        <c:axId val="40174720"/>
        <c:scaling>
          <c:orientation val="minMax"/>
        </c:scaling>
        <c:delete val="0"/>
        <c:axPos val="b"/>
        <c:numFmt formatCode="General" sourceLinked="0"/>
        <c:majorTickMark val="out"/>
        <c:minorTickMark val="none"/>
        <c:tickLblPos val="nextTo"/>
        <c:crossAx val="40176256"/>
        <c:crosses val="autoZero"/>
        <c:auto val="1"/>
        <c:lblAlgn val="ctr"/>
        <c:lblOffset val="100"/>
        <c:tickLblSkip val="12"/>
        <c:tickMarkSkip val="12"/>
        <c:noMultiLvlLbl val="0"/>
      </c:catAx>
      <c:valAx>
        <c:axId val="40176256"/>
        <c:scaling>
          <c:orientation val="minMax"/>
        </c:scaling>
        <c:delete val="0"/>
        <c:axPos val="l"/>
        <c:majorGridlines>
          <c:spPr>
            <a:ln>
              <a:solidFill>
                <a:schemeClr val="tx1"/>
              </a:solidFill>
              <a:prstDash val="dash"/>
            </a:ln>
          </c:spPr>
        </c:majorGridlines>
        <c:title>
          <c:tx>
            <c:rich>
              <a:bodyPr/>
              <a:lstStyle/>
              <a:p>
                <a:pPr>
                  <a:defRPr sz="1200" b="1"/>
                </a:pPr>
                <a:r>
                  <a:rPr lang="en-US" sz="1200" b="1"/>
                  <a:t>Projected Default Rate</a:t>
                </a:r>
              </a:p>
            </c:rich>
          </c:tx>
          <c:layout/>
          <c:overlay val="0"/>
        </c:title>
        <c:numFmt formatCode="0.0%" sourceLinked="0"/>
        <c:majorTickMark val="out"/>
        <c:minorTickMark val="none"/>
        <c:tickLblPos val="nextTo"/>
        <c:crossAx val="40174720"/>
        <c:crosses val="autoZero"/>
        <c:crossBetween val="between"/>
      </c:valAx>
      <c:spPr>
        <a:ln>
          <a:solidFill>
            <a:schemeClr val="tx1"/>
          </a:solidFill>
        </a:ln>
      </c:spPr>
    </c:plotArea>
    <c:legend>
      <c:legendPos val="b"/>
      <c:layout/>
      <c:overlay val="0"/>
    </c:legend>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Modeling Mortgage Credit Availability</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October</a:t>
            </a:r>
            <a:r>
              <a:rPr lang="en-US" dirty="0" smtClean="0">
                <a:solidFill>
                  <a:schemeClr val="tx2"/>
                </a:solidFill>
                <a:latin typeface="Calibri" pitchFamily="34" charset="0"/>
              </a:rPr>
              <a:t> </a:t>
            </a:r>
            <a:r>
              <a:rPr lang="en-US" dirty="0" smtClean="0">
                <a:solidFill>
                  <a:schemeClr val="tx2"/>
                </a:solidFill>
                <a:latin typeface="Calibri" pitchFamily="34" charset="0"/>
              </a:rPr>
              <a:t>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WHAT IS MORTGAGE CREDIT AVAILABILITY?</a:t>
            </a:r>
            <a:endParaRPr lang="en-US" sz="1200" b="0" dirty="0"/>
          </a:p>
        </p:txBody>
      </p:sp>
      <p:sp>
        <p:nvSpPr>
          <p:cNvPr id="3" name="TextBox 2"/>
          <p:cNvSpPr txBox="1"/>
          <p:nvPr/>
        </p:nvSpPr>
        <p:spPr>
          <a:xfrm>
            <a:off x="145657" y="1218129"/>
            <a:ext cx="2168665" cy="6909584"/>
          </a:xfrm>
          <a:prstGeom prst="rect">
            <a:avLst/>
          </a:prstGeom>
          <a:noFill/>
        </p:spPr>
        <p:txBody>
          <a:bodyPr wrap="square" rtlCol="0">
            <a:spAutoFit/>
          </a:bodyPr>
          <a:lstStyle/>
          <a:p>
            <a:pPr>
              <a:lnSpc>
                <a:spcPct val="100000"/>
              </a:lnSpc>
              <a:spcBef>
                <a:spcPts val="0"/>
              </a:spcBef>
            </a:pPr>
            <a:r>
              <a:rPr lang="en-US" sz="1200" b="1" dirty="0" smtClean="0">
                <a:latin typeface="Calibri" panose="020F0502020204030204" pitchFamily="34" charset="0"/>
              </a:rPr>
              <a:t>Mortgage Credit Availability </a:t>
            </a:r>
            <a:r>
              <a:rPr lang="en-US" sz="1200" dirty="0" smtClean="0">
                <a:latin typeface="Calibri" panose="020F0502020204030204" pitchFamily="34" charset="0"/>
              </a:rPr>
              <a:t>can be defined as the supply of mortgage credit available for a reference household. </a:t>
            </a:r>
          </a:p>
          <a:p>
            <a:pPr>
              <a:lnSpc>
                <a:spcPct val="100000"/>
              </a:lnSpc>
              <a:spcBef>
                <a:spcPts val="0"/>
              </a:spcBef>
            </a:pPr>
            <a:endParaRPr lang="en-US" sz="1200" b="1"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 </a:t>
            </a:r>
            <a:r>
              <a:rPr lang="en-US" sz="1200" b="1" dirty="0" smtClean="0">
                <a:latin typeface="Calibri" panose="020F0502020204030204" pitchFamily="34" charset="0"/>
              </a:rPr>
              <a:t>Mortgage Credit Availability Index (MCAI) </a:t>
            </a:r>
            <a:r>
              <a:rPr lang="en-US" sz="1200" dirty="0" smtClean="0">
                <a:latin typeface="Calibri" panose="020F0502020204030204" pitchFamily="34" charset="0"/>
              </a:rPr>
              <a:t>measures the supply of mortgage credit in a systematic way over time. A change in the MCAI corresponds to either a change in underwriting standards for benchmark mortgage products </a:t>
            </a:r>
            <a:r>
              <a:rPr lang="en-US" sz="1200" b="1" dirty="0" smtClean="0">
                <a:latin typeface="Calibri" panose="020F0502020204030204" pitchFamily="34" charset="0"/>
              </a:rPr>
              <a:t>(Borrower Risk)</a:t>
            </a:r>
            <a:r>
              <a:rPr lang="en-US" sz="1200" dirty="0" smtClean="0">
                <a:latin typeface="Calibri" panose="020F0502020204030204" pitchFamily="34" charset="0"/>
              </a:rPr>
              <a:t> or the introduction/de-emphasis of non-standard mortgage products </a:t>
            </a:r>
            <a:r>
              <a:rPr lang="en-US" sz="1200" b="1" dirty="0" smtClean="0">
                <a:latin typeface="Calibri" panose="020F0502020204030204" pitchFamily="34" charset="0"/>
              </a:rPr>
              <a:t>(Product Risk)</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Tracking changes in an MCAI is informative from the perspective of the overall strength of the housing market and for tracking structural changes in refinancing efficiency.   </a:t>
            </a:r>
            <a:endParaRPr lang="en-US" sz="1200" dirty="0">
              <a:latin typeface="Calibri" panose="020F0502020204030204" pitchFamily="34" charset="0"/>
            </a:endParaRPr>
          </a:p>
          <a:p>
            <a:pPr>
              <a:lnSpc>
                <a:spcPct val="100000"/>
              </a:lnSpc>
              <a:spcBef>
                <a:spcPts val="0"/>
              </a:spcBef>
            </a:pP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A SIMPLE MCAI: TRACKING CHANGES IN COLLATERAL CHARACTERISTICS</a:t>
            </a:r>
          </a:p>
        </p:txBody>
      </p:sp>
      <p:graphicFrame>
        <p:nvGraphicFramePr>
          <p:cNvPr id="6" name="Table 5"/>
          <p:cNvGraphicFramePr>
            <a:graphicFrameLocks noGrp="1"/>
          </p:cNvGraphicFramePr>
          <p:nvPr/>
        </p:nvGraphicFramePr>
        <p:xfrm>
          <a:off x="3221037" y="2741612"/>
          <a:ext cx="5778500" cy="2667000"/>
        </p:xfrm>
        <a:graphic>
          <a:graphicData uri="http://schemas.openxmlformats.org/drawingml/2006/table">
            <a:tbl>
              <a:tblPr/>
              <a:tblGrid>
                <a:gridCol w="825500"/>
                <a:gridCol w="825500"/>
                <a:gridCol w="825500"/>
                <a:gridCol w="825500"/>
                <a:gridCol w="825500"/>
                <a:gridCol w="825500"/>
                <a:gridCol w="825500"/>
              </a:tblGrid>
              <a:tr h="190500">
                <a:tc>
                  <a:txBody>
                    <a:bodyPr/>
                    <a:lstStyle/>
                    <a:p>
                      <a:pPr algn="ctr" fontAlgn="ctr"/>
                      <a:r>
                        <a:rPr lang="en-US" sz="1100" b="1" i="0" u="none" strike="noStrike">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OLTV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OLTV &gt; 90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DTI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DTI &gt; 40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FICO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FICO &lt; 700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r>
              <a:tr h="190500">
                <a:tc>
                  <a:txBody>
                    <a:bodyPr/>
                    <a:lstStyle/>
                    <a:p>
                      <a:pPr algn="ctr" fontAlgn="b"/>
                      <a:r>
                        <a:rPr lang="en-US" sz="1000" b="0" i="0" u="none" strike="noStrike">
                          <a:solidFill>
                            <a:srgbClr val="000000"/>
                          </a:solidFill>
                          <a:effectLst/>
                          <a:latin typeface="Calibri"/>
                        </a:rPr>
                        <a:t>2015-7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6E3"/>
                    </a:solidFill>
                  </a:tcPr>
                </a:tc>
                <a:tc>
                  <a:txBody>
                    <a:bodyPr/>
                    <a:lstStyle/>
                    <a:p>
                      <a:pPr algn="ctr" fontAlgn="b"/>
                      <a:r>
                        <a:rPr lang="en-US" sz="1000" b="0" i="0" u="none" strike="noStrike">
                          <a:solidFill>
                            <a:srgbClr val="000000"/>
                          </a:solidFill>
                          <a:effectLst/>
                          <a:latin typeface="Calibri"/>
                        </a:rPr>
                        <a:t>34.2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28.5%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752.5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13.8%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90500">
                <a:tc>
                  <a:txBody>
                    <a:bodyPr/>
                    <a:lstStyle/>
                    <a:p>
                      <a:pPr algn="ctr" fontAlgn="b"/>
                      <a:r>
                        <a:rPr lang="en-US" sz="1000" b="0" i="0" u="none" strike="noStrike">
                          <a:solidFill>
                            <a:srgbClr val="000000"/>
                          </a:solidFill>
                          <a:effectLst/>
                          <a:latin typeface="Calibri"/>
                        </a:rPr>
                        <a:t>2015-6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B9E4"/>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B7E3"/>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5F5"/>
                    </a:solidFill>
                  </a:tcPr>
                </a:tc>
                <a:tc>
                  <a:txBody>
                    <a:bodyPr/>
                    <a:lstStyle/>
                    <a:p>
                      <a:pPr algn="ctr" fontAlgn="b"/>
                      <a:r>
                        <a:rPr lang="en-US" sz="1000" b="0" i="0" u="none" strike="noStrike">
                          <a:solidFill>
                            <a:srgbClr val="000000"/>
                          </a:solidFill>
                          <a:effectLst/>
                          <a:latin typeface="Calibri"/>
                        </a:rPr>
                        <a:t>29.7%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6"/>
                    </a:solidFill>
                  </a:tcPr>
                </a:tc>
                <a:tc>
                  <a:txBody>
                    <a:bodyPr/>
                    <a:lstStyle/>
                    <a:p>
                      <a:pPr algn="ctr" fontAlgn="b"/>
                      <a:r>
                        <a:rPr lang="en-US" sz="1000" b="0" i="0" u="none" strike="noStrike">
                          <a:solidFill>
                            <a:srgbClr val="000000"/>
                          </a:solidFill>
                          <a:effectLst/>
                          <a:latin typeface="Calibri"/>
                        </a:rPr>
                        <a:t>751.8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EF8"/>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C7EA"/>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B6E3"/>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A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751.4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5"/>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750.6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3EE"/>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E2F4"/>
                    </a:solidFill>
                  </a:tcPr>
                </a:tc>
              </a:tr>
              <a:tr h="190500">
                <a:tc>
                  <a:txBody>
                    <a:bodyPr/>
                    <a:lstStyle/>
                    <a:p>
                      <a:pPr algn="ctr" fontAlgn="b"/>
                      <a:r>
                        <a:rPr lang="en-US" sz="1000" b="0" i="0" u="none" strike="noStrike">
                          <a:solidFill>
                            <a:srgbClr val="000000"/>
                          </a:solidFill>
                          <a:effectLst/>
                          <a:latin typeface="Calibri"/>
                        </a:rPr>
                        <a:t>2015-3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BFE"/>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749.1</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16.1%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190500">
                <a:tc>
                  <a:txBody>
                    <a:bodyPr/>
                    <a:lstStyle/>
                    <a:p>
                      <a:pPr algn="ctr" fontAlgn="b"/>
                      <a:r>
                        <a:rPr lang="en-US" sz="1000" b="0" i="0" u="none" strike="noStrike">
                          <a:solidFill>
                            <a:srgbClr val="000000"/>
                          </a:solidFill>
                          <a:effectLst/>
                          <a:latin typeface="Calibri"/>
                        </a:rPr>
                        <a:t>2015-2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32.6%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C2E8"/>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B9E4"/>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BCE5"/>
                    </a:solidFill>
                  </a:tcPr>
                </a:tc>
                <a:tc>
                  <a:txBody>
                    <a:bodyPr/>
                    <a:lstStyle/>
                    <a:p>
                      <a:pPr algn="ctr" fontAlgn="b"/>
                      <a:r>
                        <a:rPr lang="en-US" sz="1000" b="0" i="0" u="none" strike="noStrike">
                          <a:solidFill>
                            <a:srgbClr val="000000"/>
                          </a:solidFill>
                          <a:effectLst/>
                          <a:latin typeface="Calibri"/>
                        </a:rPr>
                        <a:t>749.2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5E2"/>
                    </a:solidFill>
                  </a:tcPr>
                </a:tc>
                <a:tc>
                  <a:txBody>
                    <a:bodyPr/>
                    <a:lstStyle/>
                    <a:p>
                      <a:pPr algn="ctr" fontAlgn="b"/>
                      <a:r>
                        <a:rPr lang="en-US" sz="1000" b="0" i="0" u="none" strike="noStrike">
                          <a:solidFill>
                            <a:srgbClr val="000000"/>
                          </a:solidFill>
                          <a:effectLst/>
                          <a:latin typeface="Calibri"/>
                        </a:rPr>
                        <a:t>15.8%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BDE6"/>
                    </a:solidFill>
                  </a:tcPr>
                </a:tc>
              </a:tr>
              <a:tr h="190500">
                <a:tc>
                  <a:txBody>
                    <a:bodyPr/>
                    <a:lstStyle/>
                    <a:p>
                      <a:pPr algn="ctr" fontAlgn="b"/>
                      <a:r>
                        <a:rPr lang="en-US" sz="1000" b="0" i="0" u="none" strike="noStrike">
                          <a:solidFill>
                            <a:srgbClr val="000000"/>
                          </a:solidFill>
                          <a:effectLst/>
                          <a:latin typeface="Calibri"/>
                        </a:rPr>
                        <a:t>2015-1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FF9"/>
                    </a:solidFill>
                  </a:tcPr>
                </a:tc>
                <a:tc>
                  <a:txBody>
                    <a:bodyPr/>
                    <a:lstStyle/>
                    <a:p>
                      <a:pPr algn="ctr" fontAlgn="b"/>
                      <a:r>
                        <a:rPr lang="en-US" sz="1000" b="0" i="0" u="none" strike="noStrike">
                          <a:solidFill>
                            <a:srgbClr val="000000"/>
                          </a:solidFill>
                          <a:effectLst/>
                          <a:latin typeface="Calibri"/>
                        </a:rPr>
                        <a:t>32.0%</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DF2"/>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C7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C9EA"/>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C6E9"/>
                    </a:solidFill>
                  </a:tcPr>
                </a:tc>
              </a:tr>
              <a:tr h="190500">
                <a:tc>
                  <a:txBody>
                    <a:bodyPr/>
                    <a:lstStyle/>
                    <a:p>
                      <a:pPr algn="ctr" fontAlgn="b"/>
                      <a:r>
                        <a:rPr lang="en-US" sz="1000" b="0" i="0" u="none" strike="noStrike">
                          <a:solidFill>
                            <a:srgbClr val="000000"/>
                          </a:solidFill>
                          <a:effectLst/>
                          <a:latin typeface="Calibri"/>
                        </a:rPr>
                        <a:t>2014-12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31.8%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5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749.9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c>
                  <a:txBody>
                    <a:bodyPr/>
                    <a:lstStyle/>
                    <a:p>
                      <a:pPr algn="ctr" fontAlgn="b"/>
                      <a:r>
                        <a:rPr lang="en-US" sz="1000" b="0" i="0" u="none" strike="noStrike">
                          <a:solidFill>
                            <a:srgbClr val="000000"/>
                          </a:solidFill>
                          <a:effectLst/>
                          <a:latin typeface="Calibri"/>
                        </a:rPr>
                        <a:t>15.5%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r>
              <a:tr h="190500">
                <a:tc>
                  <a:txBody>
                    <a:bodyPr/>
                    <a:lstStyle/>
                    <a:p>
                      <a:pPr algn="ctr" fontAlgn="b"/>
                      <a:r>
                        <a:rPr lang="en-US" sz="1000" b="0" i="0" u="none" strike="noStrike">
                          <a:solidFill>
                            <a:srgbClr val="000000"/>
                          </a:solidFill>
                          <a:effectLst/>
                          <a:latin typeface="Calibri"/>
                        </a:rPr>
                        <a:t>2014-11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FF3"/>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3EE"/>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30.9%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FED"/>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r>
              <a:tr h="190500">
                <a:tc>
                  <a:txBody>
                    <a:bodyPr/>
                    <a:lstStyle/>
                    <a:p>
                      <a:pPr algn="ctr" fontAlgn="b"/>
                      <a:r>
                        <a:rPr lang="en-US" sz="1000" b="0" i="0" u="none" strike="noStrike">
                          <a:solidFill>
                            <a:srgbClr val="000000"/>
                          </a:solidFill>
                          <a:effectLst/>
                          <a:latin typeface="Calibri"/>
                        </a:rPr>
                        <a:t>2014-10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9"/>
                    </a:solidFill>
                  </a:tcPr>
                </a:tc>
                <a:tc>
                  <a:txBody>
                    <a:bodyPr/>
                    <a:lstStyle/>
                    <a:p>
                      <a:pPr algn="ctr" fontAlgn="b"/>
                      <a:r>
                        <a:rPr lang="en-US" sz="1000" b="0" i="0" u="none" strike="noStrike">
                          <a:solidFill>
                            <a:srgbClr val="000000"/>
                          </a:solidFill>
                          <a:effectLst/>
                          <a:latin typeface="Calibri"/>
                        </a:rPr>
                        <a:t>31.6%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9F1"/>
                    </a:solidFill>
                  </a:tcPr>
                </a:tc>
                <a:tc>
                  <a:txBody>
                    <a:bodyPr/>
                    <a:lstStyle/>
                    <a:p>
                      <a:pPr algn="ctr" fontAlgn="b"/>
                      <a:r>
                        <a:rPr lang="en-US" sz="1000" b="0" i="0" u="none" strike="noStrike">
                          <a:solidFill>
                            <a:srgbClr val="000000"/>
                          </a:solidFill>
                          <a:effectLst/>
                          <a:latin typeface="Calibri"/>
                        </a:rPr>
                        <a:t>30.1%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FF3"/>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E1F4"/>
                    </a:solidFill>
                  </a:tcPr>
                </a:tc>
              </a:tr>
              <a:tr h="190500">
                <a:tc>
                  <a:txBody>
                    <a:bodyPr/>
                    <a:lstStyle/>
                    <a:p>
                      <a:pPr algn="ctr" fontAlgn="b"/>
                      <a:r>
                        <a:rPr lang="en-US" sz="1000" b="0" i="0" u="none" strike="noStrike">
                          <a:solidFill>
                            <a:srgbClr val="000000"/>
                          </a:solidFill>
                          <a:effectLst/>
                          <a:latin typeface="Calibri"/>
                        </a:rPr>
                        <a:t>2014-9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6FC"/>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34.4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8F6"/>
                    </a:solidFill>
                  </a:tcPr>
                </a:tc>
                <a:tc>
                  <a:txBody>
                    <a:bodyPr/>
                    <a:lstStyle/>
                    <a:p>
                      <a:pPr algn="ctr" fontAlgn="b"/>
                      <a:r>
                        <a:rPr lang="en-US" sz="1000" b="0" i="0" u="none" strike="noStrike">
                          <a:solidFill>
                            <a:srgbClr val="000000"/>
                          </a:solidFill>
                          <a:effectLst/>
                          <a:latin typeface="Calibri"/>
                        </a:rPr>
                        <a:t>29.3%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A"/>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E4F5"/>
                    </a:solidFill>
                  </a:tcPr>
                </a:tc>
              </a:tr>
              <a:tr h="190500">
                <a:tc>
                  <a:txBody>
                    <a:bodyPr/>
                    <a:lstStyle/>
                    <a:p>
                      <a:pPr algn="ctr" fontAlgn="b"/>
                      <a:r>
                        <a:rPr lang="en-US" sz="1000" b="0" i="0" u="none" strike="noStrike">
                          <a:solidFill>
                            <a:srgbClr val="000000"/>
                          </a:solidFill>
                          <a:effectLst/>
                          <a:latin typeface="Calibri"/>
                        </a:rPr>
                        <a:t>2014-8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7"/>
                    </a:solidFill>
                  </a:tcPr>
                </a:tc>
                <a:tc>
                  <a:txBody>
                    <a:bodyPr/>
                    <a:lstStyle/>
                    <a:p>
                      <a:pPr algn="ctr" fontAlgn="b"/>
                      <a:r>
                        <a:rPr lang="en-US" sz="1000" b="0" i="0" u="none" strike="noStrike">
                          <a:solidFill>
                            <a:srgbClr val="000000"/>
                          </a:solidFill>
                          <a:effectLst/>
                          <a:latin typeface="Calibri"/>
                        </a:rPr>
                        <a:t>31.7%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AF7"/>
                    </a:solidFill>
                  </a:tcPr>
                </a:tc>
                <a:tc>
                  <a:txBody>
                    <a:bodyPr/>
                    <a:lstStyle/>
                    <a:p>
                      <a:pPr algn="ctr" fontAlgn="b"/>
                      <a:r>
                        <a:rPr lang="en-US" sz="1000" b="0" i="0" u="none" strike="noStrike">
                          <a:solidFill>
                            <a:srgbClr val="000000"/>
                          </a:solidFill>
                          <a:effectLst/>
                          <a:latin typeface="Calibri"/>
                        </a:rPr>
                        <a:t>34.3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c>
                  <a:txBody>
                    <a:bodyPr/>
                    <a:lstStyle/>
                    <a:p>
                      <a:pPr algn="ctr" fontAlgn="b"/>
                      <a:r>
                        <a:rPr lang="en-US" sz="1000" b="0" i="0" u="none" strike="noStrike">
                          <a:solidFill>
                            <a:srgbClr val="000000"/>
                          </a:solidFill>
                          <a:effectLst/>
                          <a:latin typeface="Calibri"/>
                        </a:rPr>
                        <a:t>28.9%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7FC"/>
                    </a:solidFill>
                  </a:tcPr>
                </a:tc>
                <a:tc>
                  <a:txBody>
                    <a:bodyPr/>
                    <a:lstStyle/>
                    <a:p>
                      <a:pPr algn="ctr" fontAlgn="b"/>
                      <a:r>
                        <a:rPr lang="en-US" sz="1000" b="0" i="0" u="none" strike="noStrike">
                          <a:solidFill>
                            <a:srgbClr val="000000"/>
                          </a:solidFill>
                          <a:effectLst/>
                          <a:latin typeface="Calibri"/>
                        </a:rPr>
                        <a:t>751.5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6"/>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3F4"/>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6F6"/>
                    </a:solidFill>
                  </a:tcPr>
                </a:tc>
                <a:tc>
                  <a:txBody>
                    <a:bodyPr/>
                    <a:lstStyle/>
                    <a:p>
                      <a:pPr algn="ctr" fontAlgn="b"/>
                      <a:r>
                        <a:rPr lang="en-US" sz="1000" b="0" i="0" u="none" strike="noStrike">
                          <a:solidFill>
                            <a:srgbClr val="000000"/>
                          </a:solidFill>
                          <a:effectLst/>
                          <a:latin typeface="Calibri"/>
                        </a:rPr>
                        <a:t>29.2%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751.3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dirty="0">
                          <a:solidFill>
                            <a:srgbClr val="000000"/>
                          </a:solidFill>
                          <a:effectLst/>
                          <a:latin typeface="Calibri"/>
                        </a:rPr>
                        <a:t>14.3%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0FA"/>
                    </a:solidFill>
                  </a:tcPr>
                </a:tc>
              </a:tr>
            </a:tbl>
          </a:graphicData>
        </a:graphic>
      </p:graphicFrame>
      <p:sp>
        <p:nvSpPr>
          <p:cNvPr id="7" name="TextBox 6"/>
          <p:cNvSpPr txBox="1"/>
          <p:nvPr/>
        </p:nvSpPr>
        <p:spPr>
          <a:xfrm>
            <a:off x="3932288" y="2345447"/>
            <a:ext cx="4004014" cy="276999"/>
          </a:xfrm>
          <a:prstGeom prst="rect">
            <a:avLst/>
          </a:prstGeom>
          <a:noFill/>
        </p:spPr>
        <p:txBody>
          <a:bodyPr wrap="square" rtlCol="0">
            <a:spAutoFit/>
          </a:bodyPr>
          <a:lstStyle/>
          <a:p>
            <a:r>
              <a:rPr lang="en-US" sz="1200" b="1" dirty="0" smtClean="0">
                <a:latin typeface="Calibri" panose="020F0502020204030204" pitchFamily="34" charset="0"/>
              </a:rPr>
              <a:t>Collateral Characteristics on 30-year Conforming Mortgages</a:t>
            </a:r>
            <a:endParaRPr lang="en-US" sz="1200" b="1" dirty="0">
              <a:latin typeface="Calibri" panose="020F0502020204030204" pitchFamily="34" charset="0"/>
            </a:endParaRPr>
          </a:p>
        </p:txBody>
      </p:sp>
    </p:spTree>
    <p:extLst>
      <p:ext uri="{BB962C8B-B14F-4D97-AF65-F5344CB8AC3E}">
        <p14:creationId xmlns:p14="http://schemas.microsoft.com/office/powerpoint/2010/main" val="2185559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IMPORTANCE OF MORTGAGE CREDIT AVAILABILITY</a:t>
            </a:r>
            <a:endParaRPr lang="en-US" sz="1200" b="0" dirty="0"/>
          </a:p>
        </p:txBody>
      </p:sp>
      <p:sp>
        <p:nvSpPr>
          <p:cNvPr id="3" name="TextBox 2"/>
          <p:cNvSpPr txBox="1"/>
          <p:nvPr/>
        </p:nvSpPr>
        <p:spPr>
          <a:xfrm>
            <a:off x="145657" y="1218129"/>
            <a:ext cx="2168665" cy="669414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Significant extensions and </a:t>
            </a:r>
            <a:r>
              <a:rPr lang="en-US" sz="1200" dirty="0" err="1" smtClean="0">
                <a:latin typeface="Calibri" panose="020F0502020204030204" pitchFamily="34" charset="0"/>
              </a:rPr>
              <a:t>tightenings</a:t>
            </a:r>
            <a:r>
              <a:rPr lang="en-US" sz="1200" dirty="0" smtClean="0">
                <a:latin typeface="Calibri" panose="020F0502020204030204" pitchFamily="34" charset="0"/>
              </a:rPr>
              <a:t> of MCA are usually associated with housing bubbles/crashes.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An increase in MCA either through relaxing  underwriting standards or by introducing new mortgage products allows existing mortgage holders to refinance with less friction than in the past. The opposite holds when MCA decreases.</a:t>
            </a: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Variations in MCA levels can create dramatic differences in refinancing efficiency. The figure shows the different levels of refinancing based on the 2003-2004 and 2010-2011 refinancing experience.  At 50bps of incentive, the difference in refinancing rates can be as much as 6% CPR. The differences increases as incentives increase.</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REFINANCING EFFICIENCY IN DIFFERENT CREDIT AVAILABILITY ENVIRONMENTS</a:t>
            </a:r>
          </a:p>
        </p:txBody>
      </p:sp>
      <p:graphicFrame>
        <p:nvGraphicFramePr>
          <p:cNvPr id="20" name="Chart 19"/>
          <p:cNvGraphicFramePr>
            <a:graphicFrameLocks/>
          </p:cNvGraphicFramePr>
          <p:nvPr>
            <p:extLst>
              <p:ext uri="{D42A27DB-BD31-4B8C-83A1-F6EECF244321}">
                <p14:modId xmlns:p14="http://schemas.microsoft.com/office/powerpoint/2010/main" val="2645564040"/>
              </p:ext>
            </p:extLst>
          </p:nvPr>
        </p:nvGraphicFramePr>
        <p:xfrm>
          <a:off x="2605178" y="2454213"/>
          <a:ext cx="6909758" cy="37568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52070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MODELING MORTGAGE CREDIT AVAILABILITY</a:t>
            </a:r>
            <a:endParaRPr lang="en-US" sz="1200" b="0" dirty="0"/>
          </a:p>
        </p:txBody>
      </p:sp>
      <p:sp>
        <p:nvSpPr>
          <p:cNvPr id="3" name="TextBox 2"/>
          <p:cNvSpPr txBox="1"/>
          <p:nvPr/>
        </p:nvSpPr>
        <p:spPr>
          <a:xfrm>
            <a:off x="145657" y="1218129"/>
            <a:ext cx="2168665" cy="5770811"/>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closed-end residential mortgage loans</a:t>
            </a:r>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Origination</a:t>
              </a:r>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p>
        </p:txBody>
      </p:sp>
    </p:spTree>
    <p:extLst>
      <p:ext uri="{BB962C8B-B14F-4D97-AF65-F5344CB8AC3E}">
        <p14:creationId xmlns:p14="http://schemas.microsoft.com/office/powerpoint/2010/main" val="7412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HISTORY OF CELLO’S MCAI</a:t>
            </a:r>
            <a:endParaRPr lang="en-US" sz="1200" b="0" dirty="0"/>
          </a:p>
        </p:txBody>
      </p:sp>
      <p:sp>
        <p:nvSpPr>
          <p:cNvPr id="3" name="TextBox 2"/>
          <p:cNvSpPr txBox="1"/>
          <p:nvPr/>
        </p:nvSpPr>
        <p:spPr>
          <a:xfrm>
            <a:off x="145657" y="1218129"/>
            <a:ext cx="2168665" cy="540147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shows that, on an aggregate basis, mortgage credit availability at its 2007 peak was almost 4x its prevailing levels. </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Most of the post-2007 decline in MCA has been driven by a substantial decrease in Product Risk with a significant slump in the volume of originated Alt-A and Subprime loans.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CELLO’S MORTGAGE CREDIT AVAILABILITY INDEX</a:t>
            </a:r>
          </a:p>
        </p:txBody>
      </p:sp>
      <p:graphicFrame>
        <p:nvGraphicFramePr>
          <p:cNvPr id="38" name="Chart 37"/>
          <p:cNvGraphicFramePr>
            <a:graphicFrameLocks/>
          </p:cNvGraphicFramePr>
          <p:nvPr>
            <p:extLst>
              <p:ext uri="{D42A27DB-BD31-4B8C-83A1-F6EECF244321}">
                <p14:modId xmlns:p14="http://schemas.microsoft.com/office/powerpoint/2010/main" val="92388789"/>
              </p:ext>
            </p:extLst>
          </p:nvPr>
        </p:nvGraphicFramePr>
        <p:xfrm>
          <a:off x="2535685" y="2380890"/>
          <a:ext cx="6841228" cy="3433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714973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SENSITIVITY OF CELLO’S MCAI</a:t>
            </a:r>
            <a:endParaRPr lang="en-US" sz="1200" b="0" dirty="0"/>
          </a:p>
        </p:txBody>
      </p:sp>
      <p:sp>
        <p:nvSpPr>
          <p:cNvPr id="3" name="TextBox 2"/>
          <p:cNvSpPr txBox="1"/>
          <p:nvPr/>
        </p:nvSpPr>
        <p:spPr>
          <a:xfrm>
            <a:off x="145657" y="1218129"/>
            <a:ext cx="2168665" cy="6109365"/>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major drivers of Cello’s </a:t>
            </a:r>
            <a:r>
              <a:rPr lang="en-US" sz="1200" dirty="0" smtClean="0">
                <a:latin typeface="Calibri" panose="020F0502020204030204" pitchFamily="34" charset="0"/>
              </a:rPr>
              <a:t>MCAI </a:t>
            </a:r>
            <a:r>
              <a:rPr lang="en-US" sz="1200" dirty="0" smtClean="0">
                <a:latin typeface="Calibri" panose="020F0502020204030204" pitchFamily="34" charset="0"/>
              </a:rPr>
              <a:t>are the average original LTV (OLTV) and credit scores (FICO) associated with each month’s purchase originations.</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table provides a sense of the sensitivity of the MCAI to changes in collateral assumptions. For example, a 1 Standard Deviation increase in OLTV levels results in a 48% decrease in the MCAI. </a:t>
            </a:r>
          </a:p>
          <a:p>
            <a:pPr>
              <a:lnSpc>
                <a:spcPct val="100000"/>
              </a:lnSpc>
              <a:spcBef>
                <a:spcPts val="0"/>
              </a:spcBef>
            </a:pPr>
            <a:endParaRPr lang="en-US" sz="1200" dirty="0">
              <a:solidFill>
                <a:srgbClr val="000000"/>
              </a:solidFill>
              <a:latin typeface="Calibri" panose="020F0502020204030204" pitchFamily="34" charset="0"/>
            </a:endParaRPr>
          </a:p>
          <a:p>
            <a:pPr>
              <a:lnSpc>
                <a:spcPct val="100000"/>
              </a:lnSpc>
              <a:spcBef>
                <a:spcPts val="0"/>
              </a:spcBef>
            </a:pPr>
            <a:r>
              <a:rPr lang="en-US" sz="1200" dirty="0" smtClean="0">
                <a:solidFill>
                  <a:srgbClr val="000000"/>
                </a:solidFill>
                <a:latin typeface="Calibri" panose="020F0502020204030204" pitchFamily="34" charset="0"/>
              </a:rPr>
              <a:t>Of course, because of risk-layering, it is unlikely that OLTV levels would drop significantly without corresponding increases in FICO. Thus, the sensitivity analysis provides broad guardrails for how the evolution in collateral characteristics would affect the MCAI.</a:t>
            </a: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CHANGES IN THE </a:t>
            </a:r>
            <a:r>
              <a:rPr lang="en-US" sz="1300" dirty="0" smtClean="0">
                <a:solidFill>
                  <a:srgbClr val="FFFFFF"/>
                </a:solidFill>
              </a:rPr>
              <a:t>MORTGAGE </a:t>
            </a:r>
            <a:r>
              <a:rPr lang="en-US" sz="1300" dirty="0" smtClean="0">
                <a:solidFill>
                  <a:srgbClr val="FFFFFF"/>
                </a:solidFill>
              </a:rPr>
              <a:t>CREDIT AVAILABILITY </a:t>
            </a:r>
            <a:r>
              <a:rPr lang="en-US" sz="1300" dirty="0" smtClean="0">
                <a:solidFill>
                  <a:srgbClr val="FFFFFF"/>
                </a:solidFill>
              </a:rPr>
              <a:t>INDEX AS A FUNCTION OF COLLATERAL CHARACTERISTICS</a:t>
            </a:r>
            <a:endParaRPr lang="en-US" sz="1300" dirty="0" smtClean="0">
              <a:solidFill>
                <a:srgbClr val="FFFFFF"/>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00647829"/>
              </p:ext>
            </p:extLst>
          </p:nvPr>
        </p:nvGraphicFramePr>
        <p:xfrm>
          <a:off x="2708693" y="2829464"/>
          <a:ext cx="6625455" cy="2317484"/>
        </p:xfrm>
        <a:graphic>
          <a:graphicData uri="http://schemas.openxmlformats.org/drawingml/2006/table">
            <a:tbl>
              <a:tblPr firstRow="1" bandRow="1">
                <a:tableStyleId>{2D5ABB26-0587-4C30-8999-92F81FD0307C}</a:tableStyleId>
              </a:tblPr>
              <a:tblGrid>
                <a:gridCol w="1325091"/>
                <a:gridCol w="1325091"/>
                <a:gridCol w="1325091"/>
                <a:gridCol w="1325091"/>
                <a:gridCol w="1325091"/>
              </a:tblGrid>
              <a:tr h="422694">
                <a:tc>
                  <a:txBody>
                    <a:bodyPr/>
                    <a:lstStyle/>
                    <a:p>
                      <a:endParaRPr 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400" dirty="0" smtClean="0"/>
                        <a:t>Average</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1 SD</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gridSpan="2">
                  <a:txBody>
                    <a:bodyPr/>
                    <a:lstStyle/>
                    <a:p>
                      <a:pPr algn="ctr"/>
                      <a:r>
                        <a:rPr lang="en-US" sz="1400" dirty="0" smtClean="0"/>
                        <a:t>MCA % Change</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hMerge="1">
                  <a:txBody>
                    <a:bodyPr/>
                    <a:lstStyle/>
                    <a:p>
                      <a:endParaRPr lang="en-US" dirty="0"/>
                    </a:p>
                  </a:txBody>
                  <a:tcPr/>
                </a:tc>
              </a:tr>
              <a:tr h="151822">
                <a:tc>
                  <a:txBody>
                    <a:bodyPr/>
                    <a:lstStyle/>
                    <a:p>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1018586" rtl="0" eaLnBrk="1" fontAlgn="auto" latinLnBrk="0" hangingPunct="1">
                        <a:lnSpc>
                          <a:spcPct val="100000"/>
                        </a:lnSpc>
                        <a:spcBef>
                          <a:spcPts val="0"/>
                        </a:spcBef>
                        <a:spcAft>
                          <a:spcPts val="0"/>
                        </a:spcAft>
                        <a:buClrTx/>
                        <a:buSzTx/>
                        <a:buFontTx/>
                        <a:buNone/>
                        <a:tabLst/>
                        <a:defRPr/>
                      </a:pPr>
                      <a:r>
                        <a:rPr lang="en-US" sz="1400" dirty="0" smtClean="0"/>
                        <a:t>Levels</a:t>
                      </a:r>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Change</a:t>
                      </a:r>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a:t>
                      </a:r>
                      <a:r>
                        <a:rPr lang="en-US" sz="1400" baseline="0" dirty="0" smtClean="0"/>
                        <a:t>1 SD</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-1 SD</a:t>
                      </a:r>
                      <a:endParaRPr 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94995">
                <a:tc>
                  <a:txBody>
                    <a:bodyPr/>
                    <a:lstStyle/>
                    <a:p>
                      <a:pPr algn="ctr"/>
                      <a:r>
                        <a:rPr lang="en-US" sz="1400" b="1" dirty="0" smtClean="0"/>
                        <a:t>OLTV</a:t>
                      </a:r>
                      <a:endParaRPr lang="en-US" sz="1400" b="1"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400" dirty="0" smtClean="0"/>
                        <a:t>82%</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13%</a:t>
                      </a:r>
                      <a:endParaRPr 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-48%</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+84%</a:t>
                      </a:r>
                      <a:endParaRPr lang="en-US" sz="14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r>
              <a:tr h="794995">
                <a:tc>
                  <a:txBody>
                    <a:bodyPr/>
                    <a:lstStyle/>
                    <a:p>
                      <a:pPr algn="ctr"/>
                      <a:r>
                        <a:rPr lang="en-US" sz="1400" b="1" dirty="0" smtClean="0"/>
                        <a:t>FICO</a:t>
                      </a:r>
                      <a:endParaRPr lang="en-US" sz="1400" b="1"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t>754</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42</a:t>
                      </a:r>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+59%</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-37%</a:t>
                      </a:r>
                      <a:endParaRPr 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cxnSp>
        <p:nvCxnSpPr>
          <p:cNvPr id="6" name="Straight Connector 5"/>
          <p:cNvCxnSpPr/>
          <p:nvPr/>
        </p:nvCxnSpPr>
        <p:spPr>
          <a:xfrm>
            <a:off x="420968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54294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7620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209470"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876209" y="3180272"/>
            <a:ext cx="224766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09689" y="5146948"/>
            <a:ext cx="491418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140015" y="6590581"/>
            <a:ext cx="6366294" cy="400110"/>
          </a:xfrm>
          <a:prstGeom prst="rect">
            <a:avLst/>
          </a:prstGeom>
          <a:noFill/>
        </p:spPr>
        <p:txBody>
          <a:bodyPr wrap="square" rtlCol="0">
            <a:spAutoFit/>
          </a:bodyPr>
          <a:lstStyle/>
          <a:p>
            <a:r>
              <a:rPr lang="en-US" sz="1000" dirty="0" smtClean="0">
                <a:latin typeface="Calibri" panose="020F0502020204030204" pitchFamily="34" charset="0"/>
              </a:rPr>
              <a:t>All calculations as of October 2015. Averages and standard deviations are computed based on the last two years of data. </a:t>
            </a:r>
            <a:endParaRPr lang="en-US" sz="1000" dirty="0">
              <a:latin typeface="Calibri" panose="020F0502020204030204" pitchFamily="34" charset="0"/>
            </a:endParaRPr>
          </a:p>
        </p:txBody>
      </p:sp>
    </p:spTree>
    <p:extLst>
      <p:ext uri="{BB962C8B-B14F-4D97-AF65-F5344CB8AC3E}">
        <p14:creationId xmlns:p14="http://schemas.microsoft.com/office/powerpoint/2010/main" val="4014817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ALTERNATIVE</a:t>
            </a:r>
            <a:r>
              <a:rPr lang="en-US" dirty="0"/>
              <a:t> </a:t>
            </a:r>
            <a:r>
              <a:rPr lang="en-US" dirty="0" smtClean="0"/>
              <a:t>MEASURES FOR TRACKING MCA</a:t>
            </a:r>
            <a:endParaRPr lang="en-US" sz="1200" b="0" dirty="0"/>
          </a:p>
        </p:txBody>
      </p:sp>
      <p:sp>
        <p:nvSpPr>
          <p:cNvPr id="3" name="TextBox 2"/>
          <p:cNvSpPr txBox="1"/>
          <p:nvPr/>
        </p:nvSpPr>
        <p:spPr>
          <a:xfrm>
            <a:off x="145657" y="1218129"/>
            <a:ext cx="2168665" cy="3370153"/>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Several  market participants have come up with alternate metrics to measure Mortgage Credit availability. Cello’s methodology closely follows the HFPC Credit Availability Index although it is a little more rigorous.</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MORTGAGE CREDIT AVAILABILITY MEASURES </a:t>
            </a:r>
          </a:p>
        </p:txBody>
      </p:sp>
      <p:graphicFrame>
        <p:nvGraphicFramePr>
          <p:cNvPr id="14" name="Table 13"/>
          <p:cNvGraphicFramePr>
            <a:graphicFrameLocks noGrp="1"/>
          </p:cNvGraphicFramePr>
          <p:nvPr>
            <p:extLst>
              <p:ext uri="{D42A27DB-BD31-4B8C-83A1-F6EECF244321}">
                <p14:modId xmlns:p14="http://schemas.microsoft.com/office/powerpoint/2010/main" val="1768968247"/>
              </p:ext>
            </p:extLst>
          </p:nvPr>
        </p:nvGraphicFramePr>
        <p:xfrm>
          <a:off x="2655727" y="2349208"/>
          <a:ext cx="6705600" cy="41198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Measure</a:t>
                      </a:r>
                      <a:endParaRPr lang="en-US" sz="1600" b="1" dirty="0"/>
                    </a:p>
                  </a:txBody>
                  <a:tcPr anchor="ctr">
                    <a:solidFill>
                      <a:schemeClr val="accent1">
                        <a:lumMod val="40000"/>
                        <a:lumOff val="60000"/>
                      </a:schemeClr>
                    </a:solidFill>
                  </a:tcPr>
                </a:tc>
                <a:tc>
                  <a:txBody>
                    <a:bodyPr/>
                    <a:lstStyle/>
                    <a:p>
                      <a:pPr algn="ctr"/>
                      <a:r>
                        <a:rPr lang="en-US" sz="1600" b="1" dirty="0" smtClean="0"/>
                        <a:t>Description</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Federal</a:t>
                      </a:r>
                      <a:r>
                        <a:rPr lang="en-US" sz="1400" b="1" baseline="0" dirty="0" smtClean="0"/>
                        <a:t> Reserve Senior Loan Officer Opinion Survey</a:t>
                      </a:r>
                      <a:endParaRPr lang="en-US" sz="1400" b="1" dirty="0"/>
                    </a:p>
                  </a:txBody>
                  <a:tcPr anchor="ctr">
                    <a:solidFill>
                      <a:schemeClr val="accent2">
                        <a:lumMod val="20000"/>
                        <a:lumOff val="80000"/>
                      </a:schemeClr>
                    </a:solidFill>
                  </a:tcPr>
                </a:tc>
                <a:tc>
                  <a:txBody>
                    <a:bodyPr/>
                    <a:lstStyle/>
                    <a:p>
                      <a:pPr lvl="0" algn="l"/>
                      <a:r>
                        <a:rPr lang="en-US" sz="1400" baseline="0" dirty="0" smtClean="0"/>
                        <a:t>Banks are asked to indicate whether credit standards for approving mortgage loans have tightened, remained unchanged, or have eased over the past three months. </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Ellie Mae Mortgage</a:t>
                      </a:r>
                      <a:r>
                        <a:rPr lang="en-US" sz="1400" b="1" baseline="0" dirty="0" smtClean="0"/>
                        <a:t> Application Denial Rate</a:t>
                      </a:r>
                      <a:endParaRPr lang="en-US" sz="1400" b="1" dirty="0"/>
                    </a:p>
                  </a:txBody>
                  <a:tcPr anchor="ctr">
                    <a:solidFill>
                      <a:schemeClr val="accent2">
                        <a:lumMod val="20000"/>
                        <a:lumOff val="80000"/>
                      </a:schemeClr>
                    </a:solidFill>
                  </a:tcPr>
                </a:tc>
                <a:tc>
                  <a:txBody>
                    <a:bodyPr/>
                    <a:lstStyle/>
                    <a:p>
                      <a:pPr lvl="0" algn="l"/>
                      <a:r>
                        <a:rPr lang="en-US" sz="1400" baseline="0" dirty="0" smtClean="0"/>
                        <a:t>The rate at which mortgage applications are rejected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MBA</a:t>
                      </a:r>
                      <a:r>
                        <a:rPr lang="en-US" sz="1400" b="1" baseline="0" dirty="0" smtClean="0"/>
                        <a:t> Mortgage Credit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Based on changes in the underwriting guidelines for 95 institutional investors who purchase loans through the broker and/or correspondent channels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err="1" smtClean="0"/>
                        <a:t>CoreLogic</a:t>
                      </a:r>
                      <a:r>
                        <a:rPr lang="en-US" sz="1400" b="1" dirty="0" smtClean="0"/>
                        <a:t> Housing Credit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a:t>
                      </a:r>
                      <a:r>
                        <a:rPr lang="en-US" sz="1400" baseline="0" dirty="0" err="1" smtClean="0"/>
                        <a:t>downpayment</a:t>
                      </a:r>
                      <a:r>
                        <a:rPr lang="en-US" sz="1400" baseline="0" dirty="0" smtClean="0"/>
                        <a:t> amounts, DTI, FRM/ARM, Documentation, Origination Channel</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Zillow Mortgage Access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DTIs, PMI%, Non-conforming%, Second mortgage%, 30-year FRM/10-year Treasury spread, Quotes Ratio</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HFPC Credit</a:t>
                      </a:r>
                      <a:r>
                        <a:rPr lang="en-US" sz="1400" b="1" baseline="0" dirty="0" smtClean="0"/>
                        <a: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Broadly similar to Cello’s approach</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322383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76576</TotalTime>
  <Words>1413</Words>
  <Application>Microsoft Office PowerPoint</Application>
  <PresentationFormat>Custom</PresentationFormat>
  <Paragraphs>251</Paragraphs>
  <Slides>8</Slides>
  <Notes>1</Notes>
  <HiddenSlides>0</HiddenSlides>
  <MMClips>0</MMClips>
  <ScaleCrop>false</ScaleCrop>
  <HeadingPairs>
    <vt:vector size="4" baseType="variant">
      <vt:variant>
        <vt:lpstr>Theme</vt:lpstr>
      </vt:variant>
      <vt:variant>
        <vt:i4>19</vt:i4>
      </vt:variant>
      <vt:variant>
        <vt:lpstr>Slide Titles</vt:lpstr>
      </vt:variant>
      <vt:variant>
        <vt:i4>8</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WHAT IS MORTGAGE CREDIT AVAILABILITY?</vt:lpstr>
      <vt:lpstr>THE IMPORTANCE OF MORTGAGE CREDIT AVAILABILITY</vt:lpstr>
      <vt:lpstr>MODELING MORTGAGE CREDIT AVAILABILITY</vt:lpstr>
      <vt:lpstr>HISTORY OF CELLO’S MCAI</vt:lpstr>
      <vt:lpstr>SENSITIVITY OF CELLO’S MCAI</vt:lpstr>
      <vt:lpstr>ALTERNATIVE MEASURES FOR TRACKING MCA</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2281</cp:revision>
  <cp:lastPrinted>2015-08-06T15:23:44Z</cp:lastPrinted>
  <dcterms:created xsi:type="dcterms:W3CDTF">2011-07-07T12:37:32Z</dcterms:created>
  <dcterms:modified xsi:type="dcterms:W3CDTF">2015-10-05T18:46:54Z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