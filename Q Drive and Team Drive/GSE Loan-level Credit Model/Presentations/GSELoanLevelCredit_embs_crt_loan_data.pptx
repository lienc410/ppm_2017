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19"/>
  </p:notesMasterIdLst>
  <p:handoutMasterIdLst>
    <p:handoutMasterId r:id="rId20"/>
  </p:handoutMasterIdLst>
  <p:sldIdLst>
    <p:sldId id="433" r:id="rId16"/>
    <p:sldId id="547" r:id="rId17"/>
    <p:sldId id="582" r:id="rId18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5" userDrawn="1">
          <p15:clr>
            <a:srgbClr val="A4A3A4"/>
          </p15:clr>
        </p15:guide>
        <p15:guide id="2" pos="218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5" autoAdjust="0"/>
    <p:restoredTop sz="95014" autoAdjust="0"/>
  </p:normalViewPr>
  <p:slideViewPr>
    <p:cSldViewPr snapToGrid="0" snapToObjects="1">
      <p:cViewPr varScale="1">
        <p:scale>
          <a:sx n="120" d="100"/>
          <a:sy n="120" d="100"/>
        </p:scale>
        <p:origin x="102" y="94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7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40" y="4380237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3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544587" y="6084608"/>
            <a:ext cx="6147109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CRT Loans from </a:t>
            </a:r>
            <a:r>
              <a:rPr lang="en-US" sz="3100" dirty="0" err="1" smtClean="0">
                <a:solidFill>
                  <a:srgbClr val="968880"/>
                </a:solidFill>
                <a:latin typeface="Calibri" pitchFamily="34" charset="0"/>
              </a:rPr>
              <a:t>eMBS</a:t>
            </a:r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 + Mapping</a:t>
            </a:r>
            <a:endParaRPr lang="en-US" sz="31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April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CRT Loan Level Data from </a:t>
            </a:r>
            <a:r>
              <a:rPr lang="en-US" sz="2400" b="0" dirty="0" err="1" smtClean="0">
                <a:solidFill>
                  <a:schemeClr val="tx1"/>
                </a:solidFill>
              </a:rPr>
              <a:t>eMBS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68686"/>
            <a:ext cx="7579581" cy="531929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provided us with a sample loan level dataset (most recent period) which gives us the details of the loans that back each STACR/CAS deal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Includes all fields needed for creating deals level projections via Accordion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Includes delinquency history vectors at loan level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CRT loans can be mapped (by attributes) with very high accuracy to the GSE Loan Level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Fannie: </a:t>
            </a:r>
            <a:r>
              <a:rPr lang="en-US" sz="1400" dirty="0"/>
              <a:t>1,273,236 matches out of 1,292,498 </a:t>
            </a:r>
            <a:r>
              <a:rPr lang="en-US" sz="1400" dirty="0" smtClean="0"/>
              <a:t>loans ~</a:t>
            </a:r>
            <a:r>
              <a:rPr lang="en-US" sz="1400" dirty="0"/>
              <a:t> </a:t>
            </a:r>
            <a:r>
              <a:rPr lang="en-US" sz="1400" b="1" dirty="0"/>
              <a:t>98.5% </a:t>
            </a:r>
            <a:r>
              <a:rPr lang="en-US" sz="1400" b="1" dirty="0" smtClean="0"/>
              <a:t>match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Freddie</a:t>
            </a:r>
            <a:r>
              <a:rPr lang="en-US" sz="1400" b="1" dirty="0" smtClean="0"/>
              <a:t>: </a:t>
            </a:r>
            <a:r>
              <a:rPr lang="en-US" sz="1400" dirty="0"/>
              <a:t>697,054 matches out of 698,474 </a:t>
            </a:r>
            <a:r>
              <a:rPr lang="en-US" sz="1400" dirty="0" smtClean="0"/>
              <a:t>loans ~</a:t>
            </a:r>
            <a:r>
              <a:rPr lang="en-US" sz="1400" b="1" dirty="0"/>
              <a:t> 99.8% </a:t>
            </a:r>
            <a:r>
              <a:rPr lang="en-US" sz="1400" b="1" dirty="0" smtClean="0"/>
              <a:t>match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Could potentially bridge any data gaps on either side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CRT loans can be mapped (by attributes) with very high accuracy to the existing </a:t>
            </a:r>
            <a:r>
              <a:rPr lang="en-US" sz="1400" dirty="0" err="1" smtClean="0"/>
              <a:t>eMBS</a:t>
            </a:r>
            <a:r>
              <a:rPr lang="en-US" sz="1400" dirty="0" smtClean="0"/>
              <a:t> loans with pool reference IDs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Fannie: </a:t>
            </a:r>
            <a:r>
              <a:rPr lang="en-US" sz="1400" dirty="0" smtClean="0"/>
              <a:t>1,272,188 </a:t>
            </a:r>
            <a:r>
              <a:rPr lang="en-US" sz="1400" dirty="0"/>
              <a:t>matches out of </a:t>
            </a:r>
            <a:r>
              <a:rPr lang="en-US" sz="1400" dirty="0" smtClean="0"/>
              <a:t>1,292,345 </a:t>
            </a:r>
            <a:r>
              <a:rPr lang="en-US" sz="1400" dirty="0"/>
              <a:t>loans ~ </a:t>
            </a:r>
            <a:r>
              <a:rPr lang="en-US" sz="1400" b="1" dirty="0" smtClean="0"/>
              <a:t>98.4% match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Freddie</a:t>
            </a:r>
            <a:r>
              <a:rPr lang="en-US" sz="1400" dirty="0"/>
              <a:t>: </a:t>
            </a:r>
            <a:r>
              <a:rPr lang="en-US" sz="1400" dirty="0" smtClean="0"/>
              <a:t>1,004,873 matches out of 1,005,417 </a:t>
            </a:r>
            <a:r>
              <a:rPr lang="en-US" sz="1400" b="1" dirty="0" smtClean="0"/>
              <a:t>~ </a:t>
            </a:r>
            <a:r>
              <a:rPr lang="en-US" sz="1400" b="1" dirty="0"/>
              <a:t>100% </a:t>
            </a:r>
            <a:r>
              <a:rPr lang="en-US" sz="1400" b="1" dirty="0" smtClean="0"/>
              <a:t>match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Allows us to determine which pools these loans belong to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Could potentially allow us to follow the methodology from Barclays regarding the estimation of STACR/CAS prepays due to the data lag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Cost: ~ $200 / month / data set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err="1" smtClean="0">
                <a:solidFill>
                  <a:schemeClr val="tx1"/>
                </a:solidFill>
              </a:rPr>
              <a:t>eMBS</a:t>
            </a:r>
            <a:r>
              <a:rPr lang="en-US" sz="2400" b="0" dirty="0" smtClean="0">
                <a:solidFill>
                  <a:schemeClr val="tx1"/>
                </a:solidFill>
              </a:rPr>
              <a:t> Summary of CRT Loans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1628" y="1936549"/>
            <a:ext cx="447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Freddie Deals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1628" y="4353671"/>
            <a:ext cx="447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Fannie Deals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16681"/>
              </p:ext>
            </p:extLst>
          </p:nvPr>
        </p:nvGraphicFramePr>
        <p:xfrm>
          <a:off x="931628" y="4645475"/>
          <a:ext cx="8158609" cy="2095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3393"/>
                <a:gridCol w="673100"/>
                <a:gridCol w="1068388"/>
                <a:gridCol w="963613"/>
                <a:gridCol w="860425"/>
                <a:gridCol w="554038"/>
                <a:gridCol w="458788"/>
                <a:gridCol w="998538"/>
                <a:gridCol w="731838"/>
                <a:gridCol w="1106488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LoanCnt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CurrBal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WAVG_FICO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WAVG_DTI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WALA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WAC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WAVG_OLTV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Pct_Current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CumPct_PaidInFull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1372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112,871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23,875,975,738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771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29.0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74.9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122,291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26,855,044,960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770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26.0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3.63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74.5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    146,212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30,759,036,045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15.3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4.56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75.9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1.9%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88,416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18,492,658,576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15.3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92.6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192,365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43,868,030,945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23.3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3.59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62,584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12,989,465,528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23.3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3.58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91.0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1387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246,445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56,099,414,576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20.2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3.74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74.8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85,810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17,939,471,571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20.1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3.73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91.6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4.3%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154,842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34,395,371,767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17.7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3.4%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1393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80,662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17,348,665,475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17.7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4.04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92.2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3.2%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43013"/>
              </p:ext>
            </p:extLst>
          </p:nvPr>
        </p:nvGraphicFramePr>
        <p:xfrm>
          <a:off x="931628" y="2226367"/>
          <a:ext cx="8174041" cy="2095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7075"/>
                <a:gridCol w="673100"/>
                <a:gridCol w="1068388"/>
                <a:gridCol w="963613"/>
                <a:gridCol w="860425"/>
                <a:gridCol w="554038"/>
                <a:gridCol w="458788"/>
                <a:gridCol w="998538"/>
                <a:gridCol w="731838"/>
                <a:gridCol w="1138238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Deal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LoanCnt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CurrBal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WAVG_FICO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WAVG_DTI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WALA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WAC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WAVG_OLTV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Pct_Current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 smtClean="0">
                          <a:effectLst/>
                        </a:rPr>
                        <a:t>CumPct_PaidInFull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FHL13DN01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96,389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19,755,554,207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30.2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3.83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74.8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9.6%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FHL13DN02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145,598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32,038,688,250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24.4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FHL14DN01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139,513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29,884,413,267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21.2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3.72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74.8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FHL14DN02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    116,677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25,073,453,530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18.5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3.99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FHL14DN03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87,222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   16,806,320,923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15.2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4.54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75.9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FHL14DN04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69,780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13,971,658,884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12.4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4.57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75.8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FHL14HQ01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45,112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8,782,262,522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15.2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4.56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92.3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99.5%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FHL14HQ02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147,771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31,541,681,474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21.2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3.81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91.5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99.7%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FHL14HQ03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36,226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7,342,769,692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749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12.4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4.56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92.3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99.6%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FHL15DN01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121,129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25,907,739,137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34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8.5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4.52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                    76.2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6.3%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384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69647</TotalTime>
  <Words>511</Words>
  <Application>Microsoft Office PowerPoint</Application>
  <PresentationFormat>Custom</PresentationFormat>
  <Paragraphs>240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3</vt:i4>
      </vt:variant>
    </vt:vector>
  </HeadingPairs>
  <TitlesOfParts>
    <vt:vector size="23" baseType="lpstr"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CRT Loan Level Data from eMBS</vt:lpstr>
      <vt:lpstr>eMBS Summary of CRT Loans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1754</cp:revision>
  <cp:lastPrinted>2015-04-13T19:43:53Z</cp:lastPrinted>
  <dcterms:created xsi:type="dcterms:W3CDTF">2011-07-07T12:37:32Z</dcterms:created>
  <dcterms:modified xsi:type="dcterms:W3CDTF">2015-04-29T18:21:17Z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