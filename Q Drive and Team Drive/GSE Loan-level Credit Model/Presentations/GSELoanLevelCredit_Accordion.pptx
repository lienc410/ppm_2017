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46"/>
  </p:notesMasterIdLst>
  <p:handoutMasterIdLst>
    <p:handoutMasterId r:id="rId47"/>
  </p:handoutMasterIdLst>
  <p:sldIdLst>
    <p:sldId id="433" r:id="rId16"/>
    <p:sldId id="546" r:id="rId17"/>
    <p:sldId id="547" r:id="rId18"/>
    <p:sldId id="548" r:id="rId19"/>
    <p:sldId id="549" r:id="rId20"/>
    <p:sldId id="550" r:id="rId21"/>
    <p:sldId id="570" r:id="rId22"/>
    <p:sldId id="551" r:id="rId23"/>
    <p:sldId id="552" r:id="rId24"/>
    <p:sldId id="555" r:id="rId25"/>
    <p:sldId id="553" r:id="rId26"/>
    <p:sldId id="556" r:id="rId27"/>
    <p:sldId id="560" r:id="rId28"/>
    <p:sldId id="554" r:id="rId29"/>
    <p:sldId id="568" r:id="rId30"/>
    <p:sldId id="557" r:id="rId31"/>
    <p:sldId id="558" r:id="rId32"/>
    <p:sldId id="573" r:id="rId33"/>
    <p:sldId id="561" r:id="rId34"/>
    <p:sldId id="571" r:id="rId35"/>
    <p:sldId id="565" r:id="rId36"/>
    <p:sldId id="572" r:id="rId37"/>
    <p:sldId id="566" r:id="rId38"/>
    <p:sldId id="567" r:id="rId39"/>
    <p:sldId id="563" r:id="rId40"/>
    <p:sldId id="562" r:id="rId41"/>
    <p:sldId id="564" r:id="rId42"/>
    <p:sldId id="559" r:id="rId43"/>
    <p:sldId id="574" r:id="rId44"/>
    <p:sldId id="569" r:id="rId45"/>
  </p:sldIdLst>
  <p:sldSz cx="10058400" cy="7772400"/>
  <p:notesSz cx="6934200" cy="9220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72">
          <p15:clr>
            <a:srgbClr val="A4A3A4"/>
          </p15:clr>
        </p15:guide>
        <p15:guide id="2" orient="horz" pos="1976">
          <p15:clr>
            <a:srgbClr val="A4A3A4"/>
          </p15:clr>
        </p15:guide>
        <p15:guide id="3" orient="horz" pos="797">
          <p15:clr>
            <a:srgbClr val="A4A3A4"/>
          </p15:clr>
        </p15:guide>
        <p15:guide id="4" orient="horz" pos="981">
          <p15:clr>
            <a:srgbClr val="A4A3A4"/>
          </p15:clr>
        </p15:guide>
        <p15:guide id="5" orient="horz" pos="4327">
          <p15:clr>
            <a:srgbClr val="A4A3A4"/>
          </p15:clr>
        </p15:guide>
        <p15:guide id="6" orient="horz" pos="145">
          <p15:clr>
            <a:srgbClr val="A4A3A4"/>
          </p15:clr>
        </p15:guide>
        <p15:guide id="7" pos="5282">
          <p15:clr>
            <a:srgbClr val="A4A3A4"/>
          </p15:clr>
        </p15:guide>
        <p15:guide id="8" pos="126">
          <p15:clr>
            <a:srgbClr val="A4A3A4"/>
          </p15:clr>
        </p15:guide>
        <p15:guide id="9" pos="5046">
          <p15:clr>
            <a:srgbClr val="A4A3A4"/>
          </p15:clr>
        </p15:guide>
        <p15:guide id="10" pos="1973">
          <p15:clr>
            <a:srgbClr val="A4A3A4"/>
          </p15:clr>
        </p15:guide>
        <p15:guide id="11" pos="3396">
          <p15:clr>
            <a:srgbClr val="A4A3A4"/>
          </p15:clr>
        </p15:guide>
        <p15:guide id="12" pos="3165">
          <p15:clr>
            <a:srgbClr val="A4A3A4"/>
          </p15:clr>
        </p15:guide>
        <p15:guide id="13" pos="1575">
          <p15:clr>
            <a:srgbClr val="A4A3A4"/>
          </p15:clr>
        </p15:guide>
        <p15:guide id="14" pos="105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5" userDrawn="1">
          <p15:clr>
            <a:srgbClr val="A4A3A4"/>
          </p15:clr>
        </p15:guide>
        <p15:guide id="2" pos="2185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FF6600"/>
    <a:srgbClr val="FF9933"/>
    <a:srgbClr val="E519CD"/>
    <a:srgbClr val="968880"/>
    <a:srgbClr val="2E398A"/>
    <a:srgbClr val="533D2D"/>
    <a:srgbClr val="533D23"/>
    <a:srgbClr val="996633"/>
    <a:srgbClr val="8C2B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75" autoAdjust="0"/>
    <p:restoredTop sz="95014" autoAdjust="0"/>
  </p:normalViewPr>
  <p:slideViewPr>
    <p:cSldViewPr snapToGrid="0" snapToObjects="1">
      <p:cViewPr varScale="1">
        <p:scale>
          <a:sx n="120" d="100"/>
          <a:sy n="120" d="100"/>
        </p:scale>
        <p:origin x="102" y="948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12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05"/>
        <p:guide pos="218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39" Type="http://schemas.openxmlformats.org/officeDocument/2006/relationships/slide" Target="slides/slide24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34" Type="http://schemas.openxmlformats.org/officeDocument/2006/relationships/slide" Target="slides/slide19.xml"/><Relationship Id="rId42" Type="http://schemas.openxmlformats.org/officeDocument/2006/relationships/slide" Target="slides/slide27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slide" Target="slides/slide18.xml"/><Relationship Id="rId38" Type="http://schemas.openxmlformats.org/officeDocument/2006/relationships/slide" Target="slides/slide23.xml"/><Relationship Id="rId46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slide" Target="slides/slide14.xml"/><Relationship Id="rId41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slide" Target="slides/slide17.xml"/><Relationship Id="rId37" Type="http://schemas.openxmlformats.org/officeDocument/2006/relationships/slide" Target="slides/slide22.xml"/><Relationship Id="rId40" Type="http://schemas.openxmlformats.org/officeDocument/2006/relationships/slide" Target="slides/slide25.xml"/><Relationship Id="rId45" Type="http://schemas.openxmlformats.org/officeDocument/2006/relationships/slide" Target="slides/slide30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36" Type="http://schemas.openxmlformats.org/officeDocument/2006/relationships/slide" Target="slides/slide21.xml"/><Relationship Id="rId49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31" Type="http://schemas.openxmlformats.org/officeDocument/2006/relationships/slide" Target="slides/slide16.xml"/><Relationship Id="rId44" Type="http://schemas.openxmlformats.org/officeDocument/2006/relationships/slide" Target="slides/slide2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slide" Target="slides/slide15.xml"/><Relationship Id="rId35" Type="http://schemas.openxmlformats.org/officeDocument/2006/relationships/slide" Target="slides/slide20.xml"/><Relationship Id="rId43" Type="http://schemas.openxmlformats.org/officeDocument/2006/relationships/slide" Target="slides/slide28.xml"/><Relationship Id="rId48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51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7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7481" y="7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3" y="8758883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7481" y="8758883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7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481" y="7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30313" y="692150"/>
            <a:ext cx="4473575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740" y="4380237"/>
            <a:ext cx="5546725" cy="4147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8758883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481" y="8758883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30313" y="692150"/>
            <a:ext cx="4473575" cy="3457575"/>
          </a:xfrm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1348"/>
            <a:fld id="{1FE077EC-684A-4FD9-A6C3-9AE90D8B81D6}" type="slidenum">
              <a:rPr lang="en-US" smtClean="0"/>
              <a:pPr defTabSz="911348"/>
              <a:t>1</a:t>
            </a:fld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617547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8"/>
          <p:cNvSpPr txBox="1">
            <a:spLocks noChangeArrowheads="1"/>
          </p:cNvSpPr>
          <p:nvPr/>
        </p:nvSpPr>
        <p:spPr bwMode="auto">
          <a:xfrm>
            <a:off x="3544587" y="6084608"/>
            <a:ext cx="6147109" cy="8568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1018586"/>
            <a:r>
              <a:rPr lang="en-US" sz="3100" dirty="0" smtClean="0">
                <a:solidFill>
                  <a:srgbClr val="968880"/>
                </a:solidFill>
                <a:latin typeface="Calibri" pitchFamily="34" charset="0"/>
              </a:rPr>
              <a:t>GSE Loan Level Credit Modeling</a:t>
            </a:r>
            <a:endParaRPr lang="en-US" sz="3100" dirty="0">
              <a:solidFill>
                <a:srgbClr val="968880"/>
              </a:solidFill>
              <a:latin typeface="Calibri" pitchFamily="34" charset="0"/>
            </a:endParaRPr>
          </a:p>
          <a:p>
            <a:pPr algn="r" defTabSz="1018586"/>
            <a:r>
              <a:rPr lang="en-US" dirty="0" smtClean="0">
                <a:solidFill>
                  <a:schemeClr val="tx2"/>
                </a:solidFill>
                <a:latin typeface="Calibri" pitchFamily="34" charset="0"/>
              </a:rPr>
              <a:t>April 2015</a:t>
            </a:r>
            <a:endParaRPr lang="en-US" dirty="0">
              <a:solidFill>
                <a:schemeClr val="tx2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Outline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508760" y="2059512"/>
            <a:ext cx="7040880" cy="4893549"/>
          </a:xfrm>
        </p:spPr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Introduction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Description of </a:t>
            </a:r>
            <a:r>
              <a:rPr lang="en-US" sz="1800" dirty="0" smtClean="0"/>
              <a:t>Data</a:t>
            </a:r>
            <a:endParaRPr lang="en-US" sz="18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Description of Framework</a:t>
            </a:r>
            <a:endParaRPr lang="en-US" sz="18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Model Iteration Process</a:t>
            </a:r>
            <a:endParaRPr lang="en-US" sz="18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Results/Examples</a:t>
            </a:r>
            <a:endParaRPr lang="en-US" sz="1800" dirty="0"/>
          </a:p>
          <a:p>
            <a:pPr marL="680685" lvl="1" indent="-171450" algn="l">
              <a:buFont typeface="Arial" panose="020B0604020202020204" pitchFamily="34" charset="0"/>
              <a:buChar char="•"/>
            </a:pPr>
            <a:r>
              <a:rPr lang="en-US" sz="1800" dirty="0"/>
              <a:t>Model Specification</a:t>
            </a:r>
          </a:p>
          <a:p>
            <a:pPr marL="680685" lvl="1" indent="-171450" algn="l">
              <a:buFont typeface="Arial" panose="020B0604020202020204" pitchFamily="34" charset="0"/>
              <a:buChar char="•"/>
            </a:pPr>
            <a:r>
              <a:rPr lang="en-US" sz="1800" dirty="0"/>
              <a:t>Regression Results</a:t>
            </a:r>
          </a:p>
          <a:p>
            <a:pPr marL="680685" lvl="1" indent="-171450" algn="l">
              <a:buFont typeface="Arial" panose="020B0604020202020204" pitchFamily="34" charset="0"/>
              <a:buChar char="•"/>
            </a:pPr>
            <a:r>
              <a:rPr lang="en-US" sz="1800" dirty="0"/>
              <a:t>Fitting Charts</a:t>
            </a:r>
          </a:p>
          <a:p>
            <a:pPr marL="680685" lvl="1" indent="-171450" algn="l">
              <a:buFont typeface="Arial" panose="020B0604020202020204" pitchFamily="34" charset="0"/>
              <a:buChar char="•"/>
            </a:pPr>
            <a:r>
              <a:rPr lang="en-US" sz="1800" dirty="0"/>
              <a:t>Projections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/>
              <a:t>Going </a:t>
            </a:r>
            <a:r>
              <a:rPr lang="en-US" sz="1800" dirty="0" smtClean="0"/>
              <a:t>Forward – running STACR/CAS bonds</a:t>
            </a:r>
            <a:endParaRPr lang="en-US" sz="1800" dirty="0"/>
          </a:p>
          <a:p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2766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Introduction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508760" y="1980001"/>
            <a:ext cx="7040880" cy="5184126"/>
          </a:xfrm>
        </p:spPr>
        <p:txBody>
          <a:bodyPr/>
          <a:lstStyle/>
          <a:p>
            <a:pPr algn="l"/>
            <a:r>
              <a:rPr lang="en-US" sz="1400" dirty="0" smtClean="0"/>
              <a:t>Modeling loan level transition rates is a process of extracting useful information from potentially a vast amount of data. Using statistical analysis, we can hope to gain useful information without relying on market prices or personal opinion.</a:t>
            </a:r>
          </a:p>
          <a:p>
            <a:pPr algn="l"/>
            <a:r>
              <a:rPr lang="en-US" sz="1400" dirty="0" smtClean="0"/>
              <a:t>The goal, more precisely, is to quantify the sensitivity of transitions to the myriad of different variables that could potentially influence the transition rates. For example, what impact does FICO &gt; 700 have on the transition rate from AC (always current) to 30 days delinquent? Does </a:t>
            </a:r>
            <a:r>
              <a:rPr lang="en-US" sz="1400" dirty="0" smtClean="0"/>
              <a:t>the FICO effect depend </a:t>
            </a:r>
            <a:r>
              <a:rPr lang="en-US" sz="1400" dirty="0" smtClean="0"/>
              <a:t>on the </a:t>
            </a:r>
            <a:r>
              <a:rPr lang="en-US" sz="1400" dirty="0" smtClean="0"/>
              <a:t>age </a:t>
            </a:r>
            <a:r>
              <a:rPr lang="en-US" sz="1400" dirty="0" smtClean="0"/>
              <a:t>of the loan?</a:t>
            </a:r>
          </a:p>
          <a:p>
            <a:pPr algn="l"/>
            <a:r>
              <a:rPr lang="en-US" sz="1400" dirty="0" smtClean="0"/>
              <a:t>With clean data and a platform for its analysis, we can hope to answer many questions about the </a:t>
            </a:r>
            <a:r>
              <a:rPr lang="en-US" sz="1400" dirty="0" smtClean="0"/>
              <a:t>sensitivities </a:t>
            </a:r>
            <a:r>
              <a:rPr lang="en-US" sz="1400" dirty="0" smtClean="0"/>
              <a:t>of transition rates.</a:t>
            </a:r>
          </a:p>
          <a:p>
            <a:pPr algn="l"/>
            <a:r>
              <a:rPr lang="en-US" sz="1400" dirty="0" smtClean="0"/>
              <a:t>Successful transition modeling at the loan level requires several components: </a:t>
            </a:r>
          </a:p>
          <a:p>
            <a:pPr marL="680685" lvl="1" indent="-1714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Clean data with information at the start and </a:t>
            </a:r>
            <a:r>
              <a:rPr lang="en-US" sz="1400" dirty="0" smtClean="0"/>
              <a:t>throughout </a:t>
            </a:r>
            <a:r>
              <a:rPr lang="en-US" sz="1400" dirty="0" smtClean="0"/>
              <a:t>the life of the loans</a:t>
            </a:r>
          </a:p>
          <a:p>
            <a:pPr marL="680685" lvl="1" indent="-1714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Flexible platform</a:t>
            </a:r>
            <a:r>
              <a:rPr lang="en-US" sz="1400" dirty="0" smtClean="0"/>
              <a:t>:</a:t>
            </a:r>
          </a:p>
          <a:p>
            <a:pPr marL="1189922" lvl="2" indent="-1714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Define possible transitions and variables influencing transitions</a:t>
            </a:r>
            <a:endParaRPr lang="en-US" sz="1400" dirty="0" smtClean="0"/>
          </a:p>
          <a:p>
            <a:pPr marL="1189922" lvl="2" indent="-171450" algn="l">
              <a:buFont typeface="Arial" panose="020B0604020202020204" pitchFamily="34" charset="0"/>
              <a:buChar char="•"/>
            </a:pPr>
            <a:r>
              <a:rPr lang="en-US" sz="1400" dirty="0"/>
              <a:t>I</a:t>
            </a:r>
            <a:r>
              <a:rPr lang="en-US" sz="1400" dirty="0" smtClean="0"/>
              <a:t>teratively revise model specifications</a:t>
            </a:r>
          </a:p>
          <a:p>
            <a:pPr marL="1189922" lvl="2" indent="-1714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Report significance and impact of variables</a:t>
            </a:r>
          </a:p>
          <a:p>
            <a:pPr marL="1189922" lvl="2" indent="-1714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Fitting module for comparing model to actual historically</a:t>
            </a:r>
          </a:p>
          <a:p>
            <a:pPr marL="1189922" lvl="2" indent="-1714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Forward projections</a:t>
            </a:r>
          </a:p>
          <a:p>
            <a:pPr marL="680685" lvl="1" indent="-1714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Integration of model into pricing platforms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3161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Description of Data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508760" y="2059512"/>
            <a:ext cx="7040880" cy="4651389"/>
          </a:xfrm>
        </p:spPr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Fannie Mae and Freddie Mac make available loan level data for ~21MM loans and ~17MM loans respectively. All loans are 30 Year Fixed, Full Doc mortgages, originated after 1999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The GSE data consist of 2 tables:</a:t>
            </a:r>
          </a:p>
          <a:p>
            <a:pPr marL="680685" lvl="1" indent="-1714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A static table of origination information: FICO, LTV, DTI, Original Bal, etc.</a:t>
            </a:r>
          </a:p>
          <a:p>
            <a:pPr marL="680685" lvl="1" indent="-1714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A dynamic table of historical performance:  Status, Current Coupon, Current Balance, etc.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The dynamic data is updated quarterly and has data through Mar 2014 (Freddie) and Sep 2014 (Fannie)</a:t>
            </a:r>
            <a:endParaRPr lang="en-US" sz="1400" b="1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Additionally there is a lag between the acquisition of new loans and their availability in the GSE data. Currently we have data for loans originated up to Q4 of 2013.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The GSE data is cleaned and loaded into Cello tables in the IQ database. The cleaning and loading process supplements the data with additional fields: Current HPA, Periods Since Last Delinquent, </a:t>
            </a:r>
            <a:r>
              <a:rPr lang="en-US" sz="1400" dirty="0" smtClean="0"/>
              <a:t>Modification Count, etc</a:t>
            </a:r>
            <a:r>
              <a:rPr lang="en-US" sz="1400" dirty="0" smtClean="0"/>
              <a:t>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Subsets of the GSE data are pulled from the IQ database for our modeling efforts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2765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012972"/>
              </p:ext>
            </p:extLst>
          </p:nvPr>
        </p:nvGraphicFramePr>
        <p:xfrm>
          <a:off x="398352" y="2399175"/>
          <a:ext cx="9234536" cy="1371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49379"/>
                <a:gridCol w="724278"/>
                <a:gridCol w="841972"/>
                <a:gridCol w="905347"/>
                <a:gridCol w="760491"/>
                <a:gridCol w="660903"/>
                <a:gridCol w="760491"/>
                <a:gridCol w="986828"/>
                <a:gridCol w="1249378"/>
                <a:gridCol w="1095469"/>
              </a:tblGrid>
              <a:tr h="6935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effectLst/>
                        </a:rPr>
                        <a:t>loanID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vintage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origCoupon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origBalance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origLTV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origDTI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origFICO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loanPurpose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occupancyStatus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channel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</a:tr>
              <a:tr h="55487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100007365142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75000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79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62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763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RE-FI-NCO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OWNER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RETAIL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</a:tr>
              <a:tr h="55487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100011322040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2000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7.75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123000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80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750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PURCH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OWNER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CORRES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</a:tr>
              <a:tr h="5501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100015192562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2000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8.5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51000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95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27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686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PURCH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OWNER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RETAIL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</a:tr>
              <a:tr h="60111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100015874399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2000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8.75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242000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95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47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706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PURCH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OWNER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CORRES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</a:tr>
              <a:tr h="55487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100017922445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2000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8.25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240000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77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737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PURCH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OWNER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CORRES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</a:tr>
              <a:tr h="50864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100020205696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1999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7.625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225000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64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793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PURCH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OWNER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RETAIL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</a:tr>
              <a:tr h="50863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100021703104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2000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120000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75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750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PURCH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OWNER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CORRES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98352" y="2018930"/>
            <a:ext cx="4155542" cy="380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Origination Data</a:t>
            </a:r>
            <a:endParaRPr lang="en-US" dirty="0">
              <a:latin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98352" y="3954855"/>
            <a:ext cx="4155542" cy="380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Performance Data</a:t>
            </a:r>
            <a:endParaRPr lang="en-US" dirty="0">
              <a:latin typeface="+mn-lt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4859520"/>
              </p:ext>
            </p:extLst>
          </p:nvPr>
        </p:nvGraphicFramePr>
        <p:xfrm>
          <a:off x="398352" y="4335100"/>
          <a:ext cx="9234536" cy="25440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46716"/>
                <a:gridCol w="758159"/>
                <a:gridCol w="720251"/>
                <a:gridCol w="985607"/>
                <a:gridCol w="843452"/>
                <a:gridCol w="900314"/>
                <a:gridCol w="796067"/>
                <a:gridCol w="672867"/>
                <a:gridCol w="1004560"/>
                <a:gridCol w="1406543"/>
              </a:tblGrid>
              <a:tr h="18171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effectLst/>
                        </a:rPr>
                        <a:t>loanID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effectLst/>
                        </a:rPr>
                        <a:t>beginDate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 smtClean="0">
                          <a:effectLst/>
                        </a:rPr>
                        <a:t>beginCpn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beginBalance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diffBalance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beginStatus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endStatus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HPA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 smtClean="0">
                          <a:effectLst/>
                        </a:rPr>
                        <a:t>modCount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ageSinceLastCurrent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</a:tr>
              <a:tr h="181718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177982109065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1/1/2013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3.99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343503.46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-498.17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C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1.0097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</a:tr>
              <a:tr h="181718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177982109065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2/1/2013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3.99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343005.29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-499.84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60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1.0153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</a:tr>
              <a:tr h="181718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177982109065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3/1/2013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3.99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342505.45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-501.49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60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60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1.0209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</a:tr>
              <a:tr h="181718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177982109065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4/1/2013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3.99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342003.96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-503.17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60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1.0315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</a:tr>
              <a:tr h="181718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177982109065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5/1/2013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3.99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341500.79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-504.83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60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1.0421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</a:tr>
              <a:tr h="181718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177982109065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6/1/2013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3.99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340995.96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1380.85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60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90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1.0527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</a:tr>
              <a:tr h="181718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177982109065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7/1/2013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3.99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342376.81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-503.71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90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90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1.0641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</a:tr>
              <a:tr h="181718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177982109065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8/1/2013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3.99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341873.1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90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120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1.0755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</a:tr>
              <a:tr h="181718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177982109065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9/1/2013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3.99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341873.1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-505.38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120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120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1.0869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</a:tr>
              <a:tr h="181718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177982109065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10/1/2013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3.99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341367.72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120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150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1.0962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</a:tr>
              <a:tr h="181718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177982109065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11/1/2013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3.99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341367.72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3812.77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150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C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1.1056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</a:tr>
              <a:tr h="181718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177982109065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12/1/2013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345180.49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C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1.115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</a:tr>
              <a:tr h="181718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177982109065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1/1/2014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345180.49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-587.5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C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1.1214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</a:tr>
            </a:tbl>
          </a:graphicData>
        </a:graphic>
      </p:graphicFrame>
      <p:sp>
        <p:nvSpPr>
          <p:cNvPr id="9" name="Title 3"/>
          <p:cNvSpPr txBox="1">
            <a:spLocks/>
          </p:cNvSpPr>
          <p:nvPr/>
        </p:nvSpPr>
        <p:spPr>
          <a:xfrm>
            <a:off x="754380" y="1174163"/>
            <a:ext cx="8549640" cy="437354"/>
          </a:xfrm>
          <a:prstGeom prst="rect">
            <a:avLst/>
          </a:prstGeom>
        </p:spPr>
        <p:txBody>
          <a:bodyPr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5pPr>
            <a:lvl6pPr marL="509235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6pPr>
            <a:lvl7pPr marL="1018472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7pPr>
            <a:lvl8pPr marL="1527709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8pPr>
            <a:lvl9pPr marL="2036945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9pPr>
          </a:lstStyle>
          <a:p>
            <a:pPr algn="l"/>
            <a:r>
              <a:rPr lang="en-US" sz="2400" b="0" kern="0" dirty="0" smtClean="0">
                <a:solidFill>
                  <a:schemeClr val="tx1"/>
                </a:solidFill>
              </a:rPr>
              <a:t>Example Data</a:t>
            </a:r>
            <a:endParaRPr lang="en-US" sz="2400" b="0" kern="0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6311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Description of Framework - Accordion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508760" y="1959928"/>
            <a:ext cx="7040880" cy="1453231"/>
          </a:xfrm>
        </p:spPr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Accordion is a platform written in R that allows for:</a:t>
            </a:r>
          </a:p>
          <a:p>
            <a:pPr marL="680685" lvl="1" indent="-1714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Specification: flexible and fast specification and estimation of transition models</a:t>
            </a:r>
          </a:p>
          <a:p>
            <a:pPr marL="680685" lvl="1" indent="-1714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Fitting: testing the fit when run historically and comparing this to actual data</a:t>
            </a:r>
          </a:p>
          <a:p>
            <a:pPr marL="680685" lvl="1" indent="-1714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Projections: calculate estimates forward through time on any set of loans and to bucket the results for easy analysis</a:t>
            </a:r>
          </a:p>
          <a:p>
            <a:pPr algn="l"/>
            <a:endParaRPr lang="en-US" sz="1400" dirty="0" smtClean="0"/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400" dirty="0" smtClean="0"/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785" y="3539906"/>
            <a:ext cx="5002512" cy="359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093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Transition Model </a:t>
            </a:r>
            <a:r>
              <a:rPr lang="en-US" sz="2400" b="0" dirty="0" smtClean="0">
                <a:solidFill>
                  <a:schemeClr val="tx1"/>
                </a:solidFill>
              </a:rPr>
              <a:t>Specification: </a:t>
            </a:r>
            <a:r>
              <a:rPr lang="en-US" sz="2400" b="0" dirty="0" smtClean="0">
                <a:solidFill>
                  <a:schemeClr val="tx1"/>
                </a:solidFill>
              </a:rPr>
              <a:t>Initial Specification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98351" y="4245629"/>
            <a:ext cx="5692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Transition Metrics</a:t>
            </a:r>
            <a:endParaRPr lang="en-US" dirty="0">
              <a:latin typeface="+mn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8351" y="1870297"/>
            <a:ext cx="6757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Flexible Status and Transition Definitions</a:t>
            </a:r>
            <a:endParaRPr lang="en-US" dirty="0">
              <a:latin typeface="+mn-lt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82914"/>
              </p:ext>
            </p:extLst>
          </p:nvPr>
        </p:nvGraphicFramePr>
        <p:xfrm>
          <a:off x="592647" y="2271165"/>
          <a:ext cx="3589739" cy="1887853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671610"/>
                <a:gridCol w="914400"/>
                <a:gridCol w="1224501"/>
                <a:gridCol w="779228"/>
              </a:tblGrid>
              <a:tr h="192881"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100" b="1" u="none" strike="noStrike" kern="1200" dirty="0" smtClean="0">
                          <a:effectLst/>
                        </a:rPr>
                        <a:t>GSE Status</a:t>
                      </a:r>
                      <a:endParaRPr lang="en-US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100" b="1" u="none" strike="noStrike" kern="1200" dirty="0">
                          <a:effectLst/>
                        </a:rPr>
                        <a:t># </a:t>
                      </a:r>
                      <a:r>
                        <a:rPr lang="en-US" sz="1100" b="1" u="none" strike="noStrike" kern="1200" dirty="0" smtClean="0">
                          <a:effectLst/>
                        </a:rPr>
                        <a:t>Past Delinquencies</a:t>
                      </a:r>
                      <a:endParaRPr lang="en-US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100" b="1" u="none" strike="noStrike" kern="1200" dirty="0">
                          <a:effectLst/>
                        </a:rPr>
                        <a:t>Model Status</a:t>
                      </a:r>
                      <a:endParaRPr lang="en-US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Short</a:t>
                      </a:r>
                      <a:r>
                        <a:rPr lang="en-US" sz="1100" b="1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Name</a:t>
                      </a:r>
                      <a:endParaRPr lang="en-US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192881"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100" u="none" strike="noStrike" kern="1200" dirty="0">
                          <a:effectLst/>
                        </a:rPr>
                        <a:t>C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100" u="none" strike="noStrike" kern="1200" dirty="0">
                          <a:effectLst/>
                        </a:rPr>
                        <a:t>0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100" u="none" strike="noStrike" kern="1200" dirty="0" smtClean="0">
                          <a:effectLst/>
                        </a:rPr>
                        <a:t>Always Current 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AC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192881"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100" u="none" strike="noStrike" kern="1200">
                          <a:effectLst/>
                        </a:rPr>
                        <a:t>C</a:t>
                      </a:r>
                      <a:endParaRPr lang="en-US" sz="1100" b="0" i="0" u="none" strike="noStrike" kern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100" u="none" strike="noStrike" kern="1200" dirty="0">
                          <a:effectLst/>
                        </a:rPr>
                        <a:t>&gt;=1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100" u="none" strike="noStrike" kern="1200" dirty="0" smtClean="0">
                          <a:effectLst/>
                        </a:rPr>
                        <a:t>Dirty Current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DC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192881"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100" u="none" strike="noStrike" kern="1200" dirty="0">
                          <a:effectLst/>
                        </a:rPr>
                        <a:t>30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1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100" u="none" strike="noStrike" kern="1200" dirty="0" smtClean="0">
                          <a:effectLst/>
                        </a:rPr>
                        <a:t>Early Delinquent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ED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192881"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100" u="none" strike="noStrike" kern="1200" dirty="0">
                          <a:effectLst/>
                        </a:rPr>
                        <a:t>60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100" u="none" strike="noStrike" kern="1200" dirty="0" smtClean="0">
                          <a:effectLst/>
                        </a:rPr>
                        <a:t>-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100" u="none" strike="noStrike" kern="1200" dirty="0" smtClean="0">
                          <a:effectLst/>
                        </a:rPr>
                        <a:t>Late</a:t>
                      </a:r>
                      <a:r>
                        <a:rPr lang="en-US" sz="1100" u="none" strike="noStrike" kern="1200" baseline="0" dirty="0" smtClean="0">
                          <a:effectLst/>
                        </a:rPr>
                        <a:t> Delinquent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LD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192881"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100" u="none" strike="noStrike" kern="1200" dirty="0">
                          <a:effectLst/>
                        </a:rPr>
                        <a:t>90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100" u="none" strike="noStrike" kern="1200" dirty="0" smtClean="0">
                          <a:effectLst/>
                        </a:rPr>
                        <a:t>-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u="none" strike="noStrike" kern="1200" dirty="0" smtClean="0">
                          <a:effectLst/>
                        </a:rPr>
                        <a:t>Late</a:t>
                      </a:r>
                      <a:r>
                        <a:rPr lang="en-US" sz="1100" u="none" strike="noStrike" kern="1200" baseline="0" dirty="0" smtClean="0">
                          <a:effectLst/>
                        </a:rPr>
                        <a:t> Delinquent</a:t>
                      </a:r>
                      <a:endParaRPr lang="en-US" sz="11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LD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192881"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100" u="none" strike="noStrike" kern="1200" dirty="0">
                          <a:effectLst/>
                        </a:rPr>
                        <a:t>120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100" u="none" strike="noStrike" kern="1200" dirty="0" smtClean="0">
                          <a:effectLst/>
                        </a:rPr>
                        <a:t>-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1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 90 Day Delinquent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192881"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100" u="none" strike="noStrike" kern="1200" dirty="0">
                          <a:effectLst/>
                        </a:rPr>
                        <a:t>150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100" u="none" strike="noStrike" kern="1200" dirty="0" smtClean="0">
                          <a:effectLst/>
                        </a:rPr>
                        <a:t>-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 90 Day Delinquent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</a:t>
                      </a:r>
                    </a:p>
                  </a:txBody>
                  <a:tcPr marL="9525" marR="9525" marT="9525" marB="0" anchor="b"/>
                </a:tc>
              </a:tr>
              <a:tr h="192881"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X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Loan Exits</a:t>
                      </a:r>
                      <a:r>
                        <a:rPr lang="en-US" sz="11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Pool</a:t>
                      </a:r>
                      <a:endParaRPr lang="en-US" sz="11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Out</a:t>
                      </a: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693801"/>
              </p:ext>
            </p:extLst>
          </p:nvPr>
        </p:nvGraphicFramePr>
        <p:xfrm>
          <a:off x="4427220" y="2271165"/>
          <a:ext cx="4876800" cy="154305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54000"/>
                <a:gridCol w="431800"/>
                <a:gridCol w="914400"/>
                <a:gridCol w="838200"/>
                <a:gridCol w="609600"/>
                <a:gridCol w="609600"/>
                <a:gridCol w="609600"/>
                <a:gridCol w="609600"/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To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AC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smtClean="0">
                          <a:effectLst/>
                          <a:latin typeface="+mn-lt"/>
                        </a:rPr>
                        <a:t>DC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ED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LD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Out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From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vert="vert27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AC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sym typeface="Wingdings" panose="05000000000000000000" pitchFamily="2" charset="2"/>
                        </a:rPr>
                        <a:t>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sym typeface="Wingdings" panose="05000000000000000000" pitchFamily="2" charset="2"/>
                        </a:rPr>
                        <a:t></a:t>
                      </a: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sym typeface="Wingdings" panose="05000000000000000000" pitchFamily="2" charset="2"/>
                        </a:rPr>
                        <a:t></a:t>
                      </a: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smtClean="0">
                          <a:effectLst/>
                          <a:latin typeface="+mn-lt"/>
                        </a:rPr>
                        <a:t>DC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sym typeface="Wingdings" panose="05000000000000000000" pitchFamily="2" charset="2"/>
                        </a:rPr>
                        <a:t></a:t>
                      </a: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sym typeface="Wingdings" panose="05000000000000000000" pitchFamily="2" charset="2"/>
                        </a:rPr>
                        <a:t></a:t>
                      </a: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sym typeface="Wingdings" panose="05000000000000000000" pitchFamily="2" charset="2"/>
                        </a:rPr>
                        <a:t></a:t>
                      </a: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ED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sym typeface="Wingdings" panose="05000000000000000000" pitchFamily="2" charset="2"/>
                        </a:rPr>
                        <a:t></a:t>
                      </a: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sym typeface="Wingdings" panose="05000000000000000000" pitchFamily="2" charset="2"/>
                        </a:rPr>
                        <a:t></a:t>
                      </a: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sym typeface="Wingdings" panose="05000000000000000000" pitchFamily="2" charset="2"/>
                        </a:rPr>
                        <a:t></a:t>
                      </a: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sym typeface="Wingdings" panose="05000000000000000000" pitchFamily="2" charset="2"/>
                        </a:rPr>
                        <a:t></a:t>
                      </a: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LD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sym typeface="Wingdings" panose="05000000000000000000" pitchFamily="2" charset="2"/>
                        </a:rPr>
                        <a:t></a:t>
                      </a: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sym typeface="Wingdings" panose="05000000000000000000" pitchFamily="2" charset="2"/>
                        </a:rPr>
                        <a:t></a:t>
                      </a: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sym typeface="Wingdings" panose="05000000000000000000" pitchFamily="2" charset="2"/>
                        </a:rPr>
                        <a:t></a:t>
                      </a: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sym typeface="Wingdings" panose="05000000000000000000" pitchFamily="2" charset="2"/>
                        </a:rPr>
                        <a:t></a:t>
                      </a: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sym typeface="Wingdings" panose="05000000000000000000" pitchFamily="2" charset="2"/>
                        </a:rPr>
                        <a:t>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sym typeface="Wingdings" panose="05000000000000000000" pitchFamily="2" charset="2"/>
                        </a:rPr>
                        <a:t>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sym typeface="Wingdings" panose="05000000000000000000" pitchFamily="2" charset="2"/>
                        </a:rPr>
                        <a:t>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sym typeface="Wingdings" panose="05000000000000000000" pitchFamily="2" charset="2"/>
                        </a:rPr>
                        <a:t>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sym typeface="Wingdings" panose="05000000000000000000" pitchFamily="2" charset="2"/>
                        </a:rPr>
                        <a:t></a:t>
                      </a: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sym typeface="Wingdings" panose="05000000000000000000" pitchFamily="2" charset="2"/>
                        </a:rPr>
                        <a:t></a:t>
                      </a: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</a:tr>
              <a:tr h="2000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Out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sym typeface="Wingdings" panose="05000000000000000000" pitchFamily="2" charset="2"/>
                        </a:rPr>
                        <a:t></a:t>
                      </a: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517328"/>
              </p:ext>
            </p:extLst>
          </p:nvPr>
        </p:nvGraphicFramePr>
        <p:xfrm>
          <a:off x="592647" y="4638564"/>
          <a:ext cx="7061200" cy="57150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431800"/>
                <a:gridCol w="914400"/>
                <a:gridCol w="8382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From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smtClean="0">
                          <a:effectLst/>
                        </a:rPr>
                        <a:t>AC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smtClean="0">
                          <a:effectLst/>
                        </a:rPr>
                        <a:t>DC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ED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LD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LD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smtClean="0">
                          <a:effectLst/>
                        </a:rPr>
                        <a:t>AC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smtClean="0">
                          <a:effectLst/>
                        </a:rPr>
                        <a:t>DC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ED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To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Out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Out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smtClean="0">
                          <a:effectLst/>
                        </a:rPr>
                        <a:t>Out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Out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smtClean="0">
                          <a:effectLst/>
                        </a:rPr>
                        <a:t>DC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smtClean="0">
                          <a:effectLst/>
                        </a:rPr>
                        <a:t>DC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ED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ED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smtClean="0">
                          <a:effectLst/>
                        </a:rPr>
                        <a:t>DC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Result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Prepay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Prepay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Prepay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Default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Default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Mod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Mod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AC-&gt;DQ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DC-&gt;DQ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Cure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0665258"/>
              </p:ext>
            </p:extLst>
          </p:nvPr>
        </p:nvGraphicFramePr>
        <p:xfrm>
          <a:off x="592647" y="5694141"/>
          <a:ext cx="6947619" cy="114300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001907"/>
                <a:gridCol w="1693628"/>
                <a:gridCol w="3252084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Variable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>
                          <a:effectLst/>
                        </a:rPr>
                        <a:t>Type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 smtClean="0">
                          <a:effectLst/>
                        </a:rPr>
                        <a:t>Definition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</a:rPr>
                        <a:t>Orig</a:t>
                      </a:r>
                      <a:r>
                        <a:rPr lang="en-US" sz="1100" u="none" strike="noStrike" dirty="0">
                          <a:effectLst/>
                        </a:rPr>
                        <a:t> DTI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Numeric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origDTI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Coupon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Numeric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beginCoupon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Occupany Status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Factor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 smtClean="0">
                          <a:effectLst/>
                        </a:rPr>
                        <a:t>occupanyStatus</a:t>
                      </a:r>
                      <a:r>
                        <a:rPr lang="en-US" sz="1100" u="none" strike="noStrike" dirty="0" smtClean="0">
                          <a:effectLst/>
                        </a:rPr>
                        <a:t> = {‘</a:t>
                      </a:r>
                      <a:r>
                        <a:rPr lang="en-US" sz="1100" u="none" strike="noStrike" dirty="0" err="1" smtClean="0">
                          <a:effectLst/>
                        </a:rPr>
                        <a:t>Owner’,’Investor’,’Second</a:t>
                      </a:r>
                      <a:r>
                        <a:rPr lang="en-US" sz="1100" u="none" strike="noStrike" dirty="0" smtClean="0">
                          <a:effectLst/>
                        </a:rPr>
                        <a:t>’}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Refinance Incentive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Formula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(beginCoupon - fhl30_rate) * 100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Loan Age Bucket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Bucket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{'loanAge_0_24', 'loanAge_24_48', 'loanAge_gt_48}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98351" y="5321385"/>
            <a:ext cx="5692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Variable Definitions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59596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Transition Model Specification: An </a:t>
            </a:r>
            <a:r>
              <a:rPr lang="en-US" sz="2400" b="0" dirty="0">
                <a:solidFill>
                  <a:schemeClr val="tx1"/>
                </a:solidFill>
              </a:rPr>
              <a:t>Iterative</a:t>
            </a:r>
            <a:r>
              <a:rPr lang="en-US" sz="2400" b="0" dirty="0" smtClean="0">
                <a:solidFill>
                  <a:schemeClr val="tx1"/>
                </a:solidFill>
              </a:rPr>
              <a:t> Process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508760" y="2059512"/>
            <a:ext cx="7040880" cy="4975031"/>
          </a:xfrm>
        </p:spPr>
        <p:txBody>
          <a:bodyPr/>
          <a:lstStyle/>
          <a:p>
            <a:pPr algn="l"/>
            <a:r>
              <a:rPr lang="en-US" sz="1400" dirty="0" smtClean="0"/>
              <a:t>Specifying a Transition Model is the goal of Accordion. To accomplish this the user will find the process fast and intuitive: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Step 1: Load a subset of GSE Loan Level data ~200K loans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ex) Always Current or Early Delinquent loans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Step 2: Refine Transition Specification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Add variables that make sense: FICO, </a:t>
            </a:r>
            <a:r>
              <a:rPr lang="en-US" sz="1400" dirty="0" err="1" smtClean="0"/>
              <a:t>loanAge</a:t>
            </a:r>
            <a:r>
              <a:rPr lang="en-US" sz="1400" dirty="0" smtClean="0"/>
              <a:t> interactions, </a:t>
            </a:r>
            <a:r>
              <a:rPr lang="en-US" sz="1400" dirty="0" err="1" smtClean="0"/>
              <a:t>etc</a:t>
            </a:r>
            <a:endParaRPr lang="en-US" sz="1400" dirty="0" smtClean="0"/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Remove variables that are not significant or </a:t>
            </a:r>
            <a:r>
              <a:rPr lang="en-US" sz="1400" dirty="0" smtClean="0"/>
              <a:t>that don’t </a:t>
            </a:r>
            <a:r>
              <a:rPr lang="en-US" sz="1400" dirty="0" smtClean="0"/>
              <a:t>make sense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Step 3: Run regressions and save results to file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Step 4: Repeat the process with a different subset of loans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Step 5: Once all transitions in the specification have been refined and estimated, then combine the results into one specification for </a:t>
            </a:r>
            <a:r>
              <a:rPr lang="en-US" sz="1400" dirty="0" smtClean="0"/>
              <a:t>fit testing</a:t>
            </a:r>
            <a:endParaRPr lang="en-US" sz="1400" dirty="0" smtClean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Step 6: Test the historical fit of the model over known data (Actual vs Model)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Step 7: Go back to Step 1 to refine the model for areas of poor tracking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383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Transition Model </a:t>
            </a:r>
            <a:r>
              <a:rPr lang="en-US" sz="2400" b="0" dirty="0" smtClean="0">
                <a:solidFill>
                  <a:schemeClr val="tx1"/>
                </a:solidFill>
              </a:rPr>
              <a:t>Specification: </a:t>
            </a:r>
            <a:r>
              <a:rPr lang="en-US" sz="2400" b="0" dirty="0" smtClean="0">
                <a:solidFill>
                  <a:schemeClr val="tx1"/>
                </a:solidFill>
              </a:rPr>
              <a:t>Example Results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460531"/>
              </p:ext>
            </p:extLst>
          </p:nvPr>
        </p:nvGraphicFramePr>
        <p:xfrm>
          <a:off x="697116" y="2353910"/>
          <a:ext cx="5372100" cy="209550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324100"/>
                <a:gridCol w="609600"/>
                <a:gridCol w="609600"/>
                <a:gridCol w="609600"/>
                <a:gridCol w="609600"/>
                <a:gridCol w="609600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Variables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A</a:t>
                      </a:r>
                      <a:r>
                        <a:rPr lang="en-US" sz="1100" b="1" u="none" strike="noStrike" dirty="0" smtClean="0">
                          <a:effectLst/>
                        </a:rPr>
                        <a:t>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 smtClean="0">
                          <a:effectLst/>
                        </a:rPr>
                        <a:t>DC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ED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LD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N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</a:rPr>
                        <a:t>refi_incentive_func</a:t>
                      </a:r>
                      <a:r>
                        <a:rPr lang="en-US" sz="1100" u="none" strike="noStrike" dirty="0">
                          <a:effectLst/>
                        </a:rPr>
                        <a:t> : </a:t>
                      </a:r>
                      <a:r>
                        <a:rPr lang="en-US" sz="1100" u="none" strike="noStrike" dirty="0" err="1">
                          <a:effectLst/>
                        </a:rPr>
                        <a:t>loanAge_bucket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sym typeface="Wingdings" panose="05000000000000000000" pitchFamily="2" charset="2"/>
                        </a:rPr>
                        <a:t></a:t>
                      </a: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</a:rPr>
                        <a:t>origFICO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sym typeface="Wingdings" panose="05000000000000000000" pitchFamily="2" charset="2"/>
                        </a:rPr>
                        <a:t></a:t>
                      </a: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sym typeface="Wingdings" panose="05000000000000000000" pitchFamily="2" charset="2"/>
                        </a:rPr>
                        <a:t></a:t>
                      </a: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sym typeface="Wingdings" panose="05000000000000000000" pitchFamily="2" charset="2"/>
                        </a:rPr>
                        <a:t></a:t>
                      </a: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sym typeface="Wingdings" panose="05000000000000000000" pitchFamily="2" charset="2"/>
                        </a:rPr>
                        <a:t></a:t>
                      </a: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sym typeface="Wingdings" panose="05000000000000000000" pitchFamily="2" charset="2"/>
                        </a:rPr>
                        <a:t></a:t>
                      </a: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</a:rPr>
                        <a:t>pmin</a:t>
                      </a:r>
                      <a:r>
                        <a:rPr lang="en-US" sz="1100" u="none" strike="noStrike" dirty="0">
                          <a:effectLst/>
                        </a:rPr>
                        <a:t>(</a:t>
                      </a:r>
                      <a:r>
                        <a:rPr lang="en-US" sz="1100" u="none" strike="noStrike" dirty="0" err="1">
                          <a:effectLst/>
                        </a:rPr>
                        <a:t>pmax</a:t>
                      </a:r>
                      <a:r>
                        <a:rPr lang="en-US" sz="1100" u="none" strike="noStrike" dirty="0">
                          <a:effectLst/>
                        </a:rPr>
                        <a:t>(</a:t>
                      </a:r>
                      <a:r>
                        <a:rPr lang="en-US" sz="1100" u="none" strike="noStrike" dirty="0" err="1">
                          <a:effectLst/>
                        </a:rPr>
                        <a:t>mtm_cltv</a:t>
                      </a:r>
                      <a:r>
                        <a:rPr lang="en-US" sz="1100" u="none" strike="noStrike" dirty="0">
                          <a:effectLst/>
                        </a:rPr>
                        <a:t>, XX), XX)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sym typeface="Wingdings" panose="05000000000000000000" pitchFamily="2" charset="2"/>
                        </a:rPr>
                        <a:t></a:t>
                      </a: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sym typeface="Wingdings" panose="05000000000000000000" pitchFamily="2" charset="2"/>
                        </a:rPr>
                        <a:t></a:t>
                      </a: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sym typeface="Wingdings" panose="05000000000000000000" pitchFamily="2" charset="2"/>
                        </a:rPr>
                        <a:t></a:t>
                      </a: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sym typeface="Wingdings" panose="05000000000000000000" pitchFamily="2" charset="2"/>
                        </a:rPr>
                        <a:t></a:t>
                      </a: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sym typeface="Wingdings" panose="05000000000000000000" pitchFamily="2" charset="2"/>
                        </a:rPr>
                        <a:t></a:t>
                      </a: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occupancyStatus_factor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sym typeface="Wingdings" panose="05000000000000000000" pitchFamily="2" charset="2"/>
                        </a:rPr>
                        <a:t></a:t>
                      </a: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sym typeface="Wingdings" panose="05000000000000000000" pitchFamily="2" charset="2"/>
                        </a:rPr>
                        <a:t></a:t>
                      </a: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sym typeface="Wingdings" panose="05000000000000000000" pitchFamily="2" charset="2"/>
                        </a:rPr>
                        <a:t></a:t>
                      </a: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sym typeface="Wingdings" panose="05000000000000000000" pitchFamily="2" charset="2"/>
                        </a:rPr>
                        <a:t></a:t>
                      </a: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sym typeface="Wingdings" panose="05000000000000000000" pitchFamily="2" charset="2"/>
                        </a:rPr>
                        <a:t></a:t>
                      </a: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loanPurpose_factor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sym typeface="Wingdings" panose="05000000000000000000" pitchFamily="2" charset="2"/>
                        </a:rPr>
                        <a:t></a:t>
                      </a: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sym typeface="Wingdings" panose="05000000000000000000" pitchFamily="2" charset="2"/>
                        </a:rPr>
                        <a:t></a:t>
                      </a: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sym typeface="Wingdings" panose="05000000000000000000" pitchFamily="2" charset="2"/>
                        </a:rPr>
                        <a:t></a:t>
                      </a: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sym typeface="Wingdings" panose="05000000000000000000" pitchFamily="2" charset="2"/>
                        </a:rPr>
                        <a:t></a:t>
                      </a: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sym typeface="Wingdings" panose="05000000000000000000" pitchFamily="2" charset="2"/>
                        </a:rPr>
                        <a:t></a:t>
                      </a: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</a:rPr>
                        <a:t>pmin</a:t>
                      </a:r>
                      <a:r>
                        <a:rPr lang="en-US" sz="1100" u="none" strike="noStrike" dirty="0">
                          <a:effectLst/>
                        </a:rPr>
                        <a:t>(</a:t>
                      </a:r>
                      <a:r>
                        <a:rPr lang="en-US" sz="1100" u="none" strike="noStrike" dirty="0" err="1">
                          <a:effectLst/>
                        </a:rPr>
                        <a:t>pmax</a:t>
                      </a:r>
                      <a:r>
                        <a:rPr lang="en-US" sz="1100" u="none" strike="noStrike" dirty="0">
                          <a:effectLst/>
                        </a:rPr>
                        <a:t>(</a:t>
                      </a:r>
                      <a:r>
                        <a:rPr lang="en-US" sz="1100" u="none" strike="noStrike" dirty="0" err="1">
                          <a:effectLst/>
                        </a:rPr>
                        <a:t>origBalance</a:t>
                      </a:r>
                      <a:r>
                        <a:rPr lang="en-US" sz="1100" u="none" strike="noStrike" dirty="0">
                          <a:effectLst/>
                        </a:rPr>
                        <a:t>/XX, XX), XX)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sym typeface="Wingdings" panose="05000000000000000000" pitchFamily="2" charset="2"/>
                        </a:rPr>
                        <a:t></a:t>
                      </a: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sym typeface="Wingdings" panose="05000000000000000000" pitchFamily="2" charset="2"/>
                        </a:rPr>
                        <a:t></a:t>
                      </a: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</a:rPr>
                        <a:t>modificationCount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sym typeface="Wingdings" panose="05000000000000000000" pitchFamily="2" charset="2"/>
                        </a:rPr>
                        <a:t></a:t>
                      </a: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 smtClean="0">
                          <a:effectLst/>
                        </a:rPr>
                        <a:t>refi_incentive_func</a:t>
                      </a:r>
                      <a:r>
                        <a:rPr lang="en-US" sz="1100" u="none" strike="noStrike" dirty="0" smtClean="0">
                          <a:effectLst/>
                        </a:rPr>
                        <a:t> (2 month lag)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sym typeface="Wingdings" panose="05000000000000000000" pitchFamily="2" charset="2"/>
                        </a:rPr>
                        <a:t></a:t>
                      </a: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</a:rPr>
                        <a:t>loanAge_bucket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sym typeface="Wingdings" panose="05000000000000000000" pitchFamily="2" charset="2"/>
                        </a:rPr>
                        <a:t></a:t>
                      </a: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sym typeface="Wingdings" panose="05000000000000000000" pitchFamily="2" charset="2"/>
                        </a:rPr>
                        <a:t></a:t>
                      </a: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sym typeface="Wingdings" panose="05000000000000000000" pitchFamily="2" charset="2"/>
                        </a:rPr>
                        <a:t></a:t>
                      </a: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countNonCurrent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sym typeface="Wingdings" panose="05000000000000000000" pitchFamily="2" charset="2"/>
                        </a:rPr>
                        <a:t></a:t>
                      </a:r>
                      <a:endParaRPr 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3566835"/>
              </p:ext>
            </p:extLst>
          </p:nvPr>
        </p:nvGraphicFramePr>
        <p:xfrm>
          <a:off x="228600" y="5024690"/>
          <a:ext cx="9601202" cy="14201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2576"/>
                <a:gridCol w="524786"/>
                <a:gridCol w="472776"/>
                <a:gridCol w="1707128"/>
                <a:gridCol w="1617866"/>
                <a:gridCol w="1640182"/>
                <a:gridCol w="1765706"/>
                <a:gridCol w="1640182"/>
              </a:tblGrid>
              <a:tr h="167463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3" marR="8373" marT="83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Intercept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3" marR="8373" marT="83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origFICO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3" marR="8373" marT="83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 err="1">
                          <a:effectLst/>
                        </a:rPr>
                        <a:t>pmin</a:t>
                      </a:r>
                      <a:r>
                        <a:rPr lang="en-US" sz="1000" u="none" strike="noStrike" dirty="0">
                          <a:effectLst/>
                        </a:rPr>
                        <a:t>(</a:t>
                      </a:r>
                      <a:r>
                        <a:rPr lang="en-US" sz="1000" u="none" strike="noStrike" dirty="0" err="1">
                          <a:effectLst/>
                        </a:rPr>
                        <a:t>pmax</a:t>
                      </a:r>
                      <a:r>
                        <a:rPr lang="en-US" sz="1000" u="none" strike="noStrike" dirty="0">
                          <a:effectLst/>
                        </a:rPr>
                        <a:t>(</a:t>
                      </a:r>
                      <a:r>
                        <a:rPr lang="en-US" sz="1000" u="none" strike="noStrike" dirty="0" err="1">
                          <a:effectLst/>
                        </a:rPr>
                        <a:t>mtm_cltv</a:t>
                      </a:r>
                      <a:r>
                        <a:rPr lang="en-US" sz="1000" u="none" strike="noStrike" dirty="0">
                          <a:effectLst/>
                        </a:rPr>
                        <a:t>, 50), 140)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3" marR="8373" marT="83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occupancyStatus_factor : </a:t>
                      </a:r>
                      <a:r>
                        <a:rPr lang="en-US" sz="1000" u="none" strike="noStrike" dirty="0" smtClean="0">
                          <a:effectLst/>
                        </a:rPr>
                        <a:t>INV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3" marR="8373" marT="83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occupancyStatus_factor : </a:t>
                      </a:r>
                      <a:r>
                        <a:rPr lang="en-US" sz="1000" u="none" strike="noStrike" dirty="0" smtClean="0">
                          <a:effectLst/>
                        </a:rPr>
                        <a:t>2ND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3" marR="8373" marT="83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loanPurpose_factor : </a:t>
                      </a:r>
                      <a:r>
                        <a:rPr lang="en-US" sz="1000" u="none" strike="noStrike" dirty="0" smtClean="0">
                          <a:effectLst/>
                        </a:rPr>
                        <a:t>RE-FI-NCO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3" marR="8373" marT="83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loanPurpose_factor : RE-FI-CO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3" marR="8373" marT="8373" marB="0" anchor="b"/>
                </a:tc>
              </a:tr>
              <a:tr h="30310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 smtClean="0">
                          <a:effectLst/>
                        </a:rPr>
                        <a:t>DC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3" marR="8373" marT="83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        0.817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3" marR="8373" marT="83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 smtClean="0">
                          <a:effectLst/>
                        </a:rPr>
                        <a:t>0.998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3" marR="8373" marT="83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                                                      </a:t>
                      </a:r>
                      <a:r>
                        <a:rPr lang="en-US" sz="1000" u="none" strike="noStrike" dirty="0" smtClean="0">
                          <a:effectLst/>
                        </a:rPr>
                        <a:t>0.991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3" marR="8373" marT="83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                                                   0.457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3" marR="8373" marT="83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                                                    0.435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3" marR="8373" marT="83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                                                         0.970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3" marR="8373" marT="83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                                                    1.074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3" marR="8373" marT="8373" marB="0" anchor="b"/>
                </a:tc>
              </a:tr>
              <a:tr h="30310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ED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3" marR="8373" marT="83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        0.026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3" marR="8373" marT="83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 smtClean="0">
                          <a:effectLst/>
                        </a:rPr>
                        <a:t>1.001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3" marR="8373" marT="83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                                                      0.990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3" marR="8373" marT="83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                                                   0.338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3" marR="8373" marT="83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                                                    0.000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3" marR="8373" marT="83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                                                         0.729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3" marR="8373" marT="83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                                                    0.754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3" marR="8373" marT="8373" marB="0" anchor="b"/>
                </a:tc>
              </a:tr>
              <a:tr h="30310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LD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3" marR="8373" marT="83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        0.595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3" marR="8373" marT="83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 smtClean="0">
                          <a:effectLst/>
                        </a:rPr>
                        <a:t>0.998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3" marR="8373" marT="83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                                                      0.988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3" marR="8373" marT="83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                                                   0.723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3" marR="8373" marT="83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                                                    0.874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3" marR="8373" marT="83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                                                         0.902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3" marR="8373" marT="83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                                                    0.756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3" marR="8373" marT="8373" marB="0" anchor="b"/>
                </a:tc>
              </a:tr>
              <a:tr h="30310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Out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3" marR="8373" marT="83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        0.261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3" marR="8373" marT="83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 smtClean="0">
                          <a:effectLst/>
                        </a:rPr>
                        <a:t>1.001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3" marR="8373" marT="83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                                                      1.002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3" marR="8373" marT="83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                                                   1.281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3" marR="8373" marT="83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                                                    1.336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3" marR="8373" marT="83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                                                         1.013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3" marR="8373" marT="837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                                                    0.938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373" marR="8373" marT="8373" marB="0" anchor="b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28599" y="4644445"/>
            <a:ext cx="5692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Transition Specification: Regression Results (Status = 90+)</a:t>
            </a:r>
            <a:endParaRPr lang="en-US" dirty="0">
              <a:latin typeface="+mn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8351" y="1973665"/>
            <a:ext cx="5278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Transition Specification: Variables by </a:t>
            </a:r>
            <a:r>
              <a:rPr lang="en-US" dirty="0" smtClean="0">
                <a:latin typeface="+mn-lt"/>
              </a:rPr>
              <a:t>Beginning Status</a:t>
            </a:r>
            <a:endParaRPr lang="en-US" dirty="0">
              <a:latin typeface="+mn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8600" y="6444845"/>
            <a:ext cx="9601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chemeClr val="accent2"/>
                </a:solidFill>
                <a:latin typeface="+mn-lt"/>
              </a:rPr>
              <a:t>1 </a:t>
            </a:r>
            <a:r>
              <a:rPr lang="en-US" sz="1200" dirty="0" err="1" smtClean="0">
                <a:solidFill>
                  <a:schemeClr val="accent2"/>
                </a:solidFill>
                <a:latin typeface="+mn-lt"/>
              </a:rPr>
              <a:t>pt</a:t>
            </a:r>
            <a:r>
              <a:rPr lang="en-US" sz="1200" dirty="0" smtClean="0">
                <a:solidFill>
                  <a:schemeClr val="accent2"/>
                </a:solidFill>
                <a:latin typeface="+mn-lt"/>
              </a:rPr>
              <a:t> increase in </a:t>
            </a:r>
            <a:r>
              <a:rPr lang="en-US" sz="1200" dirty="0" err="1" smtClean="0">
                <a:solidFill>
                  <a:schemeClr val="accent2"/>
                </a:solidFill>
                <a:latin typeface="+mn-lt"/>
              </a:rPr>
              <a:t>mtm_cltv</a:t>
            </a:r>
            <a:r>
              <a:rPr lang="en-US" sz="1200" dirty="0" smtClean="0">
                <a:solidFill>
                  <a:schemeClr val="accent2"/>
                </a:solidFill>
                <a:latin typeface="+mn-lt"/>
              </a:rPr>
              <a:t> will reduce the transition from 90+ to Current, Early DQ, Late DQ. It will slightly increase the transition rate to X = Default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solidFill>
                  <a:srgbClr val="E519CD"/>
                </a:solidFill>
                <a:latin typeface="+mn-lt"/>
              </a:rPr>
              <a:t>occupancyStatus</a:t>
            </a:r>
            <a:r>
              <a:rPr lang="en-US" sz="1200" dirty="0" smtClean="0">
                <a:solidFill>
                  <a:srgbClr val="E519CD"/>
                </a:solidFill>
                <a:latin typeface="+mn-lt"/>
              </a:rPr>
              <a:t> Investor reduces the transition from 90+ to Current, Early DQ, Late DQ vs Owner. It increases the transition rate to X = Default</a:t>
            </a:r>
            <a:endParaRPr lang="en-US" sz="1200" dirty="0">
              <a:solidFill>
                <a:srgbClr val="E519CD"/>
              </a:solidFill>
              <a:latin typeface="+mn-lt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348966" y="5251013"/>
            <a:ext cx="570369" cy="1193832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3073650" y="5251013"/>
            <a:ext cx="570369" cy="1193832"/>
          </a:xfrm>
          <a:prstGeom prst="roundRect">
            <a:avLst/>
          </a:prstGeom>
          <a:noFill/>
          <a:ln>
            <a:solidFill>
              <a:srgbClr val="E519CD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866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Model Fit: Actual vs Model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1865010"/>
            <a:ext cx="8549640" cy="52832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873414" y="4791069"/>
            <a:ext cx="42452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 Month Historical Projections: </a:t>
            </a:r>
          </a:p>
          <a:p>
            <a:r>
              <a:rPr lang="en-US" dirty="0"/>
              <a:t>L</a:t>
            </a:r>
            <a:r>
              <a:rPr lang="en-US" dirty="0" smtClean="0"/>
              <a:t>oan characteristics reset for each period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863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Model Fit: Actual vs Model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1865010"/>
            <a:ext cx="8549640" cy="52752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42144" y="4812172"/>
            <a:ext cx="3574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Metric output is Balance Weighted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579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Model Fit: Actual vs Model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1865011"/>
            <a:ext cx="8549640" cy="52673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75701" y="5618005"/>
            <a:ext cx="33069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Historical mortgage </a:t>
            </a:r>
            <a:r>
              <a:rPr lang="en-US" dirty="0"/>
              <a:t>r</a:t>
            </a:r>
            <a:r>
              <a:rPr lang="en-US" dirty="0" smtClean="0"/>
              <a:t>ates (lagged by 2 months) are used in the fitting projections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91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Model Fit: Actual vs Model (</a:t>
            </a:r>
            <a:r>
              <a:rPr lang="en-US" sz="2400" b="0" dirty="0" smtClean="0">
                <a:solidFill>
                  <a:schemeClr val="tx1"/>
                </a:solidFill>
              </a:rPr>
              <a:t>bucket </a:t>
            </a:r>
            <a:r>
              <a:rPr lang="en-US" sz="2400" b="0" dirty="0" smtClean="0">
                <a:solidFill>
                  <a:schemeClr val="tx1"/>
                </a:solidFill>
              </a:rPr>
              <a:t>by Occupancy)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1865009"/>
            <a:ext cx="8549640" cy="52752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275810" y="5260195"/>
            <a:ext cx="1035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Investor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347371" y="3109776"/>
            <a:ext cx="892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Owner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980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Model Projections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1843342"/>
            <a:ext cx="8549640" cy="52752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406646" y="4480973"/>
            <a:ext cx="44033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Forward projections use last known loan characteristics and projections of macro variables (HPA, Rates, etc</a:t>
            </a:r>
            <a:r>
              <a:rPr lang="en-US" dirty="0"/>
              <a:t>.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518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Model Projections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1865010"/>
            <a:ext cx="8549640" cy="52771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97477" y="3861632"/>
            <a:ext cx="4403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Transition rates to delinquency decay over time: HPA increase, burnout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642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Model Projections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1865010"/>
            <a:ext cx="8549640" cy="52673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32649" y="3710557"/>
            <a:ext cx="4403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Cure rates increase over time: HPA increases, MTM LTV decreases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165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Model Projections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1865010"/>
            <a:ext cx="8549640" cy="527526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919182" y="4414193"/>
            <a:ext cx="4769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Always Current (AC) -&gt; Delinquency rate is higher than most recent history would suggest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350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Model Projections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1865010"/>
            <a:ext cx="8549640" cy="52752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79424" y="4224689"/>
            <a:ext cx="44033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Default rates ramp slightly before decaying: likely due to higher Always Current (AC) to Delinquent rates than most recent history would suggest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167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Model Projections (bucket by FICO)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1865010"/>
            <a:ext cx="8549640" cy="52832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0008" y="6087127"/>
            <a:ext cx="1390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FICO &gt; 760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90549" y="4184978"/>
            <a:ext cx="1349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FICO &lt; 640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683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Model Projections </a:t>
            </a:r>
            <a:r>
              <a:rPr lang="en-US" sz="2400" b="0" dirty="0" smtClean="0">
                <a:solidFill>
                  <a:schemeClr val="tx1"/>
                </a:solidFill>
              </a:rPr>
              <a:t>(</a:t>
            </a:r>
            <a:r>
              <a:rPr lang="en-US" sz="2400" b="0" dirty="0" smtClean="0">
                <a:solidFill>
                  <a:schemeClr val="tx1"/>
                </a:solidFill>
              </a:rPr>
              <a:t>Loan Level</a:t>
            </a:r>
            <a:r>
              <a:rPr lang="en-US" sz="2400" b="0" dirty="0" smtClean="0">
                <a:solidFill>
                  <a:schemeClr val="tx1"/>
                </a:solidFill>
              </a:rPr>
              <a:t>)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1865010"/>
            <a:ext cx="8549640" cy="525935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046670" y="5625951"/>
            <a:ext cx="3965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5 Always Current loans as of Mar 2015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456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Model Projections </a:t>
            </a:r>
            <a:r>
              <a:rPr lang="en-US" sz="2400" b="0" dirty="0" smtClean="0">
                <a:solidFill>
                  <a:schemeClr val="tx1"/>
                </a:solidFill>
              </a:rPr>
              <a:t>(</a:t>
            </a:r>
            <a:r>
              <a:rPr lang="en-US" sz="2400" b="0" dirty="0" smtClean="0">
                <a:solidFill>
                  <a:schemeClr val="tx1"/>
                </a:solidFill>
              </a:rPr>
              <a:t>Loan Level</a:t>
            </a:r>
            <a:r>
              <a:rPr lang="en-US" sz="2400" b="0" dirty="0" smtClean="0">
                <a:solidFill>
                  <a:schemeClr val="tx1"/>
                </a:solidFill>
              </a:rPr>
              <a:t>)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1865010"/>
            <a:ext cx="8549640" cy="52752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046670" y="3057680"/>
            <a:ext cx="3965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Very high CPR due to Coupon ~8% </a:t>
            </a:r>
            <a:endParaRPr lang="en-US" dirty="0"/>
          </a:p>
        </p:txBody>
      </p:sp>
      <p:cxnSp>
        <p:nvCxnSpPr>
          <p:cNvPr id="11" name="Curved Connector 10"/>
          <p:cNvCxnSpPr>
            <a:stCxn id="7" idx="1"/>
          </p:cNvCxnSpPr>
          <p:nvPr/>
        </p:nvCxnSpPr>
        <p:spPr>
          <a:xfrm rot="10800000">
            <a:off x="2838616" y="2846568"/>
            <a:ext cx="208054" cy="39577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9323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Model Projections </a:t>
            </a:r>
            <a:r>
              <a:rPr lang="en-US" sz="2400" b="0" dirty="0" smtClean="0">
                <a:solidFill>
                  <a:schemeClr val="tx1"/>
                </a:solidFill>
              </a:rPr>
              <a:t>(Loan Level)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1865010"/>
            <a:ext cx="8549640" cy="52832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27584" y="3057680"/>
            <a:ext cx="49841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Differently shaped CDR curve due to model interaction with high Coupon</a:t>
            </a:r>
            <a:endParaRPr lang="en-US" dirty="0"/>
          </a:p>
        </p:txBody>
      </p:sp>
      <p:cxnSp>
        <p:nvCxnSpPr>
          <p:cNvPr id="7" name="Curved Connector 6"/>
          <p:cNvCxnSpPr>
            <a:stCxn id="6" idx="2"/>
          </p:cNvCxnSpPr>
          <p:nvPr/>
        </p:nvCxnSpPr>
        <p:spPr>
          <a:xfrm rot="16200000" flipH="1">
            <a:off x="4660474" y="3563194"/>
            <a:ext cx="231885" cy="51351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945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Model Projections </a:t>
            </a:r>
            <a:r>
              <a:rPr lang="en-US" sz="2400" b="0" dirty="0" smtClean="0">
                <a:solidFill>
                  <a:schemeClr val="tx1"/>
                </a:solidFill>
              </a:rPr>
              <a:t>(Loan Level)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1865010"/>
            <a:ext cx="8549640" cy="52832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23520" y="3717642"/>
            <a:ext cx="49841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Relative to a Dirty Current (DC) loan, the Always Current (AC) CDRs are much lower</a:t>
            </a:r>
            <a:endParaRPr lang="en-US" dirty="0"/>
          </a:p>
        </p:txBody>
      </p:sp>
      <p:cxnSp>
        <p:nvCxnSpPr>
          <p:cNvPr id="7" name="Curved Connector 6"/>
          <p:cNvCxnSpPr/>
          <p:nvPr/>
        </p:nvCxnSpPr>
        <p:spPr>
          <a:xfrm rot="5400000" flipH="1" flipV="1">
            <a:off x="2604052" y="3216303"/>
            <a:ext cx="723568" cy="49298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0430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Model Projections </a:t>
            </a:r>
            <a:r>
              <a:rPr lang="en-US" sz="2400" b="0" dirty="0" smtClean="0">
                <a:solidFill>
                  <a:schemeClr val="tx1"/>
                </a:solidFill>
              </a:rPr>
              <a:t>(HPA Scenarios)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1843416"/>
            <a:ext cx="8549640" cy="53048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104984" y="4607136"/>
            <a:ext cx="38484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65000"/>
                  </a:schemeClr>
                </a:solidFill>
              </a:rPr>
              <a:t>* Bull 	   = 4.5% Increase / Year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* Base	   = 2.5</a:t>
            </a:r>
            <a:r>
              <a:rPr lang="en-US" dirty="0">
                <a:solidFill>
                  <a:srgbClr val="0070C0"/>
                </a:solidFill>
              </a:rPr>
              <a:t>% Increase / </a:t>
            </a:r>
            <a:r>
              <a:rPr lang="en-US" dirty="0" smtClean="0">
                <a:solidFill>
                  <a:srgbClr val="0070C0"/>
                </a:solidFill>
              </a:rPr>
              <a:t>Year</a:t>
            </a:r>
          </a:p>
          <a:p>
            <a:r>
              <a:rPr lang="en-US" dirty="0" smtClean="0">
                <a:solidFill>
                  <a:srgbClr val="FF6600"/>
                </a:solidFill>
              </a:rPr>
              <a:t>* Bear	   = 0.0% </a:t>
            </a:r>
            <a:r>
              <a:rPr lang="en-US" dirty="0">
                <a:solidFill>
                  <a:srgbClr val="FF6600"/>
                </a:solidFill>
              </a:rPr>
              <a:t>Increase / </a:t>
            </a:r>
            <a:r>
              <a:rPr lang="en-US" dirty="0" smtClean="0">
                <a:solidFill>
                  <a:srgbClr val="FF6600"/>
                </a:solidFill>
              </a:rPr>
              <a:t>Year</a:t>
            </a:r>
          </a:p>
          <a:p>
            <a:r>
              <a:rPr lang="en-US" dirty="0" smtClean="0">
                <a:solidFill>
                  <a:srgbClr val="FFCC00"/>
                </a:solidFill>
              </a:rPr>
              <a:t>* </a:t>
            </a:r>
            <a:r>
              <a:rPr lang="en-US" dirty="0" err="1" smtClean="0">
                <a:solidFill>
                  <a:srgbClr val="FFCC00"/>
                </a:solidFill>
              </a:rPr>
              <a:t>Sev.Bear</a:t>
            </a:r>
            <a:r>
              <a:rPr lang="en-US" dirty="0" smtClean="0">
                <a:solidFill>
                  <a:srgbClr val="FFCC00"/>
                </a:solidFill>
              </a:rPr>
              <a:t>  = 2.5</a:t>
            </a:r>
            <a:r>
              <a:rPr lang="en-US" dirty="0">
                <a:solidFill>
                  <a:srgbClr val="FFCC00"/>
                </a:solidFill>
              </a:rPr>
              <a:t>% </a:t>
            </a:r>
            <a:r>
              <a:rPr lang="en-US" dirty="0" smtClean="0">
                <a:solidFill>
                  <a:srgbClr val="FFCC00"/>
                </a:solidFill>
              </a:rPr>
              <a:t>Decrease </a:t>
            </a:r>
            <a:r>
              <a:rPr lang="en-US" dirty="0">
                <a:solidFill>
                  <a:srgbClr val="FFCC00"/>
                </a:solidFill>
              </a:rPr>
              <a:t>/ </a:t>
            </a:r>
            <a:r>
              <a:rPr lang="en-US" dirty="0" smtClean="0">
                <a:solidFill>
                  <a:srgbClr val="FFCC00"/>
                </a:solidFill>
              </a:rPr>
              <a:t>Year</a:t>
            </a:r>
            <a:endParaRPr lang="en-US" dirty="0">
              <a:solidFill>
                <a:srgbClr val="FFCC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287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Model Projections </a:t>
            </a:r>
            <a:r>
              <a:rPr lang="en-US" sz="2400" b="0" dirty="0" smtClean="0">
                <a:solidFill>
                  <a:schemeClr val="tx1"/>
                </a:solidFill>
              </a:rPr>
              <a:t>(HPA Scenarios)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1" y="1865011"/>
            <a:ext cx="8549640" cy="52673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95813" y="4988563"/>
            <a:ext cx="3466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High dispersion of Defaults Rates given different HPA vectors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232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Model Projections </a:t>
            </a:r>
            <a:r>
              <a:rPr lang="en-US" sz="2400" b="0" dirty="0" smtClean="0">
                <a:solidFill>
                  <a:schemeClr val="tx1"/>
                </a:solidFill>
              </a:rPr>
              <a:t>(HPA Scenarios)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1" y="1865010"/>
            <a:ext cx="8549640" cy="52832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019506" y="5147590"/>
            <a:ext cx="4019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Lower dispersion of Prepayment Rates given different HPA vectors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120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Model Projections </a:t>
            </a:r>
            <a:r>
              <a:rPr lang="en-US" sz="2400" b="0" dirty="0" smtClean="0">
                <a:solidFill>
                  <a:schemeClr val="tx1"/>
                </a:solidFill>
              </a:rPr>
              <a:t>(Loan Level x HPA Scenarios)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1" y="1865010"/>
            <a:ext cx="8549640" cy="52752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629888" y="6166642"/>
            <a:ext cx="2140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ID: 889668835224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180763" y="4057758"/>
            <a:ext cx="2095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ID: 875174838336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936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Going Forward: CAS/STACR </a:t>
            </a:r>
            <a:r>
              <a:rPr lang="en-US" sz="2400" b="0" dirty="0" smtClean="0">
                <a:solidFill>
                  <a:schemeClr val="tx1"/>
                </a:solidFill>
              </a:rPr>
              <a:t>Valuations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508760" y="2059513"/>
            <a:ext cx="7040880" cy="4039138"/>
          </a:xfrm>
        </p:spPr>
        <p:txBody>
          <a:bodyPr/>
          <a:lstStyle/>
          <a:p>
            <a:pPr algn="l"/>
            <a:r>
              <a:rPr lang="en-US" sz="1400" dirty="0" smtClean="0"/>
              <a:t>Next Steps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Calculate the loan characteristics of loans backing CAS </a:t>
            </a:r>
            <a:r>
              <a:rPr lang="en-US" sz="1400" dirty="0" smtClean="0"/>
              <a:t>and STACR </a:t>
            </a:r>
            <a:r>
              <a:rPr lang="en-US" sz="1400" dirty="0" smtClean="0"/>
              <a:t>deals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Loan level characteristics give greatest flexibility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Group level characteristics can also be used {</a:t>
            </a:r>
            <a:r>
              <a:rPr lang="en-US" sz="1400" b="1" dirty="0" smtClean="0"/>
              <a:t>Approximations Completed</a:t>
            </a:r>
            <a:r>
              <a:rPr lang="en-US" sz="1400" dirty="0" smtClean="0"/>
              <a:t>}</a:t>
            </a:r>
            <a:endParaRPr lang="en-US" sz="1400" dirty="0" smtClean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Automate the creation of “Rep-lines” from the loan </a:t>
            </a:r>
            <a:r>
              <a:rPr lang="en-US" sz="1400" dirty="0" smtClean="0"/>
              <a:t>level (or group level) </a:t>
            </a:r>
            <a:r>
              <a:rPr lang="en-US" sz="1400" dirty="0" smtClean="0"/>
              <a:t>data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Project these </a:t>
            </a:r>
            <a:r>
              <a:rPr lang="en-US" sz="1400" dirty="0" smtClean="0"/>
              <a:t>loans/rep-lines </a:t>
            </a:r>
            <a:r>
              <a:rPr lang="en-US" sz="1400" dirty="0" smtClean="0"/>
              <a:t>forward through time for analysis, pricing and risk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Option 1: Project at the loan level and store loan level vectors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Option 2: Project at the loan level and store grouped vectors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Option 3: </a:t>
            </a:r>
            <a:r>
              <a:rPr lang="en-US" sz="1400" dirty="0" smtClean="0"/>
              <a:t>Project each rep-</a:t>
            </a:r>
            <a:r>
              <a:rPr lang="en-US" sz="1400" dirty="0" smtClean="0"/>
              <a:t>line</a:t>
            </a:r>
            <a:r>
              <a:rPr lang="en-US" sz="1400" dirty="0" smtClean="0"/>
              <a:t> and store rep-line vectors</a:t>
            </a:r>
            <a:endParaRPr lang="en-US" sz="1400" dirty="0" smtClean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Integrate </a:t>
            </a:r>
            <a:r>
              <a:rPr lang="en-US" sz="1400" dirty="0" smtClean="0"/>
              <a:t>our projected vectors into a pricing/risk engine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3548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>
                <a:solidFill>
                  <a:schemeClr val="tx1"/>
                </a:solidFill>
              </a:rPr>
              <a:t>Going Forward: Identifying </a:t>
            </a:r>
            <a:r>
              <a:rPr lang="en-US" sz="2400" b="0" dirty="0" smtClean="0">
                <a:solidFill>
                  <a:schemeClr val="tx1"/>
                </a:solidFill>
              </a:rPr>
              <a:t>Reference Loans for CRT Transactions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190705" y="2067462"/>
            <a:ext cx="7795260" cy="5367005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Each CRT Reference Pool has an acquisition window of 2-3 </a:t>
            </a:r>
            <a:r>
              <a:rPr lang="en-US" sz="1400" dirty="0" smtClean="0"/>
              <a:t>months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The </a:t>
            </a:r>
            <a:r>
              <a:rPr lang="en-US" sz="1400" dirty="0" smtClean="0"/>
              <a:t>acquisition windows are mutually </a:t>
            </a:r>
            <a:r>
              <a:rPr lang="en-US" sz="1400" dirty="0" smtClean="0"/>
              <a:t>exclusive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However GSE’s do not provide acquisition date in the loan </a:t>
            </a:r>
            <a:r>
              <a:rPr lang="en-US" sz="1400" dirty="0" smtClean="0"/>
              <a:t>level credit </a:t>
            </a:r>
            <a:r>
              <a:rPr lang="en-US" sz="1400" dirty="0" smtClean="0"/>
              <a:t>data</a:t>
            </a:r>
            <a:endParaRPr lang="en-US" sz="1400" dirty="0" smtClean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The origination date window of each reference pool is 6-7 months and </a:t>
            </a:r>
            <a:r>
              <a:rPr lang="en-US" sz="1400" dirty="0" smtClean="0"/>
              <a:t>overlaps </a:t>
            </a:r>
            <a:r>
              <a:rPr lang="en-US" sz="1400" dirty="0" smtClean="0"/>
              <a:t>between </a:t>
            </a:r>
            <a:r>
              <a:rPr lang="en-US" sz="1400" dirty="0" smtClean="0"/>
              <a:t>deals</a:t>
            </a:r>
            <a:endParaRPr lang="en-US" sz="1400" dirty="0" smtClean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Since we </a:t>
            </a:r>
            <a:r>
              <a:rPr lang="en-US" sz="1400" dirty="0" smtClean="0"/>
              <a:t>have </a:t>
            </a:r>
            <a:r>
              <a:rPr lang="en-US" sz="1400" dirty="0" smtClean="0"/>
              <a:t>Origination Date &amp; not Acquisition Date from loan level data, </a:t>
            </a:r>
            <a:r>
              <a:rPr lang="en-US" sz="1400" dirty="0" smtClean="0"/>
              <a:t>we must make a guess at the actual loans backing a deal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We approximate </a:t>
            </a:r>
            <a:r>
              <a:rPr lang="en-US" sz="1400" dirty="0" smtClean="0"/>
              <a:t>mutually exclusive Origination windows based on the distribution of origination dates for every </a:t>
            </a:r>
            <a:r>
              <a:rPr lang="en-US" sz="1400" dirty="0" smtClean="0"/>
              <a:t>deal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We control </a:t>
            </a:r>
            <a:r>
              <a:rPr lang="en-US" sz="1400" dirty="0" smtClean="0"/>
              <a:t>for Fico, OLTV, CLTV, DTI, Coupon, Term based maximum &amp; minimum </a:t>
            </a:r>
            <a:r>
              <a:rPr lang="en-US" sz="1400" dirty="0" smtClean="0"/>
              <a:t>values </a:t>
            </a:r>
            <a:r>
              <a:rPr lang="en-US" sz="1400" dirty="0" smtClean="0"/>
              <a:t>for every </a:t>
            </a:r>
            <a:r>
              <a:rPr lang="en-US" sz="1400" dirty="0" smtClean="0"/>
              <a:t>deal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We </a:t>
            </a:r>
            <a:r>
              <a:rPr lang="en-US" sz="1400" dirty="0" smtClean="0"/>
              <a:t>also exclude loans that have either been modified or have ever been delinquent as of the Cutoff Date for each deal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Based on the constraints above, we </a:t>
            </a:r>
            <a:r>
              <a:rPr lang="en-US" sz="1400" dirty="0" smtClean="0"/>
              <a:t>can closely </a:t>
            </a:r>
            <a:r>
              <a:rPr lang="en-US" sz="1400" dirty="0" smtClean="0"/>
              <a:t>replicate the pool characteristics for </a:t>
            </a:r>
            <a:r>
              <a:rPr lang="en-US" sz="1400" dirty="0" smtClean="0"/>
              <a:t>CRT deals: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Fico</a:t>
            </a:r>
            <a:r>
              <a:rPr lang="en-US" sz="1400" dirty="0" smtClean="0"/>
              <a:t>, Coupon, Original Balance, OLTV, CLTV, DTI, Loan Purpose, Property Type, Occupancy Status, Channel, Top 7 </a:t>
            </a:r>
            <a:r>
              <a:rPr lang="en-US" sz="1400" dirty="0" smtClean="0"/>
              <a:t>States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Note </a:t>
            </a:r>
            <a:r>
              <a:rPr lang="en-US" sz="1400" dirty="0" smtClean="0"/>
              <a:t>that we did not match Loan Count &amp; Pool </a:t>
            </a:r>
            <a:r>
              <a:rPr lang="en-US" sz="1400" dirty="0" smtClean="0"/>
              <a:t>Balance</a:t>
            </a:r>
            <a:endParaRPr lang="en-US" sz="1400" dirty="0" smtClean="0"/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3760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Going Forward: </a:t>
            </a:r>
            <a:r>
              <a:rPr lang="en-US" sz="2400" b="0" dirty="0" smtClean="0">
                <a:solidFill>
                  <a:schemeClr val="tx1"/>
                </a:solidFill>
              </a:rPr>
              <a:t>R</a:t>
            </a:r>
            <a:r>
              <a:rPr lang="en-US" sz="2400" b="0" dirty="0" smtClean="0">
                <a:solidFill>
                  <a:schemeClr val="tx1"/>
                </a:solidFill>
              </a:rPr>
              <a:t>ep-line Generation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198188" y="1968222"/>
            <a:ext cx="7040880" cy="1097156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Representative Loans or “rep-lines” can be produced automatically from the model characteristics, or from user input: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Ex) Transition Model uses </a:t>
            </a:r>
            <a:r>
              <a:rPr lang="en-US" sz="1400" dirty="0" smtClean="0"/>
              <a:t>O</a:t>
            </a:r>
            <a:r>
              <a:rPr lang="en-US" sz="1400" dirty="0" smtClean="0"/>
              <a:t>ccupancy Status (Primary, Investor, 2</a:t>
            </a:r>
            <a:r>
              <a:rPr lang="en-US" sz="1400" baseline="30000" dirty="0" smtClean="0"/>
              <a:t>nd</a:t>
            </a:r>
            <a:r>
              <a:rPr lang="en-US" sz="1400" dirty="0" smtClean="0"/>
              <a:t>) and Loan Age buckets (0-24 months, 24-48 months, 48+ months)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endParaRPr lang="en-US" sz="1400" dirty="0" smtClean="0"/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188" y="2989690"/>
            <a:ext cx="7564149" cy="421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476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61375</TotalTime>
  <Words>1925</Words>
  <Application>Microsoft Office PowerPoint</Application>
  <PresentationFormat>Custom</PresentationFormat>
  <Paragraphs>560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15</vt:i4>
      </vt:variant>
      <vt:variant>
        <vt:lpstr>Slide Titles</vt:lpstr>
      </vt:variant>
      <vt:variant>
        <vt:i4>30</vt:i4>
      </vt:variant>
    </vt:vector>
  </HeadingPairs>
  <TitlesOfParts>
    <vt:vector size="52" baseType="lpstr">
      <vt:lpstr>Arial</vt:lpstr>
      <vt:lpstr>Calibri</vt:lpstr>
      <vt:lpstr>Calisto MT</vt:lpstr>
      <vt:lpstr>Cambria</vt:lpstr>
      <vt:lpstr>Times</vt:lpstr>
      <vt:lpstr>Times New Roman</vt:lpstr>
      <vt:lpstr>Wingdings</vt:lpstr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PowerPoint Presentation</vt:lpstr>
      <vt:lpstr>Outline</vt:lpstr>
      <vt:lpstr>Introduction</vt:lpstr>
      <vt:lpstr>Description of Data</vt:lpstr>
      <vt:lpstr>PowerPoint Presentation</vt:lpstr>
      <vt:lpstr>Description of Framework - Accordion</vt:lpstr>
      <vt:lpstr>Transition Model Specification: Initial Specification</vt:lpstr>
      <vt:lpstr>Transition Model Specification: An Iterative Process</vt:lpstr>
      <vt:lpstr>Transition Model Specification: Example Results</vt:lpstr>
      <vt:lpstr>Model Fit: Actual vs Model</vt:lpstr>
      <vt:lpstr>Model Fit: Actual vs Model</vt:lpstr>
      <vt:lpstr>Model Fit: Actual vs Model</vt:lpstr>
      <vt:lpstr>Model Fit: Actual vs Model (bucket by Occupancy)</vt:lpstr>
      <vt:lpstr>Model Projections</vt:lpstr>
      <vt:lpstr>Model Projections</vt:lpstr>
      <vt:lpstr>Model Projections</vt:lpstr>
      <vt:lpstr>Model Projections</vt:lpstr>
      <vt:lpstr>Model Projections</vt:lpstr>
      <vt:lpstr>Model Projections (bucket by FICO)</vt:lpstr>
      <vt:lpstr>Model Projections (Loan Level)</vt:lpstr>
      <vt:lpstr>Model Projections (Loan Level)</vt:lpstr>
      <vt:lpstr>Model Projections (Loan Level)</vt:lpstr>
      <vt:lpstr>Model Projections (Loan Level)</vt:lpstr>
      <vt:lpstr>Model Projections (HPA Scenarios)</vt:lpstr>
      <vt:lpstr>Model Projections (HPA Scenarios)</vt:lpstr>
      <vt:lpstr>Model Projections (HPA Scenarios)</vt:lpstr>
      <vt:lpstr>Model Projections (Loan Level x HPA Scenarios)</vt:lpstr>
      <vt:lpstr>Going Forward: CAS/STACR Valuations</vt:lpstr>
      <vt:lpstr>Going Forward: Identifying Reference Loans for CRT Transactions</vt:lpstr>
      <vt:lpstr>Going Forward: Rep-line Generation</vt:lpstr>
    </vt:vector>
  </TitlesOfParts>
  <Company>Microsoft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Robert Morris</cp:lastModifiedBy>
  <cp:revision>1736</cp:revision>
  <cp:lastPrinted>2015-04-13T19:43:53Z</cp:lastPrinted>
  <dcterms:created xsi:type="dcterms:W3CDTF">2011-07-07T12:37:32Z</dcterms:created>
  <dcterms:modified xsi:type="dcterms:W3CDTF">2015-04-15T21:31:06Z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